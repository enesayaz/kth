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57" r:id="rId3"/>
    <p:sldId id="258" r:id="rId4"/>
    <p:sldId id="259" r:id="rId5"/>
    <p:sldId id="260" r:id="rId6"/>
    <p:sldId id="262" r:id="rId7"/>
    <p:sldId id="263" r:id="rId8"/>
    <p:sldId id="264" r:id="rId9"/>
    <p:sldId id="265" r:id="rId10"/>
    <p:sldId id="266" r:id="rId11"/>
    <p:sldId id="267" r:id="rId12"/>
    <p:sldId id="268" r:id="rId13"/>
    <p:sldId id="269" r:id="rId14"/>
    <p:sldId id="270" r:id="rId15"/>
    <p:sldId id="271" r:id="rId16"/>
    <p:sldId id="273" r:id="rId17"/>
    <p:sldId id="272" r:id="rId18"/>
    <p:sldId id="274" r:id="rId19"/>
    <p:sldId id="275" r:id="rId20"/>
    <p:sldId id="276" r:id="rId21"/>
    <p:sldId id="277" r:id="rId22"/>
    <p:sldId id="278" r:id="rId23"/>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22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2496" y="12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C3C920-8099-44FB-877D-FFD02840B4C1}" type="datetimeFigureOut">
              <a:rPr lang="sv-SE" smtClean="0"/>
              <a:t>2025-02-14</a:t>
            </a:fld>
            <a:endParaRPr lang="sv-S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4007380-F224-4E93-BC8A-2CF3A0B2F3DC}" type="slidenum">
              <a:rPr lang="sv-SE" smtClean="0"/>
              <a:t>‹#›</a:t>
            </a:fld>
            <a:endParaRPr lang="sv-SE"/>
          </a:p>
        </p:txBody>
      </p:sp>
    </p:spTree>
    <p:extLst>
      <p:ext uri="{BB962C8B-B14F-4D97-AF65-F5344CB8AC3E}">
        <p14:creationId xmlns:p14="http://schemas.microsoft.com/office/powerpoint/2010/main" val="555012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7</a:t>
            </a:fld>
            <a:endParaRPr lang="sv-SE"/>
          </a:p>
        </p:txBody>
      </p:sp>
    </p:spTree>
    <p:extLst>
      <p:ext uri="{BB962C8B-B14F-4D97-AF65-F5344CB8AC3E}">
        <p14:creationId xmlns:p14="http://schemas.microsoft.com/office/powerpoint/2010/main" val="4124987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8</a:t>
            </a:fld>
            <a:endParaRPr lang="sv-SE"/>
          </a:p>
        </p:txBody>
      </p:sp>
    </p:spTree>
    <p:extLst>
      <p:ext uri="{BB962C8B-B14F-4D97-AF65-F5344CB8AC3E}">
        <p14:creationId xmlns:p14="http://schemas.microsoft.com/office/powerpoint/2010/main" val="1718282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9</a:t>
            </a:fld>
            <a:endParaRPr lang="sv-SE"/>
          </a:p>
        </p:txBody>
      </p:sp>
    </p:spTree>
    <p:extLst>
      <p:ext uri="{BB962C8B-B14F-4D97-AF65-F5344CB8AC3E}">
        <p14:creationId xmlns:p14="http://schemas.microsoft.com/office/powerpoint/2010/main" val="3593387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10</a:t>
            </a:fld>
            <a:endParaRPr lang="sv-SE"/>
          </a:p>
        </p:txBody>
      </p:sp>
    </p:spTree>
    <p:extLst>
      <p:ext uri="{BB962C8B-B14F-4D97-AF65-F5344CB8AC3E}">
        <p14:creationId xmlns:p14="http://schemas.microsoft.com/office/powerpoint/2010/main" val="8645215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sv-SE" dirty="0"/>
          </a:p>
        </p:txBody>
      </p:sp>
      <p:sp>
        <p:nvSpPr>
          <p:cNvPr id="4" name="Slide Number Placeholder 3"/>
          <p:cNvSpPr>
            <a:spLocks noGrp="1"/>
          </p:cNvSpPr>
          <p:nvPr>
            <p:ph type="sldNum" sz="quarter" idx="10"/>
          </p:nvPr>
        </p:nvSpPr>
        <p:spPr/>
        <p:txBody>
          <a:bodyPr/>
          <a:lstStyle/>
          <a:p>
            <a:fld id="{04007380-F224-4E93-BC8A-2CF3A0B2F3DC}" type="slidenum">
              <a:rPr lang="sv-SE" smtClean="0"/>
              <a:t>11</a:t>
            </a:fld>
            <a:endParaRPr lang="sv-SE"/>
          </a:p>
        </p:txBody>
      </p:sp>
    </p:spTree>
    <p:extLst>
      <p:ext uri="{BB962C8B-B14F-4D97-AF65-F5344CB8AC3E}">
        <p14:creationId xmlns:p14="http://schemas.microsoft.com/office/powerpoint/2010/main" val="298100805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sv-SE"/>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sv-SE"/>
          </a:p>
        </p:txBody>
      </p:sp>
      <p:sp>
        <p:nvSpPr>
          <p:cNvPr id="4" name="Date Placeholder 3"/>
          <p:cNvSpPr>
            <a:spLocks noGrp="1"/>
          </p:cNvSpPr>
          <p:nvPr>
            <p:ph type="dt" sz="half" idx="10"/>
          </p:nvPr>
        </p:nvSpPr>
        <p:spPr/>
        <p:txBody>
          <a:bodyPr/>
          <a:lstStyle/>
          <a:p>
            <a:fld id="{1CCF258A-C4AC-452A-B440-6EC022A8E4C9}" type="datetimeFigureOut">
              <a:rPr lang="sv-SE" smtClean="0"/>
              <a:t>2025-02-14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735272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10"/>
          </p:nvPr>
        </p:nvSpPr>
        <p:spPr/>
        <p:txBody>
          <a:bodyPr/>
          <a:lstStyle/>
          <a:p>
            <a:fld id="{1CCF258A-C4AC-452A-B440-6EC022A8E4C9}" type="datetimeFigureOut">
              <a:rPr lang="sv-SE" smtClean="0"/>
              <a:t>2025-02-14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10645684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sv-SE"/>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CCF258A-C4AC-452A-B440-6EC022A8E4C9}" type="datetimeFigureOut">
              <a:rPr lang="sv-SE" smtClean="0"/>
              <a:t>2025-02-14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4035566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Date Placeholder 4"/>
          <p:cNvSpPr>
            <a:spLocks noGrp="1"/>
          </p:cNvSpPr>
          <p:nvPr>
            <p:ph type="dt" sz="half" idx="10"/>
          </p:nvPr>
        </p:nvSpPr>
        <p:spPr/>
        <p:txBody>
          <a:bodyPr/>
          <a:lstStyle/>
          <a:p>
            <a:fld id="{1CCF258A-C4AC-452A-B440-6EC022A8E4C9}" type="datetimeFigureOut">
              <a:rPr lang="sv-SE" smtClean="0"/>
              <a:t>2025-02-14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24274508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sv-SE"/>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7" name="Date Placeholder 6"/>
          <p:cNvSpPr>
            <a:spLocks noGrp="1"/>
          </p:cNvSpPr>
          <p:nvPr>
            <p:ph type="dt" sz="half" idx="10"/>
          </p:nvPr>
        </p:nvSpPr>
        <p:spPr/>
        <p:txBody>
          <a:bodyPr/>
          <a:lstStyle/>
          <a:p>
            <a:fld id="{1CCF258A-C4AC-452A-B440-6EC022A8E4C9}" type="datetimeFigureOut">
              <a:rPr lang="sv-SE" smtClean="0"/>
              <a:t>2025-02-14</a:t>
            </a:fld>
            <a:endParaRPr lang="sv-SE"/>
          </a:p>
        </p:txBody>
      </p:sp>
      <p:sp>
        <p:nvSpPr>
          <p:cNvPr id="8" name="Footer Placeholder 7"/>
          <p:cNvSpPr>
            <a:spLocks noGrp="1"/>
          </p:cNvSpPr>
          <p:nvPr>
            <p:ph type="ftr" sz="quarter" idx="11"/>
          </p:nvPr>
        </p:nvSpPr>
        <p:spPr/>
        <p:txBody>
          <a:bodyPr/>
          <a:lstStyle/>
          <a:p>
            <a:endParaRPr lang="sv-SE"/>
          </a:p>
        </p:txBody>
      </p:sp>
      <p:sp>
        <p:nvSpPr>
          <p:cNvPr id="9" name="Slide Number Placeholder 8"/>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2564043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Date Placeholder 2"/>
          <p:cNvSpPr>
            <a:spLocks noGrp="1"/>
          </p:cNvSpPr>
          <p:nvPr>
            <p:ph type="dt" sz="half" idx="10"/>
          </p:nvPr>
        </p:nvSpPr>
        <p:spPr/>
        <p:txBody>
          <a:bodyPr/>
          <a:lstStyle/>
          <a:p>
            <a:fld id="{1CCF258A-C4AC-452A-B440-6EC022A8E4C9}" type="datetimeFigureOut">
              <a:rPr lang="sv-SE" smtClean="0"/>
              <a:t>2025-02-14</a:t>
            </a:fld>
            <a:endParaRPr lang="sv-SE"/>
          </a:p>
        </p:txBody>
      </p:sp>
      <p:sp>
        <p:nvSpPr>
          <p:cNvPr id="4" name="Footer Placeholder 3"/>
          <p:cNvSpPr>
            <a:spLocks noGrp="1"/>
          </p:cNvSpPr>
          <p:nvPr>
            <p:ph type="ftr" sz="quarter" idx="11"/>
          </p:nvPr>
        </p:nvSpPr>
        <p:spPr/>
        <p:txBody>
          <a:bodyPr/>
          <a:lstStyle/>
          <a:p>
            <a:endParaRPr lang="sv-SE"/>
          </a:p>
        </p:txBody>
      </p:sp>
      <p:sp>
        <p:nvSpPr>
          <p:cNvPr id="5" name="Slide Number Placeholder 4"/>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2991888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CF258A-C4AC-452A-B440-6EC022A8E4C9}" type="datetimeFigureOut">
              <a:rPr lang="sv-SE" smtClean="0"/>
              <a:t>2025-02-14</a:t>
            </a:fld>
            <a:endParaRPr lang="sv-SE"/>
          </a:p>
        </p:txBody>
      </p:sp>
      <p:sp>
        <p:nvSpPr>
          <p:cNvPr id="3" name="Footer Placeholder 2"/>
          <p:cNvSpPr>
            <a:spLocks noGrp="1"/>
          </p:cNvSpPr>
          <p:nvPr>
            <p:ph type="ftr" sz="quarter" idx="11"/>
          </p:nvPr>
        </p:nvSpPr>
        <p:spPr/>
        <p:txBody>
          <a:bodyPr/>
          <a:lstStyle/>
          <a:p>
            <a:endParaRPr lang="sv-SE"/>
          </a:p>
        </p:txBody>
      </p:sp>
      <p:sp>
        <p:nvSpPr>
          <p:cNvPr id="4" name="Slide Number Placeholder 3"/>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7517089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CF258A-C4AC-452A-B440-6EC022A8E4C9}" type="datetimeFigureOut">
              <a:rPr lang="sv-SE" smtClean="0"/>
              <a:t>2025-02-14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8403432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sv-SE"/>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1CCF258A-C4AC-452A-B440-6EC022A8E4C9}" type="datetimeFigureOut">
              <a:rPr lang="sv-SE" smtClean="0"/>
              <a:t>2025-02-14</a:t>
            </a:fld>
            <a:endParaRPr lang="sv-SE"/>
          </a:p>
        </p:txBody>
      </p:sp>
      <p:sp>
        <p:nvSpPr>
          <p:cNvPr id="6" name="Footer Placeholder 5"/>
          <p:cNvSpPr>
            <a:spLocks noGrp="1"/>
          </p:cNvSpPr>
          <p:nvPr>
            <p:ph type="ftr" sz="quarter" idx="11"/>
          </p:nvPr>
        </p:nvSpPr>
        <p:spPr/>
        <p:txBody>
          <a:bodyPr/>
          <a:lstStyle/>
          <a:p>
            <a:endParaRPr lang="sv-SE"/>
          </a:p>
        </p:txBody>
      </p:sp>
      <p:sp>
        <p:nvSpPr>
          <p:cNvPr id="7" name="Slide Number Placeholder 6"/>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4806153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sv-SE"/>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10"/>
          </p:nvPr>
        </p:nvSpPr>
        <p:spPr/>
        <p:txBody>
          <a:bodyPr/>
          <a:lstStyle/>
          <a:p>
            <a:fld id="{1CCF258A-C4AC-452A-B440-6EC022A8E4C9}" type="datetimeFigureOut">
              <a:rPr lang="sv-SE" smtClean="0"/>
              <a:t>2025-02-14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3335017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sv-SE"/>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10"/>
          </p:nvPr>
        </p:nvSpPr>
        <p:spPr/>
        <p:txBody>
          <a:bodyPr/>
          <a:lstStyle/>
          <a:p>
            <a:fld id="{1CCF258A-C4AC-452A-B440-6EC022A8E4C9}" type="datetimeFigureOut">
              <a:rPr lang="sv-SE" smtClean="0"/>
              <a:t>2025-02-14</a:t>
            </a:fld>
            <a:endParaRPr lang="sv-SE"/>
          </a:p>
        </p:txBody>
      </p:sp>
      <p:sp>
        <p:nvSpPr>
          <p:cNvPr id="5" name="Footer Placeholder 4"/>
          <p:cNvSpPr>
            <a:spLocks noGrp="1"/>
          </p:cNvSpPr>
          <p:nvPr>
            <p:ph type="ftr" sz="quarter" idx="11"/>
          </p:nvPr>
        </p:nvSpPr>
        <p:spPr/>
        <p:txBody>
          <a:bodyPr/>
          <a:lstStyle/>
          <a:p>
            <a:endParaRPr lang="sv-SE"/>
          </a:p>
        </p:txBody>
      </p:sp>
      <p:sp>
        <p:nvSpPr>
          <p:cNvPr id="6" name="Slide Number Placeholder 5"/>
          <p:cNvSpPr>
            <a:spLocks noGrp="1"/>
          </p:cNvSpPr>
          <p:nvPr>
            <p:ph type="sldNum" sz="quarter" idx="12"/>
          </p:nvPr>
        </p:nvSpPr>
        <p:spPr/>
        <p:txBody>
          <a:bodyPr/>
          <a:lstStyle/>
          <a:p>
            <a:fld id="{32CEEEF0-C237-4CFC-84D0-B21D4D3A3DA2}" type="slidenum">
              <a:rPr lang="sv-SE" smtClean="0"/>
              <a:t>‹#›</a:t>
            </a:fld>
            <a:endParaRPr lang="sv-SE"/>
          </a:p>
        </p:txBody>
      </p:sp>
    </p:spTree>
    <p:extLst>
      <p:ext uri="{BB962C8B-B14F-4D97-AF65-F5344CB8AC3E}">
        <p14:creationId xmlns:p14="http://schemas.microsoft.com/office/powerpoint/2010/main" val="28822959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sv-SE"/>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sv-SE"/>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CF258A-C4AC-452A-B440-6EC022A8E4C9}" type="datetimeFigureOut">
              <a:rPr lang="sv-SE" smtClean="0"/>
              <a:t>2025-02-14</a:t>
            </a:fld>
            <a:endParaRPr lang="sv-SE"/>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sv-SE"/>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CEEEF0-C237-4CFC-84D0-B21D4D3A3DA2}" type="slidenum">
              <a:rPr lang="sv-SE" smtClean="0"/>
              <a:t>‹#›</a:t>
            </a:fld>
            <a:endParaRPr lang="sv-SE"/>
          </a:p>
        </p:txBody>
      </p:sp>
    </p:spTree>
    <p:extLst>
      <p:ext uri="{BB962C8B-B14F-4D97-AF65-F5344CB8AC3E}">
        <p14:creationId xmlns:p14="http://schemas.microsoft.com/office/powerpoint/2010/main" val="20667959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emf"/><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emf"/><Relationship Id="rId4" Type="http://schemas.openxmlformats.org/officeDocument/2006/relationships/image" Target="../media/image18.emf"/></Relationships>
</file>

<file path=ppt/slides/_rels/slide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15.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12" Type="http://schemas.openxmlformats.org/officeDocument/2006/relationships/image" Target="../media/image46.emf"/><Relationship Id="rId2" Type="http://schemas.openxmlformats.org/officeDocument/2006/relationships/image" Target="../media/image42.png"/><Relationship Id="rId1" Type="http://schemas.openxmlformats.org/officeDocument/2006/relationships/slideLayout" Target="../slideLayouts/slideLayout2.xml"/><Relationship Id="rId6" Type="http://schemas.openxmlformats.org/officeDocument/2006/relationships/image" Target="../media/image42.emf"/><Relationship Id="rId11" Type="http://schemas.openxmlformats.org/officeDocument/2006/relationships/image" Target="../media/image51.png"/><Relationship Id="rId5" Type="http://schemas.openxmlformats.org/officeDocument/2006/relationships/image" Target="../media/image41.emf"/><Relationship Id="rId10" Type="http://schemas.openxmlformats.org/officeDocument/2006/relationships/image" Target="../media/image45.emf"/><Relationship Id="rId4" Type="http://schemas.openxmlformats.org/officeDocument/2006/relationships/image" Target="../media/image40.emf"/><Relationship Id="rId9" Type="http://schemas.openxmlformats.org/officeDocument/2006/relationships/image" Target="../media/image49.png"/></Relationships>
</file>

<file path=ppt/slides/_rels/slide16.xml.rels><?xml version="1.0" encoding="UTF-8" standalone="yes"?>
<Relationships xmlns="http://schemas.openxmlformats.org/package/2006/relationships"><Relationship Id="rId8" Type="http://schemas.openxmlformats.org/officeDocument/2006/relationships/image" Target="../media/image56.png"/><Relationship Id="rId13" Type="http://schemas.openxmlformats.org/officeDocument/2006/relationships/image" Target="../media/image61.png"/><Relationship Id="rId3" Type="http://schemas.openxmlformats.org/officeDocument/2006/relationships/image" Target="../media/image46.png"/><Relationship Id="rId7" Type="http://schemas.openxmlformats.org/officeDocument/2006/relationships/image" Target="../media/image55.png"/><Relationship Id="rId12"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9.png"/><Relationship Id="rId5" Type="http://schemas.openxmlformats.org/officeDocument/2006/relationships/image" Target="../media/image52.png"/><Relationship Id="rId15" Type="http://schemas.openxmlformats.org/officeDocument/2006/relationships/image" Target="../media/image63.png"/><Relationship Id="rId10" Type="http://schemas.openxmlformats.org/officeDocument/2006/relationships/image" Target="../media/image58.png"/><Relationship Id="rId4" Type="http://schemas.openxmlformats.org/officeDocument/2006/relationships/image" Target="../media/image500.png"/><Relationship Id="rId9" Type="http://schemas.openxmlformats.org/officeDocument/2006/relationships/image" Target="../media/image57.png"/><Relationship Id="rId14" Type="http://schemas.openxmlformats.org/officeDocument/2006/relationships/image" Target="../media/image62.png"/></Relationships>
</file>

<file path=ppt/slides/_rels/slide17.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image" Target="../media/image75.png"/><Relationship Id="rId3" Type="http://schemas.openxmlformats.org/officeDocument/2006/relationships/image" Target="../media/image65.png"/><Relationship Id="rId7" Type="http://schemas.openxmlformats.org/officeDocument/2006/relationships/image" Target="../media/image69.png"/><Relationship Id="rId12" Type="http://schemas.openxmlformats.org/officeDocument/2006/relationships/image" Target="../media/image74.png"/><Relationship Id="rId2" Type="http://schemas.openxmlformats.org/officeDocument/2006/relationships/image" Target="../media/image64.png"/><Relationship Id="rId16" Type="http://schemas.openxmlformats.org/officeDocument/2006/relationships/image" Target="../media/image78.png"/><Relationship Id="rId1" Type="http://schemas.openxmlformats.org/officeDocument/2006/relationships/slideLayout" Target="../slideLayouts/slideLayout2.xml"/><Relationship Id="rId6" Type="http://schemas.openxmlformats.org/officeDocument/2006/relationships/image" Target="../media/image68.png"/><Relationship Id="rId11" Type="http://schemas.openxmlformats.org/officeDocument/2006/relationships/image" Target="../media/image73.png"/><Relationship Id="rId5" Type="http://schemas.openxmlformats.org/officeDocument/2006/relationships/image" Target="../media/image67.png"/><Relationship Id="rId15" Type="http://schemas.openxmlformats.org/officeDocument/2006/relationships/image" Target="../media/image77.png"/><Relationship Id="rId10" Type="http://schemas.openxmlformats.org/officeDocument/2006/relationships/image" Target="../media/image72.png"/><Relationship Id="rId4" Type="http://schemas.openxmlformats.org/officeDocument/2006/relationships/image" Target="../media/image66.png"/><Relationship Id="rId9" Type="http://schemas.openxmlformats.org/officeDocument/2006/relationships/image" Target="../media/image71.png"/><Relationship Id="rId14" Type="http://schemas.openxmlformats.org/officeDocument/2006/relationships/image" Target="../media/image76.png"/></Relationships>
</file>

<file path=ppt/slides/_rels/slide1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90.png"/><Relationship Id="rId13" Type="http://schemas.openxmlformats.org/officeDocument/2006/relationships/image" Target="../media/image95.png"/><Relationship Id="rId3" Type="http://schemas.openxmlformats.org/officeDocument/2006/relationships/image" Target="../media/image85.png"/><Relationship Id="rId7" Type="http://schemas.openxmlformats.org/officeDocument/2006/relationships/image" Target="../media/image89.png"/><Relationship Id="rId12" Type="http://schemas.openxmlformats.org/officeDocument/2006/relationships/image" Target="../media/image94.png"/><Relationship Id="rId2" Type="http://schemas.openxmlformats.org/officeDocument/2006/relationships/image" Target="../media/image84.png"/><Relationship Id="rId1" Type="http://schemas.openxmlformats.org/officeDocument/2006/relationships/slideLayout" Target="../slideLayouts/slideLayout2.xml"/><Relationship Id="rId6" Type="http://schemas.openxmlformats.org/officeDocument/2006/relationships/image" Target="../media/image88.png"/><Relationship Id="rId11" Type="http://schemas.openxmlformats.org/officeDocument/2006/relationships/image" Target="../media/image93.png"/><Relationship Id="rId5" Type="http://schemas.openxmlformats.org/officeDocument/2006/relationships/image" Target="../media/image87.png"/><Relationship Id="rId10" Type="http://schemas.openxmlformats.org/officeDocument/2006/relationships/image" Target="../media/image92.png"/><Relationship Id="rId4" Type="http://schemas.openxmlformats.org/officeDocument/2006/relationships/image" Target="../media/image86.png"/><Relationship Id="rId9" Type="http://schemas.openxmlformats.org/officeDocument/2006/relationships/image" Target="../media/image91.png"/></Relationships>
</file>

<file path=ppt/slides/_rels/slide22.xml.rels><?xml version="1.0" encoding="UTF-8" standalone="yes"?>
<Relationships xmlns="http://schemas.openxmlformats.org/package/2006/relationships"><Relationship Id="rId8" Type="http://schemas.openxmlformats.org/officeDocument/2006/relationships/image" Target="../media/image102.png"/><Relationship Id="rId13" Type="http://schemas.openxmlformats.org/officeDocument/2006/relationships/image" Target="../media/image107.png"/><Relationship Id="rId18" Type="http://schemas.openxmlformats.org/officeDocument/2006/relationships/image" Target="../media/image112.png"/><Relationship Id="rId26" Type="http://schemas.openxmlformats.org/officeDocument/2006/relationships/image" Target="../media/image120.png"/><Relationship Id="rId3" Type="http://schemas.openxmlformats.org/officeDocument/2006/relationships/image" Target="../media/image97.png"/><Relationship Id="rId21" Type="http://schemas.openxmlformats.org/officeDocument/2006/relationships/image" Target="../media/image115.png"/><Relationship Id="rId7" Type="http://schemas.openxmlformats.org/officeDocument/2006/relationships/image" Target="../media/image101.png"/><Relationship Id="rId12" Type="http://schemas.openxmlformats.org/officeDocument/2006/relationships/image" Target="../media/image106.png"/><Relationship Id="rId17" Type="http://schemas.openxmlformats.org/officeDocument/2006/relationships/image" Target="../media/image111.png"/><Relationship Id="rId25" Type="http://schemas.openxmlformats.org/officeDocument/2006/relationships/image" Target="../media/image119.png"/><Relationship Id="rId2" Type="http://schemas.openxmlformats.org/officeDocument/2006/relationships/image" Target="../media/image96.png"/><Relationship Id="rId16" Type="http://schemas.openxmlformats.org/officeDocument/2006/relationships/image" Target="../media/image110.png"/><Relationship Id="rId20" Type="http://schemas.openxmlformats.org/officeDocument/2006/relationships/image" Target="../media/image114.png"/><Relationship Id="rId1" Type="http://schemas.openxmlformats.org/officeDocument/2006/relationships/slideLayout" Target="../slideLayouts/slideLayout2.xml"/><Relationship Id="rId6" Type="http://schemas.openxmlformats.org/officeDocument/2006/relationships/image" Target="../media/image100.png"/><Relationship Id="rId11" Type="http://schemas.openxmlformats.org/officeDocument/2006/relationships/image" Target="../media/image105.png"/><Relationship Id="rId24" Type="http://schemas.openxmlformats.org/officeDocument/2006/relationships/image" Target="../media/image118.png"/><Relationship Id="rId5" Type="http://schemas.openxmlformats.org/officeDocument/2006/relationships/image" Target="../media/image99.png"/><Relationship Id="rId15" Type="http://schemas.openxmlformats.org/officeDocument/2006/relationships/image" Target="../media/image109.png"/><Relationship Id="rId23" Type="http://schemas.openxmlformats.org/officeDocument/2006/relationships/image" Target="../media/image117.png"/><Relationship Id="rId28" Type="http://schemas.openxmlformats.org/officeDocument/2006/relationships/image" Target="../media/image122.png"/><Relationship Id="rId10" Type="http://schemas.openxmlformats.org/officeDocument/2006/relationships/image" Target="../media/image104.png"/><Relationship Id="rId19" Type="http://schemas.openxmlformats.org/officeDocument/2006/relationships/image" Target="../media/image113.png"/><Relationship Id="rId4" Type="http://schemas.openxmlformats.org/officeDocument/2006/relationships/image" Target="../media/image98.png"/><Relationship Id="rId9" Type="http://schemas.openxmlformats.org/officeDocument/2006/relationships/image" Target="../media/image103.png"/><Relationship Id="rId14" Type="http://schemas.openxmlformats.org/officeDocument/2006/relationships/image" Target="../media/image108.png"/><Relationship Id="rId22" Type="http://schemas.openxmlformats.org/officeDocument/2006/relationships/image" Target="../media/image116.png"/><Relationship Id="rId27" Type="http://schemas.openxmlformats.org/officeDocument/2006/relationships/image" Target="../media/image1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solidFill>
                  <a:srgbClr val="C00000"/>
                </a:solidFill>
              </a:rPr>
              <a:t>Online Carrier Phase Shift Calculation to Reduce Common Mode Voltage</a:t>
            </a:r>
            <a:endParaRPr lang="sv-SE" dirty="0">
              <a:solidFill>
                <a:srgbClr val="C00000"/>
              </a:solidFill>
            </a:endParaRPr>
          </a:p>
        </p:txBody>
      </p:sp>
      <p:sp>
        <p:nvSpPr>
          <p:cNvPr id="3" name="Subtitle 2"/>
          <p:cNvSpPr>
            <a:spLocks noGrp="1"/>
          </p:cNvSpPr>
          <p:nvPr>
            <p:ph type="subTitle" idx="1"/>
          </p:nvPr>
        </p:nvSpPr>
        <p:spPr>
          <a:xfrm>
            <a:off x="1524000" y="3602038"/>
            <a:ext cx="9144000" cy="2935922"/>
          </a:xfrm>
        </p:spPr>
        <p:txBody>
          <a:bodyPr>
            <a:normAutofit fontScale="77500" lnSpcReduction="20000"/>
          </a:bodyPr>
          <a:lstStyle/>
          <a:p>
            <a:endParaRPr lang="en-US" dirty="0"/>
          </a:p>
          <a:p>
            <a:r>
              <a:rPr lang="en-US" sz="3600" dirty="0"/>
              <a:t>Enes Ayaz</a:t>
            </a:r>
          </a:p>
          <a:p>
            <a:r>
              <a:rPr lang="en-US" sz="3600" dirty="0"/>
              <a:t>	</a:t>
            </a:r>
          </a:p>
          <a:p>
            <a:pPr algn="l"/>
            <a:r>
              <a:rPr lang="en-US" sz="2600" dirty="0"/>
              <a:t>!!! </a:t>
            </a:r>
          </a:p>
          <a:p>
            <a:pPr algn="l"/>
            <a:r>
              <a:rPr lang="en-US" sz="2600" dirty="0"/>
              <a:t>The presentation aims carrier phase shift of SPWM for  2L conventional inverter. </a:t>
            </a:r>
          </a:p>
          <a:p>
            <a:pPr algn="l"/>
            <a:r>
              <a:rPr lang="en-US" sz="2600" dirty="0"/>
              <a:t>However, it should be noted that the proposed method could be expanded for other topology and modulations. It is actually necessity since 2L topology with SPWM could not be suitable for 300kW 1200 V EV drives regarding other concerns.</a:t>
            </a:r>
            <a:endParaRPr lang="sv-SE" sz="2600" dirty="0"/>
          </a:p>
        </p:txBody>
      </p:sp>
    </p:spTree>
    <p:extLst>
      <p:ext uri="{BB962C8B-B14F-4D97-AF65-F5344CB8AC3E}">
        <p14:creationId xmlns:p14="http://schemas.microsoft.com/office/powerpoint/2010/main" val="13792229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err="1">
                <a:solidFill>
                  <a:srgbClr val="C00000"/>
                </a:solidFill>
              </a:rPr>
              <a:t>Analytical</a:t>
            </a:r>
            <a:r>
              <a:rPr lang="sv-SE" b="1" dirty="0">
                <a:solidFill>
                  <a:srgbClr val="C00000"/>
                </a:solidFill>
              </a:rPr>
              <a:t> </a:t>
            </a:r>
            <a:r>
              <a:rPr lang="sv-SE" b="1" dirty="0" err="1">
                <a:solidFill>
                  <a:srgbClr val="C00000"/>
                </a:solidFill>
              </a:rPr>
              <a:t>Analysis</a:t>
            </a:r>
            <a:r>
              <a:rPr lang="sv-SE" b="1" dirty="0">
                <a:solidFill>
                  <a:srgbClr val="C00000"/>
                </a:solidFill>
              </a:rPr>
              <a:t> </a:t>
            </a:r>
            <a:r>
              <a:rPr lang="sv-SE" b="1" dirty="0" err="1">
                <a:solidFill>
                  <a:srgbClr val="C00000"/>
                </a:solidFill>
              </a:rPr>
              <a:t>of</a:t>
            </a:r>
            <a:r>
              <a:rPr lang="sv-SE" b="1" dirty="0">
                <a:solidFill>
                  <a:srgbClr val="C00000"/>
                </a:solidFill>
              </a:rPr>
              <a:t> </a:t>
            </a:r>
            <a:r>
              <a:rPr lang="sv-SE" b="1" dirty="0" err="1">
                <a:solidFill>
                  <a:srgbClr val="C00000"/>
                </a:solidFill>
              </a:rPr>
              <a:t>carrier-based</a:t>
            </a:r>
            <a:r>
              <a:rPr lang="sv-SE" b="1" dirty="0">
                <a:solidFill>
                  <a:srgbClr val="C00000"/>
                </a:solidFill>
              </a:rPr>
              <a:t> PWM (CBPWM) (i.e. SPWM)</a:t>
            </a:r>
          </a:p>
        </p:txBody>
      </p:sp>
      <p:sp>
        <p:nvSpPr>
          <p:cNvPr id="3" name="Content Placeholder 2"/>
          <p:cNvSpPr>
            <a:spLocks noGrp="1"/>
          </p:cNvSpPr>
          <p:nvPr>
            <p:ph idx="1"/>
          </p:nvPr>
        </p:nvSpPr>
        <p:spPr/>
        <p:txBody>
          <a:bodyPr/>
          <a:lstStyle/>
          <a:p>
            <a:pPr marL="0" indent="0">
              <a:buNone/>
            </a:pPr>
            <a:r>
              <a:rPr lang="en-US" dirty="0"/>
              <a:t>SPWM is (or other CBPWMs can be) established by comparing </a:t>
            </a:r>
            <a:r>
              <a:rPr lang="en-US" b="1" dirty="0"/>
              <a:t>a high-frequency triangular carrier signal </a:t>
            </a:r>
            <a:r>
              <a:rPr lang="en-US" dirty="0"/>
              <a:t>and a fundamental (modulating) signal. </a:t>
            </a:r>
          </a:p>
          <a:p>
            <a:pPr marL="0" indent="0">
              <a:buNone/>
            </a:pPr>
            <a:r>
              <a:rPr lang="en-US" dirty="0"/>
              <a:t>The analytical model of SPWM (also can be called switching function) can be obtained as given in below by  using Double Fourier analysis. </a:t>
            </a:r>
            <a:endParaRPr lang="sv-SE" dirty="0"/>
          </a:p>
        </p:txBody>
      </p:sp>
      <p:pic>
        <p:nvPicPr>
          <p:cNvPr id="4" name="Picture 3"/>
          <p:cNvPicPr>
            <a:picLocks noChangeAspect="1"/>
          </p:cNvPicPr>
          <p:nvPr/>
        </p:nvPicPr>
        <p:blipFill rotWithShape="1">
          <a:blip r:embed="rId2"/>
          <a:srcRect l="354" t="-547" r="-354" b="13814"/>
          <a:stretch/>
        </p:blipFill>
        <p:spPr>
          <a:xfrm>
            <a:off x="2297578" y="4114435"/>
            <a:ext cx="6377423" cy="2387965"/>
          </a:xfrm>
          <a:prstGeom prst="rect">
            <a:avLst/>
          </a:prstGeom>
        </p:spPr>
      </p:pic>
      <p:cxnSp>
        <p:nvCxnSpPr>
          <p:cNvPr id="6" name="Straight Arrow Connector 5"/>
          <p:cNvCxnSpPr/>
          <p:nvPr/>
        </p:nvCxnSpPr>
        <p:spPr>
          <a:xfrm flipH="1" flipV="1">
            <a:off x="1964638" y="4184650"/>
            <a:ext cx="973587" cy="163536"/>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386666" y="3979498"/>
            <a:ext cx="1711325" cy="369332"/>
          </a:xfrm>
          <a:prstGeom prst="rect">
            <a:avLst/>
          </a:prstGeom>
          <a:noFill/>
        </p:spPr>
        <p:txBody>
          <a:bodyPr wrap="square" rtlCol="0">
            <a:spAutoFit/>
          </a:bodyPr>
          <a:lstStyle/>
          <a:p>
            <a:r>
              <a:rPr lang="en-US" dirty="0">
                <a:solidFill>
                  <a:schemeClr val="accent2"/>
                </a:solidFill>
              </a:rPr>
              <a:t>DC component</a:t>
            </a:r>
            <a:endParaRPr lang="sv-SE" dirty="0">
              <a:solidFill>
                <a:schemeClr val="accent2"/>
              </a:solidFill>
            </a:endParaRPr>
          </a:p>
        </p:txBody>
      </p:sp>
      <p:cxnSp>
        <p:nvCxnSpPr>
          <p:cNvPr id="13" name="Straight Arrow Connector 12"/>
          <p:cNvCxnSpPr>
            <a:stCxn id="29" idx="3"/>
          </p:cNvCxnSpPr>
          <p:nvPr/>
        </p:nvCxnSpPr>
        <p:spPr>
          <a:xfrm flipV="1">
            <a:off x="5334000" y="4114436"/>
            <a:ext cx="1235541" cy="263016"/>
          </a:xfrm>
          <a:prstGeom prst="straightConnector1">
            <a:avLst/>
          </a:prstGeom>
          <a:ln>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6699716" y="3929769"/>
            <a:ext cx="2797393" cy="369332"/>
          </a:xfrm>
          <a:prstGeom prst="rect">
            <a:avLst/>
          </a:prstGeom>
          <a:noFill/>
        </p:spPr>
        <p:txBody>
          <a:bodyPr wrap="square" rtlCol="0">
            <a:spAutoFit/>
          </a:bodyPr>
          <a:lstStyle/>
          <a:p>
            <a:r>
              <a:rPr lang="en-US" dirty="0">
                <a:solidFill>
                  <a:schemeClr val="accent5"/>
                </a:solidFill>
              </a:rPr>
              <a:t>Fundamental components</a:t>
            </a:r>
            <a:endParaRPr lang="sv-SE" dirty="0">
              <a:solidFill>
                <a:schemeClr val="accent5"/>
              </a:solidFill>
            </a:endParaRPr>
          </a:p>
        </p:txBody>
      </p:sp>
      <p:cxnSp>
        <p:nvCxnSpPr>
          <p:cNvPr id="17" name="Straight Arrow Connector 16"/>
          <p:cNvCxnSpPr/>
          <p:nvPr/>
        </p:nvCxnSpPr>
        <p:spPr>
          <a:xfrm flipV="1">
            <a:off x="7828646" y="5206318"/>
            <a:ext cx="1179295" cy="1"/>
          </a:xfrm>
          <a:prstGeom prst="straightConnector1">
            <a:avLst/>
          </a:prstGeom>
          <a:ln>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a:off x="9011800" y="4883152"/>
            <a:ext cx="2797393" cy="646331"/>
          </a:xfrm>
          <a:prstGeom prst="rect">
            <a:avLst/>
          </a:prstGeom>
          <a:noFill/>
        </p:spPr>
        <p:txBody>
          <a:bodyPr wrap="square" rtlCol="0">
            <a:spAutoFit/>
          </a:bodyPr>
          <a:lstStyle/>
          <a:p>
            <a:r>
              <a:rPr lang="en-US" dirty="0">
                <a:solidFill>
                  <a:srgbClr val="92D050"/>
                </a:solidFill>
              </a:rPr>
              <a:t>Switching frequency and its harmonics</a:t>
            </a:r>
            <a:endParaRPr lang="sv-SE" dirty="0">
              <a:solidFill>
                <a:srgbClr val="92D050"/>
              </a:solidFill>
            </a:endParaRPr>
          </a:p>
        </p:txBody>
      </p:sp>
      <p:cxnSp>
        <p:nvCxnSpPr>
          <p:cNvPr id="20" name="Straight Arrow Connector 19"/>
          <p:cNvCxnSpPr/>
          <p:nvPr/>
        </p:nvCxnSpPr>
        <p:spPr>
          <a:xfrm>
            <a:off x="8299450" y="6113534"/>
            <a:ext cx="926851" cy="0"/>
          </a:xfrm>
          <a:prstGeom prst="straightConnector1">
            <a:avLst/>
          </a:prstGeom>
          <a:ln>
            <a:solidFill>
              <a:srgbClr val="7030A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9226301" y="5928868"/>
            <a:ext cx="2797393" cy="369332"/>
          </a:xfrm>
          <a:prstGeom prst="rect">
            <a:avLst/>
          </a:prstGeom>
          <a:noFill/>
        </p:spPr>
        <p:txBody>
          <a:bodyPr wrap="square" rtlCol="0">
            <a:spAutoFit/>
          </a:bodyPr>
          <a:lstStyle/>
          <a:p>
            <a:r>
              <a:rPr lang="en-US" dirty="0">
                <a:solidFill>
                  <a:srgbClr val="7030A0"/>
                </a:solidFill>
              </a:rPr>
              <a:t>Side band harmonics</a:t>
            </a:r>
            <a:endParaRPr lang="sv-SE" dirty="0">
              <a:solidFill>
                <a:srgbClr val="7030A0"/>
              </a:solidFill>
            </a:endParaRPr>
          </a:p>
        </p:txBody>
      </p:sp>
      <p:sp>
        <p:nvSpPr>
          <p:cNvPr id="23" name="Rectangle 22"/>
          <p:cNvSpPr/>
          <p:nvPr/>
        </p:nvSpPr>
        <p:spPr>
          <a:xfrm>
            <a:off x="2908300" y="4114435"/>
            <a:ext cx="316129" cy="584565"/>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29" name="Rectangle 28"/>
          <p:cNvSpPr/>
          <p:nvPr/>
        </p:nvSpPr>
        <p:spPr>
          <a:xfrm>
            <a:off x="3452829" y="4055903"/>
            <a:ext cx="1881171" cy="643097"/>
          </a:xfrm>
          <a:prstGeom prst="rect">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1" name="Rectangle 30"/>
          <p:cNvSpPr/>
          <p:nvPr/>
        </p:nvSpPr>
        <p:spPr>
          <a:xfrm>
            <a:off x="3224429" y="4795837"/>
            <a:ext cx="4604217" cy="820964"/>
          </a:xfrm>
          <a:prstGeom prst="rect">
            <a:avLst/>
          </a:prstGeom>
          <a:noFill/>
          <a:ln>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32" name="Rectangle 31"/>
          <p:cNvSpPr/>
          <p:nvPr/>
        </p:nvSpPr>
        <p:spPr>
          <a:xfrm>
            <a:off x="3224429" y="5713638"/>
            <a:ext cx="5075021" cy="847294"/>
          </a:xfrm>
          <a:prstGeom prst="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Tree>
    <p:extLst>
      <p:ext uri="{BB962C8B-B14F-4D97-AF65-F5344CB8AC3E}">
        <p14:creationId xmlns:p14="http://schemas.microsoft.com/office/powerpoint/2010/main" val="1511039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324374"/>
            <a:ext cx="10795000" cy="1325563"/>
          </a:xfrm>
        </p:spPr>
        <p:txBody>
          <a:bodyPr/>
          <a:lstStyle/>
          <a:p>
            <a:r>
              <a:rPr lang="sv-SE" b="1" dirty="0" err="1">
                <a:solidFill>
                  <a:srgbClr val="C00000"/>
                </a:solidFill>
                <a:latin typeface="Calibri (Body)"/>
              </a:rPr>
              <a:t>Analytical</a:t>
            </a:r>
            <a:r>
              <a:rPr lang="sv-SE" b="1" dirty="0">
                <a:solidFill>
                  <a:srgbClr val="C00000"/>
                </a:solidFill>
                <a:latin typeface="Calibri (Body)"/>
              </a:rPr>
              <a:t> </a:t>
            </a:r>
            <a:r>
              <a:rPr lang="sv-SE" b="1" dirty="0" err="1">
                <a:solidFill>
                  <a:srgbClr val="C00000"/>
                </a:solidFill>
                <a:latin typeface="Calibri (Body)"/>
              </a:rPr>
              <a:t>Analysis</a:t>
            </a:r>
            <a:r>
              <a:rPr lang="sv-SE" b="1" dirty="0">
                <a:solidFill>
                  <a:srgbClr val="C00000"/>
                </a:solidFill>
                <a:latin typeface="Calibri (Body)"/>
              </a:rPr>
              <a:t> </a:t>
            </a:r>
            <a:r>
              <a:rPr lang="sv-SE" b="1" dirty="0" err="1">
                <a:solidFill>
                  <a:srgbClr val="C00000"/>
                </a:solidFill>
                <a:latin typeface="Calibri (Body)"/>
              </a:rPr>
              <a:t>of</a:t>
            </a:r>
            <a:r>
              <a:rPr lang="sv-SE" b="1" dirty="0">
                <a:solidFill>
                  <a:srgbClr val="C00000"/>
                </a:solidFill>
                <a:latin typeface="Calibri (Body)"/>
              </a:rPr>
              <a:t> PWM (i.e. SPWM)</a:t>
            </a:r>
          </a:p>
        </p:txBody>
      </p:sp>
      <p:sp>
        <p:nvSpPr>
          <p:cNvPr id="8" name="Rectangle 7"/>
          <p:cNvSpPr/>
          <p:nvPr/>
        </p:nvSpPr>
        <p:spPr>
          <a:xfrm>
            <a:off x="5350106" y="2066690"/>
            <a:ext cx="5384463" cy="646331"/>
          </a:xfrm>
          <a:prstGeom prst="rect">
            <a:avLst/>
          </a:prstGeom>
        </p:spPr>
        <p:txBody>
          <a:bodyPr wrap="square">
            <a:spAutoFit/>
          </a:bodyPr>
          <a:lstStyle/>
          <a:p>
            <a:r>
              <a:rPr lang="en-US" dirty="0">
                <a:latin typeface="Calibri (Body)"/>
              </a:rPr>
              <a:t>We can calculate the voltage harmonics by using the switching functions.</a:t>
            </a:r>
            <a:endParaRPr lang="sv-SE" dirty="0">
              <a:latin typeface="Calibri (Body)"/>
            </a:endParaRPr>
          </a:p>
        </p:txBody>
      </p:sp>
      <p:pic>
        <p:nvPicPr>
          <p:cNvPr id="10" name="Picture 9"/>
          <p:cNvPicPr>
            <a:picLocks noChangeAspect="1"/>
          </p:cNvPicPr>
          <p:nvPr/>
        </p:nvPicPr>
        <p:blipFill rotWithShape="1">
          <a:blip r:embed="rId2"/>
          <a:srcRect r="996"/>
          <a:stretch/>
        </p:blipFill>
        <p:spPr>
          <a:xfrm>
            <a:off x="1898527" y="1538810"/>
            <a:ext cx="2519485" cy="2356924"/>
          </a:xfrm>
          <a:prstGeom prst="rect">
            <a:avLst/>
          </a:prstGeom>
        </p:spPr>
      </p:pic>
      <mc:AlternateContent xmlns:mc="http://schemas.openxmlformats.org/markup-compatibility/2006" xmlns:a14="http://schemas.microsoft.com/office/drawing/2010/main">
        <mc:Choice Requires="a14">
          <p:sp>
            <p:nvSpPr>
              <p:cNvPr id="11" name="TextBox 10"/>
              <p:cNvSpPr txBox="1"/>
              <p:nvPr/>
            </p:nvSpPr>
            <p:spPr>
              <a:xfrm>
                <a:off x="5332778" y="2812220"/>
                <a:ext cx="232066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𝐴</m:t>
                          </m:r>
                        </m:sub>
                      </m:sSub>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𝐷𝐶</m:t>
                          </m:r>
                        </m:sub>
                      </m:sSub>
                    </m:oMath>
                  </m:oMathPara>
                </a14:m>
                <a:endParaRPr lang="sv-SE" dirty="0">
                  <a:latin typeface="Calibri (Body)"/>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5332778" y="2812220"/>
                <a:ext cx="2320664" cy="369332"/>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5675600" y="3181552"/>
                <a:ext cx="2595169" cy="369332"/>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𝐴𝐵</m:t>
                          </m:r>
                        </m:sub>
                      </m:sSub>
                      <m:r>
                        <a:rPr lang="en-US" b="0" i="1"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𝐴</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𝐷𝐶</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𝐵</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𝑉</m:t>
                          </m:r>
                        </m:e>
                        <m:sub>
                          <m:r>
                            <a:rPr lang="en-US" i="1">
                              <a:latin typeface="Cambria Math" panose="02040503050406030204" pitchFamily="18" charset="0"/>
                            </a:rPr>
                            <m:t>𝐷𝐶</m:t>
                          </m:r>
                        </m:sub>
                      </m:sSub>
                    </m:oMath>
                  </m:oMathPara>
                </a14:m>
                <a:endParaRPr lang="sv-SE" dirty="0">
                  <a:latin typeface="Calibri (Body)"/>
                </a:endParaRPr>
              </a:p>
            </p:txBody>
          </p:sp>
        </mc:Choice>
        <mc:Fallback xmlns="">
          <p:sp>
            <p:nvSpPr>
              <p:cNvPr id="12" name="Rectangle 11"/>
              <p:cNvSpPr>
                <a:spLocks noRot="1" noChangeAspect="1" noMove="1" noResize="1" noEditPoints="1" noAdjustHandles="1" noChangeArrowheads="1" noChangeShapeType="1" noTextEdit="1"/>
              </p:cNvSpPr>
              <p:nvPr/>
            </p:nvSpPr>
            <p:spPr>
              <a:xfrm>
                <a:off x="5675600" y="3181552"/>
                <a:ext cx="2595169" cy="369332"/>
              </a:xfrm>
              <a:prstGeom prst="rect">
                <a:avLst/>
              </a:prstGeom>
              <a:blipFill>
                <a:blip r:embed="rId4"/>
                <a:stretch>
                  <a:fillRect b="-1667"/>
                </a:stretch>
              </a:blipFill>
            </p:spPr>
            <p:txBody>
              <a:bodyPr/>
              <a:lstStyle/>
              <a:p>
                <a:r>
                  <a:rPr lang="sv-SE">
                    <a:noFill/>
                  </a:rPr>
                  <a:t> </a:t>
                </a:r>
              </a:p>
            </p:txBody>
          </p:sp>
        </mc:Fallback>
      </mc:AlternateContent>
      <p:pic>
        <p:nvPicPr>
          <p:cNvPr id="14" name="Picture 13"/>
          <p:cNvPicPr>
            <a:picLocks noChangeAspect="1"/>
          </p:cNvPicPr>
          <p:nvPr/>
        </p:nvPicPr>
        <p:blipFill>
          <a:blip r:embed="rId5"/>
          <a:stretch>
            <a:fillRect/>
          </a:stretch>
        </p:blipFill>
        <p:spPr>
          <a:xfrm>
            <a:off x="1083746" y="3703776"/>
            <a:ext cx="3826489" cy="2812788"/>
          </a:xfrm>
          <a:prstGeom prst="rect">
            <a:avLst/>
          </a:prstGeom>
        </p:spPr>
      </p:pic>
      <p:sp>
        <p:nvSpPr>
          <p:cNvPr id="15" name="Rectangle 14"/>
          <p:cNvSpPr/>
          <p:nvPr/>
        </p:nvSpPr>
        <p:spPr>
          <a:xfrm>
            <a:off x="5578537" y="4433170"/>
            <a:ext cx="5384463" cy="2031325"/>
          </a:xfrm>
          <a:prstGeom prst="rect">
            <a:avLst/>
          </a:prstGeom>
        </p:spPr>
        <p:txBody>
          <a:bodyPr wrap="square">
            <a:spAutoFit/>
          </a:bodyPr>
          <a:lstStyle/>
          <a:p>
            <a:r>
              <a:rPr lang="en-US" dirty="0">
                <a:latin typeface="Calibri (Body)"/>
              </a:rPr>
              <a:t>The magnitudes of switching harmonics and their sidebands cannot be adjusted independently, and they change along with the modulation index. </a:t>
            </a:r>
          </a:p>
          <a:p>
            <a:endParaRPr lang="en-US" dirty="0">
              <a:latin typeface="Calibri (Body)"/>
            </a:endParaRPr>
          </a:p>
          <a:p>
            <a:r>
              <a:rPr lang="en-US" dirty="0">
                <a:latin typeface="Calibri (Body)"/>
              </a:rPr>
              <a:t>The dominant components are : </a:t>
            </a:r>
          </a:p>
          <a:p>
            <a:r>
              <a:rPr lang="en-US" dirty="0"/>
              <a:t>1) dc; 2) fundamental; 3) the first switching harmonic; 4) sidebands of the first switching harmonic.</a:t>
            </a:r>
            <a:r>
              <a:rPr lang="en-US" dirty="0">
                <a:latin typeface="Calibri (Body)"/>
              </a:rPr>
              <a:t> </a:t>
            </a:r>
            <a:endParaRPr lang="sv-SE" dirty="0">
              <a:latin typeface="Calibri (Body)"/>
            </a:endParaRPr>
          </a:p>
        </p:txBody>
      </p:sp>
    </p:spTree>
    <p:extLst>
      <p:ext uri="{BB962C8B-B14F-4D97-AF65-F5344CB8AC3E}">
        <p14:creationId xmlns:p14="http://schemas.microsoft.com/office/powerpoint/2010/main" val="15156992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err="1">
                <a:solidFill>
                  <a:srgbClr val="C00000"/>
                </a:solidFill>
              </a:rPr>
              <a:t>Analytical</a:t>
            </a:r>
            <a:r>
              <a:rPr lang="sv-SE" b="1" dirty="0">
                <a:solidFill>
                  <a:srgbClr val="C00000"/>
                </a:solidFill>
              </a:rPr>
              <a:t> </a:t>
            </a:r>
            <a:r>
              <a:rPr lang="sv-SE" b="1" dirty="0" err="1">
                <a:solidFill>
                  <a:srgbClr val="C00000"/>
                </a:solidFill>
              </a:rPr>
              <a:t>Analysis</a:t>
            </a:r>
            <a:r>
              <a:rPr lang="sv-SE" b="1" dirty="0">
                <a:solidFill>
                  <a:srgbClr val="C00000"/>
                </a:solidFill>
              </a:rPr>
              <a:t> </a:t>
            </a:r>
            <a:r>
              <a:rPr lang="sv-SE" b="1" dirty="0" err="1">
                <a:solidFill>
                  <a:srgbClr val="C00000"/>
                </a:solidFill>
              </a:rPr>
              <a:t>of</a:t>
            </a:r>
            <a:r>
              <a:rPr lang="sv-SE" b="1" dirty="0">
                <a:solidFill>
                  <a:srgbClr val="C00000"/>
                </a:solidFill>
              </a:rPr>
              <a:t> PWM (i.e. SPWM)</a:t>
            </a:r>
          </a:p>
        </p:txBody>
      </p:sp>
      <p:sp>
        <p:nvSpPr>
          <p:cNvPr id="3" name="Rectangle 2"/>
          <p:cNvSpPr/>
          <p:nvPr/>
        </p:nvSpPr>
        <p:spPr>
          <a:xfrm>
            <a:off x="1054100" y="1453764"/>
            <a:ext cx="10299700" cy="646331"/>
          </a:xfrm>
          <a:prstGeom prst="rect">
            <a:avLst/>
          </a:prstGeom>
        </p:spPr>
        <p:txBody>
          <a:bodyPr wrap="square">
            <a:spAutoFit/>
          </a:bodyPr>
          <a:lstStyle/>
          <a:p>
            <a:r>
              <a:rPr lang="en-US" dirty="0"/>
              <a:t>For the conventional SPWM with single carrier signal, the phases of these dominant components vary for each leg of the inverter, and they create </a:t>
            </a:r>
            <a:r>
              <a:rPr lang="en-US" b="1" dirty="0"/>
              <a:t>positive,</a:t>
            </a:r>
            <a:r>
              <a:rPr lang="en-US" dirty="0"/>
              <a:t> </a:t>
            </a:r>
            <a:r>
              <a:rPr lang="en-US" b="1" dirty="0"/>
              <a:t>negative</a:t>
            </a:r>
            <a:r>
              <a:rPr lang="en-US" dirty="0"/>
              <a:t>, or </a:t>
            </a:r>
            <a:r>
              <a:rPr lang="en-US" b="1" dirty="0"/>
              <a:t>zero sequence </a:t>
            </a:r>
            <a:r>
              <a:rPr lang="en-US" dirty="0"/>
              <a:t>voltage harmonics. </a:t>
            </a:r>
            <a:endParaRPr lang="sv-SE" dirty="0"/>
          </a:p>
        </p:txBody>
      </p:sp>
      <p:pic>
        <p:nvPicPr>
          <p:cNvPr id="4" name="Picture 3"/>
          <p:cNvPicPr>
            <a:picLocks noChangeAspect="1"/>
          </p:cNvPicPr>
          <p:nvPr/>
        </p:nvPicPr>
        <p:blipFill>
          <a:blip r:embed="rId2"/>
          <a:stretch>
            <a:fillRect/>
          </a:stretch>
        </p:blipFill>
        <p:spPr>
          <a:xfrm>
            <a:off x="2743200" y="2140169"/>
            <a:ext cx="5715000" cy="1847850"/>
          </a:xfrm>
          <a:prstGeom prst="rect">
            <a:avLst/>
          </a:prstGeom>
        </p:spPr>
      </p:pic>
      <p:sp>
        <p:nvSpPr>
          <p:cNvPr id="9" name="Rectangle 8"/>
          <p:cNvSpPr/>
          <p:nvPr/>
        </p:nvSpPr>
        <p:spPr>
          <a:xfrm>
            <a:off x="1149350" y="3927386"/>
            <a:ext cx="10204450" cy="646331"/>
          </a:xfrm>
          <a:prstGeom prst="rect">
            <a:avLst/>
          </a:prstGeom>
        </p:spPr>
        <p:txBody>
          <a:bodyPr wrap="square">
            <a:spAutoFit/>
          </a:bodyPr>
          <a:lstStyle/>
          <a:p>
            <a:r>
              <a:rPr lang="en-US" dirty="0"/>
              <a:t>While the </a:t>
            </a:r>
            <a:r>
              <a:rPr lang="en-US" b="1" dirty="0"/>
              <a:t>positive and negative sequence </a:t>
            </a:r>
            <a:r>
              <a:rPr lang="en-US" dirty="0"/>
              <a:t>voltage harmonics </a:t>
            </a:r>
            <a:r>
              <a:rPr lang="en-US" b="1" dirty="0"/>
              <a:t>create differential-mode current harmonics</a:t>
            </a:r>
            <a:r>
              <a:rPr lang="en-US" dirty="0"/>
              <a:t>, </a:t>
            </a:r>
            <a:r>
              <a:rPr lang="en-US" b="1" dirty="0"/>
              <a:t>zero sequence </a:t>
            </a:r>
            <a:r>
              <a:rPr lang="en-US" dirty="0"/>
              <a:t>voltage harmonics </a:t>
            </a:r>
            <a:r>
              <a:rPr lang="en-US" b="1" dirty="0"/>
              <a:t>create common-mode current harmonics</a:t>
            </a:r>
            <a:r>
              <a:rPr lang="en-US" dirty="0"/>
              <a:t>. </a:t>
            </a:r>
            <a:endParaRPr lang="sv-SE" dirty="0"/>
          </a:p>
        </p:txBody>
      </p:sp>
      <p:cxnSp>
        <p:nvCxnSpPr>
          <p:cNvPr id="15" name="Straight Arrow Connector 14"/>
          <p:cNvCxnSpPr/>
          <p:nvPr/>
        </p:nvCxnSpPr>
        <p:spPr>
          <a:xfrm flipV="1">
            <a:off x="2650728" y="5129953"/>
            <a:ext cx="705246" cy="218107"/>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2650728" y="5348060"/>
            <a:ext cx="0" cy="580300"/>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H="1" flipV="1">
            <a:off x="1963738" y="5137021"/>
            <a:ext cx="705245" cy="211039"/>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58" name="TextBox 57"/>
          <p:cNvSpPr txBox="1"/>
          <p:nvPr/>
        </p:nvSpPr>
        <p:spPr>
          <a:xfrm>
            <a:off x="3451860" y="4876800"/>
            <a:ext cx="350520" cy="369332"/>
          </a:xfrm>
          <a:prstGeom prst="rect">
            <a:avLst/>
          </a:prstGeom>
          <a:noFill/>
        </p:spPr>
        <p:txBody>
          <a:bodyPr wrap="square" rtlCol="0">
            <a:spAutoFit/>
          </a:bodyPr>
          <a:lstStyle/>
          <a:p>
            <a:r>
              <a:rPr lang="en-US" dirty="0"/>
              <a:t>A</a:t>
            </a:r>
            <a:endParaRPr lang="sv-SE" dirty="0"/>
          </a:p>
        </p:txBody>
      </p:sp>
      <p:sp>
        <p:nvSpPr>
          <p:cNvPr id="59" name="TextBox 58"/>
          <p:cNvSpPr txBox="1"/>
          <p:nvPr/>
        </p:nvSpPr>
        <p:spPr>
          <a:xfrm>
            <a:off x="1781453" y="4799955"/>
            <a:ext cx="350520" cy="369332"/>
          </a:xfrm>
          <a:prstGeom prst="rect">
            <a:avLst/>
          </a:prstGeom>
          <a:noFill/>
        </p:spPr>
        <p:txBody>
          <a:bodyPr wrap="square" rtlCol="0">
            <a:spAutoFit/>
          </a:bodyPr>
          <a:lstStyle/>
          <a:p>
            <a:r>
              <a:rPr lang="en-US" dirty="0"/>
              <a:t>B</a:t>
            </a:r>
            <a:endParaRPr lang="sv-SE" dirty="0"/>
          </a:p>
        </p:txBody>
      </p:sp>
      <p:sp>
        <p:nvSpPr>
          <p:cNvPr id="60" name="TextBox 59"/>
          <p:cNvSpPr txBox="1"/>
          <p:nvPr/>
        </p:nvSpPr>
        <p:spPr>
          <a:xfrm>
            <a:off x="2493723" y="5928360"/>
            <a:ext cx="350520" cy="369332"/>
          </a:xfrm>
          <a:prstGeom prst="rect">
            <a:avLst/>
          </a:prstGeom>
          <a:noFill/>
        </p:spPr>
        <p:txBody>
          <a:bodyPr wrap="square" rtlCol="0">
            <a:spAutoFit/>
          </a:bodyPr>
          <a:lstStyle/>
          <a:p>
            <a:r>
              <a:rPr lang="en-US" dirty="0"/>
              <a:t>C</a:t>
            </a:r>
            <a:endParaRPr lang="sv-SE" dirty="0"/>
          </a:p>
        </p:txBody>
      </p:sp>
      <p:sp>
        <p:nvSpPr>
          <p:cNvPr id="62" name="Arc 61"/>
          <p:cNvSpPr/>
          <p:nvPr/>
        </p:nvSpPr>
        <p:spPr>
          <a:xfrm rot="7995084">
            <a:off x="2590493" y="5343528"/>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64" name="Arc 63"/>
          <p:cNvSpPr/>
          <p:nvPr/>
        </p:nvSpPr>
        <p:spPr>
          <a:xfrm rot="13679747">
            <a:off x="2309094" y="5355181"/>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65" name="Arc 64"/>
          <p:cNvSpPr/>
          <p:nvPr/>
        </p:nvSpPr>
        <p:spPr>
          <a:xfrm>
            <a:off x="2371243" y="5113774"/>
            <a:ext cx="577090" cy="264715"/>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67" name="TextBox 66"/>
              <p:cNvSpPr txBox="1"/>
              <p:nvPr/>
            </p:nvSpPr>
            <p:spPr>
              <a:xfrm>
                <a:off x="2376694" y="4785525"/>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67" name="TextBox 66"/>
              <p:cNvSpPr txBox="1">
                <a:spLocks noRot="1" noChangeAspect="1" noMove="1" noResize="1" noEditPoints="1" noAdjustHandles="1" noChangeArrowheads="1" noChangeShapeType="1" noTextEdit="1"/>
              </p:cNvSpPr>
              <p:nvPr/>
            </p:nvSpPr>
            <p:spPr>
              <a:xfrm>
                <a:off x="2376694" y="4785525"/>
                <a:ext cx="601661" cy="369332"/>
              </a:xfrm>
              <a:prstGeom prst="rect">
                <a:avLst/>
              </a:prstGeom>
              <a:blipFill>
                <a:blip r:embed="rId3"/>
                <a:stretch>
                  <a:fillRect r="-202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759690" y="5391578"/>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68" name="TextBox 67"/>
              <p:cNvSpPr txBox="1">
                <a:spLocks noRot="1" noChangeAspect="1" noMove="1" noResize="1" noEditPoints="1" noAdjustHandles="1" noChangeArrowheads="1" noChangeShapeType="1" noTextEdit="1"/>
              </p:cNvSpPr>
              <p:nvPr/>
            </p:nvSpPr>
            <p:spPr>
              <a:xfrm>
                <a:off x="2759690" y="5391578"/>
                <a:ext cx="601661" cy="369332"/>
              </a:xfrm>
              <a:prstGeom prst="rect">
                <a:avLst/>
              </a:prstGeom>
              <a:blipFill>
                <a:blip r:embed="rId4"/>
                <a:stretch>
                  <a:fillRect r="-306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9" name="TextBox 68"/>
              <p:cNvSpPr txBox="1"/>
              <p:nvPr/>
            </p:nvSpPr>
            <p:spPr>
              <a:xfrm>
                <a:off x="1885089" y="5432561"/>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69" name="TextBox 68"/>
              <p:cNvSpPr txBox="1">
                <a:spLocks noRot="1" noChangeAspect="1" noMove="1" noResize="1" noEditPoints="1" noAdjustHandles="1" noChangeArrowheads="1" noChangeShapeType="1" noTextEdit="1"/>
              </p:cNvSpPr>
              <p:nvPr/>
            </p:nvSpPr>
            <p:spPr>
              <a:xfrm>
                <a:off x="1885089" y="5432561"/>
                <a:ext cx="601661" cy="369332"/>
              </a:xfrm>
              <a:prstGeom prst="rect">
                <a:avLst/>
              </a:prstGeom>
              <a:blipFill>
                <a:blip r:embed="rId5"/>
                <a:stretch>
                  <a:fillRect r="-3030"/>
                </a:stretch>
              </a:blipFill>
            </p:spPr>
            <p:txBody>
              <a:bodyPr/>
              <a:lstStyle/>
              <a:p>
                <a:r>
                  <a:rPr lang="sv-SE">
                    <a:noFill/>
                  </a:rPr>
                  <a:t> </a:t>
                </a:r>
              </a:p>
            </p:txBody>
          </p:sp>
        </mc:Fallback>
      </mc:AlternateContent>
      <p:cxnSp>
        <p:nvCxnSpPr>
          <p:cNvPr id="70" name="Straight Arrow Connector 69"/>
          <p:cNvCxnSpPr/>
          <p:nvPr/>
        </p:nvCxnSpPr>
        <p:spPr>
          <a:xfrm flipV="1">
            <a:off x="5691053" y="5045803"/>
            <a:ext cx="705246" cy="218107"/>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p:nvPr/>
        </p:nvCxnSpPr>
        <p:spPr>
          <a:xfrm>
            <a:off x="5691053" y="5263910"/>
            <a:ext cx="0" cy="580300"/>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p:cNvCxnSpPr/>
          <p:nvPr/>
        </p:nvCxnSpPr>
        <p:spPr>
          <a:xfrm flipH="1" flipV="1">
            <a:off x="5004063" y="5052871"/>
            <a:ext cx="705245" cy="211039"/>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a:off x="6492185" y="4792650"/>
            <a:ext cx="350520" cy="369332"/>
          </a:xfrm>
          <a:prstGeom prst="rect">
            <a:avLst/>
          </a:prstGeom>
          <a:noFill/>
        </p:spPr>
        <p:txBody>
          <a:bodyPr wrap="square" rtlCol="0">
            <a:spAutoFit/>
          </a:bodyPr>
          <a:lstStyle/>
          <a:p>
            <a:r>
              <a:rPr lang="en-US" dirty="0"/>
              <a:t>A</a:t>
            </a:r>
            <a:endParaRPr lang="sv-SE" dirty="0"/>
          </a:p>
        </p:txBody>
      </p:sp>
      <p:sp>
        <p:nvSpPr>
          <p:cNvPr id="74" name="TextBox 73"/>
          <p:cNvSpPr txBox="1"/>
          <p:nvPr/>
        </p:nvSpPr>
        <p:spPr>
          <a:xfrm>
            <a:off x="4821778" y="4715805"/>
            <a:ext cx="350520" cy="369332"/>
          </a:xfrm>
          <a:prstGeom prst="rect">
            <a:avLst/>
          </a:prstGeom>
          <a:noFill/>
        </p:spPr>
        <p:txBody>
          <a:bodyPr wrap="square" rtlCol="0">
            <a:spAutoFit/>
          </a:bodyPr>
          <a:lstStyle/>
          <a:p>
            <a:r>
              <a:rPr lang="en-US" dirty="0"/>
              <a:t>C</a:t>
            </a:r>
            <a:endParaRPr lang="sv-SE" dirty="0"/>
          </a:p>
        </p:txBody>
      </p:sp>
      <p:sp>
        <p:nvSpPr>
          <p:cNvPr id="75" name="TextBox 74"/>
          <p:cNvSpPr txBox="1"/>
          <p:nvPr/>
        </p:nvSpPr>
        <p:spPr>
          <a:xfrm>
            <a:off x="5534048" y="5844210"/>
            <a:ext cx="350520" cy="369332"/>
          </a:xfrm>
          <a:prstGeom prst="rect">
            <a:avLst/>
          </a:prstGeom>
          <a:noFill/>
        </p:spPr>
        <p:txBody>
          <a:bodyPr wrap="square" rtlCol="0">
            <a:spAutoFit/>
          </a:bodyPr>
          <a:lstStyle/>
          <a:p>
            <a:r>
              <a:rPr lang="en-US" dirty="0"/>
              <a:t>B</a:t>
            </a:r>
            <a:endParaRPr lang="sv-SE" dirty="0"/>
          </a:p>
        </p:txBody>
      </p:sp>
      <p:sp>
        <p:nvSpPr>
          <p:cNvPr id="76" name="Arc 75"/>
          <p:cNvSpPr/>
          <p:nvPr/>
        </p:nvSpPr>
        <p:spPr>
          <a:xfrm rot="7995084">
            <a:off x="5630818" y="5259378"/>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77" name="Arc 76"/>
          <p:cNvSpPr/>
          <p:nvPr/>
        </p:nvSpPr>
        <p:spPr>
          <a:xfrm rot="13679747">
            <a:off x="5349419" y="5271031"/>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78" name="Arc 77"/>
          <p:cNvSpPr/>
          <p:nvPr/>
        </p:nvSpPr>
        <p:spPr>
          <a:xfrm>
            <a:off x="5411568" y="5029624"/>
            <a:ext cx="577090" cy="264715"/>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79" name="TextBox 78"/>
              <p:cNvSpPr txBox="1"/>
              <p:nvPr/>
            </p:nvSpPr>
            <p:spPr>
              <a:xfrm>
                <a:off x="5417019" y="4701375"/>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79" name="TextBox 78"/>
              <p:cNvSpPr txBox="1">
                <a:spLocks noRot="1" noChangeAspect="1" noMove="1" noResize="1" noEditPoints="1" noAdjustHandles="1" noChangeArrowheads="1" noChangeShapeType="1" noTextEdit="1"/>
              </p:cNvSpPr>
              <p:nvPr/>
            </p:nvSpPr>
            <p:spPr>
              <a:xfrm>
                <a:off x="5417019" y="4701375"/>
                <a:ext cx="601661" cy="369332"/>
              </a:xfrm>
              <a:prstGeom prst="rect">
                <a:avLst/>
              </a:prstGeom>
              <a:blipFill>
                <a:blip r:embed="rId6"/>
                <a:stretch>
                  <a:fillRect r="-306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5800015" y="5307428"/>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80" name="TextBox 79"/>
              <p:cNvSpPr txBox="1">
                <a:spLocks noRot="1" noChangeAspect="1" noMove="1" noResize="1" noEditPoints="1" noAdjustHandles="1" noChangeArrowheads="1" noChangeShapeType="1" noTextEdit="1"/>
              </p:cNvSpPr>
              <p:nvPr/>
            </p:nvSpPr>
            <p:spPr>
              <a:xfrm>
                <a:off x="5800015" y="5307428"/>
                <a:ext cx="601661" cy="369332"/>
              </a:xfrm>
              <a:prstGeom prst="rect">
                <a:avLst/>
              </a:prstGeom>
              <a:blipFill>
                <a:blip r:embed="rId7"/>
                <a:stretch>
                  <a:fillRect r="-303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4925414" y="5348411"/>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120</m:t>
                          </m:r>
                        </m:e>
                        <m:sup>
                          <m:r>
                            <a:rPr lang="en-US" b="0" i="1" smtClean="0">
                              <a:latin typeface="Cambria Math" panose="02040503050406030204" pitchFamily="18" charset="0"/>
                            </a:rPr>
                            <m:t>𝑜</m:t>
                          </m:r>
                        </m:sup>
                      </m:sSup>
                    </m:oMath>
                  </m:oMathPara>
                </a14:m>
                <a:endParaRPr lang="sv-SE" dirty="0"/>
              </a:p>
            </p:txBody>
          </p:sp>
        </mc:Choice>
        <mc:Fallback xmlns="">
          <p:sp>
            <p:nvSpPr>
              <p:cNvPr id="81" name="TextBox 80"/>
              <p:cNvSpPr txBox="1">
                <a:spLocks noRot="1" noChangeAspect="1" noMove="1" noResize="1" noEditPoints="1" noAdjustHandles="1" noChangeArrowheads="1" noChangeShapeType="1" noTextEdit="1"/>
              </p:cNvSpPr>
              <p:nvPr/>
            </p:nvSpPr>
            <p:spPr>
              <a:xfrm>
                <a:off x="4925414" y="5348411"/>
                <a:ext cx="601661" cy="369332"/>
              </a:xfrm>
              <a:prstGeom prst="rect">
                <a:avLst/>
              </a:prstGeom>
              <a:blipFill>
                <a:blip r:embed="rId8"/>
                <a:stretch>
                  <a:fillRect r="-2020"/>
                </a:stretch>
              </a:blipFill>
            </p:spPr>
            <p:txBody>
              <a:bodyPr/>
              <a:lstStyle/>
              <a:p>
                <a:r>
                  <a:rPr lang="sv-SE">
                    <a:noFill/>
                  </a:rPr>
                  <a:t> </a:t>
                </a:r>
              </a:p>
            </p:txBody>
          </p:sp>
        </mc:Fallback>
      </mc:AlternateContent>
      <p:sp>
        <p:nvSpPr>
          <p:cNvPr id="82" name="Arc 81"/>
          <p:cNvSpPr/>
          <p:nvPr/>
        </p:nvSpPr>
        <p:spPr>
          <a:xfrm>
            <a:off x="2190721" y="4708449"/>
            <a:ext cx="973606" cy="218008"/>
          </a:xfrm>
          <a:prstGeom prst="arc">
            <a:avLst>
              <a:gd name="adj1" fmla="val 11793358"/>
              <a:gd name="adj2" fmla="val 20675501"/>
            </a:avLst>
          </a:prstGeom>
          <a:ln>
            <a:solidFill>
              <a:schemeClr val="tx1"/>
            </a:solidFill>
            <a:headEnd type="triangle"/>
            <a:tailEnd type="ova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83" name="Arc 82"/>
          <p:cNvSpPr/>
          <p:nvPr/>
        </p:nvSpPr>
        <p:spPr>
          <a:xfrm>
            <a:off x="5231046" y="4683539"/>
            <a:ext cx="973606" cy="218008"/>
          </a:xfrm>
          <a:prstGeom prst="arc">
            <a:avLst>
              <a:gd name="adj1" fmla="val 11793358"/>
              <a:gd name="adj2" fmla="val 20675501"/>
            </a:avLst>
          </a:prstGeom>
          <a:ln>
            <a:solidFill>
              <a:schemeClr val="tx1"/>
            </a:solidFill>
            <a:headEnd type="ova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cxnSp>
        <p:nvCxnSpPr>
          <p:cNvPr id="84" name="Straight Arrow Connector 83"/>
          <p:cNvCxnSpPr/>
          <p:nvPr/>
        </p:nvCxnSpPr>
        <p:spPr>
          <a:xfrm flipV="1">
            <a:off x="8860042" y="5342725"/>
            <a:ext cx="0" cy="40212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p:nvPr/>
        </p:nvCxnSpPr>
        <p:spPr>
          <a:xfrm flipV="1">
            <a:off x="9172901" y="5342725"/>
            <a:ext cx="2281" cy="402120"/>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86" name="Straight Arrow Connector 85"/>
          <p:cNvCxnSpPr/>
          <p:nvPr/>
        </p:nvCxnSpPr>
        <p:spPr>
          <a:xfrm flipV="1">
            <a:off x="9008635" y="5354057"/>
            <a:ext cx="4087" cy="390788"/>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87" name="TextBox 86"/>
          <p:cNvSpPr txBox="1"/>
          <p:nvPr/>
        </p:nvSpPr>
        <p:spPr>
          <a:xfrm>
            <a:off x="8635623" y="5043726"/>
            <a:ext cx="350520" cy="369332"/>
          </a:xfrm>
          <a:prstGeom prst="rect">
            <a:avLst/>
          </a:prstGeom>
          <a:noFill/>
        </p:spPr>
        <p:txBody>
          <a:bodyPr wrap="square" rtlCol="0">
            <a:spAutoFit/>
          </a:bodyPr>
          <a:lstStyle/>
          <a:p>
            <a:r>
              <a:rPr lang="en-US" dirty="0"/>
              <a:t>A</a:t>
            </a:r>
            <a:endParaRPr lang="sv-SE" dirty="0"/>
          </a:p>
        </p:txBody>
      </p:sp>
      <p:sp>
        <p:nvSpPr>
          <p:cNvPr id="88" name="TextBox 87"/>
          <p:cNvSpPr txBox="1"/>
          <p:nvPr/>
        </p:nvSpPr>
        <p:spPr>
          <a:xfrm>
            <a:off x="9024308" y="5052256"/>
            <a:ext cx="350520" cy="369332"/>
          </a:xfrm>
          <a:prstGeom prst="rect">
            <a:avLst/>
          </a:prstGeom>
          <a:noFill/>
        </p:spPr>
        <p:txBody>
          <a:bodyPr wrap="square" rtlCol="0">
            <a:spAutoFit/>
          </a:bodyPr>
          <a:lstStyle/>
          <a:p>
            <a:r>
              <a:rPr lang="en-US" dirty="0"/>
              <a:t>C</a:t>
            </a:r>
            <a:endParaRPr lang="sv-SE" dirty="0"/>
          </a:p>
        </p:txBody>
      </p:sp>
      <p:sp>
        <p:nvSpPr>
          <p:cNvPr id="89" name="TextBox 88"/>
          <p:cNvSpPr txBox="1"/>
          <p:nvPr/>
        </p:nvSpPr>
        <p:spPr>
          <a:xfrm>
            <a:off x="8860042" y="5055017"/>
            <a:ext cx="350520" cy="369332"/>
          </a:xfrm>
          <a:prstGeom prst="rect">
            <a:avLst/>
          </a:prstGeom>
          <a:noFill/>
        </p:spPr>
        <p:txBody>
          <a:bodyPr wrap="square" rtlCol="0">
            <a:spAutoFit/>
          </a:bodyPr>
          <a:lstStyle/>
          <a:p>
            <a:r>
              <a:rPr lang="en-US" dirty="0"/>
              <a:t>B</a:t>
            </a:r>
            <a:endParaRPr lang="sv-SE" dirty="0"/>
          </a:p>
        </p:txBody>
      </p:sp>
      <mc:AlternateContent xmlns:mc="http://schemas.openxmlformats.org/markup-compatibility/2006" xmlns:a14="http://schemas.microsoft.com/office/drawing/2010/main">
        <mc:Choice Requires="a14">
          <p:sp>
            <p:nvSpPr>
              <p:cNvPr id="123" name="TextBox 122"/>
              <p:cNvSpPr txBox="1"/>
              <p:nvPr/>
            </p:nvSpPr>
            <p:spPr>
              <a:xfrm>
                <a:off x="1753330" y="6165526"/>
                <a:ext cx="2055383" cy="646331"/>
              </a:xfrm>
              <a:prstGeom prst="rect">
                <a:avLst/>
              </a:prstGeom>
              <a:noFill/>
            </p:spPr>
            <p:txBody>
              <a:bodyPr wrap="square" rtlCol="0">
                <a:spAutoFit/>
              </a:bodyPr>
              <a:lstStyle/>
              <a:p>
                <a:r>
                  <a:rPr lang="en-US" dirty="0"/>
                  <a:t>Positive Sequence</a:t>
                </a:r>
              </a:p>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𝑓</m:t>
                        </m:r>
                      </m:e>
                      <m:sub>
                        <m:r>
                          <a:rPr lang="en-US" b="0" i="1" smtClean="0">
                            <a:latin typeface="Cambria Math" panose="02040503050406030204" pitchFamily="18" charset="0"/>
                          </a:rPr>
                          <m:t>0</m:t>
                        </m:r>
                      </m:sub>
                    </m:sSub>
                    <m:r>
                      <a:rPr lang="en-US" b="0" i="1" smtClean="0">
                        <a:latin typeface="Cambria Math" panose="02040503050406030204" pitchFamily="18" charset="0"/>
                      </a:rPr>
                      <m:t> </m:t>
                    </m:r>
                  </m:oMath>
                </a14:m>
                <a:r>
                  <a:rPr lang="sv-SE" dirty="0"/>
                  <a:t> and </a:t>
                </a:r>
                <a14:m>
                  <m:oMath xmlns:m="http://schemas.openxmlformats.org/officeDocument/2006/math">
                    <m:sSub>
                      <m:sSubPr>
                        <m:ctrlPr>
                          <a:rPr lang="en-US" i="1">
                            <a:latin typeface="Cambria Math" panose="02040503050406030204" pitchFamily="18" charset="0"/>
                          </a:rPr>
                        </m:ctrlPr>
                      </m:sSubPr>
                      <m:e>
                        <m:r>
                          <a:rPr lang="sv-SE" i="1">
                            <a:latin typeface="Cambria Math" panose="02040503050406030204" pitchFamily="18" charset="0"/>
                          </a:rPr>
                          <m:t>𝑓</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0</m:t>
                        </m:r>
                      </m:sub>
                    </m:sSub>
                  </m:oMath>
                </a14:m>
                <a:endParaRPr lang="sv-SE" dirty="0"/>
              </a:p>
            </p:txBody>
          </p:sp>
        </mc:Choice>
        <mc:Fallback xmlns="">
          <p:sp>
            <p:nvSpPr>
              <p:cNvPr id="123" name="TextBox 122"/>
              <p:cNvSpPr txBox="1">
                <a:spLocks noRot="1" noChangeAspect="1" noMove="1" noResize="1" noEditPoints="1" noAdjustHandles="1" noChangeArrowheads="1" noChangeShapeType="1" noTextEdit="1"/>
              </p:cNvSpPr>
              <p:nvPr/>
            </p:nvSpPr>
            <p:spPr>
              <a:xfrm>
                <a:off x="1753330" y="6165526"/>
                <a:ext cx="2055383" cy="646331"/>
              </a:xfrm>
              <a:prstGeom prst="rect">
                <a:avLst/>
              </a:prstGeom>
              <a:blipFill>
                <a:blip r:embed="rId9"/>
                <a:stretch>
                  <a:fillRect l="-2671" t="-4717" b="-14151"/>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4" name="TextBox 123"/>
              <p:cNvSpPr txBox="1"/>
              <p:nvPr/>
            </p:nvSpPr>
            <p:spPr>
              <a:xfrm>
                <a:off x="4821778" y="6193868"/>
                <a:ext cx="2055383" cy="646331"/>
              </a:xfrm>
              <a:prstGeom prst="rect">
                <a:avLst/>
              </a:prstGeom>
              <a:noFill/>
            </p:spPr>
            <p:txBody>
              <a:bodyPr wrap="square" rtlCol="0">
                <a:spAutoFit/>
              </a:bodyPr>
              <a:lstStyle/>
              <a:p>
                <a:r>
                  <a:rPr lang="en-US" dirty="0"/>
                  <a:t>Negative Sequence</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sv-SE" i="1">
                              <a:latin typeface="Cambria Math" panose="02040503050406030204" pitchFamily="18" charset="0"/>
                            </a:rPr>
                            <m:t>𝑓</m:t>
                          </m:r>
                        </m:e>
                        <m:sub>
                          <m:r>
                            <a:rPr lang="en-US" b="0" i="1" smtClean="0">
                              <a:latin typeface="Cambria Math" panose="02040503050406030204" pitchFamily="18" charset="0"/>
                            </a:rPr>
                            <m:t>𝑠</m:t>
                          </m:r>
                        </m:sub>
                      </m:sSub>
                      <m:r>
                        <a:rPr lang="en-US" b="0" i="1" smtClean="0">
                          <a:latin typeface="Cambria Math" panose="02040503050406030204" pitchFamily="18" charset="0"/>
                        </a:rPr>
                        <m:t>+</m:t>
                      </m:r>
                      <m:r>
                        <a:rPr lang="en-US" b="0" i="1" smtClean="0">
                          <a:latin typeface="Cambria Math" panose="02040503050406030204" pitchFamily="18" charset="0"/>
                        </a:rPr>
                        <m:t>2</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0</m:t>
                          </m:r>
                        </m:sub>
                      </m:sSub>
                    </m:oMath>
                  </m:oMathPara>
                </a14:m>
                <a:endParaRPr lang="sv-SE" dirty="0"/>
              </a:p>
            </p:txBody>
          </p:sp>
        </mc:Choice>
        <mc:Fallback xmlns="">
          <p:sp>
            <p:nvSpPr>
              <p:cNvPr id="124" name="TextBox 123"/>
              <p:cNvSpPr txBox="1">
                <a:spLocks noRot="1" noChangeAspect="1" noMove="1" noResize="1" noEditPoints="1" noAdjustHandles="1" noChangeArrowheads="1" noChangeShapeType="1" noTextEdit="1"/>
              </p:cNvSpPr>
              <p:nvPr/>
            </p:nvSpPr>
            <p:spPr>
              <a:xfrm>
                <a:off x="4821778" y="6193868"/>
                <a:ext cx="2055383" cy="646331"/>
              </a:xfrm>
              <a:prstGeom prst="rect">
                <a:avLst/>
              </a:prstGeom>
              <a:blipFill>
                <a:blip r:embed="rId10"/>
                <a:stretch>
                  <a:fillRect l="-2671" t="-4717" b="-7547"/>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5" name="TextBox 124"/>
              <p:cNvSpPr txBox="1"/>
              <p:nvPr/>
            </p:nvSpPr>
            <p:spPr>
              <a:xfrm>
                <a:off x="7908581" y="6113026"/>
                <a:ext cx="2055383" cy="646331"/>
              </a:xfrm>
              <a:prstGeom prst="rect">
                <a:avLst/>
              </a:prstGeom>
              <a:noFill/>
            </p:spPr>
            <p:txBody>
              <a:bodyPr wrap="square" rtlCol="0">
                <a:spAutoFit/>
              </a:bodyPr>
              <a:lstStyle/>
              <a:p>
                <a:r>
                  <a:rPr lang="en-US" dirty="0"/>
                  <a:t>    Zero Sequence</a:t>
                </a:r>
              </a:p>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a:rPr lang="sv-SE" i="1">
                              <a:latin typeface="Cambria Math" panose="02040503050406030204" pitchFamily="18" charset="0"/>
                            </a:rPr>
                            <m:t>𝑓</m:t>
                          </m:r>
                        </m:e>
                        <m:sub>
                          <m:r>
                            <a:rPr lang="en-US" b="0" i="1" smtClean="0">
                              <a:latin typeface="Cambria Math" panose="02040503050406030204" pitchFamily="18" charset="0"/>
                            </a:rPr>
                            <m:t>𝑠</m:t>
                          </m:r>
                        </m:sub>
                      </m:sSub>
                    </m:oMath>
                  </m:oMathPara>
                </a14:m>
                <a:endParaRPr lang="sv-SE" dirty="0"/>
              </a:p>
            </p:txBody>
          </p:sp>
        </mc:Choice>
        <mc:Fallback xmlns="">
          <p:sp>
            <p:nvSpPr>
              <p:cNvPr id="125" name="TextBox 124"/>
              <p:cNvSpPr txBox="1">
                <a:spLocks noRot="1" noChangeAspect="1" noMove="1" noResize="1" noEditPoints="1" noAdjustHandles="1" noChangeArrowheads="1" noChangeShapeType="1" noTextEdit="1"/>
              </p:cNvSpPr>
              <p:nvPr/>
            </p:nvSpPr>
            <p:spPr>
              <a:xfrm>
                <a:off x="7908581" y="6113026"/>
                <a:ext cx="2055383" cy="646331"/>
              </a:xfrm>
              <a:prstGeom prst="rect">
                <a:avLst/>
              </a:prstGeom>
              <a:blipFill>
                <a:blip r:embed="rId11"/>
                <a:stretch>
                  <a:fillRect t="-5660" b="-6604"/>
                </a:stretch>
              </a:blipFill>
            </p:spPr>
            <p:txBody>
              <a:bodyPr/>
              <a:lstStyle/>
              <a:p>
                <a:r>
                  <a:rPr lang="sv-SE">
                    <a:noFill/>
                  </a:rPr>
                  <a:t> </a:t>
                </a:r>
              </a:p>
            </p:txBody>
          </p:sp>
        </mc:Fallback>
      </mc:AlternateContent>
    </p:spTree>
    <p:extLst>
      <p:ext uri="{BB962C8B-B14F-4D97-AF65-F5344CB8AC3E}">
        <p14:creationId xmlns:p14="http://schemas.microsoft.com/office/powerpoint/2010/main" val="797074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sv-SE" b="1" dirty="0">
                <a:solidFill>
                  <a:srgbClr val="C00000"/>
                </a:solidFill>
              </a:rPr>
              <a:t>The initial </a:t>
            </a:r>
            <a:r>
              <a:rPr lang="sv-SE" b="1" dirty="0" err="1">
                <a:solidFill>
                  <a:srgbClr val="C00000"/>
                </a:solidFill>
              </a:rPr>
              <a:t>idea</a:t>
            </a:r>
            <a:endParaRPr lang="sv-SE" b="1" dirty="0">
              <a:solidFill>
                <a:srgbClr val="C00000"/>
              </a:solidFill>
            </a:endParaRPr>
          </a:p>
        </p:txBody>
      </p:sp>
      <p:sp>
        <p:nvSpPr>
          <p:cNvPr id="5" name="Rectangle 4"/>
          <p:cNvSpPr/>
          <p:nvPr/>
        </p:nvSpPr>
        <p:spPr>
          <a:xfrm>
            <a:off x="675663" y="1412334"/>
            <a:ext cx="9647797" cy="1200329"/>
          </a:xfrm>
          <a:prstGeom prst="rect">
            <a:avLst/>
          </a:prstGeom>
        </p:spPr>
        <p:txBody>
          <a:bodyPr wrap="square">
            <a:spAutoFit/>
          </a:bodyPr>
          <a:lstStyle/>
          <a:p>
            <a:r>
              <a:rPr lang="en-US" b="1" dirty="0"/>
              <a:t>The magnitude of the zero sequence </a:t>
            </a:r>
            <a:r>
              <a:rPr lang="en-US" dirty="0"/>
              <a:t>component (so the first switching frequency) is </a:t>
            </a:r>
            <a:r>
              <a:rPr lang="en-US" b="1" dirty="0"/>
              <a:t>higher than </a:t>
            </a:r>
            <a:r>
              <a:rPr lang="en-US" dirty="0"/>
              <a:t>the </a:t>
            </a:r>
            <a:r>
              <a:rPr lang="en-US" b="1" dirty="0"/>
              <a:t>positive and negative sequences </a:t>
            </a:r>
            <a:r>
              <a:rPr lang="en-US" dirty="0"/>
              <a:t>(sidebands). Although It is actually good considering differential-mode current, it is bad regarding common-mode current. </a:t>
            </a:r>
          </a:p>
          <a:p>
            <a:endParaRPr lang="en-US" dirty="0"/>
          </a:p>
        </p:txBody>
      </p:sp>
      <p:pic>
        <p:nvPicPr>
          <p:cNvPr id="6" name="Picture 5"/>
          <p:cNvPicPr>
            <a:picLocks noChangeAspect="1"/>
          </p:cNvPicPr>
          <p:nvPr/>
        </p:nvPicPr>
        <p:blipFill rotWithShape="1">
          <a:blip r:embed="rId2"/>
          <a:srcRect r="18550"/>
          <a:stretch/>
        </p:blipFill>
        <p:spPr>
          <a:xfrm>
            <a:off x="5776097" y="2271270"/>
            <a:ext cx="4872938" cy="1297203"/>
          </a:xfrm>
          <a:prstGeom prst="rect">
            <a:avLst/>
          </a:prstGeom>
        </p:spPr>
      </p:pic>
      <p:pic>
        <p:nvPicPr>
          <p:cNvPr id="45" name="Picture 44">
            <a:extLst>
              <a:ext uri="{FF2B5EF4-FFF2-40B4-BE49-F238E27FC236}">
                <a16:creationId xmlns:a16="http://schemas.microsoft.com/office/drawing/2014/main" id="{CF4CD85C-BAF5-45AE-AB1F-913512F20D38}"/>
              </a:ext>
            </a:extLst>
          </p:cNvPr>
          <p:cNvPicPr>
            <a:picLocks noChangeAspect="1"/>
          </p:cNvPicPr>
          <p:nvPr/>
        </p:nvPicPr>
        <p:blipFill>
          <a:blip r:embed="rId3"/>
          <a:stretch>
            <a:fillRect/>
          </a:stretch>
        </p:blipFill>
        <p:spPr>
          <a:xfrm>
            <a:off x="1077049" y="3632810"/>
            <a:ext cx="4193421" cy="3145066"/>
          </a:xfrm>
          <a:prstGeom prst="rect">
            <a:avLst/>
          </a:prstGeom>
        </p:spPr>
      </p:pic>
      <p:pic>
        <p:nvPicPr>
          <p:cNvPr id="93" name="Picture 92">
            <a:extLst>
              <a:ext uri="{FF2B5EF4-FFF2-40B4-BE49-F238E27FC236}">
                <a16:creationId xmlns:a16="http://schemas.microsoft.com/office/drawing/2014/main" id="{07414F65-2446-4AA3-85C8-3EE7319D6AE5}"/>
              </a:ext>
            </a:extLst>
          </p:cNvPr>
          <p:cNvPicPr>
            <a:picLocks noChangeAspect="1"/>
          </p:cNvPicPr>
          <p:nvPr/>
        </p:nvPicPr>
        <p:blipFill>
          <a:blip r:embed="rId4"/>
          <a:stretch>
            <a:fillRect/>
          </a:stretch>
        </p:blipFill>
        <p:spPr>
          <a:xfrm>
            <a:off x="5214098" y="3867903"/>
            <a:ext cx="3784477" cy="2838358"/>
          </a:xfrm>
          <a:prstGeom prst="rect">
            <a:avLst/>
          </a:prstGeom>
        </p:spPr>
      </p:pic>
      <p:pic>
        <p:nvPicPr>
          <p:cNvPr id="94" name="Picture 93">
            <a:extLst>
              <a:ext uri="{FF2B5EF4-FFF2-40B4-BE49-F238E27FC236}">
                <a16:creationId xmlns:a16="http://schemas.microsoft.com/office/drawing/2014/main" id="{49EDA3C9-8E38-4364-81DB-51F677C9A182}"/>
              </a:ext>
            </a:extLst>
          </p:cNvPr>
          <p:cNvPicPr>
            <a:picLocks noChangeAspect="1"/>
          </p:cNvPicPr>
          <p:nvPr/>
        </p:nvPicPr>
        <p:blipFill rotWithShape="1">
          <a:blip r:embed="rId5"/>
          <a:srcRect l="16786" t="43411" r="74646" b="37522"/>
          <a:stretch/>
        </p:blipFill>
        <p:spPr>
          <a:xfrm>
            <a:off x="9540867" y="4677794"/>
            <a:ext cx="457077" cy="762793"/>
          </a:xfrm>
          <a:prstGeom prst="rect">
            <a:avLst/>
          </a:prstGeom>
        </p:spPr>
      </p:pic>
      <p:pic>
        <p:nvPicPr>
          <p:cNvPr id="95" name="Picture 94">
            <a:extLst>
              <a:ext uri="{FF2B5EF4-FFF2-40B4-BE49-F238E27FC236}">
                <a16:creationId xmlns:a16="http://schemas.microsoft.com/office/drawing/2014/main" id="{00AB7F22-70EA-4D6F-9A04-5F515D2338DB}"/>
              </a:ext>
            </a:extLst>
          </p:cNvPr>
          <p:cNvPicPr>
            <a:picLocks noChangeAspect="1"/>
          </p:cNvPicPr>
          <p:nvPr/>
        </p:nvPicPr>
        <p:blipFill rotWithShape="1">
          <a:blip r:embed="rId5"/>
          <a:srcRect l="17387" t="61956" r="74849" b="19135"/>
          <a:stretch/>
        </p:blipFill>
        <p:spPr>
          <a:xfrm>
            <a:off x="9588705" y="5722006"/>
            <a:ext cx="414152" cy="756443"/>
          </a:xfrm>
          <a:prstGeom prst="rect">
            <a:avLst/>
          </a:prstGeom>
        </p:spPr>
      </p:pic>
      <p:sp>
        <p:nvSpPr>
          <p:cNvPr id="96" name="TextBox 95">
            <a:extLst>
              <a:ext uri="{FF2B5EF4-FFF2-40B4-BE49-F238E27FC236}">
                <a16:creationId xmlns:a16="http://schemas.microsoft.com/office/drawing/2014/main" id="{F3C3BCDC-4BA2-4685-89EB-FC176684F21C}"/>
              </a:ext>
            </a:extLst>
          </p:cNvPr>
          <p:cNvSpPr txBox="1"/>
          <p:nvPr/>
        </p:nvSpPr>
        <p:spPr>
          <a:xfrm>
            <a:off x="8951370" y="4346460"/>
            <a:ext cx="1274670" cy="369332"/>
          </a:xfrm>
          <a:prstGeom prst="rect">
            <a:avLst/>
          </a:prstGeom>
          <a:noFill/>
        </p:spPr>
        <p:txBody>
          <a:bodyPr wrap="square" rtlCol="0">
            <a:spAutoFit/>
          </a:bodyPr>
          <a:lstStyle/>
          <a:p>
            <a:r>
              <a:rPr lang="en-US" dirty="0"/>
              <a:t>References</a:t>
            </a:r>
          </a:p>
        </p:txBody>
      </p:sp>
      <p:sp>
        <p:nvSpPr>
          <p:cNvPr id="97" name="TextBox 96">
            <a:extLst>
              <a:ext uri="{FF2B5EF4-FFF2-40B4-BE49-F238E27FC236}">
                <a16:creationId xmlns:a16="http://schemas.microsoft.com/office/drawing/2014/main" id="{0C17F648-5109-4AD9-B1E7-3D58351430A9}"/>
              </a:ext>
            </a:extLst>
          </p:cNvPr>
          <p:cNvSpPr txBox="1"/>
          <p:nvPr/>
        </p:nvSpPr>
        <p:spPr>
          <a:xfrm>
            <a:off x="9295246" y="4597387"/>
            <a:ext cx="271341" cy="369332"/>
          </a:xfrm>
          <a:prstGeom prst="rect">
            <a:avLst/>
          </a:prstGeom>
          <a:noFill/>
        </p:spPr>
        <p:txBody>
          <a:bodyPr wrap="square" rtlCol="0">
            <a:spAutoFit/>
          </a:bodyPr>
          <a:lstStyle/>
          <a:p>
            <a:r>
              <a:rPr lang="en-US" dirty="0"/>
              <a:t>A</a:t>
            </a:r>
          </a:p>
        </p:txBody>
      </p:sp>
      <p:sp>
        <p:nvSpPr>
          <p:cNvPr id="98" name="TextBox 97">
            <a:extLst>
              <a:ext uri="{FF2B5EF4-FFF2-40B4-BE49-F238E27FC236}">
                <a16:creationId xmlns:a16="http://schemas.microsoft.com/office/drawing/2014/main" id="{D8CB5019-DC42-4A96-AB03-58AA0F8CB33F}"/>
              </a:ext>
            </a:extLst>
          </p:cNvPr>
          <p:cNvSpPr txBox="1"/>
          <p:nvPr/>
        </p:nvSpPr>
        <p:spPr>
          <a:xfrm>
            <a:off x="9299184" y="4874524"/>
            <a:ext cx="271341" cy="369332"/>
          </a:xfrm>
          <a:prstGeom prst="rect">
            <a:avLst/>
          </a:prstGeom>
          <a:noFill/>
        </p:spPr>
        <p:txBody>
          <a:bodyPr wrap="square" rtlCol="0">
            <a:spAutoFit/>
          </a:bodyPr>
          <a:lstStyle/>
          <a:p>
            <a:r>
              <a:rPr lang="en-US" dirty="0"/>
              <a:t>B</a:t>
            </a:r>
          </a:p>
        </p:txBody>
      </p:sp>
      <p:sp>
        <p:nvSpPr>
          <p:cNvPr id="99" name="TextBox 98">
            <a:extLst>
              <a:ext uri="{FF2B5EF4-FFF2-40B4-BE49-F238E27FC236}">
                <a16:creationId xmlns:a16="http://schemas.microsoft.com/office/drawing/2014/main" id="{D8C0E815-05DD-4B11-ABB0-8CE137CF9470}"/>
              </a:ext>
            </a:extLst>
          </p:cNvPr>
          <p:cNvSpPr txBox="1"/>
          <p:nvPr/>
        </p:nvSpPr>
        <p:spPr>
          <a:xfrm>
            <a:off x="9305244" y="5123121"/>
            <a:ext cx="271341" cy="369332"/>
          </a:xfrm>
          <a:prstGeom prst="rect">
            <a:avLst/>
          </a:prstGeom>
          <a:noFill/>
        </p:spPr>
        <p:txBody>
          <a:bodyPr wrap="square" rtlCol="0">
            <a:spAutoFit/>
          </a:bodyPr>
          <a:lstStyle/>
          <a:p>
            <a:r>
              <a:rPr lang="en-US" dirty="0"/>
              <a:t>C</a:t>
            </a:r>
          </a:p>
        </p:txBody>
      </p:sp>
      <p:sp>
        <p:nvSpPr>
          <p:cNvPr id="100" name="TextBox 99">
            <a:extLst>
              <a:ext uri="{FF2B5EF4-FFF2-40B4-BE49-F238E27FC236}">
                <a16:creationId xmlns:a16="http://schemas.microsoft.com/office/drawing/2014/main" id="{E481AF34-5F92-40E3-8BBF-4EBEEE0C990F}"/>
              </a:ext>
            </a:extLst>
          </p:cNvPr>
          <p:cNvSpPr txBox="1"/>
          <p:nvPr/>
        </p:nvSpPr>
        <p:spPr>
          <a:xfrm>
            <a:off x="9301306" y="5657543"/>
            <a:ext cx="271341" cy="369332"/>
          </a:xfrm>
          <a:prstGeom prst="rect">
            <a:avLst/>
          </a:prstGeom>
          <a:noFill/>
        </p:spPr>
        <p:txBody>
          <a:bodyPr wrap="square" rtlCol="0">
            <a:spAutoFit/>
          </a:bodyPr>
          <a:lstStyle/>
          <a:p>
            <a:r>
              <a:rPr lang="en-US" dirty="0"/>
              <a:t>A</a:t>
            </a:r>
          </a:p>
        </p:txBody>
      </p:sp>
      <p:sp>
        <p:nvSpPr>
          <p:cNvPr id="101" name="TextBox 100">
            <a:extLst>
              <a:ext uri="{FF2B5EF4-FFF2-40B4-BE49-F238E27FC236}">
                <a16:creationId xmlns:a16="http://schemas.microsoft.com/office/drawing/2014/main" id="{E85B0A63-CAF3-4DB8-AC59-15AE86A729D1}"/>
              </a:ext>
            </a:extLst>
          </p:cNvPr>
          <p:cNvSpPr txBox="1"/>
          <p:nvPr/>
        </p:nvSpPr>
        <p:spPr>
          <a:xfrm>
            <a:off x="9305244" y="5934680"/>
            <a:ext cx="271341" cy="369332"/>
          </a:xfrm>
          <a:prstGeom prst="rect">
            <a:avLst/>
          </a:prstGeom>
          <a:noFill/>
        </p:spPr>
        <p:txBody>
          <a:bodyPr wrap="square" rtlCol="0">
            <a:spAutoFit/>
          </a:bodyPr>
          <a:lstStyle/>
          <a:p>
            <a:r>
              <a:rPr lang="en-US" dirty="0"/>
              <a:t>B</a:t>
            </a:r>
          </a:p>
        </p:txBody>
      </p:sp>
      <p:sp>
        <p:nvSpPr>
          <p:cNvPr id="102" name="TextBox 101">
            <a:extLst>
              <a:ext uri="{FF2B5EF4-FFF2-40B4-BE49-F238E27FC236}">
                <a16:creationId xmlns:a16="http://schemas.microsoft.com/office/drawing/2014/main" id="{8C3C459E-D531-4A21-B9C8-5CDC17335D4D}"/>
              </a:ext>
            </a:extLst>
          </p:cNvPr>
          <p:cNvSpPr txBox="1"/>
          <p:nvPr/>
        </p:nvSpPr>
        <p:spPr>
          <a:xfrm>
            <a:off x="9311304" y="6183277"/>
            <a:ext cx="271341" cy="369332"/>
          </a:xfrm>
          <a:prstGeom prst="rect">
            <a:avLst/>
          </a:prstGeom>
          <a:noFill/>
        </p:spPr>
        <p:txBody>
          <a:bodyPr wrap="square" rtlCol="0">
            <a:spAutoFit/>
          </a:bodyPr>
          <a:lstStyle/>
          <a:p>
            <a:r>
              <a:rPr lang="en-US" dirty="0"/>
              <a:t>C</a:t>
            </a:r>
          </a:p>
        </p:txBody>
      </p:sp>
      <p:sp>
        <p:nvSpPr>
          <p:cNvPr id="103" name="TextBox 102">
            <a:extLst>
              <a:ext uri="{FF2B5EF4-FFF2-40B4-BE49-F238E27FC236}">
                <a16:creationId xmlns:a16="http://schemas.microsoft.com/office/drawing/2014/main" id="{DD99FAC2-ECD9-4765-A6DA-F10913C5AFD7}"/>
              </a:ext>
            </a:extLst>
          </p:cNvPr>
          <p:cNvSpPr txBox="1"/>
          <p:nvPr/>
        </p:nvSpPr>
        <p:spPr>
          <a:xfrm>
            <a:off x="8977209" y="5381892"/>
            <a:ext cx="830048" cy="369332"/>
          </a:xfrm>
          <a:prstGeom prst="rect">
            <a:avLst/>
          </a:prstGeom>
          <a:noFill/>
        </p:spPr>
        <p:txBody>
          <a:bodyPr wrap="square" rtlCol="0">
            <a:spAutoFit/>
          </a:bodyPr>
          <a:lstStyle/>
          <a:p>
            <a:r>
              <a:rPr lang="en-US" dirty="0"/>
              <a:t>Carrier</a:t>
            </a:r>
          </a:p>
        </p:txBody>
      </p:sp>
      <p:cxnSp>
        <p:nvCxnSpPr>
          <p:cNvPr id="104" name="Straight Arrow Connector 103">
            <a:extLst>
              <a:ext uri="{FF2B5EF4-FFF2-40B4-BE49-F238E27FC236}">
                <a16:creationId xmlns:a16="http://schemas.microsoft.com/office/drawing/2014/main" id="{EB21024C-92EC-4A63-91F6-FC59D59A6B74}"/>
              </a:ext>
            </a:extLst>
          </p:cNvPr>
          <p:cNvCxnSpPr>
            <a:cxnSpLocks/>
          </p:cNvCxnSpPr>
          <p:nvPr/>
        </p:nvCxnSpPr>
        <p:spPr>
          <a:xfrm>
            <a:off x="5718818" y="5334916"/>
            <a:ext cx="1918762"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5" name="TextBox 104">
                <a:extLst>
                  <a:ext uri="{FF2B5EF4-FFF2-40B4-BE49-F238E27FC236}">
                    <a16:creationId xmlns:a16="http://schemas.microsoft.com/office/drawing/2014/main" id="{92B4CBE9-C6F6-4A89-AC4D-8779DAA2F7DA}"/>
                  </a:ext>
                </a:extLst>
              </p:cNvPr>
              <p:cNvSpPr txBox="1"/>
              <p:nvPr/>
            </p:nvSpPr>
            <p:spPr>
              <a:xfrm>
                <a:off x="6187435" y="4745786"/>
                <a:ext cx="1023381" cy="496996"/>
              </a:xfrm>
              <a:prstGeom prst="rect">
                <a:avLst/>
              </a:prstGeom>
              <a:solidFill>
                <a:schemeClr val="bg1">
                  <a:alpha val="0"/>
                </a:schemeClr>
              </a:solid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𝐶𝐵</m:t>
                            </m:r>
                          </m:sub>
                        </m:sSub>
                      </m:num>
                      <m:den>
                        <m:r>
                          <a:rPr lang="en-US" b="0" i="1" smtClean="0">
                            <a:latin typeface="Cambria Math" panose="02040503050406030204" pitchFamily="18" charset="0"/>
                          </a:rPr>
                          <m:t>2</m:t>
                        </m:r>
                        <m:r>
                          <a:rPr lang="en-US" b="0" i="1" smtClean="0">
                            <a:latin typeface="Cambria Math" panose="02040503050406030204" pitchFamily="18" charset="0"/>
                          </a:rPr>
                          <m:t>𝜋</m:t>
                        </m:r>
                      </m:den>
                    </m:f>
                    <m:r>
                      <m:rPr>
                        <m:nor/>
                      </m:rPr>
                      <a:rPr lang="en-US" sz="2000" dirty="0"/>
                      <m:t>)</m:t>
                    </m:r>
                  </m:oMath>
                </a14:m>
                <a:r>
                  <a:rPr lang="en-US" sz="2000" dirty="0"/>
                  <a:t> </a:t>
                </a:r>
              </a:p>
            </p:txBody>
          </p:sp>
        </mc:Choice>
        <mc:Fallback xmlns="">
          <p:sp>
            <p:nvSpPr>
              <p:cNvPr id="105" name="TextBox 104">
                <a:extLst>
                  <a:ext uri="{FF2B5EF4-FFF2-40B4-BE49-F238E27FC236}">
                    <a16:creationId xmlns:a16="http://schemas.microsoft.com/office/drawing/2014/main" id="{92B4CBE9-C6F6-4A89-AC4D-8779DAA2F7DA}"/>
                  </a:ext>
                </a:extLst>
              </p:cNvPr>
              <p:cNvSpPr txBox="1">
                <a:spLocks noRot="1" noChangeAspect="1" noMove="1" noResize="1" noEditPoints="1" noAdjustHandles="1" noChangeArrowheads="1" noChangeShapeType="1" noTextEdit="1"/>
              </p:cNvSpPr>
              <p:nvPr/>
            </p:nvSpPr>
            <p:spPr>
              <a:xfrm>
                <a:off x="6187435" y="4745786"/>
                <a:ext cx="1023381" cy="496996"/>
              </a:xfrm>
              <a:prstGeom prst="rect">
                <a:avLst/>
              </a:prstGeom>
              <a:blipFill>
                <a:blip r:embed="rId6"/>
                <a:stretch>
                  <a:fillRect b="-2469"/>
                </a:stretch>
              </a:blipFill>
            </p:spPr>
            <p:txBody>
              <a:bodyPr/>
              <a:lstStyle/>
              <a:p>
                <a:r>
                  <a:rPr lang="sv-SE">
                    <a:noFill/>
                  </a:rPr>
                  <a:t> </a:t>
                </a:r>
              </a:p>
            </p:txBody>
          </p:sp>
        </mc:Fallback>
      </mc:AlternateContent>
      <p:cxnSp>
        <p:nvCxnSpPr>
          <p:cNvPr id="106" name="Straight Arrow Connector 105">
            <a:extLst>
              <a:ext uri="{FF2B5EF4-FFF2-40B4-BE49-F238E27FC236}">
                <a16:creationId xmlns:a16="http://schemas.microsoft.com/office/drawing/2014/main" id="{B73462ED-8679-4A12-8D47-7A5635643DF7}"/>
              </a:ext>
            </a:extLst>
          </p:cNvPr>
          <p:cNvCxnSpPr>
            <a:cxnSpLocks/>
          </p:cNvCxnSpPr>
          <p:nvPr/>
        </p:nvCxnSpPr>
        <p:spPr>
          <a:xfrm>
            <a:off x="5714633" y="5961117"/>
            <a:ext cx="945606" cy="0"/>
          </a:xfrm>
          <a:prstGeom prst="straightConnector1">
            <a:avLst/>
          </a:prstGeom>
          <a:ln w="1905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E960DCB-80B9-4702-B867-4582BCDEFEFF}"/>
              </a:ext>
            </a:extLst>
          </p:cNvPr>
          <p:cNvCxnSpPr>
            <a:cxnSpLocks/>
          </p:cNvCxnSpPr>
          <p:nvPr/>
        </p:nvCxnSpPr>
        <p:spPr>
          <a:xfrm>
            <a:off x="7637580" y="5205343"/>
            <a:ext cx="32363" cy="1208156"/>
          </a:xfrm>
          <a:prstGeom prst="line">
            <a:avLst/>
          </a:prstGeom>
          <a:ln w="19050">
            <a:solidFill>
              <a:schemeClr val="tx1"/>
            </a:solidFill>
            <a:prstDash val="sysDash"/>
          </a:ln>
          <a:effectLst>
            <a:glow rad="25400">
              <a:schemeClr val="bg1"/>
            </a:glow>
          </a:effectLst>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41D5651-9A77-404C-BE67-13859E189407}"/>
              </a:ext>
            </a:extLst>
          </p:cNvPr>
          <p:cNvCxnSpPr>
            <a:cxnSpLocks/>
          </p:cNvCxnSpPr>
          <p:nvPr/>
        </p:nvCxnSpPr>
        <p:spPr>
          <a:xfrm>
            <a:off x="6678199" y="5717958"/>
            <a:ext cx="0" cy="648028"/>
          </a:xfrm>
          <a:prstGeom prst="line">
            <a:avLst/>
          </a:prstGeom>
          <a:ln w="19050">
            <a:solidFill>
              <a:schemeClr val="tx1"/>
            </a:solidFill>
            <a:prstDash val="sysDash"/>
          </a:ln>
          <a:effectLst>
            <a:glow rad="25400">
              <a:schemeClr val="bg1"/>
            </a:glow>
          </a:effectLst>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319557C7-0E1D-4915-BB2F-1C51F9FA96CB}"/>
                  </a:ext>
                </a:extLst>
              </p:cNvPr>
              <p:cNvSpPr txBox="1"/>
              <p:nvPr/>
            </p:nvSpPr>
            <p:spPr>
              <a:xfrm>
                <a:off x="5675745" y="5937902"/>
                <a:ext cx="1023381" cy="496996"/>
              </a:xfrm>
              <a:prstGeom prst="rect">
                <a:avLst/>
              </a:prstGeom>
              <a:solidFill>
                <a:schemeClr val="bg1">
                  <a:alpha val="0"/>
                </a:schemeClr>
              </a:solid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a:rPr lang="en-US" b="0" i="1" smtClean="0">
                            <a:latin typeface="Cambria Math" panose="02040503050406030204" pitchFamily="18" charset="0"/>
                          </a:rPr>
                          <m:t>𝑠</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𝐶𝐶</m:t>
                            </m:r>
                          </m:sub>
                        </m:sSub>
                      </m:num>
                      <m:den>
                        <m:r>
                          <a:rPr lang="en-US" b="0" i="1" smtClean="0">
                            <a:latin typeface="Cambria Math" panose="02040503050406030204" pitchFamily="18" charset="0"/>
                          </a:rPr>
                          <m:t>2</m:t>
                        </m:r>
                        <m:r>
                          <a:rPr lang="en-US" b="0" i="1" smtClean="0">
                            <a:latin typeface="Cambria Math" panose="02040503050406030204" pitchFamily="18" charset="0"/>
                          </a:rPr>
                          <m:t>𝜋</m:t>
                        </m:r>
                      </m:den>
                    </m:f>
                    <m:r>
                      <m:rPr>
                        <m:nor/>
                      </m:rPr>
                      <a:rPr lang="en-US" sz="2000" dirty="0"/>
                      <m:t>)</m:t>
                    </m:r>
                  </m:oMath>
                </a14:m>
                <a:r>
                  <a:rPr lang="en-US" sz="2000" dirty="0"/>
                  <a:t> </a:t>
                </a:r>
              </a:p>
            </p:txBody>
          </p:sp>
        </mc:Choice>
        <mc:Fallback xmlns="">
          <p:sp>
            <p:nvSpPr>
              <p:cNvPr id="109" name="TextBox 108">
                <a:extLst>
                  <a:ext uri="{FF2B5EF4-FFF2-40B4-BE49-F238E27FC236}">
                    <a16:creationId xmlns:a16="http://schemas.microsoft.com/office/drawing/2014/main" id="{319557C7-0E1D-4915-BB2F-1C51F9FA96CB}"/>
                  </a:ext>
                </a:extLst>
              </p:cNvPr>
              <p:cNvSpPr txBox="1">
                <a:spLocks noRot="1" noChangeAspect="1" noMove="1" noResize="1" noEditPoints="1" noAdjustHandles="1" noChangeArrowheads="1" noChangeShapeType="1" noTextEdit="1"/>
              </p:cNvSpPr>
              <p:nvPr/>
            </p:nvSpPr>
            <p:spPr>
              <a:xfrm>
                <a:off x="5675745" y="5937902"/>
                <a:ext cx="1023381" cy="496996"/>
              </a:xfrm>
              <a:prstGeom prst="rect">
                <a:avLst/>
              </a:prstGeom>
              <a:blipFill>
                <a:blip r:embed="rId7"/>
                <a:stretch>
                  <a:fillRect b="-1220"/>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10" name="Rectangle 109">
                <a:extLst>
                  <a:ext uri="{FF2B5EF4-FFF2-40B4-BE49-F238E27FC236}">
                    <a16:creationId xmlns:a16="http://schemas.microsoft.com/office/drawing/2014/main" id="{C71B3137-2A50-46EC-891C-E5A3F0E0196D}"/>
                  </a:ext>
                </a:extLst>
              </p:cNvPr>
              <p:cNvSpPr/>
              <p:nvPr/>
            </p:nvSpPr>
            <p:spPr>
              <a:xfrm>
                <a:off x="6699125" y="4161794"/>
                <a:ext cx="1050288"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𝐶𝐴</m:t>
                          </m:r>
                        </m:sub>
                      </m:sSub>
                      <m:r>
                        <a:rPr lang="en-US" b="0" i="1" smtClean="0">
                          <a:latin typeface="Cambria Math" panose="02040503050406030204" pitchFamily="18" charset="0"/>
                        </a:rPr>
                        <m:t>=0</m:t>
                      </m:r>
                    </m:oMath>
                  </m:oMathPara>
                </a14:m>
                <a:endParaRPr lang="en-US" dirty="0"/>
              </a:p>
            </p:txBody>
          </p:sp>
        </mc:Choice>
        <mc:Fallback xmlns="">
          <p:sp>
            <p:nvSpPr>
              <p:cNvPr id="110" name="Rectangle 109">
                <a:extLst>
                  <a:ext uri="{FF2B5EF4-FFF2-40B4-BE49-F238E27FC236}">
                    <a16:creationId xmlns:a16="http://schemas.microsoft.com/office/drawing/2014/main" id="{C71B3137-2A50-46EC-891C-E5A3F0E0196D}"/>
                  </a:ext>
                </a:extLst>
              </p:cNvPr>
              <p:cNvSpPr>
                <a:spLocks noRot="1" noChangeAspect="1" noMove="1" noResize="1" noEditPoints="1" noAdjustHandles="1" noChangeArrowheads="1" noChangeShapeType="1" noTextEdit="1"/>
              </p:cNvSpPr>
              <p:nvPr/>
            </p:nvSpPr>
            <p:spPr>
              <a:xfrm>
                <a:off x="6699125" y="4161794"/>
                <a:ext cx="1050288" cy="369332"/>
              </a:xfrm>
              <a:prstGeom prst="rect">
                <a:avLst/>
              </a:prstGeom>
              <a:blipFill>
                <a:blip r:embed="rId8"/>
                <a:stretch>
                  <a:fillRect b="-13333"/>
                </a:stretch>
              </a:blipFill>
            </p:spPr>
            <p:txBody>
              <a:bodyPr/>
              <a:lstStyle/>
              <a:p>
                <a:r>
                  <a:rPr lang="sv-SE">
                    <a:noFill/>
                  </a:rPr>
                  <a:t> </a:t>
                </a:r>
              </a:p>
            </p:txBody>
          </p:sp>
        </mc:Fallback>
      </mc:AlternateContent>
      <p:sp>
        <p:nvSpPr>
          <p:cNvPr id="19" name="Rectangle 18"/>
          <p:cNvSpPr/>
          <p:nvPr/>
        </p:nvSpPr>
        <p:spPr>
          <a:xfrm>
            <a:off x="675663" y="2491365"/>
            <a:ext cx="4906914" cy="923330"/>
          </a:xfrm>
          <a:prstGeom prst="rect">
            <a:avLst/>
          </a:prstGeom>
        </p:spPr>
        <p:txBody>
          <a:bodyPr wrap="square">
            <a:spAutoFit/>
          </a:bodyPr>
          <a:lstStyle/>
          <a:p>
            <a:r>
              <a:rPr lang="en-US" dirty="0"/>
              <a:t>Using </a:t>
            </a:r>
            <a:r>
              <a:rPr lang="en-US" b="1" dirty="0"/>
              <a:t>multi-carriers</a:t>
            </a:r>
            <a:r>
              <a:rPr lang="en-US" dirty="0"/>
              <a:t> instead of single carrier, we can </a:t>
            </a:r>
            <a:r>
              <a:rPr lang="en-US" b="1" dirty="0"/>
              <a:t>change the sequences </a:t>
            </a:r>
            <a:r>
              <a:rPr lang="en-US" dirty="0"/>
              <a:t>by adjusting the phases of the carrier signals.</a:t>
            </a:r>
          </a:p>
        </p:txBody>
      </p:sp>
    </p:spTree>
    <p:extLst>
      <p:ext uri="{BB962C8B-B14F-4D97-AF65-F5344CB8AC3E}">
        <p14:creationId xmlns:p14="http://schemas.microsoft.com/office/powerpoint/2010/main" val="10180604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Reducing Common-Mode Voltage in Three-Phase Sine-Triangle PWM With Interleaved Carriers</a:t>
            </a:r>
            <a:r>
              <a:rPr lang="en-US" dirty="0"/>
              <a:t>, IEEE TRANSACTIONS ON POWER ELECTRONICS 2011 </a:t>
            </a:r>
            <a:endParaRPr lang="sv-SE" dirty="0"/>
          </a:p>
        </p:txBody>
      </p:sp>
      <p:sp>
        <p:nvSpPr>
          <p:cNvPr id="4" name="TextBox 3"/>
          <p:cNvSpPr txBox="1"/>
          <p:nvPr/>
        </p:nvSpPr>
        <p:spPr>
          <a:xfrm>
            <a:off x="563880" y="2102712"/>
            <a:ext cx="8267700" cy="369332"/>
          </a:xfrm>
          <a:prstGeom prst="rect">
            <a:avLst/>
          </a:prstGeom>
          <a:noFill/>
        </p:spPr>
        <p:txBody>
          <a:bodyPr wrap="square" rtlCol="0">
            <a:spAutoFit/>
          </a:bodyPr>
          <a:lstStyle/>
          <a:p>
            <a:r>
              <a:rPr lang="en-US" dirty="0"/>
              <a:t>It basically propose that the carriers are offset as given below.</a:t>
            </a:r>
            <a:endParaRPr lang="sv-SE" dirty="0"/>
          </a:p>
        </p:txBody>
      </p:sp>
      <p:pic>
        <p:nvPicPr>
          <p:cNvPr id="7" name="Picture 6"/>
          <p:cNvPicPr>
            <a:picLocks noChangeAspect="1"/>
          </p:cNvPicPr>
          <p:nvPr/>
        </p:nvPicPr>
        <p:blipFill>
          <a:blip r:embed="rId2"/>
          <a:stretch>
            <a:fillRect/>
          </a:stretch>
        </p:blipFill>
        <p:spPr>
          <a:xfrm>
            <a:off x="1482566" y="2560903"/>
            <a:ext cx="8922068" cy="1594854"/>
          </a:xfrm>
          <a:prstGeom prst="rect">
            <a:avLst/>
          </a:prstGeom>
        </p:spPr>
      </p:pic>
      <p:sp>
        <p:nvSpPr>
          <p:cNvPr id="8" name="Rectangle 7"/>
          <p:cNvSpPr/>
          <p:nvPr/>
        </p:nvSpPr>
        <p:spPr>
          <a:xfrm>
            <a:off x="649467" y="4244616"/>
            <a:ext cx="3518014" cy="369332"/>
          </a:xfrm>
          <a:prstGeom prst="rect">
            <a:avLst/>
          </a:prstGeom>
        </p:spPr>
        <p:txBody>
          <a:bodyPr wrap="none">
            <a:spAutoFit/>
          </a:bodyPr>
          <a:lstStyle/>
          <a:p>
            <a:r>
              <a:rPr lang="en-US" dirty="0"/>
              <a:t>Now, we have the harmonics below</a:t>
            </a:r>
            <a:endParaRPr lang="sv-SE" dirty="0"/>
          </a:p>
        </p:txBody>
      </p:sp>
      <p:pic>
        <p:nvPicPr>
          <p:cNvPr id="9" name="Picture 8"/>
          <p:cNvPicPr>
            <a:picLocks noChangeAspect="1"/>
          </p:cNvPicPr>
          <p:nvPr/>
        </p:nvPicPr>
        <p:blipFill>
          <a:blip r:embed="rId3"/>
          <a:stretch>
            <a:fillRect/>
          </a:stretch>
        </p:blipFill>
        <p:spPr>
          <a:xfrm>
            <a:off x="767715" y="4839967"/>
            <a:ext cx="6334125" cy="1800225"/>
          </a:xfrm>
          <a:prstGeom prst="rect">
            <a:avLst/>
          </a:prstGeom>
        </p:spPr>
      </p:pic>
      <p:cxnSp>
        <p:nvCxnSpPr>
          <p:cNvPr id="11" name="Straight Arrow Connector 10"/>
          <p:cNvCxnSpPr/>
          <p:nvPr/>
        </p:nvCxnSpPr>
        <p:spPr>
          <a:xfrm>
            <a:off x="6583680" y="5740079"/>
            <a:ext cx="185166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8435340" y="5196840"/>
            <a:ext cx="3627120" cy="1200329"/>
          </a:xfrm>
          <a:prstGeom prst="rect">
            <a:avLst/>
          </a:prstGeom>
          <a:noFill/>
        </p:spPr>
        <p:txBody>
          <a:bodyPr wrap="square" rtlCol="0">
            <a:spAutoFit/>
          </a:bodyPr>
          <a:lstStyle/>
          <a:p>
            <a:r>
              <a:rPr lang="en-US" dirty="0"/>
              <a:t>Our zero sequence is replaced. </a:t>
            </a:r>
          </a:p>
          <a:p>
            <a:r>
              <a:rPr lang="en-US" dirty="0"/>
              <a:t>The magnitude of sideband is smaller, so we reduce CMV.</a:t>
            </a:r>
          </a:p>
          <a:p>
            <a:r>
              <a:rPr lang="en-US" dirty="0"/>
              <a:t> </a:t>
            </a:r>
            <a:endParaRPr lang="sv-SE" dirty="0"/>
          </a:p>
        </p:txBody>
      </p:sp>
    </p:spTree>
    <p:extLst>
      <p:ext uri="{BB962C8B-B14F-4D97-AF65-F5344CB8AC3E}">
        <p14:creationId xmlns:p14="http://schemas.microsoft.com/office/powerpoint/2010/main" val="2998731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Carrier Phase Shifted SPWM for CMV reduction In a three-level inverter using Open-end winding</a:t>
            </a:r>
          </a:p>
          <a:p>
            <a:r>
              <a:rPr lang="en-US" dirty="0">
                <a:solidFill>
                  <a:srgbClr val="7030A0"/>
                </a:solidFill>
              </a:rPr>
              <a:t>induction motor drive</a:t>
            </a:r>
            <a:r>
              <a:rPr lang="en-US" dirty="0"/>
              <a:t>, </a:t>
            </a:r>
            <a:r>
              <a:rPr lang="it-IT" dirty="0"/>
              <a:t>IEEE Region 10 International Conference TENCON.</a:t>
            </a:r>
            <a:endParaRPr lang="sv-SE" dirty="0"/>
          </a:p>
        </p:txBody>
      </p:sp>
      <p:sp>
        <p:nvSpPr>
          <p:cNvPr id="4" name="TextBox 3"/>
          <p:cNvSpPr txBox="1"/>
          <p:nvPr/>
        </p:nvSpPr>
        <p:spPr>
          <a:xfrm>
            <a:off x="563880" y="2102712"/>
            <a:ext cx="8267700" cy="369332"/>
          </a:xfrm>
          <a:prstGeom prst="rect">
            <a:avLst/>
          </a:prstGeom>
          <a:noFill/>
        </p:spPr>
        <p:txBody>
          <a:bodyPr wrap="square" rtlCol="0">
            <a:spAutoFit/>
          </a:bodyPr>
          <a:lstStyle/>
          <a:p>
            <a:r>
              <a:rPr lang="en-US" dirty="0"/>
              <a:t>The same method is applied for open-end winding induction machine.</a:t>
            </a:r>
            <a:endParaRPr lang="sv-SE" dirty="0"/>
          </a:p>
        </p:txBody>
      </p:sp>
      <p:sp>
        <p:nvSpPr>
          <p:cNvPr id="13" name="Rectangle 12"/>
          <p:cNvSpPr/>
          <p:nvPr/>
        </p:nvSpPr>
        <p:spPr>
          <a:xfrm>
            <a:off x="510540" y="3150602"/>
            <a:ext cx="10043160" cy="646331"/>
          </a:xfrm>
          <a:prstGeom prst="rect">
            <a:avLst/>
          </a:prstGeom>
        </p:spPr>
        <p:txBody>
          <a:bodyPr wrap="square">
            <a:spAutoFit/>
          </a:bodyPr>
          <a:lstStyle/>
          <a:p>
            <a:r>
              <a:rPr lang="en-US" dirty="0">
                <a:solidFill>
                  <a:srgbClr val="7030A0"/>
                </a:solidFill>
              </a:rPr>
              <a:t>Reduction of Common-Mode Voltage in Multiphase Two-Level Inverters Using SPWM With Phase-Shifted Carriers</a:t>
            </a:r>
            <a:r>
              <a:rPr lang="en-US" dirty="0"/>
              <a:t>, IEEE TRANSACTIONS ON POWER ELECTRONICS</a:t>
            </a:r>
            <a:r>
              <a:rPr lang="it-IT" dirty="0"/>
              <a:t>, 2016.</a:t>
            </a:r>
            <a:endParaRPr lang="sv-SE" dirty="0"/>
          </a:p>
        </p:txBody>
      </p:sp>
      <p:pic>
        <p:nvPicPr>
          <p:cNvPr id="6" name="Picture 5"/>
          <p:cNvPicPr>
            <a:picLocks noChangeAspect="1"/>
          </p:cNvPicPr>
          <p:nvPr/>
        </p:nvPicPr>
        <p:blipFill>
          <a:blip r:embed="rId3"/>
          <a:stretch>
            <a:fillRect/>
          </a:stretch>
        </p:blipFill>
        <p:spPr>
          <a:xfrm>
            <a:off x="725805" y="3909060"/>
            <a:ext cx="9663159" cy="2347228"/>
          </a:xfrm>
          <a:prstGeom prst="rect">
            <a:avLst/>
          </a:prstGeom>
        </p:spPr>
      </p:pic>
    </p:spTree>
    <p:extLst>
      <p:ext uri="{BB962C8B-B14F-4D97-AF65-F5344CB8AC3E}">
        <p14:creationId xmlns:p14="http://schemas.microsoft.com/office/powerpoint/2010/main" val="16797467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Third Harmonic Injection SPWM Method Based on Alternating Carrier Polarity to Suppress the Common Mode Voltage</a:t>
            </a:r>
            <a:r>
              <a:rPr lang="en-US" dirty="0"/>
              <a:t>, </a:t>
            </a:r>
            <a:r>
              <a:rPr lang="it-IT" dirty="0"/>
              <a:t>IEEE ACCESS, 2018.</a:t>
            </a:r>
            <a:endParaRPr lang="sv-SE" dirty="0"/>
          </a:p>
        </p:txBody>
      </p:sp>
      <p:sp>
        <p:nvSpPr>
          <p:cNvPr id="4" name="TextBox 3"/>
          <p:cNvSpPr txBox="1"/>
          <p:nvPr/>
        </p:nvSpPr>
        <p:spPr>
          <a:xfrm>
            <a:off x="563880" y="2124750"/>
            <a:ext cx="10447020" cy="646331"/>
          </a:xfrm>
          <a:prstGeom prst="rect">
            <a:avLst/>
          </a:prstGeom>
          <a:noFill/>
        </p:spPr>
        <p:txBody>
          <a:bodyPr wrap="square" rtlCol="0">
            <a:spAutoFit/>
          </a:bodyPr>
          <a:lstStyle/>
          <a:p>
            <a:r>
              <a:rPr lang="en-US" dirty="0"/>
              <a:t>An </a:t>
            </a:r>
            <a:r>
              <a:rPr lang="en-US" b="1" dirty="0"/>
              <a:t>alternating carrier polarity </a:t>
            </a:r>
            <a:r>
              <a:rPr lang="en-US" dirty="0"/>
              <a:t>method is proposed to eliminate the zero switch states. </a:t>
            </a:r>
          </a:p>
          <a:p>
            <a:r>
              <a:rPr lang="en-US" dirty="0"/>
              <a:t>According to the characteristic of the three-phase modulated voltages, it is divided into six regions.</a:t>
            </a:r>
            <a:endParaRPr lang="sv-SE" dirty="0"/>
          </a:p>
        </p:txBody>
      </p:sp>
      <p:pic>
        <p:nvPicPr>
          <p:cNvPr id="5" name="Picture 4"/>
          <p:cNvPicPr>
            <a:picLocks noChangeAspect="1"/>
          </p:cNvPicPr>
          <p:nvPr/>
        </p:nvPicPr>
        <p:blipFill>
          <a:blip r:embed="rId3"/>
          <a:stretch>
            <a:fillRect/>
          </a:stretch>
        </p:blipFill>
        <p:spPr>
          <a:xfrm>
            <a:off x="142875" y="3375312"/>
            <a:ext cx="5200650" cy="2466975"/>
          </a:xfrm>
          <a:prstGeom prst="rect">
            <a:avLst/>
          </a:prstGeom>
        </p:spPr>
      </p:pic>
      <p:pic>
        <p:nvPicPr>
          <p:cNvPr id="7" name="Picture 6"/>
          <p:cNvPicPr>
            <a:picLocks noChangeAspect="1"/>
          </p:cNvPicPr>
          <p:nvPr/>
        </p:nvPicPr>
        <p:blipFill>
          <a:blip r:embed="rId4"/>
          <a:stretch>
            <a:fillRect/>
          </a:stretch>
        </p:blipFill>
        <p:spPr>
          <a:xfrm>
            <a:off x="5398770" y="2771081"/>
            <a:ext cx="6128263" cy="3675439"/>
          </a:xfrm>
          <a:prstGeom prst="rect">
            <a:avLst/>
          </a:prstGeom>
        </p:spPr>
      </p:pic>
    </p:spTree>
    <p:extLst>
      <p:ext uri="{BB962C8B-B14F-4D97-AF65-F5344CB8AC3E}">
        <p14:creationId xmlns:p14="http://schemas.microsoft.com/office/powerpoint/2010/main" val="1682941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High-Frequency </a:t>
            </a:r>
            <a:r>
              <a:rPr lang="en-US" dirty="0" err="1">
                <a:solidFill>
                  <a:srgbClr val="7030A0"/>
                </a:solidFill>
              </a:rPr>
              <a:t>SiC</a:t>
            </a:r>
            <a:r>
              <a:rPr lang="en-US" dirty="0">
                <a:solidFill>
                  <a:srgbClr val="7030A0"/>
                </a:solidFill>
              </a:rPr>
              <a:t> Three-Phase VSIs With Common-Mode Voltage Reduction and Improved Performance Using Novel Tri-State PWM Method</a:t>
            </a:r>
            <a:r>
              <a:rPr lang="en-US" dirty="0"/>
              <a:t>, IEEE TRANSACTIONS ON POWER ELECTRONICS</a:t>
            </a:r>
            <a:r>
              <a:rPr lang="it-IT" dirty="0"/>
              <a:t>, 2019.</a:t>
            </a:r>
            <a:endParaRPr lang="sv-SE" dirty="0"/>
          </a:p>
        </p:txBody>
      </p:sp>
      <p:pic>
        <p:nvPicPr>
          <p:cNvPr id="6" name="Picture 5"/>
          <p:cNvPicPr>
            <a:picLocks noChangeAspect="1"/>
          </p:cNvPicPr>
          <p:nvPr/>
        </p:nvPicPr>
        <p:blipFill>
          <a:blip r:embed="rId3"/>
          <a:stretch>
            <a:fillRect/>
          </a:stretch>
        </p:blipFill>
        <p:spPr>
          <a:xfrm>
            <a:off x="2034540" y="2917190"/>
            <a:ext cx="6858000" cy="2657475"/>
          </a:xfrm>
          <a:prstGeom prst="rect">
            <a:avLst/>
          </a:prstGeom>
        </p:spPr>
      </p:pic>
      <p:sp>
        <p:nvSpPr>
          <p:cNvPr id="8" name="Rectangle 7"/>
          <p:cNvSpPr/>
          <p:nvPr/>
        </p:nvSpPr>
        <p:spPr>
          <a:xfrm>
            <a:off x="533400" y="2270859"/>
            <a:ext cx="10820400" cy="646331"/>
          </a:xfrm>
          <a:prstGeom prst="rect">
            <a:avLst/>
          </a:prstGeom>
        </p:spPr>
        <p:txBody>
          <a:bodyPr wrap="square">
            <a:spAutoFit/>
          </a:bodyPr>
          <a:lstStyle/>
          <a:p>
            <a:r>
              <a:rPr lang="en-US" dirty="0"/>
              <a:t>The </a:t>
            </a:r>
            <a:r>
              <a:rPr lang="en-US" b="1" dirty="0"/>
              <a:t>polarity</a:t>
            </a:r>
            <a:r>
              <a:rPr lang="en-US" dirty="0"/>
              <a:t> of triangular carrier to be compared with the modulation signals is sector dependent to obtain CMV suppression, as given in Table II.</a:t>
            </a:r>
            <a:endParaRPr lang="sv-SE" dirty="0"/>
          </a:p>
        </p:txBody>
      </p:sp>
    </p:spTree>
    <p:extLst>
      <p:ext uri="{BB962C8B-B14F-4D97-AF65-F5344CB8AC3E}">
        <p14:creationId xmlns:p14="http://schemas.microsoft.com/office/powerpoint/2010/main" val="34748341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Common-Mode Voltage Mitigation Technique in Motor Drive Applications by Applying a Sampling-Time Adaptive Multi-Carrier PWM Method</a:t>
            </a:r>
            <a:r>
              <a:rPr lang="en-US" dirty="0"/>
              <a:t>, </a:t>
            </a:r>
            <a:r>
              <a:rPr lang="it-IT" dirty="0"/>
              <a:t>IEEE ACCESS, 2021.</a:t>
            </a:r>
            <a:endParaRPr lang="sv-SE" dirty="0"/>
          </a:p>
        </p:txBody>
      </p:sp>
      <p:pic>
        <p:nvPicPr>
          <p:cNvPr id="6" name="Picture 5"/>
          <p:cNvPicPr>
            <a:picLocks noChangeAspect="1"/>
          </p:cNvPicPr>
          <p:nvPr/>
        </p:nvPicPr>
        <p:blipFill>
          <a:blip r:embed="rId3"/>
          <a:stretch>
            <a:fillRect/>
          </a:stretch>
        </p:blipFill>
        <p:spPr>
          <a:xfrm>
            <a:off x="7756208" y="2103119"/>
            <a:ext cx="3206324" cy="4372927"/>
          </a:xfrm>
          <a:prstGeom prst="rect">
            <a:avLst/>
          </a:prstGeom>
        </p:spPr>
      </p:pic>
      <p:sp>
        <p:nvSpPr>
          <p:cNvPr id="8" name="Rectangle 7"/>
          <p:cNvSpPr/>
          <p:nvPr/>
        </p:nvSpPr>
        <p:spPr>
          <a:xfrm>
            <a:off x="510540" y="2179419"/>
            <a:ext cx="6096000" cy="646331"/>
          </a:xfrm>
          <a:prstGeom prst="rect">
            <a:avLst/>
          </a:prstGeom>
        </p:spPr>
        <p:txBody>
          <a:bodyPr>
            <a:spAutoFit/>
          </a:bodyPr>
          <a:lstStyle/>
          <a:p>
            <a:r>
              <a:rPr lang="en-US"/>
              <a:t>CMV is highly dependent on the values of the displacement angles of the carriers φb and φc.</a:t>
            </a:r>
            <a:endParaRPr lang="sv-SE" dirty="0"/>
          </a:p>
        </p:txBody>
      </p:sp>
      <p:sp>
        <p:nvSpPr>
          <p:cNvPr id="9" name="Rectangle 8"/>
          <p:cNvSpPr/>
          <p:nvPr/>
        </p:nvSpPr>
        <p:spPr>
          <a:xfrm>
            <a:off x="716280" y="2991316"/>
            <a:ext cx="6096000" cy="2031325"/>
          </a:xfrm>
          <a:prstGeom prst="rect">
            <a:avLst/>
          </a:prstGeom>
        </p:spPr>
        <p:txBody>
          <a:bodyPr>
            <a:spAutoFit/>
          </a:bodyPr>
          <a:lstStyle/>
          <a:p>
            <a:r>
              <a:rPr lang="en-US" dirty="0"/>
              <a:t>The proposed adaptive multi-carrier PWM method considers the carrier phase displacement </a:t>
            </a:r>
            <a:r>
              <a:rPr lang="en-US" dirty="0" err="1"/>
              <a:t>φa</a:t>
            </a:r>
            <a:r>
              <a:rPr lang="en-US" dirty="0"/>
              <a:t> = 0 ◦ , while the angles </a:t>
            </a:r>
            <a:r>
              <a:rPr lang="en-US" dirty="0" err="1"/>
              <a:t>φb</a:t>
            </a:r>
            <a:r>
              <a:rPr lang="en-US" dirty="0"/>
              <a:t> and </a:t>
            </a:r>
            <a:r>
              <a:rPr lang="en-US" dirty="0" err="1"/>
              <a:t>φc</a:t>
            </a:r>
            <a:r>
              <a:rPr lang="en-US" dirty="0"/>
              <a:t>, for the sake of simplicity, only take values equal to 0◦ or 180◦ . Under this assumption, (8b) remains always zero. In this way, the final values of </a:t>
            </a:r>
            <a:r>
              <a:rPr lang="en-US" dirty="0" err="1"/>
              <a:t>φb</a:t>
            </a:r>
            <a:r>
              <a:rPr lang="en-US" dirty="0"/>
              <a:t> and </a:t>
            </a:r>
            <a:r>
              <a:rPr lang="en-US" dirty="0" err="1"/>
              <a:t>φc</a:t>
            </a:r>
            <a:r>
              <a:rPr lang="en-US" dirty="0"/>
              <a:t> (0◦ or 180◦ ) in order to minimize </a:t>
            </a:r>
            <a:r>
              <a:rPr lang="en-US" dirty="0" err="1"/>
              <a:t>CMVcn</a:t>
            </a:r>
            <a:r>
              <a:rPr lang="en-US" dirty="0"/>
              <a:t>(t) are those that will minimize (in absolute value) the mathematical term introduced in (8a).</a:t>
            </a:r>
            <a:endParaRPr lang="sv-SE" dirty="0"/>
          </a:p>
        </p:txBody>
      </p:sp>
      <p:pic>
        <p:nvPicPr>
          <p:cNvPr id="10" name="Picture 9"/>
          <p:cNvPicPr>
            <a:picLocks noChangeAspect="1"/>
          </p:cNvPicPr>
          <p:nvPr/>
        </p:nvPicPr>
        <p:blipFill>
          <a:blip r:embed="rId4"/>
          <a:stretch>
            <a:fillRect/>
          </a:stretch>
        </p:blipFill>
        <p:spPr>
          <a:xfrm>
            <a:off x="1630680" y="5188207"/>
            <a:ext cx="4191843" cy="1456178"/>
          </a:xfrm>
          <a:prstGeom prst="rect">
            <a:avLst/>
          </a:prstGeom>
        </p:spPr>
      </p:pic>
    </p:spTree>
    <p:extLst>
      <p:ext uri="{BB962C8B-B14F-4D97-AF65-F5344CB8AC3E}">
        <p14:creationId xmlns:p14="http://schemas.microsoft.com/office/powerpoint/2010/main" val="2344736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63880" y="173012"/>
            <a:ext cx="10759440" cy="1325563"/>
          </a:xfrm>
        </p:spPr>
        <p:txBody>
          <a:bodyPr>
            <a:normAutofit/>
          </a:bodyPr>
          <a:lstStyle/>
          <a:p>
            <a:r>
              <a:rPr lang="sv-SE" sz="3600" b="1" dirty="0" err="1">
                <a:solidFill>
                  <a:srgbClr val="C00000"/>
                </a:solidFill>
              </a:rPr>
              <a:t>Literature</a:t>
            </a:r>
            <a:r>
              <a:rPr lang="sv-SE" sz="3600" b="1" dirty="0">
                <a:solidFill>
                  <a:srgbClr val="C00000"/>
                </a:solidFill>
              </a:rPr>
              <a:t> (for </a:t>
            </a:r>
            <a:r>
              <a:rPr lang="sv-SE" sz="3600" b="1" dirty="0" err="1">
                <a:solidFill>
                  <a:srgbClr val="C00000"/>
                </a:solidFill>
              </a:rPr>
              <a:t>ones</a:t>
            </a:r>
            <a:r>
              <a:rPr lang="sv-SE" sz="3600" b="1" dirty="0">
                <a:solidFill>
                  <a:srgbClr val="C00000"/>
                </a:solidFill>
              </a:rPr>
              <a:t> </a:t>
            </a:r>
            <a:r>
              <a:rPr lang="sv-SE" sz="3600" b="1" dirty="0" err="1">
                <a:solidFill>
                  <a:srgbClr val="C00000"/>
                </a:solidFill>
              </a:rPr>
              <a:t>that</a:t>
            </a:r>
            <a:r>
              <a:rPr lang="sv-SE" sz="3600" b="1" dirty="0">
                <a:solidFill>
                  <a:srgbClr val="C00000"/>
                </a:solidFill>
              </a:rPr>
              <a:t> </a:t>
            </a:r>
            <a:r>
              <a:rPr lang="sv-SE" sz="3600" b="1" dirty="0" err="1">
                <a:solidFill>
                  <a:srgbClr val="C00000"/>
                </a:solidFill>
              </a:rPr>
              <a:t>are</a:t>
            </a:r>
            <a:r>
              <a:rPr lang="sv-SE" sz="3600" b="1" dirty="0">
                <a:solidFill>
                  <a:srgbClr val="C00000"/>
                </a:solidFill>
              </a:rPr>
              <a:t> </a:t>
            </a:r>
            <a:r>
              <a:rPr lang="sv-SE" sz="3600" b="1" dirty="0" err="1">
                <a:solidFill>
                  <a:srgbClr val="C00000"/>
                </a:solidFill>
              </a:rPr>
              <a:t>related</a:t>
            </a:r>
            <a:r>
              <a:rPr lang="sv-SE" sz="3600" b="1" dirty="0">
                <a:solidFill>
                  <a:srgbClr val="C00000"/>
                </a:solidFill>
              </a:rPr>
              <a:t> </a:t>
            </a:r>
            <a:r>
              <a:rPr lang="sv-SE" sz="3600" b="1" dirty="0" err="1">
                <a:solidFill>
                  <a:srgbClr val="C00000"/>
                </a:solidFill>
              </a:rPr>
              <a:t>carrier</a:t>
            </a:r>
            <a:r>
              <a:rPr lang="sv-SE" sz="3600" b="1" dirty="0">
                <a:solidFill>
                  <a:srgbClr val="C00000"/>
                </a:solidFill>
              </a:rPr>
              <a:t> </a:t>
            </a:r>
            <a:r>
              <a:rPr lang="sv-SE" sz="3600" b="1" dirty="0" err="1">
                <a:solidFill>
                  <a:srgbClr val="C00000"/>
                </a:solidFill>
              </a:rPr>
              <a:t>phase</a:t>
            </a:r>
            <a:r>
              <a:rPr lang="sv-SE" sz="3600" b="1" dirty="0">
                <a:solidFill>
                  <a:srgbClr val="C00000"/>
                </a:solidFill>
              </a:rPr>
              <a:t> </a:t>
            </a:r>
            <a:r>
              <a:rPr lang="sv-SE" sz="3600" b="1" dirty="0" err="1">
                <a:solidFill>
                  <a:srgbClr val="C00000"/>
                </a:solidFill>
              </a:rPr>
              <a:t>shift</a:t>
            </a:r>
            <a:r>
              <a:rPr lang="sv-SE" sz="3600" b="1" dirty="0">
                <a:solidFill>
                  <a:srgbClr val="C00000"/>
                </a:solidFill>
              </a:rPr>
              <a:t> !!)</a:t>
            </a:r>
          </a:p>
        </p:txBody>
      </p:sp>
      <p:sp>
        <p:nvSpPr>
          <p:cNvPr id="3" name="Rectangle 2"/>
          <p:cNvSpPr/>
          <p:nvPr/>
        </p:nvSpPr>
        <p:spPr>
          <a:xfrm>
            <a:off x="510540" y="1367522"/>
            <a:ext cx="10043160" cy="646331"/>
          </a:xfrm>
          <a:prstGeom prst="rect">
            <a:avLst/>
          </a:prstGeom>
        </p:spPr>
        <p:txBody>
          <a:bodyPr wrap="square">
            <a:spAutoFit/>
          </a:bodyPr>
          <a:lstStyle/>
          <a:p>
            <a:r>
              <a:rPr lang="en-US" dirty="0">
                <a:solidFill>
                  <a:srgbClr val="7030A0"/>
                </a:solidFill>
              </a:rPr>
              <a:t>Generalized Multicarrier PWM Technique for Two-Level Voltage Source Inverters</a:t>
            </a:r>
            <a:r>
              <a:rPr lang="en-US" dirty="0"/>
              <a:t>, </a:t>
            </a:r>
            <a:r>
              <a:rPr lang="it-IT" dirty="0"/>
              <a:t>IEEE TRANSACTIONS ON INDUSTRIAL ELECTRONICS,2023.</a:t>
            </a:r>
            <a:endParaRPr lang="sv-SE" dirty="0"/>
          </a:p>
        </p:txBody>
      </p:sp>
      <p:pic>
        <p:nvPicPr>
          <p:cNvPr id="4" name="Picture 3"/>
          <p:cNvPicPr>
            <a:picLocks noChangeAspect="1"/>
          </p:cNvPicPr>
          <p:nvPr/>
        </p:nvPicPr>
        <p:blipFill>
          <a:blip r:embed="rId3"/>
          <a:stretch>
            <a:fillRect/>
          </a:stretch>
        </p:blipFill>
        <p:spPr>
          <a:xfrm>
            <a:off x="510540" y="3551562"/>
            <a:ext cx="3855720" cy="3119479"/>
          </a:xfrm>
          <a:prstGeom prst="rect">
            <a:avLst/>
          </a:prstGeom>
        </p:spPr>
      </p:pic>
      <p:pic>
        <p:nvPicPr>
          <p:cNvPr id="5" name="Picture 4"/>
          <p:cNvPicPr>
            <a:picLocks noChangeAspect="1"/>
          </p:cNvPicPr>
          <p:nvPr/>
        </p:nvPicPr>
        <p:blipFill>
          <a:blip r:embed="rId4"/>
          <a:stretch>
            <a:fillRect/>
          </a:stretch>
        </p:blipFill>
        <p:spPr>
          <a:xfrm>
            <a:off x="4578191" y="3696389"/>
            <a:ext cx="3482340" cy="2904441"/>
          </a:xfrm>
          <a:prstGeom prst="rect">
            <a:avLst/>
          </a:prstGeom>
        </p:spPr>
      </p:pic>
      <p:pic>
        <p:nvPicPr>
          <p:cNvPr id="7" name="Picture 6"/>
          <p:cNvPicPr>
            <a:picLocks noChangeAspect="1"/>
          </p:cNvPicPr>
          <p:nvPr/>
        </p:nvPicPr>
        <p:blipFill>
          <a:blip r:embed="rId5"/>
          <a:stretch>
            <a:fillRect/>
          </a:stretch>
        </p:blipFill>
        <p:spPr>
          <a:xfrm>
            <a:off x="8272463" y="3696389"/>
            <a:ext cx="3701549" cy="2759614"/>
          </a:xfrm>
          <a:prstGeom prst="rect">
            <a:avLst/>
          </a:prstGeom>
        </p:spPr>
      </p:pic>
      <p:sp>
        <p:nvSpPr>
          <p:cNvPr id="11" name="Rectangle 10"/>
          <p:cNvSpPr/>
          <p:nvPr/>
        </p:nvSpPr>
        <p:spPr>
          <a:xfrm>
            <a:off x="510540" y="2020621"/>
            <a:ext cx="10652760" cy="1200329"/>
          </a:xfrm>
          <a:prstGeom prst="rect">
            <a:avLst/>
          </a:prstGeom>
        </p:spPr>
        <p:txBody>
          <a:bodyPr wrap="square">
            <a:spAutoFit/>
          </a:bodyPr>
          <a:lstStyle/>
          <a:p>
            <a:r>
              <a:rPr lang="en-US" dirty="0"/>
              <a:t>The carrier phase displacement angles are evaluated in order to reduce the common-mode voltage (CMV) total harmonic distortion (THD), the dc-link capacitor current THD, and the phase currents THD.</a:t>
            </a:r>
          </a:p>
          <a:p>
            <a:r>
              <a:rPr lang="en-US" dirty="0"/>
              <a:t> These targets are difficult to be met at the same time and a cost function is deployed in order to look for a suitable solution that develops a tradeoff between all the targets</a:t>
            </a:r>
            <a:endParaRPr lang="sv-SE" dirty="0"/>
          </a:p>
        </p:txBody>
      </p:sp>
    </p:spTree>
    <p:extLst>
      <p:ext uri="{BB962C8B-B14F-4D97-AF65-F5344CB8AC3E}">
        <p14:creationId xmlns:p14="http://schemas.microsoft.com/office/powerpoint/2010/main" val="3846247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The Proposed Technique</a:t>
            </a:r>
            <a:endParaRPr lang="sv-SE" dirty="0">
              <a:solidFill>
                <a:srgbClr val="C00000"/>
              </a:solidFill>
            </a:endParaRPr>
          </a:p>
        </p:txBody>
      </p:sp>
      <p:sp>
        <p:nvSpPr>
          <p:cNvPr id="3" name="Content Placeholder 2"/>
          <p:cNvSpPr>
            <a:spLocks noGrp="1"/>
          </p:cNvSpPr>
          <p:nvPr>
            <p:ph idx="1"/>
          </p:nvPr>
        </p:nvSpPr>
        <p:spPr/>
        <p:txBody>
          <a:bodyPr>
            <a:normAutofit/>
          </a:bodyPr>
          <a:lstStyle/>
          <a:p>
            <a:r>
              <a:rPr lang="en-US" dirty="0"/>
              <a:t>For all studies aforementioned, </a:t>
            </a:r>
            <a:r>
              <a:rPr lang="en-US" b="1" dirty="0"/>
              <a:t>Either</a:t>
            </a:r>
            <a:r>
              <a:rPr lang="en-US" dirty="0"/>
              <a:t> phase shift is kept at </a:t>
            </a:r>
            <a:r>
              <a:rPr lang="en-US" b="1" dirty="0"/>
              <a:t>constant </a:t>
            </a:r>
            <a:r>
              <a:rPr lang="en-US" dirty="0"/>
              <a:t>value </a:t>
            </a:r>
            <a:r>
              <a:rPr lang="en-US" b="1" dirty="0"/>
              <a:t>during a fundamental period ;  Or</a:t>
            </a:r>
            <a:r>
              <a:rPr lang="en-US" dirty="0"/>
              <a:t> only </a:t>
            </a:r>
            <a:r>
              <a:rPr lang="en-US" b="1" dirty="0"/>
              <a:t>polarity</a:t>
            </a:r>
            <a:r>
              <a:rPr lang="en-US" dirty="0"/>
              <a:t> is </a:t>
            </a:r>
            <a:r>
              <a:rPr lang="en-US" b="1" dirty="0"/>
              <a:t>altered </a:t>
            </a:r>
            <a:r>
              <a:rPr lang="en-US" dirty="0"/>
              <a:t>regarding the </a:t>
            </a:r>
            <a:r>
              <a:rPr lang="en-US" b="1" dirty="0"/>
              <a:t>voltage sector </a:t>
            </a:r>
            <a:r>
              <a:rPr lang="en-US" dirty="0"/>
              <a:t>required to achieve voltage reference. </a:t>
            </a:r>
          </a:p>
          <a:p>
            <a:r>
              <a:rPr lang="en-US" dirty="0"/>
              <a:t>Therefore, the methods reduces the </a:t>
            </a:r>
            <a:r>
              <a:rPr lang="en-US" b="1" dirty="0"/>
              <a:t>average CMV </a:t>
            </a:r>
            <a:r>
              <a:rPr lang="en-US" dirty="0"/>
              <a:t>along a fundamental period, but the CMV for each switching interval can be decreased more  if </a:t>
            </a:r>
            <a:r>
              <a:rPr lang="en-US" b="1" dirty="0"/>
              <a:t>adaptive carrier phase shift </a:t>
            </a:r>
            <a:r>
              <a:rPr lang="en-US" dirty="0"/>
              <a:t>is applied. </a:t>
            </a:r>
          </a:p>
          <a:p>
            <a:r>
              <a:rPr lang="en-US" dirty="0"/>
              <a:t>Accordingly, a </a:t>
            </a:r>
            <a:r>
              <a:rPr lang="en-US" b="1" dirty="0"/>
              <a:t>variable carrier phase shift </a:t>
            </a:r>
            <a:r>
              <a:rPr lang="en-US" dirty="0"/>
              <a:t>method, which </a:t>
            </a:r>
            <a:r>
              <a:rPr lang="sv-SE" dirty="0" err="1"/>
              <a:t>aims</a:t>
            </a:r>
            <a:r>
              <a:rPr lang="sv-SE" dirty="0"/>
              <a:t> to </a:t>
            </a:r>
            <a:r>
              <a:rPr lang="sv-SE" dirty="0" err="1"/>
              <a:t>achieve</a:t>
            </a:r>
            <a:r>
              <a:rPr lang="sv-SE" dirty="0"/>
              <a:t> </a:t>
            </a:r>
            <a:r>
              <a:rPr lang="en-US" dirty="0"/>
              <a:t>lower common mode voltage during each switching interval, is proposed.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661222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Mathematical Modelling</a:t>
            </a:r>
            <a:endParaRPr lang="sv-SE" dirty="0"/>
          </a:p>
        </p:txBody>
      </p:sp>
      <p:pic>
        <p:nvPicPr>
          <p:cNvPr id="4" name="Picture 3"/>
          <p:cNvPicPr>
            <a:picLocks noChangeAspect="1"/>
          </p:cNvPicPr>
          <p:nvPr/>
        </p:nvPicPr>
        <p:blipFill rotWithShape="1">
          <a:blip r:embed="rId2"/>
          <a:srcRect l="1091"/>
          <a:stretch/>
        </p:blipFill>
        <p:spPr>
          <a:xfrm>
            <a:off x="335279" y="1539240"/>
            <a:ext cx="5696993" cy="4019550"/>
          </a:xfrm>
          <a:prstGeom prst="rect">
            <a:avLst/>
          </a:prstGeom>
        </p:spPr>
      </p:pic>
      <mc:AlternateContent xmlns:mc="http://schemas.openxmlformats.org/markup-compatibility/2006" xmlns:a14="http://schemas.microsoft.com/office/drawing/2010/main">
        <mc:Choice Requires="a14">
          <p:sp>
            <p:nvSpPr>
              <p:cNvPr id="5" name="Rectangle 4"/>
              <p:cNvSpPr/>
              <p:nvPr/>
            </p:nvSpPr>
            <p:spPr>
              <a:xfrm>
                <a:off x="5867400" y="1690688"/>
                <a:ext cx="6096000" cy="1754326"/>
              </a:xfrm>
              <a:prstGeom prst="rect">
                <a:avLst/>
              </a:prstGeom>
            </p:spPr>
            <p:txBody>
              <a:bodyPr>
                <a:spAutoFit/>
              </a:bodyPr>
              <a:lstStyle/>
              <a:p>
                <a:r>
                  <a:rPr lang="en-US" dirty="0"/>
                  <a:t>Figure shows the SPWM technique with reference, carrier,</a:t>
                </a:r>
              </a:p>
              <a:p>
                <a:r>
                  <a:rPr lang="en-US" dirty="0"/>
                  <a:t>and PWM signals, where different carrier signals (implying</a:t>
                </a:r>
              </a:p>
              <a:p>
                <a:r>
                  <a:rPr lang="en-US" dirty="0"/>
                  <a:t>that </a:t>
                </a:r>
                <a:r>
                  <a:rPr lang="en-US" dirty="0" err="1"/>
                  <a:t>ϕ</a:t>
                </a:r>
                <a:r>
                  <a:rPr lang="en-US" sz="800" dirty="0" err="1"/>
                  <a:t>cA</a:t>
                </a:r>
                <a:r>
                  <a:rPr lang="en-US" sz="800" dirty="0"/>
                  <a:t> </a:t>
                </a:r>
                <a:r>
                  <a:rPr lang="en-US" dirty="0"/>
                  <a:t≯= </a:t>
                </a:r>
                <a:r>
                  <a:rPr lang="en-US" dirty="0" err="1"/>
                  <a:t>ϕ</a:t>
                </a:r>
                <a:r>
                  <a:rPr lang="en-US" sz="800" dirty="0" err="1"/>
                  <a:t>cB</a:t>
                </a:r>
                <a:r>
                  <a:rPr lang="en-US" sz="800" dirty="0"/>
                  <a:t> </a:t>
                </a:r>
                <a:r>
                  <a:rPr lang="en-US" dirty="0"/>
                  <a:t≯= </a:t>
                </a:r>
                <a:r>
                  <a:rPr lang="en-US" dirty="0" err="1"/>
                  <a:t>ϕ</a:t>
                </a:r>
                <a:r>
                  <a:rPr lang="en-US" sz="800" dirty="0" err="1"/>
                  <a:t>cC</a:t>
                </a:r>
                <a:r>
                  <a:rPr lang="en-US" sz="800" dirty="0"/>
                  <a:t> </a:t>
                </a:r>
                <a:r>
                  <a:rPr lang="en-US" dirty="0"/>
                  <a:t>) are used for each phase.</a:t>
                </a:r>
              </a:p>
              <a:p>
                <a:endParaRPr lang="en-US" dirty="0"/>
              </a:p>
              <a:p>
                <a:r>
                  <a:rPr lang="sv-SE" dirty="0"/>
                  <a:t>The </a:t>
                </a:r>
                <a:r>
                  <a:rPr lang="sv-SE" dirty="0" err="1"/>
                  <a:t>duty</a:t>
                </a:r>
                <a:r>
                  <a:rPr lang="sv-SE" dirty="0"/>
                  <a:t> </a:t>
                </a:r>
                <a:r>
                  <a:rPr lang="en-US" dirty="0"/>
                  <a:t>cycle of each phase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i="1">
                            <a:latin typeface="Cambria Math" panose="02040503050406030204" pitchFamily="18" charset="0"/>
                          </a:rPr>
                          <m:t>𝐴</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𝐵</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𝐷</m:t>
                        </m:r>
                      </m:e>
                      <m:sub>
                        <m:r>
                          <a:rPr lang="en-US" b="0" i="1" smtClean="0">
                            <a:latin typeface="Cambria Math" panose="02040503050406030204" pitchFamily="18" charset="0"/>
                          </a:rPr>
                          <m:t>𝐶</m:t>
                        </m:r>
                      </m:sub>
                    </m:sSub>
                  </m:oMath>
                </a14:m>
                <a:r>
                  <a:rPr lang="en-US" dirty="0"/>
                  <a:t>) follows its corresponding reference signal, as given below.</a:t>
                </a:r>
                <a:endParaRPr lang="sv-SE" dirty="0"/>
              </a:p>
            </p:txBody>
          </p:sp>
        </mc:Choice>
        <mc:Fallback xmlns="">
          <p:sp>
            <p:nvSpPr>
              <p:cNvPr id="5" name="Rectangle 4"/>
              <p:cNvSpPr>
                <a:spLocks noRot="1" noChangeAspect="1" noMove="1" noResize="1" noEditPoints="1" noAdjustHandles="1" noChangeArrowheads="1" noChangeShapeType="1" noTextEdit="1"/>
              </p:cNvSpPr>
              <p:nvPr/>
            </p:nvSpPr>
            <p:spPr>
              <a:xfrm>
                <a:off x="5867400" y="1690688"/>
                <a:ext cx="6096000" cy="1754326"/>
              </a:xfrm>
              <a:prstGeom prst="rect">
                <a:avLst/>
              </a:prstGeom>
              <a:blipFill>
                <a:blip r:embed="rId3"/>
                <a:stretch>
                  <a:fillRect l="-900" t="-1736" b="-4514"/>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6" name="TextBox 5"/>
              <p:cNvSpPr txBox="1"/>
              <p:nvPr/>
            </p:nvSpPr>
            <p:spPr>
              <a:xfrm>
                <a:off x="7307580" y="3596462"/>
                <a:ext cx="2781300" cy="52578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𝐴</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i="1">
                                  <a:latin typeface="Cambria Math" panose="02040503050406030204" pitchFamily="18" charset="0"/>
                                </a:rPr>
                                <m:t>2 </m:t>
                              </m:r>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num>
                            <m:den>
                              <m:r>
                                <a:rPr lang="en-US" b="0" i="1" smtClean="0">
                                  <a:latin typeface="Cambria Math" panose="02040503050406030204" pitchFamily="18" charset="0"/>
                                </a:rPr>
                                <m:t>2</m:t>
                              </m:r>
                            </m:den>
                          </m:f>
                          <m:r>
                            <a:rPr lang="en-US" b="0" i="1" smtClean="0">
                              <a:latin typeface="Cambria Math" panose="02040503050406030204" pitchFamily="18" charset="0"/>
                            </a:rPr>
                            <m:t> </m:t>
                          </m:r>
                        </m:fName>
                        <m:e>
                          <m:r>
                            <a:rPr lang="en-US" b="0" i="1" smtClean="0">
                              <a:latin typeface="Cambria Math" panose="02040503050406030204" pitchFamily="18" charset="0"/>
                            </a:rPr>
                            <m:t>)   </m:t>
                          </m:r>
                        </m:e>
                      </m:func>
                    </m:oMath>
                  </m:oMathPara>
                </a14:m>
                <a:endParaRPr lang="sv-SE" dirty="0"/>
              </a:p>
            </p:txBody>
          </p:sp>
        </mc:Choice>
        <mc:Fallback xmlns="">
          <p:sp>
            <p:nvSpPr>
              <p:cNvPr id="6" name="TextBox 5"/>
              <p:cNvSpPr txBox="1">
                <a:spLocks noRot="1" noChangeAspect="1" noMove="1" noResize="1" noEditPoints="1" noAdjustHandles="1" noChangeArrowheads="1" noChangeShapeType="1" noTextEdit="1"/>
              </p:cNvSpPr>
              <p:nvPr/>
            </p:nvSpPr>
            <p:spPr>
              <a:xfrm>
                <a:off x="7307580" y="3596462"/>
                <a:ext cx="2781300" cy="525785"/>
              </a:xfrm>
              <a:prstGeom prst="rect">
                <a:avLst/>
              </a:prstGeom>
              <a:blipFill>
                <a:blip r:embed="rId4"/>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9" name="TextBox 8"/>
              <p:cNvSpPr txBox="1"/>
              <p:nvPr/>
            </p:nvSpPr>
            <p:spPr>
              <a:xfrm>
                <a:off x="7307580" y="4215875"/>
                <a:ext cx="3086100" cy="699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𝐵</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i="1">
                                  <a:latin typeface="Cambria Math" panose="02040503050406030204" pitchFamily="18" charset="0"/>
                                </a:rPr>
                                <m:t>2 </m:t>
                              </m:r>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r>
                                    <a:rPr lang="en-US" i="1">
                                      <a:latin typeface="Cambria Math" panose="02040503050406030204" pitchFamily="18" charset="0"/>
                                    </a:rPr>
                                    <m:t>𝜋</m:t>
                                  </m:r>
                                </m:num>
                                <m:den>
                                  <m:r>
                                    <a:rPr lang="en-US" i="1">
                                      <a:latin typeface="Cambria Math" panose="02040503050406030204" pitchFamily="18" charset="0"/>
                                    </a:rPr>
                                    <m:t>3</m:t>
                                  </m:r>
                                </m:den>
                              </m:f>
                              <m:r>
                                <a:rPr lang="en-US" b="0" i="1" smtClean="0">
                                  <a:latin typeface="Cambria Math" panose="02040503050406030204" pitchFamily="18" charset="0"/>
                                </a:rPr>
                                <m:t>)</m:t>
                              </m:r>
                            </m:num>
                            <m:den>
                              <m:r>
                                <a:rPr lang="en-US" b="0" i="1" smtClean="0">
                                  <a:latin typeface="Cambria Math" panose="02040503050406030204" pitchFamily="18" charset="0"/>
                                </a:rPr>
                                <m:t>2</m:t>
                              </m:r>
                            </m:den>
                          </m:f>
                          <m:r>
                            <a:rPr lang="en-US" b="0" i="1" smtClean="0">
                              <a:latin typeface="Cambria Math" panose="02040503050406030204" pitchFamily="18" charset="0"/>
                            </a:rPr>
                            <m:t> </m:t>
                          </m:r>
                        </m:fName>
                        <m:e>
                          <m:r>
                            <a:rPr lang="en-US" b="0" i="1" smtClean="0">
                              <a:latin typeface="Cambria Math" panose="02040503050406030204" pitchFamily="18" charset="0"/>
                            </a:rPr>
                            <m:t>)   </m:t>
                          </m:r>
                        </m:e>
                      </m:func>
                    </m:oMath>
                  </m:oMathPara>
                </a14:m>
                <a:endParaRPr lang="sv-SE" dirty="0"/>
              </a:p>
            </p:txBody>
          </p:sp>
        </mc:Choice>
        <mc:Fallback xmlns="">
          <p:sp>
            <p:nvSpPr>
              <p:cNvPr id="9" name="TextBox 8"/>
              <p:cNvSpPr txBox="1">
                <a:spLocks noRot="1" noChangeAspect="1" noMove="1" noResize="1" noEditPoints="1" noAdjustHandles="1" noChangeArrowheads="1" noChangeShapeType="1" noTextEdit="1"/>
              </p:cNvSpPr>
              <p:nvPr/>
            </p:nvSpPr>
            <p:spPr>
              <a:xfrm>
                <a:off x="7307580" y="4215875"/>
                <a:ext cx="3086100" cy="699743"/>
              </a:xfrm>
              <a:prstGeom prst="rect">
                <a:avLst/>
              </a:prstGeom>
              <a:blipFill>
                <a:blip r:embed="rId5"/>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0" name="TextBox 9"/>
              <p:cNvSpPr txBox="1"/>
              <p:nvPr/>
            </p:nvSpPr>
            <p:spPr>
              <a:xfrm>
                <a:off x="7307580" y="5137895"/>
                <a:ext cx="3086100" cy="69974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𝐷</m:t>
                          </m:r>
                        </m:e>
                        <m:sub>
                          <m:r>
                            <a:rPr lang="en-US" b="0" i="1" smtClean="0">
                              <a:latin typeface="Cambria Math" panose="02040503050406030204" pitchFamily="18" charset="0"/>
                            </a:rPr>
                            <m:t>𝐶</m:t>
                          </m:r>
                        </m:sub>
                      </m:sSub>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i="1">
                                  <a:latin typeface="Cambria Math" panose="02040503050406030204" pitchFamily="18" charset="0"/>
                                </a:rPr>
                                <m:t>2 </m:t>
                              </m:r>
                              <m:r>
                                <a:rPr lang="en-US" i="1">
                                  <a:latin typeface="Cambria Math" panose="02040503050406030204" pitchFamily="18" charset="0"/>
                                </a:rPr>
                                <m:t>𝜋</m:t>
                              </m:r>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𝑜</m:t>
                                  </m:r>
                                </m:sub>
                              </m:sSub>
                              <m:r>
                                <a:rPr lang="en-US" i="1">
                                  <a:latin typeface="Cambria Math" panose="02040503050406030204" pitchFamily="18" charset="0"/>
                                </a:rPr>
                                <m:t>𝑡</m:t>
                              </m:r>
                              <m:r>
                                <a:rPr lang="en-US" b="0" i="1" smtClean="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2</m:t>
                                  </m:r>
                                  <m:r>
                                    <a:rPr lang="en-US" i="1">
                                      <a:latin typeface="Cambria Math" panose="02040503050406030204" pitchFamily="18" charset="0"/>
                                    </a:rPr>
                                    <m:t>𝜋</m:t>
                                  </m:r>
                                </m:num>
                                <m:den>
                                  <m:r>
                                    <a:rPr lang="en-US" i="1">
                                      <a:latin typeface="Cambria Math" panose="02040503050406030204" pitchFamily="18" charset="0"/>
                                    </a:rPr>
                                    <m:t>3</m:t>
                                  </m:r>
                                </m:den>
                              </m:f>
                              <m:r>
                                <a:rPr lang="en-US" b="0" i="1" smtClean="0">
                                  <a:latin typeface="Cambria Math" panose="02040503050406030204" pitchFamily="18" charset="0"/>
                                </a:rPr>
                                <m:t>)</m:t>
                              </m:r>
                            </m:num>
                            <m:den>
                              <m:r>
                                <a:rPr lang="en-US" b="0" i="1" smtClean="0">
                                  <a:latin typeface="Cambria Math" panose="02040503050406030204" pitchFamily="18" charset="0"/>
                                </a:rPr>
                                <m:t>2</m:t>
                              </m:r>
                            </m:den>
                          </m:f>
                          <m:r>
                            <a:rPr lang="en-US" b="0" i="1" smtClean="0">
                              <a:latin typeface="Cambria Math" panose="02040503050406030204" pitchFamily="18" charset="0"/>
                            </a:rPr>
                            <m:t> </m:t>
                          </m:r>
                        </m:fName>
                        <m:e>
                          <m:r>
                            <a:rPr lang="en-US" b="0" i="1" smtClean="0">
                              <a:latin typeface="Cambria Math" panose="02040503050406030204" pitchFamily="18" charset="0"/>
                            </a:rPr>
                            <m:t>)   </m:t>
                          </m:r>
                        </m:e>
                      </m:func>
                    </m:oMath>
                  </m:oMathPara>
                </a14:m>
                <a:endParaRPr lang="sv-SE" dirty="0"/>
              </a:p>
            </p:txBody>
          </p:sp>
        </mc:Choice>
        <mc:Fallback xmlns="">
          <p:sp>
            <p:nvSpPr>
              <p:cNvPr id="10" name="TextBox 9"/>
              <p:cNvSpPr txBox="1">
                <a:spLocks noRot="1" noChangeAspect="1" noMove="1" noResize="1" noEditPoints="1" noAdjustHandles="1" noChangeArrowheads="1" noChangeShapeType="1" noTextEdit="1"/>
              </p:cNvSpPr>
              <p:nvPr/>
            </p:nvSpPr>
            <p:spPr>
              <a:xfrm>
                <a:off x="7307580" y="5137895"/>
                <a:ext cx="3086100" cy="699743"/>
              </a:xfrm>
              <a:prstGeom prst="rect">
                <a:avLst/>
              </a:prstGeom>
              <a:blipFill>
                <a:blip r:embed="rId6"/>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2365747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Mathematical Modelling</a:t>
            </a:r>
            <a:endParaRPr lang="sv-SE" dirty="0"/>
          </a:p>
        </p:txBody>
      </p:sp>
      <p:sp>
        <p:nvSpPr>
          <p:cNvPr id="3" name="Rectangle 2"/>
          <p:cNvSpPr/>
          <p:nvPr/>
        </p:nvSpPr>
        <p:spPr>
          <a:xfrm>
            <a:off x="899160" y="1507897"/>
            <a:ext cx="10294620" cy="1200329"/>
          </a:xfrm>
          <a:prstGeom prst="rect">
            <a:avLst/>
          </a:prstGeom>
        </p:spPr>
        <p:txBody>
          <a:bodyPr wrap="square">
            <a:spAutoFit/>
          </a:bodyPr>
          <a:lstStyle/>
          <a:p>
            <a:pPr marL="285750" indent="-285750">
              <a:buFont typeface="Arial" panose="020B0604020202020204" pitchFamily="34" charset="0"/>
              <a:buChar char="•"/>
            </a:pPr>
            <a:r>
              <a:rPr lang="sv-SE" dirty="0"/>
              <a:t>Square </a:t>
            </a:r>
            <a:r>
              <a:rPr lang="sv-SE" dirty="0" err="1"/>
              <a:t>waves</a:t>
            </a:r>
            <a:r>
              <a:rPr lang="sv-SE" dirty="0"/>
              <a:t> </a:t>
            </a:r>
            <a:r>
              <a:rPr lang="en-US" dirty="0"/>
              <a:t>with varying duty cycles are generated within a switching interval. </a:t>
            </a:r>
          </a:p>
          <a:p>
            <a:pPr marL="285750" indent="-285750">
              <a:buFont typeface="Arial" panose="020B0604020202020204" pitchFamily="34" charset="0"/>
              <a:buChar char="•"/>
            </a:pPr>
            <a:r>
              <a:rPr lang="en-US" dirty="0"/>
              <a:t>The duty cycles depend on the reference signals.</a:t>
            </a:r>
          </a:p>
          <a:p>
            <a:r>
              <a:rPr lang="en-US" dirty="0"/>
              <a:t>Therefore, the first switching harmonic components for these square waves can be calculated using the Fourier series. </a:t>
            </a:r>
            <a:endParaRPr lang="sv-SE" dirty="0"/>
          </a:p>
        </p:txBody>
      </p:sp>
      <p:pic>
        <p:nvPicPr>
          <p:cNvPr id="9" name="Picture 8"/>
          <p:cNvPicPr>
            <a:picLocks noChangeAspect="1"/>
          </p:cNvPicPr>
          <p:nvPr/>
        </p:nvPicPr>
        <p:blipFill>
          <a:blip r:embed="rId2"/>
          <a:stretch>
            <a:fillRect/>
          </a:stretch>
        </p:blipFill>
        <p:spPr>
          <a:xfrm>
            <a:off x="3656647" y="2582275"/>
            <a:ext cx="4039553" cy="1677305"/>
          </a:xfrm>
          <a:prstGeom prst="rect">
            <a:avLst/>
          </a:prstGeom>
        </p:spPr>
      </p:pic>
      <p:sp>
        <p:nvSpPr>
          <p:cNvPr id="10" name="TextBox 9"/>
          <p:cNvSpPr txBox="1"/>
          <p:nvPr/>
        </p:nvSpPr>
        <p:spPr>
          <a:xfrm>
            <a:off x="1211103" y="4391144"/>
            <a:ext cx="8930640" cy="369332"/>
          </a:xfrm>
          <a:prstGeom prst="rect">
            <a:avLst/>
          </a:prstGeom>
          <a:noFill/>
        </p:spPr>
        <p:txBody>
          <a:bodyPr wrap="square" rtlCol="0">
            <a:spAutoFit/>
          </a:bodyPr>
          <a:lstStyle/>
          <a:p>
            <a:r>
              <a:rPr lang="en-US" dirty="0"/>
              <a:t>Then, common mode voltage is calculated for a switching interval as follows </a:t>
            </a:r>
            <a:endParaRPr lang="sv-SE" dirty="0"/>
          </a:p>
        </p:txBody>
      </p:sp>
      <mc:AlternateContent xmlns:mc="http://schemas.openxmlformats.org/markup-compatibility/2006" xmlns:a14="http://schemas.microsoft.com/office/drawing/2010/main">
        <mc:Choice Requires="a14">
          <p:sp>
            <p:nvSpPr>
              <p:cNvPr id="11" name="TextBox 10"/>
              <p:cNvSpPr txBox="1"/>
              <p:nvPr/>
            </p:nvSpPr>
            <p:spPr>
              <a:xfrm>
                <a:off x="3855720" y="4846320"/>
                <a:ext cx="4119140" cy="609077"/>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𝑐𝑚</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sSub>
                            <m:sSubPr>
                              <m:ctrlPr>
                                <a:rPr lang="en-US" b="0" i="1" smtClean="0">
                                  <a:latin typeface="Cambria Math" panose="02040503050406030204" pitchFamily="18" charset="0"/>
                                </a:rPr>
                              </m:ctrlPr>
                            </m:sSubPr>
                            <m:e>
                              <m:r>
                                <a:rPr lang="en-US" b="0" i="1" smtClean="0">
                                  <a:latin typeface="Cambria Math" panose="02040503050406030204" pitchFamily="18" charset="0"/>
                                </a:rPr>
                                <m:t>𝑉</m:t>
                              </m:r>
                            </m:e>
                            <m:sub>
                              <m:r>
                                <a:rPr lang="en-US" b="0" i="1" smtClean="0">
                                  <a:latin typeface="Cambria Math" panose="02040503050406030204" pitchFamily="18" charset="0"/>
                                </a:rPr>
                                <m:t>𝐷𝐶</m:t>
                              </m:r>
                            </m:sub>
                          </m:sSub>
                        </m:num>
                        <m:den>
                          <m:r>
                            <a:rPr lang="en-US" b="0" i="1" smtClean="0">
                              <a:latin typeface="Cambria Math" panose="02040503050406030204" pitchFamily="18" charset="0"/>
                            </a:rPr>
                            <m:t>3</m:t>
                          </m:r>
                        </m:den>
                      </m:f>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𝑆</m:t>
                          </m:r>
                        </m:e>
                        <m:sub>
                          <m:r>
                            <a:rPr lang="en-US" b="0" i="1" smtClean="0">
                              <a:latin typeface="Cambria Math" panose="02040503050406030204" pitchFamily="18" charset="0"/>
                            </a:rPr>
                            <m:t>𝐴</m:t>
                          </m:r>
                        </m:sub>
                      </m:sSub>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𝑓</m:t>
                              </m:r>
                            </m:e>
                            <m:sub>
                              <m:r>
                                <a:rPr lang="en-US" b="0" i="1" smtClean="0">
                                  <a:latin typeface="Cambria Math" panose="02040503050406030204" pitchFamily="18" charset="0"/>
                                </a:rPr>
                                <m:t>𝑠</m:t>
                              </m:r>
                            </m:sub>
                          </m:sSub>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𝐵</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𝐶</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r>
                        <a:rPr lang="en-US" b="0" i="1" smtClean="0">
                          <a:latin typeface="Cambria Math" panose="02040503050406030204" pitchFamily="18" charset="0"/>
                        </a:rPr>
                        <m:t>)</m:t>
                      </m:r>
                    </m:oMath>
                  </m:oMathPara>
                </a14:m>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3855720" y="4846320"/>
                <a:ext cx="4119140" cy="609077"/>
              </a:xfrm>
              <a:prstGeom prst="rect">
                <a:avLst/>
              </a:prstGeom>
              <a:blipFill>
                <a:blip r:embed="rId3"/>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211103" y="5720834"/>
                <a:ext cx="10737057" cy="653962"/>
              </a:xfrm>
              <a:prstGeom prst="rect">
                <a:avLst/>
              </a:prstGeom>
            </p:spPr>
            <p:txBody>
              <a:bodyPr wrap="square">
                <a:spAutoFit/>
              </a:bodyPr>
              <a:lstStyle/>
              <a:p>
                <a:r>
                  <a:rPr lang="en-US" dirty="0"/>
                  <a:t>Therefore, we have three signals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i="1">
                            <a:latin typeface="Cambria Math" panose="02040503050406030204" pitchFamily="18" charset="0"/>
                          </a:rPr>
                          <m:t>𝐴</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oMath>
                </a14:m>
                <a:r>
                  <a:rPr lang="en-US" dirty="0"/>
                  <a:t> ,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𝐵</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r>
                      <a:rPr lang="en-US" b="0" i="0" smtClean="0">
                        <a:latin typeface="Cambria Math" panose="02040503050406030204" pitchFamily="18" charset="0"/>
                      </a:rPr>
                      <m:t>,</m:t>
                    </m:r>
                  </m:oMath>
                </a14:m>
                <a:r>
                  <a:rPr lang="en-US" dirty="0"/>
                  <a: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𝑆</m:t>
                        </m:r>
                      </m:e>
                      <m:sub>
                        <m:r>
                          <a:rPr lang="en-US" b="0" i="1" smtClean="0">
                            <a:latin typeface="Cambria Math" panose="02040503050406030204" pitchFamily="18" charset="0"/>
                          </a:rPr>
                          <m:t>𝐶</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oMath>
                </a14:m>
                <a:r>
                  <a:rPr lang="en-US" dirty="0"/>
                  <a:t>)  with the same frequency with different magnitudes and phases. Accordingly, we can pass phasor domain analysis !!!</a:t>
                </a:r>
                <a:endParaRPr lang="sv-SE" dirty="0"/>
              </a:p>
            </p:txBody>
          </p:sp>
        </mc:Choice>
        <mc:Fallback xmlns="">
          <p:sp>
            <p:nvSpPr>
              <p:cNvPr id="12" name="Rectangle 11"/>
              <p:cNvSpPr>
                <a:spLocks noRot="1" noChangeAspect="1" noMove="1" noResize="1" noEditPoints="1" noAdjustHandles="1" noChangeArrowheads="1" noChangeShapeType="1" noTextEdit="1"/>
              </p:cNvSpPr>
              <p:nvPr/>
            </p:nvSpPr>
            <p:spPr>
              <a:xfrm>
                <a:off x="1211103" y="5720834"/>
                <a:ext cx="10737057" cy="653962"/>
              </a:xfrm>
              <a:prstGeom prst="rect">
                <a:avLst/>
              </a:prstGeom>
              <a:blipFill>
                <a:blip r:embed="rId4"/>
                <a:stretch>
                  <a:fillRect l="-511" t="-2778" b="-12963"/>
                </a:stretch>
              </a:blipFill>
            </p:spPr>
            <p:txBody>
              <a:bodyPr/>
              <a:lstStyle/>
              <a:p>
                <a:r>
                  <a:rPr lang="sv-SE">
                    <a:noFill/>
                  </a:rPr>
                  <a:t> </a:t>
                </a:r>
              </a:p>
            </p:txBody>
          </p:sp>
        </mc:Fallback>
      </mc:AlternateContent>
    </p:spTree>
    <p:extLst>
      <p:ext uri="{BB962C8B-B14F-4D97-AF65-F5344CB8AC3E}">
        <p14:creationId xmlns:p14="http://schemas.microsoft.com/office/powerpoint/2010/main" val="3391108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298" y="220070"/>
            <a:ext cx="8786024" cy="1325563"/>
          </a:xfrm>
        </p:spPr>
        <p:txBody>
          <a:bodyPr/>
          <a:lstStyle/>
          <a:p>
            <a:r>
              <a:rPr lang="en-US" dirty="0">
                <a:solidFill>
                  <a:srgbClr val="C00000"/>
                </a:solidFill>
              </a:rPr>
              <a:t>Mathematical Modelling</a:t>
            </a:r>
            <a:endParaRPr lang="sv-SE" dirty="0"/>
          </a:p>
        </p:txBody>
      </p:sp>
      <p:cxnSp>
        <p:nvCxnSpPr>
          <p:cNvPr id="8" name="Straight Arrow Connector 7"/>
          <p:cNvCxnSpPr/>
          <p:nvPr/>
        </p:nvCxnSpPr>
        <p:spPr>
          <a:xfrm flipV="1">
            <a:off x="1606439" y="3828919"/>
            <a:ext cx="956635" cy="487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964518" y="3828919"/>
            <a:ext cx="641921" cy="30513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1606440" y="3299109"/>
            <a:ext cx="196204" cy="516177"/>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2488902" y="3630526"/>
            <a:ext cx="350520" cy="369332"/>
          </a:xfrm>
          <a:prstGeom prst="rect">
            <a:avLst/>
          </a:prstGeom>
          <a:noFill/>
        </p:spPr>
        <p:txBody>
          <a:bodyPr wrap="square" rtlCol="0">
            <a:spAutoFit/>
          </a:bodyPr>
          <a:lstStyle/>
          <a:p>
            <a:r>
              <a:rPr lang="en-US" dirty="0"/>
              <a:t>A</a:t>
            </a:r>
            <a:endParaRPr lang="sv-SE" dirty="0"/>
          </a:p>
        </p:txBody>
      </p:sp>
      <p:sp>
        <p:nvSpPr>
          <p:cNvPr id="15" name="TextBox 14"/>
          <p:cNvSpPr txBox="1"/>
          <p:nvPr/>
        </p:nvSpPr>
        <p:spPr>
          <a:xfrm>
            <a:off x="1627384" y="2949755"/>
            <a:ext cx="350520" cy="369332"/>
          </a:xfrm>
          <a:prstGeom prst="rect">
            <a:avLst/>
          </a:prstGeom>
          <a:noFill/>
        </p:spPr>
        <p:txBody>
          <a:bodyPr wrap="square" rtlCol="0">
            <a:spAutoFit/>
          </a:bodyPr>
          <a:lstStyle/>
          <a:p>
            <a:r>
              <a:rPr lang="en-US" dirty="0"/>
              <a:t>B</a:t>
            </a:r>
            <a:endParaRPr lang="sv-SE" dirty="0"/>
          </a:p>
        </p:txBody>
      </p:sp>
      <p:sp>
        <p:nvSpPr>
          <p:cNvPr id="16" name="Arc 15"/>
          <p:cNvSpPr/>
          <p:nvPr/>
        </p:nvSpPr>
        <p:spPr>
          <a:xfrm rot="3802984">
            <a:off x="1622940" y="3598671"/>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20" name="TextBox 19"/>
              <p:cNvSpPr txBox="1"/>
              <p:nvPr/>
            </p:nvSpPr>
            <p:spPr>
              <a:xfrm>
                <a:off x="1856707" y="3340434"/>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𝐶𝐵</m:t>
                          </m:r>
                        </m:sub>
                      </m:sSub>
                    </m:oMath>
                  </m:oMathPara>
                </a14:m>
                <a:endParaRPr lang="sv-SE" dirty="0"/>
              </a:p>
            </p:txBody>
          </p:sp>
        </mc:Choice>
        <mc:Fallback xmlns="">
          <p:sp>
            <p:nvSpPr>
              <p:cNvPr id="20" name="TextBox 19"/>
              <p:cNvSpPr txBox="1">
                <a:spLocks noRot="1" noChangeAspect="1" noMove="1" noResize="1" noEditPoints="1" noAdjustHandles="1" noChangeArrowheads="1" noChangeShapeType="1" noTextEdit="1"/>
              </p:cNvSpPr>
              <p:nvPr/>
            </p:nvSpPr>
            <p:spPr>
              <a:xfrm>
                <a:off x="1856707" y="3340434"/>
                <a:ext cx="601661" cy="369332"/>
              </a:xfrm>
              <a:prstGeom prst="rect">
                <a:avLst/>
              </a:prstGeom>
              <a:blipFill>
                <a:blip r:embed="rId2"/>
                <a:stretch>
                  <a:fillRect b="-11475"/>
                </a:stretch>
              </a:blipFill>
            </p:spPr>
            <p:txBody>
              <a:bodyPr/>
              <a:lstStyle/>
              <a:p>
                <a:r>
                  <a:rPr lang="sv-SE">
                    <a:noFill/>
                  </a:rPr>
                  <a:t> </a:t>
                </a:r>
              </a:p>
            </p:txBody>
          </p:sp>
        </mc:Fallback>
      </mc:AlternateContent>
      <p:sp>
        <p:nvSpPr>
          <p:cNvPr id="26" name="TextBox 25"/>
          <p:cNvSpPr txBox="1"/>
          <p:nvPr/>
        </p:nvSpPr>
        <p:spPr>
          <a:xfrm>
            <a:off x="789258" y="4129795"/>
            <a:ext cx="350520" cy="369332"/>
          </a:xfrm>
          <a:prstGeom prst="rect">
            <a:avLst/>
          </a:prstGeom>
          <a:noFill/>
        </p:spPr>
        <p:txBody>
          <a:bodyPr wrap="square" rtlCol="0">
            <a:spAutoFit/>
          </a:bodyPr>
          <a:lstStyle/>
          <a:p>
            <a:r>
              <a:rPr lang="en-US" dirty="0"/>
              <a:t>C</a:t>
            </a:r>
            <a:endParaRPr lang="sv-SE" dirty="0"/>
          </a:p>
        </p:txBody>
      </p:sp>
      <p:sp>
        <p:nvSpPr>
          <p:cNvPr id="27" name="Arc 26"/>
          <p:cNvSpPr/>
          <p:nvPr/>
        </p:nvSpPr>
        <p:spPr>
          <a:xfrm rot="9696706">
            <a:off x="1316215" y="3814540"/>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28" name="TextBox 27"/>
              <p:cNvSpPr txBox="1"/>
              <p:nvPr/>
            </p:nvSpPr>
            <p:spPr>
              <a:xfrm>
                <a:off x="1473171" y="3871492"/>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𝜙</m:t>
                          </m:r>
                        </m:e>
                        <m:sub>
                          <m:r>
                            <a:rPr lang="en-US" b="0" i="1" smtClean="0">
                              <a:latin typeface="Cambria Math" panose="02040503050406030204" pitchFamily="18" charset="0"/>
                            </a:rPr>
                            <m:t>𝐶𝐶</m:t>
                          </m:r>
                        </m:sub>
                      </m:sSub>
                    </m:oMath>
                  </m:oMathPara>
                </a14:m>
                <a:endParaRPr lang="sv-SE" dirty="0"/>
              </a:p>
            </p:txBody>
          </p:sp>
        </mc:Choice>
        <mc:Fallback xmlns="">
          <p:sp>
            <p:nvSpPr>
              <p:cNvPr id="28" name="TextBox 27"/>
              <p:cNvSpPr txBox="1">
                <a:spLocks noRot="1" noChangeAspect="1" noMove="1" noResize="1" noEditPoints="1" noAdjustHandles="1" noChangeArrowheads="1" noChangeShapeType="1" noTextEdit="1"/>
              </p:cNvSpPr>
              <p:nvPr/>
            </p:nvSpPr>
            <p:spPr>
              <a:xfrm>
                <a:off x="1473171" y="3871492"/>
                <a:ext cx="601661" cy="369332"/>
              </a:xfrm>
              <a:prstGeom prst="rect">
                <a:avLst/>
              </a:prstGeom>
              <a:blipFill>
                <a:blip r:embed="rId3"/>
                <a:stretch>
                  <a:fillRect r="-14286" b="-11475"/>
                </a:stretch>
              </a:blipFill>
            </p:spPr>
            <p:txBody>
              <a:bodyPr/>
              <a:lstStyle/>
              <a:p>
                <a:r>
                  <a:rPr lang="sv-SE">
                    <a:noFill/>
                  </a:rPr>
                  <a:t> </a:t>
                </a:r>
              </a:p>
            </p:txBody>
          </p:sp>
        </mc:Fallback>
      </mc:AlternateContent>
      <p:pic>
        <p:nvPicPr>
          <p:cNvPr id="31" name="Picture 30"/>
          <p:cNvPicPr>
            <a:picLocks noChangeAspect="1"/>
          </p:cNvPicPr>
          <p:nvPr/>
        </p:nvPicPr>
        <p:blipFill>
          <a:blip r:embed="rId4"/>
          <a:stretch>
            <a:fillRect/>
          </a:stretch>
        </p:blipFill>
        <p:spPr>
          <a:xfrm>
            <a:off x="9295756" y="2312021"/>
            <a:ext cx="2873384" cy="2155038"/>
          </a:xfrm>
          <a:prstGeom prst="rect">
            <a:avLst/>
          </a:prstGeom>
        </p:spPr>
      </p:pic>
      <p:pic>
        <p:nvPicPr>
          <p:cNvPr id="32" name="Picture 31"/>
          <p:cNvPicPr>
            <a:picLocks noChangeAspect="1"/>
          </p:cNvPicPr>
          <p:nvPr/>
        </p:nvPicPr>
        <p:blipFill>
          <a:blip r:embed="rId5"/>
          <a:stretch>
            <a:fillRect/>
          </a:stretch>
        </p:blipFill>
        <p:spPr>
          <a:xfrm>
            <a:off x="6502387" y="4658754"/>
            <a:ext cx="2793367" cy="2095025"/>
          </a:xfrm>
          <a:prstGeom prst="rect">
            <a:avLst/>
          </a:prstGeom>
        </p:spPr>
      </p:pic>
      <p:pic>
        <p:nvPicPr>
          <p:cNvPr id="33" name="Picture 32"/>
          <p:cNvPicPr>
            <a:picLocks noChangeAspect="1"/>
          </p:cNvPicPr>
          <p:nvPr/>
        </p:nvPicPr>
        <p:blipFill>
          <a:blip r:embed="rId6"/>
          <a:stretch>
            <a:fillRect/>
          </a:stretch>
        </p:blipFill>
        <p:spPr>
          <a:xfrm>
            <a:off x="9295755" y="4658754"/>
            <a:ext cx="2810013" cy="2107510"/>
          </a:xfrm>
          <a:prstGeom prst="rect">
            <a:avLst/>
          </a:prstGeom>
        </p:spPr>
      </p:pic>
      <mc:AlternateContent xmlns:mc="http://schemas.openxmlformats.org/markup-compatibility/2006" xmlns:a14="http://schemas.microsoft.com/office/drawing/2010/main">
        <mc:Choice Requires="a14">
          <p:sp>
            <p:nvSpPr>
              <p:cNvPr id="34" name="TextBox 33"/>
              <p:cNvSpPr txBox="1"/>
              <p:nvPr/>
            </p:nvSpPr>
            <p:spPr>
              <a:xfrm>
                <a:off x="10023184" y="2122336"/>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5</m:t>
                      </m:r>
                    </m:oMath>
                  </m:oMathPara>
                </a14:m>
                <a:endParaRPr lang="sv-SE" dirty="0"/>
              </a:p>
            </p:txBody>
          </p:sp>
        </mc:Choice>
        <mc:Fallback xmlns="">
          <p:sp>
            <p:nvSpPr>
              <p:cNvPr id="34" name="TextBox 33"/>
              <p:cNvSpPr txBox="1">
                <a:spLocks noRot="1" noChangeAspect="1" noMove="1" noResize="1" noEditPoints="1" noAdjustHandles="1" noChangeArrowheads="1" noChangeShapeType="1" noTextEdit="1"/>
              </p:cNvSpPr>
              <p:nvPr/>
            </p:nvSpPr>
            <p:spPr>
              <a:xfrm>
                <a:off x="10023184" y="2122336"/>
                <a:ext cx="1355154" cy="369332"/>
              </a:xfrm>
              <a:prstGeom prst="rect">
                <a:avLst/>
              </a:prstGeom>
              <a:blipFill>
                <a:blip r:embed="rId7"/>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35" name="TextBox 34"/>
              <p:cNvSpPr txBox="1"/>
              <p:nvPr/>
            </p:nvSpPr>
            <p:spPr>
              <a:xfrm>
                <a:off x="10054871" y="4424577"/>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1</m:t>
                      </m:r>
                    </m:oMath>
                  </m:oMathPara>
                </a14:m>
                <a:endParaRPr lang="sv-SE" dirty="0"/>
              </a:p>
            </p:txBody>
          </p:sp>
        </mc:Choice>
        <mc:Fallback>
          <p:sp>
            <p:nvSpPr>
              <p:cNvPr id="35" name="TextBox 34"/>
              <p:cNvSpPr txBox="1">
                <a:spLocks noRot="1" noChangeAspect="1" noMove="1" noResize="1" noEditPoints="1" noAdjustHandles="1" noChangeArrowheads="1" noChangeShapeType="1" noTextEdit="1"/>
              </p:cNvSpPr>
              <p:nvPr/>
            </p:nvSpPr>
            <p:spPr>
              <a:xfrm>
                <a:off x="10054871" y="4424577"/>
                <a:ext cx="1355154" cy="369332"/>
              </a:xfrm>
              <a:prstGeom prst="rect">
                <a:avLst/>
              </a:prstGeom>
              <a:blipFill>
                <a:blip r:embed="rId8"/>
                <a:stretch>
                  <a:fillRect/>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6" name="TextBox 35"/>
              <p:cNvSpPr txBox="1"/>
              <p:nvPr/>
            </p:nvSpPr>
            <p:spPr>
              <a:xfrm>
                <a:off x="7344556" y="4478996"/>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75</m:t>
                      </m:r>
                    </m:oMath>
                  </m:oMathPara>
                </a14:m>
                <a:endParaRPr lang="sv-SE" dirty="0"/>
              </a:p>
            </p:txBody>
          </p:sp>
        </mc:Choice>
        <mc:Fallback xmlns="">
          <p:sp>
            <p:nvSpPr>
              <p:cNvPr id="36" name="TextBox 35"/>
              <p:cNvSpPr txBox="1">
                <a:spLocks noRot="1" noChangeAspect="1" noMove="1" noResize="1" noEditPoints="1" noAdjustHandles="1" noChangeArrowheads="1" noChangeShapeType="1" noTextEdit="1"/>
              </p:cNvSpPr>
              <p:nvPr/>
            </p:nvSpPr>
            <p:spPr>
              <a:xfrm>
                <a:off x="7344556" y="4478996"/>
                <a:ext cx="1355154" cy="369332"/>
              </a:xfrm>
              <a:prstGeom prst="rect">
                <a:avLst/>
              </a:prstGeom>
              <a:blipFill>
                <a:blip r:embed="rId9"/>
                <a:stretch>
                  <a:fillRect/>
                </a:stretch>
              </a:blipFill>
            </p:spPr>
            <p:txBody>
              <a:bodyPr/>
              <a:lstStyle/>
              <a:p>
                <a:r>
                  <a:rPr lang="sv-SE">
                    <a:noFill/>
                  </a:rPr>
                  <a:t> </a:t>
                </a:r>
              </a:p>
            </p:txBody>
          </p:sp>
        </mc:Fallback>
      </mc:AlternateContent>
      <p:pic>
        <p:nvPicPr>
          <p:cNvPr id="37" name="Picture 36"/>
          <p:cNvPicPr>
            <a:picLocks noChangeAspect="1"/>
          </p:cNvPicPr>
          <p:nvPr/>
        </p:nvPicPr>
        <p:blipFill>
          <a:blip r:embed="rId10"/>
          <a:stretch>
            <a:fillRect/>
          </a:stretch>
        </p:blipFill>
        <p:spPr>
          <a:xfrm>
            <a:off x="6575691" y="2329463"/>
            <a:ext cx="2892884" cy="2169664"/>
          </a:xfrm>
          <a:prstGeom prst="rect">
            <a:avLst/>
          </a:prstGeom>
        </p:spPr>
      </p:pic>
      <mc:AlternateContent xmlns:mc="http://schemas.openxmlformats.org/markup-compatibility/2006" xmlns:a14="http://schemas.microsoft.com/office/drawing/2010/main">
        <mc:Choice Requires="a14">
          <p:sp>
            <p:nvSpPr>
              <p:cNvPr id="38" name="TextBox 37"/>
              <p:cNvSpPr txBox="1"/>
              <p:nvPr/>
            </p:nvSpPr>
            <p:spPr>
              <a:xfrm>
                <a:off x="7562587" y="2014187"/>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0</m:t>
                      </m:r>
                      <m:r>
                        <a:rPr lang="en-US" b="0" i="1" smtClean="0">
                          <a:latin typeface="Cambria Math" panose="02040503050406030204" pitchFamily="18" charset="0"/>
                        </a:rPr>
                        <m:t>.</m:t>
                      </m:r>
                      <m:r>
                        <a:rPr lang="en-US" b="0" i="1" smtClean="0">
                          <a:latin typeface="Cambria Math" panose="02040503050406030204" pitchFamily="18" charset="0"/>
                        </a:rPr>
                        <m:t>25</m:t>
                      </m:r>
                    </m:oMath>
                  </m:oMathPara>
                </a14:m>
                <a:endParaRPr lang="sv-SE" dirty="0"/>
              </a:p>
            </p:txBody>
          </p:sp>
        </mc:Choice>
        <mc:Fallback xmlns="">
          <p:sp>
            <p:nvSpPr>
              <p:cNvPr id="38" name="TextBox 37"/>
              <p:cNvSpPr txBox="1">
                <a:spLocks noRot="1" noChangeAspect="1" noMove="1" noResize="1" noEditPoints="1" noAdjustHandles="1" noChangeArrowheads="1" noChangeShapeType="1" noTextEdit="1"/>
              </p:cNvSpPr>
              <p:nvPr/>
            </p:nvSpPr>
            <p:spPr>
              <a:xfrm>
                <a:off x="7562587" y="2014187"/>
                <a:ext cx="1355154" cy="369332"/>
              </a:xfrm>
              <a:prstGeom prst="rect">
                <a:avLst/>
              </a:prstGeom>
              <a:blipFill>
                <a:blip r:embed="rId11"/>
                <a:stretch>
                  <a:fillRect/>
                </a:stretch>
              </a:blipFill>
            </p:spPr>
            <p:txBody>
              <a:bodyPr/>
              <a:lstStyle/>
              <a:p>
                <a:r>
                  <a:rPr lang="sv-SE">
                    <a:noFill/>
                  </a:rPr>
                  <a:t> </a:t>
                </a:r>
              </a:p>
            </p:txBody>
          </p:sp>
        </mc:Fallback>
      </mc:AlternateContent>
      <p:pic>
        <p:nvPicPr>
          <p:cNvPr id="39" name="Picture 38"/>
          <p:cNvPicPr>
            <a:picLocks noChangeAspect="1"/>
          </p:cNvPicPr>
          <p:nvPr/>
        </p:nvPicPr>
        <p:blipFill>
          <a:blip r:embed="rId12"/>
          <a:stretch>
            <a:fillRect/>
          </a:stretch>
        </p:blipFill>
        <p:spPr>
          <a:xfrm>
            <a:off x="8331100" y="202153"/>
            <a:ext cx="2623578" cy="1967684"/>
          </a:xfrm>
          <a:prstGeom prst="rect">
            <a:avLst/>
          </a:prstGeom>
        </p:spPr>
      </p:pic>
      <mc:AlternateContent xmlns:mc="http://schemas.openxmlformats.org/markup-compatibility/2006">
        <mc:Choice xmlns:a14="http://schemas.microsoft.com/office/drawing/2010/main" Requires="a14">
          <p:sp>
            <p:nvSpPr>
              <p:cNvPr id="40" name="TextBox 39"/>
              <p:cNvSpPr txBox="1"/>
              <p:nvPr/>
            </p:nvSpPr>
            <p:spPr>
              <a:xfrm>
                <a:off x="9038745" y="-74083"/>
                <a:ext cx="135515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b="0" i="1" smtClean="0">
                          <a:latin typeface="Cambria Math" panose="02040503050406030204" pitchFamily="18" charset="0"/>
                        </a:rPr>
                        <m:t>=</m:t>
                      </m:r>
                      <m:r>
                        <a:rPr lang="en-US" b="0" i="1" smtClean="0">
                          <a:latin typeface="Cambria Math" panose="02040503050406030204" pitchFamily="18" charset="0"/>
                        </a:rPr>
                        <m:t>0</m:t>
                      </m:r>
                    </m:oMath>
                  </m:oMathPara>
                </a14:m>
                <a:endParaRPr lang="sv-SE" dirty="0"/>
              </a:p>
            </p:txBody>
          </p:sp>
        </mc:Choice>
        <mc:Fallback>
          <p:sp>
            <p:nvSpPr>
              <p:cNvPr id="40" name="TextBox 39"/>
              <p:cNvSpPr txBox="1">
                <a:spLocks noRot="1" noChangeAspect="1" noMove="1" noResize="1" noEditPoints="1" noAdjustHandles="1" noChangeArrowheads="1" noChangeShapeType="1" noTextEdit="1"/>
              </p:cNvSpPr>
              <p:nvPr/>
            </p:nvSpPr>
            <p:spPr>
              <a:xfrm>
                <a:off x="9038745" y="-74083"/>
                <a:ext cx="1355154" cy="369332"/>
              </a:xfrm>
              <a:prstGeom prst="rect">
                <a:avLst/>
              </a:prstGeom>
              <a:blipFill>
                <a:blip r:embed="rId13"/>
                <a:stretch>
                  <a:fillRect/>
                </a:stretch>
              </a:blipFill>
            </p:spPr>
            <p:txBody>
              <a:bodyPr/>
              <a:lstStyle/>
              <a:p>
                <a:r>
                  <a:rPr lang="sv-SE">
                    <a:noFill/>
                  </a:rPr>
                  <a:t> </a:t>
                </a:r>
              </a:p>
            </p:txBody>
          </p:sp>
        </mc:Fallback>
      </mc:AlternateContent>
      <p:sp>
        <p:nvSpPr>
          <p:cNvPr id="41" name="TextBox 40"/>
          <p:cNvSpPr txBox="1"/>
          <p:nvPr/>
        </p:nvSpPr>
        <p:spPr>
          <a:xfrm>
            <a:off x="3394031" y="1767095"/>
            <a:ext cx="3190247" cy="4247317"/>
          </a:xfrm>
          <a:prstGeom prst="rect">
            <a:avLst/>
          </a:prstGeom>
          <a:noFill/>
        </p:spPr>
        <p:txBody>
          <a:bodyPr wrap="square" rtlCol="0">
            <a:spAutoFit/>
          </a:bodyPr>
          <a:lstStyle/>
          <a:p>
            <a:r>
              <a:rPr lang="en-US" dirty="0"/>
              <a:t>The magnitude of the switching frequency are plotted over a fundamental period for different modulation index.</a:t>
            </a:r>
          </a:p>
          <a:p>
            <a:endParaRPr lang="en-US" dirty="0"/>
          </a:p>
          <a:p>
            <a:r>
              <a:rPr lang="en-US" dirty="0"/>
              <a:t>It is observed that the magnitude changes for each leg.</a:t>
            </a:r>
          </a:p>
          <a:p>
            <a:endParaRPr lang="en-US" dirty="0"/>
          </a:p>
          <a:p>
            <a:r>
              <a:rPr lang="en-US" dirty="0"/>
              <a:t>Also, we know that the phases of the components depends on the carrier phase shift. </a:t>
            </a:r>
          </a:p>
          <a:p>
            <a:endParaRPr lang="en-US" dirty="0"/>
          </a:p>
          <a:p>
            <a:r>
              <a:rPr lang="en-US" dirty="0"/>
              <a:t>Our aim is to minimize the sum of these components.</a:t>
            </a:r>
            <a:endParaRPr lang="sv-SE" dirty="0"/>
          </a:p>
        </p:txBody>
      </p:sp>
    </p:spTree>
    <p:extLst>
      <p:ext uri="{BB962C8B-B14F-4D97-AF65-F5344CB8AC3E}">
        <p14:creationId xmlns:p14="http://schemas.microsoft.com/office/powerpoint/2010/main" val="19002033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298" y="220070"/>
            <a:ext cx="8786024" cy="1325563"/>
          </a:xfrm>
        </p:spPr>
        <p:txBody>
          <a:bodyPr/>
          <a:lstStyle/>
          <a:p>
            <a:r>
              <a:rPr lang="en-US" dirty="0">
                <a:solidFill>
                  <a:srgbClr val="C00000"/>
                </a:solidFill>
              </a:rPr>
              <a:t>Mathematical Modelling</a:t>
            </a:r>
            <a:endParaRPr lang="sv-SE" dirty="0"/>
          </a:p>
        </p:txBody>
      </p:sp>
      <p:cxnSp>
        <p:nvCxnSpPr>
          <p:cNvPr id="8" name="Straight Arrow Connector 7"/>
          <p:cNvCxnSpPr/>
          <p:nvPr/>
        </p:nvCxnSpPr>
        <p:spPr>
          <a:xfrm flipV="1">
            <a:off x="1537859" y="2160139"/>
            <a:ext cx="956635" cy="487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flipH="1">
            <a:off x="895938" y="2160139"/>
            <a:ext cx="641921" cy="30513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V="1">
            <a:off x="1537860" y="1630329"/>
            <a:ext cx="196204" cy="516177"/>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16" name="Arc 15"/>
          <p:cNvSpPr/>
          <p:nvPr/>
        </p:nvSpPr>
        <p:spPr>
          <a:xfrm rot="3802984">
            <a:off x="1554360" y="1929891"/>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27" name="Arc 26"/>
          <p:cNvSpPr/>
          <p:nvPr/>
        </p:nvSpPr>
        <p:spPr>
          <a:xfrm rot="9696706">
            <a:off x="1247635" y="2145760"/>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mc:Choice xmlns:a14="http://schemas.microsoft.com/office/drawing/2010/main" Requires="a14">
          <p:sp>
            <p:nvSpPr>
              <p:cNvPr id="41" name="TextBox 40"/>
              <p:cNvSpPr txBox="1"/>
              <p:nvPr/>
            </p:nvSpPr>
            <p:spPr>
              <a:xfrm>
                <a:off x="3318562" y="1230252"/>
                <a:ext cx="7335578" cy="1512978"/>
              </a:xfrm>
              <a:prstGeom prst="rect">
                <a:avLst/>
              </a:prstGeom>
              <a:noFill/>
            </p:spPr>
            <p:txBody>
              <a:bodyPr wrap="square" rtlCol="0">
                <a:spAutoFit/>
              </a:bodyPr>
              <a:lstStyle/>
              <a:p>
                <a:r>
                  <a:rPr lang="en-US" dirty="0"/>
                  <a:t>We have tree vectors with magnitude of </a:t>
                </a:r>
                <a14:m>
                  <m:oMath xmlns:m="http://schemas.openxmlformats.org/officeDocument/2006/math">
                    <m:sSub>
                      <m:sSubPr>
                        <m:ctrlPr>
                          <a:rPr lang="en-US" i="1">
                            <a:latin typeface="Cambria Math" panose="02040503050406030204" pitchFamily="18" charset="0"/>
                          </a:rPr>
                        </m:ctrlPr>
                      </m:sSubPr>
                      <m:e>
                        <m:r>
                          <a:rPr lang="en-US" b="0" i="1" smtClean="0">
                            <a:latin typeface="Cambria Math" panose="02040503050406030204" pitchFamily="18" charset="0"/>
                          </a:rPr>
                          <m:t>|</m:t>
                        </m:r>
                        <m:r>
                          <a:rPr lang="en-US" i="1">
                            <a:latin typeface="Cambria Math" panose="02040503050406030204" pitchFamily="18" charset="0"/>
                          </a:rPr>
                          <m:t>𝑆</m:t>
                        </m:r>
                      </m:e>
                      <m:sub>
                        <m:r>
                          <a:rPr lang="en-US" i="1">
                            <a:latin typeface="Cambria Math" panose="02040503050406030204" pitchFamily="18" charset="0"/>
                          </a:rPr>
                          <m:t>𝐴</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d>
                      <m:dPr>
                        <m:begChr m:val="|"/>
                        <m:endChr m:val="|"/>
                        <m:ctrlPr>
                          <a:rPr lang="en-US" b="0" i="1" smtClean="0">
                            <a:latin typeface="Cambria Math" panose="02040503050406030204" pitchFamily="18" charset="0"/>
                          </a:rPr>
                        </m:ctrlPr>
                      </m:dPr>
                      <m:e>
                        <m:r>
                          <a:rPr lang="en-US" b="0" i="0" smtClean="0">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𝑆</m:t>
                            </m:r>
                          </m:e>
                          <m:sub>
                            <m:r>
                              <a:rPr lang="en-US" b="0" i="1" smtClean="0">
                                <a:latin typeface="Cambria Math" panose="02040503050406030204" pitchFamily="18" charset="0"/>
                              </a:rPr>
                              <m:t>𝐵</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e>
                    </m:d>
                    <m:r>
                      <a:rPr lang="en-US">
                        <a:latin typeface="Cambria Math" panose="02040503050406030204" pitchFamily="18" charset="0"/>
                      </a:rPr>
                      <m:t>,</m:t>
                    </m:r>
                    <m:r>
                      <m:rPr>
                        <m:sty m:val="p"/>
                      </m:rPr>
                      <a:rPr lang="en-US" b="0" i="0" smtClean="0">
                        <a:latin typeface="Cambria Math" panose="02040503050406030204" pitchFamily="18" charset="0"/>
                      </a:rPr>
                      <m:t>and</m:t>
                    </m:r>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𝑆</m:t>
                        </m:r>
                      </m:e>
                      <m:sub>
                        <m:r>
                          <a:rPr lang="en-US" b="0" i="1" smtClean="0">
                            <a:latin typeface="Cambria Math" panose="02040503050406030204" pitchFamily="18" charset="0"/>
                          </a:rPr>
                          <m:t>𝐶</m:t>
                        </m:r>
                      </m:sub>
                    </m:sSub>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sSub>
                          <m:sSubPr>
                            <m:ctrlPr>
                              <a:rPr lang="en-US" i="1">
                                <a:latin typeface="Cambria Math" panose="02040503050406030204" pitchFamily="18" charset="0"/>
                              </a:rPr>
                            </m:ctrlPr>
                          </m:sSubPr>
                          <m:e>
                            <m:r>
                              <a:rPr lang="en-US" i="1">
                                <a:latin typeface="Cambria Math" panose="02040503050406030204" pitchFamily="18" charset="0"/>
                              </a:rPr>
                              <m:t>𝑓</m:t>
                            </m:r>
                          </m:e>
                          <m:sub>
                            <m:r>
                              <a:rPr lang="en-US" i="1">
                                <a:latin typeface="Cambria Math" panose="02040503050406030204" pitchFamily="18" charset="0"/>
                              </a:rPr>
                              <m:t>𝑠</m:t>
                            </m:r>
                          </m:sub>
                        </m:sSub>
                      </m:sup>
                    </m:sSup>
                    <m:r>
                      <a:rPr lang="en-US" i="1">
                        <a:latin typeface="Cambria Math" panose="02040503050406030204" pitchFamily="18" charset="0"/>
                      </a:rPr>
                      <m:t>|</m:t>
                    </m:r>
                  </m:oMath>
                </a14:m>
                <a:endParaRPr lang="en-US" i="1" dirty="0">
                  <a:latin typeface="Cambria Math" panose="02040503050406030204" pitchFamily="18" charset="0"/>
                </a:endParaRPr>
              </a:p>
              <a:p>
                <a:r>
                  <a:rPr lang="en-US" dirty="0"/>
                  <a:t>We can anymore call them by </a:t>
                </a:r>
                <a14:m>
                  <m:oMath xmlns:m="http://schemas.openxmlformats.org/officeDocument/2006/math">
                    <m:r>
                      <a:rPr lang="en-US" b="0" i="0" smtClean="0">
                        <a:latin typeface="Cambria Math" panose="02040503050406030204" pitchFamily="18" charset="0"/>
                      </a:rPr>
                      <m:t> </m:t>
                    </m:r>
                    <m:sSub>
                      <m:sSubPr>
                        <m:ctrlPr>
                          <a:rPr lang="en-US" b="0" i="1" smtClean="0">
                            <a:latin typeface="Cambria Math" panose="02040503050406030204" pitchFamily="18" charset="0"/>
                          </a:rPr>
                        </m:ctrlPr>
                      </m:sSubPr>
                      <m:e>
                        <m:r>
                          <m:rPr>
                            <m:sty m:val="p"/>
                          </m:rPr>
                          <a:rPr lang="sv-SE" b="0" i="0" smtClean="0">
                            <a:latin typeface="Cambria Math" panose="02040503050406030204" pitchFamily="18" charset="0"/>
                          </a:rPr>
                          <m:t>v</m:t>
                        </m:r>
                      </m:e>
                      <m:sub>
                        <m:r>
                          <m:rPr>
                            <m:sty m:val="p"/>
                          </m:rPr>
                          <a:rPr lang="en-US" b="0" i="0" smtClean="0">
                            <a:latin typeface="Cambria Math" panose="02040503050406030204" pitchFamily="18" charset="0"/>
                          </a:rPr>
                          <m:t>A</m:t>
                        </m:r>
                      </m:sub>
                    </m:sSub>
                  </m:oMath>
                </a14:m>
                <a:r>
                  <a:rPr lang="sv-SE" dirty="0"/>
                  <a:t> , </a:t>
                </a:r>
                <a14:m>
                  <m:oMath xmlns:m="http://schemas.openxmlformats.org/officeDocument/2006/math">
                    <m:sSub>
                      <m:sSubPr>
                        <m:ctrlPr>
                          <a:rPr lang="en-US" i="1">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B</m:t>
                        </m:r>
                      </m:sub>
                    </m:sSub>
                  </m:oMath>
                </a14:m>
                <a:r>
                  <a:rPr lang="sv-SE" dirty="0"/>
                  <a:t> , and </a:t>
                </a:r>
                <a14:m>
                  <m:oMath xmlns:m="http://schemas.openxmlformats.org/officeDocument/2006/math">
                    <m:sSub>
                      <m:sSubPr>
                        <m:ctrlPr>
                          <a:rPr lang="en-US" i="1">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C</m:t>
                        </m:r>
                      </m:sub>
                    </m:sSub>
                    <m:r>
                      <a:rPr lang="en-US" b="0" i="1" smtClean="0">
                        <a:latin typeface="Cambria Math" panose="02040503050406030204" pitchFamily="18" charset="0"/>
                      </a:rPr>
                      <m:t> </m:t>
                    </m:r>
                  </m:oMath>
                </a14:m>
                <a:r>
                  <a:rPr lang="sv-SE" dirty="0"/>
                  <a:t>for ease of representation.</a:t>
                </a:r>
                <a:endParaRPr lang="en-US" dirty="0"/>
              </a:p>
              <a:p>
                <a:r>
                  <a:rPr lang="en-US" dirty="0"/>
                  <a:t>If these vectors creates a triangle, the minimum of the sum could be zero. </a:t>
                </a:r>
              </a:p>
              <a:p>
                <a:r>
                  <a:rPr lang="en-US" dirty="0"/>
                  <a:t>It is easily determined whether these three vectors a triangle by </a:t>
                </a:r>
                <a:r>
                  <a:rPr lang="sv-SE" dirty="0" err="1"/>
                  <a:t>triangle</a:t>
                </a:r>
                <a:endParaRPr lang="sv-SE" dirty="0"/>
              </a:p>
              <a:p>
                <a:r>
                  <a:rPr lang="sv-SE" dirty="0" err="1"/>
                  <a:t>inequality</a:t>
                </a:r>
                <a:r>
                  <a:rPr lang="sv-SE" dirty="0"/>
                  <a:t>. </a:t>
                </a:r>
                <a:endParaRPr lang="en-US" dirty="0"/>
              </a:p>
            </p:txBody>
          </p:sp>
        </mc:Choice>
        <mc:Fallback>
          <p:sp>
            <p:nvSpPr>
              <p:cNvPr id="41" name="TextBox 40"/>
              <p:cNvSpPr txBox="1">
                <a:spLocks noRot="1" noChangeAspect="1" noMove="1" noResize="1" noEditPoints="1" noAdjustHandles="1" noChangeArrowheads="1" noChangeShapeType="1" noTextEdit="1"/>
              </p:cNvSpPr>
              <p:nvPr/>
            </p:nvSpPr>
            <p:spPr>
              <a:xfrm>
                <a:off x="3318562" y="1230252"/>
                <a:ext cx="7335578" cy="1512978"/>
              </a:xfrm>
              <a:prstGeom prst="rect">
                <a:avLst/>
              </a:prstGeom>
              <a:blipFill>
                <a:blip r:embed="rId2"/>
                <a:stretch>
                  <a:fillRect l="-664" t="-806" b="-5645"/>
                </a:stretch>
              </a:blipFill>
            </p:spPr>
            <p:txBody>
              <a:bodyPr/>
              <a:lstStyle/>
              <a:p>
                <a:r>
                  <a:rPr lang="sv-SE">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E329F2A0-7DC8-470C-A880-FA136EC5CE95}"/>
                  </a:ext>
                </a:extLst>
              </p:cNvPr>
              <p:cNvSpPr/>
              <p:nvPr/>
            </p:nvSpPr>
            <p:spPr>
              <a:xfrm>
                <a:off x="3318562" y="2743230"/>
                <a:ext cx="3870419" cy="646331"/>
              </a:xfrm>
              <a:prstGeom prst="rect">
                <a:avLst/>
              </a:prstGeom>
            </p:spPr>
            <p:txBody>
              <a:bodyPr wrap="none">
                <a:spAutoFit/>
              </a:bodyPr>
              <a:lstStyle/>
              <a:p>
                <a:r>
                  <a:rPr lang="en-US" b="1" dirty="0"/>
                  <a:t>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r>
                      <a:rPr lang="en-US" b="1" i="1" smtClean="0">
                        <a:latin typeface="Cambria Math" panose="02040503050406030204" pitchFamily="18" charset="0"/>
                      </a:rPr>
                      <m:t>|</m:t>
                    </m:r>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0" smtClean="0">
                            <a:latin typeface="Cambria Math" panose="02040503050406030204" pitchFamily="18" charset="0"/>
                          </a:rPr>
                          <m:t>𝐂</m:t>
                        </m:r>
                      </m:sub>
                    </m:sSub>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oMath>
                </a14:m>
                <a:r>
                  <a:rPr lang="en-US" b="1" dirty="0"/>
                  <a:t> is satisfied </a:t>
                </a:r>
              </a:p>
              <a:p>
                <a:r>
                  <a:rPr lang="en-US" dirty="0"/>
                  <a:t> </a:t>
                </a:r>
              </a:p>
            </p:txBody>
          </p:sp>
        </mc:Choice>
        <mc:Fallback xmlns="">
          <p:sp>
            <p:nvSpPr>
              <p:cNvPr id="3" name="Rectangle 2">
                <a:extLst>
                  <a:ext uri="{FF2B5EF4-FFF2-40B4-BE49-F238E27FC236}">
                    <a16:creationId xmlns:a16="http://schemas.microsoft.com/office/drawing/2014/main" id="{E329F2A0-7DC8-470C-A880-FA136EC5CE95}"/>
                  </a:ext>
                </a:extLst>
              </p:cNvPr>
              <p:cNvSpPr>
                <a:spLocks noRot="1" noChangeAspect="1" noMove="1" noResize="1" noEditPoints="1" noAdjustHandles="1" noChangeArrowheads="1" noChangeShapeType="1" noTextEdit="1"/>
              </p:cNvSpPr>
              <p:nvPr/>
            </p:nvSpPr>
            <p:spPr>
              <a:xfrm>
                <a:off x="3318562" y="2743230"/>
                <a:ext cx="3870419" cy="646331"/>
              </a:xfrm>
              <a:prstGeom prst="rect">
                <a:avLst/>
              </a:prstGeom>
              <a:blipFill>
                <a:blip r:embed="rId3"/>
                <a:stretch>
                  <a:fillRect l="-1260" t="-4717" r="-31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AD2643C9-41F5-4561-BA2F-54D5D07C3C4D}"/>
              </a:ext>
            </a:extLst>
          </p:cNvPr>
          <p:cNvCxnSpPr>
            <a:cxnSpLocks/>
          </p:cNvCxnSpPr>
          <p:nvPr/>
        </p:nvCxnSpPr>
        <p:spPr>
          <a:xfrm flipV="1">
            <a:off x="4508330" y="3871196"/>
            <a:ext cx="2402546" cy="1689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70B6A6CC-D941-41F7-A041-3AF1EEA7B3BA}"/>
                  </a:ext>
                </a:extLst>
              </p:cNvPr>
              <p:cNvSpPr/>
              <p:nvPr/>
            </p:nvSpPr>
            <p:spPr>
              <a:xfrm>
                <a:off x="2437396" y="1943376"/>
                <a:ext cx="48115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a:latin typeface="Cambria Math" panose="02040503050406030204" pitchFamily="18" charset="0"/>
                            </a:rPr>
                          </m:ctrlPr>
                        </m:sSubPr>
                        <m:e>
                          <m:r>
                            <m:rPr>
                              <m:sty m:val="p"/>
                            </m:rPr>
                            <a:rPr lang="sv-SE">
                              <a:latin typeface="Cambria Math" panose="02040503050406030204" pitchFamily="18" charset="0"/>
                            </a:rPr>
                            <m:t>v</m:t>
                          </m:r>
                        </m:e>
                        <m:sub>
                          <m:r>
                            <m:rPr>
                              <m:sty m:val="p"/>
                            </m:rPr>
                            <a:rPr lang="en-US">
                              <a:latin typeface="Cambria Math" panose="02040503050406030204" pitchFamily="18" charset="0"/>
                            </a:rPr>
                            <m:t>A</m:t>
                          </m:r>
                        </m:sub>
                      </m:sSub>
                    </m:oMath>
                  </m:oMathPara>
                </a14:m>
                <a:endParaRPr lang="en-US" dirty="0"/>
              </a:p>
            </p:txBody>
          </p:sp>
        </mc:Choice>
        <mc:Fallback xmlns="">
          <p:sp>
            <p:nvSpPr>
              <p:cNvPr id="4" name="Rectangle 3">
                <a:extLst>
                  <a:ext uri="{FF2B5EF4-FFF2-40B4-BE49-F238E27FC236}">
                    <a16:creationId xmlns:a16="http://schemas.microsoft.com/office/drawing/2014/main" id="{70B6A6CC-D941-41F7-A041-3AF1EEA7B3BA}"/>
                  </a:ext>
                </a:extLst>
              </p:cNvPr>
              <p:cNvSpPr>
                <a:spLocks noRot="1" noChangeAspect="1" noMove="1" noResize="1" noEditPoints="1" noAdjustHandles="1" noChangeArrowheads="1" noChangeShapeType="1" noTextEdit="1"/>
              </p:cNvSpPr>
              <p:nvPr/>
            </p:nvSpPr>
            <p:spPr>
              <a:xfrm>
                <a:off x="2437396" y="1943376"/>
                <a:ext cx="481157"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D548377-8719-493E-B866-6EA2CA5CE581}"/>
                  </a:ext>
                </a:extLst>
              </p:cNvPr>
              <p:cNvSpPr/>
              <p:nvPr/>
            </p:nvSpPr>
            <p:spPr>
              <a:xfrm>
                <a:off x="1537859" y="1276294"/>
                <a:ext cx="47955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B</m:t>
                          </m:r>
                        </m:sub>
                      </m:sSub>
                    </m:oMath>
                  </m:oMathPara>
                </a14:m>
                <a:endParaRPr lang="en-US" dirty="0"/>
              </a:p>
            </p:txBody>
          </p:sp>
        </mc:Choice>
        <mc:Fallback xmlns="">
          <p:sp>
            <p:nvSpPr>
              <p:cNvPr id="5" name="Rectangle 4">
                <a:extLst>
                  <a:ext uri="{FF2B5EF4-FFF2-40B4-BE49-F238E27FC236}">
                    <a16:creationId xmlns:a16="http://schemas.microsoft.com/office/drawing/2014/main" id="{CD548377-8719-493E-B866-6EA2CA5CE581}"/>
                  </a:ext>
                </a:extLst>
              </p:cNvPr>
              <p:cNvSpPr>
                <a:spLocks noRot="1" noChangeAspect="1" noMove="1" noResize="1" noEditPoints="1" noAdjustHandles="1" noChangeArrowheads="1" noChangeShapeType="1" noTextEdit="1"/>
              </p:cNvSpPr>
              <p:nvPr/>
            </p:nvSpPr>
            <p:spPr>
              <a:xfrm>
                <a:off x="1537859" y="1276294"/>
                <a:ext cx="479554" cy="369332"/>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Rectangle 17">
                <a:extLst>
                  <a:ext uri="{FF2B5EF4-FFF2-40B4-BE49-F238E27FC236}">
                    <a16:creationId xmlns:a16="http://schemas.microsoft.com/office/drawing/2014/main" id="{ED50A725-5E1B-438D-9CD9-40D8391D8ADF}"/>
                  </a:ext>
                </a:extLst>
              </p:cNvPr>
              <p:cNvSpPr/>
              <p:nvPr/>
            </p:nvSpPr>
            <p:spPr>
              <a:xfrm>
                <a:off x="594390" y="2365003"/>
                <a:ext cx="469937"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i="1" smtClean="0">
                              <a:latin typeface="Cambria Math" panose="02040503050406030204" pitchFamily="18" charset="0"/>
                            </a:rPr>
                          </m:ctrlPr>
                        </m:sSubPr>
                        <m:e>
                          <m:r>
                            <m:rPr>
                              <m:sty m:val="p"/>
                            </m:rPr>
                            <a:rPr lang="sv-SE">
                              <a:latin typeface="Cambria Math" panose="02040503050406030204" pitchFamily="18" charset="0"/>
                            </a:rPr>
                            <m:t>v</m:t>
                          </m:r>
                        </m:e>
                        <m:sub>
                          <m:r>
                            <m:rPr>
                              <m:sty m:val="p"/>
                            </m:rPr>
                            <a:rPr lang="en-US" b="0" i="0" smtClean="0">
                              <a:latin typeface="Cambria Math" panose="02040503050406030204" pitchFamily="18" charset="0"/>
                            </a:rPr>
                            <m:t>C</m:t>
                          </m:r>
                        </m:sub>
                      </m:sSub>
                    </m:oMath>
                  </m:oMathPara>
                </a14:m>
                <a:endParaRPr lang="en-US" dirty="0"/>
              </a:p>
            </p:txBody>
          </p:sp>
        </mc:Choice>
        <mc:Fallback xmlns="">
          <p:sp>
            <p:nvSpPr>
              <p:cNvPr id="18" name="Rectangle 17">
                <a:extLst>
                  <a:ext uri="{FF2B5EF4-FFF2-40B4-BE49-F238E27FC236}">
                    <a16:creationId xmlns:a16="http://schemas.microsoft.com/office/drawing/2014/main" id="{ED50A725-5E1B-438D-9CD9-40D8391D8ADF}"/>
                  </a:ext>
                </a:extLst>
              </p:cNvPr>
              <p:cNvSpPr>
                <a:spLocks noRot="1" noChangeAspect="1" noMove="1" noResize="1" noEditPoints="1" noAdjustHandles="1" noChangeArrowheads="1" noChangeShapeType="1" noTextEdit="1"/>
              </p:cNvSpPr>
              <p:nvPr/>
            </p:nvSpPr>
            <p:spPr>
              <a:xfrm>
                <a:off x="594390" y="2365003"/>
                <a:ext cx="469937" cy="369332"/>
              </a:xfrm>
              <a:prstGeom prst="rect">
                <a:avLst/>
              </a:prstGeom>
              <a:blipFill>
                <a:blip r:embed="rId6"/>
                <a:stretch>
                  <a:fillRect/>
                </a:stretch>
              </a:blipFill>
            </p:spPr>
            <p:txBody>
              <a:bodyPr/>
              <a:lstStyle/>
              <a:p>
                <a:r>
                  <a:rPr lang="en-US">
                    <a:noFill/>
                  </a:rPr>
                  <a:t> </a:t>
                </a:r>
              </a:p>
            </p:txBody>
          </p:sp>
        </mc:Fallback>
      </mc:AlternateContent>
      <p:cxnSp>
        <p:nvCxnSpPr>
          <p:cNvPr id="19" name="Straight Arrow Connector 18">
            <a:extLst>
              <a:ext uri="{FF2B5EF4-FFF2-40B4-BE49-F238E27FC236}">
                <a16:creationId xmlns:a16="http://schemas.microsoft.com/office/drawing/2014/main" id="{AAACAC1D-917A-4182-9A23-E49D507EFDDC}"/>
              </a:ext>
            </a:extLst>
          </p:cNvPr>
          <p:cNvCxnSpPr>
            <a:cxnSpLocks/>
          </p:cNvCxnSpPr>
          <p:nvPr/>
        </p:nvCxnSpPr>
        <p:spPr>
          <a:xfrm flipV="1">
            <a:off x="6880550" y="3123965"/>
            <a:ext cx="963606" cy="735348"/>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79B8392-0229-4F99-880A-C1847A5045F6}"/>
              </a:ext>
            </a:extLst>
          </p:cNvPr>
          <p:cNvCxnSpPr>
            <a:cxnSpLocks/>
          </p:cNvCxnSpPr>
          <p:nvPr/>
        </p:nvCxnSpPr>
        <p:spPr>
          <a:xfrm flipH="1">
            <a:off x="4508330" y="3123965"/>
            <a:ext cx="3286466" cy="73534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AE3E0BFE-22D9-4A13-99FC-D329682B92D3}"/>
              </a:ext>
            </a:extLst>
          </p:cNvPr>
          <p:cNvSpPr/>
          <p:nvPr/>
        </p:nvSpPr>
        <p:spPr>
          <a:xfrm rot="2203924">
            <a:off x="6972403" y="3730528"/>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sp>
        <p:nvSpPr>
          <p:cNvPr id="31" name="Arc 30">
            <a:extLst>
              <a:ext uri="{FF2B5EF4-FFF2-40B4-BE49-F238E27FC236}">
                <a16:creationId xmlns:a16="http://schemas.microsoft.com/office/drawing/2014/main" id="{7FD4CE10-858C-4ED5-AA94-9F99AC7E8DD9}"/>
              </a:ext>
            </a:extLst>
          </p:cNvPr>
          <p:cNvSpPr/>
          <p:nvPr/>
        </p:nvSpPr>
        <p:spPr>
          <a:xfrm rot="8638307">
            <a:off x="4224792" y="3676155"/>
            <a:ext cx="538984" cy="281832"/>
          </a:xfrm>
          <a:prstGeom prst="arc">
            <a:avLst>
              <a:gd name="adj1" fmla="val 15923001"/>
              <a:gd name="adj2" fmla="val 21419193"/>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289C501-5BD9-4361-8019-C1DEC65E998C}"/>
                  </a:ext>
                </a:extLst>
              </p:cNvPr>
              <p:cNvSpPr txBox="1"/>
              <p:nvPr/>
            </p:nvSpPr>
            <p:spPr>
              <a:xfrm>
                <a:off x="3318562" y="4331281"/>
                <a:ext cx="6245816" cy="369332"/>
              </a:xfrm>
              <a:prstGeom prst="rect">
                <a:avLst/>
              </a:prstGeom>
              <a:noFill/>
            </p:spPr>
            <p:txBody>
              <a:bodyPr wrap="square" rtlCol="0">
                <a:spAutoFit/>
              </a:bodyPr>
              <a:lstStyle/>
              <a:p>
                <a:r>
                  <a:rPr lang="en-US" dirty="0">
                    <a:solidFill>
                      <a:srgbClr val="FF0000"/>
                    </a:solidFill>
                  </a:rPr>
                  <a:t>Apply cosine and sine  theorems to find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oMath>
                </a14:m>
                <a:r>
                  <a:rPr lang="en-US" dirty="0">
                    <a:solidFill>
                      <a:srgbClr val="FF0000"/>
                    </a:solidFill>
                  </a:rPr>
                  <a:t> </a:t>
                </a:r>
              </a:p>
            </p:txBody>
          </p:sp>
        </mc:Choice>
        <mc:Fallback xmlns="">
          <p:sp>
            <p:nvSpPr>
              <p:cNvPr id="30" name="TextBox 29">
                <a:extLst>
                  <a:ext uri="{FF2B5EF4-FFF2-40B4-BE49-F238E27FC236}">
                    <a16:creationId xmlns:a16="http://schemas.microsoft.com/office/drawing/2014/main" id="{8289C501-5BD9-4361-8019-C1DEC65E998C}"/>
                  </a:ext>
                </a:extLst>
              </p:cNvPr>
              <p:cNvSpPr txBox="1">
                <a:spLocks noRot="1" noChangeAspect="1" noMove="1" noResize="1" noEditPoints="1" noAdjustHandles="1" noChangeArrowheads="1" noChangeShapeType="1" noTextEdit="1"/>
              </p:cNvSpPr>
              <p:nvPr/>
            </p:nvSpPr>
            <p:spPr>
              <a:xfrm>
                <a:off x="3318562" y="4331281"/>
                <a:ext cx="6245816" cy="369332"/>
              </a:xfrm>
              <a:prstGeom prst="rect">
                <a:avLst/>
              </a:prstGeom>
              <a:blipFill>
                <a:blip r:embed="rId7"/>
                <a:stretch>
                  <a:fillRect l="-780" t="-10000" b="-26667"/>
                </a:stretch>
              </a:blipFill>
            </p:spPr>
            <p:txBody>
              <a:bodyPr/>
              <a:lstStyle/>
              <a:p>
                <a:r>
                  <a:rPr lang="en-US">
                    <a:noFill/>
                  </a:rPr>
                  <a:t> </a:t>
                </a:r>
              </a:p>
            </p:txBody>
          </p:sp>
        </mc:Fallback>
      </mc:AlternateContent>
      <p:cxnSp>
        <p:nvCxnSpPr>
          <p:cNvPr id="7" name="Straight Connector 6">
            <a:extLst>
              <a:ext uri="{FF2B5EF4-FFF2-40B4-BE49-F238E27FC236}">
                <a16:creationId xmlns:a16="http://schemas.microsoft.com/office/drawing/2014/main" id="{E918424A-0EB3-40BB-A40E-6D0DC5D29AED}"/>
              </a:ext>
            </a:extLst>
          </p:cNvPr>
          <p:cNvCxnSpPr>
            <a:cxnSpLocks/>
          </p:cNvCxnSpPr>
          <p:nvPr/>
        </p:nvCxnSpPr>
        <p:spPr>
          <a:xfrm>
            <a:off x="6880550" y="3878329"/>
            <a:ext cx="101448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82DD5A5E-2BF7-4102-93E5-28B1A971EE38}"/>
                  </a:ext>
                </a:extLst>
              </p:cNvPr>
              <p:cNvSpPr/>
              <p:nvPr/>
            </p:nvSpPr>
            <p:spPr>
              <a:xfrm>
                <a:off x="7347783" y="3471103"/>
                <a:ext cx="625108"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𝐶𝐵</m:t>
                        </m:r>
                      </m:sub>
                    </m:sSub>
                  </m:oMath>
                </a14:m>
                <a:r>
                  <a:rPr lang="en-US" dirty="0">
                    <a:solidFill>
                      <a:srgbClr val="FF0000"/>
                    </a:solidFill>
                  </a:rPr>
                  <a:t> </a:t>
                </a:r>
              </a:p>
            </p:txBody>
          </p:sp>
        </mc:Choice>
        <mc:Fallback xmlns="">
          <p:sp>
            <p:nvSpPr>
              <p:cNvPr id="9" name="Rectangle 8">
                <a:extLst>
                  <a:ext uri="{FF2B5EF4-FFF2-40B4-BE49-F238E27FC236}">
                    <a16:creationId xmlns:a16="http://schemas.microsoft.com/office/drawing/2014/main" id="{82DD5A5E-2BF7-4102-93E5-28B1A971EE38}"/>
                  </a:ext>
                </a:extLst>
              </p:cNvPr>
              <p:cNvSpPr>
                <a:spLocks noRot="1" noChangeAspect="1" noMove="1" noResize="1" noEditPoints="1" noAdjustHandles="1" noChangeArrowheads="1" noChangeShapeType="1" noTextEdit="1"/>
              </p:cNvSpPr>
              <p:nvPr/>
            </p:nvSpPr>
            <p:spPr>
              <a:xfrm>
                <a:off x="7347783" y="3471103"/>
                <a:ext cx="625108" cy="369332"/>
              </a:xfrm>
              <a:prstGeom prst="rect">
                <a:avLst/>
              </a:prstGeom>
              <a:blipFill>
                <a:blip r:embed="rId8"/>
                <a:stretch>
                  <a:fillRect l="-1942" b="-11475"/>
                </a:stretch>
              </a:blipFill>
            </p:spPr>
            <p:txBody>
              <a:bodyPr/>
              <a:lstStyle/>
              <a:p>
                <a:r>
                  <a:rPr lang="en-US">
                    <a:noFill/>
                  </a:rPr>
                  <a:t> </a:t>
                </a:r>
              </a:p>
            </p:txBody>
          </p:sp>
        </mc:Fallback>
      </mc:AlternateContent>
      <p:cxnSp>
        <p:nvCxnSpPr>
          <p:cNvPr id="28" name="Straight Connector 27">
            <a:extLst>
              <a:ext uri="{FF2B5EF4-FFF2-40B4-BE49-F238E27FC236}">
                <a16:creationId xmlns:a16="http://schemas.microsoft.com/office/drawing/2014/main" id="{B9BC1178-E83C-4DCF-8CBA-D0E5384E82B4}"/>
              </a:ext>
            </a:extLst>
          </p:cNvPr>
          <p:cNvCxnSpPr>
            <a:cxnSpLocks/>
          </p:cNvCxnSpPr>
          <p:nvPr/>
        </p:nvCxnSpPr>
        <p:spPr>
          <a:xfrm flipV="1">
            <a:off x="3641862" y="3859314"/>
            <a:ext cx="915630" cy="260558"/>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842DFA2B-D0C8-43F2-84D2-0C73D7061155}"/>
                  </a:ext>
                </a:extLst>
              </p:cNvPr>
              <p:cNvSpPr/>
              <p:nvPr/>
            </p:nvSpPr>
            <p:spPr>
              <a:xfrm>
                <a:off x="4451339" y="3873386"/>
                <a:ext cx="616772"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oMath>
                </a14:m>
                <a:r>
                  <a:rPr lang="en-US" dirty="0">
                    <a:solidFill>
                      <a:srgbClr val="FF0000"/>
                    </a:solidFill>
                  </a:rPr>
                  <a:t> </a:t>
                </a:r>
              </a:p>
            </p:txBody>
          </p:sp>
        </mc:Choice>
        <mc:Fallback xmlns="">
          <p:sp>
            <p:nvSpPr>
              <p:cNvPr id="36" name="Rectangle 35">
                <a:extLst>
                  <a:ext uri="{FF2B5EF4-FFF2-40B4-BE49-F238E27FC236}">
                    <a16:creationId xmlns:a16="http://schemas.microsoft.com/office/drawing/2014/main" id="{842DFA2B-D0C8-43F2-84D2-0C73D7061155}"/>
                  </a:ext>
                </a:extLst>
              </p:cNvPr>
              <p:cNvSpPr>
                <a:spLocks noRot="1" noChangeAspect="1" noMove="1" noResize="1" noEditPoints="1" noAdjustHandles="1" noChangeArrowheads="1" noChangeShapeType="1" noTextEdit="1"/>
              </p:cNvSpPr>
              <p:nvPr/>
            </p:nvSpPr>
            <p:spPr>
              <a:xfrm>
                <a:off x="4451339" y="3873386"/>
                <a:ext cx="616772" cy="369332"/>
              </a:xfrm>
              <a:prstGeom prst="rect">
                <a:avLst/>
              </a:prstGeom>
              <a:blipFill>
                <a:blip r:embed="rId9"/>
                <a:stretch>
                  <a:fillRect l="-1980" t="-8197" r="-891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Rectangle 36">
                <a:extLst>
                  <a:ext uri="{FF2B5EF4-FFF2-40B4-BE49-F238E27FC236}">
                    <a16:creationId xmlns:a16="http://schemas.microsoft.com/office/drawing/2014/main" id="{B57B76FD-2D10-4F8C-9066-046A3D310D53}"/>
                  </a:ext>
                </a:extLst>
              </p:cNvPr>
              <p:cNvSpPr/>
              <p:nvPr/>
            </p:nvSpPr>
            <p:spPr>
              <a:xfrm>
                <a:off x="3243093" y="4604829"/>
                <a:ext cx="2939972"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xmlns="">
          <p:sp>
            <p:nvSpPr>
              <p:cNvPr id="37" name="Rectangle 36">
                <a:extLst>
                  <a:ext uri="{FF2B5EF4-FFF2-40B4-BE49-F238E27FC236}">
                    <a16:creationId xmlns:a16="http://schemas.microsoft.com/office/drawing/2014/main" id="{B57B76FD-2D10-4F8C-9066-046A3D310D53}"/>
                  </a:ext>
                </a:extLst>
              </p:cNvPr>
              <p:cNvSpPr>
                <a:spLocks noRot="1" noChangeAspect="1" noMove="1" noResize="1" noEditPoints="1" noAdjustHandles="1" noChangeArrowheads="1" noChangeShapeType="1" noTextEdit="1"/>
              </p:cNvSpPr>
              <p:nvPr/>
            </p:nvSpPr>
            <p:spPr>
              <a:xfrm>
                <a:off x="3243093" y="4604829"/>
                <a:ext cx="2939972" cy="646331"/>
              </a:xfrm>
              <a:prstGeom prst="rect">
                <a:avLst/>
              </a:prstGeom>
              <a:blipFill>
                <a:blip r:embed="rId10"/>
                <a:stretch>
                  <a:fillRect l="-1660" t="-471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2A873941-A096-45C6-A860-287C4FE9FE4D}"/>
                  </a:ext>
                </a:extLst>
              </p:cNvPr>
              <p:cNvSpPr txBox="1"/>
              <p:nvPr/>
            </p:nvSpPr>
            <p:spPr>
              <a:xfrm>
                <a:off x="3272012" y="4913389"/>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49" name="TextBox 48">
                <a:extLst>
                  <a:ext uri="{FF2B5EF4-FFF2-40B4-BE49-F238E27FC236}">
                    <a16:creationId xmlns:a16="http://schemas.microsoft.com/office/drawing/2014/main" id="{2A873941-A096-45C6-A860-287C4FE9FE4D}"/>
                  </a:ext>
                </a:extLst>
              </p:cNvPr>
              <p:cNvSpPr txBox="1">
                <a:spLocks noRot="1" noChangeAspect="1" noMove="1" noResize="1" noEditPoints="1" noAdjustHandles="1" noChangeArrowheads="1" noChangeShapeType="1" noTextEdit="1"/>
              </p:cNvSpPr>
              <p:nvPr/>
            </p:nvSpPr>
            <p:spPr>
              <a:xfrm>
                <a:off x="3272012" y="4913389"/>
                <a:ext cx="6245816" cy="369332"/>
              </a:xfrm>
              <a:prstGeom prst="rect">
                <a:avLst/>
              </a:prstGeom>
              <a:blipFill>
                <a:blip r:embed="rId11"/>
                <a:stretch>
                  <a:fillRect l="-293"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Rectangle 49">
                <a:extLst>
                  <a:ext uri="{FF2B5EF4-FFF2-40B4-BE49-F238E27FC236}">
                    <a16:creationId xmlns:a16="http://schemas.microsoft.com/office/drawing/2014/main" id="{BAC192F1-FC6D-4326-AB4B-1A56AE6E22A0}"/>
                  </a:ext>
                </a:extLst>
              </p:cNvPr>
              <p:cNvSpPr/>
              <p:nvPr/>
            </p:nvSpPr>
            <p:spPr>
              <a:xfrm>
                <a:off x="3325129" y="5304813"/>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xmlns="">
          <p:sp>
            <p:nvSpPr>
              <p:cNvPr id="50" name="Rectangle 49">
                <a:extLst>
                  <a:ext uri="{FF2B5EF4-FFF2-40B4-BE49-F238E27FC236}">
                    <a16:creationId xmlns:a16="http://schemas.microsoft.com/office/drawing/2014/main" id="{BAC192F1-FC6D-4326-AB4B-1A56AE6E22A0}"/>
                  </a:ext>
                </a:extLst>
              </p:cNvPr>
              <p:cNvSpPr>
                <a:spLocks noRot="1" noChangeAspect="1" noMove="1" noResize="1" noEditPoints="1" noAdjustHandles="1" noChangeArrowheads="1" noChangeShapeType="1" noTextEdit="1"/>
              </p:cNvSpPr>
              <p:nvPr/>
            </p:nvSpPr>
            <p:spPr>
              <a:xfrm>
                <a:off x="3325129" y="5304813"/>
                <a:ext cx="2983253" cy="646331"/>
              </a:xfrm>
              <a:prstGeom prst="rect">
                <a:avLst/>
              </a:prstGeom>
              <a:blipFill>
                <a:blip r:embed="rId12"/>
                <a:stretch>
                  <a:fillRect l="-1633" t="-4717"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F335ED28-4CE1-49C9-8CBB-36A404F4C5A1}"/>
                  </a:ext>
                </a:extLst>
              </p:cNvPr>
              <p:cNvSpPr txBox="1"/>
              <p:nvPr/>
            </p:nvSpPr>
            <p:spPr>
              <a:xfrm>
                <a:off x="3272012" y="5646103"/>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52" name="TextBox 51">
                <a:extLst>
                  <a:ext uri="{FF2B5EF4-FFF2-40B4-BE49-F238E27FC236}">
                    <a16:creationId xmlns:a16="http://schemas.microsoft.com/office/drawing/2014/main" id="{F335ED28-4CE1-49C9-8CBB-36A404F4C5A1}"/>
                  </a:ext>
                </a:extLst>
              </p:cNvPr>
              <p:cNvSpPr txBox="1">
                <a:spLocks noRot="1" noChangeAspect="1" noMove="1" noResize="1" noEditPoints="1" noAdjustHandles="1" noChangeArrowheads="1" noChangeShapeType="1" noTextEdit="1"/>
              </p:cNvSpPr>
              <p:nvPr/>
            </p:nvSpPr>
            <p:spPr>
              <a:xfrm>
                <a:off x="3272012" y="5646103"/>
                <a:ext cx="6245816" cy="369332"/>
              </a:xfrm>
              <a:prstGeom prst="rect">
                <a:avLst/>
              </a:prstGeom>
              <a:blipFill>
                <a:blip r:embed="rId13"/>
                <a:stretch>
                  <a:fillRect l="-293" t="-8197" b="-24590"/>
                </a:stretch>
              </a:blipFill>
            </p:spPr>
            <p:txBody>
              <a:bodyPr/>
              <a:lstStyle/>
              <a:p>
                <a:r>
                  <a:rPr lang="en-US">
                    <a:noFill/>
                  </a:rPr>
                  <a:t> </a:t>
                </a:r>
              </a:p>
            </p:txBody>
          </p:sp>
        </mc:Fallback>
      </mc:AlternateContent>
      <p:cxnSp>
        <p:nvCxnSpPr>
          <p:cNvPr id="53" name="Straight Arrow Connector 52">
            <a:extLst>
              <a:ext uri="{FF2B5EF4-FFF2-40B4-BE49-F238E27FC236}">
                <a16:creationId xmlns:a16="http://schemas.microsoft.com/office/drawing/2014/main" id="{526D2690-0EE3-4221-A726-69D2AB1F057C}"/>
              </a:ext>
            </a:extLst>
          </p:cNvPr>
          <p:cNvCxnSpPr>
            <a:cxnSpLocks/>
          </p:cNvCxnSpPr>
          <p:nvPr/>
        </p:nvCxnSpPr>
        <p:spPr>
          <a:xfrm>
            <a:off x="6649173" y="5047517"/>
            <a:ext cx="2346896"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B232957C-D6E3-4D8C-9526-0A27C078B5C1}"/>
              </a:ext>
            </a:extLst>
          </p:cNvPr>
          <p:cNvCxnSpPr>
            <a:cxnSpLocks/>
          </p:cNvCxnSpPr>
          <p:nvPr/>
        </p:nvCxnSpPr>
        <p:spPr>
          <a:xfrm flipH="1" flipV="1">
            <a:off x="8131056" y="4940141"/>
            <a:ext cx="865014" cy="1"/>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56" name="Straight Arrow Connector 55">
            <a:extLst>
              <a:ext uri="{FF2B5EF4-FFF2-40B4-BE49-F238E27FC236}">
                <a16:creationId xmlns:a16="http://schemas.microsoft.com/office/drawing/2014/main" id="{EA755440-DDE9-4B7F-B44C-28CC75E7173E}"/>
              </a:ext>
            </a:extLst>
          </p:cNvPr>
          <p:cNvCxnSpPr>
            <a:cxnSpLocks/>
          </p:cNvCxnSpPr>
          <p:nvPr/>
        </p:nvCxnSpPr>
        <p:spPr>
          <a:xfrm flipH="1" flipV="1">
            <a:off x="6906457" y="4932014"/>
            <a:ext cx="1224599" cy="9115"/>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164349F-6FC2-466A-8DB7-CE4520F2BAA3}"/>
              </a:ext>
            </a:extLst>
          </p:cNvPr>
          <p:cNvCxnSpPr>
            <a:cxnSpLocks/>
          </p:cNvCxnSpPr>
          <p:nvPr/>
        </p:nvCxnSpPr>
        <p:spPr>
          <a:xfrm>
            <a:off x="6649173" y="5710937"/>
            <a:ext cx="2346896" cy="0"/>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CA4EFF0A-C21C-4280-BF19-62BAE5228F1D}"/>
              </a:ext>
            </a:extLst>
          </p:cNvPr>
          <p:cNvCxnSpPr>
            <a:cxnSpLocks/>
          </p:cNvCxnSpPr>
          <p:nvPr/>
        </p:nvCxnSpPr>
        <p:spPr>
          <a:xfrm flipH="1" flipV="1">
            <a:off x="8131056" y="5603561"/>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0ADD34A9-80C5-4AB1-AF23-641660505BA6}"/>
              </a:ext>
            </a:extLst>
          </p:cNvPr>
          <p:cNvCxnSpPr>
            <a:cxnSpLocks/>
          </p:cNvCxnSpPr>
          <p:nvPr/>
        </p:nvCxnSpPr>
        <p:spPr>
          <a:xfrm flipH="1" flipV="1">
            <a:off x="6906457" y="5595434"/>
            <a:ext cx="1224599" cy="9115"/>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3" name="Rectangle 62">
                <a:extLst>
                  <a:ext uri="{FF2B5EF4-FFF2-40B4-BE49-F238E27FC236}">
                    <a16:creationId xmlns:a16="http://schemas.microsoft.com/office/drawing/2014/main" id="{E91BF1FD-2245-4652-BE6B-793F0273C841}"/>
                  </a:ext>
                </a:extLst>
              </p:cNvPr>
              <p:cNvSpPr/>
              <p:nvPr/>
            </p:nvSpPr>
            <p:spPr>
              <a:xfrm>
                <a:off x="3325129" y="5973236"/>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oMath>
                </a14:m>
                <a:endParaRPr lang="en-US" b="1" dirty="0"/>
              </a:p>
              <a:p>
                <a:r>
                  <a:rPr lang="en-US" dirty="0"/>
                  <a:t> </a:t>
                </a:r>
              </a:p>
            </p:txBody>
          </p:sp>
        </mc:Choice>
        <mc:Fallback xmlns="">
          <p:sp>
            <p:nvSpPr>
              <p:cNvPr id="63" name="Rectangle 62">
                <a:extLst>
                  <a:ext uri="{FF2B5EF4-FFF2-40B4-BE49-F238E27FC236}">
                    <a16:creationId xmlns:a16="http://schemas.microsoft.com/office/drawing/2014/main" id="{E91BF1FD-2245-4652-BE6B-793F0273C841}"/>
                  </a:ext>
                </a:extLst>
              </p:cNvPr>
              <p:cNvSpPr>
                <a:spLocks noRot="1" noChangeAspect="1" noMove="1" noResize="1" noEditPoints="1" noAdjustHandles="1" noChangeArrowheads="1" noChangeShapeType="1" noTextEdit="1"/>
              </p:cNvSpPr>
              <p:nvPr/>
            </p:nvSpPr>
            <p:spPr>
              <a:xfrm>
                <a:off x="3325129" y="5973236"/>
                <a:ext cx="2983253" cy="646331"/>
              </a:xfrm>
              <a:prstGeom prst="rect">
                <a:avLst/>
              </a:prstGeom>
              <a:blipFill>
                <a:blip r:embed="rId14"/>
                <a:stretch>
                  <a:fillRect l="-1633" t="-566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5" name="TextBox 64">
                <a:extLst>
                  <a:ext uri="{FF2B5EF4-FFF2-40B4-BE49-F238E27FC236}">
                    <a16:creationId xmlns:a16="http://schemas.microsoft.com/office/drawing/2014/main" id="{BFB64064-1CDB-4B2A-9195-D4F43C5973A3}"/>
                  </a:ext>
                </a:extLst>
              </p:cNvPr>
              <p:cNvSpPr txBox="1"/>
              <p:nvPr/>
            </p:nvSpPr>
            <p:spPr>
              <a:xfrm>
                <a:off x="3325129" y="6264091"/>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xmlns="">
          <p:sp>
            <p:nvSpPr>
              <p:cNvPr id="65" name="TextBox 64">
                <a:extLst>
                  <a:ext uri="{FF2B5EF4-FFF2-40B4-BE49-F238E27FC236}">
                    <a16:creationId xmlns:a16="http://schemas.microsoft.com/office/drawing/2014/main" id="{BFB64064-1CDB-4B2A-9195-D4F43C5973A3}"/>
                  </a:ext>
                </a:extLst>
              </p:cNvPr>
              <p:cNvSpPr txBox="1">
                <a:spLocks noRot="1" noChangeAspect="1" noMove="1" noResize="1" noEditPoints="1" noAdjustHandles="1" noChangeArrowheads="1" noChangeShapeType="1" noTextEdit="1"/>
              </p:cNvSpPr>
              <p:nvPr/>
            </p:nvSpPr>
            <p:spPr>
              <a:xfrm>
                <a:off x="3325129" y="6264091"/>
                <a:ext cx="6245816" cy="369332"/>
              </a:xfrm>
              <a:prstGeom prst="rect">
                <a:avLst/>
              </a:prstGeom>
              <a:blipFill>
                <a:blip r:embed="rId15"/>
                <a:stretch>
                  <a:fillRect l="-195" t="-10000" b="-26667"/>
                </a:stretch>
              </a:blipFill>
            </p:spPr>
            <p:txBody>
              <a:bodyPr/>
              <a:lstStyle/>
              <a:p>
                <a:r>
                  <a:rPr lang="en-US">
                    <a:noFill/>
                  </a:rPr>
                  <a:t> </a:t>
                </a:r>
              </a:p>
            </p:txBody>
          </p:sp>
        </mc:Fallback>
      </mc:AlternateContent>
      <p:cxnSp>
        <p:nvCxnSpPr>
          <p:cNvPr id="66" name="Straight Arrow Connector 65">
            <a:extLst>
              <a:ext uri="{FF2B5EF4-FFF2-40B4-BE49-F238E27FC236}">
                <a16:creationId xmlns:a16="http://schemas.microsoft.com/office/drawing/2014/main" id="{4B82BDF3-273F-49E2-ACA9-F3F12BD23619}"/>
              </a:ext>
            </a:extLst>
          </p:cNvPr>
          <p:cNvCxnSpPr>
            <a:cxnSpLocks/>
          </p:cNvCxnSpPr>
          <p:nvPr/>
        </p:nvCxnSpPr>
        <p:spPr>
          <a:xfrm>
            <a:off x="6649172" y="6368021"/>
            <a:ext cx="2346896" cy="0"/>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8B95C53-4E6A-488F-8647-0B299F9F6ED1}"/>
              </a:ext>
            </a:extLst>
          </p:cNvPr>
          <p:cNvCxnSpPr>
            <a:cxnSpLocks/>
          </p:cNvCxnSpPr>
          <p:nvPr/>
        </p:nvCxnSpPr>
        <p:spPr>
          <a:xfrm flipH="1" flipV="1">
            <a:off x="8131055" y="6260645"/>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8579418-0FDB-4272-A530-62E962386062}"/>
              </a:ext>
            </a:extLst>
          </p:cNvPr>
          <p:cNvCxnSpPr>
            <a:cxnSpLocks/>
          </p:cNvCxnSpPr>
          <p:nvPr/>
        </p:nvCxnSpPr>
        <p:spPr>
          <a:xfrm flipH="1" flipV="1">
            <a:off x="6906456" y="6252518"/>
            <a:ext cx="1224599" cy="9115"/>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49852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0298" y="220070"/>
            <a:ext cx="8786024" cy="1325563"/>
          </a:xfrm>
        </p:spPr>
        <p:txBody>
          <a:bodyPr/>
          <a:lstStyle/>
          <a:p>
            <a:r>
              <a:rPr lang="en-US" dirty="0">
                <a:solidFill>
                  <a:srgbClr val="C00000"/>
                </a:solidFill>
              </a:rPr>
              <a:t>Mathematical Modelling</a:t>
            </a:r>
            <a:endParaRPr lang="sv-SE" dirty="0"/>
          </a:p>
        </p:txBody>
      </p:sp>
      <mc:AlternateContent xmlns:mc="http://schemas.openxmlformats.org/markup-compatibility/2006" xmlns:a14="http://schemas.microsoft.com/office/drawing/2010/main">
        <mc:Choice Requires="a14">
          <p:sp>
            <p:nvSpPr>
              <p:cNvPr id="20" name="TextBox 19"/>
              <p:cNvSpPr txBox="1"/>
              <p:nvPr/>
            </p:nvSpPr>
            <p:spPr>
              <a:xfrm>
                <a:off x="6252312" y="2269934"/>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oMath>
                  </m:oMathPara>
                </a14:m>
                <a:endParaRPr lang="sv-SE" dirty="0"/>
              </a:p>
            </p:txBody>
          </p:sp>
        </mc:Choice>
        <mc:Fallback xmlns="">
          <p:sp>
            <p:nvSpPr>
              <p:cNvPr id="20" name="TextBox 19"/>
              <p:cNvSpPr txBox="1">
                <a:spLocks noRot="1" noChangeAspect="1" noMove="1" noResize="1" noEditPoints="1" noAdjustHandles="1" noChangeArrowheads="1" noChangeShapeType="1" noTextEdit="1"/>
              </p:cNvSpPr>
              <p:nvPr/>
            </p:nvSpPr>
            <p:spPr>
              <a:xfrm>
                <a:off x="6252312" y="2269934"/>
                <a:ext cx="601661"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p:cNvSpPr txBox="1"/>
              <p:nvPr/>
            </p:nvSpPr>
            <p:spPr>
              <a:xfrm>
                <a:off x="5237831" y="2324171"/>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oMath>
                  </m:oMathPara>
                </a14:m>
                <a:endParaRPr lang="sv-SE" dirty="0"/>
              </a:p>
            </p:txBody>
          </p:sp>
        </mc:Choice>
        <mc:Fallback xmlns="">
          <p:sp>
            <p:nvSpPr>
              <p:cNvPr id="24" name="TextBox 23"/>
              <p:cNvSpPr txBox="1">
                <a:spLocks noRot="1" noChangeAspect="1" noMove="1" noResize="1" noEditPoints="1" noAdjustHandles="1" noChangeArrowheads="1" noChangeShapeType="1" noTextEdit="1"/>
              </p:cNvSpPr>
              <p:nvPr/>
            </p:nvSpPr>
            <p:spPr>
              <a:xfrm>
                <a:off x="5237831" y="2324171"/>
                <a:ext cx="601661"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E329F2A0-7DC8-470C-A880-FA136EC5CE95}"/>
                  </a:ext>
                </a:extLst>
              </p:cNvPr>
              <p:cNvSpPr/>
              <p:nvPr/>
            </p:nvSpPr>
            <p:spPr>
              <a:xfrm>
                <a:off x="3388100" y="1380119"/>
                <a:ext cx="3870419" cy="646331"/>
              </a:xfrm>
              <a:prstGeom prst="rect">
                <a:avLst/>
              </a:prstGeom>
            </p:spPr>
            <p:txBody>
              <a:bodyPr wrap="none">
                <a:spAutoFit/>
              </a:bodyPr>
              <a:lstStyle/>
              <a:p>
                <a:r>
                  <a:rPr lang="en-US" b="1" dirty="0"/>
                  <a:t>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r>
                      <a:rPr lang="en-US" b="1" i="1" smtClean="0">
                        <a:latin typeface="Cambria Math" panose="02040503050406030204" pitchFamily="18" charset="0"/>
                      </a:rPr>
                      <m:t>|</m:t>
                    </m:r>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0" smtClean="0">
                            <a:latin typeface="Cambria Math" panose="02040503050406030204" pitchFamily="18" charset="0"/>
                          </a:rPr>
                          <m:t>𝐂</m:t>
                        </m:r>
                      </m:sub>
                    </m:sSub>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oMath>
                </a14:m>
                <a:r>
                  <a:rPr lang="en-US" b="1" dirty="0"/>
                  <a:t> is satisfied </a:t>
                </a:r>
              </a:p>
              <a:p>
                <a:r>
                  <a:rPr lang="en-US" dirty="0"/>
                  <a:t> </a:t>
                </a:r>
              </a:p>
            </p:txBody>
          </p:sp>
        </mc:Choice>
        <mc:Fallback xmlns="">
          <p:sp>
            <p:nvSpPr>
              <p:cNvPr id="3" name="Rectangle 2">
                <a:extLst>
                  <a:ext uri="{FF2B5EF4-FFF2-40B4-BE49-F238E27FC236}">
                    <a16:creationId xmlns:a16="http://schemas.microsoft.com/office/drawing/2014/main" id="{E329F2A0-7DC8-470C-A880-FA136EC5CE95}"/>
                  </a:ext>
                </a:extLst>
              </p:cNvPr>
              <p:cNvSpPr>
                <a:spLocks noRot="1" noChangeAspect="1" noMove="1" noResize="1" noEditPoints="1" noAdjustHandles="1" noChangeArrowheads="1" noChangeShapeType="1" noTextEdit="1"/>
              </p:cNvSpPr>
              <p:nvPr/>
            </p:nvSpPr>
            <p:spPr>
              <a:xfrm>
                <a:off x="3388100" y="1380119"/>
                <a:ext cx="3870419" cy="646331"/>
              </a:xfrm>
              <a:prstGeom prst="rect">
                <a:avLst/>
              </a:prstGeom>
              <a:blipFill>
                <a:blip r:embed="rId4"/>
                <a:stretch>
                  <a:fillRect l="-1417" t="-4717" r="-315"/>
                </a:stretch>
              </a:blipFill>
            </p:spPr>
            <p:txBody>
              <a:bodyPr/>
              <a:lstStyle/>
              <a:p>
                <a:r>
                  <a:rPr lang="en-US">
                    <a:noFill/>
                  </a:rPr>
                  <a:t> </a:t>
                </a:r>
              </a:p>
            </p:txBody>
          </p:sp>
        </mc:Fallback>
      </mc:AlternateContent>
      <p:cxnSp>
        <p:nvCxnSpPr>
          <p:cNvPr id="17" name="Straight Arrow Connector 16">
            <a:extLst>
              <a:ext uri="{FF2B5EF4-FFF2-40B4-BE49-F238E27FC236}">
                <a16:creationId xmlns:a16="http://schemas.microsoft.com/office/drawing/2014/main" id="{AD2643C9-41F5-4561-BA2F-54D5D07C3C4D}"/>
              </a:ext>
            </a:extLst>
          </p:cNvPr>
          <p:cNvCxnSpPr>
            <a:cxnSpLocks/>
          </p:cNvCxnSpPr>
          <p:nvPr/>
        </p:nvCxnSpPr>
        <p:spPr>
          <a:xfrm flipV="1">
            <a:off x="4281157" y="2676611"/>
            <a:ext cx="2402546" cy="1689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AACAC1D-917A-4182-9A23-E49D507EFDDC}"/>
              </a:ext>
            </a:extLst>
          </p:cNvPr>
          <p:cNvCxnSpPr>
            <a:cxnSpLocks/>
          </p:cNvCxnSpPr>
          <p:nvPr/>
        </p:nvCxnSpPr>
        <p:spPr>
          <a:xfrm flipV="1">
            <a:off x="6653377" y="1929380"/>
            <a:ext cx="963606" cy="735348"/>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779B8392-0229-4F99-880A-C1847A5045F6}"/>
              </a:ext>
            </a:extLst>
          </p:cNvPr>
          <p:cNvCxnSpPr>
            <a:cxnSpLocks/>
          </p:cNvCxnSpPr>
          <p:nvPr/>
        </p:nvCxnSpPr>
        <p:spPr>
          <a:xfrm flipH="1">
            <a:off x="4281157" y="1929380"/>
            <a:ext cx="3286466" cy="754364"/>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23" name="Arc 22">
            <a:extLst>
              <a:ext uri="{FF2B5EF4-FFF2-40B4-BE49-F238E27FC236}">
                <a16:creationId xmlns:a16="http://schemas.microsoft.com/office/drawing/2014/main" id="{AE3E0BFE-22D9-4A13-99FC-D329682B92D3}"/>
              </a:ext>
            </a:extLst>
          </p:cNvPr>
          <p:cNvSpPr/>
          <p:nvPr/>
        </p:nvSpPr>
        <p:spPr>
          <a:xfrm rot="20107918">
            <a:off x="6392306" y="2581254"/>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31" name="Arc 30">
            <a:extLst>
              <a:ext uri="{FF2B5EF4-FFF2-40B4-BE49-F238E27FC236}">
                <a16:creationId xmlns:a16="http://schemas.microsoft.com/office/drawing/2014/main" id="{7FD4CE10-858C-4ED5-AA94-9F99AC7E8DD9}"/>
              </a:ext>
            </a:extLst>
          </p:cNvPr>
          <p:cNvSpPr/>
          <p:nvPr/>
        </p:nvSpPr>
        <p:spPr>
          <a:xfrm rot="1477189">
            <a:off x="4989853" y="2535943"/>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8289C501-5BD9-4361-8019-C1DEC65E998C}"/>
                  </a:ext>
                </a:extLst>
              </p:cNvPr>
              <p:cNvSpPr txBox="1"/>
              <p:nvPr/>
            </p:nvSpPr>
            <p:spPr>
              <a:xfrm>
                <a:off x="115725" y="2985566"/>
                <a:ext cx="4484451" cy="369332"/>
              </a:xfrm>
              <a:prstGeom prst="rect">
                <a:avLst/>
              </a:prstGeom>
              <a:noFill/>
            </p:spPr>
            <p:txBody>
              <a:bodyPr wrap="square" rtlCol="0">
                <a:spAutoFit/>
              </a:bodyPr>
              <a:lstStyle/>
              <a:p>
                <a:r>
                  <a:rPr lang="en-US" dirty="0"/>
                  <a:t>1. Apply cosine theorem to find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𝐶𝐵</m:t>
                        </m:r>
                      </m:sub>
                    </m:sSub>
                  </m:oMath>
                </a14:m>
                <a:r>
                  <a:rPr lang="en-US" dirty="0"/>
                  <a:t> </a:t>
                </a:r>
              </a:p>
            </p:txBody>
          </p:sp>
        </mc:Choice>
        <mc:Fallback xmlns="">
          <p:sp>
            <p:nvSpPr>
              <p:cNvPr id="30" name="TextBox 29">
                <a:extLst>
                  <a:ext uri="{FF2B5EF4-FFF2-40B4-BE49-F238E27FC236}">
                    <a16:creationId xmlns:a16="http://schemas.microsoft.com/office/drawing/2014/main" id="{8289C501-5BD9-4361-8019-C1DEC65E998C}"/>
                  </a:ext>
                </a:extLst>
              </p:cNvPr>
              <p:cNvSpPr txBox="1">
                <a:spLocks noRot="1" noChangeAspect="1" noMove="1" noResize="1" noEditPoints="1" noAdjustHandles="1" noChangeArrowheads="1" noChangeShapeType="1" noTextEdit="1"/>
              </p:cNvSpPr>
              <p:nvPr/>
            </p:nvSpPr>
            <p:spPr>
              <a:xfrm>
                <a:off x="115725" y="2985566"/>
                <a:ext cx="4484451" cy="369332"/>
              </a:xfrm>
              <a:prstGeom prst="rect">
                <a:avLst/>
              </a:prstGeom>
              <a:blipFill>
                <a:blip r:embed="rId5"/>
                <a:stretch>
                  <a:fillRect l="-1223"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5B929946-7996-4003-A4B2-F1264EF9265D}"/>
                  </a:ext>
                </a:extLst>
              </p:cNvPr>
              <p:cNvSpPr txBox="1"/>
              <p:nvPr/>
            </p:nvSpPr>
            <p:spPr>
              <a:xfrm>
                <a:off x="1319497" y="3732426"/>
                <a:ext cx="2799164" cy="284245"/>
              </a:xfrm>
              <a:prstGeom prst="rect">
                <a:avLst/>
              </a:prstGeom>
              <a:noFill/>
            </p:spPr>
            <p:txBody>
              <a:bodyPr wrap="none" lIns="0" tIns="0" rIns="0" bIns="0" rtlCol="0">
                <a:spAutoFit/>
              </a:bodyPr>
              <a:lstStyle/>
              <a:p>
                <a14:m>
                  <m:oMath xmlns:m="http://schemas.openxmlformats.org/officeDocument/2006/math">
                    <m:sSubSup>
                      <m:sSubSupPr>
                        <m:ctrlPr>
                          <a:rPr lang="en-US" i="1" smtClean="0">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𝐴</m:t>
                        </m:r>
                      </m:sub>
                      <m:sup>
                        <m:r>
                          <a:rPr lang="en-US" b="0" i="1" smtClean="0">
                            <a:latin typeface="Cambria Math" panose="02040503050406030204" pitchFamily="18" charset="0"/>
                          </a:rPr>
                          <m:t>2</m:t>
                        </m:r>
                      </m:sup>
                    </m:sSubSup>
                    <m:r>
                      <a:rPr lang="en-US" b="0" i="1" smtClean="0">
                        <a:latin typeface="Cambria Math" panose="02040503050406030204" pitchFamily="18" charset="0"/>
                      </a:rPr>
                      <m:t>+</m:t>
                    </m:r>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smtClean="0">
                            <a:latin typeface="Cambria Math" panose="02040503050406030204" pitchFamily="18" charset="0"/>
                          </a:rPr>
                          <m:t>𝐵</m:t>
                        </m:r>
                      </m:sub>
                      <m:sup>
                        <m:r>
                          <a:rPr lang="en-US" b="0" i="1">
                            <a:latin typeface="Cambria Math" panose="02040503050406030204" pitchFamily="18" charset="0"/>
                          </a:rPr>
                          <m:t>2</m:t>
                        </m:r>
                      </m:sup>
                    </m:sSubSup>
                  </m:oMath>
                </a14:m>
                <a:r>
                  <a:rPr lang="en-US" dirty="0"/>
                  <a:t>-2 </a:t>
                </a:r>
                <a14:m>
                  <m:oMath xmlns:m="http://schemas.openxmlformats.org/officeDocument/2006/math">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smtClean="0">
                            <a:latin typeface="Cambria Math" panose="02040503050406030204" pitchFamily="18" charset="0"/>
                          </a:rPr>
                          <m:t>𝐴</m:t>
                        </m:r>
                      </m:sub>
                    </m:sSub>
                  </m:oMath>
                </a14:m>
                <a:r>
                  <a:rPr lang="en-US" dirty="0"/>
                  <a:t> </a:t>
                </a:r>
                <a14:m>
                  <m:oMath xmlns:m="http://schemas.openxmlformats.org/officeDocument/2006/math">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smtClean="0">
                            <a:latin typeface="Cambria Math" panose="02040503050406030204" pitchFamily="18" charset="0"/>
                          </a:rPr>
                          <m:t>𝐵</m:t>
                        </m:r>
                      </m:sub>
                    </m:sSub>
                    <m:r>
                      <a:rPr lang="en-US" b="0" i="1" smtClean="0">
                        <a:latin typeface="Cambria Math" panose="02040503050406030204" pitchFamily="18" charset="0"/>
                      </a:rPr>
                      <m:t> </m:t>
                    </m:r>
                    <m:r>
                      <a:rPr lang="en-US" b="0" i="1" smtClean="0">
                        <a:latin typeface="Cambria Math" panose="02040503050406030204" pitchFamily="18" charset="0"/>
                      </a:rPr>
                      <m:t>𝑐𝑜𝑠</m:t>
                    </m:r>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oMath>
                </a14:m>
                <a:r>
                  <a:rPr lang="en-US" dirty="0"/>
                  <a:t> = </a:t>
                </a:r>
                <a14:m>
                  <m:oMath xmlns:m="http://schemas.openxmlformats.org/officeDocument/2006/math">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smtClean="0">
                            <a:latin typeface="Cambria Math" panose="02040503050406030204" pitchFamily="18" charset="0"/>
                          </a:rPr>
                          <m:t>𝐶</m:t>
                        </m:r>
                      </m:sub>
                      <m:sup>
                        <m:r>
                          <a:rPr lang="en-US" b="0" i="1">
                            <a:latin typeface="Cambria Math" panose="02040503050406030204" pitchFamily="18" charset="0"/>
                          </a:rPr>
                          <m:t>2</m:t>
                        </m:r>
                      </m:sup>
                    </m:sSubSup>
                  </m:oMath>
                </a14:m>
                <a:endParaRPr lang="en-US" dirty="0"/>
              </a:p>
            </p:txBody>
          </p:sp>
        </mc:Choice>
        <mc:Fallback xmlns="">
          <p:sp>
            <p:nvSpPr>
              <p:cNvPr id="32" name="TextBox 31">
                <a:extLst>
                  <a:ext uri="{FF2B5EF4-FFF2-40B4-BE49-F238E27FC236}">
                    <a16:creationId xmlns:a16="http://schemas.microsoft.com/office/drawing/2014/main" id="{5B929946-7996-4003-A4B2-F1264EF9265D}"/>
                  </a:ext>
                </a:extLst>
              </p:cNvPr>
              <p:cNvSpPr txBox="1">
                <a:spLocks noRot="1" noChangeAspect="1" noMove="1" noResize="1" noEditPoints="1" noAdjustHandles="1" noChangeArrowheads="1" noChangeShapeType="1" noTextEdit="1"/>
              </p:cNvSpPr>
              <p:nvPr/>
            </p:nvSpPr>
            <p:spPr>
              <a:xfrm>
                <a:off x="1319497" y="3732426"/>
                <a:ext cx="2799164" cy="284245"/>
              </a:xfrm>
              <a:prstGeom prst="rect">
                <a:avLst/>
              </a:prstGeom>
              <a:blipFill>
                <a:blip r:embed="rId6"/>
                <a:stretch>
                  <a:fillRect l="-435" t="-23404" r="-870" b="-5106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C0A49FF4-9E2E-4188-AD33-00FC2599CC21}"/>
                  </a:ext>
                </a:extLst>
              </p:cNvPr>
              <p:cNvSpPr txBox="1"/>
              <p:nvPr/>
            </p:nvSpPr>
            <p:spPr>
              <a:xfrm>
                <a:off x="1683588" y="4350505"/>
                <a:ext cx="1844351" cy="476797"/>
              </a:xfrm>
              <a:prstGeom prst="rect">
                <a:avLst/>
              </a:prstGeom>
              <a:noFill/>
            </p:spPr>
            <p:txBody>
              <a:bodyPr wrap="none" lIns="0" tIns="0" rIns="0" bIns="0" rtlCol="0">
                <a:spAutoFit/>
              </a:bodyPr>
              <a:lstStyle/>
              <a:p>
                <a14:m>
                  <m:oMath xmlns:m="http://schemas.openxmlformats.org/officeDocument/2006/math">
                    <m:r>
                      <a:rPr lang="en-US" b="0" i="1" smtClean="0">
                        <a:latin typeface="Cambria Math" panose="02040503050406030204" pitchFamily="18" charset="0"/>
                      </a:rPr>
                      <m:t>𝑐𝑜𝑠</m:t>
                    </m:r>
                    <m:r>
                      <a:rPr lang="en-US" b="0" i="1" smtClean="0">
                        <a:latin typeface="Cambria Math" panose="02040503050406030204" pitchFamily="18" charset="0"/>
                      </a:rPr>
                      <m:t>(</m:t>
                    </m:r>
                    <m:r>
                      <a:rPr lang="en-US" b="0" i="1" smtClean="0">
                        <a:latin typeface="Cambria Math" panose="02040503050406030204" pitchFamily="18" charset="0"/>
                      </a:rPr>
                      <m:t>𝛼</m:t>
                    </m:r>
                    <m:r>
                      <a:rPr lang="en-US" b="0" i="1" smtClean="0">
                        <a:latin typeface="Cambria Math" panose="02040503050406030204" pitchFamily="18" charset="0"/>
                      </a:rPr>
                      <m:t>)</m:t>
                    </m:r>
                  </m:oMath>
                </a14:m>
                <a:r>
                  <a:rPr lang="en-US" dirty="0"/>
                  <a:t> = </a:t>
                </a:r>
                <a14:m>
                  <m:oMath xmlns:m="http://schemas.openxmlformats.org/officeDocument/2006/math">
                    <m:f>
                      <m:fPr>
                        <m:ctrlPr>
                          <a:rPr lang="en-US" i="1" smtClean="0">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𝐴</m:t>
                                </m:r>
                              </m:sub>
                              <m:sup>
                                <m:r>
                                  <a:rPr lang="en-US" b="0" i="1">
                                    <a:latin typeface="Cambria Math" panose="02040503050406030204" pitchFamily="18" charset="0"/>
                                  </a:rPr>
                                  <m:t>2</m:t>
                                </m:r>
                              </m:sup>
                            </m:sSubSup>
                            <m:r>
                              <a:rPr lang="en-US" b="0" i="1">
                                <a:latin typeface="Cambria Math" panose="02040503050406030204" pitchFamily="18" charset="0"/>
                              </a:rPr>
                              <m:t>+</m:t>
                            </m:r>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𝐵</m:t>
                                </m:r>
                              </m:sub>
                              <m:sup>
                                <m:r>
                                  <a:rPr lang="en-US" b="0" i="1">
                                    <a:latin typeface="Cambria Math" panose="02040503050406030204" pitchFamily="18" charset="0"/>
                                  </a:rPr>
                                  <m:t>2</m:t>
                                </m:r>
                              </m:sup>
                            </m:sSubSup>
                            <m:r>
                              <a:rPr lang="en-US" b="0" i="1" smtClean="0">
                                <a:latin typeface="Cambria Math" panose="02040503050406030204" pitchFamily="18" charset="0"/>
                              </a:rPr>
                              <m:t> −</m:t>
                            </m:r>
                            <m:r>
                              <a:rPr lang="sv-SE" b="0" i="1">
                                <a:latin typeface="Cambria Math" panose="02040503050406030204" pitchFamily="18" charset="0"/>
                              </a:rPr>
                              <m:t>𝑣</m:t>
                            </m:r>
                          </m:e>
                          <m:sub>
                            <m:r>
                              <a:rPr lang="en-US" b="0" i="1" smtClean="0">
                                <a:latin typeface="Cambria Math" panose="02040503050406030204" pitchFamily="18" charset="0"/>
                              </a:rPr>
                              <m:t>𝐶</m:t>
                            </m:r>
                          </m:sub>
                          <m:sup>
                            <m:r>
                              <a:rPr lang="en-US" b="0" i="1">
                                <a:latin typeface="Cambria Math" panose="02040503050406030204" pitchFamily="18" charset="0"/>
                              </a:rPr>
                              <m:t>2</m:t>
                            </m:r>
                          </m:sup>
                        </m:sSubSup>
                      </m:num>
                      <m:den>
                        <m:r>
                          <m:rPr>
                            <m:nor/>
                          </m:rPr>
                          <a:rPr lang="en-US" dirty="0"/>
                          <m:t>2 </m:t>
                        </m:r>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a:latin typeface="Cambria Math" panose="02040503050406030204" pitchFamily="18" charset="0"/>
                              </a:rPr>
                              <m:t>𝐴</m:t>
                            </m:r>
                          </m:sub>
                        </m:sSub>
                        <m:r>
                          <m:rPr>
                            <m:nor/>
                          </m:rPr>
                          <a:rPr lang="en-US" dirty="0"/>
                          <m:t> </m:t>
                        </m:r>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a:latin typeface="Cambria Math" panose="02040503050406030204" pitchFamily="18" charset="0"/>
                              </a:rPr>
                              <m:t>𝐵</m:t>
                            </m:r>
                          </m:sub>
                        </m:sSub>
                      </m:den>
                    </m:f>
                  </m:oMath>
                </a14:m>
                <a:endParaRPr lang="en-US" dirty="0"/>
              </a:p>
            </p:txBody>
          </p:sp>
        </mc:Choice>
        <mc:Fallback xmlns="">
          <p:sp>
            <p:nvSpPr>
              <p:cNvPr id="34" name="TextBox 33">
                <a:extLst>
                  <a:ext uri="{FF2B5EF4-FFF2-40B4-BE49-F238E27FC236}">
                    <a16:creationId xmlns:a16="http://schemas.microsoft.com/office/drawing/2014/main" id="{C0A49FF4-9E2E-4188-AD33-00FC2599CC21}"/>
                  </a:ext>
                </a:extLst>
              </p:cNvPr>
              <p:cNvSpPr txBox="1">
                <a:spLocks noRot="1" noChangeAspect="1" noMove="1" noResize="1" noEditPoints="1" noAdjustHandles="1" noChangeArrowheads="1" noChangeShapeType="1" noTextEdit="1"/>
              </p:cNvSpPr>
              <p:nvPr/>
            </p:nvSpPr>
            <p:spPr>
              <a:xfrm>
                <a:off x="1683588" y="4350505"/>
                <a:ext cx="1844351" cy="476797"/>
              </a:xfrm>
              <a:prstGeom prst="rect">
                <a:avLst/>
              </a:prstGeom>
              <a:blipFill>
                <a:blip r:embed="rId7"/>
                <a:stretch>
                  <a:fillRect b="-102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Rectangle 32">
                <a:extLst>
                  <a:ext uri="{FF2B5EF4-FFF2-40B4-BE49-F238E27FC236}">
                    <a16:creationId xmlns:a16="http://schemas.microsoft.com/office/drawing/2014/main" id="{8A316D52-147C-43BB-9AD9-91CE198D0CC4}"/>
                  </a:ext>
                </a:extLst>
              </p:cNvPr>
              <p:cNvSpPr/>
              <p:nvPr/>
            </p:nvSpPr>
            <p:spPr>
              <a:xfrm>
                <a:off x="1565736" y="5097334"/>
                <a:ext cx="2080057" cy="569130"/>
              </a:xfrm>
              <a:prstGeom prst="rect">
                <a:avLst/>
              </a:prstGeom>
            </p:spPr>
            <p:txBody>
              <a:bodyPr wrap="none">
                <a:spAutoFit/>
              </a:bodyPr>
              <a:lstStyle/>
              <a:p>
                <a14:m>
                  <m:oMath xmlns:m="http://schemas.openxmlformats.org/officeDocument/2006/math">
                    <m:r>
                      <a:rPr lang="en-US" b="0" i="1" smtClean="0">
                        <a:latin typeface="Cambria Math" panose="02040503050406030204" pitchFamily="18" charset="0"/>
                      </a:rPr>
                      <m:t>𝛼</m:t>
                    </m:r>
                  </m:oMath>
                </a14:m>
                <a:r>
                  <a:rPr lang="en-US" dirty="0"/>
                  <a:t> =</a:t>
                </a:r>
                <a:r>
                  <a:rPr lang="en-US" dirty="0" err="1"/>
                  <a:t>acos</a:t>
                </a:r>
                <a:r>
                  <a:rPr lang="en-US" dirty="0"/>
                  <a:t>( </a:t>
                </a:r>
                <a14:m>
                  <m:oMath xmlns:m="http://schemas.openxmlformats.org/officeDocument/2006/math">
                    <m:f>
                      <m:fPr>
                        <m:ctrlPr>
                          <a:rPr lang="en-US" i="1">
                            <a:latin typeface="Cambria Math" panose="02040503050406030204" pitchFamily="18" charset="0"/>
                          </a:rPr>
                        </m:ctrlPr>
                      </m:fPr>
                      <m:num>
                        <m:sSubSup>
                          <m:sSubSupPr>
                            <m:ctrlPr>
                              <a:rPr lang="en-US" i="1">
                                <a:latin typeface="Cambria Math" panose="02040503050406030204" pitchFamily="18" charset="0"/>
                              </a:rPr>
                            </m:ctrlPr>
                          </m:sSubSupPr>
                          <m:e>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𝐴</m:t>
                                </m:r>
                              </m:sub>
                              <m:sup>
                                <m:r>
                                  <a:rPr lang="en-US" b="0" i="1">
                                    <a:latin typeface="Cambria Math" panose="02040503050406030204" pitchFamily="18" charset="0"/>
                                  </a:rPr>
                                  <m:t>2</m:t>
                                </m:r>
                              </m:sup>
                            </m:sSubSup>
                            <m:r>
                              <a:rPr lang="en-US" b="0" i="1">
                                <a:latin typeface="Cambria Math" panose="02040503050406030204" pitchFamily="18" charset="0"/>
                              </a:rPr>
                              <m:t>+</m:t>
                            </m:r>
                            <m:sSubSup>
                              <m:sSubSupPr>
                                <m:ctrlPr>
                                  <a:rPr lang="en-US" i="1">
                                    <a:latin typeface="Cambria Math" panose="02040503050406030204" pitchFamily="18" charset="0"/>
                                  </a:rPr>
                                </m:ctrlPr>
                              </m:sSubSupPr>
                              <m:e>
                                <m:r>
                                  <a:rPr lang="en-US" b="0">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𝐵</m:t>
                                </m:r>
                              </m:sub>
                              <m:sup>
                                <m:r>
                                  <a:rPr lang="en-US" b="0" i="1">
                                    <a:latin typeface="Cambria Math" panose="02040503050406030204" pitchFamily="18" charset="0"/>
                                  </a:rPr>
                                  <m:t>2</m:t>
                                </m:r>
                              </m:sup>
                            </m:sSubSup>
                            <m:r>
                              <a:rPr lang="en-US" b="0" i="1">
                                <a:latin typeface="Cambria Math" panose="02040503050406030204" pitchFamily="18" charset="0"/>
                              </a:rPr>
                              <m:t> −</m:t>
                            </m:r>
                            <m:r>
                              <a:rPr lang="sv-SE" b="0" i="1">
                                <a:latin typeface="Cambria Math" panose="02040503050406030204" pitchFamily="18" charset="0"/>
                              </a:rPr>
                              <m:t>𝑣</m:t>
                            </m:r>
                          </m:e>
                          <m:sub>
                            <m:r>
                              <a:rPr lang="en-US" b="0" i="1">
                                <a:latin typeface="Cambria Math" panose="02040503050406030204" pitchFamily="18" charset="0"/>
                              </a:rPr>
                              <m:t>𝐶</m:t>
                            </m:r>
                          </m:sub>
                          <m:sup>
                            <m:r>
                              <a:rPr lang="en-US" b="0" i="1">
                                <a:latin typeface="Cambria Math" panose="02040503050406030204" pitchFamily="18" charset="0"/>
                              </a:rPr>
                              <m:t>2</m:t>
                            </m:r>
                          </m:sup>
                        </m:sSubSup>
                      </m:num>
                      <m:den>
                        <m:r>
                          <m:rPr>
                            <m:nor/>
                          </m:rPr>
                          <a:rPr lang="en-US" dirty="0"/>
                          <m:t>2 </m:t>
                        </m:r>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a:latin typeface="Cambria Math" panose="02040503050406030204" pitchFamily="18" charset="0"/>
                              </a:rPr>
                              <m:t>𝐴</m:t>
                            </m:r>
                          </m:sub>
                        </m:sSub>
                        <m:r>
                          <m:rPr>
                            <m:nor/>
                          </m:rPr>
                          <a:rPr lang="en-US" dirty="0"/>
                          <m:t> </m:t>
                        </m:r>
                        <m:sSub>
                          <m:sSubPr>
                            <m:ctrlPr>
                              <a:rPr lang="en-US" i="1">
                                <a:latin typeface="Cambria Math" panose="02040503050406030204" pitchFamily="18" charset="0"/>
                              </a:rPr>
                            </m:ctrlPr>
                          </m:sSubPr>
                          <m:e>
                            <m:r>
                              <a:rPr lang="sv-SE" b="0" i="1">
                                <a:latin typeface="Cambria Math" panose="02040503050406030204" pitchFamily="18" charset="0"/>
                              </a:rPr>
                              <m:t>𝑣</m:t>
                            </m:r>
                          </m:e>
                          <m:sub>
                            <m:r>
                              <a:rPr lang="en-US" b="0" i="1">
                                <a:latin typeface="Cambria Math" panose="02040503050406030204" pitchFamily="18" charset="0"/>
                              </a:rPr>
                              <m:t>𝐵</m:t>
                            </m:r>
                          </m:sub>
                        </m:sSub>
                      </m:den>
                    </m:f>
                    <m:r>
                      <a:rPr lang="en-US" b="0" i="1" smtClean="0">
                        <a:latin typeface="Cambria Math" panose="02040503050406030204" pitchFamily="18" charset="0"/>
                      </a:rPr>
                      <m:t>)</m:t>
                    </m:r>
                  </m:oMath>
                </a14:m>
                <a:endParaRPr lang="en-US" b="0" dirty="0"/>
              </a:p>
            </p:txBody>
          </p:sp>
        </mc:Choice>
        <mc:Fallback xmlns="">
          <p:sp>
            <p:nvSpPr>
              <p:cNvPr id="33" name="Rectangle 32">
                <a:extLst>
                  <a:ext uri="{FF2B5EF4-FFF2-40B4-BE49-F238E27FC236}">
                    <a16:creationId xmlns:a16="http://schemas.microsoft.com/office/drawing/2014/main" id="{8A316D52-147C-43BB-9AD9-91CE198D0CC4}"/>
                  </a:ext>
                </a:extLst>
              </p:cNvPr>
              <p:cNvSpPr>
                <a:spLocks noRot="1" noChangeAspect="1" noMove="1" noResize="1" noEditPoints="1" noAdjustHandles="1" noChangeArrowheads="1" noChangeShapeType="1" noTextEdit="1"/>
              </p:cNvSpPr>
              <p:nvPr/>
            </p:nvSpPr>
            <p:spPr>
              <a:xfrm>
                <a:off x="1565736" y="5097334"/>
                <a:ext cx="2080057" cy="569130"/>
              </a:xfrm>
              <a:prstGeom prst="rect">
                <a:avLst/>
              </a:prstGeom>
              <a:blipFill>
                <a:blip r:embed="rId8"/>
                <a:stretch>
                  <a:fillRect/>
                </a:stretch>
              </a:blipFill>
            </p:spPr>
            <p:txBody>
              <a:bodyPr/>
              <a:lstStyle/>
              <a:p>
                <a:r>
                  <a:rPr lang="en-US">
                    <a:noFill/>
                  </a:rPr>
                  <a:t> </a:t>
                </a:r>
              </a:p>
            </p:txBody>
          </p:sp>
        </mc:Fallback>
      </mc:AlternateContent>
      <p:sp>
        <p:nvSpPr>
          <p:cNvPr id="36" name="Arc 35">
            <a:extLst>
              <a:ext uri="{FF2B5EF4-FFF2-40B4-BE49-F238E27FC236}">
                <a16:creationId xmlns:a16="http://schemas.microsoft.com/office/drawing/2014/main" id="{BFB982CB-870B-4954-8773-65CAF3CD3CD8}"/>
              </a:ext>
            </a:extLst>
          </p:cNvPr>
          <p:cNvSpPr/>
          <p:nvPr/>
        </p:nvSpPr>
        <p:spPr>
          <a:xfrm rot="2203924">
            <a:off x="6743721" y="2543490"/>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cxnSp>
        <p:nvCxnSpPr>
          <p:cNvPr id="37" name="Straight Connector 36">
            <a:extLst>
              <a:ext uri="{FF2B5EF4-FFF2-40B4-BE49-F238E27FC236}">
                <a16:creationId xmlns:a16="http://schemas.microsoft.com/office/drawing/2014/main" id="{499B8E31-6AAB-4655-9CBC-815172523F3B}"/>
              </a:ext>
            </a:extLst>
          </p:cNvPr>
          <p:cNvCxnSpPr>
            <a:cxnSpLocks/>
          </p:cNvCxnSpPr>
          <p:nvPr/>
        </p:nvCxnSpPr>
        <p:spPr>
          <a:xfrm>
            <a:off x="6651868" y="2691291"/>
            <a:ext cx="101448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8" name="Rectangle 37">
                <a:extLst>
                  <a:ext uri="{FF2B5EF4-FFF2-40B4-BE49-F238E27FC236}">
                    <a16:creationId xmlns:a16="http://schemas.microsoft.com/office/drawing/2014/main" id="{496CB29F-77F8-413A-8CB5-2A7F714C125D}"/>
                  </a:ext>
                </a:extLst>
              </p:cNvPr>
              <p:cNvSpPr/>
              <p:nvPr/>
            </p:nvSpPr>
            <p:spPr>
              <a:xfrm>
                <a:off x="7119101" y="2284065"/>
                <a:ext cx="625108"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𝐶𝐵</m:t>
                        </m:r>
                      </m:sub>
                    </m:sSub>
                  </m:oMath>
                </a14:m>
                <a:r>
                  <a:rPr lang="en-US" dirty="0">
                    <a:solidFill>
                      <a:srgbClr val="FF0000"/>
                    </a:solidFill>
                  </a:rPr>
                  <a:t> </a:t>
                </a:r>
              </a:p>
            </p:txBody>
          </p:sp>
        </mc:Choice>
        <mc:Fallback xmlns="">
          <p:sp>
            <p:nvSpPr>
              <p:cNvPr id="38" name="Rectangle 37">
                <a:extLst>
                  <a:ext uri="{FF2B5EF4-FFF2-40B4-BE49-F238E27FC236}">
                    <a16:creationId xmlns:a16="http://schemas.microsoft.com/office/drawing/2014/main" id="{496CB29F-77F8-413A-8CB5-2A7F714C125D}"/>
                  </a:ext>
                </a:extLst>
              </p:cNvPr>
              <p:cNvSpPr>
                <a:spLocks noRot="1" noChangeAspect="1" noMove="1" noResize="1" noEditPoints="1" noAdjustHandles="1" noChangeArrowheads="1" noChangeShapeType="1" noTextEdit="1"/>
              </p:cNvSpPr>
              <p:nvPr/>
            </p:nvSpPr>
            <p:spPr>
              <a:xfrm>
                <a:off x="7119101" y="2284065"/>
                <a:ext cx="625108" cy="369332"/>
              </a:xfrm>
              <a:prstGeom prst="rect">
                <a:avLst/>
              </a:prstGeom>
              <a:blipFill>
                <a:blip r:embed="rId9"/>
                <a:stretch>
                  <a:fillRect l="-2941" b="-13333"/>
                </a:stretch>
              </a:blipFill>
            </p:spPr>
            <p:txBody>
              <a:bodyPr/>
              <a:lstStyle/>
              <a:p>
                <a:r>
                  <a:rPr lang="en-US">
                    <a:noFill/>
                  </a:rPr>
                  <a:t> </a:t>
                </a:r>
              </a:p>
            </p:txBody>
          </p:sp>
        </mc:Fallback>
      </mc:AlternateContent>
      <p:sp>
        <p:nvSpPr>
          <p:cNvPr id="39" name="Arc 38">
            <a:extLst>
              <a:ext uri="{FF2B5EF4-FFF2-40B4-BE49-F238E27FC236}">
                <a16:creationId xmlns:a16="http://schemas.microsoft.com/office/drawing/2014/main" id="{D6903EB6-6953-454F-8901-D22A8B71DF70}"/>
              </a:ext>
            </a:extLst>
          </p:cNvPr>
          <p:cNvSpPr/>
          <p:nvPr/>
        </p:nvSpPr>
        <p:spPr>
          <a:xfrm rot="8638307">
            <a:off x="3981243" y="2508132"/>
            <a:ext cx="538984" cy="281832"/>
          </a:xfrm>
          <a:prstGeom prst="arc">
            <a:avLst>
              <a:gd name="adj1" fmla="val 15923001"/>
              <a:gd name="adj2" fmla="val 21419193"/>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cxnSp>
        <p:nvCxnSpPr>
          <p:cNvPr id="40" name="Straight Connector 39">
            <a:extLst>
              <a:ext uri="{FF2B5EF4-FFF2-40B4-BE49-F238E27FC236}">
                <a16:creationId xmlns:a16="http://schemas.microsoft.com/office/drawing/2014/main" id="{11A00E67-1ADC-4659-B12D-959CCAB5ABB7}"/>
              </a:ext>
            </a:extLst>
          </p:cNvPr>
          <p:cNvCxnSpPr>
            <a:cxnSpLocks/>
          </p:cNvCxnSpPr>
          <p:nvPr/>
        </p:nvCxnSpPr>
        <p:spPr>
          <a:xfrm flipV="1">
            <a:off x="3398313" y="2691291"/>
            <a:ext cx="915630" cy="260558"/>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6A6F4827-EF04-4B73-A89C-7DEB4A290EF8}"/>
                  </a:ext>
                </a:extLst>
              </p:cNvPr>
              <p:cNvSpPr/>
              <p:nvPr/>
            </p:nvSpPr>
            <p:spPr>
              <a:xfrm>
                <a:off x="4205228" y="2656400"/>
                <a:ext cx="789896" cy="369332"/>
              </a:xfrm>
              <a:prstGeom prst="rect">
                <a:avLst/>
              </a:prstGeom>
            </p:spPr>
            <p:txBody>
              <a:bodyPr wrap="none">
                <a:spAutoFit/>
              </a:bodyPr>
              <a:lstStyle/>
              <a:p>
                <a14:m>
                  <m:oMath xmlns:m="http://schemas.openxmlformats.org/officeDocument/2006/math">
                    <m:r>
                      <a:rPr lang="en-US" b="0" i="1" smtClean="0">
                        <a:solidFill>
                          <a:srgbClr val="FF0000"/>
                        </a:solidFill>
                        <a:latin typeface="Cambria Math" panose="02040503050406030204" pitchFamily="18" charset="0"/>
                      </a:rPr>
                      <m:t>−</m:t>
                    </m:r>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oMath>
                </a14:m>
                <a:r>
                  <a:rPr lang="en-US" dirty="0">
                    <a:solidFill>
                      <a:srgbClr val="FF0000"/>
                    </a:solidFill>
                  </a:rPr>
                  <a:t> </a:t>
                </a:r>
              </a:p>
            </p:txBody>
          </p:sp>
        </mc:Choice>
        <mc:Fallback xmlns="">
          <p:sp>
            <p:nvSpPr>
              <p:cNvPr id="42" name="Rectangle 41">
                <a:extLst>
                  <a:ext uri="{FF2B5EF4-FFF2-40B4-BE49-F238E27FC236}">
                    <a16:creationId xmlns:a16="http://schemas.microsoft.com/office/drawing/2014/main" id="{6A6F4827-EF04-4B73-A89C-7DEB4A290EF8}"/>
                  </a:ext>
                </a:extLst>
              </p:cNvPr>
              <p:cNvSpPr>
                <a:spLocks noRot="1" noChangeAspect="1" noMove="1" noResize="1" noEditPoints="1" noAdjustHandles="1" noChangeArrowheads="1" noChangeShapeType="1" noTextEdit="1"/>
              </p:cNvSpPr>
              <p:nvPr/>
            </p:nvSpPr>
            <p:spPr>
              <a:xfrm>
                <a:off x="4205228" y="2656400"/>
                <a:ext cx="789896" cy="369332"/>
              </a:xfrm>
              <a:prstGeom prst="rect">
                <a:avLst/>
              </a:prstGeom>
              <a:blipFill>
                <a:blip r:embed="rId10"/>
                <a:stretch>
                  <a:fillRect b="-1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231F0816-31C2-4C3C-9B35-1987402B4F32}"/>
                  </a:ext>
                </a:extLst>
              </p:cNvPr>
              <p:cNvSpPr txBox="1"/>
              <p:nvPr/>
            </p:nvSpPr>
            <p:spPr>
              <a:xfrm>
                <a:off x="7376185" y="3092929"/>
                <a:ext cx="4484451" cy="369332"/>
              </a:xfrm>
              <a:prstGeom prst="rect">
                <a:avLst/>
              </a:prstGeom>
              <a:noFill/>
            </p:spPr>
            <p:txBody>
              <a:bodyPr wrap="square" rtlCol="0">
                <a:spAutoFit/>
              </a:bodyPr>
              <a:lstStyle/>
              <a:p>
                <a:r>
                  <a:rPr lang="en-US" dirty="0"/>
                  <a:t>2. Apply sine theorem to find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𝐶𝐶</m:t>
                        </m:r>
                      </m:sub>
                    </m:sSub>
                  </m:oMath>
                </a14:m>
                <a:r>
                  <a:rPr lang="en-US" dirty="0"/>
                  <a:t> </a:t>
                </a:r>
              </a:p>
            </p:txBody>
          </p:sp>
        </mc:Choice>
        <mc:Fallback xmlns="">
          <p:sp>
            <p:nvSpPr>
              <p:cNvPr id="43" name="TextBox 42">
                <a:extLst>
                  <a:ext uri="{FF2B5EF4-FFF2-40B4-BE49-F238E27FC236}">
                    <a16:creationId xmlns:a16="http://schemas.microsoft.com/office/drawing/2014/main" id="{231F0816-31C2-4C3C-9B35-1987402B4F32}"/>
                  </a:ext>
                </a:extLst>
              </p:cNvPr>
              <p:cNvSpPr txBox="1">
                <a:spLocks noRot="1" noChangeAspect="1" noMove="1" noResize="1" noEditPoints="1" noAdjustHandles="1" noChangeArrowheads="1" noChangeShapeType="1" noTextEdit="1"/>
              </p:cNvSpPr>
              <p:nvPr/>
            </p:nvSpPr>
            <p:spPr>
              <a:xfrm>
                <a:off x="7376185" y="3092929"/>
                <a:ext cx="4484451" cy="369332"/>
              </a:xfrm>
              <a:prstGeom prst="rect">
                <a:avLst/>
              </a:prstGeom>
              <a:blipFill>
                <a:blip r:embed="rId11"/>
                <a:stretch>
                  <a:fillRect l="-1087" t="-8197"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DD642F5E-E113-49A2-B2C6-ABA29035145F}"/>
                  </a:ext>
                </a:extLst>
              </p:cNvPr>
              <p:cNvSpPr txBox="1"/>
              <p:nvPr/>
            </p:nvSpPr>
            <p:spPr>
              <a:xfrm>
                <a:off x="8073340" y="3745942"/>
                <a:ext cx="1642982" cy="447174"/>
              </a:xfrm>
              <a:prstGeom prst="rect">
                <a:avLst/>
              </a:prstGeom>
              <a:noFill/>
            </p:spPr>
            <p:txBody>
              <a:bodyPr wrap="square" lIns="0" tIns="0" rIns="0" bIns="0" rtlCol="0">
                <a:spAutoFit/>
              </a:bodyPr>
              <a:lstStyle/>
              <a:p>
                <a14:m>
                  <m:oMath xmlns:m="http://schemas.openxmlformats.org/officeDocument/2006/math">
                    <m:f>
                      <m:fPr>
                        <m:ctrlPr>
                          <a:rPr lang="en-US" b="0" i="1" smtClean="0">
                            <a:latin typeface="Cambria Math" panose="02040503050406030204" pitchFamily="18" charset="0"/>
                          </a:rPr>
                        </m:ctrlPr>
                      </m:fPr>
                      <m:num>
                        <m:r>
                          <a:rPr lang="en-US" i="1" smtClean="0">
                            <a:latin typeface="Cambria Math" panose="02040503050406030204" pitchFamily="18" charset="0"/>
                          </a:rPr>
                          <m:t>𝑠</m:t>
                        </m:r>
                        <m:r>
                          <a:rPr lang="en-US" b="0" i="1" smtClean="0">
                            <a:latin typeface="Cambria Math" panose="02040503050406030204" pitchFamily="18" charset="0"/>
                          </a:rPr>
                          <m:t>𝚤𝑛</m:t>
                        </m:r>
                        <m:d>
                          <m:dPr>
                            <m:ctrlPr>
                              <a:rPr lang="en-US" b="0" i="1" smtClean="0">
                                <a:latin typeface="Cambria Math" panose="02040503050406030204" pitchFamily="18" charset="0"/>
                              </a:rPr>
                            </m:ctrlPr>
                          </m:dPr>
                          <m:e>
                            <m:r>
                              <a:rPr lang="en-US" b="0" i="1" smtClean="0">
                                <a:latin typeface="Cambria Math" panose="02040503050406030204" pitchFamily="18" charset="0"/>
                              </a:rPr>
                              <m:t>𝛽</m:t>
                            </m:r>
                          </m:e>
                        </m:d>
                      </m:num>
                      <m:den>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i="1">
                                <a:latin typeface="Cambria Math" panose="02040503050406030204" pitchFamily="18" charset="0"/>
                              </a:rPr>
                              <m:t>𝐵</m:t>
                            </m:r>
                          </m:sub>
                        </m:sSub>
                      </m:den>
                    </m:f>
                  </m:oMath>
                </a14:m>
                <a:r>
                  <a:rPr lang="en-US" dirty="0"/>
                  <a:t> =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𝑠𝚤𝑛</m:t>
                        </m:r>
                        <m:d>
                          <m:dPr>
                            <m:ctrlPr>
                              <a:rPr lang="en-US" i="1">
                                <a:latin typeface="Cambria Math" panose="02040503050406030204" pitchFamily="18" charset="0"/>
                              </a:rPr>
                            </m:ctrlPr>
                          </m:dPr>
                          <m:e>
                            <m:r>
                              <a:rPr lang="en-US" b="0" i="1" smtClean="0">
                                <a:latin typeface="Cambria Math" panose="02040503050406030204" pitchFamily="18" charset="0"/>
                              </a:rPr>
                              <m:t>𝑎</m:t>
                            </m:r>
                          </m:e>
                        </m:d>
                      </m:num>
                      <m:den>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𝐶</m:t>
                            </m:r>
                          </m:sub>
                        </m:sSub>
                      </m:den>
                    </m:f>
                  </m:oMath>
                </a14:m>
                <a:r>
                  <a:rPr lang="en-US" dirty="0"/>
                  <a:t> </a:t>
                </a:r>
              </a:p>
            </p:txBody>
          </p:sp>
        </mc:Choice>
        <mc:Fallback xmlns="">
          <p:sp>
            <p:nvSpPr>
              <p:cNvPr id="44" name="TextBox 43">
                <a:extLst>
                  <a:ext uri="{FF2B5EF4-FFF2-40B4-BE49-F238E27FC236}">
                    <a16:creationId xmlns:a16="http://schemas.microsoft.com/office/drawing/2014/main" id="{DD642F5E-E113-49A2-B2C6-ABA29035145F}"/>
                  </a:ext>
                </a:extLst>
              </p:cNvPr>
              <p:cNvSpPr txBox="1">
                <a:spLocks noRot="1" noChangeAspect="1" noMove="1" noResize="1" noEditPoints="1" noAdjustHandles="1" noChangeArrowheads="1" noChangeShapeType="1" noTextEdit="1"/>
              </p:cNvSpPr>
              <p:nvPr/>
            </p:nvSpPr>
            <p:spPr>
              <a:xfrm>
                <a:off x="8073340" y="3745942"/>
                <a:ext cx="1642982" cy="447174"/>
              </a:xfrm>
              <a:prstGeom prst="rect">
                <a:avLst/>
              </a:prstGeom>
              <a:blipFill>
                <a:blip r:embed="rId12"/>
                <a:stretch>
                  <a:fillRect l="-2593" t="-1351"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E694D932-B599-4617-8915-FB4BF0AAD42D}"/>
                  </a:ext>
                </a:extLst>
              </p:cNvPr>
              <p:cNvSpPr txBox="1"/>
              <p:nvPr/>
            </p:nvSpPr>
            <p:spPr>
              <a:xfrm>
                <a:off x="7975428" y="4380128"/>
                <a:ext cx="1642982" cy="447174"/>
              </a:xfrm>
              <a:prstGeom prst="rect">
                <a:avLst/>
              </a:prstGeom>
              <a:noFill/>
            </p:spPr>
            <p:txBody>
              <a:bodyPr wrap="square" lIns="0" tIns="0" rIns="0" bIns="0" rtlCol="0">
                <a:spAutoFit/>
              </a:bodyPr>
              <a:lstStyle/>
              <a:p>
                <a14:m>
                  <m:oMath xmlns:m="http://schemas.openxmlformats.org/officeDocument/2006/math">
                    <m:r>
                      <m:rPr>
                        <m:sty m:val="p"/>
                      </m:rPr>
                      <a:rPr lang="en-US" b="0" i="0" smtClean="0">
                        <a:latin typeface="Cambria Math" panose="02040503050406030204" pitchFamily="18" charset="0"/>
                      </a:rPr>
                      <m:t>sin</m:t>
                    </m:r>
                    <m:r>
                      <a:rPr lang="en-US" b="0" i="1" smtClean="0">
                        <a:latin typeface="Cambria Math" panose="02040503050406030204" pitchFamily="18" charset="0"/>
                      </a:rPr>
                      <m:t>⁡(</m:t>
                    </m:r>
                    <m:r>
                      <a:rPr lang="en-US" b="0" i="1" smtClean="0">
                        <a:latin typeface="Cambria Math" panose="02040503050406030204" pitchFamily="18" charset="0"/>
                      </a:rPr>
                      <m:t>𝛽</m:t>
                    </m:r>
                    <m:r>
                      <a:rPr lang="en-US" b="0" i="1" smtClean="0">
                        <a:latin typeface="Cambria Math" panose="02040503050406030204" pitchFamily="18" charset="0"/>
                      </a:rPr>
                      <m:t>)</m:t>
                    </m:r>
                  </m:oMath>
                </a14:m>
                <a:r>
                  <a:rPr lang="en-US" dirty="0"/>
                  <a:t> =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𝐵</m:t>
                            </m:r>
                          </m:sub>
                        </m:sSub>
                        <m:r>
                          <a:rPr lang="en-US" b="0" i="1" smtClean="0">
                            <a:latin typeface="Cambria Math" panose="02040503050406030204" pitchFamily="18" charset="0"/>
                          </a:rPr>
                          <m:t> </m:t>
                        </m:r>
                        <m:r>
                          <a:rPr lang="en-US" i="1">
                            <a:latin typeface="Cambria Math" panose="02040503050406030204" pitchFamily="18" charset="0"/>
                          </a:rPr>
                          <m:t>𝑠𝚤𝑛</m:t>
                        </m:r>
                        <m:d>
                          <m:dPr>
                            <m:ctrlPr>
                              <a:rPr lang="en-US" i="1">
                                <a:latin typeface="Cambria Math" panose="02040503050406030204" pitchFamily="18" charset="0"/>
                              </a:rPr>
                            </m:ctrlPr>
                          </m:dPr>
                          <m:e>
                            <m:r>
                              <a:rPr lang="en-US" b="0" i="1" smtClean="0">
                                <a:latin typeface="Cambria Math" panose="02040503050406030204" pitchFamily="18" charset="0"/>
                              </a:rPr>
                              <m:t>𝑎</m:t>
                            </m:r>
                          </m:e>
                        </m:d>
                      </m:num>
                      <m:den>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𝐶</m:t>
                            </m:r>
                          </m:sub>
                        </m:sSub>
                      </m:den>
                    </m:f>
                  </m:oMath>
                </a14:m>
                <a:r>
                  <a:rPr lang="en-US" dirty="0"/>
                  <a:t> </a:t>
                </a:r>
              </a:p>
            </p:txBody>
          </p:sp>
        </mc:Choice>
        <mc:Fallback xmlns="">
          <p:sp>
            <p:nvSpPr>
              <p:cNvPr id="45" name="TextBox 44">
                <a:extLst>
                  <a:ext uri="{FF2B5EF4-FFF2-40B4-BE49-F238E27FC236}">
                    <a16:creationId xmlns:a16="http://schemas.microsoft.com/office/drawing/2014/main" id="{E694D932-B599-4617-8915-FB4BF0AAD42D}"/>
                  </a:ext>
                </a:extLst>
              </p:cNvPr>
              <p:cNvSpPr txBox="1">
                <a:spLocks noRot="1" noChangeAspect="1" noMove="1" noResize="1" noEditPoints="1" noAdjustHandles="1" noChangeArrowheads="1" noChangeShapeType="1" noTextEdit="1"/>
              </p:cNvSpPr>
              <p:nvPr/>
            </p:nvSpPr>
            <p:spPr>
              <a:xfrm>
                <a:off x="7975428" y="4380128"/>
                <a:ext cx="1642982" cy="447174"/>
              </a:xfrm>
              <a:prstGeom prst="rect">
                <a:avLst/>
              </a:prstGeom>
              <a:blipFill>
                <a:blip r:embed="rId13"/>
                <a:stretch>
                  <a:fillRect l="-4815" b="-109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D5E729C4-669D-4521-886B-15FD9062E2BF}"/>
                  </a:ext>
                </a:extLst>
              </p:cNvPr>
              <p:cNvSpPr txBox="1"/>
              <p:nvPr/>
            </p:nvSpPr>
            <p:spPr>
              <a:xfrm>
                <a:off x="7898242" y="5097334"/>
                <a:ext cx="2511903" cy="447174"/>
              </a:xfrm>
              <a:prstGeom prst="rect">
                <a:avLst/>
              </a:prstGeom>
              <a:noFill/>
            </p:spPr>
            <p:txBody>
              <a:bodyPr wrap="square" lIns="0" tIns="0" rIns="0" bIns="0" rtlCol="0">
                <a:spAutoFit/>
              </a:bodyPr>
              <a:lstStyle/>
              <a:p>
                <a14:m>
                  <m:oMath xmlns:m="http://schemas.openxmlformats.org/officeDocument/2006/math">
                    <m:r>
                      <a:rPr lang="en-US" b="0" i="1" smtClean="0">
                        <a:latin typeface="Cambria Math" panose="02040503050406030204" pitchFamily="18" charset="0"/>
                      </a:rPr>
                      <m:t>𝛽</m:t>
                    </m:r>
                  </m:oMath>
                </a14:m>
                <a:r>
                  <a:rPr lang="en-US" dirty="0"/>
                  <a:t> = asın (</a:t>
                </a:r>
                <a14:m>
                  <m:oMath xmlns:m="http://schemas.openxmlformats.org/officeDocument/2006/math">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𝐵</m:t>
                            </m:r>
                          </m:sub>
                        </m:sSub>
                        <m:r>
                          <a:rPr lang="en-US" b="0" i="1" smtClean="0">
                            <a:latin typeface="Cambria Math" panose="02040503050406030204" pitchFamily="18" charset="0"/>
                          </a:rPr>
                          <m:t> </m:t>
                        </m:r>
                        <m:r>
                          <a:rPr lang="en-US" i="1">
                            <a:latin typeface="Cambria Math" panose="02040503050406030204" pitchFamily="18" charset="0"/>
                          </a:rPr>
                          <m:t>𝑠𝚤𝑛</m:t>
                        </m:r>
                        <m:d>
                          <m:dPr>
                            <m:ctrlPr>
                              <a:rPr lang="en-US" i="1">
                                <a:latin typeface="Cambria Math" panose="02040503050406030204" pitchFamily="18" charset="0"/>
                              </a:rPr>
                            </m:ctrlPr>
                          </m:dPr>
                          <m:e>
                            <m:r>
                              <a:rPr lang="en-US" b="0" i="1" smtClean="0">
                                <a:latin typeface="Cambria Math" panose="02040503050406030204" pitchFamily="18" charset="0"/>
                              </a:rPr>
                              <m:t>𝑎</m:t>
                            </m:r>
                          </m:e>
                        </m:d>
                      </m:num>
                      <m:den>
                        <m:sSub>
                          <m:sSubPr>
                            <m:ctrlPr>
                              <a:rPr lang="en-US" i="1">
                                <a:latin typeface="Cambria Math" panose="02040503050406030204" pitchFamily="18" charset="0"/>
                              </a:rPr>
                            </m:ctrlPr>
                          </m:sSubPr>
                          <m:e>
                            <m:r>
                              <a:rPr lang="sv-SE" i="1">
                                <a:latin typeface="Cambria Math" panose="02040503050406030204" pitchFamily="18" charset="0"/>
                              </a:rPr>
                              <m:t>𝑣</m:t>
                            </m:r>
                          </m:e>
                          <m:sub>
                            <m:r>
                              <a:rPr lang="en-US" b="0" i="1" smtClean="0">
                                <a:latin typeface="Cambria Math" panose="02040503050406030204" pitchFamily="18" charset="0"/>
                              </a:rPr>
                              <m:t>𝐶</m:t>
                            </m:r>
                          </m:sub>
                        </m:sSub>
                      </m:den>
                    </m:f>
                  </m:oMath>
                </a14:m>
                <a:r>
                  <a:rPr lang="en-US" dirty="0"/>
                  <a:t>) </a:t>
                </a:r>
              </a:p>
            </p:txBody>
          </p:sp>
        </mc:Choice>
        <mc:Fallback xmlns="">
          <p:sp>
            <p:nvSpPr>
              <p:cNvPr id="46" name="TextBox 45">
                <a:extLst>
                  <a:ext uri="{FF2B5EF4-FFF2-40B4-BE49-F238E27FC236}">
                    <a16:creationId xmlns:a16="http://schemas.microsoft.com/office/drawing/2014/main" id="{D5E729C4-669D-4521-886B-15FD9062E2BF}"/>
                  </a:ext>
                </a:extLst>
              </p:cNvPr>
              <p:cNvSpPr txBox="1">
                <a:spLocks noRot="1" noChangeAspect="1" noMove="1" noResize="1" noEditPoints="1" noAdjustHandles="1" noChangeArrowheads="1" noChangeShapeType="1" noTextEdit="1"/>
              </p:cNvSpPr>
              <p:nvPr/>
            </p:nvSpPr>
            <p:spPr>
              <a:xfrm>
                <a:off x="7898242" y="5097334"/>
                <a:ext cx="2511903" cy="447174"/>
              </a:xfrm>
              <a:prstGeom prst="rect">
                <a:avLst/>
              </a:prstGeom>
              <a:blipFill>
                <a:blip r:embed="rId14"/>
                <a:stretch>
                  <a:fillRect l="-4369" b="-108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05EC2219-9D3B-4EFD-8CA1-EB07E31F48A2}"/>
                  </a:ext>
                </a:extLst>
              </p:cNvPr>
              <p:cNvSpPr txBox="1"/>
              <p:nvPr/>
            </p:nvSpPr>
            <p:spPr>
              <a:xfrm>
                <a:off x="7975428" y="5886157"/>
                <a:ext cx="2511903" cy="276999"/>
              </a:xfrm>
              <a:prstGeom prst="rect">
                <a:avLst/>
              </a:prstGeom>
              <a:noFill/>
            </p:spPr>
            <p:txBody>
              <a:bodyPr wrap="square" lIns="0" tIns="0" rIns="0" bIns="0" rtlCol="0">
                <a:spAutoFit/>
              </a:bodyPr>
              <a:lstStyle/>
              <a:p>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𝑪𝑩</m:t>
                        </m:r>
                      </m:sub>
                    </m:sSub>
                    <m:r>
                      <a:rPr lang="en-US" b="1" i="1" smtClean="0">
                        <a:latin typeface="Cambria Math" panose="02040503050406030204" pitchFamily="18" charset="0"/>
                      </a:rPr>
                      <m:t>=</m:t>
                    </m:r>
                    <m:r>
                      <a:rPr lang="en-US" b="1" i="1" smtClean="0">
                        <a:latin typeface="Cambria Math" panose="02040503050406030204" pitchFamily="18" charset="0"/>
                      </a:rPr>
                      <m:t>𝜷</m:t>
                    </m:r>
                    <m:r>
                      <a:rPr lang="en-US" b="1" i="1" smtClean="0">
                        <a:latin typeface="Cambria Math" panose="02040503050406030204" pitchFamily="18" charset="0"/>
                      </a:rPr>
                      <m:t>−</m:t>
                    </m:r>
                    <m:r>
                      <a:rPr lang="en-US" b="1" i="1" smtClean="0">
                        <a:latin typeface="Cambria Math" panose="02040503050406030204" pitchFamily="18" charset="0"/>
                      </a:rPr>
                      <m:t>𝟏𝟖𝟎</m:t>
                    </m:r>
                  </m:oMath>
                </a14:m>
                <a:r>
                  <a:rPr lang="en-US" b="1" dirty="0"/>
                  <a:t>  </a:t>
                </a:r>
              </a:p>
            </p:txBody>
          </p:sp>
        </mc:Choice>
        <mc:Fallback xmlns="">
          <p:sp>
            <p:nvSpPr>
              <p:cNvPr id="47" name="TextBox 46">
                <a:extLst>
                  <a:ext uri="{FF2B5EF4-FFF2-40B4-BE49-F238E27FC236}">
                    <a16:creationId xmlns:a16="http://schemas.microsoft.com/office/drawing/2014/main" id="{05EC2219-9D3B-4EFD-8CA1-EB07E31F48A2}"/>
                  </a:ext>
                </a:extLst>
              </p:cNvPr>
              <p:cNvSpPr txBox="1">
                <a:spLocks noRot="1" noChangeAspect="1" noMove="1" noResize="1" noEditPoints="1" noAdjustHandles="1" noChangeArrowheads="1" noChangeShapeType="1" noTextEdit="1"/>
              </p:cNvSpPr>
              <p:nvPr/>
            </p:nvSpPr>
            <p:spPr>
              <a:xfrm>
                <a:off x="7975428" y="5886157"/>
                <a:ext cx="2511903" cy="276999"/>
              </a:xfrm>
              <a:prstGeom prst="rect">
                <a:avLst/>
              </a:prstGeom>
              <a:blipFill>
                <a:blip r:embed="rId15"/>
                <a:stretch>
                  <a:fillRect l="-4369" t="-28889" b="-511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83C271ED-81F8-4A9E-A2D5-BD5CE2ED63FD}"/>
                  </a:ext>
                </a:extLst>
              </p:cNvPr>
              <p:cNvSpPr/>
              <p:nvPr/>
            </p:nvSpPr>
            <p:spPr>
              <a:xfrm>
                <a:off x="1853201" y="5907965"/>
                <a:ext cx="179722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𝝓</m:t>
                          </m:r>
                        </m:e>
                        <m:sub>
                          <m:r>
                            <a:rPr lang="en-US" b="1" i="1">
                              <a:latin typeface="Cambria Math" panose="02040503050406030204" pitchFamily="18" charset="0"/>
                            </a:rPr>
                            <m:t>𝑪𝑩</m:t>
                          </m:r>
                        </m:sub>
                      </m:sSub>
                      <m:r>
                        <a:rPr lang="en-US" b="1" i="1">
                          <a:latin typeface="Cambria Math" panose="02040503050406030204" pitchFamily="18" charset="0"/>
                        </a:rPr>
                        <m:t>=</m:t>
                      </m:r>
                      <m:r>
                        <a:rPr lang="en-US" b="1" i="1">
                          <a:latin typeface="Cambria Math" panose="02040503050406030204" pitchFamily="18" charset="0"/>
                        </a:rPr>
                        <m:t>𝟏𝟖𝟎</m:t>
                      </m:r>
                      <m:r>
                        <a:rPr lang="en-US" b="1" i="1">
                          <a:latin typeface="Cambria Math" panose="02040503050406030204" pitchFamily="18" charset="0"/>
                        </a:rPr>
                        <m:t>−</m:t>
                      </m:r>
                      <m:r>
                        <a:rPr lang="en-US" b="1" i="1">
                          <a:latin typeface="Cambria Math" panose="02040503050406030204" pitchFamily="18" charset="0"/>
                        </a:rPr>
                        <m:t>𝜶</m:t>
                      </m:r>
                    </m:oMath>
                  </m:oMathPara>
                </a14:m>
                <a:endParaRPr lang="en-US" b="1" dirty="0"/>
              </a:p>
            </p:txBody>
          </p:sp>
        </mc:Choice>
        <mc:Fallback xmlns="">
          <p:sp>
            <p:nvSpPr>
              <p:cNvPr id="35" name="Rectangle 34">
                <a:extLst>
                  <a:ext uri="{FF2B5EF4-FFF2-40B4-BE49-F238E27FC236}">
                    <a16:creationId xmlns:a16="http://schemas.microsoft.com/office/drawing/2014/main" id="{83C271ED-81F8-4A9E-A2D5-BD5CE2ED63FD}"/>
                  </a:ext>
                </a:extLst>
              </p:cNvPr>
              <p:cNvSpPr>
                <a:spLocks noRot="1" noChangeAspect="1" noMove="1" noResize="1" noEditPoints="1" noAdjustHandles="1" noChangeArrowheads="1" noChangeShapeType="1" noTextEdit="1"/>
              </p:cNvSpPr>
              <p:nvPr/>
            </p:nvSpPr>
            <p:spPr>
              <a:xfrm>
                <a:off x="1853201" y="5907965"/>
                <a:ext cx="1797222" cy="369332"/>
              </a:xfrm>
              <a:prstGeom prst="rect">
                <a:avLst/>
              </a:prstGeom>
              <a:blipFill>
                <a:blip r:embed="rId16"/>
                <a:stretch>
                  <a:fillRect b="-13115"/>
                </a:stretch>
              </a:blipFill>
            </p:spPr>
            <p:txBody>
              <a:bodyPr/>
              <a:lstStyle/>
              <a:p>
                <a:r>
                  <a:rPr lang="en-US">
                    <a:noFill/>
                  </a:rPr>
                  <a:t> </a:t>
                </a:r>
              </a:p>
            </p:txBody>
          </p:sp>
        </mc:Fallback>
      </mc:AlternateContent>
    </p:spTree>
    <p:extLst>
      <p:ext uri="{BB962C8B-B14F-4D97-AF65-F5344CB8AC3E}">
        <p14:creationId xmlns:p14="http://schemas.microsoft.com/office/powerpoint/2010/main" val="1876368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5984-4E8D-402F-9F27-442F41C97674}"/>
              </a:ext>
            </a:extLst>
          </p:cNvPr>
          <p:cNvSpPr>
            <a:spLocks noGrp="1"/>
          </p:cNvSpPr>
          <p:nvPr>
            <p:ph type="title"/>
          </p:nvPr>
        </p:nvSpPr>
        <p:spPr/>
        <p:txBody>
          <a:bodyPr/>
          <a:lstStyle/>
          <a:p>
            <a:r>
              <a:rPr lang="en-US" dirty="0"/>
              <a:t>CMV </a:t>
            </a:r>
            <a:r>
              <a:rPr lang="en-US" dirty="0" smtClean="0"/>
              <a:t>Comparisons- Equal Carrier Phases </a:t>
            </a:r>
            <a:endParaRPr lang="en-US" dirty="0"/>
          </a:p>
        </p:txBody>
      </p:sp>
      <p:pic>
        <p:nvPicPr>
          <p:cNvPr id="4" name="Picture 3"/>
          <p:cNvPicPr>
            <a:picLocks noChangeAspect="1"/>
          </p:cNvPicPr>
          <p:nvPr/>
        </p:nvPicPr>
        <p:blipFill>
          <a:blip r:embed="rId2"/>
          <a:stretch>
            <a:fillRect/>
          </a:stretch>
        </p:blipFill>
        <p:spPr>
          <a:xfrm>
            <a:off x="658900" y="1901903"/>
            <a:ext cx="5389476" cy="3812669"/>
          </a:xfrm>
          <a:prstGeom prst="rect">
            <a:avLst/>
          </a:prstGeom>
        </p:spPr>
      </p:pic>
      <p:pic>
        <p:nvPicPr>
          <p:cNvPr id="5" name="Picture 4"/>
          <p:cNvPicPr>
            <a:picLocks noChangeAspect="1"/>
          </p:cNvPicPr>
          <p:nvPr/>
        </p:nvPicPr>
        <p:blipFill>
          <a:blip r:embed="rId3"/>
          <a:stretch>
            <a:fillRect/>
          </a:stretch>
        </p:blipFill>
        <p:spPr>
          <a:xfrm>
            <a:off x="6208454" y="1979913"/>
            <a:ext cx="5145346" cy="3639965"/>
          </a:xfrm>
          <a:prstGeom prst="rect">
            <a:avLst/>
          </a:prstGeom>
        </p:spPr>
      </p:pic>
    </p:spTree>
    <p:extLst>
      <p:ext uri="{BB962C8B-B14F-4D97-AF65-F5344CB8AC3E}">
        <p14:creationId xmlns:p14="http://schemas.microsoft.com/office/powerpoint/2010/main" val="29743561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5984-4E8D-402F-9F27-442F41C97674}"/>
              </a:ext>
            </a:extLst>
          </p:cNvPr>
          <p:cNvSpPr>
            <a:spLocks noGrp="1"/>
          </p:cNvSpPr>
          <p:nvPr>
            <p:ph type="title"/>
          </p:nvPr>
        </p:nvSpPr>
        <p:spPr/>
        <p:txBody>
          <a:bodyPr/>
          <a:lstStyle/>
          <a:p>
            <a:r>
              <a:rPr lang="en-US" dirty="0"/>
              <a:t>CMV </a:t>
            </a:r>
            <a:r>
              <a:rPr lang="en-US" dirty="0" smtClean="0"/>
              <a:t>Comparisons- 0-120-240 carrier phases</a:t>
            </a:r>
            <a:endParaRPr lang="en-US" dirty="0"/>
          </a:p>
        </p:txBody>
      </p:sp>
      <p:pic>
        <p:nvPicPr>
          <p:cNvPr id="7" name="Picture 6"/>
          <p:cNvPicPr>
            <a:picLocks noChangeAspect="1"/>
          </p:cNvPicPr>
          <p:nvPr/>
        </p:nvPicPr>
        <p:blipFill>
          <a:blip r:embed="rId2"/>
          <a:stretch>
            <a:fillRect/>
          </a:stretch>
        </p:blipFill>
        <p:spPr>
          <a:xfrm>
            <a:off x="490538" y="1825174"/>
            <a:ext cx="5424488" cy="3837438"/>
          </a:xfrm>
          <a:prstGeom prst="rect">
            <a:avLst/>
          </a:prstGeom>
        </p:spPr>
      </p:pic>
      <p:pic>
        <p:nvPicPr>
          <p:cNvPr id="8" name="Picture 7"/>
          <p:cNvPicPr>
            <a:picLocks noChangeAspect="1"/>
          </p:cNvPicPr>
          <p:nvPr/>
        </p:nvPicPr>
        <p:blipFill>
          <a:blip r:embed="rId3"/>
          <a:stretch>
            <a:fillRect/>
          </a:stretch>
        </p:blipFill>
        <p:spPr>
          <a:xfrm>
            <a:off x="6096001" y="1862095"/>
            <a:ext cx="5467350" cy="3867759"/>
          </a:xfrm>
          <a:prstGeom prst="rect">
            <a:avLst/>
          </a:prstGeom>
        </p:spPr>
      </p:pic>
    </p:spTree>
    <p:extLst>
      <p:ext uri="{BB962C8B-B14F-4D97-AF65-F5344CB8AC3E}">
        <p14:creationId xmlns:p14="http://schemas.microsoft.com/office/powerpoint/2010/main" val="33995507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95984-4E8D-402F-9F27-442F41C97674}"/>
              </a:ext>
            </a:extLst>
          </p:cNvPr>
          <p:cNvSpPr>
            <a:spLocks noGrp="1"/>
          </p:cNvSpPr>
          <p:nvPr>
            <p:ph type="title"/>
          </p:nvPr>
        </p:nvSpPr>
        <p:spPr/>
        <p:txBody>
          <a:bodyPr/>
          <a:lstStyle/>
          <a:p>
            <a:r>
              <a:rPr lang="en-US" dirty="0"/>
              <a:t>CMV </a:t>
            </a:r>
            <a:r>
              <a:rPr lang="en-US" dirty="0" smtClean="0"/>
              <a:t>Comparisons- Variable</a:t>
            </a:r>
            <a:endParaRPr lang="en-US" dirty="0"/>
          </a:p>
        </p:txBody>
      </p:sp>
      <p:pic>
        <p:nvPicPr>
          <p:cNvPr id="3" name="Picture 2"/>
          <p:cNvPicPr>
            <a:picLocks noChangeAspect="1"/>
          </p:cNvPicPr>
          <p:nvPr/>
        </p:nvPicPr>
        <p:blipFill>
          <a:blip r:embed="rId2"/>
          <a:stretch>
            <a:fillRect/>
          </a:stretch>
        </p:blipFill>
        <p:spPr>
          <a:xfrm>
            <a:off x="209550" y="1622195"/>
            <a:ext cx="5553075" cy="3928404"/>
          </a:xfrm>
          <a:prstGeom prst="rect">
            <a:avLst/>
          </a:prstGeom>
        </p:spPr>
      </p:pic>
      <p:pic>
        <p:nvPicPr>
          <p:cNvPr id="4" name="Picture 3"/>
          <p:cNvPicPr>
            <a:picLocks noChangeAspect="1"/>
          </p:cNvPicPr>
          <p:nvPr/>
        </p:nvPicPr>
        <p:blipFill>
          <a:blip r:embed="rId3"/>
          <a:stretch>
            <a:fillRect/>
          </a:stretch>
        </p:blipFill>
        <p:spPr>
          <a:xfrm>
            <a:off x="6146711" y="1622195"/>
            <a:ext cx="5553075" cy="3928404"/>
          </a:xfrm>
          <a:prstGeom prst="rect">
            <a:avLst/>
          </a:prstGeom>
        </p:spPr>
      </p:pic>
    </p:spTree>
    <p:extLst>
      <p:ext uri="{BB962C8B-B14F-4D97-AF65-F5344CB8AC3E}">
        <p14:creationId xmlns:p14="http://schemas.microsoft.com/office/powerpoint/2010/main" val="6107148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Arrow Connector 3"/>
          <p:cNvCxnSpPr/>
          <p:nvPr/>
        </p:nvCxnSpPr>
        <p:spPr>
          <a:xfrm flipV="1">
            <a:off x="1606439" y="3828919"/>
            <a:ext cx="956635" cy="4879"/>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p:cNvCxnSpPr/>
          <p:nvPr/>
        </p:nvCxnSpPr>
        <p:spPr>
          <a:xfrm flipH="1">
            <a:off x="964518" y="3828919"/>
            <a:ext cx="641921" cy="30513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flipH="1" flipV="1">
            <a:off x="1536466" y="3319087"/>
            <a:ext cx="69974" cy="496200"/>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363481" y="2949755"/>
            <a:ext cx="350520" cy="369332"/>
          </a:xfrm>
          <a:prstGeom prst="rect">
            <a:avLst/>
          </a:prstGeom>
          <a:noFill/>
        </p:spPr>
        <p:txBody>
          <a:bodyPr wrap="square" rtlCol="0">
            <a:spAutoFit/>
          </a:bodyPr>
          <a:lstStyle/>
          <a:p>
            <a:r>
              <a:rPr lang="en-US" dirty="0"/>
              <a:t>B</a:t>
            </a:r>
            <a:endParaRPr lang="sv-SE" dirty="0"/>
          </a:p>
        </p:txBody>
      </p:sp>
      <p:sp>
        <p:nvSpPr>
          <p:cNvPr id="8" name="Arc 7"/>
          <p:cNvSpPr/>
          <p:nvPr/>
        </p:nvSpPr>
        <p:spPr>
          <a:xfrm rot="2502697">
            <a:off x="1503142" y="3689452"/>
            <a:ext cx="402846" cy="159782"/>
          </a:xfrm>
          <a:prstGeom prst="arc">
            <a:avLst>
              <a:gd name="adj1" fmla="val 11340923"/>
              <a:gd name="adj2" fmla="val 2004212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mc:Choice xmlns:a14="http://schemas.microsoft.com/office/drawing/2010/main" Requires="a14">
          <p:sp>
            <p:nvSpPr>
              <p:cNvPr id="9" name="TextBox 8"/>
              <p:cNvSpPr txBox="1"/>
              <p:nvPr/>
            </p:nvSpPr>
            <p:spPr>
              <a:xfrm>
                <a:off x="1571453" y="3284442"/>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𝐶𝐵</m:t>
                          </m:r>
                        </m:sub>
                      </m:sSub>
                    </m:oMath>
                  </m:oMathPara>
                </a14:m>
                <a:endParaRPr lang="sv-SE" dirty="0"/>
              </a:p>
            </p:txBody>
          </p:sp>
        </mc:Choice>
        <mc:Fallback>
          <p:sp>
            <p:nvSpPr>
              <p:cNvPr id="9" name="TextBox 8"/>
              <p:cNvSpPr txBox="1">
                <a:spLocks noRot="1" noChangeAspect="1" noMove="1" noResize="1" noEditPoints="1" noAdjustHandles="1" noChangeArrowheads="1" noChangeShapeType="1" noTextEdit="1"/>
              </p:cNvSpPr>
              <p:nvPr/>
            </p:nvSpPr>
            <p:spPr>
              <a:xfrm>
                <a:off x="1571453" y="3284442"/>
                <a:ext cx="601661" cy="369332"/>
              </a:xfrm>
              <a:prstGeom prst="rect">
                <a:avLst/>
              </a:prstGeom>
              <a:blipFill>
                <a:blip r:embed="rId2"/>
                <a:stretch>
                  <a:fillRect b="-13333"/>
                </a:stretch>
              </a:blipFill>
            </p:spPr>
            <p:txBody>
              <a:bodyPr/>
              <a:lstStyle/>
              <a:p>
                <a:r>
                  <a:rPr lang="sv-SE">
                    <a:noFill/>
                  </a:rPr>
                  <a:t> </a:t>
                </a:r>
              </a:p>
            </p:txBody>
          </p:sp>
        </mc:Fallback>
      </mc:AlternateContent>
      <p:sp>
        <p:nvSpPr>
          <p:cNvPr id="10" name="TextBox 9"/>
          <p:cNvSpPr txBox="1"/>
          <p:nvPr/>
        </p:nvSpPr>
        <p:spPr>
          <a:xfrm>
            <a:off x="789258" y="4129795"/>
            <a:ext cx="350520" cy="369332"/>
          </a:xfrm>
          <a:prstGeom prst="rect">
            <a:avLst/>
          </a:prstGeom>
          <a:noFill/>
        </p:spPr>
        <p:txBody>
          <a:bodyPr wrap="square" rtlCol="0">
            <a:spAutoFit/>
          </a:bodyPr>
          <a:lstStyle/>
          <a:p>
            <a:r>
              <a:rPr lang="en-US" dirty="0"/>
              <a:t>C</a:t>
            </a:r>
            <a:endParaRPr lang="sv-SE" dirty="0"/>
          </a:p>
        </p:txBody>
      </p:sp>
      <p:sp>
        <p:nvSpPr>
          <p:cNvPr id="11" name="Arc 10"/>
          <p:cNvSpPr/>
          <p:nvPr/>
        </p:nvSpPr>
        <p:spPr>
          <a:xfrm rot="9696706">
            <a:off x="1316215" y="3814540"/>
            <a:ext cx="402846" cy="159782"/>
          </a:xfrm>
          <a:prstGeom prst="arc">
            <a:avLst>
              <a:gd name="adj1" fmla="val 11340923"/>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mc:Choice xmlns:a14="http://schemas.microsoft.com/office/drawing/2010/main" Requires="a14">
          <p:sp>
            <p:nvSpPr>
              <p:cNvPr id="12" name="TextBox 11"/>
              <p:cNvSpPr txBox="1"/>
              <p:nvPr/>
            </p:nvSpPr>
            <p:spPr>
              <a:xfrm>
                <a:off x="1473171" y="3871492"/>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a:rPr lang="en-US" b="0" i="1" smtClean="0">
                              <a:latin typeface="Cambria Math" panose="02040503050406030204" pitchFamily="18" charset="0"/>
                            </a:rPr>
                            <m:t>𝜙</m:t>
                          </m:r>
                        </m:e>
                        <m:sub>
                          <m:r>
                            <a:rPr lang="en-US" b="0" i="1" smtClean="0">
                              <a:latin typeface="Cambria Math" panose="02040503050406030204" pitchFamily="18" charset="0"/>
                            </a:rPr>
                            <m:t>𝐶𝐶</m:t>
                          </m:r>
                        </m:sub>
                      </m:sSub>
                    </m:oMath>
                  </m:oMathPara>
                </a14:m>
                <a:endParaRPr lang="sv-SE" dirty="0"/>
              </a:p>
            </p:txBody>
          </p:sp>
        </mc:Choice>
        <mc:Fallback>
          <p:sp>
            <p:nvSpPr>
              <p:cNvPr id="12" name="TextBox 11"/>
              <p:cNvSpPr txBox="1">
                <a:spLocks noRot="1" noChangeAspect="1" noMove="1" noResize="1" noEditPoints="1" noAdjustHandles="1" noChangeArrowheads="1" noChangeShapeType="1" noTextEdit="1"/>
              </p:cNvSpPr>
              <p:nvPr/>
            </p:nvSpPr>
            <p:spPr>
              <a:xfrm>
                <a:off x="1473171" y="3871492"/>
                <a:ext cx="601661" cy="369332"/>
              </a:xfrm>
              <a:prstGeom prst="rect">
                <a:avLst/>
              </a:prstGeom>
              <a:blipFill>
                <a:blip r:embed="rId3"/>
                <a:stretch>
                  <a:fillRect r="-14286" b="-11475"/>
                </a:stretch>
              </a:blipFill>
            </p:spPr>
            <p:txBody>
              <a:bodyPr/>
              <a:lstStyle/>
              <a:p>
                <a:r>
                  <a:rPr lang="sv-SE">
                    <a:noFill/>
                  </a:rPr>
                  <a:t> </a:t>
                </a:r>
              </a:p>
            </p:txBody>
          </p:sp>
        </mc:Fallback>
      </mc:AlternateContent>
      <p:sp>
        <p:nvSpPr>
          <p:cNvPr id="27" name="TextBox 26"/>
          <p:cNvSpPr txBox="1"/>
          <p:nvPr/>
        </p:nvSpPr>
        <p:spPr>
          <a:xfrm>
            <a:off x="2554732" y="3597821"/>
            <a:ext cx="350520" cy="369332"/>
          </a:xfrm>
          <a:prstGeom prst="rect">
            <a:avLst/>
          </a:prstGeom>
          <a:noFill/>
        </p:spPr>
        <p:txBody>
          <a:bodyPr wrap="square" rtlCol="0">
            <a:spAutoFit/>
          </a:bodyPr>
          <a:lstStyle/>
          <a:p>
            <a:r>
              <a:rPr lang="en-US" dirty="0" smtClean="0"/>
              <a:t>A</a:t>
            </a:r>
            <a:endParaRPr lang="sv-SE" dirty="0"/>
          </a:p>
        </p:txBody>
      </p:sp>
      <p:cxnSp>
        <p:nvCxnSpPr>
          <p:cNvPr id="28" name="Straight Arrow Connector 27"/>
          <p:cNvCxnSpPr/>
          <p:nvPr/>
        </p:nvCxnSpPr>
        <p:spPr>
          <a:xfrm flipV="1">
            <a:off x="4806839" y="3596479"/>
            <a:ext cx="711311" cy="283614"/>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flipH="1" flipV="1">
            <a:off x="4476750" y="3338092"/>
            <a:ext cx="330089" cy="558695"/>
          </a:xfrm>
          <a:prstGeom prst="straightConnector1">
            <a:avLst/>
          </a:prstGeom>
          <a:ln w="25400">
            <a:solidFill>
              <a:srgbClr val="E622EB"/>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flipH="1">
            <a:off x="4476750" y="3869789"/>
            <a:ext cx="340939" cy="441386"/>
          </a:xfrm>
          <a:prstGeom prst="straightConnector1">
            <a:avLst/>
          </a:prstGeom>
          <a:ln w="254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p:nvPr/>
        </p:nvCxnSpPr>
        <p:spPr>
          <a:xfrm>
            <a:off x="3911600" y="3880094"/>
            <a:ext cx="2184400" cy="3109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p:nvPr/>
        </p:nvCxnSpPr>
        <p:spPr>
          <a:xfrm flipV="1">
            <a:off x="4806728" y="2781357"/>
            <a:ext cx="111" cy="1505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6" name="Arc 45"/>
          <p:cNvSpPr/>
          <p:nvPr/>
        </p:nvSpPr>
        <p:spPr>
          <a:xfrm rot="2502697">
            <a:off x="4981221" y="3852057"/>
            <a:ext cx="402846" cy="159782"/>
          </a:xfrm>
          <a:prstGeom prst="arc">
            <a:avLst>
              <a:gd name="adj1" fmla="val 11340923"/>
              <a:gd name="adj2" fmla="val 17510468"/>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mc:Choice xmlns:a14="http://schemas.microsoft.com/office/drawing/2010/main" Requires="a14">
          <p:sp>
            <p:nvSpPr>
              <p:cNvPr id="47" name="TextBox 46"/>
              <p:cNvSpPr txBox="1"/>
              <p:nvPr/>
            </p:nvSpPr>
            <p:spPr>
              <a:xfrm>
                <a:off x="5123101" y="3596479"/>
                <a:ext cx="601661" cy="338554"/>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rgbClr val="002060"/>
                              </a:solidFill>
                              <a:latin typeface="Cambria Math" panose="02040503050406030204" pitchFamily="18" charset="0"/>
                            </a:rPr>
                          </m:ctrlPr>
                        </m:sSubPr>
                        <m:e>
                          <m:r>
                            <a:rPr lang="en-US" sz="1600" b="0" i="1" smtClean="0">
                              <a:solidFill>
                                <a:srgbClr val="002060"/>
                              </a:solidFill>
                              <a:latin typeface="Cambria Math" panose="02040503050406030204" pitchFamily="18" charset="0"/>
                            </a:rPr>
                            <m:t>𝜙</m:t>
                          </m:r>
                        </m:e>
                        <m:sub>
                          <m:r>
                            <a:rPr lang="en-US" sz="1600" b="0" i="1" smtClean="0">
                              <a:solidFill>
                                <a:srgbClr val="002060"/>
                              </a:solidFill>
                              <a:latin typeface="Cambria Math" panose="02040503050406030204" pitchFamily="18" charset="0"/>
                            </a:rPr>
                            <m:t>𝐶</m:t>
                          </m:r>
                          <m:r>
                            <a:rPr lang="en-US" sz="1600" b="0" i="1" smtClean="0">
                              <a:solidFill>
                                <a:srgbClr val="002060"/>
                              </a:solidFill>
                              <a:latin typeface="Cambria Math" panose="02040503050406030204" pitchFamily="18" charset="0"/>
                            </a:rPr>
                            <m:t>𝐴</m:t>
                          </m:r>
                        </m:sub>
                      </m:sSub>
                    </m:oMath>
                  </m:oMathPara>
                </a14:m>
                <a:endParaRPr lang="sv-SE" dirty="0"/>
              </a:p>
            </p:txBody>
          </p:sp>
        </mc:Choice>
        <mc:Fallback>
          <p:sp>
            <p:nvSpPr>
              <p:cNvPr id="47" name="TextBox 46"/>
              <p:cNvSpPr txBox="1">
                <a:spLocks noRot="1" noChangeAspect="1" noMove="1" noResize="1" noEditPoints="1" noAdjustHandles="1" noChangeArrowheads="1" noChangeShapeType="1" noTextEdit="1"/>
              </p:cNvSpPr>
              <p:nvPr/>
            </p:nvSpPr>
            <p:spPr>
              <a:xfrm>
                <a:off x="5123101" y="3596479"/>
                <a:ext cx="601661" cy="338554"/>
              </a:xfrm>
              <a:prstGeom prst="rect">
                <a:avLst/>
              </a:prstGeom>
              <a:blipFill>
                <a:blip r:embed="rId4"/>
                <a:stretch>
                  <a:fillRect b="-8929"/>
                </a:stretch>
              </a:blipFill>
            </p:spPr>
            <p:txBody>
              <a:bodyPr/>
              <a:lstStyle/>
              <a:p>
                <a:r>
                  <a:rPr lang="sv-SE">
                    <a:noFill/>
                  </a:rPr>
                  <a:t> </a:t>
                </a:r>
              </a:p>
            </p:txBody>
          </p:sp>
        </mc:Fallback>
      </mc:AlternateContent>
      <p:sp>
        <p:nvSpPr>
          <p:cNvPr id="48" name="Arc 47"/>
          <p:cNvSpPr/>
          <p:nvPr/>
        </p:nvSpPr>
        <p:spPr>
          <a:xfrm rot="2502697">
            <a:off x="4605305" y="3735396"/>
            <a:ext cx="402846" cy="159782"/>
          </a:xfrm>
          <a:prstGeom prst="arc">
            <a:avLst>
              <a:gd name="adj1" fmla="val 11340923"/>
              <a:gd name="adj2" fmla="val 20696075"/>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mc:Choice xmlns:a14="http://schemas.microsoft.com/office/drawing/2010/main" Requires="a14">
          <p:sp>
            <p:nvSpPr>
              <p:cNvPr id="49" name="Rectangle 48"/>
              <p:cNvSpPr/>
              <p:nvPr/>
            </p:nvSpPr>
            <p:spPr>
              <a:xfrm>
                <a:off x="4691352" y="3402042"/>
                <a:ext cx="575542" cy="33855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sz="1600" i="1" smtClean="0">
                              <a:solidFill>
                                <a:srgbClr val="E622EB"/>
                              </a:solidFill>
                              <a:latin typeface="Cambria Math" panose="02040503050406030204" pitchFamily="18" charset="0"/>
                            </a:rPr>
                          </m:ctrlPr>
                        </m:sSubPr>
                        <m:e>
                          <m:r>
                            <a:rPr lang="en-US" sz="1600" i="1">
                              <a:solidFill>
                                <a:srgbClr val="E622EB"/>
                              </a:solidFill>
                              <a:latin typeface="Cambria Math" panose="02040503050406030204" pitchFamily="18" charset="0"/>
                            </a:rPr>
                            <m:t>𝜙</m:t>
                          </m:r>
                        </m:e>
                        <m:sub>
                          <m:r>
                            <a:rPr lang="en-US" sz="1600" i="1">
                              <a:solidFill>
                                <a:srgbClr val="E622EB"/>
                              </a:solidFill>
                              <a:latin typeface="Cambria Math" panose="02040503050406030204" pitchFamily="18" charset="0"/>
                            </a:rPr>
                            <m:t>𝐶</m:t>
                          </m:r>
                          <m:r>
                            <a:rPr lang="en-US" sz="1600" b="0" i="1" smtClean="0">
                              <a:solidFill>
                                <a:srgbClr val="E622EB"/>
                              </a:solidFill>
                              <a:latin typeface="Cambria Math" panose="02040503050406030204" pitchFamily="18" charset="0"/>
                            </a:rPr>
                            <m:t>𝐵</m:t>
                          </m:r>
                        </m:sub>
                      </m:sSub>
                    </m:oMath>
                  </m:oMathPara>
                </a14:m>
                <a:endParaRPr lang="sv-SE" dirty="0"/>
              </a:p>
            </p:txBody>
          </p:sp>
        </mc:Choice>
        <mc:Fallback>
          <p:sp>
            <p:nvSpPr>
              <p:cNvPr id="49" name="Rectangle 48"/>
              <p:cNvSpPr>
                <a:spLocks noRot="1" noChangeAspect="1" noMove="1" noResize="1" noEditPoints="1" noAdjustHandles="1" noChangeArrowheads="1" noChangeShapeType="1" noTextEdit="1"/>
              </p:cNvSpPr>
              <p:nvPr/>
            </p:nvSpPr>
            <p:spPr>
              <a:xfrm>
                <a:off x="4691352" y="3402042"/>
                <a:ext cx="575542" cy="338554"/>
              </a:xfrm>
              <a:prstGeom prst="rect">
                <a:avLst/>
              </a:prstGeom>
              <a:blipFill>
                <a:blip r:embed="rId5"/>
                <a:stretch>
                  <a:fillRect b="-8929"/>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50" name="Rectangle 49"/>
              <p:cNvSpPr/>
              <p:nvPr/>
            </p:nvSpPr>
            <p:spPr>
              <a:xfrm>
                <a:off x="4697158" y="3918561"/>
                <a:ext cx="722314" cy="338554"/>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r>
                        <a:rPr lang="en-US" sz="1600" b="0" i="1" smtClean="0">
                          <a:solidFill>
                            <a:srgbClr val="92D050"/>
                          </a:solidFill>
                          <a:latin typeface="Cambria Math" panose="02040503050406030204" pitchFamily="18" charset="0"/>
                        </a:rPr>
                        <m:t>−</m:t>
                      </m:r>
                      <m:sSub>
                        <m:sSubPr>
                          <m:ctrlPr>
                            <a:rPr lang="en-US" sz="1600" i="1" smtClean="0">
                              <a:solidFill>
                                <a:srgbClr val="92D050"/>
                              </a:solidFill>
                              <a:latin typeface="Cambria Math" panose="02040503050406030204" pitchFamily="18" charset="0"/>
                            </a:rPr>
                          </m:ctrlPr>
                        </m:sSubPr>
                        <m:e>
                          <m:r>
                            <a:rPr lang="en-US" sz="1600" i="1">
                              <a:solidFill>
                                <a:srgbClr val="92D050"/>
                              </a:solidFill>
                              <a:latin typeface="Cambria Math" panose="02040503050406030204" pitchFamily="18" charset="0"/>
                            </a:rPr>
                            <m:t>𝜙</m:t>
                          </m:r>
                        </m:e>
                        <m:sub>
                          <m:r>
                            <a:rPr lang="en-US" sz="1600" i="1">
                              <a:solidFill>
                                <a:srgbClr val="92D050"/>
                              </a:solidFill>
                              <a:latin typeface="Cambria Math" panose="02040503050406030204" pitchFamily="18" charset="0"/>
                            </a:rPr>
                            <m:t>𝐶</m:t>
                          </m:r>
                          <m:r>
                            <a:rPr lang="en-US" sz="1600" b="0" i="1" smtClean="0">
                              <a:solidFill>
                                <a:srgbClr val="92D050"/>
                              </a:solidFill>
                              <a:latin typeface="Cambria Math" panose="02040503050406030204" pitchFamily="18" charset="0"/>
                            </a:rPr>
                            <m:t>𝐶</m:t>
                          </m:r>
                        </m:sub>
                      </m:sSub>
                    </m:oMath>
                  </m:oMathPara>
                </a14:m>
                <a:endParaRPr lang="sv-SE" dirty="0"/>
              </a:p>
            </p:txBody>
          </p:sp>
        </mc:Choice>
        <mc:Fallback>
          <p:sp>
            <p:nvSpPr>
              <p:cNvPr id="50" name="Rectangle 49"/>
              <p:cNvSpPr>
                <a:spLocks noRot="1" noChangeAspect="1" noMove="1" noResize="1" noEditPoints="1" noAdjustHandles="1" noChangeArrowheads="1" noChangeShapeType="1" noTextEdit="1"/>
              </p:cNvSpPr>
              <p:nvPr/>
            </p:nvSpPr>
            <p:spPr>
              <a:xfrm>
                <a:off x="4697158" y="3918561"/>
                <a:ext cx="722314" cy="338554"/>
              </a:xfrm>
              <a:prstGeom prst="rect">
                <a:avLst/>
              </a:prstGeom>
              <a:blipFill>
                <a:blip r:embed="rId6"/>
                <a:stretch>
                  <a:fillRect b="-10909"/>
                </a:stretch>
              </a:blipFill>
            </p:spPr>
            <p:txBody>
              <a:bodyPr/>
              <a:lstStyle/>
              <a:p>
                <a:r>
                  <a:rPr lang="sv-SE">
                    <a:noFill/>
                  </a:rPr>
                  <a:t> </a:t>
                </a:r>
              </a:p>
            </p:txBody>
          </p:sp>
        </mc:Fallback>
      </mc:AlternateContent>
      <p:sp>
        <p:nvSpPr>
          <p:cNvPr id="51" name="Arc 50"/>
          <p:cNvSpPr/>
          <p:nvPr/>
        </p:nvSpPr>
        <p:spPr>
          <a:xfrm rot="9696706">
            <a:off x="4678768" y="3855141"/>
            <a:ext cx="402846" cy="159782"/>
          </a:xfrm>
          <a:prstGeom prst="arc">
            <a:avLst>
              <a:gd name="adj1" fmla="val 11195846"/>
              <a:gd name="adj2" fmla="val 21091131"/>
            </a:avLst>
          </a:prstGeom>
          <a:ln>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mc:AlternateContent xmlns:mc="http://schemas.openxmlformats.org/markup-compatibility/2006">
        <mc:Choice xmlns:a14="http://schemas.microsoft.com/office/drawing/2010/main" Requires="a14">
          <p:sp>
            <p:nvSpPr>
              <p:cNvPr id="52" name="Rectangle 51"/>
              <p:cNvSpPr/>
              <p:nvPr/>
            </p:nvSpPr>
            <p:spPr>
              <a:xfrm>
                <a:off x="5481496" y="3319087"/>
                <a:ext cx="689676" cy="4086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b="0" i="1" smtClean="0">
                              <a:solidFill>
                                <a:srgbClr val="002060"/>
                              </a:solidFill>
                              <a:latin typeface="Cambria Math" panose="02040503050406030204" pitchFamily="18" charset="0"/>
                            </a:rPr>
                          </m:ctrlPr>
                        </m:sSupPr>
                        <m:e>
                          <m:acc>
                            <m:accPr>
                              <m:chr m:val="̂"/>
                              <m:ctrlPr>
                                <a:rPr lang="en-US" b="0" i="1" smtClean="0">
                                  <a:solidFill>
                                    <a:srgbClr val="002060"/>
                                  </a:solidFill>
                                  <a:latin typeface="Cambria Math" panose="02040503050406030204" pitchFamily="18" charset="0"/>
                                </a:rPr>
                              </m:ctrlPr>
                            </m:accPr>
                            <m:e>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𝑉</m:t>
                                  </m:r>
                                </m:e>
                                <m:sub>
                                  <m:r>
                                    <a:rPr lang="en-US" b="0" i="1" smtClean="0">
                                      <a:solidFill>
                                        <a:srgbClr val="002060"/>
                                      </a:solidFill>
                                      <a:latin typeface="Cambria Math" panose="02040503050406030204" pitchFamily="18" charset="0"/>
                                    </a:rPr>
                                    <m:t>𝐴</m:t>
                                  </m:r>
                                </m:sub>
                              </m:sSub>
                            </m:e>
                          </m:acc>
                        </m:e>
                        <m:sup>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𝜔</m:t>
                              </m:r>
                            </m:e>
                            <m:sub>
                              <m:r>
                                <a:rPr lang="en-US" b="0" i="1" smtClean="0">
                                  <a:solidFill>
                                    <a:srgbClr val="002060"/>
                                  </a:solidFill>
                                  <a:latin typeface="Cambria Math" panose="02040503050406030204" pitchFamily="18" charset="0"/>
                                </a:rPr>
                                <m:t>𝑐</m:t>
                              </m:r>
                            </m:sub>
                          </m:sSub>
                        </m:sup>
                      </m:sSup>
                    </m:oMath>
                  </m:oMathPara>
                </a14:m>
                <a:endParaRPr lang="sv-SE" dirty="0"/>
              </a:p>
            </p:txBody>
          </p:sp>
        </mc:Choice>
        <mc:Fallback>
          <p:sp>
            <p:nvSpPr>
              <p:cNvPr id="52" name="Rectangle 51"/>
              <p:cNvSpPr>
                <a:spLocks noRot="1" noChangeAspect="1" noMove="1" noResize="1" noEditPoints="1" noAdjustHandles="1" noChangeArrowheads="1" noChangeShapeType="1" noTextEdit="1"/>
              </p:cNvSpPr>
              <p:nvPr/>
            </p:nvSpPr>
            <p:spPr>
              <a:xfrm>
                <a:off x="5481496" y="3319087"/>
                <a:ext cx="689676" cy="408638"/>
              </a:xfrm>
              <a:prstGeom prst="rect">
                <a:avLst/>
              </a:prstGeom>
              <a:blipFill>
                <a:blip r:embed="rId7"/>
                <a:stretch>
                  <a:fillRect r="-885"/>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53" name="Rectangle 52"/>
              <p:cNvSpPr/>
              <p:nvPr/>
            </p:nvSpPr>
            <p:spPr>
              <a:xfrm>
                <a:off x="4106202" y="2908364"/>
                <a:ext cx="705578" cy="4086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b="0" i="1" smtClean="0">
                              <a:solidFill>
                                <a:srgbClr val="E622EB"/>
                              </a:solidFill>
                              <a:latin typeface="Cambria Math" panose="02040503050406030204" pitchFamily="18" charset="0"/>
                            </a:rPr>
                          </m:ctrlPr>
                        </m:sSupPr>
                        <m:e>
                          <m:acc>
                            <m:accPr>
                              <m:chr m:val="̂"/>
                              <m:ctrlPr>
                                <a:rPr lang="en-US" b="0" i="1" smtClean="0">
                                  <a:solidFill>
                                    <a:srgbClr val="E622EB"/>
                                  </a:solidFill>
                                  <a:latin typeface="Cambria Math" panose="02040503050406030204" pitchFamily="18" charset="0"/>
                                </a:rPr>
                              </m:ctrlPr>
                            </m:accPr>
                            <m:e>
                              <m:sSub>
                                <m:sSubPr>
                                  <m:ctrlPr>
                                    <a:rPr lang="en-US" b="0" i="1" smtClean="0">
                                      <a:solidFill>
                                        <a:srgbClr val="E622EB"/>
                                      </a:solidFill>
                                      <a:latin typeface="Cambria Math" panose="02040503050406030204" pitchFamily="18" charset="0"/>
                                    </a:rPr>
                                  </m:ctrlPr>
                                </m:sSubPr>
                                <m:e>
                                  <m:r>
                                    <a:rPr lang="en-US" b="0" i="1" smtClean="0">
                                      <a:solidFill>
                                        <a:srgbClr val="E622EB"/>
                                      </a:solidFill>
                                      <a:latin typeface="Cambria Math" panose="02040503050406030204" pitchFamily="18" charset="0"/>
                                    </a:rPr>
                                    <m:t>𝑉</m:t>
                                  </m:r>
                                </m:e>
                                <m:sub>
                                  <m:r>
                                    <a:rPr lang="en-US" b="0" i="1" smtClean="0">
                                      <a:solidFill>
                                        <a:srgbClr val="E622EB"/>
                                      </a:solidFill>
                                      <a:latin typeface="Cambria Math" panose="02040503050406030204" pitchFamily="18" charset="0"/>
                                    </a:rPr>
                                    <m:t>𝐵</m:t>
                                  </m:r>
                                </m:sub>
                              </m:sSub>
                            </m:e>
                          </m:acc>
                        </m:e>
                        <m:sup>
                          <m:sSub>
                            <m:sSubPr>
                              <m:ctrlPr>
                                <a:rPr lang="en-US" b="0" i="1" smtClean="0">
                                  <a:solidFill>
                                    <a:srgbClr val="E622EB"/>
                                  </a:solidFill>
                                  <a:latin typeface="Cambria Math" panose="02040503050406030204" pitchFamily="18" charset="0"/>
                                </a:rPr>
                              </m:ctrlPr>
                            </m:sSubPr>
                            <m:e>
                              <m:r>
                                <a:rPr lang="en-US" b="0" i="1" smtClean="0">
                                  <a:solidFill>
                                    <a:srgbClr val="E622EB"/>
                                  </a:solidFill>
                                  <a:latin typeface="Cambria Math" panose="02040503050406030204" pitchFamily="18" charset="0"/>
                                </a:rPr>
                                <m:t>𝜔</m:t>
                              </m:r>
                            </m:e>
                            <m:sub>
                              <m:r>
                                <a:rPr lang="en-US" b="0" i="1" smtClean="0">
                                  <a:solidFill>
                                    <a:srgbClr val="E622EB"/>
                                  </a:solidFill>
                                  <a:latin typeface="Cambria Math" panose="02040503050406030204" pitchFamily="18" charset="0"/>
                                </a:rPr>
                                <m:t>𝑐</m:t>
                              </m:r>
                            </m:sub>
                          </m:sSub>
                        </m:sup>
                      </m:sSup>
                    </m:oMath>
                  </m:oMathPara>
                </a14:m>
                <a:endParaRPr lang="sv-SE" dirty="0">
                  <a:solidFill>
                    <a:srgbClr val="E622EB"/>
                  </a:solidFill>
                </a:endParaRPr>
              </a:p>
            </p:txBody>
          </p:sp>
        </mc:Choice>
        <mc:Fallback>
          <p:sp>
            <p:nvSpPr>
              <p:cNvPr id="53" name="Rectangle 52"/>
              <p:cNvSpPr>
                <a:spLocks noRot="1" noChangeAspect="1" noMove="1" noResize="1" noEditPoints="1" noAdjustHandles="1" noChangeArrowheads="1" noChangeShapeType="1" noTextEdit="1"/>
              </p:cNvSpPr>
              <p:nvPr/>
            </p:nvSpPr>
            <p:spPr>
              <a:xfrm>
                <a:off x="4106202" y="2908364"/>
                <a:ext cx="705578" cy="408638"/>
              </a:xfrm>
              <a:prstGeom prst="rect">
                <a:avLst/>
              </a:prstGeom>
              <a:blipFill>
                <a:blip r:embed="rId8"/>
                <a:stretch>
                  <a:fillRect r="-2609"/>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54" name="Rectangle 53"/>
              <p:cNvSpPr/>
              <p:nvPr/>
            </p:nvSpPr>
            <p:spPr>
              <a:xfrm>
                <a:off x="4123961" y="4294139"/>
                <a:ext cx="697242" cy="4086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b="0" i="1" smtClean="0">
                              <a:solidFill>
                                <a:srgbClr val="92D050"/>
                              </a:solidFill>
                              <a:latin typeface="Cambria Math" panose="02040503050406030204" pitchFamily="18" charset="0"/>
                            </a:rPr>
                          </m:ctrlPr>
                        </m:sSupPr>
                        <m:e>
                          <m:acc>
                            <m:accPr>
                              <m:chr m:val="̂"/>
                              <m:ctrlPr>
                                <a:rPr lang="en-US" b="0" i="1" smtClean="0">
                                  <a:solidFill>
                                    <a:srgbClr val="92D050"/>
                                  </a:solidFill>
                                  <a:latin typeface="Cambria Math" panose="02040503050406030204" pitchFamily="18" charset="0"/>
                                </a:rPr>
                              </m:ctrlPr>
                            </m:accPr>
                            <m:e>
                              <m:sSub>
                                <m:sSubPr>
                                  <m:ctrlPr>
                                    <a:rPr lang="en-US" b="0" i="1" smtClean="0">
                                      <a:solidFill>
                                        <a:srgbClr val="92D050"/>
                                      </a:solidFill>
                                      <a:latin typeface="Cambria Math" panose="02040503050406030204" pitchFamily="18" charset="0"/>
                                    </a:rPr>
                                  </m:ctrlPr>
                                </m:sSubPr>
                                <m:e>
                                  <m:r>
                                    <a:rPr lang="en-US" b="0" i="1" smtClean="0">
                                      <a:solidFill>
                                        <a:srgbClr val="92D050"/>
                                      </a:solidFill>
                                      <a:latin typeface="Cambria Math" panose="02040503050406030204" pitchFamily="18" charset="0"/>
                                    </a:rPr>
                                    <m:t>𝑉</m:t>
                                  </m:r>
                                </m:e>
                                <m:sub>
                                  <m:r>
                                    <a:rPr lang="en-US" b="0" i="1" smtClean="0">
                                      <a:solidFill>
                                        <a:srgbClr val="92D050"/>
                                      </a:solidFill>
                                      <a:latin typeface="Cambria Math" panose="02040503050406030204" pitchFamily="18" charset="0"/>
                                    </a:rPr>
                                    <m:t>𝐶</m:t>
                                  </m:r>
                                </m:sub>
                              </m:sSub>
                            </m:e>
                          </m:acc>
                        </m:e>
                        <m:sup>
                          <m:sSub>
                            <m:sSubPr>
                              <m:ctrlPr>
                                <a:rPr lang="en-US" b="0" i="1" smtClean="0">
                                  <a:solidFill>
                                    <a:srgbClr val="92D050"/>
                                  </a:solidFill>
                                  <a:latin typeface="Cambria Math" panose="02040503050406030204" pitchFamily="18" charset="0"/>
                                </a:rPr>
                              </m:ctrlPr>
                            </m:sSubPr>
                            <m:e>
                              <m:r>
                                <a:rPr lang="en-US" b="0" i="1" smtClean="0">
                                  <a:solidFill>
                                    <a:srgbClr val="92D050"/>
                                  </a:solidFill>
                                  <a:latin typeface="Cambria Math" panose="02040503050406030204" pitchFamily="18" charset="0"/>
                                </a:rPr>
                                <m:t>𝜔</m:t>
                              </m:r>
                            </m:e>
                            <m:sub>
                              <m:r>
                                <a:rPr lang="en-US" b="0" i="1" smtClean="0">
                                  <a:solidFill>
                                    <a:srgbClr val="92D050"/>
                                  </a:solidFill>
                                  <a:latin typeface="Cambria Math" panose="02040503050406030204" pitchFamily="18" charset="0"/>
                                </a:rPr>
                                <m:t>𝑐</m:t>
                              </m:r>
                            </m:sub>
                          </m:sSub>
                        </m:sup>
                      </m:sSup>
                    </m:oMath>
                  </m:oMathPara>
                </a14:m>
                <a:endParaRPr lang="sv-SE" dirty="0">
                  <a:solidFill>
                    <a:srgbClr val="E622EB"/>
                  </a:solidFill>
                </a:endParaRPr>
              </a:p>
            </p:txBody>
          </p:sp>
        </mc:Choice>
        <mc:Fallback>
          <p:sp>
            <p:nvSpPr>
              <p:cNvPr id="54" name="Rectangle 53"/>
              <p:cNvSpPr>
                <a:spLocks noRot="1" noChangeAspect="1" noMove="1" noResize="1" noEditPoints="1" noAdjustHandles="1" noChangeArrowheads="1" noChangeShapeType="1" noTextEdit="1"/>
              </p:cNvSpPr>
              <p:nvPr/>
            </p:nvSpPr>
            <p:spPr>
              <a:xfrm>
                <a:off x="4123961" y="4294139"/>
                <a:ext cx="697242" cy="408638"/>
              </a:xfrm>
              <a:prstGeom prst="rect">
                <a:avLst/>
              </a:prstGeom>
              <a:blipFill>
                <a:blip r:embed="rId9"/>
                <a:stretch>
                  <a:fillRect r="-877"/>
                </a:stretch>
              </a:blipFill>
            </p:spPr>
            <p:txBody>
              <a:bodyPr/>
              <a:lstStyle/>
              <a:p>
                <a:r>
                  <a:rPr lang="sv-SE">
                    <a:noFill/>
                  </a:rPr>
                  <a:t> </a:t>
                </a:r>
              </a:p>
            </p:txBody>
          </p:sp>
        </mc:Fallback>
      </mc:AlternateContent>
      <p:sp>
        <p:nvSpPr>
          <p:cNvPr id="55" name="TextBox 54"/>
          <p:cNvSpPr txBox="1"/>
          <p:nvPr/>
        </p:nvSpPr>
        <p:spPr>
          <a:xfrm>
            <a:off x="4603207" y="4499454"/>
            <a:ext cx="714541" cy="369332"/>
          </a:xfrm>
          <a:prstGeom prst="rect">
            <a:avLst/>
          </a:prstGeom>
          <a:noFill/>
        </p:spPr>
        <p:txBody>
          <a:bodyPr wrap="square" rtlCol="0">
            <a:spAutoFit/>
          </a:bodyPr>
          <a:lstStyle/>
          <a:p>
            <a:r>
              <a:rPr lang="en-US" dirty="0" smtClean="0"/>
              <a:t>(a)</a:t>
            </a:r>
            <a:endParaRPr lang="sv-SE" dirty="0"/>
          </a:p>
        </p:txBody>
      </p:sp>
      <p:cxnSp>
        <p:nvCxnSpPr>
          <p:cNvPr id="56" name="Straight Arrow Connector 55"/>
          <p:cNvCxnSpPr/>
          <p:nvPr/>
        </p:nvCxnSpPr>
        <p:spPr>
          <a:xfrm flipV="1">
            <a:off x="7295883" y="3621624"/>
            <a:ext cx="711311" cy="283614"/>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flipH="1" flipV="1">
            <a:off x="7632095" y="3055132"/>
            <a:ext cx="330089" cy="558695"/>
          </a:xfrm>
          <a:prstGeom prst="straightConnector1">
            <a:avLst/>
          </a:prstGeom>
          <a:ln w="25400">
            <a:solidFill>
              <a:srgbClr val="E622EB"/>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p:cNvCxnSpPr/>
          <p:nvPr/>
        </p:nvCxnSpPr>
        <p:spPr>
          <a:xfrm flipH="1">
            <a:off x="7313882" y="3065433"/>
            <a:ext cx="340939" cy="441386"/>
          </a:xfrm>
          <a:prstGeom prst="straightConnector1">
            <a:avLst/>
          </a:prstGeom>
          <a:ln w="25400">
            <a:solidFill>
              <a:srgbClr val="92D05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p:cNvCxnSpPr/>
          <p:nvPr/>
        </p:nvCxnSpPr>
        <p:spPr>
          <a:xfrm>
            <a:off x="6400644" y="3905239"/>
            <a:ext cx="2165350" cy="143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flipV="1">
            <a:off x="7295772" y="2806502"/>
            <a:ext cx="111" cy="1505411"/>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7" name="Rectangle 66"/>
              <p:cNvSpPr/>
              <p:nvPr/>
            </p:nvSpPr>
            <p:spPr>
              <a:xfrm>
                <a:off x="7622162" y="3665715"/>
                <a:ext cx="689676" cy="68647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002060"/>
                              </a:solidFill>
                              <a:latin typeface="Cambria Math" panose="02040503050406030204" pitchFamily="18" charset="0"/>
                            </a:rPr>
                          </m:ctrlPr>
                        </m:fPr>
                        <m:num>
                          <m:sSup>
                            <m:sSupPr>
                              <m:ctrlPr>
                                <a:rPr lang="en-US" b="0" i="1" smtClean="0">
                                  <a:solidFill>
                                    <a:srgbClr val="002060"/>
                                  </a:solidFill>
                                  <a:latin typeface="Cambria Math" panose="02040503050406030204" pitchFamily="18" charset="0"/>
                                </a:rPr>
                              </m:ctrlPr>
                            </m:sSupPr>
                            <m:e>
                              <m:acc>
                                <m:accPr>
                                  <m:chr m:val="̂"/>
                                  <m:ctrlPr>
                                    <a:rPr lang="en-US" b="0" i="1" smtClean="0">
                                      <a:solidFill>
                                        <a:srgbClr val="002060"/>
                                      </a:solidFill>
                                      <a:latin typeface="Cambria Math" panose="02040503050406030204" pitchFamily="18" charset="0"/>
                                    </a:rPr>
                                  </m:ctrlPr>
                                </m:accPr>
                                <m:e>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𝑉</m:t>
                                      </m:r>
                                    </m:e>
                                    <m:sub>
                                      <m:r>
                                        <a:rPr lang="en-US" b="0" i="1" smtClean="0">
                                          <a:solidFill>
                                            <a:srgbClr val="002060"/>
                                          </a:solidFill>
                                          <a:latin typeface="Cambria Math" panose="02040503050406030204" pitchFamily="18" charset="0"/>
                                        </a:rPr>
                                        <m:t>𝐴</m:t>
                                      </m:r>
                                    </m:sub>
                                  </m:sSub>
                                </m:e>
                              </m:acc>
                            </m:e>
                            <m:sup>
                              <m:sSub>
                                <m:sSubPr>
                                  <m:ctrlPr>
                                    <a:rPr lang="en-US" b="0" i="1" smtClean="0">
                                      <a:solidFill>
                                        <a:srgbClr val="002060"/>
                                      </a:solidFill>
                                      <a:latin typeface="Cambria Math" panose="02040503050406030204" pitchFamily="18" charset="0"/>
                                    </a:rPr>
                                  </m:ctrlPr>
                                </m:sSubPr>
                                <m:e>
                                  <m:r>
                                    <a:rPr lang="en-US" b="0" i="1" smtClean="0">
                                      <a:solidFill>
                                        <a:srgbClr val="002060"/>
                                      </a:solidFill>
                                      <a:latin typeface="Cambria Math" panose="02040503050406030204" pitchFamily="18" charset="0"/>
                                    </a:rPr>
                                    <m:t>𝜔</m:t>
                                  </m:r>
                                </m:e>
                                <m:sub>
                                  <m:r>
                                    <a:rPr lang="en-US" b="0" i="1" smtClean="0">
                                      <a:solidFill>
                                        <a:srgbClr val="002060"/>
                                      </a:solidFill>
                                      <a:latin typeface="Cambria Math" panose="02040503050406030204" pitchFamily="18" charset="0"/>
                                    </a:rPr>
                                    <m:t>𝑐</m:t>
                                  </m:r>
                                </m:sub>
                              </m:sSub>
                            </m:sup>
                          </m:sSup>
                        </m:num>
                        <m:den>
                          <m:r>
                            <a:rPr lang="en-US" b="0" i="1" smtClean="0">
                              <a:solidFill>
                                <a:srgbClr val="002060"/>
                              </a:solidFill>
                              <a:latin typeface="Cambria Math" panose="02040503050406030204" pitchFamily="18" charset="0"/>
                            </a:rPr>
                            <m:t>3</m:t>
                          </m:r>
                        </m:den>
                      </m:f>
                    </m:oMath>
                  </m:oMathPara>
                </a14:m>
                <a:endParaRPr lang="sv-SE" dirty="0"/>
              </a:p>
            </p:txBody>
          </p:sp>
        </mc:Choice>
        <mc:Fallback>
          <p:sp>
            <p:nvSpPr>
              <p:cNvPr id="67" name="Rectangle 66"/>
              <p:cNvSpPr>
                <a:spLocks noRot="1" noChangeAspect="1" noMove="1" noResize="1" noEditPoints="1" noAdjustHandles="1" noChangeArrowheads="1" noChangeShapeType="1" noTextEdit="1"/>
              </p:cNvSpPr>
              <p:nvPr/>
            </p:nvSpPr>
            <p:spPr>
              <a:xfrm>
                <a:off x="7622162" y="3665715"/>
                <a:ext cx="689676" cy="686470"/>
              </a:xfrm>
              <a:prstGeom prst="rect">
                <a:avLst/>
              </a:prstGeom>
              <a:blipFill>
                <a:blip r:embed="rId10"/>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68" name="Rectangle 67"/>
              <p:cNvSpPr/>
              <p:nvPr/>
            </p:nvSpPr>
            <p:spPr>
              <a:xfrm>
                <a:off x="7772890" y="2862630"/>
                <a:ext cx="705578" cy="68647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E622EB"/>
                              </a:solidFill>
                              <a:latin typeface="Cambria Math" panose="02040503050406030204" pitchFamily="18" charset="0"/>
                            </a:rPr>
                          </m:ctrlPr>
                        </m:fPr>
                        <m:num>
                          <m:sSup>
                            <m:sSupPr>
                              <m:ctrlPr>
                                <a:rPr lang="en-US" b="0" i="1" smtClean="0">
                                  <a:solidFill>
                                    <a:srgbClr val="E622EB"/>
                                  </a:solidFill>
                                  <a:latin typeface="Cambria Math" panose="02040503050406030204" pitchFamily="18" charset="0"/>
                                </a:rPr>
                              </m:ctrlPr>
                            </m:sSupPr>
                            <m:e>
                              <m:acc>
                                <m:accPr>
                                  <m:chr m:val="̂"/>
                                  <m:ctrlPr>
                                    <a:rPr lang="en-US" b="0" i="1" smtClean="0">
                                      <a:solidFill>
                                        <a:srgbClr val="E622EB"/>
                                      </a:solidFill>
                                      <a:latin typeface="Cambria Math" panose="02040503050406030204" pitchFamily="18" charset="0"/>
                                    </a:rPr>
                                  </m:ctrlPr>
                                </m:accPr>
                                <m:e>
                                  <m:sSub>
                                    <m:sSubPr>
                                      <m:ctrlPr>
                                        <a:rPr lang="en-US" b="0" i="1" smtClean="0">
                                          <a:solidFill>
                                            <a:srgbClr val="E622EB"/>
                                          </a:solidFill>
                                          <a:latin typeface="Cambria Math" panose="02040503050406030204" pitchFamily="18" charset="0"/>
                                        </a:rPr>
                                      </m:ctrlPr>
                                    </m:sSubPr>
                                    <m:e>
                                      <m:r>
                                        <a:rPr lang="en-US" b="0" i="1" smtClean="0">
                                          <a:solidFill>
                                            <a:srgbClr val="E622EB"/>
                                          </a:solidFill>
                                          <a:latin typeface="Cambria Math" panose="02040503050406030204" pitchFamily="18" charset="0"/>
                                        </a:rPr>
                                        <m:t>𝑉</m:t>
                                      </m:r>
                                    </m:e>
                                    <m:sub>
                                      <m:r>
                                        <a:rPr lang="en-US" b="0" i="1" smtClean="0">
                                          <a:solidFill>
                                            <a:srgbClr val="E622EB"/>
                                          </a:solidFill>
                                          <a:latin typeface="Cambria Math" panose="02040503050406030204" pitchFamily="18" charset="0"/>
                                        </a:rPr>
                                        <m:t>𝐵</m:t>
                                      </m:r>
                                    </m:sub>
                                  </m:sSub>
                                </m:e>
                              </m:acc>
                            </m:e>
                            <m:sup>
                              <m:sSub>
                                <m:sSubPr>
                                  <m:ctrlPr>
                                    <a:rPr lang="en-US" b="0" i="1" smtClean="0">
                                      <a:solidFill>
                                        <a:srgbClr val="E622EB"/>
                                      </a:solidFill>
                                      <a:latin typeface="Cambria Math" panose="02040503050406030204" pitchFamily="18" charset="0"/>
                                    </a:rPr>
                                  </m:ctrlPr>
                                </m:sSubPr>
                                <m:e>
                                  <m:r>
                                    <a:rPr lang="en-US" b="0" i="1" smtClean="0">
                                      <a:solidFill>
                                        <a:srgbClr val="E622EB"/>
                                      </a:solidFill>
                                      <a:latin typeface="Cambria Math" panose="02040503050406030204" pitchFamily="18" charset="0"/>
                                    </a:rPr>
                                    <m:t>𝜔</m:t>
                                  </m:r>
                                </m:e>
                                <m:sub>
                                  <m:r>
                                    <a:rPr lang="en-US" b="0" i="1" smtClean="0">
                                      <a:solidFill>
                                        <a:srgbClr val="E622EB"/>
                                      </a:solidFill>
                                      <a:latin typeface="Cambria Math" panose="02040503050406030204" pitchFamily="18" charset="0"/>
                                    </a:rPr>
                                    <m:t>𝑐</m:t>
                                  </m:r>
                                </m:sub>
                              </m:sSub>
                            </m:sup>
                          </m:sSup>
                        </m:num>
                        <m:den>
                          <m:r>
                            <a:rPr lang="en-US" b="0" i="1" smtClean="0">
                              <a:solidFill>
                                <a:srgbClr val="E622EB"/>
                              </a:solidFill>
                              <a:latin typeface="Cambria Math" panose="02040503050406030204" pitchFamily="18" charset="0"/>
                            </a:rPr>
                            <m:t>3</m:t>
                          </m:r>
                        </m:den>
                      </m:f>
                    </m:oMath>
                  </m:oMathPara>
                </a14:m>
                <a:endParaRPr lang="sv-SE" dirty="0">
                  <a:solidFill>
                    <a:srgbClr val="E622EB"/>
                  </a:solidFill>
                </a:endParaRPr>
              </a:p>
            </p:txBody>
          </p:sp>
        </mc:Choice>
        <mc:Fallback>
          <p:sp>
            <p:nvSpPr>
              <p:cNvPr id="68" name="Rectangle 67"/>
              <p:cNvSpPr>
                <a:spLocks noRot="1" noChangeAspect="1" noMove="1" noResize="1" noEditPoints="1" noAdjustHandles="1" noChangeArrowheads="1" noChangeShapeType="1" noTextEdit="1"/>
              </p:cNvSpPr>
              <p:nvPr/>
            </p:nvSpPr>
            <p:spPr>
              <a:xfrm>
                <a:off x="7772890" y="2862630"/>
                <a:ext cx="705578" cy="686470"/>
              </a:xfrm>
              <a:prstGeom prst="rect">
                <a:avLst/>
              </a:prstGeom>
              <a:blipFill>
                <a:blip r:embed="rId11"/>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69" name="Rectangle 68"/>
              <p:cNvSpPr/>
              <p:nvPr/>
            </p:nvSpPr>
            <p:spPr>
              <a:xfrm>
                <a:off x="6640729" y="2828146"/>
                <a:ext cx="697242" cy="686470"/>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f>
                        <m:fPr>
                          <m:ctrlPr>
                            <a:rPr lang="en-US" b="0" i="1" smtClean="0">
                              <a:solidFill>
                                <a:srgbClr val="92D050"/>
                              </a:solidFill>
                              <a:latin typeface="Cambria Math" panose="02040503050406030204" pitchFamily="18" charset="0"/>
                            </a:rPr>
                          </m:ctrlPr>
                        </m:fPr>
                        <m:num>
                          <m:sSup>
                            <m:sSupPr>
                              <m:ctrlPr>
                                <a:rPr lang="en-US" b="0" i="1" smtClean="0">
                                  <a:solidFill>
                                    <a:srgbClr val="92D050"/>
                                  </a:solidFill>
                                  <a:latin typeface="Cambria Math" panose="02040503050406030204" pitchFamily="18" charset="0"/>
                                </a:rPr>
                              </m:ctrlPr>
                            </m:sSupPr>
                            <m:e>
                              <m:acc>
                                <m:accPr>
                                  <m:chr m:val="̂"/>
                                  <m:ctrlPr>
                                    <a:rPr lang="en-US" b="0" i="1" smtClean="0">
                                      <a:solidFill>
                                        <a:srgbClr val="92D050"/>
                                      </a:solidFill>
                                      <a:latin typeface="Cambria Math" panose="02040503050406030204" pitchFamily="18" charset="0"/>
                                    </a:rPr>
                                  </m:ctrlPr>
                                </m:accPr>
                                <m:e>
                                  <m:sSub>
                                    <m:sSubPr>
                                      <m:ctrlPr>
                                        <a:rPr lang="en-US" b="0" i="1" smtClean="0">
                                          <a:solidFill>
                                            <a:srgbClr val="92D050"/>
                                          </a:solidFill>
                                          <a:latin typeface="Cambria Math" panose="02040503050406030204" pitchFamily="18" charset="0"/>
                                        </a:rPr>
                                      </m:ctrlPr>
                                    </m:sSubPr>
                                    <m:e>
                                      <m:r>
                                        <a:rPr lang="en-US" b="0" i="1" smtClean="0">
                                          <a:solidFill>
                                            <a:srgbClr val="92D050"/>
                                          </a:solidFill>
                                          <a:latin typeface="Cambria Math" panose="02040503050406030204" pitchFamily="18" charset="0"/>
                                        </a:rPr>
                                        <m:t>𝑉</m:t>
                                      </m:r>
                                    </m:e>
                                    <m:sub>
                                      <m:r>
                                        <a:rPr lang="en-US" b="0" i="1" smtClean="0">
                                          <a:solidFill>
                                            <a:srgbClr val="92D050"/>
                                          </a:solidFill>
                                          <a:latin typeface="Cambria Math" panose="02040503050406030204" pitchFamily="18" charset="0"/>
                                        </a:rPr>
                                        <m:t>𝐶</m:t>
                                      </m:r>
                                    </m:sub>
                                  </m:sSub>
                                </m:e>
                              </m:acc>
                            </m:e>
                            <m:sup>
                              <m:sSub>
                                <m:sSubPr>
                                  <m:ctrlPr>
                                    <a:rPr lang="en-US" b="0" i="1" smtClean="0">
                                      <a:solidFill>
                                        <a:srgbClr val="92D050"/>
                                      </a:solidFill>
                                      <a:latin typeface="Cambria Math" panose="02040503050406030204" pitchFamily="18" charset="0"/>
                                    </a:rPr>
                                  </m:ctrlPr>
                                </m:sSubPr>
                                <m:e>
                                  <m:r>
                                    <a:rPr lang="en-US" b="0" i="1" smtClean="0">
                                      <a:solidFill>
                                        <a:srgbClr val="92D050"/>
                                      </a:solidFill>
                                      <a:latin typeface="Cambria Math" panose="02040503050406030204" pitchFamily="18" charset="0"/>
                                    </a:rPr>
                                    <m:t>𝜔</m:t>
                                  </m:r>
                                </m:e>
                                <m:sub>
                                  <m:r>
                                    <a:rPr lang="en-US" b="0" i="1" smtClean="0">
                                      <a:solidFill>
                                        <a:srgbClr val="92D050"/>
                                      </a:solidFill>
                                      <a:latin typeface="Cambria Math" panose="02040503050406030204" pitchFamily="18" charset="0"/>
                                    </a:rPr>
                                    <m:t>𝑐</m:t>
                                  </m:r>
                                </m:sub>
                              </m:sSub>
                            </m:sup>
                          </m:sSup>
                        </m:num>
                        <m:den>
                          <m:r>
                            <a:rPr lang="en-US" b="0" i="1" smtClean="0">
                              <a:solidFill>
                                <a:srgbClr val="92D050"/>
                              </a:solidFill>
                              <a:latin typeface="Cambria Math" panose="02040503050406030204" pitchFamily="18" charset="0"/>
                            </a:rPr>
                            <m:t>3</m:t>
                          </m:r>
                        </m:den>
                      </m:f>
                    </m:oMath>
                  </m:oMathPara>
                </a14:m>
                <a:endParaRPr lang="sv-SE" dirty="0">
                  <a:solidFill>
                    <a:srgbClr val="E622EB"/>
                  </a:solidFill>
                </a:endParaRPr>
              </a:p>
            </p:txBody>
          </p:sp>
        </mc:Choice>
        <mc:Fallback>
          <p:sp>
            <p:nvSpPr>
              <p:cNvPr id="69" name="Rectangle 68"/>
              <p:cNvSpPr>
                <a:spLocks noRot="1" noChangeAspect="1" noMove="1" noResize="1" noEditPoints="1" noAdjustHandles="1" noChangeArrowheads="1" noChangeShapeType="1" noTextEdit="1"/>
              </p:cNvSpPr>
              <p:nvPr/>
            </p:nvSpPr>
            <p:spPr>
              <a:xfrm>
                <a:off x="6640729" y="2828146"/>
                <a:ext cx="697242" cy="686470"/>
              </a:xfrm>
              <a:prstGeom prst="rect">
                <a:avLst/>
              </a:prstGeom>
              <a:blipFill>
                <a:blip r:embed="rId12"/>
                <a:stretch>
                  <a:fillRect/>
                </a:stretch>
              </a:blipFill>
            </p:spPr>
            <p:txBody>
              <a:bodyPr/>
              <a:lstStyle/>
              <a:p>
                <a:r>
                  <a:rPr lang="sv-SE">
                    <a:noFill/>
                  </a:rPr>
                  <a:t> </a:t>
                </a:r>
              </a:p>
            </p:txBody>
          </p:sp>
        </mc:Fallback>
      </mc:AlternateContent>
      <p:sp>
        <p:nvSpPr>
          <p:cNvPr id="70" name="TextBox 69"/>
          <p:cNvSpPr txBox="1"/>
          <p:nvPr/>
        </p:nvSpPr>
        <p:spPr>
          <a:xfrm>
            <a:off x="7126048" y="4495555"/>
            <a:ext cx="714541" cy="369332"/>
          </a:xfrm>
          <a:prstGeom prst="rect">
            <a:avLst/>
          </a:prstGeom>
          <a:noFill/>
        </p:spPr>
        <p:txBody>
          <a:bodyPr wrap="square" rtlCol="0">
            <a:spAutoFit/>
          </a:bodyPr>
          <a:lstStyle/>
          <a:p>
            <a:r>
              <a:rPr lang="en-US" dirty="0" smtClean="0"/>
              <a:t>(b)</a:t>
            </a:r>
            <a:endParaRPr lang="sv-SE" dirty="0"/>
          </a:p>
        </p:txBody>
      </p:sp>
      <p:cxnSp>
        <p:nvCxnSpPr>
          <p:cNvPr id="71" name="Straight Arrow Connector 70"/>
          <p:cNvCxnSpPr/>
          <p:nvPr/>
        </p:nvCxnSpPr>
        <p:spPr>
          <a:xfrm flipV="1">
            <a:off x="7299598" y="3514616"/>
            <a:ext cx="25134" cy="397791"/>
          </a:xfrm>
          <a:prstGeom prst="straightConnector1">
            <a:avLst/>
          </a:prstGeom>
          <a:ln w="254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5" name="Rectangle 74"/>
              <p:cNvSpPr/>
              <p:nvPr/>
            </p:nvSpPr>
            <p:spPr>
              <a:xfrm>
                <a:off x="6542940" y="3496600"/>
                <a:ext cx="841449" cy="4086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b="0" i="1" smtClean="0">
                              <a:solidFill>
                                <a:srgbClr val="FF0000"/>
                              </a:solidFill>
                              <a:latin typeface="Cambria Math" panose="02040503050406030204" pitchFamily="18" charset="0"/>
                            </a:rPr>
                          </m:ctrlPr>
                        </m:sSupPr>
                        <m:e>
                          <m:acc>
                            <m:accPr>
                              <m:chr m:val="̂"/>
                              <m:ctrlPr>
                                <a:rPr lang="en-US" b="0" i="1" smtClean="0">
                                  <a:solidFill>
                                    <a:srgbClr val="FF0000"/>
                                  </a:solidFill>
                                  <a:latin typeface="Cambria Math" panose="02040503050406030204" pitchFamily="18" charset="0"/>
                                </a:rPr>
                              </m:ctrlPr>
                            </m:accPr>
                            <m:e>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𝑉</m:t>
                                  </m:r>
                                </m:e>
                                <m:sub>
                                  <m:r>
                                    <a:rPr lang="en-US" b="0" i="1" smtClean="0">
                                      <a:solidFill>
                                        <a:srgbClr val="FF0000"/>
                                      </a:solidFill>
                                      <a:latin typeface="Cambria Math" panose="02040503050406030204" pitchFamily="18" charset="0"/>
                                    </a:rPr>
                                    <m:t>𝐶𝑀</m:t>
                                  </m:r>
                                </m:sub>
                              </m:sSub>
                            </m:e>
                          </m:acc>
                        </m:e>
                        <m:sup>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𝜔</m:t>
                              </m:r>
                            </m:e>
                            <m:sub>
                              <m:r>
                                <a:rPr lang="en-US" b="0" i="1" smtClean="0">
                                  <a:solidFill>
                                    <a:srgbClr val="FF0000"/>
                                  </a:solidFill>
                                  <a:latin typeface="Cambria Math" panose="02040503050406030204" pitchFamily="18" charset="0"/>
                                </a:rPr>
                                <m:t>𝑐</m:t>
                              </m:r>
                            </m:sub>
                          </m:sSub>
                        </m:sup>
                      </m:sSup>
                    </m:oMath>
                  </m:oMathPara>
                </a14:m>
                <a:endParaRPr lang="sv-SE" dirty="0">
                  <a:solidFill>
                    <a:srgbClr val="E622EB"/>
                  </a:solidFill>
                </a:endParaRPr>
              </a:p>
            </p:txBody>
          </p:sp>
        </mc:Choice>
        <mc:Fallback>
          <p:sp>
            <p:nvSpPr>
              <p:cNvPr id="75" name="Rectangle 74"/>
              <p:cNvSpPr>
                <a:spLocks noRot="1" noChangeAspect="1" noMove="1" noResize="1" noEditPoints="1" noAdjustHandles="1" noChangeArrowheads="1" noChangeShapeType="1" noTextEdit="1"/>
              </p:cNvSpPr>
              <p:nvPr/>
            </p:nvSpPr>
            <p:spPr>
              <a:xfrm>
                <a:off x="6542940" y="3496600"/>
                <a:ext cx="841449" cy="408638"/>
              </a:xfrm>
              <a:prstGeom prst="rect">
                <a:avLst/>
              </a:prstGeom>
              <a:blipFill>
                <a:blip r:embed="rId13"/>
                <a:stretch>
                  <a:fillRect r="-10145"/>
                </a:stretch>
              </a:blipFill>
            </p:spPr>
            <p:txBody>
              <a:bodyPr/>
              <a:lstStyle/>
              <a:p>
                <a:r>
                  <a:rPr lang="sv-SE">
                    <a:noFill/>
                  </a:rPr>
                  <a:t> </a:t>
                </a:r>
              </a:p>
            </p:txBody>
          </p:sp>
        </mc:Fallback>
      </mc:AlternateContent>
    </p:spTree>
    <p:extLst>
      <p:ext uri="{BB962C8B-B14F-4D97-AF65-F5344CB8AC3E}">
        <p14:creationId xmlns:p14="http://schemas.microsoft.com/office/powerpoint/2010/main" val="4955362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Straight Arrow Connector 18"/>
          <p:cNvCxnSpPr/>
          <p:nvPr/>
        </p:nvCxnSpPr>
        <p:spPr>
          <a:xfrm flipV="1">
            <a:off x="5598419" y="1518928"/>
            <a:ext cx="2277751" cy="1844"/>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7863176" y="742776"/>
            <a:ext cx="903463" cy="762264"/>
          </a:xfrm>
          <a:prstGeom prst="straightConnector1">
            <a:avLst/>
          </a:prstGeom>
          <a:ln w="25400">
            <a:solidFill>
              <a:srgbClr val="E622EB"/>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H="1">
            <a:off x="5521703" y="758151"/>
            <a:ext cx="3177712" cy="746536"/>
          </a:xfrm>
          <a:prstGeom prst="straightConnector1">
            <a:avLst/>
          </a:prstGeom>
          <a:ln w="25400">
            <a:solidFill>
              <a:srgbClr val="92D050"/>
            </a:solidFill>
            <a:tailEnd type="triangle"/>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6746421" y="1924013"/>
            <a:ext cx="714541" cy="369332"/>
          </a:xfrm>
          <a:prstGeom prst="rect">
            <a:avLst/>
          </a:prstGeom>
          <a:noFill/>
        </p:spPr>
        <p:txBody>
          <a:bodyPr wrap="square" rtlCol="0">
            <a:spAutoFit/>
          </a:bodyPr>
          <a:lstStyle/>
          <a:p>
            <a:r>
              <a:rPr lang="en-US" dirty="0" smtClean="0"/>
              <a:t>(a)</a:t>
            </a:r>
            <a:endParaRPr lang="sv-SE" dirty="0"/>
          </a:p>
        </p:txBody>
      </p:sp>
      <mc:AlternateContent xmlns:mc="http://schemas.openxmlformats.org/markup-compatibility/2006">
        <mc:Choice xmlns:a14="http://schemas.microsoft.com/office/drawing/2010/main" Requires="a14">
          <p:sp>
            <p:nvSpPr>
              <p:cNvPr id="30" name="Rectangle 29">
                <a:extLst>
                  <a:ext uri="{FF2B5EF4-FFF2-40B4-BE49-F238E27FC236}">
                    <a16:creationId xmlns:a16="http://schemas.microsoft.com/office/drawing/2014/main" id="{E329F2A0-7DC8-470C-A880-FA136EC5CE95}"/>
                  </a:ext>
                </a:extLst>
              </p:cNvPr>
              <p:cNvSpPr/>
              <p:nvPr/>
            </p:nvSpPr>
            <p:spPr>
              <a:xfrm>
                <a:off x="-1959360" y="-214896"/>
                <a:ext cx="3870419" cy="646331"/>
              </a:xfrm>
              <a:prstGeom prst="rect">
                <a:avLst/>
              </a:prstGeom>
            </p:spPr>
            <p:txBody>
              <a:bodyPr wrap="none">
                <a:spAutoFit/>
              </a:bodyPr>
              <a:lstStyle/>
              <a:p>
                <a:r>
                  <a:rPr lang="en-US" b="1" dirty="0"/>
                  <a:t>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r>
                      <a:rPr lang="en-US" b="1" i="1" smtClean="0">
                        <a:latin typeface="Cambria Math" panose="02040503050406030204" pitchFamily="18" charset="0"/>
                      </a:rPr>
                      <m:t>|</m:t>
                    </m:r>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0" smtClean="0">
                            <a:latin typeface="Cambria Math" panose="02040503050406030204" pitchFamily="18" charset="0"/>
                          </a:rPr>
                          <m:t>𝐂</m:t>
                        </m:r>
                      </m:sub>
                    </m:sSub>
                  </m:oMath>
                </a14:m>
                <a:r>
                  <a:rPr lang="en-US" b="1" dirty="0"/>
                  <a:t> &lt; </a:t>
                </a:r>
                <a14:m>
                  <m:oMath xmlns:m="http://schemas.openxmlformats.org/officeDocument/2006/math">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m:t>
                    </m:r>
                    <m:sSub>
                      <m:sSubPr>
                        <m:ctrlPr>
                          <a:rPr lang="en-US" b="1" i="1">
                            <a:latin typeface="Cambria Math" panose="02040503050406030204" pitchFamily="18" charset="0"/>
                          </a:rPr>
                        </m:ctrlPr>
                      </m:sSubPr>
                      <m:e>
                        <m:r>
                          <a:rPr lang="sv-SE" b="1" i="1">
                            <a:latin typeface="Cambria Math" panose="02040503050406030204" pitchFamily="18" charset="0"/>
                          </a:rPr>
                          <m:t>𝒗</m:t>
                        </m:r>
                      </m:e>
                      <m:sub>
                        <m:r>
                          <a:rPr lang="en-US" b="1" i="1">
                            <a:latin typeface="Cambria Math" panose="02040503050406030204" pitchFamily="18" charset="0"/>
                          </a:rPr>
                          <m:t>𝑩</m:t>
                        </m:r>
                      </m:sub>
                    </m:sSub>
                  </m:oMath>
                </a14:m>
                <a:r>
                  <a:rPr lang="en-US" b="1" dirty="0"/>
                  <a:t> is satisfied </a:t>
                </a:r>
              </a:p>
              <a:p>
                <a:r>
                  <a:rPr lang="en-US" dirty="0"/>
                  <a:t> </a:t>
                </a:r>
              </a:p>
            </p:txBody>
          </p:sp>
        </mc:Choice>
        <mc:Fallback>
          <p:sp>
            <p:nvSpPr>
              <p:cNvPr id="30" name="Rectangle 29">
                <a:extLst>
                  <a:ext uri="{FF2B5EF4-FFF2-40B4-BE49-F238E27FC236}">
                    <a16:creationId xmlns:a16="http://schemas.microsoft.com/office/drawing/2014/main" id="{E329F2A0-7DC8-470C-A880-FA136EC5CE95}"/>
                  </a:ext>
                </a:extLst>
              </p:cNvPr>
              <p:cNvSpPr>
                <a:spLocks noRot="1" noChangeAspect="1" noMove="1" noResize="1" noEditPoints="1" noAdjustHandles="1" noChangeArrowheads="1" noChangeShapeType="1" noTextEdit="1"/>
              </p:cNvSpPr>
              <p:nvPr/>
            </p:nvSpPr>
            <p:spPr>
              <a:xfrm>
                <a:off x="-1959360" y="-214896"/>
                <a:ext cx="3870419" cy="646331"/>
              </a:xfrm>
              <a:prstGeom prst="rect">
                <a:avLst/>
              </a:prstGeom>
              <a:blipFill>
                <a:blip r:embed="rId2"/>
                <a:stretch>
                  <a:fillRect l="-1420" t="-5660" r="-315"/>
                </a:stretch>
              </a:blipFill>
            </p:spPr>
            <p:txBody>
              <a:bodyPr/>
              <a:lstStyle/>
              <a:p>
                <a:r>
                  <a:rPr lang="sv-SE">
                    <a:noFill/>
                  </a:rPr>
                  <a:t> </a:t>
                </a:r>
              </a:p>
            </p:txBody>
          </p:sp>
        </mc:Fallback>
      </mc:AlternateContent>
      <p:cxnSp>
        <p:nvCxnSpPr>
          <p:cNvPr id="31" name="Straight Arrow Connector 30">
            <a:extLst>
              <a:ext uri="{FF2B5EF4-FFF2-40B4-BE49-F238E27FC236}">
                <a16:creationId xmlns:a16="http://schemas.microsoft.com/office/drawing/2014/main" id="{AD2643C9-41F5-4561-BA2F-54D5D07C3C4D}"/>
              </a:ext>
            </a:extLst>
          </p:cNvPr>
          <p:cNvCxnSpPr>
            <a:cxnSpLocks/>
          </p:cNvCxnSpPr>
          <p:nvPr/>
        </p:nvCxnSpPr>
        <p:spPr>
          <a:xfrm flipV="1">
            <a:off x="-769592" y="913070"/>
            <a:ext cx="2402546" cy="16892"/>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AAACAC1D-917A-4182-9A23-E49D507EFDDC}"/>
              </a:ext>
            </a:extLst>
          </p:cNvPr>
          <p:cNvCxnSpPr>
            <a:cxnSpLocks/>
          </p:cNvCxnSpPr>
          <p:nvPr/>
        </p:nvCxnSpPr>
        <p:spPr>
          <a:xfrm flipV="1">
            <a:off x="1602628" y="165839"/>
            <a:ext cx="963606" cy="735348"/>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779B8392-0229-4F99-880A-C1847A5045F6}"/>
              </a:ext>
            </a:extLst>
          </p:cNvPr>
          <p:cNvCxnSpPr>
            <a:cxnSpLocks/>
          </p:cNvCxnSpPr>
          <p:nvPr/>
        </p:nvCxnSpPr>
        <p:spPr>
          <a:xfrm flipH="1">
            <a:off x="-769592" y="165839"/>
            <a:ext cx="3286466" cy="735348"/>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34" name="Arc 33">
            <a:extLst>
              <a:ext uri="{FF2B5EF4-FFF2-40B4-BE49-F238E27FC236}">
                <a16:creationId xmlns:a16="http://schemas.microsoft.com/office/drawing/2014/main" id="{AE3E0BFE-22D9-4A13-99FC-D329682B92D3}"/>
              </a:ext>
            </a:extLst>
          </p:cNvPr>
          <p:cNvSpPr/>
          <p:nvPr/>
        </p:nvSpPr>
        <p:spPr>
          <a:xfrm rot="2203924">
            <a:off x="1694481" y="772402"/>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sp>
        <p:nvSpPr>
          <p:cNvPr id="35" name="Arc 34">
            <a:extLst>
              <a:ext uri="{FF2B5EF4-FFF2-40B4-BE49-F238E27FC236}">
                <a16:creationId xmlns:a16="http://schemas.microsoft.com/office/drawing/2014/main" id="{7FD4CE10-858C-4ED5-AA94-9F99AC7E8DD9}"/>
              </a:ext>
            </a:extLst>
          </p:cNvPr>
          <p:cNvSpPr/>
          <p:nvPr/>
        </p:nvSpPr>
        <p:spPr>
          <a:xfrm rot="8638307">
            <a:off x="-1053130" y="718029"/>
            <a:ext cx="538984" cy="281832"/>
          </a:xfrm>
          <a:prstGeom prst="arc">
            <a:avLst>
              <a:gd name="adj1" fmla="val 15923001"/>
              <a:gd name="adj2" fmla="val 21419193"/>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8289C501-5BD9-4361-8019-C1DEC65E998C}"/>
                  </a:ext>
                </a:extLst>
              </p:cNvPr>
              <p:cNvSpPr txBox="1"/>
              <p:nvPr/>
            </p:nvSpPr>
            <p:spPr>
              <a:xfrm>
                <a:off x="-1959360" y="1373155"/>
                <a:ext cx="6245816" cy="369332"/>
              </a:xfrm>
              <a:prstGeom prst="rect">
                <a:avLst/>
              </a:prstGeom>
              <a:noFill/>
            </p:spPr>
            <p:txBody>
              <a:bodyPr wrap="square" rtlCol="0">
                <a:spAutoFit/>
              </a:bodyPr>
              <a:lstStyle/>
              <a:p>
                <a:r>
                  <a:rPr lang="en-US" dirty="0">
                    <a:solidFill>
                      <a:srgbClr val="FF0000"/>
                    </a:solidFill>
                  </a:rPr>
                  <a:t>Apply cosine and sine  theorems to find  </a:t>
                </a:r>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oMath>
                </a14:m>
                <a:r>
                  <a:rPr lang="en-US" dirty="0">
                    <a:solidFill>
                      <a:srgbClr val="FF0000"/>
                    </a:solidFill>
                  </a:rPr>
                  <a:t> </a:t>
                </a:r>
              </a:p>
            </p:txBody>
          </p:sp>
        </mc:Choice>
        <mc:Fallback>
          <p:sp>
            <p:nvSpPr>
              <p:cNvPr id="36" name="TextBox 35">
                <a:extLst>
                  <a:ext uri="{FF2B5EF4-FFF2-40B4-BE49-F238E27FC236}">
                    <a16:creationId xmlns:a16="http://schemas.microsoft.com/office/drawing/2014/main" id="{8289C501-5BD9-4361-8019-C1DEC65E998C}"/>
                  </a:ext>
                </a:extLst>
              </p:cNvPr>
              <p:cNvSpPr txBox="1">
                <a:spLocks noRot="1" noChangeAspect="1" noMove="1" noResize="1" noEditPoints="1" noAdjustHandles="1" noChangeArrowheads="1" noChangeShapeType="1" noTextEdit="1"/>
              </p:cNvSpPr>
              <p:nvPr/>
            </p:nvSpPr>
            <p:spPr>
              <a:xfrm>
                <a:off x="-1959360" y="1373155"/>
                <a:ext cx="6245816" cy="369332"/>
              </a:xfrm>
              <a:prstGeom prst="rect">
                <a:avLst/>
              </a:prstGeom>
              <a:blipFill>
                <a:blip r:embed="rId3"/>
                <a:stretch>
                  <a:fillRect l="-879" t="-8197" b="-24590"/>
                </a:stretch>
              </a:blipFill>
            </p:spPr>
            <p:txBody>
              <a:bodyPr/>
              <a:lstStyle/>
              <a:p>
                <a:r>
                  <a:rPr lang="sv-SE">
                    <a:noFill/>
                  </a:rPr>
                  <a:t> </a:t>
                </a:r>
              </a:p>
            </p:txBody>
          </p:sp>
        </mc:Fallback>
      </mc:AlternateContent>
      <p:cxnSp>
        <p:nvCxnSpPr>
          <p:cNvPr id="37" name="Straight Connector 36">
            <a:extLst>
              <a:ext uri="{FF2B5EF4-FFF2-40B4-BE49-F238E27FC236}">
                <a16:creationId xmlns:a16="http://schemas.microsoft.com/office/drawing/2014/main" id="{E918424A-0EB3-40BB-A40E-6D0DC5D29AED}"/>
              </a:ext>
            </a:extLst>
          </p:cNvPr>
          <p:cNvCxnSpPr>
            <a:cxnSpLocks/>
          </p:cNvCxnSpPr>
          <p:nvPr/>
        </p:nvCxnSpPr>
        <p:spPr>
          <a:xfrm>
            <a:off x="1602628" y="920203"/>
            <a:ext cx="101448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8" name="Rectangle 37">
                <a:extLst>
                  <a:ext uri="{FF2B5EF4-FFF2-40B4-BE49-F238E27FC236}">
                    <a16:creationId xmlns:a16="http://schemas.microsoft.com/office/drawing/2014/main" id="{82DD5A5E-2BF7-4102-93E5-28B1A971EE38}"/>
                  </a:ext>
                </a:extLst>
              </p:cNvPr>
              <p:cNvSpPr/>
              <p:nvPr/>
            </p:nvSpPr>
            <p:spPr>
              <a:xfrm>
                <a:off x="2069861" y="512977"/>
                <a:ext cx="625108"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𝐶𝐵</m:t>
                        </m:r>
                      </m:sub>
                    </m:sSub>
                  </m:oMath>
                </a14:m>
                <a:r>
                  <a:rPr lang="en-US" dirty="0">
                    <a:solidFill>
                      <a:srgbClr val="FF0000"/>
                    </a:solidFill>
                  </a:rPr>
                  <a:t> </a:t>
                </a:r>
              </a:p>
            </p:txBody>
          </p:sp>
        </mc:Choice>
        <mc:Fallback>
          <p:sp>
            <p:nvSpPr>
              <p:cNvPr id="38" name="Rectangle 37">
                <a:extLst>
                  <a:ext uri="{FF2B5EF4-FFF2-40B4-BE49-F238E27FC236}">
                    <a16:creationId xmlns:a16="http://schemas.microsoft.com/office/drawing/2014/main" id="{82DD5A5E-2BF7-4102-93E5-28B1A971EE38}"/>
                  </a:ext>
                </a:extLst>
              </p:cNvPr>
              <p:cNvSpPr>
                <a:spLocks noRot="1" noChangeAspect="1" noMove="1" noResize="1" noEditPoints="1" noAdjustHandles="1" noChangeArrowheads="1" noChangeShapeType="1" noTextEdit="1"/>
              </p:cNvSpPr>
              <p:nvPr/>
            </p:nvSpPr>
            <p:spPr>
              <a:xfrm>
                <a:off x="2069861" y="512977"/>
                <a:ext cx="625108" cy="369332"/>
              </a:xfrm>
              <a:prstGeom prst="rect">
                <a:avLst/>
              </a:prstGeom>
              <a:blipFill>
                <a:blip r:embed="rId4"/>
                <a:stretch>
                  <a:fillRect l="-2941" b="-11475"/>
                </a:stretch>
              </a:blipFill>
            </p:spPr>
            <p:txBody>
              <a:bodyPr/>
              <a:lstStyle/>
              <a:p>
                <a:r>
                  <a:rPr lang="sv-SE">
                    <a:noFill/>
                  </a:rPr>
                  <a:t> </a:t>
                </a:r>
              </a:p>
            </p:txBody>
          </p:sp>
        </mc:Fallback>
      </mc:AlternateContent>
      <p:cxnSp>
        <p:nvCxnSpPr>
          <p:cNvPr id="39" name="Straight Connector 38">
            <a:extLst>
              <a:ext uri="{FF2B5EF4-FFF2-40B4-BE49-F238E27FC236}">
                <a16:creationId xmlns:a16="http://schemas.microsoft.com/office/drawing/2014/main" id="{B9BC1178-E83C-4DCF-8CBA-D0E5384E82B4}"/>
              </a:ext>
            </a:extLst>
          </p:cNvPr>
          <p:cNvCxnSpPr>
            <a:cxnSpLocks/>
          </p:cNvCxnSpPr>
          <p:nvPr/>
        </p:nvCxnSpPr>
        <p:spPr>
          <a:xfrm flipV="1">
            <a:off x="-1636060" y="901188"/>
            <a:ext cx="915630" cy="260558"/>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40" name="Rectangle 39">
                <a:extLst>
                  <a:ext uri="{FF2B5EF4-FFF2-40B4-BE49-F238E27FC236}">
                    <a16:creationId xmlns:a16="http://schemas.microsoft.com/office/drawing/2014/main" id="{842DFA2B-D0C8-43F2-84D2-0C73D7061155}"/>
                  </a:ext>
                </a:extLst>
              </p:cNvPr>
              <p:cNvSpPr/>
              <p:nvPr/>
            </p:nvSpPr>
            <p:spPr>
              <a:xfrm>
                <a:off x="-826583" y="915260"/>
                <a:ext cx="616772" cy="369332"/>
              </a:xfrm>
              <a:prstGeom prst="rect">
                <a:avLst/>
              </a:prstGeom>
            </p:spPr>
            <p:txBody>
              <a:bodyPr wrap="none">
                <a:spAutoFit/>
              </a:bodyPr>
              <a:lstStyle/>
              <a:p>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oMath>
                </a14:m>
                <a:r>
                  <a:rPr lang="en-US" dirty="0">
                    <a:solidFill>
                      <a:srgbClr val="FF0000"/>
                    </a:solidFill>
                  </a:rPr>
                  <a:t> </a:t>
                </a:r>
              </a:p>
            </p:txBody>
          </p:sp>
        </mc:Choice>
        <mc:Fallback>
          <p:sp>
            <p:nvSpPr>
              <p:cNvPr id="40" name="Rectangle 39">
                <a:extLst>
                  <a:ext uri="{FF2B5EF4-FFF2-40B4-BE49-F238E27FC236}">
                    <a16:creationId xmlns:a16="http://schemas.microsoft.com/office/drawing/2014/main" id="{842DFA2B-D0C8-43F2-84D2-0C73D7061155}"/>
                  </a:ext>
                </a:extLst>
              </p:cNvPr>
              <p:cNvSpPr>
                <a:spLocks noRot="1" noChangeAspect="1" noMove="1" noResize="1" noEditPoints="1" noAdjustHandles="1" noChangeArrowheads="1" noChangeShapeType="1" noTextEdit="1"/>
              </p:cNvSpPr>
              <p:nvPr/>
            </p:nvSpPr>
            <p:spPr>
              <a:xfrm>
                <a:off x="-826583" y="915260"/>
                <a:ext cx="616772" cy="369332"/>
              </a:xfrm>
              <a:prstGeom prst="rect">
                <a:avLst/>
              </a:prstGeom>
              <a:blipFill>
                <a:blip r:embed="rId5"/>
                <a:stretch>
                  <a:fillRect l="-1961" b="-11475"/>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41" name="Rectangle 40">
                <a:extLst>
                  <a:ext uri="{FF2B5EF4-FFF2-40B4-BE49-F238E27FC236}">
                    <a16:creationId xmlns:a16="http://schemas.microsoft.com/office/drawing/2014/main" id="{B57B76FD-2D10-4F8C-9066-046A3D310D53}"/>
                  </a:ext>
                </a:extLst>
              </p:cNvPr>
              <p:cNvSpPr/>
              <p:nvPr/>
            </p:nvSpPr>
            <p:spPr>
              <a:xfrm>
                <a:off x="-2034829" y="1646703"/>
                <a:ext cx="2939972"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a:latin typeface="Cambria Math" panose="02040503050406030204" pitchFamily="18" charset="0"/>
                          </a:rPr>
                          <m:t>𝑨</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p:sp>
            <p:nvSpPr>
              <p:cNvPr id="41" name="Rectangle 40">
                <a:extLst>
                  <a:ext uri="{FF2B5EF4-FFF2-40B4-BE49-F238E27FC236}">
                    <a16:creationId xmlns:a16="http://schemas.microsoft.com/office/drawing/2014/main" id="{B57B76FD-2D10-4F8C-9066-046A3D310D53}"/>
                  </a:ext>
                </a:extLst>
              </p:cNvPr>
              <p:cNvSpPr>
                <a:spLocks noRot="1" noChangeAspect="1" noMove="1" noResize="1" noEditPoints="1" noAdjustHandles="1" noChangeArrowheads="1" noChangeShapeType="1" noTextEdit="1"/>
              </p:cNvSpPr>
              <p:nvPr/>
            </p:nvSpPr>
            <p:spPr>
              <a:xfrm>
                <a:off x="-2034829" y="1646703"/>
                <a:ext cx="2939972" cy="646331"/>
              </a:xfrm>
              <a:prstGeom prst="rect">
                <a:avLst/>
              </a:prstGeom>
              <a:blipFill>
                <a:blip r:embed="rId6"/>
                <a:stretch>
                  <a:fillRect l="-1660" t="-4717"/>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2A873941-A096-45C6-A860-287C4FE9FE4D}"/>
                  </a:ext>
                </a:extLst>
              </p:cNvPr>
              <p:cNvSpPr txBox="1"/>
              <p:nvPr/>
            </p:nvSpPr>
            <p:spPr>
              <a:xfrm>
                <a:off x="-2005910" y="1955263"/>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p:sp>
            <p:nvSpPr>
              <p:cNvPr id="42" name="TextBox 41">
                <a:extLst>
                  <a:ext uri="{FF2B5EF4-FFF2-40B4-BE49-F238E27FC236}">
                    <a16:creationId xmlns:a16="http://schemas.microsoft.com/office/drawing/2014/main" id="{2A873941-A096-45C6-A860-287C4FE9FE4D}"/>
                  </a:ext>
                </a:extLst>
              </p:cNvPr>
              <p:cNvSpPr txBox="1">
                <a:spLocks noRot="1" noChangeAspect="1" noMove="1" noResize="1" noEditPoints="1" noAdjustHandles="1" noChangeArrowheads="1" noChangeShapeType="1" noTextEdit="1"/>
              </p:cNvSpPr>
              <p:nvPr/>
            </p:nvSpPr>
            <p:spPr>
              <a:xfrm>
                <a:off x="-2005910" y="1955263"/>
                <a:ext cx="6245816" cy="369332"/>
              </a:xfrm>
              <a:prstGeom prst="rect">
                <a:avLst/>
              </a:prstGeom>
              <a:blipFill>
                <a:blip r:embed="rId7"/>
                <a:stretch>
                  <a:fillRect l="-293" t="-10000" b="-26667"/>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43" name="Rectangle 42">
                <a:extLst>
                  <a:ext uri="{FF2B5EF4-FFF2-40B4-BE49-F238E27FC236}">
                    <a16:creationId xmlns:a16="http://schemas.microsoft.com/office/drawing/2014/main" id="{BAC192F1-FC6D-4326-AB4B-1A56AE6E22A0}"/>
                  </a:ext>
                </a:extLst>
              </p:cNvPr>
              <p:cNvSpPr/>
              <p:nvPr/>
            </p:nvSpPr>
            <p:spPr>
              <a:xfrm>
                <a:off x="-1952793" y="2346687"/>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oMath>
                </a14:m>
                <a:endParaRPr lang="en-US" b="1" dirty="0"/>
              </a:p>
              <a:p>
                <a:r>
                  <a:rPr lang="en-US" dirty="0"/>
                  <a:t> </a:t>
                </a:r>
              </a:p>
            </p:txBody>
          </p:sp>
        </mc:Choice>
        <mc:Fallback>
          <p:sp>
            <p:nvSpPr>
              <p:cNvPr id="43" name="Rectangle 42">
                <a:extLst>
                  <a:ext uri="{FF2B5EF4-FFF2-40B4-BE49-F238E27FC236}">
                    <a16:creationId xmlns:a16="http://schemas.microsoft.com/office/drawing/2014/main" id="{BAC192F1-FC6D-4326-AB4B-1A56AE6E22A0}"/>
                  </a:ext>
                </a:extLst>
              </p:cNvPr>
              <p:cNvSpPr>
                <a:spLocks noRot="1" noChangeAspect="1" noMove="1" noResize="1" noEditPoints="1" noAdjustHandles="1" noChangeArrowheads="1" noChangeShapeType="1" noTextEdit="1"/>
              </p:cNvSpPr>
              <p:nvPr/>
            </p:nvSpPr>
            <p:spPr>
              <a:xfrm>
                <a:off x="-1952793" y="2346687"/>
                <a:ext cx="2983253" cy="646331"/>
              </a:xfrm>
              <a:prstGeom prst="rect">
                <a:avLst/>
              </a:prstGeom>
              <a:blipFill>
                <a:blip r:embed="rId8"/>
                <a:stretch>
                  <a:fillRect l="-1840" t="-5660"/>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44" name="TextBox 43">
                <a:extLst>
                  <a:ext uri="{FF2B5EF4-FFF2-40B4-BE49-F238E27FC236}">
                    <a16:creationId xmlns:a16="http://schemas.microsoft.com/office/drawing/2014/main" id="{F335ED28-4CE1-49C9-8CBB-36A404F4C5A1}"/>
                  </a:ext>
                </a:extLst>
              </p:cNvPr>
              <p:cNvSpPr txBox="1"/>
              <p:nvPr/>
            </p:nvSpPr>
            <p:spPr>
              <a:xfrm>
                <a:off x="-2005910" y="2687977"/>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p:sp>
            <p:nvSpPr>
              <p:cNvPr id="44" name="TextBox 43">
                <a:extLst>
                  <a:ext uri="{FF2B5EF4-FFF2-40B4-BE49-F238E27FC236}">
                    <a16:creationId xmlns:a16="http://schemas.microsoft.com/office/drawing/2014/main" id="{F335ED28-4CE1-49C9-8CBB-36A404F4C5A1}"/>
                  </a:ext>
                </a:extLst>
              </p:cNvPr>
              <p:cNvSpPr txBox="1">
                <a:spLocks noRot="1" noChangeAspect="1" noMove="1" noResize="1" noEditPoints="1" noAdjustHandles="1" noChangeArrowheads="1" noChangeShapeType="1" noTextEdit="1"/>
              </p:cNvSpPr>
              <p:nvPr/>
            </p:nvSpPr>
            <p:spPr>
              <a:xfrm>
                <a:off x="-2005910" y="2687977"/>
                <a:ext cx="6245816" cy="369332"/>
              </a:xfrm>
              <a:prstGeom prst="rect">
                <a:avLst/>
              </a:prstGeom>
              <a:blipFill>
                <a:blip r:embed="rId9"/>
                <a:stretch>
                  <a:fillRect l="-293" t="-9836" b="-24590"/>
                </a:stretch>
              </a:blipFill>
            </p:spPr>
            <p:txBody>
              <a:bodyPr/>
              <a:lstStyle/>
              <a:p>
                <a:r>
                  <a:rPr lang="sv-SE">
                    <a:noFill/>
                  </a:rPr>
                  <a:t> </a:t>
                </a:r>
              </a:p>
            </p:txBody>
          </p:sp>
        </mc:Fallback>
      </mc:AlternateContent>
      <p:cxnSp>
        <p:nvCxnSpPr>
          <p:cNvPr id="45" name="Straight Arrow Connector 44">
            <a:extLst>
              <a:ext uri="{FF2B5EF4-FFF2-40B4-BE49-F238E27FC236}">
                <a16:creationId xmlns:a16="http://schemas.microsoft.com/office/drawing/2014/main" id="{526D2690-0EE3-4221-A726-69D2AB1F057C}"/>
              </a:ext>
            </a:extLst>
          </p:cNvPr>
          <p:cNvCxnSpPr>
            <a:cxnSpLocks/>
          </p:cNvCxnSpPr>
          <p:nvPr/>
        </p:nvCxnSpPr>
        <p:spPr>
          <a:xfrm>
            <a:off x="1371251" y="2089391"/>
            <a:ext cx="2346896" cy="0"/>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B232957C-D6E3-4D8C-9526-0A27C078B5C1}"/>
              </a:ext>
            </a:extLst>
          </p:cNvPr>
          <p:cNvCxnSpPr>
            <a:cxnSpLocks/>
          </p:cNvCxnSpPr>
          <p:nvPr/>
        </p:nvCxnSpPr>
        <p:spPr>
          <a:xfrm flipH="1" flipV="1">
            <a:off x="2853134" y="1982015"/>
            <a:ext cx="865014" cy="1"/>
          </a:xfrm>
          <a:prstGeom prst="straightConnector1">
            <a:avLst/>
          </a:prstGeom>
          <a:ln w="25400">
            <a:solidFill>
              <a:schemeClr val="accent5"/>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EA755440-DDE9-4B7F-B44C-28CC75E7173E}"/>
              </a:ext>
            </a:extLst>
          </p:cNvPr>
          <p:cNvCxnSpPr>
            <a:cxnSpLocks/>
          </p:cNvCxnSpPr>
          <p:nvPr/>
        </p:nvCxnSpPr>
        <p:spPr>
          <a:xfrm flipH="1" flipV="1">
            <a:off x="1628535" y="1973888"/>
            <a:ext cx="1224599" cy="9115"/>
          </a:xfrm>
          <a:prstGeom prst="straightConnector1">
            <a:avLst/>
          </a:prstGeom>
          <a:ln w="2540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C164349F-6FC2-466A-8DB7-CE4520F2BAA3}"/>
              </a:ext>
            </a:extLst>
          </p:cNvPr>
          <p:cNvCxnSpPr>
            <a:cxnSpLocks/>
          </p:cNvCxnSpPr>
          <p:nvPr/>
        </p:nvCxnSpPr>
        <p:spPr>
          <a:xfrm>
            <a:off x="1371251" y="2752811"/>
            <a:ext cx="2346896" cy="0"/>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A4EFF0A-C21C-4280-BF19-62BAE5228F1D}"/>
              </a:ext>
            </a:extLst>
          </p:cNvPr>
          <p:cNvCxnSpPr>
            <a:cxnSpLocks/>
          </p:cNvCxnSpPr>
          <p:nvPr/>
        </p:nvCxnSpPr>
        <p:spPr>
          <a:xfrm flipH="1" flipV="1">
            <a:off x="2853134" y="2645435"/>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0ADD34A9-80C5-4AB1-AF23-641660505BA6}"/>
              </a:ext>
            </a:extLst>
          </p:cNvPr>
          <p:cNvCxnSpPr>
            <a:cxnSpLocks/>
          </p:cNvCxnSpPr>
          <p:nvPr/>
        </p:nvCxnSpPr>
        <p:spPr>
          <a:xfrm flipH="1" flipV="1">
            <a:off x="1628535" y="2637308"/>
            <a:ext cx="1224599" cy="9115"/>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51" name="Rectangle 50">
                <a:extLst>
                  <a:ext uri="{FF2B5EF4-FFF2-40B4-BE49-F238E27FC236}">
                    <a16:creationId xmlns:a16="http://schemas.microsoft.com/office/drawing/2014/main" id="{E91BF1FD-2245-4652-BE6B-793F0273C841}"/>
                  </a:ext>
                </a:extLst>
              </p:cNvPr>
              <p:cNvSpPr/>
              <p:nvPr/>
            </p:nvSpPr>
            <p:spPr>
              <a:xfrm>
                <a:off x="-1952793" y="3015110"/>
                <a:ext cx="2983253" cy="646331"/>
              </a:xfrm>
              <a:prstGeom prst="rect">
                <a:avLst/>
              </a:prstGeom>
            </p:spPr>
            <p:txBody>
              <a:bodyPr wrap="none">
                <a:spAutoFit/>
              </a:bodyPr>
              <a:lstStyle/>
              <a:p>
                <a:r>
                  <a:rPr lang="en-US" b="1" dirty="0"/>
                  <a:t>else if </a:t>
                </a:r>
                <a14:m>
                  <m:oMath xmlns:m="http://schemas.openxmlformats.org/officeDocument/2006/math">
                    <m:sSub>
                      <m:sSubPr>
                        <m:ctrlPr>
                          <a:rPr lang="en-US" b="1" i="1" smtClean="0">
                            <a:latin typeface="Cambria Math" panose="02040503050406030204" pitchFamily="18" charset="0"/>
                          </a:rPr>
                        </m:ctrlPr>
                      </m:sSubPr>
                      <m:e>
                        <m:r>
                          <a:rPr lang="en-US" b="1" i="0" smtClean="0">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smtClean="0">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𝑨</m:t>
                        </m:r>
                      </m:sub>
                    </m:sSub>
                    <m:r>
                      <a:rPr lang="en-US" b="1" i="1" smtClean="0">
                        <a:latin typeface="Cambria Math" panose="02040503050406030204" pitchFamily="18" charset="0"/>
                      </a:rPr>
                      <m:t>  &amp;&amp;</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𝑪</m:t>
                        </m:r>
                      </m:sub>
                    </m:sSub>
                    <m:r>
                      <a:rPr lang="en-US" b="1" i="1">
                        <a:latin typeface="Cambria Math" panose="02040503050406030204" pitchFamily="18" charset="0"/>
                      </a:rPr>
                      <m:t>&gt;</m:t>
                    </m:r>
                    <m:sSub>
                      <m:sSubPr>
                        <m:ctrlPr>
                          <a:rPr lang="en-US" b="1" i="1">
                            <a:latin typeface="Cambria Math" panose="02040503050406030204" pitchFamily="18" charset="0"/>
                          </a:rPr>
                        </m:ctrlPr>
                      </m:sSubPr>
                      <m:e>
                        <m:r>
                          <a:rPr lang="en-US" b="1">
                            <a:latin typeface="Cambria Math" panose="02040503050406030204" pitchFamily="18" charset="0"/>
                          </a:rPr>
                          <m:t> </m:t>
                        </m:r>
                        <m:r>
                          <a:rPr lang="sv-SE" b="1" i="1">
                            <a:latin typeface="Cambria Math" panose="02040503050406030204" pitchFamily="18" charset="0"/>
                          </a:rPr>
                          <m:t>𝒗</m:t>
                        </m:r>
                      </m:e>
                      <m:sub>
                        <m:r>
                          <a:rPr lang="en-US" b="1" i="1" smtClean="0">
                            <a:latin typeface="Cambria Math" panose="02040503050406030204" pitchFamily="18" charset="0"/>
                          </a:rPr>
                          <m:t>𝑩</m:t>
                        </m:r>
                      </m:sub>
                    </m:sSub>
                  </m:oMath>
                </a14:m>
                <a:endParaRPr lang="en-US" b="1" dirty="0"/>
              </a:p>
              <a:p>
                <a:r>
                  <a:rPr lang="en-US" dirty="0"/>
                  <a:t> </a:t>
                </a:r>
              </a:p>
            </p:txBody>
          </p:sp>
        </mc:Choice>
        <mc:Fallback>
          <p:sp>
            <p:nvSpPr>
              <p:cNvPr id="51" name="Rectangle 50">
                <a:extLst>
                  <a:ext uri="{FF2B5EF4-FFF2-40B4-BE49-F238E27FC236}">
                    <a16:creationId xmlns:a16="http://schemas.microsoft.com/office/drawing/2014/main" id="{E91BF1FD-2245-4652-BE6B-793F0273C841}"/>
                  </a:ext>
                </a:extLst>
              </p:cNvPr>
              <p:cNvSpPr>
                <a:spLocks noRot="1" noChangeAspect="1" noMove="1" noResize="1" noEditPoints="1" noAdjustHandles="1" noChangeArrowheads="1" noChangeShapeType="1" noTextEdit="1"/>
              </p:cNvSpPr>
              <p:nvPr/>
            </p:nvSpPr>
            <p:spPr>
              <a:xfrm>
                <a:off x="-1952793" y="3015110"/>
                <a:ext cx="2983253" cy="646331"/>
              </a:xfrm>
              <a:prstGeom prst="rect">
                <a:avLst/>
              </a:prstGeom>
              <a:blipFill>
                <a:blip r:embed="rId10"/>
                <a:stretch>
                  <a:fillRect l="-1840" t="-5660"/>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52" name="TextBox 51">
                <a:extLst>
                  <a:ext uri="{FF2B5EF4-FFF2-40B4-BE49-F238E27FC236}">
                    <a16:creationId xmlns:a16="http://schemas.microsoft.com/office/drawing/2014/main" id="{BFB64064-1CDB-4B2A-9195-D4F43C5973A3}"/>
                  </a:ext>
                </a:extLst>
              </p:cNvPr>
              <p:cNvSpPr txBox="1"/>
              <p:nvPr/>
            </p:nvSpPr>
            <p:spPr>
              <a:xfrm>
                <a:off x="-1952793" y="3305965"/>
                <a:ext cx="6245816" cy="369332"/>
              </a:xfrm>
              <a:prstGeom prst="rect">
                <a:avLst/>
              </a:prstGeom>
              <a:noFill/>
            </p:spPr>
            <p:txBody>
              <a:bodyPr wrap="square" rtlCol="0">
                <a:spAutoFit/>
              </a:bodyPr>
              <a:lstStyle/>
              <a:p>
                <a14:m>
                  <m:oMath xmlns:m="http://schemas.openxmlformats.org/officeDocument/2006/math">
                    <m:sSub>
                      <m:sSubPr>
                        <m:ctrlPr>
                          <a:rPr lang="en-US" b="0" i="1" smtClean="0">
                            <a:solidFill>
                              <a:srgbClr val="FF0000"/>
                            </a:solidFill>
                            <a:latin typeface="Cambria Math" panose="02040503050406030204" pitchFamily="18" charset="0"/>
                          </a:rPr>
                        </m:ctrlPr>
                      </m:sSubPr>
                      <m:e>
                        <m:r>
                          <a:rPr lang="en-US" b="0" i="1" smtClean="0">
                            <a:solidFill>
                              <a:srgbClr val="FF0000"/>
                            </a:solidFill>
                            <a:latin typeface="Cambria Math" panose="02040503050406030204" pitchFamily="18" charset="0"/>
                          </a:rPr>
                          <m:t>𝜙</m:t>
                        </m:r>
                      </m:e>
                      <m:sub>
                        <m:r>
                          <a:rPr lang="en-US" b="0" i="1" smtClean="0">
                            <a:solidFill>
                              <a:srgbClr val="FF0000"/>
                            </a:solidFill>
                            <a:latin typeface="Cambria Math" panose="02040503050406030204" pitchFamily="18" charset="0"/>
                          </a:rPr>
                          <m:t>𝐶𝐵</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and  </a:t>
                </a:r>
                <a14:m>
                  <m:oMath xmlns:m="http://schemas.openxmlformats.org/officeDocument/2006/math">
                    <m:sSub>
                      <m:sSubPr>
                        <m:ctrlPr>
                          <a:rPr lang="en-US" i="1" smtClean="0">
                            <a:solidFill>
                              <a:srgbClr val="FF0000"/>
                            </a:solidFill>
                            <a:latin typeface="Cambria Math" panose="02040503050406030204" pitchFamily="18" charset="0"/>
                          </a:rPr>
                        </m:ctrlPr>
                      </m:sSubPr>
                      <m:e>
                        <m:r>
                          <a:rPr lang="en-US" i="1">
                            <a:solidFill>
                              <a:srgbClr val="FF0000"/>
                            </a:solidFill>
                            <a:latin typeface="Cambria Math" panose="02040503050406030204" pitchFamily="18" charset="0"/>
                          </a:rPr>
                          <m:t>𝜙</m:t>
                        </m:r>
                      </m:e>
                      <m:sub>
                        <m:r>
                          <a:rPr lang="en-US" i="1">
                            <a:solidFill>
                              <a:srgbClr val="FF0000"/>
                            </a:solidFill>
                            <a:latin typeface="Cambria Math" panose="02040503050406030204" pitchFamily="18" charset="0"/>
                          </a:rPr>
                          <m:t>𝐶</m:t>
                        </m:r>
                        <m:r>
                          <a:rPr lang="en-US" b="0" i="1" smtClean="0">
                            <a:solidFill>
                              <a:srgbClr val="FF0000"/>
                            </a:solidFill>
                            <a:latin typeface="Cambria Math" panose="02040503050406030204" pitchFamily="18" charset="0"/>
                          </a:rPr>
                          <m:t>𝐶</m:t>
                        </m:r>
                      </m:sub>
                    </m:sSub>
                    <m:r>
                      <a:rPr lang="en-US" b="0" i="1" smtClean="0">
                        <a:solidFill>
                          <a:srgbClr val="FF0000"/>
                        </a:solidFill>
                        <a:latin typeface="Cambria Math" panose="02040503050406030204" pitchFamily="18" charset="0"/>
                      </a:rPr>
                      <m:t>=</m:t>
                    </m:r>
                    <m:sSup>
                      <m:sSupPr>
                        <m:ctrlPr>
                          <a:rPr lang="en-US" b="0" i="1" smtClean="0">
                            <a:solidFill>
                              <a:srgbClr val="FF0000"/>
                            </a:solidFill>
                            <a:latin typeface="Cambria Math" panose="02040503050406030204" pitchFamily="18" charset="0"/>
                          </a:rPr>
                        </m:ctrlPr>
                      </m:sSupPr>
                      <m:e>
                        <m:r>
                          <a:rPr lang="en-US" b="0" i="1" smtClean="0">
                            <a:solidFill>
                              <a:srgbClr val="FF0000"/>
                            </a:solidFill>
                            <a:latin typeface="Cambria Math" panose="02040503050406030204" pitchFamily="18" charset="0"/>
                          </a:rPr>
                          <m:t>180</m:t>
                        </m:r>
                      </m:e>
                      <m:sup>
                        <m:r>
                          <a:rPr lang="en-US" b="0" i="1" smtClean="0">
                            <a:solidFill>
                              <a:srgbClr val="FF0000"/>
                            </a:solidFill>
                            <a:latin typeface="Cambria Math" panose="02040503050406030204" pitchFamily="18" charset="0"/>
                          </a:rPr>
                          <m:t>𝑜</m:t>
                        </m:r>
                      </m:sup>
                    </m:sSup>
                  </m:oMath>
                </a14:m>
                <a:r>
                  <a:rPr lang="en-US" dirty="0">
                    <a:solidFill>
                      <a:srgbClr val="FF0000"/>
                    </a:solidFill>
                  </a:rPr>
                  <a:t> </a:t>
                </a:r>
              </a:p>
            </p:txBody>
          </p:sp>
        </mc:Choice>
        <mc:Fallback>
          <p:sp>
            <p:nvSpPr>
              <p:cNvPr id="52" name="TextBox 51">
                <a:extLst>
                  <a:ext uri="{FF2B5EF4-FFF2-40B4-BE49-F238E27FC236}">
                    <a16:creationId xmlns:a16="http://schemas.microsoft.com/office/drawing/2014/main" id="{BFB64064-1CDB-4B2A-9195-D4F43C5973A3}"/>
                  </a:ext>
                </a:extLst>
              </p:cNvPr>
              <p:cNvSpPr txBox="1">
                <a:spLocks noRot="1" noChangeAspect="1" noMove="1" noResize="1" noEditPoints="1" noAdjustHandles="1" noChangeArrowheads="1" noChangeShapeType="1" noTextEdit="1"/>
              </p:cNvSpPr>
              <p:nvPr/>
            </p:nvSpPr>
            <p:spPr>
              <a:xfrm>
                <a:off x="-1952793" y="3305965"/>
                <a:ext cx="6245816" cy="369332"/>
              </a:xfrm>
              <a:prstGeom prst="rect">
                <a:avLst/>
              </a:prstGeom>
              <a:blipFill>
                <a:blip r:embed="rId11"/>
                <a:stretch>
                  <a:fillRect l="-293" t="-8197" b="-24590"/>
                </a:stretch>
              </a:blipFill>
            </p:spPr>
            <p:txBody>
              <a:bodyPr/>
              <a:lstStyle/>
              <a:p>
                <a:r>
                  <a:rPr lang="sv-SE">
                    <a:noFill/>
                  </a:rPr>
                  <a:t> </a:t>
                </a:r>
              </a:p>
            </p:txBody>
          </p:sp>
        </mc:Fallback>
      </mc:AlternateContent>
      <p:cxnSp>
        <p:nvCxnSpPr>
          <p:cNvPr id="53" name="Straight Arrow Connector 52">
            <a:extLst>
              <a:ext uri="{FF2B5EF4-FFF2-40B4-BE49-F238E27FC236}">
                <a16:creationId xmlns:a16="http://schemas.microsoft.com/office/drawing/2014/main" id="{4B82BDF3-273F-49E2-ACA9-F3F12BD23619}"/>
              </a:ext>
            </a:extLst>
          </p:cNvPr>
          <p:cNvCxnSpPr>
            <a:cxnSpLocks/>
          </p:cNvCxnSpPr>
          <p:nvPr/>
        </p:nvCxnSpPr>
        <p:spPr>
          <a:xfrm>
            <a:off x="1371250" y="3409895"/>
            <a:ext cx="2346896" cy="0"/>
          </a:xfrm>
          <a:prstGeom prst="straightConnector1">
            <a:avLst/>
          </a:prstGeom>
          <a:ln w="25400">
            <a:solidFill>
              <a:schemeClr val="accent6"/>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38B95C53-4E6A-488F-8647-0B299F9F6ED1}"/>
              </a:ext>
            </a:extLst>
          </p:cNvPr>
          <p:cNvCxnSpPr>
            <a:cxnSpLocks/>
          </p:cNvCxnSpPr>
          <p:nvPr/>
        </p:nvCxnSpPr>
        <p:spPr>
          <a:xfrm flipH="1" flipV="1">
            <a:off x="2853133" y="3302519"/>
            <a:ext cx="865014" cy="1"/>
          </a:xfrm>
          <a:prstGeom prst="straightConnector1">
            <a:avLst/>
          </a:prstGeom>
          <a:ln w="25400">
            <a:solidFill>
              <a:srgbClr val="C00000"/>
            </a:solidFill>
            <a:headEnd type="triangle"/>
            <a:tailEnd type="non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D8579418-0FDB-4272-A530-62E962386062}"/>
              </a:ext>
            </a:extLst>
          </p:cNvPr>
          <p:cNvCxnSpPr>
            <a:cxnSpLocks/>
          </p:cNvCxnSpPr>
          <p:nvPr/>
        </p:nvCxnSpPr>
        <p:spPr>
          <a:xfrm flipH="1" flipV="1">
            <a:off x="1628534" y="3294392"/>
            <a:ext cx="1224599" cy="9115"/>
          </a:xfrm>
          <a:prstGeom prst="straightConnector1">
            <a:avLst/>
          </a:prstGeom>
          <a:ln w="25400">
            <a:solidFill>
              <a:schemeClr val="accent5"/>
            </a:solidFill>
            <a:headEnd type="triangle"/>
            <a:tailEnd type="non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61" name="TextBox 60"/>
              <p:cNvSpPr txBox="1"/>
              <p:nvPr/>
            </p:nvSpPr>
            <p:spPr>
              <a:xfrm>
                <a:off x="7460072" y="1093788"/>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𝛼</m:t>
                      </m:r>
                    </m:oMath>
                  </m:oMathPara>
                </a14:m>
                <a:endParaRPr lang="sv-SE" dirty="0"/>
              </a:p>
            </p:txBody>
          </p:sp>
        </mc:Choice>
        <mc:Fallback>
          <p:sp>
            <p:nvSpPr>
              <p:cNvPr id="61" name="TextBox 60"/>
              <p:cNvSpPr txBox="1">
                <a:spLocks noRot="1" noChangeAspect="1" noMove="1" noResize="1" noEditPoints="1" noAdjustHandles="1" noChangeArrowheads="1" noChangeShapeType="1" noTextEdit="1"/>
              </p:cNvSpPr>
              <p:nvPr/>
            </p:nvSpPr>
            <p:spPr>
              <a:xfrm>
                <a:off x="7460072" y="1093788"/>
                <a:ext cx="601661" cy="369332"/>
              </a:xfrm>
              <a:prstGeom prst="rect">
                <a:avLst/>
              </a:prstGeom>
              <a:blipFill>
                <a:blip r:embed="rId12"/>
                <a:stretch>
                  <a:fillRect/>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62" name="TextBox 61"/>
              <p:cNvSpPr txBox="1"/>
              <p:nvPr/>
            </p:nvSpPr>
            <p:spPr>
              <a:xfrm>
                <a:off x="6445591" y="1148025"/>
                <a:ext cx="6016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𝛽</m:t>
                      </m:r>
                    </m:oMath>
                  </m:oMathPara>
                </a14:m>
                <a:endParaRPr lang="sv-SE" dirty="0"/>
              </a:p>
            </p:txBody>
          </p:sp>
        </mc:Choice>
        <mc:Fallback>
          <p:sp>
            <p:nvSpPr>
              <p:cNvPr id="62" name="TextBox 61"/>
              <p:cNvSpPr txBox="1">
                <a:spLocks noRot="1" noChangeAspect="1" noMove="1" noResize="1" noEditPoints="1" noAdjustHandles="1" noChangeArrowheads="1" noChangeShapeType="1" noTextEdit="1"/>
              </p:cNvSpPr>
              <p:nvPr/>
            </p:nvSpPr>
            <p:spPr>
              <a:xfrm>
                <a:off x="6445591" y="1148025"/>
                <a:ext cx="601661" cy="369332"/>
              </a:xfrm>
              <a:prstGeom prst="rect">
                <a:avLst/>
              </a:prstGeom>
              <a:blipFill>
                <a:blip r:embed="rId13"/>
                <a:stretch>
                  <a:fillRect b="-13115"/>
                </a:stretch>
              </a:blipFill>
            </p:spPr>
            <p:txBody>
              <a:bodyPr/>
              <a:lstStyle/>
              <a:p>
                <a:r>
                  <a:rPr lang="sv-SE">
                    <a:noFill/>
                  </a:rPr>
                  <a:t> </a:t>
                </a:r>
              </a:p>
            </p:txBody>
          </p:sp>
        </mc:Fallback>
      </mc:AlternateContent>
      <p:sp>
        <p:nvSpPr>
          <p:cNvPr id="66" name="Arc 65">
            <a:extLst>
              <a:ext uri="{FF2B5EF4-FFF2-40B4-BE49-F238E27FC236}">
                <a16:creationId xmlns:a16="http://schemas.microsoft.com/office/drawing/2014/main" id="{AE3E0BFE-22D9-4A13-99FC-D329682B92D3}"/>
              </a:ext>
            </a:extLst>
          </p:cNvPr>
          <p:cNvSpPr/>
          <p:nvPr/>
        </p:nvSpPr>
        <p:spPr>
          <a:xfrm rot="20107918">
            <a:off x="7600066" y="1405108"/>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67" name="Arc 66">
            <a:extLst>
              <a:ext uri="{FF2B5EF4-FFF2-40B4-BE49-F238E27FC236}">
                <a16:creationId xmlns:a16="http://schemas.microsoft.com/office/drawing/2014/main" id="{7FD4CE10-858C-4ED5-AA94-9F99AC7E8DD9}"/>
              </a:ext>
            </a:extLst>
          </p:cNvPr>
          <p:cNvSpPr/>
          <p:nvPr/>
        </p:nvSpPr>
        <p:spPr>
          <a:xfrm rot="1477189">
            <a:off x="6197613" y="1359797"/>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p>
        </p:txBody>
      </p:sp>
      <p:sp>
        <p:nvSpPr>
          <p:cNvPr id="68" name="Arc 67">
            <a:extLst>
              <a:ext uri="{FF2B5EF4-FFF2-40B4-BE49-F238E27FC236}">
                <a16:creationId xmlns:a16="http://schemas.microsoft.com/office/drawing/2014/main" id="{BFB982CB-870B-4954-8773-65CAF3CD3CD8}"/>
              </a:ext>
            </a:extLst>
          </p:cNvPr>
          <p:cNvSpPr/>
          <p:nvPr/>
        </p:nvSpPr>
        <p:spPr>
          <a:xfrm rot="2203924">
            <a:off x="7951481" y="1367344"/>
            <a:ext cx="402846" cy="159782"/>
          </a:xfrm>
          <a:prstGeom prst="arc">
            <a:avLst>
              <a:gd name="adj1" fmla="val 12585933"/>
              <a:gd name="adj2" fmla="val 21144799"/>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cxnSp>
        <p:nvCxnSpPr>
          <p:cNvPr id="69" name="Straight Connector 68">
            <a:extLst>
              <a:ext uri="{FF2B5EF4-FFF2-40B4-BE49-F238E27FC236}">
                <a16:creationId xmlns:a16="http://schemas.microsoft.com/office/drawing/2014/main" id="{499B8E31-6AAB-4655-9CBC-815172523F3B}"/>
              </a:ext>
            </a:extLst>
          </p:cNvPr>
          <p:cNvCxnSpPr>
            <a:cxnSpLocks/>
          </p:cNvCxnSpPr>
          <p:nvPr/>
        </p:nvCxnSpPr>
        <p:spPr>
          <a:xfrm>
            <a:off x="7859628" y="1515145"/>
            <a:ext cx="1014480" cy="0"/>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0" name="Rectangle 69">
                <a:extLst>
                  <a:ext uri="{FF2B5EF4-FFF2-40B4-BE49-F238E27FC236}">
                    <a16:creationId xmlns:a16="http://schemas.microsoft.com/office/drawing/2014/main" id="{496CB29F-77F8-413A-8CB5-2A7F714C125D}"/>
                  </a:ext>
                </a:extLst>
              </p:cNvPr>
              <p:cNvSpPr/>
              <p:nvPr/>
            </p:nvSpPr>
            <p:spPr>
              <a:xfrm>
                <a:off x="8326861" y="1107919"/>
                <a:ext cx="625108" cy="369332"/>
              </a:xfrm>
              <a:prstGeom prst="rect">
                <a:avLst/>
              </a:prstGeom>
            </p:spPr>
            <p:txBody>
              <a:bodyPr wrap="none">
                <a:spAutoFit/>
              </a:bodyPr>
              <a:lstStyle/>
              <a:p>
                <a14:m>
                  <m:oMath xmlns:m="http://schemas.openxmlformats.org/officeDocument/2006/math">
                    <m:sSub>
                      <m:sSubPr>
                        <m:ctrlPr>
                          <a:rPr lang="en-US" i="1" smtClean="0">
                            <a:solidFill>
                              <a:srgbClr val="E622EB"/>
                            </a:solidFill>
                            <a:latin typeface="Cambria Math" panose="02040503050406030204" pitchFamily="18" charset="0"/>
                          </a:rPr>
                        </m:ctrlPr>
                      </m:sSubPr>
                      <m:e>
                        <m:r>
                          <a:rPr lang="en-US" i="1">
                            <a:solidFill>
                              <a:srgbClr val="E622EB"/>
                            </a:solidFill>
                            <a:latin typeface="Cambria Math" panose="02040503050406030204" pitchFamily="18" charset="0"/>
                          </a:rPr>
                          <m:t>𝜙</m:t>
                        </m:r>
                      </m:e>
                      <m:sub>
                        <m:r>
                          <a:rPr lang="en-US" i="1">
                            <a:solidFill>
                              <a:srgbClr val="E622EB"/>
                            </a:solidFill>
                            <a:latin typeface="Cambria Math" panose="02040503050406030204" pitchFamily="18" charset="0"/>
                          </a:rPr>
                          <m:t>𝐶𝐵</m:t>
                        </m:r>
                      </m:sub>
                    </m:sSub>
                  </m:oMath>
                </a14:m>
                <a:r>
                  <a:rPr lang="en-US" dirty="0">
                    <a:solidFill>
                      <a:srgbClr val="FF0000"/>
                    </a:solidFill>
                  </a:rPr>
                  <a:t> </a:t>
                </a:r>
              </a:p>
            </p:txBody>
          </p:sp>
        </mc:Choice>
        <mc:Fallback>
          <p:sp>
            <p:nvSpPr>
              <p:cNvPr id="70" name="Rectangle 69">
                <a:extLst>
                  <a:ext uri="{FF2B5EF4-FFF2-40B4-BE49-F238E27FC236}">
                    <a16:creationId xmlns:a16="http://schemas.microsoft.com/office/drawing/2014/main" id="{496CB29F-77F8-413A-8CB5-2A7F714C125D}"/>
                  </a:ext>
                </a:extLst>
              </p:cNvPr>
              <p:cNvSpPr>
                <a:spLocks noRot="1" noChangeAspect="1" noMove="1" noResize="1" noEditPoints="1" noAdjustHandles="1" noChangeArrowheads="1" noChangeShapeType="1" noTextEdit="1"/>
              </p:cNvSpPr>
              <p:nvPr/>
            </p:nvSpPr>
            <p:spPr>
              <a:xfrm>
                <a:off x="8326861" y="1107919"/>
                <a:ext cx="625108" cy="369332"/>
              </a:xfrm>
              <a:prstGeom prst="rect">
                <a:avLst/>
              </a:prstGeom>
              <a:blipFill>
                <a:blip r:embed="rId14"/>
                <a:stretch>
                  <a:fillRect l="-2941" b="-13333"/>
                </a:stretch>
              </a:blipFill>
            </p:spPr>
            <p:txBody>
              <a:bodyPr/>
              <a:lstStyle/>
              <a:p>
                <a:r>
                  <a:rPr lang="sv-SE">
                    <a:noFill/>
                  </a:rPr>
                  <a:t> </a:t>
                </a:r>
              </a:p>
            </p:txBody>
          </p:sp>
        </mc:Fallback>
      </mc:AlternateContent>
      <p:sp>
        <p:nvSpPr>
          <p:cNvPr id="71" name="Arc 70">
            <a:extLst>
              <a:ext uri="{FF2B5EF4-FFF2-40B4-BE49-F238E27FC236}">
                <a16:creationId xmlns:a16="http://schemas.microsoft.com/office/drawing/2014/main" id="{D6903EB6-6953-454F-8901-D22A8B71DF70}"/>
              </a:ext>
            </a:extLst>
          </p:cNvPr>
          <p:cNvSpPr/>
          <p:nvPr/>
        </p:nvSpPr>
        <p:spPr>
          <a:xfrm rot="8638307">
            <a:off x="5189003" y="1331986"/>
            <a:ext cx="538984" cy="281832"/>
          </a:xfrm>
          <a:prstGeom prst="arc">
            <a:avLst>
              <a:gd name="adj1" fmla="val 15923001"/>
              <a:gd name="adj2" fmla="val 21419193"/>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sv-SE">
              <a:solidFill>
                <a:srgbClr val="FF0000"/>
              </a:solidFill>
            </a:endParaRPr>
          </a:p>
        </p:txBody>
      </p:sp>
      <p:cxnSp>
        <p:nvCxnSpPr>
          <p:cNvPr id="72" name="Straight Connector 71">
            <a:extLst>
              <a:ext uri="{FF2B5EF4-FFF2-40B4-BE49-F238E27FC236}">
                <a16:creationId xmlns:a16="http://schemas.microsoft.com/office/drawing/2014/main" id="{11A00E67-1ADC-4659-B12D-959CCAB5ABB7}"/>
              </a:ext>
            </a:extLst>
          </p:cNvPr>
          <p:cNvCxnSpPr>
            <a:cxnSpLocks/>
          </p:cNvCxnSpPr>
          <p:nvPr/>
        </p:nvCxnSpPr>
        <p:spPr>
          <a:xfrm flipV="1">
            <a:off x="4938454" y="1489684"/>
            <a:ext cx="626375" cy="195411"/>
          </a:xfrm>
          <a:prstGeom prst="line">
            <a:avLst/>
          </a:prstGeom>
          <a:ln w="25400">
            <a:solidFill>
              <a:schemeClr val="tx1"/>
            </a:solidFill>
            <a:prstDash val="sysDot"/>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73" name="Rectangle 72">
                <a:extLst>
                  <a:ext uri="{FF2B5EF4-FFF2-40B4-BE49-F238E27FC236}">
                    <a16:creationId xmlns:a16="http://schemas.microsoft.com/office/drawing/2014/main" id="{6A6F4827-EF04-4B73-A89C-7DEB4A290EF8}"/>
                  </a:ext>
                </a:extLst>
              </p:cNvPr>
              <p:cNvSpPr/>
              <p:nvPr/>
            </p:nvSpPr>
            <p:spPr>
              <a:xfrm>
                <a:off x="5412988" y="1480254"/>
                <a:ext cx="789896" cy="369332"/>
              </a:xfrm>
              <a:prstGeom prst="rect">
                <a:avLst/>
              </a:prstGeom>
            </p:spPr>
            <p:txBody>
              <a:bodyPr wrap="none">
                <a:spAutoFit/>
              </a:bodyPr>
              <a:lstStyle/>
              <a:p>
                <a14:m>
                  <m:oMath xmlns:m="http://schemas.openxmlformats.org/officeDocument/2006/math">
                    <m:r>
                      <a:rPr lang="en-US" b="0" i="1" smtClean="0">
                        <a:solidFill>
                          <a:srgbClr val="92D050"/>
                        </a:solidFill>
                        <a:latin typeface="Cambria Math" panose="02040503050406030204" pitchFamily="18" charset="0"/>
                      </a:rPr>
                      <m:t>−</m:t>
                    </m:r>
                    <m:sSub>
                      <m:sSubPr>
                        <m:ctrlPr>
                          <a:rPr lang="en-US" i="1" smtClean="0">
                            <a:solidFill>
                              <a:srgbClr val="92D050"/>
                            </a:solidFill>
                            <a:latin typeface="Cambria Math" panose="02040503050406030204" pitchFamily="18" charset="0"/>
                          </a:rPr>
                        </m:ctrlPr>
                      </m:sSubPr>
                      <m:e>
                        <m:r>
                          <a:rPr lang="en-US" i="1">
                            <a:solidFill>
                              <a:srgbClr val="92D050"/>
                            </a:solidFill>
                            <a:latin typeface="Cambria Math" panose="02040503050406030204" pitchFamily="18" charset="0"/>
                          </a:rPr>
                          <m:t>𝜙</m:t>
                        </m:r>
                      </m:e>
                      <m:sub>
                        <m:r>
                          <a:rPr lang="en-US" i="1">
                            <a:solidFill>
                              <a:srgbClr val="92D050"/>
                            </a:solidFill>
                            <a:latin typeface="Cambria Math" panose="02040503050406030204" pitchFamily="18" charset="0"/>
                          </a:rPr>
                          <m:t>𝐶</m:t>
                        </m:r>
                        <m:r>
                          <a:rPr lang="en-US" b="0" i="1" smtClean="0">
                            <a:solidFill>
                              <a:srgbClr val="92D050"/>
                            </a:solidFill>
                            <a:latin typeface="Cambria Math" panose="02040503050406030204" pitchFamily="18" charset="0"/>
                          </a:rPr>
                          <m:t>𝐶</m:t>
                        </m:r>
                      </m:sub>
                    </m:sSub>
                  </m:oMath>
                </a14:m>
                <a:r>
                  <a:rPr lang="en-US" dirty="0">
                    <a:solidFill>
                      <a:srgbClr val="FF0000"/>
                    </a:solidFill>
                  </a:rPr>
                  <a:t> </a:t>
                </a:r>
              </a:p>
            </p:txBody>
          </p:sp>
        </mc:Choice>
        <mc:Fallback>
          <p:sp>
            <p:nvSpPr>
              <p:cNvPr id="73" name="Rectangle 72">
                <a:extLst>
                  <a:ext uri="{FF2B5EF4-FFF2-40B4-BE49-F238E27FC236}">
                    <a16:creationId xmlns:a16="http://schemas.microsoft.com/office/drawing/2014/main" id="{6A6F4827-EF04-4B73-A89C-7DEB4A290EF8}"/>
                  </a:ext>
                </a:extLst>
              </p:cNvPr>
              <p:cNvSpPr>
                <a:spLocks noRot="1" noChangeAspect="1" noMove="1" noResize="1" noEditPoints="1" noAdjustHandles="1" noChangeArrowheads="1" noChangeShapeType="1" noTextEdit="1"/>
              </p:cNvSpPr>
              <p:nvPr/>
            </p:nvSpPr>
            <p:spPr>
              <a:xfrm>
                <a:off x="5412988" y="1480254"/>
                <a:ext cx="789896" cy="369332"/>
              </a:xfrm>
              <a:prstGeom prst="rect">
                <a:avLst/>
              </a:prstGeom>
              <a:blipFill>
                <a:blip r:embed="rId15"/>
                <a:stretch>
                  <a:fillRect b="-13333"/>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77" name="Rectangle 76">
                <a:extLst>
                  <a:ext uri="{FF2B5EF4-FFF2-40B4-BE49-F238E27FC236}">
                    <a16:creationId xmlns:a16="http://schemas.microsoft.com/office/drawing/2014/main" id="{496CB29F-77F8-413A-8CB5-2A7F714C125D}"/>
                  </a:ext>
                </a:extLst>
              </p:cNvPr>
              <p:cNvSpPr/>
              <p:nvPr/>
            </p:nvSpPr>
            <p:spPr>
              <a:xfrm>
                <a:off x="6450263" y="1551102"/>
                <a:ext cx="1162947" cy="369332"/>
              </a:xfrm>
              <a:prstGeom prst="rect">
                <a:avLst/>
              </a:prstGeom>
            </p:spPr>
            <p:txBody>
              <a:bodyPr wrap="none">
                <a:spAutoFit/>
              </a:bodyPr>
              <a:lstStyle/>
              <a:p>
                <a14:m>
                  <m:oMath xmlns:m="http://schemas.openxmlformats.org/officeDocument/2006/math">
                    <m:sSub>
                      <m:sSubPr>
                        <m:ctrlPr>
                          <a:rPr lang="en-US" i="1" smtClean="0">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𝜙</m:t>
                        </m:r>
                      </m:e>
                      <m:sub>
                        <m:r>
                          <a:rPr lang="en-US" i="1">
                            <a:solidFill>
                              <a:srgbClr val="002060"/>
                            </a:solidFill>
                            <a:latin typeface="Cambria Math" panose="02040503050406030204" pitchFamily="18" charset="0"/>
                          </a:rPr>
                          <m:t>𝐶</m:t>
                        </m:r>
                        <m:r>
                          <a:rPr lang="sv-SE" b="0" i="1" smtClean="0">
                            <a:solidFill>
                              <a:srgbClr val="002060"/>
                            </a:solidFill>
                            <a:latin typeface="Cambria Math" panose="02040503050406030204" pitchFamily="18" charset="0"/>
                          </a:rPr>
                          <m:t>𝐴</m:t>
                        </m:r>
                      </m:sub>
                    </m:sSub>
                    <m:r>
                      <a:rPr lang="sv-SE" b="0" i="0" smtClean="0">
                        <a:solidFill>
                          <a:srgbClr val="002060"/>
                        </a:solidFill>
                        <a:latin typeface="Cambria Math" panose="02040503050406030204" pitchFamily="18" charset="0"/>
                      </a:rPr>
                      <m:t>=</m:t>
                    </m:r>
                    <m:sSup>
                      <m:sSupPr>
                        <m:ctrlPr>
                          <a:rPr lang="sv-SE" b="0" i="0" smtClean="0">
                            <a:solidFill>
                              <a:srgbClr val="002060"/>
                            </a:solidFill>
                            <a:latin typeface="Cambria Math" panose="02040503050406030204" pitchFamily="18" charset="0"/>
                          </a:rPr>
                        </m:ctrlPr>
                      </m:sSupPr>
                      <m:e>
                        <m:r>
                          <a:rPr lang="sv-SE" b="0" i="0" smtClean="0">
                            <a:solidFill>
                              <a:srgbClr val="002060"/>
                            </a:solidFill>
                            <a:latin typeface="Cambria Math" panose="02040503050406030204" pitchFamily="18" charset="0"/>
                          </a:rPr>
                          <m:t>0</m:t>
                        </m:r>
                      </m:e>
                      <m:sup>
                        <m:r>
                          <a:rPr lang="sv-SE" b="0" i="1" smtClean="0">
                            <a:solidFill>
                              <a:srgbClr val="002060"/>
                            </a:solidFill>
                            <a:latin typeface="Cambria Math" panose="02040503050406030204" pitchFamily="18" charset="0"/>
                          </a:rPr>
                          <m:t>𝑜</m:t>
                        </m:r>
                      </m:sup>
                    </m:sSup>
                  </m:oMath>
                </a14:m>
                <a:r>
                  <a:rPr lang="en-US" dirty="0" smtClean="0">
                    <a:solidFill>
                      <a:srgbClr val="FF0000"/>
                    </a:solidFill>
                  </a:rPr>
                  <a:t> </a:t>
                </a:r>
                <a:endParaRPr lang="en-US" dirty="0">
                  <a:solidFill>
                    <a:srgbClr val="FF0000"/>
                  </a:solidFill>
                </a:endParaRPr>
              </a:p>
            </p:txBody>
          </p:sp>
        </mc:Choice>
        <mc:Fallback>
          <p:sp>
            <p:nvSpPr>
              <p:cNvPr id="77" name="Rectangle 76">
                <a:extLst>
                  <a:ext uri="{FF2B5EF4-FFF2-40B4-BE49-F238E27FC236}">
                    <a16:creationId xmlns:a16="http://schemas.microsoft.com/office/drawing/2014/main" id="{496CB29F-77F8-413A-8CB5-2A7F714C125D}"/>
                  </a:ext>
                </a:extLst>
              </p:cNvPr>
              <p:cNvSpPr>
                <a:spLocks noRot="1" noChangeAspect="1" noMove="1" noResize="1" noEditPoints="1" noAdjustHandles="1" noChangeArrowheads="1" noChangeShapeType="1" noTextEdit="1"/>
              </p:cNvSpPr>
              <p:nvPr/>
            </p:nvSpPr>
            <p:spPr>
              <a:xfrm>
                <a:off x="6450263" y="1551102"/>
                <a:ext cx="1162947" cy="369332"/>
              </a:xfrm>
              <a:prstGeom prst="rect">
                <a:avLst/>
              </a:prstGeom>
              <a:blipFill>
                <a:blip r:embed="rId16"/>
                <a:stretch>
                  <a:fillRect l="-1047" b="-11475"/>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78" name="Rectangle 77"/>
              <p:cNvSpPr/>
              <p:nvPr/>
            </p:nvSpPr>
            <p:spPr>
              <a:xfrm>
                <a:off x="5256338" y="949565"/>
                <a:ext cx="697242" cy="4086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i="1">
                              <a:solidFill>
                                <a:srgbClr val="92D050"/>
                              </a:solidFill>
                              <a:latin typeface="Cambria Math" panose="02040503050406030204" pitchFamily="18" charset="0"/>
                            </a:rPr>
                          </m:ctrlPr>
                        </m:sSupPr>
                        <m:e>
                          <m:acc>
                            <m:accPr>
                              <m:chr m:val="̂"/>
                              <m:ctrlPr>
                                <a:rPr lang="en-US" i="1">
                                  <a:solidFill>
                                    <a:srgbClr val="92D050"/>
                                  </a:solidFill>
                                  <a:latin typeface="Cambria Math" panose="02040503050406030204" pitchFamily="18" charset="0"/>
                                </a:rPr>
                              </m:ctrlPr>
                            </m:accPr>
                            <m:e>
                              <m:sSub>
                                <m:sSubPr>
                                  <m:ctrlPr>
                                    <a:rPr lang="en-US" i="1">
                                      <a:solidFill>
                                        <a:srgbClr val="92D050"/>
                                      </a:solidFill>
                                      <a:latin typeface="Cambria Math" panose="02040503050406030204" pitchFamily="18" charset="0"/>
                                    </a:rPr>
                                  </m:ctrlPr>
                                </m:sSubPr>
                                <m:e>
                                  <m:r>
                                    <a:rPr lang="en-US" i="1">
                                      <a:solidFill>
                                        <a:srgbClr val="92D050"/>
                                      </a:solidFill>
                                      <a:latin typeface="Cambria Math" panose="02040503050406030204" pitchFamily="18" charset="0"/>
                                    </a:rPr>
                                    <m:t>𝑉</m:t>
                                  </m:r>
                                </m:e>
                                <m:sub>
                                  <m:r>
                                    <a:rPr lang="en-US" i="1">
                                      <a:solidFill>
                                        <a:srgbClr val="92D050"/>
                                      </a:solidFill>
                                      <a:latin typeface="Cambria Math" panose="02040503050406030204" pitchFamily="18" charset="0"/>
                                    </a:rPr>
                                    <m:t>𝐶</m:t>
                                  </m:r>
                                </m:sub>
                              </m:sSub>
                            </m:e>
                          </m:acc>
                        </m:e>
                        <m:sup>
                          <m:sSub>
                            <m:sSubPr>
                              <m:ctrlPr>
                                <a:rPr lang="en-US" i="1">
                                  <a:solidFill>
                                    <a:srgbClr val="92D050"/>
                                  </a:solidFill>
                                  <a:latin typeface="Cambria Math" panose="02040503050406030204" pitchFamily="18" charset="0"/>
                                </a:rPr>
                              </m:ctrlPr>
                            </m:sSubPr>
                            <m:e>
                              <m:r>
                                <a:rPr lang="en-US" i="1">
                                  <a:solidFill>
                                    <a:srgbClr val="92D050"/>
                                  </a:solidFill>
                                  <a:latin typeface="Cambria Math" panose="02040503050406030204" pitchFamily="18" charset="0"/>
                                </a:rPr>
                                <m:t>𝜔</m:t>
                              </m:r>
                            </m:e>
                            <m:sub>
                              <m:r>
                                <a:rPr lang="en-US" i="1">
                                  <a:solidFill>
                                    <a:srgbClr val="92D050"/>
                                  </a:solidFill>
                                  <a:latin typeface="Cambria Math" panose="02040503050406030204" pitchFamily="18" charset="0"/>
                                </a:rPr>
                                <m:t>𝑐</m:t>
                              </m:r>
                            </m:sub>
                          </m:sSub>
                        </m:sup>
                      </m:sSup>
                    </m:oMath>
                  </m:oMathPara>
                </a14:m>
                <a:endParaRPr lang="sv-SE" dirty="0"/>
              </a:p>
            </p:txBody>
          </p:sp>
        </mc:Choice>
        <mc:Fallback>
          <p:sp>
            <p:nvSpPr>
              <p:cNvPr id="78" name="Rectangle 77"/>
              <p:cNvSpPr>
                <a:spLocks noRot="1" noChangeAspect="1" noMove="1" noResize="1" noEditPoints="1" noAdjustHandles="1" noChangeArrowheads="1" noChangeShapeType="1" noTextEdit="1"/>
              </p:cNvSpPr>
              <p:nvPr/>
            </p:nvSpPr>
            <p:spPr>
              <a:xfrm>
                <a:off x="5256338" y="949565"/>
                <a:ext cx="697242" cy="408638"/>
              </a:xfrm>
              <a:prstGeom prst="rect">
                <a:avLst/>
              </a:prstGeom>
              <a:blipFill>
                <a:blip r:embed="rId17"/>
                <a:stretch>
                  <a:fillRect r="-870"/>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79" name="Rectangle 78"/>
              <p:cNvSpPr/>
              <p:nvPr/>
            </p:nvSpPr>
            <p:spPr>
              <a:xfrm>
                <a:off x="8639415" y="705242"/>
                <a:ext cx="705578" cy="4086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i="1">
                              <a:solidFill>
                                <a:srgbClr val="E622EB"/>
                              </a:solidFill>
                              <a:latin typeface="Cambria Math" panose="02040503050406030204" pitchFamily="18" charset="0"/>
                            </a:rPr>
                          </m:ctrlPr>
                        </m:sSupPr>
                        <m:e>
                          <m:acc>
                            <m:accPr>
                              <m:chr m:val="̂"/>
                              <m:ctrlPr>
                                <a:rPr lang="en-US" i="1">
                                  <a:solidFill>
                                    <a:srgbClr val="E622EB"/>
                                  </a:solidFill>
                                  <a:latin typeface="Cambria Math" panose="02040503050406030204" pitchFamily="18" charset="0"/>
                                </a:rPr>
                              </m:ctrlPr>
                            </m:accPr>
                            <m:e>
                              <m:sSub>
                                <m:sSubPr>
                                  <m:ctrlPr>
                                    <a:rPr lang="en-US" i="1">
                                      <a:solidFill>
                                        <a:srgbClr val="E622EB"/>
                                      </a:solidFill>
                                      <a:latin typeface="Cambria Math" panose="02040503050406030204" pitchFamily="18" charset="0"/>
                                    </a:rPr>
                                  </m:ctrlPr>
                                </m:sSubPr>
                                <m:e>
                                  <m:r>
                                    <a:rPr lang="en-US" i="1">
                                      <a:solidFill>
                                        <a:srgbClr val="E622EB"/>
                                      </a:solidFill>
                                      <a:latin typeface="Cambria Math" panose="02040503050406030204" pitchFamily="18" charset="0"/>
                                    </a:rPr>
                                    <m:t>𝑉</m:t>
                                  </m:r>
                                </m:e>
                                <m:sub>
                                  <m:r>
                                    <a:rPr lang="en-US" i="1">
                                      <a:solidFill>
                                        <a:srgbClr val="E622EB"/>
                                      </a:solidFill>
                                      <a:latin typeface="Cambria Math" panose="02040503050406030204" pitchFamily="18" charset="0"/>
                                    </a:rPr>
                                    <m:t>𝐵</m:t>
                                  </m:r>
                                </m:sub>
                              </m:sSub>
                            </m:e>
                          </m:acc>
                        </m:e>
                        <m:sup>
                          <m:sSub>
                            <m:sSubPr>
                              <m:ctrlPr>
                                <a:rPr lang="en-US" i="1">
                                  <a:solidFill>
                                    <a:srgbClr val="E622EB"/>
                                  </a:solidFill>
                                  <a:latin typeface="Cambria Math" panose="02040503050406030204" pitchFamily="18" charset="0"/>
                                </a:rPr>
                              </m:ctrlPr>
                            </m:sSubPr>
                            <m:e>
                              <m:r>
                                <a:rPr lang="en-US" i="1">
                                  <a:solidFill>
                                    <a:srgbClr val="E622EB"/>
                                  </a:solidFill>
                                  <a:latin typeface="Cambria Math" panose="02040503050406030204" pitchFamily="18" charset="0"/>
                                </a:rPr>
                                <m:t>𝜔</m:t>
                              </m:r>
                            </m:e>
                            <m:sub>
                              <m:r>
                                <a:rPr lang="en-US" i="1">
                                  <a:solidFill>
                                    <a:srgbClr val="E622EB"/>
                                  </a:solidFill>
                                  <a:latin typeface="Cambria Math" panose="02040503050406030204" pitchFamily="18" charset="0"/>
                                </a:rPr>
                                <m:t>𝑐</m:t>
                              </m:r>
                            </m:sub>
                          </m:sSub>
                        </m:sup>
                      </m:sSup>
                    </m:oMath>
                  </m:oMathPara>
                </a14:m>
                <a:endParaRPr lang="sv-SE" dirty="0"/>
              </a:p>
            </p:txBody>
          </p:sp>
        </mc:Choice>
        <mc:Fallback>
          <p:sp>
            <p:nvSpPr>
              <p:cNvPr id="79" name="Rectangle 78"/>
              <p:cNvSpPr>
                <a:spLocks noRot="1" noChangeAspect="1" noMove="1" noResize="1" noEditPoints="1" noAdjustHandles="1" noChangeArrowheads="1" noChangeShapeType="1" noTextEdit="1"/>
              </p:cNvSpPr>
              <p:nvPr/>
            </p:nvSpPr>
            <p:spPr>
              <a:xfrm>
                <a:off x="8639415" y="705242"/>
                <a:ext cx="705578" cy="408638"/>
              </a:xfrm>
              <a:prstGeom prst="rect">
                <a:avLst/>
              </a:prstGeom>
              <a:blipFill>
                <a:blip r:embed="rId18"/>
                <a:stretch>
                  <a:fillRect r="-2586"/>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80" name="Rectangle 79"/>
              <p:cNvSpPr/>
              <p:nvPr/>
            </p:nvSpPr>
            <p:spPr>
              <a:xfrm>
                <a:off x="7618584" y="1551102"/>
                <a:ext cx="689676" cy="408638"/>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p>
                        <m:sSupPr>
                          <m:ctrlPr>
                            <a:rPr lang="en-US" i="1">
                              <a:solidFill>
                                <a:srgbClr val="002060"/>
                              </a:solidFill>
                              <a:latin typeface="Cambria Math" panose="02040503050406030204" pitchFamily="18" charset="0"/>
                            </a:rPr>
                          </m:ctrlPr>
                        </m:sSupPr>
                        <m:e>
                          <m:acc>
                            <m:accPr>
                              <m:chr m:val="̂"/>
                              <m:ctrlPr>
                                <a:rPr lang="en-US" i="1">
                                  <a:solidFill>
                                    <a:srgbClr val="002060"/>
                                  </a:solidFill>
                                  <a:latin typeface="Cambria Math" panose="02040503050406030204" pitchFamily="18" charset="0"/>
                                </a:rPr>
                              </m:ctrlPr>
                            </m:accPr>
                            <m:e>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𝑉</m:t>
                                  </m:r>
                                </m:e>
                                <m:sub>
                                  <m:r>
                                    <a:rPr lang="en-US" i="1">
                                      <a:solidFill>
                                        <a:srgbClr val="002060"/>
                                      </a:solidFill>
                                      <a:latin typeface="Cambria Math" panose="02040503050406030204" pitchFamily="18" charset="0"/>
                                    </a:rPr>
                                    <m:t>𝐴</m:t>
                                  </m:r>
                                </m:sub>
                              </m:sSub>
                            </m:e>
                          </m:acc>
                        </m:e>
                        <m:sup>
                          <m:sSub>
                            <m:sSubPr>
                              <m:ctrlPr>
                                <a:rPr lang="en-US" i="1">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𝜔</m:t>
                              </m:r>
                            </m:e>
                            <m:sub>
                              <m:r>
                                <a:rPr lang="en-US" i="1">
                                  <a:solidFill>
                                    <a:srgbClr val="002060"/>
                                  </a:solidFill>
                                  <a:latin typeface="Cambria Math" panose="02040503050406030204" pitchFamily="18" charset="0"/>
                                </a:rPr>
                                <m:t>𝑐</m:t>
                              </m:r>
                            </m:sub>
                          </m:sSub>
                        </m:sup>
                      </m:sSup>
                    </m:oMath>
                  </m:oMathPara>
                </a14:m>
                <a:endParaRPr lang="sv-SE" dirty="0"/>
              </a:p>
            </p:txBody>
          </p:sp>
        </mc:Choice>
        <mc:Fallback>
          <p:sp>
            <p:nvSpPr>
              <p:cNvPr id="80" name="Rectangle 79"/>
              <p:cNvSpPr>
                <a:spLocks noRot="1" noChangeAspect="1" noMove="1" noResize="1" noEditPoints="1" noAdjustHandles="1" noChangeArrowheads="1" noChangeShapeType="1" noTextEdit="1"/>
              </p:cNvSpPr>
              <p:nvPr/>
            </p:nvSpPr>
            <p:spPr>
              <a:xfrm>
                <a:off x="7618584" y="1551102"/>
                <a:ext cx="689676" cy="408638"/>
              </a:xfrm>
              <a:prstGeom prst="rect">
                <a:avLst/>
              </a:prstGeom>
              <a:blipFill>
                <a:blip r:embed="rId19"/>
                <a:stretch>
                  <a:fillRect/>
                </a:stretch>
              </a:blipFill>
            </p:spPr>
            <p:txBody>
              <a:bodyPr/>
              <a:lstStyle/>
              <a:p>
                <a:r>
                  <a:rPr lang="sv-SE">
                    <a:noFill/>
                  </a:rPr>
                  <a:t> </a:t>
                </a:r>
              </a:p>
            </p:txBody>
          </p:sp>
        </mc:Fallback>
      </mc:AlternateContent>
      <p:cxnSp>
        <p:nvCxnSpPr>
          <p:cNvPr id="86" name="Straight Arrow Connector 85"/>
          <p:cNvCxnSpPr/>
          <p:nvPr/>
        </p:nvCxnSpPr>
        <p:spPr>
          <a:xfrm flipH="1">
            <a:off x="10046869" y="1569927"/>
            <a:ext cx="1187058" cy="184"/>
          </a:xfrm>
          <a:prstGeom prst="straightConnector1">
            <a:avLst/>
          </a:prstGeom>
          <a:ln w="25400">
            <a:solidFill>
              <a:srgbClr val="E622EB"/>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a:off x="9318459" y="1677461"/>
            <a:ext cx="1918547" cy="4964"/>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91" name="Straight Arrow Connector 90"/>
          <p:cNvCxnSpPr/>
          <p:nvPr/>
        </p:nvCxnSpPr>
        <p:spPr>
          <a:xfrm flipH="1" flipV="1">
            <a:off x="9656540" y="1570717"/>
            <a:ext cx="391990" cy="1"/>
          </a:xfrm>
          <a:prstGeom prst="straightConnector1">
            <a:avLst/>
          </a:prstGeom>
          <a:ln w="2540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95" name="Rectangle 94"/>
              <p:cNvSpPr/>
              <p:nvPr/>
            </p:nvSpPr>
            <p:spPr>
              <a:xfrm>
                <a:off x="9656540" y="645897"/>
                <a:ext cx="1162947" cy="369332"/>
              </a:xfrm>
              <a:prstGeom prst="rect">
                <a:avLst/>
              </a:prstGeom>
            </p:spPr>
            <p:txBody>
              <a:bodyPr wrap="none">
                <a:spAutoFit/>
              </a:bodyPr>
              <a:lstStyle/>
              <a:p>
                <a14:m>
                  <m:oMath xmlns:m="http://schemas.openxmlformats.org/officeDocument/2006/math">
                    <m:sSub>
                      <m:sSubPr>
                        <m:ctrlPr>
                          <a:rPr lang="en-US" i="1" smtClean="0">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𝜙</m:t>
                        </m:r>
                      </m:e>
                      <m:sub>
                        <m:r>
                          <a:rPr lang="en-US" i="1">
                            <a:solidFill>
                              <a:srgbClr val="002060"/>
                            </a:solidFill>
                            <a:latin typeface="Cambria Math" panose="02040503050406030204" pitchFamily="18" charset="0"/>
                          </a:rPr>
                          <m:t>𝐶</m:t>
                        </m:r>
                        <m:r>
                          <a:rPr lang="sv-SE" i="1">
                            <a:solidFill>
                              <a:srgbClr val="002060"/>
                            </a:solidFill>
                            <a:latin typeface="Cambria Math" panose="02040503050406030204" pitchFamily="18" charset="0"/>
                          </a:rPr>
                          <m:t>𝐴</m:t>
                        </m:r>
                      </m:sub>
                    </m:sSub>
                    <m:r>
                      <a:rPr lang="sv-SE">
                        <a:solidFill>
                          <a:srgbClr val="002060"/>
                        </a:solidFill>
                        <a:latin typeface="Cambria Math" panose="02040503050406030204" pitchFamily="18" charset="0"/>
                      </a:rPr>
                      <m:t>=</m:t>
                    </m:r>
                    <m:sSup>
                      <m:sSupPr>
                        <m:ctrlPr>
                          <a:rPr lang="sv-SE" b="0" i="0" smtClean="0">
                            <a:solidFill>
                              <a:srgbClr val="002060"/>
                            </a:solidFill>
                            <a:latin typeface="Cambria Math" panose="02040503050406030204" pitchFamily="18" charset="0"/>
                          </a:rPr>
                        </m:ctrlPr>
                      </m:sSupPr>
                      <m:e>
                        <m:r>
                          <a:rPr lang="sv-SE">
                            <a:solidFill>
                              <a:srgbClr val="002060"/>
                            </a:solidFill>
                            <a:latin typeface="Cambria Math" panose="02040503050406030204" pitchFamily="18" charset="0"/>
                          </a:rPr>
                          <m:t>0</m:t>
                        </m:r>
                      </m:e>
                      <m:sup>
                        <m:r>
                          <a:rPr lang="sv-SE" b="0" i="1" smtClean="0">
                            <a:solidFill>
                              <a:srgbClr val="002060"/>
                            </a:solidFill>
                            <a:latin typeface="Cambria Math" panose="02040503050406030204" pitchFamily="18" charset="0"/>
                          </a:rPr>
                          <m:t>𝑜</m:t>
                        </m:r>
                      </m:sup>
                    </m:sSup>
                  </m:oMath>
                </a14:m>
                <a:r>
                  <a:rPr lang="en-US" dirty="0">
                    <a:solidFill>
                      <a:srgbClr val="FF0000"/>
                    </a:solidFill>
                  </a:rPr>
                  <a:t> </a:t>
                </a:r>
                <a:endParaRPr lang="en-US" dirty="0">
                  <a:solidFill>
                    <a:srgbClr val="FF0000"/>
                  </a:solidFill>
                </a:endParaRPr>
              </a:p>
            </p:txBody>
          </p:sp>
        </mc:Choice>
        <mc:Fallback>
          <p:sp>
            <p:nvSpPr>
              <p:cNvPr id="95" name="Rectangle 94"/>
              <p:cNvSpPr>
                <a:spLocks noRot="1" noChangeAspect="1" noMove="1" noResize="1" noEditPoints="1" noAdjustHandles="1" noChangeArrowheads="1" noChangeShapeType="1" noTextEdit="1"/>
              </p:cNvSpPr>
              <p:nvPr/>
            </p:nvSpPr>
            <p:spPr>
              <a:xfrm>
                <a:off x="9656540" y="645897"/>
                <a:ext cx="1162947" cy="369332"/>
              </a:xfrm>
              <a:prstGeom prst="rect">
                <a:avLst/>
              </a:prstGeom>
              <a:blipFill>
                <a:blip r:embed="rId20"/>
                <a:stretch>
                  <a:fillRect l="-1047" b="-11475"/>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96" name="Rectangle 95"/>
              <p:cNvSpPr/>
              <p:nvPr/>
            </p:nvSpPr>
            <p:spPr>
              <a:xfrm>
                <a:off x="9633578" y="916265"/>
                <a:ext cx="142385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smtClean="0">
                              <a:solidFill>
                                <a:srgbClr val="E622EB"/>
                              </a:solidFill>
                              <a:latin typeface="Cambria Math" panose="02040503050406030204" pitchFamily="18" charset="0"/>
                            </a:rPr>
                          </m:ctrlPr>
                        </m:sSubPr>
                        <m:e>
                          <m:r>
                            <a:rPr lang="en-US" i="1">
                              <a:solidFill>
                                <a:srgbClr val="E622EB"/>
                              </a:solidFill>
                              <a:latin typeface="Cambria Math" panose="02040503050406030204" pitchFamily="18" charset="0"/>
                            </a:rPr>
                            <m:t>𝜙</m:t>
                          </m:r>
                        </m:e>
                        <m:sub>
                          <m:r>
                            <a:rPr lang="en-US" i="1">
                              <a:solidFill>
                                <a:srgbClr val="E622EB"/>
                              </a:solidFill>
                              <a:latin typeface="Cambria Math" panose="02040503050406030204" pitchFamily="18" charset="0"/>
                            </a:rPr>
                            <m:t>𝐶𝐵</m:t>
                          </m:r>
                        </m:sub>
                      </m:sSub>
                      <m:r>
                        <a:rPr lang="sv-SE" b="0" i="1" smtClean="0">
                          <a:solidFill>
                            <a:srgbClr val="E622EB"/>
                          </a:solidFill>
                          <a:latin typeface="Cambria Math" panose="02040503050406030204" pitchFamily="18" charset="0"/>
                        </a:rPr>
                        <m:t>=</m:t>
                      </m:r>
                      <m:sSup>
                        <m:sSupPr>
                          <m:ctrlPr>
                            <a:rPr lang="sv-SE" b="0" i="1" smtClean="0">
                              <a:solidFill>
                                <a:srgbClr val="E622EB"/>
                              </a:solidFill>
                              <a:latin typeface="Cambria Math" panose="02040503050406030204" pitchFamily="18" charset="0"/>
                            </a:rPr>
                          </m:ctrlPr>
                        </m:sSupPr>
                        <m:e>
                          <m:r>
                            <a:rPr lang="sv-SE" b="0" i="1" smtClean="0">
                              <a:solidFill>
                                <a:srgbClr val="E622EB"/>
                              </a:solidFill>
                              <a:latin typeface="Cambria Math" panose="02040503050406030204" pitchFamily="18" charset="0"/>
                            </a:rPr>
                            <m:t>180</m:t>
                          </m:r>
                        </m:e>
                        <m:sup>
                          <m:r>
                            <a:rPr lang="sv-SE" b="0" i="1" smtClean="0">
                              <a:solidFill>
                                <a:srgbClr val="E622EB"/>
                              </a:solidFill>
                              <a:latin typeface="Cambria Math" panose="02040503050406030204" pitchFamily="18" charset="0"/>
                            </a:rPr>
                            <m:t>𝑜</m:t>
                          </m:r>
                        </m:sup>
                      </m:sSup>
                    </m:oMath>
                  </m:oMathPara>
                </a14:m>
                <a:endParaRPr lang="sv-SE" dirty="0"/>
              </a:p>
            </p:txBody>
          </p:sp>
        </mc:Choice>
        <mc:Fallback>
          <p:sp>
            <p:nvSpPr>
              <p:cNvPr id="96" name="Rectangle 95"/>
              <p:cNvSpPr>
                <a:spLocks noRot="1" noChangeAspect="1" noMove="1" noResize="1" noEditPoints="1" noAdjustHandles="1" noChangeArrowheads="1" noChangeShapeType="1" noTextEdit="1"/>
              </p:cNvSpPr>
              <p:nvPr/>
            </p:nvSpPr>
            <p:spPr>
              <a:xfrm>
                <a:off x="9633578" y="916265"/>
                <a:ext cx="1423851" cy="369332"/>
              </a:xfrm>
              <a:prstGeom prst="rect">
                <a:avLst/>
              </a:prstGeom>
              <a:blipFill>
                <a:blip r:embed="rId21"/>
                <a:stretch>
                  <a:fillRect b="-11475"/>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97" name="Rectangle 96"/>
              <p:cNvSpPr/>
              <p:nvPr/>
            </p:nvSpPr>
            <p:spPr>
              <a:xfrm>
                <a:off x="9633578" y="1167435"/>
                <a:ext cx="141551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smtClean="0">
                              <a:solidFill>
                                <a:srgbClr val="92D050"/>
                              </a:solidFill>
                              <a:latin typeface="Cambria Math" panose="02040503050406030204" pitchFamily="18" charset="0"/>
                            </a:rPr>
                          </m:ctrlPr>
                        </m:sSubPr>
                        <m:e>
                          <m:r>
                            <a:rPr lang="en-US" i="1">
                              <a:solidFill>
                                <a:srgbClr val="92D050"/>
                              </a:solidFill>
                              <a:latin typeface="Cambria Math" panose="02040503050406030204" pitchFamily="18" charset="0"/>
                            </a:rPr>
                            <m:t>𝜙</m:t>
                          </m:r>
                        </m:e>
                        <m:sub>
                          <m:r>
                            <a:rPr lang="en-US" i="1">
                              <a:solidFill>
                                <a:srgbClr val="92D050"/>
                              </a:solidFill>
                              <a:latin typeface="Cambria Math" panose="02040503050406030204" pitchFamily="18" charset="0"/>
                            </a:rPr>
                            <m:t>𝐶</m:t>
                          </m:r>
                          <m:r>
                            <a:rPr lang="en-US" i="1">
                              <a:solidFill>
                                <a:srgbClr val="92D050"/>
                              </a:solidFill>
                              <a:latin typeface="Cambria Math" panose="02040503050406030204" pitchFamily="18" charset="0"/>
                            </a:rPr>
                            <m:t>𝐶</m:t>
                          </m:r>
                        </m:sub>
                      </m:sSub>
                      <m:r>
                        <a:rPr lang="sv-SE" b="0" i="1" smtClean="0">
                          <a:solidFill>
                            <a:srgbClr val="92D050"/>
                          </a:solidFill>
                          <a:latin typeface="Cambria Math" panose="02040503050406030204" pitchFamily="18" charset="0"/>
                        </a:rPr>
                        <m:t>=</m:t>
                      </m:r>
                      <m:sSup>
                        <m:sSupPr>
                          <m:ctrlPr>
                            <a:rPr lang="sv-SE" b="0" i="1" smtClean="0">
                              <a:solidFill>
                                <a:srgbClr val="92D050"/>
                              </a:solidFill>
                              <a:latin typeface="Cambria Math" panose="02040503050406030204" pitchFamily="18" charset="0"/>
                            </a:rPr>
                          </m:ctrlPr>
                        </m:sSupPr>
                        <m:e>
                          <m:r>
                            <a:rPr lang="sv-SE" b="0" i="1" smtClean="0">
                              <a:solidFill>
                                <a:srgbClr val="92D050"/>
                              </a:solidFill>
                              <a:latin typeface="Cambria Math" panose="02040503050406030204" pitchFamily="18" charset="0"/>
                            </a:rPr>
                            <m:t>180</m:t>
                          </m:r>
                        </m:e>
                        <m:sup>
                          <m:r>
                            <a:rPr lang="sv-SE" b="0" i="1" smtClean="0">
                              <a:solidFill>
                                <a:srgbClr val="92D050"/>
                              </a:solidFill>
                              <a:latin typeface="Cambria Math" panose="02040503050406030204" pitchFamily="18" charset="0"/>
                            </a:rPr>
                            <m:t>𝑜</m:t>
                          </m:r>
                        </m:sup>
                      </m:sSup>
                    </m:oMath>
                  </m:oMathPara>
                </a14:m>
                <a:endParaRPr lang="sv-SE" dirty="0"/>
              </a:p>
            </p:txBody>
          </p:sp>
        </mc:Choice>
        <mc:Fallback>
          <p:sp>
            <p:nvSpPr>
              <p:cNvPr id="97" name="Rectangle 96"/>
              <p:cNvSpPr>
                <a:spLocks noRot="1" noChangeAspect="1" noMove="1" noResize="1" noEditPoints="1" noAdjustHandles="1" noChangeArrowheads="1" noChangeShapeType="1" noTextEdit="1"/>
              </p:cNvSpPr>
              <p:nvPr/>
            </p:nvSpPr>
            <p:spPr>
              <a:xfrm>
                <a:off x="9633578" y="1167435"/>
                <a:ext cx="1415516" cy="369332"/>
              </a:xfrm>
              <a:prstGeom prst="rect">
                <a:avLst/>
              </a:prstGeom>
              <a:blipFill>
                <a:blip r:embed="rId22"/>
                <a:stretch>
                  <a:fillRect b="-13333"/>
                </a:stretch>
              </a:blipFill>
            </p:spPr>
            <p:txBody>
              <a:bodyPr/>
              <a:lstStyle/>
              <a:p>
                <a:r>
                  <a:rPr lang="sv-SE">
                    <a:noFill/>
                  </a:rPr>
                  <a:t> </a:t>
                </a:r>
              </a:p>
            </p:txBody>
          </p:sp>
        </mc:Fallback>
      </mc:AlternateContent>
      <p:sp>
        <p:nvSpPr>
          <p:cNvPr id="98" name="TextBox 97"/>
          <p:cNvSpPr txBox="1"/>
          <p:nvPr/>
        </p:nvSpPr>
        <p:spPr>
          <a:xfrm>
            <a:off x="9981646" y="1844331"/>
            <a:ext cx="714541" cy="369332"/>
          </a:xfrm>
          <a:prstGeom prst="rect">
            <a:avLst/>
          </a:prstGeom>
          <a:noFill/>
        </p:spPr>
        <p:txBody>
          <a:bodyPr wrap="square" rtlCol="0">
            <a:spAutoFit/>
          </a:bodyPr>
          <a:lstStyle/>
          <a:p>
            <a:r>
              <a:rPr lang="en-US" dirty="0" smtClean="0"/>
              <a:t>(b)</a:t>
            </a:r>
            <a:endParaRPr lang="sv-SE" dirty="0"/>
          </a:p>
        </p:txBody>
      </p:sp>
      <p:cxnSp>
        <p:nvCxnSpPr>
          <p:cNvPr id="99" name="Straight Arrow Connector 98"/>
          <p:cNvCxnSpPr/>
          <p:nvPr/>
        </p:nvCxnSpPr>
        <p:spPr>
          <a:xfrm flipV="1">
            <a:off x="6040601" y="3343738"/>
            <a:ext cx="1703036" cy="1"/>
          </a:xfrm>
          <a:prstGeom prst="straightConnector1">
            <a:avLst/>
          </a:prstGeom>
          <a:ln w="25400">
            <a:solidFill>
              <a:srgbClr val="E622EB"/>
            </a:solidFill>
            <a:tailEnd type="triangle"/>
          </a:ln>
        </p:spPr>
        <p:style>
          <a:lnRef idx="1">
            <a:schemeClr val="accent1"/>
          </a:lnRef>
          <a:fillRef idx="0">
            <a:schemeClr val="accent1"/>
          </a:fillRef>
          <a:effectRef idx="0">
            <a:schemeClr val="accent1"/>
          </a:effectRef>
          <a:fontRef idx="minor">
            <a:schemeClr val="tx1"/>
          </a:fontRef>
        </p:style>
      </p:cxnSp>
      <p:cxnSp>
        <p:nvCxnSpPr>
          <p:cNvPr id="100" name="Straight Arrow Connector 99"/>
          <p:cNvCxnSpPr/>
          <p:nvPr/>
        </p:nvCxnSpPr>
        <p:spPr>
          <a:xfrm flipH="1">
            <a:off x="6168219" y="3243449"/>
            <a:ext cx="342005" cy="0"/>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01" name="Straight Arrow Connector 100"/>
          <p:cNvCxnSpPr/>
          <p:nvPr/>
        </p:nvCxnSpPr>
        <p:spPr>
          <a:xfrm flipH="1">
            <a:off x="6510225" y="3243449"/>
            <a:ext cx="1219867" cy="0"/>
          </a:xfrm>
          <a:prstGeom prst="straightConnector1">
            <a:avLst/>
          </a:prstGeom>
          <a:ln w="2540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02" name="Rectangle 101"/>
              <p:cNvSpPr/>
              <p:nvPr/>
            </p:nvSpPr>
            <p:spPr>
              <a:xfrm>
                <a:off x="6337538" y="2289766"/>
                <a:ext cx="1419428" cy="369332"/>
              </a:xfrm>
              <a:prstGeom prst="rect">
                <a:avLst/>
              </a:prstGeom>
            </p:spPr>
            <p:txBody>
              <a:bodyPr wrap="none">
                <a:spAutoFit/>
              </a:bodyPr>
              <a:lstStyle/>
              <a:p>
                <a14:m>
                  <m:oMath xmlns:m="http://schemas.openxmlformats.org/officeDocument/2006/math">
                    <m:sSub>
                      <m:sSubPr>
                        <m:ctrlPr>
                          <a:rPr lang="en-US" i="1" smtClean="0">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𝜙</m:t>
                        </m:r>
                      </m:e>
                      <m:sub>
                        <m:r>
                          <a:rPr lang="en-US" i="1">
                            <a:solidFill>
                              <a:srgbClr val="002060"/>
                            </a:solidFill>
                            <a:latin typeface="Cambria Math" panose="02040503050406030204" pitchFamily="18" charset="0"/>
                          </a:rPr>
                          <m:t>𝐶</m:t>
                        </m:r>
                        <m:r>
                          <a:rPr lang="sv-SE" i="1">
                            <a:solidFill>
                              <a:srgbClr val="002060"/>
                            </a:solidFill>
                            <a:latin typeface="Cambria Math" panose="02040503050406030204" pitchFamily="18" charset="0"/>
                          </a:rPr>
                          <m:t>𝐴</m:t>
                        </m:r>
                      </m:sub>
                    </m:sSub>
                    <m:r>
                      <a:rPr lang="sv-SE">
                        <a:solidFill>
                          <a:srgbClr val="002060"/>
                        </a:solidFill>
                        <a:latin typeface="Cambria Math" panose="02040503050406030204" pitchFamily="18" charset="0"/>
                      </a:rPr>
                      <m:t>=</m:t>
                    </m:r>
                    <m:sSup>
                      <m:sSupPr>
                        <m:ctrlPr>
                          <a:rPr lang="sv-SE" b="0" i="0" smtClean="0">
                            <a:solidFill>
                              <a:srgbClr val="002060"/>
                            </a:solidFill>
                            <a:latin typeface="Cambria Math" panose="02040503050406030204" pitchFamily="18" charset="0"/>
                          </a:rPr>
                        </m:ctrlPr>
                      </m:sSupPr>
                      <m:e>
                        <m:r>
                          <a:rPr lang="sv-SE" b="0" i="0" smtClean="0">
                            <a:solidFill>
                              <a:srgbClr val="002060"/>
                            </a:solidFill>
                            <a:latin typeface="Cambria Math" panose="02040503050406030204" pitchFamily="18" charset="0"/>
                          </a:rPr>
                          <m:t>18</m:t>
                        </m:r>
                        <m:r>
                          <a:rPr lang="sv-SE">
                            <a:solidFill>
                              <a:srgbClr val="002060"/>
                            </a:solidFill>
                            <a:latin typeface="Cambria Math" panose="02040503050406030204" pitchFamily="18" charset="0"/>
                          </a:rPr>
                          <m:t>0</m:t>
                        </m:r>
                      </m:e>
                      <m:sup>
                        <m:r>
                          <a:rPr lang="sv-SE" b="0" i="1" smtClean="0">
                            <a:solidFill>
                              <a:srgbClr val="002060"/>
                            </a:solidFill>
                            <a:latin typeface="Cambria Math" panose="02040503050406030204" pitchFamily="18" charset="0"/>
                          </a:rPr>
                          <m:t>𝑜</m:t>
                        </m:r>
                      </m:sup>
                    </m:sSup>
                  </m:oMath>
                </a14:m>
                <a:r>
                  <a:rPr lang="en-US" dirty="0">
                    <a:solidFill>
                      <a:srgbClr val="FF0000"/>
                    </a:solidFill>
                  </a:rPr>
                  <a:t> </a:t>
                </a:r>
                <a:endParaRPr lang="en-US" dirty="0">
                  <a:solidFill>
                    <a:srgbClr val="FF0000"/>
                  </a:solidFill>
                </a:endParaRPr>
              </a:p>
            </p:txBody>
          </p:sp>
        </mc:Choice>
        <mc:Fallback>
          <p:sp>
            <p:nvSpPr>
              <p:cNvPr id="102" name="Rectangle 101"/>
              <p:cNvSpPr>
                <a:spLocks noRot="1" noChangeAspect="1" noMove="1" noResize="1" noEditPoints="1" noAdjustHandles="1" noChangeArrowheads="1" noChangeShapeType="1" noTextEdit="1"/>
              </p:cNvSpPr>
              <p:nvPr/>
            </p:nvSpPr>
            <p:spPr>
              <a:xfrm>
                <a:off x="6337538" y="2289766"/>
                <a:ext cx="1419428" cy="369332"/>
              </a:xfrm>
              <a:prstGeom prst="rect">
                <a:avLst/>
              </a:prstGeom>
              <a:blipFill>
                <a:blip r:embed="rId23"/>
                <a:stretch>
                  <a:fillRect l="-1293" b="-13333"/>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03" name="Rectangle 102"/>
              <p:cNvSpPr/>
              <p:nvPr/>
            </p:nvSpPr>
            <p:spPr>
              <a:xfrm>
                <a:off x="6314576" y="2560134"/>
                <a:ext cx="116737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smtClean="0">
                              <a:solidFill>
                                <a:srgbClr val="E622EB"/>
                              </a:solidFill>
                              <a:latin typeface="Cambria Math" panose="02040503050406030204" pitchFamily="18" charset="0"/>
                            </a:rPr>
                          </m:ctrlPr>
                        </m:sSubPr>
                        <m:e>
                          <m:r>
                            <a:rPr lang="en-US" i="1">
                              <a:solidFill>
                                <a:srgbClr val="E622EB"/>
                              </a:solidFill>
                              <a:latin typeface="Cambria Math" panose="02040503050406030204" pitchFamily="18" charset="0"/>
                            </a:rPr>
                            <m:t>𝜙</m:t>
                          </m:r>
                        </m:e>
                        <m:sub>
                          <m:r>
                            <a:rPr lang="en-US" i="1">
                              <a:solidFill>
                                <a:srgbClr val="E622EB"/>
                              </a:solidFill>
                              <a:latin typeface="Cambria Math" panose="02040503050406030204" pitchFamily="18" charset="0"/>
                            </a:rPr>
                            <m:t>𝐶𝐵</m:t>
                          </m:r>
                        </m:sub>
                      </m:sSub>
                      <m:r>
                        <a:rPr lang="sv-SE" b="0" i="1" smtClean="0">
                          <a:solidFill>
                            <a:srgbClr val="E622EB"/>
                          </a:solidFill>
                          <a:latin typeface="Cambria Math" panose="02040503050406030204" pitchFamily="18" charset="0"/>
                        </a:rPr>
                        <m:t>=</m:t>
                      </m:r>
                      <m:sSup>
                        <m:sSupPr>
                          <m:ctrlPr>
                            <a:rPr lang="sv-SE" b="0" i="1" smtClean="0">
                              <a:solidFill>
                                <a:srgbClr val="E622EB"/>
                              </a:solidFill>
                              <a:latin typeface="Cambria Math" panose="02040503050406030204" pitchFamily="18" charset="0"/>
                            </a:rPr>
                          </m:ctrlPr>
                        </m:sSupPr>
                        <m:e>
                          <m:r>
                            <a:rPr lang="sv-SE" b="0" i="1" smtClean="0">
                              <a:solidFill>
                                <a:srgbClr val="E622EB"/>
                              </a:solidFill>
                              <a:latin typeface="Cambria Math" panose="02040503050406030204" pitchFamily="18" charset="0"/>
                            </a:rPr>
                            <m:t>0</m:t>
                          </m:r>
                        </m:e>
                        <m:sup>
                          <m:r>
                            <a:rPr lang="sv-SE" b="0" i="1" smtClean="0">
                              <a:solidFill>
                                <a:srgbClr val="E622EB"/>
                              </a:solidFill>
                              <a:latin typeface="Cambria Math" panose="02040503050406030204" pitchFamily="18" charset="0"/>
                            </a:rPr>
                            <m:t>𝑜</m:t>
                          </m:r>
                        </m:sup>
                      </m:sSup>
                    </m:oMath>
                  </m:oMathPara>
                </a14:m>
                <a:endParaRPr lang="sv-SE" dirty="0"/>
              </a:p>
            </p:txBody>
          </p:sp>
        </mc:Choice>
        <mc:Fallback>
          <p:sp>
            <p:nvSpPr>
              <p:cNvPr id="103" name="Rectangle 102"/>
              <p:cNvSpPr>
                <a:spLocks noRot="1" noChangeAspect="1" noMove="1" noResize="1" noEditPoints="1" noAdjustHandles="1" noChangeArrowheads="1" noChangeShapeType="1" noTextEdit="1"/>
              </p:cNvSpPr>
              <p:nvPr/>
            </p:nvSpPr>
            <p:spPr>
              <a:xfrm>
                <a:off x="6314576" y="2560134"/>
                <a:ext cx="1167371" cy="369332"/>
              </a:xfrm>
              <a:prstGeom prst="rect">
                <a:avLst/>
              </a:prstGeom>
              <a:blipFill>
                <a:blip r:embed="rId24"/>
                <a:stretch>
                  <a:fillRect b="-11475"/>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04" name="Rectangle 103"/>
              <p:cNvSpPr/>
              <p:nvPr/>
            </p:nvSpPr>
            <p:spPr>
              <a:xfrm>
                <a:off x="6314576" y="2811304"/>
                <a:ext cx="1415516"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smtClean="0">
                              <a:solidFill>
                                <a:srgbClr val="92D050"/>
                              </a:solidFill>
                              <a:latin typeface="Cambria Math" panose="02040503050406030204" pitchFamily="18" charset="0"/>
                            </a:rPr>
                          </m:ctrlPr>
                        </m:sSubPr>
                        <m:e>
                          <m:r>
                            <a:rPr lang="en-US" i="1">
                              <a:solidFill>
                                <a:srgbClr val="92D050"/>
                              </a:solidFill>
                              <a:latin typeface="Cambria Math" panose="02040503050406030204" pitchFamily="18" charset="0"/>
                            </a:rPr>
                            <m:t>𝜙</m:t>
                          </m:r>
                        </m:e>
                        <m:sub>
                          <m:r>
                            <a:rPr lang="en-US" i="1">
                              <a:solidFill>
                                <a:srgbClr val="92D050"/>
                              </a:solidFill>
                              <a:latin typeface="Cambria Math" panose="02040503050406030204" pitchFamily="18" charset="0"/>
                            </a:rPr>
                            <m:t>𝐶</m:t>
                          </m:r>
                          <m:r>
                            <a:rPr lang="en-US" i="1">
                              <a:solidFill>
                                <a:srgbClr val="92D050"/>
                              </a:solidFill>
                              <a:latin typeface="Cambria Math" panose="02040503050406030204" pitchFamily="18" charset="0"/>
                            </a:rPr>
                            <m:t>𝐶</m:t>
                          </m:r>
                        </m:sub>
                      </m:sSub>
                      <m:r>
                        <a:rPr lang="sv-SE" b="0" i="1" smtClean="0">
                          <a:solidFill>
                            <a:srgbClr val="92D050"/>
                          </a:solidFill>
                          <a:latin typeface="Cambria Math" panose="02040503050406030204" pitchFamily="18" charset="0"/>
                        </a:rPr>
                        <m:t>=</m:t>
                      </m:r>
                      <m:sSup>
                        <m:sSupPr>
                          <m:ctrlPr>
                            <a:rPr lang="sv-SE" b="0" i="1" smtClean="0">
                              <a:solidFill>
                                <a:srgbClr val="92D050"/>
                              </a:solidFill>
                              <a:latin typeface="Cambria Math" panose="02040503050406030204" pitchFamily="18" charset="0"/>
                            </a:rPr>
                          </m:ctrlPr>
                        </m:sSupPr>
                        <m:e>
                          <m:r>
                            <a:rPr lang="sv-SE" b="0" i="1" smtClean="0">
                              <a:solidFill>
                                <a:srgbClr val="92D050"/>
                              </a:solidFill>
                              <a:latin typeface="Cambria Math" panose="02040503050406030204" pitchFamily="18" charset="0"/>
                            </a:rPr>
                            <m:t>180</m:t>
                          </m:r>
                        </m:e>
                        <m:sup>
                          <m:r>
                            <a:rPr lang="sv-SE" b="0" i="1" smtClean="0">
                              <a:solidFill>
                                <a:srgbClr val="92D050"/>
                              </a:solidFill>
                              <a:latin typeface="Cambria Math" panose="02040503050406030204" pitchFamily="18" charset="0"/>
                            </a:rPr>
                            <m:t>𝑜</m:t>
                          </m:r>
                        </m:sup>
                      </m:sSup>
                    </m:oMath>
                  </m:oMathPara>
                </a14:m>
                <a:endParaRPr lang="sv-SE" dirty="0"/>
              </a:p>
            </p:txBody>
          </p:sp>
        </mc:Choice>
        <mc:Fallback>
          <p:sp>
            <p:nvSpPr>
              <p:cNvPr id="104" name="Rectangle 103"/>
              <p:cNvSpPr>
                <a:spLocks noRot="1" noChangeAspect="1" noMove="1" noResize="1" noEditPoints="1" noAdjustHandles="1" noChangeArrowheads="1" noChangeShapeType="1" noTextEdit="1"/>
              </p:cNvSpPr>
              <p:nvPr/>
            </p:nvSpPr>
            <p:spPr>
              <a:xfrm>
                <a:off x="6314576" y="2811304"/>
                <a:ext cx="1415516" cy="369332"/>
              </a:xfrm>
              <a:prstGeom prst="rect">
                <a:avLst/>
              </a:prstGeom>
              <a:blipFill>
                <a:blip r:embed="rId25"/>
                <a:stretch>
                  <a:fillRect b="-11475"/>
                </a:stretch>
              </a:blipFill>
            </p:spPr>
            <p:txBody>
              <a:bodyPr/>
              <a:lstStyle/>
              <a:p>
                <a:r>
                  <a:rPr lang="sv-SE">
                    <a:noFill/>
                  </a:rPr>
                  <a:t> </a:t>
                </a:r>
              </a:p>
            </p:txBody>
          </p:sp>
        </mc:Fallback>
      </mc:AlternateContent>
      <p:sp>
        <p:nvSpPr>
          <p:cNvPr id="105" name="TextBox 104"/>
          <p:cNvSpPr txBox="1"/>
          <p:nvPr/>
        </p:nvSpPr>
        <p:spPr>
          <a:xfrm>
            <a:off x="6746421" y="3506841"/>
            <a:ext cx="714541" cy="369332"/>
          </a:xfrm>
          <a:prstGeom prst="rect">
            <a:avLst/>
          </a:prstGeom>
          <a:noFill/>
        </p:spPr>
        <p:txBody>
          <a:bodyPr wrap="square" rtlCol="0">
            <a:spAutoFit/>
          </a:bodyPr>
          <a:lstStyle/>
          <a:p>
            <a:r>
              <a:rPr lang="en-US" dirty="0" smtClean="0"/>
              <a:t>(c)</a:t>
            </a:r>
            <a:endParaRPr lang="sv-SE" dirty="0"/>
          </a:p>
        </p:txBody>
      </p:sp>
      <p:cxnSp>
        <p:nvCxnSpPr>
          <p:cNvPr id="122" name="Straight Arrow Connector 121"/>
          <p:cNvCxnSpPr/>
          <p:nvPr/>
        </p:nvCxnSpPr>
        <p:spPr>
          <a:xfrm flipH="1">
            <a:off x="9831424" y="3243449"/>
            <a:ext cx="1234440" cy="2928"/>
          </a:xfrm>
          <a:prstGeom prst="straightConnector1">
            <a:avLst/>
          </a:prstGeom>
          <a:ln w="25400">
            <a:solidFill>
              <a:srgbClr val="E622EB"/>
            </a:solidFill>
            <a:tailEnd type="triangle"/>
          </a:ln>
        </p:spPr>
        <p:style>
          <a:lnRef idx="1">
            <a:schemeClr val="accent1"/>
          </a:lnRef>
          <a:fillRef idx="0">
            <a:schemeClr val="accent1"/>
          </a:fillRef>
          <a:effectRef idx="0">
            <a:schemeClr val="accent1"/>
          </a:effectRef>
          <a:fontRef idx="minor">
            <a:schemeClr val="tx1"/>
          </a:fontRef>
        </p:style>
      </p:cxnSp>
      <p:cxnSp>
        <p:nvCxnSpPr>
          <p:cNvPr id="123" name="Straight Arrow Connector 122"/>
          <p:cNvCxnSpPr/>
          <p:nvPr/>
        </p:nvCxnSpPr>
        <p:spPr>
          <a:xfrm flipH="1">
            <a:off x="9495656" y="3243449"/>
            <a:ext cx="342005" cy="0"/>
          </a:xfrm>
          <a:prstGeom prst="straightConnector1">
            <a:avLst/>
          </a:prstGeom>
          <a:ln w="25400">
            <a:solidFill>
              <a:srgbClr val="002060"/>
            </a:solidFill>
            <a:tailEnd type="triangle"/>
          </a:ln>
        </p:spPr>
        <p:style>
          <a:lnRef idx="1">
            <a:schemeClr val="accent1"/>
          </a:lnRef>
          <a:fillRef idx="0">
            <a:schemeClr val="accent1"/>
          </a:fillRef>
          <a:effectRef idx="0">
            <a:schemeClr val="accent1"/>
          </a:effectRef>
          <a:fontRef idx="minor">
            <a:schemeClr val="tx1"/>
          </a:fontRef>
        </p:style>
      </p:cxnSp>
      <p:cxnSp>
        <p:nvCxnSpPr>
          <p:cNvPr id="124" name="Straight Arrow Connector 123"/>
          <p:cNvCxnSpPr/>
          <p:nvPr/>
        </p:nvCxnSpPr>
        <p:spPr>
          <a:xfrm>
            <a:off x="9365454" y="3338364"/>
            <a:ext cx="1700410" cy="10747"/>
          </a:xfrm>
          <a:prstGeom prst="straightConnector1">
            <a:avLst/>
          </a:prstGeom>
          <a:ln w="25400">
            <a:solidFill>
              <a:srgbClr val="92D05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25" name="Rectangle 124"/>
              <p:cNvSpPr/>
              <p:nvPr/>
            </p:nvSpPr>
            <p:spPr>
              <a:xfrm>
                <a:off x="9664975" y="2289766"/>
                <a:ext cx="1419428" cy="369332"/>
              </a:xfrm>
              <a:prstGeom prst="rect">
                <a:avLst/>
              </a:prstGeom>
            </p:spPr>
            <p:txBody>
              <a:bodyPr wrap="none">
                <a:spAutoFit/>
              </a:bodyPr>
              <a:lstStyle/>
              <a:p>
                <a14:m>
                  <m:oMath xmlns:m="http://schemas.openxmlformats.org/officeDocument/2006/math">
                    <m:sSub>
                      <m:sSubPr>
                        <m:ctrlPr>
                          <a:rPr lang="en-US" i="1" smtClean="0">
                            <a:solidFill>
                              <a:srgbClr val="002060"/>
                            </a:solidFill>
                            <a:latin typeface="Cambria Math" panose="02040503050406030204" pitchFamily="18" charset="0"/>
                          </a:rPr>
                        </m:ctrlPr>
                      </m:sSubPr>
                      <m:e>
                        <m:r>
                          <a:rPr lang="en-US" i="1">
                            <a:solidFill>
                              <a:srgbClr val="002060"/>
                            </a:solidFill>
                            <a:latin typeface="Cambria Math" panose="02040503050406030204" pitchFamily="18" charset="0"/>
                          </a:rPr>
                          <m:t>𝜙</m:t>
                        </m:r>
                      </m:e>
                      <m:sub>
                        <m:r>
                          <a:rPr lang="en-US" i="1">
                            <a:solidFill>
                              <a:srgbClr val="002060"/>
                            </a:solidFill>
                            <a:latin typeface="Cambria Math" panose="02040503050406030204" pitchFamily="18" charset="0"/>
                          </a:rPr>
                          <m:t>𝐶</m:t>
                        </m:r>
                        <m:r>
                          <a:rPr lang="sv-SE" i="1">
                            <a:solidFill>
                              <a:srgbClr val="002060"/>
                            </a:solidFill>
                            <a:latin typeface="Cambria Math" panose="02040503050406030204" pitchFamily="18" charset="0"/>
                          </a:rPr>
                          <m:t>𝐴</m:t>
                        </m:r>
                      </m:sub>
                    </m:sSub>
                    <m:r>
                      <a:rPr lang="sv-SE">
                        <a:solidFill>
                          <a:srgbClr val="002060"/>
                        </a:solidFill>
                        <a:latin typeface="Cambria Math" panose="02040503050406030204" pitchFamily="18" charset="0"/>
                      </a:rPr>
                      <m:t>=</m:t>
                    </m:r>
                    <m:sSup>
                      <m:sSupPr>
                        <m:ctrlPr>
                          <a:rPr lang="sv-SE" b="0" i="0" smtClean="0">
                            <a:solidFill>
                              <a:srgbClr val="002060"/>
                            </a:solidFill>
                            <a:latin typeface="Cambria Math" panose="02040503050406030204" pitchFamily="18" charset="0"/>
                          </a:rPr>
                        </m:ctrlPr>
                      </m:sSupPr>
                      <m:e>
                        <m:r>
                          <a:rPr lang="sv-SE" b="0" i="0" smtClean="0">
                            <a:solidFill>
                              <a:srgbClr val="002060"/>
                            </a:solidFill>
                            <a:latin typeface="Cambria Math" panose="02040503050406030204" pitchFamily="18" charset="0"/>
                          </a:rPr>
                          <m:t>18</m:t>
                        </m:r>
                        <m:r>
                          <a:rPr lang="sv-SE">
                            <a:solidFill>
                              <a:srgbClr val="002060"/>
                            </a:solidFill>
                            <a:latin typeface="Cambria Math" panose="02040503050406030204" pitchFamily="18" charset="0"/>
                          </a:rPr>
                          <m:t>0</m:t>
                        </m:r>
                      </m:e>
                      <m:sup>
                        <m:r>
                          <a:rPr lang="sv-SE" b="0" i="1" smtClean="0">
                            <a:solidFill>
                              <a:srgbClr val="002060"/>
                            </a:solidFill>
                            <a:latin typeface="Cambria Math" panose="02040503050406030204" pitchFamily="18" charset="0"/>
                          </a:rPr>
                          <m:t>𝑜</m:t>
                        </m:r>
                      </m:sup>
                    </m:sSup>
                  </m:oMath>
                </a14:m>
                <a:r>
                  <a:rPr lang="en-US" dirty="0">
                    <a:solidFill>
                      <a:srgbClr val="FF0000"/>
                    </a:solidFill>
                  </a:rPr>
                  <a:t> </a:t>
                </a:r>
                <a:endParaRPr lang="en-US" dirty="0">
                  <a:solidFill>
                    <a:srgbClr val="FF0000"/>
                  </a:solidFill>
                </a:endParaRPr>
              </a:p>
            </p:txBody>
          </p:sp>
        </mc:Choice>
        <mc:Fallback>
          <p:sp>
            <p:nvSpPr>
              <p:cNvPr id="125" name="Rectangle 124"/>
              <p:cNvSpPr>
                <a:spLocks noRot="1" noChangeAspect="1" noMove="1" noResize="1" noEditPoints="1" noAdjustHandles="1" noChangeArrowheads="1" noChangeShapeType="1" noTextEdit="1"/>
              </p:cNvSpPr>
              <p:nvPr/>
            </p:nvSpPr>
            <p:spPr>
              <a:xfrm>
                <a:off x="9664975" y="2289766"/>
                <a:ext cx="1419428" cy="369332"/>
              </a:xfrm>
              <a:prstGeom prst="rect">
                <a:avLst/>
              </a:prstGeom>
              <a:blipFill>
                <a:blip r:embed="rId26"/>
                <a:stretch>
                  <a:fillRect l="-858" b="-13333"/>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26" name="Rectangle 125"/>
              <p:cNvSpPr/>
              <p:nvPr/>
            </p:nvSpPr>
            <p:spPr>
              <a:xfrm>
                <a:off x="9642013" y="2560134"/>
                <a:ext cx="1423851"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smtClean="0">
                              <a:solidFill>
                                <a:srgbClr val="E622EB"/>
                              </a:solidFill>
                              <a:latin typeface="Cambria Math" panose="02040503050406030204" pitchFamily="18" charset="0"/>
                            </a:rPr>
                          </m:ctrlPr>
                        </m:sSubPr>
                        <m:e>
                          <m:r>
                            <a:rPr lang="en-US" i="1">
                              <a:solidFill>
                                <a:srgbClr val="E622EB"/>
                              </a:solidFill>
                              <a:latin typeface="Cambria Math" panose="02040503050406030204" pitchFamily="18" charset="0"/>
                            </a:rPr>
                            <m:t>𝜙</m:t>
                          </m:r>
                        </m:e>
                        <m:sub>
                          <m:r>
                            <a:rPr lang="en-US" i="1">
                              <a:solidFill>
                                <a:srgbClr val="E622EB"/>
                              </a:solidFill>
                              <a:latin typeface="Cambria Math" panose="02040503050406030204" pitchFamily="18" charset="0"/>
                            </a:rPr>
                            <m:t>𝐶𝐵</m:t>
                          </m:r>
                        </m:sub>
                      </m:sSub>
                      <m:r>
                        <a:rPr lang="sv-SE" b="0" i="1" smtClean="0">
                          <a:solidFill>
                            <a:srgbClr val="E622EB"/>
                          </a:solidFill>
                          <a:latin typeface="Cambria Math" panose="02040503050406030204" pitchFamily="18" charset="0"/>
                        </a:rPr>
                        <m:t>=</m:t>
                      </m:r>
                      <m:sSup>
                        <m:sSupPr>
                          <m:ctrlPr>
                            <a:rPr lang="sv-SE" b="0" i="1" smtClean="0">
                              <a:solidFill>
                                <a:srgbClr val="E622EB"/>
                              </a:solidFill>
                              <a:latin typeface="Cambria Math" panose="02040503050406030204" pitchFamily="18" charset="0"/>
                            </a:rPr>
                          </m:ctrlPr>
                        </m:sSupPr>
                        <m:e>
                          <m:r>
                            <a:rPr lang="sv-SE" b="0" i="1" smtClean="0">
                              <a:solidFill>
                                <a:srgbClr val="E622EB"/>
                              </a:solidFill>
                              <a:latin typeface="Cambria Math" panose="02040503050406030204" pitchFamily="18" charset="0"/>
                            </a:rPr>
                            <m:t>18</m:t>
                          </m:r>
                          <m:r>
                            <a:rPr lang="sv-SE" b="0" i="1" smtClean="0">
                              <a:solidFill>
                                <a:srgbClr val="E622EB"/>
                              </a:solidFill>
                              <a:latin typeface="Cambria Math" panose="02040503050406030204" pitchFamily="18" charset="0"/>
                            </a:rPr>
                            <m:t>0</m:t>
                          </m:r>
                        </m:e>
                        <m:sup>
                          <m:r>
                            <a:rPr lang="sv-SE" b="0" i="1" smtClean="0">
                              <a:solidFill>
                                <a:srgbClr val="E622EB"/>
                              </a:solidFill>
                              <a:latin typeface="Cambria Math" panose="02040503050406030204" pitchFamily="18" charset="0"/>
                            </a:rPr>
                            <m:t>𝑜</m:t>
                          </m:r>
                        </m:sup>
                      </m:sSup>
                    </m:oMath>
                  </m:oMathPara>
                </a14:m>
                <a:endParaRPr lang="sv-SE" dirty="0"/>
              </a:p>
            </p:txBody>
          </p:sp>
        </mc:Choice>
        <mc:Fallback>
          <p:sp>
            <p:nvSpPr>
              <p:cNvPr id="126" name="Rectangle 125"/>
              <p:cNvSpPr>
                <a:spLocks noRot="1" noChangeAspect="1" noMove="1" noResize="1" noEditPoints="1" noAdjustHandles="1" noChangeArrowheads="1" noChangeShapeType="1" noTextEdit="1"/>
              </p:cNvSpPr>
              <p:nvPr/>
            </p:nvSpPr>
            <p:spPr>
              <a:xfrm>
                <a:off x="9642013" y="2560134"/>
                <a:ext cx="1423851" cy="369332"/>
              </a:xfrm>
              <a:prstGeom prst="rect">
                <a:avLst/>
              </a:prstGeom>
              <a:blipFill>
                <a:blip r:embed="rId27"/>
                <a:stretch>
                  <a:fillRect b="-11475"/>
                </a:stretch>
              </a:blipFill>
            </p:spPr>
            <p:txBody>
              <a:bodyPr/>
              <a:lstStyle/>
              <a:p>
                <a:r>
                  <a:rPr lang="sv-SE">
                    <a:noFill/>
                  </a:rPr>
                  <a:t> </a:t>
                </a:r>
              </a:p>
            </p:txBody>
          </p:sp>
        </mc:Fallback>
      </mc:AlternateContent>
      <mc:AlternateContent xmlns:mc="http://schemas.openxmlformats.org/markup-compatibility/2006">
        <mc:Choice xmlns:a14="http://schemas.microsoft.com/office/drawing/2010/main" Requires="a14">
          <p:sp>
            <p:nvSpPr>
              <p:cNvPr id="127" name="Rectangle 126"/>
              <p:cNvSpPr/>
              <p:nvPr/>
            </p:nvSpPr>
            <p:spPr>
              <a:xfrm>
                <a:off x="9642013" y="2811304"/>
                <a:ext cx="1159035" cy="369332"/>
              </a:xfrm>
              <a:prstGeom prst="rect">
                <a:avLst/>
              </a:prstGeom>
            </p:spPr>
            <p:txBody>
              <a:bodyPr wrap="none">
                <a:spAutoFit/>
              </a:bodyPr>
              <a:lstStyle/>
              <a:p>
                <a14:m>
                  <m:oMathPara xmlns:m="http://schemas.openxmlformats.org/officeDocument/2006/math">
                    <m:oMathParaPr>
                      <m:jc m:val="centerGroup"/>
                    </m:oMathParaPr>
                    <m:oMath xmlns:m="http://schemas.openxmlformats.org/officeDocument/2006/math">
                      <m:sSub>
                        <m:sSubPr>
                          <m:ctrlPr>
                            <a:rPr lang="en-US" i="1" smtClean="0">
                              <a:solidFill>
                                <a:srgbClr val="92D050"/>
                              </a:solidFill>
                              <a:latin typeface="Cambria Math" panose="02040503050406030204" pitchFamily="18" charset="0"/>
                            </a:rPr>
                          </m:ctrlPr>
                        </m:sSubPr>
                        <m:e>
                          <m:r>
                            <a:rPr lang="en-US" i="1">
                              <a:solidFill>
                                <a:srgbClr val="92D050"/>
                              </a:solidFill>
                              <a:latin typeface="Cambria Math" panose="02040503050406030204" pitchFamily="18" charset="0"/>
                            </a:rPr>
                            <m:t>𝜙</m:t>
                          </m:r>
                        </m:e>
                        <m:sub>
                          <m:r>
                            <a:rPr lang="en-US" i="1">
                              <a:solidFill>
                                <a:srgbClr val="92D050"/>
                              </a:solidFill>
                              <a:latin typeface="Cambria Math" panose="02040503050406030204" pitchFamily="18" charset="0"/>
                            </a:rPr>
                            <m:t>𝐶</m:t>
                          </m:r>
                          <m:r>
                            <a:rPr lang="en-US" i="1">
                              <a:solidFill>
                                <a:srgbClr val="92D050"/>
                              </a:solidFill>
                              <a:latin typeface="Cambria Math" panose="02040503050406030204" pitchFamily="18" charset="0"/>
                            </a:rPr>
                            <m:t>𝐶</m:t>
                          </m:r>
                        </m:sub>
                      </m:sSub>
                      <m:r>
                        <a:rPr lang="sv-SE" b="0" i="1" smtClean="0">
                          <a:solidFill>
                            <a:srgbClr val="92D050"/>
                          </a:solidFill>
                          <a:latin typeface="Cambria Math" panose="02040503050406030204" pitchFamily="18" charset="0"/>
                        </a:rPr>
                        <m:t>=</m:t>
                      </m:r>
                      <m:sSup>
                        <m:sSupPr>
                          <m:ctrlPr>
                            <a:rPr lang="sv-SE" b="0" i="1" smtClean="0">
                              <a:solidFill>
                                <a:srgbClr val="92D050"/>
                              </a:solidFill>
                              <a:latin typeface="Cambria Math" panose="02040503050406030204" pitchFamily="18" charset="0"/>
                            </a:rPr>
                          </m:ctrlPr>
                        </m:sSupPr>
                        <m:e>
                          <m:r>
                            <a:rPr lang="sv-SE" b="0" i="1" smtClean="0">
                              <a:solidFill>
                                <a:srgbClr val="92D050"/>
                              </a:solidFill>
                              <a:latin typeface="Cambria Math" panose="02040503050406030204" pitchFamily="18" charset="0"/>
                            </a:rPr>
                            <m:t>1</m:t>
                          </m:r>
                        </m:e>
                        <m:sup>
                          <m:r>
                            <a:rPr lang="sv-SE" b="0" i="1" smtClean="0">
                              <a:solidFill>
                                <a:srgbClr val="92D050"/>
                              </a:solidFill>
                              <a:latin typeface="Cambria Math" panose="02040503050406030204" pitchFamily="18" charset="0"/>
                            </a:rPr>
                            <m:t>𝑜</m:t>
                          </m:r>
                        </m:sup>
                      </m:sSup>
                    </m:oMath>
                  </m:oMathPara>
                </a14:m>
                <a:endParaRPr lang="sv-SE" dirty="0"/>
              </a:p>
            </p:txBody>
          </p:sp>
        </mc:Choice>
        <mc:Fallback>
          <p:sp>
            <p:nvSpPr>
              <p:cNvPr id="127" name="Rectangle 126"/>
              <p:cNvSpPr>
                <a:spLocks noRot="1" noChangeAspect="1" noMove="1" noResize="1" noEditPoints="1" noAdjustHandles="1" noChangeArrowheads="1" noChangeShapeType="1" noTextEdit="1"/>
              </p:cNvSpPr>
              <p:nvPr/>
            </p:nvSpPr>
            <p:spPr>
              <a:xfrm>
                <a:off x="9642013" y="2811304"/>
                <a:ext cx="1159035" cy="369332"/>
              </a:xfrm>
              <a:prstGeom prst="rect">
                <a:avLst/>
              </a:prstGeom>
              <a:blipFill>
                <a:blip r:embed="rId28"/>
                <a:stretch>
                  <a:fillRect b="-11475"/>
                </a:stretch>
              </a:blipFill>
            </p:spPr>
            <p:txBody>
              <a:bodyPr/>
              <a:lstStyle/>
              <a:p>
                <a:r>
                  <a:rPr lang="sv-SE">
                    <a:noFill/>
                  </a:rPr>
                  <a:t> </a:t>
                </a:r>
              </a:p>
            </p:txBody>
          </p:sp>
        </mc:Fallback>
      </mc:AlternateContent>
      <p:sp>
        <p:nvSpPr>
          <p:cNvPr id="128" name="TextBox 127"/>
          <p:cNvSpPr txBox="1"/>
          <p:nvPr/>
        </p:nvSpPr>
        <p:spPr>
          <a:xfrm>
            <a:off x="10046869" y="3490631"/>
            <a:ext cx="714541" cy="369332"/>
          </a:xfrm>
          <a:prstGeom prst="rect">
            <a:avLst/>
          </a:prstGeom>
          <a:noFill/>
        </p:spPr>
        <p:txBody>
          <a:bodyPr wrap="square" rtlCol="0">
            <a:spAutoFit/>
          </a:bodyPr>
          <a:lstStyle/>
          <a:p>
            <a:r>
              <a:rPr lang="en-US" dirty="0" smtClean="0"/>
              <a:t>(d)</a:t>
            </a:r>
            <a:endParaRPr lang="sv-SE" dirty="0"/>
          </a:p>
        </p:txBody>
      </p:sp>
    </p:spTree>
    <p:extLst>
      <p:ext uri="{BB962C8B-B14F-4D97-AF65-F5344CB8AC3E}">
        <p14:creationId xmlns:p14="http://schemas.microsoft.com/office/powerpoint/2010/main" val="18298536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6488</TotalTime>
  <Words>2878</Words>
  <Application>Microsoft Office PowerPoint</Application>
  <PresentationFormat>Widescreen</PresentationFormat>
  <Paragraphs>225</Paragraphs>
  <Slides>22</Slides>
  <Notes>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(Body)</vt:lpstr>
      <vt:lpstr>Calibri Light</vt:lpstr>
      <vt:lpstr>Cambria Math</vt:lpstr>
      <vt:lpstr>Office Theme</vt:lpstr>
      <vt:lpstr>Online Carrier Phase Shift Calculation to Reduce Common Mode Voltage</vt:lpstr>
      <vt:lpstr>Analytical Analysis of carrier-based PWM (CBPWM) (i.e. SPWM)</vt:lpstr>
      <vt:lpstr>Analytical Analysis of PWM (i.e. SPWM)</vt:lpstr>
      <vt:lpstr>Analytical Analysis of PWM (i.e. SPWM)</vt:lpstr>
      <vt:lpstr>The initial idea</vt:lpstr>
      <vt:lpstr>Literature (for ones that are related  carrier phase shift !!)</vt:lpstr>
      <vt:lpstr>Literature (for ones that are related carrier phase shift !!)</vt:lpstr>
      <vt:lpstr>Literature (for ones that are related carrier phase shift !!)</vt:lpstr>
      <vt:lpstr>Literature (for ones that are related carrier phase shift !!)</vt:lpstr>
      <vt:lpstr>Literature (for ones that are related carrier phase shift !!)</vt:lpstr>
      <vt:lpstr>Literature (for ones that are related carrier phase shift !!)</vt:lpstr>
      <vt:lpstr>The Proposed Technique</vt:lpstr>
      <vt:lpstr>Mathematical Modelling</vt:lpstr>
      <vt:lpstr>Mathematical Modelling</vt:lpstr>
      <vt:lpstr>Mathematical Modelling</vt:lpstr>
      <vt:lpstr>Mathematical Modelling</vt:lpstr>
      <vt:lpstr>Mathematical Modelling</vt:lpstr>
      <vt:lpstr>CMV Comparisons- Equal Carrier Phases </vt:lpstr>
      <vt:lpstr>CMV Comparisons- 0-120-240 carrier phases</vt:lpstr>
      <vt:lpstr>CMV Comparisons- Variable</vt:lpstr>
      <vt:lpstr>PowerPoint Presentation</vt:lpstr>
      <vt:lpstr>PowerPoint Presentation</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Carrier Phase Shift Calculation to Reduce Common Mode Voltage</dc:title>
  <dc:creator>Enes Ayaz</dc:creator>
  <cp:lastModifiedBy>Enes Ayaz</cp:lastModifiedBy>
  <cp:revision>57</cp:revision>
  <dcterms:created xsi:type="dcterms:W3CDTF">2023-06-05T14:04:11Z</dcterms:created>
  <dcterms:modified xsi:type="dcterms:W3CDTF">2025-02-18T10:11:55Z</dcterms:modified>
</cp:coreProperties>
</file>