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30275213" cy="42803763"/>
  <p:notesSz cx="7104063" cy="10234613"/>
  <p:embeddedFontLst>
    <p:embeddedFont>
      <p:font typeface="Georgia" panose="02040502050405020303" pitchFamily="18" charset="0"/>
      <p:regular r:id="rId4"/>
      <p:bold r:id="rId5"/>
      <p:italic r:id="rId6"/>
      <p:boldItalic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Figtree" panose="020B0604020202020204" charset="0"/>
      <p:regular r:id="rId12"/>
      <p:bold r:id="rId13"/>
      <p:italic r:id="rId14"/>
      <p:boldItalic r:id="rId15"/>
    </p:embeddedFont>
    <p:embeddedFont>
      <p:font typeface="Cambria Math" panose="02040503050406030204" pitchFamily="18" charset="0"/>
      <p:regular r:id="rId16"/>
    </p:embeddedFont>
  </p:embeddedFontLst>
  <p:defaultTextStyle>
    <a:defPPr>
      <a:defRPr lang="sv-SE"/>
    </a:defPPr>
    <a:lvl1pPr marL="0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840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681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521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361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202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042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6882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0723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75"/>
    <p:restoredTop sz="95902" autoAdjust="0"/>
  </p:normalViewPr>
  <p:slideViewPr>
    <p:cSldViewPr snapToGrid="0">
      <p:cViewPr>
        <p:scale>
          <a:sx n="33" d="100"/>
          <a:sy n="33" d="100"/>
        </p:scale>
        <p:origin x="870" y="-3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CCA98BE-A709-2147-8309-29E5AC3B2C96}" type="datetimeFigureOut">
              <a:rPr lang="sv-SE" smtClean="0"/>
              <a:t>2025-08-14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2330450" y="1279525"/>
            <a:ext cx="24431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2752B342-762B-CA45-8C2D-6DAF9087E7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36762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1pPr>
    <a:lvl2pPr marL="545943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2pPr>
    <a:lvl3pPr marL="1091885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3pPr>
    <a:lvl4pPr marL="1637828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4pPr>
    <a:lvl5pPr marL="2183770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5pPr>
    <a:lvl6pPr marL="2729713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6pPr>
    <a:lvl7pPr marL="3275655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7pPr>
    <a:lvl8pPr marL="3821598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8pPr>
    <a:lvl9pPr marL="4367540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Bild 27">
            <a:extLst>
              <a:ext uri="{FF2B5EF4-FFF2-40B4-BE49-F238E27FC236}">
                <a16:creationId xmlns:a16="http://schemas.microsoft.com/office/drawing/2014/main" id="{35F7D52C-5E9D-1A31-2536-E6D0E7E6A2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" y="2"/>
            <a:ext cx="30275213" cy="428097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8798893C-4CC2-2B2F-4FC8-5E0C5AE0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656" y="6416148"/>
            <a:ext cx="23639995" cy="3429662"/>
          </a:xfrm>
        </p:spPr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EDDDBB2-E3A5-184D-9122-109D1DA6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3BABD-A396-D149-B7BF-FFF925773BDF}" type="datetime1">
              <a:rPr lang="sv-SE" smtClean="0"/>
              <a:t>2025-08-14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877E5B5-9B3B-1F13-E51F-88E6C87D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KTH Royal </a:t>
            </a:r>
            <a:r>
              <a:rPr lang="sv-SE" dirty="0" err="1"/>
              <a:t>Institute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Technology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8432B03-1FFF-FE82-834F-9C4FBE4D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179C0AC6-B242-AC31-D406-A20DFA9AC8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16657" y="16618988"/>
            <a:ext cx="7302745" cy="1128445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1" name="Platshållare för text 9">
            <a:extLst>
              <a:ext uri="{FF2B5EF4-FFF2-40B4-BE49-F238E27FC236}">
                <a16:creationId xmlns:a16="http://schemas.microsoft.com/office/drawing/2014/main" id="{6942C49E-DD69-761D-E64A-D2DF46B0BB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16656" y="11842969"/>
            <a:ext cx="15471370" cy="4010486"/>
          </a:xfrm>
        </p:spPr>
        <p:txBody>
          <a:bodyPr numCol="1"/>
          <a:lstStyle>
            <a:lvl1pPr marL="0" indent="0">
              <a:buNone/>
              <a:defRPr sz="48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sv-SE" dirty="0"/>
              <a:t>Intro text</a:t>
            </a:r>
          </a:p>
        </p:txBody>
      </p:sp>
      <p:pic>
        <p:nvPicPr>
          <p:cNvPr id="12" name="Bild 11">
            <a:extLst>
              <a:ext uri="{FF2B5EF4-FFF2-40B4-BE49-F238E27FC236}">
                <a16:creationId xmlns:a16="http://schemas.microsoft.com/office/drawing/2014/main" id="{D62467FA-9342-6093-AF83-C0B258945D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3516145" y="1532577"/>
            <a:ext cx="3238975" cy="3587177"/>
          </a:xfrm>
          <a:prstGeom prst="rect">
            <a:avLst/>
          </a:prstGeom>
        </p:spPr>
      </p:pic>
      <p:sp>
        <p:nvSpPr>
          <p:cNvPr id="13" name="Platshållare för text 7">
            <a:extLst>
              <a:ext uri="{FF2B5EF4-FFF2-40B4-BE49-F238E27FC236}">
                <a16:creationId xmlns:a16="http://schemas.microsoft.com/office/drawing/2014/main" id="{8B405DB5-B30B-E7B4-8D74-262FEB6F23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653905" y="17305130"/>
            <a:ext cx="7302745" cy="3429776"/>
          </a:xfrm>
        </p:spPr>
        <p:txBody>
          <a:bodyPr numCol="1"/>
          <a:lstStyle>
            <a:lvl1pPr marL="0" indent="0">
              <a:buNone/>
              <a:defRPr sz="28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4" name="Platshållare för text 7">
            <a:extLst>
              <a:ext uri="{FF2B5EF4-FFF2-40B4-BE49-F238E27FC236}">
                <a16:creationId xmlns:a16="http://schemas.microsoft.com/office/drawing/2014/main" id="{20A220FE-DFF7-0A90-6E59-5FC8A85C79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653905" y="16618989"/>
            <a:ext cx="7302745" cy="582440"/>
          </a:xfrm>
        </p:spPr>
        <p:txBody>
          <a:bodyPr numCol="1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b="1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b="1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b="1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sv-SE" dirty="0"/>
              <a:t>Contact</a:t>
            </a:r>
          </a:p>
        </p:txBody>
      </p:sp>
      <p:sp>
        <p:nvSpPr>
          <p:cNvPr id="15" name="Platshållare för text 7">
            <a:extLst>
              <a:ext uri="{FF2B5EF4-FFF2-40B4-BE49-F238E27FC236}">
                <a16:creationId xmlns:a16="http://schemas.microsoft.com/office/drawing/2014/main" id="{8B3239DE-709D-255A-4DF7-043102363C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653905" y="22430612"/>
            <a:ext cx="7302745" cy="6617513"/>
          </a:xfrm>
        </p:spPr>
        <p:txBody>
          <a:bodyPr numCol="1"/>
          <a:lstStyle>
            <a:lvl1pPr marL="0" indent="0">
              <a:buNone/>
              <a:defRPr sz="28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6" name="Platshållare för text 7">
            <a:extLst>
              <a:ext uri="{FF2B5EF4-FFF2-40B4-BE49-F238E27FC236}">
                <a16:creationId xmlns:a16="http://schemas.microsoft.com/office/drawing/2014/main" id="{9AE49C5E-4F3D-C6B4-8297-786A105D66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653905" y="21744471"/>
            <a:ext cx="7302745" cy="582440"/>
          </a:xfrm>
        </p:spPr>
        <p:txBody>
          <a:bodyPr numCol="1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b="1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b="1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b="1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sv-SE" dirty="0" err="1"/>
              <a:t>Footnotes</a:t>
            </a:r>
            <a:endParaRPr lang="sv-SE" dirty="0"/>
          </a:p>
        </p:txBody>
      </p:sp>
      <p:sp>
        <p:nvSpPr>
          <p:cNvPr id="17" name="Platshållare för text 7">
            <a:extLst>
              <a:ext uri="{FF2B5EF4-FFF2-40B4-BE49-F238E27FC236}">
                <a16:creationId xmlns:a16="http://schemas.microsoft.com/office/drawing/2014/main" id="{52EA9896-50D9-1CCA-2B8C-FF36F965A1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653905" y="30740798"/>
            <a:ext cx="7302745" cy="9122176"/>
          </a:xfrm>
        </p:spPr>
        <p:txBody>
          <a:bodyPr numCol="1"/>
          <a:lstStyle>
            <a:lvl1pPr marL="234900" indent="-234900"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28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8" name="Platshållare för text 7">
            <a:extLst>
              <a:ext uri="{FF2B5EF4-FFF2-40B4-BE49-F238E27FC236}">
                <a16:creationId xmlns:a16="http://schemas.microsoft.com/office/drawing/2014/main" id="{0759D9FB-18D5-FE05-2C39-0ECD1F2A74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653905" y="30054657"/>
            <a:ext cx="7302745" cy="582440"/>
          </a:xfrm>
        </p:spPr>
        <p:txBody>
          <a:bodyPr numCol="1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b="1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b="1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b="1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sv-SE" dirty="0" err="1"/>
              <a:t>References</a:t>
            </a:r>
            <a:endParaRPr lang="sv-SE" dirty="0"/>
          </a:p>
        </p:txBody>
      </p:sp>
      <p:sp>
        <p:nvSpPr>
          <p:cNvPr id="19" name="Platshållare för text 7">
            <a:extLst>
              <a:ext uri="{FF2B5EF4-FFF2-40B4-BE49-F238E27FC236}">
                <a16:creationId xmlns:a16="http://schemas.microsoft.com/office/drawing/2014/main" id="{2501C081-1B0C-F580-BC4F-78317E33B9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653905" y="11842968"/>
            <a:ext cx="7302745" cy="582440"/>
          </a:xfrm>
        </p:spPr>
        <p:txBody>
          <a:bodyPr numCol="1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b="1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b="1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b="1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sv-SE" dirty="0"/>
              <a:t>In </a:t>
            </a:r>
            <a:r>
              <a:rPr lang="sv-SE" dirty="0" err="1"/>
              <a:t>cooperation</a:t>
            </a:r>
            <a:r>
              <a:rPr lang="sv-SE" dirty="0"/>
              <a:t> </a:t>
            </a:r>
            <a:r>
              <a:rPr lang="sv-SE" dirty="0" err="1"/>
              <a:t>with</a:t>
            </a:r>
            <a:endParaRPr lang="sv-SE" dirty="0"/>
          </a:p>
        </p:txBody>
      </p:sp>
      <p:sp>
        <p:nvSpPr>
          <p:cNvPr id="21" name="Platshållare för innehåll 20">
            <a:extLst>
              <a:ext uri="{FF2B5EF4-FFF2-40B4-BE49-F238E27FC236}">
                <a16:creationId xmlns:a16="http://schemas.microsoft.com/office/drawing/2014/main" id="{47B198EE-6127-3DAB-C818-984F07F626C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9653904" y="12425682"/>
            <a:ext cx="3494299" cy="1475248"/>
          </a:xfrm>
        </p:spPr>
        <p:txBody>
          <a:bodyPr numCol="1" anchor="ctr"/>
          <a:lstStyle>
            <a:lvl1pPr marL="0" indent="0" algn="ct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Logo 1</a:t>
            </a:r>
          </a:p>
        </p:txBody>
      </p:sp>
      <p:sp>
        <p:nvSpPr>
          <p:cNvPr id="24" name="Platshållare för innehåll 20">
            <a:extLst>
              <a:ext uri="{FF2B5EF4-FFF2-40B4-BE49-F238E27FC236}">
                <a16:creationId xmlns:a16="http://schemas.microsoft.com/office/drawing/2014/main" id="{58B0B077-AAB9-3571-6CB5-A4998D5DFBF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3462351" y="12425682"/>
            <a:ext cx="3494299" cy="1475248"/>
          </a:xfrm>
        </p:spPr>
        <p:txBody>
          <a:bodyPr numCol="1" anchor="ctr"/>
          <a:lstStyle>
            <a:lvl1pPr marL="0" indent="0" algn="ct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Logo 2</a:t>
            </a:r>
          </a:p>
        </p:txBody>
      </p:sp>
      <p:sp>
        <p:nvSpPr>
          <p:cNvPr id="25" name="Platshållare för innehåll 20">
            <a:extLst>
              <a:ext uri="{FF2B5EF4-FFF2-40B4-BE49-F238E27FC236}">
                <a16:creationId xmlns:a16="http://schemas.microsoft.com/office/drawing/2014/main" id="{640292F8-52FF-2D08-F6A1-84B86135BDF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9653904" y="14367152"/>
            <a:ext cx="3494299" cy="1475248"/>
          </a:xfrm>
        </p:spPr>
        <p:txBody>
          <a:bodyPr numCol="1" anchor="ctr"/>
          <a:lstStyle>
            <a:lvl1pPr marL="0" indent="0" algn="ct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Logo 3</a:t>
            </a:r>
          </a:p>
        </p:txBody>
      </p:sp>
      <p:sp>
        <p:nvSpPr>
          <p:cNvPr id="26" name="Platshållare för innehåll 20">
            <a:extLst>
              <a:ext uri="{FF2B5EF4-FFF2-40B4-BE49-F238E27FC236}">
                <a16:creationId xmlns:a16="http://schemas.microsoft.com/office/drawing/2014/main" id="{3C278CC1-F5F3-8C46-B04E-0E8177D67F0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3462351" y="14367152"/>
            <a:ext cx="3494299" cy="1475248"/>
          </a:xfrm>
        </p:spPr>
        <p:txBody>
          <a:bodyPr numCol="1" anchor="ctr"/>
          <a:lstStyle>
            <a:lvl1pPr marL="0" indent="0" algn="ct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Logo 4</a:t>
            </a:r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A21B330D-708C-2364-BA2A-65DE2B91209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484258" y="16618988"/>
            <a:ext cx="7302745" cy="1128445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9B13962B-9836-06B2-D025-CF631ABC605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1574031" y="29572102"/>
            <a:ext cx="15471370" cy="10290872"/>
          </a:xfrm>
        </p:spPr>
        <p:txBody>
          <a:bodyPr numCol="1" anchor="ctr"/>
          <a:lstStyle>
            <a:lvl1pPr marL="0" indent="0" algn="ctr">
              <a:buNone/>
              <a:defRPr/>
            </a:lvl1pPr>
          </a:lstStyle>
          <a:p>
            <a:endParaRPr lang="sv-SE"/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1BE43E48-357E-0792-596F-C79660334AC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574031" y="20385441"/>
            <a:ext cx="7302745" cy="8309494"/>
          </a:xfrm>
        </p:spPr>
        <p:txBody>
          <a:bodyPr numCol="1" anchor="ctr"/>
          <a:lstStyle>
            <a:lvl1pPr marL="0" indent="0" algn="ctr">
              <a:buNone/>
              <a:defRPr/>
            </a:lvl1pPr>
          </a:lstStyle>
          <a:p>
            <a:endParaRPr lang="sv-SE"/>
          </a:p>
        </p:txBody>
      </p:sp>
      <p:sp>
        <p:nvSpPr>
          <p:cNvPr id="20" name="Platshållare för bild 6">
            <a:extLst>
              <a:ext uri="{FF2B5EF4-FFF2-40B4-BE49-F238E27FC236}">
                <a16:creationId xmlns:a16="http://schemas.microsoft.com/office/drawing/2014/main" id="{F35809F1-7E14-8E87-6256-7860BA36A45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9742656" y="20385441"/>
            <a:ext cx="7302745" cy="8309494"/>
          </a:xfrm>
        </p:spPr>
        <p:txBody>
          <a:bodyPr numCol="1" anchor="ctr"/>
          <a:lstStyle>
            <a:lvl1pPr marL="0" indent="0" algn="ctr">
              <a:buNone/>
              <a:defRPr/>
            </a:lvl1pPr>
          </a:lstStyle>
          <a:p>
            <a:endParaRPr lang="sv-SE"/>
          </a:p>
        </p:txBody>
      </p:sp>
      <p:sp>
        <p:nvSpPr>
          <p:cNvPr id="22" name="Platshållare för text 7">
            <a:extLst>
              <a:ext uri="{FF2B5EF4-FFF2-40B4-BE49-F238E27FC236}">
                <a16:creationId xmlns:a16="http://schemas.microsoft.com/office/drawing/2014/main" id="{2741B237-7D42-4DB8-4796-06D3320F46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1574031" y="7432326"/>
            <a:ext cx="7302745" cy="1207594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23" name="Platshållare för text 7">
            <a:extLst>
              <a:ext uri="{FF2B5EF4-FFF2-40B4-BE49-F238E27FC236}">
                <a16:creationId xmlns:a16="http://schemas.microsoft.com/office/drawing/2014/main" id="{A0E6E946-B030-2454-4AC4-D4243D389FD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9742655" y="7432326"/>
            <a:ext cx="7302745" cy="1207594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27" name="textruta 26">
            <a:extLst>
              <a:ext uri="{FF2B5EF4-FFF2-40B4-BE49-F238E27FC236}">
                <a16:creationId xmlns:a16="http://schemas.microsoft.com/office/drawing/2014/main" id="{E12458C9-FFEF-2BED-E9DA-B786C96EAEE5}"/>
              </a:ext>
            </a:extLst>
          </p:cNvPr>
          <p:cNvSpPr txBox="1"/>
          <p:nvPr userDrawn="1"/>
        </p:nvSpPr>
        <p:spPr>
          <a:xfrm>
            <a:off x="31574031" y="5251029"/>
            <a:ext cx="15471369" cy="1465695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 tIns="360000" rIns="360000" bIns="360000" rtlCol="0">
            <a:spAutoFit/>
          </a:bodyPr>
          <a:lstStyle/>
          <a:p>
            <a:r>
              <a:rPr lang="sv-SE" sz="4800" dirty="0" err="1">
                <a:solidFill>
                  <a:schemeClr val="accent6"/>
                </a:solidFill>
                <a:latin typeface="+mj-lt"/>
              </a:rPr>
              <a:t>Move</a:t>
            </a:r>
            <a:r>
              <a:rPr lang="sv-SE" sz="4800" dirty="0">
                <a:solidFill>
                  <a:schemeClr val="accent6"/>
                </a:solidFill>
                <a:latin typeface="+mj-lt"/>
              </a:rPr>
              <a:t> in on the page </a:t>
            </a:r>
            <a:r>
              <a:rPr lang="sv-SE" sz="4800" dirty="0" err="1">
                <a:solidFill>
                  <a:schemeClr val="accent6"/>
                </a:solidFill>
                <a:latin typeface="+mj-lt"/>
              </a:rPr>
              <a:t>when</a:t>
            </a:r>
            <a:r>
              <a:rPr lang="sv-SE" sz="4800" dirty="0">
                <a:solidFill>
                  <a:schemeClr val="accent6"/>
                </a:solidFill>
                <a:latin typeface="+mj-lt"/>
              </a:rPr>
              <a:t> </a:t>
            </a:r>
            <a:r>
              <a:rPr lang="sv-SE" sz="4800" dirty="0" err="1">
                <a:solidFill>
                  <a:schemeClr val="accent6"/>
                </a:solidFill>
                <a:latin typeface="+mj-lt"/>
              </a:rPr>
              <a:t>needed</a:t>
            </a:r>
            <a:r>
              <a:rPr lang="sv-SE" sz="4800" dirty="0">
                <a:solidFill>
                  <a:schemeClr val="accent6"/>
                </a:solidFill>
                <a:latin typeface="+mj-lt"/>
              </a:rPr>
              <a:t>:</a:t>
            </a:r>
          </a:p>
        </p:txBody>
      </p:sp>
      <p:sp>
        <p:nvSpPr>
          <p:cNvPr id="29" name="Platshållare för text 9">
            <a:extLst>
              <a:ext uri="{FF2B5EF4-FFF2-40B4-BE49-F238E27FC236}">
                <a16:creationId xmlns:a16="http://schemas.microsoft.com/office/drawing/2014/main" id="{408A9226-1691-5C76-4E7F-DC92D26FC2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6657" y="10015151"/>
            <a:ext cx="23639993" cy="1400966"/>
          </a:xfrm>
        </p:spPr>
        <p:txBody>
          <a:bodyPr numCol="1"/>
          <a:lstStyle>
            <a:lvl1pPr marL="0" indent="0">
              <a:buNone/>
              <a:defRPr sz="44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sv-SE" dirty="0" err="1"/>
              <a:t>Supervised</a:t>
            </a:r>
            <a:r>
              <a:rPr lang="sv-SE" dirty="0"/>
              <a:t> by </a:t>
            </a:r>
            <a:r>
              <a:rPr lang="sv-SE" dirty="0" err="1"/>
              <a:t>Name</a:t>
            </a:r>
            <a:r>
              <a:rPr lang="sv-SE" dirty="0"/>
              <a:t> </a:t>
            </a:r>
            <a:r>
              <a:rPr lang="sv-SE" dirty="0" err="1"/>
              <a:t>Surname</a:t>
            </a:r>
            <a:endParaRPr lang="sv-SE" dirty="0"/>
          </a:p>
        </p:txBody>
      </p:sp>
      <p:sp>
        <p:nvSpPr>
          <p:cNvPr id="10" name="Platshållare för text 7">
            <a:extLst>
              <a:ext uri="{FF2B5EF4-FFF2-40B4-BE49-F238E27FC236}">
                <a16:creationId xmlns:a16="http://schemas.microsoft.com/office/drawing/2014/main" id="{450BA97F-FB9E-402C-EAFA-BFD417D6F4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316657" y="28578523"/>
            <a:ext cx="7302745" cy="1128445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30" name="Platshållare för text 7">
            <a:extLst>
              <a:ext uri="{FF2B5EF4-FFF2-40B4-BE49-F238E27FC236}">
                <a16:creationId xmlns:a16="http://schemas.microsoft.com/office/drawing/2014/main" id="{18C96E1C-C109-2D58-85C2-B888BBA1E27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1484258" y="28578523"/>
            <a:ext cx="7302745" cy="1128445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31" name="Platshållare för text 7">
            <a:extLst>
              <a:ext uri="{FF2B5EF4-FFF2-40B4-BE49-F238E27FC236}">
                <a16:creationId xmlns:a16="http://schemas.microsoft.com/office/drawing/2014/main" id="{AFC107AA-6782-8282-8277-D9B6166EEF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1574031" y="40718496"/>
            <a:ext cx="8683570" cy="523971"/>
          </a:xfrm>
        </p:spPr>
        <p:txBody>
          <a:bodyPr tIns="144000" numCol="1">
            <a:spAutoFit/>
          </a:bodyPr>
          <a:lstStyle>
            <a:lvl1pPr marL="0" indent="0">
              <a:buNone/>
              <a:defRPr sz="2400" b="0" i="1">
                <a:solidFill>
                  <a:schemeClr val="tx2"/>
                </a:solidFill>
                <a:latin typeface="+mj-lt"/>
              </a:defRPr>
            </a:lvl1pPr>
            <a:lvl2pPr marL="320040" indent="0">
              <a:buNone/>
              <a:defRPr b="1">
                <a:solidFill>
                  <a:schemeClr val="tx2"/>
                </a:solidFill>
                <a:latin typeface="+mj-lt"/>
              </a:defRPr>
            </a:lvl2pPr>
            <a:lvl3pPr marL="640080" indent="0">
              <a:buNone/>
              <a:defRPr b="1">
                <a:solidFill>
                  <a:schemeClr val="tx2"/>
                </a:solidFill>
                <a:latin typeface="+mj-lt"/>
              </a:defRPr>
            </a:lvl3pPr>
            <a:lvl4pPr marL="960120" indent="0">
              <a:buNone/>
              <a:defRPr b="1">
                <a:solidFill>
                  <a:schemeClr val="tx2"/>
                </a:solidFill>
                <a:latin typeface="+mj-lt"/>
              </a:defRPr>
            </a:lvl4pPr>
            <a:lvl5pPr marL="1280160" indent="0">
              <a:buNone/>
              <a:defRPr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sv-SE" dirty="0"/>
              <a:t>Image </a:t>
            </a:r>
            <a:r>
              <a:rPr lang="sv-SE" dirty="0" err="1"/>
              <a:t>caption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7878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220414E7-5508-776E-6BBC-4EE50480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656" y="5829300"/>
            <a:ext cx="23639995" cy="3164832"/>
          </a:xfrm>
          <a:prstGeom prst="rect">
            <a:avLst/>
          </a:prstGeom>
        </p:spPr>
        <p:txBody>
          <a:bodyPr vert="horz" lIns="91440" tIns="108000" rIns="91440" bIns="45720" rtlCol="0" anchor="t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006EF76-9662-2CD9-346E-23511E804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6656" y="12423795"/>
            <a:ext cx="23639995" cy="25737051"/>
          </a:xfrm>
          <a:prstGeom prst="rect">
            <a:avLst/>
          </a:prstGeom>
        </p:spPr>
        <p:txBody>
          <a:bodyPr vert="horz" lIns="91440" tIns="45720" rIns="91440" bIns="45720" numCol="1" spcCol="18000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E3A2378-EA0B-2CB0-A3C0-B0181DFC3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16656" y="40980482"/>
            <a:ext cx="6060328" cy="610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accent2"/>
                </a:solidFill>
                <a:latin typeface="+mj-lt"/>
              </a:defRPr>
            </a:lvl1pPr>
          </a:lstStyle>
          <a:p>
            <a:fld id="{27D4B41D-E5F6-0F43-A23C-D24AA0869C0B}" type="datetime1">
              <a:rPr lang="sv-SE" smtClean="0"/>
              <a:pPr/>
              <a:t>2025-08-14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4CA2E8D-AD94-B894-C4F1-B88C763BA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26690" y="40980482"/>
            <a:ext cx="10217885" cy="610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sv-SE" dirty="0"/>
              <a:t>· KTH Royal </a:t>
            </a:r>
            <a:r>
              <a:rPr lang="sv-SE" dirty="0" err="1"/>
              <a:t>Institute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Technology</a:t>
            </a:r>
            <a:r>
              <a:rPr lang="sv-SE" dirty="0"/>
              <a:t> ·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45617BD-973D-B163-E4ED-D245FDF0B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973183" y="40980489"/>
            <a:ext cx="4983467" cy="61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accent2"/>
                </a:solidFill>
                <a:latin typeface="+mj-lt"/>
              </a:defRPr>
            </a:lvl1pPr>
          </a:lstStyle>
          <a:p>
            <a:fld id="{B716C8F4-20CD-364A-8A8E-DE130115B178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836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12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19071" userDrawn="1">
          <p15:clr>
            <a:srgbClr val="F26B43"/>
          </p15:clr>
        </p15:guide>
        <p15:guide id="3" pos="2089" userDrawn="1">
          <p15:clr>
            <a:srgbClr val="F26B43"/>
          </p15:clr>
        </p15:guide>
        <p15:guide id="4" pos="4117" userDrawn="1">
          <p15:clr>
            <a:srgbClr val="F26B43"/>
          </p15:clr>
        </p15:guide>
        <p15:guide id="5" pos="4661" userDrawn="1">
          <p15:clr>
            <a:srgbClr val="F26B43"/>
          </p15:clr>
        </p15:guide>
        <p15:guide id="6" pos="6689" userDrawn="1">
          <p15:clr>
            <a:srgbClr val="F26B43"/>
          </p15:clr>
        </p15:guide>
        <p15:guide id="7" pos="7235" userDrawn="1">
          <p15:clr>
            <a:srgbClr val="F26B43"/>
          </p15:clr>
        </p15:guide>
        <p15:guide id="8" pos="9263" userDrawn="1">
          <p15:clr>
            <a:srgbClr val="F26B43"/>
          </p15:clr>
        </p15:guide>
        <p15:guide id="9" pos="9807" userDrawn="1">
          <p15:clr>
            <a:srgbClr val="F26B43"/>
          </p15:clr>
        </p15:guide>
        <p15:guide id="10" pos="11835" userDrawn="1">
          <p15:clr>
            <a:srgbClr val="F26B43"/>
          </p15:clr>
        </p15:guide>
        <p15:guide id="11" pos="12380" userDrawn="1">
          <p15:clr>
            <a:srgbClr val="F26B43"/>
          </p15:clr>
        </p15:guide>
        <p15:guide id="12" pos="14408" userDrawn="1">
          <p15:clr>
            <a:srgbClr val="F26B43"/>
          </p15:clr>
        </p15:guide>
        <p15:guide id="13" pos="14953" userDrawn="1">
          <p15:clr>
            <a:srgbClr val="F26B43"/>
          </p15:clr>
        </p15:guide>
        <p15:guide id="14" pos="16981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3505" userDrawn="1">
          <p15:clr>
            <a:srgbClr val="F26B43"/>
          </p15:clr>
        </p15:guide>
        <p15:guide id="18" orient="horz" pos="5666" userDrawn="1">
          <p15:clr>
            <a:srgbClr val="F26B43"/>
          </p15:clr>
        </p15:guide>
        <p15:guide id="19" orient="horz" pos="7826" userDrawn="1">
          <p15:clr>
            <a:srgbClr val="F26B43"/>
          </p15:clr>
        </p15:guide>
        <p15:guide id="20" orient="horz" pos="9986" userDrawn="1">
          <p15:clr>
            <a:srgbClr val="F26B43"/>
          </p15:clr>
        </p15:guide>
        <p15:guide id="21" orient="horz" pos="12147" userDrawn="1">
          <p15:clr>
            <a:srgbClr val="F26B43"/>
          </p15:clr>
        </p15:guide>
        <p15:guide id="22" orient="horz" pos="14307" userDrawn="1">
          <p15:clr>
            <a:srgbClr val="F26B43"/>
          </p15:clr>
        </p15:guide>
        <p15:guide id="23" orient="horz" pos="16468" userDrawn="1">
          <p15:clr>
            <a:srgbClr val="F26B43"/>
          </p15:clr>
        </p15:guide>
        <p15:guide id="24" orient="horz" pos="18628" userDrawn="1">
          <p15:clr>
            <a:srgbClr val="F26B43"/>
          </p15:clr>
        </p15:guide>
        <p15:guide id="25" orient="horz" pos="20789" userDrawn="1">
          <p15:clr>
            <a:srgbClr val="F26B43"/>
          </p15:clr>
        </p15:guide>
        <p15:guide id="26" orient="horz" pos="22949" userDrawn="1">
          <p15:clr>
            <a:srgbClr val="F26B43"/>
          </p15:clr>
        </p15:guide>
        <p15:guide id="27" orient="horz" pos="251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3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00.png"/><Relationship Id="rId5" Type="http://schemas.openxmlformats.org/officeDocument/2006/relationships/image" Target="../media/image6.pn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19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9478" y="33038557"/>
            <a:ext cx="9768042" cy="431368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6966" y="28658061"/>
            <a:ext cx="9768041" cy="45568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09505" y="9070432"/>
            <a:ext cx="7781399" cy="68246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46175" y="16021248"/>
            <a:ext cx="8045639" cy="668799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3202" y="18365510"/>
            <a:ext cx="7852541" cy="409164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44702" y="14790281"/>
            <a:ext cx="6143699" cy="3032085"/>
          </a:xfrm>
          <a:prstGeom prst="rect">
            <a:avLst/>
          </a:prstGeom>
        </p:spPr>
      </p:pic>
      <p:sp>
        <p:nvSpPr>
          <p:cNvPr id="35" name="Rubrik 34">
            <a:extLst>
              <a:ext uri="{FF2B5EF4-FFF2-40B4-BE49-F238E27FC236}">
                <a16:creationId xmlns:a16="http://schemas.microsoft.com/office/drawing/2014/main" id="{AB622ACE-E5D2-7042-6322-002F0B9D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966" y="5345780"/>
            <a:ext cx="27154965" cy="2229681"/>
          </a:xfrm>
        </p:spPr>
        <p:txBody>
          <a:bodyPr/>
          <a:lstStyle/>
          <a:p>
            <a:pPr algn="ctr"/>
            <a:r>
              <a:rPr lang="en-US" sz="7200" dirty="0" smtClean="0"/>
              <a:t>Common-Mode </a:t>
            </a:r>
            <a:r>
              <a:rPr lang="en-US" sz="7200" dirty="0"/>
              <a:t>Voltage Reduction in Two-Level Inverters by Introducing Adaptive Carrier-Phase-Shift Method</a:t>
            </a:r>
            <a:endParaRPr lang="sv-SE" sz="6000" dirty="0">
              <a:latin typeface="Georgia (Body)"/>
            </a:endParaRPr>
          </a:p>
        </p:txBody>
      </p:sp>
      <p:sp>
        <p:nvSpPr>
          <p:cNvPr id="37" name="Platshållare för text 36">
            <a:extLst>
              <a:ext uri="{FF2B5EF4-FFF2-40B4-BE49-F238E27FC236}">
                <a16:creationId xmlns:a16="http://schemas.microsoft.com/office/drawing/2014/main" id="{F7381222-53BE-4AC8-BF4E-5F35C37B9F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18562" y="7525882"/>
            <a:ext cx="25633810" cy="816668"/>
          </a:xfrm>
        </p:spPr>
        <p:txBody>
          <a:bodyPr/>
          <a:lstStyle/>
          <a:p>
            <a:r>
              <a:rPr lang="sv-SE" sz="4000" dirty="0" smtClean="0">
                <a:latin typeface="Georgia (Body)"/>
              </a:rPr>
              <a:t>Enes </a:t>
            </a:r>
            <a:r>
              <a:rPr lang="sv-SE" sz="4000" dirty="0">
                <a:latin typeface="Georgia (Body)"/>
              </a:rPr>
              <a:t>Ayaz, Shahriar Sarmast </a:t>
            </a:r>
            <a:r>
              <a:rPr lang="sv-SE" sz="4000" dirty="0" smtClean="0">
                <a:latin typeface="Georgia (Body)"/>
              </a:rPr>
              <a:t>Ghahfarokhi</a:t>
            </a:r>
            <a:r>
              <a:rPr lang="sv-SE" sz="4000" dirty="0">
                <a:latin typeface="Georgia (Body)"/>
              </a:rPr>
              <a:t>, Staffan Norrga, Hans-Peter Nee – KTH Royal </a:t>
            </a:r>
            <a:r>
              <a:rPr lang="sv-SE" sz="4000" dirty="0" err="1">
                <a:latin typeface="Georgia (Body)"/>
              </a:rPr>
              <a:t>Institute</a:t>
            </a:r>
            <a:r>
              <a:rPr lang="sv-SE" sz="4000" dirty="0">
                <a:latin typeface="Georgia (Body)"/>
              </a:rPr>
              <a:t> </a:t>
            </a:r>
            <a:r>
              <a:rPr lang="sv-SE" sz="4000" dirty="0" err="1">
                <a:latin typeface="Georgia (Body)"/>
              </a:rPr>
              <a:t>of</a:t>
            </a:r>
            <a:r>
              <a:rPr lang="sv-SE" sz="4000" dirty="0">
                <a:latin typeface="Georgia (Body)"/>
              </a:rPr>
              <a:t> </a:t>
            </a:r>
            <a:r>
              <a:rPr lang="sv-SE" sz="4000" dirty="0" err="1">
                <a:latin typeface="Georgia (Body)"/>
              </a:rPr>
              <a:t>Technology</a:t>
            </a:r>
            <a:endParaRPr lang="sv-SE" sz="4000" dirty="0">
              <a:latin typeface="Georgia (Body)"/>
            </a:endParaRPr>
          </a:p>
        </p:txBody>
      </p:sp>
      <p:sp>
        <p:nvSpPr>
          <p:cNvPr id="56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78669" y="8732681"/>
            <a:ext cx="9448022" cy="1858802"/>
          </a:xfrm>
        </p:spPr>
        <p:txBody>
          <a:bodyPr/>
          <a:lstStyle/>
          <a:p>
            <a:pPr algn="just"/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Introduction </a:t>
            </a:r>
            <a:r>
              <a:rPr lang="en-GB" sz="3200" b="1" dirty="0">
                <a:solidFill>
                  <a:schemeClr val="tx2"/>
                </a:solidFill>
                <a:latin typeface="Georgia (Body)"/>
              </a:rPr>
              <a:t>&amp; </a:t>
            </a:r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Motivation</a:t>
            </a:r>
          </a:p>
          <a:p>
            <a:pPr algn="just"/>
            <a:endParaRPr lang="en-GB" b="1" dirty="0">
              <a:solidFill>
                <a:schemeClr val="tx2"/>
              </a:solidFill>
              <a:latin typeface="Georgia (Body)"/>
            </a:endParaRPr>
          </a:p>
          <a:p>
            <a:pPr algn="just"/>
            <a:r>
              <a:rPr lang="en-GB" b="1" dirty="0" smtClean="0">
                <a:latin typeface="Georgia (Body)"/>
              </a:rPr>
              <a:t>Two-Level </a:t>
            </a:r>
            <a:r>
              <a:rPr lang="en-GB" b="1" dirty="0">
                <a:latin typeface="Georgia (Body)"/>
              </a:rPr>
              <a:t>Voltage Source Inverters </a:t>
            </a:r>
            <a:r>
              <a:rPr lang="en-GB" dirty="0">
                <a:latin typeface="Georgia (Body)"/>
              </a:rPr>
              <a:t>dominate industrial motor drives due to simplicity, low cost, and reliability.</a:t>
            </a: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sp>
        <p:nvSpPr>
          <p:cNvPr id="59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60229" y="16322124"/>
            <a:ext cx="9448022" cy="7109347"/>
          </a:xfrm>
        </p:spPr>
        <p:txBody>
          <a:bodyPr/>
          <a:lstStyle/>
          <a:p>
            <a:pPr algn="just"/>
            <a:r>
              <a:rPr lang="en-GB" b="1" dirty="0" smtClean="0">
                <a:latin typeface="Georgia (Body)"/>
              </a:rPr>
              <a:t>Problem: </a:t>
            </a:r>
            <a:r>
              <a:rPr lang="en-GB" dirty="0" smtClean="0">
                <a:latin typeface="Georgia (Body)"/>
              </a:rPr>
              <a:t>PWM outputs</a:t>
            </a:r>
            <a:r>
              <a:rPr lang="en-GB" dirty="0">
                <a:latin typeface="Georgia (Body)"/>
              </a:rPr>
              <a:t> →</a:t>
            </a:r>
            <a:r>
              <a:rPr lang="en-GB" dirty="0" smtClean="0">
                <a:latin typeface="Georgia (Body)"/>
              </a:rPr>
              <a:t> Common-Mode Voltage → leads to: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Electromagnetic Interference (EMI).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Bearing currents → insulation damage → reduced lifespan.</a:t>
            </a: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r>
              <a:rPr lang="en-GB" b="1" dirty="0" smtClean="0">
                <a:latin typeface="Georgia (Body)"/>
              </a:rPr>
              <a:t>Existing Mitigation Approaches: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New inverter topologies / CM filters → ↑ cost &amp; complexity.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Constant carrier-phase-shift PWM → partial CMV reduction only.</a:t>
            </a: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r>
              <a:rPr lang="en-GB" b="1" dirty="0" smtClean="0">
                <a:latin typeface="Georgia (Body)"/>
              </a:rPr>
              <a:t>Key Idea:</a:t>
            </a:r>
            <a:endParaRPr lang="en-US" b="1" dirty="0">
              <a:latin typeface="Georgia 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Georgia (Body)"/>
              </a:rPr>
              <a:t>Dynamically adjusts carrier phase shifts every switching </a:t>
            </a:r>
            <a:r>
              <a:rPr lang="en-US" dirty="0" smtClean="0">
                <a:latin typeface="Georgia (Body)"/>
              </a:rPr>
              <a:t>interval.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Georgia (Body)"/>
              </a:rPr>
              <a:t>Minimizes </a:t>
            </a:r>
            <a:r>
              <a:rPr lang="en-US" dirty="0">
                <a:latin typeface="Georgia (Body)"/>
              </a:rPr>
              <a:t>CMV harmonics at the instantaneous level.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Georgia (Body)"/>
              </a:rPr>
              <a:t>No hardware changes → scalable &amp; low-cost.</a:t>
            </a:r>
          </a:p>
          <a:p>
            <a:pPr algn="just"/>
            <a:endParaRPr lang="sv-SE" dirty="0">
              <a:latin typeface="Georgia (Body)"/>
            </a:endParaRPr>
          </a:p>
        </p:txBody>
      </p:sp>
      <p:sp>
        <p:nvSpPr>
          <p:cNvPr id="61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311456" y="8649030"/>
            <a:ext cx="9448022" cy="1942453"/>
          </a:xfrm>
        </p:spPr>
        <p:txBody>
          <a:bodyPr/>
          <a:lstStyle/>
          <a:p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Proposed Method</a:t>
            </a:r>
          </a:p>
          <a:p>
            <a:pPr algn="just"/>
            <a:endParaRPr lang="en-US" dirty="0">
              <a:latin typeface="Georgia (Body)"/>
            </a:endParaRPr>
          </a:p>
          <a:p>
            <a:pPr algn="just"/>
            <a:r>
              <a:rPr lang="en-US" dirty="0" smtClean="0">
                <a:latin typeface="Georgia (Body)"/>
              </a:rPr>
              <a:t>Represent </a:t>
            </a:r>
            <a:r>
              <a:rPr lang="en-US" dirty="0">
                <a:latin typeface="Georgia (Body)"/>
              </a:rPr>
              <a:t>1st carrier harmonics of each phase </a:t>
            </a:r>
            <a:r>
              <a:rPr lang="en-US" dirty="0" smtClean="0">
                <a:latin typeface="Georgia (Body)"/>
              </a:rPr>
              <a:t>in phasor domain.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dirty="0">
              <a:latin typeface="Georgia (Body)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dirty="0" smtClean="0">
              <a:latin typeface="Georgia (Body)"/>
            </a:endParaRPr>
          </a:p>
          <a:p>
            <a:endParaRPr lang="en-GB" dirty="0" smtClean="0">
              <a:latin typeface="Georgia (Body)"/>
            </a:endParaRPr>
          </a:p>
          <a:p>
            <a:endParaRPr lang="en-GB" dirty="0">
              <a:latin typeface="Georgia (Body)"/>
            </a:endParaRPr>
          </a:p>
          <a:p>
            <a:endParaRPr lang="sv-SE" dirty="0">
              <a:latin typeface="Georgia (Body)"/>
            </a:endParaRPr>
          </a:p>
        </p:txBody>
      </p:sp>
      <p:sp>
        <p:nvSpPr>
          <p:cNvPr id="62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251114" y="8646448"/>
            <a:ext cx="9448022" cy="2236179"/>
          </a:xfrm>
        </p:spPr>
        <p:txBody>
          <a:bodyPr/>
          <a:lstStyle/>
          <a:p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Simulation Results</a:t>
            </a:r>
          </a:p>
          <a:p>
            <a:endParaRPr lang="en-GB" sz="3200" b="1" dirty="0" smtClean="0">
              <a:solidFill>
                <a:schemeClr val="tx2"/>
              </a:solidFill>
              <a:latin typeface="Georgia (Body)"/>
            </a:endParaRPr>
          </a:p>
          <a:p>
            <a:endParaRPr lang="sv-SE" dirty="0">
              <a:latin typeface="Georgia (Body)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1925" y="-6789"/>
            <a:ext cx="5867400" cy="4533900"/>
          </a:xfrm>
          <a:prstGeom prst="rect">
            <a:avLst/>
          </a:prstGeom>
        </p:spPr>
      </p:pic>
      <p:pic>
        <p:nvPicPr>
          <p:cNvPr id="63" name="Picture 2" descr="https://powerized.eu/images/Icons/Powerized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45" y="1101408"/>
            <a:ext cx="7050988" cy="183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4" descr="https://www.kth.se/polopoly_fs/1.1262538.1686911400!/image/HEMIZERO_2-1000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369" y="559963"/>
            <a:ext cx="2632075" cy="263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8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/>
              </p:cNvSpPr>
              <p:nvPr>
                <p:ph type="body" sz="quarter" idx="34"/>
              </p:nvPr>
            </p:nvSpPr>
            <p:spPr>
              <a:xfrm>
                <a:off x="211813" y="24057366"/>
                <a:ext cx="9448022" cy="3582733"/>
              </a:xfrm>
            </p:spPr>
            <p:txBody>
              <a:bodyPr/>
              <a:lstStyle/>
              <a:p>
                <a:pPr algn="just"/>
                <a:r>
                  <a:rPr lang="en-GB" sz="3200" b="1" dirty="0" smtClean="0">
                    <a:solidFill>
                      <a:schemeClr val="tx2"/>
                    </a:solidFill>
                    <a:latin typeface="Georgia (Body)"/>
                  </a:rPr>
                  <a:t>Analytical   Investigation of CMV</a:t>
                </a:r>
              </a:p>
              <a:p>
                <a:pPr algn="just"/>
                <a:endParaRPr lang="en-GB" b="1" dirty="0">
                  <a:solidFill>
                    <a:schemeClr val="tx2"/>
                  </a:solidFill>
                  <a:latin typeface="Georgia (Body)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sv-SE" dirty="0">
                    <a:latin typeface="Georgia (Body)"/>
                  </a:rPr>
                  <a:t>CMV in 2L-VSI: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sv-SE" i="1" dirty="0">
                              <a:latin typeface="Cambria Math" panose="02040503050406030204" pitchFamily="18" charset="0"/>
                            </a:rPr>
                            <m:t>CM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i="1" dirty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sv-SE" i="1" dirty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i="1" dirty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sv-SE" i="1" dirty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 smtClean="0">
                  <a:latin typeface="Georgia (Body)"/>
                </a:endParaRPr>
              </a:p>
              <a:p>
                <a:pPr algn="just"/>
                <a:endParaRPr lang="en-US" dirty="0" smtClean="0">
                  <a:latin typeface="Georgia (Body)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Georgia (Body)"/>
                  </a:rPr>
                  <a:t>When conventional single-carrier SPWM is implemented, the </a:t>
                </a:r>
                <a:r>
                  <a:rPr lang="en-US" dirty="0" smtClean="0">
                    <a:latin typeface="Georgia (Body)"/>
                  </a:rPr>
                  <a:t>common-mode voltage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𝐶𝑀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>
                    <a:latin typeface="Georgia (Body)"/>
                  </a:rPr>
                  <a:t> ) can be calculated as:</a:t>
                </a:r>
                <a:endParaRPr lang="en-GB" b="1" dirty="0" smtClean="0">
                  <a:solidFill>
                    <a:schemeClr val="tx2"/>
                  </a:solidFill>
                  <a:latin typeface="Georgia (Body)"/>
                </a:endParaRPr>
              </a:p>
              <a:p>
                <a:pPr algn="just"/>
                <a:endParaRPr lang="en-GB" b="1" dirty="0" smtClean="0">
                  <a:solidFill>
                    <a:schemeClr val="tx2"/>
                  </a:solidFill>
                  <a:latin typeface="Georgia (Body)"/>
                </a:endParaRPr>
              </a:p>
              <a:p>
                <a:pPr algn="just"/>
                <a:endParaRPr lang="en-GB" dirty="0" smtClean="0">
                  <a:latin typeface="Georgia (Body)"/>
                </a:endParaRPr>
              </a:p>
              <a:p>
                <a:pPr algn="just"/>
                <a:endParaRPr lang="en-GB" dirty="0" smtClean="0">
                  <a:latin typeface="Georgia (Body)"/>
                </a:endParaRPr>
              </a:p>
              <a:p>
                <a:pPr algn="just"/>
                <a:endParaRPr lang="en-GB" dirty="0">
                  <a:latin typeface="Georgia (Body)"/>
                </a:endParaRPr>
              </a:p>
              <a:p>
                <a:pPr algn="just"/>
                <a:endParaRPr lang="sv-SE" dirty="0">
                  <a:latin typeface="Georgia (Body)"/>
                </a:endParaRPr>
              </a:p>
            </p:txBody>
          </p:sp>
        </mc:Choice>
        <mc:Fallback xmlns="">
          <p:sp>
            <p:nvSpPr>
              <p:cNvPr id="68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4"/>
              </p:nvPr>
            </p:nvSpPr>
            <p:spPr>
              <a:xfrm>
                <a:off x="211813" y="24057366"/>
                <a:ext cx="9448022" cy="3582733"/>
              </a:xfrm>
              <a:blipFill>
                <a:blip r:embed="rId11"/>
                <a:stretch>
                  <a:fillRect l="-1677" t="-3571" r="-1290" b="-391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84197" y="30827806"/>
            <a:ext cx="9448022" cy="1327502"/>
          </a:xfrm>
        </p:spPr>
        <p:txBody>
          <a:bodyPr/>
          <a:lstStyle/>
          <a:p>
            <a:pPr algn="just"/>
            <a:r>
              <a:rPr lang="sv-SE" dirty="0" err="1">
                <a:latin typeface="Georgia (Body)"/>
              </a:rPr>
              <a:t>Harmonic</a:t>
            </a:r>
            <a:r>
              <a:rPr lang="sv-SE" dirty="0">
                <a:latin typeface="Georgia (Body)"/>
              </a:rPr>
              <a:t> </a:t>
            </a:r>
            <a:r>
              <a:rPr lang="sv-SE" dirty="0" err="1" smtClean="0">
                <a:latin typeface="Georgia (Body)"/>
              </a:rPr>
              <a:t>decomposition</a:t>
            </a:r>
            <a:r>
              <a:rPr lang="sv-SE" dirty="0" smtClean="0">
                <a:latin typeface="Georgia (Body)"/>
              </a:rPr>
              <a:t> </a:t>
            </a:r>
            <a:r>
              <a:rPr lang="sv-SE" dirty="0">
                <a:latin typeface="Georgia (Body)"/>
              </a:rPr>
              <a:t>→ </a:t>
            </a:r>
            <a:r>
              <a:rPr lang="sv-SE" dirty="0" err="1">
                <a:latin typeface="Georgia (Body)"/>
              </a:rPr>
              <a:t>Zero-sequence</a:t>
            </a:r>
            <a:r>
              <a:rPr lang="sv-SE" dirty="0">
                <a:latin typeface="Georgia (Body)"/>
              </a:rPr>
              <a:t> </a:t>
            </a:r>
            <a:r>
              <a:rPr lang="sv-SE" dirty="0" err="1">
                <a:latin typeface="Georgia (Body)"/>
              </a:rPr>
              <a:t>components</a:t>
            </a:r>
            <a:r>
              <a:rPr lang="sv-SE" dirty="0">
                <a:latin typeface="Georgia (Body)"/>
              </a:rPr>
              <a:t> </a:t>
            </a:r>
            <a:r>
              <a:rPr lang="sv-SE" dirty="0" err="1">
                <a:latin typeface="Georgia (Body)"/>
              </a:rPr>
              <a:t>create</a:t>
            </a:r>
            <a:r>
              <a:rPr lang="sv-SE" dirty="0">
                <a:latin typeface="Georgia (Body)"/>
              </a:rPr>
              <a:t> </a:t>
            </a:r>
            <a:r>
              <a:rPr lang="sv-SE" dirty="0" smtClean="0">
                <a:latin typeface="Georgia (Body)"/>
              </a:rPr>
              <a:t>CM </a:t>
            </a:r>
            <a:r>
              <a:rPr lang="sv-SE" dirty="0" err="1" smtClean="0">
                <a:latin typeface="Georgia (Body)"/>
              </a:rPr>
              <a:t>currents</a:t>
            </a:r>
            <a:r>
              <a:rPr lang="sv-SE" dirty="0" smtClean="0">
                <a:latin typeface="Georgia (Body)"/>
              </a:rPr>
              <a:t>.</a:t>
            </a:r>
            <a:endParaRPr lang="sv-SE" dirty="0">
              <a:latin typeface="Georgia (Body)"/>
            </a:endParaRPr>
          </a:p>
          <a:p>
            <a:pPr algn="just"/>
            <a:endParaRPr lang="en-GB" b="1" dirty="0" smtClean="0">
              <a:solidFill>
                <a:schemeClr val="tx2"/>
              </a:solidFill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sp>
        <p:nvSpPr>
          <p:cNvPr id="77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84197" y="36422008"/>
            <a:ext cx="9448022" cy="1584999"/>
          </a:xfrm>
        </p:spPr>
        <p:txBody>
          <a:bodyPr/>
          <a:lstStyle/>
          <a:p>
            <a:pPr algn="just"/>
            <a:r>
              <a:rPr lang="en-GB" sz="3200" b="1" dirty="0" smtClean="0">
                <a:solidFill>
                  <a:schemeClr val="accent3"/>
                </a:solidFill>
                <a:latin typeface="Georgia (Body)"/>
              </a:rPr>
              <a:t>Conventional Interleaving </a:t>
            </a:r>
          </a:p>
          <a:p>
            <a:pPr algn="just"/>
            <a:endParaRPr lang="en-US" sz="3200" dirty="0" smtClean="0">
              <a:solidFill>
                <a:schemeClr val="accent3"/>
              </a:solidFill>
              <a:latin typeface="Georgia (Body)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Georgia (Body)"/>
              </a:rPr>
              <a:t>Shifts </a:t>
            </a:r>
            <a:r>
              <a:rPr lang="en-US" dirty="0">
                <a:latin typeface="Georgia (Body)"/>
              </a:rPr>
              <a:t>carriers by 0°, 120°, 240° → redistributes harmonics.</a:t>
            </a:r>
            <a:endParaRPr lang="en-GB" b="1" dirty="0" smtClean="0">
              <a:solidFill>
                <a:schemeClr val="tx2"/>
              </a:solidFill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sp>
        <p:nvSpPr>
          <p:cNvPr id="82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250101" y="13294662"/>
            <a:ext cx="9448022" cy="1824525"/>
          </a:xfrm>
        </p:spPr>
        <p:txBody>
          <a:bodyPr/>
          <a:lstStyle/>
          <a:p>
            <a:pPr algn="just"/>
            <a:r>
              <a:rPr lang="en-US" b="1" dirty="0" smtClean="0">
                <a:latin typeface="Georgia (Body)"/>
              </a:rPr>
              <a:t>Adjust </a:t>
            </a:r>
            <a:r>
              <a:rPr lang="en-US" b="1" dirty="0">
                <a:latin typeface="Georgia (Body)"/>
              </a:rPr>
              <a:t>phase shifts to either</a:t>
            </a:r>
            <a:r>
              <a:rPr lang="en-US" b="1" dirty="0" smtClean="0">
                <a:latin typeface="Georgia (Body)"/>
              </a:rPr>
              <a:t>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Georgia (Body)"/>
              </a:rPr>
              <a:t>Form </a:t>
            </a:r>
            <a:r>
              <a:rPr lang="en-US" sz="2800" dirty="0">
                <a:latin typeface="Georgia (Body)"/>
              </a:rPr>
              <a:t>a triangle → cancel CMV </a:t>
            </a:r>
            <a:r>
              <a:rPr lang="en-US" sz="2800" dirty="0" smtClean="0">
                <a:latin typeface="Georgia (Body)"/>
              </a:rPr>
              <a:t>completely.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Georgia (Body)"/>
              </a:rPr>
              <a:t>Align </a:t>
            </a:r>
            <a:r>
              <a:rPr lang="en-US" sz="2800" dirty="0">
                <a:latin typeface="Georgia (Body)"/>
              </a:rPr>
              <a:t>small vectors opposite to </a:t>
            </a:r>
            <a:r>
              <a:rPr lang="en-US" sz="2800" dirty="0" smtClean="0">
                <a:latin typeface="Georgia (Body)"/>
              </a:rPr>
              <a:t>the largest </a:t>
            </a:r>
            <a:r>
              <a:rPr lang="en-US" sz="2800" dirty="0">
                <a:latin typeface="Georgia (Body)"/>
              </a:rPr>
              <a:t>vector (triangle inequality not met</a:t>
            </a:r>
            <a:r>
              <a:rPr lang="en-US" sz="2800" dirty="0" smtClean="0">
                <a:latin typeface="Georgia (Body)"/>
              </a:rPr>
              <a:t>).</a:t>
            </a:r>
            <a:endParaRPr lang="en-GB" sz="2800" dirty="0" smtClean="0">
              <a:latin typeface="Georgia (Body)"/>
            </a:endParaRPr>
          </a:p>
          <a:p>
            <a:endParaRPr lang="en-GB" dirty="0" smtClean="0">
              <a:latin typeface="Georgia (Body)"/>
            </a:endParaRPr>
          </a:p>
          <a:p>
            <a:endParaRPr lang="en-GB" dirty="0">
              <a:latin typeface="Georgia (Body)"/>
            </a:endParaRPr>
          </a:p>
          <a:p>
            <a:endParaRPr lang="sv-SE" dirty="0">
              <a:latin typeface="Georgia (Body)"/>
            </a:endParaRPr>
          </a:p>
        </p:txBody>
      </p:sp>
      <p:sp>
        <p:nvSpPr>
          <p:cNvPr id="88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612624" y="23941058"/>
            <a:ext cx="9448022" cy="956339"/>
          </a:xfrm>
        </p:spPr>
        <p:txBody>
          <a:bodyPr/>
          <a:lstStyle/>
          <a:p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Algorithm</a:t>
            </a:r>
            <a:endParaRPr lang="en-US" dirty="0" smtClean="0">
              <a:latin typeface="Georgia (Body)"/>
            </a:endParaRPr>
          </a:p>
          <a:p>
            <a:endParaRPr lang="en-GB" dirty="0" smtClean="0">
              <a:latin typeface="Georgia (Body)"/>
            </a:endParaRPr>
          </a:p>
          <a:p>
            <a:endParaRPr lang="en-GB" dirty="0">
              <a:latin typeface="Georgia (Body)"/>
            </a:endParaRPr>
          </a:p>
          <a:p>
            <a:endParaRPr lang="sv-SE" dirty="0">
              <a:latin typeface="Georgia (Body)"/>
            </a:endParaRPr>
          </a:p>
        </p:txBody>
      </p:sp>
      <p:sp>
        <p:nvSpPr>
          <p:cNvPr id="94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394252" y="36417843"/>
            <a:ext cx="9448022" cy="6127686"/>
          </a:xfrm>
        </p:spPr>
        <p:txBody>
          <a:bodyPr/>
          <a:lstStyle/>
          <a:p>
            <a:pPr lvl="0">
              <a:buClr>
                <a:srgbClr val="004791"/>
              </a:buClr>
            </a:pPr>
            <a:r>
              <a:rPr lang="en-GB" sz="3200" b="1" dirty="0">
                <a:solidFill>
                  <a:srgbClr val="000061"/>
                </a:solidFill>
                <a:latin typeface="Georgia (Body)"/>
              </a:rPr>
              <a:t>Discussion</a:t>
            </a:r>
          </a:p>
          <a:p>
            <a:pPr lvl="1" algn="just"/>
            <a:endParaRPr lang="en-US" sz="2800" b="1" dirty="0" smtClean="0">
              <a:latin typeface="Georgia (Body)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Georgia (Body)"/>
              </a:rPr>
              <a:t>Bearing </a:t>
            </a:r>
            <a:r>
              <a:rPr lang="en-US" sz="2800" b="1" dirty="0">
                <a:latin typeface="Georgia (Body)"/>
              </a:rPr>
              <a:t>current mechanisms: </a:t>
            </a:r>
            <a:r>
              <a:rPr lang="en-US" sz="2800" dirty="0">
                <a:latin typeface="Georgia (Body)"/>
              </a:rPr>
              <a:t>capacitive, electric discharge machining (EDM), and circulating bearing currents</a:t>
            </a:r>
            <a:r>
              <a:rPr lang="en-US" sz="2800" dirty="0" smtClean="0">
                <a:latin typeface="Georgia (Body)"/>
              </a:rPr>
              <a:t>.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Georgia (Body)"/>
              </a:rPr>
              <a:t>Capacitive </a:t>
            </a:r>
            <a:r>
              <a:rPr lang="en-US" sz="2800" b="1" dirty="0">
                <a:latin typeface="Georgia (Body)"/>
              </a:rPr>
              <a:t>bearing currents: </a:t>
            </a:r>
            <a:r>
              <a:rPr lang="en-US" sz="2800" dirty="0">
                <a:latin typeface="Georgia (Body)"/>
              </a:rPr>
              <a:t>strongly influenced by high-frequency CMV components; higher dv/</a:t>
            </a:r>
            <a:r>
              <a:rPr lang="en-US" sz="2800" dirty="0" err="1">
                <a:latin typeface="Georgia (Body)"/>
              </a:rPr>
              <a:t>dt</a:t>
            </a:r>
            <a:r>
              <a:rPr lang="en-US" sz="2800" dirty="0">
                <a:latin typeface="Georgia (Body)"/>
              </a:rPr>
              <a:t> → larger currents</a:t>
            </a:r>
            <a:r>
              <a:rPr lang="en-US" sz="2800" dirty="0" smtClean="0">
                <a:latin typeface="Georgia (Body)"/>
              </a:rPr>
              <a:t>.</a:t>
            </a:r>
          </a:p>
          <a:p>
            <a:pPr marL="1371600" lvl="2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Georgia (Body)"/>
              </a:rPr>
              <a:t>EDM </a:t>
            </a:r>
            <a:r>
              <a:rPr lang="en-US" sz="2800" b="1" dirty="0">
                <a:latin typeface="Georgia (Body)"/>
              </a:rPr>
              <a:t>currents: </a:t>
            </a:r>
            <a:r>
              <a:rPr lang="en-US" sz="2800" dirty="0">
                <a:latin typeface="Georgia (Body)"/>
              </a:rPr>
              <a:t>triggered when CMV exceeds lubricant breakdown voltage → electrical discharge across bearings</a:t>
            </a:r>
            <a:r>
              <a:rPr lang="en-US" sz="2800" dirty="0" smtClean="0">
                <a:latin typeface="Georgia (Body)"/>
              </a:rPr>
              <a:t>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Georgia (Body)"/>
              </a:rPr>
              <a:t>Switching </a:t>
            </a:r>
            <a:r>
              <a:rPr lang="en-US" sz="2800" b="1" dirty="0">
                <a:latin typeface="Georgia (Body)"/>
              </a:rPr>
              <a:t>pattern impact: </a:t>
            </a:r>
            <a:r>
              <a:rPr lang="en-US" sz="2800" dirty="0">
                <a:latin typeface="Georgia (Body)"/>
              </a:rPr>
              <a:t>less critical for capacitive currents but important for EDM current suppression</a:t>
            </a:r>
            <a:r>
              <a:rPr lang="en-US" sz="2800" dirty="0" smtClean="0">
                <a:latin typeface="Georgia (Body)"/>
              </a:rPr>
              <a:t>.</a:t>
            </a:r>
          </a:p>
        </p:txBody>
      </p:sp>
      <p:sp>
        <p:nvSpPr>
          <p:cNvPr id="109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474905" y="23947327"/>
            <a:ext cx="9644053" cy="694359"/>
          </a:xfrm>
        </p:spPr>
        <p:txBody>
          <a:bodyPr/>
          <a:lstStyle/>
          <a:p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Experimental Results</a:t>
            </a:r>
          </a:p>
          <a:p>
            <a:endParaRPr lang="en-GB" sz="2400" dirty="0" smtClean="0">
              <a:latin typeface="Georgia (Body)"/>
            </a:endParaRPr>
          </a:p>
          <a:p>
            <a:endParaRPr lang="en-GB" sz="2400" dirty="0" smtClean="0">
              <a:latin typeface="Georgia (Body)"/>
            </a:endParaRPr>
          </a:p>
          <a:p>
            <a:endParaRPr lang="en-GB" dirty="0">
              <a:latin typeface="Georgia (Body)"/>
            </a:endParaRPr>
          </a:p>
          <a:p>
            <a:endParaRPr lang="sv-SE" dirty="0">
              <a:latin typeface="Georgia (Body)"/>
            </a:endParaRPr>
          </a:p>
        </p:txBody>
      </p:sp>
      <p:sp>
        <p:nvSpPr>
          <p:cNvPr id="116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507171" y="38196152"/>
            <a:ext cx="9644053" cy="4044349"/>
          </a:xfrm>
        </p:spPr>
        <p:txBody>
          <a:bodyPr/>
          <a:lstStyle/>
          <a:p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Conclusion</a:t>
            </a:r>
          </a:p>
          <a:p>
            <a:endParaRPr lang="en-GB" b="1" dirty="0" smtClean="0">
              <a:latin typeface="Georgia (Body)"/>
            </a:endParaRPr>
          </a:p>
          <a:p>
            <a:r>
              <a:rPr lang="en-GB" b="1" dirty="0" smtClean="0">
                <a:latin typeface="Georgia (Body)"/>
              </a:rPr>
              <a:t>Adaptive Carrier-Phase-Shift SPWM: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Reduces instantaneous CMV more effectively than constant carrier phase-shift PWMs.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Maintains simplicity of 2L-VSIs.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No additional hardware required.</a:t>
            </a:r>
          </a:p>
          <a:p>
            <a:endParaRPr lang="en-GB" dirty="0" smtClean="0">
              <a:latin typeface="Georgia (Body)"/>
            </a:endParaRPr>
          </a:p>
          <a:p>
            <a:r>
              <a:rPr lang="en-GB" b="1" dirty="0" smtClean="0">
                <a:latin typeface="Georgia (Body)"/>
              </a:rPr>
              <a:t>Future Work: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Extend to multi-phase &amp; multi-level inverters.</a:t>
            </a:r>
          </a:p>
          <a:p>
            <a:endParaRPr lang="en-GB" dirty="0">
              <a:latin typeface="Georgia (Body)"/>
            </a:endParaRPr>
          </a:p>
          <a:p>
            <a:r>
              <a:rPr lang="en-US" dirty="0" smtClean="0">
                <a:latin typeface="Georgia (Body)"/>
              </a:rPr>
              <a:t> </a:t>
            </a:r>
            <a:endParaRPr lang="sv-SE" dirty="0">
              <a:latin typeface="Georgia (Body)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572945" y="3332741"/>
            <a:ext cx="97314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Funded by </a:t>
            </a:r>
            <a:r>
              <a:rPr lang="en-US" sz="3200" b="1" dirty="0"/>
              <a:t>EU CHIPS JU (</a:t>
            </a:r>
            <a:r>
              <a:rPr lang="en-US" sz="3200" b="1" dirty="0" err="1"/>
              <a:t>PowerizeD</a:t>
            </a:r>
            <a:r>
              <a:rPr lang="en-US" sz="3200" b="1" dirty="0"/>
              <a:t>)</a:t>
            </a:r>
            <a:r>
              <a:rPr lang="en-US" sz="3200" dirty="0"/>
              <a:t> &amp; </a:t>
            </a:r>
            <a:r>
              <a:rPr lang="en-US" sz="3200" b="1" dirty="0"/>
              <a:t>Swedish Energy Agency (HEMIZERO)</a:t>
            </a:r>
            <a:endParaRPr lang="sv-SE" sz="3200" dirty="0"/>
          </a:p>
        </p:txBody>
      </p:sp>
      <p:sp>
        <p:nvSpPr>
          <p:cNvPr id="39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1652" y="15119187"/>
            <a:ext cx="9448022" cy="775914"/>
          </a:xfrm>
        </p:spPr>
        <p:txBody>
          <a:bodyPr/>
          <a:lstStyle/>
          <a:p>
            <a:pPr algn="just"/>
            <a:endParaRPr lang="en-GB" b="1" dirty="0">
              <a:solidFill>
                <a:schemeClr val="tx2"/>
              </a:solidFill>
              <a:latin typeface="Georgia (Body)"/>
            </a:endParaRPr>
          </a:p>
          <a:p>
            <a:pPr algn="just"/>
            <a:r>
              <a:rPr lang="en-GB" sz="2400" dirty="0" smtClean="0">
                <a:latin typeface="Georgia (Body)"/>
              </a:rPr>
              <a:t>Fig.1 :The system structure of a 2L-3Ph motor drive </a:t>
            </a:r>
            <a:r>
              <a:rPr lang="en-GB" sz="2400" dirty="0">
                <a:latin typeface="Georgia (Body)"/>
              </a:rPr>
              <a:t>s</a:t>
            </a:r>
            <a:r>
              <a:rPr lang="en-GB" sz="2400" dirty="0" smtClean="0">
                <a:latin typeface="Georgia (Body)"/>
              </a:rPr>
              <a:t>ystem. </a:t>
            </a: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6504" y="27584791"/>
            <a:ext cx="7085412" cy="32430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5580" y="32476495"/>
            <a:ext cx="8769858" cy="3654929"/>
          </a:xfrm>
          <a:prstGeom prst="rect">
            <a:avLst/>
          </a:prstGeom>
        </p:spPr>
      </p:pic>
      <p:sp>
        <p:nvSpPr>
          <p:cNvPr id="43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84197" y="31906800"/>
            <a:ext cx="9448022" cy="742284"/>
          </a:xfrm>
        </p:spPr>
        <p:txBody>
          <a:bodyPr/>
          <a:lstStyle/>
          <a:p>
            <a:pPr algn="ctr"/>
            <a:r>
              <a:rPr lang="en-GB" sz="2400" dirty="0" smtClean="0">
                <a:latin typeface="Georgia (Body)"/>
              </a:rPr>
              <a:t>Table. 1 : </a:t>
            </a:r>
            <a:r>
              <a:rPr lang="en-US" sz="2400" dirty="0" smtClean="0"/>
              <a:t>Frequency </a:t>
            </a:r>
            <a:r>
              <a:rPr lang="en-US" sz="2400" dirty="0"/>
              <a:t>Components and Their Sequences Around First Carrier </a:t>
            </a:r>
            <a:r>
              <a:rPr lang="en-US" sz="2400" dirty="0" smtClean="0"/>
              <a:t>Harmonic.</a:t>
            </a:r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sp>
        <p:nvSpPr>
          <p:cNvPr id="45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55580" y="38224141"/>
            <a:ext cx="9448022" cy="742284"/>
          </a:xfrm>
        </p:spPr>
        <p:txBody>
          <a:bodyPr/>
          <a:lstStyle/>
          <a:p>
            <a:pPr algn="ctr"/>
            <a:r>
              <a:rPr lang="en-GB" sz="2400" dirty="0" smtClean="0">
                <a:latin typeface="Georgia (Body)"/>
              </a:rPr>
              <a:t>Table. </a:t>
            </a:r>
            <a:r>
              <a:rPr lang="en-GB" sz="2400" dirty="0">
                <a:latin typeface="Georgia (Body)"/>
              </a:rPr>
              <a:t>2</a:t>
            </a:r>
            <a:r>
              <a:rPr lang="en-GB" sz="2400" dirty="0" smtClean="0">
                <a:latin typeface="Georgia (Body)"/>
              </a:rPr>
              <a:t> : </a:t>
            </a:r>
            <a:r>
              <a:rPr lang="en-US" sz="2400" dirty="0"/>
              <a:t>Frequency Components and Their Phases Around First Carrier Harmonic for Multi-Carrier Signals.</a:t>
            </a:r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4197" y="39183559"/>
            <a:ext cx="9441085" cy="30569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56650" y="10521956"/>
            <a:ext cx="6703922" cy="2501841"/>
          </a:xfrm>
          <a:prstGeom prst="rect">
            <a:avLst/>
          </a:prstGeom>
        </p:spPr>
      </p:pic>
      <p:sp>
        <p:nvSpPr>
          <p:cNvPr id="49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394252" y="17822366"/>
            <a:ext cx="9448022" cy="775914"/>
          </a:xfrm>
        </p:spPr>
        <p:txBody>
          <a:bodyPr/>
          <a:lstStyle/>
          <a:p>
            <a:pPr algn="just"/>
            <a:r>
              <a:rPr lang="en-GB" sz="2400" dirty="0" smtClean="0">
                <a:latin typeface="Georgia (Body)"/>
              </a:rPr>
              <a:t>Fig.2 :</a:t>
            </a:r>
            <a:r>
              <a:rPr lang="en-US" sz="2400" dirty="0" smtClean="0"/>
              <a:t>Phasor </a:t>
            </a:r>
            <a:r>
              <a:rPr lang="en-US" sz="2400" dirty="0"/>
              <a:t>domain analysis of the CMV in the first switching harmonic. a) The phase voltages. b) The CMV.</a:t>
            </a:r>
            <a:endParaRPr lang="en-GB" sz="2400" dirty="0" smtClean="0"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sp>
        <p:nvSpPr>
          <p:cNvPr id="50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395931" y="22399267"/>
            <a:ext cx="9448022" cy="1345949"/>
          </a:xfrm>
        </p:spPr>
        <p:txBody>
          <a:bodyPr/>
          <a:lstStyle/>
          <a:p>
            <a:pPr algn="just"/>
            <a:r>
              <a:rPr lang="en-GB" sz="2400" dirty="0" smtClean="0">
                <a:latin typeface="Georgia (Body)"/>
              </a:rPr>
              <a:t>Fig.3 :</a:t>
            </a:r>
            <a:r>
              <a:rPr lang="sv-SE" sz="2400" dirty="0"/>
              <a:t>Determination </a:t>
            </a:r>
            <a:r>
              <a:rPr lang="sv-SE" sz="2400" dirty="0" err="1"/>
              <a:t>of</a:t>
            </a:r>
            <a:r>
              <a:rPr lang="sv-SE" sz="2400" dirty="0"/>
              <a:t> the </a:t>
            </a:r>
            <a:r>
              <a:rPr lang="sv-SE" sz="2400" dirty="0" err="1"/>
              <a:t>carrier</a:t>
            </a:r>
            <a:r>
              <a:rPr lang="sv-SE" sz="2400" dirty="0"/>
              <a:t> </a:t>
            </a:r>
            <a:r>
              <a:rPr lang="sv-SE" sz="2400" dirty="0" err="1"/>
              <a:t>phase</a:t>
            </a:r>
            <a:r>
              <a:rPr lang="sv-SE" sz="2400" dirty="0"/>
              <a:t> </a:t>
            </a:r>
            <a:r>
              <a:rPr lang="sv-SE" sz="2400" dirty="0" err="1"/>
              <a:t>shifts</a:t>
            </a:r>
            <a:r>
              <a:rPr lang="sv-SE" sz="2400" dirty="0"/>
              <a:t> in </a:t>
            </a:r>
            <a:r>
              <a:rPr lang="sv-SE" sz="2400" dirty="0" err="1"/>
              <a:t>phasor</a:t>
            </a:r>
            <a:r>
              <a:rPr lang="sv-SE" sz="2400" dirty="0"/>
              <a:t> </a:t>
            </a:r>
            <a:r>
              <a:rPr lang="sv-SE" sz="2400" dirty="0" err="1"/>
              <a:t>domain</a:t>
            </a:r>
            <a:r>
              <a:rPr lang="sv-SE" sz="2400" dirty="0"/>
              <a:t> </a:t>
            </a:r>
            <a:r>
              <a:rPr lang="sv-SE" sz="2400" dirty="0" err="1"/>
              <a:t>analysis</a:t>
            </a:r>
            <a:r>
              <a:rPr lang="sv-SE" sz="2400" dirty="0"/>
              <a:t>. a) </a:t>
            </a:r>
            <a:r>
              <a:rPr lang="sv-SE" sz="2400" dirty="0" err="1"/>
              <a:t>Triangle</a:t>
            </a:r>
            <a:r>
              <a:rPr lang="sv-SE" sz="2400" dirty="0"/>
              <a:t> formation. b) </a:t>
            </a:r>
            <a:r>
              <a:rPr lang="sv-SE" sz="2400" dirty="0" err="1"/>
              <a:t>Phase</a:t>
            </a:r>
            <a:r>
              <a:rPr lang="sv-SE" sz="2400" dirty="0"/>
              <a:t>-A </a:t>
            </a:r>
            <a:r>
              <a:rPr lang="sv-SE" sz="2400" dirty="0" err="1"/>
              <a:t>voltage</a:t>
            </a:r>
            <a:r>
              <a:rPr lang="sv-SE" sz="2400" dirty="0"/>
              <a:t> </a:t>
            </a:r>
            <a:r>
              <a:rPr lang="sv-SE" sz="2400" dirty="0" err="1"/>
              <a:t>vector</a:t>
            </a:r>
            <a:r>
              <a:rPr lang="sv-SE" sz="2400" dirty="0"/>
              <a:t> is </a:t>
            </a:r>
            <a:r>
              <a:rPr lang="sv-SE" sz="2400" dirty="0" err="1"/>
              <a:t>bigger</a:t>
            </a:r>
            <a:r>
              <a:rPr lang="sv-SE" sz="2400" dirty="0"/>
              <a:t> </a:t>
            </a:r>
            <a:r>
              <a:rPr lang="sv-SE" sz="2400" dirty="0" err="1"/>
              <a:t>than</a:t>
            </a:r>
            <a:r>
              <a:rPr lang="sv-SE" sz="2400" dirty="0"/>
              <a:t> </a:t>
            </a:r>
            <a:r>
              <a:rPr lang="sv-SE" sz="2400" dirty="0" err="1"/>
              <a:t>other</a:t>
            </a:r>
            <a:r>
              <a:rPr lang="sv-SE" sz="2400" dirty="0"/>
              <a:t> </a:t>
            </a:r>
            <a:r>
              <a:rPr lang="sv-SE" sz="2400" dirty="0" err="1"/>
              <a:t>vectors</a:t>
            </a:r>
            <a:r>
              <a:rPr lang="sv-SE" sz="2400" dirty="0"/>
              <a:t>. c) </a:t>
            </a:r>
            <a:r>
              <a:rPr lang="sv-SE" sz="2400" dirty="0" err="1"/>
              <a:t>Phase</a:t>
            </a:r>
            <a:r>
              <a:rPr lang="sv-SE" sz="2400" dirty="0"/>
              <a:t>-B </a:t>
            </a:r>
            <a:r>
              <a:rPr lang="sv-SE" sz="2400" dirty="0" err="1"/>
              <a:t>voltage</a:t>
            </a:r>
            <a:r>
              <a:rPr lang="sv-SE" sz="2400" dirty="0"/>
              <a:t> </a:t>
            </a:r>
            <a:r>
              <a:rPr lang="sv-SE" sz="2400" dirty="0" err="1"/>
              <a:t>vector</a:t>
            </a:r>
            <a:r>
              <a:rPr lang="sv-SE" sz="2400" dirty="0"/>
              <a:t> is </a:t>
            </a:r>
            <a:r>
              <a:rPr lang="sv-SE" sz="2400" dirty="0" err="1"/>
              <a:t>bigger</a:t>
            </a:r>
            <a:r>
              <a:rPr lang="sv-SE" sz="2400" dirty="0"/>
              <a:t> </a:t>
            </a:r>
            <a:r>
              <a:rPr lang="sv-SE" sz="2400" dirty="0" err="1"/>
              <a:t>than</a:t>
            </a:r>
            <a:r>
              <a:rPr lang="sv-SE" sz="2400" dirty="0"/>
              <a:t> </a:t>
            </a:r>
            <a:r>
              <a:rPr lang="sv-SE" sz="2400" dirty="0" err="1"/>
              <a:t>other</a:t>
            </a:r>
            <a:r>
              <a:rPr lang="sv-SE" sz="2400" dirty="0"/>
              <a:t> </a:t>
            </a:r>
            <a:r>
              <a:rPr lang="sv-SE" sz="2400" dirty="0" err="1"/>
              <a:t>vectors</a:t>
            </a:r>
            <a:r>
              <a:rPr lang="sv-SE" sz="2400" dirty="0"/>
              <a:t>. d) </a:t>
            </a:r>
            <a:r>
              <a:rPr lang="sv-SE" sz="2400" dirty="0" err="1"/>
              <a:t>Phase</a:t>
            </a:r>
            <a:r>
              <a:rPr lang="sv-SE" sz="2400" dirty="0"/>
              <a:t>-C </a:t>
            </a:r>
            <a:r>
              <a:rPr lang="sv-SE" sz="2400" dirty="0" err="1"/>
              <a:t>voltage</a:t>
            </a:r>
            <a:r>
              <a:rPr lang="sv-SE" sz="2400" dirty="0"/>
              <a:t> </a:t>
            </a:r>
            <a:r>
              <a:rPr lang="sv-SE" sz="2400" dirty="0" err="1"/>
              <a:t>vector</a:t>
            </a:r>
            <a:r>
              <a:rPr lang="sv-SE" sz="2400" dirty="0"/>
              <a:t> is </a:t>
            </a:r>
            <a:r>
              <a:rPr lang="sv-SE" sz="2400" dirty="0" err="1"/>
              <a:t>bigger</a:t>
            </a:r>
            <a:r>
              <a:rPr lang="sv-SE" sz="2400" dirty="0"/>
              <a:t> </a:t>
            </a:r>
            <a:r>
              <a:rPr lang="sv-SE" sz="2400" dirty="0" err="1"/>
              <a:t>than</a:t>
            </a:r>
            <a:r>
              <a:rPr lang="sv-SE" sz="2400" dirty="0"/>
              <a:t> </a:t>
            </a:r>
            <a:r>
              <a:rPr lang="sv-SE" sz="2400" dirty="0" err="1"/>
              <a:t>other</a:t>
            </a:r>
            <a:r>
              <a:rPr lang="sv-SE" sz="2400" dirty="0"/>
              <a:t> </a:t>
            </a:r>
            <a:r>
              <a:rPr lang="sv-SE" sz="2400" dirty="0" err="1"/>
              <a:t>vectors</a:t>
            </a:r>
            <a:r>
              <a:rPr lang="sv-SE" sz="2400" dirty="0"/>
              <a:t>. </a:t>
            </a:r>
            <a:endParaRPr lang="en-GB" dirty="0" smtClean="0">
              <a:latin typeface="Georgia (Body)"/>
            </a:endParaRPr>
          </a:p>
          <a:p>
            <a:pPr algn="just"/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9273253" y="26365390"/>
            <a:ext cx="11620500" cy="7858125"/>
          </a:xfrm>
          <a:prstGeom prst="rect">
            <a:avLst/>
          </a:prstGeom>
        </p:spPr>
      </p:pic>
      <p:sp>
        <p:nvSpPr>
          <p:cNvPr id="58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251114" y="22835390"/>
            <a:ext cx="9448022" cy="775914"/>
          </a:xfrm>
        </p:spPr>
        <p:txBody>
          <a:bodyPr/>
          <a:lstStyle/>
          <a:p>
            <a:pPr algn="just"/>
            <a:r>
              <a:rPr lang="en-GB" sz="2400" dirty="0" smtClean="0">
                <a:latin typeface="Georgia (Body)"/>
              </a:rPr>
              <a:t>Fig.4 : </a:t>
            </a:r>
            <a:r>
              <a:rPr lang="en-US" sz="2400" dirty="0" smtClean="0"/>
              <a:t>The </a:t>
            </a:r>
            <a:r>
              <a:rPr lang="en-US" sz="2400" dirty="0"/>
              <a:t>CMVs and their FFTs for </a:t>
            </a:r>
            <a:r>
              <a:rPr lang="en-US" sz="2400" dirty="0" smtClean="0"/>
              <a:t>two </a:t>
            </a:r>
            <a:r>
              <a:rPr lang="en-US" sz="2400" dirty="0"/>
              <a:t>modulation indices. </a:t>
            </a:r>
            <a:endParaRPr lang="en-US" sz="2400" dirty="0" smtClean="0"/>
          </a:p>
          <a:p>
            <a:pPr algn="just"/>
            <a:r>
              <a:rPr lang="en-US" sz="2400" dirty="0" smtClean="0"/>
              <a:t>a</a:t>
            </a:r>
            <a:r>
              <a:rPr lang="en-US" sz="2400" dirty="0"/>
              <a:t>) ma = 0.4. b) ma = 0.8.</a:t>
            </a:r>
            <a:endParaRPr lang="en-GB" dirty="0" smtClean="0">
              <a:latin typeface="Georgia (Body)"/>
            </a:endParaRPr>
          </a:p>
          <a:p>
            <a:pPr algn="just"/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sp>
        <p:nvSpPr>
          <p:cNvPr id="60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429923" y="11872199"/>
            <a:ext cx="632505" cy="509302"/>
          </a:xfrm>
        </p:spPr>
        <p:txBody>
          <a:bodyPr/>
          <a:lstStyle/>
          <a:p>
            <a:pPr algn="just"/>
            <a:r>
              <a:rPr lang="en-US" dirty="0" smtClean="0"/>
              <a:t>(a)</a:t>
            </a:r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sp>
        <p:nvSpPr>
          <p:cNvPr id="65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399144" y="18631272"/>
            <a:ext cx="694062" cy="509302"/>
          </a:xfrm>
        </p:spPr>
        <p:txBody>
          <a:bodyPr/>
          <a:lstStyle/>
          <a:p>
            <a:pPr algn="just"/>
            <a:r>
              <a:rPr lang="en-US" dirty="0" smtClean="0"/>
              <a:t>(b)</a:t>
            </a:r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sp>
        <p:nvSpPr>
          <p:cNvPr id="67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383546" y="28204805"/>
            <a:ext cx="9448022" cy="595306"/>
          </a:xfrm>
        </p:spPr>
        <p:txBody>
          <a:bodyPr/>
          <a:lstStyle/>
          <a:p>
            <a:pPr algn="just"/>
            <a:r>
              <a:rPr lang="en-GB" sz="2400" dirty="0" smtClean="0">
                <a:latin typeface="Georgia (Body)"/>
              </a:rPr>
              <a:t>Fig.5 : </a:t>
            </a:r>
            <a:r>
              <a:rPr lang="en-US" sz="2400" dirty="0"/>
              <a:t>Experimental setup of 2-level 3-phase inverter system</a:t>
            </a:r>
            <a:r>
              <a:rPr lang="en-US" sz="2400" dirty="0" smtClean="0"/>
              <a:t>.</a:t>
            </a:r>
            <a:endParaRPr lang="en-GB" dirty="0">
              <a:latin typeface="Georgia (Body)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/>
              </p:cNvSpPr>
              <p:nvPr>
                <p:ph type="body" sz="quarter" idx="34"/>
              </p:nvPr>
            </p:nvSpPr>
            <p:spPr>
              <a:xfrm>
                <a:off x="20176985" y="37415463"/>
                <a:ext cx="9448022" cy="834467"/>
              </a:xfrm>
            </p:spPr>
            <p:txBody>
              <a:bodyPr/>
              <a:lstStyle/>
              <a:p>
                <a:pPr algn="just"/>
                <a:r>
                  <a:rPr lang="en-GB" sz="2400" dirty="0" smtClean="0">
                    <a:latin typeface="Georgia (Body)"/>
                  </a:rPr>
                  <a:t>Fig.6 :</a:t>
                </a:r>
                <a:r>
                  <a:rPr lang="en-US" sz="2400" dirty="0" smtClean="0"/>
                  <a:t>CMVs </a:t>
                </a:r>
                <a:r>
                  <a:rPr lang="en-US" sz="2400" dirty="0"/>
                  <a:t>for </a:t>
                </a:r>
                <a:r>
                  <a:rPr lang="en-US" sz="2400" dirty="0" smtClean="0"/>
                  <a:t>two modulation indices.</a:t>
                </a:r>
                <a:r>
                  <a:rPr lang="en-US" sz="2400" dirty="0"/>
                  <a:t> a) ma = 0.4. b) ma = 0.8.</a:t>
                </a:r>
                <a:endParaRPr lang="en-GB" sz="2400" dirty="0">
                  <a:latin typeface="Georgia (Body)"/>
                </a:endParaRPr>
              </a:p>
              <a:p>
                <a:pPr algn="ctr"/>
                <a:r>
                  <a:rPr lang="en-US" sz="2400" dirty="0" smtClean="0"/>
                  <a:t> </a:t>
                </a:r>
                <a:r>
                  <a:rPr lang="en-US" sz="2400" dirty="0"/>
                  <a:t>(at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=50 </m:t>
                    </m:r>
                  </m:oMath>
                </a14:m>
                <a:r>
                  <a:rPr lang="en-US" sz="2400" dirty="0" smtClean="0"/>
                  <a:t>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sv-S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sv-SE" sz="2400" b="0" i="1" smtClean="0">
                        <a:latin typeface="Cambria Math" panose="02040503050406030204" pitchFamily="18" charset="0"/>
                      </a:rPr>
                      <m:t>𝑘𝐻𝑧</m:t>
                    </m:r>
                    <m:r>
                      <a:rPr lang="sv-SE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/>
                  <a:t>). </a:t>
                </a:r>
                <a:endParaRPr lang="en-GB" dirty="0">
                  <a:latin typeface="Georgia (Body)"/>
                </a:endParaRPr>
              </a:p>
            </p:txBody>
          </p:sp>
        </mc:Choice>
        <mc:Fallback>
          <p:sp>
            <p:nvSpPr>
              <p:cNvPr id="69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4"/>
              </p:nvPr>
            </p:nvSpPr>
            <p:spPr>
              <a:xfrm>
                <a:off x="20176985" y="37415463"/>
                <a:ext cx="9448022" cy="834467"/>
              </a:xfrm>
              <a:blipFill>
                <a:blip r:embed="rId17"/>
                <a:stretch>
                  <a:fillRect l="-1032" t="-10219" b="-656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9925524" y="30470364"/>
            <a:ext cx="916044" cy="450123"/>
          </a:xfrm>
        </p:spPr>
        <p:txBody>
          <a:bodyPr/>
          <a:lstStyle/>
          <a:p>
            <a:pPr algn="just"/>
            <a:r>
              <a:rPr lang="en-US" dirty="0" smtClean="0"/>
              <a:t>(a)</a:t>
            </a:r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sp>
        <p:nvSpPr>
          <p:cNvPr id="71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9856966" y="34731278"/>
            <a:ext cx="1005195" cy="450123"/>
          </a:xfrm>
        </p:spPr>
        <p:txBody>
          <a:bodyPr/>
          <a:lstStyle/>
          <a:p>
            <a:pPr algn="just"/>
            <a:r>
              <a:rPr lang="en-US" dirty="0" smtClean="0"/>
              <a:t>(b)</a:t>
            </a:r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18"/>
          <a:srcRect t="9589"/>
          <a:stretch/>
        </p:blipFill>
        <p:spPr>
          <a:xfrm>
            <a:off x="20875991" y="24628767"/>
            <a:ext cx="8482987" cy="34597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856" y="10521956"/>
            <a:ext cx="7706058" cy="487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0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ma">
  <a:themeElements>
    <a:clrScheme name="KTH">
      <a:dk1>
        <a:srgbClr val="000000"/>
      </a:dk1>
      <a:lt1>
        <a:srgbClr val="FFFFFF"/>
      </a:lt1>
      <a:dk2>
        <a:srgbClr val="000061"/>
      </a:dk2>
      <a:lt2>
        <a:srgbClr val="EBE5E0"/>
      </a:lt2>
      <a:accent1>
        <a:srgbClr val="004791"/>
      </a:accent1>
      <a:accent2>
        <a:srgbClr val="6198D2"/>
      </a:accent2>
      <a:accent3>
        <a:srgbClr val="000061"/>
      </a:accent3>
      <a:accent4>
        <a:srgbClr val="DEF0FF"/>
      </a:accent4>
      <a:accent5>
        <a:srgbClr val="EBE5DF"/>
      </a:accent5>
      <a:accent6>
        <a:srgbClr val="0028ED"/>
      </a:accent6>
      <a:hlink>
        <a:srgbClr val="3878C2"/>
      </a:hlink>
      <a:folHlink>
        <a:srgbClr val="004691"/>
      </a:folHlink>
    </a:clrScheme>
    <a:fontScheme name="Office">
      <a:majorFont>
        <a:latin typeface="Figtree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Sand">
      <a:srgbClr val="EBE5E0"/>
    </a:custClr>
    <a:custClr name="KTH blue">
      <a:srgbClr val="004791"/>
    </a:custClr>
    <a:custClr name="Sky blue">
      <a:srgbClr val="6298D2"/>
    </a:custClr>
    <a:custClr name="Navy blue">
      <a:srgbClr val="000061"/>
    </a:custClr>
    <a:custClr name="Light blue">
      <a:srgbClr val="DEF0FF"/>
    </a:custClr>
    <a:custClr name="Digital blue">
      <a:srgbClr val="0029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Dark green">
      <a:srgbClr val="0D4A21"/>
    </a:custClr>
    <a:custClr name="Dark turquoise">
      <a:srgbClr val="1C434C"/>
    </a:custClr>
    <a:custClr name="Dark brick">
      <a:srgbClr val="78001A"/>
    </a:custClr>
    <a:custClr name="Dark yellow">
      <a:srgbClr val="A65900"/>
    </a:custClr>
    <a:custClr name="Dark grey">
      <a:srgbClr val="323232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en">
      <a:srgbClr val="4DA060"/>
    </a:custClr>
    <a:custClr name="Turquoise">
      <a:srgbClr val="339C9C"/>
    </a:custClr>
    <a:custClr name="Brick">
      <a:srgbClr val="E86A58"/>
    </a:custClr>
    <a:custClr name="Yellow">
      <a:srgbClr val="FFBE00"/>
    </a:custClr>
    <a:custClr name="Grey">
      <a:srgbClr val="A5A5A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Light green">
      <a:srgbClr val="C7EBBA"/>
    </a:custClr>
    <a:custClr name="Light turquoise">
      <a:srgbClr val="B2E0E0"/>
    </a:custClr>
    <a:custClr name="Light brick">
      <a:srgbClr val="FFCCC4"/>
    </a:custClr>
    <a:custClr name="Light yellow">
      <a:srgbClr val="FFF0B0"/>
    </a:custClr>
    <a:custClr name="Light grey">
      <a:srgbClr val="E6E6E6"/>
    </a:custClr>
  </a:custClrLst>
  <a:extLst>
    <a:ext uri="{05A4C25C-085E-4340-85A3-A5531E510DB2}">
      <thm15:themeFamily xmlns:thm15="http://schemas.microsoft.com/office/thememl/2012/main" name="KTH_presentation_template" id="{849AC4DD-E1C2-5246-BA3B-97A717A592CC}" vid="{53E22E81-CC6B-DF47-AF43-FCD19FCAEE8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Office-tema</Template>
  <TotalTime>580</TotalTime>
  <Words>581</Words>
  <Application>Microsoft Office PowerPoint</Application>
  <PresentationFormat>Custom</PresentationFormat>
  <Paragraphs>88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Georgia</vt:lpstr>
      <vt:lpstr>Georgia (Body)</vt:lpstr>
      <vt:lpstr>Arial</vt:lpstr>
      <vt:lpstr>Calibri</vt:lpstr>
      <vt:lpstr>Figtree</vt:lpstr>
      <vt:lpstr>Cambria Math</vt:lpstr>
      <vt:lpstr>Office-tema</vt:lpstr>
      <vt:lpstr>Common-Mode Voltage Reduction in Two-Level Inverters by Introducing Adaptive Carrier-Phase-Shift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Anna Bertilsson</dc:creator>
  <cp:lastModifiedBy>Enes Ayaz</cp:lastModifiedBy>
  <cp:revision>57</cp:revision>
  <cp:lastPrinted>2025-08-14T11:50:48Z</cp:lastPrinted>
  <dcterms:created xsi:type="dcterms:W3CDTF">2023-08-29T11:38:46Z</dcterms:created>
  <dcterms:modified xsi:type="dcterms:W3CDTF">2025-08-14T12:12:32Z</dcterms:modified>
</cp:coreProperties>
</file>