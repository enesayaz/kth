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3"/>
  </p:notesMasterIdLst>
  <p:sldIdLst>
    <p:sldId id="262" r:id="rId2"/>
  </p:sldIdLst>
  <p:sldSz cx="30275213" cy="42803763"/>
  <p:notesSz cx="7104063" cy="10234613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Figtree" panose="020B0604020202020204" charset="0"/>
      <p:regular r:id="rId12"/>
      <p:bold r:id="rId13"/>
      <p:italic r:id="rId14"/>
      <p:boldItalic r:id="rId15"/>
    </p:embeddedFont>
    <p:embeddedFont>
      <p:font typeface="Cambria Math" panose="02040503050406030204" pitchFamily="18" charset="0"/>
      <p:regular r:id="rId16"/>
    </p:embeddedFont>
  </p:embeddedFontLst>
  <p:defaultTextStyle>
    <a:defPPr>
      <a:defRPr lang="sv-SE"/>
    </a:defPPr>
    <a:lvl1pPr marL="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1pPr>
    <a:lvl2pPr marL="1753840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2pPr>
    <a:lvl3pPr marL="350768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3pPr>
    <a:lvl4pPr marL="526152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4pPr>
    <a:lvl5pPr marL="7015361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5pPr>
    <a:lvl6pPr marL="876920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6pPr>
    <a:lvl7pPr marL="1052304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7pPr>
    <a:lvl8pPr marL="12276882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8pPr>
    <a:lvl9pPr marL="14030723" algn="l" defTabSz="3507681" rtl="0" eaLnBrk="1" latinLnBrk="0" hangingPunct="1">
      <a:defRPr sz="69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75"/>
    <p:restoredTop sz="95902" autoAdjust="0"/>
  </p:normalViewPr>
  <p:slideViewPr>
    <p:cSldViewPr snapToGrid="0">
      <p:cViewPr>
        <p:scale>
          <a:sx n="33" d="100"/>
          <a:sy n="33" d="100"/>
        </p:scale>
        <p:origin x="3948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CCA98BE-A709-2147-8309-29E5AC3B2C96}" type="datetimeFigureOut">
              <a:rPr lang="sv-SE" smtClean="0"/>
              <a:t>2025-08-13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279525"/>
            <a:ext cx="24431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2752B342-762B-CA45-8C2D-6DAF9087E7B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36762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1pPr>
    <a:lvl2pPr marL="54594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2pPr>
    <a:lvl3pPr marL="109188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3pPr>
    <a:lvl4pPr marL="163782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4pPr>
    <a:lvl5pPr marL="218377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5pPr>
    <a:lvl6pPr marL="2729713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6pPr>
    <a:lvl7pPr marL="3275655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7pPr>
    <a:lvl8pPr marL="3821598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8pPr>
    <a:lvl9pPr marL="4367540" algn="l" defTabSz="1091885" rtl="0" eaLnBrk="1" latinLnBrk="0" hangingPunct="1">
      <a:defRPr sz="14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Bild 27">
            <a:extLst>
              <a:ext uri="{FF2B5EF4-FFF2-40B4-BE49-F238E27FC236}">
                <a16:creationId xmlns:a16="http://schemas.microsoft.com/office/drawing/2014/main" id="{35F7D52C-5E9D-1A31-2536-E6D0E7E6A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2"/>
            <a:ext cx="30275213" cy="4280979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8798893C-4CC2-2B2F-4FC8-5E0C5AE0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6416148"/>
            <a:ext cx="23639995" cy="3429662"/>
          </a:xfrm>
        </p:spPr>
        <p:txBody>
          <a:bodyPr/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EDDDBB2-E3A5-184D-9122-109D1DA6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3BABD-A396-D149-B7BF-FFF925773BDF}" type="datetime1">
              <a:rPr lang="sv-SE" smtClean="0"/>
              <a:t>2025-08-13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877E5B5-9B3B-1F13-E51F-88E6C87DC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 dirty="0"/>
              <a:t>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endParaRPr lang="sv-SE" dirty="0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A8432B03-1FFF-FE82-834F-9C4FBE4D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6C8F4-20CD-364A-8A8E-DE130115B178}" type="slidenum">
              <a:rPr lang="sv-SE" smtClean="0"/>
              <a:t>‹#›</a:t>
            </a:fld>
            <a:endParaRPr lang="sv-SE"/>
          </a:p>
        </p:txBody>
      </p:sp>
      <p:sp>
        <p:nvSpPr>
          <p:cNvPr id="8" name="Platshållare för text 7">
            <a:extLst>
              <a:ext uri="{FF2B5EF4-FFF2-40B4-BE49-F238E27FC236}">
                <a16:creationId xmlns:a16="http://schemas.microsoft.com/office/drawing/2014/main" id="{179C0AC6-B242-AC31-D406-A20DFA9AC8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16657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11" name="Platshållare för text 9">
            <a:extLst>
              <a:ext uri="{FF2B5EF4-FFF2-40B4-BE49-F238E27FC236}">
                <a16:creationId xmlns:a16="http://schemas.microsoft.com/office/drawing/2014/main" id="{6942C49E-DD69-761D-E64A-D2DF46B0BB6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16656" y="11842969"/>
            <a:ext cx="15471370" cy="4010486"/>
          </a:xfrm>
        </p:spPr>
        <p:txBody>
          <a:bodyPr numCol="1"/>
          <a:lstStyle>
            <a:lvl1pPr marL="0" indent="0">
              <a:buNone/>
              <a:defRPr sz="480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/>
              <a:t>Intro text</a:t>
            </a:r>
          </a:p>
        </p:txBody>
      </p:sp>
      <p:pic>
        <p:nvPicPr>
          <p:cNvPr id="12" name="Bild 11">
            <a:extLst>
              <a:ext uri="{FF2B5EF4-FFF2-40B4-BE49-F238E27FC236}">
                <a16:creationId xmlns:a16="http://schemas.microsoft.com/office/drawing/2014/main" id="{D62467FA-9342-6093-AF83-C0B258945D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16145" y="1532577"/>
            <a:ext cx="3238975" cy="3587177"/>
          </a:xfrm>
          <a:prstGeom prst="rect">
            <a:avLst/>
          </a:prstGeom>
        </p:spPr>
      </p:pic>
      <p:sp>
        <p:nvSpPr>
          <p:cNvPr id="13" name="Platshållare för text 7">
            <a:extLst>
              <a:ext uri="{FF2B5EF4-FFF2-40B4-BE49-F238E27FC236}">
                <a16:creationId xmlns:a16="http://schemas.microsoft.com/office/drawing/2014/main" id="{8B405DB5-B30B-E7B4-8D74-262FEB6F23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653905" y="17305130"/>
            <a:ext cx="7302745" cy="3429776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4" name="Platshållare för text 7">
            <a:extLst>
              <a:ext uri="{FF2B5EF4-FFF2-40B4-BE49-F238E27FC236}">
                <a16:creationId xmlns:a16="http://schemas.microsoft.com/office/drawing/2014/main" id="{20A220FE-DFF7-0A90-6E59-5FC8A85C79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653905" y="16618989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Contact</a:t>
            </a:r>
          </a:p>
        </p:txBody>
      </p:sp>
      <p:sp>
        <p:nvSpPr>
          <p:cNvPr id="15" name="Platshållare för text 7">
            <a:extLst>
              <a:ext uri="{FF2B5EF4-FFF2-40B4-BE49-F238E27FC236}">
                <a16:creationId xmlns:a16="http://schemas.microsoft.com/office/drawing/2014/main" id="{8B3239DE-709D-255A-4DF7-043102363C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653905" y="22430612"/>
            <a:ext cx="7302745" cy="6617513"/>
          </a:xfrm>
        </p:spPr>
        <p:txBody>
          <a:bodyPr numCol="1"/>
          <a:lstStyle>
            <a:lvl1pPr marL="0" indent="0">
              <a:buNone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6" name="Platshållare för text 7">
            <a:extLst>
              <a:ext uri="{FF2B5EF4-FFF2-40B4-BE49-F238E27FC236}">
                <a16:creationId xmlns:a16="http://schemas.microsoft.com/office/drawing/2014/main" id="{9AE49C5E-4F3D-C6B4-8297-786A105D66D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53905" y="21744471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Footnotes</a:t>
            </a:r>
            <a:endParaRPr lang="sv-SE" dirty="0"/>
          </a:p>
        </p:txBody>
      </p:sp>
      <p:sp>
        <p:nvSpPr>
          <p:cNvPr id="17" name="Platshållare för text 7">
            <a:extLst>
              <a:ext uri="{FF2B5EF4-FFF2-40B4-BE49-F238E27FC236}">
                <a16:creationId xmlns:a16="http://schemas.microsoft.com/office/drawing/2014/main" id="{52EA9896-50D9-1CCA-2B8C-FF36F965A1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653905" y="30740798"/>
            <a:ext cx="7302745" cy="9122176"/>
          </a:xfrm>
        </p:spPr>
        <p:txBody>
          <a:bodyPr numCol="1"/>
          <a:lstStyle>
            <a:lvl1pPr marL="234900" indent="-234900">
              <a:buClr>
                <a:schemeClr val="accent1"/>
              </a:buClr>
              <a:buSzPct val="120000"/>
              <a:buFont typeface="Arial" panose="020B0604020202020204" pitchFamily="34" charset="0"/>
              <a:buChar char="•"/>
              <a:defRPr sz="28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</p:txBody>
      </p:sp>
      <p:sp>
        <p:nvSpPr>
          <p:cNvPr id="18" name="Platshållare för text 7">
            <a:extLst>
              <a:ext uri="{FF2B5EF4-FFF2-40B4-BE49-F238E27FC236}">
                <a16:creationId xmlns:a16="http://schemas.microsoft.com/office/drawing/2014/main" id="{0759D9FB-18D5-FE05-2C39-0ECD1F2A74A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653905" y="30054657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 err="1"/>
              <a:t>References</a:t>
            </a:r>
            <a:endParaRPr lang="sv-SE" dirty="0"/>
          </a:p>
        </p:txBody>
      </p:sp>
      <p:sp>
        <p:nvSpPr>
          <p:cNvPr id="19" name="Platshållare för text 7">
            <a:extLst>
              <a:ext uri="{FF2B5EF4-FFF2-40B4-BE49-F238E27FC236}">
                <a16:creationId xmlns:a16="http://schemas.microsoft.com/office/drawing/2014/main" id="{2501C081-1B0C-F580-BC4F-78317E33B9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653905" y="11842968"/>
            <a:ext cx="7302745" cy="582440"/>
          </a:xfrm>
        </p:spPr>
        <p:txBody>
          <a:bodyPr numCol="1"/>
          <a:lstStyle>
            <a:lvl1pPr marL="0" indent="0">
              <a:buNone/>
              <a:defRPr sz="2400" b="1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91440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137160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82880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In </a:t>
            </a:r>
            <a:r>
              <a:rPr lang="sv-SE" dirty="0" err="1"/>
              <a:t>cooperation</a:t>
            </a:r>
            <a:r>
              <a:rPr lang="sv-SE" dirty="0"/>
              <a:t> </a:t>
            </a:r>
            <a:r>
              <a:rPr lang="sv-SE" dirty="0" err="1"/>
              <a:t>with</a:t>
            </a:r>
            <a:endParaRPr lang="sv-SE" dirty="0"/>
          </a:p>
        </p:txBody>
      </p:sp>
      <p:sp>
        <p:nvSpPr>
          <p:cNvPr id="21" name="Platshållare för innehåll 20">
            <a:extLst>
              <a:ext uri="{FF2B5EF4-FFF2-40B4-BE49-F238E27FC236}">
                <a16:creationId xmlns:a16="http://schemas.microsoft.com/office/drawing/2014/main" id="{47B198EE-6127-3DAB-C818-984F07F626CE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9653904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1</a:t>
            </a:r>
          </a:p>
        </p:txBody>
      </p:sp>
      <p:sp>
        <p:nvSpPr>
          <p:cNvPr id="24" name="Platshållare för innehåll 20">
            <a:extLst>
              <a:ext uri="{FF2B5EF4-FFF2-40B4-BE49-F238E27FC236}">
                <a16:creationId xmlns:a16="http://schemas.microsoft.com/office/drawing/2014/main" id="{58B0B077-AAB9-3571-6CB5-A4998D5DFBF1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23462351" y="1242568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2</a:t>
            </a:r>
          </a:p>
        </p:txBody>
      </p:sp>
      <p:sp>
        <p:nvSpPr>
          <p:cNvPr id="25" name="Platshållare för innehåll 20">
            <a:extLst>
              <a:ext uri="{FF2B5EF4-FFF2-40B4-BE49-F238E27FC236}">
                <a16:creationId xmlns:a16="http://schemas.microsoft.com/office/drawing/2014/main" id="{640292F8-52FF-2D08-F6A1-84B86135BDF5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19653904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3</a:t>
            </a:r>
          </a:p>
        </p:txBody>
      </p:sp>
      <p:sp>
        <p:nvSpPr>
          <p:cNvPr id="26" name="Platshållare för innehåll 20">
            <a:extLst>
              <a:ext uri="{FF2B5EF4-FFF2-40B4-BE49-F238E27FC236}">
                <a16:creationId xmlns:a16="http://schemas.microsoft.com/office/drawing/2014/main" id="{3C278CC1-F5F3-8C46-B04E-0E8177D67F0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23462351" y="14367152"/>
            <a:ext cx="3494299" cy="1475248"/>
          </a:xfrm>
        </p:spPr>
        <p:txBody>
          <a:bodyPr numCol="1" anchor="ctr"/>
          <a:lstStyle>
            <a:lvl1pPr marL="0" indent="0" algn="ctr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sv-SE" dirty="0"/>
              <a:t>Logo 4</a:t>
            </a:r>
          </a:p>
        </p:txBody>
      </p:sp>
      <p:sp>
        <p:nvSpPr>
          <p:cNvPr id="3" name="Platshållare för text 7">
            <a:extLst>
              <a:ext uri="{FF2B5EF4-FFF2-40B4-BE49-F238E27FC236}">
                <a16:creationId xmlns:a16="http://schemas.microsoft.com/office/drawing/2014/main" id="{A21B330D-708C-2364-BA2A-65DE2B91209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484258" y="16618988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7" name="Platshållare för bild 6">
            <a:extLst>
              <a:ext uri="{FF2B5EF4-FFF2-40B4-BE49-F238E27FC236}">
                <a16:creationId xmlns:a16="http://schemas.microsoft.com/office/drawing/2014/main" id="{9B13962B-9836-06B2-D025-CF631ABC605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1574031" y="29572102"/>
            <a:ext cx="15471370" cy="10290872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9" name="Platshållare för bild 6">
            <a:extLst>
              <a:ext uri="{FF2B5EF4-FFF2-40B4-BE49-F238E27FC236}">
                <a16:creationId xmlns:a16="http://schemas.microsoft.com/office/drawing/2014/main" id="{1BE43E48-357E-0792-596F-C79660334AC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574031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0" name="Platshållare för bild 6">
            <a:extLst>
              <a:ext uri="{FF2B5EF4-FFF2-40B4-BE49-F238E27FC236}">
                <a16:creationId xmlns:a16="http://schemas.microsoft.com/office/drawing/2014/main" id="{F35809F1-7E14-8E87-6256-7860BA36A45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39742656" y="20385441"/>
            <a:ext cx="7302745" cy="8309494"/>
          </a:xfrm>
        </p:spPr>
        <p:txBody>
          <a:bodyPr numCol="1" anchor="ctr"/>
          <a:lstStyle>
            <a:lvl1pPr marL="0" indent="0" algn="ctr">
              <a:buNone/>
              <a:defRPr/>
            </a:lvl1pPr>
          </a:lstStyle>
          <a:p>
            <a:endParaRPr lang="sv-SE"/>
          </a:p>
        </p:txBody>
      </p:sp>
      <p:sp>
        <p:nvSpPr>
          <p:cNvPr id="22" name="Platshållare för text 7">
            <a:extLst>
              <a:ext uri="{FF2B5EF4-FFF2-40B4-BE49-F238E27FC236}">
                <a16:creationId xmlns:a16="http://schemas.microsoft.com/office/drawing/2014/main" id="{2741B237-7D42-4DB8-4796-06D3320F46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1574031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3" name="Platshållare för text 7">
            <a:extLst>
              <a:ext uri="{FF2B5EF4-FFF2-40B4-BE49-F238E27FC236}">
                <a16:creationId xmlns:a16="http://schemas.microsoft.com/office/drawing/2014/main" id="{A0E6E946-B030-2454-4AC4-D4243D389FD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9742655" y="7432326"/>
            <a:ext cx="7302745" cy="1207594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E12458C9-FFEF-2BED-E9DA-B786C96EAEE5}"/>
              </a:ext>
            </a:extLst>
          </p:cNvPr>
          <p:cNvSpPr txBox="1"/>
          <p:nvPr userDrawn="1"/>
        </p:nvSpPr>
        <p:spPr>
          <a:xfrm>
            <a:off x="31574031" y="5251029"/>
            <a:ext cx="15471369" cy="1465695"/>
          </a:xfrm>
          <a:prstGeom prst="rect">
            <a:avLst/>
          </a:prstGeom>
          <a:solidFill>
            <a:schemeClr val="accent4"/>
          </a:solidFill>
        </p:spPr>
        <p:txBody>
          <a:bodyPr wrap="square" lIns="360000" tIns="360000" rIns="360000" bIns="360000" rtlCol="0">
            <a:spAutoFit/>
          </a:bodyPr>
          <a:lstStyle/>
          <a:p>
            <a:r>
              <a:rPr lang="sv-SE" sz="4800" dirty="0" err="1">
                <a:solidFill>
                  <a:schemeClr val="accent6"/>
                </a:solidFill>
                <a:latin typeface="+mj-lt"/>
              </a:rPr>
              <a:t>Move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in on the page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when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 </a:t>
            </a:r>
            <a:r>
              <a:rPr lang="sv-SE" sz="4800" dirty="0" err="1">
                <a:solidFill>
                  <a:schemeClr val="accent6"/>
                </a:solidFill>
                <a:latin typeface="+mj-lt"/>
              </a:rPr>
              <a:t>needed</a:t>
            </a:r>
            <a:r>
              <a:rPr lang="sv-SE" sz="4800" dirty="0">
                <a:solidFill>
                  <a:schemeClr val="accent6"/>
                </a:solidFill>
                <a:latin typeface="+mj-lt"/>
              </a:rPr>
              <a:t>:</a:t>
            </a:r>
          </a:p>
        </p:txBody>
      </p:sp>
      <p:sp>
        <p:nvSpPr>
          <p:cNvPr id="29" name="Platshållare för text 9">
            <a:extLst>
              <a:ext uri="{FF2B5EF4-FFF2-40B4-BE49-F238E27FC236}">
                <a16:creationId xmlns:a16="http://schemas.microsoft.com/office/drawing/2014/main" id="{408A9226-1691-5C76-4E7F-DC92D26FC2E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16657" y="10015151"/>
            <a:ext cx="23639993" cy="1400966"/>
          </a:xfrm>
        </p:spPr>
        <p:txBody>
          <a:bodyPr numCol="1"/>
          <a:lstStyle>
            <a:lvl1pPr marL="0" indent="0">
              <a:buNone/>
              <a:defRPr sz="44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None/>
              <a:defRPr>
                <a:latin typeface="+mj-lt"/>
              </a:defRPr>
            </a:lvl5pPr>
          </a:lstStyle>
          <a:p>
            <a:pPr lvl="0"/>
            <a:r>
              <a:rPr lang="sv-SE" dirty="0" err="1"/>
              <a:t>Supervised</a:t>
            </a:r>
            <a:r>
              <a:rPr lang="sv-SE" dirty="0"/>
              <a:t> by </a:t>
            </a:r>
            <a:r>
              <a:rPr lang="sv-SE" dirty="0" err="1"/>
              <a:t>Name</a:t>
            </a:r>
            <a:r>
              <a:rPr lang="sv-SE" dirty="0"/>
              <a:t> </a:t>
            </a:r>
            <a:r>
              <a:rPr lang="sv-SE" dirty="0" err="1"/>
              <a:t>Surname</a:t>
            </a:r>
            <a:endParaRPr lang="sv-SE" dirty="0"/>
          </a:p>
        </p:txBody>
      </p:sp>
      <p:sp>
        <p:nvSpPr>
          <p:cNvPr id="10" name="Platshållare för text 7">
            <a:extLst>
              <a:ext uri="{FF2B5EF4-FFF2-40B4-BE49-F238E27FC236}">
                <a16:creationId xmlns:a16="http://schemas.microsoft.com/office/drawing/2014/main" id="{450BA97F-FB9E-402C-EAFA-BFD417D6F47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16657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0" name="Platshållare för text 7">
            <a:extLst>
              <a:ext uri="{FF2B5EF4-FFF2-40B4-BE49-F238E27FC236}">
                <a16:creationId xmlns:a16="http://schemas.microsoft.com/office/drawing/2014/main" id="{18C96E1C-C109-2D58-85C2-B888BBA1E27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1484258" y="28578523"/>
            <a:ext cx="7302745" cy="11284451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31" name="Platshållare för text 7">
            <a:extLst>
              <a:ext uri="{FF2B5EF4-FFF2-40B4-BE49-F238E27FC236}">
                <a16:creationId xmlns:a16="http://schemas.microsoft.com/office/drawing/2014/main" id="{AFC107AA-6782-8282-8277-D9B6166EEF0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1574031" y="40718496"/>
            <a:ext cx="8683570" cy="523971"/>
          </a:xfrm>
        </p:spPr>
        <p:txBody>
          <a:bodyPr tIns="144000" numCol="1">
            <a:spAutoFit/>
          </a:bodyPr>
          <a:lstStyle>
            <a:lvl1pPr marL="0" indent="0">
              <a:buNone/>
              <a:defRPr sz="2400" b="0" i="1">
                <a:solidFill>
                  <a:schemeClr val="tx2"/>
                </a:solidFill>
                <a:latin typeface="+mj-lt"/>
              </a:defRPr>
            </a:lvl1pPr>
            <a:lvl2pPr marL="320040" indent="0">
              <a:buNone/>
              <a:defRPr b="1">
                <a:solidFill>
                  <a:schemeClr val="tx2"/>
                </a:solidFill>
                <a:latin typeface="+mj-lt"/>
              </a:defRPr>
            </a:lvl2pPr>
            <a:lvl3pPr marL="640080" indent="0">
              <a:buNone/>
              <a:defRPr b="1">
                <a:solidFill>
                  <a:schemeClr val="tx2"/>
                </a:solidFill>
                <a:latin typeface="+mj-lt"/>
              </a:defRPr>
            </a:lvl3pPr>
            <a:lvl4pPr marL="960120" indent="0">
              <a:buNone/>
              <a:defRPr b="1">
                <a:solidFill>
                  <a:schemeClr val="tx2"/>
                </a:solidFill>
                <a:latin typeface="+mj-lt"/>
              </a:defRPr>
            </a:lvl4pPr>
            <a:lvl5pPr marL="1280160" indent="0">
              <a:buNone/>
              <a:defRPr b="1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sv-SE" dirty="0"/>
              <a:t>Image </a:t>
            </a:r>
            <a:r>
              <a:rPr lang="sv-SE" dirty="0" err="1"/>
              <a:t>caption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2178780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220414E7-5508-776E-6BBC-4EE50480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6656" y="5829300"/>
            <a:ext cx="23639995" cy="3164832"/>
          </a:xfrm>
          <a:prstGeom prst="rect">
            <a:avLst/>
          </a:prstGeom>
        </p:spPr>
        <p:txBody>
          <a:bodyPr vert="horz" lIns="91440" tIns="108000" rIns="91440" bIns="45720" rtlCol="0" anchor="t">
            <a:noAutofit/>
          </a:bodyPr>
          <a:lstStyle/>
          <a:p>
            <a:r>
              <a:rPr lang="sv-SE" dirty="0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2006EF76-9662-2CD9-346E-23511E804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6656" y="12423795"/>
            <a:ext cx="23639995" cy="25737051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Autofit/>
          </a:bodyPr>
          <a:lstStyle/>
          <a:p>
            <a:pPr lvl="0"/>
            <a:r>
              <a:rPr lang="sv-SE" dirty="0"/>
              <a:t>Klicka här för att ändra format på bakgrundstexten</a:t>
            </a:r>
          </a:p>
          <a:p>
            <a:pPr lvl="1"/>
            <a:r>
              <a:rPr lang="sv-SE" dirty="0"/>
              <a:t>Nivå två</a:t>
            </a:r>
          </a:p>
          <a:p>
            <a:pPr lvl="2"/>
            <a:r>
              <a:rPr lang="sv-SE" dirty="0"/>
              <a:t>Nivå tre</a:t>
            </a:r>
          </a:p>
          <a:p>
            <a:pPr lvl="3"/>
            <a:r>
              <a:rPr lang="sv-SE" dirty="0"/>
              <a:t>Nivå fyra</a:t>
            </a:r>
          </a:p>
          <a:p>
            <a:pPr lvl="4"/>
            <a:r>
              <a:rPr lang="sv-SE" dirty="0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E3A2378-EA0B-2CB0-A3C0-B0181DFC3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16656" y="40980482"/>
            <a:ext cx="6060328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27D4B41D-E5F6-0F43-A23C-D24AA0869C0B}" type="datetime1">
              <a:rPr lang="sv-SE" smtClean="0"/>
              <a:pPr/>
              <a:t>2025-08-13</a:t>
            </a:fld>
            <a:endParaRPr lang="sv-SE" dirty="0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CA2E8D-AD94-B894-C4F1-B88C763BA3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026690" y="40980482"/>
            <a:ext cx="10217885" cy="6100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sv-SE" dirty="0"/>
              <a:t>· KTH Royal </a:t>
            </a:r>
            <a:r>
              <a:rPr lang="sv-SE" dirty="0" err="1"/>
              <a:t>Institute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Technology</a:t>
            </a:r>
            <a:r>
              <a:rPr lang="sv-SE" dirty="0"/>
              <a:t> ·</a:t>
            </a:r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45617BD-973D-B163-E4ED-D245FDF0B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973183" y="40980489"/>
            <a:ext cx="4983467" cy="6100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accent2"/>
                </a:solidFill>
                <a:latin typeface="+mj-lt"/>
              </a:defRPr>
            </a:lvl1pPr>
          </a:lstStyle>
          <a:p>
            <a:fld id="{B716C8F4-20CD-364A-8A8E-DE130115B178}" type="slidenum">
              <a:rPr lang="sv-SE" smtClean="0"/>
              <a:pPr/>
              <a:t>‹#›</a:t>
            </a:fld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11836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12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19071" userDrawn="1">
          <p15:clr>
            <a:srgbClr val="F26B43"/>
          </p15:clr>
        </p15:guide>
        <p15:guide id="3" pos="2089" userDrawn="1">
          <p15:clr>
            <a:srgbClr val="F26B43"/>
          </p15:clr>
        </p15:guide>
        <p15:guide id="4" pos="4117" userDrawn="1">
          <p15:clr>
            <a:srgbClr val="F26B43"/>
          </p15:clr>
        </p15:guide>
        <p15:guide id="5" pos="4661" userDrawn="1">
          <p15:clr>
            <a:srgbClr val="F26B43"/>
          </p15:clr>
        </p15:guide>
        <p15:guide id="6" pos="6689" userDrawn="1">
          <p15:clr>
            <a:srgbClr val="F26B43"/>
          </p15:clr>
        </p15:guide>
        <p15:guide id="7" pos="7235" userDrawn="1">
          <p15:clr>
            <a:srgbClr val="F26B43"/>
          </p15:clr>
        </p15:guide>
        <p15:guide id="8" pos="9263" userDrawn="1">
          <p15:clr>
            <a:srgbClr val="F26B43"/>
          </p15:clr>
        </p15:guide>
        <p15:guide id="9" pos="9807" userDrawn="1">
          <p15:clr>
            <a:srgbClr val="F26B43"/>
          </p15:clr>
        </p15:guide>
        <p15:guide id="10" pos="11835" userDrawn="1">
          <p15:clr>
            <a:srgbClr val="F26B43"/>
          </p15:clr>
        </p15:guide>
        <p15:guide id="11" pos="12380" userDrawn="1">
          <p15:clr>
            <a:srgbClr val="F26B43"/>
          </p15:clr>
        </p15:guide>
        <p15:guide id="12" pos="14408" userDrawn="1">
          <p15:clr>
            <a:srgbClr val="F26B43"/>
          </p15:clr>
        </p15:guide>
        <p15:guide id="13" pos="14953" userDrawn="1">
          <p15:clr>
            <a:srgbClr val="F26B43"/>
          </p15:clr>
        </p15:guide>
        <p15:guide id="14" pos="16981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3505" userDrawn="1">
          <p15:clr>
            <a:srgbClr val="F26B43"/>
          </p15:clr>
        </p15:guide>
        <p15:guide id="18" orient="horz" pos="5666" userDrawn="1">
          <p15:clr>
            <a:srgbClr val="F26B43"/>
          </p15:clr>
        </p15:guide>
        <p15:guide id="19" orient="horz" pos="7826" userDrawn="1">
          <p15:clr>
            <a:srgbClr val="F26B43"/>
          </p15:clr>
        </p15:guide>
        <p15:guide id="20" orient="horz" pos="9986" userDrawn="1">
          <p15:clr>
            <a:srgbClr val="F26B43"/>
          </p15:clr>
        </p15:guide>
        <p15:guide id="21" orient="horz" pos="12147" userDrawn="1">
          <p15:clr>
            <a:srgbClr val="F26B43"/>
          </p15:clr>
        </p15:guide>
        <p15:guide id="22" orient="horz" pos="14307" userDrawn="1">
          <p15:clr>
            <a:srgbClr val="F26B43"/>
          </p15:clr>
        </p15:guide>
        <p15:guide id="23" orient="horz" pos="16468" userDrawn="1">
          <p15:clr>
            <a:srgbClr val="F26B43"/>
          </p15:clr>
        </p15:guide>
        <p15:guide id="24" orient="horz" pos="18628" userDrawn="1">
          <p15:clr>
            <a:srgbClr val="F26B43"/>
          </p15:clr>
        </p15:guide>
        <p15:guide id="25" orient="horz" pos="20789" userDrawn="1">
          <p15:clr>
            <a:srgbClr val="F26B43"/>
          </p15:clr>
        </p15:guide>
        <p15:guide id="26" orient="horz" pos="22949" userDrawn="1">
          <p15:clr>
            <a:srgbClr val="F26B43"/>
          </p15:clr>
        </p15:guide>
        <p15:guide id="27" orient="horz" pos="251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ubrik 34">
            <a:extLst>
              <a:ext uri="{FF2B5EF4-FFF2-40B4-BE49-F238E27FC236}">
                <a16:creationId xmlns:a16="http://schemas.microsoft.com/office/drawing/2014/main" id="{AB622ACE-E5D2-7042-6322-002F0B9D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966" y="5345780"/>
            <a:ext cx="27154965" cy="2229681"/>
          </a:xfrm>
        </p:spPr>
        <p:txBody>
          <a:bodyPr/>
          <a:lstStyle/>
          <a:p>
            <a:pPr algn="ctr"/>
            <a:r>
              <a:rPr lang="en-US" sz="8000" dirty="0" smtClean="0">
                <a:latin typeface="Georgia (Body)"/>
              </a:rPr>
              <a:t>Common-Mode </a:t>
            </a:r>
            <a:r>
              <a:rPr lang="en-US" sz="8000" dirty="0">
                <a:latin typeface="Georgia (Body)"/>
              </a:rPr>
              <a:t>Voltage Reduction in Two-Level Inverters Using an Adaptive Carrier-Phase-Shift Method</a:t>
            </a:r>
            <a:endParaRPr lang="sv-SE" sz="8000" dirty="0">
              <a:latin typeface="Georgia (Body)"/>
            </a:endParaRPr>
          </a:p>
        </p:txBody>
      </p:sp>
      <p:sp>
        <p:nvSpPr>
          <p:cNvPr id="37" name="Platshållare för text 36">
            <a:extLst>
              <a:ext uri="{FF2B5EF4-FFF2-40B4-BE49-F238E27FC236}">
                <a16:creationId xmlns:a16="http://schemas.microsoft.com/office/drawing/2014/main" id="{F7381222-53BE-4AC8-BF4E-5F35C37B9F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18562" y="7525882"/>
            <a:ext cx="25633810" cy="816668"/>
          </a:xfrm>
        </p:spPr>
        <p:txBody>
          <a:bodyPr/>
          <a:lstStyle/>
          <a:p>
            <a:r>
              <a:rPr lang="sv-SE" sz="4000" dirty="0" smtClean="0">
                <a:latin typeface="Georgia (Body)"/>
              </a:rPr>
              <a:t>Enes </a:t>
            </a:r>
            <a:r>
              <a:rPr lang="sv-SE" sz="4000" dirty="0">
                <a:latin typeface="Georgia (Body)"/>
              </a:rPr>
              <a:t>Ayaz, Shahriar Sarmast </a:t>
            </a:r>
            <a:r>
              <a:rPr lang="sv-SE" sz="4000" dirty="0" smtClean="0">
                <a:latin typeface="Georgia (Body)"/>
              </a:rPr>
              <a:t>Ghahfarokhi</a:t>
            </a:r>
            <a:r>
              <a:rPr lang="sv-SE" sz="4000" dirty="0">
                <a:latin typeface="Georgia (Body)"/>
              </a:rPr>
              <a:t>, Staffan Norrga, Hans-Peter Nee – KTH Royal </a:t>
            </a:r>
            <a:r>
              <a:rPr lang="sv-SE" sz="4000" dirty="0" err="1">
                <a:latin typeface="Georgia (Body)"/>
              </a:rPr>
              <a:t>Institute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of</a:t>
            </a:r>
            <a:r>
              <a:rPr lang="sv-SE" sz="4000" dirty="0">
                <a:latin typeface="Georgia (Body)"/>
              </a:rPr>
              <a:t> </a:t>
            </a:r>
            <a:r>
              <a:rPr lang="sv-SE" sz="4000" dirty="0" err="1">
                <a:latin typeface="Georgia (Body)"/>
              </a:rPr>
              <a:t>Technology</a:t>
            </a:r>
            <a:endParaRPr lang="sv-SE" sz="4000" dirty="0">
              <a:latin typeface="Georgia (Body)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966" y="10763168"/>
            <a:ext cx="7193158" cy="5031667"/>
          </a:xfrm>
          <a:prstGeom prst="rect">
            <a:avLst/>
          </a:prstGeom>
        </p:spPr>
      </p:pic>
      <p:sp>
        <p:nvSpPr>
          <p:cNvPr id="5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78669" y="8732681"/>
            <a:ext cx="9448022" cy="1858802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Introduction </a:t>
            </a:r>
            <a:r>
              <a:rPr lang="en-GB" sz="3200" b="1" dirty="0">
                <a:solidFill>
                  <a:schemeClr val="tx2"/>
                </a:solidFill>
                <a:latin typeface="Georgia (Body)"/>
              </a:rPr>
              <a:t>&amp; </a:t>
            </a:r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Motivation</a:t>
            </a:r>
          </a:p>
          <a:p>
            <a:pPr algn="just"/>
            <a:endParaRPr lang="en-GB" b="1" dirty="0">
              <a:solidFill>
                <a:schemeClr val="tx2"/>
              </a:solidFill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Two-Level </a:t>
            </a:r>
            <a:r>
              <a:rPr lang="en-GB" b="1" dirty="0">
                <a:latin typeface="Georgia (Body)"/>
              </a:rPr>
              <a:t>Voltage Source Inverters </a:t>
            </a:r>
            <a:r>
              <a:rPr lang="en-GB" dirty="0">
                <a:latin typeface="Georgia (Body)"/>
              </a:rPr>
              <a:t>dominate industrial motor drives due to simplicity, low cost, and reliability.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5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60229" y="16322124"/>
            <a:ext cx="9448022" cy="7109347"/>
          </a:xfrm>
        </p:spPr>
        <p:txBody>
          <a:bodyPr/>
          <a:lstStyle/>
          <a:p>
            <a:pPr algn="just"/>
            <a:r>
              <a:rPr lang="en-GB" b="1" dirty="0" smtClean="0">
                <a:latin typeface="Georgia (Body)"/>
              </a:rPr>
              <a:t>Problem: </a:t>
            </a:r>
            <a:r>
              <a:rPr lang="en-GB" dirty="0" smtClean="0">
                <a:latin typeface="Georgia (Body)"/>
              </a:rPr>
              <a:t>PWM outputs</a:t>
            </a:r>
            <a:r>
              <a:rPr lang="en-GB" dirty="0">
                <a:latin typeface="Georgia (Body)"/>
              </a:rPr>
              <a:t> →</a:t>
            </a:r>
            <a:r>
              <a:rPr lang="en-GB" dirty="0" smtClean="0">
                <a:latin typeface="Georgia (Body)"/>
              </a:rPr>
              <a:t> Common-Mode Voltage → leads to</a:t>
            </a:r>
            <a:r>
              <a:rPr lang="en-GB" dirty="0" smtClean="0">
                <a:latin typeface="Georgia (Body)"/>
              </a:rPr>
              <a:t>:</a:t>
            </a:r>
            <a:endParaRPr lang="en-GB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Electromagnetic Interference (EMI)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Bearing currents → insulation damage → reduced lifespan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Existing Mitigation Approaches</a:t>
            </a:r>
            <a:r>
              <a:rPr lang="en-GB" b="1" dirty="0" smtClean="0">
                <a:latin typeface="Georgia (Body)"/>
              </a:rPr>
              <a:t>:</a:t>
            </a:r>
            <a:endParaRPr lang="en-GB" b="1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New inverter topologies / CM filters → ↑ cost &amp; complexity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Constant carrier-phase-shift PWM → partial CMV reduction only</a:t>
            </a: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r>
              <a:rPr lang="en-GB" b="1" dirty="0" smtClean="0">
                <a:latin typeface="Georgia (Body)"/>
              </a:rPr>
              <a:t>Key Idea</a:t>
            </a:r>
            <a:r>
              <a:rPr lang="en-GB" b="1" dirty="0" smtClean="0">
                <a:latin typeface="Georgia (Body)"/>
              </a:rPr>
              <a:t>:</a:t>
            </a:r>
            <a:endParaRPr lang="en-US" b="1" dirty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Dynamically adjusts carrier phase shifts every switching interval </a:t>
            </a:r>
            <a:endParaRPr lang="en-US" dirty="0" smtClean="0">
              <a:latin typeface="Georgia (Body)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Minimizes </a:t>
            </a:r>
            <a:r>
              <a:rPr lang="en-US" dirty="0">
                <a:latin typeface="Georgia (Body)"/>
              </a:rPr>
              <a:t>CMV harmonics at the instantaneous level.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Georgia (Body)"/>
              </a:rPr>
              <a:t>No hardware changes → scalable &amp; low-cost.</a:t>
            </a:r>
          </a:p>
          <a:p>
            <a:pPr algn="just"/>
            <a:endParaRPr lang="sv-SE" dirty="0">
              <a:latin typeface="Georgia (Body)"/>
            </a:endParaRPr>
          </a:p>
        </p:txBody>
      </p:sp>
      <p:sp>
        <p:nvSpPr>
          <p:cNvPr id="61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11456" y="8649030"/>
            <a:ext cx="9448022" cy="1942453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Proposed Method</a:t>
            </a:r>
          </a:p>
          <a:p>
            <a:pPr algn="just"/>
            <a:endParaRPr lang="en-US" dirty="0">
              <a:latin typeface="Georgia (Body)"/>
            </a:endParaRPr>
          </a:p>
          <a:p>
            <a:pPr algn="just"/>
            <a:r>
              <a:rPr lang="en-US" dirty="0" smtClean="0">
                <a:latin typeface="Georgia (Body)"/>
              </a:rPr>
              <a:t>Represent </a:t>
            </a:r>
            <a:r>
              <a:rPr lang="en-US" dirty="0">
                <a:latin typeface="Georgia (Body)"/>
              </a:rPr>
              <a:t>1st carrier harmonics of each phase </a:t>
            </a:r>
            <a:r>
              <a:rPr lang="en-US" dirty="0" smtClean="0">
                <a:latin typeface="Georgia (Body)"/>
              </a:rPr>
              <a:t>in phasor domain.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0251114" y="8646448"/>
                <a:ext cx="9448022" cy="1858802"/>
              </a:xfrm>
            </p:spPr>
            <p:txBody>
              <a:bodyPr/>
              <a:lstStyle/>
              <a:p>
                <a:r>
                  <a:rPr lang="en-GB" sz="3200" b="1" dirty="0" smtClean="0">
                    <a:solidFill>
                      <a:schemeClr val="tx2"/>
                    </a:solidFill>
                    <a:latin typeface="Georgia (Body)"/>
                  </a:rPr>
                  <a:t>Simulation Results</a:t>
                </a:r>
              </a:p>
              <a:p>
                <a:endParaRPr lang="en-GB" sz="3200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Test </a:t>
                </a:r>
                <a:r>
                  <a:rPr lang="en-US" dirty="0">
                    <a:latin typeface="Georgia (Body)"/>
                  </a:rPr>
                  <a:t>cases: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0.4, 0.8.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FFT shows significant CMV harmonic reduction vs. conventional method.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Georgia (Body)"/>
                  </a:rPr>
                  <a:t>Reduction </a:t>
                </a:r>
                <a:r>
                  <a:rPr lang="en-US" dirty="0">
                    <a:latin typeface="Georgia (Body)"/>
                  </a:rPr>
                  <a:t>observed across all modulation indices.</a:t>
                </a:r>
                <a:endParaRPr lang="en-GB" dirty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6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0251114" y="8646448"/>
                <a:ext cx="9448022" cy="1858802"/>
              </a:xfrm>
              <a:blipFill>
                <a:blip r:embed="rId3"/>
                <a:stretch>
                  <a:fillRect l="-1613" t="-6885" b="-43934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1925" y="-6789"/>
            <a:ext cx="5867400" cy="4533900"/>
          </a:xfrm>
          <a:prstGeom prst="rect">
            <a:avLst/>
          </a:prstGeom>
        </p:spPr>
      </p:pic>
      <p:pic>
        <p:nvPicPr>
          <p:cNvPr id="63" name="Picture 2" descr="https://powerized.eu/images/Icons/Powerized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45" y="1101408"/>
            <a:ext cx="7050988" cy="183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4" descr="https://www.kth.se/polopoly_fs/1.1262538.1686911400!/image/HEMIZERO_2-1000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2369" y="559963"/>
            <a:ext cx="2632075" cy="263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11813" y="24057366"/>
                <a:ext cx="9448022" cy="3582733"/>
              </a:xfrm>
            </p:spPr>
            <p:txBody>
              <a:bodyPr/>
              <a:lstStyle/>
              <a:p>
                <a:pPr algn="just"/>
                <a:r>
                  <a:rPr lang="en-GB" sz="3200" b="1" dirty="0" smtClean="0">
                    <a:solidFill>
                      <a:schemeClr val="tx2"/>
                    </a:solidFill>
                    <a:latin typeface="Georgia (Body)"/>
                  </a:rPr>
                  <a:t>Analytical   Investigation of CMV</a:t>
                </a:r>
              </a:p>
              <a:p>
                <a:pPr algn="just"/>
                <a:endParaRPr lang="en-GB" b="1" dirty="0">
                  <a:solidFill>
                    <a:schemeClr val="tx2"/>
                  </a:solidFill>
                  <a:latin typeface="Georgia (Body)"/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sv-SE" dirty="0">
                    <a:latin typeface="Georgia (Body)"/>
                  </a:rPr>
                  <a:t>CMV in 2L-VSI: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sv-SE" i="1" dirty="0">
                              <a:latin typeface="Cambria Math" panose="02040503050406030204" pitchFamily="18" charset="0"/>
                            </a:rPr>
                            <m:t>CM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sv-SE" i="1" dirty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num>
                        <m:den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dirty="0" smtClean="0">
                  <a:latin typeface="Georgia (Body)"/>
                </a:endParaRPr>
              </a:p>
              <a:p>
                <a:pPr algn="just"/>
                <a:endParaRPr lang="en-US" dirty="0" smtClean="0">
                  <a:latin typeface="Georgia (Body)"/>
                </a:endParaRPr>
              </a:p>
              <a:p>
                <a:pPr marL="342900" indent="-34290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Georgia (Body)"/>
                  </a:rPr>
                  <a:t>When conventional single-carrier SPWM is implemented, the phase-to-neutral voltages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Georgia (Body)"/>
                  </a:rPr>
                  <a:t> ) can be calculated as:</a:t>
                </a:r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b="1" dirty="0" smtClean="0">
                  <a:solidFill>
                    <a:schemeClr val="tx2"/>
                  </a:solidFill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 smtClean="0">
                  <a:latin typeface="Georgia (Body)"/>
                </a:endParaRPr>
              </a:p>
              <a:p>
                <a:pPr algn="just"/>
                <a:endParaRPr lang="en-GB" dirty="0">
                  <a:latin typeface="Georgia (Body)"/>
                </a:endParaRPr>
              </a:p>
              <a:p>
                <a:pPr algn="just"/>
                <a:endParaRPr lang="sv-SE" dirty="0">
                  <a:latin typeface="Georgia (Body)"/>
                </a:endParaRPr>
              </a:p>
            </p:txBody>
          </p:sp>
        </mc:Choice>
        <mc:Fallback>
          <p:sp>
            <p:nvSpPr>
              <p:cNvPr id="6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11813" y="24057366"/>
                <a:ext cx="9448022" cy="3582733"/>
              </a:xfrm>
              <a:blipFill>
                <a:blip r:embed="rId7"/>
                <a:stretch>
                  <a:fillRect l="-1677" t="-3571" r="-1290" b="-476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0827806"/>
            <a:ext cx="9448022" cy="1327502"/>
          </a:xfrm>
        </p:spPr>
        <p:txBody>
          <a:bodyPr/>
          <a:lstStyle/>
          <a:p>
            <a:pPr algn="just"/>
            <a:r>
              <a:rPr lang="sv-SE" dirty="0" err="1">
                <a:latin typeface="Georgia (Body)"/>
              </a:rPr>
              <a:t>Harmonic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 smtClean="0">
                <a:latin typeface="Georgia (Body)"/>
              </a:rPr>
              <a:t>decomposition</a:t>
            </a:r>
            <a:r>
              <a:rPr lang="sv-SE" dirty="0" smtClean="0">
                <a:latin typeface="Georgia (Body)"/>
              </a:rPr>
              <a:t> </a:t>
            </a:r>
            <a:r>
              <a:rPr lang="sv-SE" dirty="0">
                <a:latin typeface="Georgia (Body)"/>
              </a:rPr>
              <a:t>→ </a:t>
            </a:r>
            <a:r>
              <a:rPr lang="sv-SE" dirty="0" err="1">
                <a:latin typeface="Georgia (Body)"/>
              </a:rPr>
              <a:t>Zero-sequence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components</a:t>
            </a:r>
            <a:r>
              <a:rPr lang="sv-SE" dirty="0">
                <a:latin typeface="Georgia (Body)"/>
              </a:rPr>
              <a:t> </a:t>
            </a:r>
            <a:r>
              <a:rPr lang="sv-SE" dirty="0" err="1">
                <a:latin typeface="Georgia (Body)"/>
              </a:rPr>
              <a:t>create</a:t>
            </a:r>
            <a:r>
              <a:rPr lang="sv-SE" dirty="0">
                <a:latin typeface="Georgia (Body)"/>
              </a:rPr>
              <a:t> </a:t>
            </a:r>
            <a:r>
              <a:rPr lang="sv-SE" dirty="0" smtClean="0">
                <a:latin typeface="Georgia (Body)"/>
              </a:rPr>
              <a:t>CM </a:t>
            </a:r>
            <a:r>
              <a:rPr lang="sv-SE" dirty="0" err="1" smtClean="0">
                <a:latin typeface="Georgia (Body)"/>
              </a:rPr>
              <a:t>currents</a:t>
            </a:r>
            <a:r>
              <a:rPr lang="sv-SE" dirty="0" smtClean="0">
                <a:latin typeface="Georgia (Body)"/>
              </a:rPr>
              <a:t>.</a:t>
            </a:r>
            <a:endParaRPr lang="sv-SE" dirty="0">
              <a:latin typeface="Georgia (Body)"/>
            </a:endParaRPr>
          </a:p>
          <a:p>
            <a:pPr algn="just"/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74" name="Picture 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3831" y="28003325"/>
            <a:ext cx="5876586" cy="2676851"/>
          </a:xfrm>
          <a:prstGeom prst="rect">
            <a:avLst/>
          </a:prstGeom>
        </p:spPr>
      </p:pic>
      <p:pic>
        <p:nvPicPr>
          <p:cNvPr id="75" name="Picture 7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9251" y="32000525"/>
            <a:ext cx="6812103" cy="3253676"/>
          </a:xfrm>
          <a:prstGeom prst="rect">
            <a:avLst/>
          </a:prstGeom>
        </p:spPr>
      </p:pic>
      <p:sp>
        <p:nvSpPr>
          <p:cNvPr id="77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4197" y="36422008"/>
            <a:ext cx="9448022" cy="1584999"/>
          </a:xfrm>
        </p:spPr>
        <p:txBody>
          <a:bodyPr/>
          <a:lstStyle/>
          <a:p>
            <a:pPr algn="just"/>
            <a:r>
              <a:rPr lang="en-GB" sz="3200" b="1" dirty="0" smtClean="0">
                <a:solidFill>
                  <a:schemeClr val="accent3"/>
                </a:solidFill>
                <a:latin typeface="Georgia (Body)"/>
              </a:rPr>
              <a:t>Conventional Interleaving </a:t>
            </a:r>
          </a:p>
          <a:p>
            <a:pPr algn="just"/>
            <a:endParaRPr lang="en-US" sz="3200" dirty="0" smtClean="0">
              <a:solidFill>
                <a:schemeClr val="accent3"/>
              </a:solidFill>
              <a:latin typeface="Georgia (Body)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Georgia (Body)"/>
              </a:rPr>
              <a:t>Shifts </a:t>
            </a:r>
            <a:r>
              <a:rPr lang="en-US" dirty="0">
                <a:latin typeface="Georgia (Body)"/>
              </a:rPr>
              <a:t>carriers by 0°, 120°, 240° → redistributes harmonics.</a:t>
            </a:r>
            <a:endParaRPr lang="en-GB" b="1" dirty="0" smtClean="0">
              <a:solidFill>
                <a:schemeClr val="tx2"/>
              </a:solidFill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 smtClean="0">
              <a:latin typeface="Georgia (Body)"/>
            </a:endParaRPr>
          </a:p>
          <a:p>
            <a:pPr algn="just"/>
            <a:endParaRPr lang="en-GB" dirty="0">
              <a:latin typeface="Georgia (Body)"/>
            </a:endParaRPr>
          </a:p>
          <a:p>
            <a:pPr algn="just"/>
            <a:endParaRPr lang="sv-SE" dirty="0">
              <a:latin typeface="Georgia (Body)"/>
            </a:endParaRPr>
          </a:p>
        </p:txBody>
      </p:sp>
      <p:pic>
        <p:nvPicPr>
          <p:cNvPr id="78" name="Picture 7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5580" y="38500782"/>
            <a:ext cx="9165577" cy="3986548"/>
          </a:xfrm>
          <a:prstGeom prst="rect">
            <a:avLst/>
          </a:prstGeom>
        </p:spPr>
      </p:pic>
      <p:pic>
        <p:nvPicPr>
          <p:cNvPr id="81" name="Picture 8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49887" y="10395140"/>
            <a:ext cx="6648450" cy="2647950"/>
          </a:xfrm>
          <a:prstGeom prst="rect">
            <a:avLst/>
          </a:prstGeom>
        </p:spPr>
      </p:pic>
      <p:sp>
        <p:nvSpPr>
          <p:cNvPr id="82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250101" y="13294662"/>
            <a:ext cx="9448022" cy="4125813"/>
          </a:xfrm>
        </p:spPr>
        <p:txBody>
          <a:bodyPr/>
          <a:lstStyle/>
          <a:p>
            <a:pPr algn="just"/>
            <a:r>
              <a:rPr lang="en-US" b="1" dirty="0" smtClean="0">
                <a:latin typeface="Georgia (Body)"/>
              </a:rPr>
              <a:t>Adjust </a:t>
            </a:r>
            <a:r>
              <a:rPr lang="en-US" b="1" dirty="0">
                <a:latin typeface="Georgia (Body)"/>
              </a:rPr>
              <a:t>phase shifts to either</a:t>
            </a:r>
            <a:r>
              <a:rPr lang="en-US" b="1" dirty="0" smtClean="0">
                <a:latin typeface="Georgia (Body)"/>
              </a:rPr>
              <a:t>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Form </a:t>
            </a:r>
            <a:r>
              <a:rPr lang="en-US" sz="2800" dirty="0">
                <a:latin typeface="Georgia (Body)"/>
              </a:rPr>
              <a:t>a triangle → cancel CMV </a:t>
            </a:r>
            <a:r>
              <a:rPr lang="en-US" sz="2800" dirty="0" smtClean="0">
                <a:latin typeface="Georgia (Body)"/>
              </a:rPr>
              <a:t>completely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Georgia (Body)"/>
              </a:rPr>
              <a:t>Align </a:t>
            </a:r>
            <a:r>
              <a:rPr lang="en-US" sz="2800" dirty="0">
                <a:latin typeface="Georgia (Body)"/>
              </a:rPr>
              <a:t>small vectors opposite to </a:t>
            </a:r>
            <a:r>
              <a:rPr lang="en-US" sz="2800" dirty="0" smtClean="0">
                <a:latin typeface="Georgia (Body)"/>
              </a:rPr>
              <a:t>the largest </a:t>
            </a:r>
            <a:r>
              <a:rPr lang="en-US" sz="2800" dirty="0">
                <a:latin typeface="Georgia (Body)"/>
              </a:rPr>
              <a:t>vector (triangle inequality not met)</a:t>
            </a:r>
            <a:endParaRPr lang="en-GB" sz="2800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83" name="Picture 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99714" y="14953784"/>
            <a:ext cx="7821360" cy="3411444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 rotWithShape="1">
          <a:blip r:embed="rId13"/>
          <a:srcRect t="4760"/>
          <a:stretch/>
        </p:blipFill>
        <p:spPr>
          <a:xfrm>
            <a:off x="10612624" y="18427941"/>
            <a:ext cx="8452383" cy="5242253"/>
          </a:xfrm>
          <a:prstGeom prst="rect">
            <a:avLst/>
          </a:prstGeom>
        </p:spPr>
      </p:pic>
      <p:sp>
        <p:nvSpPr>
          <p:cNvPr id="88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612624" y="23941058"/>
            <a:ext cx="9448022" cy="95633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Algorithm</a:t>
            </a:r>
            <a:endParaRPr lang="en-US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89" name="Picture 8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067240" y="24633942"/>
            <a:ext cx="7819882" cy="11305444"/>
          </a:xfrm>
          <a:prstGeom prst="rect">
            <a:avLst/>
          </a:prstGeom>
        </p:spPr>
      </p:pic>
      <p:sp>
        <p:nvSpPr>
          <p:cNvPr id="94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394252" y="36417843"/>
            <a:ext cx="9448022" cy="6127686"/>
          </a:xfrm>
        </p:spPr>
        <p:txBody>
          <a:bodyPr/>
          <a:lstStyle/>
          <a:p>
            <a:pPr lvl="0">
              <a:buClr>
                <a:srgbClr val="004791"/>
              </a:buClr>
            </a:pPr>
            <a:r>
              <a:rPr lang="en-GB" sz="3200" b="1" dirty="0">
                <a:solidFill>
                  <a:srgbClr val="000061"/>
                </a:solidFill>
                <a:latin typeface="Georgia (Body)"/>
              </a:rPr>
              <a:t>Discussion</a:t>
            </a:r>
          </a:p>
          <a:p>
            <a:pPr lvl="1" algn="just"/>
            <a:endParaRPr lang="en-US" sz="2800" b="1" dirty="0" smtClean="0">
              <a:latin typeface="Georgia (Body)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Bearing </a:t>
            </a:r>
            <a:r>
              <a:rPr lang="en-US" sz="2800" b="1" dirty="0">
                <a:latin typeface="Georgia (Body)"/>
              </a:rPr>
              <a:t>current mechanisms: </a:t>
            </a:r>
            <a:r>
              <a:rPr lang="en-US" sz="2800" dirty="0">
                <a:latin typeface="Georgia (Body)"/>
              </a:rPr>
              <a:t>capacitive, electric discharge machining (EDM), and circulating bearing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Capacitive </a:t>
            </a:r>
            <a:r>
              <a:rPr lang="en-US" sz="2800" b="1" dirty="0">
                <a:latin typeface="Georgia (Body)"/>
              </a:rPr>
              <a:t>bearing currents: </a:t>
            </a:r>
            <a:r>
              <a:rPr lang="en-US" sz="2800" dirty="0">
                <a:latin typeface="Georgia (Body)"/>
              </a:rPr>
              <a:t>strongly influenced by high-frequency CMV components; higher dv/</a:t>
            </a:r>
            <a:r>
              <a:rPr lang="en-US" sz="2800" dirty="0" err="1">
                <a:latin typeface="Georgia (Body)"/>
              </a:rPr>
              <a:t>dt</a:t>
            </a:r>
            <a:r>
              <a:rPr lang="en-US" sz="2800" dirty="0">
                <a:latin typeface="Georgia (Body)"/>
              </a:rPr>
              <a:t> → larger currents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EDM </a:t>
            </a:r>
            <a:r>
              <a:rPr lang="en-US" sz="2800" b="1" dirty="0">
                <a:latin typeface="Georgia (Body)"/>
              </a:rPr>
              <a:t>currents: </a:t>
            </a:r>
            <a:r>
              <a:rPr lang="en-US" sz="2800" dirty="0">
                <a:latin typeface="Georgia (Body)"/>
              </a:rPr>
              <a:t>triggered when CMV exceeds lubricant breakdown voltage → electrical discharge across bearings</a:t>
            </a:r>
            <a:r>
              <a:rPr lang="en-US" sz="2800" dirty="0" smtClean="0">
                <a:latin typeface="Georgia (Body)"/>
              </a:rPr>
              <a:t>.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>
                <a:latin typeface="Georgia (Body)"/>
              </a:rPr>
              <a:t>Switching </a:t>
            </a:r>
            <a:r>
              <a:rPr lang="en-US" sz="2800" b="1" dirty="0">
                <a:latin typeface="Georgia (Body)"/>
              </a:rPr>
              <a:t>pattern impact: </a:t>
            </a:r>
            <a:r>
              <a:rPr lang="en-US" sz="2800" dirty="0">
                <a:latin typeface="Georgia (Body)"/>
              </a:rPr>
              <a:t>less critical for capacitive currents but important for EDM current suppression</a:t>
            </a:r>
            <a:r>
              <a:rPr lang="en-US" sz="2800" dirty="0" smtClean="0">
                <a:latin typeface="Georgia (Body)"/>
              </a:rPr>
              <a:t>.</a:t>
            </a:r>
          </a:p>
        </p:txBody>
      </p:sp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15"/>
          <a:srcRect b="10211"/>
          <a:stretch/>
        </p:blipFill>
        <p:spPr>
          <a:xfrm>
            <a:off x="20251114" y="11035242"/>
            <a:ext cx="7972050" cy="6464733"/>
          </a:xfrm>
          <a:prstGeom prst="rect">
            <a:avLst/>
          </a:prstGeom>
        </p:spPr>
      </p:pic>
      <p:pic>
        <p:nvPicPr>
          <p:cNvPr id="101" name="Picture 10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814693" y="17139853"/>
            <a:ext cx="7235023" cy="6291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7947641" y="19946845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0.8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 xmlns="">
          <p:sp>
            <p:nvSpPr>
              <p:cNvPr id="10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7947641" y="19946845"/>
                <a:ext cx="1684291" cy="677829"/>
              </a:xfrm>
              <a:blipFill>
                <a:blip r:embed="rId17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74905" y="23947327"/>
            <a:ext cx="9644053" cy="69435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Experimental Results</a:t>
            </a:r>
          </a:p>
          <a:p>
            <a:endParaRPr lang="en-GB" sz="2400" dirty="0" smtClean="0">
              <a:latin typeface="Georgia (Body)"/>
            </a:endParaRPr>
          </a:p>
          <a:p>
            <a:endParaRPr lang="en-GB" sz="2400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endParaRPr lang="sv-SE" dirty="0">
              <a:latin typeface="Georgia (Body)"/>
            </a:endParaRPr>
          </a:p>
        </p:txBody>
      </p:sp>
      <p:pic>
        <p:nvPicPr>
          <p:cNvPr id="110" name="Picture 10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501983" y="24519938"/>
            <a:ext cx="6560785" cy="3280393"/>
          </a:xfrm>
          <a:prstGeom prst="rect">
            <a:avLst/>
          </a:prstGeom>
        </p:spPr>
      </p:pic>
      <p:pic>
        <p:nvPicPr>
          <p:cNvPr id="111" name="Picture 11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0414346" y="27948852"/>
            <a:ext cx="8274451" cy="3744032"/>
          </a:xfrm>
          <a:prstGeom prst="rect">
            <a:avLst/>
          </a:prstGeom>
        </p:spPr>
      </p:pic>
      <p:pic>
        <p:nvPicPr>
          <p:cNvPr id="112" name="Picture 11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628924" y="31624353"/>
            <a:ext cx="8306904" cy="3629848"/>
          </a:xfrm>
          <a:prstGeom prst="rect">
            <a:avLst/>
          </a:prstGeom>
        </p:spPr>
      </p:pic>
      <p:sp>
        <p:nvSpPr>
          <p:cNvPr id="116" name="Platshållare för text 25">
            <a:extLst>
              <a:ext uri="{FF2B5EF4-FFF2-40B4-BE49-F238E27FC236}">
                <a16:creationId xmlns:a16="http://schemas.microsoft.com/office/drawing/2014/main" id="{C208CD44-F4D4-4B43-0D3F-96E39439AE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0474906" y="36414400"/>
            <a:ext cx="9644053" cy="4044349"/>
          </a:xfrm>
        </p:spPr>
        <p:txBody>
          <a:bodyPr/>
          <a:lstStyle/>
          <a:p>
            <a:r>
              <a:rPr lang="en-GB" sz="3200" b="1" dirty="0" smtClean="0">
                <a:solidFill>
                  <a:schemeClr val="tx2"/>
                </a:solidFill>
                <a:latin typeface="Georgia (Body)"/>
              </a:rPr>
              <a:t>Conclusion</a:t>
            </a:r>
          </a:p>
          <a:p>
            <a:endParaRPr lang="en-GB" b="1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Adaptive Carrier-Phase-Shift SPWM: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Reduces instantaneous CMV more effectively than </a:t>
            </a:r>
            <a:r>
              <a:rPr lang="en-GB" dirty="0" smtClean="0">
                <a:latin typeface="Georgia (Body)"/>
              </a:rPr>
              <a:t>fixed-carrier phase-shift PWMs.</a:t>
            </a:r>
            <a:endParaRPr lang="en-GB" dirty="0" smtClean="0">
              <a:latin typeface="Georgia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Maintains simplicity of 2L-VSIs </a:t>
            </a:r>
            <a:r>
              <a:rPr lang="en-GB" dirty="0" smtClean="0">
                <a:latin typeface="Georgia (Body)"/>
              </a:rPr>
              <a:t>.</a:t>
            </a:r>
            <a:endParaRPr lang="en-GB" dirty="0" smtClean="0">
              <a:latin typeface="Georgia (Body)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No additional hardware </a:t>
            </a:r>
            <a:r>
              <a:rPr lang="en-GB" dirty="0" smtClean="0">
                <a:latin typeface="Georgia (Body)"/>
              </a:rPr>
              <a:t>required.</a:t>
            </a:r>
            <a:endParaRPr lang="en-GB" dirty="0" smtClean="0">
              <a:latin typeface="Georgia (Body)"/>
            </a:endParaRPr>
          </a:p>
          <a:p>
            <a:endParaRPr lang="en-GB" dirty="0" smtClean="0">
              <a:latin typeface="Georgia (Body)"/>
            </a:endParaRPr>
          </a:p>
          <a:p>
            <a:r>
              <a:rPr lang="en-GB" b="1" dirty="0" smtClean="0">
                <a:latin typeface="Georgia (Body)"/>
              </a:rPr>
              <a:t>Future Work: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 smtClean="0">
                <a:latin typeface="Georgia (Body)"/>
              </a:rPr>
              <a:t>Extend to multi-phase &amp; multi-level </a:t>
            </a:r>
            <a:r>
              <a:rPr lang="en-GB" dirty="0" smtClean="0">
                <a:latin typeface="Georgia (Body)"/>
              </a:rPr>
              <a:t>inverters.</a:t>
            </a:r>
            <a:endParaRPr lang="en-GB" dirty="0" smtClean="0">
              <a:latin typeface="Georgia (Body)"/>
            </a:endParaRPr>
          </a:p>
          <a:p>
            <a:endParaRPr lang="en-GB" dirty="0">
              <a:latin typeface="Georgia (Body)"/>
            </a:endParaRPr>
          </a:p>
          <a:p>
            <a:r>
              <a:rPr lang="en-US" dirty="0" smtClean="0">
                <a:latin typeface="Georgia (Body)"/>
              </a:rPr>
              <a:t> </a:t>
            </a:r>
            <a:endParaRPr lang="sv-SE" dirty="0">
              <a:latin typeface="Georgia (Body)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572945" y="3332741"/>
            <a:ext cx="973149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Funded by </a:t>
            </a:r>
            <a:r>
              <a:rPr lang="en-US" sz="3200" b="1" dirty="0"/>
              <a:t>EU CHIPS JU (</a:t>
            </a:r>
            <a:r>
              <a:rPr lang="en-US" sz="3200" b="1" dirty="0" err="1"/>
              <a:t>PowerizeD</a:t>
            </a:r>
            <a:r>
              <a:rPr lang="en-US" sz="3200" b="1" dirty="0"/>
              <a:t>)</a:t>
            </a:r>
            <a:r>
              <a:rPr lang="en-US" sz="3200" dirty="0"/>
              <a:t> &amp; </a:t>
            </a:r>
            <a:r>
              <a:rPr lang="en-US" sz="3200" b="1" dirty="0"/>
              <a:t>Swedish Energy Agency (HEMIZERO)</a:t>
            </a:r>
            <a:endParaRPr lang="sv-SE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7960364" y="13796267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 xmlns="">
          <p:sp>
            <p:nvSpPr>
              <p:cNvPr id="132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7960364" y="13796267"/>
                <a:ext cx="1684291" cy="677829"/>
              </a:xfrm>
              <a:blipFill>
                <a:blip r:embed="rId21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8656159" y="32880162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0.8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 xmlns="">
          <p:sp>
            <p:nvSpPr>
              <p:cNvPr id="137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8656159" y="32880162"/>
                <a:ext cx="1684291" cy="677829"/>
              </a:xfrm>
              <a:blipFill>
                <a:blip r:embed="rId22"/>
                <a:stretch>
                  <a:fillRect t="-16216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/>
              </p:cNvSpPr>
              <p:nvPr>
                <p:ph type="body" sz="quarter" idx="34"/>
              </p:nvPr>
            </p:nvSpPr>
            <p:spPr>
              <a:xfrm>
                <a:off x="28374108" y="29420331"/>
                <a:ext cx="1684291" cy="67782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 smtClean="0">
                    <a:latin typeface="Georgia (Body)"/>
                  </a:rPr>
                  <a:t> = 0.4</a:t>
                </a:r>
                <a:endParaRPr lang="en-GB" sz="2400" dirty="0" smtClean="0">
                  <a:latin typeface="Georgia (Body)"/>
                </a:endParaRPr>
              </a:p>
              <a:p>
                <a:endParaRPr lang="en-GB" sz="2400" dirty="0" smtClean="0">
                  <a:latin typeface="Georgia (Body)"/>
                </a:endParaRPr>
              </a:p>
              <a:p>
                <a:endParaRPr lang="en-GB" dirty="0">
                  <a:latin typeface="Georgia (Body)"/>
                </a:endParaRPr>
              </a:p>
              <a:p>
                <a:endParaRPr lang="sv-SE" dirty="0">
                  <a:latin typeface="Georgia (Body)"/>
                </a:endParaRPr>
              </a:p>
            </p:txBody>
          </p:sp>
        </mc:Choice>
        <mc:Fallback xmlns="">
          <p:sp>
            <p:nvSpPr>
              <p:cNvPr id="138" name="Platshållare för text 25">
                <a:extLst>
                  <a:ext uri="{FF2B5EF4-FFF2-40B4-BE49-F238E27FC236}">
                    <a16:creationId xmlns:a16="http://schemas.microsoft.com/office/drawing/2014/main" id="{C208CD44-F4D4-4B43-0D3F-96E39439AE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34"/>
              </p:nvPr>
            </p:nvSpPr>
            <p:spPr>
              <a:xfrm>
                <a:off x="28374108" y="29420331"/>
                <a:ext cx="1684291" cy="677829"/>
              </a:xfrm>
              <a:blipFill>
                <a:blip r:embed="rId23"/>
                <a:stretch>
                  <a:fillRect t="-1531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5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KTH">
      <a:dk1>
        <a:srgbClr val="000000"/>
      </a:dk1>
      <a:lt1>
        <a:srgbClr val="FFFFFF"/>
      </a:lt1>
      <a:dk2>
        <a:srgbClr val="000061"/>
      </a:dk2>
      <a:lt2>
        <a:srgbClr val="EBE5E0"/>
      </a:lt2>
      <a:accent1>
        <a:srgbClr val="004791"/>
      </a:accent1>
      <a:accent2>
        <a:srgbClr val="6198D2"/>
      </a:accent2>
      <a:accent3>
        <a:srgbClr val="000061"/>
      </a:accent3>
      <a:accent4>
        <a:srgbClr val="DEF0FF"/>
      </a:accent4>
      <a:accent5>
        <a:srgbClr val="EBE5DF"/>
      </a:accent5>
      <a:accent6>
        <a:srgbClr val="0028ED"/>
      </a:accent6>
      <a:hlink>
        <a:srgbClr val="3878C2"/>
      </a:hlink>
      <a:folHlink>
        <a:srgbClr val="004691"/>
      </a:folHlink>
    </a:clrScheme>
    <a:fontScheme name="Office">
      <a:majorFont>
        <a:latin typeface="Figtree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Sand">
      <a:srgbClr val="EBE5E0"/>
    </a:custClr>
    <a:custClr name="KTH blue">
      <a:srgbClr val="004791"/>
    </a:custClr>
    <a:custClr name="Sky blue">
      <a:srgbClr val="6298D2"/>
    </a:custClr>
    <a:custClr name="Navy blue">
      <a:srgbClr val="000061"/>
    </a:custClr>
    <a:custClr name="Light blue">
      <a:srgbClr val="DEF0FF"/>
    </a:custClr>
    <a:custClr name="Digital blue">
      <a:srgbClr val="0029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Dark green">
      <a:srgbClr val="0D4A21"/>
    </a:custClr>
    <a:custClr name="Dark turquoise">
      <a:srgbClr val="1C434C"/>
    </a:custClr>
    <a:custClr name="Dark brick">
      <a:srgbClr val="78001A"/>
    </a:custClr>
    <a:custClr name="Dark yellow">
      <a:srgbClr val="A65900"/>
    </a:custClr>
    <a:custClr name="Dark grey">
      <a:srgbClr val="323232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en">
      <a:srgbClr val="4DA060"/>
    </a:custClr>
    <a:custClr name="Turquoise">
      <a:srgbClr val="339C9C"/>
    </a:custClr>
    <a:custClr name="Brick">
      <a:srgbClr val="E86A58"/>
    </a:custClr>
    <a:custClr name="Yellow">
      <a:srgbClr val="FFBE00"/>
    </a:custClr>
    <a:custClr name="Grey">
      <a:srgbClr val="A5A5A5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Light green">
      <a:srgbClr val="C7EBBA"/>
    </a:custClr>
    <a:custClr name="Light turquoise">
      <a:srgbClr val="B2E0E0"/>
    </a:custClr>
    <a:custClr name="Light brick">
      <a:srgbClr val="FFCCC4"/>
    </a:custClr>
    <a:custClr name="Light yellow">
      <a:srgbClr val="FFF0B0"/>
    </a:custClr>
    <a:custClr name="Light grey">
      <a:srgbClr val="E6E6E6"/>
    </a:custClr>
  </a:custClrLst>
  <a:extLst>
    <a:ext uri="{05A4C25C-085E-4340-85A3-A5531E510DB2}">
      <thm15:themeFamily xmlns:thm15="http://schemas.microsoft.com/office/thememl/2012/main" name="KTH_presentation_template" id="{849AC4DD-E1C2-5246-BA3B-97A717A592CC}" vid="{53E22E81-CC6B-DF47-AF43-FCD19FCAEE8B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Office-tema</Template>
  <TotalTime>373</TotalTime>
  <Words>436</Words>
  <Application>Microsoft Office PowerPoint</Application>
  <PresentationFormat>Custom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Georgia (Body)</vt:lpstr>
      <vt:lpstr>Georgia</vt:lpstr>
      <vt:lpstr>Arial</vt:lpstr>
      <vt:lpstr>Calibri</vt:lpstr>
      <vt:lpstr>Figtree</vt:lpstr>
      <vt:lpstr>Cambria Math</vt:lpstr>
      <vt:lpstr>Office-tema</vt:lpstr>
      <vt:lpstr>Common-Mode Voltage Reduction in Two-Level Inverters Using an Adaptive Carrier-Phase-Shift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Anna Bertilsson</dc:creator>
  <cp:lastModifiedBy>Enes Ayaz</cp:lastModifiedBy>
  <cp:revision>40</cp:revision>
  <cp:lastPrinted>2025-08-13T14:39:43Z</cp:lastPrinted>
  <dcterms:created xsi:type="dcterms:W3CDTF">2023-08-29T11:38:46Z</dcterms:created>
  <dcterms:modified xsi:type="dcterms:W3CDTF">2025-08-13T14:44:09Z</dcterms:modified>
</cp:coreProperties>
</file>