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Figtree" panose="020B0604020202020204" charset="0"/>
      <p:regular r:id="rId8"/>
      <p:bold r:id="rId9"/>
      <p:italic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sv-SE"/>
    </a:defPPr>
    <a:lvl1pPr marL="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4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68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2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36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20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04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688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723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75"/>
    <p:restoredTop sz="95902" autoAdjust="0"/>
  </p:normalViewPr>
  <p:slideViewPr>
    <p:cSldViewPr snapToGrid="0">
      <p:cViewPr>
        <p:scale>
          <a:sx n="33" d="100"/>
          <a:sy n="33" d="100"/>
        </p:scale>
        <p:origin x="3948" y="-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A98BE-A709-2147-8309-29E5AC3B2C96}" type="datetimeFigureOut">
              <a:rPr lang="sv-SE" smtClean="0"/>
              <a:t>2025-08-13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2B342-762B-CA45-8C2D-6DAF9087E7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76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1pPr>
    <a:lvl2pPr marL="54594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2pPr>
    <a:lvl3pPr marL="109188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3pPr>
    <a:lvl4pPr marL="163782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4pPr>
    <a:lvl5pPr marL="218377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5pPr>
    <a:lvl6pPr marL="272971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6pPr>
    <a:lvl7pPr marL="327565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7pPr>
    <a:lvl8pPr marL="382159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8pPr>
    <a:lvl9pPr marL="436754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 27">
            <a:extLst>
              <a:ext uri="{FF2B5EF4-FFF2-40B4-BE49-F238E27FC236}">
                <a16:creationId xmlns:a16="http://schemas.microsoft.com/office/drawing/2014/main" id="{35F7D52C-5E9D-1A31-2536-E6D0E7E6A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2"/>
            <a:ext cx="30275213" cy="428097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6416148"/>
            <a:ext cx="23639995" cy="3429662"/>
          </a:xfrm>
        </p:spPr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3BABD-A396-D149-B7BF-FFF925773BDF}" type="datetime1">
              <a:rPr lang="sv-SE" smtClean="0"/>
              <a:t>2025-08-13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79C0AC6-B242-AC31-D406-A20DFA9AC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6657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1" name="Platshållare för text 9">
            <a:extLst>
              <a:ext uri="{FF2B5EF4-FFF2-40B4-BE49-F238E27FC236}">
                <a16:creationId xmlns:a16="http://schemas.microsoft.com/office/drawing/2014/main" id="{6942C49E-DD69-761D-E64A-D2DF46B0B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6656" y="11842969"/>
            <a:ext cx="15471370" cy="4010486"/>
          </a:xfrm>
        </p:spPr>
        <p:txBody>
          <a:bodyPr numCol="1"/>
          <a:lstStyle>
            <a:lvl1pPr marL="0" indent="0">
              <a:buNone/>
              <a:defRPr sz="4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/>
              <a:t>Intro text</a:t>
            </a:r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D62467FA-9342-6093-AF83-C0B258945D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3516145" y="1532577"/>
            <a:ext cx="3238975" cy="3587177"/>
          </a:xfrm>
          <a:prstGeom prst="rect">
            <a:avLst/>
          </a:prstGeom>
        </p:spPr>
      </p:pic>
      <p:sp>
        <p:nvSpPr>
          <p:cNvPr id="13" name="Platshållare för text 7">
            <a:extLst>
              <a:ext uri="{FF2B5EF4-FFF2-40B4-BE49-F238E27FC236}">
                <a16:creationId xmlns:a16="http://schemas.microsoft.com/office/drawing/2014/main" id="{8B405DB5-B30B-E7B4-8D74-262FEB6F23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653905" y="17305130"/>
            <a:ext cx="7302745" cy="3429776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4" name="Platshållare för text 7">
            <a:extLst>
              <a:ext uri="{FF2B5EF4-FFF2-40B4-BE49-F238E27FC236}">
                <a16:creationId xmlns:a16="http://schemas.microsoft.com/office/drawing/2014/main" id="{20A220FE-DFF7-0A90-6E59-5FC8A85C79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653905" y="16618989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Contact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8B3239DE-709D-255A-4DF7-043102363C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653905" y="22430612"/>
            <a:ext cx="7302745" cy="6617513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9AE49C5E-4F3D-C6B4-8297-786A105D66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53905" y="21744471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Footnotes</a:t>
            </a:r>
            <a:endParaRPr lang="sv-SE" dirty="0"/>
          </a:p>
        </p:txBody>
      </p:sp>
      <p:sp>
        <p:nvSpPr>
          <p:cNvPr id="17" name="Platshållare för text 7">
            <a:extLst>
              <a:ext uri="{FF2B5EF4-FFF2-40B4-BE49-F238E27FC236}">
                <a16:creationId xmlns:a16="http://schemas.microsoft.com/office/drawing/2014/main" id="{52EA9896-50D9-1CCA-2B8C-FF36F965A1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653905" y="30740798"/>
            <a:ext cx="7302745" cy="9122176"/>
          </a:xfrm>
        </p:spPr>
        <p:txBody>
          <a:bodyPr numCol="1"/>
          <a:lstStyle>
            <a:lvl1pPr marL="234900" indent="-234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8" name="Platshållare för text 7">
            <a:extLst>
              <a:ext uri="{FF2B5EF4-FFF2-40B4-BE49-F238E27FC236}">
                <a16:creationId xmlns:a16="http://schemas.microsoft.com/office/drawing/2014/main" id="{0759D9FB-18D5-FE05-2C39-0ECD1F2A74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653905" y="30054657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References</a:t>
            </a:r>
            <a:endParaRPr lang="sv-SE" dirty="0"/>
          </a:p>
        </p:txBody>
      </p:sp>
      <p:sp>
        <p:nvSpPr>
          <p:cNvPr id="19" name="Platshållare för text 7">
            <a:extLst>
              <a:ext uri="{FF2B5EF4-FFF2-40B4-BE49-F238E27FC236}">
                <a16:creationId xmlns:a16="http://schemas.microsoft.com/office/drawing/2014/main" id="{2501C081-1B0C-F580-BC4F-78317E33B9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653905" y="11842968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In </a:t>
            </a:r>
            <a:r>
              <a:rPr lang="sv-SE" dirty="0" err="1"/>
              <a:t>cooperation</a:t>
            </a:r>
            <a:r>
              <a:rPr lang="sv-SE" dirty="0"/>
              <a:t> </a:t>
            </a:r>
            <a:r>
              <a:rPr lang="sv-SE" dirty="0" err="1"/>
              <a:t>with</a:t>
            </a:r>
            <a:endParaRPr lang="sv-SE" dirty="0"/>
          </a:p>
        </p:txBody>
      </p:sp>
      <p:sp>
        <p:nvSpPr>
          <p:cNvPr id="21" name="Platshållare för innehåll 20">
            <a:extLst>
              <a:ext uri="{FF2B5EF4-FFF2-40B4-BE49-F238E27FC236}">
                <a16:creationId xmlns:a16="http://schemas.microsoft.com/office/drawing/2014/main" id="{47B198EE-6127-3DAB-C818-984F07F626C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9653904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1</a:t>
            </a:r>
          </a:p>
        </p:txBody>
      </p:sp>
      <p:sp>
        <p:nvSpPr>
          <p:cNvPr id="24" name="Platshållare för innehåll 20">
            <a:extLst>
              <a:ext uri="{FF2B5EF4-FFF2-40B4-BE49-F238E27FC236}">
                <a16:creationId xmlns:a16="http://schemas.microsoft.com/office/drawing/2014/main" id="{58B0B077-AAB9-3571-6CB5-A4998D5DFBF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462351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2</a:t>
            </a:r>
          </a:p>
        </p:txBody>
      </p:sp>
      <p:sp>
        <p:nvSpPr>
          <p:cNvPr id="25" name="Platshållare för innehåll 20">
            <a:extLst>
              <a:ext uri="{FF2B5EF4-FFF2-40B4-BE49-F238E27FC236}">
                <a16:creationId xmlns:a16="http://schemas.microsoft.com/office/drawing/2014/main" id="{640292F8-52FF-2D08-F6A1-84B86135BDF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53904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3</a:t>
            </a:r>
          </a:p>
        </p:txBody>
      </p:sp>
      <p:sp>
        <p:nvSpPr>
          <p:cNvPr id="26" name="Platshållare för innehåll 20">
            <a:extLst>
              <a:ext uri="{FF2B5EF4-FFF2-40B4-BE49-F238E27FC236}">
                <a16:creationId xmlns:a16="http://schemas.microsoft.com/office/drawing/2014/main" id="{3C278CC1-F5F3-8C46-B04E-0E8177D67F0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462351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4</a:t>
            </a:r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A21B330D-708C-2364-BA2A-65DE2B9120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484258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9B13962B-9836-06B2-D025-CF631ABC605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1574031" y="29572102"/>
            <a:ext cx="15471370" cy="10290872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1BE43E48-357E-0792-596F-C79660334AC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574031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0" name="Platshållare för bild 6">
            <a:extLst>
              <a:ext uri="{FF2B5EF4-FFF2-40B4-BE49-F238E27FC236}">
                <a16:creationId xmlns:a16="http://schemas.microsoft.com/office/drawing/2014/main" id="{F35809F1-7E14-8E87-6256-7860BA36A45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9742656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2" name="Platshållare för text 7">
            <a:extLst>
              <a:ext uri="{FF2B5EF4-FFF2-40B4-BE49-F238E27FC236}">
                <a16:creationId xmlns:a16="http://schemas.microsoft.com/office/drawing/2014/main" id="{2741B237-7D42-4DB8-4796-06D3320F46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1574031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3" name="Platshållare för text 7">
            <a:extLst>
              <a:ext uri="{FF2B5EF4-FFF2-40B4-BE49-F238E27FC236}">
                <a16:creationId xmlns:a16="http://schemas.microsoft.com/office/drawing/2014/main" id="{A0E6E946-B030-2454-4AC4-D4243D389F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9742655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E12458C9-FFEF-2BED-E9DA-B786C96EAEE5}"/>
              </a:ext>
            </a:extLst>
          </p:cNvPr>
          <p:cNvSpPr txBox="1"/>
          <p:nvPr userDrawn="1"/>
        </p:nvSpPr>
        <p:spPr>
          <a:xfrm>
            <a:off x="31574031" y="5251029"/>
            <a:ext cx="15471369" cy="1465695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 tIns="360000" rIns="360000" bIns="360000" rtlCol="0">
            <a:spAutoFit/>
          </a:bodyPr>
          <a:lstStyle/>
          <a:p>
            <a:r>
              <a:rPr lang="sv-SE" sz="4800" dirty="0" err="1">
                <a:solidFill>
                  <a:schemeClr val="accent6"/>
                </a:solidFill>
                <a:latin typeface="+mj-lt"/>
              </a:rPr>
              <a:t>Move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in on the page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when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needed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:</a:t>
            </a:r>
          </a:p>
        </p:txBody>
      </p:sp>
      <p:sp>
        <p:nvSpPr>
          <p:cNvPr id="29" name="Platshållare för text 9">
            <a:extLst>
              <a:ext uri="{FF2B5EF4-FFF2-40B4-BE49-F238E27FC236}">
                <a16:creationId xmlns:a16="http://schemas.microsoft.com/office/drawing/2014/main" id="{408A9226-1691-5C76-4E7F-DC92D26FC2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6657" y="10015151"/>
            <a:ext cx="23639993" cy="1400966"/>
          </a:xfrm>
        </p:spPr>
        <p:txBody>
          <a:bodyPr numCol="1"/>
          <a:lstStyle>
            <a:lvl1pPr marL="0" indent="0"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 err="1"/>
              <a:t>Supervised</a:t>
            </a:r>
            <a:r>
              <a:rPr lang="sv-SE" dirty="0"/>
              <a:t> by 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10" name="Platshållare för text 7">
            <a:extLst>
              <a:ext uri="{FF2B5EF4-FFF2-40B4-BE49-F238E27FC236}">
                <a16:creationId xmlns:a16="http://schemas.microsoft.com/office/drawing/2014/main" id="{450BA97F-FB9E-402C-EAFA-BFD417D6F4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16657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0" name="Platshållare för text 7">
            <a:extLst>
              <a:ext uri="{FF2B5EF4-FFF2-40B4-BE49-F238E27FC236}">
                <a16:creationId xmlns:a16="http://schemas.microsoft.com/office/drawing/2014/main" id="{18C96E1C-C109-2D58-85C2-B888BBA1E27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1484258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1" name="Platshållare för text 7">
            <a:extLst>
              <a:ext uri="{FF2B5EF4-FFF2-40B4-BE49-F238E27FC236}">
                <a16:creationId xmlns:a16="http://schemas.microsoft.com/office/drawing/2014/main" id="{AFC107AA-6782-8282-8277-D9B6166EEF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74031" y="40718496"/>
            <a:ext cx="8683570" cy="523971"/>
          </a:xfrm>
        </p:spPr>
        <p:txBody>
          <a:bodyPr tIns="144000" numCol="1">
            <a:spAutoFit/>
          </a:bodyPr>
          <a:lstStyle>
            <a:lvl1pPr marL="0" indent="0">
              <a:buNone/>
              <a:defRPr sz="2400" b="0" i="1">
                <a:solidFill>
                  <a:schemeClr val="tx2"/>
                </a:solidFill>
                <a:latin typeface="+mj-lt"/>
              </a:defRPr>
            </a:lvl1pPr>
            <a:lvl2pPr marL="32004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64008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96012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28016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Image </a:t>
            </a:r>
            <a:r>
              <a:rPr lang="sv-SE" dirty="0" err="1"/>
              <a:t>caption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5829300"/>
            <a:ext cx="23639995" cy="316483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6656" y="12423795"/>
            <a:ext cx="23639995" cy="25737051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16656" y="40980482"/>
            <a:ext cx="6060328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27D4B41D-E5F6-0F43-A23C-D24AA0869C0B}" type="datetime1">
              <a:rPr lang="sv-SE" smtClean="0"/>
              <a:pPr/>
              <a:t>2025-08-13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6690" y="40980482"/>
            <a:ext cx="10217885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sv-SE" dirty="0"/>
              <a:t>· 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 ·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73183" y="40980489"/>
            <a:ext cx="4983467" cy="61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1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19071" userDrawn="1">
          <p15:clr>
            <a:srgbClr val="F26B43"/>
          </p15:clr>
        </p15:guide>
        <p15:guide id="3" pos="2089" userDrawn="1">
          <p15:clr>
            <a:srgbClr val="F26B43"/>
          </p15:clr>
        </p15:guide>
        <p15:guide id="4" pos="4117" userDrawn="1">
          <p15:clr>
            <a:srgbClr val="F26B43"/>
          </p15:clr>
        </p15:guide>
        <p15:guide id="5" pos="4661" userDrawn="1">
          <p15:clr>
            <a:srgbClr val="F26B43"/>
          </p15:clr>
        </p15:guide>
        <p15:guide id="6" pos="6689" userDrawn="1">
          <p15:clr>
            <a:srgbClr val="F26B43"/>
          </p15:clr>
        </p15:guide>
        <p15:guide id="7" pos="7235" userDrawn="1">
          <p15:clr>
            <a:srgbClr val="F26B43"/>
          </p15:clr>
        </p15:guide>
        <p15:guide id="8" pos="9263" userDrawn="1">
          <p15:clr>
            <a:srgbClr val="F26B43"/>
          </p15:clr>
        </p15:guide>
        <p15:guide id="9" pos="9807" userDrawn="1">
          <p15:clr>
            <a:srgbClr val="F26B43"/>
          </p15:clr>
        </p15:guide>
        <p15:guide id="10" pos="11835" userDrawn="1">
          <p15:clr>
            <a:srgbClr val="F26B43"/>
          </p15:clr>
        </p15:guide>
        <p15:guide id="11" pos="12380" userDrawn="1">
          <p15:clr>
            <a:srgbClr val="F26B43"/>
          </p15:clr>
        </p15:guide>
        <p15:guide id="12" pos="14408" userDrawn="1">
          <p15:clr>
            <a:srgbClr val="F26B43"/>
          </p15:clr>
        </p15:guide>
        <p15:guide id="13" pos="14953" userDrawn="1">
          <p15:clr>
            <a:srgbClr val="F26B43"/>
          </p15:clr>
        </p15:guide>
        <p15:guide id="14" pos="1698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3505" userDrawn="1">
          <p15:clr>
            <a:srgbClr val="F26B43"/>
          </p15:clr>
        </p15:guide>
        <p15:guide id="18" orient="horz" pos="5666" userDrawn="1">
          <p15:clr>
            <a:srgbClr val="F26B43"/>
          </p15:clr>
        </p15:guide>
        <p15:guide id="19" orient="horz" pos="7826" userDrawn="1">
          <p15:clr>
            <a:srgbClr val="F26B43"/>
          </p15:clr>
        </p15:guide>
        <p15:guide id="20" orient="horz" pos="9986" userDrawn="1">
          <p15:clr>
            <a:srgbClr val="F26B43"/>
          </p15:clr>
        </p15:guide>
        <p15:guide id="21" orient="horz" pos="12147" userDrawn="1">
          <p15:clr>
            <a:srgbClr val="F26B43"/>
          </p15:clr>
        </p15:guide>
        <p15:guide id="22" orient="horz" pos="14307" userDrawn="1">
          <p15:clr>
            <a:srgbClr val="F26B43"/>
          </p15:clr>
        </p15:guide>
        <p15:guide id="23" orient="horz" pos="16468" userDrawn="1">
          <p15:clr>
            <a:srgbClr val="F26B43"/>
          </p15:clr>
        </p15:guide>
        <p15:guide id="24" orient="horz" pos="18628" userDrawn="1">
          <p15:clr>
            <a:srgbClr val="F26B43"/>
          </p15:clr>
        </p15:guide>
        <p15:guide id="25" orient="horz" pos="20789" userDrawn="1">
          <p15:clr>
            <a:srgbClr val="F26B43"/>
          </p15:clr>
        </p15:guide>
        <p15:guide id="26" orient="horz" pos="22949" userDrawn="1">
          <p15:clr>
            <a:srgbClr val="F26B43"/>
          </p15:clr>
        </p15:guide>
        <p15:guide id="27" orient="horz" pos="251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ubrik 34">
            <a:extLst>
              <a:ext uri="{FF2B5EF4-FFF2-40B4-BE49-F238E27FC236}">
                <a16:creationId xmlns:a16="http://schemas.microsoft.com/office/drawing/2014/main" id="{AB622ACE-E5D2-7042-6322-002F0B9D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10" y="5318680"/>
            <a:ext cx="27154965" cy="2229681"/>
          </a:xfrm>
        </p:spPr>
        <p:txBody>
          <a:bodyPr/>
          <a:lstStyle/>
          <a:p>
            <a:pPr algn="ctr"/>
            <a:r>
              <a:rPr lang="en-US" sz="8000" dirty="0" smtClean="0">
                <a:latin typeface="Georgia (Body)"/>
              </a:rPr>
              <a:t>Common-Mode </a:t>
            </a:r>
            <a:r>
              <a:rPr lang="en-US" sz="8000" dirty="0">
                <a:latin typeface="Georgia (Body)"/>
              </a:rPr>
              <a:t>Voltage Reduction in Two-Level Inverters Using an Adaptive Carrier-Phase-Shift Method</a:t>
            </a:r>
            <a:endParaRPr lang="sv-SE" sz="8000" dirty="0">
              <a:latin typeface="Georgia (Body)"/>
            </a:endParaRPr>
          </a:p>
        </p:txBody>
      </p:sp>
      <p:sp>
        <p:nvSpPr>
          <p:cNvPr id="37" name="Platshållare för text 36">
            <a:extLst>
              <a:ext uri="{FF2B5EF4-FFF2-40B4-BE49-F238E27FC236}">
                <a16:creationId xmlns:a16="http://schemas.microsoft.com/office/drawing/2014/main" id="{F7381222-53BE-4AC8-BF4E-5F35C37B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5607" y="7583362"/>
            <a:ext cx="29064843" cy="816668"/>
          </a:xfrm>
        </p:spPr>
        <p:txBody>
          <a:bodyPr/>
          <a:lstStyle/>
          <a:p>
            <a:r>
              <a:rPr lang="sv-SE" sz="4000" dirty="0" smtClean="0">
                <a:latin typeface="Georgia (Body)"/>
              </a:rPr>
              <a:t>Enes </a:t>
            </a:r>
            <a:r>
              <a:rPr lang="sv-SE" sz="4000" dirty="0">
                <a:latin typeface="Georgia (Body)"/>
              </a:rPr>
              <a:t>Ayaz, Shahriar Sarmast </a:t>
            </a:r>
            <a:r>
              <a:rPr lang="sv-SE" sz="4000" dirty="0" smtClean="0">
                <a:latin typeface="Georgia (Body)"/>
              </a:rPr>
              <a:t>Ghahfarokhi</a:t>
            </a:r>
            <a:r>
              <a:rPr lang="sv-SE" sz="4000" dirty="0">
                <a:latin typeface="Georgia (Body)"/>
              </a:rPr>
              <a:t>, Staffan Norrga, Hans-Peter Nee – KTH Royal </a:t>
            </a:r>
            <a:r>
              <a:rPr lang="sv-SE" sz="4000" dirty="0" err="1">
                <a:latin typeface="Georgia (Body)"/>
              </a:rPr>
              <a:t>Institute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of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Technology</a:t>
            </a:r>
            <a:endParaRPr lang="sv-SE" sz="4000" dirty="0">
              <a:latin typeface="Georgia (Body)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11" y="10871025"/>
            <a:ext cx="6577066" cy="4600706"/>
          </a:xfrm>
          <a:prstGeom prst="rect">
            <a:avLst/>
          </a:prstGeom>
        </p:spPr>
      </p:pic>
      <p:sp>
        <p:nvSpPr>
          <p:cNvPr id="5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78669" y="8732681"/>
            <a:ext cx="9448022" cy="1858802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Introduction </a:t>
            </a:r>
            <a:r>
              <a:rPr lang="en-GB" sz="3200" b="1" dirty="0">
                <a:solidFill>
                  <a:schemeClr val="tx2"/>
                </a:solidFill>
                <a:latin typeface="Georgia (Body)"/>
              </a:rPr>
              <a:t>&amp; </a:t>
            </a:r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Motivation</a:t>
            </a:r>
          </a:p>
          <a:p>
            <a:pPr algn="just"/>
            <a:endParaRPr lang="en-GB" b="1" dirty="0">
              <a:solidFill>
                <a:schemeClr val="tx2"/>
              </a:solidFill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Two-Level </a:t>
            </a:r>
            <a:r>
              <a:rPr lang="en-GB" b="1" dirty="0">
                <a:latin typeface="Georgia (Body)"/>
              </a:rPr>
              <a:t>Voltage Source Inverters </a:t>
            </a:r>
            <a:r>
              <a:rPr lang="en-GB" dirty="0">
                <a:latin typeface="Georgia (Body)"/>
              </a:rPr>
              <a:t>dominate industrial motor drives due to simplicity, low cost, and reliability.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5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1511" y="15786650"/>
            <a:ext cx="9448022" cy="7883543"/>
          </a:xfrm>
        </p:spPr>
        <p:txBody>
          <a:bodyPr/>
          <a:lstStyle/>
          <a:p>
            <a:pPr algn="just"/>
            <a:r>
              <a:rPr lang="en-GB" b="1" dirty="0" smtClean="0">
                <a:latin typeface="Georgia (Body)"/>
              </a:rPr>
              <a:t>Problem: </a:t>
            </a:r>
            <a:r>
              <a:rPr lang="en-GB" dirty="0" smtClean="0">
                <a:latin typeface="Georgia (Body)"/>
              </a:rPr>
              <a:t>PWM outputs</a:t>
            </a:r>
            <a:r>
              <a:rPr lang="en-GB" dirty="0">
                <a:latin typeface="Georgia (Body)"/>
              </a:rPr>
              <a:t> →</a:t>
            </a:r>
            <a:r>
              <a:rPr lang="en-GB" dirty="0" smtClean="0">
                <a:latin typeface="Georgia (Body)"/>
              </a:rPr>
              <a:t> Common-Mode Voltage → leads to: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Electromagnetic Interference (EMI)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Bearing currents → insulation damage → reduced lifespan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Existing Mitigation Approaches:</a:t>
            </a:r>
          </a:p>
          <a:p>
            <a:pPr algn="just"/>
            <a:endParaRPr lang="en-GB" b="1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New inverter topologies / CM filters → ↑ cost &amp; complexity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Constant carrier-phase-shift PWM → partial CMV reduction only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Key Idea:</a:t>
            </a:r>
            <a:endParaRPr lang="en-GB" b="1" dirty="0" smtClean="0">
              <a:latin typeface="Georgia (Body)"/>
            </a:endParaRPr>
          </a:p>
          <a:p>
            <a:pPr algn="just"/>
            <a:endParaRPr lang="en-US" b="1" dirty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Dynamically adjusts carrier phase shifts every switching interval </a:t>
            </a:r>
            <a:endParaRPr lang="en-US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Minimizes </a:t>
            </a:r>
            <a:r>
              <a:rPr lang="en-US" dirty="0">
                <a:latin typeface="Georgia (Body)"/>
              </a:rPr>
              <a:t>CMV harmonics at the instantaneous level.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No hardware changes → scalable &amp; low-cost.</a:t>
            </a: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1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287697" y="8621357"/>
            <a:ext cx="9448022" cy="1942453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Proposed Method</a:t>
            </a:r>
          </a:p>
          <a:p>
            <a:pPr algn="just"/>
            <a:endParaRPr lang="en-US" dirty="0">
              <a:latin typeface="Georgia (Body)"/>
            </a:endParaRPr>
          </a:p>
          <a:p>
            <a:pPr algn="just"/>
            <a:r>
              <a:rPr lang="en-US" dirty="0" smtClean="0">
                <a:latin typeface="Georgia (Body)"/>
              </a:rPr>
              <a:t>Represent </a:t>
            </a:r>
            <a:r>
              <a:rPr lang="en-US" dirty="0">
                <a:latin typeface="Georgia (Body)"/>
              </a:rPr>
              <a:t>1st carrier harmonics of each phase </a:t>
            </a:r>
            <a:r>
              <a:rPr lang="en-US" dirty="0" smtClean="0">
                <a:latin typeface="Georgia (Body)"/>
              </a:rPr>
              <a:t>in phasor domain.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0235346" y="8597339"/>
                <a:ext cx="9448022" cy="1858802"/>
              </a:xfrm>
            </p:spPr>
            <p:txBody>
              <a:bodyPr/>
              <a:lstStyle/>
              <a:p>
                <a:r>
                  <a:rPr lang="en-GB" sz="3200" b="1" dirty="0" smtClean="0">
                    <a:solidFill>
                      <a:schemeClr val="tx2"/>
                    </a:solidFill>
                    <a:latin typeface="Georgia (Body)"/>
                  </a:rPr>
                  <a:t>Simulation Results</a:t>
                </a:r>
              </a:p>
              <a:p>
                <a:endParaRPr lang="en-GB" sz="3200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Test </a:t>
                </a:r>
                <a:r>
                  <a:rPr lang="en-US" dirty="0">
                    <a:latin typeface="Georgia (Body)"/>
                  </a:rPr>
                  <a:t>cases: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0.4, 0.8.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FFT shows significant CMV harmonic reduction vs. conventional method.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Reduction </a:t>
                </a:r>
                <a:r>
                  <a:rPr lang="en-US" dirty="0">
                    <a:latin typeface="Georgia (Body)"/>
                  </a:rPr>
                  <a:t>observed across all modulation indices.</a:t>
                </a:r>
                <a:endParaRPr lang="en-GB" dirty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6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0235346" y="8597339"/>
                <a:ext cx="9448022" cy="1858802"/>
              </a:xfrm>
              <a:blipFill>
                <a:blip r:embed="rId3"/>
                <a:stretch>
                  <a:fillRect l="-1613" t="-6885" b="-4393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925" y="-6789"/>
            <a:ext cx="5867400" cy="4533900"/>
          </a:xfrm>
          <a:prstGeom prst="rect">
            <a:avLst/>
          </a:prstGeom>
        </p:spPr>
      </p:pic>
      <p:pic>
        <p:nvPicPr>
          <p:cNvPr id="63" name="Picture 2" descr="https://powerized.eu/images/Icons/Poweriz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45" y="1101408"/>
            <a:ext cx="7050988" cy="183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https://www.kth.se/polopoly_fs/1.1262538.1686911400!/image/HEMIZERO_2-1000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369" y="559963"/>
            <a:ext cx="2632075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399106" y="24508474"/>
                <a:ext cx="9448022" cy="3582733"/>
              </a:xfrm>
            </p:spPr>
            <p:txBody>
              <a:bodyPr/>
              <a:lstStyle/>
              <a:p>
                <a:pPr algn="just"/>
                <a:r>
                  <a:rPr lang="en-GB" sz="3200" b="1" dirty="0" smtClean="0">
                    <a:solidFill>
                      <a:schemeClr val="tx2"/>
                    </a:solidFill>
                    <a:latin typeface="Georgia (Body)"/>
                  </a:rPr>
                  <a:t>Analytical   Investigation of CMV</a:t>
                </a:r>
              </a:p>
              <a:p>
                <a:pPr algn="just"/>
                <a:endParaRPr lang="en-GB" b="1" dirty="0">
                  <a:solidFill>
                    <a:schemeClr val="tx2"/>
                  </a:solidFill>
                  <a:latin typeface="Georgia (Body)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sv-SE" dirty="0">
                    <a:latin typeface="Georgia (Body)"/>
                  </a:rPr>
                  <a:t>CMV </a:t>
                </a:r>
                <a:r>
                  <a:rPr lang="sv-SE" dirty="0">
                    <a:latin typeface="Georgia (Body)"/>
                  </a:rPr>
                  <a:t>in 2L-VSI</a:t>
                </a:r>
                <a:r>
                  <a:rPr lang="sv-SE" dirty="0">
                    <a:latin typeface="Georgia (Body)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Georgia (Body)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Georgia (Body)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v-SE" i="1" dirty="0">
                              <a:latin typeface="Georgia (Body)"/>
                            </a:rPr>
                            <m:t>CM</m:t>
                          </m:r>
                        </m:sub>
                      </m:sSub>
                      <m:r>
                        <a:rPr lang="sv-SE" i="1" dirty="0">
                          <a:latin typeface="Georgia (Body)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Georgia (Body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Georgia (Body)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Georgia (Body)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Georgia (Body)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Georgia (Body)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Georgia (Body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Georgia (Body)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Georgia (Body)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Georgia (Body)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Georgia (Body)"/>
                                </a:rPr>
                                <m:t>+</m:t>
                              </m:r>
                              <m:r>
                                <a:rPr lang="sv-SE" i="1" dirty="0">
                                  <a:latin typeface="Georgia (Body)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i="1" dirty="0">
                                  <a:latin typeface="Georgia (Body)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Georgia (Body)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Georgia (Body)"/>
                </a:endParaRPr>
              </a:p>
              <a:p>
                <a:pPr algn="just"/>
                <a:endParaRPr lang="en-US" dirty="0" smtClean="0">
                  <a:latin typeface="Georgia (Body)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 (Body)"/>
                  </a:rPr>
                  <a:t>When conventional single-carrier SPWM is implemented, the phase-to-neutral voltages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𝑝</m:t>
                        </m:r>
                        <m:r>
                          <a:rPr lang="en-US" b="0" i="1" dirty="0" smtClean="0">
                            <a:latin typeface="Georgia (Body)"/>
                          </a:rPr>
                          <m:t>−</m:t>
                        </m:r>
                        <m:r>
                          <a:rPr lang="en-US" b="0" i="1" dirty="0" smtClean="0">
                            <a:latin typeface="Georgia (Body)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Georgia (Body)"/>
                      </a:rPr>
                      <m:t> </m:t>
                    </m:r>
                  </m:oMath>
                </a14:m>
                <a:r>
                  <a:rPr lang="en-US" dirty="0" smtClean="0">
                    <a:latin typeface="Georgia (Body)"/>
                  </a:rPr>
                  <a:t> ) can be calculated as:</a:t>
                </a:r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>
                  <a:latin typeface="Georgia (Body)"/>
                </a:endParaRPr>
              </a:p>
              <a:p>
                <a:pPr algn="just"/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399106" y="24508474"/>
                <a:ext cx="9448022" cy="3582733"/>
              </a:xfrm>
              <a:blipFill>
                <a:blip r:embed="rId7"/>
                <a:stretch>
                  <a:fillRect l="-1613" t="-3571" r="-1355" b="-476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0827806"/>
            <a:ext cx="9448022" cy="1327502"/>
          </a:xfrm>
        </p:spPr>
        <p:txBody>
          <a:bodyPr/>
          <a:lstStyle/>
          <a:p>
            <a:pPr algn="just"/>
            <a:r>
              <a:rPr lang="sv-SE" dirty="0" err="1">
                <a:latin typeface="Georgia (Body)"/>
              </a:rPr>
              <a:t>Harmonic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 smtClean="0">
                <a:latin typeface="Georgia (Body)"/>
              </a:rPr>
              <a:t>decomposition</a:t>
            </a:r>
            <a:r>
              <a:rPr lang="sv-SE" dirty="0" smtClean="0">
                <a:latin typeface="Georgia (Body)"/>
              </a:rPr>
              <a:t> </a:t>
            </a:r>
            <a:r>
              <a:rPr lang="sv-SE" dirty="0">
                <a:latin typeface="Georgia (Body)"/>
              </a:rPr>
              <a:t>→ </a:t>
            </a:r>
            <a:r>
              <a:rPr lang="sv-SE" dirty="0" err="1">
                <a:latin typeface="Georgia (Body)"/>
              </a:rPr>
              <a:t>Zero-sequence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components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create</a:t>
            </a:r>
            <a:r>
              <a:rPr lang="sv-SE" dirty="0">
                <a:latin typeface="Georgia (Body)"/>
              </a:rPr>
              <a:t> </a:t>
            </a:r>
            <a:r>
              <a:rPr lang="sv-SE" dirty="0" smtClean="0">
                <a:latin typeface="Georgia (Body)"/>
              </a:rPr>
              <a:t>CM </a:t>
            </a:r>
            <a:r>
              <a:rPr lang="sv-SE" dirty="0" err="1" smtClean="0">
                <a:latin typeface="Georgia (Body)"/>
              </a:rPr>
              <a:t>currents</a:t>
            </a:r>
            <a:r>
              <a:rPr lang="sv-SE" dirty="0" smtClean="0">
                <a:latin typeface="Georgia (Body)"/>
              </a:rPr>
              <a:t>.</a:t>
            </a:r>
            <a:endParaRPr lang="sv-SE" dirty="0">
              <a:latin typeface="Georgia (Body)"/>
            </a:endParaRPr>
          </a:p>
          <a:p>
            <a:pPr algn="just"/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3831" y="28003325"/>
            <a:ext cx="5876586" cy="267685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9251" y="32000525"/>
            <a:ext cx="6812103" cy="3253676"/>
          </a:xfrm>
          <a:prstGeom prst="rect">
            <a:avLst/>
          </a:prstGeom>
        </p:spPr>
      </p:pic>
      <p:sp>
        <p:nvSpPr>
          <p:cNvPr id="77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7266" y="35980653"/>
            <a:ext cx="9448022" cy="1584999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accent3"/>
                </a:solidFill>
                <a:latin typeface="Georgia (Body)"/>
              </a:rPr>
              <a:t>Conventional Interleaving </a:t>
            </a:r>
          </a:p>
          <a:p>
            <a:pPr algn="just"/>
            <a:endParaRPr lang="en-US" sz="3200" dirty="0" smtClean="0">
              <a:solidFill>
                <a:schemeClr val="accent3"/>
              </a:solidFill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Shifts </a:t>
            </a:r>
            <a:r>
              <a:rPr lang="en-US" dirty="0">
                <a:latin typeface="Georgia (Body)"/>
              </a:rPr>
              <a:t>carriers by 0°, 120°, 240° → redistributes harmonics.</a:t>
            </a:r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74" y="38025768"/>
            <a:ext cx="9165577" cy="3986548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49887" y="10395140"/>
            <a:ext cx="6648450" cy="2647950"/>
          </a:xfrm>
          <a:prstGeom prst="rect">
            <a:avLst/>
          </a:prstGeom>
        </p:spPr>
      </p:pic>
      <p:sp>
        <p:nvSpPr>
          <p:cNvPr id="8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250101" y="13294662"/>
            <a:ext cx="9448022" cy="4125813"/>
          </a:xfrm>
        </p:spPr>
        <p:txBody>
          <a:bodyPr/>
          <a:lstStyle/>
          <a:p>
            <a:pPr algn="just"/>
            <a:r>
              <a:rPr lang="en-US" b="1" dirty="0" smtClean="0">
                <a:latin typeface="Georgia (Body)"/>
              </a:rPr>
              <a:t>Adjust </a:t>
            </a:r>
            <a:r>
              <a:rPr lang="en-US" b="1" dirty="0">
                <a:latin typeface="Georgia (Body)"/>
              </a:rPr>
              <a:t>phase shifts to either</a:t>
            </a:r>
            <a:r>
              <a:rPr lang="en-US" b="1" dirty="0" smtClean="0">
                <a:latin typeface="Georgia (Body)"/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Form </a:t>
            </a:r>
            <a:r>
              <a:rPr lang="en-US" sz="2800" dirty="0">
                <a:latin typeface="Georgia (Body)"/>
              </a:rPr>
              <a:t>a triangle → cancel CMV </a:t>
            </a:r>
            <a:r>
              <a:rPr lang="en-US" sz="2800" dirty="0" smtClean="0">
                <a:latin typeface="Georgia (Body)"/>
              </a:rPr>
              <a:t>completely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Align </a:t>
            </a:r>
            <a:r>
              <a:rPr lang="en-US" sz="2800" dirty="0">
                <a:latin typeface="Georgia (Body)"/>
              </a:rPr>
              <a:t>small vectors opposite to </a:t>
            </a:r>
            <a:r>
              <a:rPr lang="en-US" sz="2800" dirty="0" smtClean="0">
                <a:latin typeface="Georgia (Body)"/>
              </a:rPr>
              <a:t>the largest </a:t>
            </a:r>
            <a:r>
              <a:rPr lang="en-US" sz="2800" dirty="0">
                <a:latin typeface="Georgia (Body)"/>
              </a:rPr>
              <a:t>vector (triangle inequality not met)</a:t>
            </a:r>
            <a:endParaRPr lang="en-GB" sz="2800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99714" y="14953784"/>
            <a:ext cx="7821360" cy="3411444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 rotWithShape="1">
          <a:blip r:embed="rId13"/>
          <a:srcRect t="4760"/>
          <a:stretch/>
        </p:blipFill>
        <p:spPr>
          <a:xfrm>
            <a:off x="10612624" y="18427941"/>
            <a:ext cx="8452383" cy="5242253"/>
          </a:xfrm>
          <a:prstGeom prst="rect">
            <a:avLst/>
          </a:prstGeom>
        </p:spPr>
      </p:pic>
      <p:sp>
        <p:nvSpPr>
          <p:cNvPr id="88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617651" y="24508474"/>
            <a:ext cx="9448022" cy="95633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Algorithm</a:t>
            </a: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3081" y="25072886"/>
            <a:ext cx="6938900" cy="10031781"/>
          </a:xfrm>
          <a:prstGeom prst="rect">
            <a:avLst/>
          </a:prstGeom>
        </p:spPr>
      </p:pic>
      <p:sp>
        <p:nvSpPr>
          <p:cNvPr id="94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81346" y="35942829"/>
            <a:ext cx="9448022" cy="6127686"/>
          </a:xfrm>
        </p:spPr>
        <p:txBody>
          <a:bodyPr/>
          <a:lstStyle/>
          <a:p>
            <a:pPr lvl="0">
              <a:buClr>
                <a:srgbClr val="004791"/>
              </a:buClr>
            </a:pPr>
            <a:r>
              <a:rPr lang="en-GB" sz="3200" b="1" dirty="0">
                <a:solidFill>
                  <a:srgbClr val="000061"/>
                </a:solidFill>
                <a:latin typeface="Georgia (Body)"/>
              </a:rPr>
              <a:t>Discussion</a:t>
            </a:r>
          </a:p>
          <a:p>
            <a:pPr lvl="1" algn="just"/>
            <a:endParaRPr lang="en-US" sz="2800" b="1" dirty="0" smtClean="0">
              <a:latin typeface="Georgia (Body)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Bearing </a:t>
            </a:r>
            <a:r>
              <a:rPr lang="en-US" sz="2800" b="1" dirty="0">
                <a:latin typeface="Georgia (Body)"/>
              </a:rPr>
              <a:t>current mechanisms: </a:t>
            </a:r>
            <a:r>
              <a:rPr lang="en-US" sz="2800" dirty="0">
                <a:latin typeface="Georgia (Body)"/>
              </a:rPr>
              <a:t>capacitive, electric discharge machining (EDM), and circulating bearing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Capacitive </a:t>
            </a:r>
            <a:r>
              <a:rPr lang="en-US" sz="2800" b="1" dirty="0">
                <a:latin typeface="Georgia (Body)"/>
              </a:rPr>
              <a:t>bearing currents: </a:t>
            </a:r>
            <a:r>
              <a:rPr lang="en-US" sz="2800" dirty="0">
                <a:latin typeface="Georgia (Body)"/>
              </a:rPr>
              <a:t>strongly influenced by high-frequency CMV components; higher dv/</a:t>
            </a:r>
            <a:r>
              <a:rPr lang="en-US" sz="2800" dirty="0" err="1">
                <a:latin typeface="Georgia (Body)"/>
              </a:rPr>
              <a:t>dt</a:t>
            </a:r>
            <a:r>
              <a:rPr lang="en-US" sz="2800" dirty="0">
                <a:latin typeface="Georgia (Body)"/>
              </a:rPr>
              <a:t> → larger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EDM </a:t>
            </a:r>
            <a:r>
              <a:rPr lang="en-US" sz="2800" b="1" dirty="0">
                <a:latin typeface="Georgia (Body)"/>
              </a:rPr>
              <a:t>currents: </a:t>
            </a:r>
            <a:r>
              <a:rPr lang="en-US" sz="2800" dirty="0">
                <a:latin typeface="Georgia (Body)"/>
              </a:rPr>
              <a:t>triggered when CMV exceeds lubricant breakdown voltage → electrical discharge across bearings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Switching </a:t>
            </a:r>
            <a:r>
              <a:rPr lang="en-US" sz="2800" b="1" dirty="0">
                <a:latin typeface="Georgia (Body)"/>
              </a:rPr>
              <a:t>pattern impact: </a:t>
            </a:r>
            <a:r>
              <a:rPr lang="en-US" sz="2800" dirty="0">
                <a:latin typeface="Georgia (Body)"/>
              </a:rPr>
              <a:t>less critical for capacitive currents but important for EDM current suppression</a:t>
            </a:r>
            <a:r>
              <a:rPr lang="en-US" sz="2800" dirty="0" smtClean="0">
                <a:latin typeface="Georgia (Body)"/>
              </a:rPr>
              <a:t>.</a:t>
            </a:r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15"/>
          <a:srcRect b="10211"/>
          <a:stretch/>
        </p:blipFill>
        <p:spPr>
          <a:xfrm>
            <a:off x="20251114" y="11035242"/>
            <a:ext cx="7972050" cy="646473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14693" y="17139853"/>
            <a:ext cx="7235023" cy="62916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7947641" y="19946845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0.8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10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7947641" y="19946845"/>
                <a:ext cx="1684291" cy="677829"/>
              </a:xfrm>
              <a:blipFill>
                <a:blip r:embed="rId17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14346" y="24447159"/>
            <a:ext cx="9644053" cy="69435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Experimental Results</a:t>
            </a:r>
          </a:p>
          <a:p>
            <a:endParaRPr lang="en-GB" sz="2400" dirty="0" smtClean="0">
              <a:latin typeface="Georgia (Body)"/>
            </a:endParaRPr>
          </a:p>
          <a:p>
            <a:endParaRPr lang="en-GB" sz="2400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588470" y="24897397"/>
            <a:ext cx="6045299" cy="3022650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14346" y="27948852"/>
            <a:ext cx="8274451" cy="3744032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628924" y="31624353"/>
            <a:ext cx="8306904" cy="3629848"/>
          </a:xfrm>
          <a:prstGeom prst="rect">
            <a:avLst/>
          </a:prstGeom>
        </p:spPr>
      </p:pic>
      <p:sp>
        <p:nvSpPr>
          <p:cNvPr id="11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62002" y="35980653"/>
            <a:ext cx="9644053" cy="404434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Conclusion</a:t>
            </a:r>
          </a:p>
          <a:p>
            <a:endParaRPr lang="en-GB" b="1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Adaptive Carrier-Phase-Shift SPWM: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Reduces instantaneous CMV more effectively than fixed-phase methods.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Maintains simplicity of 2L-VSIs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No additional hardware required</a:t>
            </a:r>
          </a:p>
          <a:p>
            <a:endParaRPr lang="en-GB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Extend to multi-phase &amp; multi-level inverters</a:t>
            </a:r>
          </a:p>
          <a:p>
            <a:endParaRPr lang="en-GB" dirty="0">
              <a:latin typeface="Georgia (Body)"/>
            </a:endParaRPr>
          </a:p>
          <a:p>
            <a:r>
              <a:rPr lang="en-US" dirty="0" smtClean="0">
                <a:latin typeface="Georgia (Body)"/>
              </a:rPr>
              <a:t> </a:t>
            </a:r>
            <a:endParaRPr lang="sv-SE" dirty="0">
              <a:latin typeface="Georgia (Body)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572945" y="3332741"/>
            <a:ext cx="97314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Funded by </a:t>
            </a:r>
            <a:r>
              <a:rPr lang="en-US" sz="3200" b="1" dirty="0"/>
              <a:t>EU CHIPS JU (</a:t>
            </a:r>
            <a:r>
              <a:rPr lang="en-US" sz="3200" b="1" dirty="0" err="1"/>
              <a:t>PowerizeD</a:t>
            </a:r>
            <a:r>
              <a:rPr lang="en-US" sz="3200" b="1" dirty="0"/>
              <a:t>)</a:t>
            </a:r>
            <a:r>
              <a:rPr lang="en-US" sz="3200" dirty="0"/>
              <a:t> &amp; </a:t>
            </a:r>
            <a:r>
              <a:rPr lang="en-US" sz="3200" b="1" dirty="0"/>
              <a:t>Swedish Energy Agency (HEMIZERO)</a:t>
            </a:r>
            <a:endParaRPr lang="sv-SE" sz="3200" dirty="0"/>
          </a:p>
        </p:txBody>
      </p:sp>
      <p:sp>
        <p:nvSpPr>
          <p:cNvPr id="120" name="Rectangle 119"/>
          <p:cNvSpPr/>
          <p:nvPr/>
        </p:nvSpPr>
        <p:spPr>
          <a:xfrm>
            <a:off x="123396" y="8561640"/>
            <a:ext cx="9844724" cy="15294984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1" name="Rectangle 120"/>
          <p:cNvSpPr/>
          <p:nvPr/>
        </p:nvSpPr>
        <p:spPr>
          <a:xfrm>
            <a:off x="186809" y="35837942"/>
            <a:ext cx="9844725" cy="6232572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5" name="Rectangle 124"/>
          <p:cNvSpPr/>
          <p:nvPr/>
        </p:nvSpPr>
        <p:spPr>
          <a:xfrm>
            <a:off x="10143590" y="8561640"/>
            <a:ext cx="9844724" cy="15294984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6" name="Rectangle 125"/>
          <p:cNvSpPr/>
          <p:nvPr/>
        </p:nvSpPr>
        <p:spPr>
          <a:xfrm>
            <a:off x="20235347" y="8561640"/>
            <a:ext cx="9844724" cy="15294984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7" name="Rectangle 126"/>
          <p:cNvSpPr/>
          <p:nvPr/>
        </p:nvSpPr>
        <p:spPr>
          <a:xfrm>
            <a:off x="186809" y="24435725"/>
            <a:ext cx="9844725" cy="10992793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8" name="Rectangle 127"/>
          <p:cNvSpPr/>
          <p:nvPr/>
        </p:nvSpPr>
        <p:spPr>
          <a:xfrm>
            <a:off x="10267465" y="35837942"/>
            <a:ext cx="9844725" cy="6232572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29" name="Rectangle 128"/>
          <p:cNvSpPr/>
          <p:nvPr/>
        </p:nvSpPr>
        <p:spPr>
          <a:xfrm>
            <a:off x="10220949" y="24453688"/>
            <a:ext cx="9844725" cy="10992793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7960364" y="13796267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13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7960364" y="13796267"/>
                <a:ext cx="1684291" cy="677829"/>
              </a:xfrm>
              <a:blipFill>
                <a:blip r:embed="rId21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/>
          <p:cNvSpPr/>
          <p:nvPr/>
        </p:nvSpPr>
        <p:spPr>
          <a:xfrm>
            <a:off x="20312705" y="24435724"/>
            <a:ext cx="9844725" cy="10992793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34" name="Rectangle 133"/>
          <p:cNvSpPr/>
          <p:nvPr/>
        </p:nvSpPr>
        <p:spPr>
          <a:xfrm>
            <a:off x="20315426" y="35837942"/>
            <a:ext cx="9844725" cy="6232572"/>
          </a:xfrm>
          <a:prstGeom prst="rect">
            <a:avLst/>
          </a:prstGeom>
          <a:noFill/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8656159" y="32880162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0.8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13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8656159" y="32880162"/>
                <a:ext cx="1684291" cy="677829"/>
              </a:xfrm>
              <a:blipFill>
                <a:blip r:embed="rId22"/>
                <a:stretch>
                  <a:fillRect t="-1621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8374108" y="29420331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Georgia (Body)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Georgia (Body)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Georgia (Body)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13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8374108" y="29420331"/>
                <a:ext cx="1684291" cy="677829"/>
              </a:xfrm>
              <a:blipFill>
                <a:blip r:embed="rId23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5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_presentation_template" id="{849AC4DD-E1C2-5246-BA3B-97A717A592CC}" vid="{53E22E81-CC6B-DF47-AF43-FCD19FCAEE8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360</TotalTime>
  <Words>432</Words>
  <Application>Microsoft Office PowerPoint</Application>
  <PresentationFormat>Custom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Georgia (Body)</vt:lpstr>
      <vt:lpstr>Georgia</vt:lpstr>
      <vt:lpstr>Figtree</vt:lpstr>
      <vt:lpstr>Arial</vt:lpstr>
      <vt:lpstr>Calibri</vt:lpstr>
      <vt:lpstr>Office-tema</vt:lpstr>
      <vt:lpstr>Common-Mode Voltage Reduction in Two-Level Inverters Using an Adaptive Carrier-Phase-Shift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Anna Bertilsson</dc:creator>
  <cp:lastModifiedBy>Enes Ayaz</cp:lastModifiedBy>
  <cp:revision>33</cp:revision>
  <dcterms:created xsi:type="dcterms:W3CDTF">2023-08-29T11:38:46Z</dcterms:created>
  <dcterms:modified xsi:type="dcterms:W3CDTF">2025-08-13T14:28:50Z</dcterms:modified>
</cp:coreProperties>
</file>