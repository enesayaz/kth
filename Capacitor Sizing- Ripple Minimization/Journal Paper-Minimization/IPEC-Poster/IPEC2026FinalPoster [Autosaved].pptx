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58" r:id="rId5"/>
  </p:sldIdLst>
  <p:sldSz cx="30275213" cy="4280376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185"/>
    <a:srgbClr val="B4016D"/>
    <a:srgbClr val="2B2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E52041-1F69-4EE8-A1C1-432E4D80A538}" v="81" dt="2026-04-17T17:46:06.5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891" autoAdjust="0"/>
  </p:normalViewPr>
  <p:slideViewPr>
    <p:cSldViewPr snapToGrid="0">
      <p:cViewPr varScale="1">
        <p:scale>
          <a:sx n="10" d="100"/>
          <a:sy n="10" d="100"/>
        </p:scale>
        <p:origin x="2214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DBE3027-0DE6-46AD-89E3-00AA5A272244}" type="datetimeFigureOut">
              <a:rPr lang="sv-SE" smtClean="0"/>
              <a:t>2026-05-20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0450" y="1279525"/>
            <a:ext cx="24431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BCEFE64-D0F2-4C81-BCE3-6EC8A554D9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478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EFE64-D0F2-4C81-BCE3-6EC8A554D9B3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00191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206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590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46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83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00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832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79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49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680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066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671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3BCB7-844F-49E6-AE41-CE47892E9870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1C634-E0D8-4A71-807C-6DF64FA8C6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フローチャート: 手操作入力 6">
            <a:extLst>
              <a:ext uri="{FF2B5EF4-FFF2-40B4-BE49-F238E27FC236}">
                <a16:creationId xmlns:a16="http://schemas.microsoft.com/office/drawing/2014/main" id="{6F9A0556-18A2-390B-EDE8-E8C565A8D973}"/>
              </a:ext>
            </a:extLst>
          </p:cNvPr>
          <p:cNvSpPr/>
          <p:nvPr userDrawn="1"/>
        </p:nvSpPr>
        <p:spPr>
          <a:xfrm rot="5400000" flipH="1">
            <a:off x="707472" y="-707472"/>
            <a:ext cx="3011540" cy="4426483"/>
          </a:xfrm>
          <a:prstGeom prst="flowChartManualInpu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A8B4C24-D74B-8AAF-4E05-75A68FB1BF1F}"/>
              </a:ext>
            </a:extLst>
          </p:cNvPr>
          <p:cNvGrpSpPr/>
          <p:nvPr userDrawn="1"/>
        </p:nvGrpSpPr>
        <p:grpSpPr>
          <a:xfrm>
            <a:off x="9935534" y="39899052"/>
            <a:ext cx="10404145" cy="1972843"/>
            <a:chOff x="1013012" y="3181194"/>
            <a:chExt cx="9544050" cy="1809750"/>
          </a:xfrm>
        </p:grpSpPr>
        <p:pic>
          <p:nvPicPr>
            <p:cNvPr id="9" name="Picture 2" descr="IPEC 2026 Logo">
              <a:extLst>
                <a:ext uri="{FF2B5EF4-FFF2-40B4-BE49-F238E27FC236}">
                  <a16:creationId xmlns:a16="http://schemas.microsoft.com/office/drawing/2014/main" id="{49450B0A-2544-E768-6798-7C5F8A1A0D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012" y="3181194"/>
              <a:ext cx="782955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10th Anniversary Logo">
              <a:extLst>
                <a:ext uri="{FF2B5EF4-FFF2-40B4-BE49-F238E27FC236}">
                  <a16:creationId xmlns:a16="http://schemas.microsoft.com/office/drawing/2014/main" id="{21BA35D7-873F-4C67-F471-4B420CA6B2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2562" y="3181194"/>
              <a:ext cx="171450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5199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E67A1927-5ED9-C968-3604-3AFF64F43D34}"/>
              </a:ext>
            </a:extLst>
          </p:cNvPr>
          <p:cNvSpPr txBox="1">
            <a:spLocks/>
          </p:cNvSpPr>
          <p:nvPr/>
        </p:nvSpPr>
        <p:spPr>
          <a:xfrm>
            <a:off x="4072043" y="328629"/>
            <a:ext cx="24365949" cy="1776170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56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6000" b="1" dirty="0">
                <a:solidFill>
                  <a:srgbClr val="2B2F6B"/>
                </a:solidFill>
              </a:rPr>
              <a:t>Real-Time DC-Link Capacitor Stress Reduction in Two-Level Three-Phase Inverters Using Adaptive Multi-Carrier PWM Method</a:t>
            </a:r>
            <a:endParaRPr lang="ja-JP" altLang="en-US" sz="6000" b="1" dirty="0">
              <a:solidFill>
                <a:srgbClr val="2B2F6B"/>
              </a:solidFill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78E3ECC0-BBA4-0A3C-1B66-22355F13B227}"/>
              </a:ext>
            </a:extLst>
          </p:cNvPr>
          <p:cNvSpPr txBox="1">
            <a:spLocks/>
          </p:cNvSpPr>
          <p:nvPr/>
        </p:nvSpPr>
        <p:spPr>
          <a:xfrm>
            <a:off x="4564105" y="2282460"/>
            <a:ext cx="23732642" cy="7872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kumimoji="1" sz="79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13743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662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27487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41230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54974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568717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082461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596204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109948" indent="0" algn="ctr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kumimoji="1" sz="52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ja-JP" sz="4800" b="1" u="sng" dirty="0">
                <a:solidFill>
                  <a:srgbClr val="2B2F6B"/>
                </a:solidFill>
                <a:effectLst/>
              </a:rPr>
              <a:t>Enes Ayaz</a:t>
            </a:r>
            <a:r>
              <a:rPr lang="en-US" altLang="ja-JP" sz="4800" u="sng" baseline="30000" dirty="0">
                <a:solidFill>
                  <a:srgbClr val="2B2F6B"/>
                </a:solidFill>
                <a:effectLst/>
              </a:rPr>
              <a:t>1</a:t>
            </a:r>
            <a:r>
              <a:rPr lang="en-US" altLang="ja-JP" sz="4800" dirty="0">
                <a:solidFill>
                  <a:srgbClr val="2B2F6B"/>
                </a:solidFill>
                <a:effectLst/>
              </a:rPr>
              <a:t>, Shahriar Sarmast Ghahfarokhi </a:t>
            </a:r>
            <a:r>
              <a:rPr lang="en-US" altLang="ja-JP" sz="4800" baseline="30000" dirty="0">
                <a:solidFill>
                  <a:srgbClr val="2B2F6B"/>
                </a:solidFill>
                <a:effectLst/>
              </a:rPr>
              <a:t>1</a:t>
            </a:r>
            <a:r>
              <a:rPr lang="en-US" altLang="ja-JP" sz="4800" dirty="0">
                <a:solidFill>
                  <a:srgbClr val="2B2F6B"/>
                </a:solidFill>
                <a:effectLst/>
              </a:rPr>
              <a:t>, </a:t>
            </a:r>
            <a:r>
              <a:rPr lang="en-US" altLang="ja-JP" sz="4800" dirty="0">
                <a:solidFill>
                  <a:srgbClr val="2B2F6B"/>
                </a:solidFill>
              </a:rPr>
              <a:t>S</a:t>
            </a:r>
            <a:r>
              <a:rPr lang="en-US" altLang="ja-JP" sz="4800" dirty="0">
                <a:solidFill>
                  <a:srgbClr val="2B2F6B"/>
                </a:solidFill>
                <a:effectLst/>
              </a:rPr>
              <a:t>taffan Norrga</a:t>
            </a:r>
            <a:r>
              <a:rPr lang="en-US" altLang="ja-JP" sz="4800" baseline="30000" dirty="0">
                <a:solidFill>
                  <a:srgbClr val="2B2F6B"/>
                </a:solidFill>
              </a:rPr>
              <a:t>1</a:t>
            </a:r>
            <a:r>
              <a:rPr lang="en-US" altLang="ja-JP" sz="4800" baseline="30000" dirty="0">
                <a:solidFill>
                  <a:srgbClr val="2B2F6B"/>
                </a:solidFill>
                <a:effectLst/>
              </a:rPr>
              <a:t> </a:t>
            </a:r>
            <a:r>
              <a:rPr lang="en-US" altLang="ja-JP" sz="4800" dirty="0">
                <a:solidFill>
                  <a:srgbClr val="2B2F6B"/>
                </a:solidFill>
              </a:rPr>
              <a:t>, Hans-Peter Nee</a:t>
            </a:r>
            <a:r>
              <a:rPr lang="en-US" altLang="ja-JP" sz="4800" baseline="30000" dirty="0">
                <a:solidFill>
                  <a:srgbClr val="2B2F6B"/>
                </a:solidFill>
              </a:rPr>
              <a:t>1 </a:t>
            </a:r>
            <a:endParaRPr lang="en-US" altLang="ja-JP" sz="4800" baseline="30000" dirty="0">
              <a:solidFill>
                <a:srgbClr val="2B2F6B"/>
              </a:solidFill>
              <a:effectLst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D81EC1E-DE77-AADC-918A-E724DCEA8991}"/>
              </a:ext>
            </a:extLst>
          </p:cNvPr>
          <p:cNvSpPr txBox="1"/>
          <p:nvPr/>
        </p:nvSpPr>
        <p:spPr>
          <a:xfrm>
            <a:off x="4072043" y="3198921"/>
            <a:ext cx="23117680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400" baseline="30000" dirty="0">
                <a:solidFill>
                  <a:srgbClr val="2B2F6B"/>
                </a:solidFill>
                <a:effectLst/>
              </a:rPr>
              <a:t>1</a:t>
            </a:r>
            <a:r>
              <a:rPr kumimoji="1" lang="en-US" altLang="ja-JP" sz="4400" dirty="0">
                <a:solidFill>
                  <a:srgbClr val="2B2F6B"/>
                </a:solidFill>
              </a:rPr>
              <a:t>KTH Royal Institute of Technology, Stockholm, Sweden</a:t>
            </a:r>
            <a:endParaRPr lang="en-US" altLang="ja-JP" sz="4400" dirty="0">
              <a:solidFill>
                <a:srgbClr val="2B2F6B"/>
              </a:solidFill>
              <a:effectLst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64E0F1D-22D7-66B7-9445-5D9FBAC8DA38}"/>
              </a:ext>
            </a:extLst>
          </p:cNvPr>
          <p:cNvSpPr txBox="1">
            <a:spLocks/>
          </p:cNvSpPr>
          <p:nvPr/>
        </p:nvSpPr>
        <p:spPr>
          <a:xfrm>
            <a:off x="347052" y="1070285"/>
            <a:ext cx="2861764" cy="1164286"/>
          </a:xfrm>
          <a:prstGeom prst="rect">
            <a:avLst/>
          </a:prstGeom>
          <a:noFill/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4800" dirty="0">
                <a:solidFill>
                  <a:schemeClr val="bg1"/>
                </a:solidFill>
              </a:rPr>
              <a:t>P1-8-12</a:t>
            </a:r>
          </a:p>
        </p:txBody>
      </p:sp>
      <p:sp>
        <p:nvSpPr>
          <p:cNvPr id="13" name="テキスト ボックス 5">
            <a:extLst>
              <a:ext uri="{FF2B5EF4-FFF2-40B4-BE49-F238E27FC236}">
                <a16:creationId xmlns:a16="http://schemas.microsoft.com/office/drawing/2014/main" id="{CFC56C37-23B9-7BF0-38F0-1454C98F4ADE}"/>
              </a:ext>
            </a:extLst>
          </p:cNvPr>
          <p:cNvSpPr txBox="1"/>
          <p:nvPr/>
        </p:nvSpPr>
        <p:spPr>
          <a:xfrm>
            <a:off x="430738" y="5379374"/>
            <a:ext cx="9149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Two-level three-phase voltage source inverters are widely used in industrial motor drives. </a:t>
            </a:r>
          </a:p>
        </p:txBody>
      </p:sp>
      <p:sp>
        <p:nvSpPr>
          <p:cNvPr id="14" name="テキスト ボックス 8">
            <a:extLst>
              <a:ext uri="{FF2B5EF4-FFF2-40B4-BE49-F238E27FC236}">
                <a16:creationId xmlns:a16="http://schemas.microsoft.com/office/drawing/2014/main" id="{025244C0-8D5A-942D-116F-A90F8046EFB1}"/>
              </a:ext>
            </a:extLst>
          </p:cNvPr>
          <p:cNvSpPr txBox="1"/>
          <p:nvPr/>
        </p:nvSpPr>
        <p:spPr>
          <a:xfrm>
            <a:off x="922975" y="4352666"/>
            <a:ext cx="2938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ja-JP" sz="2800" b="1" dirty="0">
                <a:solidFill>
                  <a:srgbClr val="018185"/>
                </a:solidFill>
              </a:rPr>
              <a:t>INTRODUCTION</a:t>
            </a:r>
            <a:endParaRPr kumimoji="1" lang="ja-JP" altLang="en-US" sz="3600" b="1" dirty="0">
              <a:solidFill>
                <a:srgbClr val="018185"/>
              </a:solidFill>
            </a:endParaRPr>
          </a:p>
        </p:txBody>
      </p:sp>
      <p:sp>
        <p:nvSpPr>
          <p:cNvPr id="15" name="正方形/長方形 9">
            <a:extLst>
              <a:ext uri="{FF2B5EF4-FFF2-40B4-BE49-F238E27FC236}">
                <a16:creationId xmlns:a16="http://schemas.microsoft.com/office/drawing/2014/main" id="{158509F0-E6E9-1FAF-AC1F-8A14E6E97176}"/>
              </a:ext>
            </a:extLst>
          </p:cNvPr>
          <p:cNvSpPr/>
          <p:nvPr/>
        </p:nvSpPr>
        <p:spPr>
          <a:xfrm>
            <a:off x="347052" y="4294051"/>
            <a:ext cx="539462" cy="721907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ja-JP" sz="4400" dirty="0"/>
              <a:t>1</a:t>
            </a:r>
            <a:endParaRPr kumimoji="1" lang="ja-JP" altLang="en-US" sz="4400" dirty="0"/>
          </a:p>
        </p:txBody>
      </p:sp>
      <p:cxnSp>
        <p:nvCxnSpPr>
          <p:cNvPr id="16" name="直線コネクタ 11">
            <a:extLst>
              <a:ext uri="{FF2B5EF4-FFF2-40B4-BE49-F238E27FC236}">
                <a16:creationId xmlns:a16="http://schemas.microsoft.com/office/drawing/2014/main" id="{38102944-3846-DAD0-D3C4-E1DB018FF127}"/>
              </a:ext>
            </a:extLst>
          </p:cNvPr>
          <p:cNvCxnSpPr>
            <a:cxnSpLocks/>
          </p:cNvCxnSpPr>
          <p:nvPr/>
        </p:nvCxnSpPr>
        <p:spPr>
          <a:xfrm>
            <a:off x="347052" y="5013460"/>
            <a:ext cx="9211875" cy="2499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19">
            <a:extLst>
              <a:ext uri="{FF2B5EF4-FFF2-40B4-BE49-F238E27FC236}">
                <a16:creationId xmlns:a16="http://schemas.microsoft.com/office/drawing/2014/main" id="{497CB52B-9AB9-EB60-EAD4-32969AD31577}"/>
              </a:ext>
            </a:extLst>
          </p:cNvPr>
          <p:cNvSpPr/>
          <p:nvPr/>
        </p:nvSpPr>
        <p:spPr>
          <a:xfrm>
            <a:off x="23224199" y="39594944"/>
            <a:ext cx="4230533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677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28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0AFC767-0DA9-ACDF-405E-D6400590758A}"/>
              </a:ext>
            </a:extLst>
          </p:cNvPr>
          <p:cNvSpPr/>
          <p:nvPr/>
        </p:nvSpPr>
        <p:spPr>
          <a:xfrm>
            <a:off x="23258665" y="40273665"/>
            <a:ext cx="4230533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6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48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2D45A27A-915A-B724-37A8-7488B42D9247}"/>
              </a:ext>
            </a:extLst>
          </p:cNvPr>
          <p:cNvSpPr/>
          <p:nvPr/>
        </p:nvSpPr>
        <p:spPr>
          <a:xfrm>
            <a:off x="23315552" y="40919149"/>
            <a:ext cx="423053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RMS current</a:t>
            </a:r>
            <a:endParaRPr lang="en-US" sz="28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AAC9BD3-29E0-1B33-0E29-539575E9B1B8}"/>
              </a:ext>
            </a:extLst>
          </p:cNvPr>
          <p:cNvSpPr/>
          <p:nvPr/>
        </p:nvSpPr>
        <p:spPr>
          <a:xfrm>
            <a:off x="21224222" y="37902184"/>
            <a:ext cx="4230533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677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8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BA92114D-8FB0-1077-4D10-6026D1896C17}"/>
              </a:ext>
            </a:extLst>
          </p:cNvPr>
          <p:cNvSpPr/>
          <p:nvPr/>
        </p:nvSpPr>
        <p:spPr>
          <a:xfrm>
            <a:off x="21151341" y="38313664"/>
            <a:ext cx="4230533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18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48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AF2E8BFC-B8AF-080F-148D-5A5060CB768D}"/>
              </a:ext>
            </a:extLst>
          </p:cNvPr>
          <p:cNvSpPr/>
          <p:nvPr/>
        </p:nvSpPr>
        <p:spPr>
          <a:xfrm>
            <a:off x="21151341" y="39054511"/>
            <a:ext cx="423053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 A -&gt; 21.2 A</a:t>
            </a:r>
            <a:endParaRPr lang="en-US" sz="28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C4750E53-A6D6-E856-8A5C-77BEEB481F06}"/>
              </a:ext>
            </a:extLst>
          </p:cNvPr>
          <p:cNvSpPr/>
          <p:nvPr/>
        </p:nvSpPr>
        <p:spPr>
          <a:xfrm>
            <a:off x="25224578" y="37858297"/>
            <a:ext cx="4230533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677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28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369010A6-E9F4-F1A4-F72A-3739AEC16882}"/>
              </a:ext>
            </a:extLst>
          </p:cNvPr>
          <p:cNvSpPr/>
          <p:nvPr/>
        </p:nvSpPr>
        <p:spPr>
          <a:xfrm>
            <a:off x="25142544" y="38313664"/>
            <a:ext cx="472226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6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gain</a:t>
            </a:r>
            <a:endParaRPr lang="en-US" sz="48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9B47617-D635-19C1-5BD7-4B8A9A04D929}"/>
              </a:ext>
            </a:extLst>
          </p:cNvPr>
          <p:cNvSpPr/>
          <p:nvPr/>
        </p:nvSpPr>
        <p:spPr>
          <a:xfrm>
            <a:off x="25388410" y="39054511"/>
            <a:ext cx="423053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estimate</a:t>
            </a:r>
            <a:endParaRPr lang="en-US" sz="2800" dirty="0"/>
          </a:p>
        </p:txBody>
      </p:sp>
      <p:sp>
        <p:nvSpPr>
          <p:cNvPr id="75" name="テキスト ボックス 5">
            <a:extLst>
              <a:ext uri="{FF2B5EF4-FFF2-40B4-BE49-F238E27FC236}">
                <a16:creationId xmlns:a16="http://schemas.microsoft.com/office/drawing/2014/main" id="{E2884625-0031-3BAC-2596-2C9DDBCD10B4}"/>
              </a:ext>
            </a:extLst>
          </p:cNvPr>
          <p:cNvSpPr txBox="1"/>
          <p:nvPr/>
        </p:nvSpPr>
        <p:spPr>
          <a:xfrm>
            <a:off x="10523444" y="19719442"/>
            <a:ext cx="9149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normalization:</a:t>
            </a:r>
          </a:p>
        </p:txBody>
      </p:sp>
      <p:sp>
        <p:nvSpPr>
          <p:cNvPr id="76" name="テキスト ボックス 8">
            <a:extLst>
              <a:ext uri="{FF2B5EF4-FFF2-40B4-BE49-F238E27FC236}">
                <a16:creationId xmlns:a16="http://schemas.microsoft.com/office/drawing/2014/main" id="{63170633-5243-2BD5-110C-36C4909F1D37}"/>
              </a:ext>
            </a:extLst>
          </p:cNvPr>
          <p:cNvSpPr txBox="1"/>
          <p:nvPr/>
        </p:nvSpPr>
        <p:spPr>
          <a:xfrm>
            <a:off x="886514" y="11362966"/>
            <a:ext cx="7984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ja-JP" sz="2800" b="1" dirty="0">
                <a:solidFill>
                  <a:srgbClr val="018185"/>
                </a:solidFill>
              </a:rPr>
              <a:t>DC-LINK CAPACITOR LIFETIME ESTIMATION</a:t>
            </a:r>
            <a:endParaRPr kumimoji="1" lang="ja-JP" altLang="en-US" sz="3600" b="1" dirty="0">
              <a:solidFill>
                <a:srgbClr val="018185"/>
              </a:solidFill>
            </a:endParaRPr>
          </a:p>
        </p:txBody>
      </p:sp>
      <p:sp>
        <p:nvSpPr>
          <p:cNvPr id="97" name="テキスト ボックス 5">
            <a:extLst>
              <a:ext uri="{FF2B5EF4-FFF2-40B4-BE49-F238E27FC236}">
                <a16:creationId xmlns:a16="http://schemas.microsoft.com/office/drawing/2014/main" id="{6EB2A997-93CE-8C04-7610-F77D6618A2C8}"/>
              </a:ext>
            </a:extLst>
          </p:cNvPr>
          <p:cNvSpPr txBox="1"/>
          <p:nvPr/>
        </p:nvSpPr>
        <p:spPr>
          <a:xfrm>
            <a:off x="461924" y="12224476"/>
            <a:ext cx="9149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capacitor lifetime is strongly affected by voltage stress and hotspot temperature.</a:t>
            </a:r>
          </a:p>
        </p:txBody>
      </p:sp>
      <p:sp>
        <p:nvSpPr>
          <p:cNvPr id="99" name="テキスト ボックス 8">
            <a:extLst>
              <a:ext uri="{FF2B5EF4-FFF2-40B4-BE49-F238E27FC236}">
                <a16:creationId xmlns:a16="http://schemas.microsoft.com/office/drawing/2014/main" id="{B204B16B-0FC0-3F51-7B6E-ADF97F79ECEE}"/>
              </a:ext>
            </a:extLst>
          </p:cNvPr>
          <p:cNvSpPr txBox="1"/>
          <p:nvPr/>
        </p:nvSpPr>
        <p:spPr>
          <a:xfrm>
            <a:off x="886514" y="19536141"/>
            <a:ext cx="8716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ja-JP" sz="2800" b="1" dirty="0">
                <a:solidFill>
                  <a:srgbClr val="018185"/>
                </a:solidFill>
              </a:rPr>
              <a:t>DC-LINK CURRENT ANALYSIS OF THE INVERTER</a:t>
            </a:r>
            <a:endParaRPr kumimoji="1" lang="ja-JP" altLang="en-US" sz="3600" b="1" dirty="0">
              <a:solidFill>
                <a:srgbClr val="018185"/>
              </a:solidFill>
            </a:endParaRPr>
          </a:p>
        </p:txBody>
      </p:sp>
      <p:sp>
        <p:nvSpPr>
          <p:cNvPr id="106" name="正方形/長方形 9">
            <a:extLst>
              <a:ext uri="{FF2B5EF4-FFF2-40B4-BE49-F238E27FC236}">
                <a16:creationId xmlns:a16="http://schemas.microsoft.com/office/drawing/2014/main" id="{9727DF7C-AF61-8AA5-E1B8-E42CABFA398C}"/>
              </a:ext>
            </a:extLst>
          </p:cNvPr>
          <p:cNvSpPr/>
          <p:nvPr/>
        </p:nvSpPr>
        <p:spPr>
          <a:xfrm>
            <a:off x="351136" y="11267285"/>
            <a:ext cx="539462" cy="721907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ja-JP" sz="4400" dirty="0"/>
              <a:t>2</a:t>
            </a:r>
            <a:endParaRPr kumimoji="1" lang="ja-JP" altLang="en-US" sz="4400" dirty="0"/>
          </a:p>
        </p:txBody>
      </p:sp>
      <p:cxnSp>
        <p:nvCxnSpPr>
          <p:cNvPr id="107" name="直線コネクタ 11">
            <a:extLst>
              <a:ext uri="{FF2B5EF4-FFF2-40B4-BE49-F238E27FC236}">
                <a16:creationId xmlns:a16="http://schemas.microsoft.com/office/drawing/2014/main" id="{A9694429-04EE-BCF5-91BB-96DD7E900014}"/>
              </a:ext>
            </a:extLst>
          </p:cNvPr>
          <p:cNvCxnSpPr>
            <a:cxnSpLocks/>
          </p:cNvCxnSpPr>
          <p:nvPr/>
        </p:nvCxnSpPr>
        <p:spPr>
          <a:xfrm>
            <a:off x="351136" y="11986694"/>
            <a:ext cx="9211875" cy="2499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正方形/長方形 9">
            <a:extLst>
              <a:ext uri="{FF2B5EF4-FFF2-40B4-BE49-F238E27FC236}">
                <a16:creationId xmlns:a16="http://schemas.microsoft.com/office/drawing/2014/main" id="{6251A26D-D5B3-873D-B3DC-3C4DC9B0AE2D}"/>
              </a:ext>
            </a:extLst>
          </p:cNvPr>
          <p:cNvSpPr/>
          <p:nvPr/>
        </p:nvSpPr>
        <p:spPr>
          <a:xfrm>
            <a:off x="343645" y="19442959"/>
            <a:ext cx="539462" cy="721907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ja-JP" sz="4400" dirty="0"/>
              <a:t>3</a:t>
            </a:r>
          </a:p>
        </p:txBody>
      </p:sp>
      <p:cxnSp>
        <p:nvCxnSpPr>
          <p:cNvPr id="110" name="直線コネクタ 11">
            <a:extLst>
              <a:ext uri="{FF2B5EF4-FFF2-40B4-BE49-F238E27FC236}">
                <a16:creationId xmlns:a16="http://schemas.microsoft.com/office/drawing/2014/main" id="{4A87FCC6-9F13-5760-7D9C-4BA2702F1CD5}"/>
              </a:ext>
            </a:extLst>
          </p:cNvPr>
          <p:cNvCxnSpPr>
            <a:cxnSpLocks/>
          </p:cNvCxnSpPr>
          <p:nvPr/>
        </p:nvCxnSpPr>
        <p:spPr>
          <a:xfrm>
            <a:off x="343645" y="20162368"/>
            <a:ext cx="9211875" cy="2499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テキスト ボックス 5">
            <a:extLst>
              <a:ext uri="{FF2B5EF4-FFF2-40B4-BE49-F238E27FC236}">
                <a16:creationId xmlns:a16="http://schemas.microsoft.com/office/drawing/2014/main" id="{9EAB9A03-F145-9C47-9640-0CAEBDBBD0FD}"/>
              </a:ext>
            </a:extLst>
          </p:cNvPr>
          <p:cNvSpPr txBox="1"/>
          <p:nvPr/>
        </p:nvSpPr>
        <p:spPr>
          <a:xfrm>
            <a:off x="571316" y="23577077"/>
            <a:ext cx="3881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 Current:</a:t>
            </a:r>
          </a:p>
        </p:txBody>
      </p:sp>
      <p:sp>
        <p:nvSpPr>
          <p:cNvPr id="137" name="テキスト ボックス 5">
            <a:extLst>
              <a:ext uri="{FF2B5EF4-FFF2-40B4-BE49-F238E27FC236}">
                <a16:creationId xmlns:a16="http://schemas.microsoft.com/office/drawing/2014/main" id="{D044910A-2647-431B-791B-C2F177E72391}"/>
              </a:ext>
            </a:extLst>
          </p:cNvPr>
          <p:cNvSpPr txBox="1"/>
          <p:nvPr/>
        </p:nvSpPr>
        <p:spPr>
          <a:xfrm>
            <a:off x="571315" y="24586977"/>
            <a:ext cx="9149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 calculation within switching periods:</a:t>
            </a:r>
          </a:p>
        </p:txBody>
      </p:sp>
      <p:sp>
        <p:nvSpPr>
          <p:cNvPr id="140" name="テキスト ボックス 8">
            <a:extLst>
              <a:ext uri="{FF2B5EF4-FFF2-40B4-BE49-F238E27FC236}">
                <a16:creationId xmlns:a16="http://schemas.microsoft.com/office/drawing/2014/main" id="{CA2414EE-F1F4-2398-479F-D1D7AF34E331}"/>
              </a:ext>
            </a:extLst>
          </p:cNvPr>
          <p:cNvSpPr txBox="1"/>
          <p:nvPr/>
        </p:nvSpPr>
        <p:spPr>
          <a:xfrm>
            <a:off x="852695" y="28411005"/>
            <a:ext cx="8595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ja-JP" sz="2800" b="1" dirty="0">
                <a:solidFill>
                  <a:srgbClr val="018185"/>
                </a:solidFill>
              </a:rPr>
              <a:t>CONVENTIONAL SINGLE-CARRIER-BASED PWM</a:t>
            </a:r>
            <a:endParaRPr kumimoji="1" lang="ja-JP" altLang="en-US" sz="3600" b="1" dirty="0">
              <a:solidFill>
                <a:srgbClr val="018185"/>
              </a:solidFill>
            </a:endParaRPr>
          </a:p>
        </p:txBody>
      </p:sp>
      <p:sp>
        <p:nvSpPr>
          <p:cNvPr id="141" name="正方形/長方形 9">
            <a:extLst>
              <a:ext uri="{FF2B5EF4-FFF2-40B4-BE49-F238E27FC236}">
                <a16:creationId xmlns:a16="http://schemas.microsoft.com/office/drawing/2014/main" id="{CDC96B96-BE6F-664E-8A2D-D1420DAA3A87}"/>
              </a:ext>
            </a:extLst>
          </p:cNvPr>
          <p:cNvSpPr/>
          <p:nvPr/>
        </p:nvSpPr>
        <p:spPr>
          <a:xfrm>
            <a:off x="340911" y="28311662"/>
            <a:ext cx="539462" cy="721907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ja-JP" sz="4400" dirty="0"/>
              <a:t>4</a:t>
            </a:r>
            <a:endParaRPr kumimoji="1" lang="ja-JP" altLang="en-US" sz="4400" dirty="0"/>
          </a:p>
        </p:txBody>
      </p:sp>
      <p:cxnSp>
        <p:nvCxnSpPr>
          <p:cNvPr id="142" name="直線コネクタ 11">
            <a:extLst>
              <a:ext uri="{FF2B5EF4-FFF2-40B4-BE49-F238E27FC236}">
                <a16:creationId xmlns:a16="http://schemas.microsoft.com/office/drawing/2014/main" id="{C8199B52-4DB9-A5A5-5BF2-D13CB12D5531}"/>
              </a:ext>
            </a:extLst>
          </p:cNvPr>
          <p:cNvCxnSpPr>
            <a:cxnSpLocks/>
          </p:cNvCxnSpPr>
          <p:nvPr/>
        </p:nvCxnSpPr>
        <p:spPr>
          <a:xfrm>
            <a:off x="340911" y="29031071"/>
            <a:ext cx="9211875" cy="2499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テキスト ボックス 8">
            <a:extLst>
              <a:ext uri="{FF2B5EF4-FFF2-40B4-BE49-F238E27FC236}">
                <a16:creationId xmlns:a16="http://schemas.microsoft.com/office/drawing/2014/main" id="{1EAFAEB0-A16B-F87E-F1B5-9243AB99AA3F}"/>
              </a:ext>
            </a:extLst>
          </p:cNvPr>
          <p:cNvSpPr txBox="1"/>
          <p:nvPr/>
        </p:nvSpPr>
        <p:spPr>
          <a:xfrm>
            <a:off x="10893796" y="4389393"/>
            <a:ext cx="8573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ja-JP" sz="2800" b="1" dirty="0">
                <a:solidFill>
                  <a:srgbClr val="018185"/>
                </a:solidFill>
              </a:rPr>
              <a:t>PROPOSED MULTI-CARRIER PWM TECHNIQUE</a:t>
            </a:r>
            <a:endParaRPr kumimoji="1" lang="ja-JP" altLang="en-US" sz="3600" b="1" dirty="0">
              <a:solidFill>
                <a:srgbClr val="018185"/>
              </a:solidFill>
            </a:endParaRPr>
          </a:p>
        </p:txBody>
      </p:sp>
      <p:sp>
        <p:nvSpPr>
          <p:cNvPr id="149" name="正方形/長方形 9">
            <a:extLst>
              <a:ext uri="{FF2B5EF4-FFF2-40B4-BE49-F238E27FC236}">
                <a16:creationId xmlns:a16="http://schemas.microsoft.com/office/drawing/2014/main" id="{6D60CAA8-B1A2-4091-3F21-560B0006B3C5}"/>
              </a:ext>
            </a:extLst>
          </p:cNvPr>
          <p:cNvSpPr/>
          <p:nvPr/>
        </p:nvSpPr>
        <p:spPr>
          <a:xfrm>
            <a:off x="10336342" y="4318549"/>
            <a:ext cx="539462" cy="721907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ja-JP" sz="4400" dirty="0"/>
              <a:t>5</a:t>
            </a:r>
            <a:endParaRPr kumimoji="1" lang="ja-JP" altLang="en-US" sz="4400" dirty="0"/>
          </a:p>
        </p:txBody>
      </p:sp>
      <p:cxnSp>
        <p:nvCxnSpPr>
          <p:cNvPr id="150" name="直線コネクタ 11">
            <a:extLst>
              <a:ext uri="{FF2B5EF4-FFF2-40B4-BE49-F238E27FC236}">
                <a16:creationId xmlns:a16="http://schemas.microsoft.com/office/drawing/2014/main" id="{6F07F37D-0176-5462-C68A-29227F135305}"/>
              </a:ext>
            </a:extLst>
          </p:cNvPr>
          <p:cNvCxnSpPr>
            <a:cxnSpLocks/>
          </p:cNvCxnSpPr>
          <p:nvPr/>
        </p:nvCxnSpPr>
        <p:spPr>
          <a:xfrm>
            <a:off x="10336342" y="5037958"/>
            <a:ext cx="9211875" cy="2499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C3D5038E-8EA0-0A5F-060C-0BD098CDF667}"/>
                  </a:ext>
                </a:extLst>
              </p:cNvPr>
              <p:cNvSpPr txBox="1"/>
              <p:nvPr/>
            </p:nvSpPr>
            <p:spPr>
              <a:xfrm>
                <a:off x="20325632" y="5572708"/>
                <a:ext cx="92118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2400"/>
                  </a:spcBef>
                  <a:buClr>
                    <a:srgbClr val="018185"/>
                  </a:buClr>
                </a:pPr>
                <a:r>
                  <a:rPr lang="en-US" sz="2800" b="1" dirty="0">
                    <a:solidFill>
                      <a:srgbClr val="01818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Steady-state comparison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2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𝒎</m:t>
                        </m:r>
                      </m:e>
                      <m:sub>
                        <m:r>
                          <a:rPr lang="en-US" sz="2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𝒂</m:t>
                        </m:r>
                      </m:sub>
                    </m:sSub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𝟔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rgbClr val="01818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𝒑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𝒇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.= 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𝟗</m:t>
                    </m:r>
                  </m:oMath>
                </a14:m>
                <a:r>
                  <a:rPr lang="en-US" sz="2800" b="1" dirty="0">
                    <a:solidFill>
                      <a:srgbClr val="01818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</a:t>
                </a: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C3D5038E-8EA0-0A5F-060C-0BD098CDF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5632" y="5572708"/>
                <a:ext cx="9211875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TextBox 179">
            <a:extLst>
              <a:ext uri="{FF2B5EF4-FFF2-40B4-BE49-F238E27FC236}">
                <a16:creationId xmlns:a16="http://schemas.microsoft.com/office/drawing/2014/main" id="{F5869615-C8D2-6227-4E59-4F6519107190}"/>
              </a:ext>
            </a:extLst>
          </p:cNvPr>
          <p:cNvSpPr txBox="1"/>
          <p:nvPr/>
        </p:nvSpPr>
        <p:spPr>
          <a:xfrm>
            <a:off x="21416030" y="29626413"/>
            <a:ext cx="8225472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400"/>
              </a:spcBef>
              <a:buClr>
                <a:srgbClr val="018185"/>
              </a:buClr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performance:</a:t>
            </a:r>
          </a:p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adaptation of carrier phase shifts.</a:t>
            </a:r>
          </a:p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real-time feasibility.</a:t>
            </a:r>
          </a:p>
        </p:txBody>
      </p:sp>
      <p:sp>
        <p:nvSpPr>
          <p:cNvPr id="181" name="テキスト ボックス 8">
            <a:extLst>
              <a:ext uri="{FF2B5EF4-FFF2-40B4-BE49-F238E27FC236}">
                <a16:creationId xmlns:a16="http://schemas.microsoft.com/office/drawing/2014/main" id="{74B28D5F-6201-5888-D287-8E6F39D804FC}"/>
              </a:ext>
            </a:extLst>
          </p:cNvPr>
          <p:cNvSpPr txBox="1"/>
          <p:nvPr/>
        </p:nvSpPr>
        <p:spPr>
          <a:xfrm>
            <a:off x="10893796" y="17823658"/>
            <a:ext cx="6314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ja-JP" sz="2800" b="1" dirty="0">
                <a:solidFill>
                  <a:srgbClr val="018185"/>
                </a:solidFill>
              </a:rPr>
              <a:t>IMPLEMENTATION METHODOLOGY</a:t>
            </a:r>
            <a:endParaRPr kumimoji="1" lang="ja-JP" altLang="en-US" sz="3600" b="1" dirty="0">
              <a:solidFill>
                <a:srgbClr val="018185"/>
              </a:solidFill>
            </a:endParaRPr>
          </a:p>
        </p:txBody>
      </p:sp>
      <p:sp>
        <p:nvSpPr>
          <p:cNvPr id="182" name="正方形/長方形 9">
            <a:extLst>
              <a:ext uri="{FF2B5EF4-FFF2-40B4-BE49-F238E27FC236}">
                <a16:creationId xmlns:a16="http://schemas.microsoft.com/office/drawing/2014/main" id="{77F4D6E2-9C4D-7A41-EE39-83C76FB740EE}"/>
              </a:ext>
            </a:extLst>
          </p:cNvPr>
          <p:cNvSpPr/>
          <p:nvPr/>
        </p:nvSpPr>
        <p:spPr>
          <a:xfrm>
            <a:off x="10336078" y="17766817"/>
            <a:ext cx="539462" cy="721907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ja-JP" sz="4400" dirty="0"/>
              <a:t>6</a:t>
            </a:r>
            <a:endParaRPr kumimoji="1" lang="ja-JP" altLang="en-US" sz="4400" dirty="0"/>
          </a:p>
        </p:txBody>
      </p:sp>
      <p:cxnSp>
        <p:nvCxnSpPr>
          <p:cNvPr id="183" name="直線コネクタ 11">
            <a:extLst>
              <a:ext uri="{FF2B5EF4-FFF2-40B4-BE49-F238E27FC236}">
                <a16:creationId xmlns:a16="http://schemas.microsoft.com/office/drawing/2014/main" id="{131BDA5D-DA3F-7519-6BBA-4069169DE3AC}"/>
              </a:ext>
            </a:extLst>
          </p:cNvPr>
          <p:cNvCxnSpPr>
            <a:cxnSpLocks/>
          </p:cNvCxnSpPr>
          <p:nvPr/>
        </p:nvCxnSpPr>
        <p:spPr>
          <a:xfrm>
            <a:off x="10338511" y="18467524"/>
            <a:ext cx="9211875" cy="2499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テキスト ボックス 5">
            <a:extLst>
              <a:ext uri="{FF2B5EF4-FFF2-40B4-BE49-F238E27FC236}">
                <a16:creationId xmlns:a16="http://schemas.microsoft.com/office/drawing/2014/main" id="{72D29E43-856C-CD12-AD36-56321DB7AA29}"/>
              </a:ext>
            </a:extLst>
          </p:cNvPr>
          <p:cNvSpPr txBox="1"/>
          <p:nvPr/>
        </p:nvSpPr>
        <p:spPr>
          <a:xfrm>
            <a:off x="10523444" y="18711068"/>
            <a:ext cx="9149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optimization &amp; LUT-based real-time implementation</a:t>
            </a:r>
          </a:p>
        </p:txBody>
      </p:sp>
      <p:sp>
        <p:nvSpPr>
          <p:cNvPr id="196" name="テキスト ボックス 5">
            <a:extLst>
              <a:ext uri="{FF2B5EF4-FFF2-40B4-BE49-F238E27FC236}">
                <a16:creationId xmlns:a16="http://schemas.microsoft.com/office/drawing/2014/main" id="{ADD6DEFC-F54D-F168-F8D5-CFE9C7E11326}"/>
              </a:ext>
            </a:extLst>
          </p:cNvPr>
          <p:cNvSpPr txBox="1"/>
          <p:nvPr/>
        </p:nvSpPr>
        <p:spPr>
          <a:xfrm>
            <a:off x="10505533" y="21427231"/>
            <a:ext cx="89844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balanced three-phase condition, current inputs reduce to </a:t>
            </a:r>
          </a:p>
        </p:txBody>
      </p:sp>
      <p:sp>
        <p:nvSpPr>
          <p:cNvPr id="198" name="テキスト ボックス 5">
            <a:extLst>
              <a:ext uri="{FF2B5EF4-FFF2-40B4-BE49-F238E27FC236}">
                <a16:creationId xmlns:a16="http://schemas.microsoft.com/office/drawing/2014/main" id="{1A4484F7-273F-80B4-EB68-771B604DC2D4}"/>
              </a:ext>
            </a:extLst>
          </p:cNvPr>
          <p:cNvSpPr txBox="1"/>
          <p:nvPr/>
        </p:nvSpPr>
        <p:spPr>
          <a:xfrm>
            <a:off x="10525736" y="23395609"/>
            <a:ext cx="88008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duty-cycle constraint in SPWM, duty inputs reduce to </a:t>
            </a:r>
          </a:p>
        </p:txBody>
      </p:sp>
      <p:sp>
        <p:nvSpPr>
          <p:cNvPr id="200" name="テキスト ボックス 5">
            <a:extLst>
              <a:ext uri="{FF2B5EF4-FFF2-40B4-BE49-F238E27FC236}">
                <a16:creationId xmlns:a16="http://schemas.microsoft.com/office/drawing/2014/main" id="{96A8B0B8-5926-5199-43FB-5D3399B83267}"/>
              </a:ext>
            </a:extLst>
          </p:cNvPr>
          <p:cNvSpPr txBox="1"/>
          <p:nvPr/>
        </p:nvSpPr>
        <p:spPr>
          <a:xfrm>
            <a:off x="10523443" y="25071116"/>
            <a:ext cx="9149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Look-up-table mapping</a:t>
            </a:r>
          </a:p>
        </p:txBody>
      </p:sp>
      <p:sp>
        <p:nvSpPr>
          <p:cNvPr id="207" name="テキスト ボックス 5">
            <a:extLst>
              <a:ext uri="{FF2B5EF4-FFF2-40B4-BE49-F238E27FC236}">
                <a16:creationId xmlns:a16="http://schemas.microsoft.com/office/drawing/2014/main" id="{7137CDA8-183C-B782-F7ED-B763F187EA19}"/>
              </a:ext>
            </a:extLst>
          </p:cNvPr>
          <p:cNvSpPr txBox="1"/>
          <p:nvPr/>
        </p:nvSpPr>
        <p:spPr>
          <a:xfrm>
            <a:off x="10523442" y="26503564"/>
            <a:ext cx="9149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objective (per switching period k)</a:t>
            </a:r>
          </a:p>
        </p:txBody>
      </p:sp>
      <p:sp>
        <p:nvSpPr>
          <p:cNvPr id="209" name="テキスト ボックス 8">
            <a:extLst>
              <a:ext uri="{FF2B5EF4-FFF2-40B4-BE49-F238E27FC236}">
                <a16:creationId xmlns:a16="http://schemas.microsoft.com/office/drawing/2014/main" id="{B5B13917-7C1E-8E17-2759-6798B00CF206}"/>
              </a:ext>
            </a:extLst>
          </p:cNvPr>
          <p:cNvSpPr txBox="1"/>
          <p:nvPr/>
        </p:nvSpPr>
        <p:spPr>
          <a:xfrm>
            <a:off x="10960578" y="28427215"/>
            <a:ext cx="5555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ja-JP" sz="2800" b="1" dirty="0">
                <a:solidFill>
                  <a:srgbClr val="018185"/>
                </a:solidFill>
              </a:rPr>
              <a:t>PERFORMANCE ASSESSMENT</a:t>
            </a:r>
            <a:endParaRPr kumimoji="1" lang="ja-JP" altLang="en-US" sz="3600" b="1" dirty="0">
              <a:solidFill>
                <a:srgbClr val="018185"/>
              </a:solidFill>
            </a:endParaRPr>
          </a:p>
        </p:txBody>
      </p:sp>
      <p:sp>
        <p:nvSpPr>
          <p:cNvPr id="210" name="正方形/長方形 9">
            <a:extLst>
              <a:ext uri="{FF2B5EF4-FFF2-40B4-BE49-F238E27FC236}">
                <a16:creationId xmlns:a16="http://schemas.microsoft.com/office/drawing/2014/main" id="{B7F5823C-02AD-C1AB-866C-58D2121162F0}"/>
              </a:ext>
            </a:extLst>
          </p:cNvPr>
          <p:cNvSpPr/>
          <p:nvPr/>
        </p:nvSpPr>
        <p:spPr>
          <a:xfrm>
            <a:off x="10354334" y="28384176"/>
            <a:ext cx="539462" cy="721907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ja-JP" sz="4400" dirty="0"/>
              <a:t>7</a:t>
            </a:r>
            <a:endParaRPr kumimoji="1" lang="ja-JP" altLang="en-US" sz="4400" dirty="0"/>
          </a:p>
        </p:txBody>
      </p:sp>
      <p:cxnSp>
        <p:nvCxnSpPr>
          <p:cNvPr id="211" name="直線コネクタ 11">
            <a:extLst>
              <a:ext uri="{FF2B5EF4-FFF2-40B4-BE49-F238E27FC236}">
                <a16:creationId xmlns:a16="http://schemas.microsoft.com/office/drawing/2014/main" id="{ED253968-CD3F-626A-A1AD-03F9697C2D9E}"/>
              </a:ext>
            </a:extLst>
          </p:cNvPr>
          <p:cNvCxnSpPr>
            <a:cxnSpLocks/>
          </p:cNvCxnSpPr>
          <p:nvPr/>
        </p:nvCxnSpPr>
        <p:spPr>
          <a:xfrm>
            <a:off x="10354334" y="29054619"/>
            <a:ext cx="9211875" cy="2499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テキスト ボックス 8">
            <a:extLst>
              <a:ext uri="{FF2B5EF4-FFF2-40B4-BE49-F238E27FC236}">
                <a16:creationId xmlns:a16="http://schemas.microsoft.com/office/drawing/2014/main" id="{F15EF302-D5E5-3285-98FF-AC875C5BFCE4}"/>
              </a:ext>
            </a:extLst>
          </p:cNvPr>
          <p:cNvSpPr txBox="1"/>
          <p:nvPr/>
        </p:nvSpPr>
        <p:spPr>
          <a:xfrm>
            <a:off x="20941669" y="32049607"/>
            <a:ext cx="2598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ja-JP" sz="2800" b="1" dirty="0">
                <a:solidFill>
                  <a:srgbClr val="018185"/>
                </a:solidFill>
              </a:rPr>
              <a:t>CONCLUSION</a:t>
            </a:r>
            <a:endParaRPr kumimoji="1" lang="ja-JP" altLang="en-US" sz="3600" b="1" dirty="0">
              <a:solidFill>
                <a:srgbClr val="018185"/>
              </a:solidFill>
            </a:endParaRPr>
          </a:p>
        </p:txBody>
      </p:sp>
      <p:sp>
        <p:nvSpPr>
          <p:cNvPr id="233" name="正方形/長方形 9">
            <a:extLst>
              <a:ext uri="{FF2B5EF4-FFF2-40B4-BE49-F238E27FC236}">
                <a16:creationId xmlns:a16="http://schemas.microsoft.com/office/drawing/2014/main" id="{75158C07-FB60-683F-DC4B-37EF7F65DDFE}"/>
              </a:ext>
            </a:extLst>
          </p:cNvPr>
          <p:cNvSpPr/>
          <p:nvPr/>
        </p:nvSpPr>
        <p:spPr>
          <a:xfrm>
            <a:off x="20402207" y="31950264"/>
            <a:ext cx="539462" cy="721907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ja-JP" sz="4400" dirty="0"/>
              <a:t>9</a:t>
            </a:r>
            <a:endParaRPr kumimoji="1" lang="ja-JP" altLang="en-US" sz="4400" dirty="0"/>
          </a:p>
        </p:txBody>
      </p:sp>
      <p:cxnSp>
        <p:nvCxnSpPr>
          <p:cNvPr id="234" name="直線コネクタ 11">
            <a:extLst>
              <a:ext uri="{FF2B5EF4-FFF2-40B4-BE49-F238E27FC236}">
                <a16:creationId xmlns:a16="http://schemas.microsoft.com/office/drawing/2014/main" id="{4319E518-588A-B75D-728E-5CFC6EF7CD91}"/>
              </a:ext>
            </a:extLst>
          </p:cNvPr>
          <p:cNvCxnSpPr>
            <a:cxnSpLocks/>
          </p:cNvCxnSpPr>
          <p:nvPr/>
        </p:nvCxnSpPr>
        <p:spPr>
          <a:xfrm>
            <a:off x="20402207" y="32669673"/>
            <a:ext cx="9211875" cy="2499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6" name="Picture 235">
            <a:extLst>
              <a:ext uri="{FF2B5EF4-FFF2-40B4-BE49-F238E27FC236}">
                <a16:creationId xmlns:a16="http://schemas.microsoft.com/office/drawing/2014/main" id="{3F1E36CF-B0D2-A102-9502-E0490DB68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6747" y="40476719"/>
            <a:ext cx="1765960" cy="1978783"/>
          </a:xfrm>
          <a:prstGeom prst="rect">
            <a:avLst/>
          </a:prstGeom>
        </p:spPr>
      </p:pic>
      <p:sp>
        <p:nvSpPr>
          <p:cNvPr id="245" name="テキスト ボックス 5">
            <a:extLst>
              <a:ext uri="{FF2B5EF4-FFF2-40B4-BE49-F238E27FC236}">
                <a16:creationId xmlns:a16="http://schemas.microsoft.com/office/drawing/2014/main" id="{F54A3833-4F27-3EAD-DD97-145539C4DFEB}"/>
              </a:ext>
            </a:extLst>
          </p:cNvPr>
          <p:cNvSpPr txBox="1"/>
          <p:nvPr/>
        </p:nvSpPr>
        <p:spPr>
          <a:xfrm>
            <a:off x="20492297" y="35985832"/>
            <a:ext cx="91492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results show consistent DC-link capacitor RMS current reduction, improved thermal performance, and extended capacitor lifetime.</a:t>
            </a:r>
          </a:p>
        </p:txBody>
      </p:sp>
      <p:sp>
        <p:nvSpPr>
          <p:cNvPr id="246" name="テキスト ボックス 5">
            <a:extLst>
              <a:ext uri="{FF2B5EF4-FFF2-40B4-BE49-F238E27FC236}">
                <a16:creationId xmlns:a16="http://schemas.microsoft.com/office/drawing/2014/main" id="{C133383A-C025-8972-4427-9F9C72F45591}"/>
              </a:ext>
            </a:extLst>
          </p:cNvPr>
          <p:cNvSpPr txBox="1"/>
          <p:nvPr/>
        </p:nvSpPr>
        <p:spPr>
          <a:xfrm>
            <a:off x="430738" y="6431811"/>
            <a:ext cx="91492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DC-link capacitors remain a major reliability bottleneck. Ripple current causes ESR heating, thermal stress, degradation, and reduced capacitor lifetime. </a:t>
            </a:r>
          </a:p>
        </p:txBody>
      </p:sp>
      <p:sp>
        <p:nvSpPr>
          <p:cNvPr id="247" name="テキスト ボックス 5">
            <a:extLst>
              <a:ext uri="{FF2B5EF4-FFF2-40B4-BE49-F238E27FC236}">
                <a16:creationId xmlns:a16="http://schemas.microsoft.com/office/drawing/2014/main" id="{DDF3C201-7C4E-22F4-E888-6B0AA4A00DBE}"/>
              </a:ext>
            </a:extLst>
          </p:cNvPr>
          <p:cNvSpPr txBox="1"/>
          <p:nvPr/>
        </p:nvSpPr>
        <p:spPr>
          <a:xfrm>
            <a:off x="430738" y="9403502"/>
            <a:ext cx="91492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 proposes adaptive interleaving among the three legs of a single inverter using real-time multi-carrier PWM, without adding extra hardware.</a:t>
            </a:r>
          </a:p>
        </p:txBody>
      </p:sp>
      <p:sp>
        <p:nvSpPr>
          <p:cNvPr id="248" name="テキスト ボックス 5">
            <a:extLst>
              <a:ext uri="{FF2B5EF4-FFF2-40B4-BE49-F238E27FC236}">
                <a16:creationId xmlns:a16="http://schemas.microsoft.com/office/drawing/2014/main" id="{A79CF627-F6E7-9A10-D54F-11D39DB693BD}"/>
              </a:ext>
            </a:extLst>
          </p:cNvPr>
          <p:cNvSpPr txBox="1"/>
          <p:nvPr/>
        </p:nvSpPr>
        <p:spPr>
          <a:xfrm>
            <a:off x="430739" y="8322021"/>
            <a:ext cx="9149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ripple-reduction methods often require multiple inverter units or additional converter stages. </a:t>
            </a:r>
          </a:p>
        </p:txBody>
      </p:sp>
      <p:sp>
        <p:nvSpPr>
          <p:cNvPr id="251" name="テキスト ボックス 5">
            <a:extLst>
              <a:ext uri="{FF2B5EF4-FFF2-40B4-BE49-F238E27FC236}">
                <a16:creationId xmlns:a16="http://schemas.microsoft.com/office/drawing/2014/main" id="{02A44D1B-196A-2156-6494-72096A51BB55}"/>
              </a:ext>
            </a:extLst>
          </p:cNvPr>
          <p:cNvSpPr txBox="1"/>
          <p:nvPr/>
        </p:nvSpPr>
        <p:spPr>
          <a:xfrm>
            <a:off x="461924" y="14255397"/>
            <a:ext cx="9149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Ripple-current-induced ESR losses increase the hotspot temperature, which accelerates degradation.</a:t>
            </a:r>
          </a:p>
        </p:txBody>
      </p:sp>
      <p:sp>
        <p:nvSpPr>
          <p:cNvPr id="252" name="テキスト ボックス 5">
            <a:extLst>
              <a:ext uri="{FF2B5EF4-FFF2-40B4-BE49-F238E27FC236}">
                <a16:creationId xmlns:a16="http://schemas.microsoft.com/office/drawing/2014/main" id="{08DC16D5-1DFE-2023-9EBD-AA868FE328BE}"/>
              </a:ext>
            </a:extLst>
          </p:cNvPr>
          <p:cNvSpPr txBox="1"/>
          <p:nvPr/>
        </p:nvSpPr>
        <p:spPr>
          <a:xfrm>
            <a:off x="461924" y="16590793"/>
            <a:ext cx="91492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Therefore, reducing the RMS capacitor current directly reduces thermal stress and can extend the capacitor’s lifetime.</a:t>
            </a:r>
          </a:p>
        </p:txBody>
      </p:sp>
      <p:sp>
        <p:nvSpPr>
          <p:cNvPr id="253" name="テキスト ボックス 8">
            <a:extLst>
              <a:ext uri="{FF2B5EF4-FFF2-40B4-BE49-F238E27FC236}">
                <a16:creationId xmlns:a16="http://schemas.microsoft.com/office/drawing/2014/main" id="{328C0B3A-988C-9149-43D6-0A9C2FF0012D}"/>
              </a:ext>
            </a:extLst>
          </p:cNvPr>
          <p:cNvSpPr txBox="1"/>
          <p:nvPr/>
        </p:nvSpPr>
        <p:spPr>
          <a:xfrm>
            <a:off x="20845872" y="4393870"/>
            <a:ext cx="4633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ja-JP" sz="2800" b="1" dirty="0">
                <a:solidFill>
                  <a:srgbClr val="018185"/>
                </a:solidFill>
              </a:rPr>
              <a:t>SIMULATION VALIDATION</a:t>
            </a:r>
            <a:endParaRPr kumimoji="1" lang="ja-JP" altLang="en-US" sz="3600" b="1" dirty="0">
              <a:solidFill>
                <a:srgbClr val="018185"/>
              </a:solidFill>
            </a:endParaRPr>
          </a:p>
        </p:txBody>
      </p:sp>
      <p:sp>
        <p:nvSpPr>
          <p:cNvPr id="254" name="正方形/長方形 9">
            <a:extLst>
              <a:ext uri="{FF2B5EF4-FFF2-40B4-BE49-F238E27FC236}">
                <a16:creationId xmlns:a16="http://schemas.microsoft.com/office/drawing/2014/main" id="{5E74B085-72F5-5B67-CD3E-E96BECE4F04A}"/>
              </a:ext>
            </a:extLst>
          </p:cNvPr>
          <p:cNvSpPr/>
          <p:nvPr/>
        </p:nvSpPr>
        <p:spPr>
          <a:xfrm>
            <a:off x="20325632" y="4318549"/>
            <a:ext cx="539462" cy="721907"/>
          </a:xfrm>
          <a:prstGeom prst="rect">
            <a:avLst/>
          </a:prstGeom>
          <a:solidFill>
            <a:srgbClr val="018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ja-JP" sz="4400" dirty="0"/>
              <a:t>8</a:t>
            </a:r>
            <a:endParaRPr kumimoji="1" lang="ja-JP" altLang="en-US" sz="4400" dirty="0"/>
          </a:p>
        </p:txBody>
      </p:sp>
      <p:cxnSp>
        <p:nvCxnSpPr>
          <p:cNvPr id="255" name="直線コネクタ 11">
            <a:extLst>
              <a:ext uri="{FF2B5EF4-FFF2-40B4-BE49-F238E27FC236}">
                <a16:creationId xmlns:a16="http://schemas.microsoft.com/office/drawing/2014/main" id="{C63AACF2-2AE6-C138-A6E1-8951AB6AF988}"/>
              </a:ext>
            </a:extLst>
          </p:cNvPr>
          <p:cNvCxnSpPr>
            <a:cxnSpLocks/>
          </p:cNvCxnSpPr>
          <p:nvPr/>
        </p:nvCxnSpPr>
        <p:spPr>
          <a:xfrm>
            <a:off x="20325632" y="5037958"/>
            <a:ext cx="9211875" cy="2499"/>
          </a:xfrm>
          <a:prstGeom prst="line">
            <a:avLst/>
          </a:prstGeom>
          <a:ln w="101600">
            <a:solidFill>
              <a:srgbClr val="018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テキスト ボックス 5">
            <a:extLst>
              <a:ext uri="{FF2B5EF4-FFF2-40B4-BE49-F238E27FC236}">
                <a16:creationId xmlns:a16="http://schemas.microsoft.com/office/drawing/2014/main" id="{547E3C44-5BFA-3103-C4AF-20E7FEEB1B59}"/>
              </a:ext>
            </a:extLst>
          </p:cNvPr>
          <p:cNvSpPr txBox="1"/>
          <p:nvPr/>
        </p:nvSpPr>
        <p:spPr>
          <a:xfrm>
            <a:off x="20544589" y="33353398"/>
            <a:ext cx="9149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novel adaptive multi-carrier PWM method is proposed for a single two-level three-phase inverter. </a:t>
            </a:r>
          </a:p>
        </p:txBody>
      </p:sp>
      <p:sp>
        <p:nvSpPr>
          <p:cNvPr id="257" name="テキスト ボックス 5">
            <a:extLst>
              <a:ext uri="{FF2B5EF4-FFF2-40B4-BE49-F238E27FC236}">
                <a16:creationId xmlns:a16="http://schemas.microsoft.com/office/drawing/2014/main" id="{6FC3EE05-F96E-3EEC-AC90-3579BCE6BAC3}"/>
              </a:ext>
            </a:extLst>
          </p:cNvPr>
          <p:cNvSpPr txBox="1"/>
          <p:nvPr/>
        </p:nvSpPr>
        <p:spPr>
          <a:xfrm>
            <a:off x="20524882" y="34574746"/>
            <a:ext cx="91492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requires no additional hardware and uses a reduced-dimension LUT for real-time implementation. </a:t>
            </a: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9444A8D6-C0A2-D81A-B993-1136FF7BB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06" y="40464789"/>
            <a:ext cx="1765960" cy="1978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4553F57B-4CFA-68E3-E131-D4E11E016964}"/>
                  </a:ext>
                </a:extLst>
              </p:cNvPr>
              <p:cNvSpPr txBox="1"/>
              <p:nvPr/>
            </p:nvSpPr>
            <p:spPr>
              <a:xfrm>
                <a:off x="21146324" y="15413535"/>
                <a:ext cx="4733054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2400"/>
                  </a:spcBef>
                  <a:buClr>
                    <a:srgbClr val="018185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𝐼</m:t>
                          </m:r>
                        </m:e>
                        <m:sub>
                          <m:r>
                            <a:rPr lang="en-US" sz="280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𝑐𝑎𝑝</m:t>
                          </m:r>
                          <m:r>
                            <a:rPr lang="en-US" sz="2800" b="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, </m:t>
                          </m:r>
                          <m:r>
                            <a:rPr lang="en-US" sz="2800" b="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𝑅𝑀𝑆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</m:t>
                      </m:r>
                      <m:r>
                        <a:rPr lang="en-US" sz="280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27.6 </m:t>
                      </m:r>
                      <m:r>
                        <a:rPr lang="en-US" sz="280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𝐴</m:t>
                      </m:r>
                    </m:oMath>
                  </m:oMathPara>
                </a14:m>
                <a:endParaRPr lang="en-US" sz="2800" dirty="0">
                  <a:solidFill>
                    <a:srgbClr val="1F29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4553F57B-4CFA-68E3-E131-D4E11E016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6324" y="15413535"/>
                <a:ext cx="4733054" cy="556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EA577131-53FD-0A3C-F500-EBABDF510E66}"/>
                  </a:ext>
                </a:extLst>
              </p:cNvPr>
              <p:cNvSpPr txBox="1"/>
              <p:nvPr/>
            </p:nvSpPr>
            <p:spPr>
              <a:xfrm>
                <a:off x="25681864" y="15402723"/>
                <a:ext cx="3497863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2400"/>
                  </a:spcBef>
                  <a:buClr>
                    <a:srgbClr val="018185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𝐼</m:t>
                          </m:r>
                        </m:e>
                        <m:sub>
                          <m:r>
                            <a:rPr lang="en-US" sz="280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𝑐𝑎𝑝</m:t>
                          </m:r>
                          <m:r>
                            <a:rPr lang="en-US" sz="2800" b="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, </m:t>
                          </m:r>
                          <m:r>
                            <a:rPr lang="en-US" sz="2800" b="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𝑅𝑀𝑆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</m:t>
                      </m:r>
                      <m:r>
                        <a:rPr lang="en-US" sz="280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2</m:t>
                      </m:r>
                      <m:r>
                        <a:rPr lang="en-US" sz="2800" b="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1</m:t>
                      </m:r>
                      <m:r>
                        <a:rPr lang="en-US" sz="280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.</m:t>
                      </m:r>
                      <m:r>
                        <a:rPr lang="en-US" sz="2800" b="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2</m:t>
                      </m:r>
                      <m:r>
                        <a:rPr lang="en-US" sz="280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</m:t>
                      </m:r>
                      <m:r>
                        <a:rPr lang="en-US" sz="280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𝐴</m:t>
                      </m:r>
                    </m:oMath>
                  </m:oMathPara>
                </a14:m>
                <a:endParaRPr lang="en-US" sz="2800" dirty="0">
                  <a:solidFill>
                    <a:srgbClr val="1F29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EA577131-53FD-0A3C-F500-EBABDF510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1864" y="15402723"/>
                <a:ext cx="3497863" cy="556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FA47D2DD-FF03-CE78-B306-D5F081901D15}"/>
                  </a:ext>
                </a:extLst>
              </p:cNvPr>
              <p:cNvSpPr txBox="1"/>
              <p:nvPr/>
            </p:nvSpPr>
            <p:spPr>
              <a:xfrm>
                <a:off x="24119671" y="18111756"/>
                <a:ext cx="39645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2400"/>
                  </a:spcBef>
                  <a:buClr>
                    <a:srgbClr val="018185"/>
                  </a:buClr>
                </a:pPr>
                <a:r>
                  <a:rPr lang="en-US" sz="2800" dirty="0">
                    <a:solidFill>
                      <a:srgbClr val="1F293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Reduction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1F2933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~</m:t>
                    </m:r>
                    <m:r>
                      <a:rPr lang="en-US" sz="2800" b="0" i="1" dirty="0" smtClean="0">
                        <a:solidFill>
                          <a:srgbClr val="1F2933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40</m:t>
                    </m:r>
                    <m:r>
                      <a:rPr lang="en-US" sz="2800" i="1" dirty="0" smtClean="0">
                        <a:solidFill>
                          <a:srgbClr val="1F2933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%</m:t>
                    </m:r>
                  </m:oMath>
                </a14:m>
                <a:endParaRPr lang="en-US" sz="2800" dirty="0">
                  <a:solidFill>
                    <a:srgbClr val="1F29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FA47D2DD-FF03-CE78-B306-D5F081901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9671" y="18111756"/>
                <a:ext cx="3964586" cy="523220"/>
              </a:xfrm>
              <a:prstGeom prst="rect">
                <a:avLst/>
              </a:prstGeom>
              <a:blipFill>
                <a:blip r:embed="rId7"/>
                <a:stretch>
                  <a:fillRect l="-3231" t="-11628" b="-3139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E77B7418-8C89-E3BB-473D-76CFC99630B3}"/>
                  </a:ext>
                </a:extLst>
              </p:cNvPr>
              <p:cNvSpPr txBox="1"/>
              <p:nvPr/>
            </p:nvSpPr>
            <p:spPr>
              <a:xfrm>
                <a:off x="21531695" y="17505207"/>
                <a:ext cx="39770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2400"/>
                  </a:spcBef>
                  <a:buClr>
                    <a:srgbClr val="018185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15.2</m:t>
                          </m:r>
                        </m:e>
                        <m:sup>
                          <m:r>
                            <a:rPr lang="en-US" sz="2800" b="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 </m:t>
                          </m:r>
                          <m:r>
                            <a:rPr lang="en-US" sz="2800" b="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𝑜</m:t>
                          </m:r>
                        </m:sup>
                      </m:sSup>
                      <m:r>
                        <a:rPr lang="en-US" sz="280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𝐶</m:t>
                      </m:r>
                    </m:oMath>
                  </m:oMathPara>
                </a14:m>
                <a:endParaRPr lang="en-US" sz="2800" dirty="0">
                  <a:solidFill>
                    <a:srgbClr val="1F29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 xmlns="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E77B7418-8C89-E3BB-473D-76CFC9963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1695" y="17505207"/>
                <a:ext cx="397707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812F0EE8-7F7D-FDA9-2071-38550046B410}"/>
                  </a:ext>
                </a:extLst>
              </p:cNvPr>
              <p:cNvSpPr txBox="1"/>
              <p:nvPr/>
            </p:nvSpPr>
            <p:spPr>
              <a:xfrm>
                <a:off x="26407014" y="17434923"/>
                <a:ext cx="25084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2400"/>
                  </a:spcBef>
                  <a:buClr>
                    <a:srgbClr val="018185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9 </m:t>
                          </m:r>
                        </m:e>
                        <m:sup>
                          <m:r>
                            <a:rPr lang="en-US" sz="2800" b="0" i="1" dirty="0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𝑜</m:t>
                          </m:r>
                        </m:sup>
                      </m:sSup>
                      <m:r>
                        <a:rPr lang="en-US" sz="2800" i="1" dirty="0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𝐶</m:t>
                      </m:r>
                    </m:oMath>
                  </m:oMathPara>
                </a14:m>
                <a:endParaRPr lang="en-US" sz="2800" dirty="0">
                  <a:solidFill>
                    <a:srgbClr val="1F29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 xmlns="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812F0EE8-7F7D-FDA9-2071-38550046B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7014" y="17434923"/>
                <a:ext cx="250848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627F6E29-EFB4-5BEA-02AA-71AF9430AA20}"/>
                  </a:ext>
                </a:extLst>
              </p:cNvPr>
              <p:cNvSpPr txBox="1"/>
              <p:nvPr/>
            </p:nvSpPr>
            <p:spPr>
              <a:xfrm>
                <a:off x="24119671" y="16232501"/>
                <a:ext cx="35729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2400"/>
                  </a:spcBef>
                  <a:buClr>
                    <a:srgbClr val="018185"/>
                  </a:buClr>
                </a:pPr>
                <a:r>
                  <a:rPr lang="en-US" sz="2800" dirty="0">
                    <a:solidFill>
                      <a:srgbClr val="1F293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Reduction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1F2933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~23%</m:t>
                    </m:r>
                  </m:oMath>
                </a14:m>
                <a:endParaRPr lang="en-US" sz="2800" dirty="0">
                  <a:solidFill>
                    <a:srgbClr val="1F29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627F6E29-EFB4-5BEA-02AA-71AF9430A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9671" y="16232501"/>
                <a:ext cx="3572989" cy="523220"/>
              </a:xfrm>
              <a:prstGeom prst="rect">
                <a:avLst/>
              </a:prstGeom>
              <a:blipFill>
                <a:blip r:embed="rId10"/>
                <a:stretch>
                  <a:fillRect l="-3584" t="-12791" b="-3139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A6B95824-278C-957D-C6CE-C7103F2EAA72}"/>
                  </a:ext>
                </a:extLst>
              </p:cNvPr>
              <p:cNvSpPr txBox="1"/>
              <p:nvPr/>
            </p:nvSpPr>
            <p:spPr>
              <a:xfrm>
                <a:off x="22710106" y="18759947"/>
                <a:ext cx="71359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2400"/>
                  </a:spcBef>
                  <a:buClr>
                    <a:srgbClr val="018185"/>
                  </a:buClr>
                </a:pPr>
                <a:r>
                  <a:rPr lang="en-US" sz="2800" dirty="0">
                    <a:solidFill>
                      <a:srgbClr val="1F2933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Estimated lifetime extension: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1F2933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~50 %</m:t>
                    </m:r>
                  </m:oMath>
                </a14:m>
                <a:endParaRPr lang="en-US" sz="2800" dirty="0">
                  <a:solidFill>
                    <a:srgbClr val="1F29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A6B95824-278C-957D-C6CE-C7103F2EA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0106" y="18759947"/>
                <a:ext cx="7135946" cy="523220"/>
              </a:xfrm>
              <a:prstGeom prst="rect">
                <a:avLst/>
              </a:prstGeom>
              <a:blipFill>
                <a:blip r:embed="rId11"/>
                <a:stretch>
                  <a:fillRect l="-1708" t="-11628" b="-3139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7DFE32DC-A4A8-15E5-7416-F69C1C9A60BA}"/>
                  </a:ext>
                </a:extLst>
              </p:cNvPr>
              <p:cNvSpPr txBox="1"/>
              <p:nvPr/>
            </p:nvSpPr>
            <p:spPr>
              <a:xfrm>
                <a:off x="20325632" y="19545277"/>
                <a:ext cx="92246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2400"/>
                  </a:spcBef>
                  <a:buClr>
                    <a:srgbClr val="018185"/>
                  </a:buClr>
                </a:pPr>
                <a:r>
                  <a:rPr lang="en-US" sz="2800" b="1" dirty="0">
                    <a:solidFill>
                      <a:srgbClr val="01818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Step change </a:t>
                </a:r>
                <a:r>
                  <a:rPr lang="en-US" sz="2800" b="1" dirty="0" err="1">
                    <a:solidFill>
                      <a:srgbClr val="01818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fr</a:t>
                </a:r>
                <a:r>
                  <a:rPr lang="en-US" sz="2800" b="1" dirty="0">
                    <a:solidFill>
                      <a:srgbClr val="01818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2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𝒎</m:t>
                        </m:r>
                      </m:e>
                      <m:sub>
                        <m:r>
                          <a:rPr lang="en-US" sz="2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𝒂</m:t>
                        </m:r>
                      </m:sub>
                    </m:sSub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𝟔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rgbClr val="01818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𝒎</m:t>
                        </m:r>
                      </m:e>
                      <m:sub>
                        <m:r>
                          <a:rPr lang="en-US" sz="2800" b="1" i="1" dirty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𝒂</m:t>
                        </m:r>
                      </m:sub>
                    </m:sSub>
                    <m:r>
                      <a:rPr lang="en-US" sz="2800" b="1" i="1" dirty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</m:t>
                    </m:r>
                    <m:r>
                      <a:rPr lang="en-US" sz="2800" b="1" i="1" dirty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sz="2800" b="1" i="1" dirty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𝟗</m:t>
                    </m:r>
                    <m:r>
                      <a:rPr lang="en-US" sz="2800" b="1" i="1" dirty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endParaRPr lang="en-US" sz="2800" dirty="0">
                  <a:solidFill>
                    <a:srgbClr val="1F29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7DFE32DC-A4A8-15E5-7416-F69C1C9A6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5632" y="19545277"/>
                <a:ext cx="9224606" cy="523220"/>
              </a:xfrm>
              <a:prstGeom prst="rect">
                <a:avLst/>
              </a:prstGeom>
              <a:blipFill>
                <a:blip r:embed="rId1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TextBox 281">
            <a:extLst>
              <a:ext uri="{FF2B5EF4-FFF2-40B4-BE49-F238E27FC236}">
                <a16:creationId xmlns:a16="http://schemas.microsoft.com/office/drawing/2014/main" id="{A8DFAC36-96C4-909A-A308-5199390C5B49}"/>
              </a:ext>
            </a:extLst>
          </p:cNvPr>
          <p:cNvSpPr txBox="1"/>
          <p:nvPr/>
        </p:nvSpPr>
        <p:spPr>
          <a:xfrm>
            <a:off x="23315552" y="16874158"/>
            <a:ext cx="4345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400"/>
              </a:spcBef>
              <a:buClr>
                <a:srgbClr val="018185"/>
              </a:buClr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temperature rise:</a:t>
            </a:r>
          </a:p>
        </p:txBody>
      </p:sp>
      <p:pic>
        <p:nvPicPr>
          <p:cNvPr id="284" name="Picture 283">
            <a:extLst>
              <a:ext uri="{FF2B5EF4-FFF2-40B4-BE49-F238E27FC236}">
                <a16:creationId xmlns:a16="http://schemas.microsoft.com/office/drawing/2014/main" id="{5235C193-817A-CB4F-1BD4-FC8B967DA9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68941" y="26765174"/>
            <a:ext cx="4699204" cy="1471360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944282C9-77D1-E236-FF43-84413F1A63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9489" y="25025968"/>
            <a:ext cx="7584541" cy="1061074"/>
          </a:xfrm>
          <a:prstGeom prst="rect">
            <a:avLst/>
          </a:prstGeom>
        </p:spPr>
      </p:pic>
      <p:sp>
        <p:nvSpPr>
          <p:cNvPr id="287" name="テキスト ボックス 5">
            <a:extLst>
              <a:ext uri="{FF2B5EF4-FFF2-40B4-BE49-F238E27FC236}">
                <a16:creationId xmlns:a16="http://schemas.microsoft.com/office/drawing/2014/main" id="{1195C6E3-27E5-2293-88BE-56FDDCFE4081}"/>
              </a:ext>
            </a:extLst>
          </p:cNvPr>
          <p:cNvSpPr txBox="1"/>
          <p:nvPr/>
        </p:nvSpPr>
        <p:spPr>
          <a:xfrm>
            <a:off x="571315" y="26283231"/>
            <a:ext cx="9149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spcBef>
                <a:spcPts val="2400"/>
              </a:spcBef>
              <a:buClr>
                <a:srgbClr val="018185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RMS calculation :</a:t>
            </a:r>
          </a:p>
        </p:txBody>
      </p:sp>
      <p:pic>
        <p:nvPicPr>
          <p:cNvPr id="289" name="Picture 288">
            <a:extLst>
              <a:ext uri="{FF2B5EF4-FFF2-40B4-BE49-F238E27FC236}">
                <a16:creationId xmlns:a16="http://schemas.microsoft.com/office/drawing/2014/main" id="{10686CB0-710E-6FF8-7CEA-57FF6720CE6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13387" y="23455043"/>
            <a:ext cx="4460814" cy="935745"/>
          </a:xfrm>
          <a:prstGeom prst="rect">
            <a:avLst/>
          </a:prstGeom>
        </p:spPr>
      </p:pic>
      <p:pic>
        <p:nvPicPr>
          <p:cNvPr id="291" name="Picture 290">
            <a:extLst>
              <a:ext uri="{FF2B5EF4-FFF2-40B4-BE49-F238E27FC236}">
                <a16:creationId xmlns:a16="http://schemas.microsoft.com/office/drawing/2014/main" id="{C77FAB7F-DEFF-2CBF-6F57-5A567F276D4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77391" y="13256416"/>
            <a:ext cx="5110735" cy="958433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075B99A7-A289-9D5E-E716-71BF249282A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70614" y="15680940"/>
            <a:ext cx="6284670" cy="830658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0B7B0E56-7303-EF48-526B-46D5B788312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22192" y="18135322"/>
            <a:ext cx="6821133" cy="1032946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C203FA9B-CB41-D020-F61C-CE924288C28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014177" y="20139175"/>
            <a:ext cx="7312381" cy="1183872"/>
          </a:xfrm>
          <a:prstGeom prst="rect">
            <a:avLst/>
          </a:prstGeom>
        </p:spPr>
      </p:pic>
      <p:pic>
        <p:nvPicPr>
          <p:cNvPr id="299" name="Picture 298">
            <a:extLst>
              <a:ext uri="{FF2B5EF4-FFF2-40B4-BE49-F238E27FC236}">
                <a16:creationId xmlns:a16="http://schemas.microsoft.com/office/drawing/2014/main" id="{DFB7F334-D727-AFFD-7387-4C9FA758B85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10780" y="22589214"/>
            <a:ext cx="3239279" cy="594120"/>
          </a:xfrm>
          <a:prstGeom prst="rect">
            <a:avLst/>
          </a:prstGeom>
        </p:spPr>
      </p:pic>
      <p:pic>
        <p:nvPicPr>
          <p:cNvPr id="301" name="Picture 300">
            <a:extLst>
              <a:ext uri="{FF2B5EF4-FFF2-40B4-BE49-F238E27FC236}">
                <a16:creationId xmlns:a16="http://schemas.microsoft.com/office/drawing/2014/main" id="{76D40AC8-4402-7158-47C8-A0FDB9F3C60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046972" y="22420355"/>
            <a:ext cx="4773700" cy="944651"/>
          </a:xfrm>
          <a:prstGeom prst="rect">
            <a:avLst/>
          </a:prstGeom>
        </p:spPr>
      </p:pic>
      <p:pic>
        <p:nvPicPr>
          <p:cNvPr id="303" name="Picture 302">
            <a:extLst>
              <a:ext uri="{FF2B5EF4-FFF2-40B4-BE49-F238E27FC236}">
                <a16:creationId xmlns:a16="http://schemas.microsoft.com/office/drawing/2014/main" id="{47A713CE-ADF9-7D1E-6F00-178FB567B09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25905" y="24453901"/>
            <a:ext cx="2703713" cy="558376"/>
          </a:xfrm>
          <a:prstGeom prst="rect">
            <a:avLst/>
          </a:prstGeom>
        </p:spPr>
      </p:pic>
      <p:pic>
        <p:nvPicPr>
          <p:cNvPr id="305" name="Picture 304">
            <a:extLst>
              <a:ext uri="{FF2B5EF4-FFF2-40B4-BE49-F238E27FC236}">
                <a16:creationId xmlns:a16="http://schemas.microsoft.com/office/drawing/2014/main" id="{9849CEF5-11E5-34EC-AE49-0AEFBBA6C6A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542513" y="24300394"/>
            <a:ext cx="5212765" cy="806339"/>
          </a:xfrm>
          <a:prstGeom prst="rect">
            <a:avLst/>
          </a:prstGeom>
        </p:spPr>
      </p:pic>
      <p:pic>
        <p:nvPicPr>
          <p:cNvPr id="307" name="Picture 306">
            <a:extLst>
              <a:ext uri="{FF2B5EF4-FFF2-40B4-BE49-F238E27FC236}">
                <a16:creationId xmlns:a16="http://schemas.microsoft.com/office/drawing/2014/main" id="{0A71B696-9848-4E4A-39C6-575264BBF0B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911755" y="25719305"/>
            <a:ext cx="7075697" cy="660290"/>
          </a:xfrm>
          <a:prstGeom prst="rect">
            <a:avLst/>
          </a:prstGeom>
        </p:spPr>
      </p:pic>
      <p:pic>
        <p:nvPicPr>
          <p:cNvPr id="309" name="Picture 308">
            <a:extLst>
              <a:ext uri="{FF2B5EF4-FFF2-40B4-BE49-F238E27FC236}">
                <a16:creationId xmlns:a16="http://schemas.microsoft.com/office/drawing/2014/main" id="{A6B1B496-C0A7-B1DF-5B88-98E97BF87E2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875540" y="26983872"/>
            <a:ext cx="9111344" cy="1252662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E1215D9C-0A7A-D505-E56B-79B8216BF40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674" y="29336974"/>
            <a:ext cx="4881738" cy="2819098"/>
          </a:xfrm>
          <a:prstGeom prst="rect">
            <a:avLst/>
          </a:prstGeom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53463ECD-8879-6C60-4B5C-2E5DE42F6B7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133" y="5393284"/>
            <a:ext cx="5127731" cy="2519091"/>
          </a:xfrm>
          <a:prstGeom prst="rect">
            <a:avLst/>
          </a:prstGeom>
        </p:spPr>
      </p:pic>
      <p:pic>
        <p:nvPicPr>
          <p:cNvPr id="315" name="Picture 314">
            <a:extLst>
              <a:ext uri="{FF2B5EF4-FFF2-40B4-BE49-F238E27FC236}">
                <a16:creationId xmlns:a16="http://schemas.microsoft.com/office/drawing/2014/main" id="{CFA5F135-51E0-848F-0778-91F0E4AD5E0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543" y="20512862"/>
            <a:ext cx="6784492" cy="2801824"/>
          </a:xfrm>
          <a:prstGeom prst="rect">
            <a:avLst/>
          </a:prstGeom>
        </p:spPr>
      </p:pic>
      <p:pic>
        <p:nvPicPr>
          <p:cNvPr id="317" name="Picture 316">
            <a:extLst>
              <a:ext uri="{FF2B5EF4-FFF2-40B4-BE49-F238E27FC236}">
                <a16:creationId xmlns:a16="http://schemas.microsoft.com/office/drawing/2014/main" id="{BCE3FFD9-6E20-1CB4-2F07-703ABE3A1B9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137" y="32162254"/>
            <a:ext cx="8277713" cy="9865031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C4E9F1BF-027C-F118-297E-827F97B4B84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493" y="8079443"/>
            <a:ext cx="8066236" cy="9839183"/>
          </a:xfrm>
          <a:prstGeom prst="rect">
            <a:avLst/>
          </a:prstGeom>
        </p:spPr>
      </p:pic>
      <p:pic>
        <p:nvPicPr>
          <p:cNvPr id="323" name="Picture 322">
            <a:extLst>
              <a:ext uri="{FF2B5EF4-FFF2-40B4-BE49-F238E27FC236}">
                <a16:creationId xmlns:a16="http://schemas.microsoft.com/office/drawing/2014/main" id="{BE278E0E-5070-E474-E2AA-1944F8614EE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7014" y="29313880"/>
            <a:ext cx="8612044" cy="7071600"/>
          </a:xfrm>
          <a:prstGeom prst="rect">
            <a:avLst/>
          </a:prstGeom>
        </p:spPr>
      </p:pic>
      <p:pic>
        <p:nvPicPr>
          <p:cNvPr id="325" name="Picture 324">
            <a:extLst>
              <a:ext uri="{FF2B5EF4-FFF2-40B4-BE49-F238E27FC236}">
                <a16:creationId xmlns:a16="http://schemas.microsoft.com/office/drawing/2014/main" id="{C32ED6D9-D697-F844-589B-1016429483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171" y="36462232"/>
            <a:ext cx="7894417" cy="3446477"/>
          </a:xfrm>
          <a:prstGeom prst="rect">
            <a:avLst/>
          </a:prstGeom>
        </p:spPr>
      </p:pic>
      <p:pic>
        <p:nvPicPr>
          <p:cNvPr id="327" name="Picture 326">
            <a:extLst>
              <a:ext uri="{FF2B5EF4-FFF2-40B4-BE49-F238E27FC236}">
                <a16:creationId xmlns:a16="http://schemas.microsoft.com/office/drawing/2014/main" id="{5DC99C9F-8A94-EE29-0FD2-1DE5917C289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151" y="6067832"/>
            <a:ext cx="9224606" cy="9224606"/>
          </a:xfrm>
          <a:prstGeom prst="rect">
            <a:avLst/>
          </a:prstGeom>
        </p:spPr>
      </p:pic>
      <p:pic>
        <p:nvPicPr>
          <p:cNvPr id="329" name="Picture 328">
            <a:extLst>
              <a:ext uri="{FF2B5EF4-FFF2-40B4-BE49-F238E27FC236}">
                <a16:creationId xmlns:a16="http://schemas.microsoft.com/office/drawing/2014/main" id="{678738A0-5F6A-EDE7-8F06-E359FF61CC8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6768" y="20305710"/>
            <a:ext cx="9149205" cy="91492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D15B1A18-AD0F-657F-BFAD-B74BD5E64BE1}"/>
                  </a:ext>
                </a:extLst>
              </p:cNvPr>
              <p:cNvSpPr txBox="1"/>
              <p:nvPr/>
            </p:nvSpPr>
            <p:spPr>
              <a:xfrm>
                <a:off x="13890158" y="32497758"/>
                <a:ext cx="31809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𝒎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𝒂</m:t>
                        </m:r>
                      </m:sub>
                    </m:sSub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𝟔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rgbClr val="01818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𝒑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𝒇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.= 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𝟗</m:t>
                    </m:r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D15B1A18-AD0F-657F-BFAD-B74BD5E64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0158" y="32497758"/>
                <a:ext cx="3180917" cy="369332"/>
              </a:xfrm>
              <a:prstGeom prst="rect">
                <a:avLst/>
              </a:prstGeom>
              <a:blipFill>
                <a:blip r:embed="rId35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A4481EC4-D099-CB43-7909-7947A5D44F48}"/>
                  </a:ext>
                </a:extLst>
              </p:cNvPr>
              <p:cNvSpPr txBox="1"/>
              <p:nvPr/>
            </p:nvSpPr>
            <p:spPr>
              <a:xfrm>
                <a:off x="13903743" y="35907233"/>
                <a:ext cx="31809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𝒎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018185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𝒂</m:t>
                        </m:r>
                      </m:sub>
                    </m:sSub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𝟖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rgbClr val="018185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𝒑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𝒇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.= 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</m:t>
                    </m:r>
                    <m:r>
                      <a:rPr lang="en-US" sz="1800" b="1" i="1" dirty="0" smtClean="0">
                        <a:solidFill>
                          <a:srgbClr val="018185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𝟗𝟓</m:t>
                    </m:r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A4481EC4-D099-CB43-7909-7947A5D44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3743" y="35907233"/>
                <a:ext cx="3180917" cy="369332"/>
              </a:xfrm>
              <a:prstGeom prst="rect">
                <a:avLst/>
              </a:prstGeom>
              <a:blipFill>
                <a:blip r:embed="rId3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3583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PEC2026">
      <a:majorFont>
        <a:latin typeface="Arial"/>
        <a:ea typeface="游ゴシック Light"/>
        <a:cs typeface=""/>
      </a:majorFont>
      <a:minorFont>
        <a:latin typeface="Arial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40AC5776D445D4AA0436B39D48A5D32" ma:contentTypeVersion="12" ma:contentTypeDescription="新しいドキュメントを作成します。" ma:contentTypeScope="" ma:versionID="6663799dbca32b369c6dca6c4d961f76">
  <xsd:schema xmlns:xsd="http://www.w3.org/2001/XMLSchema" xmlns:xs="http://www.w3.org/2001/XMLSchema" xmlns:p="http://schemas.microsoft.com/office/2006/metadata/properties" xmlns:ns2="6c0a9c51-223e-40eb-be5b-a75f95f5efa0" xmlns:ns3="98d2721f-eecf-4e40-8c6d-8362eea2291f" targetNamespace="http://schemas.microsoft.com/office/2006/metadata/properties" ma:root="true" ma:fieldsID="f042fade54ad518496d7cedc44997337" ns2:_="" ns3:_="">
    <xsd:import namespace="6c0a9c51-223e-40eb-be5b-a75f95f5efa0"/>
    <xsd:import namespace="98d2721f-eecf-4e40-8c6d-8362eea229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0a9c51-223e-40eb-be5b-a75f95f5ef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3c3fff22-b943-49ca-97ed-32a132aa46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d2721f-eecf-4e40-8c6d-8362eea2291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d13a14-9a2e-4aa1-bdee-c6dec105810e}" ma:internalName="TaxCatchAll" ma:showField="CatchAllData" ma:web="98d2721f-eecf-4e40-8c6d-8362eea229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d2721f-eecf-4e40-8c6d-8362eea2291f" xsi:nil="true"/>
    <lcf76f155ced4ddcb4097134ff3c332f xmlns="6c0a9c51-223e-40eb-be5b-a75f95f5ef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B41005F-9FDF-4E51-8A5C-B1F4B6497C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0a9c51-223e-40eb-be5b-a75f95f5efa0"/>
    <ds:schemaRef ds:uri="98d2721f-eecf-4e40-8c6d-8362eea229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4580CB-418E-41FD-BC14-1F6D857D0A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6DD067-9E13-49D6-9472-89662B46F2FE}">
  <ds:schemaRefs>
    <ds:schemaRef ds:uri="http://schemas.openxmlformats.org/package/2006/metadata/core-properties"/>
    <ds:schemaRef ds:uri="http://schemas.microsoft.com/office/2006/documentManagement/types"/>
    <ds:schemaRef ds:uri="98d2721f-eecf-4e40-8c6d-8362eea2291f"/>
    <ds:schemaRef ds:uri="http://schemas.microsoft.com/office/infopath/2007/PartnerControls"/>
    <ds:schemaRef ds:uri="http://www.w3.org/XML/1998/namespace"/>
    <ds:schemaRef ds:uri="http://purl.org/dc/elements/1.1/"/>
    <ds:schemaRef ds:uri="http://purl.org/dc/dcmitype/"/>
    <ds:schemaRef ds:uri="6c0a9c51-223e-40eb-be5b-a75f95f5efa0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2522</TotalTime>
  <Words>415</Words>
  <Application>Microsoft Office PowerPoint</Application>
  <PresentationFormat>Custom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Cambria Math</vt:lpstr>
      <vt:lpstr>Wingdings</vt:lpstr>
      <vt:lpstr>Office テーマ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Ryosuke Ota</dc:creator>
  <cp:lastModifiedBy>Enes Ayaz</cp:lastModifiedBy>
  <cp:revision>45</cp:revision>
  <dcterms:created xsi:type="dcterms:W3CDTF">2026-04-17T15:55:23Z</dcterms:created>
  <dcterms:modified xsi:type="dcterms:W3CDTF">2026-05-20T10:10:54Z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0x010100440AC5776D445D4AA0436B39D48A5D32</vt:lpwstr>
  </property>
</Properties>
</file>