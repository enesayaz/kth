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73" r:id="rId3"/>
    <p:sldId id="278" r:id="rId4"/>
    <p:sldId id="257" r:id="rId5"/>
    <p:sldId id="274" r:id="rId6"/>
    <p:sldId id="277" r:id="rId7"/>
    <p:sldId id="282" r:id="rId8"/>
    <p:sldId id="262" r:id="rId9"/>
    <p:sldId id="260" r:id="rId10"/>
    <p:sldId id="275" r:id="rId11"/>
    <p:sldId id="276" r:id="rId12"/>
    <p:sldId id="283" r:id="rId13"/>
    <p:sldId id="259" r:id="rId14"/>
    <p:sldId id="263" r:id="rId15"/>
    <p:sldId id="279" r:id="rId16"/>
    <p:sldId id="284" r:id="rId17"/>
    <p:sldId id="280" r:id="rId18"/>
    <p:sldId id="281" r:id="rId19"/>
    <p:sldId id="264" r:id="rId20"/>
    <p:sldId id="265" r:id="rId21"/>
    <p:sldId id="267" r:id="rId22"/>
    <p:sldId id="269" r:id="rId23"/>
    <p:sldId id="285" r:id="rId24"/>
    <p:sldId id="270" r:id="rId25"/>
    <p:sldId id="271" r:id="rId26"/>
    <p:sldId id="272" r:id="rId27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13BFF"/>
    <a:srgbClr val="3AE657"/>
    <a:srgbClr val="FF00FF"/>
    <a:srgbClr val="5BFF21"/>
    <a:srgbClr val="FE7ED0"/>
    <a:srgbClr val="0033CC"/>
    <a:srgbClr val="02C9CE"/>
    <a:srgbClr val="BC04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339" autoAdjust="0"/>
    <p:restoredTop sz="74262" autoAdjust="0"/>
  </p:normalViewPr>
  <p:slideViewPr>
    <p:cSldViewPr snapToGrid="0">
      <p:cViewPr>
        <p:scale>
          <a:sx n="125" d="100"/>
          <a:sy n="125" d="100"/>
        </p:scale>
        <p:origin x="426" y="8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1242EF-9523-44CC-A9D6-8A54B75E8B6F}" type="datetimeFigureOut">
              <a:rPr lang="sv-SE" smtClean="0"/>
              <a:t>2024-10-02</a:t>
            </a:fld>
            <a:endParaRPr lang="sv-S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7A3E73-AB6F-473D-8A0C-3F8FACBF84D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435510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7A3E73-AB6F-473D-8A0C-3F8FACBF84DC}" type="slidenum">
              <a:rPr lang="sv-SE" smtClean="0"/>
              <a:t>2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2480596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7A3E73-AB6F-473D-8A0C-3F8FACBF84DC}" type="slidenum">
              <a:rPr lang="sv-SE" smtClean="0"/>
              <a:t>3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9409247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7A3E73-AB6F-473D-8A0C-3F8FACBF84DC}" type="slidenum">
              <a:rPr lang="sv-SE" smtClean="0"/>
              <a:t>13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516645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7A3E73-AB6F-473D-8A0C-3F8FACBF84DC}" type="slidenum">
              <a:rPr lang="sv-SE" smtClean="0"/>
              <a:t>14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1503752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7A3E73-AB6F-473D-8A0C-3F8FACBF84DC}" type="slidenum">
              <a:rPr lang="sv-SE" smtClean="0"/>
              <a:t>15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8252348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7A3E73-AB6F-473D-8A0C-3F8FACBF84DC}" type="slidenum">
              <a:rPr lang="sv-SE" smtClean="0"/>
              <a:t>16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6394281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7A3E73-AB6F-473D-8A0C-3F8FACBF84DC}" type="slidenum">
              <a:rPr lang="sv-SE" smtClean="0"/>
              <a:t>17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0126129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7A3E73-AB6F-473D-8A0C-3F8FACBF84DC}" type="slidenum">
              <a:rPr lang="sv-SE" smtClean="0"/>
              <a:t>18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9589554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7A3E73-AB6F-473D-8A0C-3F8FACBF84DC}" type="slidenum">
              <a:rPr lang="sv-SE" smtClean="0"/>
              <a:t>20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2178114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7A3E73-AB6F-473D-8A0C-3F8FACBF84DC}" type="slidenum">
              <a:rPr lang="sv-SE" smtClean="0"/>
              <a:t>26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7410412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46C5C-7B3C-46DF-B479-A650EF2753E0}" type="datetimeFigureOut">
              <a:rPr lang="sv-SE" smtClean="0"/>
              <a:t>2024-10-02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339-DE60-4EA1-A509-748D0784C31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031934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46C5C-7B3C-46DF-B479-A650EF2753E0}" type="datetimeFigureOut">
              <a:rPr lang="sv-SE" smtClean="0"/>
              <a:t>2024-10-02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339-DE60-4EA1-A509-748D0784C31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308264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46C5C-7B3C-46DF-B479-A650EF2753E0}" type="datetimeFigureOut">
              <a:rPr lang="sv-SE" smtClean="0"/>
              <a:t>2024-10-02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339-DE60-4EA1-A509-748D0784C31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923445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46C5C-7B3C-46DF-B479-A650EF2753E0}" type="datetimeFigureOut">
              <a:rPr lang="sv-SE" smtClean="0"/>
              <a:t>2024-10-02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339-DE60-4EA1-A509-748D0784C31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397618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46C5C-7B3C-46DF-B479-A650EF2753E0}" type="datetimeFigureOut">
              <a:rPr lang="sv-SE" smtClean="0"/>
              <a:t>2024-10-02</a:t>
            </a:fld>
            <a:endParaRPr lang="sv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339-DE60-4EA1-A509-748D0784C31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9815427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46C5C-7B3C-46DF-B479-A650EF2753E0}" type="datetimeFigureOut">
              <a:rPr lang="sv-SE" smtClean="0"/>
              <a:t>2024-10-02</a:t>
            </a:fld>
            <a:endParaRPr lang="sv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339-DE60-4EA1-A509-748D0784C31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736232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46C5C-7B3C-46DF-B479-A650EF2753E0}" type="datetimeFigureOut">
              <a:rPr lang="sv-SE" smtClean="0"/>
              <a:t>2024-10-02</a:t>
            </a:fld>
            <a:endParaRPr lang="sv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339-DE60-4EA1-A509-748D0784C31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024514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46C5C-7B3C-46DF-B479-A650EF2753E0}" type="datetimeFigureOut">
              <a:rPr lang="sv-SE" smtClean="0"/>
              <a:t>2024-10-02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339-DE60-4EA1-A509-748D0784C31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431651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46C5C-7B3C-46DF-B479-A650EF2753E0}" type="datetimeFigureOut">
              <a:rPr lang="sv-SE" smtClean="0"/>
              <a:t>2024-10-02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339-DE60-4EA1-A509-748D0784C31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720379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46C5C-7B3C-46DF-B479-A650EF2753E0}" type="datetimeFigureOut">
              <a:rPr lang="sv-SE" smtClean="0"/>
              <a:t>2024-10-02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339-DE60-4EA1-A509-748D0784C31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27955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46C5C-7B3C-46DF-B479-A650EF2753E0}" type="datetimeFigureOut">
              <a:rPr lang="sv-SE" smtClean="0"/>
              <a:t>2024-10-02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339-DE60-4EA1-A509-748D0784C31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428575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B46C5C-7B3C-46DF-B479-A650EF2753E0}" type="datetimeFigureOut">
              <a:rPr lang="sv-SE" smtClean="0"/>
              <a:t>2024-10-02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890339-DE60-4EA1-A509-748D0784C31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642677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image" Target="../media/image3.emf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emf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8.emf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9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7.png"/><Relationship Id="rId3" Type="http://schemas.openxmlformats.org/officeDocument/2006/relationships/image" Target="../media/image11.emf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8.png"/><Relationship Id="rId10" Type="http://schemas.openxmlformats.org/officeDocument/2006/relationships/image" Target="../media/image44.png"/><Relationship Id="rId4" Type="http://schemas.openxmlformats.org/officeDocument/2006/relationships/image" Target="../media/image12.emf"/><Relationship Id="rId9" Type="http://schemas.openxmlformats.org/officeDocument/2006/relationships/image" Target="../media/image43.png"/><Relationship Id="rId14" Type="http://schemas.openxmlformats.org/officeDocument/2006/relationships/image" Target="../media/image4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emf"/><Relationship Id="rId13" Type="http://schemas.openxmlformats.org/officeDocument/2006/relationships/image" Target="../media/image18.emf"/><Relationship Id="rId3" Type="http://schemas.openxmlformats.org/officeDocument/2006/relationships/image" Target="../media/image15.png"/><Relationship Id="rId7" Type="http://schemas.openxmlformats.org/officeDocument/2006/relationships/image" Target="../media/image15.emf"/><Relationship Id="rId12" Type="http://schemas.openxmlformats.org/officeDocument/2006/relationships/image" Target="../media/image17.emf"/><Relationship Id="rId2" Type="http://schemas.openxmlformats.org/officeDocument/2006/relationships/image" Target="../media/image13.emf"/><Relationship Id="rId16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emf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5" Type="http://schemas.openxmlformats.org/officeDocument/2006/relationships/image" Target="../media/image2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emf"/><Relationship Id="rId13" Type="http://schemas.openxmlformats.org/officeDocument/2006/relationships/image" Target="../media/image18.emf"/><Relationship Id="rId3" Type="http://schemas.openxmlformats.org/officeDocument/2006/relationships/image" Target="../media/image19.png"/><Relationship Id="rId7" Type="http://schemas.openxmlformats.org/officeDocument/2006/relationships/image" Target="../media/image15.emf"/><Relationship Id="rId12" Type="http://schemas.openxmlformats.org/officeDocument/2006/relationships/image" Target="../media/image17.emf"/><Relationship Id="rId2" Type="http://schemas.openxmlformats.org/officeDocument/2006/relationships/image" Target="../media/image13.emf"/><Relationship Id="rId16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emf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5" Type="http://schemas.openxmlformats.org/officeDocument/2006/relationships/image" Target="../media/image32.png"/><Relationship Id="rId10" Type="http://schemas.openxmlformats.org/officeDocument/2006/relationships/image" Target="../media/image29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1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emf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7.png"/><Relationship Id="rId3" Type="http://schemas.openxmlformats.org/officeDocument/2006/relationships/image" Target="../media/image37.emf"/><Relationship Id="rId7" Type="http://schemas.openxmlformats.org/officeDocument/2006/relationships/image" Target="../media/image41.emf"/><Relationship Id="rId12" Type="http://schemas.openxmlformats.org/officeDocument/2006/relationships/image" Target="../media/image66.png"/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emf"/><Relationship Id="rId11" Type="http://schemas.openxmlformats.org/officeDocument/2006/relationships/image" Target="../media/image65.png"/><Relationship Id="rId5" Type="http://schemas.openxmlformats.org/officeDocument/2006/relationships/image" Target="../media/image39.emf"/><Relationship Id="rId15" Type="http://schemas.openxmlformats.org/officeDocument/2006/relationships/image" Target="../media/image69.png"/><Relationship Id="rId10" Type="http://schemas.openxmlformats.org/officeDocument/2006/relationships/image" Target="../media/image64.png"/><Relationship Id="rId4" Type="http://schemas.openxmlformats.org/officeDocument/2006/relationships/image" Target="../media/image38.emf"/><Relationship Id="rId14" Type="http://schemas.openxmlformats.org/officeDocument/2006/relationships/image" Target="../media/image6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54.png"/><Relationship Id="rId3" Type="http://schemas.openxmlformats.org/officeDocument/2006/relationships/image" Target="../media/image37.emf"/><Relationship Id="rId7" Type="http://schemas.openxmlformats.org/officeDocument/2006/relationships/image" Target="../media/image41.emf"/><Relationship Id="rId12" Type="http://schemas.openxmlformats.org/officeDocument/2006/relationships/image" Target="../media/image53.png"/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emf"/><Relationship Id="rId11" Type="http://schemas.openxmlformats.org/officeDocument/2006/relationships/image" Target="../media/image52.png"/><Relationship Id="rId5" Type="http://schemas.openxmlformats.org/officeDocument/2006/relationships/image" Target="../media/image39.emf"/><Relationship Id="rId10" Type="http://schemas.openxmlformats.org/officeDocument/2006/relationships/image" Target="../media/image51.png"/><Relationship Id="rId4" Type="http://schemas.openxmlformats.org/officeDocument/2006/relationships/image" Target="../media/image38.emf"/><Relationship Id="rId9" Type="http://schemas.openxmlformats.org/officeDocument/2006/relationships/image" Target="../media/image5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0.png"/><Relationship Id="rId13" Type="http://schemas.openxmlformats.org/officeDocument/2006/relationships/image" Target="../media/image270.png"/><Relationship Id="rId3" Type="http://schemas.openxmlformats.org/officeDocument/2006/relationships/image" Target="../media/image34.emf"/><Relationship Id="rId7" Type="http://schemas.openxmlformats.org/officeDocument/2006/relationships/image" Target="../media/image210.png"/><Relationship Id="rId12" Type="http://schemas.openxmlformats.org/officeDocument/2006/relationships/image" Target="../media/image26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0.png"/><Relationship Id="rId11" Type="http://schemas.openxmlformats.org/officeDocument/2006/relationships/image" Target="../media/image250.png"/><Relationship Id="rId5" Type="http://schemas.openxmlformats.org/officeDocument/2006/relationships/image" Target="../media/image190.png"/><Relationship Id="rId10" Type="http://schemas.openxmlformats.org/officeDocument/2006/relationships/image" Target="../media/image240.png"/><Relationship Id="rId4" Type="http://schemas.openxmlformats.org/officeDocument/2006/relationships/image" Target="../media/image180.png"/><Relationship Id="rId9" Type="http://schemas.openxmlformats.org/officeDocument/2006/relationships/image" Target="../media/image23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0.png"/><Relationship Id="rId3" Type="http://schemas.openxmlformats.org/officeDocument/2006/relationships/image" Target="../media/image55.emf"/><Relationship Id="rId7" Type="http://schemas.openxmlformats.org/officeDocument/2006/relationships/image" Target="../media/image29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0.png"/><Relationship Id="rId5" Type="http://schemas.openxmlformats.org/officeDocument/2006/relationships/image" Target="../media/image1.emf"/><Relationship Id="rId4" Type="http://schemas.openxmlformats.org/officeDocument/2006/relationships/image" Target="../media/image56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emf"/><Relationship Id="rId3" Type="http://schemas.openxmlformats.org/officeDocument/2006/relationships/image" Target="../media/image310.png"/><Relationship Id="rId7" Type="http://schemas.openxmlformats.org/officeDocument/2006/relationships/image" Target="../media/image60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emf"/><Relationship Id="rId5" Type="http://schemas.openxmlformats.org/officeDocument/2006/relationships/image" Target="../media/image58.emf"/><Relationship Id="rId4" Type="http://schemas.openxmlformats.org/officeDocument/2006/relationships/image" Target="../media/image57.emf"/><Relationship Id="rId9" Type="http://schemas.openxmlformats.org/officeDocument/2006/relationships/image" Target="../media/image62.e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emf"/><Relationship Id="rId3" Type="http://schemas.openxmlformats.org/officeDocument/2006/relationships/image" Target="../media/image310.png"/><Relationship Id="rId7" Type="http://schemas.openxmlformats.org/officeDocument/2006/relationships/image" Target="../media/image60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emf"/><Relationship Id="rId11" Type="http://schemas.openxmlformats.org/officeDocument/2006/relationships/image" Target="../media/image64.emf"/><Relationship Id="rId5" Type="http://schemas.openxmlformats.org/officeDocument/2006/relationships/image" Target="../media/image58.emf"/><Relationship Id="rId10" Type="http://schemas.openxmlformats.org/officeDocument/2006/relationships/image" Target="../media/image63.emf"/><Relationship Id="rId4" Type="http://schemas.openxmlformats.org/officeDocument/2006/relationships/image" Target="../media/image57.emf"/><Relationship Id="rId9" Type="http://schemas.openxmlformats.org/officeDocument/2006/relationships/image" Target="../media/image62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4.emf"/><Relationship Id="rId4" Type="http://schemas.openxmlformats.org/officeDocument/2006/relationships/image" Target="../media/image63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7" Type="http://schemas.openxmlformats.org/officeDocument/2006/relationships/image" Target="../media/image68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7.emf"/><Relationship Id="rId5" Type="http://schemas.openxmlformats.org/officeDocument/2006/relationships/image" Target="../media/image66.emf"/><Relationship Id="rId4" Type="http://schemas.openxmlformats.org/officeDocument/2006/relationships/image" Target="../media/image65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0.emf"/><Relationship Id="rId4" Type="http://schemas.openxmlformats.org/officeDocument/2006/relationships/image" Target="../media/image69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emf"/><Relationship Id="rId5" Type="http://schemas.openxmlformats.org/officeDocument/2006/relationships/image" Target="../media/image73.emf"/><Relationship Id="rId4" Type="http://schemas.openxmlformats.org/officeDocument/2006/relationships/image" Target="../media/image72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emf"/><Relationship Id="rId2" Type="http://schemas.openxmlformats.org/officeDocument/2006/relationships/image" Target="../media/image75.emf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367" y="771252"/>
            <a:ext cx="4841789" cy="363134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43578" y="134486"/>
            <a:ext cx="40517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solidFill>
                  <a:srgbClr val="C00000"/>
                </a:solidFill>
              </a:rPr>
              <a:t>CB- SPWM</a:t>
            </a:r>
            <a:endParaRPr lang="sv-SE" sz="4000" dirty="0">
              <a:solidFill>
                <a:srgbClr val="C0000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2568" y="657793"/>
            <a:ext cx="5334000" cy="40005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995680" y="5104085"/>
            <a:ext cx="105562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 can generate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carrier-based (CB) PWMs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by comparing reference signals with triangular carrier signal.</a:t>
            </a:r>
          </a:p>
          <a:p>
            <a:pPr marL="342900" indent="-342900">
              <a:buFont typeface="+mj-lt"/>
              <a:buAutoNum type="arabicPeriod"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Conventionally, it is common  that one carrier signal is utilized. However, for multi-module or multi-phase inverters,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carrier signals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can be used in order to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reduce specific harmonics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53000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4350" y="4959250"/>
            <a:ext cx="5334000" cy="4000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721055" y="-1054133"/>
            <a:ext cx="53433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solidFill>
                  <a:srgbClr val="C00000"/>
                </a:solidFill>
              </a:rPr>
              <a:t>CB- SPWM-ACCESS</a:t>
            </a:r>
            <a:endParaRPr lang="sv-SE" sz="4000" dirty="0">
              <a:solidFill>
                <a:srgbClr val="C0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186880" y="4713301"/>
            <a:ext cx="545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(a)</a:t>
            </a:r>
            <a:endParaRPr lang="sv-SE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8448123" y="4728418"/>
            <a:ext cx="545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(b)</a:t>
            </a:r>
            <a:endParaRPr lang="sv-SE" sz="24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4350" y="712801"/>
            <a:ext cx="5334000" cy="4000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186880" y="8959750"/>
            <a:ext cx="545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(c)</a:t>
            </a:r>
            <a:endParaRPr lang="sv-SE" sz="240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020" y="4944133"/>
            <a:ext cx="5334000" cy="4000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581350" y="8959750"/>
            <a:ext cx="545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(d)</a:t>
            </a:r>
            <a:endParaRPr lang="sv-SE" sz="2400" dirty="0"/>
          </a:p>
        </p:txBody>
      </p:sp>
      <p:sp>
        <p:nvSpPr>
          <p:cNvPr id="20" name="Rectangle 19"/>
          <p:cNvSpPr/>
          <p:nvPr/>
        </p:nvSpPr>
        <p:spPr>
          <a:xfrm>
            <a:off x="10205259" y="5190083"/>
            <a:ext cx="112086" cy="1109117"/>
          </a:xfrm>
          <a:prstGeom prst="rect">
            <a:avLst/>
          </a:prstGeom>
          <a:noFill/>
          <a:ln>
            <a:solidFill>
              <a:srgbClr val="FE7ED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1" name="Rectangle 20"/>
          <p:cNvSpPr/>
          <p:nvPr/>
        </p:nvSpPr>
        <p:spPr>
          <a:xfrm>
            <a:off x="9959709" y="6151686"/>
            <a:ext cx="112086" cy="1109117"/>
          </a:xfrm>
          <a:prstGeom prst="rect">
            <a:avLst/>
          </a:prstGeom>
          <a:noFill/>
          <a:ln>
            <a:solidFill>
              <a:srgbClr val="FE7ED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2" name="Rectangle 21"/>
          <p:cNvSpPr/>
          <p:nvPr/>
        </p:nvSpPr>
        <p:spPr>
          <a:xfrm>
            <a:off x="7129596" y="5174966"/>
            <a:ext cx="112086" cy="1109117"/>
          </a:xfrm>
          <a:prstGeom prst="rect">
            <a:avLst/>
          </a:prstGeom>
          <a:noFill/>
          <a:ln>
            <a:solidFill>
              <a:srgbClr val="FE7ED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3" name="Rectangle 22"/>
          <p:cNvSpPr/>
          <p:nvPr/>
        </p:nvSpPr>
        <p:spPr>
          <a:xfrm>
            <a:off x="7732816" y="6151685"/>
            <a:ext cx="112086" cy="1109117"/>
          </a:xfrm>
          <a:prstGeom prst="rect">
            <a:avLst/>
          </a:prstGeom>
          <a:noFill/>
          <a:ln>
            <a:solidFill>
              <a:srgbClr val="FE7ED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4" name="Rectangle 23"/>
          <p:cNvSpPr/>
          <p:nvPr/>
        </p:nvSpPr>
        <p:spPr>
          <a:xfrm>
            <a:off x="8521618" y="7098455"/>
            <a:ext cx="112086" cy="1109117"/>
          </a:xfrm>
          <a:prstGeom prst="rect">
            <a:avLst/>
          </a:prstGeom>
          <a:noFill/>
          <a:ln>
            <a:solidFill>
              <a:srgbClr val="FE7ED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5" name="Rectangle 24"/>
          <p:cNvSpPr/>
          <p:nvPr/>
        </p:nvSpPr>
        <p:spPr>
          <a:xfrm>
            <a:off x="9000839" y="7098454"/>
            <a:ext cx="112086" cy="1109117"/>
          </a:xfrm>
          <a:prstGeom prst="rect">
            <a:avLst/>
          </a:prstGeom>
          <a:noFill/>
          <a:ln>
            <a:solidFill>
              <a:srgbClr val="FE7ED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8380482" y="5465479"/>
                <a:ext cx="82759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𝑑𝑣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</a:rPr>
                        <m:t>𝑑𝑡</m:t>
                      </m:r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0482" y="5465479"/>
                <a:ext cx="827590" cy="369332"/>
              </a:xfrm>
              <a:prstGeom prst="rect">
                <a:avLst/>
              </a:prstGeom>
              <a:blipFill>
                <a:blip r:embed="rId7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Arrow Connector 29"/>
          <p:cNvCxnSpPr>
            <a:stCxn id="27" idx="1"/>
          </p:cNvCxnSpPr>
          <p:nvPr/>
        </p:nvCxnSpPr>
        <p:spPr>
          <a:xfrm flipH="1">
            <a:off x="7405619" y="5650145"/>
            <a:ext cx="974863" cy="0"/>
          </a:xfrm>
          <a:prstGeom prst="straightConnector1">
            <a:avLst/>
          </a:prstGeom>
          <a:ln>
            <a:solidFill>
              <a:srgbClr val="FE7ED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27" idx="2"/>
          </p:cNvCxnSpPr>
          <p:nvPr/>
        </p:nvCxnSpPr>
        <p:spPr>
          <a:xfrm flipH="1">
            <a:off x="8059159" y="5834811"/>
            <a:ext cx="735118" cy="641184"/>
          </a:xfrm>
          <a:prstGeom prst="straightConnector1">
            <a:avLst/>
          </a:prstGeom>
          <a:ln>
            <a:solidFill>
              <a:srgbClr val="FE7ED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27" idx="2"/>
          </p:cNvCxnSpPr>
          <p:nvPr/>
        </p:nvCxnSpPr>
        <p:spPr>
          <a:xfrm flipH="1">
            <a:off x="8521618" y="5834811"/>
            <a:ext cx="272659" cy="1175259"/>
          </a:xfrm>
          <a:prstGeom prst="straightConnector1">
            <a:avLst/>
          </a:prstGeom>
          <a:ln>
            <a:solidFill>
              <a:srgbClr val="FE7ED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27" idx="2"/>
          </p:cNvCxnSpPr>
          <p:nvPr/>
        </p:nvCxnSpPr>
        <p:spPr>
          <a:xfrm>
            <a:off x="8794277" y="5834811"/>
            <a:ext cx="270118" cy="1263643"/>
          </a:xfrm>
          <a:prstGeom prst="straightConnector1">
            <a:avLst/>
          </a:prstGeom>
          <a:ln>
            <a:solidFill>
              <a:srgbClr val="FE7ED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27" idx="2"/>
          </p:cNvCxnSpPr>
          <p:nvPr/>
        </p:nvCxnSpPr>
        <p:spPr>
          <a:xfrm>
            <a:off x="8794277" y="5834811"/>
            <a:ext cx="735118" cy="587629"/>
          </a:xfrm>
          <a:prstGeom prst="straightConnector1">
            <a:avLst/>
          </a:prstGeom>
          <a:ln>
            <a:solidFill>
              <a:srgbClr val="FE7ED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27" idx="3"/>
          </p:cNvCxnSpPr>
          <p:nvPr/>
        </p:nvCxnSpPr>
        <p:spPr>
          <a:xfrm>
            <a:off x="9208072" y="5650145"/>
            <a:ext cx="863723" cy="0"/>
          </a:xfrm>
          <a:prstGeom prst="straightConnector1">
            <a:avLst/>
          </a:prstGeom>
          <a:ln>
            <a:solidFill>
              <a:srgbClr val="FE7ED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Picture 5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0350" y="731660"/>
            <a:ext cx="5334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9031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4350" y="4959250"/>
            <a:ext cx="5334000" cy="4000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721055" y="-1054133"/>
            <a:ext cx="53433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solidFill>
                  <a:srgbClr val="C00000"/>
                </a:solidFill>
              </a:rPr>
              <a:t>CB- SPWM-ACCESS</a:t>
            </a:r>
            <a:endParaRPr lang="sv-SE" sz="4000" dirty="0">
              <a:solidFill>
                <a:srgbClr val="C0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186880" y="4713301"/>
            <a:ext cx="545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(a)</a:t>
            </a:r>
            <a:endParaRPr lang="sv-SE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8448123" y="4728418"/>
            <a:ext cx="545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(b)</a:t>
            </a:r>
            <a:endParaRPr lang="sv-SE" sz="24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4350" y="712801"/>
            <a:ext cx="5334000" cy="4000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186880" y="8959750"/>
            <a:ext cx="545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(c)</a:t>
            </a:r>
            <a:endParaRPr lang="sv-SE" sz="240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020" y="4944133"/>
            <a:ext cx="5334000" cy="4000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581350" y="8959750"/>
            <a:ext cx="545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(d)</a:t>
            </a:r>
            <a:endParaRPr lang="sv-SE" sz="2400" dirty="0"/>
          </a:p>
        </p:txBody>
      </p:sp>
      <p:pic>
        <p:nvPicPr>
          <p:cNvPr id="59" name="Picture 5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350" y="731660"/>
            <a:ext cx="5334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289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Picture 5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051" y="2578082"/>
            <a:ext cx="4055533" cy="3041650"/>
          </a:xfrm>
          <a:prstGeom prst="rect">
            <a:avLst/>
          </a:prstGeom>
        </p:spPr>
      </p:pic>
      <p:pic>
        <p:nvPicPr>
          <p:cNvPr id="47" name="Picture 4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8574" y="2650584"/>
            <a:ext cx="3700839" cy="2775629"/>
          </a:xfrm>
          <a:prstGeom prst="rect">
            <a:avLst/>
          </a:prstGeom>
        </p:spPr>
      </p:pic>
      <p:cxnSp>
        <p:nvCxnSpPr>
          <p:cNvPr id="10" name="Straight Arrow Connector 9"/>
          <p:cNvCxnSpPr/>
          <p:nvPr/>
        </p:nvCxnSpPr>
        <p:spPr>
          <a:xfrm>
            <a:off x="4105359" y="2987166"/>
            <a:ext cx="451083" cy="413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H="1">
            <a:off x="6351136" y="2987166"/>
            <a:ext cx="481432" cy="0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4828858" y="2904160"/>
                <a:ext cx="126621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8858" y="2904160"/>
                <a:ext cx="1266214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/>
          <p:cNvCxnSpPr/>
          <p:nvPr/>
        </p:nvCxnSpPr>
        <p:spPr>
          <a:xfrm flipH="1">
            <a:off x="6091935" y="3670322"/>
            <a:ext cx="744047" cy="3206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V="1">
            <a:off x="4081623" y="3673528"/>
            <a:ext cx="835110" cy="8112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4793431" y="3500665"/>
                <a:ext cx="126621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3431" y="3500665"/>
                <a:ext cx="1266214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4826013" y="4771796"/>
                <a:ext cx="126621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6013" y="4771796"/>
                <a:ext cx="1266214" cy="400110"/>
              </a:xfrm>
              <a:prstGeom prst="rect">
                <a:avLst/>
              </a:prstGeom>
              <a:blipFill>
                <a:blip r:embed="rId6"/>
                <a:stretch>
                  <a:fillRect b="-1538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/>
          <p:cNvCxnSpPr/>
          <p:nvPr/>
        </p:nvCxnSpPr>
        <p:spPr>
          <a:xfrm>
            <a:off x="4105359" y="4326843"/>
            <a:ext cx="185721" cy="2942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>
            <a:off x="6621786" y="4362564"/>
            <a:ext cx="217666" cy="0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24560" y="803998"/>
            <a:ext cx="105562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we zoom in on a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single period of the carrier signal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we observe that the transition time of PWMs for each leg do not intersect.</a:t>
            </a:r>
          </a:p>
          <a:p>
            <a:pPr marL="342900" indent="-342900">
              <a:buFont typeface="+mj-lt"/>
              <a:buAutoNum type="arabicPeriod"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we have common mode voltage at the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transition times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addition to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frequency of carrier signal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its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triplen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harmonics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12635" y="2261012"/>
            <a:ext cx="1256066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 smtClean="0"/>
              <a:t>CMV</a:t>
            </a:r>
            <a:endParaRPr lang="sv-SE" sz="25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/>
              <p:cNvSpPr txBox="1"/>
              <p:nvPr/>
            </p:nvSpPr>
            <p:spPr>
              <a:xfrm>
                <a:off x="7958181" y="3083176"/>
                <a:ext cx="1266214" cy="559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sv-SE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sv-SE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  <m:r>
                            <a:rPr lang="sv-SE" sz="1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sub>
                          </m:sSub>
                        </m:num>
                        <m:den>
                          <m:r>
                            <a:rPr lang="sv-SE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sv-SE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sv-SE" sz="1400" b="0" i="0" smtClean="0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sv-SE" sz="1400" dirty="0"/>
              </a:p>
            </p:txBody>
          </p:sp>
        </mc:Choice>
        <mc:Fallback xmlns="">
          <p:sp>
            <p:nvSpPr>
              <p:cNvPr id="55" name="Text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8181" y="3083176"/>
                <a:ext cx="1266214" cy="55976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/>
              <p:cNvSpPr txBox="1"/>
              <p:nvPr/>
            </p:nvSpPr>
            <p:spPr>
              <a:xfrm>
                <a:off x="7377448" y="2203005"/>
                <a:ext cx="1266214" cy="559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sv-SE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sub>
                          </m:sSub>
                        </m:num>
                        <m:den>
                          <m:r>
                            <a:rPr lang="sv-SE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sv-SE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sv-SE" sz="1400" b="0" i="0" smtClean="0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sv-SE" sz="1400" dirty="0"/>
              </a:p>
            </p:txBody>
          </p:sp>
        </mc:Choice>
        <mc:Fallback xmlns=""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7448" y="2203005"/>
                <a:ext cx="1266214" cy="55976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/>
              <p:cNvSpPr txBox="1"/>
              <p:nvPr/>
            </p:nvSpPr>
            <p:spPr>
              <a:xfrm>
                <a:off x="8320967" y="3926387"/>
                <a:ext cx="1266214" cy="559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sv-SE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sv-SE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sv-SE" sz="1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sub>
                          </m:sSub>
                        </m:num>
                        <m:den>
                          <m:r>
                            <a:rPr lang="sv-SE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sv-SE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sv-SE" sz="1400" b="0" i="0" smtClean="0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sv-SE" sz="1400" dirty="0"/>
              </a:p>
            </p:txBody>
          </p:sp>
        </mc:Choice>
        <mc:Fallback xmlns="">
          <p:sp>
            <p:nvSpPr>
              <p:cNvPr id="57" name="TextBox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0967" y="3926387"/>
                <a:ext cx="1266214" cy="55976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/>
              <p:cNvSpPr txBox="1"/>
              <p:nvPr/>
            </p:nvSpPr>
            <p:spPr>
              <a:xfrm>
                <a:off x="8806027" y="4759430"/>
                <a:ext cx="1266214" cy="559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sv-SE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(1−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sv-SE" sz="1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sub>
                          </m:sSub>
                        </m:num>
                        <m:den>
                          <m:r>
                            <a:rPr lang="sv-SE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sv-SE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sv-SE" sz="1400" b="0" i="0" smtClean="0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sv-SE" sz="1400" dirty="0"/>
              </a:p>
            </p:txBody>
          </p:sp>
        </mc:Choice>
        <mc:Fallback xmlns=""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6027" y="4759430"/>
                <a:ext cx="1266214" cy="55976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/>
              <p:cNvSpPr txBox="1"/>
              <p:nvPr/>
            </p:nvSpPr>
            <p:spPr>
              <a:xfrm>
                <a:off x="9994210" y="4487637"/>
                <a:ext cx="1266214" cy="559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sv-SE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sv-SE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sv-SE" sz="1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sub>
                          </m:sSub>
                        </m:num>
                        <m:den>
                          <m:r>
                            <a:rPr lang="sv-SE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sv-SE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sv-SE" sz="1400" b="0" i="0" smtClean="0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sv-SE" sz="1400" dirty="0"/>
              </a:p>
            </p:txBody>
          </p:sp>
        </mc:Choice>
        <mc:Fallback xmlns=""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4210" y="4487637"/>
                <a:ext cx="1266214" cy="55976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/>
              <p:cNvSpPr txBox="1"/>
              <p:nvPr/>
            </p:nvSpPr>
            <p:spPr>
              <a:xfrm>
                <a:off x="10440713" y="3700720"/>
                <a:ext cx="1266214" cy="559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sv-SE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sv-SE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  <m:r>
                            <a:rPr lang="sv-SE" sz="1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sub>
                          </m:sSub>
                        </m:num>
                        <m:den>
                          <m:r>
                            <a:rPr lang="sv-SE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sv-SE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sv-SE" sz="1400" b="0" i="0" smtClean="0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sv-SE" sz="1400" dirty="0"/>
              </a:p>
            </p:txBody>
          </p:sp>
        </mc:Choice>
        <mc:Fallback xmlns="">
          <p:sp>
            <p:nvSpPr>
              <p:cNvPr id="60" name="TextBox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40713" y="3700720"/>
                <a:ext cx="1266214" cy="55976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/>
              <p:cNvSpPr txBox="1"/>
              <p:nvPr/>
            </p:nvSpPr>
            <p:spPr>
              <a:xfrm>
                <a:off x="10588583" y="2824330"/>
                <a:ext cx="1266214" cy="559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sv-SE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sub>
                          </m:sSub>
                        </m:num>
                        <m:den>
                          <m:r>
                            <a:rPr lang="sv-SE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sv-SE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sv-SE" sz="1400" b="0" i="0" smtClean="0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sv-SE" sz="1400" dirty="0"/>
              </a:p>
            </p:txBody>
          </p:sp>
        </mc:Choice>
        <mc:Fallback xmlns="">
          <p:sp>
            <p:nvSpPr>
              <p:cNvPr id="61" name="TextBox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88583" y="2824330"/>
                <a:ext cx="1266214" cy="55976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9219" y="2711092"/>
            <a:ext cx="3700839" cy="2775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7192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7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9194" y="3424017"/>
            <a:ext cx="5334000" cy="40005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1600" y="-734999"/>
            <a:ext cx="5334000" cy="4000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99480" y="3290901"/>
            <a:ext cx="545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(a)</a:t>
            </a:r>
            <a:endParaRPr lang="sv-SE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7660723" y="3306018"/>
            <a:ext cx="545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(b)</a:t>
            </a:r>
            <a:endParaRPr lang="sv-SE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5414064" y="7372666"/>
            <a:ext cx="545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(c)</a:t>
            </a:r>
            <a:endParaRPr lang="sv-SE" sz="2400" dirty="0"/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3176" y="-694482"/>
            <a:ext cx="5334000" cy="4000500"/>
          </a:xfrm>
          <a:prstGeom prst="rect">
            <a:avLst/>
          </a:prstGeom>
        </p:spPr>
      </p:pic>
      <p:cxnSp>
        <p:nvCxnSpPr>
          <p:cNvPr id="43" name="Straight Arrow Connector 42"/>
          <p:cNvCxnSpPr/>
          <p:nvPr/>
        </p:nvCxnSpPr>
        <p:spPr>
          <a:xfrm flipH="1">
            <a:off x="6102352" y="-257175"/>
            <a:ext cx="819148" cy="0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>
            <a:off x="8893196" y="-257175"/>
            <a:ext cx="835004" cy="0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7274241" y="-400110"/>
                <a:ext cx="126621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4241" y="-400110"/>
                <a:ext cx="1266214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7263118" y="358715"/>
                <a:ext cx="126621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3118" y="358715"/>
                <a:ext cx="1266214" cy="400110"/>
              </a:xfrm>
              <a:prstGeom prst="rect">
                <a:avLst/>
              </a:prstGeom>
              <a:blipFill>
                <a:blip r:embed="rId6"/>
                <a:stretch>
                  <a:fillRect b="-1538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>
                <a:off x="7300461" y="1590570"/>
                <a:ext cx="126621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0461" y="1590570"/>
                <a:ext cx="1266214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Straight Arrow Connector 49"/>
          <p:cNvCxnSpPr/>
          <p:nvPr/>
        </p:nvCxnSpPr>
        <p:spPr>
          <a:xfrm>
            <a:off x="9446474" y="1790625"/>
            <a:ext cx="281726" cy="2942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 flipH="1">
            <a:off x="6102351" y="1793567"/>
            <a:ext cx="217666" cy="0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flipH="1" flipV="1">
            <a:off x="6102351" y="758825"/>
            <a:ext cx="1435099" cy="3175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>
            <a:off x="8255000" y="758825"/>
            <a:ext cx="1473200" cy="3175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/>
              <p:cNvSpPr txBox="1"/>
              <p:nvPr/>
            </p:nvSpPr>
            <p:spPr>
              <a:xfrm>
                <a:off x="3456873" y="3144133"/>
                <a:ext cx="1266214" cy="559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sv-SE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e>
                            <m:sub>
                              <m:r>
                                <a:rPr lang="sv-SE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e>
                            <m:sub>
                              <m:r>
                                <a:rPr lang="en-US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  <m:r>
                                <a:rPr lang="sv-SE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sub>
                          </m:sSub>
                        </m:num>
                        <m:den>
                          <m:r>
                            <a:rPr lang="sv-SE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sv-SE" sz="1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sv-SE" sz="14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sv-SE" sz="1400" b="1" i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sv-SE" sz="1400" b="1" dirty="0"/>
              </a:p>
            </p:txBody>
          </p:sp>
        </mc:Choice>
        <mc:Fallback xmlns="">
          <p:sp>
            <p:nvSpPr>
              <p:cNvPr id="70" name="TextBox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6873" y="3144133"/>
                <a:ext cx="1266214" cy="55976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/>
              <p:cNvSpPr txBox="1"/>
              <p:nvPr/>
            </p:nvSpPr>
            <p:spPr>
              <a:xfrm>
                <a:off x="4089980" y="4109305"/>
                <a:ext cx="1266214" cy="559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sv-SE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e>
                            <m:sub>
                              <m:r>
                                <a:rPr lang="sv-SE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sub>
                          </m:sSub>
                          <m:r>
                            <a:rPr lang="sv-SE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sv-SE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e>
                            <m:sub>
                              <m:r>
                                <a:rPr lang="sv-SE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sub>
                          </m:sSub>
                          <m:r>
                            <a:rPr lang="sv-SE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e>
                            <m:sub>
                              <m:r>
                                <a:rPr lang="en-US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  <m:r>
                                <a:rPr lang="sv-SE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sub>
                          </m:sSub>
                        </m:num>
                        <m:den>
                          <m:r>
                            <a:rPr lang="sv-SE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sv-SE" sz="1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sv-SE" sz="14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sv-SE" sz="14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73" name="TextBox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9980" y="4109305"/>
                <a:ext cx="1266214" cy="55976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/>
              <p:cNvSpPr txBox="1"/>
              <p:nvPr/>
            </p:nvSpPr>
            <p:spPr>
              <a:xfrm>
                <a:off x="4290069" y="5159949"/>
                <a:ext cx="1266214" cy="559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sv-SE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e>
                            <m:sub>
                              <m:r>
                                <a:rPr lang="sv-SE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sub>
                          </m:sSub>
                          <m:r>
                            <a:rPr lang="sv-SE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sv-SE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e>
                            <m:sub>
                              <m:r>
                                <a:rPr lang="sv-SE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sub>
                          </m:sSub>
                          <m:r>
                            <a:rPr lang="sv-SE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e>
                            <m:sub>
                              <m:r>
                                <a:rPr lang="en-US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  <m:r>
                                <a:rPr lang="sv-SE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sub>
                          </m:sSub>
                        </m:num>
                        <m:den>
                          <m:r>
                            <a:rPr lang="sv-SE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sv-SE" sz="1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sv-SE" sz="14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sv-SE" sz="14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74" name="TextBox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0069" y="5159949"/>
                <a:ext cx="1266214" cy="55976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/>
              <p:cNvSpPr txBox="1"/>
              <p:nvPr/>
            </p:nvSpPr>
            <p:spPr>
              <a:xfrm>
                <a:off x="5053803" y="6236079"/>
                <a:ext cx="126621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sv-SE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sv-SE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sv-SE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</m:sub>
                      </m:sSub>
                      <m:r>
                        <a:rPr lang="sv-SE" sz="16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  <m:r>
                            <a:rPr lang="sv-SE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</m:sub>
                      </m:sSub>
                    </m:oMath>
                  </m:oMathPara>
                </a14:m>
                <a:endParaRPr lang="sv-SE" sz="14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75" name="TextBox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3803" y="6236079"/>
                <a:ext cx="1266214" cy="338554"/>
              </a:xfrm>
              <a:prstGeom prst="rect">
                <a:avLst/>
              </a:prstGeom>
              <a:blipFill>
                <a:blip r:embed="rId11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/>
              <p:cNvSpPr txBox="1"/>
              <p:nvPr/>
            </p:nvSpPr>
            <p:spPr>
              <a:xfrm>
                <a:off x="5655286" y="5157348"/>
                <a:ext cx="1266214" cy="559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sv-SE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e>
                            <m:sub>
                              <m:r>
                                <a:rPr lang="sv-SE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sub>
                          </m:sSub>
                          <m:r>
                            <a:rPr lang="sv-SE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sv-SE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e>
                            <m:sub>
                              <m:r>
                                <a:rPr lang="sv-SE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sub>
                          </m:sSub>
                          <m:r>
                            <a:rPr lang="sv-SE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e>
                            <m:sub>
                              <m:r>
                                <a:rPr lang="en-US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  <m:r>
                                <a:rPr lang="sv-SE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sub>
                          </m:sSub>
                        </m:num>
                        <m:den>
                          <m:r>
                            <a:rPr lang="sv-SE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sv-SE" sz="1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sv-SE" sz="14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sv-SE" sz="14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76" name="TextBox 7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5286" y="5157348"/>
                <a:ext cx="1266214" cy="55976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/>
              <p:cNvSpPr txBox="1"/>
              <p:nvPr/>
            </p:nvSpPr>
            <p:spPr>
              <a:xfrm>
                <a:off x="5996904" y="4109305"/>
                <a:ext cx="1266214" cy="559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sv-SE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e>
                            <m:sub>
                              <m:r>
                                <a:rPr lang="sv-SE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sub>
                          </m:sSub>
                          <m:r>
                            <a:rPr lang="sv-SE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sv-SE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e>
                            <m:sub>
                              <m:r>
                                <a:rPr lang="sv-SE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sub>
                          </m:sSub>
                          <m:r>
                            <a:rPr lang="sv-SE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e>
                            <m:sub>
                              <m:r>
                                <a:rPr lang="en-US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  <m:r>
                                <a:rPr lang="sv-SE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sub>
                          </m:sSub>
                        </m:num>
                        <m:den>
                          <m:r>
                            <a:rPr lang="sv-SE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sv-SE" sz="1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sv-SE" sz="14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sv-SE" sz="14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77" name="TextBox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6904" y="4109305"/>
                <a:ext cx="1266214" cy="55976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/>
              <p:cNvSpPr txBox="1"/>
              <p:nvPr/>
            </p:nvSpPr>
            <p:spPr>
              <a:xfrm>
                <a:off x="6740111" y="3144133"/>
                <a:ext cx="1266214" cy="559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sv-SE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e>
                            <m:sub>
                              <m:r>
                                <a:rPr lang="sv-SE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e>
                            <m:sub>
                              <m:r>
                                <a:rPr lang="en-US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  <m:r>
                                <a:rPr lang="sv-SE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sub>
                          </m:sSub>
                        </m:num>
                        <m:den>
                          <m:r>
                            <a:rPr lang="sv-SE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sv-SE" sz="1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sv-SE" sz="14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sv-SE" sz="14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78" name="TextBox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0111" y="3144133"/>
                <a:ext cx="1266214" cy="55976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62797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4691" y="-671806"/>
            <a:ext cx="5334000" cy="4000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99480" y="3290901"/>
            <a:ext cx="545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(a)</a:t>
            </a:r>
            <a:endParaRPr lang="sv-SE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7635539" y="3271189"/>
            <a:ext cx="545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(b)</a:t>
            </a:r>
            <a:endParaRPr lang="sv-SE" sz="2400" dirty="0"/>
          </a:p>
        </p:txBody>
      </p:sp>
      <p:cxnSp>
        <p:nvCxnSpPr>
          <p:cNvPr id="43" name="Straight Arrow Connector 42"/>
          <p:cNvCxnSpPr/>
          <p:nvPr/>
        </p:nvCxnSpPr>
        <p:spPr>
          <a:xfrm flipH="1">
            <a:off x="6102352" y="-257175"/>
            <a:ext cx="599054" cy="0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>
            <a:off x="9096375" y="-257175"/>
            <a:ext cx="631825" cy="0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7274241" y="-400110"/>
                <a:ext cx="126621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4241" y="-400110"/>
                <a:ext cx="1266214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7239344" y="275781"/>
                <a:ext cx="126621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344" y="275781"/>
                <a:ext cx="1266214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>
                <a:off x="7159598" y="1504164"/>
                <a:ext cx="126621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9598" y="1504164"/>
                <a:ext cx="1266214" cy="400110"/>
              </a:xfrm>
              <a:prstGeom prst="rect">
                <a:avLst/>
              </a:prstGeom>
              <a:blipFill>
                <a:blip r:embed="rId5"/>
                <a:stretch>
                  <a:fillRect b="-1538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Straight Arrow Connector 49"/>
          <p:cNvCxnSpPr/>
          <p:nvPr/>
        </p:nvCxnSpPr>
        <p:spPr>
          <a:xfrm>
            <a:off x="9267825" y="1704219"/>
            <a:ext cx="486595" cy="0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 flipH="1" flipV="1">
            <a:off x="6097607" y="1704219"/>
            <a:ext cx="388918" cy="10311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flipH="1" flipV="1">
            <a:off x="6128572" y="659629"/>
            <a:ext cx="1435099" cy="3175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>
            <a:off x="8181230" y="659629"/>
            <a:ext cx="1546970" cy="3258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" name="Picture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43645" y="3732854"/>
            <a:ext cx="5334000" cy="40005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399480" y="7683408"/>
            <a:ext cx="545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(d)</a:t>
            </a:r>
            <a:endParaRPr lang="sv-SE" sz="2400" dirty="0"/>
          </a:p>
        </p:txBody>
      </p:sp>
      <p:sp>
        <p:nvSpPr>
          <p:cNvPr id="28" name="TextBox 27"/>
          <p:cNvSpPr txBox="1"/>
          <p:nvPr/>
        </p:nvSpPr>
        <p:spPr>
          <a:xfrm>
            <a:off x="7660723" y="7698525"/>
            <a:ext cx="545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(e)</a:t>
            </a:r>
            <a:endParaRPr lang="sv-SE" sz="2400" dirty="0"/>
          </a:p>
        </p:txBody>
      </p:sp>
      <p:sp>
        <p:nvSpPr>
          <p:cNvPr id="29" name="TextBox 28"/>
          <p:cNvSpPr txBox="1"/>
          <p:nvPr/>
        </p:nvSpPr>
        <p:spPr>
          <a:xfrm>
            <a:off x="12750452" y="7713642"/>
            <a:ext cx="545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(f)</a:t>
            </a:r>
            <a:endParaRPr lang="sv-SE" sz="2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4433" y="3682908"/>
            <a:ext cx="5334000" cy="40005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66617" y="3558809"/>
            <a:ext cx="5334000" cy="4000500"/>
          </a:xfrm>
          <a:prstGeom prst="rect">
            <a:avLst/>
          </a:prstGeom>
        </p:spPr>
      </p:pic>
      <p:cxnSp>
        <p:nvCxnSpPr>
          <p:cNvPr id="31" name="Straight Arrow Connector 30"/>
          <p:cNvCxnSpPr/>
          <p:nvPr/>
        </p:nvCxnSpPr>
        <p:spPr>
          <a:xfrm flipH="1">
            <a:off x="6128572" y="4130292"/>
            <a:ext cx="538928" cy="0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9134475" y="4130292"/>
            <a:ext cx="619945" cy="0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7300461" y="3987357"/>
                <a:ext cx="126621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0461" y="3987357"/>
                <a:ext cx="1266214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6963131" y="4787427"/>
                <a:ext cx="126621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3131" y="4787427"/>
                <a:ext cx="1266214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Arrow Connector 36"/>
          <p:cNvCxnSpPr/>
          <p:nvPr/>
        </p:nvCxnSpPr>
        <p:spPr>
          <a:xfrm flipH="1">
            <a:off x="6053766" y="5149555"/>
            <a:ext cx="1160766" cy="1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>
            <a:off x="7977943" y="5149555"/>
            <a:ext cx="1708982" cy="3470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8181230" y="5683158"/>
                <a:ext cx="126621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1230" y="5683158"/>
                <a:ext cx="1266214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Arrow Connector 45"/>
          <p:cNvCxnSpPr/>
          <p:nvPr/>
        </p:nvCxnSpPr>
        <p:spPr>
          <a:xfrm>
            <a:off x="8425812" y="6172287"/>
            <a:ext cx="281726" cy="2942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 flipH="1" flipV="1">
            <a:off x="8832435" y="6172288"/>
            <a:ext cx="263940" cy="9437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7" name="Picture 1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101600" y="-679365"/>
            <a:ext cx="5334000" cy="40005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966617" y="-729311"/>
            <a:ext cx="5334000" cy="4000500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12696693" y="3250810"/>
            <a:ext cx="545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(c)</a:t>
            </a:r>
            <a:endParaRPr lang="sv-SE" sz="2400" dirty="0"/>
          </a:p>
        </p:txBody>
      </p:sp>
      <p:cxnSp>
        <p:nvCxnSpPr>
          <p:cNvPr id="68" name="Straight Arrow Connector 67"/>
          <p:cNvCxnSpPr/>
          <p:nvPr/>
        </p:nvCxnSpPr>
        <p:spPr>
          <a:xfrm>
            <a:off x="2672325" y="4090239"/>
            <a:ext cx="0" cy="2408283"/>
          </a:xfrm>
          <a:prstGeom prst="straightConnector1">
            <a:avLst/>
          </a:prstGeom>
          <a:ln>
            <a:solidFill>
              <a:srgbClr val="313BFF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/>
          <p:cNvCxnSpPr/>
          <p:nvPr/>
        </p:nvCxnSpPr>
        <p:spPr>
          <a:xfrm flipH="1">
            <a:off x="2153152" y="4090239"/>
            <a:ext cx="9586" cy="2551909"/>
          </a:xfrm>
          <a:prstGeom prst="straightConnector1">
            <a:avLst/>
          </a:prstGeom>
          <a:ln>
            <a:solidFill>
              <a:srgbClr val="FF00FF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/>
          <p:cNvCxnSpPr/>
          <p:nvPr/>
        </p:nvCxnSpPr>
        <p:spPr>
          <a:xfrm>
            <a:off x="1600763" y="4090239"/>
            <a:ext cx="8954" cy="2681922"/>
          </a:xfrm>
          <a:prstGeom prst="straightConnector1">
            <a:avLst/>
          </a:prstGeom>
          <a:ln>
            <a:solidFill>
              <a:srgbClr val="3AE657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/>
              <p:cNvSpPr txBox="1"/>
              <p:nvPr/>
            </p:nvSpPr>
            <p:spPr>
              <a:xfrm>
                <a:off x="1855044" y="6562169"/>
                <a:ext cx="53392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97" name="TextBox 9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5044" y="6562169"/>
                <a:ext cx="533928" cy="400110"/>
              </a:xfrm>
              <a:prstGeom prst="rect">
                <a:avLst/>
              </a:prstGeom>
              <a:blipFill>
                <a:blip r:embed="rId14"/>
                <a:stretch>
                  <a:fillRect r="-6818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/>
              <p:cNvSpPr txBox="1"/>
              <p:nvPr/>
            </p:nvSpPr>
            <p:spPr>
              <a:xfrm>
                <a:off x="1321116" y="6657945"/>
                <a:ext cx="53392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3AE65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3AE657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i="1" smtClean="0">
                              <a:solidFill>
                                <a:srgbClr val="3AE657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3AE657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99" name="TextBox 9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1116" y="6657945"/>
                <a:ext cx="533928" cy="400110"/>
              </a:xfrm>
              <a:prstGeom prst="rect">
                <a:avLst/>
              </a:prstGeom>
              <a:blipFill>
                <a:blip r:embed="rId15"/>
                <a:stretch>
                  <a:fillRect r="-4598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/>
              <p:cNvSpPr txBox="1"/>
              <p:nvPr/>
            </p:nvSpPr>
            <p:spPr>
              <a:xfrm>
                <a:off x="2283085" y="6372051"/>
                <a:ext cx="93267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313B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smtClean="0">
                              <a:solidFill>
                                <a:srgbClr val="313BFF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313BFF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rgbClr val="313BFF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100" name="TextBox 9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3085" y="6372051"/>
                <a:ext cx="932676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8684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7273" y="3530965"/>
            <a:ext cx="5334000" cy="4000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409495" y="3259453"/>
            <a:ext cx="545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(a)</a:t>
            </a:r>
            <a:endParaRPr lang="sv-SE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2533575" y="7473960"/>
            <a:ext cx="545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(c)</a:t>
            </a:r>
            <a:endParaRPr lang="sv-SE" sz="2400" dirty="0"/>
          </a:p>
        </p:txBody>
      </p:sp>
      <p:cxnSp>
        <p:nvCxnSpPr>
          <p:cNvPr id="43" name="Straight Arrow Connector 42"/>
          <p:cNvCxnSpPr/>
          <p:nvPr/>
        </p:nvCxnSpPr>
        <p:spPr>
          <a:xfrm flipH="1">
            <a:off x="1000388" y="3945596"/>
            <a:ext cx="599054" cy="0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>
            <a:off x="3994411" y="3945596"/>
            <a:ext cx="631825" cy="0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/>
              <p:cNvSpPr txBox="1"/>
              <p:nvPr/>
            </p:nvSpPr>
            <p:spPr>
              <a:xfrm>
                <a:off x="2172277" y="3802661"/>
                <a:ext cx="126621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sv-SE" dirty="0"/>
              </a:p>
            </p:txBody>
          </p:sp>
        </mc:Choice>
        <mc:Fallback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2277" y="3802661"/>
                <a:ext cx="1266214" cy="400110"/>
              </a:xfrm>
              <a:prstGeom prst="rect">
                <a:avLst/>
              </a:prstGeom>
              <a:blipFill>
                <a:blip r:embed="rId3"/>
                <a:stretch>
                  <a:fillRect b="-1538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Box 47"/>
              <p:cNvSpPr txBox="1"/>
              <p:nvPr/>
            </p:nvSpPr>
            <p:spPr>
              <a:xfrm>
                <a:off x="2137380" y="4478552"/>
                <a:ext cx="126621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sv-SE" dirty="0"/>
              </a:p>
            </p:txBody>
          </p:sp>
        </mc:Choice>
        <mc:Fallback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7380" y="4478552"/>
                <a:ext cx="1266214" cy="400110"/>
              </a:xfrm>
              <a:prstGeom prst="rect">
                <a:avLst/>
              </a:prstGeom>
              <a:blipFill>
                <a:blip r:embed="rId4"/>
                <a:stretch>
                  <a:fillRect b="-1538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/>
              <p:cNvSpPr txBox="1"/>
              <p:nvPr/>
            </p:nvSpPr>
            <p:spPr>
              <a:xfrm>
                <a:off x="2057634" y="5706935"/>
                <a:ext cx="126621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sv-SE" dirty="0"/>
              </a:p>
            </p:txBody>
          </p:sp>
        </mc:Choice>
        <mc:Fallback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7634" y="5706935"/>
                <a:ext cx="1266214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Straight Arrow Connector 49"/>
          <p:cNvCxnSpPr/>
          <p:nvPr/>
        </p:nvCxnSpPr>
        <p:spPr>
          <a:xfrm>
            <a:off x="4165861" y="5906990"/>
            <a:ext cx="486595" cy="0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 flipH="1" flipV="1">
            <a:off x="995643" y="5906990"/>
            <a:ext cx="388918" cy="10311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flipH="1" flipV="1">
            <a:off x="1026608" y="4862400"/>
            <a:ext cx="1435099" cy="3175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>
            <a:off x="3079266" y="4862400"/>
            <a:ext cx="1546970" cy="3258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" name="Picture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66480" y="-659653"/>
            <a:ext cx="5334000" cy="40005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552692" y="3278690"/>
            <a:ext cx="545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(b)</a:t>
            </a:r>
            <a:endParaRPr lang="sv-SE" sz="2400" dirty="0"/>
          </a:p>
        </p:txBody>
      </p:sp>
      <p:sp>
        <p:nvSpPr>
          <p:cNvPr id="28" name="TextBox 27"/>
          <p:cNvSpPr txBox="1"/>
          <p:nvPr/>
        </p:nvSpPr>
        <p:spPr>
          <a:xfrm>
            <a:off x="7592561" y="7473960"/>
            <a:ext cx="545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(d)</a:t>
            </a:r>
            <a:endParaRPr lang="sv-SE" sz="2400" dirty="0"/>
          </a:p>
        </p:txBody>
      </p:sp>
      <p:sp>
        <p:nvSpPr>
          <p:cNvPr id="29" name="TextBox 28"/>
          <p:cNvSpPr txBox="1"/>
          <p:nvPr/>
        </p:nvSpPr>
        <p:spPr>
          <a:xfrm>
            <a:off x="7761009" y="11602368"/>
            <a:ext cx="545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(f)</a:t>
            </a:r>
            <a:endParaRPr lang="sv-SE" sz="2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85692" y="3542815"/>
            <a:ext cx="5334000" cy="40005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75850" y="7646067"/>
            <a:ext cx="5334000" cy="4000500"/>
          </a:xfrm>
          <a:prstGeom prst="rect">
            <a:avLst/>
          </a:prstGeom>
        </p:spPr>
      </p:pic>
      <p:cxnSp>
        <p:nvCxnSpPr>
          <p:cNvPr id="31" name="Straight Arrow Connector 30"/>
          <p:cNvCxnSpPr/>
          <p:nvPr/>
        </p:nvCxnSpPr>
        <p:spPr>
          <a:xfrm flipH="1">
            <a:off x="6059831" y="3990199"/>
            <a:ext cx="538928" cy="0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9065734" y="3990199"/>
            <a:ext cx="619945" cy="0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/>
              <p:cNvSpPr txBox="1"/>
              <p:nvPr/>
            </p:nvSpPr>
            <p:spPr>
              <a:xfrm>
                <a:off x="7231720" y="3847264"/>
                <a:ext cx="126621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sv-SE" dirty="0"/>
              </a:p>
            </p:txBody>
          </p:sp>
        </mc:Choice>
        <mc:Fallback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1720" y="3847264"/>
                <a:ext cx="1266214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/>
              <p:cNvSpPr txBox="1"/>
              <p:nvPr/>
            </p:nvSpPr>
            <p:spPr>
              <a:xfrm>
                <a:off x="6894390" y="4647334"/>
                <a:ext cx="126621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sv-SE" dirty="0"/>
              </a:p>
            </p:txBody>
          </p:sp>
        </mc:Choice>
        <mc:Fallback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4390" y="4647334"/>
                <a:ext cx="1266214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Arrow Connector 36"/>
          <p:cNvCxnSpPr/>
          <p:nvPr/>
        </p:nvCxnSpPr>
        <p:spPr>
          <a:xfrm flipH="1">
            <a:off x="5985025" y="5009462"/>
            <a:ext cx="1160766" cy="1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>
            <a:off x="7909202" y="5009462"/>
            <a:ext cx="1708982" cy="3470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TextBox 41"/>
              <p:cNvSpPr txBox="1"/>
              <p:nvPr/>
            </p:nvSpPr>
            <p:spPr>
              <a:xfrm>
                <a:off x="8112489" y="5543065"/>
                <a:ext cx="126621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sv-SE" dirty="0"/>
              </a:p>
            </p:txBody>
          </p:sp>
        </mc:Choice>
        <mc:Fallback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2489" y="5543065"/>
                <a:ext cx="1266214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Arrow Connector 45"/>
          <p:cNvCxnSpPr/>
          <p:nvPr/>
        </p:nvCxnSpPr>
        <p:spPr>
          <a:xfrm>
            <a:off x="8357071" y="6032194"/>
            <a:ext cx="281726" cy="2942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 flipH="1" flipV="1">
            <a:off x="8763694" y="6032195"/>
            <a:ext cx="263940" cy="9437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7" name="Picture 1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101600" y="-679365"/>
            <a:ext cx="5334000" cy="40005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115290" y="7634217"/>
            <a:ext cx="5334000" cy="4000500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2615689" y="11605851"/>
            <a:ext cx="545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(e)</a:t>
            </a:r>
            <a:endParaRPr lang="sv-SE" sz="2400" dirty="0"/>
          </a:p>
        </p:txBody>
      </p:sp>
      <p:cxnSp>
        <p:nvCxnSpPr>
          <p:cNvPr id="68" name="Straight Arrow Connector 67"/>
          <p:cNvCxnSpPr/>
          <p:nvPr/>
        </p:nvCxnSpPr>
        <p:spPr>
          <a:xfrm>
            <a:off x="7782450" y="-302268"/>
            <a:ext cx="0" cy="2408283"/>
          </a:xfrm>
          <a:prstGeom prst="straightConnector1">
            <a:avLst/>
          </a:prstGeom>
          <a:ln>
            <a:solidFill>
              <a:srgbClr val="313BFF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/>
          <p:cNvCxnSpPr/>
          <p:nvPr/>
        </p:nvCxnSpPr>
        <p:spPr>
          <a:xfrm flipH="1">
            <a:off x="7263277" y="-302268"/>
            <a:ext cx="9586" cy="2551909"/>
          </a:xfrm>
          <a:prstGeom prst="straightConnector1">
            <a:avLst/>
          </a:prstGeom>
          <a:ln>
            <a:solidFill>
              <a:srgbClr val="FF00FF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/>
          <p:cNvCxnSpPr/>
          <p:nvPr/>
        </p:nvCxnSpPr>
        <p:spPr>
          <a:xfrm>
            <a:off x="6710888" y="-302268"/>
            <a:ext cx="8954" cy="2681922"/>
          </a:xfrm>
          <a:prstGeom prst="straightConnector1">
            <a:avLst/>
          </a:prstGeom>
          <a:ln>
            <a:solidFill>
              <a:srgbClr val="3AE657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7" name="TextBox 96"/>
              <p:cNvSpPr txBox="1"/>
              <p:nvPr/>
            </p:nvSpPr>
            <p:spPr>
              <a:xfrm>
                <a:off x="6965169" y="2169662"/>
                <a:ext cx="53392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sv-SE" dirty="0"/>
              </a:p>
            </p:txBody>
          </p:sp>
        </mc:Choice>
        <mc:Fallback>
          <p:sp>
            <p:nvSpPr>
              <p:cNvPr id="97" name="TextBox 9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5169" y="2169662"/>
                <a:ext cx="533928" cy="400110"/>
              </a:xfrm>
              <a:prstGeom prst="rect">
                <a:avLst/>
              </a:prstGeom>
              <a:blipFill>
                <a:blip r:embed="rId14"/>
                <a:stretch>
                  <a:fillRect r="-6897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9" name="TextBox 98"/>
              <p:cNvSpPr txBox="1"/>
              <p:nvPr/>
            </p:nvSpPr>
            <p:spPr>
              <a:xfrm>
                <a:off x="6431241" y="2265438"/>
                <a:ext cx="53392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3AE65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3AE657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i="1" smtClean="0">
                              <a:solidFill>
                                <a:srgbClr val="3AE657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3AE657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</m:oMath>
                  </m:oMathPara>
                </a14:m>
                <a:endParaRPr lang="sv-SE" dirty="0"/>
              </a:p>
            </p:txBody>
          </p:sp>
        </mc:Choice>
        <mc:Fallback>
          <p:sp>
            <p:nvSpPr>
              <p:cNvPr id="99" name="TextBox 9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1241" y="2265438"/>
                <a:ext cx="533928" cy="400110"/>
              </a:xfrm>
              <a:prstGeom prst="rect">
                <a:avLst/>
              </a:prstGeom>
              <a:blipFill>
                <a:blip r:embed="rId15"/>
                <a:stretch>
                  <a:fillRect r="-3409" b="-1538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0" name="TextBox 99"/>
              <p:cNvSpPr txBox="1"/>
              <p:nvPr/>
            </p:nvSpPr>
            <p:spPr>
              <a:xfrm>
                <a:off x="7393210" y="1979544"/>
                <a:ext cx="93267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313B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smtClean="0">
                              <a:solidFill>
                                <a:srgbClr val="313BFF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313BFF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rgbClr val="313BFF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sv-SE" dirty="0"/>
              </a:p>
            </p:txBody>
          </p:sp>
        </mc:Choice>
        <mc:Fallback>
          <p:sp>
            <p:nvSpPr>
              <p:cNvPr id="100" name="TextBox 9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3210" y="1979544"/>
                <a:ext cx="932676" cy="400110"/>
              </a:xfrm>
              <a:prstGeom prst="rect">
                <a:avLst/>
              </a:prstGeom>
              <a:blipFill>
                <a:blip r:embed="rId16"/>
                <a:stretch>
                  <a:fillRect b="-1538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3178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66781" y="428078"/>
            <a:ext cx="1055624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we use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carrier signal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we can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reduce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this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common mode voltage harmonics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it should be considered that in such case we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differential harmonics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 well. 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While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increasing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switching frequency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decreases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current harmonics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since the load is inductive in differential mode, it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increases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common mode current harmonics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since the common mode load is capacitive. 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Accordingly, we can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utilize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the common  mode voltage harmonics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after that we can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increase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switching frequency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reduce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mode current harmonics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Several algorithms are utilized in the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 However, they mostly concern the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switching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its tripled harmonics.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the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switching transition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the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topology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should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change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from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2-level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multi-level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ones. 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switching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transition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sharper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devices,  which is needed to reduce the switching losses. These sharp transition, which also means that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high dv/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dt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can turn in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higher common mode current     harmonics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33886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957005" y="217556"/>
            <a:ext cx="60963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solidFill>
                  <a:srgbClr val="C00000"/>
                </a:solidFill>
              </a:rPr>
              <a:t>Multiple Carrier Signals</a:t>
            </a:r>
            <a:endParaRPr lang="sv-SE" sz="4000" dirty="0">
              <a:solidFill>
                <a:srgbClr val="C00000"/>
              </a:solidFill>
            </a:endParaRP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715" y="2513330"/>
            <a:ext cx="5334000" cy="4000500"/>
          </a:xfrm>
          <a:prstGeom prst="rect">
            <a:avLst/>
          </a:prstGeom>
        </p:spPr>
      </p:pic>
      <p:cxnSp>
        <p:nvCxnSpPr>
          <p:cNvPr id="34" name="Straight Arrow Connector 33"/>
          <p:cNvCxnSpPr/>
          <p:nvPr/>
        </p:nvCxnSpPr>
        <p:spPr>
          <a:xfrm>
            <a:off x="975632" y="2983207"/>
            <a:ext cx="961117" cy="0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H="1">
            <a:off x="4035264" y="2983207"/>
            <a:ext cx="967028" cy="9423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2163689" y="2792575"/>
                <a:ext cx="165776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sub>
                      </m:sSub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sub>
                      </m:sSub>
                    </m:oMath>
                  </m:oMathPara>
                </a14:m>
                <a:endParaRPr lang="sv-SE" b="1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3689" y="2792575"/>
                <a:ext cx="1657761" cy="400110"/>
              </a:xfrm>
              <a:prstGeom prst="rect">
                <a:avLst/>
              </a:prstGeom>
              <a:blipFill>
                <a:blip r:embed="rId3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Arrow Connector 36"/>
          <p:cNvCxnSpPr/>
          <p:nvPr/>
        </p:nvCxnSpPr>
        <p:spPr>
          <a:xfrm flipH="1">
            <a:off x="3449785" y="4023693"/>
            <a:ext cx="1552507" cy="4594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>
            <a:off x="975631" y="4023693"/>
            <a:ext cx="1493970" cy="0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2130813" y="3823638"/>
                <a:ext cx="165776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𝑩</m:t>
                          </m:r>
                        </m:sub>
                      </m:sSub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sub>
                      </m:sSub>
                    </m:oMath>
                  </m:oMathPara>
                </a14:m>
                <a:endParaRPr lang="sv-SE" b="1" dirty="0"/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0813" y="3823638"/>
                <a:ext cx="1657761" cy="400110"/>
              </a:xfrm>
              <a:prstGeom prst="rect">
                <a:avLst/>
              </a:prstGeom>
              <a:blipFill>
                <a:blip r:embed="rId4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2163689" y="5071003"/>
                <a:ext cx="165776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𝑪</m:t>
                          </m:r>
                        </m:sub>
                      </m:sSub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sub>
                      </m:sSub>
                    </m:oMath>
                  </m:oMathPara>
                </a14:m>
                <a:endParaRPr lang="sv-SE" b="1" dirty="0"/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3689" y="5071003"/>
                <a:ext cx="1657761" cy="400110"/>
              </a:xfrm>
              <a:prstGeom prst="rect">
                <a:avLst/>
              </a:prstGeom>
              <a:blipFill>
                <a:blip r:embed="rId5"/>
                <a:stretch>
                  <a:fillRect b="-1538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Arrow Connector 40"/>
          <p:cNvCxnSpPr/>
          <p:nvPr/>
        </p:nvCxnSpPr>
        <p:spPr>
          <a:xfrm flipV="1">
            <a:off x="919518" y="5271058"/>
            <a:ext cx="480558" cy="1985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 flipH="1">
            <a:off x="4568116" y="5257089"/>
            <a:ext cx="434176" cy="7032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25451" y="1081088"/>
            <a:ext cx="1055624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By using multiple carrier signals, we can change the starting points of the PWMs while the duty cycles are still the same.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aim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is to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intersect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switching transitions of PWMs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by introducing carrier signals. 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1799448" y="2817539"/>
            <a:ext cx="312420" cy="111968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7" name="Rectangle 26"/>
          <p:cNvSpPr/>
          <p:nvPr/>
        </p:nvSpPr>
        <p:spPr>
          <a:xfrm>
            <a:off x="3936871" y="2817539"/>
            <a:ext cx="312420" cy="1119685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8" name="Rectangle 27"/>
          <p:cNvSpPr/>
          <p:nvPr/>
        </p:nvSpPr>
        <p:spPr>
          <a:xfrm>
            <a:off x="2270808" y="3916544"/>
            <a:ext cx="370639" cy="942441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9" name="Rectangle 28"/>
          <p:cNvSpPr/>
          <p:nvPr/>
        </p:nvSpPr>
        <p:spPr>
          <a:xfrm>
            <a:off x="3337994" y="3936353"/>
            <a:ext cx="370639" cy="942441"/>
          </a:xfrm>
          <a:prstGeom prst="rect">
            <a:avLst/>
          </a:prstGeom>
          <a:noFill/>
          <a:ln w="38100">
            <a:solidFill>
              <a:srgbClr val="02C9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30" name="Rectangle 29"/>
          <p:cNvSpPr/>
          <p:nvPr/>
        </p:nvSpPr>
        <p:spPr>
          <a:xfrm>
            <a:off x="1180860" y="4915022"/>
            <a:ext cx="370639" cy="942441"/>
          </a:xfrm>
          <a:prstGeom prst="rect">
            <a:avLst/>
          </a:prstGeom>
          <a:noFill/>
          <a:ln w="38100">
            <a:solidFill>
              <a:srgbClr val="BC04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31" name="Rectangle 30"/>
          <p:cNvSpPr/>
          <p:nvPr/>
        </p:nvSpPr>
        <p:spPr>
          <a:xfrm>
            <a:off x="4333458" y="4915022"/>
            <a:ext cx="370639" cy="942441"/>
          </a:xfrm>
          <a:prstGeom prst="rect">
            <a:avLst/>
          </a:prstGeom>
          <a:noFill/>
          <a:ln w="38100">
            <a:solidFill>
              <a:srgbClr val="FE7ED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32" name="Rectangle 31"/>
          <p:cNvSpPr/>
          <p:nvPr/>
        </p:nvSpPr>
        <p:spPr>
          <a:xfrm>
            <a:off x="7062426" y="2796859"/>
            <a:ext cx="312420" cy="111968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43" name="Rectangle 42"/>
          <p:cNvSpPr/>
          <p:nvPr/>
        </p:nvSpPr>
        <p:spPr>
          <a:xfrm>
            <a:off x="8317954" y="4023693"/>
            <a:ext cx="312421" cy="1028644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44" name="Rectangle 43"/>
          <p:cNvSpPr/>
          <p:nvPr/>
        </p:nvSpPr>
        <p:spPr>
          <a:xfrm>
            <a:off x="7081534" y="4042360"/>
            <a:ext cx="293312" cy="1028643"/>
          </a:xfrm>
          <a:prstGeom prst="rect">
            <a:avLst/>
          </a:prstGeom>
          <a:noFill/>
          <a:ln w="38100">
            <a:solidFill>
              <a:srgbClr val="02C9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45" name="Rectangle 44"/>
          <p:cNvSpPr/>
          <p:nvPr/>
        </p:nvSpPr>
        <p:spPr>
          <a:xfrm>
            <a:off x="9897193" y="5257088"/>
            <a:ext cx="312420" cy="942441"/>
          </a:xfrm>
          <a:prstGeom prst="rect">
            <a:avLst/>
          </a:prstGeom>
          <a:noFill/>
          <a:ln w="38100">
            <a:solidFill>
              <a:srgbClr val="BC04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46" name="Rectangle 45"/>
          <p:cNvSpPr/>
          <p:nvPr/>
        </p:nvSpPr>
        <p:spPr>
          <a:xfrm>
            <a:off x="9897193" y="2817539"/>
            <a:ext cx="312420" cy="1119685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47" name="Rectangle 46"/>
          <p:cNvSpPr/>
          <p:nvPr/>
        </p:nvSpPr>
        <p:spPr>
          <a:xfrm>
            <a:off x="8326674" y="5264121"/>
            <a:ext cx="312420" cy="942441"/>
          </a:xfrm>
          <a:prstGeom prst="rect">
            <a:avLst/>
          </a:prstGeom>
          <a:noFill/>
          <a:ln w="38100">
            <a:solidFill>
              <a:srgbClr val="FE7ED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" name="TextBox 1"/>
          <p:cNvSpPr txBox="1"/>
          <p:nvPr/>
        </p:nvSpPr>
        <p:spPr>
          <a:xfrm>
            <a:off x="6771638" y="3172035"/>
            <a:ext cx="117858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sv-SE" dirty="0" err="1" smtClean="0"/>
              <a:t>Turn</a:t>
            </a:r>
            <a:r>
              <a:rPr lang="sv-SE" dirty="0"/>
              <a:t>-</a:t>
            </a:r>
            <a:r>
              <a:rPr lang="sv-SE" dirty="0" smtClean="0"/>
              <a:t>off</a:t>
            </a:r>
            <a:endParaRPr lang="sv-SE" dirty="0"/>
          </a:p>
        </p:txBody>
      </p:sp>
      <p:sp>
        <p:nvSpPr>
          <p:cNvPr id="48" name="TextBox 47"/>
          <p:cNvSpPr txBox="1"/>
          <p:nvPr/>
        </p:nvSpPr>
        <p:spPr>
          <a:xfrm>
            <a:off x="8082703" y="4353349"/>
            <a:ext cx="117858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sv-SE" dirty="0" err="1" smtClean="0"/>
              <a:t>Turn</a:t>
            </a:r>
            <a:r>
              <a:rPr lang="sv-SE" dirty="0"/>
              <a:t>-</a:t>
            </a:r>
            <a:r>
              <a:rPr lang="sv-SE" dirty="0" smtClean="0"/>
              <a:t>off</a:t>
            </a:r>
            <a:endParaRPr lang="sv-SE" dirty="0"/>
          </a:p>
        </p:txBody>
      </p:sp>
      <p:sp>
        <p:nvSpPr>
          <p:cNvPr id="49" name="TextBox 48"/>
          <p:cNvSpPr txBox="1"/>
          <p:nvPr/>
        </p:nvSpPr>
        <p:spPr>
          <a:xfrm>
            <a:off x="9620322" y="3157321"/>
            <a:ext cx="117858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sv-SE" dirty="0" err="1" smtClean="0"/>
              <a:t>Turn</a:t>
            </a:r>
            <a:r>
              <a:rPr lang="sv-SE" dirty="0" smtClean="0"/>
              <a:t>-on</a:t>
            </a:r>
            <a:endParaRPr lang="sv-SE" dirty="0"/>
          </a:p>
        </p:txBody>
      </p:sp>
      <p:sp>
        <p:nvSpPr>
          <p:cNvPr id="50" name="TextBox 49"/>
          <p:cNvSpPr txBox="1"/>
          <p:nvPr/>
        </p:nvSpPr>
        <p:spPr>
          <a:xfrm>
            <a:off x="6820218" y="4540164"/>
            <a:ext cx="117858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sv-SE" dirty="0" err="1" smtClean="0"/>
              <a:t>Turn</a:t>
            </a:r>
            <a:r>
              <a:rPr lang="sv-SE" dirty="0" smtClean="0"/>
              <a:t>-on</a:t>
            </a:r>
            <a:endParaRPr lang="sv-SE" dirty="0"/>
          </a:p>
        </p:txBody>
      </p:sp>
      <p:sp>
        <p:nvSpPr>
          <p:cNvPr id="51" name="TextBox 50"/>
          <p:cNvSpPr txBox="1"/>
          <p:nvPr/>
        </p:nvSpPr>
        <p:spPr>
          <a:xfrm>
            <a:off x="8049803" y="5488131"/>
            <a:ext cx="117858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sv-SE" dirty="0" err="1" smtClean="0"/>
              <a:t>Turn</a:t>
            </a:r>
            <a:r>
              <a:rPr lang="sv-SE" dirty="0" smtClean="0"/>
              <a:t>-on</a:t>
            </a:r>
            <a:endParaRPr lang="sv-SE" dirty="0"/>
          </a:p>
        </p:txBody>
      </p:sp>
      <p:sp>
        <p:nvSpPr>
          <p:cNvPr id="52" name="TextBox 51"/>
          <p:cNvSpPr txBox="1"/>
          <p:nvPr/>
        </p:nvSpPr>
        <p:spPr>
          <a:xfrm>
            <a:off x="9615687" y="5488131"/>
            <a:ext cx="117858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sv-SE" dirty="0" err="1" smtClean="0"/>
              <a:t>Turn</a:t>
            </a:r>
            <a:r>
              <a:rPr lang="sv-SE" dirty="0"/>
              <a:t>-</a:t>
            </a:r>
            <a:r>
              <a:rPr lang="sv-SE" dirty="0" smtClean="0"/>
              <a:t>off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04218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Box 52"/>
          <p:cNvSpPr txBox="1"/>
          <p:nvPr/>
        </p:nvSpPr>
        <p:spPr>
          <a:xfrm>
            <a:off x="3102384" y="3412476"/>
            <a:ext cx="545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(a)</a:t>
            </a:r>
            <a:endParaRPr lang="sv-SE" sz="2400" dirty="0"/>
          </a:p>
        </p:txBody>
      </p:sp>
      <p:sp>
        <p:nvSpPr>
          <p:cNvPr id="54" name="TextBox 53"/>
          <p:cNvSpPr txBox="1"/>
          <p:nvPr/>
        </p:nvSpPr>
        <p:spPr>
          <a:xfrm>
            <a:off x="8363627" y="3427593"/>
            <a:ext cx="545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(b)</a:t>
            </a:r>
            <a:endParaRPr lang="sv-SE" sz="2400" dirty="0"/>
          </a:p>
        </p:txBody>
      </p:sp>
      <p:sp>
        <p:nvSpPr>
          <p:cNvPr id="55" name="TextBox 54"/>
          <p:cNvSpPr txBox="1"/>
          <p:nvPr/>
        </p:nvSpPr>
        <p:spPr>
          <a:xfrm>
            <a:off x="6116968" y="7494241"/>
            <a:ext cx="545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(c)</a:t>
            </a:r>
            <a:endParaRPr lang="sv-SE" sz="24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6627" y="-572907"/>
            <a:ext cx="5334000" cy="40005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229" y="-588024"/>
            <a:ext cx="5334000" cy="40005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9968" y="3643308"/>
            <a:ext cx="5334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0392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Box 52"/>
          <p:cNvSpPr txBox="1"/>
          <p:nvPr/>
        </p:nvSpPr>
        <p:spPr>
          <a:xfrm>
            <a:off x="825909" y="1970016"/>
            <a:ext cx="545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(a)</a:t>
            </a:r>
            <a:endParaRPr lang="sv-SE" sz="2400" dirty="0"/>
          </a:p>
        </p:txBody>
      </p:sp>
      <p:sp>
        <p:nvSpPr>
          <p:cNvPr id="54" name="TextBox 53"/>
          <p:cNvSpPr txBox="1"/>
          <p:nvPr/>
        </p:nvSpPr>
        <p:spPr>
          <a:xfrm>
            <a:off x="6087152" y="1985133"/>
            <a:ext cx="545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(b)</a:t>
            </a:r>
            <a:endParaRPr lang="sv-SE" sz="2400" dirty="0"/>
          </a:p>
        </p:txBody>
      </p:sp>
      <p:sp>
        <p:nvSpPr>
          <p:cNvPr id="55" name="TextBox 54"/>
          <p:cNvSpPr txBox="1"/>
          <p:nvPr/>
        </p:nvSpPr>
        <p:spPr>
          <a:xfrm>
            <a:off x="11176881" y="2000250"/>
            <a:ext cx="545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(c)</a:t>
            </a:r>
            <a:endParaRPr lang="sv-SE" sz="24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9855" y="-2015367"/>
            <a:ext cx="5334000" cy="40005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4631" y="-2000250"/>
            <a:ext cx="5334000" cy="4000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5909" y="6462415"/>
            <a:ext cx="545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(d)</a:t>
            </a:r>
            <a:endParaRPr lang="sv-SE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6087152" y="6477532"/>
            <a:ext cx="545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(e)</a:t>
            </a:r>
            <a:endParaRPr lang="sv-SE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176881" y="6492649"/>
            <a:ext cx="545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(f)</a:t>
            </a:r>
            <a:endParaRPr lang="sv-SE" sz="2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1484" y="2431681"/>
            <a:ext cx="5334000" cy="40005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4631" y="2431681"/>
            <a:ext cx="5334000" cy="40005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577535" y="2431681"/>
            <a:ext cx="5334000" cy="40005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634921" y="-2000250"/>
            <a:ext cx="5334000" cy="4000500"/>
          </a:xfrm>
          <a:prstGeom prst="rect">
            <a:avLst/>
          </a:prstGeom>
        </p:spPr>
      </p:pic>
      <p:cxnSp>
        <p:nvCxnSpPr>
          <p:cNvPr id="16" name="Straight Arrow Connector 15"/>
          <p:cNvCxnSpPr/>
          <p:nvPr/>
        </p:nvCxnSpPr>
        <p:spPr>
          <a:xfrm flipH="1">
            <a:off x="4570732" y="-1549372"/>
            <a:ext cx="290828" cy="0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7914854" y="-1549372"/>
            <a:ext cx="281726" cy="0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5655740" y="-1689638"/>
                <a:ext cx="126621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5740" y="-1689638"/>
                <a:ext cx="1266214" cy="400110"/>
              </a:xfrm>
              <a:prstGeom prst="rect">
                <a:avLst/>
              </a:prstGeom>
              <a:blipFill>
                <a:blip r:embed="rId10"/>
                <a:stretch>
                  <a:fillRect b="-1538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5650661" y="-964776"/>
                <a:ext cx="126621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0661" y="-964776"/>
                <a:ext cx="1266214" cy="400110"/>
              </a:xfrm>
              <a:prstGeom prst="rect">
                <a:avLst/>
              </a:prstGeom>
              <a:blipFill>
                <a:blip r:embed="rId11"/>
                <a:stretch>
                  <a:fillRect b="-1538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7053294" y="54822"/>
                <a:ext cx="126621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3294" y="54822"/>
                <a:ext cx="1266214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/>
          <p:cNvCxnSpPr/>
          <p:nvPr/>
        </p:nvCxnSpPr>
        <p:spPr>
          <a:xfrm flipH="1">
            <a:off x="7741920" y="501370"/>
            <a:ext cx="112694" cy="0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7524315" y="501370"/>
            <a:ext cx="117561" cy="0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4908550" y="-552614"/>
            <a:ext cx="1069355" cy="3065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>
            <a:off x="6560821" y="-537729"/>
            <a:ext cx="887729" cy="1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 flipH="1">
            <a:off x="4581168" y="2914650"/>
            <a:ext cx="1396738" cy="2663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>
            <a:off x="6695654" y="2908328"/>
            <a:ext cx="1500926" cy="0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5703673" y="2736932"/>
                <a:ext cx="126621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3673" y="2736932"/>
                <a:ext cx="1266214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Arrow Connector 45"/>
          <p:cNvCxnSpPr/>
          <p:nvPr/>
        </p:nvCxnSpPr>
        <p:spPr>
          <a:xfrm>
            <a:off x="7062565" y="3911600"/>
            <a:ext cx="1065435" cy="1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 flipH="1" flipV="1">
            <a:off x="4581168" y="3905471"/>
            <a:ext cx="1979653" cy="6129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/>
              <p:cNvSpPr txBox="1"/>
              <p:nvPr/>
            </p:nvSpPr>
            <p:spPr>
              <a:xfrm>
                <a:off x="6187978" y="3466139"/>
                <a:ext cx="126621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7978" y="3466139"/>
                <a:ext cx="1266214" cy="400110"/>
              </a:xfrm>
              <a:prstGeom prst="rect">
                <a:avLst/>
              </a:prstGeom>
              <a:blipFill>
                <a:blip r:embed="rId14"/>
                <a:stretch>
                  <a:fillRect b="-1538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Straight Arrow Connector 51"/>
          <p:cNvCxnSpPr/>
          <p:nvPr/>
        </p:nvCxnSpPr>
        <p:spPr>
          <a:xfrm flipH="1" flipV="1">
            <a:off x="6661053" y="4914024"/>
            <a:ext cx="279228" cy="2078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>
            <a:off x="6056855" y="4914024"/>
            <a:ext cx="303142" cy="643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/>
              <p:cNvSpPr txBox="1"/>
              <p:nvPr/>
            </p:nvSpPr>
            <p:spPr>
              <a:xfrm>
                <a:off x="5870726" y="4469584"/>
                <a:ext cx="126621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0726" y="4469584"/>
                <a:ext cx="1266214" cy="4001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17209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89888" y="360540"/>
            <a:ext cx="5334000" cy="40005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41123" y="4500407"/>
            <a:ext cx="5334000" cy="40005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2892" y="303904"/>
            <a:ext cx="5334000" cy="40005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2834" y="4513107"/>
            <a:ext cx="5334000" cy="40005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7546" y="-3872957"/>
            <a:ext cx="5334000" cy="40005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385589" y="-3872957"/>
            <a:ext cx="5334000" cy="4000500"/>
          </a:xfrm>
          <a:prstGeom prst="rect">
            <a:avLst/>
          </a:prstGeom>
        </p:spPr>
      </p:pic>
      <p:cxnSp>
        <p:nvCxnSpPr>
          <p:cNvPr id="16" name="Straight Arrow Connector 15"/>
          <p:cNvCxnSpPr/>
          <p:nvPr/>
        </p:nvCxnSpPr>
        <p:spPr>
          <a:xfrm flipH="1">
            <a:off x="690989" y="826535"/>
            <a:ext cx="290828" cy="0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4035111" y="826535"/>
            <a:ext cx="281726" cy="0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/>
              <p:cNvSpPr txBox="1"/>
              <p:nvPr/>
            </p:nvSpPr>
            <p:spPr>
              <a:xfrm>
                <a:off x="1775997" y="686269"/>
                <a:ext cx="126621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sv-SE" dirty="0"/>
              </a:p>
            </p:txBody>
          </p:sp>
        </mc:Choice>
        <mc:Fallback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5997" y="686269"/>
                <a:ext cx="1266214" cy="400110"/>
              </a:xfrm>
              <a:prstGeom prst="rect">
                <a:avLst/>
              </a:prstGeom>
              <a:blipFill>
                <a:blip r:embed="rId8"/>
                <a:stretch>
                  <a:fillRect b="-1538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1770918" y="1411131"/>
                <a:ext cx="126621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sv-SE" dirty="0"/>
              </a:p>
            </p:txBody>
          </p:sp>
        </mc:Choice>
        <mc:Fallback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0918" y="1411131"/>
                <a:ext cx="1266214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/>
              <p:cNvSpPr txBox="1"/>
              <p:nvPr/>
            </p:nvSpPr>
            <p:spPr>
              <a:xfrm>
                <a:off x="3173551" y="2430729"/>
                <a:ext cx="126621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sv-SE" dirty="0"/>
              </a:p>
            </p:txBody>
          </p:sp>
        </mc:Choice>
        <mc:Fallback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3551" y="2430729"/>
                <a:ext cx="1266214" cy="400110"/>
              </a:xfrm>
              <a:prstGeom prst="rect">
                <a:avLst/>
              </a:prstGeom>
              <a:blipFill>
                <a:blip r:embed="rId10"/>
                <a:stretch>
                  <a:fillRect b="-1538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/>
          <p:cNvCxnSpPr/>
          <p:nvPr/>
        </p:nvCxnSpPr>
        <p:spPr>
          <a:xfrm flipH="1">
            <a:off x="3862177" y="2877277"/>
            <a:ext cx="112694" cy="0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3644572" y="2877277"/>
            <a:ext cx="117561" cy="0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1028807" y="1823293"/>
            <a:ext cx="1069355" cy="3065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>
            <a:off x="2681078" y="1838178"/>
            <a:ext cx="887729" cy="1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 flipH="1">
            <a:off x="5722576" y="786873"/>
            <a:ext cx="1396738" cy="2663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>
            <a:off x="7837062" y="780551"/>
            <a:ext cx="1500926" cy="0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/>
              <p:cNvSpPr txBox="1"/>
              <p:nvPr/>
            </p:nvSpPr>
            <p:spPr>
              <a:xfrm>
                <a:off x="6845081" y="609155"/>
                <a:ext cx="126621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sv-SE" dirty="0"/>
              </a:p>
            </p:txBody>
          </p:sp>
        </mc:Choice>
        <mc:Fallback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5081" y="609155"/>
                <a:ext cx="1266214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Arrow Connector 45"/>
          <p:cNvCxnSpPr/>
          <p:nvPr/>
        </p:nvCxnSpPr>
        <p:spPr>
          <a:xfrm>
            <a:off x="8203973" y="1783823"/>
            <a:ext cx="1065435" cy="1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 flipH="1" flipV="1">
            <a:off x="5722576" y="1777694"/>
            <a:ext cx="1979653" cy="6129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1" name="TextBox 50"/>
              <p:cNvSpPr txBox="1"/>
              <p:nvPr/>
            </p:nvSpPr>
            <p:spPr>
              <a:xfrm>
                <a:off x="7329386" y="1338362"/>
                <a:ext cx="126621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sv-SE" dirty="0"/>
              </a:p>
            </p:txBody>
          </p:sp>
        </mc:Choice>
        <mc:Fallback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9386" y="1338362"/>
                <a:ext cx="1266214" cy="400110"/>
              </a:xfrm>
              <a:prstGeom prst="rect">
                <a:avLst/>
              </a:prstGeom>
              <a:blipFill>
                <a:blip r:embed="rId12"/>
                <a:stretch>
                  <a:fillRect b="-1538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Straight Arrow Connector 51"/>
          <p:cNvCxnSpPr/>
          <p:nvPr/>
        </p:nvCxnSpPr>
        <p:spPr>
          <a:xfrm flipH="1" flipV="1">
            <a:off x="7802461" y="2786247"/>
            <a:ext cx="279228" cy="2078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>
            <a:off x="7198263" y="2786247"/>
            <a:ext cx="303142" cy="643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8" name="TextBox 57"/>
              <p:cNvSpPr txBox="1"/>
              <p:nvPr/>
            </p:nvSpPr>
            <p:spPr>
              <a:xfrm>
                <a:off x="7012134" y="2341807"/>
                <a:ext cx="126621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sv-SE" dirty="0"/>
              </a:p>
            </p:txBody>
          </p:sp>
        </mc:Choice>
        <mc:Fallback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2134" y="2341807"/>
                <a:ext cx="1266214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/>
          <p:cNvSpPr txBox="1"/>
          <p:nvPr/>
        </p:nvSpPr>
        <p:spPr>
          <a:xfrm>
            <a:off x="2141447" y="62148"/>
            <a:ext cx="545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(a)</a:t>
            </a:r>
            <a:endParaRPr lang="sv-SE" sz="2400" dirty="0"/>
          </a:p>
        </p:txBody>
      </p:sp>
      <p:sp>
        <p:nvSpPr>
          <p:cNvPr id="34" name="TextBox 33"/>
          <p:cNvSpPr txBox="1"/>
          <p:nvPr/>
        </p:nvSpPr>
        <p:spPr>
          <a:xfrm>
            <a:off x="2265527" y="4276655"/>
            <a:ext cx="545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(c)</a:t>
            </a:r>
            <a:endParaRPr lang="sv-SE" sz="2400" dirty="0"/>
          </a:p>
        </p:txBody>
      </p:sp>
      <p:sp>
        <p:nvSpPr>
          <p:cNvPr id="50" name="TextBox 49"/>
          <p:cNvSpPr txBox="1"/>
          <p:nvPr/>
        </p:nvSpPr>
        <p:spPr>
          <a:xfrm>
            <a:off x="7196229" y="87005"/>
            <a:ext cx="545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(b)</a:t>
            </a:r>
            <a:endParaRPr lang="sv-SE" sz="2400" dirty="0"/>
          </a:p>
        </p:txBody>
      </p:sp>
      <p:sp>
        <p:nvSpPr>
          <p:cNvPr id="57" name="TextBox 56"/>
          <p:cNvSpPr txBox="1"/>
          <p:nvPr/>
        </p:nvSpPr>
        <p:spPr>
          <a:xfrm>
            <a:off x="7236098" y="4282275"/>
            <a:ext cx="545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(d)</a:t>
            </a:r>
            <a:endParaRPr lang="sv-SE" sz="2400" dirty="0"/>
          </a:p>
        </p:txBody>
      </p:sp>
      <p:sp>
        <p:nvSpPr>
          <p:cNvPr id="59" name="TextBox 58"/>
          <p:cNvSpPr txBox="1"/>
          <p:nvPr/>
        </p:nvSpPr>
        <p:spPr>
          <a:xfrm>
            <a:off x="7404546" y="8410683"/>
            <a:ext cx="545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(f)</a:t>
            </a:r>
            <a:endParaRPr lang="sv-SE" sz="2400" dirty="0"/>
          </a:p>
        </p:txBody>
      </p:sp>
      <p:sp>
        <p:nvSpPr>
          <p:cNvPr id="73" name="TextBox 72"/>
          <p:cNvSpPr txBox="1"/>
          <p:nvPr/>
        </p:nvSpPr>
        <p:spPr>
          <a:xfrm>
            <a:off x="2347641" y="8408546"/>
            <a:ext cx="545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(e)</a:t>
            </a:r>
            <a:endParaRPr lang="sv-SE" sz="2400" dirty="0"/>
          </a:p>
        </p:txBody>
      </p:sp>
    </p:spTree>
    <p:extLst>
      <p:ext uri="{BB962C8B-B14F-4D97-AF65-F5344CB8AC3E}">
        <p14:creationId xmlns:p14="http://schemas.microsoft.com/office/powerpoint/2010/main" val="2997142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349691" y="-15371"/>
            <a:ext cx="51532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solidFill>
                  <a:srgbClr val="C00000"/>
                </a:solidFill>
              </a:rPr>
              <a:t>SPWM- Problem</a:t>
            </a:r>
            <a:endParaRPr lang="sv-SE" sz="4000" dirty="0">
              <a:solidFill>
                <a:srgbClr val="C00000"/>
              </a:solidFill>
            </a:endParaRPr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1755" y="745996"/>
            <a:ext cx="5334000" cy="4000500"/>
          </a:xfrm>
          <a:prstGeom prst="rect">
            <a:avLst/>
          </a:prstGeom>
        </p:spPr>
      </p:pic>
      <p:cxnSp>
        <p:nvCxnSpPr>
          <p:cNvPr id="36" name="Straight Arrow Connector 35"/>
          <p:cNvCxnSpPr/>
          <p:nvPr/>
        </p:nvCxnSpPr>
        <p:spPr>
          <a:xfrm>
            <a:off x="573162" y="1241407"/>
            <a:ext cx="961117" cy="0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 flipH="1">
            <a:off x="3632794" y="1241407"/>
            <a:ext cx="967028" cy="9423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1761219" y="1050775"/>
                <a:ext cx="165776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sub>
                      </m:sSub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sub>
                      </m:sSub>
                    </m:oMath>
                  </m:oMathPara>
                </a14:m>
                <a:endParaRPr lang="sv-SE" b="1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1219" y="1050775"/>
                <a:ext cx="1657761" cy="400110"/>
              </a:xfrm>
              <a:prstGeom prst="rect">
                <a:avLst/>
              </a:prstGeom>
              <a:blipFill>
                <a:blip r:embed="rId4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Arrow Connector 38"/>
          <p:cNvCxnSpPr/>
          <p:nvPr/>
        </p:nvCxnSpPr>
        <p:spPr>
          <a:xfrm flipH="1">
            <a:off x="3047315" y="2281893"/>
            <a:ext cx="1552507" cy="4594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573161" y="2281893"/>
            <a:ext cx="1493970" cy="0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1728343" y="2081838"/>
                <a:ext cx="165776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𝑩</m:t>
                          </m:r>
                        </m:sub>
                      </m:sSub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sub>
                      </m:sSub>
                    </m:oMath>
                  </m:oMathPara>
                </a14:m>
                <a:endParaRPr lang="sv-SE" b="1" dirty="0"/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8343" y="2081838"/>
                <a:ext cx="1657761" cy="400110"/>
              </a:xfrm>
              <a:prstGeom prst="rect">
                <a:avLst/>
              </a:prstGeom>
              <a:blipFill>
                <a:blip r:embed="rId5"/>
                <a:stretch>
                  <a:fillRect b="-1538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1761219" y="3329203"/>
                <a:ext cx="165776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𝑪</m:t>
                          </m:r>
                        </m:sub>
                      </m:sSub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sub>
                      </m:sSub>
                    </m:oMath>
                  </m:oMathPara>
                </a14:m>
                <a:endParaRPr lang="sv-SE" b="1" dirty="0"/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1219" y="3329203"/>
                <a:ext cx="1657761" cy="400110"/>
              </a:xfrm>
              <a:prstGeom prst="rect">
                <a:avLst/>
              </a:prstGeom>
              <a:blipFill>
                <a:blip r:embed="rId6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Straight Arrow Connector 42"/>
          <p:cNvCxnSpPr/>
          <p:nvPr/>
        </p:nvCxnSpPr>
        <p:spPr>
          <a:xfrm flipV="1">
            <a:off x="517048" y="3529258"/>
            <a:ext cx="480558" cy="1985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 flipH="1">
            <a:off x="4165646" y="3515289"/>
            <a:ext cx="434176" cy="7032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348740" y="1050775"/>
            <a:ext cx="312420" cy="111968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45" name="Rectangle 44"/>
          <p:cNvSpPr/>
          <p:nvPr/>
        </p:nvSpPr>
        <p:spPr>
          <a:xfrm>
            <a:off x="3486163" y="1050775"/>
            <a:ext cx="312420" cy="1119685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46" name="Rectangle 45"/>
          <p:cNvSpPr/>
          <p:nvPr/>
        </p:nvSpPr>
        <p:spPr>
          <a:xfrm>
            <a:off x="1897380" y="2170460"/>
            <a:ext cx="370639" cy="942441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48" name="Rectangle 47"/>
          <p:cNvSpPr/>
          <p:nvPr/>
        </p:nvSpPr>
        <p:spPr>
          <a:xfrm>
            <a:off x="2887286" y="2169589"/>
            <a:ext cx="370639" cy="942441"/>
          </a:xfrm>
          <a:prstGeom prst="rect">
            <a:avLst/>
          </a:prstGeom>
          <a:noFill/>
          <a:ln w="38100">
            <a:solidFill>
              <a:srgbClr val="02C9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49" name="Rectangle 48"/>
          <p:cNvSpPr/>
          <p:nvPr/>
        </p:nvSpPr>
        <p:spPr>
          <a:xfrm>
            <a:off x="823454" y="3168680"/>
            <a:ext cx="370639" cy="942441"/>
          </a:xfrm>
          <a:prstGeom prst="rect">
            <a:avLst/>
          </a:prstGeom>
          <a:noFill/>
          <a:ln w="38100">
            <a:solidFill>
              <a:srgbClr val="BC04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50" name="Rectangle 49"/>
          <p:cNvSpPr/>
          <p:nvPr/>
        </p:nvSpPr>
        <p:spPr>
          <a:xfrm>
            <a:off x="3930988" y="3148258"/>
            <a:ext cx="370639" cy="942441"/>
          </a:xfrm>
          <a:prstGeom prst="rect">
            <a:avLst/>
          </a:prstGeom>
          <a:noFill/>
          <a:ln w="38100">
            <a:solidFill>
              <a:srgbClr val="FE7ED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6" name="Rectangle 25"/>
          <p:cNvSpPr/>
          <p:nvPr/>
        </p:nvSpPr>
        <p:spPr>
          <a:xfrm>
            <a:off x="7336979" y="978885"/>
            <a:ext cx="312420" cy="1119685"/>
          </a:xfrm>
          <a:prstGeom prst="rect">
            <a:avLst/>
          </a:prstGeom>
          <a:noFill/>
          <a:ln w="38100">
            <a:solidFill>
              <a:srgbClr val="C00000">
                <a:alpha val="2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7" name="Rectangle 26"/>
          <p:cNvSpPr/>
          <p:nvPr/>
        </p:nvSpPr>
        <p:spPr>
          <a:xfrm>
            <a:off x="8857182" y="984788"/>
            <a:ext cx="312420" cy="1119685"/>
          </a:xfrm>
          <a:prstGeom prst="rect">
            <a:avLst/>
          </a:prstGeom>
          <a:noFill/>
          <a:ln w="38100">
            <a:solidFill>
              <a:srgbClr val="FFC000">
                <a:alpha val="2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8" name="Rectangle 27"/>
          <p:cNvSpPr/>
          <p:nvPr/>
        </p:nvSpPr>
        <p:spPr>
          <a:xfrm>
            <a:off x="8089582" y="2279956"/>
            <a:ext cx="316893" cy="1047582"/>
          </a:xfrm>
          <a:prstGeom prst="rect">
            <a:avLst/>
          </a:prstGeom>
          <a:noFill/>
          <a:ln w="38100">
            <a:solidFill>
              <a:srgbClr val="0070C0">
                <a:alpha val="2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9" name="Rectangle 28"/>
          <p:cNvSpPr/>
          <p:nvPr/>
        </p:nvSpPr>
        <p:spPr>
          <a:xfrm>
            <a:off x="7332506" y="2274508"/>
            <a:ext cx="314820" cy="1122583"/>
          </a:xfrm>
          <a:prstGeom prst="rect">
            <a:avLst/>
          </a:prstGeom>
          <a:noFill/>
          <a:ln w="38100">
            <a:solidFill>
              <a:srgbClr val="02C9CE">
                <a:alpha val="2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30" name="Rectangle 29"/>
          <p:cNvSpPr/>
          <p:nvPr/>
        </p:nvSpPr>
        <p:spPr>
          <a:xfrm>
            <a:off x="8852709" y="3529888"/>
            <a:ext cx="316893" cy="1004165"/>
          </a:xfrm>
          <a:prstGeom prst="rect">
            <a:avLst/>
          </a:prstGeom>
          <a:noFill/>
          <a:ln w="38100">
            <a:solidFill>
              <a:srgbClr val="BC04C0">
                <a:alpha val="2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31" name="Rectangle 30"/>
          <p:cNvSpPr/>
          <p:nvPr/>
        </p:nvSpPr>
        <p:spPr>
          <a:xfrm>
            <a:off x="8091656" y="3514670"/>
            <a:ext cx="314819" cy="1004165"/>
          </a:xfrm>
          <a:prstGeom prst="rect">
            <a:avLst/>
          </a:prstGeom>
          <a:noFill/>
          <a:ln w="38100">
            <a:solidFill>
              <a:srgbClr val="FE7ED0">
                <a:alpha val="2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cxnSp>
        <p:nvCxnSpPr>
          <p:cNvPr id="3" name="Straight Connector 2"/>
          <p:cNvCxnSpPr/>
          <p:nvPr/>
        </p:nvCxnSpPr>
        <p:spPr>
          <a:xfrm flipV="1">
            <a:off x="6506399" y="1253991"/>
            <a:ext cx="983517" cy="761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>
            <a:off x="7489916" y="1261610"/>
            <a:ext cx="0" cy="69499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 flipV="1">
            <a:off x="7463949" y="1956608"/>
            <a:ext cx="1547206" cy="1659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>
            <a:off x="9011155" y="1261610"/>
            <a:ext cx="0" cy="69499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 flipV="1">
            <a:off x="9011155" y="1264349"/>
            <a:ext cx="983517" cy="761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>
            <a:off x="6492837" y="978301"/>
            <a:ext cx="11516" cy="373420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>
            <a:off x="8742960" y="984936"/>
            <a:ext cx="4754" cy="37209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 flipV="1">
            <a:off x="6522907" y="3196354"/>
            <a:ext cx="983517" cy="7619"/>
          </a:xfrm>
          <a:prstGeom prst="line">
            <a:avLst/>
          </a:prstGeom>
          <a:ln w="38100">
            <a:solidFill>
              <a:srgbClr val="00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>
            <a:off x="7498817" y="2488300"/>
            <a:ext cx="0" cy="694998"/>
          </a:xfrm>
          <a:prstGeom prst="line">
            <a:avLst/>
          </a:prstGeom>
          <a:ln w="38100">
            <a:solidFill>
              <a:srgbClr val="00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>
            <a:off x="7513520" y="2514821"/>
            <a:ext cx="748817" cy="0"/>
          </a:xfrm>
          <a:prstGeom prst="line">
            <a:avLst/>
          </a:prstGeom>
          <a:ln w="38100">
            <a:solidFill>
              <a:srgbClr val="00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>
            <a:off x="8262337" y="2488300"/>
            <a:ext cx="0" cy="694998"/>
          </a:xfrm>
          <a:prstGeom prst="line">
            <a:avLst/>
          </a:prstGeom>
          <a:ln w="38100">
            <a:solidFill>
              <a:srgbClr val="00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/>
          <p:nvPr/>
        </p:nvCxnSpPr>
        <p:spPr>
          <a:xfrm flipV="1">
            <a:off x="8262337" y="3183298"/>
            <a:ext cx="1775618" cy="1"/>
          </a:xfrm>
          <a:prstGeom prst="line">
            <a:avLst/>
          </a:prstGeom>
          <a:ln w="38100">
            <a:solidFill>
              <a:srgbClr val="00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 flipV="1">
            <a:off x="6529720" y="4355098"/>
            <a:ext cx="1732728" cy="14504"/>
          </a:xfrm>
          <a:prstGeom prst="line">
            <a:avLst/>
          </a:prstGeom>
          <a:ln w="3810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>
            <a:off x="8248028" y="3660100"/>
            <a:ext cx="0" cy="694998"/>
          </a:xfrm>
          <a:prstGeom prst="line">
            <a:avLst/>
          </a:prstGeom>
          <a:ln w="3810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>
            <a:off x="8248028" y="3660100"/>
            <a:ext cx="748817" cy="0"/>
          </a:xfrm>
          <a:prstGeom prst="line">
            <a:avLst/>
          </a:prstGeom>
          <a:ln w="3810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/>
        </p:nvCxnSpPr>
        <p:spPr>
          <a:xfrm>
            <a:off x="9011155" y="3660100"/>
            <a:ext cx="0" cy="694998"/>
          </a:xfrm>
          <a:prstGeom prst="line">
            <a:avLst/>
          </a:prstGeom>
          <a:ln w="3810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/>
          <p:nvPr/>
        </p:nvCxnSpPr>
        <p:spPr>
          <a:xfrm flipV="1">
            <a:off x="8996845" y="4355098"/>
            <a:ext cx="1022492" cy="3810"/>
          </a:xfrm>
          <a:prstGeom prst="line">
            <a:avLst/>
          </a:prstGeom>
          <a:ln w="3810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/>
              <p:cNvSpPr txBox="1"/>
              <p:nvPr/>
            </p:nvSpPr>
            <p:spPr>
              <a:xfrm>
                <a:off x="823454" y="4659641"/>
                <a:ext cx="2925081" cy="6765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sub>
                      </m:sSub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e>
                            <m:sub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sub>
                          </m:s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𝒔𝒊𝒏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𝝎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sv-SE" b="1" dirty="0"/>
              </a:p>
            </p:txBody>
          </p:sp>
        </mc:Choice>
        <mc:Fallback xmlns=""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454" y="4659641"/>
                <a:ext cx="2925081" cy="6765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/>
              <p:cNvSpPr txBox="1"/>
              <p:nvPr/>
            </p:nvSpPr>
            <p:spPr>
              <a:xfrm>
                <a:off x="823454" y="6075463"/>
                <a:ext cx="3858532" cy="6816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𝑪</m:t>
                          </m:r>
                        </m:sub>
                      </m:sSub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e>
                            <m:sub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sub>
                          </m:s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𝒔𝒊𝒏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𝝎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𝟏𝟐</m:t>
                          </m:r>
                          <m:sSup>
                            <m:sSup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  <m:sup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𝒐</m:t>
                              </m:r>
                            </m:sup>
                          </m:sSup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sv-SE" b="1" dirty="0"/>
              </a:p>
            </p:txBody>
          </p:sp>
        </mc:Choice>
        <mc:Fallback xmlns="">
          <p:sp>
            <p:nvSpPr>
              <p:cNvPr id="66" name="TextBox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454" y="6075463"/>
                <a:ext cx="3858532" cy="68166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/>
              <p:cNvSpPr txBox="1"/>
              <p:nvPr/>
            </p:nvSpPr>
            <p:spPr>
              <a:xfrm>
                <a:off x="780138" y="5376553"/>
                <a:ext cx="3829956" cy="6816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𝑩</m:t>
                          </m:r>
                        </m:sub>
                      </m:sSub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e>
                            <m:sub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sub>
                          </m:s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𝒔𝒊𝒏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𝝎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𝟏𝟐</m:t>
                          </m:r>
                          <m:sSup>
                            <m:sSup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  <m:sup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𝒐</m:t>
                              </m:r>
                            </m:sup>
                          </m:sSup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sv-SE" b="1" dirty="0"/>
              </a:p>
            </p:txBody>
          </p:sp>
        </mc:Choice>
        <mc:Fallback xmlns=""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138" y="5376553"/>
                <a:ext cx="3829956" cy="68166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/>
              <p:cNvSpPr txBox="1"/>
              <p:nvPr/>
            </p:nvSpPr>
            <p:spPr>
              <a:xfrm>
                <a:off x="4962847" y="5456620"/>
                <a:ext cx="292508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sub>
                      </m:sSub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𝑩</m:t>
                          </m:r>
                        </m:sub>
                      </m:sSub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𝑪</m:t>
                          </m:r>
                        </m:sub>
                      </m:sSub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sv-SE" b="1" dirty="0"/>
              </a:p>
            </p:txBody>
          </p:sp>
        </mc:Choice>
        <mc:Fallback xmlns="">
          <p:sp>
            <p:nvSpPr>
              <p:cNvPr id="69" name="TextBox 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2847" y="5456620"/>
                <a:ext cx="2925081" cy="400110"/>
              </a:xfrm>
              <a:prstGeom prst="rect">
                <a:avLst/>
              </a:prstGeom>
              <a:blipFill>
                <a:blip r:embed="rId10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/>
              <p:cNvSpPr txBox="1"/>
              <p:nvPr/>
            </p:nvSpPr>
            <p:spPr>
              <a:xfrm>
                <a:off x="6439150" y="4705874"/>
                <a:ext cx="19075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v-SE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sv-SE" b="1" dirty="0"/>
              </a:p>
            </p:txBody>
          </p:sp>
        </mc:Choice>
        <mc:Fallback xmlns="">
          <p:sp>
            <p:nvSpPr>
              <p:cNvPr id="70" name="TextBox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9150" y="4705874"/>
                <a:ext cx="190758" cy="276999"/>
              </a:xfrm>
              <a:prstGeom prst="rect">
                <a:avLst/>
              </a:prstGeom>
              <a:blipFill>
                <a:blip r:embed="rId11"/>
                <a:stretch>
                  <a:fillRect l="-28125" r="-28125" b="-6667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/>
              <p:cNvSpPr txBox="1"/>
              <p:nvPr/>
            </p:nvSpPr>
            <p:spPr>
              <a:xfrm>
                <a:off x="8622436" y="4690656"/>
                <a:ext cx="302903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v-SE" b="1" i="1" smtClean="0">
                          <a:latin typeface="Cambria Math" panose="02040503050406030204" pitchFamily="18" charset="0"/>
                        </a:rPr>
                        <m:t>𝑻𝒔</m:t>
                      </m:r>
                    </m:oMath>
                  </m:oMathPara>
                </a14:m>
                <a:endParaRPr lang="sv-SE" b="1" dirty="0"/>
              </a:p>
            </p:txBody>
          </p:sp>
        </mc:Choice>
        <mc:Fallback xmlns=""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2436" y="4690656"/>
                <a:ext cx="302903" cy="276999"/>
              </a:xfrm>
              <a:prstGeom prst="rect">
                <a:avLst/>
              </a:prstGeom>
              <a:blipFill>
                <a:blip r:embed="rId12"/>
                <a:stretch>
                  <a:fillRect l="-18000" r="-22000" b="-6522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2" name="Straight Connector 71"/>
          <p:cNvCxnSpPr/>
          <p:nvPr/>
        </p:nvCxnSpPr>
        <p:spPr>
          <a:xfrm>
            <a:off x="9971746" y="1039713"/>
            <a:ext cx="47591" cy="358155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/>
              <p:cNvSpPr txBox="1"/>
              <p:nvPr/>
            </p:nvSpPr>
            <p:spPr>
              <a:xfrm>
                <a:off x="9820294" y="4646236"/>
                <a:ext cx="302903" cy="51860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sv-SE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sv-SE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sv-SE" b="1" i="1" smtClean="0">
                              <a:latin typeface="Cambria Math" panose="02040503050406030204" pitchFamily="18" charset="0"/>
                            </a:rPr>
                            <m:t>𝑻𝒔</m:t>
                          </m:r>
                        </m:num>
                        <m:den>
                          <m:r>
                            <a:rPr lang="sv-SE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sv-SE" b="1" dirty="0"/>
              </a:p>
            </p:txBody>
          </p:sp>
        </mc:Choice>
        <mc:Fallback xmlns="">
          <p:sp>
            <p:nvSpPr>
              <p:cNvPr id="73" name="TextBox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0294" y="4646236"/>
                <a:ext cx="302903" cy="518604"/>
              </a:xfrm>
              <a:prstGeom prst="rect">
                <a:avLst/>
              </a:prstGeom>
              <a:blipFill>
                <a:blip r:embed="rId13"/>
                <a:stretch>
                  <a:fillRect l="-2000" r="-30000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/>
          <p:cNvCxnSpPr>
            <a:stCxn id="69" idx="3"/>
            <a:endCxn id="73" idx="1"/>
          </p:cNvCxnSpPr>
          <p:nvPr/>
        </p:nvCxnSpPr>
        <p:spPr>
          <a:xfrm flipV="1">
            <a:off x="7887928" y="4905538"/>
            <a:ext cx="1932366" cy="75113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145948" y="5258326"/>
            <a:ext cx="266532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is impossible to equate all switching states because the sum of duty cycles of SPWM is bigger than one period.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07951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371600" y="86756"/>
            <a:ext cx="99771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solidFill>
                  <a:srgbClr val="C00000"/>
                </a:solidFill>
              </a:rPr>
              <a:t>SPWM- Solution: DC Injected Reference signal</a:t>
            </a:r>
            <a:endParaRPr lang="sv-SE" sz="4000" dirty="0">
              <a:solidFill>
                <a:srgbClr val="C0000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7978" y="907673"/>
            <a:ext cx="4060620" cy="304546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288" y="941014"/>
            <a:ext cx="3971712" cy="2978784"/>
          </a:xfrm>
          <a:prstGeom prst="rect">
            <a:avLst/>
          </a:prstGeom>
        </p:spPr>
      </p:pic>
      <p:pic>
        <p:nvPicPr>
          <p:cNvPr id="74" name="Picture 7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956" y="794642"/>
            <a:ext cx="4067968" cy="30509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71600" y="4074236"/>
            <a:ext cx="2357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Single carrier signal</a:t>
            </a:r>
            <a:endParaRPr lang="en-US" dirty="0"/>
          </a:p>
        </p:txBody>
      </p:sp>
      <p:sp>
        <p:nvSpPr>
          <p:cNvPr id="75" name="TextBox 74"/>
          <p:cNvSpPr txBox="1"/>
          <p:nvPr/>
        </p:nvSpPr>
        <p:spPr>
          <a:xfrm>
            <a:off x="5181600" y="4074236"/>
            <a:ext cx="2357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Multiple carrier signal</a:t>
            </a:r>
            <a:endParaRPr lang="en-US" dirty="0"/>
          </a:p>
        </p:txBody>
      </p:sp>
      <p:sp>
        <p:nvSpPr>
          <p:cNvPr id="76" name="TextBox 75"/>
          <p:cNvSpPr txBox="1"/>
          <p:nvPr/>
        </p:nvSpPr>
        <p:spPr>
          <a:xfrm>
            <a:off x="9377680" y="4066170"/>
            <a:ext cx="23571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Multiple carrier signal with DC injected reference signal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/>
              <p:cNvSpPr txBox="1"/>
              <p:nvPr/>
            </p:nvSpPr>
            <p:spPr>
              <a:xfrm>
                <a:off x="3992676" y="4647345"/>
                <a:ext cx="4003244" cy="8699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sub>
                      </m:sSub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2000" b="1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e>
                            <m:sub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sub>
                          </m:s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𝒔𝒊𝒏</m:t>
                          </m:r>
                          <m:d>
                            <m:d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𝝎</m:t>
                              </m:r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e>
                          </m:d>
                          <m:r>
                            <a:rPr lang="sv-SE" sz="20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sv-S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sv-SE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sv-SE" sz="20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den>
                          </m:f>
                          <m:r>
                            <a:rPr lang="sv-SE" sz="20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sv-SE" b="1" dirty="0"/>
              </a:p>
            </p:txBody>
          </p:sp>
        </mc:Choice>
        <mc:Fallback xmlns="">
          <p:sp>
            <p:nvSpPr>
              <p:cNvPr id="78" name="TextBox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2676" y="4647345"/>
                <a:ext cx="4003244" cy="86998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/>
              <p:cNvSpPr txBox="1"/>
              <p:nvPr/>
            </p:nvSpPr>
            <p:spPr>
              <a:xfrm>
                <a:off x="3992676" y="5966284"/>
                <a:ext cx="4551884" cy="8699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𝑪</m:t>
                          </m:r>
                        </m:sub>
                      </m:sSub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2000" b="1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e>
                            <m:sub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sub>
                          </m:s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𝒔𝒊𝒏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𝝎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𝟏𝟐</m:t>
                          </m:r>
                          <m:sSup>
                            <m:sSup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  <m:sup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𝒐</m:t>
                              </m:r>
                            </m:sup>
                          </m:sSup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sv-SE" sz="20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sv-SE" sz="2000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sv-SE" sz="20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sv-SE" sz="2000" b="1" i="1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den>
                          </m:f>
                          <m:r>
                            <a:rPr lang="sv-SE" sz="2000" b="1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sv-SE" b="1" dirty="0"/>
              </a:p>
            </p:txBody>
          </p:sp>
        </mc:Choice>
        <mc:Fallback xmlns="">
          <p:sp>
            <p:nvSpPr>
              <p:cNvPr id="79" name="TextBox 7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2676" y="5966284"/>
                <a:ext cx="4551884" cy="86998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/>
              <p:cNvSpPr txBox="1"/>
              <p:nvPr/>
            </p:nvSpPr>
            <p:spPr>
              <a:xfrm>
                <a:off x="3992676" y="5307285"/>
                <a:ext cx="4493600" cy="8699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𝑩</m:t>
                          </m:r>
                        </m:sub>
                      </m:sSub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2000" b="1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e>
                            <m:sub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sub>
                          </m:s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𝒔𝒊𝒏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𝝎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𝟏𝟐</m:t>
                          </m:r>
                          <m:sSup>
                            <m:sSup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  <m:sup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𝒐</m:t>
                              </m:r>
                            </m:sup>
                          </m:sSup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sv-SE" sz="20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sv-SE" sz="2000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sv-SE" sz="20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sv-SE" sz="2000" b="1" i="1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den>
                          </m:f>
                          <m:r>
                            <a:rPr lang="sv-SE" sz="2000" b="1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sv-SE" b="1" dirty="0"/>
              </a:p>
            </p:txBody>
          </p:sp>
        </mc:Choice>
        <mc:Fallback xmlns="">
          <p:sp>
            <p:nvSpPr>
              <p:cNvPr id="80" name="TextBox 7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2676" y="5307285"/>
                <a:ext cx="4493600" cy="86998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04998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-1435691" y="15112516"/>
                <a:ext cx="53392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3AE65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3AE657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i="1" smtClean="0">
                              <a:solidFill>
                                <a:srgbClr val="3AE657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3AE657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435691" y="15112516"/>
                <a:ext cx="533928" cy="400110"/>
              </a:xfrm>
              <a:prstGeom prst="rect">
                <a:avLst/>
              </a:prstGeom>
              <a:blipFill>
                <a:blip r:embed="rId3"/>
                <a:stretch>
                  <a:fillRect r="-4545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5178" y="-190631"/>
            <a:ext cx="5334000" cy="4000500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-1447454" y="3829914"/>
            <a:ext cx="545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(a)</a:t>
            </a:r>
            <a:endParaRPr lang="sv-SE" sz="2400" dirty="0"/>
          </a:p>
        </p:txBody>
      </p:sp>
      <p:sp>
        <p:nvSpPr>
          <p:cNvPr id="59" name="TextBox 58"/>
          <p:cNvSpPr txBox="1"/>
          <p:nvPr/>
        </p:nvSpPr>
        <p:spPr>
          <a:xfrm>
            <a:off x="3788605" y="3810202"/>
            <a:ext cx="545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(b)</a:t>
            </a:r>
            <a:endParaRPr lang="sv-SE" sz="2400" dirty="0"/>
          </a:p>
        </p:txBody>
      </p:sp>
      <p:sp>
        <p:nvSpPr>
          <p:cNvPr id="60" name="TextBox 59"/>
          <p:cNvSpPr txBox="1"/>
          <p:nvPr/>
        </p:nvSpPr>
        <p:spPr>
          <a:xfrm>
            <a:off x="9122606" y="3789823"/>
            <a:ext cx="545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(c)</a:t>
            </a:r>
            <a:endParaRPr lang="sv-SE" sz="2400" dirty="0"/>
          </a:p>
        </p:txBody>
      </p:sp>
      <p:sp>
        <p:nvSpPr>
          <p:cNvPr id="61" name="TextBox 60"/>
          <p:cNvSpPr txBox="1"/>
          <p:nvPr/>
        </p:nvSpPr>
        <p:spPr>
          <a:xfrm>
            <a:off x="-1447454" y="8191517"/>
            <a:ext cx="545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(d)</a:t>
            </a:r>
            <a:endParaRPr lang="sv-SE" sz="2400" dirty="0"/>
          </a:p>
        </p:txBody>
      </p:sp>
      <p:sp>
        <p:nvSpPr>
          <p:cNvPr id="62" name="TextBox 61"/>
          <p:cNvSpPr txBox="1"/>
          <p:nvPr/>
        </p:nvSpPr>
        <p:spPr>
          <a:xfrm>
            <a:off x="3788605" y="8171805"/>
            <a:ext cx="545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(e)</a:t>
            </a:r>
            <a:endParaRPr lang="sv-SE" sz="2400" dirty="0"/>
          </a:p>
        </p:txBody>
      </p:sp>
      <p:sp>
        <p:nvSpPr>
          <p:cNvPr id="63" name="TextBox 62"/>
          <p:cNvSpPr txBox="1"/>
          <p:nvPr/>
        </p:nvSpPr>
        <p:spPr>
          <a:xfrm>
            <a:off x="9122605" y="8101310"/>
            <a:ext cx="7071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(f)</a:t>
            </a:r>
            <a:endParaRPr lang="sv-SE" sz="2400" dirty="0"/>
          </a:p>
        </p:txBody>
      </p:sp>
      <p:pic>
        <p:nvPicPr>
          <p:cNvPr id="47" name="Picture 4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5480" y="4171305"/>
            <a:ext cx="5334000" cy="40005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7664" y="-170586"/>
            <a:ext cx="5334000" cy="40005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7664" y="4189674"/>
            <a:ext cx="5334000" cy="40005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4149428" y="4171305"/>
            <a:ext cx="5334000" cy="40005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4114454" y="-190631"/>
            <a:ext cx="5334000" cy="400050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-16734921" y="-3506962"/>
            <a:ext cx="545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(a)</a:t>
            </a:r>
            <a:endParaRPr lang="sv-SE" sz="2400" dirty="0"/>
          </a:p>
        </p:txBody>
      </p:sp>
      <p:sp>
        <p:nvSpPr>
          <p:cNvPr id="49" name="TextBox 48"/>
          <p:cNvSpPr txBox="1"/>
          <p:nvPr/>
        </p:nvSpPr>
        <p:spPr>
          <a:xfrm>
            <a:off x="-16610841" y="707545"/>
            <a:ext cx="545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(c)</a:t>
            </a:r>
            <a:endParaRPr lang="sv-SE" sz="2400" dirty="0"/>
          </a:p>
        </p:txBody>
      </p:sp>
      <p:sp>
        <p:nvSpPr>
          <p:cNvPr id="50" name="TextBox 49"/>
          <p:cNvSpPr txBox="1"/>
          <p:nvPr/>
        </p:nvSpPr>
        <p:spPr>
          <a:xfrm>
            <a:off x="-11680139" y="-3482105"/>
            <a:ext cx="545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(b)</a:t>
            </a:r>
            <a:endParaRPr lang="sv-SE" sz="2400" dirty="0"/>
          </a:p>
        </p:txBody>
      </p:sp>
      <p:sp>
        <p:nvSpPr>
          <p:cNvPr id="51" name="TextBox 50"/>
          <p:cNvSpPr txBox="1"/>
          <p:nvPr/>
        </p:nvSpPr>
        <p:spPr>
          <a:xfrm>
            <a:off x="-11640270" y="713165"/>
            <a:ext cx="545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(d)</a:t>
            </a:r>
            <a:endParaRPr lang="sv-SE" sz="2400" dirty="0"/>
          </a:p>
        </p:txBody>
      </p:sp>
      <p:sp>
        <p:nvSpPr>
          <p:cNvPr id="52" name="TextBox 51"/>
          <p:cNvSpPr txBox="1"/>
          <p:nvPr/>
        </p:nvSpPr>
        <p:spPr>
          <a:xfrm>
            <a:off x="-11471822" y="4841573"/>
            <a:ext cx="545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(f)</a:t>
            </a:r>
            <a:endParaRPr lang="sv-SE" sz="2400" dirty="0"/>
          </a:p>
        </p:txBody>
      </p:sp>
      <p:sp>
        <p:nvSpPr>
          <p:cNvPr id="53" name="TextBox 52"/>
          <p:cNvSpPr txBox="1"/>
          <p:nvPr/>
        </p:nvSpPr>
        <p:spPr>
          <a:xfrm>
            <a:off x="-16528727" y="4839436"/>
            <a:ext cx="545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(e)</a:t>
            </a:r>
            <a:endParaRPr lang="sv-SE" sz="2400" dirty="0"/>
          </a:p>
        </p:txBody>
      </p:sp>
    </p:spTree>
    <p:extLst>
      <p:ext uri="{BB962C8B-B14F-4D97-AF65-F5344CB8AC3E}">
        <p14:creationId xmlns:p14="http://schemas.microsoft.com/office/powerpoint/2010/main" val="17878001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-1435691" y="15112516"/>
                <a:ext cx="53392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3AE65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3AE657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i="1" smtClean="0">
                              <a:solidFill>
                                <a:srgbClr val="3AE657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3AE657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435691" y="15112516"/>
                <a:ext cx="533928" cy="400110"/>
              </a:xfrm>
              <a:prstGeom prst="rect">
                <a:avLst/>
              </a:prstGeom>
              <a:blipFill>
                <a:blip r:embed="rId3"/>
                <a:stretch>
                  <a:fillRect r="-4545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309" y="-408213"/>
            <a:ext cx="5334000" cy="4000500"/>
          </a:xfrm>
          <a:prstGeom prst="rect">
            <a:avLst/>
          </a:prstGeom>
        </p:spPr>
      </p:pic>
      <p:pic>
        <p:nvPicPr>
          <p:cNvPr id="47" name="Picture 4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2960" y="-404710"/>
            <a:ext cx="5334000" cy="40005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8309" y="3834681"/>
            <a:ext cx="5334000" cy="40005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72960" y="3786932"/>
            <a:ext cx="5334000" cy="40005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72960" y="-4578428"/>
            <a:ext cx="5334000" cy="40005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8309" y="-4537264"/>
            <a:ext cx="5334000" cy="400050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3645309" y="-616278"/>
            <a:ext cx="545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(a)</a:t>
            </a:r>
            <a:endParaRPr lang="sv-SE" sz="2400" dirty="0"/>
          </a:p>
        </p:txBody>
      </p:sp>
      <p:sp>
        <p:nvSpPr>
          <p:cNvPr id="49" name="TextBox 48"/>
          <p:cNvSpPr txBox="1"/>
          <p:nvPr/>
        </p:nvSpPr>
        <p:spPr>
          <a:xfrm>
            <a:off x="3769389" y="3598229"/>
            <a:ext cx="545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(c)</a:t>
            </a:r>
            <a:endParaRPr lang="sv-SE" sz="2400" dirty="0"/>
          </a:p>
        </p:txBody>
      </p:sp>
      <p:sp>
        <p:nvSpPr>
          <p:cNvPr id="50" name="TextBox 49"/>
          <p:cNvSpPr txBox="1"/>
          <p:nvPr/>
        </p:nvSpPr>
        <p:spPr>
          <a:xfrm>
            <a:off x="8700091" y="-591421"/>
            <a:ext cx="545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(b)</a:t>
            </a:r>
            <a:endParaRPr lang="sv-SE" sz="2400" dirty="0"/>
          </a:p>
        </p:txBody>
      </p:sp>
      <p:sp>
        <p:nvSpPr>
          <p:cNvPr id="51" name="TextBox 50"/>
          <p:cNvSpPr txBox="1"/>
          <p:nvPr/>
        </p:nvSpPr>
        <p:spPr>
          <a:xfrm>
            <a:off x="8739960" y="3603849"/>
            <a:ext cx="545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(d)</a:t>
            </a:r>
            <a:endParaRPr lang="sv-SE" sz="2400" dirty="0"/>
          </a:p>
        </p:txBody>
      </p:sp>
      <p:sp>
        <p:nvSpPr>
          <p:cNvPr id="52" name="TextBox 51"/>
          <p:cNvSpPr txBox="1"/>
          <p:nvPr/>
        </p:nvSpPr>
        <p:spPr>
          <a:xfrm>
            <a:off x="8908408" y="7732257"/>
            <a:ext cx="545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(f)</a:t>
            </a:r>
            <a:endParaRPr lang="sv-SE" sz="2400" dirty="0"/>
          </a:p>
        </p:txBody>
      </p:sp>
      <p:sp>
        <p:nvSpPr>
          <p:cNvPr id="53" name="TextBox 52"/>
          <p:cNvSpPr txBox="1"/>
          <p:nvPr/>
        </p:nvSpPr>
        <p:spPr>
          <a:xfrm>
            <a:off x="3851503" y="7730120"/>
            <a:ext cx="545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(e)</a:t>
            </a:r>
            <a:endParaRPr lang="sv-SE" sz="2400" dirty="0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23436" y="8023884"/>
            <a:ext cx="5334000" cy="400050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12309" y="8023884"/>
            <a:ext cx="5334000" cy="40005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908407" y="11966769"/>
            <a:ext cx="545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(</a:t>
            </a:r>
            <a:r>
              <a:rPr lang="en-US" sz="2400" dirty="0"/>
              <a:t>h</a:t>
            </a:r>
            <a:r>
              <a:rPr lang="en-US" sz="2400" dirty="0" smtClean="0"/>
              <a:t>)</a:t>
            </a:r>
            <a:endParaRPr lang="sv-SE" sz="2400" dirty="0"/>
          </a:p>
        </p:txBody>
      </p:sp>
      <p:sp>
        <p:nvSpPr>
          <p:cNvPr id="24" name="TextBox 23"/>
          <p:cNvSpPr txBox="1"/>
          <p:nvPr/>
        </p:nvSpPr>
        <p:spPr>
          <a:xfrm>
            <a:off x="3851503" y="12024384"/>
            <a:ext cx="545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(g)</a:t>
            </a:r>
            <a:endParaRPr lang="sv-SE" sz="2400" dirty="0"/>
          </a:p>
        </p:txBody>
      </p:sp>
    </p:spTree>
    <p:extLst>
      <p:ext uri="{BB962C8B-B14F-4D97-AF65-F5344CB8AC3E}">
        <p14:creationId xmlns:p14="http://schemas.microsoft.com/office/powerpoint/2010/main" val="13556183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-1435691" y="15112516"/>
                <a:ext cx="53392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3AE65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3AE657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i="1" smtClean="0">
                              <a:solidFill>
                                <a:srgbClr val="3AE657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3AE657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435691" y="15112516"/>
                <a:ext cx="533928" cy="400110"/>
              </a:xfrm>
              <a:prstGeom prst="rect">
                <a:avLst/>
              </a:prstGeom>
              <a:blipFill>
                <a:blip r:embed="rId3"/>
                <a:stretch>
                  <a:fillRect r="-4545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TextBox 57"/>
          <p:cNvSpPr txBox="1"/>
          <p:nvPr/>
        </p:nvSpPr>
        <p:spPr>
          <a:xfrm>
            <a:off x="3769335" y="4766289"/>
            <a:ext cx="545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(a)</a:t>
            </a:r>
            <a:endParaRPr lang="sv-SE" sz="2400" dirty="0"/>
          </a:p>
        </p:txBody>
      </p:sp>
      <p:sp>
        <p:nvSpPr>
          <p:cNvPr id="59" name="TextBox 58"/>
          <p:cNvSpPr txBox="1"/>
          <p:nvPr/>
        </p:nvSpPr>
        <p:spPr>
          <a:xfrm>
            <a:off x="9103335" y="4797174"/>
            <a:ext cx="545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(b)</a:t>
            </a:r>
            <a:endParaRPr lang="sv-SE" sz="24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2335" y="796674"/>
            <a:ext cx="5334000" cy="40005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6335" y="816386"/>
            <a:ext cx="5334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5934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-1435691" y="15112516"/>
                <a:ext cx="53392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3AE65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3AE657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i="1" smtClean="0">
                              <a:solidFill>
                                <a:srgbClr val="3AE657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3AE657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435691" y="15112516"/>
                <a:ext cx="533928" cy="400110"/>
              </a:xfrm>
              <a:prstGeom prst="rect">
                <a:avLst/>
              </a:prstGeom>
              <a:blipFill>
                <a:blip r:embed="rId3"/>
                <a:stretch>
                  <a:fillRect r="-4545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TextBox 57"/>
          <p:cNvSpPr txBox="1"/>
          <p:nvPr/>
        </p:nvSpPr>
        <p:spPr>
          <a:xfrm>
            <a:off x="3448396" y="2572614"/>
            <a:ext cx="545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(a)</a:t>
            </a:r>
            <a:endParaRPr lang="sv-SE" sz="2400" dirty="0"/>
          </a:p>
        </p:txBody>
      </p:sp>
      <p:sp>
        <p:nvSpPr>
          <p:cNvPr id="59" name="TextBox 58"/>
          <p:cNvSpPr txBox="1"/>
          <p:nvPr/>
        </p:nvSpPr>
        <p:spPr>
          <a:xfrm>
            <a:off x="8684455" y="2552902"/>
            <a:ext cx="545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(b)</a:t>
            </a:r>
            <a:endParaRPr lang="sv-SE" sz="2400" dirty="0"/>
          </a:p>
        </p:txBody>
      </p:sp>
      <p:sp>
        <p:nvSpPr>
          <p:cNvPr id="60" name="TextBox 59"/>
          <p:cNvSpPr txBox="1"/>
          <p:nvPr/>
        </p:nvSpPr>
        <p:spPr>
          <a:xfrm>
            <a:off x="3448395" y="6914505"/>
            <a:ext cx="545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(c)</a:t>
            </a:r>
            <a:endParaRPr lang="sv-SE" sz="2400" dirty="0"/>
          </a:p>
        </p:txBody>
      </p:sp>
      <p:sp>
        <p:nvSpPr>
          <p:cNvPr id="62" name="TextBox 61"/>
          <p:cNvSpPr txBox="1"/>
          <p:nvPr/>
        </p:nvSpPr>
        <p:spPr>
          <a:xfrm>
            <a:off x="8684454" y="6945091"/>
            <a:ext cx="545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(d)</a:t>
            </a:r>
            <a:endParaRPr lang="sv-SE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849" y="-1467977"/>
            <a:ext cx="5334000" cy="40005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5397" y="-1397317"/>
            <a:ext cx="5334000" cy="40005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1901" y="2803446"/>
            <a:ext cx="5334000" cy="40005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15397" y="2803446"/>
            <a:ext cx="5334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8179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959" y="554990"/>
            <a:ext cx="4055533" cy="30416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5399" y="554990"/>
            <a:ext cx="4055533" cy="30416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683760" y="93325"/>
            <a:ext cx="3180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Single</a:t>
            </a:r>
            <a:r>
              <a:rPr lang="sv-SE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Carrier Signal </a:t>
            </a:r>
            <a:endParaRPr lang="sv-SE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4959" y="3926225"/>
            <a:ext cx="4071593" cy="305369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5399" y="3926225"/>
            <a:ext cx="4055533" cy="30416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57878" y="3540760"/>
            <a:ext cx="70730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Multi-Carrier Signals CPS- 0-120-240</a:t>
            </a:r>
            <a:endParaRPr lang="sv-SE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83340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8439" y="3708400"/>
            <a:ext cx="4199467" cy="31496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6358" y="3825875"/>
            <a:ext cx="4042833" cy="30321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1360" y="116840"/>
            <a:ext cx="108813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Multi-Carrier Signals (</a:t>
            </a:r>
            <a:r>
              <a:rPr lang="sv-SE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Variable</a:t>
            </a:r>
            <a:r>
              <a:rPr lang="sv-SE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CPS- Fundamental Component </a:t>
            </a:r>
            <a:r>
              <a:rPr lang="sv-SE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Reduction</a:t>
            </a:r>
            <a:r>
              <a:rPr lang="sv-SE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sv-SE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4272" y="447040"/>
            <a:ext cx="3987800" cy="29908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6358" y="447040"/>
            <a:ext cx="3987800" cy="29908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21360" y="3342313"/>
            <a:ext cx="108813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Multi-Carrier Signals (DC </a:t>
            </a:r>
            <a:r>
              <a:rPr lang="sv-SE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injected</a:t>
            </a:r>
            <a:r>
              <a:rPr lang="sv-SE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sv-SE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Variable</a:t>
            </a:r>
            <a:r>
              <a:rPr lang="sv-SE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CPS- Total </a:t>
            </a:r>
            <a:r>
              <a:rPr lang="sv-SE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Harmonic</a:t>
            </a:r>
            <a:r>
              <a:rPr lang="sv-SE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Reduction</a:t>
            </a:r>
            <a:r>
              <a:rPr lang="sv-SE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sv-SE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61358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683760" y="0"/>
            <a:ext cx="32816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solidFill>
                  <a:srgbClr val="C00000"/>
                </a:solidFill>
              </a:rPr>
              <a:t>Non-Idealities</a:t>
            </a:r>
            <a:endParaRPr lang="sv-SE" sz="4000" dirty="0">
              <a:solidFill>
                <a:srgbClr val="C00000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3649" y="786922"/>
            <a:ext cx="5547997" cy="416099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86922"/>
            <a:ext cx="5832476" cy="4374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512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653280" y="213360"/>
            <a:ext cx="26212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solidFill>
                  <a:srgbClr val="C00000"/>
                </a:solidFill>
              </a:rPr>
              <a:t>Drawbacks</a:t>
            </a:r>
            <a:endParaRPr lang="sv-SE" sz="4000" dirty="0">
              <a:solidFill>
                <a:srgbClr val="C0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56621" y="921246"/>
            <a:ext cx="105562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maximum modulation is limited to 2/3 due to DC injection.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is difficult due to delay time of practical components and other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nonidealities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416941" y="2153245"/>
            <a:ext cx="5435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solidFill>
                  <a:srgbClr val="C00000"/>
                </a:solidFill>
              </a:rPr>
              <a:t>Further Investigation</a:t>
            </a:r>
            <a:endParaRPr lang="sv-SE" sz="4000" dirty="0">
              <a:solidFill>
                <a:srgbClr val="C0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58221" y="3197086"/>
            <a:ext cx="1055624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SVPWM or third harmonic injection to increase DC-link utilization.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Constant dv/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for both turn-on and turn-off transition. (Variable gate resistance)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mathematical model including dead time, different dv/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effect (different loading).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23816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469250" y="2347099"/>
            <a:ext cx="1524000" cy="4953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Controller</a:t>
            </a:r>
            <a:endParaRPr lang="sv-S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729600" y="1661299"/>
            <a:ext cx="12700" cy="6858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1009000" y="1661299"/>
            <a:ext cx="12700" cy="6858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1288400" y="1661299"/>
            <a:ext cx="12700" cy="6858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1561450" y="1648599"/>
            <a:ext cx="12700" cy="6858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327150" y="895350"/>
            <a:ext cx="1460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Speed</a:t>
            </a:r>
            <a:endParaRPr lang="sv-S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7688752" y="2075475"/>
            <a:ext cx="1289050" cy="12551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EM</a:t>
            </a:r>
            <a:endParaRPr lang="sv-SE" dirty="0">
              <a:solidFill>
                <a:schemeClr val="tx1"/>
              </a:solidFill>
            </a:endParaRP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8947150" y="2647950"/>
            <a:ext cx="400050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8977802" y="2317750"/>
                <a:ext cx="33874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sv-SE" dirty="0"/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7802" y="2317750"/>
                <a:ext cx="338746" cy="276999"/>
              </a:xfrm>
              <a:prstGeom prst="rect">
                <a:avLst/>
              </a:prstGeom>
              <a:blipFill>
                <a:blip r:embed="rId2"/>
                <a:stretch>
                  <a:fillRect l="-16364" r="-3636" b="-10870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/>
          <p:cNvCxnSpPr/>
          <p:nvPr/>
        </p:nvCxnSpPr>
        <p:spPr>
          <a:xfrm flipV="1">
            <a:off x="7164445" y="2456249"/>
            <a:ext cx="581761" cy="2"/>
          </a:xfrm>
          <a:prstGeom prst="straightConnector1">
            <a:avLst/>
          </a:prstGeom>
          <a:ln w="12700">
            <a:solidFill>
              <a:schemeClr val="tx1"/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541375" y="2041300"/>
            <a:ext cx="1055725" cy="12226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SPWM</a:t>
            </a:r>
          </a:p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Generator</a:t>
            </a:r>
            <a:endParaRPr lang="sv-S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109154" y="2036650"/>
            <a:ext cx="1055725" cy="12226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2L</a:t>
            </a:r>
          </a:p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VSI</a:t>
            </a:r>
            <a:endParaRPr lang="sv-S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8" name="Straight Arrow Connector 27"/>
          <p:cNvCxnSpPr/>
          <p:nvPr/>
        </p:nvCxnSpPr>
        <p:spPr>
          <a:xfrm flipV="1">
            <a:off x="7164445" y="2666185"/>
            <a:ext cx="512488" cy="1"/>
          </a:xfrm>
          <a:prstGeom prst="straightConnector1">
            <a:avLst/>
          </a:prstGeom>
          <a:ln w="12700">
            <a:solidFill>
              <a:schemeClr val="tx1"/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7164445" y="2874424"/>
            <a:ext cx="550805" cy="1426"/>
          </a:xfrm>
          <a:prstGeom prst="straightConnector1">
            <a:avLst/>
          </a:prstGeom>
          <a:ln w="12700">
            <a:solidFill>
              <a:schemeClr val="tx1"/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50352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5288" y="21950"/>
            <a:ext cx="6324600" cy="1325563"/>
          </a:xfrm>
        </p:spPr>
        <p:txBody>
          <a:bodyPr/>
          <a:lstStyle/>
          <a:p>
            <a:r>
              <a:rPr lang="en-US" dirty="0" smtClean="0">
                <a:solidFill>
                  <a:srgbClr val="C00000"/>
                </a:solidFill>
              </a:rPr>
              <a:t>Capacitive Power Transfer</a:t>
            </a:r>
            <a:endParaRPr lang="sv-SE" dirty="0">
              <a:solidFill>
                <a:srgbClr val="C0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81551" y="836276"/>
            <a:ext cx="643128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sv-SE" dirty="0" smtClean="0"/>
          </a:p>
          <a:p>
            <a:r>
              <a:rPr lang="sv-SE" b="1" dirty="0" smtClean="0"/>
              <a:t>Rotary </a:t>
            </a:r>
            <a:r>
              <a:rPr lang="sv-SE" b="1" dirty="0" err="1" smtClean="0"/>
              <a:t>capacitor</a:t>
            </a:r>
            <a:r>
              <a:rPr lang="sv-SE" b="1" dirty="0" smtClean="0"/>
              <a:t> </a:t>
            </a:r>
            <a:r>
              <a:rPr lang="sv-SE" dirty="0" err="1" smtClean="0"/>
              <a:t>assemblies</a:t>
            </a:r>
            <a:r>
              <a:rPr lang="sv-SE" dirty="0" smtClean="0"/>
              <a:t> </a:t>
            </a:r>
            <a:r>
              <a:rPr lang="sv-SE" dirty="0" err="1" smtClean="0"/>
              <a:t>divert</a:t>
            </a:r>
            <a:r>
              <a:rPr lang="sv-SE" dirty="0" smtClean="0"/>
              <a:t> or </a:t>
            </a:r>
            <a:r>
              <a:rPr lang="sv-SE" b="1" dirty="0" err="1" smtClean="0"/>
              <a:t>mitigate</a:t>
            </a:r>
            <a:r>
              <a:rPr lang="sv-SE" dirty="0" smtClean="0"/>
              <a:t> </a:t>
            </a:r>
            <a:r>
              <a:rPr lang="en-US" b="1" dirty="0" smtClean="0"/>
              <a:t>high-frequency</a:t>
            </a:r>
            <a:r>
              <a:rPr lang="sv-SE" b="1" dirty="0" smtClean="0"/>
              <a:t> </a:t>
            </a:r>
            <a:r>
              <a:rPr lang="sv-SE" b="1" dirty="0" err="1" smtClean="0"/>
              <a:t>electrical</a:t>
            </a:r>
            <a:r>
              <a:rPr lang="sv-SE" b="1" dirty="0" smtClean="0"/>
              <a:t> </a:t>
            </a:r>
            <a:r>
              <a:rPr lang="sv-SE" b="1" dirty="0" err="1" smtClean="0"/>
              <a:t>currents</a:t>
            </a:r>
            <a:r>
              <a:rPr lang="sv-SE" b="1" dirty="0" smtClean="0"/>
              <a:t> </a:t>
            </a:r>
            <a:r>
              <a:rPr lang="sv-SE" dirty="0" smtClean="0"/>
              <a:t>and </a:t>
            </a:r>
            <a:r>
              <a:rPr lang="sv-SE" dirty="0" err="1" smtClean="0"/>
              <a:t>voltages</a:t>
            </a:r>
            <a:r>
              <a:rPr lang="sv-SE" dirty="0" smtClean="0"/>
              <a:t> </a:t>
            </a:r>
            <a:r>
              <a:rPr lang="sv-SE" b="1" dirty="0" smtClean="0"/>
              <a:t>in </a:t>
            </a:r>
            <a:r>
              <a:rPr lang="sv-SE" b="1" dirty="0" err="1" smtClean="0"/>
              <a:t>bearings</a:t>
            </a:r>
            <a:r>
              <a:rPr lang="sv-SE" b="1" dirty="0" smtClean="0"/>
              <a:t> </a:t>
            </a:r>
            <a:r>
              <a:rPr lang="sv-SE" dirty="0" err="1" smtClean="0"/>
              <a:t>of</a:t>
            </a:r>
            <a:r>
              <a:rPr lang="sv-SE" dirty="0" smtClean="0"/>
              <a:t> </a:t>
            </a:r>
            <a:r>
              <a:rPr lang="sv-SE" dirty="0" err="1" smtClean="0"/>
              <a:t>electric</a:t>
            </a:r>
            <a:r>
              <a:rPr lang="sv-SE" dirty="0" smtClean="0"/>
              <a:t> </a:t>
            </a:r>
            <a:r>
              <a:rPr lang="sv-SE" dirty="0" err="1" smtClean="0"/>
              <a:t>machinery</a:t>
            </a:r>
            <a:r>
              <a:rPr lang="sv-SE" dirty="0" smtClean="0"/>
              <a:t> (</a:t>
            </a:r>
            <a:r>
              <a:rPr lang="sv-SE" dirty="0" err="1" smtClean="0"/>
              <a:t>e.g</a:t>
            </a:r>
            <a:r>
              <a:rPr lang="sv-SE" dirty="0" smtClean="0"/>
              <a:t>., motors and </a:t>
            </a:r>
            <a:r>
              <a:rPr lang="sv-SE" dirty="0"/>
              <a:t>generators) </a:t>
            </a:r>
            <a:r>
              <a:rPr lang="sv-SE" dirty="0" err="1"/>
              <a:t>without</a:t>
            </a:r>
            <a:r>
              <a:rPr lang="sv-SE" dirty="0"/>
              <a:t> </a:t>
            </a:r>
            <a:r>
              <a:rPr lang="sv-SE" dirty="0" err="1"/>
              <a:t>direct</a:t>
            </a:r>
            <a:r>
              <a:rPr lang="sv-SE" dirty="0"/>
              <a:t> </a:t>
            </a:r>
            <a:r>
              <a:rPr lang="sv-SE" dirty="0" err="1"/>
              <a:t>contact</a:t>
            </a:r>
            <a:r>
              <a:rPr lang="sv-SE" dirty="0"/>
              <a:t> </a:t>
            </a:r>
            <a:r>
              <a:rPr lang="sv-SE" dirty="0" err="1"/>
              <a:t>with</a:t>
            </a:r>
            <a:r>
              <a:rPr lang="sv-SE" dirty="0"/>
              <a:t> </a:t>
            </a:r>
            <a:r>
              <a:rPr lang="sv-SE" dirty="0" smtClean="0"/>
              <a:t>the </a:t>
            </a:r>
            <a:r>
              <a:rPr lang="sv-SE" dirty="0" err="1"/>
              <a:t>bearings</a:t>
            </a:r>
            <a:r>
              <a:rPr lang="sv-SE" dirty="0"/>
              <a:t>. </a:t>
            </a:r>
            <a:r>
              <a:rPr lang="sv-SE" dirty="0" smtClean="0"/>
              <a:t> </a:t>
            </a:r>
          </a:p>
          <a:p>
            <a:endParaRPr lang="en-US" dirty="0"/>
          </a:p>
          <a:p>
            <a:r>
              <a:rPr lang="sv-SE" dirty="0"/>
              <a:t>United States Patent, US 9,653,970B2</a:t>
            </a:r>
            <a:endParaRPr lang="sv-SE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775" y="2556193"/>
            <a:ext cx="5379169" cy="430180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795" y="3030080"/>
            <a:ext cx="4103799" cy="3665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5116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2760" y="153115"/>
            <a:ext cx="6324600" cy="1325563"/>
          </a:xfrm>
        </p:spPr>
        <p:txBody>
          <a:bodyPr/>
          <a:lstStyle/>
          <a:p>
            <a:r>
              <a:rPr lang="en-US" dirty="0" smtClean="0">
                <a:solidFill>
                  <a:srgbClr val="C00000"/>
                </a:solidFill>
              </a:rPr>
              <a:t>Capacitive Power Transfer</a:t>
            </a:r>
            <a:endParaRPr lang="sv-SE" dirty="0">
              <a:solidFill>
                <a:srgbClr val="C0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82880" y="1356940"/>
            <a:ext cx="533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dirty="0" err="1"/>
              <a:t>Analysis</a:t>
            </a:r>
            <a:r>
              <a:rPr lang="sv-SE" dirty="0"/>
              <a:t> and </a:t>
            </a:r>
            <a:r>
              <a:rPr lang="sv-SE" dirty="0" err="1"/>
              <a:t>Utilization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Common-Mode </a:t>
            </a:r>
            <a:r>
              <a:rPr lang="sv-SE" dirty="0" err="1"/>
              <a:t>Voltage</a:t>
            </a:r>
            <a:r>
              <a:rPr lang="sv-SE" dirty="0"/>
              <a:t> in </a:t>
            </a:r>
            <a:r>
              <a:rPr lang="sv-SE" dirty="0" err="1"/>
              <a:t>Inverters</a:t>
            </a:r>
            <a:r>
              <a:rPr lang="sv-SE" dirty="0"/>
              <a:t> for Power </a:t>
            </a:r>
            <a:r>
              <a:rPr lang="sv-SE" dirty="0" err="1" smtClean="0"/>
              <a:t>Supply</a:t>
            </a:r>
            <a:r>
              <a:rPr lang="sv-SE" dirty="0" smtClean="0"/>
              <a:t>, </a:t>
            </a:r>
            <a:r>
              <a:rPr lang="en-US" dirty="0"/>
              <a:t>IEEE TRANSACTIONS ON POWER ELECTRONICS, VOL. 38, NO. 7, JULY 2023</a:t>
            </a:r>
            <a:endParaRPr lang="sv-SE" dirty="0"/>
          </a:p>
        </p:txBody>
      </p:sp>
      <p:sp>
        <p:nvSpPr>
          <p:cNvPr id="6" name="Rectangle 5"/>
          <p:cNvSpPr/>
          <p:nvPr/>
        </p:nvSpPr>
        <p:spPr>
          <a:xfrm>
            <a:off x="182880" y="2475548"/>
            <a:ext cx="544576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dirty="0"/>
              <a:t>From the </a:t>
            </a:r>
            <a:r>
              <a:rPr lang="sv-SE" dirty="0" err="1"/>
              <a:t>perspective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b="1" dirty="0" err="1"/>
              <a:t>energy</a:t>
            </a:r>
            <a:r>
              <a:rPr lang="sv-SE" b="1" dirty="0"/>
              <a:t> </a:t>
            </a:r>
            <a:r>
              <a:rPr lang="sv-SE" b="1" dirty="0" err="1"/>
              <a:t>utilization</a:t>
            </a:r>
            <a:r>
              <a:rPr lang="sv-SE" dirty="0"/>
              <a:t>, </a:t>
            </a:r>
            <a:r>
              <a:rPr lang="sv-SE" dirty="0" err="1"/>
              <a:t>this</a:t>
            </a:r>
            <a:r>
              <a:rPr lang="sv-SE" dirty="0"/>
              <a:t> </a:t>
            </a:r>
            <a:r>
              <a:rPr lang="sv-SE" dirty="0" err="1"/>
              <a:t>article</a:t>
            </a:r>
            <a:r>
              <a:rPr lang="sv-SE" dirty="0"/>
              <a:t> </a:t>
            </a:r>
            <a:r>
              <a:rPr lang="sv-SE" dirty="0" err="1"/>
              <a:t>proposed</a:t>
            </a:r>
            <a:r>
              <a:rPr lang="sv-SE" dirty="0"/>
              <a:t> a </a:t>
            </a:r>
            <a:r>
              <a:rPr lang="sv-SE" dirty="0" err="1"/>
              <a:t>method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dirty="0" err="1"/>
              <a:t>powering</a:t>
            </a:r>
            <a:r>
              <a:rPr lang="sv-SE" dirty="0"/>
              <a:t> the </a:t>
            </a:r>
            <a:r>
              <a:rPr lang="sv-SE" dirty="0" err="1"/>
              <a:t>load</a:t>
            </a:r>
            <a:r>
              <a:rPr lang="sv-SE" dirty="0"/>
              <a:t> by </a:t>
            </a:r>
            <a:r>
              <a:rPr lang="sv-SE" dirty="0" err="1"/>
              <a:t>collecting</a:t>
            </a:r>
            <a:r>
              <a:rPr lang="sv-SE" dirty="0"/>
              <a:t> the </a:t>
            </a:r>
            <a:r>
              <a:rPr lang="sv-SE" dirty="0" err="1"/>
              <a:t>energy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CMV.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l="2315"/>
          <a:stretch/>
        </p:blipFill>
        <p:spPr>
          <a:xfrm>
            <a:off x="6154420" y="1185958"/>
            <a:ext cx="5577003" cy="569512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033520"/>
            <a:ext cx="5805259" cy="2492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9810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C00000"/>
                </a:solidFill>
              </a:rPr>
              <a:t>Constant dv/</a:t>
            </a:r>
            <a:r>
              <a:rPr lang="en-US" dirty="0" err="1" smtClean="0">
                <a:solidFill>
                  <a:srgbClr val="C00000"/>
                </a:solidFill>
              </a:rPr>
              <a:t>dt</a:t>
            </a:r>
            <a:endParaRPr lang="sv-SE" dirty="0">
              <a:solidFill>
                <a:srgbClr val="C0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23520" y="1690688"/>
            <a:ext cx="660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dirty="0" err="1"/>
              <a:t>Dynamic</a:t>
            </a:r>
            <a:r>
              <a:rPr lang="sv-SE" dirty="0"/>
              <a:t> dv/dt Control </a:t>
            </a:r>
            <a:r>
              <a:rPr lang="sv-SE" dirty="0" err="1"/>
              <a:t>Strategy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dirty="0" err="1"/>
              <a:t>SiC</a:t>
            </a:r>
            <a:r>
              <a:rPr lang="sv-SE" dirty="0"/>
              <a:t> MOSFET for </a:t>
            </a:r>
            <a:r>
              <a:rPr lang="sv-SE" dirty="0" err="1"/>
              <a:t>Switching</a:t>
            </a:r>
            <a:r>
              <a:rPr lang="sv-SE" dirty="0"/>
              <a:t> Loss </a:t>
            </a:r>
            <a:r>
              <a:rPr lang="sv-SE" dirty="0" err="1"/>
              <a:t>Reduction</a:t>
            </a:r>
            <a:r>
              <a:rPr lang="sv-SE" dirty="0"/>
              <a:t> in the </a:t>
            </a:r>
            <a:r>
              <a:rPr lang="sv-SE" dirty="0" err="1"/>
              <a:t>Operational</a:t>
            </a:r>
            <a:r>
              <a:rPr lang="sv-SE" dirty="0"/>
              <a:t> Power </a:t>
            </a:r>
            <a:r>
              <a:rPr lang="sv-SE" dirty="0" smtClean="0"/>
              <a:t>Range, </a:t>
            </a:r>
            <a:r>
              <a:rPr lang="en-US" dirty="0"/>
              <a:t>IEEE TRANSACTIONS ON POWER ELECTRONICS, VOL. 37, NO. 6, JUNE </a:t>
            </a:r>
            <a:r>
              <a:rPr lang="en-US" dirty="0" smtClean="0"/>
              <a:t>2022- LETTER</a:t>
            </a:r>
            <a:endParaRPr lang="sv-SE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750" y="3241040"/>
            <a:ext cx="6693079" cy="315880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7586" y="554156"/>
            <a:ext cx="4389962" cy="3527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6842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6779</TotalTime>
  <Words>1742</Words>
  <Application>Microsoft Office PowerPoint</Application>
  <PresentationFormat>Widescreen</PresentationFormat>
  <Paragraphs>217</Paragraphs>
  <Slides>26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Calibri</vt:lpstr>
      <vt:lpstr>Calibri Light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Capacitive Power Transfer</vt:lpstr>
      <vt:lpstr>Capacitive Power Transfer</vt:lpstr>
      <vt:lpstr>Constant dv/dt</vt:lpstr>
    </vt:vector>
  </TitlesOfParts>
  <Company>KTH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Enes Ayaz</dc:creator>
  <cp:lastModifiedBy>Enes Ayaz</cp:lastModifiedBy>
  <cp:revision>82</cp:revision>
  <dcterms:created xsi:type="dcterms:W3CDTF">2023-07-06T09:42:55Z</dcterms:created>
  <dcterms:modified xsi:type="dcterms:W3CDTF">2024-10-02T14:05:41Z</dcterms:modified>
</cp:coreProperties>
</file>