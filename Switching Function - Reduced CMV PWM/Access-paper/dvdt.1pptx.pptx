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3" r:id="rId3"/>
    <p:sldId id="257" r:id="rId4"/>
    <p:sldId id="274" r:id="rId5"/>
    <p:sldId id="262" r:id="rId6"/>
    <p:sldId id="260" r:id="rId7"/>
    <p:sldId id="259" r:id="rId8"/>
    <p:sldId id="263" r:id="rId9"/>
    <p:sldId id="264" r:id="rId10"/>
    <p:sldId id="265" r:id="rId11"/>
    <p:sldId id="267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ED0"/>
    <a:srgbClr val="FF00FF"/>
    <a:srgbClr val="0033CC"/>
    <a:srgbClr val="02C9CE"/>
    <a:srgbClr val="BC0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3" autoAdjust="0"/>
    <p:restoredTop sz="74262" autoAdjust="0"/>
  </p:normalViewPr>
  <p:slideViewPr>
    <p:cSldViewPr snapToGrid="0">
      <p:cViewPr>
        <p:scale>
          <a:sx n="100" d="100"/>
          <a:sy n="100" d="100"/>
        </p:scale>
        <p:origin x="2232" y="1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242EF-9523-44CC-A9D6-8A54B75E8B6F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A3E73-AB6F-473D-8A0C-3F8FACBF84D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551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48059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1664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5037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7811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04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193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0826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344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761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154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623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2451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165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037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795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857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46C5C-7B3C-46DF-B479-A650EF2753E0}" type="datetimeFigureOut">
              <a:rPr lang="sv-SE" smtClean="0"/>
              <a:t>2024-09-24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267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3.emf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8.emf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1.emf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2.emf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1.png"/><Relationship Id="rId4" Type="http://schemas.openxmlformats.org/officeDocument/2006/relationships/image" Target="../media/image18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7.png"/><Relationship Id="rId3" Type="http://schemas.openxmlformats.org/officeDocument/2006/relationships/image" Target="../media/image25.emf"/><Relationship Id="rId7" Type="http://schemas.openxmlformats.org/officeDocument/2006/relationships/image" Target="../media/image210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11" Type="http://schemas.openxmlformats.org/officeDocument/2006/relationships/image" Target="../media/image25.png"/><Relationship Id="rId5" Type="http://schemas.openxmlformats.org/officeDocument/2006/relationships/image" Target="../media/image190.png"/><Relationship Id="rId10" Type="http://schemas.openxmlformats.org/officeDocument/2006/relationships/image" Target="../media/image24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emf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.emf"/><Relationship Id="rId4" Type="http://schemas.openxmlformats.org/officeDocument/2006/relationships/image" Target="../media/image2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67" y="771252"/>
            <a:ext cx="4841789" cy="36313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43578" y="134486"/>
            <a:ext cx="405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CB- SPWM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68" y="657793"/>
            <a:ext cx="5334000" cy="4000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95680" y="5104085"/>
            <a:ext cx="10556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can generate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carrier-based (CB) PWMs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comparing reference signals with triangular carrier signal.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Conventionally, it is common  that one carrier signal is utilized. However, for multi-module or multi-phase inverters,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carrier signals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order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specific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30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50" y="4959250"/>
            <a:ext cx="53340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21055" y="-1054133"/>
            <a:ext cx="5343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CB- SPWM-ACCESS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86880" y="4713301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448123" y="4728418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50" y="712801"/>
            <a:ext cx="5334000" cy="400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86880" y="895975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20" y="4944133"/>
            <a:ext cx="5334000" cy="400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81350" y="8959750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(d)</a:t>
            </a:r>
            <a:endParaRPr lang="sv-SE" sz="2400" dirty="0"/>
          </a:p>
        </p:txBody>
      </p:sp>
      <p:sp>
        <p:nvSpPr>
          <p:cNvPr id="20" name="Rectangle 19"/>
          <p:cNvSpPr/>
          <p:nvPr/>
        </p:nvSpPr>
        <p:spPr>
          <a:xfrm>
            <a:off x="10205259" y="5190083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1" name="Rectangle 20"/>
          <p:cNvSpPr/>
          <p:nvPr/>
        </p:nvSpPr>
        <p:spPr>
          <a:xfrm>
            <a:off x="9959709" y="6151686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Rectangle 21"/>
          <p:cNvSpPr/>
          <p:nvPr/>
        </p:nvSpPr>
        <p:spPr>
          <a:xfrm>
            <a:off x="7129596" y="5174966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Rectangle 22"/>
          <p:cNvSpPr/>
          <p:nvPr/>
        </p:nvSpPr>
        <p:spPr>
          <a:xfrm>
            <a:off x="7732816" y="6151685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Rectangle 23"/>
          <p:cNvSpPr/>
          <p:nvPr/>
        </p:nvSpPr>
        <p:spPr>
          <a:xfrm>
            <a:off x="8521618" y="7098455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5" name="Rectangle 24"/>
          <p:cNvSpPr/>
          <p:nvPr/>
        </p:nvSpPr>
        <p:spPr>
          <a:xfrm>
            <a:off x="9000839" y="7098454"/>
            <a:ext cx="112086" cy="1109117"/>
          </a:xfrm>
          <a:prstGeom prst="rect">
            <a:avLst/>
          </a:prstGeom>
          <a:noFill/>
          <a:ln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380482" y="5465479"/>
                <a:ext cx="827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482" y="5465479"/>
                <a:ext cx="82759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27" idx="1"/>
          </p:cNvCxnSpPr>
          <p:nvPr/>
        </p:nvCxnSpPr>
        <p:spPr>
          <a:xfrm flipH="1">
            <a:off x="7405619" y="5650145"/>
            <a:ext cx="974863" cy="0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7" idx="2"/>
          </p:cNvCxnSpPr>
          <p:nvPr/>
        </p:nvCxnSpPr>
        <p:spPr>
          <a:xfrm flipH="1">
            <a:off x="8059159" y="5834811"/>
            <a:ext cx="735118" cy="641184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7" idx="2"/>
          </p:cNvCxnSpPr>
          <p:nvPr/>
        </p:nvCxnSpPr>
        <p:spPr>
          <a:xfrm flipH="1">
            <a:off x="8521618" y="5834811"/>
            <a:ext cx="272659" cy="1175259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7" idx="2"/>
          </p:cNvCxnSpPr>
          <p:nvPr/>
        </p:nvCxnSpPr>
        <p:spPr>
          <a:xfrm>
            <a:off x="8794277" y="5834811"/>
            <a:ext cx="270118" cy="1263643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2"/>
          </p:cNvCxnSpPr>
          <p:nvPr/>
        </p:nvCxnSpPr>
        <p:spPr>
          <a:xfrm>
            <a:off x="8794277" y="5834811"/>
            <a:ext cx="735118" cy="587629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27" idx="3"/>
          </p:cNvCxnSpPr>
          <p:nvPr/>
        </p:nvCxnSpPr>
        <p:spPr>
          <a:xfrm>
            <a:off x="9208072" y="5650145"/>
            <a:ext cx="863723" cy="0"/>
          </a:xfrm>
          <a:prstGeom prst="straightConnector1">
            <a:avLst/>
          </a:prstGeom>
          <a:ln>
            <a:solidFill>
              <a:srgbClr val="FE7ED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350" y="73166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03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51" y="2578082"/>
            <a:ext cx="4055533" cy="304165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574" y="2650584"/>
            <a:ext cx="3700839" cy="277562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4105359" y="2987166"/>
            <a:ext cx="451083" cy="41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6351136" y="2987166"/>
            <a:ext cx="481432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828858" y="2904160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858" y="2904160"/>
                <a:ext cx="126621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6091935" y="3670322"/>
            <a:ext cx="744047" cy="3206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081623" y="3673528"/>
            <a:ext cx="835110" cy="811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793431" y="3500665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431" y="3500665"/>
                <a:ext cx="126621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826013" y="4771796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13" y="4771796"/>
                <a:ext cx="1266214" cy="400110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4105359" y="4326843"/>
            <a:ext cx="185721" cy="294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621786" y="4362564"/>
            <a:ext cx="217666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4560" y="803998"/>
            <a:ext cx="10556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zoom in on 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period of the carrier signal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 observe that the transition time of PWMs for each leg do not intersect.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have common mode voltage at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times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carrier signal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triplen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12635" y="2261012"/>
            <a:ext cx="125606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/>
              <a:t>CMV</a:t>
            </a:r>
            <a:endParaRPr lang="sv-SE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958181" y="3083176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181" y="3083176"/>
                <a:ext cx="1266214" cy="5597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377448" y="2203005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448" y="2203005"/>
                <a:ext cx="1266214" cy="5597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8320967" y="3926387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967" y="3926387"/>
                <a:ext cx="1266214" cy="5597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8806027" y="475943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027" y="4759430"/>
                <a:ext cx="1266214" cy="5597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994210" y="4487637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210" y="4487637"/>
                <a:ext cx="1266214" cy="5597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0440713" y="370072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713" y="3700720"/>
                <a:ext cx="1266214" cy="5597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0588583" y="282433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583" y="2824330"/>
                <a:ext cx="1266214" cy="5597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219" y="2711092"/>
            <a:ext cx="3700839" cy="277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1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194" y="3424017"/>
            <a:ext cx="5334000" cy="4000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600" y="-734999"/>
            <a:ext cx="53340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99480" y="3290901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(a)</a:t>
            </a:r>
            <a:endParaRPr lang="sv-SE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660723" y="3306018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(b)</a:t>
            </a:r>
            <a:endParaRPr lang="sv-SE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5414064" y="7372666"/>
            <a:ext cx="54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(c)</a:t>
            </a:r>
            <a:endParaRPr lang="sv-SE" sz="24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176" y="-694482"/>
            <a:ext cx="5334000" cy="4000500"/>
          </a:xfrm>
          <a:prstGeom prst="rect">
            <a:avLst/>
          </a:prstGeom>
        </p:spPr>
      </p:pic>
      <p:cxnSp>
        <p:nvCxnSpPr>
          <p:cNvPr id="43" name="Straight Arrow Connector 42"/>
          <p:cNvCxnSpPr/>
          <p:nvPr/>
        </p:nvCxnSpPr>
        <p:spPr>
          <a:xfrm flipH="1">
            <a:off x="6102352" y="-257175"/>
            <a:ext cx="819148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8893196" y="-257175"/>
            <a:ext cx="835004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7274241" y="-400110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241" y="-400110"/>
                <a:ext cx="126621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7263118" y="358715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118" y="358715"/>
                <a:ext cx="1266214" cy="400110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7300461" y="1590570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461" y="1590570"/>
                <a:ext cx="126621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/>
          <p:nvPr/>
        </p:nvCxnSpPr>
        <p:spPr>
          <a:xfrm>
            <a:off x="9446474" y="1790625"/>
            <a:ext cx="281726" cy="294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6102351" y="1793567"/>
            <a:ext cx="217666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 flipV="1">
            <a:off x="6102351" y="758825"/>
            <a:ext cx="1435099" cy="317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8255000" y="758825"/>
            <a:ext cx="1473200" cy="317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/>
              <p:cNvSpPr txBox="1"/>
              <p:nvPr/>
            </p:nvSpPr>
            <p:spPr>
              <a:xfrm>
                <a:off x="3456873" y="3144133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sv-SE" sz="1400" b="1" dirty="0"/>
              </a:p>
            </p:txBody>
          </p:sp>
        </mc:Choice>
        <mc:Fallback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73" y="3144133"/>
                <a:ext cx="1266214" cy="5597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/>
              <p:cNvSpPr txBox="1"/>
              <p:nvPr/>
            </p:nvSpPr>
            <p:spPr>
              <a:xfrm>
                <a:off x="4089980" y="4109305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980" y="4109305"/>
                <a:ext cx="1266214" cy="5597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/>
              <p:cNvSpPr txBox="1"/>
              <p:nvPr/>
            </p:nvSpPr>
            <p:spPr>
              <a:xfrm>
                <a:off x="4290069" y="5159949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069" y="5159949"/>
                <a:ext cx="1266214" cy="5597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/>
              <p:cNvSpPr txBox="1"/>
              <p:nvPr/>
            </p:nvSpPr>
            <p:spPr>
              <a:xfrm>
                <a:off x="5053803" y="6236079"/>
                <a:ext cx="12662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sv-SE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sv-SE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sv-SE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sv-SE" sz="1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sv-SE" sz="1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sub>
                      </m:sSub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3803" y="6236079"/>
                <a:ext cx="1266214" cy="338554"/>
              </a:xfrm>
              <a:prstGeom prst="rect">
                <a:avLst/>
              </a:prstGeom>
              <a:blipFill>
                <a:blip r:embed="rId1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/>
              <p:cNvSpPr txBox="1"/>
              <p:nvPr/>
            </p:nvSpPr>
            <p:spPr>
              <a:xfrm>
                <a:off x="5655286" y="5157348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286" y="5157348"/>
                <a:ext cx="1266214" cy="5597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/>
              <p:cNvSpPr txBox="1"/>
              <p:nvPr/>
            </p:nvSpPr>
            <p:spPr>
              <a:xfrm>
                <a:off x="5996904" y="4109305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904" y="4109305"/>
                <a:ext cx="1266214" cy="5597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/>
              <p:cNvSpPr txBox="1"/>
              <p:nvPr/>
            </p:nvSpPr>
            <p:spPr>
              <a:xfrm>
                <a:off x="6740111" y="3144133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sv-SE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sv-SE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111" y="3144133"/>
                <a:ext cx="1266214" cy="5597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27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6781" y="428078"/>
            <a:ext cx="105562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carrier signal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mode voltage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it should be considered that in such case we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differential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well.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frequency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current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load is inductive in differential mode, it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mode current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common mode load is capacitive.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Accordingly,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utilize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common  mode voltage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after that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frequency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mode current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Several algorithms are utilized in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However, they mostly concern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tripled harmonics.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transition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should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2-level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multi-level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ones.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sharper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devices,  which is needed to reduce the switching losses. These sharp transition, which also means that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dv/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turn in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common mode current    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38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7005" y="217556"/>
            <a:ext cx="6096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Multiple Carrier Signals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15" y="2513330"/>
            <a:ext cx="5334000" cy="4000500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>
            <a:off x="975632" y="2983207"/>
            <a:ext cx="961117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4035264" y="2983207"/>
            <a:ext cx="967028" cy="942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163689" y="2792575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689" y="2792575"/>
                <a:ext cx="1657761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 flipH="1">
            <a:off x="3449785" y="4023693"/>
            <a:ext cx="1552507" cy="4594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975631" y="4023693"/>
            <a:ext cx="1493970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130813" y="3823638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813" y="3823638"/>
                <a:ext cx="1657761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163689" y="5071003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689" y="5071003"/>
                <a:ext cx="1657761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/>
          <p:nvPr/>
        </p:nvCxnSpPr>
        <p:spPr>
          <a:xfrm flipV="1">
            <a:off x="919518" y="5271058"/>
            <a:ext cx="480558" cy="198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4568116" y="5257089"/>
            <a:ext cx="434176" cy="703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5451" y="1081088"/>
            <a:ext cx="10556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multiple carrier signals, we can change the starting points of the PWMs while the duty cycles are still the same.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transitions of PWMs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introducing carrier signals.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99448" y="2817539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/>
          <p:cNvSpPr/>
          <p:nvPr/>
        </p:nvSpPr>
        <p:spPr>
          <a:xfrm>
            <a:off x="3936871" y="2817539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Rectangle 27"/>
          <p:cNvSpPr/>
          <p:nvPr/>
        </p:nvSpPr>
        <p:spPr>
          <a:xfrm>
            <a:off x="2270808" y="3916544"/>
            <a:ext cx="370639" cy="94244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ctangle 28"/>
          <p:cNvSpPr/>
          <p:nvPr/>
        </p:nvSpPr>
        <p:spPr>
          <a:xfrm>
            <a:off x="3337994" y="3936353"/>
            <a:ext cx="370639" cy="942441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Rectangle 29"/>
          <p:cNvSpPr/>
          <p:nvPr/>
        </p:nvSpPr>
        <p:spPr>
          <a:xfrm>
            <a:off x="1180860" y="4915022"/>
            <a:ext cx="370639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Rectangle 30"/>
          <p:cNvSpPr/>
          <p:nvPr/>
        </p:nvSpPr>
        <p:spPr>
          <a:xfrm>
            <a:off x="4333458" y="4915022"/>
            <a:ext cx="370639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2" name="Rectangle 31"/>
          <p:cNvSpPr/>
          <p:nvPr/>
        </p:nvSpPr>
        <p:spPr>
          <a:xfrm>
            <a:off x="7062426" y="2796859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3" name="Rectangle 42"/>
          <p:cNvSpPr/>
          <p:nvPr/>
        </p:nvSpPr>
        <p:spPr>
          <a:xfrm>
            <a:off x="8317954" y="4023693"/>
            <a:ext cx="312421" cy="102864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4" name="Rectangle 43"/>
          <p:cNvSpPr/>
          <p:nvPr/>
        </p:nvSpPr>
        <p:spPr>
          <a:xfrm>
            <a:off x="7081534" y="4042360"/>
            <a:ext cx="293312" cy="1028643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5" name="Rectangle 44"/>
          <p:cNvSpPr/>
          <p:nvPr/>
        </p:nvSpPr>
        <p:spPr>
          <a:xfrm>
            <a:off x="9897193" y="5257088"/>
            <a:ext cx="312420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6" name="Rectangle 45"/>
          <p:cNvSpPr/>
          <p:nvPr/>
        </p:nvSpPr>
        <p:spPr>
          <a:xfrm>
            <a:off x="9897193" y="2817539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7" name="Rectangle 46"/>
          <p:cNvSpPr/>
          <p:nvPr/>
        </p:nvSpPr>
        <p:spPr>
          <a:xfrm>
            <a:off x="8326674" y="5264121"/>
            <a:ext cx="312420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extBox 1"/>
          <p:cNvSpPr txBox="1"/>
          <p:nvPr/>
        </p:nvSpPr>
        <p:spPr>
          <a:xfrm>
            <a:off x="6771638" y="3172035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  <p:sp>
        <p:nvSpPr>
          <p:cNvPr id="48" name="TextBox 47"/>
          <p:cNvSpPr txBox="1"/>
          <p:nvPr/>
        </p:nvSpPr>
        <p:spPr>
          <a:xfrm>
            <a:off x="8082703" y="4353349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  <p:sp>
        <p:nvSpPr>
          <p:cNvPr id="49" name="TextBox 48"/>
          <p:cNvSpPr txBox="1"/>
          <p:nvPr/>
        </p:nvSpPr>
        <p:spPr>
          <a:xfrm>
            <a:off x="9620322" y="315732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0" name="TextBox 49"/>
          <p:cNvSpPr txBox="1"/>
          <p:nvPr/>
        </p:nvSpPr>
        <p:spPr>
          <a:xfrm>
            <a:off x="6820218" y="4540164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1" name="TextBox 50"/>
          <p:cNvSpPr txBox="1"/>
          <p:nvPr/>
        </p:nvSpPr>
        <p:spPr>
          <a:xfrm>
            <a:off x="8049803" y="548813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2" name="TextBox 51"/>
          <p:cNvSpPr txBox="1"/>
          <p:nvPr/>
        </p:nvSpPr>
        <p:spPr>
          <a:xfrm>
            <a:off x="9615687" y="548813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42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49691" y="-15371"/>
            <a:ext cx="5153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SPWM- Problem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1755" y="745996"/>
            <a:ext cx="5334000" cy="40005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>
          <a:xfrm>
            <a:off x="573162" y="1241407"/>
            <a:ext cx="961117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3632794" y="1241407"/>
            <a:ext cx="967028" cy="942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761219" y="1050775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19" y="1050775"/>
                <a:ext cx="1657761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H="1">
            <a:off x="3047315" y="2281893"/>
            <a:ext cx="1552507" cy="4594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73161" y="2281893"/>
            <a:ext cx="1493970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728343" y="2081838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343" y="2081838"/>
                <a:ext cx="1657761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761219" y="3329203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19" y="3329203"/>
                <a:ext cx="1657761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 flipV="1">
            <a:off x="517048" y="3529258"/>
            <a:ext cx="480558" cy="198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65646" y="3515289"/>
            <a:ext cx="434176" cy="703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48740" y="1050775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5" name="Rectangle 44"/>
          <p:cNvSpPr/>
          <p:nvPr/>
        </p:nvSpPr>
        <p:spPr>
          <a:xfrm>
            <a:off x="3486163" y="1050775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6" name="Rectangle 45"/>
          <p:cNvSpPr/>
          <p:nvPr/>
        </p:nvSpPr>
        <p:spPr>
          <a:xfrm>
            <a:off x="1897380" y="2170460"/>
            <a:ext cx="370639" cy="94244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8" name="Rectangle 47"/>
          <p:cNvSpPr/>
          <p:nvPr/>
        </p:nvSpPr>
        <p:spPr>
          <a:xfrm>
            <a:off x="2887286" y="2169589"/>
            <a:ext cx="370639" cy="942441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9" name="Rectangle 48"/>
          <p:cNvSpPr/>
          <p:nvPr/>
        </p:nvSpPr>
        <p:spPr>
          <a:xfrm>
            <a:off x="823454" y="3168680"/>
            <a:ext cx="370639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0" name="Rectangle 49"/>
          <p:cNvSpPr/>
          <p:nvPr/>
        </p:nvSpPr>
        <p:spPr>
          <a:xfrm>
            <a:off x="3930988" y="3148258"/>
            <a:ext cx="370639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Rectangle 25"/>
          <p:cNvSpPr/>
          <p:nvPr/>
        </p:nvSpPr>
        <p:spPr>
          <a:xfrm>
            <a:off x="7336979" y="978885"/>
            <a:ext cx="312420" cy="1119685"/>
          </a:xfrm>
          <a:prstGeom prst="rect">
            <a:avLst/>
          </a:prstGeom>
          <a:noFill/>
          <a:ln w="38100">
            <a:solidFill>
              <a:srgbClr val="C000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/>
          <p:cNvSpPr/>
          <p:nvPr/>
        </p:nvSpPr>
        <p:spPr>
          <a:xfrm>
            <a:off x="8857182" y="984788"/>
            <a:ext cx="312420" cy="1119685"/>
          </a:xfrm>
          <a:prstGeom prst="rect">
            <a:avLst/>
          </a:prstGeom>
          <a:noFill/>
          <a:ln w="38100">
            <a:solidFill>
              <a:srgbClr val="FFC0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Rectangle 27"/>
          <p:cNvSpPr/>
          <p:nvPr/>
        </p:nvSpPr>
        <p:spPr>
          <a:xfrm>
            <a:off x="8089582" y="2279956"/>
            <a:ext cx="316893" cy="1047582"/>
          </a:xfrm>
          <a:prstGeom prst="rect">
            <a:avLst/>
          </a:prstGeom>
          <a:noFill/>
          <a:ln w="38100">
            <a:solidFill>
              <a:srgbClr val="0070C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ctangle 28"/>
          <p:cNvSpPr/>
          <p:nvPr/>
        </p:nvSpPr>
        <p:spPr>
          <a:xfrm>
            <a:off x="7332506" y="2274508"/>
            <a:ext cx="314820" cy="1122583"/>
          </a:xfrm>
          <a:prstGeom prst="rect">
            <a:avLst/>
          </a:prstGeom>
          <a:noFill/>
          <a:ln w="38100">
            <a:solidFill>
              <a:srgbClr val="02C9CE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Rectangle 29"/>
          <p:cNvSpPr/>
          <p:nvPr/>
        </p:nvSpPr>
        <p:spPr>
          <a:xfrm>
            <a:off x="8852709" y="3529888"/>
            <a:ext cx="316893" cy="1004165"/>
          </a:xfrm>
          <a:prstGeom prst="rect">
            <a:avLst/>
          </a:prstGeom>
          <a:noFill/>
          <a:ln w="38100">
            <a:solidFill>
              <a:srgbClr val="BC04C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Rectangle 30"/>
          <p:cNvSpPr/>
          <p:nvPr/>
        </p:nvSpPr>
        <p:spPr>
          <a:xfrm>
            <a:off x="8091656" y="3514670"/>
            <a:ext cx="314819" cy="1004165"/>
          </a:xfrm>
          <a:prstGeom prst="rect">
            <a:avLst/>
          </a:prstGeom>
          <a:noFill/>
          <a:ln w="38100">
            <a:solidFill>
              <a:srgbClr val="FE7ED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6506399" y="1253991"/>
            <a:ext cx="983517" cy="76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489916" y="1261610"/>
            <a:ext cx="0" cy="6949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463949" y="1956608"/>
            <a:ext cx="1547206" cy="165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9011155" y="1261610"/>
            <a:ext cx="0" cy="6949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9011155" y="1264349"/>
            <a:ext cx="983517" cy="76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492837" y="978301"/>
            <a:ext cx="11516" cy="37342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8742960" y="984936"/>
            <a:ext cx="4754" cy="37209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6522907" y="3196354"/>
            <a:ext cx="983517" cy="7619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7498817" y="2488300"/>
            <a:ext cx="0" cy="694998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7513520" y="2514821"/>
            <a:ext cx="748817" cy="0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8262337" y="2488300"/>
            <a:ext cx="0" cy="694998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8262337" y="3183298"/>
            <a:ext cx="1775618" cy="1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6529720" y="4355098"/>
            <a:ext cx="1732728" cy="14504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8248028" y="3660100"/>
            <a:ext cx="0" cy="694998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8248028" y="3660100"/>
            <a:ext cx="748817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9011155" y="3660100"/>
            <a:ext cx="0" cy="694998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8996845" y="4355098"/>
            <a:ext cx="1022492" cy="381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23454" y="4659641"/>
                <a:ext cx="2925081" cy="676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54" y="4659641"/>
                <a:ext cx="2925081" cy="6765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823454" y="6075463"/>
                <a:ext cx="3858532" cy="681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54" y="6075463"/>
                <a:ext cx="3858532" cy="6816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80138" y="5376553"/>
                <a:ext cx="3829956" cy="681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38" y="5376553"/>
                <a:ext cx="3829956" cy="6816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962847" y="5456620"/>
                <a:ext cx="29250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847" y="5456620"/>
                <a:ext cx="2925081" cy="400110"/>
              </a:xfrm>
              <a:prstGeom prst="rect">
                <a:avLst/>
              </a:prstGeom>
              <a:blipFill>
                <a:blip r:embed="rId1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439150" y="4705874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150" y="4705874"/>
                <a:ext cx="190758" cy="276999"/>
              </a:xfrm>
              <a:prstGeom prst="rect">
                <a:avLst/>
              </a:prstGeom>
              <a:blipFill>
                <a:blip r:embed="rId11"/>
                <a:stretch>
                  <a:fillRect l="-28125" r="-28125" b="-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8622436" y="4690656"/>
                <a:ext cx="3029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1" i="1" smtClean="0">
                          <a:latin typeface="Cambria Math" panose="02040503050406030204" pitchFamily="18" charset="0"/>
                        </a:rPr>
                        <m:t>𝑻𝒔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2436" y="4690656"/>
                <a:ext cx="302903" cy="276999"/>
              </a:xfrm>
              <a:prstGeom prst="rect">
                <a:avLst/>
              </a:prstGeom>
              <a:blipFill>
                <a:blip r:embed="rId12"/>
                <a:stretch>
                  <a:fillRect l="-18000" r="-22000" b="-652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/>
          <p:nvPr/>
        </p:nvCxnSpPr>
        <p:spPr>
          <a:xfrm>
            <a:off x="9971746" y="1039713"/>
            <a:ext cx="47591" cy="35815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9820294" y="4646236"/>
                <a:ext cx="302903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𝑻𝒔</m:t>
                          </m:r>
                        </m:num>
                        <m:den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294" y="4646236"/>
                <a:ext cx="302903" cy="518604"/>
              </a:xfrm>
              <a:prstGeom prst="rect">
                <a:avLst/>
              </a:prstGeom>
              <a:blipFill>
                <a:blip r:embed="rId13"/>
                <a:stretch>
                  <a:fillRect l="-2000" r="-30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69" idx="3"/>
            <a:endCxn id="73" idx="1"/>
          </p:cNvCxnSpPr>
          <p:nvPr/>
        </p:nvCxnSpPr>
        <p:spPr>
          <a:xfrm flipV="1">
            <a:off x="7887928" y="4905538"/>
            <a:ext cx="1932366" cy="7511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5948" y="5258326"/>
            <a:ext cx="26653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impossible to equate all switching states because the sum of duty cycles of SPWM is bigger than one period.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9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00" y="86756"/>
            <a:ext cx="9977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SPWM- Solution: DC Injected Reference signal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978" y="907673"/>
            <a:ext cx="4060620" cy="30454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288" y="941014"/>
            <a:ext cx="3971712" cy="2978784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56" y="794642"/>
            <a:ext cx="4067968" cy="3050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074236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Single carrier signal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5181600" y="4074236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Multiple carrier signal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9377680" y="4066170"/>
            <a:ext cx="2357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Multiple carrier signal with DC injected reference signal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992676" y="4647345"/>
                <a:ext cx="4003244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4647345"/>
                <a:ext cx="4003244" cy="8699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992676" y="5966284"/>
                <a:ext cx="4551884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5966284"/>
                <a:ext cx="4551884" cy="8699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3992676" y="5307285"/>
                <a:ext cx="4493600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5307285"/>
                <a:ext cx="4493600" cy="8699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499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59" y="554990"/>
            <a:ext cx="4055533" cy="3041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399" y="554990"/>
            <a:ext cx="4055533" cy="304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83760" y="93325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Carrier Signal 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959" y="3926225"/>
            <a:ext cx="4071593" cy="30536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399" y="3926225"/>
            <a:ext cx="4055533" cy="3041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7878" y="3540760"/>
            <a:ext cx="7073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CPS- 0-120-240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34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39" y="3708400"/>
            <a:ext cx="4199467" cy="314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358" y="3825875"/>
            <a:ext cx="4042833" cy="3032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1360" y="116840"/>
            <a:ext cx="1088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(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CPS- Fundamental Component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4272" y="447040"/>
            <a:ext cx="3987800" cy="2990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358" y="447040"/>
            <a:ext cx="3987800" cy="2990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1360" y="3342313"/>
            <a:ext cx="1088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(DC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injected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CPS- Total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35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83760" y="0"/>
            <a:ext cx="3281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Non-Idealities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49" y="786922"/>
            <a:ext cx="5547997" cy="41609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86922"/>
            <a:ext cx="5832476" cy="437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1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53280" y="213360"/>
            <a:ext cx="2621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Drawbacks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6621" y="921246"/>
            <a:ext cx="10556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modulation is limited to 2/3 due to DC injection.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is difficult due to delay time of practical components and other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nonidealities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16941" y="2153245"/>
            <a:ext cx="543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Further Investigation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8221" y="3197086"/>
            <a:ext cx="10556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SVPWM or third harmonic injection to increase DC-link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dv/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turn-on and turn-off transition. (Variable gate resistance)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mathematical model including dead time, different dv/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effect (different loading).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381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5288" y="21950"/>
            <a:ext cx="6324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Capacitive Power Transfer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551" y="836276"/>
            <a:ext cx="64312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sv-SE" dirty="0" smtClean="0"/>
          </a:p>
          <a:p>
            <a:r>
              <a:rPr lang="sv-SE" b="1" dirty="0" smtClean="0"/>
              <a:t>Rotary </a:t>
            </a:r>
            <a:r>
              <a:rPr lang="sv-SE" b="1" dirty="0" err="1" smtClean="0"/>
              <a:t>capacitor</a:t>
            </a:r>
            <a:r>
              <a:rPr lang="sv-SE" b="1" dirty="0" smtClean="0"/>
              <a:t> </a:t>
            </a:r>
            <a:r>
              <a:rPr lang="sv-SE" dirty="0" err="1" smtClean="0"/>
              <a:t>assemblies</a:t>
            </a:r>
            <a:r>
              <a:rPr lang="sv-SE" dirty="0" smtClean="0"/>
              <a:t> </a:t>
            </a:r>
            <a:r>
              <a:rPr lang="sv-SE" dirty="0" err="1" smtClean="0"/>
              <a:t>divert</a:t>
            </a:r>
            <a:r>
              <a:rPr lang="sv-SE" dirty="0" smtClean="0"/>
              <a:t> or </a:t>
            </a:r>
            <a:r>
              <a:rPr lang="sv-SE" b="1" dirty="0" err="1" smtClean="0"/>
              <a:t>mitigate</a:t>
            </a:r>
            <a:r>
              <a:rPr lang="sv-SE" dirty="0" smtClean="0"/>
              <a:t> </a:t>
            </a:r>
            <a:r>
              <a:rPr lang="en-US" b="1" dirty="0" smtClean="0"/>
              <a:t>high-frequency</a:t>
            </a:r>
            <a:r>
              <a:rPr lang="sv-SE" b="1" dirty="0" smtClean="0"/>
              <a:t> </a:t>
            </a:r>
            <a:r>
              <a:rPr lang="sv-SE" b="1" dirty="0" err="1" smtClean="0"/>
              <a:t>electrical</a:t>
            </a:r>
            <a:r>
              <a:rPr lang="sv-SE" b="1" dirty="0" smtClean="0"/>
              <a:t> </a:t>
            </a:r>
            <a:r>
              <a:rPr lang="sv-SE" b="1" dirty="0" err="1" smtClean="0"/>
              <a:t>currents</a:t>
            </a:r>
            <a:r>
              <a:rPr lang="sv-SE" b="1" dirty="0" smtClean="0"/>
              <a:t> </a:t>
            </a:r>
            <a:r>
              <a:rPr lang="sv-SE" dirty="0" smtClean="0"/>
              <a:t>and </a:t>
            </a:r>
            <a:r>
              <a:rPr lang="sv-SE" dirty="0" err="1" smtClean="0"/>
              <a:t>voltages</a:t>
            </a:r>
            <a:r>
              <a:rPr lang="sv-SE" dirty="0" smtClean="0"/>
              <a:t> </a:t>
            </a:r>
            <a:r>
              <a:rPr lang="sv-SE" b="1" dirty="0" smtClean="0"/>
              <a:t>in </a:t>
            </a:r>
            <a:r>
              <a:rPr lang="sv-SE" b="1" dirty="0" err="1" smtClean="0"/>
              <a:t>bearings</a:t>
            </a:r>
            <a:r>
              <a:rPr lang="sv-SE" b="1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</a:t>
            </a:r>
            <a:r>
              <a:rPr lang="sv-SE" dirty="0" err="1" smtClean="0"/>
              <a:t>electric</a:t>
            </a:r>
            <a:r>
              <a:rPr lang="sv-SE" dirty="0" smtClean="0"/>
              <a:t> </a:t>
            </a:r>
            <a:r>
              <a:rPr lang="sv-SE" dirty="0" err="1" smtClean="0"/>
              <a:t>machinery</a:t>
            </a:r>
            <a:r>
              <a:rPr lang="sv-SE" dirty="0" smtClean="0"/>
              <a:t> (</a:t>
            </a:r>
            <a:r>
              <a:rPr lang="sv-SE" dirty="0" err="1" smtClean="0"/>
              <a:t>e.g</a:t>
            </a:r>
            <a:r>
              <a:rPr lang="sv-SE" dirty="0" smtClean="0"/>
              <a:t>., motors and </a:t>
            </a:r>
            <a:r>
              <a:rPr lang="sv-SE" dirty="0"/>
              <a:t>generators) </a:t>
            </a:r>
            <a:r>
              <a:rPr lang="sv-SE" dirty="0" err="1"/>
              <a:t>without</a:t>
            </a:r>
            <a:r>
              <a:rPr lang="sv-SE" dirty="0"/>
              <a:t> </a:t>
            </a:r>
            <a:r>
              <a:rPr lang="sv-SE" dirty="0" err="1"/>
              <a:t>direct</a:t>
            </a:r>
            <a:r>
              <a:rPr lang="sv-SE" dirty="0"/>
              <a:t> </a:t>
            </a:r>
            <a:r>
              <a:rPr lang="sv-SE" dirty="0" err="1"/>
              <a:t>contact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smtClean="0"/>
              <a:t>the </a:t>
            </a:r>
            <a:r>
              <a:rPr lang="sv-SE" dirty="0" err="1"/>
              <a:t>bearings</a:t>
            </a:r>
            <a:r>
              <a:rPr lang="sv-SE" dirty="0"/>
              <a:t>. </a:t>
            </a:r>
            <a:r>
              <a:rPr lang="sv-SE" dirty="0" smtClean="0"/>
              <a:t> </a:t>
            </a:r>
          </a:p>
          <a:p>
            <a:endParaRPr lang="en-US" dirty="0"/>
          </a:p>
          <a:p>
            <a:r>
              <a:rPr lang="sv-SE" dirty="0"/>
              <a:t>United States Patent, US 9,653,970B2</a:t>
            </a:r>
            <a:endParaRPr lang="sv-SE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775" y="2556193"/>
            <a:ext cx="5379169" cy="43018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795" y="3030080"/>
            <a:ext cx="4103799" cy="366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11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760" y="153115"/>
            <a:ext cx="6324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Capacitive Power Transfer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1356940"/>
            <a:ext cx="533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Analysis</a:t>
            </a:r>
            <a:r>
              <a:rPr lang="sv-SE" dirty="0"/>
              <a:t> and </a:t>
            </a:r>
            <a:r>
              <a:rPr lang="sv-SE" dirty="0" err="1"/>
              <a:t>Utilization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Common-Mode </a:t>
            </a:r>
            <a:r>
              <a:rPr lang="sv-SE" dirty="0" err="1"/>
              <a:t>Voltage</a:t>
            </a:r>
            <a:r>
              <a:rPr lang="sv-SE" dirty="0"/>
              <a:t> in </a:t>
            </a:r>
            <a:r>
              <a:rPr lang="sv-SE" dirty="0" err="1"/>
              <a:t>Inverters</a:t>
            </a:r>
            <a:r>
              <a:rPr lang="sv-SE" dirty="0"/>
              <a:t> for Power </a:t>
            </a:r>
            <a:r>
              <a:rPr lang="sv-SE" dirty="0" err="1" smtClean="0"/>
              <a:t>Supply</a:t>
            </a:r>
            <a:r>
              <a:rPr lang="sv-SE" dirty="0" smtClean="0"/>
              <a:t>, </a:t>
            </a:r>
            <a:r>
              <a:rPr lang="en-US" dirty="0"/>
              <a:t>IEEE TRANSACTIONS ON POWER ELECTRONICS, VOL. 38, NO. 7, JULY 2023</a:t>
            </a:r>
            <a:endParaRPr lang="sv-SE" dirty="0"/>
          </a:p>
        </p:txBody>
      </p:sp>
      <p:sp>
        <p:nvSpPr>
          <p:cNvPr id="6" name="Rectangle 5"/>
          <p:cNvSpPr/>
          <p:nvPr/>
        </p:nvSpPr>
        <p:spPr>
          <a:xfrm>
            <a:off x="182880" y="2475548"/>
            <a:ext cx="5445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From the </a:t>
            </a:r>
            <a:r>
              <a:rPr lang="sv-SE" dirty="0" err="1"/>
              <a:t>perspective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b="1" dirty="0" err="1"/>
              <a:t>energy</a:t>
            </a:r>
            <a:r>
              <a:rPr lang="sv-SE" b="1" dirty="0"/>
              <a:t> </a:t>
            </a:r>
            <a:r>
              <a:rPr lang="sv-SE" b="1" dirty="0" err="1"/>
              <a:t>utilization</a:t>
            </a:r>
            <a:r>
              <a:rPr lang="sv-SE" dirty="0"/>
              <a:t>,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article</a:t>
            </a:r>
            <a:r>
              <a:rPr lang="sv-SE" dirty="0"/>
              <a:t> </a:t>
            </a:r>
            <a:r>
              <a:rPr lang="sv-SE" dirty="0" err="1"/>
              <a:t>proposed</a:t>
            </a:r>
            <a:r>
              <a:rPr lang="sv-SE" dirty="0"/>
              <a:t> a </a:t>
            </a:r>
            <a:r>
              <a:rPr lang="sv-SE" dirty="0" err="1"/>
              <a:t>method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powering</a:t>
            </a:r>
            <a:r>
              <a:rPr lang="sv-SE" dirty="0"/>
              <a:t> the </a:t>
            </a:r>
            <a:r>
              <a:rPr lang="sv-SE" dirty="0" err="1"/>
              <a:t>load</a:t>
            </a:r>
            <a:r>
              <a:rPr lang="sv-SE" dirty="0"/>
              <a:t> by </a:t>
            </a:r>
            <a:r>
              <a:rPr lang="sv-SE" dirty="0" err="1"/>
              <a:t>collecting</a:t>
            </a:r>
            <a:r>
              <a:rPr lang="sv-SE" dirty="0"/>
              <a:t> the </a:t>
            </a:r>
            <a:r>
              <a:rPr lang="sv-SE" dirty="0" err="1"/>
              <a:t>energy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CMV.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315"/>
          <a:stretch/>
        </p:blipFill>
        <p:spPr>
          <a:xfrm>
            <a:off x="6154420" y="1185958"/>
            <a:ext cx="5577003" cy="56951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33520"/>
            <a:ext cx="5805259" cy="249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81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Constant dv/</a:t>
            </a:r>
            <a:r>
              <a:rPr lang="en-US" dirty="0" err="1" smtClean="0">
                <a:solidFill>
                  <a:srgbClr val="C00000"/>
                </a:solidFill>
              </a:rPr>
              <a:t>dt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3520" y="1690688"/>
            <a:ext cx="660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Dynamic</a:t>
            </a:r>
            <a:r>
              <a:rPr lang="sv-SE" dirty="0"/>
              <a:t> dv/dt Control </a:t>
            </a:r>
            <a:r>
              <a:rPr lang="sv-SE" dirty="0" err="1"/>
              <a:t>Strategy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SiC</a:t>
            </a:r>
            <a:r>
              <a:rPr lang="sv-SE" dirty="0"/>
              <a:t> MOSFET for </a:t>
            </a:r>
            <a:r>
              <a:rPr lang="sv-SE" dirty="0" err="1"/>
              <a:t>Switching</a:t>
            </a:r>
            <a:r>
              <a:rPr lang="sv-SE" dirty="0"/>
              <a:t> Loss </a:t>
            </a:r>
            <a:r>
              <a:rPr lang="sv-SE" dirty="0" err="1"/>
              <a:t>Reduction</a:t>
            </a:r>
            <a:r>
              <a:rPr lang="sv-SE" dirty="0"/>
              <a:t> in the </a:t>
            </a:r>
            <a:r>
              <a:rPr lang="sv-SE" dirty="0" err="1"/>
              <a:t>Operational</a:t>
            </a:r>
            <a:r>
              <a:rPr lang="sv-SE" dirty="0"/>
              <a:t> Power </a:t>
            </a:r>
            <a:r>
              <a:rPr lang="sv-SE" dirty="0" smtClean="0"/>
              <a:t>Range, </a:t>
            </a:r>
            <a:r>
              <a:rPr lang="en-US" dirty="0"/>
              <a:t>IEEE TRANSACTIONS ON POWER ELECTRONICS, VOL. 37, NO. 6, JUNE </a:t>
            </a:r>
            <a:r>
              <a:rPr lang="en-US" dirty="0" smtClean="0"/>
              <a:t>2022- LETTER</a:t>
            </a:r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3241040"/>
            <a:ext cx="6693079" cy="31588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586" y="554156"/>
            <a:ext cx="4389962" cy="352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8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6406</TotalTime>
  <Words>1250</Words>
  <Application>Microsoft Office PowerPoint</Application>
  <PresentationFormat>Widescreen</PresentationFormat>
  <Paragraphs>112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Capacitive Power Transfer</vt:lpstr>
      <vt:lpstr>Capacitive Power Transfer</vt:lpstr>
      <vt:lpstr>Constant dv/dt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61</cp:revision>
  <dcterms:created xsi:type="dcterms:W3CDTF">2023-07-06T09:42:55Z</dcterms:created>
  <dcterms:modified xsi:type="dcterms:W3CDTF">2024-09-25T14:01:52Z</dcterms:modified>
</cp:coreProperties>
</file>