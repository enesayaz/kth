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2"/>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3" r:id="rId17"/>
    <p:sldId id="272" r:id="rId18"/>
    <p:sldId id="274" r:id="rId19"/>
    <p:sldId id="275" r:id="rId20"/>
    <p:sldId id="276" r:id="rId21"/>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1" d="100"/>
          <a:sy n="151" d="100"/>
        </p:scale>
        <p:origin x="576" y="1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C3C920-8099-44FB-877D-FFD02840B4C1}" type="datetimeFigureOut">
              <a:rPr lang="sv-SE" smtClean="0"/>
              <a:t>2024-10-16</a:t>
            </a:fld>
            <a:endParaRPr lang="sv-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007380-F224-4E93-BC8A-2CF3A0B2F3DC}" type="slidenum">
              <a:rPr lang="sv-SE" smtClean="0"/>
              <a:t>‹#›</a:t>
            </a:fld>
            <a:endParaRPr lang="sv-SE"/>
          </a:p>
        </p:txBody>
      </p:sp>
    </p:spTree>
    <p:extLst>
      <p:ext uri="{BB962C8B-B14F-4D97-AF65-F5344CB8AC3E}">
        <p14:creationId xmlns:p14="http://schemas.microsoft.com/office/powerpoint/2010/main" val="555012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04007380-F224-4E93-BC8A-2CF3A0B2F3DC}" type="slidenum">
              <a:rPr lang="sv-SE" smtClean="0"/>
              <a:t>7</a:t>
            </a:fld>
            <a:endParaRPr lang="sv-SE"/>
          </a:p>
        </p:txBody>
      </p:sp>
    </p:spTree>
    <p:extLst>
      <p:ext uri="{BB962C8B-B14F-4D97-AF65-F5344CB8AC3E}">
        <p14:creationId xmlns:p14="http://schemas.microsoft.com/office/powerpoint/2010/main" val="4124987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04007380-F224-4E93-BC8A-2CF3A0B2F3DC}" type="slidenum">
              <a:rPr lang="sv-SE" smtClean="0"/>
              <a:t>8</a:t>
            </a:fld>
            <a:endParaRPr lang="sv-SE"/>
          </a:p>
        </p:txBody>
      </p:sp>
    </p:spTree>
    <p:extLst>
      <p:ext uri="{BB962C8B-B14F-4D97-AF65-F5344CB8AC3E}">
        <p14:creationId xmlns:p14="http://schemas.microsoft.com/office/powerpoint/2010/main" val="1718282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04007380-F224-4E93-BC8A-2CF3A0B2F3DC}" type="slidenum">
              <a:rPr lang="sv-SE" smtClean="0"/>
              <a:t>9</a:t>
            </a:fld>
            <a:endParaRPr lang="sv-SE"/>
          </a:p>
        </p:txBody>
      </p:sp>
    </p:spTree>
    <p:extLst>
      <p:ext uri="{BB962C8B-B14F-4D97-AF65-F5344CB8AC3E}">
        <p14:creationId xmlns:p14="http://schemas.microsoft.com/office/powerpoint/2010/main" val="3593387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04007380-F224-4E93-BC8A-2CF3A0B2F3DC}" type="slidenum">
              <a:rPr lang="sv-SE" smtClean="0"/>
              <a:t>10</a:t>
            </a:fld>
            <a:endParaRPr lang="sv-SE"/>
          </a:p>
        </p:txBody>
      </p:sp>
    </p:spTree>
    <p:extLst>
      <p:ext uri="{BB962C8B-B14F-4D97-AF65-F5344CB8AC3E}">
        <p14:creationId xmlns:p14="http://schemas.microsoft.com/office/powerpoint/2010/main" val="864521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04007380-F224-4E93-BC8A-2CF3A0B2F3DC}" type="slidenum">
              <a:rPr lang="sv-SE" smtClean="0"/>
              <a:t>11</a:t>
            </a:fld>
            <a:endParaRPr lang="sv-SE"/>
          </a:p>
        </p:txBody>
      </p:sp>
    </p:spTree>
    <p:extLst>
      <p:ext uri="{BB962C8B-B14F-4D97-AF65-F5344CB8AC3E}">
        <p14:creationId xmlns:p14="http://schemas.microsoft.com/office/powerpoint/2010/main" val="2981008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sv-S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a:p>
        </p:txBody>
      </p:sp>
      <p:sp>
        <p:nvSpPr>
          <p:cNvPr id="4" name="Date Placeholder 3"/>
          <p:cNvSpPr>
            <a:spLocks noGrp="1"/>
          </p:cNvSpPr>
          <p:nvPr>
            <p:ph type="dt" sz="half" idx="10"/>
          </p:nvPr>
        </p:nvSpPr>
        <p:spPr/>
        <p:txBody>
          <a:bodyPr/>
          <a:lstStyle/>
          <a:p>
            <a:fld id="{1CCF258A-C4AC-452A-B440-6EC022A8E4C9}" type="datetimeFigureOut">
              <a:rPr lang="sv-SE" smtClean="0"/>
              <a:t>2024-10-16</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735272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10"/>
          </p:nvPr>
        </p:nvSpPr>
        <p:spPr/>
        <p:txBody>
          <a:bodyPr/>
          <a:lstStyle/>
          <a:p>
            <a:fld id="{1CCF258A-C4AC-452A-B440-6EC022A8E4C9}" type="datetimeFigureOut">
              <a:rPr lang="sv-SE" smtClean="0"/>
              <a:t>2024-10-16</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1064568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sv-S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CCF258A-C4AC-452A-B440-6EC022A8E4C9}" type="datetimeFigureOut">
              <a:rPr lang="sv-SE" smtClean="0"/>
              <a:t>2024-10-16</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4035566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Date Placeholder 4"/>
          <p:cNvSpPr>
            <a:spLocks noGrp="1"/>
          </p:cNvSpPr>
          <p:nvPr>
            <p:ph type="dt" sz="half" idx="10"/>
          </p:nvPr>
        </p:nvSpPr>
        <p:spPr/>
        <p:txBody>
          <a:bodyPr/>
          <a:lstStyle/>
          <a:p>
            <a:fld id="{1CCF258A-C4AC-452A-B440-6EC022A8E4C9}" type="datetimeFigureOut">
              <a:rPr lang="sv-SE" smtClean="0"/>
              <a:t>2024-10-16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2427450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sv-S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Date Placeholder 6"/>
          <p:cNvSpPr>
            <a:spLocks noGrp="1"/>
          </p:cNvSpPr>
          <p:nvPr>
            <p:ph type="dt" sz="half" idx="10"/>
          </p:nvPr>
        </p:nvSpPr>
        <p:spPr/>
        <p:txBody>
          <a:bodyPr/>
          <a:lstStyle/>
          <a:p>
            <a:fld id="{1CCF258A-C4AC-452A-B440-6EC022A8E4C9}" type="datetimeFigureOut">
              <a:rPr lang="sv-SE" smtClean="0"/>
              <a:t>2024-10-16</a:t>
            </a:fld>
            <a:endParaRPr lang="sv-SE"/>
          </a:p>
        </p:txBody>
      </p:sp>
      <p:sp>
        <p:nvSpPr>
          <p:cNvPr id="8" name="Footer Placeholder 7"/>
          <p:cNvSpPr>
            <a:spLocks noGrp="1"/>
          </p:cNvSpPr>
          <p:nvPr>
            <p:ph type="ftr" sz="quarter" idx="11"/>
          </p:nvPr>
        </p:nvSpPr>
        <p:spPr/>
        <p:txBody>
          <a:bodyPr/>
          <a:lstStyle/>
          <a:p>
            <a:endParaRPr lang="sv-SE"/>
          </a:p>
        </p:txBody>
      </p:sp>
      <p:sp>
        <p:nvSpPr>
          <p:cNvPr id="9" name="Slide Number Placeholder 8"/>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256404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Date Placeholder 2"/>
          <p:cNvSpPr>
            <a:spLocks noGrp="1"/>
          </p:cNvSpPr>
          <p:nvPr>
            <p:ph type="dt" sz="half" idx="10"/>
          </p:nvPr>
        </p:nvSpPr>
        <p:spPr/>
        <p:txBody>
          <a:bodyPr/>
          <a:lstStyle/>
          <a:p>
            <a:fld id="{1CCF258A-C4AC-452A-B440-6EC022A8E4C9}" type="datetimeFigureOut">
              <a:rPr lang="sv-SE" smtClean="0"/>
              <a:t>2024-10-16</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2991888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CF258A-C4AC-452A-B440-6EC022A8E4C9}" type="datetimeFigureOut">
              <a:rPr lang="sv-SE" smtClean="0"/>
              <a:t>2024-10-16</a:t>
            </a:fld>
            <a:endParaRPr lang="sv-SE"/>
          </a:p>
        </p:txBody>
      </p:sp>
      <p:sp>
        <p:nvSpPr>
          <p:cNvPr id="3" name="Footer Placeholder 2"/>
          <p:cNvSpPr>
            <a:spLocks noGrp="1"/>
          </p:cNvSpPr>
          <p:nvPr>
            <p:ph type="ftr" sz="quarter" idx="11"/>
          </p:nvPr>
        </p:nvSpPr>
        <p:spPr/>
        <p:txBody>
          <a:bodyPr/>
          <a:lstStyle/>
          <a:p>
            <a:endParaRPr lang="sv-SE"/>
          </a:p>
        </p:txBody>
      </p:sp>
      <p:sp>
        <p:nvSpPr>
          <p:cNvPr id="4" name="Slide Number Placeholder 3"/>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751708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v-S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CF258A-C4AC-452A-B440-6EC022A8E4C9}" type="datetimeFigureOut">
              <a:rPr lang="sv-SE" smtClean="0"/>
              <a:t>2024-10-16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840343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v-S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CF258A-C4AC-452A-B440-6EC022A8E4C9}" type="datetimeFigureOut">
              <a:rPr lang="sv-SE" smtClean="0"/>
              <a:t>2024-10-16</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480615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10"/>
          </p:nvPr>
        </p:nvSpPr>
        <p:spPr/>
        <p:txBody>
          <a:bodyPr/>
          <a:lstStyle/>
          <a:p>
            <a:fld id="{1CCF258A-C4AC-452A-B440-6EC022A8E4C9}" type="datetimeFigureOut">
              <a:rPr lang="sv-SE" smtClean="0"/>
              <a:t>2024-10-16</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3335017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sv-S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10"/>
          </p:nvPr>
        </p:nvSpPr>
        <p:spPr/>
        <p:txBody>
          <a:bodyPr/>
          <a:lstStyle/>
          <a:p>
            <a:fld id="{1CCF258A-C4AC-452A-B440-6EC022A8E4C9}" type="datetimeFigureOut">
              <a:rPr lang="sv-SE" smtClean="0"/>
              <a:t>2024-10-16</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2882295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sv-S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CF258A-C4AC-452A-B440-6EC022A8E4C9}" type="datetimeFigureOut">
              <a:rPr lang="sv-SE" smtClean="0"/>
              <a:t>2024-10-16</a:t>
            </a:fld>
            <a:endParaRPr lang="sv-S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CEEEF0-C237-4CFC-84D0-B21D4D3A3DA2}" type="slidenum">
              <a:rPr lang="sv-SE" smtClean="0"/>
              <a:t>‹#›</a:t>
            </a:fld>
            <a:endParaRPr lang="sv-SE"/>
          </a:p>
        </p:txBody>
      </p:sp>
    </p:spTree>
    <p:extLst>
      <p:ext uri="{BB962C8B-B14F-4D97-AF65-F5344CB8AC3E}">
        <p14:creationId xmlns:p14="http://schemas.microsoft.com/office/powerpoint/2010/main" val="20667959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emf"/><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emf"/><Relationship Id="rId4" Type="http://schemas.openxmlformats.org/officeDocument/2006/relationships/image" Target="../media/image18.emf"/></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44.emf"/><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2.emf"/><Relationship Id="rId11" Type="http://schemas.openxmlformats.org/officeDocument/2006/relationships/image" Target="../media/image51.png"/><Relationship Id="rId5" Type="http://schemas.openxmlformats.org/officeDocument/2006/relationships/image" Target="../media/image41.emf"/><Relationship Id="rId10" Type="http://schemas.openxmlformats.org/officeDocument/2006/relationships/image" Target="../media/image43.emf"/><Relationship Id="rId4" Type="http://schemas.openxmlformats.org/officeDocument/2006/relationships/image" Target="../media/image40.emf"/><Relationship Id="rId9" Type="http://schemas.openxmlformats.org/officeDocument/2006/relationships/image" Target="../media/image49.png"/></Relationships>
</file>

<file path=ppt/slides/_rels/slide16.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3" Type="http://schemas.openxmlformats.org/officeDocument/2006/relationships/image" Target="../media/image46.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2.png"/><Relationship Id="rId15" Type="http://schemas.openxmlformats.org/officeDocument/2006/relationships/image" Target="../media/image63.png"/><Relationship Id="rId10" Type="http://schemas.openxmlformats.org/officeDocument/2006/relationships/image" Target="../media/image58.png"/><Relationship Id="rId4" Type="http://schemas.openxmlformats.org/officeDocument/2006/relationships/image" Target="../media/image50.png"/><Relationship Id="rId9" Type="http://schemas.openxmlformats.org/officeDocument/2006/relationships/image" Target="../media/image57.png"/><Relationship Id="rId14" Type="http://schemas.openxmlformats.org/officeDocument/2006/relationships/image" Target="../media/image62.png"/></Relationships>
</file>

<file path=ppt/slides/_rels/slide17.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image" Target="../media/image64.png"/><Relationship Id="rId16"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5" Type="http://schemas.openxmlformats.org/officeDocument/2006/relationships/image" Target="../media/image7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s>
</file>

<file path=ppt/slides/_rels/slide1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solidFill>
                  <a:srgbClr val="C00000"/>
                </a:solidFill>
              </a:rPr>
              <a:t>Online Carrier Phase Shift Calculation to Reduce Common Mode Voltage</a:t>
            </a:r>
            <a:endParaRPr lang="sv-SE" dirty="0">
              <a:solidFill>
                <a:srgbClr val="C00000"/>
              </a:solidFill>
            </a:endParaRPr>
          </a:p>
        </p:txBody>
      </p:sp>
      <p:sp>
        <p:nvSpPr>
          <p:cNvPr id="3" name="Subtitle 2"/>
          <p:cNvSpPr>
            <a:spLocks noGrp="1"/>
          </p:cNvSpPr>
          <p:nvPr>
            <p:ph type="subTitle" idx="1"/>
          </p:nvPr>
        </p:nvSpPr>
        <p:spPr>
          <a:xfrm>
            <a:off x="1524000" y="3602038"/>
            <a:ext cx="9144000" cy="2935922"/>
          </a:xfrm>
        </p:spPr>
        <p:txBody>
          <a:bodyPr>
            <a:normAutofit fontScale="77500" lnSpcReduction="20000"/>
          </a:bodyPr>
          <a:lstStyle/>
          <a:p>
            <a:endParaRPr lang="en-US" dirty="0"/>
          </a:p>
          <a:p>
            <a:r>
              <a:rPr lang="en-US" sz="3600" dirty="0"/>
              <a:t>Enes Ayaz</a:t>
            </a:r>
          </a:p>
          <a:p>
            <a:r>
              <a:rPr lang="en-US" sz="3600" dirty="0"/>
              <a:t>	</a:t>
            </a:r>
          </a:p>
          <a:p>
            <a:pPr algn="l"/>
            <a:r>
              <a:rPr lang="en-US" sz="2600" dirty="0"/>
              <a:t>!!! </a:t>
            </a:r>
          </a:p>
          <a:p>
            <a:pPr algn="l"/>
            <a:r>
              <a:rPr lang="en-US" sz="2600" dirty="0"/>
              <a:t>The presentation aims carrier phase shift of SPWM for  2L conventional inverter. </a:t>
            </a:r>
          </a:p>
          <a:p>
            <a:pPr algn="l"/>
            <a:r>
              <a:rPr lang="en-US" sz="2600" dirty="0"/>
              <a:t>However, it should be noted that the proposed method could be expanded for other topology and modulations. It is actually necessity since 2L topology with SPWM could not be suitable for 300kW 1200 V EV drives regarding other concerns.</a:t>
            </a:r>
            <a:endParaRPr lang="sv-SE" sz="2600" dirty="0"/>
          </a:p>
        </p:txBody>
      </p:sp>
    </p:spTree>
    <p:extLst>
      <p:ext uri="{BB962C8B-B14F-4D97-AF65-F5344CB8AC3E}">
        <p14:creationId xmlns:p14="http://schemas.microsoft.com/office/powerpoint/2010/main" val="1379222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err="1">
                <a:solidFill>
                  <a:srgbClr val="C00000"/>
                </a:solidFill>
              </a:rPr>
              <a:t>Analytical</a:t>
            </a:r>
            <a:r>
              <a:rPr lang="sv-SE" b="1" dirty="0">
                <a:solidFill>
                  <a:srgbClr val="C00000"/>
                </a:solidFill>
              </a:rPr>
              <a:t> </a:t>
            </a:r>
            <a:r>
              <a:rPr lang="sv-SE" b="1" dirty="0" err="1">
                <a:solidFill>
                  <a:srgbClr val="C00000"/>
                </a:solidFill>
              </a:rPr>
              <a:t>Analysis</a:t>
            </a:r>
            <a:r>
              <a:rPr lang="sv-SE" b="1" dirty="0">
                <a:solidFill>
                  <a:srgbClr val="C00000"/>
                </a:solidFill>
              </a:rPr>
              <a:t> </a:t>
            </a:r>
            <a:r>
              <a:rPr lang="sv-SE" b="1" dirty="0" err="1">
                <a:solidFill>
                  <a:srgbClr val="C00000"/>
                </a:solidFill>
              </a:rPr>
              <a:t>of</a:t>
            </a:r>
            <a:r>
              <a:rPr lang="sv-SE" b="1" dirty="0">
                <a:solidFill>
                  <a:srgbClr val="C00000"/>
                </a:solidFill>
              </a:rPr>
              <a:t> </a:t>
            </a:r>
            <a:r>
              <a:rPr lang="sv-SE" b="1" dirty="0" err="1">
                <a:solidFill>
                  <a:srgbClr val="C00000"/>
                </a:solidFill>
              </a:rPr>
              <a:t>carrier-based</a:t>
            </a:r>
            <a:r>
              <a:rPr lang="sv-SE" b="1" dirty="0">
                <a:solidFill>
                  <a:srgbClr val="C00000"/>
                </a:solidFill>
              </a:rPr>
              <a:t> PWM (CBPWM) (i.e. SPWM)</a:t>
            </a:r>
          </a:p>
        </p:txBody>
      </p:sp>
      <p:sp>
        <p:nvSpPr>
          <p:cNvPr id="3" name="Content Placeholder 2"/>
          <p:cNvSpPr>
            <a:spLocks noGrp="1"/>
          </p:cNvSpPr>
          <p:nvPr>
            <p:ph idx="1"/>
          </p:nvPr>
        </p:nvSpPr>
        <p:spPr/>
        <p:txBody>
          <a:bodyPr/>
          <a:lstStyle/>
          <a:p>
            <a:pPr marL="0" indent="0">
              <a:buNone/>
            </a:pPr>
            <a:r>
              <a:rPr lang="en-US" dirty="0"/>
              <a:t>SPWM is (or other CBPWMs can be) established by comparing </a:t>
            </a:r>
            <a:r>
              <a:rPr lang="en-US" b="1" dirty="0"/>
              <a:t>a high-frequency triangular carrier signal </a:t>
            </a:r>
            <a:r>
              <a:rPr lang="en-US" dirty="0"/>
              <a:t>and a fundamental (modulating) signal. </a:t>
            </a:r>
          </a:p>
          <a:p>
            <a:pPr marL="0" indent="0">
              <a:buNone/>
            </a:pPr>
            <a:r>
              <a:rPr lang="en-US" dirty="0"/>
              <a:t>The analytical model of SPWM (also can be called switching function) can be obtained as given in below by  using Double Fourier analysis. </a:t>
            </a:r>
            <a:endParaRPr lang="sv-SE" dirty="0"/>
          </a:p>
        </p:txBody>
      </p:sp>
      <p:pic>
        <p:nvPicPr>
          <p:cNvPr id="4" name="Picture 3"/>
          <p:cNvPicPr>
            <a:picLocks noChangeAspect="1"/>
          </p:cNvPicPr>
          <p:nvPr/>
        </p:nvPicPr>
        <p:blipFill rotWithShape="1">
          <a:blip r:embed="rId2"/>
          <a:srcRect l="354" t="-547" r="-354" b="13814"/>
          <a:stretch/>
        </p:blipFill>
        <p:spPr>
          <a:xfrm>
            <a:off x="2297578" y="4114435"/>
            <a:ext cx="6377423" cy="2387965"/>
          </a:xfrm>
          <a:prstGeom prst="rect">
            <a:avLst/>
          </a:prstGeom>
        </p:spPr>
      </p:pic>
      <p:cxnSp>
        <p:nvCxnSpPr>
          <p:cNvPr id="6" name="Straight Arrow Connector 5"/>
          <p:cNvCxnSpPr/>
          <p:nvPr/>
        </p:nvCxnSpPr>
        <p:spPr>
          <a:xfrm flipH="1" flipV="1">
            <a:off x="1964638" y="4184650"/>
            <a:ext cx="973587" cy="163536"/>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86666" y="3979498"/>
            <a:ext cx="1711325" cy="369332"/>
          </a:xfrm>
          <a:prstGeom prst="rect">
            <a:avLst/>
          </a:prstGeom>
          <a:noFill/>
        </p:spPr>
        <p:txBody>
          <a:bodyPr wrap="square" rtlCol="0">
            <a:spAutoFit/>
          </a:bodyPr>
          <a:lstStyle/>
          <a:p>
            <a:r>
              <a:rPr lang="en-US" dirty="0">
                <a:solidFill>
                  <a:schemeClr val="accent2"/>
                </a:solidFill>
              </a:rPr>
              <a:t>DC component</a:t>
            </a:r>
            <a:endParaRPr lang="sv-SE" dirty="0">
              <a:solidFill>
                <a:schemeClr val="accent2"/>
              </a:solidFill>
            </a:endParaRPr>
          </a:p>
        </p:txBody>
      </p:sp>
      <p:cxnSp>
        <p:nvCxnSpPr>
          <p:cNvPr id="13" name="Straight Arrow Connector 12"/>
          <p:cNvCxnSpPr>
            <a:stCxn id="29" idx="3"/>
          </p:cNvCxnSpPr>
          <p:nvPr/>
        </p:nvCxnSpPr>
        <p:spPr>
          <a:xfrm flipV="1">
            <a:off x="5334000" y="4114436"/>
            <a:ext cx="1235541" cy="26301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699716" y="3929769"/>
            <a:ext cx="2797393" cy="369332"/>
          </a:xfrm>
          <a:prstGeom prst="rect">
            <a:avLst/>
          </a:prstGeom>
          <a:noFill/>
        </p:spPr>
        <p:txBody>
          <a:bodyPr wrap="square" rtlCol="0">
            <a:spAutoFit/>
          </a:bodyPr>
          <a:lstStyle/>
          <a:p>
            <a:r>
              <a:rPr lang="en-US" dirty="0">
                <a:solidFill>
                  <a:schemeClr val="accent5"/>
                </a:solidFill>
              </a:rPr>
              <a:t>Fundamental components</a:t>
            </a:r>
            <a:endParaRPr lang="sv-SE" dirty="0">
              <a:solidFill>
                <a:schemeClr val="accent5"/>
              </a:solidFill>
            </a:endParaRPr>
          </a:p>
        </p:txBody>
      </p:sp>
      <p:cxnSp>
        <p:nvCxnSpPr>
          <p:cNvPr id="17" name="Straight Arrow Connector 16"/>
          <p:cNvCxnSpPr/>
          <p:nvPr/>
        </p:nvCxnSpPr>
        <p:spPr>
          <a:xfrm flipV="1">
            <a:off x="7828646" y="5206318"/>
            <a:ext cx="1179295" cy="1"/>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9011800" y="4883152"/>
            <a:ext cx="2797393" cy="646331"/>
          </a:xfrm>
          <a:prstGeom prst="rect">
            <a:avLst/>
          </a:prstGeom>
          <a:noFill/>
        </p:spPr>
        <p:txBody>
          <a:bodyPr wrap="square" rtlCol="0">
            <a:spAutoFit/>
          </a:bodyPr>
          <a:lstStyle/>
          <a:p>
            <a:r>
              <a:rPr lang="en-US" dirty="0">
                <a:solidFill>
                  <a:srgbClr val="92D050"/>
                </a:solidFill>
              </a:rPr>
              <a:t>Switching frequency and its harmonics</a:t>
            </a:r>
            <a:endParaRPr lang="sv-SE" dirty="0">
              <a:solidFill>
                <a:srgbClr val="92D050"/>
              </a:solidFill>
            </a:endParaRPr>
          </a:p>
        </p:txBody>
      </p:sp>
      <p:cxnSp>
        <p:nvCxnSpPr>
          <p:cNvPr id="20" name="Straight Arrow Connector 19"/>
          <p:cNvCxnSpPr/>
          <p:nvPr/>
        </p:nvCxnSpPr>
        <p:spPr>
          <a:xfrm>
            <a:off x="8299450" y="6113534"/>
            <a:ext cx="926851"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226301" y="5928868"/>
            <a:ext cx="2797393" cy="369332"/>
          </a:xfrm>
          <a:prstGeom prst="rect">
            <a:avLst/>
          </a:prstGeom>
          <a:noFill/>
        </p:spPr>
        <p:txBody>
          <a:bodyPr wrap="square" rtlCol="0">
            <a:spAutoFit/>
          </a:bodyPr>
          <a:lstStyle/>
          <a:p>
            <a:r>
              <a:rPr lang="en-US" dirty="0">
                <a:solidFill>
                  <a:srgbClr val="7030A0"/>
                </a:solidFill>
              </a:rPr>
              <a:t>Side band harmonics</a:t>
            </a:r>
            <a:endParaRPr lang="sv-SE" dirty="0">
              <a:solidFill>
                <a:srgbClr val="7030A0"/>
              </a:solidFill>
            </a:endParaRPr>
          </a:p>
        </p:txBody>
      </p:sp>
      <p:sp>
        <p:nvSpPr>
          <p:cNvPr id="23" name="Rectangle 22"/>
          <p:cNvSpPr/>
          <p:nvPr/>
        </p:nvSpPr>
        <p:spPr>
          <a:xfrm>
            <a:off x="2908300" y="4114435"/>
            <a:ext cx="316129" cy="584565"/>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9" name="Rectangle 28"/>
          <p:cNvSpPr/>
          <p:nvPr/>
        </p:nvSpPr>
        <p:spPr>
          <a:xfrm>
            <a:off x="3452829" y="4055903"/>
            <a:ext cx="1881171" cy="643097"/>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1" name="Rectangle 30"/>
          <p:cNvSpPr/>
          <p:nvPr/>
        </p:nvSpPr>
        <p:spPr>
          <a:xfrm>
            <a:off x="3224429" y="4795837"/>
            <a:ext cx="4604217" cy="820964"/>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2" name="Rectangle 31"/>
          <p:cNvSpPr/>
          <p:nvPr/>
        </p:nvSpPr>
        <p:spPr>
          <a:xfrm>
            <a:off x="3224429" y="5713638"/>
            <a:ext cx="5075021" cy="847294"/>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511039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24374"/>
            <a:ext cx="10795000" cy="1325563"/>
          </a:xfrm>
        </p:spPr>
        <p:txBody>
          <a:bodyPr/>
          <a:lstStyle/>
          <a:p>
            <a:r>
              <a:rPr lang="sv-SE" b="1" dirty="0" err="1">
                <a:solidFill>
                  <a:srgbClr val="C00000"/>
                </a:solidFill>
                <a:latin typeface="Calibri (Body)"/>
              </a:rPr>
              <a:t>Analytical</a:t>
            </a:r>
            <a:r>
              <a:rPr lang="sv-SE" b="1" dirty="0">
                <a:solidFill>
                  <a:srgbClr val="C00000"/>
                </a:solidFill>
                <a:latin typeface="Calibri (Body)"/>
              </a:rPr>
              <a:t> </a:t>
            </a:r>
            <a:r>
              <a:rPr lang="sv-SE" b="1" dirty="0" err="1">
                <a:solidFill>
                  <a:srgbClr val="C00000"/>
                </a:solidFill>
                <a:latin typeface="Calibri (Body)"/>
              </a:rPr>
              <a:t>Analysis</a:t>
            </a:r>
            <a:r>
              <a:rPr lang="sv-SE" b="1" dirty="0">
                <a:solidFill>
                  <a:srgbClr val="C00000"/>
                </a:solidFill>
                <a:latin typeface="Calibri (Body)"/>
              </a:rPr>
              <a:t> </a:t>
            </a:r>
            <a:r>
              <a:rPr lang="sv-SE" b="1" dirty="0" err="1">
                <a:solidFill>
                  <a:srgbClr val="C00000"/>
                </a:solidFill>
                <a:latin typeface="Calibri (Body)"/>
              </a:rPr>
              <a:t>of</a:t>
            </a:r>
            <a:r>
              <a:rPr lang="sv-SE" b="1" dirty="0">
                <a:solidFill>
                  <a:srgbClr val="C00000"/>
                </a:solidFill>
                <a:latin typeface="Calibri (Body)"/>
              </a:rPr>
              <a:t> PWM (i.e. SPWM)</a:t>
            </a:r>
          </a:p>
        </p:txBody>
      </p:sp>
      <p:sp>
        <p:nvSpPr>
          <p:cNvPr id="8" name="Rectangle 7"/>
          <p:cNvSpPr/>
          <p:nvPr/>
        </p:nvSpPr>
        <p:spPr>
          <a:xfrm>
            <a:off x="5350106" y="2066690"/>
            <a:ext cx="5384463" cy="646331"/>
          </a:xfrm>
          <a:prstGeom prst="rect">
            <a:avLst/>
          </a:prstGeom>
        </p:spPr>
        <p:txBody>
          <a:bodyPr wrap="square">
            <a:spAutoFit/>
          </a:bodyPr>
          <a:lstStyle/>
          <a:p>
            <a:r>
              <a:rPr lang="en-US" dirty="0">
                <a:latin typeface="Calibri (Body)"/>
              </a:rPr>
              <a:t>We can calculate the voltage harmonics by using the switching functions.</a:t>
            </a:r>
            <a:endParaRPr lang="sv-SE" dirty="0">
              <a:latin typeface="Calibri (Body)"/>
            </a:endParaRPr>
          </a:p>
        </p:txBody>
      </p:sp>
      <p:pic>
        <p:nvPicPr>
          <p:cNvPr id="10" name="Picture 9"/>
          <p:cNvPicPr>
            <a:picLocks noChangeAspect="1"/>
          </p:cNvPicPr>
          <p:nvPr/>
        </p:nvPicPr>
        <p:blipFill rotWithShape="1">
          <a:blip r:embed="rId2"/>
          <a:srcRect r="996"/>
          <a:stretch/>
        </p:blipFill>
        <p:spPr>
          <a:xfrm>
            <a:off x="1898527" y="1538810"/>
            <a:ext cx="2519485" cy="2356924"/>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5332778" y="2812220"/>
                <a:ext cx="23206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𝐴</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𝐷𝐶</m:t>
                          </m:r>
                        </m:sub>
                      </m:sSub>
                    </m:oMath>
                  </m:oMathPara>
                </a14:m>
                <a:endParaRPr lang="sv-SE" dirty="0">
                  <a:latin typeface="Calibri (Body)"/>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5332778" y="2812220"/>
                <a:ext cx="2320664" cy="369332"/>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675600" y="3181552"/>
                <a:ext cx="259516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𝐴𝐵</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𝐴</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𝐷𝐶</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𝐵</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𝐷𝐶</m:t>
                          </m:r>
                        </m:sub>
                      </m:sSub>
                    </m:oMath>
                  </m:oMathPara>
                </a14:m>
                <a:endParaRPr lang="sv-SE" dirty="0">
                  <a:latin typeface="Calibri (Body)"/>
                </a:endParaRPr>
              </a:p>
            </p:txBody>
          </p:sp>
        </mc:Choice>
        <mc:Fallback xmlns="">
          <p:sp>
            <p:nvSpPr>
              <p:cNvPr id="12" name="Rectangle 11"/>
              <p:cNvSpPr>
                <a:spLocks noRot="1" noChangeAspect="1" noMove="1" noResize="1" noEditPoints="1" noAdjustHandles="1" noChangeArrowheads="1" noChangeShapeType="1" noTextEdit="1"/>
              </p:cNvSpPr>
              <p:nvPr/>
            </p:nvSpPr>
            <p:spPr>
              <a:xfrm>
                <a:off x="5675600" y="3181552"/>
                <a:ext cx="2595169" cy="369332"/>
              </a:xfrm>
              <a:prstGeom prst="rect">
                <a:avLst/>
              </a:prstGeom>
              <a:blipFill>
                <a:blip r:embed="rId4"/>
                <a:stretch>
                  <a:fillRect b="-1667"/>
                </a:stretch>
              </a:blipFill>
            </p:spPr>
            <p:txBody>
              <a:bodyPr/>
              <a:lstStyle/>
              <a:p>
                <a:r>
                  <a:rPr lang="sv-SE">
                    <a:noFill/>
                  </a:rPr>
                  <a:t> </a:t>
                </a:r>
              </a:p>
            </p:txBody>
          </p:sp>
        </mc:Fallback>
      </mc:AlternateContent>
      <p:pic>
        <p:nvPicPr>
          <p:cNvPr id="14" name="Picture 13"/>
          <p:cNvPicPr>
            <a:picLocks noChangeAspect="1"/>
          </p:cNvPicPr>
          <p:nvPr/>
        </p:nvPicPr>
        <p:blipFill>
          <a:blip r:embed="rId5"/>
          <a:stretch>
            <a:fillRect/>
          </a:stretch>
        </p:blipFill>
        <p:spPr>
          <a:xfrm>
            <a:off x="1083746" y="3703776"/>
            <a:ext cx="3826489" cy="2812788"/>
          </a:xfrm>
          <a:prstGeom prst="rect">
            <a:avLst/>
          </a:prstGeom>
        </p:spPr>
      </p:pic>
      <p:sp>
        <p:nvSpPr>
          <p:cNvPr id="15" name="Rectangle 14"/>
          <p:cNvSpPr/>
          <p:nvPr/>
        </p:nvSpPr>
        <p:spPr>
          <a:xfrm>
            <a:off x="5578537" y="4433170"/>
            <a:ext cx="5384463" cy="2031325"/>
          </a:xfrm>
          <a:prstGeom prst="rect">
            <a:avLst/>
          </a:prstGeom>
        </p:spPr>
        <p:txBody>
          <a:bodyPr wrap="square">
            <a:spAutoFit/>
          </a:bodyPr>
          <a:lstStyle/>
          <a:p>
            <a:r>
              <a:rPr lang="en-US" dirty="0">
                <a:latin typeface="Calibri (Body)"/>
              </a:rPr>
              <a:t>The magnitudes of switching harmonics and their sidebands cannot be adjusted independently, and they change along with the modulation index. </a:t>
            </a:r>
          </a:p>
          <a:p>
            <a:endParaRPr lang="en-US" dirty="0">
              <a:latin typeface="Calibri (Body)"/>
            </a:endParaRPr>
          </a:p>
          <a:p>
            <a:r>
              <a:rPr lang="en-US" dirty="0">
                <a:latin typeface="Calibri (Body)"/>
              </a:rPr>
              <a:t>The dominant components are : </a:t>
            </a:r>
          </a:p>
          <a:p>
            <a:r>
              <a:rPr lang="en-US" dirty="0"/>
              <a:t>1) dc; 2) fundamental; 3) the first switching harmonic; 4) sidebands of the first switching harmonic.</a:t>
            </a:r>
            <a:r>
              <a:rPr lang="en-US" dirty="0">
                <a:latin typeface="Calibri (Body)"/>
              </a:rPr>
              <a:t> </a:t>
            </a:r>
            <a:endParaRPr lang="sv-SE" dirty="0">
              <a:latin typeface="Calibri (Body)"/>
            </a:endParaRPr>
          </a:p>
        </p:txBody>
      </p:sp>
    </p:spTree>
    <p:extLst>
      <p:ext uri="{BB962C8B-B14F-4D97-AF65-F5344CB8AC3E}">
        <p14:creationId xmlns:p14="http://schemas.microsoft.com/office/powerpoint/2010/main" val="1515699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err="1">
                <a:solidFill>
                  <a:srgbClr val="C00000"/>
                </a:solidFill>
              </a:rPr>
              <a:t>Analytical</a:t>
            </a:r>
            <a:r>
              <a:rPr lang="sv-SE" b="1" dirty="0">
                <a:solidFill>
                  <a:srgbClr val="C00000"/>
                </a:solidFill>
              </a:rPr>
              <a:t> </a:t>
            </a:r>
            <a:r>
              <a:rPr lang="sv-SE" b="1" dirty="0" err="1">
                <a:solidFill>
                  <a:srgbClr val="C00000"/>
                </a:solidFill>
              </a:rPr>
              <a:t>Analysis</a:t>
            </a:r>
            <a:r>
              <a:rPr lang="sv-SE" b="1" dirty="0">
                <a:solidFill>
                  <a:srgbClr val="C00000"/>
                </a:solidFill>
              </a:rPr>
              <a:t> </a:t>
            </a:r>
            <a:r>
              <a:rPr lang="sv-SE" b="1" dirty="0" err="1">
                <a:solidFill>
                  <a:srgbClr val="C00000"/>
                </a:solidFill>
              </a:rPr>
              <a:t>of</a:t>
            </a:r>
            <a:r>
              <a:rPr lang="sv-SE" b="1" dirty="0">
                <a:solidFill>
                  <a:srgbClr val="C00000"/>
                </a:solidFill>
              </a:rPr>
              <a:t> PWM (i.e. SPWM)</a:t>
            </a:r>
          </a:p>
        </p:txBody>
      </p:sp>
      <p:sp>
        <p:nvSpPr>
          <p:cNvPr id="3" name="Rectangle 2"/>
          <p:cNvSpPr/>
          <p:nvPr/>
        </p:nvSpPr>
        <p:spPr>
          <a:xfrm>
            <a:off x="1054100" y="1453764"/>
            <a:ext cx="10299700" cy="646331"/>
          </a:xfrm>
          <a:prstGeom prst="rect">
            <a:avLst/>
          </a:prstGeom>
        </p:spPr>
        <p:txBody>
          <a:bodyPr wrap="square">
            <a:spAutoFit/>
          </a:bodyPr>
          <a:lstStyle/>
          <a:p>
            <a:r>
              <a:rPr lang="en-US" dirty="0"/>
              <a:t>For the conventional SPWM with single carrier signal, the phases of these dominant components vary for each leg of the inverter, and they create </a:t>
            </a:r>
            <a:r>
              <a:rPr lang="en-US" b="1" dirty="0"/>
              <a:t>positive,</a:t>
            </a:r>
            <a:r>
              <a:rPr lang="en-US" dirty="0"/>
              <a:t> </a:t>
            </a:r>
            <a:r>
              <a:rPr lang="en-US" b="1" dirty="0"/>
              <a:t>negative</a:t>
            </a:r>
            <a:r>
              <a:rPr lang="en-US" dirty="0"/>
              <a:t>, or </a:t>
            </a:r>
            <a:r>
              <a:rPr lang="en-US" b="1" dirty="0"/>
              <a:t>zero sequence </a:t>
            </a:r>
            <a:r>
              <a:rPr lang="en-US" dirty="0"/>
              <a:t>voltage harmonics. </a:t>
            </a:r>
            <a:endParaRPr lang="sv-SE" dirty="0"/>
          </a:p>
        </p:txBody>
      </p:sp>
      <p:pic>
        <p:nvPicPr>
          <p:cNvPr id="4" name="Picture 3"/>
          <p:cNvPicPr>
            <a:picLocks noChangeAspect="1"/>
          </p:cNvPicPr>
          <p:nvPr/>
        </p:nvPicPr>
        <p:blipFill>
          <a:blip r:embed="rId2"/>
          <a:stretch>
            <a:fillRect/>
          </a:stretch>
        </p:blipFill>
        <p:spPr>
          <a:xfrm>
            <a:off x="2743200" y="2140169"/>
            <a:ext cx="5715000" cy="1847850"/>
          </a:xfrm>
          <a:prstGeom prst="rect">
            <a:avLst/>
          </a:prstGeom>
        </p:spPr>
      </p:pic>
      <p:sp>
        <p:nvSpPr>
          <p:cNvPr id="9" name="Rectangle 8"/>
          <p:cNvSpPr/>
          <p:nvPr/>
        </p:nvSpPr>
        <p:spPr>
          <a:xfrm>
            <a:off x="1149350" y="3927386"/>
            <a:ext cx="10204450" cy="646331"/>
          </a:xfrm>
          <a:prstGeom prst="rect">
            <a:avLst/>
          </a:prstGeom>
        </p:spPr>
        <p:txBody>
          <a:bodyPr wrap="square">
            <a:spAutoFit/>
          </a:bodyPr>
          <a:lstStyle/>
          <a:p>
            <a:r>
              <a:rPr lang="en-US" dirty="0"/>
              <a:t>While the </a:t>
            </a:r>
            <a:r>
              <a:rPr lang="en-US" b="1" dirty="0"/>
              <a:t>positive and negative sequence </a:t>
            </a:r>
            <a:r>
              <a:rPr lang="en-US" dirty="0"/>
              <a:t>voltage harmonics </a:t>
            </a:r>
            <a:r>
              <a:rPr lang="en-US" b="1" dirty="0"/>
              <a:t>create differential-mode current harmonics</a:t>
            </a:r>
            <a:r>
              <a:rPr lang="en-US" dirty="0"/>
              <a:t>, </a:t>
            </a:r>
            <a:r>
              <a:rPr lang="en-US" b="1" dirty="0"/>
              <a:t>zero sequence </a:t>
            </a:r>
            <a:r>
              <a:rPr lang="en-US" dirty="0"/>
              <a:t>voltage harmonics </a:t>
            </a:r>
            <a:r>
              <a:rPr lang="en-US" b="1" dirty="0"/>
              <a:t>create common-mode current harmonics</a:t>
            </a:r>
            <a:r>
              <a:rPr lang="en-US" dirty="0"/>
              <a:t>. </a:t>
            </a:r>
            <a:endParaRPr lang="sv-SE" dirty="0"/>
          </a:p>
        </p:txBody>
      </p:sp>
      <p:cxnSp>
        <p:nvCxnSpPr>
          <p:cNvPr id="15" name="Straight Arrow Connector 14"/>
          <p:cNvCxnSpPr/>
          <p:nvPr/>
        </p:nvCxnSpPr>
        <p:spPr>
          <a:xfrm flipV="1">
            <a:off x="2650728" y="5129953"/>
            <a:ext cx="705246" cy="218107"/>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650728" y="5348060"/>
            <a:ext cx="0" cy="580300"/>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flipV="1">
            <a:off x="1963738" y="5137021"/>
            <a:ext cx="705245" cy="211039"/>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3451860" y="4876800"/>
            <a:ext cx="350520" cy="369332"/>
          </a:xfrm>
          <a:prstGeom prst="rect">
            <a:avLst/>
          </a:prstGeom>
          <a:noFill/>
        </p:spPr>
        <p:txBody>
          <a:bodyPr wrap="square" rtlCol="0">
            <a:spAutoFit/>
          </a:bodyPr>
          <a:lstStyle/>
          <a:p>
            <a:r>
              <a:rPr lang="en-US" dirty="0"/>
              <a:t>A</a:t>
            </a:r>
            <a:endParaRPr lang="sv-SE" dirty="0"/>
          </a:p>
        </p:txBody>
      </p:sp>
      <p:sp>
        <p:nvSpPr>
          <p:cNvPr id="59" name="TextBox 58"/>
          <p:cNvSpPr txBox="1"/>
          <p:nvPr/>
        </p:nvSpPr>
        <p:spPr>
          <a:xfrm>
            <a:off x="1781453" y="4799955"/>
            <a:ext cx="350520" cy="369332"/>
          </a:xfrm>
          <a:prstGeom prst="rect">
            <a:avLst/>
          </a:prstGeom>
          <a:noFill/>
        </p:spPr>
        <p:txBody>
          <a:bodyPr wrap="square" rtlCol="0">
            <a:spAutoFit/>
          </a:bodyPr>
          <a:lstStyle/>
          <a:p>
            <a:r>
              <a:rPr lang="en-US" dirty="0"/>
              <a:t>B</a:t>
            </a:r>
            <a:endParaRPr lang="sv-SE" dirty="0"/>
          </a:p>
        </p:txBody>
      </p:sp>
      <p:sp>
        <p:nvSpPr>
          <p:cNvPr id="60" name="TextBox 59"/>
          <p:cNvSpPr txBox="1"/>
          <p:nvPr/>
        </p:nvSpPr>
        <p:spPr>
          <a:xfrm>
            <a:off x="2493723" y="5928360"/>
            <a:ext cx="350520" cy="369332"/>
          </a:xfrm>
          <a:prstGeom prst="rect">
            <a:avLst/>
          </a:prstGeom>
          <a:noFill/>
        </p:spPr>
        <p:txBody>
          <a:bodyPr wrap="square" rtlCol="0">
            <a:spAutoFit/>
          </a:bodyPr>
          <a:lstStyle/>
          <a:p>
            <a:r>
              <a:rPr lang="en-US" dirty="0"/>
              <a:t>C</a:t>
            </a:r>
            <a:endParaRPr lang="sv-SE" dirty="0"/>
          </a:p>
        </p:txBody>
      </p:sp>
      <p:sp>
        <p:nvSpPr>
          <p:cNvPr id="62" name="Arc 61"/>
          <p:cNvSpPr/>
          <p:nvPr/>
        </p:nvSpPr>
        <p:spPr>
          <a:xfrm rot="7995084">
            <a:off x="2590493" y="5343528"/>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64" name="Arc 63"/>
          <p:cNvSpPr/>
          <p:nvPr/>
        </p:nvSpPr>
        <p:spPr>
          <a:xfrm rot="13679747">
            <a:off x="2309094" y="5355181"/>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65" name="Arc 64"/>
          <p:cNvSpPr/>
          <p:nvPr/>
        </p:nvSpPr>
        <p:spPr>
          <a:xfrm>
            <a:off x="2371243" y="5113774"/>
            <a:ext cx="577090" cy="264715"/>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67" name="TextBox 66"/>
              <p:cNvSpPr txBox="1"/>
              <p:nvPr/>
            </p:nvSpPr>
            <p:spPr>
              <a:xfrm>
                <a:off x="2376694" y="4785525"/>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67" name="TextBox 66"/>
              <p:cNvSpPr txBox="1">
                <a:spLocks noRot="1" noChangeAspect="1" noMove="1" noResize="1" noEditPoints="1" noAdjustHandles="1" noChangeArrowheads="1" noChangeShapeType="1" noTextEdit="1"/>
              </p:cNvSpPr>
              <p:nvPr/>
            </p:nvSpPr>
            <p:spPr>
              <a:xfrm>
                <a:off x="2376694" y="4785525"/>
                <a:ext cx="601661" cy="369332"/>
              </a:xfrm>
              <a:prstGeom prst="rect">
                <a:avLst/>
              </a:prstGeom>
              <a:blipFill>
                <a:blip r:embed="rId3"/>
                <a:stretch>
                  <a:fillRect r="-202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759690" y="5391578"/>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68" name="TextBox 67"/>
              <p:cNvSpPr txBox="1">
                <a:spLocks noRot="1" noChangeAspect="1" noMove="1" noResize="1" noEditPoints="1" noAdjustHandles="1" noChangeArrowheads="1" noChangeShapeType="1" noTextEdit="1"/>
              </p:cNvSpPr>
              <p:nvPr/>
            </p:nvSpPr>
            <p:spPr>
              <a:xfrm>
                <a:off x="2759690" y="5391578"/>
                <a:ext cx="601661" cy="369332"/>
              </a:xfrm>
              <a:prstGeom prst="rect">
                <a:avLst/>
              </a:prstGeom>
              <a:blipFill>
                <a:blip r:embed="rId4"/>
                <a:stretch>
                  <a:fillRect r="-306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1885089" y="5432561"/>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69" name="TextBox 68"/>
              <p:cNvSpPr txBox="1">
                <a:spLocks noRot="1" noChangeAspect="1" noMove="1" noResize="1" noEditPoints="1" noAdjustHandles="1" noChangeArrowheads="1" noChangeShapeType="1" noTextEdit="1"/>
              </p:cNvSpPr>
              <p:nvPr/>
            </p:nvSpPr>
            <p:spPr>
              <a:xfrm>
                <a:off x="1885089" y="5432561"/>
                <a:ext cx="601661" cy="369332"/>
              </a:xfrm>
              <a:prstGeom prst="rect">
                <a:avLst/>
              </a:prstGeom>
              <a:blipFill>
                <a:blip r:embed="rId5"/>
                <a:stretch>
                  <a:fillRect r="-3030"/>
                </a:stretch>
              </a:blipFill>
            </p:spPr>
            <p:txBody>
              <a:bodyPr/>
              <a:lstStyle/>
              <a:p>
                <a:r>
                  <a:rPr lang="sv-SE">
                    <a:noFill/>
                  </a:rPr>
                  <a:t> </a:t>
                </a:r>
              </a:p>
            </p:txBody>
          </p:sp>
        </mc:Fallback>
      </mc:AlternateContent>
      <p:cxnSp>
        <p:nvCxnSpPr>
          <p:cNvPr id="70" name="Straight Arrow Connector 69"/>
          <p:cNvCxnSpPr/>
          <p:nvPr/>
        </p:nvCxnSpPr>
        <p:spPr>
          <a:xfrm flipV="1">
            <a:off x="5691053" y="5045803"/>
            <a:ext cx="705246" cy="218107"/>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5691053" y="5263910"/>
            <a:ext cx="0" cy="580300"/>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flipV="1">
            <a:off x="5004063" y="5052871"/>
            <a:ext cx="705245" cy="211039"/>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6492185" y="4792650"/>
            <a:ext cx="350520" cy="369332"/>
          </a:xfrm>
          <a:prstGeom prst="rect">
            <a:avLst/>
          </a:prstGeom>
          <a:noFill/>
        </p:spPr>
        <p:txBody>
          <a:bodyPr wrap="square" rtlCol="0">
            <a:spAutoFit/>
          </a:bodyPr>
          <a:lstStyle/>
          <a:p>
            <a:r>
              <a:rPr lang="en-US" dirty="0"/>
              <a:t>A</a:t>
            </a:r>
            <a:endParaRPr lang="sv-SE" dirty="0"/>
          </a:p>
        </p:txBody>
      </p:sp>
      <p:sp>
        <p:nvSpPr>
          <p:cNvPr id="74" name="TextBox 73"/>
          <p:cNvSpPr txBox="1"/>
          <p:nvPr/>
        </p:nvSpPr>
        <p:spPr>
          <a:xfrm>
            <a:off x="4821778" y="4715805"/>
            <a:ext cx="350520" cy="369332"/>
          </a:xfrm>
          <a:prstGeom prst="rect">
            <a:avLst/>
          </a:prstGeom>
          <a:noFill/>
        </p:spPr>
        <p:txBody>
          <a:bodyPr wrap="square" rtlCol="0">
            <a:spAutoFit/>
          </a:bodyPr>
          <a:lstStyle/>
          <a:p>
            <a:r>
              <a:rPr lang="en-US" dirty="0"/>
              <a:t>C</a:t>
            </a:r>
            <a:endParaRPr lang="sv-SE" dirty="0"/>
          </a:p>
        </p:txBody>
      </p:sp>
      <p:sp>
        <p:nvSpPr>
          <p:cNvPr id="75" name="TextBox 74"/>
          <p:cNvSpPr txBox="1"/>
          <p:nvPr/>
        </p:nvSpPr>
        <p:spPr>
          <a:xfrm>
            <a:off x="5534048" y="5844210"/>
            <a:ext cx="350520" cy="369332"/>
          </a:xfrm>
          <a:prstGeom prst="rect">
            <a:avLst/>
          </a:prstGeom>
          <a:noFill/>
        </p:spPr>
        <p:txBody>
          <a:bodyPr wrap="square" rtlCol="0">
            <a:spAutoFit/>
          </a:bodyPr>
          <a:lstStyle/>
          <a:p>
            <a:r>
              <a:rPr lang="en-US" dirty="0"/>
              <a:t>B</a:t>
            </a:r>
            <a:endParaRPr lang="sv-SE" dirty="0"/>
          </a:p>
        </p:txBody>
      </p:sp>
      <p:sp>
        <p:nvSpPr>
          <p:cNvPr id="76" name="Arc 75"/>
          <p:cNvSpPr/>
          <p:nvPr/>
        </p:nvSpPr>
        <p:spPr>
          <a:xfrm rot="7995084">
            <a:off x="5630818" y="5259378"/>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77" name="Arc 76"/>
          <p:cNvSpPr/>
          <p:nvPr/>
        </p:nvSpPr>
        <p:spPr>
          <a:xfrm rot="13679747">
            <a:off x="5349419" y="5271031"/>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78" name="Arc 77"/>
          <p:cNvSpPr/>
          <p:nvPr/>
        </p:nvSpPr>
        <p:spPr>
          <a:xfrm>
            <a:off x="5411568" y="5029624"/>
            <a:ext cx="577090" cy="264715"/>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79" name="TextBox 78"/>
              <p:cNvSpPr txBox="1"/>
              <p:nvPr/>
            </p:nvSpPr>
            <p:spPr>
              <a:xfrm>
                <a:off x="5417019" y="4701375"/>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79" name="TextBox 78"/>
              <p:cNvSpPr txBox="1">
                <a:spLocks noRot="1" noChangeAspect="1" noMove="1" noResize="1" noEditPoints="1" noAdjustHandles="1" noChangeArrowheads="1" noChangeShapeType="1" noTextEdit="1"/>
              </p:cNvSpPr>
              <p:nvPr/>
            </p:nvSpPr>
            <p:spPr>
              <a:xfrm>
                <a:off x="5417019" y="4701375"/>
                <a:ext cx="601661" cy="369332"/>
              </a:xfrm>
              <a:prstGeom prst="rect">
                <a:avLst/>
              </a:prstGeom>
              <a:blipFill>
                <a:blip r:embed="rId6"/>
                <a:stretch>
                  <a:fillRect r="-306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5800015" y="5307428"/>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80" name="TextBox 79"/>
              <p:cNvSpPr txBox="1">
                <a:spLocks noRot="1" noChangeAspect="1" noMove="1" noResize="1" noEditPoints="1" noAdjustHandles="1" noChangeArrowheads="1" noChangeShapeType="1" noTextEdit="1"/>
              </p:cNvSpPr>
              <p:nvPr/>
            </p:nvSpPr>
            <p:spPr>
              <a:xfrm>
                <a:off x="5800015" y="5307428"/>
                <a:ext cx="601661" cy="369332"/>
              </a:xfrm>
              <a:prstGeom prst="rect">
                <a:avLst/>
              </a:prstGeom>
              <a:blipFill>
                <a:blip r:embed="rId7"/>
                <a:stretch>
                  <a:fillRect r="-303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4925414" y="5348411"/>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81" name="TextBox 80"/>
              <p:cNvSpPr txBox="1">
                <a:spLocks noRot="1" noChangeAspect="1" noMove="1" noResize="1" noEditPoints="1" noAdjustHandles="1" noChangeArrowheads="1" noChangeShapeType="1" noTextEdit="1"/>
              </p:cNvSpPr>
              <p:nvPr/>
            </p:nvSpPr>
            <p:spPr>
              <a:xfrm>
                <a:off x="4925414" y="5348411"/>
                <a:ext cx="601661" cy="369332"/>
              </a:xfrm>
              <a:prstGeom prst="rect">
                <a:avLst/>
              </a:prstGeom>
              <a:blipFill>
                <a:blip r:embed="rId8"/>
                <a:stretch>
                  <a:fillRect r="-2020"/>
                </a:stretch>
              </a:blipFill>
            </p:spPr>
            <p:txBody>
              <a:bodyPr/>
              <a:lstStyle/>
              <a:p>
                <a:r>
                  <a:rPr lang="sv-SE">
                    <a:noFill/>
                  </a:rPr>
                  <a:t> </a:t>
                </a:r>
              </a:p>
            </p:txBody>
          </p:sp>
        </mc:Fallback>
      </mc:AlternateContent>
      <p:sp>
        <p:nvSpPr>
          <p:cNvPr id="82" name="Arc 81"/>
          <p:cNvSpPr/>
          <p:nvPr/>
        </p:nvSpPr>
        <p:spPr>
          <a:xfrm>
            <a:off x="2190721" y="4708449"/>
            <a:ext cx="973606" cy="218008"/>
          </a:xfrm>
          <a:prstGeom prst="arc">
            <a:avLst>
              <a:gd name="adj1" fmla="val 11793358"/>
              <a:gd name="adj2" fmla="val 20675501"/>
            </a:avLst>
          </a:prstGeom>
          <a:ln>
            <a:solidFill>
              <a:schemeClr val="tx1"/>
            </a:solidFill>
            <a:headEnd type="triangle"/>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83" name="Arc 82"/>
          <p:cNvSpPr/>
          <p:nvPr/>
        </p:nvSpPr>
        <p:spPr>
          <a:xfrm>
            <a:off x="5231046" y="4683539"/>
            <a:ext cx="973606" cy="218008"/>
          </a:xfrm>
          <a:prstGeom prst="arc">
            <a:avLst>
              <a:gd name="adj1" fmla="val 11793358"/>
              <a:gd name="adj2" fmla="val 2067550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cxnSp>
        <p:nvCxnSpPr>
          <p:cNvPr id="84" name="Straight Arrow Connector 83"/>
          <p:cNvCxnSpPr/>
          <p:nvPr/>
        </p:nvCxnSpPr>
        <p:spPr>
          <a:xfrm flipV="1">
            <a:off x="8860042" y="5342725"/>
            <a:ext cx="0" cy="40212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V="1">
            <a:off x="9172901" y="5342725"/>
            <a:ext cx="2281" cy="402120"/>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flipV="1">
            <a:off x="9008635" y="5354057"/>
            <a:ext cx="4087" cy="390788"/>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8635623" y="5043726"/>
            <a:ext cx="350520" cy="369332"/>
          </a:xfrm>
          <a:prstGeom prst="rect">
            <a:avLst/>
          </a:prstGeom>
          <a:noFill/>
        </p:spPr>
        <p:txBody>
          <a:bodyPr wrap="square" rtlCol="0">
            <a:spAutoFit/>
          </a:bodyPr>
          <a:lstStyle/>
          <a:p>
            <a:r>
              <a:rPr lang="en-US" dirty="0"/>
              <a:t>A</a:t>
            </a:r>
            <a:endParaRPr lang="sv-SE" dirty="0"/>
          </a:p>
        </p:txBody>
      </p:sp>
      <p:sp>
        <p:nvSpPr>
          <p:cNvPr id="88" name="TextBox 87"/>
          <p:cNvSpPr txBox="1"/>
          <p:nvPr/>
        </p:nvSpPr>
        <p:spPr>
          <a:xfrm>
            <a:off x="9024308" y="5052256"/>
            <a:ext cx="350520" cy="369332"/>
          </a:xfrm>
          <a:prstGeom prst="rect">
            <a:avLst/>
          </a:prstGeom>
          <a:noFill/>
        </p:spPr>
        <p:txBody>
          <a:bodyPr wrap="square" rtlCol="0">
            <a:spAutoFit/>
          </a:bodyPr>
          <a:lstStyle/>
          <a:p>
            <a:r>
              <a:rPr lang="en-US" dirty="0"/>
              <a:t>C</a:t>
            </a:r>
            <a:endParaRPr lang="sv-SE" dirty="0"/>
          </a:p>
        </p:txBody>
      </p:sp>
      <p:sp>
        <p:nvSpPr>
          <p:cNvPr id="89" name="TextBox 88"/>
          <p:cNvSpPr txBox="1"/>
          <p:nvPr/>
        </p:nvSpPr>
        <p:spPr>
          <a:xfrm>
            <a:off x="8860042" y="5055017"/>
            <a:ext cx="350520" cy="369332"/>
          </a:xfrm>
          <a:prstGeom prst="rect">
            <a:avLst/>
          </a:prstGeom>
          <a:noFill/>
        </p:spPr>
        <p:txBody>
          <a:bodyPr wrap="square" rtlCol="0">
            <a:spAutoFit/>
          </a:bodyPr>
          <a:lstStyle/>
          <a:p>
            <a:r>
              <a:rPr lang="en-US" dirty="0"/>
              <a:t>B</a:t>
            </a:r>
            <a:endParaRPr lang="sv-SE" dirty="0"/>
          </a:p>
        </p:txBody>
      </p:sp>
      <mc:AlternateContent xmlns:mc="http://schemas.openxmlformats.org/markup-compatibility/2006" xmlns:a14="http://schemas.microsoft.com/office/drawing/2010/main">
        <mc:Choice Requires="a14">
          <p:sp>
            <p:nvSpPr>
              <p:cNvPr id="123" name="TextBox 122"/>
              <p:cNvSpPr txBox="1"/>
              <p:nvPr/>
            </p:nvSpPr>
            <p:spPr>
              <a:xfrm>
                <a:off x="1753330" y="6165526"/>
                <a:ext cx="2055383" cy="646331"/>
              </a:xfrm>
              <a:prstGeom prst="rect">
                <a:avLst/>
              </a:prstGeom>
              <a:noFill/>
            </p:spPr>
            <p:txBody>
              <a:bodyPr wrap="square" rtlCol="0">
                <a:spAutoFit/>
              </a:bodyPr>
              <a:lstStyle/>
              <a:p>
                <a:r>
                  <a:rPr lang="en-US" dirty="0"/>
                  <a:t>Positive Sequence</a:t>
                </a:r>
              </a:p>
              <a:p>
                <a14:m>
                  <m:oMath xmlns:m="http://schemas.openxmlformats.org/officeDocument/2006/math">
                    <m:sSub>
                      <m:sSubPr>
                        <m:ctrlPr>
                          <a:rPr lang="en-US" b="0" i="1" smtClean="0">
                            <a:latin typeface="Cambria Math" panose="02040503050406030204" pitchFamily="18" charset="0"/>
                          </a:rPr>
                        </m:ctrlPr>
                      </m:sSubPr>
                      <m:e>
                        <m:r>
                          <a:rPr lang="sv-SE" b="0" i="1" smtClean="0">
                            <a:latin typeface="Cambria Math" panose="02040503050406030204" pitchFamily="18" charset="0"/>
                          </a:rPr>
                          <m:t>𝑓</m:t>
                        </m:r>
                      </m:e>
                      <m:sub>
                        <m:r>
                          <a:rPr lang="en-US" b="0" i="1" smtClean="0">
                            <a:latin typeface="Cambria Math" panose="02040503050406030204" pitchFamily="18" charset="0"/>
                          </a:rPr>
                          <m:t>0</m:t>
                        </m:r>
                      </m:sub>
                    </m:sSub>
                    <m:r>
                      <a:rPr lang="en-US" b="0" i="1" smtClean="0">
                        <a:latin typeface="Cambria Math" panose="02040503050406030204" pitchFamily="18" charset="0"/>
                      </a:rPr>
                      <m:t> </m:t>
                    </m:r>
                  </m:oMath>
                </a14:m>
                <a:r>
                  <a:rPr lang="sv-SE" dirty="0"/>
                  <a:t> and </a:t>
                </a:r>
                <a14:m>
                  <m:oMath xmlns:m="http://schemas.openxmlformats.org/officeDocument/2006/math">
                    <m:sSub>
                      <m:sSubPr>
                        <m:ctrlPr>
                          <a:rPr lang="en-US" i="1">
                            <a:latin typeface="Cambria Math" panose="02040503050406030204" pitchFamily="18" charset="0"/>
                          </a:rPr>
                        </m:ctrlPr>
                      </m:sSubPr>
                      <m:e>
                        <m:r>
                          <a:rPr lang="sv-SE" i="1">
                            <a:latin typeface="Cambria Math" panose="02040503050406030204" pitchFamily="18" charset="0"/>
                          </a:rPr>
                          <m:t>𝑓</m:t>
                        </m:r>
                      </m:e>
                      <m:sub>
                        <m:r>
                          <a:rPr lang="en-US" b="0" i="1" smtClean="0">
                            <a:latin typeface="Cambria Math" panose="02040503050406030204" pitchFamily="18" charset="0"/>
                          </a:rPr>
                          <m:t>𝑠</m:t>
                        </m:r>
                      </m:sub>
                    </m:sSub>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0</m:t>
                        </m:r>
                      </m:sub>
                    </m:sSub>
                  </m:oMath>
                </a14:m>
                <a:endParaRPr lang="sv-SE" dirty="0"/>
              </a:p>
            </p:txBody>
          </p:sp>
        </mc:Choice>
        <mc:Fallback xmlns="">
          <p:sp>
            <p:nvSpPr>
              <p:cNvPr id="123" name="TextBox 122"/>
              <p:cNvSpPr txBox="1">
                <a:spLocks noRot="1" noChangeAspect="1" noMove="1" noResize="1" noEditPoints="1" noAdjustHandles="1" noChangeArrowheads="1" noChangeShapeType="1" noTextEdit="1"/>
              </p:cNvSpPr>
              <p:nvPr/>
            </p:nvSpPr>
            <p:spPr>
              <a:xfrm>
                <a:off x="1753330" y="6165526"/>
                <a:ext cx="2055383" cy="646331"/>
              </a:xfrm>
              <a:prstGeom prst="rect">
                <a:avLst/>
              </a:prstGeom>
              <a:blipFill>
                <a:blip r:embed="rId9"/>
                <a:stretch>
                  <a:fillRect l="-2671" t="-4717" b="-1415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4821778" y="6193868"/>
                <a:ext cx="2055383" cy="646331"/>
              </a:xfrm>
              <a:prstGeom prst="rect">
                <a:avLst/>
              </a:prstGeom>
              <a:noFill/>
            </p:spPr>
            <p:txBody>
              <a:bodyPr wrap="square" rtlCol="0">
                <a:spAutoFit/>
              </a:bodyPr>
              <a:lstStyle/>
              <a:p>
                <a:r>
                  <a:rPr lang="en-US" dirty="0"/>
                  <a:t>Negative Sequence</a:t>
                </a: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sv-SE" i="1">
                              <a:latin typeface="Cambria Math" panose="02040503050406030204" pitchFamily="18" charset="0"/>
                            </a:rPr>
                            <m:t>𝑓</m:t>
                          </m:r>
                        </m:e>
                        <m:sub>
                          <m:r>
                            <a:rPr lang="en-US" b="0" i="1" smtClean="0">
                              <a:latin typeface="Cambria Math" panose="02040503050406030204" pitchFamily="18" charset="0"/>
                            </a:rPr>
                            <m:t>𝑠</m:t>
                          </m:r>
                        </m:sub>
                      </m:sSub>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0</m:t>
                          </m:r>
                        </m:sub>
                      </m:sSub>
                    </m:oMath>
                  </m:oMathPara>
                </a14:m>
                <a:endParaRPr lang="sv-SE" dirty="0"/>
              </a:p>
            </p:txBody>
          </p:sp>
        </mc:Choice>
        <mc:Fallback xmlns="">
          <p:sp>
            <p:nvSpPr>
              <p:cNvPr id="124" name="TextBox 123"/>
              <p:cNvSpPr txBox="1">
                <a:spLocks noRot="1" noChangeAspect="1" noMove="1" noResize="1" noEditPoints="1" noAdjustHandles="1" noChangeArrowheads="1" noChangeShapeType="1" noTextEdit="1"/>
              </p:cNvSpPr>
              <p:nvPr/>
            </p:nvSpPr>
            <p:spPr>
              <a:xfrm>
                <a:off x="4821778" y="6193868"/>
                <a:ext cx="2055383" cy="646331"/>
              </a:xfrm>
              <a:prstGeom prst="rect">
                <a:avLst/>
              </a:prstGeom>
              <a:blipFill>
                <a:blip r:embed="rId10"/>
                <a:stretch>
                  <a:fillRect l="-2671" t="-4717" b="-754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581" y="6113026"/>
                <a:ext cx="2055383" cy="646331"/>
              </a:xfrm>
              <a:prstGeom prst="rect">
                <a:avLst/>
              </a:prstGeom>
              <a:noFill/>
            </p:spPr>
            <p:txBody>
              <a:bodyPr wrap="square" rtlCol="0">
                <a:spAutoFit/>
              </a:bodyPr>
              <a:lstStyle/>
              <a:p>
                <a:r>
                  <a:rPr lang="en-US" dirty="0"/>
                  <a:t>    Zero Sequence</a:t>
                </a: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sv-SE" i="1">
                              <a:latin typeface="Cambria Math" panose="02040503050406030204" pitchFamily="18" charset="0"/>
                            </a:rPr>
                            <m:t>𝑓</m:t>
                          </m:r>
                        </m:e>
                        <m:sub>
                          <m:r>
                            <a:rPr lang="en-US" b="0" i="1" smtClean="0">
                              <a:latin typeface="Cambria Math" panose="02040503050406030204" pitchFamily="18" charset="0"/>
                            </a:rPr>
                            <m:t>𝑠</m:t>
                          </m:r>
                        </m:sub>
                      </m:sSub>
                    </m:oMath>
                  </m:oMathPara>
                </a14:m>
                <a:endParaRPr lang="sv-SE" dirty="0"/>
              </a:p>
            </p:txBody>
          </p:sp>
        </mc:Choice>
        <mc:Fallback xmlns="">
          <p:sp>
            <p:nvSpPr>
              <p:cNvPr id="125" name="TextBox 124"/>
              <p:cNvSpPr txBox="1">
                <a:spLocks noRot="1" noChangeAspect="1" noMove="1" noResize="1" noEditPoints="1" noAdjustHandles="1" noChangeArrowheads="1" noChangeShapeType="1" noTextEdit="1"/>
              </p:cNvSpPr>
              <p:nvPr/>
            </p:nvSpPr>
            <p:spPr>
              <a:xfrm>
                <a:off x="7908581" y="6113026"/>
                <a:ext cx="2055383" cy="646331"/>
              </a:xfrm>
              <a:prstGeom prst="rect">
                <a:avLst/>
              </a:prstGeom>
              <a:blipFill>
                <a:blip r:embed="rId11"/>
                <a:stretch>
                  <a:fillRect t="-5660" b="-6604"/>
                </a:stretch>
              </a:blipFill>
            </p:spPr>
            <p:txBody>
              <a:bodyPr/>
              <a:lstStyle/>
              <a:p>
                <a:r>
                  <a:rPr lang="sv-SE">
                    <a:noFill/>
                  </a:rPr>
                  <a:t> </a:t>
                </a:r>
              </a:p>
            </p:txBody>
          </p:sp>
        </mc:Fallback>
      </mc:AlternateContent>
    </p:spTree>
    <p:extLst>
      <p:ext uri="{BB962C8B-B14F-4D97-AF65-F5344CB8AC3E}">
        <p14:creationId xmlns:p14="http://schemas.microsoft.com/office/powerpoint/2010/main" val="797074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a:solidFill>
                  <a:srgbClr val="C00000"/>
                </a:solidFill>
              </a:rPr>
              <a:t>The initial </a:t>
            </a:r>
            <a:r>
              <a:rPr lang="sv-SE" b="1" dirty="0" err="1">
                <a:solidFill>
                  <a:srgbClr val="C00000"/>
                </a:solidFill>
              </a:rPr>
              <a:t>idea</a:t>
            </a:r>
            <a:endParaRPr lang="sv-SE" b="1" dirty="0">
              <a:solidFill>
                <a:srgbClr val="C00000"/>
              </a:solidFill>
            </a:endParaRPr>
          </a:p>
        </p:txBody>
      </p:sp>
      <p:sp>
        <p:nvSpPr>
          <p:cNvPr id="5" name="Rectangle 4"/>
          <p:cNvSpPr/>
          <p:nvPr/>
        </p:nvSpPr>
        <p:spPr>
          <a:xfrm>
            <a:off x="675663" y="1412334"/>
            <a:ext cx="9647797" cy="1200329"/>
          </a:xfrm>
          <a:prstGeom prst="rect">
            <a:avLst/>
          </a:prstGeom>
        </p:spPr>
        <p:txBody>
          <a:bodyPr wrap="square">
            <a:spAutoFit/>
          </a:bodyPr>
          <a:lstStyle/>
          <a:p>
            <a:r>
              <a:rPr lang="en-US" b="1" dirty="0"/>
              <a:t>The magnitude of the zero sequence </a:t>
            </a:r>
            <a:r>
              <a:rPr lang="en-US" dirty="0"/>
              <a:t>component (so the first switching frequency) is </a:t>
            </a:r>
            <a:r>
              <a:rPr lang="en-US" b="1" dirty="0"/>
              <a:t>higher than </a:t>
            </a:r>
            <a:r>
              <a:rPr lang="en-US" dirty="0"/>
              <a:t>the </a:t>
            </a:r>
            <a:r>
              <a:rPr lang="en-US" b="1" dirty="0"/>
              <a:t>positive and negative sequences </a:t>
            </a:r>
            <a:r>
              <a:rPr lang="en-US" dirty="0"/>
              <a:t>(sidebands). Although It is actually good considering differential-mode current, it is bad regarding common-mode current. </a:t>
            </a:r>
          </a:p>
          <a:p>
            <a:endParaRPr lang="en-US" dirty="0"/>
          </a:p>
        </p:txBody>
      </p:sp>
      <p:pic>
        <p:nvPicPr>
          <p:cNvPr id="6" name="Picture 5"/>
          <p:cNvPicPr>
            <a:picLocks noChangeAspect="1"/>
          </p:cNvPicPr>
          <p:nvPr/>
        </p:nvPicPr>
        <p:blipFill rotWithShape="1">
          <a:blip r:embed="rId2"/>
          <a:srcRect r="18550"/>
          <a:stretch/>
        </p:blipFill>
        <p:spPr>
          <a:xfrm>
            <a:off x="5776097" y="2271270"/>
            <a:ext cx="4872938" cy="1297203"/>
          </a:xfrm>
          <a:prstGeom prst="rect">
            <a:avLst/>
          </a:prstGeom>
        </p:spPr>
      </p:pic>
      <p:pic>
        <p:nvPicPr>
          <p:cNvPr id="45" name="Picture 44">
            <a:extLst>
              <a:ext uri="{FF2B5EF4-FFF2-40B4-BE49-F238E27FC236}">
                <a16:creationId xmlns:a16="http://schemas.microsoft.com/office/drawing/2014/main" id="{CF4CD85C-BAF5-45AE-AB1F-913512F20D38}"/>
              </a:ext>
            </a:extLst>
          </p:cNvPr>
          <p:cNvPicPr>
            <a:picLocks noChangeAspect="1"/>
          </p:cNvPicPr>
          <p:nvPr/>
        </p:nvPicPr>
        <p:blipFill>
          <a:blip r:embed="rId3"/>
          <a:stretch>
            <a:fillRect/>
          </a:stretch>
        </p:blipFill>
        <p:spPr>
          <a:xfrm>
            <a:off x="1077049" y="3632810"/>
            <a:ext cx="4193421" cy="3145066"/>
          </a:xfrm>
          <a:prstGeom prst="rect">
            <a:avLst/>
          </a:prstGeom>
        </p:spPr>
      </p:pic>
      <p:pic>
        <p:nvPicPr>
          <p:cNvPr id="93" name="Picture 92">
            <a:extLst>
              <a:ext uri="{FF2B5EF4-FFF2-40B4-BE49-F238E27FC236}">
                <a16:creationId xmlns:a16="http://schemas.microsoft.com/office/drawing/2014/main" id="{07414F65-2446-4AA3-85C8-3EE7319D6AE5}"/>
              </a:ext>
            </a:extLst>
          </p:cNvPr>
          <p:cNvPicPr>
            <a:picLocks noChangeAspect="1"/>
          </p:cNvPicPr>
          <p:nvPr/>
        </p:nvPicPr>
        <p:blipFill>
          <a:blip r:embed="rId4"/>
          <a:stretch>
            <a:fillRect/>
          </a:stretch>
        </p:blipFill>
        <p:spPr>
          <a:xfrm>
            <a:off x="5214098" y="3867903"/>
            <a:ext cx="3784477" cy="2838358"/>
          </a:xfrm>
          <a:prstGeom prst="rect">
            <a:avLst/>
          </a:prstGeom>
        </p:spPr>
      </p:pic>
      <p:pic>
        <p:nvPicPr>
          <p:cNvPr id="94" name="Picture 93">
            <a:extLst>
              <a:ext uri="{FF2B5EF4-FFF2-40B4-BE49-F238E27FC236}">
                <a16:creationId xmlns:a16="http://schemas.microsoft.com/office/drawing/2014/main" id="{49EDA3C9-8E38-4364-81DB-51F677C9A182}"/>
              </a:ext>
            </a:extLst>
          </p:cNvPr>
          <p:cNvPicPr>
            <a:picLocks noChangeAspect="1"/>
          </p:cNvPicPr>
          <p:nvPr/>
        </p:nvPicPr>
        <p:blipFill rotWithShape="1">
          <a:blip r:embed="rId5"/>
          <a:srcRect l="16786" t="43411" r="74646" b="37522"/>
          <a:stretch/>
        </p:blipFill>
        <p:spPr>
          <a:xfrm>
            <a:off x="9540867" y="4677794"/>
            <a:ext cx="457077" cy="762793"/>
          </a:xfrm>
          <a:prstGeom prst="rect">
            <a:avLst/>
          </a:prstGeom>
        </p:spPr>
      </p:pic>
      <p:pic>
        <p:nvPicPr>
          <p:cNvPr id="95" name="Picture 94">
            <a:extLst>
              <a:ext uri="{FF2B5EF4-FFF2-40B4-BE49-F238E27FC236}">
                <a16:creationId xmlns:a16="http://schemas.microsoft.com/office/drawing/2014/main" id="{00AB7F22-70EA-4D6F-9A04-5F515D2338DB}"/>
              </a:ext>
            </a:extLst>
          </p:cNvPr>
          <p:cNvPicPr>
            <a:picLocks noChangeAspect="1"/>
          </p:cNvPicPr>
          <p:nvPr/>
        </p:nvPicPr>
        <p:blipFill rotWithShape="1">
          <a:blip r:embed="rId5"/>
          <a:srcRect l="17387" t="61956" r="74849" b="19135"/>
          <a:stretch/>
        </p:blipFill>
        <p:spPr>
          <a:xfrm>
            <a:off x="9588705" y="5722006"/>
            <a:ext cx="414152" cy="756443"/>
          </a:xfrm>
          <a:prstGeom prst="rect">
            <a:avLst/>
          </a:prstGeom>
        </p:spPr>
      </p:pic>
      <p:sp>
        <p:nvSpPr>
          <p:cNvPr id="96" name="TextBox 95">
            <a:extLst>
              <a:ext uri="{FF2B5EF4-FFF2-40B4-BE49-F238E27FC236}">
                <a16:creationId xmlns:a16="http://schemas.microsoft.com/office/drawing/2014/main" id="{F3C3BCDC-4BA2-4685-89EB-FC176684F21C}"/>
              </a:ext>
            </a:extLst>
          </p:cNvPr>
          <p:cNvSpPr txBox="1"/>
          <p:nvPr/>
        </p:nvSpPr>
        <p:spPr>
          <a:xfrm>
            <a:off x="8951370" y="4346460"/>
            <a:ext cx="1274670" cy="369332"/>
          </a:xfrm>
          <a:prstGeom prst="rect">
            <a:avLst/>
          </a:prstGeom>
          <a:noFill/>
        </p:spPr>
        <p:txBody>
          <a:bodyPr wrap="square" rtlCol="0">
            <a:spAutoFit/>
          </a:bodyPr>
          <a:lstStyle/>
          <a:p>
            <a:r>
              <a:rPr lang="en-US" dirty="0"/>
              <a:t>References</a:t>
            </a:r>
          </a:p>
        </p:txBody>
      </p:sp>
      <p:sp>
        <p:nvSpPr>
          <p:cNvPr id="97" name="TextBox 96">
            <a:extLst>
              <a:ext uri="{FF2B5EF4-FFF2-40B4-BE49-F238E27FC236}">
                <a16:creationId xmlns:a16="http://schemas.microsoft.com/office/drawing/2014/main" id="{0C17F648-5109-4AD9-B1E7-3D58351430A9}"/>
              </a:ext>
            </a:extLst>
          </p:cNvPr>
          <p:cNvSpPr txBox="1"/>
          <p:nvPr/>
        </p:nvSpPr>
        <p:spPr>
          <a:xfrm>
            <a:off x="9295246" y="4597387"/>
            <a:ext cx="271341" cy="369332"/>
          </a:xfrm>
          <a:prstGeom prst="rect">
            <a:avLst/>
          </a:prstGeom>
          <a:noFill/>
        </p:spPr>
        <p:txBody>
          <a:bodyPr wrap="square" rtlCol="0">
            <a:spAutoFit/>
          </a:bodyPr>
          <a:lstStyle/>
          <a:p>
            <a:r>
              <a:rPr lang="en-US" dirty="0"/>
              <a:t>A</a:t>
            </a:r>
          </a:p>
        </p:txBody>
      </p:sp>
      <p:sp>
        <p:nvSpPr>
          <p:cNvPr id="98" name="TextBox 97">
            <a:extLst>
              <a:ext uri="{FF2B5EF4-FFF2-40B4-BE49-F238E27FC236}">
                <a16:creationId xmlns:a16="http://schemas.microsoft.com/office/drawing/2014/main" id="{D8CB5019-DC42-4A96-AB03-58AA0F8CB33F}"/>
              </a:ext>
            </a:extLst>
          </p:cNvPr>
          <p:cNvSpPr txBox="1"/>
          <p:nvPr/>
        </p:nvSpPr>
        <p:spPr>
          <a:xfrm>
            <a:off x="9299184" y="4874524"/>
            <a:ext cx="271341" cy="369332"/>
          </a:xfrm>
          <a:prstGeom prst="rect">
            <a:avLst/>
          </a:prstGeom>
          <a:noFill/>
        </p:spPr>
        <p:txBody>
          <a:bodyPr wrap="square" rtlCol="0">
            <a:spAutoFit/>
          </a:bodyPr>
          <a:lstStyle/>
          <a:p>
            <a:r>
              <a:rPr lang="en-US" dirty="0"/>
              <a:t>B</a:t>
            </a:r>
          </a:p>
        </p:txBody>
      </p:sp>
      <p:sp>
        <p:nvSpPr>
          <p:cNvPr id="99" name="TextBox 98">
            <a:extLst>
              <a:ext uri="{FF2B5EF4-FFF2-40B4-BE49-F238E27FC236}">
                <a16:creationId xmlns:a16="http://schemas.microsoft.com/office/drawing/2014/main" id="{D8C0E815-05DD-4B11-ABB0-8CE137CF9470}"/>
              </a:ext>
            </a:extLst>
          </p:cNvPr>
          <p:cNvSpPr txBox="1"/>
          <p:nvPr/>
        </p:nvSpPr>
        <p:spPr>
          <a:xfrm>
            <a:off x="9305244" y="5123121"/>
            <a:ext cx="271341" cy="369332"/>
          </a:xfrm>
          <a:prstGeom prst="rect">
            <a:avLst/>
          </a:prstGeom>
          <a:noFill/>
        </p:spPr>
        <p:txBody>
          <a:bodyPr wrap="square" rtlCol="0">
            <a:spAutoFit/>
          </a:bodyPr>
          <a:lstStyle/>
          <a:p>
            <a:r>
              <a:rPr lang="en-US" dirty="0"/>
              <a:t>C</a:t>
            </a:r>
          </a:p>
        </p:txBody>
      </p:sp>
      <p:sp>
        <p:nvSpPr>
          <p:cNvPr id="100" name="TextBox 99">
            <a:extLst>
              <a:ext uri="{FF2B5EF4-FFF2-40B4-BE49-F238E27FC236}">
                <a16:creationId xmlns:a16="http://schemas.microsoft.com/office/drawing/2014/main" id="{E481AF34-5F92-40E3-8BBF-4EBEEE0C990F}"/>
              </a:ext>
            </a:extLst>
          </p:cNvPr>
          <p:cNvSpPr txBox="1"/>
          <p:nvPr/>
        </p:nvSpPr>
        <p:spPr>
          <a:xfrm>
            <a:off x="9301306" y="5657543"/>
            <a:ext cx="271341" cy="369332"/>
          </a:xfrm>
          <a:prstGeom prst="rect">
            <a:avLst/>
          </a:prstGeom>
          <a:noFill/>
        </p:spPr>
        <p:txBody>
          <a:bodyPr wrap="square" rtlCol="0">
            <a:spAutoFit/>
          </a:bodyPr>
          <a:lstStyle/>
          <a:p>
            <a:r>
              <a:rPr lang="en-US" dirty="0"/>
              <a:t>A</a:t>
            </a:r>
          </a:p>
        </p:txBody>
      </p:sp>
      <p:sp>
        <p:nvSpPr>
          <p:cNvPr id="101" name="TextBox 100">
            <a:extLst>
              <a:ext uri="{FF2B5EF4-FFF2-40B4-BE49-F238E27FC236}">
                <a16:creationId xmlns:a16="http://schemas.microsoft.com/office/drawing/2014/main" id="{E85B0A63-CAF3-4DB8-AC59-15AE86A729D1}"/>
              </a:ext>
            </a:extLst>
          </p:cNvPr>
          <p:cNvSpPr txBox="1"/>
          <p:nvPr/>
        </p:nvSpPr>
        <p:spPr>
          <a:xfrm>
            <a:off x="9305244" y="5934680"/>
            <a:ext cx="271341" cy="369332"/>
          </a:xfrm>
          <a:prstGeom prst="rect">
            <a:avLst/>
          </a:prstGeom>
          <a:noFill/>
        </p:spPr>
        <p:txBody>
          <a:bodyPr wrap="square" rtlCol="0">
            <a:spAutoFit/>
          </a:bodyPr>
          <a:lstStyle/>
          <a:p>
            <a:r>
              <a:rPr lang="en-US" dirty="0"/>
              <a:t>B</a:t>
            </a:r>
          </a:p>
        </p:txBody>
      </p:sp>
      <p:sp>
        <p:nvSpPr>
          <p:cNvPr id="102" name="TextBox 101">
            <a:extLst>
              <a:ext uri="{FF2B5EF4-FFF2-40B4-BE49-F238E27FC236}">
                <a16:creationId xmlns:a16="http://schemas.microsoft.com/office/drawing/2014/main" id="{8C3C459E-D531-4A21-B9C8-5CDC17335D4D}"/>
              </a:ext>
            </a:extLst>
          </p:cNvPr>
          <p:cNvSpPr txBox="1"/>
          <p:nvPr/>
        </p:nvSpPr>
        <p:spPr>
          <a:xfrm>
            <a:off x="9311304" y="6183277"/>
            <a:ext cx="271341" cy="369332"/>
          </a:xfrm>
          <a:prstGeom prst="rect">
            <a:avLst/>
          </a:prstGeom>
          <a:noFill/>
        </p:spPr>
        <p:txBody>
          <a:bodyPr wrap="square" rtlCol="0">
            <a:spAutoFit/>
          </a:bodyPr>
          <a:lstStyle/>
          <a:p>
            <a:r>
              <a:rPr lang="en-US" dirty="0"/>
              <a:t>C</a:t>
            </a:r>
          </a:p>
        </p:txBody>
      </p:sp>
      <p:sp>
        <p:nvSpPr>
          <p:cNvPr id="103" name="TextBox 102">
            <a:extLst>
              <a:ext uri="{FF2B5EF4-FFF2-40B4-BE49-F238E27FC236}">
                <a16:creationId xmlns:a16="http://schemas.microsoft.com/office/drawing/2014/main" id="{DD99FAC2-ECD9-4765-A6DA-F10913C5AFD7}"/>
              </a:ext>
            </a:extLst>
          </p:cNvPr>
          <p:cNvSpPr txBox="1"/>
          <p:nvPr/>
        </p:nvSpPr>
        <p:spPr>
          <a:xfrm>
            <a:off x="8977209" y="5381892"/>
            <a:ext cx="830048" cy="369332"/>
          </a:xfrm>
          <a:prstGeom prst="rect">
            <a:avLst/>
          </a:prstGeom>
          <a:noFill/>
        </p:spPr>
        <p:txBody>
          <a:bodyPr wrap="square" rtlCol="0">
            <a:spAutoFit/>
          </a:bodyPr>
          <a:lstStyle/>
          <a:p>
            <a:r>
              <a:rPr lang="en-US" dirty="0"/>
              <a:t>Carrier</a:t>
            </a:r>
          </a:p>
        </p:txBody>
      </p:sp>
      <p:cxnSp>
        <p:nvCxnSpPr>
          <p:cNvPr id="104" name="Straight Arrow Connector 103">
            <a:extLst>
              <a:ext uri="{FF2B5EF4-FFF2-40B4-BE49-F238E27FC236}">
                <a16:creationId xmlns:a16="http://schemas.microsoft.com/office/drawing/2014/main" id="{EB21024C-92EC-4A63-91F6-FC59D59A6B74}"/>
              </a:ext>
            </a:extLst>
          </p:cNvPr>
          <p:cNvCxnSpPr>
            <a:cxnSpLocks/>
          </p:cNvCxnSpPr>
          <p:nvPr/>
        </p:nvCxnSpPr>
        <p:spPr>
          <a:xfrm>
            <a:off x="5718818" y="5334916"/>
            <a:ext cx="1918762"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92B4CBE9-C6F6-4A89-AC4D-8779DAA2F7DA}"/>
                  </a:ext>
                </a:extLst>
              </p:cNvPr>
              <p:cNvSpPr txBox="1"/>
              <p:nvPr/>
            </p:nvSpPr>
            <p:spPr>
              <a:xfrm>
                <a:off x="6187435" y="4745786"/>
                <a:ext cx="1023381" cy="496996"/>
              </a:xfrm>
              <a:prstGeom prst="rect">
                <a:avLst/>
              </a:prstGeom>
              <a:solidFill>
                <a:schemeClr val="bg1">
                  <a:alpha val="0"/>
                </a:schemeClr>
              </a:solid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𝐶𝐵</m:t>
                            </m:r>
                          </m:sub>
                        </m:sSub>
                      </m:num>
                      <m:den>
                        <m:r>
                          <a:rPr lang="en-US" b="0" i="1" smtClean="0">
                            <a:latin typeface="Cambria Math" panose="02040503050406030204" pitchFamily="18" charset="0"/>
                          </a:rPr>
                          <m:t>2</m:t>
                        </m:r>
                        <m:r>
                          <a:rPr lang="en-US" b="0" i="1" smtClean="0">
                            <a:latin typeface="Cambria Math" panose="02040503050406030204" pitchFamily="18" charset="0"/>
                          </a:rPr>
                          <m:t>𝜋</m:t>
                        </m:r>
                      </m:den>
                    </m:f>
                    <m:r>
                      <m:rPr>
                        <m:nor/>
                      </m:rPr>
                      <a:rPr lang="en-US" sz="2000" dirty="0"/>
                      <m:t>)</m:t>
                    </m:r>
                  </m:oMath>
                </a14:m>
                <a:r>
                  <a:rPr lang="en-US" sz="2000" dirty="0"/>
                  <a:t> </a:t>
                </a:r>
              </a:p>
            </p:txBody>
          </p:sp>
        </mc:Choice>
        <mc:Fallback xmlns="">
          <p:sp>
            <p:nvSpPr>
              <p:cNvPr id="105" name="TextBox 104">
                <a:extLst>
                  <a:ext uri="{FF2B5EF4-FFF2-40B4-BE49-F238E27FC236}">
                    <a16:creationId xmlns:a16="http://schemas.microsoft.com/office/drawing/2014/main" id="{92B4CBE9-C6F6-4A89-AC4D-8779DAA2F7DA}"/>
                  </a:ext>
                </a:extLst>
              </p:cNvPr>
              <p:cNvSpPr txBox="1">
                <a:spLocks noRot="1" noChangeAspect="1" noMove="1" noResize="1" noEditPoints="1" noAdjustHandles="1" noChangeArrowheads="1" noChangeShapeType="1" noTextEdit="1"/>
              </p:cNvSpPr>
              <p:nvPr/>
            </p:nvSpPr>
            <p:spPr>
              <a:xfrm>
                <a:off x="6187435" y="4745786"/>
                <a:ext cx="1023381" cy="496996"/>
              </a:xfrm>
              <a:prstGeom prst="rect">
                <a:avLst/>
              </a:prstGeom>
              <a:blipFill>
                <a:blip r:embed="rId6"/>
                <a:stretch>
                  <a:fillRect b="-2469"/>
                </a:stretch>
              </a:blipFill>
            </p:spPr>
            <p:txBody>
              <a:bodyPr/>
              <a:lstStyle/>
              <a:p>
                <a:r>
                  <a:rPr lang="sv-SE">
                    <a:noFill/>
                  </a:rPr>
                  <a:t> </a:t>
                </a:r>
              </a:p>
            </p:txBody>
          </p:sp>
        </mc:Fallback>
      </mc:AlternateContent>
      <p:cxnSp>
        <p:nvCxnSpPr>
          <p:cNvPr id="106" name="Straight Arrow Connector 105">
            <a:extLst>
              <a:ext uri="{FF2B5EF4-FFF2-40B4-BE49-F238E27FC236}">
                <a16:creationId xmlns:a16="http://schemas.microsoft.com/office/drawing/2014/main" id="{B73462ED-8679-4A12-8D47-7A5635643DF7}"/>
              </a:ext>
            </a:extLst>
          </p:cNvPr>
          <p:cNvCxnSpPr>
            <a:cxnSpLocks/>
          </p:cNvCxnSpPr>
          <p:nvPr/>
        </p:nvCxnSpPr>
        <p:spPr>
          <a:xfrm>
            <a:off x="5714633" y="5961117"/>
            <a:ext cx="945606"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E960DCB-80B9-4702-B867-4582BCDEFEFF}"/>
              </a:ext>
            </a:extLst>
          </p:cNvPr>
          <p:cNvCxnSpPr>
            <a:cxnSpLocks/>
          </p:cNvCxnSpPr>
          <p:nvPr/>
        </p:nvCxnSpPr>
        <p:spPr>
          <a:xfrm>
            <a:off x="7637580" y="5205343"/>
            <a:ext cx="32363" cy="1208156"/>
          </a:xfrm>
          <a:prstGeom prst="line">
            <a:avLst/>
          </a:prstGeom>
          <a:ln w="19050">
            <a:solidFill>
              <a:schemeClr val="tx1"/>
            </a:solidFill>
            <a:prstDash val="sysDash"/>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41D5651-9A77-404C-BE67-13859E189407}"/>
              </a:ext>
            </a:extLst>
          </p:cNvPr>
          <p:cNvCxnSpPr>
            <a:cxnSpLocks/>
          </p:cNvCxnSpPr>
          <p:nvPr/>
        </p:nvCxnSpPr>
        <p:spPr>
          <a:xfrm>
            <a:off x="6678199" y="5717958"/>
            <a:ext cx="0" cy="648028"/>
          </a:xfrm>
          <a:prstGeom prst="line">
            <a:avLst/>
          </a:prstGeom>
          <a:ln w="19050">
            <a:solidFill>
              <a:schemeClr val="tx1"/>
            </a:solidFill>
            <a:prstDash val="sysDash"/>
          </a:ln>
          <a:effectLst>
            <a:glow rad="25400">
              <a:schemeClr val="bg1"/>
            </a:glo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319557C7-0E1D-4915-BB2F-1C51F9FA96CB}"/>
                  </a:ext>
                </a:extLst>
              </p:cNvPr>
              <p:cNvSpPr txBox="1"/>
              <p:nvPr/>
            </p:nvSpPr>
            <p:spPr>
              <a:xfrm>
                <a:off x="5675745" y="5937902"/>
                <a:ext cx="1023381" cy="496996"/>
              </a:xfrm>
              <a:prstGeom prst="rect">
                <a:avLst/>
              </a:prstGeom>
              <a:solidFill>
                <a:schemeClr val="bg1">
                  <a:alpha val="0"/>
                </a:schemeClr>
              </a:solid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𝐶𝐶</m:t>
                            </m:r>
                          </m:sub>
                        </m:sSub>
                      </m:num>
                      <m:den>
                        <m:r>
                          <a:rPr lang="en-US" b="0" i="1" smtClean="0">
                            <a:latin typeface="Cambria Math" panose="02040503050406030204" pitchFamily="18" charset="0"/>
                          </a:rPr>
                          <m:t>2</m:t>
                        </m:r>
                        <m:r>
                          <a:rPr lang="en-US" b="0" i="1" smtClean="0">
                            <a:latin typeface="Cambria Math" panose="02040503050406030204" pitchFamily="18" charset="0"/>
                          </a:rPr>
                          <m:t>𝜋</m:t>
                        </m:r>
                      </m:den>
                    </m:f>
                    <m:r>
                      <m:rPr>
                        <m:nor/>
                      </m:rPr>
                      <a:rPr lang="en-US" sz="2000" dirty="0"/>
                      <m:t>)</m:t>
                    </m:r>
                  </m:oMath>
                </a14:m>
                <a:r>
                  <a:rPr lang="en-US" sz="2000" dirty="0"/>
                  <a:t> </a:t>
                </a:r>
              </a:p>
            </p:txBody>
          </p:sp>
        </mc:Choice>
        <mc:Fallback xmlns="">
          <p:sp>
            <p:nvSpPr>
              <p:cNvPr id="109" name="TextBox 108">
                <a:extLst>
                  <a:ext uri="{FF2B5EF4-FFF2-40B4-BE49-F238E27FC236}">
                    <a16:creationId xmlns:a16="http://schemas.microsoft.com/office/drawing/2014/main" id="{319557C7-0E1D-4915-BB2F-1C51F9FA96CB}"/>
                  </a:ext>
                </a:extLst>
              </p:cNvPr>
              <p:cNvSpPr txBox="1">
                <a:spLocks noRot="1" noChangeAspect="1" noMove="1" noResize="1" noEditPoints="1" noAdjustHandles="1" noChangeArrowheads="1" noChangeShapeType="1" noTextEdit="1"/>
              </p:cNvSpPr>
              <p:nvPr/>
            </p:nvSpPr>
            <p:spPr>
              <a:xfrm>
                <a:off x="5675745" y="5937902"/>
                <a:ext cx="1023381" cy="496996"/>
              </a:xfrm>
              <a:prstGeom prst="rect">
                <a:avLst/>
              </a:prstGeom>
              <a:blipFill>
                <a:blip r:embed="rId7"/>
                <a:stretch>
                  <a:fillRect b="-122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10" name="Rectangle 109">
                <a:extLst>
                  <a:ext uri="{FF2B5EF4-FFF2-40B4-BE49-F238E27FC236}">
                    <a16:creationId xmlns:a16="http://schemas.microsoft.com/office/drawing/2014/main" id="{C71B3137-2A50-46EC-891C-E5A3F0E0196D}"/>
                  </a:ext>
                </a:extLst>
              </p:cNvPr>
              <p:cNvSpPr/>
              <p:nvPr/>
            </p:nvSpPr>
            <p:spPr>
              <a:xfrm>
                <a:off x="6699125" y="4161794"/>
                <a:ext cx="105028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𝐶𝐴</m:t>
                          </m:r>
                        </m:sub>
                      </m:sSub>
                      <m:r>
                        <a:rPr lang="en-US" b="0" i="1" smtClean="0">
                          <a:latin typeface="Cambria Math" panose="02040503050406030204" pitchFamily="18" charset="0"/>
                        </a:rPr>
                        <m:t>=0</m:t>
                      </m:r>
                    </m:oMath>
                  </m:oMathPara>
                </a14:m>
                <a:endParaRPr lang="en-US" dirty="0"/>
              </a:p>
            </p:txBody>
          </p:sp>
        </mc:Choice>
        <mc:Fallback xmlns="">
          <p:sp>
            <p:nvSpPr>
              <p:cNvPr id="110" name="Rectangle 109">
                <a:extLst>
                  <a:ext uri="{FF2B5EF4-FFF2-40B4-BE49-F238E27FC236}">
                    <a16:creationId xmlns:a16="http://schemas.microsoft.com/office/drawing/2014/main" id="{C71B3137-2A50-46EC-891C-E5A3F0E0196D}"/>
                  </a:ext>
                </a:extLst>
              </p:cNvPr>
              <p:cNvSpPr>
                <a:spLocks noRot="1" noChangeAspect="1" noMove="1" noResize="1" noEditPoints="1" noAdjustHandles="1" noChangeArrowheads="1" noChangeShapeType="1" noTextEdit="1"/>
              </p:cNvSpPr>
              <p:nvPr/>
            </p:nvSpPr>
            <p:spPr>
              <a:xfrm>
                <a:off x="6699125" y="4161794"/>
                <a:ext cx="1050288" cy="369332"/>
              </a:xfrm>
              <a:prstGeom prst="rect">
                <a:avLst/>
              </a:prstGeom>
              <a:blipFill>
                <a:blip r:embed="rId8"/>
                <a:stretch>
                  <a:fillRect b="-13333"/>
                </a:stretch>
              </a:blipFill>
            </p:spPr>
            <p:txBody>
              <a:bodyPr/>
              <a:lstStyle/>
              <a:p>
                <a:r>
                  <a:rPr lang="sv-SE">
                    <a:noFill/>
                  </a:rPr>
                  <a:t> </a:t>
                </a:r>
              </a:p>
            </p:txBody>
          </p:sp>
        </mc:Fallback>
      </mc:AlternateContent>
      <p:sp>
        <p:nvSpPr>
          <p:cNvPr id="19" name="Rectangle 18"/>
          <p:cNvSpPr/>
          <p:nvPr/>
        </p:nvSpPr>
        <p:spPr>
          <a:xfrm>
            <a:off x="675663" y="2491365"/>
            <a:ext cx="4906914" cy="923330"/>
          </a:xfrm>
          <a:prstGeom prst="rect">
            <a:avLst/>
          </a:prstGeom>
        </p:spPr>
        <p:txBody>
          <a:bodyPr wrap="square">
            <a:spAutoFit/>
          </a:bodyPr>
          <a:lstStyle/>
          <a:p>
            <a:r>
              <a:rPr lang="en-US" dirty="0"/>
              <a:t>Using </a:t>
            </a:r>
            <a:r>
              <a:rPr lang="en-US" b="1" dirty="0"/>
              <a:t>multi-carriers</a:t>
            </a:r>
            <a:r>
              <a:rPr lang="en-US" dirty="0"/>
              <a:t> instead of single carrier, we can </a:t>
            </a:r>
            <a:r>
              <a:rPr lang="en-US" b="1" dirty="0"/>
              <a:t>change the sequences </a:t>
            </a:r>
            <a:r>
              <a:rPr lang="en-US" dirty="0"/>
              <a:t>by adjusting the phases of the carrier signals.</a:t>
            </a:r>
          </a:p>
        </p:txBody>
      </p:sp>
    </p:spTree>
    <p:extLst>
      <p:ext uri="{BB962C8B-B14F-4D97-AF65-F5344CB8AC3E}">
        <p14:creationId xmlns:p14="http://schemas.microsoft.com/office/powerpoint/2010/main" val="1018060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Reducing Common-Mode Voltage in Three-Phase Sine-Triangle PWM With Interleaved Carriers</a:t>
            </a:r>
            <a:r>
              <a:rPr lang="en-US" dirty="0"/>
              <a:t>, IEEE TRANSACTIONS ON POWER ELECTRONICS 2011 </a:t>
            </a:r>
            <a:endParaRPr lang="sv-SE" dirty="0"/>
          </a:p>
        </p:txBody>
      </p:sp>
      <p:sp>
        <p:nvSpPr>
          <p:cNvPr id="4" name="TextBox 3"/>
          <p:cNvSpPr txBox="1"/>
          <p:nvPr/>
        </p:nvSpPr>
        <p:spPr>
          <a:xfrm>
            <a:off x="563880" y="2102712"/>
            <a:ext cx="8267700" cy="369332"/>
          </a:xfrm>
          <a:prstGeom prst="rect">
            <a:avLst/>
          </a:prstGeom>
          <a:noFill/>
        </p:spPr>
        <p:txBody>
          <a:bodyPr wrap="square" rtlCol="0">
            <a:spAutoFit/>
          </a:bodyPr>
          <a:lstStyle/>
          <a:p>
            <a:r>
              <a:rPr lang="en-US" dirty="0"/>
              <a:t>It basically propose that the carriers are offset as given below.</a:t>
            </a:r>
            <a:endParaRPr lang="sv-SE" dirty="0"/>
          </a:p>
        </p:txBody>
      </p:sp>
      <p:pic>
        <p:nvPicPr>
          <p:cNvPr id="7" name="Picture 6"/>
          <p:cNvPicPr>
            <a:picLocks noChangeAspect="1"/>
          </p:cNvPicPr>
          <p:nvPr/>
        </p:nvPicPr>
        <p:blipFill>
          <a:blip r:embed="rId2"/>
          <a:stretch>
            <a:fillRect/>
          </a:stretch>
        </p:blipFill>
        <p:spPr>
          <a:xfrm>
            <a:off x="1482566" y="2560903"/>
            <a:ext cx="8922068" cy="1594854"/>
          </a:xfrm>
          <a:prstGeom prst="rect">
            <a:avLst/>
          </a:prstGeom>
        </p:spPr>
      </p:pic>
      <p:sp>
        <p:nvSpPr>
          <p:cNvPr id="8" name="Rectangle 7"/>
          <p:cNvSpPr/>
          <p:nvPr/>
        </p:nvSpPr>
        <p:spPr>
          <a:xfrm>
            <a:off x="649467" y="4244616"/>
            <a:ext cx="3518014" cy="369332"/>
          </a:xfrm>
          <a:prstGeom prst="rect">
            <a:avLst/>
          </a:prstGeom>
        </p:spPr>
        <p:txBody>
          <a:bodyPr wrap="none">
            <a:spAutoFit/>
          </a:bodyPr>
          <a:lstStyle/>
          <a:p>
            <a:r>
              <a:rPr lang="en-US" dirty="0"/>
              <a:t>Now, we have the harmonics below</a:t>
            </a:r>
            <a:endParaRPr lang="sv-SE" dirty="0"/>
          </a:p>
        </p:txBody>
      </p:sp>
      <p:pic>
        <p:nvPicPr>
          <p:cNvPr id="9" name="Picture 8"/>
          <p:cNvPicPr>
            <a:picLocks noChangeAspect="1"/>
          </p:cNvPicPr>
          <p:nvPr/>
        </p:nvPicPr>
        <p:blipFill>
          <a:blip r:embed="rId3"/>
          <a:stretch>
            <a:fillRect/>
          </a:stretch>
        </p:blipFill>
        <p:spPr>
          <a:xfrm>
            <a:off x="767715" y="4839967"/>
            <a:ext cx="6334125" cy="1800225"/>
          </a:xfrm>
          <a:prstGeom prst="rect">
            <a:avLst/>
          </a:prstGeom>
        </p:spPr>
      </p:pic>
      <p:cxnSp>
        <p:nvCxnSpPr>
          <p:cNvPr id="11" name="Straight Arrow Connector 10"/>
          <p:cNvCxnSpPr/>
          <p:nvPr/>
        </p:nvCxnSpPr>
        <p:spPr>
          <a:xfrm>
            <a:off x="6583680" y="5740079"/>
            <a:ext cx="18516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435340" y="5196840"/>
            <a:ext cx="3627120" cy="1200329"/>
          </a:xfrm>
          <a:prstGeom prst="rect">
            <a:avLst/>
          </a:prstGeom>
          <a:noFill/>
        </p:spPr>
        <p:txBody>
          <a:bodyPr wrap="square" rtlCol="0">
            <a:spAutoFit/>
          </a:bodyPr>
          <a:lstStyle/>
          <a:p>
            <a:r>
              <a:rPr lang="en-US" dirty="0"/>
              <a:t>Our zero sequence is replaced. </a:t>
            </a:r>
          </a:p>
          <a:p>
            <a:r>
              <a:rPr lang="en-US" dirty="0"/>
              <a:t>The magnitude of sideband is smaller, so we reduce CMV.</a:t>
            </a:r>
          </a:p>
          <a:p>
            <a:r>
              <a:rPr lang="en-US" dirty="0"/>
              <a:t> </a:t>
            </a:r>
            <a:endParaRPr lang="sv-SE" dirty="0"/>
          </a:p>
        </p:txBody>
      </p:sp>
    </p:spTree>
    <p:extLst>
      <p:ext uri="{BB962C8B-B14F-4D97-AF65-F5344CB8AC3E}">
        <p14:creationId xmlns:p14="http://schemas.microsoft.com/office/powerpoint/2010/main" val="2998731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Carrier Phase Shifted SPWM for CMV reduction In a three-level inverter using Open-end winding</a:t>
            </a:r>
          </a:p>
          <a:p>
            <a:r>
              <a:rPr lang="en-US" dirty="0">
                <a:solidFill>
                  <a:srgbClr val="7030A0"/>
                </a:solidFill>
              </a:rPr>
              <a:t>induction motor drive</a:t>
            </a:r>
            <a:r>
              <a:rPr lang="en-US" dirty="0"/>
              <a:t>, </a:t>
            </a:r>
            <a:r>
              <a:rPr lang="it-IT" dirty="0"/>
              <a:t>IEEE Region 10 International Conference TENCON.</a:t>
            </a:r>
            <a:endParaRPr lang="sv-SE" dirty="0"/>
          </a:p>
        </p:txBody>
      </p:sp>
      <p:sp>
        <p:nvSpPr>
          <p:cNvPr id="4" name="TextBox 3"/>
          <p:cNvSpPr txBox="1"/>
          <p:nvPr/>
        </p:nvSpPr>
        <p:spPr>
          <a:xfrm>
            <a:off x="563880" y="2102712"/>
            <a:ext cx="8267700" cy="369332"/>
          </a:xfrm>
          <a:prstGeom prst="rect">
            <a:avLst/>
          </a:prstGeom>
          <a:noFill/>
        </p:spPr>
        <p:txBody>
          <a:bodyPr wrap="square" rtlCol="0">
            <a:spAutoFit/>
          </a:bodyPr>
          <a:lstStyle/>
          <a:p>
            <a:r>
              <a:rPr lang="en-US" dirty="0"/>
              <a:t>The same method is applied for open-end winding induction machine.</a:t>
            </a:r>
            <a:endParaRPr lang="sv-SE" dirty="0"/>
          </a:p>
        </p:txBody>
      </p:sp>
      <p:sp>
        <p:nvSpPr>
          <p:cNvPr id="13" name="Rectangle 12"/>
          <p:cNvSpPr/>
          <p:nvPr/>
        </p:nvSpPr>
        <p:spPr>
          <a:xfrm>
            <a:off x="510540" y="3150602"/>
            <a:ext cx="10043160" cy="646331"/>
          </a:xfrm>
          <a:prstGeom prst="rect">
            <a:avLst/>
          </a:prstGeom>
        </p:spPr>
        <p:txBody>
          <a:bodyPr wrap="square">
            <a:spAutoFit/>
          </a:bodyPr>
          <a:lstStyle/>
          <a:p>
            <a:r>
              <a:rPr lang="en-US" dirty="0">
                <a:solidFill>
                  <a:srgbClr val="7030A0"/>
                </a:solidFill>
              </a:rPr>
              <a:t>Reduction of Common-Mode Voltage in Multiphase Two-Level Inverters Using SPWM With Phase-Shifted Carriers</a:t>
            </a:r>
            <a:r>
              <a:rPr lang="en-US" dirty="0"/>
              <a:t>, IEEE TRANSACTIONS ON POWER ELECTRONICS</a:t>
            </a:r>
            <a:r>
              <a:rPr lang="it-IT" dirty="0"/>
              <a:t>, 2016.</a:t>
            </a:r>
            <a:endParaRPr lang="sv-SE" dirty="0"/>
          </a:p>
        </p:txBody>
      </p:sp>
      <p:pic>
        <p:nvPicPr>
          <p:cNvPr id="6" name="Picture 5"/>
          <p:cNvPicPr>
            <a:picLocks noChangeAspect="1"/>
          </p:cNvPicPr>
          <p:nvPr/>
        </p:nvPicPr>
        <p:blipFill>
          <a:blip r:embed="rId3"/>
          <a:stretch>
            <a:fillRect/>
          </a:stretch>
        </p:blipFill>
        <p:spPr>
          <a:xfrm>
            <a:off x="725805" y="3909060"/>
            <a:ext cx="9663159" cy="2347228"/>
          </a:xfrm>
          <a:prstGeom prst="rect">
            <a:avLst/>
          </a:prstGeom>
        </p:spPr>
      </p:pic>
    </p:spTree>
    <p:extLst>
      <p:ext uri="{BB962C8B-B14F-4D97-AF65-F5344CB8AC3E}">
        <p14:creationId xmlns:p14="http://schemas.microsoft.com/office/powerpoint/2010/main" val="1679746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Third Harmonic Injection SPWM Method Based on Alternating Carrier Polarity to Suppress the Common Mode Voltage</a:t>
            </a:r>
            <a:r>
              <a:rPr lang="en-US" dirty="0"/>
              <a:t>, </a:t>
            </a:r>
            <a:r>
              <a:rPr lang="it-IT" dirty="0"/>
              <a:t>IEEE ACCESS, 2018.</a:t>
            </a:r>
            <a:endParaRPr lang="sv-SE" dirty="0"/>
          </a:p>
        </p:txBody>
      </p:sp>
      <p:sp>
        <p:nvSpPr>
          <p:cNvPr id="4" name="TextBox 3"/>
          <p:cNvSpPr txBox="1"/>
          <p:nvPr/>
        </p:nvSpPr>
        <p:spPr>
          <a:xfrm>
            <a:off x="563880" y="2124750"/>
            <a:ext cx="10447020" cy="646331"/>
          </a:xfrm>
          <a:prstGeom prst="rect">
            <a:avLst/>
          </a:prstGeom>
          <a:noFill/>
        </p:spPr>
        <p:txBody>
          <a:bodyPr wrap="square" rtlCol="0">
            <a:spAutoFit/>
          </a:bodyPr>
          <a:lstStyle/>
          <a:p>
            <a:r>
              <a:rPr lang="en-US" dirty="0"/>
              <a:t>An </a:t>
            </a:r>
            <a:r>
              <a:rPr lang="en-US" b="1" dirty="0"/>
              <a:t>alternating carrier polarity </a:t>
            </a:r>
            <a:r>
              <a:rPr lang="en-US" dirty="0"/>
              <a:t>method is proposed to eliminate the zero switch states. </a:t>
            </a:r>
          </a:p>
          <a:p>
            <a:r>
              <a:rPr lang="en-US" dirty="0"/>
              <a:t>According to the characteristic of the three-phase modulated voltages, it is divided into six regions.</a:t>
            </a:r>
            <a:endParaRPr lang="sv-SE" dirty="0"/>
          </a:p>
        </p:txBody>
      </p:sp>
      <p:pic>
        <p:nvPicPr>
          <p:cNvPr id="5" name="Picture 4"/>
          <p:cNvPicPr>
            <a:picLocks noChangeAspect="1"/>
          </p:cNvPicPr>
          <p:nvPr/>
        </p:nvPicPr>
        <p:blipFill>
          <a:blip r:embed="rId3"/>
          <a:stretch>
            <a:fillRect/>
          </a:stretch>
        </p:blipFill>
        <p:spPr>
          <a:xfrm>
            <a:off x="142875" y="3375312"/>
            <a:ext cx="5200650" cy="2466975"/>
          </a:xfrm>
          <a:prstGeom prst="rect">
            <a:avLst/>
          </a:prstGeom>
        </p:spPr>
      </p:pic>
      <p:pic>
        <p:nvPicPr>
          <p:cNvPr id="7" name="Picture 6"/>
          <p:cNvPicPr>
            <a:picLocks noChangeAspect="1"/>
          </p:cNvPicPr>
          <p:nvPr/>
        </p:nvPicPr>
        <p:blipFill>
          <a:blip r:embed="rId4"/>
          <a:stretch>
            <a:fillRect/>
          </a:stretch>
        </p:blipFill>
        <p:spPr>
          <a:xfrm>
            <a:off x="5398770" y="2771081"/>
            <a:ext cx="6128263" cy="3675439"/>
          </a:xfrm>
          <a:prstGeom prst="rect">
            <a:avLst/>
          </a:prstGeom>
        </p:spPr>
      </p:pic>
    </p:spTree>
    <p:extLst>
      <p:ext uri="{BB962C8B-B14F-4D97-AF65-F5344CB8AC3E}">
        <p14:creationId xmlns:p14="http://schemas.microsoft.com/office/powerpoint/2010/main" val="1682941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High-Frequency </a:t>
            </a:r>
            <a:r>
              <a:rPr lang="en-US" dirty="0" err="1">
                <a:solidFill>
                  <a:srgbClr val="7030A0"/>
                </a:solidFill>
              </a:rPr>
              <a:t>SiC</a:t>
            </a:r>
            <a:r>
              <a:rPr lang="en-US" dirty="0">
                <a:solidFill>
                  <a:srgbClr val="7030A0"/>
                </a:solidFill>
              </a:rPr>
              <a:t> Three-Phase VSIs With Common-Mode Voltage Reduction and Improved Performance Using Novel Tri-State PWM Method</a:t>
            </a:r>
            <a:r>
              <a:rPr lang="en-US" dirty="0"/>
              <a:t>, IEEE TRANSACTIONS ON POWER ELECTRONICS</a:t>
            </a:r>
            <a:r>
              <a:rPr lang="it-IT" dirty="0"/>
              <a:t>, 2019.</a:t>
            </a:r>
            <a:endParaRPr lang="sv-SE" dirty="0"/>
          </a:p>
        </p:txBody>
      </p:sp>
      <p:pic>
        <p:nvPicPr>
          <p:cNvPr id="6" name="Picture 5"/>
          <p:cNvPicPr>
            <a:picLocks noChangeAspect="1"/>
          </p:cNvPicPr>
          <p:nvPr/>
        </p:nvPicPr>
        <p:blipFill>
          <a:blip r:embed="rId3"/>
          <a:stretch>
            <a:fillRect/>
          </a:stretch>
        </p:blipFill>
        <p:spPr>
          <a:xfrm>
            <a:off x="2034540" y="2917190"/>
            <a:ext cx="6858000" cy="2657475"/>
          </a:xfrm>
          <a:prstGeom prst="rect">
            <a:avLst/>
          </a:prstGeom>
        </p:spPr>
      </p:pic>
      <p:sp>
        <p:nvSpPr>
          <p:cNvPr id="8" name="Rectangle 7"/>
          <p:cNvSpPr/>
          <p:nvPr/>
        </p:nvSpPr>
        <p:spPr>
          <a:xfrm>
            <a:off x="533400" y="2270859"/>
            <a:ext cx="10820400" cy="646331"/>
          </a:xfrm>
          <a:prstGeom prst="rect">
            <a:avLst/>
          </a:prstGeom>
        </p:spPr>
        <p:txBody>
          <a:bodyPr wrap="square">
            <a:spAutoFit/>
          </a:bodyPr>
          <a:lstStyle/>
          <a:p>
            <a:r>
              <a:rPr lang="en-US" dirty="0"/>
              <a:t>The </a:t>
            </a:r>
            <a:r>
              <a:rPr lang="en-US" b="1" dirty="0"/>
              <a:t>polarity</a:t>
            </a:r>
            <a:r>
              <a:rPr lang="en-US" dirty="0"/>
              <a:t> of triangular carrier to be compared with the modulation signals is sector dependent to obtain CMV suppression, as given in Table II.</a:t>
            </a:r>
            <a:endParaRPr lang="sv-SE" dirty="0"/>
          </a:p>
        </p:txBody>
      </p:sp>
    </p:spTree>
    <p:extLst>
      <p:ext uri="{BB962C8B-B14F-4D97-AF65-F5344CB8AC3E}">
        <p14:creationId xmlns:p14="http://schemas.microsoft.com/office/powerpoint/2010/main" val="3474834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Common-Mode Voltage Mitigation Technique in Motor Drive Applications by Applying a Sampling-Time Adaptive Multi-Carrier PWM Method</a:t>
            </a:r>
            <a:r>
              <a:rPr lang="en-US" dirty="0"/>
              <a:t>, </a:t>
            </a:r>
            <a:r>
              <a:rPr lang="it-IT" dirty="0"/>
              <a:t>IEEE ACCESS, 2021.</a:t>
            </a:r>
            <a:endParaRPr lang="sv-SE" dirty="0"/>
          </a:p>
        </p:txBody>
      </p:sp>
      <p:pic>
        <p:nvPicPr>
          <p:cNvPr id="6" name="Picture 5"/>
          <p:cNvPicPr>
            <a:picLocks noChangeAspect="1"/>
          </p:cNvPicPr>
          <p:nvPr/>
        </p:nvPicPr>
        <p:blipFill>
          <a:blip r:embed="rId3"/>
          <a:stretch>
            <a:fillRect/>
          </a:stretch>
        </p:blipFill>
        <p:spPr>
          <a:xfrm>
            <a:off x="7756208" y="2103119"/>
            <a:ext cx="3206324" cy="4372927"/>
          </a:xfrm>
          <a:prstGeom prst="rect">
            <a:avLst/>
          </a:prstGeom>
        </p:spPr>
      </p:pic>
      <p:sp>
        <p:nvSpPr>
          <p:cNvPr id="8" name="Rectangle 7"/>
          <p:cNvSpPr/>
          <p:nvPr/>
        </p:nvSpPr>
        <p:spPr>
          <a:xfrm>
            <a:off x="510540" y="2179419"/>
            <a:ext cx="6096000" cy="646331"/>
          </a:xfrm>
          <a:prstGeom prst="rect">
            <a:avLst/>
          </a:prstGeom>
        </p:spPr>
        <p:txBody>
          <a:bodyPr>
            <a:spAutoFit/>
          </a:bodyPr>
          <a:lstStyle/>
          <a:p>
            <a:r>
              <a:rPr lang="en-US"/>
              <a:t>CMV is highly dependent on the values of the displacement angles of the carriers φb and φc.</a:t>
            </a:r>
            <a:endParaRPr lang="sv-SE" dirty="0"/>
          </a:p>
        </p:txBody>
      </p:sp>
      <p:sp>
        <p:nvSpPr>
          <p:cNvPr id="9" name="Rectangle 8"/>
          <p:cNvSpPr/>
          <p:nvPr/>
        </p:nvSpPr>
        <p:spPr>
          <a:xfrm>
            <a:off x="716280" y="2991316"/>
            <a:ext cx="6096000" cy="2031325"/>
          </a:xfrm>
          <a:prstGeom prst="rect">
            <a:avLst/>
          </a:prstGeom>
        </p:spPr>
        <p:txBody>
          <a:bodyPr>
            <a:spAutoFit/>
          </a:bodyPr>
          <a:lstStyle/>
          <a:p>
            <a:r>
              <a:rPr lang="en-US" dirty="0"/>
              <a:t>The proposed adaptive multi-carrier PWM method considers the carrier phase displacement </a:t>
            </a:r>
            <a:r>
              <a:rPr lang="en-US" dirty="0" err="1"/>
              <a:t>φa</a:t>
            </a:r>
            <a:r>
              <a:rPr lang="en-US" dirty="0"/>
              <a:t> = 0 ◦ , while the angles </a:t>
            </a:r>
            <a:r>
              <a:rPr lang="en-US" dirty="0" err="1"/>
              <a:t>φb</a:t>
            </a:r>
            <a:r>
              <a:rPr lang="en-US" dirty="0"/>
              <a:t> and </a:t>
            </a:r>
            <a:r>
              <a:rPr lang="en-US" dirty="0" err="1"/>
              <a:t>φc</a:t>
            </a:r>
            <a:r>
              <a:rPr lang="en-US" dirty="0"/>
              <a:t>, for the sake of simplicity, only take values equal to 0◦ or 180◦ . Under this assumption, (8b) remains always zero. In this way, the final values of </a:t>
            </a:r>
            <a:r>
              <a:rPr lang="en-US" dirty="0" err="1"/>
              <a:t>φb</a:t>
            </a:r>
            <a:r>
              <a:rPr lang="en-US" dirty="0"/>
              <a:t> and </a:t>
            </a:r>
            <a:r>
              <a:rPr lang="en-US" dirty="0" err="1"/>
              <a:t>φc</a:t>
            </a:r>
            <a:r>
              <a:rPr lang="en-US" dirty="0"/>
              <a:t> (0◦ or 180◦ ) in order to minimize </a:t>
            </a:r>
            <a:r>
              <a:rPr lang="en-US" dirty="0" err="1"/>
              <a:t>CMVcn</a:t>
            </a:r>
            <a:r>
              <a:rPr lang="en-US" dirty="0"/>
              <a:t>(t) are those that will minimize (in absolute value) the mathematical term introduced in (8a).</a:t>
            </a:r>
            <a:endParaRPr lang="sv-SE" dirty="0"/>
          </a:p>
        </p:txBody>
      </p:sp>
      <p:pic>
        <p:nvPicPr>
          <p:cNvPr id="10" name="Picture 9"/>
          <p:cNvPicPr>
            <a:picLocks noChangeAspect="1"/>
          </p:cNvPicPr>
          <p:nvPr/>
        </p:nvPicPr>
        <p:blipFill>
          <a:blip r:embed="rId4"/>
          <a:stretch>
            <a:fillRect/>
          </a:stretch>
        </p:blipFill>
        <p:spPr>
          <a:xfrm>
            <a:off x="1630680" y="5188207"/>
            <a:ext cx="4191843" cy="1456178"/>
          </a:xfrm>
          <a:prstGeom prst="rect">
            <a:avLst/>
          </a:prstGeom>
        </p:spPr>
      </p:pic>
    </p:spTree>
    <p:extLst>
      <p:ext uri="{BB962C8B-B14F-4D97-AF65-F5344CB8AC3E}">
        <p14:creationId xmlns:p14="http://schemas.microsoft.com/office/powerpoint/2010/main" val="2344736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Generalized Multicarrier PWM Technique for Two-Level Voltage Source Inverters</a:t>
            </a:r>
            <a:r>
              <a:rPr lang="en-US" dirty="0"/>
              <a:t>, </a:t>
            </a:r>
            <a:r>
              <a:rPr lang="it-IT" dirty="0"/>
              <a:t>IEEE TRANSACTIONS ON INDUSTRIAL ELECTRONICS,2023.</a:t>
            </a:r>
            <a:endParaRPr lang="sv-SE" dirty="0"/>
          </a:p>
        </p:txBody>
      </p:sp>
      <p:pic>
        <p:nvPicPr>
          <p:cNvPr id="4" name="Picture 3"/>
          <p:cNvPicPr>
            <a:picLocks noChangeAspect="1"/>
          </p:cNvPicPr>
          <p:nvPr/>
        </p:nvPicPr>
        <p:blipFill>
          <a:blip r:embed="rId3"/>
          <a:stretch>
            <a:fillRect/>
          </a:stretch>
        </p:blipFill>
        <p:spPr>
          <a:xfrm>
            <a:off x="510540" y="3551562"/>
            <a:ext cx="3855720" cy="3119479"/>
          </a:xfrm>
          <a:prstGeom prst="rect">
            <a:avLst/>
          </a:prstGeom>
        </p:spPr>
      </p:pic>
      <p:pic>
        <p:nvPicPr>
          <p:cNvPr id="5" name="Picture 4"/>
          <p:cNvPicPr>
            <a:picLocks noChangeAspect="1"/>
          </p:cNvPicPr>
          <p:nvPr/>
        </p:nvPicPr>
        <p:blipFill>
          <a:blip r:embed="rId4"/>
          <a:stretch>
            <a:fillRect/>
          </a:stretch>
        </p:blipFill>
        <p:spPr>
          <a:xfrm>
            <a:off x="4578191" y="3696389"/>
            <a:ext cx="3482340" cy="2904441"/>
          </a:xfrm>
          <a:prstGeom prst="rect">
            <a:avLst/>
          </a:prstGeom>
        </p:spPr>
      </p:pic>
      <p:pic>
        <p:nvPicPr>
          <p:cNvPr id="7" name="Picture 6"/>
          <p:cNvPicPr>
            <a:picLocks noChangeAspect="1"/>
          </p:cNvPicPr>
          <p:nvPr/>
        </p:nvPicPr>
        <p:blipFill>
          <a:blip r:embed="rId5"/>
          <a:stretch>
            <a:fillRect/>
          </a:stretch>
        </p:blipFill>
        <p:spPr>
          <a:xfrm>
            <a:off x="8272463" y="3696389"/>
            <a:ext cx="3701549" cy="2759614"/>
          </a:xfrm>
          <a:prstGeom prst="rect">
            <a:avLst/>
          </a:prstGeom>
        </p:spPr>
      </p:pic>
      <p:sp>
        <p:nvSpPr>
          <p:cNvPr id="11" name="Rectangle 10"/>
          <p:cNvSpPr/>
          <p:nvPr/>
        </p:nvSpPr>
        <p:spPr>
          <a:xfrm>
            <a:off x="510540" y="2020621"/>
            <a:ext cx="10652760" cy="1200329"/>
          </a:xfrm>
          <a:prstGeom prst="rect">
            <a:avLst/>
          </a:prstGeom>
        </p:spPr>
        <p:txBody>
          <a:bodyPr wrap="square">
            <a:spAutoFit/>
          </a:bodyPr>
          <a:lstStyle/>
          <a:p>
            <a:r>
              <a:rPr lang="en-US" dirty="0"/>
              <a:t>The carrier phase displacement angles are evaluated in order to reduce the common-mode voltage (CMV) total harmonic distortion (THD), the dc-link capacitor current THD, and the phase currents THD.</a:t>
            </a:r>
          </a:p>
          <a:p>
            <a:r>
              <a:rPr lang="en-US" dirty="0"/>
              <a:t> These targets are difficult to be met at the same time and a cost function is deployed in order to look for a suitable solution that develops a tradeoff between all the targets</a:t>
            </a:r>
            <a:endParaRPr lang="sv-SE" dirty="0"/>
          </a:p>
        </p:txBody>
      </p:sp>
    </p:spTree>
    <p:extLst>
      <p:ext uri="{BB962C8B-B14F-4D97-AF65-F5344CB8AC3E}">
        <p14:creationId xmlns:p14="http://schemas.microsoft.com/office/powerpoint/2010/main" val="3846247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The Proposed Technique</a:t>
            </a:r>
            <a:endParaRPr lang="sv-SE" dirty="0">
              <a:solidFill>
                <a:srgbClr val="C00000"/>
              </a:solidFill>
            </a:endParaRPr>
          </a:p>
        </p:txBody>
      </p:sp>
      <p:sp>
        <p:nvSpPr>
          <p:cNvPr id="3" name="Content Placeholder 2"/>
          <p:cNvSpPr>
            <a:spLocks noGrp="1"/>
          </p:cNvSpPr>
          <p:nvPr>
            <p:ph idx="1"/>
          </p:nvPr>
        </p:nvSpPr>
        <p:spPr/>
        <p:txBody>
          <a:bodyPr>
            <a:normAutofit/>
          </a:bodyPr>
          <a:lstStyle/>
          <a:p>
            <a:r>
              <a:rPr lang="en-US" dirty="0"/>
              <a:t>For all studies aforementioned, </a:t>
            </a:r>
            <a:r>
              <a:rPr lang="en-US" b="1" dirty="0"/>
              <a:t>Either</a:t>
            </a:r>
            <a:r>
              <a:rPr lang="en-US" dirty="0"/>
              <a:t> phase shift is kept at </a:t>
            </a:r>
            <a:r>
              <a:rPr lang="en-US" b="1" dirty="0"/>
              <a:t>constant </a:t>
            </a:r>
            <a:r>
              <a:rPr lang="en-US" dirty="0"/>
              <a:t>value </a:t>
            </a:r>
            <a:r>
              <a:rPr lang="en-US" b="1" dirty="0"/>
              <a:t>during a fundamental period ;  Or</a:t>
            </a:r>
            <a:r>
              <a:rPr lang="en-US" dirty="0"/>
              <a:t> only </a:t>
            </a:r>
            <a:r>
              <a:rPr lang="en-US" b="1" dirty="0"/>
              <a:t>polarity</a:t>
            </a:r>
            <a:r>
              <a:rPr lang="en-US" dirty="0"/>
              <a:t> is </a:t>
            </a:r>
            <a:r>
              <a:rPr lang="en-US" b="1" dirty="0"/>
              <a:t>altered </a:t>
            </a:r>
            <a:r>
              <a:rPr lang="en-US" dirty="0"/>
              <a:t>regarding the </a:t>
            </a:r>
            <a:r>
              <a:rPr lang="en-US" b="1" dirty="0"/>
              <a:t>voltage sector </a:t>
            </a:r>
            <a:r>
              <a:rPr lang="en-US" dirty="0"/>
              <a:t>required to achieve voltage reference. </a:t>
            </a:r>
          </a:p>
          <a:p>
            <a:r>
              <a:rPr lang="en-US" dirty="0"/>
              <a:t>Therefore, the methods reduces the </a:t>
            </a:r>
            <a:r>
              <a:rPr lang="en-US" b="1" dirty="0"/>
              <a:t>average CMV </a:t>
            </a:r>
            <a:r>
              <a:rPr lang="en-US" dirty="0"/>
              <a:t>along a fundamental period, but the CMV for each switching interval can be decreased more  if </a:t>
            </a:r>
            <a:r>
              <a:rPr lang="en-US" b="1" dirty="0"/>
              <a:t>adaptive carrier phase shift </a:t>
            </a:r>
            <a:r>
              <a:rPr lang="en-US" dirty="0"/>
              <a:t>is applied. </a:t>
            </a:r>
          </a:p>
          <a:p>
            <a:r>
              <a:rPr lang="en-US" dirty="0"/>
              <a:t>Accordingly, a </a:t>
            </a:r>
            <a:r>
              <a:rPr lang="en-US" b="1" dirty="0"/>
              <a:t>variable carrier phase shift </a:t>
            </a:r>
            <a:r>
              <a:rPr lang="en-US" dirty="0"/>
              <a:t>method, which </a:t>
            </a:r>
            <a:r>
              <a:rPr lang="sv-SE" dirty="0" err="1"/>
              <a:t>aims</a:t>
            </a:r>
            <a:r>
              <a:rPr lang="sv-SE" dirty="0"/>
              <a:t> to </a:t>
            </a:r>
            <a:r>
              <a:rPr lang="sv-SE" dirty="0" err="1"/>
              <a:t>achieve</a:t>
            </a:r>
            <a:r>
              <a:rPr lang="sv-SE" dirty="0"/>
              <a:t> </a:t>
            </a:r>
            <a:r>
              <a:rPr lang="en-US" dirty="0"/>
              <a:t>lower common mode voltage during each switching interval, is proposed.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61222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Mathematical Modelling</a:t>
            </a:r>
            <a:endParaRPr lang="sv-SE" dirty="0"/>
          </a:p>
        </p:txBody>
      </p:sp>
      <p:pic>
        <p:nvPicPr>
          <p:cNvPr id="4" name="Picture 3"/>
          <p:cNvPicPr>
            <a:picLocks noChangeAspect="1"/>
          </p:cNvPicPr>
          <p:nvPr/>
        </p:nvPicPr>
        <p:blipFill rotWithShape="1">
          <a:blip r:embed="rId2"/>
          <a:srcRect l="1091"/>
          <a:stretch/>
        </p:blipFill>
        <p:spPr>
          <a:xfrm>
            <a:off x="335279" y="1539240"/>
            <a:ext cx="5696993" cy="4019550"/>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5867400" y="1690688"/>
                <a:ext cx="6096000" cy="1754326"/>
              </a:xfrm>
              <a:prstGeom prst="rect">
                <a:avLst/>
              </a:prstGeom>
            </p:spPr>
            <p:txBody>
              <a:bodyPr>
                <a:spAutoFit/>
              </a:bodyPr>
              <a:lstStyle/>
              <a:p>
                <a:r>
                  <a:rPr lang="en-US" dirty="0"/>
                  <a:t>Figure shows the SPWM technique with reference, carrier,</a:t>
                </a:r>
              </a:p>
              <a:p>
                <a:r>
                  <a:rPr lang="en-US" dirty="0"/>
                  <a:t>and PWM signals, where different carrier signals (implying</a:t>
                </a:r>
              </a:p>
              <a:p>
                <a:r>
                  <a:rPr lang="en-US" dirty="0"/>
                  <a:t>that </a:t>
                </a:r>
                <a:r>
                  <a:rPr lang="en-US" dirty="0" err="1"/>
                  <a:t>ϕ</a:t>
                </a:r>
                <a:r>
                  <a:rPr lang="en-US" sz="800" dirty="0" err="1"/>
                  <a:t>cA</a:t>
                </a:r>
                <a:r>
                  <a:rPr lang="en-US" sz="800" dirty="0"/>
                  <a:t> </a:t>
                </a:r>
                <a:r>
                  <a:rPr lang="en-US" dirty="0"/>
                  <a:t≯= </a:t>
                </a:r>
                <a:r>
                  <a:rPr lang="en-US" dirty="0" err="1"/>
                  <a:t>ϕ</a:t>
                </a:r>
                <a:r>
                  <a:rPr lang="en-US" sz="800" dirty="0" err="1"/>
                  <a:t>cB</a:t>
                </a:r>
                <a:r>
                  <a:rPr lang="en-US" sz="800" dirty="0"/>
                  <a:t> </a:t>
                </a:r>
                <a:r>
                  <a:rPr lang="en-US" dirty="0"/>
                  <a:t≯= </a:t>
                </a:r>
                <a:r>
                  <a:rPr lang="en-US" dirty="0" err="1"/>
                  <a:t>ϕ</a:t>
                </a:r>
                <a:r>
                  <a:rPr lang="en-US" sz="800" dirty="0" err="1"/>
                  <a:t>cC</a:t>
                </a:r>
                <a:r>
                  <a:rPr lang="en-US" sz="800" dirty="0"/>
                  <a:t> </a:t>
                </a:r>
                <a:r>
                  <a:rPr lang="en-US" dirty="0"/>
                  <a:t>) are used for each phase.</a:t>
                </a:r>
              </a:p>
              <a:p>
                <a:endParaRPr lang="en-US" dirty="0"/>
              </a:p>
              <a:p>
                <a:r>
                  <a:rPr lang="sv-SE" dirty="0"/>
                  <a:t>The </a:t>
                </a:r>
                <a:r>
                  <a:rPr lang="sv-SE" dirty="0" err="1"/>
                  <a:t>duty</a:t>
                </a:r>
                <a:r>
                  <a:rPr lang="sv-SE" dirty="0"/>
                  <a:t> </a:t>
                </a:r>
                <a:r>
                  <a:rPr lang="en-US" dirty="0"/>
                  <a:t>cycle of each phase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𝐴</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𝐵</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𝐶</m:t>
                        </m:r>
                      </m:sub>
                    </m:sSub>
                  </m:oMath>
                </a14:m>
                <a:r>
                  <a:rPr lang="en-US" dirty="0"/>
                  <a:t>) follows its corresponding reference signal, as given below.</a:t>
                </a:r>
                <a:endParaRPr lang="sv-SE" dirty="0"/>
              </a:p>
            </p:txBody>
          </p:sp>
        </mc:Choice>
        <mc:Fallback xmlns="">
          <p:sp>
            <p:nvSpPr>
              <p:cNvPr id="5" name="Rectangle 4"/>
              <p:cNvSpPr>
                <a:spLocks noRot="1" noChangeAspect="1" noMove="1" noResize="1" noEditPoints="1" noAdjustHandles="1" noChangeArrowheads="1" noChangeShapeType="1" noTextEdit="1"/>
              </p:cNvSpPr>
              <p:nvPr/>
            </p:nvSpPr>
            <p:spPr>
              <a:xfrm>
                <a:off x="5867400" y="1690688"/>
                <a:ext cx="6096000" cy="1754326"/>
              </a:xfrm>
              <a:prstGeom prst="rect">
                <a:avLst/>
              </a:prstGeom>
              <a:blipFill>
                <a:blip r:embed="rId3"/>
                <a:stretch>
                  <a:fillRect l="-900" t="-1736" b="-451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7307580" y="3596462"/>
                <a:ext cx="2781300" cy="52578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𝐴</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i="1">
                                  <a:latin typeface="Cambria Math" panose="02040503050406030204" pitchFamily="18" charset="0"/>
                                </a:rPr>
                                <m:t>2 </m:t>
                              </m:r>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𝑜</m:t>
                                  </m:r>
                                </m:sub>
                              </m:sSub>
                              <m:r>
                                <a:rPr lang="en-US" i="1">
                                  <a:latin typeface="Cambria Math" panose="02040503050406030204" pitchFamily="18" charset="0"/>
                                </a:rPr>
                                <m:t>𝑡</m:t>
                              </m:r>
                              <m:r>
                                <a:rPr lang="en-US" b="0" i="1" smtClean="0">
                                  <a:latin typeface="Cambria Math" panose="02040503050406030204" pitchFamily="18" charset="0"/>
                                </a:rPr>
                                <m:t>)</m:t>
                              </m:r>
                            </m:num>
                            <m:den>
                              <m:r>
                                <a:rPr lang="en-US" b="0" i="1" smtClean="0">
                                  <a:latin typeface="Cambria Math" panose="02040503050406030204" pitchFamily="18" charset="0"/>
                                </a:rPr>
                                <m:t>2</m:t>
                              </m:r>
                            </m:den>
                          </m:f>
                          <m:r>
                            <a:rPr lang="en-US" b="0" i="1" smtClean="0">
                              <a:latin typeface="Cambria Math" panose="02040503050406030204" pitchFamily="18" charset="0"/>
                            </a:rPr>
                            <m:t> </m:t>
                          </m:r>
                        </m:fName>
                        <m:e>
                          <m:r>
                            <a:rPr lang="en-US" b="0" i="1" smtClean="0">
                              <a:latin typeface="Cambria Math" panose="02040503050406030204" pitchFamily="18" charset="0"/>
                            </a:rPr>
                            <m:t>)   </m:t>
                          </m:r>
                        </m:e>
                      </m:func>
                    </m:oMath>
                  </m:oMathPara>
                </a14:m>
                <a:endParaRPr lang="sv-SE" dirty="0"/>
              </a:p>
            </p:txBody>
          </p:sp>
        </mc:Choice>
        <mc:Fallback xmlns="">
          <p:sp>
            <p:nvSpPr>
              <p:cNvPr id="6" name="TextBox 5"/>
              <p:cNvSpPr txBox="1">
                <a:spLocks noRot="1" noChangeAspect="1" noMove="1" noResize="1" noEditPoints="1" noAdjustHandles="1" noChangeArrowheads="1" noChangeShapeType="1" noTextEdit="1"/>
              </p:cNvSpPr>
              <p:nvPr/>
            </p:nvSpPr>
            <p:spPr>
              <a:xfrm>
                <a:off x="7307580" y="3596462"/>
                <a:ext cx="2781300" cy="525785"/>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7307580" y="4215875"/>
                <a:ext cx="3086100" cy="6997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𝐵</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i="1">
                                  <a:latin typeface="Cambria Math" panose="02040503050406030204" pitchFamily="18" charset="0"/>
                                </a:rPr>
                                <m:t>2 </m:t>
                              </m:r>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𝑜</m:t>
                                  </m:r>
                                </m:sub>
                              </m:sSub>
                              <m:r>
                                <a:rPr lang="en-US" i="1">
                                  <a:latin typeface="Cambria Math" panose="02040503050406030204" pitchFamily="18" charset="0"/>
                                </a:rPr>
                                <m:t>𝑡</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r>
                                    <a:rPr lang="en-US" i="1">
                                      <a:latin typeface="Cambria Math" panose="02040503050406030204" pitchFamily="18" charset="0"/>
                                    </a:rPr>
                                    <m:t>𝜋</m:t>
                                  </m:r>
                                </m:num>
                                <m:den>
                                  <m:r>
                                    <a:rPr lang="en-US" i="1">
                                      <a:latin typeface="Cambria Math" panose="02040503050406030204" pitchFamily="18" charset="0"/>
                                    </a:rPr>
                                    <m:t>3</m:t>
                                  </m:r>
                                </m:den>
                              </m:f>
                              <m:r>
                                <a:rPr lang="en-US" b="0" i="1" smtClean="0">
                                  <a:latin typeface="Cambria Math" panose="02040503050406030204" pitchFamily="18" charset="0"/>
                                </a:rPr>
                                <m:t>)</m:t>
                              </m:r>
                            </m:num>
                            <m:den>
                              <m:r>
                                <a:rPr lang="en-US" b="0" i="1" smtClean="0">
                                  <a:latin typeface="Cambria Math" panose="02040503050406030204" pitchFamily="18" charset="0"/>
                                </a:rPr>
                                <m:t>2</m:t>
                              </m:r>
                            </m:den>
                          </m:f>
                          <m:r>
                            <a:rPr lang="en-US" b="0" i="1" smtClean="0">
                              <a:latin typeface="Cambria Math" panose="02040503050406030204" pitchFamily="18" charset="0"/>
                            </a:rPr>
                            <m:t> </m:t>
                          </m:r>
                        </m:fName>
                        <m:e>
                          <m:r>
                            <a:rPr lang="en-US" b="0" i="1" smtClean="0">
                              <a:latin typeface="Cambria Math" panose="02040503050406030204" pitchFamily="18" charset="0"/>
                            </a:rPr>
                            <m:t>)   </m:t>
                          </m:r>
                        </m:e>
                      </m:func>
                    </m:oMath>
                  </m:oMathPara>
                </a14:m>
                <a:endParaRPr lang="sv-SE" dirty="0"/>
              </a:p>
            </p:txBody>
          </p:sp>
        </mc:Choice>
        <mc:Fallback xmlns="">
          <p:sp>
            <p:nvSpPr>
              <p:cNvPr id="9" name="TextBox 8"/>
              <p:cNvSpPr txBox="1">
                <a:spLocks noRot="1" noChangeAspect="1" noMove="1" noResize="1" noEditPoints="1" noAdjustHandles="1" noChangeArrowheads="1" noChangeShapeType="1" noTextEdit="1"/>
              </p:cNvSpPr>
              <p:nvPr/>
            </p:nvSpPr>
            <p:spPr>
              <a:xfrm>
                <a:off x="7307580" y="4215875"/>
                <a:ext cx="3086100" cy="699743"/>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307580" y="5137895"/>
                <a:ext cx="3086100" cy="6997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𝐶</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i="1">
                                  <a:latin typeface="Cambria Math" panose="02040503050406030204" pitchFamily="18" charset="0"/>
                                </a:rPr>
                                <m:t>2 </m:t>
                              </m:r>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𝑜</m:t>
                                  </m:r>
                                </m:sub>
                              </m:sSub>
                              <m:r>
                                <a:rPr lang="en-US" i="1">
                                  <a:latin typeface="Cambria Math" panose="02040503050406030204" pitchFamily="18" charset="0"/>
                                </a:rPr>
                                <m:t>𝑡</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r>
                                    <a:rPr lang="en-US" i="1">
                                      <a:latin typeface="Cambria Math" panose="02040503050406030204" pitchFamily="18" charset="0"/>
                                    </a:rPr>
                                    <m:t>𝜋</m:t>
                                  </m:r>
                                </m:num>
                                <m:den>
                                  <m:r>
                                    <a:rPr lang="en-US" i="1">
                                      <a:latin typeface="Cambria Math" panose="02040503050406030204" pitchFamily="18" charset="0"/>
                                    </a:rPr>
                                    <m:t>3</m:t>
                                  </m:r>
                                </m:den>
                              </m:f>
                              <m:r>
                                <a:rPr lang="en-US" b="0" i="1" smtClean="0">
                                  <a:latin typeface="Cambria Math" panose="02040503050406030204" pitchFamily="18" charset="0"/>
                                </a:rPr>
                                <m:t>)</m:t>
                              </m:r>
                            </m:num>
                            <m:den>
                              <m:r>
                                <a:rPr lang="en-US" b="0" i="1" smtClean="0">
                                  <a:latin typeface="Cambria Math" panose="02040503050406030204" pitchFamily="18" charset="0"/>
                                </a:rPr>
                                <m:t>2</m:t>
                              </m:r>
                            </m:den>
                          </m:f>
                          <m:r>
                            <a:rPr lang="en-US" b="0" i="1" smtClean="0">
                              <a:latin typeface="Cambria Math" panose="02040503050406030204" pitchFamily="18" charset="0"/>
                            </a:rPr>
                            <m:t> </m:t>
                          </m:r>
                        </m:fName>
                        <m:e>
                          <m:r>
                            <a:rPr lang="en-US" b="0" i="1" smtClean="0">
                              <a:latin typeface="Cambria Math" panose="02040503050406030204" pitchFamily="18" charset="0"/>
                            </a:rPr>
                            <m:t>)   </m:t>
                          </m:r>
                        </m:e>
                      </m:func>
                    </m:oMath>
                  </m:oMathPara>
                </a14:m>
                <a:endParaRPr lang="sv-SE" dirty="0"/>
              </a:p>
            </p:txBody>
          </p:sp>
        </mc:Choice>
        <mc:Fallback xmlns="">
          <p:sp>
            <p:nvSpPr>
              <p:cNvPr id="10" name="TextBox 9"/>
              <p:cNvSpPr txBox="1">
                <a:spLocks noRot="1" noChangeAspect="1" noMove="1" noResize="1" noEditPoints="1" noAdjustHandles="1" noChangeArrowheads="1" noChangeShapeType="1" noTextEdit="1"/>
              </p:cNvSpPr>
              <p:nvPr/>
            </p:nvSpPr>
            <p:spPr>
              <a:xfrm>
                <a:off x="7307580" y="5137895"/>
                <a:ext cx="3086100" cy="699743"/>
              </a:xfrm>
              <a:prstGeom prst="rect">
                <a:avLst/>
              </a:prstGeom>
              <a:blipFill>
                <a:blip r:embed="rId6"/>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2365747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Mathematical Modelling</a:t>
            </a:r>
            <a:endParaRPr lang="sv-SE" dirty="0"/>
          </a:p>
        </p:txBody>
      </p:sp>
      <p:sp>
        <p:nvSpPr>
          <p:cNvPr id="3" name="Rectangle 2"/>
          <p:cNvSpPr/>
          <p:nvPr/>
        </p:nvSpPr>
        <p:spPr>
          <a:xfrm>
            <a:off x="899160" y="1507897"/>
            <a:ext cx="10294620" cy="1200329"/>
          </a:xfrm>
          <a:prstGeom prst="rect">
            <a:avLst/>
          </a:prstGeom>
        </p:spPr>
        <p:txBody>
          <a:bodyPr wrap="square">
            <a:spAutoFit/>
          </a:bodyPr>
          <a:lstStyle/>
          <a:p>
            <a:pPr marL="285750" indent="-285750">
              <a:buFont typeface="Arial" panose="020B0604020202020204" pitchFamily="34" charset="0"/>
              <a:buChar char="•"/>
            </a:pPr>
            <a:r>
              <a:rPr lang="sv-SE" dirty="0"/>
              <a:t>Square </a:t>
            </a:r>
            <a:r>
              <a:rPr lang="sv-SE" dirty="0" err="1"/>
              <a:t>waves</a:t>
            </a:r>
            <a:r>
              <a:rPr lang="sv-SE" dirty="0"/>
              <a:t> </a:t>
            </a:r>
            <a:r>
              <a:rPr lang="en-US" dirty="0"/>
              <a:t>with varying duty cycles are generated within a switching interval. </a:t>
            </a:r>
          </a:p>
          <a:p>
            <a:pPr marL="285750" indent="-285750">
              <a:buFont typeface="Arial" panose="020B0604020202020204" pitchFamily="34" charset="0"/>
              <a:buChar char="•"/>
            </a:pPr>
            <a:r>
              <a:rPr lang="en-US" dirty="0"/>
              <a:t>The duty cycles depend on the reference signals.</a:t>
            </a:r>
          </a:p>
          <a:p>
            <a:r>
              <a:rPr lang="en-US" dirty="0"/>
              <a:t>Therefore, the first switching harmonic components for these square waves can be calculated using the Fourier series. </a:t>
            </a:r>
            <a:endParaRPr lang="sv-SE" dirty="0"/>
          </a:p>
        </p:txBody>
      </p:sp>
      <p:pic>
        <p:nvPicPr>
          <p:cNvPr id="9" name="Picture 8"/>
          <p:cNvPicPr>
            <a:picLocks noChangeAspect="1"/>
          </p:cNvPicPr>
          <p:nvPr/>
        </p:nvPicPr>
        <p:blipFill>
          <a:blip r:embed="rId2"/>
          <a:stretch>
            <a:fillRect/>
          </a:stretch>
        </p:blipFill>
        <p:spPr>
          <a:xfrm>
            <a:off x="3656647" y="2582275"/>
            <a:ext cx="4039553" cy="1677305"/>
          </a:xfrm>
          <a:prstGeom prst="rect">
            <a:avLst/>
          </a:prstGeom>
        </p:spPr>
      </p:pic>
      <p:sp>
        <p:nvSpPr>
          <p:cNvPr id="10" name="TextBox 9"/>
          <p:cNvSpPr txBox="1"/>
          <p:nvPr/>
        </p:nvSpPr>
        <p:spPr>
          <a:xfrm>
            <a:off x="1211103" y="4391144"/>
            <a:ext cx="8930640" cy="369332"/>
          </a:xfrm>
          <a:prstGeom prst="rect">
            <a:avLst/>
          </a:prstGeom>
          <a:noFill/>
        </p:spPr>
        <p:txBody>
          <a:bodyPr wrap="square" rtlCol="0">
            <a:spAutoFit/>
          </a:bodyPr>
          <a:lstStyle/>
          <a:p>
            <a:r>
              <a:rPr lang="en-US" dirty="0"/>
              <a:t>Then, common mode voltage is calculated for a switching interval as follows </a:t>
            </a:r>
            <a:endParaRPr lang="sv-SE" dirty="0"/>
          </a:p>
        </p:txBody>
      </p:sp>
      <mc:AlternateContent xmlns:mc="http://schemas.openxmlformats.org/markup-compatibility/2006" xmlns:a14="http://schemas.microsoft.com/office/drawing/2010/main">
        <mc:Choice Requires="a14">
          <p:sp>
            <p:nvSpPr>
              <p:cNvPr id="11" name="TextBox 10"/>
              <p:cNvSpPr txBox="1"/>
              <p:nvPr/>
            </p:nvSpPr>
            <p:spPr>
              <a:xfrm>
                <a:off x="3855720" y="4846320"/>
                <a:ext cx="4119140" cy="6090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𝑐𝑚</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𝐷𝐶</m:t>
                              </m:r>
                            </m:sub>
                          </m:sSub>
                        </m:num>
                        <m:den>
                          <m:r>
                            <a:rPr lang="en-US" b="0" i="1" smtClean="0">
                              <a:latin typeface="Cambria Math" panose="02040503050406030204" pitchFamily="18" charset="0"/>
                            </a:rPr>
                            <m:t>3</m:t>
                          </m:r>
                        </m:den>
                      </m:f>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𝐴</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𝐵</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𝐶</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r>
                        <a:rPr lang="en-US" b="0" i="1" smtClean="0">
                          <a:latin typeface="Cambria Math" panose="02040503050406030204" pitchFamily="18" charset="0"/>
                        </a:rPr>
                        <m:t>)</m:t>
                      </m:r>
                    </m:oMath>
                  </m:oMathPara>
                </a14:m>
                <a:endParaRPr lang="sv-SE" dirty="0"/>
              </a:p>
            </p:txBody>
          </p:sp>
        </mc:Choice>
        <mc:Fallback xmlns="">
          <p:sp>
            <p:nvSpPr>
              <p:cNvPr id="11" name="TextBox 10"/>
              <p:cNvSpPr txBox="1">
                <a:spLocks noRot="1" noChangeAspect="1" noMove="1" noResize="1" noEditPoints="1" noAdjustHandles="1" noChangeArrowheads="1" noChangeShapeType="1" noTextEdit="1"/>
              </p:cNvSpPr>
              <p:nvPr/>
            </p:nvSpPr>
            <p:spPr>
              <a:xfrm>
                <a:off x="3855720" y="4846320"/>
                <a:ext cx="4119140" cy="609077"/>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211103" y="5720834"/>
                <a:ext cx="10737057" cy="653962"/>
              </a:xfrm>
              <a:prstGeom prst="rect">
                <a:avLst/>
              </a:prstGeom>
            </p:spPr>
            <p:txBody>
              <a:bodyPr wrap="square">
                <a:spAutoFit/>
              </a:bodyPr>
              <a:lstStyle/>
              <a:p>
                <a:r>
                  <a:rPr lang="en-US" dirty="0"/>
                  <a:t>Therefore, we have three signals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𝐴</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𝐵</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r>
                      <a:rPr lang="en-US" b="0" i="0"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𝐶</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oMath>
                </a14:m>
                <a:r>
                  <a:rPr lang="en-US" dirty="0"/>
                  <a:t>)  with the same frequency with different magnitudes and phases. Accordingly, we can pass phasor domain analysis !!!</a:t>
                </a:r>
                <a:endParaRPr lang="sv-SE" dirty="0"/>
              </a:p>
            </p:txBody>
          </p:sp>
        </mc:Choice>
        <mc:Fallback xmlns="">
          <p:sp>
            <p:nvSpPr>
              <p:cNvPr id="12" name="Rectangle 11"/>
              <p:cNvSpPr>
                <a:spLocks noRot="1" noChangeAspect="1" noMove="1" noResize="1" noEditPoints="1" noAdjustHandles="1" noChangeArrowheads="1" noChangeShapeType="1" noTextEdit="1"/>
              </p:cNvSpPr>
              <p:nvPr/>
            </p:nvSpPr>
            <p:spPr>
              <a:xfrm>
                <a:off x="1211103" y="5720834"/>
                <a:ext cx="10737057" cy="653962"/>
              </a:xfrm>
              <a:prstGeom prst="rect">
                <a:avLst/>
              </a:prstGeom>
              <a:blipFill>
                <a:blip r:embed="rId4"/>
                <a:stretch>
                  <a:fillRect l="-511" t="-2778" b="-12963"/>
                </a:stretch>
              </a:blipFill>
            </p:spPr>
            <p:txBody>
              <a:bodyPr/>
              <a:lstStyle/>
              <a:p>
                <a:r>
                  <a:rPr lang="sv-SE">
                    <a:noFill/>
                  </a:rPr>
                  <a:t> </a:t>
                </a:r>
              </a:p>
            </p:txBody>
          </p:sp>
        </mc:Fallback>
      </mc:AlternateContent>
    </p:spTree>
    <p:extLst>
      <p:ext uri="{BB962C8B-B14F-4D97-AF65-F5344CB8AC3E}">
        <p14:creationId xmlns:p14="http://schemas.microsoft.com/office/powerpoint/2010/main" val="3391108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298" y="220070"/>
            <a:ext cx="8786024" cy="1325563"/>
          </a:xfrm>
        </p:spPr>
        <p:txBody>
          <a:bodyPr/>
          <a:lstStyle/>
          <a:p>
            <a:r>
              <a:rPr lang="en-US" dirty="0">
                <a:solidFill>
                  <a:srgbClr val="C00000"/>
                </a:solidFill>
              </a:rPr>
              <a:t>Mathematical Modelling</a:t>
            </a:r>
            <a:endParaRPr lang="sv-SE" dirty="0"/>
          </a:p>
        </p:txBody>
      </p:sp>
      <p:cxnSp>
        <p:nvCxnSpPr>
          <p:cNvPr id="8" name="Straight Arrow Connector 7"/>
          <p:cNvCxnSpPr/>
          <p:nvPr/>
        </p:nvCxnSpPr>
        <p:spPr>
          <a:xfrm flipV="1">
            <a:off x="1606439" y="3828919"/>
            <a:ext cx="956635" cy="4879"/>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964518" y="3828919"/>
            <a:ext cx="641921" cy="30513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1606440" y="3299109"/>
            <a:ext cx="196204" cy="516177"/>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88902" y="3630526"/>
            <a:ext cx="350520" cy="369332"/>
          </a:xfrm>
          <a:prstGeom prst="rect">
            <a:avLst/>
          </a:prstGeom>
          <a:noFill/>
        </p:spPr>
        <p:txBody>
          <a:bodyPr wrap="square" rtlCol="0">
            <a:spAutoFit/>
          </a:bodyPr>
          <a:lstStyle/>
          <a:p>
            <a:r>
              <a:rPr lang="en-US" dirty="0"/>
              <a:t>A</a:t>
            </a:r>
            <a:endParaRPr lang="sv-SE" dirty="0"/>
          </a:p>
        </p:txBody>
      </p:sp>
      <p:sp>
        <p:nvSpPr>
          <p:cNvPr id="15" name="TextBox 14"/>
          <p:cNvSpPr txBox="1"/>
          <p:nvPr/>
        </p:nvSpPr>
        <p:spPr>
          <a:xfrm>
            <a:off x="1627384" y="2949755"/>
            <a:ext cx="350520" cy="369332"/>
          </a:xfrm>
          <a:prstGeom prst="rect">
            <a:avLst/>
          </a:prstGeom>
          <a:noFill/>
        </p:spPr>
        <p:txBody>
          <a:bodyPr wrap="square" rtlCol="0">
            <a:spAutoFit/>
          </a:bodyPr>
          <a:lstStyle/>
          <a:p>
            <a:r>
              <a:rPr lang="en-US" dirty="0"/>
              <a:t>B</a:t>
            </a:r>
            <a:endParaRPr lang="sv-SE" dirty="0"/>
          </a:p>
        </p:txBody>
      </p:sp>
      <p:sp>
        <p:nvSpPr>
          <p:cNvPr id="16" name="Arc 15"/>
          <p:cNvSpPr/>
          <p:nvPr/>
        </p:nvSpPr>
        <p:spPr>
          <a:xfrm rot="3802984">
            <a:off x="1622940" y="3598671"/>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20" name="TextBox 19"/>
              <p:cNvSpPr txBox="1"/>
              <p:nvPr/>
            </p:nvSpPr>
            <p:spPr>
              <a:xfrm>
                <a:off x="1856707" y="3340434"/>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𝐶𝐵</m:t>
                          </m:r>
                        </m:sub>
                      </m:sSub>
                    </m:oMath>
                  </m:oMathPara>
                </a14:m>
                <a:endParaRPr lang="sv-SE" dirty="0"/>
              </a:p>
            </p:txBody>
          </p:sp>
        </mc:Choice>
        <mc:Fallback xmlns="">
          <p:sp>
            <p:nvSpPr>
              <p:cNvPr id="20" name="TextBox 19"/>
              <p:cNvSpPr txBox="1">
                <a:spLocks noRot="1" noChangeAspect="1" noMove="1" noResize="1" noEditPoints="1" noAdjustHandles="1" noChangeArrowheads="1" noChangeShapeType="1" noTextEdit="1"/>
              </p:cNvSpPr>
              <p:nvPr/>
            </p:nvSpPr>
            <p:spPr>
              <a:xfrm>
                <a:off x="1856707" y="3340434"/>
                <a:ext cx="601661" cy="369332"/>
              </a:xfrm>
              <a:prstGeom prst="rect">
                <a:avLst/>
              </a:prstGeom>
              <a:blipFill>
                <a:blip r:embed="rId2"/>
                <a:stretch>
                  <a:fillRect b="-11475"/>
                </a:stretch>
              </a:blipFill>
            </p:spPr>
            <p:txBody>
              <a:bodyPr/>
              <a:lstStyle/>
              <a:p>
                <a:r>
                  <a:rPr lang="sv-SE">
                    <a:noFill/>
                  </a:rPr>
                  <a:t> </a:t>
                </a:r>
              </a:p>
            </p:txBody>
          </p:sp>
        </mc:Fallback>
      </mc:AlternateContent>
      <p:sp>
        <p:nvSpPr>
          <p:cNvPr id="26" name="TextBox 25"/>
          <p:cNvSpPr txBox="1"/>
          <p:nvPr/>
        </p:nvSpPr>
        <p:spPr>
          <a:xfrm>
            <a:off x="789258" y="4129795"/>
            <a:ext cx="350520" cy="369332"/>
          </a:xfrm>
          <a:prstGeom prst="rect">
            <a:avLst/>
          </a:prstGeom>
          <a:noFill/>
        </p:spPr>
        <p:txBody>
          <a:bodyPr wrap="square" rtlCol="0">
            <a:spAutoFit/>
          </a:bodyPr>
          <a:lstStyle/>
          <a:p>
            <a:r>
              <a:rPr lang="en-US" dirty="0"/>
              <a:t>C</a:t>
            </a:r>
            <a:endParaRPr lang="sv-SE" dirty="0"/>
          </a:p>
        </p:txBody>
      </p:sp>
      <p:sp>
        <p:nvSpPr>
          <p:cNvPr id="27" name="Arc 26"/>
          <p:cNvSpPr/>
          <p:nvPr/>
        </p:nvSpPr>
        <p:spPr>
          <a:xfrm rot="9696706">
            <a:off x="1316215" y="3814540"/>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28" name="TextBox 27"/>
              <p:cNvSpPr txBox="1"/>
              <p:nvPr/>
            </p:nvSpPr>
            <p:spPr>
              <a:xfrm>
                <a:off x="1473171" y="3871492"/>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𝜙</m:t>
                          </m:r>
                        </m:e>
                        <m:sub>
                          <m:r>
                            <a:rPr lang="en-US" b="0" i="1" smtClean="0">
                              <a:latin typeface="Cambria Math" panose="02040503050406030204" pitchFamily="18" charset="0"/>
                            </a:rPr>
                            <m:t>𝐶𝐶</m:t>
                          </m:r>
                        </m:sub>
                      </m:sSub>
                    </m:oMath>
                  </m:oMathPara>
                </a14:m>
                <a:endParaRPr lang="sv-SE" dirty="0"/>
              </a:p>
            </p:txBody>
          </p:sp>
        </mc:Choice>
        <mc:Fallback xmlns="">
          <p:sp>
            <p:nvSpPr>
              <p:cNvPr id="28" name="TextBox 27"/>
              <p:cNvSpPr txBox="1">
                <a:spLocks noRot="1" noChangeAspect="1" noMove="1" noResize="1" noEditPoints="1" noAdjustHandles="1" noChangeArrowheads="1" noChangeShapeType="1" noTextEdit="1"/>
              </p:cNvSpPr>
              <p:nvPr/>
            </p:nvSpPr>
            <p:spPr>
              <a:xfrm>
                <a:off x="1473171" y="3871492"/>
                <a:ext cx="601661" cy="369332"/>
              </a:xfrm>
              <a:prstGeom prst="rect">
                <a:avLst/>
              </a:prstGeom>
              <a:blipFill>
                <a:blip r:embed="rId3"/>
                <a:stretch>
                  <a:fillRect r="-14286" b="-11475"/>
                </a:stretch>
              </a:blipFill>
            </p:spPr>
            <p:txBody>
              <a:bodyPr/>
              <a:lstStyle/>
              <a:p>
                <a:r>
                  <a:rPr lang="sv-SE">
                    <a:noFill/>
                  </a:rPr>
                  <a:t> </a:t>
                </a:r>
              </a:p>
            </p:txBody>
          </p:sp>
        </mc:Fallback>
      </mc:AlternateContent>
      <p:pic>
        <p:nvPicPr>
          <p:cNvPr id="31" name="Picture 30"/>
          <p:cNvPicPr>
            <a:picLocks noChangeAspect="1"/>
          </p:cNvPicPr>
          <p:nvPr/>
        </p:nvPicPr>
        <p:blipFill>
          <a:blip r:embed="rId4"/>
          <a:stretch>
            <a:fillRect/>
          </a:stretch>
        </p:blipFill>
        <p:spPr>
          <a:xfrm>
            <a:off x="9295756" y="2312021"/>
            <a:ext cx="2873384" cy="2155038"/>
          </a:xfrm>
          <a:prstGeom prst="rect">
            <a:avLst/>
          </a:prstGeom>
        </p:spPr>
      </p:pic>
      <p:pic>
        <p:nvPicPr>
          <p:cNvPr id="32" name="Picture 31"/>
          <p:cNvPicPr>
            <a:picLocks noChangeAspect="1"/>
          </p:cNvPicPr>
          <p:nvPr/>
        </p:nvPicPr>
        <p:blipFill>
          <a:blip r:embed="rId5"/>
          <a:stretch>
            <a:fillRect/>
          </a:stretch>
        </p:blipFill>
        <p:spPr>
          <a:xfrm>
            <a:off x="6502387" y="4658754"/>
            <a:ext cx="2793367" cy="2095025"/>
          </a:xfrm>
          <a:prstGeom prst="rect">
            <a:avLst/>
          </a:prstGeom>
        </p:spPr>
      </p:pic>
      <p:pic>
        <p:nvPicPr>
          <p:cNvPr id="33" name="Picture 32"/>
          <p:cNvPicPr>
            <a:picLocks noChangeAspect="1"/>
          </p:cNvPicPr>
          <p:nvPr/>
        </p:nvPicPr>
        <p:blipFill>
          <a:blip r:embed="rId6"/>
          <a:stretch>
            <a:fillRect/>
          </a:stretch>
        </p:blipFill>
        <p:spPr>
          <a:xfrm>
            <a:off x="9295755" y="4658754"/>
            <a:ext cx="2810013" cy="2107510"/>
          </a:xfrm>
          <a:prstGeom prst="rect">
            <a:avLst/>
          </a:prstGeom>
        </p:spPr>
      </p:pic>
      <mc:AlternateContent xmlns:mc="http://schemas.openxmlformats.org/markup-compatibility/2006" xmlns:a14="http://schemas.microsoft.com/office/drawing/2010/main">
        <mc:Choice Requires="a14">
          <p:sp>
            <p:nvSpPr>
              <p:cNvPr id="34" name="TextBox 33"/>
              <p:cNvSpPr txBox="1"/>
              <p:nvPr/>
            </p:nvSpPr>
            <p:spPr>
              <a:xfrm>
                <a:off x="10023184" y="2122336"/>
                <a:ext cx="13551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=0.5</m:t>
                      </m:r>
                    </m:oMath>
                  </m:oMathPara>
                </a14:m>
                <a:endParaRPr lang="sv-SE" dirty="0"/>
              </a:p>
            </p:txBody>
          </p:sp>
        </mc:Choice>
        <mc:Fallback xmlns="">
          <p:sp>
            <p:nvSpPr>
              <p:cNvPr id="34" name="TextBox 33"/>
              <p:cNvSpPr txBox="1">
                <a:spLocks noRot="1" noChangeAspect="1" noMove="1" noResize="1" noEditPoints="1" noAdjustHandles="1" noChangeArrowheads="1" noChangeShapeType="1" noTextEdit="1"/>
              </p:cNvSpPr>
              <p:nvPr/>
            </p:nvSpPr>
            <p:spPr>
              <a:xfrm>
                <a:off x="10023184" y="2122336"/>
                <a:ext cx="1355154" cy="369332"/>
              </a:xfrm>
              <a:prstGeom prst="rect">
                <a:avLst/>
              </a:prstGeom>
              <a:blipFill>
                <a:blip r:embed="rId7"/>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5" name="TextBox 34"/>
              <p:cNvSpPr txBox="1"/>
              <p:nvPr/>
            </p:nvSpPr>
            <p:spPr>
              <a:xfrm>
                <a:off x="10023184" y="4457590"/>
                <a:ext cx="13551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=1</m:t>
                      </m:r>
                    </m:oMath>
                  </m:oMathPara>
                </a14:m>
                <a:endParaRPr lang="sv-SE" dirty="0"/>
              </a:p>
            </p:txBody>
          </p:sp>
        </mc:Choice>
        <mc:Fallback xmlns="">
          <p:sp>
            <p:nvSpPr>
              <p:cNvPr id="35" name="TextBox 34"/>
              <p:cNvSpPr txBox="1">
                <a:spLocks noRot="1" noChangeAspect="1" noMove="1" noResize="1" noEditPoints="1" noAdjustHandles="1" noChangeArrowheads="1" noChangeShapeType="1" noTextEdit="1"/>
              </p:cNvSpPr>
              <p:nvPr/>
            </p:nvSpPr>
            <p:spPr>
              <a:xfrm>
                <a:off x="10023184" y="4457590"/>
                <a:ext cx="1355154" cy="369332"/>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7344556" y="4478996"/>
                <a:ext cx="13551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=0.75</m:t>
                      </m:r>
                    </m:oMath>
                  </m:oMathPara>
                </a14:m>
                <a:endParaRPr lang="sv-SE" dirty="0"/>
              </a:p>
            </p:txBody>
          </p:sp>
        </mc:Choice>
        <mc:Fallback xmlns="">
          <p:sp>
            <p:nvSpPr>
              <p:cNvPr id="36" name="TextBox 35"/>
              <p:cNvSpPr txBox="1">
                <a:spLocks noRot="1" noChangeAspect="1" noMove="1" noResize="1" noEditPoints="1" noAdjustHandles="1" noChangeArrowheads="1" noChangeShapeType="1" noTextEdit="1"/>
              </p:cNvSpPr>
              <p:nvPr/>
            </p:nvSpPr>
            <p:spPr>
              <a:xfrm>
                <a:off x="7344556" y="4478996"/>
                <a:ext cx="1355154" cy="369332"/>
              </a:xfrm>
              <a:prstGeom prst="rect">
                <a:avLst/>
              </a:prstGeom>
              <a:blipFill>
                <a:blip r:embed="rId9"/>
                <a:stretch>
                  <a:fillRect/>
                </a:stretch>
              </a:blipFill>
            </p:spPr>
            <p:txBody>
              <a:bodyPr/>
              <a:lstStyle/>
              <a:p>
                <a:r>
                  <a:rPr lang="sv-SE">
                    <a:noFill/>
                  </a:rPr>
                  <a:t> </a:t>
                </a:r>
              </a:p>
            </p:txBody>
          </p:sp>
        </mc:Fallback>
      </mc:AlternateContent>
      <p:pic>
        <p:nvPicPr>
          <p:cNvPr id="37" name="Picture 36"/>
          <p:cNvPicPr>
            <a:picLocks noChangeAspect="1"/>
          </p:cNvPicPr>
          <p:nvPr/>
        </p:nvPicPr>
        <p:blipFill>
          <a:blip r:embed="rId10"/>
          <a:stretch>
            <a:fillRect/>
          </a:stretch>
        </p:blipFill>
        <p:spPr>
          <a:xfrm>
            <a:off x="6575691" y="2329463"/>
            <a:ext cx="2892884" cy="2169664"/>
          </a:xfrm>
          <a:prstGeom prst="rect">
            <a:avLst/>
          </a:prstGeom>
        </p:spPr>
      </p:pic>
      <mc:AlternateContent xmlns:mc="http://schemas.openxmlformats.org/markup-compatibility/2006" xmlns:a14="http://schemas.microsoft.com/office/drawing/2010/main">
        <mc:Choice Requires="a14">
          <p:sp>
            <p:nvSpPr>
              <p:cNvPr id="38" name="TextBox 37"/>
              <p:cNvSpPr txBox="1"/>
              <p:nvPr/>
            </p:nvSpPr>
            <p:spPr>
              <a:xfrm>
                <a:off x="7562587" y="2014187"/>
                <a:ext cx="13551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=0.25</m:t>
                      </m:r>
                    </m:oMath>
                  </m:oMathPara>
                </a14:m>
                <a:endParaRPr lang="sv-SE" dirty="0"/>
              </a:p>
            </p:txBody>
          </p:sp>
        </mc:Choice>
        <mc:Fallback xmlns="">
          <p:sp>
            <p:nvSpPr>
              <p:cNvPr id="38" name="TextBox 37"/>
              <p:cNvSpPr txBox="1">
                <a:spLocks noRot="1" noChangeAspect="1" noMove="1" noResize="1" noEditPoints="1" noAdjustHandles="1" noChangeArrowheads="1" noChangeShapeType="1" noTextEdit="1"/>
              </p:cNvSpPr>
              <p:nvPr/>
            </p:nvSpPr>
            <p:spPr>
              <a:xfrm>
                <a:off x="7562587" y="2014187"/>
                <a:ext cx="1355154" cy="369332"/>
              </a:xfrm>
              <a:prstGeom prst="rect">
                <a:avLst/>
              </a:prstGeom>
              <a:blipFill>
                <a:blip r:embed="rId11"/>
                <a:stretch>
                  <a:fillRect/>
                </a:stretch>
              </a:blipFill>
            </p:spPr>
            <p:txBody>
              <a:bodyPr/>
              <a:lstStyle/>
              <a:p>
                <a:r>
                  <a:rPr lang="sv-SE">
                    <a:noFill/>
                  </a:rPr>
                  <a:t> </a:t>
                </a:r>
              </a:p>
            </p:txBody>
          </p:sp>
        </mc:Fallback>
      </mc:AlternateContent>
      <p:pic>
        <p:nvPicPr>
          <p:cNvPr id="39" name="Picture 38"/>
          <p:cNvPicPr>
            <a:picLocks noChangeAspect="1"/>
          </p:cNvPicPr>
          <p:nvPr/>
        </p:nvPicPr>
        <p:blipFill>
          <a:blip r:embed="rId12"/>
          <a:stretch>
            <a:fillRect/>
          </a:stretch>
        </p:blipFill>
        <p:spPr>
          <a:xfrm>
            <a:off x="8331100" y="202153"/>
            <a:ext cx="2623578" cy="1967684"/>
          </a:xfrm>
          <a:prstGeom prst="rect">
            <a:avLst/>
          </a:prstGeom>
        </p:spPr>
      </p:pic>
      <mc:AlternateContent xmlns:mc="http://schemas.openxmlformats.org/markup-compatibility/2006" xmlns:a14="http://schemas.microsoft.com/office/drawing/2010/main">
        <mc:Choice Requires="a14">
          <p:sp>
            <p:nvSpPr>
              <p:cNvPr id="40" name="TextBox 39"/>
              <p:cNvSpPr txBox="1"/>
              <p:nvPr/>
            </p:nvSpPr>
            <p:spPr>
              <a:xfrm>
                <a:off x="9149887" y="-28252"/>
                <a:ext cx="13551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=0</m:t>
                      </m:r>
                    </m:oMath>
                  </m:oMathPara>
                </a14:m>
                <a:endParaRPr lang="sv-SE" dirty="0"/>
              </a:p>
            </p:txBody>
          </p:sp>
        </mc:Choice>
        <mc:Fallback xmlns="">
          <p:sp>
            <p:nvSpPr>
              <p:cNvPr id="40" name="TextBox 39"/>
              <p:cNvSpPr txBox="1">
                <a:spLocks noRot="1" noChangeAspect="1" noMove="1" noResize="1" noEditPoints="1" noAdjustHandles="1" noChangeArrowheads="1" noChangeShapeType="1" noTextEdit="1"/>
              </p:cNvSpPr>
              <p:nvPr/>
            </p:nvSpPr>
            <p:spPr>
              <a:xfrm>
                <a:off x="9149887" y="-28252"/>
                <a:ext cx="1355154" cy="369332"/>
              </a:xfrm>
              <a:prstGeom prst="rect">
                <a:avLst/>
              </a:prstGeom>
              <a:blipFill>
                <a:blip r:embed="rId13"/>
                <a:stretch>
                  <a:fillRect/>
                </a:stretch>
              </a:blipFill>
            </p:spPr>
            <p:txBody>
              <a:bodyPr/>
              <a:lstStyle/>
              <a:p>
                <a:r>
                  <a:rPr lang="sv-SE">
                    <a:noFill/>
                  </a:rPr>
                  <a:t> </a:t>
                </a:r>
              </a:p>
            </p:txBody>
          </p:sp>
        </mc:Fallback>
      </mc:AlternateContent>
      <p:sp>
        <p:nvSpPr>
          <p:cNvPr id="41" name="TextBox 40"/>
          <p:cNvSpPr txBox="1"/>
          <p:nvPr/>
        </p:nvSpPr>
        <p:spPr>
          <a:xfrm>
            <a:off x="3394031" y="1767095"/>
            <a:ext cx="3190247" cy="4247317"/>
          </a:xfrm>
          <a:prstGeom prst="rect">
            <a:avLst/>
          </a:prstGeom>
          <a:noFill/>
        </p:spPr>
        <p:txBody>
          <a:bodyPr wrap="square" rtlCol="0">
            <a:spAutoFit/>
          </a:bodyPr>
          <a:lstStyle/>
          <a:p>
            <a:r>
              <a:rPr lang="en-US" dirty="0"/>
              <a:t>The magnitude of the switching frequency are plotted over a fundamental period for different modulation index.</a:t>
            </a:r>
          </a:p>
          <a:p>
            <a:endParaRPr lang="en-US" dirty="0"/>
          </a:p>
          <a:p>
            <a:r>
              <a:rPr lang="en-US" dirty="0"/>
              <a:t>It is observed that the magnitude changes for each leg.</a:t>
            </a:r>
          </a:p>
          <a:p>
            <a:endParaRPr lang="en-US" dirty="0"/>
          </a:p>
          <a:p>
            <a:r>
              <a:rPr lang="en-US" dirty="0"/>
              <a:t>Also, we know that the phases of the components depends on the carrier phase shift. </a:t>
            </a:r>
          </a:p>
          <a:p>
            <a:endParaRPr lang="en-US" dirty="0"/>
          </a:p>
          <a:p>
            <a:r>
              <a:rPr lang="en-US" dirty="0"/>
              <a:t>Our aim is to minimize the sum of these components.</a:t>
            </a:r>
            <a:endParaRPr lang="sv-SE" dirty="0"/>
          </a:p>
        </p:txBody>
      </p:sp>
    </p:spTree>
    <p:extLst>
      <p:ext uri="{BB962C8B-B14F-4D97-AF65-F5344CB8AC3E}">
        <p14:creationId xmlns:p14="http://schemas.microsoft.com/office/powerpoint/2010/main" val="1900203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298" y="220070"/>
            <a:ext cx="8786024" cy="1325563"/>
          </a:xfrm>
        </p:spPr>
        <p:txBody>
          <a:bodyPr/>
          <a:lstStyle/>
          <a:p>
            <a:r>
              <a:rPr lang="en-US" dirty="0">
                <a:solidFill>
                  <a:srgbClr val="C00000"/>
                </a:solidFill>
              </a:rPr>
              <a:t>Mathematical Modelling</a:t>
            </a:r>
            <a:endParaRPr lang="sv-SE" dirty="0"/>
          </a:p>
        </p:txBody>
      </p:sp>
      <p:cxnSp>
        <p:nvCxnSpPr>
          <p:cNvPr id="8" name="Straight Arrow Connector 7"/>
          <p:cNvCxnSpPr/>
          <p:nvPr/>
        </p:nvCxnSpPr>
        <p:spPr>
          <a:xfrm flipV="1">
            <a:off x="1537859" y="2160139"/>
            <a:ext cx="956635" cy="4879"/>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895938" y="2160139"/>
            <a:ext cx="641921" cy="30513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1537860" y="1630329"/>
            <a:ext cx="196204" cy="516177"/>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6" name="Arc 15"/>
          <p:cNvSpPr/>
          <p:nvPr/>
        </p:nvSpPr>
        <p:spPr>
          <a:xfrm rot="3802984">
            <a:off x="1554360" y="1929891"/>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27" name="Arc 26"/>
          <p:cNvSpPr/>
          <p:nvPr/>
        </p:nvSpPr>
        <p:spPr>
          <a:xfrm rot="9696706">
            <a:off x="1247635" y="2145760"/>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41" name="TextBox 40"/>
              <p:cNvSpPr txBox="1"/>
              <p:nvPr/>
            </p:nvSpPr>
            <p:spPr>
              <a:xfrm>
                <a:off x="3318562" y="1230252"/>
                <a:ext cx="7335578" cy="1512978"/>
              </a:xfrm>
              <a:prstGeom prst="rect">
                <a:avLst/>
              </a:prstGeom>
              <a:noFill/>
            </p:spPr>
            <p:txBody>
              <a:bodyPr wrap="square" rtlCol="0">
                <a:spAutoFit/>
              </a:bodyPr>
              <a:lstStyle/>
              <a:p>
                <a:r>
                  <a:rPr lang="en-US" dirty="0"/>
                  <a:t>We have tree vectors with magnitude of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𝑆</m:t>
                        </m:r>
                      </m:e>
                      <m:sub>
                        <m:r>
                          <a:rPr lang="en-US" i="1">
                            <a:latin typeface="Cambria Math" panose="02040503050406030204" pitchFamily="18" charset="0"/>
                          </a:rPr>
                          <m:t>𝐴</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𝑆</m:t>
                            </m:r>
                          </m:e>
                          <m:sub>
                            <m:r>
                              <a:rPr lang="en-US" b="0" i="1" smtClean="0">
                                <a:latin typeface="Cambria Math" panose="02040503050406030204" pitchFamily="18" charset="0"/>
                              </a:rPr>
                              <m:t>𝐵</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e>
                    </m:d>
                    <m:r>
                      <a:rPr lang="en-US">
                        <a:latin typeface="Cambria Math" panose="02040503050406030204" pitchFamily="18" charset="0"/>
                      </a:rPr>
                      <m:t>,</m:t>
                    </m:r>
                    <m:r>
                      <m:rPr>
                        <m:sty m:val="p"/>
                      </m:rPr>
                      <a:rPr lang="en-US" b="0" i="0" smtClean="0">
                        <a:latin typeface="Cambria Math" panose="02040503050406030204" pitchFamily="18" charset="0"/>
                      </a:rPr>
                      <m:t>and</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𝑆</m:t>
                        </m:r>
                      </m:e>
                      <m:sub>
                        <m:r>
                          <a:rPr lang="en-US" b="0" i="1" smtClean="0">
                            <a:latin typeface="Cambria Math" panose="02040503050406030204" pitchFamily="18" charset="0"/>
                          </a:rPr>
                          <m:t>𝐶</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r>
                      <a:rPr lang="en-US" i="1">
                        <a:latin typeface="Cambria Math" panose="02040503050406030204" pitchFamily="18" charset="0"/>
                      </a:rPr>
                      <m:t>|</m:t>
                    </m:r>
                  </m:oMath>
                </a14:m>
                <a:endParaRPr lang="en-US" i="1" dirty="0">
                  <a:latin typeface="Cambria Math" panose="02040503050406030204" pitchFamily="18" charset="0"/>
                </a:endParaRPr>
              </a:p>
              <a:p>
                <a:r>
                  <a:rPr lang="en-US" dirty="0"/>
                  <a:t>We can anymore call them by </a:t>
                </a:r>
                <a14:m>
                  <m:oMath xmlns:m="http://schemas.openxmlformats.org/officeDocument/2006/math">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sv-SE" b="0" i="0" smtClean="0">
                            <a:latin typeface="Cambria Math" panose="02040503050406030204" pitchFamily="18" charset="0"/>
                          </a:rPr>
                          <m:t>v</m:t>
                        </m:r>
                      </m:e>
                      <m:sub>
                        <m:r>
                          <m:rPr>
                            <m:sty m:val="p"/>
                          </m:rPr>
                          <a:rPr lang="en-US" b="0" i="0" smtClean="0">
                            <a:latin typeface="Cambria Math" panose="02040503050406030204" pitchFamily="18" charset="0"/>
                          </a:rPr>
                          <m:t>A</m:t>
                        </m:r>
                      </m:sub>
                    </m:sSub>
                  </m:oMath>
                </a14:m>
                <a:r>
                  <a:rPr lang="sv-SE" dirty="0"/>
                  <a:t> , </a:t>
                </a:r>
                <a14:m>
                  <m:oMath xmlns:m="http://schemas.openxmlformats.org/officeDocument/2006/math">
                    <m:sSub>
                      <m:sSubPr>
                        <m:ctrlPr>
                          <a:rPr lang="en-US" i="1">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B</m:t>
                        </m:r>
                      </m:sub>
                    </m:sSub>
                  </m:oMath>
                </a14:m>
                <a:r>
                  <a:rPr lang="sv-SE" dirty="0"/>
                  <a:t> , and </a:t>
                </a:r>
                <a14:m>
                  <m:oMath xmlns:m="http://schemas.openxmlformats.org/officeDocument/2006/math">
                    <m:sSub>
                      <m:sSubPr>
                        <m:ctrlPr>
                          <a:rPr lang="en-US" i="1">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C</m:t>
                        </m:r>
                      </m:sub>
                    </m:sSub>
                    <m:r>
                      <a:rPr lang="en-US" b="0" i="1" smtClean="0">
                        <a:latin typeface="Cambria Math" panose="02040503050406030204" pitchFamily="18" charset="0"/>
                      </a:rPr>
                      <m:t> </m:t>
                    </m:r>
                  </m:oMath>
                </a14:m>
                <a:r>
                  <a:rPr lang="sv-SE" dirty="0"/>
                  <a:t>for ease of representation.</a:t>
                </a:r>
                <a:endParaRPr lang="en-US" dirty="0"/>
              </a:p>
              <a:p>
                <a:r>
                  <a:rPr lang="en-US" dirty="0"/>
                  <a:t>If these vectors creates a triangle, the minimum of the sum could be zero. </a:t>
                </a:r>
              </a:p>
              <a:p>
                <a:r>
                  <a:rPr lang="en-US" dirty="0"/>
                  <a:t>It is easily determined whether these three vectors a triangle by </a:t>
                </a:r>
                <a:r>
                  <a:rPr lang="sv-SE" dirty="0" err="1"/>
                  <a:t>triangle</a:t>
                </a:r>
                <a:endParaRPr lang="sv-SE" dirty="0"/>
              </a:p>
              <a:p>
                <a:r>
                  <a:rPr lang="sv-SE" dirty="0" err="1"/>
                  <a:t>inequality</a:t>
                </a:r>
                <a:r>
                  <a:rPr lang="sv-SE" dirty="0"/>
                  <a:t>. </a:t>
                </a:r>
                <a:endParaRPr lang="en-US" dirty="0"/>
              </a:p>
            </p:txBody>
          </p:sp>
        </mc:Choice>
        <mc:Fallback xmlns="">
          <p:sp>
            <p:nvSpPr>
              <p:cNvPr id="41" name="TextBox 40"/>
              <p:cNvSpPr txBox="1">
                <a:spLocks noRot="1" noChangeAspect="1" noMove="1" noResize="1" noEditPoints="1" noAdjustHandles="1" noChangeArrowheads="1" noChangeShapeType="1" noTextEdit="1"/>
              </p:cNvSpPr>
              <p:nvPr/>
            </p:nvSpPr>
            <p:spPr>
              <a:xfrm>
                <a:off x="3318562" y="1230252"/>
                <a:ext cx="7335578" cy="1512978"/>
              </a:xfrm>
              <a:prstGeom prst="rect">
                <a:avLst/>
              </a:prstGeom>
              <a:blipFill>
                <a:blip r:embed="rId2"/>
                <a:stretch>
                  <a:fillRect l="-664" t="-806" b="-564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E329F2A0-7DC8-470C-A880-FA136EC5CE95}"/>
                  </a:ext>
                </a:extLst>
              </p:cNvPr>
              <p:cNvSpPr/>
              <p:nvPr/>
            </p:nvSpPr>
            <p:spPr>
              <a:xfrm>
                <a:off x="3318562" y="2743230"/>
                <a:ext cx="3870419" cy="646331"/>
              </a:xfrm>
              <a:prstGeom prst="rect">
                <a:avLst/>
              </a:prstGeom>
            </p:spPr>
            <p:txBody>
              <a:bodyPr wrap="none">
                <a:spAutoFit/>
              </a:bodyPr>
              <a:lstStyle/>
              <a:p>
                <a:r>
                  <a:rPr lang="en-US" b="1" dirty="0"/>
                  <a:t>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r>
                      <a:rPr lang="en-US" b="1" i="1" smtClean="0">
                        <a:latin typeface="Cambria Math" panose="02040503050406030204" pitchFamily="18" charset="0"/>
                      </a:rPr>
                      <m:t>|</m:t>
                    </m:r>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0" smtClean="0">
                            <a:latin typeface="Cambria Math" panose="02040503050406030204" pitchFamily="18" charset="0"/>
                          </a:rPr>
                          <m:t>𝐂</m:t>
                        </m:r>
                      </m:sub>
                    </m:sSub>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oMath>
                </a14:m>
                <a:r>
                  <a:rPr lang="en-US" b="1" dirty="0"/>
                  <a:t> is satisfied </a:t>
                </a:r>
              </a:p>
              <a:p>
                <a:r>
                  <a:rPr lang="en-US" dirty="0"/>
                  <a:t> </a:t>
                </a:r>
              </a:p>
            </p:txBody>
          </p:sp>
        </mc:Choice>
        <mc:Fallback xmlns="">
          <p:sp>
            <p:nvSpPr>
              <p:cNvPr id="3" name="Rectangle 2">
                <a:extLst>
                  <a:ext uri="{FF2B5EF4-FFF2-40B4-BE49-F238E27FC236}">
                    <a16:creationId xmlns:a16="http://schemas.microsoft.com/office/drawing/2014/main" id="{E329F2A0-7DC8-470C-A880-FA136EC5CE95}"/>
                  </a:ext>
                </a:extLst>
              </p:cNvPr>
              <p:cNvSpPr>
                <a:spLocks noRot="1" noChangeAspect="1" noMove="1" noResize="1" noEditPoints="1" noAdjustHandles="1" noChangeArrowheads="1" noChangeShapeType="1" noTextEdit="1"/>
              </p:cNvSpPr>
              <p:nvPr/>
            </p:nvSpPr>
            <p:spPr>
              <a:xfrm>
                <a:off x="3318562" y="2743230"/>
                <a:ext cx="3870419" cy="646331"/>
              </a:xfrm>
              <a:prstGeom prst="rect">
                <a:avLst/>
              </a:prstGeom>
              <a:blipFill>
                <a:blip r:embed="rId3"/>
                <a:stretch>
                  <a:fillRect l="-1260" t="-4717" r="-315"/>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AD2643C9-41F5-4561-BA2F-54D5D07C3C4D}"/>
              </a:ext>
            </a:extLst>
          </p:cNvPr>
          <p:cNvCxnSpPr>
            <a:cxnSpLocks/>
          </p:cNvCxnSpPr>
          <p:nvPr/>
        </p:nvCxnSpPr>
        <p:spPr>
          <a:xfrm flipV="1">
            <a:off x="4508330" y="3871196"/>
            <a:ext cx="2402546" cy="1689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0B6A6CC-D941-41F7-A041-3AF1EEA7B3BA}"/>
                  </a:ext>
                </a:extLst>
              </p:cNvPr>
              <p:cNvSpPr/>
              <p:nvPr/>
            </p:nvSpPr>
            <p:spPr>
              <a:xfrm>
                <a:off x="2437396" y="1943376"/>
                <a:ext cx="48115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sv-SE">
                              <a:latin typeface="Cambria Math" panose="02040503050406030204" pitchFamily="18" charset="0"/>
                            </a:rPr>
                            <m:t>v</m:t>
                          </m:r>
                        </m:e>
                        <m:sub>
                          <m:r>
                            <m:rPr>
                              <m:sty m:val="p"/>
                            </m:rPr>
                            <a:rPr lang="en-US">
                              <a:latin typeface="Cambria Math" panose="02040503050406030204" pitchFamily="18" charset="0"/>
                            </a:rPr>
                            <m:t>A</m:t>
                          </m:r>
                        </m:sub>
                      </m:sSub>
                    </m:oMath>
                  </m:oMathPara>
                </a14:m>
                <a:endParaRPr lang="en-US" dirty="0"/>
              </a:p>
            </p:txBody>
          </p:sp>
        </mc:Choice>
        <mc:Fallback xmlns="">
          <p:sp>
            <p:nvSpPr>
              <p:cNvPr id="4" name="Rectangle 3">
                <a:extLst>
                  <a:ext uri="{FF2B5EF4-FFF2-40B4-BE49-F238E27FC236}">
                    <a16:creationId xmlns:a16="http://schemas.microsoft.com/office/drawing/2014/main" id="{70B6A6CC-D941-41F7-A041-3AF1EEA7B3BA}"/>
                  </a:ext>
                </a:extLst>
              </p:cNvPr>
              <p:cNvSpPr>
                <a:spLocks noRot="1" noChangeAspect="1" noMove="1" noResize="1" noEditPoints="1" noAdjustHandles="1" noChangeArrowheads="1" noChangeShapeType="1" noTextEdit="1"/>
              </p:cNvSpPr>
              <p:nvPr/>
            </p:nvSpPr>
            <p:spPr>
              <a:xfrm>
                <a:off x="2437396" y="1943376"/>
                <a:ext cx="481157"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D548377-8719-493E-B866-6EA2CA5CE581}"/>
                  </a:ext>
                </a:extLst>
              </p:cNvPr>
              <p:cNvSpPr/>
              <p:nvPr/>
            </p:nvSpPr>
            <p:spPr>
              <a:xfrm>
                <a:off x="1537859" y="1276294"/>
                <a:ext cx="4795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B</m:t>
                          </m:r>
                        </m:sub>
                      </m:sSub>
                    </m:oMath>
                  </m:oMathPara>
                </a14:m>
                <a:endParaRPr lang="en-US" dirty="0"/>
              </a:p>
            </p:txBody>
          </p:sp>
        </mc:Choice>
        <mc:Fallback xmlns="">
          <p:sp>
            <p:nvSpPr>
              <p:cNvPr id="5" name="Rectangle 4">
                <a:extLst>
                  <a:ext uri="{FF2B5EF4-FFF2-40B4-BE49-F238E27FC236}">
                    <a16:creationId xmlns:a16="http://schemas.microsoft.com/office/drawing/2014/main" id="{CD548377-8719-493E-B866-6EA2CA5CE581}"/>
                  </a:ext>
                </a:extLst>
              </p:cNvPr>
              <p:cNvSpPr>
                <a:spLocks noRot="1" noChangeAspect="1" noMove="1" noResize="1" noEditPoints="1" noAdjustHandles="1" noChangeArrowheads="1" noChangeShapeType="1" noTextEdit="1"/>
              </p:cNvSpPr>
              <p:nvPr/>
            </p:nvSpPr>
            <p:spPr>
              <a:xfrm>
                <a:off x="1537859" y="1276294"/>
                <a:ext cx="47955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ED50A725-5E1B-438D-9CD9-40D8391D8ADF}"/>
                  </a:ext>
                </a:extLst>
              </p:cNvPr>
              <p:cNvSpPr/>
              <p:nvPr/>
            </p:nvSpPr>
            <p:spPr>
              <a:xfrm>
                <a:off x="594390" y="2365003"/>
                <a:ext cx="4699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C</m:t>
                          </m:r>
                        </m:sub>
                      </m:sSub>
                    </m:oMath>
                  </m:oMathPara>
                </a14:m>
                <a:endParaRPr lang="en-US" dirty="0"/>
              </a:p>
            </p:txBody>
          </p:sp>
        </mc:Choice>
        <mc:Fallback xmlns="">
          <p:sp>
            <p:nvSpPr>
              <p:cNvPr id="18" name="Rectangle 17">
                <a:extLst>
                  <a:ext uri="{FF2B5EF4-FFF2-40B4-BE49-F238E27FC236}">
                    <a16:creationId xmlns:a16="http://schemas.microsoft.com/office/drawing/2014/main" id="{ED50A725-5E1B-438D-9CD9-40D8391D8ADF}"/>
                  </a:ext>
                </a:extLst>
              </p:cNvPr>
              <p:cNvSpPr>
                <a:spLocks noRot="1" noChangeAspect="1" noMove="1" noResize="1" noEditPoints="1" noAdjustHandles="1" noChangeArrowheads="1" noChangeShapeType="1" noTextEdit="1"/>
              </p:cNvSpPr>
              <p:nvPr/>
            </p:nvSpPr>
            <p:spPr>
              <a:xfrm>
                <a:off x="594390" y="2365003"/>
                <a:ext cx="469937" cy="369332"/>
              </a:xfrm>
              <a:prstGeom prst="rect">
                <a:avLst/>
              </a:prstGeom>
              <a:blipFill>
                <a:blip r:embed="rId6"/>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AAACAC1D-917A-4182-9A23-E49D507EFDDC}"/>
              </a:ext>
            </a:extLst>
          </p:cNvPr>
          <p:cNvCxnSpPr>
            <a:cxnSpLocks/>
          </p:cNvCxnSpPr>
          <p:nvPr/>
        </p:nvCxnSpPr>
        <p:spPr>
          <a:xfrm flipV="1">
            <a:off x="6880550" y="3123965"/>
            <a:ext cx="963606" cy="735348"/>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79B8392-0229-4F99-880A-C1847A5045F6}"/>
              </a:ext>
            </a:extLst>
          </p:cNvPr>
          <p:cNvCxnSpPr>
            <a:cxnSpLocks/>
          </p:cNvCxnSpPr>
          <p:nvPr/>
        </p:nvCxnSpPr>
        <p:spPr>
          <a:xfrm flipH="1">
            <a:off x="4508330" y="3123965"/>
            <a:ext cx="3286466" cy="73534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AE3E0BFE-22D9-4A13-99FC-D329682B92D3}"/>
              </a:ext>
            </a:extLst>
          </p:cNvPr>
          <p:cNvSpPr/>
          <p:nvPr/>
        </p:nvSpPr>
        <p:spPr>
          <a:xfrm rot="2203924">
            <a:off x="6972403" y="3730528"/>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sp>
        <p:nvSpPr>
          <p:cNvPr id="31" name="Arc 30">
            <a:extLst>
              <a:ext uri="{FF2B5EF4-FFF2-40B4-BE49-F238E27FC236}">
                <a16:creationId xmlns:a16="http://schemas.microsoft.com/office/drawing/2014/main" id="{7FD4CE10-858C-4ED5-AA94-9F99AC7E8DD9}"/>
              </a:ext>
            </a:extLst>
          </p:cNvPr>
          <p:cNvSpPr/>
          <p:nvPr/>
        </p:nvSpPr>
        <p:spPr>
          <a:xfrm rot="8638307">
            <a:off x="4224792" y="3676155"/>
            <a:ext cx="538984" cy="281832"/>
          </a:xfrm>
          <a:prstGeom prst="arc">
            <a:avLst>
              <a:gd name="adj1" fmla="val 15923001"/>
              <a:gd name="adj2" fmla="val 21419193"/>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289C501-5BD9-4361-8019-C1DEC65E998C}"/>
                  </a:ext>
                </a:extLst>
              </p:cNvPr>
              <p:cNvSpPr txBox="1"/>
              <p:nvPr/>
            </p:nvSpPr>
            <p:spPr>
              <a:xfrm>
                <a:off x="3318562" y="4331281"/>
                <a:ext cx="6245816" cy="369332"/>
              </a:xfrm>
              <a:prstGeom prst="rect">
                <a:avLst/>
              </a:prstGeom>
              <a:noFill/>
            </p:spPr>
            <p:txBody>
              <a:bodyPr wrap="square" rtlCol="0">
                <a:spAutoFit/>
              </a:bodyPr>
              <a:lstStyle/>
              <a:p>
                <a:r>
                  <a:rPr lang="en-US" dirty="0">
                    <a:solidFill>
                      <a:srgbClr val="FF0000"/>
                    </a:solidFill>
                  </a:rPr>
                  <a:t>Apply cosine and sine  theorems to find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oMath>
                </a14:m>
                <a:r>
                  <a:rPr lang="en-US" dirty="0">
                    <a:solidFill>
                      <a:srgbClr val="FF0000"/>
                    </a:solidFill>
                  </a:rPr>
                  <a:t> </a:t>
                </a:r>
              </a:p>
            </p:txBody>
          </p:sp>
        </mc:Choice>
        <mc:Fallback xmlns="">
          <p:sp>
            <p:nvSpPr>
              <p:cNvPr id="30" name="TextBox 29">
                <a:extLst>
                  <a:ext uri="{FF2B5EF4-FFF2-40B4-BE49-F238E27FC236}">
                    <a16:creationId xmlns:a16="http://schemas.microsoft.com/office/drawing/2014/main" id="{8289C501-5BD9-4361-8019-C1DEC65E998C}"/>
                  </a:ext>
                </a:extLst>
              </p:cNvPr>
              <p:cNvSpPr txBox="1">
                <a:spLocks noRot="1" noChangeAspect="1" noMove="1" noResize="1" noEditPoints="1" noAdjustHandles="1" noChangeArrowheads="1" noChangeShapeType="1" noTextEdit="1"/>
              </p:cNvSpPr>
              <p:nvPr/>
            </p:nvSpPr>
            <p:spPr>
              <a:xfrm>
                <a:off x="3318562" y="4331281"/>
                <a:ext cx="6245816" cy="369332"/>
              </a:xfrm>
              <a:prstGeom prst="rect">
                <a:avLst/>
              </a:prstGeom>
              <a:blipFill>
                <a:blip r:embed="rId7"/>
                <a:stretch>
                  <a:fillRect l="-780" t="-10000" b="-26667"/>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E918424A-0EB3-40BB-A40E-6D0DC5D29AED}"/>
              </a:ext>
            </a:extLst>
          </p:cNvPr>
          <p:cNvCxnSpPr>
            <a:cxnSpLocks/>
          </p:cNvCxnSpPr>
          <p:nvPr/>
        </p:nvCxnSpPr>
        <p:spPr>
          <a:xfrm>
            <a:off x="6880550" y="3878329"/>
            <a:ext cx="101448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2DD5A5E-2BF7-4102-93E5-28B1A971EE38}"/>
                  </a:ext>
                </a:extLst>
              </p:cNvPr>
              <p:cNvSpPr/>
              <p:nvPr/>
            </p:nvSpPr>
            <p:spPr>
              <a:xfrm>
                <a:off x="7347783" y="3471103"/>
                <a:ext cx="625108"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𝐶𝐵</m:t>
                        </m:r>
                      </m:sub>
                    </m:sSub>
                  </m:oMath>
                </a14:m>
                <a:r>
                  <a:rPr lang="en-US" dirty="0">
                    <a:solidFill>
                      <a:srgbClr val="FF0000"/>
                    </a:solidFill>
                  </a:rPr>
                  <a:t> </a:t>
                </a:r>
              </a:p>
            </p:txBody>
          </p:sp>
        </mc:Choice>
        <mc:Fallback xmlns="">
          <p:sp>
            <p:nvSpPr>
              <p:cNvPr id="9" name="Rectangle 8">
                <a:extLst>
                  <a:ext uri="{FF2B5EF4-FFF2-40B4-BE49-F238E27FC236}">
                    <a16:creationId xmlns:a16="http://schemas.microsoft.com/office/drawing/2014/main" id="{82DD5A5E-2BF7-4102-93E5-28B1A971EE38}"/>
                  </a:ext>
                </a:extLst>
              </p:cNvPr>
              <p:cNvSpPr>
                <a:spLocks noRot="1" noChangeAspect="1" noMove="1" noResize="1" noEditPoints="1" noAdjustHandles="1" noChangeArrowheads="1" noChangeShapeType="1" noTextEdit="1"/>
              </p:cNvSpPr>
              <p:nvPr/>
            </p:nvSpPr>
            <p:spPr>
              <a:xfrm>
                <a:off x="7347783" y="3471103"/>
                <a:ext cx="625108" cy="369332"/>
              </a:xfrm>
              <a:prstGeom prst="rect">
                <a:avLst/>
              </a:prstGeom>
              <a:blipFill>
                <a:blip r:embed="rId8"/>
                <a:stretch>
                  <a:fillRect l="-1942" b="-11475"/>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B9BC1178-E83C-4DCF-8CBA-D0E5384E82B4}"/>
              </a:ext>
            </a:extLst>
          </p:cNvPr>
          <p:cNvCxnSpPr>
            <a:cxnSpLocks/>
          </p:cNvCxnSpPr>
          <p:nvPr/>
        </p:nvCxnSpPr>
        <p:spPr>
          <a:xfrm flipV="1">
            <a:off x="3641862" y="3859314"/>
            <a:ext cx="915630" cy="260558"/>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842DFA2B-D0C8-43F2-84D2-0C73D7061155}"/>
                  </a:ext>
                </a:extLst>
              </p:cNvPr>
              <p:cNvSpPr/>
              <p:nvPr/>
            </p:nvSpPr>
            <p:spPr>
              <a:xfrm>
                <a:off x="4451339" y="3873386"/>
                <a:ext cx="616772"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oMath>
                </a14:m>
                <a:r>
                  <a:rPr lang="en-US" dirty="0">
                    <a:solidFill>
                      <a:srgbClr val="FF0000"/>
                    </a:solidFill>
                  </a:rPr>
                  <a:t> </a:t>
                </a:r>
              </a:p>
            </p:txBody>
          </p:sp>
        </mc:Choice>
        <mc:Fallback xmlns="">
          <p:sp>
            <p:nvSpPr>
              <p:cNvPr id="36" name="Rectangle 35">
                <a:extLst>
                  <a:ext uri="{FF2B5EF4-FFF2-40B4-BE49-F238E27FC236}">
                    <a16:creationId xmlns:a16="http://schemas.microsoft.com/office/drawing/2014/main" id="{842DFA2B-D0C8-43F2-84D2-0C73D7061155}"/>
                  </a:ext>
                </a:extLst>
              </p:cNvPr>
              <p:cNvSpPr>
                <a:spLocks noRot="1" noChangeAspect="1" noMove="1" noResize="1" noEditPoints="1" noAdjustHandles="1" noChangeArrowheads="1" noChangeShapeType="1" noTextEdit="1"/>
              </p:cNvSpPr>
              <p:nvPr/>
            </p:nvSpPr>
            <p:spPr>
              <a:xfrm>
                <a:off x="4451339" y="3873386"/>
                <a:ext cx="616772" cy="369332"/>
              </a:xfrm>
              <a:prstGeom prst="rect">
                <a:avLst/>
              </a:prstGeom>
              <a:blipFill>
                <a:blip r:embed="rId9"/>
                <a:stretch>
                  <a:fillRect l="-1980" t="-8197" r="-8911"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B57B76FD-2D10-4F8C-9066-046A3D310D53}"/>
                  </a:ext>
                </a:extLst>
              </p:cNvPr>
              <p:cNvSpPr/>
              <p:nvPr/>
            </p:nvSpPr>
            <p:spPr>
              <a:xfrm>
                <a:off x="3243093" y="4604829"/>
                <a:ext cx="2939972"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oMath>
                </a14:m>
                <a:endParaRPr lang="en-US" b="1" dirty="0"/>
              </a:p>
              <a:p>
                <a:r>
                  <a:rPr lang="en-US" dirty="0"/>
                  <a:t> </a:t>
                </a:r>
              </a:p>
            </p:txBody>
          </p:sp>
        </mc:Choice>
        <mc:Fallback xmlns="">
          <p:sp>
            <p:nvSpPr>
              <p:cNvPr id="37" name="Rectangle 36">
                <a:extLst>
                  <a:ext uri="{FF2B5EF4-FFF2-40B4-BE49-F238E27FC236}">
                    <a16:creationId xmlns:a16="http://schemas.microsoft.com/office/drawing/2014/main" id="{B57B76FD-2D10-4F8C-9066-046A3D310D53}"/>
                  </a:ext>
                </a:extLst>
              </p:cNvPr>
              <p:cNvSpPr>
                <a:spLocks noRot="1" noChangeAspect="1" noMove="1" noResize="1" noEditPoints="1" noAdjustHandles="1" noChangeArrowheads="1" noChangeShapeType="1" noTextEdit="1"/>
              </p:cNvSpPr>
              <p:nvPr/>
            </p:nvSpPr>
            <p:spPr>
              <a:xfrm>
                <a:off x="3243093" y="4604829"/>
                <a:ext cx="2939972" cy="646331"/>
              </a:xfrm>
              <a:prstGeom prst="rect">
                <a:avLst/>
              </a:prstGeom>
              <a:blipFill>
                <a:blip r:embed="rId10"/>
                <a:stretch>
                  <a:fillRect l="-1660" t="-47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A873941-A096-45C6-A860-287C4FE9FE4D}"/>
                  </a:ext>
                </a:extLst>
              </p:cNvPr>
              <p:cNvSpPr txBox="1"/>
              <p:nvPr/>
            </p:nvSpPr>
            <p:spPr>
              <a:xfrm>
                <a:off x="3272012" y="4913389"/>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49" name="TextBox 48">
                <a:extLst>
                  <a:ext uri="{FF2B5EF4-FFF2-40B4-BE49-F238E27FC236}">
                    <a16:creationId xmlns:a16="http://schemas.microsoft.com/office/drawing/2014/main" id="{2A873941-A096-45C6-A860-287C4FE9FE4D}"/>
                  </a:ext>
                </a:extLst>
              </p:cNvPr>
              <p:cNvSpPr txBox="1">
                <a:spLocks noRot="1" noChangeAspect="1" noMove="1" noResize="1" noEditPoints="1" noAdjustHandles="1" noChangeArrowheads="1" noChangeShapeType="1" noTextEdit="1"/>
              </p:cNvSpPr>
              <p:nvPr/>
            </p:nvSpPr>
            <p:spPr>
              <a:xfrm>
                <a:off x="3272012" y="4913389"/>
                <a:ext cx="6245816" cy="369332"/>
              </a:xfrm>
              <a:prstGeom prst="rect">
                <a:avLst/>
              </a:prstGeom>
              <a:blipFill>
                <a:blip r:embed="rId11"/>
                <a:stretch>
                  <a:fillRect l="-293"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BAC192F1-FC6D-4326-AB4B-1A56AE6E22A0}"/>
                  </a:ext>
                </a:extLst>
              </p:cNvPr>
              <p:cNvSpPr/>
              <p:nvPr/>
            </p:nvSpPr>
            <p:spPr>
              <a:xfrm>
                <a:off x="3325129" y="5304813"/>
                <a:ext cx="2983253"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𝑨</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oMath>
                </a14:m>
                <a:endParaRPr lang="en-US" b="1" dirty="0"/>
              </a:p>
              <a:p>
                <a:r>
                  <a:rPr lang="en-US" dirty="0"/>
                  <a:t> </a:t>
                </a:r>
              </a:p>
            </p:txBody>
          </p:sp>
        </mc:Choice>
        <mc:Fallback xmlns="">
          <p:sp>
            <p:nvSpPr>
              <p:cNvPr id="50" name="Rectangle 49">
                <a:extLst>
                  <a:ext uri="{FF2B5EF4-FFF2-40B4-BE49-F238E27FC236}">
                    <a16:creationId xmlns:a16="http://schemas.microsoft.com/office/drawing/2014/main" id="{BAC192F1-FC6D-4326-AB4B-1A56AE6E22A0}"/>
                  </a:ext>
                </a:extLst>
              </p:cNvPr>
              <p:cNvSpPr>
                <a:spLocks noRot="1" noChangeAspect="1" noMove="1" noResize="1" noEditPoints="1" noAdjustHandles="1" noChangeArrowheads="1" noChangeShapeType="1" noTextEdit="1"/>
              </p:cNvSpPr>
              <p:nvPr/>
            </p:nvSpPr>
            <p:spPr>
              <a:xfrm>
                <a:off x="3325129" y="5304813"/>
                <a:ext cx="2983253" cy="646331"/>
              </a:xfrm>
              <a:prstGeom prst="rect">
                <a:avLst/>
              </a:prstGeom>
              <a:blipFill>
                <a:blip r:embed="rId12"/>
                <a:stretch>
                  <a:fillRect l="-1633"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F335ED28-4CE1-49C9-8CBB-36A404F4C5A1}"/>
                  </a:ext>
                </a:extLst>
              </p:cNvPr>
              <p:cNvSpPr txBox="1"/>
              <p:nvPr/>
            </p:nvSpPr>
            <p:spPr>
              <a:xfrm>
                <a:off x="3272012" y="5646103"/>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52" name="TextBox 51">
                <a:extLst>
                  <a:ext uri="{FF2B5EF4-FFF2-40B4-BE49-F238E27FC236}">
                    <a16:creationId xmlns:a16="http://schemas.microsoft.com/office/drawing/2014/main" id="{F335ED28-4CE1-49C9-8CBB-36A404F4C5A1}"/>
                  </a:ext>
                </a:extLst>
              </p:cNvPr>
              <p:cNvSpPr txBox="1">
                <a:spLocks noRot="1" noChangeAspect="1" noMove="1" noResize="1" noEditPoints="1" noAdjustHandles="1" noChangeArrowheads="1" noChangeShapeType="1" noTextEdit="1"/>
              </p:cNvSpPr>
              <p:nvPr/>
            </p:nvSpPr>
            <p:spPr>
              <a:xfrm>
                <a:off x="3272012" y="5646103"/>
                <a:ext cx="6245816" cy="369332"/>
              </a:xfrm>
              <a:prstGeom prst="rect">
                <a:avLst/>
              </a:prstGeom>
              <a:blipFill>
                <a:blip r:embed="rId13"/>
                <a:stretch>
                  <a:fillRect l="-293" t="-8197" b="-24590"/>
                </a:stretch>
              </a:blipFill>
            </p:spPr>
            <p:txBody>
              <a:bodyPr/>
              <a:lstStyle/>
              <a:p>
                <a:r>
                  <a:rPr lang="en-US">
                    <a:noFill/>
                  </a:rPr>
                  <a:t> </a:t>
                </a:r>
              </a:p>
            </p:txBody>
          </p:sp>
        </mc:Fallback>
      </mc:AlternateContent>
      <p:cxnSp>
        <p:nvCxnSpPr>
          <p:cNvPr id="53" name="Straight Arrow Connector 52">
            <a:extLst>
              <a:ext uri="{FF2B5EF4-FFF2-40B4-BE49-F238E27FC236}">
                <a16:creationId xmlns:a16="http://schemas.microsoft.com/office/drawing/2014/main" id="{526D2690-0EE3-4221-A726-69D2AB1F057C}"/>
              </a:ext>
            </a:extLst>
          </p:cNvPr>
          <p:cNvCxnSpPr>
            <a:cxnSpLocks/>
          </p:cNvCxnSpPr>
          <p:nvPr/>
        </p:nvCxnSpPr>
        <p:spPr>
          <a:xfrm>
            <a:off x="6649173" y="5047517"/>
            <a:ext cx="2346896"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232957C-D6E3-4D8C-9526-0A27C078B5C1}"/>
              </a:ext>
            </a:extLst>
          </p:cNvPr>
          <p:cNvCxnSpPr>
            <a:cxnSpLocks/>
          </p:cNvCxnSpPr>
          <p:nvPr/>
        </p:nvCxnSpPr>
        <p:spPr>
          <a:xfrm flipH="1" flipV="1">
            <a:off x="8131056" y="4940141"/>
            <a:ext cx="865014" cy="1"/>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A755440-DDE9-4B7F-B44C-28CC75E7173E}"/>
              </a:ext>
            </a:extLst>
          </p:cNvPr>
          <p:cNvCxnSpPr>
            <a:cxnSpLocks/>
          </p:cNvCxnSpPr>
          <p:nvPr/>
        </p:nvCxnSpPr>
        <p:spPr>
          <a:xfrm flipH="1" flipV="1">
            <a:off x="6906457" y="4932014"/>
            <a:ext cx="1224599" cy="9115"/>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164349F-6FC2-466A-8DB7-CE4520F2BAA3}"/>
              </a:ext>
            </a:extLst>
          </p:cNvPr>
          <p:cNvCxnSpPr>
            <a:cxnSpLocks/>
          </p:cNvCxnSpPr>
          <p:nvPr/>
        </p:nvCxnSpPr>
        <p:spPr>
          <a:xfrm>
            <a:off x="6649173" y="5710937"/>
            <a:ext cx="2346896" cy="0"/>
          </a:xfrm>
          <a:prstGeom prst="straightConnector1">
            <a:avLst/>
          </a:prstGeom>
          <a:ln w="25400">
            <a:solidFill>
              <a:schemeClr val="accent5"/>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A4EFF0A-C21C-4280-BF19-62BAE5228F1D}"/>
              </a:ext>
            </a:extLst>
          </p:cNvPr>
          <p:cNvCxnSpPr>
            <a:cxnSpLocks/>
          </p:cNvCxnSpPr>
          <p:nvPr/>
        </p:nvCxnSpPr>
        <p:spPr>
          <a:xfrm flipH="1" flipV="1">
            <a:off x="8131056" y="5603561"/>
            <a:ext cx="865014" cy="1"/>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0ADD34A9-80C5-4AB1-AF23-641660505BA6}"/>
              </a:ext>
            </a:extLst>
          </p:cNvPr>
          <p:cNvCxnSpPr>
            <a:cxnSpLocks/>
          </p:cNvCxnSpPr>
          <p:nvPr/>
        </p:nvCxnSpPr>
        <p:spPr>
          <a:xfrm flipH="1" flipV="1">
            <a:off x="6906457" y="5595434"/>
            <a:ext cx="1224599" cy="9115"/>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E91BF1FD-2245-4652-BE6B-793F0273C841}"/>
                  </a:ext>
                </a:extLst>
              </p:cNvPr>
              <p:cNvSpPr/>
              <p:nvPr/>
            </p:nvSpPr>
            <p:spPr>
              <a:xfrm>
                <a:off x="3325129" y="5973236"/>
                <a:ext cx="2983253"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𝑨</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oMath>
                </a14:m>
                <a:endParaRPr lang="en-US" b="1" dirty="0"/>
              </a:p>
              <a:p>
                <a:r>
                  <a:rPr lang="en-US" dirty="0"/>
                  <a:t> </a:t>
                </a:r>
              </a:p>
            </p:txBody>
          </p:sp>
        </mc:Choice>
        <mc:Fallback xmlns="">
          <p:sp>
            <p:nvSpPr>
              <p:cNvPr id="63" name="Rectangle 62">
                <a:extLst>
                  <a:ext uri="{FF2B5EF4-FFF2-40B4-BE49-F238E27FC236}">
                    <a16:creationId xmlns:a16="http://schemas.microsoft.com/office/drawing/2014/main" id="{E91BF1FD-2245-4652-BE6B-793F0273C841}"/>
                  </a:ext>
                </a:extLst>
              </p:cNvPr>
              <p:cNvSpPr>
                <a:spLocks noRot="1" noChangeAspect="1" noMove="1" noResize="1" noEditPoints="1" noAdjustHandles="1" noChangeArrowheads="1" noChangeShapeType="1" noTextEdit="1"/>
              </p:cNvSpPr>
              <p:nvPr/>
            </p:nvSpPr>
            <p:spPr>
              <a:xfrm>
                <a:off x="3325129" y="5973236"/>
                <a:ext cx="2983253" cy="646331"/>
              </a:xfrm>
              <a:prstGeom prst="rect">
                <a:avLst/>
              </a:prstGeom>
              <a:blipFill>
                <a:blip r:embed="rId14"/>
                <a:stretch>
                  <a:fillRect l="-1633" t="-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BFB64064-1CDB-4B2A-9195-D4F43C5973A3}"/>
                  </a:ext>
                </a:extLst>
              </p:cNvPr>
              <p:cNvSpPr txBox="1"/>
              <p:nvPr/>
            </p:nvSpPr>
            <p:spPr>
              <a:xfrm>
                <a:off x="3325129" y="6264091"/>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65" name="TextBox 64">
                <a:extLst>
                  <a:ext uri="{FF2B5EF4-FFF2-40B4-BE49-F238E27FC236}">
                    <a16:creationId xmlns:a16="http://schemas.microsoft.com/office/drawing/2014/main" id="{BFB64064-1CDB-4B2A-9195-D4F43C5973A3}"/>
                  </a:ext>
                </a:extLst>
              </p:cNvPr>
              <p:cNvSpPr txBox="1">
                <a:spLocks noRot="1" noChangeAspect="1" noMove="1" noResize="1" noEditPoints="1" noAdjustHandles="1" noChangeArrowheads="1" noChangeShapeType="1" noTextEdit="1"/>
              </p:cNvSpPr>
              <p:nvPr/>
            </p:nvSpPr>
            <p:spPr>
              <a:xfrm>
                <a:off x="3325129" y="6264091"/>
                <a:ext cx="6245816" cy="369332"/>
              </a:xfrm>
              <a:prstGeom prst="rect">
                <a:avLst/>
              </a:prstGeom>
              <a:blipFill>
                <a:blip r:embed="rId15"/>
                <a:stretch>
                  <a:fillRect l="-195" t="-10000" b="-26667"/>
                </a:stretch>
              </a:blipFill>
            </p:spPr>
            <p:txBody>
              <a:bodyPr/>
              <a:lstStyle/>
              <a:p>
                <a:r>
                  <a:rPr lang="en-US">
                    <a:noFill/>
                  </a:rPr>
                  <a:t> </a:t>
                </a:r>
              </a:p>
            </p:txBody>
          </p:sp>
        </mc:Fallback>
      </mc:AlternateContent>
      <p:cxnSp>
        <p:nvCxnSpPr>
          <p:cNvPr id="66" name="Straight Arrow Connector 65">
            <a:extLst>
              <a:ext uri="{FF2B5EF4-FFF2-40B4-BE49-F238E27FC236}">
                <a16:creationId xmlns:a16="http://schemas.microsoft.com/office/drawing/2014/main" id="{4B82BDF3-273F-49E2-ACA9-F3F12BD23619}"/>
              </a:ext>
            </a:extLst>
          </p:cNvPr>
          <p:cNvCxnSpPr>
            <a:cxnSpLocks/>
          </p:cNvCxnSpPr>
          <p:nvPr/>
        </p:nvCxnSpPr>
        <p:spPr>
          <a:xfrm>
            <a:off x="6649172" y="6368021"/>
            <a:ext cx="2346896" cy="0"/>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8B95C53-4E6A-488F-8647-0B299F9F6ED1}"/>
              </a:ext>
            </a:extLst>
          </p:cNvPr>
          <p:cNvCxnSpPr>
            <a:cxnSpLocks/>
          </p:cNvCxnSpPr>
          <p:nvPr/>
        </p:nvCxnSpPr>
        <p:spPr>
          <a:xfrm flipH="1" flipV="1">
            <a:off x="8131055" y="6260645"/>
            <a:ext cx="865014" cy="1"/>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8579418-0FDB-4272-A530-62E962386062}"/>
              </a:ext>
            </a:extLst>
          </p:cNvPr>
          <p:cNvCxnSpPr>
            <a:cxnSpLocks/>
          </p:cNvCxnSpPr>
          <p:nvPr/>
        </p:nvCxnSpPr>
        <p:spPr>
          <a:xfrm flipH="1" flipV="1">
            <a:off x="6906456" y="6252518"/>
            <a:ext cx="1224599" cy="9115"/>
          </a:xfrm>
          <a:prstGeom prst="straightConnector1">
            <a:avLst/>
          </a:prstGeom>
          <a:ln w="25400">
            <a:solidFill>
              <a:schemeClr val="accent5"/>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4985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298" y="220070"/>
            <a:ext cx="8786024" cy="1325563"/>
          </a:xfrm>
        </p:spPr>
        <p:txBody>
          <a:bodyPr/>
          <a:lstStyle/>
          <a:p>
            <a:r>
              <a:rPr lang="en-US" dirty="0">
                <a:solidFill>
                  <a:srgbClr val="C00000"/>
                </a:solidFill>
              </a:rPr>
              <a:t>Mathematical Modelling</a:t>
            </a:r>
            <a:endParaRPr lang="sv-SE" dirty="0"/>
          </a:p>
        </p:txBody>
      </p:sp>
      <mc:AlternateContent xmlns:mc="http://schemas.openxmlformats.org/markup-compatibility/2006" xmlns:a14="http://schemas.microsoft.com/office/drawing/2010/main">
        <mc:Choice Requires="a14">
          <p:sp>
            <p:nvSpPr>
              <p:cNvPr id="20" name="TextBox 19"/>
              <p:cNvSpPr txBox="1"/>
              <p:nvPr/>
            </p:nvSpPr>
            <p:spPr>
              <a:xfrm>
                <a:off x="6252312" y="2269934"/>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oMath>
                  </m:oMathPara>
                </a14:m>
                <a:endParaRPr lang="sv-SE" dirty="0"/>
              </a:p>
            </p:txBody>
          </p:sp>
        </mc:Choice>
        <mc:Fallback xmlns="">
          <p:sp>
            <p:nvSpPr>
              <p:cNvPr id="20" name="TextBox 19"/>
              <p:cNvSpPr txBox="1">
                <a:spLocks noRot="1" noChangeAspect="1" noMove="1" noResize="1" noEditPoints="1" noAdjustHandles="1" noChangeArrowheads="1" noChangeShapeType="1" noTextEdit="1"/>
              </p:cNvSpPr>
              <p:nvPr/>
            </p:nvSpPr>
            <p:spPr>
              <a:xfrm>
                <a:off x="6252312" y="2269934"/>
                <a:ext cx="60166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5237831" y="2324171"/>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𝛽</m:t>
                      </m:r>
                    </m:oMath>
                  </m:oMathPara>
                </a14:m>
                <a:endParaRPr lang="sv-SE" dirty="0"/>
              </a:p>
            </p:txBody>
          </p:sp>
        </mc:Choice>
        <mc:Fallback xmlns="">
          <p:sp>
            <p:nvSpPr>
              <p:cNvPr id="24" name="TextBox 23"/>
              <p:cNvSpPr txBox="1">
                <a:spLocks noRot="1" noChangeAspect="1" noMove="1" noResize="1" noEditPoints="1" noAdjustHandles="1" noChangeArrowheads="1" noChangeShapeType="1" noTextEdit="1"/>
              </p:cNvSpPr>
              <p:nvPr/>
            </p:nvSpPr>
            <p:spPr>
              <a:xfrm>
                <a:off x="5237831" y="2324171"/>
                <a:ext cx="601661"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E329F2A0-7DC8-470C-A880-FA136EC5CE95}"/>
                  </a:ext>
                </a:extLst>
              </p:cNvPr>
              <p:cNvSpPr/>
              <p:nvPr/>
            </p:nvSpPr>
            <p:spPr>
              <a:xfrm>
                <a:off x="3388100" y="1380119"/>
                <a:ext cx="3870419" cy="646331"/>
              </a:xfrm>
              <a:prstGeom prst="rect">
                <a:avLst/>
              </a:prstGeom>
            </p:spPr>
            <p:txBody>
              <a:bodyPr wrap="none">
                <a:spAutoFit/>
              </a:bodyPr>
              <a:lstStyle/>
              <a:p>
                <a:r>
                  <a:rPr lang="en-US" b="1" dirty="0"/>
                  <a:t>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r>
                      <a:rPr lang="en-US" b="1" i="1" smtClean="0">
                        <a:latin typeface="Cambria Math" panose="02040503050406030204" pitchFamily="18" charset="0"/>
                      </a:rPr>
                      <m:t>|</m:t>
                    </m:r>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0" smtClean="0">
                            <a:latin typeface="Cambria Math" panose="02040503050406030204" pitchFamily="18" charset="0"/>
                          </a:rPr>
                          <m:t>𝐂</m:t>
                        </m:r>
                      </m:sub>
                    </m:sSub>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oMath>
                </a14:m>
                <a:r>
                  <a:rPr lang="en-US" b="1" dirty="0"/>
                  <a:t> is satisfied </a:t>
                </a:r>
              </a:p>
              <a:p>
                <a:r>
                  <a:rPr lang="en-US" dirty="0"/>
                  <a:t> </a:t>
                </a:r>
              </a:p>
            </p:txBody>
          </p:sp>
        </mc:Choice>
        <mc:Fallback xmlns="">
          <p:sp>
            <p:nvSpPr>
              <p:cNvPr id="3" name="Rectangle 2">
                <a:extLst>
                  <a:ext uri="{FF2B5EF4-FFF2-40B4-BE49-F238E27FC236}">
                    <a16:creationId xmlns:a16="http://schemas.microsoft.com/office/drawing/2014/main" id="{E329F2A0-7DC8-470C-A880-FA136EC5CE95}"/>
                  </a:ext>
                </a:extLst>
              </p:cNvPr>
              <p:cNvSpPr>
                <a:spLocks noRot="1" noChangeAspect="1" noMove="1" noResize="1" noEditPoints="1" noAdjustHandles="1" noChangeArrowheads="1" noChangeShapeType="1" noTextEdit="1"/>
              </p:cNvSpPr>
              <p:nvPr/>
            </p:nvSpPr>
            <p:spPr>
              <a:xfrm>
                <a:off x="3388100" y="1380119"/>
                <a:ext cx="3870419" cy="646331"/>
              </a:xfrm>
              <a:prstGeom prst="rect">
                <a:avLst/>
              </a:prstGeom>
              <a:blipFill>
                <a:blip r:embed="rId4"/>
                <a:stretch>
                  <a:fillRect l="-1417" t="-4717" r="-315"/>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AD2643C9-41F5-4561-BA2F-54D5D07C3C4D}"/>
              </a:ext>
            </a:extLst>
          </p:cNvPr>
          <p:cNvCxnSpPr>
            <a:cxnSpLocks/>
          </p:cNvCxnSpPr>
          <p:nvPr/>
        </p:nvCxnSpPr>
        <p:spPr>
          <a:xfrm flipV="1">
            <a:off x="4281157" y="2676611"/>
            <a:ext cx="2402546" cy="1689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AACAC1D-917A-4182-9A23-E49D507EFDDC}"/>
              </a:ext>
            </a:extLst>
          </p:cNvPr>
          <p:cNvCxnSpPr>
            <a:cxnSpLocks/>
          </p:cNvCxnSpPr>
          <p:nvPr/>
        </p:nvCxnSpPr>
        <p:spPr>
          <a:xfrm flipV="1">
            <a:off x="6653377" y="1929380"/>
            <a:ext cx="963606" cy="735348"/>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79B8392-0229-4F99-880A-C1847A5045F6}"/>
              </a:ext>
            </a:extLst>
          </p:cNvPr>
          <p:cNvCxnSpPr>
            <a:cxnSpLocks/>
          </p:cNvCxnSpPr>
          <p:nvPr/>
        </p:nvCxnSpPr>
        <p:spPr>
          <a:xfrm flipH="1">
            <a:off x="4281157" y="1929380"/>
            <a:ext cx="3286466" cy="754364"/>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AE3E0BFE-22D9-4A13-99FC-D329682B92D3}"/>
              </a:ext>
            </a:extLst>
          </p:cNvPr>
          <p:cNvSpPr/>
          <p:nvPr/>
        </p:nvSpPr>
        <p:spPr>
          <a:xfrm rot="20107918">
            <a:off x="6392306" y="2581254"/>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31" name="Arc 30">
            <a:extLst>
              <a:ext uri="{FF2B5EF4-FFF2-40B4-BE49-F238E27FC236}">
                <a16:creationId xmlns:a16="http://schemas.microsoft.com/office/drawing/2014/main" id="{7FD4CE10-858C-4ED5-AA94-9F99AC7E8DD9}"/>
              </a:ext>
            </a:extLst>
          </p:cNvPr>
          <p:cNvSpPr/>
          <p:nvPr/>
        </p:nvSpPr>
        <p:spPr>
          <a:xfrm rot="1477189">
            <a:off x="4989853" y="2535943"/>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289C501-5BD9-4361-8019-C1DEC65E998C}"/>
                  </a:ext>
                </a:extLst>
              </p:cNvPr>
              <p:cNvSpPr txBox="1"/>
              <p:nvPr/>
            </p:nvSpPr>
            <p:spPr>
              <a:xfrm>
                <a:off x="115725" y="2985566"/>
                <a:ext cx="4484451" cy="369332"/>
              </a:xfrm>
              <a:prstGeom prst="rect">
                <a:avLst/>
              </a:prstGeom>
              <a:noFill/>
            </p:spPr>
            <p:txBody>
              <a:bodyPr wrap="square" rtlCol="0">
                <a:spAutoFit/>
              </a:bodyPr>
              <a:lstStyle/>
              <a:p>
                <a:r>
                  <a:rPr lang="en-US" dirty="0"/>
                  <a:t>1. Apply cosine theorem to find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𝐶𝐵</m:t>
                        </m:r>
                      </m:sub>
                    </m:sSub>
                  </m:oMath>
                </a14:m>
                <a:r>
                  <a:rPr lang="en-US" dirty="0"/>
                  <a:t> </a:t>
                </a:r>
              </a:p>
            </p:txBody>
          </p:sp>
        </mc:Choice>
        <mc:Fallback xmlns="">
          <p:sp>
            <p:nvSpPr>
              <p:cNvPr id="30" name="TextBox 29">
                <a:extLst>
                  <a:ext uri="{FF2B5EF4-FFF2-40B4-BE49-F238E27FC236}">
                    <a16:creationId xmlns:a16="http://schemas.microsoft.com/office/drawing/2014/main" id="{8289C501-5BD9-4361-8019-C1DEC65E998C}"/>
                  </a:ext>
                </a:extLst>
              </p:cNvPr>
              <p:cNvSpPr txBox="1">
                <a:spLocks noRot="1" noChangeAspect="1" noMove="1" noResize="1" noEditPoints="1" noAdjustHandles="1" noChangeArrowheads="1" noChangeShapeType="1" noTextEdit="1"/>
              </p:cNvSpPr>
              <p:nvPr/>
            </p:nvSpPr>
            <p:spPr>
              <a:xfrm>
                <a:off x="115725" y="2985566"/>
                <a:ext cx="4484451" cy="369332"/>
              </a:xfrm>
              <a:prstGeom prst="rect">
                <a:avLst/>
              </a:prstGeom>
              <a:blipFill>
                <a:blip r:embed="rId5"/>
                <a:stretch>
                  <a:fillRect l="-1223"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B929946-7996-4003-A4B2-F1264EF9265D}"/>
                  </a:ext>
                </a:extLst>
              </p:cNvPr>
              <p:cNvSpPr txBox="1"/>
              <p:nvPr/>
            </p:nvSpPr>
            <p:spPr>
              <a:xfrm>
                <a:off x="1319497" y="3732426"/>
                <a:ext cx="2799164" cy="284245"/>
              </a:xfrm>
              <a:prstGeom prst="rect">
                <a:avLst/>
              </a:prstGeom>
              <a:noFill/>
            </p:spPr>
            <p:txBody>
              <a:bodyPr wrap="none" lIns="0" tIns="0" rIns="0" bIns="0" rtlCol="0">
                <a:spAutoFit/>
              </a:bodyPr>
              <a:lstStyle/>
              <a:p>
                <a14:m>
                  <m:oMath xmlns:m="http://schemas.openxmlformats.org/officeDocument/2006/math">
                    <m:sSubSup>
                      <m:sSubSupPr>
                        <m:ctrlPr>
                          <a:rPr lang="en-US" i="1" smtClean="0">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𝐴</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smtClean="0">
                            <a:latin typeface="Cambria Math" panose="02040503050406030204" pitchFamily="18" charset="0"/>
                          </a:rPr>
                          <m:t>𝐵</m:t>
                        </m:r>
                      </m:sub>
                      <m:sup>
                        <m:r>
                          <a:rPr lang="en-US" b="0" i="1">
                            <a:latin typeface="Cambria Math" panose="02040503050406030204" pitchFamily="18" charset="0"/>
                          </a:rPr>
                          <m:t>2</m:t>
                        </m:r>
                      </m:sup>
                    </m:sSubSup>
                  </m:oMath>
                </a14:m>
                <a:r>
                  <a:rPr lang="en-US" dirty="0"/>
                  <a:t>-2 </a:t>
                </a:r>
                <a14:m>
                  <m:oMath xmlns:m="http://schemas.openxmlformats.org/officeDocument/2006/math">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smtClean="0">
                            <a:latin typeface="Cambria Math" panose="02040503050406030204" pitchFamily="18" charset="0"/>
                          </a:rPr>
                          <m:t>𝐴</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smtClean="0">
                            <a:latin typeface="Cambria Math" panose="02040503050406030204" pitchFamily="18" charset="0"/>
                          </a:rPr>
                          <m:t>𝐵</m:t>
                        </m:r>
                      </m:sub>
                    </m:sSub>
                    <m:r>
                      <a:rPr lang="en-US" b="0" i="1" smtClean="0">
                        <a:latin typeface="Cambria Math" panose="02040503050406030204" pitchFamily="18" charset="0"/>
                      </a:rPr>
                      <m:t> </m:t>
                    </m:r>
                    <m:r>
                      <a:rPr lang="en-US" b="0" i="1" smtClean="0">
                        <a:latin typeface="Cambria Math" panose="02040503050406030204" pitchFamily="18" charset="0"/>
                      </a:rPr>
                      <m:t>𝑐𝑜𝑠</m:t>
                    </m:r>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oMath>
                </a14:m>
                <a:r>
                  <a:rPr lang="en-US" dirty="0"/>
                  <a:t> = </a:t>
                </a:r>
                <a14:m>
                  <m:oMath xmlns:m="http://schemas.openxmlformats.org/officeDocument/2006/math">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smtClean="0">
                            <a:latin typeface="Cambria Math" panose="02040503050406030204" pitchFamily="18" charset="0"/>
                          </a:rPr>
                          <m:t>𝐶</m:t>
                        </m:r>
                      </m:sub>
                      <m:sup>
                        <m:r>
                          <a:rPr lang="en-US" b="0" i="1">
                            <a:latin typeface="Cambria Math" panose="02040503050406030204" pitchFamily="18" charset="0"/>
                          </a:rPr>
                          <m:t>2</m:t>
                        </m:r>
                      </m:sup>
                    </m:sSubSup>
                  </m:oMath>
                </a14:m>
                <a:endParaRPr lang="en-US" dirty="0"/>
              </a:p>
            </p:txBody>
          </p:sp>
        </mc:Choice>
        <mc:Fallback xmlns="">
          <p:sp>
            <p:nvSpPr>
              <p:cNvPr id="32" name="TextBox 31">
                <a:extLst>
                  <a:ext uri="{FF2B5EF4-FFF2-40B4-BE49-F238E27FC236}">
                    <a16:creationId xmlns:a16="http://schemas.microsoft.com/office/drawing/2014/main" id="{5B929946-7996-4003-A4B2-F1264EF9265D}"/>
                  </a:ext>
                </a:extLst>
              </p:cNvPr>
              <p:cNvSpPr txBox="1">
                <a:spLocks noRot="1" noChangeAspect="1" noMove="1" noResize="1" noEditPoints="1" noAdjustHandles="1" noChangeArrowheads="1" noChangeShapeType="1" noTextEdit="1"/>
              </p:cNvSpPr>
              <p:nvPr/>
            </p:nvSpPr>
            <p:spPr>
              <a:xfrm>
                <a:off x="1319497" y="3732426"/>
                <a:ext cx="2799164" cy="284245"/>
              </a:xfrm>
              <a:prstGeom prst="rect">
                <a:avLst/>
              </a:prstGeom>
              <a:blipFill>
                <a:blip r:embed="rId6"/>
                <a:stretch>
                  <a:fillRect l="-435" t="-23404" r="-870" b="-5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0A49FF4-9E2E-4188-AD33-00FC2599CC21}"/>
                  </a:ext>
                </a:extLst>
              </p:cNvPr>
              <p:cNvSpPr txBox="1"/>
              <p:nvPr/>
            </p:nvSpPr>
            <p:spPr>
              <a:xfrm>
                <a:off x="1683588" y="4350505"/>
                <a:ext cx="1844351" cy="476797"/>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𝑐𝑜𝑠</m:t>
                    </m:r>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oMath>
                </a14:m>
                <a:r>
                  <a:rPr lang="en-US" dirty="0"/>
                  <a:t> = </a:t>
                </a:r>
                <a14:m>
                  <m:oMath xmlns:m="http://schemas.openxmlformats.org/officeDocument/2006/math">
                    <m:f>
                      <m:fPr>
                        <m:ctrlPr>
                          <a:rPr lang="en-US" i="1" smtClean="0">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𝐴</m:t>
                                </m:r>
                              </m:sub>
                              <m:sup>
                                <m:r>
                                  <a:rPr lang="en-US" b="0" i="1">
                                    <a:latin typeface="Cambria Math" panose="02040503050406030204" pitchFamily="18" charset="0"/>
                                  </a:rPr>
                                  <m:t>2</m:t>
                                </m:r>
                              </m:sup>
                            </m:sSubSup>
                            <m:r>
                              <a:rPr lang="en-US" b="0" i="1">
                                <a:latin typeface="Cambria Math" panose="02040503050406030204" pitchFamily="18" charset="0"/>
                              </a:rPr>
                              <m:t>+</m:t>
                            </m:r>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𝐵</m:t>
                                </m:r>
                              </m:sub>
                              <m:sup>
                                <m:r>
                                  <a:rPr lang="en-US" b="0" i="1">
                                    <a:latin typeface="Cambria Math" panose="02040503050406030204" pitchFamily="18" charset="0"/>
                                  </a:rPr>
                                  <m:t>2</m:t>
                                </m:r>
                              </m:sup>
                            </m:sSubSup>
                            <m:r>
                              <a:rPr lang="en-US" b="0" i="1" smtClean="0">
                                <a:latin typeface="Cambria Math" panose="02040503050406030204" pitchFamily="18" charset="0"/>
                              </a:rPr>
                              <m:t> −</m:t>
                            </m:r>
                            <m:r>
                              <a:rPr lang="sv-SE" b="0" i="1">
                                <a:latin typeface="Cambria Math" panose="02040503050406030204" pitchFamily="18" charset="0"/>
                              </a:rPr>
                              <m:t>𝑣</m:t>
                            </m:r>
                          </m:e>
                          <m:sub>
                            <m:r>
                              <a:rPr lang="en-US" b="0" i="1" smtClean="0">
                                <a:latin typeface="Cambria Math" panose="02040503050406030204" pitchFamily="18" charset="0"/>
                              </a:rPr>
                              <m:t>𝐶</m:t>
                            </m:r>
                          </m:sub>
                          <m:sup>
                            <m:r>
                              <a:rPr lang="en-US" b="0" i="1">
                                <a:latin typeface="Cambria Math" panose="02040503050406030204" pitchFamily="18" charset="0"/>
                              </a:rPr>
                              <m:t>2</m:t>
                            </m:r>
                          </m:sup>
                        </m:sSubSup>
                      </m:num>
                      <m:den>
                        <m:r>
                          <m:rPr>
                            <m:nor/>
                          </m:rPr>
                          <a:rPr lang="en-US" dirty="0"/>
                          <m:t>2 </m:t>
                        </m:r>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a:latin typeface="Cambria Math" panose="02040503050406030204" pitchFamily="18" charset="0"/>
                              </a:rPr>
                              <m:t>𝐴</m:t>
                            </m:r>
                          </m:sub>
                        </m:sSub>
                        <m:r>
                          <m:rPr>
                            <m:nor/>
                          </m:rPr>
                          <a:rPr lang="en-US" dirty="0"/>
                          <m:t> </m:t>
                        </m:r>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a:latin typeface="Cambria Math" panose="02040503050406030204" pitchFamily="18" charset="0"/>
                              </a:rPr>
                              <m:t>𝐵</m:t>
                            </m:r>
                          </m:sub>
                        </m:sSub>
                      </m:den>
                    </m:f>
                  </m:oMath>
                </a14:m>
                <a:endParaRPr lang="en-US" dirty="0"/>
              </a:p>
            </p:txBody>
          </p:sp>
        </mc:Choice>
        <mc:Fallback xmlns="">
          <p:sp>
            <p:nvSpPr>
              <p:cNvPr id="34" name="TextBox 33">
                <a:extLst>
                  <a:ext uri="{FF2B5EF4-FFF2-40B4-BE49-F238E27FC236}">
                    <a16:creationId xmlns:a16="http://schemas.microsoft.com/office/drawing/2014/main" id="{C0A49FF4-9E2E-4188-AD33-00FC2599CC21}"/>
                  </a:ext>
                </a:extLst>
              </p:cNvPr>
              <p:cNvSpPr txBox="1">
                <a:spLocks noRot="1" noChangeAspect="1" noMove="1" noResize="1" noEditPoints="1" noAdjustHandles="1" noChangeArrowheads="1" noChangeShapeType="1" noTextEdit="1"/>
              </p:cNvSpPr>
              <p:nvPr/>
            </p:nvSpPr>
            <p:spPr>
              <a:xfrm>
                <a:off x="1683588" y="4350505"/>
                <a:ext cx="1844351" cy="476797"/>
              </a:xfrm>
              <a:prstGeom prst="rect">
                <a:avLst/>
              </a:prstGeom>
              <a:blipFill>
                <a:blip r:embed="rId7"/>
                <a:stretch>
                  <a:fillRect b="-10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8A316D52-147C-43BB-9AD9-91CE198D0CC4}"/>
                  </a:ext>
                </a:extLst>
              </p:cNvPr>
              <p:cNvSpPr/>
              <p:nvPr/>
            </p:nvSpPr>
            <p:spPr>
              <a:xfrm>
                <a:off x="1565736" y="5097334"/>
                <a:ext cx="2080057" cy="569130"/>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rPr>
                      <m:t>𝛼</m:t>
                    </m:r>
                  </m:oMath>
                </a14:m>
                <a:r>
                  <a:rPr lang="en-US" dirty="0"/>
                  <a:t> =</a:t>
                </a:r>
                <a:r>
                  <a:rPr lang="en-US" dirty="0" err="1"/>
                  <a:t>acos</a:t>
                </a:r>
                <a:r>
                  <a:rPr lang="en-US" dirty="0"/>
                  <a:t>( </a:t>
                </a:r>
                <a14:m>
                  <m:oMath xmlns:m="http://schemas.openxmlformats.org/officeDocument/2006/math">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𝐴</m:t>
                                </m:r>
                              </m:sub>
                              <m:sup>
                                <m:r>
                                  <a:rPr lang="en-US" b="0" i="1">
                                    <a:latin typeface="Cambria Math" panose="02040503050406030204" pitchFamily="18" charset="0"/>
                                  </a:rPr>
                                  <m:t>2</m:t>
                                </m:r>
                              </m:sup>
                            </m:sSubSup>
                            <m:r>
                              <a:rPr lang="en-US" b="0" i="1">
                                <a:latin typeface="Cambria Math" panose="02040503050406030204" pitchFamily="18" charset="0"/>
                              </a:rPr>
                              <m:t>+</m:t>
                            </m:r>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𝐵</m:t>
                                </m:r>
                              </m:sub>
                              <m:sup>
                                <m:r>
                                  <a:rPr lang="en-US" b="0" i="1">
                                    <a:latin typeface="Cambria Math" panose="02040503050406030204" pitchFamily="18" charset="0"/>
                                  </a:rPr>
                                  <m:t>2</m:t>
                                </m:r>
                              </m:sup>
                            </m:sSubSup>
                            <m:r>
                              <a:rPr lang="en-US" b="0" i="1">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𝐶</m:t>
                            </m:r>
                          </m:sub>
                          <m:sup>
                            <m:r>
                              <a:rPr lang="en-US" b="0" i="1">
                                <a:latin typeface="Cambria Math" panose="02040503050406030204" pitchFamily="18" charset="0"/>
                              </a:rPr>
                              <m:t>2</m:t>
                            </m:r>
                          </m:sup>
                        </m:sSubSup>
                      </m:num>
                      <m:den>
                        <m:r>
                          <m:rPr>
                            <m:nor/>
                          </m:rPr>
                          <a:rPr lang="en-US" dirty="0"/>
                          <m:t>2 </m:t>
                        </m:r>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a:latin typeface="Cambria Math" panose="02040503050406030204" pitchFamily="18" charset="0"/>
                              </a:rPr>
                              <m:t>𝐴</m:t>
                            </m:r>
                          </m:sub>
                        </m:sSub>
                        <m:r>
                          <m:rPr>
                            <m:nor/>
                          </m:rPr>
                          <a:rPr lang="en-US" dirty="0"/>
                          <m:t> </m:t>
                        </m:r>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a:latin typeface="Cambria Math" panose="02040503050406030204" pitchFamily="18" charset="0"/>
                              </a:rPr>
                              <m:t>𝐵</m:t>
                            </m:r>
                          </m:sub>
                        </m:sSub>
                      </m:den>
                    </m:f>
                    <m:r>
                      <a:rPr lang="en-US" b="0" i="1" smtClean="0">
                        <a:latin typeface="Cambria Math" panose="02040503050406030204" pitchFamily="18" charset="0"/>
                      </a:rPr>
                      <m:t>)</m:t>
                    </m:r>
                  </m:oMath>
                </a14:m>
                <a:endParaRPr lang="en-US" b="0" dirty="0"/>
              </a:p>
            </p:txBody>
          </p:sp>
        </mc:Choice>
        <mc:Fallback xmlns="">
          <p:sp>
            <p:nvSpPr>
              <p:cNvPr id="33" name="Rectangle 32">
                <a:extLst>
                  <a:ext uri="{FF2B5EF4-FFF2-40B4-BE49-F238E27FC236}">
                    <a16:creationId xmlns:a16="http://schemas.microsoft.com/office/drawing/2014/main" id="{8A316D52-147C-43BB-9AD9-91CE198D0CC4}"/>
                  </a:ext>
                </a:extLst>
              </p:cNvPr>
              <p:cNvSpPr>
                <a:spLocks noRot="1" noChangeAspect="1" noMove="1" noResize="1" noEditPoints="1" noAdjustHandles="1" noChangeArrowheads="1" noChangeShapeType="1" noTextEdit="1"/>
              </p:cNvSpPr>
              <p:nvPr/>
            </p:nvSpPr>
            <p:spPr>
              <a:xfrm>
                <a:off x="1565736" y="5097334"/>
                <a:ext cx="2080057" cy="569130"/>
              </a:xfrm>
              <a:prstGeom prst="rect">
                <a:avLst/>
              </a:prstGeom>
              <a:blipFill>
                <a:blip r:embed="rId8"/>
                <a:stretch>
                  <a:fillRect/>
                </a:stretch>
              </a:blipFill>
            </p:spPr>
            <p:txBody>
              <a:bodyPr/>
              <a:lstStyle/>
              <a:p>
                <a:r>
                  <a:rPr lang="en-US">
                    <a:noFill/>
                  </a:rPr>
                  <a:t> </a:t>
                </a:r>
              </a:p>
            </p:txBody>
          </p:sp>
        </mc:Fallback>
      </mc:AlternateContent>
      <p:sp>
        <p:nvSpPr>
          <p:cNvPr id="36" name="Arc 35">
            <a:extLst>
              <a:ext uri="{FF2B5EF4-FFF2-40B4-BE49-F238E27FC236}">
                <a16:creationId xmlns:a16="http://schemas.microsoft.com/office/drawing/2014/main" id="{BFB982CB-870B-4954-8773-65CAF3CD3CD8}"/>
              </a:ext>
            </a:extLst>
          </p:cNvPr>
          <p:cNvSpPr/>
          <p:nvPr/>
        </p:nvSpPr>
        <p:spPr>
          <a:xfrm rot="2203924">
            <a:off x="6743721" y="2543490"/>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cxnSp>
        <p:nvCxnSpPr>
          <p:cNvPr id="37" name="Straight Connector 36">
            <a:extLst>
              <a:ext uri="{FF2B5EF4-FFF2-40B4-BE49-F238E27FC236}">
                <a16:creationId xmlns:a16="http://schemas.microsoft.com/office/drawing/2014/main" id="{499B8E31-6AAB-4655-9CBC-815172523F3B}"/>
              </a:ext>
            </a:extLst>
          </p:cNvPr>
          <p:cNvCxnSpPr>
            <a:cxnSpLocks/>
          </p:cNvCxnSpPr>
          <p:nvPr/>
        </p:nvCxnSpPr>
        <p:spPr>
          <a:xfrm>
            <a:off x="6651868" y="2691291"/>
            <a:ext cx="101448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496CB29F-77F8-413A-8CB5-2A7F714C125D}"/>
                  </a:ext>
                </a:extLst>
              </p:cNvPr>
              <p:cNvSpPr/>
              <p:nvPr/>
            </p:nvSpPr>
            <p:spPr>
              <a:xfrm>
                <a:off x="7119101" y="2284065"/>
                <a:ext cx="625108"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𝐶𝐵</m:t>
                        </m:r>
                      </m:sub>
                    </m:sSub>
                  </m:oMath>
                </a14:m>
                <a:r>
                  <a:rPr lang="en-US" dirty="0">
                    <a:solidFill>
                      <a:srgbClr val="FF0000"/>
                    </a:solidFill>
                  </a:rPr>
                  <a:t> </a:t>
                </a:r>
              </a:p>
            </p:txBody>
          </p:sp>
        </mc:Choice>
        <mc:Fallback xmlns="">
          <p:sp>
            <p:nvSpPr>
              <p:cNvPr id="38" name="Rectangle 37">
                <a:extLst>
                  <a:ext uri="{FF2B5EF4-FFF2-40B4-BE49-F238E27FC236}">
                    <a16:creationId xmlns:a16="http://schemas.microsoft.com/office/drawing/2014/main" id="{496CB29F-77F8-413A-8CB5-2A7F714C125D}"/>
                  </a:ext>
                </a:extLst>
              </p:cNvPr>
              <p:cNvSpPr>
                <a:spLocks noRot="1" noChangeAspect="1" noMove="1" noResize="1" noEditPoints="1" noAdjustHandles="1" noChangeArrowheads="1" noChangeShapeType="1" noTextEdit="1"/>
              </p:cNvSpPr>
              <p:nvPr/>
            </p:nvSpPr>
            <p:spPr>
              <a:xfrm>
                <a:off x="7119101" y="2284065"/>
                <a:ext cx="625108" cy="369332"/>
              </a:xfrm>
              <a:prstGeom prst="rect">
                <a:avLst/>
              </a:prstGeom>
              <a:blipFill>
                <a:blip r:embed="rId9"/>
                <a:stretch>
                  <a:fillRect l="-2941" b="-13333"/>
                </a:stretch>
              </a:blipFill>
            </p:spPr>
            <p:txBody>
              <a:bodyPr/>
              <a:lstStyle/>
              <a:p>
                <a:r>
                  <a:rPr lang="en-US">
                    <a:noFill/>
                  </a:rPr>
                  <a:t> </a:t>
                </a:r>
              </a:p>
            </p:txBody>
          </p:sp>
        </mc:Fallback>
      </mc:AlternateContent>
      <p:sp>
        <p:nvSpPr>
          <p:cNvPr id="39" name="Arc 38">
            <a:extLst>
              <a:ext uri="{FF2B5EF4-FFF2-40B4-BE49-F238E27FC236}">
                <a16:creationId xmlns:a16="http://schemas.microsoft.com/office/drawing/2014/main" id="{D6903EB6-6953-454F-8901-D22A8B71DF70}"/>
              </a:ext>
            </a:extLst>
          </p:cNvPr>
          <p:cNvSpPr/>
          <p:nvPr/>
        </p:nvSpPr>
        <p:spPr>
          <a:xfrm rot="8638307">
            <a:off x="3981243" y="2508132"/>
            <a:ext cx="538984" cy="281832"/>
          </a:xfrm>
          <a:prstGeom prst="arc">
            <a:avLst>
              <a:gd name="adj1" fmla="val 15923001"/>
              <a:gd name="adj2" fmla="val 21419193"/>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cxnSp>
        <p:nvCxnSpPr>
          <p:cNvPr id="40" name="Straight Connector 39">
            <a:extLst>
              <a:ext uri="{FF2B5EF4-FFF2-40B4-BE49-F238E27FC236}">
                <a16:creationId xmlns:a16="http://schemas.microsoft.com/office/drawing/2014/main" id="{11A00E67-1ADC-4659-B12D-959CCAB5ABB7}"/>
              </a:ext>
            </a:extLst>
          </p:cNvPr>
          <p:cNvCxnSpPr>
            <a:cxnSpLocks/>
          </p:cNvCxnSpPr>
          <p:nvPr/>
        </p:nvCxnSpPr>
        <p:spPr>
          <a:xfrm flipV="1">
            <a:off x="3398313" y="2691291"/>
            <a:ext cx="915630" cy="260558"/>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6A6F4827-EF04-4B73-A89C-7DEB4A290EF8}"/>
                  </a:ext>
                </a:extLst>
              </p:cNvPr>
              <p:cNvSpPr/>
              <p:nvPr/>
            </p:nvSpPr>
            <p:spPr>
              <a:xfrm>
                <a:off x="4205228" y="2656400"/>
                <a:ext cx="789896" cy="369332"/>
              </a:xfrm>
              <a:prstGeom prst="rect">
                <a:avLst/>
              </a:prstGeom>
            </p:spPr>
            <p:txBody>
              <a:bodyPr wrap="none">
                <a:spAutoFit/>
              </a:bodyPr>
              <a:lstStyle/>
              <a:p>
                <a14:m>
                  <m:oMath xmlns:m="http://schemas.openxmlformats.org/officeDocument/2006/math">
                    <m:r>
                      <a:rPr lang="en-US" b="0" i="1" smtClean="0">
                        <a:solidFill>
                          <a:srgbClr val="FF0000"/>
                        </a:solidFill>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oMath>
                </a14:m>
                <a:r>
                  <a:rPr lang="en-US" dirty="0">
                    <a:solidFill>
                      <a:srgbClr val="FF0000"/>
                    </a:solidFill>
                  </a:rPr>
                  <a:t> </a:t>
                </a:r>
              </a:p>
            </p:txBody>
          </p:sp>
        </mc:Choice>
        <mc:Fallback xmlns="">
          <p:sp>
            <p:nvSpPr>
              <p:cNvPr id="42" name="Rectangle 41">
                <a:extLst>
                  <a:ext uri="{FF2B5EF4-FFF2-40B4-BE49-F238E27FC236}">
                    <a16:creationId xmlns:a16="http://schemas.microsoft.com/office/drawing/2014/main" id="{6A6F4827-EF04-4B73-A89C-7DEB4A290EF8}"/>
                  </a:ext>
                </a:extLst>
              </p:cNvPr>
              <p:cNvSpPr>
                <a:spLocks noRot="1" noChangeAspect="1" noMove="1" noResize="1" noEditPoints="1" noAdjustHandles="1" noChangeArrowheads="1" noChangeShapeType="1" noTextEdit="1"/>
              </p:cNvSpPr>
              <p:nvPr/>
            </p:nvSpPr>
            <p:spPr>
              <a:xfrm>
                <a:off x="4205228" y="2656400"/>
                <a:ext cx="789896" cy="369332"/>
              </a:xfrm>
              <a:prstGeom prst="rect">
                <a:avLst/>
              </a:prstGeom>
              <a:blipFill>
                <a:blip r:embed="rId10"/>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31F0816-31C2-4C3C-9B35-1987402B4F32}"/>
                  </a:ext>
                </a:extLst>
              </p:cNvPr>
              <p:cNvSpPr txBox="1"/>
              <p:nvPr/>
            </p:nvSpPr>
            <p:spPr>
              <a:xfrm>
                <a:off x="7376185" y="3092929"/>
                <a:ext cx="4484451" cy="369332"/>
              </a:xfrm>
              <a:prstGeom prst="rect">
                <a:avLst/>
              </a:prstGeom>
              <a:noFill/>
            </p:spPr>
            <p:txBody>
              <a:bodyPr wrap="square" rtlCol="0">
                <a:spAutoFit/>
              </a:bodyPr>
              <a:lstStyle/>
              <a:p>
                <a:r>
                  <a:rPr lang="en-US" dirty="0"/>
                  <a:t>2. Apply sine theorem to find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𝐶𝐶</m:t>
                        </m:r>
                      </m:sub>
                    </m:sSub>
                  </m:oMath>
                </a14:m>
                <a:r>
                  <a:rPr lang="en-US" dirty="0"/>
                  <a:t> </a:t>
                </a:r>
              </a:p>
            </p:txBody>
          </p:sp>
        </mc:Choice>
        <mc:Fallback xmlns="">
          <p:sp>
            <p:nvSpPr>
              <p:cNvPr id="43" name="TextBox 42">
                <a:extLst>
                  <a:ext uri="{FF2B5EF4-FFF2-40B4-BE49-F238E27FC236}">
                    <a16:creationId xmlns:a16="http://schemas.microsoft.com/office/drawing/2014/main" id="{231F0816-31C2-4C3C-9B35-1987402B4F32}"/>
                  </a:ext>
                </a:extLst>
              </p:cNvPr>
              <p:cNvSpPr txBox="1">
                <a:spLocks noRot="1" noChangeAspect="1" noMove="1" noResize="1" noEditPoints="1" noAdjustHandles="1" noChangeArrowheads="1" noChangeShapeType="1" noTextEdit="1"/>
              </p:cNvSpPr>
              <p:nvPr/>
            </p:nvSpPr>
            <p:spPr>
              <a:xfrm>
                <a:off x="7376185" y="3092929"/>
                <a:ext cx="4484451" cy="369332"/>
              </a:xfrm>
              <a:prstGeom prst="rect">
                <a:avLst/>
              </a:prstGeom>
              <a:blipFill>
                <a:blip r:embed="rId11"/>
                <a:stretch>
                  <a:fillRect l="-108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D642F5E-E113-49A2-B2C6-ABA29035145F}"/>
                  </a:ext>
                </a:extLst>
              </p:cNvPr>
              <p:cNvSpPr txBox="1"/>
              <p:nvPr/>
            </p:nvSpPr>
            <p:spPr>
              <a:xfrm>
                <a:off x="8073340" y="3745942"/>
                <a:ext cx="1642982" cy="447174"/>
              </a:xfrm>
              <a:prstGeom prst="rect">
                <a:avLst/>
              </a:prstGeom>
              <a:noFill/>
            </p:spPr>
            <p:txBody>
              <a:bodyPr wrap="square" lIns="0" tIns="0" rIns="0" bIns="0" rtlCol="0">
                <a:spAutoFit/>
              </a:bodyPr>
              <a:lstStyle/>
              <a:p>
                <a14:m>
                  <m:oMath xmlns:m="http://schemas.openxmlformats.org/officeDocument/2006/math">
                    <m:f>
                      <m:fPr>
                        <m:ctrlPr>
                          <a:rPr lang="en-US" b="0" i="1" smtClean="0">
                            <a:latin typeface="Cambria Math" panose="02040503050406030204" pitchFamily="18" charset="0"/>
                          </a:rPr>
                        </m:ctrlPr>
                      </m:fPr>
                      <m:num>
                        <m:r>
                          <a:rPr lang="en-US" i="1" smtClean="0">
                            <a:latin typeface="Cambria Math" panose="02040503050406030204" pitchFamily="18" charset="0"/>
                          </a:rPr>
                          <m:t>𝑠</m:t>
                        </m:r>
                        <m:r>
                          <a:rPr lang="en-US" b="0" i="1" smtClean="0">
                            <a:latin typeface="Cambria Math" panose="02040503050406030204" pitchFamily="18" charset="0"/>
                          </a:rPr>
                          <m:t>𝚤𝑛</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num>
                      <m:den>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i="1">
                                <a:latin typeface="Cambria Math" panose="02040503050406030204" pitchFamily="18" charset="0"/>
                              </a:rPr>
                              <m:t>𝐵</m:t>
                            </m:r>
                          </m:sub>
                        </m:sSub>
                      </m:den>
                    </m:f>
                  </m:oMath>
                </a14:m>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𝑠𝚤𝑛</m:t>
                        </m:r>
                        <m:d>
                          <m:dPr>
                            <m:ctrlPr>
                              <a:rPr lang="en-US" i="1">
                                <a:latin typeface="Cambria Math" panose="02040503050406030204" pitchFamily="18" charset="0"/>
                              </a:rPr>
                            </m:ctrlPr>
                          </m:dPr>
                          <m:e>
                            <m:r>
                              <a:rPr lang="en-US" b="0" i="1" smtClean="0">
                                <a:latin typeface="Cambria Math" panose="02040503050406030204" pitchFamily="18" charset="0"/>
                              </a:rPr>
                              <m:t>𝑎</m:t>
                            </m:r>
                          </m:e>
                        </m:d>
                      </m:num>
                      <m:den>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b="0" i="1" smtClean="0">
                                <a:latin typeface="Cambria Math" panose="02040503050406030204" pitchFamily="18" charset="0"/>
                              </a:rPr>
                              <m:t>𝐶</m:t>
                            </m:r>
                          </m:sub>
                        </m:sSub>
                      </m:den>
                    </m:f>
                  </m:oMath>
                </a14:m>
                <a:r>
                  <a:rPr lang="en-US" dirty="0"/>
                  <a:t> </a:t>
                </a:r>
              </a:p>
            </p:txBody>
          </p:sp>
        </mc:Choice>
        <mc:Fallback xmlns="">
          <p:sp>
            <p:nvSpPr>
              <p:cNvPr id="44" name="TextBox 43">
                <a:extLst>
                  <a:ext uri="{FF2B5EF4-FFF2-40B4-BE49-F238E27FC236}">
                    <a16:creationId xmlns:a16="http://schemas.microsoft.com/office/drawing/2014/main" id="{DD642F5E-E113-49A2-B2C6-ABA29035145F}"/>
                  </a:ext>
                </a:extLst>
              </p:cNvPr>
              <p:cNvSpPr txBox="1">
                <a:spLocks noRot="1" noChangeAspect="1" noMove="1" noResize="1" noEditPoints="1" noAdjustHandles="1" noChangeArrowheads="1" noChangeShapeType="1" noTextEdit="1"/>
              </p:cNvSpPr>
              <p:nvPr/>
            </p:nvSpPr>
            <p:spPr>
              <a:xfrm>
                <a:off x="8073340" y="3745942"/>
                <a:ext cx="1642982" cy="447174"/>
              </a:xfrm>
              <a:prstGeom prst="rect">
                <a:avLst/>
              </a:prstGeom>
              <a:blipFill>
                <a:blip r:embed="rId12"/>
                <a:stretch>
                  <a:fillRect l="-2593" t="-1351"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694D932-B599-4617-8915-FB4BF0AAD42D}"/>
                  </a:ext>
                </a:extLst>
              </p:cNvPr>
              <p:cNvSpPr txBox="1"/>
              <p:nvPr/>
            </p:nvSpPr>
            <p:spPr>
              <a:xfrm>
                <a:off x="7975428" y="4380128"/>
                <a:ext cx="1642982" cy="447174"/>
              </a:xfrm>
              <a:prstGeom prst="rect">
                <a:avLst/>
              </a:prstGeom>
              <a:noFill/>
            </p:spPr>
            <p:txBody>
              <a:bodyPr wrap="square" lIns="0" tIns="0" rIns="0" bIns="0" rtlCol="0">
                <a:spAutoFit/>
              </a:bodyPr>
              <a:lstStyle/>
              <a:p>
                <a14:m>
                  <m:oMath xmlns:m="http://schemas.openxmlformats.org/officeDocument/2006/math">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oMath>
                </a14:m>
                <a:r>
                  <a:rPr lang="en-US" dirty="0"/>
                  <a:t> =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b="0" i="1" smtClean="0">
                                <a:latin typeface="Cambria Math" panose="02040503050406030204" pitchFamily="18" charset="0"/>
                              </a:rPr>
                              <m:t>𝐵</m:t>
                            </m:r>
                          </m:sub>
                        </m:sSub>
                        <m:r>
                          <a:rPr lang="en-US" b="0" i="1" smtClean="0">
                            <a:latin typeface="Cambria Math" panose="02040503050406030204" pitchFamily="18" charset="0"/>
                          </a:rPr>
                          <m:t> </m:t>
                        </m:r>
                        <m:r>
                          <a:rPr lang="en-US" i="1">
                            <a:latin typeface="Cambria Math" panose="02040503050406030204" pitchFamily="18" charset="0"/>
                          </a:rPr>
                          <m:t>𝑠𝚤𝑛</m:t>
                        </m:r>
                        <m:d>
                          <m:dPr>
                            <m:ctrlPr>
                              <a:rPr lang="en-US" i="1">
                                <a:latin typeface="Cambria Math" panose="02040503050406030204" pitchFamily="18" charset="0"/>
                              </a:rPr>
                            </m:ctrlPr>
                          </m:dPr>
                          <m:e>
                            <m:r>
                              <a:rPr lang="en-US" b="0" i="1" smtClean="0">
                                <a:latin typeface="Cambria Math" panose="02040503050406030204" pitchFamily="18" charset="0"/>
                              </a:rPr>
                              <m:t>𝑎</m:t>
                            </m:r>
                          </m:e>
                        </m:d>
                      </m:num>
                      <m:den>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b="0" i="1" smtClean="0">
                                <a:latin typeface="Cambria Math" panose="02040503050406030204" pitchFamily="18" charset="0"/>
                              </a:rPr>
                              <m:t>𝐶</m:t>
                            </m:r>
                          </m:sub>
                        </m:sSub>
                      </m:den>
                    </m:f>
                  </m:oMath>
                </a14:m>
                <a:r>
                  <a:rPr lang="en-US" dirty="0"/>
                  <a:t> </a:t>
                </a:r>
              </a:p>
            </p:txBody>
          </p:sp>
        </mc:Choice>
        <mc:Fallback xmlns="">
          <p:sp>
            <p:nvSpPr>
              <p:cNvPr id="45" name="TextBox 44">
                <a:extLst>
                  <a:ext uri="{FF2B5EF4-FFF2-40B4-BE49-F238E27FC236}">
                    <a16:creationId xmlns:a16="http://schemas.microsoft.com/office/drawing/2014/main" id="{E694D932-B599-4617-8915-FB4BF0AAD42D}"/>
                  </a:ext>
                </a:extLst>
              </p:cNvPr>
              <p:cNvSpPr txBox="1">
                <a:spLocks noRot="1" noChangeAspect="1" noMove="1" noResize="1" noEditPoints="1" noAdjustHandles="1" noChangeArrowheads="1" noChangeShapeType="1" noTextEdit="1"/>
              </p:cNvSpPr>
              <p:nvPr/>
            </p:nvSpPr>
            <p:spPr>
              <a:xfrm>
                <a:off x="7975428" y="4380128"/>
                <a:ext cx="1642982" cy="447174"/>
              </a:xfrm>
              <a:prstGeom prst="rect">
                <a:avLst/>
              </a:prstGeom>
              <a:blipFill>
                <a:blip r:embed="rId13"/>
                <a:stretch>
                  <a:fillRect l="-4815" b="-109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5E729C4-669D-4521-886B-15FD9062E2BF}"/>
                  </a:ext>
                </a:extLst>
              </p:cNvPr>
              <p:cNvSpPr txBox="1"/>
              <p:nvPr/>
            </p:nvSpPr>
            <p:spPr>
              <a:xfrm>
                <a:off x="7898242" y="5097334"/>
                <a:ext cx="2511903" cy="447174"/>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𝛽</m:t>
                    </m:r>
                  </m:oMath>
                </a14:m>
                <a:r>
                  <a:rPr lang="en-US" dirty="0"/>
                  <a:t> = asın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b="0" i="1" smtClean="0">
                                <a:latin typeface="Cambria Math" panose="02040503050406030204" pitchFamily="18" charset="0"/>
                              </a:rPr>
                              <m:t>𝐵</m:t>
                            </m:r>
                          </m:sub>
                        </m:sSub>
                        <m:r>
                          <a:rPr lang="en-US" b="0" i="1" smtClean="0">
                            <a:latin typeface="Cambria Math" panose="02040503050406030204" pitchFamily="18" charset="0"/>
                          </a:rPr>
                          <m:t> </m:t>
                        </m:r>
                        <m:r>
                          <a:rPr lang="en-US" i="1">
                            <a:latin typeface="Cambria Math" panose="02040503050406030204" pitchFamily="18" charset="0"/>
                          </a:rPr>
                          <m:t>𝑠𝚤𝑛</m:t>
                        </m:r>
                        <m:d>
                          <m:dPr>
                            <m:ctrlPr>
                              <a:rPr lang="en-US" i="1">
                                <a:latin typeface="Cambria Math" panose="02040503050406030204" pitchFamily="18" charset="0"/>
                              </a:rPr>
                            </m:ctrlPr>
                          </m:dPr>
                          <m:e>
                            <m:r>
                              <a:rPr lang="en-US" b="0" i="1" smtClean="0">
                                <a:latin typeface="Cambria Math" panose="02040503050406030204" pitchFamily="18" charset="0"/>
                              </a:rPr>
                              <m:t>𝑎</m:t>
                            </m:r>
                          </m:e>
                        </m:d>
                      </m:num>
                      <m:den>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b="0" i="1" smtClean="0">
                                <a:latin typeface="Cambria Math" panose="02040503050406030204" pitchFamily="18" charset="0"/>
                              </a:rPr>
                              <m:t>𝐶</m:t>
                            </m:r>
                          </m:sub>
                        </m:sSub>
                      </m:den>
                    </m:f>
                  </m:oMath>
                </a14:m>
                <a:r>
                  <a:rPr lang="en-US" dirty="0"/>
                  <a:t>) </a:t>
                </a:r>
              </a:p>
            </p:txBody>
          </p:sp>
        </mc:Choice>
        <mc:Fallback xmlns="">
          <p:sp>
            <p:nvSpPr>
              <p:cNvPr id="46" name="TextBox 45">
                <a:extLst>
                  <a:ext uri="{FF2B5EF4-FFF2-40B4-BE49-F238E27FC236}">
                    <a16:creationId xmlns:a16="http://schemas.microsoft.com/office/drawing/2014/main" id="{D5E729C4-669D-4521-886B-15FD9062E2BF}"/>
                  </a:ext>
                </a:extLst>
              </p:cNvPr>
              <p:cNvSpPr txBox="1">
                <a:spLocks noRot="1" noChangeAspect="1" noMove="1" noResize="1" noEditPoints="1" noAdjustHandles="1" noChangeArrowheads="1" noChangeShapeType="1" noTextEdit="1"/>
              </p:cNvSpPr>
              <p:nvPr/>
            </p:nvSpPr>
            <p:spPr>
              <a:xfrm>
                <a:off x="7898242" y="5097334"/>
                <a:ext cx="2511903" cy="447174"/>
              </a:xfrm>
              <a:prstGeom prst="rect">
                <a:avLst/>
              </a:prstGeom>
              <a:blipFill>
                <a:blip r:embed="rId14"/>
                <a:stretch>
                  <a:fillRect l="-4369"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5EC2219-9D3B-4EFD-8CA1-EB07E31F48A2}"/>
                  </a:ext>
                </a:extLst>
              </p:cNvPr>
              <p:cNvSpPr txBox="1"/>
              <p:nvPr/>
            </p:nvSpPr>
            <p:spPr>
              <a:xfrm>
                <a:off x="7975428" y="5886157"/>
                <a:ext cx="2511903" cy="276999"/>
              </a:xfrm>
              <a:prstGeom prst="rect">
                <a:avLst/>
              </a:prstGeom>
              <a:noFill/>
            </p:spPr>
            <p:txBody>
              <a:bodyPr wrap="square" lIns="0" tIns="0" rIns="0" bIns="0" rtlCol="0">
                <a:spAutoFit/>
              </a:bodyPr>
              <a:lstStyle/>
              <a:p>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𝑪𝑩</m:t>
                        </m:r>
                      </m:sub>
                    </m:sSub>
                    <m:r>
                      <a:rPr lang="en-US" b="1" i="1" smtClean="0">
                        <a:latin typeface="Cambria Math" panose="02040503050406030204" pitchFamily="18" charset="0"/>
                      </a:rPr>
                      <m:t>=</m:t>
                    </m:r>
                    <m:r>
                      <a:rPr lang="en-US" b="1" i="1" smtClean="0">
                        <a:latin typeface="Cambria Math" panose="02040503050406030204" pitchFamily="18" charset="0"/>
                      </a:rPr>
                      <m:t>𝜷</m:t>
                    </m:r>
                    <m:r>
                      <a:rPr lang="en-US" b="1" i="1" smtClean="0">
                        <a:latin typeface="Cambria Math" panose="02040503050406030204" pitchFamily="18" charset="0"/>
                      </a:rPr>
                      <m:t>−</m:t>
                    </m:r>
                    <m:r>
                      <a:rPr lang="en-US" b="1" i="1" smtClean="0">
                        <a:latin typeface="Cambria Math" panose="02040503050406030204" pitchFamily="18" charset="0"/>
                      </a:rPr>
                      <m:t>𝟏𝟖𝟎</m:t>
                    </m:r>
                  </m:oMath>
                </a14:m>
                <a:r>
                  <a:rPr lang="en-US" b="1" dirty="0"/>
                  <a:t>  </a:t>
                </a:r>
              </a:p>
            </p:txBody>
          </p:sp>
        </mc:Choice>
        <mc:Fallback xmlns="">
          <p:sp>
            <p:nvSpPr>
              <p:cNvPr id="47" name="TextBox 46">
                <a:extLst>
                  <a:ext uri="{FF2B5EF4-FFF2-40B4-BE49-F238E27FC236}">
                    <a16:creationId xmlns:a16="http://schemas.microsoft.com/office/drawing/2014/main" id="{05EC2219-9D3B-4EFD-8CA1-EB07E31F48A2}"/>
                  </a:ext>
                </a:extLst>
              </p:cNvPr>
              <p:cNvSpPr txBox="1">
                <a:spLocks noRot="1" noChangeAspect="1" noMove="1" noResize="1" noEditPoints="1" noAdjustHandles="1" noChangeArrowheads="1" noChangeShapeType="1" noTextEdit="1"/>
              </p:cNvSpPr>
              <p:nvPr/>
            </p:nvSpPr>
            <p:spPr>
              <a:xfrm>
                <a:off x="7975428" y="5886157"/>
                <a:ext cx="2511903" cy="276999"/>
              </a:xfrm>
              <a:prstGeom prst="rect">
                <a:avLst/>
              </a:prstGeom>
              <a:blipFill>
                <a:blip r:embed="rId15"/>
                <a:stretch>
                  <a:fillRect l="-4369" t="-28889"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83C271ED-81F8-4A9E-A2D5-BD5CE2ED63FD}"/>
                  </a:ext>
                </a:extLst>
              </p:cNvPr>
              <p:cNvSpPr/>
              <p:nvPr/>
            </p:nvSpPr>
            <p:spPr>
              <a:xfrm>
                <a:off x="1853201" y="5907965"/>
                <a:ext cx="179722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𝑪𝑩</m:t>
                          </m:r>
                        </m:sub>
                      </m:sSub>
                      <m:r>
                        <a:rPr lang="en-US" b="1" i="1">
                          <a:latin typeface="Cambria Math" panose="02040503050406030204" pitchFamily="18" charset="0"/>
                        </a:rPr>
                        <m:t>=</m:t>
                      </m:r>
                      <m:r>
                        <a:rPr lang="en-US" b="1" i="1">
                          <a:latin typeface="Cambria Math" panose="02040503050406030204" pitchFamily="18" charset="0"/>
                        </a:rPr>
                        <m:t>𝟏𝟖𝟎</m:t>
                      </m:r>
                      <m:r>
                        <a:rPr lang="en-US" b="1" i="1">
                          <a:latin typeface="Cambria Math" panose="02040503050406030204" pitchFamily="18" charset="0"/>
                        </a:rPr>
                        <m:t>−</m:t>
                      </m:r>
                      <m:r>
                        <a:rPr lang="en-US" b="1" i="1">
                          <a:latin typeface="Cambria Math" panose="02040503050406030204" pitchFamily="18" charset="0"/>
                        </a:rPr>
                        <m:t>𝜶</m:t>
                      </m:r>
                    </m:oMath>
                  </m:oMathPara>
                </a14:m>
                <a:endParaRPr lang="en-US" b="1" dirty="0"/>
              </a:p>
            </p:txBody>
          </p:sp>
        </mc:Choice>
        <mc:Fallback xmlns="">
          <p:sp>
            <p:nvSpPr>
              <p:cNvPr id="35" name="Rectangle 34">
                <a:extLst>
                  <a:ext uri="{FF2B5EF4-FFF2-40B4-BE49-F238E27FC236}">
                    <a16:creationId xmlns:a16="http://schemas.microsoft.com/office/drawing/2014/main" id="{83C271ED-81F8-4A9E-A2D5-BD5CE2ED63FD}"/>
                  </a:ext>
                </a:extLst>
              </p:cNvPr>
              <p:cNvSpPr>
                <a:spLocks noRot="1" noChangeAspect="1" noMove="1" noResize="1" noEditPoints="1" noAdjustHandles="1" noChangeArrowheads="1" noChangeShapeType="1" noTextEdit="1"/>
              </p:cNvSpPr>
              <p:nvPr/>
            </p:nvSpPr>
            <p:spPr>
              <a:xfrm>
                <a:off x="1853201" y="5907965"/>
                <a:ext cx="1797222" cy="369332"/>
              </a:xfrm>
              <a:prstGeom prst="rect">
                <a:avLst/>
              </a:prstGeom>
              <a:blipFill>
                <a:blip r:embed="rId16"/>
                <a:stretch>
                  <a:fillRect b="-13115"/>
                </a:stretch>
              </a:blipFill>
            </p:spPr>
            <p:txBody>
              <a:bodyPr/>
              <a:lstStyle/>
              <a:p>
                <a:r>
                  <a:rPr lang="en-US">
                    <a:noFill/>
                  </a:rPr>
                  <a:t> </a:t>
                </a:r>
              </a:p>
            </p:txBody>
          </p:sp>
        </mc:Fallback>
      </mc:AlternateContent>
    </p:spTree>
    <p:extLst>
      <p:ext uri="{BB962C8B-B14F-4D97-AF65-F5344CB8AC3E}">
        <p14:creationId xmlns:p14="http://schemas.microsoft.com/office/powerpoint/2010/main" val="1876368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5984-4E8D-402F-9F27-442F41C97674}"/>
              </a:ext>
            </a:extLst>
          </p:cNvPr>
          <p:cNvSpPr>
            <a:spLocks noGrp="1"/>
          </p:cNvSpPr>
          <p:nvPr>
            <p:ph type="title"/>
          </p:nvPr>
        </p:nvSpPr>
        <p:spPr/>
        <p:txBody>
          <a:bodyPr/>
          <a:lstStyle/>
          <a:p>
            <a:r>
              <a:rPr lang="en-US" dirty="0"/>
              <a:t>CMV </a:t>
            </a:r>
            <a:r>
              <a:rPr lang="en-US" dirty="0" smtClean="0"/>
              <a:t>Comparisons- Equal Carrier Phases </a:t>
            </a:r>
            <a:endParaRPr lang="en-US" dirty="0"/>
          </a:p>
        </p:txBody>
      </p:sp>
      <p:pic>
        <p:nvPicPr>
          <p:cNvPr id="4" name="Picture 3"/>
          <p:cNvPicPr>
            <a:picLocks noChangeAspect="1"/>
          </p:cNvPicPr>
          <p:nvPr/>
        </p:nvPicPr>
        <p:blipFill>
          <a:blip r:embed="rId2"/>
          <a:stretch>
            <a:fillRect/>
          </a:stretch>
        </p:blipFill>
        <p:spPr>
          <a:xfrm>
            <a:off x="439823" y="1786338"/>
            <a:ext cx="5960977" cy="4216965"/>
          </a:xfrm>
          <a:prstGeom prst="rect">
            <a:avLst/>
          </a:prstGeom>
        </p:spPr>
      </p:pic>
      <p:pic>
        <p:nvPicPr>
          <p:cNvPr id="5" name="Picture 4"/>
          <p:cNvPicPr>
            <a:picLocks noChangeAspect="1"/>
          </p:cNvPicPr>
          <p:nvPr/>
        </p:nvPicPr>
        <p:blipFill>
          <a:blip r:embed="rId3"/>
          <a:stretch>
            <a:fillRect/>
          </a:stretch>
        </p:blipFill>
        <p:spPr>
          <a:xfrm>
            <a:off x="6550240" y="1989438"/>
            <a:ext cx="5145346" cy="3639965"/>
          </a:xfrm>
          <a:prstGeom prst="rect">
            <a:avLst/>
          </a:prstGeom>
        </p:spPr>
      </p:pic>
    </p:spTree>
    <p:extLst>
      <p:ext uri="{BB962C8B-B14F-4D97-AF65-F5344CB8AC3E}">
        <p14:creationId xmlns:p14="http://schemas.microsoft.com/office/powerpoint/2010/main" val="2974356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5984-4E8D-402F-9F27-442F41C97674}"/>
              </a:ext>
            </a:extLst>
          </p:cNvPr>
          <p:cNvSpPr>
            <a:spLocks noGrp="1"/>
          </p:cNvSpPr>
          <p:nvPr>
            <p:ph type="title"/>
          </p:nvPr>
        </p:nvSpPr>
        <p:spPr/>
        <p:txBody>
          <a:bodyPr/>
          <a:lstStyle/>
          <a:p>
            <a:r>
              <a:rPr lang="en-US" dirty="0"/>
              <a:t>CMV </a:t>
            </a:r>
            <a:r>
              <a:rPr lang="en-US" dirty="0" smtClean="0"/>
              <a:t>Comparisons- 0-120-240 carrier phases</a:t>
            </a:r>
            <a:endParaRPr lang="en-US" dirty="0"/>
          </a:p>
        </p:txBody>
      </p:sp>
      <p:pic>
        <p:nvPicPr>
          <p:cNvPr id="7" name="Picture 6"/>
          <p:cNvPicPr>
            <a:picLocks noChangeAspect="1"/>
          </p:cNvPicPr>
          <p:nvPr/>
        </p:nvPicPr>
        <p:blipFill>
          <a:blip r:embed="rId2"/>
          <a:stretch>
            <a:fillRect/>
          </a:stretch>
        </p:blipFill>
        <p:spPr>
          <a:xfrm>
            <a:off x="490538" y="1825174"/>
            <a:ext cx="5424488" cy="3837438"/>
          </a:xfrm>
          <a:prstGeom prst="rect">
            <a:avLst/>
          </a:prstGeom>
        </p:spPr>
      </p:pic>
      <p:pic>
        <p:nvPicPr>
          <p:cNvPr id="8" name="Picture 7"/>
          <p:cNvPicPr>
            <a:picLocks noChangeAspect="1"/>
          </p:cNvPicPr>
          <p:nvPr/>
        </p:nvPicPr>
        <p:blipFill>
          <a:blip r:embed="rId3"/>
          <a:stretch>
            <a:fillRect/>
          </a:stretch>
        </p:blipFill>
        <p:spPr>
          <a:xfrm>
            <a:off x="6096001" y="1862095"/>
            <a:ext cx="5467350" cy="3867759"/>
          </a:xfrm>
          <a:prstGeom prst="rect">
            <a:avLst/>
          </a:prstGeom>
        </p:spPr>
      </p:pic>
    </p:spTree>
    <p:extLst>
      <p:ext uri="{BB962C8B-B14F-4D97-AF65-F5344CB8AC3E}">
        <p14:creationId xmlns:p14="http://schemas.microsoft.com/office/powerpoint/2010/main" val="3399550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5984-4E8D-402F-9F27-442F41C97674}"/>
              </a:ext>
            </a:extLst>
          </p:cNvPr>
          <p:cNvSpPr>
            <a:spLocks noGrp="1"/>
          </p:cNvSpPr>
          <p:nvPr>
            <p:ph type="title"/>
          </p:nvPr>
        </p:nvSpPr>
        <p:spPr/>
        <p:txBody>
          <a:bodyPr/>
          <a:lstStyle/>
          <a:p>
            <a:r>
              <a:rPr lang="en-US" dirty="0"/>
              <a:t>CMV </a:t>
            </a:r>
            <a:r>
              <a:rPr lang="en-US" dirty="0" smtClean="0"/>
              <a:t>Comparisons- Variable</a:t>
            </a:r>
            <a:endParaRPr lang="en-US" dirty="0"/>
          </a:p>
        </p:txBody>
      </p:sp>
      <p:pic>
        <p:nvPicPr>
          <p:cNvPr id="3" name="Picture 2"/>
          <p:cNvPicPr>
            <a:picLocks noChangeAspect="1"/>
          </p:cNvPicPr>
          <p:nvPr/>
        </p:nvPicPr>
        <p:blipFill>
          <a:blip r:embed="rId2"/>
          <a:stretch>
            <a:fillRect/>
          </a:stretch>
        </p:blipFill>
        <p:spPr>
          <a:xfrm>
            <a:off x="209550" y="1622194"/>
            <a:ext cx="5886450" cy="4164243"/>
          </a:xfrm>
          <a:prstGeom prst="rect">
            <a:avLst/>
          </a:prstGeom>
        </p:spPr>
      </p:pic>
      <p:pic>
        <p:nvPicPr>
          <p:cNvPr id="4" name="Picture 3"/>
          <p:cNvPicPr>
            <a:picLocks noChangeAspect="1"/>
          </p:cNvPicPr>
          <p:nvPr/>
        </p:nvPicPr>
        <p:blipFill>
          <a:blip r:embed="rId3"/>
          <a:stretch>
            <a:fillRect/>
          </a:stretch>
        </p:blipFill>
        <p:spPr>
          <a:xfrm>
            <a:off x="6406973" y="2057400"/>
            <a:ext cx="4946827" cy="3499527"/>
          </a:xfrm>
          <a:prstGeom prst="rect">
            <a:avLst/>
          </a:prstGeom>
        </p:spPr>
      </p:pic>
    </p:spTree>
    <p:extLst>
      <p:ext uri="{BB962C8B-B14F-4D97-AF65-F5344CB8AC3E}">
        <p14:creationId xmlns:p14="http://schemas.microsoft.com/office/powerpoint/2010/main" val="6107148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824</TotalTime>
  <Words>2293</Words>
  <Application>Microsoft Office PowerPoint</Application>
  <PresentationFormat>Widescreen</PresentationFormat>
  <Paragraphs>173</Paragraphs>
  <Slides>20</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Arial</vt:lpstr>
      <vt:lpstr>Calibri</vt:lpstr>
      <vt:lpstr>Calibri (Body)</vt:lpstr>
      <vt:lpstr>Calibri Light</vt:lpstr>
      <vt:lpstr>Cambria Math</vt:lpstr>
      <vt:lpstr>Office Theme</vt:lpstr>
      <vt:lpstr>Online Carrier Phase Shift Calculation to Reduce Common Mode Voltage</vt:lpstr>
      <vt:lpstr>Analytical Analysis of carrier-based PWM (CBPWM) (i.e. SPWM)</vt:lpstr>
      <vt:lpstr>Analytical Analysis of PWM (i.e. SPWM)</vt:lpstr>
      <vt:lpstr>Analytical Analysis of PWM (i.e. SPWM)</vt:lpstr>
      <vt:lpstr>The initial idea</vt:lpstr>
      <vt:lpstr>Literature (for ones that are related  carrier phase shift !!)</vt:lpstr>
      <vt:lpstr>Literature (for ones that are related carrier phase shift !!)</vt:lpstr>
      <vt:lpstr>Literature (for ones that are related carrier phase shift !!)</vt:lpstr>
      <vt:lpstr>Literature (for ones that are related carrier phase shift !!)</vt:lpstr>
      <vt:lpstr>Literature (for ones that are related carrier phase shift !!)</vt:lpstr>
      <vt:lpstr>Literature (for ones that are related carrier phase shift !!)</vt:lpstr>
      <vt:lpstr>The Proposed Technique</vt:lpstr>
      <vt:lpstr>Mathematical Modelling</vt:lpstr>
      <vt:lpstr>Mathematical Modelling</vt:lpstr>
      <vt:lpstr>Mathematical Modelling</vt:lpstr>
      <vt:lpstr>Mathematical Modelling</vt:lpstr>
      <vt:lpstr>Mathematical Modelling</vt:lpstr>
      <vt:lpstr>CMV Comparisons- Equal Carrier Phases </vt:lpstr>
      <vt:lpstr>CMV Comparisons- 0-120-240 carrier phases</vt:lpstr>
      <vt:lpstr>CMV Comparisons- Variable</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Carrier Phase Shift Calculation to Reduce Common Mode Voltage</dc:title>
  <dc:creator>Enes Ayaz</dc:creator>
  <cp:lastModifiedBy>Enes Ayaz</cp:lastModifiedBy>
  <cp:revision>49</cp:revision>
  <dcterms:created xsi:type="dcterms:W3CDTF">2023-06-05T14:04:11Z</dcterms:created>
  <dcterms:modified xsi:type="dcterms:W3CDTF">2024-10-16T13:16:54Z</dcterms:modified>
</cp:coreProperties>
</file>