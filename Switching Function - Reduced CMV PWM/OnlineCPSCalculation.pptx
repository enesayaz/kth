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2" r:id="rId7"/>
    <p:sldId id="263" r:id="rId8"/>
    <p:sldId id="264" r:id="rId9"/>
    <p:sldId id="265" r:id="rId10"/>
    <p:sldId id="266" r:id="rId11"/>
    <p:sldId id="267" r:id="rId12"/>
    <p:sldId id="268" r:id="rId13"/>
    <p:sldId id="269" r:id="rId14"/>
    <p:sldId id="270" r:id="rId15"/>
    <p:sldId id="271" r:id="rId16"/>
    <p:sldId id="272" r:id="rId17"/>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25" d="100"/>
          <a:sy n="125" d="100"/>
        </p:scale>
        <p:origin x="894" y="6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AC3C920-8099-44FB-877D-FFD02840B4C1}" type="datetimeFigureOut">
              <a:rPr lang="sv-SE" smtClean="0"/>
              <a:t>2023-06-07</a:t>
            </a:fld>
            <a:endParaRPr lang="sv-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007380-F224-4E93-BC8A-2CF3A0B2F3DC}" type="slidenum">
              <a:rPr lang="sv-SE" smtClean="0"/>
              <a:t>‹#›</a:t>
            </a:fld>
            <a:endParaRPr lang="sv-SE"/>
          </a:p>
        </p:txBody>
      </p:sp>
    </p:spTree>
    <p:extLst>
      <p:ext uri="{BB962C8B-B14F-4D97-AF65-F5344CB8AC3E}">
        <p14:creationId xmlns:p14="http://schemas.microsoft.com/office/powerpoint/2010/main" val="555012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7</a:t>
            </a:fld>
            <a:endParaRPr lang="sv-SE"/>
          </a:p>
        </p:txBody>
      </p:sp>
    </p:spTree>
    <p:extLst>
      <p:ext uri="{BB962C8B-B14F-4D97-AF65-F5344CB8AC3E}">
        <p14:creationId xmlns:p14="http://schemas.microsoft.com/office/powerpoint/2010/main" val="41249879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8</a:t>
            </a:fld>
            <a:endParaRPr lang="sv-SE"/>
          </a:p>
        </p:txBody>
      </p:sp>
    </p:spTree>
    <p:extLst>
      <p:ext uri="{BB962C8B-B14F-4D97-AF65-F5344CB8AC3E}">
        <p14:creationId xmlns:p14="http://schemas.microsoft.com/office/powerpoint/2010/main" val="17182827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9</a:t>
            </a:fld>
            <a:endParaRPr lang="sv-SE"/>
          </a:p>
        </p:txBody>
      </p:sp>
    </p:spTree>
    <p:extLst>
      <p:ext uri="{BB962C8B-B14F-4D97-AF65-F5344CB8AC3E}">
        <p14:creationId xmlns:p14="http://schemas.microsoft.com/office/powerpoint/2010/main" val="35933874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10</a:t>
            </a:fld>
            <a:endParaRPr lang="sv-SE"/>
          </a:p>
        </p:txBody>
      </p:sp>
    </p:spTree>
    <p:extLst>
      <p:ext uri="{BB962C8B-B14F-4D97-AF65-F5344CB8AC3E}">
        <p14:creationId xmlns:p14="http://schemas.microsoft.com/office/powerpoint/2010/main" val="8645215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11</a:t>
            </a:fld>
            <a:endParaRPr lang="sv-SE"/>
          </a:p>
        </p:txBody>
      </p:sp>
    </p:spTree>
    <p:extLst>
      <p:ext uri="{BB962C8B-B14F-4D97-AF65-F5344CB8AC3E}">
        <p14:creationId xmlns:p14="http://schemas.microsoft.com/office/powerpoint/2010/main" val="29810080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sv-S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2023-06-07</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7352724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sv-SE"/>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2023-06-07</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1064568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sv-S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1CCF258A-C4AC-452A-B440-6EC022A8E4C9}" type="datetimeFigureOut">
              <a:rPr lang="sv-SE" smtClean="0"/>
              <a:t>2023-06-07</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40355669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sv-SE"/>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5" name="Date Placeholder 4"/>
          <p:cNvSpPr>
            <a:spLocks noGrp="1"/>
          </p:cNvSpPr>
          <p:nvPr>
            <p:ph type="dt" sz="half" idx="10"/>
          </p:nvPr>
        </p:nvSpPr>
        <p:spPr/>
        <p:txBody>
          <a:bodyPr/>
          <a:lstStyle/>
          <a:p>
            <a:fld id="{1CCF258A-C4AC-452A-B440-6EC022A8E4C9}" type="datetimeFigureOut">
              <a:rPr lang="sv-SE" smtClean="0"/>
              <a:t>2023-06-07</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4274508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sv-S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7" name="Date Placeholder 6"/>
          <p:cNvSpPr>
            <a:spLocks noGrp="1"/>
          </p:cNvSpPr>
          <p:nvPr>
            <p:ph type="dt" sz="half" idx="10"/>
          </p:nvPr>
        </p:nvSpPr>
        <p:spPr/>
        <p:txBody>
          <a:bodyPr/>
          <a:lstStyle/>
          <a:p>
            <a:fld id="{1CCF258A-C4AC-452A-B440-6EC022A8E4C9}" type="datetimeFigureOut">
              <a:rPr lang="sv-SE" smtClean="0"/>
              <a:t>2023-06-07</a:t>
            </a:fld>
            <a:endParaRPr lang="sv-SE"/>
          </a:p>
        </p:txBody>
      </p:sp>
      <p:sp>
        <p:nvSpPr>
          <p:cNvPr id="8" name="Footer Placeholder 7"/>
          <p:cNvSpPr>
            <a:spLocks noGrp="1"/>
          </p:cNvSpPr>
          <p:nvPr>
            <p:ph type="ftr" sz="quarter" idx="11"/>
          </p:nvPr>
        </p:nvSpPr>
        <p:spPr/>
        <p:txBody>
          <a:bodyPr/>
          <a:lstStyle/>
          <a:p>
            <a:endParaRPr lang="sv-SE"/>
          </a:p>
        </p:txBody>
      </p:sp>
      <p:sp>
        <p:nvSpPr>
          <p:cNvPr id="9" name="Slide Number Placeholder 8"/>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56404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sv-SE"/>
          </a:p>
        </p:txBody>
      </p:sp>
      <p:sp>
        <p:nvSpPr>
          <p:cNvPr id="3" name="Date Placeholder 2"/>
          <p:cNvSpPr>
            <a:spLocks noGrp="1"/>
          </p:cNvSpPr>
          <p:nvPr>
            <p:ph type="dt" sz="half" idx="10"/>
          </p:nvPr>
        </p:nvSpPr>
        <p:spPr/>
        <p:txBody>
          <a:bodyPr/>
          <a:lstStyle/>
          <a:p>
            <a:fld id="{1CCF258A-C4AC-452A-B440-6EC022A8E4C9}" type="datetimeFigureOut">
              <a:rPr lang="sv-SE" smtClean="0"/>
              <a:t>2023-06-07</a:t>
            </a:fld>
            <a:endParaRPr lang="sv-SE"/>
          </a:p>
        </p:txBody>
      </p:sp>
      <p:sp>
        <p:nvSpPr>
          <p:cNvPr id="4" name="Footer Placeholder 3"/>
          <p:cNvSpPr>
            <a:spLocks noGrp="1"/>
          </p:cNvSpPr>
          <p:nvPr>
            <p:ph type="ftr" sz="quarter" idx="11"/>
          </p:nvPr>
        </p:nvSpPr>
        <p:spPr/>
        <p:txBody>
          <a:bodyPr/>
          <a:lstStyle/>
          <a:p>
            <a:endParaRPr lang="sv-SE"/>
          </a:p>
        </p:txBody>
      </p:sp>
      <p:sp>
        <p:nvSpPr>
          <p:cNvPr id="5" name="Slide Number Placeholder 4"/>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991888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CF258A-C4AC-452A-B440-6EC022A8E4C9}" type="datetimeFigureOut">
              <a:rPr lang="sv-SE" smtClean="0"/>
              <a:t>2023-06-07</a:t>
            </a:fld>
            <a:endParaRPr lang="sv-SE"/>
          </a:p>
        </p:txBody>
      </p:sp>
      <p:sp>
        <p:nvSpPr>
          <p:cNvPr id="3" name="Footer Placeholder 2"/>
          <p:cNvSpPr>
            <a:spLocks noGrp="1"/>
          </p:cNvSpPr>
          <p:nvPr>
            <p:ph type="ftr" sz="quarter" idx="11"/>
          </p:nvPr>
        </p:nvSpPr>
        <p:spPr/>
        <p:txBody>
          <a:bodyPr/>
          <a:lstStyle/>
          <a:p>
            <a:endParaRPr lang="sv-SE"/>
          </a:p>
        </p:txBody>
      </p:sp>
      <p:sp>
        <p:nvSpPr>
          <p:cNvPr id="4" name="Slide Number Placeholder 3"/>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7517089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sv-S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1CCF258A-C4AC-452A-B440-6EC022A8E4C9}" type="datetimeFigureOut">
              <a:rPr lang="sv-SE" smtClean="0"/>
              <a:t>2023-06-07</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8403432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sv-S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1CCF258A-C4AC-452A-B440-6EC022A8E4C9}" type="datetimeFigureOut">
              <a:rPr lang="sv-SE" smtClean="0"/>
              <a:t>2023-06-07</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4806153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sv-SE"/>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2023-06-07</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3335017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sv-S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2023-06-07</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8822959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sv-S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CF258A-C4AC-452A-B440-6EC022A8E4C9}" type="datetimeFigureOut">
              <a:rPr lang="sv-SE" smtClean="0"/>
              <a:t>2023-06-07</a:t>
            </a:fld>
            <a:endParaRPr lang="sv-S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sv-S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CEEEF0-C237-4CFC-84D0-B21D4D3A3DA2}" type="slidenum">
              <a:rPr lang="sv-SE" smtClean="0"/>
              <a:t>‹#›</a:t>
            </a:fld>
            <a:endParaRPr lang="sv-SE"/>
          </a:p>
        </p:txBody>
      </p:sp>
    </p:spTree>
    <p:extLst>
      <p:ext uri="{BB962C8B-B14F-4D97-AF65-F5344CB8AC3E}">
        <p14:creationId xmlns:p14="http://schemas.microsoft.com/office/powerpoint/2010/main" val="20667959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emf"/><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emf"/><Relationship Id="rId4" Type="http://schemas.openxmlformats.org/officeDocument/2006/relationships/image" Target="../media/image18.emf"/></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15.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png"/><Relationship Id="rId3" Type="http://schemas.openxmlformats.org/officeDocument/2006/relationships/image" Target="../media/image43.png"/><Relationship Id="rId7" Type="http://schemas.openxmlformats.org/officeDocument/2006/relationships/image" Target="../media/image47.png"/><Relationship Id="rId12" Type="http://schemas.openxmlformats.org/officeDocument/2006/relationships/image" Target="../media/image52.emf"/><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6.emf"/><Relationship Id="rId11" Type="http://schemas.openxmlformats.org/officeDocument/2006/relationships/image" Target="../media/image51.png"/><Relationship Id="rId5" Type="http://schemas.openxmlformats.org/officeDocument/2006/relationships/image" Target="../media/image45.emf"/><Relationship Id="rId10" Type="http://schemas.openxmlformats.org/officeDocument/2006/relationships/image" Target="../media/image50.emf"/><Relationship Id="rId4" Type="http://schemas.openxmlformats.org/officeDocument/2006/relationships/image" Target="../media/image44.emf"/><Relationship Id="rId9" Type="http://schemas.openxmlformats.org/officeDocument/2006/relationships/image" Target="../media/image49.png"/></Relationships>
</file>

<file path=ppt/slides/_rels/slide1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dirty="0" smtClean="0">
                <a:solidFill>
                  <a:srgbClr val="C00000"/>
                </a:solidFill>
              </a:rPr>
              <a:t>Online Carrier Phase Shift Calculation to Reduce Common Mode Voltage</a:t>
            </a:r>
            <a:endParaRPr lang="sv-SE" dirty="0">
              <a:solidFill>
                <a:srgbClr val="C00000"/>
              </a:solidFill>
            </a:endParaRPr>
          </a:p>
        </p:txBody>
      </p:sp>
      <p:sp>
        <p:nvSpPr>
          <p:cNvPr id="3" name="Subtitle 2"/>
          <p:cNvSpPr>
            <a:spLocks noGrp="1"/>
          </p:cNvSpPr>
          <p:nvPr>
            <p:ph type="subTitle" idx="1"/>
          </p:nvPr>
        </p:nvSpPr>
        <p:spPr>
          <a:xfrm>
            <a:off x="1524000" y="3602038"/>
            <a:ext cx="9144000" cy="2935922"/>
          </a:xfrm>
        </p:spPr>
        <p:txBody>
          <a:bodyPr>
            <a:normAutofit fontScale="77500" lnSpcReduction="20000"/>
          </a:bodyPr>
          <a:lstStyle/>
          <a:p>
            <a:endParaRPr lang="en-US" dirty="0" smtClean="0"/>
          </a:p>
          <a:p>
            <a:r>
              <a:rPr lang="en-US" sz="3600" dirty="0" smtClean="0"/>
              <a:t>Enes </a:t>
            </a:r>
            <a:r>
              <a:rPr lang="en-US" sz="3600" dirty="0" smtClean="0"/>
              <a:t>Ayaz</a:t>
            </a:r>
          </a:p>
          <a:p>
            <a:r>
              <a:rPr lang="en-US" sz="3600" dirty="0"/>
              <a:t>	</a:t>
            </a:r>
            <a:endParaRPr lang="en-US" sz="3600" dirty="0" smtClean="0"/>
          </a:p>
          <a:p>
            <a:pPr algn="l"/>
            <a:r>
              <a:rPr lang="en-US" sz="2600" dirty="0" smtClean="0"/>
              <a:t>!!! </a:t>
            </a:r>
          </a:p>
          <a:p>
            <a:pPr algn="l"/>
            <a:r>
              <a:rPr lang="en-US" sz="2600" dirty="0" smtClean="0"/>
              <a:t>The presentation </a:t>
            </a:r>
            <a:r>
              <a:rPr lang="en-US" sz="2600" dirty="0" smtClean="0"/>
              <a:t>aims carrier phase shift of SPWM for  </a:t>
            </a:r>
            <a:r>
              <a:rPr lang="en-US" sz="2600" dirty="0" smtClean="0"/>
              <a:t>2L conventional inverter. </a:t>
            </a:r>
          </a:p>
          <a:p>
            <a:pPr algn="l"/>
            <a:r>
              <a:rPr lang="en-US" sz="2600" dirty="0" smtClean="0"/>
              <a:t>However, it should be noted that the proposed method could be expanded for other topology and modulations. It is actually necessity since 2L topology with SPWM could not be suitable for 300kW 1200 V EV drives regarding other concerns.</a:t>
            </a:r>
            <a:endParaRPr lang="sv-SE" sz="2600" dirty="0"/>
          </a:p>
        </p:txBody>
      </p:sp>
    </p:spTree>
    <p:extLst>
      <p:ext uri="{BB962C8B-B14F-4D97-AF65-F5344CB8AC3E}">
        <p14:creationId xmlns:p14="http://schemas.microsoft.com/office/powerpoint/2010/main" val="137922294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err="1">
                <a:solidFill>
                  <a:srgbClr val="C00000"/>
                </a:solidFill>
              </a:rPr>
              <a:t>Analytical</a:t>
            </a:r>
            <a:r>
              <a:rPr lang="sv-SE" b="1" dirty="0">
                <a:solidFill>
                  <a:srgbClr val="C00000"/>
                </a:solidFill>
              </a:rPr>
              <a:t> </a:t>
            </a:r>
            <a:r>
              <a:rPr lang="sv-SE" b="1" dirty="0" err="1" smtClean="0">
                <a:solidFill>
                  <a:srgbClr val="C00000"/>
                </a:solidFill>
              </a:rPr>
              <a:t>Analysis</a:t>
            </a:r>
            <a:r>
              <a:rPr lang="sv-SE" b="1" dirty="0" smtClean="0">
                <a:solidFill>
                  <a:srgbClr val="C00000"/>
                </a:solidFill>
              </a:rPr>
              <a:t> </a:t>
            </a:r>
            <a:r>
              <a:rPr lang="sv-SE" b="1" dirty="0" err="1" smtClean="0">
                <a:solidFill>
                  <a:srgbClr val="C00000"/>
                </a:solidFill>
              </a:rPr>
              <a:t>of</a:t>
            </a:r>
            <a:r>
              <a:rPr lang="sv-SE" b="1" dirty="0" smtClean="0">
                <a:solidFill>
                  <a:srgbClr val="C00000"/>
                </a:solidFill>
              </a:rPr>
              <a:t> </a:t>
            </a:r>
            <a:r>
              <a:rPr lang="sv-SE" b="1" dirty="0" err="1" smtClean="0">
                <a:solidFill>
                  <a:srgbClr val="C00000"/>
                </a:solidFill>
              </a:rPr>
              <a:t>carrier</a:t>
            </a:r>
            <a:r>
              <a:rPr lang="sv-SE" b="1" dirty="0" err="1">
                <a:solidFill>
                  <a:srgbClr val="C00000"/>
                </a:solidFill>
              </a:rPr>
              <a:t>-</a:t>
            </a:r>
            <a:r>
              <a:rPr lang="sv-SE" b="1" dirty="0" err="1" smtClean="0">
                <a:solidFill>
                  <a:srgbClr val="C00000"/>
                </a:solidFill>
              </a:rPr>
              <a:t>based</a:t>
            </a:r>
            <a:r>
              <a:rPr lang="sv-SE" b="1" dirty="0" smtClean="0">
                <a:solidFill>
                  <a:srgbClr val="C00000"/>
                </a:solidFill>
              </a:rPr>
              <a:t> PWM (CBPWM) (i.e. SPWM)</a:t>
            </a:r>
            <a:endParaRPr lang="sv-SE" b="1" dirty="0">
              <a:solidFill>
                <a:srgbClr val="C00000"/>
              </a:solidFill>
            </a:endParaRPr>
          </a:p>
        </p:txBody>
      </p:sp>
      <p:sp>
        <p:nvSpPr>
          <p:cNvPr id="3" name="Content Placeholder 2"/>
          <p:cNvSpPr>
            <a:spLocks noGrp="1"/>
          </p:cNvSpPr>
          <p:nvPr>
            <p:ph idx="1"/>
          </p:nvPr>
        </p:nvSpPr>
        <p:spPr/>
        <p:txBody>
          <a:bodyPr/>
          <a:lstStyle/>
          <a:p>
            <a:pPr marL="0" indent="0">
              <a:buNone/>
            </a:pPr>
            <a:r>
              <a:rPr lang="en-US" dirty="0" smtClean="0"/>
              <a:t>SPWM </a:t>
            </a:r>
            <a:r>
              <a:rPr lang="en-US" dirty="0"/>
              <a:t>is </a:t>
            </a:r>
            <a:r>
              <a:rPr lang="en-US" dirty="0" smtClean="0"/>
              <a:t>(or other CBPWMs can be) established </a:t>
            </a:r>
            <a:r>
              <a:rPr lang="en-US" dirty="0"/>
              <a:t>by comparing </a:t>
            </a:r>
            <a:r>
              <a:rPr lang="en-US" b="1" dirty="0"/>
              <a:t>a high-frequency triangular carrier signal </a:t>
            </a:r>
            <a:r>
              <a:rPr lang="en-US" dirty="0"/>
              <a:t>and a fundamental (modulating) signal. </a:t>
            </a:r>
            <a:endParaRPr lang="en-US" dirty="0" smtClean="0"/>
          </a:p>
          <a:p>
            <a:pPr marL="0" indent="0">
              <a:buNone/>
            </a:pPr>
            <a:r>
              <a:rPr lang="en-US" dirty="0" smtClean="0"/>
              <a:t>The </a:t>
            </a:r>
            <a:r>
              <a:rPr lang="en-US" dirty="0"/>
              <a:t>analytical model of </a:t>
            </a:r>
            <a:r>
              <a:rPr lang="en-US" dirty="0" smtClean="0"/>
              <a:t>SPWM (also can be called switching function) </a:t>
            </a:r>
            <a:r>
              <a:rPr lang="en-US" dirty="0"/>
              <a:t>can be obtained as given </a:t>
            </a:r>
            <a:r>
              <a:rPr lang="en-US" dirty="0" smtClean="0"/>
              <a:t>in below by  using Double Fourier analysis. </a:t>
            </a:r>
            <a:endParaRPr lang="sv-SE" dirty="0"/>
          </a:p>
        </p:txBody>
      </p:sp>
      <p:pic>
        <p:nvPicPr>
          <p:cNvPr id="4" name="Picture 3"/>
          <p:cNvPicPr>
            <a:picLocks noChangeAspect="1"/>
          </p:cNvPicPr>
          <p:nvPr/>
        </p:nvPicPr>
        <p:blipFill rotWithShape="1">
          <a:blip r:embed="rId2"/>
          <a:srcRect l="354" t="-547" r="-354" b="13814"/>
          <a:stretch/>
        </p:blipFill>
        <p:spPr>
          <a:xfrm>
            <a:off x="2297578" y="4114435"/>
            <a:ext cx="6377423" cy="2387965"/>
          </a:xfrm>
          <a:prstGeom prst="rect">
            <a:avLst/>
          </a:prstGeom>
        </p:spPr>
      </p:pic>
      <p:cxnSp>
        <p:nvCxnSpPr>
          <p:cNvPr id="6" name="Straight Arrow Connector 5"/>
          <p:cNvCxnSpPr/>
          <p:nvPr/>
        </p:nvCxnSpPr>
        <p:spPr>
          <a:xfrm flipH="1" flipV="1">
            <a:off x="1964638" y="4184650"/>
            <a:ext cx="973587" cy="163536"/>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386666" y="3979498"/>
            <a:ext cx="1711325" cy="369332"/>
          </a:xfrm>
          <a:prstGeom prst="rect">
            <a:avLst/>
          </a:prstGeom>
          <a:noFill/>
        </p:spPr>
        <p:txBody>
          <a:bodyPr wrap="square" rtlCol="0">
            <a:spAutoFit/>
          </a:bodyPr>
          <a:lstStyle/>
          <a:p>
            <a:r>
              <a:rPr lang="en-US" dirty="0" smtClean="0">
                <a:solidFill>
                  <a:schemeClr val="accent2"/>
                </a:solidFill>
              </a:rPr>
              <a:t>DC component</a:t>
            </a:r>
            <a:endParaRPr lang="sv-SE" dirty="0">
              <a:solidFill>
                <a:schemeClr val="accent2"/>
              </a:solidFill>
            </a:endParaRPr>
          </a:p>
        </p:txBody>
      </p:sp>
      <p:cxnSp>
        <p:nvCxnSpPr>
          <p:cNvPr id="13" name="Straight Arrow Connector 12"/>
          <p:cNvCxnSpPr>
            <a:stCxn id="29" idx="3"/>
          </p:cNvCxnSpPr>
          <p:nvPr/>
        </p:nvCxnSpPr>
        <p:spPr>
          <a:xfrm flipV="1">
            <a:off x="5334000" y="4114436"/>
            <a:ext cx="1235541" cy="26301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6699716" y="3929769"/>
            <a:ext cx="2797393" cy="369332"/>
          </a:xfrm>
          <a:prstGeom prst="rect">
            <a:avLst/>
          </a:prstGeom>
          <a:noFill/>
        </p:spPr>
        <p:txBody>
          <a:bodyPr wrap="square" rtlCol="0">
            <a:spAutoFit/>
          </a:bodyPr>
          <a:lstStyle/>
          <a:p>
            <a:r>
              <a:rPr lang="en-US" dirty="0" smtClean="0">
                <a:solidFill>
                  <a:schemeClr val="accent5"/>
                </a:solidFill>
              </a:rPr>
              <a:t>Fundamental components</a:t>
            </a:r>
            <a:endParaRPr lang="sv-SE" dirty="0">
              <a:solidFill>
                <a:schemeClr val="accent5"/>
              </a:solidFill>
            </a:endParaRPr>
          </a:p>
        </p:txBody>
      </p:sp>
      <p:cxnSp>
        <p:nvCxnSpPr>
          <p:cNvPr id="17" name="Straight Arrow Connector 16"/>
          <p:cNvCxnSpPr/>
          <p:nvPr/>
        </p:nvCxnSpPr>
        <p:spPr>
          <a:xfrm flipV="1">
            <a:off x="7828646" y="5206318"/>
            <a:ext cx="1179295" cy="1"/>
          </a:xfrm>
          <a:prstGeom prst="straightConnector1">
            <a:avLst/>
          </a:prstGeom>
          <a:ln>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9011800" y="4883152"/>
            <a:ext cx="2797393" cy="646331"/>
          </a:xfrm>
          <a:prstGeom prst="rect">
            <a:avLst/>
          </a:prstGeom>
          <a:noFill/>
        </p:spPr>
        <p:txBody>
          <a:bodyPr wrap="square" rtlCol="0">
            <a:spAutoFit/>
          </a:bodyPr>
          <a:lstStyle/>
          <a:p>
            <a:r>
              <a:rPr lang="en-US" dirty="0" smtClean="0">
                <a:solidFill>
                  <a:srgbClr val="92D050"/>
                </a:solidFill>
              </a:rPr>
              <a:t>Switching frequency and its harmonics</a:t>
            </a:r>
            <a:endParaRPr lang="sv-SE" dirty="0">
              <a:solidFill>
                <a:srgbClr val="92D050"/>
              </a:solidFill>
            </a:endParaRPr>
          </a:p>
        </p:txBody>
      </p:sp>
      <p:cxnSp>
        <p:nvCxnSpPr>
          <p:cNvPr id="20" name="Straight Arrow Connector 19"/>
          <p:cNvCxnSpPr/>
          <p:nvPr/>
        </p:nvCxnSpPr>
        <p:spPr>
          <a:xfrm>
            <a:off x="8299450" y="6113534"/>
            <a:ext cx="926851" cy="0"/>
          </a:xfrm>
          <a:prstGeom prst="straightConnector1">
            <a:avLst/>
          </a:prstGeom>
          <a:ln>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9226301" y="5928868"/>
            <a:ext cx="2797393" cy="369332"/>
          </a:xfrm>
          <a:prstGeom prst="rect">
            <a:avLst/>
          </a:prstGeom>
          <a:noFill/>
        </p:spPr>
        <p:txBody>
          <a:bodyPr wrap="square" rtlCol="0">
            <a:spAutoFit/>
          </a:bodyPr>
          <a:lstStyle/>
          <a:p>
            <a:r>
              <a:rPr lang="en-US" dirty="0" smtClean="0">
                <a:solidFill>
                  <a:srgbClr val="7030A0"/>
                </a:solidFill>
              </a:rPr>
              <a:t>Side band harmonics</a:t>
            </a:r>
            <a:endParaRPr lang="sv-SE" dirty="0">
              <a:solidFill>
                <a:srgbClr val="7030A0"/>
              </a:solidFill>
            </a:endParaRPr>
          </a:p>
        </p:txBody>
      </p:sp>
      <p:sp>
        <p:nvSpPr>
          <p:cNvPr id="23" name="Rectangle 22"/>
          <p:cNvSpPr/>
          <p:nvPr/>
        </p:nvSpPr>
        <p:spPr>
          <a:xfrm>
            <a:off x="2908300" y="4114435"/>
            <a:ext cx="316129" cy="584565"/>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9" name="Rectangle 28"/>
          <p:cNvSpPr/>
          <p:nvPr/>
        </p:nvSpPr>
        <p:spPr>
          <a:xfrm>
            <a:off x="3452829" y="4055903"/>
            <a:ext cx="1881171" cy="643097"/>
          </a:xfrm>
          <a:prstGeom prst="rect">
            <a:avLst/>
          </a:pr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1" name="Rectangle 30"/>
          <p:cNvSpPr/>
          <p:nvPr/>
        </p:nvSpPr>
        <p:spPr>
          <a:xfrm>
            <a:off x="3224429" y="4795837"/>
            <a:ext cx="4604217" cy="820964"/>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2" name="Rectangle 31"/>
          <p:cNvSpPr/>
          <p:nvPr/>
        </p:nvSpPr>
        <p:spPr>
          <a:xfrm>
            <a:off x="3224429" y="5713638"/>
            <a:ext cx="5075021" cy="847294"/>
          </a:xfrm>
          <a:prstGeom prst="rect">
            <a:avLst/>
          </a:prstGeom>
          <a:no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Tree>
    <p:extLst>
      <p:ext uri="{BB962C8B-B14F-4D97-AF65-F5344CB8AC3E}">
        <p14:creationId xmlns:p14="http://schemas.microsoft.com/office/powerpoint/2010/main" val="151103975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0600" y="324374"/>
            <a:ext cx="10795000" cy="1325563"/>
          </a:xfrm>
        </p:spPr>
        <p:txBody>
          <a:bodyPr/>
          <a:lstStyle/>
          <a:p>
            <a:r>
              <a:rPr lang="sv-SE" b="1" dirty="0" err="1">
                <a:solidFill>
                  <a:srgbClr val="C00000"/>
                </a:solidFill>
                <a:latin typeface="Calibri (Body)"/>
              </a:rPr>
              <a:t>Analytical</a:t>
            </a:r>
            <a:r>
              <a:rPr lang="sv-SE" b="1" dirty="0">
                <a:solidFill>
                  <a:srgbClr val="C00000"/>
                </a:solidFill>
                <a:latin typeface="Calibri (Body)"/>
              </a:rPr>
              <a:t> </a:t>
            </a:r>
            <a:r>
              <a:rPr lang="sv-SE" b="1" dirty="0" err="1" smtClean="0">
                <a:solidFill>
                  <a:srgbClr val="C00000"/>
                </a:solidFill>
                <a:latin typeface="Calibri (Body)"/>
              </a:rPr>
              <a:t>Analysis</a:t>
            </a:r>
            <a:r>
              <a:rPr lang="sv-SE" b="1" dirty="0" smtClean="0">
                <a:solidFill>
                  <a:srgbClr val="C00000"/>
                </a:solidFill>
                <a:latin typeface="Calibri (Body)"/>
              </a:rPr>
              <a:t> </a:t>
            </a:r>
            <a:r>
              <a:rPr lang="sv-SE" b="1" dirty="0" err="1" smtClean="0">
                <a:solidFill>
                  <a:srgbClr val="C00000"/>
                </a:solidFill>
                <a:latin typeface="Calibri (Body)"/>
              </a:rPr>
              <a:t>of</a:t>
            </a:r>
            <a:r>
              <a:rPr lang="sv-SE" b="1" dirty="0" smtClean="0">
                <a:solidFill>
                  <a:srgbClr val="C00000"/>
                </a:solidFill>
                <a:latin typeface="Calibri (Body)"/>
              </a:rPr>
              <a:t> PWM (i.e. SPWM)</a:t>
            </a:r>
            <a:endParaRPr lang="sv-SE" b="1" dirty="0">
              <a:solidFill>
                <a:srgbClr val="C00000"/>
              </a:solidFill>
              <a:latin typeface="Calibri (Body)"/>
            </a:endParaRPr>
          </a:p>
        </p:txBody>
      </p:sp>
      <p:sp>
        <p:nvSpPr>
          <p:cNvPr id="8" name="Rectangle 7"/>
          <p:cNvSpPr/>
          <p:nvPr/>
        </p:nvSpPr>
        <p:spPr>
          <a:xfrm>
            <a:off x="5350106" y="2066690"/>
            <a:ext cx="5384463" cy="646331"/>
          </a:xfrm>
          <a:prstGeom prst="rect">
            <a:avLst/>
          </a:prstGeom>
        </p:spPr>
        <p:txBody>
          <a:bodyPr wrap="square">
            <a:spAutoFit/>
          </a:bodyPr>
          <a:lstStyle/>
          <a:p>
            <a:r>
              <a:rPr lang="en-US" dirty="0" smtClean="0">
                <a:latin typeface="Calibri (Body)"/>
              </a:rPr>
              <a:t>We can calculate the voltage harmonics by using the switching functions.</a:t>
            </a:r>
            <a:endParaRPr lang="sv-SE" dirty="0">
              <a:latin typeface="Calibri (Body)"/>
            </a:endParaRPr>
          </a:p>
        </p:txBody>
      </p:sp>
      <p:pic>
        <p:nvPicPr>
          <p:cNvPr id="10" name="Picture 9"/>
          <p:cNvPicPr>
            <a:picLocks noChangeAspect="1"/>
          </p:cNvPicPr>
          <p:nvPr/>
        </p:nvPicPr>
        <p:blipFill rotWithShape="1">
          <a:blip r:embed="rId2"/>
          <a:srcRect r="996"/>
          <a:stretch/>
        </p:blipFill>
        <p:spPr>
          <a:xfrm>
            <a:off x="1898527" y="1538810"/>
            <a:ext cx="2519485" cy="2356924"/>
          </a:xfrm>
          <a:prstGeom prst="rect">
            <a:avLst/>
          </a:prstGeom>
        </p:spPr>
      </p:pic>
      <mc:AlternateContent xmlns:mc="http://schemas.openxmlformats.org/markup-compatibility/2006">
        <mc:Choice xmlns:a14="http://schemas.microsoft.com/office/drawing/2010/main" Requires="a14">
          <p:sp>
            <p:nvSpPr>
              <p:cNvPr id="11" name="TextBox 10"/>
              <p:cNvSpPr txBox="1"/>
              <p:nvPr/>
            </p:nvSpPr>
            <p:spPr>
              <a:xfrm>
                <a:off x="5332778" y="2812220"/>
                <a:ext cx="232066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libri (Body)"/>
                            </a:rPr>
                          </m:ctrlPr>
                        </m:sSubPr>
                        <m:e>
                          <m:r>
                            <a:rPr lang="en-US" b="0" i="1" smtClean="0">
                              <a:latin typeface="Calibri (Body)"/>
                            </a:rPr>
                            <m:t>𝑉</m:t>
                          </m:r>
                        </m:e>
                        <m:sub>
                          <m:r>
                            <a:rPr lang="en-US" b="0" i="1" smtClean="0">
                              <a:latin typeface="Calibri (Body)"/>
                            </a:rPr>
                            <m:t>𝐴</m:t>
                          </m:r>
                        </m:sub>
                      </m:sSub>
                      <m:r>
                        <a:rPr lang="en-US" b="0" i="1" smtClean="0">
                          <a:latin typeface="Calibri (Body)"/>
                        </a:rPr>
                        <m:t>= </m:t>
                      </m:r>
                      <m:sSub>
                        <m:sSubPr>
                          <m:ctrlPr>
                            <a:rPr lang="en-US" b="0" i="1" smtClean="0">
                              <a:latin typeface="Calibri (Body)"/>
                            </a:rPr>
                          </m:ctrlPr>
                        </m:sSubPr>
                        <m:e>
                          <m:r>
                            <a:rPr lang="en-US" b="0" i="1" smtClean="0">
                              <a:latin typeface="Calibri (Body)"/>
                            </a:rPr>
                            <m:t>𝑆</m:t>
                          </m:r>
                        </m:e>
                        <m:sub>
                          <m:r>
                            <a:rPr lang="en-US" b="0" i="1" smtClean="0">
                              <a:latin typeface="Calibri (Body)"/>
                            </a:rPr>
                            <m:t>𝐴</m:t>
                          </m:r>
                        </m:sub>
                      </m:sSub>
                      <m:r>
                        <a:rPr lang="en-US" b="0" i="1" smtClean="0">
                          <a:latin typeface="Calibri (Body)"/>
                        </a:rPr>
                        <m:t> </m:t>
                      </m:r>
                      <m:sSub>
                        <m:sSubPr>
                          <m:ctrlPr>
                            <a:rPr lang="en-US" b="0" i="1" smtClean="0">
                              <a:latin typeface="Calibri (Body)"/>
                            </a:rPr>
                          </m:ctrlPr>
                        </m:sSubPr>
                        <m:e>
                          <m:r>
                            <a:rPr lang="en-US" b="0" i="1" smtClean="0">
                              <a:latin typeface="Calibri (Body)"/>
                            </a:rPr>
                            <m:t>𝑉</m:t>
                          </m:r>
                        </m:e>
                        <m:sub>
                          <m:r>
                            <a:rPr lang="en-US" b="0" i="1" smtClean="0">
                              <a:latin typeface="Calibri (Body)"/>
                            </a:rPr>
                            <m:t>𝐷𝐶</m:t>
                          </m:r>
                        </m:sub>
                      </m:sSub>
                    </m:oMath>
                  </m:oMathPara>
                </a14:m>
                <a:endParaRPr lang="sv-SE" dirty="0">
                  <a:latin typeface="Calibri (Body)"/>
                </a:endParaRPr>
              </a:p>
            </p:txBody>
          </p:sp>
        </mc:Choice>
        <mc:Fallback>
          <p:sp>
            <p:nvSpPr>
              <p:cNvPr id="11" name="TextBox 10"/>
              <p:cNvSpPr txBox="1">
                <a:spLocks noRot="1" noChangeAspect="1" noMove="1" noResize="1" noEditPoints="1" noAdjustHandles="1" noChangeArrowheads="1" noChangeShapeType="1" noTextEdit="1"/>
              </p:cNvSpPr>
              <p:nvPr/>
            </p:nvSpPr>
            <p:spPr>
              <a:xfrm>
                <a:off x="5332778" y="2812220"/>
                <a:ext cx="2320664"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2" name="Rectangle 11"/>
              <p:cNvSpPr/>
              <p:nvPr/>
            </p:nvSpPr>
            <p:spPr>
              <a:xfrm>
                <a:off x="5675600" y="3181552"/>
                <a:ext cx="2595169" cy="369332"/>
              </a:xfrm>
              <a:prstGeom prst="rect">
                <a:avLst/>
              </a:prstGeom>
            </p:spPr>
            <p:txBody>
              <a:bodyPr wrap="square">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libri (Body)"/>
                            </a:rPr>
                          </m:ctrlPr>
                        </m:sSubPr>
                        <m:e>
                          <m:r>
                            <a:rPr lang="en-US" b="0" i="1" smtClean="0">
                              <a:latin typeface="Calibri (Body)"/>
                            </a:rPr>
                            <m:t>𝑉</m:t>
                          </m:r>
                        </m:e>
                        <m:sub>
                          <m:r>
                            <a:rPr lang="en-US" b="0" i="1" smtClean="0">
                              <a:latin typeface="Calibri (Body)"/>
                            </a:rPr>
                            <m:t>𝐴𝐵</m:t>
                          </m:r>
                        </m:sub>
                      </m:sSub>
                      <m:r>
                        <a:rPr lang="en-US" b="0" i="1" smtClean="0">
                          <a:latin typeface="Calibri (Body)"/>
                        </a:rPr>
                        <m:t>= </m:t>
                      </m:r>
                      <m:sSub>
                        <m:sSubPr>
                          <m:ctrlPr>
                            <a:rPr lang="en-US" i="1">
                              <a:latin typeface="Calibri (Body)"/>
                            </a:rPr>
                          </m:ctrlPr>
                        </m:sSubPr>
                        <m:e>
                          <m:r>
                            <a:rPr lang="en-US" i="1">
                              <a:latin typeface="Calibri (Body)"/>
                            </a:rPr>
                            <m:t>𝑆</m:t>
                          </m:r>
                        </m:e>
                        <m:sub>
                          <m:r>
                            <a:rPr lang="en-US" i="1">
                              <a:latin typeface="Calibri (Body)"/>
                            </a:rPr>
                            <m:t>𝐴</m:t>
                          </m:r>
                        </m:sub>
                      </m:sSub>
                      <m:r>
                        <a:rPr lang="en-US" i="1">
                          <a:latin typeface="Calibri (Body)"/>
                        </a:rPr>
                        <m:t> </m:t>
                      </m:r>
                      <m:sSub>
                        <m:sSubPr>
                          <m:ctrlPr>
                            <a:rPr lang="en-US" i="1">
                              <a:latin typeface="Calibri (Body)"/>
                            </a:rPr>
                          </m:ctrlPr>
                        </m:sSubPr>
                        <m:e>
                          <m:r>
                            <a:rPr lang="en-US" i="1">
                              <a:latin typeface="Calibri (Body)"/>
                            </a:rPr>
                            <m:t>𝑉</m:t>
                          </m:r>
                        </m:e>
                        <m:sub>
                          <m:r>
                            <a:rPr lang="en-US" i="1">
                              <a:latin typeface="Calibri (Body)"/>
                            </a:rPr>
                            <m:t>𝐷𝐶</m:t>
                          </m:r>
                        </m:sub>
                      </m:sSub>
                      <m:r>
                        <a:rPr lang="en-US" b="0" i="1" smtClean="0">
                          <a:latin typeface="Calibri (Body)"/>
                        </a:rPr>
                        <m:t>−</m:t>
                      </m:r>
                      <m:sSub>
                        <m:sSubPr>
                          <m:ctrlPr>
                            <a:rPr lang="en-US" i="1">
                              <a:latin typeface="Calibri (Body)"/>
                            </a:rPr>
                          </m:ctrlPr>
                        </m:sSubPr>
                        <m:e>
                          <m:r>
                            <a:rPr lang="en-US" i="1">
                              <a:latin typeface="Calibri (Body)"/>
                            </a:rPr>
                            <m:t>𝑆</m:t>
                          </m:r>
                        </m:e>
                        <m:sub>
                          <m:r>
                            <a:rPr lang="en-US" b="0" i="1" smtClean="0">
                              <a:latin typeface="Calibri (Body)"/>
                            </a:rPr>
                            <m:t>𝐵</m:t>
                          </m:r>
                        </m:sub>
                      </m:sSub>
                      <m:r>
                        <a:rPr lang="en-US" i="1">
                          <a:latin typeface="Calibri (Body)"/>
                        </a:rPr>
                        <m:t> </m:t>
                      </m:r>
                      <m:sSub>
                        <m:sSubPr>
                          <m:ctrlPr>
                            <a:rPr lang="en-US" i="1">
                              <a:latin typeface="Calibri (Body)"/>
                            </a:rPr>
                          </m:ctrlPr>
                        </m:sSubPr>
                        <m:e>
                          <m:r>
                            <a:rPr lang="en-US" i="1">
                              <a:latin typeface="Calibri (Body)"/>
                            </a:rPr>
                            <m:t>𝑉</m:t>
                          </m:r>
                        </m:e>
                        <m:sub>
                          <m:r>
                            <a:rPr lang="en-US" i="1">
                              <a:latin typeface="Calibri (Body)"/>
                            </a:rPr>
                            <m:t>𝐷𝐶</m:t>
                          </m:r>
                        </m:sub>
                      </m:sSub>
                    </m:oMath>
                  </m:oMathPara>
                </a14:m>
                <a:endParaRPr lang="sv-SE" dirty="0">
                  <a:latin typeface="Calibri (Body)"/>
                </a:endParaRPr>
              </a:p>
            </p:txBody>
          </p:sp>
        </mc:Choice>
        <mc:Fallback>
          <p:sp>
            <p:nvSpPr>
              <p:cNvPr id="12" name="Rectangle 11"/>
              <p:cNvSpPr>
                <a:spLocks noRot="1" noChangeAspect="1" noMove="1" noResize="1" noEditPoints="1" noAdjustHandles="1" noChangeArrowheads="1" noChangeShapeType="1" noTextEdit="1"/>
              </p:cNvSpPr>
              <p:nvPr/>
            </p:nvSpPr>
            <p:spPr>
              <a:xfrm>
                <a:off x="5675600" y="3181552"/>
                <a:ext cx="2595169" cy="369332"/>
              </a:xfrm>
              <a:prstGeom prst="rect">
                <a:avLst/>
              </a:prstGeom>
              <a:blipFill>
                <a:blip r:embed="rId4"/>
                <a:stretch>
                  <a:fillRect b="-1667"/>
                </a:stretch>
              </a:blipFill>
            </p:spPr>
            <p:txBody>
              <a:bodyPr/>
              <a:lstStyle/>
              <a:p>
                <a:r>
                  <a:rPr lang="sv-SE">
                    <a:noFill/>
                  </a:rPr>
                  <a:t> </a:t>
                </a:r>
              </a:p>
            </p:txBody>
          </p:sp>
        </mc:Fallback>
      </mc:AlternateContent>
      <p:pic>
        <p:nvPicPr>
          <p:cNvPr id="14" name="Picture 13"/>
          <p:cNvPicPr>
            <a:picLocks noChangeAspect="1"/>
          </p:cNvPicPr>
          <p:nvPr/>
        </p:nvPicPr>
        <p:blipFill>
          <a:blip r:embed="rId5"/>
          <a:stretch>
            <a:fillRect/>
          </a:stretch>
        </p:blipFill>
        <p:spPr>
          <a:xfrm>
            <a:off x="1317011" y="3875304"/>
            <a:ext cx="3826489" cy="2812788"/>
          </a:xfrm>
          <a:prstGeom prst="rect">
            <a:avLst/>
          </a:prstGeom>
        </p:spPr>
      </p:pic>
      <p:sp>
        <p:nvSpPr>
          <p:cNvPr id="15" name="Rectangle 14"/>
          <p:cNvSpPr/>
          <p:nvPr/>
        </p:nvSpPr>
        <p:spPr>
          <a:xfrm>
            <a:off x="5578537" y="4433170"/>
            <a:ext cx="5384463" cy="2031325"/>
          </a:xfrm>
          <a:prstGeom prst="rect">
            <a:avLst/>
          </a:prstGeom>
        </p:spPr>
        <p:txBody>
          <a:bodyPr wrap="square">
            <a:spAutoFit/>
          </a:bodyPr>
          <a:lstStyle/>
          <a:p>
            <a:r>
              <a:rPr lang="en-US" dirty="0" smtClean="0">
                <a:latin typeface="Calibri (Body)"/>
              </a:rPr>
              <a:t>The </a:t>
            </a:r>
            <a:r>
              <a:rPr lang="en-US" dirty="0">
                <a:latin typeface="Calibri (Body)"/>
              </a:rPr>
              <a:t>magnitudes of switching harmonics and their sidebands cannot be adjusted independently, and they change along with the modulation </a:t>
            </a:r>
            <a:r>
              <a:rPr lang="en-US" dirty="0" smtClean="0">
                <a:latin typeface="Calibri (Body)"/>
              </a:rPr>
              <a:t>index. </a:t>
            </a:r>
          </a:p>
          <a:p>
            <a:endParaRPr lang="en-US" dirty="0">
              <a:latin typeface="Calibri (Body)"/>
            </a:endParaRPr>
          </a:p>
          <a:p>
            <a:r>
              <a:rPr lang="en-US" dirty="0" smtClean="0">
                <a:latin typeface="Calibri (Body)"/>
              </a:rPr>
              <a:t>The dominant components are : </a:t>
            </a:r>
          </a:p>
          <a:p>
            <a:r>
              <a:rPr lang="en-US" dirty="0"/>
              <a:t>1) dc; 2) fundamental; 3) </a:t>
            </a:r>
            <a:r>
              <a:rPr lang="en-US" dirty="0" smtClean="0"/>
              <a:t>the first switching harmonic; </a:t>
            </a:r>
            <a:r>
              <a:rPr lang="en-US" dirty="0"/>
              <a:t>4) </a:t>
            </a:r>
            <a:r>
              <a:rPr lang="en-US" dirty="0" smtClean="0"/>
              <a:t>sidebands of the first switching</a:t>
            </a:r>
            <a:r>
              <a:rPr lang="en-US" dirty="0"/>
              <a:t> harmonic</a:t>
            </a:r>
            <a:r>
              <a:rPr lang="en-US" dirty="0" smtClean="0"/>
              <a:t>.</a:t>
            </a:r>
            <a:r>
              <a:rPr lang="en-US" dirty="0" smtClean="0">
                <a:latin typeface="Calibri (Body)"/>
              </a:rPr>
              <a:t> </a:t>
            </a:r>
            <a:endParaRPr lang="sv-SE" dirty="0">
              <a:latin typeface="Calibri (Body)"/>
            </a:endParaRPr>
          </a:p>
        </p:txBody>
      </p:sp>
    </p:spTree>
    <p:extLst>
      <p:ext uri="{BB962C8B-B14F-4D97-AF65-F5344CB8AC3E}">
        <p14:creationId xmlns:p14="http://schemas.microsoft.com/office/powerpoint/2010/main" val="151569928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err="1">
                <a:solidFill>
                  <a:srgbClr val="C00000"/>
                </a:solidFill>
              </a:rPr>
              <a:t>Analytical</a:t>
            </a:r>
            <a:r>
              <a:rPr lang="sv-SE" b="1" dirty="0">
                <a:solidFill>
                  <a:srgbClr val="C00000"/>
                </a:solidFill>
              </a:rPr>
              <a:t> </a:t>
            </a:r>
            <a:r>
              <a:rPr lang="sv-SE" b="1" dirty="0" err="1" smtClean="0">
                <a:solidFill>
                  <a:srgbClr val="C00000"/>
                </a:solidFill>
              </a:rPr>
              <a:t>Analysis</a:t>
            </a:r>
            <a:r>
              <a:rPr lang="sv-SE" b="1" dirty="0" smtClean="0">
                <a:solidFill>
                  <a:srgbClr val="C00000"/>
                </a:solidFill>
              </a:rPr>
              <a:t> </a:t>
            </a:r>
            <a:r>
              <a:rPr lang="sv-SE" b="1" dirty="0" err="1" smtClean="0">
                <a:solidFill>
                  <a:srgbClr val="C00000"/>
                </a:solidFill>
              </a:rPr>
              <a:t>of</a:t>
            </a:r>
            <a:r>
              <a:rPr lang="sv-SE" b="1" dirty="0" smtClean="0">
                <a:solidFill>
                  <a:srgbClr val="C00000"/>
                </a:solidFill>
              </a:rPr>
              <a:t> PWM (i.e. SPWM)</a:t>
            </a:r>
            <a:endParaRPr lang="sv-SE" b="1" dirty="0">
              <a:solidFill>
                <a:srgbClr val="C00000"/>
              </a:solidFill>
            </a:endParaRPr>
          </a:p>
        </p:txBody>
      </p:sp>
      <p:sp>
        <p:nvSpPr>
          <p:cNvPr id="3" name="Rectangle 2"/>
          <p:cNvSpPr/>
          <p:nvPr/>
        </p:nvSpPr>
        <p:spPr>
          <a:xfrm>
            <a:off x="1054100" y="1453764"/>
            <a:ext cx="10299700" cy="646331"/>
          </a:xfrm>
          <a:prstGeom prst="rect">
            <a:avLst/>
          </a:prstGeom>
        </p:spPr>
        <p:txBody>
          <a:bodyPr wrap="square">
            <a:spAutoFit/>
          </a:bodyPr>
          <a:lstStyle/>
          <a:p>
            <a:r>
              <a:rPr lang="en-US" dirty="0" smtClean="0"/>
              <a:t>For the conventional SPWM with single carrier signal, the phases </a:t>
            </a:r>
            <a:r>
              <a:rPr lang="en-US" dirty="0"/>
              <a:t>of </a:t>
            </a:r>
            <a:r>
              <a:rPr lang="en-US" dirty="0" smtClean="0"/>
              <a:t>these dominant </a:t>
            </a:r>
            <a:r>
              <a:rPr lang="en-US" dirty="0"/>
              <a:t>components vary for each leg of the inverter, and they </a:t>
            </a:r>
            <a:r>
              <a:rPr lang="en-US" dirty="0" smtClean="0"/>
              <a:t>create </a:t>
            </a:r>
            <a:r>
              <a:rPr lang="en-US" b="1" dirty="0"/>
              <a:t>positive,</a:t>
            </a:r>
            <a:r>
              <a:rPr lang="en-US" dirty="0"/>
              <a:t> </a:t>
            </a:r>
            <a:r>
              <a:rPr lang="en-US" b="1" dirty="0"/>
              <a:t>negative</a:t>
            </a:r>
            <a:r>
              <a:rPr lang="en-US" dirty="0"/>
              <a:t>, or </a:t>
            </a:r>
            <a:r>
              <a:rPr lang="en-US" b="1" dirty="0"/>
              <a:t>zero </a:t>
            </a:r>
            <a:r>
              <a:rPr lang="en-US" b="1" dirty="0" smtClean="0"/>
              <a:t>sequence </a:t>
            </a:r>
            <a:r>
              <a:rPr lang="en-US" dirty="0" smtClean="0"/>
              <a:t>voltage harmonics. </a:t>
            </a:r>
            <a:endParaRPr lang="sv-SE" dirty="0"/>
          </a:p>
        </p:txBody>
      </p:sp>
      <p:pic>
        <p:nvPicPr>
          <p:cNvPr id="4" name="Picture 3"/>
          <p:cNvPicPr>
            <a:picLocks noChangeAspect="1"/>
          </p:cNvPicPr>
          <p:nvPr/>
        </p:nvPicPr>
        <p:blipFill>
          <a:blip r:embed="rId2"/>
          <a:stretch>
            <a:fillRect/>
          </a:stretch>
        </p:blipFill>
        <p:spPr>
          <a:xfrm>
            <a:off x="2743200" y="2140169"/>
            <a:ext cx="5715000" cy="1847850"/>
          </a:xfrm>
          <a:prstGeom prst="rect">
            <a:avLst/>
          </a:prstGeom>
        </p:spPr>
      </p:pic>
      <p:sp>
        <p:nvSpPr>
          <p:cNvPr id="9" name="Rectangle 8"/>
          <p:cNvSpPr/>
          <p:nvPr/>
        </p:nvSpPr>
        <p:spPr>
          <a:xfrm>
            <a:off x="1149350" y="3927386"/>
            <a:ext cx="10204450" cy="646331"/>
          </a:xfrm>
          <a:prstGeom prst="rect">
            <a:avLst/>
          </a:prstGeom>
        </p:spPr>
        <p:txBody>
          <a:bodyPr wrap="square">
            <a:spAutoFit/>
          </a:bodyPr>
          <a:lstStyle/>
          <a:p>
            <a:r>
              <a:rPr lang="en-US" dirty="0" smtClean="0"/>
              <a:t>While the </a:t>
            </a:r>
            <a:r>
              <a:rPr lang="en-US" b="1" dirty="0" smtClean="0"/>
              <a:t>positive and negative sequence </a:t>
            </a:r>
            <a:r>
              <a:rPr lang="en-US" dirty="0" smtClean="0"/>
              <a:t>voltage harmonics </a:t>
            </a:r>
            <a:r>
              <a:rPr lang="en-US" b="1" dirty="0" smtClean="0"/>
              <a:t>create differential-mode current harmonics</a:t>
            </a:r>
            <a:r>
              <a:rPr lang="en-US" dirty="0" smtClean="0"/>
              <a:t>, </a:t>
            </a:r>
            <a:r>
              <a:rPr lang="en-US" b="1" dirty="0" smtClean="0"/>
              <a:t>zero sequence </a:t>
            </a:r>
            <a:r>
              <a:rPr lang="en-US" dirty="0"/>
              <a:t>voltage </a:t>
            </a:r>
            <a:r>
              <a:rPr lang="en-US" dirty="0" smtClean="0"/>
              <a:t>harmonics </a:t>
            </a:r>
            <a:r>
              <a:rPr lang="en-US" b="1" dirty="0" smtClean="0"/>
              <a:t>create common-mode current harmonics</a:t>
            </a:r>
            <a:r>
              <a:rPr lang="en-US" dirty="0" smtClean="0"/>
              <a:t>. </a:t>
            </a:r>
            <a:endParaRPr lang="sv-SE" dirty="0"/>
          </a:p>
        </p:txBody>
      </p:sp>
      <p:cxnSp>
        <p:nvCxnSpPr>
          <p:cNvPr id="15" name="Straight Arrow Connector 14"/>
          <p:cNvCxnSpPr/>
          <p:nvPr/>
        </p:nvCxnSpPr>
        <p:spPr>
          <a:xfrm flipV="1">
            <a:off x="2650728" y="5129953"/>
            <a:ext cx="705246" cy="218107"/>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2650728" y="5348060"/>
            <a:ext cx="0" cy="58030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H="1" flipV="1">
            <a:off x="1963738" y="5137021"/>
            <a:ext cx="705245" cy="211039"/>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58" name="TextBox 57"/>
          <p:cNvSpPr txBox="1"/>
          <p:nvPr/>
        </p:nvSpPr>
        <p:spPr>
          <a:xfrm>
            <a:off x="3451860" y="4876800"/>
            <a:ext cx="350520" cy="369332"/>
          </a:xfrm>
          <a:prstGeom prst="rect">
            <a:avLst/>
          </a:prstGeom>
          <a:noFill/>
        </p:spPr>
        <p:txBody>
          <a:bodyPr wrap="square" rtlCol="0">
            <a:spAutoFit/>
          </a:bodyPr>
          <a:lstStyle/>
          <a:p>
            <a:r>
              <a:rPr lang="en-US" dirty="0" smtClean="0"/>
              <a:t>A</a:t>
            </a:r>
            <a:endParaRPr lang="sv-SE" dirty="0"/>
          </a:p>
        </p:txBody>
      </p:sp>
      <p:sp>
        <p:nvSpPr>
          <p:cNvPr id="59" name="TextBox 58"/>
          <p:cNvSpPr txBox="1"/>
          <p:nvPr/>
        </p:nvSpPr>
        <p:spPr>
          <a:xfrm>
            <a:off x="1781453" y="4799955"/>
            <a:ext cx="350520" cy="369332"/>
          </a:xfrm>
          <a:prstGeom prst="rect">
            <a:avLst/>
          </a:prstGeom>
          <a:noFill/>
        </p:spPr>
        <p:txBody>
          <a:bodyPr wrap="square" rtlCol="0">
            <a:spAutoFit/>
          </a:bodyPr>
          <a:lstStyle/>
          <a:p>
            <a:r>
              <a:rPr lang="en-US" dirty="0" smtClean="0"/>
              <a:t>B</a:t>
            </a:r>
            <a:endParaRPr lang="sv-SE" dirty="0"/>
          </a:p>
        </p:txBody>
      </p:sp>
      <p:sp>
        <p:nvSpPr>
          <p:cNvPr id="60" name="TextBox 59"/>
          <p:cNvSpPr txBox="1"/>
          <p:nvPr/>
        </p:nvSpPr>
        <p:spPr>
          <a:xfrm>
            <a:off x="2493723" y="5928360"/>
            <a:ext cx="350520" cy="369332"/>
          </a:xfrm>
          <a:prstGeom prst="rect">
            <a:avLst/>
          </a:prstGeom>
          <a:noFill/>
        </p:spPr>
        <p:txBody>
          <a:bodyPr wrap="square" rtlCol="0">
            <a:spAutoFit/>
          </a:bodyPr>
          <a:lstStyle/>
          <a:p>
            <a:r>
              <a:rPr lang="en-US" dirty="0" smtClean="0"/>
              <a:t>C</a:t>
            </a:r>
            <a:endParaRPr lang="sv-SE" dirty="0"/>
          </a:p>
        </p:txBody>
      </p:sp>
      <p:sp>
        <p:nvSpPr>
          <p:cNvPr id="62" name="Arc 61"/>
          <p:cNvSpPr/>
          <p:nvPr/>
        </p:nvSpPr>
        <p:spPr>
          <a:xfrm rot="7995084">
            <a:off x="2590493" y="5343528"/>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64" name="Arc 63"/>
          <p:cNvSpPr/>
          <p:nvPr/>
        </p:nvSpPr>
        <p:spPr>
          <a:xfrm rot="13679747">
            <a:off x="2309094" y="535518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65" name="Arc 64"/>
          <p:cNvSpPr/>
          <p:nvPr/>
        </p:nvSpPr>
        <p:spPr>
          <a:xfrm>
            <a:off x="2371243" y="5113774"/>
            <a:ext cx="577090" cy="264715"/>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mc:Choice xmlns:a14="http://schemas.microsoft.com/office/drawing/2010/main" Requires="a14">
          <p:sp>
            <p:nvSpPr>
              <p:cNvPr id="67" name="TextBox 66"/>
              <p:cNvSpPr txBox="1"/>
              <p:nvPr/>
            </p:nvSpPr>
            <p:spPr>
              <a:xfrm>
                <a:off x="2376694" y="4785525"/>
                <a:ext cx="601661"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p:sp>
            <p:nvSpPr>
              <p:cNvPr id="67" name="TextBox 66"/>
              <p:cNvSpPr txBox="1">
                <a:spLocks noRot="1" noChangeAspect="1" noMove="1" noResize="1" noEditPoints="1" noAdjustHandles="1" noChangeArrowheads="1" noChangeShapeType="1" noTextEdit="1"/>
              </p:cNvSpPr>
              <p:nvPr/>
            </p:nvSpPr>
            <p:spPr>
              <a:xfrm>
                <a:off x="2376694" y="4785525"/>
                <a:ext cx="601661" cy="369332"/>
              </a:xfrm>
              <a:prstGeom prst="rect">
                <a:avLst/>
              </a:prstGeom>
              <a:blipFill>
                <a:blip r:embed="rId3"/>
                <a:stretch>
                  <a:fillRect r="-2020"/>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68" name="TextBox 67"/>
              <p:cNvSpPr txBox="1"/>
              <p:nvPr/>
            </p:nvSpPr>
            <p:spPr>
              <a:xfrm>
                <a:off x="2759690" y="5391578"/>
                <a:ext cx="601661"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p:sp>
            <p:nvSpPr>
              <p:cNvPr id="68" name="TextBox 67"/>
              <p:cNvSpPr txBox="1">
                <a:spLocks noRot="1" noChangeAspect="1" noMove="1" noResize="1" noEditPoints="1" noAdjustHandles="1" noChangeArrowheads="1" noChangeShapeType="1" noTextEdit="1"/>
              </p:cNvSpPr>
              <p:nvPr/>
            </p:nvSpPr>
            <p:spPr>
              <a:xfrm>
                <a:off x="2759690" y="5391578"/>
                <a:ext cx="601661" cy="369332"/>
              </a:xfrm>
              <a:prstGeom prst="rect">
                <a:avLst/>
              </a:prstGeom>
              <a:blipFill>
                <a:blip r:embed="rId4"/>
                <a:stretch>
                  <a:fillRect r="-3061"/>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69" name="TextBox 68"/>
              <p:cNvSpPr txBox="1"/>
              <p:nvPr/>
            </p:nvSpPr>
            <p:spPr>
              <a:xfrm>
                <a:off x="1885089" y="5432561"/>
                <a:ext cx="601661"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p:sp>
            <p:nvSpPr>
              <p:cNvPr id="69" name="TextBox 68"/>
              <p:cNvSpPr txBox="1">
                <a:spLocks noRot="1" noChangeAspect="1" noMove="1" noResize="1" noEditPoints="1" noAdjustHandles="1" noChangeArrowheads="1" noChangeShapeType="1" noTextEdit="1"/>
              </p:cNvSpPr>
              <p:nvPr/>
            </p:nvSpPr>
            <p:spPr>
              <a:xfrm>
                <a:off x="1885089" y="5432561"/>
                <a:ext cx="601661" cy="369332"/>
              </a:xfrm>
              <a:prstGeom prst="rect">
                <a:avLst/>
              </a:prstGeom>
              <a:blipFill>
                <a:blip r:embed="rId5"/>
                <a:stretch>
                  <a:fillRect r="-3030"/>
                </a:stretch>
              </a:blipFill>
            </p:spPr>
            <p:txBody>
              <a:bodyPr/>
              <a:lstStyle/>
              <a:p>
                <a:r>
                  <a:rPr lang="sv-SE">
                    <a:noFill/>
                  </a:rPr>
                  <a:t> </a:t>
                </a:r>
              </a:p>
            </p:txBody>
          </p:sp>
        </mc:Fallback>
      </mc:AlternateContent>
      <p:cxnSp>
        <p:nvCxnSpPr>
          <p:cNvPr id="70" name="Straight Arrow Connector 69"/>
          <p:cNvCxnSpPr/>
          <p:nvPr/>
        </p:nvCxnSpPr>
        <p:spPr>
          <a:xfrm flipV="1">
            <a:off x="5691053" y="5045803"/>
            <a:ext cx="705246" cy="218107"/>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a:off x="5691053" y="5263910"/>
            <a:ext cx="0" cy="58030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flipH="1" flipV="1">
            <a:off x="5004063" y="5052871"/>
            <a:ext cx="705245" cy="211039"/>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3" name="TextBox 72"/>
          <p:cNvSpPr txBox="1"/>
          <p:nvPr/>
        </p:nvSpPr>
        <p:spPr>
          <a:xfrm>
            <a:off x="6492185" y="4792650"/>
            <a:ext cx="350520" cy="369332"/>
          </a:xfrm>
          <a:prstGeom prst="rect">
            <a:avLst/>
          </a:prstGeom>
          <a:noFill/>
        </p:spPr>
        <p:txBody>
          <a:bodyPr wrap="square" rtlCol="0">
            <a:spAutoFit/>
          </a:bodyPr>
          <a:lstStyle/>
          <a:p>
            <a:r>
              <a:rPr lang="en-US" dirty="0" smtClean="0"/>
              <a:t>A</a:t>
            </a:r>
            <a:endParaRPr lang="sv-SE" dirty="0"/>
          </a:p>
        </p:txBody>
      </p:sp>
      <p:sp>
        <p:nvSpPr>
          <p:cNvPr id="74" name="TextBox 73"/>
          <p:cNvSpPr txBox="1"/>
          <p:nvPr/>
        </p:nvSpPr>
        <p:spPr>
          <a:xfrm>
            <a:off x="4821778" y="4715805"/>
            <a:ext cx="350520" cy="369332"/>
          </a:xfrm>
          <a:prstGeom prst="rect">
            <a:avLst/>
          </a:prstGeom>
          <a:noFill/>
        </p:spPr>
        <p:txBody>
          <a:bodyPr wrap="square" rtlCol="0">
            <a:spAutoFit/>
          </a:bodyPr>
          <a:lstStyle/>
          <a:p>
            <a:r>
              <a:rPr lang="en-US" dirty="0"/>
              <a:t>C</a:t>
            </a:r>
            <a:endParaRPr lang="sv-SE" dirty="0"/>
          </a:p>
        </p:txBody>
      </p:sp>
      <p:sp>
        <p:nvSpPr>
          <p:cNvPr id="75" name="TextBox 74"/>
          <p:cNvSpPr txBox="1"/>
          <p:nvPr/>
        </p:nvSpPr>
        <p:spPr>
          <a:xfrm>
            <a:off x="5534048" y="5844210"/>
            <a:ext cx="350520" cy="369332"/>
          </a:xfrm>
          <a:prstGeom prst="rect">
            <a:avLst/>
          </a:prstGeom>
          <a:noFill/>
        </p:spPr>
        <p:txBody>
          <a:bodyPr wrap="square" rtlCol="0">
            <a:spAutoFit/>
          </a:bodyPr>
          <a:lstStyle/>
          <a:p>
            <a:r>
              <a:rPr lang="en-US" dirty="0"/>
              <a:t>B</a:t>
            </a:r>
            <a:endParaRPr lang="sv-SE" dirty="0"/>
          </a:p>
        </p:txBody>
      </p:sp>
      <p:sp>
        <p:nvSpPr>
          <p:cNvPr id="76" name="Arc 75"/>
          <p:cNvSpPr/>
          <p:nvPr/>
        </p:nvSpPr>
        <p:spPr>
          <a:xfrm rot="7995084">
            <a:off x="5630818" y="5259378"/>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77" name="Arc 76"/>
          <p:cNvSpPr/>
          <p:nvPr/>
        </p:nvSpPr>
        <p:spPr>
          <a:xfrm rot="13679747">
            <a:off x="5349419" y="527103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78" name="Arc 77"/>
          <p:cNvSpPr/>
          <p:nvPr/>
        </p:nvSpPr>
        <p:spPr>
          <a:xfrm>
            <a:off x="5411568" y="5029624"/>
            <a:ext cx="577090" cy="264715"/>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mc:Choice xmlns:a14="http://schemas.microsoft.com/office/drawing/2010/main" Requires="a14">
          <p:sp>
            <p:nvSpPr>
              <p:cNvPr id="79" name="TextBox 78"/>
              <p:cNvSpPr txBox="1"/>
              <p:nvPr/>
            </p:nvSpPr>
            <p:spPr>
              <a:xfrm>
                <a:off x="5417019" y="4701375"/>
                <a:ext cx="601661"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p:sp>
            <p:nvSpPr>
              <p:cNvPr id="79" name="TextBox 78"/>
              <p:cNvSpPr txBox="1">
                <a:spLocks noRot="1" noChangeAspect="1" noMove="1" noResize="1" noEditPoints="1" noAdjustHandles="1" noChangeArrowheads="1" noChangeShapeType="1" noTextEdit="1"/>
              </p:cNvSpPr>
              <p:nvPr/>
            </p:nvSpPr>
            <p:spPr>
              <a:xfrm>
                <a:off x="5417019" y="4701375"/>
                <a:ext cx="601661" cy="369332"/>
              </a:xfrm>
              <a:prstGeom prst="rect">
                <a:avLst/>
              </a:prstGeom>
              <a:blipFill>
                <a:blip r:embed="rId6"/>
                <a:stretch>
                  <a:fillRect r="-3061"/>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80" name="TextBox 79"/>
              <p:cNvSpPr txBox="1"/>
              <p:nvPr/>
            </p:nvSpPr>
            <p:spPr>
              <a:xfrm>
                <a:off x="5800015" y="5307428"/>
                <a:ext cx="601661"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p:sp>
            <p:nvSpPr>
              <p:cNvPr id="80" name="TextBox 79"/>
              <p:cNvSpPr txBox="1">
                <a:spLocks noRot="1" noChangeAspect="1" noMove="1" noResize="1" noEditPoints="1" noAdjustHandles="1" noChangeArrowheads="1" noChangeShapeType="1" noTextEdit="1"/>
              </p:cNvSpPr>
              <p:nvPr/>
            </p:nvSpPr>
            <p:spPr>
              <a:xfrm>
                <a:off x="5800015" y="5307428"/>
                <a:ext cx="601661" cy="369332"/>
              </a:xfrm>
              <a:prstGeom prst="rect">
                <a:avLst/>
              </a:prstGeom>
              <a:blipFill>
                <a:blip r:embed="rId7"/>
                <a:stretch>
                  <a:fillRect r="-3030"/>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81" name="TextBox 80"/>
              <p:cNvSpPr txBox="1"/>
              <p:nvPr/>
            </p:nvSpPr>
            <p:spPr>
              <a:xfrm>
                <a:off x="4925414" y="5348411"/>
                <a:ext cx="601661"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p:sp>
            <p:nvSpPr>
              <p:cNvPr id="81" name="TextBox 80"/>
              <p:cNvSpPr txBox="1">
                <a:spLocks noRot="1" noChangeAspect="1" noMove="1" noResize="1" noEditPoints="1" noAdjustHandles="1" noChangeArrowheads="1" noChangeShapeType="1" noTextEdit="1"/>
              </p:cNvSpPr>
              <p:nvPr/>
            </p:nvSpPr>
            <p:spPr>
              <a:xfrm>
                <a:off x="4925414" y="5348411"/>
                <a:ext cx="601661" cy="369332"/>
              </a:xfrm>
              <a:prstGeom prst="rect">
                <a:avLst/>
              </a:prstGeom>
              <a:blipFill>
                <a:blip r:embed="rId8"/>
                <a:stretch>
                  <a:fillRect r="-2020"/>
                </a:stretch>
              </a:blipFill>
            </p:spPr>
            <p:txBody>
              <a:bodyPr/>
              <a:lstStyle/>
              <a:p>
                <a:r>
                  <a:rPr lang="sv-SE">
                    <a:noFill/>
                  </a:rPr>
                  <a:t> </a:t>
                </a:r>
              </a:p>
            </p:txBody>
          </p:sp>
        </mc:Fallback>
      </mc:AlternateContent>
      <p:sp>
        <p:nvSpPr>
          <p:cNvPr id="82" name="Arc 81"/>
          <p:cNvSpPr/>
          <p:nvPr/>
        </p:nvSpPr>
        <p:spPr>
          <a:xfrm>
            <a:off x="2190721" y="4708449"/>
            <a:ext cx="973606" cy="218008"/>
          </a:xfrm>
          <a:prstGeom prst="arc">
            <a:avLst>
              <a:gd name="adj1" fmla="val 11793358"/>
              <a:gd name="adj2" fmla="val 20675501"/>
            </a:avLst>
          </a:prstGeom>
          <a:ln>
            <a:solidFill>
              <a:schemeClr val="tx1"/>
            </a:solidFill>
            <a:headEnd type="triangle"/>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83" name="Arc 82"/>
          <p:cNvSpPr/>
          <p:nvPr/>
        </p:nvSpPr>
        <p:spPr>
          <a:xfrm>
            <a:off x="5231046" y="4683539"/>
            <a:ext cx="973606" cy="218008"/>
          </a:xfrm>
          <a:prstGeom prst="arc">
            <a:avLst>
              <a:gd name="adj1" fmla="val 11793358"/>
              <a:gd name="adj2" fmla="val 20675501"/>
            </a:avLst>
          </a:prstGeom>
          <a:ln>
            <a:solidFill>
              <a:schemeClr val="tx1"/>
            </a:solidFill>
            <a:headEnd type="ova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cxnSp>
        <p:nvCxnSpPr>
          <p:cNvPr id="84" name="Straight Arrow Connector 83"/>
          <p:cNvCxnSpPr/>
          <p:nvPr/>
        </p:nvCxnSpPr>
        <p:spPr>
          <a:xfrm flipV="1">
            <a:off x="8860042" y="5342725"/>
            <a:ext cx="0" cy="40212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9172901" y="5342725"/>
            <a:ext cx="2281" cy="40212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flipV="1">
            <a:off x="9008635" y="5354057"/>
            <a:ext cx="4087" cy="39078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87" name="TextBox 86"/>
          <p:cNvSpPr txBox="1"/>
          <p:nvPr/>
        </p:nvSpPr>
        <p:spPr>
          <a:xfrm>
            <a:off x="8635623" y="5043726"/>
            <a:ext cx="350520" cy="369332"/>
          </a:xfrm>
          <a:prstGeom prst="rect">
            <a:avLst/>
          </a:prstGeom>
          <a:noFill/>
        </p:spPr>
        <p:txBody>
          <a:bodyPr wrap="square" rtlCol="0">
            <a:spAutoFit/>
          </a:bodyPr>
          <a:lstStyle/>
          <a:p>
            <a:r>
              <a:rPr lang="en-US" dirty="0" smtClean="0"/>
              <a:t>A</a:t>
            </a:r>
            <a:endParaRPr lang="sv-SE" dirty="0"/>
          </a:p>
        </p:txBody>
      </p:sp>
      <p:sp>
        <p:nvSpPr>
          <p:cNvPr id="88" name="TextBox 87"/>
          <p:cNvSpPr txBox="1"/>
          <p:nvPr/>
        </p:nvSpPr>
        <p:spPr>
          <a:xfrm>
            <a:off x="9024308" y="5052256"/>
            <a:ext cx="350520" cy="369332"/>
          </a:xfrm>
          <a:prstGeom prst="rect">
            <a:avLst/>
          </a:prstGeom>
          <a:noFill/>
        </p:spPr>
        <p:txBody>
          <a:bodyPr wrap="square" rtlCol="0">
            <a:spAutoFit/>
          </a:bodyPr>
          <a:lstStyle/>
          <a:p>
            <a:r>
              <a:rPr lang="en-US" dirty="0"/>
              <a:t>C</a:t>
            </a:r>
            <a:endParaRPr lang="sv-SE" dirty="0"/>
          </a:p>
        </p:txBody>
      </p:sp>
      <p:sp>
        <p:nvSpPr>
          <p:cNvPr id="89" name="TextBox 88"/>
          <p:cNvSpPr txBox="1"/>
          <p:nvPr/>
        </p:nvSpPr>
        <p:spPr>
          <a:xfrm>
            <a:off x="8860042" y="5055017"/>
            <a:ext cx="350520" cy="369332"/>
          </a:xfrm>
          <a:prstGeom prst="rect">
            <a:avLst/>
          </a:prstGeom>
          <a:noFill/>
        </p:spPr>
        <p:txBody>
          <a:bodyPr wrap="square" rtlCol="0">
            <a:spAutoFit/>
          </a:bodyPr>
          <a:lstStyle/>
          <a:p>
            <a:r>
              <a:rPr lang="en-US" dirty="0"/>
              <a:t>B</a:t>
            </a:r>
            <a:endParaRPr lang="sv-SE" dirty="0"/>
          </a:p>
        </p:txBody>
      </p:sp>
      <mc:AlternateContent xmlns:mc="http://schemas.openxmlformats.org/markup-compatibility/2006">
        <mc:Choice xmlns:a14="http://schemas.microsoft.com/office/drawing/2010/main" Requires="a14">
          <p:sp>
            <p:nvSpPr>
              <p:cNvPr id="123" name="TextBox 122"/>
              <p:cNvSpPr txBox="1"/>
              <p:nvPr/>
            </p:nvSpPr>
            <p:spPr>
              <a:xfrm>
                <a:off x="1753330" y="6165526"/>
                <a:ext cx="2055383" cy="646331"/>
              </a:xfrm>
              <a:prstGeom prst="rect">
                <a:avLst/>
              </a:prstGeom>
              <a:noFill/>
            </p:spPr>
            <p:txBody>
              <a:bodyPr wrap="square" rtlCol="0">
                <a:spAutoFit/>
              </a:bodyPr>
              <a:lstStyle/>
              <a:p>
                <a:r>
                  <a:rPr lang="en-US" dirty="0" smtClean="0"/>
                  <a:t>Positive Sequence</a:t>
                </a:r>
              </a:p>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𝑓</m:t>
                        </m:r>
                      </m:e>
                      <m:sub>
                        <m:r>
                          <a:rPr lang="en-US" b="0" i="1" smtClean="0">
                            <a:latin typeface="Cambria Math" panose="02040503050406030204" pitchFamily="18" charset="0"/>
                          </a:rPr>
                          <m:t>0</m:t>
                        </m:r>
                      </m:sub>
                    </m:sSub>
                    <m:r>
                      <a:rPr lang="en-US" b="0" i="1" smtClean="0">
                        <a:latin typeface="Cambria Math" panose="02040503050406030204" pitchFamily="18" charset="0"/>
                      </a:rPr>
                      <m:t> </m:t>
                    </m:r>
                  </m:oMath>
                </a14:m>
                <a:r>
                  <a:rPr lang="sv-SE" dirty="0" smtClean="0"/>
                  <a:t> and </a:t>
                </a:r>
                <a14:m>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0</m:t>
                        </m:r>
                      </m:sub>
                    </m:sSub>
                  </m:oMath>
                </a14:m>
                <a:endParaRPr lang="sv-SE" dirty="0"/>
              </a:p>
            </p:txBody>
          </p:sp>
        </mc:Choice>
        <mc:Fallback>
          <p:sp>
            <p:nvSpPr>
              <p:cNvPr id="123" name="TextBox 122"/>
              <p:cNvSpPr txBox="1">
                <a:spLocks noRot="1" noChangeAspect="1" noMove="1" noResize="1" noEditPoints="1" noAdjustHandles="1" noChangeArrowheads="1" noChangeShapeType="1" noTextEdit="1"/>
              </p:cNvSpPr>
              <p:nvPr/>
            </p:nvSpPr>
            <p:spPr>
              <a:xfrm>
                <a:off x="1753330" y="6165526"/>
                <a:ext cx="2055383" cy="646331"/>
              </a:xfrm>
              <a:prstGeom prst="rect">
                <a:avLst/>
              </a:prstGeom>
              <a:blipFill>
                <a:blip r:embed="rId9"/>
                <a:stretch>
                  <a:fillRect l="-2671" t="-4717" b="-14151"/>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24" name="TextBox 123"/>
              <p:cNvSpPr txBox="1"/>
              <p:nvPr/>
            </p:nvSpPr>
            <p:spPr>
              <a:xfrm>
                <a:off x="4821778" y="6193868"/>
                <a:ext cx="2055383" cy="646331"/>
              </a:xfrm>
              <a:prstGeom prst="rect">
                <a:avLst/>
              </a:prstGeom>
              <a:noFill/>
            </p:spPr>
            <p:txBody>
              <a:bodyPr wrap="square" rtlCol="0">
                <a:spAutoFit/>
              </a:bodyPr>
              <a:lstStyle/>
              <a:p>
                <a:r>
                  <a:rPr lang="en-US" dirty="0" smtClean="0"/>
                  <a:t>Negative Sequence</a:t>
                </a:r>
              </a:p>
              <a:p>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0</m:t>
                          </m:r>
                        </m:sub>
                      </m:sSub>
                    </m:oMath>
                  </m:oMathPara>
                </a14:m>
                <a:endParaRPr lang="sv-SE" dirty="0"/>
              </a:p>
            </p:txBody>
          </p:sp>
        </mc:Choice>
        <mc:Fallback>
          <p:sp>
            <p:nvSpPr>
              <p:cNvPr id="124" name="TextBox 123"/>
              <p:cNvSpPr txBox="1">
                <a:spLocks noRot="1" noChangeAspect="1" noMove="1" noResize="1" noEditPoints="1" noAdjustHandles="1" noChangeArrowheads="1" noChangeShapeType="1" noTextEdit="1"/>
              </p:cNvSpPr>
              <p:nvPr/>
            </p:nvSpPr>
            <p:spPr>
              <a:xfrm>
                <a:off x="4821778" y="6193868"/>
                <a:ext cx="2055383" cy="646331"/>
              </a:xfrm>
              <a:prstGeom prst="rect">
                <a:avLst/>
              </a:prstGeom>
              <a:blipFill>
                <a:blip r:embed="rId10"/>
                <a:stretch>
                  <a:fillRect l="-2671" t="-4717" b="-7547"/>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25" name="TextBox 124"/>
              <p:cNvSpPr txBox="1"/>
              <p:nvPr/>
            </p:nvSpPr>
            <p:spPr>
              <a:xfrm>
                <a:off x="7908581" y="6113026"/>
                <a:ext cx="2055383" cy="646331"/>
              </a:xfrm>
              <a:prstGeom prst="rect">
                <a:avLst/>
              </a:prstGeom>
              <a:noFill/>
            </p:spPr>
            <p:txBody>
              <a:bodyPr wrap="square" rtlCol="0">
                <a:spAutoFit/>
              </a:bodyPr>
              <a:lstStyle/>
              <a:p>
                <a:r>
                  <a:rPr lang="en-US" dirty="0" smtClean="0"/>
                  <a:t>    Zero Sequence</a:t>
                </a:r>
              </a:p>
              <a:p>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oMath>
                  </m:oMathPara>
                </a14:m>
                <a:endParaRPr lang="sv-SE" dirty="0"/>
              </a:p>
            </p:txBody>
          </p:sp>
        </mc:Choice>
        <mc:Fallback>
          <p:sp>
            <p:nvSpPr>
              <p:cNvPr id="125" name="TextBox 124"/>
              <p:cNvSpPr txBox="1">
                <a:spLocks noRot="1" noChangeAspect="1" noMove="1" noResize="1" noEditPoints="1" noAdjustHandles="1" noChangeArrowheads="1" noChangeShapeType="1" noTextEdit="1"/>
              </p:cNvSpPr>
              <p:nvPr/>
            </p:nvSpPr>
            <p:spPr>
              <a:xfrm>
                <a:off x="7908581" y="6113026"/>
                <a:ext cx="2055383" cy="646331"/>
              </a:xfrm>
              <a:prstGeom prst="rect">
                <a:avLst/>
              </a:prstGeom>
              <a:blipFill>
                <a:blip r:embed="rId11"/>
                <a:stretch>
                  <a:fillRect t="-5660" b="-6604"/>
                </a:stretch>
              </a:blipFill>
            </p:spPr>
            <p:txBody>
              <a:bodyPr/>
              <a:lstStyle/>
              <a:p>
                <a:r>
                  <a:rPr lang="sv-SE">
                    <a:noFill/>
                  </a:rPr>
                  <a:t> </a:t>
                </a:r>
              </a:p>
            </p:txBody>
          </p:sp>
        </mc:Fallback>
      </mc:AlternateContent>
    </p:spTree>
    <p:extLst>
      <p:ext uri="{BB962C8B-B14F-4D97-AF65-F5344CB8AC3E}">
        <p14:creationId xmlns:p14="http://schemas.microsoft.com/office/powerpoint/2010/main" val="79707472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smtClean="0">
                <a:solidFill>
                  <a:srgbClr val="C00000"/>
                </a:solidFill>
              </a:rPr>
              <a:t>The initial </a:t>
            </a:r>
            <a:r>
              <a:rPr lang="sv-SE" b="1" dirty="0" err="1" smtClean="0">
                <a:solidFill>
                  <a:srgbClr val="C00000"/>
                </a:solidFill>
              </a:rPr>
              <a:t>idea</a:t>
            </a:r>
            <a:endParaRPr lang="sv-SE" b="1" dirty="0">
              <a:solidFill>
                <a:srgbClr val="C00000"/>
              </a:solidFill>
            </a:endParaRPr>
          </a:p>
        </p:txBody>
      </p:sp>
      <p:sp>
        <p:nvSpPr>
          <p:cNvPr id="5" name="Rectangle 4"/>
          <p:cNvSpPr/>
          <p:nvPr/>
        </p:nvSpPr>
        <p:spPr>
          <a:xfrm>
            <a:off x="675663" y="1412334"/>
            <a:ext cx="9647797" cy="1200329"/>
          </a:xfrm>
          <a:prstGeom prst="rect">
            <a:avLst/>
          </a:prstGeom>
        </p:spPr>
        <p:txBody>
          <a:bodyPr wrap="square">
            <a:spAutoFit/>
          </a:bodyPr>
          <a:lstStyle/>
          <a:p>
            <a:r>
              <a:rPr lang="en-US" b="1" dirty="0" smtClean="0"/>
              <a:t>The magnitude of the zero sequence </a:t>
            </a:r>
            <a:r>
              <a:rPr lang="en-US" dirty="0" smtClean="0"/>
              <a:t>component (so the first switching frequency) is </a:t>
            </a:r>
            <a:r>
              <a:rPr lang="en-US" b="1" dirty="0" smtClean="0"/>
              <a:t>higher than </a:t>
            </a:r>
            <a:r>
              <a:rPr lang="en-US" dirty="0" smtClean="0"/>
              <a:t>the </a:t>
            </a:r>
            <a:r>
              <a:rPr lang="en-US" b="1" dirty="0" smtClean="0"/>
              <a:t>positive and negative sequences </a:t>
            </a:r>
            <a:r>
              <a:rPr lang="en-US" dirty="0" smtClean="0"/>
              <a:t>(sidebands). Although It is actually good considering differential-mode current, it is bad regarding common-mode current. </a:t>
            </a:r>
            <a:endParaRPr lang="en-US" dirty="0"/>
          </a:p>
          <a:p>
            <a:endParaRPr lang="en-US" dirty="0" smtClean="0"/>
          </a:p>
        </p:txBody>
      </p:sp>
      <p:pic>
        <p:nvPicPr>
          <p:cNvPr id="6" name="Picture 5"/>
          <p:cNvPicPr>
            <a:picLocks noChangeAspect="1"/>
          </p:cNvPicPr>
          <p:nvPr/>
        </p:nvPicPr>
        <p:blipFill rotWithShape="1">
          <a:blip r:embed="rId2"/>
          <a:srcRect r="18550"/>
          <a:stretch/>
        </p:blipFill>
        <p:spPr>
          <a:xfrm>
            <a:off x="5776097" y="2271270"/>
            <a:ext cx="4872938" cy="1297203"/>
          </a:xfrm>
          <a:prstGeom prst="rect">
            <a:avLst/>
          </a:prstGeom>
        </p:spPr>
      </p:pic>
      <p:pic>
        <p:nvPicPr>
          <p:cNvPr id="45" name="Picture 44">
            <a:extLst>
              <a:ext uri="{FF2B5EF4-FFF2-40B4-BE49-F238E27FC236}">
                <a16:creationId xmlns:a16="http://schemas.microsoft.com/office/drawing/2014/main" id="{CF4CD85C-BAF5-45AE-AB1F-913512F20D38}"/>
              </a:ext>
            </a:extLst>
          </p:cNvPr>
          <p:cNvPicPr>
            <a:picLocks noChangeAspect="1"/>
          </p:cNvPicPr>
          <p:nvPr/>
        </p:nvPicPr>
        <p:blipFill>
          <a:blip r:embed="rId3"/>
          <a:stretch>
            <a:fillRect/>
          </a:stretch>
        </p:blipFill>
        <p:spPr>
          <a:xfrm>
            <a:off x="1077049" y="3632810"/>
            <a:ext cx="4193421" cy="3145066"/>
          </a:xfrm>
          <a:prstGeom prst="rect">
            <a:avLst/>
          </a:prstGeom>
        </p:spPr>
      </p:pic>
      <p:pic>
        <p:nvPicPr>
          <p:cNvPr id="93" name="Picture 92">
            <a:extLst>
              <a:ext uri="{FF2B5EF4-FFF2-40B4-BE49-F238E27FC236}">
                <a16:creationId xmlns:a16="http://schemas.microsoft.com/office/drawing/2014/main" id="{07414F65-2446-4AA3-85C8-3EE7319D6AE5}"/>
              </a:ext>
            </a:extLst>
          </p:cNvPr>
          <p:cNvPicPr>
            <a:picLocks noChangeAspect="1"/>
          </p:cNvPicPr>
          <p:nvPr/>
        </p:nvPicPr>
        <p:blipFill>
          <a:blip r:embed="rId4"/>
          <a:stretch>
            <a:fillRect/>
          </a:stretch>
        </p:blipFill>
        <p:spPr>
          <a:xfrm>
            <a:off x="5214098" y="3867903"/>
            <a:ext cx="3784477" cy="2838358"/>
          </a:xfrm>
          <a:prstGeom prst="rect">
            <a:avLst/>
          </a:prstGeom>
        </p:spPr>
      </p:pic>
      <p:pic>
        <p:nvPicPr>
          <p:cNvPr id="94" name="Picture 93">
            <a:extLst>
              <a:ext uri="{FF2B5EF4-FFF2-40B4-BE49-F238E27FC236}">
                <a16:creationId xmlns:a16="http://schemas.microsoft.com/office/drawing/2014/main" id="{49EDA3C9-8E38-4364-81DB-51F677C9A182}"/>
              </a:ext>
            </a:extLst>
          </p:cNvPr>
          <p:cNvPicPr>
            <a:picLocks noChangeAspect="1"/>
          </p:cNvPicPr>
          <p:nvPr/>
        </p:nvPicPr>
        <p:blipFill rotWithShape="1">
          <a:blip r:embed="rId5"/>
          <a:srcRect l="16786" t="43411" r="74646" b="37522"/>
          <a:stretch/>
        </p:blipFill>
        <p:spPr>
          <a:xfrm>
            <a:off x="9540867" y="4677794"/>
            <a:ext cx="457077" cy="762793"/>
          </a:xfrm>
          <a:prstGeom prst="rect">
            <a:avLst/>
          </a:prstGeom>
        </p:spPr>
      </p:pic>
      <p:pic>
        <p:nvPicPr>
          <p:cNvPr id="95" name="Picture 94">
            <a:extLst>
              <a:ext uri="{FF2B5EF4-FFF2-40B4-BE49-F238E27FC236}">
                <a16:creationId xmlns:a16="http://schemas.microsoft.com/office/drawing/2014/main" id="{00AB7F22-70EA-4D6F-9A04-5F515D2338DB}"/>
              </a:ext>
            </a:extLst>
          </p:cNvPr>
          <p:cNvPicPr>
            <a:picLocks noChangeAspect="1"/>
          </p:cNvPicPr>
          <p:nvPr/>
        </p:nvPicPr>
        <p:blipFill rotWithShape="1">
          <a:blip r:embed="rId5"/>
          <a:srcRect l="17387" t="61956" r="74849" b="19135"/>
          <a:stretch/>
        </p:blipFill>
        <p:spPr>
          <a:xfrm>
            <a:off x="9588705" y="5722006"/>
            <a:ext cx="414152" cy="756443"/>
          </a:xfrm>
          <a:prstGeom prst="rect">
            <a:avLst/>
          </a:prstGeom>
        </p:spPr>
      </p:pic>
      <p:sp>
        <p:nvSpPr>
          <p:cNvPr id="96" name="TextBox 95">
            <a:extLst>
              <a:ext uri="{FF2B5EF4-FFF2-40B4-BE49-F238E27FC236}">
                <a16:creationId xmlns:a16="http://schemas.microsoft.com/office/drawing/2014/main" id="{F3C3BCDC-4BA2-4685-89EB-FC176684F21C}"/>
              </a:ext>
            </a:extLst>
          </p:cNvPr>
          <p:cNvSpPr txBox="1"/>
          <p:nvPr/>
        </p:nvSpPr>
        <p:spPr>
          <a:xfrm>
            <a:off x="8951370" y="4346460"/>
            <a:ext cx="1274670" cy="369332"/>
          </a:xfrm>
          <a:prstGeom prst="rect">
            <a:avLst/>
          </a:prstGeom>
          <a:noFill/>
        </p:spPr>
        <p:txBody>
          <a:bodyPr wrap="square" rtlCol="0">
            <a:spAutoFit/>
          </a:bodyPr>
          <a:lstStyle/>
          <a:p>
            <a:r>
              <a:rPr lang="en-US" dirty="0"/>
              <a:t>References</a:t>
            </a:r>
          </a:p>
        </p:txBody>
      </p:sp>
      <p:sp>
        <p:nvSpPr>
          <p:cNvPr id="97" name="TextBox 96">
            <a:extLst>
              <a:ext uri="{FF2B5EF4-FFF2-40B4-BE49-F238E27FC236}">
                <a16:creationId xmlns:a16="http://schemas.microsoft.com/office/drawing/2014/main" id="{0C17F648-5109-4AD9-B1E7-3D58351430A9}"/>
              </a:ext>
            </a:extLst>
          </p:cNvPr>
          <p:cNvSpPr txBox="1"/>
          <p:nvPr/>
        </p:nvSpPr>
        <p:spPr>
          <a:xfrm>
            <a:off x="9295246" y="4597387"/>
            <a:ext cx="271341" cy="369332"/>
          </a:xfrm>
          <a:prstGeom prst="rect">
            <a:avLst/>
          </a:prstGeom>
          <a:noFill/>
        </p:spPr>
        <p:txBody>
          <a:bodyPr wrap="square" rtlCol="0">
            <a:spAutoFit/>
          </a:bodyPr>
          <a:lstStyle/>
          <a:p>
            <a:r>
              <a:rPr lang="en-US" dirty="0"/>
              <a:t>A</a:t>
            </a:r>
          </a:p>
        </p:txBody>
      </p:sp>
      <p:sp>
        <p:nvSpPr>
          <p:cNvPr id="98" name="TextBox 97">
            <a:extLst>
              <a:ext uri="{FF2B5EF4-FFF2-40B4-BE49-F238E27FC236}">
                <a16:creationId xmlns:a16="http://schemas.microsoft.com/office/drawing/2014/main" id="{D8CB5019-DC42-4A96-AB03-58AA0F8CB33F}"/>
              </a:ext>
            </a:extLst>
          </p:cNvPr>
          <p:cNvSpPr txBox="1"/>
          <p:nvPr/>
        </p:nvSpPr>
        <p:spPr>
          <a:xfrm>
            <a:off x="9299184" y="4874524"/>
            <a:ext cx="271341" cy="369332"/>
          </a:xfrm>
          <a:prstGeom prst="rect">
            <a:avLst/>
          </a:prstGeom>
          <a:noFill/>
        </p:spPr>
        <p:txBody>
          <a:bodyPr wrap="square" rtlCol="0">
            <a:spAutoFit/>
          </a:bodyPr>
          <a:lstStyle/>
          <a:p>
            <a:r>
              <a:rPr lang="en-US" dirty="0"/>
              <a:t>B</a:t>
            </a:r>
          </a:p>
        </p:txBody>
      </p:sp>
      <p:sp>
        <p:nvSpPr>
          <p:cNvPr id="99" name="TextBox 98">
            <a:extLst>
              <a:ext uri="{FF2B5EF4-FFF2-40B4-BE49-F238E27FC236}">
                <a16:creationId xmlns:a16="http://schemas.microsoft.com/office/drawing/2014/main" id="{D8C0E815-05DD-4B11-ABB0-8CE137CF9470}"/>
              </a:ext>
            </a:extLst>
          </p:cNvPr>
          <p:cNvSpPr txBox="1"/>
          <p:nvPr/>
        </p:nvSpPr>
        <p:spPr>
          <a:xfrm>
            <a:off x="9305244" y="5123121"/>
            <a:ext cx="271341" cy="369332"/>
          </a:xfrm>
          <a:prstGeom prst="rect">
            <a:avLst/>
          </a:prstGeom>
          <a:noFill/>
        </p:spPr>
        <p:txBody>
          <a:bodyPr wrap="square" rtlCol="0">
            <a:spAutoFit/>
          </a:bodyPr>
          <a:lstStyle/>
          <a:p>
            <a:r>
              <a:rPr lang="en-US" dirty="0"/>
              <a:t>C</a:t>
            </a:r>
          </a:p>
        </p:txBody>
      </p:sp>
      <p:sp>
        <p:nvSpPr>
          <p:cNvPr id="100" name="TextBox 99">
            <a:extLst>
              <a:ext uri="{FF2B5EF4-FFF2-40B4-BE49-F238E27FC236}">
                <a16:creationId xmlns:a16="http://schemas.microsoft.com/office/drawing/2014/main" id="{E481AF34-5F92-40E3-8BBF-4EBEEE0C990F}"/>
              </a:ext>
            </a:extLst>
          </p:cNvPr>
          <p:cNvSpPr txBox="1"/>
          <p:nvPr/>
        </p:nvSpPr>
        <p:spPr>
          <a:xfrm>
            <a:off x="9301306" y="5657543"/>
            <a:ext cx="271341" cy="369332"/>
          </a:xfrm>
          <a:prstGeom prst="rect">
            <a:avLst/>
          </a:prstGeom>
          <a:noFill/>
        </p:spPr>
        <p:txBody>
          <a:bodyPr wrap="square" rtlCol="0">
            <a:spAutoFit/>
          </a:bodyPr>
          <a:lstStyle/>
          <a:p>
            <a:r>
              <a:rPr lang="en-US" dirty="0"/>
              <a:t>A</a:t>
            </a:r>
          </a:p>
        </p:txBody>
      </p:sp>
      <p:sp>
        <p:nvSpPr>
          <p:cNvPr id="101" name="TextBox 100">
            <a:extLst>
              <a:ext uri="{FF2B5EF4-FFF2-40B4-BE49-F238E27FC236}">
                <a16:creationId xmlns:a16="http://schemas.microsoft.com/office/drawing/2014/main" id="{E85B0A63-CAF3-4DB8-AC59-15AE86A729D1}"/>
              </a:ext>
            </a:extLst>
          </p:cNvPr>
          <p:cNvSpPr txBox="1"/>
          <p:nvPr/>
        </p:nvSpPr>
        <p:spPr>
          <a:xfrm>
            <a:off x="9305244" y="5934680"/>
            <a:ext cx="271341" cy="369332"/>
          </a:xfrm>
          <a:prstGeom prst="rect">
            <a:avLst/>
          </a:prstGeom>
          <a:noFill/>
        </p:spPr>
        <p:txBody>
          <a:bodyPr wrap="square" rtlCol="0">
            <a:spAutoFit/>
          </a:bodyPr>
          <a:lstStyle/>
          <a:p>
            <a:r>
              <a:rPr lang="en-US" dirty="0"/>
              <a:t>B</a:t>
            </a:r>
          </a:p>
        </p:txBody>
      </p:sp>
      <p:sp>
        <p:nvSpPr>
          <p:cNvPr id="102" name="TextBox 101">
            <a:extLst>
              <a:ext uri="{FF2B5EF4-FFF2-40B4-BE49-F238E27FC236}">
                <a16:creationId xmlns:a16="http://schemas.microsoft.com/office/drawing/2014/main" id="{8C3C459E-D531-4A21-B9C8-5CDC17335D4D}"/>
              </a:ext>
            </a:extLst>
          </p:cNvPr>
          <p:cNvSpPr txBox="1"/>
          <p:nvPr/>
        </p:nvSpPr>
        <p:spPr>
          <a:xfrm>
            <a:off x="9311304" y="6183277"/>
            <a:ext cx="271341" cy="369332"/>
          </a:xfrm>
          <a:prstGeom prst="rect">
            <a:avLst/>
          </a:prstGeom>
          <a:noFill/>
        </p:spPr>
        <p:txBody>
          <a:bodyPr wrap="square" rtlCol="0">
            <a:spAutoFit/>
          </a:bodyPr>
          <a:lstStyle/>
          <a:p>
            <a:r>
              <a:rPr lang="en-US" dirty="0"/>
              <a:t>C</a:t>
            </a:r>
          </a:p>
        </p:txBody>
      </p:sp>
      <p:sp>
        <p:nvSpPr>
          <p:cNvPr id="103" name="TextBox 102">
            <a:extLst>
              <a:ext uri="{FF2B5EF4-FFF2-40B4-BE49-F238E27FC236}">
                <a16:creationId xmlns:a16="http://schemas.microsoft.com/office/drawing/2014/main" id="{DD99FAC2-ECD9-4765-A6DA-F10913C5AFD7}"/>
              </a:ext>
            </a:extLst>
          </p:cNvPr>
          <p:cNvSpPr txBox="1"/>
          <p:nvPr/>
        </p:nvSpPr>
        <p:spPr>
          <a:xfrm>
            <a:off x="8977209" y="5381892"/>
            <a:ext cx="830048" cy="369332"/>
          </a:xfrm>
          <a:prstGeom prst="rect">
            <a:avLst/>
          </a:prstGeom>
          <a:noFill/>
        </p:spPr>
        <p:txBody>
          <a:bodyPr wrap="square" rtlCol="0">
            <a:spAutoFit/>
          </a:bodyPr>
          <a:lstStyle/>
          <a:p>
            <a:r>
              <a:rPr lang="en-US" dirty="0"/>
              <a:t>Carrier</a:t>
            </a:r>
          </a:p>
        </p:txBody>
      </p:sp>
      <p:cxnSp>
        <p:nvCxnSpPr>
          <p:cNvPr id="104" name="Straight Arrow Connector 103">
            <a:extLst>
              <a:ext uri="{FF2B5EF4-FFF2-40B4-BE49-F238E27FC236}">
                <a16:creationId xmlns:a16="http://schemas.microsoft.com/office/drawing/2014/main" id="{EB21024C-92EC-4A63-91F6-FC59D59A6B74}"/>
              </a:ext>
            </a:extLst>
          </p:cNvPr>
          <p:cNvCxnSpPr>
            <a:cxnSpLocks/>
          </p:cNvCxnSpPr>
          <p:nvPr/>
        </p:nvCxnSpPr>
        <p:spPr>
          <a:xfrm>
            <a:off x="5718818" y="5334916"/>
            <a:ext cx="1918762" cy="0"/>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05" name="TextBox 104">
                <a:extLst>
                  <a:ext uri="{FF2B5EF4-FFF2-40B4-BE49-F238E27FC236}">
                    <a16:creationId xmlns:a16="http://schemas.microsoft.com/office/drawing/2014/main" id="{92B4CBE9-C6F6-4A89-AC4D-8779DAA2F7DA}"/>
                  </a:ext>
                </a:extLst>
              </p:cNvPr>
              <p:cNvSpPr txBox="1"/>
              <p:nvPr/>
            </p:nvSpPr>
            <p:spPr>
              <a:xfrm>
                <a:off x="6187435" y="4745786"/>
                <a:ext cx="1023381" cy="496996"/>
              </a:xfrm>
              <a:prstGeom prst="rect">
                <a:avLst/>
              </a:prstGeom>
              <a:solidFill>
                <a:schemeClr val="bg1">
                  <a:alpha val="0"/>
                </a:schemeClr>
              </a:solid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𝑠</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m:t>
                            </m:r>
                            <m:r>
                              <a:rPr lang="en-US" b="0" i="1" smtClean="0">
                                <a:latin typeface="Cambria Math" panose="02040503050406030204" pitchFamily="18" charset="0"/>
                              </a:rPr>
                              <m:t>𝐵</m:t>
                            </m:r>
                          </m:sub>
                        </m:sSub>
                      </m:num>
                      <m:den>
                        <m:r>
                          <a:rPr lang="en-US" b="0" i="1" smtClean="0">
                            <a:latin typeface="Cambria Math" panose="02040503050406030204" pitchFamily="18" charset="0"/>
                          </a:rPr>
                          <m:t>2</m:t>
                        </m:r>
                        <m:r>
                          <a:rPr lang="en-US" b="0" i="1" smtClean="0">
                            <a:latin typeface="Cambria Math" panose="02040503050406030204" pitchFamily="18" charset="0"/>
                          </a:rPr>
                          <m:t>𝜋</m:t>
                        </m:r>
                      </m:den>
                    </m:f>
                    <m:r>
                      <m:rPr>
                        <m:nor/>
                      </m:rPr>
                      <a:rPr lang="en-US" sz="2000" dirty="0"/>
                      <m:t>)</m:t>
                    </m:r>
                  </m:oMath>
                </a14:m>
                <a:r>
                  <a:rPr lang="en-US" sz="2000" dirty="0"/>
                  <a:t> </a:t>
                </a:r>
              </a:p>
            </p:txBody>
          </p:sp>
        </mc:Choice>
        <mc:Fallback>
          <p:sp>
            <p:nvSpPr>
              <p:cNvPr id="105" name="TextBox 104">
                <a:extLst>
                  <a:ext uri="{FF2B5EF4-FFF2-40B4-BE49-F238E27FC236}">
                    <a16:creationId xmlns:a16="http://schemas.microsoft.com/office/drawing/2014/main" id="{92B4CBE9-C6F6-4A89-AC4D-8779DAA2F7DA}"/>
                  </a:ext>
                </a:extLst>
              </p:cNvPr>
              <p:cNvSpPr txBox="1">
                <a:spLocks noRot="1" noChangeAspect="1" noMove="1" noResize="1" noEditPoints="1" noAdjustHandles="1" noChangeArrowheads="1" noChangeShapeType="1" noTextEdit="1"/>
              </p:cNvSpPr>
              <p:nvPr/>
            </p:nvSpPr>
            <p:spPr>
              <a:xfrm>
                <a:off x="6187435" y="4745786"/>
                <a:ext cx="1023381" cy="496996"/>
              </a:xfrm>
              <a:prstGeom prst="rect">
                <a:avLst/>
              </a:prstGeom>
              <a:blipFill>
                <a:blip r:embed="rId6"/>
                <a:stretch>
                  <a:fillRect b="-2469"/>
                </a:stretch>
              </a:blipFill>
            </p:spPr>
            <p:txBody>
              <a:bodyPr/>
              <a:lstStyle/>
              <a:p>
                <a:r>
                  <a:rPr lang="sv-SE">
                    <a:noFill/>
                  </a:rPr>
                  <a:t> </a:t>
                </a:r>
              </a:p>
            </p:txBody>
          </p:sp>
        </mc:Fallback>
      </mc:AlternateContent>
      <p:cxnSp>
        <p:nvCxnSpPr>
          <p:cNvPr id="106" name="Straight Arrow Connector 105">
            <a:extLst>
              <a:ext uri="{FF2B5EF4-FFF2-40B4-BE49-F238E27FC236}">
                <a16:creationId xmlns:a16="http://schemas.microsoft.com/office/drawing/2014/main" id="{B73462ED-8679-4A12-8D47-7A5635643DF7}"/>
              </a:ext>
            </a:extLst>
          </p:cNvPr>
          <p:cNvCxnSpPr>
            <a:cxnSpLocks/>
          </p:cNvCxnSpPr>
          <p:nvPr/>
        </p:nvCxnSpPr>
        <p:spPr>
          <a:xfrm>
            <a:off x="5714633" y="5961117"/>
            <a:ext cx="945606" cy="0"/>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CE960DCB-80B9-4702-B867-4582BCDEFEFF}"/>
              </a:ext>
            </a:extLst>
          </p:cNvPr>
          <p:cNvCxnSpPr>
            <a:cxnSpLocks/>
          </p:cNvCxnSpPr>
          <p:nvPr/>
        </p:nvCxnSpPr>
        <p:spPr>
          <a:xfrm>
            <a:off x="7637580" y="5205343"/>
            <a:ext cx="32363" cy="1208156"/>
          </a:xfrm>
          <a:prstGeom prst="line">
            <a:avLst/>
          </a:prstGeom>
          <a:ln w="19050">
            <a:solidFill>
              <a:schemeClr val="tx1"/>
            </a:solidFill>
            <a:prstDash val="sysDash"/>
          </a:ln>
          <a:effectLst>
            <a:glow rad="25400">
              <a:schemeClr val="bg1"/>
            </a:glow>
          </a:effectLst>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E41D5651-9A77-404C-BE67-13859E189407}"/>
              </a:ext>
            </a:extLst>
          </p:cNvPr>
          <p:cNvCxnSpPr>
            <a:cxnSpLocks/>
          </p:cNvCxnSpPr>
          <p:nvPr/>
        </p:nvCxnSpPr>
        <p:spPr>
          <a:xfrm>
            <a:off x="6678199" y="5717958"/>
            <a:ext cx="0" cy="648028"/>
          </a:xfrm>
          <a:prstGeom prst="line">
            <a:avLst/>
          </a:prstGeom>
          <a:ln w="19050">
            <a:solidFill>
              <a:schemeClr val="tx1"/>
            </a:solidFill>
            <a:prstDash val="sysDash"/>
          </a:ln>
          <a:effectLst>
            <a:glow rad="25400">
              <a:schemeClr val="bg1"/>
            </a:glow>
          </a:effectLst>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09" name="TextBox 108">
                <a:extLst>
                  <a:ext uri="{FF2B5EF4-FFF2-40B4-BE49-F238E27FC236}">
                    <a16:creationId xmlns:a16="http://schemas.microsoft.com/office/drawing/2014/main" id="{319557C7-0E1D-4915-BB2F-1C51F9FA96CB}"/>
                  </a:ext>
                </a:extLst>
              </p:cNvPr>
              <p:cNvSpPr txBox="1"/>
              <p:nvPr/>
            </p:nvSpPr>
            <p:spPr>
              <a:xfrm>
                <a:off x="5675745" y="5937902"/>
                <a:ext cx="1023381" cy="496996"/>
              </a:xfrm>
              <a:prstGeom prst="rect">
                <a:avLst/>
              </a:prstGeom>
              <a:solidFill>
                <a:schemeClr val="bg1">
                  <a:alpha val="0"/>
                </a:schemeClr>
              </a:solid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𝑠</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m:t>
                            </m:r>
                            <m:r>
                              <a:rPr lang="en-US" b="0" i="1" smtClean="0">
                                <a:latin typeface="Cambria Math" panose="02040503050406030204" pitchFamily="18" charset="0"/>
                              </a:rPr>
                              <m:t>𝐶</m:t>
                            </m:r>
                          </m:sub>
                        </m:sSub>
                      </m:num>
                      <m:den>
                        <m:r>
                          <a:rPr lang="en-US" b="0" i="1" smtClean="0">
                            <a:latin typeface="Cambria Math" panose="02040503050406030204" pitchFamily="18" charset="0"/>
                          </a:rPr>
                          <m:t>2</m:t>
                        </m:r>
                        <m:r>
                          <a:rPr lang="en-US" b="0" i="1" smtClean="0">
                            <a:latin typeface="Cambria Math" panose="02040503050406030204" pitchFamily="18" charset="0"/>
                          </a:rPr>
                          <m:t>𝜋</m:t>
                        </m:r>
                      </m:den>
                    </m:f>
                    <m:r>
                      <m:rPr>
                        <m:nor/>
                      </m:rPr>
                      <a:rPr lang="en-US" sz="2000" dirty="0"/>
                      <m:t>)</m:t>
                    </m:r>
                  </m:oMath>
                </a14:m>
                <a:r>
                  <a:rPr lang="en-US" sz="2000" dirty="0"/>
                  <a:t> </a:t>
                </a:r>
              </a:p>
            </p:txBody>
          </p:sp>
        </mc:Choice>
        <mc:Fallback>
          <p:sp>
            <p:nvSpPr>
              <p:cNvPr id="109" name="TextBox 108">
                <a:extLst>
                  <a:ext uri="{FF2B5EF4-FFF2-40B4-BE49-F238E27FC236}">
                    <a16:creationId xmlns:a16="http://schemas.microsoft.com/office/drawing/2014/main" id="{319557C7-0E1D-4915-BB2F-1C51F9FA96CB}"/>
                  </a:ext>
                </a:extLst>
              </p:cNvPr>
              <p:cNvSpPr txBox="1">
                <a:spLocks noRot="1" noChangeAspect="1" noMove="1" noResize="1" noEditPoints="1" noAdjustHandles="1" noChangeArrowheads="1" noChangeShapeType="1" noTextEdit="1"/>
              </p:cNvSpPr>
              <p:nvPr/>
            </p:nvSpPr>
            <p:spPr>
              <a:xfrm>
                <a:off x="5675745" y="5937902"/>
                <a:ext cx="1023381" cy="496996"/>
              </a:xfrm>
              <a:prstGeom prst="rect">
                <a:avLst/>
              </a:prstGeom>
              <a:blipFill>
                <a:blip r:embed="rId7"/>
                <a:stretch>
                  <a:fillRect b="-1220"/>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10" name="Rectangle 109">
                <a:extLst>
                  <a:ext uri="{FF2B5EF4-FFF2-40B4-BE49-F238E27FC236}">
                    <a16:creationId xmlns:a16="http://schemas.microsoft.com/office/drawing/2014/main" id="{C71B3137-2A50-46EC-891C-E5A3F0E0196D}"/>
                  </a:ext>
                </a:extLst>
              </p:cNvPr>
              <p:cNvSpPr/>
              <p:nvPr/>
            </p:nvSpPr>
            <p:spPr>
              <a:xfrm>
                <a:off x="6699125" y="4161794"/>
                <a:ext cx="105028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m:t>
                          </m:r>
                          <m:r>
                            <a:rPr lang="en-US" b="0" i="1" smtClean="0">
                              <a:latin typeface="Cambria Math" panose="02040503050406030204" pitchFamily="18" charset="0"/>
                            </a:rPr>
                            <m:t>𝐴</m:t>
                          </m:r>
                        </m:sub>
                      </m:sSub>
                      <m:r>
                        <a:rPr lang="en-US" b="0" i="1" smtClean="0">
                          <a:latin typeface="Cambria Math" panose="02040503050406030204" pitchFamily="18" charset="0"/>
                        </a:rPr>
                        <m:t>=0</m:t>
                      </m:r>
                    </m:oMath>
                  </m:oMathPara>
                </a14:m>
                <a:endParaRPr lang="en-US" dirty="0"/>
              </a:p>
            </p:txBody>
          </p:sp>
        </mc:Choice>
        <mc:Fallback>
          <p:sp>
            <p:nvSpPr>
              <p:cNvPr id="110" name="Rectangle 109">
                <a:extLst>
                  <a:ext uri="{FF2B5EF4-FFF2-40B4-BE49-F238E27FC236}">
                    <a16:creationId xmlns:a16="http://schemas.microsoft.com/office/drawing/2014/main" id="{C71B3137-2A50-46EC-891C-E5A3F0E0196D}"/>
                  </a:ext>
                </a:extLst>
              </p:cNvPr>
              <p:cNvSpPr>
                <a:spLocks noRot="1" noChangeAspect="1" noMove="1" noResize="1" noEditPoints="1" noAdjustHandles="1" noChangeArrowheads="1" noChangeShapeType="1" noTextEdit="1"/>
              </p:cNvSpPr>
              <p:nvPr/>
            </p:nvSpPr>
            <p:spPr>
              <a:xfrm>
                <a:off x="6699125" y="4161794"/>
                <a:ext cx="1050288" cy="369332"/>
              </a:xfrm>
              <a:prstGeom prst="rect">
                <a:avLst/>
              </a:prstGeom>
              <a:blipFill>
                <a:blip r:embed="rId8"/>
                <a:stretch>
                  <a:fillRect b="-13333"/>
                </a:stretch>
              </a:blipFill>
            </p:spPr>
            <p:txBody>
              <a:bodyPr/>
              <a:lstStyle/>
              <a:p>
                <a:r>
                  <a:rPr lang="sv-SE">
                    <a:noFill/>
                  </a:rPr>
                  <a:t> </a:t>
                </a:r>
              </a:p>
            </p:txBody>
          </p:sp>
        </mc:Fallback>
      </mc:AlternateContent>
      <p:sp>
        <p:nvSpPr>
          <p:cNvPr id="19" name="Rectangle 18"/>
          <p:cNvSpPr/>
          <p:nvPr/>
        </p:nvSpPr>
        <p:spPr>
          <a:xfrm>
            <a:off x="675663" y="2491365"/>
            <a:ext cx="4906914" cy="923330"/>
          </a:xfrm>
          <a:prstGeom prst="rect">
            <a:avLst/>
          </a:prstGeom>
        </p:spPr>
        <p:txBody>
          <a:bodyPr wrap="square">
            <a:spAutoFit/>
          </a:bodyPr>
          <a:lstStyle/>
          <a:p>
            <a:r>
              <a:rPr lang="en-US" dirty="0"/>
              <a:t>Using </a:t>
            </a:r>
            <a:r>
              <a:rPr lang="en-US" b="1" dirty="0"/>
              <a:t>multi-carriers</a:t>
            </a:r>
            <a:r>
              <a:rPr lang="en-US" dirty="0"/>
              <a:t> instead of </a:t>
            </a:r>
            <a:r>
              <a:rPr lang="en-US" dirty="0" smtClean="0"/>
              <a:t>single </a:t>
            </a:r>
            <a:r>
              <a:rPr lang="en-US" dirty="0"/>
              <a:t>carrier, we can </a:t>
            </a:r>
            <a:r>
              <a:rPr lang="en-US" b="1" dirty="0"/>
              <a:t>change the sequences </a:t>
            </a:r>
            <a:r>
              <a:rPr lang="en-US" dirty="0" smtClean="0"/>
              <a:t>by </a:t>
            </a:r>
            <a:r>
              <a:rPr lang="en-US" dirty="0"/>
              <a:t>adjusting the phases of the carrier signals.</a:t>
            </a:r>
          </a:p>
        </p:txBody>
      </p:sp>
    </p:spTree>
    <p:extLst>
      <p:ext uri="{BB962C8B-B14F-4D97-AF65-F5344CB8AC3E}">
        <p14:creationId xmlns:p14="http://schemas.microsoft.com/office/powerpoint/2010/main" val="101806049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smtClean="0">
                <a:solidFill>
                  <a:srgbClr val="C00000"/>
                </a:solidFill>
              </a:rPr>
              <a:t>Literature</a:t>
            </a:r>
            <a:r>
              <a:rPr lang="sv-SE" sz="3600" b="1" dirty="0" smtClean="0">
                <a:solidFill>
                  <a:srgbClr val="C00000"/>
                </a:solidFill>
              </a:rPr>
              <a:t> (for </a:t>
            </a:r>
            <a:r>
              <a:rPr lang="sv-SE" sz="3600" b="1" dirty="0" err="1" smtClean="0">
                <a:solidFill>
                  <a:srgbClr val="C00000"/>
                </a:solidFill>
              </a:rPr>
              <a:t>ones</a:t>
            </a:r>
            <a:r>
              <a:rPr lang="sv-SE" sz="3600" b="1" dirty="0" smtClean="0">
                <a:solidFill>
                  <a:srgbClr val="C00000"/>
                </a:solidFill>
              </a:rPr>
              <a:t> </a:t>
            </a:r>
            <a:r>
              <a:rPr lang="sv-SE" sz="3600" b="1" dirty="0" err="1" smtClean="0">
                <a:solidFill>
                  <a:srgbClr val="C00000"/>
                </a:solidFill>
              </a:rPr>
              <a:t>that</a:t>
            </a:r>
            <a:r>
              <a:rPr lang="sv-SE" sz="3600" b="1" dirty="0" smtClean="0">
                <a:solidFill>
                  <a:srgbClr val="C00000"/>
                </a:solidFill>
              </a:rPr>
              <a:t> </a:t>
            </a:r>
            <a:r>
              <a:rPr lang="sv-SE" sz="3600" b="1" dirty="0" err="1" smtClean="0">
                <a:solidFill>
                  <a:srgbClr val="C00000"/>
                </a:solidFill>
              </a:rPr>
              <a:t>are</a:t>
            </a:r>
            <a:r>
              <a:rPr lang="sv-SE" sz="3600" b="1" dirty="0" smtClean="0">
                <a:solidFill>
                  <a:srgbClr val="C00000"/>
                </a:solidFill>
              </a:rPr>
              <a:t> </a:t>
            </a:r>
            <a:r>
              <a:rPr lang="sv-SE" sz="3600" b="1" dirty="0" err="1" smtClean="0">
                <a:solidFill>
                  <a:srgbClr val="C00000"/>
                </a:solidFill>
              </a:rPr>
              <a:t>related</a:t>
            </a:r>
            <a:r>
              <a:rPr lang="sv-SE" sz="3600" b="1" dirty="0" smtClean="0">
                <a:solidFill>
                  <a:srgbClr val="C00000"/>
                </a:solidFill>
              </a:rPr>
              <a:t>  </a:t>
            </a:r>
            <a:r>
              <a:rPr lang="sv-SE" sz="3600" b="1" dirty="0" err="1" smtClean="0">
                <a:solidFill>
                  <a:srgbClr val="C00000"/>
                </a:solidFill>
              </a:rPr>
              <a:t>carrier</a:t>
            </a:r>
            <a:r>
              <a:rPr lang="sv-SE" sz="3600" b="1" dirty="0" smtClean="0">
                <a:solidFill>
                  <a:srgbClr val="C00000"/>
                </a:solidFill>
              </a:rPr>
              <a:t> </a:t>
            </a:r>
            <a:r>
              <a:rPr lang="sv-SE" sz="3600" b="1" dirty="0" err="1" smtClean="0">
                <a:solidFill>
                  <a:srgbClr val="C00000"/>
                </a:solidFill>
              </a:rPr>
              <a:t>phase</a:t>
            </a:r>
            <a:r>
              <a:rPr lang="sv-SE" sz="3600" b="1" dirty="0" smtClean="0">
                <a:solidFill>
                  <a:srgbClr val="C00000"/>
                </a:solidFill>
              </a:rPr>
              <a:t> </a:t>
            </a:r>
            <a:r>
              <a:rPr lang="sv-SE" sz="3600" b="1" dirty="0" err="1" smtClean="0">
                <a:solidFill>
                  <a:srgbClr val="C00000"/>
                </a:solidFill>
              </a:rPr>
              <a:t>shift</a:t>
            </a:r>
            <a:r>
              <a:rPr lang="sv-SE" sz="3600" b="1" dirty="0" smtClean="0">
                <a:solidFill>
                  <a:srgbClr val="C00000"/>
                </a:solidFill>
              </a:rPr>
              <a:t> !!)</a:t>
            </a:r>
            <a:endParaRPr lang="sv-SE" sz="3600" b="1" dirty="0">
              <a:solidFill>
                <a:srgbClr val="C00000"/>
              </a:solidFill>
            </a:endParaRP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Reducing Common-Mode Voltage in Three-Phase Sine-Triangle PWM With Interleaved Carriers</a:t>
            </a:r>
            <a:r>
              <a:rPr lang="en-US" dirty="0"/>
              <a:t>, IEEE TRANSACTIONS ON POWER </a:t>
            </a:r>
            <a:r>
              <a:rPr lang="en-US" dirty="0" smtClean="0"/>
              <a:t>ELECTRONICS 2011 </a:t>
            </a:r>
            <a:endParaRPr lang="sv-SE" dirty="0"/>
          </a:p>
        </p:txBody>
      </p:sp>
      <p:sp>
        <p:nvSpPr>
          <p:cNvPr id="4" name="TextBox 3"/>
          <p:cNvSpPr txBox="1"/>
          <p:nvPr/>
        </p:nvSpPr>
        <p:spPr>
          <a:xfrm>
            <a:off x="563880" y="2102712"/>
            <a:ext cx="8267700" cy="369332"/>
          </a:xfrm>
          <a:prstGeom prst="rect">
            <a:avLst/>
          </a:prstGeom>
          <a:noFill/>
        </p:spPr>
        <p:txBody>
          <a:bodyPr wrap="square" rtlCol="0">
            <a:spAutoFit/>
          </a:bodyPr>
          <a:lstStyle/>
          <a:p>
            <a:r>
              <a:rPr lang="en-US" dirty="0" smtClean="0"/>
              <a:t>It basically propose that the carriers are offset as given below.</a:t>
            </a:r>
            <a:endParaRPr lang="sv-SE" dirty="0"/>
          </a:p>
        </p:txBody>
      </p:sp>
      <p:pic>
        <p:nvPicPr>
          <p:cNvPr id="7" name="Picture 6"/>
          <p:cNvPicPr>
            <a:picLocks noChangeAspect="1"/>
          </p:cNvPicPr>
          <p:nvPr/>
        </p:nvPicPr>
        <p:blipFill>
          <a:blip r:embed="rId2"/>
          <a:stretch>
            <a:fillRect/>
          </a:stretch>
        </p:blipFill>
        <p:spPr>
          <a:xfrm>
            <a:off x="1482566" y="2560903"/>
            <a:ext cx="8922068" cy="1594854"/>
          </a:xfrm>
          <a:prstGeom prst="rect">
            <a:avLst/>
          </a:prstGeom>
        </p:spPr>
      </p:pic>
      <p:sp>
        <p:nvSpPr>
          <p:cNvPr id="8" name="Rectangle 7"/>
          <p:cNvSpPr/>
          <p:nvPr/>
        </p:nvSpPr>
        <p:spPr>
          <a:xfrm>
            <a:off x="649467" y="4244616"/>
            <a:ext cx="3518014" cy="369332"/>
          </a:xfrm>
          <a:prstGeom prst="rect">
            <a:avLst/>
          </a:prstGeom>
        </p:spPr>
        <p:txBody>
          <a:bodyPr wrap="none">
            <a:spAutoFit/>
          </a:bodyPr>
          <a:lstStyle/>
          <a:p>
            <a:r>
              <a:rPr lang="en-US" dirty="0" smtClean="0"/>
              <a:t>Now, we have the harmonics below</a:t>
            </a:r>
            <a:endParaRPr lang="sv-SE" dirty="0"/>
          </a:p>
        </p:txBody>
      </p:sp>
      <p:pic>
        <p:nvPicPr>
          <p:cNvPr id="9" name="Picture 8"/>
          <p:cNvPicPr>
            <a:picLocks noChangeAspect="1"/>
          </p:cNvPicPr>
          <p:nvPr/>
        </p:nvPicPr>
        <p:blipFill>
          <a:blip r:embed="rId3"/>
          <a:stretch>
            <a:fillRect/>
          </a:stretch>
        </p:blipFill>
        <p:spPr>
          <a:xfrm>
            <a:off x="767715" y="4839967"/>
            <a:ext cx="6334125" cy="1800225"/>
          </a:xfrm>
          <a:prstGeom prst="rect">
            <a:avLst/>
          </a:prstGeom>
        </p:spPr>
      </p:pic>
      <p:cxnSp>
        <p:nvCxnSpPr>
          <p:cNvPr id="11" name="Straight Arrow Connector 10"/>
          <p:cNvCxnSpPr/>
          <p:nvPr/>
        </p:nvCxnSpPr>
        <p:spPr>
          <a:xfrm>
            <a:off x="6583680" y="5740079"/>
            <a:ext cx="18516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435340" y="5196840"/>
            <a:ext cx="3627120" cy="1200329"/>
          </a:xfrm>
          <a:prstGeom prst="rect">
            <a:avLst/>
          </a:prstGeom>
          <a:noFill/>
        </p:spPr>
        <p:txBody>
          <a:bodyPr wrap="square" rtlCol="0">
            <a:spAutoFit/>
          </a:bodyPr>
          <a:lstStyle/>
          <a:p>
            <a:r>
              <a:rPr lang="en-US" dirty="0" smtClean="0"/>
              <a:t>Our zero </a:t>
            </a:r>
            <a:r>
              <a:rPr lang="en-US" dirty="0"/>
              <a:t>sequence is </a:t>
            </a:r>
            <a:r>
              <a:rPr lang="en-US" dirty="0" smtClean="0"/>
              <a:t>replaced. </a:t>
            </a:r>
          </a:p>
          <a:p>
            <a:r>
              <a:rPr lang="en-US" dirty="0" smtClean="0"/>
              <a:t>The magnitude of sideband is smaller, so we reduce CMV.</a:t>
            </a:r>
            <a:endParaRPr lang="en-US" dirty="0"/>
          </a:p>
          <a:p>
            <a:r>
              <a:rPr lang="en-US" dirty="0" smtClean="0"/>
              <a:t> </a:t>
            </a:r>
            <a:endParaRPr lang="sv-SE" dirty="0"/>
          </a:p>
        </p:txBody>
      </p:sp>
    </p:spTree>
    <p:extLst>
      <p:ext uri="{BB962C8B-B14F-4D97-AF65-F5344CB8AC3E}">
        <p14:creationId xmlns:p14="http://schemas.microsoft.com/office/powerpoint/2010/main" val="299873137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smtClean="0">
                <a:solidFill>
                  <a:srgbClr val="C00000"/>
                </a:solidFill>
              </a:rPr>
              <a:t>Literature</a:t>
            </a:r>
            <a:r>
              <a:rPr lang="sv-SE" sz="3600" b="1" dirty="0" smtClean="0">
                <a:solidFill>
                  <a:srgbClr val="C00000"/>
                </a:solidFill>
              </a:rPr>
              <a:t> (for </a:t>
            </a:r>
            <a:r>
              <a:rPr lang="sv-SE" sz="3600" b="1" dirty="0" err="1" smtClean="0">
                <a:solidFill>
                  <a:srgbClr val="C00000"/>
                </a:solidFill>
              </a:rPr>
              <a:t>ones</a:t>
            </a:r>
            <a:r>
              <a:rPr lang="sv-SE" sz="3600" b="1" dirty="0" smtClean="0">
                <a:solidFill>
                  <a:srgbClr val="C00000"/>
                </a:solidFill>
              </a:rPr>
              <a:t> </a:t>
            </a:r>
            <a:r>
              <a:rPr lang="sv-SE" sz="3600" b="1" dirty="0" err="1" smtClean="0">
                <a:solidFill>
                  <a:srgbClr val="C00000"/>
                </a:solidFill>
              </a:rPr>
              <a:t>that</a:t>
            </a:r>
            <a:r>
              <a:rPr lang="sv-SE" sz="3600" b="1" dirty="0" smtClean="0">
                <a:solidFill>
                  <a:srgbClr val="C00000"/>
                </a:solidFill>
              </a:rPr>
              <a:t> </a:t>
            </a:r>
            <a:r>
              <a:rPr lang="sv-SE" sz="3600" b="1" dirty="0" err="1" smtClean="0">
                <a:solidFill>
                  <a:srgbClr val="C00000"/>
                </a:solidFill>
              </a:rPr>
              <a:t>are</a:t>
            </a:r>
            <a:r>
              <a:rPr lang="sv-SE" sz="3600" b="1" dirty="0" smtClean="0">
                <a:solidFill>
                  <a:srgbClr val="C00000"/>
                </a:solidFill>
              </a:rPr>
              <a:t> </a:t>
            </a:r>
            <a:r>
              <a:rPr lang="sv-SE" sz="3600" b="1" dirty="0" err="1" smtClean="0">
                <a:solidFill>
                  <a:srgbClr val="C00000"/>
                </a:solidFill>
              </a:rPr>
              <a:t>related</a:t>
            </a:r>
            <a:r>
              <a:rPr lang="sv-SE" sz="3600" b="1" dirty="0" smtClean="0">
                <a:solidFill>
                  <a:srgbClr val="C00000"/>
                </a:solidFill>
              </a:rPr>
              <a:t> </a:t>
            </a:r>
            <a:r>
              <a:rPr lang="sv-SE" sz="3600" b="1" dirty="0" err="1" smtClean="0">
                <a:solidFill>
                  <a:srgbClr val="C00000"/>
                </a:solidFill>
              </a:rPr>
              <a:t>carrier</a:t>
            </a:r>
            <a:r>
              <a:rPr lang="sv-SE" sz="3600" b="1" dirty="0" smtClean="0">
                <a:solidFill>
                  <a:srgbClr val="C00000"/>
                </a:solidFill>
              </a:rPr>
              <a:t> </a:t>
            </a:r>
            <a:r>
              <a:rPr lang="sv-SE" sz="3600" b="1" dirty="0" err="1" smtClean="0">
                <a:solidFill>
                  <a:srgbClr val="C00000"/>
                </a:solidFill>
              </a:rPr>
              <a:t>phase</a:t>
            </a:r>
            <a:r>
              <a:rPr lang="sv-SE" sz="3600" b="1" dirty="0" smtClean="0">
                <a:solidFill>
                  <a:srgbClr val="C00000"/>
                </a:solidFill>
              </a:rPr>
              <a:t> </a:t>
            </a:r>
            <a:r>
              <a:rPr lang="sv-SE" sz="3600" b="1" dirty="0" err="1" smtClean="0">
                <a:solidFill>
                  <a:srgbClr val="C00000"/>
                </a:solidFill>
              </a:rPr>
              <a:t>shift</a:t>
            </a:r>
            <a:r>
              <a:rPr lang="sv-SE" sz="3600" b="1" dirty="0" smtClean="0">
                <a:solidFill>
                  <a:srgbClr val="C00000"/>
                </a:solidFill>
              </a:rPr>
              <a:t> !!)</a:t>
            </a:r>
            <a:endParaRPr lang="sv-SE" sz="3600" b="1" dirty="0">
              <a:solidFill>
                <a:srgbClr val="C00000"/>
              </a:solidFill>
            </a:endParaRP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Carrier Phase Shifted SPWM for CMV reduction </a:t>
            </a:r>
            <a:r>
              <a:rPr lang="en-US" dirty="0" smtClean="0">
                <a:solidFill>
                  <a:srgbClr val="7030A0"/>
                </a:solidFill>
              </a:rPr>
              <a:t>In a </a:t>
            </a:r>
            <a:r>
              <a:rPr lang="en-US" dirty="0">
                <a:solidFill>
                  <a:srgbClr val="7030A0"/>
                </a:solidFill>
              </a:rPr>
              <a:t>three-level inverter using Open-end winding</a:t>
            </a:r>
          </a:p>
          <a:p>
            <a:r>
              <a:rPr lang="en-US" dirty="0">
                <a:solidFill>
                  <a:srgbClr val="7030A0"/>
                </a:solidFill>
              </a:rPr>
              <a:t>induction motor drive</a:t>
            </a:r>
            <a:r>
              <a:rPr lang="en-US" dirty="0" smtClean="0"/>
              <a:t>, </a:t>
            </a:r>
            <a:r>
              <a:rPr lang="it-IT" dirty="0"/>
              <a:t>IEEE Region 10 International Conference TENCON.</a:t>
            </a:r>
            <a:endParaRPr lang="sv-SE" dirty="0"/>
          </a:p>
        </p:txBody>
      </p:sp>
      <p:sp>
        <p:nvSpPr>
          <p:cNvPr id="4" name="TextBox 3"/>
          <p:cNvSpPr txBox="1"/>
          <p:nvPr/>
        </p:nvSpPr>
        <p:spPr>
          <a:xfrm>
            <a:off x="563880" y="2102712"/>
            <a:ext cx="8267700" cy="369332"/>
          </a:xfrm>
          <a:prstGeom prst="rect">
            <a:avLst/>
          </a:prstGeom>
          <a:noFill/>
        </p:spPr>
        <p:txBody>
          <a:bodyPr wrap="square" rtlCol="0">
            <a:spAutoFit/>
          </a:bodyPr>
          <a:lstStyle/>
          <a:p>
            <a:r>
              <a:rPr lang="en-US" dirty="0" smtClean="0"/>
              <a:t>The same method is applied for open-end winding induction machine.</a:t>
            </a:r>
            <a:endParaRPr lang="sv-SE" dirty="0"/>
          </a:p>
        </p:txBody>
      </p:sp>
      <p:sp>
        <p:nvSpPr>
          <p:cNvPr id="13" name="Rectangle 12"/>
          <p:cNvSpPr/>
          <p:nvPr/>
        </p:nvSpPr>
        <p:spPr>
          <a:xfrm>
            <a:off x="510540" y="3150602"/>
            <a:ext cx="10043160" cy="646331"/>
          </a:xfrm>
          <a:prstGeom prst="rect">
            <a:avLst/>
          </a:prstGeom>
        </p:spPr>
        <p:txBody>
          <a:bodyPr wrap="square">
            <a:spAutoFit/>
          </a:bodyPr>
          <a:lstStyle/>
          <a:p>
            <a:r>
              <a:rPr lang="en-US" dirty="0">
                <a:solidFill>
                  <a:srgbClr val="7030A0"/>
                </a:solidFill>
              </a:rPr>
              <a:t>Reduction of Common-Mode Voltage in </a:t>
            </a:r>
            <a:r>
              <a:rPr lang="en-US" dirty="0" smtClean="0">
                <a:solidFill>
                  <a:srgbClr val="7030A0"/>
                </a:solidFill>
              </a:rPr>
              <a:t>Multiphase Two-Level </a:t>
            </a:r>
            <a:r>
              <a:rPr lang="en-US" dirty="0">
                <a:solidFill>
                  <a:srgbClr val="7030A0"/>
                </a:solidFill>
              </a:rPr>
              <a:t>Inverters Using </a:t>
            </a:r>
            <a:r>
              <a:rPr lang="en-US" dirty="0" smtClean="0">
                <a:solidFill>
                  <a:srgbClr val="7030A0"/>
                </a:solidFill>
              </a:rPr>
              <a:t>SPWM With </a:t>
            </a:r>
            <a:r>
              <a:rPr lang="en-US" dirty="0">
                <a:solidFill>
                  <a:srgbClr val="7030A0"/>
                </a:solidFill>
              </a:rPr>
              <a:t>Phase-Shifted Carriers</a:t>
            </a:r>
            <a:r>
              <a:rPr lang="en-US" dirty="0"/>
              <a:t>, IEEE TRANSACTIONS ON POWER </a:t>
            </a:r>
            <a:r>
              <a:rPr lang="en-US" dirty="0" smtClean="0"/>
              <a:t>ELECTRONICS</a:t>
            </a:r>
            <a:r>
              <a:rPr lang="it-IT" dirty="0" smtClean="0"/>
              <a:t>, 2016.</a:t>
            </a:r>
            <a:endParaRPr lang="sv-SE" dirty="0"/>
          </a:p>
        </p:txBody>
      </p:sp>
      <p:pic>
        <p:nvPicPr>
          <p:cNvPr id="6" name="Picture 5"/>
          <p:cNvPicPr>
            <a:picLocks noChangeAspect="1"/>
          </p:cNvPicPr>
          <p:nvPr/>
        </p:nvPicPr>
        <p:blipFill>
          <a:blip r:embed="rId3"/>
          <a:stretch>
            <a:fillRect/>
          </a:stretch>
        </p:blipFill>
        <p:spPr>
          <a:xfrm>
            <a:off x="725805" y="3909060"/>
            <a:ext cx="9663159" cy="2347228"/>
          </a:xfrm>
          <a:prstGeom prst="rect">
            <a:avLst/>
          </a:prstGeom>
        </p:spPr>
      </p:pic>
    </p:spTree>
    <p:extLst>
      <p:ext uri="{BB962C8B-B14F-4D97-AF65-F5344CB8AC3E}">
        <p14:creationId xmlns:p14="http://schemas.microsoft.com/office/powerpoint/2010/main" val="167974672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smtClean="0">
                <a:solidFill>
                  <a:srgbClr val="C00000"/>
                </a:solidFill>
              </a:rPr>
              <a:t>Literature</a:t>
            </a:r>
            <a:r>
              <a:rPr lang="sv-SE" sz="3600" b="1" dirty="0" smtClean="0">
                <a:solidFill>
                  <a:srgbClr val="C00000"/>
                </a:solidFill>
              </a:rPr>
              <a:t> (for </a:t>
            </a:r>
            <a:r>
              <a:rPr lang="sv-SE" sz="3600" b="1" dirty="0" err="1" smtClean="0">
                <a:solidFill>
                  <a:srgbClr val="C00000"/>
                </a:solidFill>
              </a:rPr>
              <a:t>ones</a:t>
            </a:r>
            <a:r>
              <a:rPr lang="sv-SE" sz="3600" b="1" dirty="0" smtClean="0">
                <a:solidFill>
                  <a:srgbClr val="C00000"/>
                </a:solidFill>
              </a:rPr>
              <a:t> </a:t>
            </a:r>
            <a:r>
              <a:rPr lang="sv-SE" sz="3600" b="1" dirty="0" err="1" smtClean="0">
                <a:solidFill>
                  <a:srgbClr val="C00000"/>
                </a:solidFill>
              </a:rPr>
              <a:t>that</a:t>
            </a:r>
            <a:r>
              <a:rPr lang="sv-SE" sz="3600" b="1" dirty="0" smtClean="0">
                <a:solidFill>
                  <a:srgbClr val="C00000"/>
                </a:solidFill>
              </a:rPr>
              <a:t> </a:t>
            </a:r>
            <a:r>
              <a:rPr lang="sv-SE" sz="3600" b="1" dirty="0" err="1" smtClean="0">
                <a:solidFill>
                  <a:srgbClr val="C00000"/>
                </a:solidFill>
              </a:rPr>
              <a:t>are</a:t>
            </a:r>
            <a:r>
              <a:rPr lang="sv-SE" sz="3600" b="1" dirty="0" smtClean="0">
                <a:solidFill>
                  <a:srgbClr val="C00000"/>
                </a:solidFill>
              </a:rPr>
              <a:t> </a:t>
            </a:r>
            <a:r>
              <a:rPr lang="sv-SE" sz="3600" b="1" dirty="0" err="1" smtClean="0">
                <a:solidFill>
                  <a:srgbClr val="C00000"/>
                </a:solidFill>
              </a:rPr>
              <a:t>related</a:t>
            </a:r>
            <a:r>
              <a:rPr lang="sv-SE" sz="3600" b="1" dirty="0" smtClean="0">
                <a:solidFill>
                  <a:srgbClr val="C00000"/>
                </a:solidFill>
              </a:rPr>
              <a:t> </a:t>
            </a:r>
            <a:r>
              <a:rPr lang="sv-SE" sz="3600" b="1" dirty="0" err="1" smtClean="0">
                <a:solidFill>
                  <a:srgbClr val="C00000"/>
                </a:solidFill>
              </a:rPr>
              <a:t>carrier</a:t>
            </a:r>
            <a:r>
              <a:rPr lang="sv-SE" sz="3600" b="1" dirty="0" smtClean="0">
                <a:solidFill>
                  <a:srgbClr val="C00000"/>
                </a:solidFill>
              </a:rPr>
              <a:t> </a:t>
            </a:r>
            <a:r>
              <a:rPr lang="sv-SE" sz="3600" b="1" dirty="0" err="1" smtClean="0">
                <a:solidFill>
                  <a:srgbClr val="C00000"/>
                </a:solidFill>
              </a:rPr>
              <a:t>phase</a:t>
            </a:r>
            <a:r>
              <a:rPr lang="sv-SE" sz="3600" b="1" dirty="0" smtClean="0">
                <a:solidFill>
                  <a:srgbClr val="C00000"/>
                </a:solidFill>
              </a:rPr>
              <a:t> </a:t>
            </a:r>
            <a:r>
              <a:rPr lang="sv-SE" sz="3600" b="1" dirty="0" err="1" smtClean="0">
                <a:solidFill>
                  <a:srgbClr val="C00000"/>
                </a:solidFill>
              </a:rPr>
              <a:t>shift</a:t>
            </a:r>
            <a:r>
              <a:rPr lang="sv-SE" sz="3600" b="1" dirty="0" smtClean="0">
                <a:solidFill>
                  <a:srgbClr val="C00000"/>
                </a:solidFill>
              </a:rPr>
              <a:t> !!)</a:t>
            </a:r>
            <a:endParaRPr lang="sv-SE" sz="3600" b="1" dirty="0">
              <a:solidFill>
                <a:srgbClr val="C00000"/>
              </a:solidFill>
            </a:endParaRP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Third Harmonic Injection SPWM Method </a:t>
            </a:r>
            <a:r>
              <a:rPr lang="en-US" dirty="0" smtClean="0">
                <a:solidFill>
                  <a:srgbClr val="7030A0"/>
                </a:solidFill>
              </a:rPr>
              <a:t>Based on </a:t>
            </a:r>
            <a:r>
              <a:rPr lang="en-US" dirty="0">
                <a:solidFill>
                  <a:srgbClr val="7030A0"/>
                </a:solidFill>
              </a:rPr>
              <a:t>Alternating Carrier Polarity to </a:t>
            </a:r>
            <a:r>
              <a:rPr lang="en-US" dirty="0" smtClean="0">
                <a:solidFill>
                  <a:srgbClr val="7030A0"/>
                </a:solidFill>
              </a:rPr>
              <a:t>Suppress the </a:t>
            </a:r>
            <a:r>
              <a:rPr lang="en-US" dirty="0">
                <a:solidFill>
                  <a:srgbClr val="7030A0"/>
                </a:solidFill>
              </a:rPr>
              <a:t>Common Mode Voltage</a:t>
            </a:r>
            <a:r>
              <a:rPr lang="en-US" dirty="0" smtClean="0"/>
              <a:t>, </a:t>
            </a:r>
            <a:r>
              <a:rPr lang="it-IT" dirty="0"/>
              <a:t>IEEE </a:t>
            </a:r>
            <a:r>
              <a:rPr lang="it-IT" dirty="0" smtClean="0"/>
              <a:t>ACCESS, 2018.</a:t>
            </a:r>
            <a:endParaRPr lang="sv-SE" dirty="0"/>
          </a:p>
        </p:txBody>
      </p:sp>
      <p:sp>
        <p:nvSpPr>
          <p:cNvPr id="4" name="TextBox 3"/>
          <p:cNvSpPr txBox="1"/>
          <p:nvPr/>
        </p:nvSpPr>
        <p:spPr>
          <a:xfrm>
            <a:off x="563880" y="2124750"/>
            <a:ext cx="10447020" cy="646331"/>
          </a:xfrm>
          <a:prstGeom prst="rect">
            <a:avLst/>
          </a:prstGeom>
          <a:noFill/>
        </p:spPr>
        <p:txBody>
          <a:bodyPr wrap="square" rtlCol="0">
            <a:spAutoFit/>
          </a:bodyPr>
          <a:lstStyle/>
          <a:p>
            <a:r>
              <a:rPr lang="en-US" dirty="0" smtClean="0"/>
              <a:t>An </a:t>
            </a:r>
            <a:r>
              <a:rPr lang="en-US" dirty="0"/>
              <a:t>alternating carrier polarity method </a:t>
            </a:r>
            <a:r>
              <a:rPr lang="en-US" dirty="0" smtClean="0"/>
              <a:t>is </a:t>
            </a:r>
            <a:r>
              <a:rPr lang="en-US" dirty="0"/>
              <a:t>proposed to eliminate the zero switch states. </a:t>
            </a:r>
            <a:endParaRPr lang="en-US" dirty="0" smtClean="0"/>
          </a:p>
          <a:p>
            <a:r>
              <a:rPr lang="en-US" dirty="0" smtClean="0"/>
              <a:t>According </a:t>
            </a:r>
            <a:r>
              <a:rPr lang="en-US" dirty="0"/>
              <a:t>to the characteristic of the three-phase modulated voltages, it is divided into six </a:t>
            </a:r>
            <a:r>
              <a:rPr lang="en-US" dirty="0" smtClean="0"/>
              <a:t>regions.</a:t>
            </a:r>
            <a:endParaRPr lang="sv-SE" dirty="0"/>
          </a:p>
        </p:txBody>
      </p:sp>
      <p:pic>
        <p:nvPicPr>
          <p:cNvPr id="5" name="Picture 4"/>
          <p:cNvPicPr>
            <a:picLocks noChangeAspect="1"/>
          </p:cNvPicPr>
          <p:nvPr/>
        </p:nvPicPr>
        <p:blipFill>
          <a:blip r:embed="rId3"/>
          <a:stretch>
            <a:fillRect/>
          </a:stretch>
        </p:blipFill>
        <p:spPr>
          <a:xfrm>
            <a:off x="142875" y="3375312"/>
            <a:ext cx="5200650" cy="2466975"/>
          </a:xfrm>
          <a:prstGeom prst="rect">
            <a:avLst/>
          </a:prstGeom>
        </p:spPr>
      </p:pic>
      <p:pic>
        <p:nvPicPr>
          <p:cNvPr id="7" name="Picture 6"/>
          <p:cNvPicPr>
            <a:picLocks noChangeAspect="1"/>
          </p:cNvPicPr>
          <p:nvPr/>
        </p:nvPicPr>
        <p:blipFill>
          <a:blip r:embed="rId4"/>
          <a:stretch>
            <a:fillRect/>
          </a:stretch>
        </p:blipFill>
        <p:spPr>
          <a:xfrm>
            <a:off x="5398770" y="2771081"/>
            <a:ext cx="6128263" cy="3675439"/>
          </a:xfrm>
          <a:prstGeom prst="rect">
            <a:avLst/>
          </a:prstGeom>
        </p:spPr>
      </p:pic>
    </p:spTree>
    <p:extLst>
      <p:ext uri="{BB962C8B-B14F-4D97-AF65-F5344CB8AC3E}">
        <p14:creationId xmlns:p14="http://schemas.microsoft.com/office/powerpoint/2010/main" val="168294101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smtClean="0">
                <a:solidFill>
                  <a:srgbClr val="C00000"/>
                </a:solidFill>
              </a:rPr>
              <a:t>Literature</a:t>
            </a:r>
            <a:r>
              <a:rPr lang="sv-SE" sz="3600" b="1" dirty="0" smtClean="0">
                <a:solidFill>
                  <a:srgbClr val="C00000"/>
                </a:solidFill>
              </a:rPr>
              <a:t> (for </a:t>
            </a:r>
            <a:r>
              <a:rPr lang="sv-SE" sz="3600" b="1" dirty="0" err="1" smtClean="0">
                <a:solidFill>
                  <a:srgbClr val="C00000"/>
                </a:solidFill>
              </a:rPr>
              <a:t>ones</a:t>
            </a:r>
            <a:r>
              <a:rPr lang="sv-SE" sz="3600" b="1" dirty="0" smtClean="0">
                <a:solidFill>
                  <a:srgbClr val="C00000"/>
                </a:solidFill>
              </a:rPr>
              <a:t> </a:t>
            </a:r>
            <a:r>
              <a:rPr lang="sv-SE" sz="3600" b="1" dirty="0" err="1" smtClean="0">
                <a:solidFill>
                  <a:srgbClr val="C00000"/>
                </a:solidFill>
              </a:rPr>
              <a:t>that</a:t>
            </a:r>
            <a:r>
              <a:rPr lang="sv-SE" sz="3600" b="1" dirty="0" smtClean="0">
                <a:solidFill>
                  <a:srgbClr val="C00000"/>
                </a:solidFill>
              </a:rPr>
              <a:t> </a:t>
            </a:r>
            <a:r>
              <a:rPr lang="sv-SE" sz="3600" b="1" dirty="0" err="1" smtClean="0">
                <a:solidFill>
                  <a:srgbClr val="C00000"/>
                </a:solidFill>
              </a:rPr>
              <a:t>are</a:t>
            </a:r>
            <a:r>
              <a:rPr lang="sv-SE" sz="3600" b="1" dirty="0" smtClean="0">
                <a:solidFill>
                  <a:srgbClr val="C00000"/>
                </a:solidFill>
              </a:rPr>
              <a:t> </a:t>
            </a:r>
            <a:r>
              <a:rPr lang="sv-SE" sz="3600" b="1" dirty="0" err="1" smtClean="0">
                <a:solidFill>
                  <a:srgbClr val="C00000"/>
                </a:solidFill>
              </a:rPr>
              <a:t>related</a:t>
            </a:r>
            <a:r>
              <a:rPr lang="sv-SE" sz="3600" b="1" dirty="0" smtClean="0">
                <a:solidFill>
                  <a:srgbClr val="C00000"/>
                </a:solidFill>
              </a:rPr>
              <a:t> </a:t>
            </a:r>
            <a:r>
              <a:rPr lang="sv-SE" sz="3600" b="1" dirty="0" err="1" smtClean="0">
                <a:solidFill>
                  <a:srgbClr val="C00000"/>
                </a:solidFill>
              </a:rPr>
              <a:t>carrier</a:t>
            </a:r>
            <a:r>
              <a:rPr lang="sv-SE" sz="3600" b="1" dirty="0" smtClean="0">
                <a:solidFill>
                  <a:srgbClr val="C00000"/>
                </a:solidFill>
              </a:rPr>
              <a:t> </a:t>
            </a:r>
            <a:r>
              <a:rPr lang="sv-SE" sz="3600" b="1" dirty="0" err="1" smtClean="0">
                <a:solidFill>
                  <a:srgbClr val="C00000"/>
                </a:solidFill>
              </a:rPr>
              <a:t>phase</a:t>
            </a:r>
            <a:r>
              <a:rPr lang="sv-SE" sz="3600" b="1" dirty="0" smtClean="0">
                <a:solidFill>
                  <a:srgbClr val="C00000"/>
                </a:solidFill>
              </a:rPr>
              <a:t> </a:t>
            </a:r>
            <a:r>
              <a:rPr lang="sv-SE" sz="3600" b="1" dirty="0" err="1" smtClean="0">
                <a:solidFill>
                  <a:srgbClr val="C00000"/>
                </a:solidFill>
              </a:rPr>
              <a:t>shift</a:t>
            </a:r>
            <a:r>
              <a:rPr lang="sv-SE" sz="3600" b="1" dirty="0" smtClean="0">
                <a:solidFill>
                  <a:srgbClr val="C00000"/>
                </a:solidFill>
              </a:rPr>
              <a:t> !!)</a:t>
            </a:r>
            <a:endParaRPr lang="sv-SE" sz="3600" b="1" dirty="0">
              <a:solidFill>
                <a:srgbClr val="C00000"/>
              </a:solidFill>
            </a:endParaRP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High-Frequency </a:t>
            </a:r>
            <a:r>
              <a:rPr lang="en-US" dirty="0" err="1">
                <a:solidFill>
                  <a:srgbClr val="7030A0"/>
                </a:solidFill>
              </a:rPr>
              <a:t>SiC</a:t>
            </a:r>
            <a:r>
              <a:rPr lang="en-US" dirty="0">
                <a:solidFill>
                  <a:srgbClr val="7030A0"/>
                </a:solidFill>
              </a:rPr>
              <a:t> Three-Phase VSIs </a:t>
            </a:r>
            <a:r>
              <a:rPr lang="en-US" dirty="0" smtClean="0">
                <a:solidFill>
                  <a:srgbClr val="7030A0"/>
                </a:solidFill>
              </a:rPr>
              <a:t>With Common-Mode </a:t>
            </a:r>
            <a:r>
              <a:rPr lang="en-US" dirty="0">
                <a:solidFill>
                  <a:srgbClr val="7030A0"/>
                </a:solidFill>
              </a:rPr>
              <a:t>Voltage Reduction and </a:t>
            </a:r>
            <a:r>
              <a:rPr lang="en-US" dirty="0" smtClean="0">
                <a:solidFill>
                  <a:srgbClr val="7030A0"/>
                </a:solidFill>
              </a:rPr>
              <a:t>Improved Performance </a:t>
            </a:r>
            <a:r>
              <a:rPr lang="en-US" dirty="0">
                <a:solidFill>
                  <a:srgbClr val="7030A0"/>
                </a:solidFill>
              </a:rPr>
              <a:t>Using Novel Tri-State PWM Method</a:t>
            </a:r>
            <a:r>
              <a:rPr lang="en-US" dirty="0"/>
              <a:t>, IEEE TRANSACTIONS ON POWER ELECTRONICS</a:t>
            </a:r>
            <a:r>
              <a:rPr lang="it-IT" dirty="0" smtClean="0"/>
              <a:t>, 2019.</a:t>
            </a:r>
            <a:endParaRPr lang="sv-SE" dirty="0"/>
          </a:p>
        </p:txBody>
      </p:sp>
      <p:pic>
        <p:nvPicPr>
          <p:cNvPr id="6" name="Picture 5"/>
          <p:cNvPicPr>
            <a:picLocks noChangeAspect="1"/>
          </p:cNvPicPr>
          <p:nvPr/>
        </p:nvPicPr>
        <p:blipFill>
          <a:blip r:embed="rId3"/>
          <a:stretch>
            <a:fillRect/>
          </a:stretch>
        </p:blipFill>
        <p:spPr>
          <a:xfrm>
            <a:off x="2034540" y="2917190"/>
            <a:ext cx="6858000" cy="2657475"/>
          </a:xfrm>
          <a:prstGeom prst="rect">
            <a:avLst/>
          </a:prstGeom>
        </p:spPr>
      </p:pic>
      <p:sp>
        <p:nvSpPr>
          <p:cNvPr id="8" name="Rectangle 7"/>
          <p:cNvSpPr/>
          <p:nvPr/>
        </p:nvSpPr>
        <p:spPr>
          <a:xfrm>
            <a:off x="533400" y="2270859"/>
            <a:ext cx="10820400" cy="646331"/>
          </a:xfrm>
          <a:prstGeom prst="rect">
            <a:avLst/>
          </a:prstGeom>
        </p:spPr>
        <p:txBody>
          <a:bodyPr wrap="square">
            <a:spAutoFit/>
          </a:bodyPr>
          <a:lstStyle/>
          <a:p>
            <a:r>
              <a:rPr lang="en-US" dirty="0"/>
              <a:t>The polarity of triangular carrier to be compared with the modulation signals is sector dependent to obtain CMV suppression, as given in Table </a:t>
            </a:r>
            <a:r>
              <a:rPr lang="en-US" dirty="0" smtClean="0"/>
              <a:t>II.</a:t>
            </a:r>
            <a:endParaRPr lang="sv-SE" dirty="0"/>
          </a:p>
        </p:txBody>
      </p:sp>
    </p:spTree>
    <p:extLst>
      <p:ext uri="{BB962C8B-B14F-4D97-AF65-F5344CB8AC3E}">
        <p14:creationId xmlns:p14="http://schemas.microsoft.com/office/powerpoint/2010/main" val="347483410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smtClean="0">
                <a:solidFill>
                  <a:srgbClr val="C00000"/>
                </a:solidFill>
              </a:rPr>
              <a:t>Literature</a:t>
            </a:r>
            <a:r>
              <a:rPr lang="sv-SE" sz="3600" b="1" dirty="0" smtClean="0">
                <a:solidFill>
                  <a:srgbClr val="C00000"/>
                </a:solidFill>
              </a:rPr>
              <a:t> (for </a:t>
            </a:r>
            <a:r>
              <a:rPr lang="sv-SE" sz="3600" b="1" dirty="0" err="1" smtClean="0">
                <a:solidFill>
                  <a:srgbClr val="C00000"/>
                </a:solidFill>
              </a:rPr>
              <a:t>ones</a:t>
            </a:r>
            <a:r>
              <a:rPr lang="sv-SE" sz="3600" b="1" dirty="0" smtClean="0">
                <a:solidFill>
                  <a:srgbClr val="C00000"/>
                </a:solidFill>
              </a:rPr>
              <a:t> </a:t>
            </a:r>
            <a:r>
              <a:rPr lang="sv-SE" sz="3600" b="1" dirty="0" err="1" smtClean="0">
                <a:solidFill>
                  <a:srgbClr val="C00000"/>
                </a:solidFill>
              </a:rPr>
              <a:t>that</a:t>
            </a:r>
            <a:r>
              <a:rPr lang="sv-SE" sz="3600" b="1" dirty="0" smtClean="0">
                <a:solidFill>
                  <a:srgbClr val="C00000"/>
                </a:solidFill>
              </a:rPr>
              <a:t> </a:t>
            </a:r>
            <a:r>
              <a:rPr lang="sv-SE" sz="3600" b="1" dirty="0" err="1" smtClean="0">
                <a:solidFill>
                  <a:srgbClr val="C00000"/>
                </a:solidFill>
              </a:rPr>
              <a:t>are</a:t>
            </a:r>
            <a:r>
              <a:rPr lang="sv-SE" sz="3600" b="1" dirty="0" smtClean="0">
                <a:solidFill>
                  <a:srgbClr val="C00000"/>
                </a:solidFill>
              </a:rPr>
              <a:t> </a:t>
            </a:r>
            <a:r>
              <a:rPr lang="sv-SE" sz="3600" b="1" dirty="0" err="1" smtClean="0">
                <a:solidFill>
                  <a:srgbClr val="C00000"/>
                </a:solidFill>
              </a:rPr>
              <a:t>related</a:t>
            </a:r>
            <a:r>
              <a:rPr lang="sv-SE" sz="3600" b="1" dirty="0" smtClean="0">
                <a:solidFill>
                  <a:srgbClr val="C00000"/>
                </a:solidFill>
              </a:rPr>
              <a:t> </a:t>
            </a:r>
            <a:r>
              <a:rPr lang="sv-SE" sz="3600" b="1" dirty="0" err="1" smtClean="0">
                <a:solidFill>
                  <a:srgbClr val="C00000"/>
                </a:solidFill>
              </a:rPr>
              <a:t>carrier</a:t>
            </a:r>
            <a:r>
              <a:rPr lang="sv-SE" sz="3600" b="1" dirty="0" smtClean="0">
                <a:solidFill>
                  <a:srgbClr val="C00000"/>
                </a:solidFill>
              </a:rPr>
              <a:t> </a:t>
            </a:r>
            <a:r>
              <a:rPr lang="sv-SE" sz="3600" b="1" dirty="0" err="1" smtClean="0">
                <a:solidFill>
                  <a:srgbClr val="C00000"/>
                </a:solidFill>
              </a:rPr>
              <a:t>phase</a:t>
            </a:r>
            <a:r>
              <a:rPr lang="sv-SE" sz="3600" b="1" dirty="0" smtClean="0">
                <a:solidFill>
                  <a:srgbClr val="C00000"/>
                </a:solidFill>
              </a:rPr>
              <a:t> </a:t>
            </a:r>
            <a:r>
              <a:rPr lang="sv-SE" sz="3600" b="1" dirty="0" err="1" smtClean="0">
                <a:solidFill>
                  <a:srgbClr val="C00000"/>
                </a:solidFill>
              </a:rPr>
              <a:t>shift</a:t>
            </a:r>
            <a:r>
              <a:rPr lang="sv-SE" sz="3600" b="1" dirty="0" smtClean="0">
                <a:solidFill>
                  <a:srgbClr val="C00000"/>
                </a:solidFill>
              </a:rPr>
              <a:t> !!)</a:t>
            </a:r>
            <a:endParaRPr lang="sv-SE" sz="3600" b="1" dirty="0">
              <a:solidFill>
                <a:srgbClr val="C00000"/>
              </a:solidFill>
            </a:endParaRP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Common-Mode Voltage Mitigation Technique </a:t>
            </a:r>
            <a:r>
              <a:rPr lang="en-US" dirty="0" smtClean="0">
                <a:solidFill>
                  <a:srgbClr val="7030A0"/>
                </a:solidFill>
              </a:rPr>
              <a:t>in Motor </a:t>
            </a:r>
            <a:r>
              <a:rPr lang="en-US" dirty="0">
                <a:solidFill>
                  <a:srgbClr val="7030A0"/>
                </a:solidFill>
              </a:rPr>
              <a:t>Drive Applications by Applying </a:t>
            </a:r>
            <a:r>
              <a:rPr lang="en-US" dirty="0" smtClean="0">
                <a:solidFill>
                  <a:srgbClr val="7030A0"/>
                </a:solidFill>
              </a:rPr>
              <a:t>a Sampling-Time </a:t>
            </a:r>
            <a:r>
              <a:rPr lang="en-US" dirty="0">
                <a:solidFill>
                  <a:srgbClr val="7030A0"/>
                </a:solidFill>
              </a:rPr>
              <a:t>Adaptive </a:t>
            </a:r>
            <a:r>
              <a:rPr lang="en-US" dirty="0" smtClean="0">
                <a:solidFill>
                  <a:srgbClr val="7030A0"/>
                </a:solidFill>
              </a:rPr>
              <a:t>Multi-Carrier PWM </a:t>
            </a:r>
            <a:r>
              <a:rPr lang="en-US" dirty="0">
                <a:solidFill>
                  <a:srgbClr val="7030A0"/>
                </a:solidFill>
              </a:rPr>
              <a:t>Method</a:t>
            </a:r>
            <a:r>
              <a:rPr lang="en-US" dirty="0" smtClean="0"/>
              <a:t>, </a:t>
            </a:r>
            <a:r>
              <a:rPr lang="it-IT" dirty="0"/>
              <a:t>IEEE </a:t>
            </a:r>
            <a:r>
              <a:rPr lang="it-IT" dirty="0" smtClean="0"/>
              <a:t>ACCESS, 2021.</a:t>
            </a:r>
            <a:endParaRPr lang="sv-SE" dirty="0"/>
          </a:p>
        </p:txBody>
      </p:sp>
      <p:pic>
        <p:nvPicPr>
          <p:cNvPr id="6" name="Picture 5"/>
          <p:cNvPicPr>
            <a:picLocks noChangeAspect="1"/>
          </p:cNvPicPr>
          <p:nvPr/>
        </p:nvPicPr>
        <p:blipFill>
          <a:blip r:embed="rId3"/>
          <a:stretch>
            <a:fillRect/>
          </a:stretch>
        </p:blipFill>
        <p:spPr>
          <a:xfrm>
            <a:off x="7756208" y="2103119"/>
            <a:ext cx="3206324" cy="4372927"/>
          </a:xfrm>
          <a:prstGeom prst="rect">
            <a:avLst/>
          </a:prstGeom>
        </p:spPr>
      </p:pic>
      <p:sp>
        <p:nvSpPr>
          <p:cNvPr id="8" name="Rectangle 7"/>
          <p:cNvSpPr/>
          <p:nvPr/>
        </p:nvSpPr>
        <p:spPr>
          <a:xfrm>
            <a:off x="510540" y="2179419"/>
            <a:ext cx="6096000" cy="646331"/>
          </a:xfrm>
          <a:prstGeom prst="rect">
            <a:avLst/>
          </a:prstGeom>
        </p:spPr>
        <p:txBody>
          <a:bodyPr>
            <a:spAutoFit/>
          </a:bodyPr>
          <a:lstStyle/>
          <a:p>
            <a:r>
              <a:rPr lang="en-US" smtClean="0"/>
              <a:t>CMV is highly dependent on the values of the displacement angles of the carriers φb and φc.</a:t>
            </a:r>
            <a:endParaRPr lang="sv-SE" dirty="0"/>
          </a:p>
        </p:txBody>
      </p:sp>
      <p:sp>
        <p:nvSpPr>
          <p:cNvPr id="9" name="Rectangle 8"/>
          <p:cNvSpPr/>
          <p:nvPr/>
        </p:nvSpPr>
        <p:spPr>
          <a:xfrm>
            <a:off x="716280" y="2991316"/>
            <a:ext cx="6096000" cy="2031325"/>
          </a:xfrm>
          <a:prstGeom prst="rect">
            <a:avLst/>
          </a:prstGeom>
        </p:spPr>
        <p:txBody>
          <a:bodyPr>
            <a:spAutoFit/>
          </a:bodyPr>
          <a:lstStyle/>
          <a:p>
            <a:r>
              <a:rPr lang="en-US" dirty="0"/>
              <a:t>The proposed adaptive multi-carrier PWM method considers the carrier phase displacement </a:t>
            </a:r>
            <a:r>
              <a:rPr lang="en-US" dirty="0" err="1"/>
              <a:t>φa</a:t>
            </a:r>
            <a:r>
              <a:rPr lang="en-US" dirty="0"/>
              <a:t> = 0 ◦ , while the angles </a:t>
            </a:r>
            <a:r>
              <a:rPr lang="en-US" dirty="0" err="1"/>
              <a:t>φb</a:t>
            </a:r>
            <a:r>
              <a:rPr lang="en-US" dirty="0"/>
              <a:t> and </a:t>
            </a:r>
            <a:r>
              <a:rPr lang="en-US" dirty="0" err="1"/>
              <a:t>φc</a:t>
            </a:r>
            <a:r>
              <a:rPr lang="en-US" dirty="0"/>
              <a:t>, for the sake of simplicity, only take values equal to 0◦ or 180◦ . Under this assumption, (8b) remains always zero. In this way, the final values of </a:t>
            </a:r>
            <a:r>
              <a:rPr lang="en-US" dirty="0" err="1"/>
              <a:t>φb</a:t>
            </a:r>
            <a:r>
              <a:rPr lang="en-US" dirty="0"/>
              <a:t> and </a:t>
            </a:r>
            <a:r>
              <a:rPr lang="en-US" dirty="0" err="1"/>
              <a:t>φc</a:t>
            </a:r>
            <a:r>
              <a:rPr lang="en-US" dirty="0"/>
              <a:t> (0◦ or 180◦ ) in order to minimize </a:t>
            </a:r>
            <a:r>
              <a:rPr lang="en-US" dirty="0" err="1"/>
              <a:t>CMVcn</a:t>
            </a:r>
            <a:r>
              <a:rPr lang="en-US" dirty="0"/>
              <a:t>(t) are those that will minimize (in absolute value) the mathematical term introduced in (8a).</a:t>
            </a:r>
            <a:endParaRPr lang="sv-SE" dirty="0"/>
          </a:p>
        </p:txBody>
      </p:sp>
      <p:pic>
        <p:nvPicPr>
          <p:cNvPr id="10" name="Picture 9"/>
          <p:cNvPicPr>
            <a:picLocks noChangeAspect="1"/>
          </p:cNvPicPr>
          <p:nvPr/>
        </p:nvPicPr>
        <p:blipFill>
          <a:blip r:embed="rId4"/>
          <a:stretch>
            <a:fillRect/>
          </a:stretch>
        </p:blipFill>
        <p:spPr>
          <a:xfrm>
            <a:off x="1630680" y="5188207"/>
            <a:ext cx="4191843" cy="1456178"/>
          </a:xfrm>
          <a:prstGeom prst="rect">
            <a:avLst/>
          </a:prstGeom>
        </p:spPr>
      </p:pic>
    </p:spTree>
    <p:extLst>
      <p:ext uri="{BB962C8B-B14F-4D97-AF65-F5344CB8AC3E}">
        <p14:creationId xmlns:p14="http://schemas.microsoft.com/office/powerpoint/2010/main" val="234473684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smtClean="0">
                <a:solidFill>
                  <a:srgbClr val="C00000"/>
                </a:solidFill>
              </a:rPr>
              <a:t>Literature</a:t>
            </a:r>
            <a:r>
              <a:rPr lang="sv-SE" sz="3600" b="1" dirty="0" smtClean="0">
                <a:solidFill>
                  <a:srgbClr val="C00000"/>
                </a:solidFill>
              </a:rPr>
              <a:t> (for </a:t>
            </a:r>
            <a:r>
              <a:rPr lang="sv-SE" sz="3600" b="1" dirty="0" err="1" smtClean="0">
                <a:solidFill>
                  <a:srgbClr val="C00000"/>
                </a:solidFill>
              </a:rPr>
              <a:t>ones</a:t>
            </a:r>
            <a:r>
              <a:rPr lang="sv-SE" sz="3600" b="1" dirty="0" smtClean="0">
                <a:solidFill>
                  <a:srgbClr val="C00000"/>
                </a:solidFill>
              </a:rPr>
              <a:t> </a:t>
            </a:r>
            <a:r>
              <a:rPr lang="sv-SE" sz="3600" b="1" dirty="0" err="1" smtClean="0">
                <a:solidFill>
                  <a:srgbClr val="C00000"/>
                </a:solidFill>
              </a:rPr>
              <a:t>that</a:t>
            </a:r>
            <a:r>
              <a:rPr lang="sv-SE" sz="3600" b="1" dirty="0" smtClean="0">
                <a:solidFill>
                  <a:srgbClr val="C00000"/>
                </a:solidFill>
              </a:rPr>
              <a:t> </a:t>
            </a:r>
            <a:r>
              <a:rPr lang="sv-SE" sz="3600" b="1" dirty="0" err="1" smtClean="0">
                <a:solidFill>
                  <a:srgbClr val="C00000"/>
                </a:solidFill>
              </a:rPr>
              <a:t>are</a:t>
            </a:r>
            <a:r>
              <a:rPr lang="sv-SE" sz="3600" b="1" dirty="0" smtClean="0">
                <a:solidFill>
                  <a:srgbClr val="C00000"/>
                </a:solidFill>
              </a:rPr>
              <a:t> </a:t>
            </a:r>
            <a:r>
              <a:rPr lang="sv-SE" sz="3600" b="1" dirty="0" err="1" smtClean="0">
                <a:solidFill>
                  <a:srgbClr val="C00000"/>
                </a:solidFill>
              </a:rPr>
              <a:t>related</a:t>
            </a:r>
            <a:r>
              <a:rPr lang="sv-SE" sz="3600" b="1" dirty="0" smtClean="0">
                <a:solidFill>
                  <a:srgbClr val="C00000"/>
                </a:solidFill>
              </a:rPr>
              <a:t> </a:t>
            </a:r>
            <a:r>
              <a:rPr lang="sv-SE" sz="3600" b="1" dirty="0" err="1" smtClean="0">
                <a:solidFill>
                  <a:srgbClr val="C00000"/>
                </a:solidFill>
              </a:rPr>
              <a:t>carrier</a:t>
            </a:r>
            <a:r>
              <a:rPr lang="sv-SE" sz="3600" b="1" dirty="0" smtClean="0">
                <a:solidFill>
                  <a:srgbClr val="C00000"/>
                </a:solidFill>
              </a:rPr>
              <a:t> </a:t>
            </a:r>
            <a:r>
              <a:rPr lang="sv-SE" sz="3600" b="1" dirty="0" err="1" smtClean="0">
                <a:solidFill>
                  <a:srgbClr val="C00000"/>
                </a:solidFill>
              </a:rPr>
              <a:t>phase</a:t>
            </a:r>
            <a:r>
              <a:rPr lang="sv-SE" sz="3600" b="1" dirty="0" smtClean="0">
                <a:solidFill>
                  <a:srgbClr val="C00000"/>
                </a:solidFill>
              </a:rPr>
              <a:t> </a:t>
            </a:r>
            <a:r>
              <a:rPr lang="sv-SE" sz="3600" b="1" dirty="0" err="1" smtClean="0">
                <a:solidFill>
                  <a:srgbClr val="C00000"/>
                </a:solidFill>
              </a:rPr>
              <a:t>shift</a:t>
            </a:r>
            <a:r>
              <a:rPr lang="sv-SE" sz="3600" b="1" dirty="0" smtClean="0">
                <a:solidFill>
                  <a:srgbClr val="C00000"/>
                </a:solidFill>
              </a:rPr>
              <a:t> !!)</a:t>
            </a:r>
            <a:endParaRPr lang="sv-SE" sz="3600" b="1" dirty="0">
              <a:solidFill>
                <a:srgbClr val="C00000"/>
              </a:solidFill>
            </a:endParaRP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Generalized Multicarrier PWM Technique </a:t>
            </a:r>
            <a:r>
              <a:rPr lang="en-US" dirty="0" smtClean="0">
                <a:solidFill>
                  <a:srgbClr val="7030A0"/>
                </a:solidFill>
              </a:rPr>
              <a:t>for Two-Level </a:t>
            </a:r>
            <a:r>
              <a:rPr lang="en-US" dirty="0">
                <a:solidFill>
                  <a:srgbClr val="7030A0"/>
                </a:solidFill>
              </a:rPr>
              <a:t>Voltage Source Inverters</a:t>
            </a:r>
            <a:r>
              <a:rPr lang="en-US" dirty="0" smtClean="0"/>
              <a:t>, </a:t>
            </a:r>
            <a:r>
              <a:rPr lang="it-IT" dirty="0"/>
              <a:t>IEEE TRANSACTIONS ON INDUSTRIAL </a:t>
            </a:r>
            <a:r>
              <a:rPr lang="it-IT" dirty="0" smtClean="0"/>
              <a:t>ELECTRONICS,2023.</a:t>
            </a:r>
            <a:endParaRPr lang="sv-SE" dirty="0"/>
          </a:p>
        </p:txBody>
      </p:sp>
      <p:pic>
        <p:nvPicPr>
          <p:cNvPr id="4" name="Picture 3"/>
          <p:cNvPicPr>
            <a:picLocks noChangeAspect="1"/>
          </p:cNvPicPr>
          <p:nvPr/>
        </p:nvPicPr>
        <p:blipFill>
          <a:blip r:embed="rId3"/>
          <a:stretch>
            <a:fillRect/>
          </a:stretch>
        </p:blipFill>
        <p:spPr>
          <a:xfrm>
            <a:off x="510540" y="3551562"/>
            <a:ext cx="3855720" cy="3119479"/>
          </a:xfrm>
          <a:prstGeom prst="rect">
            <a:avLst/>
          </a:prstGeom>
        </p:spPr>
      </p:pic>
      <p:pic>
        <p:nvPicPr>
          <p:cNvPr id="5" name="Picture 4"/>
          <p:cNvPicPr>
            <a:picLocks noChangeAspect="1"/>
          </p:cNvPicPr>
          <p:nvPr/>
        </p:nvPicPr>
        <p:blipFill>
          <a:blip r:embed="rId4"/>
          <a:stretch>
            <a:fillRect/>
          </a:stretch>
        </p:blipFill>
        <p:spPr>
          <a:xfrm>
            <a:off x="4578191" y="3696389"/>
            <a:ext cx="3482340" cy="2904441"/>
          </a:xfrm>
          <a:prstGeom prst="rect">
            <a:avLst/>
          </a:prstGeom>
        </p:spPr>
      </p:pic>
      <p:pic>
        <p:nvPicPr>
          <p:cNvPr id="7" name="Picture 6"/>
          <p:cNvPicPr>
            <a:picLocks noChangeAspect="1"/>
          </p:cNvPicPr>
          <p:nvPr/>
        </p:nvPicPr>
        <p:blipFill>
          <a:blip r:embed="rId5"/>
          <a:stretch>
            <a:fillRect/>
          </a:stretch>
        </p:blipFill>
        <p:spPr>
          <a:xfrm>
            <a:off x="8272463" y="3696389"/>
            <a:ext cx="3701549" cy="2759614"/>
          </a:xfrm>
          <a:prstGeom prst="rect">
            <a:avLst/>
          </a:prstGeom>
        </p:spPr>
      </p:pic>
      <p:sp>
        <p:nvSpPr>
          <p:cNvPr id="11" name="Rectangle 10"/>
          <p:cNvSpPr/>
          <p:nvPr/>
        </p:nvSpPr>
        <p:spPr>
          <a:xfrm>
            <a:off x="510540" y="2020621"/>
            <a:ext cx="10652760" cy="1200329"/>
          </a:xfrm>
          <a:prstGeom prst="rect">
            <a:avLst/>
          </a:prstGeom>
        </p:spPr>
        <p:txBody>
          <a:bodyPr wrap="square">
            <a:spAutoFit/>
          </a:bodyPr>
          <a:lstStyle/>
          <a:p>
            <a:r>
              <a:rPr lang="en-US" dirty="0"/>
              <a:t>The carrier </a:t>
            </a:r>
            <a:r>
              <a:rPr lang="en-US" dirty="0" smtClean="0"/>
              <a:t>phase displacement </a:t>
            </a:r>
            <a:r>
              <a:rPr lang="en-US" dirty="0"/>
              <a:t>angles are evaluated in order to reduce the common-mode voltage (CMV) total harmonic distortion (THD), the dc-link capacitor current THD, and the phase currents THD</a:t>
            </a:r>
            <a:r>
              <a:rPr lang="en-US" dirty="0" smtClean="0"/>
              <a:t>.</a:t>
            </a:r>
          </a:p>
          <a:p>
            <a:r>
              <a:rPr lang="en-US" dirty="0" smtClean="0"/>
              <a:t> </a:t>
            </a:r>
            <a:r>
              <a:rPr lang="en-US" dirty="0"/>
              <a:t>These targets are difficult to be met at the same time and a cost function is deployed in order to look for a suitable solution that develops a tradeoff between all the targets</a:t>
            </a:r>
            <a:endParaRPr lang="sv-SE" dirty="0"/>
          </a:p>
        </p:txBody>
      </p:sp>
    </p:spTree>
    <p:extLst>
      <p:ext uri="{BB962C8B-B14F-4D97-AF65-F5344CB8AC3E}">
        <p14:creationId xmlns:p14="http://schemas.microsoft.com/office/powerpoint/2010/main" val="384624793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rgbClr val="C00000"/>
                </a:solidFill>
              </a:rPr>
              <a:t>The Proposed Technique</a:t>
            </a:r>
            <a:endParaRPr lang="sv-SE" dirty="0">
              <a:solidFill>
                <a:srgbClr val="C00000"/>
              </a:solidFill>
            </a:endParaRPr>
          </a:p>
        </p:txBody>
      </p:sp>
      <p:sp>
        <p:nvSpPr>
          <p:cNvPr id="3" name="Content Placeholder 2"/>
          <p:cNvSpPr>
            <a:spLocks noGrp="1"/>
          </p:cNvSpPr>
          <p:nvPr>
            <p:ph idx="1"/>
          </p:nvPr>
        </p:nvSpPr>
        <p:spPr/>
        <p:txBody>
          <a:bodyPr>
            <a:normAutofit/>
          </a:bodyPr>
          <a:lstStyle/>
          <a:p>
            <a:r>
              <a:rPr lang="en-US" dirty="0" smtClean="0"/>
              <a:t>For all studies </a:t>
            </a:r>
            <a:r>
              <a:rPr lang="en-US" dirty="0" err="1" smtClean="0"/>
              <a:t>aferomentioned</a:t>
            </a:r>
            <a:r>
              <a:rPr lang="en-US" dirty="0" smtClean="0"/>
              <a:t>, </a:t>
            </a:r>
            <a:r>
              <a:rPr lang="en-US" b="1" dirty="0" smtClean="0"/>
              <a:t>Either</a:t>
            </a:r>
            <a:r>
              <a:rPr lang="en-US" dirty="0" smtClean="0"/>
              <a:t> phase shift is kept at </a:t>
            </a:r>
            <a:r>
              <a:rPr lang="en-US" b="1" dirty="0" smtClean="0"/>
              <a:t>constant </a:t>
            </a:r>
            <a:r>
              <a:rPr lang="en-US" dirty="0" smtClean="0"/>
              <a:t>value </a:t>
            </a:r>
            <a:r>
              <a:rPr lang="en-US" b="1" dirty="0" smtClean="0"/>
              <a:t>during a fundamental period ;  </a:t>
            </a:r>
            <a:r>
              <a:rPr lang="en-US" b="1" dirty="0"/>
              <a:t>O</a:t>
            </a:r>
            <a:r>
              <a:rPr lang="en-US" b="1" dirty="0" smtClean="0"/>
              <a:t>r</a:t>
            </a:r>
            <a:r>
              <a:rPr lang="en-US" dirty="0" smtClean="0"/>
              <a:t> only </a:t>
            </a:r>
            <a:r>
              <a:rPr lang="en-US" b="1" dirty="0" smtClean="0"/>
              <a:t>polarity</a:t>
            </a:r>
            <a:r>
              <a:rPr lang="en-US" dirty="0" smtClean="0"/>
              <a:t> is </a:t>
            </a:r>
            <a:r>
              <a:rPr lang="en-US" b="1" dirty="0" smtClean="0"/>
              <a:t>altered </a:t>
            </a:r>
            <a:r>
              <a:rPr lang="en-US" dirty="0" smtClean="0"/>
              <a:t>regarding the </a:t>
            </a:r>
            <a:r>
              <a:rPr lang="en-US" b="1" dirty="0" smtClean="0"/>
              <a:t>voltage sector </a:t>
            </a:r>
            <a:r>
              <a:rPr lang="en-US" dirty="0" smtClean="0"/>
              <a:t>required to achieve voltage reference. </a:t>
            </a:r>
          </a:p>
          <a:p>
            <a:r>
              <a:rPr lang="en-US" dirty="0" smtClean="0"/>
              <a:t>Therefore, the methods reduces the </a:t>
            </a:r>
            <a:r>
              <a:rPr lang="en-US" b="1" dirty="0" smtClean="0"/>
              <a:t>average CMV </a:t>
            </a:r>
            <a:r>
              <a:rPr lang="en-US" dirty="0" smtClean="0"/>
              <a:t>along a fundamental period, but the CMV for </a:t>
            </a:r>
            <a:r>
              <a:rPr lang="en-US" dirty="0"/>
              <a:t>each switching interval</a:t>
            </a:r>
            <a:r>
              <a:rPr lang="en-US" dirty="0" smtClean="0"/>
              <a:t> can be decreased more  if </a:t>
            </a:r>
            <a:r>
              <a:rPr lang="en-US" b="1" dirty="0" smtClean="0"/>
              <a:t>adaptive </a:t>
            </a:r>
            <a:r>
              <a:rPr lang="en-US" b="1" dirty="0"/>
              <a:t>carrier phase shift </a:t>
            </a:r>
            <a:r>
              <a:rPr lang="en-US" dirty="0" smtClean="0"/>
              <a:t>is applied. </a:t>
            </a:r>
            <a:endParaRPr lang="en-US" dirty="0"/>
          </a:p>
          <a:p>
            <a:r>
              <a:rPr lang="en-US" dirty="0"/>
              <a:t>A</a:t>
            </a:r>
            <a:r>
              <a:rPr lang="en-US" dirty="0" smtClean="0"/>
              <a:t>ccordingly, a </a:t>
            </a:r>
            <a:r>
              <a:rPr lang="en-US" b="1" dirty="0" smtClean="0"/>
              <a:t>variable carrier phase shift </a:t>
            </a:r>
            <a:r>
              <a:rPr lang="en-US" dirty="0" smtClean="0"/>
              <a:t>method, which </a:t>
            </a:r>
            <a:r>
              <a:rPr lang="sv-SE" dirty="0" err="1"/>
              <a:t>aims</a:t>
            </a:r>
            <a:r>
              <a:rPr lang="sv-SE" dirty="0"/>
              <a:t> to </a:t>
            </a:r>
            <a:r>
              <a:rPr lang="sv-SE" dirty="0" err="1"/>
              <a:t>achieve</a:t>
            </a:r>
            <a:r>
              <a:rPr lang="sv-SE" dirty="0"/>
              <a:t> </a:t>
            </a:r>
            <a:r>
              <a:rPr lang="en-US" dirty="0" smtClean="0"/>
              <a:t>lower common mode voltage during </a:t>
            </a:r>
            <a:r>
              <a:rPr lang="en-US" dirty="0"/>
              <a:t>each switching </a:t>
            </a:r>
            <a:r>
              <a:rPr lang="en-US" dirty="0" smtClean="0"/>
              <a:t>interval, is proposed.</a:t>
            </a:r>
          </a:p>
          <a:p>
            <a:pPr marL="0" indent="0">
              <a:buNone/>
            </a:pPr>
            <a:endParaRPr lang="en-US" dirty="0" smtClean="0"/>
          </a:p>
          <a:p>
            <a:pPr marL="0" indent="0">
              <a:buNone/>
            </a:pPr>
            <a:endParaRPr lang="en-US" dirty="0" smtClean="0"/>
          </a:p>
        </p:txBody>
      </p:sp>
    </p:spTree>
    <p:extLst>
      <p:ext uri="{BB962C8B-B14F-4D97-AF65-F5344CB8AC3E}">
        <p14:creationId xmlns:p14="http://schemas.microsoft.com/office/powerpoint/2010/main" val="266122297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rgbClr val="C00000"/>
                </a:solidFill>
              </a:rPr>
              <a:t>Mathematical Modelling</a:t>
            </a:r>
            <a:endParaRPr lang="sv-SE" dirty="0"/>
          </a:p>
        </p:txBody>
      </p:sp>
      <p:pic>
        <p:nvPicPr>
          <p:cNvPr id="4" name="Picture 3"/>
          <p:cNvPicPr>
            <a:picLocks noChangeAspect="1"/>
          </p:cNvPicPr>
          <p:nvPr/>
        </p:nvPicPr>
        <p:blipFill rotWithShape="1">
          <a:blip r:embed="rId2"/>
          <a:srcRect l="1091"/>
          <a:stretch/>
        </p:blipFill>
        <p:spPr>
          <a:xfrm>
            <a:off x="335279" y="1539240"/>
            <a:ext cx="5696993" cy="4019550"/>
          </a:xfrm>
          <a:prstGeom prst="rect">
            <a:avLst/>
          </a:prstGeom>
        </p:spPr>
      </p:pic>
      <mc:AlternateContent xmlns:mc="http://schemas.openxmlformats.org/markup-compatibility/2006">
        <mc:Choice xmlns:a14="http://schemas.microsoft.com/office/drawing/2010/main" Requires="a14">
          <p:sp>
            <p:nvSpPr>
              <p:cNvPr id="5" name="Rectangle 4"/>
              <p:cNvSpPr/>
              <p:nvPr/>
            </p:nvSpPr>
            <p:spPr>
              <a:xfrm>
                <a:off x="5867400" y="1690688"/>
                <a:ext cx="6096000" cy="1754326"/>
              </a:xfrm>
              <a:prstGeom prst="rect">
                <a:avLst/>
              </a:prstGeom>
            </p:spPr>
            <p:txBody>
              <a:bodyPr>
                <a:spAutoFit/>
              </a:bodyPr>
              <a:lstStyle/>
              <a:p>
                <a:r>
                  <a:rPr lang="en-US" dirty="0" smtClean="0"/>
                  <a:t>Figure shows </a:t>
                </a:r>
                <a:r>
                  <a:rPr lang="en-US" dirty="0"/>
                  <a:t>the SPWM technique with reference, carrier,</a:t>
                </a:r>
              </a:p>
              <a:p>
                <a:r>
                  <a:rPr lang="en-US" dirty="0"/>
                  <a:t>and PWM signals, where different carrier signals (implying</a:t>
                </a:r>
              </a:p>
              <a:p>
                <a:r>
                  <a:rPr lang="en-US" dirty="0"/>
                  <a:t>that </a:t>
                </a:r>
                <a:r>
                  <a:rPr lang="en-US" dirty="0" err="1"/>
                  <a:t>ϕ</a:t>
                </a:r>
                <a:r>
                  <a:rPr lang="en-US" sz="800" dirty="0" err="1"/>
                  <a:t>cA</a:t>
                </a:r>
                <a:r>
                  <a:rPr lang="en-US" sz="800" dirty="0"/>
                  <a:t> </a:t>
                </a:r>
                <a:r>
                  <a:rPr lang="en-US" dirty="0"/>
                  <a:t≯= </a:t>
                </a:r>
                <a:r>
                  <a:rPr lang="en-US" dirty="0" err="1"/>
                  <a:t>ϕ</a:t>
                </a:r>
                <a:r>
                  <a:rPr lang="en-US" sz="800" dirty="0" err="1"/>
                  <a:t>cB</a:t>
                </a:r>
                <a:r>
                  <a:rPr lang="en-US" sz="800" dirty="0"/>
                  <a:t> </a:t>
                </a:r>
                <a:r>
                  <a:rPr lang="en-US" dirty="0"/>
                  <a:t≯= </a:t>
                </a:r>
                <a:r>
                  <a:rPr lang="en-US" dirty="0" err="1"/>
                  <a:t>ϕ</a:t>
                </a:r>
                <a:r>
                  <a:rPr lang="en-US" sz="800" dirty="0" err="1"/>
                  <a:t>cC</a:t>
                </a:r>
                <a:r>
                  <a:rPr lang="en-US" sz="800" dirty="0"/>
                  <a:t> </a:t>
                </a:r>
                <a:r>
                  <a:rPr lang="en-US" dirty="0"/>
                  <a:t>) are used for each phase</a:t>
                </a:r>
                <a:r>
                  <a:rPr lang="en-US" dirty="0" smtClean="0"/>
                  <a:t>.</a:t>
                </a:r>
              </a:p>
              <a:p>
                <a:endParaRPr lang="en-US" dirty="0"/>
              </a:p>
              <a:p>
                <a:r>
                  <a:rPr lang="sv-SE" dirty="0"/>
                  <a:t>The </a:t>
                </a:r>
                <a:r>
                  <a:rPr lang="sv-SE" dirty="0" err="1" smtClean="0"/>
                  <a:t>duty</a:t>
                </a:r>
                <a:r>
                  <a:rPr lang="sv-SE" dirty="0"/>
                  <a:t> </a:t>
                </a:r>
                <a:r>
                  <a:rPr lang="en-US" dirty="0" smtClean="0"/>
                  <a:t>cycle </a:t>
                </a:r>
                <a:r>
                  <a:rPr lang="en-US" dirty="0"/>
                  <a:t>of each phase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𝐴</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b="0" i="1" smtClean="0">
                            <a:latin typeface="Cambria Math" panose="02040503050406030204" pitchFamily="18" charset="0"/>
                          </a:rPr>
                          <m:t>𝐵</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b="0" i="1" smtClean="0">
                            <a:latin typeface="Cambria Math" panose="02040503050406030204" pitchFamily="18" charset="0"/>
                          </a:rPr>
                          <m:t>𝐶</m:t>
                        </m:r>
                      </m:sub>
                    </m:sSub>
                  </m:oMath>
                </a14:m>
                <a:r>
                  <a:rPr lang="en-US" dirty="0"/>
                  <a:t>) follows its </a:t>
                </a:r>
                <a:r>
                  <a:rPr lang="en-US" dirty="0" smtClean="0"/>
                  <a:t>corresponding reference </a:t>
                </a:r>
                <a:r>
                  <a:rPr lang="en-US" dirty="0"/>
                  <a:t>signal, as given </a:t>
                </a:r>
                <a:r>
                  <a:rPr lang="en-US" dirty="0" smtClean="0"/>
                  <a:t>below.</a:t>
                </a:r>
                <a:endParaRPr lang="sv-SE" dirty="0"/>
              </a:p>
            </p:txBody>
          </p:sp>
        </mc:Choice>
        <mc:Fallback>
          <p:sp>
            <p:nvSpPr>
              <p:cNvPr id="5" name="Rectangle 4"/>
              <p:cNvSpPr>
                <a:spLocks noRot="1" noChangeAspect="1" noMove="1" noResize="1" noEditPoints="1" noAdjustHandles="1" noChangeArrowheads="1" noChangeShapeType="1" noTextEdit="1"/>
              </p:cNvSpPr>
              <p:nvPr/>
            </p:nvSpPr>
            <p:spPr>
              <a:xfrm>
                <a:off x="5867400" y="1690688"/>
                <a:ext cx="6096000" cy="1754326"/>
              </a:xfrm>
              <a:prstGeom prst="rect">
                <a:avLst/>
              </a:prstGeom>
              <a:blipFill>
                <a:blip r:embed="rId3"/>
                <a:stretch>
                  <a:fillRect l="-900" t="-1736" b="-4514"/>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6" name="TextBox 5"/>
              <p:cNvSpPr txBox="1"/>
              <p:nvPr/>
            </p:nvSpPr>
            <p:spPr>
              <a:xfrm>
                <a:off x="7307580" y="3596462"/>
                <a:ext cx="2781300" cy="525785"/>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𝐴</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p:sp>
            <p:nvSpPr>
              <p:cNvPr id="6" name="TextBox 5"/>
              <p:cNvSpPr txBox="1">
                <a:spLocks noRot="1" noChangeAspect="1" noMove="1" noResize="1" noEditPoints="1" noAdjustHandles="1" noChangeArrowheads="1" noChangeShapeType="1" noTextEdit="1"/>
              </p:cNvSpPr>
              <p:nvPr/>
            </p:nvSpPr>
            <p:spPr>
              <a:xfrm>
                <a:off x="7307580" y="3596462"/>
                <a:ext cx="2781300" cy="525785"/>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7307580" y="4215875"/>
                <a:ext cx="3086100" cy="69974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𝐵</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2</m:t>
                                  </m:r>
                                  <m:r>
                                    <a:rPr lang="en-US" i="1">
                                      <a:latin typeface="Cambria Math" panose="02040503050406030204" pitchFamily="18" charset="0"/>
                                    </a:rPr>
                                    <m:t>𝜋</m:t>
                                  </m:r>
                                </m:num>
                                <m:den>
                                  <m:r>
                                    <a:rPr lang="en-US" i="1">
                                      <a:latin typeface="Cambria Math" panose="02040503050406030204" pitchFamily="18" charset="0"/>
                                    </a:rPr>
                                    <m:t>3</m:t>
                                  </m:r>
                                </m:den>
                              </m:f>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p:sp>
            <p:nvSpPr>
              <p:cNvPr id="9" name="TextBox 8"/>
              <p:cNvSpPr txBox="1">
                <a:spLocks noRot="1" noChangeAspect="1" noMove="1" noResize="1" noEditPoints="1" noAdjustHandles="1" noChangeArrowheads="1" noChangeShapeType="1" noTextEdit="1"/>
              </p:cNvSpPr>
              <p:nvPr/>
            </p:nvSpPr>
            <p:spPr>
              <a:xfrm>
                <a:off x="7307580" y="4215875"/>
                <a:ext cx="3086100" cy="699743"/>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7307580" y="5137895"/>
                <a:ext cx="3086100" cy="69974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𝐶</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2</m:t>
                                  </m:r>
                                  <m:r>
                                    <a:rPr lang="en-US" i="1">
                                      <a:latin typeface="Cambria Math" panose="02040503050406030204" pitchFamily="18" charset="0"/>
                                    </a:rPr>
                                    <m:t>𝜋</m:t>
                                  </m:r>
                                </m:num>
                                <m:den>
                                  <m:r>
                                    <a:rPr lang="en-US" i="1">
                                      <a:latin typeface="Cambria Math" panose="02040503050406030204" pitchFamily="18" charset="0"/>
                                    </a:rPr>
                                    <m:t>3</m:t>
                                  </m:r>
                                </m:den>
                              </m:f>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p:sp>
            <p:nvSpPr>
              <p:cNvPr id="10" name="TextBox 9"/>
              <p:cNvSpPr txBox="1">
                <a:spLocks noRot="1" noChangeAspect="1" noMove="1" noResize="1" noEditPoints="1" noAdjustHandles="1" noChangeArrowheads="1" noChangeShapeType="1" noTextEdit="1"/>
              </p:cNvSpPr>
              <p:nvPr/>
            </p:nvSpPr>
            <p:spPr>
              <a:xfrm>
                <a:off x="7307580" y="5137895"/>
                <a:ext cx="3086100" cy="699743"/>
              </a:xfrm>
              <a:prstGeom prst="rect">
                <a:avLst/>
              </a:prstGeom>
              <a:blipFill>
                <a:blip r:embed="rId6"/>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236574703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rgbClr val="C00000"/>
                </a:solidFill>
              </a:rPr>
              <a:t>Mathematical Modelling</a:t>
            </a:r>
            <a:endParaRPr lang="sv-SE" dirty="0"/>
          </a:p>
        </p:txBody>
      </p:sp>
      <p:sp>
        <p:nvSpPr>
          <p:cNvPr id="3" name="Rectangle 2"/>
          <p:cNvSpPr/>
          <p:nvPr/>
        </p:nvSpPr>
        <p:spPr>
          <a:xfrm>
            <a:off x="899160" y="1507897"/>
            <a:ext cx="10294620" cy="1200329"/>
          </a:xfrm>
          <a:prstGeom prst="rect">
            <a:avLst/>
          </a:prstGeom>
        </p:spPr>
        <p:txBody>
          <a:bodyPr wrap="square">
            <a:spAutoFit/>
          </a:bodyPr>
          <a:lstStyle/>
          <a:p>
            <a:pPr marL="285750" indent="-285750">
              <a:buFont typeface="Arial" panose="020B0604020202020204" pitchFamily="34" charset="0"/>
              <a:buChar char="•"/>
            </a:pPr>
            <a:r>
              <a:rPr lang="sv-SE" dirty="0"/>
              <a:t>S</a:t>
            </a:r>
            <a:r>
              <a:rPr lang="sv-SE" dirty="0" smtClean="0"/>
              <a:t>quare </a:t>
            </a:r>
            <a:r>
              <a:rPr lang="sv-SE" dirty="0" err="1" smtClean="0"/>
              <a:t>waves</a:t>
            </a:r>
            <a:r>
              <a:rPr lang="sv-SE" dirty="0"/>
              <a:t> </a:t>
            </a:r>
            <a:r>
              <a:rPr lang="en-US" dirty="0" smtClean="0"/>
              <a:t>with </a:t>
            </a:r>
            <a:r>
              <a:rPr lang="en-US" dirty="0"/>
              <a:t>varying duty cycles are generated within a </a:t>
            </a:r>
            <a:r>
              <a:rPr lang="en-US" dirty="0" smtClean="0"/>
              <a:t>switching interval</a:t>
            </a:r>
            <a:r>
              <a:rPr lang="en-US" dirty="0"/>
              <a:t>. </a:t>
            </a:r>
            <a:endParaRPr lang="en-US" dirty="0" smtClean="0"/>
          </a:p>
          <a:p>
            <a:pPr marL="285750" indent="-285750">
              <a:buFont typeface="Arial" panose="020B0604020202020204" pitchFamily="34" charset="0"/>
              <a:buChar char="•"/>
            </a:pPr>
            <a:r>
              <a:rPr lang="en-US" dirty="0" smtClean="0"/>
              <a:t>The </a:t>
            </a:r>
            <a:r>
              <a:rPr lang="en-US" dirty="0"/>
              <a:t>duty cycles depend on the reference </a:t>
            </a:r>
            <a:r>
              <a:rPr lang="en-US" dirty="0" smtClean="0"/>
              <a:t>signals.</a:t>
            </a:r>
          </a:p>
          <a:p>
            <a:r>
              <a:rPr lang="en-US" dirty="0" smtClean="0"/>
              <a:t>Therefore, the </a:t>
            </a:r>
            <a:r>
              <a:rPr lang="en-US" dirty="0"/>
              <a:t>first switching harmonic components for </a:t>
            </a:r>
            <a:r>
              <a:rPr lang="en-US" dirty="0" smtClean="0"/>
              <a:t>these square </a:t>
            </a:r>
            <a:r>
              <a:rPr lang="en-US" dirty="0"/>
              <a:t>waves can be calculated using the Fourier </a:t>
            </a:r>
            <a:r>
              <a:rPr lang="en-US" dirty="0" smtClean="0"/>
              <a:t>series. </a:t>
            </a:r>
            <a:endParaRPr lang="sv-SE" dirty="0"/>
          </a:p>
        </p:txBody>
      </p:sp>
      <p:pic>
        <p:nvPicPr>
          <p:cNvPr id="9" name="Picture 8"/>
          <p:cNvPicPr>
            <a:picLocks noChangeAspect="1"/>
          </p:cNvPicPr>
          <p:nvPr/>
        </p:nvPicPr>
        <p:blipFill>
          <a:blip r:embed="rId2"/>
          <a:stretch>
            <a:fillRect/>
          </a:stretch>
        </p:blipFill>
        <p:spPr>
          <a:xfrm>
            <a:off x="3656647" y="2582275"/>
            <a:ext cx="4039553" cy="1677305"/>
          </a:xfrm>
          <a:prstGeom prst="rect">
            <a:avLst/>
          </a:prstGeom>
        </p:spPr>
      </p:pic>
      <p:sp>
        <p:nvSpPr>
          <p:cNvPr id="10" name="TextBox 9"/>
          <p:cNvSpPr txBox="1"/>
          <p:nvPr/>
        </p:nvSpPr>
        <p:spPr>
          <a:xfrm>
            <a:off x="1211103" y="4391144"/>
            <a:ext cx="8930640" cy="369332"/>
          </a:xfrm>
          <a:prstGeom prst="rect">
            <a:avLst/>
          </a:prstGeom>
          <a:noFill/>
        </p:spPr>
        <p:txBody>
          <a:bodyPr wrap="square" rtlCol="0">
            <a:spAutoFit/>
          </a:bodyPr>
          <a:lstStyle/>
          <a:p>
            <a:r>
              <a:rPr lang="en-US" dirty="0" smtClean="0"/>
              <a:t>Then, common mode voltage is calculated for a switching interval as follows </a:t>
            </a:r>
            <a:endParaRPr lang="sv-SE" dirty="0"/>
          </a:p>
        </p:txBody>
      </p:sp>
      <mc:AlternateContent xmlns:mc="http://schemas.openxmlformats.org/markup-compatibility/2006">
        <mc:Choice xmlns:a14="http://schemas.microsoft.com/office/drawing/2010/main" Requires="a14">
          <p:sp>
            <p:nvSpPr>
              <p:cNvPr id="11" name="TextBox 10"/>
              <p:cNvSpPr txBox="1"/>
              <p:nvPr/>
            </p:nvSpPr>
            <p:spPr>
              <a:xfrm>
                <a:off x="3855720" y="4846320"/>
                <a:ext cx="4119140" cy="609077"/>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𝑐𝑚</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num>
                        <m:den>
                          <m:r>
                            <a:rPr lang="en-US" b="0" i="1" smtClean="0">
                              <a:latin typeface="Cambria Math" panose="02040503050406030204" pitchFamily="18" charset="0"/>
                            </a:rPr>
                            <m:t>3</m:t>
                          </m:r>
                        </m:den>
                      </m:f>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𝐴</m:t>
                          </m:r>
                        </m:sub>
                      </m:sSub>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sup>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𝑠</m:t>
                              </m:r>
                            </m:sub>
                          </m:sSub>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1" smtClean="0">
                          <a:latin typeface="Cambria Math" panose="02040503050406030204" pitchFamily="18" charset="0"/>
                        </a:rPr>
                        <m:t>)</m:t>
                      </m:r>
                    </m:oMath>
                  </m:oMathPara>
                </a14:m>
                <a:endParaRPr lang="sv-SE" dirty="0"/>
              </a:p>
            </p:txBody>
          </p:sp>
        </mc:Choice>
        <mc:Fallback>
          <p:sp>
            <p:nvSpPr>
              <p:cNvPr id="11" name="TextBox 10"/>
              <p:cNvSpPr txBox="1">
                <a:spLocks noRot="1" noChangeAspect="1" noMove="1" noResize="1" noEditPoints="1" noAdjustHandles="1" noChangeArrowheads="1" noChangeShapeType="1" noTextEdit="1"/>
              </p:cNvSpPr>
              <p:nvPr/>
            </p:nvSpPr>
            <p:spPr>
              <a:xfrm>
                <a:off x="3855720" y="4846320"/>
                <a:ext cx="4119140" cy="609077"/>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2" name="Rectangle 11"/>
              <p:cNvSpPr/>
              <p:nvPr/>
            </p:nvSpPr>
            <p:spPr>
              <a:xfrm>
                <a:off x="1211103" y="5720834"/>
                <a:ext cx="10737057" cy="653962"/>
              </a:xfrm>
              <a:prstGeom prst="rect">
                <a:avLst/>
              </a:prstGeom>
            </p:spPr>
            <p:txBody>
              <a:bodyPr wrap="square">
                <a:spAutoFit/>
              </a:bodyPr>
              <a:lstStyle/>
              <a:p>
                <a:r>
                  <a:rPr lang="en-US" dirty="0" smtClean="0"/>
                  <a:t>Therefore, we have three signals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𝐴</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oMath>
                </a14:m>
                <a:r>
                  <a:rPr lang="en-US" dirty="0" smtClean="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0" smtClean="0">
                        <a:latin typeface="Cambria Math" panose="02040503050406030204" pitchFamily="18" charset="0"/>
                      </a:rPr>
                      <m:t>,</m:t>
                    </m:r>
                  </m:oMath>
                </a14:m>
                <a:r>
                  <a:rPr lang="en-US" dirty="0" smtClean="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oMath>
                </a14:m>
                <a:r>
                  <a:rPr lang="en-US" dirty="0" smtClean="0"/>
                  <a:t>)  with the same frequency with different magnitudes and phases. Accordingly, we can pass phasor domain analysis !!!</a:t>
                </a:r>
                <a:endParaRPr lang="sv-SE" dirty="0"/>
              </a:p>
            </p:txBody>
          </p:sp>
        </mc:Choice>
        <mc:Fallback>
          <p:sp>
            <p:nvSpPr>
              <p:cNvPr id="12" name="Rectangle 11"/>
              <p:cNvSpPr>
                <a:spLocks noRot="1" noChangeAspect="1" noMove="1" noResize="1" noEditPoints="1" noAdjustHandles="1" noChangeArrowheads="1" noChangeShapeType="1" noTextEdit="1"/>
              </p:cNvSpPr>
              <p:nvPr/>
            </p:nvSpPr>
            <p:spPr>
              <a:xfrm>
                <a:off x="1211103" y="5720834"/>
                <a:ext cx="10737057" cy="653962"/>
              </a:xfrm>
              <a:prstGeom prst="rect">
                <a:avLst/>
              </a:prstGeom>
              <a:blipFill>
                <a:blip r:embed="rId4"/>
                <a:stretch>
                  <a:fillRect l="-511" t="-2778" b="-12963"/>
                </a:stretch>
              </a:blipFill>
            </p:spPr>
            <p:txBody>
              <a:bodyPr/>
              <a:lstStyle/>
              <a:p>
                <a:r>
                  <a:rPr lang="sv-SE">
                    <a:noFill/>
                  </a:rPr>
                  <a:t> </a:t>
                </a:r>
              </a:p>
            </p:txBody>
          </p:sp>
        </mc:Fallback>
      </mc:AlternateContent>
    </p:spTree>
    <p:extLst>
      <p:ext uri="{BB962C8B-B14F-4D97-AF65-F5344CB8AC3E}">
        <p14:creationId xmlns:p14="http://schemas.microsoft.com/office/powerpoint/2010/main" val="339110889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smtClean="0">
                <a:solidFill>
                  <a:srgbClr val="C00000"/>
                </a:solidFill>
              </a:rPr>
              <a:t>Mathematical Modelling</a:t>
            </a:r>
            <a:endParaRPr lang="sv-SE" dirty="0"/>
          </a:p>
        </p:txBody>
      </p:sp>
      <p:cxnSp>
        <p:nvCxnSpPr>
          <p:cNvPr id="8" name="Straight Arrow Connector 7"/>
          <p:cNvCxnSpPr/>
          <p:nvPr/>
        </p:nvCxnSpPr>
        <p:spPr>
          <a:xfrm flipV="1">
            <a:off x="1606439" y="3828919"/>
            <a:ext cx="956635" cy="4879"/>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H="1">
            <a:off x="964518" y="3828919"/>
            <a:ext cx="641921" cy="30513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1606440" y="3299109"/>
            <a:ext cx="196204" cy="516177"/>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488902" y="3630526"/>
            <a:ext cx="350520" cy="369332"/>
          </a:xfrm>
          <a:prstGeom prst="rect">
            <a:avLst/>
          </a:prstGeom>
          <a:noFill/>
        </p:spPr>
        <p:txBody>
          <a:bodyPr wrap="square" rtlCol="0">
            <a:spAutoFit/>
          </a:bodyPr>
          <a:lstStyle/>
          <a:p>
            <a:r>
              <a:rPr lang="en-US" dirty="0" smtClean="0"/>
              <a:t>A</a:t>
            </a:r>
            <a:endParaRPr lang="sv-SE" dirty="0"/>
          </a:p>
        </p:txBody>
      </p:sp>
      <p:sp>
        <p:nvSpPr>
          <p:cNvPr id="15" name="TextBox 14"/>
          <p:cNvSpPr txBox="1"/>
          <p:nvPr/>
        </p:nvSpPr>
        <p:spPr>
          <a:xfrm>
            <a:off x="1627384" y="2949755"/>
            <a:ext cx="350520" cy="369332"/>
          </a:xfrm>
          <a:prstGeom prst="rect">
            <a:avLst/>
          </a:prstGeom>
          <a:noFill/>
        </p:spPr>
        <p:txBody>
          <a:bodyPr wrap="square" rtlCol="0">
            <a:spAutoFit/>
          </a:bodyPr>
          <a:lstStyle/>
          <a:p>
            <a:r>
              <a:rPr lang="en-US" dirty="0" smtClean="0"/>
              <a:t>B</a:t>
            </a:r>
            <a:endParaRPr lang="sv-SE" dirty="0"/>
          </a:p>
        </p:txBody>
      </p:sp>
      <p:sp>
        <p:nvSpPr>
          <p:cNvPr id="16" name="Arc 15"/>
          <p:cNvSpPr/>
          <p:nvPr/>
        </p:nvSpPr>
        <p:spPr>
          <a:xfrm rot="3802984">
            <a:off x="1622940" y="359867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mc:Choice xmlns:a14="http://schemas.microsoft.com/office/drawing/2010/main" Requires="a14">
          <p:sp>
            <p:nvSpPr>
              <p:cNvPr id="20" name="TextBox 19"/>
              <p:cNvSpPr txBox="1"/>
              <p:nvPr/>
            </p:nvSpPr>
            <p:spPr>
              <a:xfrm>
                <a:off x="1856707" y="3340434"/>
                <a:ext cx="601661"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oMath>
                  </m:oMathPara>
                </a14:m>
                <a:endParaRPr lang="sv-SE" dirty="0"/>
              </a:p>
            </p:txBody>
          </p:sp>
        </mc:Choice>
        <mc:Fallback>
          <p:sp>
            <p:nvSpPr>
              <p:cNvPr id="20" name="TextBox 19"/>
              <p:cNvSpPr txBox="1">
                <a:spLocks noRot="1" noChangeAspect="1" noMove="1" noResize="1" noEditPoints="1" noAdjustHandles="1" noChangeArrowheads="1" noChangeShapeType="1" noTextEdit="1"/>
              </p:cNvSpPr>
              <p:nvPr/>
            </p:nvSpPr>
            <p:spPr>
              <a:xfrm>
                <a:off x="1856707" y="3340434"/>
                <a:ext cx="601661" cy="369332"/>
              </a:xfrm>
              <a:prstGeom prst="rect">
                <a:avLst/>
              </a:prstGeom>
              <a:blipFill>
                <a:blip r:embed="rId2"/>
                <a:stretch>
                  <a:fillRect b="-11475"/>
                </a:stretch>
              </a:blipFill>
            </p:spPr>
            <p:txBody>
              <a:bodyPr/>
              <a:lstStyle/>
              <a:p>
                <a:r>
                  <a:rPr lang="sv-SE">
                    <a:noFill/>
                  </a:rPr>
                  <a:t> </a:t>
                </a:r>
              </a:p>
            </p:txBody>
          </p:sp>
        </mc:Fallback>
      </mc:AlternateContent>
      <p:sp>
        <p:nvSpPr>
          <p:cNvPr id="26" name="TextBox 25"/>
          <p:cNvSpPr txBox="1"/>
          <p:nvPr/>
        </p:nvSpPr>
        <p:spPr>
          <a:xfrm>
            <a:off x="789258" y="4129795"/>
            <a:ext cx="350520" cy="369332"/>
          </a:xfrm>
          <a:prstGeom prst="rect">
            <a:avLst/>
          </a:prstGeom>
          <a:noFill/>
        </p:spPr>
        <p:txBody>
          <a:bodyPr wrap="square" rtlCol="0">
            <a:spAutoFit/>
          </a:bodyPr>
          <a:lstStyle/>
          <a:p>
            <a:r>
              <a:rPr lang="en-US" dirty="0" smtClean="0"/>
              <a:t>C</a:t>
            </a:r>
            <a:endParaRPr lang="sv-SE" dirty="0"/>
          </a:p>
        </p:txBody>
      </p:sp>
      <p:sp>
        <p:nvSpPr>
          <p:cNvPr id="27" name="Arc 26"/>
          <p:cNvSpPr/>
          <p:nvPr/>
        </p:nvSpPr>
        <p:spPr>
          <a:xfrm rot="9696706">
            <a:off x="1316215" y="3814540"/>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mc:Choice xmlns:a14="http://schemas.microsoft.com/office/drawing/2010/main" Requires="a14">
          <p:sp>
            <p:nvSpPr>
              <p:cNvPr id="28" name="TextBox 27"/>
              <p:cNvSpPr txBox="1"/>
              <p:nvPr/>
            </p:nvSpPr>
            <p:spPr>
              <a:xfrm>
                <a:off x="1473171" y="3871492"/>
                <a:ext cx="601661"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oMath>
                  </m:oMathPara>
                </a14:m>
                <a:endParaRPr lang="sv-SE" dirty="0"/>
              </a:p>
            </p:txBody>
          </p:sp>
        </mc:Choice>
        <mc:Fallback>
          <p:sp>
            <p:nvSpPr>
              <p:cNvPr id="28" name="TextBox 27"/>
              <p:cNvSpPr txBox="1">
                <a:spLocks noRot="1" noChangeAspect="1" noMove="1" noResize="1" noEditPoints="1" noAdjustHandles="1" noChangeArrowheads="1" noChangeShapeType="1" noTextEdit="1"/>
              </p:cNvSpPr>
              <p:nvPr/>
            </p:nvSpPr>
            <p:spPr>
              <a:xfrm>
                <a:off x="1473171" y="3871492"/>
                <a:ext cx="601661" cy="369332"/>
              </a:xfrm>
              <a:prstGeom prst="rect">
                <a:avLst/>
              </a:prstGeom>
              <a:blipFill>
                <a:blip r:embed="rId3"/>
                <a:stretch>
                  <a:fillRect r="-14286" b="-11475"/>
                </a:stretch>
              </a:blipFill>
            </p:spPr>
            <p:txBody>
              <a:bodyPr/>
              <a:lstStyle/>
              <a:p>
                <a:r>
                  <a:rPr lang="sv-SE">
                    <a:noFill/>
                  </a:rPr>
                  <a:t> </a:t>
                </a:r>
              </a:p>
            </p:txBody>
          </p:sp>
        </mc:Fallback>
      </mc:AlternateContent>
      <p:pic>
        <p:nvPicPr>
          <p:cNvPr id="31" name="Picture 30"/>
          <p:cNvPicPr>
            <a:picLocks noChangeAspect="1"/>
          </p:cNvPicPr>
          <p:nvPr/>
        </p:nvPicPr>
        <p:blipFill>
          <a:blip r:embed="rId4"/>
          <a:stretch>
            <a:fillRect/>
          </a:stretch>
        </p:blipFill>
        <p:spPr>
          <a:xfrm>
            <a:off x="9295756" y="2312021"/>
            <a:ext cx="2873384" cy="2155038"/>
          </a:xfrm>
          <a:prstGeom prst="rect">
            <a:avLst/>
          </a:prstGeom>
        </p:spPr>
      </p:pic>
      <p:pic>
        <p:nvPicPr>
          <p:cNvPr id="32" name="Picture 31"/>
          <p:cNvPicPr>
            <a:picLocks noChangeAspect="1"/>
          </p:cNvPicPr>
          <p:nvPr/>
        </p:nvPicPr>
        <p:blipFill>
          <a:blip r:embed="rId5"/>
          <a:stretch>
            <a:fillRect/>
          </a:stretch>
        </p:blipFill>
        <p:spPr>
          <a:xfrm>
            <a:off x="6502387" y="4658754"/>
            <a:ext cx="2793367" cy="2095025"/>
          </a:xfrm>
          <a:prstGeom prst="rect">
            <a:avLst/>
          </a:prstGeom>
        </p:spPr>
      </p:pic>
      <p:pic>
        <p:nvPicPr>
          <p:cNvPr id="33" name="Picture 32"/>
          <p:cNvPicPr>
            <a:picLocks noChangeAspect="1"/>
          </p:cNvPicPr>
          <p:nvPr/>
        </p:nvPicPr>
        <p:blipFill>
          <a:blip r:embed="rId6"/>
          <a:stretch>
            <a:fillRect/>
          </a:stretch>
        </p:blipFill>
        <p:spPr>
          <a:xfrm>
            <a:off x="9295755" y="4658754"/>
            <a:ext cx="2810013" cy="2107510"/>
          </a:xfrm>
          <a:prstGeom prst="rect">
            <a:avLst/>
          </a:prstGeom>
        </p:spPr>
      </p:pic>
      <mc:AlternateContent xmlns:mc="http://schemas.openxmlformats.org/markup-compatibility/2006">
        <mc:Choice xmlns:a14="http://schemas.microsoft.com/office/drawing/2010/main" Requires="a14">
          <p:sp>
            <p:nvSpPr>
              <p:cNvPr id="34" name="TextBox 33"/>
              <p:cNvSpPr txBox="1"/>
              <p:nvPr/>
            </p:nvSpPr>
            <p:spPr>
              <a:xfrm>
                <a:off x="10023184" y="2122336"/>
                <a:ext cx="135515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=0.5</m:t>
                      </m:r>
                    </m:oMath>
                  </m:oMathPara>
                </a14:m>
                <a:endParaRPr lang="sv-SE" dirty="0"/>
              </a:p>
            </p:txBody>
          </p:sp>
        </mc:Choice>
        <mc:Fallback>
          <p:sp>
            <p:nvSpPr>
              <p:cNvPr id="34" name="TextBox 33"/>
              <p:cNvSpPr txBox="1">
                <a:spLocks noRot="1" noChangeAspect="1" noMove="1" noResize="1" noEditPoints="1" noAdjustHandles="1" noChangeArrowheads="1" noChangeShapeType="1" noTextEdit="1"/>
              </p:cNvSpPr>
              <p:nvPr/>
            </p:nvSpPr>
            <p:spPr>
              <a:xfrm>
                <a:off x="10023184" y="2122336"/>
                <a:ext cx="1355154"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35" name="TextBox 34"/>
              <p:cNvSpPr txBox="1"/>
              <p:nvPr/>
            </p:nvSpPr>
            <p:spPr>
              <a:xfrm>
                <a:off x="10023184" y="4457590"/>
                <a:ext cx="135515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=1</m:t>
                      </m:r>
                    </m:oMath>
                  </m:oMathPara>
                </a14:m>
                <a:endParaRPr lang="sv-SE" dirty="0"/>
              </a:p>
            </p:txBody>
          </p:sp>
        </mc:Choice>
        <mc:Fallback>
          <p:sp>
            <p:nvSpPr>
              <p:cNvPr id="35" name="TextBox 34"/>
              <p:cNvSpPr txBox="1">
                <a:spLocks noRot="1" noChangeAspect="1" noMove="1" noResize="1" noEditPoints="1" noAdjustHandles="1" noChangeArrowheads="1" noChangeShapeType="1" noTextEdit="1"/>
              </p:cNvSpPr>
              <p:nvPr/>
            </p:nvSpPr>
            <p:spPr>
              <a:xfrm>
                <a:off x="10023184" y="4457590"/>
                <a:ext cx="1355154"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36" name="TextBox 35"/>
              <p:cNvSpPr txBox="1"/>
              <p:nvPr/>
            </p:nvSpPr>
            <p:spPr>
              <a:xfrm>
                <a:off x="7344556" y="4478996"/>
                <a:ext cx="135515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=0.75</m:t>
                      </m:r>
                    </m:oMath>
                  </m:oMathPara>
                </a14:m>
                <a:endParaRPr lang="sv-SE" dirty="0"/>
              </a:p>
            </p:txBody>
          </p:sp>
        </mc:Choice>
        <mc:Fallback>
          <p:sp>
            <p:nvSpPr>
              <p:cNvPr id="36" name="TextBox 35"/>
              <p:cNvSpPr txBox="1">
                <a:spLocks noRot="1" noChangeAspect="1" noMove="1" noResize="1" noEditPoints="1" noAdjustHandles="1" noChangeArrowheads="1" noChangeShapeType="1" noTextEdit="1"/>
              </p:cNvSpPr>
              <p:nvPr/>
            </p:nvSpPr>
            <p:spPr>
              <a:xfrm>
                <a:off x="7344556" y="4478996"/>
                <a:ext cx="1355154" cy="369332"/>
              </a:xfrm>
              <a:prstGeom prst="rect">
                <a:avLst/>
              </a:prstGeom>
              <a:blipFill>
                <a:blip r:embed="rId9"/>
                <a:stretch>
                  <a:fillRect/>
                </a:stretch>
              </a:blipFill>
            </p:spPr>
            <p:txBody>
              <a:bodyPr/>
              <a:lstStyle/>
              <a:p>
                <a:r>
                  <a:rPr lang="sv-SE">
                    <a:noFill/>
                  </a:rPr>
                  <a:t> </a:t>
                </a:r>
              </a:p>
            </p:txBody>
          </p:sp>
        </mc:Fallback>
      </mc:AlternateContent>
      <p:pic>
        <p:nvPicPr>
          <p:cNvPr id="37" name="Picture 36"/>
          <p:cNvPicPr>
            <a:picLocks noChangeAspect="1"/>
          </p:cNvPicPr>
          <p:nvPr/>
        </p:nvPicPr>
        <p:blipFill>
          <a:blip r:embed="rId10"/>
          <a:stretch>
            <a:fillRect/>
          </a:stretch>
        </p:blipFill>
        <p:spPr>
          <a:xfrm>
            <a:off x="6575691" y="2329463"/>
            <a:ext cx="2892884" cy="2169664"/>
          </a:xfrm>
          <a:prstGeom prst="rect">
            <a:avLst/>
          </a:prstGeom>
        </p:spPr>
      </p:pic>
      <mc:AlternateContent xmlns:mc="http://schemas.openxmlformats.org/markup-compatibility/2006">
        <mc:Choice xmlns:a14="http://schemas.microsoft.com/office/drawing/2010/main" Requires="a14">
          <p:sp>
            <p:nvSpPr>
              <p:cNvPr id="38" name="TextBox 37"/>
              <p:cNvSpPr txBox="1"/>
              <p:nvPr/>
            </p:nvSpPr>
            <p:spPr>
              <a:xfrm>
                <a:off x="7562587" y="2014187"/>
                <a:ext cx="135515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=0.25</m:t>
                      </m:r>
                    </m:oMath>
                  </m:oMathPara>
                </a14:m>
                <a:endParaRPr lang="sv-SE" dirty="0"/>
              </a:p>
            </p:txBody>
          </p:sp>
        </mc:Choice>
        <mc:Fallback>
          <p:sp>
            <p:nvSpPr>
              <p:cNvPr id="38" name="TextBox 37"/>
              <p:cNvSpPr txBox="1">
                <a:spLocks noRot="1" noChangeAspect="1" noMove="1" noResize="1" noEditPoints="1" noAdjustHandles="1" noChangeArrowheads="1" noChangeShapeType="1" noTextEdit="1"/>
              </p:cNvSpPr>
              <p:nvPr/>
            </p:nvSpPr>
            <p:spPr>
              <a:xfrm>
                <a:off x="7562587" y="2014187"/>
                <a:ext cx="1355154" cy="369332"/>
              </a:xfrm>
              <a:prstGeom prst="rect">
                <a:avLst/>
              </a:prstGeom>
              <a:blipFill>
                <a:blip r:embed="rId11"/>
                <a:stretch>
                  <a:fillRect/>
                </a:stretch>
              </a:blipFill>
            </p:spPr>
            <p:txBody>
              <a:bodyPr/>
              <a:lstStyle/>
              <a:p>
                <a:r>
                  <a:rPr lang="sv-SE">
                    <a:noFill/>
                  </a:rPr>
                  <a:t> </a:t>
                </a:r>
              </a:p>
            </p:txBody>
          </p:sp>
        </mc:Fallback>
      </mc:AlternateContent>
      <p:pic>
        <p:nvPicPr>
          <p:cNvPr id="39" name="Picture 38"/>
          <p:cNvPicPr>
            <a:picLocks noChangeAspect="1"/>
          </p:cNvPicPr>
          <p:nvPr/>
        </p:nvPicPr>
        <p:blipFill>
          <a:blip r:embed="rId12"/>
          <a:stretch>
            <a:fillRect/>
          </a:stretch>
        </p:blipFill>
        <p:spPr>
          <a:xfrm>
            <a:off x="8331100" y="202153"/>
            <a:ext cx="2623578" cy="1967684"/>
          </a:xfrm>
          <a:prstGeom prst="rect">
            <a:avLst/>
          </a:prstGeom>
        </p:spPr>
      </p:pic>
      <mc:AlternateContent xmlns:mc="http://schemas.openxmlformats.org/markup-compatibility/2006">
        <mc:Choice xmlns:a14="http://schemas.microsoft.com/office/drawing/2010/main" Requires="a14">
          <p:sp>
            <p:nvSpPr>
              <p:cNvPr id="40" name="TextBox 39"/>
              <p:cNvSpPr txBox="1"/>
              <p:nvPr/>
            </p:nvSpPr>
            <p:spPr>
              <a:xfrm>
                <a:off x="9149887" y="-28252"/>
                <a:ext cx="135515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m:t>
                      </m:r>
                    </m:oMath>
                  </m:oMathPara>
                </a14:m>
                <a:endParaRPr lang="sv-SE" dirty="0"/>
              </a:p>
            </p:txBody>
          </p:sp>
        </mc:Choice>
        <mc:Fallback>
          <p:sp>
            <p:nvSpPr>
              <p:cNvPr id="40" name="TextBox 39"/>
              <p:cNvSpPr txBox="1">
                <a:spLocks noRot="1" noChangeAspect="1" noMove="1" noResize="1" noEditPoints="1" noAdjustHandles="1" noChangeArrowheads="1" noChangeShapeType="1" noTextEdit="1"/>
              </p:cNvSpPr>
              <p:nvPr/>
            </p:nvSpPr>
            <p:spPr>
              <a:xfrm>
                <a:off x="9149887" y="-28252"/>
                <a:ext cx="1355154" cy="369332"/>
              </a:xfrm>
              <a:prstGeom prst="rect">
                <a:avLst/>
              </a:prstGeom>
              <a:blipFill>
                <a:blip r:embed="rId13"/>
                <a:stretch>
                  <a:fillRect/>
                </a:stretch>
              </a:blipFill>
            </p:spPr>
            <p:txBody>
              <a:bodyPr/>
              <a:lstStyle/>
              <a:p>
                <a:r>
                  <a:rPr lang="sv-SE">
                    <a:noFill/>
                  </a:rPr>
                  <a:t> </a:t>
                </a:r>
              </a:p>
            </p:txBody>
          </p:sp>
        </mc:Fallback>
      </mc:AlternateContent>
      <p:sp>
        <p:nvSpPr>
          <p:cNvPr id="41" name="TextBox 40"/>
          <p:cNvSpPr txBox="1"/>
          <p:nvPr/>
        </p:nvSpPr>
        <p:spPr>
          <a:xfrm>
            <a:off x="3394031" y="1767095"/>
            <a:ext cx="3190247" cy="4247317"/>
          </a:xfrm>
          <a:prstGeom prst="rect">
            <a:avLst/>
          </a:prstGeom>
          <a:noFill/>
        </p:spPr>
        <p:txBody>
          <a:bodyPr wrap="square" rtlCol="0">
            <a:spAutoFit/>
          </a:bodyPr>
          <a:lstStyle/>
          <a:p>
            <a:r>
              <a:rPr lang="en-US" dirty="0" smtClean="0"/>
              <a:t>The magnitude of the switching frequency are plotted over a fundamental period for different modulation index.</a:t>
            </a:r>
          </a:p>
          <a:p>
            <a:endParaRPr lang="en-US" dirty="0"/>
          </a:p>
          <a:p>
            <a:r>
              <a:rPr lang="en-US" dirty="0" smtClean="0"/>
              <a:t>It is observed that </a:t>
            </a:r>
            <a:r>
              <a:rPr lang="en-US" dirty="0"/>
              <a:t>t</a:t>
            </a:r>
            <a:r>
              <a:rPr lang="en-US" dirty="0" smtClean="0"/>
              <a:t>he magnitude changes for each leg.</a:t>
            </a:r>
          </a:p>
          <a:p>
            <a:endParaRPr lang="en-US" dirty="0"/>
          </a:p>
          <a:p>
            <a:r>
              <a:rPr lang="en-US" dirty="0" smtClean="0"/>
              <a:t>Also, we know that the phases of the components depends on the carrier phase shift. </a:t>
            </a:r>
          </a:p>
          <a:p>
            <a:endParaRPr lang="en-US" dirty="0"/>
          </a:p>
          <a:p>
            <a:r>
              <a:rPr lang="en-US" dirty="0" smtClean="0"/>
              <a:t>Our aim is to minimize the sum of these components.</a:t>
            </a:r>
            <a:endParaRPr lang="sv-SE" dirty="0"/>
          </a:p>
        </p:txBody>
      </p:sp>
    </p:spTree>
    <p:extLst>
      <p:ext uri="{BB962C8B-B14F-4D97-AF65-F5344CB8AC3E}">
        <p14:creationId xmlns:p14="http://schemas.microsoft.com/office/powerpoint/2010/main" val="190020331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smtClean="0">
                <a:solidFill>
                  <a:srgbClr val="C00000"/>
                </a:solidFill>
              </a:rPr>
              <a:t>Mathematical Modelling</a:t>
            </a:r>
            <a:endParaRPr lang="sv-SE" dirty="0"/>
          </a:p>
        </p:txBody>
      </p:sp>
      <p:cxnSp>
        <p:nvCxnSpPr>
          <p:cNvPr id="8" name="Straight Arrow Connector 7"/>
          <p:cNvCxnSpPr/>
          <p:nvPr/>
        </p:nvCxnSpPr>
        <p:spPr>
          <a:xfrm flipV="1">
            <a:off x="1537859" y="2160139"/>
            <a:ext cx="956635" cy="4879"/>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H="1">
            <a:off x="895938" y="2160139"/>
            <a:ext cx="641921" cy="30513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1537860" y="1630329"/>
            <a:ext cx="196204" cy="516177"/>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420322" y="1961746"/>
            <a:ext cx="350520" cy="369332"/>
          </a:xfrm>
          <a:prstGeom prst="rect">
            <a:avLst/>
          </a:prstGeom>
          <a:noFill/>
        </p:spPr>
        <p:txBody>
          <a:bodyPr wrap="square" rtlCol="0">
            <a:spAutoFit/>
          </a:bodyPr>
          <a:lstStyle/>
          <a:p>
            <a:r>
              <a:rPr lang="en-US" dirty="0" smtClean="0"/>
              <a:t>A</a:t>
            </a:r>
            <a:endParaRPr lang="sv-SE" dirty="0"/>
          </a:p>
        </p:txBody>
      </p:sp>
      <p:sp>
        <p:nvSpPr>
          <p:cNvPr id="15" name="TextBox 14"/>
          <p:cNvSpPr txBox="1"/>
          <p:nvPr/>
        </p:nvSpPr>
        <p:spPr>
          <a:xfrm>
            <a:off x="1558804" y="1280975"/>
            <a:ext cx="350520" cy="369332"/>
          </a:xfrm>
          <a:prstGeom prst="rect">
            <a:avLst/>
          </a:prstGeom>
          <a:noFill/>
        </p:spPr>
        <p:txBody>
          <a:bodyPr wrap="square" rtlCol="0">
            <a:spAutoFit/>
          </a:bodyPr>
          <a:lstStyle/>
          <a:p>
            <a:r>
              <a:rPr lang="en-US" dirty="0" smtClean="0"/>
              <a:t>B</a:t>
            </a:r>
            <a:endParaRPr lang="sv-SE" dirty="0"/>
          </a:p>
        </p:txBody>
      </p:sp>
      <p:sp>
        <p:nvSpPr>
          <p:cNvPr id="16" name="Arc 15"/>
          <p:cNvSpPr/>
          <p:nvPr/>
        </p:nvSpPr>
        <p:spPr>
          <a:xfrm rot="3802984">
            <a:off x="1554360" y="192989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mc:Choice xmlns:a14="http://schemas.microsoft.com/office/drawing/2010/main" Requires="a14">
          <p:sp>
            <p:nvSpPr>
              <p:cNvPr id="20" name="TextBox 19"/>
              <p:cNvSpPr txBox="1"/>
              <p:nvPr/>
            </p:nvSpPr>
            <p:spPr>
              <a:xfrm>
                <a:off x="4005547" y="4155774"/>
                <a:ext cx="601661"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𝛼</m:t>
                      </m:r>
                    </m:oMath>
                  </m:oMathPara>
                </a14:m>
                <a:endParaRPr lang="sv-SE" dirty="0"/>
              </a:p>
            </p:txBody>
          </p:sp>
        </mc:Choice>
        <mc:Fallback>
          <p:sp>
            <p:nvSpPr>
              <p:cNvPr id="20" name="TextBox 19"/>
              <p:cNvSpPr txBox="1">
                <a:spLocks noRot="1" noChangeAspect="1" noMove="1" noResize="1" noEditPoints="1" noAdjustHandles="1" noChangeArrowheads="1" noChangeShapeType="1" noTextEdit="1"/>
              </p:cNvSpPr>
              <p:nvPr/>
            </p:nvSpPr>
            <p:spPr>
              <a:xfrm>
                <a:off x="4005547" y="4155774"/>
                <a:ext cx="601661" cy="369332"/>
              </a:xfrm>
              <a:prstGeom prst="rect">
                <a:avLst/>
              </a:prstGeom>
              <a:blipFill>
                <a:blip r:embed="rId2"/>
                <a:stretch>
                  <a:fillRect/>
                </a:stretch>
              </a:blipFill>
            </p:spPr>
            <p:txBody>
              <a:bodyPr/>
              <a:lstStyle/>
              <a:p>
                <a:r>
                  <a:rPr lang="sv-SE">
                    <a:noFill/>
                  </a:rPr>
                  <a:t> </a:t>
                </a:r>
              </a:p>
            </p:txBody>
          </p:sp>
        </mc:Fallback>
      </mc:AlternateContent>
      <p:sp>
        <p:nvSpPr>
          <p:cNvPr id="26" name="TextBox 25"/>
          <p:cNvSpPr txBox="1"/>
          <p:nvPr/>
        </p:nvSpPr>
        <p:spPr>
          <a:xfrm>
            <a:off x="720678" y="2461015"/>
            <a:ext cx="350520" cy="369332"/>
          </a:xfrm>
          <a:prstGeom prst="rect">
            <a:avLst/>
          </a:prstGeom>
          <a:noFill/>
        </p:spPr>
        <p:txBody>
          <a:bodyPr wrap="square" rtlCol="0">
            <a:spAutoFit/>
          </a:bodyPr>
          <a:lstStyle/>
          <a:p>
            <a:r>
              <a:rPr lang="en-US" dirty="0" smtClean="0"/>
              <a:t>C</a:t>
            </a:r>
            <a:endParaRPr lang="sv-SE" dirty="0"/>
          </a:p>
        </p:txBody>
      </p:sp>
      <p:sp>
        <p:nvSpPr>
          <p:cNvPr id="27" name="Arc 26"/>
          <p:cNvSpPr/>
          <p:nvPr/>
        </p:nvSpPr>
        <p:spPr>
          <a:xfrm rot="9696706">
            <a:off x="1247635" y="2145760"/>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mc:Choice xmlns:a14="http://schemas.microsoft.com/office/drawing/2010/main" Requires="a14">
          <p:sp>
            <p:nvSpPr>
              <p:cNvPr id="41" name="TextBox 40"/>
              <p:cNvSpPr txBox="1"/>
              <p:nvPr/>
            </p:nvSpPr>
            <p:spPr>
              <a:xfrm>
                <a:off x="3394031" y="1452921"/>
                <a:ext cx="7639729" cy="1789977"/>
              </a:xfrm>
              <a:prstGeom prst="rect">
                <a:avLst/>
              </a:prstGeom>
              <a:noFill/>
            </p:spPr>
            <p:txBody>
              <a:bodyPr wrap="square" rtlCol="0">
                <a:spAutoFit/>
              </a:bodyPr>
              <a:lstStyle/>
              <a:p>
                <a:r>
                  <a:rPr lang="en-US" dirty="0" smtClean="0"/>
                  <a:t>We have tree vectors with magnitude of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m:t>
                        </m:r>
                        <m:r>
                          <a:rPr lang="en-US" i="1">
                            <a:latin typeface="Cambria Math" panose="02040503050406030204" pitchFamily="18" charset="0"/>
                          </a:rPr>
                          <m:t>𝑆</m:t>
                        </m:r>
                      </m:e>
                      <m:sub>
                        <m:r>
                          <a:rPr lang="en-US" i="1">
                            <a:latin typeface="Cambria Math" panose="02040503050406030204" pitchFamily="18" charset="0"/>
                          </a:rPr>
                          <m:t>𝐴</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d>
                      <m:dPr>
                        <m:begChr m:val="|"/>
                        <m:endChr m:val="|"/>
                        <m:ctrlPr>
                          <a:rPr lang="en-US" b="0" i="1" smtClean="0">
                            <a:latin typeface="Cambria Math" panose="02040503050406030204" pitchFamily="18" charset="0"/>
                          </a:rPr>
                        </m:ctrlPr>
                      </m:dPr>
                      <m:e>
                        <m:r>
                          <a:rPr lang="en-US" b="0" i="0"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m:t>
                            </m:r>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e>
                    </m:d>
                    <m:r>
                      <a:rPr lang="en-US">
                        <a:latin typeface="Cambria Math" panose="02040503050406030204" pitchFamily="18" charset="0"/>
                      </a:rPr>
                      <m:t>,</m:t>
                    </m:r>
                    <m:r>
                      <m:rPr>
                        <m:sty m:val="p"/>
                      </m:rPr>
                      <a:rPr lang="en-US" b="0" i="0" smtClean="0">
                        <a:latin typeface="Cambria Math" panose="02040503050406030204" pitchFamily="18" charset="0"/>
                      </a:rPr>
                      <m:t>and</m:t>
                    </m:r>
                    <m:sSub>
                      <m:sSubPr>
                        <m:ctrlPr>
                          <a:rPr lang="en-US" i="1">
                            <a:latin typeface="Cambria Math" panose="02040503050406030204" pitchFamily="18" charset="0"/>
                          </a:rPr>
                        </m:ctrlPr>
                      </m:sSubPr>
                      <m:e>
                        <m:r>
                          <a:rPr lang="en-US" i="1">
                            <a:latin typeface="Cambria Math" panose="02040503050406030204" pitchFamily="18" charset="0"/>
                          </a:rPr>
                          <m:t>|</m:t>
                        </m:r>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i="1">
                        <a:latin typeface="Cambria Math" panose="02040503050406030204" pitchFamily="18" charset="0"/>
                      </a:rPr>
                      <m:t>|</m:t>
                    </m:r>
                  </m:oMath>
                </a14:m>
                <a:endParaRPr lang="en-US" i="1" dirty="0" smtClean="0">
                  <a:latin typeface="Cambria Math" panose="02040503050406030204" pitchFamily="18" charset="0"/>
                </a:endParaRPr>
              </a:p>
              <a:p>
                <a:pPr/>
                <a:r>
                  <a:rPr lang="en-US" dirty="0"/>
                  <a:t>W</a:t>
                </a:r>
                <a:r>
                  <a:rPr lang="en-US" dirty="0" smtClean="0"/>
                  <a:t>e can anymore call them by </a:t>
                </a:r>
                <a14:m>
                  <m:oMath xmlns:m="http://schemas.openxmlformats.org/officeDocument/2006/math">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sv-SE" b="0" i="0" smtClean="0">
                            <a:latin typeface="Cambria Math" panose="02040503050406030204" pitchFamily="18" charset="0"/>
                          </a:rPr>
                          <m:t>v</m:t>
                        </m:r>
                      </m:e>
                      <m:sub>
                        <m:r>
                          <m:rPr>
                            <m:sty m:val="p"/>
                          </m:rPr>
                          <a:rPr lang="en-US" b="0" i="0" smtClean="0">
                            <a:latin typeface="Cambria Math" panose="02040503050406030204" pitchFamily="18" charset="0"/>
                          </a:rPr>
                          <m:t>A</m:t>
                        </m:r>
                      </m:sub>
                    </m:sSub>
                  </m:oMath>
                </a14:m>
                <a:r>
                  <a:rPr lang="sv-SE" dirty="0" smtClean="0"/>
                  <a:t> , </a:t>
                </a:r>
                <a14:m>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B</m:t>
                        </m:r>
                      </m:sub>
                    </m:sSub>
                  </m:oMath>
                </a14:m>
                <a:r>
                  <a:rPr lang="sv-SE" dirty="0" smtClean="0"/>
                  <a:t> , and </a:t>
                </a:r>
                <a14:m>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C</m:t>
                        </m:r>
                      </m:sub>
                    </m:sSub>
                    <m:r>
                      <a:rPr lang="en-US" b="0" i="1" smtClean="0">
                        <a:latin typeface="Cambria Math" panose="02040503050406030204" pitchFamily="18" charset="0"/>
                      </a:rPr>
                      <m:t> </m:t>
                    </m:r>
                  </m:oMath>
                </a14:m>
                <a:r>
                  <a:rPr lang="sv-SE" dirty="0" smtClean="0"/>
                  <a:t>for </a:t>
                </a:r>
                <a:r>
                  <a:rPr lang="sv-SE" dirty="0" err="1" smtClean="0"/>
                  <a:t>ease</a:t>
                </a:r>
                <a:r>
                  <a:rPr lang="sv-SE" dirty="0" smtClean="0"/>
                  <a:t> </a:t>
                </a:r>
                <a:r>
                  <a:rPr lang="sv-SE" dirty="0" err="1" smtClean="0"/>
                  <a:t>of</a:t>
                </a:r>
                <a:r>
                  <a:rPr lang="sv-SE" dirty="0" smtClean="0"/>
                  <a:t> representation.</a:t>
                </a:r>
              </a:p>
              <a:p>
                <a:pPr/>
                <a:endParaRPr lang="en-US" dirty="0"/>
              </a:p>
              <a:p>
                <a:pPr/>
                <a:r>
                  <a:rPr lang="en-US" dirty="0" smtClean="0"/>
                  <a:t>If these vectors creates a triangle, the minimum of the sum could be zero. </a:t>
                </a:r>
              </a:p>
              <a:p>
                <a:r>
                  <a:rPr lang="en-US" dirty="0" smtClean="0"/>
                  <a:t>It is easily determined whether these three vectors </a:t>
                </a:r>
                <a:r>
                  <a:rPr lang="en-US" dirty="0"/>
                  <a:t>a </a:t>
                </a:r>
                <a:r>
                  <a:rPr lang="en-US" dirty="0" smtClean="0"/>
                  <a:t>triangle by </a:t>
                </a:r>
                <a:r>
                  <a:rPr lang="sv-SE" dirty="0" err="1" smtClean="0"/>
                  <a:t>triangle</a:t>
                </a:r>
                <a:endParaRPr lang="sv-SE" dirty="0"/>
              </a:p>
              <a:p>
                <a:r>
                  <a:rPr lang="sv-SE" dirty="0" err="1"/>
                  <a:t>i</a:t>
                </a:r>
                <a:r>
                  <a:rPr lang="sv-SE" dirty="0" err="1" smtClean="0"/>
                  <a:t>nequality</a:t>
                </a:r>
                <a:r>
                  <a:rPr lang="sv-SE" dirty="0" smtClean="0"/>
                  <a:t>. </a:t>
                </a:r>
                <a:endParaRPr lang="en-US" dirty="0" smtClean="0"/>
              </a:p>
            </p:txBody>
          </p:sp>
        </mc:Choice>
        <mc:Fallback>
          <p:sp>
            <p:nvSpPr>
              <p:cNvPr id="41" name="TextBox 40"/>
              <p:cNvSpPr txBox="1">
                <a:spLocks noRot="1" noChangeAspect="1" noMove="1" noResize="1" noEditPoints="1" noAdjustHandles="1" noChangeArrowheads="1" noChangeShapeType="1" noTextEdit="1"/>
              </p:cNvSpPr>
              <p:nvPr/>
            </p:nvSpPr>
            <p:spPr>
              <a:xfrm>
                <a:off x="3394031" y="1452921"/>
                <a:ext cx="7639729" cy="1789977"/>
              </a:xfrm>
              <a:prstGeom prst="rect">
                <a:avLst/>
              </a:prstGeom>
              <a:blipFill>
                <a:blip r:embed="rId3"/>
                <a:stretch>
                  <a:fillRect l="-718" t="-340" b="-4422"/>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24" name="TextBox 23"/>
              <p:cNvSpPr txBox="1"/>
              <p:nvPr/>
            </p:nvSpPr>
            <p:spPr>
              <a:xfrm>
                <a:off x="4005547" y="4525106"/>
                <a:ext cx="601661"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𝛽</m:t>
                      </m:r>
                    </m:oMath>
                  </m:oMathPara>
                </a14:m>
                <a:endParaRPr lang="sv-SE" dirty="0"/>
              </a:p>
            </p:txBody>
          </p:sp>
        </mc:Choice>
        <mc:Fallback>
          <p:sp>
            <p:nvSpPr>
              <p:cNvPr id="24" name="TextBox 23"/>
              <p:cNvSpPr txBox="1">
                <a:spLocks noRot="1" noChangeAspect="1" noMove="1" noResize="1" noEditPoints="1" noAdjustHandles="1" noChangeArrowheads="1" noChangeShapeType="1" noTextEdit="1"/>
              </p:cNvSpPr>
              <p:nvPr/>
            </p:nvSpPr>
            <p:spPr>
              <a:xfrm>
                <a:off x="4005547" y="4525106"/>
                <a:ext cx="601661" cy="369332"/>
              </a:xfrm>
              <a:prstGeom prst="rect">
                <a:avLst/>
              </a:prstGeom>
              <a:blipFill>
                <a:blip r:embed="rId4"/>
                <a:stretch>
                  <a:fillRect b="-13115"/>
                </a:stretch>
              </a:blipFill>
            </p:spPr>
            <p:txBody>
              <a:bodyPr/>
              <a:lstStyle/>
              <a:p>
                <a:r>
                  <a:rPr lang="sv-SE">
                    <a:noFill/>
                  </a:rPr>
                  <a:t> </a:t>
                </a:r>
              </a:p>
            </p:txBody>
          </p:sp>
        </mc:Fallback>
      </mc:AlternateContent>
    </p:spTree>
    <p:extLst>
      <p:ext uri="{BB962C8B-B14F-4D97-AF65-F5344CB8AC3E}">
        <p14:creationId xmlns:p14="http://schemas.microsoft.com/office/powerpoint/2010/main" val="187636845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263</TotalTime>
  <Words>1718</Words>
  <Application>Microsoft Office PowerPoint</Application>
  <PresentationFormat>Widescreen</PresentationFormat>
  <Paragraphs>142</Paragraphs>
  <Slides>16</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Calibri (Body)</vt:lpstr>
      <vt:lpstr>Calibri Light</vt:lpstr>
      <vt:lpstr>Cambria Math</vt:lpstr>
      <vt:lpstr>Office Theme</vt:lpstr>
      <vt:lpstr>Online Carrier Phase Shift Calculation to Reduce Common Mode Voltage</vt:lpstr>
      <vt:lpstr>Analytical Analysis of carrier-based PWM (CBPWM) (i.e. SPWM)</vt:lpstr>
      <vt:lpstr>Analytical Analysis of PWM (i.e. SPWM)</vt:lpstr>
      <vt:lpstr>Analytical Analysis of PWM (i.e. SPWM)</vt:lpstr>
      <vt:lpstr>The initial idea</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The Proposed Technique</vt:lpstr>
      <vt:lpstr>Mathematical Modelling</vt:lpstr>
      <vt:lpstr>Mathematical Modelling</vt:lpstr>
      <vt:lpstr>Mathematical Modelling</vt:lpstr>
      <vt:lpstr>Mathematical Modelling</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Carrier Phase Shift Calculation to Reduce Common Mode Voltage</dc:title>
  <dc:creator>Enes Ayaz</dc:creator>
  <cp:lastModifiedBy>Enes Ayaz</cp:lastModifiedBy>
  <cp:revision>38</cp:revision>
  <dcterms:created xsi:type="dcterms:W3CDTF">2023-06-05T14:04:11Z</dcterms:created>
  <dcterms:modified xsi:type="dcterms:W3CDTF">2023-06-07T16:01:55Z</dcterms:modified>
</cp:coreProperties>
</file>