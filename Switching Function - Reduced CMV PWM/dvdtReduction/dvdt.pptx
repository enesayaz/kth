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2" r:id="rId4"/>
    <p:sldId id="260" r:id="rId5"/>
    <p:sldId id="259" r:id="rId6"/>
    <p:sldId id="263" r:id="rId7"/>
    <p:sldId id="264" r:id="rId8"/>
    <p:sldId id="265" r:id="rId9"/>
    <p:sldId id="267" r:id="rId10"/>
    <p:sldId id="269" r:id="rId11"/>
    <p:sldId id="270" r:id="rId12"/>
    <p:sldId id="271" r:id="rId13"/>
    <p:sldId id="272" r:id="rId1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33CC"/>
    <a:srgbClr val="FE7ED0"/>
    <a:srgbClr val="02C9CE"/>
    <a:srgbClr val="BC0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628" autoAdjust="0"/>
  </p:normalViewPr>
  <p:slideViewPr>
    <p:cSldViewPr snapToGrid="0">
      <p:cViewPr varScale="1">
        <p:scale>
          <a:sx n="133" d="100"/>
          <a:sy n="133" d="100"/>
        </p:scale>
        <p:origin x="133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2EF-9523-44CC-A9D6-8A54B75E8B6F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A3E73-AB6F-473D-8A0C-3F8FACBF84D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551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664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0375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78114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13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041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31934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0826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344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761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154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6232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451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165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20379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27955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285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B46C5C-7B3C-46DF-B479-A650EF2753E0}" type="datetimeFigureOut">
              <a:rPr lang="sv-SE" smtClean="0"/>
              <a:t>2023-08-08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267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6.emf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0.png"/><Relationship Id="rId10" Type="http://schemas.openxmlformats.org/officeDocument/2006/relationships/image" Target="../media/image24.png"/><Relationship Id="rId4" Type="http://schemas.openxmlformats.org/officeDocument/2006/relationships/image" Target="../media/image180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7.emf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1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67" y="771252"/>
            <a:ext cx="4841789" cy="3631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43578" y="134486"/>
            <a:ext cx="405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68" y="657793"/>
            <a:ext cx="5334000" cy="40005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95680" y="5104085"/>
            <a:ext cx="1055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can generate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carrier-based (CB) PWMs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comparing reference signals with triangular carrier signal.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Conventionally, it is common  that one carrier signal is utilized. However, for multi-module or multi-phase inverters,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order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specific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0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51" y="2578082"/>
            <a:ext cx="4055533" cy="3041650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574" y="2650584"/>
            <a:ext cx="3700839" cy="2775629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>
            <a:off x="4105359" y="2987166"/>
            <a:ext cx="451083" cy="41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6351136" y="2987166"/>
            <a:ext cx="481432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flipH="1">
            <a:off x="6091935" y="3670322"/>
            <a:ext cx="744047" cy="3206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081623" y="3673528"/>
            <a:ext cx="835110" cy="811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>
            <a:off x="4105359" y="4326843"/>
            <a:ext cx="185721" cy="294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6621786" y="4362564"/>
            <a:ext cx="217666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4560" y="803998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zoom in on a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 period of the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observe that the transition time of PWMs for each leg do not intersect.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have common mode voltage at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times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carrier signal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triplen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2635" y="2261012"/>
            <a:ext cx="12560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/>
              <a:t>CMV</a:t>
            </a:r>
            <a:endParaRPr lang="sv-SE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/>
              <p:cNvSpPr txBox="1"/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181" y="3083176"/>
                <a:ext cx="1266214" cy="5597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7448" y="2203005"/>
                <a:ext cx="1266214" cy="55976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967" y="3926387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6027" y="4759430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210" y="4487637"/>
                <a:ext cx="1266214" cy="5597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713" y="3700720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583" y="2824330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389" y="2705934"/>
            <a:ext cx="3700839" cy="27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719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66781" y="428078"/>
            <a:ext cx="105562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use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it should be considered that in such case we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differential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 well.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load is inductive in differential mode, it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common mode load is capacitive.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Accordingly,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utilize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the common 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after that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mode current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algorithms are utilized in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However, they mostly concern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should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change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ones.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sharper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devices,  which is needed to reduce the switching losses. These sharp transition, which also means that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dv/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turn in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common mode current    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388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957005" y="217556"/>
            <a:ext cx="60963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Multiple Carrier Signals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5" y="2513330"/>
            <a:ext cx="5334000" cy="4000500"/>
          </a:xfrm>
          <a:prstGeom prst="rect">
            <a:avLst/>
          </a:prstGeom>
        </p:spPr>
      </p:pic>
      <p:cxnSp>
        <p:nvCxnSpPr>
          <p:cNvPr id="34" name="Straight Arrow Connector 33"/>
          <p:cNvCxnSpPr/>
          <p:nvPr/>
        </p:nvCxnSpPr>
        <p:spPr>
          <a:xfrm>
            <a:off x="975632" y="29832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4035264" y="29832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3449785" y="40236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975631" y="40236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919518" y="52710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4568116" y="52570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5451" y="1081088"/>
            <a:ext cx="105562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using multiple carrier signals, we can change the starting points of the PWMs while the duty cycles are still the same.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intersect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transitions of PWMs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introducing carrier signals.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99448" y="281753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936871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270808" y="3916544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3337994" y="3936353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1180860" y="4915022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4333458" y="4915022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Rectangle 31"/>
          <p:cNvSpPr/>
          <p:nvPr/>
        </p:nvSpPr>
        <p:spPr>
          <a:xfrm>
            <a:off x="7062426" y="279685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Rectangle 42"/>
          <p:cNvSpPr/>
          <p:nvPr/>
        </p:nvSpPr>
        <p:spPr>
          <a:xfrm>
            <a:off x="8317954" y="4023693"/>
            <a:ext cx="312421" cy="10286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4" name="Rectangle 43"/>
          <p:cNvSpPr/>
          <p:nvPr/>
        </p:nvSpPr>
        <p:spPr>
          <a:xfrm>
            <a:off x="7081534" y="4042360"/>
            <a:ext cx="293312" cy="1028643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9897193" y="5257088"/>
            <a:ext cx="312420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9897193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7" name="Rectangle 46"/>
          <p:cNvSpPr/>
          <p:nvPr/>
        </p:nvSpPr>
        <p:spPr>
          <a:xfrm>
            <a:off x="8326674" y="5264121"/>
            <a:ext cx="312420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/>
          <p:cNvSpPr txBox="1"/>
          <p:nvPr/>
        </p:nvSpPr>
        <p:spPr>
          <a:xfrm>
            <a:off x="6771638" y="3172035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8" name="TextBox 47"/>
          <p:cNvSpPr txBox="1"/>
          <p:nvPr/>
        </p:nvSpPr>
        <p:spPr>
          <a:xfrm>
            <a:off x="8082703" y="4353349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9" name="TextBox 48"/>
          <p:cNvSpPr txBox="1"/>
          <p:nvPr/>
        </p:nvSpPr>
        <p:spPr>
          <a:xfrm>
            <a:off x="9620322" y="315732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0" name="TextBox 49"/>
          <p:cNvSpPr txBox="1"/>
          <p:nvPr/>
        </p:nvSpPr>
        <p:spPr>
          <a:xfrm>
            <a:off x="6820218" y="4540164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1" name="TextBox 50"/>
          <p:cNvSpPr txBox="1"/>
          <p:nvPr/>
        </p:nvSpPr>
        <p:spPr>
          <a:xfrm>
            <a:off x="8049803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2" name="TextBox 51"/>
          <p:cNvSpPr txBox="1"/>
          <p:nvPr/>
        </p:nvSpPr>
        <p:spPr>
          <a:xfrm>
            <a:off x="9615687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42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49691" y="-15371"/>
            <a:ext cx="5153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Problem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1755" y="745996"/>
            <a:ext cx="5334000" cy="4000500"/>
          </a:xfrm>
          <a:prstGeom prst="rect">
            <a:avLst/>
          </a:prstGeom>
        </p:spPr>
      </p:pic>
      <p:cxnSp>
        <p:nvCxnSpPr>
          <p:cNvPr id="36" name="Straight Arrow Connector 35"/>
          <p:cNvCxnSpPr/>
          <p:nvPr/>
        </p:nvCxnSpPr>
        <p:spPr>
          <a:xfrm>
            <a:off x="573162" y="12414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H="1">
            <a:off x="3632794" y="12414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/>
          <p:cNvCxnSpPr/>
          <p:nvPr/>
        </p:nvCxnSpPr>
        <p:spPr>
          <a:xfrm flipH="1">
            <a:off x="3047315" y="22818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73161" y="22818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/>
          <p:nvPr/>
        </p:nvCxnSpPr>
        <p:spPr>
          <a:xfrm flipV="1">
            <a:off x="517048" y="35292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H="1">
            <a:off x="4165646" y="35152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48740" y="1050775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3486163" y="1050775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1897380" y="2170460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8" name="Rectangle 47"/>
          <p:cNvSpPr/>
          <p:nvPr/>
        </p:nvSpPr>
        <p:spPr>
          <a:xfrm>
            <a:off x="2887286" y="2169589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9" name="Rectangle 48"/>
          <p:cNvSpPr/>
          <p:nvPr/>
        </p:nvSpPr>
        <p:spPr>
          <a:xfrm>
            <a:off x="823454" y="3168680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0" name="Rectangle 49"/>
          <p:cNvSpPr/>
          <p:nvPr/>
        </p:nvSpPr>
        <p:spPr>
          <a:xfrm>
            <a:off x="3930988" y="3148258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7336979" y="978885"/>
            <a:ext cx="312420" cy="1119685"/>
          </a:xfrm>
          <a:prstGeom prst="rect">
            <a:avLst/>
          </a:prstGeom>
          <a:noFill/>
          <a:ln w="38100">
            <a:solidFill>
              <a:srgbClr val="C00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8857182" y="984788"/>
            <a:ext cx="312420" cy="1119685"/>
          </a:xfrm>
          <a:prstGeom prst="rect">
            <a:avLst/>
          </a:prstGeom>
          <a:noFill/>
          <a:ln w="38100">
            <a:solidFill>
              <a:srgbClr val="FFC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8089582" y="2279956"/>
            <a:ext cx="316893" cy="1047582"/>
          </a:xfrm>
          <a:prstGeom prst="rect">
            <a:avLst/>
          </a:prstGeom>
          <a:noFill/>
          <a:ln w="38100">
            <a:solidFill>
              <a:srgbClr val="0070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7332506" y="2274508"/>
            <a:ext cx="314820" cy="1122583"/>
          </a:xfrm>
          <a:prstGeom prst="rect">
            <a:avLst/>
          </a:prstGeom>
          <a:noFill/>
          <a:ln w="38100">
            <a:solidFill>
              <a:srgbClr val="02C9CE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8852709" y="3529888"/>
            <a:ext cx="316893" cy="1004165"/>
          </a:xfrm>
          <a:prstGeom prst="rect">
            <a:avLst/>
          </a:prstGeom>
          <a:noFill/>
          <a:ln w="38100">
            <a:solidFill>
              <a:srgbClr val="BC04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8091656" y="3514670"/>
            <a:ext cx="314819" cy="1004165"/>
          </a:xfrm>
          <a:prstGeom prst="rect">
            <a:avLst/>
          </a:prstGeom>
          <a:noFill/>
          <a:ln w="38100">
            <a:solidFill>
              <a:srgbClr val="FE7ED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506399" y="1253991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7489916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463949" y="1956608"/>
            <a:ext cx="1547206" cy="1659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9011155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011155" y="1264349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492837" y="978301"/>
            <a:ext cx="11516" cy="37342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8742960" y="984936"/>
            <a:ext cx="4754" cy="37209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6522907" y="3196354"/>
            <a:ext cx="983517" cy="7619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749881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7513520" y="2514821"/>
            <a:ext cx="748817" cy="0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826233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62337" y="3183298"/>
            <a:ext cx="1775618" cy="1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6529720" y="4355098"/>
            <a:ext cx="1732728" cy="14504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8248028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48028" y="3660100"/>
            <a:ext cx="748817" cy="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9011155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996845" y="4355098"/>
            <a:ext cx="1022492" cy="381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blipFill>
                <a:blip r:embed="rId11"/>
                <a:stretch>
                  <a:fillRect l="-28125" r="-28125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𝑻𝒔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blipFill>
                <a:blip r:embed="rId12"/>
                <a:stretch>
                  <a:fillRect l="-18000" r="-22000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/>
          <p:cNvCxnSpPr/>
          <p:nvPr/>
        </p:nvCxnSpPr>
        <p:spPr>
          <a:xfrm>
            <a:off x="9971746" y="1039713"/>
            <a:ext cx="47591" cy="358155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𝑻𝒔</m:t>
                          </m:r>
                        </m:num>
                        <m:den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blipFill>
                <a:blip r:embed="rId13"/>
                <a:stretch>
                  <a:fillRect l="-2000" r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69" idx="3"/>
            <a:endCxn id="73" idx="1"/>
          </p:cNvCxnSpPr>
          <p:nvPr/>
        </p:nvCxnSpPr>
        <p:spPr>
          <a:xfrm flipV="1">
            <a:off x="7887928" y="4905538"/>
            <a:ext cx="1932366" cy="7511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5948" y="5258326"/>
            <a:ext cx="26653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impossible to equate all switching states because the sum of duty cycles of SPWM is bigger than one period.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795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86756"/>
            <a:ext cx="9977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Solution: DC Injected Reference signal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978" y="907673"/>
            <a:ext cx="4060620" cy="304546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288" y="941014"/>
            <a:ext cx="3971712" cy="2978784"/>
          </a:xfrm>
          <a:prstGeom prst="rect">
            <a:avLst/>
          </a:prstGeom>
        </p:spPr>
      </p:pic>
      <p:pic>
        <p:nvPicPr>
          <p:cNvPr id="74" name="Picture 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56" y="794642"/>
            <a:ext cx="4067968" cy="3050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Single carrier signal</a:t>
            </a:r>
            <a:endParaRPr lang="en-US" dirty="0"/>
          </a:p>
        </p:txBody>
      </p:sp>
      <p:sp>
        <p:nvSpPr>
          <p:cNvPr id="75" name="TextBox 74"/>
          <p:cNvSpPr txBox="1"/>
          <p:nvPr/>
        </p:nvSpPr>
        <p:spPr>
          <a:xfrm>
            <a:off x="518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</a:t>
            </a:r>
            <a:endParaRPr 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9377680" y="4066170"/>
            <a:ext cx="235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 with DC injected reference signal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4647345"/>
                <a:ext cx="4003244" cy="8699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966284"/>
                <a:ext cx="4551884" cy="869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76" y="5307285"/>
                <a:ext cx="4493600" cy="8699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499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59" y="554990"/>
            <a:ext cx="4055533" cy="3041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399" y="554990"/>
            <a:ext cx="4055533" cy="3041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3760" y="93325"/>
            <a:ext cx="3180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Carrier Signal 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959" y="3926225"/>
            <a:ext cx="4071593" cy="30536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399" y="3926225"/>
            <a:ext cx="4055533" cy="30416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7878" y="3540760"/>
            <a:ext cx="7073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CPS- 0-120-240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3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39" y="3708400"/>
            <a:ext cx="4199467" cy="3149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358" y="3825875"/>
            <a:ext cx="4042833" cy="3032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1360" y="116840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Fundamental Component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4272" y="447040"/>
            <a:ext cx="3987800" cy="29908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8" y="447040"/>
            <a:ext cx="3987800" cy="2990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1360" y="3342313"/>
            <a:ext cx="1088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Multi-Carrier Signals (DC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injected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Variable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CPS- Total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Harmonic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Reduction</a:t>
            </a:r>
            <a:r>
              <a:rPr lang="sv-SE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sv-SE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35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83760" y="0"/>
            <a:ext cx="3281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Non-Idealities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49" y="786922"/>
            <a:ext cx="5547997" cy="416099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86922"/>
            <a:ext cx="5832476" cy="437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51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653280" y="213360"/>
            <a:ext cx="26212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Drawbacks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6621" y="921246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maximum modulation is limited to 2/3 due to DC injection.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is difficult due to delay time of practical components and other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nonidealities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6941" y="2153245"/>
            <a:ext cx="543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Further Investigation</a:t>
            </a:r>
            <a:endParaRPr lang="sv-SE" sz="4000" dirty="0">
              <a:solidFill>
                <a:srgbClr val="C0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58221" y="3197086"/>
            <a:ext cx="105562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SVPWM or third harmonic injection to increase DC-link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Constant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both turn-on and turn-off transition. (Variable gate resistance)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mathematical model including dead time, different dv/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effect (different loading).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81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5288" y="21950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81551" y="836276"/>
            <a:ext cx="643128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sv-SE" dirty="0" smtClean="0"/>
          </a:p>
          <a:p>
            <a:r>
              <a:rPr lang="sv-SE" b="1" dirty="0" smtClean="0"/>
              <a:t>Rotary </a:t>
            </a:r>
            <a:r>
              <a:rPr lang="sv-SE" b="1" dirty="0" err="1" smtClean="0"/>
              <a:t>capacitor</a:t>
            </a:r>
            <a:r>
              <a:rPr lang="sv-SE" b="1" dirty="0" smtClean="0"/>
              <a:t> </a:t>
            </a:r>
            <a:r>
              <a:rPr lang="sv-SE" dirty="0" err="1" smtClean="0"/>
              <a:t>assemblies</a:t>
            </a:r>
            <a:r>
              <a:rPr lang="sv-SE" dirty="0" smtClean="0"/>
              <a:t> </a:t>
            </a:r>
            <a:r>
              <a:rPr lang="sv-SE" dirty="0" err="1" smtClean="0"/>
              <a:t>divert</a:t>
            </a:r>
            <a:r>
              <a:rPr lang="sv-SE" dirty="0" smtClean="0"/>
              <a:t> or </a:t>
            </a:r>
            <a:r>
              <a:rPr lang="sv-SE" b="1" dirty="0" err="1" smtClean="0"/>
              <a:t>mitigate</a:t>
            </a:r>
            <a:r>
              <a:rPr lang="sv-SE" dirty="0" smtClean="0"/>
              <a:t> </a:t>
            </a:r>
            <a:r>
              <a:rPr lang="en-US" b="1" dirty="0" smtClean="0"/>
              <a:t>high-frequency</a:t>
            </a:r>
            <a:r>
              <a:rPr lang="sv-SE" b="1" dirty="0" smtClean="0"/>
              <a:t> </a:t>
            </a:r>
            <a:r>
              <a:rPr lang="sv-SE" b="1" dirty="0" err="1" smtClean="0"/>
              <a:t>electrical</a:t>
            </a:r>
            <a:r>
              <a:rPr lang="sv-SE" b="1" dirty="0" smtClean="0"/>
              <a:t> </a:t>
            </a:r>
            <a:r>
              <a:rPr lang="sv-SE" b="1" dirty="0" err="1" smtClean="0"/>
              <a:t>currents</a:t>
            </a:r>
            <a:r>
              <a:rPr lang="sv-SE" b="1" dirty="0" smtClean="0"/>
              <a:t> </a:t>
            </a:r>
            <a:r>
              <a:rPr lang="sv-SE" dirty="0" smtClean="0"/>
              <a:t>and </a:t>
            </a:r>
            <a:r>
              <a:rPr lang="sv-SE" dirty="0" err="1" smtClean="0"/>
              <a:t>voltages</a:t>
            </a:r>
            <a:r>
              <a:rPr lang="sv-SE" dirty="0" smtClean="0"/>
              <a:t> </a:t>
            </a:r>
            <a:r>
              <a:rPr lang="sv-SE" b="1" dirty="0" smtClean="0"/>
              <a:t>in </a:t>
            </a:r>
            <a:r>
              <a:rPr lang="sv-SE" b="1" dirty="0" err="1" smtClean="0"/>
              <a:t>bearings</a:t>
            </a:r>
            <a:r>
              <a:rPr lang="sv-SE" b="1" dirty="0" smtClean="0"/>
              <a:t> </a:t>
            </a:r>
            <a:r>
              <a:rPr lang="sv-SE" dirty="0" err="1" smtClean="0"/>
              <a:t>of</a:t>
            </a:r>
            <a:r>
              <a:rPr lang="sv-SE" dirty="0" smtClean="0"/>
              <a:t> </a:t>
            </a:r>
            <a:r>
              <a:rPr lang="sv-SE" dirty="0" err="1" smtClean="0"/>
              <a:t>electric</a:t>
            </a:r>
            <a:r>
              <a:rPr lang="sv-SE" dirty="0" smtClean="0"/>
              <a:t> </a:t>
            </a:r>
            <a:r>
              <a:rPr lang="sv-SE" dirty="0" err="1" smtClean="0"/>
              <a:t>machinery</a:t>
            </a:r>
            <a:r>
              <a:rPr lang="sv-SE" dirty="0" smtClean="0"/>
              <a:t> (</a:t>
            </a:r>
            <a:r>
              <a:rPr lang="sv-SE" dirty="0" err="1" smtClean="0"/>
              <a:t>e.g</a:t>
            </a:r>
            <a:r>
              <a:rPr lang="sv-SE" dirty="0" smtClean="0"/>
              <a:t>., motors and </a:t>
            </a:r>
            <a:r>
              <a:rPr lang="sv-SE" dirty="0"/>
              <a:t>generators) </a:t>
            </a:r>
            <a:r>
              <a:rPr lang="sv-SE" dirty="0" err="1"/>
              <a:t>without</a:t>
            </a:r>
            <a:r>
              <a:rPr lang="sv-SE" dirty="0"/>
              <a:t> </a:t>
            </a:r>
            <a:r>
              <a:rPr lang="sv-SE" dirty="0" err="1"/>
              <a:t>direct</a:t>
            </a:r>
            <a:r>
              <a:rPr lang="sv-SE" dirty="0"/>
              <a:t> </a:t>
            </a:r>
            <a:r>
              <a:rPr lang="sv-SE" dirty="0" err="1"/>
              <a:t>contact</a:t>
            </a:r>
            <a:r>
              <a:rPr lang="sv-SE" dirty="0"/>
              <a:t>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smtClean="0"/>
              <a:t>the </a:t>
            </a:r>
            <a:r>
              <a:rPr lang="sv-SE" dirty="0" err="1"/>
              <a:t>bearings</a:t>
            </a:r>
            <a:r>
              <a:rPr lang="sv-SE" dirty="0"/>
              <a:t>. </a:t>
            </a:r>
            <a:r>
              <a:rPr lang="sv-SE" dirty="0" smtClean="0"/>
              <a:t> </a:t>
            </a:r>
          </a:p>
          <a:p>
            <a:endParaRPr lang="en-US" dirty="0"/>
          </a:p>
          <a:p>
            <a:r>
              <a:rPr lang="sv-SE" dirty="0"/>
              <a:t>United States Patent, US 9,653,970B2</a:t>
            </a:r>
            <a:endParaRPr lang="sv-SE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775" y="2556193"/>
            <a:ext cx="5379169" cy="4301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795" y="3030080"/>
            <a:ext cx="4103799" cy="366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1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2760" y="153115"/>
            <a:ext cx="6324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Capacitive Power Transfer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82880" y="1356940"/>
            <a:ext cx="533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Analysis</a:t>
            </a:r>
            <a:r>
              <a:rPr lang="sv-SE" dirty="0"/>
              <a:t> and </a:t>
            </a:r>
            <a:r>
              <a:rPr lang="sv-SE" dirty="0" err="1"/>
              <a:t>Utilization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Common-Mode </a:t>
            </a:r>
            <a:r>
              <a:rPr lang="sv-SE" dirty="0" err="1"/>
              <a:t>Voltage</a:t>
            </a:r>
            <a:r>
              <a:rPr lang="sv-SE" dirty="0"/>
              <a:t> in </a:t>
            </a:r>
            <a:r>
              <a:rPr lang="sv-SE" dirty="0" err="1"/>
              <a:t>Inverters</a:t>
            </a:r>
            <a:r>
              <a:rPr lang="sv-SE" dirty="0"/>
              <a:t> for Power </a:t>
            </a:r>
            <a:r>
              <a:rPr lang="sv-SE" dirty="0" err="1" smtClean="0"/>
              <a:t>Supply</a:t>
            </a:r>
            <a:r>
              <a:rPr lang="sv-SE" dirty="0" smtClean="0"/>
              <a:t>, </a:t>
            </a:r>
            <a:r>
              <a:rPr lang="en-US" dirty="0"/>
              <a:t>IEEE TRANSACTIONS ON POWER ELECTRONICS, VOL. 38, NO. 7, JULY 2023</a:t>
            </a:r>
            <a:endParaRPr lang="sv-SE" dirty="0"/>
          </a:p>
        </p:txBody>
      </p:sp>
      <p:sp>
        <p:nvSpPr>
          <p:cNvPr id="6" name="Rectangle 5"/>
          <p:cNvSpPr/>
          <p:nvPr/>
        </p:nvSpPr>
        <p:spPr>
          <a:xfrm>
            <a:off x="182880" y="2475548"/>
            <a:ext cx="54457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/>
              <a:t>From the </a:t>
            </a:r>
            <a:r>
              <a:rPr lang="sv-SE" dirty="0" err="1"/>
              <a:t>perspective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b="1" dirty="0" err="1"/>
              <a:t>energy</a:t>
            </a:r>
            <a:r>
              <a:rPr lang="sv-SE" b="1" dirty="0"/>
              <a:t> </a:t>
            </a:r>
            <a:r>
              <a:rPr lang="sv-SE" b="1" dirty="0" err="1"/>
              <a:t>utilization</a:t>
            </a:r>
            <a:r>
              <a:rPr lang="sv-SE" dirty="0"/>
              <a:t>, </a:t>
            </a:r>
            <a:r>
              <a:rPr lang="sv-SE" dirty="0" err="1"/>
              <a:t>this</a:t>
            </a:r>
            <a:r>
              <a:rPr lang="sv-SE" dirty="0"/>
              <a:t> </a:t>
            </a:r>
            <a:r>
              <a:rPr lang="sv-SE" dirty="0" err="1"/>
              <a:t>article</a:t>
            </a:r>
            <a:r>
              <a:rPr lang="sv-SE" dirty="0"/>
              <a:t> </a:t>
            </a:r>
            <a:r>
              <a:rPr lang="sv-SE" dirty="0" err="1"/>
              <a:t>proposed</a:t>
            </a:r>
            <a:r>
              <a:rPr lang="sv-SE" dirty="0"/>
              <a:t> a </a:t>
            </a:r>
            <a:r>
              <a:rPr lang="sv-SE" dirty="0" err="1"/>
              <a:t>method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powering</a:t>
            </a:r>
            <a:r>
              <a:rPr lang="sv-SE" dirty="0"/>
              <a:t> the </a:t>
            </a:r>
            <a:r>
              <a:rPr lang="sv-SE" dirty="0" err="1"/>
              <a:t>load</a:t>
            </a:r>
            <a:r>
              <a:rPr lang="sv-SE" dirty="0"/>
              <a:t> by </a:t>
            </a:r>
            <a:r>
              <a:rPr lang="sv-SE" dirty="0" err="1"/>
              <a:t>collecting</a:t>
            </a:r>
            <a:r>
              <a:rPr lang="sv-SE" dirty="0"/>
              <a:t> the </a:t>
            </a:r>
            <a:r>
              <a:rPr lang="sv-SE" dirty="0" err="1"/>
              <a:t>energy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CMV.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2315"/>
          <a:stretch/>
        </p:blipFill>
        <p:spPr>
          <a:xfrm>
            <a:off x="6154420" y="1185958"/>
            <a:ext cx="5577003" cy="569512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33520"/>
            <a:ext cx="5805259" cy="249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981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Constant dv/</a:t>
            </a:r>
            <a:r>
              <a:rPr lang="en-US" dirty="0" err="1" smtClean="0">
                <a:solidFill>
                  <a:srgbClr val="C00000"/>
                </a:solidFill>
              </a:rPr>
              <a:t>dt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3520" y="1690688"/>
            <a:ext cx="660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Dynamic</a:t>
            </a:r>
            <a:r>
              <a:rPr lang="sv-SE" dirty="0"/>
              <a:t> dv/dt Control </a:t>
            </a:r>
            <a:r>
              <a:rPr lang="sv-SE" dirty="0" err="1"/>
              <a:t>Strategy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SiC</a:t>
            </a:r>
            <a:r>
              <a:rPr lang="sv-SE" dirty="0"/>
              <a:t> MOSFET for </a:t>
            </a:r>
            <a:r>
              <a:rPr lang="sv-SE" dirty="0" err="1"/>
              <a:t>Switching</a:t>
            </a:r>
            <a:r>
              <a:rPr lang="sv-SE" dirty="0"/>
              <a:t> Loss </a:t>
            </a:r>
            <a:r>
              <a:rPr lang="sv-SE" dirty="0" err="1"/>
              <a:t>Reduction</a:t>
            </a:r>
            <a:r>
              <a:rPr lang="sv-SE" dirty="0"/>
              <a:t> in the </a:t>
            </a:r>
            <a:r>
              <a:rPr lang="sv-SE" dirty="0" err="1"/>
              <a:t>Operational</a:t>
            </a:r>
            <a:r>
              <a:rPr lang="sv-SE" dirty="0"/>
              <a:t> Power </a:t>
            </a:r>
            <a:r>
              <a:rPr lang="sv-SE" dirty="0" smtClean="0"/>
              <a:t>Range, </a:t>
            </a:r>
            <a:r>
              <a:rPr lang="en-US" dirty="0"/>
              <a:t>IEEE TRANSACTIONS ON POWER ELECTRONICS, VOL. 37, NO. 6, JUNE </a:t>
            </a:r>
            <a:r>
              <a:rPr lang="en-US" dirty="0" smtClean="0"/>
              <a:t>2022- LETTER</a:t>
            </a:r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50" y="3241040"/>
            <a:ext cx="6693079" cy="31588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586" y="554156"/>
            <a:ext cx="4389962" cy="352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842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3084</TotalTime>
  <Words>1045</Words>
  <Application>Microsoft Office PowerPoint</Application>
  <PresentationFormat>Widescreen</PresentationFormat>
  <Paragraphs>92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Capacitive Power Transfer</vt:lpstr>
      <vt:lpstr>Capacitive Power Transfer</vt:lpstr>
      <vt:lpstr>Constant dv/dt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48</cp:revision>
  <dcterms:created xsi:type="dcterms:W3CDTF">2023-07-06T09:42:55Z</dcterms:created>
  <dcterms:modified xsi:type="dcterms:W3CDTF">2023-08-09T06:47:20Z</dcterms:modified>
</cp:coreProperties>
</file>