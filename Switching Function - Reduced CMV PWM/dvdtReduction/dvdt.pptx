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62" r:id="rId4"/>
    <p:sldId id="260" r:id="rId5"/>
    <p:sldId id="259" r:id="rId6"/>
    <p:sldId id="263" r:id="rId7"/>
    <p:sldId id="264" r:id="rId8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FF"/>
    <a:srgbClr val="0033CC"/>
    <a:srgbClr val="FE7ED0"/>
    <a:srgbClr val="02C9CE"/>
    <a:srgbClr val="BC0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1628" autoAdjust="0"/>
  </p:normalViewPr>
  <p:slideViewPr>
    <p:cSldViewPr snapToGrid="0">
      <p:cViewPr varScale="1">
        <p:scale>
          <a:sx n="94" d="100"/>
          <a:sy n="94" d="100"/>
        </p:scale>
        <p:origin x="119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1242EF-9523-44CC-A9D6-8A54B75E8B6F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7A3E73-AB6F-473D-8A0C-3F8FACBF84DC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355100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7A3E73-AB6F-473D-8A0C-3F8FACBF84DC}" type="slidenum">
              <a:rPr lang="sv-SE" smtClean="0"/>
              <a:t>5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516645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319343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08264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234455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97618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98154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736232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024514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431651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203790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127955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4285752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sv-S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sv-S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B46C5C-7B3C-46DF-B479-A650EF2753E0}" type="datetimeFigureOut">
              <a:rPr lang="sv-SE" smtClean="0"/>
              <a:t>2023-07-15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1890339-DE60-4EA1-A509-748D0784C31A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42677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emf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4.emf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0.png"/><Relationship Id="rId10" Type="http://schemas.openxmlformats.org/officeDocument/2006/relationships/image" Target="../media/image24.png"/><Relationship Id="rId4" Type="http://schemas.openxmlformats.org/officeDocument/2006/relationships/image" Target="../media/image180.png"/><Relationship Id="rId9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7" Type="http://schemas.openxmlformats.org/officeDocument/2006/relationships/image" Target="../media/image32.png"/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1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367" y="771252"/>
            <a:ext cx="4841789" cy="36313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43578" y="134486"/>
            <a:ext cx="405178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CB- SPWM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2568" y="657793"/>
            <a:ext cx="5334000" cy="40005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995680" y="5104085"/>
            <a:ext cx="105562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We can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generate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carrier-based (CB) PWMs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comparing reference signals with triangular carrier signal.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Conventionally, it is common  that one carrier signal is utilized. However, for multi-module or </a:t>
            </a:r>
            <a:r>
              <a:rPr lang="en-US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multï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-phase inverters,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be used in order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 specific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5300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81" y="2717266"/>
            <a:ext cx="3524459" cy="2643344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7440" y="2754570"/>
            <a:ext cx="3474720" cy="2606040"/>
          </a:xfrm>
          <a:prstGeom prst="rect">
            <a:avLst/>
          </a:prstGeom>
        </p:spPr>
      </p:pic>
      <p:cxnSp>
        <p:nvCxnSpPr>
          <p:cNvPr id="10" name="Straight Arrow Connector 9"/>
          <p:cNvCxnSpPr/>
          <p:nvPr/>
        </p:nvCxnSpPr>
        <p:spPr>
          <a:xfrm flipV="1">
            <a:off x="4150737" y="3058397"/>
            <a:ext cx="707648" cy="6619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>
            <a:off x="6110923" y="3047823"/>
            <a:ext cx="651711" cy="1057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858" y="2904160"/>
                <a:ext cx="126621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/>
          <p:cNvCxnSpPr/>
          <p:nvPr/>
        </p:nvCxnSpPr>
        <p:spPr>
          <a:xfrm flipH="1">
            <a:off x="5764077" y="3681640"/>
            <a:ext cx="907233" cy="11318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/>
        </p:nvCxnSpPr>
        <p:spPr>
          <a:xfrm>
            <a:off x="4081623" y="3681640"/>
            <a:ext cx="1072037" cy="5407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/>
              <p:cNvSpPr txBox="1"/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3" name="TextBox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3431" y="3500665"/>
                <a:ext cx="1266214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sSub>
                        <m:sSub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6013" y="4771796"/>
                <a:ext cx="1266214" cy="400110"/>
              </a:xfrm>
              <a:prstGeom prst="rect">
                <a:avLst/>
              </a:prstGeom>
              <a:blipFill>
                <a:blip r:embed="rId6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/>
          <p:cNvCxnSpPr/>
          <p:nvPr/>
        </p:nvCxnSpPr>
        <p:spPr>
          <a:xfrm flipV="1">
            <a:off x="4137506" y="4964690"/>
            <a:ext cx="367055" cy="1226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6421257" y="4969158"/>
            <a:ext cx="319240" cy="269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4560" y="803998"/>
            <a:ext cx="1055624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zoom in on a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single period of the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observe that the transition time of PWMs for each leg do not intersect.</a:t>
            </a:r>
          </a:p>
          <a:p>
            <a:pPr marL="342900" indent="-342900">
              <a:buFont typeface="+mj-lt"/>
              <a:buAutoNum type="arabicPeriod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Therefore, we have common mode voltage at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times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 addition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frequency of carrier signal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tripled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  <p:cxnSp>
        <p:nvCxnSpPr>
          <p:cNvPr id="34" name="Straight Connector 33"/>
          <p:cNvCxnSpPr/>
          <p:nvPr/>
        </p:nvCxnSpPr>
        <p:spPr>
          <a:xfrm flipV="1">
            <a:off x="7714429" y="3367400"/>
            <a:ext cx="491759" cy="80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8206188" y="3367400"/>
            <a:ext cx="0" cy="67099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8206189" y="4038399"/>
            <a:ext cx="5366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742815" y="4019760"/>
            <a:ext cx="0" cy="67099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 flipV="1">
            <a:off x="8742815" y="4698064"/>
            <a:ext cx="532898" cy="804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9275713" y="4690759"/>
            <a:ext cx="0" cy="67099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 flipV="1">
            <a:off x="9275713" y="5323933"/>
            <a:ext cx="945670" cy="2155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/>
          <p:cNvCxnSpPr/>
          <p:nvPr/>
        </p:nvCxnSpPr>
        <p:spPr>
          <a:xfrm>
            <a:off x="10205987" y="4674489"/>
            <a:ext cx="0" cy="67099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 flipV="1">
            <a:off x="10186870" y="4674489"/>
            <a:ext cx="532898" cy="804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10717483" y="4027065"/>
            <a:ext cx="0" cy="67099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10717483" y="4027065"/>
            <a:ext cx="536672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11254673" y="3348761"/>
            <a:ext cx="0" cy="67099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/>
          <p:nvPr/>
        </p:nvCxnSpPr>
        <p:spPr>
          <a:xfrm flipV="1">
            <a:off x="11254155" y="3337063"/>
            <a:ext cx="491759" cy="8046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>
            <a:off x="7714429" y="2570480"/>
            <a:ext cx="32483" cy="354310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/>
          <p:nvPr/>
        </p:nvCxnSpPr>
        <p:spPr>
          <a:xfrm>
            <a:off x="11745914" y="2717266"/>
            <a:ext cx="56916" cy="34718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7641956" y="6189116"/>
                <a:ext cx="1811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1956" y="6189116"/>
                <a:ext cx="181139" cy="276999"/>
              </a:xfrm>
              <a:prstGeom prst="rect">
                <a:avLst/>
              </a:prstGeom>
              <a:blipFill>
                <a:blip r:embed="rId7"/>
                <a:stretch>
                  <a:fillRect l="-34483" r="-31034" b="-652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/>
              <p:cNvSpPr txBox="1"/>
              <p:nvPr/>
            </p:nvSpPr>
            <p:spPr>
              <a:xfrm>
                <a:off x="11636992" y="6253094"/>
                <a:ext cx="30290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0" i="1" smtClean="0">
                          <a:latin typeface="Cambria Math" panose="02040503050406030204" pitchFamily="18" charset="0"/>
                        </a:rPr>
                        <m:t>𝑇𝑠</m:t>
                      </m:r>
                    </m:oMath>
                  </m:oMathPara>
                </a14:m>
                <a:endParaRPr lang="sv-SE" dirty="0"/>
              </a:p>
            </p:txBody>
          </p:sp>
        </mc:Choice>
        <mc:Fallback xmlns="">
          <p:sp>
            <p:nvSpPr>
              <p:cNvPr id="52" name="TextBox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36992" y="6253094"/>
                <a:ext cx="302903" cy="276999"/>
              </a:xfrm>
              <a:prstGeom prst="rect">
                <a:avLst/>
              </a:prstGeom>
              <a:blipFill>
                <a:blip r:embed="rId8"/>
                <a:stretch>
                  <a:fillRect l="-20000" r="-16000" b="-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3" name="TextBox 52"/>
          <p:cNvSpPr txBox="1"/>
          <p:nvPr/>
        </p:nvSpPr>
        <p:spPr>
          <a:xfrm>
            <a:off x="9299588" y="2277516"/>
            <a:ext cx="1256066" cy="477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500" dirty="0" smtClean="0"/>
              <a:t>CMV</a:t>
            </a:r>
            <a:endParaRPr lang="sv-SE" sz="2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/>
              <p:cNvSpPr txBox="1"/>
              <p:nvPr/>
            </p:nvSpPr>
            <p:spPr>
              <a:xfrm>
                <a:off x="8170488" y="3437114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5" name="TextBox 5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488" y="3437114"/>
                <a:ext cx="1266214" cy="55976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7518071" y="2776797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071" y="2776797"/>
                <a:ext cx="1266214" cy="55976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/>
              <p:cNvSpPr txBox="1"/>
              <p:nvPr/>
            </p:nvSpPr>
            <p:spPr>
              <a:xfrm>
                <a:off x="8686727" y="413829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7" name="TextBox 5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727" y="4138295"/>
                <a:ext cx="1266214" cy="55976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9224395" y="5358588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(1−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395" y="5358588"/>
                <a:ext cx="1266214" cy="55976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/>
              <p:cNvSpPr txBox="1"/>
              <p:nvPr/>
            </p:nvSpPr>
            <p:spPr>
              <a:xfrm>
                <a:off x="10221383" y="4705369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59" name="TextBox 5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21383" y="4705369"/>
                <a:ext cx="1266214" cy="559769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TextBox 59"/>
              <p:cNvSpPr txBox="1"/>
              <p:nvPr/>
            </p:nvSpPr>
            <p:spPr>
              <a:xfrm>
                <a:off x="10673681" y="4049901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60" name="TextBox 5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3681" y="4049901"/>
                <a:ext cx="1266214" cy="55976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1" name="TextBox 60"/>
              <p:cNvSpPr txBox="1"/>
              <p:nvPr/>
            </p:nvSpPr>
            <p:spPr>
              <a:xfrm>
                <a:off x="11003885" y="3394785"/>
                <a:ext cx="1266214" cy="5597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sz="1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sv-SE" sz="16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</m:sub>
                          </m:sSub>
                        </m:num>
                        <m:den>
                          <m:r>
                            <a:rPr lang="sv-SE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sv-SE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sv-SE" sz="1400" b="0" i="0" smtClean="0">
                          <a:latin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sv-SE" sz="1400" dirty="0"/>
              </a:p>
            </p:txBody>
          </p:sp>
        </mc:Choice>
        <mc:Fallback xmlns="">
          <p:sp>
            <p:nvSpPr>
              <p:cNvPr id="61" name="TextBox 6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3885" y="3394785"/>
                <a:ext cx="1266214" cy="559769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367192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66781" y="428078"/>
            <a:ext cx="1055624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If we use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carrier signal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this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However, it should be considered that in such case we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 differential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 well.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While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decreases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load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inductive in differential mode, it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common mode current harmonics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since the common mode load is capacitive.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Accordingly,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utilize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algorithm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reduce the common  mode voltage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after that we can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increase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frequency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reduce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differential mode current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Several algorithms are utilized in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  However, they mostly concern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and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its tripled harmonics.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For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topology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should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change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from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multi-level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ones.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transition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is more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sharp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in 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SiC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devices,  which is needed to reduce the switching losses. These sharp transition, which also means that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 dv/</a:t>
            </a:r>
            <a:r>
              <a:rPr lang="en-US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dt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,  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can turn in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higher common mode current     harmonics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33886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957005" y="217556"/>
            <a:ext cx="60963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Multiple Carrier Signals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15" y="2513330"/>
            <a:ext cx="5334000" cy="4000500"/>
          </a:xfrm>
          <a:prstGeom prst="rect">
            <a:avLst/>
          </a:prstGeom>
        </p:spPr>
      </p:pic>
      <p:cxnSp>
        <p:nvCxnSpPr>
          <p:cNvPr id="34" name="Straight Arrow Connector 33"/>
          <p:cNvCxnSpPr/>
          <p:nvPr/>
        </p:nvCxnSpPr>
        <p:spPr>
          <a:xfrm>
            <a:off x="975632" y="29832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H="1">
            <a:off x="4035264" y="29832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/>
              <p:cNvSpPr txBox="1"/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2792575"/>
                <a:ext cx="1657761" cy="400110"/>
              </a:xfrm>
              <a:prstGeom prst="rect">
                <a:avLst/>
              </a:prstGeom>
              <a:blipFill>
                <a:blip r:embed="rId3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Arrow Connector 36"/>
          <p:cNvCxnSpPr/>
          <p:nvPr/>
        </p:nvCxnSpPr>
        <p:spPr>
          <a:xfrm flipH="1">
            <a:off x="3449785" y="40236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" name="Straight Arrow Connector 37"/>
          <p:cNvCxnSpPr/>
          <p:nvPr/>
        </p:nvCxnSpPr>
        <p:spPr>
          <a:xfrm>
            <a:off x="975631" y="40236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/>
              <p:cNvSpPr txBox="1"/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9" name="TextBox 3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813" y="3823638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/>
              <p:cNvSpPr txBox="1"/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0" name="TextBox 3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3689" y="5071003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Straight Arrow Connector 40"/>
          <p:cNvCxnSpPr/>
          <p:nvPr/>
        </p:nvCxnSpPr>
        <p:spPr>
          <a:xfrm flipV="1">
            <a:off x="919518" y="52710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/>
          <p:nvPr/>
        </p:nvCxnSpPr>
        <p:spPr>
          <a:xfrm flipH="1">
            <a:off x="4568116" y="52570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5451" y="1081088"/>
            <a:ext cx="1055624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By using multiple carrier signals, we can change the starting points of the PWMs while the duty cycles are still the same.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aim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is to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intersect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the 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switching transitions of PWMs</a:t>
            </a: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by introducing carrier signals.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1799448" y="281753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3936871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2270808" y="3916544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3337994" y="3936353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1180860" y="4915022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4333458" y="4915022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2" name="Rectangle 31"/>
          <p:cNvSpPr/>
          <p:nvPr/>
        </p:nvSpPr>
        <p:spPr>
          <a:xfrm>
            <a:off x="7062426" y="2796859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3" name="Rectangle 42"/>
          <p:cNvSpPr/>
          <p:nvPr/>
        </p:nvSpPr>
        <p:spPr>
          <a:xfrm>
            <a:off x="8317954" y="4023693"/>
            <a:ext cx="312421" cy="1028644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4" name="Rectangle 43"/>
          <p:cNvSpPr/>
          <p:nvPr/>
        </p:nvSpPr>
        <p:spPr>
          <a:xfrm>
            <a:off x="7081534" y="4042360"/>
            <a:ext cx="293312" cy="1028643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9897193" y="5257088"/>
            <a:ext cx="312420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9897193" y="2817539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7" name="Rectangle 46"/>
          <p:cNvSpPr/>
          <p:nvPr/>
        </p:nvSpPr>
        <p:spPr>
          <a:xfrm>
            <a:off x="8326674" y="5264121"/>
            <a:ext cx="312420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" name="TextBox 1"/>
          <p:cNvSpPr txBox="1"/>
          <p:nvPr/>
        </p:nvSpPr>
        <p:spPr>
          <a:xfrm>
            <a:off x="6771638" y="3172035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8" name="TextBox 47"/>
          <p:cNvSpPr txBox="1"/>
          <p:nvPr/>
        </p:nvSpPr>
        <p:spPr>
          <a:xfrm>
            <a:off x="8082703" y="4353349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  <p:sp>
        <p:nvSpPr>
          <p:cNvPr id="49" name="TextBox 48"/>
          <p:cNvSpPr txBox="1"/>
          <p:nvPr/>
        </p:nvSpPr>
        <p:spPr>
          <a:xfrm>
            <a:off x="9620322" y="315732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0" name="TextBox 49"/>
          <p:cNvSpPr txBox="1"/>
          <p:nvPr/>
        </p:nvSpPr>
        <p:spPr>
          <a:xfrm>
            <a:off x="6820218" y="4540164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1" name="TextBox 50"/>
          <p:cNvSpPr txBox="1"/>
          <p:nvPr/>
        </p:nvSpPr>
        <p:spPr>
          <a:xfrm>
            <a:off x="8049803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 smtClean="0"/>
              <a:t>-on</a:t>
            </a:r>
            <a:endParaRPr lang="sv-SE" dirty="0"/>
          </a:p>
        </p:txBody>
      </p:sp>
      <p:sp>
        <p:nvSpPr>
          <p:cNvPr id="52" name="TextBox 51"/>
          <p:cNvSpPr txBox="1"/>
          <p:nvPr/>
        </p:nvSpPr>
        <p:spPr>
          <a:xfrm>
            <a:off x="9615687" y="5488131"/>
            <a:ext cx="117858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sv-SE" dirty="0" err="1" smtClean="0"/>
              <a:t>Turn</a:t>
            </a:r>
            <a:r>
              <a:rPr lang="sv-SE" dirty="0"/>
              <a:t>-</a:t>
            </a:r>
            <a:r>
              <a:rPr lang="sv-SE" dirty="0" smtClean="0"/>
              <a:t>off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10421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349691" y="-15371"/>
            <a:ext cx="51532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Problem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35" name="Picture 3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91755" y="745996"/>
            <a:ext cx="5334000" cy="4000500"/>
          </a:xfrm>
          <a:prstGeom prst="rect">
            <a:avLst/>
          </a:prstGeom>
        </p:spPr>
      </p:pic>
      <p:cxnSp>
        <p:nvCxnSpPr>
          <p:cNvPr id="36" name="Straight Arrow Connector 35"/>
          <p:cNvCxnSpPr/>
          <p:nvPr/>
        </p:nvCxnSpPr>
        <p:spPr>
          <a:xfrm>
            <a:off x="573162" y="1241407"/>
            <a:ext cx="961117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/>
          <p:nvPr/>
        </p:nvCxnSpPr>
        <p:spPr>
          <a:xfrm flipH="1">
            <a:off x="3632794" y="1241407"/>
            <a:ext cx="967028" cy="9423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/>
              <p:cNvSpPr txBox="1"/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38" name="TextBox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1050775"/>
                <a:ext cx="1657761" cy="400110"/>
              </a:xfrm>
              <a:prstGeom prst="rect">
                <a:avLst/>
              </a:prstGeom>
              <a:blipFill>
                <a:blip r:embed="rId4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9" name="Straight Arrow Connector 38"/>
          <p:cNvCxnSpPr/>
          <p:nvPr/>
        </p:nvCxnSpPr>
        <p:spPr>
          <a:xfrm flipH="1">
            <a:off x="3047315" y="2281893"/>
            <a:ext cx="1552507" cy="4594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/>
          <p:nvPr/>
        </p:nvCxnSpPr>
        <p:spPr>
          <a:xfrm>
            <a:off x="573161" y="2281893"/>
            <a:ext cx="1493970" cy="0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/>
              <p:cNvSpPr txBox="1"/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1" name="TextBox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343" y="2081838"/>
                <a:ext cx="1657761" cy="400110"/>
              </a:xfrm>
              <a:prstGeom prst="rect">
                <a:avLst/>
              </a:prstGeom>
              <a:blipFill>
                <a:blip r:embed="rId5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/>
              <p:cNvSpPr txBox="1"/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</m:t>
                          </m:r>
                        </m:sub>
                      </m:sSub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42" name="TextBox 4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1219" y="3329203"/>
                <a:ext cx="1657761" cy="400110"/>
              </a:xfrm>
              <a:prstGeom prst="rect">
                <a:avLst/>
              </a:prstGeom>
              <a:blipFill>
                <a:blip r:embed="rId6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3" name="Straight Arrow Connector 42"/>
          <p:cNvCxnSpPr/>
          <p:nvPr/>
        </p:nvCxnSpPr>
        <p:spPr>
          <a:xfrm flipV="1">
            <a:off x="517048" y="3529258"/>
            <a:ext cx="480558" cy="1985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" name="Straight Arrow Connector 43"/>
          <p:cNvCxnSpPr/>
          <p:nvPr/>
        </p:nvCxnSpPr>
        <p:spPr>
          <a:xfrm flipH="1">
            <a:off x="4165646" y="3515289"/>
            <a:ext cx="434176" cy="7032"/>
          </a:xfrm>
          <a:prstGeom prst="straightConnector1">
            <a:avLst/>
          </a:prstGeom>
          <a:ln w="38100">
            <a:headEnd type="diamond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1348740" y="1050775"/>
            <a:ext cx="312420" cy="111968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5" name="Rectangle 44"/>
          <p:cNvSpPr/>
          <p:nvPr/>
        </p:nvSpPr>
        <p:spPr>
          <a:xfrm>
            <a:off x="3486163" y="1050775"/>
            <a:ext cx="312420" cy="1119685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6" name="Rectangle 45"/>
          <p:cNvSpPr/>
          <p:nvPr/>
        </p:nvSpPr>
        <p:spPr>
          <a:xfrm>
            <a:off x="1897380" y="2170460"/>
            <a:ext cx="370639" cy="942441"/>
          </a:xfrm>
          <a:prstGeom prst="rect">
            <a:avLst/>
          </a:prstGeom>
          <a:noFill/>
          <a:ln w="3810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8" name="Rectangle 47"/>
          <p:cNvSpPr/>
          <p:nvPr/>
        </p:nvSpPr>
        <p:spPr>
          <a:xfrm>
            <a:off x="2887286" y="2169589"/>
            <a:ext cx="370639" cy="942441"/>
          </a:xfrm>
          <a:prstGeom prst="rect">
            <a:avLst/>
          </a:prstGeom>
          <a:noFill/>
          <a:ln w="38100">
            <a:solidFill>
              <a:srgbClr val="02C9C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49" name="Rectangle 48"/>
          <p:cNvSpPr/>
          <p:nvPr/>
        </p:nvSpPr>
        <p:spPr>
          <a:xfrm>
            <a:off x="823454" y="3168680"/>
            <a:ext cx="370639" cy="942441"/>
          </a:xfrm>
          <a:prstGeom prst="rect">
            <a:avLst/>
          </a:prstGeom>
          <a:noFill/>
          <a:ln w="38100">
            <a:solidFill>
              <a:srgbClr val="BC04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50" name="Rectangle 49"/>
          <p:cNvSpPr/>
          <p:nvPr/>
        </p:nvSpPr>
        <p:spPr>
          <a:xfrm>
            <a:off x="3930988" y="3148258"/>
            <a:ext cx="370639" cy="942441"/>
          </a:xfrm>
          <a:prstGeom prst="rect">
            <a:avLst/>
          </a:prstGeom>
          <a:noFill/>
          <a:ln w="38100">
            <a:solidFill>
              <a:srgbClr val="FE7ED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6" name="Rectangle 25"/>
          <p:cNvSpPr/>
          <p:nvPr/>
        </p:nvSpPr>
        <p:spPr>
          <a:xfrm>
            <a:off x="7336979" y="978885"/>
            <a:ext cx="312420" cy="1119685"/>
          </a:xfrm>
          <a:prstGeom prst="rect">
            <a:avLst/>
          </a:prstGeom>
          <a:noFill/>
          <a:ln w="38100">
            <a:solidFill>
              <a:srgbClr val="C00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7" name="Rectangle 26"/>
          <p:cNvSpPr/>
          <p:nvPr/>
        </p:nvSpPr>
        <p:spPr>
          <a:xfrm>
            <a:off x="8857182" y="984788"/>
            <a:ext cx="312420" cy="1119685"/>
          </a:xfrm>
          <a:prstGeom prst="rect">
            <a:avLst/>
          </a:prstGeom>
          <a:noFill/>
          <a:ln w="38100">
            <a:solidFill>
              <a:srgbClr val="FFC00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8" name="Rectangle 27"/>
          <p:cNvSpPr/>
          <p:nvPr/>
        </p:nvSpPr>
        <p:spPr>
          <a:xfrm>
            <a:off x="8089582" y="2279956"/>
            <a:ext cx="316893" cy="1047582"/>
          </a:xfrm>
          <a:prstGeom prst="rect">
            <a:avLst/>
          </a:prstGeom>
          <a:noFill/>
          <a:ln w="38100">
            <a:solidFill>
              <a:srgbClr val="0070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29" name="Rectangle 28"/>
          <p:cNvSpPr/>
          <p:nvPr/>
        </p:nvSpPr>
        <p:spPr>
          <a:xfrm>
            <a:off x="7332506" y="2274508"/>
            <a:ext cx="314820" cy="1122583"/>
          </a:xfrm>
          <a:prstGeom prst="rect">
            <a:avLst/>
          </a:prstGeom>
          <a:noFill/>
          <a:ln w="38100">
            <a:solidFill>
              <a:srgbClr val="02C9CE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0" name="Rectangle 29"/>
          <p:cNvSpPr/>
          <p:nvPr/>
        </p:nvSpPr>
        <p:spPr>
          <a:xfrm>
            <a:off x="8852709" y="3529888"/>
            <a:ext cx="316893" cy="1004165"/>
          </a:xfrm>
          <a:prstGeom prst="rect">
            <a:avLst/>
          </a:prstGeom>
          <a:noFill/>
          <a:ln w="38100">
            <a:solidFill>
              <a:srgbClr val="BC04C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sp>
        <p:nvSpPr>
          <p:cNvPr id="31" name="Rectangle 30"/>
          <p:cNvSpPr/>
          <p:nvPr/>
        </p:nvSpPr>
        <p:spPr>
          <a:xfrm>
            <a:off x="8091656" y="3514670"/>
            <a:ext cx="314819" cy="1004165"/>
          </a:xfrm>
          <a:prstGeom prst="rect">
            <a:avLst/>
          </a:prstGeom>
          <a:noFill/>
          <a:ln w="38100">
            <a:solidFill>
              <a:srgbClr val="FE7ED0">
                <a:alpha val="2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/>
          </a:p>
        </p:txBody>
      </p:sp>
      <p:cxnSp>
        <p:nvCxnSpPr>
          <p:cNvPr id="3" name="Straight Connector 2"/>
          <p:cNvCxnSpPr/>
          <p:nvPr/>
        </p:nvCxnSpPr>
        <p:spPr>
          <a:xfrm flipV="1">
            <a:off x="6506399" y="1253991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/>
          <p:nvPr/>
        </p:nvCxnSpPr>
        <p:spPr>
          <a:xfrm>
            <a:off x="7489916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7463949" y="1956608"/>
            <a:ext cx="1547206" cy="16591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9011155" y="1261610"/>
            <a:ext cx="0" cy="694998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9011155" y="1264349"/>
            <a:ext cx="983517" cy="7619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>
            <a:off x="6492837" y="978301"/>
            <a:ext cx="11516" cy="373420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8742960" y="984936"/>
            <a:ext cx="4754" cy="372093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/>
          <p:nvPr/>
        </p:nvCxnSpPr>
        <p:spPr>
          <a:xfrm flipV="1">
            <a:off x="6522907" y="3196354"/>
            <a:ext cx="983517" cy="7619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/>
          <p:nvPr/>
        </p:nvCxnSpPr>
        <p:spPr>
          <a:xfrm>
            <a:off x="749881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/>
          <p:cNvCxnSpPr/>
          <p:nvPr/>
        </p:nvCxnSpPr>
        <p:spPr>
          <a:xfrm>
            <a:off x="7513520" y="2514821"/>
            <a:ext cx="748817" cy="0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>
            <a:off x="8262337" y="2488300"/>
            <a:ext cx="0" cy="694998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8262337" y="3183298"/>
            <a:ext cx="1775618" cy="1"/>
          </a:xfrm>
          <a:prstGeom prst="line">
            <a:avLst/>
          </a:prstGeom>
          <a:ln w="38100">
            <a:solidFill>
              <a:srgbClr val="0033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 flipV="1">
            <a:off x="6529720" y="4355098"/>
            <a:ext cx="1732728" cy="14504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8248028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>
            <a:off x="8248028" y="3686491"/>
            <a:ext cx="748817" cy="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9011155" y="3660100"/>
            <a:ext cx="0" cy="694998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8996845" y="4355098"/>
            <a:ext cx="1022492" cy="3810"/>
          </a:xfrm>
          <a:prstGeom prst="line">
            <a:avLst/>
          </a:prstGeom>
          <a:ln w="38100">
            <a:solidFill>
              <a:srgbClr val="FF0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/>
              <p:cNvSpPr txBox="1"/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56" name="TextBox 5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4659641"/>
                <a:ext cx="2925081" cy="6765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TextBox 65"/>
              <p:cNvSpPr txBox="1"/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6" name="TextBox 6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54" y="6075463"/>
                <a:ext cx="3858532" cy="681661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TextBox 67"/>
              <p:cNvSpPr txBox="1"/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8" name="TextBox 6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138" y="5376553"/>
                <a:ext cx="3829956" cy="6816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/>
              <p:cNvSpPr txBox="1"/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𝟑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𝟐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69" name="TextBox 6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2847" y="5456620"/>
                <a:ext cx="2925081" cy="400110"/>
              </a:xfrm>
              <a:prstGeom prst="rect">
                <a:avLst/>
              </a:prstGeom>
              <a:blipFill>
                <a:blip r:embed="rId10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/>
              <p:cNvSpPr txBox="1"/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𝟎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0" name="TextBox 6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9150" y="4705874"/>
                <a:ext cx="190758" cy="276999"/>
              </a:xfrm>
              <a:prstGeom prst="rect">
                <a:avLst/>
              </a:prstGeom>
              <a:blipFill>
                <a:blip r:embed="rId11"/>
                <a:stretch>
                  <a:fillRect l="-28125" r="-28125" b="-6667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/>
              <p:cNvSpPr txBox="1"/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sv-SE" b="1" i="1" smtClean="0">
                          <a:latin typeface="Cambria Math" panose="02040503050406030204" pitchFamily="18" charset="0"/>
                        </a:rPr>
                        <m:t>𝑻𝒔</m:t>
                      </m:r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1" name="TextBox 7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2436" y="4690656"/>
                <a:ext cx="302903" cy="276999"/>
              </a:xfrm>
              <a:prstGeom prst="rect">
                <a:avLst/>
              </a:prstGeom>
              <a:blipFill>
                <a:blip r:embed="rId12"/>
                <a:stretch>
                  <a:fillRect l="-18000" r="-22000" b="-6522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2" name="Straight Connector 71"/>
          <p:cNvCxnSpPr/>
          <p:nvPr/>
        </p:nvCxnSpPr>
        <p:spPr>
          <a:xfrm>
            <a:off x="9971746" y="1039713"/>
            <a:ext cx="47591" cy="358155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/>
              <p:cNvSpPr txBox="1"/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sv-SE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𝑻𝒔</m:t>
                          </m:r>
                        </m:num>
                        <m:den>
                          <m:r>
                            <a:rPr lang="sv-SE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3" name="TextBox 7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20294" y="4646236"/>
                <a:ext cx="302903" cy="518604"/>
              </a:xfrm>
              <a:prstGeom prst="rect">
                <a:avLst/>
              </a:prstGeom>
              <a:blipFill>
                <a:blip r:embed="rId13"/>
                <a:stretch>
                  <a:fillRect l="-2000" r="-3000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/>
          <p:cNvCxnSpPr>
            <a:stCxn id="69" idx="3"/>
            <a:endCxn id="73" idx="1"/>
          </p:cNvCxnSpPr>
          <p:nvPr/>
        </p:nvCxnSpPr>
        <p:spPr>
          <a:xfrm flipV="1">
            <a:off x="7887928" y="4905538"/>
            <a:ext cx="1932366" cy="7511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5948" y="5258326"/>
            <a:ext cx="26653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impossible to equate all switching states because the sum of duty cycles of SPWM is bigger than one period.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795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371600" y="86756"/>
            <a:ext cx="99771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 smtClean="0">
                <a:solidFill>
                  <a:srgbClr val="C00000"/>
                </a:solidFill>
              </a:rPr>
              <a:t>SPWM- Solution: DC Injected Reference signal</a:t>
            </a:r>
            <a:endParaRPr lang="sv-SE" sz="4000" dirty="0">
              <a:solidFill>
                <a:srgbClr val="C00000"/>
              </a:solidFill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7978" y="907673"/>
            <a:ext cx="4060620" cy="304546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0288" y="941014"/>
            <a:ext cx="3971712" cy="2978784"/>
          </a:xfrm>
          <a:prstGeom prst="rect">
            <a:avLst/>
          </a:prstGeom>
        </p:spPr>
      </p:pic>
      <p:pic>
        <p:nvPicPr>
          <p:cNvPr id="74" name="Picture 7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956" y="794642"/>
            <a:ext cx="4067968" cy="30509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Single carrier signal</a:t>
            </a:r>
            <a:endParaRPr lang="en-US" dirty="0"/>
          </a:p>
        </p:txBody>
      </p:sp>
      <p:sp>
        <p:nvSpPr>
          <p:cNvPr id="75" name="TextBox 74"/>
          <p:cNvSpPr txBox="1"/>
          <p:nvPr/>
        </p:nvSpPr>
        <p:spPr>
          <a:xfrm>
            <a:off x="5181600" y="4074236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</a:t>
            </a:r>
            <a:endParaRPr lang="en-US" dirty="0"/>
          </a:p>
        </p:txBody>
      </p:sp>
      <p:sp>
        <p:nvSpPr>
          <p:cNvPr id="76" name="TextBox 75"/>
          <p:cNvSpPr txBox="1"/>
          <p:nvPr/>
        </p:nvSpPr>
        <p:spPr>
          <a:xfrm>
            <a:off x="9377680" y="4066170"/>
            <a:ext cx="23571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Multiple carrier signal with DC injected reference signal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8" name="TextBox 77"/>
              <p:cNvSpPr txBox="1"/>
              <p:nvPr/>
            </p:nvSpPr>
            <p:spPr>
              <a:xfrm>
                <a:off x="4472316" y="4646417"/>
                <a:ext cx="400324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d>
                            <m:d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𝝎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8" name="TextBox 7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2316" y="4646417"/>
                <a:ext cx="4003244" cy="86998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TextBox 78"/>
              <p:cNvSpPr txBox="1"/>
              <p:nvPr/>
            </p:nvSpPr>
            <p:spPr>
              <a:xfrm>
                <a:off x="4472316" y="5965356"/>
                <a:ext cx="4551884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79" name="TextBox 7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2316" y="5965356"/>
                <a:ext cx="4551884" cy="86998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/>
              <p:cNvSpPr txBox="1"/>
              <p:nvPr/>
            </p:nvSpPr>
            <p:spPr>
              <a:xfrm>
                <a:off x="4472316" y="5306357"/>
                <a:ext cx="4493600" cy="869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𝑫</m:t>
                          </m:r>
                        </m:e>
                        <m: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sub>
                      </m:sSub>
                      <m:r>
                        <a:rPr lang="en-US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000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sv-SE" sz="20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e>
                            <m:sub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b>
                          </m:sSub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𝒔𝒊𝒏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𝝎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𝒕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𝟏𝟐</m:t>
                          </m:r>
                          <m:sSup>
                            <m:sSupPr>
                              <m:ctrlP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  <m:sup>
                              <m:r>
                                <a:rPr lang="en-US" sz="2000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sup>
                          </m:sSup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sv-SE" sz="2000" b="1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sv-SE" sz="200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den>
                          </m:f>
                          <m:r>
                            <a:rPr lang="sv-SE" sz="2000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sv-SE" b="1" dirty="0"/>
              </a:p>
            </p:txBody>
          </p:sp>
        </mc:Choice>
        <mc:Fallback xmlns="">
          <p:sp>
            <p:nvSpPr>
              <p:cNvPr id="80" name="TextBox 7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2316" y="5306357"/>
                <a:ext cx="4493600" cy="86998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20499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209550"/>
            <a:ext cx="5334000" cy="4000500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356235"/>
            <a:ext cx="4963160" cy="3722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3340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1768</TotalTime>
  <Words>821</Words>
  <Application>Microsoft Office PowerPoint</Application>
  <PresentationFormat>Widescreen</PresentationFormat>
  <Paragraphs>66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Enes Ayaz</dc:creator>
  <cp:lastModifiedBy>Enes Ayaz</cp:lastModifiedBy>
  <cp:revision>25</cp:revision>
  <dcterms:created xsi:type="dcterms:W3CDTF">2023-07-06T09:42:55Z</dcterms:created>
  <dcterms:modified xsi:type="dcterms:W3CDTF">2023-07-15T12:32:07Z</dcterms:modified>
</cp:coreProperties>
</file>