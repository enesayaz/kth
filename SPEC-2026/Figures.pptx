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764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8454-8B37-1A58-5D6F-A816DDD26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9FF75-BB87-62DB-CFF1-DE5E94939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5E03C-E036-953A-D299-292D31FE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AD74E-FB38-7BB3-9F36-EC7C993B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985F2-7AD2-C236-B61C-B1D06A04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9132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0C41-A5F9-CA7C-24F5-291371F3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7F633-C098-C488-D237-CD1FC2085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7B64E-EE10-E8DB-1869-F208ACE7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3A059-B248-7D80-5306-74BDA791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B7B32-9E81-A143-3EE5-8AADBC96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3104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DCA4C-F3E1-F362-2F44-7237BC90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2940B-61D5-BA78-6321-2D6DBADBA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68BF7-71FC-3189-C1BB-1CAA7F39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BA1B5-DE42-8969-4178-731B79A5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08A08-94EE-8836-245B-66484009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864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C719-5B7F-E489-A7DF-126ADB6D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C9CBA-44A6-1E6E-C6D7-1B46D4E48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49687-CB84-718A-1411-DD4A7325B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9B275-84EF-8C90-F7A3-9796CD4D6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15402-7F02-1965-B9A3-F1300D89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BB345-40F1-96A5-E529-910A69FA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4446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96D4-01F0-8F3C-48DA-B5F786D49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AEA4D-8F9E-A94B-3E20-E6E4D3896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B808D-3204-7399-5119-42E4155B9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593756-1DFE-0C68-B1D6-E35D88047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DAECB4-1EEA-D346-AD43-CB010E320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311F20-8DF8-779A-5530-CE6A0488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16419-9714-E716-3833-D37CE8262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C027F-2244-856A-2437-4E8EF8D0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36530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FAF1-C2A9-5EEB-9C51-D5A72ED6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05A06-2512-86E1-A8A8-9812604F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B3168-BF28-8875-4A08-6BE5E96A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1482D-ACB1-9A05-1C25-42EA07B7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950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DF1B84-CAAE-FD55-FFE3-7D8DF38D5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334056-B401-2C70-54D0-12D76BF99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F143E-138A-90D4-1D5A-CED576CD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737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7CAF4-8279-DCB0-3FB8-22E0B7F5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353EA-CE5A-D8A4-B4BE-B5197CC2E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9E830-CF51-0A6F-279C-1410E2290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C9CEE-5DEC-BC93-AA5C-971A39E9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A62A9-DF32-30EE-5586-CA7D111E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26D33-13D2-6FDF-175D-4B9313DC2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40980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35E7-33E4-0577-916A-4ADEA9E0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E5492-BBE1-86CB-9097-D5D874A5E1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96B7F-DA8E-935C-FA54-F8047596C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CF510-FE48-374B-A2C4-5CEF4E23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ECD73-369E-B1EF-C43A-DAC6FECA8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C0FF5-82A2-DF0E-427C-377046D3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52809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EA49-78CD-B66C-8BD6-05FBEB465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65810-947E-241C-2D92-F9C6D10BD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92D3D-A0D6-96B5-B274-C6FF448C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50114-5946-64FD-86C3-75FCEE5E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00A62-2D49-9F3A-506A-AD6F8E2F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86061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32EE8-DC99-D9FB-2422-7BCD915D7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E421D-FB0F-D1BF-CD8E-DC8852F27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A66D1-2159-B3E6-650A-80E7562A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C31CE-A6C8-A982-AB1A-1AC06533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CA03E-9EDA-885E-8BEB-C07576DB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9100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F5E3B9-14FF-F6AB-561D-9C3E84B22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8E9CA-4638-ACAA-303B-3A799E163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6D9F4-3A2D-855F-E6E2-72C220A4E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F0AD6-FB78-420C-A617-3B7E6670E22F}" type="datetimeFigureOut">
              <a:rPr lang="sv-SE" smtClean="0"/>
              <a:t>2026-08-31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35F42-2078-A4BF-F454-B8CFD48A5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CC514-C199-0CB6-BD09-34042F651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33757-27A7-4302-99E8-84CB9C8397D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5961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9341F-5B12-B4C5-F693-EE0CB1D70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31"/>
          <a:stretch>
            <a:fillRect/>
          </a:stretch>
        </p:blipFill>
        <p:spPr>
          <a:xfrm>
            <a:off x="1435966" y="917788"/>
            <a:ext cx="8033153" cy="451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18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33219-0250-0628-40F1-A4103BCF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7289CA-7A26-AA6D-DDCF-6D358DE778E8}"/>
              </a:ext>
            </a:extLst>
          </p:cNvPr>
          <p:cNvSpPr/>
          <p:nvPr/>
        </p:nvSpPr>
        <p:spPr>
          <a:xfrm>
            <a:off x="2011680" y="937260"/>
            <a:ext cx="1903307" cy="98890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Inverter 1</a:t>
            </a:r>
            <a:endParaRPr lang="sv-SE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6DE442-388B-87D7-A357-1432DB88B4D5}"/>
              </a:ext>
            </a:extLst>
          </p:cNvPr>
          <p:cNvSpPr/>
          <p:nvPr/>
        </p:nvSpPr>
        <p:spPr>
          <a:xfrm>
            <a:off x="8277015" y="937260"/>
            <a:ext cx="1903307" cy="98890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Inverter 2</a:t>
            </a:r>
            <a:endParaRPr lang="sv-SE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8AE90E-BFA0-9B35-0E44-A866034EEB30}"/>
              </a:ext>
            </a:extLst>
          </p:cNvPr>
          <p:cNvCxnSpPr>
            <a:cxnSpLocks/>
          </p:cNvCxnSpPr>
          <p:nvPr/>
        </p:nvCxnSpPr>
        <p:spPr>
          <a:xfrm>
            <a:off x="9228668" y="1926166"/>
            <a:ext cx="4551" cy="978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9DB69A-2002-D4C6-5F9E-7595A939C608}"/>
              </a:ext>
            </a:extLst>
          </p:cNvPr>
          <p:cNvCxnSpPr>
            <a:cxnSpLocks/>
            <a:endCxn id="23" idx="6"/>
          </p:cNvCxnSpPr>
          <p:nvPr/>
        </p:nvCxnSpPr>
        <p:spPr>
          <a:xfrm flipH="1">
            <a:off x="6997299" y="2904254"/>
            <a:ext cx="22419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73AE6F-3BE8-B1A3-58DF-F63F3CFE59DD}"/>
              </a:ext>
            </a:extLst>
          </p:cNvPr>
          <p:cNvCxnSpPr>
            <a:cxnSpLocks/>
          </p:cNvCxnSpPr>
          <p:nvPr/>
        </p:nvCxnSpPr>
        <p:spPr>
          <a:xfrm>
            <a:off x="9885469" y="1943101"/>
            <a:ext cx="0" cy="1516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0820DDD-AE3A-817A-FC5E-79A1E016E44F}"/>
              </a:ext>
            </a:extLst>
          </p:cNvPr>
          <p:cNvSpPr/>
          <p:nvPr/>
        </p:nvSpPr>
        <p:spPr>
          <a:xfrm>
            <a:off x="5188820" y="2120241"/>
            <a:ext cx="1808479" cy="1568026"/>
          </a:xfrm>
          <a:prstGeom prst="ellipse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Open-End Winding</a:t>
            </a:r>
          </a:p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Motor</a:t>
            </a:r>
            <a:endParaRPr lang="sv-SE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endParaRPr lang="sv-SE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64B73D8-4EC3-EBE9-CE4B-6038D35F4658}"/>
              </a:ext>
            </a:extLst>
          </p:cNvPr>
          <p:cNvCxnSpPr>
            <a:cxnSpLocks/>
            <a:endCxn id="23" idx="5"/>
          </p:cNvCxnSpPr>
          <p:nvPr/>
        </p:nvCxnSpPr>
        <p:spPr>
          <a:xfrm flipH="1">
            <a:off x="6732453" y="3458635"/>
            <a:ext cx="31636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D201A3-B4CE-4862-9AE7-F9857051E7FB}"/>
              </a:ext>
            </a:extLst>
          </p:cNvPr>
          <p:cNvCxnSpPr>
            <a:cxnSpLocks/>
          </p:cNvCxnSpPr>
          <p:nvPr/>
        </p:nvCxnSpPr>
        <p:spPr>
          <a:xfrm>
            <a:off x="8580969" y="1926166"/>
            <a:ext cx="0" cy="425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B805A48-CE73-4EE3-4402-A9D653A78607}"/>
              </a:ext>
            </a:extLst>
          </p:cNvPr>
          <p:cNvCxnSpPr>
            <a:cxnSpLocks/>
            <a:endCxn id="23" idx="7"/>
          </p:cNvCxnSpPr>
          <p:nvPr/>
        </p:nvCxnSpPr>
        <p:spPr>
          <a:xfrm flipH="1" flipV="1">
            <a:off x="6732453" y="2349873"/>
            <a:ext cx="1859125" cy="6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A18AEE0-6C4D-58C8-916F-257717B86B82}"/>
              </a:ext>
            </a:extLst>
          </p:cNvPr>
          <p:cNvCxnSpPr>
            <a:cxnSpLocks/>
          </p:cNvCxnSpPr>
          <p:nvPr/>
        </p:nvCxnSpPr>
        <p:spPr>
          <a:xfrm flipH="1">
            <a:off x="2931682" y="2904254"/>
            <a:ext cx="22419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4590293-421C-2D77-7DD1-6779B4C7BFFD}"/>
              </a:ext>
            </a:extLst>
          </p:cNvPr>
          <p:cNvCxnSpPr>
            <a:cxnSpLocks/>
            <a:stCxn id="23" idx="3"/>
          </p:cNvCxnSpPr>
          <p:nvPr/>
        </p:nvCxnSpPr>
        <p:spPr>
          <a:xfrm flipH="1">
            <a:off x="2254086" y="3458635"/>
            <a:ext cx="3199580" cy="6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579CC90-03A2-A8DD-03DD-6F970BC80B4B}"/>
              </a:ext>
            </a:extLst>
          </p:cNvPr>
          <p:cNvCxnSpPr>
            <a:cxnSpLocks/>
          </p:cNvCxnSpPr>
          <p:nvPr/>
        </p:nvCxnSpPr>
        <p:spPr>
          <a:xfrm flipH="1" flipV="1">
            <a:off x="3607031" y="2349874"/>
            <a:ext cx="1859125" cy="6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2B87D72-C479-FC28-E4A7-E44D2D174F48}"/>
              </a:ext>
            </a:extLst>
          </p:cNvPr>
          <p:cNvCxnSpPr>
            <a:cxnSpLocks/>
          </p:cNvCxnSpPr>
          <p:nvPr/>
        </p:nvCxnSpPr>
        <p:spPr>
          <a:xfrm>
            <a:off x="2922579" y="1926166"/>
            <a:ext cx="4551" cy="978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52FAE97-FA23-483A-67E5-B42A11AF9EC8}"/>
              </a:ext>
            </a:extLst>
          </p:cNvPr>
          <p:cNvCxnSpPr>
            <a:cxnSpLocks/>
          </p:cNvCxnSpPr>
          <p:nvPr/>
        </p:nvCxnSpPr>
        <p:spPr>
          <a:xfrm>
            <a:off x="2254086" y="1943101"/>
            <a:ext cx="0" cy="1516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B231C4B-0B16-E879-B710-1FF7BFBB9C2C}"/>
              </a:ext>
            </a:extLst>
          </p:cNvPr>
          <p:cNvCxnSpPr>
            <a:cxnSpLocks/>
          </p:cNvCxnSpPr>
          <p:nvPr/>
        </p:nvCxnSpPr>
        <p:spPr>
          <a:xfrm>
            <a:off x="3602479" y="1926166"/>
            <a:ext cx="0" cy="425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9301BA6C-F1AB-CFF2-226A-196004A3084D}"/>
              </a:ext>
            </a:extLst>
          </p:cNvPr>
          <p:cNvSpPr/>
          <p:nvPr/>
        </p:nvSpPr>
        <p:spPr>
          <a:xfrm>
            <a:off x="3542843" y="2289785"/>
            <a:ext cx="123825" cy="114436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B437530-4D94-9A8E-9CA4-ECDE2DF8473A}"/>
              </a:ext>
            </a:extLst>
          </p:cNvPr>
          <p:cNvSpPr/>
          <p:nvPr/>
        </p:nvSpPr>
        <p:spPr>
          <a:xfrm>
            <a:off x="2888307" y="2818757"/>
            <a:ext cx="123825" cy="114436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78FB944-5C4D-7607-C792-AD11414551E7}"/>
              </a:ext>
            </a:extLst>
          </p:cNvPr>
          <p:cNvSpPr/>
          <p:nvPr/>
        </p:nvSpPr>
        <p:spPr>
          <a:xfrm>
            <a:off x="2202783" y="3378462"/>
            <a:ext cx="123825" cy="114436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2BA9DCD-BFB7-28A6-C73D-D061F7D17ED2}"/>
              </a:ext>
            </a:extLst>
          </p:cNvPr>
          <p:cNvSpPr/>
          <p:nvPr/>
        </p:nvSpPr>
        <p:spPr>
          <a:xfrm>
            <a:off x="8514505" y="2289785"/>
            <a:ext cx="123825" cy="114436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FB00F0D-939A-4B32-2F45-772838F7C07E}"/>
              </a:ext>
            </a:extLst>
          </p:cNvPr>
          <p:cNvSpPr/>
          <p:nvPr/>
        </p:nvSpPr>
        <p:spPr>
          <a:xfrm>
            <a:off x="9166755" y="2834504"/>
            <a:ext cx="123825" cy="114436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63A0D60-5499-A323-B74C-3516B36BFD00}"/>
              </a:ext>
            </a:extLst>
          </p:cNvPr>
          <p:cNvSpPr/>
          <p:nvPr/>
        </p:nvSpPr>
        <p:spPr>
          <a:xfrm>
            <a:off x="9823556" y="3385210"/>
            <a:ext cx="123825" cy="114436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1C155D-388D-F8B9-32A7-96FB5529339E}"/>
              </a:ext>
            </a:extLst>
          </p:cNvPr>
          <p:cNvSpPr txBox="1"/>
          <p:nvPr/>
        </p:nvSpPr>
        <p:spPr>
          <a:xfrm>
            <a:off x="3374837" y="4594105"/>
            <a:ext cx="91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A+</a:t>
            </a:r>
            <a:endParaRPr lang="sv-SE" sz="1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80FB87-4B72-1D02-38AE-F44D2E327D3C}"/>
              </a:ext>
            </a:extLst>
          </p:cNvPr>
          <p:cNvSpPr txBox="1"/>
          <p:nvPr/>
        </p:nvSpPr>
        <p:spPr>
          <a:xfrm>
            <a:off x="7944382" y="2017269"/>
            <a:ext cx="91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-</a:t>
            </a:r>
            <a:endParaRPr lang="sv-SE" sz="1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16F24C-C1CF-798D-DC04-EFED34A962AF}"/>
              </a:ext>
            </a:extLst>
          </p:cNvPr>
          <p:cNvSpPr txBox="1"/>
          <p:nvPr/>
        </p:nvSpPr>
        <p:spPr>
          <a:xfrm>
            <a:off x="2755318" y="2562589"/>
            <a:ext cx="91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+</a:t>
            </a:r>
            <a:endParaRPr lang="sv-SE" sz="1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543B676-7AC9-772A-3861-7A822D2D7091}"/>
              </a:ext>
            </a:extLst>
          </p:cNvPr>
          <p:cNvSpPr txBox="1"/>
          <p:nvPr/>
        </p:nvSpPr>
        <p:spPr>
          <a:xfrm>
            <a:off x="2037206" y="3122048"/>
            <a:ext cx="91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+</a:t>
            </a:r>
            <a:endParaRPr lang="sv-SE" sz="1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34C106-F11A-4311-B54E-32B96B8A1A74}"/>
              </a:ext>
            </a:extLst>
          </p:cNvPr>
          <p:cNvSpPr txBox="1"/>
          <p:nvPr/>
        </p:nvSpPr>
        <p:spPr>
          <a:xfrm>
            <a:off x="8535875" y="2552159"/>
            <a:ext cx="91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B-</a:t>
            </a:r>
            <a:endParaRPr lang="sv-SE" sz="1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17E3467-67AF-647A-C079-0993BF695F47}"/>
              </a:ext>
            </a:extLst>
          </p:cNvPr>
          <p:cNvSpPr txBox="1"/>
          <p:nvPr/>
        </p:nvSpPr>
        <p:spPr>
          <a:xfrm>
            <a:off x="9173987" y="3098581"/>
            <a:ext cx="91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C-</a:t>
            </a:r>
            <a:endParaRPr lang="sv-SE" sz="1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D4D8158-CD65-6B8A-6089-3A97DD70AA9D}"/>
              </a:ext>
            </a:extLst>
          </p:cNvPr>
          <p:cNvCxnSpPr>
            <a:cxnSpLocks/>
          </p:cNvCxnSpPr>
          <p:nvPr/>
        </p:nvCxnSpPr>
        <p:spPr>
          <a:xfrm>
            <a:off x="3602479" y="2415540"/>
            <a:ext cx="0" cy="1707104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4D81EAB-BC93-2CBF-992F-07190041F4AE}"/>
              </a:ext>
            </a:extLst>
          </p:cNvPr>
          <p:cNvCxnSpPr>
            <a:cxnSpLocks/>
          </p:cNvCxnSpPr>
          <p:nvPr/>
        </p:nvCxnSpPr>
        <p:spPr>
          <a:xfrm>
            <a:off x="8574557" y="2372462"/>
            <a:ext cx="0" cy="1750182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D03AD714-6E43-50AB-7CBA-B9EB10B901CD}"/>
              </a:ext>
            </a:extLst>
          </p:cNvPr>
          <p:cNvSpPr/>
          <p:nvPr/>
        </p:nvSpPr>
        <p:spPr>
          <a:xfrm>
            <a:off x="2834383" y="4122644"/>
            <a:ext cx="6693841" cy="2392455"/>
          </a:xfrm>
          <a:prstGeom prst="rect">
            <a:avLst/>
          </a:prstGeom>
          <a:solidFill>
            <a:srgbClr val="92D050">
              <a:alpha val="5098"/>
            </a:srgb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7246D9-4F54-6294-45FC-EC54803BA187}"/>
              </a:ext>
            </a:extLst>
          </p:cNvPr>
          <p:cNvSpPr txBox="1"/>
          <p:nvPr/>
        </p:nvSpPr>
        <p:spPr>
          <a:xfrm>
            <a:off x="3096834" y="41082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Auxiliary Power Supply </a:t>
            </a:r>
            <a:endParaRPr lang="sv-SE" sz="1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E927601-6798-1451-F840-F8733CA3ACC3}"/>
              </a:ext>
            </a:extLst>
          </p:cNvPr>
          <p:cNvSpPr/>
          <p:nvPr/>
        </p:nvSpPr>
        <p:spPr>
          <a:xfrm>
            <a:off x="3542843" y="4849001"/>
            <a:ext cx="123825" cy="114436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530607-8244-7EDF-95C1-C45CBDB276C0}"/>
              </a:ext>
            </a:extLst>
          </p:cNvPr>
          <p:cNvSpPr txBox="1"/>
          <p:nvPr/>
        </p:nvSpPr>
        <p:spPr>
          <a:xfrm>
            <a:off x="3374838" y="2008375"/>
            <a:ext cx="91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A+</a:t>
            </a:r>
            <a:endParaRPr lang="sv-SE" sz="1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DB7A73C-F032-78E8-124A-74EA0F6FA735}"/>
              </a:ext>
            </a:extLst>
          </p:cNvPr>
          <p:cNvSpPr/>
          <p:nvPr/>
        </p:nvSpPr>
        <p:spPr>
          <a:xfrm>
            <a:off x="8535875" y="4839616"/>
            <a:ext cx="123825" cy="114436"/>
          </a:xfrm>
          <a:prstGeom prst="ellipse">
            <a:avLst/>
          </a:prstGeom>
          <a:solidFill>
            <a:schemeClr val="accent2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EA2FDA-3AE8-1A1D-AF4C-891287F2E291}"/>
              </a:ext>
            </a:extLst>
          </p:cNvPr>
          <p:cNvSpPr txBox="1"/>
          <p:nvPr/>
        </p:nvSpPr>
        <p:spPr>
          <a:xfrm>
            <a:off x="7957395" y="4584720"/>
            <a:ext cx="913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-</a:t>
            </a:r>
            <a:endParaRPr lang="sv-SE" sz="1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FD95F4D-0E2A-C33A-0CCF-E7F1E485153C}"/>
              </a:ext>
            </a:extLst>
          </p:cNvPr>
          <p:cNvCxnSpPr>
            <a:cxnSpLocks/>
            <a:stCxn id="89" idx="1"/>
          </p:cNvCxnSpPr>
          <p:nvPr/>
        </p:nvCxnSpPr>
        <p:spPr>
          <a:xfrm flipH="1">
            <a:off x="3677084" y="4903488"/>
            <a:ext cx="1570862" cy="2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84343A98-0017-EB3D-57A6-D68EE763947C}"/>
              </a:ext>
            </a:extLst>
          </p:cNvPr>
          <p:cNvSpPr/>
          <p:nvPr/>
        </p:nvSpPr>
        <p:spPr>
          <a:xfrm>
            <a:off x="5247946" y="4507901"/>
            <a:ext cx="1749353" cy="791174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39192A5-123A-7EF3-93B4-21E43CA1BB43}"/>
              </a:ext>
            </a:extLst>
          </p:cNvPr>
          <p:cNvCxnSpPr>
            <a:cxnSpLocks/>
          </p:cNvCxnSpPr>
          <p:nvPr/>
        </p:nvCxnSpPr>
        <p:spPr>
          <a:xfrm flipH="1">
            <a:off x="6997299" y="4905559"/>
            <a:ext cx="15385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163F9BEA-3CAD-0CA0-9F89-ED04630A8729}"/>
              </a:ext>
            </a:extLst>
          </p:cNvPr>
          <p:cNvSpPr txBox="1"/>
          <p:nvPr/>
        </p:nvSpPr>
        <p:spPr>
          <a:xfrm>
            <a:off x="5117513" y="4490848"/>
            <a:ext cx="2015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LC Filter</a:t>
            </a:r>
            <a:endParaRPr lang="sv-SE" sz="1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0DF3B97-18D4-9B83-5CC0-B14B0A539EDB}"/>
              </a:ext>
            </a:extLst>
          </p:cNvPr>
          <p:cNvGrpSpPr/>
          <p:nvPr/>
        </p:nvGrpSpPr>
        <p:grpSpPr>
          <a:xfrm>
            <a:off x="5684472" y="4862405"/>
            <a:ext cx="876301" cy="369332"/>
            <a:chOff x="428624" y="394119"/>
            <a:chExt cx="1645921" cy="629907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B1DE557-9A8A-1B30-06C4-AD1D364FCCF3}"/>
                </a:ext>
              </a:extLst>
            </p:cNvPr>
            <p:cNvCxnSpPr>
              <a:cxnSpLocks/>
            </p:cNvCxnSpPr>
            <p:nvPr/>
          </p:nvCxnSpPr>
          <p:spPr>
            <a:xfrm>
              <a:off x="614362" y="833530"/>
              <a:ext cx="53721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F1D593E-2E00-22AB-CE99-42D57C4E81EB}"/>
                </a:ext>
              </a:extLst>
            </p:cNvPr>
            <p:cNvCxnSpPr/>
            <p:nvPr/>
          </p:nvCxnSpPr>
          <p:spPr>
            <a:xfrm>
              <a:off x="1151572" y="604926"/>
              <a:ext cx="0" cy="4191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5AE65FC-E6AD-83F2-ECC2-C9DEFDDC9264}"/>
                </a:ext>
              </a:extLst>
            </p:cNvPr>
            <p:cNvCxnSpPr/>
            <p:nvPr/>
          </p:nvCxnSpPr>
          <p:spPr>
            <a:xfrm>
              <a:off x="1342072" y="604926"/>
              <a:ext cx="0" cy="4191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A804F80-5416-4068-9F22-89F60568B1B4}"/>
                </a:ext>
              </a:extLst>
            </p:cNvPr>
            <p:cNvCxnSpPr>
              <a:cxnSpLocks/>
            </p:cNvCxnSpPr>
            <p:nvPr/>
          </p:nvCxnSpPr>
          <p:spPr>
            <a:xfrm>
              <a:off x="1342072" y="833530"/>
              <a:ext cx="54673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117B2C4-8F70-66D4-2D1F-12115A907745}"/>
                </a:ext>
              </a:extLst>
            </p:cNvPr>
            <p:cNvCxnSpPr>
              <a:cxnSpLocks/>
            </p:cNvCxnSpPr>
            <p:nvPr/>
          </p:nvCxnSpPr>
          <p:spPr>
            <a:xfrm>
              <a:off x="614362" y="477507"/>
              <a:ext cx="1857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id="{DC07F5A3-8834-B035-D147-C850678FCDC8}"/>
                </a:ext>
              </a:extLst>
            </p:cNvPr>
            <p:cNvSpPr/>
            <p:nvPr/>
          </p:nvSpPr>
          <p:spPr>
            <a:xfrm>
              <a:off x="800100" y="394123"/>
              <a:ext cx="152400" cy="210807"/>
            </a:xfrm>
            <a:prstGeom prst="arc">
              <a:avLst>
                <a:gd name="adj1" fmla="val 11471325"/>
                <a:gd name="adj2" fmla="val 2138542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9C783E93-D33A-3A68-6ED5-98903638DB87}"/>
                </a:ext>
              </a:extLst>
            </p:cNvPr>
            <p:cNvSpPr/>
            <p:nvPr/>
          </p:nvSpPr>
          <p:spPr>
            <a:xfrm>
              <a:off x="952500" y="394122"/>
              <a:ext cx="152400" cy="210807"/>
            </a:xfrm>
            <a:prstGeom prst="arc">
              <a:avLst>
                <a:gd name="adj1" fmla="val 11471325"/>
                <a:gd name="adj2" fmla="val 2138542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6AC90AA2-F439-AC51-8E94-1EA1699FF45E}"/>
                </a:ext>
              </a:extLst>
            </p:cNvPr>
            <p:cNvSpPr/>
            <p:nvPr/>
          </p:nvSpPr>
          <p:spPr>
            <a:xfrm>
              <a:off x="1103947" y="394122"/>
              <a:ext cx="152400" cy="210807"/>
            </a:xfrm>
            <a:prstGeom prst="arc">
              <a:avLst>
                <a:gd name="adj1" fmla="val 11471325"/>
                <a:gd name="adj2" fmla="val 2138542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27" name="Arc 126">
              <a:extLst>
                <a:ext uri="{FF2B5EF4-FFF2-40B4-BE49-F238E27FC236}">
                  <a16:creationId xmlns:a16="http://schemas.microsoft.com/office/drawing/2014/main" id="{39BAB11D-7CAF-9E9B-9B43-8B57D88CB829}"/>
                </a:ext>
              </a:extLst>
            </p:cNvPr>
            <p:cNvSpPr/>
            <p:nvPr/>
          </p:nvSpPr>
          <p:spPr>
            <a:xfrm>
              <a:off x="1255395" y="394121"/>
              <a:ext cx="152400" cy="210807"/>
            </a:xfrm>
            <a:prstGeom prst="arc">
              <a:avLst>
                <a:gd name="adj1" fmla="val 11471325"/>
                <a:gd name="adj2" fmla="val 2138542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29" name="Arc 128">
              <a:extLst>
                <a:ext uri="{FF2B5EF4-FFF2-40B4-BE49-F238E27FC236}">
                  <a16:creationId xmlns:a16="http://schemas.microsoft.com/office/drawing/2014/main" id="{25B0E530-C48D-75CE-FEDB-BC7EBE0614FE}"/>
                </a:ext>
              </a:extLst>
            </p:cNvPr>
            <p:cNvSpPr/>
            <p:nvPr/>
          </p:nvSpPr>
          <p:spPr>
            <a:xfrm>
              <a:off x="1408747" y="394120"/>
              <a:ext cx="152400" cy="210807"/>
            </a:xfrm>
            <a:prstGeom prst="arc">
              <a:avLst>
                <a:gd name="adj1" fmla="val 11471325"/>
                <a:gd name="adj2" fmla="val 2138542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31" name="Arc 130">
              <a:extLst>
                <a:ext uri="{FF2B5EF4-FFF2-40B4-BE49-F238E27FC236}">
                  <a16:creationId xmlns:a16="http://schemas.microsoft.com/office/drawing/2014/main" id="{F69B8C9C-7943-E197-16A3-E73F86AD8316}"/>
                </a:ext>
              </a:extLst>
            </p:cNvPr>
            <p:cNvSpPr/>
            <p:nvPr/>
          </p:nvSpPr>
          <p:spPr>
            <a:xfrm>
              <a:off x="1560195" y="394119"/>
              <a:ext cx="152400" cy="210807"/>
            </a:xfrm>
            <a:prstGeom prst="arc">
              <a:avLst>
                <a:gd name="adj1" fmla="val 11471325"/>
                <a:gd name="adj2" fmla="val 2138542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E9F8F94-C81F-74D0-B5B2-F66D3688E5BF}"/>
                </a:ext>
              </a:extLst>
            </p:cNvPr>
            <p:cNvCxnSpPr>
              <a:cxnSpLocks/>
            </p:cNvCxnSpPr>
            <p:nvPr/>
          </p:nvCxnSpPr>
          <p:spPr>
            <a:xfrm>
              <a:off x="1703069" y="498398"/>
              <a:ext cx="1857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B55A998-D7BE-72A3-A405-041324AA8E85}"/>
                </a:ext>
              </a:extLst>
            </p:cNvPr>
            <p:cNvCxnSpPr>
              <a:cxnSpLocks/>
            </p:cNvCxnSpPr>
            <p:nvPr/>
          </p:nvCxnSpPr>
          <p:spPr>
            <a:xfrm>
              <a:off x="614362" y="477508"/>
              <a:ext cx="0" cy="3560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B796AF5-98B4-5B58-40EB-DDD2212B378F}"/>
                </a:ext>
              </a:extLst>
            </p:cNvPr>
            <p:cNvCxnSpPr>
              <a:cxnSpLocks/>
            </p:cNvCxnSpPr>
            <p:nvPr/>
          </p:nvCxnSpPr>
          <p:spPr>
            <a:xfrm>
              <a:off x="1888807" y="489503"/>
              <a:ext cx="0" cy="3560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6952499-16C0-3653-3525-9E4AB2020E07}"/>
                </a:ext>
              </a:extLst>
            </p:cNvPr>
            <p:cNvCxnSpPr>
              <a:cxnSpLocks/>
            </p:cNvCxnSpPr>
            <p:nvPr/>
          </p:nvCxnSpPr>
          <p:spPr>
            <a:xfrm>
              <a:off x="1888807" y="667514"/>
              <a:ext cx="1857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E98709D-12F2-9B5B-4FBF-DB9E4A7D2C3A}"/>
                </a:ext>
              </a:extLst>
            </p:cNvPr>
            <p:cNvCxnSpPr>
              <a:cxnSpLocks/>
            </p:cNvCxnSpPr>
            <p:nvPr/>
          </p:nvCxnSpPr>
          <p:spPr>
            <a:xfrm>
              <a:off x="428624" y="667514"/>
              <a:ext cx="1857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2FC2291-0C3C-A584-E90B-4DDFD50A9160}"/>
              </a:ext>
            </a:extLst>
          </p:cNvPr>
          <p:cNvCxnSpPr>
            <a:cxnSpLocks/>
          </p:cNvCxnSpPr>
          <p:nvPr/>
        </p:nvCxnSpPr>
        <p:spPr>
          <a:xfrm flipV="1">
            <a:off x="5694532" y="5299075"/>
            <a:ext cx="0" cy="5014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31B1E08C-58B5-EB48-0B45-21CE86FBA35A}"/>
              </a:ext>
            </a:extLst>
          </p:cNvPr>
          <p:cNvCxnSpPr>
            <a:cxnSpLocks/>
          </p:cNvCxnSpPr>
          <p:nvPr/>
        </p:nvCxnSpPr>
        <p:spPr>
          <a:xfrm flipV="1">
            <a:off x="6732453" y="5299075"/>
            <a:ext cx="0" cy="5014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F07B129-C018-E96F-C2E4-DA7AD3263A30}"/>
              </a:ext>
            </a:extLst>
          </p:cNvPr>
          <p:cNvSpPr/>
          <p:nvPr/>
        </p:nvSpPr>
        <p:spPr>
          <a:xfrm>
            <a:off x="5270158" y="5797083"/>
            <a:ext cx="1749353" cy="62623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9481F7B-020E-7C84-BE50-972316E41570}"/>
              </a:ext>
            </a:extLst>
          </p:cNvPr>
          <p:cNvSpPr txBox="1"/>
          <p:nvPr/>
        </p:nvSpPr>
        <p:spPr>
          <a:xfrm>
            <a:off x="5173659" y="5927246"/>
            <a:ext cx="2015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Rectifier &amp; Load</a:t>
            </a:r>
            <a:endParaRPr lang="sv-SE" sz="1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0722B8-6938-C377-A041-C6421D8369E8}"/>
              </a:ext>
            </a:extLst>
          </p:cNvPr>
          <p:cNvSpPr txBox="1"/>
          <p:nvPr/>
        </p:nvSpPr>
        <p:spPr>
          <a:xfrm>
            <a:off x="6826200" y="5727006"/>
            <a:ext cx="25314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DC Auxiliary Power </a:t>
            </a:r>
          </a:p>
          <a:p>
            <a:pPr algn="ctr"/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12/24/48 V</a:t>
            </a:r>
          </a:p>
          <a:p>
            <a:pPr algn="ctr"/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(Control, Cooling, ECUs)</a:t>
            </a:r>
            <a:endParaRPr lang="sv-SE" sz="1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7A82166-C3A4-EB00-6907-55E3F08769E1}"/>
              </a:ext>
            </a:extLst>
          </p:cNvPr>
          <p:cNvCxnSpPr>
            <a:cxnSpLocks/>
          </p:cNvCxnSpPr>
          <p:nvPr/>
        </p:nvCxnSpPr>
        <p:spPr>
          <a:xfrm flipH="1" flipV="1">
            <a:off x="3914986" y="1431052"/>
            <a:ext cx="4362029" cy="661"/>
          </a:xfrm>
          <a:prstGeom prst="line">
            <a:avLst/>
          </a:prstGeom>
          <a:ln>
            <a:solidFill>
              <a:srgbClr val="FF0000"/>
            </a:solidFill>
            <a:headEnd type="triangle" w="med" len="lg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892B790A-E6A9-A192-BE27-AFDB27357EB7}"/>
              </a:ext>
            </a:extLst>
          </p:cNvPr>
          <p:cNvSpPr txBox="1"/>
          <p:nvPr/>
        </p:nvSpPr>
        <p:spPr>
          <a:xfrm>
            <a:off x="4573520" y="1078023"/>
            <a:ext cx="2860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Modulation </a:t>
            </a:r>
            <a:r>
              <a:rPr lang="en-US" b="1" dirty="0">
                <a:solidFill>
                  <a:srgbClr val="FF0000"/>
                </a:solidFill>
              </a:rPr>
              <a:t>Techniques</a:t>
            </a:r>
            <a:endParaRPr lang="sv-SE" sz="1800" b="1" dirty="0">
              <a:solidFill>
                <a:srgbClr val="FF00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CDF9F62-325E-1042-0B96-D6255634A53E}"/>
              </a:ext>
            </a:extLst>
          </p:cNvPr>
          <p:cNvSpPr txBox="1"/>
          <p:nvPr/>
        </p:nvSpPr>
        <p:spPr>
          <a:xfrm>
            <a:off x="4638938" y="1457956"/>
            <a:ext cx="28608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PWM-based HF Voltage Reshaping</a:t>
            </a:r>
            <a:endParaRPr lang="sv-SE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41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FFD7-266E-280F-48D4-B270F2D3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519B77B-201A-823E-6DF0-FBEBF2B92EC3}"/>
              </a:ext>
            </a:extLst>
          </p:cNvPr>
          <p:cNvGrpSpPr/>
          <p:nvPr/>
        </p:nvGrpSpPr>
        <p:grpSpPr>
          <a:xfrm>
            <a:off x="2011680" y="937260"/>
            <a:ext cx="8168642" cy="5577839"/>
            <a:chOff x="2011680" y="937260"/>
            <a:chExt cx="8168642" cy="557783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6232275-BAB4-04E8-F5DE-549505D92E25}"/>
                </a:ext>
              </a:extLst>
            </p:cNvPr>
            <p:cNvSpPr/>
            <p:nvPr/>
          </p:nvSpPr>
          <p:spPr>
            <a:xfrm>
              <a:off x="2011680" y="937260"/>
              <a:ext cx="1903307" cy="988907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Inverter 1</a:t>
              </a:r>
              <a:endParaRPr lang="sv-SE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885B6EA-F3F5-1B03-991D-CBF84836F06C}"/>
                </a:ext>
              </a:extLst>
            </p:cNvPr>
            <p:cNvSpPr/>
            <p:nvPr/>
          </p:nvSpPr>
          <p:spPr>
            <a:xfrm>
              <a:off x="8277015" y="937260"/>
              <a:ext cx="1903307" cy="988907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Inverter 2</a:t>
              </a:r>
              <a:endParaRPr lang="sv-SE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23BAB0-812A-EBF2-F9F3-DB8B22FDDC97}"/>
                </a:ext>
              </a:extLst>
            </p:cNvPr>
            <p:cNvCxnSpPr>
              <a:cxnSpLocks/>
            </p:cNvCxnSpPr>
            <p:nvPr/>
          </p:nvCxnSpPr>
          <p:spPr>
            <a:xfrm>
              <a:off x="9228668" y="1926166"/>
              <a:ext cx="4551" cy="9787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3F7861-1357-3A4D-E19D-4D61D0308FDA}"/>
                </a:ext>
              </a:extLst>
            </p:cNvPr>
            <p:cNvCxnSpPr>
              <a:cxnSpLocks/>
              <a:endCxn id="23" idx="6"/>
            </p:cNvCxnSpPr>
            <p:nvPr/>
          </p:nvCxnSpPr>
          <p:spPr>
            <a:xfrm flipH="1">
              <a:off x="6997299" y="2904254"/>
              <a:ext cx="22419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62C117A-2E92-FF20-C6EE-4BEC0F8B0EF5}"/>
                </a:ext>
              </a:extLst>
            </p:cNvPr>
            <p:cNvCxnSpPr>
              <a:cxnSpLocks/>
            </p:cNvCxnSpPr>
            <p:nvPr/>
          </p:nvCxnSpPr>
          <p:spPr>
            <a:xfrm>
              <a:off x="9885469" y="1943101"/>
              <a:ext cx="0" cy="15161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967845-5D90-0879-BB49-25F08755EF16}"/>
                </a:ext>
              </a:extLst>
            </p:cNvPr>
            <p:cNvSpPr/>
            <p:nvPr/>
          </p:nvSpPr>
          <p:spPr>
            <a:xfrm>
              <a:off x="5188820" y="2120241"/>
              <a:ext cx="1808479" cy="156802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Open-End Winding</a:t>
              </a:r>
            </a:p>
            <a:p>
              <a:pPr algn="ctr"/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Motor</a:t>
              </a:r>
              <a:endParaRPr lang="sv-SE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pPr algn="ctr"/>
              <a:endParaRPr lang="sv-SE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A2E760-D35C-1394-67D3-75C0BC79DC7B}"/>
                </a:ext>
              </a:extLst>
            </p:cNvPr>
            <p:cNvCxnSpPr>
              <a:cxnSpLocks/>
              <a:endCxn id="23" idx="5"/>
            </p:cNvCxnSpPr>
            <p:nvPr/>
          </p:nvCxnSpPr>
          <p:spPr>
            <a:xfrm flipH="1">
              <a:off x="6732453" y="3458635"/>
              <a:ext cx="316362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B11734C-D6CC-AD6C-A3FB-690B1353826B}"/>
                </a:ext>
              </a:extLst>
            </p:cNvPr>
            <p:cNvCxnSpPr>
              <a:cxnSpLocks/>
            </p:cNvCxnSpPr>
            <p:nvPr/>
          </p:nvCxnSpPr>
          <p:spPr>
            <a:xfrm>
              <a:off x="8580969" y="1926166"/>
              <a:ext cx="0" cy="42502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064C0D9-B365-4C06-E992-B97D0745770F}"/>
                </a:ext>
              </a:extLst>
            </p:cNvPr>
            <p:cNvCxnSpPr>
              <a:cxnSpLocks/>
              <a:endCxn id="23" idx="7"/>
            </p:cNvCxnSpPr>
            <p:nvPr/>
          </p:nvCxnSpPr>
          <p:spPr>
            <a:xfrm flipH="1" flipV="1">
              <a:off x="6732453" y="2349873"/>
              <a:ext cx="1859125" cy="6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60148F4-73E6-9C6A-0A5C-6ADFEBD225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1682" y="2904254"/>
              <a:ext cx="22419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339D09D-B4EB-EC19-24C4-4BC2784FEE72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H="1">
              <a:off x="2254086" y="3458635"/>
              <a:ext cx="3199580" cy="6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D06F555-CCE3-713D-FA72-2113550DBC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7031" y="2349874"/>
              <a:ext cx="1859125" cy="6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261AB61-8FA5-4E14-4E6C-2663CDA1181D}"/>
                </a:ext>
              </a:extLst>
            </p:cNvPr>
            <p:cNvCxnSpPr>
              <a:cxnSpLocks/>
            </p:cNvCxnSpPr>
            <p:nvPr/>
          </p:nvCxnSpPr>
          <p:spPr>
            <a:xfrm>
              <a:off x="2922579" y="1926166"/>
              <a:ext cx="4551" cy="97874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402F695-D990-004D-1C18-CCABC0739F25}"/>
                </a:ext>
              </a:extLst>
            </p:cNvPr>
            <p:cNvCxnSpPr>
              <a:cxnSpLocks/>
            </p:cNvCxnSpPr>
            <p:nvPr/>
          </p:nvCxnSpPr>
          <p:spPr>
            <a:xfrm>
              <a:off x="2254086" y="1943101"/>
              <a:ext cx="0" cy="151619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CEA4723-2893-7D4E-265F-1358AEFD698F}"/>
                </a:ext>
              </a:extLst>
            </p:cNvPr>
            <p:cNvCxnSpPr>
              <a:cxnSpLocks/>
            </p:cNvCxnSpPr>
            <p:nvPr/>
          </p:nvCxnSpPr>
          <p:spPr>
            <a:xfrm>
              <a:off x="3602479" y="1926166"/>
              <a:ext cx="0" cy="42502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AC725CE-F59D-DA14-15C4-C47084B671A1}"/>
                </a:ext>
              </a:extLst>
            </p:cNvPr>
            <p:cNvSpPr/>
            <p:nvPr/>
          </p:nvSpPr>
          <p:spPr>
            <a:xfrm>
              <a:off x="3542843" y="2289785"/>
              <a:ext cx="123825" cy="11443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A86A0F4-FCAF-2EC4-354A-739F22315EC2}"/>
                </a:ext>
              </a:extLst>
            </p:cNvPr>
            <p:cNvSpPr/>
            <p:nvPr/>
          </p:nvSpPr>
          <p:spPr>
            <a:xfrm>
              <a:off x="2888307" y="2818757"/>
              <a:ext cx="123825" cy="11443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4D85403-605D-AB47-2720-5FA22614DB92}"/>
                </a:ext>
              </a:extLst>
            </p:cNvPr>
            <p:cNvSpPr/>
            <p:nvPr/>
          </p:nvSpPr>
          <p:spPr>
            <a:xfrm>
              <a:off x="2202783" y="3378462"/>
              <a:ext cx="123825" cy="11443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2B6854B-7745-CD09-354C-AFDAAF83C2AE}"/>
                </a:ext>
              </a:extLst>
            </p:cNvPr>
            <p:cNvSpPr/>
            <p:nvPr/>
          </p:nvSpPr>
          <p:spPr>
            <a:xfrm>
              <a:off x="8514505" y="2289785"/>
              <a:ext cx="123825" cy="11443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904B67C-EB57-1E26-28E6-65DFCE556248}"/>
                </a:ext>
              </a:extLst>
            </p:cNvPr>
            <p:cNvSpPr/>
            <p:nvPr/>
          </p:nvSpPr>
          <p:spPr>
            <a:xfrm>
              <a:off x="9166755" y="2834504"/>
              <a:ext cx="123825" cy="11443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12229A8-FE85-916C-26C4-39832845DFEF}"/>
                </a:ext>
              </a:extLst>
            </p:cNvPr>
            <p:cNvSpPr/>
            <p:nvPr/>
          </p:nvSpPr>
          <p:spPr>
            <a:xfrm>
              <a:off x="9823556" y="3385210"/>
              <a:ext cx="123825" cy="11443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39E2EEF-0385-EC2B-423F-0CF4762B934B}"/>
                </a:ext>
              </a:extLst>
            </p:cNvPr>
            <p:cNvSpPr txBox="1"/>
            <p:nvPr/>
          </p:nvSpPr>
          <p:spPr>
            <a:xfrm>
              <a:off x="3374837" y="4594105"/>
              <a:ext cx="9130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A+</a:t>
              </a:r>
              <a:endParaRPr lang="sv-SE" sz="18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93E7A89-6833-9A69-24EA-9E0D3B5B7012}"/>
                </a:ext>
              </a:extLst>
            </p:cNvPr>
            <p:cNvSpPr txBox="1"/>
            <p:nvPr/>
          </p:nvSpPr>
          <p:spPr>
            <a:xfrm>
              <a:off x="7944382" y="2017269"/>
              <a:ext cx="9130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</a:t>
              </a:r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-</a:t>
              </a:r>
              <a:endParaRPr lang="sv-SE" sz="18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299019-DD33-92FA-E425-C7B9697AFAA3}"/>
                </a:ext>
              </a:extLst>
            </p:cNvPr>
            <p:cNvSpPr txBox="1"/>
            <p:nvPr/>
          </p:nvSpPr>
          <p:spPr>
            <a:xfrm>
              <a:off x="2755318" y="2562589"/>
              <a:ext cx="9130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</a:t>
              </a:r>
              <a:r>
                <a:rPr lang="en-US" sz="18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+</a:t>
              </a:r>
              <a:endParaRPr lang="sv-SE" sz="18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4E9636F-2062-B838-BA38-25FAB6B754F3}"/>
                </a:ext>
              </a:extLst>
            </p:cNvPr>
            <p:cNvSpPr txBox="1"/>
            <p:nvPr/>
          </p:nvSpPr>
          <p:spPr>
            <a:xfrm>
              <a:off x="2037206" y="3122048"/>
              <a:ext cx="9130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C</a:t>
              </a:r>
              <a:r>
                <a:rPr lang="en-US" sz="18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+</a:t>
              </a:r>
              <a:endParaRPr lang="sv-SE" sz="18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D5C6AF1-C3F8-23A0-B70D-5B7AA5CF221E}"/>
                </a:ext>
              </a:extLst>
            </p:cNvPr>
            <p:cNvSpPr txBox="1"/>
            <p:nvPr/>
          </p:nvSpPr>
          <p:spPr>
            <a:xfrm>
              <a:off x="8535875" y="2552159"/>
              <a:ext cx="9130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B-</a:t>
              </a:r>
              <a:endParaRPr lang="sv-SE" sz="18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B12F445-A7AB-0F68-1EE8-351CD7AEB8CD}"/>
                </a:ext>
              </a:extLst>
            </p:cNvPr>
            <p:cNvSpPr txBox="1"/>
            <p:nvPr/>
          </p:nvSpPr>
          <p:spPr>
            <a:xfrm>
              <a:off x="9173987" y="3098581"/>
              <a:ext cx="9130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C-</a:t>
              </a:r>
              <a:endParaRPr lang="sv-SE" sz="18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55D3C5B-392C-9319-7865-C8FFD01B4CF7}"/>
                </a:ext>
              </a:extLst>
            </p:cNvPr>
            <p:cNvCxnSpPr>
              <a:cxnSpLocks/>
            </p:cNvCxnSpPr>
            <p:nvPr/>
          </p:nvCxnSpPr>
          <p:spPr>
            <a:xfrm>
              <a:off x="3602479" y="2415540"/>
              <a:ext cx="0" cy="1707104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3426D7F-B07F-0B54-D6FE-0E8C4D19554D}"/>
                </a:ext>
              </a:extLst>
            </p:cNvPr>
            <p:cNvCxnSpPr>
              <a:cxnSpLocks/>
            </p:cNvCxnSpPr>
            <p:nvPr/>
          </p:nvCxnSpPr>
          <p:spPr>
            <a:xfrm>
              <a:off x="8574557" y="2372462"/>
              <a:ext cx="0" cy="1750182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0A83B35-1ED9-64A1-6110-96CDB47DCE71}"/>
                </a:ext>
              </a:extLst>
            </p:cNvPr>
            <p:cNvSpPr/>
            <p:nvPr/>
          </p:nvSpPr>
          <p:spPr>
            <a:xfrm>
              <a:off x="2834383" y="4122644"/>
              <a:ext cx="6693841" cy="2392455"/>
            </a:xfrm>
            <a:prstGeom prst="rect">
              <a:avLst/>
            </a:prstGeom>
            <a:solidFill>
              <a:srgbClr val="92D050">
                <a:alpha val="5098"/>
              </a:srgbClr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D315BEB-9312-1884-DC8B-32A68C63B686}"/>
                </a:ext>
              </a:extLst>
            </p:cNvPr>
            <p:cNvSpPr txBox="1"/>
            <p:nvPr/>
          </p:nvSpPr>
          <p:spPr>
            <a:xfrm>
              <a:off x="3096834" y="4108296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Auxiliary Power Supply </a:t>
              </a:r>
              <a:endParaRPr lang="sv-SE" sz="18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F216419-29D0-E254-4A19-CF3874C69000}"/>
                </a:ext>
              </a:extLst>
            </p:cNvPr>
            <p:cNvSpPr/>
            <p:nvPr/>
          </p:nvSpPr>
          <p:spPr>
            <a:xfrm>
              <a:off x="3542843" y="4849001"/>
              <a:ext cx="123825" cy="11443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3207E59-4234-D5B5-B9C4-C7AC4ED3D9F4}"/>
                </a:ext>
              </a:extLst>
            </p:cNvPr>
            <p:cNvSpPr txBox="1"/>
            <p:nvPr/>
          </p:nvSpPr>
          <p:spPr>
            <a:xfrm>
              <a:off x="3374838" y="2008375"/>
              <a:ext cx="9130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A+</a:t>
              </a:r>
              <a:endParaRPr lang="sv-SE" sz="18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CDE900BF-A454-6ECC-AE57-DA3414735489}"/>
                </a:ext>
              </a:extLst>
            </p:cNvPr>
            <p:cNvSpPr/>
            <p:nvPr/>
          </p:nvSpPr>
          <p:spPr>
            <a:xfrm>
              <a:off x="8535875" y="4839616"/>
              <a:ext cx="123825" cy="114436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0E73F8B-BC89-0C01-928D-AF8077654593}"/>
                </a:ext>
              </a:extLst>
            </p:cNvPr>
            <p:cNvSpPr txBox="1"/>
            <p:nvPr/>
          </p:nvSpPr>
          <p:spPr>
            <a:xfrm>
              <a:off x="7957395" y="4584720"/>
              <a:ext cx="9130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</a:t>
              </a:r>
              <a:r>
                <a:rPr lang="en-US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-</a:t>
              </a:r>
              <a:endParaRPr lang="sv-SE" sz="18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782FB9C-9B73-DB49-2720-2F44BD6FA7B1}"/>
                </a:ext>
              </a:extLst>
            </p:cNvPr>
            <p:cNvCxnSpPr>
              <a:cxnSpLocks/>
              <a:stCxn id="89" idx="1"/>
            </p:cNvCxnSpPr>
            <p:nvPr/>
          </p:nvCxnSpPr>
          <p:spPr>
            <a:xfrm flipH="1">
              <a:off x="3677084" y="4903488"/>
              <a:ext cx="1570862" cy="20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3C045D7-3491-5237-55A4-7E7E53B3E100}"/>
                </a:ext>
              </a:extLst>
            </p:cNvPr>
            <p:cNvSpPr/>
            <p:nvPr/>
          </p:nvSpPr>
          <p:spPr>
            <a:xfrm>
              <a:off x="5247946" y="4507901"/>
              <a:ext cx="1749353" cy="791174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EE2D5FE-3FC4-B307-A318-9371D39A39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97299" y="4905559"/>
              <a:ext cx="153857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33D5895-6EFD-1F78-E835-0BE6B86629D3}"/>
                </a:ext>
              </a:extLst>
            </p:cNvPr>
            <p:cNvSpPr txBox="1"/>
            <p:nvPr/>
          </p:nvSpPr>
          <p:spPr>
            <a:xfrm>
              <a:off x="5117513" y="4490848"/>
              <a:ext cx="2015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LC Filter</a:t>
              </a:r>
              <a:endParaRPr lang="sv-SE" sz="18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0D83E36C-FB76-3B7F-0CF1-BB0E8B07A4F4}"/>
                </a:ext>
              </a:extLst>
            </p:cNvPr>
            <p:cNvGrpSpPr/>
            <p:nvPr/>
          </p:nvGrpSpPr>
          <p:grpSpPr>
            <a:xfrm>
              <a:off x="5684472" y="4862405"/>
              <a:ext cx="876301" cy="369332"/>
              <a:chOff x="428624" y="394119"/>
              <a:chExt cx="1645921" cy="629907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5DAC6AA2-4B0D-2C2B-596C-EA059A2257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362" y="833530"/>
                <a:ext cx="5372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93F6C759-A1E7-E1CD-4900-7E9104CF27B1}"/>
                  </a:ext>
                </a:extLst>
              </p:cNvPr>
              <p:cNvCxnSpPr/>
              <p:nvPr/>
            </p:nvCxnSpPr>
            <p:spPr>
              <a:xfrm>
                <a:off x="1151572" y="604926"/>
                <a:ext cx="0" cy="4191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D49F7C04-1157-3DF5-2C9F-34398EE755B3}"/>
                  </a:ext>
                </a:extLst>
              </p:cNvPr>
              <p:cNvCxnSpPr/>
              <p:nvPr/>
            </p:nvCxnSpPr>
            <p:spPr>
              <a:xfrm>
                <a:off x="1342072" y="604926"/>
                <a:ext cx="0" cy="4191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D8B50280-9910-2041-2ED0-C26C89181C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2072" y="833530"/>
                <a:ext cx="54673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40106FEC-A72C-71A3-B454-EB45C1427D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362" y="477507"/>
                <a:ext cx="18573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Arc 109">
                <a:extLst>
                  <a:ext uri="{FF2B5EF4-FFF2-40B4-BE49-F238E27FC236}">
                    <a16:creationId xmlns:a16="http://schemas.microsoft.com/office/drawing/2014/main" id="{998DD78E-4B37-F360-F482-F26C7224E731}"/>
                  </a:ext>
                </a:extLst>
              </p:cNvPr>
              <p:cNvSpPr/>
              <p:nvPr/>
            </p:nvSpPr>
            <p:spPr>
              <a:xfrm>
                <a:off x="800100" y="394123"/>
                <a:ext cx="152400" cy="210807"/>
              </a:xfrm>
              <a:prstGeom prst="arc">
                <a:avLst>
                  <a:gd name="adj1" fmla="val 11471325"/>
                  <a:gd name="adj2" fmla="val 2138542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23" name="Arc 122">
                <a:extLst>
                  <a:ext uri="{FF2B5EF4-FFF2-40B4-BE49-F238E27FC236}">
                    <a16:creationId xmlns:a16="http://schemas.microsoft.com/office/drawing/2014/main" id="{0DDA7C3B-962F-ED89-4E7E-F1BEFF039353}"/>
                  </a:ext>
                </a:extLst>
              </p:cNvPr>
              <p:cNvSpPr/>
              <p:nvPr/>
            </p:nvSpPr>
            <p:spPr>
              <a:xfrm>
                <a:off x="952500" y="394122"/>
                <a:ext cx="152400" cy="210807"/>
              </a:xfrm>
              <a:prstGeom prst="arc">
                <a:avLst>
                  <a:gd name="adj1" fmla="val 11471325"/>
                  <a:gd name="adj2" fmla="val 2138542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id="{A763BB22-68B6-6DCC-96B6-BC69A756C02A}"/>
                  </a:ext>
                </a:extLst>
              </p:cNvPr>
              <p:cNvSpPr/>
              <p:nvPr/>
            </p:nvSpPr>
            <p:spPr>
              <a:xfrm>
                <a:off x="1103947" y="394122"/>
                <a:ext cx="152400" cy="210807"/>
              </a:xfrm>
              <a:prstGeom prst="arc">
                <a:avLst>
                  <a:gd name="adj1" fmla="val 11471325"/>
                  <a:gd name="adj2" fmla="val 2138542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27" name="Arc 126">
                <a:extLst>
                  <a:ext uri="{FF2B5EF4-FFF2-40B4-BE49-F238E27FC236}">
                    <a16:creationId xmlns:a16="http://schemas.microsoft.com/office/drawing/2014/main" id="{807BB01B-645C-56A8-9664-F0D4EEF6CA52}"/>
                  </a:ext>
                </a:extLst>
              </p:cNvPr>
              <p:cNvSpPr/>
              <p:nvPr/>
            </p:nvSpPr>
            <p:spPr>
              <a:xfrm>
                <a:off x="1255395" y="394121"/>
                <a:ext cx="152400" cy="210807"/>
              </a:xfrm>
              <a:prstGeom prst="arc">
                <a:avLst>
                  <a:gd name="adj1" fmla="val 11471325"/>
                  <a:gd name="adj2" fmla="val 2138542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29" name="Arc 128">
                <a:extLst>
                  <a:ext uri="{FF2B5EF4-FFF2-40B4-BE49-F238E27FC236}">
                    <a16:creationId xmlns:a16="http://schemas.microsoft.com/office/drawing/2014/main" id="{823957E4-4875-B8EA-1E5F-1B4A32D15A32}"/>
                  </a:ext>
                </a:extLst>
              </p:cNvPr>
              <p:cNvSpPr/>
              <p:nvPr/>
            </p:nvSpPr>
            <p:spPr>
              <a:xfrm>
                <a:off x="1408747" y="394120"/>
                <a:ext cx="152400" cy="210807"/>
              </a:xfrm>
              <a:prstGeom prst="arc">
                <a:avLst>
                  <a:gd name="adj1" fmla="val 11471325"/>
                  <a:gd name="adj2" fmla="val 2138542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id="{E5AD3F5F-D608-E79A-74C8-F693C6615F13}"/>
                  </a:ext>
                </a:extLst>
              </p:cNvPr>
              <p:cNvSpPr/>
              <p:nvPr/>
            </p:nvSpPr>
            <p:spPr>
              <a:xfrm>
                <a:off x="1560195" y="394119"/>
                <a:ext cx="152400" cy="210807"/>
              </a:xfrm>
              <a:prstGeom prst="arc">
                <a:avLst>
                  <a:gd name="adj1" fmla="val 11471325"/>
                  <a:gd name="adj2" fmla="val 2138542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771960BC-6F20-4F53-BEFC-E0CFDE38F9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3069" y="498398"/>
                <a:ext cx="18573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08AAA668-EFBC-7967-B56A-9309F90D8B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362" y="477508"/>
                <a:ext cx="0" cy="35602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6F956C71-0734-B996-D498-D0868E1912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8807" y="489503"/>
                <a:ext cx="0" cy="35602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71376910-A0E8-AC5E-9B01-D3FFA1CCD4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8807" y="667514"/>
                <a:ext cx="18573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8F8F0C09-5219-68F6-0C38-281F637416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624" y="667514"/>
                <a:ext cx="18573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5DC220C-7559-373E-247B-DBB7CFA49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4532" y="5299075"/>
              <a:ext cx="0" cy="5014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48AD04CB-FDBC-9F67-E676-0AFAE8292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2453" y="5299075"/>
              <a:ext cx="0" cy="5014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1851B5E-77BB-6456-3D1A-859D53F99C3F}"/>
                </a:ext>
              </a:extLst>
            </p:cNvPr>
            <p:cNvSpPr/>
            <p:nvPr/>
          </p:nvSpPr>
          <p:spPr>
            <a:xfrm>
              <a:off x="5270158" y="5797083"/>
              <a:ext cx="1749353" cy="626230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3B117FE6-AE29-A882-0C83-87150820F8C7}"/>
                </a:ext>
              </a:extLst>
            </p:cNvPr>
            <p:cNvSpPr txBox="1"/>
            <p:nvPr/>
          </p:nvSpPr>
          <p:spPr>
            <a:xfrm>
              <a:off x="5173659" y="5927246"/>
              <a:ext cx="20152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Rectifier &amp; Load</a:t>
              </a:r>
              <a:endParaRPr lang="sv-SE" sz="18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FEBED93-E7D4-713D-41B9-061B92194619}"/>
                </a:ext>
              </a:extLst>
            </p:cNvPr>
            <p:cNvSpPr txBox="1"/>
            <p:nvPr/>
          </p:nvSpPr>
          <p:spPr>
            <a:xfrm>
              <a:off x="6826200" y="5727006"/>
              <a:ext cx="253141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DC Auxiliary Power </a:t>
              </a:r>
            </a:p>
            <a:p>
              <a:pPr algn="ctr"/>
              <a:r>
                <a:rPr lang="en-US" sz="1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12/24/48 V</a:t>
              </a:r>
            </a:p>
            <a:p>
              <a:pPr algn="ctr"/>
              <a:r>
                <a:rPr lang="en-US" sz="1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(Control, Cooling, ECUs)</a:t>
              </a:r>
              <a:endParaRPr lang="sv-SE" sz="1400" b="1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909E3CBE-0E38-A13D-1933-D6220F7624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4986" y="1431052"/>
              <a:ext cx="4362029" cy="661"/>
            </a:xfrm>
            <a:prstGeom prst="line">
              <a:avLst/>
            </a:prstGeom>
            <a:ln>
              <a:solidFill>
                <a:srgbClr val="FF0000"/>
              </a:solidFill>
              <a:headEnd type="triangle" w="med" len="lg"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346342D5-BB69-B4A2-9F18-78028113D769}"/>
                </a:ext>
              </a:extLst>
            </p:cNvPr>
            <p:cNvSpPr txBox="1"/>
            <p:nvPr/>
          </p:nvSpPr>
          <p:spPr>
            <a:xfrm>
              <a:off x="4573520" y="1078023"/>
              <a:ext cx="28608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0000"/>
                  </a:solidFill>
                </a:rPr>
                <a:t>Modulation </a:t>
              </a:r>
              <a:r>
                <a:rPr lang="en-US" b="1" dirty="0">
                  <a:solidFill>
                    <a:srgbClr val="FF0000"/>
                  </a:solidFill>
                </a:rPr>
                <a:t>Techniques</a:t>
              </a:r>
              <a:endParaRPr lang="sv-SE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8E624E17-387A-C45A-610C-0726C376B72F}"/>
                </a:ext>
              </a:extLst>
            </p:cNvPr>
            <p:cNvSpPr txBox="1"/>
            <p:nvPr/>
          </p:nvSpPr>
          <p:spPr>
            <a:xfrm>
              <a:off x="4638938" y="1457956"/>
              <a:ext cx="28608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0000"/>
                  </a:solidFill>
                </a:rPr>
                <a:t>PWM-based HF Voltage Reshaping</a:t>
              </a:r>
              <a:endParaRPr lang="sv-SE" sz="1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906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90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KTH Royal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Enes Ayaz</dc:creator>
  <cp:lastModifiedBy>Enes Ayaz</cp:lastModifiedBy>
  <cp:revision>2</cp:revision>
  <dcterms:created xsi:type="dcterms:W3CDTF">2026-08-31T11:51:08Z</dcterms:created>
  <dcterms:modified xsi:type="dcterms:W3CDTF">2026-08-31T13:33:30Z</dcterms:modified>
</cp:coreProperties>
</file>