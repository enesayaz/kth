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4"/>
  </p:notesMasterIdLst>
  <p:sldIdLst>
    <p:sldId id="256" r:id="rId2"/>
    <p:sldId id="294" r:id="rId3"/>
    <p:sldId id="297" r:id="rId4"/>
    <p:sldId id="298" r:id="rId5"/>
    <p:sldId id="301" r:id="rId6"/>
    <p:sldId id="300" r:id="rId7"/>
    <p:sldId id="302" r:id="rId8"/>
    <p:sldId id="303" r:id="rId9"/>
    <p:sldId id="296" r:id="rId10"/>
    <p:sldId id="292" r:id="rId11"/>
    <p:sldId id="293" r:id="rId12"/>
    <p:sldId id="295" r:id="rId13"/>
  </p:sldIdLst>
  <p:sldSz cx="12192000" cy="6858000"/>
  <p:notesSz cx="6858000" cy="9144000"/>
  <p:embeddedFontLst>
    <p:embeddedFont>
      <p:font typeface="Calibri" panose="020F0502020204030204" pitchFamily="34" charset="0"/>
      <p:regular r:id="rId15"/>
      <p:bold r:id="rId16"/>
      <p:italic r:id="rId17"/>
      <p:boldItalic r:id="rId18"/>
    </p:embeddedFont>
    <p:embeddedFont>
      <p:font typeface="Cambria Math" panose="02040503050406030204" pitchFamily="18" charset="0"/>
      <p:regular r:id="rId19"/>
    </p:embeddedFont>
    <p:embeddedFont>
      <p:font typeface="Figtree" panose="020B0604020202020204" charset="0"/>
      <p:regular r:id="rId20"/>
      <p:bold r:id="rId21"/>
      <p:italic r:id="rId22"/>
      <p:boldItalic r:id="rId2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6327"/>
  </p:normalViewPr>
  <p:slideViewPr>
    <p:cSldViewPr snapToGrid="0">
      <p:cViewPr varScale="1">
        <p:scale>
          <a:sx n="111" d="100"/>
          <a:sy n="111" d="100"/>
        </p:scale>
        <p:origin x="28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2024-11-12</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2024-11-12</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2024-11-12</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2024-11-12</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2024-11-12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2024-11-12</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2024-11-12</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2024-11-12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2024-11-12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2024-11-12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2024-11-12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2024-11-12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2024-11-12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2024-11-12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2024-11-12</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2024-11-12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2024-11-12</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2024-11-12</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2024-11-12</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2024-11-12</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2024-11-12</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2024-11-12</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image" Target="../media/image21.png"/><Relationship Id="rId1" Type="http://schemas.openxmlformats.org/officeDocument/2006/relationships/slideLayout" Target="../slideLayouts/slideLayout1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2.xml"/><Relationship Id="rId5" Type="http://schemas.openxmlformats.org/officeDocument/2006/relationships/image" Target="../media/image36.png"/><Relationship Id="rId4" Type="http://schemas.openxmlformats.org/officeDocument/2006/relationships/image" Target="../media/image35.png"/></Relationships>
</file>

<file path=ppt/slides/_rels/slide5.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3" Type="http://schemas.openxmlformats.org/officeDocument/2006/relationships/image" Target="../media/image40.png"/><Relationship Id="rId7" Type="http://schemas.openxmlformats.org/officeDocument/2006/relationships/image" Target="../media/image36.emf"/><Relationship Id="rId12" Type="http://schemas.openxmlformats.org/officeDocument/2006/relationships/image" Target="../media/image49.png"/><Relationship Id="rId17" Type="http://schemas.openxmlformats.org/officeDocument/2006/relationships/image" Target="../media/image54.png"/><Relationship Id="rId2" Type="http://schemas.openxmlformats.org/officeDocument/2006/relationships/image" Target="../media/image39.png"/><Relationship Id="rId16" Type="http://schemas.openxmlformats.org/officeDocument/2006/relationships/image" Target="../media/image53.png"/><Relationship Id="rId1" Type="http://schemas.openxmlformats.org/officeDocument/2006/relationships/slideLayout" Target="../slideLayouts/slideLayout12.xml"/><Relationship Id="rId6" Type="http://schemas.openxmlformats.org/officeDocument/2006/relationships/image" Target="../media/image35.emf"/><Relationship Id="rId11" Type="http://schemas.openxmlformats.org/officeDocument/2006/relationships/image" Target="../media/image48.png"/><Relationship Id="rId5" Type="http://schemas.openxmlformats.org/officeDocument/2006/relationships/image" Target="../media/image42.png"/><Relationship Id="rId15" Type="http://schemas.openxmlformats.org/officeDocument/2006/relationships/image" Target="../media/image5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 Id="rId14" Type="http://schemas.openxmlformats.org/officeDocument/2006/relationships/image" Target="../media/image51.png"/></Relationships>
</file>

<file path=ppt/slides/_rels/slide7.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66.png"/><Relationship Id="rId3" Type="http://schemas.openxmlformats.org/officeDocument/2006/relationships/image" Target="../media/image38.emf"/><Relationship Id="rId7" Type="http://schemas.openxmlformats.org/officeDocument/2006/relationships/image" Target="../media/image60.png"/><Relationship Id="rId12" Type="http://schemas.openxmlformats.org/officeDocument/2006/relationships/image" Target="../media/image44.emf"/><Relationship Id="rId2" Type="http://schemas.openxmlformats.org/officeDocument/2006/relationships/image" Target="../media/image37.emf"/><Relationship Id="rId1" Type="http://schemas.openxmlformats.org/officeDocument/2006/relationships/slideLayout" Target="../slideLayouts/slideLayout12.xml"/><Relationship Id="rId6" Type="http://schemas.openxmlformats.org/officeDocument/2006/relationships/image" Target="../media/image41.emf"/><Relationship Id="rId11" Type="http://schemas.openxmlformats.org/officeDocument/2006/relationships/image" Target="../media/image64.png"/><Relationship Id="rId5" Type="http://schemas.openxmlformats.org/officeDocument/2006/relationships/image" Target="../media/image40.emf"/><Relationship Id="rId10" Type="http://schemas.openxmlformats.org/officeDocument/2006/relationships/image" Target="../media/image63.png"/><Relationship Id="rId4" Type="http://schemas.openxmlformats.org/officeDocument/2006/relationships/image" Target="../media/image39.emf"/><Relationship Id="rId9" Type="http://schemas.openxmlformats.org/officeDocument/2006/relationships/image" Target="../media/image62.png"/></Relationships>
</file>

<file path=ppt/slides/_rels/slide8.xml.rels><?xml version="1.0" encoding="UTF-8" standalone="yes"?>
<Relationships xmlns="http://schemas.openxmlformats.org/package/2006/relationships"><Relationship Id="rId8" Type="http://schemas.openxmlformats.org/officeDocument/2006/relationships/image" Target="../media/image45.emf"/><Relationship Id="rId13" Type="http://schemas.openxmlformats.org/officeDocument/2006/relationships/image" Target="../media/image50.emf"/><Relationship Id="rId3" Type="http://schemas.openxmlformats.org/officeDocument/2006/relationships/image" Target="../media/image61.png"/><Relationship Id="rId7" Type="http://schemas.openxmlformats.org/officeDocument/2006/relationships/image" Target="../media/image69.png"/><Relationship Id="rId12" Type="http://schemas.openxmlformats.org/officeDocument/2006/relationships/image" Target="../media/image49.emf"/><Relationship Id="rId2" Type="http://schemas.openxmlformats.org/officeDocument/2006/relationships/image" Target="../media/image67.png"/><Relationship Id="rId1" Type="http://schemas.openxmlformats.org/officeDocument/2006/relationships/slideLayout" Target="../slideLayouts/slideLayout12.xml"/><Relationship Id="rId6" Type="http://schemas.openxmlformats.org/officeDocument/2006/relationships/image" Target="../media/image68.png"/><Relationship Id="rId11" Type="http://schemas.openxmlformats.org/officeDocument/2006/relationships/image" Target="../media/image48.emf"/><Relationship Id="rId5" Type="http://schemas.openxmlformats.org/officeDocument/2006/relationships/image" Target="../media/image63.png"/><Relationship Id="rId10" Type="http://schemas.openxmlformats.org/officeDocument/2006/relationships/image" Target="../media/image47.emf"/><Relationship Id="rId4" Type="http://schemas.openxmlformats.org/officeDocument/2006/relationships/image" Target="../media/image62.png"/><Relationship Id="rId9" Type="http://schemas.openxmlformats.org/officeDocument/2006/relationships/image" Target="../media/image46.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8" Type="http://schemas.openxmlformats.org/officeDocument/2006/relationships/image" Target="../media/image400.png"/><Relationship Id="rId3" Type="http://schemas.openxmlformats.org/officeDocument/2006/relationships/image" Target="../media/image350.png"/><Relationship Id="rId7" Type="http://schemas.openxmlformats.org/officeDocument/2006/relationships/image" Target="../media/image390.png"/><Relationship Id="rId12" Type="http://schemas.openxmlformats.org/officeDocument/2006/relationships/image" Target="../media/image52.emf"/><Relationship Id="rId2" Type="http://schemas.openxmlformats.org/officeDocument/2006/relationships/image" Target="../media/image51.emf"/><Relationship Id="rId1" Type="http://schemas.openxmlformats.org/officeDocument/2006/relationships/slideLayout" Target="../slideLayouts/slideLayout12.xml"/><Relationship Id="rId6" Type="http://schemas.openxmlformats.org/officeDocument/2006/relationships/image" Target="../media/image38.png"/><Relationship Id="rId11" Type="http://schemas.openxmlformats.org/officeDocument/2006/relationships/image" Target="../media/image430.png"/><Relationship Id="rId5" Type="http://schemas.openxmlformats.org/officeDocument/2006/relationships/image" Target="../media/image370.png"/><Relationship Id="rId10" Type="http://schemas.openxmlformats.org/officeDocument/2006/relationships/image" Target="../media/image420.png"/><Relationship Id="rId4" Type="http://schemas.openxmlformats.org/officeDocument/2006/relationships/image" Target="../media/image360.png"/><Relationship Id="rId9" Type="http://schemas.openxmlformats.org/officeDocument/2006/relationships/image" Target="../media/image410.png"/></Relationships>
</file>

<file path=ppt/slides/_rels/slide11.xml.rels><?xml version="1.0" encoding="UTF-8" standalone="yes"?>
<Relationships xmlns="http://schemas.openxmlformats.org/package/2006/relationships"><Relationship Id="rId8" Type="http://schemas.openxmlformats.org/officeDocument/2006/relationships/image" Target="../media/image500.png"/><Relationship Id="rId13" Type="http://schemas.openxmlformats.org/officeDocument/2006/relationships/image" Target="../media/image540.png"/><Relationship Id="rId3" Type="http://schemas.openxmlformats.org/officeDocument/2006/relationships/image" Target="../media/image450.png"/><Relationship Id="rId7" Type="http://schemas.openxmlformats.org/officeDocument/2006/relationships/image" Target="../media/image490.png"/><Relationship Id="rId12" Type="http://schemas.openxmlformats.org/officeDocument/2006/relationships/image" Target="../media/image52.emf"/><Relationship Id="rId17" Type="http://schemas.openxmlformats.org/officeDocument/2006/relationships/image" Target="../media/image58.png"/><Relationship Id="rId2" Type="http://schemas.openxmlformats.org/officeDocument/2006/relationships/image" Target="../media/image51.emf"/><Relationship Id="rId16" Type="http://schemas.openxmlformats.org/officeDocument/2006/relationships/image" Target="../media/image57.png"/><Relationship Id="rId1" Type="http://schemas.openxmlformats.org/officeDocument/2006/relationships/slideLayout" Target="../slideLayouts/slideLayout12.xml"/><Relationship Id="rId6" Type="http://schemas.openxmlformats.org/officeDocument/2006/relationships/image" Target="../media/image480.png"/><Relationship Id="rId11" Type="http://schemas.openxmlformats.org/officeDocument/2006/relationships/image" Target="../media/image530.png"/><Relationship Id="rId5" Type="http://schemas.openxmlformats.org/officeDocument/2006/relationships/image" Target="../media/image470.png"/><Relationship Id="rId15" Type="http://schemas.openxmlformats.org/officeDocument/2006/relationships/image" Target="../media/image56.png"/><Relationship Id="rId10" Type="http://schemas.openxmlformats.org/officeDocument/2006/relationships/image" Target="../media/image520.png"/><Relationship Id="rId4" Type="http://schemas.openxmlformats.org/officeDocument/2006/relationships/image" Target="../media/image460.png"/><Relationship Id="rId9" Type="http://schemas.openxmlformats.org/officeDocument/2006/relationships/image" Target="../media/image510.png"/><Relationship Id="rId14"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Utilization of </a:t>
            </a:r>
            <a:r>
              <a:rPr lang="en-US" dirty="0" err="1" smtClean="0"/>
              <a:t>Airgap</a:t>
            </a:r>
            <a:r>
              <a:rPr lang="en-US" dirty="0" smtClean="0"/>
              <a:t> Harmonics</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Ayaz</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Basic EESM- 2 Pole  </a:t>
            </a:r>
            <a:endParaRPr lang="sv-SE" dirty="0">
              <a:latin typeface="Times New Roman" panose="02020603050405020304" pitchFamily="18" charset="0"/>
              <a:cs typeface="Times New Roman" panose="020206030504050203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4123676970"/>
              </p:ext>
            </p:extLst>
          </p:nvPr>
        </p:nvGraphicFramePr>
        <p:xfrm>
          <a:off x="1789001" y="2686863"/>
          <a:ext cx="8127990" cy="741680"/>
        </p:xfrm>
        <a:graphic>
          <a:graphicData uri="http://schemas.openxmlformats.org/drawingml/2006/table">
            <a:tbl>
              <a:tblPr firstRow="1" bandRow="1">
                <a:tableStyleId>{5C22544A-7EE6-4342-B048-85BDC9FD1C3A}</a:tableStyleId>
              </a:tblPr>
              <a:tblGrid>
                <a:gridCol w="625230">
                  <a:extLst>
                    <a:ext uri="{9D8B030D-6E8A-4147-A177-3AD203B41FA5}">
                      <a16:colId xmlns:a16="http://schemas.microsoft.com/office/drawing/2014/main" val="1953644139"/>
                    </a:ext>
                  </a:extLst>
                </a:gridCol>
                <a:gridCol w="625230">
                  <a:extLst>
                    <a:ext uri="{9D8B030D-6E8A-4147-A177-3AD203B41FA5}">
                      <a16:colId xmlns:a16="http://schemas.microsoft.com/office/drawing/2014/main" val="986895045"/>
                    </a:ext>
                  </a:extLst>
                </a:gridCol>
                <a:gridCol w="625230">
                  <a:extLst>
                    <a:ext uri="{9D8B030D-6E8A-4147-A177-3AD203B41FA5}">
                      <a16:colId xmlns:a16="http://schemas.microsoft.com/office/drawing/2014/main" val="1160901876"/>
                    </a:ext>
                  </a:extLst>
                </a:gridCol>
                <a:gridCol w="625230">
                  <a:extLst>
                    <a:ext uri="{9D8B030D-6E8A-4147-A177-3AD203B41FA5}">
                      <a16:colId xmlns:a16="http://schemas.microsoft.com/office/drawing/2014/main" val="1103176735"/>
                    </a:ext>
                  </a:extLst>
                </a:gridCol>
                <a:gridCol w="625230">
                  <a:extLst>
                    <a:ext uri="{9D8B030D-6E8A-4147-A177-3AD203B41FA5}">
                      <a16:colId xmlns:a16="http://schemas.microsoft.com/office/drawing/2014/main" val="2504158954"/>
                    </a:ext>
                  </a:extLst>
                </a:gridCol>
                <a:gridCol w="625230">
                  <a:extLst>
                    <a:ext uri="{9D8B030D-6E8A-4147-A177-3AD203B41FA5}">
                      <a16:colId xmlns:a16="http://schemas.microsoft.com/office/drawing/2014/main" val="2947287858"/>
                    </a:ext>
                  </a:extLst>
                </a:gridCol>
                <a:gridCol w="625230">
                  <a:extLst>
                    <a:ext uri="{9D8B030D-6E8A-4147-A177-3AD203B41FA5}">
                      <a16:colId xmlns:a16="http://schemas.microsoft.com/office/drawing/2014/main" val="308694683"/>
                    </a:ext>
                  </a:extLst>
                </a:gridCol>
                <a:gridCol w="625230">
                  <a:extLst>
                    <a:ext uri="{9D8B030D-6E8A-4147-A177-3AD203B41FA5}">
                      <a16:colId xmlns:a16="http://schemas.microsoft.com/office/drawing/2014/main" val="3184566999"/>
                    </a:ext>
                  </a:extLst>
                </a:gridCol>
                <a:gridCol w="625230">
                  <a:extLst>
                    <a:ext uri="{9D8B030D-6E8A-4147-A177-3AD203B41FA5}">
                      <a16:colId xmlns:a16="http://schemas.microsoft.com/office/drawing/2014/main" val="1887459786"/>
                    </a:ext>
                  </a:extLst>
                </a:gridCol>
                <a:gridCol w="625230">
                  <a:extLst>
                    <a:ext uri="{9D8B030D-6E8A-4147-A177-3AD203B41FA5}">
                      <a16:colId xmlns:a16="http://schemas.microsoft.com/office/drawing/2014/main" val="167411870"/>
                    </a:ext>
                  </a:extLst>
                </a:gridCol>
                <a:gridCol w="625230">
                  <a:extLst>
                    <a:ext uri="{9D8B030D-6E8A-4147-A177-3AD203B41FA5}">
                      <a16:colId xmlns:a16="http://schemas.microsoft.com/office/drawing/2014/main" val="3427868789"/>
                    </a:ext>
                  </a:extLst>
                </a:gridCol>
                <a:gridCol w="625230">
                  <a:extLst>
                    <a:ext uri="{9D8B030D-6E8A-4147-A177-3AD203B41FA5}">
                      <a16:colId xmlns:a16="http://schemas.microsoft.com/office/drawing/2014/main" val="3232831429"/>
                    </a:ext>
                  </a:extLst>
                </a:gridCol>
                <a:gridCol w="625230">
                  <a:extLst>
                    <a:ext uri="{9D8B030D-6E8A-4147-A177-3AD203B41FA5}">
                      <a16:colId xmlns:a16="http://schemas.microsoft.com/office/drawing/2014/main" val="2510407718"/>
                    </a:ext>
                  </a:extLst>
                </a:gridCol>
              </a:tblGrid>
              <a:tr h="370840">
                <a:tc>
                  <a:txBody>
                    <a:bodyPr/>
                    <a:lstStyle/>
                    <a:p>
                      <a:endParaRPr lang="sv-SE" dirty="0"/>
                    </a:p>
                  </a:txBody>
                  <a:tcPr>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414219993"/>
                  </a:ext>
                </a:extLst>
              </a:tr>
              <a:tr h="370840">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rgbClr val="E86A58"/>
                          </a:solidFill>
                        </a:rPr>
                        <a:t>A+</a:t>
                      </a:r>
                      <a:endParaRPr lang="sv-SE" dirty="0">
                        <a:solidFill>
                          <a:srgbClr val="E86A58"/>
                        </a:solidFill>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rgbClr val="4DA060"/>
                          </a:solidFill>
                        </a:rPr>
                        <a:t>C-</a:t>
                      </a:r>
                      <a:endParaRPr lang="sv-SE" dirty="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smtClean="0">
                          <a:solidFill>
                            <a:schemeClr val="tx2">
                              <a:lumMod val="25000"/>
                              <a:lumOff val="75000"/>
                            </a:schemeClr>
                          </a:solidFill>
                        </a:rPr>
                        <a:t>B+</a:t>
                      </a:r>
                      <a:endParaRPr lang="sv-SE" dirty="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E86A58"/>
                          </a:solidFill>
                        </a:rPr>
                        <a:t>A-</a:t>
                      </a:r>
                      <a:endParaRPr lang="sv-SE" dirty="0" smtClean="0">
                        <a:solidFill>
                          <a:srgbClr val="E86A58"/>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4DA060"/>
                          </a:solidFill>
                        </a:rPr>
                        <a:t>C+</a:t>
                      </a:r>
                      <a:endParaRPr lang="sv-SE" dirty="0" smtClean="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chemeClr val="tx2">
                              <a:lumMod val="25000"/>
                              <a:lumOff val="75000"/>
                            </a:schemeClr>
                          </a:solidFill>
                        </a:rPr>
                        <a:t>B-</a:t>
                      </a:r>
                      <a:endParaRPr lang="sv-SE" dirty="0" smtClean="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993555899"/>
                  </a:ext>
                </a:extLst>
              </a:tr>
            </a:tbl>
          </a:graphicData>
        </a:graphic>
      </p:graphicFrame>
      <p:cxnSp>
        <p:nvCxnSpPr>
          <p:cNvPr id="7" name="Straight Connector 6"/>
          <p:cNvCxnSpPr/>
          <p:nvPr/>
        </p:nvCxnSpPr>
        <p:spPr>
          <a:xfrm flipH="1" flipV="1">
            <a:off x="2832374" y="2473825"/>
            <a:ext cx="6178" cy="1643447"/>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2832374" y="1754957"/>
            <a:ext cx="1956487" cy="718868"/>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4788861" y="1754957"/>
            <a:ext cx="1804087" cy="691063"/>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flipV="1">
            <a:off x="6592948" y="2446020"/>
            <a:ext cx="6178" cy="1615645"/>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H="1" flipV="1">
            <a:off x="4158666" y="2473825"/>
            <a:ext cx="6178" cy="1643447"/>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flipH="1">
            <a:off x="4158666" y="1754957"/>
            <a:ext cx="1956487" cy="718868"/>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6115153" y="1754957"/>
            <a:ext cx="1804087" cy="691063"/>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H="1" flipV="1">
            <a:off x="7919240" y="2446020"/>
            <a:ext cx="6178" cy="1615645"/>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flipH="1" flipV="1">
            <a:off x="5392283" y="2473825"/>
            <a:ext cx="6178" cy="1643447"/>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H="1">
            <a:off x="5392283" y="1754957"/>
            <a:ext cx="1956487" cy="718868"/>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a:off x="7348770" y="1754957"/>
            <a:ext cx="1804087" cy="691063"/>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H="1" flipV="1">
            <a:off x="9152857" y="2446020"/>
            <a:ext cx="6178" cy="1615645"/>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2053899" y="4191412"/>
            <a:ext cx="3849130" cy="766119"/>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N</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ectangle 78"/>
          <p:cNvSpPr/>
          <p:nvPr/>
        </p:nvSpPr>
        <p:spPr>
          <a:xfrm>
            <a:off x="5903029" y="4191411"/>
            <a:ext cx="3849130" cy="766119"/>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25" name="Rectangle 24"/>
          <p:cNvSpPr/>
          <p:nvPr/>
        </p:nvSpPr>
        <p:spPr>
          <a:xfrm>
            <a:off x="7589623" y="4389804"/>
            <a:ext cx="312906" cy="369332"/>
          </a:xfrm>
          <a:prstGeom prst="rect">
            <a:avLst/>
          </a:prstGeom>
        </p:spPr>
        <p:txBody>
          <a:bodyPr wrap="none">
            <a:spAutoFit/>
          </a:bodyPr>
          <a:lstStyle/>
          <a:p>
            <a:pPr algn="ctr"/>
            <a:r>
              <a:rPr lang="en-US" dirty="0">
                <a:latin typeface="Times New Roman" panose="02020603050405020304" pitchFamily="18" charset="0"/>
                <a:cs typeface="Times New Roman" panose="02020603050405020304" pitchFamily="18" charset="0"/>
              </a:rPr>
              <a:t>S</a:t>
            </a:r>
            <a:endParaRPr lang="sv-SE" dirty="0">
              <a:latin typeface="Times New Roman" panose="02020603050405020304" pitchFamily="18" charset="0"/>
              <a:cs typeface="Times New Roman" panose="02020603050405020304" pitchFamily="18" charset="0"/>
            </a:endParaRPr>
          </a:p>
        </p:txBody>
      </p:sp>
      <p:sp>
        <p:nvSpPr>
          <p:cNvPr id="27" name="Rectangle 26"/>
          <p:cNvSpPr/>
          <p:nvPr/>
        </p:nvSpPr>
        <p:spPr>
          <a:xfrm>
            <a:off x="2053899"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28" name="Oval 27"/>
          <p:cNvSpPr/>
          <p:nvPr/>
        </p:nvSpPr>
        <p:spPr>
          <a:xfrm>
            <a:off x="2229983"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0" name="Rectangle 79"/>
          <p:cNvSpPr/>
          <p:nvPr/>
        </p:nvSpPr>
        <p:spPr>
          <a:xfrm>
            <a:off x="5309905"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1" name="Oval 80"/>
          <p:cNvSpPr/>
          <p:nvPr/>
        </p:nvSpPr>
        <p:spPr>
          <a:xfrm>
            <a:off x="5485989"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2" name="Rectangle 81"/>
          <p:cNvSpPr/>
          <p:nvPr/>
        </p:nvSpPr>
        <p:spPr>
          <a:xfrm>
            <a:off x="5916416"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3" name="Oval 82"/>
          <p:cNvSpPr/>
          <p:nvPr/>
        </p:nvSpPr>
        <p:spPr>
          <a:xfrm>
            <a:off x="6092500"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4" name="Rectangle 83"/>
          <p:cNvSpPr/>
          <p:nvPr/>
        </p:nvSpPr>
        <p:spPr>
          <a:xfrm>
            <a:off x="9168304"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5" name="Oval 84"/>
          <p:cNvSpPr/>
          <p:nvPr/>
        </p:nvSpPr>
        <p:spPr>
          <a:xfrm>
            <a:off x="9344388"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30" name="Rectangle 29"/>
          <p:cNvSpPr/>
          <p:nvPr/>
        </p:nvSpPr>
        <p:spPr>
          <a:xfrm>
            <a:off x="4279828" y="1071213"/>
            <a:ext cx="2929007" cy="369332"/>
          </a:xfrm>
          <a:prstGeom prst="rect">
            <a:avLst/>
          </a:prstGeom>
        </p:spPr>
        <p:txBody>
          <a:bodyPr wrap="none">
            <a:spAutoFit/>
          </a:bodyPr>
          <a:lstStyle/>
          <a:p>
            <a:r>
              <a:rPr lang="sv-SE" dirty="0" err="1" smtClean="0">
                <a:latin typeface="Times New Roman" panose="02020603050405020304" pitchFamily="18" charset="0"/>
                <a:cs typeface="Times New Roman" panose="02020603050405020304" pitchFamily="18" charset="0"/>
              </a:rPr>
              <a:t>Linearized</a:t>
            </a:r>
            <a:r>
              <a:rPr lang="sv-SE" dirty="0" smtClean="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slot</a:t>
            </a:r>
            <a:r>
              <a:rPr lang="sv-SE" dirty="0">
                <a:latin typeface="Times New Roman" panose="02020603050405020304" pitchFamily="18" charset="0"/>
                <a:cs typeface="Times New Roman" panose="02020603050405020304" pitchFamily="18" charset="0"/>
              </a:rPr>
              <a:t> representation</a:t>
            </a:r>
          </a:p>
        </p:txBody>
      </p:sp>
      <p:cxnSp>
        <p:nvCxnSpPr>
          <p:cNvPr id="33" name="Straight Arrow Connector 32"/>
          <p:cNvCxnSpPr/>
          <p:nvPr/>
        </p:nvCxnSpPr>
        <p:spPr>
          <a:xfrm flipH="1">
            <a:off x="1313447" y="3057703"/>
            <a:ext cx="381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408779" y="2873037"/>
            <a:ext cx="904668"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Stator</a:t>
            </a:r>
            <a:endParaRPr lang="sv-SE" dirty="0">
              <a:latin typeface="Times New Roman" panose="02020603050405020304" pitchFamily="18" charset="0"/>
              <a:cs typeface="Times New Roman" panose="02020603050405020304" pitchFamily="18" charset="0"/>
            </a:endParaRPr>
          </a:p>
        </p:txBody>
      </p:sp>
      <p:cxnSp>
        <p:nvCxnSpPr>
          <p:cNvPr id="86" name="Straight Arrow Connector 85"/>
          <p:cNvCxnSpPr/>
          <p:nvPr/>
        </p:nvCxnSpPr>
        <p:spPr>
          <a:xfrm>
            <a:off x="9851219" y="4589363"/>
            <a:ext cx="5476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10398853" y="4396323"/>
            <a:ext cx="904668"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Rotor</a:t>
            </a:r>
            <a:endParaRPr lang="sv-SE" dirty="0">
              <a:latin typeface="Times New Roman" panose="02020603050405020304" pitchFamily="18" charset="0"/>
              <a:cs typeface="Times New Roman" panose="02020603050405020304" pitchFamily="18" charset="0"/>
            </a:endParaRPr>
          </a:p>
        </p:txBody>
      </p:sp>
      <p:sp>
        <p:nvSpPr>
          <p:cNvPr id="89" name="Rectangle 88"/>
          <p:cNvSpPr/>
          <p:nvPr/>
        </p:nvSpPr>
        <p:spPr>
          <a:xfrm>
            <a:off x="2053899" y="3925741"/>
            <a:ext cx="7707529" cy="228600"/>
          </a:xfrm>
          <a:prstGeom prst="rect">
            <a:avLst/>
          </a:prstGeom>
          <a:noFill/>
          <a:ln>
            <a:solidFill>
              <a:srgbClr val="FF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cxnSp>
        <p:nvCxnSpPr>
          <p:cNvPr id="90" name="Straight Arrow Connector 89"/>
          <p:cNvCxnSpPr/>
          <p:nvPr/>
        </p:nvCxnSpPr>
        <p:spPr>
          <a:xfrm flipH="1">
            <a:off x="1337207" y="4040041"/>
            <a:ext cx="621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1" name="TextBox 90"/>
          <p:cNvSpPr txBox="1"/>
          <p:nvPr/>
        </p:nvSpPr>
        <p:spPr>
          <a:xfrm>
            <a:off x="58593" y="3655915"/>
            <a:ext cx="1392913" cy="646331"/>
          </a:xfrm>
          <a:prstGeom prst="rect">
            <a:avLst/>
          </a:prstGeom>
          <a:noFill/>
        </p:spPr>
        <p:txBody>
          <a:bodyPr wrap="square" rtlCol="0">
            <a:spAutoFit/>
          </a:bodyPr>
          <a:lstStyle/>
          <a:p>
            <a:pPr algn="ctr"/>
            <a:r>
              <a:rPr lang="en-US" dirty="0" smtClean="0">
                <a:latin typeface="Times New Roman" panose="02020603050405020304" pitchFamily="18" charset="0"/>
                <a:cs typeface="Times New Roman" panose="02020603050405020304" pitchFamily="18" charset="0"/>
              </a:rPr>
              <a:t>Harvesting coil</a:t>
            </a:r>
            <a:endParaRPr lang="sv-SE" dirty="0">
              <a:latin typeface="Times New Roman" panose="02020603050405020304" pitchFamily="18" charset="0"/>
              <a:cs typeface="Times New Roman" panose="02020603050405020304" pitchFamily="18" charset="0"/>
            </a:endParaRPr>
          </a:p>
        </p:txBody>
      </p:sp>
      <p:sp>
        <p:nvSpPr>
          <p:cNvPr id="97" name="TextBox 96"/>
          <p:cNvSpPr txBox="1"/>
          <p:nvPr/>
        </p:nvSpPr>
        <p:spPr>
          <a:xfrm>
            <a:off x="2414952" y="5150570"/>
            <a:ext cx="8077200" cy="1477328"/>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Mutual inductances between stator windings and harvesting coil: </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A: Positive</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B:  Positive</a:t>
            </a:r>
          </a:p>
          <a:p>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Phase C: Negative</a:t>
            </a:r>
          </a:p>
          <a:p>
            <a:r>
              <a:rPr lang="en-US" dirty="0" smtClean="0">
                <a:latin typeface="Times New Roman" panose="02020603050405020304" pitchFamily="18" charset="0"/>
                <a:cs typeface="Times New Roman" panose="02020603050405020304" pitchFamily="18" charset="0"/>
              </a:rPr>
              <a:t>They are rotation -independent if saturation ignored at this stage.  </a:t>
            </a:r>
          </a:p>
        </p:txBody>
      </p:sp>
      <p:cxnSp>
        <p:nvCxnSpPr>
          <p:cNvPr id="99" name="Straight Connector 98"/>
          <p:cNvCxnSpPr/>
          <p:nvPr/>
        </p:nvCxnSpPr>
        <p:spPr>
          <a:xfrm>
            <a:off x="8359140" y="3726180"/>
            <a:ext cx="3589544" cy="762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10195150" y="3728425"/>
            <a:ext cx="1831247"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Rotating side</a:t>
            </a:r>
            <a:endParaRPr lang="sv-SE" dirty="0">
              <a:latin typeface="Times New Roman" panose="02020603050405020304" pitchFamily="18" charset="0"/>
              <a:cs typeface="Times New Roman" panose="02020603050405020304" pitchFamily="18" charset="0"/>
            </a:endParaRPr>
          </a:p>
        </p:txBody>
      </p:sp>
      <p:sp>
        <p:nvSpPr>
          <p:cNvPr id="102" name="TextBox 101"/>
          <p:cNvSpPr txBox="1"/>
          <p:nvPr/>
        </p:nvSpPr>
        <p:spPr>
          <a:xfrm>
            <a:off x="10180434" y="3324919"/>
            <a:ext cx="1831247"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Stationary side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3501647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Tuned Harvesting Coil</a:t>
            </a:r>
            <a:endParaRPr lang="sv-SE" dirty="0">
              <a:latin typeface="Times New Roman" panose="02020603050405020304" pitchFamily="18"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1292905" y="1439371"/>
            <a:ext cx="8155895" cy="2225485"/>
          </a:xfrm>
          <a:prstGeom prst="rect">
            <a:avLst/>
          </a:prstGeom>
        </p:spPr>
      </p:pic>
      <mc:AlternateContent xmlns:mc="http://schemas.openxmlformats.org/markup-compatibility/2006" xmlns:a14="http://schemas.microsoft.com/office/drawing/2010/main">
        <mc:Choice Requires="a14">
          <p:sp>
            <p:nvSpPr>
              <p:cNvPr id="8" name="TextBox 7"/>
              <p:cNvSpPr txBox="1"/>
              <p:nvPr/>
            </p:nvSpPr>
            <p:spPr>
              <a:xfrm>
                <a:off x="812800" y="236744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p>
            </p:txBody>
          </p:sp>
        </mc:Choice>
        <mc:Fallback xmlns="">
          <p:sp>
            <p:nvSpPr>
              <p:cNvPr id="8" name="TextBox 7"/>
              <p:cNvSpPr txBox="1">
                <a:spLocks noRot="1" noChangeAspect="1" noMove="1" noResize="1" noEditPoints="1" noAdjustHandles="1" noChangeArrowheads="1" noChangeShapeType="1" noTextEdit="1"/>
              </p:cNvSpPr>
              <p:nvPr/>
            </p:nvSpPr>
            <p:spPr>
              <a:xfrm>
                <a:off x="812800" y="2367447"/>
                <a:ext cx="65405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5100977" y="2736779"/>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𝐴</m:t>
                          </m:r>
                        </m:sub>
                      </m:sSub>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5100977" y="2736779"/>
                <a:ext cx="65405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5259727" y="3029339"/>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𝐵</m:t>
                          </m:r>
                        </m:sub>
                      </m:sSub>
                    </m:oMath>
                  </m:oMathPara>
                </a14:m>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5259727" y="3029339"/>
                <a:ext cx="65405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5428002" y="3244596"/>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𝐶</m:t>
                          </m:r>
                        </m:sub>
                      </m:sSub>
                    </m:oMath>
                  </m:oMathPara>
                </a14:m>
                <a:endParaRPr lang="sv-SE" dirty="0"/>
              </a:p>
            </p:txBody>
          </p:sp>
        </mc:Choice>
        <mc:Fallback xmlns="">
          <p:sp>
            <p:nvSpPr>
              <p:cNvPr id="13" name="TextBox 12"/>
              <p:cNvSpPr txBox="1">
                <a:spLocks noRot="1" noChangeAspect="1" noMove="1" noResize="1" noEditPoints="1" noAdjustHandles="1" noChangeArrowheads="1" noChangeShapeType="1" noTextEdit="1"/>
              </p:cNvSpPr>
              <p:nvPr/>
            </p:nvSpPr>
            <p:spPr>
              <a:xfrm>
                <a:off x="5428002" y="3244596"/>
                <a:ext cx="654050"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6183652" y="3059930"/>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𝐻</m:t>
                          </m:r>
                        </m:sub>
                      </m:sSub>
                    </m:oMath>
                  </m:oMathPara>
                </a14:m>
                <a:endParaRPr lang="sv-SE" dirty="0"/>
              </a:p>
            </p:txBody>
          </p:sp>
        </mc:Choice>
        <mc:Fallback xmlns="">
          <p:sp>
            <p:nvSpPr>
              <p:cNvPr id="14" name="TextBox 13"/>
              <p:cNvSpPr txBox="1">
                <a:spLocks noRot="1" noChangeAspect="1" noMove="1" noResize="1" noEditPoints="1" noAdjustHandles="1" noChangeArrowheads="1" noChangeShapeType="1" noTextEdit="1"/>
              </p:cNvSpPr>
              <p:nvPr/>
            </p:nvSpPr>
            <p:spPr>
              <a:xfrm>
                <a:off x="6183652" y="3059930"/>
                <a:ext cx="65405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6723402" y="1695653"/>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𝐶</m:t>
                          </m:r>
                        </m:e>
                        <m:sub>
                          <m:r>
                            <a:rPr lang="en-US" b="0" i="1" smtClean="0">
                              <a:latin typeface="Cambria Math" panose="02040503050406030204" pitchFamily="18" charset="0"/>
                            </a:rPr>
                            <m:t>𝐻</m:t>
                          </m:r>
                        </m:sub>
                      </m:sSub>
                    </m:oMath>
                  </m:oMathPara>
                </a14:m>
                <a:endParaRPr lang="sv-SE" dirty="0"/>
              </a:p>
            </p:txBody>
          </p:sp>
        </mc:Choice>
        <mc:Fallback xmlns="">
          <p:sp>
            <p:nvSpPr>
              <p:cNvPr id="18" name="TextBox 17"/>
              <p:cNvSpPr txBox="1">
                <a:spLocks noRot="1" noChangeAspect="1" noMove="1" noResize="1" noEditPoints="1" noAdjustHandles="1" noChangeArrowheads="1" noChangeShapeType="1" noTextEdit="1"/>
              </p:cNvSpPr>
              <p:nvPr/>
            </p:nvSpPr>
            <p:spPr>
              <a:xfrm>
                <a:off x="6723402" y="1695653"/>
                <a:ext cx="65405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5586752" y="1649501"/>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𝐶𝑜𝑢𝑝𝑙𝑖𝑛𝑔</m:t>
                      </m:r>
                    </m:oMath>
                  </m:oMathPara>
                </a14:m>
                <a:endParaRPr lang="sv-SE" dirty="0"/>
              </a:p>
            </p:txBody>
          </p:sp>
        </mc:Choice>
        <mc:Fallback xmlns="">
          <p:sp>
            <p:nvSpPr>
              <p:cNvPr id="19" name="TextBox 18"/>
              <p:cNvSpPr txBox="1">
                <a:spLocks noRot="1" noChangeAspect="1" noMove="1" noResize="1" noEditPoints="1" noAdjustHandles="1" noChangeArrowheads="1" noChangeShapeType="1" noTextEdit="1"/>
              </p:cNvSpPr>
              <p:nvPr/>
            </p:nvSpPr>
            <p:spPr>
              <a:xfrm>
                <a:off x="5586752" y="1649501"/>
                <a:ext cx="654050" cy="369332"/>
              </a:xfrm>
              <a:prstGeom prst="rect">
                <a:avLst/>
              </a:prstGeom>
              <a:blipFill>
                <a:blip r:embed="rId9"/>
                <a:stretch>
                  <a:fillRect l="-2778" r="-73148" b="-1500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9274855" y="1942330"/>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𝐹</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9274855" y="1942330"/>
                <a:ext cx="654050" cy="369332"/>
              </a:xfrm>
              <a:prstGeom prst="rect">
                <a:avLst/>
              </a:prstGeom>
              <a:blipFill>
                <a:blip r:embed="rId10"/>
                <a:stretch>
                  <a:fillRect b="-1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9274855" y="266000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𝐹</m:t>
                          </m:r>
                        </m:sub>
                      </m:sSub>
                    </m:oMath>
                  </m:oMathPara>
                </a14:m>
                <a:endParaRPr lang="sv-SE" dirty="0"/>
              </a:p>
            </p:txBody>
          </p:sp>
        </mc:Choice>
        <mc:Fallback xmlns="">
          <p:sp>
            <p:nvSpPr>
              <p:cNvPr id="21" name="TextBox 20"/>
              <p:cNvSpPr txBox="1">
                <a:spLocks noRot="1" noChangeAspect="1" noMove="1" noResize="1" noEditPoints="1" noAdjustHandles="1" noChangeArrowheads="1" noChangeShapeType="1" noTextEdit="1"/>
              </p:cNvSpPr>
              <p:nvPr/>
            </p:nvSpPr>
            <p:spPr>
              <a:xfrm>
                <a:off x="9274855" y="2660007"/>
                <a:ext cx="654050" cy="369332"/>
              </a:xfrm>
              <a:prstGeom prst="rect">
                <a:avLst/>
              </a:prstGeom>
              <a:blipFill>
                <a:blip r:embed="rId11"/>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2671914" y="4585684"/>
                <a:ext cx="2429063" cy="10763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𝐴𝐵</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𝐶𝐻</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xmlns="">
          <p:sp>
            <p:nvSpPr>
              <p:cNvPr id="22" name="TextBox 21"/>
              <p:cNvSpPr txBox="1">
                <a:spLocks noRot="1" noChangeAspect="1" noMove="1" noResize="1" noEditPoints="1" noAdjustHandles="1" noChangeArrowheads="1" noChangeShapeType="1" noTextEdit="1"/>
              </p:cNvSpPr>
              <p:nvPr/>
            </p:nvSpPr>
            <p:spPr>
              <a:xfrm>
                <a:off x="2671914" y="4585684"/>
                <a:ext cx="2429063" cy="1076320"/>
              </a:xfrm>
              <a:prstGeom prst="rect">
                <a:avLst/>
              </a:prstGeom>
              <a:blipFill>
                <a:blip r:embed="rId12"/>
                <a:stretch>
                  <a:fillRect/>
                </a:stretch>
              </a:blipFill>
            </p:spPr>
            <p:txBody>
              <a:bodyPr/>
              <a:lstStyle/>
              <a:p>
                <a:r>
                  <a:rPr lang="sv-SE">
                    <a:noFill/>
                  </a:rPr>
                  <a:t> </a:t>
                </a:r>
              </a:p>
            </p:txBody>
          </p:sp>
        </mc:Fallback>
      </mc:AlternateContent>
      <p:sp>
        <p:nvSpPr>
          <p:cNvPr id="23" name="TextBox 22"/>
          <p:cNvSpPr txBox="1"/>
          <p:nvPr/>
        </p:nvSpPr>
        <p:spPr>
          <a:xfrm>
            <a:off x="863600" y="4928584"/>
            <a:ext cx="1924050" cy="646331"/>
          </a:xfrm>
          <a:prstGeom prst="rect">
            <a:avLst/>
          </a:prstGeom>
          <a:noFill/>
        </p:spPr>
        <p:txBody>
          <a:bodyPr wrap="square" rtlCol="0">
            <a:spAutoFit/>
          </a:bodyPr>
          <a:lstStyle/>
          <a:p>
            <a:pPr algn="ctr"/>
            <a:r>
              <a:rPr lang="en-US" dirty="0" smtClean="0"/>
              <a:t>Inductance Matrix</a:t>
            </a:r>
            <a:endParaRPr lang="sv-SE" dirty="0"/>
          </a:p>
        </p:txBody>
      </p:sp>
      <mc:AlternateContent xmlns:mc="http://schemas.openxmlformats.org/markup-compatibility/2006" xmlns:a14="http://schemas.microsoft.com/office/drawing/2010/main">
        <mc:Choice Requires="a14">
          <p:sp>
            <p:nvSpPr>
              <p:cNvPr id="24" name="TextBox 23"/>
              <p:cNvSpPr txBox="1"/>
              <p:nvPr/>
            </p:nvSpPr>
            <p:spPr>
              <a:xfrm>
                <a:off x="7496342" y="4528218"/>
                <a:ext cx="1952458" cy="1046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r>
                                <a:rPr lang="en-US" b="0" i="1" smtClean="0">
                                  <a:latin typeface="Cambria Math" panose="02040503050406030204" pitchFamily="18" charset="0"/>
                                </a:rPr>
                                <m:t>−</m:t>
                              </m:r>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𝑀</m:t>
                              </m:r>
                            </m:e>
                            <m:e>
                              <m:r>
                                <a:rPr lang="en-US" b="0" i="1" smtClean="0">
                                  <a:latin typeface="Cambria Math" panose="02040503050406030204" pitchFamily="18" charset="0"/>
                                </a:rPr>
                                <m:t>𝑀</m:t>
                              </m:r>
                            </m:e>
                            <m:e>
                              <m:r>
                                <a:rPr lang="en-US" b="0" i="1" smtClean="0">
                                  <a:latin typeface="Cambria Math" panose="02040503050406030204" pitchFamily="18" charset="0"/>
                                </a:rPr>
                                <m:t>−</m:t>
                              </m:r>
                              <m:r>
                                <a:rPr lang="en-US" b="0" i="1" smtClean="0">
                                  <a:latin typeface="Cambria Math" panose="02040503050406030204" pitchFamily="18" charset="0"/>
                                </a:rPr>
                                <m:t>𝑀</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xmlns="">
          <p:sp>
            <p:nvSpPr>
              <p:cNvPr id="24" name="TextBox 23"/>
              <p:cNvSpPr txBox="1">
                <a:spLocks noRot="1" noChangeAspect="1" noMove="1" noResize="1" noEditPoints="1" noAdjustHandles="1" noChangeArrowheads="1" noChangeShapeType="1" noTextEdit="1"/>
              </p:cNvSpPr>
              <p:nvPr/>
            </p:nvSpPr>
            <p:spPr>
              <a:xfrm>
                <a:off x="7496342" y="4528218"/>
                <a:ext cx="1952458" cy="1046697"/>
              </a:xfrm>
              <a:prstGeom prst="rect">
                <a:avLst/>
              </a:prstGeom>
              <a:blipFill>
                <a:blip r:embed="rId13"/>
                <a:stretch>
                  <a:fillRect/>
                </a:stretch>
              </a:blipFill>
            </p:spPr>
            <p:txBody>
              <a:bodyPr/>
              <a:lstStyle/>
              <a:p>
                <a:r>
                  <a:rPr lang="sv-SE">
                    <a:noFill/>
                  </a:rPr>
                  <a:t> </a:t>
                </a:r>
              </a:p>
            </p:txBody>
          </p:sp>
        </mc:Fallback>
      </mc:AlternateContent>
      <p:sp>
        <p:nvSpPr>
          <p:cNvPr id="25" name="TextBox 24"/>
          <p:cNvSpPr txBox="1"/>
          <p:nvPr/>
        </p:nvSpPr>
        <p:spPr>
          <a:xfrm>
            <a:off x="5651500" y="4655025"/>
            <a:ext cx="1924050" cy="923330"/>
          </a:xfrm>
          <a:prstGeom prst="rect">
            <a:avLst/>
          </a:prstGeom>
          <a:noFill/>
        </p:spPr>
        <p:txBody>
          <a:bodyPr wrap="square" rtlCol="0">
            <a:spAutoFit/>
          </a:bodyPr>
          <a:lstStyle/>
          <a:p>
            <a:pPr algn="ctr"/>
            <a:r>
              <a:rPr lang="en-US" dirty="0" smtClean="0"/>
              <a:t>Simplified</a:t>
            </a:r>
          </a:p>
          <a:p>
            <a:pPr algn="ctr"/>
            <a:r>
              <a:rPr lang="en-US" dirty="0" smtClean="0"/>
              <a:t>Inductance Matrix</a:t>
            </a:r>
            <a:endParaRPr lang="sv-SE" dirty="0"/>
          </a:p>
        </p:txBody>
      </p:sp>
    </p:spTree>
    <p:extLst>
      <p:ext uri="{BB962C8B-B14F-4D97-AF65-F5344CB8AC3E}">
        <p14:creationId xmlns:p14="http://schemas.microsoft.com/office/powerpoint/2010/main" val="2910022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Switching Harmonics</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D861EF1C-FC07-4F4D-AD05-ADD6BD8284BC}"/>
              </a:ext>
            </a:extLst>
          </p:cNvPr>
          <p:cNvPicPr/>
          <p:nvPr/>
        </p:nvPicPr>
        <p:blipFill>
          <a:blip r:embed="rId2"/>
          <a:stretch>
            <a:fillRect/>
          </a:stretch>
        </p:blipFill>
        <p:spPr>
          <a:xfrm>
            <a:off x="67090" y="2374640"/>
            <a:ext cx="5731510" cy="1574165"/>
          </a:xfrm>
          <a:prstGeom prst="rect">
            <a:avLst/>
          </a:prstGeom>
        </p:spPr>
      </p:pic>
      <p:sp>
        <p:nvSpPr>
          <p:cNvPr id="4" name="Rectangle 3">
            <a:extLst>
              <a:ext uri="{FF2B5EF4-FFF2-40B4-BE49-F238E27FC236}">
                <a16:creationId xmlns:a16="http://schemas.microsoft.com/office/drawing/2014/main" id="{5A3108BC-EC60-41B7-9DE7-25CD3F59FA91}"/>
              </a:ext>
            </a:extLst>
          </p:cNvPr>
          <p:cNvSpPr/>
          <p:nvPr/>
        </p:nvSpPr>
        <p:spPr>
          <a:xfrm>
            <a:off x="2430351" y="2657698"/>
            <a:ext cx="2698124" cy="56023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A5454CE5-FC21-4362-8C38-524C0EFA2397}"/>
              </a:ext>
            </a:extLst>
          </p:cNvPr>
          <p:cNvSpPr/>
          <p:nvPr/>
        </p:nvSpPr>
        <p:spPr>
          <a:xfrm>
            <a:off x="411163" y="3161722"/>
            <a:ext cx="4833221" cy="560231"/>
          </a:xfrm>
          <a:prstGeom prst="rect">
            <a:avLst/>
          </a:prstGeom>
          <a:noFill/>
          <a:ln w="19050">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8AA4BF69-5419-4F25-88D1-832DA3C6D472}"/>
              </a:ext>
            </a:extLst>
          </p:cNvPr>
          <p:cNvSpPr/>
          <p:nvPr/>
        </p:nvSpPr>
        <p:spPr>
          <a:xfrm>
            <a:off x="1335646" y="2657698"/>
            <a:ext cx="978795" cy="504024"/>
          </a:xfrm>
          <a:prstGeom prst="rect">
            <a:avLst/>
          </a:prstGeom>
          <a:noFill/>
          <a:ln w="19050">
            <a:solidFill>
              <a:srgbClr val="92D05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cxnSp>
        <p:nvCxnSpPr>
          <p:cNvPr id="7" name="Straight Arrow Connector 6">
            <a:extLst>
              <a:ext uri="{FF2B5EF4-FFF2-40B4-BE49-F238E27FC236}">
                <a16:creationId xmlns:a16="http://schemas.microsoft.com/office/drawing/2014/main" id="{41EC99C5-6233-4445-81E8-85D2247B25DD}"/>
              </a:ext>
            </a:extLst>
          </p:cNvPr>
          <p:cNvCxnSpPr>
            <a:cxnSpLocks/>
          </p:cNvCxnSpPr>
          <p:nvPr/>
        </p:nvCxnSpPr>
        <p:spPr>
          <a:xfrm flipV="1">
            <a:off x="1889438" y="2000876"/>
            <a:ext cx="0" cy="598869"/>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489FAB4-9E9B-4F98-8727-CD4EA1858346}"/>
              </a:ext>
            </a:extLst>
          </p:cNvPr>
          <p:cNvCxnSpPr/>
          <p:nvPr/>
        </p:nvCxnSpPr>
        <p:spPr>
          <a:xfrm flipV="1">
            <a:off x="3924300" y="1878527"/>
            <a:ext cx="0" cy="72121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E7E0211-5B96-4CB1-B7D0-A19736BBF3BF}"/>
              </a:ext>
            </a:extLst>
          </p:cNvPr>
          <p:cNvCxnSpPr/>
          <p:nvPr/>
        </p:nvCxnSpPr>
        <p:spPr>
          <a:xfrm>
            <a:off x="2778081" y="3794259"/>
            <a:ext cx="0" cy="5698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C12D69BA-DCCB-4D4B-A3CC-56E4B778A8F0}"/>
              </a:ext>
            </a:extLst>
          </p:cNvPr>
          <p:cNvSpPr txBox="1"/>
          <p:nvPr/>
        </p:nvSpPr>
        <p:spPr>
          <a:xfrm>
            <a:off x="2314441" y="4370535"/>
            <a:ext cx="221516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Side Band harmonics</a:t>
            </a:r>
          </a:p>
        </p:txBody>
      </p:sp>
      <p:sp>
        <p:nvSpPr>
          <p:cNvPr id="11" name="TextBox 10">
            <a:extLst>
              <a:ext uri="{FF2B5EF4-FFF2-40B4-BE49-F238E27FC236}">
                <a16:creationId xmlns:a16="http://schemas.microsoft.com/office/drawing/2014/main" id="{D1CBEC4E-B32C-4B6C-BF5D-3ACAC6135FF0}"/>
              </a:ext>
            </a:extLst>
          </p:cNvPr>
          <p:cNvSpPr txBox="1"/>
          <p:nvPr/>
        </p:nvSpPr>
        <p:spPr>
          <a:xfrm>
            <a:off x="1538701" y="1503058"/>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Fundamental </a:t>
            </a:r>
          </a:p>
          <a:p>
            <a:r>
              <a:rPr lang="en-US" sz="1200" dirty="0">
                <a:latin typeface="Times New Roman" panose="02020603050405020304" pitchFamily="18" charset="0"/>
                <a:cs typeface="Times New Roman" panose="02020603050405020304" pitchFamily="18" charset="0"/>
              </a:rPr>
              <a:t>Component</a:t>
            </a:r>
          </a:p>
        </p:txBody>
      </p:sp>
      <p:sp>
        <p:nvSpPr>
          <p:cNvPr id="12" name="TextBox 11">
            <a:extLst>
              <a:ext uri="{FF2B5EF4-FFF2-40B4-BE49-F238E27FC236}">
                <a16:creationId xmlns:a16="http://schemas.microsoft.com/office/drawing/2014/main" id="{73691F5D-5F6A-4F8D-892E-8A0B59CE6AAA}"/>
              </a:ext>
            </a:extLst>
          </p:cNvPr>
          <p:cNvSpPr txBox="1"/>
          <p:nvPr/>
        </p:nvSpPr>
        <p:spPr>
          <a:xfrm>
            <a:off x="3563692" y="1471278"/>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Switching </a:t>
            </a:r>
          </a:p>
          <a:p>
            <a:r>
              <a:rPr lang="en-US" sz="1200" dirty="0">
                <a:latin typeface="Times New Roman" panose="02020603050405020304" pitchFamily="18" charset="0"/>
                <a:cs typeface="Times New Roman" panose="02020603050405020304" pitchFamily="18" charset="0"/>
              </a:rPr>
              <a:t>Harmonics</a:t>
            </a:r>
          </a:p>
        </p:txBody>
      </p:sp>
      <p:cxnSp>
        <p:nvCxnSpPr>
          <p:cNvPr id="13" name="Straight Arrow Connector 12">
            <a:extLst>
              <a:ext uri="{FF2B5EF4-FFF2-40B4-BE49-F238E27FC236}">
                <a16:creationId xmlns:a16="http://schemas.microsoft.com/office/drawing/2014/main" id="{80537209-9112-4E21-932F-ACEA6599AE58}"/>
              </a:ext>
            </a:extLst>
          </p:cNvPr>
          <p:cNvCxnSpPr>
            <a:cxnSpLocks/>
          </p:cNvCxnSpPr>
          <p:nvPr/>
        </p:nvCxnSpPr>
        <p:spPr>
          <a:xfrm flipH="1">
            <a:off x="1816100" y="3575264"/>
            <a:ext cx="8945" cy="11427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73BE59F-68E0-4C78-86A7-D482F93E9E98}"/>
                  </a:ext>
                </a:extLst>
              </p:cNvPr>
              <p:cNvSpPr txBox="1"/>
              <p:nvPr/>
            </p:nvSpPr>
            <p:spPr>
              <a:xfrm>
                <a:off x="955295" y="4705586"/>
                <a:ext cx="2138318" cy="280333"/>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𝑛</m:t>
                        </m:r>
                      </m:e>
                      <m:sup>
                        <m:r>
                          <a:rPr lang="en-US" sz="1200" b="0" i="1" smtClean="0">
                            <a:latin typeface="Cambria Math" panose="02040503050406030204" pitchFamily="18" charset="0"/>
                          </a:rPr>
                          <m:t>𝑡h</m:t>
                        </m:r>
                      </m:sup>
                    </m:sSup>
                    <m:r>
                      <a:rPr lang="en-US" sz="1200" b="0" i="1" smtClean="0">
                        <a:latin typeface="Cambria Math" panose="02040503050406030204" pitchFamily="18" charset="0"/>
                      </a:rPr>
                      <m:t> </m:t>
                    </m:r>
                  </m:oMath>
                </a14:m>
                <a:r>
                  <a:rPr lang="en-US" sz="1200" dirty="0">
                    <a:latin typeface="Times New Roman" panose="02020603050405020304" pitchFamily="18" charset="0"/>
                    <a:cs typeface="Times New Roman" panose="02020603050405020304" pitchFamily="18" charset="0"/>
                  </a:rPr>
                  <a:t> order)</a:t>
                </a:r>
              </a:p>
            </p:txBody>
          </p:sp>
        </mc:Choice>
        <mc:Fallback xmlns="">
          <p:sp>
            <p:nvSpPr>
              <p:cNvPr id="14" name="TextBox 13">
                <a:extLst>
                  <a:ext uri="{FF2B5EF4-FFF2-40B4-BE49-F238E27FC236}">
                    <a16:creationId xmlns:a16="http://schemas.microsoft.com/office/drawing/2014/main" id="{A73BE59F-68E0-4C78-86A7-D482F93E9E98}"/>
                  </a:ext>
                </a:extLst>
              </p:cNvPr>
              <p:cNvSpPr txBox="1">
                <a:spLocks noRot="1" noChangeAspect="1" noMove="1" noResize="1" noEditPoints="1" noAdjustHandles="1" noChangeArrowheads="1" noChangeShapeType="1" noTextEdit="1"/>
              </p:cNvSpPr>
              <p:nvPr/>
            </p:nvSpPr>
            <p:spPr>
              <a:xfrm>
                <a:off x="955295" y="4705586"/>
                <a:ext cx="2138318" cy="280333"/>
              </a:xfrm>
              <a:prstGeom prst="rect">
                <a:avLst/>
              </a:prstGeom>
              <a:blipFill>
                <a:blip r:embed="rId3"/>
                <a:stretch>
                  <a:fillRect l="-286" b="-1739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B4F7D59-DB01-426A-9411-F7D88A1CF9BD}"/>
                  </a:ext>
                </a:extLst>
              </p:cNvPr>
              <p:cNvSpPr txBox="1"/>
              <p:nvPr/>
            </p:nvSpPr>
            <p:spPr>
              <a:xfrm>
                <a:off x="2308002" y="1135956"/>
                <a:ext cx="2138318"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r>
                      <a:rPr lang="en-US" sz="1200" b="0" i="1" smtClean="0">
                        <a:latin typeface="Cambria Math" panose="02040503050406030204" pitchFamily="18" charset="0"/>
                      </a:rPr>
                      <m:t>0 </m:t>
                    </m:r>
                  </m:oMath>
                </a14:m>
                <a:r>
                  <a:rPr lang="en-US" sz="1200" dirty="0">
                    <a:latin typeface="Times New Roman" panose="02020603050405020304" pitchFamily="18" charset="0"/>
                    <a:cs typeface="Times New Roman" panose="02020603050405020304" pitchFamily="18" charset="0"/>
                  </a:rPr>
                  <a:t> order)</a:t>
                </a:r>
              </a:p>
            </p:txBody>
          </p:sp>
        </mc:Choice>
        <mc:Fallback xmlns="">
          <p:sp>
            <p:nvSpPr>
              <p:cNvPr id="15" name="TextBox 14">
                <a:extLst>
                  <a:ext uri="{FF2B5EF4-FFF2-40B4-BE49-F238E27FC236}">
                    <a16:creationId xmlns:a16="http://schemas.microsoft.com/office/drawing/2014/main" id="{0B4F7D59-DB01-426A-9411-F7D88A1CF9BD}"/>
                  </a:ext>
                </a:extLst>
              </p:cNvPr>
              <p:cNvSpPr txBox="1">
                <a:spLocks noRot="1" noChangeAspect="1" noMove="1" noResize="1" noEditPoints="1" noAdjustHandles="1" noChangeArrowheads="1" noChangeShapeType="1" noTextEdit="1"/>
              </p:cNvSpPr>
              <p:nvPr/>
            </p:nvSpPr>
            <p:spPr>
              <a:xfrm>
                <a:off x="2308002" y="1135956"/>
                <a:ext cx="2138318" cy="276999"/>
              </a:xfrm>
              <a:prstGeom prst="rect">
                <a:avLst/>
              </a:prstGeom>
              <a:blipFill>
                <a:blip r:embed="rId4"/>
                <a:stretch>
                  <a:fillRect l="-286" b="-15217"/>
                </a:stretch>
              </a:blipFill>
            </p:spPr>
            <p:txBody>
              <a:bodyPr/>
              <a:lstStyle/>
              <a:p>
                <a:r>
                  <a:rPr lang="sv-SE">
                    <a:noFill/>
                  </a:rPr>
                  <a:t> </a:t>
                </a:r>
              </a:p>
            </p:txBody>
          </p:sp>
        </mc:Fallback>
      </mc:AlternateContent>
      <p:cxnSp>
        <p:nvCxnSpPr>
          <p:cNvPr id="16" name="Straight Arrow Connector 15">
            <a:extLst>
              <a:ext uri="{FF2B5EF4-FFF2-40B4-BE49-F238E27FC236}">
                <a16:creationId xmlns:a16="http://schemas.microsoft.com/office/drawing/2014/main" id="{2C5C3BD8-591A-4A60-8BB8-A042AD860C1D}"/>
              </a:ext>
            </a:extLst>
          </p:cNvPr>
          <p:cNvCxnSpPr/>
          <p:nvPr/>
        </p:nvCxnSpPr>
        <p:spPr>
          <a:xfrm flipV="1">
            <a:off x="3093613" y="1382177"/>
            <a:ext cx="0" cy="14236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2DB45B5-B7AB-4525-82BE-549C98A5F62A}"/>
              </a:ext>
            </a:extLst>
          </p:cNvPr>
          <p:cNvSpPr txBox="1"/>
          <p:nvPr/>
        </p:nvSpPr>
        <p:spPr>
          <a:xfrm>
            <a:off x="1039211" y="5139780"/>
            <a:ext cx="7527700" cy="1446550"/>
          </a:xfrm>
          <a:prstGeom prst="rect">
            <a:avLst/>
          </a:prstGeom>
          <a:noFill/>
        </p:spPr>
        <p:txBody>
          <a:bodyPr wrap="square" rtlCol="0">
            <a:spAutoFit/>
          </a:bodyPr>
          <a:lstStyle/>
          <a:p>
            <a:r>
              <a:rPr lang="en-US" sz="1400" dirty="0">
                <a:latin typeface="Times New Roman" panose="02020603050405020304" pitchFamily="18" charset="0"/>
                <a:cs typeface="Times New Roman" panose="02020603050405020304" pitchFamily="18" charset="0"/>
              </a:rPr>
              <a:t>Deductions</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Fundamental component is independent from carrier(switching) frequency and </a:t>
            </a:r>
            <a:r>
              <a:rPr lang="en-US" sz="1400" dirty="0" smtClean="0">
                <a:latin typeface="Times New Roman" panose="02020603050405020304" pitchFamily="18" charset="0"/>
                <a:cs typeface="Times New Roman" panose="02020603050405020304" pitchFamily="18" charset="0"/>
              </a:rPr>
              <a:t>phase.</a:t>
            </a:r>
            <a:endParaRPr lang="en-US" sz="1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There is no even harmonics of the switching and the sign of the odd harmonics is alternated.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switching harmonics are independent from fundamental frequency and phase.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side band harmonics are affected by all fundamental and carrier frequency and phases. </a:t>
            </a:r>
          </a:p>
          <a:p>
            <a:endParaRPr lang="en-US" dirty="0"/>
          </a:p>
        </p:txBody>
      </p:sp>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93A09D5B-9596-41F4-983A-AFB3D4226460}"/>
                  </a:ext>
                </a:extLst>
              </p:cNvPr>
              <p:cNvSpPr/>
              <p:nvPr/>
            </p:nvSpPr>
            <p:spPr>
              <a:xfrm>
                <a:off x="6060459" y="2001769"/>
                <a:ext cx="5529328" cy="1815882"/>
              </a:xfrm>
              <a:prstGeom prst="rect">
                <a:avLst/>
              </a:prstGeom>
            </p:spPr>
            <p:txBody>
              <a:bodyPr wrap="square">
                <a:spAutoFit/>
              </a:bodyPr>
              <a:lstStyle/>
              <a:p>
                <a:r>
                  <a:rPr lang="tr-TR" sz="1600" dirty="0">
                    <a:latin typeface="Times New Roman" panose="02020603050405020304" pitchFamily="18" charset="0"/>
                    <a:cs typeface="Times New Roman" panose="02020603050405020304" pitchFamily="18" charset="0"/>
                  </a:rPr>
                  <a:t>Parameters: </a:t>
                </a:r>
              </a:p>
              <a:p>
                <a:endParaRPr lang="tr-TR" sz="1600" dirty="0">
                  <a:latin typeface="Times New Roman" panose="02020603050405020304" pitchFamily="18" charset="0"/>
                  <a:cs typeface="Times New Roman" panose="02020603050405020304" pitchFamily="18" charset="0"/>
                </a:endParaRPr>
              </a:p>
              <a:p>
                <a14:m>
                  <m:oMath xmlns:m="http://schemas.openxmlformats.org/officeDocument/2006/math">
                    <m:r>
                      <a:rPr lang="en-US" sz="1600" i="1" dirty="0" smtClean="0">
                        <a:solidFill>
                          <a:srgbClr val="000000"/>
                        </a:solidFill>
                        <a:latin typeface="Cambria Math" panose="02040503050406030204" pitchFamily="18" charset="0"/>
                      </a:rPr>
                      <m:t>𝑀</m:t>
                    </m:r>
                  </m:oMath>
                </a14:m>
                <a:r>
                  <a:rPr lang="en-US" sz="1600" dirty="0">
                    <a:solidFill>
                      <a:srgbClr val="000000"/>
                    </a:solidFill>
                    <a:latin typeface="Times New Roman" panose="02020603050405020304" pitchFamily="18" charset="0"/>
                    <a:cs typeface="Times New Roman" panose="02020603050405020304" pitchFamily="18" charset="0"/>
                  </a:rPr>
                  <a:t> =&gt; </a:t>
                </a:r>
                <a:r>
                  <a:rPr lang="en-US" sz="1600" dirty="0">
                    <a:solidFill>
                      <a:srgbClr val="228B22"/>
                    </a:solidFill>
                    <a:latin typeface="Times New Roman" panose="02020603050405020304" pitchFamily="18" charset="0"/>
                    <a:cs typeface="Times New Roman" panose="02020603050405020304" pitchFamily="18" charset="0"/>
                  </a:rPr>
                  <a:t>modulation index</a:t>
                </a:r>
              </a:p>
              <a:p>
                <a14:m>
                  <m:oMath xmlns:m="http://schemas.openxmlformats.org/officeDocument/2006/math">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=&gt;</a:t>
                </a:r>
                <a:r>
                  <a:rPr lang="en-US" sz="1600" dirty="0">
                    <a:solidFill>
                      <a:srgbClr val="228B22"/>
                    </a:solidFill>
                    <a:latin typeface="Times New Roman" panose="02020603050405020304" pitchFamily="18" charset="0"/>
                    <a:cs typeface="Times New Roman" panose="02020603050405020304" pitchFamily="18" charset="0"/>
                  </a:rPr>
                  <a:t> output(fundamental) frequency</a:t>
                </a:r>
              </a:p>
              <a:p>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𝑐</m:t>
                        </m:r>
                      </m:sub>
                    </m:sSub>
                    <m:r>
                      <a:rPr lang="en-US" sz="1600" i="1">
                        <a:solidFill>
                          <a:srgbClr val="000000"/>
                        </a:solidFill>
                        <a:latin typeface="Cambria Math" panose="02040503050406030204" pitchFamily="18" charset="0"/>
                      </a:rPr>
                      <m:t> </m:t>
                    </m:r>
                  </m:oMath>
                </a14:m>
                <a:r>
                  <a:rPr lang="en-US" sz="1600" dirty="0">
                    <a:solidFill>
                      <a:srgbClr val="000000"/>
                    </a:solidFill>
                    <a:latin typeface="Times New Roman" panose="02020603050405020304" pitchFamily="18" charset="0"/>
                    <a:cs typeface="Times New Roman" panose="02020603050405020304" pitchFamily="18" charset="0"/>
                  </a:rPr>
                  <a:t>=&gt; </a:t>
                </a:r>
                <a:r>
                  <a:rPr lang="en-US" sz="1600" dirty="0">
                    <a:solidFill>
                      <a:srgbClr val="228B22"/>
                    </a:solidFill>
                    <a:latin typeface="Times New Roman" panose="02020603050405020304" pitchFamily="18" charset="0"/>
                    <a:cs typeface="Times New Roman" panose="02020603050405020304" pitchFamily="18" charset="0"/>
                  </a:rPr>
                  <a:t>carrier(switching) frequency </a:t>
                </a:r>
              </a:p>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output phase</a:t>
                </a:r>
              </a:p>
              <a:p>
                <a14:m>
                  <m:oMath xmlns:m="http://schemas.openxmlformats.org/officeDocument/2006/math">
                    <m:sSub>
                      <m:sSubPr>
                        <m:ctrlPr>
                          <a:rPr lang="en-US" sz="1600" i="1" dirty="0">
                            <a:solidFill>
                              <a:srgbClr val="000000"/>
                            </a:solidFill>
                            <a:latin typeface="Cambria Math" panose="02040503050406030204" pitchFamily="18" charset="0"/>
                          </a:rPr>
                        </m:ctrlPr>
                      </m:sSubPr>
                      <m:e>
                        <m:r>
                          <a:rPr lang="en-US" sz="1600" i="1" dirty="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𝑐</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carrier phase</a:t>
                </a:r>
              </a:p>
            </p:txBody>
          </p:sp>
        </mc:Choice>
        <mc:Fallback xmlns="">
          <p:sp>
            <p:nvSpPr>
              <p:cNvPr id="33" name="Rectangle 32">
                <a:extLst>
                  <a:ext uri="{FF2B5EF4-FFF2-40B4-BE49-F238E27FC236}">
                    <a16:creationId xmlns:a16="http://schemas.microsoft.com/office/drawing/2014/main" id="{93A09D5B-9596-41F4-983A-AFB3D4226460}"/>
                  </a:ext>
                </a:extLst>
              </p:cNvPr>
              <p:cNvSpPr>
                <a:spLocks noRot="1" noChangeAspect="1" noMove="1" noResize="1" noEditPoints="1" noAdjustHandles="1" noChangeArrowheads="1" noChangeShapeType="1" noTextEdit="1"/>
              </p:cNvSpPr>
              <p:nvPr/>
            </p:nvSpPr>
            <p:spPr>
              <a:xfrm>
                <a:off x="6060459" y="2001769"/>
                <a:ext cx="5529328" cy="1815882"/>
              </a:xfrm>
              <a:prstGeom prst="rect">
                <a:avLst/>
              </a:prstGeom>
              <a:blipFill>
                <a:blip r:embed="rId5"/>
                <a:stretch>
                  <a:fillRect l="-551" t="-1007" b="-3356"/>
                </a:stretch>
              </a:blipFill>
            </p:spPr>
            <p:txBody>
              <a:bodyPr/>
              <a:lstStyle/>
              <a:p>
                <a:r>
                  <a:rPr lang="sv-SE">
                    <a:noFill/>
                  </a:rPr>
                  <a:t> </a:t>
                </a:r>
              </a:p>
            </p:txBody>
          </p:sp>
        </mc:Fallback>
      </mc:AlternateContent>
    </p:spTree>
    <p:extLst>
      <p:ext uri="{BB962C8B-B14F-4D97-AF65-F5344CB8AC3E}">
        <p14:creationId xmlns:p14="http://schemas.microsoft.com/office/powerpoint/2010/main" val="341402136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smtClean="0">
                <a:latin typeface="Times New Roman" panose="02020603050405020304" pitchFamily="18" charset="0"/>
                <a:cs typeface="Times New Roman" panose="02020603050405020304" pitchFamily="18" charset="0"/>
              </a:rPr>
              <a:t>Switching Harmonics- Sequences</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a14:m>
                          <a:r>
                            <a:rPr lang="en-US" sz="1600" b="0" dirty="0">
                              <a:solidFill>
                                <a:sysClr val="windowText" lastClr="000000"/>
                              </a:solidFill>
                              <a:latin typeface="Times New Roman" panose="02020603050405020304" pitchFamily="18" charset="0"/>
                              <a:cs typeface="Times New Roman" panose="02020603050405020304" pitchFamily="18" charset="0"/>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  </m:t>
                                    </m:r>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extLst>
                      <a:ext uri="{0D108BD9-81ED-4DB2-BD59-A6C34878D82A}">
                        <a16:rowId xmlns:a16="http://schemas.microsoft.com/office/drawing/2014/main" val="264216260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6494442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extLst>
                      <a:ext uri="{0D108BD9-81ED-4DB2-BD59-A6C34878D82A}">
                        <a16:rowId xmlns:a16="http://schemas.microsoft.com/office/drawing/2014/main" val="198581576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8239430"/>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98749998"/>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73717316"/>
                      </a:ext>
                    </a:extLst>
                  </a:tr>
                </a:tbl>
              </a:graphicData>
            </a:graphic>
          </p:graphicFrame>
        </mc:Choice>
        <mc:Fallback xmlns="">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100909" r="-302929"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100909" r="-200415"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100909" r="-101250"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100909" r="-830" b="-503636"/>
                          </a:stretch>
                        </a:blipFill>
                      </a:tcPr>
                    </a:tc>
                    <a:extLst>
                      <a:ext uri="{0D108BD9-81ED-4DB2-BD59-A6C34878D82A}">
                        <a16:rowId xmlns:a16="http://schemas.microsoft.com/office/drawing/2014/main" val="2642162602"/>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00909" r="-302929"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200909" r="-200415"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200909" r="-101250"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200909" r="-830" b="-403636"/>
                          </a:stretch>
                        </a:blipFill>
                      </a:tcPr>
                    </a:tc>
                    <a:extLst>
                      <a:ext uri="{0D108BD9-81ED-4DB2-BD59-A6C34878D82A}">
                        <a16:rowId xmlns:a16="http://schemas.microsoft.com/office/drawing/2014/main" val="76494442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98198" r="-302929"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298198" r="-200415"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298198" r="-101250"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298198" r="-830" b="-300000"/>
                          </a:stretch>
                        </a:blipFill>
                      </a:tcPr>
                    </a:tc>
                    <a:extLst>
                      <a:ext uri="{0D108BD9-81ED-4DB2-BD59-A6C34878D82A}">
                        <a16:rowId xmlns:a16="http://schemas.microsoft.com/office/drawing/2014/main" val="198581576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401818" r="-302929"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401818" r="-200415"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401818" r="-101250"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401818" r="-830" b="-202727"/>
                          </a:stretch>
                        </a:blipFill>
                      </a:tcPr>
                    </a:tc>
                    <a:extLst>
                      <a:ext uri="{0D108BD9-81ED-4DB2-BD59-A6C34878D82A}">
                        <a16:rowId xmlns:a16="http://schemas.microsoft.com/office/drawing/2014/main" val="368239430"/>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501818" r="-302929"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501818" r="-200415"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501818" r="-101250"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501818" r="-830" b="-102727"/>
                          </a:stretch>
                        </a:blipFill>
                      </a:tcPr>
                    </a:tc>
                    <a:extLst>
                      <a:ext uri="{0D108BD9-81ED-4DB2-BD59-A6C34878D82A}">
                        <a16:rowId xmlns:a16="http://schemas.microsoft.com/office/drawing/2014/main" val="1998749998"/>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601818" r="-302929"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601818" r="-200415"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601818" r="-101250"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601818" r="-830" b="-2727"/>
                          </a:stretch>
                        </a:blipFill>
                      </a:tcPr>
                    </a:tc>
                    <a:extLst>
                      <a:ext uri="{0D108BD9-81ED-4DB2-BD59-A6C34878D82A}">
                        <a16:rowId xmlns:a16="http://schemas.microsoft.com/office/drawing/2014/main" val="173717316"/>
                      </a:ext>
                    </a:extLst>
                  </a:tr>
                </a:tbl>
              </a:graphicData>
            </a:graphic>
          </p:graphicFrame>
        </mc:Fallback>
      </mc:AlternateContent>
      <p:pic>
        <p:nvPicPr>
          <p:cNvPr id="20" name="Picture 19">
            <a:extLst>
              <a:ext uri="{FF2B5EF4-FFF2-40B4-BE49-F238E27FC236}">
                <a16:creationId xmlns:a16="http://schemas.microsoft.com/office/drawing/2014/main" id="{B71E5CBA-F4F8-4BC4-9901-B9622145F520}"/>
              </a:ext>
            </a:extLst>
          </p:cNvPr>
          <p:cNvPicPr>
            <a:picLocks noChangeAspect="1"/>
          </p:cNvPicPr>
          <p:nvPr/>
        </p:nvPicPr>
        <p:blipFill>
          <a:blip r:embed="rId3"/>
          <a:stretch>
            <a:fillRect/>
          </a:stretch>
        </p:blipFill>
        <p:spPr>
          <a:xfrm>
            <a:off x="6866675" y="2278535"/>
            <a:ext cx="4018685" cy="3014014"/>
          </a:xfrm>
          <a:prstGeom prst="rect">
            <a:avLst/>
          </a:prstGeom>
        </p:spPr>
      </p:pic>
    </p:spTree>
    <p:extLst>
      <p:ext uri="{BB962C8B-B14F-4D97-AF65-F5344CB8AC3E}">
        <p14:creationId xmlns:p14="http://schemas.microsoft.com/office/powerpoint/2010/main" val="271230261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6625" y="282832"/>
            <a:ext cx="10990263" cy="568412"/>
          </a:xfrm>
        </p:spPr>
        <p:txBody>
          <a:bodyPr/>
          <a:lstStyle/>
          <a:p>
            <a:r>
              <a:rPr lang="en-US" dirty="0" smtClean="0"/>
              <a:t>The Induced Superimposed Voltage </a:t>
            </a:r>
            <a:endParaRPr lang="sv-SE" dirty="0"/>
          </a:p>
        </p:txBody>
      </p:sp>
      <mc:AlternateContent xmlns:mc="http://schemas.openxmlformats.org/markup-compatibility/2006" xmlns:a14="http://schemas.microsoft.com/office/drawing/2010/main">
        <mc:Choice Requires="a14">
          <p:sp>
            <p:nvSpPr>
              <p:cNvPr id="4" name="TextBox 3"/>
              <p:cNvSpPr txBox="1"/>
              <p:nvPr/>
            </p:nvSpPr>
            <p:spPr>
              <a:xfrm>
                <a:off x="2914650" y="1250950"/>
                <a:ext cx="4987519"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𝐻</m:t>
                          </m:r>
                        </m:sub>
                      </m:sSub>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𝑠𝑤</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𝐵</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𝐵</m:t>
                          </m:r>
                        </m:sub>
                      </m:sSub>
                      <m:r>
                        <a:rPr lang="en-US" b="0" i="0"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en-US" dirty="0" smtClean="0"/>
              </a:p>
              <a:p>
                <a:r>
                  <a:rPr lang="en-US" dirty="0" smtClean="0"/>
                  <a:t>       =</a:t>
                </a:r>
                <a14:m>
                  <m:oMath xmlns:m="http://schemas.openxmlformats.org/officeDocument/2006/math">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m:rPr>
                        <m:sty m:val="p"/>
                      </m:rPr>
                      <a:rPr lang="en-US" b="0" i="0" smtClean="0">
                        <a:latin typeface="Cambria Math" panose="02040503050406030204" pitchFamily="18" charset="0"/>
                      </a:rPr>
                      <m:t>M</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A</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B</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C</m:t>
                        </m:r>
                      </m:sub>
                    </m:sSub>
                    <m:r>
                      <a:rPr lang="en-US" b="0" i="0" smtClean="0">
                        <a:latin typeface="Cambria Math" panose="02040503050406030204" pitchFamily="18" charset="0"/>
                      </a:rPr>
                      <m:t>)</m:t>
                    </m:r>
                  </m:oMath>
                </a14:m>
                <a:endParaRPr lang="en-US" b="0" dirty="0" smtClean="0"/>
              </a:p>
            </p:txBody>
          </p:sp>
        </mc:Choice>
        <mc:Fallback xmlns="">
          <p:sp>
            <p:nvSpPr>
              <p:cNvPr id="4" name="TextBox 3"/>
              <p:cNvSpPr txBox="1">
                <a:spLocks noRot="1" noChangeAspect="1" noMove="1" noResize="1" noEditPoints="1" noAdjustHandles="1" noChangeArrowheads="1" noChangeShapeType="1" noTextEdit="1"/>
              </p:cNvSpPr>
              <p:nvPr/>
            </p:nvSpPr>
            <p:spPr>
              <a:xfrm>
                <a:off x="2914650" y="1250950"/>
                <a:ext cx="4987519" cy="553998"/>
              </a:xfrm>
              <a:prstGeom prst="rect">
                <a:avLst/>
              </a:prstGeom>
              <a:blipFill>
                <a:blip r:embed="rId2"/>
                <a:stretch>
                  <a:fillRect b="-25275"/>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Rectangle 5"/>
              <p:cNvSpPr/>
              <p:nvPr/>
            </p:nvSpPr>
            <p:spPr>
              <a:xfrm>
                <a:off x="1940774" y="1922144"/>
                <a:ext cx="101406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en-US">
                              <a:latin typeface="Cambria Math" panose="02040503050406030204" pitchFamily="18" charset="0"/>
                            </a:rPr>
                            <m:t>I</m:t>
                          </m:r>
                        </m:e>
                        <m:sub>
                          <m:r>
                            <m:rPr>
                              <m:sty m:val="p"/>
                            </m:rPr>
                            <a:rPr lang="en-US">
                              <a:latin typeface="Cambria Math" panose="02040503050406030204" pitchFamily="18" charset="0"/>
                            </a:rPr>
                            <m:t>A</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𝐵</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sv-SE" dirty="0"/>
              </a:p>
            </p:txBody>
          </p:sp>
        </mc:Choice>
        <mc:Fallback xmlns="">
          <p:sp>
            <p:nvSpPr>
              <p:cNvPr id="6" name="Rectangle 5"/>
              <p:cNvSpPr>
                <a:spLocks noRot="1" noChangeAspect="1" noMove="1" noResize="1" noEditPoints="1" noAdjustHandles="1" noChangeArrowheads="1" noChangeShapeType="1" noTextEdit="1"/>
              </p:cNvSpPr>
              <p:nvPr/>
            </p:nvSpPr>
            <p:spPr>
              <a:xfrm>
                <a:off x="1940774" y="1922144"/>
                <a:ext cx="1014060" cy="369332"/>
              </a:xfrm>
              <a:prstGeom prst="rect">
                <a:avLst/>
              </a:prstGeom>
              <a:blipFill>
                <a:blip r:embed="rId3"/>
                <a:stretch>
                  <a:fillRect b="-1639"/>
                </a:stretch>
              </a:blipFill>
            </p:spPr>
            <p:txBody>
              <a:bodyPr/>
              <a:lstStyle/>
              <a:p>
                <a:r>
                  <a:rPr lang="sv-SE">
                    <a:noFill/>
                  </a:rPr>
                  <a:t> </a:t>
                </a:r>
              </a:p>
            </p:txBody>
          </p:sp>
        </mc:Fallback>
      </mc:AlternateContent>
      <p:cxnSp>
        <p:nvCxnSpPr>
          <p:cNvPr id="8" name="Straight Arrow Connector 7"/>
          <p:cNvCxnSpPr/>
          <p:nvPr/>
        </p:nvCxnSpPr>
        <p:spPr>
          <a:xfrm flipV="1">
            <a:off x="3140818" y="2100460"/>
            <a:ext cx="1244600" cy="12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p:cNvSpPr txBox="1"/>
              <p:nvPr/>
            </p:nvSpPr>
            <p:spPr>
              <a:xfrm>
                <a:off x="4571402" y="1892114"/>
                <a:ext cx="5300416" cy="369332"/>
              </a:xfrm>
              <a:prstGeom prst="rect">
                <a:avLst/>
              </a:prstGeom>
              <a:noFill/>
            </p:spPr>
            <p:txBody>
              <a:bodyPr wrap="square" rtlCol="0">
                <a:spAutoFit/>
              </a:bodyPr>
              <a:lstStyle/>
              <a:p>
                <a:r>
                  <a:rPr lang="en-US" dirty="0" smtClean="0"/>
                  <a:t>Related switching functions, </a:t>
                </a:r>
                <a14:m>
                  <m:oMath xmlns:m="http://schemas.openxmlformats.org/officeDocument/2006/math">
                    <m:sSub>
                      <m:sSubPr>
                        <m:ctrlPr>
                          <a:rPr lang="en-US" i="1">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a:latin typeface="Cambria Math" panose="02040503050406030204" pitchFamily="18" charset="0"/>
                          </a:rPr>
                          <m:t>A</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𝐶</m:t>
                        </m:r>
                      </m:sub>
                    </m:sSub>
                  </m:oMath>
                </a14:m>
                <a:r>
                  <a:rPr lang="en-US" dirty="0" smtClean="0"/>
                  <a:t> </a:t>
                </a:r>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4571402" y="1892114"/>
                <a:ext cx="5300416" cy="369332"/>
              </a:xfrm>
              <a:prstGeom prst="rect">
                <a:avLst/>
              </a:prstGeom>
              <a:blipFill>
                <a:blip r:embed="rId4"/>
                <a:stretch>
                  <a:fillRect l="-1036" t="-8197" b="-24590"/>
                </a:stretch>
              </a:blipFill>
            </p:spPr>
            <p:txBody>
              <a:bodyPr/>
              <a:lstStyle/>
              <a:p>
                <a:r>
                  <a:rPr lang="sv-SE">
                    <a:noFill/>
                  </a:rPr>
                  <a:t> </a:t>
                </a:r>
              </a:p>
            </p:txBody>
          </p:sp>
        </mc:Fallback>
      </mc:AlternateContent>
      <p:grpSp>
        <p:nvGrpSpPr>
          <p:cNvPr id="10" name="Group 9">
            <a:extLst>
              <a:ext uri="{FF2B5EF4-FFF2-40B4-BE49-F238E27FC236}">
                <a16:creationId xmlns:a16="http://schemas.microsoft.com/office/drawing/2014/main" id="{01029E6E-C7E3-487B-8AD6-0E31205192FB}"/>
              </a:ext>
            </a:extLst>
          </p:cNvPr>
          <p:cNvGrpSpPr/>
          <p:nvPr/>
        </p:nvGrpSpPr>
        <p:grpSpPr>
          <a:xfrm>
            <a:off x="392177" y="3915975"/>
            <a:ext cx="2748641" cy="2032430"/>
            <a:chOff x="1150962" y="1507183"/>
            <a:chExt cx="2748641" cy="2032430"/>
          </a:xfrm>
        </p:grpSpPr>
        <p:cxnSp>
          <p:nvCxnSpPr>
            <p:cNvPr id="11" name="Straight Arrow Connector 10">
              <a:extLst>
                <a:ext uri="{FF2B5EF4-FFF2-40B4-BE49-F238E27FC236}">
                  <a16:creationId xmlns:a16="http://schemas.microsoft.com/office/drawing/2014/main" id="{5E7FDC9F-ED62-4622-8211-716BE7C32D6C}"/>
                </a:ext>
              </a:extLst>
            </p:cNvPr>
            <p:cNvCxnSpPr>
              <a:cxnSpLocks/>
            </p:cNvCxnSpPr>
            <p:nvPr/>
          </p:nvCxnSpPr>
          <p:spPr>
            <a:xfrm>
              <a:off x="1156196" y="3539612"/>
              <a:ext cx="1200647"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A7D5B58-A447-4209-84AE-18FF6900FEF0}"/>
                </a:ext>
              </a:extLst>
            </p:cNvPr>
            <p:cNvCxnSpPr>
              <a:cxnSpLocks/>
            </p:cNvCxnSpPr>
            <p:nvPr/>
          </p:nvCxnSpPr>
          <p:spPr>
            <a:xfrm flipV="1">
              <a:off x="2356843" y="2513991"/>
              <a:ext cx="1305355" cy="1025622"/>
            </a:xfrm>
            <a:prstGeom prst="straightConnector1">
              <a:avLst/>
            </a:prstGeom>
            <a:ln w="25400">
              <a:solidFill>
                <a:srgbClr val="0127E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84F3113-1355-468D-9858-1FD859EEBAC8}"/>
                </a:ext>
              </a:extLst>
            </p:cNvPr>
            <p:cNvCxnSpPr>
              <a:cxnSpLocks/>
            </p:cNvCxnSpPr>
            <p:nvPr/>
          </p:nvCxnSpPr>
          <p:spPr>
            <a:xfrm flipV="1">
              <a:off x="3667433" y="1507183"/>
              <a:ext cx="232170" cy="1006809"/>
            </a:xfrm>
            <a:prstGeom prst="straightConnector1">
              <a:avLst/>
            </a:prstGeom>
            <a:ln w="25400">
              <a:solidFill>
                <a:srgbClr val="FE34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E7D52C5-305A-4A46-9FAA-826598901875}"/>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296AFC2-51B8-41DD-9989-A174C5BC0A5D}"/>
                  </a:ext>
                </a:extLst>
              </p:cNvPr>
              <p:cNvSpPr txBox="1"/>
              <p:nvPr/>
            </p:nvSpPr>
            <p:spPr>
              <a:xfrm rot="19268304">
                <a:off x="913905" y="448709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𝐴𝐵𝐶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15" name="TextBox 14">
                <a:extLst>
                  <a:ext uri="{FF2B5EF4-FFF2-40B4-BE49-F238E27FC236}">
                    <a16:creationId xmlns:a16="http://schemas.microsoft.com/office/drawing/2014/main" id="{1296AFC2-51B8-41DD-9989-A174C5BC0A5D}"/>
                  </a:ext>
                </a:extLst>
              </p:cNvPr>
              <p:cNvSpPr txBox="1">
                <a:spLocks noRot="1" noChangeAspect="1" noMove="1" noResize="1" noEditPoints="1" noAdjustHandles="1" noChangeArrowheads="1" noChangeShapeType="1" noTextEdit="1"/>
              </p:cNvSpPr>
              <p:nvPr/>
            </p:nvSpPr>
            <p:spPr>
              <a:xfrm rot="19268304">
                <a:off x="913905" y="4487094"/>
                <a:ext cx="1634481" cy="352917"/>
              </a:xfrm>
              <a:prstGeom prst="rect">
                <a:avLst/>
              </a:prstGeom>
              <a:blipFill>
                <a:blip r:embed="rId5"/>
                <a:stretch>
                  <a:fillRect/>
                </a:stretch>
              </a:blipFill>
            </p:spPr>
            <p:txBody>
              <a:bodyPr/>
              <a:lstStyle/>
              <a:p>
                <a:r>
                  <a:rPr lang="sv-SE">
                    <a:noFill/>
                  </a:rPr>
                  <a:t> </a:t>
                </a:r>
              </a:p>
            </p:txBody>
          </p:sp>
        </mc:Fallback>
      </mc:AlternateContent>
      <p:pic>
        <p:nvPicPr>
          <p:cNvPr id="16" name="Picture 15">
            <a:extLst>
              <a:ext uri="{FF2B5EF4-FFF2-40B4-BE49-F238E27FC236}">
                <a16:creationId xmlns:a16="http://schemas.microsoft.com/office/drawing/2014/main" id="{D7624960-C59E-468A-98A2-273B33FD7DC6}"/>
              </a:ext>
            </a:extLst>
          </p:cNvPr>
          <p:cNvPicPr>
            <a:picLocks noChangeAspect="1"/>
          </p:cNvPicPr>
          <p:nvPr/>
        </p:nvPicPr>
        <p:blipFill>
          <a:blip r:embed="rId6"/>
          <a:stretch>
            <a:fillRect/>
          </a:stretch>
        </p:blipFill>
        <p:spPr>
          <a:xfrm>
            <a:off x="6848169" y="3695657"/>
            <a:ext cx="3810000" cy="2857500"/>
          </a:xfrm>
          <a:prstGeom prst="rect">
            <a:avLst/>
          </a:prstGeom>
        </p:spPr>
      </p:pic>
      <p:pic>
        <p:nvPicPr>
          <p:cNvPr id="17" name="Picture 16">
            <a:extLst>
              <a:ext uri="{FF2B5EF4-FFF2-40B4-BE49-F238E27FC236}">
                <a16:creationId xmlns:a16="http://schemas.microsoft.com/office/drawing/2014/main" id="{B80AFBB4-EF16-4ED3-8947-4270FC70B7D1}"/>
              </a:ext>
            </a:extLst>
          </p:cNvPr>
          <p:cNvPicPr>
            <a:picLocks noChangeAspect="1"/>
          </p:cNvPicPr>
          <p:nvPr/>
        </p:nvPicPr>
        <p:blipFill>
          <a:blip r:embed="rId7"/>
          <a:stretch>
            <a:fillRect/>
          </a:stretch>
        </p:blipFill>
        <p:spPr>
          <a:xfrm>
            <a:off x="3618272" y="3695657"/>
            <a:ext cx="3810000" cy="2857500"/>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97F114A-8C94-43CD-AFCA-03D895174D14}"/>
                  </a:ext>
                </a:extLst>
              </p:cNvPr>
              <p:cNvSpPr txBox="1"/>
              <p:nvPr/>
            </p:nvSpPr>
            <p:spPr>
              <a:xfrm>
                <a:off x="259921" y="5527618"/>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𝜙</m:t>
                      </m:r>
                    </m:oMath>
                  </m:oMathPara>
                </a14:m>
                <a:endParaRPr lang="en-US" dirty="0"/>
              </a:p>
            </p:txBody>
          </p:sp>
        </mc:Choice>
        <mc:Fallback xmlns="">
          <p:sp>
            <p:nvSpPr>
              <p:cNvPr id="18" name="TextBox 17">
                <a:extLst>
                  <a:ext uri="{FF2B5EF4-FFF2-40B4-BE49-F238E27FC236}">
                    <a16:creationId xmlns:a16="http://schemas.microsoft.com/office/drawing/2014/main" id="{C97F114A-8C94-43CD-AFCA-03D895174D14}"/>
                  </a:ext>
                </a:extLst>
              </p:cNvPr>
              <p:cNvSpPr txBox="1">
                <a:spLocks noRot="1" noChangeAspect="1" noMove="1" noResize="1" noEditPoints="1" noAdjustHandles="1" noChangeArrowheads="1" noChangeShapeType="1" noTextEdit="1"/>
              </p:cNvSpPr>
              <p:nvPr/>
            </p:nvSpPr>
            <p:spPr>
              <a:xfrm>
                <a:off x="259921" y="5527618"/>
                <a:ext cx="1634481" cy="276999"/>
              </a:xfrm>
              <a:prstGeom prst="rect">
                <a:avLst/>
              </a:prstGeom>
              <a:blipFill>
                <a:blip r:embed="rId8"/>
                <a:stretch>
                  <a:fillRect b="-35556"/>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4D4604F-582D-485F-8325-CA07721CA4C3}"/>
                  </a:ext>
                </a:extLst>
              </p:cNvPr>
              <p:cNvSpPr txBox="1"/>
              <p:nvPr/>
            </p:nvSpPr>
            <p:spPr>
              <a:xfrm rot="19308726">
                <a:off x="1237594" y="5097011"/>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𝐵</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19" name="TextBox 18">
                <a:extLst>
                  <a:ext uri="{FF2B5EF4-FFF2-40B4-BE49-F238E27FC236}">
                    <a16:creationId xmlns:a16="http://schemas.microsoft.com/office/drawing/2014/main" id="{44D4604F-582D-485F-8325-CA07721CA4C3}"/>
                  </a:ext>
                </a:extLst>
              </p:cNvPr>
              <p:cNvSpPr txBox="1">
                <a:spLocks noRot="1" noChangeAspect="1" noMove="1" noResize="1" noEditPoints="1" noAdjustHandles="1" noChangeArrowheads="1" noChangeShapeType="1" noTextEdit="1"/>
              </p:cNvSpPr>
              <p:nvPr/>
            </p:nvSpPr>
            <p:spPr>
              <a:xfrm rot="19308726">
                <a:off x="1237594" y="5097011"/>
                <a:ext cx="1634481" cy="352917"/>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5222623-F0E3-41DE-AF4E-A5895BEE42AF}"/>
                  </a:ext>
                </a:extLst>
              </p:cNvPr>
              <p:cNvSpPr txBox="1"/>
              <p:nvPr/>
            </p:nvSpPr>
            <p:spPr>
              <a:xfrm rot="16904928">
                <a:off x="1924448" y="4361102"/>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20" name="TextBox 19">
                <a:extLst>
                  <a:ext uri="{FF2B5EF4-FFF2-40B4-BE49-F238E27FC236}">
                    <a16:creationId xmlns:a16="http://schemas.microsoft.com/office/drawing/2014/main" id="{95222623-F0E3-41DE-AF4E-A5895BEE42AF}"/>
                  </a:ext>
                </a:extLst>
              </p:cNvPr>
              <p:cNvSpPr txBox="1">
                <a:spLocks noRot="1" noChangeAspect="1" noMove="1" noResize="1" noEditPoints="1" noAdjustHandles="1" noChangeArrowheads="1" noChangeShapeType="1" noTextEdit="1"/>
              </p:cNvSpPr>
              <p:nvPr/>
            </p:nvSpPr>
            <p:spPr>
              <a:xfrm rot="16904928">
                <a:off x="1924448" y="4361102"/>
                <a:ext cx="1634481" cy="352917"/>
              </a:xfrm>
              <a:prstGeom prst="rect">
                <a:avLst/>
              </a:prstGeom>
              <a:blipFill>
                <a:blip r:embed="rId10"/>
                <a:stretch>
                  <a:fillRect/>
                </a:stretch>
              </a:blipFill>
            </p:spPr>
            <p:txBody>
              <a:bodyPr/>
              <a:lstStyle/>
              <a:p>
                <a:r>
                  <a:rPr lang="sv-SE">
                    <a:noFill/>
                  </a:rPr>
                  <a:t> </a:t>
                </a:r>
              </a:p>
            </p:txBody>
          </p:sp>
        </mc:Fallback>
      </mc:AlternateContent>
      <p:sp>
        <p:nvSpPr>
          <p:cNvPr id="21" name="Arc 20">
            <a:extLst>
              <a:ext uri="{FF2B5EF4-FFF2-40B4-BE49-F238E27FC236}">
                <a16:creationId xmlns:a16="http://schemas.microsoft.com/office/drawing/2014/main" id="{FA92E3CA-3E32-4859-9FFF-4A87F77B4ACF}"/>
              </a:ext>
            </a:extLst>
          </p:cNvPr>
          <p:cNvSpPr/>
          <p:nvPr/>
        </p:nvSpPr>
        <p:spPr>
          <a:xfrm rot="2814214">
            <a:off x="478962" y="5595657"/>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7AAFE0E-C8DF-4837-8AFF-CD67EA186199}"/>
                  </a:ext>
                </a:extLst>
              </p:cNvPr>
              <p:cNvSpPr txBox="1"/>
              <p:nvPr/>
            </p:nvSpPr>
            <p:spPr>
              <a:xfrm>
                <a:off x="259921" y="600808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22" name="TextBox 21">
                <a:extLst>
                  <a:ext uri="{FF2B5EF4-FFF2-40B4-BE49-F238E27FC236}">
                    <a16:creationId xmlns:a16="http://schemas.microsoft.com/office/drawing/2014/main" id="{47AAFE0E-C8DF-4837-8AFF-CD67EA186199}"/>
                  </a:ext>
                </a:extLst>
              </p:cNvPr>
              <p:cNvSpPr txBox="1">
                <a:spLocks noRot="1" noChangeAspect="1" noMove="1" noResize="1" noEditPoints="1" noAdjustHandles="1" noChangeArrowheads="1" noChangeShapeType="1" noTextEdit="1"/>
              </p:cNvSpPr>
              <p:nvPr/>
            </p:nvSpPr>
            <p:spPr>
              <a:xfrm>
                <a:off x="259921" y="6008084"/>
                <a:ext cx="1634481" cy="352917"/>
              </a:xfrm>
              <a:prstGeom prst="rect">
                <a:avLst/>
              </a:prstGeom>
              <a:blipFill>
                <a:blip r:embed="rId11"/>
                <a:stretch>
                  <a:fillRect t="-21053" b="-24561"/>
                </a:stretch>
              </a:blipFill>
            </p:spPr>
            <p:txBody>
              <a:bodyPr/>
              <a:lstStyle/>
              <a:p>
                <a:r>
                  <a:rPr lang="sv-SE">
                    <a:noFill/>
                  </a:rPr>
                  <a:t> </a:t>
                </a:r>
              </a:p>
            </p:txBody>
          </p:sp>
        </mc:Fallback>
      </mc:AlternateContent>
      <p:cxnSp>
        <p:nvCxnSpPr>
          <p:cNvPr id="23" name="Straight Connector 22">
            <a:extLst>
              <a:ext uri="{FF2B5EF4-FFF2-40B4-BE49-F238E27FC236}">
                <a16:creationId xmlns:a16="http://schemas.microsoft.com/office/drawing/2014/main" id="{D29DAD33-4FD8-4772-AB68-D038FE6B2C99}"/>
              </a:ext>
            </a:extLst>
          </p:cNvPr>
          <p:cNvCxnSpPr/>
          <p:nvPr/>
        </p:nvCxnSpPr>
        <p:spPr>
          <a:xfrm>
            <a:off x="1598058" y="5938571"/>
            <a:ext cx="20775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Arc 23">
            <a:extLst>
              <a:ext uri="{FF2B5EF4-FFF2-40B4-BE49-F238E27FC236}">
                <a16:creationId xmlns:a16="http://schemas.microsoft.com/office/drawing/2014/main" id="{5AFC94D4-D1EA-4233-B178-51DA8E21AF64}"/>
              </a:ext>
            </a:extLst>
          </p:cNvPr>
          <p:cNvSpPr/>
          <p:nvPr/>
        </p:nvSpPr>
        <p:spPr>
          <a:xfrm rot="2814214">
            <a:off x="1662300" y="563784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486CC42-1884-404E-B4F7-388843E7DE79}"/>
                  </a:ext>
                </a:extLst>
              </p:cNvPr>
              <p:cNvSpPr txBox="1"/>
              <p:nvPr/>
            </p:nvSpPr>
            <p:spPr>
              <a:xfrm>
                <a:off x="1447115" y="5590651"/>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oMath>
                  </m:oMathPara>
                </a14:m>
                <a:endParaRPr lang="en-US" dirty="0"/>
              </a:p>
            </p:txBody>
          </p:sp>
        </mc:Choice>
        <mc:Fallback xmlns="">
          <p:sp>
            <p:nvSpPr>
              <p:cNvPr id="25" name="TextBox 24">
                <a:extLst>
                  <a:ext uri="{FF2B5EF4-FFF2-40B4-BE49-F238E27FC236}">
                    <a16:creationId xmlns:a16="http://schemas.microsoft.com/office/drawing/2014/main" id="{6486CC42-1884-404E-B4F7-388843E7DE79}"/>
                  </a:ext>
                </a:extLst>
              </p:cNvPr>
              <p:cNvSpPr txBox="1">
                <a:spLocks noRot="1" noChangeAspect="1" noMove="1" noResize="1" noEditPoints="1" noAdjustHandles="1" noChangeArrowheads="1" noChangeShapeType="1" noTextEdit="1"/>
              </p:cNvSpPr>
              <p:nvPr/>
            </p:nvSpPr>
            <p:spPr>
              <a:xfrm>
                <a:off x="1447115" y="5590651"/>
                <a:ext cx="1634481" cy="276999"/>
              </a:xfrm>
              <a:prstGeom prst="rect">
                <a:avLst/>
              </a:prstGeom>
              <a:blipFill>
                <a:blip r:embed="rId12"/>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EAD758F-3034-46CA-9062-883C2E53F1AE}"/>
                  </a:ext>
                </a:extLst>
              </p:cNvPr>
              <p:cNvSpPr txBox="1"/>
              <p:nvPr/>
            </p:nvSpPr>
            <p:spPr>
              <a:xfrm>
                <a:off x="2498458" y="4209887"/>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oMath>
                  </m:oMathPara>
                </a14:m>
                <a:endParaRPr lang="en-US" dirty="0"/>
              </a:p>
            </p:txBody>
          </p:sp>
        </mc:Choice>
        <mc:Fallback xmlns="">
          <p:sp>
            <p:nvSpPr>
              <p:cNvPr id="26" name="TextBox 25">
                <a:extLst>
                  <a:ext uri="{FF2B5EF4-FFF2-40B4-BE49-F238E27FC236}">
                    <a16:creationId xmlns:a16="http://schemas.microsoft.com/office/drawing/2014/main" id="{5EAD758F-3034-46CA-9062-883C2E53F1AE}"/>
                  </a:ext>
                </a:extLst>
              </p:cNvPr>
              <p:cNvSpPr txBox="1">
                <a:spLocks noRot="1" noChangeAspect="1" noMove="1" noResize="1" noEditPoints="1" noAdjustHandles="1" noChangeArrowheads="1" noChangeShapeType="1" noTextEdit="1"/>
              </p:cNvSpPr>
              <p:nvPr/>
            </p:nvSpPr>
            <p:spPr>
              <a:xfrm>
                <a:off x="2498458" y="4209887"/>
                <a:ext cx="1634481" cy="276999"/>
              </a:xfrm>
              <a:prstGeom prst="rect">
                <a:avLst/>
              </a:prstGeom>
              <a:blipFill>
                <a:blip r:embed="rId13"/>
                <a:stretch>
                  <a:fillRect t="-2222" b="-37778"/>
                </a:stretch>
              </a:blipFill>
            </p:spPr>
            <p:txBody>
              <a:bodyPr/>
              <a:lstStyle/>
              <a:p>
                <a:r>
                  <a:rPr lang="sv-SE">
                    <a:noFill/>
                  </a:rPr>
                  <a:t> </a:t>
                </a:r>
              </a:p>
            </p:txBody>
          </p:sp>
        </mc:Fallback>
      </mc:AlternateContent>
      <p:cxnSp>
        <p:nvCxnSpPr>
          <p:cNvPr id="27" name="Straight Connector 26">
            <a:extLst>
              <a:ext uri="{FF2B5EF4-FFF2-40B4-BE49-F238E27FC236}">
                <a16:creationId xmlns:a16="http://schemas.microsoft.com/office/drawing/2014/main" id="{F1CA4872-C19A-43D2-B100-9706E2A6D49A}"/>
              </a:ext>
            </a:extLst>
          </p:cNvPr>
          <p:cNvCxnSpPr>
            <a:cxnSpLocks/>
          </p:cNvCxnSpPr>
          <p:nvPr/>
        </p:nvCxnSpPr>
        <p:spPr>
          <a:xfrm flipV="1">
            <a:off x="2903413" y="4158934"/>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Arc 27">
            <a:extLst>
              <a:ext uri="{FF2B5EF4-FFF2-40B4-BE49-F238E27FC236}">
                <a16:creationId xmlns:a16="http://schemas.microsoft.com/office/drawing/2014/main" id="{B5022622-41C3-4375-B0CE-A8D251DA5836}"/>
              </a:ext>
            </a:extLst>
          </p:cNvPr>
          <p:cNvSpPr/>
          <p:nvPr/>
        </p:nvSpPr>
        <p:spPr>
          <a:xfrm rot="1387721">
            <a:off x="2889688" y="4506620"/>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A50857D-DD7D-439E-850E-887C3C50152E}"/>
                  </a:ext>
                </a:extLst>
              </p:cNvPr>
              <p:cNvSpPr txBox="1"/>
              <p:nvPr/>
            </p:nvSpPr>
            <p:spPr>
              <a:xfrm>
                <a:off x="9683021" y="3006460"/>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𝐴</m:t>
                          </m:r>
                        </m:sub>
                      </m:sSub>
                    </m:oMath>
                  </m:oMathPara>
                </a14:m>
                <a:endParaRPr lang="en-US" dirty="0"/>
              </a:p>
            </p:txBody>
          </p:sp>
        </mc:Choice>
        <mc:Fallback xmlns="">
          <p:sp>
            <p:nvSpPr>
              <p:cNvPr id="29" name="TextBox 28">
                <a:extLst>
                  <a:ext uri="{FF2B5EF4-FFF2-40B4-BE49-F238E27FC236}">
                    <a16:creationId xmlns:a16="http://schemas.microsoft.com/office/drawing/2014/main" id="{FA50857D-DD7D-439E-850E-887C3C50152E}"/>
                  </a:ext>
                </a:extLst>
              </p:cNvPr>
              <p:cNvSpPr txBox="1">
                <a:spLocks noRot="1" noChangeAspect="1" noMove="1" noResize="1" noEditPoints="1" noAdjustHandles="1" noChangeArrowheads="1" noChangeShapeType="1" noTextEdit="1"/>
              </p:cNvSpPr>
              <p:nvPr/>
            </p:nvSpPr>
            <p:spPr>
              <a:xfrm>
                <a:off x="9683021" y="3006460"/>
                <a:ext cx="1950296" cy="276999"/>
              </a:xfrm>
              <a:prstGeom prst="rect">
                <a:avLst/>
              </a:prstGeom>
              <a:blipFill>
                <a:blip r:embed="rId14"/>
                <a:stretch>
                  <a:fillRect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4763A97-98A3-4427-B019-A0B70C22D960}"/>
                  </a:ext>
                </a:extLst>
              </p:cNvPr>
              <p:cNvSpPr txBox="1"/>
              <p:nvPr/>
            </p:nvSpPr>
            <p:spPr>
              <a:xfrm>
                <a:off x="9660594" y="3328811"/>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𝐶</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oMath>
                  </m:oMathPara>
                </a14:m>
                <a:endParaRPr lang="en-US" dirty="0"/>
              </a:p>
            </p:txBody>
          </p:sp>
        </mc:Choice>
        <mc:Fallback xmlns="">
          <p:sp>
            <p:nvSpPr>
              <p:cNvPr id="30" name="TextBox 29">
                <a:extLst>
                  <a:ext uri="{FF2B5EF4-FFF2-40B4-BE49-F238E27FC236}">
                    <a16:creationId xmlns:a16="http://schemas.microsoft.com/office/drawing/2014/main" id="{A4763A97-98A3-4427-B019-A0B70C22D960}"/>
                  </a:ext>
                </a:extLst>
              </p:cNvPr>
              <p:cNvSpPr txBox="1">
                <a:spLocks noRot="1" noChangeAspect="1" noMove="1" noResize="1" noEditPoints="1" noAdjustHandles="1" noChangeArrowheads="1" noChangeShapeType="1" noTextEdit="1"/>
              </p:cNvSpPr>
              <p:nvPr/>
            </p:nvSpPr>
            <p:spPr>
              <a:xfrm>
                <a:off x="9660594" y="3328811"/>
                <a:ext cx="1950296" cy="276999"/>
              </a:xfrm>
              <a:prstGeom prst="rect">
                <a:avLst/>
              </a:prstGeom>
              <a:blipFill>
                <a:blip r:embed="rId15"/>
                <a:stretch>
                  <a:fillRect l="-4375" r="-938"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5FBD2FD-8F17-4D5E-BAD8-39F470AC843F}"/>
                  </a:ext>
                </a:extLst>
              </p:cNvPr>
              <p:cNvSpPr txBox="1"/>
              <p:nvPr/>
            </p:nvSpPr>
            <p:spPr>
              <a:xfrm>
                <a:off x="5552769" y="3261770"/>
                <a:ext cx="1216744"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oMath>
                </a14:m>
                <a:r>
                  <a:rPr lang="en-US" sz="1200" dirty="0">
                    <a:solidFill>
                      <a:schemeClr val="tx1"/>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1" dirty="0" smtClean="0">
                        <a:solidFill>
                          <a:schemeClr val="tx1"/>
                        </a:solidFill>
                        <a:latin typeface="Cambria Math" panose="02040503050406030204" pitchFamily="18" charset="0"/>
                      </a:rPr>
                      <m:t>|</m:t>
                    </m:r>
                  </m:oMath>
                </a14:m>
                <a:endParaRPr lang="en-US" sz="1200" dirty="0">
                  <a:solidFill>
                    <a:schemeClr val="tx1"/>
                  </a:solidFill>
                </a:endParaRPr>
              </a:p>
            </p:txBody>
          </p:sp>
        </mc:Choice>
        <mc:Fallback xmlns="">
          <p:sp>
            <p:nvSpPr>
              <p:cNvPr id="31" name="TextBox 30">
                <a:extLst>
                  <a:ext uri="{FF2B5EF4-FFF2-40B4-BE49-F238E27FC236}">
                    <a16:creationId xmlns:a16="http://schemas.microsoft.com/office/drawing/2014/main" id="{B5FBD2FD-8F17-4D5E-BAD8-39F470AC843F}"/>
                  </a:ext>
                </a:extLst>
              </p:cNvPr>
              <p:cNvSpPr txBox="1">
                <a:spLocks noRot="1" noChangeAspect="1" noMove="1" noResize="1" noEditPoints="1" noAdjustHandles="1" noChangeArrowheads="1" noChangeShapeType="1" noTextEdit="1"/>
              </p:cNvSpPr>
              <p:nvPr/>
            </p:nvSpPr>
            <p:spPr>
              <a:xfrm>
                <a:off x="5552769" y="3261770"/>
                <a:ext cx="1216744" cy="327526"/>
              </a:xfrm>
              <a:prstGeom prst="rect">
                <a:avLst/>
              </a:prstGeom>
              <a:blipFill>
                <a:blip r:embed="rId16"/>
                <a:stretch>
                  <a:fillRect/>
                </a:stretch>
              </a:blipFill>
            </p:spPr>
            <p:txBody>
              <a:bodyPr/>
              <a:lstStyle/>
              <a:p>
                <a:r>
                  <a:rPr lang="sv-SE">
                    <a:noFill/>
                  </a:rPr>
                  <a:t> </a:t>
                </a:r>
              </a:p>
            </p:txBody>
          </p:sp>
        </mc:Fallback>
      </mc:AlternateContent>
      <p:sp>
        <p:nvSpPr>
          <p:cNvPr id="32" name="TextBox 31">
            <a:extLst>
              <a:ext uri="{FF2B5EF4-FFF2-40B4-BE49-F238E27FC236}">
                <a16:creationId xmlns:a16="http://schemas.microsoft.com/office/drawing/2014/main" id="{B7D58F41-D6FF-4866-8BE7-F8EB535439E9}"/>
              </a:ext>
            </a:extLst>
          </p:cNvPr>
          <p:cNvSpPr txBox="1"/>
          <p:nvPr/>
        </p:nvSpPr>
        <p:spPr>
          <a:xfrm>
            <a:off x="5357859"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(b)</a:t>
            </a:r>
          </a:p>
        </p:txBody>
      </p:sp>
      <p:sp>
        <p:nvSpPr>
          <p:cNvPr id="33" name="TextBox 32">
            <a:extLst>
              <a:ext uri="{FF2B5EF4-FFF2-40B4-BE49-F238E27FC236}">
                <a16:creationId xmlns:a16="http://schemas.microsoft.com/office/drawing/2014/main" id="{332DDC6B-D970-48D6-B263-19F0911EBBA4}"/>
              </a:ext>
            </a:extLst>
          </p:cNvPr>
          <p:cNvSpPr txBox="1"/>
          <p:nvPr/>
        </p:nvSpPr>
        <p:spPr>
          <a:xfrm>
            <a:off x="8587756"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(c)</a:t>
            </a:r>
          </a:p>
        </p:txBody>
      </p:sp>
      <p:cxnSp>
        <p:nvCxnSpPr>
          <p:cNvPr id="34" name="Straight Connector 33">
            <a:extLst>
              <a:ext uri="{FF2B5EF4-FFF2-40B4-BE49-F238E27FC236}">
                <a16:creationId xmlns:a16="http://schemas.microsoft.com/office/drawing/2014/main" id="{9817EF20-A17D-4916-BA17-EAEB26517AD9}"/>
              </a:ext>
            </a:extLst>
          </p:cNvPr>
          <p:cNvCxnSpPr>
            <a:cxnSpLocks/>
          </p:cNvCxnSpPr>
          <p:nvPr/>
        </p:nvCxnSpPr>
        <p:spPr>
          <a:xfrm>
            <a:off x="5584078" y="2931199"/>
            <a:ext cx="0" cy="2008364"/>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C40EFA2-1D81-49A9-9FC8-D019462DDE2E}"/>
              </a:ext>
            </a:extLst>
          </p:cNvPr>
          <p:cNvCxnSpPr>
            <a:cxnSpLocks/>
          </p:cNvCxnSpPr>
          <p:nvPr/>
        </p:nvCxnSpPr>
        <p:spPr>
          <a:xfrm>
            <a:off x="6335317" y="3589296"/>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26E3CFF-02F6-4B50-BCB8-2C9765B2FB1A}"/>
              </a:ext>
            </a:extLst>
          </p:cNvPr>
          <p:cNvCxnSpPr>
            <a:cxnSpLocks/>
          </p:cNvCxnSpPr>
          <p:nvPr/>
        </p:nvCxnSpPr>
        <p:spPr>
          <a:xfrm>
            <a:off x="5631969" y="3609151"/>
            <a:ext cx="64158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FB99296-1F71-4956-B484-D3ED2D359A6E}"/>
              </a:ext>
            </a:extLst>
          </p:cNvPr>
          <p:cNvSpPr txBox="1"/>
          <p:nvPr/>
        </p:nvSpPr>
        <p:spPr>
          <a:xfrm>
            <a:off x="1714719" y="6547014"/>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(a)</a:t>
            </a:r>
          </a:p>
        </p:txBody>
      </p:sp>
      <p:cxnSp>
        <p:nvCxnSpPr>
          <p:cNvPr id="38" name="Straight Connector 37">
            <a:extLst>
              <a:ext uri="{FF2B5EF4-FFF2-40B4-BE49-F238E27FC236}">
                <a16:creationId xmlns:a16="http://schemas.microsoft.com/office/drawing/2014/main" id="{CB0D510F-D91A-452A-B687-65BDC6EDEE76}"/>
              </a:ext>
            </a:extLst>
          </p:cNvPr>
          <p:cNvCxnSpPr>
            <a:cxnSpLocks/>
          </p:cNvCxnSpPr>
          <p:nvPr/>
        </p:nvCxnSpPr>
        <p:spPr>
          <a:xfrm>
            <a:off x="6690207" y="2931199"/>
            <a:ext cx="0" cy="2067987"/>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18C0BE8-1A89-45BB-A868-7BF9657E7E2A}"/>
                  </a:ext>
                </a:extLst>
              </p:cNvPr>
              <p:cNvSpPr txBox="1"/>
              <p:nvPr/>
            </p:nvSpPr>
            <p:spPr>
              <a:xfrm>
                <a:off x="5523272" y="2573986"/>
                <a:ext cx="1994216"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0" dirty="0" smtClean="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i="1" dirty="0">
                        <a:latin typeface="Cambria Math" panose="02040503050406030204" pitchFamily="18" charset="0"/>
                      </a:rPr>
                      <m:t>|</m:t>
                    </m:r>
                  </m:oMath>
                </a14:m>
                <a:endParaRPr lang="en-US" sz="1200" dirty="0">
                  <a:solidFill>
                    <a:schemeClr val="tx1"/>
                  </a:solidFill>
                </a:endParaRPr>
              </a:p>
            </p:txBody>
          </p:sp>
        </mc:Choice>
        <mc:Fallback xmlns="">
          <p:sp>
            <p:nvSpPr>
              <p:cNvPr id="39" name="TextBox 38">
                <a:extLst>
                  <a:ext uri="{FF2B5EF4-FFF2-40B4-BE49-F238E27FC236}">
                    <a16:creationId xmlns:a16="http://schemas.microsoft.com/office/drawing/2014/main" id="{E18C0BE8-1A89-45BB-A868-7BF9657E7E2A}"/>
                  </a:ext>
                </a:extLst>
              </p:cNvPr>
              <p:cNvSpPr txBox="1">
                <a:spLocks noRot="1" noChangeAspect="1" noMove="1" noResize="1" noEditPoints="1" noAdjustHandles="1" noChangeArrowheads="1" noChangeShapeType="1" noTextEdit="1"/>
              </p:cNvSpPr>
              <p:nvPr/>
            </p:nvSpPr>
            <p:spPr>
              <a:xfrm>
                <a:off x="5523272" y="2573986"/>
                <a:ext cx="1994216" cy="327526"/>
              </a:xfrm>
              <a:prstGeom prst="rect">
                <a:avLst/>
              </a:prstGeom>
              <a:blipFill>
                <a:blip r:embed="rId17"/>
                <a:stretch>
                  <a:fillRect/>
                </a:stretch>
              </a:blipFill>
            </p:spPr>
            <p:txBody>
              <a:bodyPr/>
              <a:lstStyle/>
              <a:p>
                <a:r>
                  <a:rPr lang="sv-SE">
                    <a:noFill/>
                  </a:rPr>
                  <a:t> </a:t>
                </a:r>
              </a:p>
            </p:txBody>
          </p:sp>
        </mc:Fallback>
      </mc:AlternateContent>
      <p:cxnSp>
        <p:nvCxnSpPr>
          <p:cNvPr id="40" name="Straight Arrow Connector 39">
            <a:extLst>
              <a:ext uri="{FF2B5EF4-FFF2-40B4-BE49-F238E27FC236}">
                <a16:creationId xmlns:a16="http://schemas.microsoft.com/office/drawing/2014/main" id="{BAC168FF-56DC-4228-B9CC-3748E052FD48}"/>
              </a:ext>
            </a:extLst>
          </p:cNvPr>
          <p:cNvCxnSpPr>
            <a:cxnSpLocks/>
          </p:cNvCxnSpPr>
          <p:nvPr/>
        </p:nvCxnSpPr>
        <p:spPr>
          <a:xfrm>
            <a:off x="5584078" y="3102790"/>
            <a:ext cx="1018286"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9882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smtClean="0"/>
              <a:t>The Controllable </a:t>
            </a:r>
            <a:r>
              <a:rPr lang="en-US" dirty="0"/>
              <a:t>R</a:t>
            </a:r>
            <a:r>
              <a:rPr lang="en-US" dirty="0" smtClean="0"/>
              <a:t>egion of the Superimposed Voltage - SPWM </a:t>
            </a:r>
            <a:endParaRPr lang="sv-SE" dirty="0"/>
          </a:p>
        </p:txBody>
      </p:sp>
      <p:pic>
        <p:nvPicPr>
          <p:cNvPr id="4" name="Picture 3"/>
          <p:cNvPicPr>
            <a:picLocks noChangeAspect="1"/>
          </p:cNvPicPr>
          <p:nvPr/>
        </p:nvPicPr>
        <p:blipFill>
          <a:blip r:embed="rId2"/>
          <a:stretch>
            <a:fillRect/>
          </a:stretch>
        </p:blipFill>
        <p:spPr>
          <a:xfrm>
            <a:off x="274320" y="1649730"/>
            <a:ext cx="3439160" cy="2579370"/>
          </a:xfrm>
          <a:prstGeom prst="rect">
            <a:avLst/>
          </a:prstGeom>
        </p:spPr>
      </p:pic>
      <p:pic>
        <p:nvPicPr>
          <p:cNvPr id="5" name="Picture 4"/>
          <p:cNvPicPr>
            <a:picLocks noChangeAspect="1"/>
          </p:cNvPicPr>
          <p:nvPr/>
        </p:nvPicPr>
        <p:blipFill>
          <a:blip r:embed="rId3"/>
          <a:stretch>
            <a:fillRect/>
          </a:stretch>
        </p:blipFill>
        <p:spPr>
          <a:xfrm>
            <a:off x="4175760" y="1593043"/>
            <a:ext cx="3429000" cy="2571750"/>
          </a:xfrm>
          <a:prstGeom prst="rect">
            <a:avLst/>
          </a:prstGeom>
        </p:spPr>
      </p:pic>
      <p:pic>
        <p:nvPicPr>
          <p:cNvPr id="6" name="Picture 5"/>
          <p:cNvPicPr>
            <a:picLocks noChangeAspect="1"/>
          </p:cNvPicPr>
          <p:nvPr/>
        </p:nvPicPr>
        <p:blipFill>
          <a:blip r:embed="rId4"/>
          <a:stretch>
            <a:fillRect/>
          </a:stretch>
        </p:blipFill>
        <p:spPr>
          <a:xfrm>
            <a:off x="7884160" y="1649730"/>
            <a:ext cx="3439160" cy="2579370"/>
          </a:xfrm>
          <a:prstGeom prst="rect">
            <a:avLst/>
          </a:prstGeom>
        </p:spPr>
      </p:pic>
      <p:pic>
        <p:nvPicPr>
          <p:cNvPr id="7" name="Picture 6"/>
          <p:cNvPicPr>
            <a:picLocks noChangeAspect="1"/>
          </p:cNvPicPr>
          <p:nvPr/>
        </p:nvPicPr>
        <p:blipFill>
          <a:blip r:embed="rId5"/>
          <a:stretch>
            <a:fillRect/>
          </a:stretch>
        </p:blipFill>
        <p:spPr>
          <a:xfrm>
            <a:off x="566420" y="4495356"/>
            <a:ext cx="3147060" cy="2360295"/>
          </a:xfrm>
          <a:prstGeom prst="rect">
            <a:avLst/>
          </a:prstGeom>
        </p:spPr>
      </p:pic>
      <p:pic>
        <p:nvPicPr>
          <p:cNvPr id="8" name="Picture 7"/>
          <p:cNvPicPr>
            <a:picLocks noChangeAspect="1"/>
          </p:cNvPicPr>
          <p:nvPr/>
        </p:nvPicPr>
        <p:blipFill>
          <a:blip r:embed="rId6"/>
          <a:stretch>
            <a:fillRect/>
          </a:stretch>
        </p:blipFill>
        <p:spPr>
          <a:xfrm>
            <a:off x="8106886" y="4469341"/>
            <a:ext cx="3216434" cy="2412326"/>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5485606" y="1376111"/>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xmlns="">
          <p:sp>
            <p:nvSpPr>
              <p:cNvPr id="3" name="TextBox 2"/>
              <p:cNvSpPr txBox="1">
                <a:spLocks noRot="1" noChangeAspect="1" noMove="1" noResize="1" noEditPoints="1" noAdjustHandles="1" noChangeArrowheads="1" noChangeShapeType="1" noTextEdit="1"/>
              </p:cNvSpPr>
              <p:nvPr/>
            </p:nvSpPr>
            <p:spPr>
              <a:xfrm>
                <a:off x="5485606" y="1376111"/>
                <a:ext cx="125730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706880" y="1372224"/>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1706880" y="1372224"/>
                <a:ext cx="125730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9166066" y="1355752"/>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68616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94675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11"/>
                <a:stretch>
                  <a:fillRect/>
                </a:stretch>
              </a:blipFill>
            </p:spPr>
            <p:txBody>
              <a:bodyPr/>
              <a:lstStyle/>
              <a:p>
                <a:r>
                  <a:rPr lang="sv-SE">
                    <a:noFill/>
                  </a:rPr>
                  <a:t> </a:t>
                </a:r>
              </a:p>
            </p:txBody>
          </p:sp>
        </mc:Fallback>
      </mc:AlternateContent>
      <p:pic>
        <p:nvPicPr>
          <p:cNvPr id="13" name="Picture 12"/>
          <p:cNvPicPr>
            <a:picLocks noChangeAspect="1"/>
          </p:cNvPicPr>
          <p:nvPr/>
        </p:nvPicPr>
        <p:blipFill>
          <a:blip r:embed="rId12"/>
          <a:stretch>
            <a:fillRect/>
          </a:stretch>
        </p:blipFill>
        <p:spPr>
          <a:xfrm>
            <a:off x="4431506" y="4484878"/>
            <a:ext cx="3141980" cy="2356485"/>
          </a:xfrm>
          <a:prstGeom prst="rect">
            <a:avLst/>
          </a:prstGeom>
        </p:spPr>
      </p:pic>
      <mc:AlternateContent xmlns:mc="http://schemas.openxmlformats.org/markup-compatibility/2006" xmlns:a14="http://schemas.microsoft.com/office/drawing/2010/main">
        <mc:Choice Requires="a14">
          <p:sp>
            <p:nvSpPr>
              <p:cNvPr id="15" name="TextBox 14"/>
              <p:cNvSpPr txBox="1"/>
              <p:nvPr/>
            </p:nvSpPr>
            <p:spPr>
              <a:xfrm>
                <a:off x="5217080"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=0.80</m:t>
                      </m:r>
                    </m:oMath>
                  </m:oMathPara>
                </a14:m>
                <a:endParaRPr lang="sv-SE" dirty="0"/>
              </a:p>
            </p:txBody>
          </p:sp>
        </mc:Choice>
        <mc:Fallback xmlns="">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13"/>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4460420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smtClean="0"/>
              <a:t>The Controllable </a:t>
            </a:r>
            <a:r>
              <a:rPr lang="en-US" dirty="0"/>
              <a:t>R</a:t>
            </a:r>
            <a:r>
              <a:rPr lang="en-US" dirty="0" smtClean="0"/>
              <a:t>egion of the Superimposed Voltage - SVPWM </a:t>
            </a:r>
            <a:endParaRPr lang="sv-SE" dirty="0"/>
          </a:p>
        </p:txBody>
      </p:sp>
      <mc:AlternateContent xmlns:mc="http://schemas.openxmlformats.org/markup-compatibility/2006" xmlns:a14="http://schemas.microsoft.com/office/drawing/2010/main">
        <mc:Choice Requires="a14">
          <p:sp>
            <p:nvSpPr>
              <p:cNvPr id="3" name="TextBox 2"/>
              <p:cNvSpPr txBox="1"/>
              <p:nvPr/>
            </p:nvSpPr>
            <p:spPr>
              <a:xfrm>
                <a:off x="5462746" y="150171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xmlns="">
          <p:sp>
            <p:nvSpPr>
              <p:cNvPr id="3" name="TextBox 2"/>
              <p:cNvSpPr txBox="1">
                <a:spLocks noRot="1" noChangeAspect="1" noMove="1" noResize="1" noEditPoints="1" noAdjustHandles="1" noChangeArrowheads="1" noChangeShapeType="1" noTextEdit="1"/>
              </p:cNvSpPr>
              <p:nvPr/>
            </p:nvSpPr>
            <p:spPr>
              <a:xfrm>
                <a:off x="5462746" y="1501710"/>
                <a:ext cx="1257300" cy="369332"/>
              </a:xfrm>
              <a:prstGeom prst="rect">
                <a:avLst/>
              </a:prstGeom>
              <a:blipFill>
                <a:blip r:embed="rId2"/>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614170" y="1560777"/>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1614170" y="1560777"/>
                <a:ext cx="125730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9166066" y="1355752"/>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68616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946753" y="4229100"/>
                <a:ext cx="1257300"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a14:m>
                <a:r>
                  <a:rPr lang="sv-SE" dirty="0" smtClean="0"/>
                  <a:t>.1</a:t>
                </a:r>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6"/>
                <a:stretch>
                  <a:fillRect t="-10000" b="-26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5217080"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xmlns="">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7"/>
                <a:stretch>
                  <a:fillRect/>
                </a:stretch>
              </a:blipFill>
            </p:spPr>
            <p:txBody>
              <a:bodyPr/>
              <a:lstStyle/>
              <a:p>
                <a:r>
                  <a:rPr lang="sv-SE">
                    <a:noFill/>
                  </a:rPr>
                  <a:t> </a:t>
                </a:r>
              </a:p>
            </p:txBody>
          </p:sp>
        </mc:Fallback>
      </mc:AlternateContent>
      <p:pic>
        <p:nvPicPr>
          <p:cNvPr id="14" name="Picture 13"/>
          <p:cNvPicPr>
            <a:picLocks noChangeAspect="1"/>
          </p:cNvPicPr>
          <p:nvPr/>
        </p:nvPicPr>
        <p:blipFill>
          <a:blip r:embed="rId8"/>
          <a:stretch>
            <a:fillRect/>
          </a:stretch>
        </p:blipFill>
        <p:spPr>
          <a:xfrm>
            <a:off x="855583" y="1839449"/>
            <a:ext cx="2918460" cy="2188845"/>
          </a:xfrm>
          <a:prstGeom prst="rect">
            <a:avLst/>
          </a:prstGeom>
        </p:spPr>
      </p:pic>
      <p:pic>
        <p:nvPicPr>
          <p:cNvPr id="16" name="Picture 15"/>
          <p:cNvPicPr>
            <a:picLocks noChangeAspect="1"/>
          </p:cNvPicPr>
          <p:nvPr/>
        </p:nvPicPr>
        <p:blipFill>
          <a:blip r:embed="rId9"/>
          <a:stretch>
            <a:fillRect/>
          </a:stretch>
        </p:blipFill>
        <p:spPr>
          <a:xfrm>
            <a:off x="4442460" y="1745443"/>
            <a:ext cx="3078480" cy="2308860"/>
          </a:xfrm>
          <a:prstGeom prst="rect">
            <a:avLst/>
          </a:prstGeom>
        </p:spPr>
      </p:pic>
      <p:pic>
        <p:nvPicPr>
          <p:cNvPr id="17" name="Picture 16"/>
          <p:cNvPicPr>
            <a:picLocks noChangeAspect="1"/>
          </p:cNvPicPr>
          <p:nvPr/>
        </p:nvPicPr>
        <p:blipFill>
          <a:blip r:embed="rId10"/>
          <a:stretch>
            <a:fillRect/>
          </a:stretch>
        </p:blipFill>
        <p:spPr>
          <a:xfrm>
            <a:off x="8046720" y="1839449"/>
            <a:ext cx="3055620" cy="2291715"/>
          </a:xfrm>
          <a:prstGeom prst="rect">
            <a:avLst/>
          </a:prstGeom>
        </p:spPr>
      </p:pic>
      <p:pic>
        <p:nvPicPr>
          <p:cNvPr id="18" name="Picture 17"/>
          <p:cNvPicPr>
            <a:picLocks noChangeAspect="1"/>
          </p:cNvPicPr>
          <p:nvPr/>
        </p:nvPicPr>
        <p:blipFill>
          <a:blip r:embed="rId11"/>
          <a:stretch>
            <a:fillRect/>
          </a:stretch>
        </p:blipFill>
        <p:spPr>
          <a:xfrm>
            <a:off x="855583" y="4526280"/>
            <a:ext cx="3185159" cy="2388869"/>
          </a:xfrm>
          <a:prstGeom prst="rect">
            <a:avLst/>
          </a:prstGeom>
        </p:spPr>
      </p:pic>
      <p:pic>
        <p:nvPicPr>
          <p:cNvPr id="19" name="Picture 18"/>
          <p:cNvPicPr>
            <a:picLocks noChangeAspect="1"/>
          </p:cNvPicPr>
          <p:nvPr/>
        </p:nvPicPr>
        <p:blipFill>
          <a:blip r:embed="rId12"/>
          <a:stretch>
            <a:fillRect/>
          </a:stretch>
        </p:blipFill>
        <p:spPr>
          <a:xfrm>
            <a:off x="4442460" y="4526280"/>
            <a:ext cx="3258344" cy="2443758"/>
          </a:xfrm>
          <a:prstGeom prst="rect">
            <a:avLst/>
          </a:prstGeom>
        </p:spPr>
      </p:pic>
      <p:pic>
        <p:nvPicPr>
          <p:cNvPr id="20" name="Picture 19"/>
          <p:cNvPicPr>
            <a:picLocks noChangeAspect="1"/>
          </p:cNvPicPr>
          <p:nvPr/>
        </p:nvPicPr>
        <p:blipFill>
          <a:blip r:embed="rId13"/>
          <a:stretch>
            <a:fillRect/>
          </a:stretch>
        </p:blipFill>
        <p:spPr>
          <a:xfrm>
            <a:off x="7937024" y="4596050"/>
            <a:ext cx="3165316" cy="2373987"/>
          </a:xfrm>
          <a:prstGeom prst="rect">
            <a:avLst/>
          </a:prstGeom>
        </p:spPr>
      </p:pic>
    </p:spTree>
    <p:extLst>
      <p:ext uri="{BB962C8B-B14F-4D97-AF65-F5344CB8AC3E}">
        <p14:creationId xmlns:p14="http://schemas.microsoft.com/office/powerpoint/2010/main" val="399043641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455" y="310772"/>
            <a:ext cx="10990263" cy="568412"/>
          </a:xfrm>
        </p:spPr>
        <p:txBody>
          <a:bodyPr/>
          <a:lstStyle/>
          <a:p>
            <a:endParaRPr lang="sv-SE"/>
          </a:p>
        </p:txBody>
      </p:sp>
      <p:sp>
        <p:nvSpPr>
          <p:cNvPr id="3" name="Content Placeholder 2"/>
          <p:cNvSpPr>
            <a:spLocks noGrp="1"/>
          </p:cNvSpPr>
          <p:nvPr>
            <p:ph idx="1"/>
          </p:nvPr>
        </p:nvSpPr>
        <p:spPr/>
        <p:txBody>
          <a:bodyPr/>
          <a:lstStyle/>
          <a:p>
            <a:endParaRPr lang="sv-SE" dirty="0"/>
          </a:p>
        </p:txBody>
      </p:sp>
    </p:spTree>
    <p:extLst>
      <p:ext uri="{BB962C8B-B14F-4D97-AF65-F5344CB8AC3E}">
        <p14:creationId xmlns:p14="http://schemas.microsoft.com/office/powerpoint/2010/main" val="27420650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5862505" y="2792972"/>
            <a:ext cx="3810000" cy="2857500"/>
          </a:xfrm>
          <a:prstGeom prst="rect">
            <a:avLst/>
          </a:prstGeom>
        </p:spPr>
      </p:pic>
      <p:grpSp>
        <p:nvGrpSpPr>
          <p:cNvPr id="34" name="Group 33">
            <a:extLst>
              <a:ext uri="{FF2B5EF4-FFF2-40B4-BE49-F238E27FC236}">
                <a16:creationId xmlns:a16="http://schemas.microsoft.com/office/drawing/2014/main" id="{42931F40-6C16-4D21-A9C5-F36DFF06BB93}"/>
              </a:ext>
            </a:extLst>
          </p:cNvPr>
          <p:cNvGrpSpPr/>
          <p:nvPr/>
        </p:nvGrpSpPr>
        <p:grpSpPr>
          <a:xfrm>
            <a:off x="4272179" y="123692"/>
            <a:ext cx="2748641" cy="2032430"/>
            <a:chOff x="1150962" y="1507183"/>
            <a:chExt cx="2748641" cy="2032430"/>
          </a:xfrm>
        </p:grpSpPr>
        <p:cxnSp>
          <p:nvCxnSpPr>
            <p:cNvPr id="35" name="Straight Arrow Connector 34">
              <a:extLst>
                <a:ext uri="{FF2B5EF4-FFF2-40B4-BE49-F238E27FC236}">
                  <a16:creationId xmlns:a16="http://schemas.microsoft.com/office/drawing/2014/main" id="{8687EC02-15CD-49D2-8D11-D775B5BD7E18}"/>
                </a:ext>
              </a:extLst>
            </p:cNvPr>
            <p:cNvCxnSpPr>
              <a:cxnSpLocks/>
            </p:cNvCxnSpPr>
            <p:nvPr/>
          </p:nvCxnSpPr>
          <p:spPr>
            <a:xfrm>
              <a:off x="1156196" y="3539612"/>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891F983-6451-47A5-AC38-A0001366C6C3}"/>
                </a:ext>
              </a:extLst>
            </p:cNvPr>
            <p:cNvCxnSpPr>
              <a:cxnSpLocks/>
            </p:cNvCxnSpPr>
            <p:nvPr/>
          </p:nvCxnSpPr>
          <p:spPr>
            <a:xfrm flipV="1">
              <a:off x="2356843" y="2513991"/>
              <a:ext cx="1305355" cy="1025622"/>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838007F-26DE-4538-8E08-DE7810BA5B4D}"/>
                </a:ext>
              </a:extLst>
            </p:cNvPr>
            <p:cNvCxnSpPr>
              <a:cxnSpLocks/>
            </p:cNvCxnSpPr>
            <p:nvPr/>
          </p:nvCxnSpPr>
          <p:spPr>
            <a:xfrm flipV="1">
              <a:off x="3667433" y="1507183"/>
              <a:ext cx="232170" cy="1006809"/>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6EDD62-DB12-48EE-9BA0-2970AA56E861}"/>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F93607E-475E-40E0-A95C-3F1CB97383FC}"/>
                  </a:ext>
                </a:extLst>
              </p:cNvPr>
              <p:cNvSpPr txBox="1"/>
              <p:nvPr/>
            </p:nvSpPr>
            <p:spPr>
              <a:xfrm rot="19268304">
                <a:off x="4793907" y="655634"/>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9268304">
                <a:off x="4793907" y="655634"/>
                <a:ext cx="1634481" cy="43127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39C0750-3089-473F-8FC7-5CF12CE44F1A}"/>
                  </a:ext>
                </a:extLst>
              </p:cNvPr>
              <p:cNvSpPr txBox="1"/>
              <p:nvPr/>
            </p:nvSpPr>
            <p:spPr>
              <a:xfrm>
                <a:off x="4139923" y="173533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4139923" y="1735335"/>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5B954CE-BAA8-448C-AA48-A99159F29801}"/>
                  </a:ext>
                </a:extLst>
              </p:cNvPr>
              <p:cNvSpPr txBox="1"/>
              <p:nvPr/>
            </p:nvSpPr>
            <p:spPr>
              <a:xfrm rot="19308726">
                <a:off x="5128684" y="1227910"/>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9308726">
                <a:off x="5128684" y="1227910"/>
                <a:ext cx="1634481" cy="42909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A2E7C-3570-4D85-9E6C-FDE449602597}"/>
                  </a:ext>
                </a:extLst>
              </p:cNvPr>
              <p:cNvSpPr txBox="1"/>
              <p:nvPr/>
            </p:nvSpPr>
            <p:spPr>
              <a:xfrm rot="16904928">
                <a:off x="5805188" y="462336"/>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2" name="TextBox 4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16904928">
                <a:off x="5805188" y="462336"/>
                <a:ext cx="1634481" cy="431272"/>
              </a:xfrm>
              <a:prstGeom prst="rect">
                <a:avLst/>
              </a:prstGeom>
              <a:blipFill>
                <a:blip r:embed="rId6"/>
                <a:stretch>
                  <a:fillRect/>
                </a:stretch>
              </a:blipFill>
            </p:spPr>
            <p:txBody>
              <a:bodyPr/>
              <a:lstStyle/>
              <a:p>
                <a:r>
                  <a:rPr lang="sv-SE">
                    <a:noFill/>
                  </a:rPr>
                  <a:t> </a:t>
                </a:r>
              </a:p>
            </p:txBody>
          </p:sp>
        </mc:Fallback>
      </mc:AlternateContent>
      <p:sp>
        <p:nvSpPr>
          <p:cNvPr id="43" name="Arc 42">
            <a:extLst>
              <a:ext uri="{FF2B5EF4-FFF2-40B4-BE49-F238E27FC236}">
                <a16:creationId xmlns:a16="http://schemas.microsoft.com/office/drawing/2014/main" id="{D4A3E4AF-9DBA-4862-A0A7-A453C4582F60}"/>
              </a:ext>
            </a:extLst>
          </p:cNvPr>
          <p:cNvSpPr/>
          <p:nvPr/>
        </p:nvSpPr>
        <p:spPr>
          <a:xfrm rot="2814214">
            <a:off x="4358964" y="180337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FC3E724-4164-42F4-B6CD-CCDD3A37AB7B}"/>
                  </a:ext>
                </a:extLst>
              </p:cNvPr>
              <p:cNvSpPr txBox="1"/>
              <p:nvPr/>
            </p:nvSpPr>
            <p:spPr>
              <a:xfrm>
                <a:off x="4139923" y="2215801"/>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4" name="TextBox 4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4139923" y="2215801"/>
                <a:ext cx="1634481" cy="429092"/>
              </a:xfrm>
              <a:prstGeom prst="rect">
                <a:avLst/>
              </a:prstGeom>
              <a:blipFill>
                <a:blip r:embed="rId7"/>
                <a:stretch>
                  <a:fillRect t="-14085" b="-21127"/>
                </a:stretch>
              </a:blipFill>
            </p:spPr>
            <p:txBody>
              <a:bodyPr/>
              <a:lstStyle/>
              <a:p>
                <a:r>
                  <a:rPr lang="sv-SE">
                    <a:noFill/>
                  </a:rPr>
                  <a:t> </a:t>
                </a:r>
              </a:p>
            </p:txBody>
          </p:sp>
        </mc:Fallback>
      </mc:AlternateContent>
      <p:cxnSp>
        <p:nvCxnSpPr>
          <p:cNvPr id="45" name="Straight Connector 44">
            <a:extLst>
              <a:ext uri="{FF2B5EF4-FFF2-40B4-BE49-F238E27FC236}">
                <a16:creationId xmlns:a16="http://schemas.microsoft.com/office/drawing/2014/main" id="{09AF85FA-0B95-4CD6-83B4-5551F56BE402}"/>
              </a:ext>
            </a:extLst>
          </p:cNvPr>
          <p:cNvCxnSpPr/>
          <p:nvPr/>
        </p:nvCxnSpPr>
        <p:spPr>
          <a:xfrm>
            <a:off x="5478060" y="2146288"/>
            <a:ext cx="1859472" cy="98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Arc 45">
            <a:extLst>
              <a:ext uri="{FF2B5EF4-FFF2-40B4-BE49-F238E27FC236}">
                <a16:creationId xmlns:a16="http://schemas.microsoft.com/office/drawing/2014/main" id="{3D767F05-08C7-455D-B8C9-32C8230132C1}"/>
              </a:ext>
            </a:extLst>
          </p:cNvPr>
          <p:cNvSpPr/>
          <p:nvPr/>
        </p:nvSpPr>
        <p:spPr>
          <a:xfrm rot="2814214">
            <a:off x="5542302" y="184556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AB7A3D7-2541-417F-AF34-EC5A2E4DCE53}"/>
                  </a:ext>
                </a:extLst>
              </p:cNvPr>
              <p:cNvSpPr txBox="1"/>
              <p:nvPr/>
            </p:nvSpPr>
            <p:spPr>
              <a:xfrm>
                <a:off x="5327117" y="1798368"/>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7" name="TextBox 4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327117" y="1798368"/>
                <a:ext cx="1634481"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66F919-25EF-4866-8D83-02D9455783A5}"/>
                  </a:ext>
                </a:extLst>
              </p:cNvPr>
              <p:cNvSpPr txBox="1"/>
              <p:nvPr/>
            </p:nvSpPr>
            <p:spPr>
              <a:xfrm>
                <a:off x="6332404" y="378220"/>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48" name="TextBox 4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6332404" y="378220"/>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49" name="Straight Connector 48">
            <a:extLst>
              <a:ext uri="{FF2B5EF4-FFF2-40B4-BE49-F238E27FC236}">
                <a16:creationId xmlns:a16="http://schemas.microsoft.com/office/drawing/2014/main" id="{FEAE24A3-7280-4EF7-9DF2-796E3573FD0F}"/>
              </a:ext>
            </a:extLst>
          </p:cNvPr>
          <p:cNvCxnSpPr>
            <a:cxnSpLocks/>
          </p:cNvCxnSpPr>
          <p:nvPr/>
        </p:nvCxnSpPr>
        <p:spPr>
          <a:xfrm flipV="1">
            <a:off x="6783415" y="366651"/>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88C2E955-622F-424C-A8BB-85266E8ACF08}"/>
              </a:ext>
            </a:extLst>
          </p:cNvPr>
          <p:cNvSpPr/>
          <p:nvPr/>
        </p:nvSpPr>
        <p:spPr>
          <a:xfrm rot="1387721">
            <a:off x="6769690" y="714337"/>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9C14C47-7BE8-489B-8823-016DA802BE87}"/>
                  </a:ext>
                </a:extLst>
              </p:cNvPr>
              <p:cNvSpPr txBox="1"/>
              <p:nvPr/>
            </p:nvSpPr>
            <p:spPr>
              <a:xfrm>
                <a:off x="7521725" y="2325327"/>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1" name="TextBox 5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a:off x="7521725" y="2325327"/>
                <a:ext cx="1846248" cy="445250"/>
              </a:xfrm>
              <a:prstGeom prst="rect">
                <a:avLst/>
              </a:prstGeom>
              <a:blipFill>
                <a:blip r:embed="rId10"/>
                <a:stretch>
                  <a:fillRect t="-5479" b="-8219"/>
                </a:stretch>
              </a:blipFill>
            </p:spPr>
            <p:txBody>
              <a:bodyPr/>
              <a:lstStyle/>
              <a:p>
                <a:r>
                  <a:rPr lang="sv-SE">
                    <a:noFill/>
                  </a:rPr>
                  <a:t> </a:t>
                </a:r>
              </a:p>
            </p:txBody>
          </p:sp>
        </mc:Fallback>
      </mc:AlternateContent>
      <p:sp>
        <p:nvSpPr>
          <p:cNvPr id="52" name="TextBox 51">
            <a:extLst>
              <a:ext uri="{FF2B5EF4-FFF2-40B4-BE49-F238E27FC236}">
                <a16:creationId xmlns:a16="http://schemas.microsoft.com/office/drawing/2014/main" id="{71EAB1BB-A155-493B-8CB6-C93DDCB934A8}"/>
              </a:ext>
            </a:extLst>
          </p:cNvPr>
          <p:cNvSpPr txBox="1"/>
          <p:nvPr/>
        </p:nvSpPr>
        <p:spPr>
          <a:xfrm>
            <a:off x="7541286" y="5687974"/>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9AC663BD-B449-49A1-AFF8-7712C577E07E}"/>
              </a:ext>
            </a:extLst>
          </p:cNvPr>
          <p:cNvSpPr txBox="1"/>
          <p:nvPr/>
        </p:nvSpPr>
        <p:spPr>
          <a:xfrm>
            <a:off x="4576860" y="5676270"/>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54" name="Straight Connector 53">
            <a:extLst>
              <a:ext uri="{FF2B5EF4-FFF2-40B4-BE49-F238E27FC236}">
                <a16:creationId xmlns:a16="http://schemas.microsoft.com/office/drawing/2014/main" id="{19EBD052-6C55-45ED-A299-DDEA50CA9371}"/>
              </a:ext>
            </a:extLst>
          </p:cNvPr>
          <p:cNvCxnSpPr>
            <a:cxnSpLocks/>
          </p:cNvCxnSpPr>
          <p:nvPr/>
        </p:nvCxnSpPr>
        <p:spPr>
          <a:xfrm>
            <a:off x="7767505" y="2237607"/>
            <a:ext cx="0" cy="1836773"/>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BBAEC16-F3FF-435B-96B7-CF2B1A76221F}"/>
              </a:ext>
            </a:extLst>
          </p:cNvPr>
          <p:cNvCxnSpPr>
            <a:cxnSpLocks/>
          </p:cNvCxnSpPr>
          <p:nvPr/>
        </p:nvCxnSpPr>
        <p:spPr>
          <a:xfrm>
            <a:off x="8518744" y="2724113"/>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2C561D5-BF09-4503-B138-D7F0ABD85EF9}"/>
              </a:ext>
            </a:extLst>
          </p:cNvPr>
          <p:cNvCxnSpPr>
            <a:cxnSpLocks/>
          </p:cNvCxnSpPr>
          <p:nvPr/>
        </p:nvCxnSpPr>
        <p:spPr>
          <a:xfrm>
            <a:off x="7815396" y="2743968"/>
            <a:ext cx="795493"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F3454730-E93C-4477-A98A-968C5EE570D3}"/>
              </a:ext>
            </a:extLst>
          </p:cNvPr>
          <p:cNvSpPr txBox="1"/>
          <p:nvPr/>
        </p:nvSpPr>
        <p:spPr>
          <a:xfrm>
            <a:off x="6000677" y="2296928"/>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58" name="Straight Connector 57">
            <a:extLst>
              <a:ext uri="{FF2B5EF4-FFF2-40B4-BE49-F238E27FC236}">
                <a16:creationId xmlns:a16="http://schemas.microsoft.com/office/drawing/2014/main" id="{9413D2C3-2B18-4664-881C-430350C8A0D2}"/>
              </a:ext>
            </a:extLst>
          </p:cNvPr>
          <p:cNvCxnSpPr>
            <a:cxnSpLocks/>
          </p:cNvCxnSpPr>
          <p:nvPr/>
        </p:nvCxnSpPr>
        <p:spPr>
          <a:xfrm>
            <a:off x="8873634" y="2215801"/>
            <a:ext cx="0" cy="1918202"/>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3461328C-55E6-46B8-B840-8C8A3C370AC9}"/>
                  </a:ext>
                </a:extLst>
              </p:cNvPr>
              <p:cNvSpPr txBox="1"/>
              <p:nvPr/>
            </p:nvSpPr>
            <p:spPr>
              <a:xfrm>
                <a:off x="7500979" y="1774170"/>
                <a:ext cx="1688741"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9" name="TextBox 5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a:off x="7500979" y="1774170"/>
                <a:ext cx="1688741" cy="445250"/>
              </a:xfrm>
              <a:prstGeom prst="rect">
                <a:avLst/>
              </a:prstGeom>
              <a:blipFill>
                <a:blip r:embed="rId11"/>
                <a:stretch>
                  <a:fillRect t="-5479" b="-8219"/>
                </a:stretch>
              </a:blipFill>
            </p:spPr>
            <p:txBody>
              <a:bodyPr/>
              <a:lstStyle/>
              <a:p>
                <a:r>
                  <a:rPr lang="sv-SE">
                    <a:noFill/>
                  </a:rPr>
                  <a:t> </a:t>
                </a:r>
              </a:p>
            </p:txBody>
          </p:sp>
        </mc:Fallback>
      </mc:AlternateContent>
      <p:cxnSp>
        <p:nvCxnSpPr>
          <p:cNvPr id="60" name="Straight Arrow Connector 59">
            <a:extLst>
              <a:ext uri="{FF2B5EF4-FFF2-40B4-BE49-F238E27FC236}">
                <a16:creationId xmlns:a16="http://schemas.microsoft.com/office/drawing/2014/main" id="{61209277-7535-4ECB-AE4F-B8E59175BFA4}"/>
              </a:ext>
            </a:extLst>
          </p:cNvPr>
          <p:cNvCxnSpPr>
            <a:cxnSpLocks/>
          </p:cNvCxnSpPr>
          <p:nvPr/>
        </p:nvCxnSpPr>
        <p:spPr>
          <a:xfrm flipV="1">
            <a:off x="7815396" y="2250072"/>
            <a:ext cx="997302" cy="330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61" name="Picture 6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2926080" y="2811275"/>
            <a:ext cx="3810000" cy="2857500"/>
          </a:xfrm>
          <a:prstGeom prst="rect">
            <a:avLst/>
          </a:prstGeom>
        </p:spPr>
      </p:pic>
    </p:spTree>
    <p:extLst>
      <p:ext uri="{BB962C8B-B14F-4D97-AF65-F5344CB8AC3E}">
        <p14:creationId xmlns:p14="http://schemas.microsoft.com/office/powerpoint/2010/main" val="39794409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6776943" y="3435439"/>
            <a:ext cx="3810000" cy="2857500"/>
          </a:xfrm>
          <a:prstGeom prst="rect">
            <a:avLst/>
          </a:prstGeom>
        </p:spPr>
      </p:pic>
      <p:cxnSp>
        <p:nvCxnSpPr>
          <p:cNvPr id="5" name="Straight Arrow Connector 4">
            <a:extLst>
              <a:ext uri="{FF2B5EF4-FFF2-40B4-BE49-F238E27FC236}">
                <a16:creationId xmlns:a16="http://schemas.microsoft.com/office/drawing/2014/main" id="{8687EC02-15CD-49D2-8D11-D775B5BD7E18}"/>
              </a:ext>
            </a:extLst>
          </p:cNvPr>
          <p:cNvCxnSpPr>
            <a:cxnSpLocks/>
          </p:cNvCxnSpPr>
          <p:nvPr/>
        </p:nvCxnSpPr>
        <p:spPr>
          <a:xfrm>
            <a:off x="3939595" y="2051489"/>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891F983-6451-47A5-AC38-A0001366C6C3}"/>
              </a:ext>
            </a:extLst>
          </p:cNvPr>
          <p:cNvCxnSpPr>
            <a:cxnSpLocks/>
          </p:cNvCxnSpPr>
          <p:nvPr/>
        </p:nvCxnSpPr>
        <p:spPr>
          <a:xfrm flipV="1">
            <a:off x="5140242" y="126767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38007F-26DE-4538-8E08-DE7810BA5B4D}"/>
              </a:ext>
            </a:extLst>
          </p:cNvPr>
          <p:cNvCxnSpPr>
            <a:cxnSpLocks/>
          </p:cNvCxnSpPr>
          <p:nvPr/>
        </p:nvCxnSpPr>
        <p:spPr>
          <a:xfrm flipV="1">
            <a:off x="5410922" y="1053115"/>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6EDD62-DB12-48EE-9BA0-2970AA56E861}"/>
              </a:ext>
            </a:extLst>
          </p:cNvPr>
          <p:cNvCxnSpPr>
            <a:cxnSpLocks/>
          </p:cNvCxnSpPr>
          <p:nvPr/>
        </p:nvCxnSpPr>
        <p:spPr>
          <a:xfrm>
            <a:off x="3934361" y="2051490"/>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F93607E-475E-40E0-A95C-3F1CB97383FC}"/>
                  </a:ext>
                </a:extLst>
              </p:cNvPr>
              <p:cNvSpPr txBox="1"/>
              <p:nvPr/>
            </p:nvSpPr>
            <p:spPr>
              <a:xfrm rot="1503227">
                <a:off x="4073158" y="2297705"/>
                <a:ext cx="74979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9" name="TextBox 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503227">
                <a:off x="4073158" y="2297705"/>
                <a:ext cx="749791" cy="431272"/>
              </a:xfrm>
              <a:prstGeom prst="rect">
                <a:avLst/>
              </a:prstGeom>
              <a:blipFill>
                <a:blip r:embed="rId3"/>
                <a:stretch>
                  <a:fillRect l="-6993" t="-9402" r="-699" b="-1709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39C0750-3089-473F-8FC7-5CF12CE44F1A}"/>
                  </a:ext>
                </a:extLst>
              </p:cNvPr>
              <p:cNvSpPr txBox="1"/>
              <p:nvPr/>
            </p:nvSpPr>
            <p:spPr>
              <a:xfrm>
                <a:off x="3981289" y="2033861"/>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10" name="TextBox 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3981289" y="2033861"/>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5B954CE-BAA8-448C-AA48-A99159F29801}"/>
                  </a:ext>
                </a:extLst>
              </p:cNvPr>
              <p:cNvSpPr txBox="1"/>
              <p:nvPr/>
            </p:nvSpPr>
            <p:spPr>
              <a:xfrm rot="17351717">
                <a:off x="4631285" y="1327597"/>
                <a:ext cx="707218"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1" name="TextBox 1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7351717">
                <a:off x="4631285" y="1327597"/>
                <a:ext cx="707218" cy="429092"/>
              </a:xfrm>
              <a:prstGeom prst="rect">
                <a:avLst/>
              </a:prstGeom>
              <a:blipFill>
                <a:blip r:embed="rId5"/>
                <a:stretch>
                  <a:fillRect l="-8491" r="-9434" b="-373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6FA2E7C-3570-4D85-9E6C-FDE449602597}"/>
                  </a:ext>
                </a:extLst>
              </p:cNvPr>
              <p:cNvSpPr txBox="1"/>
              <p:nvPr/>
            </p:nvSpPr>
            <p:spPr>
              <a:xfrm rot="20272713">
                <a:off x="5121642" y="1161889"/>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2" name="TextBox 1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20272713">
                <a:off x="5121642" y="1161889"/>
                <a:ext cx="1634481" cy="431272"/>
              </a:xfrm>
              <a:prstGeom prst="rect">
                <a:avLst/>
              </a:prstGeom>
              <a:blipFill>
                <a:blip r:embed="rId6"/>
                <a:stretch>
                  <a:fillRect/>
                </a:stretch>
              </a:blipFill>
            </p:spPr>
            <p:txBody>
              <a:bodyPr/>
              <a:lstStyle/>
              <a:p>
                <a:r>
                  <a:rPr lang="sv-SE">
                    <a:noFill/>
                  </a:rPr>
                  <a:t> </a:t>
                </a:r>
              </a:p>
            </p:txBody>
          </p:sp>
        </mc:Fallback>
      </mc:AlternateContent>
      <p:sp>
        <p:nvSpPr>
          <p:cNvPr id="13" name="Arc 12">
            <a:extLst>
              <a:ext uri="{FF2B5EF4-FFF2-40B4-BE49-F238E27FC236}">
                <a16:creationId xmlns:a16="http://schemas.microsoft.com/office/drawing/2014/main" id="{D4A3E4AF-9DBA-4862-A0A7-A453C4582F60}"/>
              </a:ext>
            </a:extLst>
          </p:cNvPr>
          <p:cNvSpPr/>
          <p:nvPr/>
        </p:nvSpPr>
        <p:spPr>
          <a:xfrm rot="5400000">
            <a:off x="4266396" y="2031921"/>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C3E724-4164-42F4-B6CD-CCDD3A37AB7B}"/>
                  </a:ext>
                </a:extLst>
              </p:cNvPr>
              <p:cNvSpPr txBox="1"/>
              <p:nvPr/>
            </p:nvSpPr>
            <p:spPr>
              <a:xfrm>
                <a:off x="3841225" y="1547451"/>
                <a:ext cx="758764"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4" name="TextBox 1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3841225" y="1547451"/>
                <a:ext cx="758764" cy="429092"/>
              </a:xfrm>
              <a:prstGeom prst="rect">
                <a:avLst/>
              </a:prstGeom>
              <a:blipFill>
                <a:blip r:embed="rId7"/>
                <a:stretch>
                  <a:fillRect l="-2400" t="-15714" b="-21429"/>
                </a:stretch>
              </a:blipFill>
            </p:spPr>
            <p:txBody>
              <a:bodyPr/>
              <a:lstStyle/>
              <a:p>
                <a:r>
                  <a:rPr lang="sv-SE">
                    <a:noFill/>
                  </a:rPr>
                  <a:t> </a:t>
                </a:r>
              </a:p>
            </p:txBody>
          </p:sp>
        </mc:Fallback>
      </mc:AlternateContent>
      <p:cxnSp>
        <p:nvCxnSpPr>
          <p:cNvPr id="15" name="Straight Connector 14">
            <a:extLst>
              <a:ext uri="{FF2B5EF4-FFF2-40B4-BE49-F238E27FC236}">
                <a16:creationId xmlns:a16="http://schemas.microsoft.com/office/drawing/2014/main" id="{09AF85FA-0B95-4CD6-83B4-5551F56BE402}"/>
              </a:ext>
            </a:extLst>
          </p:cNvPr>
          <p:cNvCxnSpPr>
            <a:cxnSpLocks/>
          </p:cNvCxnSpPr>
          <p:nvPr/>
        </p:nvCxnSpPr>
        <p:spPr>
          <a:xfrm flipV="1">
            <a:off x="5140242" y="2032109"/>
            <a:ext cx="4629211" cy="9548"/>
          </a:xfrm>
          <a:prstGeom prst="line">
            <a:avLst/>
          </a:prstGeom>
          <a:ln>
            <a:solidFill>
              <a:srgbClr val="7030A0"/>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16" name="Arc 15">
            <a:extLst>
              <a:ext uri="{FF2B5EF4-FFF2-40B4-BE49-F238E27FC236}">
                <a16:creationId xmlns:a16="http://schemas.microsoft.com/office/drawing/2014/main" id="{3D767F05-08C7-455D-B8C9-32C8230132C1}"/>
              </a:ext>
            </a:extLst>
          </p:cNvPr>
          <p:cNvSpPr/>
          <p:nvPr/>
        </p:nvSpPr>
        <p:spPr>
          <a:xfrm rot="2814214">
            <a:off x="4899181" y="174180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AB7A3D7-2541-417F-AF34-EC5A2E4DCE53}"/>
                  </a:ext>
                </a:extLst>
              </p:cNvPr>
              <p:cNvSpPr txBox="1"/>
              <p:nvPr/>
            </p:nvSpPr>
            <p:spPr>
              <a:xfrm>
                <a:off x="5424260" y="1656110"/>
                <a:ext cx="522930"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17" name="TextBox 1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424260" y="1656110"/>
                <a:ext cx="522930"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666F919-25EF-4866-8D83-02D9455783A5}"/>
                  </a:ext>
                </a:extLst>
              </p:cNvPr>
              <p:cNvSpPr txBox="1"/>
              <p:nvPr/>
            </p:nvSpPr>
            <p:spPr>
              <a:xfrm>
                <a:off x="4996246" y="70964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18" name="TextBox 1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4996246" y="709645"/>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19" name="Straight Connector 18">
            <a:extLst>
              <a:ext uri="{FF2B5EF4-FFF2-40B4-BE49-F238E27FC236}">
                <a16:creationId xmlns:a16="http://schemas.microsoft.com/office/drawing/2014/main" id="{FEAE24A3-7280-4EF7-9DF2-796E3573FD0F}"/>
              </a:ext>
            </a:extLst>
          </p:cNvPr>
          <p:cNvCxnSpPr>
            <a:cxnSpLocks/>
          </p:cNvCxnSpPr>
          <p:nvPr/>
        </p:nvCxnSpPr>
        <p:spPr>
          <a:xfrm flipV="1">
            <a:off x="5408915" y="651907"/>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20" name="Arc 19">
            <a:extLst>
              <a:ext uri="{FF2B5EF4-FFF2-40B4-BE49-F238E27FC236}">
                <a16:creationId xmlns:a16="http://schemas.microsoft.com/office/drawing/2014/main" id="{88C2E955-622F-424C-A8BB-85266E8ACF08}"/>
              </a:ext>
            </a:extLst>
          </p:cNvPr>
          <p:cNvSpPr/>
          <p:nvPr/>
        </p:nvSpPr>
        <p:spPr>
          <a:xfrm rot="1387721">
            <a:off x="5245645" y="102515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C14C47-7BE8-489B-8823-016DA802BE87}"/>
                  </a:ext>
                </a:extLst>
              </p:cNvPr>
              <p:cNvSpPr txBox="1"/>
              <p:nvPr/>
            </p:nvSpPr>
            <p:spPr>
              <a:xfrm rot="16200000">
                <a:off x="9381710" y="3960369"/>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1" name="TextBox 2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rot="16200000">
                <a:off x="9381710" y="3960369"/>
                <a:ext cx="1846248" cy="445250"/>
              </a:xfrm>
              <a:prstGeom prst="rect">
                <a:avLst/>
              </a:prstGeom>
              <a:blipFill>
                <a:blip r:embed="rId10"/>
                <a:stretch>
                  <a:fillRect l="-5479" r="-6849"/>
                </a:stretch>
              </a:blipFill>
            </p:spPr>
            <p:txBody>
              <a:bodyPr/>
              <a:lstStyle/>
              <a:p>
                <a:r>
                  <a:rPr lang="sv-SE">
                    <a:noFill/>
                  </a:rPr>
                  <a:t> </a:t>
                </a:r>
              </a:p>
            </p:txBody>
          </p:sp>
        </mc:Fallback>
      </mc:AlternateContent>
      <p:sp>
        <p:nvSpPr>
          <p:cNvPr id="22" name="TextBox 21">
            <a:extLst>
              <a:ext uri="{FF2B5EF4-FFF2-40B4-BE49-F238E27FC236}">
                <a16:creationId xmlns:a16="http://schemas.microsoft.com/office/drawing/2014/main" id="{71EAB1BB-A155-493B-8CB6-C93DDCB934A8}"/>
              </a:ext>
            </a:extLst>
          </p:cNvPr>
          <p:cNvSpPr txBox="1"/>
          <p:nvPr/>
        </p:nvSpPr>
        <p:spPr>
          <a:xfrm>
            <a:off x="8455724"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(b)</a:t>
            </a:r>
            <a:endParaRPr lang="en-US" sz="2200" dirty="0">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9AC663BD-B449-49A1-AFF8-7712C577E07E}"/>
              </a:ext>
            </a:extLst>
          </p:cNvPr>
          <p:cNvSpPr txBox="1"/>
          <p:nvPr/>
        </p:nvSpPr>
        <p:spPr>
          <a:xfrm>
            <a:off x="4913776" y="6330441"/>
            <a:ext cx="985816" cy="430887"/>
          </a:xfrm>
          <a:prstGeom prst="rect">
            <a:avLst/>
          </a:prstGeom>
          <a:noFill/>
        </p:spPr>
        <p:txBody>
          <a:bodyPr wrap="square" rtlCol="0">
            <a:spAutoFit/>
          </a:bodyPr>
          <a:lstStyle/>
          <a:p>
            <a:r>
              <a:rPr lang="en-US" sz="2200" dirty="0" smtClean="0">
                <a:latin typeface="Times New Roman" panose="02020603050405020304" pitchFamily="18" charset="0"/>
                <a:cs typeface="Times New Roman" panose="02020603050405020304" pitchFamily="18" charset="0"/>
              </a:rPr>
              <a:t>(a)</a:t>
            </a:r>
            <a:endParaRPr lang="en-US" sz="2200" dirty="0">
              <a:latin typeface="Times New Roman" panose="02020603050405020304" pitchFamily="18" charset="0"/>
              <a:cs typeface="Times New Roman" panose="02020603050405020304" pitchFamily="18" charset="0"/>
            </a:endParaRPr>
          </a:p>
        </p:txBody>
      </p:sp>
      <p:cxnSp>
        <p:nvCxnSpPr>
          <p:cNvPr id="24" name="Straight Connector 23">
            <a:extLst>
              <a:ext uri="{FF2B5EF4-FFF2-40B4-BE49-F238E27FC236}">
                <a16:creationId xmlns:a16="http://schemas.microsoft.com/office/drawing/2014/main" id="{19EBD052-6C55-45ED-A299-DDEA50CA9371}"/>
              </a:ext>
            </a:extLst>
          </p:cNvPr>
          <p:cNvCxnSpPr>
            <a:cxnSpLocks/>
          </p:cNvCxnSpPr>
          <p:nvPr/>
        </p:nvCxnSpPr>
        <p:spPr>
          <a:xfrm>
            <a:off x="6881181" y="4665881"/>
            <a:ext cx="3146837" cy="0"/>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BBAEC16-F3FF-435B-96B7-CF2B1A76221F}"/>
              </a:ext>
            </a:extLst>
          </p:cNvPr>
          <p:cNvCxnSpPr>
            <a:cxnSpLocks/>
          </p:cNvCxnSpPr>
          <p:nvPr/>
        </p:nvCxnSpPr>
        <p:spPr>
          <a:xfrm flipH="1">
            <a:off x="8666480" y="3985195"/>
            <a:ext cx="1361538" cy="0"/>
          </a:xfrm>
          <a:prstGeom prst="line">
            <a:avLst/>
          </a:prstGeom>
          <a:ln w="12700">
            <a:solidFill>
              <a:srgbClr val="FF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C561D5-BF09-4503-B138-D7F0ABD85EF9}"/>
              </a:ext>
            </a:extLst>
          </p:cNvPr>
          <p:cNvCxnSpPr>
            <a:cxnSpLocks/>
          </p:cNvCxnSpPr>
          <p:nvPr/>
        </p:nvCxnSpPr>
        <p:spPr>
          <a:xfrm>
            <a:off x="10028018" y="3980917"/>
            <a:ext cx="0" cy="684964"/>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F3454730-E93C-4477-A98A-968C5EE570D3}"/>
              </a:ext>
            </a:extLst>
          </p:cNvPr>
          <p:cNvSpPr txBox="1"/>
          <p:nvPr/>
        </p:nvSpPr>
        <p:spPr>
          <a:xfrm>
            <a:off x="4829966" y="3022147"/>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28" name="Straight Connector 27">
            <a:extLst>
              <a:ext uri="{FF2B5EF4-FFF2-40B4-BE49-F238E27FC236}">
                <a16:creationId xmlns:a16="http://schemas.microsoft.com/office/drawing/2014/main" id="{9413D2C3-2B18-4664-881C-430350C8A0D2}"/>
              </a:ext>
            </a:extLst>
          </p:cNvPr>
          <p:cNvCxnSpPr>
            <a:cxnSpLocks/>
          </p:cNvCxnSpPr>
          <p:nvPr/>
        </p:nvCxnSpPr>
        <p:spPr>
          <a:xfrm flipH="1">
            <a:off x="6881181" y="3641374"/>
            <a:ext cx="1574545" cy="20785"/>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461328C-55E6-46B8-B840-8C8A3C370AC9}"/>
                  </a:ext>
                </a:extLst>
              </p:cNvPr>
              <p:cNvSpPr txBox="1"/>
              <p:nvPr/>
            </p:nvSpPr>
            <p:spPr>
              <a:xfrm rot="16200000">
                <a:off x="5338105" y="3556816"/>
                <a:ext cx="2536664"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9" name="TextBox 2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rot="16200000">
                <a:off x="5338105" y="3556816"/>
                <a:ext cx="2536664" cy="445250"/>
              </a:xfrm>
              <a:prstGeom prst="rect">
                <a:avLst/>
              </a:prstGeom>
              <a:blipFill>
                <a:blip r:embed="rId11"/>
                <a:stretch>
                  <a:fillRect l="-5479" r="-8219"/>
                </a:stretch>
              </a:blipFill>
            </p:spPr>
            <p:txBody>
              <a:bodyPr/>
              <a:lstStyle/>
              <a:p>
                <a:r>
                  <a:rPr lang="sv-SE">
                    <a:noFill/>
                  </a:rPr>
                  <a:t> </a:t>
                </a:r>
              </a:p>
            </p:txBody>
          </p:sp>
        </mc:Fallback>
      </mc:AlternateContent>
      <p:cxnSp>
        <p:nvCxnSpPr>
          <p:cNvPr id="30" name="Straight Arrow Connector 29">
            <a:extLst>
              <a:ext uri="{FF2B5EF4-FFF2-40B4-BE49-F238E27FC236}">
                <a16:creationId xmlns:a16="http://schemas.microsoft.com/office/drawing/2014/main" id="{61209277-7535-4ECB-AE4F-B8E59175BFA4}"/>
              </a:ext>
            </a:extLst>
          </p:cNvPr>
          <p:cNvCxnSpPr>
            <a:cxnSpLocks/>
          </p:cNvCxnSpPr>
          <p:nvPr/>
        </p:nvCxnSpPr>
        <p:spPr>
          <a:xfrm>
            <a:off x="7033581" y="3651766"/>
            <a:ext cx="0" cy="1014115"/>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3203847" y="3380846"/>
            <a:ext cx="3810000" cy="2857500"/>
          </a:xfrm>
          <a:prstGeom prst="rect">
            <a:avLst/>
          </a:prstGeom>
        </p:spPr>
      </p:pic>
      <p:cxnSp>
        <p:nvCxnSpPr>
          <p:cNvPr id="32" name="Straight Arrow Connector 31">
            <a:extLst>
              <a:ext uri="{FF2B5EF4-FFF2-40B4-BE49-F238E27FC236}">
                <a16:creationId xmlns:a16="http://schemas.microsoft.com/office/drawing/2014/main" id="{DA6ECEDA-AE7A-411F-8479-709AF23E0541}"/>
              </a:ext>
            </a:extLst>
          </p:cNvPr>
          <p:cNvCxnSpPr>
            <a:cxnSpLocks/>
          </p:cNvCxnSpPr>
          <p:nvPr/>
        </p:nvCxnSpPr>
        <p:spPr>
          <a:xfrm flipV="1">
            <a:off x="4821533" y="2059924"/>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78D1484-15FE-4FF9-8BC9-86EF5F39DEA6}"/>
              </a:ext>
            </a:extLst>
          </p:cNvPr>
          <p:cNvCxnSpPr>
            <a:cxnSpLocks/>
          </p:cNvCxnSpPr>
          <p:nvPr/>
        </p:nvCxnSpPr>
        <p:spPr>
          <a:xfrm flipV="1">
            <a:off x="4844684" y="2740758"/>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B3B3F29-EDEC-4595-A375-80DFA7AB7DCA}"/>
              </a:ext>
            </a:extLst>
          </p:cNvPr>
          <p:cNvCxnSpPr>
            <a:cxnSpLocks/>
          </p:cNvCxnSpPr>
          <p:nvPr/>
        </p:nvCxnSpPr>
        <p:spPr>
          <a:xfrm>
            <a:off x="3934361"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6206749-B0F1-4229-A581-92461336F45B}"/>
              </a:ext>
            </a:extLst>
          </p:cNvPr>
          <p:cNvCxnSpPr>
            <a:cxnSpLocks/>
          </p:cNvCxnSpPr>
          <p:nvPr/>
        </p:nvCxnSpPr>
        <p:spPr>
          <a:xfrm rot="20199754">
            <a:off x="7593208" y="1794878"/>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34156-BEFD-4ED1-95A8-4479094B7835}"/>
              </a:ext>
            </a:extLst>
          </p:cNvPr>
          <p:cNvCxnSpPr>
            <a:cxnSpLocks/>
          </p:cNvCxnSpPr>
          <p:nvPr/>
        </p:nvCxnSpPr>
        <p:spPr>
          <a:xfrm rot="20199754" flipV="1">
            <a:off x="8578947" y="75426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AE119A-A3FD-49CA-80B2-78A838CFBF9B}"/>
              </a:ext>
            </a:extLst>
          </p:cNvPr>
          <p:cNvCxnSpPr>
            <a:cxnSpLocks/>
          </p:cNvCxnSpPr>
          <p:nvPr/>
        </p:nvCxnSpPr>
        <p:spPr>
          <a:xfrm rot="20199754" flipV="1">
            <a:off x="8617053" y="389182"/>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498E386-4B5E-4CFF-91A4-E26117CCCA42}"/>
              </a:ext>
            </a:extLst>
          </p:cNvPr>
          <p:cNvCxnSpPr>
            <a:cxnSpLocks/>
          </p:cNvCxnSpPr>
          <p:nvPr/>
        </p:nvCxnSpPr>
        <p:spPr>
          <a:xfrm rot="20199754">
            <a:off x="7707658" y="1685139"/>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09077D4-54C0-4368-B362-E8DFBA6ED395}"/>
                  </a:ext>
                </a:extLst>
              </p:cNvPr>
              <p:cNvSpPr txBox="1"/>
              <p:nvPr/>
            </p:nvSpPr>
            <p:spPr>
              <a:xfrm>
                <a:off x="7704085" y="2036883"/>
                <a:ext cx="885128"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C09077D4-54C0-4368-B362-E8DFBA6ED395}"/>
                  </a:ext>
                </a:extLst>
              </p:cNvPr>
              <p:cNvSpPr txBox="1">
                <a:spLocks noRot="1" noChangeAspect="1" noMove="1" noResize="1" noEditPoints="1" noAdjustHandles="1" noChangeArrowheads="1" noChangeShapeType="1" noTextEdit="1"/>
              </p:cNvSpPr>
              <p:nvPr/>
            </p:nvSpPr>
            <p:spPr>
              <a:xfrm>
                <a:off x="7704085" y="2036883"/>
                <a:ext cx="885128" cy="431272"/>
              </a:xfrm>
              <a:prstGeom prst="rect">
                <a:avLst/>
              </a:prstGeom>
              <a:blipFill>
                <a:blip r:embed="rId13"/>
                <a:stretch>
                  <a:fillRect l="-9655" t="-14085" b="-2112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AE80993-2C5C-47EA-9639-59C2161995CD}"/>
                  </a:ext>
                </a:extLst>
              </p:cNvPr>
              <p:cNvSpPr txBox="1"/>
              <p:nvPr/>
            </p:nvSpPr>
            <p:spPr>
              <a:xfrm rot="20199754">
                <a:off x="7673819" y="166239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AE80993-2C5C-47EA-9639-59C2161995CD}"/>
                  </a:ext>
                </a:extLst>
              </p:cNvPr>
              <p:cNvSpPr txBox="1">
                <a:spLocks noRot="1" noChangeAspect="1" noMove="1" noResize="1" noEditPoints="1" noAdjustHandles="1" noChangeArrowheads="1" noChangeShapeType="1" noTextEdit="1"/>
              </p:cNvSpPr>
              <p:nvPr/>
            </p:nvSpPr>
            <p:spPr>
              <a:xfrm rot="20199754">
                <a:off x="7673819" y="1662395"/>
                <a:ext cx="1634481" cy="338554"/>
              </a:xfrm>
              <a:prstGeom prst="rect">
                <a:avLst/>
              </a:prstGeom>
              <a:blipFill>
                <a:blip r:embed="rId1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55B3158-A8FB-432A-8CE2-035FB56F4FFE}"/>
                  </a:ext>
                </a:extLst>
              </p:cNvPr>
              <p:cNvSpPr txBox="1"/>
              <p:nvPr/>
            </p:nvSpPr>
            <p:spPr>
              <a:xfrm rot="15951471">
                <a:off x="8098246" y="913993"/>
                <a:ext cx="614262"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755B3158-A8FB-432A-8CE2-035FB56F4FFE}"/>
                  </a:ext>
                </a:extLst>
              </p:cNvPr>
              <p:cNvSpPr txBox="1">
                <a:spLocks noRot="1" noChangeAspect="1" noMove="1" noResize="1" noEditPoints="1" noAdjustHandles="1" noChangeArrowheads="1" noChangeShapeType="1" noTextEdit="1"/>
              </p:cNvSpPr>
              <p:nvPr/>
            </p:nvSpPr>
            <p:spPr>
              <a:xfrm rot="15951471">
                <a:off x="8098246" y="913993"/>
                <a:ext cx="614262" cy="429092"/>
              </a:xfrm>
              <a:prstGeom prst="rect">
                <a:avLst/>
              </a:prstGeom>
              <a:blipFill>
                <a:blip r:embed="rId15"/>
                <a:stretch>
                  <a:fillRect l="-11538" r="-15385" b="-14151"/>
                </a:stretch>
              </a:blipFill>
            </p:spPr>
            <p:txBody>
              <a:bodyPr/>
              <a:lstStyle/>
              <a:p>
                <a:r>
                  <a:rPr lang="sv-SE">
                    <a:noFill/>
                  </a:rPr>
                  <a:t> </a:t>
                </a:r>
              </a:p>
            </p:txBody>
          </p:sp>
        </mc:Fallback>
      </mc:AlternateContent>
      <p:sp>
        <p:nvSpPr>
          <p:cNvPr id="42" name="Arc 41">
            <a:extLst>
              <a:ext uri="{FF2B5EF4-FFF2-40B4-BE49-F238E27FC236}">
                <a16:creationId xmlns:a16="http://schemas.microsoft.com/office/drawing/2014/main" id="{91A56D0B-0D7D-416E-BC2D-2147FE30EFE0}"/>
              </a:ext>
            </a:extLst>
          </p:cNvPr>
          <p:cNvSpPr/>
          <p:nvPr/>
        </p:nvSpPr>
        <p:spPr>
          <a:xfrm rot="3999754">
            <a:off x="7957807" y="1768686"/>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2810583-B948-4C07-B987-3A0ACEFAEC6F}"/>
                  </a:ext>
                </a:extLst>
              </p:cNvPr>
              <p:cNvSpPr txBox="1"/>
              <p:nvPr/>
            </p:nvSpPr>
            <p:spPr>
              <a:xfrm rot="20199754">
                <a:off x="7694997" y="1367315"/>
                <a:ext cx="537199"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3" name="TextBox 42">
                <a:extLst>
                  <a:ext uri="{FF2B5EF4-FFF2-40B4-BE49-F238E27FC236}">
                    <a16:creationId xmlns:a16="http://schemas.microsoft.com/office/drawing/2014/main" id="{C2810583-B948-4C07-B987-3A0ACEFAEC6F}"/>
                  </a:ext>
                </a:extLst>
              </p:cNvPr>
              <p:cNvSpPr txBox="1">
                <a:spLocks noRot="1" noChangeAspect="1" noMove="1" noResize="1" noEditPoints="1" noAdjustHandles="1" noChangeArrowheads="1" noChangeShapeType="1" noTextEdit="1"/>
              </p:cNvSpPr>
              <p:nvPr/>
            </p:nvSpPr>
            <p:spPr>
              <a:xfrm rot="20199754">
                <a:off x="7694997" y="1367315"/>
                <a:ext cx="537199" cy="429092"/>
              </a:xfrm>
              <a:prstGeom prst="rect">
                <a:avLst/>
              </a:prstGeom>
              <a:blipFill>
                <a:blip r:embed="rId16"/>
                <a:stretch>
                  <a:fillRect l="-9091" t="-5941" r="-10000" b="-1980"/>
                </a:stretch>
              </a:blipFill>
            </p:spPr>
            <p:txBody>
              <a:bodyPr/>
              <a:lstStyle/>
              <a:p>
                <a:r>
                  <a:rPr lang="sv-SE">
                    <a:noFill/>
                  </a:rPr>
                  <a:t> </a:t>
                </a:r>
              </a:p>
            </p:txBody>
          </p:sp>
        </mc:Fallback>
      </mc:AlternateContent>
      <p:sp>
        <p:nvSpPr>
          <p:cNvPr id="44" name="Arc 43">
            <a:extLst>
              <a:ext uri="{FF2B5EF4-FFF2-40B4-BE49-F238E27FC236}">
                <a16:creationId xmlns:a16="http://schemas.microsoft.com/office/drawing/2014/main" id="{E1CADF48-19C4-464E-9A0C-5834086642AF}"/>
              </a:ext>
            </a:extLst>
          </p:cNvPr>
          <p:cNvSpPr/>
          <p:nvPr/>
        </p:nvSpPr>
        <p:spPr>
          <a:xfrm rot="1413968">
            <a:off x="8427264" y="1250930"/>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027AD0A-7E8B-439C-9C1E-4378A72A4760}"/>
                  </a:ext>
                </a:extLst>
              </p:cNvPr>
              <p:cNvSpPr txBox="1"/>
              <p:nvPr/>
            </p:nvSpPr>
            <p:spPr>
              <a:xfrm rot="20199754">
                <a:off x="8847217" y="998264"/>
                <a:ext cx="462615"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5" name="TextBox 44">
                <a:extLst>
                  <a:ext uri="{FF2B5EF4-FFF2-40B4-BE49-F238E27FC236}">
                    <a16:creationId xmlns:a16="http://schemas.microsoft.com/office/drawing/2014/main" id="{E027AD0A-7E8B-439C-9C1E-4378A72A4760}"/>
                  </a:ext>
                </a:extLst>
              </p:cNvPr>
              <p:cNvSpPr txBox="1">
                <a:spLocks noRot="1" noChangeAspect="1" noMove="1" noResize="1" noEditPoints="1" noAdjustHandles="1" noChangeArrowheads="1" noChangeShapeType="1" noTextEdit="1"/>
              </p:cNvSpPr>
              <p:nvPr/>
            </p:nvSpPr>
            <p:spPr>
              <a:xfrm rot="20199754">
                <a:off x="8847217" y="998264"/>
                <a:ext cx="462615" cy="338554"/>
              </a:xfrm>
              <a:prstGeom prst="rect">
                <a:avLst/>
              </a:prstGeom>
              <a:blipFill>
                <a:blip r:embed="rId17"/>
                <a:stretch>
                  <a:fillRect/>
                </a:stretch>
              </a:blipFill>
            </p:spPr>
            <p:txBody>
              <a:bodyPr/>
              <a:lstStyle/>
              <a:p>
                <a:r>
                  <a:rPr lang="sv-SE">
                    <a:noFill/>
                  </a:rPr>
                  <a:t> </a:t>
                </a:r>
              </a:p>
            </p:txBody>
          </p:sp>
        </mc:Fallback>
      </mc:AlternateContent>
      <p:cxnSp>
        <p:nvCxnSpPr>
          <p:cNvPr id="46" name="Straight Connector 45">
            <a:extLst>
              <a:ext uri="{FF2B5EF4-FFF2-40B4-BE49-F238E27FC236}">
                <a16:creationId xmlns:a16="http://schemas.microsoft.com/office/drawing/2014/main" id="{97B79CFE-2B7C-4147-9FDB-81087584EF0E}"/>
              </a:ext>
            </a:extLst>
          </p:cNvPr>
          <p:cNvCxnSpPr>
            <a:cxnSpLocks/>
          </p:cNvCxnSpPr>
          <p:nvPr/>
        </p:nvCxnSpPr>
        <p:spPr>
          <a:xfrm rot="20199754" flipV="1">
            <a:off x="8555361" y="98385"/>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47" name="Arc 46">
            <a:extLst>
              <a:ext uri="{FF2B5EF4-FFF2-40B4-BE49-F238E27FC236}">
                <a16:creationId xmlns:a16="http://schemas.microsoft.com/office/drawing/2014/main" id="{F4FBA915-B2D1-4C10-9B86-B4B8A0C0AA32}"/>
              </a:ext>
            </a:extLst>
          </p:cNvPr>
          <p:cNvSpPr/>
          <p:nvPr/>
        </p:nvSpPr>
        <p:spPr>
          <a:xfrm rot="21587475">
            <a:off x="8461486" y="45566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cxnSp>
        <p:nvCxnSpPr>
          <p:cNvPr id="48" name="Straight Arrow Connector 47">
            <a:extLst>
              <a:ext uri="{FF2B5EF4-FFF2-40B4-BE49-F238E27FC236}">
                <a16:creationId xmlns:a16="http://schemas.microsoft.com/office/drawing/2014/main" id="{A92B350C-FC8E-431C-9EDC-2141A4C7082B}"/>
              </a:ext>
            </a:extLst>
          </p:cNvPr>
          <p:cNvCxnSpPr>
            <a:cxnSpLocks/>
          </p:cNvCxnSpPr>
          <p:nvPr/>
        </p:nvCxnSpPr>
        <p:spPr>
          <a:xfrm rot="20199754" flipV="1">
            <a:off x="8622355" y="1592515"/>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51BAE4-1F11-401C-BC2C-BD1CFE8C8720}"/>
              </a:ext>
            </a:extLst>
          </p:cNvPr>
          <p:cNvCxnSpPr>
            <a:cxnSpLocks/>
          </p:cNvCxnSpPr>
          <p:nvPr/>
        </p:nvCxnSpPr>
        <p:spPr>
          <a:xfrm rot="20199754" flipV="1">
            <a:off x="8755171" y="2158074"/>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A1825A7-14F1-498C-99CD-379126712392}"/>
              </a:ext>
            </a:extLst>
          </p:cNvPr>
          <p:cNvCxnSpPr>
            <a:cxnSpLocks/>
          </p:cNvCxnSpPr>
          <p:nvPr/>
        </p:nvCxnSpPr>
        <p:spPr>
          <a:xfrm rot="20199754" flipV="1">
            <a:off x="8634217" y="1303640"/>
            <a:ext cx="1423446" cy="7213"/>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578FF35-EDA3-4B34-A4A1-37A1E5BA7657}"/>
              </a:ext>
            </a:extLst>
          </p:cNvPr>
          <p:cNvCxnSpPr>
            <a:cxnSpLocks/>
          </p:cNvCxnSpPr>
          <p:nvPr/>
        </p:nvCxnSpPr>
        <p:spPr>
          <a:xfrm>
            <a:off x="7637515"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0C7D81C7-3398-411A-8D3D-4CFAC59DB148}"/>
              </a:ext>
            </a:extLst>
          </p:cNvPr>
          <p:cNvSpPr txBox="1"/>
          <p:nvPr/>
        </p:nvSpPr>
        <p:spPr>
          <a:xfrm>
            <a:off x="8455724" y="2943024"/>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Tree>
    <p:extLst>
      <p:ext uri="{BB962C8B-B14F-4D97-AF65-F5344CB8AC3E}">
        <p14:creationId xmlns:p14="http://schemas.microsoft.com/office/powerpoint/2010/main" val="34112005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sv-SE"/>
          </a:p>
        </p:txBody>
      </p:sp>
      <p:sp>
        <p:nvSpPr>
          <p:cNvPr id="3" name="Content Placeholder 2"/>
          <p:cNvSpPr>
            <a:spLocks noGrp="1"/>
          </p:cNvSpPr>
          <p:nvPr>
            <p:ph idx="1"/>
          </p:nvPr>
        </p:nvSpPr>
        <p:spPr/>
        <p:txBody>
          <a:bodyPr/>
          <a:lstStyle/>
          <a:p>
            <a:r>
              <a:rPr lang="sv-SE" dirty="0"/>
              <a:t>https://www.ew.tu-darmstadt.de/media/ew/rd/ew_vortraege/kurs_gec/gec_4.pdf</a:t>
            </a:r>
          </a:p>
        </p:txBody>
      </p:sp>
    </p:spTree>
    <p:extLst>
      <p:ext uri="{BB962C8B-B14F-4D97-AF65-F5344CB8AC3E}">
        <p14:creationId xmlns:p14="http://schemas.microsoft.com/office/powerpoint/2010/main" val="192208857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16831</TotalTime>
  <Words>1246</Words>
  <Application>Microsoft Office PowerPoint</Application>
  <PresentationFormat>Widescreen</PresentationFormat>
  <Paragraphs>154</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Calibri</vt:lpstr>
      <vt:lpstr>Arial</vt:lpstr>
      <vt:lpstr>Cambria Math</vt:lpstr>
      <vt:lpstr>Times New Roman</vt:lpstr>
      <vt:lpstr>Figtree</vt:lpstr>
      <vt:lpstr>Office-tema</vt:lpstr>
      <vt:lpstr>Utilization of Airgap Harmonics</vt:lpstr>
      <vt:lpstr>Basic EESM- 2 Pole  </vt:lpstr>
      <vt:lpstr>Tuned Harvesting Coil</vt:lpstr>
      <vt:lpstr>Switching Harmonics</vt:lpstr>
      <vt:lpstr>Switching Harmonics- Sequences</vt:lpstr>
      <vt:lpstr>The Induced Superimposed Voltage </vt:lpstr>
      <vt:lpstr>The Controllable Region of the Superimposed Voltage - SPWM </vt:lpstr>
      <vt:lpstr>The Controllable Region of the Superimposed Voltage - SVPWM </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140</cp:revision>
  <dcterms:created xsi:type="dcterms:W3CDTF">2024-01-10T13:17:29Z</dcterms:created>
  <dcterms:modified xsi:type="dcterms:W3CDTF">2024-11-13T09:07:11Z</dcterms:modified>
</cp:coreProperties>
</file>