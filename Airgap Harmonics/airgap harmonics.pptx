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24"/>
  </p:notesMasterIdLst>
  <p:sldIdLst>
    <p:sldId id="256" r:id="rId2"/>
    <p:sldId id="310" r:id="rId3"/>
    <p:sldId id="304" r:id="rId4"/>
    <p:sldId id="305" r:id="rId5"/>
    <p:sldId id="307" r:id="rId6"/>
    <p:sldId id="308" r:id="rId7"/>
    <p:sldId id="309" r:id="rId8"/>
    <p:sldId id="313" r:id="rId9"/>
    <p:sldId id="314" r:id="rId10"/>
    <p:sldId id="315" r:id="rId11"/>
    <p:sldId id="294" r:id="rId12"/>
    <p:sldId id="297" r:id="rId13"/>
    <p:sldId id="301" r:id="rId14"/>
    <p:sldId id="300" r:id="rId15"/>
    <p:sldId id="302" r:id="rId16"/>
    <p:sldId id="303" r:id="rId17"/>
    <p:sldId id="316" r:id="rId18"/>
    <p:sldId id="306" r:id="rId19"/>
    <p:sldId id="296" r:id="rId20"/>
    <p:sldId id="292" r:id="rId21"/>
    <p:sldId id="293" r:id="rId22"/>
    <p:sldId id="295" r:id="rId23"/>
  </p:sldIdLst>
  <p:sldSz cx="12192000" cy="6858000"/>
  <p:notesSz cx="6858000" cy="9144000"/>
  <p:embeddedFontLst>
    <p:embeddedFont>
      <p:font typeface="Constantia" panose="02030602050306030303" pitchFamily="18" charset="0"/>
      <p:regular r:id="rId25"/>
      <p:bold r:id="rId26"/>
      <p:italic r:id="rId27"/>
      <p:boldItalic r:id="rId28"/>
    </p:embeddedFont>
    <p:embeddedFont>
      <p:font typeface="Calibri" panose="020F0502020204030204" pitchFamily="34" charset="0"/>
      <p:regular r:id="rId29"/>
      <p:bold r:id="rId30"/>
      <p:italic r:id="rId31"/>
      <p:boldItalic r:id="rId32"/>
    </p:embeddedFont>
    <p:embeddedFont>
      <p:font typeface="Figtree" panose="020B0604020202020204" charset="0"/>
      <p:regular r:id="rId33"/>
      <p:bold r:id="rId34"/>
      <p:italic r:id="rId35"/>
      <p:boldItalic r:id="rId36"/>
    </p:embeddedFont>
    <p:embeddedFont>
      <p:font typeface="Cambria Math" panose="02040503050406030204" pitchFamily="18" charset="0"/>
      <p:regular r:id="rId37"/>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3" autoAdjust="0"/>
    <p:restoredTop sz="96327"/>
  </p:normalViewPr>
  <p:slideViewPr>
    <p:cSldViewPr snapToGrid="0">
      <p:cViewPr>
        <p:scale>
          <a:sx n="100" d="100"/>
          <a:sy n="100" d="100"/>
        </p:scale>
        <p:origin x="678" y="34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2025-02-23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03AAD37-8495-4358-975D-7F228E51A688}" type="slidenum">
              <a:rPr lang="en-US" smtClean="0"/>
              <a:pPr>
                <a:defRPr/>
              </a:pPr>
              <a:t>5</a:t>
            </a:fld>
            <a:endParaRPr lang="en-US" dirty="0"/>
          </a:p>
        </p:txBody>
      </p:sp>
    </p:spTree>
    <p:extLst>
      <p:ext uri="{BB962C8B-B14F-4D97-AF65-F5344CB8AC3E}">
        <p14:creationId xmlns:p14="http://schemas.microsoft.com/office/powerpoint/2010/main" val="4175241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657" y="4713645"/>
            <a:ext cx="5429250" cy="4892394"/>
          </a:xfrm>
        </p:spPr>
        <p:txBody>
          <a:bodyPr>
            <a:normAutofit/>
          </a:bodyPr>
          <a:lstStyle/>
          <a:p>
            <a:r>
              <a:rPr lang="en-US" dirty="0"/>
              <a:t>Our focus is on contactless slip rings. </a:t>
            </a:r>
          </a:p>
          <a:p>
            <a:r>
              <a:rPr lang="en-US" dirty="0"/>
              <a:t>Here, we have a representation of conventional contactless slip rings. </a:t>
            </a:r>
          </a:p>
          <a:p>
            <a:r>
              <a:rPr lang="en-US" dirty="0"/>
              <a:t>The common trait of these contactless slip rings; we have a motor drive system to achieve rotating load. </a:t>
            </a:r>
          </a:p>
          <a:p>
            <a:r>
              <a:rPr lang="en-US" dirty="0"/>
              <a:t>Inductive power transfer systems, a type of WPT system,  are commonly used in such systems since they give a moderate transfer distance and higher efficiency. </a:t>
            </a:r>
          </a:p>
          <a:p>
            <a:r>
              <a:rPr lang="en-US" dirty="0"/>
              <a:t>IPT systems have four main parts: High-frequency converter, Transmitter, receiver, and high-frequency rectifier. </a:t>
            </a:r>
          </a:p>
          <a:p>
            <a:r>
              <a:rPr lang="en-US" dirty="0"/>
              <a:t>So, conventional contactless slip rings have two converters. </a:t>
            </a:r>
          </a:p>
          <a:p>
            <a:r>
              <a:rPr lang="en-US" dirty="0"/>
              <a:t>One of both is the converter of the motor drive.</a:t>
            </a:r>
          </a:p>
          <a:p>
            <a:r>
              <a:rPr lang="en-US" dirty="0"/>
              <a:t>Another is the high-frequency converter of the WPT system. </a:t>
            </a:r>
          </a:p>
          <a:p>
            <a:r>
              <a:rPr lang="en-US" dirty="0"/>
              <a:t>The motor drive also generates high-frequency switching components at the output, but the motor filters these components out. </a:t>
            </a:r>
          </a:p>
          <a:p>
            <a:r>
              <a:rPr lang="en-US" dirty="0"/>
              <a:t>A low-frequency modulating signal is used to drive the motor. </a:t>
            </a:r>
          </a:p>
          <a:p>
            <a:r>
              <a:rPr lang="en-US" dirty="0"/>
              <a:t>WPT converter generates high-frequency square waves, and Tx and Rx generally have band-pass filter characteristics. </a:t>
            </a:r>
          </a:p>
          <a:p>
            <a:r>
              <a:rPr lang="en-US" dirty="0"/>
              <a:t>Therefore,  it only allows the desired high-frequency components to pass through.</a:t>
            </a:r>
          </a:p>
          <a:p>
            <a:r>
              <a:rPr lang="en-US" dirty="0"/>
              <a:t>Consequently, we have two converters in this system, which increase cost and complexity and decrease reliability.</a:t>
            </a:r>
          </a:p>
        </p:txBody>
      </p:sp>
      <p:sp>
        <p:nvSpPr>
          <p:cNvPr id="4" name="Slide Number Placeholder 3"/>
          <p:cNvSpPr>
            <a:spLocks noGrp="1"/>
          </p:cNvSpPr>
          <p:nvPr>
            <p:ph type="sldNum" sz="quarter" idx="5"/>
          </p:nvPr>
        </p:nvSpPr>
        <p:spPr/>
        <p:txBody>
          <a:bodyPr/>
          <a:lstStyle/>
          <a:p>
            <a:pPr>
              <a:defRPr/>
            </a:pPr>
            <a:fld id="{303AAD37-8495-4358-975D-7F228E51A688}" type="slidenum">
              <a:rPr lang="en-US" smtClean="0"/>
              <a:pPr>
                <a:defRPr/>
              </a:pPr>
              <a:t>6</a:t>
            </a:fld>
            <a:endParaRPr lang="en-US" dirty="0"/>
          </a:p>
        </p:txBody>
      </p:sp>
    </p:spTree>
    <p:extLst>
      <p:ext uri="{BB962C8B-B14F-4D97-AF65-F5344CB8AC3E}">
        <p14:creationId xmlns:p14="http://schemas.microsoft.com/office/powerpoint/2010/main" val="1672540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678657" y="4713645"/>
            <a:ext cx="5429250" cy="4892394"/>
          </a:xfrm>
        </p:spPr>
        <p:txBody>
          <a:bodyPr>
            <a:normAutofit/>
          </a:bodyPr>
          <a:lstStyle/>
          <a:p>
            <a:r>
              <a:rPr lang="en-US" dirty="0"/>
              <a:t>Our focus is on contactless slip rings. </a:t>
            </a:r>
          </a:p>
          <a:p>
            <a:r>
              <a:rPr lang="en-US" dirty="0"/>
              <a:t>Here, we have a representation of conventional contactless slip rings. </a:t>
            </a:r>
          </a:p>
          <a:p>
            <a:r>
              <a:rPr lang="en-US" dirty="0"/>
              <a:t>The common trait of these contactless slip rings; we have a motor drive system to achieve rotating load. </a:t>
            </a:r>
          </a:p>
          <a:p>
            <a:r>
              <a:rPr lang="en-US" dirty="0"/>
              <a:t>Inductive power transfer systems, a type of WPT system,  are commonly used in such systems since they give a moderate transfer distance and higher efficiency. </a:t>
            </a:r>
          </a:p>
          <a:p>
            <a:r>
              <a:rPr lang="en-US" dirty="0"/>
              <a:t>IPT systems have four main parts: High-frequency converter, Transmitter, receiver, and high-frequency rectifier. </a:t>
            </a:r>
          </a:p>
          <a:p>
            <a:r>
              <a:rPr lang="en-US" dirty="0"/>
              <a:t>So, conventional contactless slip rings have two converters. </a:t>
            </a:r>
          </a:p>
          <a:p>
            <a:r>
              <a:rPr lang="en-US" dirty="0"/>
              <a:t>One of both is the converter of the motor drive.</a:t>
            </a:r>
          </a:p>
          <a:p>
            <a:r>
              <a:rPr lang="en-US" dirty="0"/>
              <a:t>Another is the high-frequency converter of the WPT system. </a:t>
            </a:r>
          </a:p>
          <a:p>
            <a:r>
              <a:rPr lang="en-US" dirty="0"/>
              <a:t>The motor drive also generates high-frequency switching components at the output, but the motor filters these components out. </a:t>
            </a:r>
          </a:p>
          <a:p>
            <a:r>
              <a:rPr lang="en-US" dirty="0"/>
              <a:t>A low-frequency modulating signal is used to drive the motor. </a:t>
            </a:r>
          </a:p>
          <a:p>
            <a:r>
              <a:rPr lang="en-US" dirty="0"/>
              <a:t>WPT converter generates high-frequency square waves, and Tx and Rx generally have band-pass filter characteristics. </a:t>
            </a:r>
          </a:p>
          <a:p>
            <a:r>
              <a:rPr lang="en-US" dirty="0"/>
              <a:t>Therefore,  it only allows the desired high-frequency components to pass through.</a:t>
            </a:r>
          </a:p>
          <a:p>
            <a:r>
              <a:rPr lang="en-US" dirty="0"/>
              <a:t>Consequently, we have two converters in this system, which increase cost and complexity and decrease reliability.</a:t>
            </a:r>
          </a:p>
        </p:txBody>
      </p:sp>
      <p:sp>
        <p:nvSpPr>
          <p:cNvPr id="4" name="Slide Number Placeholder 3"/>
          <p:cNvSpPr>
            <a:spLocks noGrp="1"/>
          </p:cNvSpPr>
          <p:nvPr>
            <p:ph type="sldNum" sz="quarter" idx="5"/>
          </p:nvPr>
        </p:nvSpPr>
        <p:spPr/>
        <p:txBody>
          <a:bodyPr/>
          <a:lstStyle/>
          <a:p>
            <a:pPr>
              <a:defRPr/>
            </a:pPr>
            <a:fld id="{303AAD37-8495-4358-975D-7F228E51A688}" type="slidenum">
              <a:rPr lang="en-US" smtClean="0"/>
              <a:pPr>
                <a:defRPr/>
              </a:pPr>
              <a:t>7</a:t>
            </a:fld>
            <a:endParaRPr lang="en-US" dirty="0"/>
          </a:p>
        </p:txBody>
      </p:sp>
    </p:spTree>
    <p:extLst>
      <p:ext uri="{BB962C8B-B14F-4D97-AF65-F5344CB8AC3E}">
        <p14:creationId xmlns:p14="http://schemas.microsoft.com/office/powerpoint/2010/main" val="27667846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WPT system is connected between phase-A and phase B. </a:t>
            </a:r>
          </a:p>
          <a:p>
            <a:endParaRPr lang="en-US" dirty="0"/>
          </a:p>
          <a:p>
            <a:r>
              <a:rPr lang="en-US" dirty="0"/>
              <a:t>By carrier phase shift to phase B, we achieve this contour of the magnitude of the switching frequency.  </a:t>
            </a:r>
          </a:p>
          <a:p>
            <a:endParaRPr lang="en-US" dirty="0"/>
          </a:p>
          <a:p>
            <a:r>
              <a:rPr lang="en-US" dirty="0"/>
              <a:t>We can observe that we can have a constant gain for any modulation. </a:t>
            </a:r>
          </a:p>
          <a:p>
            <a:endParaRPr lang="en-US" dirty="0"/>
          </a:p>
          <a:p>
            <a:r>
              <a:rPr lang="en-US" dirty="0"/>
              <a:t>The constant gain is between 0.25 and 0.45 over a DC-link voltage. </a:t>
            </a:r>
          </a:p>
          <a:p>
            <a:endParaRPr lang="en-US" dirty="0"/>
          </a:p>
          <a:p>
            <a:r>
              <a:rPr lang="en-US" dirty="0"/>
              <a:t>The control diagram is shown.  </a:t>
            </a:r>
          </a:p>
          <a:p>
            <a:endParaRPr lang="en-US" dirty="0"/>
          </a:p>
          <a:p>
            <a:r>
              <a:rPr lang="en-US" dirty="0"/>
              <a:t>We adjust the carrier phase shift according to modulation to control the WPT power. </a:t>
            </a:r>
          </a:p>
        </p:txBody>
      </p:sp>
      <p:sp>
        <p:nvSpPr>
          <p:cNvPr id="4" name="Slide Number Placeholder 3"/>
          <p:cNvSpPr>
            <a:spLocks noGrp="1"/>
          </p:cNvSpPr>
          <p:nvPr>
            <p:ph type="sldNum" sz="quarter" idx="5"/>
          </p:nvPr>
        </p:nvSpPr>
        <p:spPr/>
        <p:txBody>
          <a:bodyPr/>
          <a:lstStyle/>
          <a:p>
            <a:pPr>
              <a:defRPr/>
            </a:pPr>
            <a:fld id="{303AAD37-8495-4358-975D-7F228E51A688}" type="slidenum">
              <a:rPr lang="en-US" smtClean="0"/>
              <a:pPr>
                <a:defRPr/>
              </a:pPr>
              <a:t>9</a:t>
            </a:fld>
            <a:endParaRPr lang="en-US" dirty="0"/>
          </a:p>
        </p:txBody>
      </p:sp>
    </p:spTree>
    <p:extLst>
      <p:ext uri="{BB962C8B-B14F-4D97-AF65-F5344CB8AC3E}">
        <p14:creationId xmlns:p14="http://schemas.microsoft.com/office/powerpoint/2010/main" val="39021065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WPT system is connected between phase-A and phase B. </a:t>
            </a:r>
          </a:p>
          <a:p>
            <a:endParaRPr lang="en-US" dirty="0"/>
          </a:p>
          <a:p>
            <a:r>
              <a:rPr lang="en-US" dirty="0"/>
              <a:t>By carrier phase shift to phase B, we achieve this contour of the magnitude of the switching frequency.  </a:t>
            </a:r>
          </a:p>
          <a:p>
            <a:endParaRPr lang="en-US" dirty="0"/>
          </a:p>
          <a:p>
            <a:r>
              <a:rPr lang="en-US" dirty="0"/>
              <a:t>We can observe that we can have a constant gain for any modulation. </a:t>
            </a:r>
          </a:p>
          <a:p>
            <a:endParaRPr lang="en-US" dirty="0"/>
          </a:p>
          <a:p>
            <a:r>
              <a:rPr lang="en-US" dirty="0"/>
              <a:t>The constant gain is between 0.25 and 0.45 over a DC-link voltage. </a:t>
            </a:r>
          </a:p>
          <a:p>
            <a:endParaRPr lang="en-US" dirty="0"/>
          </a:p>
          <a:p>
            <a:r>
              <a:rPr lang="en-US" dirty="0"/>
              <a:t>The control diagram is shown.  </a:t>
            </a:r>
          </a:p>
          <a:p>
            <a:endParaRPr lang="en-US" dirty="0"/>
          </a:p>
          <a:p>
            <a:r>
              <a:rPr lang="en-US" dirty="0"/>
              <a:t>We adjust the carrier phase shift according to modulation to control the WPT power. </a:t>
            </a:r>
          </a:p>
        </p:txBody>
      </p:sp>
      <p:sp>
        <p:nvSpPr>
          <p:cNvPr id="4" name="Slide Number Placeholder 3"/>
          <p:cNvSpPr>
            <a:spLocks noGrp="1"/>
          </p:cNvSpPr>
          <p:nvPr>
            <p:ph type="sldNum" sz="quarter" idx="5"/>
          </p:nvPr>
        </p:nvSpPr>
        <p:spPr/>
        <p:txBody>
          <a:bodyPr/>
          <a:lstStyle/>
          <a:p>
            <a:pPr>
              <a:defRPr/>
            </a:pPr>
            <a:fld id="{303AAD37-8495-4358-975D-7F228E51A688}" type="slidenum">
              <a:rPr lang="en-US" smtClean="0"/>
              <a:pPr>
                <a:defRPr/>
              </a:pPr>
              <a:t>17</a:t>
            </a:fld>
            <a:endParaRPr lang="en-US" dirty="0"/>
          </a:p>
        </p:txBody>
      </p:sp>
    </p:spTree>
    <p:extLst>
      <p:ext uri="{BB962C8B-B14F-4D97-AF65-F5344CB8AC3E}">
        <p14:creationId xmlns:p14="http://schemas.microsoft.com/office/powerpoint/2010/main" val="10273003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2025-02-23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2025-02-23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 xmlns:asvg="http://schemas.microsoft.com/office/drawing/2016/SVG/main"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2025-02-23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 xmlns:asvg="http://schemas.microsoft.com/office/drawing/2016/SVG/main"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2025-02-23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2025-02-23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2025-02-23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2025-02-23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2025-02-23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2025-02-23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2025-02-23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2025-02-23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2025-02-23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2025-02-23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 xmlns:asvg="http://schemas.microsoft.com/office/drawing/2016/SVG/main"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2025-02-23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2025-02-23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2025-02-23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 xmlns:asvg="http://schemas.microsoft.com/office/drawing/2016/SVG/main"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2025-02-23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 xmlns:asvg="http://schemas.microsoft.com/office/drawing/2016/SVG/main"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 xmlns:asvg="http://schemas.microsoft.com/office/drawing/2016/SVG/main"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2025-02-23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2025-02-23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2025-02-23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tr-T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Tree>
    <p:extLst>
      <p:ext uri="{BB962C8B-B14F-4D97-AF65-F5344CB8AC3E}">
        <p14:creationId xmlns:p14="http://schemas.microsoft.com/office/powerpoint/2010/main" val="214091511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2025-02-23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50" cstate="print">
            <a:extLst>
              <a:ext uri="{28A0092B-C50C-407E-A947-70E740481C1C}">
                <a14:useLocalDpi xmlns:a14="http://schemas.microsoft.com/office/drawing/2010/main"/>
              </a:ext>
              <a:ext uri="{96DAC541-7B7A-43D3-8B79-37D633B846F1}">
                <asvg:svgBlip xmlns="" xmlns:asvg="http://schemas.microsoft.com/office/drawing/2016/SVG/main" r:embed="rId51"/>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 id="2147483698" r:id="rId48"/>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48.xml"/></Relationships>
</file>

<file path=ppt/slides/_rels/slide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48.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1.PNG"/><Relationship Id="rId1" Type="http://schemas.openxmlformats.org/officeDocument/2006/relationships/slideLayout" Target="../slideLayouts/slideLayout48.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13" Type="http://schemas.openxmlformats.org/officeDocument/2006/relationships/image" Target="../media/image52.png"/><Relationship Id="rId3" Type="http://schemas.openxmlformats.org/officeDocument/2006/relationships/image" Target="../media/image42.png"/><Relationship Id="rId7" Type="http://schemas.openxmlformats.org/officeDocument/2006/relationships/image" Target="../media/image46.png"/><Relationship Id="rId12" Type="http://schemas.openxmlformats.org/officeDocument/2006/relationships/image" Target="../media/image51.png"/><Relationship Id="rId2" Type="http://schemas.openxmlformats.org/officeDocument/2006/relationships/image" Target="../media/image41.png"/><Relationship Id="rId1" Type="http://schemas.openxmlformats.org/officeDocument/2006/relationships/slideLayout" Target="../slideLayouts/slideLayout1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37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8" Type="http://schemas.openxmlformats.org/officeDocument/2006/relationships/image" Target="../media/image451.png"/><Relationship Id="rId13" Type="http://schemas.openxmlformats.org/officeDocument/2006/relationships/image" Target="../media/image501.png"/><Relationship Id="rId3" Type="http://schemas.openxmlformats.org/officeDocument/2006/relationships/image" Target="../media/image401.png"/><Relationship Id="rId7" Type="http://schemas.openxmlformats.org/officeDocument/2006/relationships/image" Target="../media/image55.emf"/><Relationship Id="rId12" Type="http://schemas.openxmlformats.org/officeDocument/2006/relationships/image" Target="../media/image491.png"/><Relationship Id="rId17" Type="http://schemas.openxmlformats.org/officeDocument/2006/relationships/image" Target="../media/image54.png"/><Relationship Id="rId2" Type="http://schemas.openxmlformats.org/officeDocument/2006/relationships/image" Target="../media/image391.png"/><Relationship Id="rId16" Type="http://schemas.openxmlformats.org/officeDocument/2006/relationships/image" Target="../media/image53.png"/><Relationship Id="rId1" Type="http://schemas.openxmlformats.org/officeDocument/2006/relationships/slideLayout" Target="../slideLayouts/slideLayout12.xml"/><Relationship Id="rId6" Type="http://schemas.openxmlformats.org/officeDocument/2006/relationships/image" Target="../media/image54.emf"/><Relationship Id="rId11" Type="http://schemas.openxmlformats.org/officeDocument/2006/relationships/image" Target="../media/image481.png"/><Relationship Id="rId5" Type="http://schemas.openxmlformats.org/officeDocument/2006/relationships/image" Target="../media/image421.png"/><Relationship Id="rId15" Type="http://schemas.openxmlformats.org/officeDocument/2006/relationships/image" Target="../media/image521.png"/><Relationship Id="rId10" Type="http://schemas.openxmlformats.org/officeDocument/2006/relationships/image" Target="../media/image471.png"/><Relationship Id="rId4" Type="http://schemas.openxmlformats.org/officeDocument/2006/relationships/image" Target="../media/image411.png"/><Relationship Id="rId9" Type="http://schemas.openxmlformats.org/officeDocument/2006/relationships/image" Target="../media/image461.png"/><Relationship Id="rId14" Type="http://schemas.openxmlformats.org/officeDocument/2006/relationships/image" Target="../media/image511.png"/></Relationships>
</file>

<file path=ppt/slides/_rels/slide15.xml.rels><?xml version="1.0" encoding="UTF-8" standalone="yes"?>
<Relationships xmlns="http://schemas.openxmlformats.org/package/2006/relationships"><Relationship Id="rId8" Type="http://schemas.openxmlformats.org/officeDocument/2006/relationships/image" Target="../media/image431.png"/><Relationship Id="rId13" Type="http://schemas.openxmlformats.org/officeDocument/2006/relationships/image" Target="../media/image66.png"/><Relationship Id="rId3" Type="http://schemas.openxmlformats.org/officeDocument/2006/relationships/image" Target="../media/image57.emf"/><Relationship Id="rId7" Type="http://schemas.openxmlformats.org/officeDocument/2006/relationships/image" Target="../media/image60.png"/><Relationship Id="rId12" Type="http://schemas.openxmlformats.org/officeDocument/2006/relationships/image" Target="../media/image61.emf"/><Relationship Id="rId2" Type="http://schemas.openxmlformats.org/officeDocument/2006/relationships/image" Target="../media/image56.emf"/><Relationship Id="rId1" Type="http://schemas.openxmlformats.org/officeDocument/2006/relationships/slideLayout" Target="../slideLayouts/slideLayout12.xml"/><Relationship Id="rId6" Type="http://schemas.openxmlformats.org/officeDocument/2006/relationships/image" Target="../media/image60.emf"/><Relationship Id="rId11" Type="http://schemas.openxmlformats.org/officeDocument/2006/relationships/image" Target="../media/image64.png"/><Relationship Id="rId5" Type="http://schemas.openxmlformats.org/officeDocument/2006/relationships/image" Target="../media/image59.emf"/><Relationship Id="rId10" Type="http://schemas.openxmlformats.org/officeDocument/2006/relationships/image" Target="../media/image63.png"/><Relationship Id="rId4" Type="http://schemas.openxmlformats.org/officeDocument/2006/relationships/image" Target="../media/image58.emf"/><Relationship Id="rId9" Type="http://schemas.openxmlformats.org/officeDocument/2006/relationships/image" Target="../media/image62.png"/></Relationships>
</file>

<file path=ppt/slides/_rels/slide16.xml.rels><?xml version="1.0" encoding="UTF-8" standalone="yes"?>
<Relationships xmlns="http://schemas.openxmlformats.org/package/2006/relationships"><Relationship Id="rId8" Type="http://schemas.openxmlformats.org/officeDocument/2006/relationships/image" Target="../media/image62.emf"/><Relationship Id="rId13" Type="http://schemas.openxmlformats.org/officeDocument/2006/relationships/image" Target="../media/image67.emf"/><Relationship Id="rId3" Type="http://schemas.openxmlformats.org/officeDocument/2006/relationships/image" Target="../media/image61.png"/><Relationship Id="rId7" Type="http://schemas.openxmlformats.org/officeDocument/2006/relationships/image" Target="../media/image69.png"/><Relationship Id="rId12" Type="http://schemas.openxmlformats.org/officeDocument/2006/relationships/image" Target="../media/image66.emf"/><Relationship Id="rId2" Type="http://schemas.openxmlformats.org/officeDocument/2006/relationships/image" Target="../media/image67.png"/><Relationship Id="rId1" Type="http://schemas.openxmlformats.org/officeDocument/2006/relationships/slideLayout" Target="../slideLayouts/slideLayout12.xml"/><Relationship Id="rId6" Type="http://schemas.openxmlformats.org/officeDocument/2006/relationships/image" Target="../media/image68.png"/><Relationship Id="rId11" Type="http://schemas.openxmlformats.org/officeDocument/2006/relationships/image" Target="../media/image65.emf"/><Relationship Id="rId5" Type="http://schemas.openxmlformats.org/officeDocument/2006/relationships/image" Target="../media/image63.png"/><Relationship Id="rId10" Type="http://schemas.openxmlformats.org/officeDocument/2006/relationships/image" Target="../media/image64.emf"/><Relationship Id="rId4" Type="http://schemas.openxmlformats.org/officeDocument/2006/relationships/image" Target="../media/image62.png"/><Relationship Id="rId9" Type="http://schemas.openxmlformats.org/officeDocument/2006/relationships/image" Target="../media/image63.emf"/></Relationships>
</file>

<file path=ppt/slides/_rels/slide1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xml"/><Relationship Id="rId1" Type="http://schemas.openxmlformats.org/officeDocument/2006/relationships/slideLayout" Target="../slideLayouts/slideLayout48.xml"/><Relationship Id="rId5" Type="http://schemas.openxmlformats.org/officeDocument/2006/relationships/image" Target="../media/image72.png"/><Relationship Id="rId4" Type="http://schemas.openxmlformats.org/officeDocument/2006/relationships/image" Target="../media/image7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8" Type="http://schemas.openxmlformats.org/officeDocument/2006/relationships/image" Target="../media/image400.png"/><Relationship Id="rId3" Type="http://schemas.openxmlformats.org/officeDocument/2006/relationships/image" Target="../media/image350.png"/><Relationship Id="rId7" Type="http://schemas.openxmlformats.org/officeDocument/2006/relationships/image" Target="../media/image390.png"/><Relationship Id="rId12" Type="http://schemas.openxmlformats.org/officeDocument/2006/relationships/image" Target="../media/image74.emf"/><Relationship Id="rId2" Type="http://schemas.openxmlformats.org/officeDocument/2006/relationships/image" Target="../media/image73.emf"/><Relationship Id="rId1" Type="http://schemas.openxmlformats.org/officeDocument/2006/relationships/slideLayout" Target="../slideLayouts/slideLayout12.xml"/><Relationship Id="rId6" Type="http://schemas.openxmlformats.org/officeDocument/2006/relationships/image" Target="../media/image380.png"/><Relationship Id="rId11" Type="http://schemas.openxmlformats.org/officeDocument/2006/relationships/image" Target="../media/image430.png"/><Relationship Id="rId5" Type="http://schemas.openxmlformats.org/officeDocument/2006/relationships/image" Target="../media/image370.png"/><Relationship Id="rId10" Type="http://schemas.openxmlformats.org/officeDocument/2006/relationships/image" Target="../media/image420.png"/><Relationship Id="rId4" Type="http://schemas.openxmlformats.org/officeDocument/2006/relationships/image" Target="../media/image360.png"/><Relationship Id="rId9" Type="http://schemas.openxmlformats.org/officeDocument/2006/relationships/image" Target="../media/image410.png"/></Relationships>
</file>

<file path=ppt/slides/_rels/slide21.xml.rels><?xml version="1.0" encoding="UTF-8" standalone="yes"?>
<Relationships xmlns="http://schemas.openxmlformats.org/package/2006/relationships"><Relationship Id="rId8" Type="http://schemas.openxmlformats.org/officeDocument/2006/relationships/image" Target="../media/image500.png"/><Relationship Id="rId13" Type="http://schemas.openxmlformats.org/officeDocument/2006/relationships/image" Target="../media/image540.png"/><Relationship Id="rId3" Type="http://schemas.openxmlformats.org/officeDocument/2006/relationships/image" Target="../media/image450.png"/><Relationship Id="rId7" Type="http://schemas.openxmlformats.org/officeDocument/2006/relationships/image" Target="../media/image490.png"/><Relationship Id="rId12" Type="http://schemas.openxmlformats.org/officeDocument/2006/relationships/image" Target="../media/image74.emf"/><Relationship Id="rId17" Type="http://schemas.openxmlformats.org/officeDocument/2006/relationships/image" Target="../media/image580.png"/><Relationship Id="rId2" Type="http://schemas.openxmlformats.org/officeDocument/2006/relationships/image" Target="../media/image73.emf"/><Relationship Id="rId16" Type="http://schemas.openxmlformats.org/officeDocument/2006/relationships/image" Target="../media/image570.png"/><Relationship Id="rId1" Type="http://schemas.openxmlformats.org/officeDocument/2006/relationships/slideLayout" Target="../slideLayouts/slideLayout12.xml"/><Relationship Id="rId6" Type="http://schemas.openxmlformats.org/officeDocument/2006/relationships/image" Target="../media/image480.png"/><Relationship Id="rId11" Type="http://schemas.openxmlformats.org/officeDocument/2006/relationships/image" Target="../media/image530.png"/><Relationship Id="rId5" Type="http://schemas.openxmlformats.org/officeDocument/2006/relationships/image" Target="../media/image470.png"/><Relationship Id="rId15" Type="http://schemas.openxmlformats.org/officeDocument/2006/relationships/image" Target="../media/image56.png"/><Relationship Id="rId10" Type="http://schemas.openxmlformats.org/officeDocument/2006/relationships/image" Target="../media/image520.png"/><Relationship Id="rId4" Type="http://schemas.openxmlformats.org/officeDocument/2006/relationships/image" Target="../media/image460.png"/><Relationship Id="rId9" Type="http://schemas.openxmlformats.org/officeDocument/2006/relationships/image" Target="../media/image510.png"/><Relationship Id="rId14" Type="http://schemas.openxmlformats.org/officeDocument/2006/relationships/image" Target="../media/image5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en-US" dirty="0" smtClean="0"/>
              <a:t>Modulation Methodology for Concurrent Power Transfer for Field Excitation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504" y="317140"/>
            <a:ext cx="10990263" cy="568412"/>
          </a:xfrm>
        </p:spPr>
        <p:txBody>
          <a:bodyPr/>
          <a:lstStyle/>
          <a:p>
            <a:pPr algn="ctr"/>
            <a:r>
              <a:rPr lang="en-US" dirty="0" smtClean="0"/>
              <a:t>Power </a:t>
            </a:r>
            <a:r>
              <a:rPr lang="en-US" dirty="0"/>
              <a:t>Transfer to Rotating Frames</a:t>
            </a:r>
          </a:p>
        </p:txBody>
      </p:sp>
      <p:pic>
        <p:nvPicPr>
          <p:cNvPr id="12" name="Picture 11">
            <a:extLst>
              <a:ext uri="{FF2B5EF4-FFF2-40B4-BE49-F238E27FC236}">
                <a16:creationId xmlns:a16="http://schemas.microsoft.com/office/drawing/2014/main" id="{DDC6B8BD-C760-4A7D-AA10-CE3AA21AF599}"/>
              </a:ext>
            </a:extLst>
          </p:cNvPr>
          <p:cNvPicPr>
            <a:picLocks noChangeAspect="1"/>
          </p:cNvPicPr>
          <p:nvPr/>
        </p:nvPicPr>
        <p:blipFill>
          <a:blip r:embed="rId2"/>
          <a:stretch>
            <a:fillRect/>
          </a:stretch>
        </p:blipFill>
        <p:spPr>
          <a:xfrm>
            <a:off x="3515425" y="1352765"/>
            <a:ext cx="2070036" cy="1670016"/>
          </a:xfrm>
          <a:prstGeom prst="rect">
            <a:avLst/>
          </a:prstGeom>
        </p:spPr>
      </p:pic>
      <p:pic>
        <p:nvPicPr>
          <p:cNvPr id="13" name="Picture 12">
            <a:extLst>
              <a:ext uri="{FF2B5EF4-FFF2-40B4-BE49-F238E27FC236}">
                <a16:creationId xmlns:a16="http://schemas.microsoft.com/office/drawing/2014/main" id="{FD6C99EB-7040-481D-9438-24949CB00CB9}"/>
              </a:ext>
            </a:extLst>
          </p:cNvPr>
          <p:cNvPicPr>
            <a:picLocks noChangeAspect="1"/>
          </p:cNvPicPr>
          <p:nvPr/>
        </p:nvPicPr>
        <p:blipFill>
          <a:blip r:embed="rId3"/>
          <a:stretch>
            <a:fillRect/>
          </a:stretch>
        </p:blipFill>
        <p:spPr>
          <a:xfrm>
            <a:off x="6008370" y="1442650"/>
            <a:ext cx="2541281" cy="1678083"/>
          </a:xfrm>
          <a:prstGeom prst="rect">
            <a:avLst/>
          </a:prstGeom>
        </p:spPr>
      </p:pic>
      <p:pic>
        <p:nvPicPr>
          <p:cNvPr id="14" name="Picture 13">
            <a:extLst>
              <a:ext uri="{FF2B5EF4-FFF2-40B4-BE49-F238E27FC236}">
                <a16:creationId xmlns:a16="http://schemas.microsoft.com/office/drawing/2014/main" id="{9D53B6D6-1178-435E-B894-CFB65C25DB5C}"/>
              </a:ext>
            </a:extLst>
          </p:cNvPr>
          <p:cNvPicPr>
            <a:picLocks noChangeAspect="1"/>
          </p:cNvPicPr>
          <p:nvPr/>
        </p:nvPicPr>
        <p:blipFill rotWithShape="1">
          <a:blip r:embed="rId4"/>
          <a:srcRect t="1608"/>
          <a:stretch/>
        </p:blipFill>
        <p:spPr>
          <a:xfrm>
            <a:off x="8790491" y="1254813"/>
            <a:ext cx="2353059" cy="1865920"/>
          </a:xfrm>
          <a:prstGeom prst="rect">
            <a:avLst/>
          </a:prstGeom>
        </p:spPr>
      </p:pic>
      <p:graphicFrame>
        <p:nvGraphicFramePr>
          <p:cNvPr id="10" name="Table 9">
            <a:extLst>
              <a:ext uri="{FF2B5EF4-FFF2-40B4-BE49-F238E27FC236}">
                <a16:creationId xmlns:a16="http://schemas.microsoft.com/office/drawing/2014/main" id="{6F42C13F-F67A-4D10-8FA6-B39183C41CB8}"/>
              </a:ext>
            </a:extLst>
          </p:cNvPr>
          <p:cNvGraphicFramePr>
            <a:graphicFrameLocks noGrp="1"/>
          </p:cNvGraphicFramePr>
          <p:nvPr>
            <p:extLst>
              <p:ext uri="{D42A27DB-BD31-4B8C-83A1-F6EECF244321}">
                <p14:modId xmlns:p14="http://schemas.microsoft.com/office/powerpoint/2010/main" val="71158203"/>
              </p:ext>
            </p:extLst>
          </p:nvPr>
        </p:nvGraphicFramePr>
        <p:xfrm>
          <a:off x="533400" y="3234282"/>
          <a:ext cx="10949940" cy="2595880"/>
        </p:xfrm>
        <a:graphic>
          <a:graphicData uri="http://schemas.openxmlformats.org/drawingml/2006/table">
            <a:tbl>
              <a:tblPr firstRow="1" bandRow="1"/>
              <a:tblGrid>
                <a:gridCol w="2737485">
                  <a:extLst>
                    <a:ext uri="{9D8B030D-6E8A-4147-A177-3AD203B41FA5}">
                      <a16:colId xmlns:a16="http://schemas.microsoft.com/office/drawing/2014/main" val="3118816585"/>
                    </a:ext>
                  </a:extLst>
                </a:gridCol>
                <a:gridCol w="2737485">
                  <a:extLst>
                    <a:ext uri="{9D8B030D-6E8A-4147-A177-3AD203B41FA5}">
                      <a16:colId xmlns:a16="http://schemas.microsoft.com/office/drawing/2014/main" val="2259591155"/>
                    </a:ext>
                  </a:extLst>
                </a:gridCol>
                <a:gridCol w="2737485">
                  <a:extLst>
                    <a:ext uri="{9D8B030D-6E8A-4147-A177-3AD203B41FA5}">
                      <a16:colId xmlns:a16="http://schemas.microsoft.com/office/drawing/2014/main" val="2357697429"/>
                    </a:ext>
                  </a:extLst>
                </a:gridCol>
                <a:gridCol w="2737485">
                  <a:extLst>
                    <a:ext uri="{9D8B030D-6E8A-4147-A177-3AD203B41FA5}">
                      <a16:colId xmlns:a16="http://schemas.microsoft.com/office/drawing/2014/main" val="3363847411"/>
                    </a:ext>
                  </a:extLst>
                </a:gridCol>
              </a:tblGrid>
              <a:tr h="370840">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endParaRPr lang="en-US" dirty="0">
                        <a:solidFill>
                          <a:schemeClr val="tx1"/>
                        </a:solidFill>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dirty="0">
                          <a:solidFill>
                            <a:schemeClr val="tx1"/>
                          </a:solidFill>
                        </a:rPr>
                        <a:t>Slip Rings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dirty="0">
                          <a:solidFill>
                            <a:schemeClr val="tx1"/>
                          </a:solidFill>
                        </a:rPr>
                        <a:t>Brushless Exciters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dirty="0">
                          <a:solidFill>
                            <a:schemeClr val="tx1"/>
                          </a:solidFill>
                        </a:rPr>
                        <a:t>Contactless Slip Rings</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4F81BD">
                        <a:lumMod val="20000"/>
                        <a:lumOff val="80000"/>
                      </a:srgbClr>
                    </a:solidFill>
                  </a:tcPr>
                </a:tc>
                <a:extLst>
                  <a:ext uri="{0D108BD9-81ED-4DB2-BD59-A6C34878D82A}">
                    <a16:rowId xmlns:a16="http://schemas.microsoft.com/office/drawing/2014/main" val="254179653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Reliability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064A2">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882656843"/>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Maintenance</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064A2">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612598241"/>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Simplicity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064A2">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C0504D">
                        <a:lumMod val="40000"/>
                        <a:lumOff val="60000"/>
                      </a:srgbClr>
                    </a:solidFill>
                  </a:tcPr>
                </a:tc>
                <a:extLst>
                  <a:ext uri="{0D108BD9-81ED-4DB2-BD59-A6C34878D82A}">
                    <a16:rowId xmlns:a16="http://schemas.microsoft.com/office/drawing/2014/main" val="3114591035"/>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Speed Independency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064A2">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676679422"/>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Cost Effectivity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064A2">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C0504D">
                        <a:lumMod val="40000"/>
                        <a:lumOff val="60000"/>
                      </a:srgbClr>
                    </a:solidFill>
                  </a:tcPr>
                </a:tc>
                <a:extLst>
                  <a:ext uri="{0D108BD9-81ED-4DB2-BD59-A6C34878D82A}">
                    <a16:rowId xmlns:a16="http://schemas.microsoft.com/office/drawing/2014/main" val="537080434"/>
                  </a:ext>
                </a:extLst>
              </a:tr>
              <a:tr h="370840">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Efficiency</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8064A2">
                        <a:lumMod val="20000"/>
                        <a:lumOff val="80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dirty="0"/>
                        <a:t>+</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042443929"/>
                  </a:ext>
                </a:extLst>
              </a:tr>
            </a:tbl>
          </a:graphicData>
        </a:graphic>
      </p:graphicFrame>
    </p:spTree>
    <p:extLst>
      <p:ext uri="{BB962C8B-B14F-4D97-AF65-F5344CB8AC3E}">
        <p14:creationId xmlns:p14="http://schemas.microsoft.com/office/powerpoint/2010/main" val="11963246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95" y="318392"/>
            <a:ext cx="10990263" cy="568412"/>
          </a:xfrm>
        </p:spPr>
        <p:txBody>
          <a:bodyPr/>
          <a:lstStyle/>
          <a:p>
            <a:r>
              <a:rPr lang="sv-SE" dirty="0" err="1"/>
              <a:t>Wireless</a:t>
            </a:r>
            <a:r>
              <a:rPr lang="sv-SE" dirty="0"/>
              <a:t> Power Transfer</a:t>
            </a:r>
          </a:p>
        </p:txBody>
      </p:sp>
      <p:sp>
        <p:nvSpPr>
          <p:cNvPr id="15" name="TextBox 14">
            <a:extLst>
              <a:ext uri="{FF2B5EF4-FFF2-40B4-BE49-F238E27FC236}">
                <a16:creationId xmlns:a16="http://schemas.microsoft.com/office/drawing/2014/main" id="{1B08BC90-A6D9-4FD4-8B60-A75291C080D7}"/>
              </a:ext>
            </a:extLst>
          </p:cNvPr>
          <p:cNvSpPr txBox="1"/>
          <p:nvPr/>
        </p:nvSpPr>
        <p:spPr>
          <a:xfrm>
            <a:off x="6864399" y="1267944"/>
            <a:ext cx="4946601" cy="1815882"/>
          </a:xfrm>
          <a:prstGeom prst="rect">
            <a:avLst/>
          </a:prstGeom>
          <a:noFill/>
        </p:spPr>
        <p:txBody>
          <a:bodyPr wrap="square" rtlCol="0">
            <a:spAutoFit/>
          </a:bodyPr>
          <a:lstStyle/>
          <a:p>
            <a:pPr marL="342900" indent="-342900">
              <a:buAutoNum type="arabicPeriod"/>
            </a:pPr>
            <a:r>
              <a:rPr lang="en-US" sz="2800" dirty="0">
                <a:latin typeface="+mj-lt"/>
              </a:rPr>
              <a:t>DC/AC Converter</a:t>
            </a:r>
          </a:p>
          <a:p>
            <a:pPr marL="342900" indent="-342900">
              <a:buAutoNum type="arabicPeriod"/>
            </a:pPr>
            <a:r>
              <a:rPr lang="en-US" sz="2800" dirty="0">
                <a:latin typeface="+mj-lt"/>
              </a:rPr>
              <a:t>Compensation Circuits</a:t>
            </a:r>
          </a:p>
          <a:p>
            <a:pPr marL="342900" indent="-342900">
              <a:buAutoNum type="arabicPeriod"/>
            </a:pPr>
            <a:r>
              <a:rPr lang="en-US" sz="2800" dirty="0">
                <a:latin typeface="+mj-lt"/>
              </a:rPr>
              <a:t>Transmitter/Receiver Coils</a:t>
            </a:r>
          </a:p>
          <a:p>
            <a:pPr marL="342900" indent="-342900">
              <a:buAutoNum type="arabicPeriod"/>
            </a:pPr>
            <a:r>
              <a:rPr lang="en-US" sz="2800" dirty="0">
                <a:latin typeface="+mj-lt"/>
              </a:rPr>
              <a:t>AC/DC Rectifiers</a:t>
            </a:r>
          </a:p>
        </p:txBody>
      </p:sp>
      <p:pic>
        <p:nvPicPr>
          <p:cNvPr id="16" name="Picture 15">
            <a:extLst>
              <a:ext uri="{FF2B5EF4-FFF2-40B4-BE49-F238E27FC236}">
                <a16:creationId xmlns:a16="http://schemas.microsoft.com/office/drawing/2014/main" id="{1F2819D1-57D0-4EA5-BB16-96D268703321}"/>
              </a:ext>
            </a:extLst>
          </p:cNvPr>
          <p:cNvPicPr>
            <a:picLocks noChangeAspect="1"/>
          </p:cNvPicPr>
          <p:nvPr/>
        </p:nvPicPr>
        <p:blipFill>
          <a:blip r:embed="rId2"/>
          <a:stretch>
            <a:fillRect/>
          </a:stretch>
        </p:blipFill>
        <p:spPr>
          <a:xfrm>
            <a:off x="1591008" y="3956669"/>
            <a:ext cx="2233038" cy="1227819"/>
          </a:xfrm>
          <a:prstGeom prst="rect">
            <a:avLst/>
          </a:prstGeom>
        </p:spPr>
      </p:pic>
      <p:sp>
        <p:nvSpPr>
          <p:cNvPr id="17" name="Content Placeholder 3">
            <a:extLst>
              <a:ext uri="{FF2B5EF4-FFF2-40B4-BE49-F238E27FC236}">
                <a16:creationId xmlns:a16="http://schemas.microsoft.com/office/drawing/2014/main" id="{8965E3F0-D7D7-448B-86D7-45847418D21B}"/>
              </a:ext>
            </a:extLst>
          </p:cNvPr>
          <p:cNvSpPr>
            <a:spLocks noGrp="1"/>
          </p:cNvSpPr>
          <p:nvPr>
            <p:ph idx="1"/>
          </p:nvPr>
        </p:nvSpPr>
        <p:spPr>
          <a:xfrm>
            <a:off x="1253384" y="5156646"/>
            <a:ext cx="3554561" cy="243116"/>
          </a:xfrm>
        </p:spPr>
        <p:txBody>
          <a:bodyPr>
            <a:noAutofit/>
          </a:bodyPr>
          <a:lstStyle/>
          <a:p>
            <a:pPr marL="0" indent="0">
              <a:buNone/>
            </a:pPr>
            <a:r>
              <a:rPr lang="en-US" sz="2500" dirty="0"/>
              <a:t>Tesla’s WPT System</a:t>
            </a:r>
          </a:p>
        </p:txBody>
      </p:sp>
      <p:graphicFrame>
        <p:nvGraphicFramePr>
          <p:cNvPr id="18" name="Table 17">
            <a:extLst>
              <a:ext uri="{FF2B5EF4-FFF2-40B4-BE49-F238E27FC236}">
                <a16:creationId xmlns:a16="http://schemas.microsoft.com/office/drawing/2014/main" id="{CB15E53C-F807-4D63-B7E8-CE1EB650273F}"/>
              </a:ext>
            </a:extLst>
          </p:cNvPr>
          <p:cNvGraphicFramePr>
            <a:graphicFrameLocks noGrp="1"/>
          </p:cNvGraphicFramePr>
          <p:nvPr>
            <p:extLst>
              <p:ext uri="{D42A27DB-BD31-4B8C-83A1-F6EECF244321}">
                <p14:modId xmlns:p14="http://schemas.microsoft.com/office/powerpoint/2010/main" val="1466760069"/>
              </p:ext>
            </p:extLst>
          </p:nvPr>
        </p:nvGraphicFramePr>
        <p:xfrm>
          <a:off x="5343202" y="3591750"/>
          <a:ext cx="5973285" cy="2743200"/>
        </p:xfrm>
        <a:graphic>
          <a:graphicData uri="http://schemas.openxmlformats.org/drawingml/2006/table">
            <a:tbl>
              <a:tblPr firstRow="1" bandRow="1">
                <a:tableStyleId>{5C22544A-7EE6-4342-B048-85BDC9FD1C3A}</a:tableStyleId>
              </a:tblPr>
              <a:tblGrid>
                <a:gridCol w="1991095">
                  <a:extLst>
                    <a:ext uri="{9D8B030D-6E8A-4147-A177-3AD203B41FA5}">
                      <a16:colId xmlns:a16="http://schemas.microsoft.com/office/drawing/2014/main" val="3118816585"/>
                    </a:ext>
                  </a:extLst>
                </a:gridCol>
                <a:gridCol w="1991095">
                  <a:extLst>
                    <a:ext uri="{9D8B030D-6E8A-4147-A177-3AD203B41FA5}">
                      <a16:colId xmlns:a16="http://schemas.microsoft.com/office/drawing/2014/main" val="2259591155"/>
                    </a:ext>
                  </a:extLst>
                </a:gridCol>
                <a:gridCol w="1991095">
                  <a:extLst>
                    <a:ext uri="{9D8B030D-6E8A-4147-A177-3AD203B41FA5}">
                      <a16:colId xmlns:a16="http://schemas.microsoft.com/office/drawing/2014/main" val="2357697429"/>
                    </a:ext>
                  </a:extLst>
                </a:gridCol>
              </a:tblGrid>
              <a:tr h="753944">
                <a:tc>
                  <a:txBody>
                    <a:bodyPr/>
                    <a:lstStyle/>
                    <a:p>
                      <a:pPr algn="ct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Inductive</a:t>
                      </a:r>
                    </a:p>
                    <a:p>
                      <a:pPr algn="ctr"/>
                      <a:r>
                        <a:rPr lang="en-US" dirty="0">
                          <a:solidFill>
                            <a:schemeClr val="tx1"/>
                          </a:solidFill>
                        </a:rPr>
                        <a:t>Power </a:t>
                      </a:r>
                    </a:p>
                    <a:p>
                      <a:pPr algn="ctr"/>
                      <a:r>
                        <a:rPr lang="en-US" dirty="0">
                          <a:solidFill>
                            <a:schemeClr val="tx1"/>
                          </a:solidFill>
                        </a:rPr>
                        <a:t>Transfer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a:r>
                        <a:rPr lang="en-US" dirty="0">
                          <a:solidFill>
                            <a:schemeClr val="tx1"/>
                          </a:solidFill>
                        </a:rPr>
                        <a:t>Capacitive </a:t>
                      </a:r>
                    </a:p>
                    <a:p>
                      <a:pPr algn="ctr"/>
                      <a:r>
                        <a:rPr lang="en-US" dirty="0">
                          <a:solidFill>
                            <a:schemeClr val="tx1"/>
                          </a:solidFill>
                        </a:rPr>
                        <a:t>Power </a:t>
                      </a:r>
                    </a:p>
                    <a:p>
                      <a:pPr algn="ctr"/>
                      <a:r>
                        <a:rPr lang="en-US" dirty="0">
                          <a:solidFill>
                            <a:schemeClr val="tx1"/>
                          </a:solidFill>
                        </a:rPr>
                        <a:t>Transfer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541796533"/>
                  </a:ext>
                </a:extLst>
              </a:tr>
              <a:tr h="305766">
                <a:tc>
                  <a:txBody>
                    <a:bodyPr/>
                    <a:lstStyle/>
                    <a:p>
                      <a:pPr algn="ctr"/>
                      <a:r>
                        <a:rPr lang="en-US" dirty="0"/>
                        <a:t>Transfer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dirty="0"/>
                        <a:t>Varying MF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Varying 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82656843"/>
                  </a:ext>
                </a:extLst>
              </a:tr>
              <a:tr h="305766">
                <a:tc>
                  <a:txBody>
                    <a:bodyPr/>
                    <a:lstStyle/>
                    <a:p>
                      <a:pPr algn="ctr"/>
                      <a:r>
                        <a:rPr lang="en-US" dirty="0"/>
                        <a:t>Power Ratings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12598241"/>
                  </a:ext>
                </a:extLst>
              </a:tr>
              <a:tr h="305766">
                <a:tc>
                  <a:txBody>
                    <a:bodyPr/>
                    <a:lstStyle/>
                    <a:p>
                      <a:pPr algn="ctr"/>
                      <a:r>
                        <a:rPr lang="en-US" dirty="0"/>
                        <a:t>Frequencies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14591035"/>
                  </a:ext>
                </a:extLst>
              </a:tr>
              <a:tr h="305766">
                <a:tc>
                  <a:txBody>
                    <a:bodyPr/>
                    <a:lstStyle/>
                    <a:p>
                      <a:pPr algn="ctr"/>
                      <a:r>
                        <a:rPr lang="en-US" dirty="0"/>
                        <a:t>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676679422"/>
                  </a:ext>
                </a:extLst>
              </a:tr>
              <a:tr h="305766">
                <a:tc>
                  <a:txBody>
                    <a:bodyPr/>
                    <a:lstStyle/>
                    <a:p>
                      <a:pPr algn="ctr"/>
                      <a:r>
                        <a:rPr lang="en-US" dirty="0"/>
                        <a:t>Distance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20000"/>
                        <a:lumOff val="80000"/>
                      </a:schemeClr>
                    </a:solidFill>
                  </a:tcPr>
                </a:tc>
                <a:tc>
                  <a:txBody>
                    <a:bodyPr/>
                    <a:lstStyle/>
                    <a:p>
                      <a:pPr algn="ctr"/>
                      <a:r>
                        <a:rPr lang="en-US" dirty="0"/>
                        <a:t>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37080434"/>
                  </a:ext>
                </a:extLst>
              </a:tr>
            </a:tbl>
          </a:graphicData>
        </a:graphic>
      </p:graphicFrame>
      <p:pic>
        <p:nvPicPr>
          <p:cNvPr id="19" name="Picture 18">
            <a:extLst>
              <a:ext uri="{FF2B5EF4-FFF2-40B4-BE49-F238E27FC236}">
                <a16:creationId xmlns:a16="http://schemas.microsoft.com/office/drawing/2014/main" id="{DDC7EEA8-EB3B-4A9B-8923-920C92A396E8}"/>
              </a:ext>
            </a:extLst>
          </p:cNvPr>
          <p:cNvPicPr>
            <a:picLocks noChangeAspect="1"/>
          </p:cNvPicPr>
          <p:nvPr/>
        </p:nvPicPr>
        <p:blipFill>
          <a:blip r:embed="rId3"/>
          <a:stretch>
            <a:fillRect/>
          </a:stretch>
        </p:blipFill>
        <p:spPr>
          <a:xfrm>
            <a:off x="289012" y="1155808"/>
            <a:ext cx="6225019" cy="2166937"/>
          </a:xfrm>
          <a:prstGeom prst="rect">
            <a:avLst/>
          </a:prstGeom>
        </p:spPr>
      </p:pic>
    </p:spTree>
    <p:extLst>
      <p:ext uri="{BB962C8B-B14F-4D97-AF65-F5344CB8AC3E}">
        <p14:creationId xmlns:p14="http://schemas.microsoft.com/office/powerpoint/2010/main" val="890585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95" y="318392"/>
            <a:ext cx="10990263" cy="568412"/>
          </a:xfrm>
        </p:spPr>
        <p:txBody>
          <a:bodyPr/>
          <a:lstStyle/>
          <a:p>
            <a:r>
              <a:rPr lang="sv-SE" dirty="0"/>
              <a:t> </a:t>
            </a:r>
            <a:r>
              <a:rPr lang="sv-SE" dirty="0" err="1"/>
              <a:t>Inductive</a:t>
            </a:r>
            <a:r>
              <a:rPr lang="sv-SE" dirty="0"/>
              <a:t> Power Transfer System</a:t>
            </a:r>
          </a:p>
        </p:txBody>
      </p:sp>
      <p:pic>
        <p:nvPicPr>
          <p:cNvPr id="9" name="Picture 8">
            <a:extLst>
              <a:ext uri="{FF2B5EF4-FFF2-40B4-BE49-F238E27FC236}">
                <a16:creationId xmlns:a16="http://schemas.microsoft.com/office/drawing/2014/main" id="{B2B7B030-A132-49BF-964A-B0B78C378CE9}"/>
              </a:ext>
            </a:extLst>
          </p:cNvPr>
          <p:cNvPicPr>
            <a:picLocks noChangeAspect="1"/>
          </p:cNvPicPr>
          <p:nvPr/>
        </p:nvPicPr>
        <p:blipFill rotWithShape="1">
          <a:blip r:embed="rId2"/>
          <a:srcRect t="10988" b="8074"/>
          <a:stretch/>
        </p:blipFill>
        <p:spPr>
          <a:xfrm>
            <a:off x="184626" y="1267993"/>
            <a:ext cx="11152188" cy="3088150"/>
          </a:xfrm>
          <a:prstGeom prst="rect">
            <a:avLst/>
          </a:prstGeom>
        </p:spPr>
      </p:pic>
      <p:cxnSp>
        <p:nvCxnSpPr>
          <p:cNvPr id="10" name="Straight Connector 9">
            <a:extLst>
              <a:ext uri="{FF2B5EF4-FFF2-40B4-BE49-F238E27FC236}">
                <a16:creationId xmlns:a16="http://schemas.microsoft.com/office/drawing/2014/main" id="{66439C20-B1FF-4105-B4F7-F8937308ED00}"/>
              </a:ext>
            </a:extLst>
          </p:cNvPr>
          <p:cNvCxnSpPr>
            <a:cxnSpLocks/>
          </p:cNvCxnSpPr>
          <p:nvPr/>
        </p:nvCxnSpPr>
        <p:spPr>
          <a:xfrm>
            <a:off x="1019131" y="4891969"/>
            <a:ext cx="39624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20BC6650-DD58-472B-ADCF-DFFFD3CC09F3}"/>
              </a:ext>
            </a:extLst>
          </p:cNvPr>
          <p:cNvGrpSpPr/>
          <p:nvPr/>
        </p:nvGrpSpPr>
        <p:grpSpPr>
          <a:xfrm>
            <a:off x="2693494" y="4851586"/>
            <a:ext cx="520700" cy="495300"/>
            <a:chOff x="2362200" y="5334000"/>
            <a:chExt cx="2044700" cy="495300"/>
          </a:xfrm>
        </p:grpSpPr>
        <p:cxnSp>
          <p:nvCxnSpPr>
            <p:cNvPr id="12" name="Straight Connector 11">
              <a:extLst>
                <a:ext uri="{FF2B5EF4-FFF2-40B4-BE49-F238E27FC236}">
                  <a16:creationId xmlns:a16="http://schemas.microsoft.com/office/drawing/2014/main" id="{5CD4675A-A862-4BC1-9BF8-733443193BB9}"/>
                </a:ext>
              </a:extLst>
            </p:cNvPr>
            <p:cNvCxnSpPr>
              <a:cxnSpLocks/>
            </p:cNvCxnSpPr>
            <p:nvPr/>
          </p:nvCxnSpPr>
          <p:spPr>
            <a:xfrm>
              <a:off x="3035300" y="5334000"/>
              <a:ext cx="6858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6D568C5-BEEC-4914-808E-C7608C6488DC}"/>
                </a:ext>
              </a:extLst>
            </p:cNvPr>
            <p:cNvCxnSpPr>
              <a:cxnSpLocks/>
            </p:cNvCxnSpPr>
            <p:nvPr/>
          </p:nvCxnSpPr>
          <p:spPr>
            <a:xfrm>
              <a:off x="2362200" y="5829300"/>
              <a:ext cx="6858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AAE4F27-F5D7-41A3-B3FF-22945A954B49}"/>
                </a:ext>
              </a:extLst>
            </p:cNvPr>
            <p:cNvCxnSpPr>
              <a:cxnSpLocks/>
            </p:cNvCxnSpPr>
            <p:nvPr/>
          </p:nvCxnSpPr>
          <p:spPr>
            <a:xfrm flipV="1">
              <a:off x="3048000" y="5334000"/>
              <a:ext cx="0" cy="49530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6EC0BF0-02D3-4346-A27E-94E3C3281C78}"/>
                </a:ext>
              </a:extLst>
            </p:cNvPr>
            <p:cNvCxnSpPr>
              <a:cxnSpLocks/>
            </p:cNvCxnSpPr>
            <p:nvPr/>
          </p:nvCxnSpPr>
          <p:spPr>
            <a:xfrm flipV="1">
              <a:off x="3721100" y="5334000"/>
              <a:ext cx="0" cy="49530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6BEF66E-2DA6-47F7-B27D-C14BFAE319F4}"/>
                </a:ext>
              </a:extLst>
            </p:cNvPr>
            <p:cNvCxnSpPr>
              <a:cxnSpLocks/>
            </p:cNvCxnSpPr>
            <p:nvPr/>
          </p:nvCxnSpPr>
          <p:spPr>
            <a:xfrm>
              <a:off x="3721100" y="5829300"/>
              <a:ext cx="6858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22" name="Group 21">
            <a:extLst>
              <a:ext uri="{FF2B5EF4-FFF2-40B4-BE49-F238E27FC236}">
                <a16:creationId xmlns:a16="http://schemas.microsoft.com/office/drawing/2014/main" id="{12E52C93-158D-4404-A43E-56A4AFFC814E}"/>
              </a:ext>
            </a:extLst>
          </p:cNvPr>
          <p:cNvGrpSpPr/>
          <p:nvPr/>
        </p:nvGrpSpPr>
        <p:grpSpPr>
          <a:xfrm>
            <a:off x="4044450" y="4857932"/>
            <a:ext cx="468634" cy="482607"/>
            <a:chOff x="5627366" y="5181586"/>
            <a:chExt cx="609600" cy="1301771"/>
          </a:xfrm>
        </p:grpSpPr>
        <p:sp>
          <p:nvSpPr>
            <p:cNvPr id="23" name="Freeform: Shape 28">
              <a:extLst>
                <a:ext uri="{FF2B5EF4-FFF2-40B4-BE49-F238E27FC236}">
                  <a16:creationId xmlns:a16="http://schemas.microsoft.com/office/drawing/2014/main" id="{B95188BD-362A-45CB-8DBE-DA55029AF95A}"/>
                </a:ext>
              </a:extLst>
            </p:cNvPr>
            <p:cNvSpPr/>
            <p:nvPr/>
          </p:nvSpPr>
          <p:spPr>
            <a:xfrm>
              <a:off x="5627366" y="5181586"/>
              <a:ext cx="304800" cy="655334"/>
            </a:xfrm>
            <a:custGeom>
              <a:avLst/>
              <a:gdLst>
                <a:gd name="connsiteX0" fmla="*/ 0 w 304800"/>
                <a:gd name="connsiteY0" fmla="*/ 640094 h 655334"/>
                <a:gd name="connsiteX1" fmla="*/ 144780 w 304800"/>
                <a:gd name="connsiteY1" fmla="*/ 14 h 655334"/>
                <a:gd name="connsiteX2" fmla="*/ 304800 w 304800"/>
                <a:gd name="connsiteY2" fmla="*/ 655334 h 655334"/>
              </a:gdLst>
              <a:ahLst/>
              <a:cxnLst>
                <a:cxn ang="0">
                  <a:pos x="connsiteX0" y="connsiteY0"/>
                </a:cxn>
                <a:cxn ang="0">
                  <a:pos x="connsiteX1" y="connsiteY1"/>
                </a:cxn>
                <a:cxn ang="0">
                  <a:pos x="connsiteX2" y="connsiteY2"/>
                </a:cxn>
              </a:cxnLst>
              <a:rect l="l" t="t" r="r" b="b"/>
              <a:pathLst>
                <a:path w="304800" h="655334">
                  <a:moveTo>
                    <a:pt x="0" y="640094"/>
                  </a:moveTo>
                  <a:cubicBezTo>
                    <a:pt x="46990" y="318784"/>
                    <a:pt x="93980" y="-2526"/>
                    <a:pt x="144780" y="14"/>
                  </a:cubicBezTo>
                  <a:cubicBezTo>
                    <a:pt x="195580" y="2554"/>
                    <a:pt x="250190" y="328944"/>
                    <a:pt x="304800" y="655334"/>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9">
              <a:extLst>
                <a:ext uri="{FF2B5EF4-FFF2-40B4-BE49-F238E27FC236}">
                  <a16:creationId xmlns:a16="http://schemas.microsoft.com/office/drawing/2014/main" id="{2DE59304-C6FE-4150-B601-98D94A975B1E}"/>
                </a:ext>
              </a:extLst>
            </p:cNvPr>
            <p:cNvSpPr/>
            <p:nvPr/>
          </p:nvSpPr>
          <p:spPr>
            <a:xfrm rot="10800000">
              <a:off x="5932166" y="5828023"/>
              <a:ext cx="304800" cy="655334"/>
            </a:xfrm>
            <a:custGeom>
              <a:avLst/>
              <a:gdLst>
                <a:gd name="connsiteX0" fmla="*/ 0 w 304800"/>
                <a:gd name="connsiteY0" fmla="*/ 640094 h 655334"/>
                <a:gd name="connsiteX1" fmla="*/ 144780 w 304800"/>
                <a:gd name="connsiteY1" fmla="*/ 14 h 655334"/>
                <a:gd name="connsiteX2" fmla="*/ 304800 w 304800"/>
                <a:gd name="connsiteY2" fmla="*/ 655334 h 655334"/>
              </a:gdLst>
              <a:ahLst/>
              <a:cxnLst>
                <a:cxn ang="0">
                  <a:pos x="connsiteX0" y="connsiteY0"/>
                </a:cxn>
                <a:cxn ang="0">
                  <a:pos x="connsiteX1" y="connsiteY1"/>
                </a:cxn>
                <a:cxn ang="0">
                  <a:pos x="connsiteX2" y="connsiteY2"/>
                </a:cxn>
              </a:cxnLst>
              <a:rect l="l" t="t" r="r" b="b"/>
              <a:pathLst>
                <a:path w="304800" h="655334">
                  <a:moveTo>
                    <a:pt x="0" y="640094"/>
                  </a:moveTo>
                  <a:cubicBezTo>
                    <a:pt x="46990" y="318784"/>
                    <a:pt x="93980" y="-2526"/>
                    <a:pt x="144780" y="14"/>
                  </a:cubicBezTo>
                  <a:cubicBezTo>
                    <a:pt x="195580" y="2554"/>
                    <a:pt x="250190" y="328944"/>
                    <a:pt x="304800" y="655334"/>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cxnSp>
        <p:nvCxnSpPr>
          <p:cNvPr id="25" name="Straight Connector 24">
            <a:extLst>
              <a:ext uri="{FF2B5EF4-FFF2-40B4-BE49-F238E27FC236}">
                <a16:creationId xmlns:a16="http://schemas.microsoft.com/office/drawing/2014/main" id="{03A27BBC-EBA1-4CB3-835B-CAB80C785FCC}"/>
              </a:ext>
            </a:extLst>
          </p:cNvPr>
          <p:cNvCxnSpPr>
            <a:cxnSpLocks/>
          </p:cNvCxnSpPr>
          <p:nvPr/>
        </p:nvCxnSpPr>
        <p:spPr>
          <a:xfrm>
            <a:off x="967315" y="5099236"/>
            <a:ext cx="10134600"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nvGrpSpPr>
          <p:cNvPr id="26" name="Group 25">
            <a:extLst>
              <a:ext uri="{FF2B5EF4-FFF2-40B4-BE49-F238E27FC236}">
                <a16:creationId xmlns:a16="http://schemas.microsoft.com/office/drawing/2014/main" id="{04176A43-8A83-4684-8069-5817744F0BB2}"/>
              </a:ext>
            </a:extLst>
          </p:cNvPr>
          <p:cNvGrpSpPr/>
          <p:nvPr/>
        </p:nvGrpSpPr>
        <p:grpSpPr>
          <a:xfrm>
            <a:off x="5292087" y="4851586"/>
            <a:ext cx="468634" cy="482607"/>
            <a:chOff x="5627366" y="5181586"/>
            <a:chExt cx="609600" cy="1301771"/>
          </a:xfrm>
        </p:grpSpPr>
        <p:sp>
          <p:nvSpPr>
            <p:cNvPr id="27" name="Freeform: Shape 36">
              <a:extLst>
                <a:ext uri="{FF2B5EF4-FFF2-40B4-BE49-F238E27FC236}">
                  <a16:creationId xmlns:a16="http://schemas.microsoft.com/office/drawing/2014/main" id="{78EEB13F-85B8-4C1D-B2BE-0F5BFCCB420E}"/>
                </a:ext>
              </a:extLst>
            </p:cNvPr>
            <p:cNvSpPr/>
            <p:nvPr/>
          </p:nvSpPr>
          <p:spPr>
            <a:xfrm>
              <a:off x="5627366" y="5181586"/>
              <a:ext cx="304800" cy="655334"/>
            </a:xfrm>
            <a:custGeom>
              <a:avLst/>
              <a:gdLst>
                <a:gd name="connsiteX0" fmla="*/ 0 w 304800"/>
                <a:gd name="connsiteY0" fmla="*/ 640094 h 655334"/>
                <a:gd name="connsiteX1" fmla="*/ 144780 w 304800"/>
                <a:gd name="connsiteY1" fmla="*/ 14 h 655334"/>
                <a:gd name="connsiteX2" fmla="*/ 304800 w 304800"/>
                <a:gd name="connsiteY2" fmla="*/ 655334 h 655334"/>
              </a:gdLst>
              <a:ahLst/>
              <a:cxnLst>
                <a:cxn ang="0">
                  <a:pos x="connsiteX0" y="connsiteY0"/>
                </a:cxn>
                <a:cxn ang="0">
                  <a:pos x="connsiteX1" y="connsiteY1"/>
                </a:cxn>
                <a:cxn ang="0">
                  <a:pos x="connsiteX2" y="connsiteY2"/>
                </a:cxn>
              </a:cxnLst>
              <a:rect l="l" t="t" r="r" b="b"/>
              <a:pathLst>
                <a:path w="304800" h="655334">
                  <a:moveTo>
                    <a:pt x="0" y="640094"/>
                  </a:moveTo>
                  <a:cubicBezTo>
                    <a:pt x="46990" y="318784"/>
                    <a:pt x="93980" y="-2526"/>
                    <a:pt x="144780" y="14"/>
                  </a:cubicBezTo>
                  <a:cubicBezTo>
                    <a:pt x="195580" y="2554"/>
                    <a:pt x="250190" y="328944"/>
                    <a:pt x="304800" y="655334"/>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Shape 37">
              <a:extLst>
                <a:ext uri="{FF2B5EF4-FFF2-40B4-BE49-F238E27FC236}">
                  <a16:creationId xmlns:a16="http://schemas.microsoft.com/office/drawing/2014/main" id="{769FEB4D-97CA-4F40-89A6-7424935A8AC5}"/>
                </a:ext>
              </a:extLst>
            </p:cNvPr>
            <p:cNvSpPr/>
            <p:nvPr/>
          </p:nvSpPr>
          <p:spPr>
            <a:xfrm rot="10800000">
              <a:off x="5932166" y="5828023"/>
              <a:ext cx="304800" cy="655334"/>
            </a:xfrm>
            <a:custGeom>
              <a:avLst/>
              <a:gdLst>
                <a:gd name="connsiteX0" fmla="*/ 0 w 304800"/>
                <a:gd name="connsiteY0" fmla="*/ 640094 h 655334"/>
                <a:gd name="connsiteX1" fmla="*/ 144780 w 304800"/>
                <a:gd name="connsiteY1" fmla="*/ 14 h 655334"/>
                <a:gd name="connsiteX2" fmla="*/ 304800 w 304800"/>
                <a:gd name="connsiteY2" fmla="*/ 655334 h 655334"/>
              </a:gdLst>
              <a:ahLst/>
              <a:cxnLst>
                <a:cxn ang="0">
                  <a:pos x="connsiteX0" y="connsiteY0"/>
                </a:cxn>
                <a:cxn ang="0">
                  <a:pos x="connsiteX1" y="connsiteY1"/>
                </a:cxn>
                <a:cxn ang="0">
                  <a:pos x="connsiteX2" y="connsiteY2"/>
                </a:cxn>
              </a:cxnLst>
              <a:rect l="l" t="t" r="r" b="b"/>
              <a:pathLst>
                <a:path w="304800" h="655334">
                  <a:moveTo>
                    <a:pt x="0" y="640094"/>
                  </a:moveTo>
                  <a:cubicBezTo>
                    <a:pt x="46990" y="318784"/>
                    <a:pt x="93980" y="-2526"/>
                    <a:pt x="144780" y="14"/>
                  </a:cubicBezTo>
                  <a:cubicBezTo>
                    <a:pt x="195580" y="2554"/>
                    <a:pt x="250190" y="328944"/>
                    <a:pt x="304800" y="655334"/>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grpSp>
        <p:nvGrpSpPr>
          <p:cNvPr id="29" name="Group 28">
            <a:extLst>
              <a:ext uri="{FF2B5EF4-FFF2-40B4-BE49-F238E27FC236}">
                <a16:creationId xmlns:a16="http://schemas.microsoft.com/office/drawing/2014/main" id="{21E091C5-E85D-48B5-8B59-78EDA5266049}"/>
              </a:ext>
            </a:extLst>
          </p:cNvPr>
          <p:cNvGrpSpPr/>
          <p:nvPr/>
        </p:nvGrpSpPr>
        <p:grpSpPr>
          <a:xfrm>
            <a:off x="6679264" y="4857932"/>
            <a:ext cx="520700" cy="495300"/>
            <a:chOff x="2362200" y="5334000"/>
            <a:chExt cx="2044700" cy="495300"/>
          </a:xfrm>
        </p:grpSpPr>
        <p:cxnSp>
          <p:nvCxnSpPr>
            <p:cNvPr id="30" name="Straight Connector 29">
              <a:extLst>
                <a:ext uri="{FF2B5EF4-FFF2-40B4-BE49-F238E27FC236}">
                  <a16:creationId xmlns:a16="http://schemas.microsoft.com/office/drawing/2014/main" id="{33D15E56-E288-4380-999C-F4EAA86D64B5}"/>
                </a:ext>
              </a:extLst>
            </p:cNvPr>
            <p:cNvCxnSpPr>
              <a:cxnSpLocks/>
            </p:cNvCxnSpPr>
            <p:nvPr/>
          </p:nvCxnSpPr>
          <p:spPr>
            <a:xfrm>
              <a:off x="3035300" y="5334000"/>
              <a:ext cx="6858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A3C60D-301E-447A-A7F5-A9DDD7233228}"/>
                </a:ext>
              </a:extLst>
            </p:cNvPr>
            <p:cNvCxnSpPr>
              <a:cxnSpLocks/>
            </p:cNvCxnSpPr>
            <p:nvPr/>
          </p:nvCxnSpPr>
          <p:spPr>
            <a:xfrm>
              <a:off x="2362200" y="5829300"/>
              <a:ext cx="6858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27796DD-9553-49B7-9CFE-9863F5760484}"/>
                </a:ext>
              </a:extLst>
            </p:cNvPr>
            <p:cNvCxnSpPr>
              <a:cxnSpLocks/>
            </p:cNvCxnSpPr>
            <p:nvPr/>
          </p:nvCxnSpPr>
          <p:spPr>
            <a:xfrm flipV="1">
              <a:off x="3048000" y="5334000"/>
              <a:ext cx="0" cy="49530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5C0E101A-89C5-4D6A-BA05-F1E21B65E8EC}"/>
                </a:ext>
              </a:extLst>
            </p:cNvPr>
            <p:cNvCxnSpPr>
              <a:cxnSpLocks/>
            </p:cNvCxnSpPr>
            <p:nvPr/>
          </p:nvCxnSpPr>
          <p:spPr>
            <a:xfrm flipV="1">
              <a:off x="3721100" y="5334000"/>
              <a:ext cx="0" cy="49530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87DC704-543D-48F2-8F5A-ED4DD2A54704}"/>
                </a:ext>
              </a:extLst>
            </p:cNvPr>
            <p:cNvCxnSpPr>
              <a:cxnSpLocks/>
            </p:cNvCxnSpPr>
            <p:nvPr/>
          </p:nvCxnSpPr>
          <p:spPr>
            <a:xfrm>
              <a:off x="3721100" y="5829300"/>
              <a:ext cx="6858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cxnSp>
        <p:nvCxnSpPr>
          <p:cNvPr id="35" name="Straight Connector 34">
            <a:extLst>
              <a:ext uri="{FF2B5EF4-FFF2-40B4-BE49-F238E27FC236}">
                <a16:creationId xmlns:a16="http://schemas.microsoft.com/office/drawing/2014/main" id="{AA5DE024-3743-460D-9C3E-C136C6ED655B}"/>
              </a:ext>
            </a:extLst>
          </p:cNvPr>
          <p:cNvCxnSpPr>
            <a:cxnSpLocks/>
          </p:cNvCxnSpPr>
          <p:nvPr/>
        </p:nvCxnSpPr>
        <p:spPr>
          <a:xfrm>
            <a:off x="10024447" y="4787578"/>
            <a:ext cx="381000" cy="0"/>
          </a:xfrm>
          <a:prstGeom prst="line">
            <a:avLst/>
          </a:prstGeom>
          <a:ln w="254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grpSp>
        <p:nvGrpSpPr>
          <p:cNvPr id="36" name="Group 35">
            <a:extLst>
              <a:ext uri="{FF2B5EF4-FFF2-40B4-BE49-F238E27FC236}">
                <a16:creationId xmlns:a16="http://schemas.microsoft.com/office/drawing/2014/main" id="{E832D89C-C1F1-4B5D-A681-5B6C657CBEBD}"/>
              </a:ext>
            </a:extLst>
          </p:cNvPr>
          <p:cNvGrpSpPr/>
          <p:nvPr/>
        </p:nvGrpSpPr>
        <p:grpSpPr>
          <a:xfrm>
            <a:off x="8303443" y="4825235"/>
            <a:ext cx="507617" cy="56871"/>
            <a:chOff x="5627366" y="5181586"/>
            <a:chExt cx="609600" cy="1301771"/>
          </a:xfrm>
        </p:grpSpPr>
        <p:sp>
          <p:nvSpPr>
            <p:cNvPr id="37" name="Freeform: Shape 48">
              <a:extLst>
                <a:ext uri="{FF2B5EF4-FFF2-40B4-BE49-F238E27FC236}">
                  <a16:creationId xmlns:a16="http://schemas.microsoft.com/office/drawing/2014/main" id="{5029FD14-FE9E-4226-9A4C-506EEB69F7BB}"/>
                </a:ext>
              </a:extLst>
            </p:cNvPr>
            <p:cNvSpPr/>
            <p:nvPr/>
          </p:nvSpPr>
          <p:spPr>
            <a:xfrm>
              <a:off x="5627366" y="5181586"/>
              <a:ext cx="304800" cy="655334"/>
            </a:xfrm>
            <a:custGeom>
              <a:avLst/>
              <a:gdLst>
                <a:gd name="connsiteX0" fmla="*/ 0 w 304800"/>
                <a:gd name="connsiteY0" fmla="*/ 640094 h 655334"/>
                <a:gd name="connsiteX1" fmla="*/ 144780 w 304800"/>
                <a:gd name="connsiteY1" fmla="*/ 14 h 655334"/>
                <a:gd name="connsiteX2" fmla="*/ 304800 w 304800"/>
                <a:gd name="connsiteY2" fmla="*/ 655334 h 655334"/>
              </a:gdLst>
              <a:ahLst/>
              <a:cxnLst>
                <a:cxn ang="0">
                  <a:pos x="connsiteX0" y="connsiteY0"/>
                </a:cxn>
                <a:cxn ang="0">
                  <a:pos x="connsiteX1" y="connsiteY1"/>
                </a:cxn>
                <a:cxn ang="0">
                  <a:pos x="connsiteX2" y="connsiteY2"/>
                </a:cxn>
              </a:cxnLst>
              <a:rect l="l" t="t" r="r" b="b"/>
              <a:pathLst>
                <a:path w="304800" h="655334">
                  <a:moveTo>
                    <a:pt x="0" y="640094"/>
                  </a:moveTo>
                  <a:cubicBezTo>
                    <a:pt x="46990" y="318784"/>
                    <a:pt x="93980" y="-2526"/>
                    <a:pt x="144780" y="14"/>
                  </a:cubicBezTo>
                  <a:cubicBezTo>
                    <a:pt x="195580" y="2554"/>
                    <a:pt x="250190" y="328944"/>
                    <a:pt x="304800" y="655334"/>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49">
              <a:extLst>
                <a:ext uri="{FF2B5EF4-FFF2-40B4-BE49-F238E27FC236}">
                  <a16:creationId xmlns:a16="http://schemas.microsoft.com/office/drawing/2014/main" id="{F0F7BD68-AB22-45A9-B4FE-2786BCECBDCF}"/>
                </a:ext>
              </a:extLst>
            </p:cNvPr>
            <p:cNvSpPr/>
            <p:nvPr/>
          </p:nvSpPr>
          <p:spPr>
            <a:xfrm rot="10800000">
              <a:off x="5932166" y="5828023"/>
              <a:ext cx="304800" cy="655334"/>
            </a:xfrm>
            <a:custGeom>
              <a:avLst/>
              <a:gdLst>
                <a:gd name="connsiteX0" fmla="*/ 0 w 304800"/>
                <a:gd name="connsiteY0" fmla="*/ 640094 h 655334"/>
                <a:gd name="connsiteX1" fmla="*/ 144780 w 304800"/>
                <a:gd name="connsiteY1" fmla="*/ 14 h 655334"/>
                <a:gd name="connsiteX2" fmla="*/ 304800 w 304800"/>
                <a:gd name="connsiteY2" fmla="*/ 655334 h 655334"/>
              </a:gdLst>
              <a:ahLst/>
              <a:cxnLst>
                <a:cxn ang="0">
                  <a:pos x="connsiteX0" y="connsiteY0"/>
                </a:cxn>
                <a:cxn ang="0">
                  <a:pos x="connsiteX1" y="connsiteY1"/>
                </a:cxn>
                <a:cxn ang="0">
                  <a:pos x="connsiteX2" y="connsiteY2"/>
                </a:cxn>
              </a:cxnLst>
              <a:rect l="l" t="t" r="r" b="b"/>
              <a:pathLst>
                <a:path w="304800" h="655334">
                  <a:moveTo>
                    <a:pt x="0" y="640094"/>
                  </a:moveTo>
                  <a:cubicBezTo>
                    <a:pt x="46990" y="318784"/>
                    <a:pt x="93980" y="-2526"/>
                    <a:pt x="144780" y="14"/>
                  </a:cubicBezTo>
                  <a:cubicBezTo>
                    <a:pt x="195580" y="2554"/>
                    <a:pt x="250190" y="328944"/>
                    <a:pt x="304800" y="655334"/>
                  </a:cubicBezTo>
                </a:path>
              </a:pathLst>
            </a:cu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dirty="0"/>
            </a:p>
          </p:txBody>
        </p:sp>
      </p:grpSp>
    </p:spTree>
    <p:extLst>
      <p:ext uri="{BB962C8B-B14F-4D97-AF65-F5344CB8AC3E}">
        <p14:creationId xmlns:p14="http://schemas.microsoft.com/office/powerpoint/2010/main" val="1192000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p:cNvSpPr>
            <a:spLocks noGrp="1"/>
          </p:cNvSpPr>
          <p:nvPr>
            <p:ph type="title"/>
          </p:nvPr>
        </p:nvSpPr>
        <p:spPr>
          <a:xfrm>
            <a:off x="921492" y="147470"/>
            <a:ext cx="10990263" cy="568412"/>
          </a:xfrm>
        </p:spPr>
        <p:txBody>
          <a:bodyPr/>
          <a:lstStyle/>
          <a:p>
            <a:pPr algn="ctr"/>
            <a:r>
              <a:rPr lang="en-US" sz="2800" dirty="0" smtClean="0"/>
              <a:t>Aim </a:t>
            </a:r>
            <a:r>
              <a:rPr lang="en-US" sz="2800" dirty="0"/>
              <a:t>: Merging Concurrent Power Transfer System with Slip Ring Applications </a:t>
            </a:r>
            <a:br>
              <a:rPr lang="en-US" sz="2800" dirty="0"/>
            </a:br>
            <a:endParaRPr lang="sv-SE" sz="2800" dirty="0"/>
          </a:p>
        </p:txBody>
      </p:sp>
      <p:sp>
        <p:nvSpPr>
          <p:cNvPr id="17" name="Content Placeholder 1">
            <a:extLst>
              <a:ext uri="{FF2B5EF4-FFF2-40B4-BE49-F238E27FC236}">
                <a16:creationId xmlns:a16="http://schemas.microsoft.com/office/drawing/2014/main" id="{73760BBE-C867-4633-A253-318CFB9925CB}"/>
              </a:ext>
            </a:extLst>
          </p:cNvPr>
          <p:cNvSpPr>
            <a:spLocks noGrp="1"/>
          </p:cNvSpPr>
          <p:nvPr>
            <p:ph sz="half" idx="1"/>
          </p:nvPr>
        </p:nvSpPr>
        <p:spPr>
          <a:xfrm>
            <a:off x="108246" y="4281403"/>
            <a:ext cx="5987754" cy="1976214"/>
          </a:xfrm>
        </p:spPr>
        <p:txBody>
          <a:bodyPr>
            <a:normAutofit/>
          </a:bodyPr>
          <a:lstStyle/>
          <a:p>
            <a:pPr marL="0" indent="0">
              <a:buNone/>
            </a:pPr>
            <a:r>
              <a:rPr lang="en-US" sz="2500" dirty="0">
                <a:solidFill>
                  <a:srgbClr val="C00000"/>
                </a:solidFill>
                <a:latin typeface="Times New Roman" panose="02020603050405020304" pitchFamily="18" charset="0"/>
                <a:cs typeface="Times New Roman" panose="02020603050405020304" pitchFamily="18" charset="0"/>
              </a:rPr>
              <a:t>Topologies:</a:t>
            </a:r>
          </a:p>
          <a:p>
            <a:pPr marL="514350" indent="-514350">
              <a:buFont typeface="+mj-lt"/>
              <a:buAutoNum type="arabicPeriod"/>
            </a:pPr>
            <a:r>
              <a:rPr lang="en-US" sz="2500" dirty="0">
                <a:latin typeface="Times New Roman" panose="02020603050405020304" pitchFamily="18" charset="0"/>
                <a:cs typeface="Times New Roman" panose="02020603050405020304" pitchFamily="18" charset="0"/>
              </a:rPr>
              <a:t>Multi-converter and multi-resonant</a:t>
            </a:r>
          </a:p>
          <a:p>
            <a:pPr marL="514350" indent="-514350">
              <a:buFont typeface="+mj-lt"/>
              <a:buAutoNum type="arabicPeriod"/>
            </a:pPr>
            <a:r>
              <a:rPr lang="en-US" sz="2500" dirty="0">
                <a:latin typeface="Times New Roman" panose="02020603050405020304" pitchFamily="18" charset="0"/>
                <a:cs typeface="Times New Roman" panose="02020603050405020304" pitchFamily="18" charset="0"/>
              </a:rPr>
              <a:t>Single-converter and multi-resonant</a:t>
            </a:r>
          </a:p>
          <a:p>
            <a:pPr marL="514350" indent="-514350">
              <a:buFont typeface="+mj-lt"/>
              <a:buAutoNum type="arabicPeriod"/>
            </a:pPr>
            <a:r>
              <a:rPr lang="en-US" sz="2500" dirty="0">
                <a:solidFill>
                  <a:srgbClr val="004A99"/>
                </a:solidFill>
                <a:latin typeface="Times New Roman" panose="02020603050405020304" pitchFamily="18" charset="0"/>
                <a:cs typeface="Times New Roman" panose="02020603050405020304" pitchFamily="18" charset="0"/>
              </a:rPr>
              <a:t>Single-converter and multi-load</a:t>
            </a: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US" sz="25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18" name="Content Placeholder 3">
            <a:extLst>
              <a:ext uri="{FF2B5EF4-FFF2-40B4-BE49-F238E27FC236}">
                <a16:creationId xmlns:a16="http://schemas.microsoft.com/office/drawing/2014/main" id="{3BAC780A-A9F9-4827-8CB8-FF6D798F6183}"/>
              </a:ext>
            </a:extLst>
          </p:cNvPr>
          <p:cNvSpPr txBox="1">
            <a:spLocks/>
          </p:cNvSpPr>
          <p:nvPr/>
        </p:nvSpPr>
        <p:spPr>
          <a:xfrm>
            <a:off x="7289562" y="1095267"/>
            <a:ext cx="4529272" cy="424183"/>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b="0" kern="1200">
                <a:solidFill>
                  <a:schemeClr val="tx1"/>
                </a:solidFill>
                <a:latin typeface="Calibri (Headings)"/>
                <a:ea typeface="+mn-ea"/>
                <a:cs typeface="+mn-cs"/>
              </a:defRPr>
            </a:lvl1pPr>
            <a:lvl2pPr marL="742950" indent="-285750" algn="l" defTabSz="914400" rtl="0" eaLnBrk="1" latinLnBrk="0" hangingPunct="1">
              <a:spcBef>
                <a:spcPct val="20000"/>
              </a:spcBef>
              <a:buFont typeface="Arial" panose="020B0604020202020204" pitchFamily="34" charset="0"/>
              <a:buChar char="–"/>
              <a:defRPr sz="2800" b="0" kern="1200">
                <a:solidFill>
                  <a:schemeClr val="tx1"/>
                </a:solidFill>
                <a:latin typeface="Calibri (Headings)"/>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b="0" kern="1200">
                <a:solidFill>
                  <a:schemeClr val="tx1"/>
                </a:solidFill>
                <a:latin typeface="Calibri (Headings)"/>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fontAlgn="auto">
              <a:spcAft>
                <a:spcPts val="0"/>
              </a:spcAft>
              <a:buFont typeface="Arial" panose="020B0604020202020204" pitchFamily="34" charset="0"/>
              <a:buNone/>
            </a:pPr>
            <a:r>
              <a:rPr lang="en-US" sz="2500" dirty="0">
                <a:solidFill>
                  <a:srgbClr val="00B050"/>
                </a:solidFill>
                <a:latin typeface="Times New Roman" panose="02020603050405020304" pitchFamily="18" charset="0"/>
                <a:cs typeface="Times New Roman" panose="02020603050405020304" pitchFamily="18" charset="0"/>
              </a:rPr>
              <a:t>Contactless Slip Rings</a:t>
            </a:r>
          </a:p>
        </p:txBody>
      </p:sp>
      <p:sp>
        <p:nvSpPr>
          <p:cNvPr id="19" name="Content Placeholder 1">
            <a:extLst>
              <a:ext uri="{FF2B5EF4-FFF2-40B4-BE49-F238E27FC236}">
                <a16:creationId xmlns:a16="http://schemas.microsoft.com/office/drawing/2014/main" id="{7B38B6B3-7FBB-4163-B883-88E18D292453}"/>
              </a:ext>
            </a:extLst>
          </p:cNvPr>
          <p:cNvSpPr txBox="1">
            <a:spLocks/>
          </p:cNvSpPr>
          <p:nvPr/>
        </p:nvSpPr>
        <p:spPr>
          <a:xfrm>
            <a:off x="108246" y="1852895"/>
            <a:ext cx="7274237" cy="253297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b="0" kern="1200">
                <a:solidFill>
                  <a:schemeClr val="tx1"/>
                </a:solidFill>
                <a:latin typeface="Calibri (Headings)"/>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0" kern="1200">
                <a:solidFill>
                  <a:schemeClr val="tx1"/>
                </a:solidFill>
                <a:latin typeface="Calibri (Headings)"/>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500" dirty="0">
                <a:solidFill>
                  <a:srgbClr val="C00000"/>
                </a:solidFill>
                <a:latin typeface="Times New Roman" panose="02020603050405020304" pitchFamily="18" charset="0"/>
                <a:cs typeface="Times New Roman" panose="02020603050405020304" pitchFamily="18" charset="0"/>
              </a:rPr>
              <a:t>Motivations:</a:t>
            </a:r>
          </a:p>
          <a:p>
            <a:pPr marL="514350" indent="-514350" fontAlgn="auto">
              <a:spcAft>
                <a:spcPts val="0"/>
              </a:spcAft>
              <a:buFont typeface="+mj-lt"/>
              <a:buAutoNum type="arabicPeriod"/>
            </a:pPr>
            <a:r>
              <a:rPr lang="en-US" sz="2500" dirty="0">
                <a:latin typeface="Times New Roman" panose="02020603050405020304" pitchFamily="18" charset="0"/>
                <a:cs typeface="Times New Roman" panose="02020603050405020304" pitchFamily="18" charset="0"/>
              </a:rPr>
              <a:t>To increase power</a:t>
            </a:r>
          </a:p>
          <a:p>
            <a:pPr marL="514350" indent="-514350" fontAlgn="auto">
              <a:spcAft>
                <a:spcPts val="0"/>
              </a:spcAft>
              <a:buFont typeface="+mj-lt"/>
              <a:buAutoNum type="arabicPeriod"/>
            </a:pPr>
            <a:r>
              <a:rPr lang="en-US" sz="2500" dirty="0">
                <a:solidFill>
                  <a:srgbClr val="004A99"/>
                </a:solidFill>
                <a:latin typeface="Times New Roman" panose="02020603050405020304" pitchFamily="18" charset="0"/>
                <a:cs typeface="Times New Roman" panose="02020603050405020304" pitchFamily="18" charset="0"/>
              </a:rPr>
              <a:t>To reduce switching components</a:t>
            </a:r>
          </a:p>
          <a:p>
            <a:pPr marL="514350" indent="-514350" fontAlgn="auto">
              <a:spcAft>
                <a:spcPts val="0"/>
              </a:spcAft>
              <a:buFont typeface="+mj-lt"/>
              <a:buAutoNum type="arabicPeriod"/>
            </a:pPr>
            <a:r>
              <a:rPr lang="en-US" sz="2500" dirty="0">
                <a:latin typeface="Times New Roman" panose="02020603050405020304" pitchFamily="18" charset="0"/>
                <a:cs typeface="Times New Roman" panose="02020603050405020304" pitchFamily="18" charset="0"/>
              </a:rPr>
              <a:t>To increase DC-link utilization rate</a:t>
            </a:r>
          </a:p>
          <a:p>
            <a:pPr marL="514350" indent="-514350" fontAlgn="auto">
              <a:spcAft>
                <a:spcPts val="0"/>
              </a:spcAft>
              <a:buFont typeface="+mj-lt"/>
              <a:buAutoNum type="arabicPeriod"/>
            </a:pPr>
            <a:r>
              <a:rPr lang="en-US" sz="2500" dirty="0">
                <a:latin typeface="Times New Roman" panose="02020603050405020304" pitchFamily="18" charset="0"/>
                <a:cs typeface="Times New Roman" panose="02020603050405020304" pitchFamily="18" charset="0"/>
              </a:rPr>
              <a:t>To provide operation for more than one standards</a:t>
            </a:r>
          </a:p>
          <a:p>
            <a:pPr marL="0" indent="0" fontAlgn="auto">
              <a:spcAft>
                <a:spcPts val="0"/>
              </a:spcAft>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a:p>
            <a:pPr marL="514350" indent="-514350" fontAlgn="auto">
              <a:spcAft>
                <a:spcPts val="0"/>
              </a:spcAft>
              <a:buFont typeface="+mj-lt"/>
              <a:buAutoNum type="arabicPeriod"/>
            </a:pPr>
            <a:endParaRPr lang="en-US" dirty="0">
              <a:latin typeface="Times New Roman" panose="02020603050405020304" pitchFamily="18" charset="0"/>
              <a:cs typeface="Times New Roman" panose="02020603050405020304" pitchFamily="18" charset="0"/>
            </a:endParaRPr>
          </a:p>
          <a:p>
            <a:pPr fontAlgn="auto">
              <a:spcAft>
                <a:spcPts val="0"/>
              </a:spcAft>
            </a:pPr>
            <a:endParaRPr lang="en-US" dirty="0">
              <a:latin typeface="Times New Roman" panose="02020603050405020304" pitchFamily="18" charset="0"/>
              <a:cs typeface="Times New Roman" panose="02020603050405020304" pitchFamily="18" charset="0"/>
            </a:endParaRPr>
          </a:p>
        </p:txBody>
      </p:sp>
      <p:pic>
        <p:nvPicPr>
          <p:cNvPr id="20" name="Picture 19">
            <a:extLst>
              <a:ext uri="{FF2B5EF4-FFF2-40B4-BE49-F238E27FC236}">
                <a16:creationId xmlns:a16="http://schemas.microsoft.com/office/drawing/2014/main" id="{C37B7B05-BA56-4A1C-AB7F-F1DB1BAF741C}"/>
              </a:ext>
            </a:extLst>
          </p:cNvPr>
          <p:cNvPicPr>
            <a:picLocks noChangeAspect="1"/>
          </p:cNvPicPr>
          <p:nvPr/>
        </p:nvPicPr>
        <p:blipFill>
          <a:blip r:embed="rId3"/>
          <a:stretch>
            <a:fillRect/>
          </a:stretch>
        </p:blipFill>
        <p:spPr>
          <a:xfrm>
            <a:off x="7780589" y="1572984"/>
            <a:ext cx="4038245" cy="2532971"/>
          </a:xfrm>
          <a:prstGeom prst="rect">
            <a:avLst/>
          </a:prstGeom>
        </p:spPr>
      </p:pic>
      <p:sp>
        <p:nvSpPr>
          <p:cNvPr id="21" name="Rectangle 20">
            <a:extLst>
              <a:ext uri="{FF2B5EF4-FFF2-40B4-BE49-F238E27FC236}">
                <a16:creationId xmlns:a16="http://schemas.microsoft.com/office/drawing/2014/main" id="{69562EE3-F8F8-4379-BFB2-BAE081496B54}"/>
              </a:ext>
            </a:extLst>
          </p:cNvPr>
          <p:cNvSpPr/>
          <p:nvPr/>
        </p:nvSpPr>
        <p:spPr>
          <a:xfrm>
            <a:off x="366204" y="1280923"/>
            <a:ext cx="3759940" cy="477054"/>
          </a:xfrm>
          <a:prstGeom prst="rect">
            <a:avLst/>
          </a:prstGeom>
        </p:spPr>
        <p:txBody>
          <a:bodyPr wrap="none">
            <a:spAutoFit/>
          </a:bodyPr>
          <a:lstStyle/>
          <a:p>
            <a:r>
              <a:rPr lang="en-US" sz="2500" dirty="0">
                <a:solidFill>
                  <a:srgbClr val="00B050"/>
                </a:solidFill>
                <a:latin typeface="Times New Roman" panose="02020603050405020304" pitchFamily="18" charset="0"/>
                <a:cs typeface="Times New Roman" panose="02020603050405020304" pitchFamily="18" charset="0"/>
              </a:rPr>
              <a:t>Concurrent Power Transfer </a:t>
            </a:r>
            <a:endParaRPr lang="en-US" sz="2500" dirty="0">
              <a:solidFill>
                <a:srgbClr val="00B050"/>
              </a:solidFill>
            </a:endParaRPr>
          </a:p>
        </p:txBody>
      </p:sp>
      <p:sp>
        <p:nvSpPr>
          <p:cNvPr id="22" name="Content Placeholder 1">
            <a:extLst>
              <a:ext uri="{FF2B5EF4-FFF2-40B4-BE49-F238E27FC236}">
                <a16:creationId xmlns:a16="http://schemas.microsoft.com/office/drawing/2014/main" id="{BAB7CCF2-EF66-4165-81F4-5560B97A7538}"/>
              </a:ext>
            </a:extLst>
          </p:cNvPr>
          <p:cNvSpPr txBox="1">
            <a:spLocks/>
          </p:cNvSpPr>
          <p:nvPr/>
        </p:nvSpPr>
        <p:spPr>
          <a:xfrm>
            <a:off x="7780589" y="4105955"/>
            <a:ext cx="4038246" cy="218510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b="0" kern="1200">
                <a:solidFill>
                  <a:schemeClr val="tx1"/>
                </a:solidFill>
                <a:latin typeface="Calibri (Headings)"/>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0" kern="1200">
                <a:solidFill>
                  <a:schemeClr val="tx1"/>
                </a:solidFill>
                <a:latin typeface="Calibri (Headings)"/>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000" dirty="0">
                <a:solidFill>
                  <a:srgbClr val="C00000"/>
                </a:solidFill>
                <a:latin typeface="Times New Roman" panose="02020603050405020304" pitchFamily="18" charset="0"/>
                <a:cs typeface="Times New Roman" panose="02020603050405020304" pitchFamily="18" charset="0"/>
              </a:rPr>
              <a:t>Motivations:</a:t>
            </a:r>
          </a:p>
          <a:p>
            <a:pPr marL="514350" indent="-514350" fontAlgn="auto">
              <a:spcAft>
                <a:spcPts val="0"/>
              </a:spcAft>
              <a:buFont typeface="+mj-lt"/>
              <a:buAutoNum type="arabicPeriod"/>
            </a:pPr>
            <a:r>
              <a:rPr lang="en-US" sz="2000" dirty="0">
                <a:latin typeface="Times New Roman" panose="02020603050405020304" pitchFamily="18" charset="0"/>
                <a:cs typeface="Times New Roman" panose="02020603050405020304" pitchFamily="18" charset="0"/>
              </a:rPr>
              <a:t>To eliminate carbon brushes requiring periodic maintenance</a:t>
            </a:r>
          </a:p>
          <a:p>
            <a:pPr marL="514350" indent="-514350" fontAlgn="auto">
              <a:spcAft>
                <a:spcPts val="0"/>
              </a:spcAft>
              <a:buFont typeface="+mj-lt"/>
              <a:buAutoNum type="arabicPeriod"/>
            </a:pPr>
            <a:r>
              <a:rPr lang="en-US" sz="2000" dirty="0">
                <a:latin typeface="Times New Roman" panose="02020603050405020304" pitchFamily="18" charset="0"/>
                <a:cs typeface="Times New Roman" panose="02020603050405020304" pitchFamily="18" charset="0"/>
              </a:rPr>
              <a:t>To eliminate brushless exciters that are not suitable for variable speed drives</a:t>
            </a:r>
          </a:p>
          <a:p>
            <a:pPr marL="514350" indent="-514350" fontAlgn="auto">
              <a:spcAft>
                <a:spcPts val="0"/>
              </a:spcAft>
              <a:buFont typeface="+mj-lt"/>
              <a:buAutoNum type="arabicPeriod"/>
            </a:pPr>
            <a:endParaRPr lang="en-US" sz="2000" dirty="0">
              <a:latin typeface="Times New Roman" panose="02020603050405020304" pitchFamily="18" charset="0"/>
              <a:cs typeface="Times New Roman" panose="02020603050405020304" pitchFamily="18" charset="0"/>
            </a:endParaRPr>
          </a:p>
          <a:p>
            <a:pPr marL="514350" indent="-514350" fontAlgn="auto">
              <a:spcAft>
                <a:spcPts val="0"/>
              </a:spcAft>
              <a:buFont typeface="+mj-lt"/>
              <a:buAutoNum type="arabicPeriod"/>
            </a:pPr>
            <a:endParaRPr lang="en-US" sz="2000" dirty="0">
              <a:latin typeface="Times New Roman" panose="02020603050405020304" pitchFamily="18" charset="0"/>
              <a:cs typeface="Times New Roman" panose="02020603050405020304" pitchFamily="18" charset="0"/>
            </a:endParaRPr>
          </a:p>
          <a:p>
            <a:pPr marL="0" indent="0" fontAlgn="auto">
              <a:spcAft>
                <a:spcPts val="0"/>
              </a:spcAft>
              <a:buNone/>
            </a:pPr>
            <a:endParaRPr lang="en-US" sz="2000" dirty="0">
              <a:latin typeface="Times New Roman" panose="02020603050405020304" pitchFamily="18" charset="0"/>
              <a:cs typeface="Times New Roman" panose="02020603050405020304" pitchFamily="18" charset="0"/>
            </a:endParaRPr>
          </a:p>
          <a:p>
            <a:pPr fontAlgn="auto">
              <a:spcAft>
                <a:spcPts val="0"/>
              </a:spcAft>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8700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ECEB-F7D9-419A-85E8-B5506B78B92F}"/>
              </a:ext>
            </a:extLst>
          </p:cNvPr>
          <p:cNvSpPr>
            <a:spLocks noGrp="1"/>
          </p:cNvSpPr>
          <p:nvPr>
            <p:ph type="title"/>
          </p:nvPr>
        </p:nvSpPr>
        <p:spPr>
          <a:xfrm>
            <a:off x="1054449" y="194043"/>
            <a:ext cx="10990263" cy="568412"/>
          </a:xfrm>
        </p:spPr>
        <p:txBody>
          <a:bodyPr>
            <a:normAutofit fontScale="90000"/>
          </a:bodyPr>
          <a:lstStyle/>
          <a:p>
            <a:pPr algn="ctr"/>
            <a:r>
              <a:rPr lang="en-US" dirty="0"/>
              <a:t>Conventional Inductive Power Transfer Based Contactless Slip Ring</a:t>
            </a:r>
            <a:endParaRPr lang="en-US" dirty="0">
              <a:latin typeface="+mj-lt"/>
            </a:endParaRPr>
          </a:p>
        </p:txBody>
      </p:sp>
      <p:pic>
        <p:nvPicPr>
          <p:cNvPr id="27" name="Picture 26">
            <a:extLst>
              <a:ext uri="{FF2B5EF4-FFF2-40B4-BE49-F238E27FC236}">
                <a16:creationId xmlns:a16="http://schemas.microsoft.com/office/drawing/2014/main" id="{FA347E35-97CB-4829-89C1-4914181E1E5B}"/>
              </a:ext>
            </a:extLst>
          </p:cNvPr>
          <p:cNvPicPr>
            <a:picLocks noChangeAspect="1"/>
          </p:cNvPicPr>
          <p:nvPr/>
        </p:nvPicPr>
        <p:blipFill>
          <a:blip r:embed="rId3"/>
          <a:stretch>
            <a:fillRect/>
          </a:stretch>
        </p:blipFill>
        <p:spPr>
          <a:xfrm>
            <a:off x="55400" y="1662001"/>
            <a:ext cx="6626738" cy="4439696"/>
          </a:xfrm>
          <a:prstGeom prst="rect">
            <a:avLst/>
          </a:prstGeom>
        </p:spPr>
      </p:pic>
      <p:sp>
        <p:nvSpPr>
          <p:cNvPr id="30" name="TextBox 29">
            <a:extLst>
              <a:ext uri="{FF2B5EF4-FFF2-40B4-BE49-F238E27FC236}">
                <a16:creationId xmlns:a16="http://schemas.microsoft.com/office/drawing/2014/main" id="{C14AC508-0491-48B9-96DA-661868C77509}"/>
              </a:ext>
            </a:extLst>
          </p:cNvPr>
          <p:cNvSpPr txBox="1"/>
          <p:nvPr/>
        </p:nvSpPr>
        <p:spPr>
          <a:xfrm>
            <a:off x="6581024" y="3514917"/>
            <a:ext cx="458152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	 </a:t>
            </a:r>
          </a:p>
        </p:txBody>
      </p:sp>
      <p:sp>
        <p:nvSpPr>
          <p:cNvPr id="31" name="TextBox 30">
            <a:extLst>
              <a:ext uri="{FF2B5EF4-FFF2-40B4-BE49-F238E27FC236}">
                <a16:creationId xmlns:a16="http://schemas.microsoft.com/office/drawing/2014/main" id="{3C66D694-A6C5-4B6B-9CD1-C4D8D9DAD3E1}"/>
              </a:ext>
            </a:extLst>
          </p:cNvPr>
          <p:cNvSpPr txBox="1"/>
          <p:nvPr/>
        </p:nvSpPr>
        <p:spPr>
          <a:xfrm>
            <a:off x="6989563" y="1693838"/>
            <a:ext cx="4581525" cy="923330"/>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Two converters:</a:t>
            </a:r>
          </a:p>
          <a:p>
            <a:pPr marL="971550" lvl="1" indent="-514350" defTabSz="457200" eaLnBrk="0" fontAlgn="base" hangingPunct="0">
              <a:spcBef>
                <a:spcPct val="0"/>
              </a:spcBef>
              <a:spcAft>
                <a:spcPct val="0"/>
              </a:spcAft>
              <a:buFont typeface="+mj-lt"/>
              <a:buAutoNum type="arabicPeriod"/>
            </a:pPr>
            <a:r>
              <a:rPr lang="en-US" dirty="0">
                <a:solidFill>
                  <a:prstClr val="black"/>
                </a:solidFill>
                <a:latin typeface="Calibri"/>
              </a:rPr>
              <a:t>To drive the motor</a:t>
            </a:r>
          </a:p>
          <a:p>
            <a:pPr marL="971550" lvl="1" indent="-514350" defTabSz="457200" eaLnBrk="0" fontAlgn="base" hangingPunct="0">
              <a:spcBef>
                <a:spcPct val="0"/>
              </a:spcBef>
              <a:spcAft>
                <a:spcPct val="0"/>
              </a:spcAft>
              <a:buFont typeface="+mj-lt"/>
              <a:buAutoNum type="arabicPeriod"/>
            </a:pPr>
            <a:r>
              <a:rPr lang="en-US" dirty="0">
                <a:solidFill>
                  <a:prstClr val="black"/>
                </a:solidFill>
                <a:latin typeface="Calibri"/>
              </a:rPr>
              <a:t>To excite the Tx coil 	 </a:t>
            </a:r>
          </a:p>
        </p:txBody>
      </p:sp>
      <p:sp>
        <p:nvSpPr>
          <p:cNvPr id="32" name="TextBox 31">
            <a:extLst>
              <a:ext uri="{FF2B5EF4-FFF2-40B4-BE49-F238E27FC236}">
                <a16:creationId xmlns:a16="http://schemas.microsoft.com/office/drawing/2014/main" id="{824C25FA-AEA9-4D31-9B57-7FAE773881C3}"/>
              </a:ext>
            </a:extLst>
          </p:cNvPr>
          <p:cNvSpPr txBox="1"/>
          <p:nvPr/>
        </p:nvSpPr>
        <p:spPr>
          <a:xfrm>
            <a:off x="6431284" y="4800982"/>
            <a:ext cx="536257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The WPT converter </a:t>
            </a:r>
            <a:r>
              <a:rPr lang="en-US" dirty="0">
                <a:solidFill>
                  <a:prstClr val="black"/>
                </a:solidFill>
                <a:latin typeface="Calibri"/>
                <a:sym typeface="Wingdings" panose="05000000000000000000" pitchFamily="2" charset="2"/>
              </a:rPr>
              <a:t> generating high frequency </a:t>
            </a:r>
            <a:r>
              <a:rPr lang="en-US" dirty="0">
                <a:solidFill>
                  <a:prstClr val="black"/>
                </a:solidFill>
                <a:latin typeface="Calibri"/>
              </a:rPr>
              <a:t> </a:t>
            </a:r>
          </a:p>
        </p:txBody>
      </p:sp>
      <p:sp>
        <p:nvSpPr>
          <p:cNvPr id="33" name="TextBox 32">
            <a:extLst>
              <a:ext uri="{FF2B5EF4-FFF2-40B4-BE49-F238E27FC236}">
                <a16:creationId xmlns:a16="http://schemas.microsoft.com/office/drawing/2014/main" id="{96615A92-D25B-4F62-A274-EF23B8023C20}"/>
              </a:ext>
            </a:extLst>
          </p:cNvPr>
          <p:cNvSpPr txBox="1"/>
          <p:nvPr/>
        </p:nvSpPr>
        <p:spPr>
          <a:xfrm>
            <a:off x="6358279" y="3439152"/>
            <a:ext cx="551632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The motor drive </a:t>
            </a:r>
            <a:r>
              <a:rPr lang="en-US" dirty="0">
                <a:solidFill>
                  <a:prstClr val="black"/>
                </a:solidFill>
                <a:latin typeface="Calibri"/>
                <a:sym typeface="Wingdings" panose="05000000000000000000" pitchFamily="2" charset="2"/>
              </a:rPr>
              <a:t> generating low and high frequencies </a:t>
            </a:r>
            <a:r>
              <a:rPr lang="en-US" dirty="0">
                <a:solidFill>
                  <a:prstClr val="black"/>
                </a:solidFill>
                <a:latin typeface="Calibri"/>
              </a:rPr>
              <a:t> </a:t>
            </a:r>
          </a:p>
        </p:txBody>
      </p:sp>
      <p:cxnSp>
        <p:nvCxnSpPr>
          <p:cNvPr id="34" name="Straight Arrow Connector 33">
            <a:extLst>
              <a:ext uri="{FF2B5EF4-FFF2-40B4-BE49-F238E27FC236}">
                <a16:creationId xmlns:a16="http://schemas.microsoft.com/office/drawing/2014/main" id="{80BFAA57-5CB8-4207-B19D-B21844316927}"/>
              </a:ext>
            </a:extLst>
          </p:cNvPr>
          <p:cNvCxnSpPr>
            <a:cxnSpLocks/>
            <a:endCxn id="41" idx="2"/>
          </p:cNvCxnSpPr>
          <p:nvPr/>
        </p:nvCxnSpPr>
        <p:spPr>
          <a:xfrm flipH="1" flipV="1">
            <a:off x="9112572" y="3234701"/>
            <a:ext cx="1259494" cy="251333"/>
          </a:xfrm>
          <a:prstGeom prst="straightConnector1">
            <a:avLst/>
          </a:prstGeom>
          <a:noFill/>
          <a:ln w="25400" cap="flat" cmpd="sng" algn="ctr">
            <a:solidFill>
              <a:sysClr val="windowText" lastClr="000000">
                <a:alpha val="80000"/>
              </a:sysClr>
            </a:solidFill>
            <a:prstDash val="solid"/>
            <a:tailEnd type="arrow"/>
          </a:ln>
          <a:effectLst/>
        </p:spPr>
      </p:cxnSp>
      <p:sp>
        <p:nvSpPr>
          <p:cNvPr id="35" name="TextBox 34">
            <a:extLst>
              <a:ext uri="{FF2B5EF4-FFF2-40B4-BE49-F238E27FC236}">
                <a16:creationId xmlns:a16="http://schemas.microsoft.com/office/drawing/2014/main" id="{BAF00BB5-DA03-4FBD-BB4F-A57DB7224723}"/>
              </a:ext>
            </a:extLst>
          </p:cNvPr>
          <p:cNvSpPr txBox="1"/>
          <p:nvPr/>
        </p:nvSpPr>
        <p:spPr>
          <a:xfrm>
            <a:off x="6274263" y="2836814"/>
            <a:ext cx="471487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srgbClr val="C0504D">
                    <a:lumMod val="75000"/>
                  </a:srgbClr>
                </a:solidFill>
                <a:latin typeface="Calibri"/>
              </a:rPr>
              <a:t>                   Motor </a:t>
            </a:r>
            <a:r>
              <a:rPr lang="en-US" dirty="0">
                <a:solidFill>
                  <a:srgbClr val="C0504D">
                    <a:lumMod val="75000"/>
                  </a:srgbClr>
                </a:solidFill>
                <a:latin typeface="Calibri"/>
                <a:sym typeface="Wingdings" panose="05000000000000000000" pitchFamily="2" charset="2"/>
              </a:rPr>
              <a:t> </a:t>
            </a:r>
            <a:r>
              <a:rPr lang="en-US" dirty="0">
                <a:solidFill>
                  <a:srgbClr val="C0504D">
                    <a:lumMod val="75000"/>
                  </a:srgbClr>
                </a:solidFill>
                <a:latin typeface="Calibri"/>
              </a:rPr>
              <a:t>attenuated in motor current</a:t>
            </a:r>
          </a:p>
        </p:txBody>
      </p:sp>
      <p:cxnSp>
        <p:nvCxnSpPr>
          <p:cNvPr id="36" name="Straight Arrow Connector 35">
            <a:extLst>
              <a:ext uri="{FF2B5EF4-FFF2-40B4-BE49-F238E27FC236}">
                <a16:creationId xmlns:a16="http://schemas.microsoft.com/office/drawing/2014/main" id="{DB3D1F8B-5321-4E68-A51F-4058D26E460B}"/>
              </a:ext>
            </a:extLst>
          </p:cNvPr>
          <p:cNvCxnSpPr>
            <a:cxnSpLocks/>
            <a:endCxn id="45" idx="0"/>
          </p:cNvCxnSpPr>
          <p:nvPr/>
        </p:nvCxnSpPr>
        <p:spPr>
          <a:xfrm flipH="1">
            <a:off x="8978557" y="5185953"/>
            <a:ext cx="1261593" cy="316967"/>
          </a:xfrm>
          <a:prstGeom prst="straightConnector1">
            <a:avLst/>
          </a:prstGeom>
          <a:noFill/>
          <a:ln w="25400" cap="flat" cmpd="sng" algn="ctr">
            <a:solidFill>
              <a:sysClr val="windowText" lastClr="000000">
                <a:alpha val="80000"/>
              </a:sysClr>
            </a:solidFill>
            <a:prstDash val="solid"/>
            <a:tailEnd type="arrow"/>
          </a:ln>
          <a:effectLst/>
        </p:spPr>
      </p:cxnSp>
      <p:sp>
        <p:nvSpPr>
          <p:cNvPr id="37" name="TextBox 36">
            <a:extLst>
              <a:ext uri="{FF2B5EF4-FFF2-40B4-BE49-F238E27FC236}">
                <a16:creationId xmlns:a16="http://schemas.microsoft.com/office/drawing/2014/main" id="{8075581E-24F5-429C-B18C-C86D172F8F14}"/>
              </a:ext>
            </a:extLst>
          </p:cNvPr>
          <p:cNvSpPr txBox="1"/>
          <p:nvPr/>
        </p:nvSpPr>
        <p:spPr>
          <a:xfrm>
            <a:off x="6682137" y="5518559"/>
            <a:ext cx="536257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srgbClr val="C0504D">
                    <a:lumMod val="75000"/>
                  </a:srgbClr>
                </a:solidFill>
                <a:latin typeface="Calibri"/>
              </a:rPr>
              <a:t>The WPT system </a:t>
            </a:r>
            <a:r>
              <a:rPr lang="en-US" dirty="0">
                <a:solidFill>
                  <a:srgbClr val="C0504D">
                    <a:lumMod val="75000"/>
                  </a:srgbClr>
                </a:solidFill>
                <a:latin typeface="Calibri"/>
                <a:sym typeface="Wingdings" panose="05000000000000000000" pitchFamily="2" charset="2"/>
              </a:rPr>
              <a:t></a:t>
            </a:r>
            <a:r>
              <a:rPr lang="en-US" dirty="0">
                <a:solidFill>
                  <a:srgbClr val="C0504D">
                    <a:lumMod val="75000"/>
                  </a:srgbClr>
                </a:solidFill>
                <a:latin typeface="Calibri"/>
              </a:rPr>
              <a:t>behaves like band-pass filter</a:t>
            </a:r>
          </a:p>
        </p:txBody>
      </p:sp>
      <p:sp>
        <p:nvSpPr>
          <p:cNvPr id="38" name="TextBox 37">
            <a:extLst>
              <a:ext uri="{FF2B5EF4-FFF2-40B4-BE49-F238E27FC236}">
                <a16:creationId xmlns:a16="http://schemas.microsoft.com/office/drawing/2014/main" id="{7ED0C17A-DF7E-4A65-93F6-A64D920CB10E}"/>
              </a:ext>
            </a:extLst>
          </p:cNvPr>
          <p:cNvSpPr txBox="1"/>
          <p:nvPr/>
        </p:nvSpPr>
        <p:spPr>
          <a:xfrm>
            <a:off x="6292483" y="4032189"/>
            <a:ext cx="471487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srgbClr val="C0504D">
                    <a:lumMod val="75000"/>
                  </a:srgbClr>
                </a:solidFill>
                <a:latin typeface="Calibri"/>
              </a:rPr>
              <a:t>                   Motor </a:t>
            </a:r>
            <a:r>
              <a:rPr lang="en-US" dirty="0">
                <a:solidFill>
                  <a:srgbClr val="C0504D">
                    <a:lumMod val="75000"/>
                  </a:srgbClr>
                </a:solidFill>
                <a:latin typeface="Calibri"/>
                <a:sym typeface="Wingdings" panose="05000000000000000000" pitchFamily="2" charset="2"/>
              </a:rPr>
              <a:t> </a:t>
            </a:r>
            <a:r>
              <a:rPr lang="en-US" dirty="0">
                <a:solidFill>
                  <a:srgbClr val="C0504D">
                    <a:lumMod val="75000"/>
                  </a:srgbClr>
                </a:solidFill>
                <a:latin typeface="Calibri"/>
              </a:rPr>
              <a:t>used to drive</a:t>
            </a:r>
          </a:p>
        </p:txBody>
      </p:sp>
      <p:cxnSp>
        <p:nvCxnSpPr>
          <p:cNvPr id="39" name="Straight Arrow Connector 38">
            <a:extLst>
              <a:ext uri="{FF2B5EF4-FFF2-40B4-BE49-F238E27FC236}">
                <a16:creationId xmlns:a16="http://schemas.microsoft.com/office/drawing/2014/main" id="{9FDA9455-9735-4281-9E84-3D6575EC7646}"/>
              </a:ext>
            </a:extLst>
          </p:cNvPr>
          <p:cNvCxnSpPr>
            <a:cxnSpLocks/>
            <a:stCxn id="43" idx="2"/>
            <a:endCxn id="42" idx="0"/>
          </p:cNvCxnSpPr>
          <p:nvPr/>
        </p:nvCxnSpPr>
        <p:spPr>
          <a:xfrm flipH="1">
            <a:off x="8460050" y="3845853"/>
            <a:ext cx="1021176" cy="194365"/>
          </a:xfrm>
          <a:prstGeom prst="straightConnector1">
            <a:avLst/>
          </a:prstGeom>
          <a:noFill/>
          <a:ln w="25400" cap="flat" cmpd="sng" algn="ctr">
            <a:solidFill>
              <a:sysClr val="windowText" lastClr="000000">
                <a:alpha val="80000"/>
              </a:sysClr>
            </a:solidFill>
            <a:prstDash val="solid"/>
            <a:tailEnd type="arrow"/>
          </a:ln>
          <a:effectLst/>
        </p:spPr>
      </p:cxnSp>
      <p:sp>
        <p:nvSpPr>
          <p:cNvPr id="40" name="Rectangle 39">
            <a:extLst>
              <a:ext uri="{FF2B5EF4-FFF2-40B4-BE49-F238E27FC236}">
                <a16:creationId xmlns:a16="http://schemas.microsoft.com/office/drawing/2014/main" id="{004018BF-56A1-4E4B-8B8B-19D2200B7678}"/>
              </a:ext>
            </a:extLst>
          </p:cNvPr>
          <p:cNvSpPr/>
          <p:nvPr/>
        </p:nvSpPr>
        <p:spPr>
          <a:xfrm>
            <a:off x="10104050" y="3489611"/>
            <a:ext cx="441417" cy="373961"/>
          </a:xfrm>
          <a:prstGeom prst="rect">
            <a:avLst/>
          </a:prstGeom>
          <a:solidFill>
            <a:srgbClr val="F79646">
              <a:lumMod val="40000"/>
              <a:lumOff val="6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dirty="0" smtClean="0">
              <a:ln>
                <a:noFill/>
              </a:ln>
              <a:solidFill>
                <a:prstClr val="white"/>
              </a:solidFill>
              <a:effectLst/>
              <a:uLnTx/>
              <a:uFillTx/>
              <a:latin typeface="Calibri"/>
              <a:ea typeface="+mn-ea"/>
              <a:cs typeface="+mn-cs"/>
            </a:endParaRPr>
          </a:p>
        </p:txBody>
      </p:sp>
      <p:sp>
        <p:nvSpPr>
          <p:cNvPr id="41" name="Rectangle 40">
            <a:extLst>
              <a:ext uri="{FF2B5EF4-FFF2-40B4-BE49-F238E27FC236}">
                <a16:creationId xmlns:a16="http://schemas.microsoft.com/office/drawing/2014/main" id="{E0C41A08-FB5D-4EC7-A443-FDC6027FA9C6}"/>
              </a:ext>
            </a:extLst>
          </p:cNvPr>
          <p:cNvSpPr/>
          <p:nvPr/>
        </p:nvSpPr>
        <p:spPr>
          <a:xfrm>
            <a:off x="7236006" y="2860740"/>
            <a:ext cx="3753132" cy="373961"/>
          </a:xfrm>
          <a:prstGeom prst="rect">
            <a:avLst/>
          </a:prstGeom>
          <a:solidFill>
            <a:srgbClr val="F79646">
              <a:lumMod val="40000"/>
              <a:lumOff val="6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571FCAD1-F87A-4F79-98E0-9EEB1137E740}"/>
              </a:ext>
            </a:extLst>
          </p:cNvPr>
          <p:cNvSpPr/>
          <p:nvPr/>
        </p:nvSpPr>
        <p:spPr>
          <a:xfrm>
            <a:off x="7311788" y="4040218"/>
            <a:ext cx="2296523" cy="373961"/>
          </a:xfrm>
          <a:prstGeom prst="rect">
            <a:avLst/>
          </a:prstGeom>
          <a:solidFill>
            <a:srgbClr val="8064A2">
              <a:lumMod val="60000"/>
              <a:lumOff val="4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43" name="Rectangle 42">
            <a:extLst>
              <a:ext uri="{FF2B5EF4-FFF2-40B4-BE49-F238E27FC236}">
                <a16:creationId xmlns:a16="http://schemas.microsoft.com/office/drawing/2014/main" id="{177C9BA5-29FF-4625-9B08-2A441CB92586}"/>
              </a:ext>
            </a:extLst>
          </p:cNvPr>
          <p:cNvSpPr/>
          <p:nvPr/>
        </p:nvSpPr>
        <p:spPr>
          <a:xfrm>
            <a:off x="9296400" y="3471892"/>
            <a:ext cx="369651" cy="373961"/>
          </a:xfrm>
          <a:prstGeom prst="rect">
            <a:avLst/>
          </a:prstGeom>
          <a:solidFill>
            <a:srgbClr val="8064A2">
              <a:lumMod val="60000"/>
              <a:lumOff val="4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44" name="Rectangle 43">
            <a:extLst>
              <a:ext uri="{FF2B5EF4-FFF2-40B4-BE49-F238E27FC236}">
                <a16:creationId xmlns:a16="http://schemas.microsoft.com/office/drawing/2014/main" id="{B4EF1F21-87C6-4877-9C65-4588C727D878}"/>
              </a:ext>
            </a:extLst>
          </p:cNvPr>
          <p:cNvSpPr/>
          <p:nvPr/>
        </p:nvSpPr>
        <p:spPr>
          <a:xfrm>
            <a:off x="9666051" y="4811992"/>
            <a:ext cx="1423967" cy="373961"/>
          </a:xfrm>
          <a:prstGeom prst="rect">
            <a:avLst/>
          </a:prstGeom>
          <a:solidFill>
            <a:srgbClr val="4BACC6">
              <a:lumMod val="60000"/>
              <a:lumOff val="4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45" name="Rectangle 44">
            <a:extLst>
              <a:ext uri="{FF2B5EF4-FFF2-40B4-BE49-F238E27FC236}">
                <a16:creationId xmlns:a16="http://schemas.microsoft.com/office/drawing/2014/main" id="{27C87624-8FA8-4B10-8335-86CE7F060E95}"/>
              </a:ext>
            </a:extLst>
          </p:cNvPr>
          <p:cNvSpPr/>
          <p:nvPr/>
        </p:nvSpPr>
        <p:spPr>
          <a:xfrm>
            <a:off x="6682138" y="5502920"/>
            <a:ext cx="4592837" cy="373961"/>
          </a:xfrm>
          <a:prstGeom prst="rect">
            <a:avLst/>
          </a:prstGeom>
          <a:solidFill>
            <a:srgbClr val="4BACC6">
              <a:lumMod val="60000"/>
              <a:lumOff val="4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50" name="Rectangle 49"/>
          <p:cNvSpPr/>
          <p:nvPr/>
        </p:nvSpPr>
        <p:spPr>
          <a:xfrm>
            <a:off x="5415164" y="2003958"/>
            <a:ext cx="998220" cy="678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1" name="TextBox 50"/>
          <p:cNvSpPr txBox="1"/>
          <p:nvPr/>
        </p:nvSpPr>
        <p:spPr>
          <a:xfrm>
            <a:off x="5354204" y="2003958"/>
            <a:ext cx="1226820" cy="646331"/>
          </a:xfrm>
          <a:prstGeom prst="rect">
            <a:avLst/>
          </a:prstGeom>
          <a:noFill/>
        </p:spPr>
        <p:txBody>
          <a:bodyPr wrap="square" rtlCol="0">
            <a:spAutoFit/>
          </a:bodyPr>
          <a:lstStyle/>
          <a:p>
            <a:pPr algn="ctr"/>
            <a:r>
              <a:rPr lang="en-US" dirty="0" smtClean="0">
                <a:solidFill>
                  <a:schemeClr val="accent6">
                    <a:lumMod val="50000"/>
                  </a:schemeClr>
                </a:solidFill>
              </a:rPr>
              <a:t>Field Winding</a:t>
            </a:r>
            <a:endParaRPr lang="sv-SE" dirty="0">
              <a:solidFill>
                <a:schemeClr val="accent6">
                  <a:lumMod val="50000"/>
                </a:schemeClr>
              </a:solidFill>
            </a:endParaRPr>
          </a:p>
        </p:txBody>
      </p:sp>
    </p:spTree>
    <p:extLst>
      <p:ext uri="{BB962C8B-B14F-4D97-AF65-F5344CB8AC3E}">
        <p14:creationId xmlns:p14="http://schemas.microsoft.com/office/powerpoint/2010/main" val="2694167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AB4ECEB-F7D9-419A-85E8-B5506B78B92F}"/>
              </a:ext>
            </a:extLst>
          </p:cNvPr>
          <p:cNvSpPr>
            <a:spLocks noGrp="1"/>
          </p:cNvSpPr>
          <p:nvPr>
            <p:ph type="title"/>
          </p:nvPr>
        </p:nvSpPr>
        <p:spPr>
          <a:xfrm>
            <a:off x="1054449" y="194043"/>
            <a:ext cx="10990263" cy="568412"/>
          </a:xfrm>
        </p:spPr>
        <p:txBody>
          <a:bodyPr>
            <a:normAutofit fontScale="90000"/>
          </a:bodyPr>
          <a:lstStyle/>
          <a:p>
            <a:pPr algn="ctr"/>
            <a:r>
              <a:rPr lang="en-US" dirty="0" smtClean="0"/>
              <a:t>Proposed </a:t>
            </a:r>
            <a:r>
              <a:rPr lang="en-US" dirty="0"/>
              <a:t>Inductive Power Transfer Based Contactless Slip Ring</a:t>
            </a:r>
            <a:endParaRPr lang="en-US" dirty="0">
              <a:latin typeface="+mj-lt"/>
            </a:endParaRPr>
          </a:p>
        </p:txBody>
      </p:sp>
      <p:pic>
        <p:nvPicPr>
          <p:cNvPr id="49" name="Picture 48">
            <a:extLst>
              <a:ext uri="{FF2B5EF4-FFF2-40B4-BE49-F238E27FC236}">
                <a16:creationId xmlns:a16="http://schemas.microsoft.com/office/drawing/2014/main" id="{2A6BFC61-5FC4-4CB9-86F4-3B9FD719CA7F}"/>
              </a:ext>
            </a:extLst>
          </p:cNvPr>
          <p:cNvPicPr>
            <a:picLocks noChangeAspect="1"/>
          </p:cNvPicPr>
          <p:nvPr/>
        </p:nvPicPr>
        <p:blipFill rotWithShape="1">
          <a:blip r:embed="rId3"/>
          <a:srcRect l="4606"/>
          <a:stretch/>
        </p:blipFill>
        <p:spPr>
          <a:xfrm>
            <a:off x="127036" y="1571100"/>
            <a:ext cx="6811926" cy="4420125"/>
          </a:xfrm>
          <a:prstGeom prst="rect">
            <a:avLst/>
          </a:prstGeom>
        </p:spPr>
      </p:pic>
      <p:sp>
        <p:nvSpPr>
          <p:cNvPr id="50" name="TextBox 49">
            <a:extLst>
              <a:ext uri="{FF2B5EF4-FFF2-40B4-BE49-F238E27FC236}">
                <a16:creationId xmlns:a16="http://schemas.microsoft.com/office/drawing/2014/main" id="{0279E1C5-DB9E-4EA6-A56E-9404A133FE26}"/>
              </a:ext>
            </a:extLst>
          </p:cNvPr>
          <p:cNvSpPr txBox="1"/>
          <p:nvPr/>
        </p:nvSpPr>
        <p:spPr>
          <a:xfrm>
            <a:off x="6963575" y="1369978"/>
            <a:ext cx="458152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	 </a:t>
            </a:r>
          </a:p>
        </p:txBody>
      </p:sp>
      <p:sp>
        <p:nvSpPr>
          <p:cNvPr id="51" name="TextBox 50">
            <a:extLst>
              <a:ext uri="{FF2B5EF4-FFF2-40B4-BE49-F238E27FC236}">
                <a16:creationId xmlns:a16="http://schemas.microsoft.com/office/drawing/2014/main" id="{4401A0FD-F927-4CF4-9D68-B56D4D2C863A}"/>
              </a:ext>
            </a:extLst>
          </p:cNvPr>
          <p:cNvSpPr txBox="1"/>
          <p:nvPr/>
        </p:nvSpPr>
        <p:spPr>
          <a:xfrm>
            <a:off x="6788552" y="4243994"/>
            <a:ext cx="4926806" cy="369332"/>
          </a:xfrm>
          <a:prstGeom prst="rect">
            <a:avLst/>
          </a:prstGeom>
          <a:noFill/>
        </p:spPr>
        <p:txBody>
          <a:bodyPr wrap="square" rtlCol="0">
            <a:spAutoFit/>
          </a:bodyPr>
          <a:lstStyle/>
          <a:p>
            <a:pPr defTabSz="457200" eaLnBrk="0" fontAlgn="base" hangingPunct="0">
              <a:spcBef>
                <a:spcPct val="0"/>
              </a:spcBef>
              <a:spcAft>
                <a:spcPct val="0"/>
              </a:spcAft>
            </a:pPr>
            <a:r>
              <a:rPr lang="en-US" strike="sngStrike" dirty="0">
                <a:solidFill>
                  <a:prstClr val="black"/>
                </a:solidFill>
                <a:latin typeface="Constantia" panose="02030602050306030303" pitchFamily="18" charset="0"/>
              </a:rPr>
              <a:t>The WPT converter</a:t>
            </a:r>
            <a:r>
              <a:rPr lang="en-US" strike="sngStrike" dirty="0">
                <a:solidFill>
                  <a:prstClr val="black"/>
                </a:solidFill>
                <a:latin typeface="Calibri"/>
              </a:rPr>
              <a:t> </a:t>
            </a:r>
            <a:r>
              <a:rPr lang="en-US" strike="sngStrike" dirty="0">
                <a:solidFill>
                  <a:prstClr val="black"/>
                </a:solidFill>
                <a:latin typeface="Calibri"/>
                <a:sym typeface="Wingdings" panose="05000000000000000000" pitchFamily="2" charset="2"/>
              </a:rPr>
              <a:t> generating high frequency </a:t>
            </a:r>
            <a:r>
              <a:rPr lang="en-US" strike="sngStrike" dirty="0">
                <a:solidFill>
                  <a:prstClr val="black"/>
                </a:solidFill>
                <a:latin typeface="Calibri"/>
              </a:rPr>
              <a:t> </a:t>
            </a:r>
          </a:p>
        </p:txBody>
      </p:sp>
      <p:sp>
        <p:nvSpPr>
          <p:cNvPr id="52" name="TextBox 51">
            <a:extLst>
              <a:ext uri="{FF2B5EF4-FFF2-40B4-BE49-F238E27FC236}">
                <a16:creationId xmlns:a16="http://schemas.microsoft.com/office/drawing/2014/main" id="{C5C43168-ECA5-42BC-8D5B-6B8B535D63FF}"/>
              </a:ext>
            </a:extLst>
          </p:cNvPr>
          <p:cNvSpPr txBox="1"/>
          <p:nvPr/>
        </p:nvSpPr>
        <p:spPr>
          <a:xfrm>
            <a:off x="6830225" y="1570345"/>
            <a:ext cx="536257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onstantia" panose="02030602050306030303" pitchFamily="18" charset="0"/>
              </a:rPr>
              <a:t>The motor drive</a:t>
            </a:r>
            <a:r>
              <a:rPr lang="en-US" dirty="0">
                <a:solidFill>
                  <a:prstClr val="black"/>
                </a:solidFill>
                <a:latin typeface="Calibri"/>
              </a:rPr>
              <a:t> </a:t>
            </a:r>
            <a:r>
              <a:rPr lang="en-US" dirty="0">
                <a:solidFill>
                  <a:prstClr val="black"/>
                </a:solidFill>
                <a:latin typeface="Calibri"/>
                <a:sym typeface="Wingdings" panose="05000000000000000000" pitchFamily="2" charset="2"/>
              </a:rPr>
              <a:t> generating high frequency </a:t>
            </a:r>
            <a:r>
              <a:rPr lang="en-US" dirty="0">
                <a:solidFill>
                  <a:prstClr val="black"/>
                </a:solidFill>
                <a:latin typeface="Calibri"/>
              </a:rPr>
              <a:t> </a:t>
            </a:r>
          </a:p>
        </p:txBody>
      </p:sp>
      <p:sp>
        <p:nvSpPr>
          <p:cNvPr id="53" name="TextBox 52">
            <a:extLst>
              <a:ext uri="{FF2B5EF4-FFF2-40B4-BE49-F238E27FC236}">
                <a16:creationId xmlns:a16="http://schemas.microsoft.com/office/drawing/2014/main" id="{8AEBB12E-D851-4209-8FE5-665DB7588422}"/>
              </a:ext>
            </a:extLst>
          </p:cNvPr>
          <p:cNvSpPr txBox="1"/>
          <p:nvPr/>
        </p:nvSpPr>
        <p:spPr>
          <a:xfrm>
            <a:off x="6882613" y="2931452"/>
            <a:ext cx="5362575"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srgbClr val="C0504D">
                    <a:lumMod val="75000"/>
                  </a:srgbClr>
                </a:solidFill>
                <a:latin typeface="Calibri"/>
              </a:rPr>
              <a:t>The WPT system </a:t>
            </a:r>
            <a:r>
              <a:rPr lang="en-US" dirty="0">
                <a:solidFill>
                  <a:srgbClr val="C0504D">
                    <a:lumMod val="75000"/>
                  </a:srgbClr>
                </a:solidFill>
                <a:latin typeface="Calibri"/>
                <a:sym typeface="Wingdings" panose="05000000000000000000" pitchFamily="2" charset="2"/>
              </a:rPr>
              <a:t></a:t>
            </a:r>
            <a:r>
              <a:rPr lang="en-US" dirty="0">
                <a:solidFill>
                  <a:srgbClr val="C0504D">
                    <a:lumMod val="75000"/>
                  </a:srgbClr>
                </a:solidFill>
                <a:latin typeface="Calibri"/>
              </a:rPr>
              <a:t>behaves like band-pass filter</a:t>
            </a:r>
          </a:p>
        </p:txBody>
      </p:sp>
      <p:cxnSp>
        <p:nvCxnSpPr>
          <p:cNvPr id="54" name="Straight Arrow Connector 53">
            <a:extLst>
              <a:ext uri="{FF2B5EF4-FFF2-40B4-BE49-F238E27FC236}">
                <a16:creationId xmlns:a16="http://schemas.microsoft.com/office/drawing/2014/main" id="{F3E6FB36-2AA9-4B23-A977-D25D49857961}"/>
              </a:ext>
            </a:extLst>
          </p:cNvPr>
          <p:cNvCxnSpPr>
            <a:cxnSpLocks/>
            <a:stCxn id="59" idx="2"/>
            <a:endCxn id="58" idx="0"/>
          </p:cNvCxnSpPr>
          <p:nvPr/>
        </p:nvCxnSpPr>
        <p:spPr>
          <a:xfrm flipH="1">
            <a:off x="9251956" y="1944306"/>
            <a:ext cx="812503" cy="987146"/>
          </a:xfrm>
          <a:prstGeom prst="straightConnector1">
            <a:avLst/>
          </a:prstGeom>
          <a:noFill/>
          <a:ln w="25400" cap="flat" cmpd="sng" algn="ctr">
            <a:solidFill>
              <a:sysClr val="windowText" lastClr="000000">
                <a:alpha val="80000"/>
              </a:sysClr>
            </a:solidFill>
            <a:prstDash val="solid"/>
            <a:tailEnd type="arrow"/>
          </a:ln>
          <a:effectLst/>
        </p:spPr>
      </p:cxnSp>
      <p:sp>
        <p:nvSpPr>
          <p:cNvPr id="55" name="TextBox 54">
            <a:extLst>
              <a:ext uri="{FF2B5EF4-FFF2-40B4-BE49-F238E27FC236}">
                <a16:creationId xmlns:a16="http://schemas.microsoft.com/office/drawing/2014/main" id="{5F36DC02-FD11-49BF-9D67-CE911B437E3D}"/>
              </a:ext>
            </a:extLst>
          </p:cNvPr>
          <p:cNvSpPr txBox="1"/>
          <p:nvPr/>
        </p:nvSpPr>
        <p:spPr>
          <a:xfrm>
            <a:off x="8381708" y="2131228"/>
            <a:ext cx="1303338" cy="369332"/>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combining</a:t>
            </a:r>
          </a:p>
        </p:txBody>
      </p:sp>
      <p:cxnSp>
        <p:nvCxnSpPr>
          <p:cNvPr id="56" name="Straight Arrow Connector 55">
            <a:extLst>
              <a:ext uri="{FF2B5EF4-FFF2-40B4-BE49-F238E27FC236}">
                <a16:creationId xmlns:a16="http://schemas.microsoft.com/office/drawing/2014/main" id="{26C597DD-81FE-441C-B046-E16E7D44A31D}"/>
              </a:ext>
            </a:extLst>
          </p:cNvPr>
          <p:cNvCxnSpPr>
            <a:cxnSpLocks/>
            <a:stCxn id="51" idx="0"/>
            <a:endCxn id="58" idx="2"/>
          </p:cNvCxnSpPr>
          <p:nvPr/>
        </p:nvCxnSpPr>
        <p:spPr>
          <a:xfrm flipV="1">
            <a:off x="9251955" y="3305413"/>
            <a:ext cx="1" cy="938581"/>
          </a:xfrm>
          <a:prstGeom prst="straightConnector1">
            <a:avLst/>
          </a:prstGeom>
          <a:noFill/>
          <a:ln w="25400" cap="flat" cmpd="sng" algn="ctr">
            <a:solidFill>
              <a:sysClr val="windowText" lastClr="000000">
                <a:alpha val="80000"/>
              </a:sysClr>
            </a:solidFill>
            <a:prstDash val="solid"/>
            <a:tailEnd type="arrow"/>
          </a:ln>
          <a:effectLst/>
        </p:spPr>
      </p:cxnSp>
      <p:sp>
        <p:nvSpPr>
          <p:cNvPr id="57" name="TextBox 56">
            <a:extLst>
              <a:ext uri="{FF2B5EF4-FFF2-40B4-BE49-F238E27FC236}">
                <a16:creationId xmlns:a16="http://schemas.microsoft.com/office/drawing/2014/main" id="{BC3A7841-4320-4CAF-A61D-FA05BA2F9E6D}"/>
              </a:ext>
            </a:extLst>
          </p:cNvPr>
          <p:cNvSpPr txBox="1"/>
          <p:nvPr/>
        </p:nvSpPr>
        <p:spPr>
          <a:xfrm>
            <a:off x="8131974" y="3546867"/>
            <a:ext cx="1303338" cy="646331"/>
          </a:xfrm>
          <a:prstGeom prst="rect">
            <a:avLst/>
          </a:prstGeom>
          <a:noFill/>
        </p:spPr>
        <p:txBody>
          <a:bodyPr wrap="square" rtlCol="0">
            <a:spAutoFit/>
          </a:bodyPr>
          <a:lstStyle/>
          <a:p>
            <a:pPr defTabSz="457200" eaLnBrk="0" fontAlgn="base" hangingPunct="0">
              <a:spcBef>
                <a:spcPct val="0"/>
              </a:spcBef>
              <a:spcAft>
                <a:spcPct val="0"/>
              </a:spcAft>
            </a:pPr>
            <a:r>
              <a:rPr lang="en-US" dirty="0">
                <a:solidFill>
                  <a:prstClr val="black"/>
                </a:solidFill>
                <a:latin typeface="Calibri"/>
              </a:rPr>
              <a:t>No longer required</a:t>
            </a:r>
          </a:p>
        </p:txBody>
      </p:sp>
      <p:sp>
        <p:nvSpPr>
          <p:cNvPr id="58" name="Rectangle 57">
            <a:extLst>
              <a:ext uri="{FF2B5EF4-FFF2-40B4-BE49-F238E27FC236}">
                <a16:creationId xmlns:a16="http://schemas.microsoft.com/office/drawing/2014/main" id="{B0C675CB-FDB7-4BF6-A107-29E518CC598A}"/>
              </a:ext>
            </a:extLst>
          </p:cNvPr>
          <p:cNvSpPr/>
          <p:nvPr/>
        </p:nvSpPr>
        <p:spPr>
          <a:xfrm>
            <a:off x="6963574" y="2931452"/>
            <a:ext cx="4576763" cy="373961"/>
          </a:xfrm>
          <a:prstGeom prst="rect">
            <a:avLst/>
          </a:prstGeom>
          <a:solidFill>
            <a:srgbClr val="F79646">
              <a:lumMod val="40000"/>
              <a:lumOff val="6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sp>
        <p:nvSpPr>
          <p:cNvPr id="59" name="Rectangle 58">
            <a:extLst>
              <a:ext uri="{FF2B5EF4-FFF2-40B4-BE49-F238E27FC236}">
                <a16:creationId xmlns:a16="http://schemas.microsoft.com/office/drawing/2014/main" id="{F41115B4-0BC8-4BB4-ADFA-14F6F079731B}"/>
              </a:ext>
            </a:extLst>
          </p:cNvPr>
          <p:cNvSpPr/>
          <p:nvPr/>
        </p:nvSpPr>
        <p:spPr>
          <a:xfrm>
            <a:off x="9845880" y="1570345"/>
            <a:ext cx="437158" cy="373961"/>
          </a:xfrm>
          <a:prstGeom prst="rect">
            <a:avLst/>
          </a:prstGeom>
          <a:solidFill>
            <a:srgbClr val="F79646">
              <a:lumMod val="40000"/>
              <a:lumOff val="60000"/>
              <a:alpha val="20000"/>
            </a:srgbClr>
          </a:solidFill>
          <a:ln w="25400" cap="flat" cmpd="sng" algn="ctr">
            <a:noFill/>
            <a:prstDash val="solid"/>
          </a:ln>
          <a:effectLst/>
        </p:spPr>
        <p:txBody>
          <a:bodyPr rtlCol="0" anchor="ctr"/>
          <a:lstStyle/>
          <a:p>
            <a:pPr marL="0" marR="0" lvl="0" indent="0" algn="ctr" defTabSz="457200" eaLnBrk="0" fontAlgn="base" latinLnBrk="0" hangingPunct="0">
              <a:lnSpc>
                <a:spcPct val="100000"/>
              </a:lnSpc>
              <a:spcBef>
                <a:spcPct val="0"/>
              </a:spcBef>
              <a:spcAft>
                <a:spcPct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a:ea typeface="+mn-ea"/>
              <a:cs typeface="+mn-cs"/>
            </a:endParaRPr>
          </a:p>
        </p:txBody>
      </p:sp>
      <p:pic>
        <p:nvPicPr>
          <p:cNvPr id="60" name="Picture 59">
            <a:extLst>
              <a:ext uri="{FF2B5EF4-FFF2-40B4-BE49-F238E27FC236}">
                <a16:creationId xmlns:a16="http://schemas.microsoft.com/office/drawing/2014/main" id="{607823FF-BFCD-40B0-8747-0635EF80238E}"/>
              </a:ext>
            </a:extLst>
          </p:cNvPr>
          <p:cNvPicPr>
            <a:picLocks noChangeAspect="1"/>
          </p:cNvPicPr>
          <p:nvPr/>
        </p:nvPicPr>
        <p:blipFill>
          <a:blip r:embed="rId4"/>
          <a:stretch>
            <a:fillRect/>
          </a:stretch>
        </p:blipFill>
        <p:spPr>
          <a:xfrm>
            <a:off x="7623698" y="4628179"/>
            <a:ext cx="3406924" cy="1719685"/>
          </a:xfrm>
          <a:prstGeom prst="rect">
            <a:avLst/>
          </a:prstGeom>
        </p:spPr>
      </p:pic>
      <p:sp>
        <p:nvSpPr>
          <p:cNvPr id="61" name="Rectangle 60"/>
          <p:cNvSpPr/>
          <p:nvPr/>
        </p:nvSpPr>
        <p:spPr>
          <a:xfrm>
            <a:off x="5556402" y="1918767"/>
            <a:ext cx="998220" cy="67818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2" name="TextBox 61"/>
          <p:cNvSpPr txBox="1"/>
          <p:nvPr/>
        </p:nvSpPr>
        <p:spPr>
          <a:xfrm>
            <a:off x="5495442" y="1918767"/>
            <a:ext cx="1226820" cy="646331"/>
          </a:xfrm>
          <a:prstGeom prst="rect">
            <a:avLst/>
          </a:prstGeom>
          <a:noFill/>
        </p:spPr>
        <p:txBody>
          <a:bodyPr wrap="square" rtlCol="0">
            <a:spAutoFit/>
          </a:bodyPr>
          <a:lstStyle/>
          <a:p>
            <a:pPr algn="ctr"/>
            <a:r>
              <a:rPr lang="en-US" dirty="0" smtClean="0">
                <a:solidFill>
                  <a:schemeClr val="accent6">
                    <a:lumMod val="50000"/>
                  </a:schemeClr>
                </a:solidFill>
              </a:rPr>
              <a:t>Field Winding</a:t>
            </a:r>
            <a:endParaRPr lang="sv-SE" dirty="0">
              <a:solidFill>
                <a:schemeClr val="accent6">
                  <a:lumMod val="50000"/>
                </a:schemeClr>
              </a:solidFill>
            </a:endParaRPr>
          </a:p>
        </p:txBody>
      </p:sp>
    </p:spTree>
    <p:extLst>
      <p:ext uri="{BB962C8B-B14F-4D97-AF65-F5344CB8AC3E}">
        <p14:creationId xmlns:p14="http://schemas.microsoft.com/office/powerpoint/2010/main" val="833464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3935" y="252693"/>
            <a:ext cx="10990263" cy="568412"/>
          </a:xfrm>
        </p:spPr>
        <p:txBody>
          <a:bodyPr/>
          <a:lstStyle/>
          <a:p>
            <a:r>
              <a:rPr lang="en-US" dirty="0" smtClean="0"/>
              <a:t>Possible Structures</a:t>
            </a:r>
            <a:endParaRPr lang="sv-SE" dirty="0"/>
          </a:p>
        </p:txBody>
      </p:sp>
      <p:pic>
        <p:nvPicPr>
          <p:cNvPr id="9" name="Picture 8">
            <a:extLst>
              <a:ext uri="{FF2B5EF4-FFF2-40B4-BE49-F238E27FC236}">
                <a16:creationId xmlns:a16="http://schemas.microsoft.com/office/drawing/2014/main" id="{33A8F5A9-EDA7-40CC-A30F-394EB7FB8B29}"/>
              </a:ext>
            </a:extLst>
          </p:cNvPr>
          <p:cNvPicPr>
            <a:picLocks noChangeAspect="1"/>
          </p:cNvPicPr>
          <p:nvPr/>
        </p:nvPicPr>
        <p:blipFill>
          <a:blip r:embed="rId2"/>
          <a:stretch>
            <a:fillRect/>
          </a:stretch>
        </p:blipFill>
        <p:spPr>
          <a:xfrm>
            <a:off x="6973454" y="1114165"/>
            <a:ext cx="3780810" cy="4976780"/>
          </a:xfrm>
          <a:prstGeom prst="rect">
            <a:avLst/>
          </a:prstGeom>
        </p:spPr>
      </p:pic>
      <p:sp>
        <p:nvSpPr>
          <p:cNvPr id="10" name="Content Placeholder 1">
            <a:extLst>
              <a:ext uri="{FF2B5EF4-FFF2-40B4-BE49-F238E27FC236}">
                <a16:creationId xmlns:a16="http://schemas.microsoft.com/office/drawing/2014/main" id="{29EAE124-626A-491E-A20D-1FB0D35DF4E3}"/>
              </a:ext>
            </a:extLst>
          </p:cNvPr>
          <p:cNvSpPr txBox="1">
            <a:spLocks/>
          </p:cNvSpPr>
          <p:nvPr/>
        </p:nvSpPr>
        <p:spPr>
          <a:xfrm>
            <a:off x="609600" y="3714698"/>
            <a:ext cx="7274237" cy="2532971"/>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b="0" kern="1200">
                <a:solidFill>
                  <a:schemeClr val="tx1"/>
                </a:solidFill>
                <a:latin typeface="Calibri (Headings)"/>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0" kern="1200">
                <a:solidFill>
                  <a:schemeClr val="tx1"/>
                </a:solidFill>
                <a:latin typeface="Calibri (Headings)"/>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500" dirty="0">
                <a:solidFill>
                  <a:srgbClr val="C00000"/>
                </a:solidFill>
                <a:latin typeface="Times New Roman" panose="02020603050405020304" pitchFamily="18" charset="0"/>
                <a:cs typeface="Times New Roman" panose="02020603050405020304" pitchFamily="18" charset="0"/>
              </a:rPr>
              <a:t>Motivations:</a:t>
            </a:r>
          </a:p>
          <a:p>
            <a:pPr marL="514350" indent="-514350">
              <a:buFont typeface="+mj-lt"/>
              <a:buAutoNum type="arabicPeriod"/>
            </a:pPr>
            <a:r>
              <a:rPr lang="en-US" sz="2500" dirty="0">
                <a:solidFill>
                  <a:prstClr val="black"/>
                </a:solidFill>
                <a:latin typeface="Times New Roman" panose="02020603050405020304" pitchFamily="18" charset="0"/>
                <a:cs typeface="Times New Roman" panose="02020603050405020304" pitchFamily="18" charset="0"/>
              </a:rPr>
              <a:t>To increase DC-link utilization rate</a:t>
            </a:r>
          </a:p>
          <a:p>
            <a:pPr marL="514350" indent="-514350">
              <a:buFont typeface="+mj-lt"/>
              <a:buAutoNum type="arabicPeriod"/>
            </a:pPr>
            <a:r>
              <a:rPr lang="en-US" dirty="0">
                <a:solidFill>
                  <a:prstClr val="black"/>
                </a:solidFill>
                <a:latin typeface="Times New Roman" panose="02020603050405020304" pitchFamily="18" charset="0"/>
                <a:cs typeface="Times New Roman" panose="02020603050405020304" pitchFamily="18" charset="0"/>
              </a:rPr>
              <a:t>To increase power</a:t>
            </a:r>
          </a:p>
          <a:p>
            <a:pPr marL="514350" indent="-514350">
              <a:buFont typeface="+mj-lt"/>
              <a:buAutoNum type="arabicPeriod"/>
            </a:pPr>
            <a:r>
              <a:rPr lang="en-US" dirty="0">
                <a:solidFill>
                  <a:srgbClr val="7030A0"/>
                </a:solidFill>
                <a:latin typeface="Times New Roman" panose="02020603050405020304" pitchFamily="18" charset="0"/>
                <a:cs typeface="Times New Roman" panose="02020603050405020304" pitchFamily="18" charset="0"/>
              </a:rPr>
              <a:t>To break the restrictions</a:t>
            </a:r>
          </a:p>
          <a:p>
            <a:pPr marL="514350" indent="-514350">
              <a:buFont typeface="+mj-lt"/>
              <a:buAutoNum type="arabicPeriod"/>
            </a:pPr>
            <a:endParaRPr lang="en-US" dirty="0">
              <a:solidFill>
                <a:prstClr val="black"/>
              </a:solidFill>
              <a:latin typeface="Times New Roman" panose="02020603050405020304" pitchFamily="18" charset="0"/>
              <a:cs typeface="Times New Roman" panose="02020603050405020304" pitchFamily="18" charset="0"/>
            </a:endParaRPr>
          </a:p>
          <a:p>
            <a:pPr marL="514350" indent="-514350">
              <a:buFont typeface="+mj-lt"/>
              <a:buAutoNum type="arabicPeriod"/>
            </a:pPr>
            <a:endParaRPr lang="en-US" dirty="0">
              <a:solidFill>
                <a:prstClr val="black"/>
              </a:solidFill>
              <a:latin typeface="Times New Roman" panose="02020603050405020304" pitchFamily="18" charset="0"/>
              <a:cs typeface="Times New Roman" panose="02020603050405020304" pitchFamily="18" charset="0"/>
            </a:endParaRPr>
          </a:p>
          <a:p>
            <a:endParaRPr lang="en-US" dirty="0">
              <a:solidFill>
                <a:prstClr val="black"/>
              </a:solidFill>
              <a:latin typeface="Times New Roman" panose="02020603050405020304" pitchFamily="18" charset="0"/>
              <a:cs typeface="Times New Roman" panose="02020603050405020304" pitchFamily="18" charset="0"/>
            </a:endParaRPr>
          </a:p>
        </p:txBody>
      </p:sp>
      <p:sp>
        <p:nvSpPr>
          <p:cNvPr id="11" name="Content Placeholder 1">
            <a:extLst>
              <a:ext uri="{FF2B5EF4-FFF2-40B4-BE49-F238E27FC236}">
                <a16:creationId xmlns:a16="http://schemas.microsoft.com/office/drawing/2014/main" id="{77D0300C-F79E-409F-B955-E1A95D448D67}"/>
              </a:ext>
            </a:extLst>
          </p:cNvPr>
          <p:cNvSpPr txBox="1">
            <a:spLocks/>
          </p:cNvSpPr>
          <p:nvPr/>
        </p:nvSpPr>
        <p:spPr>
          <a:xfrm>
            <a:off x="609600" y="1385863"/>
            <a:ext cx="7274237" cy="81040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b="0" kern="1200">
                <a:solidFill>
                  <a:schemeClr val="tx1"/>
                </a:solidFill>
                <a:latin typeface="Calibri (Headings)"/>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0" kern="1200">
                <a:solidFill>
                  <a:schemeClr val="tx1"/>
                </a:solidFill>
                <a:latin typeface="Calibri (Headings)"/>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prstClr val="black"/>
                </a:solidFill>
                <a:latin typeface="Times New Roman" panose="02020603050405020304" pitchFamily="18" charset="0"/>
                <a:cs typeface="Times New Roman" panose="02020603050405020304" pitchFamily="18" charset="0"/>
              </a:rPr>
              <a:t>Motor drives have more than 2 wires</a:t>
            </a:r>
          </a:p>
          <a:p>
            <a:r>
              <a:rPr lang="en-US" sz="2000" dirty="0">
                <a:solidFill>
                  <a:prstClr val="black"/>
                </a:solidFill>
                <a:latin typeface="Times New Roman" panose="02020603050405020304" pitchFamily="18" charset="0"/>
                <a:cs typeface="Times New Roman" panose="02020603050405020304" pitchFamily="18" charset="0"/>
              </a:rPr>
              <a:t>Conventional WPT systems have 2 wires input</a:t>
            </a:r>
            <a:endParaRPr lang="en-US" dirty="0">
              <a:solidFill>
                <a:prstClr val="black"/>
              </a:solidFill>
              <a:latin typeface="Times New Roman" panose="02020603050405020304" pitchFamily="18" charset="0"/>
              <a:cs typeface="Times New Roman" panose="02020603050405020304" pitchFamily="18" charset="0"/>
            </a:endParaRPr>
          </a:p>
        </p:txBody>
      </p:sp>
      <p:cxnSp>
        <p:nvCxnSpPr>
          <p:cNvPr id="12" name="Straight Arrow Connector 11">
            <a:extLst>
              <a:ext uri="{FF2B5EF4-FFF2-40B4-BE49-F238E27FC236}">
                <a16:creationId xmlns:a16="http://schemas.microsoft.com/office/drawing/2014/main" id="{4813291C-74F9-49DE-B027-94C59D939EE1}"/>
              </a:ext>
            </a:extLst>
          </p:cNvPr>
          <p:cNvCxnSpPr>
            <a:cxnSpLocks/>
            <a:stCxn id="11" idx="2"/>
          </p:cNvCxnSpPr>
          <p:nvPr/>
        </p:nvCxnSpPr>
        <p:spPr>
          <a:xfrm>
            <a:off x="4246719" y="2196269"/>
            <a:ext cx="0" cy="256374"/>
          </a:xfrm>
          <a:prstGeom prst="straightConnector1">
            <a:avLst/>
          </a:prstGeom>
          <a:noFill/>
          <a:ln w="9525" cap="flat" cmpd="sng" algn="ctr">
            <a:solidFill>
              <a:srgbClr val="4F81BD">
                <a:shade val="95000"/>
                <a:satMod val="105000"/>
              </a:srgbClr>
            </a:solidFill>
            <a:prstDash val="solid"/>
            <a:tailEnd type="triangle"/>
          </a:ln>
          <a:effectLst/>
        </p:spPr>
      </p:cxnSp>
      <p:sp>
        <p:nvSpPr>
          <p:cNvPr id="13" name="Content Placeholder 1">
            <a:extLst>
              <a:ext uri="{FF2B5EF4-FFF2-40B4-BE49-F238E27FC236}">
                <a16:creationId xmlns:a16="http://schemas.microsoft.com/office/drawing/2014/main" id="{334EC81B-6101-4836-BC29-8ED303D3FA7E}"/>
              </a:ext>
            </a:extLst>
          </p:cNvPr>
          <p:cNvSpPr txBox="1">
            <a:spLocks/>
          </p:cNvSpPr>
          <p:nvPr/>
        </p:nvSpPr>
        <p:spPr>
          <a:xfrm>
            <a:off x="609600" y="2530864"/>
            <a:ext cx="7274237" cy="81040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2800" b="0" kern="1200">
                <a:solidFill>
                  <a:schemeClr val="tx1"/>
                </a:solidFill>
                <a:latin typeface="Calibri (Headings)"/>
                <a:ea typeface="+mn-ea"/>
                <a:cs typeface="+mn-cs"/>
              </a:defRPr>
            </a:lvl1pPr>
            <a:lvl2pPr marL="742950" indent="-285750" algn="l" defTabSz="914400" rtl="0" eaLnBrk="1" latinLnBrk="0" hangingPunct="1">
              <a:spcBef>
                <a:spcPct val="20000"/>
              </a:spcBef>
              <a:buFont typeface="Arial" panose="020B0604020202020204" pitchFamily="34" charset="0"/>
              <a:buChar char="–"/>
              <a:defRPr sz="2400" b="0" kern="1200">
                <a:solidFill>
                  <a:schemeClr val="tx1"/>
                </a:solidFill>
                <a:latin typeface="Calibri (Headings)"/>
                <a:ea typeface="+mn-ea"/>
                <a:cs typeface="+mn-cs"/>
              </a:defRPr>
            </a:lvl2pPr>
            <a:lvl3pPr marL="1143000" indent="-228600" algn="l" defTabSz="914400" rtl="0" eaLnBrk="1" latinLnBrk="0" hangingPunct="1">
              <a:spcBef>
                <a:spcPct val="20000"/>
              </a:spcBef>
              <a:buFont typeface="Arial" panose="020B0604020202020204" pitchFamily="34" charset="0"/>
              <a:buChar char="•"/>
              <a:defRPr sz="2000" b="0" kern="1200">
                <a:solidFill>
                  <a:schemeClr val="tx1"/>
                </a:solidFill>
                <a:latin typeface="Calibri (Headings)"/>
                <a:ea typeface="+mn-ea"/>
                <a:cs typeface="+mn-cs"/>
              </a:defRPr>
            </a:lvl3pPr>
            <a:lvl4pPr marL="16002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4pPr>
            <a:lvl5pPr marL="2057400" indent="-228600" algn="l" defTabSz="914400" rtl="0" eaLnBrk="1" latinLnBrk="0" hangingPunct="1">
              <a:spcBef>
                <a:spcPct val="20000"/>
              </a:spcBef>
              <a:buFont typeface="Arial" panose="020B0604020202020204" pitchFamily="34" charset="0"/>
              <a:buChar char="»"/>
              <a:defRPr sz="1800" b="0" kern="1200">
                <a:solidFill>
                  <a:schemeClr val="tx1"/>
                </a:solidFill>
                <a:latin typeface="Calibri (Headings)"/>
                <a:ea typeface="+mn-ea"/>
                <a:cs typeface="+mn-cs"/>
              </a:defRPr>
            </a:lvl5pPr>
            <a:lvl6pPr marL="25146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prstClr val="black"/>
                </a:solidFill>
                <a:latin typeface="Times New Roman" panose="02020603050405020304" pitchFamily="18" charset="0"/>
                <a:cs typeface="Times New Roman" panose="02020603050405020304" pitchFamily="18" charset="0"/>
              </a:rPr>
              <a:t>Multi-phase WPT systems</a:t>
            </a:r>
          </a:p>
          <a:p>
            <a:pPr marL="514350" indent="-514350">
              <a:buFont typeface="+mj-lt"/>
              <a:buAutoNum type="arabicPeriod"/>
            </a:pPr>
            <a:endParaRPr lang="en-US" dirty="0">
              <a:solidFill>
                <a:prstClr val="black"/>
              </a:solidFill>
              <a:latin typeface="Times New Roman" panose="02020603050405020304" pitchFamily="18" charset="0"/>
              <a:cs typeface="Times New Roman" panose="02020603050405020304" pitchFamily="18" charset="0"/>
            </a:endParaRPr>
          </a:p>
          <a:p>
            <a:endParaRPr lang="en-US" dirty="0">
              <a:solidFill>
                <a:prstClr val="black"/>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5235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4813291C-74F9-49DE-B027-94C59D939EE1}"/>
              </a:ext>
            </a:extLst>
          </p:cNvPr>
          <p:cNvCxnSpPr>
            <a:cxnSpLocks/>
          </p:cNvCxnSpPr>
          <p:nvPr/>
        </p:nvCxnSpPr>
        <p:spPr>
          <a:xfrm>
            <a:off x="-1356526" y="1346892"/>
            <a:ext cx="0" cy="2563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02B7329E-FB36-430A-BBA7-A1F808947296}"/>
              </a:ext>
            </a:extLst>
          </p:cNvPr>
          <p:cNvPicPr>
            <a:picLocks noChangeAspect="1"/>
          </p:cNvPicPr>
          <p:nvPr/>
        </p:nvPicPr>
        <p:blipFill>
          <a:blip r:embed="rId3"/>
          <a:stretch>
            <a:fillRect/>
          </a:stretch>
        </p:blipFill>
        <p:spPr>
          <a:xfrm>
            <a:off x="813747" y="1014666"/>
            <a:ext cx="3301053" cy="2028842"/>
          </a:xfrm>
          <a:prstGeom prst="rect">
            <a:avLst/>
          </a:prstGeom>
        </p:spPr>
      </p:pic>
      <p:sp>
        <p:nvSpPr>
          <p:cNvPr id="10" name="Title 1"/>
          <p:cNvSpPr>
            <a:spLocks noGrp="1"/>
          </p:cNvSpPr>
          <p:nvPr>
            <p:ph type="title"/>
          </p:nvPr>
        </p:nvSpPr>
        <p:spPr>
          <a:xfrm>
            <a:off x="1003935" y="252693"/>
            <a:ext cx="10990263" cy="568412"/>
          </a:xfrm>
        </p:spPr>
        <p:txBody>
          <a:bodyPr/>
          <a:lstStyle/>
          <a:p>
            <a:r>
              <a:rPr lang="en-US" dirty="0" smtClean="0"/>
              <a:t>2-phase Utilization : Modulation </a:t>
            </a:r>
            <a:r>
              <a:rPr lang="en-US" dirty="0"/>
              <a:t>Constraint</a:t>
            </a:r>
            <a:r>
              <a:rPr lang="en-US" dirty="0" smtClean="0"/>
              <a:t> </a:t>
            </a:r>
            <a:endParaRPr lang="sv-SE" dirty="0"/>
          </a:p>
        </p:txBody>
      </p:sp>
      <p:pic>
        <p:nvPicPr>
          <p:cNvPr id="16" name="Picture 15">
            <a:extLst>
              <a:ext uri="{FF2B5EF4-FFF2-40B4-BE49-F238E27FC236}">
                <a16:creationId xmlns:a16="http://schemas.microsoft.com/office/drawing/2014/main" id="{DE4AF12D-72F3-4521-8301-7B46E1920C15}"/>
              </a:ext>
            </a:extLst>
          </p:cNvPr>
          <p:cNvPicPr>
            <a:picLocks noChangeAspect="1"/>
          </p:cNvPicPr>
          <p:nvPr/>
        </p:nvPicPr>
        <p:blipFill>
          <a:blip r:embed="rId4"/>
          <a:stretch>
            <a:fillRect/>
          </a:stretch>
        </p:blipFill>
        <p:spPr>
          <a:xfrm>
            <a:off x="813747" y="3237069"/>
            <a:ext cx="3246259" cy="2295524"/>
          </a:xfrm>
          <a:prstGeom prst="rect">
            <a:avLst/>
          </a:prstGeom>
        </p:spPr>
      </p:pic>
      <p:pic>
        <p:nvPicPr>
          <p:cNvPr id="17" name="Picture 16">
            <a:extLst>
              <a:ext uri="{FF2B5EF4-FFF2-40B4-BE49-F238E27FC236}">
                <a16:creationId xmlns:a16="http://schemas.microsoft.com/office/drawing/2014/main" id="{15636E54-224D-47D8-A2F1-F48C6668368D}"/>
              </a:ext>
            </a:extLst>
          </p:cNvPr>
          <p:cNvPicPr>
            <a:picLocks noChangeAspect="1"/>
          </p:cNvPicPr>
          <p:nvPr/>
        </p:nvPicPr>
        <p:blipFill>
          <a:blip r:embed="rId5"/>
          <a:stretch>
            <a:fillRect/>
          </a:stretch>
        </p:blipFill>
        <p:spPr>
          <a:xfrm>
            <a:off x="1116908" y="5669279"/>
            <a:ext cx="2997892" cy="970597"/>
          </a:xfrm>
          <a:prstGeom prst="rect">
            <a:avLst/>
          </a:prstGeom>
        </p:spPr>
      </p:pic>
      <p:pic>
        <p:nvPicPr>
          <p:cNvPr id="18" name="Picture 17">
            <a:extLst>
              <a:ext uri="{FF2B5EF4-FFF2-40B4-BE49-F238E27FC236}">
                <a16:creationId xmlns:a16="http://schemas.microsoft.com/office/drawing/2014/main" id="{927B87B7-10A0-426F-B1E3-12520DD890D9}"/>
              </a:ext>
            </a:extLst>
          </p:cNvPr>
          <p:cNvPicPr>
            <a:picLocks noChangeAspect="1"/>
          </p:cNvPicPr>
          <p:nvPr/>
        </p:nvPicPr>
        <p:blipFill>
          <a:blip r:embed="rId6"/>
          <a:stretch>
            <a:fillRect/>
          </a:stretch>
        </p:blipFill>
        <p:spPr>
          <a:xfrm>
            <a:off x="4839652" y="1475079"/>
            <a:ext cx="5572602" cy="2409506"/>
          </a:xfrm>
          <a:prstGeom prst="rect">
            <a:avLst/>
          </a:prstGeom>
        </p:spPr>
      </p:pic>
      <p:pic>
        <p:nvPicPr>
          <p:cNvPr id="19" name="Picture 18">
            <a:extLst>
              <a:ext uri="{FF2B5EF4-FFF2-40B4-BE49-F238E27FC236}">
                <a16:creationId xmlns:a16="http://schemas.microsoft.com/office/drawing/2014/main" id="{7B8A0275-BA2B-4C12-AD91-219F5DF6FBD9}"/>
              </a:ext>
            </a:extLst>
          </p:cNvPr>
          <p:cNvPicPr>
            <a:picLocks noChangeAspect="1"/>
          </p:cNvPicPr>
          <p:nvPr/>
        </p:nvPicPr>
        <p:blipFill>
          <a:blip r:embed="rId7"/>
          <a:stretch>
            <a:fillRect/>
          </a:stretch>
        </p:blipFill>
        <p:spPr>
          <a:xfrm>
            <a:off x="5875972" y="4022710"/>
            <a:ext cx="3956349" cy="2131867"/>
          </a:xfrm>
          <a:prstGeom prst="rect">
            <a:avLst/>
          </a:prstGeom>
        </p:spPr>
      </p:pic>
    </p:spTree>
    <p:extLst>
      <p:ext uri="{BB962C8B-B14F-4D97-AF65-F5344CB8AC3E}">
        <p14:creationId xmlns:p14="http://schemas.microsoft.com/office/powerpoint/2010/main" val="247233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91D3-D15D-4724-92A7-41BDC0C4FA6A}"/>
              </a:ext>
            </a:extLst>
          </p:cNvPr>
          <p:cNvSpPr>
            <a:spLocks noGrp="1"/>
          </p:cNvSpPr>
          <p:nvPr>
            <p:ph type="title"/>
          </p:nvPr>
        </p:nvSpPr>
        <p:spPr>
          <a:xfrm>
            <a:off x="1219200" y="152718"/>
            <a:ext cx="10972800" cy="1143000"/>
          </a:xfrm>
        </p:spPr>
        <p:txBody>
          <a:bodyPr>
            <a:normAutofit/>
          </a:bodyPr>
          <a:lstStyle/>
          <a:p>
            <a:r>
              <a:rPr lang="en-US" dirty="0" smtClean="0"/>
              <a:t>3-phase Utilization : External WPT Windings</a:t>
            </a:r>
            <a:endParaRPr lang="en-US" dirty="0"/>
          </a:p>
        </p:txBody>
      </p:sp>
      <p:pic>
        <p:nvPicPr>
          <p:cNvPr id="9" name="Picture 8">
            <a:extLst>
              <a:ext uri="{FF2B5EF4-FFF2-40B4-BE49-F238E27FC236}">
                <a16:creationId xmlns:a16="http://schemas.microsoft.com/office/drawing/2014/main" id="{33A8F5A9-EDA7-40CC-A30F-394EB7FB8B29}"/>
              </a:ext>
            </a:extLst>
          </p:cNvPr>
          <p:cNvPicPr>
            <a:picLocks noChangeAspect="1"/>
          </p:cNvPicPr>
          <p:nvPr/>
        </p:nvPicPr>
        <p:blipFill rotWithShape="1">
          <a:blip r:embed="rId2"/>
          <a:srcRect t="35226"/>
          <a:stretch/>
        </p:blipFill>
        <p:spPr>
          <a:xfrm>
            <a:off x="164718" y="1901818"/>
            <a:ext cx="3780810" cy="3223668"/>
          </a:xfrm>
          <a:prstGeom prst="rect">
            <a:avLst/>
          </a:prstGeom>
        </p:spPr>
      </p:pic>
      <p:pic>
        <p:nvPicPr>
          <p:cNvPr id="10" name="Picture 9">
            <a:extLst>
              <a:ext uri="{FF2B5EF4-FFF2-40B4-BE49-F238E27FC236}">
                <a16:creationId xmlns:a16="http://schemas.microsoft.com/office/drawing/2014/main" id="{D861EF1C-FC07-4F4D-AD05-ADD6BD8284BC}"/>
              </a:ext>
            </a:extLst>
          </p:cNvPr>
          <p:cNvPicPr/>
          <p:nvPr/>
        </p:nvPicPr>
        <p:blipFill>
          <a:blip r:embed="rId3"/>
          <a:stretch>
            <a:fillRect/>
          </a:stretch>
        </p:blipFill>
        <p:spPr>
          <a:xfrm>
            <a:off x="3924300" y="2397931"/>
            <a:ext cx="5731510" cy="1574165"/>
          </a:xfrm>
          <a:prstGeom prst="rect">
            <a:avLst/>
          </a:prstGeom>
        </p:spPr>
      </p:pic>
      <p:sp>
        <p:nvSpPr>
          <p:cNvPr id="11" name="Rectangle 10">
            <a:extLst>
              <a:ext uri="{FF2B5EF4-FFF2-40B4-BE49-F238E27FC236}">
                <a16:creationId xmlns:a16="http://schemas.microsoft.com/office/drawing/2014/main" id="{5A3108BC-EC60-41B7-9DE7-25CD3F59FA91}"/>
              </a:ext>
            </a:extLst>
          </p:cNvPr>
          <p:cNvSpPr/>
          <p:nvPr/>
        </p:nvSpPr>
        <p:spPr>
          <a:xfrm>
            <a:off x="6287561" y="2680989"/>
            <a:ext cx="2698124" cy="560231"/>
          </a:xfrm>
          <a:prstGeom prst="rect">
            <a:avLst/>
          </a:prstGeom>
          <a:noFill/>
          <a:ln w="1905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Times New Roman" panose="02020603050405020304" pitchFamily="18" charset="0"/>
              <a:cs typeface="Times New Roman" panose="02020603050405020304" pitchFamily="18" charset="0"/>
            </a:endParaRPr>
          </a:p>
        </p:txBody>
      </p:sp>
      <p:sp>
        <p:nvSpPr>
          <p:cNvPr id="12" name="Rectangle 11">
            <a:extLst>
              <a:ext uri="{FF2B5EF4-FFF2-40B4-BE49-F238E27FC236}">
                <a16:creationId xmlns:a16="http://schemas.microsoft.com/office/drawing/2014/main" id="{A5454CE5-FC21-4362-8C38-524C0EFA2397}"/>
              </a:ext>
            </a:extLst>
          </p:cNvPr>
          <p:cNvSpPr/>
          <p:nvPr/>
        </p:nvSpPr>
        <p:spPr>
          <a:xfrm>
            <a:off x="4268373" y="3185013"/>
            <a:ext cx="4833221" cy="560231"/>
          </a:xfrm>
          <a:prstGeom prst="rect">
            <a:avLst/>
          </a:prstGeom>
          <a:noFill/>
          <a:ln w="1905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8AA4BF69-5419-4F25-88D1-832DA3C6D472}"/>
              </a:ext>
            </a:extLst>
          </p:cNvPr>
          <p:cNvSpPr/>
          <p:nvPr/>
        </p:nvSpPr>
        <p:spPr>
          <a:xfrm>
            <a:off x="5192856" y="2680989"/>
            <a:ext cx="978795" cy="504024"/>
          </a:xfrm>
          <a:prstGeom prst="rect">
            <a:avLst/>
          </a:prstGeom>
          <a:noFill/>
          <a:ln w="19050">
            <a:solidFill>
              <a:srgbClr val="92D05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41EC99C5-6233-4445-81E8-85D2247B25DD}"/>
              </a:ext>
            </a:extLst>
          </p:cNvPr>
          <p:cNvCxnSpPr>
            <a:cxnSpLocks/>
          </p:cNvCxnSpPr>
          <p:nvPr/>
        </p:nvCxnSpPr>
        <p:spPr>
          <a:xfrm flipV="1">
            <a:off x="5746648" y="2024167"/>
            <a:ext cx="0" cy="598869"/>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489FAB4-9E9B-4F98-8727-CD4EA1858346}"/>
              </a:ext>
            </a:extLst>
          </p:cNvPr>
          <p:cNvCxnSpPr/>
          <p:nvPr/>
        </p:nvCxnSpPr>
        <p:spPr>
          <a:xfrm flipV="1">
            <a:off x="7781510" y="1901818"/>
            <a:ext cx="0" cy="72121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BE7E0211-5B96-4CB1-B7D0-A19736BBF3BF}"/>
              </a:ext>
            </a:extLst>
          </p:cNvPr>
          <p:cNvCxnSpPr/>
          <p:nvPr/>
        </p:nvCxnSpPr>
        <p:spPr>
          <a:xfrm>
            <a:off x="6635291" y="3817550"/>
            <a:ext cx="0" cy="5698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12D69BA-DCCB-4D4B-A3CC-56E4B778A8F0}"/>
              </a:ext>
            </a:extLst>
          </p:cNvPr>
          <p:cNvSpPr txBox="1"/>
          <p:nvPr/>
        </p:nvSpPr>
        <p:spPr>
          <a:xfrm>
            <a:off x="6171651" y="4393826"/>
            <a:ext cx="2215166"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Side Band harmonics</a:t>
            </a:r>
          </a:p>
        </p:txBody>
      </p:sp>
      <p:sp>
        <p:nvSpPr>
          <p:cNvPr id="18" name="TextBox 17">
            <a:extLst>
              <a:ext uri="{FF2B5EF4-FFF2-40B4-BE49-F238E27FC236}">
                <a16:creationId xmlns:a16="http://schemas.microsoft.com/office/drawing/2014/main" id="{D1CBEC4E-B32C-4B6C-BF5D-3ACAC6135FF0}"/>
              </a:ext>
            </a:extLst>
          </p:cNvPr>
          <p:cNvSpPr txBox="1"/>
          <p:nvPr/>
        </p:nvSpPr>
        <p:spPr>
          <a:xfrm>
            <a:off x="5395911" y="1526349"/>
            <a:ext cx="1239369"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Fundamental </a:t>
            </a:r>
          </a:p>
          <a:p>
            <a:r>
              <a:rPr lang="en-US" sz="1200" dirty="0">
                <a:latin typeface="Times New Roman" panose="02020603050405020304" pitchFamily="18" charset="0"/>
                <a:cs typeface="Times New Roman" panose="02020603050405020304" pitchFamily="18" charset="0"/>
              </a:rPr>
              <a:t>Component</a:t>
            </a:r>
          </a:p>
        </p:txBody>
      </p:sp>
      <p:sp>
        <p:nvSpPr>
          <p:cNvPr id="19" name="TextBox 18">
            <a:extLst>
              <a:ext uri="{FF2B5EF4-FFF2-40B4-BE49-F238E27FC236}">
                <a16:creationId xmlns:a16="http://schemas.microsoft.com/office/drawing/2014/main" id="{73691F5D-5F6A-4F8D-892E-8A0B59CE6AAA}"/>
              </a:ext>
            </a:extLst>
          </p:cNvPr>
          <p:cNvSpPr txBox="1"/>
          <p:nvPr/>
        </p:nvSpPr>
        <p:spPr>
          <a:xfrm>
            <a:off x="7420902" y="1494569"/>
            <a:ext cx="1239369" cy="461665"/>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Switching </a:t>
            </a:r>
          </a:p>
          <a:p>
            <a:r>
              <a:rPr lang="en-US" sz="1200" dirty="0">
                <a:latin typeface="Times New Roman" panose="02020603050405020304" pitchFamily="18" charset="0"/>
                <a:cs typeface="Times New Roman" panose="02020603050405020304" pitchFamily="18" charset="0"/>
              </a:rPr>
              <a:t>Harmonics</a:t>
            </a:r>
          </a:p>
        </p:txBody>
      </p:sp>
      <p:cxnSp>
        <p:nvCxnSpPr>
          <p:cNvPr id="20" name="Straight Arrow Connector 19">
            <a:extLst>
              <a:ext uri="{FF2B5EF4-FFF2-40B4-BE49-F238E27FC236}">
                <a16:creationId xmlns:a16="http://schemas.microsoft.com/office/drawing/2014/main" id="{80537209-9112-4E21-932F-ACEA6599AE58}"/>
              </a:ext>
            </a:extLst>
          </p:cNvPr>
          <p:cNvCxnSpPr>
            <a:cxnSpLocks/>
          </p:cNvCxnSpPr>
          <p:nvPr/>
        </p:nvCxnSpPr>
        <p:spPr>
          <a:xfrm flipH="1">
            <a:off x="5673310" y="3598555"/>
            <a:ext cx="8945" cy="114278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A73BE59F-68E0-4C78-86A7-D482F93E9E98}"/>
                  </a:ext>
                </a:extLst>
              </p:cNvPr>
              <p:cNvSpPr txBox="1"/>
              <p:nvPr/>
            </p:nvSpPr>
            <p:spPr>
              <a:xfrm>
                <a:off x="4812505" y="4728877"/>
                <a:ext cx="2138318" cy="280333"/>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Bessel function (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𝑛</m:t>
                        </m:r>
                      </m:e>
                      <m:sup>
                        <m:r>
                          <a:rPr lang="en-US" sz="1200" b="0" i="1" smtClean="0">
                            <a:latin typeface="Cambria Math" panose="02040503050406030204" pitchFamily="18" charset="0"/>
                          </a:rPr>
                          <m:t>𝑡h</m:t>
                        </m:r>
                      </m:sup>
                    </m:sSup>
                    <m:r>
                      <a:rPr lang="en-US" sz="1200" b="0" i="1" smtClean="0">
                        <a:latin typeface="Cambria Math" panose="02040503050406030204" pitchFamily="18" charset="0"/>
                      </a:rPr>
                      <m:t> </m:t>
                    </m:r>
                  </m:oMath>
                </a14:m>
                <a:r>
                  <a:rPr lang="en-US" sz="1200" dirty="0">
                    <a:latin typeface="Times New Roman" panose="02020603050405020304" pitchFamily="18" charset="0"/>
                    <a:cs typeface="Times New Roman" panose="02020603050405020304" pitchFamily="18" charset="0"/>
                  </a:rPr>
                  <a:t> order)</a:t>
                </a:r>
              </a:p>
            </p:txBody>
          </p:sp>
        </mc:Choice>
        <mc:Fallback xmlns="">
          <p:sp>
            <p:nvSpPr>
              <p:cNvPr id="21" name="TextBox 20">
                <a:extLst>
                  <a:ext uri="{FF2B5EF4-FFF2-40B4-BE49-F238E27FC236}">
                    <a16:creationId xmlns:a16="http://schemas.microsoft.com/office/drawing/2014/main" id="{A73BE59F-68E0-4C78-86A7-D482F93E9E98}"/>
                  </a:ext>
                </a:extLst>
              </p:cNvPr>
              <p:cNvSpPr txBox="1">
                <a:spLocks noRot="1" noChangeAspect="1" noMove="1" noResize="1" noEditPoints="1" noAdjustHandles="1" noChangeArrowheads="1" noChangeShapeType="1" noTextEdit="1"/>
              </p:cNvSpPr>
              <p:nvPr/>
            </p:nvSpPr>
            <p:spPr>
              <a:xfrm>
                <a:off x="4812505" y="4728877"/>
                <a:ext cx="2138318" cy="280333"/>
              </a:xfrm>
              <a:prstGeom prst="rect">
                <a:avLst/>
              </a:prstGeom>
              <a:blipFill>
                <a:blip r:embed="rId4"/>
                <a:stretch>
                  <a:fillRect b="-1739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0B4F7D59-DB01-426A-9411-F7D88A1CF9BD}"/>
                  </a:ext>
                </a:extLst>
              </p:cNvPr>
              <p:cNvSpPr txBox="1"/>
              <p:nvPr/>
            </p:nvSpPr>
            <p:spPr>
              <a:xfrm>
                <a:off x="6165212" y="1159247"/>
                <a:ext cx="2138318" cy="276999"/>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Bessel function ( </a:t>
                </a:r>
                <a14:m>
                  <m:oMath xmlns:m="http://schemas.openxmlformats.org/officeDocument/2006/math">
                    <m:r>
                      <a:rPr lang="en-US" sz="1200" b="0" i="1" smtClean="0">
                        <a:latin typeface="Cambria Math" panose="02040503050406030204" pitchFamily="18" charset="0"/>
                      </a:rPr>
                      <m:t>0 </m:t>
                    </m:r>
                  </m:oMath>
                </a14:m>
                <a:r>
                  <a:rPr lang="en-US" sz="1200" dirty="0">
                    <a:latin typeface="Times New Roman" panose="02020603050405020304" pitchFamily="18" charset="0"/>
                    <a:cs typeface="Times New Roman" panose="02020603050405020304" pitchFamily="18" charset="0"/>
                  </a:rPr>
                  <a:t> order)</a:t>
                </a:r>
              </a:p>
            </p:txBody>
          </p:sp>
        </mc:Choice>
        <mc:Fallback xmlns="">
          <p:sp>
            <p:nvSpPr>
              <p:cNvPr id="22" name="TextBox 21">
                <a:extLst>
                  <a:ext uri="{FF2B5EF4-FFF2-40B4-BE49-F238E27FC236}">
                    <a16:creationId xmlns:a16="http://schemas.microsoft.com/office/drawing/2014/main" id="{0B4F7D59-DB01-426A-9411-F7D88A1CF9BD}"/>
                  </a:ext>
                </a:extLst>
              </p:cNvPr>
              <p:cNvSpPr txBox="1">
                <a:spLocks noRot="1" noChangeAspect="1" noMove="1" noResize="1" noEditPoints="1" noAdjustHandles="1" noChangeArrowheads="1" noChangeShapeType="1" noTextEdit="1"/>
              </p:cNvSpPr>
              <p:nvPr/>
            </p:nvSpPr>
            <p:spPr>
              <a:xfrm>
                <a:off x="6165212" y="1159247"/>
                <a:ext cx="2138318" cy="276999"/>
              </a:xfrm>
              <a:prstGeom prst="rect">
                <a:avLst/>
              </a:prstGeom>
              <a:blipFill>
                <a:blip r:embed="rId5"/>
                <a:stretch>
                  <a:fillRect b="-15217"/>
                </a:stretch>
              </a:blipFill>
            </p:spPr>
            <p:txBody>
              <a:bodyPr/>
              <a:lstStyle/>
              <a:p>
                <a:r>
                  <a:rPr lang="sv-SE">
                    <a:noFill/>
                  </a:rPr>
                  <a:t> </a:t>
                </a:r>
              </a:p>
            </p:txBody>
          </p:sp>
        </mc:Fallback>
      </mc:AlternateContent>
      <p:cxnSp>
        <p:nvCxnSpPr>
          <p:cNvPr id="23" name="Straight Arrow Connector 22">
            <a:extLst>
              <a:ext uri="{FF2B5EF4-FFF2-40B4-BE49-F238E27FC236}">
                <a16:creationId xmlns:a16="http://schemas.microsoft.com/office/drawing/2014/main" id="{2C5C3BD8-591A-4A60-8BB8-A042AD860C1D}"/>
              </a:ext>
            </a:extLst>
          </p:cNvPr>
          <p:cNvCxnSpPr/>
          <p:nvPr/>
        </p:nvCxnSpPr>
        <p:spPr>
          <a:xfrm flipV="1">
            <a:off x="6950823" y="1405468"/>
            <a:ext cx="0" cy="142362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12DB45B5-B7AB-4525-82BE-549C98A5F62A}"/>
              </a:ext>
            </a:extLst>
          </p:cNvPr>
          <p:cNvSpPr txBox="1"/>
          <p:nvPr/>
        </p:nvSpPr>
        <p:spPr>
          <a:xfrm>
            <a:off x="4896421" y="5163071"/>
            <a:ext cx="7527700" cy="1446550"/>
          </a:xfrm>
          <a:prstGeom prst="rect">
            <a:avLst/>
          </a:prstGeom>
          <a:noFill/>
        </p:spPr>
        <p:txBody>
          <a:bodyPr wrap="square" rtlCol="0">
            <a:spAutoFit/>
          </a:bodyPr>
          <a:lstStyle/>
          <a:p>
            <a:r>
              <a:rPr lang="en-US" sz="1400" dirty="0">
                <a:latin typeface="Times New Roman" panose="02020603050405020304" pitchFamily="18" charset="0"/>
                <a:cs typeface="Times New Roman" panose="02020603050405020304" pitchFamily="18" charset="0"/>
              </a:rPr>
              <a:t>Deductions</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Fundamental component is independent from carrier(switching) frequency and </a:t>
            </a:r>
            <a:r>
              <a:rPr lang="en-US" sz="1400" dirty="0" smtClean="0">
                <a:latin typeface="Times New Roman" panose="02020603050405020304" pitchFamily="18" charset="0"/>
                <a:cs typeface="Times New Roman" panose="02020603050405020304" pitchFamily="18" charset="0"/>
              </a:rPr>
              <a:t>phase.</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There is no even harmonics of the switching and the sign of the odd harmonics is alternated.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switching harmonics are independent from fundamental frequency and phase. </a:t>
            </a:r>
          </a:p>
          <a:p>
            <a:pPr marL="285750" indent="-285750">
              <a:buFont typeface="Arial" panose="020B0604020202020204" pitchFamily="34" charset="0"/>
              <a:buChar char="•"/>
            </a:pPr>
            <a:r>
              <a:rPr lang="en-US" sz="1400" dirty="0">
                <a:latin typeface="Times New Roman" panose="02020603050405020304" pitchFamily="18" charset="0"/>
                <a:cs typeface="Times New Roman" panose="02020603050405020304" pitchFamily="18" charset="0"/>
              </a:rPr>
              <a:t>The side band harmonics are affected by all fundamental and carrier frequency and phases. </a:t>
            </a:r>
          </a:p>
          <a:p>
            <a:endParaRPr lang="en-US" dirty="0"/>
          </a:p>
        </p:txBody>
      </p:sp>
      <mc:AlternateContent xmlns:mc="http://schemas.openxmlformats.org/markup-compatibility/2006" xmlns:a14="http://schemas.microsoft.com/office/drawing/2010/main">
        <mc:Choice Requires="a14">
          <p:sp>
            <p:nvSpPr>
              <p:cNvPr id="25" name="Rectangle 24">
                <a:extLst>
                  <a:ext uri="{FF2B5EF4-FFF2-40B4-BE49-F238E27FC236}">
                    <a16:creationId xmlns:a16="http://schemas.microsoft.com/office/drawing/2014/main" id="{93A09D5B-9596-41F4-983A-AFB3D4226460}"/>
                  </a:ext>
                </a:extLst>
              </p:cNvPr>
              <p:cNvSpPr/>
              <p:nvPr/>
            </p:nvSpPr>
            <p:spPr>
              <a:xfrm>
                <a:off x="9347669" y="2160650"/>
                <a:ext cx="2780448" cy="2308324"/>
              </a:xfrm>
              <a:prstGeom prst="rect">
                <a:avLst/>
              </a:prstGeom>
            </p:spPr>
            <p:txBody>
              <a:bodyPr wrap="square">
                <a:spAutoFit/>
              </a:bodyPr>
              <a:lstStyle/>
              <a:p>
                <a:r>
                  <a:rPr lang="tr-TR" sz="1600" dirty="0">
                    <a:latin typeface="Times New Roman" panose="02020603050405020304" pitchFamily="18" charset="0"/>
                    <a:cs typeface="Times New Roman" panose="02020603050405020304" pitchFamily="18" charset="0"/>
                  </a:rPr>
                  <a:t>Parameters: </a:t>
                </a:r>
              </a:p>
              <a:p>
                <a:endParaRPr lang="tr-TR" sz="1600" dirty="0">
                  <a:latin typeface="Times New Roman" panose="02020603050405020304" pitchFamily="18" charset="0"/>
                  <a:cs typeface="Times New Roman" panose="02020603050405020304" pitchFamily="18" charset="0"/>
                </a:endParaRPr>
              </a:p>
              <a:p>
                <a14:m>
                  <m:oMath xmlns:m="http://schemas.openxmlformats.org/officeDocument/2006/math">
                    <m:r>
                      <a:rPr lang="en-US" sz="1600" i="1" dirty="0" smtClean="0">
                        <a:solidFill>
                          <a:srgbClr val="000000"/>
                        </a:solidFill>
                        <a:latin typeface="Cambria Math" panose="02040503050406030204" pitchFamily="18" charset="0"/>
                      </a:rPr>
                      <m:t>𝑀</m:t>
                    </m:r>
                  </m:oMath>
                </a14:m>
                <a:r>
                  <a:rPr lang="en-US" sz="1600" dirty="0">
                    <a:solidFill>
                      <a:srgbClr val="000000"/>
                    </a:solidFill>
                    <a:latin typeface="Times New Roman" panose="02020603050405020304" pitchFamily="18" charset="0"/>
                    <a:cs typeface="Times New Roman" panose="02020603050405020304" pitchFamily="18" charset="0"/>
                  </a:rPr>
                  <a:t> =&gt; </a:t>
                </a:r>
                <a:r>
                  <a:rPr lang="en-US" sz="1600" dirty="0">
                    <a:solidFill>
                      <a:srgbClr val="228B22"/>
                    </a:solidFill>
                    <a:latin typeface="Times New Roman" panose="02020603050405020304" pitchFamily="18" charset="0"/>
                    <a:cs typeface="Times New Roman" panose="02020603050405020304" pitchFamily="18" charset="0"/>
                  </a:rPr>
                  <a:t>modulation index</a:t>
                </a:r>
              </a:p>
              <a:p>
                <a14:m>
                  <m:oMath xmlns:m="http://schemas.openxmlformats.org/officeDocument/2006/math">
                    <m:sSub>
                      <m:sSubPr>
                        <m:ctrlPr>
                          <a:rPr lang="en-US" sz="1600" b="0" i="1" smtClean="0">
                            <a:solidFill>
                              <a:srgbClr val="000000"/>
                            </a:solidFill>
                            <a:latin typeface="Cambria Math" panose="02040503050406030204" pitchFamily="18" charset="0"/>
                          </a:rPr>
                        </m:ctrlPr>
                      </m:sSubPr>
                      <m:e>
                        <m:r>
                          <a:rPr lang="en-US" sz="1600" b="0" i="1" smtClean="0">
                            <a:solidFill>
                              <a:srgbClr val="000000"/>
                            </a:solidFill>
                            <a:latin typeface="Cambria Math" panose="02040503050406030204" pitchFamily="18" charset="0"/>
                          </a:rPr>
                          <m:t>𝜔</m:t>
                        </m:r>
                      </m:e>
                      <m:sub>
                        <m:r>
                          <a:rPr lang="en-US" sz="1600" b="0" i="1" smtClean="0">
                            <a:solidFill>
                              <a:srgbClr val="000000"/>
                            </a:solidFill>
                            <a:latin typeface="Cambria Math" panose="02040503050406030204" pitchFamily="18" charset="0"/>
                          </a:rPr>
                          <m:t>𝑜</m:t>
                        </m:r>
                      </m:sub>
                    </m:sSub>
                  </m:oMath>
                </a14:m>
                <a:r>
                  <a:rPr lang="en-US" sz="1600" dirty="0">
                    <a:solidFill>
                      <a:srgbClr val="000000"/>
                    </a:solidFill>
                    <a:latin typeface="Times New Roman" panose="02020603050405020304" pitchFamily="18" charset="0"/>
                    <a:cs typeface="Times New Roman" panose="02020603050405020304" pitchFamily="18" charset="0"/>
                  </a:rPr>
                  <a:t>=&gt;</a:t>
                </a:r>
                <a:r>
                  <a:rPr lang="en-US" sz="1600" dirty="0">
                    <a:solidFill>
                      <a:srgbClr val="228B22"/>
                    </a:solidFill>
                    <a:latin typeface="Times New Roman" panose="02020603050405020304" pitchFamily="18" charset="0"/>
                    <a:cs typeface="Times New Roman" panose="02020603050405020304" pitchFamily="18" charset="0"/>
                  </a:rPr>
                  <a:t> output(fundamental) frequency</a:t>
                </a:r>
              </a:p>
              <a:p>
                <a14:m>
                  <m:oMath xmlns:m="http://schemas.openxmlformats.org/officeDocument/2006/math">
                    <m:sSub>
                      <m:sSubPr>
                        <m:ctrlPr>
                          <a:rPr lang="en-US" sz="1600" i="1">
                            <a:solidFill>
                              <a:srgbClr val="000000"/>
                            </a:solidFill>
                            <a:latin typeface="Cambria Math" panose="02040503050406030204" pitchFamily="18" charset="0"/>
                          </a:rPr>
                        </m:ctrlPr>
                      </m:sSubPr>
                      <m:e>
                        <m:r>
                          <a:rPr lang="en-US" sz="1600" i="1">
                            <a:solidFill>
                              <a:srgbClr val="000000"/>
                            </a:solidFill>
                            <a:latin typeface="Cambria Math" panose="02040503050406030204" pitchFamily="18" charset="0"/>
                          </a:rPr>
                          <m:t>𝜔</m:t>
                        </m:r>
                      </m:e>
                      <m:sub>
                        <m:r>
                          <a:rPr lang="en-US" sz="1600" b="0" i="1" smtClean="0">
                            <a:solidFill>
                              <a:srgbClr val="000000"/>
                            </a:solidFill>
                            <a:latin typeface="Cambria Math" panose="02040503050406030204" pitchFamily="18" charset="0"/>
                          </a:rPr>
                          <m:t>𝑐</m:t>
                        </m:r>
                      </m:sub>
                    </m:sSub>
                    <m:r>
                      <a:rPr lang="en-US" sz="1600" i="1">
                        <a:solidFill>
                          <a:srgbClr val="000000"/>
                        </a:solidFill>
                        <a:latin typeface="Cambria Math" panose="02040503050406030204" pitchFamily="18" charset="0"/>
                      </a:rPr>
                      <m:t> </m:t>
                    </m:r>
                  </m:oMath>
                </a14:m>
                <a:r>
                  <a:rPr lang="en-US" sz="1600" dirty="0">
                    <a:solidFill>
                      <a:srgbClr val="000000"/>
                    </a:solidFill>
                    <a:latin typeface="Times New Roman" panose="02020603050405020304" pitchFamily="18" charset="0"/>
                    <a:cs typeface="Times New Roman" panose="02020603050405020304" pitchFamily="18" charset="0"/>
                  </a:rPr>
                  <a:t>=&gt; </a:t>
                </a:r>
                <a:r>
                  <a:rPr lang="en-US" sz="1600" dirty="0">
                    <a:solidFill>
                      <a:srgbClr val="228B22"/>
                    </a:solidFill>
                    <a:latin typeface="Times New Roman" panose="02020603050405020304" pitchFamily="18" charset="0"/>
                    <a:cs typeface="Times New Roman" panose="02020603050405020304" pitchFamily="18" charset="0"/>
                  </a:rPr>
                  <a:t>carrier(switching) frequency </a:t>
                </a:r>
              </a:p>
              <a:p>
                <a14:m>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oMath>
                </a14:m>
                <a:r>
                  <a:rPr lang="en-US" sz="1600" dirty="0">
                    <a:solidFill>
                      <a:srgbClr val="000000"/>
                    </a:solidFill>
                    <a:latin typeface="Times New Roman" panose="02020603050405020304" pitchFamily="18" charset="0"/>
                    <a:cs typeface="Times New Roman" panose="02020603050405020304" pitchFamily="18" charset="0"/>
                  </a:rPr>
                  <a:t> =&gt;</a:t>
                </a:r>
                <a:r>
                  <a:rPr lang="en-US" sz="1600" dirty="0">
                    <a:solidFill>
                      <a:srgbClr val="228B22"/>
                    </a:solidFill>
                    <a:latin typeface="Times New Roman" panose="02020603050405020304" pitchFamily="18" charset="0"/>
                    <a:cs typeface="Times New Roman" panose="02020603050405020304" pitchFamily="18" charset="0"/>
                  </a:rPr>
                  <a:t> output phase</a:t>
                </a:r>
              </a:p>
              <a:p>
                <a14:m>
                  <m:oMath xmlns:m="http://schemas.openxmlformats.org/officeDocument/2006/math">
                    <m:sSub>
                      <m:sSubPr>
                        <m:ctrlPr>
                          <a:rPr lang="en-US" sz="1600" i="1" dirty="0">
                            <a:solidFill>
                              <a:srgbClr val="000000"/>
                            </a:solidFill>
                            <a:latin typeface="Cambria Math" panose="02040503050406030204" pitchFamily="18" charset="0"/>
                          </a:rPr>
                        </m:ctrlPr>
                      </m:sSubPr>
                      <m:e>
                        <m:r>
                          <a:rPr lang="en-US" sz="1600" i="1" dirty="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𝑐</m:t>
                        </m:r>
                      </m:sub>
                    </m:sSub>
                  </m:oMath>
                </a14:m>
                <a:r>
                  <a:rPr lang="en-US" sz="1600" dirty="0">
                    <a:solidFill>
                      <a:srgbClr val="000000"/>
                    </a:solidFill>
                    <a:latin typeface="Times New Roman" panose="02020603050405020304" pitchFamily="18" charset="0"/>
                    <a:cs typeface="Times New Roman" panose="02020603050405020304" pitchFamily="18" charset="0"/>
                  </a:rPr>
                  <a:t> =&gt;</a:t>
                </a:r>
                <a:r>
                  <a:rPr lang="en-US" sz="1600" dirty="0">
                    <a:solidFill>
                      <a:srgbClr val="228B22"/>
                    </a:solidFill>
                    <a:latin typeface="Times New Roman" panose="02020603050405020304" pitchFamily="18" charset="0"/>
                    <a:cs typeface="Times New Roman" panose="02020603050405020304" pitchFamily="18" charset="0"/>
                  </a:rPr>
                  <a:t> carrier phase</a:t>
                </a:r>
              </a:p>
            </p:txBody>
          </p:sp>
        </mc:Choice>
        <mc:Fallback xmlns="">
          <p:sp>
            <p:nvSpPr>
              <p:cNvPr id="25" name="Rectangle 24">
                <a:extLst>
                  <a:ext uri="{FF2B5EF4-FFF2-40B4-BE49-F238E27FC236}">
                    <a16:creationId xmlns:a16="http://schemas.microsoft.com/office/drawing/2014/main" id="{93A09D5B-9596-41F4-983A-AFB3D4226460}"/>
                  </a:ext>
                </a:extLst>
              </p:cNvPr>
              <p:cNvSpPr>
                <a:spLocks noRot="1" noChangeAspect="1" noMove="1" noResize="1" noEditPoints="1" noAdjustHandles="1" noChangeArrowheads="1" noChangeShapeType="1" noTextEdit="1"/>
              </p:cNvSpPr>
              <p:nvPr/>
            </p:nvSpPr>
            <p:spPr>
              <a:xfrm>
                <a:off x="9347669" y="2160650"/>
                <a:ext cx="2780448" cy="2308324"/>
              </a:xfrm>
              <a:prstGeom prst="rect">
                <a:avLst/>
              </a:prstGeom>
              <a:blipFill>
                <a:blip r:embed="rId6"/>
                <a:stretch>
                  <a:fillRect l="-1094" t="-792" b="-2375"/>
                </a:stretch>
              </a:blipFill>
            </p:spPr>
            <p:txBody>
              <a:bodyPr/>
              <a:lstStyle/>
              <a:p>
                <a:r>
                  <a:rPr lang="sv-SE">
                    <a:noFill/>
                  </a:rPr>
                  <a:t> </a:t>
                </a:r>
              </a:p>
            </p:txBody>
          </p:sp>
        </mc:Fallback>
      </mc:AlternateContent>
      <p:sp>
        <p:nvSpPr>
          <p:cNvPr id="42" name="Title 1"/>
          <p:cNvSpPr txBox="1">
            <a:spLocks/>
          </p:cNvSpPr>
          <p:nvPr/>
        </p:nvSpPr>
        <p:spPr>
          <a:xfrm>
            <a:off x="5395911" y="756401"/>
            <a:ext cx="3674359"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r>
              <a:rPr lang="en-US" sz="2000" dirty="0" smtClean="0">
                <a:latin typeface="Times New Roman" panose="02020603050405020304" pitchFamily="18" charset="0"/>
                <a:cs typeface="Times New Roman" panose="02020603050405020304" pitchFamily="18" charset="0"/>
              </a:rPr>
              <a:t>Switching Harmonics</a:t>
            </a:r>
            <a:endParaRPr lang="sv-S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28252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Stator Winding Utilization : Basic EESM- 2 Pole  </a:t>
            </a:r>
            <a:endParaRPr lang="sv-SE"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4123676970"/>
              </p:ext>
            </p:extLst>
          </p:nvPr>
        </p:nvGraphicFramePr>
        <p:xfrm>
          <a:off x="1789001" y="2686863"/>
          <a:ext cx="8127990" cy="741680"/>
        </p:xfrm>
        <a:graphic>
          <a:graphicData uri="http://schemas.openxmlformats.org/drawingml/2006/table">
            <a:tbl>
              <a:tblPr firstRow="1" bandRow="1">
                <a:tableStyleId>{5C22544A-7EE6-4342-B048-85BDC9FD1C3A}</a:tableStyleId>
              </a:tblPr>
              <a:tblGrid>
                <a:gridCol w="625230">
                  <a:extLst>
                    <a:ext uri="{9D8B030D-6E8A-4147-A177-3AD203B41FA5}">
                      <a16:colId xmlns:a16="http://schemas.microsoft.com/office/drawing/2014/main" val="1953644139"/>
                    </a:ext>
                  </a:extLst>
                </a:gridCol>
                <a:gridCol w="625230">
                  <a:extLst>
                    <a:ext uri="{9D8B030D-6E8A-4147-A177-3AD203B41FA5}">
                      <a16:colId xmlns:a16="http://schemas.microsoft.com/office/drawing/2014/main" val="986895045"/>
                    </a:ext>
                  </a:extLst>
                </a:gridCol>
                <a:gridCol w="625230">
                  <a:extLst>
                    <a:ext uri="{9D8B030D-6E8A-4147-A177-3AD203B41FA5}">
                      <a16:colId xmlns:a16="http://schemas.microsoft.com/office/drawing/2014/main" val="1160901876"/>
                    </a:ext>
                  </a:extLst>
                </a:gridCol>
                <a:gridCol w="625230">
                  <a:extLst>
                    <a:ext uri="{9D8B030D-6E8A-4147-A177-3AD203B41FA5}">
                      <a16:colId xmlns:a16="http://schemas.microsoft.com/office/drawing/2014/main" val="1103176735"/>
                    </a:ext>
                  </a:extLst>
                </a:gridCol>
                <a:gridCol w="625230">
                  <a:extLst>
                    <a:ext uri="{9D8B030D-6E8A-4147-A177-3AD203B41FA5}">
                      <a16:colId xmlns:a16="http://schemas.microsoft.com/office/drawing/2014/main" val="2504158954"/>
                    </a:ext>
                  </a:extLst>
                </a:gridCol>
                <a:gridCol w="625230">
                  <a:extLst>
                    <a:ext uri="{9D8B030D-6E8A-4147-A177-3AD203B41FA5}">
                      <a16:colId xmlns:a16="http://schemas.microsoft.com/office/drawing/2014/main" val="2947287858"/>
                    </a:ext>
                  </a:extLst>
                </a:gridCol>
                <a:gridCol w="625230">
                  <a:extLst>
                    <a:ext uri="{9D8B030D-6E8A-4147-A177-3AD203B41FA5}">
                      <a16:colId xmlns:a16="http://schemas.microsoft.com/office/drawing/2014/main" val="308694683"/>
                    </a:ext>
                  </a:extLst>
                </a:gridCol>
                <a:gridCol w="625230">
                  <a:extLst>
                    <a:ext uri="{9D8B030D-6E8A-4147-A177-3AD203B41FA5}">
                      <a16:colId xmlns:a16="http://schemas.microsoft.com/office/drawing/2014/main" val="3184566999"/>
                    </a:ext>
                  </a:extLst>
                </a:gridCol>
                <a:gridCol w="625230">
                  <a:extLst>
                    <a:ext uri="{9D8B030D-6E8A-4147-A177-3AD203B41FA5}">
                      <a16:colId xmlns:a16="http://schemas.microsoft.com/office/drawing/2014/main" val="1887459786"/>
                    </a:ext>
                  </a:extLst>
                </a:gridCol>
                <a:gridCol w="625230">
                  <a:extLst>
                    <a:ext uri="{9D8B030D-6E8A-4147-A177-3AD203B41FA5}">
                      <a16:colId xmlns:a16="http://schemas.microsoft.com/office/drawing/2014/main" val="167411870"/>
                    </a:ext>
                  </a:extLst>
                </a:gridCol>
                <a:gridCol w="625230">
                  <a:extLst>
                    <a:ext uri="{9D8B030D-6E8A-4147-A177-3AD203B41FA5}">
                      <a16:colId xmlns:a16="http://schemas.microsoft.com/office/drawing/2014/main" val="3427868789"/>
                    </a:ext>
                  </a:extLst>
                </a:gridCol>
                <a:gridCol w="625230">
                  <a:extLst>
                    <a:ext uri="{9D8B030D-6E8A-4147-A177-3AD203B41FA5}">
                      <a16:colId xmlns:a16="http://schemas.microsoft.com/office/drawing/2014/main" val="3232831429"/>
                    </a:ext>
                  </a:extLst>
                </a:gridCol>
                <a:gridCol w="625230">
                  <a:extLst>
                    <a:ext uri="{9D8B030D-6E8A-4147-A177-3AD203B41FA5}">
                      <a16:colId xmlns:a16="http://schemas.microsoft.com/office/drawing/2014/main" val="2510407718"/>
                    </a:ext>
                  </a:extLst>
                </a:gridCol>
              </a:tblGrid>
              <a:tr h="370840">
                <a:tc>
                  <a:txBody>
                    <a:bodyPr/>
                    <a:lstStyle/>
                    <a:p>
                      <a:endParaRPr lang="sv-SE" dirty="0"/>
                    </a:p>
                  </a:txBody>
                  <a:tcPr>
                    <a:lnL w="12700" cmpd="sng">
                      <a:noFill/>
                    </a:lnL>
                    <a:lnR w="12700"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endParaRPr lang="sv-SE" dirty="0"/>
                    </a:p>
                  </a:txBody>
                  <a:tcPr>
                    <a:lnL w="12700"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endParaRPr lang="sv-SE"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414219993"/>
                  </a:ext>
                </a:extLst>
              </a:tr>
              <a:tr h="370840">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rgbClr val="E86A58"/>
                          </a:solidFill>
                        </a:rPr>
                        <a:t>A+</a:t>
                      </a:r>
                      <a:endParaRPr lang="sv-SE" dirty="0">
                        <a:solidFill>
                          <a:srgbClr val="E86A58"/>
                        </a:solidFill>
                      </a:endParaRP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rgbClr val="4DA060"/>
                          </a:solidFill>
                        </a:rPr>
                        <a:t>C-</a:t>
                      </a:r>
                      <a:endParaRPr lang="sv-SE" dirty="0">
                        <a:solidFill>
                          <a:srgbClr val="4DA060"/>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r>
                        <a:rPr lang="en-US" dirty="0" smtClean="0">
                          <a:solidFill>
                            <a:schemeClr val="tx2">
                              <a:lumMod val="25000"/>
                              <a:lumOff val="75000"/>
                            </a:schemeClr>
                          </a:solidFill>
                        </a:rPr>
                        <a:t>B+</a:t>
                      </a:r>
                      <a:endParaRPr lang="sv-SE" dirty="0">
                        <a:solidFill>
                          <a:schemeClr val="tx2">
                            <a:lumMod val="25000"/>
                            <a:lumOff val="75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E86A58"/>
                          </a:solidFill>
                        </a:rPr>
                        <a:t>A-</a:t>
                      </a:r>
                      <a:endParaRPr lang="sv-SE" dirty="0" smtClean="0">
                        <a:solidFill>
                          <a:srgbClr val="E86A58"/>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rgbClr val="4DA060"/>
                          </a:solidFill>
                        </a:rPr>
                        <a:t>C+</a:t>
                      </a:r>
                      <a:endParaRPr lang="sv-SE" dirty="0" smtClean="0">
                        <a:solidFill>
                          <a:srgbClr val="4DA060"/>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solidFill>
                            <a:schemeClr val="tx2">
                              <a:lumMod val="25000"/>
                              <a:lumOff val="75000"/>
                            </a:schemeClr>
                          </a:solidFill>
                        </a:rPr>
                        <a:t>B-</a:t>
                      </a:r>
                      <a:endParaRPr lang="sv-SE" dirty="0" smtClean="0">
                        <a:solidFill>
                          <a:schemeClr val="tx2">
                            <a:lumMod val="25000"/>
                            <a:lumOff val="75000"/>
                          </a:schemeClr>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sv-SE" dirty="0"/>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993555899"/>
                  </a:ext>
                </a:extLst>
              </a:tr>
            </a:tbl>
          </a:graphicData>
        </a:graphic>
      </p:graphicFrame>
      <p:cxnSp>
        <p:nvCxnSpPr>
          <p:cNvPr id="7" name="Straight Connector 6"/>
          <p:cNvCxnSpPr/>
          <p:nvPr/>
        </p:nvCxnSpPr>
        <p:spPr>
          <a:xfrm flipH="1" flipV="1">
            <a:off x="2832374" y="2473825"/>
            <a:ext cx="6178" cy="1643447"/>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flipH="1">
            <a:off x="2832374" y="1754957"/>
            <a:ext cx="1956487" cy="718868"/>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4788861" y="1754957"/>
            <a:ext cx="1804087" cy="691063"/>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H="1" flipV="1">
            <a:off x="6592948" y="2446020"/>
            <a:ext cx="6178" cy="1615645"/>
          </a:xfrm>
          <a:prstGeom prst="line">
            <a:avLst/>
          </a:prstGeom>
          <a:ln w="38100">
            <a:solidFill>
              <a:srgbClr val="E86A58"/>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H="1" flipV="1">
            <a:off x="4158666" y="2473825"/>
            <a:ext cx="6178" cy="1643447"/>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H="1">
            <a:off x="4158666" y="1754957"/>
            <a:ext cx="1956487" cy="718868"/>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6115153" y="1754957"/>
            <a:ext cx="1804087" cy="691063"/>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p:nvPr/>
        </p:nvCxnSpPr>
        <p:spPr>
          <a:xfrm flipH="1" flipV="1">
            <a:off x="7919240" y="2446020"/>
            <a:ext cx="6178" cy="1615645"/>
          </a:xfrm>
          <a:prstGeom prst="line">
            <a:avLst/>
          </a:prstGeom>
          <a:ln w="38100">
            <a:solidFill>
              <a:srgbClr val="4DA06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H="1" flipV="1">
            <a:off x="5392283" y="2473825"/>
            <a:ext cx="6178" cy="1643447"/>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p:nvPr/>
        </p:nvCxnSpPr>
        <p:spPr>
          <a:xfrm flipH="1">
            <a:off x="5392283" y="1754957"/>
            <a:ext cx="1956487" cy="718868"/>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7348770" y="1754957"/>
            <a:ext cx="1804087" cy="691063"/>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p:nvPr/>
        </p:nvCxnSpPr>
        <p:spPr>
          <a:xfrm flipH="1" flipV="1">
            <a:off x="9152857" y="2446020"/>
            <a:ext cx="6178" cy="1615645"/>
          </a:xfrm>
          <a:prstGeom prst="line">
            <a:avLst/>
          </a:prstGeom>
          <a:ln w="3810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2053899" y="4191412"/>
            <a:ext cx="3849130" cy="766119"/>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N</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79" name="Rectangle 78"/>
          <p:cNvSpPr/>
          <p:nvPr/>
        </p:nvSpPr>
        <p:spPr>
          <a:xfrm>
            <a:off x="5903029" y="4191411"/>
            <a:ext cx="3849130" cy="766119"/>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25" name="Rectangle 24"/>
          <p:cNvSpPr/>
          <p:nvPr/>
        </p:nvSpPr>
        <p:spPr>
          <a:xfrm>
            <a:off x="7589623" y="4389804"/>
            <a:ext cx="312906" cy="369332"/>
          </a:xfrm>
          <a:prstGeom prst="rect">
            <a:avLst/>
          </a:prstGeom>
        </p:spPr>
        <p:txBody>
          <a:bodyPr wrap="none">
            <a:spAutoFit/>
          </a:bodyPr>
          <a:lstStyle/>
          <a:p>
            <a:pPr algn="ctr"/>
            <a:r>
              <a:rPr lang="en-US" dirty="0">
                <a:latin typeface="Times New Roman" panose="02020603050405020304" pitchFamily="18" charset="0"/>
                <a:cs typeface="Times New Roman" panose="02020603050405020304" pitchFamily="18" charset="0"/>
              </a:rPr>
              <a:t>S</a:t>
            </a:r>
            <a:endParaRPr lang="sv-SE" dirty="0">
              <a:latin typeface="Times New Roman" panose="02020603050405020304" pitchFamily="18" charset="0"/>
              <a:cs typeface="Times New Roman" panose="02020603050405020304" pitchFamily="18" charset="0"/>
            </a:endParaRPr>
          </a:p>
        </p:txBody>
      </p:sp>
      <p:sp>
        <p:nvSpPr>
          <p:cNvPr id="27" name="Rectangle 26"/>
          <p:cNvSpPr/>
          <p:nvPr/>
        </p:nvSpPr>
        <p:spPr>
          <a:xfrm>
            <a:off x="2053899" y="4191411"/>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28" name="Oval 27"/>
          <p:cNvSpPr/>
          <p:nvPr/>
        </p:nvSpPr>
        <p:spPr>
          <a:xfrm>
            <a:off x="2229983" y="4426873"/>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0" name="Rectangle 79"/>
          <p:cNvSpPr/>
          <p:nvPr/>
        </p:nvSpPr>
        <p:spPr>
          <a:xfrm>
            <a:off x="5309905" y="4191411"/>
            <a:ext cx="593124" cy="766119"/>
          </a:xfrm>
          <a:prstGeom prst="rect">
            <a:avLst/>
          </a:prstGeom>
          <a:solidFill>
            <a:schemeClr val="bg1"/>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1" name="Oval 80"/>
          <p:cNvSpPr/>
          <p:nvPr/>
        </p:nvSpPr>
        <p:spPr>
          <a:xfrm>
            <a:off x="5485989" y="445090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2" name="Rectangle 81"/>
          <p:cNvSpPr/>
          <p:nvPr/>
        </p:nvSpPr>
        <p:spPr>
          <a:xfrm>
            <a:off x="5916416" y="419141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o</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3" name="Oval 82"/>
          <p:cNvSpPr/>
          <p:nvPr/>
        </p:nvSpPr>
        <p:spPr>
          <a:xfrm>
            <a:off x="6092500" y="4450904"/>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84" name="Rectangle 83"/>
          <p:cNvSpPr/>
          <p:nvPr/>
        </p:nvSpPr>
        <p:spPr>
          <a:xfrm>
            <a:off x="9168304" y="4191411"/>
            <a:ext cx="593124" cy="766119"/>
          </a:xfrm>
          <a:prstGeom prst="rect">
            <a:avLst/>
          </a:prstGeom>
          <a:solidFill>
            <a:schemeClr val="bg1"/>
          </a:solidFill>
          <a:ln>
            <a:solidFill>
              <a:srgbClr val="339C9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latin typeface="Times New Roman" panose="02020603050405020304" pitchFamily="18" charset="0"/>
                <a:cs typeface="Times New Roman" panose="02020603050405020304" pitchFamily="18" charset="0"/>
              </a:rPr>
              <a:t>X</a:t>
            </a:r>
            <a:endParaRPr lang="sv-SE" dirty="0">
              <a:solidFill>
                <a:schemeClr val="tx1"/>
              </a:solidFill>
              <a:latin typeface="Times New Roman" panose="02020603050405020304" pitchFamily="18" charset="0"/>
              <a:cs typeface="Times New Roman" panose="02020603050405020304" pitchFamily="18" charset="0"/>
            </a:endParaRPr>
          </a:p>
        </p:txBody>
      </p:sp>
      <p:sp>
        <p:nvSpPr>
          <p:cNvPr id="85" name="Oval 84"/>
          <p:cNvSpPr/>
          <p:nvPr/>
        </p:nvSpPr>
        <p:spPr>
          <a:xfrm>
            <a:off x="9344388" y="4426873"/>
            <a:ext cx="240956" cy="308232"/>
          </a:xfrm>
          <a:prstGeom prst="ellipse">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sp>
        <p:nvSpPr>
          <p:cNvPr id="30" name="Rectangle 29"/>
          <p:cNvSpPr/>
          <p:nvPr/>
        </p:nvSpPr>
        <p:spPr>
          <a:xfrm>
            <a:off x="4279828" y="1071213"/>
            <a:ext cx="2929007" cy="369332"/>
          </a:xfrm>
          <a:prstGeom prst="rect">
            <a:avLst/>
          </a:prstGeom>
        </p:spPr>
        <p:txBody>
          <a:bodyPr wrap="none">
            <a:spAutoFit/>
          </a:bodyPr>
          <a:lstStyle/>
          <a:p>
            <a:r>
              <a:rPr lang="sv-SE" dirty="0" err="1" smtClean="0">
                <a:latin typeface="Times New Roman" panose="02020603050405020304" pitchFamily="18" charset="0"/>
                <a:cs typeface="Times New Roman" panose="02020603050405020304" pitchFamily="18" charset="0"/>
              </a:rPr>
              <a:t>Linearized</a:t>
            </a:r>
            <a:r>
              <a:rPr lang="sv-SE" dirty="0" smtClean="0">
                <a:latin typeface="Times New Roman" panose="02020603050405020304" pitchFamily="18" charset="0"/>
                <a:cs typeface="Times New Roman" panose="02020603050405020304" pitchFamily="18" charset="0"/>
              </a:rPr>
              <a:t> </a:t>
            </a:r>
            <a:r>
              <a:rPr lang="sv-SE" dirty="0" err="1">
                <a:latin typeface="Times New Roman" panose="02020603050405020304" pitchFamily="18" charset="0"/>
                <a:cs typeface="Times New Roman" panose="02020603050405020304" pitchFamily="18" charset="0"/>
              </a:rPr>
              <a:t>slot</a:t>
            </a:r>
            <a:r>
              <a:rPr lang="sv-SE" dirty="0">
                <a:latin typeface="Times New Roman" panose="02020603050405020304" pitchFamily="18" charset="0"/>
                <a:cs typeface="Times New Roman" panose="02020603050405020304" pitchFamily="18" charset="0"/>
              </a:rPr>
              <a:t> representation</a:t>
            </a:r>
          </a:p>
        </p:txBody>
      </p:sp>
      <p:cxnSp>
        <p:nvCxnSpPr>
          <p:cNvPr id="33" name="Straight Arrow Connector 32"/>
          <p:cNvCxnSpPr/>
          <p:nvPr/>
        </p:nvCxnSpPr>
        <p:spPr>
          <a:xfrm flipH="1">
            <a:off x="1313447" y="3057703"/>
            <a:ext cx="381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408779" y="2873037"/>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Stator</a:t>
            </a:r>
            <a:endParaRPr lang="sv-SE" dirty="0">
              <a:latin typeface="Times New Roman" panose="02020603050405020304" pitchFamily="18" charset="0"/>
              <a:cs typeface="Times New Roman" panose="02020603050405020304" pitchFamily="18" charset="0"/>
            </a:endParaRPr>
          </a:p>
        </p:txBody>
      </p:sp>
      <p:cxnSp>
        <p:nvCxnSpPr>
          <p:cNvPr id="86" name="Straight Arrow Connector 85"/>
          <p:cNvCxnSpPr/>
          <p:nvPr/>
        </p:nvCxnSpPr>
        <p:spPr>
          <a:xfrm>
            <a:off x="9851219" y="4589363"/>
            <a:ext cx="5476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10398853" y="4396323"/>
            <a:ext cx="904668"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Rotor</a:t>
            </a:r>
            <a:endParaRPr lang="sv-SE" dirty="0">
              <a:latin typeface="Times New Roman" panose="02020603050405020304" pitchFamily="18" charset="0"/>
              <a:cs typeface="Times New Roman" panose="02020603050405020304" pitchFamily="18" charset="0"/>
            </a:endParaRPr>
          </a:p>
        </p:txBody>
      </p:sp>
      <p:sp>
        <p:nvSpPr>
          <p:cNvPr id="89" name="Rectangle 88"/>
          <p:cNvSpPr/>
          <p:nvPr/>
        </p:nvSpPr>
        <p:spPr>
          <a:xfrm>
            <a:off x="2053899" y="3925741"/>
            <a:ext cx="7707529" cy="228600"/>
          </a:xfrm>
          <a:prstGeom prst="rect">
            <a:avLst/>
          </a:prstGeom>
          <a:noFill/>
          <a:ln>
            <a:solidFill>
              <a:srgbClr val="FF339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latin typeface="Times New Roman" panose="02020603050405020304" pitchFamily="18" charset="0"/>
              <a:cs typeface="Times New Roman" panose="02020603050405020304" pitchFamily="18" charset="0"/>
            </a:endParaRPr>
          </a:p>
        </p:txBody>
      </p:sp>
      <p:cxnSp>
        <p:nvCxnSpPr>
          <p:cNvPr id="90" name="Straight Arrow Connector 89"/>
          <p:cNvCxnSpPr/>
          <p:nvPr/>
        </p:nvCxnSpPr>
        <p:spPr>
          <a:xfrm flipH="1">
            <a:off x="1337207" y="4040041"/>
            <a:ext cx="62113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58593" y="3655915"/>
            <a:ext cx="1392913" cy="646331"/>
          </a:xfrm>
          <a:prstGeom prst="rect">
            <a:avLst/>
          </a:prstGeom>
          <a:noFill/>
        </p:spPr>
        <p:txBody>
          <a:bodyPr wrap="square" rtlCol="0">
            <a:spAutoFit/>
          </a:bodyPr>
          <a:lstStyle/>
          <a:p>
            <a:pPr algn="ctr"/>
            <a:r>
              <a:rPr lang="en-US" dirty="0" smtClean="0">
                <a:latin typeface="Times New Roman" panose="02020603050405020304" pitchFamily="18" charset="0"/>
                <a:cs typeface="Times New Roman" panose="02020603050405020304" pitchFamily="18" charset="0"/>
              </a:rPr>
              <a:t>Harvesting coil</a:t>
            </a:r>
            <a:endParaRPr lang="sv-SE" dirty="0">
              <a:latin typeface="Times New Roman" panose="02020603050405020304" pitchFamily="18" charset="0"/>
              <a:cs typeface="Times New Roman" panose="02020603050405020304" pitchFamily="18" charset="0"/>
            </a:endParaRPr>
          </a:p>
        </p:txBody>
      </p:sp>
      <p:sp>
        <p:nvSpPr>
          <p:cNvPr id="97" name="TextBox 96"/>
          <p:cNvSpPr txBox="1"/>
          <p:nvPr/>
        </p:nvSpPr>
        <p:spPr>
          <a:xfrm>
            <a:off x="2414952" y="5150570"/>
            <a:ext cx="8077200" cy="1477328"/>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Mutual inductances between stator windings and harvesting coil: </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A: Positive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B:  Positive</a:t>
            </a:r>
          </a:p>
          <a:p>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Phase C: Negative</a:t>
            </a:r>
          </a:p>
          <a:p>
            <a:r>
              <a:rPr lang="en-US" dirty="0" smtClean="0">
                <a:latin typeface="Times New Roman" panose="02020603050405020304" pitchFamily="18" charset="0"/>
                <a:cs typeface="Times New Roman" panose="02020603050405020304" pitchFamily="18" charset="0"/>
              </a:rPr>
              <a:t>They are rotation -independent if saturation ignored at this stage.  </a:t>
            </a:r>
          </a:p>
        </p:txBody>
      </p:sp>
      <p:cxnSp>
        <p:nvCxnSpPr>
          <p:cNvPr id="99" name="Straight Connector 98"/>
          <p:cNvCxnSpPr/>
          <p:nvPr/>
        </p:nvCxnSpPr>
        <p:spPr>
          <a:xfrm>
            <a:off x="8359140" y="3726180"/>
            <a:ext cx="3589544" cy="762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10195150" y="3728425"/>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Rotating side</a:t>
            </a:r>
            <a:endParaRPr lang="sv-SE" dirty="0">
              <a:latin typeface="Times New Roman" panose="02020603050405020304" pitchFamily="18" charset="0"/>
              <a:cs typeface="Times New Roman" panose="02020603050405020304" pitchFamily="18" charset="0"/>
            </a:endParaRPr>
          </a:p>
        </p:txBody>
      </p:sp>
      <p:sp>
        <p:nvSpPr>
          <p:cNvPr id="102" name="TextBox 101"/>
          <p:cNvSpPr txBox="1"/>
          <p:nvPr/>
        </p:nvSpPr>
        <p:spPr>
          <a:xfrm>
            <a:off x="10180434" y="3324919"/>
            <a:ext cx="1831247"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Stationary side</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50164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968500" y="1734772"/>
            <a:ext cx="6724650" cy="2333625"/>
          </a:xfrm>
          <a:prstGeom prst="rect">
            <a:avLst/>
          </a:prstGeom>
        </p:spPr>
      </p:pic>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Tuned Harvesting Coil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8" name="TextBox 7"/>
              <p:cNvSpPr txBox="1"/>
              <p:nvPr/>
            </p:nvSpPr>
            <p:spPr>
              <a:xfrm>
                <a:off x="1641475" y="2499432"/>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𝐷𝐶</m:t>
                          </m:r>
                        </m:sub>
                      </m:sSub>
                    </m:oMath>
                  </m:oMathPara>
                </a14:m>
                <a:endParaRPr lang="sv-SE" dirty="0"/>
              </a:p>
            </p:txBody>
          </p:sp>
        </mc:Choice>
        <mc:Fallback>
          <p:sp>
            <p:nvSpPr>
              <p:cNvPr id="8" name="TextBox 7"/>
              <p:cNvSpPr txBox="1">
                <a:spLocks noRot="1" noChangeAspect="1" noMove="1" noResize="1" noEditPoints="1" noAdjustHandles="1" noChangeArrowheads="1" noChangeShapeType="1" noTextEdit="1"/>
              </p:cNvSpPr>
              <p:nvPr/>
            </p:nvSpPr>
            <p:spPr>
              <a:xfrm>
                <a:off x="1641475" y="2499432"/>
                <a:ext cx="654050" cy="36933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9" name="TextBox 8"/>
              <p:cNvSpPr txBox="1"/>
              <p:nvPr/>
            </p:nvSpPr>
            <p:spPr>
              <a:xfrm>
                <a:off x="4813300" y="2255540"/>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𝐴</m:t>
                          </m:r>
                        </m:sub>
                      </m:sSub>
                    </m:oMath>
                  </m:oMathPara>
                </a14:m>
                <a:endParaRPr lang="sv-SE" dirty="0"/>
              </a:p>
            </p:txBody>
          </p:sp>
        </mc:Choice>
        <mc:Fallback>
          <p:sp>
            <p:nvSpPr>
              <p:cNvPr id="9" name="TextBox 8"/>
              <p:cNvSpPr txBox="1">
                <a:spLocks noRot="1" noChangeAspect="1" noMove="1" noResize="1" noEditPoints="1" noAdjustHandles="1" noChangeArrowheads="1" noChangeShapeType="1" noTextEdit="1"/>
              </p:cNvSpPr>
              <p:nvPr/>
            </p:nvSpPr>
            <p:spPr>
              <a:xfrm>
                <a:off x="4813300" y="2255540"/>
                <a:ext cx="65405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2" name="TextBox 11"/>
              <p:cNvSpPr txBox="1"/>
              <p:nvPr/>
            </p:nvSpPr>
            <p:spPr>
              <a:xfrm>
                <a:off x="4634038" y="2842607"/>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𝐵</m:t>
                          </m:r>
                        </m:sub>
                      </m:sSub>
                    </m:oMath>
                  </m:oMathPara>
                </a14:m>
                <a:endParaRPr lang="sv-SE" dirty="0"/>
              </a:p>
            </p:txBody>
          </p:sp>
        </mc:Choice>
        <mc:Fallback>
          <p:sp>
            <p:nvSpPr>
              <p:cNvPr id="12" name="TextBox 11"/>
              <p:cNvSpPr txBox="1">
                <a:spLocks noRot="1" noChangeAspect="1" noMove="1" noResize="1" noEditPoints="1" noAdjustHandles="1" noChangeArrowheads="1" noChangeShapeType="1" noTextEdit="1"/>
              </p:cNvSpPr>
              <p:nvPr/>
            </p:nvSpPr>
            <p:spPr>
              <a:xfrm>
                <a:off x="4634038" y="2842607"/>
                <a:ext cx="65405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3" name="TextBox 12"/>
              <p:cNvSpPr txBox="1"/>
              <p:nvPr/>
            </p:nvSpPr>
            <p:spPr>
              <a:xfrm>
                <a:off x="5097827" y="2860232"/>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𝐶</m:t>
                          </m:r>
                        </m:sub>
                      </m:sSub>
                    </m:oMath>
                  </m:oMathPara>
                </a14:m>
                <a:endParaRPr lang="sv-SE" dirty="0"/>
              </a:p>
            </p:txBody>
          </p:sp>
        </mc:Choice>
        <mc:Fallback>
          <p:sp>
            <p:nvSpPr>
              <p:cNvPr id="13" name="TextBox 12"/>
              <p:cNvSpPr txBox="1">
                <a:spLocks noRot="1" noChangeAspect="1" noMove="1" noResize="1" noEditPoints="1" noAdjustHandles="1" noChangeArrowheads="1" noChangeShapeType="1" noTextEdit="1"/>
              </p:cNvSpPr>
              <p:nvPr/>
            </p:nvSpPr>
            <p:spPr>
              <a:xfrm>
                <a:off x="5097827" y="2860232"/>
                <a:ext cx="654050" cy="369332"/>
              </a:xfrm>
              <a:prstGeom prst="rect">
                <a:avLst/>
              </a:prstGeom>
              <a:blipFill>
                <a:blip r:embed="rId6"/>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6048715" y="2624872"/>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𝐻</m:t>
                          </m:r>
                        </m:sub>
                      </m:sSub>
                    </m:oMath>
                  </m:oMathPara>
                </a14:m>
                <a:endParaRPr lang="sv-SE" dirty="0"/>
              </a:p>
            </p:txBody>
          </p:sp>
        </mc:Choice>
        <mc:Fallback>
          <p:sp>
            <p:nvSpPr>
              <p:cNvPr id="14" name="TextBox 13"/>
              <p:cNvSpPr txBox="1">
                <a:spLocks noRot="1" noChangeAspect="1" noMove="1" noResize="1" noEditPoints="1" noAdjustHandles="1" noChangeArrowheads="1" noChangeShapeType="1" noTextEdit="1"/>
              </p:cNvSpPr>
              <p:nvPr/>
            </p:nvSpPr>
            <p:spPr>
              <a:xfrm>
                <a:off x="6048715" y="2624872"/>
                <a:ext cx="654050" cy="369332"/>
              </a:xfrm>
              <a:prstGeom prst="rect">
                <a:avLst/>
              </a:prstGeom>
              <a:blipFill>
                <a:blip r:embed="rId7"/>
                <a:stretch>
                  <a:fillRect b="-1667"/>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8" name="TextBox 17"/>
              <p:cNvSpPr txBox="1"/>
              <p:nvPr/>
            </p:nvSpPr>
            <p:spPr>
              <a:xfrm>
                <a:off x="6375740" y="2596139"/>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𝐶</m:t>
                          </m:r>
                        </m:e>
                        <m:sub>
                          <m:r>
                            <a:rPr lang="en-US" b="0" i="1" smtClean="0">
                              <a:latin typeface="Cambria Math" panose="02040503050406030204" pitchFamily="18" charset="0"/>
                            </a:rPr>
                            <m:t>𝐻</m:t>
                          </m:r>
                        </m:sub>
                      </m:sSub>
                    </m:oMath>
                  </m:oMathPara>
                </a14:m>
                <a:endParaRPr lang="sv-SE" dirty="0"/>
              </a:p>
            </p:txBody>
          </p:sp>
        </mc:Choice>
        <mc:Fallback>
          <p:sp>
            <p:nvSpPr>
              <p:cNvPr id="18" name="TextBox 17"/>
              <p:cNvSpPr txBox="1">
                <a:spLocks noRot="1" noChangeAspect="1" noMove="1" noResize="1" noEditPoints="1" noAdjustHandles="1" noChangeArrowheads="1" noChangeShapeType="1" noTextEdit="1"/>
              </p:cNvSpPr>
              <p:nvPr/>
            </p:nvSpPr>
            <p:spPr>
              <a:xfrm>
                <a:off x="6375740" y="2596139"/>
                <a:ext cx="654050" cy="369332"/>
              </a:xfrm>
              <a:prstGeom prst="rect">
                <a:avLst/>
              </a:prstGeom>
              <a:blipFill>
                <a:blip r:embed="rId8"/>
                <a:stretch>
                  <a:fillRect b="-1667"/>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9" name="TextBox 18"/>
              <p:cNvSpPr txBox="1"/>
              <p:nvPr/>
            </p:nvSpPr>
            <p:spPr>
              <a:xfrm>
                <a:off x="5467350" y="1862096"/>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𝐶𝑜𝑢𝑝𝑙𝑖𝑛𝑔</m:t>
                      </m:r>
                    </m:oMath>
                  </m:oMathPara>
                </a14:m>
                <a:endParaRPr lang="sv-SE" dirty="0"/>
              </a:p>
            </p:txBody>
          </p:sp>
        </mc:Choice>
        <mc:Fallback>
          <p:sp>
            <p:nvSpPr>
              <p:cNvPr id="19" name="TextBox 18"/>
              <p:cNvSpPr txBox="1">
                <a:spLocks noRot="1" noChangeAspect="1" noMove="1" noResize="1" noEditPoints="1" noAdjustHandles="1" noChangeArrowheads="1" noChangeShapeType="1" noTextEdit="1"/>
              </p:cNvSpPr>
              <p:nvPr/>
            </p:nvSpPr>
            <p:spPr>
              <a:xfrm>
                <a:off x="5467350" y="1862096"/>
                <a:ext cx="654050" cy="369332"/>
              </a:xfrm>
              <a:prstGeom prst="rect">
                <a:avLst/>
              </a:prstGeom>
              <a:blipFill>
                <a:blip r:embed="rId9"/>
                <a:stretch>
                  <a:fillRect l="-2804" r="-74766" b="-14754"/>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8288421" y="2226807"/>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𝐿</m:t>
                          </m:r>
                        </m:e>
                        <m:sub>
                          <m:r>
                            <a:rPr lang="en-US" b="0" i="1" smtClean="0">
                              <a:latin typeface="Cambria Math" panose="02040503050406030204" pitchFamily="18" charset="0"/>
                            </a:rPr>
                            <m:t>𝐹</m:t>
                          </m:r>
                        </m:sub>
                      </m:sSub>
                    </m:oMath>
                  </m:oMathPara>
                </a14:m>
                <a:endParaRPr lang="sv-SE" dirty="0"/>
              </a:p>
            </p:txBody>
          </p:sp>
        </mc:Choice>
        <mc:Fallback>
          <p:sp>
            <p:nvSpPr>
              <p:cNvPr id="20" name="TextBox 19"/>
              <p:cNvSpPr txBox="1">
                <a:spLocks noRot="1" noChangeAspect="1" noMove="1" noResize="1" noEditPoints="1" noAdjustHandles="1" noChangeArrowheads="1" noChangeShapeType="1" noTextEdit="1"/>
              </p:cNvSpPr>
              <p:nvPr/>
            </p:nvSpPr>
            <p:spPr>
              <a:xfrm>
                <a:off x="8288421" y="2226807"/>
                <a:ext cx="654050" cy="369332"/>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1" name="TextBox 20"/>
              <p:cNvSpPr txBox="1"/>
              <p:nvPr/>
            </p:nvSpPr>
            <p:spPr>
              <a:xfrm>
                <a:off x="8335938" y="2842607"/>
                <a:ext cx="65405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𝑅</m:t>
                          </m:r>
                        </m:e>
                        <m:sub>
                          <m:r>
                            <a:rPr lang="en-US" b="0" i="1" smtClean="0">
                              <a:latin typeface="Cambria Math" panose="02040503050406030204" pitchFamily="18" charset="0"/>
                            </a:rPr>
                            <m:t>𝐹</m:t>
                          </m:r>
                        </m:sub>
                      </m:sSub>
                    </m:oMath>
                  </m:oMathPara>
                </a14:m>
                <a:endParaRPr lang="sv-SE" dirty="0"/>
              </a:p>
            </p:txBody>
          </p:sp>
        </mc:Choice>
        <mc:Fallback>
          <p:sp>
            <p:nvSpPr>
              <p:cNvPr id="21" name="TextBox 20"/>
              <p:cNvSpPr txBox="1">
                <a:spLocks noRot="1" noChangeAspect="1" noMove="1" noResize="1" noEditPoints="1" noAdjustHandles="1" noChangeArrowheads="1" noChangeShapeType="1" noTextEdit="1"/>
              </p:cNvSpPr>
              <p:nvPr/>
            </p:nvSpPr>
            <p:spPr>
              <a:xfrm>
                <a:off x="8335938" y="2842607"/>
                <a:ext cx="654050" cy="369332"/>
              </a:xfrm>
              <a:prstGeom prst="rect">
                <a:avLst/>
              </a:prstGeom>
              <a:blipFill>
                <a:blip r:embed="rId11"/>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22" name="TextBox 21"/>
              <p:cNvSpPr txBox="1"/>
              <p:nvPr/>
            </p:nvSpPr>
            <p:spPr>
              <a:xfrm>
                <a:off x="2668764" y="4697201"/>
                <a:ext cx="2429063" cy="107632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sv-SE" i="1" smtClean="0">
                              <a:latin typeface="Cambria Math" panose="02040503050406030204" pitchFamily="18" charset="0"/>
                            </a:rPr>
                          </m:ctrlPr>
                        </m:dPr>
                        <m:e>
                          <m:eqArr>
                            <m:eqArrPr>
                              <m:ctrlPr>
                                <a:rPr lang="sv-SE"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𝐴</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𝐴𝐵</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𝐴𝐶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𝐴𝐻</m:t>
                                  </m:r>
                                </m:sub>
                              </m:sSub>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𝐴𝐵</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𝐵</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𝐵𝐶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𝐵𝐻</m:t>
                                  </m:r>
                                </m:sub>
                              </m:sSub>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𝐵𝐶</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𝐶</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𝐶</m:t>
                                  </m:r>
                                  <m:r>
                                    <a:rPr lang="en-US" i="1">
                                      <a:latin typeface="Cambria Math" panose="02040503050406030204" pitchFamily="18" charset="0"/>
                                    </a:rPr>
                                    <m:t>𝐻</m:t>
                                  </m:r>
                                </m:sub>
                              </m:sSub>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𝐴𝐻</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𝐵𝐻</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𝐶𝐻</m:t>
                                  </m:r>
                                </m:sub>
                              </m:sSub>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𝐻</m:t>
                                  </m:r>
                                </m:sub>
                              </m:sSub>
                            </m:e>
                          </m:eqArr>
                        </m:e>
                      </m:d>
                    </m:oMath>
                  </m:oMathPara>
                </a14:m>
                <a:endParaRPr lang="sv-SE" dirty="0"/>
              </a:p>
            </p:txBody>
          </p:sp>
        </mc:Choice>
        <mc:Fallback>
          <p:sp>
            <p:nvSpPr>
              <p:cNvPr id="22" name="TextBox 21"/>
              <p:cNvSpPr txBox="1">
                <a:spLocks noRot="1" noChangeAspect="1" noMove="1" noResize="1" noEditPoints="1" noAdjustHandles="1" noChangeArrowheads="1" noChangeShapeType="1" noTextEdit="1"/>
              </p:cNvSpPr>
              <p:nvPr/>
            </p:nvSpPr>
            <p:spPr>
              <a:xfrm>
                <a:off x="2668764" y="4697201"/>
                <a:ext cx="2429063" cy="1076320"/>
              </a:xfrm>
              <a:prstGeom prst="rect">
                <a:avLst/>
              </a:prstGeom>
              <a:blipFill>
                <a:blip r:embed="rId12"/>
                <a:stretch>
                  <a:fillRect/>
                </a:stretch>
              </a:blipFill>
            </p:spPr>
            <p:txBody>
              <a:bodyPr/>
              <a:lstStyle/>
              <a:p>
                <a:r>
                  <a:rPr lang="sv-SE">
                    <a:noFill/>
                  </a:rPr>
                  <a:t> </a:t>
                </a:r>
              </a:p>
            </p:txBody>
          </p:sp>
        </mc:Fallback>
      </mc:AlternateContent>
      <p:sp>
        <p:nvSpPr>
          <p:cNvPr id="23" name="TextBox 22"/>
          <p:cNvSpPr txBox="1"/>
          <p:nvPr/>
        </p:nvSpPr>
        <p:spPr>
          <a:xfrm>
            <a:off x="860450" y="5040101"/>
            <a:ext cx="1924050" cy="646331"/>
          </a:xfrm>
          <a:prstGeom prst="rect">
            <a:avLst/>
          </a:prstGeom>
          <a:noFill/>
        </p:spPr>
        <p:txBody>
          <a:bodyPr wrap="square" rtlCol="0">
            <a:spAutoFit/>
          </a:bodyPr>
          <a:lstStyle/>
          <a:p>
            <a:pPr algn="ctr"/>
            <a:r>
              <a:rPr lang="en-US" dirty="0" smtClean="0"/>
              <a:t>Inductance Matrix</a:t>
            </a:r>
            <a:endParaRPr lang="sv-SE" dirty="0"/>
          </a:p>
        </p:txBody>
      </p:sp>
      <mc:AlternateContent xmlns:mc="http://schemas.openxmlformats.org/markup-compatibility/2006">
        <mc:Choice xmlns:a14="http://schemas.microsoft.com/office/drawing/2010/main" Requires="a14">
          <p:sp>
            <p:nvSpPr>
              <p:cNvPr id="24" name="TextBox 23"/>
              <p:cNvSpPr txBox="1"/>
              <p:nvPr/>
            </p:nvSpPr>
            <p:spPr>
              <a:xfrm>
                <a:off x="7493192" y="4639735"/>
                <a:ext cx="1952458" cy="104669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sv-SE" i="1" smtClean="0">
                              <a:latin typeface="Cambria Math" panose="02040503050406030204" pitchFamily="18" charset="0"/>
                            </a:rPr>
                          </m:ctrlPr>
                        </m:dPr>
                        <m:e>
                          <m:eqArr>
                            <m:eqArrPr>
                              <m:ctrlPr>
                                <a:rPr lang="sv-SE" i="1" smtClean="0">
                                  <a:latin typeface="Cambria Math" panose="02040503050406030204" pitchFamily="18" charset="0"/>
                                </a:rPr>
                              </m:ctrlPr>
                            </m:eqArr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𝐴</m:t>
                                  </m:r>
                                </m:sub>
                              </m:sSub>
                            </m:e>
                            <m:e>
                              <m:r>
                                <a:rPr lang="en-US" b="0" i="1" smtClean="0">
                                  <a:latin typeface="Cambria Math" panose="02040503050406030204" pitchFamily="18" charset="0"/>
                                </a:rPr>
                                <m:t>0</m:t>
                              </m:r>
                            </m:e>
                            <m:e>
                              <m:r>
                                <a:rPr lang="en-US" b="0" i="1" smtClean="0">
                                  <a:latin typeface="Cambria Math" panose="02040503050406030204" pitchFamily="18" charset="0"/>
                                </a:rPr>
                                <m:t>0</m:t>
                              </m:r>
                            </m:e>
                            <m:e>
                              <m:r>
                                <a:rPr lang="en-US" i="1">
                                  <a:latin typeface="Cambria Math" panose="02040503050406030204" pitchFamily="18" charset="0"/>
                                </a:rPr>
                                <m:t>𝑀</m:t>
                              </m:r>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𝐵</m:t>
                                  </m:r>
                                </m:sub>
                              </m:sSub>
                            </m:e>
                            <m:e>
                              <m:r>
                                <a:rPr lang="en-US" b="0" i="1" smtClean="0">
                                  <a:latin typeface="Cambria Math" panose="02040503050406030204" pitchFamily="18" charset="0"/>
                                </a:rPr>
                                <m:t>0</m:t>
                              </m:r>
                            </m:e>
                            <m:e>
                              <m:r>
                                <a:rPr lang="en-US" i="1">
                                  <a:latin typeface="Cambria Math" panose="02040503050406030204" pitchFamily="18" charset="0"/>
                                </a:rPr>
                                <m:t>𝑀</m:t>
                              </m:r>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r>
                                <a:rPr lang="en-US" b="0" i="1" smtClean="0">
                                  <a:latin typeface="Cambria Math" panose="02040503050406030204" pitchFamily="18" charset="0"/>
                                </a:rPr>
                                <m:t>0</m:t>
                              </m:r>
                            </m:e>
                            <m:e>
                              <m:r>
                                <a:rPr lang="en-US" b="0" i="1" smtClean="0">
                                  <a:latin typeface="Cambria Math" panose="02040503050406030204" pitchFamily="18" charset="0"/>
                                </a:rPr>
                                <m:t>0</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𝐶</m:t>
                                  </m:r>
                                </m:sub>
                              </m:sSub>
                            </m:e>
                            <m:e>
                              <m:r>
                                <a:rPr lang="en-US" b="0" i="1" smtClean="0">
                                  <a:latin typeface="Cambria Math" panose="02040503050406030204" pitchFamily="18" charset="0"/>
                                </a:rPr>
                                <m:t>−</m:t>
                              </m:r>
                              <m:r>
                                <a:rPr lang="en-US" i="1">
                                  <a:latin typeface="Cambria Math" panose="02040503050406030204" pitchFamily="18" charset="0"/>
                                </a:rPr>
                                <m:t>𝑀</m:t>
                              </m:r>
                            </m:e>
                          </m:eqArr>
                          <m:r>
                            <a:rPr lang="en-US" b="0" i="1" smtClean="0">
                              <a:latin typeface="Cambria Math" panose="02040503050406030204" pitchFamily="18" charset="0"/>
                            </a:rPr>
                            <m:t>   </m:t>
                          </m:r>
                          <m:eqArr>
                            <m:eqArrPr>
                              <m:ctrlPr>
                                <a:rPr lang="sv-SE" i="1">
                                  <a:latin typeface="Cambria Math" panose="02040503050406030204" pitchFamily="18" charset="0"/>
                                </a:rPr>
                              </m:ctrlPr>
                            </m:eqArrPr>
                            <m:e>
                              <m:r>
                                <a:rPr lang="en-US" b="0" i="1" smtClean="0">
                                  <a:latin typeface="Cambria Math" panose="02040503050406030204" pitchFamily="18" charset="0"/>
                                </a:rPr>
                                <m:t>𝑀</m:t>
                              </m:r>
                            </m:e>
                            <m:e>
                              <m:r>
                                <a:rPr lang="en-US" b="0" i="1" smtClean="0">
                                  <a:latin typeface="Cambria Math" panose="02040503050406030204" pitchFamily="18" charset="0"/>
                                </a:rPr>
                                <m:t>𝑀</m:t>
                              </m:r>
                            </m:e>
                            <m:e>
                              <m:r>
                                <a:rPr lang="en-US" b="0" i="1" smtClean="0">
                                  <a:latin typeface="Cambria Math" panose="02040503050406030204" pitchFamily="18" charset="0"/>
                                </a:rPr>
                                <m:t>−</m:t>
                              </m:r>
                              <m:r>
                                <a:rPr lang="en-US" b="0" i="1" smtClean="0">
                                  <a:latin typeface="Cambria Math" panose="02040503050406030204" pitchFamily="18" charset="0"/>
                                </a:rPr>
                                <m:t>𝑀</m:t>
                              </m:r>
                            </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𝐻</m:t>
                                  </m:r>
                                </m:sub>
                              </m:sSub>
                            </m:e>
                          </m:eqArr>
                        </m:e>
                      </m:d>
                    </m:oMath>
                  </m:oMathPara>
                </a14:m>
                <a:endParaRPr lang="sv-SE" dirty="0"/>
              </a:p>
            </p:txBody>
          </p:sp>
        </mc:Choice>
        <mc:Fallback>
          <p:sp>
            <p:nvSpPr>
              <p:cNvPr id="24" name="TextBox 23"/>
              <p:cNvSpPr txBox="1">
                <a:spLocks noRot="1" noChangeAspect="1" noMove="1" noResize="1" noEditPoints="1" noAdjustHandles="1" noChangeArrowheads="1" noChangeShapeType="1" noTextEdit="1"/>
              </p:cNvSpPr>
              <p:nvPr/>
            </p:nvSpPr>
            <p:spPr>
              <a:xfrm>
                <a:off x="7493192" y="4639735"/>
                <a:ext cx="1952458" cy="1046697"/>
              </a:xfrm>
              <a:prstGeom prst="rect">
                <a:avLst/>
              </a:prstGeom>
              <a:blipFill>
                <a:blip r:embed="rId13"/>
                <a:stretch>
                  <a:fillRect/>
                </a:stretch>
              </a:blipFill>
            </p:spPr>
            <p:txBody>
              <a:bodyPr/>
              <a:lstStyle/>
              <a:p>
                <a:r>
                  <a:rPr lang="sv-SE">
                    <a:noFill/>
                  </a:rPr>
                  <a:t> </a:t>
                </a:r>
              </a:p>
            </p:txBody>
          </p:sp>
        </mc:Fallback>
      </mc:AlternateContent>
      <p:sp>
        <p:nvSpPr>
          <p:cNvPr id="25" name="TextBox 24"/>
          <p:cNvSpPr txBox="1"/>
          <p:nvPr/>
        </p:nvSpPr>
        <p:spPr>
          <a:xfrm>
            <a:off x="5648350" y="4766542"/>
            <a:ext cx="1924050" cy="923330"/>
          </a:xfrm>
          <a:prstGeom prst="rect">
            <a:avLst/>
          </a:prstGeom>
          <a:noFill/>
        </p:spPr>
        <p:txBody>
          <a:bodyPr wrap="square" rtlCol="0">
            <a:spAutoFit/>
          </a:bodyPr>
          <a:lstStyle/>
          <a:p>
            <a:pPr algn="ctr"/>
            <a:r>
              <a:rPr lang="en-US" dirty="0" smtClean="0"/>
              <a:t>Simplified</a:t>
            </a:r>
          </a:p>
          <a:p>
            <a:pPr algn="ctr"/>
            <a:r>
              <a:rPr lang="en-US" dirty="0" smtClean="0"/>
              <a:t>Inductance Matrix</a:t>
            </a:r>
            <a:endParaRPr lang="sv-SE" dirty="0"/>
          </a:p>
        </p:txBody>
      </p:sp>
    </p:spTree>
    <p:extLst>
      <p:ext uri="{BB962C8B-B14F-4D97-AF65-F5344CB8AC3E}">
        <p14:creationId xmlns:p14="http://schemas.microsoft.com/office/powerpoint/2010/main" val="2910022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8421" y="310978"/>
            <a:ext cx="10990263" cy="568412"/>
          </a:xfrm>
        </p:spPr>
        <p:txBody>
          <a:bodyPr/>
          <a:lstStyle/>
          <a:p>
            <a:r>
              <a:rPr lang="en-US" dirty="0" smtClean="0">
                <a:latin typeface="Times New Roman" panose="02020603050405020304" pitchFamily="18" charset="0"/>
                <a:cs typeface="Times New Roman" panose="02020603050405020304" pitchFamily="18" charset="0"/>
              </a:rPr>
              <a:t>Switching Harmonics- Sequences</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19" name="Table 18">
                <a:extLst>
                  <a:ext uri="{FF2B5EF4-FFF2-40B4-BE49-F238E27FC236}">
                    <a16:creationId xmlns:a16="http://schemas.microsoft.com/office/drawing/2014/main" id="{B28E5191-62E9-4016-845B-8CEB358D7D8D}"/>
                  </a:ext>
                </a:extLst>
              </p:cNvPr>
              <p:cNvGraphicFramePr>
                <a:graphicFrameLocks noGrp="1"/>
              </p:cNvGraphicFramePr>
              <p:nvPr>
                <p:extLst>
                  <p:ext uri="{D42A27DB-BD31-4B8C-83A1-F6EECF244321}">
                    <p14:modId xmlns:p14="http://schemas.microsoft.com/office/powerpoint/2010/main" val="933418715"/>
                  </p:ext>
                </p:extLst>
              </p:nvPr>
            </p:nvGraphicFramePr>
            <p:xfrm>
              <a:off x="600114" y="1139869"/>
              <a:ext cx="5853438" cy="4693612"/>
            </p:xfrm>
            <a:graphic>
              <a:graphicData uri="http://schemas.openxmlformats.org/drawingml/2006/table">
                <a:tbl>
                  <a:tblPr firstRow="1" bandRow="1">
                    <a:tableStyleId>{5C22544A-7EE6-4342-B048-85BDC9FD1C3A}</a:tableStyleId>
                  </a:tblPr>
                  <a:tblGrid>
                    <a:gridCol w="1457991">
                      <a:extLst>
                        <a:ext uri="{9D8B030D-6E8A-4147-A177-3AD203B41FA5}">
                          <a16:colId xmlns:a16="http://schemas.microsoft.com/office/drawing/2014/main" val="2433690308"/>
                        </a:ext>
                      </a:extLst>
                    </a:gridCol>
                    <a:gridCol w="1465149">
                      <a:extLst>
                        <a:ext uri="{9D8B030D-6E8A-4147-A177-3AD203B41FA5}">
                          <a16:colId xmlns:a16="http://schemas.microsoft.com/office/drawing/2014/main" val="2883717235"/>
                        </a:ext>
                      </a:extLst>
                    </a:gridCol>
                    <a:gridCol w="1465149">
                      <a:extLst>
                        <a:ext uri="{9D8B030D-6E8A-4147-A177-3AD203B41FA5}">
                          <a16:colId xmlns:a16="http://schemas.microsoft.com/office/drawing/2014/main" val="372870230"/>
                        </a:ext>
                      </a:extLst>
                    </a:gridCol>
                    <a:gridCol w="1465149">
                      <a:extLst>
                        <a:ext uri="{9D8B030D-6E8A-4147-A177-3AD203B41FA5}">
                          <a16:colId xmlns:a16="http://schemas.microsoft.com/office/drawing/2014/main" val="1663911851"/>
                        </a:ext>
                      </a:extLst>
                    </a:gridCol>
                  </a:tblGrid>
                  <a:tr h="670516">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Frequency/ Phase</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A</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B</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C</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480755"/>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14:m>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r>
                                <a:rPr lang="en-US" sz="1600" b="0" i="1" dirty="0" smtClean="0">
                                  <a:solidFill>
                                    <a:srgbClr val="000000"/>
                                  </a:solidFill>
                                  <a:latin typeface="Cambria Math" panose="02040503050406030204" pitchFamily="18" charset="0"/>
                                </a:rPr>
                                <m:t>=</m:t>
                              </m:r>
                              <m:sSup>
                                <m:sSupPr>
                                  <m:ctrlPr>
                                    <a:rPr lang="en-US" sz="1600" b="0" i="1" dirty="0" smtClean="0">
                                      <a:solidFill>
                                        <a:srgbClr val="000000"/>
                                      </a:solidFill>
                                      <a:latin typeface="Cambria Math" panose="02040503050406030204" pitchFamily="18" charset="0"/>
                                    </a:rPr>
                                  </m:ctrlPr>
                                </m:sSupPr>
                                <m:e>
                                  <m:r>
                                    <a:rPr lang="en-US" sz="1600" b="0" i="1" dirty="0" smtClean="0">
                                      <a:solidFill>
                                        <a:srgbClr val="000000"/>
                                      </a:solidFill>
                                      <a:latin typeface="Cambria Math" panose="02040503050406030204" pitchFamily="18" charset="0"/>
                                    </a:rPr>
                                    <m:t>0</m:t>
                                  </m:r>
                                </m:e>
                                <m:sup>
                                  <m:r>
                                    <a:rPr lang="en-US" sz="1600" b="0" i="1" dirty="0" smtClean="0">
                                      <a:solidFill>
                                        <a:srgbClr val="000000"/>
                                      </a:solidFill>
                                      <a:latin typeface="Cambria Math" panose="02040503050406030204" pitchFamily="18" charset="0"/>
                                    </a:rPr>
                                    <m:t>𝑜</m:t>
                                  </m:r>
                                </m:sup>
                              </m:sSup>
                            </m:oMath>
                          </a14:m>
                          <a:r>
                            <a:rPr lang="en-US" sz="1600" b="0" dirty="0">
                              <a:solidFill>
                                <a:sysClr val="windowText" lastClr="000000"/>
                              </a:solidFill>
                              <a:latin typeface="Times New Roman" panose="02020603050405020304" pitchFamily="18" charset="0"/>
                              <a:cs typeface="Times New Roman" panose="02020603050405020304" pitchFamily="18" charset="0"/>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F0FF"/>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  </m:t>
                                    </m:r>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r>
                                  <a:rPr lang="en-US" sz="1600" b="0" i="1" dirty="0" smtClean="0">
                                    <a:solidFill>
                                      <a:srgbClr val="000000"/>
                                    </a:solidFill>
                                    <a:latin typeface="Cambria Math" panose="02040503050406030204" pitchFamily="18" charset="0"/>
                                  </a:rPr>
                                  <m:t>=12</m:t>
                                </m:r>
                                <m:sSup>
                                  <m:sSupPr>
                                    <m:ctrlPr>
                                      <a:rPr lang="en-US" sz="1600" b="0" i="1" dirty="0" smtClean="0">
                                        <a:solidFill>
                                          <a:srgbClr val="000000"/>
                                        </a:solidFill>
                                        <a:latin typeface="Cambria Math" panose="02040503050406030204" pitchFamily="18" charset="0"/>
                                      </a:rPr>
                                    </m:ctrlPr>
                                  </m:sSupPr>
                                  <m:e>
                                    <m:r>
                                      <a:rPr lang="en-US" sz="1600" b="0" i="1" dirty="0" smtClean="0">
                                        <a:solidFill>
                                          <a:srgbClr val="000000"/>
                                        </a:solidFill>
                                        <a:latin typeface="Cambria Math" panose="02040503050406030204" pitchFamily="18" charset="0"/>
                                      </a:rPr>
                                      <m:t>0</m:t>
                                    </m:r>
                                  </m:e>
                                  <m:sup>
                                    <m:r>
                                      <a:rPr lang="en-US" sz="1600" b="0" i="1" dirty="0" smtClean="0">
                                        <a:solidFill>
                                          <a:srgbClr val="000000"/>
                                        </a:solidFill>
                                        <a:latin typeface="Cambria Math" panose="020405030504060302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F0FF"/>
                        </a:solidFill>
                      </a:tcPr>
                    </a:tc>
                    <a:tc>
                      <a:txBody>
                        <a:bodyPr/>
                        <a:lstStyle/>
                        <a:p>
                          <a:pPr/>
                          <a14:m>
                            <m:oMathPara xmlns:m="http://schemas.openxmlformats.org/officeDocument/2006/math">
                              <m:oMathParaPr>
                                <m:jc m:val="centerGroup"/>
                              </m:oMathParaPr>
                              <m:oMath xmlns:m="http://schemas.openxmlformats.org/officeDocument/2006/math">
                                <m:sSub>
                                  <m:sSubPr>
                                    <m:ctrlPr>
                                      <a:rPr lang="en-US" sz="1600" b="0" i="1" dirty="0" smtClean="0">
                                        <a:solidFill>
                                          <a:srgbClr val="000000"/>
                                        </a:solidFill>
                                        <a:latin typeface="Cambria Math" panose="02040503050406030204" pitchFamily="18" charset="0"/>
                                      </a:rPr>
                                    </m:ctrlPr>
                                  </m:sSubPr>
                                  <m:e>
                                    <m:r>
                                      <a:rPr lang="en-US" sz="1600" b="0" i="1" dirty="0" smtClean="0">
                                        <a:solidFill>
                                          <a:srgbClr val="000000"/>
                                        </a:solidFill>
                                        <a:latin typeface="Cambria Math" panose="02040503050406030204" pitchFamily="18" charset="0"/>
                                      </a:rPr>
                                      <m:t>𝜃</m:t>
                                    </m:r>
                                  </m:e>
                                  <m:sub>
                                    <m:r>
                                      <a:rPr lang="en-US" sz="1600" b="0" i="1" dirty="0" smtClean="0">
                                        <a:solidFill>
                                          <a:srgbClr val="000000"/>
                                        </a:solidFill>
                                        <a:latin typeface="Cambria Math" panose="02040503050406030204" pitchFamily="18" charset="0"/>
                                      </a:rPr>
                                      <m:t>𝑜</m:t>
                                    </m:r>
                                  </m:sub>
                                </m:sSub>
                                <m:r>
                                  <a:rPr lang="en-US" sz="1600" b="0" i="1" dirty="0" smtClean="0">
                                    <a:solidFill>
                                      <a:srgbClr val="000000"/>
                                    </a:solidFill>
                                    <a:latin typeface="Cambria Math" panose="02040503050406030204" pitchFamily="18" charset="0"/>
                                  </a:rPr>
                                  <m:t>=−12</m:t>
                                </m:r>
                                <m:sSup>
                                  <m:sSupPr>
                                    <m:ctrlPr>
                                      <a:rPr lang="en-US" sz="1600" b="0" i="1" dirty="0" smtClean="0">
                                        <a:solidFill>
                                          <a:srgbClr val="000000"/>
                                        </a:solidFill>
                                        <a:latin typeface="Cambria Math" panose="02040503050406030204" pitchFamily="18" charset="0"/>
                                      </a:rPr>
                                    </m:ctrlPr>
                                  </m:sSupPr>
                                  <m:e>
                                    <m:r>
                                      <a:rPr lang="en-US" sz="1600" b="0" i="1" dirty="0" smtClean="0">
                                        <a:solidFill>
                                          <a:srgbClr val="000000"/>
                                        </a:solidFill>
                                        <a:latin typeface="Cambria Math" panose="02040503050406030204" pitchFamily="18" charset="0"/>
                                      </a:rPr>
                                      <m:t>0</m:t>
                                    </m:r>
                                  </m:e>
                                  <m:sup>
                                    <m:r>
                                      <a:rPr lang="en-US" sz="1600" b="0" i="1" dirty="0" smtClean="0">
                                        <a:solidFill>
                                          <a:srgbClr val="000000"/>
                                        </a:solidFill>
                                        <a:latin typeface="Cambria Math" panose="020405030504060302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EF0FF"/>
                        </a:solidFill>
                      </a:tcPr>
                    </a:tc>
                    <a:extLst>
                      <a:ext uri="{0D108BD9-81ED-4DB2-BD59-A6C34878D82A}">
                        <a16:rowId xmlns:a16="http://schemas.microsoft.com/office/drawing/2014/main" val="2642162602"/>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−4</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764944422"/>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−2</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FF"/>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FF"/>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EF0FF"/>
                        </a:solidFill>
                      </a:tcPr>
                    </a:tc>
                    <a:extLst>
                      <a:ext uri="{0D108BD9-81ED-4DB2-BD59-A6C34878D82A}">
                        <a16:rowId xmlns:a16="http://schemas.microsoft.com/office/drawing/2014/main" val="1985815762"/>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368239430"/>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+2</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998749998"/>
                      </a:ext>
                    </a:extLst>
                  </a:tr>
                  <a:tr h="670516">
                    <a:tc>
                      <a:txBody>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𝑠</m:t>
                                    </m:r>
                                  </m:sub>
                                </m:sSub>
                                <m:r>
                                  <a:rPr lang="en-US" sz="1600" b="0" i="1" smtClean="0">
                                    <a:solidFill>
                                      <a:sysClr val="windowText" lastClr="000000"/>
                                    </a:solidFill>
                                    <a:latin typeface="Cambria Math" panose="02040503050406030204" pitchFamily="18" charset="0"/>
                                    <a:cs typeface="Times New Roman" panose="02020603050405020304" pitchFamily="18" charset="0"/>
                                  </a:rPr>
                                  <m:t>+4</m:t>
                                </m:r>
                                <m:sSub>
                                  <m:sSubPr>
                                    <m:ctrlPr>
                                      <a:rPr lang="en-US" sz="1600" b="0" i="1" smtClean="0">
                                        <a:solidFill>
                                          <a:sysClr val="windowText" lastClr="000000"/>
                                        </a:solidFill>
                                        <a:latin typeface="Cambria Math" panose="02040503050406030204" pitchFamily="18" charset="0"/>
                                        <a:cs typeface="Times New Roman" panose="02020603050405020304" pitchFamily="18" charset="0"/>
                                      </a:rPr>
                                    </m:ctrlPr>
                                  </m:sSubPr>
                                  <m:e>
                                    <m:r>
                                      <a:rPr lang="en-US" sz="1600" b="0" i="1" smtClean="0">
                                        <a:solidFill>
                                          <a:sysClr val="windowText" lastClr="000000"/>
                                        </a:solidFill>
                                        <a:latin typeface="Cambria Math" panose="02040503050406030204" pitchFamily="18" charset="0"/>
                                        <a:cs typeface="Times New Roman" panose="02020603050405020304" pitchFamily="18" charset="0"/>
                                      </a:rPr>
                                      <m:t>𝑓</m:t>
                                    </m:r>
                                  </m:e>
                                  <m:sub>
                                    <m:r>
                                      <a:rPr lang="en-US" sz="1600" b="0" i="1" smtClean="0">
                                        <a:solidFill>
                                          <a:sysClr val="windowText" lastClr="000000"/>
                                        </a:solidFill>
                                        <a:latin typeface="Cambria Math" panose="02040503050406030204" pitchFamily="18" charset="0"/>
                                        <a:cs typeface="Times New Roman" panose="02020603050405020304" pitchFamily="18" charset="0"/>
                                      </a:rPr>
                                      <m:t>𝑜</m:t>
                                    </m:r>
                                  </m:sub>
                                </m:sSub>
                              </m:oMath>
                            </m:oMathPara>
                          </a14:m>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tc>
                      <a:txBody>
                        <a:bodyPr/>
                        <a:lstStyle/>
                        <a:p>
                          <a:pPr/>
                          <a14:m>
                            <m:oMathPara xmlns:m="http://schemas.openxmlformats.org/officeDocument/2006/math">
                              <m:oMathParaPr>
                                <m:jc m:val="centerGroup"/>
                              </m:oMathParaPr>
                              <m:oMath xmlns:m="http://schemas.openxmlformats.org/officeDocument/2006/math">
                                <m:sSup>
                                  <m:sSupPr>
                                    <m:ctrlPr>
                                      <a:rPr lang="en-US" sz="1600" b="0" i="1" dirty="0" smtClean="0">
                                        <a:solidFill>
                                          <a:sysClr val="windowText" lastClr="000000"/>
                                        </a:solidFill>
                                        <a:latin typeface="Cambria Math" panose="02040503050406030204" pitchFamily="18" charset="0"/>
                                        <a:cs typeface="Times New Roman" panose="02020603050405020304" pitchFamily="18" charset="0"/>
                                      </a:rPr>
                                    </m:ctrlPr>
                                  </m:sSupPr>
                                  <m:e>
                                    <m:r>
                                      <a:rPr lang="en-US" sz="1600" b="0" i="1" dirty="0" smtClean="0">
                                        <a:solidFill>
                                          <a:sysClr val="windowText" lastClr="000000"/>
                                        </a:solidFill>
                                        <a:latin typeface="Cambria Math" panose="02040503050406030204" pitchFamily="18" charset="0"/>
                                        <a:cs typeface="Times New Roman" panose="02020603050405020304" pitchFamily="18" charset="0"/>
                                      </a:rPr>
                                      <m:t>−120</m:t>
                                    </m:r>
                                  </m:e>
                                  <m:sup>
                                    <m:r>
                                      <a:rPr lang="en-US" sz="1600" b="0" i="1" dirty="0" smtClean="0">
                                        <a:solidFill>
                                          <a:sysClr val="windowText" lastClr="000000"/>
                                        </a:solidFill>
                                        <a:latin typeface="Cambria Math" panose="02040503050406030204" pitchFamily="18" charset="0"/>
                                        <a:cs typeface="Times New Roman" panose="02020603050405020304" pitchFamily="18" charset="0"/>
                                      </a:rPr>
                                      <m:t>𝑜</m:t>
                                    </m:r>
                                  </m:sup>
                                </m:sSup>
                              </m:oMath>
                            </m:oMathPara>
                          </a14:m>
                          <a:endParaRPr lang="en-US" sz="1600" b="0" dirty="0">
                            <a:solidFill>
                              <a:sysClr val="windowText" lastClr="0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20000"/>
                            <a:lumOff val="80000"/>
                          </a:schemeClr>
                        </a:solidFill>
                      </a:tcPr>
                    </a:tc>
                    <a:extLst>
                      <a:ext uri="{0D108BD9-81ED-4DB2-BD59-A6C34878D82A}">
                        <a16:rowId xmlns:a16="http://schemas.microsoft.com/office/drawing/2014/main" val="173717316"/>
                      </a:ext>
                    </a:extLst>
                  </a:tr>
                </a:tbl>
              </a:graphicData>
            </a:graphic>
          </p:graphicFrame>
        </mc:Choice>
        <mc:Fallback xmlns="">
          <p:graphicFrame>
            <p:nvGraphicFramePr>
              <p:cNvPr id="19" name="Table 18">
                <a:extLst>
                  <a:ext uri="{FF2B5EF4-FFF2-40B4-BE49-F238E27FC236}">
                    <a16:creationId xmlns:a16="http://schemas.microsoft.com/office/drawing/2014/main" id="{B28E5191-62E9-4016-845B-8CEB358D7D8D}"/>
                  </a:ext>
                </a:extLst>
              </p:cNvPr>
              <p:cNvGraphicFramePr>
                <a:graphicFrameLocks noGrp="1"/>
              </p:cNvGraphicFramePr>
              <p:nvPr>
                <p:extLst>
                  <p:ext uri="{D42A27DB-BD31-4B8C-83A1-F6EECF244321}">
                    <p14:modId xmlns:p14="http://schemas.microsoft.com/office/powerpoint/2010/main" val="933418715"/>
                  </p:ext>
                </p:extLst>
              </p:nvPr>
            </p:nvGraphicFramePr>
            <p:xfrm>
              <a:off x="600114" y="1139869"/>
              <a:ext cx="5853438" cy="4693612"/>
            </p:xfrm>
            <a:graphic>
              <a:graphicData uri="http://schemas.openxmlformats.org/drawingml/2006/table">
                <a:tbl>
                  <a:tblPr firstRow="1" bandRow="1">
                    <a:tableStyleId>{5C22544A-7EE6-4342-B048-85BDC9FD1C3A}</a:tableStyleId>
                  </a:tblPr>
                  <a:tblGrid>
                    <a:gridCol w="1457991">
                      <a:extLst>
                        <a:ext uri="{9D8B030D-6E8A-4147-A177-3AD203B41FA5}">
                          <a16:colId xmlns:a16="http://schemas.microsoft.com/office/drawing/2014/main" val="2433690308"/>
                        </a:ext>
                      </a:extLst>
                    </a:gridCol>
                    <a:gridCol w="1465149">
                      <a:extLst>
                        <a:ext uri="{9D8B030D-6E8A-4147-A177-3AD203B41FA5}">
                          <a16:colId xmlns:a16="http://schemas.microsoft.com/office/drawing/2014/main" val="2883717235"/>
                        </a:ext>
                      </a:extLst>
                    </a:gridCol>
                    <a:gridCol w="1465149">
                      <a:extLst>
                        <a:ext uri="{9D8B030D-6E8A-4147-A177-3AD203B41FA5}">
                          <a16:colId xmlns:a16="http://schemas.microsoft.com/office/drawing/2014/main" val="372870230"/>
                        </a:ext>
                      </a:extLst>
                    </a:gridCol>
                    <a:gridCol w="1465149">
                      <a:extLst>
                        <a:ext uri="{9D8B030D-6E8A-4147-A177-3AD203B41FA5}">
                          <a16:colId xmlns:a16="http://schemas.microsoft.com/office/drawing/2014/main" val="1663911851"/>
                        </a:ext>
                      </a:extLst>
                    </a:gridCol>
                  </a:tblGrid>
                  <a:tr h="670516">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Frequency/ Phase</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smtClean="0">
                              <a:solidFill>
                                <a:sysClr val="windowText" lastClr="000000"/>
                              </a:solidFill>
                              <a:latin typeface="Times New Roman" panose="02020603050405020304" pitchFamily="18" charset="0"/>
                              <a:cs typeface="Times New Roman" panose="02020603050405020304" pitchFamily="18" charset="0"/>
                            </a:rPr>
                            <a:t>A</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B</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11" rtl="0" eaLnBrk="1" fontAlgn="auto" latinLnBrk="0" hangingPunct="1">
                            <a:lnSpc>
                              <a:spcPct val="100000"/>
                            </a:lnSpc>
                            <a:spcBef>
                              <a:spcPts val="0"/>
                            </a:spcBef>
                            <a:spcAft>
                              <a:spcPts val="0"/>
                            </a:spcAft>
                            <a:buClrTx/>
                            <a:buSzTx/>
                            <a:buFontTx/>
                            <a:buNone/>
                            <a:tabLst/>
                            <a:defRPr/>
                          </a:pPr>
                          <a:r>
                            <a:rPr lang="en-US" sz="1600" b="1" dirty="0" smtClean="0">
                              <a:solidFill>
                                <a:sysClr val="windowText" lastClr="000000"/>
                              </a:solidFill>
                              <a:latin typeface="Times New Roman" panose="02020603050405020304" pitchFamily="18" charset="0"/>
                              <a:cs typeface="Times New Roman" panose="02020603050405020304" pitchFamily="18" charset="0"/>
                            </a:rPr>
                            <a:t>C</a:t>
                          </a:r>
                          <a:endParaRPr lang="en-US" sz="1600" b="1" dirty="0">
                            <a:solidFill>
                              <a:sysClr val="windowText" lastClr="00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0480755"/>
                      </a:ext>
                    </a:extLst>
                  </a:tr>
                  <a:tr h="670516">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100909" r="-302929" b="-503636"/>
                          </a:stretch>
                        </a:blipFill>
                      </a:tcPr>
                    </a:tc>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585" t="-100909" r="-200415" b="-503636"/>
                          </a:stretch>
                        </a:blipFill>
                      </a:tcPr>
                    </a:tc>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417" t="-100909" r="-101250" b="-503636"/>
                          </a:stretch>
                        </a:blipFill>
                      </a:tcPr>
                    </a:tc>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9170" t="-100909" r="-830" b="-503636"/>
                          </a:stretch>
                        </a:blipFill>
                      </a:tcPr>
                    </a:tc>
                    <a:extLst>
                      <a:ext uri="{0D108BD9-81ED-4DB2-BD59-A6C34878D82A}">
                        <a16:rowId xmlns:a16="http://schemas.microsoft.com/office/drawing/2014/main" val="2642162602"/>
                      </a:ext>
                    </a:extLst>
                  </a:tr>
                  <a:tr h="670516">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200909" r="-302929" b="-40363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99585" t="-200909" r="-200415" b="-40363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00417" t="-200909" r="-101250" b="-403636"/>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2"/>
                          <a:stretch>
                            <a:fillRect l="-299170" t="-200909" r="-830" b="-403636"/>
                          </a:stretch>
                        </a:blipFill>
                      </a:tcPr>
                    </a:tc>
                    <a:extLst>
                      <a:ext uri="{0D108BD9-81ED-4DB2-BD59-A6C34878D82A}">
                        <a16:rowId xmlns:a16="http://schemas.microsoft.com/office/drawing/2014/main" val="764944422"/>
                      </a:ext>
                    </a:extLst>
                  </a:tr>
                  <a:tr h="670516">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298198" r="-302929" b="-30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298198" r="-200415" b="-30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298198" r="-101250" b="-300000"/>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298198" r="-830" b="-300000"/>
                          </a:stretch>
                        </a:blipFill>
                      </a:tcPr>
                    </a:tc>
                    <a:extLst>
                      <a:ext uri="{0D108BD9-81ED-4DB2-BD59-A6C34878D82A}">
                        <a16:rowId xmlns:a16="http://schemas.microsoft.com/office/drawing/2014/main" val="1985815762"/>
                      </a:ext>
                    </a:extLst>
                  </a:tr>
                  <a:tr h="670516">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401818" r="-302929" b="-2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401818" r="-200415" b="-2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401818" r="-101250" b="-2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401818" r="-830" b="-202727"/>
                          </a:stretch>
                        </a:blipFill>
                      </a:tcPr>
                    </a:tc>
                    <a:extLst>
                      <a:ext uri="{0D108BD9-81ED-4DB2-BD59-A6C34878D82A}">
                        <a16:rowId xmlns:a16="http://schemas.microsoft.com/office/drawing/2014/main" val="368239430"/>
                      </a:ext>
                    </a:extLst>
                  </a:tr>
                  <a:tr h="670516">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501818" r="-302929" b="-1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501818" r="-200415" b="-1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501818" r="-101250" b="-10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501818" r="-830" b="-102727"/>
                          </a:stretch>
                        </a:blipFill>
                      </a:tcPr>
                    </a:tc>
                    <a:extLst>
                      <a:ext uri="{0D108BD9-81ED-4DB2-BD59-A6C34878D82A}">
                        <a16:rowId xmlns:a16="http://schemas.microsoft.com/office/drawing/2014/main" val="1998749998"/>
                      </a:ext>
                    </a:extLst>
                  </a:tr>
                  <a:tr h="670516">
                    <a:tc>
                      <a:txBody>
                        <a:bodyPr/>
                        <a:lstStyle/>
                        <a:p>
                          <a:endParaRPr lang="sv-SE"/>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418" t="-601818" r="-302929" b="-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99585" t="-601818" r="-200415" b="-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00417" t="-601818" r="-101250" b="-2727"/>
                          </a:stretch>
                        </a:blipFill>
                      </a:tcPr>
                    </a:tc>
                    <a:tc>
                      <a:txBody>
                        <a:bodyPr/>
                        <a:lstStyle/>
                        <a:p>
                          <a:endParaRPr lang="sv-SE"/>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2"/>
                          <a:stretch>
                            <a:fillRect l="-299170" t="-601818" r="-830" b="-2727"/>
                          </a:stretch>
                        </a:blipFill>
                      </a:tcPr>
                    </a:tc>
                    <a:extLst>
                      <a:ext uri="{0D108BD9-81ED-4DB2-BD59-A6C34878D82A}">
                        <a16:rowId xmlns:a16="http://schemas.microsoft.com/office/drawing/2014/main" val="173717316"/>
                      </a:ext>
                    </a:extLst>
                  </a:tr>
                </a:tbl>
              </a:graphicData>
            </a:graphic>
          </p:graphicFrame>
        </mc:Fallback>
      </mc:AlternateContent>
      <p:pic>
        <p:nvPicPr>
          <p:cNvPr id="20" name="Picture 19">
            <a:extLst>
              <a:ext uri="{FF2B5EF4-FFF2-40B4-BE49-F238E27FC236}">
                <a16:creationId xmlns:a16="http://schemas.microsoft.com/office/drawing/2014/main" id="{B71E5CBA-F4F8-4BC4-9901-B9622145F520}"/>
              </a:ext>
            </a:extLst>
          </p:cNvPr>
          <p:cNvPicPr>
            <a:picLocks noChangeAspect="1"/>
          </p:cNvPicPr>
          <p:nvPr/>
        </p:nvPicPr>
        <p:blipFill>
          <a:blip r:embed="rId3"/>
          <a:stretch>
            <a:fillRect/>
          </a:stretch>
        </p:blipFill>
        <p:spPr>
          <a:xfrm>
            <a:off x="6866675" y="2278535"/>
            <a:ext cx="4018685" cy="3014014"/>
          </a:xfrm>
          <a:prstGeom prst="rect">
            <a:avLst/>
          </a:prstGeom>
        </p:spPr>
      </p:pic>
    </p:spTree>
    <p:extLst>
      <p:ext uri="{BB962C8B-B14F-4D97-AF65-F5344CB8AC3E}">
        <p14:creationId xmlns:p14="http://schemas.microsoft.com/office/powerpoint/2010/main" val="271230261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6625" y="282832"/>
            <a:ext cx="10990263" cy="568412"/>
          </a:xfrm>
        </p:spPr>
        <p:txBody>
          <a:bodyPr/>
          <a:lstStyle/>
          <a:p>
            <a:r>
              <a:rPr lang="en-US" dirty="0" smtClean="0"/>
              <a:t>The Induced Superimposed Voltage </a:t>
            </a:r>
            <a:endParaRPr lang="sv-SE" dirty="0"/>
          </a:p>
        </p:txBody>
      </p:sp>
      <mc:AlternateContent xmlns:mc="http://schemas.openxmlformats.org/markup-compatibility/2006" xmlns:a14="http://schemas.microsoft.com/office/drawing/2010/main">
        <mc:Choice Requires="a14">
          <p:sp>
            <p:nvSpPr>
              <p:cNvPr id="4" name="TextBox 3"/>
              <p:cNvSpPr txBox="1"/>
              <p:nvPr/>
            </p:nvSpPr>
            <p:spPr>
              <a:xfrm>
                <a:off x="2914650" y="1250950"/>
                <a:ext cx="4987519"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𝐻</m:t>
                          </m:r>
                        </m:sub>
                      </m:sSub>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𝑠𝑤</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𝑀</m:t>
                          </m:r>
                        </m:e>
                        <m:sub>
                          <m:r>
                            <a:rPr lang="en-US" b="0" i="1" smtClean="0">
                              <a:latin typeface="Cambria Math" panose="02040503050406030204" pitchFamily="18" charset="0"/>
                            </a:rPr>
                            <m:t>𝐴𝐻</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𝑠𝑤</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𝐵</m:t>
                          </m:r>
                          <m:r>
                            <a:rPr lang="en-US" i="1">
                              <a:latin typeface="Cambria Math" panose="02040503050406030204" pitchFamily="18" charset="0"/>
                            </a:rPr>
                            <m:t>𝐻</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𝐵</m:t>
                          </m:r>
                        </m:sub>
                      </m:sSub>
                      <m:r>
                        <a:rPr lang="en-US" b="0" i="0" smtClean="0">
                          <a:latin typeface="Cambria Math" panose="02040503050406030204" pitchFamily="18" charset="0"/>
                        </a:rPr>
                        <m:t>+</m:t>
                      </m:r>
                      <m:r>
                        <a:rPr lang="en-US" i="1">
                          <a:latin typeface="Cambria Math" panose="02040503050406030204" pitchFamily="18" charset="0"/>
                        </a:rPr>
                        <m:t>𝑗</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𝑠𝑤</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𝐶</m:t>
                          </m:r>
                          <m:r>
                            <a:rPr lang="en-US" i="1">
                              <a:latin typeface="Cambria Math" panose="02040503050406030204" pitchFamily="18" charset="0"/>
                            </a:rPr>
                            <m:t>𝐻</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𝐼</m:t>
                          </m:r>
                        </m:e>
                        <m:sub>
                          <m:r>
                            <a:rPr lang="en-US" b="0" i="1" smtClean="0">
                              <a:latin typeface="Cambria Math" panose="02040503050406030204" pitchFamily="18" charset="0"/>
                            </a:rPr>
                            <m:t>𝐶</m:t>
                          </m:r>
                        </m:sub>
                      </m:sSub>
                    </m:oMath>
                  </m:oMathPara>
                </a14:m>
                <a:endParaRPr lang="en-US" dirty="0" smtClean="0"/>
              </a:p>
              <a:p>
                <a:r>
                  <a:rPr lang="en-US" dirty="0" smtClean="0"/>
                  <a:t>       =</a:t>
                </a:r>
                <a14:m>
                  <m:oMath xmlns:m="http://schemas.openxmlformats.org/officeDocument/2006/math">
                    <m:r>
                      <a:rPr lang="en-US" i="1">
                        <a:latin typeface="Cambria Math" panose="02040503050406030204" pitchFamily="18" charset="0"/>
                      </a:rPr>
                      <m:t>𝑗</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𝑠𝑤</m:t>
                        </m:r>
                      </m:sub>
                    </m:sSub>
                    <m:r>
                      <m:rPr>
                        <m:sty m:val="p"/>
                      </m:rPr>
                      <a:rPr lang="en-US" b="0" i="0" smtClean="0">
                        <a:latin typeface="Cambria Math" panose="02040503050406030204" pitchFamily="18" charset="0"/>
                      </a:rPr>
                      <m:t>M</m:t>
                    </m:r>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A</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B</m:t>
                        </m:r>
                      </m:sub>
                    </m:sSub>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I</m:t>
                        </m:r>
                      </m:e>
                      <m:sub>
                        <m:r>
                          <m:rPr>
                            <m:sty m:val="p"/>
                          </m:rPr>
                          <a:rPr lang="en-US" b="0" i="0" smtClean="0">
                            <a:latin typeface="Cambria Math" panose="02040503050406030204" pitchFamily="18" charset="0"/>
                          </a:rPr>
                          <m:t>C</m:t>
                        </m:r>
                      </m:sub>
                    </m:sSub>
                    <m:r>
                      <a:rPr lang="en-US" b="0" i="0" smtClean="0">
                        <a:latin typeface="Cambria Math" panose="02040503050406030204" pitchFamily="18" charset="0"/>
                      </a:rPr>
                      <m:t>)</m:t>
                    </m:r>
                  </m:oMath>
                </a14:m>
                <a:endParaRPr lang="en-US" b="0" dirty="0" smtClean="0"/>
              </a:p>
            </p:txBody>
          </p:sp>
        </mc:Choice>
        <mc:Fallback xmlns="">
          <p:sp>
            <p:nvSpPr>
              <p:cNvPr id="4" name="TextBox 3"/>
              <p:cNvSpPr txBox="1">
                <a:spLocks noRot="1" noChangeAspect="1" noMove="1" noResize="1" noEditPoints="1" noAdjustHandles="1" noChangeArrowheads="1" noChangeShapeType="1" noTextEdit="1"/>
              </p:cNvSpPr>
              <p:nvPr/>
            </p:nvSpPr>
            <p:spPr>
              <a:xfrm>
                <a:off x="2914650" y="1250950"/>
                <a:ext cx="4987519" cy="553998"/>
              </a:xfrm>
              <a:prstGeom prst="rect">
                <a:avLst/>
              </a:prstGeom>
              <a:blipFill>
                <a:blip r:embed="rId2"/>
                <a:stretch>
                  <a:fillRect b="-2527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940774" y="1922144"/>
                <a:ext cx="101406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en-US">
                              <a:latin typeface="Cambria Math" panose="02040503050406030204" pitchFamily="18" charset="0"/>
                            </a:rPr>
                            <m:t>I</m:t>
                          </m:r>
                        </m:e>
                        <m:sub>
                          <m:r>
                            <m:rPr>
                              <m:sty m:val="p"/>
                            </m:rPr>
                            <a:rPr lang="en-US">
                              <a:latin typeface="Cambria Math" panose="02040503050406030204" pitchFamily="18" charset="0"/>
                            </a:rPr>
                            <m:t>A</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𝐵</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𝐶</m:t>
                          </m:r>
                        </m:sub>
                      </m:sSub>
                    </m:oMath>
                  </m:oMathPara>
                </a14:m>
                <a:endParaRPr lang="sv-SE" dirty="0"/>
              </a:p>
            </p:txBody>
          </p:sp>
        </mc:Choice>
        <mc:Fallback xmlns="">
          <p:sp>
            <p:nvSpPr>
              <p:cNvPr id="6" name="Rectangle 5"/>
              <p:cNvSpPr>
                <a:spLocks noRot="1" noChangeAspect="1" noMove="1" noResize="1" noEditPoints="1" noAdjustHandles="1" noChangeArrowheads="1" noChangeShapeType="1" noTextEdit="1"/>
              </p:cNvSpPr>
              <p:nvPr/>
            </p:nvSpPr>
            <p:spPr>
              <a:xfrm>
                <a:off x="1940774" y="1922144"/>
                <a:ext cx="1014060" cy="369332"/>
              </a:xfrm>
              <a:prstGeom prst="rect">
                <a:avLst/>
              </a:prstGeom>
              <a:blipFill>
                <a:blip r:embed="rId3"/>
                <a:stretch>
                  <a:fillRect b="-1639"/>
                </a:stretch>
              </a:blipFill>
            </p:spPr>
            <p:txBody>
              <a:bodyPr/>
              <a:lstStyle/>
              <a:p>
                <a:r>
                  <a:rPr lang="sv-SE">
                    <a:noFill/>
                  </a:rPr>
                  <a:t> </a:t>
                </a:r>
              </a:p>
            </p:txBody>
          </p:sp>
        </mc:Fallback>
      </mc:AlternateContent>
      <p:cxnSp>
        <p:nvCxnSpPr>
          <p:cNvPr id="8" name="Straight Arrow Connector 7"/>
          <p:cNvCxnSpPr/>
          <p:nvPr/>
        </p:nvCxnSpPr>
        <p:spPr>
          <a:xfrm flipV="1">
            <a:off x="3140818" y="2100460"/>
            <a:ext cx="1244600" cy="127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p:cNvSpPr txBox="1"/>
              <p:nvPr/>
            </p:nvSpPr>
            <p:spPr>
              <a:xfrm>
                <a:off x="4571402" y="1892114"/>
                <a:ext cx="5300416" cy="369332"/>
              </a:xfrm>
              <a:prstGeom prst="rect">
                <a:avLst/>
              </a:prstGeom>
              <a:noFill/>
            </p:spPr>
            <p:txBody>
              <a:bodyPr wrap="square" rtlCol="0">
                <a:spAutoFit/>
              </a:bodyPr>
              <a:lstStyle/>
              <a:p>
                <a:r>
                  <a:rPr lang="en-US" dirty="0" smtClean="0"/>
                  <a:t>Related switching functions, </a:t>
                </a:r>
                <a14:m>
                  <m:oMath xmlns:m="http://schemas.openxmlformats.org/officeDocument/2006/math">
                    <m:sSub>
                      <m:sSubPr>
                        <m:ctrlPr>
                          <a:rPr lang="en-US" i="1">
                            <a:latin typeface="Cambria Math" panose="02040503050406030204" pitchFamily="18" charset="0"/>
                          </a:rPr>
                        </m:ctrlPr>
                      </m:sSubPr>
                      <m:e>
                        <m:r>
                          <m:rPr>
                            <m:sty m:val="p"/>
                          </m:rPr>
                          <a:rPr lang="en-US" b="0" i="0" smtClean="0">
                            <a:latin typeface="Cambria Math" panose="02040503050406030204" pitchFamily="18" charset="0"/>
                          </a:rPr>
                          <m:t>S</m:t>
                        </m:r>
                      </m:e>
                      <m:sub>
                        <m:r>
                          <m:rPr>
                            <m:sty m:val="p"/>
                          </m:rPr>
                          <a:rPr lang="en-US">
                            <a:latin typeface="Cambria Math" panose="02040503050406030204" pitchFamily="18" charset="0"/>
                          </a:rPr>
                          <m:t>A</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𝐵</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b="0" i="1" smtClean="0">
                            <a:latin typeface="Cambria Math" panose="02040503050406030204" pitchFamily="18" charset="0"/>
                          </a:rPr>
                          <m:t>𝑆</m:t>
                        </m:r>
                      </m:e>
                      <m:sub>
                        <m:r>
                          <a:rPr lang="en-US" i="1">
                            <a:latin typeface="Cambria Math" panose="02040503050406030204" pitchFamily="18" charset="0"/>
                          </a:rPr>
                          <m:t>𝐶</m:t>
                        </m:r>
                      </m:sub>
                    </m:sSub>
                  </m:oMath>
                </a14:m>
                <a:r>
                  <a:rPr lang="en-US" dirty="0" smtClean="0"/>
                  <a:t> </a:t>
                </a:r>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4571402" y="1892114"/>
                <a:ext cx="5300416" cy="369332"/>
              </a:xfrm>
              <a:prstGeom prst="rect">
                <a:avLst/>
              </a:prstGeom>
              <a:blipFill>
                <a:blip r:embed="rId4"/>
                <a:stretch>
                  <a:fillRect l="-1036" t="-8197" b="-24590"/>
                </a:stretch>
              </a:blipFill>
            </p:spPr>
            <p:txBody>
              <a:bodyPr/>
              <a:lstStyle/>
              <a:p>
                <a:r>
                  <a:rPr lang="sv-SE">
                    <a:noFill/>
                  </a:rPr>
                  <a:t> </a:t>
                </a:r>
              </a:p>
            </p:txBody>
          </p:sp>
        </mc:Fallback>
      </mc:AlternateContent>
      <p:grpSp>
        <p:nvGrpSpPr>
          <p:cNvPr id="10" name="Group 9">
            <a:extLst>
              <a:ext uri="{FF2B5EF4-FFF2-40B4-BE49-F238E27FC236}">
                <a16:creationId xmlns:a16="http://schemas.microsoft.com/office/drawing/2014/main" id="{01029E6E-C7E3-487B-8AD6-0E31205192FB}"/>
              </a:ext>
            </a:extLst>
          </p:cNvPr>
          <p:cNvGrpSpPr/>
          <p:nvPr/>
        </p:nvGrpSpPr>
        <p:grpSpPr>
          <a:xfrm>
            <a:off x="392177" y="3915975"/>
            <a:ext cx="2748641" cy="2032430"/>
            <a:chOff x="1150962" y="1507183"/>
            <a:chExt cx="2748641" cy="2032430"/>
          </a:xfrm>
        </p:grpSpPr>
        <p:cxnSp>
          <p:nvCxnSpPr>
            <p:cNvPr id="11" name="Straight Arrow Connector 10">
              <a:extLst>
                <a:ext uri="{FF2B5EF4-FFF2-40B4-BE49-F238E27FC236}">
                  <a16:creationId xmlns:a16="http://schemas.microsoft.com/office/drawing/2014/main" id="{5E7FDC9F-ED62-4622-8211-716BE7C32D6C}"/>
                </a:ext>
              </a:extLst>
            </p:cNvPr>
            <p:cNvCxnSpPr>
              <a:cxnSpLocks/>
            </p:cNvCxnSpPr>
            <p:nvPr/>
          </p:nvCxnSpPr>
          <p:spPr>
            <a:xfrm>
              <a:off x="1156196" y="3539612"/>
              <a:ext cx="1200647" cy="0"/>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A7D5B58-A447-4209-84AE-18FF6900FEF0}"/>
                </a:ext>
              </a:extLst>
            </p:cNvPr>
            <p:cNvCxnSpPr>
              <a:cxnSpLocks/>
            </p:cNvCxnSpPr>
            <p:nvPr/>
          </p:nvCxnSpPr>
          <p:spPr>
            <a:xfrm flipV="1">
              <a:off x="2356843" y="2513991"/>
              <a:ext cx="1305355" cy="1025622"/>
            </a:xfrm>
            <a:prstGeom prst="straightConnector1">
              <a:avLst/>
            </a:prstGeom>
            <a:ln w="25400">
              <a:solidFill>
                <a:srgbClr val="0127E5"/>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84F3113-1355-468D-9858-1FD859EEBAC8}"/>
                </a:ext>
              </a:extLst>
            </p:cNvPr>
            <p:cNvCxnSpPr>
              <a:cxnSpLocks/>
            </p:cNvCxnSpPr>
            <p:nvPr/>
          </p:nvCxnSpPr>
          <p:spPr>
            <a:xfrm flipV="1">
              <a:off x="3667433" y="1507183"/>
              <a:ext cx="232170" cy="1006809"/>
            </a:xfrm>
            <a:prstGeom prst="straightConnector1">
              <a:avLst/>
            </a:prstGeom>
            <a:ln w="25400">
              <a:solidFill>
                <a:srgbClr val="FE34F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AE7D52C5-305A-4A46-9FAA-826598901875}"/>
                </a:ext>
              </a:extLst>
            </p:cNvPr>
            <p:cNvCxnSpPr>
              <a:cxnSpLocks/>
            </p:cNvCxnSpPr>
            <p:nvPr/>
          </p:nvCxnSpPr>
          <p:spPr>
            <a:xfrm flipV="1">
              <a:off x="1150962" y="1507183"/>
              <a:ext cx="2748641" cy="2032429"/>
            </a:xfrm>
            <a:prstGeom prst="straightConnector1">
              <a:avLst/>
            </a:prstGeom>
            <a:ln w="254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296AFC2-51B8-41DD-9989-A174C5BC0A5D}"/>
                  </a:ext>
                </a:extLst>
              </p:cNvPr>
              <p:cNvSpPr txBox="1"/>
              <p:nvPr/>
            </p:nvSpPr>
            <p:spPr>
              <a:xfrm rot="19268304">
                <a:off x="913905" y="4487094"/>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𝐴𝐵𝐶</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15" name="TextBox 14">
                <a:extLst>
                  <a:ext uri="{FF2B5EF4-FFF2-40B4-BE49-F238E27FC236}">
                    <a16:creationId xmlns:a16="http://schemas.microsoft.com/office/drawing/2014/main" id="{1296AFC2-51B8-41DD-9989-A174C5BC0A5D}"/>
                  </a:ext>
                </a:extLst>
              </p:cNvPr>
              <p:cNvSpPr txBox="1">
                <a:spLocks noRot="1" noChangeAspect="1" noMove="1" noResize="1" noEditPoints="1" noAdjustHandles="1" noChangeArrowheads="1" noChangeShapeType="1" noTextEdit="1"/>
              </p:cNvSpPr>
              <p:nvPr/>
            </p:nvSpPr>
            <p:spPr>
              <a:xfrm rot="19268304">
                <a:off x="913905" y="4487094"/>
                <a:ext cx="1634481" cy="352917"/>
              </a:xfrm>
              <a:prstGeom prst="rect">
                <a:avLst/>
              </a:prstGeom>
              <a:blipFill>
                <a:blip r:embed="rId5"/>
                <a:stretch>
                  <a:fillRect/>
                </a:stretch>
              </a:blipFill>
            </p:spPr>
            <p:txBody>
              <a:bodyPr/>
              <a:lstStyle/>
              <a:p>
                <a:r>
                  <a:rPr lang="sv-SE">
                    <a:noFill/>
                  </a:rPr>
                  <a:t> </a:t>
                </a:r>
              </a:p>
            </p:txBody>
          </p:sp>
        </mc:Fallback>
      </mc:AlternateContent>
      <p:pic>
        <p:nvPicPr>
          <p:cNvPr id="16" name="Picture 15">
            <a:extLst>
              <a:ext uri="{FF2B5EF4-FFF2-40B4-BE49-F238E27FC236}">
                <a16:creationId xmlns:a16="http://schemas.microsoft.com/office/drawing/2014/main" id="{D7624960-C59E-468A-98A2-273B33FD7DC6}"/>
              </a:ext>
            </a:extLst>
          </p:cNvPr>
          <p:cNvPicPr>
            <a:picLocks noChangeAspect="1"/>
          </p:cNvPicPr>
          <p:nvPr/>
        </p:nvPicPr>
        <p:blipFill>
          <a:blip r:embed="rId6"/>
          <a:stretch>
            <a:fillRect/>
          </a:stretch>
        </p:blipFill>
        <p:spPr>
          <a:xfrm>
            <a:off x="6848169" y="3695657"/>
            <a:ext cx="3810000" cy="2857500"/>
          </a:xfrm>
          <a:prstGeom prst="rect">
            <a:avLst/>
          </a:prstGeom>
        </p:spPr>
      </p:pic>
      <p:pic>
        <p:nvPicPr>
          <p:cNvPr id="17" name="Picture 16">
            <a:extLst>
              <a:ext uri="{FF2B5EF4-FFF2-40B4-BE49-F238E27FC236}">
                <a16:creationId xmlns:a16="http://schemas.microsoft.com/office/drawing/2014/main" id="{B80AFBB4-EF16-4ED3-8947-4270FC70B7D1}"/>
              </a:ext>
            </a:extLst>
          </p:cNvPr>
          <p:cNvPicPr>
            <a:picLocks noChangeAspect="1"/>
          </p:cNvPicPr>
          <p:nvPr/>
        </p:nvPicPr>
        <p:blipFill>
          <a:blip r:embed="rId7"/>
          <a:stretch>
            <a:fillRect/>
          </a:stretch>
        </p:blipFill>
        <p:spPr>
          <a:xfrm>
            <a:off x="3618272" y="3695657"/>
            <a:ext cx="3810000" cy="2857500"/>
          </a:xfrm>
          <a:prstGeom prst="rect">
            <a:avLst/>
          </a:prstGeom>
        </p:spPr>
      </p:pic>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C97F114A-8C94-43CD-AFCA-03D895174D14}"/>
                  </a:ext>
                </a:extLst>
              </p:cNvPr>
              <p:cNvSpPr txBox="1"/>
              <p:nvPr/>
            </p:nvSpPr>
            <p:spPr>
              <a:xfrm>
                <a:off x="259921" y="5527618"/>
                <a:ext cx="163448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𝜙</m:t>
                      </m:r>
                    </m:oMath>
                  </m:oMathPara>
                </a14:m>
                <a:endParaRPr lang="en-US" dirty="0"/>
              </a:p>
            </p:txBody>
          </p:sp>
        </mc:Choice>
        <mc:Fallback xmlns="">
          <p:sp>
            <p:nvSpPr>
              <p:cNvPr id="18" name="TextBox 17">
                <a:extLst>
                  <a:ext uri="{FF2B5EF4-FFF2-40B4-BE49-F238E27FC236}">
                    <a16:creationId xmlns:a16="http://schemas.microsoft.com/office/drawing/2014/main" id="{C97F114A-8C94-43CD-AFCA-03D895174D14}"/>
                  </a:ext>
                </a:extLst>
              </p:cNvPr>
              <p:cNvSpPr txBox="1">
                <a:spLocks noRot="1" noChangeAspect="1" noMove="1" noResize="1" noEditPoints="1" noAdjustHandles="1" noChangeArrowheads="1" noChangeShapeType="1" noTextEdit="1"/>
              </p:cNvSpPr>
              <p:nvPr/>
            </p:nvSpPr>
            <p:spPr>
              <a:xfrm>
                <a:off x="259921" y="5527618"/>
                <a:ext cx="1634481" cy="276999"/>
              </a:xfrm>
              <a:prstGeom prst="rect">
                <a:avLst/>
              </a:prstGeom>
              <a:blipFill>
                <a:blip r:embed="rId8"/>
                <a:stretch>
                  <a:fillRect b="-35556"/>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44D4604F-582D-485F-8325-CA07721CA4C3}"/>
                  </a:ext>
                </a:extLst>
              </p:cNvPr>
              <p:cNvSpPr txBox="1"/>
              <p:nvPr/>
            </p:nvSpPr>
            <p:spPr>
              <a:xfrm rot="19308726">
                <a:off x="1237594" y="5097011"/>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𝐵</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19" name="TextBox 18">
                <a:extLst>
                  <a:ext uri="{FF2B5EF4-FFF2-40B4-BE49-F238E27FC236}">
                    <a16:creationId xmlns:a16="http://schemas.microsoft.com/office/drawing/2014/main" id="{44D4604F-582D-485F-8325-CA07721CA4C3}"/>
                  </a:ext>
                </a:extLst>
              </p:cNvPr>
              <p:cNvSpPr txBox="1">
                <a:spLocks noRot="1" noChangeAspect="1" noMove="1" noResize="1" noEditPoints="1" noAdjustHandles="1" noChangeArrowheads="1" noChangeShapeType="1" noTextEdit="1"/>
              </p:cNvSpPr>
              <p:nvPr/>
            </p:nvSpPr>
            <p:spPr>
              <a:xfrm rot="19308726">
                <a:off x="1237594" y="5097011"/>
                <a:ext cx="1634481" cy="352917"/>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5222623-F0E3-41DE-AF4E-A5895BEE42AF}"/>
                  </a:ext>
                </a:extLst>
              </p:cNvPr>
              <p:cNvSpPr txBox="1"/>
              <p:nvPr/>
            </p:nvSpPr>
            <p:spPr>
              <a:xfrm rot="16904928">
                <a:off x="1924448" y="4361102"/>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m:t>
                              </m:r>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𝐶</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20" name="TextBox 19">
                <a:extLst>
                  <a:ext uri="{FF2B5EF4-FFF2-40B4-BE49-F238E27FC236}">
                    <a16:creationId xmlns:a16="http://schemas.microsoft.com/office/drawing/2014/main" id="{95222623-F0E3-41DE-AF4E-A5895BEE42AF}"/>
                  </a:ext>
                </a:extLst>
              </p:cNvPr>
              <p:cNvSpPr txBox="1">
                <a:spLocks noRot="1" noChangeAspect="1" noMove="1" noResize="1" noEditPoints="1" noAdjustHandles="1" noChangeArrowheads="1" noChangeShapeType="1" noTextEdit="1"/>
              </p:cNvSpPr>
              <p:nvPr/>
            </p:nvSpPr>
            <p:spPr>
              <a:xfrm rot="16904928">
                <a:off x="1924448" y="4361102"/>
                <a:ext cx="1634481" cy="352917"/>
              </a:xfrm>
              <a:prstGeom prst="rect">
                <a:avLst/>
              </a:prstGeom>
              <a:blipFill>
                <a:blip r:embed="rId10"/>
                <a:stretch>
                  <a:fillRect/>
                </a:stretch>
              </a:blipFill>
            </p:spPr>
            <p:txBody>
              <a:bodyPr/>
              <a:lstStyle/>
              <a:p>
                <a:r>
                  <a:rPr lang="sv-SE">
                    <a:noFill/>
                  </a:rPr>
                  <a:t> </a:t>
                </a:r>
              </a:p>
            </p:txBody>
          </p:sp>
        </mc:Fallback>
      </mc:AlternateContent>
      <p:sp>
        <p:nvSpPr>
          <p:cNvPr id="21" name="Arc 20">
            <a:extLst>
              <a:ext uri="{FF2B5EF4-FFF2-40B4-BE49-F238E27FC236}">
                <a16:creationId xmlns:a16="http://schemas.microsoft.com/office/drawing/2014/main" id="{FA92E3CA-3E32-4859-9FFF-4A87F77B4ACF}"/>
              </a:ext>
            </a:extLst>
          </p:cNvPr>
          <p:cNvSpPr/>
          <p:nvPr/>
        </p:nvSpPr>
        <p:spPr>
          <a:xfrm rot="2814214">
            <a:off x="478962" y="5595657"/>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47AAFE0E-C8DF-4837-8AFF-CD67EA186199}"/>
                  </a:ext>
                </a:extLst>
              </p:cNvPr>
              <p:cNvSpPr txBox="1"/>
              <p:nvPr/>
            </p:nvSpPr>
            <p:spPr>
              <a:xfrm>
                <a:off x="259921" y="6008084"/>
                <a:ext cx="1634481" cy="352917"/>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sSub>
                            <m:sSubPr>
                              <m:ctrlPr>
                                <a:rPr lang="en-US" b="0" i="1" dirty="0" smtClean="0">
                                  <a:latin typeface="Cambria Math" panose="02040503050406030204" pitchFamily="18" charset="0"/>
                                </a:rPr>
                              </m:ctrlPr>
                            </m:sSubPr>
                            <m:e>
                              <m:acc>
                                <m:accPr>
                                  <m:chr m:val="̂"/>
                                  <m:ctrlPr>
                                    <a:rPr lang="en-US" i="1" dirty="0" smtClean="0">
                                      <a:latin typeface="Cambria Math" panose="02040503050406030204" pitchFamily="18" charset="0"/>
                                    </a:rPr>
                                  </m:ctrlPr>
                                </m:accPr>
                                <m:e>
                                  <m:r>
                                    <a:rPr lang="en-US" b="0" i="1" dirty="0" smtClean="0">
                                      <a:latin typeface="Cambria Math" panose="02040503050406030204" pitchFamily="18" charset="0"/>
                                    </a:rPr>
                                    <m:t>𝑆</m:t>
                                  </m:r>
                                </m:e>
                              </m:acc>
                            </m:e>
                            <m:sub>
                              <m:r>
                                <a:rPr lang="en-US" b="0" i="1" dirty="0" smtClean="0">
                                  <a:latin typeface="Cambria Math" panose="02040503050406030204" pitchFamily="18" charset="0"/>
                                </a:rPr>
                                <m:t>𝐴</m:t>
                              </m:r>
                            </m:sub>
                          </m:sSub>
                        </m:e>
                        <m:sub>
                          <m:r>
                            <a:rPr lang="en-US" b="0" i="1" dirty="0" smtClean="0">
                              <a:latin typeface="Cambria Math" panose="02040503050406030204" pitchFamily="18" charset="0"/>
                            </a:rPr>
                            <m:t>𝑓𝑠</m:t>
                          </m:r>
                          <m:r>
                            <a:rPr lang="en-US" b="0" i="1" dirty="0" smtClean="0">
                              <a:latin typeface="Cambria Math" panose="02040503050406030204" pitchFamily="18" charset="0"/>
                            </a:rPr>
                            <m:t>  </m:t>
                          </m:r>
                        </m:sub>
                      </m:sSub>
                    </m:oMath>
                  </m:oMathPara>
                </a14:m>
                <a:endParaRPr lang="en-US" dirty="0"/>
              </a:p>
            </p:txBody>
          </p:sp>
        </mc:Choice>
        <mc:Fallback xmlns="">
          <p:sp>
            <p:nvSpPr>
              <p:cNvPr id="22" name="TextBox 21">
                <a:extLst>
                  <a:ext uri="{FF2B5EF4-FFF2-40B4-BE49-F238E27FC236}">
                    <a16:creationId xmlns:a16="http://schemas.microsoft.com/office/drawing/2014/main" id="{47AAFE0E-C8DF-4837-8AFF-CD67EA186199}"/>
                  </a:ext>
                </a:extLst>
              </p:cNvPr>
              <p:cNvSpPr txBox="1">
                <a:spLocks noRot="1" noChangeAspect="1" noMove="1" noResize="1" noEditPoints="1" noAdjustHandles="1" noChangeArrowheads="1" noChangeShapeType="1" noTextEdit="1"/>
              </p:cNvSpPr>
              <p:nvPr/>
            </p:nvSpPr>
            <p:spPr>
              <a:xfrm>
                <a:off x="259921" y="6008084"/>
                <a:ext cx="1634481" cy="352917"/>
              </a:xfrm>
              <a:prstGeom prst="rect">
                <a:avLst/>
              </a:prstGeom>
              <a:blipFill>
                <a:blip r:embed="rId11"/>
                <a:stretch>
                  <a:fillRect t="-21053" b="-24561"/>
                </a:stretch>
              </a:blipFill>
            </p:spPr>
            <p:txBody>
              <a:bodyPr/>
              <a:lstStyle/>
              <a:p>
                <a:r>
                  <a:rPr lang="sv-SE">
                    <a:noFill/>
                  </a:rPr>
                  <a:t> </a:t>
                </a:r>
              </a:p>
            </p:txBody>
          </p:sp>
        </mc:Fallback>
      </mc:AlternateContent>
      <p:cxnSp>
        <p:nvCxnSpPr>
          <p:cNvPr id="23" name="Straight Connector 22">
            <a:extLst>
              <a:ext uri="{FF2B5EF4-FFF2-40B4-BE49-F238E27FC236}">
                <a16:creationId xmlns:a16="http://schemas.microsoft.com/office/drawing/2014/main" id="{D29DAD33-4FD8-4772-AB68-D038FE6B2C99}"/>
              </a:ext>
            </a:extLst>
          </p:cNvPr>
          <p:cNvCxnSpPr/>
          <p:nvPr/>
        </p:nvCxnSpPr>
        <p:spPr>
          <a:xfrm>
            <a:off x="1598058" y="5938571"/>
            <a:ext cx="20775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Arc 23">
            <a:extLst>
              <a:ext uri="{FF2B5EF4-FFF2-40B4-BE49-F238E27FC236}">
                <a16:creationId xmlns:a16="http://schemas.microsoft.com/office/drawing/2014/main" id="{5AFC94D4-D1EA-4233-B178-51DA8E21AF64}"/>
              </a:ext>
            </a:extLst>
          </p:cNvPr>
          <p:cNvSpPr/>
          <p:nvPr/>
        </p:nvSpPr>
        <p:spPr>
          <a:xfrm rot="2814214">
            <a:off x="1662300" y="5637844"/>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486CC42-1884-404E-B4F7-388843E7DE79}"/>
                  </a:ext>
                </a:extLst>
              </p:cNvPr>
              <p:cNvSpPr txBox="1"/>
              <p:nvPr/>
            </p:nvSpPr>
            <p:spPr>
              <a:xfrm>
                <a:off x="1447115" y="5590651"/>
                <a:ext cx="163448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𝛼</m:t>
                      </m:r>
                    </m:oMath>
                  </m:oMathPara>
                </a14:m>
                <a:endParaRPr lang="en-US" dirty="0"/>
              </a:p>
            </p:txBody>
          </p:sp>
        </mc:Choice>
        <mc:Fallback xmlns="">
          <p:sp>
            <p:nvSpPr>
              <p:cNvPr id="25" name="TextBox 24">
                <a:extLst>
                  <a:ext uri="{FF2B5EF4-FFF2-40B4-BE49-F238E27FC236}">
                    <a16:creationId xmlns:a16="http://schemas.microsoft.com/office/drawing/2014/main" id="{6486CC42-1884-404E-B4F7-388843E7DE79}"/>
                  </a:ext>
                </a:extLst>
              </p:cNvPr>
              <p:cNvSpPr txBox="1">
                <a:spLocks noRot="1" noChangeAspect="1" noMove="1" noResize="1" noEditPoints="1" noAdjustHandles="1" noChangeArrowheads="1" noChangeShapeType="1" noTextEdit="1"/>
              </p:cNvSpPr>
              <p:nvPr/>
            </p:nvSpPr>
            <p:spPr>
              <a:xfrm>
                <a:off x="1447115" y="5590651"/>
                <a:ext cx="1634481" cy="276999"/>
              </a:xfrm>
              <a:prstGeom prst="rect">
                <a:avLst/>
              </a:prstGeom>
              <a:blipFill>
                <a:blip r:embed="rId1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5EAD758F-3034-46CA-9062-883C2E53F1AE}"/>
                  </a:ext>
                </a:extLst>
              </p:cNvPr>
              <p:cNvSpPr txBox="1"/>
              <p:nvPr/>
            </p:nvSpPr>
            <p:spPr>
              <a:xfrm>
                <a:off x="2498458" y="4209887"/>
                <a:ext cx="1634481"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𝛽</m:t>
                      </m:r>
                    </m:oMath>
                  </m:oMathPara>
                </a14:m>
                <a:endParaRPr lang="en-US" dirty="0"/>
              </a:p>
            </p:txBody>
          </p:sp>
        </mc:Choice>
        <mc:Fallback xmlns="">
          <p:sp>
            <p:nvSpPr>
              <p:cNvPr id="26" name="TextBox 25">
                <a:extLst>
                  <a:ext uri="{FF2B5EF4-FFF2-40B4-BE49-F238E27FC236}">
                    <a16:creationId xmlns:a16="http://schemas.microsoft.com/office/drawing/2014/main" id="{5EAD758F-3034-46CA-9062-883C2E53F1AE}"/>
                  </a:ext>
                </a:extLst>
              </p:cNvPr>
              <p:cNvSpPr txBox="1">
                <a:spLocks noRot="1" noChangeAspect="1" noMove="1" noResize="1" noEditPoints="1" noAdjustHandles="1" noChangeArrowheads="1" noChangeShapeType="1" noTextEdit="1"/>
              </p:cNvSpPr>
              <p:nvPr/>
            </p:nvSpPr>
            <p:spPr>
              <a:xfrm>
                <a:off x="2498458" y="4209887"/>
                <a:ext cx="1634481" cy="276999"/>
              </a:xfrm>
              <a:prstGeom prst="rect">
                <a:avLst/>
              </a:prstGeom>
              <a:blipFill>
                <a:blip r:embed="rId13"/>
                <a:stretch>
                  <a:fillRect t="-2222" b="-37778"/>
                </a:stretch>
              </a:blipFill>
            </p:spPr>
            <p:txBody>
              <a:bodyPr/>
              <a:lstStyle/>
              <a:p>
                <a:r>
                  <a:rPr lang="sv-SE">
                    <a:noFill/>
                  </a:rPr>
                  <a:t> </a:t>
                </a:r>
              </a:p>
            </p:txBody>
          </p:sp>
        </mc:Fallback>
      </mc:AlternateContent>
      <p:cxnSp>
        <p:nvCxnSpPr>
          <p:cNvPr id="27" name="Straight Connector 26">
            <a:extLst>
              <a:ext uri="{FF2B5EF4-FFF2-40B4-BE49-F238E27FC236}">
                <a16:creationId xmlns:a16="http://schemas.microsoft.com/office/drawing/2014/main" id="{F1CA4872-C19A-43D2-B100-9706E2A6D49A}"/>
              </a:ext>
            </a:extLst>
          </p:cNvPr>
          <p:cNvCxnSpPr>
            <a:cxnSpLocks/>
          </p:cNvCxnSpPr>
          <p:nvPr/>
        </p:nvCxnSpPr>
        <p:spPr>
          <a:xfrm flipV="1">
            <a:off x="2903413" y="4158934"/>
            <a:ext cx="909802" cy="7638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Arc 27">
            <a:extLst>
              <a:ext uri="{FF2B5EF4-FFF2-40B4-BE49-F238E27FC236}">
                <a16:creationId xmlns:a16="http://schemas.microsoft.com/office/drawing/2014/main" id="{B5022622-41C3-4375-B0CE-A8D251DA5836}"/>
              </a:ext>
            </a:extLst>
          </p:cNvPr>
          <p:cNvSpPr/>
          <p:nvPr/>
        </p:nvSpPr>
        <p:spPr>
          <a:xfrm rot="1387721">
            <a:off x="2889688" y="4506620"/>
            <a:ext cx="541320" cy="245805"/>
          </a:xfrm>
          <a:prstGeom prst="arc">
            <a:avLst>
              <a:gd name="adj1" fmla="val 12427162"/>
              <a:gd name="adj2" fmla="val 18777856"/>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FA50857D-DD7D-439E-850E-887C3C50152E}"/>
                  </a:ext>
                </a:extLst>
              </p:cNvPr>
              <p:cNvSpPr txBox="1"/>
              <p:nvPr/>
            </p:nvSpPr>
            <p:spPr>
              <a:xfrm>
                <a:off x="9683021" y="3006460"/>
                <a:ext cx="195029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𝛼</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𝐵</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𝐴</m:t>
                          </m:r>
                        </m:sub>
                      </m:sSub>
                    </m:oMath>
                  </m:oMathPara>
                </a14:m>
                <a:endParaRPr lang="en-US" dirty="0"/>
              </a:p>
            </p:txBody>
          </p:sp>
        </mc:Choice>
        <mc:Fallback xmlns="">
          <p:sp>
            <p:nvSpPr>
              <p:cNvPr id="29" name="TextBox 28">
                <a:extLst>
                  <a:ext uri="{FF2B5EF4-FFF2-40B4-BE49-F238E27FC236}">
                    <a16:creationId xmlns:a16="http://schemas.microsoft.com/office/drawing/2014/main" id="{FA50857D-DD7D-439E-850E-887C3C50152E}"/>
                  </a:ext>
                </a:extLst>
              </p:cNvPr>
              <p:cNvSpPr txBox="1">
                <a:spLocks noRot="1" noChangeAspect="1" noMove="1" noResize="1" noEditPoints="1" noAdjustHandles="1" noChangeArrowheads="1" noChangeShapeType="1" noTextEdit="1"/>
              </p:cNvSpPr>
              <p:nvPr/>
            </p:nvSpPr>
            <p:spPr>
              <a:xfrm>
                <a:off x="9683021" y="3006460"/>
                <a:ext cx="1950296" cy="276999"/>
              </a:xfrm>
              <a:prstGeom prst="rect">
                <a:avLst/>
              </a:prstGeom>
              <a:blipFill>
                <a:blip r:embed="rId14"/>
                <a:stretch>
                  <a:fillRect b="-3478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A4763A97-98A3-4427-B019-A0B70C22D960}"/>
                  </a:ext>
                </a:extLst>
              </p:cNvPr>
              <p:cNvSpPr txBox="1"/>
              <p:nvPr/>
            </p:nvSpPr>
            <p:spPr>
              <a:xfrm>
                <a:off x="9660594" y="3328811"/>
                <a:ext cx="195029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0" i="1" dirty="0" smtClean="0">
                          <a:latin typeface="Cambria Math" panose="02040503050406030204" pitchFamily="18" charset="0"/>
                        </a:rPr>
                        <m:t>𝛽</m:t>
                      </m:r>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𝐶</m:t>
                          </m:r>
                        </m:sub>
                      </m:sSub>
                      <m:r>
                        <a:rPr lang="en-US" b="0" i="1" dirty="0" smtClean="0">
                          <a:latin typeface="Cambria Math" panose="02040503050406030204" pitchFamily="18" charset="0"/>
                        </a:rPr>
                        <m:t>−</m:t>
                      </m:r>
                      <m:sSub>
                        <m:sSubPr>
                          <m:ctrlPr>
                            <a:rPr lang="en-US" b="0" i="1" dirty="0" smtClean="0">
                              <a:latin typeface="Cambria Math" panose="02040503050406030204" pitchFamily="18" charset="0"/>
                            </a:rPr>
                          </m:ctrlPr>
                        </m:sSubPr>
                        <m:e>
                          <m:r>
                            <a:rPr lang="en-US" b="0" i="1" dirty="0" smtClean="0">
                              <a:latin typeface="Cambria Math" panose="02040503050406030204" pitchFamily="18" charset="0"/>
                            </a:rPr>
                            <m:t>𝜙</m:t>
                          </m:r>
                        </m:e>
                        <m:sub>
                          <m:r>
                            <a:rPr lang="en-US" b="0" i="1" dirty="0" smtClean="0">
                              <a:latin typeface="Cambria Math" panose="02040503050406030204" pitchFamily="18" charset="0"/>
                            </a:rPr>
                            <m:t>𝐶</m:t>
                          </m:r>
                          <m:r>
                            <a:rPr lang="en-US" b="0" i="1" dirty="0" smtClean="0">
                              <a:latin typeface="Cambria Math" panose="02040503050406030204" pitchFamily="18" charset="0"/>
                            </a:rPr>
                            <m:t>−</m:t>
                          </m:r>
                          <m:r>
                            <a:rPr lang="en-US" b="0" i="1" dirty="0" smtClean="0">
                              <a:latin typeface="Cambria Math" panose="02040503050406030204" pitchFamily="18" charset="0"/>
                            </a:rPr>
                            <m:t>𝐵</m:t>
                          </m:r>
                        </m:sub>
                      </m:sSub>
                    </m:oMath>
                  </m:oMathPara>
                </a14:m>
                <a:endParaRPr lang="en-US" dirty="0"/>
              </a:p>
            </p:txBody>
          </p:sp>
        </mc:Choice>
        <mc:Fallback xmlns="">
          <p:sp>
            <p:nvSpPr>
              <p:cNvPr id="30" name="TextBox 29">
                <a:extLst>
                  <a:ext uri="{FF2B5EF4-FFF2-40B4-BE49-F238E27FC236}">
                    <a16:creationId xmlns:a16="http://schemas.microsoft.com/office/drawing/2014/main" id="{A4763A97-98A3-4427-B019-A0B70C22D960}"/>
                  </a:ext>
                </a:extLst>
              </p:cNvPr>
              <p:cNvSpPr txBox="1">
                <a:spLocks noRot="1" noChangeAspect="1" noMove="1" noResize="1" noEditPoints="1" noAdjustHandles="1" noChangeArrowheads="1" noChangeShapeType="1" noTextEdit="1"/>
              </p:cNvSpPr>
              <p:nvPr/>
            </p:nvSpPr>
            <p:spPr>
              <a:xfrm>
                <a:off x="9660594" y="3328811"/>
                <a:ext cx="1950296" cy="276999"/>
              </a:xfrm>
              <a:prstGeom prst="rect">
                <a:avLst/>
              </a:prstGeom>
              <a:blipFill>
                <a:blip r:embed="rId15"/>
                <a:stretch>
                  <a:fillRect l="-4375" r="-938" b="-34783"/>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5FBD2FD-8F17-4D5E-BAD8-39F470AC843F}"/>
                  </a:ext>
                </a:extLst>
              </p:cNvPr>
              <p:cNvSpPr txBox="1"/>
              <p:nvPr/>
            </p:nvSpPr>
            <p:spPr>
              <a:xfrm>
                <a:off x="5552769" y="3261770"/>
                <a:ext cx="1216744" cy="327526"/>
              </a:xfrm>
              <a:prstGeom prst="rect">
                <a:avLst/>
              </a:prstGeom>
              <a:noFill/>
            </p:spPr>
            <p:txBody>
              <a:bodyPr wrap="square" rtlCol="0">
                <a:spAutoFit/>
              </a:bodyPr>
              <a:lstStyle/>
              <a:p>
                <a:r>
                  <a:rPr lang="en-US" sz="1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200" b="0" i="0" dirty="0" smtClean="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𝐵</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oMath>
                </a14:m>
                <a:r>
                  <a:rPr lang="en-US" sz="1200" dirty="0">
                    <a:solidFill>
                      <a:schemeClr val="tx1"/>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𝐶</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r>
                      <a:rPr lang="en-US" sz="1200" b="0" i="1" dirty="0" smtClean="0">
                        <a:solidFill>
                          <a:schemeClr val="tx1"/>
                        </a:solidFill>
                        <a:latin typeface="Cambria Math" panose="02040503050406030204" pitchFamily="18" charset="0"/>
                      </a:rPr>
                      <m:t>|</m:t>
                    </m:r>
                  </m:oMath>
                </a14:m>
                <a:endParaRPr lang="en-US" sz="1200" dirty="0">
                  <a:solidFill>
                    <a:schemeClr val="tx1"/>
                  </a:solidFill>
                </a:endParaRPr>
              </a:p>
            </p:txBody>
          </p:sp>
        </mc:Choice>
        <mc:Fallback xmlns="">
          <p:sp>
            <p:nvSpPr>
              <p:cNvPr id="31" name="TextBox 30">
                <a:extLst>
                  <a:ext uri="{FF2B5EF4-FFF2-40B4-BE49-F238E27FC236}">
                    <a16:creationId xmlns:a16="http://schemas.microsoft.com/office/drawing/2014/main" id="{B5FBD2FD-8F17-4D5E-BAD8-39F470AC843F}"/>
                  </a:ext>
                </a:extLst>
              </p:cNvPr>
              <p:cNvSpPr txBox="1">
                <a:spLocks noRot="1" noChangeAspect="1" noMove="1" noResize="1" noEditPoints="1" noAdjustHandles="1" noChangeArrowheads="1" noChangeShapeType="1" noTextEdit="1"/>
              </p:cNvSpPr>
              <p:nvPr/>
            </p:nvSpPr>
            <p:spPr>
              <a:xfrm>
                <a:off x="5552769" y="3261770"/>
                <a:ext cx="1216744" cy="327526"/>
              </a:xfrm>
              <a:prstGeom prst="rect">
                <a:avLst/>
              </a:prstGeom>
              <a:blipFill>
                <a:blip r:embed="rId16"/>
                <a:stretch>
                  <a:fillRect/>
                </a:stretch>
              </a:blipFill>
            </p:spPr>
            <p:txBody>
              <a:bodyPr/>
              <a:lstStyle/>
              <a:p>
                <a:r>
                  <a:rPr lang="sv-SE">
                    <a:noFill/>
                  </a:rPr>
                  <a:t> </a:t>
                </a:r>
              </a:p>
            </p:txBody>
          </p:sp>
        </mc:Fallback>
      </mc:AlternateContent>
      <p:sp>
        <p:nvSpPr>
          <p:cNvPr id="32" name="TextBox 31">
            <a:extLst>
              <a:ext uri="{FF2B5EF4-FFF2-40B4-BE49-F238E27FC236}">
                <a16:creationId xmlns:a16="http://schemas.microsoft.com/office/drawing/2014/main" id="{B7D58F41-D6FF-4866-8BE7-F8EB535439E9}"/>
              </a:ext>
            </a:extLst>
          </p:cNvPr>
          <p:cNvSpPr txBox="1"/>
          <p:nvPr/>
        </p:nvSpPr>
        <p:spPr>
          <a:xfrm>
            <a:off x="5357859" y="6553157"/>
            <a:ext cx="98581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(b)</a:t>
            </a:r>
          </a:p>
        </p:txBody>
      </p:sp>
      <p:sp>
        <p:nvSpPr>
          <p:cNvPr id="33" name="TextBox 32">
            <a:extLst>
              <a:ext uri="{FF2B5EF4-FFF2-40B4-BE49-F238E27FC236}">
                <a16:creationId xmlns:a16="http://schemas.microsoft.com/office/drawing/2014/main" id="{332DDC6B-D970-48D6-B263-19F0911EBBA4}"/>
              </a:ext>
            </a:extLst>
          </p:cNvPr>
          <p:cNvSpPr txBox="1"/>
          <p:nvPr/>
        </p:nvSpPr>
        <p:spPr>
          <a:xfrm>
            <a:off x="8587756" y="6553157"/>
            <a:ext cx="98581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(c)</a:t>
            </a:r>
          </a:p>
        </p:txBody>
      </p:sp>
      <p:cxnSp>
        <p:nvCxnSpPr>
          <p:cNvPr id="34" name="Straight Connector 33">
            <a:extLst>
              <a:ext uri="{FF2B5EF4-FFF2-40B4-BE49-F238E27FC236}">
                <a16:creationId xmlns:a16="http://schemas.microsoft.com/office/drawing/2014/main" id="{9817EF20-A17D-4916-BA17-EAEB26517AD9}"/>
              </a:ext>
            </a:extLst>
          </p:cNvPr>
          <p:cNvCxnSpPr>
            <a:cxnSpLocks/>
          </p:cNvCxnSpPr>
          <p:nvPr/>
        </p:nvCxnSpPr>
        <p:spPr>
          <a:xfrm>
            <a:off x="5584078" y="2931199"/>
            <a:ext cx="0" cy="2008364"/>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C40EFA2-1D81-49A9-9FC8-D019462DDE2E}"/>
              </a:ext>
            </a:extLst>
          </p:cNvPr>
          <p:cNvCxnSpPr>
            <a:cxnSpLocks/>
          </p:cNvCxnSpPr>
          <p:nvPr/>
        </p:nvCxnSpPr>
        <p:spPr>
          <a:xfrm>
            <a:off x="6335317" y="3589296"/>
            <a:ext cx="0" cy="1469515"/>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26E3CFF-02F6-4B50-BCB8-2C9765B2FB1A}"/>
              </a:ext>
            </a:extLst>
          </p:cNvPr>
          <p:cNvCxnSpPr>
            <a:cxnSpLocks/>
          </p:cNvCxnSpPr>
          <p:nvPr/>
        </p:nvCxnSpPr>
        <p:spPr>
          <a:xfrm>
            <a:off x="5631969" y="3609151"/>
            <a:ext cx="641585"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EFB99296-1F71-4956-B484-D3ED2D359A6E}"/>
              </a:ext>
            </a:extLst>
          </p:cNvPr>
          <p:cNvSpPr txBox="1"/>
          <p:nvPr/>
        </p:nvSpPr>
        <p:spPr>
          <a:xfrm>
            <a:off x="1714719" y="6547014"/>
            <a:ext cx="98581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(a)</a:t>
            </a:r>
          </a:p>
        </p:txBody>
      </p:sp>
      <p:cxnSp>
        <p:nvCxnSpPr>
          <p:cNvPr id="38" name="Straight Connector 37">
            <a:extLst>
              <a:ext uri="{FF2B5EF4-FFF2-40B4-BE49-F238E27FC236}">
                <a16:creationId xmlns:a16="http://schemas.microsoft.com/office/drawing/2014/main" id="{CB0D510F-D91A-452A-B687-65BDC6EDEE76}"/>
              </a:ext>
            </a:extLst>
          </p:cNvPr>
          <p:cNvCxnSpPr>
            <a:cxnSpLocks/>
          </p:cNvCxnSpPr>
          <p:nvPr/>
        </p:nvCxnSpPr>
        <p:spPr>
          <a:xfrm>
            <a:off x="6690207" y="2931199"/>
            <a:ext cx="0" cy="2067987"/>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E18C0BE8-1A89-45BB-A868-7BF9657E7E2A}"/>
                  </a:ext>
                </a:extLst>
              </p:cNvPr>
              <p:cNvSpPr txBox="1"/>
              <p:nvPr/>
            </p:nvSpPr>
            <p:spPr>
              <a:xfrm>
                <a:off x="5523272" y="2573986"/>
                <a:ext cx="1994216" cy="327526"/>
              </a:xfrm>
              <a:prstGeom prst="rect">
                <a:avLst/>
              </a:prstGeom>
              <a:noFill/>
            </p:spPr>
            <p:txBody>
              <a:bodyPr wrap="square" rtlCol="0">
                <a:spAutoFit/>
              </a:bodyPr>
              <a:lstStyle/>
              <a:p>
                <a:r>
                  <a:rPr lang="en-US" sz="12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1200" b="0" i="0" dirty="0" smtClean="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𝐵</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r>
                      <a:rPr lang="en-US" sz="1200" b="0" i="0" dirty="0" smtClean="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sSub>
                          <m:sSubPr>
                            <m:ctrlPr>
                              <a:rPr lang="en-US" sz="1200" i="1" dirty="0">
                                <a:solidFill>
                                  <a:schemeClr val="tx1"/>
                                </a:solidFill>
                                <a:latin typeface="Cambria Math" panose="02040503050406030204" pitchFamily="18" charset="0"/>
                              </a:rPr>
                            </m:ctrlPr>
                          </m:sSubPr>
                          <m:e>
                            <m:acc>
                              <m:accPr>
                                <m:chr m:val="̂"/>
                                <m:ctrlPr>
                                  <a:rPr lang="en-US" sz="1200" i="1" dirty="0">
                                    <a:solidFill>
                                      <a:schemeClr val="tx1"/>
                                    </a:solidFill>
                                    <a:latin typeface="Cambria Math" panose="02040503050406030204" pitchFamily="18" charset="0"/>
                                  </a:rPr>
                                </m:ctrlPr>
                              </m:accPr>
                              <m:e>
                                <m:r>
                                  <a:rPr lang="en-US" sz="1200" i="1" dirty="0">
                                    <a:solidFill>
                                      <a:schemeClr val="tx1"/>
                                    </a:solidFill>
                                    <a:latin typeface="Cambria Math" panose="02040503050406030204" pitchFamily="18" charset="0"/>
                                  </a:rPr>
                                  <m:t>𝑆</m:t>
                                </m:r>
                              </m:e>
                            </m:acc>
                          </m:e>
                          <m:sub>
                            <m:r>
                              <a:rPr lang="en-US" sz="1200" b="0" i="1" dirty="0" smtClean="0">
                                <a:solidFill>
                                  <a:schemeClr val="tx1"/>
                                </a:solidFill>
                                <a:latin typeface="Cambria Math" panose="02040503050406030204" pitchFamily="18" charset="0"/>
                              </a:rPr>
                              <m:t>𝐶</m:t>
                            </m:r>
                          </m:sub>
                        </m:sSub>
                      </m:e>
                      <m:sub>
                        <m:r>
                          <a:rPr lang="en-US" sz="1200" i="1" dirty="0">
                            <a:solidFill>
                              <a:schemeClr val="tx1"/>
                            </a:solidFill>
                            <a:latin typeface="Cambria Math" panose="02040503050406030204" pitchFamily="18" charset="0"/>
                          </a:rPr>
                          <m:t>𝑓𝑠</m:t>
                        </m:r>
                        <m:r>
                          <a:rPr lang="en-US" sz="1200" i="1" dirty="0">
                            <a:solidFill>
                              <a:schemeClr val="tx1"/>
                            </a:solidFill>
                            <a:latin typeface="Cambria Math" panose="02040503050406030204" pitchFamily="18" charset="0"/>
                          </a:rPr>
                          <m:t> </m:t>
                        </m:r>
                      </m:sub>
                    </m:sSub>
                    <m:r>
                      <a:rPr lang="en-US" sz="1200" i="1" dirty="0">
                        <a:latin typeface="Cambria Math" panose="02040503050406030204" pitchFamily="18" charset="0"/>
                      </a:rPr>
                      <m:t>|</m:t>
                    </m:r>
                  </m:oMath>
                </a14:m>
                <a:endParaRPr lang="en-US" sz="1200" dirty="0">
                  <a:solidFill>
                    <a:schemeClr val="tx1"/>
                  </a:solidFill>
                </a:endParaRPr>
              </a:p>
            </p:txBody>
          </p:sp>
        </mc:Choice>
        <mc:Fallback xmlns="">
          <p:sp>
            <p:nvSpPr>
              <p:cNvPr id="39" name="TextBox 38">
                <a:extLst>
                  <a:ext uri="{FF2B5EF4-FFF2-40B4-BE49-F238E27FC236}">
                    <a16:creationId xmlns:a16="http://schemas.microsoft.com/office/drawing/2014/main" id="{E18C0BE8-1A89-45BB-A868-7BF9657E7E2A}"/>
                  </a:ext>
                </a:extLst>
              </p:cNvPr>
              <p:cNvSpPr txBox="1">
                <a:spLocks noRot="1" noChangeAspect="1" noMove="1" noResize="1" noEditPoints="1" noAdjustHandles="1" noChangeArrowheads="1" noChangeShapeType="1" noTextEdit="1"/>
              </p:cNvSpPr>
              <p:nvPr/>
            </p:nvSpPr>
            <p:spPr>
              <a:xfrm>
                <a:off x="5523272" y="2573986"/>
                <a:ext cx="1994216" cy="327526"/>
              </a:xfrm>
              <a:prstGeom prst="rect">
                <a:avLst/>
              </a:prstGeom>
              <a:blipFill>
                <a:blip r:embed="rId17"/>
                <a:stretch>
                  <a:fillRect/>
                </a:stretch>
              </a:blipFill>
            </p:spPr>
            <p:txBody>
              <a:bodyPr/>
              <a:lstStyle/>
              <a:p>
                <a:r>
                  <a:rPr lang="sv-SE">
                    <a:noFill/>
                  </a:rPr>
                  <a:t> </a:t>
                </a:r>
              </a:p>
            </p:txBody>
          </p:sp>
        </mc:Fallback>
      </mc:AlternateContent>
      <p:cxnSp>
        <p:nvCxnSpPr>
          <p:cNvPr id="40" name="Straight Arrow Connector 39">
            <a:extLst>
              <a:ext uri="{FF2B5EF4-FFF2-40B4-BE49-F238E27FC236}">
                <a16:creationId xmlns:a16="http://schemas.microsoft.com/office/drawing/2014/main" id="{BAC168FF-56DC-4228-B9CC-3748E052FD48}"/>
              </a:ext>
            </a:extLst>
          </p:cNvPr>
          <p:cNvCxnSpPr>
            <a:cxnSpLocks/>
          </p:cNvCxnSpPr>
          <p:nvPr/>
        </p:nvCxnSpPr>
        <p:spPr>
          <a:xfrm>
            <a:off x="5584078" y="3102790"/>
            <a:ext cx="1018286"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98823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333632"/>
            <a:ext cx="11073765" cy="568412"/>
          </a:xfrm>
        </p:spPr>
        <p:txBody>
          <a:bodyPr/>
          <a:lstStyle/>
          <a:p>
            <a:pPr algn="ctr"/>
            <a:r>
              <a:rPr lang="en-US" dirty="0" smtClean="0"/>
              <a:t>The Controllable </a:t>
            </a:r>
            <a:r>
              <a:rPr lang="en-US" dirty="0"/>
              <a:t>R</a:t>
            </a:r>
            <a:r>
              <a:rPr lang="en-US" dirty="0" smtClean="0"/>
              <a:t>egion of the Superimposed Voltage - SPWM </a:t>
            </a:r>
            <a:endParaRPr lang="sv-SE" dirty="0"/>
          </a:p>
        </p:txBody>
      </p:sp>
      <p:pic>
        <p:nvPicPr>
          <p:cNvPr id="4" name="Picture 3"/>
          <p:cNvPicPr>
            <a:picLocks noChangeAspect="1"/>
          </p:cNvPicPr>
          <p:nvPr/>
        </p:nvPicPr>
        <p:blipFill>
          <a:blip r:embed="rId2"/>
          <a:stretch>
            <a:fillRect/>
          </a:stretch>
        </p:blipFill>
        <p:spPr>
          <a:xfrm>
            <a:off x="274320" y="1649730"/>
            <a:ext cx="3439160" cy="2579370"/>
          </a:xfrm>
          <a:prstGeom prst="rect">
            <a:avLst/>
          </a:prstGeom>
        </p:spPr>
      </p:pic>
      <p:pic>
        <p:nvPicPr>
          <p:cNvPr id="5" name="Picture 4"/>
          <p:cNvPicPr>
            <a:picLocks noChangeAspect="1"/>
          </p:cNvPicPr>
          <p:nvPr/>
        </p:nvPicPr>
        <p:blipFill>
          <a:blip r:embed="rId3"/>
          <a:stretch>
            <a:fillRect/>
          </a:stretch>
        </p:blipFill>
        <p:spPr>
          <a:xfrm>
            <a:off x="4175760" y="1593043"/>
            <a:ext cx="3429000" cy="2571750"/>
          </a:xfrm>
          <a:prstGeom prst="rect">
            <a:avLst/>
          </a:prstGeom>
        </p:spPr>
      </p:pic>
      <p:pic>
        <p:nvPicPr>
          <p:cNvPr id="6" name="Picture 5"/>
          <p:cNvPicPr>
            <a:picLocks noChangeAspect="1"/>
          </p:cNvPicPr>
          <p:nvPr/>
        </p:nvPicPr>
        <p:blipFill>
          <a:blip r:embed="rId4"/>
          <a:stretch>
            <a:fillRect/>
          </a:stretch>
        </p:blipFill>
        <p:spPr>
          <a:xfrm>
            <a:off x="7884160" y="1649730"/>
            <a:ext cx="3439160" cy="2579370"/>
          </a:xfrm>
          <a:prstGeom prst="rect">
            <a:avLst/>
          </a:prstGeom>
        </p:spPr>
      </p:pic>
      <p:pic>
        <p:nvPicPr>
          <p:cNvPr id="7" name="Picture 6"/>
          <p:cNvPicPr>
            <a:picLocks noChangeAspect="1"/>
          </p:cNvPicPr>
          <p:nvPr/>
        </p:nvPicPr>
        <p:blipFill>
          <a:blip r:embed="rId5"/>
          <a:stretch>
            <a:fillRect/>
          </a:stretch>
        </p:blipFill>
        <p:spPr>
          <a:xfrm>
            <a:off x="566420" y="4495356"/>
            <a:ext cx="3147060" cy="2360295"/>
          </a:xfrm>
          <a:prstGeom prst="rect">
            <a:avLst/>
          </a:prstGeom>
        </p:spPr>
      </p:pic>
      <p:pic>
        <p:nvPicPr>
          <p:cNvPr id="8" name="Picture 7"/>
          <p:cNvPicPr>
            <a:picLocks noChangeAspect="1"/>
          </p:cNvPicPr>
          <p:nvPr/>
        </p:nvPicPr>
        <p:blipFill>
          <a:blip r:embed="rId6"/>
          <a:stretch>
            <a:fillRect/>
          </a:stretch>
        </p:blipFill>
        <p:spPr>
          <a:xfrm>
            <a:off x="8106886" y="4469341"/>
            <a:ext cx="3216434" cy="2412326"/>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5485606" y="1376111"/>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=0.25</m:t>
                      </m:r>
                    </m:oMath>
                  </m:oMathPara>
                </a14:m>
                <a:endParaRPr lang="sv-SE" dirty="0"/>
              </a:p>
            </p:txBody>
          </p:sp>
        </mc:Choice>
        <mc:Fallback xmlns="">
          <p:sp>
            <p:nvSpPr>
              <p:cNvPr id="3" name="TextBox 2"/>
              <p:cNvSpPr txBox="1">
                <a:spLocks noRot="1" noChangeAspect="1" noMove="1" noResize="1" noEditPoints="1" noAdjustHandles="1" noChangeArrowheads="1" noChangeShapeType="1" noTextEdit="1"/>
              </p:cNvSpPr>
              <p:nvPr/>
            </p:nvSpPr>
            <p:spPr>
              <a:xfrm>
                <a:off x="5485606" y="1376111"/>
                <a:ext cx="1257300"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706880" y="1372224"/>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1706880" y="1372224"/>
                <a:ext cx="1257300"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9166066" y="1355752"/>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=0.50</m:t>
                      </m:r>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9166066" y="1355752"/>
                <a:ext cx="1257300" cy="369332"/>
              </a:xfrm>
              <a:prstGeom prst="rect">
                <a:avLst/>
              </a:prstGeom>
              <a:blipFill>
                <a:blip r:embed="rId9"/>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686163"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=0.75</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1686163" y="4229100"/>
                <a:ext cx="1257300" cy="369332"/>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946753"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m:oMathPara>
                </a14:m>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8946753" y="4229100"/>
                <a:ext cx="1257300" cy="369332"/>
              </a:xfrm>
              <a:prstGeom prst="rect">
                <a:avLst/>
              </a:prstGeom>
              <a:blipFill>
                <a:blip r:embed="rId11"/>
                <a:stretch>
                  <a:fillRect/>
                </a:stretch>
              </a:blipFill>
            </p:spPr>
            <p:txBody>
              <a:bodyPr/>
              <a:lstStyle/>
              <a:p>
                <a:r>
                  <a:rPr lang="sv-SE">
                    <a:noFill/>
                  </a:rPr>
                  <a:t> </a:t>
                </a:r>
              </a:p>
            </p:txBody>
          </p:sp>
        </mc:Fallback>
      </mc:AlternateContent>
      <p:pic>
        <p:nvPicPr>
          <p:cNvPr id="13" name="Picture 12"/>
          <p:cNvPicPr>
            <a:picLocks noChangeAspect="1"/>
          </p:cNvPicPr>
          <p:nvPr/>
        </p:nvPicPr>
        <p:blipFill>
          <a:blip r:embed="rId12"/>
          <a:stretch>
            <a:fillRect/>
          </a:stretch>
        </p:blipFill>
        <p:spPr>
          <a:xfrm>
            <a:off x="4431506" y="4484878"/>
            <a:ext cx="3141980" cy="2356485"/>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5217080"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=0.80</m:t>
                      </m:r>
                    </m:oMath>
                  </m:oMathPara>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5217080" y="4229100"/>
                <a:ext cx="1257300" cy="369332"/>
              </a:xfrm>
              <a:prstGeom prst="rect">
                <a:avLst/>
              </a:prstGeom>
              <a:blipFill>
                <a:blip r:embed="rId13"/>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24460420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1075" y="333632"/>
            <a:ext cx="11073765" cy="568412"/>
          </a:xfrm>
        </p:spPr>
        <p:txBody>
          <a:bodyPr/>
          <a:lstStyle/>
          <a:p>
            <a:pPr algn="ctr"/>
            <a:r>
              <a:rPr lang="en-US" dirty="0" smtClean="0"/>
              <a:t>The Controllable </a:t>
            </a:r>
            <a:r>
              <a:rPr lang="en-US" dirty="0"/>
              <a:t>R</a:t>
            </a:r>
            <a:r>
              <a:rPr lang="en-US" dirty="0" smtClean="0"/>
              <a:t>egion of the Superimposed Voltage - SVPWM </a:t>
            </a:r>
            <a:endParaRPr lang="sv-SE" dirty="0"/>
          </a:p>
        </p:txBody>
      </p:sp>
      <mc:AlternateContent xmlns:mc="http://schemas.openxmlformats.org/markup-compatibility/2006" xmlns:a14="http://schemas.microsoft.com/office/drawing/2010/main">
        <mc:Choice Requires="a14">
          <p:sp>
            <p:nvSpPr>
              <p:cNvPr id="3" name="TextBox 2"/>
              <p:cNvSpPr txBox="1"/>
              <p:nvPr/>
            </p:nvSpPr>
            <p:spPr>
              <a:xfrm>
                <a:off x="5462746" y="150171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=0.25</m:t>
                      </m:r>
                    </m:oMath>
                  </m:oMathPara>
                </a14:m>
                <a:endParaRPr lang="sv-SE" dirty="0"/>
              </a:p>
            </p:txBody>
          </p:sp>
        </mc:Choice>
        <mc:Fallback xmlns="">
          <p:sp>
            <p:nvSpPr>
              <p:cNvPr id="3" name="TextBox 2"/>
              <p:cNvSpPr txBox="1">
                <a:spLocks noRot="1" noChangeAspect="1" noMove="1" noResize="1" noEditPoints="1" noAdjustHandles="1" noChangeArrowheads="1" noChangeShapeType="1" noTextEdit="1"/>
              </p:cNvSpPr>
              <p:nvPr/>
            </p:nvSpPr>
            <p:spPr>
              <a:xfrm>
                <a:off x="5462746" y="1501710"/>
                <a:ext cx="1257300" cy="369332"/>
              </a:xfrm>
              <a:prstGeom prst="rect">
                <a:avLst/>
              </a:prstGeom>
              <a:blipFill>
                <a:blip r:embed="rId2"/>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614170" y="1560777"/>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m:t>
                      </m:r>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1614170" y="1560777"/>
                <a:ext cx="1257300" cy="36933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9166066" y="1355752"/>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=0.50</m:t>
                      </m:r>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9166066" y="1355752"/>
                <a:ext cx="1257300" cy="369332"/>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686163"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=0.75</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1686163" y="4229100"/>
                <a:ext cx="1257300" cy="36933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8946753" y="4229100"/>
                <a:ext cx="1257300"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a14:m>
                <a:r>
                  <a:rPr lang="sv-SE" dirty="0" smtClean="0"/>
                  <a:t>.1</a:t>
                </a:r>
                <a:endParaRPr lang="sv-SE" dirty="0"/>
              </a:p>
            </p:txBody>
          </p:sp>
        </mc:Choice>
        <mc:Fallback xmlns="">
          <p:sp>
            <p:nvSpPr>
              <p:cNvPr id="12" name="TextBox 11"/>
              <p:cNvSpPr txBox="1">
                <a:spLocks noRot="1" noChangeAspect="1" noMove="1" noResize="1" noEditPoints="1" noAdjustHandles="1" noChangeArrowheads="1" noChangeShapeType="1" noTextEdit="1"/>
              </p:cNvSpPr>
              <p:nvPr/>
            </p:nvSpPr>
            <p:spPr>
              <a:xfrm>
                <a:off x="8946753" y="4229100"/>
                <a:ext cx="1257300" cy="369332"/>
              </a:xfrm>
              <a:prstGeom prst="rect">
                <a:avLst/>
              </a:prstGeom>
              <a:blipFill>
                <a:blip r:embed="rId6"/>
                <a:stretch>
                  <a:fillRect t="-10000" b="-2666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5217080" y="4229100"/>
                <a:ext cx="125730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𝑚</m:t>
                          </m:r>
                        </m:e>
                        <m:sub>
                          <m:r>
                            <a:rPr lang="en-US" b="0" i="1" smtClean="0">
                              <a:latin typeface="Cambria Math" panose="02040503050406030204" pitchFamily="18" charset="0"/>
                            </a:rPr>
                            <m:t>𝑎</m:t>
                          </m:r>
                        </m:sub>
                      </m:sSub>
                      <m:r>
                        <a:rPr lang="en-US" b="0" i="1" smtClean="0">
                          <a:latin typeface="Cambria Math" panose="02040503050406030204" pitchFamily="18" charset="0"/>
                        </a:rPr>
                        <m:t>=1</m:t>
                      </m:r>
                    </m:oMath>
                  </m:oMathPara>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5217080" y="4229100"/>
                <a:ext cx="1257300" cy="369332"/>
              </a:xfrm>
              <a:prstGeom prst="rect">
                <a:avLst/>
              </a:prstGeom>
              <a:blipFill>
                <a:blip r:embed="rId7"/>
                <a:stretch>
                  <a:fillRect/>
                </a:stretch>
              </a:blipFill>
            </p:spPr>
            <p:txBody>
              <a:bodyPr/>
              <a:lstStyle/>
              <a:p>
                <a:r>
                  <a:rPr lang="sv-SE">
                    <a:noFill/>
                  </a:rPr>
                  <a:t> </a:t>
                </a:r>
              </a:p>
            </p:txBody>
          </p:sp>
        </mc:Fallback>
      </mc:AlternateContent>
      <p:pic>
        <p:nvPicPr>
          <p:cNvPr id="14" name="Picture 13"/>
          <p:cNvPicPr>
            <a:picLocks noChangeAspect="1"/>
          </p:cNvPicPr>
          <p:nvPr/>
        </p:nvPicPr>
        <p:blipFill>
          <a:blip r:embed="rId8"/>
          <a:stretch>
            <a:fillRect/>
          </a:stretch>
        </p:blipFill>
        <p:spPr>
          <a:xfrm>
            <a:off x="855583" y="1839449"/>
            <a:ext cx="2918460" cy="2188845"/>
          </a:xfrm>
          <a:prstGeom prst="rect">
            <a:avLst/>
          </a:prstGeom>
        </p:spPr>
      </p:pic>
      <p:pic>
        <p:nvPicPr>
          <p:cNvPr id="16" name="Picture 15"/>
          <p:cNvPicPr>
            <a:picLocks noChangeAspect="1"/>
          </p:cNvPicPr>
          <p:nvPr/>
        </p:nvPicPr>
        <p:blipFill>
          <a:blip r:embed="rId9"/>
          <a:stretch>
            <a:fillRect/>
          </a:stretch>
        </p:blipFill>
        <p:spPr>
          <a:xfrm>
            <a:off x="4442460" y="1745443"/>
            <a:ext cx="3078480" cy="2308860"/>
          </a:xfrm>
          <a:prstGeom prst="rect">
            <a:avLst/>
          </a:prstGeom>
        </p:spPr>
      </p:pic>
      <p:pic>
        <p:nvPicPr>
          <p:cNvPr id="17" name="Picture 16"/>
          <p:cNvPicPr>
            <a:picLocks noChangeAspect="1"/>
          </p:cNvPicPr>
          <p:nvPr/>
        </p:nvPicPr>
        <p:blipFill>
          <a:blip r:embed="rId10"/>
          <a:stretch>
            <a:fillRect/>
          </a:stretch>
        </p:blipFill>
        <p:spPr>
          <a:xfrm>
            <a:off x="8046720" y="1839449"/>
            <a:ext cx="3055620" cy="2291715"/>
          </a:xfrm>
          <a:prstGeom prst="rect">
            <a:avLst/>
          </a:prstGeom>
        </p:spPr>
      </p:pic>
      <p:pic>
        <p:nvPicPr>
          <p:cNvPr id="18" name="Picture 17"/>
          <p:cNvPicPr>
            <a:picLocks noChangeAspect="1"/>
          </p:cNvPicPr>
          <p:nvPr/>
        </p:nvPicPr>
        <p:blipFill>
          <a:blip r:embed="rId11"/>
          <a:stretch>
            <a:fillRect/>
          </a:stretch>
        </p:blipFill>
        <p:spPr>
          <a:xfrm>
            <a:off x="855583" y="4526280"/>
            <a:ext cx="3185159" cy="2388869"/>
          </a:xfrm>
          <a:prstGeom prst="rect">
            <a:avLst/>
          </a:prstGeom>
        </p:spPr>
      </p:pic>
      <p:pic>
        <p:nvPicPr>
          <p:cNvPr id="19" name="Picture 18"/>
          <p:cNvPicPr>
            <a:picLocks noChangeAspect="1"/>
          </p:cNvPicPr>
          <p:nvPr/>
        </p:nvPicPr>
        <p:blipFill>
          <a:blip r:embed="rId12"/>
          <a:stretch>
            <a:fillRect/>
          </a:stretch>
        </p:blipFill>
        <p:spPr>
          <a:xfrm>
            <a:off x="4442460" y="4526280"/>
            <a:ext cx="3258344" cy="2443758"/>
          </a:xfrm>
          <a:prstGeom prst="rect">
            <a:avLst/>
          </a:prstGeom>
        </p:spPr>
      </p:pic>
      <p:pic>
        <p:nvPicPr>
          <p:cNvPr id="20" name="Picture 19"/>
          <p:cNvPicPr>
            <a:picLocks noChangeAspect="1"/>
          </p:cNvPicPr>
          <p:nvPr/>
        </p:nvPicPr>
        <p:blipFill>
          <a:blip r:embed="rId13"/>
          <a:stretch>
            <a:fillRect/>
          </a:stretch>
        </p:blipFill>
        <p:spPr>
          <a:xfrm>
            <a:off x="7937024" y="4596050"/>
            <a:ext cx="3165316" cy="2373987"/>
          </a:xfrm>
          <a:prstGeom prst="rect">
            <a:avLst/>
          </a:prstGeom>
        </p:spPr>
      </p:pic>
    </p:spTree>
    <p:extLst>
      <p:ext uri="{BB962C8B-B14F-4D97-AF65-F5344CB8AC3E}">
        <p14:creationId xmlns:p14="http://schemas.microsoft.com/office/powerpoint/2010/main" val="399043641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227EF5-B1C0-4EAB-A58C-8A8813FF7B00}"/>
              </a:ext>
            </a:extLst>
          </p:cNvPr>
          <p:cNvPicPr>
            <a:picLocks noChangeAspect="1"/>
          </p:cNvPicPr>
          <p:nvPr/>
        </p:nvPicPr>
        <p:blipFill>
          <a:blip r:embed="rId3"/>
          <a:stretch>
            <a:fillRect/>
          </a:stretch>
        </p:blipFill>
        <p:spPr>
          <a:xfrm>
            <a:off x="7022730" y="1229614"/>
            <a:ext cx="4094616" cy="5015552"/>
          </a:xfrm>
          <a:prstGeom prst="rect">
            <a:avLst/>
          </a:prstGeom>
        </p:spPr>
      </p:pic>
      <p:pic>
        <p:nvPicPr>
          <p:cNvPr id="4" name="Picture 3">
            <a:extLst>
              <a:ext uri="{FF2B5EF4-FFF2-40B4-BE49-F238E27FC236}">
                <a16:creationId xmlns:a16="http://schemas.microsoft.com/office/drawing/2014/main" id="{5364FCCA-EB90-4B5D-BE04-05B4EDCF8C42}"/>
              </a:ext>
            </a:extLst>
          </p:cNvPr>
          <p:cNvPicPr>
            <a:picLocks noChangeAspect="1"/>
          </p:cNvPicPr>
          <p:nvPr/>
        </p:nvPicPr>
        <p:blipFill>
          <a:blip r:embed="rId4"/>
          <a:stretch>
            <a:fillRect/>
          </a:stretch>
        </p:blipFill>
        <p:spPr>
          <a:xfrm>
            <a:off x="3074618" y="2954248"/>
            <a:ext cx="3443339" cy="1566284"/>
          </a:xfrm>
          <a:prstGeom prst="rect">
            <a:avLst/>
          </a:prstGeom>
        </p:spPr>
      </p:pic>
      <p:pic>
        <p:nvPicPr>
          <p:cNvPr id="6" name="Picture 5">
            <a:extLst>
              <a:ext uri="{FF2B5EF4-FFF2-40B4-BE49-F238E27FC236}">
                <a16:creationId xmlns:a16="http://schemas.microsoft.com/office/drawing/2014/main" id="{3FCD58D8-83AB-42CC-A2CD-21C3A7C1AC78}"/>
              </a:ext>
            </a:extLst>
          </p:cNvPr>
          <p:cNvPicPr>
            <a:picLocks noChangeAspect="1"/>
          </p:cNvPicPr>
          <p:nvPr/>
        </p:nvPicPr>
        <p:blipFill>
          <a:blip r:embed="rId5"/>
          <a:stretch>
            <a:fillRect/>
          </a:stretch>
        </p:blipFill>
        <p:spPr>
          <a:xfrm>
            <a:off x="356929" y="3180178"/>
            <a:ext cx="2314575" cy="1114425"/>
          </a:xfrm>
          <a:prstGeom prst="rect">
            <a:avLst/>
          </a:prstGeom>
        </p:spPr>
      </p:pic>
      <p:sp>
        <p:nvSpPr>
          <p:cNvPr id="7" name="Title 1"/>
          <p:cNvSpPr txBox="1">
            <a:spLocks/>
          </p:cNvSpPr>
          <p:nvPr/>
        </p:nvSpPr>
        <p:spPr>
          <a:xfrm>
            <a:off x="981075" y="333632"/>
            <a:ext cx="11073765" cy="568412"/>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pPr algn="ctr"/>
            <a:r>
              <a:rPr lang="en-US" dirty="0" smtClean="0"/>
              <a:t>Challenge- </a:t>
            </a:r>
            <a:r>
              <a:rPr lang="en-US" dirty="0"/>
              <a:t>Calculation Burden </a:t>
            </a:r>
            <a:r>
              <a:rPr lang="en-US" dirty="0" smtClean="0"/>
              <a:t>(Robotic Arm Kinematics</a:t>
            </a:r>
            <a:r>
              <a:rPr lang="en-US" dirty="0"/>
              <a:t>) </a:t>
            </a:r>
            <a:endParaRPr lang="sv-SE" dirty="0"/>
          </a:p>
        </p:txBody>
      </p:sp>
    </p:spTree>
    <p:extLst>
      <p:ext uri="{BB962C8B-B14F-4D97-AF65-F5344CB8AC3E}">
        <p14:creationId xmlns:p14="http://schemas.microsoft.com/office/powerpoint/2010/main" val="20002443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8695" y="318392"/>
            <a:ext cx="10990263" cy="568412"/>
          </a:xfrm>
        </p:spPr>
        <p:txBody>
          <a:bodyPr/>
          <a:lstStyle/>
          <a:p>
            <a:r>
              <a:rPr lang="en-US" dirty="0" smtClean="0"/>
              <a:t>References</a:t>
            </a:r>
            <a:endParaRPr lang="sv-SE" dirty="0"/>
          </a:p>
        </p:txBody>
      </p:sp>
      <p:sp>
        <p:nvSpPr>
          <p:cNvPr id="39" name="TextBox 38">
            <a:extLst>
              <a:ext uri="{FF2B5EF4-FFF2-40B4-BE49-F238E27FC236}">
                <a16:creationId xmlns:a16="http://schemas.microsoft.com/office/drawing/2014/main" id="{6112A129-FBE9-495B-89D5-D25C6E150FB4}"/>
              </a:ext>
            </a:extLst>
          </p:cNvPr>
          <p:cNvSpPr txBox="1"/>
          <p:nvPr/>
        </p:nvSpPr>
        <p:spPr>
          <a:xfrm>
            <a:off x="-243298" y="936029"/>
            <a:ext cx="3025139"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Simultaneous Information/ </a:t>
            </a:r>
          </a:p>
          <a:p>
            <a:pPr algn="ctr"/>
            <a:r>
              <a:rPr lang="en-US" sz="1600" dirty="0">
                <a:solidFill>
                  <a:srgbClr val="FF0000"/>
                </a:solidFill>
                <a:latin typeface="Times New Roman" panose="02020603050405020304" pitchFamily="18" charset="0"/>
                <a:cs typeface="Times New Roman" panose="02020603050405020304" pitchFamily="18" charset="0"/>
              </a:rPr>
              <a:t>Power Transfer </a:t>
            </a:r>
          </a:p>
        </p:txBody>
      </p:sp>
      <p:sp>
        <p:nvSpPr>
          <p:cNvPr id="40" name="TextBox 39">
            <a:extLst>
              <a:ext uri="{FF2B5EF4-FFF2-40B4-BE49-F238E27FC236}">
                <a16:creationId xmlns:a16="http://schemas.microsoft.com/office/drawing/2014/main" id="{58C9DA5A-CA3D-4DA5-AA1E-C8CD6AA675A4}"/>
              </a:ext>
            </a:extLst>
          </p:cNvPr>
          <p:cNvSpPr txBox="1"/>
          <p:nvPr/>
        </p:nvSpPr>
        <p:spPr>
          <a:xfrm>
            <a:off x="2126323" y="886247"/>
            <a:ext cx="2258008"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Selective</a:t>
            </a:r>
          </a:p>
          <a:p>
            <a:pPr algn="ctr"/>
            <a:r>
              <a:rPr lang="en-US" sz="1600" dirty="0">
                <a:solidFill>
                  <a:srgbClr val="FF0000"/>
                </a:solidFill>
                <a:latin typeface="Times New Roman" panose="02020603050405020304" pitchFamily="18" charset="0"/>
                <a:cs typeface="Times New Roman" panose="02020603050405020304" pitchFamily="18" charset="0"/>
              </a:rPr>
              <a:t> Power Transfer </a:t>
            </a:r>
          </a:p>
        </p:txBody>
      </p:sp>
      <p:sp>
        <p:nvSpPr>
          <p:cNvPr id="41" name="TextBox 40">
            <a:extLst>
              <a:ext uri="{FF2B5EF4-FFF2-40B4-BE49-F238E27FC236}">
                <a16:creationId xmlns:a16="http://schemas.microsoft.com/office/drawing/2014/main" id="{7B5D7324-0E07-4756-9101-C4996CA9648E}"/>
              </a:ext>
            </a:extLst>
          </p:cNvPr>
          <p:cNvSpPr txBox="1"/>
          <p:nvPr/>
        </p:nvSpPr>
        <p:spPr>
          <a:xfrm>
            <a:off x="4225818" y="965917"/>
            <a:ext cx="2258008" cy="338554"/>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Slip-Ring Applications </a:t>
            </a:r>
          </a:p>
        </p:txBody>
      </p:sp>
      <p:sp>
        <p:nvSpPr>
          <p:cNvPr id="42" name="TextBox 41">
            <a:extLst>
              <a:ext uri="{FF2B5EF4-FFF2-40B4-BE49-F238E27FC236}">
                <a16:creationId xmlns:a16="http://schemas.microsoft.com/office/drawing/2014/main" id="{DFAB533E-0B95-4941-8695-74B643DCCCF1}"/>
              </a:ext>
            </a:extLst>
          </p:cNvPr>
          <p:cNvSpPr txBox="1"/>
          <p:nvPr/>
        </p:nvSpPr>
        <p:spPr>
          <a:xfrm>
            <a:off x="6327989" y="843800"/>
            <a:ext cx="2258008"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Single-Stage</a:t>
            </a:r>
          </a:p>
          <a:p>
            <a:pPr algn="ctr"/>
            <a:r>
              <a:rPr lang="en-US" sz="1600" dirty="0">
                <a:solidFill>
                  <a:srgbClr val="FF0000"/>
                </a:solidFill>
                <a:latin typeface="Times New Roman" panose="02020603050405020304" pitchFamily="18" charset="0"/>
                <a:cs typeface="Times New Roman" panose="02020603050405020304" pitchFamily="18" charset="0"/>
              </a:rPr>
              <a:t>Power Transfers</a:t>
            </a:r>
          </a:p>
        </p:txBody>
      </p:sp>
      <p:sp>
        <p:nvSpPr>
          <p:cNvPr id="43" name="TextBox 42">
            <a:extLst>
              <a:ext uri="{FF2B5EF4-FFF2-40B4-BE49-F238E27FC236}">
                <a16:creationId xmlns:a16="http://schemas.microsoft.com/office/drawing/2014/main" id="{34E0506A-1BD3-4162-AE85-609496D7CED4}"/>
              </a:ext>
            </a:extLst>
          </p:cNvPr>
          <p:cNvSpPr txBox="1"/>
          <p:nvPr/>
        </p:nvSpPr>
        <p:spPr>
          <a:xfrm>
            <a:off x="34628" y="1550135"/>
            <a:ext cx="2090965" cy="3170099"/>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Simultaneous Wireless Information and Power Transfer (SWIPT): Recent Advances and Future Challenges (2018)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Integrated Resonant Structure for Simultaneous Wireless Power Transfer and Data Telemetry(2012)</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Simultaneous Wireless Power and Data Transmission Method for Multi-Output WPT Systems: Analysis, Design, and Experimental Verification (2020)</a:t>
            </a: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AE1FDF82-1D3F-46EA-9AE2-E8F497FFCDCA}"/>
              </a:ext>
            </a:extLst>
          </p:cNvPr>
          <p:cNvSpPr txBox="1"/>
          <p:nvPr/>
        </p:nvSpPr>
        <p:spPr>
          <a:xfrm>
            <a:off x="2009866" y="1550135"/>
            <a:ext cx="2399523" cy="6709529"/>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Selective Omnidirectional Magnetic Resonant Coupling Wireless Power Transfer With Multiple-Receiver System(2018)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Design and Analysis of Wireless Switched Reluctance Motor Drives(2019)</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Frequency Splitting-Based Wireless Power Transfer and Simultaneous Propulsion Generation to Multiple Micro-Robots(2018)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Comparative Analysis of Frequency-Selective Wireless Power Transfer for Multiple-Rx Systems(2020)</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Frequency-Selective EMI Reduction Method for Tightly Coupled Wireless Power Transfer Systems Using Resonant Frequency Control of a Shielding Coil in Smartphone Application(2020)</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Selective Wireless Power Transfer for Smart Power Distribution in a Miniature-Sized Multiple-Receiver System(2016)</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Multifrequency Superposition Methodology to Achieve High Efficiency and Targeted Power Distribution for a Multiload MCRWPT System(2018)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Cross Interference Minimization and Simultaneous Wireless Power Transfer to Multiple Frequency Loads Using Frequency Bifurcation Approach</a:t>
            </a: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5" name="TextBox 44">
            <a:extLst>
              <a:ext uri="{FF2B5EF4-FFF2-40B4-BE49-F238E27FC236}">
                <a16:creationId xmlns:a16="http://schemas.microsoft.com/office/drawing/2014/main" id="{FD2B090B-3584-4D85-A051-DE0EDC99FA31}"/>
              </a:ext>
            </a:extLst>
          </p:cNvPr>
          <p:cNvSpPr txBox="1"/>
          <p:nvPr/>
        </p:nvSpPr>
        <p:spPr>
          <a:xfrm>
            <a:off x="4145692" y="1532578"/>
            <a:ext cx="2258008" cy="7017306"/>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Primary-Side Control Method of Wireless Power Transfer for Motor Electric Excitation(2019)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Wireless DC Motor Drives with </a:t>
            </a:r>
            <a:r>
              <a:rPr lang="en-US" sz="1000" dirty="0" err="1">
                <a:solidFill>
                  <a:srgbClr val="004A99"/>
                </a:solidFill>
                <a:latin typeface="Times New Roman" panose="02020603050405020304" pitchFamily="18" charset="0"/>
                <a:cs typeface="Times New Roman" panose="02020603050405020304" pitchFamily="18" charset="0"/>
              </a:rPr>
              <a:t>Selectability</a:t>
            </a:r>
            <a:r>
              <a:rPr lang="en-US" sz="1000" dirty="0">
                <a:solidFill>
                  <a:srgbClr val="004A99"/>
                </a:solidFill>
                <a:latin typeface="Times New Roman" panose="02020603050405020304" pitchFamily="18" charset="0"/>
                <a:cs typeface="Times New Roman" panose="02020603050405020304" pitchFamily="18" charset="0"/>
              </a:rPr>
              <a:t> and Controllability(2017)</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An Airborne Radar Power Supply With Contactless Transfer of Energy—Part I: Rotating Transformer (2007)</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Aerodynamic Fluid Bearings for Translational and Rotating Capacitors in Noncontact Capacitive Power Transfer Systems(2014)</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Synchronous Generator Brushless Field Excitation and Voltage Regulation via Capacitive Coupling Through Journal Bearings(2017)</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Operation of an Electrical Excited Synchronous Machine by Contactless Energy Transfer to the Rotor(2018)</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Rotation-Lightweight Wireless Power Transfer System for Solar Wing Driving(2019)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Wireless Power Transfer for Smart Industrial and Home Applications(2019)</a:t>
            </a:r>
          </a:p>
          <a:p>
            <a:pPr marL="228600" indent="-228600">
              <a:buFont typeface="+mj-lt"/>
              <a:buAutoNum type="arabicPeriod"/>
            </a:pPr>
            <a:r>
              <a:rPr lang="en-US" sz="1000" dirty="0"/>
              <a:t>Use of the Rotating Rectifier Board as a Capacitive Power Coupler for Brushless Wound Field Synchronous Machines(2022)</a:t>
            </a:r>
            <a:endParaRPr lang="en-US" sz="1000" dirty="0">
              <a:solidFill>
                <a:srgbClr val="004A99"/>
              </a:solidFill>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D063DFD4-372F-4629-9931-8D88858D2F19}"/>
              </a:ext>
            </a:extLst>
          </p:cNvPr>
          <p:cNvSpPr txBox="1"/>
          <p:nvPr/>
        </p:nvSpPr>
        <p:spPr>
          <a:xfrm>
            <a:off x="6268901" y="1536940"/>
            <a:ext cx="2317096" cy="3108543"/>
          </a:xfrm>
          <a:prstGeom prst="rect">
            <a:avLst/>
          </a:prstGeom>
          <a:noFill/>
        </p:spPr>
        <p:txBody>
          <a:bodyPr wrap="square" rtlCol="0">
            <a:spAutoFit/>
          </a:bodyPr>
          <a:lstStyle/>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High-Efficiency </a:t>
            </a:r>
            <a:r>
              <a:rPr lang="en-US" sz="1000" dirty="0" err="1">
                <a:latin typeface="Times New Roman" panose="02020603050405020304" pitchFamily="18" charset="0"/>
                <a:cs typeface="Times New Roman" panose="02020603050405020304" pitchFamily="18" charset="0"/>
              </a:rPr>
              <a:t>GaN</a:t>
            </a:r>
            <a:r>
              <a:rPr lang="en-US" sz="1000" dirty="0">
                <a:latin typeface="Times New Roman" panose="02020603050405020304" pitchFamily="18" charset="0"/>
                <a:cs typeface="Times New Roman" panose="02020603050405020304" pitchFamily="18" charset="0"/>
              </a:rPr>
              <a:t>-Based Single-Stage 6.78 MHz Transmitter for Wireless Power Transfer Applications(2019)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Cooperative Integration of RF Energy Harvesting and Dedicated WPT for Wireless Sensor Networks(2019)</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A Three-Phase Single-Stage AC–DC Wireless-Power-Transfer Converter With Power Factor Correction and Bus Voltage Control(2020)</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Individually Regulated Multiple-Output WPT System With a Single PWM and Single Transformer (2020)</a:t>
            </a: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CB339882-1CAE-4858-917A-C0F630273287}"/>
              </a:ext>
            </a:extLst>
          </p:cNvPr>
          <p:cNvSpPr txBox="1"/>
          <p:nvPr/>
        </p:nvSpPr>
        <p:spPr>
          <a:xfrm>
            <a:off x="9192594" y="886247"/>
            <a:ext cx="2258008" cy="584775"/>
          </a:xfrm>
          <a:prstGeom prst="rect">
            <a:avLst/>
          </a:prstGeom>
          <a:noFill/>
        </p:spPr>
        <p:txBody>
          <a:bodyPr wrap="square" rtlCol="0">
            <a:spAutoFit/>
          </a:bodyPr>
          <a:lstStyle/>
          <a:p>
            <a:pPr algn="ctr"/>
            <a:r>
              <a:rPr lang="en-US" sz="1600" dirty="0">
                <a:solidFill>
                  <a:srgbClr val="FF0000"/>
                </a:solidFill>
                <a:latin typeface="Times New Roman" panose="02020603050405020304" pitchFamily="18" charset="0"/>
                <a:cs typeface="Times New Roman" panose="02020603050405020304" pitchFamily="18" charset="0"/>
              </a:rPr>
              <a:t>Concurrent Power Transfer</a:t>
            </a:r>
          </a:p>
        </p:txBody>
      </p:sp>
      <p:sp>
        <p:nvSpPr>
          <p:cNvPr id="48" name="TextBox 47">
            <a:extLst>
              <a:ext uri="{FF2B5EF4-FFF2-40B4-BE49-F238E27FC236}">
                <a16:creationId xmlns:a16="http://schemas.microsoft.com/office/drawing/2014/main" id="{18711A11-683D-4033-9EDB-F0B96FFEA165}"/>
              </a:ext>
            </a:extLst>
          </p:cNvPr>
          <p:cNvSpPr txBox="1"/>
          <p:nvPr/>
        </p:nvSpPr>
        <p:spPr>
          <a:xfrm>
            <a:off x="8451197" y="1524746"/>
            <a:ext cx="3740803" cy="6555641"/>
          </a:xfrm>
          <a:prstGeom prst="rect">
            <a:avLst/>
          </a:prstGeom>
          <a:noFill/>
        </p:spPr>
        <p:txBody>
          <a:bodyPr wrap="square" rtlCol="0">
            <a:spAutoFit/>
          </a:bodyPr>
          <a:lstStyle/>
          <a:p>
            <a:pPr marL="228600" indent="-228600">
              <a:buFont typeface="+mj-lt"/>
              <a:buAutoNum type="arabicPeriod"/>
            </a:pPr>
            <a:r>
              <a:rPr lang="en-US" sz="1000" dirty="0">
                <a:solidFill>
                  <a:schemeClr val="accent1"/>
                </a:solidFill>
                <a:latin typeface="Times New Roman" panose="02020603050405020304" pitchFamily="18" charset="0"/>
                <a:cs typeface="Times New Roman" panose="02020603050405020304" pitchFamily="18" charset="0"/>
              </a:rPr>
              <a:t>Multifrequency Inductive Power Transfer(2014)</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Wireless Power Transfer With Concurrent 200-kHz and 6.78-MHz Operation in a Single-Transmitter Device (2016)</a:t>
            </a:r>
            <a:endParaRPr lang="en-US" sz="1000" dirty="0">
              <a:solidFill>
                <a:schemeClr val="accent1"/>
              </a:solidFill>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000" dirty="0">
                <a:solidFill>
                  <a:srgbClr val="004A99"/>
                </a:solidFill>
              </a:rPr>
              <a:t>Gan-Based Dual-Mode Wireless Power Transfer Using Multifrequency Programmed Pulse Width Modulation (2017)</a:t>
            </a:r>
          </a:p>
          <a:p>
            <a:pPr marL="228600" indent="-228600">
              <a:buFont typeface="+mj-lt"/>
              <a:buAutoNum type="arabicPeriod"/>
            </a:pPr>
            <a:r>
              <a:rPr lang="en-US" sz="1000" dirty="0"/>
              <a:t>A Multifrequency Superposition Methodology to Achieve High Efficiency and Targeted Power Distribution for a Multiload MCRWPT System (2018)</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Cross Interference Minimization and Simultaneous Wireless Power Transfer to Multiple Frequency Loads Using Frequency Bifurcation Approach(2019)</a:t>
            </a:r>
            <a:endParaRPr lang="en-US" sz="1000" dirty="0">
              <a:solidFill>
                <a:srgbClr val="004A99"/>
              </a:solidFill>
            </a:endParaRPr>
          </a:p>
          <a:p>
            <a:pPr marL="228600" indent="-228600">
              <a:buFont typeface="+mj-lt"/>
              <a:buAutoNum type="arabicPeriod"/>
            </a:pPr>
            <a:r>
              <a:rPr lang="en-US" sz="1000" dirty="0"/>
              <a:t>A Gallium Nitride (</a:t>
            </a:r>
            <a:r>
              <a:rPr lang="en-US" sz="1000" dirty="0" err="1"/>
              <a:t>GaN</a:t>
            </a:r>
            <a:r>
              <a:rPr lang="en-US" sz="1000" dirty="0"/>
              <a:t>)-Based Single-Inductor Multiple-Output (SIMO) Inverter With Multi-Frequency AC Outputs (2019)</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Single-Inductor Multiple-Output (SIMO) Buck Hybrid Converter for Simultaneous Wireless and Wired Power Transfer(2020)</a:t>
            </a:r>
          </a:p>
          <a:p>
            <a:pPr marL="228600" indent="-228600">
              <a:buFont typeface="+mj-lt"/>
              <a:buAutoNum type="arabicPeriod"/>
            </a:pPr>
            <a:r>
              <a:rPr lang="en-US" sz="1000" dirty="0"/>
              <a:t>Generalized methodology to generate, amplify and compensate multi-frequency power for a single-inverter-based MF-MR-S-WPT system (2020)</a:t>
            </a: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Concurrent Wireless Power Transfer to Multiple Receivers With Additional Resonant Frequencies and Reduced Power Switches (2020)</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Multifrequency and Multiload MCR-WPT System Using Hybrid Modulation Waves SPWM Control Method (2021)</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Multi-Frequency Multi-Amplitude Superposition Modulation Method With Phase Shift Optimization for Single Inverter of Wireless Power Transfer System (2021)</a:t>
            </a:r>
          </a:p>
          <a:p>
            <a:pPr marL="228600" indent="-228600">
              <a:buFont typeface="+mj-lt"/>
              <a:buAutoNum type="arabicPeriod"/>
            </a:pPr>
            <a:r>
              <a:rPr lang="en-US" sz="1000" dirty="0">
                <a:latin typeface="Times New Roman" panose="02020603050405020304" pitchFamily="18" charset="0"/>
                <a:cs typeface="Times New Roman" panose="02020603050405020304" pitchFamily="18" charset="0"/>
              </a:rPr>
              <a:t>Design and Control of a Decoupled Multichannel Wireless Power Transfer System Based on Multilevel Inverters (2022)</a:t>
            </a:r>
          </a:p>
          <a:p>
            <a:pPr marL="228600" indent="-228600">
              <a:buFont typeface="+mj-lt"/>
              <a:buAutoNum type="arabicPeriod"/>
            </a:pPr>
            <a:r>
              <a:rPr lang="en-US" sz="1000" dirty="0">
                <a:solidFill>
                  <a:srgbClr val="004A99"/>
                </a:solidFill>
                <a:latin typeface="Times New Roman" panose="02020603050405020304" pitchFamily="18" charset="0"/>
                <a:cs typeface="Times New Roman" panose="02020603050405020304" pitchFamily="18" charset="0"/>
              </a:rPr>
              <a:t>A Dual-Frequency Three-Dimensional WPT System with Directional Power Transfer Capability at Two Separately Regulated Outputs (2022)</a:t>
            </a: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pPr marL="228600" indent="-228600">
              <a:buFont typeface="+mj-lt"/>
              <a:buAutoNum type="arabicPeriod"/>
            </a:pPr>
            <a:endParaRPr lang="en-US" sz="1000" dirty="0"/>
          </a:p>
          <a:p>
            <a:pPr marL="228600" indent="-228600">
              <a:buFont typeface="+mj-lt"/>
              <a:buAutoNum type="arabicPeriod"/>
            </a:pPr>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a:p>
            <a:endParaRPr lang="en-US" sz="1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9327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3455" y="310772"/>
            <a:ext cx="10990263" cy="568412"/>
          </a:xfrm>
        </p:spPr>
        <p:txBody>
          <a:bodyPr/>
          <a:lstStyle/>
          <a:p>
            <a:endParaRPr lang="sv-SE"/>
          </a:p>
        </p:txBody>
      </p:sp>
      <p:sp>
        <p:nvSpPr>
          <p:cNvPr id="3" name="Content Placeholder 2"/>
          <p:cNvSpPr>
            <a:spLocks noGrp="1"/>
          </p:cNvSpPr>
          <p:nvPr>
            <p:ph idx="1"/>
          </p:nvPr>
        </p:nvSpPr>
        <p:spPr/>
        <p:txBody>
          <a:bodyPr/>
          <a:lstStyle/>
          <a:p>
            <a:endParaRPr lang="sv-SE" dirty="0"/>
          </a:p>
        </p:txBody>
      </p:sp>
    </p:spTree>
    <p:extLst>
      <p:ext uri="{BB962C8B-B14F-4D97-AF65-F5344CB8AC3E}">
        <p14:creationId xmlns:p14="http://schemas.microsoft.com/office/powerpoint/2010/main" val="274206508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96D985F1-6DDB-4485-B204-CE878F7481E0}"/>
              </a:ext>
            </a:extLst>
          </p:cNvPr>
          <p:cNvPicPr>
            <a:picLocks noChangeAspect="1"/>
          </p:cNvPicPr>
          <p:nvPr/>
        </p:nvPicPr>
        <p:blipFill>
          <a:blip r:embed="rId2"/>
          <a:stretch>
            <a:fillRect/>
          </a:stretch>
        </p:blipFill>
        <p:spPr>
          <a:xfrm>
            <a:off x="5862505" y="2792972"/>
            <a:ext cx="3810000" cy="2857500"/>
          </a:xfrm>
          <a:prstGeom prst="rect">
            <a:avLst/>
          </a:prstGeom>
        </p:spPr>
      </p:pic>
      <p:grpSp>
        <p:nvGrpSpPr>
          <p:cNvPr id="34" name="Group 33">
            <a:extLst>
              <a:ext uri="{FF2B5EF4-FFF2-40B4-BE49-F238E27FC236}">
                <a16:creationId xmlns:a16="http://schemas.microsoft.com/office/drawing/2014/main" id="{42931F40-6C16-4D21-A9C5-F36DFF06BB93}"/>
              </a:ext>
            </a:extLst>
          </p:cNvPr>
          <p:cNvGrpSpPr/>
          <p:nvPr/>
        </p:nvGrpSpPr>
        <p:grpSpPr>
          <a:xfrm>
            <a:off x="4272179" y="123692"/>
            <a:ext cx="2748641" cy="2032430"/>
            <a:chOff x="1150962" y="1507183"/>
            <a:chExt cx="2748641" cy="2032430"/>
          </a:xfrm>
        </p:grpSpPr>
        <p:cxnSp>
          <p:nvCxnSpPr>
            <p:cNvPr id="35" name="Straight Arrow Connector 34">
              <a:extLst>
                <a:ext uri="{FF2B5EF4-FFF2-40B4-BE49-F238E27FC236}">
                  <a16:creationId xmlns:a16="http://schemas.microsoft.com/office/drawing/2014/main" id="{8687EC02-15CD-49D2-8D11-D775B5BD7E18}"/>
                </a:ext>
              </a:extLst>
            </p:cNvPr>
            <p:cNvCxnSpPr>
              <a:cxnSpLocks/>
            </p:cNvCxnSpPr>
            <p:nvPr/>
          </p:nvCxnSpPr>
          <p:spPr>
            <a:xfrm>
              <a:off x="1156196" y="3539612"/>
              <a:ext cx="120064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891F983-6451-47A5-AC38-A0001366C6C3}"/>
                </a:ext>
              </a:extLst>
            </p:cNvPr>
            <p:cNvCxnSpPr>
              <a:cxnSpLocks/>
            </p:cNvCxnSpPr>
            <p:nvPr/>
          </p:nvCxnSpPr>
          <p:spPr>
            <a:xfrm flipV="1">
              <a:off x="2356843" y="2513991"/>
              <a:ext cx="1305355" cy="1025622"/>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838007F-26DE-4538-8E08-DE7810BA5B4D}"/>
                </a:ext>
              </a:extLst>
            </p:cNvPr>
            <p:cNvCxnSpPr>
              <a:cxnSpLocks/>
            </p:cNvCxnSpPr>
            <p:nvPr/>
          </p:nvCxnSpPr>
          <p:spPr>
            <a:xfrm flipV="1">
              <a:off x="3667433" y="1507183"/>
              <a:ext cx="232170" cy="1006809"/>
            </a:xfrm>
            <a:prstGeom prst="straightConnector1">
              <a:avLst/>
            </a:prstGeom>
            <a:ln w="25400">
              <a:solidFill>
                <a:srgbClr val="0039A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276EDD62-DB12-48EE-9BA0-2970AA56E861}"/>
                </a:ext>
              </a:extLst>
            </p:cNvPr>
            <p:cNvCxnSpPr>
              <a:cxnSpLocks/>
            </p:cNvCxnSpPr>
            <p:nvPr/>
          </p:nvCxnSpPr>
          <p:spPr>
            <a:xfrm flipV="1">
              <a:off x="1150962" y="1507183"/>
              <a:ext cx="2748641" cy="2032429"/>
            </a:xfrm>
            <a:prstGeom prst="straightConnector1">
              <a:avLst/>
            </a:prstGeom>
            <a:ln w="25400">
              <a:solidFill>
                <a:schemeClr val="tx1"/>
              </a:solidFill>
              <a:prstDash val="dash"/>
              <a:tailEnd type="non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F93607E-475E-40E0-A95C-3F1CB97383FC}"/>
                  </a:ext>
                </a:extLst>
              </p:cNvPr>
              <p:cNvSpPr txBox="1"/>
              <p:nvPr/>
            </p:nvSpPr>
            <p:spPr>
              <a:xfrm rot="19268304">
                <a:off x="4793907" y="655634"/>
                <a:ext cx="163448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𝐴𝐵𝐶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39" name="TextBox 38">
                <a:extLst>
                  <a:ext uri="{FF2B5EF4-FFF2-40B4-BE49-F238E27FC236}">
                    <a16:creationId xmlns:a16="http://schemas.microsoft.com/office/drawing/2014/main" id="{1F93607E-475E-40E0-A95C-3F1CB97383FC}"/>
                  </a:ext>
                </a:extLst>
              </p:cNvPr>
              <p:cNvSpPr txBox="1">
                <a:spLocks noRot="1" noChangeAspect="1" noMove="1" noResize="1" noEditPoints="1" noAdjustHandles="1" noChangeArrowheads="1" noChangeShapeType="1" noTextEdit="1"/>
              </p:cNvSpPr>
              <p:nvPr/>
            </p:nvSpPr>
            <p:spPr>
              <a:xfrm rot="19268304">
                <a:off x="4793907" y="655634"/>
                <a:ext cx="1634481" cy="43127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39C0750-3089-473F-8FC7-5CF12CE44F1A}"/>
                  </a:ext>
                </a:extLst>
              </p:cNvPr>
              <p:cNvSpPr txBox="1"/>
              <p:nvPr/>
            </p:nvSpPr>
            <p:spPr>
              <a:xfrm>
                <a:off x="4139923" y="1735335"/>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𝜙</m:t>
                      </m:r>
                    </m:oMath>
                  </m:oMathPara>
                </a14:m>
                <a:endParaRPr lang="en-US" sz="2200" dirty="0"/>
              </a:p>
            </p:txBody>
          </p:sp>
        </mc:Choice>
        <mc:Fallback xmlns="">
          <p:sp>
            <p:nvSpPr>
              <p:cNvPr id="40" name="TextBox 39">
                <a:extLst>
                  <a:ext uri="{FF2B5EF4-FFF2-40B4-BE49-F238E27FC236}">
                    <a16:creationId xmlns:a16="http://schemas.microsoft.com/office/drawing/2014/main" id="{E39C0750-3089-473F-8FC7-5CF12CE44F1A}"/>
                  </a:ext>
                </a:extLst>
              </p:cNvPr>
              <p:cNvSpPr txBox="1">
                <a:spLocks noRot="1" noChangeAspect="1" noMove="1" noResize="1" noEditPoints="1" noAdjustHandles="1" noChangeArrowheads="1" noChangeShapeType="1" noTextEdit="1"/>
              </p:cNvSpPr>
              <p:nvPr/>
            </p:nvSpPr>
            <p:spPr>
              <a:xfrm>
                <a:off x="4139923" y="1735335"/>
                <a:ext cx="1634481" cy="338554"/>
              </a:xfrm>
              <a:prstGeom prst="rect">
                <a:avLst/>
              </a:prstGeom>
              <a:blipFill>
                <a:blip r:embed="rId4"/>
                <a:stretch>
                  <a:fillRect b="-3636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C5B954CE-BAA8-448C-AA48-A99159F29801}"/>
                  </a:ext>
                </a:extLst>
              </p:cNvPr>
              <p:cNvSpPr txBox="1"/>
              <p:nvPr/>
            </p:nvSpPr>
            <p:spPr>
              <a:xfrm rot="19308726">
                <a:off x="5128684" y="1227910"/>
                <a:ext cx="1634481"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𝐵</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1" name="TextBox 40">
                <a:extLst>
                  <a:ext uri="{FF2B5EF4-FFF2-40B4-BE49-F238E27FC236}">
                    <a16:creationId xmlns:a16="http://schemas.microsoft.com/office/drawing/2014/main" id="{C5B954CE-BAA8-448C-AA48-A99159F29801}"/>
                  </a:ext>
                </a:extLst>
              </p:cNvPr>
              <p:cNvSpPr txBox="1">
                <a:spLocks noRot="1" noChangeAspect="1" noMove="1" noResize="1" noEditPoints="1" noAdjustHandles="1" noChangeArrowheads="1" noChangeShapeType="1" noTextEdit="1"/>
              </p:cNvSpPr>
              <p:nvPr/>
            </p:nvSpPr>
            <p:spPr>
              <a:xfrm rot="19308726">
                <a:off x="5128684" y="1227910"/>
                <a:ext cx="1634481" cy="429092"/>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16FA2E7C-3570-4D85-9E6C-FDE449602597}"/>
                  </a:ext>
                </a:extLst>
              </p:cNvPr>
              <p:cNvSpPr txBox="1"/>
              <p:nvPr/>
            </p:nvSpPr>
            <p:spPr>
              <a:xfrm rot="16904928">
                <a:off x="5805188" y="462336"/>
                <a:ext cx="163448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2" name="TextBox 41">
                <a:extLst>
                  <a:ext uri="{FF2B5EF4-FFF2-40B4-BE49-F238E27FC236}">
                    <a16:creationId xmlns:a16="http://schemas.microsoft.com/office/drawing/2014/main" id="{16FA2E7C-3570-4D85-9E6C-FDE449602597}"/>
                  </a:ext>
                </a:extLst>
              </p:cNvPr>
              <p:cNvSpPr txBox="1">
                <a:spLocks noRot="1" noChangeAspect="1" noMove="1" noResize="1" noEditPoints="1" noAdjustHandles="1" noChangeArrowheads="1" noChangeShapeType="1" noTextEdit="1"/>
              </p:cNvSpPr>
              <p:nvPr/>
            </p:nvSpPr>
            <p:spPr>
              <a:xfrm rot="16904928">
                <a:off x="5805188" y="462336"/>
                <a:ext cx="1634481" cy="431272"/>
              </a:xfrm>
              <a:prstGeom prst="rect">
                <a:avLst/>
              </a:prstGeom>
              <a:blipFill>
                <a:blip r:embed="rId6"/>
                <a:stretch>
                  <a:fillRect/>
                </a:stretch>
              </a:blipFill>
            </p:spPr>
            <p:txBody>
              <a:bodyPr/>
              <a:lstStyle/>
              <a:p>
                <a:r>
                  <a:rPr lang="sv-SE">
                    <a:noFill/>
                  </a:rPr>
                  <a:t> </a:t>
                </a:r>
              </a:p>
            </p:txBody>
          </p:sp>
        </mc:Fallback>
      </mc:AlternateContent>
      <p:sp>
        <p:nvSpPr>
          <p:cNvPr id="43" name="Arc 42">
            <a:extLst>
              <a:ext uri="{FF2B5EF4-FFF2-40B4-BE49-F238E27FC236}">
                <a16:creationId xmlns:a16="http://schemas.microsoft.com/office/drawing/2014/main" id="{D4A3E4AF-9DBA-4862-A0A7-A453C4582F60}"/>
              </a:ext>
            </a:extLst>
          </p:cNvPr>
          <p:cNvSpPr/>
          <p:nvPr/>
        </p:nvSpPr>
        <p:spPr>
          <a:xfrm rot="2814214">
            <a:off x="4358964" y="1803374"/>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FC3E724-4164-42F4-B6CD-CCDD3A37AB7B}"/>
                  </a:ext>
                </a:extLst>
              </p:cNvPr>
              <p:cNvSpPr txBox="1"/>
              <p:nvPr/>
            </p:nvSpPr>
            <p:spPr>
              <a:xfrm>
                <a:off x="4139923" y="2215801"/>
                <a:ext cx="1634481"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4" name="TextBox 43">
                <a:extLst>
                  <a:ext uri="{FF2B5EF4-FFF2-40B4-BE49-F238E27FC236}">
                    <a16:creationId xmlns:a16="http://schemas.microsoft.com/office/drawing/2014/main" id="{9FC3E724-4164-42F4-B6CD-CCDD3A37AB7B}"/>
                  </a:ext>
                </a:extLst>
              </p:cNvPr>
              <p:cNvSpPr txBox="1">
                <a:spLocks noRot="1" noChangeAspect="1" noMove="1" noResize="1" noEditPoints="1" noAdjustHandles="1" noChangeArrowheads="1" noChangeShapeType="1" noTextEdit="1"/>
              </p:cNvSpPr>
              <p:nvPr/>
            </p:nvSpPr>
            <p:spPr>
              <a:xfrm>
                <a:off x="4139923" y="2215801"/>
                <a:ext cx="1634481" cy="429092"/>
              </a:xfrm>
              <a:prstGeom prst="rect">
                <a:avLst/>
              </a:prstGeom>
              <a:blipFill>
                <a:blip r:embed="rId7"/>
                <a:stretch>
                  <a:fillRect t="-14085" b="-21127"/>
                </a:stretch>
              </a:blipFill>
            </p:spPr>
            <p:txBody>
              <a:bodyPr/>
              <a:lstStyle/>
              <a:p>
                <a:r>
                  <a:rPr lang="sv-SE">
                    <a:noFill/>
                  </a:rPr>
                  <a:t> </a:t>
                </a:r>
              </a:p>
            </p:txBody>
          </p:sp>
        </mc:Fallback>
      </mc:AlternateContent>
      <p:cxnSp>
        <p:nvCxnSpPr>
          <p:cNvPr id="45" name="Straight Connector 44">
            <a:extLst>
              <a:ext uri="{FF2B5EF4-FFF2-40B4-BE49-F238E27FC236}">
                <a16:creationId xmlns:a16="http://schemas.microsoft.com/office/drawing/2014/main" id="{09AF85FA-0B95-4CD6-83B4-5551F56BE402}"/>
              </a:ext>
            </a:extLst>
          </p:cNvPr>
          <p:cNvCxnSpPr/>
          <p:nvPr/>
        </p:nvCxnSpPr>
        <p:spPr>
          <a:xfrm>
            <a:off x="5478060" y="2146288"/>
            <a:ext cx="1859472" cy="98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Arc 45">
            <a:extLst>
              <a:ext uri="{FF2B5EF4-FFF2-40B4-BE49-F238E27FC236}">
                <a16:creationId xmlns:a16="http://schemas.microsoft.com/office/drawing/2014/main" id="{3D767F05-08C7-455D-B8C9-32C8230132C1}"/>
              </a:ext>
            </a:extLst>
          </p:cNvPr>
          <p:cNvSpPr/>
          <p:nvPr/>
        </p:nvSpPr>
        <p:spPr>
          <a:xfrm rot="2814214">
            <a:off x="5542302" y="1845561"/>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4AB7A3D7-2541-417F-AF34-EC5A2E4DCE53}"/>
                  </a:ext>
                </a:extLst>
              </p:cNvPr>
              <p:cNvSpPr txBox="1"/>
              <p:nvPr/>
            </p:nvSpPr>
            <p:spPr>
              <a:xfrm>
                <a:off x="5327117" y="1798368"/>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𝛼</m:t>
                      </m:r>
                    </m:oMath>
                  </m:oMathPara>
                </a14:m>
                <a:endParaRPr lang="en-US" sz="2200" dirty="0"/>
              </a:p>
            </p:txBody>
          </p:sp>
        </mc:Choice>
        <mc:Fallback xmlns="">
          <p:sp>
            <p:nvSpPr>
              <p:cNvPr id="47" name="TextBox 46">
                <a:extLst>
                  <a:ext uri="{FF2B5EF4-FFF2-40B4-BE49-F238E27FC236}">
                    <a16:creationId xmlns:a16="http://schemas.microsoft.com/office/drawing/2014/main" id="{4AB7A3D7-2541-417F-AF34-EC5A2E4DCE53}"/>
                  </a:ext>
                </a:extLst>
              </p:cNvPr>
              <p:cNvSpPr txBox="1">
                <a:spLocks noRot="1" noChangeAspect="1" noMove="1" noResize="1" noEditPoints="1" noAdjustHandles="1" noChangeArrowheads="1" noChangeShapeType="1" noTextEdit="1"/>
              </p:cNvSpPr>
              <p:nvPr/>
            </p:nvSpPr>
            <p:spPr>
              <a:xfrm>
                <a:off x="5327117" y="1798368"/>
                <a:ext cx="1634481" cy="338554"/>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B666F919-25EF-4866-8D83-02D9455783A5}"/>
                  </a:ext>
                </a:extLst>
              </p:cNvPr>
              <p:cNvSpPr txBox="1"/>
              <p:nvPr/>
            </p:nvSpPr>
            <p:spPr>
              <a:xfrm>
                <a:off x="6332404" y="378220"/>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𝛽</m:t>
                      </m:r>
                    </m:oMath>
                  </m:oMathPara>
                </a14:m>
                <a:endParaRPr lang="en-US" sz="2200" dirty="0"/>
              </a:p>
            </p:txBody>
          </p:sp>
        </mc:Choice>
        <mc:Fallback xmlns="">
          <p:sp>
            <p:nvSpPr>
              <p:cNvPr id="48" name="TextBox 47">
                <a:extLst>
                  <a:ext uri="{FF2B5EF4-FFF2-40B4-BE49-F238E27FC236}">
                    <a16:creationId xmlns:a16="http://schemas.microsoft.com/office/drawing/2014/main" id="{B666F919-25EF-4866-8D83-02D9455783A5}"/>
                  </a:ext>
                </a:extLst>
              </p:cNvPr>
              <p:cNvSpPr txBox="1">
                <a:spLocks noRot="1" noChangeAspect="1" noMove="1" noResize="1" noEditPoints="1" noAdjustHandles="1" noChangeArrowheads="1" noChangeShapeType="1" noTextEdit="1"/>
              </p:cNvSpPr>
              <p:nvPr/>
            </p:nvSpPr>
            <p:spPr>
              <a:xfrm>
                <a:off x="6332404" y="378220"/>
                <a:ext cx="1634481" cy="338554"/>
              </a:xfrm>
              <a:prstGeom prst="rect">
                <a:avLst/>
              </a:prstGeom>
              <a:blipFill>
                <a:blip r:embed="rId9"/>
                <a:stretch>
                  <a:fillRect b="-35714"/>
                </a:stretch>
              </a:blipFill>
            </p:spPr>
            <p:txBody>
              <a:bodyPr/>
              <a:lstStyle/>
              <a:p>
                <a:r>
                  <a:rPr lang="sv-SE">
                    <a:noFill/>
                  </a:rPr>
                  <a:t> </a:t>
                </a:r>
              </a:p>
            </p:txBody>
          </p:sp>
        </mc:Fallback>
      </mc:AlternateContent>
      <p:cxnSp>
        <p:nvCxnSpPr>
          <p:cNvPr id="49" name="Straight Connector 48">
            <a:extLst>
              <a:ext uri="{FF2B5EF4-FFF2-40B4-BE49-F238E27FC236}">
                <a16:creationId xmlns:a16="http://schemas.microsoft.com/office/drawing/2014/main" id="{FEAE24A3-7280-4EF7-9DF2-796E3573FD0F}"/>
              </a:ext>
            </a:extLst>
          </p:cNvPr>
          <p:cNvCxnSpPr>
            <a:cxnSpLocks/>
          </p:cNvCxnSpPr>
          <p:nvPr/>
        </p:nvCxnSpPr>
        <p:spPr>
          <a:xfrm flipV="1">
            <a:off x="6783415" y="366651"/>
            <a:ext cx="909802" cy="7638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0" name="Arc 49">
            <a:extLst>
              <a:ext uri="{FF2B5EF4-FFF2-40B4-BE49-F238E27FC236}">
                <a16:creationId xmlns:a16="http://schemas.microsoft.com/office/drawing/2014/main" id="{88C2E955-622F-424C-A8BB-85266E8ACF08}"/>
              </a:ext>
            </a:extLst>
          </p:cNvPr>
          <p:cNvSpPr/>
          <p:nvPr/>
        </p:nvSpPr>
        <p:spPr>
          <a:xfrm rot="1387721">
            <a:off x="6769690" y="714337"/>
            <a:ext cx="541320" cy="245805"/>
          </a:xfrm>
          <a:prstGeom prst="arc">
            <a:avLst>
              <a:gd name="adj1" fmla="val 12427162"/>
              <a:gd name="adj2" fmla="val 18777856"/>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99C14C47-7BE8-489B-8823-016DA802BE87}"/>
                  </a:ext>
                </a:extLst>
              </p:cNvPr>
              <p:cNvSpPr txBox="1"/>
              <p:nvPr/>
            </p:nvSpPr>
            <p:spPr>
              <a:xfrm>
                <a:off x="7521725" y="2325327"/>
                <a:ext cx="1846248"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oMath>
                </a14:m>
                <a:r>
                  <a:rPr lang="en-US" dirty="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smtClean="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b="0" i="1" dirty="0"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51" name="TextBox 50">
                <a:extLst>
                  <a:ext uri="{FF2B5EF4-FFF2-40B4-BE49-F238E27FC236}">
                    <a16:creationId xmlns:a16="http://schemas.microsoft.com/office/drawing/2014/main" id="{99C14C47-7BE8-489B-8823-016DA802BE87}"/>
                  </a:ext>
                </a:extLst>
              </p:cNvPr>
              <p:cNvSpPr txBox="1">
                <a:spLocks noRot="1" noChangeAspect="1" noMove="1" noResize="1" noEditPoints="1" noAdjustHandles="1" noChangeArrowheads="1" noChangeShapeType="1" noTextEdit="1"/>
              </p:cNvSpPr>
              <p:nvPr/>
            </p:nvSpPr>
            <p:spPr>
              <a:xfrm>
                <a:off x="7521725" y="2325327"/>
                <a:ext cx="1846248" cy="445250"/>
              </a:xfrm>
              <a:prstGeom prst="rect">
                <a:avLst/>
              </a:prstGeom>
              <a:blipFill>
                <a:blip r:embed="rId10"/>
                <a:stretch>
                  <a:fillRect t="-5479" b="-8219"/>
                </a:stretch>
              </a:blipFill>
            </p:spPr>
            <p:txBody>
              <a:bodyPr/>
              <a:lstStyle/>
              <a:p>
                <a:r>
                  <a:rPr lang="sv-SE">
                    <a:noFill/>
                  </a:rPr>
                  <a:t> </a:t>
                </a:r>
              </a:p>
            </p:txBody>
          </p:sp>
        </mc:Fallback>
      </mc:AlternateContent>
      <p:sp>
        <p:nvSpPr>
          <p:cNvPr id="52" name="TextBox 51">
            <a:extLst>
              <a:ext uri="{FF2B5EF4-FFF2-40B4-BE49-F238E27FC236}">
                <a16:creationId xmlns:a16="http://schemas.microsoft.com/office/drawing/2014/main" id="{71EAB1BB-A155-493B-8CB6-C93DDCB934A8}"/>
              </a:ext>
            </a:extLst>
          </p:cNvPr>
          <p:cNvSpPr txBox="1"/>
          <p:nvPr/>
        </p:nvSpPr>
        <p:spPr>
          <a:xfrm>
            <a:off x="7541286" y="5687974"/>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(b)</a:t>
            </a:r>
            <a:endParaRPr lang="en-US" sz="2200" dirty="0">
              <a:latin typeface="Times New Roman" panose="02020603050405020304" pitchFamily="18" charset="0"/>
              <a:cs typeface="Times New Roman" panose="02020603050405020304" pitchFamily="18" charset="0"/>
            </a:endParaRPr>
          </a:p>
        </p:txBody>
      </p:sp>
      <p:sp>
        <p:nvSpPr>
          <p:cNvPr id="53" name="TextBox 52">
            <a:extLst>
              <a:ext uri="{FF2B5EF4-FFF2-40B4-BE49-F238E27FC236}">
                <a16:creationId xmlns:a16="http://schemas.microsoft.com/office/drawing/2014/main" id="{9AC663BD-B449-49A1-AFF8-7712C577E07E}"/>
              </a:ext>
            </a:extLst>
          </p:cNvPr>
          <p:cNvSpPr txBox="1"/>
          <p:nvPr/>
        </p:nvSpPr>
        <p:spPr>
          <a:xfrm>
            <a:off x="4576860" y="5676270"/>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(a)</a:t>
            </a:r>
            <a:endParaRPr lang="en-US" sz="2200" dirty="0">
              <a:latin typeface="Times New Roman" panose="02020603050405020304" pitchFamily="18" charset="0"/>
              <a:cs typeface="Times New Roman" panose="02020603050405020304" pitchFamily="18" charset="0"/>
            </a:endParaRPr>
          </a:p>
        </p:txBody>
      </p:sp>
      <p:cxnSp>
        <p:nvCxnSpPr>
          <p:cNvPr id="54" name="Straight Connector 53">
            <a:extLst>
              <a:ext uri="{FF2B5EF4-FFF2-40B4-BE49-F238E27FC236}">
                <a16:creationId xmlns:a16="http://schemas.microsoft.com/office/drawing/2014/main" id="{19EBD052-6C55-45ED-A299-DDEA50CA9371}"/>
              </a:ext>
            </a:extLst>
          </p:cNvPr>
          <p:cNvCxnSpPr>
            <a:cxnSpLocks/>
          </p:cNvCxnSpPr>
          <p:nvPr/>
        </p:nvCxnSpPr>
        <p:spPr>
          <a:xfrm>
            <a:off x="7767505" y="2237607"/>
            <a:ext cx="0" cy="1836773"/>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FBBAEC16-F3FF-435B-96B7-CF2B1A76221F}"/>
              </a:ext>
            </a:extLst>
          </p:cNvPr>
          <p:cNvCxnSpPr>
            <a:cxnSpLocks/>
          </p:cNvCxnSpPr>
          <p:nvPr/>
        </p:nvCxnSpPr>
        <p:spPr>
          <a:xfrm>
            <a:off x="8518744" y="2724113"/>
            <a:ext cx="0" cy="1469515"/>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12C561D5-BF09-4503-B138-D7F0ABD85EF9}"/>
              </a:ext>
            </a:extLst>
          </p:cNvPr>
          <p:cNvCxnSpPr>
            <a:cxnSpLocks/>
          </p:cNvCxnSpPr>
          <p:nvPr/>
        </p:nvCxnSpPr>
        <p:spPr>
          <a:xfrm>
            <a:off x="7815396" y="2743968"/>
            <a:ext cx="795493"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F3454730-E93C-4477-A98A-968C5EE570D3}"/>
              </a:ext>
            </a:extLst>
          </p:cNvPr>
          <p:cNvSpPr txBox="1"/>
          <p:nvPr/>
        </p:nvSpPr>
        <p:spPr>
          <a:xfrm>
            <a:off x="6000677" y="2296928"/>
            <a:ext cx="985816"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a:t>
            </a:r>
          </a:p>
        </p:txBody>
      </p:sp>
      <p:cxnSp>
        <p:nvCxnSpPr>
          <p:cNvPr id="58" name="Straight Connector 57">
            <a:extLst>
              <a:ext uri="{FF2B5EF4-FFF2-40B4-BE49-F238E27FC236}">
                <a16:creationId xmlns:a16="http://schemas.microsoft.com/office/drawing/2014/main" id="{9413D2C3-2B18-4664-881C-430350C8A0D2}"/>
              </a:ext>
            </a:extLst>
          </p:cNvPr>
          <p:cNvCxnSpPr>
            <a:cxnSpLocks/>
          </p:cNvCxnSpPr>
          <p:nvPr/>
        </p:nvCxnSpPr>
        <p:spPr>
          <a:xfrm>
            <a:off x="8873634" y="2215801"/>
            <a:ext cx="0" cy="1918202"/>
          </a:xfrm>
          <a:prstGeom prst="line">
            <a:avLst/>
          </a:prstGeom>
          <a:ln w="12700">
            <a:solidFill>
              <a:schemeClr val="tx1"/>
            </a:solidFill>
            <a:prstDash val="lgDashDot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3461328C-55E6-46B8-B840-8C8A3C370AC9}"/>
                  </a:ext>
                </a:extLst>
              </p:cNvPr>
              <p:cNvSpPr txBox="1"/>
              <p:nvPr/>
            </p:nvSpPr>
            <p:spPr>
              <a:xfrm>
                <a:off x="7500979" y="1774170"/>
                <a:ext cx="1688741"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r>
                      <a:rPr lang="en-US" b="0" i="0" dirty="0" smtClean="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i="1" dirty="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59" name="TextBox 58">
                <a:extLst>
                  <a:ext uri="{FF2B5EF4-FFF2-40B4-BE49-F238E27FC236}">
                    <a16:creationId xmlns:a16="http://schemas.microsoft.com/office/drawing/2014/main" id="{3461328C-55E6-46B8-B840-8C8A3C370AC9}"/>
                  </a:ext>
                </a:extLst>
              </p:cNvPr>
              <p:cNvSpPr txBox="1">
                <a:spLocks noRot="1" noChangeAspect="1" noMove="1" noResize="1" noEditPoints="1" noAdjustHandles="1" noChangeArrowheads="1" noChangeShapeType="1" noTextEdit="1"/>
              </p:cNvSpPr>
              <p:nvPr/>
            </p:nvSpPr>
            <p:spPr>
              <a:xfrm>
                <a:off x="7500979" y="1774170"/>
                <a:ext cx="1688741" cy="445250"/>
              </a:xfrm>
              <a:prstGeom prst="rect">
                <a:avLst/>
              </a:prstGeom>
              <a:blipFill>
                <a:blip r:embed="rId11"/>
                <a:stretch>
                  <a:fillRect t="-5479" b="-8219"/>
                </a:stretch>
              </a:blipFill>
            </p:spPr>
            <p:txBody>
              <a:bodyPr/>
              <a:lstStyle/>
              <a:p>
                <a:r>
                  <a:rPr lang="sv-SE">
                    <a:noFill/>
                  </a:rPr>
                  <a:t> </a:t>
                </a:r>
              </a:p>
            </p:txBody>
          </p:sp>
        </mc:Fallback>
      </mc:AlternateContent>
      <p:cxnSp>
        <p:nvCxnSpPr>
          <p:cNvPr id="60" name="Straight Arrow Connector 59">
            <a:extLst>
              <a:ext uri="{FF2B5EF4-FFF2-40B4-BE49-F238E27FC236}">
                <a16:creationId xmlns:a16="http://schemas.microsoft.com/office/drawing/2014/main" id="{61209277-7535-4ECB-AE4F-B8E59175BFA4}"/>
              </a:ext>
            </a:extLst>
          </p:cNvPr>
          <p:cNvCxnSpPr>
            <a:cxnSpLocks/>
          </p:cNvCxnSpPr>
          <p:nvPr/>
        </p:nvCxnSpPr>
        <p:spPr>
          <a:xfrm flipV="1">
            <a:off x="7815396" y="2250072"/>
            <a:ext cx="997302" cy="3308"/>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 name="Picture 60">
            <a:extLst>
              <a:ext uri="{FF2B5EF4-FFF2-40B4-BE49-F238E27FC236}">
                <a16:creationId xmlns:a16="http://schemas.microsoft.com/office/drawing/2014/main" id="{23BC06DD-3610-4F3B-86FC-1005EA68DFC3}"/>
              </a:ext>
            </a:extLst>
          </p:cNvPr>
          <p:cNvPicPr>
            <a:picLocks noChangeAspect="1"/>
          </p:cNvPicPr>
          <p:nvPr/>
        </p:nvPicPr>
        <p:blipFill>
          <a:blip r:embed="rId12"/>
          <a:stretch>
            <a:fillRect/>
          </a:stretch>
        </p:blipFill>
        <p:spPr>
          <a:xfrm>
            <a:off x="2926080" y="2811275"/>
            <a:ext cx="3810000" cy="2857500"/>
          </a:xfrm>
          <a:prstGeom prst="rect">
            <a:avLst/>
          </a:prstGeom>
        </p:spPr>
      </p:pic>
    </p:spTree>
    <p:extLst>
      <p:ext uri="{BB962C8B-B14F-4D97-AF65-F5344CB8AC3E}">
        <p14:creationId xmlns:p14="http://schemas.microsoft.com/office/powerpoint/2010/main" val="3979440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D985F1-6DDB-4485-B204-CE878F7481E0}"/>
              </a:ext>
            </a:extLst>
          </p:cNvPr>
          <p:cNvPicPr>
            <a:picLocks noChangeAspect="1"/>
          </p:cNvPicPr>
          <p:nvPr/>
        </p:nvPicPr>
        <p:blipFill>
          <a:blip r:embed="rId2"/>
          <a:stretch>
            <a:fillRect/>
          </a:stretch>
        </p:blipFill>
        <p:spPr>
          <a:xfrm>
            <a:off x="6776943" y="3435439"/>
            <a:ext cx="3810000" cy="2857500"/>
          </a:xfrm>
          <a:prstGeom prst="rect">
            <a:avLst/>
          </a:prstGeom>
        </p:spPr>
      </p:pic>
      <p:cxnSp>
        <p:nvCxnSpPr>
          <p:cNvPr id="5" name="Straight Arrow Connector 4">
            <a:extLst>
              <a:ext uri="{FF2B5EF4-FFF2-40B4-BE49-F238E27FC236}">
                <a16:creationId xmlns:a16="http://schemas.microsoft.com/office/drawing/2014/main" id="{8687EC02-15CD-49D2-8D11-D775B5BD7E18}"/>
              </a:ext>
            </a:extLst>
          </p:cNvPr>
          <p:cNvCxnSpPr>
            <a:cxnSpLocks/>
          </p:cNvCxnSpPr>
          <p:nvPr/>
        </p:nvCxnSpPr>
        <p:spPr>
          <a:xfrm>
            <a:off x="3939595" y="2051489"/>
            <a:ext cx="120064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C891F983-6451-47A5-AC38-A0001366C6C3}"/>
              </a:ext>
            </a:extLst>
          </p:cNvPr>
          <p:cNvCxnSpPr>
            <a:cxnSpLocks/>
          </p:cNvCxnSpPr>
          <p:nvPr/>
        </p:nvCxnSpPr>
        <p:spPr>
          <a:xfrm flipV="1">
            <a:off x="5140242" y="1267673"/>
            <a:ext cx="257716" cy="78381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2838007F-26DE-4538-8E08-DE7810BA5B4D}"/>
              </a:ext>
            </a:extLst>
          </p:cNvPr>
          <p:cNvCxnSpPr>
            <a:cxnSpLocks/>
          </p:cNvCxnSpPr>
          <p:nvPr/>
        </p:nvCxnSpPr>
        <p:spPr>
          <a:xfrm flipV="1">
            <a:off x="5410922" y="1053115"/>
            <a:ext cx="677777" cy="237308"/>
          </a:xfrm>
          <a:prstGeom prst="straightConnector1">
            <a:avLst/>
          </a:prstGeom>
          <a:ln w="25400">
            <a:solidFill>
              <a:srgbClr val="0039AC"/>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76EDD62-DB12-48EE-9BA0-2970AA56E861}"/>
              </a:ext>
            </a:extLst>
          </p:cNvPr>
          <p:cNvCxnSpPr>
            <a:cxnSpLocks/>
          </p:cNvCxnSpPr>
          <p:nvPr/>
        </p:nvCxnSpPr>
        <p:spPr>
          <a:xfrm>
            <a:off x="3934361" y="2051490"/>
            <a:ext cx="1622804" cy="68926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F93607E-475E-40E0-A95C-3F1CB97383FC}"/>
                  </a:ext>
                </a:extLst>
              </p:cNvPr>
              <p:cNvSpPr txBox="1"/>
              <p:nvPr/>
            </p:nvSpPr>
            <p:spPr>
              <a:xfrm rot="1503227">
                <a:off x="4073158" y="2297705"/>
                <a:ext cx="74979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𝐴𝐵𝐶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9" name="TextBox 8">
                <a:extLst>
                  <a:ext uri="{FF2B5EF4-FFF2-40B4-BE49-F238E27FC236}">
                    <a16:creationId xmlns:a16="http://schemas.microsoft.com/office/drawing/2014/main" id="{1F93607E-475E-40E0-A95C-3F1CB97383FC}"/>
                  </a:ext>
                </a:extLst>
              </p:cNvPr>
              <p:cNvSpPr txBox="1">
                <a:spLocks noRot="1" noChangeAspect="1" noMove="1" noResize="1" noEditPoints="1" noAdjustHandles="1" noChangeArrowheads="1" noChangeShapeType="1" noTextEdit="1"/>
              </p:cNvSpPr>
              <p:nvPr/>
            </p:nvSpPr>
            <p:spPr>
              <a:xfrm rot="1503227">
                <a:off x="4073158" y="2297705"/>
                <a:ext cx="749791" cy="431272"/>
              </a:xfrm>
              <a:prstGeom prst="rect">
                <a:avLst/>
              </a:prstGeom>
              <a:blipFill>
                <a:blip r:embed="rId3"/>
                <a:stretch>
                  <a:fillRect l="-6993" t="-9402" r="-699" b="-1709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39C0750-3089-473F-8FC7-5CF12CE44F1A}"/>
                  </a:ext>
                </a:extLst>
              </p:cNvPr>
              <p:cNvSpPr txBox="1"/>
              <p:nvPr/>
            </p:nvSpPr>
            <p:spPr>
              <a:xfrm>
                <a:off x="3981289" y="2033861"/>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𝜙</m:t>
                      </m:r>
                    </m:oMath>
                  </m:oMathPara>
                </a14:m>
                <a:endParaRPr lang="en-US" sz="2200" dirty="0"/>
              </a:p>
            </p:txBody>
          </p:sp>
        </mc:Choice>
        <mc:Fallback xmlns="">
          <p:sp>
            <p:nvSpPr>
              <p:cNvPr id="10" name="TextBox 9">
                <a:extLst>
                  <a:ext uri="{FF2B5EF4-FFF2-40B4-BE49-F238E27FC236}">
                    <a16:creationId xmlns:a16="http://schemas.microsoft.com/office/drawing/2014/main" id="{E39C0750-3089-473F-8FC7-5CF12CE44F1A}"/>
                  </a:ext>
                </a:extLst>
              </p:cNvPr>
              <p:cNvSpPr txBox="1">
                <a:spLocks noRot="1" noChangeAspect="1" noMove="1" noResize="1" noEditPoints="1" noAdjustHandles="1" noChangeArrowheads="1" noChangeShapeType="1" noTextEdit="1"/>
              </p:cNvSpPr>
              <p:nvPr/>
            </p:nvSpPr>
            <p:spPr>
              <a:xfrm>
                <a:off x="3981289" y="2033861"/>
                <a:ext cx="1634481" cy="338554"/>
              </a:xfrm>
              <a:prstGeom prst="rect">
                <a:avLst/>
              </a:prstGeom>
              <a:blipFill>
                <a:blip r:embed="rId4"/>
                <a:stretch>
                  <a:fillRect b="-3636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C5B954CE-BAA8-448C-AA48-A99159F29801}"/>
                  </a:ext>
                </a:extLst>
              </p:cNvPr>
              <p:cNvSpPr txBox="1"/>
              <p:nvPr/>
            </p:nvSpPr>
            <p:spPr>
              <a:xfrm rot="17351717">
                <a:off x="4631285" y="1327597"/>
                <a:ext cx="707218"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𝐵</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11" name="TextBox 10">
                <a:extLst>
                  <a:ext uri="{FF2B5EF4-FFF2-40B4-BE49-F238E27FC236}">
                    <a16:creationId xmlns:a16="http://schemas.microsoft.com/office/drawing/2014/main" id="{C5B954CE-BAA8-448C-AA48-A99159F29801}"/>
                  </a:ext>
                </a:extLst>
              </p:cNvPr>
              <p:cNvSpPr txBox="1">
                <a:spLocks noRot="1" noChangeAspect="1" noMove="1" noResize="1" noEditPoints="1" noAdjustHandles="1" noChangeArrowheads="1" noChangeShapeType="1" noTextEdit="1"/>
              </p:cNvSpPr>
              <p:nvPr/>
            </p:nvSpPr>
            <p:spPr>
              <a:xfrm rot="17351717">
                <a:off x="4631285" y="1327597"/>
                <a:ext cx="707218" cy="429092"/>
              </a:xfrm>
              <a:prstGeom prst="rect">
                <a:avLst/>
              </a:prstGeom>
              <a:blipFill>
                <a:blip r:embed="rId5"/>
                <a:stretch>
                  <a:fillRect l="-8491" r="-9434" b="-373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16FA2E7C-3570-4D85-9E6C-FDE449602597}"/>
                  </a:ext>
                </a:extLst>
              </p:cNvPr>
              <p:cNvSpPr txBox="1"/>
              <p:nvPr/>
            </p:nvSpPr>
            <p:spPr>
              <a:xfrm rot="20272713">
                <a:off x="5121642" y="1161889"/>
                <a:ext cx="1634481"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12" name="TextBox 11">
                <a:extLst>
                  <a:ext uri="{FF2B5EF4-FFF2-40B4-BE49-F238E27FC236}">
                    <a16:creationId xmlns:a16="http://schemas.microsoft.com/office/drawing/2014/main" id="{16FA2E7C-3570-4D85-9E6C-FDE449602597}"/>
                  </a:ext>
                </a:extLst>
              </p:cNvPr>
              <p:cNvSpPr txBox="1">
                <a:spLocks noRot="1" noChangeAspect="1" noMove="1" noResize="1" noEditPoints="1" noAdjustHandles="1" noChangeArrowheads="1" noChangeShapeType="1" noTextEdit="1"/>
              </p:cNvSpPr>
              <p:nvPr/>
            </p:nvSpPr>
            <p:spPr>
              <a:xfrm rot="20272713">
                <a:off x="5121642" y="1161889"/>
                <a:ext cx="1634481" cy="431272"/>
              </a:xfrm>
              <a:prstGeom prst="rect">
                <a:avLst/>
              </a:prstGeom>
              <a:blipFill>
                <a:blip r:embed="rId6"/>
                <a:stretch>
                  <a:fillRect/>
                </a:stretch>
              </a:blipFill>
            </p:spPr>
            <p:txBody>
              <a:bodyPr/>
              <a:lstStyle/>
              <a:p>
                <a:r>
                  <a:rPr lang="sv-SE">
                    <a:noFill/>
                  </a:rPr>
                  <a:t> </a:t>
                </a:r>
              </a:p>
            </p:txBody>
          </p:sp>
        </mc:Fallback>
      </mc:AlternateContent>
      <p:sp>
        <p:nvSpPr>
          <p:cNvPr id="13" name="Arc 12">
            <a:extLst>
              <a:ext uri="{FF2B5EF4-FFF2-40B4-BE49-F238E27FC236}">
                <a16:creationId xmlns:a16="http://schemas.microsoft.com/office/drawing/2014/main" id="{D4A3E4AF-9DBA-4862-A0A7-A453C4582F60}"/>
              </a:ext>
            </a:extLst>
          </p:cNvPr>
          <p:cNvSpPr/>
          <p:nvPr/>
        </p:nvSpPr>
        <p:spPr>
          <a:xfrm rot="5400000">
            <a:off x="4266396" y="2031921"/>
            <a:ext cx="541320" cy="228783"/>
          </a:xfrm>
          <a:prstGeom prst="arc">
            <a:avLst>
              <a:gd name="adj1" fmla="val 14291063"/>
              <a:gd name="adj2" fmla="val 2017153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C3E724-4164-42F4-B6CD-CCDD3A37AB7B}"/>
                  </a:ext>
                </a:extLst>
              </p:cNvPr>
              <p:cNvSpPr txBox="1"/>
              <p:nvPr/>
            </p:nvSpPr>
            <p:spPr>
              <a:xfrm>
                <a:off x="3841225" y="1547451"/>
                <a:ext cx="758764"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14" name="TextBox 13">
                <a:extLst>
                  <a:ext uri="{FF2B5EF4-FFF2-40B4-BE49-F238E27FC236}">
                    <a16:creationId xmlns:a16="http://schemas.microsoft.com/office/drawing/2014/main" id="{9FC3E724-4164-42F4-B6CD-CCDD3A37AB7B}"/>
                  </a:ext>
                </a:extLst>
              </p:cNvPr>
              <p:cNvSpPr txBox="1">
                <a:spLocks noRot="1" noChangeAspect="1" noMove="1" noResize="1" noEditPoints="1" noAdjustHandles="1" noChangeArrowheads="1" noChangeShapeType="1" noTextEdit="1"/>
              </p:cNvSpPr>
              <p:nvPr/>
            </p:nvSpPr>
            <p:spPr>
              <a:xfrm>
                <a:off x="3841225" y="1547451"/>
                <a:ext cx="758764" cy="429092"/>
              </a:xfrm>
              <a:prstGeom prst="rect">
                <a:avLst/>
              </a:prstGeom>
              <a:blipFill>
                <a:blip r:embed="rId7"/>
                <a:stretch>
                  <a:fillRect l="-2400" t="-15714" b="-21429"/>
                </a:stretch>
              </a:blipFill>
            </p:spPr>
            <p:txBody>
              <a:bodyPr/>
              <a:lstStyle/>
              <a:p>
                <a:r>
                  <a:rPr lang="sv-SE">
                    <a:noFill/>
                  </a:rPr>
                  <a:t> </a:t>
                </a:r>
              </a:p>
            </p:txBody>
          </p:sp>
        </mc:Fallback>
      </mc:AlternateContent>
      <p:cxnSp>
        <p:nvCxnSpPr>
          <p:cNvPr id="15" name="Straight Connector 14">
            <a:extLst>
              <a:ext uri="{FF2B5EF4-FFF2-40B4-BE49-F238E27FC236}">
                <a16:creationId xmlns:a16="http://schemas.microsoft.com/office/drawing/2014/main" id="{09AF85FA-0B95-4CD6-83B4-5551F56BE402}"/>
              </a:ext>
            </a:extLst>
          </p:cNvPr>
          <p:cNvCxnSpPr>
            <a:cxnSpLocks/>
          </p:cNvCxnSpPr>
          <p:nvPr/>
        </p:nvCxnSpPr>
        <p:spPr>
          <a:xfrm flipV="1">
            <a:off x="5140242" y="2032109"/>
            <a:ext cx="4629211" cy="9548"/>
          </a:xfrm>
          <a:prstGeom prst="line">
            <a:avLst/>
          </a:prstGeom>
          <a:ln>
            <a:solidFill>
              <a:srgbClr val="7030A0"/>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3D767F05-08C7-455D-B8C9-32C8230132C1}"/>
              </a:ext>
            </a:extLst>
          </p:cNvPr>
          <p:cNvSpPr/>
          <p:nvPr/>
        </p:nvSpPr>
        <p:spPr>
          <a:xfrm rot="2814214">
            <a:off x="4899181" y="1741801"/>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AB7A3D7-2541-417F-AF34-EC5A2E4DCE53}"/>
                  </a:ext>
                </a:extLst>
              </p:cNvPr>
              <p:cNvSpPr txBox="1"/>
              <p:nvPr/>
            </p:nvSpPr>
            <p:spPr>
              <a:xfrm>
                <a:off x="5424260" y="1656110"/>
                <a:ext cx="522930"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𝛼</m:t>
                      </m:r>
                    </m:oMath>
                  </m:oMathPara>
                </a14:m>
                <a:endParaRPr lang="en-US" sz="2200" dirty="0"/>
              </a:p>
            </p:txBody>
          </p:sp>
        </mc:Choice>
        <mc:Fallback xmlns="">
          <p:sp>
            <p:nvSpPr>
              <p:cNvPr id="17" name="TextBox 16">
                <a:extLst>
                  <a:ext uri="{FF2B5EF4-FFF2-40B4-BE49-F238E27FC236}">
                    <a16:creationId xmlns:a16="http://schemas.microsoft.com/office/drawing/2014/main" id="{4AB7A3D7-2541-417F-AF34-EC5A2E4DCE53}"/>
                  </a:ext>
                </a:extLst>
              </p:cNvPr>
              <p:cNvSpPr txBox="1">
                <a:spLocks noRot="1" noChangeAspect="1" noMove="1" noResize="1" noEditPoints="1" noAdjustHandles="1" noChangeArrowheads="1" noChangeShapeType="1" noTextEdit="1"/>
              </p:cNvSpPr>
              <p:nvPr/>
            </p:nvSpPr>
            <p:spPr>
              <a:xfrm>
                <a:off x="5424260" y="1656110"/>
                <a:ext cx="522930" cy="338554"/>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666F919-25EF-4866-8D83-02D9455783A5}"/>
                  </a:ext>
                </a:extLst>
              </p:cNvPr>
              <p:cNvSpPr txBox="1"/>
              <p:nvPr/>
            </p:nvSpPr>
            <p:spPr>
              <a:xfrm>
                <a:off x="4996246" y="709645"/>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𝛽</m:t>
                      </m:r>
                    </m:oMath>
                  </m:oMathPara>
                </a14:m>
                <a:endParaRPr lang="en-US" sz="2200" dirty="0"/>
              </a:p>
            </p:txBody>
          </p:sp>
        </mc:Choice>
        <mc:Fallback xmlns="">
          <p:sp>
            <p:nvSpPr>
              <p:cNvPr id="18" name="TextBox 17">
                <a:extLst>
                  <a:ext uri="{FF2B5EF4-FFF2-40B4-BE49-F238E27FC236}">
                    <a16:creationId xmlns:a16="http://schemas.microsoft.com/office/drawing/2014/main" id="{B666F919-25EF-4866-8D83-02D9455783A5}"/>
                  </a:ext>
                </a:extLst>
              </p:cNvPr>
              <p:cNvSpPr txBox="1">
                <a:spLocks noRot="1" noChangeAspect="1" noMove="1" noResize="1" noEditPoints="1" noAdjustHandles="1" noChangeArrowheads="1" noChangeShapeType="1" noTextEdit="1"/>
              </p:cNvSpPr>
              <p:nvPr/>
            </p:nvSpPr>
            <p:spPr>
              <a:xfrm>
                <a:off x="4996246" y="709645"/>
                <a:ext cx="1634481" cy="338554"/>
              </a:xfrm>
              <a:prstGeom prst="rect">
                <a:avLst/>
              </a:prstGeom>
              <a:blipFill>
                <a:blip r:embed="rId9"/>
                <a:stretch>
                  <a:fillRect b="-35714"/>
                </a:stretch>
              </a:blipFill>
            </p:spPr>
            <p:txBody>
              <a:bodyPr/>
              <a:lstStyle/>
              <a:p>
                <a:r>
                  <a:rPr lang="sv-SE">
                    <a:noFill/>
                  </a:rPr>
                  <a:t> </a:t>
                </a:r>
              </a:p>
            </p:txBody>
          </p:sp>
        </mc:Fallback>
      </mc:AlternateContent>
      <p:cxnSp>
        <p:nvCxnSpPr>
          <p:cNvPr id="19" name="Straight Connector 18">
            <a:extLst>
              <a:ext uri="{FF2B5EF4-FFF2-40B4-BE49-F238E27FC236}">
                <a16:creationId xmlns:a16="http://schemas.microsoft.com/office/drawing/2014/main" id="{FEAE24A3-7280-4EF7-9DF2-796E3573FD0F}"/>
              </a:ext>
            </a:extLst>
          </p:cNvPr>
          <p:cNvCxnSpPr>
            <a:cxnSpLocks/>
          </p:cNvCxnSpPr>
          <p:nvPr/>
        </p:nvCxnSpPr>
        <p:spPr>
          <a:xfrm flipV="1">
            <a:off x="5408915" y="651907"/>
            <a:ext cx="206855" cy="640309"/>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20" name="Arc 19">
            <a:extLst>
              <a:ext uri="{FF2B5EF4-FFF2-40B4-BE49-F238E27FC236}">
                <a16:creationId xmlns:a16="http://schemas.microsoft.com/office/drawing/2014/main" id="{88C2E955-622F-424C-A8BB-85266E8ACF08}"/>
              </a:ext>
            </a:extLst>
          </p:cNvPr>
          <p:cNvSpPr/>
          <p:nvPr/>
        </p:nvSpPr>
        <p:spPr>
          <a:xfrm rot="1387721">
            <a:off x="5245645" y="1025154"/>
            <a:ext cx="541320" cy="245805"/>
          </a:xfrm>
          <a:prstGeom prst="arc">
            <a:avLst>
              <a:gd name="adj1" fmla="val 15161520"/>
              <a:gd name="adj2" fmla="val 2031619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99C14C47-7BE8-489B-8823-016DA802BE87}"/>
                  </a:ext>
                </a:extLst>
              </p:cNvPr>
              <p:cNvSpPr txBox="1"/>
              <p:nvPr/>
            </p:nvSpPr>
            <p:spPr>
              <a:xfrm rot="16200000">
                <a:off x="9381710" y="3960369"/>
                <a:ext cx="1846248"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oMath>
                </a14:m>
                <a:r>
                  <a:rPr lang="en-US" dirty="0">
                    <a:solidFill>
                      <a:srgbClr val="C00000"/>
                    </a:solidFill>
                    <a:latin typeface="Times New Roman" panose="02020603050405020304" pitchFamily="18" charset="0"/>
                    <a:cs typeface="Times New Roman" panose="02020603050405020304" pitchFamily="18" charset="0"/>
                  </a:rPr>
                  <a:t>-</a:t>
                </a:r>
                <a14:m>
                  <m:oMath xmlns:m="http://schemas.openxmlformats.org/officeDocument/2006/math">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smtClean="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b="0" i="1" dirty="0" smtClean="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21" name="TextBox 20">
                <a:extLst>
                  <a:ext uri="{FF2B5EF4-FFF2-40B4-BE49-F238E27FC236}">
                    <a16:creationId xmlns:a16="http://schemas.microsoft.com/office/drawing/2014/main" id="{99C14C47-7BE8-489B-8823-016DA802BE87}"/>
                  </a:ext>
                </a:extLst>
              </p:cNvPr>
              <p:cNvSpPr txBox="1">
                <a:spLocks noRot="1" noChangeAspect="1" noMove="1" noResize="1" noEditPoints="1" noAdjustHandles="1" noChangeArrowheads="1" noChangeShapeType="1" noTextEdit="1"/>
              </p:cNvSpPr>
              <p:nvPr/>
            </p:nvSpPr>
            <p:spPr>
              <a:xfrm rot="16200000">
                <a:off x="9381710" y="3960369"/>
                <a:ext cx="1846248" cy="445250"/>
              </a:xfrm>
              <a:prstGeom prst="rect">
                <a:avLst/>
              </a:prstGeom>
              <a:blipFill>
                <a:blip r:embed="rId10"/>
                <a:stretch>
                  <a:fillRect l="-5479" r="-6849"/>
                </a:stretch>
              </a:blipFill>
            </p:spPr>
            <p:txBody>
              <a:bodyPr/>
              <a:lstStyle/>
              <a:p>
                <a:r>
                  <a:rPr lang="sv-SE">
                    <a:noFill/>
                  </a:rPr>
                  <a:t> </a:t>
                </a:r>
              </a:p>
            </p:txBody>
          </p:sp>
        </mc:Fallback>
      </mc:AlternateContent>
      <p:sp>
        <p:nvSpPr>
          <p:cNvPr id="22" name="TextBox 21">
            <a:extLst>
              <a:ext uri="{FF2B5EF4-FFF2-40B4-BE49-F238E27FC236}">
                <a16:creationId xmlns:a16="http://schemas.microsoft.com/office/drawing/2014/main" id="{71EAB1BB-A155-493B-8CB6-C93DDCB934A8}"/>
              </a:ext>
            </a:extLst>
          </p:cNvPr>
          <p:cNvSpPr txBox="1"/>
          <p:nvPr/>
        </p:nvSpPr>
        <p:spPr>
          <a:xfrm>
            <a:off x="8455724" y="6330441"/>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(b)</a:t>
            </a:r>
            <a:endParaRPr lang="en-US" sz="2200" dirty="0">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9AC663BD-B449-49A1-AFF8-7712C577E07E}"/>
              </a:ext>
            </a:extLst>
          </p:cNvPr>
          <p:cNvSpPr txBox="1"/>
          <p:nvPr/>
        </p:nvSpPr>
        <p:spPr>
          <a:xfrm>
            <a:off x="4913776" y="6330441"/>
            <a:ext cx="985816" cy="430887"/>
          </a:xfrm>
          <a:prstGeom prst="rect">
            <a:avLst/>
          </a:prstGeom>
          <a:noFill/>
        </p:spPr>
        <p:txBody>
          <a:bodyPr wrap="square" rtlCol="0">
            <a:spAutoFit/>
          </a:bodyPr>
          <a:lstStyle/>
          <a:p>
            <a:r>
              <a:rPr lang="en-US" sz="2200" dirty="0" smtClean="0">
                <a:latin typeface="Times New Roman" panose="02020603050405020304" pitchFamily="18" charset="0"/>
                <a:cs typeface="Times New Roman" panose="02020603050405020304" pitchFamily="18" charset="0"/>
              </a:rPr>
              <a:t>(a)</a:t>
            </a:r>
            <a:endParaRPr lang="en-US" sz="2200" dirty="0">
              <a:latin typeface="Times New Roman" panose="02020603050405020304" pitchFamily="18" charset="0"/>
              <a:cs typeface="Times New Roman" panose="02020603050405020304" pitchFamily="18" charset="0"/>
            </a:endParaRPr>
          </a:p>
        </p:txBody>
      </p:sp>
      <p:cxnSp>
        <p:nvCxnSpPr>
          <p:cNvPr id="24" name="Straight Connector 23">
            <a:extLst>
              <a:ext uri="{FF2B5EF4-FFF2-40B4-BE49-F238E27FC236}">
                <a16:creationId xmlns:a16="http://schemas.microsoft.com/office/drawing/2014/main" id="{19EBD052-6C55-45ED-A299-DDEA50CA9371}"/>
              </a:ext>
            </a:extLst>
          </p:cNvPr>
          <p:cNvCxnSpPr>
            <a:cxnSpLocks/>
          </p:cNvCxnSpPr>
          <p:nvPr/>
        </p:nvCxnSpPr>
        <p:spPr>
          <a:xfrm>
            <a:off x="6881181" y="4665881"/>
            <a:ext cx="3146837" cy="0"/>
          </a:xfrm>
          <a:prstGeom prst="line">
            <a:avLst/>
          </a:prstGeom>
          <a:ln w="1270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BBAEC16-F3FF-435B-96B7-CF2B1A76221F}"/>
              </a:ext>
            </a:extLst>
          </p:cNvPr>
          <p:cNvCxnSpPr>
            <a:cxnSpLocks/>
          </p:cNvCxnSpPr>
          <p:nvPr/>
        </p:nvCxnSpPr>
        <p:spPr>
          <a:xfrm flipH="1">
            <a:off x="8666480" y="3985195"/>
            <a:ext cx="1361538" cy="0"/>
          </a:xfrm>
          <a:prstGeom prst="line">
            <a:avLst/>
          </a:prstGeom>
          <a:ln w="12700">
            <a:solidFill>
              <a:srgbClr val="FF0000"/>
            </a:solidFill>
            <a:prstDash val="lgDashDotDot"/>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2C561D5-BF09-4503-B138-D7F0ABD85EF9}"/>
              </a:ext>
            </a:extLst>
          </p:cNvPr>
          <p:cNvCxnSpPr>
            <a:cxnSpLocks/>
          </p:cNvCxnSpPr>
          <p:nvPr/>
        </p:nvCxnSpPr>
        <p:spPr>
          <a:xfrm>
            <a:off x="10028018" y="3980917"/>
            <a:ext cx="0" cy="684964"/>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F3454730-E93C-4477-A98A-968C5EE570D3}"/>
              </a:ext>
            </a:extLst>
          </p:cNvPr>
          <p:cNvSpPr txBox="1"/>
          <p:nvPr/>
        </p:nvSpPr>
        <p:spPr>
          <a:xfrm>
            <a:off x="4829966" y="3022147"/>
            <a:ext cx="985816"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(a)</a:t>
            </a:r>
          </a:p>
        </p:txBody>
      </p:sp>
      <p:cxnSp>
        <p:nvCxnSpPr>
          <p:cNvPr id="28" name="Straight Connector 27">
            <a:extLst>
              <a:ext uri="{FF2B5EF4-FFF2-40B4-BE49-F238E27FC236}">
                <a16:creationId xmlns:a16="http://schemas.microsoft.com/office/drawing/2014/main" id="{9413D2C3-2B18-4664-881C-430350C8A0D2}"/>
              </a:ext>
            </a:extLst>
          </p:cNvPr>
          <p:cNvCxnSpPr>
            <a:cxnSpLocks/>
          </p:cNvCxnSpPr>
          <p:nvPr/>
        </p:nvCxnSpPr>
        <p:spPr>
          <a:xfrm flipH="1">
            <a:off x="6881181" y="3641374"/>
            <a:ext cx="1574545" cy="20785"/>
          </a:xfrm>
          <a:prstGeom prst="line">
            <a:avLst/>
          </a:prstGeom>
          <a:ln w="12700">
            <a:solidFill>
              <a:srgbClr val="C00000"/>
            </a:solidFill>
            <a:prstDash val="lgDashDot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3461328C-55E6-46B8-B840-8C8A3C370AC9}"/>
                  </a:ext>
                </a:extLst>
              </p:cNvPr>
              <p:cNvSpPr txBox="1"/>
              <p:nvPr/>
            </p:nvSpPr>
            <p:spPr>
              <a:xfrm rot="16200000">
                <a:off x="5338105" y="3556816"/>
                <a:ext cx="2536664" cy="445250"/>
              </a:xfrm>
              <a:prstGeom prst="rect">
                <a:avLst/>
              </a:prstGeom>
              <a:noFill/>
            </p:spPr>
            <p:txBody>
              <a:bodyPr wrap="square" rtlCol="0">
                <a:spAutoFit/>
              </a:bodyPr>
              <a:lstStyle/>
              <a:p>
                <a:r>
                  <a:rPr lang="en-US" dirty="0">
                    <a:solidFill>
                      <a:srgbClr val="C00000"/>
                    </a:solidFill>
                    <a:latin typeface="Times New Roman" panose="02020603050405020304" pitchFamily="18" charset="0"/>
                    <a:cs typeface="Times New Roman" panose="02020603050405020304" pitchFamily="18" charset="0"/>
                  </a:rPr>
                  <a:t> </a:t>
                </a:r>
                <a14:m>
                  <m:oMath xmlns:m="http://schemas.openxmlformats.org/officeDocument/2006/math">
                    <m:r>
                      <a:rPr lang="en-US" b="0" i="0" dirty="0" smtClean="0">
                        <a:solidFill>
                          <a:srgbClr val="C00000"/>
                        </a:solidFill>
                        <a:latin typeface="Cambria Math" panose="02040503050406030204" pitchFamily="18" charset="0"/>
                      </a:rPr>
                      <m:t>| </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𝐵</m:t>
                            </m:r>
                          </m:sub>
                        </m:sSub>
                      </m:e>
                      <m:sub>
                        <m:r>
                          <a:rPr lang="en-US" i="1" dirty="0">
                            <a:solidFill>
                              <a:srgbClr val="C00000"/>
                            </a:solidFill>
                            <a:latin typeface="Cambria Math" panose="02040503050406030204" pitchFamily="18" charset="0"/>
                          </a:rPr>
                          <m:t>𝑓𝑠</m:t>
                        </m:r>
                      </m:sub>
                    </m:sSub>
                    <m:r>
                      <a:rPr lang="en-US" b="0" i="0" dirty="0" smtClean="0">
                        <a:solidFill>
                          <a:srgbClr val="C00000"/>
                        </a:solidFill>
                        <a:latin typeface="Cambria Math" panose="02040503050406030204" pitchFamily="18" charset="0"/>
                      </a:rPr>
                      <m:t>+</m:t>
                    </m:r>
                    <m:sSub>
                      <m:sSubPr>
                        <m:ctrlPr>
                          <a:rPr lang="en-US" i="1" dirty="0">
                            <a:solidFill>
                              <a:srgbClr val="C00000"/>
                            </a:solidFill>
                            <a:latin typeface="Cambria Math" panose="02040503050406030204" pitchFamily="18" charset="0"/>
                          </a:rPr>
                        </m:ctrlPr>
                      </m:sSubPr>
                      <m:e>
                        <m:sSub>
                          <m:sSubPr>
                            <m:ctrlPr>
                              <a:rPr lang="en-US" i="1" dirty="0">
                                <a:solidFill>
                                  <a:srgbClr val="C00000"/>
                                </a:solidFill>
                                <a:latin typeface="Cambria Math" panose="02040503050406030204" pitchFamily="18" charset="0"/>
                              </a:rPr>
                            </m:ctrlPr>
                          </m:sSubPr>
                          <m:e>
                            <m:acc>
                              <m:accPr>
                                <m:chr m:val="̂"/>
                                <m:ctrlPr>
                                  <a:rPr lang="en-US" i="1" dirty="0">
                                    <a:solidFill>
                                      <a:srgbClr val="C00000"/>
                                    </a:solidFill>
                                    <a:latin typeface="Cambria Math" panose="02040503050406030204" pitchFamily="18" charset="0"/>
                                  </a:rPr>
                                </m:ctrlPr>
                              </m:accPr>
                              <m:e>
                                <m:r>
                                  <a:rPr lang="en-US" i="1" dirty="0">
                                    <a:solidFill>
                                      <a:srgbClr val="C00000"/>
                                    </a:solidFill>
                                    <a:latin typeface="Cambria Math" panose="02040503050406030204" pitchFamily="18" charset="0"/>
                                  </a:rPr>
                                  <m:t>𝑆</m:t>
                                </m:r>
                              </m:e>
                            </m:acc>
                          </m:e>
                          <m:sub>
                            <m:r>
                              <a:rPr lang="en-US" b="0" i="1" dirty="0" smtClean="0">
                                <a:solidFill>
                                  <a:srgbClr val="C00000"/>
                                </a:solidFill>
                                <a:latin typeface="Cambria Math" panose="02040503050406030204" pitchFamily="18" charset="0"/>
                              </a:rPr>
                              <m:t>𝐶</m:t>
                            </m:r>
                          </m:sub>
                        </m:sSub>
                      </m:e>
                      <m:sub>
                        <m:r>
                          <a:rPr lang="en-US" i="1" dirty="0">
                            <a:solidFill>
                              <a:srgbClr val="C00000"/>
                            </a:solidFill>
                            <a:latin typeface="Cambria Math" panose="02040503050406030204" pitchFamily="18" charset="0"/>
                          </a:rPr>
                          <m:t>𝑓𝑠</m:t>
                        </m:r>
                        <m:r>
                          <a:rPr lang="en-US" i="1" dirty="0">
                            <a:solidFill>
                              <a:srgbClr val="C00000"/>
                            </a:solidFill>
                            <a:latin typeface="Cambria Math" panose="02040503050406030204" pitchFamily="18" charset="0"/>
                          </a:rPr>
                          <m:t> </m:t>
                        </m:r>
                      </m:sub>
                    </m:sSub>
                    <m:r>
                      <a:rPr lang="en-US" i="1" dirty="0">
                        <a:solidFill>
                          <a:srgbClr val="C00000"/>
                        </a:solidFill>
                        <a:latin typeface="Cambria Math" panose="02040503050406030204" pitchFamily="18" charset="0"/>
                      </a:rPr>
                      <m:t>|</m:t>
                    </m:r>
                  </m:oMath>
                </a14:m>
                <a:endParaRPr lang="en-US" dirty="0">
                  <a:solidFill>
                    <a:srgbClr val="C00000"/>
                  </a:solidFill>
                </a:endParaRPr>
              </a:p>
            </p:txBody>
          </p:sp>
        </mc:Choice>
        <mc:Fallback xmlns="">
          <p:sp>
            <p:nvSpPr>
              <p:cNvPr id="29" name="TextBox 28">
                <a:extLst>
                  <a:ext uri="{FF2B5EF4-FFF2-40B4-BE49-F238E27FC236}">
                    <a16:creationId xmlns:a16="http://schemas.microsoft.com/office/drawing/2014/main" id="{3461328C-55E6-46B8-B840-8C8A3C370AC9}"/>
                  </a:ext>
                </a:extLst>
              </p:cNvPr>
              <p:cNvSpPr txBox="1">
                <a:spLocks noRot="1" noChangeAspect="1" noMove="1" noResize="1" noEditPoints="1" noAdjustHandles="1" noChangeArrowheads="1" noChangeShapeType="1" noTextEdit="1"/>
              </p:cNvSpPr>
              <p:nvPr/>
            </p:nvSpPr>
            <p:spPr>
              <a:xfrm rot="16200000">
                <a:off x="5338105" y="3556816"/>
                <a:ext cx="2536664" cy="445250"/>
              </a:xfrm>
              <a:prstGeom prst="rect">
                <a:avLst/>
              </a:prstGeom>
              <a:blipFill>
                <a:blip r:embed="rId11"/>
                <a:stretch>
                  <a:fillRect l="-5479" r="-8219"/>
                </a:stretch>
              </a:blipFill>
            </p:spPr>
            <p:txBody>
              <a:bodyPr/>
              <a:lstStyle/>
              <a:p>
                <a:r>
                  <a:rPr lang="sv-SE">
                    <a:noFill/>
                  </a:rPr>
                  <a:t> </a:t>
                </a:r>
              </a:p>
            </p:txBody>
          </p:sp>
        </mc:Fallback>
      </mc:AlternateContent>
      <p:cxnSp>
        <p:nvCxnSpPr>
          <p:cNvPr id="30" name="Straight Arrow Connector 29">
            <a:extLst>
              <a:ext uri="{FF2B5EF4-FFF2-40B4-BE49-F238E27FC236}">
                <a16:creationId xmlns:a16="http://schemas.microsoft.com/office/drawing/2014/main" id="{61209277-7535-4ECB-AE4F-B8E59175BFA4}"/>
              </a:ext>
            </a:extLst>
          </p:cNvPr>
          <p:cNvCxnSpPr>
            <a:cxnSpLocks/>
          </p:cNvCxnSpPr>
          <p:nvPr/>
        </p:nvCxnSpPr>
        <p:spPr>
          <a:xfrm>
            <a:off x="7033581" y="3651766"/>
            <a:ext cx="0" cy="1014115"/>
          </a:xfrm>
          <a:prstGeom prst="straightConnector1">
            <a:avLst/>
          </a:prstGeom>
          <a:ln>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31" name="Picture 30">
            <a:extLst>
              <a:ext uri="{FF2B5EF4-FFF2-40B4-BE49-F238E27FC236}">
                <a16:creationId xmlns:a16="http://schemas.microsoft.com/office/drawing/2014/main" id="{23BC06DD-3610-4F3B-86FC-1005EA68DFC3}"/>
              </a:ext>
            </a:extLst>
          </p:cNvPr>
          <p:cNvPicPr>
            <a:picLocks noChangeAspect="1"/>
          </p:cNvPicPr>
          <p:nvPr/>
        </p:nvPicPr>
        <p:blipFill>
          <a:blip r:embed="rId12"/>
          <a:stretch>
            <a:fillRect/>
          </a:stretch>
        </p:blipFill>
        <p:spPr>
          <a:xfrm>
            <a:off x="3203847" y="3380846"/>
            <a:ext cx="3810000" cy="2857500"/>
          </a:xfrm>
          <a:prstGeom prst="rect">
            <a:avLst/>
          </a:prstGeom>
        </p:spPr>
      </p:pic>
      <p:cxnSp>
        <p:nvCxnSpPr>
          <p:cNvPr id="32" name="Straight Arrow Connector 31">
            <a:extLst>
              <a:ext uri="{FF2B5EF4-FFF2-40B4-BE49-F238E27FC236}">
                <a16:creationId xmlns:a16="http://schemas.microsoft.com/office/drawing/2014/main" id="{DA6ECEDA-AE7A-411F-8479-709AF23E0541}"/>
              </a:ext>
            </a:extLst>
          </p:cNvPr>
          <p:cNvCxnSpPr>
            <a:cxnSpLocks/>
          </p:cNvCxnSpPr>
          <p:nvPr/>
        </p:nvCxnSpPr>
        <p:spPr>
          <a:xfrm flipV="1">
            <a:off x="4821533" y="2059924"/>
            <a:ext cx="310269" cy="906737"/>
          </a:xfrm>
          <a:prstGeom prst="straightConnector1">
            <a:avLst/>
          </a:prstGeom>
          <a:ln w="12700">
            <a:solidFill>
              <a:schemeClr val="accent6">
                <a:lumMod val="75000"/>
              </a:schemeClr>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278D1484-15FE-4FF9-8BC9-86EF5F39DEA6}"/>
              </a:ext>
            </a:extLst>
          </p:cNvPr>
          <p:cNvCxnSpPr>
            <a:cxnSpLocks/>
          </p:cNvCxnSpPr>
          <p:nvPr/>
        </p:nvCxnSpPr>
        <p:spPr>
          <a:xfrm flipV="1">
            <a:off x="4844684" y="2740758"/>
            <a:ext cx="712481" cy="191352"/>
          </a:xfrm>
          <a:prstGeom prst="straightConnector1">
            <a:avLst/>
          </a:prstGeom>
          <a:ln w="12700">
            <a:solidFill>
              <a:srgbClr val="0039AC"/>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FB3B3F29-EDEC-4595-A375-80DFA7AB7DCA}"/>
              </a:ext>
            </a:extLst>
          </p:cNvPr>
          <p:cNvCxnSpPr>
            <a:cxnSpLocks/>
          </p:cNvCxnSpPr>
          <p:nvPr/>
        </p:nvCxnSpPr>
        <p:spPr>
          <a:xfrm>
            <a:off x="3934361" y="186226"/>
            <a:ext cx="0" cy="2898465"/>
          </a:xfrm>
          <a:prstGeom prst="line">
            <a:avLst/>
          </a:prstGeom>
          <a:ln>
            <a:solidFill>
              <a:srgbClr val="7030A0"/>
            </a:solidFill>
            <a:head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6206749-B0F1-4229-A581-92461336F45B}"/>
              </a:ext>
            </a:extLst>
          </p:cNvPr>
          <p:cNvCxnSpPr>
            <a:cxnSpLocks/>
          </p:cNvCxnSpPr>
          <p:nvPr/>
        </p:nvCxnSpPr>
        <p:spPr>
          <a:xfrm rot="20199754">
            <a:off x="7593208" y="1794878"/>
            <a:ext cx="1200647" cy="0"/>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E134156-BEFD-4ED1-95A8-4479094B7835}"/>
              </a:ext>
            </a:extLst>
          </p:cNvPr>
          <p:cNvCxnSpPr>
            <a:cxnSpLocks/>
          </p:cNvCxnSpPr>
          <p:nvPr/>
        </p:nvCxnSpPr>
        <p:spPr>
          <a:xfrm rot="20199754" flipV="1">
            <a:off x="8578947" y="754263"/>
            <a:ext cx="257716" cy="783819"/>
          </a:xfrm>
          <a:prstGeom prst="straightConnector1">
            <a:avLst/>
          </a:prstGeom>
          <a:ln w="254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DAE119A-A3FD-49CA-80B2-78A838CFBF9B}"/>
              </a:ext>
            </a:extLst>
          </p:cNvPr>
          <p:cNvCxnSpPr>
            <a:cxnSpLocks/>
          </p:cNvCxnSpPr>
          <p:nvPr/>
        </p:nvCxnSpPr>
        <p:spPr>
          <a:xfrm rot="20199754" flipV="1">
            <a:off x="8617053" y="389182"/>
            <a:ext cx="677777" cy="237308"/>
          </a:xfrm>
          <a:prstGeom prst="straightConnector1">
            <a:avLst/>
          </a:prstGeom>
          <a:ln w="25400">
            <a:solidFill>
              <a:srgbClr val="0039AC"/>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498E386-4B5E-4CFF-91A4-E26117CCCA42}"/>
              </a:ext>
            </a:extLst>
          </p:cNvPr>
          <p:cNvCxnSpPr>
            <a:cxnSpLocks/>
          </p:cNvCxnSpPr>
          <p:nvPr/>
        </p:nvCxnSpPr>
        <p:spPr>
          <a:xfrm rot="20199754">
            <a:off x="7707658" y="1685139"/>
            <a:ext cx="1622804" cy="689268"/>
          </a:xfrm>
          <a:prstGeom prst="straightConnector1">
            <a:avLst/>
          </a:prstGeom>
          <a:ln w="254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C09077D4-54C0-4368-B362-E8DFBA6ED395}"/>
                  </a:ext>
                </a:extLst>
              </p:cNvPr>
              <p:cNvSpPr txBox="1"/>
              <p:nvPr/>
            </p:nvSpPr>
            <p:spPr>
              <a:xfrm>
                <a:off x="7704085" y="2036883"/>
                <a:ext cx="885128" cy="43127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𝐴𝐵𝐶</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39" name="TextBox 38">
                <a:extLst>
                  <a:ext uri="{FF2B5EF4-FFF2-40B4-BE49-F238E27FC236}">
                    <a16:creationId xmlns:a16="http://schemas.microsoft.com/office/drawing/2014/main" id="{C09077D4-54C0-4368-B362-E8DFBA6ED395}"/>
                  </a:ext>
                </a:extLst>
              </p:cNvPr>
              <p:cNvSpPr txBox="1">
                <a:spLocks noRot="1" noChangeAspect="1" noMove="1" noResize="1" noEditPoints="1" noAdjustHandles="1" noChangeArrowheads="1" noChangeShapeType="1" noTextEdit="1"/>
              </p:cNvSpPr>
              <p:nvPr/>
            </p:nvSpPr>
            <p:spPr>
              <a:xfrm>
                <a:off x="7704085" y="2036883"/>
                <a:ext cx="885128" cy="431272"/>
              </a:xfrm>
              <a:prstGeom prst="rect">
                <a:avLst/>
              </a:prstGeom>
              <a:blipFill>
                <a:blip r:embed="rId13"/>
                <a:stretch>
                  <a:fillRect l="-9655" t="-14085" b="-2112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AE80993-2C5C-47EA-9639-59C2161995CD}"/>
                  </a:ext>
                </a:extLst>
              </p:cNvPr>
              <p:cNvSpPr txBox="1"/>
              <p:nvPr/>
            </p:nvSpPr>
            <p:spPr>
              <a:xfrm rot="20199754">
                <a:off x="7673819" y="1662395"/>
                <a:ext cx="1634481"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𝜙</m:t>
                      </m:r>
                    </m:oMath>
                  </m:oMathPara>
                </a14:m>
                <a:endParaRPr lang="en-US" sz="2200" dirty="0"/>
              </a:p>
            </p:txBody>
          </p:sp>
        </mc:Choice>
        <mc:Fallback xmlns="">
          <p:sp>
            <p:nvSpPr>
              <p:cNvPr id="40" name="TextBox 39">
                <a:extLst>
                  <a:ext uri="{FF2B5EF4-FFF2-40B4-BE49-F238E27FC236}">
                    <a16:creationId xmlns:a16="http://schemas.microsoft.com/office/drawing/2014/main" id="{EAE80993-2C5C-47EA-9639-59C2161995CD}"/>
                  </a:ext>
                </a:extLst>
              </p:cNvPr>
              <p:cNvSpPr txBox="1">
                <a:spLocks noRot="1" noChangeAspect="1" noMove="1" noResize="1" noEditPoints="1" noAdjustHandles="1" noChangeArrowheads="1" noChangeShapeType="1" noTextEdit="1"/>
              </p:cNvSpPr>
              <p:nvPr/>
            </p:nvSpPr>
            <p:spPr>
              <a:xfrm rot="20199754">
                <a:off x="7673819" y="1662395"/>
                <a:ext cx="1634481" cy="338554"/>
              </a:xfrm>
              <a:prstGeom prst="rect">
                <a:avLst/>
              </a:prstGeom>
              <a:blipFill>
                <a:blip r:embed="rId1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755B3158-A8FB-432A-8CE2-035FB56F4FFE}"/>
                  </a:ext>
                </a:extLst>
              </p:cNvPr>
              <p:cNvSpPr txBox="1"/>
              <p:nvPr/>
            </p:nvSpPr>
            <p:spPr>
              <a:xfrm rot="15951471">
                <a:off x="8098246" y="913993"/>
                <a:ext cx="614262"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𝐵</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1" name="TextBox 40">
                <a:extLst>
                  <a:ext uri="{FF2B5EF4-FFF2-40B4-BE49-F238E27FC236}">
                    <a16:creationId xmlns:a16="http://schemas.microsoft.com/office/drawing/2014/main" id="{755B3158-A8FB-432A-8CE2-035FB56F4FFE}"/>
                  </a:ext>
                </a:extLst>
              </p:cNvPr>
              <p:cNvSpPr txBox="1">
                <a:spLocks noRot="1" noChangeAspect="1" noMove="1" noResize="1" noEditPoints="1" noAdjustHandles="1" noChangeArrowheads="1" noChangeShapeType="1" noTextEdit="1"/>
              </p:cNvSpPr>
              <p:nvPr/>
            </p:nvSpPr>
            <p:spPr>
              <a:xfrm rot="15951471">
                <a:off x="8098246" y="913993"/>
                <a:ext cx="614262" cy="429092"/>
              </a:xfrm>
              <a:prstGeom prst="rect">
                <a:avLst/>
              </a:prstGeom>
              <a:blipFill>
                <a:blip r:embed="rId15"/>
                <a:stretch>
                  <a:fillRect l="-11538" r="-15385" b="-14151"/>
                </a:stretch>
              </a:blipFill>
            </p:spPr>
            <p:txBody>
              <a:bodyPr/>
              <a:lstStyle/>
              <a:p>
                <a:r>
                  <a:rPr lang="sv-SE">
                    <a:noFill/>
                  </a:rPr>
                  <a:t> </a:t>
                </a:r>
              </a:p>
            </p:txBody>
          </p:sp>
        </mc:Fallback>
      </mc:AlternateContent>
      <p:sp>
        <p:nvSpPr>
          <p:cNvPr id="42" name="Arc 41">
            <a:extLst>
              <a:ext uri="{FF2B5EF4-FFF2-40B4-BE49-F238E27FC236}">
                <a16:creationId xmlns:a16="http://schemas.microsoft.com/office/drawing/2014/main" id="{91A56D0B-0D7D-416E-BC2D-2147FE30EFE0}"/>
              </a:ext>
            </a:extLst>
          </p:cNvPr>
          <p:cNvSpPr/>
          <p:nvPr/>
        </p:nvSpPr>
        <p:spPr>
          <a:xfrm rot="3999754">
            <a:off x="7957807" y="1768686"/>
            <a:ext cx="541320" cy="228783"/>
          </a:xfrm>
          <a:prstGeom prst="arc">
            <a:avLst>
              <a:gd name="adj1" fmla="val 14291063"/>
              <a:gd name="adj2" fmla="val 20171534"/>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2810583-B948-4C07-B987-3A0ACEFAEC6F}"/>
                  </a:ext>
                </a:extLst>
              </p:cNvPr>
              <p:cNvSpPr txBox="1"/>
              <p:nvPr/>
            </p:nvSpPr>
            <p:spPr>
              <a:xfrm rot="20199754">
                <a:off x="7694997" y="1367315"/>
                <a:ext cx="537199" cy="4290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200" b="0" i="1" dirty="0" smtClean="0">
                              <a:latin typeface="Cambria Math" panose="02040503050406030204" pitchFamily="18" charset="0"/>
                            </a:rPr>
                          </m:ctrlPr>
                        </m:sSubPr>
                        <m:e>
                          <m:sSub>
                            <m:sSubPr>
                              <m:ctrlPr>
                                <a:rPr lang="en-US" sz="2200" b="0" i="1" dirty="0" smtClean="0">
                                  <a:latin typeface="Cambria Math" panose="02040503050406030204" pitchFamily="18" charset="0"/>
                                </a:rPr>
                              </m:ctrlPr>
                            </m:sSubPr>
                            <m:e>
                              <m:acc>
                                <m:accPr>
                                  <m:chr m:val="̂"/>
                                  <m:ctrlPr>
                                    <a:rPr lang="en-US" sz="2200" i="1" dirty="0" smtClean="0">
                                      <a:latin typeface="Cambria Math" panose="02040503050406030204" pitchFamily="18" charset="0"/>
                                    </a:rPr>
                                  </m:ctrlPr>
                                </m:accPr>
                                <m:e>
                                  <m:r>
                                    <a:rPr lang="en-US" sz="2200" b="0" i="1" dirty="0" smtClean="0">
                                      <a:latin typeface="Cambria Math" panose="02040503050406030204" pitchFamily="18" charset="0"/>
                                    </a:rPr>
                                    <m:t>𝑆</m:t>
                                  </m:r>
                                </m:e>
                              </m:acc>
                            </m:e>
                            <m:sub>
                              <m:r>
                                <a:rPr lang="en-US" sz="2200" b="0" i="1" dirty="0" smtClean="0">
                                  <a:latin typeface="Cambria Math" panose="02040503050406030204" pitchFamily="18" charset="0"/>
                                </a:rPr>
                                <m:t>𝐴</m:t>
                              </m:r>
                            </m:sub>
                          </m:sSub>
                        </m:e>
                        <m:sub>
                          <m:r>
                            <a:rPr lang="en-US" sz="2200" b="0" i="1" dirty="0" smtClean="0">
                              <a:latin typeface="Cambria Math" panose="02040503050406030204" pitchFamily="18" charset="0"/>
                            </a:rPr>
                            <m:t>𝑓𝑠</m:t>
                          </m:r>
                          <m:r>
                            <a:rPr lang="en-US" sz="2200" b="0" i="1" dirty="0" smtClean="0">
                              <a:latin typeface="Cambria Math" panose="02040503050406030204" pitchFamily="18" charset="0"/>
                            </a:rPr>
                            <m:t>  </m:t>
                          </m:r>
                        </m:sub>
                      </m:sSub>
                    </m:oMath>
                  </m:oMathPara>
                </a14:m>
                <a:endParaRPr lang="en-US" sz="2200" dirty="0"/>
              </a:p>
            </p:txBody>
          </p:sp>
        </mc:Choice>
        <mc:Fallback xmlns="">
          <p:sp>
            <p:nvSpPr>
              <p:cNvPr id="43" name="TextBox 42">
                <a:extLst>
                  <a:ext uri="{FF2B5EF4-FFF2-40B4-BE49-F238E27FC236}">
                    <a16:creationId xmlns:a16="http://schemas.microsoft.com/office/drawing/2014/main" id="{C2810583-B948-4C07-B987-3A0ACEFAEC6F}"/>
                  </a:ext>
                </a:extLst>
              </p:cNvPr>
              <p:cNvSpPr txBox="1">
                <a:spLocks noRot="1" noChangeAspect="1" noMove="1" noResize="1" noEditPoints="1" noAdjustHandles="1" noChangeArrowheads="1" noChangeShapeType="1" noTextEdit="1"/>
              </p:cNvSpPr>
              <p:nvPr/>
            </p:nvSpPr>
            <p:spPr>
              <a:xfrm rot="20199754">
                <a:off x="7694997" y="1367315"/>
                <a:ext cx="537199" cy="429092"/>
              </a:xfrm>
              <a:prstGeom prst="rect">
                <a:avLst/>
              </a:prstGeom>
              <a:blipFill>
                <a:blip r:embed="rId16"/>
                <a:stretch>
                  <a:fillRect l="-9091" t="-5941" r="-10000" b="-1980"/>
                </a:stretch>
              </a:blipFill>
            </p:spPr>
            <p:txBody>
              <a:bodyPr/>
              <a:lstStyle/>
              <a:p>
                <a:r>
                  <a:rPr lang="sv-SE">
                    <a:noFill/>
                  </a:rPr>
                  <a:t> </a:t>
                </a:r>
              </a:p>
            </p:txBody>
          </p:sp>
        </mc:Fallback>
      </mc:AlternateContent>
      <p:sp>
        <p:nvSpPr>
          <p:cNvPr id="44" name="Arc 43">
            <a:extLst>
              <a:ext uri="{FF2B5EF4-FFF2-40B4-BE49-F238E27FC236}">
                <a16:creationId xmlns:a16="http://schemas.microsoft.com/office/drawing/2014/main" id="{E1CADF48-19C4-464E-9A0C-5834086642AF}"/>
              </a:ext>
            </a:extLst>
          </p:cNvPr>
          <p:cNvSpPr/>
          <p:nvPr/>
        </p:nvSpPr>
        <p:spPr>
          <a:xfrm rot="1413968">
            <a:off x="8427264" y="1250930"/>
            <a:ext cx="541320" cy="245805"/>
          </a:xfrm>
          <a:prstGeom prst="arc">
            <a:avLst>
              <a:gd name="adj1" fmla="val 16200000"/>
              <a:gd name="adj2" fmla="val 2127672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027AD0A-7E8B-439C-9C1E-4378A72A4760}"/>
                  </a:ext>
                </a:extLst>
              </p:cNvPr>
              <p:cNvSpPr txBox="1"/>
              <p:nvPr/>
            </p:nvSpPr>
            <p:spPr>
              <a:xfrm rot="20199754">
                <a:off x="8847217" y="998264"/>
                <a:ext cx="462615" cy="33855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200" b="0" i="1" dirty="0" smtClean="0">
                          <a:latin typeface="Cambria Math" panose="02040503050406030204" pitchFamily="18" charset="0"/>
                        </a:rPr>
                        <m:t>𝛼</m:t>
                      </m:r>
                    </m:oMath>
                  </m:oMathPara>
                </a14:m>
                <a:endParaRPr lang="en-US" sz="2200" dirty="0"/>
              </a:p>
            </p:txBody>
          </p:sp>
        </mc:Choice>
        <mc:Fallback xmlns="">
          <p:sp>
            <p:nvSpPr>
              <p:cNvPr id="45" name="TextBox 44">
                <a:extLst>
                  <a:ext uri="{FF2B5EF4-FFF2-40B4-BE49-F238E27FC236}">
                    <a16:creationId xmlns:a16="http://schemas.microsoft.com/office/drawing/2014/main" id="{E027AD0A-7E8B-439C-9C1E-4378A72A4760}"/>
                  </a:ext>
                </a:extLst>
              </p:cNvPr>
              <p:cNvSpPr txBox="1">
                <a:spLocks noRot="1" noChangeAspect="1" noMove="1" noResize="1" noEditPoints="1" noAdjustHandles="1" noChangeArrowheads="1" noChangeShapeType="1" noTextEdit="1"/>
              </p:cNvSpPr>
              <p:nvPr/>
            </p:nvSpPr>
            <p:spPr>
              <a:xfrm rot="20199754">
                <a:off x="8847217" y="998264"/>
                <a:ext cx="462615" cy="338554"/>
              </a:xfrm>
              <a:prstGeom prst="rect">
                <a:avLst/>
              </a:prstGeom>
              <a:blipFill>
                <a:blip r:embed="rId17"/>
                <a:stretch>
                  <a:fillRect/>
                </a:stretch>
              </a:blipFill>
            </p:spPr>
            <p:txBody>
              <a:bodyPr/>
              <a:lstStyle/>
              <a:p>
                <a:r>
                  <a:rPr lang="sv-SE">
                    <a:noFill/>
                  </a:rPr>
                  <a:t> </a:t>
                </a:r>
              </a:p>
            </p:txBody>
          </p:sp>
        </mc:Fallback>
      </mc:AlternateContent>
      <p:cxnSp>
        <p:nvCxnSpPr>
          <p:cNvPr id="46" name="Straight Connector 45">
            <a:extLst>
              <a:ext uri="{FF2B5EF4-FFF2-40B4-BE49-F238E27FC236}">
                <a16:creationId xmlns:a16="http://schemas.microsoft.com/office/drawing/2014/main" id="{97B79CFE-2B7C-4147-9FDB-81087584EF0E}"/>
              </a:ext>
            </a:extLst>
          </p:cNvPr>
          <p:cNvCxnSpPr>
            <a:cxnSpLocks/>
          </p:cNvCxnSpPr>
          <p:nvPr/>
        </p:nvCxnSpPr>
        <p:spPr>
          <a:xfrm rot="20199754" flipV="1">
            <a:off x="8555361" y="98385"/>
            <a:ext cx="206855" cy="640309"/>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sp>
        <p:nvSpPr>
          <p:cNvPr id="47" name="Arc 46">
            <a:extLst>
              <a:ext uri="{FF2B5EF4-FFF2-40B4-BE49-F238E27FC236}">
                <a16:creationId xmlns:a16="http://schemas.microsoft.com/office/drawing/2014/main" id="{F4FBA915-B2D1-4C10-9B86-B4B8A0C0AA32}"/>
              </a:ext>
            </a:extLst>
          </p:cNvPr>
          <p:cNvSpPr/>
          <p:nvPr/>
        </p:nvSpPr>
        <p:spPr>
          <a:xfrm rot="21587475">
            <a:off x="8461486" y="455664"/>
            <a:ext cx="541320" cy="245805"/>
          </a:xfrm>
          <a:prstGeom prst="arc">
            <a:avLst>
              <a:gd name="adj1" fmla="val 15161520"/>
              <a:gd name="adj2" fmla="val 2031619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200"/>
          </a:p>
        </p:txBody>
      </p:sp>
      <p:cxnSp>
        <p:nvCxnSpPr>
          <p:cNvPr id="48" name="Straight Arrow Connector 47">
            <a:extLst>
              <a:ext uri="{FF2B5EF4-FFF2-40B4-BE49-F238E27FC236}">
                <a16:creationId xmlns:a16="http://schemas.microsoft.com/office/drawing/2014/main" id="{A92B350C-FC8E-431C-9EDC-2141A4C7082B}"/>
              </a:ext>
            </a:extLst>
          </p:cNvPr>
          <p:cNvCxnSpPr>
            <a:cxnSpLocks/>
          </p:cNvCxnSpPr>
          <p:nvPr/>
        </p:nvCxnSpPr>
        <p:spPr>
          <a:xfrm rot="20199754" flipV="1">
            <a:off x="8622355" y="1592515"/>
            <a:ext cx="310269" cy="906737"/>
          </a:xfrm>
          <a:prstGeom prst="straightConnector1">
            <a:avLst/>
          </a:prstGeom>
          <a:ln w="12700">
            <a:solidFill>
              <a:schemeClr val="accent6">
                <a:lumMod val="75000"/>
              </a:schemeClr>
            </a:solidFill>
            <a:prstDash val="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C51BAE4-1F11-401C-BC2C-BD1CFE8C8720}"/>
              </a:ext>
            </a:extLst>
          </p:cNvPr>
          <p:cNvCxnSpPr>
            <a:cxnSpLocks/>
          </p:cNvCxnSpPr>
          <p:nvPr/>
        </p:nvCxnSpPr>
        <p:spPr>
          <a:xfrm rot="20199754" flipV="1">
            <a:off x="8755171" y="2158074"/>
            <a:ext cx="712481" cy="191352"/>
          </a:xfrm>
          <a:prstGeom prst="straightConnector1">
            <a:avLst/>
          </a:prstGeom>
          <a:ln w="12700">
            <a:solidFill>
              <a:srgbClr val="0039AC"/>
            </a:solidFill>
            <a:prstDash val="dash"/>
            <a:headEnd type="none"/>
            <a:tailEnd type="triangl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1A1825A7-14F1-498C-99CD-379126712392}"/>
              </a:ext>
            </a:extLst>
          </p:cNvPr>
          <p:cNvCxnSpPr>
            <a:cxnSpLocks/>
          </p:cNvCxnSpPr>
          <p:nvPr/>
        </p:nvCxnSpPr>
        <p:spPr>
          <a:xfrm rot="20199754" flipV="1">
            <a:off x="8634217" y="1303640"/>
            <a:ext cx="1423446" cy="721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578FF35-EDA3-4B34-A4A1-37A1E5BA7657}"/>
              </a:ext>
            </a:extLst>
          </p:cNvPr>
          <p:cNvCxnSpPr>
            <a:cxnSpLocks/>
          </p:cNvCxnSpPr>
          <p:nvPr/>
        </p:nvCxnSpPr>
        <p:spPr>
          <a:xfrm>
            <a:off x="7637515" y="186226"/>
            <a:ext cx="0" cy="2898465"/>
          </a:xfrm>
          <a:prstGeom prst="line">
            <a:avLst/>
          </a:prstGeom>
          <a:ln>
            <a:solidFill>
              <a:srgbClr val="7030A0"/>
            </a:solidFill>
            <a:headEnd type="arrow"/>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0C7D81C7-3398-411A-8D3D-4CFAC59DB148}"/>
              </a:ext>
            </a:extLst>
          </p:cNvPr>
          <p:cNvSpPr txBox="1"/>
          <p:nvPr/>
        </p:nvSpPr>
        <p:spPr>
          <a:xfrm>
            <a:off x="8455724" y="2943024"/>
            <a:ext cx="985816" cy="430887"/>
          </a:xfrm>
          <a:prstGeom prst="rect">
            <a:avLst/>
          </a:prstGeom>
          <a:noFill/>
        </p:spPr>
        <p:txBody>
          <a:bodyPr wrap="square" rtlCol="0">
            <a:spAutoFit/>
          </a:bodyPr>
          <a:lstStyle/>
          <a:p>
            <a:r>
              <a:rPr lang="en-US" sz="2200" dirty="0">
                <a:latin typeface="Times New Roman" panose="02020603050405020304" pitchFamily="18" charset="0"/>
                <a:cs typeface="Times New Roman" panose="02020603050405020304" pitchFamily="18" charset="0"/>
              </a:rPr>
              <a:t>(b)</a:t>
            </a:r>
          </a:p>
        </p:txBody>
      </p:sp>
    </p:spTree>
    <p:extLst>
      <p:ext uri="{BB962C8B-B14F-4D97-AF65-F5344CB8AC3E}">
        <p14:creationId xmlns:p14="http://schemas.microsoft.com/office/powerpoint/2010/main" val="34112005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sv-SE"/>
          </a:p>
        </p:txBody>
      </p:sp>
      <p:sp>
        <p:nvSpPr>
          <p:cNvPr id="3" name="Content Placeholder 2"/>
          <p:cNvSpPr>
            <a:spLocks noGrp="1"/>
          </p:cNvSpPr>
          <p:nvPr>
            <p:ph idx="1"/>
          </p:nvPr>
        </p:nvSpPr>
        <p:spPr/>
        <p:txBody>
          <a:bodyPr/>
          <a:lstStyle/>
          <a:p>
            <a:r>
              <a:rPr lang="sv-SE" dirty="0"/>
              <a:t>https://www.ew.tu-darmstadt.de/media/ew/rd/ew_vortraege/kurs_gec/gec_4.pdf</a:t>
            </a:r>
          </a:p>
        </p:txBody>
      </p:sp>
    </p:spTree>
    <p:extLst>
      <p:ext uri="{BB962C8B-B14F-4D97-AF65-F5344CB8AC3E}">
        <p14:creationId xmlns:p14="http://schemas.microsoft.com/office/powerpoint/2010/main" val="19220885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16956</TotalTime>
  <Words>2700</Words>
  <Application>Microsoft Office PowerPoint</Application>
  <PresentationFormat>Widescreen</PresentationFormat>
  <Paragraphs>386</Paragraphs>
  <Slides>22</Slides>
  <Notes>5</Notes>
  <HiddenSlides>3</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Constantia</vt:lpstr>
      <vt:lpstr>Calibri</vt:lpstr>
      <vt:lpstr>Wingdings</vt:lpstr>
      <vt:lpstr>Figtree</vt:lpstr>
      <vt:lpstr>Cambria Math</vt:lpstr>
      <vt:lpstr>Times New Roman</vt:lpstr>
      <vt:lpstr>Arial</vt:lpstr>
      <vt:lpstr>Office-tema</vt:lpstr>
      <vt:lpstr>Modulation Methodology for Concurrent Power Transfer for Field Excitation</vt:lpstr>
      <vt:lpstr>Power Transfer to Rotating Frames</vt:lpstr>
      <vt:lpstr>Wireless Power Transfer</vt:lpstr>
      <vt:lpstr> Inductive Power Transfer System</vt:lpstr>
      <vt:lpstr>Aim : Merging Concurrent Power Transfer System with Slip Ring Applications  </vt:lpstr>
      <vt:lpstr>Conventional Inductive Power Transfer Based Contactless Slip Ring</vt:lpstr>
      <vt:lpstr>Proposed Inductive Power Transfer Based Contactless Slip Ring</vt:lpstr>
      <vt:lpstr>Possible Structures</vt:lpstr>
      <vt:lpstr>2-phase Utilization : Modulation Constraint </vt:lpstr>
      <vt:lpstr>3-phase Utilization : External WPT Windings</vt:lpstr>
      <vt:lpstr>Stator Winding Utilization : Basic EESM- 2 Pole  </vt:lpstr>
      <vt:lpstr>Tuned Harvesting Coil</vt:lpstr>
      <vt:lpstr>Switching Harmonics- Sequences</vt:lpstr>
      <vt:lpstr>The Induced Superimposed Voltage </vt:lpstr>
      <vt:lpstr>The Controllable Region of the Superimposed Voltage - SPWM </vt:lpstr>
      <vt:lpstr>The Controllable Region of the Superimposed Voltage - SVPWM </vt:lpstr>
      <vt:lpstr>PowerPoint Presentation</vt:lpstr>
      <vt:lpstr>References</vt:lpstr>
      <vt:lpstr>PowerPoint Presentation</vt:lpstr>
      <vt:lpstr>PowerPoint Presentation</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157</cp:revision>
  <dcterms:created xsi:type="dcterms:W3CDTF">2024-01-10T13:17:29Z</dcterms:created>
  <dcterms:modified xsi:type="dcterms:W3CDTF">2025-02-23T18:08:20Z</dcterms:modified>
</cp:coreProperties>
</file>