
<file path=[Content_Types].xml><?xml version="1.0" encoding="utf-8"?>
<Types xmlns="http://schemas.openxmlformats.org/package/2006/content-types">
  <Default Extension="png" ContentType="image/png"/>
  <Default Extension="svg" ContentType="image/svg+xml"/>
  <Default Extension="emf" ContentType="image/x-emf"/>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24"/>
  </p:notesMasterIdLst>
  <p:sldIdLst>
    <p:sldId id="256" r:id="rId2"/>
    <p:sldId id="310" r:id="rId3"/>
    <p:sldId id="304" r:id="rId4"/>
    <p:sldId id="305" r:id="rId5"/>
    <p:sldId id="307" r:id="rId6"/>
    <p:sldId id="308" r:id="rId7"/>
    <p:sldId id="309" r:id="rId8"/>
    <p:sldId id="313" r:id="rId9"/>
    <p:sldId id="314" r:id="rId10"/>
    <p:sldId id="315" r:id="rId11"/>
    <p:sldId id="294" r:id="rId12"/>
    <p:sldId id="297" r:id="rId13"/>
    <p:sldId id="301" r:id="rId14"/>
    <p:sldId id="300" r:id="rId15"/>
    <p:sldId id="302" r:id="rId16"/>
    <p:sldId id="303" r:id="rId17"/>
    <p:sldId id="316" r:id="rId18"/>
    <p:sldId id="306" r:id="rId19"/>
    <p:sldId id="296" r:id="rId20"/>
    <p:sldId id="292" r:id="rId21"/>
    <p:sldId id="293" r:id="rId22"/>
    <p:sldId id="295" r:id="rId23"/>
  </p:sldIdLst>
  <p:sldSz cx="12192000" cy="6858000"/>
  <p:notesSz cx="6858000" cy="9144000"/>
  <p:embeddedFontLst>
    <p:embeddedFont>
      <p:font typeface="Constantia" panose="02030602050306030303" pitchFamily="18" charset="0"/>
      <p:regular r:id="rId25"/>
      <p:bold r:id="rId26"/>
      <p:italic r:id="rId27"/>
      <p:boldItalic r:id="rId28"/>
    </p:embeddedFont>
    <p:embeddedFont>
      <p:font typeface="Figtree" panose="020B0604020202020204" charset="0"/>
      <p:regular r:id="rId29"/>
      <p:bold r:id="rId30"/>
      <p:italic r:id="rId31"/>
      <p:boldItalic r:id="rId32"/>
    </p:embeddedFont>
    <p:embeddedFont>
      <p:font typeface="Calibri" panose="020F0502020204030204" pitchFamily="34" charset="0"/>
      <p:regular r:id="rId33"/>
      <p:bold r:id="rId34"/>
      <p:italic r:id="rId35"/>
      <p:boldItalic r:id="rId36"/>
    </p:embeddedFont>
    <p:embeddedFont>
      <p:font typeface="Cambria Math" panose="02040503050406030204" pitchFamily="18" charset="0"/>
      <p:regular r:id="rId37"/>
    </p:embeddedFont>
  </p:embeddedFontLst>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33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013" autoAdjust="0"/>
    <p:restoredTop sz="96327"/>
  </p:normalViewPr>
  <p:slideViewPr>
    <p:cSldViewPr snapToGrid="0">
      <p:cViewPr>
        <p:scale>
          <a:sx n="125" d="100"/>
          <a:sy n="125" d="100"/>
        </p:scale>
        <p:origin x="1272" y="88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2.fntdata"/><Relationship Id="rId39"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font" Target="fonts/font10.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33" Type="http://schemas.openxmlformats.org/officeDocument/2006/relationships/font" Target="fonts/font9.fntdata"/><Relationship Id="rId3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5.fntdata"/><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32" Type="http://schemas.openxmlformats.org/officeDocument/2006/relationships/font" Target="fonts/font8.fntdata"/><Relationship Id="rId37" Type="http://schemas.openxmlformats.org/officeDocument/2006/relationships/font" Target="fonts/font13.fnt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4.fntdata"/><Relationship Id="rId36" Type="http://schemas.openxmlformats.org/officeDocument/2006/relationships/font" Target="fonts/font12.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3.fntdata"/><Relationship Id="rId30" Type="http://schemas.openxmlformats.org/officeDocument/2006/relationships/font" Target="fonts/font6.fntdata"/><Relationship Id="rId35" Type="http://schemas.openxmlformats.org/officeDocument/2006/relationships/font" Target="fonts/font1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BACA97-DCC5-D741-8303-D68B06D997A0}" type="datetimeFigureOut">
              <a:rPr lang="sv-SE" smtClean="0"/>
              <a:t>2025-01-14</a:t>
            </a:fld>
            <a:endParaRPr lang="sv-SE"/>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702129-24FE-4746-9897-C7E55345F5DD}" type="slidenum">
              <a:rPr lang="sv-SE" smtClean="0"/>
              <a:t>‹#›</a:t>
            </a:fld>
            <a:endParaRPr lang="sv-SE"/>
          </a:p>
        </p:txBody>
      </p:sp>
    </p:spTree>
    <p:extLst>
      <p:ext uri="{BB962C8B-B14F-4D97-AF65-F5344CB8AC3E}">
        <p14:creationId xmlns:p14="http://schemas.microsoft.com/office/powerpoint/2010/main" val="4061700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303AAD37-8495-4358-975D-7F228E51A688}" type="slidenum">
              <a:rPr lang="en-US" smtClean="0"/>
              <a:pPr>
                <a:defRPr/>
              </a:pPr>
              <a:t>5</a:t>
            </a:fld>
            <a:endParaRPr lang="en-US" dirty="0"/>
          </a:p>
        </p:txBody>
      </p:sp>
    </p:spTree>
    <p:extLst>
      <p:ext uri="{BB962C8B-B14F-4D97-AF65-F5344CB8AC3E}">
        <p14:creationId xmlns:p14="http://schemas.microsoft.com/office/powerpoint/2010/main" val="41752416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a:xfrm>
            <a:off x="678657" y="4713645"/>
            <a:ext cx="5429250" cy="4892394"/>
          </a:xfrm>
        </p:spPr>
        <p:txBody>
          <a:bodyPr>
            <a:normAutofit/>
          </a:bodyPr>
          <a:lstStyle/>
          <a:p>
            <a:r>
              <a:rPr lang="en-US" dirty="0"/>
              <a:t>Our focus is on contactless slip rings. </a:t>
            </a:r>
          </a:p>
          <a:p>
            <a:r>
              <a:rPr lang="en-US" dirty="0"/>
              <a:t>Here, we have a representation of conventional contactless slip rings. </a:t>
            </a:r>
          </a:p>
          <a:p>
            <a:r>
              <a:rPr lang="en-US" dirty="0"/>
              <a:t>The common trait of these contactless slip rings; we have a motor drive system to achieve rotating load. </a:t>
            </a:r>
          </a:p>
          <a:p>
            <a:r>
              <a:rPr lang="en-US" dirty="0"/>
              <a:t>Inductive power transfer systems, a type of WPT system,  are commonly used in such systems since they give a moderate transfer distance and higher efficiency. </a:t>
            </a:r>
          </a:p>
          <a:p>
            <a:r>
              <a:rPr lang="en-US" dirty="0"/>
              <a:t>IPT systems have four main parts: High-frequency converter, Transmitter, receiver, and high-frequency rectifier. </a:t>
            </a:r>
          </a:p>
          <a:p>
            <a:r>
              <a:rPr lang="en-US" dirty="0"/>
              <a:t>So, conventional contactless slip rings have two converters. </a:t>
            </a:r>
          </a:p>
          <a:p>
            <a:r>
              <a:rPr lang="en-US" dirty="0"/>
              <a:t>One of both is the converter of the motor drive.</a:t>
            </a:r>
          </a:p>
          <a:p>
            <a:r>
              <a:rPr lang="en-US" dirty="0"/>
              <a:t>Another is the high-frequency converter of the WPT system. </a:t>
            </a:r>
          </a:p>
          <a:p>
            <a:r>
              <a:rPr lang="en-US" dirty="0"/>
              <a:t>The motor drive also generates high-frequency switching components at the output, but the motor filters these components out. </a:t>
            </a:r>
          </a:p>
          <a:p>
            <a:r>
              <a:rPr lang="en-US" dirty="0"/>
              <a:t>A low-frequency modulating signal is used to drive the motor. </a:t>
            </a:r>
          </a:p>
          <a:p>
            <a:r>
              <a:rPr lang="en-US" dirty="0"/>
              <a:t>WPT converter generates high-frequency square waves, and Tx and Rx generally have band-pass filter characteristics. </a:t>
            </a:r>
          </a:p>
          <a:p>
            <a:r>
              <a:rPr lang="en-US" dirty="0"/>
              <a:t>Therefore,  it only allows the desired high-frequency components to pass through.</a:t>
            </a:r>
          </a:p>
          <a:p>
            <a:r>
              <a:rPr lang="en-US" dirty="0"/>
              <a:t>Consequently, we have two converters in this system, which increase cost and complexity and decrease reliability.</a:t>
            </a:r>
          </a:p>
        </p:txBody>
      </p:sp>
      <p:sp>
        <p:nvSpPr>
          <p:cNvPr id="4" name="Slide Number Placeholder 3"/>
          <p:cNvSpPr>
            <a:spLocks noGrp="1"/>
          </p:cNvSpPr>
          <p:nvPr>
            <p:ph type="sldNum" sz="quarter" idx="5"/>
          </p:nvPr>
        </p:nvSpPr>
        <p:spPr/>
        <p:txBody>
          <a:bodyPr/>
          <a:lstStyle/>
          <a:p>
            <a:pPr>
              <a:defRPr/>
            </a:pPr>
            <a:fld id="{303AAD37-8495-4358-975D-7F228E51A688}" type="slidenum">
              <a:rPr lang="en-US" smtClean="0"/>
              <a:pPr>
                <a:defRPr/>
              </a:pPr>
              <a:t>6</a:t>
            </a:fld>
            <a:endParaRPr lang="en-US" dirty="0"/>
          </a:p>
        </p:txBody>
      </p:sp>
    </p:spTree>
    <p:extLst>
      <p:ext uri="{BB962C8B-B14F-4D97-AF65-F5344CB8AC3E}">
        <p14:creationId xmlns:p14="http://schemas.microsoft.com/office/powerpoint/2010/main" val="16725407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a:xfrm>
            <a:off x="678657" y="4713645"/>
            <a:ext cx="5429250" cy="4892394"/>
          </a:xfrm>
        </p:spPr>
        <p:txBody>
          <a:bodyPr>
            <a:normAutofit/>
          </a:bodyPr>
          <a:lstStyle/>
          <a:p>
            <a:r>
              <a:rPr lang="en-US" dirty="0"/>
              <a:t>Our focus is on contactless slip rings. </a:t>
            </a:r>
          </a:p>
          <a:p>
            <a:r>
              <a:rPr lang="en-US" dirty="0"/>
              <a:t>Here, we have a representation of conventional contactless slip rings. </a:t>
            </a:r>
          </a:p>
          <a:p>
            <a:r>
              <a:rPr lang="en-US" dirty="0"/>
              <a:t>The common trait of these contactless slip rings; we have a motor drive system to achieve rotating load. </a:t>
            </a:r>
          </a:p>
          <a:p>
            <a:r>
              <a:rPr lang="en-US" dirty="0"/>
              <a:t>Inductive power transfer systems, a type of WPT system,  are commonly used in such systems since they give a moderate transfer distance and higher efficiency. </a:t>
            </a:r>
          </a:p>
          <a:p>
            <a:r>
              <a:rPr lang="en-US" dirty="0"/>
              <a:t>IPT systems have four main parts: High-frequency converter, Transmitter, receiver, and high-frequency rectifier. </a:t>
            </a:r>
          </a:p>
          <a:p>
            <a:r>
              <a:rPr lang="en-US" dirty="0"/>
              <a:t>So, conventional contactless slip rings have two converters. </a:t>
            </a:r>
          </a:p>
          <a:p>
            <a:r>
              <a:rPr lang="en-US" dirty="0"/>
              <a:t>One of both is the converter of the motor drive.</a:t>
            </a:r>
          </a:p>
          <a:p>
            <a:r>
              <a:rPr lang="en-US" dirty="0"/>
              <a:t>Another is the high-frequency converter of the WPT system. </a:t>
            </a:r>
          </a:p>
          <a:p>
            <a:r>
              <a:rPr lang="en-US" dirty="0"/>
              <a:t>The motor drive also generates high-frequency switching components at the output, but the motor filters these components out. </a:t>
            </a:r>
          </a:p>
          <a:p>
            <a:r>
              <a:rPr lang="en-US" dirty="0"/>
              <a:t>A low-frequency modulating signal is used to drive the motor. </a:t>
            </a:r>
          </a:p>
          <a:p>
            <a:r>
              <a:rPr lang="en-US" dirty="0"/>
              <a:t>WPT converter generates high-frequency square waves, and Tx and Rx generally have band-pass filter characteristics. </a:t>
            </a:r>
          </a:p>
          <a:p>
            <a:r>
              <a:rPr lang="en-US" dirty="0"/>
              <a:t>Therefore,  it only allows the desired high-frequency components to pass through.</a:t>
            </a:r>
          </a:p>
          <a:p>
            <a:r>
              <a:rPr lang="en-US" dirty="0"/>
              <a:t>Consequently, we have two converters in this system, which increase cost and complexity and decrease reliability.</a:t>
            </a:r>
          </a:p>
        </p:txBody>
      </p:sp>
      <p:sp>
        <p:nvSpPr>
          <p:cNvPr id="4" name="Slide Number Placeholder 3"/>
          <p:cNvSpPr>
            <a:spLocks noGrp="1"/>
          </p:cNvSpPr>
          <p:nvPr>
            <p:ph type="sldNum" sz="quarter" idx="5"/>
          </p:nvPr>
        </p:nvSpPr>
        <p:spPr/>
        <p:txBody>
          <a:bodyPr/>
          <a:lstStyle/>
          <a:p>
            <a:pPr>
              <a:defRPr/>
            </a:pPr>
            <a:fld id="{303AAD37-8495-4358-975D-7F228E51A688}" type="slidenum">
              <a:rPr lang="en-US" smtClean="0"/>
              <a:pPr>
                <a:defRPr/>
              </a:pPr>
              <a:t>7</a:t>
            </a:fld>
            <a:endParaRPr lang="en-US" dirty="0"/>
          </a:p>
        </p:txBody>
      </p:sp>
    </p:spTree>
    <p:extLst>
      <p:ext uri="{BB962C8B-B14F-4D97-AF65-F5344CB8AC3E}">
        <p14:creationId xmlns:p14="http://schemas.microsoft.com/office/powerpoint/2010/main" val="27667846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WPT system is connected between phase-A and phase B. </a:t>
            </a:r>
          </a:p>
          <a:p>
            <a:endParaRPr lang="en-US" dirty="0"/>
          </a:p>
          <a:p>
            <a:r>
              <a:rPr lang="en-US" dirty="0"/>
              <a:t>By carrier phase shift to phase B, we achieve this contour of the magnitude of the switching frequency.  </a:t>
            </a:r>
          </a:p>
          <a:p>
            <a:endParaRPr lang="en-US" dirty="0"/>
          </a:p>
          <a:p>
            <a:r>
              <a:rPr lang="en-US" dirty="0"/>
              <a:t>We can observe that we can have a constant gain for any modulation. </a:t>
            </a:r>
          </a:p>
          <a:p>
            <a:endParaRPr lang="en-US" dirty="0"/>
          </a:p>
          <a:p>
            <a:r>
              <a:rPr lang="en-US" dirty="0"/>
              <a:t>The constant gain is between 0.25 and 0.45 over a DC-link voltage. </a:t>
            </a:r>
          </a:p>
          <a:p>
            <a:endParaRPr lang="en-US" dirty="0"/>
          </a:p>
          <a:p>
            <a:r>
              <a:rPr lang="en-US" dirty="0"/>
              <a:t>The control diagram is shown.  </a:t>
            </a:r>
          </a:p>
          <a:p>
            <a:endParaRPr lang="en-US" dirty="0"/>
          </a:p>
          <a:p>
            <a:r>
              <a:rPr lang="en-US" dirty="0"/>
              <a:t>We adjust the carrier phase shift according to modulation to control the WPT power. </a:t>
            </a:r>
          </a:p>
        </p:txBody>
      </p:sp>
      <p:sp>
        <p:nvSpPr>
          <p:cNvPr id="4" name="Slide Number Placeholder 3"/>
          <p:cNvSpPr>
            <a:spLocks noGrp="1"/>
          </p:cNvSpPr>
          <p:nvPr>
            <p:ph type="sldNum" sz="quarter" idx="5"/>
          </p:nvPr>
        </p:nvSpPr>
        <p:spPr/>
        <p:txBody>
          <a:bodyPr/>
          <a:lstStyle/>
          <a:p>
            <a:pPr>
              <a:defRPr/>
            </a:pPr>
            <a:fld id="{303AAD37-8495-4358-975D-7F228E51A688}" type="slidenum">
              <a:rPr lang="en-US" smtClean="0"/>
              <a:pPr>
                <a:defRPr/>
              </a:pPr>
              <a:t>9</a:t>
            </a:fld>
            <a:endParaRPr lang="en-US" dirty="0"/>
          </a:p>
        </p:txBody>
      </p:sp>
    </p:spTree>
    <p:extLst>
      <p:ext uri="{BB962C8B-B14F-4D97-AF65-F5344CB8AC3E}">
        <p14:creationId xmlns:p14="http://schemas.microsoft.com/office/powerpoint/2010/main" val="39021065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WPT system is connected between phase-A and phase B. </a:t>
            </a:r>
          </a:p>
          <a:p>
            <a:endParaRPr lang="en-US" dirty="0"/>
          </a:p>
          <a:p>
            <a:r>
              <a:rPr lang="en-US" dirty="0"/>
              <a:t>By carrier phase shift to phase B, we achieve this contour of the magnitude of the switching frequency.  </a:t>
            </a:r>
          </a:p>
          <a:p>
            <a:endParaRPr lang="en-US" dirty="0"/>
          </a:p>
          <a:p>
            <a:r>
              <a:rPr lang="en-US" dirty="0"/>
              <a:t>We can observe that we can have a constant gain for any modulation. </a:t>
            </a:r>
          </a:p>
          <a:p>
            <a:endParaRPr lang="en-US" dirty="0"/>
          </a:p>
          <a:p>
            <a:r>
              <a:rPr lang="en-US" dirty="0"/>
              <a:t>The constant gain is between 0.25 and 0.45 over a DC-link voltage. </a:t>
            </a:r>
          </a:p>
          <a:p>
            <a:endParaRPr lang="en-US" dirty="0"/>
          </a:p>
          <a:p>
            <a:r>
              <a:rPr lang="en-US" dirty="0"/>
              <a:t>The control diagram is shown.  </a:t>
            </a:r>
          </a:p>
          <a:p>
            <a:endParaRPr lang="en-US" dirty="0"/>
          </a:p>
          <a:p>
            <a:r>
              <a:rPr lang="en-US" dirty="0"/>
              <a:t>We adjust the carrier phase shift according to modulation to control the WPT power. </a:t>
            </a:r>
          </a:p>
        </p:txBody>
      </p:sp>
      <p:sp>
        <p:nvSpPr>
          <p:cNvPr id="4" name="Slide Number Placeholder 3"/>
          <p:cNvSpPr>
            <a:spLocks noGrp="1"/>
          </p:cNvSpPr>
          <p:nvPr>
            <p:ph type="sldNum" sz="quarter" idx="5"/>
          </p:nvPr>
        </p:nvSpPr>
        <p:spPr/>
        <p:txBody>
          <a:bodyPr/>
          <a:lstStyle/>
          <a:p>
            <a:pPr>
              <a:defRPr/>
            </a:pPr>
            <a:fld id="{303AAD37-8495-4358-975D-7F228E51A688}" type="slidenum">
              <a:rPr lang="en-US" smtClean="0"/>
              <a:pPr>
                <a:defRPr/>
              </a:pPr>
              <a:t>17</a:t>
            </a:fld>
            <a:endParaRPr lang="en-US" dirty="0"/>
          </a:p>
        </p:txBody>
      </p:sp>
    </p:spTree>
    <p:extLst>
      <p:ext uri="{BB962C8B-B14F-4D97-AF65-F5344CB8AC3E}">
        <p14:creationId xmlns:p14="http://schemas.microsoft.com/office/powerpoint/2010/main" val="102730037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6.sv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0.svg"/><Relationship Id="rId7"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12.sv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15.svg"/><Relationship Id="rId4"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6.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4.svg"/><Relationship Id="rId4"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10.svg"/><Relationship Id="rId4"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Master" Target="../slideMasters/slideMaster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KTH blue">
    <p:bg>
      <p:bgPr>
        <a:solidFill>
          <a:schemeClr val="accent1"/>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6D38D80F-8198-3D50-0CAB-FB287588B37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3936" b="32409"/>
          <a:stretch/>
        </p:blipFill>
        <p:spPr>
          <a:xfrm>
            <a:off x="-1" y="1"/>
            <a:ext cx="3177767" cy="4635374"/>
          </a:xfrm>
          <a:prstGeom prst="rect">
            <a:avLst/>
          </a:prstGeom>
        </p:spPr>
      </p:pic>
      <p:pic>
        <p:nvPicPr>
          <p:cNvPr id="8" name="Bild 7">
            <a:extLst>
              <a:ext uri="{FF2B5EF4-FFF2-40B4-BE49-F238E27FC236}">
                <a16:creationId xmlns:a16="http://schemas.microsoft.com/office/drawing/2014/main" id="{70792B10-D270-C2C6-5B88-13B9E3D50A01}"/>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369C0258-E083-684F-B81E-2491FB4EFBD1}" type="datetime1">
              <a:rPr lang="sv-SE" smtClean="0"/>
              <a:t>2025-01-14</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2478540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063A90AC-AA0F-4983-942B-962F71B301C4}"/>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3936" b="32409"/>
          <a:stretch/>
        </p:blipFill>
        <p:spPr>
          <a:xfrm>
            <a:off x="-1" y="1"/>
            <a:ext cx="3177767" cy="4635374"/>
          </a:xfrm>
          <a:prstGeom prst="rect">
            <a:avLst/>
          </a:prstGeom>
        </p:spPr>
      </p:pic>
      <p:pic>
        <p:nvPicPr>
          <p:cNvPr id="10" name="Bild 9">
            <a:extLst>
              <a:ext uri="{FF2B5EF4-FFF2-40B4-BE49-F238E27FC236}">
                <a16:creationId xmlns:a16="http://schemas.microsoft.com/office/drawing/2014/main" id="{73BDFF50-BF25-9A02-09D1-C21E45C0BA8F}"/>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D7F93862-881E-DF46-AD81-FDB1501BAD48}" type="datetime1">
              <a:rPr lang="sv-SE" smtClean="0"/>
              <a:t>2025-01-14</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966584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Rektangel 6">
            <a:extLst>
              <a:ext uri="{FF2B5EF4-FFF2-40B4-BE49-F238E27FC236}">
                <a16:creationId xmlns:a16="http://schemas.microsoft.com/office/drawing/2014/main" id="{E4E20116-AB17-4A1A-F8AD-05FA68213302}"/>
              </a:ext>
            </a:extLst>
          </p:cNvPr>
          <p:cNvSpPr/>
          <p:nvPr userDrawn="1"/>
        </p:nvSpPr>
        <p:spPr>
          <a:xfrm>
            <a:off x="0" y="0"/>
            <a:ext cx="12192000" cy="6858000"/>
          </a:xfrm>
          <a:prstGeom prst="rect">
            <a:avLst/>
          </a:prstGeom>
          <a:solidFill>
            <a:schemeClr val="tx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xmlns="" r:embed="rId4"/>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A1A0D637-CC39-0F47-97F1-76AAE59A5700}" type="datetime1">
              <a:rPr lang="sv-SE" smtClean="0"/>
              <a:t>2025-01-14</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algn="l">
              <a:spcAft>
                <a:spcPts val="800"/>
              </a:spcAft>
            </a:pPr>
            <a:r>
              <a:rPr lang="en-US" sz="1100" noProof="0" dirty="0">
                <a:latin typeface="+mj-lt"/>
              </a:rPr>
              <a:t>Change background image</a:t>
            </a:r>
          </a:p>
          <a:p>
            <a:pPr marL="162900" indent="-162900" algn="l">
              <a:spcAft>
                <a:spcPts val="600"/>
              </a:spcAft>
              <a:buFont typeface="+mj-lt"/>
              <a:buAutoNum type="arabicPeriod"/>
            </a:pPr>
            <a:r>
              <a:rPr lang="en-US" sz="1000" noProof="0" dirty="0"/>
              <a:t>Select Design &gt; Format Background.</a:t>
            </a:r>
          </a:p>
          <a:p>
            <a:pPr marL="162900" indent="-162900" algn="l">
              <a:spcAft>
                <a:spcPts val="600"/>
              </a:spcAft>
              <a:buFont typeface="+mj-lt"/>
              <a:buAutoNum type="arabicPeriod"/>
            </a:pPr>
            <a:r>
              <a:rPr lang="en-US" sz="1000" noProof="0" dirty="0"/>
              <a:t>In the Format Background pane, select Picture or texture fill.</a:t>
            </a:r>
          </a:p>
          <a:p>
            <a:pPr marL="162900" indent="-162900" algn="l">
              <a:spcAft>
                <a:spcPts val="600"/>
              </a:spcAft>
              <a:buFont typeface="+mj-lt"/>
              <a:buAutoNum type="arabicPeriod"/>
            </a:pPr>
            <a:r>
              <a:rPr lang="en-US" sz="1000" noProof="0" dirty="0"/>
              <a:t>Select File.</a:t>
            </a:r>
          </a:p>
          <a:p>
            <a:pPr marL="162900" indent="-162900" algn="l">
              <a:spcAft>
                <a:spcPts val="600"/>
              </a:spcAft>
              <a:buFont typeface="+mj-lt"/>
              <a:buAutoNum type="arabicPeriod"/>
            </a:pPr>
            <a:r>
              <a:rPr lang="en-US" sz="1000" noProof="0" dirty="0"/>
              <a:t>In the Insert Picture dialog box, choose the picture you want to use and then select Insert.</a:t>
            </a:r>
          </a:p>
        </p:txBody>
      </p:sp>
    </p:spTree>
    <p:extLst>
      <p:ext uri="{BB962C8B-B14F-4D97-AF65-F5344CB8AC3E}">
        <p14:creationId xmlns:p14="http://schemas.microsoft.com/office/powerpoint/2010/main" val="1939952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le/chapter, light blue">
    <p:bg>
      <p:bgPr>
        <a:solidFill>
          <a:schemeClr val="accent4"/>
        </a:solidFill>
        <a:effectLst/>
      </p:bgPr>
    </p:bg>
    <p:spTree>
      <p:nvGrpSpPr>
        <p:cNvPr id="1" name=""/>
        <p:cNvGrpSpPr/>
        <p:nvPr/>
      </p:nvGrpSpPr>
      <p:grpSpPr>
        <a:xfrm>
          <a:off x="0" y="0"/>
          <a:ext cx="0" cy="0"/>
          <a:chOff x="0" y="0"/>
          <a:chExt cx="0" cy="0"/>
        </a:xfrm>
      </p:grpSpPr>
      <p:pic>
        <p:nvPicPr>
          <p:cNvPr id="13"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FC84D86F-77A2-B649-9DAB-4D28280CD96F}" type="datetime1">
              <a:rPr lang="sv-SE" smtClean="0"/>
              <a:t>2025-01-14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330835917"/>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chapter, image,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75DBF22-A5DA-3B43-92C3-F6BCD51A4216}" type="datetime1">
              <a:rPr lang="sv-SE" smtClean="0"/>
              <a:t>2025-01-14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195098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Title/chapter, sand">
    <p:bg>
      <p:bgPr>
        <a:solidFill>
          <a:schemeClr val="bg2"/>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3B3563A2-9CD9-4FFB-4072-1AE98552F239}"/>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0F5ACA-7455-4642-BFE0-35A3360E2D3F}" type="datetime1">
              <a:rPr lang="sv-SE" smtClean="0"/>
              <a:t>2025-01-14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689938952"/>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chapter, image,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7029E1-9B44-DE43-98B9-EBAFD8B9E3F1}" type="datetime1">
              <a:rPr lang="sv-SE" smtClean="0"/>
              <a:t>2025-01-14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Tree>
    <p:extLst>
      <p:ext uri="{BB962C8B-B14F-4D97-AF65-F5344CB8AC3E}">
        <p14:creationId xmlns:p14="http://schemas.microsoft.com/office/powerpoint/2010/main" val="3734903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secHead" preserve="1">
  <p:cSld name="Title/chapter, KTH blue">
    <p:bg>
      <p:bgPr>
        <a:solidFill>
          <a:schemeClr val="accent1"/>
        </a:solidFill>
        <a:effectLst/>
      </p:bgPr>
    </p:bg>
    <p:spTree>
      <p:nvGrpSpPr>
        <p:cNvPr id="1" name=""/>
        <p:cNvGrpSpPr/>
        <p:nvPr/>
      </p:nvGrpSpPr>
      <p:grpSpPr>
        <a:xfrm>
          <a:off x="0" y="0"/>
          <a:ext cx="0" cy="0"/>
          <a:chOff x="0" y="0"/>
          <a:chExt cx="0" cy="0"/>
        </a:xfrm>
      </p:grpSpPr>
      <p:pic>
        <p:nvPicPr>
          <p:cNvPr id="9" name="Bild 8">
            <a:extLst>
              <a:ext uri="{FF2B5EF4-FFF2-40B4-BE49-F238E27FC236}">
                <a16:creationId xmlns:a16="http://schemas.microsoft.com/office/drawing/2014/main" id="{BD7C2495-EEC2-B0B4-E314-5E0AAC7DA05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pic>
        <p:nvPicPr>
          <p:cNvPr id="8" name="Bild 7">
            <a:extLst>
              <a:ext uri="{FF2B5EF4-FFF2-40B4-BE49-F238E27FC236}">
                <a16:creationId xmlns:a16="http://schemas.microsoft.com/office/drawing/2014/main" id="{2A6CC77B-C027-6CAF-7D4C-2E3A15A51698}"/>
              </a:ext>
            </a:extLst>
          </p:cNvPr>
          <p:cNvPicPr>
            <a:picLocks noChangeAspect="1"/>
          </p:cNvPicPr>
          <p:nvPr userDrawn="1"/>
        </p:nvPicPr>
        <p:blipFill>
          <a:blip r:embed="rId4">
            <a:extLst>
              <a:ext uri="{96DAC541-7B7A-43D3-8B79-37D633B846F1}">
                <asvg:svgBlip xmlns:asvg="http://schemas.microsoft.com/office/drawing/2016/SVG/main" xmlns="" r:embed="rId5"/>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EECCBBAF-5C49-D145-9814-61A8103632A9}" type="datetime1">
              <a:rPr lang="sv-SE" smtClean="0"/>
              <a:t>2025-01-14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10967796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KTH blue">
    <p:bg>
      <p:bgPr>
        <a:solidFill>
          <a:schemeClr val="accent1"/>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823D8581-A4D9-BE4A-AEA5-9282CF05EB42}" type="datetime1">
              <a:rPr lang="sv-SE" smtClean="0"/>
              <a:t>2025-01-14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pic>
        <p:nvPicPr>
          <p:cNvPr id="9" name="Bild 8">
            <a:extLst>
              <a:ext uri="{FF2B5EF4-FFF2-40B4-BE49-F238E27FC236}">
                <a16:creationId xmlns:a16="http://schemas.microsoft.com/office/drawing/2014/main" id="{B9CCB106-B724-D4FC-9180-F2081684D467}"/>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3070710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secHead" preserve="1">
  <p:cSld name="Title/chapter,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E5884329-1698-379E-55B0-296699708BB2}"/>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08C894E9-0885-714C-A367-BDC2DC59BB91}" type="datetime1">
              <a:rPr lang="sv-SE" smtClean="0"/>
              <a:t>2025-01-14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pic>
        <p:nvPicPr>
          <p:cNvPr id="9" name="Bild 8">
            <a:extLst>
              <a:ext uri="{FF2B5EF4-FFF2-40B4-BE49-F238E27FC236}">
                <a16:creationId xmlns:a16="http://schemas.microsoft.com/office/drawing/2014/main" id="{E3DA9A33-1CAA-3164-6E44-47421CD08E0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650629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navy blue">
    <p:bg>
      <p:bgPr>
        <a:solidFill>
          <a:schemeClr val="accent3"/>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E926FF3D-704F-D246-9E92-4739AF4BF32C}" type="datetime1">
              <a:rPr lang="sv-SE" smtClean="0"/>
              <a:t>2025-01-14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pic>
        <p:nvPicPr>
          <p:cNvPr id="9" name="Bild 8">
            <a:extLst>
              <a:ext uri="{FF2B5EF4-FFF2-40B4-BE49-F238E27FC236}">
                <a16:creationId xmlns:a16="http://schemas.microsoft.com/office/drawing/2014/main" id="{EACB4A23-3C87-4C5A-07DC-8116B46C6C7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5929940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Headline and conten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2025-01-14</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78780645"/>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Headline and content, blue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795850"/>
            <a:ext cx="8805181"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E2AD36EE-D7EC-624A-BB6C-F8DADCB0E6B6}" type="datetime1">
              <a:rPr lang="sv-SE" smtClean="0"/>
              <a:t>2025-01-14</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027229708"/>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Headline and content, sand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CEEB1428-F34F-9743-B7C9-0212F6B23615}" type="datetime1">
              <a:rPr lang="sv-SE" smtClean="0"/>
              <a:t>2025-01-14</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10830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Headline and content, light blue ">
    <p:bg>
      <p:bgPr>
        <a:solidFill>
          <a:schemeClr val="accent4"/>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05182"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117AD585-73D1-4C4C-9D7C-030D27625895}" type="datetime1">
              <a:rPr lang="sv-SE" smtClean="0"/>
              <a:t>2025-01-14</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526984783"/>
      </p:ext>
    </p:extLst>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Headline and content, sand">
    <p:bg>
      <p:bgPr>
        <a:solidFill>
          <a:schemeClr val="bg2"/>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750754"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07E8514D-D455-9E46-BC18-4265F6A85EC5}" type="datetime1">
              <a:rPr lang="sv-SE" smtClean="0"/>
              <a:t>2025-01-14</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850852257"/>
      </p:ext>
    </p:extLst>
  </p:cSld>
  <p:clrMapOvr>
    <a:masterClrMapping/>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wo part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14959C9-2F76-B9B0-59E8-58FE65006E5D}"/>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902AE670-4D80-39DE-5AAA-236D68C5E4FE}"/>
              </a:ext>
            </a:extLst>
          </p:cNvPr>
          <p:cNvSpPr>
            <a:spLocks noGrp="1"/>
          </p:cNvSpPr>
          <p:nvPr>
            <p:ph sz="half" idx="1"/>
          </p:nvPr>
        </p:nvSpPr>
        <p:spPr>
          <a:xfrm>
            <a:off x="600075" y="1795850"/>
            <a:ext cx="5314950" cy="453192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innehåll 3">
            <a:extLst>
              <a:ext uri="{FF2B5EF4-FFF2-40B4-BE49-F238E27FC236}">
                <a16:creationId xmlns:a16="http://schemas.microsoft.com/office/drawing/2014/main" id="{540C6723-9D57-3BE7-0314-142789CF9371}"/>
              </a:ext>
            </a:extLst>
          </p:cNvPr>
          <p:cNvSpPr>
            <a:spLocks noGrp="1"/>
          </p:cNvSpPr>
          <p:nvPr>
            <p:ph sz="half" idx="2"/>
          </p:nvPr>
        </p:nvSpPr>
        <p:spPr>
          <a:xfrm>
            <a:off x="6275388" y="1795851"/>
            <a:ext cx="5314950" cy="453192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datum 4">
            <a:extLst>
              <a:ext uri="{FF2B5EF4-FFF2-40B4-BE49-F238E27FC236}">
                <a16:creationId xmlns:a16="http://schemas.microsoft.com/office/drawing/2014/main" id="{E2533F65-F144-E57C-127B-9A8D7ABE671A}"/>
              </a:ext>
            </a:extLst>
          </p:cNvPr>
          <p:cNvSpPr>
            <a:spLocks noGrp="1"/>
          </p:cNvSpPr>
          <p:nvPr>
            <p:ph type="dt" sz="half" idx="10"/>
          </p:nvPr>
        </p:nvSpPr>
        <p:spPr/>
        <p:txBody>
          <a:bodyPr/>
          <a:lstStyle/>
          <a:p>
            <a:fld id="{A67A58AE-A0B6-FF4E-B30B-64917FEAC316}" type="datetime1">
              <a:rPr lang="sv-SE" smtClean="0"/>
              <a:t>2025-01-14</a:t>
            </a:fld>
            <a:endParaRPr lang="sv-SE"/>
          </a:p>
        </p:txBody>
      </p:sp>
      <p:sp>
        <p:nvSpPr>
          <p:cNvPr id="6" name="Platshållare för sidfot 5">
            <a:extLst>
              <a:ext uri="{FF2B5EF4-FFF2-40B4-BE49-F238E27FC236}">
                <a16:creationId xmlns:a16="http://schemas.microsoft.com/office/drawing/2014/main" id="{F6C0DB15-F374-5A00-4880-4AA76C675F94}"/>
              </a:ext>
            </a:extLst>
          </p:cNvPr>
          <p:cNvSpPr>
            <a:spLocks noGrp="1"/>
          </p:cNvSpPr>
          <p:nvPr>
            <p:ph type="ftr" sz="quarter" idx="11"/>
          </p:nvPr>
        </p:nvSpPr>
        <p:spPr/>
        <p:txBody>
          <a:bodyPr/>
          <a:lstStyle/>
          <a:p>
            <a:r>
              <a:rPr lang="sv-SE"/>
              <a:t>Presentation footer</a:t>
            </a:r>
          </a:p>
        </p:txBody>
      </p:sp>
      <p:sp>
        <p:nvSpPr>
          <p:cNvPr id="7" name="Platshållare för bildnummer 6">
            <a:extLst>
              <a:ext uri="{FF2B5EF4-FFF2-40B4-BE49-F238E27FC236}">
                <a16:creationId xmlns:a16="http://schemas.microsoft.com/office/drawing/2014/main" id="{12539EF3-2889-FC04-31FC-8AF48EAFC002}"/>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5487051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parts, subheader">
    <p:spTree>
      <p:nvGrpSpPr>
        <p:cNvPr id="1" name=""/>
        <p:cNvGrpSpPr/>
        <p:nvPr/>
      </p:nvGrpSpPr>
      <p:grpSpPr>
        <a:xfrm>
          <a:off x="0" y="0"/>
          <a:ext cx="0" cy="0"/>
          <a:chOff x="0" y="0"/>
          <a:chExt cx="0" cy="0"/>
        </a:xfrm>
      </p:grpSpPr>
      <p:sp>
        <p:nvSpPr>
          <p:cNvPr id="10" name="Rubrik 9">
            <a:extLst>
              <a:ext uri="{FF2B5EF4-FFF2-40B4-BE49-F238E27FC236}">
                <a16:creationId xmlns:a16="http://schemas.microsoft.com/office/drawing/2014/main" id="{C63C1EB8-E569-DA98-4D95-5FC12FB4C459}"/>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8DE1978A-D59D-BEB3-3574-B37CA68E4323}"/>
              </a:ext>
            </a:extLst>
          </p:cNvPr>
          <p:cNvSpPr>
            <a:spLocks noGrp="1"/>
          </p:cNvSpPr>
          <p:nvPr>
            <p:ph type="body" idx="1"/>
          </p:nvPr>
        </p:nvSpPr>
        <p:spPr>
          <a:xfrm>
            <a:off x="600075"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Platshållare för innehåll 3">
            <a:extLst>
              <a:ext uri="{FF2B5EF4-FFF2-40B4-BE49-F238E27FC236}">
                <a16:creationId xmlns:a16="http://schemas.microsoft.com/office/drawing/2014/main" id="{3FDE66B4-4491-C676-4004-9327D92F0111}"/>
              </a:ext>
            </a:extLst>
          </p:cNvPr>
          <p:cNvSpPr>
            <a:spLocks noGrp="1"/>
          </p:cNvSpPr>
          <p:nvPr>
            <p:ph sz="half" idx="2"/>
          </p:nvPr>
        </p:nvSpPr>
        <p:spPr>
          <a:xfrm>
            <a:off x="600075" y="2179165"/>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text 4">
            <a:extLst>
              <a:ext uri="{FF2B5EF4-FFF2-40B4-BE49-F238E27FC236}">
                <a16:creationId xmlns:a16="http://schemas.microsoft.com/office/drawing/2014/main" id="{F55884CC-21E7-90D7-61AB-0459599D097A}"/>
              </a:ext>
            </a:extLst>
          </p:cNvPr>
          <p:cNvSpPr>
            <a:spLocks noGrp="1"/>
          </p:cNvSpPr>
          <p:nvPr>
            <p:ph type="body" sz="quarter" idx="3"/>
          </p:nvPr>
        </p:nvSpPr>
        <p:spPr>
          <a:xfrm>
            <a:off x="6275388"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Platshållare för innehåll 5">
            <a:extLst>
              <a:ext uri="{FF2B5EF4-FFF2-40B4-BE49-F238E27FC236}">
                <a16:creationId xmlns:a16="http://schemas.microsoft.com/office/drawing/2014/main" id="{C9A9E6FC-CBB8-1BD8-F388-D4BAEC7E1F13}"/>
              </a:ext>
            </a:extLst>
          </p:cNvPr>
          <p:cNvSpPr>
            <a:spLocks noGrp="1"/>
          </p:cNvSpPr>
          <p:nvPr>
            <p:ph sz="quarter" idx="4"/>
          </p:nvPr>
        </p:nvSpPr>
        <p:spPr>
          <a:xfrm>
            <a:off x="6275388" y="2179163"/>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datum 6">
            <a:extLst>
              <a:ext uri="{FF2B5EF4-FFF2-40B4-BE49-F238E27FC236}">
                <a16:creationId xmlns:a16="http://schemas.microsoft.com/office/drawing/2014/main" id="{CAFDD56A-1297-3792-8143-D555882FE2CA}"/>
              </a:ext>
            </a:extLst>
          </p:cNvPr>
          <p:cNvSpPr>
            <a:spLocks noGrp="1"/>
          </p:cNvSpPr>
          <p:nvPr>
            <p:ph type="dt" sz="half" idx="10"/>
          </p:nvPr>
        </p:nvSpPr>
        <p:spPr/>
        <p:txBody>
          <a:bodyPr/>
          <a:lstStyle/>
          <a:p>
            <a:fld id="{3626A2DA-BD88-784C-A132-57FFB928491A}" type="datetime1">
              <a:rPr lang="sv-SE" smtClean="0"/>
              <a:t>2025-01-14</a:t>
            </a:fld>
            <a:endParaRPr lang="sv-SE"/>
          </a:p>
        </p:txBody>
      </p:sp>
      <p:sp>
        <p:nvSpPr>
          <p:cNvPr id="8" name="Platshållare för sidfot 7">
            <a:extLst>
              <a:ext uri="{FF2B5EF4-FFF2-40B4-BE49-F238E27FC236}">
                <a16:creationId xmlns:a16="http://schemas.microsoft.com/office/drawing/2014/main" id="{A57BD6EF-A167-CE86-7A77-2162641605FD}"/>
              </a:ext>
            </a:extLst>
          </p:cNvPr>
          <p:cNvSpPr>
            <a:spLocks noGrp="1"/>
          </p:cNvSpPr>
          <p:nvPr>
            <p:ph type="ftr" sz="quarter" idx="11"/>
          </p:nvPr>
        </p:nvSpPr>
        <p:spPr/>
        <p:txBody>
          <a:bodyPr/>
          <a:lstStyle/>
          <a:p>
            <a:r>
              <a:rPr lang="sv-SE"/>
              <a:t>Presentation footer</a:t>
            </a:r>
          </a:p>
        </p:txBody>
      </p:sp>
      <p:sp>
        <p:nvSpPr>
          <p:cNvPr id="9" name="Platshållare för bildnummer 8">
            <a:extLst>
              <a:ext uri="{FF2B5EF4-FFF2-40B4-BE49-F238E27FC236}">
                <a16:creationId xmlns:a16="http://schemas.microsoft.com/office/drawing/2014/main" id="{CDB4B22B-EE55-F7F6-4734-928F7B66EC5D}"/>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197619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7" name="Rubrik 6">
            <a:extLst>
              <a:ext uri="{FF2B5EF4-FFF2-40B4-BE49-F238E27FC236}">
                <a16:creationId xmlns:a16="http://schemas.microsoft.com/office/drawing/2014/main" id="{9B9D78B8-14EA-7C8B-0F6E-5FC0A61A7676}"/>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6" name="Platshållare för innehåll 2">
            <a:extLst>
              <a:ext uri="{FF2B5EF4-FFF2-40B4-BE49-F238E27FC236}">
                <a16:creationId xmlns:a16="http://schemas.microsoft.com/office/drawing/2014/main" id="{C8E71948-DDFC-93D6-07D4-FA5E9923A9C4}"/>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2">
            <a:extLst>
              <a:ext uri="{FF2B5EF4-FFF2-40B4-BE49-F238E27FC236}">
                <a16:creationId xmlns:a16="http://schemas.microsoft.com/office/drawing/2014/main" id="{A51C4AA9-7CC2-70C9-89B3-A18AC9ECAA3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AC15C714-122B-4048-9D2D-1F5A3BEA504A}" type="datetime1">
              <a:rPr lang="sv-SE" smtClean="0"/>
              <a:t>2025-01-14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6226858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light blue">
    <p:bg>
      <p:bgPr>
        <a:solidFill>
          <a:schemeClr val="accent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E53B21-3BB0-7776-1C8F-14570934732F}"/>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0" name="Rubrik 1">
            <a:extLst>
              <a:ext uri="{FF2B5EF4-FFF2-40B4-BE49-F238E27FC236}">
                <a16:creationId xmlns:a16="http://schemas.microsoft.com/office/drawing/2014/main" id="{70BAD773-C5A8-1DD6-DAEF-296346C1E1B4}"/>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8" name="Platshållare för innehåll 1">
            <a:extLst>
              <a:ext uri="{FF2B5EF4-FFF2-40B4-BE49-F238E27FC236}">
                <a16:creationId xmlns:a16="http://schemas.microsoft.com/office/drawing/2014/main" id="{9E21FC13-6345-3248-A947-DE8A8903EE8D}"/>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11" name="Rubrik 2">
            <a:extLst>
              <a:ext uri="{FF2B5EF4-FFF2-40B4-BE49-F238E27FC236}">
                <a16:creationId xmlns:a16="http://schemas.microsoft.com/office/drawing/2014/main" id="{45E054D9-4635-C7AD-5248-012C9290BBA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9" name="Platshållare för innehåll 2">
            <a:extLst>
              <a:ext uri="{FF2B5EF4-FFF2-40B4-BE49-F238E27FC236}">
                <a16:creationId xmlns:a16="http://schemas.microsoft.com/office/drawing/2014/main" id="{08973148-6FE0-2E5B-CDAC-B5A8EFA5DCA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EE5E874D-60F8-8B45-B36B-3029A6FA7FCB}" type="datetime1">
              <a:rPr lang="sv-SE" smtClean="0"/>
              <a:t>2025-01-14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1794251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mparison, sand">
    <p:bg>
      <p:bgPr>
        <a:solidFill>
          <a:schemeClr val="bg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D98A3471-E78E-5A25-CDCD-A70A1BA88DD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A2A70668-AB85-7E63-22C0-B9431D72BC07}"/>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65773533-9418-9BC8-07BE-DE1982D8EE15}"/>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592051F6-14B7-8364-56E9-FC036767257B}"/>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F2B79C1-A27F-5DA9-D1F0-FC96C9A68BC7}"/>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7FE3A002-8AA0-194E-81B1-1ADE5B52840E}" type="datetime1">
              <a:rPr lang="sv-SE" smtClean="0"/>
              <a:t>2025-01-14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6169482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mparison, KTH blue">
    <p:bg>
      <p:bgPr>
        <a:solidFill>
          <a:schemeClr val="accent1"/>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83C6AD54-EED3-3960-39F1-6C44C49ED29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3B85E6DD-F8DF-4BBD-E46A-52EC6D703C63}"/>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DD1CE06C-E8A4-9360-B155-3B7D11D411E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CC32D746-BC2A-D4E0-4FDE-8026A3339744}"/>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0B6CAC2E-851A-9B60-91F5-AEEA25AB753E}"/>
              </a:ext>
            </a:extLst>
          </p:cNvPr>
          <p:cNvSpPr>
            <a:spLocks noGrp="1"/>
          </p:cNvSpPr>
          <p:nvPr>
            <p:ph sz="half" idx="13"/>
          </p:nvPr>
        </p:nvSpPr>
        <p:spPr>
          <a:xfrm>
            <a:off x="6661947" y="2281473"/>
            <a:ext cx="4928391" cy="4046300"/>
          </a:xfrm>
        </p:spPr>
        <p:txBody>
          <a:bodyPr/>
          <a:lstStyle>
            <a:lvl1pPr>
              <a:buClr>
                <a:schemeClr val="accent2"/>
              </a:buClr>
              <a:defRPr>
                <a:solidFill>
                  <a:schemeClr val="bg1"/>
                </a:solidFill>
              </a:defRPr>
            </a:lvl1pPr>
            <a:lvl2pPr>
              <a:buClr>
                <a:schemeClr val="accent2"/>
              </a:buClr>
              <a:defRPr>
                <a:solidFill>
                  <a:schemeClr val="bg1"/>
                </a:solidFill>
              </a:defRPr>
            </a:lvl2pPr>
            <a:lvl3pPr>
              <a:buClr>
                <a:schemeClr val="accent2"/>
              </a:buClr>
              <a:defRPr>
                <a:solidFill>
                  <a:schemeClr val="bg1"/>
                </a:solidFill>
              </a:defRPr>
            </a:lvl3pPr>
            <a:lvl4pPr>
              <a:buClr>
                <a:schemeClr val="accent2"/>
              </a:buClr>
              <a:defRPr>
                <a:solidFill>
                  <a:schemeClr val="bg1"/>
                </a:solidFill>
              </a:defRPr>
            </a:lvl4pPr>
            <a:lvl5pPr>
              <a:buClr>
                <a:schemeClr val="accent2"/>
              </a:buCl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B003E109-5503-A446-83DE-4F0349794E27}" type="datetime1">
              <a:rPr lang="sv-SE" smtClean="0"/>
              <a:t>2025-01-14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3715672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mparison, navy blue">
    <p:bg>
      <p:bgPr>
        <a:solidFill>
          <a:schemeClr val="tx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4BFF3707-BCF8-3B40-4A6E-BB485A3058D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7E30C4E1-FD13-FB51-43E8-4F36CF652781}"/>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E649F8F8-B8DB-7C5C-A600-75F519BA5D5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D24132AE-47F1-716B-6975-B6DE84BD7143}"/>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C2860E0A-4616-275E-6EEB-5B0EBBD9F7E3}"/>
              </a:ext>
            </a:extLst>
          </p:cNvPr>
          <p:cNvSpPr>
            <a:spLocks noGrp="1"/>
          </p:cNvSpPr>
          <p:nvPr>
            <p:ph sz="half" idx="13"/>
          </p:nvPr>
        </p:nvSpPr>
        <p:spPr>
          <a:xfrm>
            <a:off x="6661947" y="2281473"/>
            <a:ext cx="4928391" cy="40463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1F9706F9-3770-3C47-9C0E-E405B1F87DBD}" type="datetime1">
              <a:rPr lang="sv-SE" smtClean="0"/>
              <a:t>2025-01-14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3430972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mparison, green">
    <p:bg>
      <p:bgPr>
        <a:solidFill>
          <a:srgbClr val="C7EBBA"/>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498978-27A1-BC36-D1C0-F12E64FC5C0E}"/>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58CDF499-9790-E8A2-3B44-8DDFA267A94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86430320-1A4F-412F-300A-456151767E30}"/>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B510906-94F4-6B14-FDC7-76CDBAF81A1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334025BC-079F-EA86-F798-CAD6618E645E}"/>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8E503FC7-D8F6-4243-8CCB-9A739180F56A}" type="datetime1">
              <a:rPr lang="sv-SE" smtClean="0"/>
              <a:t>2025-01-14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12125025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mparison, teal">
    <p:bg>
      <p:bgPr>
        <a:solidFill>
          <a:srgbClr val="B2E0E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925A3E22-BA62-7F69-450C-20B52F594B7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E1E07B9C-02BD-AC56-ABC5-455CEBB24AC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22D67319-CD30-B99B-C636-4905BD0CE9D9}"/>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FE151B58-3B63-330E-7BE5-9A36F8D82000}"/>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1BA7EFEF-D6C1-C9F7-8504-107188FC0566}"/>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9719EDF7-C24A-7E4C-9EBB-98C778ECC35A}" type="datetime1">
              <a:rPr lang="sv-SE" smtClean="0"/>
              <a:t>2025-01-14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9062174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mparison, red">
    <p:bg>
      <p:bgPr>
        <a:solidFill>
          <a:srgbClr val="FFCCC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0A12FA56-217E-78A9-0201-C28109AB8E9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214F56B9-DEF6-409D-736C-E96172170452}"/>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C0ECC4A3-C076-B625-7E77-9DE3F047B9BB}"/>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0A9AF8D0-B58B-0439-D162-96136F7DA0C7}"/>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C163C54-5959-5606-C36B-9E364C931E73}"/>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DB96772-CADE-B345-804B-3DF93A11AE0A}" type="datetime1">
              <a:rPr lang="sv-SE" smtClean="0"/>
              <a:t>2025-01-14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4178440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mparison, yellow">
    <p:bg>
      <p:bgPr>
        <a:solidFill>
          <a:srgbClr val="FFF0B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A5D08FD5-CEDA-760E-6063-D0EA59B0D67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F9485CCE-1723-48F8-36F7-B271C8911C85}"/>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020AD7BA-30E7-614D-F529-872AA9BB7A1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76FF026-F97C-9444-5B6A-C4AF50690ADD}"/>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93803107-D46C-D12D-AAD7-E84641384E1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69F8B43-28B6-0949-93DC-6B291391CFD4}" type="datetime1">
              <a:rPr lang="sv-SE" smtClean="0"/>
              <a:t>2025-01-14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65025926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Headline and 1 image">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4" y="1919288"/>
            <a:ext cx="10990263"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450A6BD-1EFB-BD42-9DC0-F0A6BEB4C27D}" type="datetime1">
              <a:rPr lang="sv-SE" smtClean="0"/>
              <a:t>2025-01-14</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5666912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Headline and 2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ADBDFCF2-2839-8D4F-B5E5-9B488CE2E4EE}" type="datetime1">
              <a:rPr lang="sv-SE" smtClean="0"/>
              <a:t>2025-01-14</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0698180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Headline and 2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text 2">
            <a:extLst>
              <a:ext uri="{FF2B5EF4-FFF2-40B4-BE49-F238E27FC236}">
                <a16:creationId xmlns:a16="http://schemas.microsoft.com/office/drawing/2014/main" id="{BC674729-23CB-CE55-418D-9B4DA58EC148}"/>
              </a:ext>
            </a:extLst>
          </p:cNvPr>
          <p:cNvSpPr>
            <a:spLocks noGrp="1"/>
          </p:cNvSpPr>
          <p:nvPr>
            <p:ph type="body" sz="quarter" idx="16"/>
          </p:nvPr>
        </p:nvSpPr>
        <p:spPr>
          <a:xfrm>
            <a:off x="600075"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3">
            <a:extLst>
              <a:ext uri="{FF2B5EF4-FFF2-40B4-BE49-F238E27FC236}">
                <a16:creationId xmlns:a16="http://schemas.microsoft.com/office/drawing/2014/main" id="{4E2E81CD-B9BA-4D4B-D687-9453DEF10687}"/>
              </a:ext>
            </a:extLst>
          </p:cNvPr>
          <p:cNvSpPr>
            <a:spLocks noGrp="1"/>
          </p:cNvSpPr>
          <p:nvPr>
            <p:ph type="body" sz="quarter" idx="17"/>
          </p:nvPr>
        </p:nvSpPr>
        <p:spPr>
          <a:xfrm>
            <a:off x="6275388"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47A9746E-62D8-944D-99B0-D98695592DCF}" type="datetime1">
              <a:rPr lang="sv-SE" smtClean="0"/>
              <a:t>2025-01-14</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4697270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Headline and 3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EC42A3C6-0141-7544-8502-44E44E5AD51F}" type="datetime1">
              <a:rPr lang="sv-SE" smtClean="0"/>
              <a:t>2025-01-14</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219712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Headline and 3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E8F9620A-7B37-2787-0C61-0CB4A6519E3C}"/>
              </a:ext>
            </a:extLst>
          </p:cNvPr>
          <p:cNvSpPr>
            <a:spLocks noGrp="1"/>
          </p:cNvSpPr>
          <p:nvPr>
            <p:ph type="body" sz="quarter" idx="16"/>
          </p:nvPr>
        </p:nvSpPr>
        <p:spPr>
          <a:xfrm>
            <a:off x="600075"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1" name="Platshållare för text 3">
            <a:extLst>
              <a:ext uri="{FF2B5EF4-FFF2-40B4-BE49-F238E27FC236}">
                <a16:creationId xmlns:a16="http://schemas.microsoft.com/office/drawing/2014/main" id="{81E59C72-4325-9697-1B8F-6876044359F2}"/>
              </a:ext>
            </a:extLst>
          </p:cNvPr>
          <p:cNvSpPr>
            <a:spLocks noGrp="1"/>
          </p:cNvSpPr>
          <p:nvPr>
            <p:ph type="body" sz="quarter" idx="17"/>
          </p:nvPr>
        </p:nvSpPr>
        <p:spPr>
          <a:xfrm>
            <a:off x="4383881"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2" name="Platshållare för text 4">
            <a:extLst>
              <a:ext uri="{FF2B5EF4-FFF2-40B4-BE49-F238E27FC236}">
                <a16:creationId xmlns:a16="http://schemas.microsoft.com/office/drawing/2014/main" id="{04B71E10-09CE-4F1F-5969-3DD959F0102C}"/>
              </a:ext>
            </a:extLst>
          </p:cNvPr>
          <p:cNvSpPr>
            <a:spLocks noGrp="1"/>
          </p:cNvSpPr>
          <p:nvPr>
            <p:ph type="body" sz="quarter" idx="18"/>
          </p:nvPr>
        </p:nvSpPr>
        <p:spPr>
          <a:xfrm>
            <a:off x="8167687"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5A8E03F6-2D99-9C4F-8DF5-D169CFDD1A0C}" type="datetime1">
              <a:rPr lang="sv-SE" smtClean="0"/>
              <a:t>2025-01-14</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7029571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Headline and 4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8AF63115-71BE-3E46-BB5A-A4600F1506C7}" type="datetime1">
              <a:rPr lang="sv-SE" smtClean="0"/>
              <a:t>2025-01-14</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3571204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Headline and 4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D90C2B5D-CFFA-002C-8403-A5BA4FD6C513}"/>
              </a:ext>
            </a:extLst>
          </p:cNvPr>
          <p:cNvSpPr>
            <a:spLocks noGrp="1"/>
          </p:cNvSpPr>
          <p:nvPr>
            <p:ph type="body" sz="quarter" idx="17"/>
          </p:nvPr>
        </p:nvSpPr>
        <p:spPr>
          <a:xfrm>
            <a:off x="600075"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Platshållare för text 3">
            <a:extLst>
              <a:ext uri="{FF2B5EF4-FFF2-40B4-BE49-F238E27FC236}">
                <a16:creationId xmlns:a16="http://schemas.microsoft.com/office/drawing/2014/main" id="{F4E32133-1B05-00E9-FC72-16105F20E5D8}"/>
              </a:ext>
            </a:extLst>
          </p:cNvPr>
          <p:cNvSpPr>
            <a:spLocks noGrp="1"/>
          </p:cNvSpPr>
          <p:nvPr>
            <p:ph type="body" sz="quarter" idx="18"/>
          </p:nvPr>
        </p:nvSpPr>
        <p:spPr>
          <a:xfrm>
            <a:off x="3446727"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5" name="Platshållare för text 4">
            <a:extLst>
              <a:ext uri="{FF2B5EF4-FFF2-40B4-BE49-F238E27FC236}">
                <a16:creationId xmlns:a16="http://schemas.microsoft.com/office/drawing/2014/main" id="{9FBEA034-4378-57AD-9BAA-D23952A616CE}"/>
              </a:ext>
            </a:extLst>
          </p:cNvPr>
          <p:cNvSpPr>
            <a:spLocks noGrp="1"/>
          </p:cNvSpPr>
          <p:nvPr>
            <p:ph type="body" sz="quarter" idx="19"/>
          </p:nvPr>
        </p:nvSpPr>
        <p:spPr>
          <a:xfrm>
            <a:off x="6293379"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6" name="Platshållare för text 5">
            <a:extLst>
              <a:ext uri="{FF2B5EF4-FFF2-40B4-BE49-F238E27FC236}">
                <a16:creationId xmlns:a16="http://schemas.microsoft.com/office/drawing/2014/main" id="{06D592E5-8C13-50D1-1CCC-8F6917A28780}"/>
              </a:ext>
            </a:extLst>
          </p:cNvPr>
          <p:cNvSpPr>
            <a:spLocks noGrp="1"/>
          </p:cNvSpPr>
          <p:nvPr>
            <p:ph type="body" sz="quarter" idx="20"/>
          </p:nvPr>
        </p:nvSpPr>
        <p:spPr>
          <a:xfrm>
            <a:off x="9140030"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09FED66-59CE-6445-BA05-B37954B8CE47}" type="datetime1">
              <a:rPr lang="sv-SE" smtClean="0"/>
              <a:t>2025-01-14</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4838669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8C332B6B-9A86-944B-B689-8453757791DF}" type="datetime1">
              <a:rPr lang="sv-SE" smtClean="0"/>
              <a:t>2025-01-14</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spTree>
    <p:extLst>
      <p:ext uri="{BB962C8B-B14F-4D97-AF65-F5344CB8AC3E}">
        <p14:creationId xmlns:p14="http://schemas.microsoft.com/office/powerpoint/2010/main" val="40127707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Headline only, light blue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957E16A-1246-F744-BDA8-D5896FB385F8}" type="datetime1">
              <a:rPr lang="sv-SE" smtClean="0"/>
              <a:t>2025-01-14</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2CD49F62-B17F-4256-87E8-B48CEC1AECF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4285149322"/>
      </p:ext>
    </p:extLst>
  </p:cSld>
  <p:clrMapOvr>
    <a:masterClrMapping/>
  </p:clrMapOvr>
  <p:timing>
    <p:tnLst>
      <p:par>
        <p:cTn id="1" dur="indefinite" restart="never" nodeType="tmRoot"/>
      </p:par>
    </p:tnLst>
  </p:timing>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Headline only, sand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68888E78-A3E8-2E47-A37C-B0DACC4AC38C}" type="datetime1">
              <a:rPr lang="sv-SE" smtClean="0"/>
              <a:t>2025-01-14</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70BC9548-E26C-77A2-1994-5B2D723366A9}"/>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567527219"/>
      </p:ext>
    </p:extLst>
  </p:cSld>
  <p:clrMapOvr>
    <a:masterClrMapping/>
  </p:clrMapOvr>
  <p:timing>
    <p:tnLst>
      <p:par>
        <p:cTn id="1" dur="indefinite" restart="never" nodeType="tmRoot"/>
      </p:par>
    </p:tnLst>
  </p:timing>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Headline only,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AC1801B8-2ABD-E645-B0F3-2F4D3FFFF5AE}" type="datetime1">
              <a:rPr lang="sv-SE" smtClean="0"/>
              <a:t>2025-01-14</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C21FC7DD-9D09-44CA-0597-9DEB74E2004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3776879057"/>
      </p:ext>
    </p:extLst>
  </p:cSld>
  <p:clrMapOvr>
    <a:masterClrMapping/>
  </p:clrMapOvr>
  <p:timing>
    <p:tnLst>
      <p:par>
        <p:cTn id="1" dur="indefinite" restart="never" nodeType="tmRoot"/>
      </p:par>
    </p:tnLst>
  </p:timing>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Headline only,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64FA935-6078-184F-946C-D8B2130A7BC4}" type="datetime1">
              <a:rPr lang="sv-SE" smtClean="0"/>
              <a:t>2025-01-14</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B0E08DE0-7713-2F89-9CAE-718563F453A7}"/>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2293152745"/>
      </p:ext>
    </p:extLst>
  </p:cSld>
  <p:clrMapOvr>
    <a:masterClrMapping/>
  </p:clrMapOvr>
  <p:timing>
    <p:tnLst>
      <p:par>
        <p:cTn id="1" dur="indefinite" restart="never" nodeType="tmRoot"/>
      </p:par>
    </p:tnLst>
  </p:timing>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CB35DBFB-5CDF-E32D-0562-6D92213809A1}"/>
              </a:ext>
            </a:extLst>
          </p:cNvPr>
          <p:cNvSpPr>
            <a:spLocks noGrp="1"/>
          </p:cNvSpPr>
          <p:nvPr>
            <p:ph type="dt" sz="half" idx="10"/>
          </p:nvPr>
        </p:nvSpPr>
        <p:spPr/>
        <p:txBody>
          <a:bodyPr/>
          <a:lstStyle/>
          <a:p>
            <a:fld id="{878DDE6C-6786-8C48-9317-AF0776715ACF}" type="datetime1">
              <a:rPr lang="sv-SE" smtClean="0"/>
              <a:t>2025-01-14</a:t>
            </a:fld>
            <a:endParaRPr lang="sv-SE"/>
          </a:p>
        </p:txBody>
      </p:sp>
      <p:sp>
        <p:nvSpPr>
          <p:cNvPr id="3" name="Platshållare för sidfot 2">
            <a:extLst>
              <a:ext uri="{FF2B5EF4-FFF2-40B4-BE49-F238E27FC236}">
                <a16:creationId xmlns:a16="http://schemas.microsoft.com/office/drawing/2014/main" id="{9757DD51-31A9-0B97-878B-DC725BEF456D}"/>
              </a:ext>
            </a:extLst>
          </p:cNvPr>
          <p:cNvSpPr>
            <a:spLocks noGrp="1"/>
          </p:cNvSpPr>
          <p:nvPr>
            <p:ph type="ftr" sz="quarter" idx="11"/>
          </p:nvPr>
        </p:nvSpPr>
        <p:spPr/>
        <p:txBody>
          <a:bodyPr/>
          <a:lstStyle/>
          <a:p>
            <a:r>
              <a:rPr lang="sv-SE"/>
              <a:t>Presentation footer</a:t>
            </a:r>
          </a:p>
        </p:txBody>
      </p:sp>
      <p:sp>
        <p:nvSpPr>
          <p:cNvPr id="4" name="Platshållare för bildnummer 3">
            <a:extLst>
              <a:ext uri="{FF2B5EF4-FFF2-40B4-BE49-F238E27FC236}">
                <a16:creationId xmlns:a16="http://schemas.microsoft.com/office/drawing/2014/main" id="{49810C51-F518-224E-FB91-8421FD7D6879}"/>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1349400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Headline and content,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366838"/>
            <a:ext cx="10990263" cy="495931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2025-01-14</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6058086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Headline only,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2025-01-14</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2833364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Logo">
    <p:bg>
      <p:bgPr>
        <a:solidFill>
          <a:schemeClr val="accent1"/>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A3328FD-6257-AC43-9CE4-2903A4D2BB9D}" type="datetime1">
              <a:rPr lang="sv-SE" smtClean="0"/>
              <a:t>2025-01-14</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B31C6E16-A8C5-A850-CB5B-D4A530D7DE27}"/>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4EDED1D2-CC81-27E6-259D-AC4805594BE1}"/>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23260593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Logo, navy blue">
    <p:bg>
      <p:bgPr>
        <a:solidFill>
          <a:schemeClr val="tx2"/>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2BABC24-2A82-014C-9256-A51302708EE4}" type="datetime1">
              <a:rPr lang="sv-SE" smtClean="0"/>
              <a:t>2025-01-14</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0D27DED8-EA09-1EA2-8C8D-DCB1C9F0377C}"/>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004E1202-DA06-9B02-2B87-6713C953C357}"/>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415031168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How to use template">
    <p:spTree>
      <p:nvGrpSpPr>
        <p:cNvPr id="1" name=""/>
        <p:cNvGrpSpPr/>
        <p:nvPr/>
      </p:nvGrpSpPr>
      <p:grpSpPr>
        <a:xfrm>
          <a:off x="0" y="0"/>
          <a:ext cx="0" cy="0"/>
          <a:chOff x="0" y="0"/>
          <a:chExt cx="0" cy="0"/>
        </a:xfrm>
      </p:grpSpPr>
      <p:grpSp>
        <p:nvGrpSpPr>
          <p:cNvPr id="16" name="Grupp 15">
            <a:extLst>
              <a:ext uri="{FF2B5EF4-FFF2-40B4-BE49-F238E27FC236}">
                <a16:creationId xmlns:a16="http://schemas.microsoft.com/office/drawing/2014/main" id="{CE19B76B-69BE-2CE8-2691-D7F57CA2A986}"/>
              </a:ext>
            </a:extLst>
          </p:cNvPr>
          <p:cNvGrpSpPr>
            <a:grpSpLocks noChangeAspect="1"/>
          </p:cNvGrpSpPr>
          <p:nvPr userDrawn="1"/>
        </p:nvGrpSpPr>
        <p:grpSpPr>
          <a:xfrm>
            <a:off x="2347236" y="2028884"/>
            <a:ext cx="1806522" cy="3150398"/>
            <a:chOff x="3971925" y="-1798194"/>
            <a:chExt cx="6248400" cy="10896600"/>
          </a:xfrm>
        </p:grpSpPr>
        <p:pic>
          <p:nvPicPr>
            <p:cNvPr id="13" name="Bildobjekt 12" descr="En bild som visar text, skärmbild, programvara, diagram&#10;&#10;Automatiskt genererad beskrivning">
              <a:extLst>
                <a:ext uri="{FF2B5EF4-FFF2-40B4-BE49-F238E27FC236}">
                  <a16:creationId xmlns:a16="http://schemas.microsoft.com/office/drawing/2014/main" id="{77182B8F-9D5B-E130-993A-698BFACD821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71925" y="3650106"/>
              <a:ext cx="6248400" cy="5448300"/>
            </a:xfrm>
            <a:prstGeom prst="rect">
              <a:avLst/>
            </a:prstGeom>
          </p:spPr>
        </p:pic>
        <p:pic>
          <p:nvPicPr>
            <p:cNvPr id="15" name="Bildobjekt 14" descr="En bild som visar text, skärmbild, programvara, Datorikon&#10;&#10;Automatiskt genererad beskrivning">
              <a:extLst>
                <a:ext uri="{FF2B5EF4-FFF2-40B4-BE49-F238E27FC236}">
                  <a16:creationId xmlns:a16="http://schemas.microsoft.com/office/drawing/2014/main" id="{7DA50AB1-F7A2-EBC7-FB82-E0BBB147318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3971925" y="-1798194"/>
              <a:ext cx="6248400" cy="5448300"/>
            </a:xfrm>
            <a:prstGeom prst="rect">
              <a:avLst/>
            </a:prstGeom>
          </p:spPr>
        </p:pic>
      </p:grpSp>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77AA192B-9140-F746-B429-ACF197DC5439}" type="datetime1">
              <a:rPr lang="sv-SE" smtClean="0"/>
              <a:t>2025-01-14</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46036"/>
            <a:ext cx="10991850" cy="796252"/>
          </a:xfrm>
          <a:prstGeom prst="rect">
            <a:avLst/>
          </a:prstGeom>
          <a:noFill/>
        </p:spPr>
        <p:txBody>
          <a:bodyPr wrap="square" anchor="t">
            <a:noAutofit/>
          </a:bodyPr>
          <a:lstStyle/>
          <a:p>
            <a:r>
              <a:rPr lang="en-US" sz="3600" b="1" noProof="0" dirty="0">
                <a:solidFill>
                  <a:schemeClr val="tx2"/>
                </a:solidFill>
                <a:latin typeface="+mj-lt"/>
              </a:rPr>
              <a:t>How to use this template</a:t>
            </a:r>
          </a:p>
        </p:txBody>
      </p:sp>
      <p:sp>
        <p:nvSpPr>
          <p:cNvPr id="6" name="textruta 5">
            <a:extLst>
              <a:ext uri="{FF2B5EF4-FFF2-40B4-BE49-F238E27FC236}">
                <a16:creationId xmlns:a16="http://schemas.microsoft.com/office/drawing/2014/main" id="{A169F84A-F3A8-EFE5-7C9A-F2537DED6605}"/>
              </a:ext>
            </a:extLst>
          </p:cNvPr>
          <p:cNvSpPr txBox="1"/>
          <p:nvPr userDrawn="1"/>
        </p:nvSpPr>
        <p:spPr>
          <a:xfrm>
            <a:off x="716536" y="2472816"/>
            <a:ext cx="1469735" cy="723275"/>
          </a:xfrm>
          <a:prstGeom prst="rect">
            <a:avLst/>
          </a:prstGeom>
          <a:noFill/>
        </p:spPr>
        <p:txBody>
          <a:bodyPr wrap="square" lIns="0" tIns="0" rIns="0" bIns="0" rtlCol="0">
            <a:spAutoFit/>
          </a:bodyPr>
          <a:lstStyle/>
          <a:p>
            <a:pPr>
              <a:spcAft>
                <a:spcPts val="600"/>
              </a:spcAft>
            </a:pPr>
            <a:r>
              <a:rPr lang="en-US" sz="1000" b="1" noProof="0" dirty="0">
                <a:solidFill>
                  <a:schemeClr val="tx2"/>
                </a:solidFill>
              </a:rPr>
              <a:t>Slide templates</a:t>
            </a:r>
          </a:p>
          <a:p>
            <a:pPr>
              <a:spcAft>
                <a:spcPts val="600"/>
              </a:spcAft>
            </a:pPr>
            <a:r>
              <a:rPr lang="en-US" sz="800" noProof="0" dirty="0"/>
              <a:t>Click on </a:t>
            </a:r>
            <a:r>
              <a:rPr lang="en-US" sz="800" i="1" noProof="0" dirty="0"/>
              <a:t>New slide</a:t>
            </a:r>
            <a:r>
              <a:rPr lang="en-US" sz="800" noProof="0" dirty="0"/>
              <a:t> to see the templates various template slide. Choose one to suite </a:t>
            </a:r>
            <a:br>
              <a:rPr lang="en-US" sz="800" noProof="0" dirty="0"/>
            </a:br>
            <a:r>
              <a:rPr lang="en-US" sz="800" noProof="0" dirty="0"/>
              <a:t>your content.</a:t>
            </a:r>
          </a:p>
        </p:txBody>
      </p:sp>
      <p:sp>
        <p:nvSpPr>
          <p:cNvPr id="8" name="textruta 7">
            <a:extLst>
              <a:ext uri="{FF2B5EF4-FFF2-40B4-BE49-F238E27FC236}">
                <a16:creationId xmlns:a16="http://schemas.microsoft.com/office/drawing/2014/main" id="{768BCC39-F9DA-DF60-4025-17B6E0131556}"/>
              </a:ext>
            </a:extLst>
          </p:cNvPr>
          <p:cNvSpPr txBox="1"/>
          <p:nvPr userDrawn="1"/>
        </p:nvSpPr>
        <p:spPr>
          <a:xfrm>
            <a:off x="716537" y="3685917"/>
            <a:ext cx="1469735" cy="692497"/>
          </a:xfrm>
          <a:prstGeom prst="rect">
            <a:avLst/>
          </a:prstGeom>
          <a:noFill/>
        </p:spPr>
        <p:txBody>
          <a:bodyPr wrap="square" lIns="0" tIns="0" rIns="0" bIns="0" rtlCol="0">
            <a:spAutoFit/>
          </a:bodyPr>
          <a:lstStyle/>
          <a:p>
            <a:pPr>
              <a:spcAft>
                <a:spcPts val="600"/>
              </a:spcAft>
            </a:pPr>
            <a:r>
              <a:rPr lang="en-US" sz="800" b="1" noProof="0" dirty="0">
                <a:solidFill>
                  <a:schemeClr val="tx2"/>
                </a:solidFill>
              </a:rPr>
              <a:t>Layout</a:t>
            </a:r>
          </a:p>
          <a:p>
            <a:pPr>
              <a:spcAft>
                <a:spcPts val="600"/>
              </a:spcAft>
            </a:pPr>
            <a:r>
              <a:rPr lang="en-US" sz="800" noProof="0" dirty="0"/>
              <a:t>If you’d like to change slide template on an existing slide, click on </a:t>
            </a:r>
            <a:r>
              <a:rPr lang="en-US" sz="800" i="1" noProof="0" dirty="0"/>
              <a:t>Layout</a:t>
            </a:r>
            <a:r>
              <a:rPr lang="en-US" sz="800" noProof="0" dirty="0"/>
              <a:t> and select a new template. </a:t>
            </a:r>
          </a:p>
        </p:txBody>
      </p:sp>
      <p:sp>
        <p:nvSpPr>
          <p:cNvPr id="9" name="textruta 8">
            <a:extLst>
              <a:ext uri="{FF2B5EF4-FFF2-40B4-BE49-F238E27FC236}">
                <a16:creationId xmlns:a16="http://schemas.microsoft.com/office/drawing/2014/main" id="{F266C024-6842-2553-28D2-931168DE2970}"/>
              </a:ext>
            </a:extLst>
          </p:cNvPr>
          <p:cNvSpPr txBox="1"/>
          <p:nvPr userDrawn="1"/>
        </p:nvSpPr>
        <p:spPr>
          <a:xfrm>
            <a:off x="716536" y="4881301"/>
            <a:ext cx="1469735" cy="569387"/>
          </a:xfrm>
          <a:prstGeom prst="rect">
            <a:avLst/>
          </a:prstGeom>
          <a:noFill/>
        </p:spPr>
        <p:txBody>
          <a:bodyPr wrap="square" lIns="0" tIns="0" rIns="0" bIns="0" rtlCol="0">
            <a:spAutoFit/>
          </a:bodyPr>
          <a:lstStyle/>
          <a:p>
            <a:pPr>
              <a:spcAft>
                <a:spcPts val="600"/>
              </a:spcAft>
            </a:pPr>
            <a:r>
              <a:rPr lang="en-US" sz="800" b="1" noProof="0" dirty="0">
                <a:solidFill>
                  <a:schemeClr val="tx2"/>
                </a:solidFill>
              </a:rPr>
              <a:t>Reset</a:t>
            </a:r>
          </a:p>
          <a:p>
            <a:pPr>
              <a:spcAft>
                <a:spcPts val="600"/>
              </a:spcAft>
            </a:pPr>
            <a:r>
              <a:rPr lang="en-US" sz="800" noProof="0" dirty="0"/>
              <a:t>Reset a slide to the slide templates design by </a:t>
            </a:r>
            <a:br>
              <a:rPr lang="en-US" sz="800" noProof="0" dirty="0"/>
            </a:br>
            <a:r>
              <a:rPr lang="en-US" sz="800" noProof="0" dirty="0"/>
              <a:t>clicking on </a:t>
            </a:r>
            <a:r>
              <a:rPr lang="en-US" sz="800" i="1" noProof="0" dirty="0"/>
              <a:t>Reset</a:t>
            </a:r>
            <a:r>
              <a:rPr lang="en-US" sz="800" noProof="0" dirty="0"/>
              <a:t>. </a:t>
            </a:r>
          </a:p>
        </p:txBody>
      </p:sp>
      <p:sp>
        <p:nvSpPr>
          <p:cNvPr id="10" name="textruta 9">
            <a:extLst>
              <a:ext uri="{FF2B5EF4-FFF2-40B4-BE49-F238E27FC236}">
                <a16:creationId xmlns:a16="http://schemas.microsoft.com/office/drawing/2014/main" id="{C49C5967-B80A-E7A8-432B-804EA96184DA}"/>
              </a:ext>
            </a:extLst>
          </p:cNvPr>
          <p:cNvSpPr txBox="1"/>
          <p:nvPr userDrawn="1"/>
        </p:nvSpPr>
        <p:spPr>
          <a:xfrm>
            <a:off x="4586575" y="2066955"/>
            <a:ext cx="1361445" cy="1092607"/>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Colors</a:t>
            </a:r>
          </a:p>
          <a:p>
            <a:pPr>
              <a:spcAft>
                <a:spcPts val="600"/>
              </a:spcAft>
            </a:pPr>
            <a:r>
              <a:rPr lang="en-US" sz="800" noProof="0" dirty="0"/>
              <a:t>This template is programmed with the KTH color palette. The correct colors are the in top row under </a:t>
            </a:r>
            <a:r>
              <a:rPr lang="en-US" sz="800" i="1" noProof="0" dirty="0"/>
              <a:t>Theme Colors</a:t>
            </a:r>
            <a:r>
              <a:rPr lang="en-US" sz="800" noProof="0" dirty="0"/>
              <a:t> and all colors under </a:t>
            </a:r>
            <a:r>
              <a:rPr lang="en-US" sz="800" i="1" noProof="0" dirty="0"/>
              <a:t>Custom Colors</a:t>
            </a:r>
            <a:r>
              <a:rPr lang="en-US" sz="800" noProof="0" dirty="0"/>
              <a:t>. Only use the correct colors.</a:t>
            </a:r>
          </a:p>
        </p:txBody>
      </p:sp>
      <p:sp>
        <p:nvSpPr>
          <p:cNvPr id="17" name="textruta 16">
            <a:extLst>
              <a:ext uri="{FF2B5EF4-FFF2-40B4-BE49-F238E27FC236}">
                <a16:creationId xmlns:a16="http://schemas.microsoft.com/office/drawing/2014/main" id="{5077E03A-6420-92EB-FBAB-1A11484F6E1E}"/>
              </a:ext>
            </a:extLst>
          </p:cNvPr>
          <p:cNvSpPr txBox="1"/>
          <p:nvPr userDrawn="1"/>
        </p:nvSpPr>
        <p:spPr>
          <a:xfrm>
            <a:off x="6938221" y="2303726"/>
            <a:ext cx="598588" cy="307777"/>
          </a:xfrm>
          <a:prstGeom prst="rect">
            <a:avLst/>
          </a:prstGeom>
          <a:noFill/>
        </p:spPr>
        <p:txBody>
          <a:bodyPr wrap="square" lIns="0" tIns="0" rIns="0" bIns="0" rtlCol="0">
            <a:spAutoFit/>
          </a:bodyPr>
          <a:lstStyle/>
          <a:p>
            <a:r>
              <a:rPr lang="en-US" sz="500" noProof="0" dirty="0">
                <a:solidFill>
                  <a:srgbClr val="F9535C"/>
                </a:solidFill>
              </a:rPr>
              <a:t>Do </a:t>
            </a:r>
            <a:r>
              <a:rPr lang="en-US" sz="500" u="sng" noProof="0" dirty="0">
                <a:solidFill>
                  <a:srgbClr val="F9535C"/>
                </a:solidFill>
              </a:rPr>
              <a:t>NOT</a:t>
            </a:r>
            <a:r>
              <a:rPr lang="en-US" sz="500" noProof="0" dirty="0">
                <a:solidFill>
                  <a:srgbClr val="F9535C"/>
                </a:solidFill>
              </a:rPr>
              <a:t> use the colors PowerPoint auto generates. They are not on brand. </a:t>
            </a:r>
          </a:p>
        </p:txBody>
      </p:sp>
      <p:sp>
        <p:nvSpPr>
          <p:cNvPr id="21" name="textruta 20">
            <a:extLst>
              <a:ext uri="{FF2B5EF4-FFF2-40B4-BE49-F238E27FC236}">
                <a16:creationId xmlns:a16="http://schemas.microsoft.com/office/drawing/2014/main" id="{8926CA3B-DA70-E9B7-6DA6-A695DCFB4726}"/>
              </a:ext>
            </a:extLst>
          </p:cNvPr>
          <p:cNvSpPr txBox="1"/>
          <p:nvPr userDrawn="1"/>
        </p:nvSpPr>
        <p:spPr>
          <a:xfrm>
            <a:off x="8095279" y="2061013"/>
            <a:ext cx="1588210" cy="2185214"/>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Change the image crop</a:t>
            </a:r>
          </a:p>
          <a:p>
            <a:pPr>
              <a:spcAft>
                <a:spcPts val="600"/>
              </a:spcAft>
            </a:pPr>
            <a:r>
              <a:rPr lang="en-US" sz="800" noProof="0" dirty="0"/>
              <a:t>When an image is placed in an image place holder, PowerPoint automatically crops the image to fit the placeholder. To alter what part of the image is shown:</a:t>
            </a:r>
          </a:p>
          <a:p>
            <a:pPr marL="120600" indent="-120600">
              <a:spcAft>
                <a:spcPts val="600"/>
              </a:spcAft>
              <a:buClr>
                <a:schemeClr val="accent1"/>
              </a:buClr>
              <a:buFont typeface="+mj-lt"/>
              <a:buAutoNum type="arabicPeriod"/>
            </a:pPr>
            <a:r>
              <a:rPr lang="en-US" sz="800" noProof="0" dirty="0"/>
              <a:t>Select the image and go to </a:t>
            </a:r>
            <a:br>
              <a:rPr lang="en-US" sz="800" noProof="0" dirty="0"/>
            </a:br>
            <a:r>
              <a:rPr lang="en-US" sz="800" noProof="0" dirty="0"/>
              <a:t>the </a:t>
            </a:r>
            <a:r>
              <a:rPr lang="en-US" sz="800" i="1" noProof="0" dirty="0"/>
              <a:t>Picture Format </a:t>
            </a:r>
            <a:r>
              <a:rPr lang="en-US" sz="800" noProof="0" dirty="0"/>
              <a:t>tab. </a:t>
            </a:r>
          </a:p>
          <a:p>
            <a:pPr marL="120600" indent="-120600">
              <a:spcAft>
                <a:spcPts val="600"/>
              </a:spcAft>
              <a:buClr>
                <a:schemeClr val="accent1"/>
              </a:buClr>
              <a:buFont typeface="+mj-lt"/>
              <a:buAutoNum type="arabicPeriod"/>
            </a:pPr>
            <a:r>
              <a:rPr lang="en-US" sz="800" noProof="0" dirty="0"/>
              <a:t>Choose </a:t>
            </a:r>
            <a:r>
              <a:rPr lang="en-US" sz="800" i="1" noProof="0" dirty="0"/>
              <a:t>Crop</a:t>
            </a:r>
            <a:r>
              <a:rPr lang="en-US" sz="800" noProof="0" dirty="0"/>
              <a:t>. Now, the entire image is visible, the cropped out parts are darker. </a:t>
            </a:r>
          </a:p>
          <a:p>
            <a:pPr marL="120600" indent="-120600">
              <a:spcAft>
                <a:spcPts val="600"/>
              </a:spcAft>
              <a:buClr>
                <a:schemeClr val="accent1"/>
              </a:buClr>
              <a:buFont typeface="+mj-lt"/>
              <a:buAutoNum type="arabicPeriod"/>
            </a:pPr>
            <a:r>
              <a:rPr lang="en-US" sz="800" noProof="0" dirty="0"/>
              <a:t>Now you can move the image around within the placeholder and/or zoom in by pulling the corners of the image. </a:t>
            </a:r>
          </a:p>
        </p:txBody>
      </p:sp>
      <p:sp>
        <p:nvSpPr>
          <p:cNvPr id="23" name="textruta 22">
            <a:extLst>
              <a:ext uri="{FF2B5EF4-FFF2-40B4-BE49-F238E27FC236}">
                <a16:creationId xmlns:a16="http://schemas.microsoft.com/office/drawing/2014/main" id="{4FF18537-A6AC-E08C-1D06-F4EFDB0287B8}"/>
              </a:ext>
            </a:extLst>
          </p:cNvPr>
          <p:cNvSpPr txBox="1"/>
          <p:nvPr userDrawn="1"/>
        </p:nvSpPr>
        <p:spPr>
          <a:xfrm>
            <a:off x="10058400" y="2061013"/>
            <a:ext cx="1486590" cy="1692771"/>
          </a:xfrm>
          <a:prstGeom prst="rect">
            <a:avLst/>
          </a:prstGeom>
          <a:noFill/>
        </p:spPr>
        <p:txBody>
          <a:bodyPr wrap="square" lIns="0" tIns="0" rIns="0" bIns="0" rtlCol="0">
            <a:spAutoFit/>
          </a:bodyPr>
          <a:lstStyle/>
          <a:p>
            <a:pPr>
              <a:spcAft>
                <a:spcPts val="600"/>
              </a:spcAft>
            </a:pPr>
            <a:r>
              <a:rPr lang="en-US" sz="1000" b="1" noProof="0" dirty="0">
                <a:solidFill>
                  <a:schemeClr val="tx2"/>
                </a:solidFill>
              </a:rPr>
              <a:t>Edit image background</a:t>
            </a:r>
          </a:p>
          <a:p>
            <a:pPr marL="120600" indent="-120600">
              <a:spcAft>
                <a:spcPts val="600"/>
              </a:spcAft>
              <a:buClr>
                <a:schemeClr val="accent1"/>
              </a:buClr>
              <a:buAutoNum type="arabicPeriod"/>
            </a:pPr>
            <a:r>
              <a:rPr lang="en-US" sz="800" noProof="0" dirty="0"/>
              <a:t>Select </a:t>
            </a:r>
            <a:r>
              <a:rPr lang="en-US" sz="800" i="1" noProof="0" dirty="0"/>
              <a:t>Design</a:t>
            </a:r>
            <a:r>
              <a:rPr lang="en-US" sz="800" noProof="0" dirty="0"/>
              <a:t> &gt; </a:t>
            </a:r>
            <a:r>
              <a:rPr lang="en-US" sz="800" i="1" noProof="0" dirty="0"/>
              <a:t>Format Background</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Format Background pane</a:t>
            </a:r>
            <a:r>
              <a:rPr lang="en-US" sz="800" noProof="0" dirty="0"/>
              <a:t>, select </a:t>
            </a:r>
            <a:r>
              <a:rPr lang="en-US" sz="800" i="1" noProof="0" dirty="0"/>
              <a:t>Picture or texture fill</a:t>
            </a:r>
            <a:r>
              <a:rPr lang="en-US" sz="800" noProof="0" dirty="0"/>
              <a:t>.</a:t>
            </a:r>
          </a:p>
          <a:p>
            <a:pPr marL="120600" indent="-120600">
              <a:spcAft>
                <a:spcPts val="600"/>
              </a:spcAft>
              <a:buClr>
                <a:schemeClr val="accent1"/>
              </a:buClr>
              <a:buAutoNum type="arabicPeriod"/>
            </a:pPr>
            <a:r>
              <a:rPr lang="en-US" sz="800" noProof="0" dirty="0"/>
              <a:t>Select </a:t>
            </a:r>
            <a:r>
              <a:rPr lang="en-US" sz="800" i="1" noProof="0" dirty="0"/>
              <a:t>File</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Insert Picture</a:t>
            </a:r>
            <a:r>
              <a:rPr lang="en-US" sz="800" noProof="0" dirty="0"/>
              <a:t> dialog box, choose the picture </a:t>
            </a:r>
            <a:br>
              <a:rPr lang="en-US" sz="800" noProof="0" dirty="0"/>
            </a:br>
            <a:r>
              <a:rPr lang="en-US" sz="800" noProof="0" dirty="0"/>
              <a:t>you want to use and then select </a:t>
            </a:r>
            <a:r>
              <a:rPr lang="en-US" sz="800" i="1" noProof="0" dirty="0"/>
              <a:t>Insert</a:t>
            </a:r>
            <a:r>
              <a:rPr lang="en-US" sz="800" noProof="0" dirty="0"/>
              <a:t>.</a:t>
            </a:r>
          </a:p>
        </p:txBody>
      </p:sp>
      <p:sp>
        <p:nvSpPr>
          <p:cNvPr id="24" name="textruta 23">
            <a:extLst>
              <a:ext uri="{FF2B5EF4-FFF2-40B4-BE49-F238E27FC236}">
                <a16:creationId xmlns:a16="http://schemas.microsoft.com/office/drawing/2014/main" id="{49208D86-4998-5146-37DE-48F0F8DCB7BC}"/>
              </a:ext>
            </a:extLst>
          </p:cNvPr>
          <p:cNvSpPr txBox="1"/>
          <p:nvPr userDrawn="1"/>
        </p:nvSpPr>
        <p:spPr>
          <a:xfrm>
            <a:off x="4586575" y="4075714"/>
            <a:ext cx="1295401" cy="1569660"/>
          </a:xfrm>
          <a:prstGeom prst="rect">
            <a:avLst/>
          </a:prstGeom>
          <a:noFill/>
        </p:spPr>
        <p:txBody>
          <a:bodyPr wrap="square" lIns="0" tIns="0" rIns="0" bIns="0" rtlCol="0">
            <a:spAutoFit/>
          </a:bodyPr>
          <a:lstStyle/>
          <a:p>
            <a:pPr>
              <a:spcAft>
                <a:spcPts val="600"/>
              </a:spcAft>
            </a:pPr>
            <a:r>
              <a:rPr lang="en-US" sz="1000" b="1" noProof="0" dirty="0">
                <a:solidFill>
                  <a:schemeClr val="tx2"/>
                </a:solidFill>
              </a:rPr>
              <a:t>Header and footer</a:t>
            </a:r>
          </a:p>
          <a:p>
            <a:pPr>
              <a:spcAft>
                <a:spcPts val="600"/>
              </a:spcAft>
            </a:pPr>
            <a:r>
              <a:rPr lang="en-US" sz="800" noProof="0" dirty="0"/>
              <a:t>Insert header/footer, </a:t>
            </a:r>
            <a:br>
              <a:rPr lang="en-US" sz="800" noProof="0" dirty="0"/>
            </a:br>
            <a:r>
              <a:rPr lang="en-US" sz="800" noProof="0" dirty="0"/>
              <a:t>date and page numbers:</a:t>
            </a:r>
          </a:p>
          <a:p>
            <a:pPr marL="120600" indent="-120600">
              <a:spcAft>
                <a:spcPts val="600"/>
              </a:spcAft>
              <a:buClr>
                <a:schemeClr val="accent1"/>
              </a:buClr>
              <a:buFont typeface="+mj-lt"/>
              <a:buAutoNum type="arabicPeriod"/>
            </a:pPr>
            <a:r>
              <a:rPr lang="en-US" sz="800" noProof="0" dirty="0"/>
              <a:t>On the </a:t>
            </a:r>
            <a:r>
              <a:rPr lang="en-US" sz="800" i="1" noProof="0" dirty="0"/>
              <a:t>Insert</a:t>
            </a:r>
            <a:r>
              <a:rPr lang="en-US" sz="800" noProof="0" dirty="0"/>
              <a:t> tab, </a:t>
            </a:r>
            <a:br>
              <a:rPr lang="en-US" sz="800" noProof="0" dirty="0"/>
            </a:br>
            <a:r>
              <a:rPr lang="en-US" sz="800" noProof="0" dirty="0"/>
              <a:t>click </a:t>
            </a:r>
            <a:r>
              <a:rPr lang="en-US" sz="800" i="1" noProof="0" dirty="0"/>
              <a:t>Header &amp; Footer</a:t>
            </a:r>
            <a:r>
              <a:rPr lang="en-US" sz="800" noProof="0" dirty="0"/>
              <a:t>.</a:t>
            </a:r>
          </a:p>
          <a:p>
            <a:pPr marL="120600" indent="-120600">
              <a:spcAft>
                <a:spcPts val="600"/>
              </a:spcAft>
              <a:buClr>
                <a:schemeClr val="accent1"/>
              </a:buClr>
              <a:buFont typeface="+mj-lt"/>
              <a:buAutoNum type="arabicPeriod"/>
            </a:pPr>
            <a:r>
              <a:rPr lang="en-US" sz="800" noProof="0" dirty="0"/>
              <a:t>In the Header and Footer box, on the Slide tab, select the information you want.</a:t>
            </a:r>
          </a:p>
          <a:p>
            <a:pPr marL="120600" indent="-120600">
              <a:spcAft>
                <a:spcPts val="600"/>
              </a:spcAft>
              <a:buClr>
                <a:schemeClr val="accent1"/>
              </a:buClr>
              <a:buFont typeface="+mj-lt"/>
              <a:buAutoNum type="arabicPeriod"/>
            </a:pPr>
            <a:r>
              <a:rPr lang="en-US" sz="800" noProof="0" dirty="0"/>
              <a:t>Click </a:t>
            </a:r>
            <a:r>
              <a:rPr lang="en-US" sz="800" i="1" noProof="0" dirty="0"/>
              <a:t>Apply to All</a:t>
            </a:r>
            <a:r>
              <a:rPr lang="en-US" sz="800" noProof="0" dirty="0"/>
              <a:t>.</a:t>
            </a:r>
          </a:p>
        </p:txBody>
      </p:sp>
      <p:pic>
        <p:nvPicPr>
          <p:cNvPr id="32" name="Bildobjekt 31" descr="En bild som visar moln, utomhus, himmel, byggnad&#10;&#10;Automatiskt genererad beskrivning">
            <a:extLst>
              <a:ext uri="{FF2B5EF4-FFF2-40B4-BE49-F238E27FC236}">
                <a16:creationId xmlns:a16="http://schemas.microsoft.com/office/drawing/2014/main" id="{94D13EAB-F856-BC62-1623-0235CE917A48}"/>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8066200" y="4318565"/>
            <a:ext cx="1493231" cy="1981989"/>
          </a:xfrm>
          <a:prstGeom prst="rect">
            <a:avLst/>
          </a:prstGeom>
        </p:spPr>
      </p:pic>
      <p:pic>
        <p:nvPicPr>
          <p:cNvPr id="34" name="Picture 4" descr="Microsoft PowerPoint 365 Overview and Supported File Types">
            <a:extLst>
              <a:ext uri="{FF2B5EF4-FFF2-40B4-BE49-F238E27FC236}">
                <a16:creationId xmlns:a16="http://schemas.microsoft.com/office/drawing/2014/main" id="{6B95C2D0-3101-BE06-9875-AF2510CF817D}"/>
              </a:ext>
            </a:extLst>
          </p:cNvPr>
          <p:cNvPicPr>
            <a:picLocks noChangeAspect="1" noChangeArrowheads="1"/>
          </p:cNvPicPr>
          <p:nvPr userDrawn="1"/>
        </p:nvPicPr>
        <p:blipFill rotWithShape="1">
          <a:blip r:embed="rId5" cstate="print">
            <a:extLst>
              <a:ext uri="{28A0092B-C50C-407E-A947-70E740481C1C}">
                <a14:useLocalDpi xmlns:a14="http://schemas.microsoft.com/office/drawing/2010/main"/>
              </a:ext>
            </a:extLst>
          </a:blip>
          <a:srcRect/>
          <a:stretch/>
        </p:blipFill>
        <p:spPr bwMode="auto">
          <a:xfrm>
            <a:off x="721644" y="2028884"/>
            <a:ext cx="208587" cy="33433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Microsoft PowerPoint 365 Overview and Supported File Types">
            <a:extLst>
              <a:ext uri="{FF2B5EF4-FFF2-40B4-BE49-F238E27FC236}">
                <a16:creationId xmlns:a16="http://schemas.microsoft.com/office/drawing/2014/main" id="{D259F975-3B73-BC3A-B353-F3B57056CAFE}"/>
              </a:ext>
            </a:extLst>
          </p:cNvPr>
          <p:cNvPicPr>
            <a:picLocks noChangeAspect="1" noChangeArrowheads="1"/>
          </p:cNvPicPr>
          <p:nvPr userDrawn="1"/>
        </p:nvPicPr>
        <p:blipFill rotWithShape="1">
          <a:blip r:embed="rId6" cstate="print">
            <a:extLst>
              <a:ext uri="{28A0092B-C50C-407E-A947-70E740481C1C}">
                <a14:useLocalDpi xmlns:a14="http://schemas.microsoft.com/office/drawing/2010/main"/>
              </a:ext>
            </a:extLst>
          </a:blip>
          <a:srcRect/>
          <a:stretch/>
        </p:blipFill>
        <p:spPr bwMode="auto">
          <a:xfrm>
            <a:off x="716536" y="3527233"/>
            <a:ext cx="328130" cy="10531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Microsoft PowerPoint 365 Overview and Supported File Types">
            <a:extLst>
              <a:ext uri="{FF2B5EF4-FFF2-40B4-BE49-F238E27FC236}">
                <a16:creationId xmlns:a16="http://schemas.microsoft.com/office/drawing/2014/main" id="{C0490137-5992-062D-6D6B-7856F08EDE8C}"/>
              </a:ext>
            </a:extLst>
          </p:cNvPr>
          <p:cNvPicPr>
            <a:picLocks noChangeAspect="1" noChangeArrowheads="1"/>
          </p:cNvPicPr>
          <p:nvPr userDrawn="1"/>
        </p:nvPicPr>
        <p:blipFill rotWithShape="1">
          <a:blip r:embed="rId7" cstate="print">
            <a:extLst>
              <a:ext uri="{28A0092B-C50C-407E-A947-70E740481C1C}">
                <a14:useLocalDpi xmlns:a14="http://schemas.microsoft.com/office/drawing/2010/main"/>
              </a:ext>
            </a:extLst>
          </a:blip>
          <a:srcRect/>
          <a:stretch/>
        </p:blipFill>
        <p:spPr bwMode="auto">
          <a:xfrm>
            <a:off x="716536" y="4708556"/>
            <a:ext cx="256300" cy="1053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Header and Footer on slides - Microsoft PowerPoint 365">
            <a:extLst>
              <a:ext uri="{FF2B5EF4-FFF2-40B4-BE49-F238E27FC236}">
                <a16:creationId xmlns:a16="http://schemas.microsoft.com/office/drawing/2014/main" id="{514F44FF-F14B-3D48-E9D1-E7E8BB20F671}"/>
              </a:ext>
            </a:extLst>
          </p:cNvPr>
          <p:cNvPicPr>
            <a:picLocks noChangeAspect="1" noChangeArrowheads="1"/>
          </p:cNvPicPr>
          <p:nvPr userDrawn="1"/>
        </p:nvPicPr>
        <p:blipFill>
          <a:blip r:embed="rId8" cstate="print">
            <a:extLst>
              <a:ext uri="{28A0092B-C50C-407E-A947-70E740481C1C}">
                <a14:useLocalDpi xmlns:a14="http://schemas.microsoft.com/office/drawing/2010/main"/>
              </a:ext>
            </a:extLst>
          </a:blip>
          <a:srcRect/>
          <a:stretch>
            <a:fillRect/>
          </a:stretch>
        </p:blipFill>
        <p:spPr bwMode="auto">
          <a:xfrm>
            <a:off x="6062042" y="4075714"/>
            <a:ext cx="1493231" cy="1103568"/>
          </a:xfrm>
          <a:prstGeom prst="rect">
            <a:avLst/>
          </a:prstGeom>
          <a:noFill/>
          <a:extLst>
            <a:ext uri="{909E8E84-426E-40DD-AFC4-6F175D3DCCD1}">
              <a14:hiddenFill xmlns:a14="http://schemas.microsoft.com/office/drawing/2010/main">
                <a:solidFill>
                  <a:srgbClr val="FFFFFF"/>
                </a:solidFill>
              </a14:hiddenFill>
            </a:ext>
          </a:extLst>
        </p:spPr>
      </p:pic>
      <p:grpSp>
        <p:nvGrpSpPr>
          <p:cNvPr id="1125" name="Grupp 1124">
            <a:extLst>
              <a:ext uri="{FF2B5EF4-FFF2-40B4-BE49-F238E27FC236}">
                <a16:creationId xmlns:a16="http://schemas.microsoft.com/office/drawing/2014/main" id="{918579BF-BDEF-7B25-9DCA-62CC6D39793B}"/>
              </a:ext>
            </a:extLst>
          </p:cNvPr>
          <p:cNvGrpSpPr/>
          <p:nvPr userDrawn="1"/>
        </p:nvGrpSpPr>
        <p:grpSpPr>
          <a:xfrm>
            <a:off x="6063783" y="2031850"/>
            <a:ext cx="800155" cy="1688467"/>
            <a:chOff x="6063783" y="2031850"/>
            <a:chExt cx="1800691" cy="3799773"/>
          </a:xfrm>
        </p:grpSpPr>
        <p:pic>
          <p:nvPicPr>
            <p:cNvPr id="1030" name="Picture 6" descr="Hacking PowerPoint to create custom colors | BrightCarbon">
              <a:extLst>
                <a:ext uri="{FF2B5EF4-FFF2-40B4-BE49-F238E27FC236}">
                  <a16:creationId xmlns:a16="http://schemas.microsoft.com/office/drawing/2014/main" id="{1E944A0E-9B5A-F599-847C-0737479E7BC1}"/>
                </a:ext>
              </a:extLst>
            </p:cNvPr>
            <p:cNvPicPr>
              <a:picLocks noChangeAspect="1" noChangeArrowheads="1"/>
            </p:cNvPicPr>
            <p:nvPr userDrawn="1"/>
          </p:nvPicPr>
          <p:blipFill rotWithShape="1">
            <a:blip r:embed="rId9" cstate="print">
              <a:extLst>
                <a:ext uri="{28A0092B-C50C-407E-A947-70E740481C1C}">
                  <a14:useLocalDpi xmlns:a14="http://schemas.microsoft.com/office/drawing/2010/main"/>
                </a:ext>
              </a:extLst>
            </a:blip>
            <a:srcRect l="36641" r="36664"/>
            <a:stretch/>
          </p:blipFill>
          <p:spPr bwMode="auto">
            <a:xfrm>
              <a:off x="6063783" y="2031850"/>
              <a:ext cx="1800691" cy="3799773"/>
            </a:xfrm>
            <a:prstGeom prst="rect">
              <a:avLst/>
            </a:prstGeom>
            <a:noFill/>
            <a:extLst>
              <a:ext uri="{909E8E84-426E-40DD-AFC4-6F175D3DCCD1}">
                <a14:hiddenFill xmlns:a14="http://schemas.microsoft.com/office/drawing/2010/main">
                  <a:solidFill>
                    <a:srgbClr val="FFFFFF"/>
                  </a:solidFill>
                </a14:hiddenFill>
              </a:ext>
            </a:extLst>
          </p:spPr>
        </p:pic>
        <p:sp>
          <p:nvSpPr>
            <p:cNvPr id="1123" name="Rektangel 1122">
              <a:extLst>
                <a:ext uri="{FF2B5EF4-FFF2-40B4-BE49-F238E27FC236}">
                  <a16:creationId xmlns:a16="http://schemas.microsoft.com/office/drawing/2014/main" id="{1ED61660-0DB3-CEA4-C27E-195D3290C063}"/>
                </a:ext>
              </a:extLst>
            </p:cNvPr>
            <p:cNvSpPr/>
            <p:nvPr userDrawn="1"/>
          </p:nvSpPr>
          <p:spPr>
            <a:xfrm>
              <a:off x="6095206" y="3789106"/>
              <a:ext cx="1743870" cy="7370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4" name="Rektangel 1123">
              <a:extLst>
                <a:ext uri="{FF2B5EF4-FFF2-40B4-BE49-F238E27FC236}">
                  <a16:creationId xmlns:a16="http://schemas.microsoft.com/office/drawing/2014/main" id="{97E61731-FF1C-C73E-9B81-82B5C53D7931}"/>
                </a:ext>
              </a:extLst>
            </p:cNvPr>
            <p:cNvSpPr/>
            <p:nvPr userDrawn="1"/>
          </p:nvSpPr>
          <p:spPr>
            <a:xfrm>
              <a:off x="6451542" y="2363219"/>
              <a:ext cx="1378008" cy="9832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9" name="Rektangel 18">
              <a:extLst>
                <a:ext uri="{FF2B5EF4-FFF2-40B4-BE49-F238E27FC236}">
                  <a16:creationId xmlns:a16="http://schemas.microsoft.com/office/drawing/2014/main" id="{71A7971D-8FD8-6FAF-FBCA-543DAC638849}"/>
                </a:ext>
              </a:extLst>
            </p:cNvPr>
            <p:cNvSpPr/>
            <p:nvPr userDrawn="1"/>
          </p:nvSpPr>
          <p:spPr>
            <a:xfrm>
              <a:off x="6637090" y="2388295"/>
              <a:ext cx="126305" cy="12630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Rektangel 19">
              <a:extLst>
                <a:ext uri="{FF2B5EF4-FFF2-40B4-BE49-F238E27FC236}">
                  <a16:creationId xmlns:a16="http://schemas.microsoft.com/office/drawing/2014/main" id="{C9DDD11C-85E2-44BE-6A91-D72279994B26}"/>
                </a:ext>
              </a:extLst>
            </p:cNvPr>
            <p:cNvSpPr/>
            <p:nvPr userDrawn="1"/>
          </p:nvSpPr>
          <p:spPr>
            <a:xfrm>
              <a:off x="6812622" y="2388295"/>
              <a:ext cx="126305" cy="1263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2" name="Rektangel 21">
              <a:extLst>
                <a:ext uri="{FF2B5EF4-FFF2-40B4-BE49-F238E27FC236}">
                  <a16:creationId xmlns:a16="http://schemas.microsoft.com/office/drawing/2014/main" id="{A5F72BB2-8D37-F99C-624D-D6B83AEDB706}"/>
                </a:ext>
              </a:extLst>
            </p:cNvPr>
            <p:cNvSpPr/>
            <p:nvPr userDrawn="1"/>
          </p:nvSpPr>
          <p:spPr>
            <a:xfrm>
              <a:off x="6988154" y="23882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5" name="Rektangel 24">
              <a:extLst>
                <a:ext uri="{FF2B5EF4-FFF2-40B4-BE49-F238E27FC236}">
                  <a16:creationId xmlns:a16="http://schemas.microsoft.com/office/drawing/2014/main" id="{84DFF5F4-D1BE-880D-87D8-99BD8D5986B4}"/>
                </a:ext>
              </a:extLst>
            </p:cNvPr>
            <p:cNvSpPr/>
            <p:nvPr userDrawn="1"/>
          </p:nvSpPr>
          <p:spPr>
            <a:xfrm>
              <a:off x="7163686" y="23882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6" name="Rektangel 25">
              <a:extLst>
                <a:ext uri="{FF2B5EF4-FFF2-40B4-BE49-F238E27FC236}">
                  <a16:creationId xmlns:a16="http://schemas.microsoft.com/office/drawing/2014/main" id="{57799422-9E37-147F-C5EF-BD69600A0259}"/>
                </a:ext>
              </a:extLst>
            </p:cNvPr>
            <p:cNvSpPr/>
            <p:nvPr userDrawn="1"/>
          </p:nvSpPr>
          <p:spPr>
            <a:xfrm>
              <a:off x="7339218" y="23882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7" name="Rektangel 26">
              <a:extLst>
                <a:ext uri="{FF2B5EF4-FFF2-40B4-BE49-F238E27FC236}">
                  <a16:creationId xmlns:a16="http://schemas.microsoft.com/office/drawing/2014/main" id="{CF0BD3BD-CA59-5181-6A7D-85BA481CF469}"/>
                </a:ext>
              </a:extLst>
            </p:cNvPr>
            <p:cNvSpPr/>
            <p:nvPr userDrawn="1"/>
          </p:nvSpPr>
          <p:spPr>
            <a:xfrm>
              <a:off x="7514750" y="2388295"/>
              <a:ext cx="126305" cy="12630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8" name="Rektangel 27">
              <a:extLst>
                <a:ext uri="{FF2B5EF4-FFF2-40B4-BE49-F238E27FC236}">
                  <a16:creationId xmlns:a16="http://schemas.microsoft.com/office/drawing/2014/main" id="{AD483FB7-DFED-6269-FDB3-DA99BF8F1738}"/>
                </a:ext>
              </a:extLst>
            </p:cNvPr>
            <p:cNvSpPr/>
            <p:nvPr userDrawn="1"/>
          </p:nvSpPr>
          <p:spPr>
            <a:xfrm>
              <a:off x="7690282" y="23882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31" name="Rektangel 30">
              <a:extLst>
                <a:ext uri="{FF2B5EF4-FFF2-40B4-BE49-F238E27FC236}">
                  <a16:creationId xmlns:a16="http://schemas.microsoft.com/office/drawing/2014/main" id="{53C50CD2-78C6-259C-97BD-526C014CEC81}"/>
                </a:ext>
              </a:extLst>
            </p:cNvPr>
            <p:cNvSpPr/>
            <p:nvPr userDrawn="1"/>
          </p:nvSpPr>
          <p:spPr>
            <a:xfrm>
              <a:off x="6637090" y="2661345"/>
              <a:ext cx="126305" cy="13209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7" name="Rektangel 46">
              <a:extLst>
                <a:ext uri="{FF2B5EF4-FFF2-40B4-BE49-F238E27FC236}">
                  <a16:creationId xmlns:a16="http://schemas.microsoft.com/office/drawing/2014/main" id="{8C1EA23D-35AA-C628-1834-7EC9974FAFA4}"/>
                </a:ext>
              </a:extLst>
            </p:cNvPr>
            <p:cNvSpPr/>
            <p:nvPr userDrawn="1"/>
          </p:nvSpPr>
          <p:spPr>
            <a:xfrm>
              <a:off x="6637090" y="2794041"/>
              <a:ext cx="126305" cy="1320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5" name="Rektangel 54">
              <a:extLst>
                <a:ext uri="{FF2B5EF4-FFF2-40B4-BE49-F238E27FC236}">
                  <a16:creationId xmlns:a16="http://schemas.microsoft.com/office/drawing/2014/main" id="{583F96BE-E130-3FDD-576F-874BDC4A6C90}"/>
                </a:ext>
              </a:extLst>
            </p:cNvPr>
            <p:cNvSpPr/>
            <p:nvPr userDrawn="1"/>
          </p:nvSpPr>
          <p:spPr>
            <a:xfrm>
              <a:off x="6637090" y="2926737"/>
              <a:ext cx="126305" cy="132095"/>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63" name="Rektangel 62">
              <a:extLst>
                <a:ext uri="{FF2B5EF4-FFF2-40B4-BE49-F238E27FC236}">
                  <a16:creationId xmlns:a16="http://schemas.microsoft.com/office/drawing/2014/main" id="{33F1335E-E254-7491-5F15-30754BBD151E}"/>
                </a:ext>
              </a:extLst>
            </p:cNvPr>
            <p:cNvSpPr/>
            <p:nvPr userDrawn="1"/>
          </p:nvSpPr>
          <p:spPr>
            <a:xfrm>
              <a:off x="6637090" y="3059433"/>
              <a:ext cx="126305" cy="13209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33" name="Rektangel 1032">
              <a:extLst>
                <a:ext uri="{FF2B5EF4-FFF2-40B4-BE49-F238E27FC236}">
                  <a16:creationId xmlns:a16="http://schemas.microsoft.com/office/drawing/2014/main" id="{B691ED7D-5446-C50C-8BC0-D7AB6D614765}"/>
                </a:ext>
              </a:extLst>
            </p:cNvPr>
            <p:cNvSpPr/>
            <p:nvPr userDrawn="1"/>
          </p:nvSpPr>
          <p:spPr>
            <a:xfrm>
              <a:off x="6637090" y="3192130"/>
              <a:ext cx="126305" cy="132095"/>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2" name="Rektangel 1041">
              <a:extLst>
                <a:ext uri="{FF2B5EF4-FFF2-40B4-BE49-F238E27FC236}">
                  <a16:creationId xmlns:a16="http://schemas.microsoft.com/office/drawing/2014/main" id="{7F5FD652-25CD-24B4-271B-3CFC6E465C27}"/>
                </a:ext>
              </a:extLst>
            </p:cNvPr>
            <p:cNvSpPr/>
            <p:nvPr userDrawn="1"/>
          </p:nvSpPr>
          <p:spPr>
            <a:xfrm>
              <a:off x="6812622" y="2661345"/>
              <a:ext cx="126305" cy="13209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3" name="Rektangel 1042">
              <a:extLst>
                <a:ext uri="{FF2B5EF4-FFF2-40B4-BE49-F238E27FC236}">
                  <a16:creationId xmlns:a16="http://schemas.microsoft.com/office/drawing/2014/main" id="{46276B80-6A92-8513-3337-2E24980A3660}"/>
                </a:ext>
              </a:extLst>
            </p:cNvPr>
            <p:cNvSpPr/>
            <p:nvPr userDrawn="1"/>
          </p:nvSpPr>
          <p:spPr>
            <a:xfrm>
              <a:off x="6812622" y="2794041"/>
              <a:ext cx="126305" cy="1320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4" name="Rektangel 1043">
              <a:extLst>
                <a:ext uri="{FF2B5EF4-FFF2-40B4-BE49-F238E27FC236}">
                  <a16:creationId xmlns:a16="http://schemas.microsoft.com/office/drawing/2014/main" id="{DF08EB8B-05A1-5D1E-3453-E35F156EA44C}"/>
                </a:ext>
              </a:extLst>
            </p:cNvPr>
            <p:cNvSpPr/>
            <p:nvPr userDrawn="1"/>
          </p:nvSpPr>
          <p:spPr>
            <a:xfrm>
              <a:off x="6812622" y="2926737"/>
              <a:ext cx="126305" cy="132095"/>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5" name="Rektangel 1044">
              <a:extLst>
                <a:ext uri="{FF2B5EF4-FFF2-40B4-BE49-F238E27FC236}">
                  <a16:creationId xmlns:a16="http://schemas.microsoft.com/office/drawing/2014/main" id="{73BCDEB0-F256-9D9A-1735-36C73E5A4254}"/>
                </a:ext>
              </a:extLst>
            </p:cNvPr>
            <p:cNvSpPr/>
            <p:nvPr userDrawn="1"/>
          </p:nvSpPr>
          <p:spPr>
            <a:xfrm>
              <a:off x="6812622" y="3059433"/>
              <a:ext cx="126305" cy="132095"/>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6" name="Rektangel 1045">
              <a:extLst>
                <a:ext uri="{FF2B5EF4-FFF2-40B4-BE49-F238E27FC236}">
                  <a16:creationId xmlns:a16="http://schemas.microsoft.com/office/drawing/2014/main" id="{8FB9E9DD-EB3E-746C-2937-90EBE84B3B2A}"/>
                </a:ext>
              </a:extLst>
            </p:cNvPr>
            <p:cNvSpPr/>
            <p:nvPr userDrawn="1"/>
          </p:nvSpPr>
          <p:spPr>
            <a:xfrm>
              <a:off x="6812622" y="3192130"/>
              <a:ext cx="126305" cy="132095"/>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7" name="Rektangel 1046">
              <a:extLst>
                <a:ext uri="{FF2B5EF4-FFF2-40B4-BE49-F238E27FC236}">
                  <a16:creationId xmlns:a16="http://schemas.microsoft.com/office/drawing/2014/main" id="{BF36CC62-D665-E681-0504-9607980B29D1}"/>
                </a:ext>
              </a:extLst>
            </p:cNvPr>
            <p:cNvSpPr/>
            <p:nvPr userDrawn="1"/>
          </p:nvSpPr>
          <p:spPr>
            <a:xfrm>
              <a:off x="6988154" y="2661345"/>
              <a:ext cx="126305" cy="132095"/>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8" name="Rektangel 1047">
              <a:extLst>
                <a:ext uri="{FF2B5EF4-FFF2-40B4-BE49-F238E27FC236}">
                  <a16:creationId xmlns:a16="http://schemas.microsoft.com/office/drawing/2014/main" id="{2ED8E59C-4621-6900-D5FB-392B5F63EB15}"/>
                </a:ext>
              </a:extLst>
            </p:cNvPr>
            <p:cNvSpPr/>
            <p:nvPr userDrawn="1"/>
          </p:nvSpPr>
          <p:spPr>
            <a:xfrm>
              <a:off x="6988154" y="2794041"/>
              <a:ext cx="126305" cy="13209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9" name="Rektangel 1048">
              <a:extLst>
                <a:ext uri="{FF2B5EF4-FFF2-40B4-BE49-F238E27FC236}">
                  <a16:creationId xmlns:a16="http://schemas.microsoft.com/office/drawing/2014/main" id="{1D1DFB72-8F94-C092-AB42-28E3BBF12D65}"/>
                </a:ext>
              </a:extLst>
            </p:cNvPr>
            <p:cNvSpPr/>
            <p:nvPr userDrawn="1"/>
          </p:nvSpPr>
          <p:spPr>
            <a:xfrm>
              <a:off x="6988154" y="2926737"/>
              <a:ext cx="126305" cy="132095"/>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0" name="Rektangel 1049">
              <a:extLst>
                <a:ext uri="{FF2B5EF4-FFF2-40B4-BE49-F238E27FC236}">
                  <a16:creationId xmlns:a16="http://schemas.microsoft.com/office/drawing/2014/main" id="{9B388C52-8786-0F82-B433-3A79F1A4541A}"/>
                </a:ext>
              </a:extLst>
            </p:cNvPr>
            <p:cNvSpPr/>
            <p:nvPr userDrawn="1"/>
          </p:nvSpPr>
          <p:spPr>
            <a:xfrm>
              <a:off x="6988154" y="3059433"/>
              <a:ext cx="126305" cy="13209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1" name="Rektangel 1050">
              <a:extLst>
                <a:ext uri="{FF2B5EF4-FFF2-40B4-BE49-F238E27FC236}">
                  <a16:creationId xmlns:a16="http://schemas.microsoft.com/office/drawing/2014/main" id="{D4A998FA-E595-5120-1049-A3CC1C33E72E}"/>
                </a:ext>
              </a:extLst>
            </p:cNvPr>
            <p:cNvSpPr/>
            <p:nvPr userDrawn="1"/>
          </p:nvSpPr>
          <p:spPr>
            <a:xfrm>
              <a:off x="6988154" y="3192130"/>
              <a:ext cx="126305" cy="13209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2" name="Rektangel 1051">
              <a:extLst>
                <a:ext uri="{FF2B5EF4-FFF2-40B4-BE49-F238E27FC236}">
                  <a16:creationId xmlns:a16="http://schemas.microsoft.com/office/drawing/2014/main" id="{C8E27C97-6977-891F-B3C0-4CDE580AF57D}"/>
                </a:ext>
              </a:extLst>
            </p:cNvPr>
            <p:cNvSpPr/>
            <p:nvPr userDrawn="1"/>
          </p:nvSpPr>
          <p:spPr>
            <a:xfrm>
              <a:off x="7163686" y="2661345"/>
              <a:ext cx="126305" cy="132095"/>
            </a:xfrm>
            <a:prstGeom prst="rect">
              <a:avLst/>
            </a:prstGeom>
            <a:solidFill>
              <a:schemeClr val="accent3">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3" name="Rektangel 1052">
              <a:extLst>
                <a:ext uri="{FF2B5EF4-FFF2-40B4-BE49-F238E27FC236}">
                  <a16:creationId xmlns:a16="http://schemas.microsoft.com/office/drawing/2014/main" id="{19FB03B5-BA18-74B7-9DEB-889CA8566539}"/>
                </a:ext>
              </a:extLst>
            </p:cNvPr>
            <p:cNvSpPr/>
            <p:nvPr userDrawn="1"/>
          </p:nvSpPr>
          <p:spPr>
            <a:xfrm>
              <a:off x="7163686" y="2794041"/>
              <a:ext cx="126305" cy="132095"/>
            </a:xfrm>
            <a:prstGeom prst="rect">
              <a:avLst/>
            </a:prstGeom>
            <a:solidFill>
              <a:schemeClr val="accent3">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4" name="Rektangel 1053">
              <a:extLst>
                <a:ext uri="{FF2B5EF4-FFF2-40B4-BE49-F238E27FC236}">
                  <a16:creationId xmlns:a16="http://schemas.microsoft.com/office/drawing/2014/main" id="{57CEB0A0-35F5-997A-61EB-3E655B67D34B}"/>
                </a:ext>
              </a:extLst>
            </p:cNvPr>
            <p:cNvSpPr/>
            <p:nvPr userDrawn="1"/>
          </p:nvSpPr>
          <p:spPr>
            <a:xfrm>
              <a:off x="7163686" y="2926737"/>
              <a:ext cx="126305" cy="132095"/>
            </a:xfrm>
            <a:prstGeom prst="rect">
              <a:avLst/>
            </a:prstGeom>
            <a:solidFill>
              <a:schemeClr val="accent3">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5" name="Rektangel 1054">
              <a:extLst>
                <a:ext uri="{FF2B5EF4-FFF2-40B4-BE49-F238E27FC236}">
                  <a16:creationId xmlns:a16="http://schemas.microsoft.com/office/drawing/2014/main" id="{187C5504-CF38-10EF-6656-9D373F47022B}"/>
                </a:ext>
              </a:extLst>
            </p:cNvPr>
            <p:cNvSpPr/>
            <p:nvPr userDrawn="1"/>
          </p:nvSpPr>
          <p:spPr>
            <a:xfrm>
              <a:off x="7163686" y="3059433"/>
              <a:ext cx="126305" cy="132095"/>
            </a:xfrm>
            <a:prstGeom prst="rect">
              <a:avLst/>
            </a:prstGeom>
            <a:solidFill>
              <a:schemeClr val="accent3">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6" name="Rektangel 1055">
              <a:extLst>
                <a:ext uri="{FF2B5EF4-FFF2-40B4-BE49-F238E27FC236}">
                  <a16:creationId xmlns:a16="http://schemas.microsoft.com/office/drawing/2014/main" id="{00ECB6FD-B078-6ED8-3BF0-E6FFFB4125FF}"/>
                </a:ext>
              </a:extLst>
            </p:cNvPr>
            <p:cNvSpPr/>
            <p:nvPr userDrawn="1"/>
          </p:nvSpPr>
          <p:spPr>
            <a:xfrm>
              <a:off x="7163686" y="3192130"/>
              <a:ext cx="126305" cy="132095"/>
            </a:xfrm>
            <a:prstGeom prst="rect">
              <a:avLst/>
            </a:prstGeom>
            <a:solidFill>
              <a:schemeClr val="accent3">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7" name="Rektangel 1056">
              <a:extLst>
                <a:ext uri="{FF2B5EF4-FFF2-40B4-BE49-F238E27FC236}">
                  <a16:creationId xmlns:a16="http://schemas.microsoft.com/office/drawing/2014/main" id="{2A81D134-CDD5-3A11-68DD-9A7DA325C5E2}"/>
                </a:ext>
              </a:extLst>
            </p:cNvPr>
            <p:cNvSpPr/>
            <p:nvPr userDrawn="1"/>
          </p:nvSpPr>
          <p:spPr>
            <a:xfrm>
              <a:off x="7339331" y="2661345"/>
              <a:ext cx="126305" cy="132095"/>
            </a:xfrm>
            <a:prstGeom prst="rect">
              <a:avLst/>
            </a:prstGeom>
            <a:solidFill>
              <a:schemeClr val="accent4">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8" name="Rektangel 1057">
              <a:extLst>
                <a:ext uri="{FF2B5EF4-FFF2-40B4-BE49-F238E27FC236}">
                  <a16:creationId xmlns:a16="http://schemas.microsoft.com/office/drawing/2014/main" id="{A3E6B7BF-B8DF-4895-BFF7-E48F3EA56C3C}"/>
                </a:ext>
              </a:extLst>
            </p:cNvPr>
            <p:cNvSpPr/>
            <p:nvPr userDrawn="1"/>
          </p:nvSpPr>
          <p:spPr>
            <a:xfrm>
              <a:off x="7339331" y="2794041"/>
              <a:ext cx="126305" cy="132095"/>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9" name="Rektangel 1058">
              <a:extLst>
                <a:ext uri="{FF2B5EF4-FFF2-40B4-BE49-F238E27FC236}">
                  <a16:creationId xmlns:a16="http://schemas.microsoft.com/office/drawing/2014/main" id="{C9880F48-FE6A-D652-5F55-4BD96B03F4E4}"/>
                </a:ext>
              </a:extLst>
            </p:cNvPr>
            <p:cNvSpPr/>
            <p:nvPr userDrawn="1"/>
          </p:nvSpPr>
          <p:spPr>
            <a:xfrm>
              <a:off x="7339331" y="2926737"/>
              <a:ext cx="126305" cy="132095"/>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0" name="Rektangel 1059">
              <a:extLst>
                <a:ext uri="{FF2B5EF4-FFF2-40B4-BE49-F238E27FC236}">
                  <a16:creationId xmlns:a16="http://schemas.microsoft.com/office/drawing/2014/main" id="{3D6EF6E0-55EF-D427-7BD3-3F9C9599C746}"/>
                </a:ext>
              </a:extLst>
            </p:cNvPr>
            <p:cNvSpPr/>
            <p:nvPr userDrawn="1"/>
          </p:nvSpPr>
          <p:spPr>
            <a:xfrm>
              <a:off x="7339331" y="3059433"/>
              <a:ext cx="126305" cy="132095"/>
            </a:xfrm>
            <a:prstGeom prst="rect">
              <a:avLst/>
            </a:prstGeom>
            <a:solidFill>
              <a:schemeClr val="accent4">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1" name="Rektangel 1060">
              <a:extLst>
                <a:ext uri="{FF2B5EF4-FFF2-40B4-BE49-F238E27FC236}">
                  <a16:creationId xmlns:a16="http://schemas.microsoft.com/office/drawing/2014/main" id="{BB5DD28F-1631-1EC1-63A2-5C34A28B0C19}"/>
                </a:ext>
              </a:extLst>
            </p:cNvPr>
            <p:cNvSpPr/>
            <p:nvPr userDrawn="1"/>
          </p:nvSpPr>
          <p:spPr>
            <a:xfrm>
              <a:off x="7339331" y="3192130"/>
              <a:ext cx="126305" cy="132095"/>
            </a:xfrm>
            <a:prstGeom prst="rect">
              <a:avLst/>
            </a:prstGeom>
            <a:solidFill>
              <a:schemeClr val="accent4">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2" name="Rektangel 1061">
              <a:extLst>
                <a:ext uri="{FF2B5EF4-FFF2-40B4-BE49-F238E27FC236}">
                  <a16:creationId xmlns:a16="http://schemas.microsoft.com/office/drawing/2014/main" id="{C2846DE4-F371-1BF5-4167-59B95320B756}"/>
                </a:ext>
              </a:extLst>
            </p:cNvPr>
            <p:cNvSpPr/>
            <p:nvPr userDrawn="1"/>
          </p:nvSpPr>
          <p:spPr>
            <a:xfrm>
              <a:off x="7513832" y="2661345"/>
              <a:ext cx="126305" cy="132095"/>
            </a:xfrm>
            <a:prstGeom prst="rect">
              <a:avLst/>
            </a:prstGeom>
            <a:solidFill>
              <a:schemeClr val="accent5">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3" name="Rektangel 1062">
              <a:extLst>
                <a:ext uri="{FF2B5EF4-FFF2-40B4-BE49-F238E27FC236}">
                  <a16:creationId xmlns:a16="http://schemas.microsoft.com/office/drawing/2014/main" id="{D1FCE270-22E9-6108-5292-0A2E890C7042}"/>
                </a:ext>
              </a:extLst>
            </p:cNvPr>
            <p:cNvSpPr/>
            <p:nvPr userDrawn="1"/>
          </p:nvSpPr>
          <p:spPr>
            <a:xfrm>
              <a:off x="7513832" y="2794041"/>
              <a:ext cx="126305" cy="132095"/>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4" name="Rektangel 1063">
              <a:extLst>
                <a:ext uri="{FF2B5EF4-FFF2-40B4-BE49-F238E27FC236}">
                  <a16:creationId xmlns:a16="http://schemas.microsoft.com/office/drawing/2014/main" id="{E0AB0C3D-3E2C-BA8B-F8FF-D1BAE2FD78AB}"/>
                </a:ext>
              </a:extLst>
            </p:cNvPr>
            <p:cNvSpPr/>
            <p:nvPr userDrawn="1"/>
          </p:nvSpPr>
          <p:spPr>
            <a:xfrm>
              <a:off x="7513832" y="2926737"/>
              <a:ext cx="126305" cy="132095"/>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5" name="Rektangel 1064">
              <a:extLst>
                <a:ext uri="{FF2B5EF4-FFF2-40B4-BE49-F238E27FC236}">
                  <a16:creationId xmlns:a16="http://schemas.microsoft.com/office/drawing/2014/main" id="{A5B9B835-C0B3-CE1F-0F4F-E77B314EE265}"/>
                </a:ext>
              </a:extLst>
            </p:cNvPr>
            <p:cNvSpPr/>
            <p:nvPr userDrawn="1"/>
          </p:nvSpPr>
          <p:spPr>
            <a:xfrm>
              <a:off x="7513832" y="3059433"/>
              <a:ext cx="126305" cy="132095"/>
            </a:xfrm>
            <a:prstGeom prst="rect">
              <a:avLst/>
            </a:prstGeom>
            <a:solidFill>
              <a:schemeClr val="accent5">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6" name="Rektangel 1065">
              <a:extLst>
                <a:ext uri="{FF2B5EF4-FFF2-40B4-BE49-F238E27FC236}">
                  <a16:creationId xmlns:a16="http://schemas.microsoft.com/office/drawing/2014/main" id="{B6F46CE6-CCAF-9D3F-1627-61487FF99D45}"/>
                </a:ext>
              </a:extLst>
            </p:cNvPr>
            <p:cNvSpPr/>
            <p:nvPr userDrawn="1"/>
          </p:nvSpPr>
          <p:spPr>
            <a:xfrm>
              <a:off x="7513832" y="3192130"/>
              <a:ext cx="126305" cy="132095"/>
            </a:xfrm>
            <a:prstGeom prst="rect">
              <a:avLst/>
            </a:prstGeom>
            <a:solidFill>
              <a:schemeClr val="accent5">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7" name="Rektangel 1066">
              <a:extLst>
                <a:ext uri="{FF2B5EF4-FFF2-40B4-BE49-F238E27FC236}">
                  <a16:creationId xmlns:a16="http://schemas.microsoft.com/office/drawing/2014/main" id="{B0D96E62-E6D5-5382-108B-2D8B21B1C7C0}"/>
                </a:ext>
              </a:extLst>
            </p:cNvPr>
            <p:cNvSpPr/>
            <p:nvPr userDrawn="1"/>
          </p:nvSpPr>
          <p:spPr>
            <a:xfrm>
              <a:off x="7690674" y="2661345"/>
              <a:ext cx="126305" cy="132095"/>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8" name="Rektangel 1067">
              <a:extLst>
                <a:ext uri="{FF2B5EF4-FFF2-40B4-BE49-F238E27FC236}">
                  <a16:creationId xmlns:a16="http://schemas.microsoft.com/office/drawing/2014/main" id="{589AC037-F773-58BF-FA0E-B29A0BAE94D6}"/>
                </a:ext>
              </a:extLst>
            </p:cNvPr>
            <p:cNvSpPr/>
            <p:nvPr userDrawn="1"/>
          </p:nvSpPr>
          <p:spPr>
            <a:xfrm>
              <a:off x="7690674" y="2794041"/>
              <a:ext cx="126305" cy="132095"/>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9" name="Rektangel 1068">
              <a:extLst>
                <a:ext uri="{FF2B5EF4-FFF2-40B4-BE49-F238E27FC236}">
                  <a16:creationId xmlns:a16="http://schemas.microsoft.com/office/drawing/2014/main" id="{07045815-7B67-4A94-7C17-8D64E287040A}"/>
                </a:ext>
              </a:extLst>
            </p:cNvPr>
            <p:cNvSpPr/>
            <p:nvPr userDrawn="1"/>
          </p:nvSpPr>
          <p:spPr>
            <a:xfrm>
              <a:off x="7690674" y="2926737"/>
              <a:ext cx="126305" cy="13209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0" name="Rektangel 1069">
              <a:extLst>
                <a:ext uri="{FF2B5EF4-FFF2-40B4-BE49-F238E27FC236}">
                  <a16:creationId xmlns:a16="http://schemas.microsoft.com/office/drawing/2014/main" id="{D85D7A99-C5CD-38F6-939F-A3EF9E12781C}"/>
                </a:ext>
              </a:extLst>
            </p:cNvPr>
            <p:cNvSpPr/>
            <p:nvPr userDrawn="1"/>
          </p:nvSpPr>
          <p:spPr>
            <a:xfrm>
              <a:off x="7690674" y="3059433"/>
              <a:ext cx="126305" cy="132095"/>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1" name="Rektangel 1070">
              <a:extLst>
                <a:ext uri="{FF2B5EF4-FFF2-40B4-BE49-F238E27FC236}">
                  <a16:creationId xmlns:a16="http://schemas.microsoft.com/office/drawing/2014/main" id="{32FB7A58-1D8F-5665-AC4F-BA2FE1869B27}"/>
                </a:ext>
              </a:extLst>
            </p:cNvPr>
            <p:cNvSpPr/>
            <p:nvPr userDrawn="1"/>
          </p:nvSpPr>
          <p:spPr>
            <a:xfrm>
              <a:off x="7690674" y="3192130"/>
              <a:ext cx="126305" cy="132095"/>
            </a:xfrm>
            <a:prstGeom prst="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7" name="Rektangel 1076">
              <a:extLst>
                <a:ext uri="{FF2B5EF4-FFF2-40B4-BE49-F238E27FC236}">
                  <a16:creationId xmlns:a16="http://schemas.microsoft.com/office/drawing/2014/main" id="{5F9AF638-6FAD-3C50-00FA-ADD872158CE5}"/>
                </a:ext>
              </a:extLst>
            </p:cNvPr>
            <p:cNvSpPr/>
            <p:nvPr userDrawn="1"/>
          </p:nvSpPr>
          <p:spPr>
            <a:xfrm>
              <a:off x="6464595" y="23882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8" name="Rektangel 1077">
              <a:extLst>
                <a:ext uri="{FF2B5EF4-FFF2-40B4-BE49-F238E27FC236}">
                  <a16:creationId xmlns:a16="http://schemas.microsoft.com/office/drawing/2014/main" id="{C4749DD0-3DD2-A386-7BED-084BA84DBBE6}"/>
                </a:ext>
              </a:extLst>
            </p:cNvPr>
            <p:cNvSpPr/>
            <p:nvPr userDrawn="1"/>
          </p:nvSpPr>
          <p:spPr>
            <a:xfrm>
              <a:off x="6464595" y="2661345"/>
              <a:ext cx="126305" cy="132095"/>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9" name="Rektangel 1078">
              <a:extLst>
                <a:ext uri="{FF2B5EF4-FFF2-40B4-BE49-F238E27FC236}">
                  <a16:creationId xmlns:a16="http://schemas.microsoft.com/office/drawing/2014/main" id="{B4499066-323D-EE08-E5A2-F43B0807892C}"/>
                </a:ext>
              </a:extLst>
            </p:cNvPr>
            <p:cNvSpPr/>
            <p:nvPr userDrawn="1"/>
          </p:nvSpPr>
          <p:spPr>
            <a:xfrm>
              <a:off x="6464595" y="2794041"/>
              <a:ext cx="126305" cy="132095"/>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0" name="Rektangel 1079">
              <a:extLst>
                <a:ext uri="{FF2B5EF4-FFF2-40B4-BE49-F238E27FC236}">
                  <a16:creationId xmlns:a16="http://schemas.microsoft.com/office/drawing/2014/main" id="{1BBF49EA-C637-CAB3-6569-11A2CFD31079}"/>
                </a:ext>
              </a:extLst>
            </p:cNvPr>
            <p:cNvSpPr/>
            <p:nvPr userDrawn="1"/>
          </p:nvSpPr>
          <p:spPr>
            <a:xfrm>
              <a:off x="6464595" y="2926737"/>
              <a:ext cx="126305" cy="132095"/>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1" name="Rektangel 1080">
              <a:extLst>
                <a:ext uri="{FF2B5EF4-FFF2-40B4-BE49-F238E27FC236}">
                  <a16:creationId xmlns:a16="http://schemas.microsoft.com/office/drawing/2014/main" id="{1F27D949-C326-6486-1CD4-2B8AF35ADE78}"/>
                </a:ext>
              </a:extLst>
            </p:cNvPr>
            <p:cNvSpPr/>
            <p:nvPr userDrawn="1"/>
          </p:nvSpPr>
          <p:spPr>
            <a:xfrm>
              <a:off x="6464595" y="3059433"/>
              <a:ext cx="126305" cy="132095"/>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2" name="Rektangel 1081">
              <a:extLst>
                <a:ext uri="{FF2B5EF4-FFF2-40B4-BE49-F238E27FC236}">
                  <a16:creationId xmlns:a16="http://schemas.microsoft.com/office/drawing/2014/main" id="{F216B4A1-3944-F8CE-8C9B-FA88B4D03E26}"/>
                </a:ext>
              </a:extLst>
            </p:cNvPr>
            <p:cNvSpPr/>
            <p:nvPr userDrawn="1"/>
          </p:nvSpPr>
          <p:spPr>
            <a:xfrm>
              <a:off x="6464595" y="3192130"/>
              <a:ext cx="126305" cy="132095"/>
            </a:xfrm>
            <a:prstGeom prst="rect">
              <a:avLst/>
            </a:prstGeom>
            <a:solidFill>
              <a:schemeClr val="bg2">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3" name="Rektangel 1082">
              <a:extLst>
                <a:ext uri="{FF2B5EF4-FFF2-40B4-BE49-F238E27FC236}">
                  <a16:creationId xmlns:a16="http://schemas.microsoft.com/office/drawing/2014/main" id="{5F4ADBA2-1A1B-A4CA-F30B-B0C82CEC3557}"/>
                </a:ext>
              </a:extLst>
            </p:cNvPr>
            <p:cNvSpPr/>
            <p:nvPr userDrawn="1"/>
          </p:nvSpPr>
          <p:spPr>
            <a:xfrm>
              <a:off x="6108995" y="38106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4" name="Rektangel 1083">
              <a:extLst>
                <a:ext uri="{FF2B5EF4-FFF2-40B4-BE49-F238E27FC236}">
                  <a16:creationId xmlns:a16="http://schemas.microsoft.com/office/drawing/2014/main" id="{374BD5DA-8482-21B6-9413-9B1A45CF76C1}"/>
                </a:ext>
              </a:extLst>
            </p:cNvPr>
            <p:cNvSpPr/>
            <p:nvPr userDrawn="1"/>
          </p:nvSpPr>
          <p:spPr>
            <a:xfrm>
              <a:off x="6108995" y="3986378"/>
              <a:ext cx="126305" cy="126305"/>
            </a:xfrm>
            <a:prstGeom prst="rect">
              <a:avLst/>
            </a:prstGeom>
            <a:solidFill>
              <a:srgbClr val="0D4A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5" name="Rektangel 1084">
              <a:extLst>
                <a:ext uri="{FF2B5EF4-FFF2-40B4-BE49-F238E27FC236}">
                  <a16:creationId xmlns:a16="http://schemas.microsoft.com/office/drawing/2014/main" id="{5F6020BD-6733-E876-2089-C3084AEA1A1C}"/>
                </a:ext>
              </a:extLst>
            </p:cNvPr>
            <p:cNvSpPr/>
            <p:nvPr userDrawn="1"/>
          </p:nvSpPr>
          <p:spPr>
            <a:xfrm>
              <a:off x="6108995" y="4162061"/>
              <a:ext cx="126305" cy="126305"/>
            </a:xfrm>
            <a:prstGeom prst="rect">
              <a:avLst/>
            </a:prstGeom>
            <a:solidFill>
              <a:srgbClr val="4DA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6" name="Rektangel 1085">
              <a:extLst>
                <a:ext uri="{FF2B5EF4-FFF2-40B4-BE49-F238E27FC236}">
                  <a16:creationId xmlns:a16="http://schemas.microsoft.com/office/drawing/2014/main" id="{C4348C5F-5E10-920F-C2FB-889532E2F622}"/>
                </a:ext>
              </a:extLst>
            </p:cNvPr>
            <p:cNvSpPr/>
            <p:nvPr userDrawn="1"/>
          </p:nvSpPr>
          <p:spPr>
            <a:xfrm>
              <a:off x="6108995" y="4337745"/>
              <a:ext cx="126305" cy="126305"/>
            </a:xfrm>
            <a:prstGeom prst="rect">
              <a:avLst/>
            </a:prstGeom>
            <a:solidFill>
              <a:srgbClr val="C7EB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7" name="Rektangel 1086">
              <a:extLst>
                <a:ext uri="{FF2B5EF4-FFF2-40B4-BE49-F238E27FC236}">
                  <a16:creationId xmlns:a16="http://schemas.microsoft.com/office/drawing/2014/main" id="{D2D321FD-AE36-8DCA-8744-C0F46B88F58C}"/>
                </a:ext>
              </a:extLst>
            </p:cNvPr>
            <p:cNvSpPr/>
            <p:nvPr userDrawn="1"/>
          </p:nvSpPr>
          <p:spPr>
            <a:xfrm>
              <a:off x="6285031" y="3810695"/>
              <a:ext cx="126305" cy="12630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8" name="Rektangel 1087">
              <a:extLst>
                <a:ext uri="{FF2B5EF4-FFF2-40B4-BE49-F238E27FC236}">
                  <a16:creationId xmlns:a16="http://schemas.microsoft.com/office/drawing/2014/main" id="{A93DF2FE-61D7-AA01-C339-B2ECCF6D103B}"/>
                </a:ext>
              </a:extLst>
            </p:cNvPr>
            <p:cNvSpPr/>
            <p:nvPr userDrawn="1"/>
          </p:nvSpPr>
          <p:spPr>
            <a:xfrm>
              <a:off x="6285031" y="3986378"/>
              <a:ext cx="126305" cy="126305"/>
            </a:xfrm>
            <a:prstGeom prst="rect">
              <a:avLst/>
            </a:prstGeom>
            <a:solidFill>
              <a:srgbClr val="1C434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9" name="Rektangel 1088">
              <a:extLst>
                <a:ext uri="{FF2B5EF4-FFF2-40B4-BE49-F238E27FC236}">
                  <a16:creationId xmlns:a16="http://schemas.microsoft.com/office/drawing/2014/main" id="{89244240-2B76-F8CB-21C9-2B1FA90DD280}"/>
                </a:ext>
              </a:extLst>
            </p:cNvPr>
            <p:cNvSpPr/>
            <p:nvPr userDrawn="1"/>
          </p:nvSpPr>
          <p:spPr>
            <a:xfrm>
              <a:off x="6285031" y="4162061"/>
              <a:ext cx="126305" cy="126305"/>
            </a:xfrm>
            <a:prstGeom prst="rect">
              <a:avLst/>
            </a:prstGeom>
            <a:solidFill>
              <a:srgbClr val="339C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0" name="Rektangel 1089">
              <a:extLst>
                <a:ext uri="{FF2B5EF4-FFF2-40B4-BE49-F238E27FC236}">
                  <a16:creationId xmlns:a16="http://schemas.microsoft.com/office/drawing/2014/main" id="{33D9BE51-B8F2-F451-C1A3-3725C01F9D93}"/>
                </a:ext>
              </a:extLst>
            </p:cNvPr>
            <p:cNvSpPr/>
            <p:nvPr userDrawn="1"/>
          </p:nvSpPr>
          <p:spPr>
            <a:xfrm>
              <a:off x="6285031" y="4337745"/>
              <a:ext cx="126305" cy="126305"/>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1" name="Rektangel 1090">
              <a:extLst>
                <a:ext uri="{FF2B5EF4-FFF2-40B4-BE49-F238E27FC236}">
                  <a16:creationId xmlns:a16="http://schemas.microsoft.com/office/drawing/2014/main" id="{ACA30911-7D60-921E-C70A-F693BE675834}"/>
                </a:ext>
              </a:extLst>
            </p:cNvPr>
            <p:cNvSpPr/>
            <p:nvPr userDrawn="1"/>
          </p:nvSpPr>
          <p:spPr>
            <a:xfrm>
              <a:off x="6461067" y="38106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2" name="Rektangel 1091">
              <a:extLst>
                <a:ext uri="{FF2B5EF4-FFF2-40B4-BE49-F238E27FC236}">
                  <a16:creationId xmlns:a16="http://schemas.microsoft.com/office/drawing/2014/main" id="{7C3A2D5F-4466-B210-4CF0-4DBBC6BB3BA6}"/>
                </a:ext>
              </a:extLst>
            </p:cNvPr>
            <p:cNvSpPr/>
            <p:nvPr userDrawn="1"/>
          </p:nvSpPr>
          <p:spPr>
            <a:xfrm>
              <a:off x="6461067" y="3986378"/>
              <a:ext cx="126305" cy="126305"/>
            </a:xfrm>
            <a:prstGeom prst="rect">
              <a:avLst/>
            </a:prstGeom>
            <a:solidFill>
              <a:srgbClr val="78001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3" name="Rektangel 1092">
              <a:extLst>
                <a:ext uri="{FF2B5EF4-FFF2-40B4-BE49-F238E27FC236}">
                  <a16:creationId xmlns:a16="http://schemas.microsoft.com/office/drawing/2014/main" id="{3DB1223D-C353-676D-5093-C19368A843EA}"/>
                </a:ext>
              </a:extLst>
            </p:cNvPr>
            <p:cNvSpPr/>
            <p:nvPr userDrawn="1"/>
          </p:nvSpPr>
          <p:spPr>
            <a:xfrm>
              <a:off x="6461067" y="4162061"/>
              <a:ext cx="126305" cy="126305"/>
            </a:xfrm>
            <a:prstGeom prst="rect">
              <a:avLst/>
            </a:prstGeom>
            <a:solidFill>
              <a:srgbClr val="E86A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4" name="Rektangel 1093">
              <a:extLst>
                <a:ext uri="{FF2B5EF4-FFF2-40B4-BE49-F238E27FC236}">
                  <a16:creationId xmlns:a16="http://schemas.microsoft.com/office/drawing/2014/main" id="{ECBE00DC-9A99-ED4F-7AB0-E71447F5BE95}"/>
                </a:ext>
              </a:extLst>
            </p:cNvPr>
            <p:cNvSpPr/>
            <p:nvPr userDrawn="1"/>
          </p:nvSpPr>
          <p:spPr>
            <a:xfrm>
              <a:off x="6461067" y="4337745"/>
              <a:ext cx="126305" cy="126305"/>
            </a:xfrm>
            <a:prstGeom prst="rect">
              <a:avLst/>
            </a:prstGeom>
            <a:solidFill>
              <a:srgbClr val="FFCC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5" name="Rektangel 1094">
              <a:extLst>
                <a:ext uri="{FF2B5EF4-FFF2-40B4-BE49-F238E27FC236}">
                  <a16:creationId xmlns:a16="http://schemas.microsoft.com/office/drawing/2014/main" id="{5BAC4B2F-5948-684F-53E5-17024EA24387}"/>
                </a:ext>
              </a:extLst>
            </p:cNvPr>
            <p:cNvSpPr/>
            <p:nvPr userDrawn="1"/>
          </p:nvSpPr>
          <p:spPr>
            <a:xfrm>
              <a:off x="6637103" y="38106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6" name="Rektangel 1095">
              <a:extLst>
                <a:ext uri="{FF2B5EF4-FFF2-40B4-BE49-F238E27FC236}">
                  <a16:creationId xmlns:a16="http://schemas.microsoft.com/office/drawing/2014/main" id="{9DED6478-BDF3-512F-58F3-E36C2B3C3BAA}"/>
                </a:ext>
              </a:extLst>
            </p:cNvPr>
            <p:cNvSpPr/>
            <p:nvPr userDrawn="1"/>
          </p:nvSpPr>
          <p:spPr>
            <a:xfrm>
              <a:off x="6637103" y="3986378"/>
              <a:ext cx="126305" cy="126305"/>
            </a:xfrm>
            <a:prstGeom prst="rect">
              <a:avLst/>
            </a:prstGeom>
            <a:solidFill>
              <a:srgbClr val="A65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7" name="Rektangel 1096">
              <a:extLst>
                <a:ext uri="{FF2B5EF4-FFF2-40B4-BE49-F238E27FC236}">
                  <a16:creationId xmlns:a16="http://schemas.microsoft.com/office/drawing/2014/main" id="{6D820422-D0D9-5ACE-DB5E-ACF44106A99E}"/>
                </a:ext>
              </a:extLst>
            </p:cNvPr>
            <p:cNvSpPr/>
            <p:nvPr userDrawn="1"/>
          </p:nvSpPr>
          <p:spPr>
            <a:xfrm>
              <a:off x="6637103" y="4162061"/>
              <a:ext cx="126305" cy="126305"/>
            </a:xfrm>
            <a:prstGeom prst="rect">
              <a:avLst/>
            </a:prstGeom>
            <a:solidFill>
              <a:srgbClr val="FFBE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8" name="Rektangel 1097">
              <a:extLst>
                <a:ext uri="{FF2B5EF4-FFF2-40B4-BE49-F238E27FC236}">
                  <a16:creationId xmlns:a16="http://schemas.microsoft.com/office/drawing/2014/main" id="{8B60BAF5-04DE-84E4-664B-F75D369387BB}"/>
                </a:ext>
              </a:extLst>
            </p:cNvPr>
            <p:cNvSpPr/>
            <p:nvPr userDrawn="1"/>
          </p:nvSpPr>
          <p:spPr>
            <a:xfrm>
              <a:off x="6637103" y="4337745"/>
              <a:ext cx="126305" cy="126305"/>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9" name="Rektangel 1098">
              <a:extLst>
                <a:ext uri="{FF2B5EF4-FFF2-40B4-BE49-F238E27FC236}">
                  <a16:creationId xmlns:a16="http://schemas.microsoft.com/office/drawing/2014/main" id="{2E36144B-8356-508C-530F-E4563E893F8E}"/>
                </a:ext>
              </a:extLst>
            </p:cNvPr>
            <p:cNvSpPr/>
            <p:nvPr userDrawn="1"/>
          </p:nvSpPr>
          <p:spPr>
            <a:xfrm>
              <a:off x="6813139" y="38106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0" name="Rektangel 1099">
              <a:extLst>
                <a:ext uri="{FF2B5EF4-FFF2-40B4-BE49-F238E27FC236}">
                  <a16:creationId xmlns:a16="http://schemas.microsoft.com/office/drawing/2014/main" id="{4A6003A8-E644-C22A-594E-648C05A084B5}"/>
                </a:ext>
              </a:extLst>
            </p:cNvPr>
            <p:cNvSpPr/>
            <p:nvPr userDrawn="1"/>
          </p:nvSpPr>
          <p:spPr>
            <a:xfrm>
              <a:off x="6813139" y="3986378"/>
              <a:ext cx="126305" cy="126305"/>
            </a:xfrm>
            <a:prstGeom prst="rect">
              <a:avLst/>
            </a:prstGeom>
            <a:solidFill>
              <a:srgbClr val="3232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1" name="Rektangel 1100">
              <a:extLst>
                <a:ext uri="{FF2B5EF4-FFF2-40B4-BE49-F238E27FC236}">
                  <a16:creationId xmlns:a16="http://schemas.microsoft.com/office/drawing/2014/main" id="{71252218-348E-C0A3-6703-29BD88D5A17F}"/>
                </a:ext>
              </a:extLst>
            </p:cNvPr>
            <p:cNvSpPr/>
            <p:nvPr userDrawn="1"/>
          </p:nvSpPr>
          <p:spPr>
            <a:xfrm>
              <a:off x="6813139" y="4162061"/>
              <a:ext cx="126305" cy="126305"/>
            </a:xfrm>
            <a:prstGeom prst="rect">
              <a:avLst/>
            </a:prstGeom>
            <a:solidFill>
              <a:srgbClr val="A5A5A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2" name="Rektangel 1101">
              <a:extLst>
                <a:ext uri="{FF2B5EF4-FFF2-40B4-BE49-F238E27FC236}">
                  <a16:creationId xmlns:a16="http://schemas.microsoft.com/office/drawing/2014/main" id="{F40D39AB-38A0-8D9F-98CF-0849C6CB1A97}"/>
                </a:ext>
              </a:extLst>
            </p:cNvPr>
            <p:cNvSpPr/>
            <p:nvPr userDrawn="1"/>
          </p:nvSpPr>
          <p:spPr>
            <a:xfrm>
              <a:off x="6813139" y="4337745"/>
              <a:ext cx="126305" cy="126305"/>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3" name="Rektangel 1102">
              <a:extLst>
                <a:ext uri="{FF2B5EF4-FFF2-40B4-BE49-F238E27FC236}">
                  <a16:creationId xmlns:a16="http://schemas.microsoft.com/office/drawing/2014/main" id="{B0EEB85D-E1B5-BB7E-06F5-B7F663E237EA}"/>
                </a:ext>
              </a:extLst>
            </p:cNvPr>
            <p:cNvSpPr/>
            <p:nvPr userDrawn="1"/>
          </p:nvSpPr>
          <p:spPr>
            <a:xfrm>
              <a:off x="6989175" y="38106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4" name="Rektangel 1103">
              <a:extLst>
                <a:ext uri="{FF2B5EF4-FFF2-40B4-BE49-F238E27FC236}">
                  <a16:creationId xmlns:a16="http://schemas.microsoft.com/office/drawing/2014/main" id="{0C4BF3AC-6949-B173-1F6F-7ACF6CCCA68D}"/>
                </a:ext>
              </a:extLst>
            </p:cNvPr>
            <p:cNvSpPr/>
            <p:nvPr userDrawn="1"/>
          </p:nvSpPr>
          <p:spPr>
            <a:xfrm>
              <a:off x="6989175"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5" name="Rektangel 1104">
              <a:extLst>
                <a:ext uri="{FF2B5EF4-FFF2-40B4-BE49-F238E27FC236}">
                  <a16:creationId xmlns:a16="http://schemas.microsoft.com/office/drawing/2014/main" id="{5E724053-DDC1-BCE6-018B-3C13912CBCAA}"/>
                </a:ext>
              </a:extLst>
            </p:cNvPr>
            <p:cNvSpPr/>
            <p:nvPr userDrawn="1"/>
          </p:nvSpPr>
          <p:spPr>
            <a:xfrm>
              <a:off x="6989175"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7" name="Rektangel 1106">
              <a:extLst>
                <a:ext uri="{FF2B5EF4-FFF2-40B4-BE49-F238E27FC236}">
                  <a16:creationId xmlns:a16="http://schemas.microsoft.com/office/drawing/2014/main" id="{B89A7384-2EB1-E47E-4661-2C135E836BAB}"/>
                </a:ext>
              </a:extLst>
            </p:cNvPr>
            <p:cNvSpPr/>
            <p:nvPr userDrawn="1"/>
          </p:nvSpPr>
          <p:spPr>
            <a:xfrm>
              <a:off x="7165211"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8" name="Rektangel 1107">
              <a:extLst>
                <a:ext uri="{FF2B5EF4-FFF2-40B4-BE49-F238E27FC236}">
                  <a16:creationId xmlns:a16="http://schemas.microsoft.com/office/drawing/2014/main" id="{64053484-E065-730D-63D9-F3F09E971CEC}"/>
                </a:ext>
              </a:extLst>
            </p:cNvPr>
            <p:cNvSpPr/>
            <p:nvPr userDrawn="1"/>
          </p:nvSpPr>
          <p:spPr>
            <a:xfrm>
              <a:off x="7165211"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9" name="Rektangel 1108">
              <a:extLst>
                <a:ext uri="{FF2B5EF4-FFF2-40B4-BE49-F238E27FC236}">
                  <a16:creationId xmlns:a16="http://schemas.microsoft.com/office/drawing/2014/main" id="{E5345871-5F8B-2377-CAC8-6913E51EB927}"/>
                </a:ext>
              </a:extLst>
            </p:cNvPr>
            <p:cNvSpPr/>
            <p:nvPr userDrawn="1"/>
          </p:nvSpPr>
          <p:spPr>
            <a:xfrm>
              <a:off x="7165211"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1" name="Rektangel 1110">
              <a:extLst>
                <a:ext uri="{FF2B5EF4-FFF2-40B4-BE49-F238E27FC236}">
                  <a16:creationId xmlns:a16="http://schemas.microsoft.com/office/drawing/2014/main" id="{15038F50-63E9-76D9-070D-599071F6D0B1}"/>
                </a:ext>
              </a:extLst>
            </p:cNvPr>
            <p:cNvSpPr/>
            <p:nvPr userDrawn="1"/>
          </p:nvSpPr>
          <p:spPr>
            <a:xfrm>
              <a:off x="7341247"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2" name="Rektangel 1111">
              <a:extLst>
                <a:ext uri="{FF2B5EF4-FFF2-40B4-BE49-F238E27FC236}">
                  <a16:creationId xmlns:a16="http://schemas.microsoft.com/office/drawing/2014/main" id="{062851F2-FDB2-63C5-B741-C1CAD1FE3211}"/>
                </a:ext>
              </a:extLst>
            </p:cNvPr>
            <p:cNvSpPr/>
            <p:nvPr userDrawn="1"/>
          </p:nvSpPr>
          <p:spPr>
            <a:xfrm>
              <a:off x="7341247"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3" name="Rektangel 1112">
              <a:extLst>
                <a:ext uri="{FF2B5EF4-FFF2-40B4-BE49-F238E27FC236}">
                  <a16:creationId xmlns:a16="http://schemas.microsoft.com/office/drawing/2014/main" id="{DE4F3BAC-C90D-4B77-27FF-4CD535F909E2}"/>
                </a:ext>
              </a:extLst>
            </p:cNvPr>
            <p:cNvSpPr/>
            <p:nvPr userDrawn="1"/>
          </p:nvSpPr>
          <p:spPr>
            <a:xfrm>
              <a:off x="7341247"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5" name="Rektangel 1114">
              <a:extLst>
                <a:ext uri="{FF2B5EF4-FFF2-40B4-BE49-F238E27FC236}">
                  <a16:creationId xmlns:a16="http://schemas.microsoft.com/office/drawing/2014/main" id="{6625D88E-960F-4248-3CEB-C2E5020321B6}"/>
                </a:ext>
              </a:extLst>
            </p:cNvPr>
            <p:cNvSpPr/>
            <p:nvPr userDrawn="1"/>
          </p:nvSpPr>
          <p:spPr>
            <a:xfrm>
              <a:off x="7517283"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6" name="Rektangel 1115">
              <a:extLst>
                <a:ext uri="{FF2B5EF4-FFF2-40B4-BE49-F238E27FC236}">
                  <a16:creationId xmlns:a16="http://schemas.microsoft.com/office/drawing/2014/main" id="{C10CFB8F-8E16-B335-A926-3A4BAA2E78D5}"/>
                </a:ext>
              </a:extLst>
            </p:cNvPr>
            <p:cNvSpPr/>
            <p:nvPr userDrawn="1"/>
          </p:nvSpPr>
          <p:spPr>
            <a:xfrm>
              <a:off x="7517283"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7" name="Rektangel 1116">
              <a:extLst>
                <a:ext uri="{FF2B5EF4-FFF2-40B4-BE49-F238E27FC236}">
                  <a16:creationId xmlns:a16="http://schemas.microsoft.com/office/drawing/2014/main" id="{1BAFE015-800E-787E-0572-90F6C0823C14}"/>
                </a:ext>
              </a:extLst>
            </p:cNvPr>
            <p:cNvSpPr/>
            <p:nvPr userDrawn="1"/>
          </p:nvSpPr>
          <p:spPr>
            <a:xfrm>
              <a:off x="7517283"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9" name="Rektangel 1118">
              <a:extLst>
                <a:ext uri="{FF2B5EF4-FFF2-40B4-BE49-F238E27FC236}">
                  <a16:creationId xmlns:a16="http://schemas.microsoft.com/office/drawing/2014/main" id="{4A97B2EF-9E28-C94C-6879-E7C073C12C39}"/>
                </a:ext>
              </a:extLst>
            </p:cNvPr>
            <p:cNvSpPr/>
            <p:nvPr userDrawn="1"/>
          </p:nvSpPr>
          <p:spPr>
            <a:xfrm>
              <a:off x="7693320"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0" name="Rektangel 1119">
              <a:extLst>
                <a:ext uri="{FF2B5EF4-FFF2-40B4-BE49-F238E27FC236}">
                  <a16:creationId xmlns:a16="http://schemas.microsoft.com/office/drawing/2014/main" id="{0046F9B6-9CA1-5B09-D162-A1A23AA1E72E}"/>
                </a:ext>
              </a:extLst>
            </p:cNvPr>
            <p:cNvSpPr/>
            <p:nvPr userDrawn="1"/>
          </p:nvSpPr>
          <p:spPr>
            <a:xfrm>
              <a:off x="7693320"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1" name="Rektangel 1120">
              <a:extLst>
                <a:ext uri="{FF2B5EF4-FFF2-40B4-BE49-F238E27FC236}">
                  <a16:creationId xmlns:a16="http://schemas.microsoft.com/office/drawing/2014/main" id="{555E2503-2C99-3601-4234-B5374905D676}"/>
                </a:ext>
              </a:extLst>
            </p:cNvPr>
            <p:cNvSpPr/>
            <p:nvPr userDrawn="1"/>
          </p:nvSpPr>
          <p:spPr>
            <a:xfrm>
              <a:off x="7693320"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grpSp>
      <p:sp>
        <p:nvSpPr>
          <p:cNvPr id="11" name="Rektangel med rundade hörn 10">
            <a:extLst>
              <a:ext uri="{FF2B5EF4-FFF2-40B4-BE49-F238E27FC236}">
                <a16:creationId xmlns:a16="http://schemas.microsoft.com/office/drawing/2014/main" id="{636AEB1C-664E-B3BB-DB73-01E07A3BF846}"/>
              </a:ext>
            </a:extLst>
          </p:cNvPr>
          <p:cNvSpPr/>
          <p:nvPr userDrawn="1"/>
        </p:nvSpPr>
        <p:spPr>
          <a:xfrm>
            <a:off x="6062449" y="2168771"/>
            <a:ext cx="800154" cy="97738"/>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26" name="Rektangel med rundade hörn 1125">
            <a:extLst>
              <a:ext uri="{FF2B5EF4-FFF2-40B4-BE49-F238E27FC236}">
                <a16:creationId xmlns:a16="http://schemas.microsoft.com/office/drawing/2014/main" id="{F5D2D686-1879-1B11-9682-DCB8A43C167A}"/>
              </a:ext>
            </a:extLst>
          </p:cNvPr>
          <p:cNvSpPr/>
          <p:nvPr userDrawn="1"/>
        </p:nvSpPr>
        <p:spPr>
          <a:xfrm>
            <a:off x="6062449" y="2800595"/>
            <a:ext cx="800154" cy="331200"/>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grpSp>
        <p:nvGrpSpPr>
          <p:cNvPr id="38" name="Grupp 37">
            <a:extLst>
              <a:ext uri="{FF2B5EF4-FFF2-40B4-BE49-F238E27FC236}">
                <a16:creationId xmlns:a16="http://schemas.microsoft.com/office/drawing/2014/main" id="{6F818A9C-F465-3CE9-20FA-7BDEA4C864A3}"/>
              </a:ext>
            </a:extLst>
          </p:cNvPr>
          <p:cNvGrpSpPr/>
          <p:nvPr userDrawn="1"/>
        </p:nvGrpSpPr>
        <p:grpSpPr>
          <a:xfrm>
            <a:off x="6074571" y="3306851"/>
            <a:ext cx="781200" cy="90681"/>
            <a:chOff x="6511014" y="2308965"/>
            <a:chExt cx="602272" cy="346936"/>
          </a:xfrm>
        </p:grpSpPr>
        <p:sp>
          <p:nvSpPr>
            <p:cNvPr id="39" name="Rektangel med rundade hörn 38">
              <a:extLst>
                <a:ext uri="{FF2B5EF4-FFF2-40B4-BE49-F238E27FC236}">
                  <a16:creationId xmlns:a16="http://schemas.microsoft.com/office/drawing/2014/main" id="{341D2BCA-FEB1-3F16-2075-DBBCEE121133}"/>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40" name="Rak 39">
              <a:extLst>
                <a:ext uri="{FF2B5EF4-FFF2-40B4-BE49-F238E27FC236}">
                  <a16:creationId xmlns:a16="http://schemas.microsoft.com/office/drawing/2014/main" id="{245C22F3-BAE7-75A9-96B0-E39BB2EFEC22}"/>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41" name="Rak 40">
              <a:extLst>
                <a:ext uri="{FF2B5EF4-FFF2-40B4-BE49-F238E27FC236}">
                  <a16:creationId xmlns:a16="http://schemas.microsoft.com/office/drawing/2014/main" id="{1947DE09-EBCF-E910-33E6-512123ADAAFA}"/>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grpSp>
        <p:nvGrpSpPr>
          <p:cNvPr id="1127" name="Grupp 1126">
            <a:extLst>
              <a:ext uri="{FF2B5EF4-FFF2-40B4-BE49-F238E27FC236}">
                <a16:creationId xmlns:a16="http://schemas.microsoft.com/office/drawing/2014/main" id="{5E961FC3-B409-F6A8-2D6C-145379049C89}"/>
              </a:ext>
            </a:extLst>
          </p:cNvPr>
          <p:cNvGrpSpPr/>
          <p:nvPr userDrawn="1"/>
        </p:nvGrpSpPr>
        <p:grpSpPr>
          <a:xfrm>
            <a:off x="6074571" y="2295574"/>
            <a:ext cx="781200" cy="324083"/>
            <a:chOff x="6511014" y="2308965"/>
            <a:chExt cx="602272" cy="346936"/>
          </a:xfrm>
        </p:grpSpPr>
        <p:sp>
          <p:nvSpPr>
            <p:cNvPr id="1128" name="Rektangel med rundade hörn 1127">
              <a:extLst>
                <a:ext uri="{FF2B5EF4-FFF2-40B4-BE49-F238E27FC236}">
                  <a16:creationId xmlns:a16="http://schemas.microsoft.com/office/drawing/2014/main" id="{2B5BA7A3-F734-9E73-0F7B-B2A14C010F59}"/>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1129" name="Rak 1128">
              <a:extLst>
                <a:ext uri="{FF2B5EF4-FFF2-40B4-BE49-F238E27FC236}">
                  <a16:creationId xmlns:a16="http://schemas.microsoft.com/office/drawing/2014/main" id="{23AB9D37-FDD0-9B73-576D-D72C040BD7D8}"/>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1130" name="Rak 1129">
              <a:extLst>
                <a:ext uri="{FF2B5EF4-FFF2-40B4-BE49-F238E27FC236}">
                  <a16:creationId xmlns:a16="http://schemas.microsoft.com/office/drawing/2014/main" id="{3A5FBCF0-695B-2C2E-D769-6AEE9E5D9CA6}"/>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2272421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ccessibility Office 2013/2016">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120FD48D-1F42-B341-AF85-AE480DB64991}" type="datetime1">
              <a:rPr lang="sv-SE" smtClean="0"/>
              <a:t>2025-01-14</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2" name="textruta 1">
            <a:extLst>
              <a:ext uri="{FF2B5EF4-FFF2-40B4-BE49-F238E27FC236}">
                <a16:creationId xmlns:a16="http://schemas.microsoft.com/office/drawing/2014/main" id="{1A0056A6-C8C3-8E39-A19D-E42D44FC04A1}"/>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2013/2016.</a:t>
            </a:r>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3216265"/>
          </a:xfrm>
          <a:prstGeom prst="rect">
            <a:avLst/>
          </a:prstGeom>
          <a:noFill/>
        </p:spPr>
        <p:txBody>
          <a:bodyPr wrap="square" rtlCol="0">
            <a:spAutoFit/>
          </a:bodyPr>
          <a:lstStyle/>
          <a:p>
            <a:pPr>
              <a:spcAft>
                <a:spcPts val="600"/>
              </a:spcAft>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latin typeface="+mj-lt"/>
              </a:rPr>
              <a:t>You can control the reading order by:</a:t>
            </a:r>
          </a:p>
          <a:p>
            <a:pPr marL="228600" indent="-228600">
              <a:spcAft>
                <a:spcPts val="600"/>
              </a:spcAft>
              <a:buClr>
                <a:schemeClr val="accent1"/>
              </a:buClr>
              <a:buFont typeface="+mj-lt"/>
              <a:buAutoNum type="arabicPeriod"/>
            </a:pPr>
            <a:r>
              <a:rPr lang="en-US" sz="1200" dirty="0"/>
              <a:t>Selecting an object in the file.</a:t>
            </a:r>
          </a:p>
          <a:p>
            <a:pPr marL="228600" indent="-228600">
              <a:spcAft>
                <a:spcPts val="600"/>
              </a:spcAft>
              <a:buClr>
                <a:schemeClr val="accent1"/>
              </a:buClr>
              <a:buFont typeface="+mj-lt"/>
              <a:buAutoNum type="arabicPeriod"/>
            </a:pPr>
            <a:r>
              <a:rPr lang="en-US" sz="1200" dirty="0"/>
              <a:t>Choosing the "Format" tab that appears on the right side of the ribbon.</a:t>
            </a:r>
          </a:p>
          <a:p>
            <a:pPr marL="228600" indent="-228600">
              <a:spcAft>
                <a:spcPts val="600"/>
              </a:spcAft>
              <a:buClr>
                <a:schemeClr val="accent1"/>
              </a:buClr>
              <a:buFont typeface="+mj-lt"/>
              <a:buAutoNum type="arabicPeriod"/>
            </a:pPr>
            <a:r>
              <a:rPr lang="en-US" sz="1200" dirty="0"/>
              <a:t>Selecting "Selection Pane" in the "Arrange" group.</a:t>
            </a:r>
          </a:p>
          <a:p>
            <a:pPr marL="228600" indent="-228600">
              <a:spcAft>
                <a:spcPts val="600"/>
              </a:spcAft>
              <a:buClr>
                <a:schemeClr val="accent1"/>
              </a:buClr>
              <a:buFont typeface="+mj-lt"/>
              <a:buAutoNum type="arabicPeriod"/>
            </a:pPr>
            <a:r>
              <a:rPr lang="en-US" sz="1200" dirty="0"/>
              <a:t>Selecting one or more objects in the list.</a:t>
            </a:r>
          </a:p>
          <a:p>
            <a:pPr marL="228600" indent="-228600">
              <a:spcAft>
                <a:spcPts val="600"/>
              </a:spcAft>
              <a:buClr>
                <a:schemeClr val="accent1"/>
              </a:buClr>
              <a:buFont typeface="+mj-lt"/>
              <a:buAutoNum type="arabicPeriod"/>
            </a:pPr>
            <a:r>
              <a:rPr lang="en-US" sz="1200" dirty="0"/>
              <a:t>Dragging the selection upward or downward, or clicking the "Up" button.</a:t>
            </a:r>
          </a:p>
          <a:p>
            <a:pPr marL="228600" indent="-228600">
              <a:spcAft>
                <a:spcPts val="600"/>
              </a:spcAft>
              <a:buClr>
                <a:schemeClr val="accent1"/>
              </a:buClr>
              <a:buFont typeface="+mj-lt"/>
              <a:buAutoNum type="arabicPeriod"/>
            </a:pPr>
            <a:r>
              <a:rPr lang="en-US" sz="1200" dirty="0"/>
              <a:t>Dragging the objects until they have the desired order. This will not affect the layout on the page, only the order in which they are read by screen readers.</a:t>
            </a:r>
          </a:p>
        </p:txBody>
      </p:sp>
    </p:spTree>
    <p:extLst>
      <p:ext uri="{BB962C8B-B14F-4D97-AF65-F5344CB8AC3E}">
        <p14:creationId xmlns:p14="http://schemas.microsoft.com/office/powerpoint/2010/main" val="460740386"/>
      </p:ext>
    </p:extLst>
  </p:cSld>
  <p:clrMapOvr>
    <a:masterClrMapping/>
  </p:clrMapOvr>
  <p:timing>
    <p:tnLst>
      <p:par>
        <p:cTn id="1" dur="indefinite" restart="never" nodeType="tmRoot"/>
      </p:par>
    </p:tnLst>
  </p:timing>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ccessibility Office 365/2019">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45830D3C-297D-AF4B-BF84-42155CB091D6}" type="datetime1">
              <a:rPr lang="sv-SE" smtClean="0"/>
              <a:t>2025-01-14</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2246769"/>
          </a:xfrm>
          <a:prstGeom prst="rect">
            <a:avLst/>
          </a:prstGeom>
          <a:noFill/>
        </p:spPr>
        <p:txBody>
          <a:bodyPr wrap="square" rtlCol="0">
            <a:spAutoFit/>
          </a:bodyPr>
          <a:lstStyle/>
          <a:p>
            <a:pPr marL="0" indent="0">
              <a:spcAft>
                <a:spcPts val="600"/>
              </a:spcAft>
              <a:buNone/>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rPr>
              <a:t>You can control the reading order by:</a:t>
            </a:r>
          </a:p>
          <a:p>
            <a:pPr marL="228600" indent="-228600">
              <a:spcAft>
                <a:spcPts val="600"/>
              </a:spcAft>
              <a:buClr>
                <a:schemeClr val="accent1"/>
              </a:buClr>
              <a:buFont typeface="+mj-lt"/>
              <a:buAutoNum type="arabicPeriod"/>
            </a:pPr>
            <a:r>
              <a:rPr lang="en-US" sz="1200" dirty="0"/>
              <a:t>On the </a:t>
            </a:r>
            <a:r>
              <a:rPr lang="en-US" sz="1200" i="1" dirty="0"/>
              <a:t>Home</a:t>
            </a:r>
            <a:r>
              <a:rPr lang="en-US" sz="1200" dirty="0"/>
              <a:t> tab, select </a:t>
            </a:r>
            <a:r>
              <a:rPr lang="en-US" sz="1200" i="1" dirty="0"/>
              <a:t>Arrange</a:t>
            </a:r>
          </a:p>
          <a:p>
            <a:pPr marL="228600" indent="-228600">
              <a:spcAft>
                <a:spcPts val="600"/>
              </a:spcAft>
              <a:buClr>
                <a:schemeClr val="accent1"/>
              </a:buClr>
              <a:buFont typeface="+mj-lt"/>
              <a:buAutoNum type="arabicPeriod"/>
            </a:pPr>
            <a:r>
              <a:rPr lang="en-US" sz="1200" dirty="0"/>
              <a:t>From the </a:t>
            </a:r>
            <a:r>
              <a:rPr lang="en-US" sz="1200" i="1" dirty="0"/>
              <a:t>Arrange </a:t>
            </a:r>
            <a:r>
              <a:rPr lang="en-US" sz="1200" dirty="0"/>
              <a:t>menu, choose "Selection Pane.“</a:t>
            </a:r>
          </a:p>
          <a:p>
            <a:pPr marL="228600" indent="-228600">
              <a:spcAft>
                <a:spcPts val="600"/>
              </a:spcAft>
              <a:buClr>
                <a:schemeClr val="accent1"/>
              </a:buClr>
              <a:buFont typeface="+mj-lt"/>
              <a:buAutoNum type="arabicPeriod"/>
            </a:pPr>
            <a:r>
              <a:rPr lang="en-US" sz="1200" dirty="0"/>
              <a:t>A tab will open on the right side of the window. Drag the objects until they have the desired order. This will not affect the layout on the page, only the order in which they are read by screen readers.</a:t>
            </a:r>
          </a:p>
        </p:txBody>
      </p:sp>
      <p:sp>
        <p:nvSpPr>
          <p:cNvPr id="6" name="textruta 5">
            <a:extLst>
              <a:ext uri="{FF2B5EF4-FFF2-40B4-BE49-F238E27FC236}">
                <a16:creationId xmlns:a16="http://schemas.microsoft.com/office/drawing/2014/main" id="{60BCB9D5-FB2E-F01B-B2C5-5BFB4C55D46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8" name="textruta 7">
            <a:extLst>
              <a:ext uri="{FF2B5EF4-FFF2-40B4-BE49-F238E27FC236}">
                <a16:creationId xmlns:a16="http://schemas.microsoft.com/office/drawing/2014/main" id="{83F6329C-964B-2CDD-13A7-0D9A1FF8FB4F}"/>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365 or Office 2019.</a:t>
            </a:r>
          </a:p>
        </p:txBody>
      </p:sp>
    </p:spTree>
    <p:extLst>
      <p:ext uri="{BB962C8B-B14F-4D97-AF65-F5344CB8AC3E}">
        <p14:creationId xmlns:p14="http://schemas.microsoft.com/office/powerpoint/2010/main" val="788371079"/>
      </p:ext>
    </p:extLst>
  </p:cSld>
  <p:clrMapOvr>
    <a:masterClrMapping/>
  </p:clrMapOvr>
  <p:timing>
    <p:tnLst>
      <p:par>
        <p:cTn id="1" dur="indefinite" restart="never" nodeType="tmRoot"/>
      </p:par>
    </p:tnLst>
  </p:timing>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tr-T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r-T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r-TR"/>
          </a:p>
        </p:txBody>
      </p:sp>
    </p:spTree>
    <p:extLst>
      <p:ext uri="{BB962C8B-B14F-4D97-AF65-F5344CB8AC3E}">
        <p14:creationId xmlns:p14="http://schemas.microsoft.com/office/powerpoint/2010/main" val="2140915117"/>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image" Target="../media/image1.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220414E7-5508-776E-6BBC-4EE50480958F}"/>
              </a:ext>
            </a:extLst>
          </p:cNvPr>
          <p:cNvSpPr>
            <a:spLocks noGrp="1"/>
          </p:cNvSpPr>
          <p:nvPr>
            <p:ph type="title"/>
          </p:nvPr>
        </p:nvSpPr>
        <p:spPr>
          <a:xfrm>
            <a:off x="600075" y="1095632"/>
            <a:ext cx="10990263" cy="568412"/>
          </a:xfrm>
          <a:prstGeom prst="rect">
            <a:avLst/>
          </a:prstGeom>
        </p:spPr>
        <p:txBody>
          <a:bodyPr vert="horz" lIns="91440" tIns="108000" rIns="91440" bIns="45720" rtlCol="0" anchor="t">
            <a:noAutofit/>
          </a:bodyPr>
          <a:lstStyle/>
          <a:p>
            <a:r>
              <a:rPr lang="sv-SE" dirty="0"/>
              <a:t>Klicka här för att ändra mall för rubrikformat</a:t>
            </a:r>
          </a:p>
        </p:txBody>
      </p:sp>
      <p:sp>
        <p:nvSpPr>
          <p:cNvPr id="3" name="Platshållare för text 2">
            <a:extLst>
              <a:ext uri="{FF2B5EF4-FFF2-40B4-BE49-F238E27FC236}">
                <a16:creationId xmlns:a16="http://schemas.microsoft.com/office/drawing/2014/main" id="{2006EF76-9662-2CD9-346E-23511E804736}"/>
              </a:ext>
            </a:extLst>
          </p:cNvPr>
          <p:cNvSpPr>
            <a:spLocks noGrp="1"/>
          </p:cNvSpPr>
          <p:nvPr>
            <p:ph type="body" idx="1"/>
          </p:nvPr>
        </p:nvSpPr>
        <p:spPr>
          <a:xfrm>
            <a:off x="600075" y="1872344"/>
            <a:ext cx="10990263" cy="4453808"/>
          </a:xfrm>
          <a:prstGeom prst="rect">
            <a:avLst/>
          </a:prstGeom>
        </p:spPr>
        <p:txBody>
          <a:bodyPr vert="horz" lIns="91440" tIns="45720" rIns="91440" bIns="45720" rtlCol="0">
            <a:noAutofit/>
          </a:bodyPr>
          <a:lstStyle/>
          <a:p>
            <a:pPr lvl="0"/>
            <a:r>
              <a:rPr lang="sv-SE" dirty="0"/>
              <a:t>Klicka här för att ändra format på bakgrundstexten</a:t>
            </a:r>
          </a:p>
          <a:p>
            <a:pPr lvl="1"/>
            <a:r>
              <a:rPr lang="sv-SE" dirty="0"/>
              <a:t>Nivå två</a:t>
            </a:r>
          </a:p>
          <a:p>
            <a:pPr lvl="2"/>
            <a:r>
              <a:rPr lang="sv-SE" dirty="0"/>
              <a:t>Nivå tre</a:t>
            </a:r>
          </a:p>
          <a:p>
            <a:pPr lvl="3"/>
            <a:r>
              <a:rPr lang="sv-SE" dirty="0"/>
              <a:t>Nivå fyra</a:t>
            </a:r>
          </a:p>
          <a:p>
            <a:pPr lvl="4"/>
            <a:r>
              <a:rPr lang="sv-SE" dirty="0"/>
              <a:t>Nivå fem</a:t>
            </a:r>
          </a:p>
        </p:txBody>
      </p:sp>
      <p:sp>
        <p:nvSpPr>
          <p:cNvPr id="4" name="Platshållare för datum 3">
            <a:extLst>
              <a:ext uri="{FF2B5EF4-FFF2-40B4-BE49-F238E27FC236}">
                <a16:creationId xmlns:a16="http://schemas.microsoft.com/office/drawing/2014/main" id="{5E3A2378-EA0B-2CB0-A3C0-B0181DFC31CC}"/>
              </a:ext>
            </a:extLst>
          </p:cNvPr>
          <p:cNvSpPr>
            <a:spLocks noGrp="1"/>
          </p:cNvSpPr>
          <p:nvPr>
            <p:ph type="dt" sz="half" idx="2"/>
          </p:nvPr>
        </p:nvSpPr>
        <p:spPr>
          <a:xfrm>
            <a:off x="600075" y="6473327"/>
            <a:ext cx="2743200" cy="94775"/>
          </a:xfrm>
          <a:prstGeom prst="rect">
            <a:avLst/>
          </a:prstGeom>
        </p:spPr>
        <p:txBody>
          <a:bodyPr vert="horz" lIns="91440" tIns="45720" rIns="91440" bIns="45720" rtlCol="0" anchor="ctr"/>
          <a:lstStyle>
            <a:lvl1pPr algn="l">
              <a:defRPr sz="700">
                <a:solidFill>
                  <a:schemeClr val="accent2"/>
                </a:solidFill>
              </a:defRPr>
            </a:lvl1pPr>
          </a:lstStyle>
          <a:p>
            <a:fld id="{888E4D63-BE2C-4D4B-BBD2-256262659A9F}" type="datetime1">
              <a:rPr lang="sv-SE" smtClean="0"/>
              <a:t>2025-01-14</a:t>
            </a:fld>
            <a:endParaRPr lang="sv-SE" dirty="0"/>
          </a:p>
        </p:txBody>
      </p:sp>
      <p:sp>
        <p:nvSpPr>
          <p:cNvPr id="5" name="Platshållare för sidfot 4">
            <a:extLst>
              <a:ext uri="{FF2B5EF4-FFF2-40B4-BE49-F238E27FC236}">
                <a16:creationId xmlns:a16="http://schemas.microsoft.com/office/drawing/2014/main" id="{24CA2E8D-AD94-B894-C4F1-B88C763BA32D}"/>
              </a:ext>
            </a:extLst>
          </p:cNvPr>
          <p:cNvSpPr>
            <a:spLocks noGrp="1"/>
          </p:cNvSpPr>
          <p:nvPr>
            <p:ph type="ftr" sz="quarter" idx="3"/>
          </p:nvPr>
        </p:nvSpPr>
        <p:spPr>
          <a:xfrm>
            <a:off x="4037805" y="6470364"/>
            <a:ext cx="4114800" cy="97738"/>
          </a:xfrm>
          <a:prstGeom prst="rect">
            <a:avLst/>
          </a:prstGeom>
        </p:spPr>
        <p:txBody>
          <a:bodyPr vert="horz" lIns="91440" tIns="45720" rIns="91440" bIns="45720" rtlCol="0" anchor="ctr"/>
          <a:lstStyle>
            <a:lvl1pPr algn="ctr">
              <a:defRPr sz="700">
                <a:solidFill>
                  <a:schemeClr val="accent2"/>
                </a:solidFill>
              </a:defRPr>
            </a:lvl1pPr>
          </a:lstStyle>
          <a:p>
            <a:r>
              <a:rPr lang="sv-SE"/>
              <a:t>Presentation footer</a:t>
            </a:r>
            <a:endParaRPr lang="sv-SE" dirty="0"/>
          </a:p>
        </p:txBody>
      </p:sp>
      <p:sp>
        <p:nvSpPr>
          <p:cNvPr id="6" name="Platshållare för bildnummer 5">
            <a:extLst>
              <a:ext uri="{FF2B5EF4-FFF2-40B4-BE49-F238E27FC236}">
                <a16:creationId xmlns:a16="http://schemas.microsoft.com/office/drawing/2014/main" id="{045617BD-973D-B163-E4ED-D245FDF0BDFC}"/>
              </a:ext>
            </a:extLst>
          </p:cNvPr>
          <p:cNvSpPr>
            <a:spLocks noGrp="1"/>
          </p:cNvSpPr>
          <p:nvPr>
            <p:ph type="sldNum" sz="quarter" idx="4"/>
          </p:nvPr>
        </p:nvSpPr>
        <p:spPr>
          <a:xfrm>
            <a:off x="8848725" y="6473328"/>
            <a:ext cx="2743200" cy="94775"/>
          </a:xfrm>
          <a:prstGeom prst="rect">
            <a:avLst/>
          </a:prstGeom>
        </p:spPr>
        <p:txBody>
          <a:bodyPr vert="horz" lIns="91440" tIns="45720" rIns="91440" bIns="45720" rtlCol="0" anchor="ctr"/>
          <a:lstStyle>
            <a:lvl1pPr algn="r">
              <a:defRPr sz="700">
                <a:solidFill>
                  <a:schemeClr val="accent2"/>
                </a:solidFill>
              </a:defRPr>
            </a:lvl1pPr>
          </a:lstStyle>
          <a:p>
            <a:fld id="{B716C8F4-20CD-364A-8A8E-DE130115B178}" type="slidenum">
              <a:rPr lang="sv-SE" smtClean="0"/>
              <a:pPr/>
              <a:t>‹#›</a:t>
            </a:fld>
            <a:endParaRPr lang="sv-SE" dirty="0"/>
          </a:p>
        </p:txBody>
      </p:sp>
      <p:pic>
        <p:nvPicPr>
          <p:cNvPr id="11" name="Bild 10">
            <a:extLst>
              <a:ext uri="{FF2B5EF4-FFF2-40B4-BE49-F238E27FC236}">
                <a16:creationId xmlns:a16="http://schemas.microsoft.com/office/drawing/2014/main" id="{57E3D58E-4C99-E6D1-B925-E182668FA2E3}"/>
              </a:ext>
            </a:extLst>
          </p:cNvPr>
          <p:cNvPicPr>
            <a:picLocks noChangeAspect="1"/>
          </p:cNvPicPr>
          <p:nvPr userDrawn="1"/>
        </p:nvPicPr>
        <p:blipFill>
          <a:blip r:embed="rId50" cstate="print">
            <a:extLst>
              <a:ext uri="{28A0092B-C50C-407E-A947-70E740481C1C}">
                <a14:useLocalDpi xmlns:a14="http://schemas.microsoft.com/office/drawing/2010/main"/>
              </a:ext>
              <a:ext uri="{96DAC541-7B7A-43D3-8B79-37D633B846F1}">
                <asvg:svgBlip xmlns:asvg="http://schemas.microsoft.com/office/drawing/2016/SVG/main" xmlns="" r:embed="rId51"/>
              </a:ext>
            </a:extLst>
          </a:blip>
          <a:stretch>
            <a:fillRect/>
          </a:stretch>
        </p:blipFill>
        <p:spPr>
          <a:xfrm>
            <a:off x="193566" y="164552"/>
            <a:ext cx="714243" cy="799273"/>
          </a:xfrm>
          <a:prstGeom prst="rect">
            <a:avLst/>
          </a:prstGeom>
        </p:spPr>
      </p:pic>
    </p:spTree>
    <p:extLst>
      <p:ext uri="{BB962C8B-B14F-4D97-AF65-F5344CB8AC3E}">
        <p14:creationId xmlns:p14="http://schemas.microsoft.com/office/powerpoint/2010/main" val="118368451"/>
      </p:ext>
    </p:extLst>
  </p:cSld>
  <p:clrMap bg1="lt1" tx1="dk1" bg2="lt2" tx2="dk2" accent1="accent1" accent2="accent2" accent3="accent3" accent4="accent4" accent5="accent5" accent6="accent6" hlink="hlink" folHlink="folHlink"/>
  <p:sldLayoutIdLst>
    <p:sldLayoutId id="2147483649" r:id="rId1"/>
    <p:sldLayoutId id="2147483679" r:id="rId2"/>
    <p:sldLayoutId id="2147483659" r:id="rId3"/>
    <p:sldLayoutId id="2147483651" r:id="rId4"/>
    <p:sldLayoutId id="2147483670" r:id="rId5"/>
    <p:sldLayoutId id="2147483660" r:id="rId6"/>
    <p:sldLayoutId id="2147483671" r:id="rId7"/>
    <p:sldLayoutId id="2147483661" r:id="rId8"/>
    <p:sldLayoutId id="2147483672" r:id="rId9"/>
    <p:sldLayoutId id="2147483662" r:id="rId10"/>
    <p:sldLayoutId id="2147483673" r:id="rId11"/>
    <p:sldLayoutId id="2147483650" r:id="rId12"/>
    <p:sldLayoutId id="2147483685" r:id="rId13"/>
    <p:sldLayoutId id="2147483688" r:id="rId14"/>
    <p:sldLayoutId id="2147483686" r:id="rId15"/>
    <p:sldLayoutId id="2147483687" r:id="rId16"/>
    <p:sldLayoutId id="2147483652" r:id="rId17"/>
    <p:sldLayoutId id="2147483653" r:id="rId18"/>
    <p:sldLayoutId id="2147483656" r:id="rId19"/>
    <p:sldLayoutId id="2147483657" r:id="rId20"/>
    <p:sldLayoutId id="2147483663" r:id="rId21"/>
    <p:sldLayoutId id="2147483694" r:id="rId22"/>
    <p:sldLayoutId id="2147483693" r:id="rId23"/>
    <p:sldLayoutId id="2147483684" r:id="rId24"/>
    <p:sldLayoutId id="2147483683" r:id="rId25"/>
    <p:sldLayoutId id="2147483681" r:id="rId26"/>
    <p:sldLayoutId id="2147483682" r:id="rId27"/>
    <p:sldLayoutId id="2147483676" r:id="rId28"/>
    <p:sldLayoutId id="2147483677" r:id="rId29"/>
    <p:sldLayoutId id="2147483678" r:id="rId30"/>
    <p:sldLayoutId id="2147483654" r:id="rId31"/>
    <p:sldLayoutId id="2147483668" r:id="rId32"/>
    <p:sldLayoutId id="2147483667" r:id="rId33"/>
    <p:sldLayoutId id="2147483669" r:id="rId34"/>
    <p:sldLayoutId id="2147483666" r:id="rId35"/>
    <p:sldLayoutId id="2147483689" r:id="rId36"/>
    <p:sldLayoutId id="2147483690" r:id="rId37"/>
    <p:sldLayoutId id="2147483691" r:id="rId38"/>
    <p:sldLayoutId id="2147483692" r:id="rId39"/>
    <p:sldLayoutId id="2147483655" r:id="rId40"/>
    <p:sldLayoutId id="2147483696" r:id="rId41"/>
    <p:sldLayoutId id="2147483697" r:id="rId42"/>
    <p:sldLayoutId id="2147483664" r:id="rId43"/>
    <p:sldLayoutId id="2147483695" r:id="rId44"/>
    <p:sldLayoutId id="2147483658" r:id="rId45"/>
    <p:sldLayoutId id="2147483674" r:id="rId46"/>
    <p:sldLayoutId id="2147483675" r:id="rId47"/>
    <p:sldLayoutId id="2147483698" r:id="rId48"/>
  </p:sldLayoutIdLst>
  <p:timing>
    <p:tnLst>
      <p:par>
        <p:cTn id="1" dur="indefinite" restart="never" nodeType="tmRoot"/>
      </p:par>
    </p:tnLst>
  </p:timing>
  <p:hf sldNum="0" hdr="0" ftr="0" dt="0"/>
  <p:txStyles>
    <p:title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userDrawn="1">
          <p15:clr>
            <a:srgbClr val="F26B43"/>
          </p15:clr>
        </p15:guide>
        <p15:guide id="2" pos="7680" userDrawn="1">
          <p15:clr>
            <a:srgbClr val="F26B43"/>
          </p15:clr>
        </p15:guide>
        <p15:guide id="3" pos="378" userDrawn="1">
          <p15:clr>
            <a:srgbClr val="F26B43"/>
          </p15:clr>
        </p15:guide>
        <p15:guide id="4" pos="1343" userDrawn="1">
          <p15:clr>
            <a:srgbClr val="F26B43"/>
          </p15:clr>
        </p15:guide>
        <p15:guide id="5" pos="1570" userDrawn="1">
          <p15:clr>
            <a:srgbClr val="F26B43"/>
          </p15:clr>
        </p15:guide>
        <p15:guide id="6" pos="2535" userDrawn="1">
          <p15:clr>
            <a:srgbClr val="F26B43"/>
          </p15:clr>
        </p15:guide>
        <p15:guide id="7" pos="2761" userDrawn="1">
          <p15:clr>
            <a:srgbClr val="F26B43"/>
          </p15:clr>
        </p15:guide>
        <p15:guide id="8" pos="3726" userDrawn="1">
          <p15:clr>
            <a:srgbClr val="F26B43"/>
          </p15:clr>
        </p15:guide>
        <p15:guide id="9" pos="3953" userDrawn="1">
          <p15:clr>
            <a:srgbClr val="F26B43"/>
          </p15:clr>
        </p15:guide>
        <p15:guide id="10" pos="4918" userDrawn="1">
          <p15:clr>
            <a:srgbClr val="F26B43"/>
          </p15:clr>
        </p15:guide>
        <p15:guide id="11" pos="5144" userDrawn="1">
          <p15:clr>
            <a:srgbClr val="F26B43"/>
          </p15:clr>
        </p15:guide>
        <p15:guide id="12" pos="6109" userDrawn="1">
          <p15:clr>
            <a:srgbClr val="F26B43"/>
          </p15:clr>
        </p15:guide>
        <p15:guide id="13" pos="6336" userDrawn="1">
          <p15:clr>
            <a:srgbClr val="F26B43"/>
          </p15:clr>
        </p15:guide>
        <p15:guide id="14" pos="7301" userDrawn="1">
          <p15:clr>
            <a:srgbClr val="F26B43"/>
          </p15:clr>
        </p15:guide>
        <p15:guide id="15" orient="horz" userDrawn="1">
          <p15:clr>
            <a:srgbClr val="F26B43"/>
          </p15:clr>
        </p15:guide>
        <p15:guide id="16" orient="horz" pos="4320" userDrawn="1">
          <p15:clr>
            <a:srgbClr val="F26B43"/>
          </p15:clr>
        </p15:guide>
        <p15:guide id="17" orient="horz" pos="514" userDrawn="1">
          <p15:clr>
            <a:srgbClr val="F26B43"/>
          </p15:clr>
        </p15:guide>
        <p15:guide id="18" orient="horz" pos="861" userDrawn="1">
          <p15:clr>
            <a:srgbClr val="F26B43"/>
          </p15:clr>
        </p15:guide>
        <p15:guide id="19" orient="horz" pos="1209" userDrawn="1">
          <p15:clr>
            <a:srgbClr val="F26B43"/>
          </p15:clr>
        </p15:guide>
        <p15:guide id="20" orient="horz" pos="1570" userDrawn="1">
          <p15:clr>
            <a:srgbClr val="F26B43"/>
          </p15:clr>
        </p15:guide>
        <p15:guide id="21" orient="horz" pos="1903" userDrawn="1">
          <p15:clr>
            <a:srgbClr val="F26B43"/>
          </p15:clr>
        </p15:guide>
        <p15:guide id="22" orient="horz" pos="2250" userDrawn="1">
          <p15:clr>
            <a:srgbClr val="F26B43"/>
          </p15:clr>
        </p15:guide>
        <p15:guide id="23" orient="horz" pos="2597" userDrawn="1">
          <p15:clr>
            <a:srgbClr val="F26B43"/>
          </p15:clr>
        </p15:guide>
        <p15:guide id="24" orient="horz" pos="2945" userDrawn="1">
          <p15:clr>
            <a:srgbClr val="F26B43"/>
          </p15:clr>
        </p15:guide>
        <p15:guide id="25" orient="horz" pos="3292" userDrawn="1">
          <p15:clr>
            <a:srgbClr val="F26B43"/>
          </p15:clr>
        </p15:guide>
        <p15:guide id="26" orient="horz" pos="3639" userDrawn="1">
          <p15:clr>
            <a:srgbClr val="F26B43"/>
          </p15:clr>
        </p15:guide>
        <p15:guide id="27" orient="horz" pos="398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2.xml"/><Relationship Id="rId4" Type="http://schemas.openxmlformats.org/officeDocument/2006/relationships/image" Target="../media/image23.png"/></Relationships>
</file>

<file path=ppt/slides/_rels/slide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xml"/><Relationship Id="rId1" Type="http://schemas.openxmlformats.org/officeDocument/2006/relationships/slideLayout" Target="../slideLayouts/slideLayout48.xml"/></Relationships>
</file>

<file path=ppt/slides/_rels/slide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image" Target="../media/image30.png"/></Relationships>
</file>

<file path=ppt/slides/_rels/slide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6.png"/><Relationship Id="rId2" Type="http://schemas.openxmlformats.org/officeDocument/2006/relationships/notesSlide" Target="../notesSlides/notesSlide4.xml"/><Relationship Id="rId1" Type="http://schemas.openxmlformats.org/officeDocument/2006/relationships/slideLayout" Target="../slideLayouts/slideLayout48.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1.PNG"/><Relationship Id="rId1" Type="http://schemas.openxmlformats.org/officeDocument/2006/relationships/slideLayout" Target="../slideLayouts/slideLayout48.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0.png"/><Relationship Id="rId3" Type="http://schemas.openxmlformats.org/officeDocument/2006/relationships/image" Target="../media/image220.png"/><Relationship Id="rId7" Type="http://schemas.openxmlformats.org/officeDocument/2006/relationships/image" Target="../media/image260.png"/><Relationship Id="rId12" Type="http://schemas.openxmlformats.org/officeDocument/2006/relationships/image" Target="../media/image310.PNG"/><Relationship Id="rId2" Type="http://schemas.openxmlformats.org/officeDocument/2006/relationships/image" Target="../media/image41.png"/><Relationship Id="rId1" Type="http://schemas.openxmlformats.org/officeDocument/2006/relationships/slideLayout" Target="../slideLayouts/slideLayout12.xml"/><Relationship Id="rId6" Type="http://schemas.openxmlformats.org/officeDocument/2006/relationships/image" Target="../media/image250.png"/><Relationship Id="rId11" Type="http://schemas.openxmlformats.org/officeDocument/2006/relationships/image" Target="../media/image300.png"/><Relationship Id="rId5" Type="http://schemas.openxmlformats.org/officeDocument/2006/relationships/image" Target="../media/image240.png"/><Relationship Id="rId10" Type="http://schemas.openxmlformats.org/officeDocument/2006/relationships/image" Target="../media/image290.png"/><Relationship Id="rId4" Type="http://schemas.openxmlformats.org/officeDocument/2006/relationships/image" Target="../media/image230.png"/><Relationship Id="rId9" Type="http://schemas.openxmlformats.org/officeDocument/2006/relationships/image" Target="../media/image280.png"/></Relationships>
</file>

<file path=ppt/slides/_rels/slide13.xml.rels><?xml version="1.0" encoding="UTF-8" standalone="yes"?>
<Relationships xmlns="http://schemas.openxmlformats.org/package/2006/relationships"><Relationship Id="rId3" Type="http://schemas.openxmlformats.org/officeDocument/2006/relationships/image" Target="../media/image42.emf"/><Relationship Id="rId2" Type="http://schemas.openxmlformats.org/officeDocument/2006/relationships/image" Target="../media/image371.pn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8" Type="http://schemas.openxmlformats.org/officeDocument/2006/relationships/image" Target="../media/image45.png"/><Relationship Id="rId13" Type="http://schemas.openxmlformats.org/officeDocument/2006/relationships/image" Target="../media/image50.png"/><Relationship Id="rId3" Type="http://schemas.openxmlformats.org/officeDocument/2006/relationships/image" Target="../media/image401.png"/><Relationship Id="rId7" Type="http://schemas.openxmlformats.org/officeDocument/2006/relationships/image" Target="../media/image44.emf"/><Relationship Id="rId12" Type="http://schemas.openxmlformats.org/officeDocument/2006/relationships/image" Target="../media/image49.png"/><Relationship Id="rId17" Type="http://schemas.openxmlformats.org/officeDocument/2006/relationships/image" Target="../media/image54.png"/><Relationship Id="rId2" Type="http://schemas.openxmlformats.org/officeDocument/2006/relationships/image" Target="../media/image391.png"/><Relationship Id="rId16" Type="http://schemas.openxmlformats.org/officeDocument/2006/relationships/image" Target="../media/image53.png"/><Relationship Id="rId1" Type="http://schemas.openxmlformats.org/officeDocument/2006/relationships/slideLayout" Target="../slideLayouts/slideLayout12.xml"/><Relationship Id="rId6" Type="http://schemas.openxmlformats.org/officeDocument/2006/relationships/image" Target="../media/image43.emf"/><Relationship Id="rId11" Type="http://schemas.openxmlformats.org/officeDocument/2006/relationships/image" Target="../media/image48.png"/><Relationship Id="rId5" Type="http://schemas.openxmlformats.org/officeDocument/2006/relationships/image" Target="../media/image42.png"/><Relationship Id="rId15" Type="http://schemas.openxmlformats.org/officeDocument/2006/relationships/image" Target="../media/image52.png"/><Relationship Id="rId10" Type="http://schemas.openxmlformats.org/officeDocument/2006/relationships/image" Target="../media/image47.png"/><Relationship Id="rId4" Type="http://schemas.openxmlformats.org/officeDocument/2006/relationships/image" Target="../media/image411.png"/><Relationship Id="rId9" Type="http://schemas.openxmlformats.org/officeDocument/2006/relationships/image" Target="../media/image46.png"/><Relationship Id="rId14" Type="http://schemas.openxmlformats.org/officeDocument/2006/relationships/image" Target="../media/image51.png"/></Relationships>
</file>

<file path=ppt/slides/_rels/slide15.xml.rels><?xml version="1.0" encoding="UTF-8" standalone="yes"?>
<Relationships xmlns="http://schemas.openxmlformats.org/package/2006/relationships"><Relationship Id="rId8" Type="http://schemas.openxmlformats.org/officeDocument/2006/relationships/image" Target="../media/image43.png"/><Relationship Id="rId13" Type="http://schemas.openxmlformats.org/officeDocument/2006/relationships/image" Target="../media/image66.png"/><Relationship Id="rId3" Type="http://schemas.openxmlformats.org/officeDocument/2006/relationships/image" Target="../media/image46.emf"/><Relationship Id="rId7" Type="http://schemas.openxmlformats.org/officeDocument/2006/relationships/image" Target="../media/image60.png"/><Relationship Id="rId12" Type="http://schemas.openxmlformats.org/officeDocument/2006/relationships/image" Target="../media/image50.emf"/><Relationship Id="rId2" Type="http://schemas.openxmlformats.org/officeDocument/2006/relationships/image" Target="../media/image45.emf"/><Relationship Id="rId1" Type="http://schemas.openxmlformats.org/officeDocument/2006/relationships/slideLayout" Target="../slideLayouts/slideLayout12.xml"/><Relationship Id="rId6" Type="http://schemas.openxmlformats.org/officeDocument/2006/relationships/image" Target="../media/image49.emf"/><Relationship Id="rId11" Type="http://schemas.openxmlformats.org/officeDocument/2006/relationships/image" Target="../media/image64.png"/><Relationship Id="rId5" Type="http://schemas.openxmlformats.org/officeDocument/2006/relationships/image" Target="../media/image48.emf"/><Relationship Id="rId10" Type="http://schemas.openxmlformats.org/officeDocument/2006/relationships/image" Target="../media/image63.png"/><Relationship Id="rId4" Type="http://schemas.openxmlformats.org/officeDocument/2006/relationships/image" Target="../media/image47.emf"/><Relationship Id="rId9" Type="http://schemas.openxmlformats.org/officeDocument/2006/relationships/image" Target="../media/image62.png"/></Relationships>
</file>

<file path=ppt/slides/_rels/slide16.xml.rels><?xml version="1.0" encoding="UTF-8" standalone="yes"?>
<Relationships xmlns="http://schemas.openxmlformats.org/package/2006/relationships"><Relationship Id="rId8" Type="http://schemas.openxmlformats.org/officeDocument/2006/relationships/image" Target="../media/image51.emf"/><Relationship Id="rId13" Type="http://schemas.openxmlformats.org/officeDocument/2006/relationships/image" Target="../media/image56.emf"/><Relationship Id="rId3" Type="http://schemas.openxmlformats.org/officeDocument/2006/relationships/image" Target="../media/image61.png"/><Relationship Id="rId7" Type="http://schemas.openxmlformats.org/officeDocument/2006/relationships/image" Target="../media/image69.png"/><Relationship Id="rId12" Type="http://schemas.openxmlformats.org/officeDocument/2006/relationships/image" Target="../media/image55.emf"/><Relationship Id="rId2" Type="http://schemas.openxmlformats.org/officeDocument/2006/relationships/image" Target="../media/image67.png"/><Relationship Id="rId1" Type="http://schemas.openxmlformats.org/officeDocument/2006/relationships/slideLayout" Target="../slideLayouts/slideLayout12.xml"/><Relationship Id="rId6" Type="http://schemas.openxmlformats.org/officeDocument/2006/relationships/image" Target="../media/image68.png"/><Relationship Id="rId11" Type="http://schemas.openxmlformats.org/officeDocument/2006/relationships/image" Target="../media/image54.emf"/><Relationship Id="rId5" Type="http://schemas.openxmlformats.org/officeDocument/2006/relationships/image" Target="../media/image63.png"/><Relationship Id="rId10" Type="http://schemas.openxmlformats.org/officeDocument/2006/relationships/image" Target="../media/image53.emf"/><Relationship Id="rId4" Type="http://schemas.openxmlformats.org/officeDocument/2006/relationships/image" Target="../media/image62.png"/><Relationship Id="rId9" Type="http://schemas.openxmlformats.org/officeDocument/2006/relationships/image" Target="../media/image52.emf"/></Relationships>
</file>

<file path=ppt/slides/_rels/slide1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xml"/><Relationship Id="rId1" Type="http://schemas.openxmlformats.org/officeDocument/2006/relationships/slideLayout" Target="../slideLayouts/slideLayout48.xml"/><Relationship Id="rId5" Type="http://schemas.openxmlformats.org/officeDocument/2006/relationships/image" Target="../media/image59.png"/><Relationship Id="rId4" Type="http://schemas.openxmlformats.org/officeDocument/2006/relationships/image" Target="../media/image5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8" Type="http://schemas.openxmlformats.org/officeDocument/2006/relationships/image" Target="../media/image400.png"/><Relationship Id="rId3" Type="http://schemas.openxmlformats.org/officeDocument/2006/relationships/image" Target="../media/image350.png"/><Relationship Id="rId7" Type="http://schemas.openxmlformats.org/officeDocument/2006/relationships/image" Target="../media/image390.png"/><Relationship Id="rId12" Type="http://schemas.openxmlformats.org/officeDocument/2006/relationships/image" Target="../media/image61.emf"/><Relationship Id="rId2" Type="http://schemas.openxmlformats.org/officeDocument/2006/relationships/image" Target="../media/image60.emf"/><Relationship Id="rId1" Type="http://schemas.openxmlformats.org/officeDocument/2006/relationships/slideLayout" Target="../slideLayouts/slideLayout12.xml"/><Relationship Id="rId6" Type="http://schemas.openxmlformats.org/officeDocument/2006/relationships/image" Target="../media/image380.png"/><Relationship Id="rId11" Type="http://schemas.openxmlformats.org/officeDocument/2006/relationships/image" Target="../media/image430.png"/><Relationship Id="rId5" Type="http://schemas.openxmlformats.org/officeDocument/2006/relationships/image" Target="../media/image370.png"/><Relationship Id="rId10" Type="http://schemas.openxmlformats.org/officeDocument/2006/relationships/image" Target="../media/image420.png"/><Relationship Id="rId4" Type="http://schemas.openxmlformats.org/officeDocument/2006/relationships/image" Target="../media/image360.png"/><Relationship Id="rId9" Type="http://schemas.openxmlformats.org/officeDocument/2006/relationships/image" Target="../media/image410.png"/></Relationships>
</file>

<file path=ppt/slides/_rels/slide21.xml.rels><?xml version="1.0" encoding="UTF-8" standalone="yes"?>
<Relationships xmlns="http://schemas.openxmlformats.org/package/2006/relationships"><Relationship Id="rId8" Type="http://schemas.openxmlformats.org/officeDocument/2006/relationships/image" Target="../media/image500.png"/><Relationship Id="rId13" Type="http://schemas.openxmlformats.org/officeDocument/2006/relationships/image" Target="../media/image540.png"/><Relationship Id="rId3" Type="http://schemas.openxmlformats.org/officeDocument/2006/relationships/image" Target="../media/image450.png"/><Relationship Id="rId7" Type="http://schemas.openxmlformats.org/officeDocument/2006/relationships/image" Target="../media/image490.png"/><Relationship Id="rId12" Type="http://schemas.openxmlformats.org/officeDocument/2006/relationships/image" Target="../media/image61.emf"/><Relationship Id="rId17" Type="http://schemas.openxmlformats.org/officeDocument/2006/relationships/image" Target="../media/image580.png"/><Relationship Id="rId2" Type="http://schemas.openxmlformats.org/officeDocument/2006/relationships/image" Target="../media/image60.emf"/><Relationship Id="rId16" Type="http://schemas.openxmlformats.org/officeDocument/2006/relationships/image" Target="../media/image570.png"/><Relationship Id="rId1" Type="http://schemas.openxmlformats.org/officeDocument/2006/relationships/slideLayout" Target="../slideLayouts/slideLayout12.xml"/><Relationship Id="rId6" Type="http://schemas.openxmlformats.org/officeDocument/2006/relationships/image" Target="../media/image480.png"/><Relationship Id="rId11" Type="http://schemas.openxmlformats.org/officeDocument/2006/relationships/image" Target="../media/image530.png"/><Relationship Id="rId5" Type="http://schemas.openxmlformats.org/officeDocument/2006/relationships/image" Target="../media/image470.png"/><Relationship Id="rId15" Type="http://schemas.openxmlformats.org/officeDocument/2006/relationships/image" Target="../media/image56.png"/><Relationship Id="rId10" Type="http://schemas.openxmlformats.org/officeDocument/2006/relationships/image" Target="../media/image520.png"/><Relationship Id="rId4" Type="http://schemas.openxmlformats.org/officeDocument/2006/relationships/image" Target="../media/image460.png"/><Relationship Id="rId9" Type="http://schemas.openxmlformats.org/officeDocument/2006/relationships/image" Target="../media/image510.png"/><Relationship Id="rId14" Type="http://schemas.openxmlformats.org/officeDocument/2006/relationships/image" Target="../media/image5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ubrik 3">
            <a:extLst>
              <a:ext uri="{FF2B5EF4-FFF2-40B4-BE49-F238E27FC236}">
                <a16:creationId xmlns:a16="http://schemas.microsoft.com/office/drawing/2014/main" id="{35B07F06-6EA7-7E2D-1EF1-26B024DA7650}"/>
              </a:ext>
            </a:extLst>
          </p:cNvPr>
          <p:cNvSpPr>
            <a:spLocks noGrp="1"/>
          </p:cNvSpPr>
          <p:nvPr>
            <p:ph type="ctrTitle"/>
          </p:nvPr>
        </p:nvSpPr>
        <p:spPr/>
        <p:txBody>
          <a:bodyPr/>
          <a:lstStyle/>
          <a:p>
            <a:r>
              <a:rPr lang="en-US" dirty="0" smtClean="0"/>
              <a:t>Modulation Methodology for Concurrent Power Transfer for Field Excitation</a:t>
            </a:r>
            <a:endParaRPr lang="sv-SE" dirty="0"/>
          </a:p>
        </p:txBody>
      </p:sp>
      <p:sp>
        <p:nvSpPr>
          <p:cNvPr id="5" name="Underrubrik 4">
            <a:extLst>
              <a:ext uri="{FF2B5EF4-FFF2-40B4-BE49-F238E27FC236}">
                <a16:creationId xmlns:a16="http://schemas.microsoft.com/office/drawing/2014/main" id="{92A29924-00C9-C549-25FA-02CDD1D96ADA}"/>
              </a:ext>
            </a:extLst>
          </p:cNvPr>
          <p:cNvSpPr>
            <a:spLocks noGrp="1"/>
          </p:cNvSpPr>
          <p:nvPr>
            <p:ph type="subTitle" idx="1"/>
          </p:nvPr>
        </p:nvSpPr>
        <p:spPr/>
        <p:txBody>
          <a:bodyPr/>
          <a:lstStyle/>
          <a:p>
            <a:endParaRPr lang="sv-SE" dirty="0"/>
          </a:p>
        </p:txBody>
      </p:sp>
    </p:spTree>
    <p:extLst>
      <p:ext uri="{BB962C8B-B14F-4D97-AF65-F5344CB8AC3E}">
        <p14:creationId xmlns:p14="http://schemas.microsoft.com/office/powerpoint/2010/main" val="20812274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6504" y="317140"/>
            <a:ext cx="10990263" cy="568412"/>
          </a:xfrm>
        </p:spPr>
        <p:txBody>
          <a:bodyPr/>
          <a:lstStyle/>
          <a:p>
            <a:pPr algn="ctr"/>
            <a:r>
              <a:rPr lang="en-US" dirty="0" smtClean="0"/>
              <a:t>Power </a:t>
            </a:r>
            <a:r>
              <a:rPr lang="en-US" dirty="0"/>
              <a:t>Transfer to Rotating Frames</a:t>
            </a:r>
          </a:p>
        </p:txBody>
      </p:sp>
      <p:pic>
        <p:nvPicPr>
          <p:cNvPr id="12" name="Picture 11">
            <a:extLst>
              <a:ext uri="{FF2B5EF4-FFF2-40B4-BE49-F238E27FC236}">
                <a16:creationId xmlns:a16="http://schemas.microsoft.com/office/drawing/2014/main" id="{DDC6B8BD-C760-4A7D-AA10-CE3AA21AF599}"/>
              </a:ext>
            </a:extLst>
          </p:cNvPr>
          <p:cNvPicPr>
            <a:picLocks noChangeAspect="1"/>
          </p:cNvPicPr>
          <p:nvPr/>
        </p:nvPicPr>
        <p:blipFill>
          <a:blip r:embed="rId2"/>
          <a:stretch>
            <a:fillRect/>
          </a:stretch>
        </p:blipFill>
        <p:spPr>
          <a:xfrm>
            <a:off x="3515425" y="1352765"/>
            <a:ext cx="2070036" cy="1670016"/>
          </a:xfrm>
          <a:prstGeom prst="rect">
            <a:avLst/>
          </a:prstGeom>
        </p:spPr>
      </p:pic>
      <p:pic>
        <p:nvPicPr>
          <p:cNvPr id="13" name="Picture 12">
            <a:extLst>
              <a:ext uri="{FF2B5EF4-FFF2-40B4-BE49-F238E27FC236}">
                <a16:creationId xmlns:a16="http://schemas.microsoft.com/office/drawing/2014/main" id="{FD6C99EB-7040-481D-9438-24949CB00CB9}"/>
              </a:ext>
            </a:extLst>
          </p:cNvPr>
          <p:cNvPicPr>
            <a:picLocks noChangeAspect="1"/>
          </p:cNvPicPr>
          <p:nvPr/>
        </p:nvPicPr>
        <p:blipFill>
          <a:blip r:embed="rId3"/>
          <a:stretch>
            <a:fillRect/>
          </a:stretch>
        </p:blipFill>
        <p:spPr>
          <a:xfrm>
            <a:off x="6008370" y="1442650"/>
            <a:ext cx="2541281" cy="1678083"/>
          </a:xfrm>
          <a:prstGeom prst="rect">
            <a:avLst/>
          </a:prstGeom>
        </p:spPr>
      </p:pic>
      <p:pic>
        <p:nvPicPr>
          <p:cNvPr id="14" name="Picture 13">
            <a:extLst>
              <a:ext uri="{FF2B5EF4-FFF2-40B4-BE49-F238E27FC236}">
                <a16:creationId xmlns:a16="http://schemas.microsoft.com/office/drawing/2014/main" id="{9D53B6D6-1178-435E-B894-CFB65C25DB5C}"/>
              </a:ext>
            </a:extLst>
          </p:cNvPr>
          <p:cNvPicPr>
            <a:picLocks noChangeAspect="1"/>
          </p:cNvPicPr>
          <p:nvPr/>
        </p:nvPicPr>
        <p:blipFill rotWithShape="1">
          <a:blip r:embed="rId4"/>
          <a:srcRect t="1608"/>
          <a:stretch/>
        </p:blipFill>
        <p:spPr>
          <a:xfrm>
            <a:off x="8790491" y="1254813"/>
            <a:ext cx="2353059" cy="1865920"/>
          </a:xfrm>
          <a:prstGeom prst="rect">
            <a:avLst/>
          </a:prstGeom>
        </p:spPr>
      </p:pic>
      <p:graphicFrame>
        <p:nvGraphicFramePr>
          <p:cNvPr id="10" name="Table 9">
            <a:extLst>
              <a:ext uri="{FF2B5EF4-FFF2-40B4-BE49-F238E27FC236}">
                <a16:creationId xmlns:a16="http://schemas.microsoft.com/office/drawing/2014/main" id="{6F42C13F-F67A-4D10-8FA6-B39183C41CB8}"/>
              </a:ext>
            </a:extLst>
          </p:cNvPr>
          <p:cNvGraphicFramePr>
            <a:graphicFrameLocks noGrp="1"/>
          </p:cNvGraphicFramePr>
          <p:nvPr>
            <p:extLst>
              <p:ext uri="{D42A27DB-BD31-4B8C-83A1-F6EECF244321}">
                <p14:modId xmlns:p14="http://schemas.microsoft.com/office/powerpoint/2010/main" val="71158203"/>
              </p:ext>
            </p:extLst>
          </p:nvPr>
        </p:nvGraphicFramePr>
        <p:xfrm>
          <a:off x="533400" y="3234282"/>
          <a:ext cx="10949940" cy="2595880"/>
        </p:xfrm>
        <a:graphic>
          <a:graphicData uri="http://schemas.openxmlformats.org/drawingml/2006/table">
            <a:tbl>
              <a:tblPr firstRow="1" bandRow="1"/>
              <a:tblGrid>
                <a:gridCol w="2737485">
                  <a:extLst>
                    <a:ext uri="{9D8B030D-6E8A-4147-A177-3AD203B41FA5}">
                      <a16:colId xmlns:a16="http://schemas.microsoft.com/office/drawing/2014/main" val="3118816585"/>
                    </a:ext>
                  </a:extLst>
                </a:gridCol>
                <a:gridCol w="2737485">
                  <a:extLst>
                    <a:ext uri="{9D8B030D-6E8A-4147-A177-3AD203B41FA5}">
                      <a16:colId xmlns:a16="http://schemas.microsoft.com/office/drawing/2014/main" val="2259591155"/>
                    </a:ext>
                  </a:extLst>
                </a:gridCol>
                <a:gridCol w="2737485">
                  <a:extLst>
                    <a:ext uri="{9D8B030D-6E8A-4147-A177-3AD203B41FA5}">
                      <a16:colId xmlns:a16="http://schemas.microsoft.com/office/drawing/2014/main" val="2357697429"/>
                    </a:ext>
                  </a:extLst>
                </a:gridCol>
                <a:gridCol w="2737485">
                  <a:extLst>
                    <a:ext uri="{9D8B030D-6E8A-4147-A177-3AD203B41FA5}">
                      <a16:colId xmlns:a16="http://schemas.microsoft.com/office/drawing/2014/main" val="3363847411"/>
                    </a:ext>
                  </a:extLst>
                </a:gridCol>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endParaRPr lang="en-US" dirty="0">
                        <a:solidFill>
                          <a:schemeClr val="tx1"/>
                        </a:solidFill>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dirty="0">
                          <a:solidFill>
                            <a:schemeClr val="tx1"/>
                          </a:solidFill>
                        </a:rPr>
                        <a:t>Slip Rings</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dirty="0">
                          <a:solidFill>
                            <a:schemeClr val="tx1"/>
                          </a:solidFill>
                        </a:rPr>
                        <a:t>Brushless Exciters</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dirty="0">
                          <a:solidFill>
                            <a:schemeClr val="tx1"/>
                          </a:solidFill>
                        </a:rPr>
                        <a:t>Contactless Slip Rings</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lumMod val="20000"/>
                        <a:lumOff val="80000"/>
                      </a:srgbClr>
                    </a:solidFill>
                  </a:tcPr>
                </a:tc>
                <a:extLst>
                  <a:ext uri="{0D108BD9-81ED-4DB2-BD59-A6C34878D82A}">
                    <a16:rowId xmlns:a16="http://schemas.microsoft.com/office/drawing/2014/main" val="2541796533"/>
                  </a:ext>
                </a:extLst>
              </a:tr>
              <a:tr h="37084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Reliability</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8064A2">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3882656843"/>
                  </a:ext>
                </a:extLst>
              </a:tr>
              <a:tr h="37084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Maintenance</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8064A2">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612598241"/>
                  </a:ext>
                </a:extLst>
              </a:tr>
              <a:tr h="37084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Simplicity</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8064A2">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C0504D">
                        <a:lumMod val="40000"/>
                        <a:lumOff val="60000"/>
                      </a:srgbClr>
                    </a:solidFill>
                  </a:tcPr>
                </a:tc>
                <a:extLst>
                  <a:ext uri="{0D108BD9-81ED-4DB2-BD59-A6C34878D82A}">
                    <a16:rowId xmlns:a16="http://schemas.microsoft.com/office/drawing/2014/main" val="3114591035"/>
                  </a:ext>
                </a:extLst>
              </a:tr>
              <a:tr h="37084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Speed Independency</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8064A2">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676679422"/>
                  </a:ext>
                </a:extLst>
              </a:tr>
              <a:tr h="37084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Cost Effectivity</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8064A2">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C0504D">
                        <a:lumMod val="40000"/>
                        <a:lumOff val="60000"/>
                      </a:srgbClr>
                    </a:solidFill>
                  </a:tcPr>
                </a:tc>
                <a:extLst>
                  <a:ext uri="{0D108BD9-81ED-4DB2-BD59-A6C34878D82A}">
                    <a16:rowId xmlns:a16="http://schemas.microsoft.com/office/drawing/2014/main" val="537080434"/>
                  </a:ext>
                </a:extLst>
              </a:tr>
              <a:tr h="37084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Efficiency</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8064A2">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3042443929"/>
                  </a:ext>
                </a:extLst>
              </a:tr>
            </a:tbl>
          </a:graphicData>
        </a:graphic>
      </p:graphicFrame>
    </p:spTree>
    <p:extLst>
      <p:ext uri="{BB962C8B-B14F-4D97-AF65-F5344CB8AC3E}">
        <p14:creationId xmlns:p14="http://schemas.microsoft.com/office/powerpoint/2010/main" val="1196324642"/>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88695" y="318392"/>
            <a:ext cx="10990263" cy="568412"/>
          </a:xfrm>
        </p:spPr>
        <p:txBody>
          <a:bodyPr/>
          <a:lstStyle/>
          <a:p>
            <a:r>
              <a:rPr lang="sv-SE" dirty="0" err="1"/>
              <a:t>Wireless</a:t>
            </a:r>
            <a:r>
              <a:rPr lang="sv-SE" dirty="0"/>
              <a:t> Power Transfer</a:t>
            </a:r>
          </a:p>
        </p:txBody>
      </p:sp>
      <p:sp>
        <p:nvSpPr>
          <p:cNvPr id="15" name="TextBox 14">
            <a:extLst>
              <a:ext uri="{FF2B5EF4-FFF2-40B4-BE49-F238E27FC236}">
                <a16:creationId xmlns:a16="http://schemas.microsoft.com/office/drawing/2014/main" id="{1B08BC90-A6D9-4FD4-8B60-A75291C080D7}"/>
              </a:ext>
            </a:extLst>
          </p:cNvPr>
          <p:cNvSpPr txBox="1"/>
          <p:nvPr/>
        </p:nvSpPr>
        <p:spPr>
          <a:xfrm>
            <a:off x="6864399" y="1267944"/>
            <a:ext cx="4946601" cy="1815882"/>
          </a:xfrm>
          <a:prstGeom prst="rect">
            <a:avLst/>
          </a:prstGeom>
          <a:noFill/>
        </p:spPr>
        <p:txBody>
          <a:bodyPr wrap="square" rtlCol="0">
            <a:spAutoFit/>
          </a:bodyPr>
          <a:lstStyle/>
          <a:p>
            <a:pPr marL="342900" indent="-342900">
              <a:buAutoNum type="arabicPeriod"/>
            </a:pPr>
            <a:r>
              <a:rPr lang="en-US" sz="2800" dirty="0">
                <a:latin typeface="+mj-lt"/>
              </a:rPr>
              <a:t>DC/AC Converter</a:t>
            </a:r>
          </a:p>
          <a:p>
            <a:pPr marL="342900" indent="-342900">
              <a:buAutoNum type="arabicPeriod"/>
            </a:pPr>
            <a:r>
              <a:rPr lang="en-US" sz="2800" dirty="0">
                <a:latin typeface="+mj-lt"/>
              </a:rPr>
              <a:t>Compensation Circuits</a:t>
            </a:r>
          </a:p>
          <a:p>
            <a:pPr marL="342900" indent="-342900">
              <a:buAutoNum type="arabicPeriod"/>
            </a:pPr>
            <a:r>
              <a:rPr lang="en-US" sz="2800" dirty="0">
                <a:latin typeface="+mj-lt"/>
              </a:rPr>
              <a:t>Transmitter/Receiver Coils</a:t>
            </a:r>
          </a:p>
          <a:p>
            <a:pPr marL="342900" indent="-342900">
              <a:buAutoNum type="arabicPeriod"/>
            </a:pPr>
            <a:r>
              <a:rPr lang="en-US" sz="2800" dirty="0">
                <a:latin typeface="+mj-lt"/>
              </a:rPr>
              <a:t>AC/DC Rectifiers</a:t>
            </a:r>
          </a:p>
        </p:txBody>
      </p:sp>
      <p:pic>
        <p:nvPicPr>
          <p:cNvPr id="16" name="Picture 15">
            <a:extLst>
              <a:ext uri="{FF2B5EF4-FFF2-40B4-BE49-F238E27FC236}">
                <a16:creationId xmlns:a16="http://schemas.microsoft.com/office/drawing/2014/main" id="{1F2819D1-57D0-4EA5-BB16-96D268703321}"/>
              </a:ext>
            </a:extLst>
          </p:cNvPr>
          <p:cNvPicPr>
            <a:picLocks noChangeAspect="1"/>
          </p:cNvPicPr>
          <p:nvPr/>
        </p:nvPicPr>
        <p:blipFill>
          <a:blip r:embed="rId2"/>
          <a:stretch>
            <a:fillRect/>
          </a:stretch>
        </p:blipFill>
        <p:spPr>
          <a:xfrm>
            <a:off x="1591008" y="3956669"/>
            <a:ext cx="2233038" cy="1227819"/>
          </a:xfrm>
          <a:prstGeom prst="rect">
            <a:avLst/>
          </a:prstGeom>
        </p:spPr>
      </p:pic>
      <p:sp>
        <p:nvSpPr>
          <p:cNvPr id="17" name="Content Placeholder 3">
            <a:extLst>
              <a:ext uri="{FF2B5EF4-FFF2-40B4-BE49-F238E27FC236}">
                <a16:creationId xmlns:a16="http://schemas.microsoft.com/office/drawing/2014/main" id="{8965E3F0-D7D7-448B-86D7-45847418D21B}"/>
              </a:ext>
            </a:extLst>
          </p:cNvPr>
          <p:cNvSpPr>
            <a:spLocks noGrp="1"/>
          </p:cNvSpPr>
          <p:nvPr>
            <p:ph idx="1"/>
          </p:nvPr>
        </p:nvSpPr>
        <p:spPr>
          <a:xfrm>
            <a:off x="1253384" y="5156646"/>
            <a:ext cx="3554561" cy="243116"/>
          </a:xfrm>
        </p:spPr>
        <p:txBody>
          <a:bodyPr>
            <a:noAutofit/>
          </a:bodyPr>
          <a:lstStyle/>
          <a:p>
            <a:pPr marL="0" indent="0">
              <a:buNone/>
            </a:pPr>
            <a:r>
              <a:rPr lang="en-US" sz="2500" dirty="0"/>
              <a:t>Tesla’s WPT System</a:t>
            </a:r>
          </a:p>
        </p:txBody>
      </p:sp>
      <p:graphicFrame>
        <p:nvGraphicFramePr>
          <p:cNvPr id="18" name="Table 17">
            <a:extLst>
              <a:ext uri="{FF2B5EF4-FFF2-40B4-BE49-F238E27FC236}">
                <a16:creationId xmlns:a16="http://schemas.microsoft.com/office/drawing/2014/main" id="{CB15E53C-F807-4D63-B7E8-CE1EB650273F}"/>
              </a:ext>
            </a:extLst>
          </p:cNvPr>
          <p:cNvGraphicFramePr>
            <a:graphicFrameLocks noGrp="1"/>
          </p:cNvGraphicFramePr>
          <p:nvPr>
            <p:extLst>
              <p:ext uri="{D42A27DB-BD31-4B8C-83A1-F6EECF244321}">
                <p14:modId xmlns:p14="http://schemas.microsoft.com/office/powerpoint/2010/main" val="1466760069"/>
              </p:ext>
            </p:extLst>
          </p:nvPr>
        </p:nvGraphicFramePr>
        <p:xfrm>
          <a:off x="5343202" y="3591750"/>
          <a:ext cx="5973285" cy="2743200"/>
        </p:xfrm>
        <a:graphic>
          <a:graphicData uri="http://schemas.openxmlformats.org/drawingml/2006/table">
            <a:tbl>
              <a:tblPr firstRow="1" bandRow="1">
                <a:tableStyleId>{5C22544A-7EE6-4342-B048-85BDC9FD1C3A}</a:tableStyleId>
              </a:tblPr>
              <a:tblGrid>
                <a:gridCol w="1991095">
                  <a:extLst>
                    <a:ext uri="{9D8B030D-6E8A-4147-A177-3AD203B41FA5}">
                      <a16:colId xmlns:a16="http://schemas.microsoft.com/office/drawing/2014/main" val="3118816585"/>
                    </a:ext>
                  </a:extLst>
                </a:gridCol>
                <a:gridCol w="1991095">
                  <a:extLst>
                    <a:ext uri="{9D8B030D-6E8A-4147-A177-3AD203B41FA5}">
                      <a16:colId xmlns:a16="http://schemas.microsoft.com/office/drawing/2014/main" val="2259591155"/>
                    </a:ext>
                  </a:extLst>
                </a:gridCol>
                <a:gridCol w="1991095">
                  <a:extLst>
                    <a:ext uri="{9D8B030D-6E8A-4147-A177-3AD203B41FA5}">
                      <a16:colId xmlns:a16="http://schemas.microsoft.com/office/drawing/2014/main" val="2357697429"/>
                    </a:ext>
                  </a:extLst>
                </a:gridCol>
              </a:tblGrid>
              <a:tr h="753944">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solidFill>
                            <a:schemeClr val="tx1"/>
                          </a:solidFill>
                        </a:rPr>
                        <a:t>Inductive</a:t>
                      </a:r>
                    </a:p>
                    <a:p>
                      <a:pPr algn="ctr"/>
                      <a:r>
                        <a:rPr lang="en-US" dirty="0">
                          <a:solidFill>
                            <a:schemeClr val="tx1"/>
                          </a:solidFill>
                        </a:rPr>
                        <a:t>Power </a:t>
                      </a:r>
                    </a:p>
                    <a:p>
                      <a:pPr algn="ctr"/>
                      <a:r>
                        <a:rPr lang="en-US" dirty="0">
                          <a:solidFill>
                            <a:schemeClr val="tx1"/>
                          </a:solidFill>
                        </a:rPr>
                        <a:t>Transfer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a:r>
                        <a:rPr lang="en-US" dirty="0">
                          <a:solidFill>
                            <a:schemeClr val="tx1"/>
                          </a:solidFill>
                        </a:rPr>
                        <a:t>Capacitive </a:t>
                      </a:r>
                    </a:p>
                    <a:p>
                      <a:pPr algn="ctr"/>
                      <a:r>
                        <a:rPr lang="en-US" dirty="0">
                          <a:solidFill>
                            <a:schemeClr val="tx1"/>
                          </a:solidFill>
                        </a:rPr>
                        <a:t>Power </a:t>
                      </a:r>
                    </a:p>
                    <a:p>
                      <a:pPr algn="ctr"/>
                      <a:r>
                        <a:rPr lang="en-US" dirty="0">
                          <a:solidFill>
                            <a:schemeClr val="tx1"/>
                          </a:solidFill>
                        </a:rPr>
                        <a:t>Transfer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2541796533"/>
                  </a:ext>
                </a:extLst>
              </a:tr>
              <a:tr h="305766">
                <a:tc>
                  <a:txBody>
                    <a:bodyPr/>
                    <a:lstStyle/>
                    <a:p>
                      <a:pPr algn="ctr"/>
                      <a:r>
                        <a:rPr lang="en-US" dirty="0"/>
                        <a:t>Transfer Type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lgn="ctr"/>
                      <a:r>
                        <a:rPr lang="en-US" dirty="0"/>
                        <a:t>Varying MF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Varying EF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82656843"/>
                  </a:ext>
                </a:extLst>
              </a:tr>
              <a:tr h="305766">
                <a:tc>
                  <a:txBody>
                    <a:bodyPr/>
                    <a:lstStyle/>
                    <a:p>
                      <a:pPr algn="ctr"/>
                      <a:r>
                        <a:rPr lang="en-US" dirty="0"/>
                        <a:t>Power Ratings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lgn="ctr"/>
                      <a:r>
                        <a:rPr lang="en-US" dirty="0"/>
                        <a:t>High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Low</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12598241"/>
                  </a:ext>
                </a:extLst>
              </a:tr>
              <a:tr h="305766">
                <a:tc>
                  <a:txBody>
                    <a:bodyPr/>
                    <a:lstStyle/>
                    <a:p>
                      <a:pPr algn="ctr"/>
                      <a:r>
                        <a:rPr lang="en-US" dirty="0"/>
                        <a:t>Frequencies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lgn="ctr"/>
                      <a:r>
                        <a:rPr lang="en-US" dirty="0"/>
                        <a:t>Low</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High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14591035"/>
                  </a:ext>
                </a:extLst>
              </a:tr>
              <a:tr h="305766">
                <a:tc>
                  <a:txBody>
                    <a:bodyPr/>
                    <a:lstStyle/>
                    <a:p>
                      <a:pPr algn="ctr"/>
                      <a:r>
                        <a:rPr lang="en-US" dirty="0"/>
                        <a:t>Efficiency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lgn="ctr"/>
                      <a:r>
                        <a:rPr lang="en-US" dirty="0"/>
                        <a:t>High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High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676679422"/>
                  </a:ext>
                </a:extLst>
              </a:tr>
              <a:tr h="305766">
                <a:tc>
                  <a:txBody>
                    <a:bodyPr/>
                    <a:lstStyle/>
                    <a:p>
                      <a:pPr algn="ctr"/>
                      <a:r>
                        <a:rPr lang="en-US" dirty="0"/>
                        <a:t>Distance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lgn="ctr"/>
                      <a:r>
                        <a:rPr lang="en-US" dirty="0"/>
                        <a:t>Moderate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Low</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37080434"/>
                  </a:ext>
                </a:extLst>
              </a:tr>
            </a:tbl>
          </a:graphicData>
        </a:graphic>
      </p:graphicFrame>
      <p:pic>
        <p:nvPicPr>
          <p:cNvPr id="19" name="Picture 18">
            <a:extLst>
              <a:ext uri="{FF2B5EF4-FFF2-40B4-BE49-F238E27FC236}">
                <a16:creationId xmlns:a16="http://schemas.microsoft.com/office/drawing/2014/main" id="{DDC7EEA8-EB3B-4A9B-8923-920C92A396E8}"/>
              </a:ext>
            </a:extLst>
          </p:cNvPr>
          <p:cNvPicPr>
            <a:picLocks noChangeAspect="1"/>
          </p:cNvPicPr>
          <p:nvPr/>
        </p:nvPicPr>
        <p:blipFill>
          <a:blip r:embed="rId3"/>
          <a:stretch>
            <a:fillRect/>
          </a:stretch>
        </p:blipFill>
        <p:spPr>
          <a:xfrm>
            <a:off x="289012" y="1155808"/>
            <a:ext cx="6225019" cy="2166937"/>
          </a:xfrm>
          <a:prstGeom prst="rect">
            <a:avLst/>
          </a:prstGeom>
        </p:spPr>
      </p:pic>
    </p:spTree>
    <p:extLst>
      <p:ext uri="{BB962C8B-B14F-4D97-AF65-F5344CB8AC3E}">
        <p14:creationId xmlns:p14="http://schemas.microsoft.com/office/powerpoint/2010/main" val="8905856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88695" y="318392"/>
            <a:ext cx="10990263" cy="568412"/>
          </a:xfrm>
        </p:spPr>
        <p:txBody>
          <a:bodyPr/>
          <a:lstStyle/>
          <a:p>
            <a:r>
              <a:rPr lang="sv-SE" dirty="0"/>
              <a:t> </a:t>
            </a:r>
            <a:r>
              <a:rPr lang="sv-SE" dirty="0" err="1"/>
              <a:t>Inductive</a:t>
            </a:r>
            <a:r>
              <a:rPr lang="sv-SE" dirty="0"/>
              <a:t> Power Transfer System</a:t>
            </a:r>
          </a:p>
        </p:txBody>
      </p:sp>
      <p:pic>
        <p:nvPicPr>
          <p:cNvPr id="9" name="Picture 8">
            <a:extLst>
              <a:ext uri="{FF2B5EF4-FFF2-40B4-BE49-F238E27FC236}">
                <a16:creationId xmlns:a16="http://schemas.microsoft.com/office/drawing/2014/main" id="{B2B7B030-A132-49BF-964A-B0B78C378CE9}"/>
              </a:ext>
            </a:extLst>
          </p:cNvPr>
          <p:cNvPicPr>
            <a:picLocks noChangeAspect="1"/>
          </p:cNvPicPr>
          <p:nvPr/>
        </p:nvPicPr>
        <p:blipFill rotWithShape="1">
          <a:blip r:embed="rId2"/>
          <a:srcRect t="10988" b="8074"/>
          <a:stretch/>
        </p:blipFill>
        <p:spPr>
          <a:xfrm>
            <a:off x="184626" y="1267993"/>
            <a:ext cx="11152188" cy="3088150"/>
          </a:xfrm>
          <a:prstGeom prst="rect">
            <a:avLst/>
          </a:prstGeom>
        </p:spPr>
      </p:pic>
      <p:cxnSp>
        <p:nvCxnSpPr>
          <p:cNvPr id="10" name="Straight Connector 9">
            <a:extLst>
              <a:ext uri="{FF2B5EF4-FFF2-40B4-BE49-F238E27FC236}">
                <a16:creationId xmlns:a16="http://schemas.microsoft.com/office/drawing/2014/main" id="{66439C20-B1FF-4105-B4F7-F8937308ED00}"/>
              </a:ext>
            </a:extLst>
          </p:cNvPr>
          <p:cNvCxnSpPr>
            <a:cxnSpLocks/>
          </p:cNvCxnSpPr>
          <p:nvPr/>
        </p:nvCxnSpPr>
        <p:spPr>
          <a:xfrm>
            <a:off x="1019131" y="4891969"/>
            <a:ext cx="396240" cy="0"/>
          </a:xfrm>
          <a:prstGeom prst="line">
            <a:avLst/>
          </a:prstGeom>
          <a:ln w="254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20BC6650-DD58-472B-ADCF-DFFFD3CC09F3}"/>
              </a:ext>
            </a:extLst>
          </p:cNvPr>
          <p:cNvGrpSpPr/>
          <p:nvPr/>
        </p:nvGrpSpPr>
        <p:grpSpPr>
          <a:xfrm>
            <a:off x="2693494" y="4851586"/>
            <a:ext cx="520700" cy="495300"/>
            <a:chOff x="2362200" y="5334000"/>
            <a:chExt cx="2044700" cy="495300"/>
          </a:xfrm>
        </p:grpSpPr>
        <p:cxnSp>
          <p:nvCxnSpPr>
            <p:cNvPr id="12" name="Straight Connector 11">
              <a:extLst>
                <a:ext uri="{FF2B5EF4-FFF2-40B4-BE49-F238E27FC236}">
                  <a16:creationId xmlns:a16="http://schemas.microsoft.com/office/drawing/2014/main" id="{5CD4675A-A862-4BC1-9BF8-733443193BB9}"/>
                </a:ext>
              </a:extLst>
            </p:cNvPr>
            <p:cNvCxnSpPr>
              <a:cxnSpLocks/>
            </p:cNvCxnSpPr>
            <p:nvPr/>
          </p:nvCxnSpPr>
          <p:spPr>
            <a:xfrm>
              <a:off x="3035300" y="5334000"/>
              <a:ext cx="685800" cy="0"/>
            </a:xfrm>
            <a:prstGeom prst="line">
              <a:avLst/>
            </a:prstGeom>
            <a:ln w="254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26D568C5-BEEC-4914-808E-C7608C6488DC}"/>
                </a:ext>
              </a:extLst>
            </p:cNvPr>
            <p:cNvCxnSpPr>
              <a:cxnSpLocks/>
            </p:cNvCxnSpPr>
            <p:nvPr/>
          </p:nvCxnSpPr>
          <p:spPr>
            <a:xfrm>
              <a:off x="2362200" y="5829300"/>
              <a:ext cx="685800" cy="0"/>
            </a:xfrm>
            <a:prstGeom prst="line">
              <a:avLst/>
            </a:prstGeom>
            <a:ln w="254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AAE4F27-F5D7-41A3-B3FF-22945A954B49}"/>
                </a:ext>
              </a:extLst>
            </p:cNvPr>
            <p:cNvCxnSpPr>
              <a:cxnSpLocks/>
            </p:cNvCxnSpPr>
            <p:nvPr/>
          </p:nvCxnSpPr>
          <p:spPr>
            <a:xfrm flipV="1">
              <a:off x="3048000" y="5334000"/>
              <a:ext cx="0" cy="495300"/>
            </a:xfrm>
            <a:prstGeom prst="line">
              <a:avLst/>
            </a:prstGeom>
            <a:ln w="254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B6EC0BF0-02D3-4346-A27E-94E3C3281C78}"/>
                </a:ext>
              </a:extLst>
            </p:cNvPr>
            <p:cNvCxnSpPr>
              <a:cxnSpLocks/>
            </p:cNvCxnSpPr>
            <p:nvPr/>
          </p:nvCxnSpPr>
          <p:spPr>
            <a:xfrm flipV="1">
              <a:off x="3721100" y="5334000"/>
              <a:ext cx="0" cy="495300"/>
            </a:xfrm>
            <a:prstGeom prst="line">
              <a:avLst/>
            </a:prstGeom>
            <a:ln w="254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D6BEF66E-2DA6-47F7-B27D-C14BFAE319F4}"/>
                </a:ext>
              </a:extLst>
            </p:cNvPr>
            <p:cNvCxnSpPr>
              <a:cxnSpLocks/>
            </p:cNvCxnSpPr>
            <p:nvPr/>
          </p:nvCxnSpPr>
          <p:spPr>
            <a:xfrm>
              <a:off x="3721100" y="5829300"/>
              <a:ext cx="685800" cy="0"/>
            </a:xfrm>
            <a:prstGeom prst="line">
              <a:avLst/>
            </a:prstGeom>
            <a:ln w="254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12E52C93-158D-4404-A43E-56A4AFFC814E}"/>
              </a:ext>
            </a:extLst>
          </p:cNvPr>
          <p:cNvGrpSpPr/>
          <p:nvPr/>
        </p:nvGrpSpPr>
        <p:grpSpPr>
          <a:xfrm>
            <a:off x="4044450" y="4857932"/>
            <a:ext cx="468634" cy="482607"/>
            <a:chOff x="5627366" y="5181586"/>
            <a:chExt cx="609600" cy="1301771"/>
          </a:xfrm>
        </p:grpSpPr>
        <p:sp>
          <p:nvSpPr>
            <p:cNvPr id="23" name="Freeform: Shape 28">
              <a:extLst>
                <a:ext uri="{FF2B5EF4-FFF2-40B4-BE49-F238E27FC236}">
                  <a16:creationId xmlns:a16="http://schemas.microsoft.com/office/drawing/2014/main" id="{B95188BD-362A-45CB-8DBE-DA55029AF95A}"/>
                </a:ext>
              </a:extLst>
            </p:cNvPr>
            <p:cNvSpPr/>
            <p:nvPr/>
          </p:nvSpPr>
          <p:spPr>
            <a:xfrm>
              <a:off x="5627366" y="5181586"/>
              <a:ext cx="304800" cy="655334"/>
            </a:xfrm>
            <a:custGeom>
              <a:avLst/>
              <a:gdLst>
                <a:gd name="connsiteX0" fmla="*/ 0 w 304800"/>
                <a:gd name="connsiteY0" fmla="*/ 640094 h 655334"/>
                <a:gd name="connsiteX1" fmla="*/ 144780 w 304800"/>
                <a:gd name="connsiteY1" fmla="*/ 14 h 655334"/>
                <a:gd name="connsiteX2" fmla="*/ 304800 w 304800"/>
                <a:gd name="connsiteY2" fmla="*/ 655334 h 655334"/>
              </a:gdLst>
              <a:ahLst/>
              <a:cxnLst>
                <a:cxn ang="0">
                  <a:pos x="connsiteX0" y="connsiteY0"/>
                </a:cxn>
                <a:cxn ang="0">
                  <a:pos x="connsiteX1" y="connsiteY1"/>
                </a:cxn>
                <a:cxn ang="0">
                  <a:pos x="connsiteX2" y="connsiteY2"/>
                </a:cxn>
              </a:cxnLst>
              <a:rect l="l" t="t" r="r" b="b"/>
              <a:pathLst>
                <a:path w="304800" h="655334">
                  <a:moveTo>
                    <a:pt x="0" y="640094"/>
                  </a:moveTo>
                  <a:cubicBezTo>
                    <a:pt x="46990" y="318784"/>
                    <a:pt x="93980" y="-2526"/>
                    <a:pt x="144780" y="14"/>
                  </a:cubicBezTo>
                  <a:cubicBezTo>
                    <a:pt x="195580" y="2554"/>
                    <a:pt x="250190" y="328944"/>
                    <a:pt x="304800" y="655334"/>
                  </a:cubicBezTo>
                </a:path>
              </a:pathLst>
            </a:custGeom>
            <a:no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9">
              <a:extLst>
                <a:ext uri="{FF2B5EF4-FFF2-40B4-BE49-F238E27FC236}">
                  <a16:creationId xmlns:a16="http://schemas.microsoft.com/office/drawing/2014/main" id="{2DE59304-C6FE-4150-B601-98D94A975B1E}"/>
                </a:ext>
              </a:extLst>
            </p:cNvPr>
            <p:cNvSpPr/>
            <p:nvPr/>
          </p:nvSpPr>
          <p:spPr>
            <a:xfrm rot="10800000">
              <a:off x="5932166" y="5828023"/>
              <a:ext cx="304800" cy="655334"/>
            </a:xfrm>
            <a:custGeom>
              <a:avLst/>
              <a:gdLst>
                <a:gd name="connsiteX0" fmla="*/ 0 w 304800"/>
                <a:gd name="connsiteY0" fmla="*/ 640094 h 655334"/>
                <a:gd name="connsiteX1" fmla="*/ 144780 w 304800"/>
                <a:gd name="connsiteY1" fmla="*/ 14 h 655334"/>
                <a:gd name="connsiteX2" fmla="*/ 304800 w 304800"/>
                <a:gd name="connsiteY2" fmla="*/ 655334 h 655334"/>
              </a:gdLst>
              <a:ahLst/>
              <a:cxnLst>
                <a:cxn ang="0">
                  <a:pos x="connsiteX0" y="connsiteY0"/>
                </a:cxn>
                <a:cxn ang="0">
                  <a:pos x="connsiteX1" y="connsiteY1"/>
                </a:cxn>
                <a:cxn ang="0">
                  <a:pos x="connsiteX2" y="connsiteY2"/>
                </a:cxn>
              </a:cxnLst>
              <a:rect l="l" t="t" r="r" b="b"/>
              <a:pathLst>
                <a:path w="304800" h="655334">
                  <a:moveTo>
                    <a:pt x="0" y="640094"/>
                  </a:moveTo>
                  <a:cubicBezTo>
                    <a:pt x="46990" y="318784"/>
                    <a:pt x="93980" y="-2526"/>
                    <a:pt x="144780" y="14"/>
                  </a:cubicBezTo>
                  <a:cubicBezTo>
                    <a:pt x="195580" y="2554"/>
                    <a:pt x="250190" y="328944"/>
                    <a:pt x="304800" y="655334"/>
                  </a:cubicBezTo>
                </a:path>
              </a:pathLst>
            </a:custGeom>
            <a:no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dirty="0"/>
            </a:p>
          </p:txBody>
        </p:sp>
      </p:grpSp>
      <p:cxnSp>
        <p:nvCxnSpPr>
          <p:cNvPr id="25" name="Straight Connector 24">
            <a:extLst>
              <a:ext uri="{FF2B5EF4-FFF2-40B4-BE49-F238E27FC236}">
                <a16:creationId xmlns:a16="http://schemas.microsoft.com/office/drawing/2014/main" id="{03A27BBC-EBA1-4CB3-835B-CAB80C785FCC}"/>
              </a:ext>
            </a:extLst>
          </p:cNvPr>
          <p:cNvCxnSpPr>
            <a:cxnSpLocks/>
          </p:cNvCxnSpPr>
          <p:nvPr/>
        </p:nvCxnSpPr>
        <p:spPr>
          <a:xfrm>
            <a:off x="967315" y="5099236"/>
            <a:ext cx="10134600"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26" name="Group 25">
            <a:extLst>
              <a:ext uri="{FF2B5EF4-FFF2-40B4-BE49-F238E27FC236}">
                <a16:creationId xmlns:a16="http://schemas.microsoft.com/office/drawing/2014/main" id="{04176A43-8A83-4684-8069-5817744F0BB2}"/>
              </a:ext>
            </a:extLst>
          </p:cNvPr>
          <p:cNvGrpSpPr/>
          <p:nvPr/>
        </p:nvGrpSpPr>
        <p:grpSpPr>
          <a:xfrm>
            <a:off x="5292087" y="4851586"/>
            <a:ext cx="468634" cy="482607"/>
            <a:chOff x="5627366" y="5181586"/>
            <a:chExt cx="609600" cy="1301771"/>
          </a:xfrm>
        </p:grpSpPr>
        <p:sp>
          <p:nvSpPr>
            <p:cNvPr id="27" name="Freeform: Shape 36">
              <a:extLst>
                <a:ext uri="{FF2B5EF4-FFF2-40B4-BE49-F238E27FC236}">
                  <a16:creationId xmlns:a16="http://schemas.microsoft.com/office/drawing/2014/main" id="{78EEB13F-85B8-4C1D-B2BE-0F5BFCCB420E}"/>
                </a:ext>
              </a:extLst>
            </p:cNvPr>
            <p:cNvSpPr/>
            <p:nvPr/>
          </p:nvSpPr>
          <p:spPr>
            <a:xfrm>
              <a:off x="5627366" y="5181586"/>
              <a:ext cx="304800" cy="655334"/>
            </a:xfrm>
            <a:custGeom>
              <a:avLst/>
              <a:gdLst>
                <a:gd name="connsiteX0" fmla="*/ 0 w 304800"/>
                <a:gd name="connsiteY0" fmla="*/ 640094 h 655334"/>
                <a:gd name="connsiteX1" fmla="*/ 144780 w 304800"/>
                <a:gd name="connsiteY1" fmla="*/ 14 h 655334"/>
                <a:gd name="connsiteX2" fmla="*/ 304800 w 304800"/>
                <a:gd name="connsiteY2" fmla="*/ 655334 h 655334"/>
              </a:gdLst>
              <a:ahLst/>
              <a:cxnLst>
                <a:cxn ang="0">
                  <a:pos x="connsiteX0" y="connsiteY0"/>
                </a:cxn>
                <a:cxn ang="0">
                  <a:pos x="connsiteX1" y="connsiteY1"/>
                </a:cxn>
                <a:cxn ang="0">
                  <a:pos x="connsiteX2" y="connsiteY2"/>
                </a:cxn>
              </a:cxnLst>
              <a:rect l="l" t="t" r="r" b="b"/>
              <a:pathLst>
                <a:path w="304800" h="655334">
                  <a:moveTo>
                    <a:pt x="0" y="640094"/>
                  </a:moveTo>
                  <a:cubicBezTo>
                    <a:pt x="46990" y="318784"/>
                    <a:pt x="93980" y="-2526"/>
                    <a:pt x="144780" y="14"/>
                  </a:cubicBezTo>
                  <a:cubicBezTo>
                    <a:pt x="195580" y="2554"/>
                    <a:pt x="250190" y="328944"/>
                    <a:pt x="304800" y="655334"/>
                  </a:cubicBezTo>
                </a:path>
              </a:pathLst>
            </a:custGeom>
            <a:no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Freeform: Shape 37">
              <a:extLst>
                <a:ext uri="{FF2B5EF4-FFF2-40B4-BE49-F238E27FC236}">
                  <a16:creationId xmlns:a16="http://schemas.microsoft.com/office/drawing/2014/main" id="{769FEB4D-97CA-4F40-89A6-7424935A8AC5}"/>
                </a:ext>
              </a:extLst>
            </p:cNvPr>
            <p:cNvSpPr/>
            <p:nvPr/>
          </p:nvSpPr>
          <p:spPr>
            <a:xfrm rot="10800000">
              <a:off x="5932166" y="5828023"/>
              <a:ext cx="304800" cy="655334"/>
            </a:xfrm>
            <a:custGeom>
              <a:avLst/>
              <a:gdLst>
                <a:gd name="connsiteX0" fmla="*/ 0 w 304800"/>
                <a:gd name="connsiteY0" fmla="*/ 640094 h 655334"/>
                <a:gd name="connsiteX1" fmla="*/ 144780 w 304800"/>
                <a:gd name="connsiteY1" fmla="*/ 14 h 655334"/>
                <a:gd name="connsiteX2" fmla="*/ 304800 w 304800"/>
                <a:gd name="connsiteY2" fmla="*/ 655334 h 655334"/>
              </a:gdLst>
              <a:ahLst/>
              <a:cxnLst>
                <a:cxn ang="0">
                  <a:pos x="connsiteX0" y="connsiteY0"/>
                </a:cxn>
                <a:cxn ang="0">
                  <a:pos x="connsiteX1" y="connsiteY1"/>
                </a:cxn>
                <a:cxn ang="0">
                  <a:pos x="connsiteX2" y="connsiteY2"/>
                </a:cxn>
              </a:cxnLst>
              <a:rect l="l" t="t" r="r" b="b"/>
              <a:pathLst>
                <a:path w="304800" h="655334">
                  <a:moveTo>
                    <a:pt x="0" y="640094"/>
                  </a:moveTo>
                  <a:cubicBezTo>
                    <a:pt x="46990" y="318784"/>
                    <a:pt x="93980" y="-2526"/>
                    <a:pt x="144780" y="14"/>
                  </a:cubicBezTo>
                  <a:cubicBezTo>
                    <a:pt x="195580" y="2554"/>
                    <a:pt x="250190" y="328944"/>
                    <a:pt x="304800" y="655334"/>
                  </a:cubicBezTo>
                </a:path>
              </a:pathLst>
            </a:custGeom>
            <a:no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dirty="0"/>
            </a:p>
          </p:txBody>
        </p:sp>
      </p:grpSp>
      <p:grpSp>
        <p:nvGrpSpPr>
          <p:cNvPr id="29" name="Group 28">
            <a:extLst>
              <a:ext uri="{FF2B5EF4-FFF2-40B4-BE49-F238E27FC236}">
                <a16:creationId xmlns:a16="http://schemas.microsoft.com/office/drawing/2014/main" id="{21E091C5-E85D-48B5-8B59-78EDA5266049}"/>
              </a:ext>
            </a:extLst>
          </p:cNvPr>
          <p:cNvGrpSpPr/>
          <p:nvPr/>
        </p:nvGrpSpPr>
        <p:grpSpPr>
          <a:xfrm>
            <a:off x="6679264" y="4857932"/>
            <a:ext cx="520700" cy="495300"/>
            <a:chOff x="2362200" y="5334000"/>
            <a:chExt cx="2044700" cy="495300"/>
          </a:xfrm>
        </p:grpSpPr>
        <p:cxnSp>
          <p:nvCxnSpPr>
            <p:cNvPr id="30" name="Straight Connector 29">
              <a:extLst>
                <a:ext uri="{FF2B5EF4-FFF2-40B4-BE49-F238E27FC236}">
                  <a16:creationId xmlns:a16="http://schemas.microsoft.com/office/drawing/2014/main" id="{33D15E56-E288-4380-999C-F4EAA86D64B5}"/>
                </a:ext>
              </a:extLst>
            </p:cNvPr>
            <p:cNvCxnSpPr>
              <a:cxnSpLocks/>
            </p:cNvCxnSpPr>
            <p:nvPr/>
          </p:nvCxnSpPr>
          <p:spPr>
            <a:xfrm>
              <a:off x="3035300" y="5334000"/>
              <a:ext cx="685800" cy="0"/>
            </a:xfrm>
            <a:prstGeom prst="line">
              <a:avLst/>
            </a:prstGeom>
            <a:ln w="254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A3C60D-301E-447A-A7F5-A9DDD7233228}"/>
                </a:ext>
              </a:extLst>
            </p:cNvPr>
            <p:cNvCxnSpPr>
              <a:cxnSpLocks/>
            </p:cNvCxnSpPr>
            <p:nvPr/>
          </p:nvCxnSpPr>
          <p:spPr>
            <a:xfrm>
              <a:off x="2362200" y="5829300"/>
              <a:ext cx="685800" cy="0"/>
            </a:xfrm>
            <a:prstGeom prst="line">
              <a:avLst/>
            </a:prstGeom>
            <a:ln w="254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27796DD-9553-49B7-9CFE-9863F5760484}"/>
                </a:ext>
              </a:extLst>
            </p:cNvPr>
            <p:cNvCxnSpPr>
              <a:cxnSpLocks/>
            </p:cNvCxnSpPr>
            <p:nvPr/>
          </p:nvCxnSpPr>
          <p:spPr>
            <a:xfrm flipV="1">
              <a:off x="3048000" y="5334000"/>
              <a:ext cx="0" cy="495300"/>
            </a:xfrm>
            <a:prstGeom prst="line">
              <a:avLst/>
            </a:prstGeom>
            <a:ln w="254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C0E101A-89C5-4D6A-BA05-F1E21B65E8EC}"/>
                </a:ext>
              </a:extLst>
            </p:cNvPr>
            <p:cNvCxnSpPr>
              <a:cxnSpLocks/>
            </p:cNvCxnSpPr>
            <p:nvPr/>
          </p:nvCxnSpPr>
          <p:spPr>
            <a:xfrm flipV="1">
              <a:off x="3721100" y="5334000"/>
              <a:ext cx="0" cy="495300"/>
            </a:xfrm>
            <a:prstGeom prst="line">
              <a:avLst/>
            </a:prstGeom>
            <a:ln w="254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87DC704-543D-48F2-8F5A-ED4DD2A54704}"/>
                </a:ext>
              </a:extLst>
            </p:cNvPr>
            <p:cNvCxnSpPr>
              <a:cxnSpLocks/>
            </p:cNvCxnSpPr>
            <p:nvPr/>
          </p:nvCxnSpPr>
          <p:spPr>
            <a:xfrm>
              <a:off x="3721100" y="5829300"/>
              <a:ext cx="685800" cy="0"/>
            </a:xfrm>
            <a:prstGeom prst="line">
              <a:avLst/>
            </a:prstGeom>
            <a:ln w="254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cxnSp>
        <p:nvCxnSpPr>
          <p:cNvPr id="35" name="Straight Connector 34">
            <a:extLst>
              <a:ext uri="{FF2B5EF4-FFF2-40B4-BE49-F238E27FC236}">
                <a16:creationId xmlns:a16="http://schemas.microsoft.com/office/drawing/2014/main" id="{AA5DE024-3743-460D-9C3E-C136C6ED655B}"/>
              </a:ext>
            </a:extLst>
          </p:cNvPr>
          <p:cNvCxnSpPr>
            <a:cxnSpLocks/>
          </p:cNvCxnSpPr>
          <p:nvPr/>
        </p:nvCxnSpPr>
        <p:spPr>
          <a:xfrm>
            <a:off x="10024447" y="4787578"/>
            <a:ext cx="381000" cy="0"/>
          </a:xfrm>
          <a:prstGeom prst="line">
            <a:avLst/>
          </a:prstGeom>
          <a:ln w="254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nvGrpSpPr>
          <p:cNvPr id="36" name="Group 35">
            <a:extLst>
              <a:ext uri="{FF2B5EF4-FFF2-40B4-BE49-F238E27FC236}">
                <a16:creationId xmlns:a16="http://schemas.microsoft.com/office/drawing/2014/main" id="{E832D89C-C1F1-4B5D-A681-5B6C657CBEBD}"/>
              </a:ext>
            </a:extLst>
          </p:cNvPr>
          <p:cNvGrpSpPr/>
          <p:nvPr/>
        </p:nvGrpSpPr>
        <p:grpSpPr>
          <a:xfrm>
            <a:off x="8303443" y="4825235"/>
            <a:ext cx="507617" cy="56871"/>
            <a:chOff x="5627366" y="5181586"/>
            <a:chExt cx="609600" cy="1301771"/>
          </a:xfrm>
        </p:grpSpPr>
        <p:sp>
          <p:nvSpPr>
            <p:cNvPr id="37" name="Freeform: Shape 48">
              <a:extLst>
                <a:ext uri="{FF2B5EF4-FFF2-40B4-BE49-F238E27FC236}">
                  <a16:creationId xmlns:a16="http://schemas.microsoft.com/office/drawing/2014/main" id="{5029FD14-FE9E-4226-9A4C-506EEB69F7BB}"/>
                </a:ext>
              </a:extLst>
            </p:cNvPr>
            <p:cNvSpPr/>
            <p:nvPr/>
          </p:nvSpPr>
          <p:spPr>
            <a:xfrm>
              <a:off x="5627366" y="5181586"/>
              <a:ext cx="304800" cy="655334"/>
            </a:xfrm>
            <a:custGeom>
              <a:avLst/>
              <a:gdLst>
                <a:gd name="connsiteX0" fmla="*/ 0 w 304800"/>
                <a:gd name="connsiteY0" fmla="*/ 640094 h 655334"/>
                <a:gd name="connsiteX1" fmla="*/ 144780 w 304800"/>
                <a:gd name="connsiteY1" fmla="*/ 14 h 655334"/>
                <a:gd name="connsiteX2" fmla="*/ 304800 w 304800"/>
                <a:gd name="connsiteY2" fmla="*/ 655334 h 655334"/>
              </a:gdLst>
              <a:ahLst/>
              <a:cxnLst>
                <a:cxn ang="0">
                  <a:pos x="connsiteX0" y="connsiteY0"/>
                </a:cxn>
                <a:cxn ang="0">
                  <a:pos x="connsiteX1" y="connsiteY1"/>
                </a:cxn>
                <a:cxn ang="0">
                  <a:pos x="connsiteX2" y="connsiteY2"/>
                </a:cxn>
              </a:cxnLst>
              <a:rect l="l" t="t" r="r" b="b"/>
              <a:pathLst>
                <a:path w="304800" h="655334">
                  <a:moveTo>
                    <a:pt x="0" y="640094"/>
                  </a:moveTo>
                  <a:cubicBezTo>
                    <a:pt x="46990" y="318784"/>
                    <a:pt x="93980" y="-2526"/>
                    <a:pt x="144780" y="14"/>
                  </a:cubicBezTo>
                  <a:cubicBezTo>
                    <a:pt x="195580" y="2554"/>
                    <a:pt x="250190" y="328944"/>
                    <a:pt x="304800" y="655334"/>
                  </a:cubicBezTo>
                </a:path>
              </a:pathLst>
            </a:custGeom>
            <a:no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Freeform: Shape 49">
              <a:extLst>
                <a:ext uri="{FF2B5EF4-FFF2-40B4-BE49-F238E27FC236}">
                  <a16:creationId xmlns:a16="http://schemas.microsoft.com/office/drawing/2014/main" id="{F0F7BD68-AB22-45A9-B4FE-2786BCECBDCF}"/>
                </a:ext>
              </a:extLst>
            </p:cNvPr>
            <p:cNvSpPr/>
            <p:nvPr/>
          </p:nvSpPr>
          <p:spPr>
            <a:xfrm rot="10800000">
              <a:off x="5932166" y="5828023"/>
              <a:ext cx="304800" cy="655334"/>
            </a:xfrm>
            <a:custGeom>
              <a:avLst/>
              <a:gdLst>
                <a:gd name="connsiteX0" fmla="*/ 0 w 304800"/>
                <a:gd name="connsiteY0" fmla="*/ 640094 h 655334"/>
                <a:gd name="connsiteX1" fmla="*/ 144780 w 304800"/>
                <a:gd name="connsiteY1" fmla="*/ 14 h 655334"/>
                <a:gd name="connsiteX2" fmla="*/ 304800 w 304800"/>
                <a:gd name="connsiteY2" fmla="*/ 655334 h 655334"/>
              </a:gdLst>
              <a:ahLst/>
              <a:cxnLst>
                <a:cxn ang="0">
                  <a:pos x="connsiteX0" y="connsiteY0"/>
                </a:cxn>
                <a:cxn ang="0">
                  <a:pos x="connsiteX1" y="connsiteY1"/>
                </a:cxn>
                <a:cxn ang="0">
                  <a:pos x="connsiteX2" y="connsiteY2"/>
                </a:cxn>
              </a:cxnLst>
              <a:rect l="l" t="t" r="r" b="b"/>
              <a:pathLst>
                <a:path w="304800" h="655334">
                  <a:moveTo>
                    <a:pt x="0" y="640094"/>
                  </a:moveTo>
                  <a:cubicBezTo>
                    <a:pt x="46990" y="318784"/>
                    <a:pt x="93980" y="-2526"/>
                    <a:pt x="144780" y="14"/>
                  </a:cubicBezTo>
                  <a:cubicBezTo>
                    <a:pt x="195580" y="2554"/>
                    <a:pt x="250190" y="328944"/>
                    <a:pt x="304800" y="655334"/>
                  </a:cubicBezTo>
                </a:path>
              </a:pathLst>
            </a:custGeom>
            <a:no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dirty="0"/>
            </a:p>
          </p:txBody>
        </p:sp>
      </p:grpSp>
    </p:spTree>
    <p:extLst>
      <p:ext uri="{BB962C8B-B14F-4D97-AF65-F5344CB8AC3E}">
        <p14:creationId xmlns:p14="http://schemas.microsoft.com/office/powerpoint/2010/main" val="1192000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p:cNvSpPr>
            <a:spLocks noGrp="1"/>
          </p:cNvSpPr>
          <p:nvPr>
            <p:ph type="title"/>
          </p:nvPr>
        </p:nvSpPr>
        <p:spPr>
          <a:xfrm>
            <a:off x="921492" y="147470"/>
            <a:ext cx="10990263" cy="568412"/>
          </a:xfrm>
        </p:spPr>
        <p:txBody>
          <a:bodyPr/>
          <a:lstStyle/>
          <a:p>
            <a:pPr algn="ctr"/>
            <a:r>
              <a:rPr lang="en-US" sz="2800" dirty="0" smtClean="0"/>
              <a:t>Aim </a:t>
            </a:r>
            <a:r>
              <a:rPr lang="en-US" sz="2800" dirty="0"/>
              <a:t>: Merging Concurrent Power Transfer System with Slip Ring Applications </a:t>
            </a:r>
            <a:br>
              <a:rPr lang="en-US" sz="2800" dirty="0"/>
            </a:br>
            <a:endParaRPr lang="sv-SE" sz="2800" dirty="0"/>
          </a:p>
        </p:txBody>
      </p:sp>
      <p:sp>
        <p:nvSpPr>
          <p:cNvPr id="17" name="Content Placeholder 1">
            <a:extLst>
              <a:ext uri="{FF2B5EF4-FFF2-40B4-BE49-F238E27FC236}">
                <a16:creationId xmlns:a16="http://schemas.microsoft.com/office/drawing/2014/main" id="{73760BBE-C867-4633-A253-318CFB9925CB}"/>
              </a:ext>
            </a:extLst>
          </p:cNvPr>
          <p:cNvSpPr>
            <a:spLocks noGrp="1"/>
          </p:cNvSpPr>
          <p:nvPr>
            <p:ph sz="half" idx="1"/>
          </p:nvPr>
        </p:nvSpPr>
        <p:spPr>
          <a:xfrm>
            <a:off x="108246" y="4281403"/>
            <a:ext cx="5987754" cy="1976214"/>
          </a:xfrm>
        </p:spPr>
        <p:txBody>
          <a:bodyPr>
            <a:normAutofit/>
          </a:bodyPr>
          <a:lstStyle/>
          <a:p>
            <a:pPr marL="0" indent="0">
              <a:buNone/>
            </a:pPr>
            <a:r>
              <a:rPr lang="en-US" sz="2500" dirty="0">
                <a:solidFill>
                  <a:srgbClr val="C00000"/>
                </a:solidFill>
                <a:latin typeface="Times New Roman" panose="02020603050405020304" pitchFamily="18" charset="0"/>
                <a:cs typeface="Times New Roman" panose="02020603050405020304" pitchFamily="18" charset="0"/>
              </a:rPr>
              <a:t>Topologies:</a:t>
            </a:r>
          </a:p>
          <a:p>
            <a:pPr marL="514350" indent="-514350">
              <a:buFont typeface="+mj-lt"/>
              <a:buAutoNum type="arabicPeriod"/>
            </a:pPr>
            <a:r>
              <a:rPr lang="en-US" sz="2500" dirty="0">
                <a:latin typeface="Times New Roman" panose="02020603050405020304" pitchFamily="18" charset="0"/>
                <a:cs typeface="Times New Roman" panose="02020603050405020304" pitchFamily="18" charset="0"/>
              </a:rPr>
              <a:t>Multi-converter and multi-resonant</a:t>
            </a:r>
          </a:p>
          <a:p>
            <a:pPr marL="514350" indent="-514350">
              <a:buFont typeface="+mj-lt"/>
              <a:buAutoNum type="arabicPeriod"/>
            </a:pPr>
            <a:r>
              <a:rPr lang="en-US" sz="2500" dirty="0">
                <a:latin typeface="Times New Roman" panose="02020603050405020304" pitchFamily="18" charset="0"/>
                <a:cs typeface="Times New Roman" panose="02020603050405020304" pitchFamily="18" charset="0"/>
              </a:rPr>
              <a:t>Single-converter and multi-resonant</a:t>
            </a:r>
          </a:p>
          <a:p>
            <a:pPr marL="514350" indent="-514350">
              <a:buFont typeface="+mj-lt"/>
              <a:buAutoNum type="arabicPeriod"/>
            </a:pPr>
            <a:r>
              <a:rPr lang="en-US" sz="2500" dirty="0">
                <a:solidFill>
                  <a:srgbClr val="004A99"/>
                </a:solidFill>
                <a:latin typeface="Times New Roman" panose="02020603050405020304" pitchFamily="18" charset="0"/>
                <a:cs typeface="Times New Roman" panose="02020603050405020304" pitchFamily="18" charset="0"/>
              </a:rPr>
              <a:t>Single-converter and multi-load</a:t>
            </a:r>
          </a:p>
          <a:p>
            <a:pPr marL="0" indent="0">
              <a:buNone/>
            </a:pPr>
            <a:endParaRPr lang="en-US" sz="2500" dirty="0">
              <a:latin typeface="Times New Roman" panose="02020603050405020304" pitchFamily="18" charset="0"/>
              <a:cs typeface="Times New Roman" panose="02020603050405020304" pitchFamily="18" charset="0"/>
            </a:endParaRPr>
          </a:p>
          <a:p>
            <a:pPr marL="0" indent="0">
              <a:buNone/>
            </a:pPr>
            <a:endParaRPr lang="en-US" sz="2500" dirty="0">
              <a:latin typeface="Times New Roman" panose="02020603050405020304" pitchFamily="18" charset="0"/>
              <a:cs typeface="Times New Roman" panose="02020603050405020304" pitchFamily="18" charset="0"/>
            </a:endParaRPr>
          </a:p>
          <a:p>
            <a:pPr marL="0" indent="0">
              <a:buNone/>
            </a:pPr>
            <a:endParaRPr lang="en-US" dirty="0">
              <a:latin typeface="Times New Roman" panose="02020603050405020304" pitchFamily="18" charset="0"/>
              <a:cs typeface="Times New Roman" panose="02020603050405020304" pitchFamily="18" charset="0"/>
            </a:endParaRPr>
          </a:p>
          <a:p>
            <a:pPr marL="514350" indent="-514350">
              <a:buFont typeface="+mj-lt"/>
              <a:buAutoNum type="arabicPeriod"/>
            </a:pPr>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p:txBody>
      </p:sp>
      <p:sp>
        <p:nvSpPr>
          <p:cNvPr id="18" name="Content Placeholder 3">
            <a:extLst>
              <a:ext uri="{FF2B5EF4-FFF2-40B4-BE49-F238E27FC236}">
                <a16:creationId xmlns:a16="http://schemas.microsoft.com/office/drawing/2014/main" id="{3BAC780A-A9F9-4827-8CB8-FF6D798F6183}"/>
              </a:ext>
            </a:extLst>
          </p:cNvPr>
          <p:cNvSpPr txBox="1">
            <a:spLocks/>
          </p:cNvSpPr>
          <p:nvPr/>
        </p:nvSpPr>
        <p:spPr>
          <a:xfrm>
            <a:off x="7289562" y="1095267"/>
            <a:ext cx="4529272" cy="424183"/>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anose="020B0604020202020204" pitchFamily="34" charset="0"/>
              <a:buChar char="•"/>
              <a:defRPr sz="3200" b="0" kern="1200">
                <a:solidFill>
                  <a:schemeClr val="tx1"/>
                </a:solidFill>
                <a:latin typeface="Calibri (Headings)"/>
                <a:ea typeface="+mn-ea"/>
                <a:cs typeface="+mn-cs"/>
              </a:defRPr>
            </a:lvl1pPr>
            <a:lvl2pPr marL="742950" indent="-285750" algn="l" defTabSz="914400" rtl="0" eaLnBrk="1" latinLnBrk="0" hangingPunct="1">
              <a:spcBef>
                <a:spcPct val="20000"/>
              </a:spcBef>
              <a:buFont typeface="Arial" panose="020B0604020202020204" pitchFamily="34" charset="0"/>
              <a:buChar char="–"/>
              <a:defRPr sz="2800" b="0" kern="1200">
                <a:solidFill>
                  <a:schemeClr val="tx1"/>
                </a:solidFill>
                <a:latin typeface="Calibri (Headings)"/>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b="0" kern="1200">
                <a:solidFill>
                  <a:schemeClr val="tx1"/>
                </a:solidFill>
                <a:latin typeface="Calibri (Headings)"/>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b="0" kern="1200">
                <a:solidFill>
                  <a:schemeClr val="tx1"/>
                </a:solidFill>
                <a:latin typeface="Calibri (Headings)"/>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b="0" kern="1200">
                <a:solidFill>
                  <a:schemeClr val="tx1"/>
                </a:solidFill>
                <a:latin typeface="Calibri (Headings)"/>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fontAlgn="auto">
              <a:spcAft>
                <a:spcPts val="0"/>
              </a:spcAft>
              <a:buFont typeface="Arial" panose="020B0604020202020204" pitchFamily="34" charset="0"/>
              <a:buNone/>
            </a:pPr>
            <a:r>
              <a:rPr lang="en-US" sz="2500" dirty="0">
                <a:solidFill>
                  <a:srgbClr val="00B050"/>
                </a:solidFill>
                <a:latin typeface="Times New Roman" panose="02020603050405020304" pitchFamily="18" charset="0"/>
                <a:cs typeface="Times New Roman" panose="02020603050405020304" pitchFamily="18" charset="0"/>
              </a:rPr>
              <a:t>Contactless Slip Rings</a:t>
            </a:r>
          </a:p>
        </p:txBody>
      </p:sp>
      <p:sp>
        <p:nvSpPr>
          <p:cNvPr id="19" name="Content Placeholder 1">
            <a:extLst>
              <a:ext uri="{FF2B5EF4-FFF2-40B4-BE49-F238E27FC236}">
                <a16:creationId xmlns:a16="http://schemas.microsoft.com/office/drawing/2014/main" id="{7B38B6B3-7FBB-4163-B883-88E18D292453}"/>
              </a:ext>
            </a:extLst>
          </p:cNvPr>
          <p:cNvSpPr txBox="1">
            <a:spLocks/>
          </p:cNvSpPr>
          <p:nvPr/>
        </p:nvSpPr>
        <p:spPr>
          <a:xfrm>
            <a:off x="108246" y="1852895"/>
            <a:ext cx="7274237" cy="2532971"/>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anose="020B0604020202020204" pitchFamily="34" charset="0"/>
              <a:buChar char="•"/>
              <a:defRPr sz="2800" b="0" kern="1200">
                <a:solidFill>
                  <a:schemeClr val="tx1"/>
                </a:solidFill>
                <a:latin typeface="Calibri (Headings)"/>
                <a:ea typeface="+mn-ea"/>
                <a:cs typeface="+mn-cs"/>
              </a:defRPr>
            </a:lvl1pPr>
            <a:lvl2pPr marL="742950" indent="-285750" algn="l" defTabSz="914400" rtl="0" eaLnBrk="1" latinLnBrk="0" hangingPunct="1">
              <a:spcBef>
                <a:spcPct val="20000"/>
              </a:spcBef>
              <a:buFont typeface="Arial" panose="020B0604020202020204" pitchFamily="34" charset="0"/>
              <a:buChar char="–"/>
              <a:defRPr sz="2400" b="0" kern="1200">
                <a:solidFill>
                  <a:schemeClr val="tx1"/>
                </a:solidFill>
                <a:latin typeface="Calibri (Headings)"/>
                <a:ea typeface="+mn-ea"/>
                <a:cs typeface="+mn-cs"/>
              </a:defRPr>
            </a:lvl2pPr>
            <a:lvl3pPr marL="1143000" indent="-228600" algn="l" defTabSz="914400" rtl="0" eaLnBrk="1" latinLnBrk="0" hangingPunct="1">
              <a:spcBef>
                <a:spcPct val="20000"/>
              </a:spcBef>
              <a:buFont typeface="Arial" panose="020B0604020202020204" pitchFamily="34" charset="0"/>
              <a:buChar char="•"/>
              <a:defRPr sz="2000" b="0" kern="1200">
                <a:solidFill>
                  <a:schemeClr val="tx1"/>
                </a:solidFill>
                <a:latin typeface="Calibri (Headings)"/>
                <a:ea typeface="+mn-ea"/>
                <a:cs typeface="+mn-cs"/>
              </a:defRPr>
            </a:lvl3pPr>
            <a:lvl4pPr marL="1600200" indent="-228600" algn="l" defTabSz="914400" rtl="0" eaLnBrk="1" latinLnBrk="0" hangingPunct="1">
              <a:spcBef>
                <a:spcPct val="20000"/>
              </a:spcBef>
              <a:buFont typeface="Arial" panose="020B0604020202020204" pitchFamily="34" charset="0"/>
              <a:buChar char="–"/>
              <a:defRPr sz="1800" b="0" kern="1200">
                <a:solidFill>
                  <a:schemeClr val="tx1"/>
                </a:solidFill>
                <a:latin typeface="Calibri (Headings)"/>
                <a:ea typeface="+mn-ea"/>
                <a:cs typeface="+mn-cs"/>
              </a:defRPr>
            </a:lvl4pPr>
            <a:lvl5pPr marL="2057400" indent="-228600" algn="l" defTabSz="914400" rtl="0" eaLnBrk="1" latinLnBrk="0" hangingPunct="1">
              <a:spcBef>
                <a:spcPct val="20000"/>
              </a:spcBef>
              <a:buFont typeface="Arial" panose="020B0604020202020204" pitchFamily="34" charset="0"/>
              <a:buChar char="»"/>
              <a:defRPr sz="1800" b="0" kern="1200">
                <a:solidFill>
                  <a:schemeClr val="tx1"/>
                </a:solidFill>
                <a:latin typeface="Calibri (Headings)"/>
                <a:ea typeface="+mn-ea"/>
                <a:cs typeface="+mn-cs"/>
              </a:defRPr>
            </a:lvl5pPr>
            <a:lvl6pPr marL="25146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9pPr>
          </a:lstStyle>
          <a:p>
            <a:pPr marL="0" indent="0" fontAlgn="auto">
              <a:spcAft>
                <a:spcPts val="0"/>
              </a:spcAft>
              <a:buFont typeface="Arial" panose="020B0604020202020204" pitchFamily="34" charset="0"/>
              <a:buNone/>
            </a:pPr>
            <a:r>
              <a:rPr lang="en-US" sz="2500" dirty="0">
                <a:solidFill>
                  <a:srgbClr val="C00000"/>
                </a:solidFill>
                <a:latin typeface="Times New Roman" panose="02020603050405020304" pitchFamily="18" charset="0"/>
                <a:cs typeface="Times New Roman" panose="02020603050405020304" pitchFamily="18" charset="0"/>
              </a:rPr>
              <a:t>Motivations:</a:t>
            </a:r>
          </a:p>
          <a:p>
            <a:pPr marL="514350" indent="-514350" fontAlgn="auto">
              <a:spcAft>
                <a:spcPts val="0"/>
              </a:spcAft>
              <a:buFont typeface="+mj-lt"/>
              <a:buAutoNum type="arabicPeriod"/>
            </a:pPr>
            <a:r>
              <a:rPr lang="en-US" sz="2500" dirty="0">
                <a:latin typeface="Times New Roman" panose="02020603050405020304" pitchFamily="18" charset="0"/>
                <a:cs typeface="Times New Roman" panose="02020603050405020304" pitchFamily="18" charset="0"/>
              </a:rPr>
              <a:t>To increase power</a:t>
            </a:r>
          </a:p>
          <a:p>
            <a:pPr marL="514350" indent="-514350" fontAlgn="auto">
              <a:spcAft>
                <a:spcPts val="0"/>
              </a:spcAft>
              <a:buFont typeface="+mj-lt"/>
              <a:buAutoNum type="arabicPeriod"/>
            </a:pPr>
            <a:r>
              <a:rPr lang="en-US" sz="2500" dirty="0">
                <a:solidFill>
                  <a:srgbClr val="004A99"/>
                </a:solidFill>
                <a:latin typeface="Times New Roman" panose="02020603050405020304" pitchFamily="18" charset="0"/>
                <a:cs typeface="Times New Roman" panose="02020603050405020304" pitchFamily="18" charset="0"/>
              </a:rPr>
              <a:t>To reduce switching components</a:t>
            </a:r>
          </a:p>
          <a:p>
            <a:pPr marL="514350" indent="-514350" fontAlgn="auto">
              <a:spcAft>
                <a:spcPts val="0"/>
              </a:spcAft>
              <a:buFont typeface="+mj-lt"/>
              <a:buAutoNum type="arabicPeriod"/>
            </a:pPr>
            <a:r>
              <a:rPr lang="en-US" sz="2500" dirty="0">
                <a:latin typeface="Times New Roman" panose="02020603050405020304" pitchFamily="18" charset="0"/>
                <a:cs typeface="Times New Roman" panose="02020603050405020304" pitchFamily="18" charset="0"/>
              </a:rPr>
              <a:t>To increase DC-link utilization rate</a:t>
            </a:r>
          </a:p>
          <a:p>
            <a:pPr marL="514350" indent="-514350" fontAlgn="auto">
              <a:spcAft>
                <a:spcPts val="0"/>
              </a:spcAft>
              <a:buFont typeface="+mj-lt"/>
              <a:buAutoNum type="arabicPeriod"/>
            </a:pPr>
            <a:r>
              <a:rPr lang="en-US" sz="2500" dirty="0">
                <a:latin typeface="Times New Roman" panose="02020603050405020304" pitchFamily="18" charset="0"/>
                <a:cs typeface="Times New Roman" panose="02020603050405020304" pitchFamily="18" charset="0"/>
              </a:rPr>
              <a:t>To provide operation for more than one standards</a:t>
            </a:r>
          </a:p>
          <a:p>
            <a:pPr marL="0" indent="0" fontAlgn="auto">
              <a:spcAft>
                <a:spcPts val="0"/>
              </a:spcAft>
              <a:buFont typeface="Arial" panose="020B0604020202020204" pitchFamily="34" charset="0"/>
              <a:buNone/>
            </a:pPr>
            <a:endParaRPr lang="en-US" dirty="0">
              <a:latin typeface="Times New Roman" panose="02020603050405020304" pitchFamily="18" charset="0"/>
              <a:cs typeface="Times New Roman" panose="02020603050405020304" pitchFamily="18" charset="0"/>
            </a:endParaRPr>
          </a:p>
          <a:p>
            <a:pPr marL="514350" indent="-514350" fontAlgn="auto">
              <a:spcAft>
                <a:spcPts val="0"/>
              </a:spcAft>
              <a:buFont typeface="+mj-lt"/>
              <a:buAutoNum type="arabicPeriod"/>
            </a:pPr>
            <a:endParaRPr lang="en-US" dirty="0">
              <a:latin typeface="Times New Roman" panose="02020603050405020304" pitchFamily="18" charset="0"/>
              <a:cs typeface="Times New Roman" panose="02020603050405020304" pitchFamily="18" charset="0"/>
            </a:endParaRPr>
          </a:p>
          <a:p>
            <a:pPr fontAlgn="auto">
              <a:spcAft>
                <a:spcPts val="0"/>
              </a:spcAft>
            </a:pPr>
            <a:endParaRPr lang="en-US" dirty="0">
              <a:latin typeface="Times New Roman" panose="02020603050405020304" pitchFamily="18" charset="0"/>
              <a:cs typeface="Times New Roman" panose="02020603050405020304" pitchFamily="18" charset="0"/>
            </a:endParaRPr>
          </a:p>
        </p:txBody>
      </p:sp>
      <p:pic>
        <p:nvPicPr>
          <p:cNvPr id="20" name="Picture 19">
            <a:extLst>
              <a:ext uri="{FF2B5EF4-FFF2-40B4-BE49-F238E27FC236}">
                <a16:creationId xmlns:a16="http://schemas.microsoft.com/office/drawing/2014/main" id="{C37B7B05-BA56-4A1C-AB7F-F1DB1BAF741C}"/>
              </a:ext>
            </a:extLst>
          </p:cNvPr>
          <p:cNvPicPr>
            <a:picLocks noChangeAspect="1"/>
          </p:cNvPicPr>
          <p:nvPr/>
        </p:nvPicPr>
        <p:blipFill>
          <a:blip r:embed="rId3"/>
          <a:stretch>
            <a:fillRect/>
          </a:stretch>
        </p:blipFill>
        <p:spPr>
          <a:xfrm>
            <a:off x="7780589" y="1572984"/>
            <a:ext cx="4038245" cy="2532971"/>
          </a:xfrm>
          <a:prstGeom prst="rect">
            <a:avLst/>
          </a:prstGeom>
        </p:spPr>
      </p:pic>
      <p:sp>
        <p:nvSpPr>
          <p:cNvPr id="21" name="Rectangle 20">
            <a:extLst>
              <a:ext uri="{FF2B5EF4-FFF2-40B4-BE49-F238E27FC236}">
                <a16:creationId xmlns:a16="http://schemas.microsoft.com/office/drawing/2014/main" id="{69562EE3-F8F8-4379-BFB2-BAE081496B54}"/>
              </a:ext>
            </a:extLst>
          </p:cNvPr>
          <p:cNvSpPr/>
          <p:nvPr/>
        </p:nvSpPr>
        <p:spPr>
          <a:xfrm>
            <a:off x="366204" y="1280923"/>
            <a:ext cx="3759940" cy="477054"/>
          </a:xfrm>
          <a:prstGeom prst="rect">
            <a:avLst/>
          </a:prstGeom>
        </p:spPr>
        <p:txBody>
          <a:bodyPr wrap="none">
            <a:spAutoFit/>
          </a:bodyPr>
          <a:lstStyle/>
          <a:p>
            <a:r>
              <a:rPr lang="en-US" sz="2500" dirty="0">
                <a:solidFill>
                  <a:srgbClr val="00B050"/>
                </a:solidFill>
                <a:latin typeface="Times New Roman" panose="02020603050405020304" pitchFamily="18" charset="0"/>
                <a:cs typeface="Times New Roman" panose="02020603050405020304" pitchFamily="18" charset="0"/>
              </a:rPr>
              <a:t>Concurrent Power Transfer </a:t>
            </a:r>
            <a:endParaRPr lang="en-US" sz="2500" dirty="0">
              <a:solidFill>
                <a:srgbClr val="00B050"/>
              </a:solidFill>
            </a:endParaRPr>
          </a:p>
        </p:txBody>
      </p:sp>
      <p:sp>
        <p:nvSpPr>
          <p:cNvPr id="22" name="Content Placeholder 1">
            <a:extLst>
              <a:ext uri="{FF2B5EF4-FFF2-40B4-BE49-F238E27FC236}">
                <a16:creationId xmlns:a16="http://schemas.microsoft.com/office/drawing/2014/main" id="{BAB7CCF2-EF66-4165-81F4-5560B97A7538}"/>
              </a:ext>
            </a:extLst>
          </p:cNvPr>
          <p:cNvSpPr txBox="1">
            <a:spLocks/>
          </p:cNvSpPr>
          <p:nvPr/>
        </p:nvSpPr>
        <p:spPr>
          <a:xfrm>
            <a:off x="7780589" y="4105955"/>
            <a:ext cx="4038246" cy="2185103"/>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anose="020B0604020202020204" pitchFamily="34" charset="0"/>
              <a:buChar char="•"/>
              <a:defRPr sz="2800" b="0" kern="1200">
                <a:solidFill>
                  <a:schemeClr val="tx1"/>
                </a:solidFill>
                <a:latin typeface="Calibri (Headings)"/>
                <a:ea typeface="+mn-ea"/>
                <a:cs typeface="+mn-cs"/>
              </a:defRPr>
            </a:lvl1pPr>
            <a:lvl2pPr marL="742950" indent="-285750" algn="l" defTabSz="914400" rtl="0" eaLnBrk="1" latinLnBrk="0" hangingPunct="1">
              <a:spcBef>
                <a:spcPct val="20000"/>
              </a:spcBef>
              <a:buFont typeface="Arial" panose="020B0604020202020204" pitchFamily="34" charset="0"/>
              <a:buChar char="–"/>
              <a:defRPr sz="2400" b="0" kern="1200">
                <a:solidFill>
                  <a:schemeClr val="tx1"/>
                </a:solidFill>
                <a:latin typeface="Calibri (Headings)"/>
                <a:ea typeface="+mn-ea"/>
                <a:cs typeface="+mn-cs"/>
              </a:defRPr>
            </a:lvl2pPr>
            <a:lvl3pPr marL="1143000" indent="-228600" algn="l" defTabSz="914400" rtl="0" eaLnBrk="1" latinLnBrk="0" hangingPunct="1">
              <a:spcBef>
                <a:spcPct val="20000"/>
              </a:spcBef>
              <a:buFont typeface="Arial" panose="020B0604020202020204" pitchFamily="34" charset="0"/>
              <a:buChar char="•"/>
              <a:defRPr sz="2000" b="0" kern="1200">
                <a:solidFill>
                  <a:schemeClr val="tx1"/>
                </a:solidFill>
                <a:latin typeface="Calibri (Headings)"/>
                <a:ea typeface="+mn-ea"/>
                <a:cs typeface="+mn-cs"/>
              </a:defRPr>
            </a:lvl3pPr>
            <a:lvl4pPr marL="1600200" indent="-228600" algn="l" defTabSz="914400" rtl="0" eaLnBrk="1" latinLnBrk="0" hangingPunct="1">
              <a:spcBef>
                <a:spcPct val="20000"/>
              </a:spcBef>
              <a:buFont typeface="Arial" panose="020B0604020202020204" pitchFamily="34" charset="0"/>
              <a:buChar char="–"/>
              <a:defRPr sz="1800" b="0" kern="1200">
                <a:solidFill>
                  <a:schemeClr val="tx1"/>
                </a:solidFill>
                <a:latin typeface="Calibri (Headings)"/>
                <a:ea typeface="+mn-ea"/>
                <a:cs typeface="+mn-cs"/>
              </a:defRPr>
            </a:lvl4pPr>
            <a:lvl5pPr marL="2057400" indent="-228600" algn="l" defTabSz="914400" rtl="0" eaLnBrk="1" latinLnBrk="0" hangingPunct="1">
              <a:spcBef>
                <a:spcPct val="20000"/>
              </a:spcBef>
              <a:buFont typeface="Arial" panose="020B0604020202020204" pitchFamily="34" charset="0"/>
              <a:buChar char="»"/>
              <a:defRPr sz="1800" b="0" kern="1200">
                <a:solidFill>
                  <a:schemeClr val="tx1"/>
                </a:solidFill>
                <a:latin typeface="Calibri (Headings)"/>
                <a:ea typeface="+mn-ea"/>
                <a:cs typeface="+mn-cs"/>
              </a:defRPr>
            </a:lvl5pPr>
            <a:lvl6pPr marL="25146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9pPr>
          </a:lstStyle>
          <a:p>
            <a:pPr marL="0" indent="0" fontAlgn="auto">
              <a:spcAft>
                <a:spcPts val="0"/>
              </a:spcAft>
              <a:buFont typeface="Arial" panose="020B0604020202020204" pitchFamily="34" charset="0"/>
              <a:buNone/>
            </a:pPr>
            <a:r>
              <a:rPr lang="en-US" sz="2000" dirty="0">
                <a:solidFill>
                  <a:srgbClr val="C00000"/>
                </a:solidFill>
                <a:latin typeface="Times New Roman" panose="02020603050405020304" pitchFamily="18" charset="0"/>
                <a:cs typeface="Times New Roman" panose="02020603050405020304" pitchFamily="18" charset="0"/>
              </a:rPr>
              <a:t>Motivations:</a:t>
            </a:r>
          </a:p>
          <a:p>
            <a:pPr marL="514350" indent="-514350" fontAlgn="auto">
              <a:spcAft>
                <a:spcPts val="0"/>
              </a:spcAft>
              <a:buFont typeface="+mj-lt"/>
              <a:buAutoNum type="arabicPeriod"/>
            </a:pPr>
            <a:r>
              <a:rPr lang="en-US" sz="2000" dirty="0">
                <a:latin typeface="Times New Roman" panose="02020603050405020304" pitchFamily="18" charset="0"/>
                <a:cs typeface="Times New Roman" panose="02020603050405020304" pitchFamily="18" charset="0"/>
              </a:rPr>
              <a:t>To eliminate carbon brushes requiring periodic maintenance</a:t>
            </a:r>
          </a:p>
          <a:p>
            <a:pPr marL="514350" indent="-514350" fontAlgn="auto">
              <a:spcAft>
                <a:spcPts val="0"/>
              </a:spcAft>
              <a:buFont typeface="+mj-lt"/>
              <a:buAutoNum type="arabicPeriod"/>
            </a:pPr>
            <a:r>
              <a:rPr lang="en-US" sz="2000" dirty="0">
                <a:latin typeface="Times New Roman" panose="02020603050405020304" pitchFamily="18" charset="0"/>
                <a:cs typeface="Times New Roman" panose="02020603050405020304" pitchFamily="18" charset="0"/>
              </a:rPr>
              <a:t>To eliminate brushless exciters that are not suitable for variable speed drives</a:t>
            </a:r>
          </a:p>
          <a:p>
            <a:pPr marL="514350" indent="-514350" fontAlgn="auto">
              <a:spcAft>
                <a:spcPts val="0"/>
              </a:spcAft>
              <a:buFont typeface="+mj-lt"/>
              <a:buAutoNum type="arabicPeriod"/>
            </a:pPr>
            <a:endParaRPr lang="en-US" sz="2000" dirty="0">
              <a:latin typeface="Times New Roman" panose="02020603050405020304" pitchFamily="18" charset="0"/>
              <a:cs typeface="Times New Roman" panose="02020603050405020304" pitchFamily="18" charset="0"/>
            </a:endParaRPr>
          </a:p>
          <a:p>
            <a:pPr marL="514350" indent="-514350" fontAlgn="auto">
              <a:spcAft>
                <a:spcPts val="0"/>
              </a:spcAft>
              <a:buFont typeface="+mj-lt"/>
              <a:buAutoNum type="arabicPeriod"/>
            </a:pPr>
            <a:endParaRPr lang="en-US" sz="2000" dirty="0">
              <a:latin typeface="Times New Roman" panose="02020603050405020304" pitchFamily="18" charset="0"/>
              <a:cs typeface="Times New Roman" panose="02020603050405020304" pitchFamily="18" charset="0"/>
            </a:endParaRPr>
          </a:p>
          <a:p>
            <a:pPr marL="0" indent="0" fontAlgn="auto">
              <a:spcAft>
                <a:spcPts val="0"/>
              </a:spcAft>
              <a:buNone/>
            </a:pPr>
            <a:endParaRPr lang="en-US" sz="2000" dirty="0">
              <a:latin typeface="Times New Roman" panose="02020603050405020304" pitchFamily="18" charset="0"/>
              <a:cs typeface="Times New Roman" panose="02020603050405020304" pitchFamily="18" charset="0"/>
            </a:endParaRPr>
          </a:p>
          <a:p>
            <a:pPr fontAlgn="auto">
              <a:spcAft>
                <a:spcPts val="0"/>
              </a:spcAft>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087005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ECEB-F7D9-419A-85E8-B5506B78B92F}"/>
              </a:ext>
            </a:extLst>
          </p:cNvPr>
          <p:cNvSpPr>
            <a:spLocks noGrp="1"/>
          </p:cNvSpPr>
          <p:nvPr>
            <p:ph type="title"/>
          </p:nvPr>
        </p:nvSpPr>
        <p:spPr>
          <a:xfrm>
            <a:off x="1054449" y="194043"/>
            <a:ext cx="10990263" cy="568412"/>
          </a:xfrm>
        </p:spPr>
        <p:txBody>
          <a:bodyPr>
            <a:normAutofit fontScale="90000"/>
          </a:bodyPr>
          <a:lstStyle/>
          <a:p>
            <a:pPr algn="ctr"/>
            <a:r>
              <a:rPr lang="en-US" dirty="0"/>
              <a:t>Conventional Inductive Power Transfer Based Contactless Slip Ring</a:t>
            </a:r>
            <a:endParaRPr lang="en-US" dirty="0">
              <a:latin typeface="+mj-lt"/>
            </a:endParaRPr>
          </a:p>
        </p:txBody>
      </p:sp>
      <p:pic>
        <p:nvPicPr>
          <p:cNvPr id="27" name="Picture 26">
            <a:extLst>
              <a:ext uri="{FF2B5EF4-FFF2-40B4-BE49-F238E27FC236}">
                <a16:creationId xmlns:a16="http://schemas.microsoft.com/office/drawing/2014/main" id="{FA347E35-97CB-4829-89C1-4914181E1E5B}"/>
              </a:ext>
            </a:extLst>
          </p:cNvPr>
          <p:cNvPicPr>
            <a:picLocks noChangeAspect="1"/>
          </p:cNvPicPr>
          <p:nvPr/>
        </p:nvPicPr>
        <p:blipFill>
          <a:blip r:embed="rId3"/>
          <a:stretch>
            <a:fillRect/>
          </a:stretch>
        </p:blipFill>
        <p:spPr>
          <a:xfrm>
            <a:off x="55400" y="1662001"/>
            <a:ext cx="6626738" cy="4439696"/>
          </a:xfrm>
          <a:prstGeom prst="rect">
            <a:avLst/>
          </a:prstGeom>
        </p:spPr>
      </p:pic>
      <p:sp>
        <p:nvSpPr>
          <p:cNvPr id="30" name="TextBox 29">
            <a:extLst>
              <a:ext uri="{FF2B5EF4-FFF2-40B4-BE49-F238E27FC236}">
                <a16:creationId xmlns:a16="http://schemas.microsoft.com/office/drawing/2014/main" id="{C14AC508-0491-48B9-96DA-661868C77509}"/>
              </a:ext>
            </a:extLst>
          </p:cNvPr>
          <p:cNvSpPr txBox="1"/>
          <p:nvPr/>
        </p:nvSpPr>
        <p:spPr>
          <a:xfrm>
            <a:off x="6581024" y="3514917"/>
            <a:ext cx="4581525" cy="369332"/>
          </a:xfrm>
          <a:prstGeom prst="rect">
            <a:avLst/>
          </a:prstGeom>
          <a:noFill/>
        </p:spPr>
        <p:txBody>
          <a:bodyPr wrap="square" rtlCol="0">
            <a:spAutoFit/>
          </a:bodyPr>
          <a:lstStyle/>
          <a:p>
            <a:pPr defTabSz="457200" eaLnBrk="0" fontAlgn="base" hangingPunct="0">
              <a:spcBef>
                <a:spcPct val="0"/>
              </a:spcBef>
              <a:spcAft>
                <a:spcPct val="0"/>
              </a:spcAft>
            </a:pPr>
            <a:r>
              <a:rPr lang="en-US" dirty="0">
                <a:solidFill>
                  <a:prstClr val="black"/>
                </a:solidFill>
                <a:latin typeface="Calibri"/>
              </a:rPr>
              <a:t>	 </a:t>
            </a:r>
          </a:p>
        </p:txBody>
      </p:sp>
      <p:sp>
        <p:nvSpPr>
          <p:cNvPr id="31" name="TextBox 30">
            <a:extLst>
              <a:ext uri="{FF2B5EF4-FFF2-40B4-BE49-F238E27FC236}">
                <a16:creationId xmlns:a16="http://schemas.microsoft.com/office/drawing/2014/main" id="{3C66D694-A6C5-4B6B-9CD1-C4D8D9DAD3E1}"/>
              </a:ext>
            </a:extLst>
          </p:cNvPr>
          <p:cNvSpPr txBox="1"/>
          <p:nvPr/>
        </p:nvSpPr>
        <p:spPr>
          <a:xfrm>
            <a:off x="6989563" y="1693838"/>
            <a:ext cx="4581525" cy="923330"/>
          </a:xfrm>
          <a:prstGeom prst="rect">
            <a:avLst/>
          </a:prstGeom>
          <a:noFill/>
        </p:spPr>
        <p:txBody>
          <a:bodyPr wrap="square" rtlCol="0">
            <a:spAutoFit/>
          </a:bodyPr>
          <a:lstStyle/>
          <a:p>
            <a:pPr defTabSz="457200" eaLnBrk="0" fontAlgn="base" hangingPunct="0">
              <a:spcBef>
                <a:spcPct val="0"/>
              </a:spcBef>
              <a:spcAft>
                <a:spcPct val="0"/>
              </a:spcAft>
            </a:pPr>
            <a:r>
              <a:rPr lang="en-US" dirty="0">
                <a:solidFill>
                  <a:prstClr val="black"/>
                </a:solidFill>
                <a:latin typeface="Calibri"/>
              </a:rPr>
              <a:t>Two converters:</a:t>
            </a:r>
          </a:p>
          <a:p>
            <a:pPr marL="971550" lvl="1" indent="-514350" defTabSz="457200" eaLnBrk="0" fontAlgn="base" hangingPunct="0">
              <a:spcBef>
                <a:spcPct val="0"/>
              </a:spcBef>
              <a:spcAft>
                <a:spcPct val="0"/>
              </a:spcAft>
              <a:buFont typeface="+mj-lt"/>
              <a:buAutoNum type="arabicPeriod"/>
            </a:pPr>
            <a:r>
              <a:rPr lang="en-US" dirty="0">
                <a:solidFill>
                  <a:prstClr val="black"/>
                </a:solidFill>
                <a:latin typeface="Calibri"/>
              </a:rPr>
              <a:t>To drive the motor</a:t>
            </a:r>
          </a:p>
          <a:p>
            <a:pPr marL="971550" lvl="1" indent="-514350" defTabSz="457200" eaLnBrk="0" fontAlgn="base" hangingPunct="0">
              <a:spcBef>
                <a:spcPct val="0"/>
              </a:spcBef>
              <a:spcAft>
                <a:spcPct val="0"/>
              </a:spcAft>
              <a:buFont typeface="+mj-lt"/>
              <a:buAutoNum type="arabicPeriod"/>
            </a:pPr>
            <a:r>
              <a:rPr lang="en-US" dirty="0">
                <a:solidFill>
                  <a:prstClr val="black"/>
                </a:solidFill>
                <a:latin typeface="Calibri"/>
              </a:rPr>
              <a:t>To excite the Tx coil 	 </a:t>
            </a:r>
          </a:p>
        </p:txBody>
      </p:sp>
      <p:sp>
        <p:nvSpPr>
          <p:cNvPr id="32" name="TextBox 31">
            <a:extLst>
              <a:ext uri="{FF2B5EF4-FFF2-40B4-BE49-F238E27FC236}">
                <a16:creationId xmlns:a16="http://schemas.microsoft.com/office/drawing/2014/main" id="{824C25FA-AEA9-4D31-9B57-7FAE773881C3}"/>
              </a:ext>
            </a:extLst>
          </p:cNvPr>
          <p:cNvSpPr txBox="1"/>
          <p:nvPr/>
        </p:nvSpPr>
        <p:spPr>
          <a:xfrm>
            <a:off x="6431284" y="4800982"/>
            <a:ext cx="5362575" cy="369332"/>
          </a:xfrm>
          <a:prstGeom prst="rect">
            <a:avLst/>
          </a:prstGeom>
          <a:noFill/>
        </p:spPr>
        <p:txBody>
          <a:bodyPr wrap="square" rtlCol="0">
            <a:spAutoFit/>
          </a:bodyPr>
          <a:lstStyle/>
          <a:p>
            <a:pPr defTabSz="457200" eaLnBrk="0" fontAlgn="base" hangingPunct="0">
              <a:spcBef>
                <a:spcPct val="0"/>
              </a:spcBef>
              <a:spcAft>
                <a:spcPct val="0"/>
              </a:spcAft>
            </a:pPr>
            <a:r>
              <a:rPr lang="en-US" dirty="0">
                <a:solidFill>
                  <a:prstClr val="black"/>
                </a:solidFill>
                <a:latin typeface="Calibri"/>
              </a:rPr>
              <a:t>The WPT converter </a:t>
            </a:r>
            <a:r>
              <a:rPr lang="en-US" dirty="0">
                <a:solidFill>
                  <a:prstClr val="black"/>
                </a:solidFill>
                <a:latin typeface="Calibri"/>
                <a:sym typeface="Wingdings" panose="05000000000000000000" pitchFamily="2" charset="2"/>
              </a:rPr>
              <a:t> generating high frequency </a:t>
            </a:r>
            <a:r>
              <a:rPr lang="en-US" dirty="0">
                <a:solidFill>
                  <a:prstClr val="black"/>
                </a:solidFill>
                <a:latin typeface="Calibri"/>
              </a:rPr>
              <a:t> </a:t>
            </a:r>
          </a:p>
        </p:txBody>
      </p:sp>
      <p:sp>
        <p:nvSpPr>
          <p:cNvPr id="33" name="TextBox 32">
            <a:extLst>
              <a:ext uri="{FF2B5EF4-FFF2-40B4-BE49-F238E27FC236}">
                <a16:creationId xmlns:a16="http://schemas.microsoft.com/office/drawing/2014/main" id="{96615A92-D25B-4F62-A274-EF23B8023C20}"/>
              </a:ext>
            </a:extLst>
          </p:cNvPr>
          <p:cNvSpPr txBox="1"/>
          <p:nvPr/>
        </p:nvSpPr>
        <p:spPr>
          <a:xfrm>
            <a:off x="6358279" y="3439152"/>
            <a:ext cx="5516325" cy="369332"/>
          </a:xfrm>
          <a:prstGeom prst="rect">
            <a:avLst/>
          </a:prstGeom>
          <a:noFill/>
        </p:spPr>
        <p:txBody>
          <a:bodyPr wrap="square" rtlCol="0">
            <a:spAutoFit/>
          </a:bodyPr>
          <a:lstStyle/>
          <a:p>
            <a:pPr defTabSz="457200" eaLnBrk="0" fontAlgn="base" hangingPunct="0">
              <a:spcBef>
                <a:spcPct val="0"/>
              </a:spcBef>
              <a:spcAft>
                <a:spcPct val="0"/>
              </a:spcAft>
            </a:pPr>
            <a:r>
              <a:rPr lang="en-US" dirty="0">
                <a:solidFill>
                  <a:prstClr val="black"/>
                </a:solidFill>
                <a:latin typeface="Calibri"/>
              </a:rPr>
              <a:t>The motor drive </a:t>
            </a:r>
            <a:r>
              <a:rPr lang="en-US" dirty="0">
                <a:solidFill>
                  <a:prstClr val="black"/>
                </a:solidFill>
                <a:latin typeface="Calibri"/>
                <a:sym typeface="Wingdings" panose="05000000000000000000" pitchFamily="2" charset="2"/>
              </a:rPr>
              <a:t> generating low and high frequencies </a:t>
            </a:r>
            <a:r>
              <a:rPr lang="en-US" dirty="0">
                <a:solidFill>
                  <a:prstClr val="black"/>
                </a:solidFill>
                <a:latin typeface="Calibri"/>
              </a:rPr>
              <a:t> </a:t>
            </a:r>
          </a:p>
        </p:txBody>
      </p:sp>
      <p:cxnSp>
        <p:nvCxnSpPr>
          <p:cNvPr id="34" name="Straight Arrow Connector 33">
            <a:extLst>
              <a:ext uri="{FF2B5EF4-FFF2-40B4-BE49-F238E27FC236}">
                <a16:creationId xmlns:a16="http://schemas.microsoft.com/office/drawing/2014/main" id="{80BFAA57-5CB8-4207-B19D-B21844316927}"/>
              </a:ext>
            </a:extLst>
          </p:cNvPr>
          <p:cNvCxnSpPr>
            <a:cxnSpLocks/>
            <a:endCxn id="41" idx="2"/>
          </p:cNvCxnSpPr>
          <p:nvPr/>
        </p:nvCxnSpPr>
        <p:spPr>
          <a:xfrm flipH="1" flipV="1">
            <a:off x="9112572" y="3234701"/>
            <a:ext cx="1259494" cy="251333"/>
          </a:xfrm>
          <a:prstGeom prst="straightConnector1">
            <a:avLst/>
          </a:prstGeom>
          <a:noFill/>
          <a:ln w="25400" cap="flat" cmpd="sng" algn="ctr">
            <a:solidFill>
              <a:sysClr val="windowText" lastClr="000000">
                <a:alpha val="80000"/>
              </a:sysClr>
            </a:solidFill>
            <a:prstDash val="solid"/>
            <a:tailEnd type="arrow"/>
          </a:ln>
          <a:effectLst/>
        </p:spPr>
      </p:cxnSp>
      <p:sp>
        <p:nvSpPr>
          <p:cNvPr id="35" name="TextBox 34">
            <a:extLst>
              <a:ext uri="{FF2B5EF4-FFF2-40B4-BE49-F238E27FC236}">
                <a16:creationId xmlns:a16="http://schemas.microsoft.com/office/drawing/2014/main" id="{BAF00BB5-DA03-4FBD-BB4F-A57DB7224723}"/>
              </a:ext>
            </a:extLst>
          </p:cNvPr>
          <p:cNvSpPr txBox="1"/>
          <p:nvPr/>
        </p:nvSpPr>
        <p:spPr>
          <a:xfrm>
            <a:off x="6274263" y="2836814"/>
            <a:ext cx="4714875" cy="369332"/>
          </a:xfrm>
          <a:prstGeom prst="rect">
            <a:avLst/>
          </a:prstGeom>
          <a:noFill/>
        </p:spPr>
        <p:txBody>
          <a:bodyPr wrap="square" rtlCol="0">
            <a:spAutoFit/>
          </a:bodyPr>
          <a:lstStyle/>
          <a:p>
            <a:pPr defTabSz="457200" eaLnBrk="0" fontAlgn="base" hangingPunct="0">
              <a:spcBef>
                <a:spcPct val="0"/>
              </a:spcBef>
              <a:spcAft>
                <a:spcPct val="0"/>
              </a:spcAft>
            </a:pPr>
            <a:r>
              <a:rPr lang="en-US" dirty="0">
                <a:solidFill>
                  <a:srgbClr val="C0504D">
                    <a:lumMod val="75000"/>
                  </a:srgbClr>
                </a:solidFill>
                <a:latin typeface="Calibri"/>
              </a:rPr>
              <a:t>                   Motor </a:t>
            </a:r>
            <a:r>
              <a:rPr lang="en-US" dirty="0">
                <a:solidFill>
                  <a:srgbClr val="C0504D">
                    <a:lumMod val="75000"/>
                  </a:srgbClr>
                </a:solidFill>
                <a:latin typeface="Calibri"/>
                <a:sym typeface="Wingdings" panose="05000000000000000000" pitchFamily="2" charset="2"/>
              </a:rPr>
              <a:t> </a:t>
            </a:r>
            <a:r>
              <a:rPr lang="en-US" dirty="0">
                <a:solidFill>
                  <a:srgbClr val="C0504D">
                    <a:lumMod val="75000"/>
                  </a:srgbClr>
                </a:solidFill>
                <a:latin typeface="Calibri"/>
              </a:rPr>
              <a:t>attenuated in motor current</a:t>
            </a:r>
          </a:p>
        </p:txBody>
      </p:sp>
      <p:cxnSp>
        <p:nvCxnSpPr>
          <p:cNvPr id="36" name="Straight Arrow Connector 35">
            <a:extLst>
              <a:ext uri="{FF2B5EF4-FFF2-40B4-BE49-F238E27FC236}">
                <a16:creationId xmlns:a16="http://schemas.microsoft.com/office/drawing/2014/main" id="{DB3D1F8B-5321-4E68-A51F-4058D26E460B}"/>
              </a:ext>
            </a:extLst>
          </p:cNvPr>
          <p:cNvCxnSpPr>
            <a:cxnSpLocks/>
            <a:endCxn id="45" idx="0"/>
          </p:cNvCxnSpPr>
          <p:nvPr/>
        </p:nvCxnSpPr>
        <p:spPr>
          <a:xfrm flipH="1">
            <a:off x="8978557" y="5185953"/>
            <a:ext cx="1261593" cy="316967"/>
          </a:xfrm>
          <a:prstGeom prst="straightConnector1">
            <a:avLst/>
          </a:prstGeom>
          <a:noFill/>
          <a:ln w="25400" cap="flat" cmpd="sng" algn="ctr">
            <a:solidFill>
              <a:sysClr val="windowText" lastClr="000000">
                <a:alpha val="80000"/>
              </a:sysClr>
            </a:solidFill>
            <a:prstDash val="solid"/>
            <a:tailEnd type="arrow"/>
          </a:ln>
          <a:effectLst/>
        </p:spPr>
      </p:cxnSp>
      <p:sp>
        <p:nvSpPr>
          <p:cNvPr id="37" name="TextBox 36">
            <a:extLst>
              <a:ext uri="{FF2B5EF4-FFF2-40B4-BE49-F238E27FC236}">
                <a16:creationId xmlns:a16="http://schemas.microsoft.com/office/drawing/2014/main" id="{8075581E-24F5-429C-B18C-C86D172F8F14}"/>
              </a:ext>
            </a:extLst>
          </p:cNvPr>
          <p:cNvSpPr txBox="1"/>
          <p:nvPr/>
        </p:nvSpPr>
        <p:spPr>
          <a:xfrm>
            <a:off x="6682137" y="5518559"/>
            <a:ext cx="5362575" cy="369332"/>
          </a:xfrm>
          <a:prstGeom prst="rect">
            <a:avLst/>
          </a:prstGeom>
          <a:noFill/>
        </p:spPr>
        <p:txBody>
          <a:bodyPr wrap="square" rtlCol="0">
            <a:spAutoFit/>
          </a:bodyPr>
          <a:lstStyle/>
          <a:p>
            <a:pPr defTabSz="457200" eaLnBrk="0" fontAlgn="base" hangingPunct="0">
              <a:spcBef>
                <a:spcPct val="0"/>
              </a:spcBef>
              <a:spcAft>
                <a:spcPct val="0"/>
              </a:spcAft>
            </a:pPr>
            <a:r>
              <a:rPr lang="en-US" dirty="0">
                <a:solidFill>
                  <a:srgbClr val="C0504D">
                    <a:lumMod val="75000"/>
                  </a:srgbClr>
                </a:solidFill>
                <a:latin typeface="Calibri"/>
              </a:rPr>
              <a:t>The WPT system </a:t>
            </a:r>
            <a:r>
              <a:rPr lang="en-US" dirty="0">
                <a:solidFill>
                  <a:srgbClr val="C0504D">
                    <a:lumMod val="75000"/>
                  </a:srgbClr>
                </a:solidFill>
                <a:latin typeface="Calibri"/>
                <a:sym typeface="Wingdings" panose="05000000000000000000" pitchFamily="2" charset="2"/>
              </a:rPr>
              <a:t></a:t>
            </a:r>
            <a:r>
              <a:rPr lang="en-US" dirty="0">
                <a:solidFill>
                  <a:srgbClr val="C0504D">
                    <a:lumMod val="75000"/>
                  </a:srgbClr>
                </a:solidFill>
                <a:latin typeface="Calibri"/>
              </a:rPr>
              <a:t>behaves like band-pass filter</a:t>
            </a:r>
          </a:p>
        </p:txBody>
      </p:sp>
      <p:sp>
        <p:nvSpPr>
          <p:cNvPr id="38" name="TextBox 37">
            <a:extLst>
              <a:ext uri="{FF2B5EF4-FFF2-40B4-BE49-F238E27FC236}">
                <a16:creationId xmlns:a16="http://schemas.microsoft.com/office/drawing/2014/main" id="{7ED0C17A-DF7E-4A65-93F6-A64D920CB10E}"/>
              </a:ext>
            </a:extLst>
          </p:cNvPr>
          <p:cNvSpPr txBox="1"/>
          <p:nvPr/>
        </p:nvSpPr>
        <p:spPr>
          <a:xfrm>
            <a:off x="6292483" y="4032189"/>
            <a:ext cx="4714875" cy="369332"/>
          </a:xfrm>
          <a:prstGeom prst="rect">
            <a:avLst/>
          </a:prstGeom>
          <a:noFill/>
        </p:spPr>
        <p:txBody>
          <a:bodyPr wrap="square" rtlCol="0">
            <a:spAutoFit/>
          </a:bodyPr>
          <a:lstStyle/>
          <a:p>
            <a:pPr defTabSz="457200" eaLnBrk="0" fontAlgn="base" hangingPunct="0">
              <a:spcBef>
                <a:spcPct val="0"/>
              </a:spcBef>
              <a:spcAft>
                <a:spcPct val="0"/>
              </a:spcAft>
            </a:pPr>
            <a:r>
              <a:rPr lang="en-US" dirty="0">
                <a:solidFill>
                  <a:srgbClr val="C0504D">
                    <a:lumMod val="75000"/>
                  </a:srgbClr>
                </a:solidFill>
                <a:latin typeface="Calibri"/>
              </a:rPr>
              <a:t>                   Motor </a:t>
            </a:r>
            <a:r>
              <a:rPr lang="en-US" dirty="0">
                <a:solidFill>
                  <a:srgbClr val="C0504D">
                    <a:lumMod val="75000"/>
                  </a:srgbClr>
                </a:solidFill>
                <a:latin typeface="Calibri"/>
                <a:sym typeface="Wingdings" panose="05000000000000000000" pitchFamily="2" charset="2"/>
              </a:rPr>
              <a:t> </a:t>
            </a:r>
            <a:r>
              <a:rPr lang="en-US" dirty="0">
                <a:solidFill>
                  <a:srgbClr val="C0504D">
                    <a:lumMod val="75000"/>
                  </a:srgbClr>
                </a:solidFill>
                <a:latin typeface="Calibri"/>
              </a:rPr>
              <a:t>used to drive</a:t>
            </a:r>
          </a:p>
        </p:txBody>
      </p:sp>
      <p:cxnSp>
        <p:nvCxnSpPr>
          <p:cNvPr id="39" name="Straight Arrow Connector 38">
            <a:extLst>
              <a:ext uri="{FF2B5EF4-FFF2-40B4-BE49-F238E27FC236}">
                <a16:creationId xmlns:a16="http://schemas.microsoft.com/office/drawing/2014/main" id="{9FDA9455-9735-4281-9E84-3D6575EC7646}"/>
              </a:ext>
            </a:extLst>
          </p:cNvPr>
          <p:cNvCxnSpPr>
            <a:cxnSpLocks/>
            <a:stCxn id="43" idx="2"/>
            <a:endCxn id="42" idx="0"/>
          </p:cNvCxnSpPr>
          <p:nvPr/>
        </p:nvCxnSpPr>
        <p:spPr>
          <a:xfrm flipH="1">
            <a:off x="8460050" y="3845853"/>
            <a:ext cx="1021176" cy="194365"/>
          </a:xfrm>
          <a:prstGeom prst="straightConnector1">
            <a:avLst/>
          </a:prstGeom>
          <a:noFill/>
          <a:ln w="25400" cap="flat" cmpd="sng" algn="ctr">
            <a:solidFill>
              <a:sysClr val="windowText" lastClr="000000">
                <a:alpha val="80000"/>
              </a:sysClr>
            </a:solidFill>
            <a:prstDash val="solid"/>
            <a:tailEnd type="arrow"/>
          </a:ln>
          <a:effectLst/>
        </p:spPr>
      </p:cxnSp>
      <p:sp>
        <p:nvSpPr>
          <p:cNvPr id="40" name="Rectangle 39">
            <a:extLst>
              <a:ext uri="{FF2B5EF4-FFF2-40B4-BE49-F238E27FC236}">
                <a16:creationId xmlns:a16="http://schemas.microsoft.com/office/drawing/2014/main" id="{004018BF-56A1-4E4B-8B8B-19D2200B7678}"/>
              </a:ext>
            </a:extLst>
          </p:cNvPr>
          <p:cNvSpPr/>
          <p:nvPr/>
        </p:nvSpPr>
        <p:spPr>
          <a:xfrm>
            <a:off x="10104050" y="3489611"/>
            <a:ext cx="441417" cy="373961"/>
          </a:xfrm>
          <a:prstGeom prst="rect">
            <a:avLst/>
          </a:prstGeom>
          <a:solidFill>
            <a:srgbClr val="F79646">
              <a:lumMod val="40000"/>
              <a:lumOff val="60000"/>
              <a:alpha val="20000"/>
            </a:srgbClr>
          </a:solidFill>
          <a:ln w="25400" cap="flat" cmpd="sng" algn="ctr">
            <a:noFill/>
            <a:prstDash val="solid"/>
          </a:ln>
          <a:effectLst/>
        </p:spPr>
        <p:txBody>
          <a:bodyPr rtlCol="0" anchor="ctr"/>
          <a:lstStyle/>
          <a:p>
            <a:pPr marL="0" marR="0" lvl="0" indent="0" algn="ctr" defTabSz="4572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dirty="0" smtClean="0">
              <a:ln>
                <a:noFill/>
              </a:ln>
              <a:solidFill>
                <a:prstClr val="white"/>
              </a:solidFill>
              <a:effectLst/>
              <a:uLnTx/>
              <a:uFillTx/>
              <a:latin typeface="Calibri"/>
              <a:ea typeface="+mn-ea"/>
              <a:cs typeface="+mn-cs"/>
            </a:endParaRPr>
          </a:p>
        </p:txBody>
      </p:sp>
      <p:sp>
        <p:nvSpPr>
          <p:cNvPr id="41" name="Rectangle 40">
            <a:extLst>
              <a:ext uri="{FF2B5EF4-FFF2-40B4-BE49-F238E27FC236}">
                <a16:creationId xmlns:a16="http://schemas.microsoft.com/office/drawing/2014/main" id="{E0C41A08-FB5D-4EC7-A443-FDC6027FA9C6}"/>
              </a:ext>
            </a:extLst>
          </p:cNvPr>
          <p:cNvSpPr/>
          <p:nvPr/>
        </p:nvSpPr>
        <p:spPr>
          <a:xfrm>
            <a:off x="7236006" y="2860740"/>
            <a:ext cx="3753132" cy="373961"/>
          </a:xfrm>
          <a:prstGeom prst="rect">
            <a:avLst/>
          </a:prstGeom>
          <a:solidFill>
            <a:srgbClr val="F79646">
              <a:lumMod val="40000"/>
              <a:lumOff val="60000"/>
              <a:alpha val="20000"/>
            </a:srgbClr>
          </a:solidFill>
          <a:ln w="25400" cap="flat" cmpd="sng" algn="ctr">
            <a:noFill/>
            <a:prstDash val="solid"/>
          </a:ln>
          <a:effectLst/>
        </p:spPr>
        <p:txBody>
          <a:bodyPr rtlCol="0" anchor="ctr"/>
          <a:lstStyle/>
          <a:p>
            <a:pPr marL="0" marR="0" lvl="0" indent="0" algn="ctr" defTabSz="4572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571FCAD1-F87A-4F79-98E0-9EEB1137E740}"/>
              </a:ext>
            </a:extLst>
          </p:cNvPr>
          <p:cNvSpPr/>
          <p:nvPr/>
        </p:nvSpPr>
        <p:spPr>
          <a:xfrm>
            <a:off x="7311788" y="4040218"/>
            <a:ext cx="2296523" cy="373961"/>
          </a:xfrm>
          <a:prstGeom prst="rect">
            <a:avLst/>
          </a:prstGeom>
          <a:solidFill>
            <a:srgbClr val="8064A2">
              <a:lumMod val="60000"/>
              <a:lumOff val="40000"/>
              <a:alpha val="20000"/>
            </a:srgbClr>
          </a:solidFill>
          <a:ln w="25400" cap="flat" cmpd="sng" algn="ctr">
            <a:noFill/>
            <a:prstDash val="solid"/>
          </a:ln>
          <a:effectLst/>
        </p:spPr>
        <p:txBody>
          <a:bodyPr rtlCol="0" anchor="ctr"/>
          <a:lstStyle/>
          <a:p>
            <a:pPr marL="0" marR="0" lvl="0" indent="0" algn="ctr" defTabSz="4572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43" name="Rectangle 42">
            <a:extLst>
              <a:ext uri="{FF2B5EF4-FFF2-40B4-BE49-F238E27FC236}">
                <a16:creationId xmlns:a16="http://schemas.microsoft.com/office/drawing/2014/main" id="{177C9BA5-29FF-4625-9B08-2A441CB92586}"/>
              </a:ext>
            </a:extLst>
          </p:cNvPr>
          <p:cNvSpPr/>
          <p:nvPr/>
        </p:nvSpPr>
        <p:spPr>
          <a:xfrm>
            <a:off x="9296400" y="3471892"/>
            <a:ext cx="369651" cy="373961"/>
          </a:xfrm>
          <a:prstGeom prst="rect">
            <a:avLst/>
          </a:prstGeom>
          <a:solidFill>
            <a:srgbClr val="8064A2">
              <a:lumMod val="60000"/>
              <a:lumOff val="40000"/>
              <a:alpha val="20000"/>
            </a:srgbClr>
          </a:solidFill>
          <a:ln w="25400" cap="flat" cmpd="sng" algn="ctr">
            <a:noFill/>
            <a:prstDash val="solid"/>
          </a:ln>
          <a:effectLst/>
        </p:spPr>
        <p:txBody>
          <a:bodyPr rtlCol="0" anchor="ctr"/>
          <a:lstStyle/>
          <a:p>
            <a:pPr marL="0" marR="0" lvl="0" indent="0" algn="ctr" defTabSz="4572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44" name="Rectangle 43">
            <a:extLst>
              <a:ext uri="{FF2B5EF4-FFF2-40B4-BE49-F238E27FC236}">
                <a16:creationId xmlns:a16="http://schemas.microsoft.com/office/drawing/2014/main" id="{B4EF1F21-87C6-4877-9C65-4588C727D878}"/>
              </a:ext>
            </a:extLst>
          </p:cNvPr>
          <p:cNvSpPr/>
          <p:nvPr/>
        </p:nvSpPr>
        <p:spPr>
          <a:xfrm>
            <a:off x="9666051" y="4811992"/>
            <a:ext cx="1423967" cy="373961"/>
          </a:xfrm>
          <a:prstGeom prst="rect">
            <a:avLst/>
          </a:prstGeom>
          <a:solidFill>
            <a:srgbClr val="4BACC6">
              <a:lumMod val="60000"/>
              <a:lumOff val="40000"/>
              <a:alpha val="20000"/>
            </a:srgbClr>
          </a:solidFill>
          <a:ln w="25400" cap="flat" cmpd="sng" algn="ctr">
            <a:noFill/>
            <a:prstDash val="solid"/>
          </a:ln>
          <a:effectLst/>
        </p:spPr>
        <p:txBody>
          <a:bodyPr rtlCol="0" anchor="ctr"/>
          <a:lstStyle/>
          <a:p>
            <a:pPr marL="0" marR="0" lvl="0" indent="0" algn="ctr" defTabSz="4572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45" name="Rectangle 44">
            <a:extLst>
              <a:ext uri="{FF2B5EF4-FFF2-40B4-BE49-F238E27FC236}">
                <a16:creationId xmlns:a16="http://schemas.microsoft.com/office/drawing/2014/main" id="{27C87624-8FA8-4B10-8335-86CE7F060E95}"/>
              </a:ext>
            </a:extLst>
          </p:cNvPr>
          <p:cNvSpPr/>
          <p:nvPr/>
        </p:nvSpPr>
        <p:spPr>
          <a:xfrm>
            <a:off x="6682138" y="5502920"/>
            <a:ext cx="4592837" cy="373961"/>
          </a:xfrm>
          <a:prstGeom prst="rect">
            <a:avLst/>
          </a:prstGeom>
          <a:solidFill>
            <a:srgbClr val="4BACC6">
              <a:lumMod val="60000"/>
              <a:lumOff val="40000"/>
              <a:alpha val="20000"/>
            </a:srgbClr>
          </a:solidFill>
          <a:ln w="25400" cap="flat" cmpd="sng" algn="ctr">
            <a:noFill/>
            <a:prstDash val="solid"/>
          </a:ln>
          <a:effectLst/>
        </p:spPr>
        <p:txBody>
          <a:bodyPr rtlCol="0" anchor="ctr"/>
          <a:lstStyle/>
          <a:p>
            <a:pPr marL="0" marR="0" lvl="0" indent="0" algn="ctr" defTabSz="4572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50" name="Rectangle 49"/>
          <p:cNvSpPr/>
          <p:nvPr/>
        </p:nvSpPr>
        <p:spPr>
          <a:xfrm>
            <a:off x="5415164" y="2003958"/>
            <a:ext cx="998220" cy="6781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1" name="TextBox 50"/>
          <p:cNvSpPr txBox="1"/>
          <p:nvPr/>
        </p:nvSpPr>
        <p:spPr>
          <a:xfrm>
            <a:off x="5354204" y="2003958"/>
            <a:ext cx="1226820" cy="646331"/>
          </a:xfrm>
          <a:prstGeom prst="rect">
            <a:avLst/>
          </a:prstGeom>
          <a:noFill/>
        </p:spPr>
        <p:txBody>
          <a:bodyPr wrap="square" rtlCol="0">
            <a:spAutoFit/>
          </a:bodyPr>
          <a:lstStyle/>
          <a:p>
            <a:pPr algn="ctr"/>
            <a:r>
              <a:rPr lang="en-US" dirty="0" smtClean="0">
                <a:solidFill>
                  <a:schemeClr val="accent6">
                    <a:lumMod val="50000"/>
                  </a:schemeClr>
                </a:solidFill>
              </a:rPr>
              <a:t>Field Winding</a:t>
            </a:r>
            <a:endParaRPr lang="sv-SE" dirty="0">
              <a:solidFill>
                <a:schemeClr val="accent6">
                  <a:lumMod val="50000"/>
                </a:schemeClr>
              </a:solidFill>
            </a:endParaRPr>
          </a:p>
        </p:txBody>
      </p:sp>
    </p:spTree>
    <p:extLst>
      <p:ext uri="{BB962C8B-B14F-4D97-AF65-F5344CB8AC3E}">
        <p14:creationId xmlns:p14="http://schemas.microsoft.com/office/powerpoint/2010/main" val="26941671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ECEB-F7D9-419A-85E8-B5506B78B92F}"/>
              </a:ext>
            </a:extLst>
          </p:cNvPr>
          <p:cNvSpPr>
            <a:spLocks noGrp="1"/>
          </p:cNvSpPr>
          <p:nvPr>
            <p:ph type="title"/>
          </p:nvPr>
        </p:nvSpPr>
        <p:spPr>
          <a:xfrm>
            <a:off x="1054449" y="194043"/>
            <a:ext cx="10990263" cy="568412"/>
          </a:xfrm>
        </p:spPr>
        <p:txBody>
          <a:bodyPr>
            <a:normAutofit fontScale="90000"/>
          </a:bodyPr>
          <a:lstStyle/>
          <a:p>
            <a:pPr algn="ctr"/>
            <a:r>
              <a:rPr lang="en-US" dirty="0" smtClean="0"/>
              <a:t>Proposed </a:t>
            </a:r>
            <a:r>
              <a:rPr lang="en-US" dirty="0"/>
              <a:t>Inductive Power Transfer Based Contactless Slip Ring</a:t>
            </a:r>
            <a:endParaRPr lang="en-US" dirty="0">
              <a:latin typeface="+mj-lt"/>
            </a:endParaRPr>
          </a:p>
        </p:txBody>
      </p:sp>
      <p:pic>
        <p:nvPicPr>
          <p:cNvPr id="49" name="Picture 48">
            <a:extLst>
              <a:ext uri="{FF2B5EF4-FFF2-40B4-BE49-F238E27FC236}">
                <a16:creationId xmlns:a16="http://schemas.microsoft.com/office/drawing/2014/main" id="{2A6BFC61-5FC4-4CB9-86F4-3B9FD719CA7F}"/>
              </a:ext>
            </a:extLst>
          </p:cNvPr>
          <p:cNvPicPr>
            <a:picLocks noChangeAspect="1"/>
          </p:cNvPicPr>
          <p:nvPr/>
        </p:nvPicPr>
        <p:blipFill rotWithShape="1">
          <a:blip r:embed="rId3"/>
          <a:srcRect l="4606"/>
          <a:stretch/>
        </p:blipFill>
        <p:spPr>
          <a:xfrm>
            <a:off x="127036" y="1571100"/>
            <a:ext cx="6811926" cy="4420125"/>
          </a:xfrm>
          <a:prstGeom prst="rect">
            <a:avLst/>
          </a:prstGeom>
        </p:spPr>
      </p:pic>
      <p:sp>
        <p:nvSpPr>
          <p:cNvPr id="50" name="TextBox 49">
            <a:extLst>
              <a:ext uri="{FF2B5EF4-FFF2-40B4-BE49-F238E27FC236}">
                <a16:creationId xmlns:a16="http://schemas.microsoft.com/office/drawing/2014/main" id="{0279E1C5-DB9E-4EA6-A56E-9404A133FE26}"/>
              </a:ext>
            </a:extLst>
          </p:cNvPr>
          <p:cNvSpPr txBox="1"/>
          <p:nvPr/>
        </p:nvSpPr>
        <p:spPr>
          <a:xfrm>
            <a:off x="6963575" y="1369978"/>
            <a:ext cx="4581525" cy="369332"/>
          </a:xfrm>
          <a:prstGeom prst="rect">
            <a:avLst/>
          </a:prstGeom>
          <a:noFill/>
        </p:spPr>
        <p:txBody>
          <a:bodyPr wrap="square" rtlCol="0">
            <a:spAutoFit/>
          </a:bodyPr>
          <a:lstStyle/>
          <a:p>
            <a:pPr defTabSz="457200" eaLnBrk="0" fontAlgn="base" hangingPunct="0">
              <a:spcBef>
                <a:spcPct val="0"/>
              </a:spcBef>
              <a:spcAft>
                <a:spcPct val="0"/>
              </a:spcAft>
            </a:pPr>
            <a:r>
              <a:rPr lang="en-US" dirty="0">
                <a:solidFill>
                  <a:prstClr val="black"/>
                </a:solidFill>
                <a:latin typeface="Calibri"/>
              </a:rPr>
              <a:t>	 </a:t>
            </a:r>
          </a:p>
        </p:txBody>
      </p:sp>
      <p:sp>
        <p:nvSpPr>
          <p:cNvPr id="51" name="TextBox 50">
            <a:extLst>
              <a:ext uri="{FF2B5EF4-FFF2-40B4-BE49-F238E27FC236}">
                <a16:creationId xmlns:a16="http://schemas.microsoft.com/office/drawing/2014/main" id="{4401A0FD-F927-4CF4-9D68-B56D4D2C863A}"/>
              </a:ext>
            </a:extLst>
          </p:cNvPr>
          <p:cNvSpPr txBox="1"/>
          <p:nvPr/>
        </p:nvSpPr>
        <p:spPr>
          <a:xfrm>
            <a:off x="6788552" y="4243994"/>
            <a:ext cx="4926806" cy="369332"/>
          </a:xfrm>
          <a:prstGeom prst="rect">
            <a:avLst/>
          </a:prstGeom>
          <a:noFill/>
        </p:spPr>
        <p:txBody>
          <a:bodyPr wrap="square" rtlCol="0">
            <a:spAutoFit/>
          </a:bodyPr>
          <a:lstStyle/>
          <a:p>
            <a:pPr defTabSz="457200" eaLnBrk="0" fontAlgn="base" hangingPunct="0">
              <a:spcBef>
                <a:spcPct val="0"/>
              </a:spcBef>
              <a:spcAft>
                <a:spcPct val="0"/>
              </a:spcAft>
            </a:pPr>
            <a:r>
              <a:rPr lang="en-US" strike="sngStrike" dirty="0">
                <a:solidFill>
                  <a:prstClr val="black"/>
                </a:solidFill>
                <a:latin typeface="Constantia" panose="02030602050306030303" pitchFamily="18" charset="0"/>
              </a:rPr>
              <a:t>The WPT converter</a:t>
            </a:r>
            <a:r>
              <a:rPr lang="en-US" strike="sngStrike" dirty="0">
                <a:solidFill>
                  <a:prstClr val="black"/>
                </a:solidFill>
                <a:latin typeface="Calibri"/>
              </a:rPr>
              <a:t> </a:t>
            </a:r>
            <a:r>
              <a:rPr lang="en-US" strike="sngStrike" dirty="0">
                <a:solidFill>
                  <a:prstClr val="black"/>
                </a:solidFill>
                <a:latin typeface="Calibri"/>
                <a:sym typeface="Wingdings" panose="05000000000000000000" pitchFamily="2" charset="2"/>
              </a:rPr>
              <a:t> generating high frequency </a:t>
            </a:r>
            <a:r>
              <a:rPr lang="en-US" strike="sngStrike" dirty="0">
                <a:solidFill>
                  <a:prstClr val="black"/>
                </a:solidFill>
                <a:latin typeface="Calibri"/>
              </a:rPr>
              <a:t> </a:t>
            </a:r>
          </a:p>
        </p:txBody>
      </p:sp>
      <p:sp>
        <p:nvSpPr>
          <p:cNvPr id="52" name="TextBox 51">
            <a:extLst>
              <a:ext uri="{FF2B5EF4-FFF2-40B4-BE49-F238E27FC236}">
                <a16:creationId xmlns:a16="http://schemas.microsoft.com/office/drawing/2014/main" id="{C5C43168-ECA5-42BC-8D5B-6B8B535D63FF}"/>
              </a:ext>
            </a:extLst>
          </p:cNvPr>
          <p:cNvSpPr txBox="1"/>
          <p:nvPr/>
        </p:nvSpPr>
        <p:spPr>
          <a:xfrm>
            <a:off x="6830225" y="1570345"/>
            <a:ext cx="5362575" cy="369332"/>
          </a:xfrm>
          <a:prstGeom prst="rect">
            <a:avLst/>
          </a:prstGeom>
          <a:noFill/>
        </p:spPr>
        <p:txBody>
          <a:bodyPr wrap="square" rtlCol="0">
            <a:spAutoFit/>
          </a:bodyPr>
          <a:lstStyle/>
          <a:p>
            <a:pPr defTabSz="457200" eaLnBrk="0" fontAlgn="base" hangingPunct="0">
              <a:spcBef>
                <a:spcPct val="0"/>
              </a:spcBef>
              <a:spcAft>
                <a:spcPct val="0"/>
              </a:spcAft>
            </a:pPr>
            <a:r>
              <a:rPr lang="en-US" dirty="0">
                <a:solidFill>
                  <a:prstClr val="black"/>
                </a:solidFill>
                <a:latin typeface="Constantia" panose="02030602050306030303" pitchFamily="18" charset="0"/>
              </a:rPr>
              <a:t>The motor drive</a:t>
            </a:r>
            <a:r>
              <a:rPr lang="en-US" dirty="0">
                <a:solidFill>
                  <a:prstClr val="black"/>
                </a:solidFill>
                <a:latin typeface="Calibri"/>
              </a:rPr>
              <a:t> </a:t>
            </a:r>
            <a:r>
              <a:rPr lang="en-US" dirty="0">
                <a:solidFill>
                  <a:prstClr val="black"/>
                </a:solidFill>
                <a:latin typeface="Calibri"/>
                <a:sym typeface="Wingdings" panose="05000000000000000000" pitchFamily="2" charset="2"/>
              </a:rPr>
              <a:t> generating high frequency </a:t>
            </a:r>
            <a:r>
              <a:rPr lang="en-US" dirty="0">
                <a:solidFill>
                  <a:prstClr val="black"/>
                </a:solidFill>
                <a:latin typeface="Calibri"/>
              </a:rPr>
              <a:t> </a:t>
            </a:r>
          </a:p>
        </p:txBody>
      </p:sp>
      <p:sp>
        <p:nvSpPr>
          <p:cNvPr id="53" name="TextBox 52">
            <a:extLst>
              <a:ext uri="{FF2B5EF4-FFF2-40B4-BE49-F238E27FC236}">
                <a16:creationId xmlns:a16="http://schemas.microsoft.com/office/drawing/2014/main" id="{8AEBB12E-D851-4209-8FE5-665DB7588422}"/>
              </a:ext>
            </a:extLst>
          </p:cNvPr>
          <p:cNvSpPr txBox="1"/>
          <p:nvPr/>
        </p:nvSpPr>
        <p:spPr>
          <a:xfrm>
            <a:off x="6882613" y="2931452"/>
            <a:ext cx="5362575" cy="369332"/>
          </a:xfrm>
          <a:prstGeom prst="rect">
            <a:avLst/>
          </a:prstGeom>
          <a:noFill/>
        </p:spPr>
        <p:txBody>
          <a:bodyPr wrap="square" rtlCol="0">
            <a:spAutoFit/>
          </a:bodyPr>
          <a:lstStyle/>
          <a:p>
            <a:pPr defTabSz="457200" eaLnBrk="0" fontAlgn="base" hangingPunct="0">
              <a:spcBef>
                <a:spcPct val="0"/>
              </a:spcBef>
              <a:spcAft>
                <a:spcPct val="0"/>
              </a:spcAft>
            </a:pPr>
            <a:r>
              <a:rPr lang="en-US" dirty="0">
                <a:solidFill>
                  <a:srgbClr val="C0504D">
                    <a:lumMod val="75000"/>
                  </a:srgbClr>
                </a:solidFill>
                <a:latin typeface="Calibri"/>
              </a:rPr>
              <a:t>The WPT system </a:t>
            </a:r>
            <a:r>
              <a:rPr lang="en-US" dirty="0">
                <a:solidFill>
                  <a:srgbClr val="C0504D">
                    <a:lumMod val="75000"/>
                  </a:srgbClr>
                </a:solidFill>
                <a:latin typeface="Calibri"/>
                <a:sym typeface="Wingdings" panose="05000000000000000000" pitchFamily="2" charset="2"/>
              </a:rPr>
              <a:t></a:t>
            </a:r>
            <a:r>
              <a:rPr lang="en-US" dirty="0">
                <a:solidFill>
                  <a:srgbClr val="C0504D">
                    <a:lumMod val="75000"/>
                  </a:srgbClr>
                </a:solidFill>
                <a:latin typeface="Calibri"/>
              </a:rPr>
              <a:t>behaves like band-pass filter</a:t>
            </a:r>
          </a:p>
        </p:txBody>
      </p:sp>
      <p:cxnSp>
        <p:nvCxnSpPr>
          <p:cNvPr id="54" name="Straight Arrow Connector 53">
            <a:extLst>
              <a:ext uri="{FF2B5EF4-FFF2-40B4-BE49-F238E27FC236}">
                <a16:creationId xmlns:a16="http://schemas.microsoft.com/office/drawing/2014/main" id="{F3E6FB36-2AA9-4B23-A977-D25D49857961}"/>
              </a:ext>
            </a:extLst>
          </p:cNvPr>
          <p:cNvCxnSpPr>
            <a:cxnSpLocks/>
            <a:stCxn id="59" idx="2"/>
            <a:endCxn id="58" idx="0"/>
          </p:cNvCxnSpPr>
          <p:nvPr/>
        </p:nvCxnSpPr>
        <p:spPr>
          <a:xfrm flipH="1">
            <a:off x="9251956" y="1944306"/>
            <a:ext cx="812503" cy="987146"/>
          </a:xfrm>
          <a:prstGeom prst="straightConnector1">
            <a:avLst/>
          </a:prstGeom>
          <a:noFill/>
          <a:ln w="25400" cap="flat" cmpd="sng" algn="ctr">
            <a:solidFill>
              <a:sysClr val="windowText" lastClr="000000">
                <a:alpha val="80000"/>
              </a:sysClr>
            </a:solidFill>
            <a:prstDash val="solid"/>
            <a:tailEnd type="arrow"/>
          </a:ln>
          <a:effectLst/>
        </p:spPr>
      </p:cxnSp>
      <p:sp>
        <p:nvSpPr>
          <p:cNvPr id="55" name="TextBox 54">
            <a:extLst>
              <a:ext uri="{FF2B5EF4-FFF2-40B4-BE49-F238E27FC236}">
                <a16:creationId xmlns:a16="http://schemas.microsoft.com/office/drawing/2014/main" id="{5F36DC02-FD11-49BF-9D67-CE911B437E3D}"/>
              </a:ext>
            </a:extLst>
          </p:cNvPr>
          <p:cNvSpPr txBox="1"/>
          <p:nvPr/>
        </p:nvSpPr>
        <p:spPr>
          <a:xfrm>
            <a:off x="8381708" y="2131228"/>
            <a:ext cx="1303338" cy="369332"/>
          </a:xfrm>
          <a:prstGeom prst="rect">
            <a:avLst/>
          </a:prstGeom>
          <a:noFill/>
        </p:spPr>
        <p:txBody>
          <a:bodyPr wrap="square" rtlCol="0">
            <a:spAutoFit/>
          </a:bodyPr>
          <a:lstStyle/>
          <a:p>
            <a:pPr defTabSz="457200" eaLnBrk="0" fontAlgn="base" hangingPunct="0">
              <a:spcBef>
                <a:spcPct val="0"/>
              </a:spcBef>
              <a:spcAft>
                <a:spcPct val="0"/>
              </a:spcAft>
            </a:pPr>
            <a:r>
              <a:rPr lang="en-US" dirty="0">
                <a:solidFill>
                  <a:prstClr val="black"/>
                </a:solidFill>
                <a:latin typeface="Calibri"/>
              </a:rPr>
              <a:t>combining</a:t>
            </a:r>
          </a:p>
        </p:txBody>
      </p:sp>
      <p:cxnSp>
        <p:nvCxnSpPr>
          <p:cNvPr id="56" name="Straight Arrow Connector 55">
            <a:extLst>
              <a:ext uri="{FF2B5EF4-FFF2-40B4-BE49-F238E27FC236}">
                <a16:creationId xmlns:a16="http://schemas.microsoft.com/office/drawing/2014/main" id="{26C597DD-81FE-441C-B046-E16E7D44A31D}"/>
              </a:ext>
            </a:extLst>
          </p:cNvPr>
          <p:cNvCxnSpPr>
            <a:cxnSpLocks/>
            <a:stCxn id="51" idx="0"/>
            <a:endCxn id="58" idx="2"/>
          </p:cNvCxnSpPr>
          <p:nvPr/>
        </p:nvCxnSpPr>
        <p:spPr>
          <a:xfrm flipV="1">
            <a:off x="9251955" y="3305413"/>
            <a:ext cx="1" cy="938581"/>
          </a:xfrm>
          <a:prstGeom prst="straightConnector1">
            <a:avLst/>
          </a:prstGeom>
          <a:noFill/>
          <a:ln w="25400" cap="flat" cmpd="sng" algn="ctr">
            <a:solidFill>
              <a:sysClr val="windowText" lastClr="000000">
                <a:alpha val="80000"/>
              </a:sysClr>
            </a:solidFill>
            <a:prstDash val="solid"/>
            <a:tailEnd type="arrow"/>
          </a:ln>
          <a:effectLst/>
        </p:spPr>
      </p:cxnSp>
      <p:sp>
        <p:nvSpPr>
          <p:cNvPr id="57" name="TextBox 56">
            <a:extLst>
              <a:ext uri="{FF2B5EF4-FFF2-40B4-BE49-F238E27FC236}">
                <a16:creationId xmlns:a16="http://schemas.microsoft.com/office/drawing/2014/main" id="{BC3A7841-4320-4CAF-A61D-FA05BA2F9E6D}"/>
              </a:ext>
            </a:extLst>
          </p:cNvPr>
          <p:cNvSpPr txBox="1"/>
          <p:nvPr/>
        </p:nvSpPr>
        <p:spPr>
          <a:xfrm>
            <a:off x="8131974" y="3546867"/>
            <a:ext cx="1303338" cy="646331"/>
          </a:xfrm>
          <a:prstGeom prst="rect">
            <a:avLst/>
          </a:prstGeom>
          <a:noFill/>
        </p:spPr>
        <p:txBody>
          <a:bodyPr wrap="square" rtlCol="0">
            <a:spAutoFit/>
          </a:bodyPr>
          <a:lstStyle/>
          <a:p>
            <a:pPr defTabSz="457200" eaLnBrk="0" fontAlgn="base" hangingPunct="0">
              <a:spcBef>
                <a:spcPct val="0"/>
              </a:spcBef>
              <a:spcAft>
                <a:spcPct val="0"/>
              </a:spcAft>
            </a:pPr>
            <a:r>
              <a:rPr lang="en-US" dirty="0">
                <a:solidFill>
                  <a:prstClr val="black"/>
                </a:solidFill>
                <a:latin typeface="Calibri"/>
              </a:rPr>
              <a:t>No longer required</a:t>
            </a:r>
          </a:p>
        </p:txBody>
      </p:sp>
      <p:sp>
        <p:nvSpPr>
          <p:cNvPr id="58" name="Rectangle 57">
            <a:extLst>
              <a:ext uri="{FF2B5EF4-FFF2-40B4-BE49-F238E27FC236}">
                <a16:creationId xmlns:a16="http://schemas.microsoft.com/office/drawing/2014/main" id="{B0C675CB-FDB7-4BF6-A107-29E518CC598A}"/>
              </a:ext>
            </a:extLst>
          </p:cNvPr>
          <p:cNvSpPr/>
          <p:nvPr/>
        </p:nvSpPr>
        <p:spPr>
          <a:xfrm>
            <a:off x="6963574" y="2931452"/>
            <a:ext cx="4576763" cy="373961"/>
          </a:xfrm>
          <a:prstGeom prst="rect">
            <a:avLst/>
          </a:prstGeom>
          <a:solidFill>
            <a:srgbClr val="F79646">
              <a:lumMod val="40000"/>
              <a:lumOff val="60000"/>
              <a:alpha val="20000"/>
            </a:srgbClr>
          </a:solidFill>
          <a:ln w="25400" cap="flat" cmpd="sng" algn="ctr">
            <a:noFill/>
            <a:prstDash val="solid"/>
          </a:ln>
          <a:effectLst/>
        </p:spPr>
        <p:txBody>
          <a:bodyPr rtlCol="0" anchor="ctr"/>
          <a:lstStyle/>
          <a:p>
            <a:pPr marL="0" marR="0" lvl="0" indent="0" algn="ctr" defTabSz="4572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59" name="Rectangle 58">
            <a:extLst>
              <a:ext uri="{FF2B5EF4-FFF2-40B4-BE49-F238E27FC236}">
                <a16:creationId xmlns:a16="http://schemas.microsoft.com/office/drawing/2014/main" id="{F41115B4-0BC8-4BB4-ADFA-14F6F079731B}"/>
              </a:ext>
            </a:extLst>
          </p:cNvPr>
          <p:cNvSpPr/>
          <p:nvPr/>
        </p:nvSpPr>
        <p:spPr>
          <a:xfrm>
            <a:off x="9845880" y="1570345"/>
            <a:ext cx="437158" cy="373961"/>
          </a:xfrm>
          <a:prstGeom prst="rect">
            <a:avLst/>
          </a:prstGeom>
          <a:solidFill>
            <a:srgbClr val="F79646">
              <a:lumMod val="40000"/>
              <a:lumOff val="60000"/>
              <a:alpha val="20000"/>
            </a:srgbClr>
          </a:solidFill>
          <a:ln w="25400" cap="flat" cmpd="sng" algn="ctr">
            <a:noFill/>
            <a:prstDash val="solid"/>
          </a:ln>
          <a:effectLst/>
        </p:spPr>
        <p:txBody>
          <a:bodyPr rtlCol="0" anchor="ctr"/>
          <a:lstStyle/>
          <a:p>
            <a:pPr marL="0" marR="0" lvl="0" indent="0" algn="ctr" defTabSz="4572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pic>
        <p:nvPicPr>
          <p:cNvPr id="60" name="Picture 59">
            <a:extLst>
              <a:ext uri="{FF2B5EF4-FFF2-40B4-BE49-F238E27FC236}">
                <a16:creationId xmlns:a16="http://schemas.microsoft.com/office/drawing/2014/main" id="{607823FF-BFCD-40B0-8747-0635EF80238E}"/>
              </a:ext>
            </a:extLst>
          </p:cNvPr>
          <p:cNvPicPr>
            <a:picLocks noChangeAspect="1"/>
          </p:cNvPicPr>
          <p:nvPr/>
        </p:nvPicPr>
        <p:blipFill>
          <a:blip r:embed="rId4"/>
          <a:stretch>
            <a:fillRect/>
          </a:stretch>
        </p:blipFill>
        <p:spPr>
          <a:xfrm>
            <a:off x="7623698" y="4628179"/>
            <a:ext cx="3406924" cy="1719685"/>
          </a:xfrm>
          <a:prstGeom prst="rect">
            <a:avLst/>
          </a:prstGeom>
        </p:spPr>
      </p:pic>
      <p:sp>
        <p:nvSpPr>
          <p:cNvPr id="61" name="Rectangle 60"/>
          <p:cNvSpPr/>
          <p:nvPr/>
        </p:nvSpPr>
        <p:spPr>
          <a:xfrm>
            <a:off x="5556402" y="1918767"/>
            <a:ext cx="998220" cy="6781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62" name="TextBox 61"/>
          <p:cNvSpPr txBox="1"/>
          <p:nvPr/>
        </p:nvSpPr>
        <p:spPr>
          <a:xfrm>
            <a:off x="5495442" y="1918767"/>
            <a:ext cx="1226820" cy="646331"/>
          </a:xfrm>
          <a:prstGeom prst="rect">
            <a:avLst/>
          </a:prstGeom>
          <a:noFill/>
        </p:spPr>
        <p:txBody>
          <a:bodyPr wrap="square" rtlCol="0">
            <a:spAutoFit/>
          </a:bodyPr>
          <a:lstStyle/>
          <a:p>
            <a:pPr algn="ctr"/>
            <a:r>
              <a:rPr lang="en-US" dirty="0" smtClean="0">
                <a:solidFill>
                  <a:schemeClr val="accent6">
                    <a:lumMod val="50000"/>
                  </a:schemeClr>
                </a:solidFill>
              </a:rPr>
              <a:t>Field Winding</a:t>
            </a:r>
            <a:endParaRPr lang="sv-SE" dirty="0">
              <a:solidFill>
                <a:schemeClr val="accent6">
                  <a:lumMod val="50000"/>
                </a:schemeClr>
              </a:solidFill>
            </a:endParaRPr>
          </a:p>
        </p:txBody>
      </p:sp>
    </p:spTree>
    <p:extLst>
      <p:ext uri="{BB962C8B-B14F-4D97-AF65-F5344CB8AC3E}">
        <p14:creationId xmlns:p14="http://schemas.microsoft.com/office/powerpoint/2010/main" val="8334643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03935" y="252693"/>
            <a:ext cx="10990263" cy="568412"/>
          </a:xfrm>
        </p:spPr>
        <p:txBody>
          <a:bodyPr/>
          <a:lstStyle/>
          <a:p>
            <a:r>
              <a:rPr lang="en-US" dirty="0" smtClean="0"/>
              <a:t>Possible Structures</a:t>
            </a:r>
            <a:endParaRPr lang="sv-SE" dirty="0"/>
          </a:p>
        </p:txBody>
      </p:sp>
      <p:pic>
        <p:nvPicPr>
          <p:cNvPr id="9" name="Picture 8">
            <a:extLst>
              <a:ext uri="{FF2B5EF4-FFF2-40B4-BE49-F238E27FC236}">
                <a16:creationId xmlns:a16="http://schemas.microsoft.com/office/drawing/2014/main" id="{33A8F5A9-EDA7-40CC-A30F-394EB7FB8B29}"/>
              </a:ext>
            </a:extLst>
          </p:cNvPr>
          <p:cNvPicPr>
            <a:picLocks noChangeAspect="1"/>
          </p:cNvPicPr>
          <p:nvPr/>
        </p:nvPicPr>
        <p:blipFill>
          <a:blip r:embed="rId2"/>
          <a:stretch>
            <a:fillRect/>
          </a:stretch>
        </p:blipFill>
        <p:spPr>
          <a:xfrm>
            <a:off x="7801590" y="1226308"/>
            <a:ext cx="3780810" cy="4976780"/>
          </a:xfrm>
          <a:prstGeom prst="rect">
            <a:avLst/>
          </a:prstGeom>
        </p:spPr>
      </p:pic>
      <p:sp>
        <p:nvSpPr>
          <p:cNvPr id="10" name="Content Placeholder 1">
            <a:extLst>
              <a:ext uri="{FF2B5EF4-FFF2-40B4-BE49-F238E27FC236}">
                <a16:creationId xmlns:a16="http://schemas.microsoft.com/office/drawing/2014/main" id="{29EAE124-626A-491E-A20D-1FB0D35DF4E3}"/>
              </a:ext>
            </a:extLst>
          </p:cNvPr>
          <p:cNvSpPr txBox="1">
            <a:spLocks/>
          </p:cNvSpPr>
          <p:nvPr/>
        </p:nvSpPr>
        <p:spPr>
          <a:xfrm>
            <a:off x="609600" y="3714698"/>
            <a:ext cx="7274237" cy="2532971"/>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anose="020B0604020202020204" pitchFamily="34" charset="0"/>
              <a:buChar char="•"/>
              <a:defRPr sz="2800" b="0" kern="1200">
                <a:solidFill>
                  <a:schemeClr val="tx1"/>
                </a:solidFill>
                <a:latin typeface="Calibri (Headings)"/>
                <a:ea typeface="+mn-ea"/>
                <a:cs typeface="+mn-cs"/>
              </a:defRPr>
            </a:lvl1pPr>
            <a:lvl2pPr marL="742950" indent="-285750" algn="l" defTabSz="914400" rtl="0" eaLnBrk="1" latinLnBrk="0" hangingPunct="1">
              <a:spcBef>
                <a:spcPct val="20000"/>
              </a:spcBef>
              <a:buFont typeface="Arial" panose="020B0604020202020204" pitchFamily="34" charset="0"/>
              <a:buChar char="–"/>
              <a:defRPr sz="2400" b="0" kern="1200">
                <a:solidFill>
                  <a:schemeClr val="tx1"/>
                </a:solidFill>
                <a:latin typeface="Calibri (Headings)"/>
                <a:ea typeface="+mn-ea"/>
                <a:cs typeface="+mn-cs"/>
              </a:defRPr>
            </a:lvl2pPr>
            <a:lvl3pPr marL="1143000" indent="-228600" algn="l" defTabSz="914400" rtl="0" eaLnBrk="1" latinLnBrk="0" hangingPunct="1">
              <a:spcBef>
                <a:spcPct val="20000"/>
              </a:spcBef>
              <a:buFont typeface="Arial" panose="020B0604020202020204" pitchFamily="34" charset="0"/>
              <a:buChar char="•"/>
              <a:defRPr sz="2000" b="0" kern="1200">
                <a:solidFill>
                  <a:schemeClr val="tx1"/>
                </a:solidFill>
                <a:latin typeface="Calibri (Headings)"/>
                <a:ea typeface="+mn-ea"/>
                <a:cs typeface="+mn-cs"/>
              </a:defRPr>
            </a:lvl3pPr>
            <a:lvl4pPr marL="1600200" indent="-228600" algn="l" defTabSz="914400" rtl="0" eaLnBrk="1" latinLnBrk="0" hangingPunct="1">
              <a:spcBef>
                <a:spcPct val="20000"/>
              </a:spcBef>
              <a:buFont typeface="Arial" panose="020B0604020202020204" pitchFamily="34" charset="0"/>
              <a:buChar char="–"/>
              <a:defRPr sz="1800" b="0" kern="1200">
                <a:solidFill>
                  <a:schemeClr val="tx1"/>
                </a:solidFill>
                <a:latin typeface="Calibri (Headings)"/>
                <a:ea typeface="+mn-ea"/>
                <a:cs typeface="+mn-cs"/>
              </a:defRPr>
            </a:lvl4pPr>
            <a:lvl5pPr marL="2057400" indent="-228600" algn="l" defTabSz="914400" rtl="0" eaLnBrk="1" latinLnBrk="0" hangingPunct="1">
              <a:spcBef>
                <a:spcPct val="20000"/>
              </a:spcBef>
              <a:buFont typeface="Arial" panose="020B0604020202020204" pitchFamily="34" charset="0"/>
              <a:buChar char="»"/>
              <a:defRPr sz="1800" b="0" kern="1200">
                <a:solidFill>
                  <a:schemeClr val="tx1"/>
                </a:solidFill>
                <a:latin typeface="Calibri (Headings)"/>
                <a:ea typeface="+mn-ea"/>
                <a:cs typeface="+mn-cs"/>
              </a:defRPr>
            </a:lvl5pPr>
            <a:lvl6pPr marL="25146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500" dirty="0">
                <a:solidFill>
                  <a:srgbClr val="C00000"/>
                </a:solidFill>
                <a:latin typeface="Times New Roman" panose="02020603050405020304" pitchFamily="18" charset="0"/>
                <a:cs typeface="Times New Roman" panose="02020603050405020304" pitchFamily="18" charset="0"/>
              </a:rPr>
              <a:t>Motivations:</a:t>
            </a:r>
          </a:p>
          <a:p>
            <a:pPr marL="514350" indent="-514350">
              <a:buFont typeface="+mj-lt"/>
              <a:buAutoNum type="arabicPeriod"/>
            </a:pPr>
            <a:r>
              <a:rPr lang="en-US" sz="2500" dirty="0">
                <a:solidFill>
                  <a:prstClr val="black"/>
                </a:solidFill>
                <a:latin typeface="Times New Roman" panose="02020603050405020304" pitchFamily="18" charset="0"/>
                <a:cs typeface="Times New Roman" panose="02020603050405020304" pitchFamily="18" charset="0"/>
              </a:rPr>
              <a:t>To increase DC-link utilization rate</a:t>
            </a:r>
          </a:p>
          <a:p>
            <a:pPr marL="514350" indent="-514350">
              <a:buFont typeface="+mj-lt"/>
              <a:buAutoNum type="arabicPeriod"/>
            </a:pPr>
            <a:r>
              <a:rPr lang="en-US" dirty="0">
                <a:solidFill>
                  <a:prstClr val="black"/>
                </a:solidFill>
                <a:latin typeface="Times New Roman" panose="02020603050405020304" pitchFamily="18" charset="0"/>
                <a:cs typeface="Times New Roman" panose="02020603050405020304" pitchFamily="18" charset="0"/>
              </a:rPr>
              <a:t>To increase power</a:t>
            </a:r>
          </a:p>
          <a:p>
            <a:pPr marL="514350" indent="-514350">
              <a:buFont typeface="+mj-lt"/>
              <a:buAutoNum type="arabicPeriod"/>
            </a:pPr>
            <a:r>
              <a:rPr lang="en-US" dirty="0">
                <a:solidFill>
                  <a:srgbClr val="7030A0"/>
                </a:solidFill>
                <a:latin typeface="Times New Roman" panose="02020603050405020304" pitchFamily="18" charset="0"/>
                <a:cs typeface="Times New Roman" panose="02020603050405020304" pitchFamily="18" charset="0"/>
              </a:rPr>
              <a:t>To break the restrictions</a:t>
            </a:r>
          </a:p>
          <a:p>
            <a:pPr marL="514350" indent="-514350">
              <a:buFont typeface="+mj-lt"/>
              <a:buAutoNum type="arabicPeriod"/>
            </a:pPr>
            <a:endParaRPr lang="en-US" dirty="0">
              <a:solidFill>
                <a:prstClr val="black"/>
              </a:solidFill>
              <a:latin typeface="Times New Roman" panose="02020603050405020304" pitchFamily="18" charset="0"/>
              <a:cs typeface="Times New Roman" panose="02020603050405020304" pitchFamily="18" charset="0"/>
            </a:endParaRPr>
          </a:p>
          <a:p>
            <a:pPr marL="514350" indent="-514350">
              <a:buFont typeface="+mj-lt"/>
              <a:buAutoNum type="arabicPeriod"/>
            </a:pPr>
            <a:endParaRPr lang="en-US" dirty="0">
              <a:solidFill>
                <a:prstClr val="black"/>
              </a:solidFill>
              <a:latin typeface="Times New Roman" panose="02020603050405020304" pitchFamily="18" charset="0"/>
              <a:cs typeface="Times New Roman" panose="02020603050405020304" pitchFamily="18" charset="0"/>
            </a:endParaRPr>
          </a:p>
          <a:p>
            <a:endParaRPr lang="en-US" dirty="0">
              <a:solidFill>
                <a:prstClr val="black"/>
              </a:solidFill>
              <a:latin typeface="Times New Roman" panose="02020603050405020304" pitchFamily="18" charset="0"/>
              <a:cs typeface="Times New Roman" panose="02020603050405020304" pitchFamily="18" charset="0"/>
            </a:endParaRPr>
          </a:p>
        </p:txBody>
      </p:sp>
      <p:sp>
        <p:nvSpPr>
          <p:cNvPr id="11" name="Content Placeholder 1">
            <a:extLst>
              <a:ext uri="{FF2B5EF4-FFF2-40B4-BE49-F238E27FC236}">
                <a16:creationId xmlns:a16="http://schemas.microsoft.com/office/drawing/2014/main" id="{77D0300C-F79E-409F-B955-E1A95D448D67}"/>
              </a:ext>
            </a:extLst>
          </p:cNvPr>
          <p:cNvSpPr txBox="1">
            <a:spLocks/>
          </p:cNvSpPr>
          <p:nvPr/>
        </p:nvSpPr>
        <p:spPr>
          <a:xfrm>
            <a:off x="609600" y="1385863"/>
            <a:ext cx="7274237" cy="81040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anose="020B0604020202020204" pitchFamily="34" charset="0"/>
              <a:buChar char="•"/>
              <a:defRPr sz="2800" b="0" kern="1200">
                <a:solidFill>
                  <a:schemeClr val="tx1"/>
                </a:solidFill>
                <a:latin typeface="Calibri (Headings)"/>
                <a:ea typeface="+mn-ea"/>
                <a:cs typeface="+mn-cs"/>
              </a:defRPr>
            </a:lvl1pPr>
            <a:lvl2pPr marL="742950" indent="-285750" algn="l" defTabSz="914400" rtl="0" eaLnBrk="1" latinLnBrk="0" hangingPunct="1">
              <a:spcBef>
                <a:spcPct val="20000"/>
              </a:spcBef>
              <a:buFont typeface="Arial" panose="020B0604020202020204" pitchFamily="34" charset="0"/>
              <a:buChar char="–"/>
              <a:defRPr sz="2400" b="0" kern="1200">
                <a:solidFill>
                  <a:schemeClr val="tx1"/>
                </a:solidFill>
                <a:latin typeface="Calibri (Headings)"/>
                <a:ea typeface="+mn-ea"/>
                <a:cs typeface="+mn-cs"/>
              </a:defRPr>
            </a:lvl2pPr>
            <a:lvl3pPr marL="1143000" indent="-228600" algn="l" defTabSz="914400" rtl="0" eaLnBrk="1" latinLnBrk="0" hangingPunct="1">
              <a:spcBef>
                <a:spcPct val="20000"/>
              </a:spcBef>
              <a:buFont typeface="Arial" panose="020B0604020202020204" pitchFamily="34" charset="0"/>
              <a:buChar char="•"/>
              <a:defRPr sz="2000" b="0" kern="1200">
                <a:solidFill>
                  <a:schemeClr val="tx1"/>
                </a:solidFill>
                <a:latin typeface="Calibri (Headings)"/>
                <a:ea typeface="+mn-ea"/>
                <a:cs typeface="+mn-cs"/>
              </a:defRPr>
            </a:lvl3pPr>
            <a:lvl4pPr marL="1600200" indent="-228600" algn="l" defTabSz="914400" rtl="0" eaLnBrk="1" latinLnBrk="0" hangingPunct="1">
              <a:spcBef>
                <a:spcPct val="20000"/>
              </a:spcBef>
              <a:buFont typeface="Arial" panose="020B0604020202020204" pitchFamily="34" charset="0"/>
              <a:buChar char="–"/>
              <a:defRPr sz="1800" b="0" kern="1200">
                <a:solidFill>
                  <a:schemeClr val="tx1"/>
                </a:solidFill>
                <a:latin typeface="Calibri (Headings)"/>
                <a:ea typeface="+mn-ea"/>
                <a:cs typeface="+mn-cs"/>
              </a:defRPr>
            </a:lvl4pPr>
            <a:lvl5pPr marL="2057400" indent="-228600" algn="l" defTabSz="914400" rtl="0" eaLnBrk="1" latinLnBrk="0" hangingPunct="1">
              <a:spcBef>
                <a:spcPct val="20000"/>
              </a:spcBef>
              <a:buFont typeface="Arial" panose="020B0604020202020204" pitchFamily="34" charset="0"/>
              <a:buChar char="»"/>
              <a:defRPr sz="1800" b="0" kern="1200">
                <a:solidFill>
                  <a:schemeClr val="tx1"/>
                </a:solidFill>
                <a:latin typeface="Calibri (Headings)"/>
                <a:ea typeface="+mn-ea"/>
                <a:cs typeface="+mn-cs"/>
              </a:defRPr>
            </a:lvl5pPr>
            <a:lvl6pPr marL="25146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9pPr>
          </a:lstStyle>
          <a:p>
            <a:r>
              <a:rPr lang="en-US" sz="2000" dirty="0">
                <a:solidFill>
                  <a:prstClr val="black"/>
                </a:solidFill>
                <a:latin typeface="Times New Roman" panose="02020603050405020304" pitchFamily="18" charset="0"/>
                <a:cs typeface="Times New Roman" panose="02020603050405020304" pitchFamily="18" charset="0"/>
              </a:rPr>
              <a:t>Motor drives have more than 2 wires</a:t>
            </a:r>
          </a:p>
          <a:p>
            <a:r>
              <a:rPr lang="en-US" sz="2000" dirty="0">
                <a:solidFill>
                  <a:prstClr val="black"/>
                </a:solidFill>
                <a:latin typeface="Times New Roman" panose="02020603050405020304" pitchFamily="18" charset="0"/>
                <a:cs typeface="Times New Roman" panose="02020603050405020304" pitchFamily="18" charset="0"/>
              </a:rPr>
              <a:t>Conventional WPT systems have 2 wires input</a:t>
            </a:r>
            <a:endParaRPr lang="en-US" dirty="0">
              <a:solidFill>
                <a:prstClr val="black"/>
              </a:solidFill>
              <a:latin typeface="Times New Roman" panose="02020603050405020304" pitchFamily="18" charset="0"/>
              <a:cs typeface="Times New Roman" panose="02020603050405020304" pitchFamily="18" charset="0"/>
            </a:endParaRPr>
          </a:p>
        </p:txBody>
      </p:sp>
      <p:cxnSp>
        <p:nvCxnSpPr>
          <p:cNvPr id="12" name="Straight Arrow Connector 11">
            <a:extLst>
              <a:ext uri="{FF2B5EF4-FFF2-40B4-BE49-F238E27FC236}">
                <a16:creationId xmlns:a16="http://schemas.microsoft.com/office/drawing/2014/main" id="{4813291C-74F9-49DE-B027-94C59D939EE1}"/>
              </a:ext>
            </a:extLst>
          </p:cNvPr>
          <p:cNvCxnSpPr>
            <a:cxnSpLocks/>
            <a:stCxn id="11" idx="2"/>
          </p:cNvCxnSpPr>
          <p:nvPr/>
        </p:nvCxnSpPr>
        <p:spPr>
          <a:xfrm>
            <a:off x="4246719" y="2196269"/>
            <a:ext cx="0" cy="256374"/>
          </a:xfrm>
          <a:prstGeom prst="straightConnector1">
            <a:avLst/>
          </a:prstGeom>
          <a:noFill/>
          <a:ln w="9525" cap="flat" cmpd="sng" algn="ctr">
            <a:solidFill>
              <a:srgbClr val="4F81BD">
                <a:shade val="95000"/>
                <a:satMod val="105000"/>
              </a:srgbClr>
            </a:solidFill>
            <a:prstDash val="solid"/>
            <a:tailEnd type="triangle"/>
          </a:ln>
          <a:effectLst/>
        </p:spPr>
      </p:cxnSp>
      <p:sp>
        <p:nvSpPr>
          <p:cNvPr id="13" name="Content Placeholder 1">
            <a:extLst>
              <a:ext uri="{FF2B5EF4-FFF2-40B4-BE49-F238E27FC236}">
                <a16:creationId xmlns:a16="http://schemas.microsoft.com/office/drawing/2014/main" id="{334EC81B-6101-4836-BC29-8ED303D3FA7E}"/>
              </a:ext>
            </a:extLst>
          </p:cNvPr>
          <p:cNvSpPr txBox="1">
            <a:spLocks/>
          </p:cNvSpPr>
          <p:nvPr/>
        </p:nvSpPr>
        <p:spPr>
          <a:xfrm>
            <a:off x="609600" y="2530864"/>
            <a:ext cx="7274237" cy="81040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anose="020B0604020202020204" pitchFamily="34" charset="0"/>
              <a:buChar char="•"/>
              <a:defRPr sz="2800" b="0" kern="1200">
                <a:solidFill>
                  <a:schemeClr val="tx1"/>
                </a:solidFill>
                <a:latin typeface="Calibri (Headings)"/>
                <a:ea typeface="+mn-ea"/>
                <a:cs typeface="+mn-cs"/>
              </a:defRPr>
            </a:lvl1pPr>
            <a:lvl2pPr marL="742950" indent="-285750" algn="l" defTabSz="914400" rtl="0" eaLnBrk="1" latinLnBrk="0" hangingPunct="1">
              <a:spcBef>
                <a:spcPct val="20000"/>
              </a:spcBef>
              <a:buFont typeface="Arial" panose="020B0604020202020204" pitchFamily="34" charset="0"/>
              <a:buChar char="–"/>
              <a:defRPr sz="2400" b="0" kern="1200">
                <a:solidFill>
                  <a:schemeClr val="tx1"/>
                </a:solidFill>
                <a:latin typeface="Calibri (Headings)"/>
                <a:ea typeface="+mn-ea"/>
                <a:cs typeface="+mn-cs"/>
              </a:defRPr>
            </a:lvl2pPr>
            <a:lvl3pPr marL="1143000" indent="-228600" algn="l" defTabSz="914400" rtl="0" eaLnBrk="1" latinLnBrk="0" hangingPunct="1">
              <a:spcBef>
                <a:spcPct val="20000"/>
              </a:spcBef>
              <a:buFont typeface="Arial" panose="020B0604020202020204" pitchFamily="34" charset="0"/>
              <a:buChar char="•"/>
              <a:defRPr sz="2000" b="0" kern="1200">
                <a:solidFill>
                  <a:schemeClr val="tx1"/>
                </a:solidFill>
                <a:latin typeface="Calibri (Headings)"/>
                <a:ea typeface="+mn-ea"/>
                <a:cs typeface="+mn-cs"/>
              </a:defRPr>
            </a:lvl3pPr>
            <a:lvl4pPr marL="1600200" indent="-228600" algn="l" defTabSz="914400" rtl="0" eaLnBrk="1" latinLnBrk="0" hangingPunct="1">
              <a:spcBef>
                <a:spcPct val="20000"/>
              </a:spcBef>
              <a:buFont typeface="Arial" panose="020B0604020202020204" pitchFamily="34" charset="0"/>
              <a:buChar char="–"/>
              <a:defRPr sz="1800" b="0" kern="1200">
                <a:solidFill>
                  <a:schemeClr val="tx1"/>
                </a:solidFill>
                <a:latin typeface="Calibri (Headings)"/>
                <a:ea typeface="+mn-ea"/>
                <a:cs typeface="+mn-cs"/>
              </a:defRPr>
            </a:lvl4pPr>
            <a:lvl5pPr marL="2057400" indent="-228600" algn="l" defTabSz="914400" rtl="0" eaLnBrk="1" latinLnBrk="0" hangingPunct="1">
              <a:spcBef>
                <a:spcPct val="20000"/>
              </a:spcBef>
              <a:buFont typeface="Arial" panose="020B0604020202020204" pitchFamily="34" charset="0"/>
              <a:buChar char="»"/>
              <a:defRPr sz="1800" b="0" kern="1200">
                <a:solidFill>
                  <a:schemeClr val="tx1"/>
                </a:solidFill>
                <a:latin typeface="Calibri (Headings)"/>
                <a:ea typeface="+mn-ea"/>
                <a:cs typeface="+mn-cs"/>
              </a:defRPr>
            </a:lvl5pPr>
            <a:lvl6pPr marL="25146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9pPr>
          </a:lstStyle>
          <a:p>
            <a:r>
              <a:rPr lang="en-US" sz="2000" dirty="0">
                <a:solidFill>
                  <a:prstClr val="black"/>
                </a:solidFill>
                <a:latin typeface="Times New Roman" panose="02020603050405020304" pitchFamily="18" charset="0"/>
                <a:cs typeface="Times New Roman" panose="02020603050405020304" pitchFamily="18" charset="0"/>
              </a:rPr>
              <a:t>Multi-phase WPT systems</a:t>
            </a:r>
          </a:p>
          <a:p>
            <a:pPr marL="514350" indent="-514350">
              <a:buFont typeface="+mj-lt"/>
              <a:buAutoNum type="arabicPeriod"/>
            </a:pPr>
            <a:endParaRPr lang="en-US" dirty="0">
              <a:solidFill>
                <a:prstClr val="black"/>
              </a:solidFill>
              <a:latin typeface="Times New Roman" panose="02020603050405020304" pitchFamily="18" charset="0"/>
              <a:cs typeface="Times New Roman" panose="02020603050405020304" pitchFamily="18" charset="0"/>
            </a:endParaRPr>
          </a:p>
          <a:p>
            <a:endParaRPr lang="en-US" dirty="0">
              <a:solidFill>
                <a:prstClr val="black"/>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752352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Arrow Connector 10">
            <a:extLst>
              <a:ext uri="{FF2B5EF4-FFF2-40B4-BE49-F238E27FC236}">
                <a16:creationId xmlns:a16="http://schemas.microsoft.com/office/drawing/2014/main" id="{4813291C-74F9-49DE-B027-94C59D939EE1}"/>
              </a:ext>
            </a:extLst>
          </p:cNvPr>
          <p:cNvCxnSpPr>
            <a:cxnSpLocks/>
          </p:cNvCxnSpPr>
          <p:nvPr/>
        </p:nvCxnSpPr>
        <p:spPr>
          <a:xfrm>
            <a:off x="-1356526" y="1346892"/>
            <a:ext cx="0" cy="2563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02B7329E-FB36-430A-BBA7-A1F808947296}"/>
              </a:ext>
            </a:extLst>
          </p:cNvPr>
          <p:cNvPicPr>
            <a:picLocks noChangeAspect="1"/>
          </p:cNvPicPr>
          <p:nvPr/>
        </p:nvPicPr>
        <p:blipFill>
          <a:blip r:embed="rId3"/>
          <a:stretch>
            <a:fillRect/>
          </a:stretch>
        </p:blipFill>
        <p:spPr>
          <a:xfrm>
            <a:off x="813747" y="1014666"/>
            <a:ext cx="3301053" cy="2028842"/>
          </a:xfrm>
          <a:prstGeom prst="rect">
            <a:avLst/>
          </a:prstGeom>
        </p:spPr>
      </p:pic>
      <p:sp>
        <p:nvSpPr>
          <p:cNvPr id="10" name="Title 1"/>
          <p:cNvSpPr>
            <a:spLocks noGrp="1"/>
          </p:cNvSpPr>
          <p:nvPr>
            <p:ph type="title"/>
          </p:nvPr>
        </p:nvSpPr>
        <p:spPr>
          <a:xfrm>
            <a:off x="1003935" y="252693"/>
            <a:ext cx="10990263" cy="568412"/>
          </a:xfrm>
        </p:spPr>
        <p:txBody>
          <a:bodyPr/>
          <a:lstStyle/>
          <a:p>
            <a:r>
              <a:rPr lang="en-US" dirty="0" smtClean="0"/>
              <a:t>2-phase Utilization : Modulation </a:t>
            </a:r>
            <a:r>
              <a:rPr lang="en-US" dirty="0"/>
              <a:t>Constraint</a:t>
            </a:r>
            <a:r>
              <a:rPr lang="en-US" dirty="0" smtClean="0"/>
              <a:t> </a:t>
            </a:r>
            <a:endParaRPr lang="sv-SE" dirty="0"/>
          </a:p>
        </p:txBody>
      </p:sp>
      <p:pic>
        <p:nvPicPr>
          <p:cNvPr id="16" name="Picture 15">
            <a:extLst>
              <a:ext uri="{FF2B5EF4-FFF2-40B4-BE49-F238E27FC236}">
                <a16:creationId xmlns:a16="http://schemas.microsoft.com/office/drawing/2014/main" id="{DE4AF12D-72F3-4521-8301-7B46E1920C15}"/>
              </a:ext>
            </a:extLst>
          </p:cNvPr>
          <p:cNvPicPr>
            <a:picLocks noChangeAspect="1"/>
          </p:cNvPicPr>
          <p:nvPr/>
        </p:nvPicPr>
        <p:blipFill>
          <a:blip r:embed="rId4"/>
          <a:stretch>
            <a:fillRect/>
          </a:stretch>
        </p:blipFill>
        <p:spPr>
          <a:xfrm>
            <a:off x="813747" y="3237069"/>
            <a:ext cx="3246259" cy="2295524"/>
          </a:xfrm>
          <a:prstGeom prst="rect">
            <a:avLst/>
          </a:prstGeom>
        </p:spPr>
      </p:pic>
      <p:pic>
        <p:nvPicPr>
          <p:cNvPr id="17" name="Picture 16">
            <a:extLst>
              <a:ext uri="{FF2B5EF4-FFF2-40B4-BE49-F238E27FC236}">
                <a16:creationId xmlns:a16="http://schemas.microsoft.com/office/drawing/2014/main" id="{15636E54-224D-47D8-A2F1-F48C6668368D}"/>
              </a:ext>
            </a:extLst>
          </p:cNvPr>
          <p:cNvPicPr>
            <a:picLocks noChangeAspect="1"/>
          </p:cNvPicPr>
          <p:nvPr/>
        </p:nvPicPr>
        <p:blipFill>
          <a:blip r:embed="rId5"/>
          <a:stretch>
            <a:fillRect/>
          </a:stretch>
        </p:blipFill>
        <p:spPr>
          <a:xfrm>
            <a:off x="1116908" y="5669279"/>
            <a:ext cx="2997892" cy="970597"/>
          </a:xfrm>
          <a:prstGeom prst="rect">
            <a:avLst/>
          </a:prstGeom>
        </p:spPr>
      </p:pic>
      <p:pic>
        <p:nvPicPr>
          <p:cNvPr id="18" name="Picture 17">
            <a:extLst>
              <a:ext uri="{FF2B5EF4-FFF2-40B4-BE49-F238E27FC236}">
                <a16:creationId xmlns:a16="http://schemas.microsoft.com/office/drawing/2014/main" id="{927B87B7-10A0-426F-B1E3-12520DD890D9}"/>
              </a:ext>
            </a:extLst>
          </p:cNvPr>
          <p:cNvPicPr>
            <a:picLocks noChangeAspect="1"/>
          </p:cNvPicPr>
          <p:nvPr/>
        </p:nvPicPr>
        <p:blipFill>
          <a:blip r:embed="rId6"/>
          <a:stretch>
            <a:fillRect/>
          </a:stretch>
        </p:blipFill>
        <p:spPr>
          <a:xfrm>
            <a:off x="4839652" y="1475079"/>
            <a:ext cx="5572602" cy="2409506"/>
          </a:xfrm>
          <a:prstGeom prst="rect">
            <a:avLst/>
          </a:prstGeom>
        </p:spPr>
      </p:pic>
      <p:pic>
        <p:nvPicPr>
          <p:cNvPr id="19" name="Picture 18">
            <a:extLst>
              <a:ext uri="{FF2B5EF4-FFF2-40B4-BE49-F238E27FC236}">
                <a16:creationId xmlns:a16="http://schemas.microsoft.com/office/drawing/2014/main" id="{7B8A0275-BA2B-4C12-AD91-219F5DF6FBD9}"/>
              </a:ext>
            </a:extLst>
          </p:cNvPr>
          <p:cNvPicPr>
            <a:picLocks noChangeAspect="1"/>
          </p:cNvPicPr>
          <p:nvPr/>
        </p:nvPicPr>
        <p:blipFill>
          <a:blip r:embed="rId7"/>
          <a:stretch>
            <a:fillRect/>
          </a:stretch>
        </p:blipFill>
        <p:spPr>
          <a:xfrm>
            <a:off x="5875972" y="4022710"/>
            <a:ext cx="3956349" cy="2131867"/>
          </a:xfrm>
          <a:prstGeom prst="rect">
            <a:avLst/>
          </a:prstGeom>
        </p:spPr>
      </p:pic>
    </p:spTree>
    <p:extLst>
      <p:ext uri="{BB962C8B-B14F-4D97-AF65-F5344CB8AC3E}">
        <p14:creationId xmlns:p14="http://schemas.microsoft.com/office/powerpoint/2010/main" val="2472335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B91D3-D15D-4724-92A7-41BDC0C4FA6A}"/>
              </a:ext>
            </a:extLst>
          </p:cNvPr>
          <p:cNvSpPr>
            <a:spLocks noGrp="1"/>
          </p:cNvSpPr>
          <p:nvPr>
            <p:ph type="title"/>
          </p:nvPr>
        </p:nvSpPr>
        <p:spPr>
          <a:xfrm>
            <a:off x="1219200" y="152718"/>
            <a:ext cx="10972800" cy="1143000"/>
          </a:xfrm>
        </p:spPr>
        <p:txBody>
          <a:bodyPr>
            <a:normAutofit/>
          </a:bodyPr>
          <a:lstStyle/>
          <a:p>
            <a:r>
              <a:rPr lang="en-US" dirty="0" smtClean="0"/>
              <a:t>3-phase Utilization : External WPT Windings</a:t>
            </a:r>
            <a:endParaRPr lang="en-US" dirty="0"/>
          </a:p>
        </p:txBody>
      </p:sp>
      <p:pic>
        <p:nvPicPr>
          <p:cNvPr id="9" name="Picture 8">
            <a:extLst>
              <a:ext uri="{FF2B5EF4-FFF2-40B4-BE49-F238E27FC236}">
                <a16:creationId xmlns:a16="http://schemas.microsoft.com/office/drawing/2014/main" id="{33A8F5A9-EDA7-40CC-A30F-394EB7FB8B29}"/>
              </a:ext>
            </a:extLst>
          </p:cNvPr>
          <p:cNvPicPr>
            <a:picLocks noChangeAspect="1"/>
          </p:cNvPicPr>
          <p:nvPr/>
        </p:nvPicPr>
        <p:blipFill rotWithShape="1">
          <a:blip r:embed="rId2"/>
          <a:srcRect t="35226"/>
          <a:stretch/>
        </p:blipFill>
        <p:spPr>
          <a:xfrm>
            <a:off x="164718" y="1901818"/>
            <a:ext cx="3780810" cy="3223668"/>
          </a:xfrm>
          <a:prstGeom prst="rect">
            <a:avLst/>
          </a:prstGeom>
        </p:spPr>
      </p:pic>
      <p:pic>
        <p:nvPicPr>
          <p:cNvPr id="10" name="Picture 9">
            <a:extLst>
              <a:ext uri="{FF2B5EF4-FFF2-40B4-BE49-F238E27FC236}">
                <a16:creationId xmlns:a16="http://schemas.microsoft.com/office/drawing/2014/main" id="{D861EF1C-FC07-4F4D-AD05-ADD6BD8284BC}"/>
              </a:ext>
            </a:extLst>
          </p:cNvPr>
          <p:cNvPicPr/>
          <p:nvPr/>
        </p:nvPicPr>
        <p:blipFill>
          <a:blip r:embed="rId3"/>
          <a:stretch>
            <a:fillRect/>
          </a:stretch>
        </p:blipFill>
        <p:spPr>
          <a:xfrm>
            <a:off x="3924300" y="2397931"/>
            <a:ext cx="5731510" cy="1574165"/>
          </a:xfrm>
          <a:prstGeom prst="rect">
            <a:avLst/>
          </a:prstGeom>
        </p:spPr>
      </p:pic>
      <p:sp>
        <p:nvSpPr>
          <p:cNvPr id="11" name="Rectangle 10">
            <a:extLst>
              <a:ext uri="{FF2B5EF4-FFF2-40B4-BE49-F238E27FC236}">
                <a16:creationId xmlns:a16="http://schemas.microsoft.com/office/drawing/2014/main" id="{5A3108BC-EC60-41B7-9DE7-25CD3F59FA91}"/>
              </a:ext>
            </a:extLst>
          </p:cNvPr>
          <p:cNvSpPr/>
          <p:nvPr/>
        </p:nvSpPr>
        <p:spPr>
          <a:xfrm>
            <a:off x="6287561" y="2680989"/>
            <a:ext cx="2698124" cy="560231"/>
          </a:xfrm>
          <a:prstGeom prst="rect">
            <a:avLst/>
          </a:prstGeom>
          <a:noFill/>
          <a:ln w="19050">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latin typeface="Times New Roman" panose="02020603050405020304" pitchFamily="18" charset="0"/>
              <a:cs typeface="Times New Roman" panose="02020603050405020304" pitchFamily="18" charset="0"/>
            </a:endParaRPr>
          </a:p>
        </p:txBody>
      </p:sp>
      <p:sp>
        <p:nvSpPr>
          <p:cNvPr id="12" name="Rectangle 11">
            <a:extLst>
              <a:ext uri="{FF2B5EF4-FFF2-40B4-BE49-F238E27FC236}">
                <a16:creationId xmlns:a16="http://schemas.microsoft.com/office/drawing/2014/main" id="{A5454CE5-FC21-4362-8C38-524C0EFA2397}"/>
              </a:ext>
            </a:extLst>
          </p:cNvPr>
          <p:cNvSpPr/>
          <p:nvPr/>
        </p:nvSpPr>
        <p:spPr>
          <a:xfrm>
            <a:off x="4268373" y="3185013"/>
            <a:ext cx="4833221" cy="560231"/>
          </a:xfrm>
          <a:prstGeom prst="rect">
            <a:avLst/>
          </a:prstGeom>
          <a:noFill/>
          <a:ln w="19050">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latin typeface="Times New Roman" panose="02020603050405020304" pitchFamily="18" charset="0"/>
              <a:cs typeface="Times New Roman" panose="02020603050405020304" pitchFamily="18" charset="0"/>
            </a:endParaRPr>
          </a:p>
        </p:txBody>
      </p:sp>
      <p:sp>
        <p:nvSpPr>
          <p:cNvPr id="13" name="Rectangle 12">
            <a:extLst>
              <a:ext uri="{FF2B5EF4-FFF2-40B4-BE49-F238E27FC236}">
                <a16:creationId xmlns:a16="http://schemas.microsoft.com/office/drawing/2014/main" id="{8AA4BF69-5419-4F25-88D1-832DA3C6D472}"/>
              </a:ext>
            </a:extLst>
          </p:cNvPr>
          <p:cNvSpPr/>
          <p:nvPr/>
        </p:nvSpPr>
        <p:spPr>
          <a:xfrm>
            <a:off x="5192856" y="2680989"/>
            <a:ext cx="978795" cy="504024"/>
          </a:xfrm>
          <a:prstGeom prst="rect">
            <a:avLst/>
          </a:prstGeom>
          <a:noFill/>
          <a:ln w="19050">
            <a:solidFill>
              <a:srgbClr val="92D05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latin typeface="Times New Roman" panose="02020603050405020304" pitchFamily="18" charset="0"/>
              <a:cs typeface="Times New Roman" panose="02020603050405020304" pitchFamily="18" charset="0"/>
            </a:endParaRPr>
          </a:p>
        </p:txBody>
      </p:sp>
      <p:cxnSp>
        <p:nvCxnSpPr>
          <p:cNvPr id="14" name="Straight Arrow Connector 13">
            <a:extLst>
              <a:ext uri="{FF2B5EF4-FFF2-40B4-BE49-F238E27FC236}">
                <a16:creationId xmlns:a16="http://schemas.microsoft.com/office/drawing/2014/main" id="{41EC99C5-6233-4445-81E8-85D2247B25DD}"/>
              </a:ext>
            </a:extLst>
          </p:cNvPr>
          <p:cNvCxnSpPr>
            <a:cxnSpLocks/>
          </p:cNvCxnSpPr>
          <p:nvPr/>
        </p:nvCxnSpPr>
        <p:spPr>
          <a:xfrm flipV="1">
            <a:off x="5746648" y="2024167"/>
            <a:ext cx="0" cy="598869"/>
          </a:xfrm>
          <a:prstGeom prst="straightConnector1">
            <a:avLst/>
          </a:prstGeom>
          <a:ln>
            <a:solidFill>
              <a:srgbClr val="92D05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489FAB4-9E9B-4F98-8727-CD4EA1858346}"/>
              </a:ext>
            </a:extLst>
          </p:cNvPr>
          <p:cNvCxnSpPr/>
          <p:nvPr/>
        </p:nvCxnSpPr>
        <p:spPr>
          <a:xfrm flipV="1">
            <a:off x="7781510" y="1901818"/>
            <a:ext cx="0" cy="72121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BE7E0211-5B96-4CB1-B7D0-A19736BBF3BF}"/>
              </a:ext>
            </a:extLst>
          </p:cNvPr>
          <p:cNvCxnSpPr/>
          <p:nvPr/>
        </p:nvCxnSpPr>
        <p:spPr>
          <a:xfrm>
            <a:off x="6635291" y="3817550"/>
            <a:ext cx="0" cy="5698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C12D69BA-DCCB-4D4B-A3CC-56E4B778A8F0}"/>
              </a:ext>
            </a:extLst>
          </p:cNvPr>
          <p:cNvSpPr txBox="1"/>
          <p:nvPr/>
        </p:nvSpPr>
        <p:spPr>
          <a:xfrm>
            <a:off x="6171651" y="4393826"/>
            <a:ext cx="2215166" cy="276999"/>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Side Band harmonics</a:t>
            </a:r>
          </a:p>
        </p:txBody>
      </p:sp>
      <p:sp>
        <p:nvSpPr>
          <p:cNvPr id="18" name="TextBox 17">
            <a:extLst>
              <a:ext uri="{FF2B5EF4-FFF2-40B4-BE49-F238E27FC236}">
                <a16:creationId xmlns:a16="http://schemas.microsoft.com/office/drawing/2014/main" id="{D1CBEC4E-B32C-4B6C-BF5D-3ACAC6135FF0}"/>
              </a:ext>
            </a:extLst>
          </p:cNvPr>
          <p:cNvSpPr txBox="1"/>
          <p:nvPr/>
        </p:nvSpPr>
        <p:spPr>
          <a:xfrm>
            <a:off x="5395911" y="1526349"/>
            <a:ext cx="1239369" cy="461665"/>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Fundamental </a:t>
            </a:r>
          </a:p>
          <a:p>
            <a:r>
              <a:rPr lang="en-US" sz="1200" dirty="0">
                <a:latin typeface="Times New Roman" panose="02020603050405020304" pitchFamily="18" charset="0"/>
                <a:cs typeface="Times New Roman" panose="02020603050405020304" pitchFamily="18" charset="0"/>
              </a:rPr>
              <a:t>Component</a:t>
            </a:r>
          </a:p>
        </p:txBody>
      </p:sp>
      <p:sp>
        <p:nvSpPr>
          <p:cNvPr id="19" name="TextBox 18">
            <a:extLst>
              <a:ext uri="{FF2B5EF4-FFF2-40B4-BE49-F238E27FC236}">
                <a16:creationId xmlns:a16="http://schemas.microsoft.com/office/drawing/2014/main" id="{73691F5D-5F6A-4F8D-892E-8A0B59CE6AAA}"/>
              </a:ext>
            </a:extLst>
          </p:cNvPr>
          <p:cNvSpPr txBox="1"/>
          <p:nvPr/>
        </p:nvSpPr>
        <p:spPr>
          <a:xfrm>
            <a:off x="7420902" y="1494569"/>
            <a:ext cx="1239369" cy="461665"/>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Switching </a:t>
            </a:r>
          </a:p>
          <a:p>
            <a:r>
              <a:rPr lang="en-US" sz="1200" dirty="0">
                <a:latin typeface="Times New Roman" panose="02020603050405020304" pitchFamily="18" charset="0"/>
                <a:cs typeface="Times New Roman" panose="02020603050405020304" pitchFamily="18" charset="0"/>
              </a:rPr>
              <a:t>Harmonics</a:t>
            </a:r>
          </a:p>
        </p:txBody>
      </p:sp>
      <p:cxnSp>
        <p:nvCxnSpPr>
          <p:cNvPr id="20" name="Straight Arrow Connector 19">
            <a:extLst>
              <a:ext uri="{FF2B5EF4-FFF2-40B4-BE49-F238E27FC236}">
                <a16:creationId xmlns:a16="http://schemas.microsoft.com/office/drawing/2014/main" id="{80537209-9112-4E21-932F-ACEA6599AE58}"/>
              </a:ext>
            </a:extLst>
          </p:cNvPr>
          <p:cNvCxnSpPr>
            <a:cxnSpLocks/>
          </p:cNvCxnSpPr>
          <p:nvPr/>
        </p:nvCxnSpPr>
        <p:spPr>
          <a:xfrm flipH="1">
            <a:off x="5673310" y="3598555"/>
            <a:ext cx="8945" cy="114278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1" name="TextBox 20">
                <a:extLst>
                  <a:ext uri="{FF2B5EF4-FFF2-40B4-BE49-F238E27FC236}">
                    <a16:creationId xmlns:a16="http://schemas.microsoft.com/office/drawing/2014/main" id="{A73BE59F-68E0-4C78-86A7-D482F93E9E98}"/>
                  </a:ext>
                </a:extLst>
              </p:cNvPr>
              <p:cNvSpPr txBox="1"/>
              <p:nvPr/>
            </p:nvSpPr>
            <p:spPr>
              <a:xfrm>
                <a:off x="4812505" y="4728877"/>
                <a:ext cx="2138318" cy="280333"/>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Bessel function (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𝑛</m:t>
                        </m:r>
                      </m:e>
                      <m:sup>
                        <m:r>
                          <a:rPr lang="en-US" sz="1200" b="0" i="1" smtClean="0">
                            <a:latin typeface="Cambria Math" panose="02040503050406030204" pitchFamily="18" charset="0"/>
                          </a:rPr>
                          <m:t>𝑡h</m:t>
                        </m:r>
                      </m:sup>
                    </m:sSup>
                    <m:r>
                      <a:rPr lang="en-US" sz="1200" b="0" i="1" smtClean="0">
                        <a:latin typeface="Cambria Math" panose="02040503050406030204" pitchFamily="18" charset="0"/>
                      </a:rPr>
                      <m:t> </m:t>
                    </m:r>
                  </m:oMath>
                </a14:m>
                <a:r>
                  <a:rPr lang="en-US" sz="1200" dirty="0">
                    <a:latin typeface="Times New Roman" panose="02020603050405020304" pitchFamily="18" charset="0"/>
                    <a:cs typeface="Times New Roman" panose="02020603050405020304" pitchFamily="18" charset="0"/>
                  </a:rPr>
                  <a:t> order)</a:t>
                </a:r>
              </a:p>
            </p:txBody>
          </p:sp>
        </mc:Choice>
        <mc:Fallback>
          <p:sp>
            <p:nvSpPr>
              <p:cNvPr id="21" name="TextBox 20">
                <a:extLst>
                  <a:ext uri="{FF2B5EF4-FFF2-40B4-BE49-F238E27FC236}">
                    <a16:creationId xmlns:a16="http://schemas.microsoft.com/office/drawing/2014/main" id="{A73BE59F-68E0-4C78-86A7-D482F93E9E98}"/>
                  </a:ext>
                </a:extLst>
              </p:cNvPr>
              <p:cNvSpPr txBox="1">
                <a:spLocks noRot="1" noChangeAspect="1" noMove="1" noResize="1" noEditPoints="1" noAdjustHandles="1" noChangeArrowheads="1" noChangeShapeType="1" noTextEdit="1"/>
              </p:cNvSpPr>
              <p:nvPr/>
            </p:nvSpPr>
            <p:spPr>
              <a:xfrm>
                <a:off x="4812505" y="4728877"/>
                <a:ext cx="2138318" cy="280333"/>
              </a:xfrm>
              <a:prstGeom prst="rect">
                <a:avLst/>
              </a:prstGeom>
              <a:blipFill>
                <a:blip r:embed="rId4"/>
                <a:stretch>
                  <a:fillRect b="-17391"/>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0B4F7D59-DB01-426A-9411-F7D88A1CF9BD}"/>
                  </a:ext>
                </a:extLst>
              </p:cNvPr>
              <p:cNvSpPr txBox="1"/>
              <p:nvPr/>
            </p:nvSpPr>
            <p:spPr>
              <a:xfrm>
                <a:off x="6165212" y="1159247"/>
                <a:ext cx="2138318" cy="276999"/>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Bessel function ( </a:t>
                </a:r>
                <a14:m>
                  <m:oMath xmlns:m="http://schemas.openxmlformats.org/officeDocument/2006/math">
                    <m:r>
                      <a:rPr lang="en-US" sz="1200" b="0" i="1" smtClean="0">
                        <a:latin typeface="Cambria Math" panose="02040503050406030204" pitchFamily="18" charset="0"/>
                      </a:rPr>
                      <m:t>0 </m:t>
                    </m:r>
                  </m:oMath>
                </a14:m>
                <a:r>
                  <a:rPr lang="en-US" sz="1200" dirty="0">
                    <a:latin typeface="Times New Roman" panose="02020603050405020304" pitchFamily="18" charset="0"/>
                    <a:cs typeface="Times New Roman" panose="02020603050405020304" pitchFamily="18" charset="0"/>
                  </a:rPr>
                  <a:t> order)</a:t>
                </a:r>
              </a:p>
            </p:txBody>
          </p:sp>
        </mc:Choice>
        <mc:Fallback>
          <p:sp>
            <p:nvSpPr>
              <p:cNvPr id="22" name="TextBox 21">
                <a:extLst>
                  <a:ext uri="{FF2B5EF4-FFF2-40B4-BE49-F238E27FC236}">
                    <a16:creationId xmlns:a16="http://schemas.microsoft.com/office/drawing/2014/main" id="{0B4F7D59-DB01-426A-9411-F7D88A1CF9BD}"/>
                  </a:ext>
                </a:extLst>
              </p:cNvPr>
              <p:cNvSpPr txBox="1">
                <a:spLocks noRot="1" noChangeAspect="1" noMove="1" noResize="1" noEditPoints="1" noAdjustHandles="1" noChangeArrowheads="1" noChangeShapeType="1" noTextEdit="1"/>
              </p:cNvSpPr>
              <p:nvPr/>
            </p:nvSpPr>
            <p:spPr>
              <a:xfrm>
                <a:off x="6165212" y="1159247"/>
                <a:ext cx="2138318" cy="276999"/>
              </a:xfrm>
              <a:prstGeom prst="rect">
                <a:avLst/>
              </a:prstGeom>
              <a:blipFill>
                <a:blip r:embed="rId5"/>
                <a:stretch>
                  <a:fillRect b="-15217"/>
                </a:stretch>
              </a:blipFill>
            </p:spPr>
            <p:txBody>
              <a:bodyPr/>
              <a:lstStyle/>
              <a:p>
                <a:r>
                  <a:rPr lang="sv-SE">
                    <a:noFill/>
                  </a:rPr>
                  <a:t> </a:t>
                </a:r>
              </a:p>
            </p:txBody>
          </p:sp>
        </mc:Fallback>
      </mc:AlternateContent>
      <p:cxnSp>
        <p:nvCxnSpPr>
          <p:cNvPr id="23" name="Straight Arrow Connector 22">
            <a:extLst>
              <a:ext uri="{FF2B5EF4-FFF2-40B4-BE49-F238E27FC236}">
                <a16:creationId xmlns:a16="http://schemas.microsoft.com/office/drawing/2014/main" id="{2C5C3BD8-591A-4A60-8BB8-A042AD860C1D}"/>
              </a:ext>
            </a:extLst>
          </p:cNvPr>
          <p:cNvCxnSpPr/>
          <p:nvPr/>
        </p:nvCxnSpPr>
        <p:spPr>
          <a:xfrm flipV="1">
            <a:off x="6950823" y="1405468"/>
            <a:ext cx="0" cy="14236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12DB45B5-B7AB-4525-82BE-549C98A5F62A}"/>
              </a:ext>
            </a:extLst>
          </p:cNvPr>
          <p:cNvSpPr txBox="1"/>
          <p:nvPr/>
        </p:nvSpPr>
        <p:spPr>
          <a:xfrm>
            <a:off x="4896421" y="5163071"/>
            <a:ext cx="7527700" cy="1446550"/>
          </a:xfrm>
          <a:prstGeom prst="rect">
            <a:avLst/>
          </a:prstGeom>
          <a:noFill/>
        </p:spPr>
        <p:txBody>
          <a:bodyPr wrap="square" rtlCol="0">
            <a:spAutoFit/>
          </a:bodyPr>
          <a:lstStyle/>
          <a:p>
            <a:r>
              <a:rPr lang="en-US" sz="1400" dirty="0">
                <a:latin typeface="Times New Roman" panose="02020603050405020304" pitchFamily="18" charset="0"/>
                <a:cs typeface="Times New Roman" panose="02020603050405020304" pitchFamily="18" charset="0"/>
              </a:rPr>
              <a:t>Deductions</a:t>
            </a:r>
          </a:p>
          <a:p>
            <a:pPr marL="285750" indent="-285750">
              <a:buFont typeface="Arial" panose="020B0604020202020204" pitchFamily="34" charset="0"/>
              <a:buChar char="•"/>
            </a:pPr>
            <a:r>
              <a:rPr lang="en-US" sz="1400" dirty="0">
                <a:latin typeface="Times New Roman" panose="02020603050405020304" pitchFamily="18" charset="0"/>
                <a:cs typeface="Times New Roman" panose="02020603050405020304" pitchFamily="18" charset="0"/>
              </a:rPr>
              <a:t>Fundamental component is independent from carrier(switching) frequency and </a:t>
            </a:r>
            <a:r>
              <a:rPr lang="en-US" sz="1400" dirty="0" smtClean="0">
                <a:latin typeface="Times New Roman" panose="02020603050405020304" pitchFamily="18" charset="0"/>
                <a:cs typeface="Times New Roman" panose="02020603050405020304" pitchFamily="18" charset="0"/>
              </a:rPr>
              <a:t>phase.</a:t>
            </a:r>
            <a:endParaRPr lang="en-US" sz="14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1400" dirty="0">
                <a:latin typeface="Times New Roman" panose="02020603050405020304" pitchFamily="18" charset="0"/>
                <a:cs typeface="Times New Roman" panose="02020603050405020304" pitchFamily="18" charset="0"/>
              </a:rPr>
              <a:t>There is no even harmonics of the switching and the sign of the odd harmonics is alternated. </a:t>
            </a:r>
          </a:p>
          <a:p>
            <a:pPr marL="285750" indent="-285750">
              <a:buFont typeface="Arial" panose="020B0604020202020204" pitchFamily="34" charset="0"/>
              <a:buChar char="•"/>
            </a:pPr>
            <a:r>
              <a:rPr lang="en-US" sz="1400" dirty="0">
                <a:latin typeface="Times New Roman" panose="02020603050405020304" pitchFamily="18" charset="0"/>
                <a:cs typeface="Times New Roman" panose="02020603050405020304" pitchFamily="18" charset="0"/>
              </a:rPr>
              <a:t>The switching harmonics are independent from fundamental frequency and phase. </a:t>
            </a:r>
          </a:p>
          <a:p>
            <a:pPr marL="285750" indent="-285750">
              <a:buFont typeface="Arial" panose="020B0604020202020204" pitchFamily="34" charset="0"/>
              <a:buChar char="•"/>
            </a:pPr>
            <a:r>
              <a:rPr lang="en-US" sz="1400" dirty="0">
                <a:latin typeface="Times New Roman" panose="02020603050405020304" pitchFamily="18" charset="0"/>
                <a:cs typeface="Times New Roman" panose="02020603050405020304" pitchFamily="18" charset="0"/>
              </a:rPr>
              <a:t>The side band harmonics are affected by all fundamental and carrier frequency and phases. </a:t>
            </a:r>
          </a:p>
          <a:p>
            <a:endParaRPr lang="en-US" dirty="0"/>
          </a:p>
        </p:txBody>
      </p:sp>
      <mc:AlternateContent xmlns:mc="http://schemas.openxmlformats.org/markup-compatibility/2006">
        <mc:Choice xmlns:a14="http://schemas.microsoft.com/office/drawing/2010/main" Requires="a14">
          <p:sp>
            <p:nvSpPr>
              <p:cNvPr id="25" name="Rectangle 24">
                <a:extLst>
                  <a:ext uri="{FF2B5EF4-FFF2-40B4-BE49-F238E27FC236}">
                    <a16:creationId xmlns:a16="http://schemas.microsoft.com/office/drawing/2014/main" id="{93A09D5B-9596-41F4-983A-AFB3D4226460}"/>
                  </a:ext>
                </a:extLst>
              </p:cNvPr>
              <p:cNvSpPr/>
              <p:nvPr/>
            </p:nvSpPr>
            <p:spPr>
              <a:xfrm>
                <a:off x="9347669" y="2160650"/>
                <a:ext cx="2780448" cy="2308324"/>
              </a:xfrm>
              <a:prstGeom prst="rect">
                <a:avLst/>
              </a:prstGeom>
            </p:spPr>
            <p:txBody>
              <a:bodyPr wrap="square">
                <a:spAutoFit/>
              </a:bodyPr>
              <a:lstStyle/>
              <a:p>
                <a:r>
                  <a:rPr lang="tr-TR" sz="1600" dirty="0">
                    <a:latin typeface="Times New Roman" panose="02020603050405020304" pitchFamily="18" charset="0"/>
                    <a:cs typeface="Times New Roman" panose="02020603050405020304" pitchFamily="18" charset="0"/>
                  </a:rPr>
                  <a:t>Parameters: </a:t>
                </a:r>
              </a:p>
              <a:p>
                <a:endParaRPr lang="tr-TR" sz="1600" dirty="0">
                  <a:latin typeface="Times New Roman" panose="02020603050405020304" pitchFamily="18" charset="0"/>
                  <a:cs typeface="Times New Roman" panose="02020603050405020304" pitchFamily="18" charset="0"/>
                </a:endParaRPr>
              </a:p>
              <a:p>
                <a14:m>
                  <m:oMath xmlns:m="http://schemas.openxmlformats.org/officeDocument/2006/math">
                    <m:r>
                      <a:rPr lang="en-US" sz="1600" i="1" dirty="0" smtClean="0">
                        <a:solidFill>
                          <a:srgbClr val="000000"/>
                        </a:solidFill>
                        <a:latin typeface="Cambria Math" panose="02040503050406030204" pitchFamily="18" charset="0"/>
                      </a:rPr>
                      <m:t>𝑀</m:t>
                    </m:r>
                  </m:oMath>
                </a14:m>
                <a:r>
                  <a:rPr lang="en-US" sz="1600" dirty="0">
                    <a:solidFill>
                      <a:srgbClr val="000000"/>
                    </a:solidFill>
                    <a:latin typeface="Times New Roman" panose="02020603050405020304" pitchFamily="18" charset="0"/>
                    <a:cs typeface="Times New Roman" panose="02020603050405020304" pitchFamily="18" charset="0"/>
                  </a:rPr>
                  <a:t> =&gt; </a:t>
                </a:r>
                <a:r>
                  <a:rPr lang="en-US" sz="1600" dirty="0">
                    <a:solidFill>
                      <a:srgbClr val="228B22"/>
                    </a:solidFill>
                    <a:latin typeface="Times New Roman" panose="02020603050405020304" pitchFamily="18" charset="0"/>
                    <a:cs typeface="Times New Roman" panose="02020603050405020304" pitchFamily="18" charset="0"/>
                  </a:rPr>
                  <a:t>modulation index</a:t>
                </a:r>
              </a:p>
              <a:p>
                <a14:m>
                  <m:oMath xmlns:m="http://schemas.openxmlformats.org/officeDocument/2006/math">
                    <m:sSub>
                      <m:sSubPr>
                        <m:ctrlPr>
                          <a:rPr lang="en-US" sz="1600" b="0" i="1" smtClean="0">
                            <a:solidFill>
                              <a:srgbClr val="000000"/>
                            </a:solidFill>
                            <a:latin typeface="Cambria Math" panose="02040503050406030204" pitchFamily="18" charset="0"/>
                          </a:rPr>
                        </m:ctrlPr>
                      </m:sSubPr>
                      <m:e>
                        <m:r>
                          <a:rPr lang="en-US" sz="1600" b="0" i="1" smtClean="0">
                            <a:solidFill>
                              <a:srgbClr val="000000"/>
                            </a:solidFill>
                            <a:latin typeface="Cambria Math" panose="02040503050406030204" pitchFamily="18" charset="0"/>
                          </a:rPr>
                          <m:t>𝜔</m:t>
                        </m:r>
                      </m:e>
                      <m:sub>
                        <m:r>
                          <a:rPr lang="en-US" sz="1600" b="0" i="1" smtClean="0">
                            <a:solidFill>
                              <a:srgbClr val="000000"/>
                            </a:solidFill>
                            <a:latin typeface="Cambria Math" panose="02040503050406030204" pitchFamily="18" charset="0"/>
                          </a:rPr>
                          <m:t>𝑜</m:t>
                        </m:r>
                      </m:sub>
                    </m:sSub>
                  </m:oMath>
                </a14:m>
                <a:r>
                  <a:rPr lang="en-US" sz="1600" dirty="0">
                    <a:solidFill>
                      <a:srgbClr val="000000"/>
                    </a:solidFill>
                    <a:latin typeface="Times New Roman" panose="02020603050405020304" pitchFamily="18" charset="0"/>
                    <a:cs typeface="Times New Roman" panose="02020603050405020304" pitchFamily="18" charset="0"/>
                  </a:rPr>
                  <a:t>=&gt;</a:t>
                </a:r>
                <a:r>
                  <a:rPr lang="en-US" sz="1600" dirty="0">
                    <a:solidFill>
                      <a:srgbClr val="228B22"/>
                    </a:solidFill>
                    <a:latin typeface="Times New Roman" panose="02020603050405020304" pitchFamily="18" charset="0"/>
                    <a:cs typeface="Times New Roman" panose="02020603050405020304" pitchFamily="18" charset="0"/>
                  </a:rPr>
                  <a:t> output(fundamental) frequency</a:t>
                </a:r>
              </a:p>
              <a:p>
                <a14:m>
                  <m:oMath xmlns:m="http://schemas.openxmlformats.org/officeDocument/2006/math">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𝜔</m:t>
                        </m:r>
                      </m:e>
                      <m:sub>
                        <m:r>
                          <a:rPr lang="en-US" sz="1600" b="0" i="1" smtClean="0">
                            <a:solidFill>
                              <a:srgbClr val="000000"/>
                            </a:solidFill>
                            <a:latin typeface="Cambria Math" panose="02040503050406030204" pitchFamily="18" charset="0"/>
                          </a:rPr>
                          <m:t>𝑐</m:t>
                        </m:r>
                      </m:sub>
                    </m:sSub>
                    <m:r>
                      <a:rPr lang="en-US" sz="1600" i="1">
                        <a:solidFill>
                          <a:srgbClr val="000000"/>
                        </a:solidFill>
                        <a:latin typeface="Cambria Math" panose="02040503050406030204" pitchFamily="18" charset="0"/>
                      </a:rPr>
                      <m:t> </m:t>
                    </m:r>
                  </m:oMath>
                </a14:m>
                <a:r>
                  <a:rPr lang="en-US" sz="1600" dirty="0">
                    <a:solidFill>
                      <a:srgbClr val="000000"/>
                    </a:solidFill>
                    <a:latin typeface="Times New Roman" panose="02020603050405020304" pitchFamily="18" charset="0"/>
                    <a:cs typeface="Times New Roman" panose="02020603050405020304" pitchFamily="18" charset="0"/>
                  </a:rPr>
                  <a:t>=&gt; </a:t>
                </a:r>
                <a:r>
                  <a:rPr lang="en-US" sz="1600" dirty="0">
                    <a:solidFill>
                      <a:srgbClr val="228B22"/>
                    </a:solidFill>
                    <a:latin typeface="Times New Roman" panose="02020603050405020304" pitchFamily="18" charset="0"/>
                    <a:cs typeface="Times New Roman" panose="02020603050405020304" pitchFamily="18" charset="0"/>
                  </a:rPr>
                  <a:t>carrier(switching) frequency </a:t>
                </a:r>
              </a:p>
              <a:p>
                <a14:m>
                  <m:oMath xmlns:m="http://schemas.openxmlformats.org/officeDocument/2006/math">
                    <m:sSub>
                      <m:sSubPr>
                        <m:ctrlPr>
                          <a:rPr lang="en-US" sz="1600" b="0" i="1" dirty="0" smtClean="0">
                            <a:solidFill>
                              <a:srgbClr val="000000"/>
                            </a:solidFill>
                            <a:latin typeface="Cambria Math" panose="02040503050406030204" pitchFamily="18" charset="0"/>
                          </a:rPr>
                        </m:ctrlPr>
                      </m:sSubPr>
                      <m:e>
                        <m:r>
                          <a:rPr lang="en-US" sz="1600" b="0" i="1" dirty="0" smtClean="0">
                            <a:solidFill>
                              <a:srgbClr val="000000"/>
                            </a:solidFill>
                            <a:latin typeface="Cambria Math" panose="02040503050406030204" pitchFamily="18" charset="0"/>
                          </a:rPr>
                          <m:t>𝜃</m:t>
                        </m:r>
                      </m:e>
                      <m:sub>
                        <m:r>
                          <a:rPr lang="en-US" sz="1600" b="0" i="1" dirty="0" smtClean="0">
                            <a:solidFill>
                              <a:srgbClr val="000000"/>
                            </a:solidFill>
                            <a:latin typeface="Cambria Math" panose="02040503050406030204" pitchFamily="18" charset="0"/>
                          </a:rPr>
                          <m:t>𝑜</m:t>
                        </m:r>
                      </m:sub>
                    </m:sSub>
                  </m:oMath>
                </a14:m>
                <a:r>
                  <a:rPr lang="en-US" sz="1600" dirty="0">
                    <a:solidFill>
                      <a:srgbClr val="000000"/>
                    </a:solidFill>
                    <a:latin typeface="Times New Roman" panose="02020603050405020304" pitchFamily="18" charset="0"/>
                    <a:cs typeface="Times New Roman" panose="02020603050405020304" pitchFamily="18" charset="0"/>
                  </a:rPr>
                  <a:t> =&gt;</a:t>
                </a:r>
                <a:r>
                  <a:rPr lang="en-US" sz="1600" dirty="0">
                    <a:solidFill>
                      <a:srgbClr val="228B22"/>
                    </a:solidFill>
                    <a:latin typeface="Times New Roman" panose="02020603050405020304" pitchFamily="18" charset="0"/>
                    <a:cs typeface="Times New Roman" panose="02020603050405020304" pitchFamily="18" charset="0"/>
                  </a:rPr>
                  <a:t> output phase</a:t>
                </a:r>
              </a:p>
              <a:p>
                <a14:m>
                  <m:oMath xmlns:m="http://schemas.openxmlformats.org/officeDocument/2006/math">
                    <m:sSub>
                      <m:sSubPr>
                        <m:ctrlPr>
                          <a:rPr lang="en-US" sz="1600" i="1" dirty="0">
                            <a:solidFill>
                              <a:srgbClr val="000000"/>
                            </a:solidFill>
                            <a:latin typeface="Cambria Math" panose="02040503050406030204" pitchFamily="18" charset="0"/>
                          </a:rPr>
                        </m:ctrlPr>
                      </m:sSubPr>
                      <m:e>
                        <m:r>
                          <a:rPr lang="en-US" sz="1600" i="1" dirty="0">
                            <a:solidFill>
                              <a:srgbClr val="000000"/>
                            </a:solidFill>
                            <a:latin typeface="Cambria Math" panose="02040503050406030204" pitchFamily="18" charset="0"/>
                          </a:rPr>
                          <m:t>𝜃</m:t>
                        </m:r>
                      </m:e>
                      <m:sub>
                        <m:r>
                          <a:rPr lang="en-US" sz="1600" b="0" i="1" dirty="0" smtClean="0">
                            <a:solidFill>
                              <a:srgbClr val="000000"/>
                            </a:solidFill>
                            <a:latin typeface="Cambria Math" panose="02040503050406030204" pitchFamily="18" charset="0"/>
                          </a:rPr>
                          <m:t>𝑐</m:t>
                        </m:r>
                      </m:sub>
                    </m:sSub>
                  </m:oMath>
                </a14:m>
                <a:r>
                  <a:rPr lang="en-US" sz="1600" dirty="0">
                    <a:solidFill>
                      <a:srgbClr val="000000"/>
                    </a:solidFill>
                    <a:latin typeface="Times New Roman" panose="02020603050405020304" pitchFamily="18" charset="0"/>
                    <a:cs typeface="Times New Roman" panose="02020603050405020304" pitchFamily="18" charset="0"/>
                  </a:rPr>
                  <a:t> =&gt;</a:t>
                </a:r>
                <a:r>
                  <a:rPr lang="en-US" sz="1600" dirty="0">
                    <a:solidFill>
                      <a:srgbClr val="228B22"/>
                    </a:solidFill>
                    <a:latin typeface="Times New Roman" panose="02020603050405020304" pitchFamily="18" charset="0"/>
                    <a:cs typeface="Times New Roman" panose="02020603050405020304" pitchFamily="18" charset="0"/>
                  </a:rPr>
                  <a:t> carrier phase</a:t>
                </a:r>
              </a:p>
            </p:txBody>
          </p:sp>
        </mc:Choice>
        <mc:Fallback>
          <p:sp>
            <p:nvSpPr>
              <p:cNvPr id="25" name="Rectangle 24">
                <a:extLst>
                  <a:ext uri="{FF2B5EF4-FFF2-40B4-BE49-F238E27FC236}">
                    <a16:creationId xmlns:a16="http://schemas.microsoft.com/office/drawing/2014/main" id="{93A09D5B-9596-41F4-983A-AFB3D4226460}"/>
                  </a:ext>
                </a:extLst>
              </p:cNvPr>
              <p:cNvSpPr>
                <a:spLocks noRot="1" noChangeAspect="1" noMove="1" noResize="1" noEditPoints="1" noAdjustHandles="1" noChangeArrowheads="1" noChangeShapeType="1" noTextEdit="1"/>
              </p:cNvSpPr>
              <p:nvPr/>
            </p:nvSpPr>
            <p:spPr>
              <a:xfrm>
                <a:off x="9347669" y="2160650"/>
                <a:ext cx="2780448" cy="2308324"/>
              </a:xfrm>
              <a:prstGeom prst="rect">
                <a:avLst/>
              </a:prstGeom>
              <a:blipFill>
                <a:blip r:embed="rId6"/>
                <a:stretch>
                  <a:fillRect l="-1094" t="-792" b="-2375"/>
                </a:stretch>
              </a:blipFill>
            </p:spPr>
            <p:txBody>
              <a:bodyPr/>
              <a:lstStyle/>
              <a:p>
                <a:r>
                  <a:rPr lang="sv-SE">
                    <a:noFill/>
                  </a:rPr>
                  <a:t> </a:t>
                </a:r>
              </a:p>
            </p:txBody>
          </p:sp>
        </mc:Fallback>
      </mc:AlternateContent>
      <p:sp>
        <p:nvSpPr>
          <p:cNvPr id="42" name="Title 1"/>
          <p:cNvSpPr txBox="1">
            <a:spLocks/>
          </p:cNvSpPr>
          <p:nvPr/>
        </p:nvSpPr>
        <p:spPr>
          <a:xfrm>
            <a:off x="5395911" y="756401"/>
            <a:ext cx="3674359" cy="568412"/>
          </a:xfrm>
          <a:prstGeom prst="rect">
            <a:avLst/>
          </a:prstGeom>
        </p:spPr>
        <p:txBody>
          <a:bodyPr vert="horz" lIns="91440" tIns="108000" rIns="91440" bIns="45720" rtlCol="0" anchor="t">
            <a:noAutofit/>
          </a:bodyPr>
          <a:lst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a:lstStyle>
          <a:p>
            <a:r>
              <a:rPr lang="en-US" sz="2000" dirty="0" smtClean="0">
                <a:latin typeface="Times New Roman" panose="02020603050405020304" pitchFamily="18" charset="0"/>
                <a:cs typeface="Times New Roman" panose="02020603050405020304" pitchFamily="18" charset="0"/>
              </a:rPr>
              <a:t>Switching Harmonics</a:t>
            </a:r>
            <a:endParaRPr lang="sv-SE"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282521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8421" y="310978"/>
            <a:ext cx="10990263" cy="568412"/>
          </a:xfrm>
        </p:spPr>
        <p:txBody>
          <a:bodyPr/>
          <a:lstStyle/>
          <a:p>
            <a:r>
              <a:rPr lang="en-US" dirty="0" smtClean="0">
                <a:latin typeface="Times New Roman" panose="02020603050405020304" pitchFamily="18" charset="0"/>
                <a:cs typeface="Times New Roman" panose="02020603050405020304" pitchFamily="18" charset="0"/>
              </a:rPr>
              <a:t>Stator Winding Utilization : </a:t>
            </a:r>
            <a:r>
              <a:rPr lang="en-US" dirty="0" smtClean="0">
                <a:latin typeface="Times New Roman" panose="02020603050405020304" pitchFamily="18" charset="0"/>
                <a:cs typeface="Times New Roman" panose="02020603050405020304" pitchFamily="18" charset="0"/>
              </a:rPr>
              <a:t>Basic </a:t>
            </a:r>
            <a:r>
              <a:rPr lang="en-US" dirty="0" smtClean="0">
                <a:latin typeface="Times New Roman" panose="02020603050405020304" pitchFamily="18" charset="0"/>
                <a:cs typeface="Times New Roman" panose="02020603050405020304" pitchFamily="18" charset="0"/>
              </a:rPr>
              <a:t>EESM- 2 Pole  </a:t>
            </a:r>
            <a:endParaRPr lang="sv-SE" dirty="0">
              <a:latin typeface="Times New Roman" panose="02020603050405020304" pitchFamily="18" charset="0"/>
              <a:cs typeface="Times New Roman" panose="02020603050405020304" pitchFamily="18" charset="0"/>
            </a:endParaRPr>
          </a:p>
        </p:txBody>
      </p:sp>
      <p:graphicFrame>
        <p:nvGraphicFramePr>
          <p:cNvPr id="5" name="Table 4"/>
          <p:cNvGraphicFramePr>
            <a:graphicFrameLocks noGrp="1"/>
          </p:cNvGraphicFramePr>
          <p:nvPr>
            <p:extLst>
              <p:ext uri="{D42A27DB-BD31-4B8C-83A1-F6EECF244321}">
                <p14:modId xmlns:p14="http://schemas.microsoft.com/office/powerpoint/2010/main" val="4123676970"/>
              </p:ext>
            </p:extLst>
          </p:nvPr>
        </p:nvGraphicFramePr>
        <p:xfrm>
          <a:off x="1789001" y="2686863"/>
          <a:ext cx="8127990" cy="741680"/>
        </p:xfrm>
        <a:graphic>
          <a:graphicData uri="http://schemas.openxmlformats.org/drawingml/2006/table">
            <a:tbl>
              <a:tblPr firstRow="1" bandRow="1">
                <a:tableStyleId>{5C22544A-7EE6-4342-B048-85BDC9FD1C3A}</a:tableStyleId>
              </a:tblPr>
              <a:tblGrid>
                <a:gridCol w="625230">
                  <a:extLst>
                    <a:ext uri="{9D8B030D-6E8A-4147-A177-3AD203B41FA5}">
                      <a16:colId xmlns:a16="http://schemas.microsoft.com/office/drawing/2014/main" val="1953644139"/>
                    </a:ext>
                  </a:extLst>
                </a:gridCol>
                <a:gridCol w="625230">
                  <a:extLst>
                    <a:ext uri="{9D8B030D-6E8A-4147-A177-3AD203B41FA5}">
                      <a16:colId xmlns:a16="http://schemas.microsoft.com/office/drawing/2014/main" val="986895045"/>
                    </a:ext>
                  </a:extLst>
                </a:gridCol>
                <a:gridCol w="625230">
                  <a:extLst>
                    <a:ext uri="{9D8B030D-6E8A-4147-A177-3AD203B41FA5}">
                      <a16:colId xmlns:a16="http://schemas.microsoft.com/office/drawing/2014/main" val="1160901876"/>
                    </a:ext>
                  </a:extLst>
                </a:gridCol>
                <a:gridCol w="625230">
                  <a:extLst>
                    <a:ext uri="{9D8B030D-6E8A-4147-A177-3AD203B41FA5}">
                      <a16:colId xmlns:a16="http://schemas.microsoft.com/office/drawing/2014/main" val="1103176735"/>
                    </a:ext>
                  </a:extLst>
                </a:gridCol>
                <a:gridCol w="625230">
                  <a:extLst>
                    <a:ext uri="{9D8B030D-6E8A-4147-A177-3AD203B41FA5}">
                      <a16:colId xmlns:a16="http://schemas.microsoft.com/office/drawing/2014/main" val="2504158954"/>
                    </a:ext>
                  </a:extLst>
                </a:gridCol>
                <a:gridCol w="625230">
                  <a:extLst>
                    <a:ext uri="{9D8B030D-6E8A-4147-A177-3AD203B41FA5}">
                      <a16:colId xmlns:a16="http://schemas.microsoft.com/office/drawing/2014/main" val="2947287858"/>
                    </a:ext>
                  </a:extLst>
                </a:gridCol>
                <a:gridCol w="625230">
                  <a:extLst>
                    <a:ext uri="{9D8B030D-6E8A-4147-A177-3AD203B41FA5}">
                      <a16:colId xmlns:a16="http://schemas.microsoft.com/office/drawing/2014/main" val="308694683"/>
                    </a:ext>
                  </a:extLst>
                </a:gridCol>
                <a:gridCol w="625230">
                  <a:extLst>
                    <a:ext uri="{9D8B030D-6E8A-4147-A177-3AD203B41FA5}">
                      <a16:colId xmlns:a16="http://schemas.microsoft.com/office/drawing/2014/main" val="3184566999"/>
                    </a:ext>
                  </a:extLst>
                </a:gridCol>
                <a:gridCol w="625230">
                  <a:extLst>
                    <a:ext uri="{9D8B030D-6E8A-4147-A177-3AD203B41FA5}">
                      <a16:colId xmlns:a16="http://schemas.microsoft.com/office/drawing/2014/main" val="1887459786"/>
                    </a:ext>
                  </a:extLst>
                </a:gridCol>
                <a:gridCol w="625230">
                  <a:extLst>
                    <a:ext uri="{9D8B030D-6E8A-4147-A177-3AD203B41FA5}">
                      <a16:colId xmlns:a16="http://schemas.microsoft.com/office/drawing/2014/main" val="167411870"/>
                    </a:ext>
                  </a:extLst>
                </a:gridCol>
                <a:gridCol w="625230">
                  <a:extLst>
                    <a:ext uri="{9D8B030D-6E8A-4147-A177-3AD203B41FA5}">
                      <a16:colId xmlns:a16="http://schemas.microsoft.com/office/drawing/2014/main" val="3427868789"/>
                    </a:ext>
                  </a:extLst>
                </a:gridCol>
                <a:gridCol w="625230">
                  <a:extLst>
                    <a:ext uri="{9D8B030D-6E8A-4147-A177-3AD203B41FA5}">
                      <a16:colId xmlns:a16="http://schemas.microsoft.com/office/drawing/2014/main" val="3232831429"/>
                    </a:ext>
                  </a:extLst>
                </a:gridCol>
                <a:gridCol w="625230">
                  <a:extLst>
                    <a:ext uri="{9D8B030D-6E8A-4147-A177-3AD203B41FA5}">
                      <a16:colId xmlns:a16="http://schemas.microsoft.com/office/drawing/2014/main" val="2510407718"/>
                    </a:ext>
                  </a:extLst>
                </a:gridCol>
              </a:tblGrid>
              <a:tr h="370840">
                <a:tc>
                  <a:txBody>
                    <a:bodyPr/>
                    <a:lstStyle/>
                    <a:p>
                      <a:endParaRPr lang="sv-SE" dirty="0"/>
                    </a:p>
                  </a:txBody>
                  <a:tcPr>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sv-SE" dirty="0"/>
                    </a:p>
                  </a:txBody>
                  <a:tcPr>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414219993"/>
                  </a:ext>
                </a:extLst>
              </a:tr>
              <a:tr h="370840">
                <a:tc>
                  <a:txBody>
                    <a:bodyPr/>
                    <a:lstStyle/>
                    <a:p>
                      <a:endParaRPr lang="sv-S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tx2"/>
                    </a:solidFill>
                  </a:tcPr>
                </a:tc>
                <a:tc>
                  <a:txBody>
                    <a:bodyPr/>
                    <a:lstStyle/>
                    <a:p>
                      <a:r>
                        <a:rPr lang="en-US" dirty="0" smtClean="0">
                          <a:solidFill>
                            <a:srgbClr val="E86A58"/>
                          </a:solidFill>
                        </a:rPr>
                        <a:t>A+</a:t>
                      </a:r>
                      <a:endParaRPr lang="sv-SE" dirty="0">
                        <a:solidFill>
                          <a:srgbClr val="E86A58"/>
                        </a:solidFill>
                      </a:endParaRP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endParaRPr lang="sv-S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tx2"/>
                    </a:solidFill>
                  </a:tcPr>
                </a:tc>
                <a:tc>
                  <a:txBody>
                    <a:bodyPr/>
                    <a:lstStyle/>
                    <a:p>
                      <a:r>
                        <a:rPr lang="en-US" dirty="0" smtClean="0">
                          <a:solidFill>
                            <a:srgbClr val="4DA060"/>
                          </a:solidFill>
                        </a:rPr>
                        <a:t>C-</a:t>
                      </a:r>
                      <a:endParaRPr lang="sv-SE" dirty="0">
                        <a:solidFill>
                          <a:srgbClr val="4DA060"/>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endParaRPr lang="sv-S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tx2"/>
                    </a:solidFill>
                  </a:tcPr>
                </a:tc>
                <a:tc>
                  <a:txBody>
                    <a:bodyPr/>
                    <a:lstStyle/>
                    <a:p>
                      <a:r>
                        <a:rPr lang="en-US" dirty="0" smtClean="0">
                          <a:solidFill>
                            <a:schemeClr val="tx2">
                              <a:lumMod val="25000"/>
                              <a:lumOff val="75000"/>
                            </a:schemeClr>
                          </a:solidFill>
                        </a:rPr>
                        <a:t>B+</a:t>
                      </a:r>
                      <a:endParaRPr lang="sv-SE" dirty="0">
                        <a:solidFill>
                          <a:schemeClr val="tx2">
                            <a:lumMod val="25000"/>
                            <a:lumOff val="75000"/>
                          </a:schemeClr>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endParaRPr lang="sv-S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tx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solidFill>
                            <a:srgbClr val="E86A58"/>
                          </a:solidFill>
                        </a:rPr>
                        <a:t>A-</a:t>
                      </a:r>
                      <a:endParaRPr lang="sv-SE" dirty="0" smtClean="0">
                        <a:solidFill>
                          <a:srgbClr val="E86A58"/>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endParaRPr lang="sv-S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tx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solidFill>
                            <a:srgbClr val="4DA060"/>
                          </a:solidFill>
                        </a:rPr>
                        <a:t>C+</a:t>
                      </a:r>
                      <a:endParaRPr lang="sv-SE" dirty="0" smtClean="0">
                        <a:solidFill>
                          <a:srgbClr val="4DA060"/>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endParaRPr lang="sv-S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tx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solidFill>
                            <a:schemeClr val="tx2">
                              <a:lumMod val="25000"/>
                              <a:lumOff val="75000"/>
                            </a:schemeClr>
                          </a:solidFill>
                        </a:rPr>
                        <a:t>B-</a:t>
                      </a:r>
                      <a:endParaRPr lang="sv-SE" dirty="0" smtClean="0">
                        <a:solidFill>
                          <a:schemeClr val="tx2">
                            <a:lumMod val="25000"/>
                            <a:lumOff val="75000"/>
                          </a:schemeClr>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endParaRPr lang="sv-S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993555899"/>
                  </a:ext>
                </a:extLst>
              </a:tr>
            </a:tbl>
          </a:graphicData>
        </a:graphic>
      </p:graphicFrame>
      <p:cxnSp>
        <p:nvCxnSpPr>
          <p:cNvPr id="7" name="Straight Connector 6"/>
          <p:cNvCxnSpPr/>
          <p:nvPr/>
        </p:nvCxnSpPr>
        <p:spPr>
          <a:xfrm flipH="1" flipV="1">
            <a:off x="2832374" y="2473825"/>
            <a:ext cx="6178" cy="1643447"/>
          </a:xfrm>
          <a:prstGeom prst="line">
            <a:avLst/>
          </a:prstGeom>
          <a:ln w="38100">
            <a:solidFill>
              <a:srgbClr val="E86A58"/>
            </a:solidFill>
          </a:ln>
        </p:spPr>
        <p:style>
          <a:lnRef idx="1">
            <a:schemeClr val="accent1"/>
          </a:lnRef>
          <a:fillRef idx="0">
            <a:schemeClr val="accent1"/>
          </a:fillRef>
          <a:effectRef idx="0">
            <a:schemeClr val="accent1"/>
          </a:effectRef>
          <a:fontRef idx="minor">
            <a:schemeClr val="tx1"/>
          </a:fontRef>
        </p:style>
      </p:cxnSp>
      <p:cxnSp>
        <p:nvCxnSpPr>
          <p:cNvPr id="66" name="Straight Connector 65"/>
          <p:cNvCxnSpPr/>
          <p:nvPr/>
        </p:nvCxnSpPr>
        <p:spPr>
          <a:xfrm flipH="1">
            <a:off x="2832374" y="1754957"/>
            <a:ext cx="1956487" cy="718868"/>
          </a:xfrm>
          <a:prstGeom prst="line">
            <a:avLst/>
          </a:prstGeom>
          <a:ln w="38100">
            <a:solidFill>
              <a:srgbClr val="E86A58"/>
            </a:solidFill>
          </a:ln>
        </p:spPr>
        <p:style>
          <a:lnRef idx="1">
            <a:schemeClr val="accent1"/>
          </a:lnRef>
          <a:fillRef idx="0">
            <a:schemeClr val="accent1"/>
          </a:fillRef>
          <a:effectRef idx="0">
            <a:schemeClr val="accent1"/>
          </a:effectRef>
          <a:fontRef idx="minor">
            <a:schemeClr val="tx1"/>
          </a:fontRef>
        </p:style>
      </p:cxnSp>
      <p:cxnSp>
        <p:nvCxnSpPr>
          <p:cNvPr id="67" name="Straight Connector 66"/>
          <p:cNvCxnSpPr/>
          <p:nvPr/>
        </p:nvCxnSpPr>
        <p:spPr>
          <a:xfrm>
            <a:off x="4788861" y="1754957"/>
            <a:ext cx="1804087" cy="691063"/>
          </a:xfrm>
          <a:prstGeom prst="line">
            <a:avLst/>
          </a:prstGeom>
          <a:ln w="38100">
            <a:solidFill>
              <a:srgbClr val="E86A58"/>
            </a:solidFill>
          </a:ln>
        </p:spPr>
        <p:style>
          <a:lnRef idx="1">
            <a:schemeClr val="accent1"/>
          </a:lnRef>
          <a:fillRef idx="0">
            <a:schemeClr val="accent1"/>
          </a:fillRef>
          <a:effectRef idx="0">
            <a:schemeClr val="accent1"/>
          </a:effectRef>
          <a:fontRef idx="minor">
            <a:schemeClr val="tx1"/>
          </a:fontRef>
        </p:style>
      </p:cxnSp>
      <p:cxnSp>
        <p:nvCxnSpPr>
          <p:cNvPr id="68" name="Straight Connector 67"/>
          <p:cNvCxnSpPr/>
          <p:nvPr/>
        </p:nvCxnSpPr>
        <p:spPr>
          <a:xfrm flipH="1" flipV="1">
            <a:off x="6592948" y="2446020"/>
            <a:ext cx="6178" cy="1615645"/>
          </a:xfrm>
          <a:prstGeom prst="line">
            <a:avLst/>
          </a:prstGeom>
          <a:ln w="38100">
            <a:solidFill>
              <a:srgbClr val="E86A58"/>
            </a:solidFill>
          </a:ln>
        </p:spPr>
        <p:style>
          <a:lnRef idx="1">
            <a:schemeClr val="accent1"/>
          </a:lnRef>
          <a:fillRef idx="0">
            <a:schemeClr val="accent1"/>
          </a:fillRef>
          <a:effectRef idx="0">
            <a:schemeClr val="accent1"/>
          </a:effectRef>
          <a:fontRef idx="minor">
            <a:schemeClr val="tx1"/>
          </a:fontRef>
        </p:style>
      </p:cxnSp>
      <p:cxnSp>
        <p:nvCxnSpPr>
          <p:cNvPr id="69" name="Straight Connector 68"/>
          <p:cNvCxnSpPr/>
          <p:nvPr/>
        </p:nvCxnSpPr>
        <p:spPr>
          <a:xfrm flipH="1" flipV="1">
            <a:off x="4158666" y="2473825"/>
            <a:ext cx="6178" cy="1643447"/>
          </a:xfrm>
          <a:prstGeom prst="line">
            <a:avLst/>
          </a:prstGeom>
          <a:ln w="38100">
            <a:solidFill>
              <a:srgbClr val="4DA060"/>
            </a:solidFill>
          </a:ln>
        </p:spPr>
        <p:style>
          <a:lnRef idx="1">
            <a:schemeClr val="accent1"/>
          </a:lnRef>
          <a:fillRef idx="0">
            <a:schemeClr val="accent1"/>
          </a:fillRef>
          <a:effectRef idx="0">
            <a:schemeClr val="accent1"/>
          </a:effectRef>
          <a:fontRef idx="minor">
            <a:schemeClr val="tx1"/>
          </a:fontRef>
        </p:style>
      </p:cxnSp>
      <p:cxnSp>
        <p:nvCxnSpPr>
          <p:cNvPr id="70" name="Straight Connector 69"/>
          <p:cNvCxnSpPr/>
          <p:nvPr/>
        </p:nvCxnSpPr>
        <p:spPr>
          <a:xfrm flipH="1">
            <a:off x="4158666" y="1754957"/>
            <a:ext cx="1956487" cy="718868"/>
          </a:xfrm>
          <a:prstGeom prst="line">
            <a:avLst/>
          </a:prstGeom>
          <a:ln w="38100">
            <a:solidFill>
              <a:srgbClr val="4DA060"/>
            </a:solidFill>
          </a:ln>
        </p:spPr>
        <p:style>
          <a:lnRef idx="1">
            <a:schemeClr val="accent1"/>
          </a:lnRef>
          <a:fillRef idx="0">
            <a:schemeClr val="accent1"/>
          </a:fillRef>
          <a:effectRef idx="0">
            <a:schemeClr val="accent1"/>
          </a:effectRef>
          <a:fontRef idx="minor">
            <a:schemeClr val="tx1"/>
          </a:fontRef>
        </p:style>
      </p:cxnSp>
      <p:cxnSp>
        <p:nvCxnSpPr>
          <p:cNvPr id="71" name="Straight Connector 70"/>
          <p:cNvCxnSpPr/>
          <p:nvPr/>
        </p:nvCxnSpPr>
        <p:spPr>
          <a:xfrm>
            <a:off x="6115153" y="1754957"/>
            <a:ext cx="1804087" cy="691063"/>
          </a:xfrm>
          <a:prstGeom prst="line">
            <a:avLst/>
          </a:prstGeom>
          <a:ln w="38100">
            <a:solidFill>
              <a:srgbClr val="4DA060"/>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flipH="1" flipV="1">
            <a:off x="7919240" y="2446020"/>
            <a:ext cx="6178" cy="1615645"/>
          </a:xfrm>
          <a:prstGeom prst="line">
            <a:avLst/>
          </a:prstGeom>
          <a:ln w="38100">
            <a:solidFill>
              <a:srgbClr val="4DA060"/>
            </a:solidFill>
          </a:ln>
        </p:spPr>
        <p:style>
          <a:lnRef idx="1">
            <a:schemeClr val="accent1"/>
          </a:lnRef>
          <a:fillRef idx="0">
            <a:schemeClr val="accent1"/>
          </a:fillRef>
          <a:effectRef idx="0">
            <a:schemeClr val="accent1"/>
          </a:effectRef>
          <a:fontRef idx="minor">
            <a:schemeClr val="tx1"/>
          </a:fontRef>
        </p:style>
      </p:cxnSp>
      <p:cxnSp>
        <p:nvCxnSpPr>
          <p:cNvPr id="73" name="Straight Connector 72"/>
          <p:cNvCxnSpPr/>
          <p:nvPr/>
        </p:nvCxnSpPr>
        <p:spPr>
          <a:xfrm flipH="1" flipV="1">
            <a:off x="5392283" y="2473825"/>
            <a:ext cx="6178" cy="1643447"/>
          </a:xfrm>
          <a:prstGeom prst="line">
            <a:avLst/>
          </a:prstGeom>
          <a:ln w="38100">
            <a:solidFill>
              <a:schemeClr val="tx2">
                <a:lumMod val="25000"/>
                <a:lumOff val="75000"/>
              </a:schemeClr>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flipH="1">
            <a:off x="5392283" y="1754957"/>
            <a:ext cx="1956487" cy="718868"/>
          </a:xfrm>
          <a:prstGeom prst="line">
            <a:avLst/>
          </a:prstGeom>
          <a:ln w="38100">
            <a:solidFill>
              <a:schemeClr val="tx2">
                <a:lumMod val="25000"/>
                <a:lumOff val="75000"/>
              </a:schemeClr>
            </a:solidFill>
          </a:ln>
        </p:spPr>
        <p:style>
          <a:lnRef idx="1">
            <a:schemeClr val="accent1"/>
          </a:lnRef>
          <a:fillRef idx="0">
            <a:schemeClr val="accent1"/>
          </a:fillRef>
          <a:effectRef idx="0">
            <a:schemeClr val="accent1"/>
          </a:effectRef>
          <a:fontRef idx="minor">
            <a:schemeClr val="tx1"/>
          </a:fontRef>
        </p:style>
      </p:cxnSp>
      <p:cxnSp>
        <p:nvCxnSpPr>
          <p:cNvPr id="75" name="Straight Connector 74"/>
          <p:cNvCxnSpPr/>
          <p:nvPr/>
        </p:nvCxnSpPr>
        <p:spPr>
          <a:xfrm>
            <a:off x="7348770" y="1754957"/>
            <a:ext cx="1804087" cy="691063"/>
          </a:xfrm>
          <a:prstGeom prst="line">
            <a:avLst/>
          </a:prstGeom>
          <a:ln w="38100">
            <a:solidFill>
              <a:schemeClr val="tx2">
                <a:lumMod val="25000"/>
                <a:lumOff val="75000"/>
              </a:schemeClr>
            </a:solidFill>
          </a:ln>
        </p:spPr>
        <p:style>
          <a:lnRef idx="1">
            <a:schemeClr val="accent1"/>
          </a:lnRef>
          <a:fillRef idx="0">
            <a:schemeClr val="accent1"/>
          </a:fillRef>
          <a:effectRef idx="0">
            <a:schemeClr val="accent1"/>
          </a:effectRef>
          <a:fontRef idx="minor">
            <a:schemeClr val="tx1"/>
          </a:fontRef>
        </p:style>
      </p:cxnSp>
      <p:cxnSp>
        <p:nvCxnSpPr>
          <p:cNvPr id="76" name="Straight Connector 75"/>
          <p:cNvCxnSpPr/>
          <p:nvPr/>
        </p:nvCxnSpPr>
        <p:spPr>
          <a:xfrm flipH="1" flipV="1">
            <a:off x="9152857" y="2446020"/>
            <a:ext cx="6178" cy="1615645"/>
          </a:xfrm>
          <a:prstGeom prst="line">
            <a:avLst/>
          </a:prstGeom>
          <a:ln w="38100">
            <a:solidFill>
              <a:schemeClr val="tx2">
                <a:lumMod val="25000"/>
                <a:lumOff val="75000"/>
              </a:schemeClr>
            </a:solidFill>
          </a:ln>
        </p:spPr>
        <p:style>
          <a:lnRef idx="1">
            <a:schemeClr val="accent1"/>
          </a:lnRef>
          <a:fillRef idx="0">
            <a:schemeClr val="accent1"/>
          </a:fillRef>
          <a:effectRef idx="0">
            <a:schemeClr val="accent1"/>
          </a:effectRef>
          <a:fontRef idx="minor">
            <a:schemeClr val="tx1"/>
          </a:fontRef>
        </p:style>
      </p:cxnSp>
      <p:sp>
        <p:nvSpPr>
          <p:cNvPr id="24" name="Rectangle 23"/>
          <p:cNvSpPr/>
          <p:nvPr/>
        </p:nvSpPr>
        <p:spPr>
          <a:xfrm>
            <a:off x="2053899" y="4191412"/>
            <a:ext cx="3849130" cy="766119"/>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N</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79" name="Rectangle 78"/>
          <p:cNvSpPr/>
          <p:nvPr/>
        </p:nvSpPr>
        <p:spPr>
          <a:xfrm>
            <a:off x="5903029" y="4191411"/>
            <a:ext cx="3849130" cy="766119"/>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latin typeface="Times New Roman" panose="02020603050405020304" pitchFamily="18" charset="0"/>
              <a:cs typeface="Times New Roman" panose="02020603050405020304" pitchFamily="18" charset="0"/>
            </a:endParaRPr>
          </a:p>
        </p:txBody>
      </p:sp>
      <p:sp>
        <p:nvSpPr>
          <p:cNvPr id="25" name="Rectangle 24"/>
          <p:cNvSpPr/>
          <p:nvPr/>
        </p:nvSpPr>
        <p:spPr>
          <a:xfrm>
            <a:off x="7589623" y="4389804"/>
            <a:ext cx="312906" cy="369332"/>
          </a:xfrm>
          <a:prstGeom prst="rect">
            <a:avLst/>
          </a:prstGeom>
        </p:spPr>
        <p:txBody>
          <a:bodyPr wrap="none">
            <a:spAutoFit/>
          </a:bodyPr>
          <a:lstStyle/>
          <a:p>
            <a:pPr algn="ctr"/>
            <a:r>
              <a:rPr lang="en-US" dirty="0">
                <a:latin typeface="Times New Roman" panose="02020603050405020304" pitchFamily="18" charset="0"/>
                <a:cs typeface="Times New Roman" panose="02020603050405020304" pitchFamily="18" charset="0"/>
              </a:rPr>
              <a:t>S</a:t>
            </a:r>
            <a:endParaRPr lang="sv-SE" dirty="0">
              <a:latin typeface="Times New Roman" panose="02020603050405020304" pitchFamily="18" charset="0"/>
              <a:cs typeface="Times New Roman" panose="02020603050405020304" pitchFamily="18" charset="0"/>
            </a:endParaRPr>
          </a:p>
        </p:txBody>
      </p:sp>
      <p:sp>
        <p:nvSpPr>
          <p:cNvPr id="27" name="Rectangle 26"/>
          <p:cNvSpPr/>
          <p:nvPr/>
        </p:nvSpPr>
        <p:spPr>
          <a:xfrm>
            <a:off x="2053899" y="4191411"/>
            <a:ext cx="593124" cy="766119"/>
          </a:xfrm>
          <a:prstGeom prst="rect">
            <a:avLst/>
          </a:prstGeom>
          <a:solidFill>
            <a:schemeClr val="bg1"/>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X</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28" name="Oval 27"/>
          <p:cNvSpPr/>
          <p:nvPr/>
        </p:nvSpPr>
        <p:spPr>
          <a:xfrm>
            <a:off x="2229983" y="4426873"/>
            <a:ext cx="240956" cy="30823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latin typeface="Times New Roman" panose="02020603050405020304" pitchFamily="18" charset="0"/>
              <a:cs typeface="Times New Roman" panose="02020603050405020304" pitchFamily="18" charset="0"/>
            </a:endParaRPr>
          </a:p>
        </p:txBody>
      </p:sp>
      <p:sp>
        <p:nvSpPr>
          <p:cNvPr id="80" name="Rectangle 79"/>
          <p:cNvSpPr/>
          <p:nvPr/>
        </p:nvSpPr>
        <p:spPr>
          <a:xfrm>
            <a:off x="5309905" y="4191411"/>
            <a:ext cx="593124" cy="766119"/>
          </a:xfrm>
          <a:prstGeom prst="rect">
            <a:avLst/>
          </a:prstGeom>
          <a:solidFill>
            <a:schemeClr val="bg1"/>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Times New Roman" panose="02020603050405020304" pitchFamily="18" charset="0"/>
                <a:cs typeface="Times New Roman" panose="02020603050405020304" pitchFamily="18" charset="0"/>
              </a:rPr>
              <a:t>o</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81" name="Oval 80"/>
          <p:cNvSpPr/>
          <p:nvPr/>
        </p:nvSpPr>
        <p:spPr>
          <a:xfrm>
            <a:off x="5485989" y="4450904"/>
            <a:ext cx="240956" cy="30823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latin typeface="Times New Roman" panose="02020603050405020304" pitchFamily="18" charset="0"/>
              <a:cs typeface="Times New Roman" panose="02020603050405020304" pitchFamily="18" charset="0"/>
            </a:endParaRPr>
          </a:p>
        </p:txBody>
      </p:sp>
      <p:sp>
        <p:nvSpPr>
          <p:cNvPr id="82" name="Rectangle 81"/>
          <p:cNvSpPr/>
          <p:nvPr/>
        </p:nvSpPr>
        <p:spPr>
          <a:xfrm>
            <a:off x="5916416" y="4191411"/>
            <a:ext cx="593124" cy="766119"/>
          </a:xfrm>
          <a:prstGeom prst="rect">
            <a:avLst/>
          </a:prstGeom>
          <a:solidFill>
            <a:schemeClr val="bg1"/>
          </a:solidFill>
          <a:ln>
            <a:solidFill>
              <a:srgbClr val="339C9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Times New Roman" panose="02020603050405020304" pitchFamily="18" charset="0"/>
                <a:cs typeface="Times New Roman" panose="02020603050405020304" pitchFamily="18" charset="0"/>
              </a:rPr>
              <a:t>o</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83" name="Oval 82"/>
          <p:cNvSpPr/>
          <p:nvPr/>
        </p:nvSpPr>
        <p:spPr>
          <a:xfrm>
            <a:off x="6092500" y="4450904"/>
            <a:ext cx="240956" cy="30823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latin typeface="Times New Roman" panose="02020603050405020304" pitchFamily="18" charset="0"/>
              <a:cs typeface="Times New Roman" panose="02020603050405020304" pitchFamily="18" charset="0"/>
            </a:endParaRPr>
          </a:p>
        </p:txBody>
      </p:sp>
      <p:sp>
        <p:nvSpPr>
          <p:cNvPr id="84" name="Rectangle 83"/>
          <p:cNvSpPr/>
          <p:nvPr/>
        </p:nvSpPr>
        <p:spPr>
          <a:xfrm>
            <a:off x="9168304" y="4191411"/>
            <a:ext cx="593124" cy="766119"/>
          </a:xfrm>
          <a:prstGeom prst="rect">
            <a:avLst/>
          </a:prstGeom>
          <a:solidFill>
            <a:schemeClr val="bg1"/>
          </a:solidFill>
          <a:ln>
            <a:solidFill>
              <a:srgbClr val="339C9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X</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85" name="Oval 84"/>
          <p:cNvSpPr/>
          <p:nvPr/>
        </p:nvSpPr>
        <p:spPr>
          <a:xfrm>
            <a:off x="9344388" y="4426873"/>
            <a:ext cx="240956" cy="30823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latin typeface="Times New Roman" panose="02020603050405020304" pitchFamily="18" charset="0"/>
              <a:cs typeface="Times New Roman" panose="02020603050405020304" pitchFamily="18" charset="0"/>
            </a:endParaRPr>
          </a:p>
        </p:txBody>
      </p:sp>
      <p:sp>
        <p:nvSpPr>
          <p:cNvPr id="30" name="Rectangle 29"/>
          <p:cNvSpPr/>
          <p:nvPr/>
        </p:nvSpPr>
        <p:spPr>
          <a:xfrm>
            <a:off x="4279828" y="1071213"/>
            <a:ext cx="2929007" cy="369332"/>
          </a:xfrm>
          <a:prstGeom prst="rect">
            <a:avLst/>
          </a:prstGeom>
        </p:spPr>
        <p:txBody>
          <a:bodyPr wrap="none">
            <a:spAutoFit/>
          </a:bodyPr>
          <a:lstStyle/>
          <a:p>
            <a:r>
              <a:rPr lang="sv-SE" dirty="0" err="1" smtClean="0">
                <a:latin typeface="Times New Roman" panose="02020603050405020304" pitchFamily="18" charset="0"/>
                <a:cs typeface="Times New Roman" panose="02020603050405020304" pitchFamily="18" charset="0"/>
              </a:rPr>
              <a:t>Linearized</a:t>
            </a:r>
            <a:r>
              <a:rPr lang="sv-SE" dirty="0" smtClean="0">
                <a:latin typeface="Times New Roman" panose="02020603050405020304" pitchFamily="18" charset="0"/>
                <a:cs typeface="Times New Roman" panose="02020603050405020304" pitchFamily="18" charset="0"/>
              </a:rPr>
              <a:t> </a:t>
            </a:r>
            <a:r>
              <a:rPr lang="sv-SE" dirty="0" err="1">
                <a:latin typeface="Times New Roman" panose="02020603050405020304" pitchFamily="18" charset="0"/>
                <a:cs typeface="Times New Roman" panose="02020603050405020304" pitchFamily="18" charset="0"/>
              </a:rPr>
              <a:t>slot</a:t>
            </a:r>
            <a:r>
              <a:rPr lang="sv-SE" dirty="0">
                <a:latin typeface="Times New Roman" panose="02020603050405020304" pitchFamily="18" charset="0"/>
                <a:cs typeface="Times New Roman" panose="02020603050405020304" pitchFamily="18" charset="0"/>
              </a:rPr>
              <a:t> representation</a:t>
            </a:r>
          </a:p>
        </p:txBody>
      </p:sp>
      <p:cxnSp>
        <p:nvCxnSpPr>
          <p:cNvPr id="33" name="Straight Arrow Connector 32"/>
          <p:cNvCxnSpPr/>
          <p:nvPr/>
        </p:nvCxnSpPr>
        <p:spPr>
          <a:xfrm flipH="1">
            <a:off x="1313447" y="3057703"/>
            <a:ext cx="381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408779" y="2873037"/>
            <a:ext cx="904668" cy="369332"/>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Stator</a:t>
            </a:r>
            <a:endParaRPr lang="sv-SE" dirty="0">
              <a:latin typeface="Times New Roman" panose="02020603050405020304" pitchFamily="18" charset="0"/>
              <a:cs typeface="Times New Roman" panose="02020603050405020304" pitchFamily="18" charset="0"/>
            </a:endParaRPr>
          </a:p>
        </p:txBody>
      </p:sp>
      <p:cxnSp>
        <p:nvCxnSpPr>
          <p:cNvPr id="86" name="Straight Arrow Connector 85"/>
          <p:cNvCxnSpPr/>
          <p:nvPr/>
        </p:nvCxnSpPr>
        <p:spPr>
          <a:xfrm>
            <a:off x="9851219" y="4589363"/>
            <a:ext cx="5476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7" name="TextBox 86"/>
          <p:cNvSpPr txBox="1"/>
          <p:nvPr/>
        </p:nvSpPr>
        <p:spPr>
          <a:xfrm>
            <a:off x="10398853" y="4396323"/>
            <a:ext cx="904668" cy="369332"/>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Rotor</a:t>
            </a:r>
            <a:endParaRPr lang="sv-SE" dirty="0">
              <a:latin typeface="Times New Roman" panose="02020603050405020304" pitchFamily="18" charset="0"/>
              <a:cs typeface="Times New Roman" panose="02020603050405020304" pitchFamily="18" charset="0"/>
            </a:endParaRPr>
          </a:p>
        </p:txBody>
      </p:sp>
      <p:sp>
        <p:nvSpPr>
          <p:cNvPr id="89" name="Rectangle 88"/>
          <p:cNvSpPr/>
          <p:nvPr/>
        </p:nvSpPr>
        <p:spPr>
          <a:xfrm>
            <a:off x="2053899" y="3925741"/>
            <a:ext cx="7707529" cy="228600"/>
          </a:xfrm>
          <a:prstGeom prst="rect">
            <a:avLst/>
          </a:prstGeom>
          <a:noFill/>
          <a:ln>
            <a:solidFill>
              <a:srgbClr val="FF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latin typeface="Times New Roman" panose="02020603050405020304" pitchFamily="18" charset="0"/>
              <a:cs typeface="Times New Roman" panose="02020603050405020304" pitchFamily="18" charset="0"/>
            </a:endParaRPr>
          </a:p>
        </p:txBody>
      </p:sp>
      <p:cxnSp>
        <p:nvCxnSpPr>
          <p:cNvPr id="90" name="Straight Arrow Connector 89"/>
          <p:cNvCxnSpPr/>
          <p:nvPr/>
        </p:nvCxnSpPr>
        <p:spPr>
          <a:xfrm flipH="1">
            <a:off x="1337207" y="4040041"/>
            <a:ext cx="6211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1" name="TextBox 90"/>
          <p:cNvSpPr txBox="1"/>
          <p:nvPr/>
        </p:nvSpPr>
        <p:spPr>
          <a:xfrm>
            <a:off x="58593" y="3655915"/>
            <a:ext cx="1392913" cy="646331"/>
          </a:xfrm>
          <a:prstGeom prst="rect">
            <a:avLst/>
          </a:prstGeom>
          <a:noFill/>
        </p:spPr>
        <p:txBody>
          <a:bodyPr wrap="square" rtlCol="0">
            <a:spAutoFit/>
          </a:bodyPr>
          <a:lstStyle/>
          <a:p>
            <a:pPr algn="ctr"/>
            <a:r>
              <a:rPr lang="en-US" dirty="0" smtClean="0">
                <a:latin typeface="Times New Roman" panose="02020603050405020304" pitchFamily="18" charset="0"/>
                <a:cs typeface="Times New Roman" panose="02020603050405020304" pitchFamily="18" charset="0"/>
              </a:rPr>
              <a:t>Harvesting coil</a:t>
            </a:r>
            <a:endParaRPr lang="sv-SE" dirty="0">
              <a:latin typeface="Times New Roman" panose="02020603050405020304" pitchFamily="18" charset="0"/>
              <a:cs typeface="Times New Roman" panose="02020603050405020304" pitchFamily="18" charset="0"/>
            </a:endParaRPr>
          </a:p>
        </p:txBody>
      </p:sp>
      <p:sp>
        <p:nvSpPr>
          <p:cNvPr id="97" name="TextBox 96"/>
          <p:cNvSpPr txBox="1"/>
          <p:nvPr/>
        </p:nvSpPr>
        <p:spPr>
          <a:xfrm>
            <a:off x="2414952" y="5150570"/>
            <a:ext cx="8077200" cy="1477328"/>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Mutual inductances between stator windings and harvesting coil: </a:t>
            </a:r>
          </a:p>
          <a:p>
            <a:r>
              <a:rPr lang="en-US" dirty="0">
                <a:latin typeface="Times New Roman" panose="02020603050405020304" pitchFamily="18" charset="0"/>
                <a:cs typeface="Times New Roman" panose="02020603050405020304" pitchFamily="18" charset="0"/>
              </a:rPr>
              <a:t>	</a:t>
            </a:r>
            <a:r>
              <a:rPr lang="en-US" dirty="0" smtClean="0">
                <a:latin typeface="Times New Roman" panose="02020603050405020304" pitchFamily="18" charset="0"/>
                <a:cs typeface="Times New Roman" panose="02020603050405020304" pitchFamily="18" charset="0"/>
              </a:rPr>
              <a:t>Phase A: Positive</a:t>
            </a:r>
          </a:p>
          <a:p>
            <a:r>
              <a:rPr lang="en-US" dirty="0">
                <a:latin typeface="Times New Roman" panose="02020603050405020304" pitchFamily="18" charset="0"/>
                <a:cs typeface="Times New Roman" panose="02020603050405020304" pitchFamily="18" charset="0"/>
              </a:rPr>
              <a:t>	</a:t>
            </a:r>
            <a:r>
              <a:rPr lang="en-US" dirty="0" smtClean="0">
                <a:latin typeface="Times New Roman" panose="02020603050405020304" pitchFamily="18" charset="0"/>
                <a:cs typeface="Times New Roman" panose="02020603050405020304" pitchFamily="18" charset="0"/>
              </a:rPr>
              <a:t>Phase B:  Positive</a:t>
            </a:r>
          </a:p>
          <a:p>
            <a:r>
              <a:rPr lang="en-US" dirty="0">
                <a:latin typeface="Times New Roman" panose="02020603050405020304" pitchFamily="18" charset="0"/>
                <a:cs typeface="Times New Roman" panose="02020603050405020304" pitchFamily="18" charset="0"/>
              </a:rPr>
              <a:t>	</a:t>
            </a:r>
            <a:r>
              <a:rPr lang="en-US" dirty="0" smtClean="0">
                <a:latin typeface="Times New Roman" panose="02020603050405020304" pitchFamily="18" charset="0"/>
                <a:cs typeface="Times New Roman" panose="02020603050405020304" pitchFamily="18" charset="0"/>
              </a:rPr>
              <a:t>Phase C: Negative</a:t>
            </a:r>
          </a:p>
          <a:p>
            <a:r>
              <a:rPr lang="en-US" dirty="0" smtClean="0">
                <a:latin typeface="Times New Roman" panose="02020603050405020304" pitchFamily="18" charset="0"/>
                <a:cs typeface="Times New Roman" panose="02020603050405020304" pitchFamily="18" charset="0"/>
              </a:rPr>
              <a:t>They are rotation -independent if saturation ignored at this stage.  </a:t>
            </a:r>
          </a:p>
        </p:txBody>
      </p:sp>
      <p:cxnSp>
        <p:nvCxnSpPr>
          <p:cNvPr id="99" name="Straight Connector 98"/>
          <p:cNvCxnSpPr/>
          <p:nvPr/>
        </p:nvCxnSpPr>
        <p:spPr>
          <a:xfrm>
            <a:off x="8359140" y="3726180"/>
            <a:ext cx="3589544" cy="7620"/>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101" name="TextBox 100"/>
          <p:cNvSpPr txBox="1"/>
          <p:nvPr/>
        </p:nvSpPr>
        <p:spPr>
          <a:xfrm>
            <a:off x="10195150" y="3728425"/>
            <a:ext cx="1831247" cy="369332"/>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Rotating side</a:t>
            </a:r>
            <a:endParaRPr lang="sv-SE" dirty="0">
              <a:latin typeface="Times New Roman" panose="02020603050405020304" pitchFamily="18" charset="0"/>
              <a:cs typeface="Times New Roman" panose="02020603050405020304" pitchFamily="18" charset="0"/>
            </a:endParaRPr>
          </a:p>
        </p:txBody>
      </p:sp>
      <p:sp>
        <p:nvSpPr>
          <p:cNvPr id="102" name="TextBox 101"/>
          <p:cNvSpPr txBox="1"/>
          <p:nvPr/>
        </p:nvSpPr>
        <p:spPr>
          <a:xfrm>
            <a:off x="10180434" y="3324919"/>
            <a:ext cx="1831247" cy="369332"/>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Stationary side</a:t>
            </a:r>
            <a:endParaRPr lang="sv-SE"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35016472"/>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8421" y="310978"/>
            <a:ext cx="10990263" cy="568412"/>
          </a:xfrm>
        </p:spPr>
        <p:txBody>
          <a:bodyPr/>
          <a:lstStyle/>
          <a:p>
            <a:r>
              <a:rPr lang="en-US" dirty="0" smtClean="0">
                <a:latin typeface="Times New Roman" panose="02020603050405020304" pitchFamily="18" charset="0"/>
                <a:cs typeface="Times New Roman" panose="02020603050405020304" pitchFamily="18" charset="0"/>
              </a:rPr>
              <a:t>Tuned Harvesting </a:t>
            </a:r>
            <a:r>
              <a:rPr lang="en-US" dirty="0" smtClean="0">
                <a:latin typeface="Times New Roman" panose="02020603050405020304" pitchFamily="18" charset="0"/>
                <a:cs typeface="Times New Roman" panose="02020603050405020304" pitchFamily="18" charset="0"/>
              </a:rPr>
              <a:t>Coil</a:t>
            </a:r>
            <a:endParaRPr lang="sv-SE" dirty="0">
              <a:latin typeface="Times New Roman" panose="02020603050405020304" pitchFamily="18" charset="0"/>
              <a:cs typeface="Times New Roman" panose="02020603050405020304" pitchFamily="18" charset="0"/>
            </a:endParaRPr>
          </a:p>
        </p:txBody>
      </p:sp>
      <p:pic>
        <p:nvPicPr>
          <p:cNvPr id="7" name="Picture 6"/>
          <p:cNvPicPr>
            <a:picLocks noChangeAspect="1"/>
          </p:cNvPicPr>
          <p:nvPr/>
        </p:nvPicPr>
        <p:blipFill>
          <a:blip r:embed="rId2"/>
          <a:stretch>
            <a:fillRect/>
          </a:stretch>
        </p:blipFill>
        <p:spPr>
          <a:xfrm>
            <a:off x="1292905" y="1439371"/>
            <a:ext cx="8155895" cy="2225485"/>
          </a:xfrm>
          <a:prstGeom prst="rect">
            <a:avLst/>
          </a:prstGeom>
        </p:spPr>
      </p:pic>
      <mc:AlternateContent xmlns:mc="http://schemas.openxmlformats.org/markup-compatibility/2006" xmlns:a14="http://schemas.microsoft.com/office/drawing/2010/main">
        <mc:Choice Requires="a14">
          <p:sp>
            <p:nvSpPr>
              <p:cNvPr id="8" name="TextBox 7"/>
              <p:cNvSpPr txBox="1"/>
              <p:nvPr/>
            </p:nvSpPr>
            <p:spPr>
              <a:xfrm>
                <a:off x="812800" y="2367447"/>
                <a:ext cx="65405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𝐷𝐶</m:t>
                          </m:r>
                        </m:sub>
                      </m:sSub>
                    </m:oMath>
                  </m:oMathPara>
                </a14:m>
                <a:endParaRPr lang="sv-SE" dirty="0"/>
              </a:p>
            </p:txBody>
          </p:sp>
        </mc:Choice>
        <mc:Fallback xmlns="">
          <p:sp>
            <p:nvSpPr>
              <p:cNvPr id="8" name="TextBox 7"/>
              <p:cNvSpPr txBox="1">
                <a:spLocks noRot="1" noChangeAspect="1" noMove="1" noResize="1" noEditPoints="1" noAdjustHandles="1" noChangeArrowheads="1" noChangeShapeType="1" noTextEdit="1"/>
              </p:cNvSpPr>
              <p:nvPr/>
            </p:nvSpPr>
            <p:spPr>
              <a:xfrm>
                <a:off x="812800" y="2367447"/>
                <a:ext cx="654050" cy="369332"/>
              </a:xfrm>
              <a:prstGeom prst="rect">
                <a:avLst/>
              </a:prstGeom>
              <a:blipFill>
                <a:blip r:embed="rId3"/>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5100977" y="2736779"/>
                <a:ext cx="65405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i="1">
                              <a:latin typeface="Cambria Math" panose="02040503050406030204" pitchFamily="18" charset="0"/>
                            </a:rPr>
                            <m:t>𝐴</m:t>
                          </m:r>
                        </m:sub>
                      </m:sSub>
                    </m:oMath>
                  </m:oMathPara>
                </a14:m>
                <a:endParaRPr lang="sv-SE" dirty="0"/>
              </a:p>
            </p:txBody>
          </p:sp>
        </mc:Choice>
        <mc:Fallback xmlns="">
          <p:sp>
            <p:nvSpPr>
              <p:cNvPr id="9" name="TextBox 8"/>
              <p:cNvSpPr txBox="1">
                <a:spLocks noRot="1" noChangeAspect="1" noMove="1" noResize="1" noEditPoints="1" noAdjustHandles="1" noChangeArrowheads="1" noChangeShapeType="1" noTextEdit="1"/>
              </p:cNvSpPr>
              <p:nvPr/>
            </p:nvSpPr>
            <p:spPr>
              <a:xfrm>
                <a:off x="5100977" y="2736779"/>
                <a:ext cx="654050" cy="369332"/>
              </a:xfrm>
              <a:prstGeom prst="rect">
                <a:avLst/>
              </a:prstGeom>
              <a:blipFill>
                <a:blip r:embed="rId4"/>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 name="TextBox 11"/>
              <p:cNvSpPr txBox="1"/>
              <p:nvPr/>
            </p:nvSpPr>
            <p:spPr>
              <a:xfrm>
                <a:off x="5259727" y="3029339"/>
                <a:ext cx="65405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𝐿</m:t>
                          </m:r>
                        </m:e>
                        <m:sub>
                          <m:r>
                            <a:rPr lang="en-US" b="0" i="1" smtClean="0">
                              <a:latin typeface="Cambria Math" panose="02040503050406030204" pitchFamily="18" charset="0"/>
                            </a:rPr>
                            <m:t>𝐵</m:t>
                          </m:r>
                        </m:sub>
                      </m:sSub>
                    </m:oMath>
                  </m:oMathPara>
                </a14:m>
                <a:endParaRPr lang="sv-SE" dirty="0"/>
              </a:p>
            </p:txBody>
          </p:sp>
        </mc:Choice>
        <mc:Fallback xmlns="">
          <p:sp>
            <p:nvSpPr>
              <p:cNvPr id="12" name="TextBox 11"/>
              <p:cNvSpPr txBox="1">
                <a:spLocks noRot="1" noChangeAspect="1" noMove="1" noResize="1" noEditPoints="1" noAdjustHandles="1" noChangeArrowheads="1" noChangeShapeType="1" noTextEdit="1"/>
              </p:cNvSpPr>
              <p:nvPr/>
            </p:nvSpPr>
            <p:spPr>
              <a:xfrm>
                <a:off x="5259727" y="3029339"/>
                <a:ext cx="654050" cy="369332"/>
              </a:xfrm>
              <a:prstGeom prst="rect">
                <a:avLst/>
              </a:prstGeom>
              <a:blipFill>
                <a:blip r:embed="rId5"/>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5428002" y="3244596"/>
                <a:ext cx="65405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𝐿</m:t>
                          </m:r>
                        </m:e>
                        <m:sub>
                          <m:r>
                            <a:rPr lang="en-US" b="0" i="1" smtClean="0">
                              <a:latin typeface="Cambria Math" panose="02040503050406030204" pitchFamily="18" charset="0"/>
                            </a:rPr>
                            <m:t>𝐶</m:t>
                          </m:r>
                        </m:sub>
                      </m:sSub>
                    </m:oMath>
                  </m:oMathPara>
                </a14:m>
                <a:endParaRPr lang="sv-SE" dirty="0"/>
              </a:p>
            </p:txBody>
          </p:sp>
        </mc:Choice>
        <mc:Fallback xmlns="">
          <p:sp>
            <p:nvSpPr>
              <p:cNvPr id="13" name="TextBox 12"/>
              <p:cNvSpPr txBox="1">
                <a:spLocks noRot="1" noChangeAspect="1" noMove="1" noResize="1" noEditPoints="1" noAdjustHandles="1" noChangeArrowheads="1" noChangeShapeType="1" noTextEdit="1"/>
              </p:cNvSpPr>
              <p:nvPr/>
            </p:nvSpPr>
            <p:spPr>
              <a:xfrm>
                <a:off x="5428002" y="3244596"/>
                <a:ext cx="654050" cy="369332"/>
              </a:xfrm>
              <a:prstGeom prst="rect">
                <a:avLst/>
              </a:prstGeom>
              <a:blipFill>
                <a:blip r:embed="rId6"/>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6183652" y="3059930"/>
                <a:ext cx="65405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𝐿</m:t>
                          </m:r>
                        </m:e>
                        <m:sub>
                          <m:r>
                            <a:rPr lang="en-US" b="0" i="1" smtClean="0">
                              <a:latin typeface="Cambria Math" panose="02040503050406030204" pitchFamily="18" charset="0"/>
                            </a:rPr>
                            <m:t>𝐻</m:t>
                          </m:r>
                        </m:sub>
                      </m:sSub>
                    </m:oMath>
                  </m:oMathPara>
                </a14:m>
                <a:endParaRPr lang="sv-SE" dirty="0"/>
              </a:p>
            </p:txBody>
          </p:sp>
        </mc:Choice>
        <mc:Fallback xmlns="">
          <p:sp>
            <p:nvSpPr>
              <p:cNvPr id="14" name="TextBox 13"/>
              <p:cNvSpPr txBox="1">
                <a:spLocks noRot="1" noChangeAspect="1" noMove="1" noResize="1" noEditPoints="1" noAdjustHandles="1" noChangeArrowheads="1" noChangeShapeType="1" noTextEdit="1"/>
              </p:cNvSpPr>
              <p:nvPr/>
            </p:nvSpPr>
            <p:spPr>
              <a:xfrm>
                <a:off x="6183652" y="3059930"/>
                <a:ext cx="654050" cy="369332"/>
              </a:xfrm>
              <a:prstGeom prst="rect">
                <a:avLst/>
              </a:prstGeom>
              <a:blipFill>
                <a:blip r:embed="rId7"/>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8" name="TextBox 17"/>
              <p:cNvSpPr txBox="1"/>
              <p:nvPr/>
            </p:nvSpPr>
            <p:spPr>
              <a:xfrm>
                <a:off x="6723402" y="1695653"/>
                <a:ext cx="65405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𝐶</m:t>
                          </m:r>
                        </m:e>
                        <m:sub>
                          <m:r>
                            <a:rPr lang="en-US" b="0" i="1" smtClean="0">
                              <a:latin typeface="Cambria Math" panose="02040503050406030204" pitchFamily="18" charset="0"/>
                            </a:rPr>
                            <m:t>𝐻</m:t>
                          </m:r>
                        </m:sub>
                      </m:sSub>
                    </m:oMath>
                  </m:oMathPara>
                </a14:m>
                <a:endParaRPr lang="sv-SE" dirty="0"/>
              </a:p>
            </p:txBody>
          </p:sp>
        </mc:Choice>
        <mc:Fallback xmlns="">
          <p:sp>
            <p:nvSpPr>
              <p:cNvPr id="18" name="TextBox 17"/>
              <p:cNvSpPr txBox="1">
                <a:spLocks noRot="1" noChangeAspect="1" noMove="1" noResize="1" noEditPoints="1" noAdjustHandles="1" noChangeArrowheads="1" noChangeShapeType="1" noTextEdit="1"/>
              </p:cNvSpPr>
              <p:nvPr/>
            </p:nvSpPr>
            <p:spPr>
              <a:xfrm>
                <a:off x="6723402" y="1695653"/>
                <a:ext cx="654050" cy="369332"/>
              </a:xfrm>
              <a:prstGeom prst="rect">
                <a:avLst/>
              </a:prstGeom>
              <a:blipFill>
                <a:blip r:embed="rId8"/>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9" name="TextBox 18"/>
              <p:cNvSpPr txBox="1"/>
              <p:nvPr/>
            </p:nvSpPr>
            <p:spPr>
              <a:xfrm>
                <a:off x="5586752" y="1649501"/>
                <a:ext cx="65405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𝐶𝑜𝑢𝑝𝑙𝑖𝑛𝑔</m:t>
                      </m:r>
                    </m:oMath>
                  </m:oMathPara>
                </a14:m>
                <a:endParaRPr lang="sv-SE" dirty="0"/>
              </a:p>
            </p:txBody>
          </p:sp>
        </mc:Choice>
        <mc:Fallback xmlns="">
          <p:sp>
            <p:nvSpPr>
              <p:cNvPr id="19" name="TextBox 18"/>
              <p:cNvSpPr txBox="1">
                <a:spLocks noRot="1" noChangeAspect="1" noMove="1" noResize="1" noEditPoints="1" noAdjustHandles="1" noChangeArrowheads="1" noChangeShapeType="1" noTextEdit="1"/>
              </p:cNvSpPr>
              <p:nvPr/>
            </p:nvSpPr>
            <p:spPr>
              <a:xfrm>
                <a:off x="5586752" y="1649501"/>
                <a:ext cx="654050" cy="369332"/>
              </a:xfrm>
              <a:prstGeom prst="rect">
                <a:avLst/>
              </a:prstGeom>
              <a:blipFill>
                <a:blip r:embed="rId9"/>
                <a:stretch>
                  <a:fillRect l="-2778" r="-73148" b="-15000"/>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20" name="TextBox 19"/>
              <p:cNvSpPr txBox="1"/>
              <p:nvPr/>
            </p:nvSpPr>
            <p:spPr>
              <a:xfrm>
                <a:off x="9274855" y="1942330"/>
                <a:ext cx="65405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𝐿</m:t>
                          </m:r>
                        </m:e>
                        <m:sub>
                          <m:r>
                            <a:rPr lang="en-US" b="0" i="1" smtClean="0">
                              <a:latin typeface="Cambria Math" panose="02040503050406030204" pitchFamily="18" charset="0"/>
                            </a:rPr>
                            <m:t>𝐹</m:t>
                          </m:r>
                        </m:sub>
                      </m:sSub>
                    </m:oMath>
                  </m:oMathPara>
                </a14:m>
                <a:endParaRPr lang="sv-SE" dirty="0"/>
              </a:p>
            </p:txBody>
          </p:sp>
        </mc:Choice>
        <mc:Fallback xmlns="">
          <p:sp>
            <p:nvSpPr>
              <p:cNvPr id="20" name="TextBox 19"/>
              <p:cNvSpPr txBox="1">
                <a:spLocks noRot="1" noChangeAspect="1" noMove="1" noResize="1" noEditPoints="1" noAdjustHandles="1" noChangeArrowheads="1" noChangeShapeType="1" noTextEdit="1"/>
              </p:cNvSpPr>
              <p:nvPr/>
            </p:nvSpPr>
            <p:spPr>
              <a:xfrm>
                <a:off x="9274855" y="1942330"/>
                <a:ext cx="654050" cy="369332"/>
              </a:xfrm>
              <a:prstGeom prst="rect">
                <a:avLst/>
              </a:prstGeom>
              <a:blipFill>
                <a:blip r:embed="rId10"/>
                <a:stretch>
                  <a:fillRect b="-1667"/>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21" name="TextBox 20"/>
              <p:cNvSpPr txBox="1"/>
              <p:nvPr/>
            </p:nvSpPr>
            <p:spPr>
              <a:xfrm>
                <a:off x="9274855" y="2660007"/>
                <a:ext cx="65405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𝐹</m:t>
                          </m:r>
                        </m:sub>
                      </m:sSub>
                    </m:oMath>
                  </m:oMathPara>
                </a14:m>
                <a:endParaRPr lang="sv-SE" dirty="0"/>
              </a:p>
            </p:txBody>
          </p:sp>
        </mc:Choice>
        <mc:Fallback xmlns="">
          <p:sp>
            <p:nvSpPr>
              <p:cNvPr id="21" name="TextBox 20"/>
              <p:cNvSpPr txBox="1">
                <a:spLocks noRot="1" noChangeAspect="1" noMove="1" noResize="1" noEditPoints="1" noAdjustHandles="1" noChangeArrowheads="1" noChangeShapeType="1" noTextEdit="1"/>
              </p:cNvSpPr>
              <p:nvPr/>
            </p:nvSpPr>
            <p:spPr>
              <a:xfrm>
                <a:off x="9274855" y="2660007"/>
                <a:ext cx="654050" cy="369332"/>
              </a:xfrm>
              <a:prstGeom prst="rect">
                <a:avLst/>
              </a:prstGeom>
              <a:blipFill>
                <a:blip r:embed="rId11"/>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22" name="TextBox 21"/>
              <p:cNvSpPr txBox="1"/>
              <p:nvPr/>
            </p:nvSpPr>
            <p:spPr>
              <a:xfrm>
                <a:off x="2671914" y="4585684"/>
                <a:ext cx="2429063" cy="107632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sv-SE" i="1" smtClean="0">
                              <a:latin typeface="Cambria Math" panose="02040503050406030204" pitchFamily="18" charset="0"/>
                            </a:rPr>
                          </m:ctrlPr>
                        </m:dPr>
                        <m:e>
                          <m:eqArr>
                            <m:eqArrPr>
                              <m:ctrlPr>
                                <a:rPr lang="sv-SE" i="1" smtClean="0">
                                  <a:latin typeface="Cambria Math" panose="02040503050406030204" pitchFamily="18" charset="0"/>
                                </a:rPr>
                              </m:ctrlPr>
                            </m:eqArr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𝐴</m:t>
                                  </m:r>
                                </m:sub>
                              </m:sSub>
                            </m:e>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𝐴𝐵</m:t>
                                  </m:r>
                                </m:sub>
                              </m:sSub>
                            </m:e>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𝐴𝐶</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𝐴𝐻</m:t>
                                  </m:r>
                                </m:sub>
                              </m:sSub>
                            </m:e>
                          </m:eqArr>
                          <m:r>
                            <a:rPr lang="en-US" b="0" i="1" smtClean="0">
                              <a:latin typeface="Cambria Math" panose="02040503050406030204" pitchFamily="18" charset="0"/>
                            </a:rPr>
                            <m:t>   </m:t>
                          </m:r>
                          <m:eqArr>
                            <m:eqArrPr>
                              <m:ctrlPr>
                                <a:rPr lang="sv-SE" i="1">
                                  <a:latin typeface="Cambria Math" panose="02040503050406030204" pitchFamily="18" charset="0"/>
                                </a:rPr>
                              </m:ctrlPr>
                            </m:eqArr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𝐴𝐵</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𝐵</m:t>
                                  </m:r>
                                </m:sub>
                              </m:sSub>
                            </m:e>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𝐵𝐶</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𝐵𝐻</m:t>
                                  </m:r>
                                </m:sub>
                              </m:sSub>
                            </m:e>
                          </m:eqArr>
                          <m:r>
                            <a:rPr lang="en-US" b="0" i="1" smtClean="0">
                              <a:latin typeface="Cambria Math" panose="02040503050406030204" pitchFamily="18" charset="0"/>
                            </a:rPr>
                            <m:t>   </m:t>
                          </m:r>
                          <m:eqArr>
                            <m:eqArrPr>
                              <m:ctrlPr>
                                <a:rPr lang="sv-SE" i="1">
                                  <a:latin typeface="Cambria Math" panose="02040503050406030204" pitchFamily="18" charset="0"/>
                                </a:rPr>
                              </m:ctrlPr>
                            </m:eqArr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𝐴𝐶</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𝐵𝐶</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𝐶</m:t>
                                  </m:r>
                                </m:sub>
                              </m:sSub>
                            </m:e>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b="0" i="1" smtClean="0">
                                      <a:latin typeface="Cambria Math" panose="02040503050406030204" pitchFamily="18" charset="0"/>
                                    </a:rPr>
                                    <m:t>𝐶</m:t>
                                  </m:r>
                                  <m:r>
                                    <a:rPr lang="en-US" i="1">
                                      <a:latin typeface="Cambria Math" panose="02040503050406030204" pitchFamily="18" charset="0"/>
                                    </a:rPr>
                                    <m:t>𝐻</m:t>
                                  </m:r>
                                </m:sub>
                              </m:sSub>
                            </m:e>
                          </m:eqArr>
                          <m:r>
                            <a:rPr lang="en-US" b="0" i="1" smtClean="0">
                              <a:latin typeface="Cambria Math" panose="02040503050406030204" pitchFamily="18" charset="0"/>
                            </a:rPr>
                            <m:t>   </m:t>
                          </m:r>
                          <m:eqArr>
                            <m:eqArrPr>
                              <m:ctrlPr>
                                <a:rPr lang="sv-SE" i="1">
                                  <a:latin typeface="Cambria Math" panose="02040503050406030204" pitchFamily="18" charset="0"/>
                                </a:rPr>
                              </m:ctrlPr>
                            </m:eqArrP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𝐴𝐻</m:t>
                                  </m:r>
                                </m:sub>
                              </m:sSub>
                            </m:e>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𝐵𝐻</m:t>
                                  </m:r>
                                </m:sub>
                              </m:sSub>
                            </m:e>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𝐶𝐻</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𝐻</m:t>
                                  </m:r>
                                </m:sub>
                              </m:sSub>
                            </m:e>
                          </m:eqArr>
                        </m:e>
                      </m:d>
                    </m:oMath>
                  </m:oMathPara>
                </a14:m>
                <a:endParaRPr lang="sv-SE" dirty="0"/>
              </a:p>
            </p:txBody>
          </p:sp>
        </mc:Choice>
        <mc:Fallback xmlns="">
          <p:sp>
            <p:nvSpPr>
              <p:cNvPr id="22" name="TextBox 21"/>
              <p:cNvSpPr txBox="1">
                <a:spLocks noRot="1" noChangeAspect="1" noMove="1" noResize="1" noEditPoints="1" noAdjustHandles="1" noChangeArrowheads="1" noChangeShapeType="1" noTextEdit="1"/>
              </p:cNvSpPr>
              <p:nvPr/>
            </p:nvSpPr>
            <p:spPr>
              <a:xfrm>
                <a:off x="2671914" y="4585684"/>
                <a:ext cx="2429063" cy="1076320"/>
              </a:xfrm>
              <a:prstGeom prst="rect">
                <a:avLst/>
              </a:prstGeom>
              <a:blipFill>
                <a:blip r:embed="rId12"/>
                <a:stretch>
                  <a:fillRect/>
                </a:stretch>
              </a:blipFill>
            </p:spPr>
            <p:txBody>
              <a:bodyPr/>
              <a:lstStyle/>
              <a:p>
                <a:r>
                  <a:rPr lang="sv-SE">
                    <a:noFill/>
                  </a:rPr>
                  <a:t> </a:t>
                </a:r>
              </a:p>
            </p:txBody>
          </p:sp>
        </mc:Fallback>
      </mc:AlternateContent>
      <p:sp>
        <p:nvSpPr>
          <p:cNvPr id="23" name="TextBox 22"/>
          <p:cNvSpPr txBox="1"/>
          <p:nvPr/>
        </p:nvSpPr>
        <p:spPr>
          <a:xfrm>
            <a:off x="863600" y="4928584"/>
            <a:ext cx="1924050" cy="646331"/>
          </a:xfrm>
          <a:prstGeom prst="rect">
            <a:avLst/>
          </a:prstGeom>
          <a:noFill/>
        </p:spPr>
        <p:txBody>
          <a:bodyPr wrap="square" rtlCol="0">
            <a:spAutoFit/>
          </a:bodyPr>
          <a:lstStyle/>
          <a:p>
            <a:pPr algn="ctr"/>
            <a:r>
              <a:rPr lang="en-US" dirty="0" smtClean="0"/>
              <a:t>Inductance Matrix</a:t>
            </a:r>
            <a:endParaRPr lang="sv-SE" dirty="0"/>
          </a:p>
        </p:txBody>
      </p:sp>
      <mc:AlternateContent xmlns:mc="http://schemas.openxmlformats.org/markup-compatibility/2006" xmlns:a14="http://schemas.microsoft.com/office/drawing/2010/main">
        <mc:Choice Requires="a14">
          <p:sp>
            <p:nvSpPr>
              <p:cNvPr id="24" name="TextBox 23"/>
              <p:cNvSpPr txBox="1"/>
              <p:nvPr/>
            </p:nvSpPr>
            <p:spPr>
              <a:xfrm>
                <a:off x="7496342" y="4528218"/>
                <a:ext cx="1952458" cy="10466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sv-SE" i="1" smtClean="0">
                              <a:latin typeface="Cambria Math" panose="02040503050406030204" pitchFamily="18" charset="0"/>
                            </a:rPr>
                          </m:ctrlPr>
                        </m:dPr>
                        <m:e>
                          <m:eqArr>
                            <m:eqArrPr>
                              <m:ctrlPr>
                                <a:rPr lang="sv-SE" i="1" smtClean="0">
                                  <a:latin typeface="Cambria Math" panose="02040503050406030204" pitchFamily="18" charset="0"/>
                                </a:rPr>
                              </m:ctrlPr>
                            </m:eqArr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𝐴</m:t>
                                  </m:r>
                                </m:sub>
                              </m:sSub>
                            </m:e>
                            <m:e>
                              <m:r>
                                <a:rPr lang="en-US" b="0" i="1" smtClean="0">
                                  <a:latin typeface="Cambria Math" panose="02040503050406030204" pitchFamily="18" charset="0"/>
                                </a:rPr>
                                <m:t>0</m:t>
                              </m:r>
                            </m:e>
                            <m:e>
                              <m:r>
                                <a:rPr lang="en-US" b="0" i="1" smtClean="0">
                                  <a:latin typeface="Cambria Math" panose="02040503050406030204" pitchFamily="18" charset="0"/>
                                </a:rPr>
                                <m:t>0</m:t>
                              </m:r>
                            </m:e>
                            <m:e>
                              <m:r>
                                <a:rPr lang="en-US" i="1">
                                  <a:latin typeface="Cambria Math" panose="02040503050406030204" pitchFamily="18" charset="0"/>
                                </a:rPr>
                                <m:t>𝑀</m:t>
                              </m:r>
                            </m:e>
                          </m:eqArr>
                          <m:r>
                            <a:rPr lang="en-US" b="0" i="1" smtClean="0">
                              <a:latin typeface="Cambria Math" panose="02040503050406030204" pitchFamily="18" charset="0"/>
                            </a:rPr>
                            <m:t>   </m:t>
                          </m:r>
                          <m:eqArr>
                            <m:eqArrPr>
                              <m:ctrlPr>
                                <a:rPr lang="sv-SE" i="1">
                                  <a:latin typeface="Cambria Math" panose="02040503050406030204" pitchFamily="18" charset="0"/>
                                </a:rPr>
                              </m:ctrlPr>
                            </m:eqArrPr>
                            <m:e>
                              <m:r>
                                <a:rPr lang="en-US" b="0" i="1" smtClean="0">
                                  <a:latin typeface="Cambria Math" panose="02040503050406030204" pitchFamily="18" charset="0"/>
                                </a:rPr>
                                <m:t>0</m:t>
                              </m:r>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𝐵</m:t>
                                  </m:r>
                                </m:sub>
                              </m:sSub>
                            </m:e>
                            <m:e>
                              <m:r>
                                <a:rPr lang="en-US" b="0" i="1" smtClean="0">
                                  <a:latin typeface="Cambria Math" panose="02040503050406030204" pitchFamily="18" charset="0"/>
                                </a:rPr>
                                <m:t>0</m:t>
                              </m:r>
                            </m:e>
                            <m:e>
                              <m:r>
                                <a:rPr lang="en-US" i="1">
                                  <a:latin typeface="Cambria Math" panose="02040503050406030204" pitchFamily="18" charset="0"/>
                                </a:rPr>
                                <m:t>𝑀</m:t>
                              </m:r>
                            </m:e>
                          </m:eqArr>
                          <m:r>
                            <a:rPr lang="en-US" b="0" i="1" smtClean="0">
                              <a:latin typeface="Cambria Math" panose="02040503050406030204" pitchFamily="18" charset="0"/>
                            </a:rPr>
                            <m:t>   </m:t>
                          </m:r>
                          <m:eqArr>
                            <m:eqArrPr>
                              <m:ctrlPr>
                                <a:rPr lang="sv-SE" i="1">
                                  <a:latin typeface="Cambria Math" panose="02040503050406030204" pitchFamily="18" charset="0"/>
                                </a:rPr>
                              </m:ctrlPr>
                            </m:eqArrPr>
                            <m:e>
                              <m:r>
                                <a:rPr lang="en-US" b="0" i="1" smtClean="0">
                                  <a:latin typeface="Cambria Math" panose="02040503050406030204" pitchFamily="18" charset="0"/>
                                </a:rPr>
                                <m:t>0</m:t>
                              </m:r>
                            </m:e>
                            <m:e>
                              <m:r>
                                <a:rPr lang="en-US" b="0" i="1" smtClean="0">
                                  <a:latin typeface="Cambria Math" panose="02040503050406030204" pitchFamily="18" charset="0"/>
                                </a:rPr>
                                <m:t>0</m:t>
                              </m:r>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𝐶</m:t>
                                  </m:r>
                                </m:sub>
                              </m:sSub>
                            </m:e>
                            <m:e>
                              <m:r>
                                <a:rPr lang="en-US" b="0" i="1" smtClean="0">
                                  <a:latin typeface="Cambria Math" panose="02040503050406030204" pitchFamily="18" charset="0"/>
                                </a:rPr>
                                <m:t>−</m:t>
                              </m:r>
                              <m:r>
                                <a:rPr lang="en-US" i="1">
                                  <a:latin typeface="Cambria Math" panose="02040503050406030204" pitchFamily="18" charset="0"/>
                                </a:rPr>
                                <m:t>𝑀</m:t>
                              </m:r>
                            </m:e>
                          </m:eqArr>
                          <m:r>
                            <a:rPr lang="en-US" b="0" i="1" smtClean="0">
                              <a:latin typeface="Cambria Math" panose="02040503050406030204" pitchFamily="18" charset="0"/>
                            </a:rPr>
                            <m:t>   </m:t>
                          </m:r>
                          <m:eqArr>
                            <m:eqArrPr>
                              <m:ctrlPr>
                                <a:rPr lang="sv-SE" i="1">
                                  <a:latin typeface="Cambria Math" panose="02040503050406030204" pitchFamily="18" charset="0"/>
                                </a:rPr>
                              </m:ctrlPr>
                            </m:eqArrPr>
                            <m:e>
                              <m:r>
                                <a:rPr lang="en-US" b="0" i="1" smtClean="0">
                                  <a:latin typeface="Cambria Math" panose="02040503050406030204" pitchFamily="18" charset="0"/>
                                </a:rPr>
                                <m:t>𝑀</m:t>
                              </m:r>
                            </m:e>
                            <m:e>
                              <m:r>
                                <a:rPr lang="en-US" b="0" i="1" smtClean="0">
                                  <a:latin typeface="Cambria Math" panose="02040503050406030204" pitchFamily="18" charset="0"/>
                                </a:rPr>
                                <m:t>𝑀</m:t>
                              </m:r>
                            </m:e>
                            <m:e>
                              <m:r>
                                <a:rPr lang="en-US" b="0" i="1" smtClean="0">
                                  <a:latin typeface="Cambria Math" panose="02040503050406030204" pitchFamily="18" charset="0"/>
                                </a:rPr>
                                <m:t>−</m:t>
                              </m:r>
                              <m:r>
                                <a:rPr lang="en-US" b="0" i="1" smtClean="0">
                                  <a:latin typeface="Cambria Math" panose="02040503050406030204" pitchFamily="18" charset="0"/>
                                </a:rPr>
                                <m:t>𝑀</m:t>
                              </m:r>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𝐻</m:t>
                                  </m:r>
                                </m:sub>
                              </m:sSub>
                            </m:e>
                          </m:eqArr>
                        </m:e>
                      </m:d>
                    </m:oMath>
                  </m:oMathPara>
                </a14:m>
                <a:endParaRPr lang="sv-SE" dirty="0"/>
              </a:p>
            </p:txBody>
          </p:sp>
        </mc:Choice>
        <mc:Fallback xmlns="">
          <p:sp>
            <p:nvSpPr>
              <p:cNvPr id="24" name="TextBox 23"/>
              <p:cNvSpPr txBox="1">
                <a:spLocks noRot="1" noChangeAspect="1" noMove="1" noResize="1" noEditPoints="1" noAdjustHandles="1" noChangeArrowheads="1" noChangeShapeType="1" noTextEdit="1"/>
              </p:cNvSpPr>
              <p:nvPr/>
            </p:nvSpPr>
            <p:spPr>
              <a:xfrm>
                <a:off x="7496342" y="4528218"/>
                <a:ext cx="1952458" cy="1046697"/>
              </a:xfrm>
              <a:prstGeom prst="rect">
                <a:avLst/>
              </a:prstGeom>
              <a:blipFill>
                <a:blip r:embed="rId13"/>
                <a:stretch>
                  <a:fillRect/>
                </a:stretch>
              </a:blipFill>
            </p:spPr>
            <p:txBody>
              <a:bodyPr/>
              <a:lstStyle/>
              <a:p>
                <a:r>
                  <a:rPr lang="sv-SE">
                    <a:noFill/>
                  </a:rPr>
                  <a:t> </a:t>
                </a:r>
              </a:p>
            </p:txBody>
          </p:sp>
        </mc:Fallback>
      </mc:AlternateContent>
      <p:sp>
        <p:nvSpPr>
          <p:cNvPr id="25" name="TextBox 24"/>
          <p:cNvSpPr txBox="1"/>
          <p:nvPr/>
        </p:nvSpPr>
        <p:spPr>
          <a:xfrm>
            <a:off x="5651500" y="4655025"/>
            <a:ext cx="1924050" cy="923330"/>
          </a:xfrm>
          <a:prstGeom prst="rect">
            <a:avLst/>
          </a:prstGeom>
          <a:noFill/>
        </p:spPr>
        <p:txBody>
          <a:bodyPr wrap="square" rtlCol="0">
            <a:spAutoFit/>
          </a:bodyPr>
          <a:lstStyle/>
          <a:p>
            <a:pPr algn="ctr"/>
            <a:r>
              <a:rPr lang="en-US" dirty="0" smtClean="0"/>
              <a:t>Simplified</a:t>
            </a:r>
          </a:p>
          <a:p>
            <a:pPr algn="ctr"/>
            <a:r>
              <a:rPr lang="en-US" dirty="0" smtClean="0"/>
              <a:t>Inductance Matrix</a:t>
            </a:r>
            <a:endParaRPr lang="sv-SE" dirty="0"/>
          </a:p>
        </p:txBody>
      </p:sp>
    </p:spTree>
    <p:extLst>
      <p:ext uri="{BB962C8B-B14F-4D97-AF65-F5344CB8AC3E}">
        <p14:creationId xmlns:p14="http://schemas.microsoft.com/office/powerpoint/2010/main" val="29100220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8421" y="310978"/>
            <a:ext cx="10990263" cy="568412"/>
          </a:xfrm>
        </p:spPr>
        <p:txBody>
          <a:bodyPr/>
          <a:lstStyle/>
          <a:p>
            <a:r>
              <a:rPr lang="en-US" dirty="0" smtClean="0">
                <a:latin typeface="Times New Roman" panose="02020603050405020304" pitchFamily="18" charset="0"/>
                <a:cs typeface="Times New Roman" panose="02020603050405020304" pitchFamily="18" charset="0"/>
              </a:rPr>
              <a:t>Switching Harmonics- Sequences</a:t>
            </a:r>
            <a:endParaRPr lang="sv-SE"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e 18">
                <a:extLst>
                  <a:ext uri="{FF2B5EF4-FFF2-40B4-BE49-F238E27FC236}">
                    <a16:creationId xmlns:a16="http://schemas.microsoft.com/office/drawing/2014/main" id="{B28E5191-62E9-4016-845B-8CEB358D7D8D}"/>
                  </a:ext>
                </a:extLst>
              </p:cNvPr>
              <p:cNvGraphicFramePr>
                <a:graphicFrameLocks noGrp="1"/>
              </p:cNvGraphicFramePr>
              <p:nvPr>
                <p:extLst>
                  <p:ext uri="{D42A27DB-BD31-4B8C-83A1-F6EECF244321}">
                    <p14:modId xmlns:p14="http://schemas.microsoft.com/office/powerpoint/2010/main" val="933418715"/>
                  </p:ext>
                </p:extLst>
              </p:nvPr>
            </p:nvGraphicFramePr>
            <p:xfrm>
              <a:off x="600114" y="1139869"/>
              <a:ext cx="5853438" cy="4693612"/>
            </p:xfrm>
            <a:graphic>
              <a:graphicData uri="http://schemas.openxmlformats.org/drawingml/2006/table">
                <a:tbl>
                  <a:tblPr firstRow="1" bandRow="1">
                    <a:tableStyleId>{5C22544A-7EE6-4342-B048-85BDC9FD1C3A}</a:tableStyleId>
                  </a:tblPr>
                  <a:tblGrid>
                    <a:gridCol w="1457991">
                      <a:extLst>
                        <a:ext uri="{9D8B030D-6E8A-4147-A177-3AD203B41FA5}">
                          <a16:colId xmlns:a16="http://schemas.microsoft.com/office/drawing/2014/main" val="2433690308"/>
                        </a:ext>
                      </a:extLst>
                    </a:gridCol>
                    <a:gridCol w="1465149">
                      <a:extLst>
                        <a:ext uri="{9D8B030D-6E8A-4147-A177-3AD203B41FA5}">
                          <a16:colId xmlns:a16="http://schemas.microsoft.com/office/drawing/2014/main" val="2883717235"/>
                        </a:ext>
                      </a:extLst>
                    </a:gridCol>
                    <a:gridCol w="1465149">
                      <a:extLst>
                        <a:ext uri="{9D8B030D-6E8A-4147-A177-3AD203B41FA5}">
                          <a16:colId xmlns:a16="http://schemas.microsoft.com/office/drawing/2014/main" val="372870230"/>
                        </a:ext>
                      </a:extLst>
                    </a:gridCol>
                    <a:gridCol w="1465149">
                      <a:extLst>
                        <a:ext uri="{9D8B030D-6E8A-4147-A177-3AD203B41FA5}">
                          <a16:colId xmlns:a16="http://schemas.microsoft.com/office/drawing/2014/main" val="1663911851"/>
                        </a:ext>
                      </a:extLst>
                    </a:gridCol>
                  </a:tblGrid>
                  <a:tr h="670516">
                    <a:tc>
                      <a:txBody>
                        <a:bodyPr/>
                        <a:lstStyle/>
                        <a:p>
                          <a:r>
                            <a:rPr lang="en-US" sz="1600" b="1" dirty="0" smtClean="0">
                              <a:solidFill>
                                <a:sysClr val="windowText" lastClr="000000"/>
                              </a:solidFill>
                              <a:latin typeface="Times New Roman" panose="02020603050405020304" pitchFamily="18" charset="0"/>
                              <a:cs typeface="Times New Roman" panose="02020603050405020304" pitchFamily="18" charset="0"/>
                            </a:rPr>
                            <a:t>Frequency/ Phase</a:t>
                          </a:r>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600" b="1" dirty="0" smtClean="0">
                              <a:solidFill>
                                <a:sysClr val="windowText" lastClr="000000"/>
                              </a:solidFill>
                              <a:latin typeface="Times New Roman" panose="02020603050405020304" pitchFamily="18" charset="0"/>
                              <a:cs typeface="Times New Roman" panose="02020603050405020304" pitchFamily="18" charset="0"/>
                            </a:rPr>
                            <a:t>A</a:t>
                          </a:r>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11" rtl="0" eaLnBrk="1" fontAlgn="auto" latinLnBrk="0" hangingPunct="1">
                            <a:lnSpc>
                              <a:spcPct val="100000"/>
                            </a:lnSpc>
                            <a:spcBef>
                              <a:spcPts val="0"/>
                            </a:spcBef>
                            <a:spcAft>
                              <a:spcPts val="0"/>
                            </a:spcAft>
                            <a:buClrTx/>
                            <a:buSzTx/>
                            <a:buFontTx/>
                            <a:buNone/>
                            <a:tabLst/>
                            <a:defRPr/>
                          </a:pPr>
                          <a:r>
                            <a:rPr lang="en-US" sz="1600" b="1" dirty="0" smtClean="0">
                              <a:solidFill>
                                <a:sysClr val="windowText" lastClr="000000"/>
                              </a:solidFill>
                              <a:latin typeface="Times New Roman" panose="02020603050405020304" pitchFamily="18" charset="0"/>
                              <a:cs typeface="Times New Roman" panose="02020603050405020304" pitchFamily="18" charset="0"/>
                            </a:rPr>
                            <a:t>B</a:t>
                          </a:r>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11" rtl="0" eaLnBrk="1" fontAlgn="auto" latinLnBrk="0" hangingPunct="1">
                            <a:lnSpc>
                              <a:spcPct val="100000"/>
                            </a:lnSpc>
                            <a:spcBef>
                              <a:spcPts val="0"/>
                            </a:spcBef>
                            <a:spcAft>
                              <a:spcPts val="0"/>
                            </a:spcAft>
                            <a:buClrTx/>
                            <a:buSzTx/>
                            <a:buFontTx/>
                            <a:buNone/>
                            <a:tabLst/>
                            <a:defRPr/>
                          </a:pPr>
                          <a:r>
                            <a:rPr lang="en-US" sz="1600" b="1" dirty="0" smtClean="0">
                              <a:solidFill>
                                <a:sysClr val="windowText" lastClr="000000"/>
                              </a:solidFill>
                              <a:latin typeface="Times New Roman" panose="02020603050405020304" pitchFamily="18" charset="0"/>
                              <a:cs typeface="Times New Roman" panose="02020603050405020304" pitchFamily="18" charset="0"/>
                            </a:rPr>
                            <a:t>C</a:t>
                          </a:r>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10480755"/>
                      </a:ext>
                    </a:extLst>
                  </a:tr>
                  <a:tr h="670516">
                    <a:tc>
                      <a:txBody>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𝑜</m:t>
                                    </m:r>
                                  </m:sub>
                                </m:sSub>
                              </m:oMath>
                            </m:oMathPara>
                          </a14:m>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14:m>
                            <m:oMath xmlns:m="http://schemas.openxmlformats.org/officeDocument/2006/math">
                              <m:sSub>
                                <m:sSubPr>
                                  <m:ctrlPr>
                                    <a:rPr lang="en-US" sz="1600" b="0" i="1" dirty="0" smtClean="0">
                                      <a:solidFill>
                                        <a:srgbClr val="000000"/>
                                      </a:solidFill>
                                      <a:latin typeface="Cambria Math" panose="02040503050406030204" pitchFamily="18" charset="0"/>
                                    </a:rPr>
                                  </m:ctrlPr>
                                </m:sSubPr>
                                <m:e>
                                  <m:r>
                                    <a:rPr lang="en-US" sz="1600" b="0" i="1" dirty="0" smtClean="0">
                                      <a:solidFill>
                                        <a:srgbClr val="000000"/>
                                      </a:solidFill>
                                      <a:latin typeface="Cambria Math" panose="02040503050406030204" pitchFamily="18" charset="0"/>
                                    </a:rPr>
                                    <m:t>𝜃</m:t>
                                  </m:r>
                                </m:e>
                                <m:sub>
                                  <m:r>
                                    <a:rPr lang="en-US" sz="1600" b="0" i="1" dirty="0" smtClean="0">
                                      <a:solidFill>
                                        <a:srgbClr val="000000"/>
                                      </a:solidFill>
                                      <a:latin typeface="Cambria Math" panose="02040503050406030204" pitchFamily="18" charset="0"/>
                                    </a:rPr>
                                    <m:t>𝑜</m:t>
                                  </m:r>
                                </m:sub>
                              </m:sSub>
                              <m:r>
                                <a:rPr lang="en-US" sz="1600" b="0" i="1" dirty="0" smtClean="0">
                                  <a:solidFill>
                                    <a:srgbClr val="000000"/>
                                  </a:solidFill>
                                  <a:latin typeface="Cambria Math" panose="02040503050406030204" pitchFamily="18" charset="0"/>
                                </a:rPr>
                                <m:t>=</m:t>
                              </m:r>
                              <m:sSup>
                                <m:sSupPr>
                                  <m:ctrlPr>
                                    <a:rPr lang="en-US" sz="1600" b="0" i="1" dirty="0" smtClean="0">
                                      <a:solidFill>
                                        <a:srgbClr val="000000"/>
                                      </a:solidFill>
                                      <a:latin typeface="Cambria Math" panose="02040503050406030204" pitchFamily="18" charset="0"/>
                                    </a:rPr>
                                  </m:ctrlPr>
                                </m:sSupPr>
                                <m:e>
                                  <m:r>
                                    <a:rPr lang="en-US" sz="1600" b="0" i="1" dirty="0" smtClean="0">
                                      <a:solidFill>
                                        <a:srgbClr val="000000"/>
                                      </a:solidFill>
                                      <a:latin typeface="Cambria Math" panose="02040503050406030204" pitchFamily="18" charset="0"/>
                                    </a:rPr>
                                    <m:t>0</m:t>
                                  </m:r>
                                </m:e>
                                <m:sup>
                                  <m:r>
                                    <a:rPr lang="en-US" sz="1600" b="0" i="1" dirty="0" smtClean="0">
                                      <a:solidFill>
                                        <a:srgbClr val="000000"/>
                                      </a:solidFill>
                                      <a:latin typeface="Cambria Math" panose="02040503050406030204" pitchFamily="18" charset="0"/>
                                    </a:rPr>
                                    <m:t>𝑜</m:t>
                                  </m:r>
                                </m:sup>
                              </m:sSup>
                            </m:oMath>
                          </a14:m>
                          <a:r>
                            <a:rPr lang="en-US" sz="1600" b="0" dirty="0">
                              <a:solidFill>
                                <a:sysClr val="windowText" lastClr="000000"/>
                              </a:solidFill>
                              <a:latin typeface="Times New Roman" panose="02020603050405020304" pitchFamily="18" charset="0"/>
                              <a:cs typeface="Times New Roman" panose="02020603050405020304" pitchFamily="18" charset="0"/>
                            </a:rPr>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EF0FF"/>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1600" b="0" i="1" dirty="0" smtClean="0">
                                        <a:solidFill>
                                          <a:srgbClr val="000000"/>
                                        </a:solidFill>
                                        <a:latin typeface="Cambria Math" panose="02040503050406030204" pitchFamily="18" charset="0"/>
                                      </a:rPr>
                                    </m:ctrlPr>
                                  </m:sSubPr>
                                  <m:e>
                                    <m:r>
                                      <a:rPr lang="en-US" sz="1600" b="0" i="1" dirty="0" smtClean="0">
                                        <a:solidFill>
                                          <a:srgbClr val="000000"/>
                                        </a:solidFill>
                                        <a:latin typeface="Cambria Math" panose="02040503050406030204" pitchFamily="18" charset="0"/>
                                      </a:rPr>
                                      <m:t>  </m:t>
                                    </m:r>
                                    <m:r>
                                      <a:rPr lang="en-US" sz="1600" b="0" i="1" dirty="0" smtClean="0">
                                        <a:solidFill>
                                          <a:srgbClr val="000000"/>
                                        </a:solidFill>
                                        <a:latin typeface="Cambria Math" panose="02040503050406030204" pitchFamily="18" charset="0"/>
                                      </a:rPr>
                                      <m:t>𝜃</m:t>
                                    </m:r>
                                  </m:e>
                                  <m:sub>
                                    <m:r>
                                      <a:rPr lang="en-US" sz="1600" b="0" i="1" dirty="0" smtClean="0">
                                        <a:solidFill>
                                          <a:srgbClr val="000000"/>
                                        </a:solidFill>
                                        <a:latin typeface="Cambria Math" panose="02040503050406030204" pitchFamily="18" charset="0"/>
                                      </a:rPr>
                                      <m:t>𝑜</m:t>
                                    </m:r>
                                  </m:sub>
                                </m:sSub>
                                <m:r>
                                  <a:rPr lang="en-US" sz="1600" b="0" i="1" dirty="0" smtClean="0">
                                    <a:solidFill>
                                      <a:srgbClr val="000000"/>
                                    </a:solidFill>
                                    <a:latin typeface="Cambria Math" panose="02040503050406030204" pitchFamily="18" charset="0"/>
                                  </a:rPr>
                                  <m:t>=12</m:t>
                                </m:r>
                                <m:sSup>
                                  <m:sSupPr>
                                    <m:ctrlPr>
                                      <a:rPr lang="en-US" sz="1600" b="0" i="1" dirty="0" smtClean="0">
                                        <a:solidFill>
                                          <a:srgbClr val="000000"/>
                                        </a:solidFill>
                                        <a:latin typeface="Cambria Math" panose="02040503050406030204" pitchFamily="18" charset="0"/>
                                      </a:rPr>
                                    </m:ctrlPr>
                                  </m:sSupPr>
                                  <m:e>
                                    <m:r>
                                      <a:rPr lang="en-US" sz="1600" b="0" i="1" dirty="0" smtClean="0">
                                        <a:solidFill>
                                          <a:srgbClr val="000000"/>
                                        </a:solidFill>
                                        <a:latin typeface="Cambria Math" panose="02040503050406030204" pitchFamily="18" charset="0"/>
                                      </a:rPr>
                                      <m:t>0</m:t>
                                    </m:r>
                                  </m:e>
                                  <m:sup>
                                    <m:r>
                                      <a:rPr lang="en-US" sz="1600" b="0" i="1" dirty="0" smtClean="0">
                                        <a:solidFill>
                                          <a:srgbClr val="000000"/>
                                        </a:solidFill>
                                        <a:latin typeface="Cambria Math" panose="020405030504060302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EF0FF"/>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1600" b="0" i="1" dirty="0" smtClean="0">
                                        <a:solidFill>
                                          <a:srgbClr val="000000"/>
                                        </a:solidFill>
                                        <a:latin typeface="Cambria Math" panose="02040503050406030204" pitchFamily="18" charset="0"/>
                                      </a:rPr>
                                    </m:ctrlPr>
                                  </m:sSubPr>
                                  <m:e>
                                    <m:r>
                                      <a:rPr lang="en-US" sz="1600" b="0" i="1" dirty="0" smtClean="0">
                                        <a:solidFill>
                                          <a:srgbClr val="000000"/>
                                        </a:solidFill>
                                        <a:latin typeface="Cambria Math" panose="02040503050406030204" pitchFamily="18" charset="0"/>
                                      </a:rPr>
                                      <m:t>𝜃</m:t>
                                    </m:r>
                                  </m:e>
                                  <m:sub>
                                    <m:r>
                                      <a:rPr lang="en-US" sz="1600" b="0" i="1" dirty="0" smtClean="0">
                                        <a:solidFill>
                                          <a:srgbClr val="000000"/>
                                        </a:solidFill>
                                        <a:latin typeface="Cambria Math" panose="02040503050406030204" pitchFamily="18" charset="0"/>
                                      </a:rPr>
                                      <m:t>𝑜</m:t>
                                    </m:r>
                                  </m:sub>
                                </m:sSub>
                                <m:r>
                                  <a:rPr lang="en-US" sz="1600" b="0" i="1" dirty="0" smtClean="0">
                                    <a:solidFill>
                                      <a:srgbClr val="000000"/>
                                    </a:solidFill>
                                    <a:latin typeface="Cambria Math" panose="02040503050406030204" pitchFamily="18" charset="0"/>
                                  </a:rPr>
                                  <m:t>=−12</m:t>
                                </m:r>
                                <m:sSup>
                                  <m:sSupPr>
                                    <m:ctrlPr>
                                      <a:rPr lang="en-US" sz="1600" b="0" i="1" dirty="0" smtClean="0">
                                        <a:solidFill>
                                          <a:srgbClr val="000000"/>
                                        </a:solidFill>
                                        <a:latin typeface="Cambria Math" panose="02040503050406030204" pitchFamily="18" charset="0"/>
                                      </a:rPr>
                                    </m:ctrlPr>
                                  </m:sSupPr>
                                  <m:e>
                                    <m:r>
                                      <a:rPr lang="en-US" sz="1600" b="0" i="1" dirty="0" smtClean="0">
                                        <a:solidFill>
                                          <a:srgbClr val="000000"/>
                                        </a:solidFill>
                                        <a:latin typeface="Cambria Math" panose="02040503050406030204" pitchFamily="18" charset="0"/>
                                      </a:rPr>
                                      <m:t>0</m:t>
                                    </m:r>
                                  </m:e>
                                  <m:sup>
                                    <m:r>
                                      <a:rPr lang="en-US" sz="1600" b="0" i="1" dirty="0" smtClean="0">
                                        <a:solidFill>
                                          <a:srgbClr val="000000"/>
                                        </a:solidFill>
                                        <a:latin typeface="Cambria Math" panose="020405030504060302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EF0FF"/>
                        </a:solidFill>
                      </a:tcPr>
                    </a:tc>
                    <a:extLst>
                      <a:ext uri="{0D108BD9-81ED-4DB2-BD59-A6C34878D82A}">
                        <a16:rowId xmlns:a16="http://schemas.microsoft.com/office/drawing/2014/main" val="2642162602"/>
                      </a:ext>
                    </a:extLst>
                  </a:tr>
                  <a:tr h="670516">
                    <a:tc>
                      <a:txBody>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𝑠</m:t>
                                    </m:r>
                                  </m:sub>
                                </m:sSub>
                                <m:r>
                                  <a:rPr lang="en-US" sz="1600" b="0" i="1" smtClean="0">
                                    <a:solidFill>
                                      <a:sysClr val="windowText" lastClr="000000"/>
                                    </a:solidFill>
                                    <a:latin typeface="Cambria Math" panose="02040503050406030204" pitchFamily="18" charset="0"/>
                                    <a:cs typeface="Times New Roman" panose="02020603050405020304" pitchFamily="18" charset="0"/>
                                  </a:rPr>
                                  <m:t>−4</m:t>
                                </m:r>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𝑜</m:t>
                                    </m:r>
                                  </m:sub>
                                </m:sSub>
                              </m:oMath>
                            </m:oMathPara>
                          </a14:m>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64944422"/>
                      </a:ext>
                    </a:extLst>
                  </a:tr>
                  <a:tr h="670516">
                    <a:tc>
                      <a:txBody>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𝑠</m:t>
                                    </m:r>
                                  </m:sub>
                                </m:sSub>
                                <m:r>
                                  <a:rPr lang="en-US" sz="1600" b="0" i="1" smtClean="0">
                                    <a:solidFill>
                                      <a:sysClr val="windowText" lastClr="000000"/>
                                    </a:solidFill>
                                    <a:latin typeface="Cambria Math" panose="02040503050406030204" pitchFamily="18" charset="0"/>
                                    <a:cs typeface="Times New Roman" panose="02020603050405020304" pitchFamily="18" charset="0"/>
                                  </a:rPr>
                                  <m:t>−2</m:t>
                                </m:r>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𝑜</m:t>
                                    </m:r>
                                  </m:sub>
                                </m:sSub>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EF0FF"/>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EF0FF"/>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EF0FF"/>
                        </a:solidFill>
                      </a:tcPr>
                    </a:tc>
                    <a:extLst>
                      <a:ext uri="{0D108BD9-81ED-4DB2-BD59-A6C34878D82A}">
                        <a16:rowId xmlns:a16="http://schemas.microsoft.com/office/drawing/2014/main" val="1985815762"/>
                      </a:ext>
                    </a:extLst>
                  </a:tr>
                  <a:tr h="670516">
                    <a:tc>
                      <a:txBody>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𝑠</m:t>
                                    </m:r>
                                  </m:sub>
                                </m:sSub>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368239430"/>
                      </a:ext>
                    </a:extLst>
                  </a:tr>
                  <a:tr h="670516">
                    <a:tc>
                      <a:txBody>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𝑠</m:t>
                                    </m:r>
                                  </m:sub>
                                </m:sSub>
                                <m:r>
                                  <a:rPr lang="en-US" sz="1600" b="0" i="1" smtClean="0">
                                    <a:solidFill>
                                      <a:sysClr val="windowText" lastClr="000000"/>
                                    </a:solidFill>
                                    <a:latin typeface="Cambria Math" panose="02040503050406030204" pitchFamily="18" charset="0"/>
                                    <a:cs typeface="Times New Roman" panose="02020603050405020304" pitchFamily="18" charset="0"/>
                                  </a:rPr>
                                  <m:t>+2</m:t>
                                </m:r>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𝑜</m:t>
                                    </m:r>
                                  </m:sub>
                                </m:sSub>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998749998"/>
                      </a:ext>
                    </a:extLst>
                  </a:tr>
                  <a:tr h="670516">
                    <a:tc>
                      <a:txBody>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𝑠</m:t>
                                    </m:r>
                                  </m:sub>
                                </m:sSub>
                                <m:r>
                                  <a:rPr lang="en-US" sz="1600" b="0" i="1" smtClean="0">
                                    <a:solidFill>
                                      <a:sysClr val="windowText" lastClr="000000"/>
                                    </a:solidFill>
                                    <a:latin typeface="Cambria Math" panose="02040503050406030204" pitchFamily="18" charset="0"/>
                                    <a:cs typeface="Times New Roman" panose="02020603050405020304" pitchFamily="18" charset="0"/>
                                  </a:rPr>
                                  <m:t>+4</m:t>
                                </m:r>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𝑜</m:t>
                                    </m:r>
                                  </m:sub>
                                </m:sSub>
                              </m:oMath>
                            </m:oMathPara>
                          </a14:m>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173717316"/>
                      </a:ext>
                    </a:extLst>
                  </a:tr>
                </a:tbl>
              </a:graphicData>
            </a:graphic>
          </p:graphicFrame>
        </mc:Choice>
        <mc:Fallback xmlns="">
          <p:graphicFrame>
            <p:nvGraphicFramePr>
              <p:cNvPr id="19" name="Table 18">
                <a:extLst>
                  <a:ext uri="{FF2B5EF4-FFF2-40B4-BE49-F238E27FC236}">
                    <a16:creationId xmlns:a16="http://schemas.microsoft.com/office/drawing/2014/main" id="{B28E5191-62E9-4016-845B-8CEB358D7D8D}"/>
                  </a:ext>
                </a:extLst>
              </p:cNvPr>
              <p:cNvGraphicFramePr>
                <a:graphicFrameLocks noGrp="1"/>
              </p:cNvGraphicFramePr>
              <p:nvPr>
                <p:extLst>
                  <p:ext uri="{D42A27DB-BD31-4B8C-83A1-F6EECF244321}">
                    <p14:modId xmlns:p14="http://schemas.microsoft.com/office/powerpoint/2010/main" val="933418715"/>
                  </p:ext>
                </p:extLst>
              </p:nvPr>
            </p:nvGraphicFramePr>
            <p:xfrm>
              <a:off x="600114" y="1139869"/>
              <a:ext cx="5853438" cy="4693612"/>
            </p:xfrm>
            <a:graphic>
              <a:graphicData uri="http://schemas.openxmlformats.org/drawingml/2006/table">
                <a:tbl>
                  <a:tblPr firstRow="1" bandRow="1">
                    <a:tableStyleId>{5C22544A-7EE6-4342-B048-85BDC9FD1C3A}</a:tableStyleId>
                  </a:tblPr>
                  <a:tblGrid>
                    <a:gridCol w="1457991">
                      <a:extLst>
                        <a:ext uri="{9D8B030D-6E8A-4147-A177-3AD203B41FA5}">
                          <a16:colId xmlns:a16="http://schemas.microsoft.com/office/drawing/2014/main" val="2433690308"/>
                        </a:ext>
                      </a:extLst>
                    </a:gridCol>
                    <a:gridCol w="1465149">
                      <a:extLst>
                        <a:ext uri="{9D8B030D-6E8A-4147-A177-3AD203B41FA5}">
                          <a16:colId xmlns:a16="http://schemas.microsoft.com/office/drawing/2014/main" val="2883717235"/>
                        </a:ext>
                      </a:extLst>
                    </a:gridCol>
                    <a:gridCol w="1465149">
                      <a:extLst>
                        <a:ext uri="{9D8B030D-6E8A-4147-A177-3AD203B41FA5}">
                          <a16:colId xmlns:a16="http://schemas.microsoft.com/office/drawing/2014/main" val="372870230"/>
                        </a:ext>
                      </a:extLst>
                    </a:gridCol>
                    <a:gridCol w="1465149">
                      <a:extLst>
                        <a:ext uri="{9D8B030D-6E8A-4147-A177-3AD203B41FA5}">
                          <a16:colId xmlns:a16="http://schemas.microsoft.com/office/drawing/2014/main" val="1663911851"/>
                        </a:ext>
                      </a:extLst>
                    </a:gridCol>
                  </a:tblGrid>
                  <a:tr h="670516">
                    <a:tc>
                      <a:txBody>
                        <a:bodyPr/>
                        <a:lstStyle/>
                        <a:p>
                          <a:r>
                            <a:rPr lang="en-US" sz="1600" b="1" dirty="0" smtClean="0">
                              <a:solidFill>
                                <a:sysClr val="windowText" lastClr="000000"/>
                              </a:solidFill>
                              <a:latin typeface="Times New Roman" panose="02020603050405020304" pitchFamily="18" charset="0"/>
                              <a:cs typeface="Times New Roman" panose="02020603050405020304" pitchFamily="18" charset="0"/>
                            </a:rPr>
                            <a:t>Frequency/ Phase</a:t>
                          </a:r>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600" b="1" dirty="0" smtClean="0">
                              <a:solidFill>
                                <a:sysClr val="windowText" lastClr="000000"/>
                              </a:solidFill>
                              <a:latin typeface="Times New Roman" panose="02020603050405020304" pitchFamily="18" charset="0"/>
                              <a:cs typeface="Times New Roman" panose="02020603050405020304" pitchFamily="18" charset="0"/>
                            </a:rPr>
                            <a:t>A</a:t>
                          </a:r>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11" rtl="0" eaLnBrk="1" fontAlgn="auto" latinLnBrk="0" hangingPunct="1">
                            <a:lnSpc>
                              <a:spcPct val="100000"/>
                            </a:lnSpc>
                            <a:spcBef>
                              <a:spcPts val="0"/>
                            </a:spcBef>
                            <a:spcAft>
                              <a:spcPts val="0"/>
                            </a:spcAft>
                            <a:buClrTx/>
                            <a:buSzTx/>
                            <a:buFontTx/>
                            <a:buNone/>
                            <a:tabLst/>
                            <a:defRPr/>
                          </a:pPr>
                          <a:r>
                            <a:rPr lang="en-US" sz="1600" b="1" dirty="0" smtClean="0">
                              <a:solidFill>
                                <a:sysClr val="windowText" lastClr="000000"/>
                              </a:solidFill>
                              <a:latin typeface="Times New Roman" panose="02020603050405020304" pitchFamily="18" charset="0"/>
                              <a:cs typeface="Times New Roman" panose="02020603050405020304" pitchFamily="18" charset="0"/>
                            </a:rPr>
                            <a:t>B</a:t>
                          </a:r>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11" rtl="0" eaLnBrk="1" fontAlgn="auto" latinLnBrk="0" hangingPunct="1">
                            <a:lnSpc>
                              <a:spcPct val="100000"/>
                            </a:lnSpc>
                            <a:spcBef>
                              <a:spcPts val="0"/>
                            </a:spcBef>
                            <a:spcAft>
                              <a:spcPts val="0"/>
                            </a:spcAft>
                            <a:buClrTx/>
                            <a:buSzTx/>
                            <a:buFontTx/>
                            <a:buNone/>
                            <a:tabLst/>
                            <a:defRPr/>
                          </a:pPr>
                          <a:r>
                            <a:rPr lang="en-US" sz="1600" b="1" dirty="0" smtClean="0">
                              <a:solidFill>
                                <a:sysClr val="windowText" lastClr="000000"/>
                              </a:solidFill>
                              <a:latin typeface="Times New Roman" panose="02020603050405020304" pitchFamily="18" charset="0"/>
                              <a:cs typeface="Times New Roman" panose="02020603050405020304" pitchFamily="18" charset="0"/>
                            </a:rPr>
                            <a:t>C</a:t>
                          </a:r>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10480755"/>
                      </a:ext>
                    </a:extLst>
                  </a:tr>
                  <a:tr h="670516">
                    <a:tc>
                      <a:txBody>
                        <a:bodyPr/>
                        <a:lstStyle/>
                        <a:p>
                          <a:endParaRPr lang="sv-SE"/>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18" t="-100909" r="-302929" b="-503636"/>
                          </a:stretch>
                        </a:blipFill>
                      </a:tcPr>
                    </a:tc>
                    <a:tc>
                      <a:txBody>
                        <a:bodyPr/>
                        <a:lstStyle/>
                        <a:p>
                          <a:endParaRPr lang="sv-SE"/>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99585" t="-100909" r="-200415" b="-503636"/>
                          </a:stretch>
                        </a:blipFill>
                      </a:tcPr>
                    </a:tc>
                    <a:tc>
                      <a:txBody>
                        <a:bodyPr/>
                        <a:lstStyle/>
                        <a:p>
                          <a:endParaRPr lang="sv-SE"/>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200417" t="-100909" r="-101250" b="-503636"/>
                          </a:stretch>
                        </a:blipFill>
                      </a:tcPr>
                    </a:tc>
                    <a:tc>
                      <a:txBody>
                        <a:bodyPr/>
                        <a:lstStyle/>
                        <a:p>
                          <a:endParaRPr lang="sv-SE"/>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299170" t="-100909" r="-830" b="-503636"/>
                          </a:stretch>
                        </a:blipFill>
                      </a:tcPr>
                    </a:tc>
                    <a:extLst>
                      <a:ext uri="{0D108BD9-81ED-4DB2-BD59-A6C34878D82A}">
                        <a16:rowId xmlns:a16="http://schemas.microsoft.com/office/drawing/2014/main" val="2642162602"/>
                      </a:ext>
                    </a:extLst>
                  </a:tr>
                  <a:tr h="670516">
                    <a:tc>
                      <a:txBody>
                        <a:bodyPr/>
                        <a:lstStyle/>
                        <a:p>
                          <a:endParaRPr lang="sv-SE"/>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18" t="-200909" r="-302929" b="-403636"/>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99585" t="-200909" r="-200415" b="-403636"/>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200417" t="-200909" r="-101250" b="-403636"/>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299170" t="-200909" r="-830" b="-403636"/>
                          </a:stretch>
                        </a:blipFill>
                      </a:tcPr>
                    </a:tc>
                    <a:extLst>
                      <a:ext uri="{0D108BD9-81ED-4DB2-BD59-A6C34878D82A}">
                        <a16:rowId xmlns:a16="http://schemas.microsoft.com/office/drawing/2014/main" val="764944422"/>
                      </a:ext>
                    </a:extLst>
                  </a:tr>
                  <a:tr h="670516">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18" t="-298198" r="-302929" b="-300000"/>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99585" t="-298198" r="-200415" b="-300000"/>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0417" t="-298198" r="-101250" b="-300000"/>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99170" t="-298198" r="-830" b="-300000"/>
                          </a:stretch>
                        </a:blipFill>
                      </a:tcPr>
                    </a:tc>
                    <a:extLst>
                      <a:ext uri="{0D108BD9-81ED-4DB2-BD59-A6C34878D82A}">
                        <a16:rowId xmlns:a16="http://schemas.microsoft.com/office/drawing/2014/main" val="1985815762"/>
                      </a:ext>
                    </a:extLst>
                  </a:tr>
                  <a:tr h="670516">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18" t="-401818" r="-302929" b="-20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99585" t="-401818" r="-200415" b="-20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0417" t="-401818" r="-101250" b="-20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99170" t="-401818" r="-830" b="-202727"/>
                          </a:stretch>
                        </a:blipFill>
                      </a:tcPr>
                    </a:tc>
                    <a:extLst>
                      <a:ext uri="{0D108BD9-81ED-4DB2-BD59-A6C34878D82A}">
                        <a16:rowId xmlns:a16="http://schemas.microsoft.com/office/drawing/2014/main" val="368239430"/>
                      </a:ext>
                    </a:extLst>
                  </a:tr>
                  <a:tr h="670516">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18" t="-501818" r="-302929" b="-10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99585" t="-501818" r="-200415" b="-10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0417" t="-501818" r="-101250" b="-10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99170" t="-501818" r="-830" b="-102727"/>
                          </a:stretch>
                        </a:blipFill>
                      </a:tcPr>
                    </a:tc>
                    <a:extLst>
                      <a:ext uri="{0D108BD9-81ED-4DB2-BD59-A6C34878D82A}">
                        <a16:rowId xmlns:a16="http://schemas.microsoft.com/office/drawing/2014/main" val="1998749998"/>
                      </a:ext>
                    </a:extLst>
                  </a:tr>
                  <a:tr h="670516">
                    <a:tc>
                      <a:txBody>
                        <a:bodyPr/>
                        <a:lstStyle/>
                        <a:p>
                          <a:endParaRPr lang="sv-SE"/>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18" t="-601818" r="-302929" b="-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99585" t="-601818" r="-200415" b="-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0417" t="-601818" r="-101250" b="-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99170" t="-601818" r="-830" b="-2727"/>
                          </a:stretch>
                        </a:blipFill>
                      </a:tcPr>
                    </a:tc>
                    <a:extLst>
                      <a:ext uri="{0D108BD9-81ED-4DB2-BD59-A6C34878D82A}">
                        <a16:rowId xmlns:a16="http://schemas.microsoft.com/office/drawing/2014/main" val="173717316"/>
                      </a:ext>
                    </a:extLst>
                  </a:tr>
                </a:tbl>
              </a:graphicData>
            </a:graphic>
          </p:graphicFrame>
        </mc:Fallback>
      </mc:AlternateContent>
      <p:pic>
        <p:nvPicPr>
          <p:cNvPr id="20" name="Picture 19">
            <a:extLst>
              <a:ext uri="{FF2B5EF4-FFF2-40B4-BE49-F238E27FC236}">
                <a16:creationId xmlns:a16="http://schemas.microsoft.com/office/drawing/2014/main" id="{B71E5CBA-F4F8-4BC4-9901-B9622145F520}"/>
              </a:ext>
            </a:extLst>
          </p:cNvPr>
          <p:cNvPicPr>
            <a:picLocks noChangeAspect="1"/>
          </p:cNvPicPr>
          <p:nvPr/>
        </p:nvPicPr>
        <p:blipFill>
          <a:blip r:embed="rId3"/>
          <a:stretch>
            <a:fillRect/>
          </a:stretch>
        </p:blipFill>
        <p:spPr>
          <a:xfrm>
            <a:off x="6866675" y="2278535"/>
            <a:ext cx="4018685" cy="3014014"/>
          </a:xfrm>
          <a:prstGeom prst="rect">
            <a:avLst/>
          </a:prstGeom>
        </p:spPr>
      </p:pic>
    </p:spTree>
    <p:extLst>
      <p:ext uri="{BB962C8B-B14F-4D97-AF65-F5344CB8AC3E}">
        <p14:creationId xmlns:p14="http://schemas.microsoft.com/office/powerpoint/2010/main" val="2712302616"/>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6625" y="282832"/>
            <a:ext cx="10990263" cy="568412"/>
          </a:xfrm>
        </p:spPr>
        <p:txBody>
          <a:bodyPr/>
          <a:lstStyle/>
          <a:p>
            <a:r>
              <a:rPr lang="en-US" dirty="0" smtClean="0"/>
              <a:t>The Induced Superimposed Voltage </a:t>
            </a:r>
            <a:endParaRPr lang="sv-SE" dirty="0"/>
          </a:p>
        </p:txBody>
      </p:sp>
      <mc:AlternateContent xmlns:mc="http://schemas.openxmlformats.org/markup-compatibility/2006" xmlns:a14="http://schemas.microsoft.com/office/drawing/2010/main">
        <mc:Choice Requires="a14">
          <p:sp>
            <p:nvSpPr>
              <p:cNvPr id="4" name="TextBox 3"/>
              <p:cNvSpPr txBox="1"/>
              <p:nvPr/>
            </p:nvSpPr>
            <p:spPr>
              <a:xfrm>
                <a:off x="2914650" y="1250950"/>
                <a:ext cx="4987519" cy="55399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𝐻</m:t>
                          </m:r>
                        </m:sub>
                      </m:sSub>
                      <m:r>
                        <a:rPr lang="en-US" b="0" i="1" smtClean="0">
                          <a:latin typeface="Cambria Math" panose="02040503050406030204" pitchFamily="18" charset="0"/>
                        </a:rPr>
                        <m:t>=</m:t>
                      </m:r>
                      <m:r>
                        <a:rPr lang="en-US" b="0" i="1" smtClean="0">
                          <a:latin typeface="Cambria Math" panose="02040503050406030204" pitchFamily="18" charset="0"/>
                        </a:rPr>
                        <m:t>𝑗</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𝜔</m:t>
                          </m:r>
                        </m:e>
                        <m:sub>
                          <m:r>
                            <a:rPr lang="en-US" b="0" i="1" smtClean="0">
                              <a:latin typeface="Cambria Math" panose="02040503050406030204" pitchFamily="18" charset="0"/>
                            </a:rPr>
                            <m:t>𝑠𝑤</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𝐴𝐻</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𝐴</m:t>
                          </m:r>
                        </m:sub>
                      </m:sSub>
                      <m:r>
                        <a:rPr lang="en-US" b="0" i="1" smtClean="0">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𝜔</m:t>
                          </m:r>
                        </m:e>
                        <m:sub>
                          <m:r>
                            <a:rPr lang="en-US" i="1">
                              <a:latin typeface="Cambria Math" panose="02040503050406030204" pitchFamily="18" charset="0"/>
                            </a:rPr>
                            <m:t>𝑠𝑤</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b="0" i="1" smtClean="0">
                              <a:latin typeface="Cambria Math" panose="02040503050406030204" pitchFamily="18" charset="0"/>
                            </a:rPr>
                            <m:t>𝐵</m:t>
                          </m:r>
                          <m:r>
                            <a:rPr lang="en-US" i="1">
                              <a:latin typeface="Cambria Math" panose="02040503050406030204" pitchFamily="18" charset="0"/>
                            </a:rPr>
                            <m:t>𝐻</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b="0" i="1" smtClean="0">
                              <a:latin typeface="Cambria Math" panose="02040503050406030204" pitchFamily="18" charset="0"/>
                            </a:rPr>
                            <m:t>𝐵</m:t>
                          </m:r>
                        </m:sub>
                      </m:sSub>
                      <m:r>
                        <a:rPr lang="en-US" b="0" i="0" smtClean="0">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𝜔</m:t>
                          </m:r>
                        </m:e>
                        <m:sub>
                          <m:r>
                            <a:rPr lang="en-US" i="1">
                              <a:latin typeface="Cambria Math" panose="02040503050406030204" pitchFamily="18" charset="0"/>
                            </a:rPr>
                            <m:t>𝑠𝑤</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b="0" i="1" smtClean="0">
                              <a:latin typeface="Cambria Math" panose="02040503050406030204" pitchFamily="18" charset="0"/>
                            </a:rPr>
                            <m:t>𝐶</m:t>
                          </m:r>
                          <m:r>
                            <a:rPr lang="en-US" i="1">
                              <a:latin typeface="Cambria Math" panose="02040503050406030204" pitchFamily="18" charset="0"/>
                            </a:rPr>
                            <m:t>𝐻</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b="0" i="1" smtClean="0">
                              <a:latin typeface="Cambria Math" panose="02040503050406030204" pitchFamily="18" charset="0"/>
                            </a:rPr>
                            <m:t>𝐶</m:t>
                          </m:r>
                        </m:sub>
                      </m:sSub>
                    </m:oMath>
                  </m:oMathPara>
                </a14:m>
                <a:endParaRPr lang="en-US" dirty="0" smtClean="0"/>
              </a:p>
              <a:p>
                <a:r>
                  <a:rPr lang="en-US" dirty="0" smtClean="0"/>
                  <a:t>       =</a:t>
                </a:r>
                <a14:m>
                  <m:oMath xmlns:m="http://schemas.openxmlformats.org/officeDocument/2006/math">
                    <m:r>
                      <a:rPr lang="en-US" i="1">
                        <a:latin typeface="Cambria Math" panose="02040503050406030204" pitchFamily="18" charset="0"/>
                      </a:rPr>
                      <m:t>𝑗</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𝜔</m:t>
                        </m:r>
                      </m:e>
                      <m:sub>
                        <m:r>
                          <a:rPr lang="en-US" i="1">
                            <a:latin typeface="Cambria Math" panose="02040503050406030204" pitchFamily="18" charset="0"/>
                          </a:rPr>
                          <m:t>𝑠𝑤</m:t>
                        </m:r>
                      </m:sub>
                    </m:sSub>
                    <m:r>
                      <m:rPr>
                        <m:sty m:val="p"/>
                      </m:rPr>
                      <a:rPr lang="en-US" b="0" i="0" smtClean="0">
                        <a:latin typeface="Cambria Math" panose="02040503050406030204" pitchFamily="18" charset="0"/>
                      </a:rPr>
                      <m:t>M</m:t>
                    </m:r>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I</m:t>
                        </m:r>
                      </m:e>
                      <m:sub>
                        <m:r>
                          <m:rPr>
                            <m:sty m:val="p"/>
                          </m:rPr>
                          <a:rPr lang="en-US" b="0" i="0" smtClean="0">
                            <a:latin typeface="Cambria Math" panose="02040503050406030204" pitchFamily="18" charset="0"/>
                          </a:rPr>
                          <m:t>A</m:t>
                        </m:r>
                      </m:sub>
                    </m:sSub>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I</m:t>
                        </m:r>
                      </m:e>
                      <m:sub>
                        <m:r>
                          <m:rPr>
                            <m:sty m:val="p"/>
                          </m:rPr>
                          <a:rPr lang="en-US" b="0" i="0" smtClean="0">
                            <a:latin typeface="Cambria Math" panose="02040503050406030204" pitchFamily="18" charset="0"/>
                          </a:rPr>
                          <m:t>B</m:t>
                        </m:r>
                      </m:sub>
                    </m:sSub>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I</m:t>
                        </m:r>
                      </m:e>
                      <m:sub>
                        <m:r>
                          <m:rPr>
                            <m:sty m:val="p"/>
                          </m:rPr>
                          <a:rPr lang="en-US" b="0" i="0" smtClean="0">
                            <a:latin typeface="Cambria Math" panose="02040503050406030204" pitchFamily="18" charset="0"/>
                          </a:rPr>
                          <m:t>C</m:t>
                        </m:r>
                      </m:sub>
                    </m:sSub>
                    <m:r>
                      <a:rPr lang="en-US" b="0" i="0" smtClean="0">
                        <a:latin typeface="Cambria Math" panose="02040503050406030204" pitchFamily="18" charset="0"/>
                      </a:rPr>
                      <m:t>)</m:t>
                    </m:r>
                  </m:oMath>
                </a14:m>
                <a:endParaRPr lang="en-US" b="0" dirty="0" smtClean="0"/>
              </a:p>
            </p:txBody>
          </p:sp>
        </mc:Choice>
        <mc:Fallback xmlns="">
          <p:sp>
            <p:nvSpPr>
              <p:cNvPr id="4" name="TextBox 3"/>
              <p:cNvSpPr txBox="1">
                <a:spLocks noRot="1" noChangeAspect="1" noMove="1" noResize="1" noEditPoints="1" noAdjustHandles="1" noChangeArrowheads="1" noChangeShapeType="1" noTextEdit="1"/>
              </p:cNvSpPr>
              <p:nvPr/>
            </p:nvSpPr>
            <p:spPr>
              <a:xfrm>
                <a:off x="2914650" y="1250950"/>
                <a:ext cx="4987519" cy="553998"/>
              </a:xfrm>
              <a:prstGeom prst="rect">
                <a:avLst/>
              </a:prstGeom>
              <a:blipFill>
                <a:blip r:embed="rId2"/>
                <a:stretch>
                  <a:fillRect b="-25275"/>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6" name="Rectangle 5"/>
              <p:cNvSpPr/>
              <p:nvPr/>
            </p:nvSpPr>
            <p:spPr>
              <a:xfrm>
                <a:off x="1940774" y="1922144"/>
                <a:ext cx="101406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en-US">
                              <a:latin typeface="Cambria Math" panose="02040503050406030204" pitchFamily="18" charset="0"/>
                            </a:rPr>
                            <m:t>I</m:t>
                          </m:r>
                        </m:e>
                        <m:sub>
                          <m:r>
                            <m:rPr>
                              <m:sty m:val="p"/>
                            </m:rPr>
                            <a:rPr lang="en-US">
                              <a:latin typeface="Cambria Math" panose="02040503050406030204" pitchFamily="18" charset="0"/>
                            </a:rPr>
                            <m:t>A</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𝐵</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𝐶</m:t>
                          </m:r>
                        </m:sub>
                      </m:sSub>
                    </m:oMath>
                  </m:oMathPara>
                </a14:m>
                <a:endParaRPr lang="sv-SE" dirty="0"/>
              </a:p>
            </p:txBody>
          </p:sp>
        </mc:Choice>
        <mc:Fallback xmlns="">
          <p:sp>
            <p:nvSpPr>
              <p:cNvPr id="6" name="Rectangle 5"/>
              <p:cNvSpPr>
                <a:spLocks noRot="1" noChangeAspect="1" noMove="1" noResize="1" noEditPoints="1" noAdjustHandles="1" noChangeArrowheads="1" noChangeShapeType="1" noTextEdit="1"/>
              </p:cNvSpPr>
              <p:nvPr/>
            </p:nvSpPr>
            <p:spPr>
              <a:xfrm>
                <a:off x="1940774" y="1922144"/>
                <a:ext cx="1014060" cy="369332"/>
              </a:xfrm>
              <a:prstGeom prst="rect">
                <a:avLst/>
              </a:prstGeom>
              <a:blipFill>
                <a:blip r:embed="rId3"/>
                <a:stretch>
                  <a:fillRect b="-1639"/>
                </a:stretch>
              </a:blipFill>
            </p:spPr>
            <p:txBody>
              <a:bodyPr/>
              <a:lstStyle/>
              <a:p>
                <a:r>
                  <a:rPr lang="sv-SE">
                    <a:noFill/>
                  </a:rPr>
                  <a:t> </a:t>
                </a:r>
              </a:p>
            </p:txBody>
          </p:sp>
        </mc:Fallback>
      </mc:AlternateContent>
      <p:cxnSp>
        <p:nvCxnSpPr>
          <p:cNvPr id="8" name="Straight Arrow Connector 7"/>
          <p:cNvCxnSpPr/>
          <p:nvPr/>
        </p:nvCxnSpPr>
        <p:spPr>
          <a:xfrm flipV="1">
            <a:off x="3140818" y="2100460"/>
            <a:ext cx="1244600" cy="127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p:cNvSpPr txBox="1"/>
              <p:nvPr/>
            </p:nvSpPr>
            <p:spPr>
              <a:xfrm>
                <a:off x="4571402" y="1892114"/>
                <a:ext cx="5300416" cy="369332"/>
              </a:xfrm>
              <a:prstGeom prst="rect">
                <a:avLst/>
              </a:prstGeom>
              <a:noFill/>
            </p:spPr>
            <p:txBody>
              <a:bodyPr wrap="square" rtlCol="0">
                <a:spAutoFit/>
              </a:bodyPr>
              <a:lstStyle/>
              <a:p>
                <a:r>
                  <a:rPr lang="en-US" dirty="0" smtClean="0"/>
                  <a:t>Related switching functions, </a:t>
                </a:r>
                <a14:m>
                  <m:oMath xmlns:m="http://schemas.openxmlformats.org/officeDocument/2006/math">
                    <m:sSub>
                      <m:sSubPr>
                        <m:ctrlPr>
                          <a:rPr lang="en-US" i="1">
                            <a:latin typeface="Cambria Math" panose="02040503050406030204" pitchFamily="18" charset="0"/>
                          </a:rPr>
                        </m:ctrlPr>
                      </m:sSubPr>
                      <m:e>
                        <m:r>
                          <m:rPr>
                            <m:sty m:val="p"/>
                          </m:rPr>
                          <a:rPr lang="en-US" b="0" i="0" smtClean="0">
                            <a:latin typeface="Cambria Math" panose="02040503050406030204" pitchFamily="18" charset="0"/>
                          </a:rPr>
                          <m:t>S</m:t>
                        </m:r>
                      </m:e>
                      <m:sub>
                        <m:r>
                          <m:rPr>
                            <m:sty m:val="p"/>
                          </m:rPr>
                          <a:rPr lang="en-US">
                            <a:latin typeface="Cambria Math" panose="02040503050406030204" pitchFamily="18" charset="0"/>
                          </a:rPr>
                          <m:t>A</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b="0" i="1" smtClean="0">
                            <a:latin typeface="Cambria Math" panose="02040503050406030204" pitchFamily="18" charset="0"/>
                          </a:rPr>
                          <m:t>𝑆</m:t>
                        </m:r>
                      </m:e>
                      <m:sub>
                        <m:r>
                          <a:rPr lang="en-US" i="1">
                            <a:latin typeface="Cambria Math" panose="02040503050406030204" pitchFamily="18" charset="0"/>
                          </a:rPr>
                          <m:t>𝐵</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b="0" i="1" smtClean="0">
                            <a:latin typeface="Cambria Math" panose="02040503050406030204" pitchFamily="18" charset="0"/>
                          </a:rPr>
                          <m:t>𝑆</m:t>
                        </m:r>
                      </m:e>
                      <m:sub>
                        <m:r>
                          <a:rPr lang="en-US" i="1">
                            <a:latin typeface="Cambria Math" panose="02040503050406030204" pitchFamily="18" charset="0"/>
                          </a:rPr>
                          <m:t>𝐶</m:t>
                        </m:r>
                      </m:sub>
                    </m:sSub>
                  </m:oMath>
                </a14:m>
                <a:r>
                  <a:rPr lang="en-US" dirty="0" smtClean="0"/>
                  <a:t> </a:t>
                </a:r>
                <a:endParaRPr lang="sv-SE" dirty="0"/>
              </a:p>
            </p:txBody>
          </p:sp>
        </mc:Choice>
        <mc:Fallback xmlns="">
          <p:sp>
            <p:nvSpPr>
              <p:cNvPr id="9" name="TextBox 8"/>
              <p:cNvSpPr txBox="1">
                <a:spLocks noRot="1" noChangeAspect="1" noMove="1" noResize="1" noEditPoints="1" noAdjustHandles="1" noChangeArrowheads="1" noChangeShapeType="1" noTextEdit="1"/>
              </p:cNvSpPr>
              <p:nvPr/>
            </p:nvSpPr>
            <p:spPr>
              <a:xfrm>
                <a:off x="4571402" y="1892114"/>
                <a:ext cx="5300416" cy="369332"/>
              </a:xfrm>
              <a:prstGeom prst="rect">
                <a:avLst/>
              </a:prstGeom>
              <a:blipFill>
                <a:blip r:embed="rId4"/>
                <a:stretch>
                  <a:fillRect l="-1036" t="-8197" b="-24590"/>
                </a:stretch>
              </a:blipFill>
            </p:spPr>
            <p:txBody>
              <a:bodyPr/>
              <a:lstStyle/>
              <a:p>
                <a:r>
                  <a:rPr lang="sv-SE">
                    <a:noFill/>
                  </a:rPr>
                  <a:t> </a:t>
                </a:r>
              </a:p>
            </p:txBody>
          </p:sp>
        </mc:Fallback>
      </mc:AlternateContent>
      <p:grpSp>
        <p:nvGrpSpPr>
          <p:cNvPr id="10" name="Group 9">
            <a:extLst>
              <a:ext uri="{FF2B5EF4-FFF2-40B4-BE49-F238E27FC236}">
                <a16:creationId xmlns:a16="http://schemas.microsoft.com/office/drawing/2014/main" id="{01029E6E-C7E3-487B-8AD6-0E31205192FB}"/>
              </a:ext>
            </a:extLst>
          </p:cNvPr>
          <p:cNvGrpSpPr/>
          <p:nvPr/>
        </p:nvGrpSpPr>
        <p:grpSpPr>
          <a:xfrm>
            <a:off x="392177" y="3915975"/>
            <a:ext cx="2748641" cy="2032430"/>
            <a:chOff x="1150962" y="1507183"/>
            <a:chExt cx="2748641" cy="2032430"/>
          </a:xfrm>
        </p:grpSpPr>
        <p:cxnSp>
          <p:nvCxnSpPr>
            <p:cNvPr id="11" name="Straight Arrow Connector 10">
              <a:extLst>
                <a:ext uri="{FF2B5EF4-FFF2-40B4-BE49-F238E27FC236}">
                  <a16:creationId xmlns:a16="http://schemas.microsoft.com/office/drawing/2014/main" id="{5E7FDC9F-ED62-4622-8211-716BE7C32D6C}"/>
                </a:ext>
              </a:extLst>
            </p:cNvPr>
            <p:cNvCxnSpPr>
              <a:cxnSpLocks/>
            </p:cNvCxnSpPr>
            <p:nvPr/>
          </p:nvCxnSpPr>
          <p:spPr>
            <a:xfrm>
              <a:off x="1156196" y="3539612"/>
              <a:ext cx="1200647" cy="0"/>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EA7D5B58-A447-4209-84AE-18FF6900FEF0}"/>
                </a:ext>
              </a:extLst>
            </p:cNvPr>
            <p:cNvCxnSpPr>
              <a:cxnSpLocks/>
            </p:cNvCxnSpPr>
            <p:nvPr/>
          </p:nvCxnSpPr>
          <p:spPr>
            <a:xfrm flipV="1">
              <a:off x="2356843" y="2513991"/>
              <a:ext cx="1305355" cy="1025622"/>
            </a:xfrm>
            <a:prstGeom prst="straightConnector1">
              <a:avLst/>
            </a:prstGeom>
            <a:ln w="25400">
              <a:solidFill>
                <a:srgbClr val="0127E5"/>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84F3113-1355-468D-9858-1FD859EEBAC8}"/>
                </a:ext>
              </a:extLst>
            </p:cNvPr>
            <p:cNvCxnSpPr>
              <a:cxnSpLocks/>
            </p:cNvCxnSpPr>
            <p:nvPr/>
          </p:nvCxnSpPr>
          <p:spPr>
            <a:xfrm flipV="1">
              <a:off x="3667433" y="1507183"/>
              <a:ext cx="232170" cy="1006809"/>
            </a:xfrm>
            <a:prstGeom prst="straightConnector1">
              <a:avLst/>
            </a:prstGeom>
            <a:ln w="25400">
              <a:solidFill>
                <a:srgbClr val="FE34F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E7D52C5-305A-4A46-9FAA-826598901875}"/>
                </a:ext>
              </a:extLst>
            </p:cNvPr>
            <p:cNvCxnSpPr>
              <a:cxnSpLocks/>
            </p:cNvCxnSpPr>
            <p:nvPr/>
          </p:nvCxnSpPr>
          <p:spPr>
            <a:xfrm flipV="1">
              <a:off x="1150962" y="1507183"/>
              <a:ext cx="2748641" cy="2032429"/>
            </a:xfrm>
            <a:prstGeom prst="straightConnector1">
              <a:avLst/>
            </a:prstGeom>
            <a:ln w="25400">
              <a:solidFill>
                <a:schemeClr val="tx1"/>
              </a:solidFill>
              <a:prstDash val="dash"/>
              <a:tailEnd type="non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1296AFC2-51B8-41DD-9989-A174C5BC0A5D}"/>
                  </a:ext>
                </a:extLst>
              </p:cNvPr>
              <p:cNvSpPr txBox="1"/>
              <p:nvPr/>
            </p:nvSpPr>
            <p:spPr>
              <a:xfrm rot="19268304">
                <a:off x="913905" y="4487094"/>
                <a:ext cx="1634481" cy="35291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sSub>
                            <m:sSubPr>
                              <m:ctrlPr>
                                <a:rPr lang="en-US" b="0" i="1" dirty="0" smtClean="0">
                                  <a:latin typeface="Cambria Math" panose="02040503050406030204" pitchFamily="18" charset="0"/>
                                </a:rPr>
                              </m:ctrlPr>
                            </m:sSubPr>
                            <m:e>
                              <m:acc>
                                <m:accPr>
                                  <m:chr m:val="̂"/>
                                  <m:ctrlPr>
                                    <a:rPr lang="en-US" i="1" dirty="0" smtClean="0">
                                      <a:latin typeface="Cambria Math" panose="02040503050406030204" pitchFamily="18" charset="0"/>
                                    </a:rPr>
                                  </m:ctrlPr>
                                </m:accPr>
                                <m:e>
                                  <m:r>
                                    <a:rPr lang="en-US" b="0" i="1" dirty="0" smtClean="0">
                                      <a:latin typeface="Cambria Math" panose="02040503050406030204" pitchFamily="18" charset="0"/>
                                    </a:rPr>
                                    <m:t>𝑆</m:t>
                                  </m:r>
                                </m:e>
                              </m:acc>
                            </m:e>
                            <m:sub>
                              <m:r>
                                <a:rPr lang="en-US" b="0" i="1" dirty="0" smtClean="0">
                                  <a:latin typeface="Cambria Math" panose="02040503050406030204" pitchFamily="18" charset="0"/>
                                </a:rPr>
                                <m:t>𝐴𝐵𝐶</m:t>
                              </m:r>
                            </m:sub>
                          </m:sSub>
                        </m:e>
                        <m:sub>
                          <m:r>
                            <a:rPr lang="en-US" b="0" i="1" dirty="0" smtClean="0">
                              <a:latin typeface="Cambria Math" panose="02040503050406030204" pitchFamily="18" charset="0"/>
                            </a:rPr>
                            <m:t>𝑓𝑠</m:t>
                          </m:r>
                          <m:r>
                            <a:rPr lang="en-US" b="0" i="1" dirty="0" smtClean="0">
                              <a:latin typeface="Cambria Math" panose="02040503050406030204" pitchFamily="18" charset="0"/>
                            </a:rPr>
                            <m:t>  </m:t>
                          </m:r>
                        </m:sub>
                      </m:sSub>
                    </m:oMath>
                  </m:oMathPara>
                </a14:m>
                <a:endParaRPr lang="en-US" dirty="0"/>
              </a:p>
            </p:txBody>
          </p:sp>
        </mc:Choice>
        <mc:Fallback xmlns="">
          <p:sp>
            <p:nvSpPr>
              <p:cNvPr id="15" name="TextBox 14">
                <a:extLst>
                  <a:ext uri="{FF2B5EF4-FFF2-40B4-BE49-F238E27FC236}">
                    <a16:creationId xmlns:a16="http://schemas.microsoft.com/office/drawing/2014/main" id="{1296AFC2-51B8-41DD-9989-A174C5BC0A5D}"/>
                  </a:ext>
                </a:extLst>
              </p:cNvPr>
              <p:cNvSpPr txBox="1">
                <a:spLocks noRot="1" noChangeAspect="1" noMove="1" noResize="1" noEditPoints="1" noAdjustHandles="1" noChangeArrowheads="1" noChangeShapeType="1" noTextEdit="1"/>
              </p:cNvSpPr>
              <p:nvPr/>
            </p:nvSpPr>
            <p:spPr>
              <a:xfrm rot="19268304">
                <a:off x="913905" y="4487094"/>
                <a:ext cx="1634481" cy="352917"/>
              </a:xfrm>
              <a:prstGeom prst="rect">
                <a:avLst/>
              </a:prstGeom>
              <a:blipFill>
                <a:blip r:embed="rId5"/>
                <a:stretch>
                  <a:fillRect/>
                </a:stretch>
              </a:blipFill>
            </p:spPr>
            <p:txBody>
              <a:bodyPr/>
              <a:lstStyle/>
              <a:p>
                <a:r>
                  <a:rPr lang="sv-SE">
                    <a:noFill/>
                  </a:rPr>
                  <a:t> </a:t>
                </a:r>
              </a:p>
            </p:txBody>
          </p:sp>
        </mc:Fallback>
      </mc:AlternateContent>
      <p:pic>
        <p:nvPicPr>
          <p:cNvPr id="16" name="Picture 15">
            <a:extLst>
              <a:ext uri="{FF2B5EF4-FFF2-40B4-BE49-F238E27FC236}">
                <a16:creationId xmlns:a16="http://schemas.microsoft.com/office/drawing/2014/main" id="{D7624960-C59E-468A-98A2-273B33FD7DC6}"/>
              </a:ext>
            </a:extLst>
          </p:cNvPr>
          <p:cNvPicPr>
            <a:picLocks noChangeAspect="1"/>
          </p:cNvPicPr>
          <p:nvPr/>
        </p:nvPicPr>
        <p:blipFill>
          <a:blip r:embed="rId6"/>
          <a:stretch>
            <a:fillRect/>
          </a:stretch>
        </p:blipFill>
        <p:spPr>
          <a:xfrm>
            <a:off x="6848169" y="3695657"/>
            <a:ext cx="3810000" cy="2857500"/>
          </a:xfrm>
          <a:prstGeom prst="rect">
            <a:avLst/>
          </a:prstGeom>
        </p:spPr>
      </p:pic>
      <p:pic>
        <p:nvPicPr>
          <p:cNvPr id="17" name="Picture 16">
            <a:extLst>
              <a:ext uri="{FF2B5EF4-FFF2-40B4-BE49-F238E27FC236}">
                <a16:creationId xmlns:a16="http://schemas.microsoft.com/office/drawing/2014/main" id="{B80AFBB4-EF16-4ED3-8947-4270FC70B7D1}"/>
              </a:ext>
            </a:extLst>
          </p:cNvPr>
          <p:cNvPicPr>
            <a:picLocks noChangeAspect="1"/>
          </p:cNvPicPr>
          <p:nvPr/>
        </p:nvPicPr>
        <p:blipFill>
          <a:blip r:embed="rId7"/>
          <a:stretch>
            <a:fillRect/>
          </a:stretch>
        </p:blipFill>
        <p:spPr>
          <a:xfrm>
            <a:off x="3618272" y="3695657"/>
            <a:ext cx="3810000" cy="2857500"/>
          </a:xfrm>
          <a:prstGeom prst="rect">
            <a:avLst/>
          </a:prstGeom>
        </p:spPr>
      </p:pic>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C97F114A-8C94-43CD-AFCA-03D895174D14}"/>
                  </a:ext>
                </a:extLst>
              </p:cNvPr>
              <p:cNvSpPr txBox="1"/>
              <p:nvPr/>
            </p:nvSpPr>
            <p:spPr>
              <a:xfrm>
                <a:off x="259921" y="5527618"/>
                <a:ext cx="1634481"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𝜙</m:t>
                      </m:r>
                    </m:oMath>
                  </m:oMathPara>
                </a14:m>
                <a:endParaRPr lang="en-US" dirty="0"/>
              </a:p>
            </p:txBody>
          </p:sp>
        </mc:Choice>
        <mc:Fallback xmlns="">
          <p:sp>
            <p:nvSpPr>
              <p:cNvPr id="18" name="TextBox 17">
                <a:extLst>
                  <a:ext uri="{FF2B5EF4-FFF2-40B4-BE49-F238E27FC236}">
                    <a16:creationId xmlns:a16="http://schemas.microsoft.com/office/drawing/2014/main" id="{C97F114A-8C94-43CD-AFCA-03D895174D14}"/>
                  </a:ext>
                </a:extLst>
              </p:cNvPr>
              <p:cNvSpPr txBox="1">
                <a:spLocks noRot="1" noChangeAspect="1" noMove="1" noResize="1" noEditPoints="1" noAdjustHandles="1" noChangeArrowheads="1" noChangeShapeType="1" noTextEdit="1"/>
              </p:cNvSpPr>
              <p:nvPr/>
            </p:nvSpPr>
            <p:spPr>
              <a:xfrm>
                <a:off x="259921" y="5527618"/>
                <a:ext cx="1634481" cy="276999"/>
              </a:xfrm>
              <a:prstGeom prst="rect">
                <a:avLst/>
              </a:prstGeom>
              <a:blipFill>
                <a:blip r:embed="rId8"/>
                <a:stretch>
                  <a:fillRect b="-35556"/>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4D4604F-582D-485F-8325-CA07721CA4C3}"/>
                  </a:ext>
                </a:extLst>
              </p:cNvPr>
              <p:cNvSpPr txBox="1"/>
              <p:nvPr/>
            </p:nvSpPr>
            <p:spPr>
              <a:xfrm rot="19308726">
                <a:off x="1237594" y="5097011"/>
                <a:ext cx="1634481" cy="35291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sSub>
                            <m:sSubPr>
                              <m:ctrlPr>
                                <a:rPr lang="en-US" b="0" i="1" dirty="0" smtClean="0">
                                  <a:latin typeface="Cambria Math" panose="02040503050406030204" pitchFamily="18" charset="0"/>
                                </a:rPr>
                              </m:ctrlPr>
                            </m:sSubPr>
                            <m:e>
                              <m:acc>
                                <m:accPr>
                                  <m:chr m:val="̂"/>
                                  <m:ctrlPr>
                                    <a:rPr lang="en-US" i="1" dirty="0" smtClean="0">
                                      <a:latin typeface="Cambria Math" panose="02040503050406030204" pitchFamily="18" charset="0"/>
                                    </a:rPr>
                                  </m:ctrlPr>
                                </m:accPr>
                                <m:e>
                                  <m:r>
                                    <a:rPr lang="en-US" b="0" i="1" dirty="0" smtClean="0">
                                      <a:latin typeface="Cambria Math" panose="02040503050406030204" pitchFamily="18" charset="0"/>
                                    </a:rPr>
                                    <m:t>𝑆</m:t>
                                  </m:r>
                                </m:e>
                              </m:acc>
                            </m:e>
                            <m:sub>
                              <m:r>
                                <a:rPr lang="en-US" b="0" i="1" dirty="0" smtClean="0">
                                  <a:latin typeface="Cambria Math" panose="02040503050406030204" pitchFamily="18" charset="0"/>
                                </a:rPr>
                                <m:t>𝐵</m:t>
                              </m:r>
                            </m:sub>
                          </m:sSub>
                        </m:e>
                        <m:sub>
                          <m:r>
                            <a:rPr lang="en-US" b="0" i="1" dirty="0" smtClean="0">
                              <a:latin typeface="Cambria Math" panose="02040503050406030204" pitchFamily="18" charset="0"/>
                            </a:rPr>
                            <m:t>𝑓𝑠</m:t>
                          </m:r>
                          <m:r>
                            <a:rPr lang="en-US" b="0" i="1" dirty="0" smtClean="0">
                              <a:latin typeface="Cambria Math" panose="02040503050406030204" pitchFamily="18" charset="0"/>
                            </a:rPr>
                            <m:t>  </m:t>
                          </m:r>
                        </m:sub>
                      </m:sSub>
                    </m:oMath>
                  </m:oMathPara>
                </a14:m>
                <a:endParaRPr lang="en-US" dirty="0"/>
              </a:p>
            </p:txBody>
          </p:sp>
        </mc:Choice>
        <mc:Fallback xmlns="">
          <p:sp>
            <p:nvSpPr>
              <p:cNvPr id="19" name="TextBox 18">
                <a:extLst>
                  <a:ext uri="{FF2B5EF4-FFF2-40B4-BE49-F238E27FC236}">
                    <a16:creationId xmlns:a16="http://schemas.microsoft.com/office/drawing/2014/main" id="{44D4604F-582D-485F-8325-CA07721CA4C3}"/>
                  </a:ext>
                </a:extLst>
              </p:cNvPr>
              <p:cNvSpPr txBox="1">
                <a:spLocks noRot="1" noChangeAspect="1" noMove="1" noResize="1" noEditPoints="1" noAdjustHandles="1" noChangeArrowheads="1" noChangeShapeType="1" noTextEdit="1"/>
              </p:cNvSpPr>
              <p:nvPr/>
            </p:nvSpPr>
            <p:spPr>
              <a:xfrm rot="19308726">
                <a:off x="1237594" y="5097011"/>
                <a:ext cx="1634481" cy="352917"/>
              </a:xfrm>
              <a:prstGeom prst="rect">
                <a:avLst/>
              </a:prstGeom>
              <a:blipFill>
                <a:blip r:embed="rId9"/>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95222623-F0E3-41DE-AF4E-A5895BEE42AF}"/>
                  </a:ext>
                </a:extLst>
              </p:cNvPr>
              <p:cNvSpPr txBox="1"/>
              <p:nvPr/>
            </p:nvSpPr>
            <p:spPr>
              <a:xfrm rot="16904928">
                <a:off x="1924448" y="4361102"/>
                <a:ext cx="1634481" cy="35291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b="0" i="1" dirty="0" smtClean="0">
                                      <a:latin typeface="Cambria Math" panose="02040503050406030204" pitchFamily="18" charset="0"/>
                                    </a:rPr>
                                    <m:t>𝑆</m:t>
                                  </m:r>
                                </m:e>
                              </m:acc>
                            </m:e>
                            <m:sub>
                              <m:r>
                                <a:rPr lang="en-US" b="0" i="1" dirty="0" smtClean="0">
                                  <a:latin typeface="Cambria Math" panose="02040503050406030204" pitchFamily="18" charset="0"/>
                                </a:rPr>
                                <m:t>𝐶</m:t>
                              </m:r>
                            </m:sub>
                          </m:sSub>
                        </m:e>
                        <m:sub>
                          <m:r>
                            <a:rPr lang="en-US" b="0" i="1" dirty="0" smtClean="0">
                              <a:latin typeface="Cambria Math" panose="02040503050406030204" pitchFamily="18" charset="0"/>
                            </a:rPr>
                            <m:t>𝑓𝑠</m:t>
                          </m:r>
                          <m:r>
                            <a:rPr lang="en-US" b="0" i="1" dirty="0" smtClean="0">
                              <a:latin typeface="Cambria Math" panose="02040503050406030204" pitchFamily="18" charset="0"/>
                            </a:rPr>
                            <m:t>  </m:t>
                          </m:r>
                        </m:sub>
                      </m:sSub>
                    </m:oMath>
                  </m:oMathPara>
                </a14:m>
                <a:endParaRPr lang="en-US" dirty="0"/>
              </a:p>
            </p:txBody>
          </p:sp>
        </mc:Choice>
        <mc:Fallback xmlns="">
          <p:sp>
            <p:nvSpPr>
              <p:cNvPr id="20" name="TextBox 19">
                <a:extLst>
                  <a:ext uri="{FF2B5EF4-FFF2-40B4-BE49-F238E27FC236}">
                    <a16:creationId xmlns:a16="http://schemas.microsoft.com/office/drawing/2014/main" id="{95222623-F0E3-41DE-AF4E-A5895BEE42AF}"/>
                  </a:ext>
                </a:extLst>
              </p:cNvPr>
              <p:cNvSpPr txBox="1">
                <a:spLocks noRot="1" noChangeAspect="1" noMove="1" noResize="1" noEditPoints="1" noAdjustHandles="1" noChangeArrowheads="1" noChangeShapeType="1" noTextEdit="1"/>
              </p:cNvSpPr>
              <p:nvPr/>
            </p:nvSpPr>
            <p:spPr>
              <a:xfrm rot="16904928">
                <a:off x="1924448" y="4361102"/>
                <a:ext cx="1634481" cy="352917"/>
              </a:xfrm>
              <a:prstGeom prst="rect">
                <a:avLst/>
              </a:prstGeom>
              <a:blipFill>
                <a:blip r:embed="rId10"/>
                <a:stretch>
                  <a:fillRect/>
                </a:stretch>
              </a:blipFill>
            </p:spPr>
            <p:txBody>
              <a:bodyPr/>
              <a:lstStyle/>
              <a:p>
                <a:r>
                  <a:rPr lang="sv-SE">
                    <a:noFill/>
                  </a:rPr>
                  <a:t> </a:t>
                </a:r>
              </a:p>
            </p:txBody>
          </p:sp>
        </mc:Fallback>
      </mc:AlternateContent>
      <p:sp>
        <p:nvSpPr>
          <p:cNvPr id="21" name="Arc 20">
            <a:extLst>
              <a:ext uri="{FF2B5EF4-FFF2-40B4-BE49-F238E27FC236}">
                <a16:creationId xmlns:a16="http://schemas.microsoft.com/office/drawing/2014/main" id="{FA92E3CA-3E32-4859-9FFF-4A87F77B4ACF}"/>
              </a:ext>
            </a:extLst>
          </p:cNvPr>
          <p:cNvSpPr/>
          <p:nvPr/>
        </p:nvSpPr>
        <p:spPr>
          <a:xfrm rot="2814214">
            <a:off x="478962" y="5595657"/>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47AAFE0E-C8DF-4837-8AFF-CD67EA186199}"/>
                  </a:ext>
                </a:extLst>
              </p:cNvPr>
              <p:cNvSpPr txBox="1"/>
              <p:nvPr/>
            </p:nvSpPr>
            <p:spPr>
              <a:xfrm>
                <a:off x="259921" y="6008084"/>
                <a:ext cx="1634481" cy="35291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sSub>
                            <m:sSubPr>
                              <m:ctrlPr>
                                <a:rPr lang="en-US" b="0" i="1" dirty="0" smtClean="0">
                                  <a:latin typeface="Cambria Math" panose="02040503050406030204" pitchFamily="18" charset="0"/>
                                </a:rPr>
                              </m:ctrlPr>
                            </m:sSubPr>
                            <m:e>
                              <m:acc>
                                <m:accPr>
                                  <m:chr m:val="̂"/>
                                  <m:ctrlPr>
                                    <a:rPr lang="en-US" i="1" dirty="0" smtClean="0">
                                      <a:latin typeface="Cambria Math" panose="02040503050406030204" pitchFamily="18" charset="0"/>
                                    </a:rPr>
                                  </m:ctrlPr>
                                </m:accPr>
                                <m:e>
                                  <m:r>
                                    <a:rPr lang="en-US" b="0" i="1" dirty="0" smtClean="0">
                                      <a:latin typeface="Cambria Math" panose="02040503050406030204" pitchFamily="18" charset="0"/>
                                    </a:rPr>
                                    <m:t>𝑆</m:t>
                                  </m:r>
                                </m:e>
                              </m:acc>
                            </m:e>
                            <m:sub>
                              <m:r>
                                <a:rPr lang="en-US" b="0" i="1" dirty="0" smtClean="0">
                                  <a:latin typeface="Cambria Math" panose="02040503050406030204" pitchFamily="18" charset="0"/>
                                </a:rPr>
                                <m:t>𝐴</m:t>
                              </m:r>
                            </m:sub>
                          </m:sSub>
                        </m:e>
                        <m:sub>
                          <m:r>
                            <a:rPr lang="en-US" b="0" i="1" dirty="0" smtClean="0">
                              <a:latin typeface="Cambria Math" panose="02040503050406030204" pitchFamily="18" charset="0"/>
                            </a:rPr>
                            <m:t>𝑓𝑠</m:t>
                          </m:r>
                          <m:r>
                            <a:rPr lang="en-US" b="0" i="1" dirty="0" smtClean="0">
                              <a:latin typeface="Cambria Math" panose="02040503050406030204" pitchFamily="18" charset="0"/>
                            </a:rPr>
                            <m:t>  </m:t>
                          </m:r>
                        </m:sub>
                      </m:sSub>
                    </m:oMath>
                  </m:oMathPara>
                </a14:m>
                <a:endParaRPr lang="en-US" dirty="0"/>
              </a:p>
            </p:txBody>
          </p:sp>
        </mc:Choice>
        <mc:Fallback xmlns="">
          <p:sp>
            <p:nvSpPr>
              <p:cNvPr id="22" name="TextBox 21">
                <a:extLst>
                  <a:ext uri="{FF2B5EF4-FFF2-40B4-BE49-F238E27FC236}">
                    <a16:creationId xmlns:a16="http://schemas.microsoft.com/office/drawing/2014/main" id="{47AAFE0E-C8DF-4837-8AFF-CD67EA186199}"/>
                  </a:ext>
                </a:extLst>
              </p:cNvPr>
              <p:cNvSpPr txBox="1">
                <a:spLocks noRot="1" noChangeAspect="1" noMove="1" noResize="1" noEditPoints="1" noAdjustHandles="1" noChangeArrowheads="1" noChangeShapeType="1" noTextEdit="1"/>
              </p:cNvSpPr>
              <p:nvPr/>
            </p:nvSpPr>
            <p:spPr>
              <a:xfrm>
                <a:off x="259921" y="6008084"/>
                <a:ext cx="1634481" cy="352917"/>
              </a:xfrm>
              <a:prstGeom prst="rect">
                <a:avLst/>
              </a:prstGeom>
              <a:blipFill>
                <a:blip r:embed="rId11"/>
                <a:stretch>
                  <a:fillRect t="-21053" b="-24561"/>
                </a:stretch>
              </a:blipFill>
            </p:spPr>
            <p:txBody>
              <a:bodyPr/>
              <a:lstStyle/>
              <a:p>
                <a:r>
                  <a:rPr lang="sv-SE">
                    <a:noFill/>
                  </a:rPr>
                  <a:t> </a:t>
                </a:r>
              </a:p>
            </p:txBody>
          </p:sp>
        </mc:Fallback>
      </mc:AlternateContent>
      <p:cxnSp>
        <p:nvCxnSpPr>
          <p:cNvPr id="23" name="Straight Connector 22">
            <a:extLst>
              <a:ext uri="{FF2B5EF4-FFF2-40B4-BE49-F238E27FC236}">
                <a16:creationId xmlns:a16="http://schemas.microsoft.com/office/drawing/2014/main" id="{D29DAD33-4FD8-4772-AB68-D038FE6B2C99}"/>
              </a:ext>
            </a:extLst>
          </p:cNvPr>
          <p:cNvCxnSpPr/>
          <p:nvPr/>
        </p:nvCxnSpPr>
        <p:spPr>
          <a:xfrm>
            <a:off x="1598058" y="5938571"/>
            <a:ext cx="207750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Arc 23">
            <a:extLst>
              <a:ext uri="{FF2B5EF4-FFF2-40B4-BE49-F238E27FC236}">
                <a16:creationId xmlns:a16="http://schemas.microsoft.com/office/drawing/2014/main" id="{5AFC94D4-D1EA-4233-B178-51DA8E21AF64}"/>
              </a:ext>
            </a:extLst>
          </p:cNvPr>
          <p:cNvSpPr/>
          <p:nvPr/>
        </p:nvSpPr>
        <p:spPr>
          <a:xfrm rot="2814214">
            <a:off x="1662300" y="5637844"/>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6486CC42-1884-404E-B4F7-388843E7DE79}"/>
                  </a:ext>
                </a:extLst>
              </p:cNvPr>
              <p:cNvSpPr txBox="1"/>
              <p:nvPr/>
            </p:nvSpPr>
            <p:spPr>
              <a:xfrm>
                <a:off x="1447115" y="5590651"/>
                <a:ext cx="1634481"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𝛼</m:t>
                      </m:r>
                    </m:oMath>
                  </m:oMathPara>
                </a14:m>
                <a:endParaRPr lang="en-US" dirty="0"/>
              </a:p>
            </p:txBody>
          </p:sp>
        </mc:Choice>
        <mc:Fallback xmlns="">
          <p:sp>
            <p:nvSpPr>
              <p:cNvPr id="25" name="TextBox 24">
                <a:extLst>
                  <a:ext uri="{FF2B5EF4-FFF2-40B4-BE49-F238E27FC236}">
                    <a16:creationId xmlns:a16="http://schemas.microsoft.com/office/drawing/2014/main" id="{6486CC42-1884-404E-B4F7-388843E7DE79}"/>
                  </a:ext>
                </a:extLst>
              </p:cNvPr>
              <p:cNvSpPr txBox="1">
                <a:spLocks noRot="1" noChangeAspect="1" noMove="1" noResize="1" noEditPoints="1" noAdjustHandles="1" noChangeArrowheads="1" noChangeShapeType="1" noTextEdit="1"/>
              </p:cNvSpPr>
              <p:nvPr/>
            </p:nvSpPr>
            <p:spPr>
              <a:xfrm>
                <a:off x="1447115" y="5590651"/>
                <a:ext cx="1634481" cy="276999"/>
              </a:xfrm>
              <a:prstGeom prst="rect">
                <a:avLst/>
              </a:prstGeom>
              <a:blipFill>
                <a:blip r:embed="rId12"/>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5EAD758F-3034-46CA-9062-883C2E53F1AE}"/>
                  </a:ext>
                </a:extLst>
              </p:cNvPr>
              <p:cNvSpPr txBox="1"/>
              <p:nvPr/>
            </p:nvSpPr>
            <p:spPr>
              <a:xfrm>
                <a:off x="2498458" y="4209887"/>
                <a:ext cx="1634481"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𝛽</m:t>
                      </m:r>
                    </m:oMath>
                  </m:oMathPara>
                </a14:m>
                <a:endParaRPr lang="en-US" dirty="0"/>
              </a:p>
            </p:txBody>
          </p:sp>
        </mc:Choice>
        <mc:Fallback xmlns="">
          <p:sp>
            <p:nvSpPr>
              <p:cNvPr id="26" name="TextBox 25">
                <a:extLst>
                  <a:ext uri="{FF2B5EF4-FFF2-40B4-BE49-F238E27FC236}">
                    <a16:creationId xmlns:a16="http://schemas.microsoft.com/office/drawing/2014/main" id="{5EAD758F-3034-46CA-9062-883C2E53F1AE}"/>
                  </a:ext>
                </a:extLst>
              </p:cNvPr>
              <p:cNvSpPr txBox="1">
                <a:spLocks noRot="1" noChangeAspect="1" noMove="1" noResize="1" noEditPoints="1" noAdjustHandles="1" noChangeArrowheads="1" noChangeShapeType="1" noTextEdit="1"/>
              </p:cNvSpPr>
              <p:nvPr/>
            </p:nvSpPr>
            <p:spPr>
              <a:xfrm>
                <a:off x="2498458" y="4209887"/>
                <a:ext cx="1634481" cy="276999"/>
              </a:xfrm>
              <a:prstGeom prst="rect">
                <a:avLst/>
              </a:prstGeom>
              <a:blipFill>
                <a:blip r:embed="rId13"/>
                <a:stretch>
                  <a:fillRect t="-2222" b="-37778"/>
                </a:stretch>
              </a:blipFill>
            </p:spPr>
            <p:txBody>
              <a:bodyPr/>
              <a:lstStyle/>
              <a:p>
                <a:r>
                  <a:rPr lang="sv-SE">
                    <a:noFill/>
                  </a:rPr>
                  <a:t> </a:t>
                </a:r>
              </a:p>
            </p:txBody>
          </p:sp>
        </mc:Fallback>
      </mc:AlternateContent>
      <p:cxnSp>
        <p:nvCxnSpPr>
          <p:cNvPr id="27" name="Straight Connector 26">
            <a:extLst>
              <a:ext uri="{FF2B5EF4-FFF2-40B4-BE49-F238E27FC236}">
                <a16:creationId xmlns:a16="http://schemas.microsoft.com/office/drawing/2014/main" id="{F1CA4872-C19A-43D2-B100-9706E2A6D49A}"/>
              </a:ext>
            </a:extLst>
          </p:cNvPr>
          <p:cNvCxnSpPr>
            <a:cxnSpLocks/>
          </p:cNvCxnSpPr>
          <p:nvPr/>
        </p:nvCxnSpPr>
        <p:spPr>
          <a:xfrm flipV="1">
            <a:off x="2903413" y="4158934"/>
            <a:ext cx="909802" cy="76384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Arc 27">
            <a:extLst>
              <a:ext uri="{FF2B5EF4-FFF2-40B4-BE49-F238E27FC236}">
                <a16:creationId xmlns:a16="http://schemas.microsoft.com/office/drawing/2014/main" id="{B5022622-41C3-4375-B0CE-A8D251DA5836}"/>
              </a:ext>
            </a:extLst>
          </p:cNvPr>
          <p:cNvSpPr/>
          <p:nvPr/>
        </p:nvSpPr>
        <p:spPr>
          <a:xfrm rot="1387721">
            <a:off x="2889688" y="4506620"/>
            <a:ext cx="541320" cy="245805"/>
          </a:xfrm>
          <a:prstGeom prst="arc">
            <a:avLst>
              <a:gd name="adj1" fmla="val 12427162"/>
              <a:gd name="adj2" fmla="val 1877785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FA50857D-DD7D-439E-850E-887C3C50152E}"/>
                  </a:ext>
                </a:extLst>
              </p:cNvPr>
              <p:cNvSpPr txBox="1"/>
              <p:nvPr/>
            </p:nvSpPr>
            <p:spPr>
              <a:xfrm>
                <a:off x="9683021" y="3006460"/>
                <a:ext cx="1950296"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𝛼</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𝜙</m:t>
                          </m:r>
                        </m:e>
                        <m:sub>
                          <m:r>
                            <a:rPr lang="en-US" b="0" i="1" dirty="0" smtClean="0">
                              <a:latin typeface="Cambria Math" panose="02040503050406030204" pitchFamily="18" charset="0"/>
                            </a:rPr>
                            <m:t>𝐶</m:t>
                          </m:r>
                          <m:r>
                            <a:rPr lang="en-US" b="0" i="1" dirty="0" smtClean="0">
                              <a:latin typeface="Cambria Math" panose="02040503050406030204" pitchFamily="18" charset="0"/>
                            </a:rPr>
                            <m:t>−</m:t>
                          </m:r>
                          <m:r>
                            <a:rPr lang="en-US" b="0" i="1" dirty="0" smtClean="0">
                              <a:latin typeface="Cambria Math" panose="02040503050406030204" pitchFamily="18" charset="0"/>
                            </a:rPr>
                            <m:t>𝐵</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𝜙</m:t>
                          </m:r>
                        </m:e>
                        <m:sub>
                          <m:r>
                            <a:rPr lang="en-US" b="0" i="1" dirty="0" smtClean="0">
                              <a:latin typeface="Cambria Math" panose="02040503050406030204" pitchFamily="18" charset="0"/>
                            </a:rPr>
                            <m:t>𝐶</m:t>
                          </m:r>
                          <m:r>
                            <a:rPr lang="en-US" b="0" i="1" dirty="0" smtClean="0">
                              <a:latin typeface="Cambria Math" panose="02040503050406030204" pitchFamily="18" charset="0"/>
                            </a:rPr>
                            <m:t>−</m:t>
                          </m:r>
                          <m:r>
                            <a:rPr lang="en-US" b="0" i="1" dirty="0" smtClean="0">
                              <a:latin typeface="Cambria Math" panose="02040503050406030204" pitchFamily="18" charset="0"/>
                            </a:rPr>
                            <m:t>𝐴</m:t>
                          </m:r>
                        </m:sub>
                      </m:sSub>
                    </m:oMath>
                  </m:oMathPara>
                </a14:m>
                <a:endParaRPr lang="en-US" dirty="0"/>
              </a:p>
            </p:txBody>
          </p:sp>
        </mc:Choice>
        <mc:Fallback xmlns="">
          <p:sp>
            <p:nvSpPr>
              <p:cNvPr id="29" name="TextBox 28">
                <a:extLst>
                  <a:ext uri="{FF2B5EF4-FFF2-40B4-BE49-F238E27FC236}">
                    <a16:creationId xmlns:a16="http://schemas.microsoft.com/office/drawing/2014/main" id="{FA50857D-DD7D-439E-850E-887C3C50152E}"/>
                  </a:ext>
                </a:extLst>
              </p:cNvPr>
              <p:cNvSpPr txBox="1">
                <a:spLocks noRot="1" noChangeAspect="1" noMove="1" noResize="1" noEditPoints="1" noAdjustHandles="1" noChangeArrowheads="1" noChangeShapeType="1" noTextEdit="1"/>
              </p:cNvSpPr>
              <p:nvPr/>
            </p:nvSpPr>
            <p:spPr>
              <a:xfrm>
                <a:off x="9683021" y="3006460"/>
                <a:ext cx="1950296" cy="276999"/>
              </a:xfrm>
              <a:prstGeom prst="rect">
                <a:avLst/>
              </a:prstGeom>
              <a:blipFill>
                <a:blip r:embed="rId14"/>
                <a:stretch>
                  <a:fillRect b="-34783"/>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4763A97-98A3-4427-B019-A0B70C22D960}"/>
                  </a:ext>
                </a:extLst>
              </p:cNvPr>
              <p:cNvSpPr txBox="1"/>
              <p:nvPr/>
            </p:nvSpPr>
            <p:spPr>
              <a:xfrm>
                <a:off x="9660594" y="3328811"/>
                <a:ext cx="1950296"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𝛽</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𝜙</m:t>
                          </m:r>
                        </m:e>
                        <m:sub>
                          <m:r>
                            <a:rPr lang="en-US" b="0" i="1" dirty="0" smtClean="0">
                              <a:latin typeface="Cambria Math" panose="02040503050406030204" pitchFamily="18" charset="0"/>
                            </a:rPr>
                            <m:t>𝐶</m:t>
                          </m:r>
                          <m:r>
                            <a:rPr lang="en-US" b="0" i="1" dirty="0" smtClean="0">
                              <a:latin typeface="Cambria Math" panose="02040503050406030204" pitchFamily="18" charset="0"/>
                            </a:rPr>
                            <m:t>−</m:t>
                          </m:r>
                          <m:r>
                            <a:rPr lang="en-US" b="0" i="1" dirty="0" smtClean="0">
                              <a:latin typeface="Cambria Math" panose="02040503050406030204" pitchFamily="18" charset="0"/>
                            </a:rPr>
                            <m:t>𝐶</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𝜙</m:t>
                          </m:r>
                        </m:e>
                        <m:sub>
                          <m:r>
                            <a:rPr lang="en-US" b="0" i="1" dirty="0" smtClean="0">
                              <a:latin typeface="Cambria Math" panose="02040503050406030204" pitchFamily="18" charset="0"/>
                            </a:rPr>
                            <m:t>𝐶</m:t>
                          </m:r>
                          <m:r>
                            <a:rPr lang="en-US" b="0" i="1" dirty="0" smtClean="0">
                              <a:latin typeface="Cambria Math" panose="02040503050406030204" pitchFamily="18" charset="0"/>
                            </a:rPr>
                            <m:t>−</m:t>
                          </m:r>
                          <m:r>
                            <a:rPr lang="en-US" b="0" i="1" dirty="0" smtClean="0">
                              <a:latin typeface="Cambria Math" panose="02040503050406030204" pitchFamily="18" charset="0"/>
                            </a:rPr>
                            <m:t>𝐵</m:t>
                          </m:r>
                        </m:sub>
                      </m:sSub>
                    </m:oMath>
                  </m:oMathPara>
                </a14:m>
                <a:endParaRPr lang="en-US" dirty="0"/>
              </a:p>
            </p:txBody>
          </p:sp>
        </mc:Choice>
        <mc:Fallback xmlns="">
          <p:sp>
            <p:nvSpPr>
              <p:cNvPr id="30" name="TextBox 29">
                <a:extLst>
                  <a:ext uri="{FF2B5EF4-FFF2-40B4-BE49-F238E27FC236}">
                    <a16:creationId xmlns:a16="http://schemas.microsoft.com/office/drawing/2014/main" id="{A4763A97-98A3-4427-B019-A0B70C22D960}"/>
                  </a:ext>
                </a:extLst>
              </p:cNvPr>
              <p:cNvSpPr txBox="1">
                <a:spLocks noRot="1" noChangeAspect="1" noMove="1" noResize="1" noEditPoints="1" noAdjustHandles="1" noChangeArrowheads="1" noChangeShapeType="1" noTextEdit="1"/>
              </p:cNvSpPr>
              <p:nvPr/>
            </p:nvSpPr>
            <p:spPr>
              <a:xfrm>
                <a:off x="9660594" y="3328811"/>
                <a:ext cx="1950296" cy="276999"/>
              </a:xfrm>
              <a:prstGeom prst="rect">
                <a:avLst/>
              </a:prstGeom>
              <a:blipFill>
                <a:blip r:embed="rId15"/>
                <a:stretch>
                  <a:fillRect l="-4375" r="-938" b="-34783"/>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5FBD2FD-8F17-4D5E-BAD8-39F470AC843F}"/>
                  </a:ext>
                </a:extLst>
              </p:cNvPr>
              <p:cNvSpPr txBox="1"/>
              <p:nvPr/>
            </p:nvSpPr>
            <p:spPr>
              <a:xfrm>
                <a:off x="5552769" y="3261770"/>
                <a:ext cx="1216744" cy="327526"/>
              </a:xfrm>
              <a:prstGeom prst="rect">
                <a:avLst/>
              </a:prstGeom>
              <a:noFill/>
            </p:spPr>
            <p:txBody>
              <a:bodyPr wrap="square" rtlCol="0">
                <a:spAutoFit/>
              </a:bodyPr>
              <a:lstStyle/>
              <a:p>
                <a:r>
                  <a:rPr lang="en-US" sz="1200" dirty="0">
                    <a:solidFill>
                      <a:schemeClr val="tx1"/>
                    </a:solidFill>
                    <a:latin typeface="Times New Roman" panose="02020603050405020304" pitchFamily="18" charset="0"/>
                    <a:cs typeface="Times New Roman" panose="02020603050405020304" pitchFamily="18" charset="0"/>
                  </a:rPr>
                  <a:t> </a:t>
                </a:r>
                <a14:m>
                  <m:oMath xmlns:m="http://schemas.openxmlformats.org/officeDocument/2006/math">
                    <m:r>
                      <a:rPr lang="en-US" sz="1200" b="0" i="0" dirty="0" smtClean="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sSub>
                          <m:sSubPr>
                            <m:ctrlPr>
                              <a:rPr lang="en-US" sz="1200" i="1" dirty="0">
                                <a:solidFill>
                                  <a:schemeClr val="tx1"/>
                                </a:solidFill>
                                <a:latin typeface="Cambria Math" panose="02040503050406030204" pitchFamily="18" charset="0"/>
                              </a:rPr>
                            </m:ctrlPr>
                          </m:sSubPr>
                          <m:e>
                            <m:acc>
                              <m:accPr>
                                <m:chr m:val="̂"/>
                                <m:ctrlPr>
                                  <a:rPr lang="en-US" sz="1200" i="1" dirty="0">
                                    <a:solidFill>
                                      <a:schemeClr val="tx1"/>
                                    </a:solidFill>
                                    <a:latin typeface="Cambria Math" panose="02040503050406030204" pitchFamily="18" charset="0"/>
                                  </a:rPr>
                                </m:ctrlPr>
                              </m:accPr>
                              <m:e>
                                <m:r>
                                  <a:rPr lang="en-US" sz="1200" i="1" dirty="0">
                                    <a:solidFill>
                                      <a:schemeClr val="tx1"/>
                                    </a:solidFill>
                                    <a:latin typeface="Cambria Math" panose="02040503050406030204" pitchFamily="18" charset="0"/>
                                  </a:rPr>
                                  <m:t>𝑆</m:t>
                                </m:r>
                              </m:e>
                            </m:acc>
                          </m:e>
                          <m:sub>
                            <m:r>
                              <a:rPr lang="en-US" sz="1200" b="0" i="1" dirty="0" smtClean="0">
                                <a:solidFill>
                                  <a:schemeClr val="tx1"/>
                                </a:solidFill>
                                <a:latin typeface="Cambria Math" panose="02040503050406030204" pitchFamily="18" charset="0"/>
                              </a:rPr>
                              <m:t>𝐵</m:t>
                            </m:r>
                          </m:sub>
                        </m:sSub>
                      </m:e>
                      <m:sub>
                        <m:r>
                          <a:rPr lang="en-US" sz="1200" i="1" dirty="0">
                            <a:solidFill>
                              <a:schemeClr val="tx1"/>
                            </a:solidFill>
                            <a:latin typeface="Cambria Math" panose="02040503050406030204" pitchFamily="18" charset="0"/>
                          </a:rPr>
                          <m:t>𝑓𝑠</m:t>
                        </m:r>
                        <m:r>
                          <a:rPr lang="en-US" sz="1200" i="1" dirty="0">
                            <a:solidFill>
                              <a:schemeClr val="tx1"/>
                            </a:solidFill>
                            <a:latin typeface="Cambria Math" panose="02040503050406030204" pitchFamily="18" charset="0"/>
                          </a:rPr>
                          <m:t>  </m:t>
                        </m:r>
                      </m:sub>
                    </m:sSub>
                  </m:oMath>
                </a14:m>
                <a:r>
                  <a:rPr lang="en-US" sz="1200" dirty="0">
                    <a:solidFill>
                      <a:schemeClr val="tx1"/>
                    </a:solidFill>
                    <a:latin typeface="Times New Roman" panose="02020603050405020304" pitchFamily="18" charset="0"/>
                    <a:cs typeface="Times New Roman" panose="02020603050405020304" pitchFamily="18" charset="0"/>
                  </a:rPr>
                  <a:t>-</a:t>
                </a:r>
                <a14:m>
                  <m:oMath xmlns:m="http://schemas.openxmlformats.org/officeDocument/2006/math">
                    <m:sSub>
                      <m:sSubPr>
                        <m:ctrlPr>
                          <a:rPr lang="en-US" sz="1200" i="1" dirty="0">
                            <a:solidFill>
                              <a:schemeClr val="tx1"/>
                            </a:solidFill>
                            <a:latin typeface="Cambria Math" panose="02040503050406030204" pitchFamily="18" charset="0"/>
                          </a:rPr>
                        </m:ctrlPr>
                      </m:sSubPr>
                      <m:e>
                        <m:sSub>
                          <m:sSubPr>
                            <m:ctrlPr>
                              <a:rPr lang="en-US" sz="1200" i="1" dirty="0">
                                <a:solidFill>
                                  <a:schemeClr val="tx1"/>
                                </a:solidFill>
                                <a:latin typeface="Cambria Math" panose="02040503050406030204" pitchFamily="18" charset="0"/>
                              </a:rPr>
                            </m:ctrlPr>
                          </m:sSubPr>
                          <m:e>
                            <m:acc>
                              <m:accPr>
                                <m:chr m:val="̂"/>
                                <m:ctrlPr>
                                  <a:rPr lang="en-US" sz="1200" i="1" dirty="0">
                                    <a:solidFill>
                                      <a:schemeClr val="tx1"/>
                                    </a:solidFill>
                                    <a:latin typeface="Cambria Math" panose="02040503050406030204" pitchFamily="18" charset="0"/>
                                  </a:rPr>
                                </m:ctrlPr>
                              </m:accPr>
                              <m:e>
                                <m:r>
                                  <a:rPr lang="en-US" sz="1200" i="1" dirty="0">
                                    <a:solidFill>
                                      <a:schemeClr val="tx1"/>
                                    </a:solidFill>
                                    <a:latin typeface="Cambria Math" panose="02040503050406030204" pitchFamily="18" charset="0"/>
                                  </a:rPr>
                                  <m:t>𝑆</m:t>
                                </m:r>
                              </m:e>
                            </m:acc>
                          </m:e>
                          <m:sub>
                            <m:r>
                              <a:rPr lang="en-US" sz="1200" b="0" i="1" dirty="0" smtClean="0">
                                <a:solidFill>
                                  <a:schemeClr val="tx1"/>
                                </a:solidFill>
                                <a:latin typeface="Cambria Math" panose="02040503050406030204" pitchFamily="18" charset="0"/>
                              </a:rPr>
                              <m:t>𝐶</m:t>
                            </m:r>
                          </m:sub>
                        </m:sSub>
                      </m:e>
                      <m:sub>
                        <m:r>
                          <a:rPr lang="en-US" sz="1200" i="1" dirty="0">
                            <a:solidFill>
                              <a:schemeClr val="tx1"/>
                            </a:solidFill>
                            <a:latin typeface="Cambria Math" panose="02040503050406030204" pitchFamily="18" charset="0"/>
                          </a:rPr>
                          <m:t>𝑓𝑠</m:t>
                        </m:r>
                        <m:r>
                          <a:rPr lang="en-US" sz="1200" i="1" dirty="0">
                            <a:solidFill>
                              <a:schemeClr val="tx1"/>
                            </a:solidFill>
                            <a:latin typeface="Cambria Math" panose="02040503050406030204" pitchFamily="18" charset="0"/>
                          </a:rPr>
                          <m:t>  </m:t>
                        </m:r>
                      </m:sub>
                    </m:sSub>
                    <m:r>
                      <a:rPr lang="en-US" sz="1200" b="0" i="1" dirty="0" smtClean="0">
                        <a:solidFill>
                          <a:schemeClr val="tx1"/>
                        </a:solidFill>
                        <a:latin typeface="Cambria Math" panose="02040503050406030204" pitchFamily="18" charset="0"/>
                      </a:rPr>
                      <m:t>|</m:t>
                    </m:r>
                  </m:oMath>
                </a14:m>
                <a:endParaRPr lang="en-US" sz="1200" dirty="0">
                  <a:solidFill>
                    <a:schemeClr val="tx1"/>
                  </a:solidFill>
                </a:endParaRPr>
              </a:p>
            </p:txBody>
          </p:sp>
        </mc:Choice>
        <mc:Fallback xmlns="">
          <p:sp>
            <p:nvSpPr>
              <p:cNvPr id="31" name="TextBox 30">
                <a:extLst>
                  <a:ext uri="{FF2B5EF4-FFF2-40B4-BE49-F238E27FC236}">
                    <a16:creationId xmlns:a16="http://schemas.microsoft.com/office/drawing/2014/main" id="{B5FBD2FD-8F17-4D5E-BAD8-39F470AC843F}"/>
                  </a:ext>
                </a:extLst>
              </p:cNvPr>
              <p:cNvSpPr txBox="1">
                <a:spLocks noRot="1" noChangeAspect="1" noMove="1" noResize="1" noEditPoints="1" noAdjustHandles="1" noChangeArrowheads="1" noChangeShapeType="1" noTextEdit="1"/>
              </p:cNvSpPr>
              <p:nvPr/>
            </p:nvSpPr>
            <p:spPr>
              <a:xfrm>
                <a:off x="5552769" y="3261770"/>
                <a:ext cx="1216744" cy="327526"/>
              </a:xfrm>
              <a:prstGeom prst="rect">
                <a:avLst/>
              </a:prstGeom>
              <a:blipFill>
                <a:blip r:embed="rId16"/>
                <a:stretch>
                  <a:fillRect/>
                </a:stretch>
              </a:blipFill>
            </p:spPr>
            <p:txBody>
              <a:bodyPr/>
              <a:lstStyle/>
              <a:p>
                <a:r>
                  <a:rPr lang="sv-SE">
                    <a:noFill/>
                  </a:rPr>
                  <a:t> </a:t>
                </a:r>
              </a:p>
            </p:txBody>
          </p:sp>
        </mc:Fallback>
      </mc:AlternateContent>
      <p:sp>
        <p:nvSpPr>
          <p:cNvPr id="32" name="TextBox 31">
            <a:extLst>
              <a:ext uri="{FF2B5EF4-FFF2-40B4-BE49-F238E27FC236}">
                <a16:creationId xmlns:a16="http://schemas.microsoft.com/office/drawing/2014/main" id="{B7D58F41-D6FF-4866-8BE7-F8EB535439E9}"/>
              </a:ext>
            </a:extLst>
          </p:cNvPr>
          <p:cNvSpPr txBox="1"/>
          <p:nvPr/>
        </p:nvSpPr>
        <p:spPr>
          <a:xfrm>
            <a:off x="5357859" y="6553157"/>
            <a:ext cx="985816" cy="338554"/>
          </a:xfrm>
          <a:prstGeom prst="rect">
            <a:avLst/>
          </a:prstGeom>
          <a:noFill/>
        </p:spPr>
        <p:txBody>
          <a:bodyPr wrap="square" rtlCol="0">
            <a:spAutoFit/>
          </a:bodyPr>
          <a:lstStyle/>
          <a:p>
            <a:r>
              <a:rPr lang="en-US" sz="1600" dirty="0">
                <a:latin typeface="Times New Roman" panose="02020603050405020304" pitchFamily="18" charset="0"/>
                <a:cs typeface="Times New Roman" panose="02020603050405020304" pitchFamily="18" charset="0"/>
              </a:rPr>
              <a:t>(b)</a:t>
            </a:r>
          </a:p>
        </p:txBody>
      </p:sp>
      <p:sp>
        <p:nvSpPr>
          <p:cNvPr id="33" name="TextBox 32">
            <a:extLst>
              <a:ext uri="{FF2B5EF4-FFF2-40B4-BE49-F238E27FC236}">
                <a16:creationId xmlns:a16="http://schemas.microsoft.com/office/drawing/2014/main" id="{332DDC6B-D970-48D6-B263-19F0911EBBA4}"/>
              </a:ext>
            </a:extLst>
          </p:cNvPr>
          <p:cNvSpPr txBox="1"/>
          <p:nvPr/>
        </p:nvSpPr>
        <p:spPr>
          <a:xfrm>
            <a:off x="8587756" y="6553157"/>
            <a:ext cx="985816" cy="338554"/>
          </a:xfrm>
          <a:prstGeom prst="rect">
            <a:avLst/>
          </a:prstGeom>
          <a:noFill/>
        </p:spPr>
        <p:txBody>
          <a:bodyPr wrap="square" rtlCol="0">
            <a:spAutoFit/>
          </a:bodyPr>
          <a:lstStyle/>
          <a:p>
            <a:r>
              <a:rPr lang="en-US" sz="1600" dirty="0">
                <a:latin typeface="Times New Roman" panose="02020603050405020304" pitchFamily="18" charset="0"/>
                <a:cs typeface="Times New Roman" panose="02020603050405020304" pitchFamily="18" charset="0"/>
              </a:rPr>
              <a:t>(c)</a:t>
            </a:r>
          </a:p>
        </p:txBody>
      </p:sp>
      <p:cxnSp>
        <p:nvCxnSpPr>
          <p:cNvPr id="34" name="Straight Connector 33">
            <a:extLst>
              <a:ext uri="{FF2B5EF4-FFF2-40B4-BE49-F238E27FC236}">
                <a16:creationId xmlns:a16="http://schemas.microsoft.com/office/drawing/2014/main" id="{9817EF20-A17D-4916-BA17-EAEB26517AD9}"/>
              </a:ext>
            </a:extLst>
          </p:cNvPr>
          <p:cNvCxnSpPr>
            <a:cxnSpLocks/>
          </p:cNvCxnSpPr>
          <p:nvPr/>
        </p:nvCxnSpPr>
        <p:spPr>
          <a:xfrm>
            <a:off x="5584078" y="2931199"/>
            <a:ext cx="0" cy="2008364"/>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EC40EFA2-1D81-49A9-9FC8-D019462DDE2E}"/>
              </a:ext>
            </a:extLst>
          </p:cNvPr>
          <p:cNvCxnSpPr>
            <a:cxnSpLocks/>
          </p:cNvCxnSpPr>
          <p:nvPr/>
        </p:nvCxnSpPr>
        <p:spPr>
          <a:xfrm>
            <a:off x="6335317" y="3589296"/>
            <a:ext cx="0" cy="1469515"/>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26E3CFF-02F6-4B50-BCB8-2C9765B2FB1A}"/>
              </a:ext>
            </a:extLst>
          </p:cNvPr>
          <p:cNvCxnSpPr>
            <a:cxnSpLocks/>
          </p:cNvCxnSpPr>
          <p:nvPr/>
        </p:nvCxnSpPr>
        <p:spPr>
          <a:xfrm>
            <a:off x="5631969" y="3609151"/>
            <a:ext cx="641585"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EFB99296-1F71-4956-B484-D3ED2D359A6E}"/>
              </a:ext>
            </a:extLst>
          </p:cNvPr>
          <p:cNvSpPr txBox="1"/>
          <p:nvPr/>
        </p:nvSpPr>
        <p:spPr>
          <a:xfrm>
            <a:off x="1714719" y="6547014"/>
            <a:ext cx="985816" cy="338554"/>
          </a:xfrm>
          <a:prstGeom prst="rect">
            <a:avLst/>
          </a:prstGeom>
          <a:noFill/>
        </p:spPr>
        <p:txBody>
          <a:bodyPr wrap="square" rtlCol="0">
            <a:spAutoFit/>
          </a:bodyPr>
          <a:lstStyle/>
          <a:p>
            <a:r>
              <a:rPr lang="en-US" sz="1600" dirty="0">
                <a:latin typeface="Times New Roman" panose="02020603050405020304" pitchFamily="18" charset="0"/>
                <a:cs typeface="Times New Roman" panose="02020603050405020304" pitchFamily="18" charset="0"/>
              </a:rPr>
              <a:t>(a)</a:t>
            </a:r>
          </a:p>
        </p:txBody>
      </p:sp>
      <p:cxnSp>
        <p:nvCxnSpPr>
          <p:cNvPr id="38" name="Straight Connector 37">
            <a:extLst>
              <a:ext uri="{FF2B5EF4-FFF2-40B4-BE49-F238E27FC236}">
                <a16:creationId xmlns:a16="http://schemas.microsoft.com/office/drawing/2014/main" id="{CB0D510F-D91A-452A-B687-65BDC6EDEE76}"/>
              </a:ext>
            </a:extLst>
          </p:cNvPr>
          <p:cNvCxnSpPr>
            <a:cxnSpLocks/>
          </p:cNvCxnSpPr>
          <p:nvPr/>
        </p:nvCxnSpPr>
        <p:spPr>
          <a:xfrm>
            <a:off x="6690207" y="2931199"/>
            <a:ext cx="0" cy="2067987"/>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E18C0BE8-1A89-45BB-A868-7BF9657E7E2A}"/>
                  </a:ext>
                </a:extLst>
              </p:cNvPr>
              <p:cNvSpPr txBox="1"/>
              <p:nvPr/>
            </p:nvSpPr>
            <p:spPr>
              <a:xfrm>
                <a:off x="5523272" y="2573986"/>
                <a:ext cx="1994216" cy="327526"/>
              </a:xfrm>
              <a:prstGeom prst="rect">
                <a:avLst/>
              </a:prstGeom>
              <a:noFill/>
            </p:spPr>
            <p:txBody>
              <a:bodyPr wrap="square" rtlCol="0">
                <a:spAutoFit/>
              </a:bodyPr>
              <a:lstStyle/>
              <a:p>
                <a:r>
                  <a:rPr lang="en-US" sz="1200" dirty="0">
                    <a:solidFill>
                      <a:schemeClr val="tx1"/>
                    </a:solidFill>
                    <a:latin typeface="Times New Roman" panose="02020603050405020304" pitchFamily="18" charset="0"/>
                    <a:cs typeface="Times New Roman" panose="02020603050405020304" pitchFamily="18" charset="0"/>
                  </a:rPr>
                  <a:t> </a:t>
                </a:r>
                <a14:m>
                  <m:oMath xmlns:m="http://schemas.openxmlformats.org/officeDocument/2006/math">
                    <m:r>
                      <a:rPr lang="en-US" sz="1200" b="0" i="0" dirty="0" smtClean="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sSub>
                          <m:sSubPr>
                            <m:ctrlPr>
                              <a:rPr lang="en-US" sz="1200" i="1" dirty="0">
                                <a:solidFill>
                                  <a:schemeClr val="tx1"/>
                                </a:solidFill>
                                <a:latin typeface="Cambria Math" panose="02040503050406030204" pitchFamily="18" charset="0"/>
                              </a:rPr>
                            </m:ctrlPr>
                          </m:sSubPr>
                          <m:e>
                            <m:acc>
                              <m:accPr>
                                <m:chr m:val="̂"/>
                                <m:ctrlPr>
                                  <a:rPr lang="en-US" sz="1200" i="1" dirty="0">
                                    <a:solidFill>
                                      <a:schemeClr val="tx1"/>
                                    </a:solidFill>
                                    <a:latin typeface="Cambria Math" panose="02040503050406030204" pitchFamily="18" charset="0"/>
                                  </a:rPr>
                                </m:ctrlPr>
                              </m:accPr>
                              <m:e>
                                <m:r>
                                  <a:rPr lang="en-US" sz="1200" i="1" dirty="0">
                                    <a:solidFill>
                                      <a:schemeClr val="tx1"/>
                                    </a:solidFill>
                                    <a:latin typeface="Cambria Math" panose="02040503050406030204" pitchFamily="18" charset="0"/>
                                  </a:rPr>
                                  <m:t>𝑆</m:t>
                                </m:r>
                              </m:e>
                            </m:acc>
                          </m:e>
                          <m:sub>
                            <m:r>
                              <a:rPr lang="en-US" sz="1200" b="0" i="1" dirty="0" smtClean="0">
                                <a:solidFill>
                                  <a:schemeClr val="tx1"/>
                                </a:solidFill>
                                <a:latin typeface="Cambria Math" panose="02040503050406030204" pitchFamily="18" charset="0"/>
                              </a:rPr>
                              <m:t>𝐵</m:t>
                            </m:r>
                          </m:sub>
                        </m:sSub>
                      </m:e>
                      <m:sub>
                        <m:r>
                          <a:rPr lang="en-US" sz="1200" i="1" dirty="0">
                            <a:solidFill>
                              <a:schemeClr val="tx1"/>
                            </a:solidFill>
                            <a:latin typeface="Cambria Math" panose="02040503050406030204" pitchFamily="18" charset="0"/>
                          </a:rPr>
                          <m:t>𝑓𝑠</m:t>
                        </m:r>
                        <m:r>
                          <a:rPr lang="en-US" sz="1200" i="1" dirty="0">
                            <a:solidFill>
                              <a:schemeClr val="tx1"/>
                            </a:solidFill>
                            <a:latin typeface="Cambria Math" panose="02040503050406030204" pitchFamily="18" charset="0"/>
                          </a:rPr>
                          <m:t>  </m:t>
                        </m:r>
                      </m:sub>
                    </m:sSub>
                    <m:r>
                      <a:rPr lang="en-US" sz="1200" b="0" i="0" dirty="0" smtClean="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sSub>
                          <m:sSubPr>
                            <m:ctrlPr>
                              <a:rPr lang="en-US" sz="1200" i="1" dirty="0">
                                <a:solidFill>
                                  <a:schemeClr val="tx1"/>
                                </a:solidFill>
                                <a:latin typeface="Cambria Math" panose="02040503050406030204" pitchFamily="18" charset="0"/>
                              </a:rPr>
                            </m:ctrlPr>
                          </m:sSubPr>
                          <m:e>
                            <m:acc>
                              <m:accPr>
                                <m:chr m:val="̂"/>
                                <m:ctrlPr>
                                  <a:rPr lang="en-US" sz="1200" i="1" dirty="0">
                                    <a:solidFill>
                                      <a:schemeClr val="tx1"/>
                                    </a:solidFill>
                                    <a:latin typeface="Cambria Math" panose="02040503050406030204" pitchFamily="18" charset="0"/>
                                  </a:rPr>
                                </m:ctrlPr>
                              </m:accPr>
                              <m:e>
                                <m:r>
                                  <a:rPr lang="en-US" sz="1200" i="1" dirty="0">
                                    <a:solidFill>
                                      <a:schemeClr val="tx1"/>
                                    </a:solidFill>
                                    <a:latin typeface="Cambria Math" panose="02040503050406030204" pitchFamily="18" charset="0"/>
                                  </a:rPr>
                                  <m:t>𝑆</m:t>
                                </m:r>
                              </m:e>
                            </m:acc>
                          </m:e>
                          <m:sub>
                            <m:r>
                              <a:rPr lang="en-US" sz="1200" b="0" i="1" dirty="0" smtClean="0">
                                <a:solidFill>
                                  <a:schemeClr val="tx1"/>
                                </a:solidFill>
                                <a:latin typeface="Cambria Math" panose="02040503050406030204" pitchFamily="18" charset="0"/>
                              </a:rPr>
                              <m:t>𝐶</m:t>
                            </m:r>
                          </m:sub>
                        </m:sSub>
                      </m:e>
                      <m:sub>
                        <m:r>
                          <a:rPr lang="en-US" sz="1200" i="1" dirty="0">
                            <a:solidFill>
                              <a:schemeClr val="tx1"/>
                            </a:solidFill>
                            <a:latin typeface="Cambria Math" panose="02040503050406030204" pitchFamily="18" charset="0"/>
                          </a:rPr>
                          <m:t>𝑓𝑠</m:t>
                        </m:r>
                        <m:r>
                          <a:rPr lang="en-US" sz="1200" i="1" dirty="0">
                            <a:solidFill>
                              <a:schemeClr val="tx1"/>
                            </a:solidFill>
                            <a:latin typeface="Cambria Math" panose="02040503050406030204" pitchFamily="18" charset="0"/>
                          </a:rPr>
                          <m:t> </m:t>
                        </m:r>
                      </m:sub>
                    </m:sSub>
                    <m:r>
                      <a:rPr lang="en-US" sz="1200" i="1" dirty="0">
                        <a:latin typeface="Cambria Math" panose="02040503050406030204" pitchFamily="18" charset="0"/>
                      </a:rPr>
                      <m:t>|</m:t>
                    </m:r>
                  </m:oMath>
                </a14:m>
                <a:endParaRPr lang="en-US" sz="1200" dirty="0">
                  <a:solidFill>
                    <a:schemeClr val="tx1"/>
                  </a:solidFill>
                </a:endParaRPr>
              </a:p>
            </p:txBody>
          </p:sp>
        </mc:Choice>
        <mc:Fallback xmlns="">
          <p:sp>
            <p:nvSpPr>
              <p:cNvPr id="39" name="TextBox 38">
                <a:extLst>
                  <a:ext uri="{FF2B5EF4-FFF2-40B4-BE49-F238E27FC236}">
                    <a16:creationId xmlns:a16="http://schemas.microsoft.com/office/drawing/2014/main" id="{E18C0BE8-1A89-45BB-A868-7BF9657E7E2A}"/>
                  </a:ext>
                </a:extLst>
              </p:cNvPr>
              <p:cNvSpPr txBox="1">
                <a:spLocks noRot="1" noChangeAspect="1" noMove="1" noResize="1" noEditPoints="1" noAdjustHandles="1" noChangeArrowheads="1" noChangeShapeType="1" noTextEdit="1"/>
              </p:cNvSpPr>
              <p:nvPr/>
            </p:nvSpPr>
            <p:spPr>
              <a:xfrm>
                <a:off x="5523272" y="2573986"/>
                <a:ext cx="1994216" cy="327526"/>
              </a:xfrm>
              <a:prstGeom prst="rect">
                <a:avLst/>
              </a:prstGeom>
              <a:blipFill>
                <a:blip r:embed="rId17"/>
                <a:stretch>
                  <a:fillRect/>
                </a:stretch>
              </a:blipFill>
            </p:spPr>
            <p:txBody>
              <a:bodyPr/>
              <a:lstStyle/>
              <a:p>
                <a:r>
                  <a:rPr lang="sv-SE">
                    <a:noFill/>
                  </a:rPr>
                  <a:t> </a:t>
                </a:r>
              </a:p>
            </p:txBody>
          </p:sp>
        </mc:Fallback>
      </mc:AlternateContent>
      <p:cxnSp>
        <p:nvCxnSpPr>
          <p:cNvPr id="40" name="Straight Arrow Connector 39">
            <a:extLst>
              <a:ext uri="{FF2B5EF4-FFF2-40B4-BE49-F238E27FC236}">
                <a16:creationId xmlns:a16="http://schemas.microsoft.com/office/drawing/2014/main" id="{BAC168FF-56DC-4228-B9CC-3748E052FD48}"/>
              </a:ext>
            </a:extLst>
          </p:cNvPr>
          <p:cNvCxnSpPr>
            <a:cxnSpLocks/>
          </p:cNvCxnSpPr>
          <p:nvPr/>
        </p:nvCxnSpPr>
        <p:spPr>
          <a:xfrm>
            <a:off x="5584078" y="3102790"/>
            <a:ext cx="1018286"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7988234"/>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81075" y="333632"/>
            <a:ext cx="11073765" cy="568412"/>
          </a:xfrm>
        </p:spPr>
        <p:txBody>
          <a:bodyPr/>
          <a:lstStyle/>
          <a:p>
            <a:pPr algn="ctr"/>
            <a:r>
              <a:rPr lang="en-US" dirty="0" smtClean="0"/>
              <a:t>The Controllable </a:t>
            </a:r>
            <a:r>
              <a:rPr lang="en-US" dirty="0"/>
              <a:t>R</a:t>
            </a:r>
            <a:r>
              <a:rPr lang="en-US" dirty="0" smtClean="0"/>
              <a:t>egion of the Superimposed Voltage - SPWM </a:t>
            </a:r>
            <a:endParaRPr lang="sv-SE" dirty="0"/>
          </a:p>
        </p:txBody>
      </p:sp>
      <p:pic>
        <p:nvPicPr>
          <p:cNvPr id="4" name="Picture 3"/>
          <p:cNvPicPr>
            <a:picLocks noChangeAspect="1"/>
          </p:cNvPicPr>
          <p:nvPr/>
        </p:nvPicPr>
        <p:blipFill>
          <a:blip r:embed="rId2"/>
          <a:stretch>
            <a:fillRect/>
          </a:stretch>
        </p:blipFill>
        <p:spPr>
          <a:xfrm>
            <a:off x="274320" y="1649730"/>
            <a:ext cx="3439160" cy="2579370"/>
          </a:xfrm>
          <a:prstGeom prst="rect">
            <a:avLst/>
          </a:prstGeom>
        </p:spPr>
      </p:pic>
      <p:pic>
        <p:nvPicPr>
          <p:cNvPr id="5" name="Picture 4"/>
          <p:cNvPicPr>
            <a:picLocks noChangeAspect="1"/>
          </p:cNvPicPr>
          <p:nvPr/>
        </p:nvPicPr>
        <p:blipFill>
          <a:blip r:embed="rId3"/>
          <a:stretch>
            <a:fillRect/>
          </a:stretch>
        </p:blipFill>
        <p:spPr>
          <a:xfrm>
            <a:off x="4175760" y="1593043"/>
            <a:ext cx="3429000" cy="2571750"/>
          </a:xfrm>
          <a:prstGeom prst="rect">
            <a:avLst/>
          </a:prstGeom>
        </p:spPr>
      </p:pic>
      <p:pic>
        <p:nvPicPr>
          <p:cNvPr id="6" name="Picture 5"/>
          <p:cNvPicPr>
            <a:picLocks noChangeAspect="1"/>
          </p:cNvPicPr>
          <p:nvPr/>
        </p:nvPicPr>
        <p:blipFill>
          <a:blip r:embed="rId4"/>
          <a:stretch>
            <a:fillRect/>
          </a:stretch>
        </p:blipFill>
        <p:spPr>
          <a:xfrm>
            <a:off x="7884160" y="1649730"/>
            <a:ext cx="3439160" cy="2579370"/>
          </a:xfrm>
          <a:prstGeom prst="rect">
            <a:avLst/>
          </a:prstGeom>
        </p:spPr>
      </p:pic>
      <p:pic>
        <p:nvPicPr>
          <p:cNvPr id="7" name="Picture 6"/>
          <p:cNvPicPr>
            <a:picLocks noChangeAspect="1"/>
          </p:cNvPicPr>
          <p:nvPr/>
        </p:nvPicPr>
        <p:blipFill>
          <a:blip r:embed="rId5"/>
          <a:stretch>
            <a:fillRect/>
          </a:stretch>
        </p:blipFill>
        <p:spPr>
          <a:xfrm>
            <a:off x="566420" y="4495356"/>
            <a:ext cx="3147060" cy="2360295"/>
          </a:xfrm>
          <a:prstGeom prst="rect">
            <a:avLst/>
          </a:prstGeom>
        </p:spPr>
      </p:pic>
      <p:pic>
        <p:nvPicPr>
          <p:cNvPr id="8" name="Picture 7"/>
          <p:cNvPicPr>
            <a:picLocks noChangeAspect="1"/>
          </p:cNvPicPr>
          <p:nvPr/>
        </p:nvPicPr>
        <p:blipFill>
          <a:blip r:embed="rId6"/>
          <a:stretch>
            <a:fillRect/>
          </a:stretch>
        </p:blipFill>
        <p:spPr>
          <a:xfrm>
            <a:off x="8106886" y="4469341"/>
            <a:ext cx="3216434" cy="2412326"/>
          </a:xfrm>
          <a:prstGeom prst="rect">
            <a:avLst/>
          </a:prstGeom>
        </p:spPr>
      </p:pic>
      <mc:AlternateContent xmlns:mc="http://schemas.openxmlformats.org/markup-compatibility/2006" xmlns:a14="http://schemas.microsoft.com/office/drawing/2010/main">
        <mc:Choice Requires="a14">
          <p:sp>
            <p:nvSpPr>
              <p:cNvPr id="3" name="TextBox 2"/>
              <p:cNvSpPr txBox="1"/>
              <p:nvPr/>
            </p:nvSpPr>
            <p:spPr>
              <a:xfrm>
                <a:off x="5485606" y="1376111"/>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=0.25</m:t>
                      </m:r>
                    </m:oMath>
                  </m:oMathPara>
                </a14:m>
                <a:endParaRPr lang="sv-SE" dirty="0"/>
              </a:p>
            </p:txBody>
          </p:sp>
        </mc:Choice>
        <mc:Fallback xmlns="">
          <p:sp>
            <p:nvSpPr>
              <p:cNvPr id="3" name="TextBox 2"/>
              <p:cNvSpPr txBox="1">
                <a:spLocks noRot="1" noChangeAspect="1" noMove="1" noResize="1" noEditPoints="1" noAdjustHandles="1" noChangeArrowheads="1" noChangeShapeType="1" noTextEdit="1"/>
              </p:cNvSpPr>
              <p:nvPr/>
            </p:nvSpPr>
            <p:spPr>
              <a:xfrm>
                <a:off x="5485606" y="1376111"/>
                <a:ext cx="1257300" cy="369332"/>
              </a:xfrm>
              <a:prstGeom prst="rect">
                <a:avLst/>
              </a:prstGeom>
              <a:blipFill>
                <a:blip r:embed="rId7"/>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706880" y="1372224"/>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m:t>
                      </m:r>
                    </m:oMath>
                  </m:oMathPara>
                </a14:m>
                <a:endParaRPr lang="sv-SE" dirty="0"/>
              </a:p>
            </p:txBody>
          </p:sp>
        </mc:Choice>
        <mc:Fallback xmlns="">
          <p:sp>
            <p:nvSpPr>
              <p:cNvPr id="9" name="TextBox 8"/>
              <p:cNvSpPr txBox="1">
                <a:spLocks noRot="1" noChangeAspect="1" noMove="1" noResize="1" noEditPoints="1" noAdjustHandles="1" noChangeArrowheads="1" noChangeShapeType="1" noTextEdit="1"/>
              </p:cNvSpPr>
              <p:nvPr/>
            </p:nvSpPr>
            <p:spPr>
              <a:xfrm>
                <a:off x="1706880" y="1372224"/>
                <a:ext cx="1257300" cy="369332"/>
              </a:xfrm>
              <a:prstGeom prst="rect">
                <a:avLst/>
              </a:prstGeom>
              <a:blipFill>
                <a:blip r:embed="rId8"/>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9166066" y="1355752"/>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=0.50</m:t>
                      </m:r>
                    </m:oMath>
                  </m:oMathPara>
                </a14:m>
                <a:endParaRPr lang="sv-SE" dirty="0"/>
              </a:p>
            </p:txBody>
          </p:sp>
        </mc:Choice>
        <mc:Fallback xmlns="">
          <p:sp>
            <p:nvSpPr>
              <p:cNvPr id="10" name="TextBox 9"/>
              <p:cNvSpPr txBox="1">
                <a:spLocks noRot="1" noChangeAspect="1" noMove="1" noResize="1" noEditPoints="1" noAdjustHandles="1" noChangeArrowheads="1" noChangeShapeType="1" noTextEdit="1"/>
              </p:cNvSpPr>
              <p:nvPr/>
            </p:nvSpPr>
            <p:spPr>
              <a:xfrm>
                <a:off x="9166066" y="1355752"/>
                <a:ext cx="1257300" cy="369332"/>
              </a:xfrm>
              <a:prstGeom prst="rect">
                <a:avLst/>
              </a:prstGeom>
              <a:blipFill>
                <a:blip r:embed="rId9"/>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1" name="TextBox 10"/>
              <p:cNvSpPr txBox="1"/>
              <p:nvPr/>
            </p:nvSpPr>
            <p:spPr>
              <a:xfrm>
                <a:off x="1686163" y="4229100"/>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=0.75</m:t>
                      </m:r>
                    </m:oMath>
                  </m:oMathPara>
                </a14:m>
                <a:endParaRPr lang="sv-SE" dirty="0"/>
              </a:p>
            </p:txBody>
          </p:sp>
        </mc:Choice>
        <mc:Fallback xmlns="">
          <p:sp>
            <p:nvSpPr>
              <p:cNvPr id="11" name="TextBox 10"/>
              <p:cNvSpPr txBox="1">
                <a:spLocks noRot="1" noChangeAspect="1" noMove="1" noResize="1" noEditPoints="1" noAdjustHandles="1" noChangeArrowheads="1" noChangeShapeType="1" noTextEdit="1"/>
              </p:cNvSpPr>
              <p:nvPr/>
            </p:nvSpPr>
            <p:spPr>
              <a:xfrm>
                <a:off x="1686163" y="4229100"/>
                <a:ext cx="1257300" cy="369332"/>
              </a:xfrm>
              <a:prstGeom prst="rect">
                <a:avLst/>
              </a:prstGeom>
              <a:blipFill>
                <a:blip r:embed="rId10"/>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 name="TextBox 11"/>
              <p:cNvSpPr txBox="1"/>
              <p:nvPr/>
            </p:nvSpPr>
            <p:spPr>
              <a:xfrm>
                <a:off x="8946753" y="4229100"/>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=1</m:t>
                      </m:r>
                    </m:oMath>
                  </m:oMathPara>
                </a14:m>
                <a:endParaRPr lang="sv-SE" dirty="0"/>
              </a:p>
            </p:txBody>
          </p:sp>
        </mc:Choice>
        <mc:Fallback xmlns="">
          <p:sp>
            <p:nvSpPr>
              <p:cNvPr id="12" name="TextBox 11"/>
              <p:cNvSpPr txBox="1">
                <a:spLocks noRot="1" noChangeAspect="1" noMove="1" noResize="1" noEditPoints="1" noAdjustHandles="1" noChangeArrowheads="1" noChangeShapeType="1" noTextEdit="1"/>
              </p:cNvSpPr>
              <p:nvPr/>
            </p:nvSpPr>
            <p:spPr>
              <a:xfrm>
                <a:off x="8946753" y="4229100"/>
                <a:ext cx="1257300" cy="369332"/>
              </a:xfrm>
              <a:prstGeom prst="rect">
                <a:avLst/>
              </a:prstGeom>
              <a:blipFill>
                <a:blip r:embed="rId11"/>
                <a:stretch>
                  <a:fillRect/>
                </a:stretch>
              </a:blipFill>
            </p:spPr>
            <p:txBody>
              <a:bodyPr/>
              <a:lstStyle/>
              <a:p>
                <a:r>
                  <a:rPr lang="sv-SE">
                    <a:noFill/>
                  </a:rPr>
                  <a:t> </a:t>
                </a:r>
              </a:p>
            </p:txBody>
          </p:sp>
        </mc:Fallback>
      </mc:AlternateContent>
      <p:pic>
        <p:nvPicPr>
          <p:cNvPr id="13" name="Picture 12"/>
          <p:cNvPicPr>
            <a:picLocks noChangeAspect="1"/>
          </p:cNvPicPr>
          <p:nvPr/>
        </p:nvPicPr>
        <p:blipFill>
          <a:blip r:embed="rId12"/>
          <a:stretch>
            <a:fillRect/>
          </a:stretch>
        </p:blipFill>
        <p:spPr>
          <a:xfrm>
            <a:off x="4431506" y="4484878"/>
            <a:ext cx="3141980" cy="2356485"/>
          </a:xfrm>
          <a:prstGeom prst="rect">
            <a:avLst/>
          </a:prstGeom>
        </p:spPr>
      </p:pic>
      <mc:AlternateContent xmlns:mc="http://schemas.openxmlformats.org/markup-compatibility/2006" xmlns:a14="http://schemas.microsoft.com/office/drawing/2010/main">
        <mc:Choice Requires="a14">
          <p:sp>
            <p:nvSpPr>
              <p:cNvPr id="15" name="TextBox 14"/>
              <p:cNvSpPr txBox="1"/>
              <p:nvPr/>
            </p:nvSpPr>
            <p:spPr>
              <a:xfrm>
                <a:off x="5217080" y="4229100"/>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=0.80</m:t>
                      </m:r>
                    </m:oMath>
                  </m:oMathPara>
                </a14:m>
                <a:endParaRPr lang="sv-SE" dirty="0"/>
              </a:p>
            </p:txBody>
          </p:sp>
        </mc:Choice>
        <mc:Fallback xmlns="">
          <p:sp>
            <p:nvSpPr>
              <p:cNvPr id="15" name="TextBox 14"/>
              <p:cNvSpPr txBox="1">
                <a:spLocks noRot="1" noChangeAspect="1" noMove="1" noResize="1" noEditPoints="1" noAdjustHandles="1" noChangeArrowheads="1" noChangeShapeType="1" noTextEdit="1"/>
              </p:cNvSpPr>
              <p:nvPr/>
            </p:nvSpPr>
            <p:spPr>
              <a:xfrm>
                <a:off x="5217080" y="4229100"/>
                <a:ext cx="1257300" cy="369332"/>
              </a:xfrm>
              <a:prstGeom prst="rect">
                <a:avLst/>
              </a:prstGeom>
              <a:blipFill>
                <a:blip r:embed="rId13"/>
                <a:stretch>
                  <a:fillRect/>
                </a:stretch>
              </a:blipFill>
            </p:spPr>
            <p:txBody>
              <a:bodyPr/>
              <a:lstStyle/>
              <a:p>
                <a:r>
                  <a:rPr lang="sv-SE">
                    <a:noFill/>
                  </a:rPr>
                  <a:t> </a:t>
                </a:r>
              </a:p>
            </p:txBody>
          </p:sp>
        </mc:Fallback>
      </mc:AlternateContent>
    </p:spTree>
    <p:extLst>
      <p:ext uri="{BB962C8B-B14F-4D97-AF65-F5344CB8AC3E}">
        <p14:creationId xmlns:p14="http://schemas.microsoft.com/office/powerpoint/2010/main" val="2446042071"/>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81075" y="333632"/>
            <a:ext cx="11073765" cy="568412"/>
          </a:xfrm>
        </p:spPr>
        <p:txBody>
          <a:bodyPr/>
          <a:lstStyle/>
          <a:p>
            <a:pPr algn="ctr"/>
            <a:r>
              <a:rPr lang="en-US" dirty="0" smtClean="0"/>
              <a:t>The Controllable </a:t>
            </a:r>
            <a:r>
              <a:rPr lang="en-US" dirty="0"/>
              <a:t>R</a:t>
            </a:r>
            <a:r>
              <a:rPr lang="en-US" dirty="0" smtClean="0"/>
              <a:t>egion of the Superimposed Voltage - SVPWM </a:t>
            </a:r>
            <a:endParaRPr lang="sv-SE" dirty="0"/>
          </a:p>
        </p:txBody>
      </p:sp>
      <mc:AlternateContent xmlns:mc="http://schemas.openxmlformats.org/markup-compatibility/2006" xmlns:a14="http://schemas.microsoft.com/office/drawing/2010/main">
        <mc:Choice Requires="a14">
          <p:sp>
            <p:nvSpPr>
              <p:cNvPr id="3" name="TextBox 2"/>
              <p:cNvSpPr txBox="1"/>
              <p:nvPr/>
            </p:nvSpPr>
            <p:spPr>
              <a:xfrm>
                <a:off x="5462746" y="1501710"/>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=0.25</m:t>
                      </m:r>
                    </m:oMath>
                  </m:oMathPara>
                </a14:m>
                <a:endParaRPr lang="sv-SE" dirty="0"/>
              </a:p>
            </p:txBody>
          </p:sp>
        </mc:Choice>
        <mc:Fallback xmlns="">
          <p:sp>
            <p:nvSpPr>
              <p:cNvPr id="3" name="TextBox 2"/>
              <p:cNvSpPr txBox="1">
                <a:spLocks noRot="1" noChangeAspect="1" noMove="1" noResize="1" noEditPoints="1" noAdjustHandles="1" noChangeArrowheads="1" noChangeShapeType="1" noTextEdit="1"/>
              </p:cNvSpPr>
              <p:nvPr/>
            </p:nvSpPr>
            <p:spPr>
              <a:xfrm>
                <a:off x="5462746" y="1501710"/>
                <a:ext cx="1257300" cy="369332"/>
              </a:xfrm>
              <a:prstGeom prst="rect">
                <a:avLst/>
              </a:prstGeom>
              <a:blipFill>
                <a:blip r:embed="rId2"/>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614170" y="1560777"/>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m:t>
                      </m:r>
                    </m:oMath>
                  </m:oMathPara>
                </a14:m>
                <a:endParaRPr lang="sv-SE" dirty="0"/>
              </a:p>
            </p:txBody>
          </p:sp>
        </mc:Choice>
        <mc:Fallback xmlns="">
          <p:sp>
            <p:nvSpPr>
              <p:cNvPr id="9" name="TextBox 8"/>
              <p:cNvSpPr txBox="1">
                <a:spLocks noRot="1" noChangeAspect="1" noMove="1" noResize="1" noEditPoints="1" noAdjustHandles="1" noChangeArrowheads="1" noChangeShapeType="1" noTextEdit="1"/>
              </p:cNvSpPr>
              <p:nvPr/>
            </p:nvSpPr>
            <p:spPr>
              <a:xfrm>
                <a:off x="1614170" y="1560777"/>
                <a:ext cx="1257300" cy="369332"/>
              </a:xfrm>
              <a:prstGeom prst="rect">
                <a:avLst/>
              </a:prstGeom>
              <a:blipFill>
                <a:blip r:embed="rId3"/>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9166066" y="1355752"/>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=0.50</m:t>
                      </m:r>
                    </m:oMath>
                  </m:oMathPara>
                </a14:m>
                <a:endParaRPr lang="sv-SE" dirty="0"/>
              </a:p>
            </p:txBody>
          </p:sp>
        </mc:Choice>
        <mc:Fallback xmlns="">
          <p:sp>
            <p:nvSpPr>
              <p:cNvPr id="10" name="TextBox 9"/>
              <p:cNvSpPr txBox="1">
                <a:spLocks noRot="1" noChangeAspect="1" noMove="1" noResize="1" noEditPoints="1" noAdjustHandles="1" noChangeArrowheads="1" noChangeShapeType="1" noTextEdit="1"/>
              </p:cNvSpPr>
              <p:nvPr/>
            </p:nvSpPr>
            <p:spPr>
              <a:xfrm>
                <a:off x="9166066" y="1355752"/>
                <a:ext cx="1257300" cy="369332"/>
              </a:xfrm>
              <a:prstGeom prst="rect">
                <a:avLst/>
              </a:prstGeom>
              <a:blipFill>
                <a:blip r:embed="rId4"/>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1" name="TextBox 10"/>
              <p:cNvSpPr txBox="1"/>
              <p:nvPr/>
            </p:nvSpPr>
            <p:spPr>
              <a:xfrm>
                <a:off x="1686163" y="4229100"/>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=0.75</m:t>
                      </m:r>
                    </m:oMath>
                  </m:oMathPara>
                </a14:m>
                <a:endParaRPr lang="sv-SE" dirty="0"/>
              </a:p>
            </p:txBody>
          </p:sp>
        </mc:Choice>
        <mc:Fallback xmlns="">
          <p:sp>
            <p:nvSpPr>
              <p:cNvPr id="11" name="TextBox 10"/>
              <p:cNvSpPr txBox="1">
                <a:spLocks noRot="1" noChangeAspect="1" noMove="1" noResize="1" noEditPoints="1" noAdjustHandles="1" noChangeArrowheads="1" noChangeShapeType="1" noTextEdit="1"/>
              </p:cNvSpPr>
              <p:nvPr/>
            </p:nvSpPr>
            <p:spPr>
              <a:xfrm>
                <a:off x="1686163" y="4229100"/>
                <a:ext cx="1257300" cy="369332"/>
              </a:xfrm>
              <a:prstGeom prst="rect">
                <a:avLst/>
              </a:prstGeom>
              <a:blipFill>
                <a:blip r:embed="rId5"/>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 name="TextBox 11"/>
              <p:cNvSpPr txBox="1"/>
              <p:nvPr/>
            </p:nvSpPr>
            <p:spPr>
              <a:xfrm>
                <a:off x="8946753" y="4229100"/>
                <a:ext cx="1257300" cy="369332"/>
              </a:xfrm>
              <a:prstGeom prst="rect">
                <a:avLst/>
              </a:prstGeom>
              <a:noFill/>
            </p:spPr>
            <p:txBody>
              <a:bodyPr wrap="square" rtlCol="0">
                <a:spAutoFit/>
              </a:bodyPr>
              <a:lstStyle/>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=1</m:t>
                    </m:r>
                  </m:oMath>
                </a14:m>
                <a:r>
                  <a:rPr lang="sv-SE" dirty="0" smtClean="0"/>
                  <a:t>.1</a:t>
                </a:r>
                <a:endParaRPr lang="sv-SE" dirty="0"/>
              </a:p>
            </p:txBody>
          </p:sp>
        </mc:Choice>
        <mc:Fallback xmlns="">
          <p:sp>
            <p:nvSpPr>
              <p:cNvPr id="12" name="TextBox 11"/>
              <p:cNvSpPr txBox="1">
                <a:spLocks noRot="1" noChangeAspect="1" noMove="1" noResize="1" noEditPoints="1" noAdjustHandles="1" noChangeArrowheads="1" noChangeShapeType="1" noTextEdit="1"/>
              </p:cNvSpPr>
              <p:nvPr/>
            </p:nvSpPr>
            <p:spPr>
              <a:xfrm>
                <a:off x="8946753" y="4229100"/>
                <a:ext cx="1257300" cy="369332"/>
              </a:xfrm>
              <a:prstGeom prst="rect">
                <a:avLst/>
              </a:prstGeom>
              <a:blipFill>
                <a:blip r:embed="rId6"/>
                <a:stretch>
                  <a:fillRect t="-10000" b="-26667"/>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5217080" y="4229100"/>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=1</m:t>
                      </m:r>
                    </m:oMath>
                  </m:oMathPara>
                </a14:m>
                <a:endParaRPr lang="sv-SE" dirty="0"/>
              </a:p>
            </p:txBody>
          </p:sp>
        </mc:Choice>
        <mc:Fallback xmlns="">
          <p:sp>
            <p:nvSpPr>
              <p:cNvPr id="15" name="TextBox 14"/>
              <p:cNvSpPr txBox="1">
                <a:spLocks noRot="1" noChangeAspect="1" noMove="1" noResize="1" noEditPoints="1" noAdjustHandles="1" noChangeArrowheads="1" noChangeShapeType="1" noTextEdit="1"/>
              </p:cNvSpPr>
              <p:nvPr/>
            </p:nvSpPr>
            <p:spPr>
              <a:xfrm>
                <a:off x="5217080" y="4229100"/>
                <a:ext cx="1257300" cy="369332"/>
              </a:xfrm>
              <a:prstGeom prst="rect">
                <a:avLst/>
              </a:prstGeom>
              <a:blipFill>
                <a:blip r:embed="rId7"/>
                <a:stretch>
                  <a:fillRect/>
                </a:stretch>
              </a:blipFill>
            </p:spPr>
            <p:txBody>
              <a:bodyPr/>
              <a:lstStyle/>
              <a:p>
                <a:r>
                  <a:rPr lang="sv-SE">
                    <a:noFill/>
                  </a:rPr>
                  <a:t> </a:t>
                </a:r>
              </a:p>
            </p:txBody>
          </p:sp>
        </mc:Fallback>
      </mc:AlternateContent>
      <p:pic>
        <p:nvPicPr>
          <p:cNvPr id="14" name="Picture 13"/>
          <p:cNvPicPr>
            <a:picLocks noChangeAspect="1"/>
          </p:cNvPicPr>
          <p:nvPr/>
        </p:nvPicPr>
        <p:blipFill>
          <a:blip r:embed="rId8"/>
          <a:stretch>
            <a:fillRect/>
          </a:stretch>
        </p:blipFill>
        <p:spPr>
          <a:xfrm>
            <a:off x="855583" y="1839449"/>
            <a:ext cx="2918460" cy="2188845"/>
          </a:xfrm>
          <a:prstGeom prst="rect">
            <a:avLst/>
          </a:prstGeom>
        </p:spPr>
      </p:pic>
      <p:pic>
        <p:nvPicPr>
          <p:cNvPr id="16" name="Picture 15"/>
          <p:cNvPicPr>
            <a:picLocks noChangeAspect="1"/>
          </p:cNvPicPr>
          <p:nvPr/>
        </p:nvPicPr>
        <p:blipFill>
          <a:blip r:embed="rId9"/>
          <a:stretch>
            <a:fillRect/>
          </a:stretch>
        </p:blipFill>
        <p:spPr>
          <a:xfrm>
            <a:off x="4442460" y="1745443"/>
            <a:ext cx="3078480" cy="2308860"/>
          </a:xfrm>
          <a:prstGeom prst="rect">
            <a:avLst/>
          </a:prstGeom>
        </p:spPr>
      </p:pic>
      <p:pic>
        <p:nvPicPr>
          <p:cNvPr id="17" name="Picture 16"/>
          <p:cNvPicPr>
            <a:picLocks noChangeAspect="1"/>
          </p:cNvPicPr>
          <p:nvPr/>
        </p:nvPicPr>
        <p:blipFill>
          <a:blip r:embed="rId10"/>
          <a:stretch>
            <a:fillRect/>
          </a:stretch>
        </p:blipFill>
        <p:spPr>
          <a:xfrm>
            <a:off x="8046720" y="1839449"/>
            <a:ext cx="3055620" cy="2291715"/>
          </a:xfrm>
          <a:prstGeom prst="rect">
            <a:avLst/>
          </a:prstGeom>
        </p:spPr>
      </p:pic>
      <p:pic>
        <p:nvPicPr>
          <p:cNvPr id="18" name="Picture 17"/>
          <p:cNvPicPr>
            <a:picLocks noChangeAspect="1"/>
          </p:cNvPicPr>
          <p:nvPr/>
        </p:nvPicPr>
        <p:blipFill>
          <a:blip r:embed="rId11"/>
          <a:stretch>
            <a:fillRect/>
          </a:stretch>
        </p:blipFill>
        <p:spPr>
          <a:xfrm>
            <a:off x="855583" y="4526280"/>
            <a:ext cx="3185159" cy="2388869"/>
          </a:xfrm>
          <a:prstGeom prst="rect">
            <a:avLst/>
          </a:prstGeom>
        </p:spPr>
      </p:pic>
      <p:pic>
        <p:nvPicPr>
          <p:cNvPr id="19" name="Picture 18"/>
          <p:cNvPicPr>
            <a:picLocks noChangeAspect="1"/>
          </p:cNvPicPr>
          <p:nvPr/>
        </p:nvPicPr>
        <p:blipFill>
          <a:blip r:embed="rId12"/>
          <a:stretch>
            <a:fillRect/>
          </a:stretch>
        </p:blipFill>
        <p:spPr>
          <a:xfrm>
            <a:off x="4442460" y="4526280"/>
            <a:ext cx="3258344" cy="2443758"/>
          </a:xfrm>
          <a:prstGeom prst="rect">
            <a:avLst/>
          </a:prstGeom>
        </p:spPr>
      </p:pic>
      <p:pic>
        <p:nvPicPr>
          <p:cNvPr id="20" name="Picture 19"/>
          <p:cNvPicPr>
            <a:picLocks noChangeAspect="1"/>
          </p:cNvPicPr>
          <p:nvPr/>
        </p:nvPicPr>
        <p:blipFill>
          <a:blip r:embed="rId13"/>
          <a:stretch>
            <a:fillRect/>
          </a:stretch>
        </p:blipFill>
        <p:spPr>
          <a:xfrm>
            <a:off x="7937024" y="4596050"/>
            <a:ext cx="3165316" cy="2373987"/>
          </a:xfrm>
          <a:prstGeom prst="rect">
            <a:avLst/>
          </a:prstGeom>
        </p:spPr>
      </p:pic>
    </p:spTree>
    <p:extLst>
      <p:ext uri="{BB962C8B-B14F-4D97-AF65-F5344CB8AC3E}">
        <p14:creationId xmlns:p14="http://schemas.microsoft.com/office/powerpoint/2010/main" val="3990436418"/>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E227EF5-B1C0-4EAB-A58C-8A8813FF7B00}"/>
              </a:ext>
            </a:extLst>
          </p:cNvPr>
          <p:cNvPicPr>
            <a:picLocks noChangeAspect="1"/>
          </p:cNvPicPr>
          <p:nvPr/>
        </p:nvPicPr>
        <p:blipFill>
          <a:blip r:embed="rId3"/>
          <a:stretch>
            <a:fillRect/>
          </a:stretch>
        </p:blipFill>
        <p:spPr>
          <a:xfrm>
            <a:off x="7022730" y="1229614"/>
            <a:ext cx="4094616" cy="5015552"/>
          </a:xfrm>
          <a:prstGeom prst="rect">
            <a:avLst/>
          </a:prstGeom>
        </p:spPr>
      </p:pic>
      <p:pic>
        <p:nvPicPr>
          <p:cNvPr id="4" name="Picture 3">
            <a:extLst>
              <a:ext uri="{FF2B5EF4-FFF2-40B4-BE49-F238E27FC236}">
                <a16:creationId xmlns:a16="http://schemas.microsoft.com/office/drawing/2014/main" id="{5364FCCA-EB90-4B5D-BE04-05B4EDCF8C42}"/>
              </a:ext>
            </a:extLst>
          </p:cNvPr>
          <p:cNvPicPr>
            <a:picLocks noChangeAspect="1"/>
          </p:cNvPicPr>
          <p:nvPr/>
        </p:nvPicPr>
        <p:blipFill>
          <a:blip r:embed="rId4"/>
          <a:stretch>
            <a:fillRect/>
          </a:stretch>
        </p:blipFill>
        <p:spPr>
          <a:xfrm>
            <a:off x="3074618" y="2954248"/>
            <a:ext cx="3443339" cy="1566284"/>
          </a:xfrm>
          <a:prstGeom prst="rect">
            <a:avLst/>
          </a:prstGeom>
        </p:spPr>
      </p:pic>
      <p:pic>
        <p:nvPicPr>
          <p:cNvPr id="6" name="Picture 5">
            <a:extLst>
              <a:ext uri="{FF2B5EF4-FFF2-40B4-BE49-F238E27FC236}">
                <a16:creationId xmlns:a16="http://schemas.microsoft.com/office/drawing/2014/main" id="{3FCD58D8-83AB-42CC-A2CD-21C3A7C1AC78}"/>
              </a:ext>
            </a:extLst>
          </p:cNvPr>
          <p:cNvPicPr>
            <a:picLocks noChangeAspect="1"/>
          </p:cNvPicPr>
          <p:nvPr/>
        </p:nvPicPr>
        <p:blipFill>
          <a:blip r:embed="rId5"/>
          <a:stretch>
            <a:fillRect/>
          </a:stretch>
        </p:blipFill>
        <p:spPr>
          <a:xfrm>
            <a:off x="356929" y="3180178"/>
            <a:ext cx="2314575" cy="1114425"/>
          </a:xfrm>
          <a:prstGeom prst="rect">
            <a:avLst/>
          </a:prstGeom>
        </p:spPr>
      </p:pic>
      <p:sp>
        <p:nvSpPr>
          <p:cNvPr id="7" name="Title 1"/>
          <p:cNvSpPr txBox="1">
            <a:spLocks/>
          </p:cNvSpPr>
          <p:nvPr/>
        </p:nvSpPr>
        <p:spPr>
          <a:xfrm>
            <a:off x="981075" y="333632"/>
            <a:ext cx="11073765" cy="568412"/>
          </a:xfrm>
          <a:prstGeom prst="rect">
            <a:avLst/>
          </a:prstGeom>
        </p:spPr>
        <p:txBody>
          <a:bodyPr vert="horz" lIns="91440" tIns="108000" rIns="91440" bIns="45720" rtlCol="0" anchor="t">
            <a:noAutofit/>
          </a:bodyPr>
          <a:lst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a:lstStyle>
          <a:p>
            <a:pPr algn="ctr"/>
            <a:r>
              <a:rPr lang="en-US" dirty="0" smtClean="0"/>
              <a:t>Challenge- </a:t>
            </a:r>
            <a:r>
              <a:rPr lang="en-US" dirty="0"/>
              <a:t>Calculation Burden </a:t>
            </a:r>
            <a:r>
              <a:rPr lang="en-US" dirty="0" smtClean="0"/>
              <a:t>(Robotic Arm Kinematics</a:t>
            </a:r>
            <a:r>
              <a:rPr lang="en-US" dirty="0"/>
              <a:t>) </a:t>
            </a:r>
            <a:endParaRPr lang="sv-SE" dirty="0"/>
          </a:p>
        </p:txBody>
      </p:sp>
    </p:spTree>
    <p:extLst>
      <p:ext uri="{BB962C8B-B14F-4D97-AF65-F5344CB8AC3E}">
        <p14:creationId xmlns:p14="http://schemas.microsoft.com/office/powerpoint/2010/main" val="20002443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88695" y="318392"/>
            <a:ext cx="10990263" cy="568412"/>
          </a:xfrm>
        </p:spPr>
        <p:txBody>
          <a:bodyPr/>
          <a:lstStyle/>
          <a:p>
            <a:r>
              <a:rPr lang="en-US" dirty="0" smtClean="0"/>
              <a:t>References</a:t>
            </a:r>
            <a:endParaRPr lang="sv-SE" dirty="0"/>
          </a:p>
        </p:txBody>
      </p:sp>
      <p:sp>
        <p:nvSpPr>
          <p:cNvPr id="39" name="TextBox 38">
            <a:extLst>
              <a:ext uri="{FF2B5EF4-FFF2-40B4-BE49-F238E27FC236}">
                <a16:creationId xmlns:a16="http://schemas.microsoft.com/office/drawing/2014/main" id="{6112A129-FBE9-495B-89D5-D25C6E150FB4}"/>
              </a:ext>
            </a:extLst>
          </p:cNvPr>
          <p:cNvSpPr txBox="1"/>
          <p:nvPr/>
        </p:nvSpPr>
        <p:spPr>
          <a:xfrm>
            <a:off x="-243298" y="936029"/>
            <a:ext cx="3025139" cy="584775"/>
          </a:xfrm>
          <a:prstGeom prst="rect">
            <a:avLst/>
          </a:prstGeom>
          <a:noFill/>
        </p:spPr>
        <p:txBody>
          <a:bodyPr wrap="square" rtlCol="0">
            <a:spAutoFit/>
          </a:bodyPr>
          <a:lstStyle/>
          <a:p>
            <a:pPr algn="ctr"/>
            <a:r>
              <a:rPr lang="en-US" sz="1600" dirty="0">
                <a:solidFill>
                  <a:srgbClr val="FF0000"/>
                </a:solidFill>
                <a:latin typeface="Times New Roman" panose="02020603050405020304" pitchFamily="18" charset="0"/>
                <a:cs typeface="Times New Roman" panose="02020603050405020304" pitchFamily="18" charset="0"/>
              </a:rPr>
              <a:t>Simultaneous Information/ </a:t>
            </a:r>
          </a:p>
          <a:p>
            <a:pPr algn="ctr"/>
            <a:r>
              <a:rPr lang="en-US" sz="1600" dirty="0">
                <a:solidFill>
                  <a:srgbClr val="FF0000"/>
                </a:solidFill>
                <a:latin typeface="Times New Roman" panose="02020603050405020304" pitchFamily="18" charset="0"/>
                <a:cs typeface="Times New Roman" panose="02020603050405020304" pitchFamily="18" charset="0"/>
              </a:rPr>
              <a:t>Power Transfer </a:t>
            </a:r>
          </a:p>
        </p:txBody>
      </p:sp>
      <p:sp>
        <p:nvSpPr>
          <p:cNvPr id="40" name="TextBox 39">
            <a:extLst>
              <a:ext uri="{FF2B5EF4-FFF2-40B4-BE49-F238E27FC236}">
                <a16:creationId xmlns:a16="http://schemas.microsoft.com/office/drawing/2014/main" id="{58C9DA5A-CA3D-4DA5-AA1E-C8CD6AA675A4}"/>
              </a:ext>
            </a:extLst>
          </p:cNvPr>
          <p:cNvSpPr txBox="1"/>
          <p:nvPr/>
        </p:nvSpPr>
        <p:spPr>
          <a:xfrm>
            <a:off x="2126323" y="886247"/>
            <a:ext cx="2258008" cy="584775"/>
          </a:xfrm>
          <a:prstGeom prst="rect">
            <a:avLst/>
          </a:prstGeom>
          <a:noFill/>
        </p:spPr>
        <p:txBody>
          <a:bodyPr wrap="square" rtlCol="0">
            <a:spAutoFit/>
          </a:bodyPr>
          <a:lstStyle/>
          <a:p>
            <a:pPr algn="ctr"/>
            <a:r>
              <a:rPr lang="en-US" sz="1600" dirty="0">
                <a:solidFill>
                  <a:srgbClr val="FF0000"/>
                </a:solidFill>
                <a:latin typeface="Times New Roman" panose="02020603050405020304" pitchFamily="18" charset="0"/>
                <a:cs typeface="Times New Roman" panose="02020603050405020304" pitchFamily="18" charset="0"/>
              </a:rPr>
              <a:t>Selective</a:t>
            </a:r>
          </a:p>
          <a:p>
            <a:pPr algn="ctr"/>
            <a:r>
              <a:rPr lang="en-US" sz="1600" dirty="0">
                <a:solidFill>
                  <a:srgbClr val="FF0000"/>
                </a:solidFill>
                <a:latin typeface="Times New Roman" panose="02020603050405020304" pitchFamily="18" charset="0"/>
                <a:cs typeface="Times New Roman" panose="02020603050405020304" pitchFamily="18" charset="0"/>
              </a:rPr>
              <a:t> Power Transfer </a:t>
            </a:r>
          </a:p>
        </p:txBody>
      </p:sp>
      <p:sp>
        <p:nvSpPr>
          <p:cNvPr id="41" name="TextBox 40">
            <a:extLst>
              <a:ext uri="{FF2B5EF4-FFF2-40B4-BE49-F238E27FC236}">
                <a16:creationId xmlns:a16="http://schemas.microsoft.com/office/drawing/2014/main" id="{7B5D7324-0E07-4756-9101-C4996CA9648E}"/>
              </a:ext>
            </a:extLst>
          </p:cNvPr>
          <p:cNvSpPr txBox="1"/>
          <p:nvPr/>
        </p:nvSpPr>
        <p:spPr>
          <a:xfrm>
            <a:off x="4225818" y="965917"/>
            <a:ext cx="2258008" cy="338554"/>
          </a:xfrm>
          <a:prstGeom prst="rect">
            <a:avLst/>
          </a:prstGeom>
          <a:noFill/>
        </p:spPr>
        <p:txBody>
          <a:bodyPr wrap="square" rtlCol="0">
            <a:spAutoFit/>
          </a:bodyPr>
          <a:lstStyle/>
          <a:p>
            <a:pPr algn="ctr"/>
            <a:r>
              <a:rPr lang="en-US" sz="1600" dirty="0">
                <a:solidFill>
                  <a:srgbClr val="FF0000"/>
                </a:solidFill>
                <a:latin typeface="Times New Roman" panose="02020603050405020304" pitchFamily="18" charset="0"/>
                <a:cs typeface="Times New Roman" panose="02020603050405020304" pitchFamily="18" charset="0"/>
              </a:rPr>
              <a:t>Slip-Ring Applications </a:t>
            </a:r>
          </a:p>
        </p:txBody>
      </p:sp>
      <p:sp>
        <p:nvSpPr>
          <p:cNvPr id="42" name="TextBox 41">
            <a:extLst>
              <a:ext uri="{FF2B5EF4-FFF2-40B4-BE49-F238E27FC236}">
                <a16:creationId xmlns:a16="http://schemas.microsoft.com/office/drawing/2014/main" id="{DFAB533E-0B95-4941-8695-74B643DCCCF1}"/>
              </a:ext>
            </a:extLst>
          </p:cNvPr>
          <p:cNvSpPr txBox="1"/>
          <p:nvPr/>
        </p:nvSpPr>
        <p:spPr>
          <a:xfrm>
            <a:off x="6327989" y="843800"/>
            <a:ext cx="2258008" cy="584775"/>
          </a:xfrm>
          <a:prstGeom prst="rect">
            <a:avLst/>
          </a:prstGeom>
          <a:noFill/>
        </p:spPr>
        <p:txBody>
          <a:bodyPr wrap="square" rtlCol="0">
            <a:spAutoFit/>
          </a:bodyPr>
          <a:lstStyle/>
          <a:p>
            <a:pPr algn="ctr"/>
            <a:r>
              <a:rPr lang="en-US" sz="1600" dirty="0">
                <a:solidFill>
                  <a:srgbClr val="FF0000"/>
                </a:solidFill>
                <a:latin typeface="Times New Roman" panose="02020603050405020304" pitchFamily="18" charset="0"/>
                <a:cs typeface="Times New Roman" panose="02020603050405020304" pitchFamily="18" charset="0"/>
              </a:rPr>
              <a:t>Single-Stage</a:t>
            </a:r>
          </a:p>
          <a:p>
            <a:pPr algn="ctr"/>
            <a:r>
              <a:rPr lang="en-US" sz="1600" dirty="0">
                <a:solidFill>
                  <a:srgbClr val="FF0000"/>
                </a:solidFill>
                <a:latin typeface="Times New Roman" panose="02020603050405020304" pitchFamily="18" charset="0"/>
                <a:cs typeface="Times New Roman" panose="02020603050405020304" pitchFamily="18" charset="0"/>
              </a:rPr>
              <a:t>Power Transfers</a:t>
            </a:r>
          </a:p>
        </p:txBody>
      </p:sp>
      <p:sp>
        <p:nvSpPr>
          <p:cNvPr id="43" name="TextBox 42">
            <a:extLst>
              <a:ext uri="{FF2B5EF4-FFF2-40B4-BE49-F238E27FC236}">
                <a16:creationId xmlns:a16="http://schemas.microsoft.com/office/drawing/2014/main" id="{34E0506A-1BD3-4162-AE85-609496D7CED4}"/>
              </a:ext>
            </a:extLst>
          </p:cNvPr>
          <p:cNvSpPr txBox="1"/>
          <p:nvPr/>
        </p:nvSpPr>
        <p:spPr>
          <a:xfrm>
            <a:off x="34628" y="1550135"/>
            <a:ext cx="2090965" cy="3170099"/>
          </a:xfrm>
          <a:prstGeom prst="rect">
            <a:avLst/>
          </a:prstGeom>
          <a:noFill/>
        </p:spPr>
        <p:txBody>
          <a:bodyPr wrap="square" rtlCol="0">
            <a:spAutoFit/>
          </a:bodyPr>
          <a:lstStyle/>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Simultaneous Wireless Information and Power Transfer (SWIPT): Recent Advances and Future Challenges (2018)</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Integrated Resonant Structure for Simultaneous Wireless Power Transfer and Data Telemetry(2012)</a:t>
            </a:r>
          </a:p>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A Simultaneous Wireless Power and Data Transmission Method for Multi-Output WPT Systems: Analysis, Design, and Experimental Verification (2020)</a:t>
            </a: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endParaRPr lang="en-US" sz="1000" dirty="0">
              <a:latin typeface="Times New Roman" panose="02020603050405020304" pitchFamily="18" charset="0"/>
              <a:cs typeface="Times New Roman" panose="02020603050405020304" pitchFamily="18" charset="0"/>
            </a:endParaRPr>
          </a:p>
          <a:p>
            <a:endParaRPr lang="en-US" sz="1000" dirty="0">
              <a:latin typeface="Times New Roman" panose="02020603050405020304" pitchFamily="18" charset="0"/>
              <a:cs typeface="Times New Roman" panose="02020603050405020304" pitchFamily="18" charset="0"/>
            </a:endParaRPr>
          </a:p>
          <a:p>
            <a:endParaRPr lang="en-US" sz="1000" dirty="0">
              <a:latin typeface="Times New Roman" panose="02020603050405020304" pitchFamily="18" charset="0"/>
              <a:cs typeface="Times New Roman" panose="02020603050405020304" pitchFamily="18" charset="0"/>
            </a:endParaRPr>
          </a:p>
        </p:txBody>
      </p:sp>
      <p:sp>
        <p:nvSpPr>
          <p:cNvPr id="44" name="TextBox 43">
            <a:extLst>
              <a:ext uri="{FF2B5EF4-FFF2-40B4-BE49-F238E27FC236}">
                <a16:creationId xmlns:a16="http://schemas.microsoft.com/office/drawing/2014/main" id="{AE1FDF82-1D3F-46EA-9AE2-E8F497FFCDCA}"/>
              </a:ext>
            </a:extLst>
          </p:cNvPr>
          <p:cNvSpPr txBox="1"/>
          <p:nvPr/>
        </p:nvSpPr>
        <p:spPr>
          <a:xfrm>
            <a:off x="2009866" y="1550135"/>
            <a:ext cx="2399523" cy="6709529"/>
          </a:xfrm>
          <a:prstGeom prst="rect">
            <a:avLst/>
          </a:prstGeom>
          <a:noFill/>
        </p:spPr>
        <p:txBody>
          <a:bodyPr wrap="square" rtlCol="0">
            <a:spAutoFit/>
          </a:bodyPr>
          <a:lstStyle/>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Selective Omnidirectional Magnetic Resonant Coupling Wireless Power Transfer With Multiple-Receiver System(2018)</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Design and Analysis of Wireless Switched Reluctance Motor Drives(2019)</a:t>
            </a:r>
          </a:p>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Frequency Splitting-Based Wireless Power Transfer and Simultaneous Propulsion Generation to Multiple Micro-Robots(2018)</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Comparative Analysis of Frequency-Selective Wireless Power Transfer for Multiple-Rx Systems(2020)</a:t>
            </a:r>
          </a:p>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A Frequency-Selective EMI Reduction Method for Tightly Coupled Wireless Power Transfer Systems Using Resonant Frequency Control of a Shielding Coil in Smartphone Application(2020)</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Selective Wireless Power Transfer for Smart Power Distribution in a Miniature-Sized Multiple-Receiver System(2016)</a:t>
            </a:r>
          </a:p>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A Multifrequency Superposition Methodology to Achieve High Efficiency and Targeted Power Distribution for a Multiload MCRWPT System(2018)</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Cross Interference Minimization and Simultaneous Wireless Power Transfer to Multiple Frequency Loads Using Frequency Bifurcation Approach</a:t>
            </a: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endParaRPr lang="en-US" sz="1000" dirty="0">
              <a:latin typeface="Times New Roman" panose="02020603050405020304" pitchFamily="18" charset="0"/>
              <a:cs typeface="Times New Roman" panose="02020603050405020304" pitchFamily="18" charset="0"/>
            </a:endParaRPr>
          </a:p>
          <a:p>
            <a:endParaRPr lang="en-US" sz="1000" dirty="0">
              <a:latin typeface="Times New Roman" panose="02020603050405020304" pitchFamily="18" charset="0"/>
              <a:cs typeface="Times New Roman" panose="02020603050405020304" pitchFamily="18" charset="0"/>
            </a:endParaRPr>
          </a:p>
          <a:p>
            <a:endParaRPr lang="en-US" sz="1000" dirty="0">
              <a:latin typeface="Times New Roman" panose="02020603050405020304" pitchFamily="18" charset="0"/>
              <a:cs typeface="Times New Roman" panose="02020603050405020304" pitchFamily="18" charset="0"/>
            </a:endParaRPr>
          </a:p>
        </p:txBody>
      </p:sp>
      <p:sp>
        <p:nvSpPr>
          <p:cNvPr id="45" name="TextBox 44">
            <a:extLst>
              <a:ext uri="{FF2B5EF4-FFF2-40B4-BE49-F238E27FC236}">
                <a16:creationId xmlns:a16="http://schemas.microsoft.com/office/drawing/2014/main" id="{FD2B090B-3584-4D85-A051-DE0EDC99FA31}"/>
              </a:ext>
            </a:extLst>
          </p:cNvPr>
          <p:cNvSpPr txBox="1"/>
          <p:nvPr/>
        </p:nvSpPr>
        <p:spPr>
          <a:xfrm>
            <a:off x="4145692" y="1532578"/>
            <a:ext cx="2258008" cy="7017306"/>
          </a:xfrm>
          <a:prstGeom prst="rect">
            <a:avLst/>
          </a:prstGeom>
          <a:noFill/>
        </p:spPr>
        <p:txBody>
          <a:bodyPr wrap="square" rtlCol="0">
            <a:spAutoFit/>
          </a:bodyPr>
          <a:lstStyle/>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A Primary-Side Control Method of Wireless Power Transfer for Motor Electric Excitation(2019)</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Wireless DC Motor Drives with </a:t>
            </a:r>
            <a:r>
              <a:rPr lang="en-US" sz="1000" dirty="0" err="1">
                <a:solidFill>
                  <a:srgbClr val="004A99"/>
                </a:solidFill>
                <a:latin typeface="Times New Roman" panose="02020603050405020304" pitchFamily="18" charset="0"/>
                <a:cs typeface="Times New Roman" panose="02020603050405020304" pitchFamily="18" charset="0"/>
              </a:rPr>
              <a:t>Selectability</a:t>
            </a:r>
            <a:r>
              <a:rPr lang="en-US" sz="1000" dirty="0">
                <a:solidFill>
                  <a:srgbClr val="004A99"/>
                </a:solidFill>
                <a:latin typeface="Times New Roman" panose="02020603050405020304" pitchFamily="18" charset="0"/>
                <a:cs typeface="Times New Roman" panose="02020603050405020304" pitchFamily="18" charset="0"/>
              </a:rPr>
              <a:t> and Controllability(2017)</a:t>
            </a:r>
          </a:p>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An Airborne Radar Power Supply With Contactless Transfer of Energy—Part I: Rotating Transformer (2007)</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Aerodynamic Fluid Bearings for Translational and Rotating Capacitors in Noncontact Capacitive Power Transfer Systems(2014)</a:t>
            </a:r>
          </a:p>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Synchronous Generator Brushless Field Excitation and Voltage Regulation via Capacitive Coupling Through Journal Bearings(2017)</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Operation of an Electrical Excited Synchronous Machine by Contactless Energy Transfer to the Rotor(2018)</a:t>
            </a:r>
          </a:p>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A Rotation-Lightweight Wireless Power Transfer System for Solar Wing Driving(2019)</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Wireless Power Transfer for Smart Industrial and Home Applications(2019)</a:t>
            </a:r>
          </a:p>
          <a:p>
            <a:pPr marL="228600" indent="-228600">
              <a:buFont typeface="+mj-lt"/>
              <a:buAutoNum type="arabicPeriod"/>
            </a:pPr>
            <a:r>
              <a:rPr lang="en-US" sz="1000" dirty="0"/>
              <a:t>Use of the Rotating Rectifier Board as a Capacitive Power Coupler for Brushless Wound Field Synchronous Machines(2022)</a:t>
            </a:r>
            <a:endParaRPr lang="en-US" sz="1000" dirty="0">
              <a:solidFill>
                <a:srgbClr val="004A99"/>
              </a:solidFill>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endParaRPr lang="en-US" sz="1000" dirty="0">
              <a:latin typeface="Times New Roman" panose="02020603050405020304" pitchFamily="18" charset="0"/>
              <a:cs typeface="Times New Roman" panose="02020603050405020304" pitchFamily="18" charset="0"/>
            </a:endParaRPr>
          </a:p>
          <a:p>
            <a:endParaRPr lang="en-US" sz="1000" dirty="0">
              <a:latin typeface="Times New Roman" panose="02020603050405020304" pitchFamily="18" charset="0"/>
              <a:cs typeface="Times New Roman" panose="02020603050405020304" pitchFamily="18" charset="0"/>
            </a:endParaRPr>
          </a:p>
          <a:p>
            <a:endParaRPr lang="en-US" sz="1000" dirty="0">
              <a:latin typeface="Times New Roman" panose="02020603050405020304" pitchFamily="18" charset="0"/>
              <a:cs typeface="Times New Roman" panose="02020603050405020304" pitchFamily="18" charset="0"/>
            </a:endParaRPr>
          </a:p>
        </p:txBody>
      </p:sp>
      <p:sp>
        <p:nvSpPr>
          <p:cNvPr id="46" name="TextBox 45">
            <a:extLst>
              <a:ext uri="{FF2B5EF4-FFF2-40B4-BE49-F238E27FC236}">
                <a16:creationId xmlns:a16="http://schemas.microsoft.com/office/drawing/2014/main" id="{D063DFD4-372F-4629-9931-8D88858D2F19}"/>
              </a:ext>
            </a:extLst>
          </p:cNvPr>
          <p:cNvSpPr txBox="1"/>
          <p:nvPr/>
        </p:nvSpPr>
        <p:spPr>
          <a:xfrm>
            <a:off x="6268901" y="1536940"/>
            <a:ext cx="2317096" cy="3108543"/>
          </a:xfrm>
          <a:prstGeom prst="rect">
            <a:avLst/>
          </a:prstGeom>
          <a:noFill/>
        </p:spPr>
        <p:txBody>
          <a:bodyPr wrap="square" rtlCol="0">
            <a:spAutoFit/>
          </a:bodyPr>
          <a:lstStyle/>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A High-Efficiency </a:t>
            </a:r>
            <a:r>
              <a:rPr lang="en-US" sz="1000" dirty="0" err="1">
                <a:latin typeface="Times New Roman" panose="02020603050405020304" pitchFamily="18" charset="0"/>
                <a:cs typeface="Times New Roman" panose="02020603050405020304" pitchFamily="18" charset="0"/>
              </a:rPr>
              <a:t>GaN</a:t>
            </a:r>
            <a:r>
              <a:rPr lang="en-US" sz="1000" dirty="0">
                <a:latin typeface="Times New Roman" panose="02020603050405020304" pitchFamily="18" charset="0"/>
                <a:cs typeface="Times New Roman" panose="02020603050405020304" pitchFamily="18" charset="0"/>
              </a:rPr>
              <a:t>-Based Single-Stage 6.78 MHz Transmitter for Wireless Power Transfer Applications(2019)</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Cooperative Integration of RF Energy Harvesting and Dedicated WPT for Wireless Sensor Networks(2019)</a:t>
            </a:r>
          </a:p>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A Three-Phase Single-Stage AC–DC Wireless-Power-Transfer Converter With Power Factor Correction and Bus Voltage Control(2020)</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Individually Regulated Multiple-Output WPT System With a Single PWM and Single Transformer (2020)</a:t>
            </a:r>
          </a:p>
          <a:p>
            <a:endParaRPr lang="en-US" sz="1000" dirty="0">
              <a:latin typeface="Times New Roman" panose="02020603050405020304" pitchFamily="18" charset="0"/>
              <a:cs typeface="Times New Roman" panose="02020603050405020304" pitchFamily="18" charset="0"/>
            </a:endParaRPr>
          </a:p>
          <a:p>
            <a:endParaRPr lang="en-US" sz="1000" dirty="0">
              <a:latin typeface="Times New Roman" panose="02020603050405020304" pitchFamily="18" charset="0"/>
              <a:cs typeface="Times New Roman" panose="02020603050405020304" pitchFamily="18" charset="0"/>
            </a:endParaRPr>
          </a:p>
          <a:p>
            <a:endParaRPr lang="en-US" sz="1000" dirty="0">
              <a:latin typeface="Times New Roman" panose="02020603050405020304" pitchFamily="18" charset="0"/>
              <a:cs typeface="Times New Roman" panose="02020603050405020304" pitchFamily="18" charset="0"/>
            </a:endParaRPr>
          </a:p>
        </p:txBody>
      </p:sp>
      <p:sp>
        <p:nvSpPr>
          <p:cNvPr id="47" name="TextBox 46">
            <a:extLst>
              <a:ext uri="{FF2B5EF4-FFF2-40B4-BE49-F238E27FC236}">
                <a16:creationId xmlns:a16="http://schemas.microsoft.com/office/drawing/2014/main" id="{CB339882-1CAE-4858-917A-C0F630273287}"/>
              </a:ext>
            </a:extLst>
          </p:cNvPr>
          <p:cNvSpPr txBox="1"/>
          <p:nvPr/>
        </p:nvSpPr>
        <p:spPr>
          <a:xfrm>
            <a:off x="9192594" y="886247"/>
            <a:ext cx="2258008" cy="584775"/>
          </a:xfrm>
          <a:prstGeom prst="rect">
            <a:avLst/>
          </a:prstGeom>
          <a:noFill/>
        </p:spPr>
        <p:txBody>
          <a:bodyPr wrap="square" rtlCol="0">
            <a:spAutoFit/>
          </a:bodyPr>
          <a:lstStyle/>
          <a:p>
            <a:pPr algn="ctr"/>
            <a:r>
              <a:rPr lang="en-US" sz="1600" dirty="0">
                <a:solidFill>
                  <a:srgbClr val="FF0000"/>
                </a:solidFill>
                <a:latin typeface="Times New Roman" panose="02020603050405020304" pitchFamily="18" charset="0"/>
                <a:cs typeface="Times New Roman" panose="02020603050405020304" pitchFamily="18" charset="0"/>
              </a:rPr>
              <a:t>Concurrent Power Transfer</a:t>
            </a:r>
          </a:p>
        </p:txBody>
      </p:sp>
      <p:sp>
        <p:nvSpPr>
          <p:cNvPr id="48" name="TextBox 47">
            <a:extLst>
              <a:ext uri="{FF2B5EF4-FFF2-40B4-BE49-F238E27FC236}">
                <a16:creationId xmlns:a16="http://schemas.microsoft.com/office/drawing/2014/main" id="{18711A11-683D-4033-9EDB-F0B96FFEA165}"/>
              </a:ext>
            </a:extLst>
          </p:cNvPr>
          <p:cNvSpPr txBox="1"/>
          <p:nvPr/>
        </p:nvSpPr>
        <p:spPr>
          <a:xfrm>
            <a:off x="8451197" y="1524746"/>
            <a:ext cx="3740803" cy="6555641"/>
          </a:xfrm>
          <a:prstGeom prst="rect">
            <a:avLst/>
          </a:prstGeom>
          <a:noFill/>
        </p:spPr>
        <p:txBody>
          <a:bodyPr wrap="square" rtlCol="0">
            <a:spAutoFit/>
          </a:bodyPr>
          <a:lstStyle/>
          <a:p>
            <a:pPr marL="228600" indent="-228600">
              <a:buFont typeface="+mj-lt"/>
              <a:buAutoNum type="arabicPeriod"/>
            </a:pPr>
            <a:r>
              <a:rPr lang="en-US" sz="1000" dirty="0">
                <a:solidFill>
                  <a:schemeClr val="accent1"/>
                </a:solidFill>
                <a:latin typeface="Times New Roman" panose="02020603050405020304" pitchFamily="18" charset="0"/>
                <a:cs typeface="Times New Roman" panose="02020603050405020304" pitchFamily="18" charset="0"/>
              </a:rPr>
              <a:t>Multifrequency Inductive Power Transfer(2014)</a:t>
            </a:r>
          </a:p>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Wireless Power Transfer With Concurrent 200-kHz and 6.78-MHz Operation in a Single-Transmitter Device (2016)</a:t>
            </a:r>
            <a:endParaRPr lang="en-US" sz="1000" dirty="0">
              <a:solidFill>
                <a:schemeClr val="accent1"/>
              </a:solidFill>
              <a:latin typeface="Times New Roman" panose="02020603050405020304" pitchFamily="18" charset="0"/>
              <a:cs typeface="Times New Roman" panose="02020603050405020304" pitchFamily="18" charset="0"/>
            </a:endParaRPr>
          </a:p>
          <a:p>
            <a:pPr marL="228600" indent="-228600">
              <a:buFont typeface="+mj-lt"/>
              <a:buAutoNum type="arabicPeriod"/>
            </a:pPr>
            <a:r>
              <a:rPr lang="en-US" sz="1000" dirty="0">
                <a:solidFill>
                  <a:srgbClr val="004A99"/>
                </a:solidFill>
              </a:rPr>
              <a:t>Gan-Based Dual-Mode Wireless Power Transfer Using Multifrequency Programmed Pulse Width Modulation (2017)</a:t>
            </a:r>
          </a:p>
          <a:p>
            <a:pPr marL="228600" indent="-228600">
              <a:buFont typeface="+mj-lt"/>
              <a:buAutoNum type="arabicPeriod"/>
            </a:pPr>
            <a:r>
              <a:rPr lang="en-US" sz="1000" dirty="0"/>
              <a:t>A Multifrequency Superposition Methodology to Achieve High Efficiency and Targeted Power Distribution for a Multiload MCRWPT System (2018)</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Cross Interference Minimization and Simultaneous Wireless Power Transfer to Multiple Frequency Loads Using Frequency Bifurcation Approach(2019)</a:t>
            </a:r>
            <a:endParaRPr lang="en-US" sz="1000" dirty="0">
              <a:solidFill>
                <a:srgbClr val="004A99"/>
              </a:solidFill>
            </a:endParaRPr>
          </a:p>
          <a:p>
            <a:pPr marL="228600" indent="-228600">
              <a:buFont typeface="+mj-lt"/>
              <a:buAutoNum type="arabicPeriod"/>
            </a:pPr>
            <a:r>
              <a:rPr lang="en-US" sz="1000" dirty="0"/>
              <a:t>A Gallium Nitride (</a:t>
            </a:r>
            <a:r>
              <a:rPr lang="en-US" sz="1000" dirty="0" err="1"/>
              <a:t>GaN</a:t>
            </a:r>
            <a:r>
              <a:rPr lang="en-US" sz="1000" dirty="0"/>
              <a:t>)-Based Single-Inductor Multiple-Output (SIMO) Inverter With Multi-Frequency AC Outputs (2019)</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Single-Inductor Multiple-Output (SIMO) Buck Hybrid Converter for Simultaneous Wireless and Wired Power Transfer(2020)</a:t>
            </a:r>
          </a:p>
          <a:p>
            <a:pPr marL="228600" indent="-228600">
              <a:buFont typeface="+mj-lt"/>
              <a:buAutoNum type="arabicPeriod"/>
            </a:pPr>
            <a:r>
              <a:rPr lang="en-US" sz="1000" dirty="0"/>
              <a:t>Generalized methodology to generate, amplify and compensate multi-frequency power for a single-inverter-based MF-MR-S-WPT system (2020)</a:t>
            </a: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Concurrent Wireless Power Transfer to Multiple Receivers With Additional Resonant Frequencies and Reduced Power Switches (2020)</a:t>
            </a:r>
          </a:p>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Multifrequency and Multiload MCR-WPT System Using Hybrid Modulation Waves SPWM Control Method (2021)</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Multi-Frequency Multi-Amplitude Superposition Modulation Method With Phase Shift Optimization for Single Inverter of Wireless Power Transfer System (2021)</a:t>
            </a:r>
          </a:p>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Design and Control of a Decoupled Multichannel Wireless Power Transfer System Based on Multilevel Inverters (2022)</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A Dual-Frequency Three-Dimensional WPT System with Directional Power Transfer Capability at Two Separately Regulated Outputs (2022)</a:t>
            </a: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endParaRPr lang="en-US" sz="1000" dirty="0">
              <a:latin typeface="Times New Roman" panose="02020603050405020304" pitchFamily="18" charset="0"/>
              <a:cs typeface="Times New Roman" panose="02020603050405020304" pitchFamily="18" charset="0"/>
            </a:endParaRPr>
          </a:p>
          <a:p>
            <a:endParaRPr lang="en-US" sz="1000" dirty="0">
              <a:latin typeface="Times New Roman" panose="02020603050405020304" pitchFamily="18" charset="0"/>
              <a:cs typeface="Times New Roman" panose="02020603050405020304" pitchFamily="18" charset="0"/>
            </a:endParaRPr>
          </a:p>
          <a:p>
            <a:endParaRPr lang="en-US" sz="1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3932744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3455" y="310772"/>
            <a:ext cx="10990263" cy="568412"/>
          </a:xfrm>
        </p:spPr>
        <p:txBody>
          <a:bodyPr/>
          <a:lstStyle/>
          <a:p>
            <a:endParaRPr lang="sv-SE"/>
          </a:p>
        </p:txBody>
      </p:sp>
      <p:sp>
        <p:nvSpPr>
          <p:cNvPr id="3" name="Content Placeholder 2"/>
          <p:cNvSpPr>
            <a:spLocks noGrp="1"/>
          </p:cNvSpPr>
          <p:nvPr>
            <p:ph idx="1"/>
          </p:nvPr>
        </p:nvSpPr>
        <p:spPr/>
        <p:txBody>
          <a:bodyPr/>
          <a:lstStyle/>
          <a:p>
            <a:endParaRPr lang="sv-SE" dirty="0"/>
          </a:p>
        </p:txBody>
      </p:sp>
    </p:spTree>
    <p:extLst>
      <p:ext uri="{BB962C8B-B14F-4D97-AF65-F5344CB8AC3E}">
        <p14:creationId xmlns:p14="http://schemas.microsoft.com/office/powerpoint/2010/main" val="2742065083"/>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3" name="Picture 32">
            <a:extLst>
              <a:ext uri="{FF2B5EF4-FFF2-40B4-BE49-F238E27FC236}">
                <a16:creationId xmlns:a16="http://schemas.microsoft.com/office/drawing/2014/main" id="{96D985F1-6DDB-4485-B204-CE878F7481E0}"/>
              </a:ext>
            </a:extLst>
          </p:cNvPr>
          <p:cNvPicPr>
            <a:picLocks noChangeAspect="1"/>
          </p:cNvPicPr>
          <p:nvPr/>
        </p:nvPicPr>
        <p:blipFill>
          <a:blip r:embed="rId2"/>
          <a:stretch>
            <a:fillRect/>
          </a:stretch>
        </p:blipFill>
        <p:spPr>
          <a:xfrm>
            <a:off x="5862505" y="2792972"/>
            <a:ext cx="3810000" cy="2857500"/>
          </a:xfrm>
          <a:prstGeom prst="rect">
            <a:avLst/>
          </a:prstGeom>
        </p:spPr>
      </p:pic>
      <p:grpSp>
        <p:nvGrpSpPr>
          <p:cNvPr id="34" name="Group 33">
            <a:extLst>
              <a:ext uri="{FF2B5EF4-FFF2-40B4-BE49-F238E27FC236}">
                <a16:creationId xmlns:a16="http://schemas.microsoft.com/office/drawing/2014/main" id="{42931F40-6C16-4D21-A9C5-F36DFF06BB93}"/>
              </a:ext>
            </a:extLst>
          </p:cNvPr>
          <p:cNvGrpSpPr/>
          <p:nvPr/>
        </p:nvGrpSpPr>
        <p:grpSpPr>
          <a:xfrm>
            <a:off x="4272179" y="123692"/>
            <a:ext cx="2748641" cy="2032430"/>
            <a:chOff x="1150962" y="1507183"/>
            <a:chExt cx="2748641" cy="2032430"/>
          </a:xfrm>
        </p:grpSpPr>
        <p:cxnSp>
          <p:nvCxnSpPr>
            <p:cNvPr id="35" name="Straight Arrow Connector 34">
              <a:extLst>
                <a:ext uri="{FF2B5EF4-FFF2-40B4-BE49-F238E27FC236}">
                  <a16:creationId xmlns:a16="http://schemas.microsoft.com/office/drawing/2014/main" id="{8687EC02-15CD-49D2-8D11-D775B5BD7E18}"/>
                </a:ext>
              </a:extLst>
            </p:cNvPr>
            <p:cNvCxnSpPr>
              <a:cxnSpLocks/>
            </p:cNvCxnSpPr>
            <p:nvPr/>
          </p:nvCxnSpPr>
          <p:spPr>
            <a:xfrm>
              <a:off x="1156196" y="3539612"/>
              <a:ext cx="1200647" cy="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C891F983-6451-47A5-AC38-A0001366C6C3}"/>
                </a:ext>
              </a:extLst>
            </p:cNvPr>
            <p:cNvCxnSpPr>
              <a:cxnSpLocks/>
            </p:cNvCxnSpPr>
            <p:nvPr/>
          </p:nvCxnSpPr>
          <p:spPr>
            <a:xfrm flipV="1">
              <a:off x="2356843" y="2513991"/>
              <a:ext cx="1305355" cy="1025622"/>
            </a:xfrm>
            <a:prstGeom prst="straightConnector1">
              <a:avLst/>
            </a:prstGeom>
            <a:ln w="2540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2838007F-26DE-4538-8E08-DE7810BA5B4D}"/>
                </a:ext>
              </a:extLst>
            </p:cNvPr>
            <p:cNvCxnSpPr>
              <a:cxnSpLocks/>
            </p:cNvCxnSpPr>
            <p:nvPr/>
          </p:nvCxnSpPr>
          <p:spPr>
            <a:xfrm flipV="1">
              <a:off x="3667433" y="1507183"/>
              <a:ext cx="232170" cy="1006809"/>
            </a:xfrm>
            <a:prstGeom prst="straightConnector1">
              <a:avLst/>
            </a:prstGeom>
            <a:ln w="25400">
              <a:solidFill>
                <a:srgbClr val="0039AC"/>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276EDD62-DB12-48EE-9BA0-2970AA56E861}"/>
                </a:ext>
              </a:extLst>
            </p:cNvPr>
            <p:cNvCxnSpPr>
              <a:cxnSpLocks/>
            </p:cNvCxnSpPr>
            <p:nvPr/>
          </p:nvCxnSpPr>
          <p:spPr>
            <a:xfrm flipV="1">
              <a:off x="1150962" y="1507183"/>
              <a:ext cx="2748641" cy="2032429"/>
            </a:xfrm>
            <a:prstGeom prst="straightConnector1">
              <a:avLst/>
            </a:prstGeom>
            <a:ln w="25400">
              <a:solidFill>
                <a:schemeClr val="tx1"/>
              </a:solidFill>
              <a:prstDash val="dash"/>
              <a:tailEnd type="non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1F93607E-475E-40E0-A95C-3F1CB97383FC}"/>
                  </a:ext>
                </a:extLst>
              </p:cNvPr>
              <p:cNvSpPr txBox="1"/>
              <p:nvPr/>
            </p:nvSpPr>
            <p:spPr>
              <a:xfrm rot="19268304">
                <a:off x="4793907" y="655634"/>
                <a:ext cx="1634481" cy="43127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𝐴𝐵𝐶</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39" name="TextBox 38">
                <a:extLst>
                  <a:ext uri="{FF2B5EF4-FFF2-40B4-BE49-F238E27FC236}">
                    <a16:creationId xmlns:a16="http://schemas.microsoft.com/office/drawing/2014/main" id="{1F93607E-475E-40E0-A95C-3F1CB97383FC}"/>
                  </a:ext>
                </a:extLst>
              </p:cNvPr>
              <p:cNvSpPr txBox="1">
                <a:spLocks noRot="1" noChangeAspect="1" noMove="1" noResize="1" noEditPoints="1" noAdjustHandles="1" noChangeArrowheads="1" noChangeShapeType="1" noTextEdit="1"/>
              </p:cNvSpPr>
              <p:nvPr/>
            </p:nvSpPr>
            <p:spPr>
              <a:xfrm rot="19268304">
                <a:off x="4793907" y="655634"/>
                <a:ext cx="1634481" cy="431272"/>
              </a:xfrm>
              <a:prstGeom prst="rect">
                <a:avLst/>
              </a:prstGeom>
              <a:blipFill>
                <a:blip r:embed="rId3"/>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39C0750-3089-473F-8FC7-5CF12CE44F1A}"/>
                  </a:ext>
                </a:extLst>
              </p:cNvPr>
              <p:cNvSpPr txBox="1"/>
              <p:nvPr/>
            </p:nvSpPr>
            <p:spPr>
              <a:xfrm>
                <a:off x="4139923" y="1735335"/>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𝜙</m:t>
                      </m:r>
                    </m:oMath>
                  </m:oMathPara>
                </a14:m>
                <a:endParaRPr lang="en-US" sz="2200" dirty="0"/>
              </a:p>
            </p:txBody>
          </p:sp>
        </mc:Choice>
        <mc:Fallback xmlns="">
          <p:sp>
            <p:nvSpPr>
              <p:cNvPr id="40" name="TextBox 39">
                <a:extLst>
                  <a:ext uri="{FF2B5EF4-FFF2-40B4-BE49-F238E27FC236}">
                    <a16:creationId xmlns:a16="http://schemas.microsoft.com/office/drawing/2014/main" id="{E39C0750-3089-473F-8FC7-5CF12CE44F1A}"/>
                  </a:ext>
                </a:extLst>
              </p:cNvPr>
              <p:cNvSpPr txBox="1">
                <a:spLocks noRot="1" noChangeAspect="1" noMove="1" noResize="1" noEditPoints="1" noAdjustHandles="1" noChangeArrowheads="1" noChangeShapeType="1" noTextEdit="1"/>
              </p:cNvSpPr>
              <p:nvPr/>
            </p:nvSpPr>
            <p:spPr>
              <a:xfrm>
                <a:off x="4139923" y="1735335"/>
                <a:ext cx="1634481" cy="338554"/>
              </a:xfrm>
              <a:prstGeom prst="rect">
                <a:avLst/>
              </a:prstGeom>
              <a:blipFill>
                <a:blip r:embed="rId4"/>
                <a:stretch>
                  <a:fillRect b="-36364"/>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C5B954CE-BAA8-448C-AA48-A99159F29801}"/>
                  </a:ext>
                </a:extLst>
              </p:cNvPr>
              <p:cNvSpPr txBox="1"/>
              <p:nvPr/>
            </p:nvSpPr>
            <p:spPr>
              <a:xfrm rot="19308726">
                <a:off x="5128684" y="1227910"/>
                <a:ext cx="1634481"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𝐵</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41" name="TextBox 40">
                <a:extLst>
                  <a:ext uri="{FF2B5EF4-FFF2-40B4-BE49-F238E27FC236}">
                    <a16:creationId xmlns:a16="http://schemas.microsoft.com/office/drawing/2014/main" id="{C5B954CE-BAA8-448C-AA48-A99159F29801}"/>
                  </a:ext>
                </a:extLst>
              </p:cNvPr>
              <p:cNvSpPr txBox="1">
                <a:spLocks noRot="1" noChangeAspect="1" noMove="1" noResize="1" noEditPoints="1" noAdjustHandles="1" noChangeArrowheads="1" noChangeShapeType="1" noTextEdit="1"/>
              </p:cNvSpPr>
              <p:nvPr/>
            </p:nvSpPr>
            <p:spPr>
              <a:xfrm rot="19308726">
                <a:off x="5128684" y="1227910"/>
                <a:ext cx="1634481" cy="429092"/>
              </a:xfrm>
              <a:prstGeom prst="rect">
                <a:avLst/>
              </a:prstGeom>
              <a:blipFill>
                <a:blip r:embed="rId5"/>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16FA2E7C-3570-4D85-9E6C-FDE449602597}"/>
                  </a:ext>
                </a:extLst>
              </p:cNvPr>
              <p:cNvSpPr txBox="1"/>
              <p:nvPr/>
            </p:nvSpPr>
            <p:spPr>
              <a:xfrm rot="16904928">
                <a:off x="5805188" y="462336"/>
                <a:ext cx="1634481" cy="43127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𝐶</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42" name="TextBox 41">
                <a:extLst>
                  <a:ext uri="{FF2B5EF4-FFF2-40B4-BE49-F238E27FC236}">
                    <a16:creationId xmlns:a16="http://schemas.microsoft.com/office/drawing/2014/main" id="{16FA2E7C-3570-4D85-9E6C-FDE449602597}"/>
                  </a:ext>
                </a:extLst>
              </p:cNvPr>
              <p:cNvSpPr txBox="1">
                <a:spLocks noRot="1" noChangeAspect="1" noMove="1" noResize="1" noEditPoints="1" noAdjustHandles="1" noChangeArrowheads="1" noChangeShapeType="1" noTextEdit="1"/>
              </p:cNvSpPr>
              <p:nvPr/>
            </p:nvSpPr>
            <p:spPr>
              <a:xfrm rot="16904928">
                <a:off x="5805188" y="462336"/>
                <a:ext cx="1634481" cy="431272"/>
              </a:xfrm>
              <a:prstGeom prst="rect">
                <a:avLst/>
              </a:prstGeom>
              <a:blipFill>
                <a:blip r:embed="rId6"/>
                <a:stretch>
                  <a:fillRect/>
                </a:stretch>
              </a:blipFill>
            </p:spPr>
            <p:txBody>
              <a:bodyPr/>
              <a:lstStyle/>
              <a:p>
                <a:r>
                  <a:rPr lang="sv-SE">
                    <a:noFill/>
                  </a:rPr>
                  <a:t> </a:t>
                </a:r>
              </a:p>
            </p:txBody>
          </p:sp>
        </mc:Fallback>
      </mc:AlternateContent>
      <p:sp>
        <p:nvSpPr>
          <p:cNvPr id="43" name="Arc 42">
            <a:extLst>
              <a:ext uri="{FF2B5EF4-FFF2-40B4-BE49-F238E27FC236}">
                <a16:creationId xmlns:a16="http://schemas.microsoft.com/office/drawing/2014/main" id="{D4A3E4AF-9DBA-4862-A0A7-A453C4582F60}"/>
              </a:ext>
            </a:extLst>
          </p:cNvPr>
          <p:cNvSpPr/>
          <p:nvPr/>
        </p:nvSpPr>
        <p:spPr>
          <a:xfrm rot="2814214">
            <a:off x="4358964" y="1803374"/>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9FC3E724-4164-42F4-B6CD-CCDD3A37AB7B}"/>
                  </a:ext>
                </a:extLst>
              </p:cNvPr>
              <p:cNvSpPr txBox="1"/>
              <p:nvPr/>
            </p:nvSpPr>
            <p:spPr>
              <a:xfrm>
                <a:off x="4139923" y="2215801"/>
                <a:ext cx="1634481"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44" name="TextBox 43">
                <a:extLst>
                  <a:ext uri="{FF2B5EF4-FFF2-40B4-BE49-F238E27FC236}">
                    <a16:creationId xmlns:a16="http://schemas.microsoft.com/office/drawing/2014/main" id="{9FC3E724-4164-42F4-B6CD-CCDD3A37AB7B}"/>
                  </a:ext>
                </a:extLst>
              </p:cNvPr>
              <p:cNvSpPr txBox="1">
                <a:spLocks noRot="1" noChangeAspect="1" noMove="1" noResize="1" noEditPoints="1" noAdjustHandles="1" noChangeArrowheads="1" noChangeShapeType="1" noTextEdit="1"/>
              </p:cNvSpPr>
              <p:nvPr/>
            </p:nvSpPr>
            <p:spPr>
              <a:xfrm>
                <a:off x="4139923" y="2215801"/>
                <a:ext cx="1634481" cy="429092"/>
              </a:xfrm>
              <a:prstGeom prst="rect">
                <a:avLst/>
              </a:prstGeom>
              <a:blipFill>
                <a:blip r:embed="rId7"/>
                <a:stretch>
                  <a:fillRect t="-14085" b="-21127"/>
                </a:stretch>
              </a:blipFill>
            </p:spPr>
            <p:txBody>
              <a:bodyPr/>
              <a:lstStyle/>
              <a:p>
                <a:r>
                  <a:rPr lang="sv-SE">
                    <a:noFill/>
                  </a:rPr>
                  <a:t> </a:t>
                </a:r>
              </a:p>
            </p:txBody>
          </p:sp>
        </mc:Fallback>
      </mc:AlternateContent>
      <p:cxnSp>
        <p:nvCxnSpPr>
          <p:cNvPr id="45" name="Straight Connector 44">
            <a:extLst>
              <a:ext uri="{FF2B5EF4-FFF2-40B4-BE49-F238E27FC236}">
                <a16:creationId xmlns:a16="http://schemas.microsoft.com/office/drawing/2014/main" id="{09AF85FA-0B95-4CD6-83B4-5551F56BE402}"/>
              </a:ext>
            </a:extLst>
          </p:cNvPr>
          <p:cNvCxnSpPr/>
          <p:nvPr/>
        </p:nvCxnSpPr>
        <p:spPr>
          <a:xfrm>
            <a:off x="5478060" y="2146288"/>
            <a:ext cx="1859472" cy="983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6" name="Arc 45">
            <a:extLst>
              <a:ext uri="{FF2B5EF4-FFF2-40B4-BE49-F238E27FC236}">
                <a16:creationId xmlns:a16="http://schemas.microsoft.com/office/drawing/2014/main" id="{3D767F05-08C7-455D-B8C9-32C8230132C1}"/>
              </a:ext>
            </a:extLst>
          </p:cNvPr>
          <p:cNvSpPr/>
          <p:nvPr/>
        </p:nvSpPr>
        <p:spPr>
          <a:xfrm rot="2814214">
            <a:off x="5542302" y="1845561"/>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4AB7A3D7-2541-417F-AF34-EC5A2E4DCE53}"/>
                  </a:ext>
                </a:extLst>
              </p:cNvPr>
              <p:cNvSpPr txBox="1"/>
              <p:nvPr/>
            </p:nvSpPr>
            <p:spPr>
              <a:xfrm>
                <a:off x="5327117" y="1798368"/>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𝛼</m:t>
                      </m:r>
                    </m:oMath>
                  </m:oMathPara>
                </a14:m>
                <a:endParaRPr lang="en-US" sz="2200" dirty="0"/>
              </a:p>
            </p:txBody>
          </p:sp>
        </mc:Choice>
        <mc:Fallback xmlns="">
          <p:sp>
            <p:nvSpPr>
              <p:cNvPr id="47" name="TextBox 46">
                <a:extLst>
                  <a:ext uri="{FF2B5EF4-FFF2-40B4-BE49-F238E27FC236}">
                    <a16:creationId xmlns:a16="http://schemas.microsoft.com/office/drawing/2014/main" id="{4AB7A3D7-2541-417F-AF34-EC5A2E4DCE53}"/>
                  </a:ext>
                </a:extLst>
              </p:cNvPr>
              <p:cNvSpPr txBox="1">
                <a:spLocks noRot="1" noChangeAspect="1" noMove="1" noResize="1" noEditPoints="1" noAdjustHandles="1" noChangeArrowheads="1" noChangeShapeType="1" noTextEdit="1"/>
              </p:cNvSpPr>
              <p:nvPr/>
            </p:nvSpPr>
            <p:spPr>
              <a:xfrm>
                <a:off x="5327117" y="1798368"/>
                <a:ext cx="1634481" cy="338554"/>
              </a:xfrm>
              <a:prstGeom prst="rect">
                <a:avLst/>
              </a:prstGeom>
              <a:blipFill>
                <a:blip r:embed="rId8"/>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666F919-25EF-4866-8D83-02D9455783A5}"/>
                  </a:ext>
                </a:extLst>
              </p:cNvPr>
              <p:cNvSpPr txBox="1"/>
              <p:nvPr/>
            </p:nvSpPr>
            <p:spPr>
              <a:xfrm>
                <a:off x="6332404" y="378220"/>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𝛽</m:t>
                      </m:r>
                    </m:oMath>
                  </m:oMathPara>
                </a14:m>
                <a:endParaRPr lang="en-US" sz="2200" dirty="0"/>
              </a:p>
            </p:txBody>
          </p:sp>
        </mc:Choice>
        <mc:Fallback xmlns="">
          <p:sp>
            <p:nvSpPr>
              <p:cNvPr id="48" name="TextBox 47">
                <a:extLst>
                  <a:ext uri="{FF2B5EF4-FFF2-40B4-BE49-F238E27FC236}">
                    <a16:creationId xmlns:a16="http://schemas.microsoft.com/office/drawing/2014/main" id="{B666F919-25EF-4866-8D83-02D9455783A5}"/>
                  </a:ext>
                </a:extLst>
              </p:cNvPr>
              <p:cNvSpPr txBox="1">
                <a:spLocks noRot="1" noChangeAspect="1" noMove="1" noResize="1" noEditPoints="1" noAdjustHandles="1" noChangeArrowheads="1" noChangeShapeType="1" noTextEdit="1"/>
              </p:cNvSpPr>
              <p:nvPr/>
            </p:nvSpPr>
            <p:spPr>
              <a:xfrm>
                <a:off x="6332404" y="378220"/>
                <a:ext cx="1634481" cy="338554"/>
              </a:xfrm>
              <a:prstGeom prst="rect">
                <a:avLst/>
              </a:prstGeom>
              <a:blipFill>
                <a:blip r:embed="rId9"/>
                <a:stretch>
                  <a:fillRect b="-35714"/>
                </a:stretch>
              </a:blipFill>
            </p:spPr>
            <p:txBody>
              <a:bodyPr/>
              <a:lstStyle/>
              <a:p>
                <a:r>
                  <a:rPr lang="sv-SE">
                    <a:noFill/>
                  </a:rPr>
                  <a:t> </a:t>
                </a:r>
              </a:p>
            </p:txBody>
          </p:sp>
        </mc:Fallback>
      </mc:AlternateContent>
      <p:cxnSp>
        <p:nvCxnSpPr>
          <p:cNvPr id="49" name="Straight Connector 48">
            <a:extLst>
              <a:ext uri="{FF2B5EF4-FFF2-40B4-BE49-F238E27FC236}">
                <a16:creationId xmlns:a16="http://schemas.microsoft.com/office/drawing/2014/main" id="{FEAE24A3-7280-4EF7-9DF2-796E3573FD0F}"/>
              </a:ext>
            </a:extLst>
          </p:cNvPr>
          <p:cNvCxnSpPr>
            <a:cxnSpLocks/>
          </p:cNvCxnSpPr>
          <p:nvPr/>
        </p:nvCxnSpPr>
        <p:spPr>
          <a:xfrm flipV="1">
            <a:off x="6783415" y="366651"/>
            <a:ext cx="909802" cy="76384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0" name="Arc 49">
            <a:extLst>
              <a:ext uri="{FF2B5EF4-FFF2-40B4-BE49-F238E27FC236}">
                <a16:creationId xmlns:a16="http://schemas.microsoft.com/office/drawing/2014/main" id="{88C2E955-622F-424C-A8BB-85266E8ACF08}"/>
              </a:ext>
            </a:extLst>
          </p:cNvPr>
          <p:cNvSpPr/>
          <p:nvPr/>
        </p:nvSpPr>
        <p:spPr>
          <a:xfrm rot="1387721">
            <a:off x="6769690" y="714337"/>
            <a:ext cx="541320" cy="245805"/>
          </a:xfrm>
          <a:prstGeom prst="arc">
            <a:avLst>
              <a:gd name="adj1" fmla="val 12427162"/>
              <a:gd name="adj2" fmla="val 1877785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9C14C47-7BE8-489B-8823-016DA802BE87}"/>
                  </a:ext>
                </a:extLst>
              </p:cNvPr>
              <p:cNvSpPr txBox="1"/>
              <p:nvPr/>
            </p:nvSpPr>
            <p:spPr>
              <a:xfrm>
                <a:off x="7521725" y="2325327"/>
                <a:ext cx="1846248" cy="445250"/>
              </a:xfrm>
              <a:prstGeom prst="rect">
                <a:avLst/>
              </a:prstGeom>
              <a:noFill/>
            </p:spPr>
            <p:txBody>
              <a:bodyPr wrap="square" rtlCol="0">
                <a:spAutoFit/>
              </a:bodyPr>
              <a:lstStyle/>
              <a:p>
                <a:r>
                  <a:rPr lang="en-US" dirty="0">
                    <a:solidFill>
                      <a:srgbClr val="C00000"/>
                    </a:solidFill>
                    <a:latin typeface="Times New Roman" panose="02020603050405020304" pitchFamily="18" charset="0"/>
                    <a:cs typeface="Times New Roman" panose="02020603050405020304" pitchFamily="18" charset="0"/>
                  </a:rPr>
                  <a:t> </a:t>
                </a:r>
                <a14:m>
                  <m:oMath xmlns:m="http://schemas.openxmlformats.org/officeDocument/2006/math">
                    <m:r>
                      <a:rPr lang="en-US" b="0" i="0" dirty="0" smtClean="0">
                        <a:solidFill>
                          <a:srgbClr val="C00000"/>
                        </a:solidFill>
                        <a:latin typeface="Cambria Math" panose="02040503050406030204" pitchFamily="18" charset="0"/>
                      </a:rPr>
                      <m:t>| </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𝐵</m:t>
                            </m:r>
                          </m:sub>
                        </m:sSub>
                      </m:e>
                      <m:sub>
                        <m:r>
                          <a:rPr lang="en-US" i="1" dirty="0">
                            <a:solidFill>
                              <a:srgbClr val="C00000"/>
                            </a:solidFill>
                            <a:latin typeface="Cambria Math" panose="02040503050406030204" pitchFamily="18" charset="0"/>
                          </a:rPr>
                          <m:t>𝑓𝑠</m:t>
                        </m:r>
                      </m:sub>
                    </m:sSub>
                  </m:oMath>
                </a14:m>
                <a:r>
                  <a:rPr lang="en-US" dirty="0">
                    <a:solidFill>
                      <a:srgbClr val="C00000"/>
                    </a:solidFill>
                    <a:latin typeface="Times New Roman" panose="02020603050405020304" pitchFamily="18" charset="0"/>
                    <a:cs typeface="Times New Roman" panose="02020603050405020304" pitchFamily="18" charset="0"/>
                  </a:rPr>
                  <a:t>-</a:t>
                </a:r>
                <a14:m>
                  <m:oMath xmlns:m="http://schemas.openxmlformats.org/officeDocument/2006/math">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smtClean="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𝐶</m:t>
                            </m:r>
                          </m:sub>
                        </m:sSub>
                      </m:e>
                      <m:sub>
                        <m:r>
                          <a:rPr lang="en-US" i="1" dirty="0">
                            <a:solidFill>
                              <a:srgbClr val="C00000"/>
                            </a:solidFill>
                            <a:latin typeface="Cambria Math" panose="02040503050406030204" pitchFamily="18" charset="0"/>
                          </a:rPr>
                          <m:t>𝑓𝑠</m:t>
                        </m:r>
                        <m:r>
                          <a:rPr lang="en-US" i="1" dirty="0">
                            <a:solidFill>
                              <a:srgbClr val="C00000"/>
                            </a:solidFill>
                            <a:latin typeface="Cambria Math" panose="02040503050406030204" pitchFamily="18" charset="0"/>
                          </a:rPr>
                          <m:t>  </m:t>
                        </m:r>
                      </m:sub>
                    </m:sSub>
                    <m:r>
                      <a:rPr lang="en-US" b="0" i="1" dirty="0" smtClean="0">
                        <a:solidFill>
                          <a:srgbClr val="C00000"/>
                        </a:solidFill>
                        <a:latin typeface="Cambria Math" panose="02040503050406030204" pitchFamily="18" charset="0"/>
                      </a:rPr>
                      <m:t>|</m:t>
                    </m:r>
                  </m:oMath>
                </a14:m>
                <a:endParaRPr lang="en-US" dirty="0">
                  <a:solidFill>
                    <a:srgbClr val="C00000"/>
                  </a:solidFill>
                </a:endParaRPr>
              </a:p>
            </p:txBody>
          </p:sp>
        </mc:Choice>
        <mc:Fallback xmlns="">
          <p:sp>
            <p:nvSpPr>
              <p:cNvPr id="51" name="TextBox 50">
                <a:extLst>
                  <a:ext uri="{FF2B5EF4-FFF2-40B4-BE49-F238E27FC236}">
                    <a16:creationId xmlns:a16="http://schemas.microsoft.com/office/drawing/2014/main" id="{99C14C47-7BE8-489B-8823-016DA802BE87}"/>
                  </a:ext>
                </a:extLst>
              </p:cNvPr>
              <p:cNvSpPr txBox="1">
                <a:spLocks noRot="1" noChangeAspect="1" noMove="1" noResize="1" noEditPoints="1" noAdjustHandles="1" noChangeArrowheads="1" noChangeShapeType="1" noTextEdit="1"/>
              </p:cNvSpPr>
              <p:nvPr/>
            </p:nvSpPr>
            <p:spPr>
              <a:xfrm>
                <a:off x="7521725" y="2325327"/>
                <a:ext cx="1846248" cy="445250"/>
              </a:xfrm>
              <a:prstGeom prst="rect">
                <a:avLst/>
              </a:prstGeom>
              <a:blipFill>
                <a:blip r:embed="rId10"/>
                <a:stretch>
                  <a:fillRect t="-5479" b="-8219"/>
                </a:stretch>
              </a:blipFill>
            </p:spPr>
            <p:txBody>
              <a:bodyPr/>
              <a:lstStyle/>
              <a:p>
                <a:r>
                  <a:rPr lang="sv-SE">
                    <a:noFill/>
                  </a:rPr>
                  <a:t> </a:t>
                </a:r>
              </a:p>
            </p:txBody>
          </p:sp>
        </mc:Fallback>
      </mc:AlternateContent>
      <p:sp>
        <p:nvSpPr>
          <p:cNvPr id="52" name="TextBox 51">
            <a:extLst>
              <a:ext uri="{FF2B5EF4-FFF2-40B4-BE49-F238E27FC236}">
                <a16:creationId xmlns:a16="http://schemas.microsoft.com/office/drawing/2014/main" id="{71EAB1BB-A155-493B-8CB6-C93DDCB934A8}"/>
              </a:ext>
            </a:extLst>
          </p:cNvPr>
          <p:cNvSpPr txBox="1"/>
          <p:nvPr/>
        </p:nvSpPr>
        <p:spPr>
          <a:xfrm>
            <a:off x="7541286" y="5687974"/>
            <a:ext cx="985816" cy="430887"/>
          </a:xfrm>
          <a:prstGeom prst="rect">
            <a:avLst/>
          </a:prstGeom>
          <a:noFill/>
        </p:spPr>
        <p:txBody>
          <a:bodyPr wrap="square" rtlCol="0">
            <a:spAutoFit/>
          </a:bodyPr>
          <a:lstStyle/>
          <a:p>
            <a:r>
              <a:rPr lang="en-US" sz="2200" dirty="0" smtClean="0">
                <a:latin typeface="Times New Roman" panose="02020603050405020304" pitchFamily="18" charset="0"/>
                <a:cs typeface="Times New Roman" panose="02020603050405020304" pitchFamily="18" charset="0"/>
              </a:rPr>
              <a:t>(b)</a:t>
            </a:r>
            <a:endParaRPr lang="en-US" sz="2200" dirty="0">
              <a:latin typeface="Times New Roman" panose="02020603050405020304" pitchFamily="18" charset="0"/>
              <a:cs typeface="Times New Roman" panose="02020603050405020304" pitchFamily="18" charset="0"/>
            </a:endParaRPr>
          </a:p>
        </p:txBody>
      </p:sp>
      <p:sp>
        <p:nvSpPr>
          <p:cNvPr id="53" name="TextBox 52">
            <a:extLst>
              <a:ext uri="{FF2B5EF4-FFF2-40B4-BE49-F238E27FC236}">
                <a16:creationId xmlns:a16="http://schemas.microsoft.com/office/drawing/2014/main" id="{9AC663BD-B449-49A1-AFF8-7712C577E07E}"/>
              </a:ext>
            </a:extLst>
          </p:cNvPr>
          <p:cNvSpPr txBox="1"/>
          <p:nvPr/>
        </p:nvSpPr>
        <p:spPr>
          <a:xfrm>
            <a:off x="4576860" y="5676270"/>
            <a:ext cx="985816" cy="430887"/>
          </a:xfrm>
          <a:prstGeom prst="rect">
            <a:avLst/>
          </a:prstGeom>
          <a:noFill/>
        </p:spPr>
        <p:txBody>
          <a:bodyPr wrap="square" rtlCol="0">
            <a:spAutoFit/>
          </a:bodyPr>
          <a:lstStyle/>
          <a:p>
            <a:r>
              <a:rPr lang="en-US" sz="2200" dirty="0" smtClean="0">
                <a:latin typeface="Times New Roman" panose="02020603050405020304" pitchFamily="18" charset="0"/>
                <a:cs typeface="Times New Roman" panose="02020603050405020304" pitchFamily="18" charset="0"/>
              </a:rPr>
              <a:t>(a)</a:t>
            </a:r>
            <a:endParaRPr lang="en-US" sz="2200" dirty="0">
              <a:latin typeface="Times New Roman" panose="02020603050405020304" pitchFamily="18" charset="0"/>
              <a:cs typeface="Times New Roman" panose="02020603050405020304" pitchFamily="18" charset="0"/>
            </a:endParaRPr>
          </a:p>
        </p:txBody>
      </p:sp>
      <p:cxnSp>
        <p:nvCxnSpPr>
          <p:cNvPr id="54" name="Straight Connector 53">
            <a:extLst>
              <a:ext uri="{FF2B5EF4-FFF2-40B4-BE49-F238E27FC236}">
                <a16:creationId xmlns:a16="http://schemas.microsoft.com/office/drawing/2014/main" id="{19EBD052-6C55-45ED-A299-DDEA50CA9371}"/>
              </a:ext>
            </a:extLst>
          </p:cNvPr>
          <p:cNvCxnSpPr>
            <a:cxnSpLocks/>
          </p:cNvCxnSpPr>
          <p:nvPr/>
        </p:nvCxnSpPr>
        <p:spPr>
          <a:xfrm>
            <a:off x="7767505" y="2237607"/>
            <a:ext cx="0" cy="1836773"/>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BBAEC16-F3FF-435B-96B7-CF2B1A76221F}"/>
              </a:ext>
            </a:extLst>
          </p:cNvPr>
          <p:cNvCxnSpPr>
            <a:cxnSpLocks/>
          </p:cNvCxnSpPr>
          <p:nvPr/>
        </p:nvCxnSpPr>
        <p:spPr>
          <a:xfrm>
            <a:off x="8518744" y="2724113"/>
            <a:ext cx="0" cy="1469515"/>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12C561D5-BF09-4503-B138-D7F0ABD85EF9}"/>
              </a:ext>
            </a:extLst>
          </p:cNvPr>
          <p:cNvCxnSpPr>
            <a:cxnSpLocks/>
          </p:cNvCxnSpPr>
          <p:nvPr/>
        </p:nvCxnSpPr>
        <p:spPr>
          <a:xfrm>
            <a:off x="7815396" y="2743968"/>
            <a:ext cx="795493"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F3454730-E93C-4477-A98A-968C5EE570D3}"/>
              </a:ext>
            </a:extLst>
          </p:cNvPr>
          <p:cNvSpPr txBox="1"/>
          <p:nvPr/>
        </p:nvSpPr>
        <p:spPr>
          <a:xfrm>
            <a:off x="6000677" y="2296928"/>
            <a:ext cx="985816" cy="430887"/>
          </a:xfrm>
          <a:prstGeom prst="rect">
            <a:avLst/>
          </a:prstGeom>
          <a:noFill/>
        </p:spPr>
        <p:txBody>
          <a:bodyPr wrap="square" rtlCol="0">
            <a:spAutoFit/>
          </a:bodyPr>
          <a:lstStyle/>
          <a:p>
            <a:r>
              <a:rPr lang="en-US" sz="2200" dirty="0">
                <a:latin typeface="Times New Roman" panose="02020603050405020304" pitchFamily="18" charset="0"/>
                <a:cs typeface="Times New Roman" panose="02020603050405020304" pitchFamily="18" charset="0"/>
              </a:rPr>
              <a:t>(a)</a:t>
            </a:r>
          </a:p>
        </p:txBody>
      </p:sp>
      <p:cxnSp>
        <p:nvCxnSpPr>
          <p:cNvPr id="58" name="Straight Connector 57">
            <a:extLst>
              <a:ext uri="{FF2B5EF4-FFF2-40B4-BE49-F238E27FC236}">
                <a16:creationId xmlns:a16="http://schemas.microsoft.com/office/drawing/2014/main" id="{9413D2C3-2B18-4664-881C-430350C8A0D2}"/>
              </a:ext>
            </a:extLst>
          </p:cNvPr>
          <p:cNvCxnSpPr>
            <a:cxnSpLocks/>
          </p:cNvCxnSpPr>
          <p:nvPr/>
        </p:nvCxnSpPr>
        <p:spPr>
          <a:xfrm>
            <a:off x="8873634" y="2215801"/>
            <a:ext cx="0" cy="1918202"/>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3461328C-55E6-46B8-B840-8C8A3C370AC9}"/>
                  </a:ext>
                </a:extLst>
              </p:cNvPr>
              <p:cNvSpPr txBox="1"/>
              <p:nvPr/>
            </p:nvSpPr>
            <p:spPr>
              <a:xfrm>
                <a:off x="7500979" y="1774170"/>
                <a:ext cx="1688741" cy="445250"/>
              </a:xfrm>
              <a:prstGeom prst="rect">
                <a:avLst/>
              </a:prstGeom>
              <a:noFill/>
            </p:spPr>
            <p:txBody>
              <a:bodyPr wrap="square" rtlCol="0">
                <a:spAutoFit/>
              </a:bodyPr>
              <a:lstStyle/>
              <a:p>
                <a:r>
                  <a:rPr lang="en-US" dirty="0">
                    <a:solidFill>
                      <a:srgbClr val="C00000"/>
                    </a:solidFill>
                    <a:latin typeface="Times New Roman" panose="02020603050405020304" pitchFamily="18" charset="0"/>
                    <a:cs typeface="Times New Roman" panose="02020603050405020304" pitchFamily="18" charset="0"/>
                  </a:rPr>
                  <a:t> </a:t>
                </a:r>
                <a14:m>
                  <m:oMath xmlns:m="http://schemas.openxmlformats.org/officeDocument/2006/math">
                    <m:r>
                      <a:rPr lang="en-US" b="0" i="0" dirty="0" smtClean="0">
                        <a:solidFill>
                          <a:srgbClr val="C00000"/>
                        </a:solidFill>
                        <a:latin typeface="Cambria Math" panose="02040503050406030204" pitchFamily="18" charset="0"/>
                      </a:rPr>
                      <m:t>| </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𝐵</m:t>
                            </m:r>
                          </m:sub>
                        </m:sSub>
                      </m:e>
                      <m:sub>
                        <m:r>
                          <a:rPr lang="en-US" i="1" dirty="0">
                            <a:solidFill>
                              <a:srgbClr val="C00000"/>
                            </a:solidFill>
                            <a:latin typeface="Cambria Math" panose="02040503050406030204" pitchFamily="18" charset="0"/>
                          </a:rPr>
                          <m:t>𝑓𝑠</m:t>
                        </m:r>
                      </m:sub>
                    </m:sSub>
                    <m:r>
                      <a:rPr lang="en-US" b="0" i="0" dirty="0" smtClean="0">
                        <a:solidFill>
                          <a:srgbClr val="C00000"/>
                        </a:solidFill>
                        <a:latin typeface="Cambria Math" panose="02040503050406030204" pitchFamily="18" charset="0"/>
                      </a:rPr>
                      <m:t>+</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𝐶</m:t>
                            </m:r>
                          </m:sub>
                        </m:sSub>
                      </m:e>
                      <m:sub>
                        <m:r>
                          <a:rPr lang="en-US" i="1" dirty="0">
                            <a:solidFill>
                              <a:srgbClr val="C00000"/>
                            </a:solidFill>
                            <a:latin typeface="Cambria Math" panose="02040503050406030204" pitchFamily="18" charset="0"/>
                          </a:rPr>
                          <m:t>𝑓𝑠</m:t>
                        </m:r>
                        <m:r>
                          <a:rPr lang="en-US" i="1" dirty="0">
                            <a:solidFill>
                              <a:srgbClr val="C00000"/>
                            </a:solidFill>
                            <a:latin typeface="Cambria Math" panose="02040503050406030204" pitchFamily="18" charset="0"/>
                          </a:rPr>
                          <m:t> </m:t>
                        </m:r>
                      </m:sub>
                    </m:sSub>
                    <m:r>
                      <a:rPr lang="en-US" i="1" dirty="0">
                        <a:solidFill>
                          <a:srgbClr val="C00000"/>
                        </a:solidFill>
                        <a:latin typeface="Cambria Math" panose="02040503050406030204" pitchFamily="18" charset="0"/>
                      </a:rPr>
                      <m:t>|</m:t>
                    </m:r>
                  </m:oMath>
                </a14:m>
                <a:endParaRPr lang="en-US" dirty="0">
                  <a:solidFill>
                    <a:srgbClr val="C00000"/>
                  </a:solidFill>
                </a:endParaRPr>
              </a:p>
            </p:txBody>
          </p:sp>
        </mc:Choice>
        <mc:Fallback xmlns="">
          <p:sp>
            <p:nvSpPr>
              <p:cNvPr id="59" name="TextBox 58">
                <a:extLst>
                  <a:ext uri="{FF2B5EF4-FFF2-40B4-BE49-F238E27FC236}">
                    <a16:creationId xmlns:a16="http://schemas.microsoft.com/office/drawing/2014/main" id="{3461328C-55E6-46B8-B840-8C8A3C370AC9}"/>
                  </a:ext>
                </a:extLst>
              </p:cNvPr>
              <p:cNvSpPr txBox="1">
                <a:spLocks noRot="1" noChangeAspect="1" noMove="1" noResize="1" noEditPoints="1" noAdjustHandles="1" noChangeArrowheads="1" noChangeShapeType="1" noTextEdit="1"/>
              </p:cNvSpPr>
              <p:nvPr/>
            </p:nvSpPr>
            <p:spPr>
              <a:xfrm>
                <a:off x="7500979" y="1774170"/>
                <a:ext cx="1688741" cy="445250"/>
              </a:xfrm>
              <a:prstGeom prst="rect">
                <a:avLst/>
              </a:prstGeom>
              <a:blipFill>
                <a:blip r:embed="rId11"/>
                <a:stretch>
                  <a:fillRect t="-5479" b="-8219"/>
                </a:stretch>
              </a:blipFill>
            </p:spPr>
            <p:txBody>
              <a:bodyPr/>
              <a:lstStyle/>
              <a:p>
                <a:r>
                  <a:rPr lang="sv-SE">
                    <a:noFill/>
                  </a:rPr>
                  <a:t> </a:t>
                </a:r>
              </a:p>
            </p:txBody>
          </p:sp>
        </mc:Fallback>
      </mc:AlternateContent>
      <p:cxnSp>
        <p:nvCxnSpPr>
          <p:cNvPr id="60" name="Straight Arrow Connector 59">
            <a:extLst>
              <a:ext uri="{FF2B5EF4-FFF2-40B4-BE49-F238E27FC236}">
                <a16:creationId xmlns:a16="http://schemas.microsoft.com/office/drawing/2014/main" id="{61209277-7535-4ECB-AE4F-B8E59175BFA4}"/>
              </a:ext>
            </a:extLst>
          </p:cNvPr>
          <p:cNvCxnSpPr>
            <a:cxnSpLocks/>
          </p:cNvCxnSpPr>
          <p:nvPr/>
        </p:nvCxnSpPr>
        <p:spPr>
          <a:xfrm flipV="1">
            <a:off x="7815396" y="2250072"/>
            <a:ext cx="997302" cy="3308"/>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pic>
        <p:nvPicPr>
          <p:cNvPr id="61" name="Picture 60">
            <a:extLst>
              <a:ext uri="{FF2B5EF4-FFF2-40B4-BE49-F238E27FC236}">
                <a16:creationId xmlns:a16="http://schemas.microsoft.com/office/drawing/2014/main" id="{23BC06DD-3610-4F3B-86FC-1005EA68DFC3}"/>
              </a:ext>
            </a:extLst>
          </p:cNvPr>
          <p:cNvPicPr>
            <a:picLocks noChangeAspect="1"/>
          </p:cNvPicPr>
          <p:nvPr/>
        </p:nvPicPr>
        <p:blipFill>
          <a:blip r:embed="rId12"/>
          <a:stretch>
            <a:fillRect/>
          </a:stretch>
        </p:blipFill>
        <p:spPr>
          <a:xfrm>
            <a:off x="2926080" y="2811275"/>
            <a:ext cx="3810000" cy="2857500"/>
          </a:xfrm>
          <a:prstGeom prst="rect">
            <a:avLst/>
          </a:prstGeom>
        </p:spPr>
      </p:pic>
    </p:spTree>
    <p:extLst>
      <p:ext uri="{BB962C8B-B14F-4D97-AF65-F5344CB8AC3E}">
        <p14:creationId xmlns:p14="http://schemas.microsoft.com/office/powerpoint/2010/main" val="397944096"/>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6D985F1-6DDB-4485-B204-CE878F7481E0}"/>
              </a:ext>
            </a:extLst>
          </p:cNvPr>
          <p:cNvPicPr>
            <a:picLocks noChangeAspect="1"/>
          </p:cNvPicPr>
          <p:nvPr/>
        </p:nvPicPr>
        <p:blipFill>
          <a:blip r:embed="rId2"/>
          <a:stretch>
            <a:fillRect/>
          </a:stretch>
        </p:blipFill>
        <p:spPr>
          <a:xfrm>
            <a:off x="6776943" y="3435439"/>
            <a:ext cx="3810000" cy="2857500"/>
          </a:xfrm>
          <a:prstGeom prst="rect">
            <a:avLst/>
          </a:prstGeom>
        </p:spPr>
      </p:pic>
      <p:cxnSp>
        <p:nvCxnSpPr>
          <p:cNvPr id="5" name="Straight Arrow Connector 4">
            <a:extLst>
              <a:ext uri="{FF2B5EF4-FFF2-40B4-BE49-F238E27FC236}">
                <a16:creationId xmlns:a16="http://schemas.microsoft.com/office/drawing/2014/main" id="{8687EC02-15CD-49D2-8D11-D775B5BD7E18}"/>
              </a:ext>
            </a:extLst>
          </p:cNvPr>
          <p:cNvCxnSpPr>
            <a:cxnSpLocks/>
          </p:cNvCxnSpPr>
          <p:nvPr/>
        </p:nvCxnSpPr>
        <p:spPr>
          <a:xfrm>
            <a:off x="3939595" y="2051489"/>
            <a:ext cx="1200647" cy="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C891F983-6451-47A5-AC38-A0001366C6C3}"/>
              </a:ext>
            </a:extLst>
          </p:cNvPr>
          <p:cNvCxnSpPr>
            <a:cxnSpLocks/>
          </p:cNvCxnSpPr>
          <p:nvPr/>
        </p:nvCxnSpPr>
        <p:spPr>
          <a:xfrm flipV="1">
            <a:off x="5140242" y="1267673"/>
            <a:ext cx="257716" cy="783819"/>
          </a:xfrm>
          <a:prstGeom prst="straightConnector1">
            <a:avLst/>
          </a:prstGeom>
          <a:ln w="2540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2838007F-26DE-4538-8E08-DE7810BA5B4D}"/>
              </a:ext>
            </a:extLst>
          </p:cNvPr>
          <p:cNvCxnSpPr>
            <a:cxnSpLocks/>
          </p:cNvCxnSpPr>
          <p:nvPr/>
        </p:nvCxnSpPr>
        <p:spPr>
          <a:xfrm flipV="1">
            <a:off x="5410922" y="1053115"/>
            <a:ext cx="677777" cy="237308"/>
          </a:xfrm>
          <a:prstGeom prst="straightConnector1">
            <a:avLst/>
          </a:prstGeom>
          <a:ln w="25400">
            <a:solidFill>
              <a:srgbClr val="0039AC"/>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276EDD62-DB12-48EE-9BA0-2970AA56E861}"/>
              </a:ext>
            </a:extLst>
          </p:cNvPr>
          <p:cNvCxnSpPr>
            <a:cxnSpLocks/>
          </p:cNvCxnSpPr>
          <p:nvPr/>
        </p:nvCxnSpPr>
        <p:spPr>
          <a:xfrm>
            <a:off x="3934361" y="2051490"/>
            <a:ext cx="1622804" cy="689268"/>
          </a:xfrm>
          <a:prstGeom prst="straightConnector1">
            <a:avLst/>
          </a:prstGeom>
          <a:ln w="2540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1F93607E-475E-40E0-A95C-3F1CB97383FC}"/>
                  </a:ext>
                </a:extLst>
              </p:cNvPr>
              <p:cNvSpPr txBox="1"/>
              <p:nvPr/>
            </p:nvSpPr>
            <p:spPr>
              <a:xfrm rot="1503227">
                <a:off x="4073158" y="2297705"/>
                <a:ext cx="749791" cy="43127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𝐴𝐵𝐶</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9" name="TextBox 8">
                <a:extLst>
                  <a:ext uri="{FF2B5EF4-FFF2-40B4-BE49-F238E27FC236}">
                    <a16:creationId xmlns:a16="http://schemas.microsoft.com/office/drawing/2014/main" id="{1F93607E-475E-40E0-A95C-3F1CB97383FC}"/>
                  </a:ext>
                </a:extLst>
              </p:cNvPr>
              <p:cNvSpPr txBox="1">
                <a:spLocks noRot="1" noChangeAspect="1" noMove="1" noResize="1" noEditPoints="1" noAdjustHandles="1" noChangeArrowheads="1" noChangeShapeType="1" noTextEdit="1"/>
              </p:cNvSpPr>
              <p:nvPr/>
            </p:nvSpPr>
            <p:spPr>
              <a:xfrm rot="1503227">
                <a:off x="4073158" y="2297705"/>
                <a:ext cx="749791" cy="431272"/>
              </a:xfrm>
              <a:prstGeom prst="rect">
                <a:avLst/>
              </a:prstGeom>
              <a:blipFill>
                <a:blip r:embed="rId3"/>
                <a:stretch>
                  <a:fillRect l="-6993" t="-9402" r="-699" b="-17094"/>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E39C0750-3089-473F-8FC7-5CF12CE44F1A}"/>
                  </a:ext>
                </a:extLst>
              </p:cNvPr>
              <p:cNvSpPr txBox="1"/>
              <p:nvPr/>
            </p:nvSpPr>
            <p:spPr>
              <a:xfrm>
                <a:off x="3981289" y="2033861"/>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𝜙</m:t>
                      </m:r>
                    </m:oMath>
                  </m:oMathPara>
                </a14:m>
                <a:endParaRPr lang="en-US" sz="2200" dirty="0"/>
              </a:p>
            </p:txBody>
          </p:sp>
        </mc:Choice>
        <mc:Fallback xmlns="">
          <p:sp>
            <p:nvSpPr>
              <p:cNvPr id="10" name="TextBox 9">
                <a:extLst>
                  <a:ext uri="{FF2B5EF4-FFF2-40B4-BE49-F238E27FC236}">
                    <a16:creationId xmlns:a16="http://schemas.microsoft.com/office/drawing/2014/main" id="{E39C0750-3089-473F-8FC7-5CF12CE44F1A}"/>
                  </a:ext>
                </a:extLst>
              </p:cNvPr>
              <p:cNvSpPr txBox="1">
                <a:spLocks noRot="1" noChangeAspect="1" noMove="1" noResize="1" noEditPoints="1" noAdjustHandles="1" noChangeArrowheads="1" noChangeShapeType="1" noTextEdit="1"/>
              </p:cNvSpPr>
              <p:nvPr/>
            </p:nvSpPr>
            <p:spPr>
              <a:xfrm>
                <a:off x="3981289" y="2033861"/>
                <a:ext cx="1634481" cy="338554"/>
              </a:xfrm>
              <a:prstGeom prst="rect">
                <a:avLst/>
              </a:prstGeom>
              <a:blipFill>
                <a:blip r:embed="rId4"/>
                <a:stretch>
                  <a:fillRect b="-36364"/>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5B954CE-BAA8-448C-AA48-A99159F29801}"/>
                  </a:ext>
                </a:extLst>
              </p:cNvPr>
              <p:cNvSpPr txBox="1"/>
              <p:nvPr/>
            </p:nvSpPr>
            <p:spPr>
              <a:xfrm rot="17351717">
                <a:off x="4631285" y="1327597"/>
                <a:ext cx="707218"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𝐵</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11" name="TextBox 10">
                <a:extLst>
                  <a:ext uri="{FF2B5EF4-FFF2-40B4-BE49-F238E27FC236}">
                    <a16:creationId xmlns:a16="http://schemas.microsoft.com/office/drawing/2014/main" id="{C5B954CE-BAA8-448C-AA48-A99159F29801}"/>
                  </a:ext>
                </a:extLst>
              </p:cNvPr>
              <p:cNvSpPr txBox="1">
                <a:spLocks noRot="1" noChangeAspect="1" noMove="1" noResize="1" noEditPoints="1" noAdjustHandles="1" noChangeArrowheads="1" noChangeShapeType="1" noTextEdit="1"/>
              </p:cNvSpPr>
              <p:nvPr/>
            </p:nvSpPr>
            <p:spPr>
              <a:xfrm rot="17351717">
                <a:off x="4631285" y="1327597"/>
                <a:ext cx="707218" cy="429092"/>
              </a:xfrm>
              <a:prstGeom prst="rect">
                <a:avLst/>
              </a:prstGeom>
              <a:blipFill>
                <a:blip r:embed="rId5"/>
                <a:stretch>
                  <a:fillRect l="-8491" r="-9434" b="-3731"/>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6FA2E7C-3570-4D85-9E6C-FDE449602597}"/>
                  </a:ext>
                </a:extLst>
              </p:cNvPr>
              <p:cNvSpPr txBox="1"/>
              <p:nvPr/>
            </p:nvSpPr>
            <p:spPr>
              <a:xfrm rot="20272713">
                <a:off x="5121642" y="1161889"/>
                <a:ext cx="1634481" cy="43127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𝐶</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12" name="TextBox 11">
                <a:extLst>
                  <a:ext uri="{FF2B5EF4-FFF2-40B4-BE49-F238E27FC236}">
                    <a16:creationId xmlns:a16="http://schemas.microsoft.com/office/drawing/2014/main" id="{16FA2E7C-3570-4D85-9E6C-FDE449602597}"/>
                  </a:ext>
                </a:extLst>
              </p:cNvPr>
              <p:cNvSpPr txBox="1">
                <a:spLocks noRot="1" noChangeAspect="1" noMove="1" noResize="1" noEditPoints="1" noAdjustHandles="1" noChangeArrowheads="1" noChangeShapeType="1" noTextEdit="1"/>
              </p:cNvSpPr>
              <p:nvPr/>
            </p:nvSpPr>
            <p:spPr>
              <a:xfrm rot="20272713">
                <a:off x="5121642" y="1161889"/>
                <a:ext cx="1634481" cy="431272"/>
              </a:xfrm>
              <a:prstGeom prst="rect">
                <a:avLst/>
              </a:prstGeom>
              <a:blipFill>
                <a:blip r:embed="rId6"/>
                <a:stretch>
                  <a:fillRect/>
                </a:stretch>
              </a:blipFill>
            </p:spPr>
            <p:txBody>
              <a:bodyPr/>
              <a:lstStyle/>
              <a:p>
                <a:r>
                  <a:rPr lang="sv-SE">
                    <a:noFill/>
                  </a:rPr>
                  <a:t> </a:t>
                </a:r>
              </a:p>
            </p:txBody>
          </p:sp>
        </mc:Fallback>
      </mc:AlternateContent>
      <p:sp>
        <p:nvSpPr>
          <p:cNvPr id="13" name="Arc 12">
            <a:extLst>
              <a:ext uri="{FF2B5EF4-FFF2-40B4-BE49-F238E27FC236}">
                <a16:creationId xmlns:a16="http://schemas.microsoft.com/office/drawing/2014/main" id="{D4A3E4AF-9DBA-4862-A0A7-A453C4582F60}"/>
              </a:ext>
            </a:extLst>
          </p:cNvPr>
          <p:cNvSpPr/>
          <p:nvPr/>
        </p:nvSpPr>
        <p:spPr>
          <a:xfrm rot="5400000">
            <a:off x="4266396" y="2031921"/>
            <a:ext cx="541320" cy="228783"/>
          </a:xfrm>
          <a:prstGeom prst="arc">
            <a:avLst>
              <a:gd name="adj1" fmla="val 14291063"/>
              <a:gd name="adj2" fmla="val 20171534"/>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FC3E724-4164-42F4-B6CD-CCDD3A37AB7B}"/>
                  </a:ext>
                </a:extLst>
              </p:cNvPr>
              <p:cNvSpPr txBox="1"/>
              <p:nvPr/>
            </p:nvSpPr>
            <p:spPr>
              <a:xfrm>
                <a:off x="3841225" y="1547451"/>
                <a:ext cx="758764"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14" name="TextBox 13">
                <a:extLst>
                  <a:ext uri="{FF2B5EF4-FFF2-40B4-BE49-F238E27FC236}">
                    <a16:creationId xmlns:a16="http://schemas.microsoft.com/office/drawing/2014/main" id="{9FC3E724-4164-42F4-B6CD-CCDD3A37AB7B}"/>
                  </a:ext>
                </a:extLst>
              </p:cNvPr>
              <p:cNvSpPr txBox="1">
                <a:spLocks noRot="1" noChangeAspect="1" noMove="1" noResize="1" noEditPoints="1" noAdjustHandles="1" noChangeArrowheads="1" noChangeShapeType="1" noTextEdit="1"/>
              </p:cNvSpPr>
              <p:nvPr/>
            </p:nvSpPr>
            <p:spPr>
              <a:xfrm>
                <a:off x="3841225" y="1547451"/>
                <a:ext cx="758764" cy="429092"/>
              </a:xfrm>
              <a:prstGeom prst="rect">
                <a:avLst/>
              </a:prstGeom>
              <a:blipFill>
                <a:blip r:embed="rId7"/>
                <a:stretch>
                  <a:fillRect l="-2400" t="-15714" b="-21429"/>
                </a:stretch>
              </a:blipFill>
            </p:spPr>
            <p:txBody>
              <a:bodyPr/>
              <a:lstStyle/>
              <a:p>
                <a:r>
                  <a:rPr lang="sv-SE">
                    <a:noFill/>
                  </a:rPr>
                  <a:t> </a:t>
                </a:r>
              </a:p>
            </p:txBody>
          </p:sp>
        </mc:Fallback>
      </mc:AlternateContent>
      <p:cxnSp>
        <p:nvCxnSpPr>
          <p:cNvPr id="15" name="Straight Connector 14">
            <a:extLst>
              <a:ext uri="{FF2B5EF4-FFF2-40B4-BE49-F238E27FC236}">
                <a16:creationId xmlns:a16="http://schemas.microsoft.com/office/drawing/2014/main" id="{09AF85FA-0B95-4CD6-83B4-5551F56BE402}"/>
              </a:ext>
            </a:extLst>
          </p:cNvPr>
          <p:cNvCxnSpPr>
            <a:cxnSpLocks/>
          </p:cNvCxnSpPr>
          <p:nvPr/>
        </p:nvCxnSpPr>
        <p:spPr>
          <a:xfrm flipV="1">
            <a:off x="5140242" y="2032109"/>
            <a:ext cx="4629211" cy="9548"/>
          </a:xfrm>
          <a:prstGeom prst="line">
            <a:avLst/>
          </a:prstGeom>
          <a:ln>
            <a:solidFill>
              <a:srgbClr val="7030A0"/>
            </a:solidFill>
            <a:headEnd type="none"/>
            <a:tailEnd type="arrow"/>
          </a:ln>
        </p:spPr>
        <p:style>
          <a:lnRef idx="1">
            <a:schemeClr val="accent1"/>
          </a:lnRef>
          <a:fillRef idx="0">
            <a:schemeClr val="accent1"/>
          </a:fillRef>
          <a:effectRef idx="0">
            <a:schemeClr val="accent1"/>
          </a:effectRef>
          <a:fontRef idx="minor">
            <a:schemeClr val="tx1"/>
          </a:fontRef>
        </p:style>
      </p:cxnSp>
      <p:sp>
        <p:nvSpPr>
          <p:cNvPr id="16" name="Arc 15">
            <a:extLst>
              <a:ext uri="{FF2B5EF4-FFF2-40B4-BE49-F238E27FC236}">
                <a16:creationId xmlns:a16="http://schemas.microsoft.com/office/drawing/2014/main" id="{3D767F05-08C7-455D-B8C9-32C8230132C1}"/>
              </a:ext>
            </a:extLst>
          </p:cNvPr>
          <p:cNvSpPr/>
          <p:nvPr/>
        </p:nvSpPr>
        <p:spPr>
          <a:xfrm rot="2814214">
            <a:off x="4899181" y="1741801"/>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4AB7A3D7-2541-417F-AF34-EC5A2E4DCE53}"/>
                  </a:ext>
                </a:extLst>
              </p:cNvPr>
              <p:cNvSpPr txBox="1"/>
              <p:nvPr/>
            </p:nvSpPr>
            <p:spPr>
              <a:xfrm>
                <a:off x="5424260" y="1656110"/>
                <a:ext cx="522930"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𝛼</m:t>
                      </m:r>
                    </m:oMath>
                  </m:oMathPara>
                </a14:m>
                <a:endParaRPr lang="en-US" sz="2200" dirty="0"/>
              </a:p>
            </p:txBody>
          </p:sp>
        </mc:Choice>
        <mc:Fallback xmlns="">
          <p:sp>
            <p:nvSpPr>
              <p:cNvPr id="17" name="TextBox 16">
                <a:extLst>
                  <a:ext uri="{FF2B5EF4-FFF2-40B4-BE49-F238E27FC236}">
                    <a16:creationId xmlns:a16="http://schemas.microsoft.com/office/drawing/2014/main" id="{4AB7A3D7-2541-417F-AF34-EC5A2E4DCE53}"/>
                  </a:ext>
                </a:extLst>
              </p:cNvPr>
              <p:cNvSpPr txBox="1">
                <a:spLocks noRot="1" noChangeAspect="1" noMove="1" noResize="1" noEditPoints="1" noAdjustHandles="1" noChangeArrowheads="1" noChangeShapeType="1" noTextEdit="1"/>
              </p:cNvSpPr>
              <p:nvPr/>
            </p:nvSpPr>
            <p:spPr>
              <a:xfrm>
                <a:off x="5424260" y="1656110"/>
                <a:ext cx="522930" cy="338554"/>
              </a:xfrm>
              <a:prstGeom prst="rect">
                <a:avLst/>
              </a:prstGeom>
              <a:blipFill>
                <a:blip r:embed="rId8"/>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666F919-25EF-4866-8D83-02D9455783A5}"/>
                  </a:ext>
                </a:extLst>
              </p:cNvPr>
              <p:cNvSpPr txBox="1"/>
              <p:nvPr/>
            </p:nvSpPr>
            <p:spPr>
              <a:xfrm>
                <a:off x="4996246" y="709645"/>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𝛽</m:t>
                      </m:r>
                    </m:oMath>
                  </m:oMathPara>
                </a14:m>
                <a:endParaRPr lang="en-US" sz="2200" dirty="0"/>
              </a:p>
            </p:txBody>
          </p:sp>
        </mc:Choice>
        <mc:Fallback xmlns="">
          <p:sp>
            <p:nvSpPr>
              <p:cNvPr id="18" name="TextBox 17">
                <a:extLst>
                  <a:ext uri="{FF2B5EF4-FFF2-40B4-BE49-F238E27FC236}">
                    <a16:creationId xmlns:a16="http://schemas.microsoft.com/office/drawing/2014/main" id="{B666F919-25EF-4866-8D83-02D9455783A5}"/>
                  </a:ext>
                </a:extLst>
              </p:cNvPr>
              <p:cNvSpPr txBox="1">
                <a:spLocks noRot="1" noChangeAspect="1" noMove="1" noResize="1" noEditPoints="1" noAdjustHandles="1" noChangeArrowheads="1" noChangeShapeType="1" noTextEdit="1"/>
              </p:cNvSpPr>
              <p:nvPr/>
            </p:nvSpPr>
            <p:spPr>
              <a:xfrm>
                <a:off x="4996246" y="709645"/>
                <a:ext cx="1634481" cy="338554"/>
              </a:xfrm>
              <a:prstGeom prst="rect">
                <a:avLst/>
              </a:prstGeom>
              <a:blipFill>
                <a:blip r:embed="rId9"/>
                <a:stretch>
                  <a:fillRect b="-35714"/>
                </a:stretch>
              </a:blipFill>
            </p:spPr>
            <p:txBody>
              <a:bodyPr/>
              <a:lstStyle/>
              <a:p>
                <a:r>
                  <a:rPr lang="sv-SE">
                    <a:noFill/>
                  </a:rPr>
                  <a:t> </a:t>
                </a:r>
              </a:p>
            </p:txBody>
          </p:sp>
        </mc:Fallback>
      </mc:AlternateContent>
      <p:cxnSp>
        <p:nvCxnSpPr>
          <p:cNvPr id="19" name="Straight Connector 18">
            <a:extLst>
              <a:ext uri="{FF2B5EF4-FFF2-40B4-BE49-F238E27FC236}">
                <a16:creationId xmlns:a16="http://schemas.microsoft.com/office/drawing/2014/main" id="{FEAE24A3-7280-4EF7-9DF2-796E3573FD0F}"/>
              </a:ext>
            </a:extLst>
          </p:cNvPr>
          <p:cNvCxnSpPr>
            <a:cxnSpLocks/>
          </p:cNvCxnSpPr>
          <p:nvPr/>
        </p:nvCxnSpPr>
        <p:spPr>
          <a:xfrm flipV="1">
            <a:off x="5408915" y="651907"/>
            <a:ext cx="206855" cy="640309"/>
          </a:xfrm>
          <a:prstGeom prst="line">
            <a:avLst/>
          </a:prstGeom>
          <a:ln>
            <a:solidFill>
              <a:srgbClr val="7030A0"/>
            </a:solidFill>
          </a:ln>
        </p:spPr>
        <p:style>
          <a:lnRef idx="1">
            <a:schemeClr val="accent1"/>
          </a:lnRef>
          <a:fillRef idx="0">
            <a:schemeClr val="accent1"/>
          </a:fillRef>
          <a:effectRef idx="0">
            <a:schemeClr val="accent1"/>
          </a:effectRef>
          <a:fontRef idx="minor">
            <a:schemeClr val="tx1"/>
          </a:fontRef>
        </p:style>
      </p:cxnSp>
      <p:sp>
        <p:nvSpPr>
          <p:cNvPr id="20" name="Arc 19">
            <a:extLst>
              <a:ext uri="{FF2B5EF4-FFF2-40B4-BE49-F238E27FC236}">
                <a16:creationId xmlns:a16="http://schemas.microsoft.com/office/drawing/2014/main" id="{88C2E955-622F-424C-A8BB-85266E8ACF08}"/>
              </a:ext>
            </a:extLst>
          </p:cNvPr>
          <p:cNvSpPr/>
          <p:nvPr/>
        </p:nvSpPr>
        <p:spPr>
          <a:xfrm rot="1387721">
            <a:off x="5245645" y="1025154"/>
            <a:ext cx="541320" cy="245805"/>
          </a:xfrm>
          <a:prstGeom prst="arc">
            <a:avLst>
              <a:gd name="adj1" fmla="val 15161520"/>
              <a:gd name="adj2" fmla="val 2031619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9C14C47-7BE8-489B-8823-016DA802BE87}"/>
                  </a:ext>
                </a:extLst>
              </p:cNvPr>
              <p:cNvSpPr txBox="1"/>
              <p:nvPr/>
            </p:nvSpPr>
            <p:spPr>
              <a:xfrm rot="16200000">
                <a:off x="9381710" y="3960369"/>
                <a:ext cx="1846248" cy="445250"/>
              </a:xfrm>
              <a:prstGeom prst="rect">
                <a:avLst/>
              </a:prstGeom>
              <a:noFill/>
            </p:spPr>
            <p:txBody>
              <a:bodyPr wrap="square" rtlCol="0">
                <a:spAutoFit/>
              </a:bodyPr>
              <a:lstStyle/>
              <a:p>
                <a:r>
                  <a:rPr lang="en-US" dirty="0">
                    <a:solidFill>
                      <a:srgbClr val="C00000"/>
                    </a:solidFill>
                    <a:latin typeface="Times New Roman" panose="02020603050405020304" pitchFamily="18" charset="0"/>
                    <a:cs typeface="Times New Roman" panose="02020603050405020304" pitchFamily="18" charset="0"/>
                  </a:rPr>
                  <a:t> </a:t>
                </a:r>
                <a14:m>
                  <m:oMath xmlns:m="http://schemas.openxmlformats.org/officeDocument/2006/math">
                    <m:r>
                      <a:rPr lang="en-US" b="0" i="0" dirty="0" smtClean="0">
                        <a:solidFill>
                          <a:srgbClr val="C00000"/>
                        </a:solidFill>
                        <a:latin typeface="Cambria Math" panose="02040503050406030204" pitchFamily="18" charset="0"/>
                      </a:rPr>
                      <m:t>| </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𝐵</m:t>
                            </m:r>
                          </m:sub>
                        </m:sSub>
                      </m:e>
                      <m:sub>
                        <m:r>
                          <a:rPr lang="en-US" i="1" dirty="0">
                            <a:solidFill>
                              <a:srgbClr val="C00000"/>
                            </a:solidFill>
                            <a:latin typeface="Cambria Math" panose="02040503050406030204" pitchFamily="18" charset="0"/>
                          </a:rPr>
                          <m:t>𝑓𝑠</m:t>
                        </m:r>
                      </m:sub>
                    </m:sSub>
                  </m:oMath>
                </a14:m>
                <a:r>
                  <a:rPr lang="en-US" dirty="0">
                    <a:solidFill>
                      <a:srgbClr val="C00000"/>
                    </a:solidFill>
                    <a:latin typeface="Times New Roman" panose="02020603050405020304" pitchFamily="18" charset="0"/>
                    <a:cs typeface="Times New Roman" panose="02020603050405020304" pitchFamily="18" charset="0"/>
                  </a:rPr>
                  <a:t>-</a:t>
                </a:r>
                <a14:m>
                  <m:oMath xmlns:m="http://schemas.openxmlformats.org/officeDocument/2006/math">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smtClean="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𝐶</m:t>
                            </m:r>
                          </m:sub>
                        </m:sSub>
                      </m:e>
                      <m:sub>
                        <m:r>
                          <a:rPr lang="en-US" i="1" dirty="0">
                            <a:solidFill>
                              <a:srgbClr val="C00000"/>
                            </a:solidFill>
                            <a:latin typeface="Cambria Math" panose="02040503050406030204" pitchFamily="18" charset="0"/>
                          </a:rPr>
                          <m:t>𝑓𝑠</m:t>
                        </m:r>
                        <m:r>
                          <a:rPr lang="en-US" i="1" dirty="0">
                            <a:solidFill>
                              <a:srgbClr val="C00000"/>
                            </a:solidFill>
                            <a:latin typeface="Cambria Math" panose="02040503050406030204" pitchFamily="18" charset="0"/>
                          </a:rPr>
                          <m:t>  </m:t>
                        </m:r>
                      </m:sub>
                    </m:sSub>
                    <m:r>
                      <a:rPr lang="en-US" b="0" i="1" dirty="0" smtClean="0">
                        <a:solidFill>
                          <a:srgbClr val="C00000"/>
                        </a:solidFill>
                        <a:latin typeface="Cambria Math" panose="02040503050406030204" pitchFamily="18" charset="0"/>
                      </a:rPr>
                      <m:t>|</m:t>
                    </m:r>
                  </m:oMath>
                </a14:m>
                <a:endParaRPr lang="en-US" dirty="0">
                  <a:solidFill>
                    <a:srgbClr val="C00000"/>
                  </a:solidFill>
                </a:endParaRPr>
              </a:p>
            </p:txBody>
          </p:sp>
        </mc:Choice>
        <mc:Fallback xmlns="">
          <p:sp>
            <p:nvSpPr>
              <p:cNvPr id="21" name="TextBox 20">
                <a:extLst>
                  <a:ext uri="{FF2B5EF4-FFF2-40B4-BE49-F238E27FC236}">
                    <a16:creationId xmlns:a16="http://schemas.microsoft.com/office/drawing/2014/main" id="{99C14C47-7BE8-489B-8823-016DA802BE87}"/>
                  </a:ext>
                </a:extLst>
              </p:cNvPr>
              <p:cNvSpPr txBox="1">
                <a:spLocks noRot="1" noChangeAspect="1" noMove="1" noResize="1" noEditPoints="1" noAdjustHandles="1" noChangeArrowheads="1" noChangeShapeType="1" noTextEdit="1"/>
              </p:cNvSpPr>
              <p:nvPr/>
            </p:nvSpPr>
            <p:spPr>
              <a:xfrm rot="16200000">
                <a:off x="9381710" y="3960369"/>
                <a:ext cx="1846248" cy="445250"/>
              </a:xfrm>
              <a:prstGeom prst="rect">
                <a:avLst/>
              </a:prstGeom>
              <a:blipFill>
                <a:blip r:embed="rId10"/>
                <a:stretch>
                  <a:fillRect l="-5479" r="-6849"/>
                </a:stretch>
              </a:blipFill>
            </p:spPr>
            <p:txBody>
              <a:bodyPr/>
              <a:lstStyle/>
              <a:p>
                <a:r>
                  <a:rPr lang="sv-SE">
                    <a:noFill/>
                  </a:rPr>
                  <a:t> </a:t>
                </a:r>
              </a:p>
            </p:txBody>
          </p:sp>
        </mc:Fallback>
      </mc:AlternateContent>
      <p:sp>
        <p:nvSpPr>
          <p:cNvPr id="22" name="TextBox 21">
            <a:extLst>
              <a:ext uri="{FF2B5EF4-FFF2-40B4-BE49-F238E27FC236}">
                <a16:creationId xmlns:a16="http://schemas.microsoft.com/office/drawing/2014/main" id="{71EAB1BB-A155-493B-8CB6-C93DDCB934A8}"/>
              </a:ext>
            </a:extLst>
          </p:cNvPr>
          <p:cNvSpPr txBox="1"/>
          <p:nvPr/>
        </p:nvSpPr>
        <p:spPr>
          <a:xfrm>
            <a:off x="8455724" y="6330441"/>
            <a:ext cx="985816" cy="430887"/>
          </a:xfrm>
          <a:prstGeom prst="rect">
            <a:avLst/>
          </a:prstGeom>
          <a:noFill/>
        </p:spPr>
        <p:txBody>
          <a:bodyPr wrap="square" rtlCol="0">
            <a:spAutoFit/>
          </a:bodyPr>
          <a:lstStyle/>
          <a:p>
            <a:r>
              <a:rPr lang="en-US" sz="2200" dirty="0" smtClean="0">
                <a:latin typeface="Times New Roman" panose="02020603050405020304" pitchFamily="18" charset="0"/>
                <a:cs typeface="Times New Roman" panose="02020603050405020304" pitchFamily="18" charset="0"/>
              </a:rPr>
              <a:t>(b)</a:t>
            </a:r>
            <a:endParaRPr lang="en-US" sz="2200" dirty="0">
              <a:latin typeface="Times New Roman" panose="02020603050405020304" pitchFamily="18" charset="0"/>
              <a:cs typeface="Times New Roman" panose="02020603050405020304" pitchFamily="18" charset="0"/>
            </a:endParaRPr>
          </a:p>
        </p:txBody>
      </p:sp>
      <p:sp>
        <p:nvSpPr>
          <p:cNvPr id="23" name="TextBox 22">
            <a:extLst>
              <a:ext uri="{FF2B5EF4-FFF2-40B4-BE49-F238E27FC236}">
                <a16:creationId xmlns:a16="http://schemas.microsoft.com/office/drawing/2014/main" id="{9AC663BD-B449-49A1-AFF8-7712C577E07E}"/>
              </a:ext>
            </a:extLst>
          </p:cNvPr>
          <p:cNvSpPr txBox="1"/>
          <p:nvPr/>
        </p:nvSpPr>
        <p:spPr>
          <a:xfrm>
            <a:off x="4913776" y="6330441"/>
            <a:ext cx="985816" cy="430887"/>
          </a:xfrm>
          <a:prstGeom prst="rect">
            <a:avLst/>
          </a:prstGeom>
          <a:noFill/>
        </p:spPr>
        <p:txBody>
          <a:bodyPr wrap="square" rtlCol="0">
            <a:spAutoFit/>
          </a:bodyPr>
          <a:lstStyle/>
          <a:p>
            <a:r>
              <a:rPr lang="en-US" sz="2200" dirty="0" smtClean="0">
                <a:latin typeface="Times New Roman" panose="02020603050405020304" pitchFamily="18" charset="0"/>
                <a:cs typeface="Times New Roman" panose="02020603050405020304" pitchFamily="18" charset="0"/>
              </a:rPr>
              <a:t>(a)</a:t>
            </a:r>
            <a:endParaRPr lang="en-US" sz="2200" dirty="0">
              <a:latin typeface="Times New Roman" panose="02020603050405020304" pitchFamily="18" charset="0"/>
              <a:cs typeface="Times New Roman" panose="02020603050405020304" pitchFamily="18" charset="0"/>
            </a:endParaRPr>
          </a:p>
        </p:txBody>
      </p:sp>
      <p:cxnSp>
        <p:nvCxnSpPr>
          <p:cNvPr id="24" name="Straight Connector 23">
            <a:extLst>
              <a:ext uri="{FF2B5EF4-FFF2-40B4-BE49-F238E27FC236}">
                <a16:creationId xmlns:a16="http://schemas.microsoft.com/office/drawing/2014/main" id="{19EBD052-6C55-45ED-A299-DDEA50CA9371}"/>
              </a:ext>
            </a:extLst>
          </p:cNvPr>
          <p:cNvCxnSpPr>
            <a:cxnSpLocks/>
          </p:cNvCxnSpPr>
          <p:nvPr/>
        </p:nvCxnSpPr>
        <p:spPr>
          <a:xfrm>
            <a:off x="6881181" y="4665881"/>
            <a:ext cx="3146837" cy="0"/>
          </a:xfrm>
          <a:prstGeom prst="line">
            <a:avLst/>
          </a:prstGeom>
          <a:ln w="12700">
            <a:solidFill>
              <a:srgbClr val="C00000"/>
            </a:solidFill>
            <a:prstDash val="lgDashDotDot"/>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FBBAEC16-F3FF-435B-96B7-CF2B1A76221F}"/>
              </a:ext>
            </a:extLst>
          </p:cNvPr>
          <p:cNvCxnSpPr>
            <a:cxnSpLocks/>
          </p:cNvCxnSpPr>
          <p:nvPr/>
        </p:nvCxnSpPr>
        <p:spPr>
          <a:xfrm flipH="1">
            <a:off x="8666480" y="3985195"/>
            <a:ext cx="1361538" cy="0"/>
          </a:xfrm>
          <a:prstGeom prst="line">
            <a:avLst/>
          </a:prstGeom>
          <a:ln w="12700">
            <a:solidFill>
              <a:srgbClr val="FF0000"/>
            </a:solidFill>
            <a:prstDash val="lgDashDotDot"/>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2C561D5-BF09-4503-B138-D7F0ABD85EF9}"/>
              </a:ext>
            </a:extLst>
          </p:cNvPr>
          <p:cNvCxnSpPr>
            <a:cxnSpLocks/>
          </p:cNvCxnSpPr>
          <p:nvPr/>
        </p:nvCxnSpPr>
        <p:spPr>
          <a:xfrm>
            <a:off x="10028018" y="3980917"/>
            <a:ext cx="0" cy="684964"/>
          </a:xfrm>
          <a:prstGeom prst="straightConnector1">
            <a:avLst/>
          </a:prstGeom>
          <a:ln>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F3454730-E93C-4477-A98A-968C5EE570D3}"/>
              </a:ext>
            </a:extLst>
          </p:cNvPr>
          <p:cNvSpPr txBox="1"/>
          <p:nvPr/>
        </p:nvSpPr>
        <p:spPr>
          <a:xfrm>
            <a:off x="4829966" y="3022147"/>
            <a:ext cx="985816" cy="430887"/>
          </a:xfrm>
          <a:prstGeom prst="rect">
            <a:avLst/>
          </a:prstGeom>
          <a:noFill/>
        </p:spPr>
        <p:txBody>
          <a:bodyPr wrap="square" rtlCol="0">
            <a:spAutoFit/>
          </a:bodyPr>
          <a:lstStyle/>
          <a:p>
            <a:r>
              <a:rPr lang="en-US" sz="2200" dirty="0">
                <a:latin typeface="Times New Roman" panose="02020603050405020304" pitchFamily="18" charset="0"/>
                <a:cs typeface="Times New Roman" panose="02020603050405020304" pitchFamily="18" charset="0"/>
              </a:rPr>
              <a:t>(a)</a:t>
            </a:r>
          </a:p>
        </p:txBody>
      </p:sp>
      <p:cxnSp>
        <p:nvCxnSpPr>
          <p:cNvPr id="28" name="Straight Connector 27">
            <a:extLst>
              <a:ext uri="{FF2B5EF4-FFF2-40B4-BE49-F238E27FC236}">
                <a16:creationId xmlns:a16="http://schemas.microsoft.com/office/drawing/2014/main" id="{9413D2C3-2B18-4664-881C-430350C8A0D2}"/>
              </a:ext>
            </a:extLst>
          </p:cNvPr>
          <p:cNvCxnSpPr>
            <a:cxnSpLocks/>
          </p:cNvCxnSpPr>
          <p:nvPr/>
        </p:nvCxnSpPr>
        <p:spPr>
          <a:xfrm flipH="1">
            <a:off x="6881181" y="3641374"/>
            <a:ext cx="1574545" cy="20785"/>
          </a:xfrm>
          <a:prstGeom prst="line">
            <a:avLst/>
          </a:prstGeom>
          <a:ln w="12700">
            <a:solidFill>
              <a:srgbClr val="C00000"/>
            </a:solidFill>
            <a:prstDash val="lgDashDot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3461328C-55E6-46B8-B840-8C8A3C370AC9}"/>
                  </a:ext>
                </a:extLst>
              </p:cNvPr>
              <p:cNvSpPr txBox="1"/>
              <p:nvPr/>
            </p:nvSpPr>
            <p:spPr>
              <a:xfrm rot="16200000">
                <a:off x="5338105" y="3556816"/>
                <a:ext cx="2536664" cy="445250"/>
              </a:xfrm>
              <a:prstGeom prst="rect">
                <a:avLst/>
              </a:prstGeom>
              <a:noFill/>
            </p:spPr>
            <p:txBody>
              <a:bodyPr wrap="square" rtlCol="0">
                <a:spAutoFit/>
              </a:bodyPr>
              <a:lstStyle/>
              <a:p>
                <a:r>
                  <a:rPr lang="en-US" dirty="0">
                    <a:solidFill>
                      <a:srgbClr val="C00000"/>
                    </a:solidFill>
                    <a:latin typeface="Times New Roman" panose="02020603050405020304" pitchFamily="18" charset="0"/>
                    <a:cs typeface="Times New Roman" panose="02020603050405020304" pitchFamily="18" charset="0"/>
                  </a:rPr>
                  <a:t> </a:t>
                </a:r>
                <a14:m>
                  <m:oMath xmlns:m="http://schemas.openxmlformats.org/officeDocument/2006/math">
                    <m:r>
                      <a:rPr lang="en-US" b="0" i="0" dirty="0" smtClean="0">
                        <a:solidFill>
                          <a:srgbClr val="C00000"/>
                        </a:solidFill>
                        <a:latin typeface="Cambria Math" panose="02040503050406030204" pitchFamily="18" charset="0"/>
                      </a:rPr>
                      <m:t>| </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𝐵</m:t>
                            </m:r>
                          </m:sub>
                        </m:sSub>
                      </m:e>
                      <m:sub>
                        <m:r>
                          <a:rPr lang="en-US" i="1" dirty="0">
                            <a:solidFill>
                              <a:srgbClr val="C00000"/>
                            </a:solidFill>
                            <a:latin typeface="Cambria Math" panose="02040503050406030204" pitchFamily="18" charset="0"/>
                          </a:rPr>
                          <m:t>𝑓𝑠</m:t>
                        </m:r>
                      </m:sub>
                    </m:sSub>
                    <m:r>
                      <a:rPr lang="en-US" b="0" i="0" dirty="0" smtClean="0">
                        <a:solidFill>
                          <a:srgbClr val="C00000"/>
                        </a:solidFill>
                        <a:latin typeface="Cambria Math" panose="02040503050406030204" pitchFamily="18" charset="0"/>
                      </a:rPr>
                      <m:t>+</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𝐶</m:t>
                            </m:r>
                          </m:sub>
                        </m:sSub>
                      </m:e>
                      <m:sub>
                        <m:r>
                          <a:rPr lang="en-US" i="1" dirty="0">
                            <a:solidFill>
                              <a:srgbClr val="C00000"/>
                            </a:solidFill>
                            <a:latin typeface="Cambria Math" panose="02040503050406030204" pitchFamily="18" charset="0"/>
                          </a:rPr>
                          <m:t>𝑓𝑠</m:t>
                        </m:r>
                        <m:r>
                          <a:rPr lang="en-US" i="1" dirty="0">
                            <a:solidFill>
                              <a:srgbClr val="C00000"/>
                            </a:solidFill>
                            <a:latin typeface="Cambria Math" panose="02040503050406030204" pitchFamily="18" charset="0"/>
                          </a:rPr>
                          <m:t> </m:t>
                        </m:r>
                      </m:sub>
                    </m:sSub>
                    <m:r>
                      <a:rPr lang="en-US" i="1" dirty="0">
                        <a:solidFill>
                          <a:srgbClr val="C00000"/>
                        </a:solidFill>
                        <a:latin typeface="Cambria Math" panose="02040503050406030204" pitchFamily="18" charset="0"/>
                      </a:rPr>
                      <m:t>|</m:t>
                    </m:r>
                  </m:oMath>
                </a14:m>
                <a:endParaRPr lang="en-US" dirty="0">
                  <a:solidFill>
                    <a:srgbClr val="C00000"/>
                  </a:solidFill>
                </a:endParaRPr>
              </a:p>
            </p:txBody>
          </p:sp>
        </mc:Choice>
        <mc:Fallback xmlns="">
          <p:sp>
            <p:nvSpPr>
              <p:cNvPr id="29" name="TextBox 28">
                <a:extLst>
                  <a:ext uri="{FF2B5EF4-FFF2-40B4-BE49-F238E27FC236}">
                    <a16:creationId xmlns:a16="http://schemas.microsoft.com/office/drawing/2014/main" id="{3461328C-55E6-46B8-B840-8C8A3C370AC9}"/>
                  </a:ext>
                </a:extLst>
              </p:cNvPr>
              <p:cNvSpPr txBox="1">
                <a:spLocks noRot="1" noChangeAspect="1" noMove="1" noResize="1" noEditPoints="1" noAdjustHandles="1" noChangeArrowheads="1" noChangeShapeType="1" noTextEdit="1"/>
              </p:cNvSpPr>
              <p:nvPr/>
            </p:nvSpPr>
            <p:spPr>
              <a:xfrm rot="16200000">
                <a:off x="5338105" y="3556816"/>
                <a:ext cx="2536664" cy="445250"/>
              </a:xfrm>
              <a:prstGeom prst="rect">
                <a:avLst/>
              </a:prstGeom>
              <a:blipFill>
                <a:blip r:embed="rId11"/>
                <a:stretch>
                  <a:fillRect l="-5479" r="-8219"/>
                </a:stretch>
              </a:blipFill>
            </p:spPr>
            <p:txBody>
              <a:bodyPr/>
              <a:lstStyle/>
              <a:p>
                <a:r>
                  <a:rPr lang="sv-SE">
                    <a:noFill/>
                  </a:rPr>
                  <a:t> </a:t>
                </a:r>
              </a:p>
            </p:txBody>
          </p:sp>
        </mc:Fallback>
      </mc:AlternateContent>
      <p:cxnSp>
        <p:nvCxnSpPr>
          <p:cNvPr id="30" name="Straight Arrow Connector 29">
            <a:extLst>
              <a:ext uri="{FF2B5EF4-FFF2-40B4-BE49-F238E27FC236}">
                <a16:creationId xmlns:a16="http://schemas.microsoft.com/office/drawing/2014/main" id="{61209277-7535-4ECB-AE4F-B8E59175BFA4}"/>
              </a:ext>
            </a:extLst>
          </p:cNvPr>
          <p:cNvCxnSpPr>
            <a:cxnSpLocks/>
          </p:cNvCxnSpPr>
          <p:nvPr/>
        </p:nvCxnSpPr>
        <p:spPr>
          <a:xfrm>
            <a:off x="7033581" y="3651766"/>
            <a:ext cx="0" cy="1014115"/>
          </a:xfrm>
          <a:prstGeom prst="straightConnector1">
            <a:avLst/>
          </a:prstGeom>
          <a:ln>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pic>
        <p:nvPicPr>
          <p:cNvPr id="31" name="Picture 30">
            <a:extLst>
              <a:ext uri="{FF2B5EF4-FFF2-40B4-BE49-F238E27FC236}">
                <a16:creationId xmlns:a16="http://schemas.microsoft.com/office/drawing/2014/main" id="{23BC06DD-3610-4F3B-86FC-1005EA68DFC3}"/>
              </a:ext>
            </a:extLst>
          </p:cNvPr>
          <p:cNvPicPr>
            <a:picLocks noChangeAspect="1"/>
          </p:cNvPicPr>
          <p:nvPr/>
        </p:nvPicPr>
        <p:blipFill>
          <a:blip r:embed="rId12"/>
          <a:stretch>
            <a:fillRect/>
          </a:stretch>
        </p:blipFill>
        <p:spPr>
          <a:xfrm>
            <a:off x="3203847" y="3380846"/>
            <a:ext cx="3810000" cy="2857500"/>
          </a:xfrm>
          <a:prstGeom prst="rect">
            <a:avLst/>
          </a:prstGeom>
        </p:spPr>
      </p:pic>
      <p:cxnSp>
        <p:nvCxnSpPr>
          <p:cNvPr id="32" name="Straight Arrow Connector 31">
            <a:extLst>
              <a:ext uri="{FF2B5EF4-FFF2-40B4-BE49-F238E27FC236}">
                <a16:creationId xmlns:a16="http://schemas.microsoft.com/office/drawing/2014/main" id="{DA6ECEDA-AE7A-411F-8479-709AF23E0541}"/>
              </a:ext>
            </a:extLst>
          </p:cNvPr>
          <p:cNvCxnSpPr>
            <a:cxnSpLocks/>
          </p:cNvCxnSpPr>
          <p:nvPr/>
        </p:nvCxnSpPr>
        <p:spPr>
          <a:xfrm flipV="1">
            <a:off x="4821533" y="2059924"/>
            <a:ext cx="310269" cy="906737"/>
          </a:xfrm>
          <a:prstGeom prst="straightConnector1">
            <a:avLst/>
          </a:prstGeom>
          <a:ln w="12700">
            <a:solidFill>
              <a:schemeClr val="accent6">
                <a:lumMod val="75000"/>
              </a:schemeClr>
            </a:solidFill>
            <a:prstDash val="dash"/>
            <a:headEnd type="triangle"/>
            <a:tailEnd type="non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278D1484-15FE-4FF9-8BC9-86EF5F39DEA6}"/>
              </a:ext>
            </a:extLst>
          </p:cNvPr>
          <p:cNvCxnSpPr>
            <a:cxnSpLocks/>
          </p:cNvCxnSpPr>
          <p:nvPr/>
        </p:nvCxnSpPr>
        <p:spPr>
          <a:xfrm flipV="1">
            <a:off x="4844684" y="2740758"/>
            <a:ext cx="712481" cy="191352"/>
          </a:xfrm>
          <a:prstGeom prst="straightConnector1">
            <a:avLst/>
          </a:prstGeom>
          <a:ln w="12700">
            <a:solidFill>
              <a:srgbClr val="0039AC"/>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FB3B3F29-EDEC-4595-A375-80DFA7AB7DCA}"/>
              </a:ext>
            </a:extLst>
          </p:cNvPr>
          <p:cNvCxnSpPr>
            <a:cxnSpLocks/>
          </p:cNvCxnSpPr>
          <p:nvPr/>
        </p:nvCxnSpPr>
        <p:spPr>
          <a:xfrm>
            <a:off x="3934361" y="186226"/>
            <a:ext cx="0" cy="2898465"/>
          </a:xfrm>
          <a:prstGeom prst="line">
            <a:avLst/>
          </a:prstGeom>
          <a:ln>
            <a:solidFill>
              <a:srgbClr val="7030A0"/>
            </a:solidFill>
            <a:head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6206749-B0F1-4229-A581-92461336F45B}"/>
              </a:ext>
            </a:extLst>
          </p:cNvPr>
          <p:cNvCxnSpPr>
            <a:cxnSpLocks/>
          </p:cNvCxnSpPr>
          <p:nvPr/>
        </p:nvCxnSpPr>
        <p:spPr>
          <a:xfrm rot="20199754">
            <a:off x="7593208" y="1794878"/>
            <a:ext cx="1200647" cy="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CE134156-BEFD-4ED1-95A8-4479094B7835}"/>
              </a:ext>
            </a:extLst>
          </p:cNvPr>
          <p:cNvCxnSpPr>
            <a:cxnSpLocks/>
          </p:cNvCxnSpPr>
          <p:nvPr/>
        </p:nvCxnSpPr>
        <p:spPr>
          <a:xfrm rot="20199754" flipV="1">
            <a:off x="8578947" y="754263"/>
            <a:ext cx="257716" cy="783819"/>
          </a:xfrm>
          <a:prstGeom prst="straightConnector1">
            <a:avLst/>
          </a:prstGeom>
          <a:ln w="2540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5DAE119A-A3FD-49CA-80B2-78A838CFBF9B}"/>
              </a:ext>
            </a:extLst>
          </p:cNvPr>
          <p:cNvCxnSpPr>
            <a:cxnSpLocks/>
          </p:cNvCxnSpPr>
          <p:nvPr/>
        </p:nvCxnSpPr>
        <p:spPr>
          <a:xfrm rot="20199754" flipV="1">
            <a:off x="8617053" y="389182"/>
            <a:ext cx="677777" cy="237308"/>
          </a:xfrm>
          <a:prstGeom prst="straightConnector1">
            <a:avLst/>
          </a:prstGeom>
          <a:ln w="25400">
            <a:solidFill>
              <a:srgbClr val="0039AC"/>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8498E386-4B5E-4CFF-91A4-E26117CCCA42}"/>
              </a:ext>
            </a:extLst>
          </p:cNvPr>
          <p:cNvCxnSpPr>
            <a:cxnSpLocks/>
          </p:cNvCxnSpPr>
          <p:nvPr/>
        </p:nvCxnSpPr>
        <p:spPr>
          <a:xfrm rot="20199754">
            <a:off x="7707658" y="1685139"/>
            <a:ext cx="1622804" cy="689268"/>
          </a:xfrm>
          <a:prstGeom prst="straightConnector1">
            <a:avLst/>
          </a:prstGeom>
          <a:ln w="2540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C09077D4-54C0-4368-B362-E8DFBA6ED395}"/>
                  </a:ext>
                </a:extLst>
              </p:cNvPr>
              <p:cNvSpPr txBox="1"/>
              <p:nvPr/>
            </p:nvSpPr>
            <p:spPr>
              <a:xfrm>
                <a:off x="7704085" y="2036883"/>
                <a:ext cx="885128" cy="43127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𝐴𝐵𝐶</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39" name="TextBox 38">
                <a:extLst>
                  <a:ext uri="{FF2B5EF4-FFF2-40B4-BE49-F238E27FC236}">
                    <a16:creationId xmlns:a16="http://schemas.microsoft.com/office/drawing/2014/main" id="{C09077D4-54C0-4368-B362-E8DFBA6ED395}"/>
                  </a:ext>
                </a:extLst>
              </p:cNvPr>
              <p:cNvSpPr txBox="1">
                <a:spLocks noRot="1" noChangeAspect="1" noMove="1" noResize="1" noEditPoints="1" noAdjustHandles="1" noChangeArrowheads="1" noChangeShapeType="1" noTextEdit="1"/>
              </p:cNvSpPr>
              <p:nvPr/>
            </p:nvSpPr>
            <p:spPr>
              <a:xfrm>
                <a:off x="7704085" y="2036883"/>
                <a:ext cx="885128" cy="431272"/>
              </a:xfrm>
              <a:prstGeom prst="rect">
                <a:avLst/>
              </a:prstGeom>
              <a:blipFill>
                <a:blip r:embed="rId13"/>
                <a:stretch>
                  <a:fillRect l="-9655" t="-14085" b="-21127"/>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AE80993-2C5C-47EA-9639-59C2161995CD}"/>
                  </a:ext>
                </a:extLst>
              </p:cNvPr>
              <p:cNvSpPr txBox="1"/>
              <p:nvPr/>
            </p:nvSpPr>
            <p:spPr>
              <a:xfrm rot="20199754">
                <a:off x="7673819" y="1662395"/>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𝜙</m:t>
                      </m:r>
                    </m:oMath>
                  </m:oMathPara>
                </a14:m>
                <a:endParaRPr lang="en-US" sz="2200" dirty="0"/>
              </a:p>
            </p:txBody>
          </p:sp>
        </mc:Choice>
        <mc:Fallback xmlns="">
          <p:sp>
            <p:nvSpPr>
              <p:cNvPr id="40" name="TextBox 39">
                <a:extLst>
                  <a:ext uri="{FF2B5EF4-FFF2-40B4-BE49-F238E27FC236}">
                    <a16:creationId xmlns:a16="http://schemas.microsoft.com/office/drawing/2014/main" id="{EAE80993-2C5C-47EA-9639-59C2161995CD}"/>
                  </a:ext>
                </a:extLst>
              </p:cNvPr>
              <p:cNvSpPr txBox="1">
                <a:spLocks noRot="1" noChangeAspect="1" noMove="1" noResize="1" noEditPoints="1" noAdjustHandles="1" noChangeArrowheads="1" noChangeShapeType="1" noTextEdit="1"/>
              </p:cNvSpPr>
              <p:nvPr/>
            </p:nvSpPr>
            <p:spPr>
              <a:xfrm rot="20199754">
                <a:off x="7673819" y="1662395"/>
                <a:ext cx="1634481" cy="338554"/>
              </a:xfrm>
              <a:prstGeom prst="rect">
                <a:avLst/>
              </a:prstGeom>
              <a:blipFill>
                <a:blip r:embed="rId14"/>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755B3158-A8FB-432A-8CE2-035FB56F4FFE}"/>
                  </a:ext>
                </a:extLst>
              </p:cNvPr>
              <p:cNvSpPr txBox="1"/>
              <p:nvPr/>
            </p:nvSpPr>
            <p:spPr>
              <a:xfrm rot="15951471">
                <a:off x="8098246" y="913993"/>
                <a:ext cx="614262"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𝐵</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41" name="TextBox 40">
                <a:extLst>
                  <a:ext uri="{FF2B5EF4-FFF2-40B4-BE49-F238E27FC236}">
                    <a16:creationId xmlns:a16="http://schemas.microsoft.com/office/drawing/2014/main" id="{755B3158-A8FB-432A-8CE2-035FB56F4FFE}"/>
                  </a:ext>
                </a:extLst>
              </p:cNvPr>
              <p:cNvSpPr txBox="1">
                <a:spLocks noRot="1" noChangeAspect="1" noMove="1" noResize="1" noEditPoints="1" noAdjustHandles="1" noChangeArrowheads="1" noChangeShapeType="1" noTextEdit="1"/>
              </p:cNvSpPr>
              <p:nvPr/>
            </p:nvSpPr>
            <p:spPr>
              <a:xfrm rot="15951471">
                <a:off x="8098246" y="913993"/>
                <a:ext cx="614262" cy="429092"/>
              </a:xfrm>
              <a:prstGeom prst="rect">
                <a:avLst/>
              </a:prstGeom>
              <a:blipFill>
                <a:blip r:embed="rId15"/>
                <a:stretch>
                  <a:fillRect l="-11538" r="-15385" b="-14151"/>
                </a:stretch>
              </a:blipFill>
            </p:spPr>
            <p:txBody>
              <a:bodyPr/>
              <a:lstStyle/>
              <a:p>
                <a:r>
                  <a:rPr lang="sv-SE">
                    <a:noFill/>
                  </a:rPr>
                  <a:t> </a:t>
                </a:r>
              </a:p>
            </p:txBody>
          </p:sp>
        </mc:Fallback>
      </mc:AlternateContent>
      <p:sp>
        <p:nvSpPr>
          <p:cNvPr id="42" name="Arc 41">
            <a:extLst>
              <a:ext uri="{FF2B5EF4-FFF2-40B4-BE49-F238E27FC236}">
                <a16:creationId xmlns:a16="http://schemas.microsoft.com/office/drawing/2014/main" id="{91A56D0B-0D7D-416E-BC2D-2147FE30EFE0}"/>
              </a:ext>
            </a:extLst>
          </p:cNvPr>
          <p:cNvSpPr/>
          <p:nvPr/>
        </p:nvSpPr>
        <p:spPr>
          <a:xfrm rot="3999754">
            <a:off x="7957807" y="1768686"/>
            <a:ext cx="541320" cy="228783"/>
          </a:xfrm>
          <a:prstGeom prst="arc">
            <a:avLst>
              <a:gd name="adj1" fmla="val 14291063"/>
              <a:gd name="adj2" fmla="val 20171534"/>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C2810583-B948-4C07-B987-3A0ACEFAEC6F}"/>
                  </a:ext>
                </a:extLst>
              </p:cNvPr>
              <p:cNvSpPr txBox="1"/>
              <p:nvPr/>
            </p:nvSpPr>
            <p:spPr>
              <a:xfrm rot="20199754">
                <a:off x="7694997" y="1367315"/>
                <a:ext cx="537199"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43" name="TextBox 42">
                <a:extLst>
                  <a:ext uri="{FF2B5EF4-FFF2-40B4-BE49-F238E27FC236}">
                    <a16:creationId xmlns:a16="http://schemas.microsoft.com/office/drawing/2014/main" id="{C2810583-B948-4C07-B987-3A0ACEFAEC6F}"/>
                  </a:ext>
                </a:extLst>
              </p:cNvPr>
              <p:cNvSpPr txBox="1">
                <a:spLocks noRot="1" noChangeAspect="1" noMove="1" noResize="1" noEditPoints="1" noAdjustHandles="1" noChangeArrowheads="1" noChangeShapeType="1" noTextEdit="1"/>
              </p:cNvSpPr>
              <p:nvPr/>
            </p:nvSpPr>
            <p:spPr>
              <a:xfrm rot="20199754">
                <a:off x="7694997" y="1367315"/>
                <a:ext cx="537199" cy="429092"/>
              </a:xfrm>
              <a:prstGeom prst="rect">
                <a:avLst/>
              </a:prstGeom>
              <a:blipFill>
                <a:blip r:embed="rId16"/>
                <a:stretch>
                  <a:fillRect l="-9091" t="-5941" r="-10000" b="-1980"/>
                </a:stretch>
              </a:blipFill>
            </p:spPr>
            <p:txBody>
              <a:bodyPr/>
              <a:lstStyle/>
              <a:p>
                <a:r>
                  <a:rPr lang="sv-SE">
                    <a:noFill/>
                  </a:rPr>
                  <a:t> </a:t>
                </a:r>
              </a:p>
            </p:txBody>
          </p:sp>
        </mc:Fallback>
      </mc:AlternateContent>
      <p:sp>
        <p:nvSpPr>
          <p:cNvPr id="44" name="Arc 43">
            <a:extLst>
              <a:ext uri="{FF2B5EF4-FFF2-40B4-BE49-F238E27FC236}">
                <a16:creationId xmlns:a16="http://schemas.microsoft.com/office/drawing/2014/main" id="{E1CADF48-19C4-464E-9A0C-5834086642AF}"/>
              </a:ext>
            </a:extLst>
          </p:cNvPr>
          <p:cNvSpPr/>
          <p:nvPr/>
        </p:nvSpPr>
        <p:spPr>
          <a:xfrm rot="1413968">
            <a:off x="8427264" y="1250930"/>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027AD0A-7E8B-439C-9C1E-4378A72A4760}"/>
                  </a:ext>
                </a:extLst>
              </p:cNvPr>
              <p:cNvSpPr txBox="1"/>
              <p:nvPr/>
            </p:nvSpPr>
            <p:spPr>
              <a:xfrm rot="20199754">
                <a:off x="8847217" y="998264"/>
                <a:ext cx="462615"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𝛼</m:t>
                      </m:r>
                    </m:oMath>
                  </m:oMathPara>
                </a14:m>
                <a:endParaRPr lang="en-US" sz="2200" dirty="0"/>
              </a:p>
            </p:txBody>
          </p:sp>
        </mc:Choice>
        <mc:Fallback xmlns="">
          <p:sp>
            <p:nvSpPr>
              <p:cNvPr id="45" name="TextBox 44">
                <a:extLst>
                  <a:ext uri="{FF2B5EF4-FFF2-40B4-BE49-F238E27FC236}">
                    <a16:creationId xmlns:a16="http://schemas.microsoft.com/office/drawing/2014/main" id="{E027AD0A-7E8B-439C-9C1E-4378A72A4760}"/>
                  </a:ext>
                </a:extLst>
              </p:cNvPr>
              <p:cNvSpPr txBox="1">
                <a:spLocks noRot="1" noChangeAspect="1" noMove="1" noResize="1" noEditPoints="1" noAdjustHandles="1" noChangeArrowheads="1" noChangeShapeType="1" noTextEdit="1"/>
              </p:cNvSpPr>
              <p:nvPr/>
            </p:nvSpPr>
            <p:spPr>
              <a:xfrm rot="20199754">
                <a:off x="8847217" y="998264"/>
                <a:ext cx="462615" cy="338554"/>
              </a:xfrm>
              <a:prstGeom prst="rect">
                <a:avLst/>
              </a:prstGeom>
              <a:blipFill>
                <a:blip r:embed="rId17"/>
                <a:stretch>
                  <a:fillRect/>
                </a:stretch>
              </a:blipFill>
            </p:spPr>
            <p:txBody>
              <a:bodyPr/>
              <a:lstStyle/>
              <a:p>
                <a:r>
                  <a:rPr lang="sv-SE">
                    <a:noFill/>
                  </a:rPr>
                  <a:t> </a:t>
                </a:r>
              </a:p>
            </p:txBody>
          </p:sp>
        </mc:Fallback>
      </mc:AlternateContent>
      <p:cxnSp>
        <p:nvCxnSpPr>
          <p:cNvPr id="46" name="Straight Connector 45">
            <a:extLst>
              <a:ext uri="{FF2B5EF4-FFF2-40B4-BE49-F238E27FC236}">
                <a16:creationId xmlns:a16="http://schemas.microsoft.com/office/drawing/2014/main" id="{97B79CFE-2B7C-4147-9FDB-81087584EF0E}"/>
              </a:ext>
            </a:extLst>
          </p:cNvPr>
          <p:cNvCxnSpPr>
            <a:cxnSpLocks/>
          </p:cNvCxnSpPr>
          <p:nvPr/>
        </p:nvCxnSpPr>
        <p:spPr>
          <a:xfrm rot="20199754" flipV="1">
            <a:off x="8555361" y="98385"/>
            <a:ext cx="206855" cy="640309"/>
          </a:xfrm>
          <a:prstGeom prst="line">
            <a:avLst/>
          </a:prstGeom>
          <a:ln>
            <a:solidFill>
              <a:srgbClr val="7030A0"/>
            </a:solidFill>
          </a:ln>
        </p:spPr>
        <p:style>
          <a:lnRef idx="1">
            <a:schemeClr val="accent1"/>
          </a:lnRef>
          <a:fillRef idx="0">
            <a:schemeClr val="accent1"/>
          </a:fillRef>
          <a:effectRef idx="0">
            <a:schemeClr val="accent1"/>
          </a:effectRef>
          <a:fontRef idx="minor">
            <a:schemeClr val="tx1"/>
          </a:fontRef>
        </p:style>
      </p:cxnSp>
      <p:sp>
        <p:nvSpPr>
          <p:cNvPr id="47" name="Arc 46">
            <a:extLst>
              <a:ext uri="{FF2B5EF4-FFF2-40B4-BE49-F238E27FC236}">
                <a16:creationId xmlns:a16="http://schemas.microsoft.com/office/drawing/2014/main" id="{F4FBA915-B2D1-4C10-9B86-B4B8A0C0AA32}"/>
              </a:ext>
            </a:extLst>
          </p:cNvPr>
          <p:cNvSpPr/>
          <p:nvPr/>
        </p:nvSpPr>
        <p:spPr>
          <a:xfrm rot="21587475">
            <a:off x="8461486" y="455664"/>
            <a:ext cx="541320" cy="245805"/>
          </a:xfrm>
          <a:prstGeom prst="arc">
            <a:avLst>
              <a:gd name="adj1" fmla="val 15161520"/>
              <a:gd name="adj2" fmla="val 2031619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p:cxnSp>
        <p:nvCxnSpPr>
          <p:cNvPr id="48" name="Straight Arrow Connector 47">
            <a:extLst>
              <a:ext uri="{FF2B5EF4-FFF2-40B4-BE49-F238E27FC236}">
                <a16:creationId xmlns:a16="http://schemas.microsoft.com/office/drawing/2014/main" id="{A92B350C-FC8E-431C-9EDC-2141A4C7082B}"/>
              </a:ext>
            </a:extLst>
          </p:cNvPr>
          <p:cNvCxnSpPr>
            <a:cxnSpLocks/>
          </p:cNvCxnSpPr>
          <p:nvPr/>
        </p:nvCxnSpPr>
        <p:spPr>
          <a:xfrm rot="20199754" flipV="1">
            <a:off x="8622355" y="1592515"/>
            <a:ext cx="310269" cy="906737"/>
          </a:xfrm>
          <a:prstGeom prst="straightConnector1">
            <a:avLst/>
          </a:prstGeom>
          <a:ln w="12700">
            <a:solidFill>
              <a:schemeClr val="accent6">
                <a:lumMod val="75000"/>
              </a:schemeClr>
            </a:solidFill>
            <a:prstDash val="dash"/>
            <a:headEnd type="triangle"/>
            <a:tailEnd type="non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9C51BAE4-1F11-401C-BC2C-BD1CFE8C8720}"/>
              </a:ext>
            </a:extLst>
          </p:cNvPr>
          <p:cNvCxnSpPr>
            <a:cxnSpLocks/>
          </p:cNvCxnSpPr>
          <p:nvPr/>
        </p:nvCxnSpPr>
        <p:spPr>
          <a:xfrm rot="20199754" flipV="1">
            <a:off x="8755171" y="2158074"/>
            <a:ext cx="712481" cy="191352"/>
          </a:xfrm>
          <a:prstGeom prst="straightConnector1">
            <a:avLst/>
          </a:prstGeom>
          <a:ln w="12700">
            <a:solidFill>
              <a:srgbClr val="0039AC"/>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1A1825A7-14F1-498C-99CD-379126712392}"/>
              </a:ext>
            </a:extLst>
          </p:cNvPr>
          <p:cNvCxnSpPr>
            <a:cxnSpLocks/>
          </p:cNvCxnSpPr>
          <p:nvPr/>
        </p:nvCxnSpPr>
        <p:spPr>
          <a:xfrm rot="20199754" flipV="1">
            <a:off x="8634217" y="1303640"/>
            <a:ext cx="1423446" cy="7213"/>
          </a:xfrm>
          <a:prstGeom prst="line">
            <a:avLst/>
          </a:prstGeom>
          <a:ln>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B578FF35-EDA3-4B34-A4A1-37A1E5BA7657}"/>
              </a:ext>
            </a:extLst>
          </p:cNvPr>
          <p:cNvCxnSpPr>
            <a:cxnSpLocks/>
          </p:cNvCxnSpPr>
          <p:nvPr/>
        </p:nvCxnSpPr>
        <p:spPr>
          <a:xfrm>
            <a:off x="7637515" y="186226"/>
            <a:ext cx="0" cy="2898465"/>
          </a:xfrm>
          <a:prstGeom prst="line">
            <a:avLst/>
          </a:prstGeom>
          <a:ln>
            <a:solidFill>
              <a:srgbClr val="7030A0"/>
            </a:solidFill>
            <a:headEnd type="arrow"/>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0C7D81C7-3398-411A-8D3D-4CFAC59DB148}"/>
              </a:ext>
            </a:extLst>
          </p:cNvPr>
          <p:cNvSpPr txBox="1"/>
          <p:nvPr/>
        </p:nvSpPr>
        <p:spPr>
          <a:xfrm>
            <a:off x="8455724" y="2943024"/>
            <a:ext cx="985816" cy="430887"/>
          </a:xfrm>
          <a:prstGeom prst="rect">
            <a:avLst/>
          </a:prstGeom>
          <a:noFill/>
        </p:spPr>
        <p:txBody>
          <a:bodyPr wrap="square" rtlCol="0">
            <a:spAutoFit/>
          </a:bodyPr>
          <a:lstStyle/>
          <a:p>
            <a:r>
              <a:rPr lang="en-US" sz="2200" dirty="0">
                <a:latin typeface="Times New Roman" panose="02020603050405020304" pitchFamily="18" charset="0"/>
                <a:cs typeface="Times New Roman" panose="02020603050405020304" pitchFamily="18" charset="0"/>
              </a:rPr>
              <a:t>(b)</a:t>
            </a:r>
          </a:p>
        </p:txBody>
      </p:sp>
    </p:spTree>
    <p:extLst>
      <p:ext uri="{BB962C8B-B14F-4D97-AF65-F5344CB8AC3E}">
        <p14:creationId xmlns:p14="http://schemas.microsoft.com/office/powerpoint/2010/main" val="3411200524"/>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sv-SE"/>
          </a:p>
        </p:txBody>
      </p:sp>
      <p:sp>
        <p:nvSpPr>
          <p:cNvPr id="3" name="Content Placeholder 2"/>
          <p:cNvSpPr>
            <a:spLocks noGrp="1"/>
          </p:cNvSpPr>
          <p:nvPr>
            <p:ph idx="1"/>
          </p:nvPr>
        </p:nvSpPr>
        <p:spPr/>
        <p:txBody>
          <a:bodyPr/>
          <a:lstStyle/>
          <a:p>
            <a:r>
              <a:rPr lang="sv-SE" dirty="0"/>
              <a:t>https://www.ew.tu-darmstadt.de/media/ew/rd/ew_vortraege/kurs_gec/gec_4.pdf</a:t>
            </a:r>
          </a:p>
        </p:txBody>
      </p:sp>
    </p:spTree>
    <p:extLst>
      <p:ext uri="{BB962C8B-B14F-4D97-AF65-F5344CB8AC3E}">
        <p14:creationId xmlns:p14="http://schemas.microsoft.com/office/powerpoint/2010/main" val="1922088573"/>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theme/theme1.xml><?xml version="1.0" encoding="utf-8"?>
<a:theme xmlns:a="http://schemas.openxmlformats.org/drawingml/2006/main" name="Office-tema">
  <a:themeElements>
    <a:clrScheme name="KTH">
      <a:dk1>
        <a:srgbClr val="000000"/>
      </a:dk1>
      <a:lt1>
        <a:srgbClr val="FFFFFF"/>
      </a:lt1>
      <a:dk2>
        <a:srgbClr val="000061"/>
      </a:dk2>
      <a:lt2>
        <a:srgbClr val="EBE5E0"/>
      </a:lt2>
      <a:accent1>
        <a:srgbClr val="004791"/>
      </a:accent1>
      <a:accent2>
        <a:srgbClr val="6198D2"/>
      </a:accent2>
      <a:accent3>
        <a:srgbClr val="000061"/>
      </a:accent3>
      <a:accent4>
        <a:srgbClr val="DEF0FF"/>
      </a:accent4>
      <a:accent5>
        <a:srgbClr val="EBE5DF"/>
      </a:accent5>
      <a:accent6>
        <a:srgbClr val="0028ED"/>
      </a:accent6>
      <a:hlink>
        <a:srgbClr val="3878C2"/>
      </a:hlink>
      <a:folHlink>
        <a:srgbClr val="004691"/>
      </a:folHlink>
    </a:clrScheme>
    <a:fontScheme name="Office">
      <a:majorFont>
        <a:latin typeface="Figtree"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Sand">
      <a:srgbClr val="EBE5E0"/>
    </a:custClr>
    <a:custClr name="KTH blue">
      <a:srgbClr val="004791"/>
    </a:custClr>
    <a:custClr name="Sky blue">
      <a:srgbClr val="6298D2"/>
    </a:custClr>
    <a:custClr name="Navy blue">
      <a:srgbClr val="000061"/>
    </a:custClr>
    <a:custClr name="Light blue">
      <a:srgbClr val="DEF0FF"/>
    </a:custClr>
    <a:custClr name="Digital blue">
      <a:srgbClr val="0029ED"/>
    </a:custClr>
    <a:custClr name="Blank">
      <a:srgbClr val="FFFFFF"/>
    </a:custClr>
    <a:custClr name="Blank">
      <a:srgbClr val="FFFFFF"/>
    </a:custClr>
    <a:custClr name="Blank">
      <a:srgbClr val="FFFFFF"/>
    </a:custClr>
    <a:custClr name="Blank">
      <a:srgbClr val="FFFFFF"/>
    </a:custClr>
    <a:custClr name="Dark green">
      <a:srgbClr val="0D4A21"/>
    </a:custClr>
    <a:custClr name="Dark turquoise">
      <a:srgbClr val="1C434C"/>
    </a:custClr>
    <a:custClr name="Dark brick">
      <a:srgbClr val="78001A"/>
    </a:custClr>
    <a:custClr name="Dark yellow">
      <a:srgbClr val="A65900"/>
    </a:custClr>
    <a:custClr name="Dark grey">
      <a:srgbClr val="323232"/>
    </a:custClr>
    <a:custClr name="Blank">
      <a:srgbClr val="FFFFFF"/>
    </a:custClr>
    <a:custClr name="Blank">
      <a:srgbClr val="FFFFFF"/>
    </a:custClr>
    <a:custClr name="Blank">
      <a:srgbClr val="FFFFFF"/>
    </a:custClr>
    <a:custClr name="Blank">
      <a:srgbClr val="FFFFFF"/>
    </a:custClr>
    <a:custClr name="Blank">
      <a:srgbClr val="FFFFFF"/>
    </a:custClr>
    <a:custClr name="Green">
      <a:srgbClr val="4DA060"/>
    </a:custClr>
    <a:custClr name="Turquoise">
      <a:srgbClr val="339C9C"/>
    </a:custClr>
    <a:custClr name="Brick">
      <a:srgbClr val="E86A58"/>
    </a:custClr>
    <a:custClr name="Yellow">
      <a:srgbClr val="FFBE00"/>
    </a:custClr>
    <a:custClr name="Grey">
      <a:srgbClr val="A5A5A5"/>
    </a:custClr>
    <a:custClr name="Blank">
      <a:srgbClr val="FFFFFF"/>
    </a:custClr>
    <a:custClr name="Blank">
      <a:srgbClr val="FFFFFF"/>
    </a:custClr>
    <a:custClr name="Blank">
      <a:srgbClr val="FFFFFF"/>
    </a:custClr>
    <a:custClr name="Blank">
      <a:srgbClr val="FFFFFF"/>
    </a:custClr>
    <a:custClr name="Blank">
      <a:srgbClr val="FFFFFF"/>
    </a:custClr>
    <a:custClr name="Light green">
      <a:srgbClr val="C7EBBA"/>
    </a:custClr>
    <a:custClr name="Light turquoise">
      <a:srgbClr val="B2E0E0"/>
    </a:custClr>
    <a:custClr name="Light brick">
      <a:srgbClr val="FFCCC4"/>
    </a:custClr>
    <a:custClr name="Light yellow">
      <a:srgbClr val="FFF0B0"/>
    </a:custClr>
    <a:custClr name="Light grey">
      <a:srgbClr val="E6E6E6"/>
    </a:custClr>
  </a:custClrLst>
  <a:extLst>
    <a:ext uri="{05A4C25C-085E-4340-85A3-A5531E510DB2}">
      <thm15:themeFamily xmlns:thm15="http://schemas.microsoft.com/office/thememl/2012/main" name="KTH_presentation_template_Figtree" id="{E6011EE6-5294-D344-AE93-F618069F8922}" vid="{45727F30-E711-A740-91D8-A34DFFD32AAE}"/>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KTH_presentation_template_Figtree (2)</Template>
  <TotalTime>16930</TotalTime>
  <Words>2700</Words>
  <Application>Microsoft Office PowerPoint</Application>
  <PresentationFormat>Widescreen</PresentationFormat>
  <Paragraphs>386</Paragraphs>
  <Slides>22</Slides>
  <Notes>5</Notes>
  <HiddenSlides>3</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Constantia</vt:lpstr>
      <vt:lpstr>Figtree</vt:lpstr>
      <vt:lpstr>Calibri</vt:lpstr>
      <vt:lpstr>Wingdings</vt:lpstr>
      <vt:lpstr>Arial</vt:lpstr>
      <vt:lpstr>Cambria Math</vt:lpstr>
      <vt:lpstr>Times New Roman</vt:lpstr>
      <vt:lpstr>Office-tema</vt:lpstr>
      <vt:lpstr>Modulation Methodology for Concurrent Power Transfer for Field Excitation</vt:lpstr>
      <vt:lpstr>Power Transfer to Rotating Frames</vt:lpstr>
      <vt:lpstr>Wireless Power Transfer</vt:lpstr>
      <vt:lpstr> Inductive Power Transfer System</vt:lpstr>
      <vt:lpstr>Aim : Merging Concurrent Power Transfer System with Slip Ring Applications  </vt:lpstr>
      <vt:lpstr>Conventional Inductive Power Transfer Based Contactless Slip Ring</vt:lpstr>
      <vt:lpstr>Proposed Inductive Power Transfer Based Contactless Slip Ring</vt:lpstr>
      <vt:lpstr>Possible Structures</vt:lpstr>
      <vt:lpstr>2-phase Utilization : Modulation Constraint </vt:lpstr>
      <vt:lpstr>3-phase Utilization : External WPT Windings</vt:lpstr>
      <vt:lpstr>Stator Winding Utilization : Basic EESM- 2 Pole  </vt:lpstr>
      <vt:lpstr>Tuned Harvesting Coil</vt:lpstr>
      <vt:lpstr>Switching Harmonics- Sequences</vt:lpstr>
      <vt:lpstr>The Induced Superimposed Voltage </vt:lpstr>
      <vt:lpstr>The Controllable Region of the Superimposed Voltage - SPWM </vt:lpstr>
      <vt:lpstr>The Controllable Region of the Superimposed Voltage - SVPWM </vt:lpstr>
      <vt:lpstr>PowerPoint Presentation</vt:lpstr>
      <vt:lpstr>References</vt:lpstr>
      <vt:lpstr>PowerPoint Presentation</vt:lpstr>
      <vt:lpstr>PowerPoint Presentation</vt:lpstr>
      <vt:lpstr>PowerPoint Presentation</vt:lpstr>
      <vt:lpstr>PowerPoint Presentation</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Tove Guldbrand</dc:creator>
  <cp:lastModifiedBy>Enes Ayaz</cp:lastModifiedBy>
  <cp:revision>153</cp:revision>
  <dcterms:created xsi:type="dcterms:W3CDTF">2024-01-10T13:17:29Z</dcterms:created>
  <dcterms:modified xsi:type="dcterms:W3CDTF">2025-01-14T12:50:02Z</dcterms:modified>
</cp:coreProperties>
</file>