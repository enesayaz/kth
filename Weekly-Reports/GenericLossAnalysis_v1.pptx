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69" r:id="rId4"/>
    <p:sldId id="270" r:id="rId5"/>
    <p:sldId id="258" r:id="rId6"/>
    <p:sldId id="257" r:id="rId7"/>
    <p:sldId id="259" r:id="rId8"/>
    <p:sldId id="261" r:id="rId9"/>
    <p:sldId id="260" r:id="rId10"/>
    <p:sldId id="262" r:id="rId11"/>
    <p:sldId id="263" r:id="rId12"/>
    <p:sldId id="264" r:id="rId13"/>
    <p:sldId id="265" r:id="rId14"/>
    <p:sldId id="266" r:id="rId15"/>
    <p:sldId id="272" r:id="rId16"/>
    <p:sldId id="274" r:id="rId17"/>
    <p:sldId id="275" r:id="rId18"/>
    <p:sldId id="276" r:id="rId19"/>
    <p:sldId id="277" r:id="rId20"/>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522" autoAdjust="0"/>
  </p:normalViewPr>
  <p:slideViewPr>
    <p:cSldViewPr snapToGrid="0">
      <p:cViewPr>
        <p:scale>
          <a:sx n="75" d="100"/>
          <a:sy n="75" d="100"/>
        </p:scale>
        <p:origin x="1914" y="8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sv-S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sv-SE"/>
          </a:p>
        </p:txBody>
      </p:sp>
      <p:sp>
        <p:nvSpPr>
          <p:cNvPr id="4" name="Date Placeholder 3"/>
          <p:cNvSpPr>
            <a:spLocks noGrp="1"/>
          </p:cNvSpPr>
          <p:nvPr>
            <p:ph type="dt" sz="half" idx="10"/>
          </p:nvPr>
        </p:nvSpPr>
        <p:spPr/>
        <p:txBody>
          <a:bodyPr/>
          <a:lstStyle/>
          <a:p>
            <a:fld id="{5CA0357E-35DB-4589-AC4C-4AF298A8BBF3}" type="datetimeFigureOut">
              <a:rPr lang="sv-SE" smtClean="0"/>
              <a:t>2023-09-17</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3769753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sv-SE"/>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Date Placeholder 3"/>
          <p:cNvSpPr>
            <a:spLocks noGrp="1"/>
          </p:cNvSpPr>
          <p:nvPr>
            <p:ph type="dt" sz="half" idx="10"/>
          </p:nvPr>
        </p:nvSpPr>
        <p:spPr/>
        <p:txBody>
          <a:bodyPr/>
          <a:lstStyle/>
          <a:p>
            <a:fld id="{5CA0357E-35DB-4589-AC4C-4AF298A8BBF3}" type="datetimeFigureOut">
              <a:rPr lang="sv-SE" smtClean="0"/>
              <a:t>2023-09-17</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2653311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sv-S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CA0357E-35DB-4589-AC4C-4AF298A8BBF3}" type="datetimeFigureOut">
              <a:rPr lang="sv-SE" smtClean="0"/>
              <a:t>2023-09-17</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1935297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sv-SE"/>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5" name="Date Placeholder 4"/>
          <p:cNvSpPr>
            <a:spLocks noGrp="1"/>
          </p:cNvSpPr>
          <p:nvPr>
            <p:ph type="dt" sz="half" idx="10"/>
          </p:nvPr>
        </p:nvSpPr>
        <p:spPr/>
        <p:txBody>
          <a:bodyPr/>
          <a:lstStyle/>
          <a:p>
            <a:fld id="{5CA0357E-35DB-4589-AC4C-4AF298A8BBF3}" type="datetimeFigureOut">
              <a:rPr lang="sv-SE" smtClean="0"/>
              <a:t>2023-09-17</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856760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sv-S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7" name="Date Placeholder 6"/>
          <p:cNvSpPr>
            <a:spLocks noGrp="1"/>
          </p:cNvSpPr>
          <p:nvPr>
            <p:ph type="dt" sz="half" idx="10"/>
          </p:nvPr>
        </p:nvSpPr>
        <p:spPr/>
        <p:txBody>
          <a:bodyPr/>
          <a:lstStyle/>
          <a:p>
            <a:fld id="{5CA0357E-35DB-4589-AC4C-4AF298A8BBF3}" type="datetimeFigureOut">
              <a:rPr lang="sv-SE" smtClean="0"/>
              <a:t>2023-09-17</a:t>
            </a:fld>
            <a:endParaRPr lang="sv-SE"/>
          </a:p>
        </p:txBody>
      </p:sp>
      <p:sp>
        <p:nvSpPr>
          <p:cNvPr id="8" name="Footer Placeholder 7"/>
          <p:cNvSpPr>
            <a:spLocks noGrp="1"/>
          </p:cNvSpPr>
          <p:nvPr>
            <p:ph type="ftr" sz="quarter" idx="11"/>
          </p:nvPr>
        </p:nvSpPr>
        <p:spPr/>
        <p:txBody>
          <a:bodyPr/>
          <a:lstStyle/>
          <a:p>
            <a:endParaRPr lang="sv-SE"/>
          </a:p>
        </p:txBody>
      </p:sp>
      <p:sp>
        <p:nvSpPr>
          <p:cNvPr id="9" name="Slide Number Placeholder 8"/>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31999270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sv-SE"/>
          </a:p>
        </p:txBody>
      </p:sp>
      <p:sp>
        <p:nvSpPr>
          <p:cNvPr id="3" name="Date Placeholder 2"/>
          <p:cNvSpPr>
            <a:spLocks noGrp="1"/>
          </p:cNvSpPr>
          <p:nvPr>
            <p:ph type="dt" sz="half" idx="10"/>
          </p:nvPr>
        </p:nvSpPr>
        <p:spPr/>
        <p:txBody>
          <a:bodyPr/>
          <a:lstStyle/>
          <a:p>
            <a:fld id="{5CA0357E-35DB-4589-AC4C-4AF298A8BBF3}" type="datetimeFigureOut">
              <a:rPr lang="sv-SE" smtClean="0"/>
              <a:t>2023-09-17</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4108908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A0357E-35DB-4589-AC4C-4AF298A8BBF3}" type="datetimeFigureOut">
              <a:rPr lang="sv-SE" smtClean="0"/>
              <a:t>2023-09-17</a:t>
            </a:fld>
            <a:endParaRPr lang="sv-SE"/>
          </a:p>
        </p:txBody>
      </p:sp>
      <p:sp>
        <p:nvSpPr>
          <p:cNvPr id="3" name="Footer Placeholder 2"/>
          <p:cNvSpPr>
            <a:spLocks noGrp="1"/>
          </p:cNvSpPr>
          <p:nvPr>
            <p:ph type="ftr" sz="quarter" idx="11"/>
          </p:nvPr>
        </p:nvSpPr>
        <p:spPr/>
        <p:txBody>
          <a:bodyPr/>
          <a:lstStyle/>
          <a:p>
            <a:endParaRPr lang="sv-SE"/>
          </a:p>
        </p:txBody>
      </p:sp>
      <p:sp>
        <p:nvSpPr>
          <p:cNvPr id="4" name="Slide Number Placeholder 3"/>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1908886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sv-S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CA0357E-35DB-4589-AC4C-4AF298A8BBF3}" type="datetimeFigureOut">
              <a:rPr lang="sv-SE" smtClean="0"/>
              <a:t>2023-09-17</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2672264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sv-S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CA0357E-35DB-4589-AC4C-4AF298A8BBF3}" type="datetimeFigureOut">
              <a:rPr lang="sv-SE" smtClean="0"/>
              <a:t>2023-09-17</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314653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sv-SE"/>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Date Placeholder 3"/>
          <p:cNvSpPr>
            <a:spLocks noGrp="1"/>
          </p:cNvSpPr>
          <p:nvPr>
            <p:ph type="dt" sz="half" idx="10"/>
          </p:nvPr>
        </p:nvSpPr>
        <p:spPr/>
        <p:txBody>
          <a:bodyPr/>
          <a:lstStyle/>
          <a:p>
            <a:fld id="{5CA0357E-35DB-4589-AC4C-4AF298A8BBF3}" type="datetimeFigureOut">
              <a:rPr lang="sv-SE" smtClean="0"/>
              <a:t>2023-09-17</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2200678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sv-S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Date Placeholder 3"/>
          <p:cNvSpPr>
            <a:spLocks noGrp="1"/>
          </p:cNvSpPr>
          <p:nvPr>
            <p:ph type="dt" sz="half" idx="10"/>
          </p:nvPr>
        </p:nvSpPr>
        <p:spPr/>
        <p:txBody>
          <a:bodyPr/>
          <a:lstStyle/>
          <a:p>
            <a:fld id="{5CA0357E-35DB-4589-AC4C-4AF298A8BBF3}" type="datetimeFigureOut">
              <a:rPr lang="sv-SE" smtClean="0"/>
              <a:t>2023-09-17</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17FC5514-827A-4352-9D73-F0A0F4D0C3DA}" type="slidenum">
              <a:rPr lang="sv-SE" smtClean="0"/>
              <a:t>‹#›</a:t>
            </a:fld>
            <a:endParaRPr lang="sv-SE"/>
          </a:p>
        </p:txBody>
      </p:sp>
    </p:spTree>
    <p:extLst>
      <p:ext uri="{BB962C8B-B14F-4D97-AF65-F5344CB8AC3E}">
        <p14:creationId xmlns:p14="http://schemas.microsoft.com/office/powerpoint/2010/main" val="1419574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sv-S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A0357E-35DB-4589-AC4C-4AF298A8BBF3}" type="datetimeFigureOut">
              <a:rPr lang="sv-SE" smtClean="0"/>
              <a:t>2023-09-17</a:t>
            </a:fld>
            <a:endParaRPr lang="sv-S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FC5514-827A-4352-9D73-F0A0F4D0C3DA}" type="slidenum">
              <a:rPr lang="sv-SE" smtClean="0"/>
              <a:t>‹#›</a:t>
            </a:fld>
            <a:endParaRPr lang="sv-SE"/>
          </a:p>
        </p:txBody>
      </p:sp>
    </p:spTree>
    <p:extLst>
      <p:ext uri="{BB962C8B-B14F-4D97-AF65-F5344CB8AC3E}">
        <p14:creationId xmlns:p14="http://schemas.microsoft.com/office/powerpoint/2010/main" val="1271402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0.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7627" y="155060"/>
            <a:ext cx="10981038" cy="1325563"/>
          </a:xfrm>
        </p:spPr>
        <p:txBody>
          <a:bodyPr/>
          <a:lstStyle/>
          <a:p>
            <a:r>
              <a:rPr lang="en-US" dirty="0" smtClean="0">
                <a:solidFill>
                  <a:srgbClr val="C00000"/>
                </a:solidFill>
              </a:rPr>
              <a:t>Selection of Voltage Ratings of Semiconductors</a:t>
            </a:r>
            <a:endParaRPr lang="sv-SE" dirty="0">
              <a:solidFill>
                <a:srgbClr val="C00000"/>
              </a:solidFill>
            </a:endParaRPr>
          </a:p>
        </p:txBody>
      </p:sp>
      <mc:AlternateContent xmlns:mc="http://schemas.openxmlformats.org/markup-compatibility/2006">
        <mc:Choice xmlns:a14="http://schemas.microsoft.com/office/drawing/2010/main" Requires="a14">
          <p:sp>
            <p:nvSpPr>
              <p:cNvPr id="16" name="Rectangle 15"/>
              <p:cNvSpPr/>
              <p:nvPr/>
            </p:nvSpPr>
            <p:spPr>
              <a:xfrm>
                <a:off x="832022" y="1208750"/>
                <a:ext cx="10565027" cy="1212511"/>
              </a:xfrm>
              <a:prstGeom prst="rect">
                <a:avLst/>
              </a:prstGeom>
            </p:spPr>
            <p:txBody>
              <a:bodyPr wrap="square">
                <a:spAutoFit/>
              </a:bodyPr>
              <a:lstStyle/>
              <a:p>
                <a:pPr marL="285750" indent="-285750">
                  <a:buFont typeface="Arial" panose="020B0604020202020204" pitchFamily="34" charset="0"/>
                  <a:buChar char="•"/>
                </a:pPr>
                <a:r>
                  <a:rPr lang="en-US" dirty="0" smtClean="0"/>
                  <a:t>The required rated voltage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𝑈</m:t>
                        </m:r>
                      </m:e>
                      <m:sub>
                        <m:r>
                          <a:rPr lang="en-US" i="1" dirty="0" smtClean="0">
                            <a:latin typeface="Cambria Math" panose="02040503050406030204" pitchFamily="18" charset="0"/>
                          </a:rPr>
                          <m:t>𝑑𝑠𝑠</m:t>
                        </m:r>
                      </m:sub>
                    </m:sSub>
                    <m:r>
                      <a:rPr lang="en-US" i="1" dirty="0" smtClean="0">
                        <a:latin typeface="Cambria Math" panose="02040503050406030204" pitchFamily="18" charset="0"/>
                      </a:rPr>
                      <m:t> </m:t>
                    </m:r>
                  </m:oMath>
                </a14:m>
                <a:r>
                  <a:rPr lang="en-US" dirty="0"/>
                  <a:t>of the semiconductors results from the blocking voltage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𝑈</m:t>
                        </m:r>
                      </m:e>
                      <m:sub>
                        <m:r>
                          <a:rPr lang="en-US" i="1" dirty="0" smtClean="0">
                            <a:latin typeface="Cambria Math" panose="02040503050406030204" pitchFamily="18" charset="0"/>
                          </a:rPr>
                          <m:t>𝑏𝑙</m:t>
                        </m:r>
                      </m:sub>
                    </m:sSub>
                    <m:r>
                      <a:rPr lang="en-US" i="1" dirty="0" smtClean="0">
                        <a:latin typeface="Cambria Math" panose="02040503050406030204" pitchFamily="18" charset="0"/>
                      </a:rPr>
                      <m:t> </m:t>
                    </m:r>
                  </m:oMath>
                </a14:m>
                <a:r>
                  <a:rPr lang="en-US" dirty="0"/>
                  <a:t>divided by the voltage </a:t>
                </a:r>
                <a:r>
                  <a:rPr lang="en-US" dirty="0" err="1"/>
                  <a:t>derating</a:t>
                </a:r>
                <a:r>
                  <a:rPr lang="en-US" dirty="0"/>
                  <a:t> factor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𝑘</m:t>
                        </m:r>
                      </m:e>
                      <m:sub>
                        <m:r>
                          <a:rPr lang="en-US" i="1" dirty="0" smtClean="0">
                            <a:latin typeface="Cambria Math" panose="02040503050406030204" pitchFamily="18" charset="0"/>
                          </a:rPr>
                          <m:t>𝑏𝑙</m:t>
                        </m:r>
                        <m:r>
                          <a:rPr lang="en-US" b="0" i="1" dirty="0" smtClean="0">
                            <a:latin typeface="Cambria Math" panose="02040503050406030204" pitchFamily="18" charset="0"/>
                          </a:rPr>
                          <m:t>,</m:t>
                        </m:r>
                        <m:r>
                          <a:rPr lang="en-US" i="1" dirty="0">
                            <a:latin typeface="Cambria Math" panose="02040503050406030204" pitchFamily="18" charset="0"/>
                          </a:rPr>
                          <m:t>𝑑𝑠𝑠</m:t>
                        </m:r>
                      </m:sub>
                    </m:sSub>
                  </m:oMath>
                </a14:m>
                <a:r>
                  <a:rPr lang="en-US" dirty="0" smtClean="0"/>
                  <a:t> since we have voltage spikes due to the high switching speed and layout </a:t>
                </a:r>
                <a:r>
                  <a:rPr lang="en-US" dirty="0" err="1" smtClean="0"/>
                  <a:t>parasitics</a:t>
                </a:r>
                <a:r>
                  <a:rPr lang="en-US" dirty="0" smtClean="0"/>
                  <a:t>. </a:t>
                </a:r>
                <a:r>
                  <a:rPr lang="en-US" dirty="0" smtClean="0">
                    <a:solidFill>
                      <a:srgbClr val="FF0000"/>
                    </a:solidFill>
                  </a:rPr>
                  <a:t>( maybe also due to Cosmic-ray problem )</a:t>
                </a:r>
              </a:p>
              <a:p>
                <a:pPr marL="285750" indent="-285750">
                  <a:buFont typeface="Arial" panose="020B0604020202020204" pitchFamily="34" charset="0"/>
                  <a:buChar char="•"/>
                </a:pPr>
                <a:r>
                  <a:rPr lang="en-US" dirty="0" smtClean="0"/>
                  <a:t>Also</a:t>
                </a:r>
                <a:r>
                  <a:rPr lang="sv-SE" dirty="0" smtClean="0"/>
                  <a:t>, it </a:t>
                </a:r>
                <a:r>
                  <a:rPr lang="sv-SE" dirty="0" err="1" smtClean="0"/>
                  <a:t>should</a:t>
                </a:r>
                <a:r>
                  <a:rPr lang="sv-SE" dirty="0" smtClean="0"/>
                  <a:t> be </a:t>
                </a:r>
                <a:r>
                  <a:rPr lang="sv-SE" dirty="0" err="1" smtClean="0"/>
                  <a:t>noted</a:t>
                </a:r>
                <a:r>
                  <a:rPr lang="sv-SE" dirty="0" smtClean="0"/>
                  <a:t> </a:t>
                </a:r>
                <a:r>
                  <a:rPr lang="sv-SE" dirty="0" err="1" smtClean="0"/>
                  <a:t>that</a:t>
                </a:r>
                <a:r>
                  <a:rPr lang="sv-SE" dirty="0" smtClean="0"/>
                  <a:t> </a:t>
                </a:r>
                <a:r>
                  <a:rPr lang="sv-SE" dirty="0" err="1" smtClean="0"/>
                  <a:t>only</a:t>
                </a:r>
                <a:r>
                  <a:rPr lang="sv-SE" dirty="0" smtClean="0"/>
                  <a:t> </a:t>
                </a:r>
                <a:r>
                  <a:rPr lang="sv-SE" dirty="0" err="1" smtClean="0"/>
                  <a:t>discrete</a:t>
                </a:r>
                <a:r>
                  <a:rPr lang="sv-SE" dirty="0" smtClean="0"/>
                  <a:t> </a:t>
                </a:r>
                <a:r>
                  <a:rPr lang="sv-SE" dirty="0" err="1" smtClean="0"/>
                  <a:t>voltage</a:t>
                </a:r>
                <a:r>
                  <a:rPr lang="sv-SE" dirty="0" smtClean="0"/>
                  <a:t> </a:t>
                </a:r>
                <a:r>
                  <a:rPr lang="sv-SE" dirty="0" err="1" smtClean="0"/>
                  <a:t>levels</a:t>
                </a:r>
                <a:r>
                  <a:rPr lang="sv-SE" dirty="0" smtClean="0"/>
                  <a:t> </a:t>
                </a:r>
                <a:r>
                  <a:rPr lang="sv-SE" dirty="0" err="1" smtClean="0"/>
                  <a:t>are</a:t>
                </a:r>
                <a:r>
                  <a:rPr lang="sv-SE" dirty="0" smtClean="0"/>
                  <a:t> off-the-</a:t>
                </a:r>
                <a:r>
                  <a:rPr lang="sv-SE" dirty="0" err="1" smtClean="0"/>
                  <a:t>shelf</a:t>
                </a:r>
                <a:r>
                  <a:rPr lang="sv-SE" dirty="0" smtClean="0"/>
                  <a:t>.</a:t>
                </a:r>
                <a:endParaRPr lang="en-US" dirty="0" smtClean="0"/>
              </a:p>
            </p:txBody>
          </p:sp>
        </mc:Choice>
        <mc:Fallback>
          <p:sp>
            <p:nvSpPr>
              <p:cNvPr id="16" name="Rectangle 15"/>
              <p:cNvSpPr>
                <a:spLocks noRot="1" noChangeAspect="1" noMove="1" noResize="1" noEditPoints="1" noAdjustHandles="1" noChangeArrowheads="1" noChangeShapeType="1" noTextEdit="1"/>
              </p:cNvSpPr>
              <p:nvPr/>
            </p:nvSpPr>
            <p:spPr>
              <a:xfrm>
                <a:off x="832022" y="1208750"/>
                <a:ext cx="10565027" cy="1212511"/>
              </a:xfrm>
              <a:prstGeom prst="rect">
                <a:avLst/>
              </a:prstGeom>
              <a:blipFill>
                <a:blip r:embed="rId2"/>
                <a:stretch>
                  <a:fillRect l="-346" t="-2513" b="-7035"/>
                </a:stretch>
              </a:blipFill>
            </p:spPr>
            <p:txBody>
              <a:bodyPr/>
              <a:lstStyle/>
              <a:p>
                <a:r>
                  <a:rPr lang="sv-SE">
                    <a:noFill/>
                  </a:rPr>
                  <a:t> </a:t>
                </a:r>
              </a:p>
            </p:txBody>
          </p:sp>
        </mc:Fallback>
      </mc:AlternateContent>
      <p:pic>
        <p:nvPicPr>
          <p:cNvPr id="17" name="Picture 16"/>
          <p:cNvPicPr>
            <a:picLocks noChangeAspect="1"/>
          </p:cNvPicPr>
          <p:nvPr/>
        </p:nvPicPr>
        <p:blipFill>
          <a:blip r:embed="rId3"/>
          <a:stretch>
            <a:fillRect/>
          </a:stretch>
        </p:blipFill>
        <p:spPr>
          <a:xfrm>
            <a:off x="2221484" y="2481437"/>
            <a:ext cx="6097532" cy="1385035"/>
          </a:xfrm>
          <a:prstGeom prst="rect">
            <a:avLst/>
          </a:prstGeom>
        </p:spPr>
      </p:pic>
      <mc:AlternateContent xmlns:mc="http://schemas.openxmlformats.org/markup-compatibility/2006" xmlns:a14="http://schemas.microsoft.com/office/drawing/2010/main">
        <mc:Choice Requires="a14">
          <p:sp>
            <p:nvSpPr>
              <p:cNvPr id="23" name="Rectangle 22"/>
              <p:cNvSpPr/>
              <p:nvPr/>
            </p:nvSpPr>
            <p:spPr>
              <a:xfrm>
                <a:off x="3259867" y="3980445"/>
                <a:ext cx="4438650" cy="2485680"/>
              </a:xfrm>
              <a:prstGeom prst="rect">
                <a:avLst/>
              </a:prstGeom>
            </p:spPr>
            <p:txBody>
              <a:bodyPr wrap="square">
                <a:spAutoFit/>
              </a:bodyPr>
              <a:lstStyle/>
              <a:p>
                <a:pPr marL="285750" indent="-285750">
                  <a:buFont typeface="Arial" panose="020B0604020202020204" pitchFamily="34" charset="0"/>
                  <a:buChar char="•"/>
                </a:pP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𝑈</m:t>
                        </m:r>
                      </m:e>
                      <m:sub>
                        <m:r>
                          <a:rPr lang="sv-SE" i="1" dirty="0" smtClean="0">
                            <a:latin typeface="Cambria Math" panose="02040503050406030204" pitchFamily="18" charset="0"/>
                          </a:rPr>
                          <m:t>𝑏𝑑</m:t>
                        </m:r>
                      </m:sub>
                    </m:sSub>
                  </m:oMath>
                </a14:m>
                <a:r>
                  <a:rPr lang="sv-SE" dirty="0" smtClean="0"/>
                  <a:t> </a:t>
                </a:r>
                <a:r>
                  <a:rPr lang="sv-SE" dirty="0" err="1"/>
                  <a:t>breakdown</a:t>
                </a:r>
                <a:r>
                  <a:rPr lang="sv-SE" dirty="0"/>
                  <a:t> </a:t>
                </a:r>
                <a:r>
                  <a:rPr lang="sv-SE" dirty="0" err="1"/>
                  <a:t>voltage</a:t>
                </a:r>
                <a:r>
                  <a:rPr lang="sv-SE" dirty="0"/>
                  <a:t>, </a:t>
                </a:r>
              </a:p>
              <a:p>
                <a:pPr marL="285750" indent="-285750">
                  <a:buFont typeface="Arial" panose="020B0604020202020204" pitchFamily="34" charset="0"/>
                  <a:buChar char="•"/>
                </a:pPr>
                <a14:m>
                  <m:oMath xmlns:m="http://schemas.openxmlformats.org/officeDocument/2006/math">
                    <m:sSub>
                      <m:sSubPr>
                        <m:ctrlPr>
                          <a:rPr lang="sv-SE" i="1" dirty="0" smtClean="0">
                            <a:latin typeface="Cambria Math" panose="02040503050406030204" pitchFamily="18" charset="0"/>
                          </a:rPr>
                        </m:ctrlPr>
                      </m:sSubPr>
                      <m:e>
                        <m:r>
                          <a:rPr lang="sv-SE" i="1" dirty="0" smtClean="0">
                            <a:latin typeface="Cambria Math" panose="02040503050406030204" pitchFamily="18" charset="0"/>
                          </a:rPr>
                          <m:t>𝑈</m:t>
                        </m:r>
                      </m:e>
                      <m:sub>
                        <m:r>
                          <a:rPr lang="sv-SE" i="1" dirty="0" smtClean="0">
                            <a:latin typeface="Cambria Math" panose="02040503050406030204" pitchFamily="18" charset="0"/>
                          </a:rPr>
                          <m:t>𝑑𝑠𝑠</m:t>
                        </m:r>
                      </m:sub>
                    </m:sSub>
                  </m:oMath>
                </a14:m>
                <a:r>
                  <a:rPr lang="sv-SE" dirty="0" smtClean="0"/>
                  <a:t> </a:t>
                </a:r>
                <a:r>
                  <a:rPr lang="sv-SE" dirty="0" err="1"/>
                  <a:t>rated</a:t>
                </a:r>
                <a:r>
                  <a:rPr lang="sv-SE" dirty="0"/>
                  <a:t> </a:t>
                </a:r>
                <a:r>
                  <a:rPr lang="sv-SE" dirty="0" err="1" smtClean="0"/>
                  <a:t>voltage</a:t>
                </a:r>
                <a:endParaRPr lang="sv-SE" dirty="0" smtClean="0"/>
              </a:p>
              <a:p>
                <a:pPr marL="285750" indent="-285750">
                  <a:buFont typeface="Arial" panose="020B0604020202020204" pitchFamily="34" charset="0"/>
                  <a:buChar char="•"/>
                </a:pPr>
                <a:r>
                  <a:rPr lang="sv-SE" dirty="0" smtClean="0"/>
                  <a:t>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𝑘</m:t>
                        </m:r>
                      </m:e>
                      <m:sub>
                        <m:r>
                          <a:rPr lang="sv-SE" i="1" dirty="0" smtClean="0">
                            <a:latin typeface="Cambria Math" panose="02040503050406030204" pitchFamily="18" charset="0"/>
                          </a:rPr>
                          <m:t>𝑑𝑠𝑠</m:t>
                        </m:r>
                        <m:r>
                          <a:rPr lang="en-US" b="0" i="1" dirty="0" smtClean="0">
                            <a:latin typeface="Cambria Math" panose="02040503050406030204" pitchFamily="18" charset="0"/>
                          </a:rPr>
                          <m:t>,</m:t>
                        </m:r>
                        <m:r>
                          <a:rPr lang="en-US" b="0" i="1" dirty="0" smtClean="0">
                            <a:latin typeface="Cambria Math" panose="02040503050406030204" pitchFamily="18" charset="0"/>
                          </a:rPr>
                          <m:t>𝑏𝑑</m:t>
                        </m:r>
                      </m:sub>
                    </m:sSub>
                    <m:r>
                      <a:rPr lang="sv-SE" i="1" dirty="0">
                        <a:latin typeface="Cambria Math" panose="02040503050406030204" pitchFamily="18" charset="0"/>
                      </a:rPr>
                      <m:t> =</m:t>
                    </m:r>
                    <m:f>
                      <m:fPr>
                        <m:ctrlPr>
                          <a:rPr lang="sv-SE"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𝑈</m:t>
                            </m:r>
                          </m:e>
                          <m:sub>
                            <m:r>
                              <a:rPr lang="sv-SE" i="1" dirty="0" smtClean="0">
                                <a:latin typeface="Cambria Math" panose="02040503050406030204" pitchFamily="18" charset="0"/>
                              </a:rPr>
                              <m:t>𝑑𝑠𝑠</m:t>
                            </m:r>
                          </m:sub>
                        </m:sSub>
                      </m:num>
                      <m:den>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𝑈</m:t>
                            </m:r>
                          </m:e>
                          <m:sub>
                            <m:r>
                              <a:rPr lang="sv-SE" i="1" dirty="0" smtClean="0">
                                <a:latin typeface="Cambria Math" panose="02040503050406030204" pitchFamily="18" charset="0"/>
                              </a:rPr>
                              <m:t>𝑏</m:t>
                            </m:r>
                            <m:r>
                              <a:rPr lang="en-US" b="0" i="1" dirty="0" smtClean="0">
                                <a:latin typeface="Cambria Math" panose="02040503050406030204" pitchFamily="18" charset="0"/>
                              </a:rPr>
                              <m:t>𝑑</m:t>
                            </m:r>
                          </m:sub>
                        </m:sSub>
                      </m:den>
                    </m:f>
                  </m:oMath>
                </a14:m>
                <a:r>
                  <a:rPr lang="sv-SE" i="0" dirty="0" smtClean="0">
                    <a:latin typeface="+mj-lt"/>
                  </a:rPr>
                  <a:t> </a:t>
                </a:r>
                <a:r>
                  <a:rPr lang="sv-SE" dirty="0" err="1"/>
                  <a:t>voltage</a:t>
                </a:r>
                <a:r>
                  <a:rPr lang="sv-SE" dirty="0"/>
                  <a:t> </a:t>
                </a:r>
                <a:r>
                  <a:rPr lang="sv-SE" dirty="0" err="1"/>
                  <a:t>safety</a:t>
                </a:r>
                <a:r>
                  <a:rPr lang="sv-SE" dirty="0"/>
                  <a:t> </a:t>
                </a:r>
                <a:r>
                  <a:rPr lang="sv-SE" dirty="0" err="1" smtClean="0"/>
                  <a:t>factor</a:t>
                </a:r>
                <a:endParaRPr lang="sv-SE" dirty="0" smtClean="0"/>
              </a:p>
              <a:p>
                <a:pPr marL="285750" indent="-285750">
                  <a:buFont typeface="Arial" panose="020B0604020202020204" pitchFamily="34" charset="0"/>
                  <a:buChar char="•"/>
                </a:pPr>
                <a14:m>
                  <m:oMath xmlns:m="http://schemas.openxmlformats.org/officeDocument/2006/math">
                    <m:sSub>
                      <m:sSubPr>
                        <m:ctrlPr>
                          <a:rPr lang="en-US" i="1" dirty="0">
                            <a:latin typeface="Cambria Math" panose="02040503050406030204" pitchFamily="18" charset="0"/>
                          </a:rPr>
                        </m:ctrlPr>
                      </m:sSubPr>
                      <m:e>
                        <m:r>
                          <a:rPr lang="sv-SE" i="1" dirty="0">
                            <a:latin typeface="Cambria Math" panose="02040503050406030204" pitchFamily="18" charset="0"/>
                          </a:rPr>
                          <m:t>𝑈</m:t>
                        </m:r>
                      </m:e>
                      <m:sub>
                        <m:r>
                          <a:rPr lang="sv-SE" i="1" dirty="0">
                            <a:latin typeface="Cambria Math" panose="02040503050406030204" pitchFamily="18" charset="0"/>
                          </a:rPr>
                          <m:t>𝑏</m:t>
                        </m:r>
                        <m:r>
                          <a:rPr lang="en-US" b="0" i="1" dirty="0" smtClean="0">
                            <a:latin typeface="Cambria Math" panose="02040503050406030204" pitchFamily="18" charset="0"/>
                          </a:rPr>
                          <m:t>𝑙</m:t>
                        </m:r>
                      </m:sub>
                    </m:sSub>
                  </m:oMath>
                </a14:m>
                <a:r>
                  <a:rPr lang="sv-SE" dirty="0" smtClean="0"/>
                  <a:t> </a:t>
                </a:r>
                <a:r>
                  <a:rPr lang="sv-SE" dirty="0" err="1"/>
                  <a:t>blocking</a:t>
                </a:r>
                <a:r>
                  <a:rPr lang="sv-SE" dirty="0"/>
                  <a:t> </a:t>
                </a:r>
                <a:r>
                  <a:rPr lang="sv-SE" dirty="0" err="1"/>
                  <a:t>voltage</a:t>
                </a:r>
                <a:r>
                  <a:rPr lang="sv-SE" dirty="0" smtClean="0"/>
                  <a:t>,</a:t>
                </a:r>
              </a:p>
              <a:p>
                <a:pPr marL="285750" indent="-285750">
                  <a:buFont typeface="Arial" panose="020B0604020202020204" pitchFamily="34" charset="0"/>
                  <a:buChar char="•"/>
                </a:pPr>
                <a:r>
                  <a:rPr lang="sv-SE" dirty="0" smtClean="0"/>
                  <a:t> </a:t>
                </a:r>
                <a14:m>
                  <m:oMath xmlns:m="http://schemas.openxmlformats.org/officeDocument/2006/math">
                    <m:sSub>
                      <m:sSubPr>
                        <m:ctrlPr>
                          <a:rPr lang="en-US" i="1" dirty="0">
                            <a:latin typeface="Cambria Math" panose="02040503050406030204" pitchFamily="18" charset="0"/>
                          </a:rPr>
                        </m:ctrlPr>
                      </m:sSubPr>
                      <m:e>
                        <m:r>
                          <a:rPr lang="sv-SE" i="1" dirty="0">
                            <a:latin typeface="Cambria Math" panose="02040503050406030204" pitchFamily="18" charset="0"/>
                          </a:rPr>
                          <m:t>𝑘</m:t>
                        </m:r>
                      </m:e>
                      <m:sub>
                        <m:r>
                          <a:rPr lang="en-US" b="0" i="1" dirty="0" smtClean="0">
                            <a:latin typeface="Cambria Math" panose="02040503050406030204" pitchFamily="18" charset="0"/>
                          </a:rPr>
                          <m:t>𝑏𝑙</m:t>
                        </m:r>
                        <m:r>
                          <a:rPr lang="en-US" b="0" i="1" dirty="0" smtClean="0">
                            <a:latin typeface="Cambria Math" panose="02040503050406030204" pitchFamily="18" charset="0"/>
                          </a:rPr>
                          <m:t>,</m:t>
                        </m:r>
                        <m:r>
                          <a:rPr lang="sv-SE" i="1" dirty="0">
                            <a:latin typeface="Cambria Math" panose="02040503050406030204" pitchFamily="18" charset="0"/>
                          </a:rPr>
                          <m:t>𝑑𝑠𝑠</m:t>
                        </m:r>
                      </m:sub>
                    </m:sSub>
                    <m:r>
                      <a:rPr lang="sv-SE" i="1" dirty="0">
                        <a:latin typeface="Cambria Math" panose="02040503050406030204" pitchFamily="18" charset="0"/>
                      </a:rPr>
                      <m:t> =</m:t>
                    </m:r>
                    <m:f>
                      <m:fPr>
                        <m:ctrlPr>
                          <a:rPr lang="sv-SE" i="1" dirty="0">
                            <a:latin typeface="Cambria Math" panose="02040503050406030204" pitchFamily="18" charset="0"/>
                          </a:rPr>
                        </m:ctrlPr>
                      </m:fPr>
                      <m:num>
                        <m:sSub>
                          <m:sSubPr>
                            <m:ctrlPr>
                              <a:rPr lang="en-US" i="1" dirty="0">
                                <a:latin typeface="Cambria Math" panose="02040503050406030204" pitchFamily="18" charset="0"/>
                              </a:rPr>
                            </m:ctrlPr>
                          </m:sSubPr>
                          <m:e>
                            <m:r>
                              <a:rPr lang="sv-SE" i="1" dirty="0">
                                <a:latin typeface="Cambria Math" panose="02040503050406030204" pitchFamily="18" charset="0"/>
                              </a:rPr>
                              <m:t>𝑈</m:t>
                            </m:r>
                          </m:e>
                          <m:sub>
                            <m:r>
                              <a:rPr lang="en-US" b="0" i="1" dirty="0" smtClean="0">
                                <a:latin typeface="Cambria Math" panose="02040503050406030204" pitchFamily="18" charset="0"/>
                              </a:rPr>
                              <m:t>𝑏𝑙</m:t>
                            </m:r>
                          </m:sub>
                        </m:sSub>
                      </m:num>
                      <m:den>
                        <m:sSub>
                          <m:sSubPr>
                            <m:ctrlPr>
                              <a:rPr lang="en-US" i="1" dirty="0">
                                <a:latin typeface="Cambria Math" panose="02040503050406030204" pitchFamily="18" charset="0"/>
                              </a:rPr>
                            </m:ctrlPr>
                          </m:sSubPr>
                          <m:e>
                            <m:r>
                              <a:rPr lang="sv-SE" i="1" dirty="0">
                                <a:latin typeface="Cambria Math" panose="02040503050406030204" pitchFamily="18" charset="0"/>
                              </a:rPr>
                              <m:t>𝑈</m:t>
                            </m:r>
                          </m:e>
                          <m:sub>
                            <m:r>
                              <a:rPr lang="en-US" b="0" i="1" dirty="0" smtClean="0">
                                <a:latin typeface="Cambria Math" panose="02040503050406030204" pitchFamily="18" charset="0"/>
                              </a:rPr>
                              <m:t>𝑑𝑠𝑠</m:t>
                            </m:r>
                          </m:sub>
                        </m:sSub>
                      </m:den>
                    </m:f>
                  </m:oMath>
                </a14:m>
                <a:r>
                  <a:rPr lang="sv-SE" dirty="0" smtClean="0"/>
                  <a:t> voltage </a:t>
                </a:r>
                <a:r>
                  <a:rPr lang="sv-SE" dirty="0" err="1"/>
                  <a:t>derating</a:t>
                </a:r>
                <a:r>
                  <a:rPr lang="sv-SE" dirty="0"/>
                  <a:t> </a:t>
                </a:r>
                <a:r>
                  <a:rPr lang="sv-SE" dirty="0" err="1"/>
                  <a:t>factor</a:t>
                </a:r>
                <a:r>
                  <a:rPr lang="sv-SE" dirty="0" smtClean="0"/>
                  <a:t>,</a:t>
                </a:r>
              </a:p>
              <a:p>
                <a:pPr marL="285750" indent="-285750">
                  <a:buFont typeface="Arial" panose="020B0604020202020204" pitchFamily="34" charset="0"/>
                  <a:buChar char="•"/>
                </a:pPr>
                <a:r>
                  <a:rPr lang="sv-SE" dirty="0" smtClean="0"/>
                  <a:t>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𝑈</m:t>
                        </m:r>
                      </m:e>
                      <m:sub>
                        <m:r>
                          <a:rPr lang="sv-SE" i="1" dirty="0" smtClean="0">
                            <a:latin typeface="Cambria Math" panose="02040503050406030204" pitchFamily="18" charset="0"/>
                          </a:rPr>
                          <m:t>𝑠𝑤</m:t>
                        </m:r>
                      </m:sub>
                    </m:sSub>
                  </m:oMath>
                </a14:m>
                <a:r>
                  <a:rPr lang="sv-SE" dirty="0"/>
                  <a:t> </a:t>
                </a:r>
                <a:r>
                  <a:rPr lang="sv-SE" dirty="0" err="1"/>
                  <a:t>switching</a:t>
                </a:r>
                <a:r>
                  <a:rPr lang="sv-SE" dirty="0"/>
                  <a:t> </a:t>
                </a:r>
                <a:r>
                  <a:rPr lang="sv-SE" dirty="0" err="1"/>
                  <a:t>voltage</a:t>
                </a:r>
                <a:r>
                  <a:rPr lang="sv-SE" dirty="0"/>
                  <a:t>, </a:t>
                </a:r>
                <a:endParaRPr lang="sv-SE" dirty="0" smtClean="0"/>
              </a:p>
              <a:p>
                <a:pPr marL="285750" indent="-285750">
                  <a:buFont typeface="Arial" panose="020B0604020202020204" pitchFamily="34" charset="0"/>
                  <a:buChar char="•"/>
                </a:pPr>
                <a14:m>
                  <m:oMath xmlns:m="http://schemas.openxmlformats.org/officeDocument/2006/math">
                    <m:sSub>
                      <m:sSubPr>
                        <m:ctrlPr>
                          <a:rPr lang="en-US" i="1" dirty="0" smtClean="0">
                            <a:latin typeface="Cambria Math" panose="02040503050406030204" pitchFamily="18" charset="0"/>
                          </a:rPr>
                        </m:ctrlPr>
                      </m:sSubPr>
                      <m:e>
                        <m:r>
                          <a:rPr lang="sv-SE" i="1" dirty="0">
                            <a:latin typeface="Cambria Math" panose="02040503050406030204" pitchFamily="18" charset="0"/>
                          </a:rPr>
                          <m:t>𝑘</m:t>
                        </m:r>
                      </m:e>
                      <m:sub>
                        <m:r>
                          <a:rPr lang="en-US" b="0" i="1" dirty="0" smtClean="0">
                            <a:latin typeface="Cambria Math" panose="02040503050406030204" pitchFamily="18" charset="0"/>
                          </a:rPr>
                          <m:t>𝑠𝑤</m:t>
                        </m:r>
                        <m:r>
                          <a:rPr lang="en-US" b="0" i="1" dirty="0" smtClean="0">
                            <a:latin typeface="Cambria Math" panose="02040503050406030204" pitchFamily="18" charset="0"/>
                          </a:rPr>
                          <m:t>,</m:t>
                        </m:r>
                        <m:r>
                          <a:rPr lang="en-US" b="0" i="1" dirty="0" smtClean="0">
                            <a:latin typeface="Cambria Math" panose="02040503050406030204" pitchFamily="18" charset="0"/>
                          </a:rPr>
                          <m:t>𝑑𝑠𝑠</m:t>
                        </m:r>
                      </m:sub>
                    </m:sSub>
                    <m:r>
                      <a:rPr lang="sv-SE" i="1" dirty="0">
                        <a:latin typeface="Cambria Math" panose="02040503050406030204" pitchFamily="18" charset="0"/>
                      </a:rPr>
                      <m:t> =</m:t>
                    </m:r>
                    <m:f>
                      <m:fPr>
                        <m:ctrlPr>
                          <a:rPr lang="sv-SE" i="1" dirty="0">
                            <a:latin typeface="Cambria Math" panose="02040503050406030204" pitchFamily="18" charset="0"/>
                          </a:rPr>
                        </m:ctrlPr>
                      </m:fPr>
                      <m:num>
                        <m:sSub>
                          <m:sSubPr>
                            <m:ctrlPr>
                              <a:rPr lang="en-US" i="1" dirty="0">
                                <a:latin typeface="Cambria Math" panose="02040503050406030204" pitchFamily="18" charset="0"/>
                              </a:rPr>
                            </m:ctrlPr>
                          </m:sSubPr>
                          <m:e>
                            <m:r>
                              <a:rPr lang="sv-SE" i="1" dirty="0">
                                <a:latin typeface="Cambria Math" panose="02040503050406030204" pitchFamily="18" charset="0"/>
                              </a:rPr>
                              <m:t>𝑈</m:t>
                            </m:r>
                          </m:e>
                          <m:sub>
                            <m:r>
                              <a:rPr lang="en-US" b="0" i="1" dirty="0" smtClean="0">
                                <a:latin typeface="Cambria Math" panose="02040503050406030204" pitchFamily="18" charset="0"/>
                              </a:rPr>
                              <m:t>𝑠𝑤</m:t>
                            </m:r>
                          </m:sub>
                        </m:sSub>
                      </m:num>
                      <m:den>
                        <m:sSub>
                          <m:sSubPr>
                            <m:ctrlPr>
                              <a:rPr lang="en-US" i="1" dirty="0">
                                <a:latin typeface="Cambria Math" panose="02040503050406030204" pitchFamily="18" charset="0"/>
                              </a:rPr>
                            </m:ctrlPr>
                          </m:sSubPr>
                          <m:e>
                            <m:r>
                              <a:rPr lang="sv-SE" i="1" dirty="0">
                                <a:latin typeface="Cambria Math" panose="02040503050406030204" pitchFamily="18" charset="0"/>
                              </a:rPr>
                              <m:t>𝑈</m:t>
                            </m:r>
                          </m:e>
                          <m:sub>
                            <m:r>
                              <a:rPr lang="en-US" i="1" dirty="0">
                                <a:latin typeface="Cambria Math" panose="02040503050406030204" pitchFamily="18" charset="0"/>
                              </a:rPr>
                              <m:t>𝑑𝑠𝑠</m:t>
                            </m:r>
                          </m:sub>
                        </m:sSub>
                      </m:den>
                    </m:f>
                  </m:oMath>
                </a14:m>
                <a:r>
                  <a:rPr lang="sv-SE" dirty="0" smtClean="0"/>
                  <a:t> voltage </a:t>
                </a:r>
                <a:r>
                  <a:rPr lang="sv-SE" dirty="0" err="1"/>
                  <a:t>utilization</a:t>
                </a:r>
                <a:r>
                  <a:rPr lang="sv-SE" dirty="0"/>
                  <a:t> </a:t>
                </a:r>
                <a:r>
                  <a:rPr lang="sv-SE" dirty="0" err="1"/>
                  <a:t>factor</a:t>
                </a:r>
                <a:r>
                  <a:rPr lang="sv-SE" dirty="0"/>
                  <a:t>.</a:t>
                </a:r>
              </a:p>
            </p:txBody>
          </p:sp>
        </mc:Choice>
        <mc:Fallback xmlns="">
          <p:sp>
            <p:nvSpPr>
              <p:cNvPr id="23" name="Rectangle 22"/>
              <p:cNvSpPr>
                <a:spLocks noRot="1" noChangeAspect="1" noMove="1" noResize="1" noEditPoints="1" noAdjustHandles="1" noChangeArrowheads="1" noChangeShapeType="1" noTextEdit="1"/>
              </p:cNvSpPr>
              <p:nvPr/>
            </p:nvSpPr>
            <p:spPr>
              <a:xfrm>
                <a:off x="3259867" y="3980445"/>
                <a:ext cx="4438650" cy="2485680"/>
              </a:xfrm>
              <a:prstGeom prst="rect">
                <a:avLst/>
              </a:prstGeom>
              <a:blipFill>
                <a:blip r:embed="rId4"/>
                <a:stretch>
                  <a:fillRect l="-962" t="-1471"/>
                </a:stretch>
              </a:blipFill>
            </p:spPr>
            <p:txBody>
              <a:bodyPr/>
              <a:lstStyle/>
              <a:p>
                <a:r>
                  <a:rPr lang="sv-SE">
                    <a:noFill/>
                  </a:rPr>
                  <a:t> </a:t>
                </a:r>
              </a:p>
            </p:txBody>
          </p:sp>
        </mc:Fallback>
      </mc:AlternateContent>
    </p:spTree>
    <p:extLst>
      <p:ext uri="{BB962C8B-B14F-4D97-AF65-F5344CB8AC3E}">
        <p14:creationId xmlns:p14="http://schemas.microsoft.com/office/powerpoint/2010/main" val="32971389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1600"/>
            <a:ext cx="10515600" cy="1384968"/>
          </a:xfrm>
        </p:spPr>
        <p:txBody>
          <a:bodyPr/>
          <a:lstStyle/>
          <a:p>
            <a:r>
              <a:rPr lang="en-US" dirty="0" smtClean="0">
                <a:solidFill>
                  <a:srgbClr val="C00000"/>
                </a:solidFill>
              </a:rPr>
              <a:t>Selection of Chip Area (Current Ratings)</a:t>
            </a:r>
            <a:endParaRPr lang="sv-SE" dirty="0"/>
          </a:p>
        </p:txBody>
      </p:sp>
      <mc:AlternateContent xmlns:mc="http://schemas.openxmlformats.org/markup-compatibility/2006" xmlns:a14="http://schemas.microsoft.com/office/drawing/2010/main">
        <mc:Choice Requires="a14">
          <p:sp>
            <p:nvSpPr>
              <p:cNvPr id="16" name="Rectangle 15"/>
              <p:cNvSpPr/>
              <p:nvPr/>
            </p:nvSpPr>
            <p:spPr>
              <a:xfrm>
                <a:off x="838200" y="1066006"/>
                <a:ext cx="10515600" cy="5570756"/>
              </a:xfrm>
              <a:prstGeom prst="rect">
                <a:avLst/>
              </a:prstGeom>
            </p:spPr>
            <p:txBody>
              <a:bodyPr wrap="square">
                <a:spAutoFit/>
              </a:bodyPr>
              <a:lstStyle/>
              <a:p>
                <a:pPr marL="285750" indent="-285750">
                  <a:buFont typeface="Arial" panose="020B0604020202020204" pitchFamily="34" charset="0"/>
                  <a:buChar char="•"/>
                </a:pPr>
                <a:r>
                  <a:rPr lang="en-US" sz="2000" dirty="0" smtClean="0"/>
                  <a:t>The losses in power semiconductors mainly influencing </a:t>
                </a:r>
                <a:r>
                  <a:rPr lang="en-US" sz="2000" dirty="0"/>
                  <a:t>the inverter design are conduction and switching </a:t>
                </a:r>
                <a:r>
                  <a:rPr lang="en-US" sz="2000" dirty="0" smtClean="0"/>
                  <a:t>losses</a:t>
                </a:r>
                <a:r>
                  <a:rPr lang="en-US" sz="2000" dirty="0"/>
                  <a:t>. </a:t>
                </a:r>
                <a:endParaRPr lang="en-US" sz="2000" dirty="0" smtClean="0"/>
              </a:p>
              <a:p>
                <a:pPr marL="285750" indent="-285750">
                  <a:buFont typeface="Arial" panose="020B0604020202020204" pitchFamily="34" charset="0"/>
                  <a:buChar char="•"/>
                </a:pPr>
                <a:r>
                  <a:rPr lang="en-US" sz="2000" dirty="0" smtClean="0"/>
                  <a:t>Other </a:t>
                </a:r>
                <a:r>
                  <a:rPr lang="en-US" sz="2000" dirty="0"/>
                  <a:t>losses such as driving and leakage losses are </a:t>
                </a:r>
                <a:r>
                  <a:rPr lang="en-US" sz="2000" dirty="0" smtClean="0"/>
                  <a:t>significantly </a:t>
                </a:r>
                <a:r>
                  <a:rPr lang="en-US" sz="2000" dirty="0"/>
                  <a:t>smaller and therefore </a:t>
                </a:r>
                <a:r>
                  <a:rPr lang="en-US" sz="2000" dirty="0" smtClean="0"/>
                  <a:t>they can be neglected.</a:t>
                </a:r>
              </a:p>
              <a:p>
                <a:endParaRPr lang="en-US" sz="2000" dirty="0"/>
              </a:p>
              <a:p>
                <a:r>
                  <a:rPr lang="en-US" sz="2000" dirty="0"/>
                  <a:t>Semiconductor losses:</a:t>
                </a:r>
              </a:p>
              <a:p>
                <a:pPr lvl="1"/>
                <a:r>
                  <a:rPr lang="en-US" sz="2000" u="sng" dirty="0"/>
                  <a:t>Conduction losses</a:t>
                </a:r>
              </a:p>
              <a:p>
                <a:pPr lvl="1"/>
                <a:r>
                  <a:rPr lang="en-US" sz="2000" u="sng" dirty="0"/>
                  <a:t>Switching losses</a:t>
                </a:r>
              </a:p>
              <a:p>
                <a:pPr lvl="1"/>
                <a:r>
                  <a:rPr lang="en-US" sz="2000" strike="sngStrike" dirty="0"/>
                  <a:t>Driving losses</a:t>
                </a:r>
              </a:p>
              <a:p>
                <a:pPr lvl="1"/>
                <a:r>
                  <a:rPr lang="en-US" sz="2000" strike="sngStrike" dirty="0"/>
                  <a:t>Leakage </a:t>
                </a:r>
                <a:r>
                  <a:rPr lang="en-US" sz="2000" strike="sngStrike" dirty="0" smtClean="0"/>
                  <a:t>Losses</a:t>
                </a:r>
                <a:endParaRPr lang="en-US" sz="2000" dirty="0" smtClean="0"/>
              </a:p>
              <a:p>
                <a:endParaRPr lang="en-US" sz="2000" dirty="0" smtClean="0"/>
              </a:p>
              <a:p>
                <a:pPr marL="285750" indent="-285750">
                  <a:buFont typeface="Arial" panose="020B0604020202020204" pitchFamily="34" charset="0"/>
                  <a:buChar char="•"/>
                </a:pPr>
                <a:r>
                  <a:rPr lang="en-US" sz="2000" dirty="0"/>
                  <a:t>The chip areas of the semiconductors should be scaled to optimize efficiency and inverter</a:t>
                </a:r>
                <a:r>
                  <a:rPr lang="en-US" sz="2000" dirty="0" smtClean="0"/>
                  <a:t>.</a:t>
                </a:r>
              </a:p>
              <a:p>
                <a:pPr marL="285750" indent="-285750">
                  <a:buFont typeface="Arial" panose="020B0604020202020204" pitchFamily="34" charset="0"/>
                  <a:buChar char="•"/>
                </a:pPr>
                <a:endParaRPr lang="en-US" sz="2000" dirty="0" smtClean="0"/>
              </a:p>
              <a:p>
                <a:pPr marL="285750" indent="-285750">
                  <a:buFont typeface="Arial" panose="020B0604020202020204" pitchFamily="34" charset="0"/>
                  <a:buChar char="•"/>
                </a:pPr>
                <a:r>
                  <a:rPr lang="en-US" sz="2000" dirty="0" smtClean="0"/>
                  <a:t>The </a:t>
                </a:r>
                <a:r>
                  <a:rPr lang="en-US" sz="2000" dirty="0"/>
                  <a:t>semiconductor losses and the maximum heat dissipation depend on the chip area and the number of </a:t>
                </a:r>
                <a:r>
                  <a:rPr lang="en-US" sz="2000" dirty="0" smtClean="0"/>
                  <a:t>parallel </a:t>
                </a:r>
                <a:r>
                  <a:rPr lang="en-US" sz="2000" dirty="0"/>
                  <a:t>dies </a:t>
                </a:r>
                <a14:m>
                  <m:oMath xmlns:m="http://schemas.openxmlformats.org/officeDocument/2006/math">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𝑛</m:t>
                        </m:r>
                      </m:e>
                      <m:sub>
                        <m:r>
                          <a:rPr lang="en-US" sz="2000" i="1" dirty="0" smtClean="0">
                            <a:latin typeface="Cambria Math" panose="02040503050406030204" pitchFamily="18" charset="0"/>
                          </a:rPr>
                          <m:t>𝑑𝑖𝑒</m:t>
                        </m:r>
                      </m:sub>
                    </m:sSub>
                  </m:oMath>
                </a14:m>
                <a:r>
                  <a:rPr lang="en-US" sz="2000" dirty="0" smtClean="0"/>
                  <a:t>.</a:t>
                </a:r>
              </a:p>
              <a:p>
                <a:pPr lvl="1"/>
                <a:endParaRPr lang="en-US" sz="2000" dirty="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sv-SE" dirty="0"/>
              </a:p>
            </p:txBody>
          </p:sp>
        </mc:Choice>
        <mc:Fallback xmlns="">
          <p:sp>
            <p:nvSpPr>
              <p:cNvPr id="16" name="Rectangle 15"/>
              <p:cNvSpPr>
                <a:spLocks noRot="1" noChangeAspect="1" noMove="1" noResize="1" noEditPoints="1" noAdjustHandles="1" noChangeArrowheads="1" noChangeShapeType="1" noTextEdit="1"/>
              </p:cNvSpPr>
              <p:nvPr/>
            </p:nvSpPr>
            <p:spPr>
              <a:xfrm>
                <a:off x="838200" y="1066006"/>
                <a:ext cx="10515600" cy="5570756"/>
              </a:xfrm>
              <a:prstGeom prst="rect">
                <a:avLst/>
              </a:prstGeom>
              <a:blipFill>
                <a:blip r:embed="rId2"/>
                <a:stretch>
                  <a:fillRect l="-638" t="-656" r="-1043"/>
                </a:stretch>
              </a:blipFill>
            </p:spPr>
            <p:txBody>
              <a:bodyPr/>
              <a:lstStyle/>
              <a:p>
                <a:r>
                  <a:rPr lang="sv-SE">
                    <a:noFill/>
                  </a:rPr>
                  <a:t> </a:t>
                </a:r>
              </a:p>
            </p:txBody>
          </p:sp>
        </mc:Fallback>
      </mc:AlternateContent>
    </p:spTree>
    <p:extLst>
      <p:ext uri="{BB962C8B-B14F-4D97-AF65-F5344CB8AC3E}">
        <p14:creationId xmlns:p14="http://schemas.microsoft.com/office/powerpoint/2010/main" val="12516724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38175" y="425161"/>
                <a:ext cx="10515600" cy="5761327"/>
              </a:xfrm>
            </p:spPr>
            <p:txBody>
              <a:bodyPr>
                <a:normAutofit fontScale="92500" lnSpcReduction="20000"/>
              </a:bodyPr>
              <a:lstStyle/>
              <a:p>
                <a:r>
                  <a:rPr lang="en-US" sz="2000" dirty="0" smtClean="0"/>
                  <a:t>The ON-resistance </a:t>
                </a:r>
                <a14:m>
                  <m:oMath xmlns:m="http://schemas.openxmlformats.org/officeDocument/2006/math">
                    <m:sSub>
                      <m:sSubPr>
                        <m:ctrlPr>
                          <a:rPr lang="sv-SE" sz="2000" b="0" i="1" dirty="0" smtClean="0">
                            <a:latin typeface="Cambria Math" panose="02040503050406030204" pitchFamily="18" charset="0"/>
                          </a:rPr>
                        </m:ctrlPr>
                      </m:sSubPr>
                      <m:e>
                        <m:r>
                          <a:rPr lang="en-US" sz="2000" i="1" dirty="0" smtClean="0">
                            <a:latin typeface="Cambria Math" panose="02040503050406030204" pitchFamily="18" charset="0"/>
                          </a:rPr>
                          <m:t>𝑅</m:t>
                        </m:r>
                      </m:e>
                      <m:sub>
                        <m:r>
                          <a:rPr lang="en-US" sz="2000" i="1" dirty="0" smtClean="0">
                            <a:latin typeface="Cambria Math" panose="02040503050406030204" pitchFamily="18" charset="0"/>
                          </a:rPr>
                          <m:t>𝑑𝑠</m:t>
                        </m:r>
                        <m:r>
                          <a:rPr lang="sv-SE" sz="2000" b="0" i="1" dirty="0" smtClean="0">
                            <a:latin typeface="Cambria Math" panose="02040503050406030204" pitchFamily="18" charset="0"/>
                          </a:rPr>
                          <m:t>,</m:t>
                        </m:r>
                        <m:r>
                          <a:rPr lang="sv-SE" sz="2000" b="0" i="1" dirty="0" smtClean="0">
                            <a:latin typeface="Cambria Math" panose="02040503050406030204" pitchFamily="18" charset="0"/>
                          </a:rPr>
                          <m:t>𝑜𝑛</m:t>
                        </m:r>
                      </m:sub>
                    </m:sSub>
                  </m:oMath>
                </a14:m>
                <a:r>
                  <a:rPr lang="en-US" sz="2000" dirty="0" smtClean="0"/>
                  <a:t> ( with the area specific ON-resistance </a:t>
                </a:r>
                <a14:m>
                  <m:oMath xmlns:m="http://schemas.openxmlformats.org/officeDocument/2006/math">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𝑟</m:t>
                        </m:r>
                      </m:e>
                      <m:sub>
                        <m:r>
                          <a:rPr lang="en-US" sz="2000" i="1" dirty="0" smtClean="0">
                            <a:latin typeface="Cambria Math" panose="02040503050406030204" pitchFamily="18" charset="0"/>
                          </a:rPr>
                          <m:t>𝑑𝑠</m:t>
                        </m:r>
                        <m:r>
                          <a:rPr lang="sv-SE" sz="2000" b="0" i="1" dirty="0" smtClean="0">
                            <a:latin typeface="Cambria Math" panose="02040503050406030204" pitchFamily="18" charset="0"/>
                          </a:rPr>
                          <m:t>,</m:t>
                        </m:r>
                        <m:r>
                          <a:rPr lang="sv-SE" sz="2000" b="0" i="1" dirty="0" smtClean="0">
                            <a:latin typeface="Cambria Math" panose="02040503050406030204" pitchFamily="18" charset="0"/>
                          </a:rPr>
                          <m:t>𝑜𝑛</m:t>
                        </m:r>
                      </m:sub>
                    </m:sSub>
                  </m:oMath>
                </a14:m>
                <a:r>
                  <a:rPr lang="en-US" sz="2000" dirty="0" smtClean="0"/>
                  <a:t> ) is responsible for the conduction losses </a:t>
                </a:r>
                <a14:m>
                  <m:oMath xmlns:m="http://schemas.openxmlformats.org/officeDocument/2006/math">
                    <m:sSub>
                      <m:sSubPr>
                        <m:ctrlPr>
                          <a:rPr lang="sv-SE" sz="2000" b="0" i="1" dirty="0" smtClean="0">
                            <a:latin typeface="Cambria Math" panose="02040503050406030204" pitchFamily="18" charset="0"/>
                          </a:rPr>
                        </m:ctrlPr>
                      </m:sSubPr>
                      <m:e>
                        <m:r>
                          <a:rPr lang="en-US" sz="2000" i="1" dirty="0" smtClean="0">
                            <a:latin typeface="Cambria Math" panose="02040503050406030204" pitchFamily="18" charset="0"/>
                          </a:rPr>
                          <m:t>𝑃</m:t>
                        </m:r>
                      </m:e>
                      <m:sub>
                        <m:r>
                          <a:rPr lang="en-US" sz="2000" i="1" dirty="0" smtClean="0">
                            <a:latin typeface="Cambria Math" panose="02040503050406030204" pitchFamily="18" charset="0"/>
                          </a:rPr>
                          <m:t>𝑣</m:t>
                        </m:r>
                        <m:r>
                          <a:rPr lang="sv-SE" sz="2000" b="0" i="1" dirty="0" smtClean="0">
                            <a:latin typeface="Cambria Math" panose="02040503050406030204" pitchFamily="18" charset="0"/>
                          </a:rPr>
                          <m:t>,</m:t>
                        </m:r>
                        <m:r>
                          <a:rPr lang="sv-SE" sz="2000" b="0" i="1" dirty="0" smtClean="0">
                            <a:latin typeface="Cambria Math" panose="02040503050406030204" pitchFamily="18" charset="0"/>
                          </a:rPr>
                          <m:t>𝑐</m:t>
                        </m:r>
                      </m:sub>
                    </m:sSub>
                    <m:r>
                      <a:rPr lang="en-US" sz="2000" i="1" dirty="0" smtClean="0">
                        <a:latin typeface="Cambria Math" panose="02040503050406030204" pitchFamily="18" charset="0"/>
                      </a:rPr>
                      <m:t> </m:t>
                    </m:r>
                  </m:oMath>
                </a14:m>
                <a:r>
                  <a:rPr lang="en-US" sz="2000" dirty="0" smtClean="0"/>
                  <a:t>and decreases with increasing chip area.</a:t>
                </a:r>
              </a:p>
              <a:p>
                <a:endParaRPr lang="en-US" sz="2000" dirty="0"/>
              </a:p>
              <a:p>
                <a:pPr marL="0" indent="0">
                  <a:buNone/>
                </a:pPr>
                <a14:m>
                  <m:oMathPara xmlns:m="http://schemas.openxmlformats.org/officeDocument/2006/math">
                    <m:oMathParaPr>
                      <m:jc m:val="center"/>
                    </m:oMathParaPr>
                    <m:oMath xmlns:m="http://schemas.openxmlformats.org/officeDocument/2006/math">
                      <m:sSub>
                        <m:sSubPr>
                          <m:ctrlPr>
                            <a:rPr lang="sv-SE" sz="2000" b="0" i="1" dirty="0" smtClean="0">
                              <a:latin typeface="Cambria Math" panose="02040503050406030204" pitchFamily="18" charset="0"/>
                            </a:rPr>
                          </m:ctrlPr>
                        </m:sSubPr>
                        <m:e>
                          <m:r>
                            <a:rPr lang="en-US" sz="2000" i="1" dirty="0" smtClean="0">
                              <a:latin typeface="Cambria Math" panose="02040503050406030204" pitchFamily="18" charset="0"/>
                            </a:rPr>
                            <m:t>𝑅</m:t>
                          </m:r>
                        </m:e>
                        <m:sub>
                          <m:r>
                            <a:rPr lang="en-US" sz="2000" i="1" dirty="0" smtClean="0">
                              <a:latin typeface="Cambria Math" panose="02040503050406030204" pitchFamily="18" charset="0"/>
                            </a:rPr>
                            <m:t>𝑑𝑠</m:t>
                          </m:r>
                          <m:r>
                            <a:rPr lang="sv-SE" sz="2000" b="0" i="1" dirty="0" smtClean="0">
                              <a:latin typeface="Cambria Math" panose="02040503050406030204" pitchFamily="18" charset="0"/>
                            </a:rPr>
                            <m:t>,</m:t>
                          </m:r>
                          <m:r>
                            <a:rPr lang="sv-SE" sz="2000" b="0" i="1" dirty="0" smtClean="0">
                              <a:latin typeface="Cambria Math" panose="02040503050406030204" pitchFamily="18" charset="0"/>
                            </a:rPr>
                            <m:t>𝑜𝑛</m:t>
                          </m:r>
                        </m:sub>
                      </m:sSub>
                      <m:r>
                        <a:rPr lang="sv-SE" sz="2000" b="0" i="1" dirty="0" smtClean="0">
                          <a:latin typeface="Cambria Math" panose="02040503050406030204" pitchFamily="18" charset="0"/>
                        </a:rPr>
                        <m:t>=</m:t>
                      </m:r>
                      <m:f>
                        <m:fPr>
                          <m:ctrlPr>
                            <a:rPr lang="sv-SE" sz="2000" b="0" i="1" dirty="0" smtClean="0">
                              <a:latin typeface="Cambria Math" panose="02040503050406030204" pitchFamily="18" charset="0"/>
                            </a:rPr>
                          </m:ctrlPr>
                        </m:fPr>
                        <m:num>
                          <m:r>
                            <a:rPr lang="sv-SE" sz="2000" b="0" i="1" dirty="0" smtClean="0">
                              <a:latin typeface="Cambria Math" panose="02040503050406030204" pitchFamily="18" charset="0"/>
                            </a:rPr>
                            <m:t>1</m:t>
                          </m:r>
                        </m:num>
                        <m:den>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𝑛</m:t>
                              </m:r>
                            </m:e>
                            <m:sub>
                              <m:r>
                                <a:rPr lang="sv-SE" sz="2000" b="0" i="1" dirty="0" smtClean="0">
                                  <a:latin typeface="Cambria Math" panose="02040503050406030204" pitchFamily="18" charset="0"/>
                                </a:rPr>
                                <m:t>𝑑𝑖𝑒</m:t>
                              </m:r>
                            </m:sub>
                          </m:sSub>
                        </m:den>
                      </m:f>
                      <m:f>
                        <m:fPr>
                          <m:ctrlPr>
                            <a:rPr lang="sv-SE" sz="2000" b="0" i="1" dirty="0" smtClean="0">
                              <a:latin typeface="Cambria Math" panose="02040503050406030204" pitchFamily="18" charset="0"/>
                            </a:rPr>
                          </m:ctrlPr>
                        </m:fPr>
                        <m:num>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𝑟</m:t>
                              </m:r>
                            </m:e>
                            <m:sub>
                              <m:r>
                                <a:rPr lang="en-US" sz="2000" i="1" dirty="0" smtClean="0">
                                  <a:latin typeface="Cambria Math" panose="02040503050406030204" pitchFamily="18" charset="0"/>
                                </a:rPr>
                                <m:t>𝑑𝑠</m:t>
                              </m:r>
                              <m:r>
                                <a:rPr lang="sv-SE" sz="2000" b="0" i="1" dirty="0" smtClean="0">
                                  <a:latin typeface="Cambria Math" panose="02040503050406030204" pitchFamily="18" charset="0"/>
                                </a:rPr>
                                <m:t>,</m:t>
                              </m:r>
                              <m:r>
                                <a:rPr lang="sv-SE" sz="2000" b="0" i="1" dirty="0" smtClean="0">
                                  <a:latin typeface="Cambria Math" panose="02040503050406030204" pitchFamily="18" charset="0"/>
                                </a:rPr>
                                <m:t>𝑜𝑛</m:t>
                              </m:r>
                            </m:sub>
                          </m:sSub>
                        </m:num>
                        <m:den>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𝐴</m:t>
                              </m:r>
                            </m:e>
                            <m:sub>
                              <m:r>
                                <a:rPr lang="sv-SE" sz="2000" b="0" i="1" dirty="0" smtClean="0">
                                  <a:latin typeface="Cambria Math" panose="02040503050406030204" pitchFamily="18" charset="0"/>
                                </a:rPr>
                                <m:t>𝑎𝑐</m:t>
                              </m:r>
                              <m:r>
                                <a:rPr lang="sv-SE" sz="2000" b="0" i="1" dirty="0" smtClean="0">
                                  <a:latin typeface="Cambria Math" panose="02040503050406030204" pitchFamily="18" charset="0"/>
                                </a:rPr>
                                <m:t>,</m:t>
                              </m:r>
                              <m:r>
                                <a:rPr lang="sv-SE" sz="2000" b="0" i="1" dirty="0" smtClean="0">
                                  <a:latin typeface="Cambria Math" panose="02040503050406030204" pitchFamily="18" charset="0"/>
                                </a:rPr>
                                <m:t>𝑑𝑖𝑒</m:t>
                              </m:r>
                            </m:sub>
                          </m:sSub>
                        </m:den>
                      </m:f>
                    </m:oMath>
                  </m:oMathPara>
                </a14:m>
                <a:endParaRPr lang="sv-SE" sz="2000" dirty="0" smtClean="0"/>
              </a:p>
              <a:p>
                <a:pPr marL="0" indent="0">
                  <a:buNone/>
                </a:pPr>
                <a:endParaRPr lang="sv-SE" sz="2000" dirty="0"/>
              </a:p>
              <a:p>
                <a:r>
                  <a:rPr lang="en-US" sz="2000" dirty="0" smtClean="0"/>
                  <a:t>Regarding the switching energy </a:t>
                </a:r>
                <a14:m>
                  <m:oMath xmlns:m="http://schemas.openxmlformats.org/officeDocument/2006/math">
                    <m:sSub>
                      <m:sSubPr>
                        <m:ctrlPr>
                          <a:rPr lang="sv-SE" sz="2000" b="0" i="1" dirty="0" smtClean="0">
                            <a:latin typeface="Cambria Math" panose="02040503050406030204" pitchFamily="18" charset="0"/>
                          </a:rPr>
                        </m:ctrlPr>
                      </m:sSubPr>
                      <m:e>
                        <m:r>
                          <a:rPr lang="en-US" sz="2000" i="1" dirty="0" smtClean="0">
                            <a:latin typeface="Cambria Math" panose="02040503050406030204" pitchFamily="18" charset="0"/>
                          </a:rPr>
                          <m:t>𝐸</m:t>
                        </m:r>
                      </m:e>
                      <m:sub>
                        <m:r>
                          <a:rPr lang="en-US" sz="2000" i="1" dirty="0" smtClean="0">
                            <a:latin typeface="Cambria Math" panose="02040503050406030204" pitchFamily="18" charset="0"/>
                          </a:rPr>
                          <m:t>𝑠𝑤</m:t>
                        </m:r>
                        <m:r>
                          <a:rPr lang="sv-SE" sz="2000" b="0" i="1" dirty="0" smtClean="0">
                            <a:latin typeface="Cambria Math" panose="02040503050406030204" pitchFamily="18" charset="0"/>
                          </a:rPr>
                          <m:t>,</m:t>
                        </m:r>
                        <m:r>
                          <a:rPr lang="sv-SE" sz="2000" b="0" i="1" dirty="0" smtClean="0">
                            <a:latin typeface="Cambria Math" panose="02040503050406030204" pitchFamily="18" charset="0"/>
                          </a:rPr>
                          <m:t>𝐴</m:t>
                        </m:r>
                      </m:sub>
                    </m:sSub>
                  </m:oMath>
                </a14:m>
                <a:r>
                  <a:rPr lang="en-US" sz="2000" dirty="0" smtClean="0"/>
                  <a:t>, the total current</a:t>
                </a:r>
                <a14:m>
                  <m:oMath xmlns:m="http://schemas.openxmlformats.org/officeDocument/2006/math">
                    <m:r>
                      <a:rPr lang="en-US" sz="2000" i="1" dirty="0" smtClean="0">
                        <a:latin typeface="Cambria Math" panose="02040503050406030204" pitchFamily="18" charset="0"/>
                      </a:rPr>
                      <m:t> </m:t>
                    </m:r>
                    <m:r>
                      <a:rPr lang="en-US" sz="2000" i="1" dirty="0" err="1" smtClean="0">
                        <a:latin typeface="Cambria Math" panose="02040503050406030204" pitchFamily="18" charset="0"/>
                      </a:rPr>
                      <m:t>𝑖</m:t>
                    </m:r>
                    <m:r>
                      <a:rPr lang="en-US" sz="2000" i="1" dirty="0" smtClean="0">
                        <a:latin typeface="Cambria Math" panose="02040503050406030204" pitchFamily="18" charset="0"/>
                      </a:rPr>
                      <m:t> </m:t>
                    </m:r>
                  </m:oMath>
                </a14:m>
                <a:r>
                  <a:rPr lang="en-US" sz="2000" dirty="0" smtClean="0"/>
                  <a:t>is reduced per die with a growing number of dies and chip areas. Thus, the switching energy occurs in each die and grows with increasing chip areas.</a:t>
                </a:r>
              </a:p>
              <a:p>
                <a:pPr marL="0" indent="0">
                  <a:buNone/>
                </a:pPr>
                <a:endParaRPr lang="en-US" sz="2000" dirty="0"/>
              </a:p>
              <a:p>
                <a:pPr marL="0" indent="0" algn="ctr">
                  <a:buNone/>
                </a:pPr>
                <a14:m>
                  <m:oMath xmlns:m="http://schemas.openxmlformats.org/officeDocument/2006/math">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𝐸</m:t>
                        </m:r>
                      </m:e>
                      <m:sub>
                        <m:r>
                          <a:rPr lang="sv-SE" sz="2000" b="0" i="1" dirty="0" smtClean="0">
                            <a:latin typeface="Cambria Math" panose="02040503050406030204" pitchFamily="18" charset="0"/>
                          </a:rPr>
                          <m:t>𝑠𝑤</m:t>
                        </m:r>
                        <m:r>
                          <a:rPr lang="sv-SE" sz="2000" b="0" i="1" dirty="0" smtClean="0">
                            <a:latin typeface="Cambria Math" panose="02040503050406030204" pitchFamily="18" charset="0"/>
                          </a:rPr>
                          <m:t>,</m:t>
                        </m:r>
                        <m:r>
                          <a:rPr lang="sv-SE" sz="2000" b="0" i="1" dirty="0" smtClean="0">
                            <a:latin typeface="Cambria Math" panose="02040503050406030204" pitchFamily="18" charset="0"/>
                          </a:rPr>
                          <m:t>𝐴</m:t>
                        </m:r>
                      </m:sub>
                    </m:sSub>
                    <m:r>
                      <a:rPr lang="sv-SE" sz="2000" b="0" i="1" dirty="0" smtClean="0">
                        <a:latin typeface="Cambria Math" panose="02040503050406030204" pitchFamily="18" charset="0"/>
                      </a:rPr>
                      <m:t>=</m:t>
                    </m:r>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𝑛</m:t>
                        </m:r>
                      </m:e>
                      <m:sub>
                        <m:r>
                          <a:rPr lang="sv-SE" sz="2000" b="0" i="1" dirty="0" smtClean="0">
                            <a:latin typeface="Cambria Math" panose="02040503050406030204" pitchFamily="18" charset="0"/>
                          </a:rPr>
                          <m:t>𝑑𝑖𝑒</m:t>
                        </m:r>
                      </m:sub>
                    </m:sSub>
                    <m:f>
                      <m:fPr>
                        <m:ctrlPr>
                          <a:rPr lang="sv-SE" sz="2000" b="0" i="1" dirty="0" smtClean="0">
                            <a:latin typeface="Cambria Math" panose="02040503050406030204" pitchFamily="18" charset="0"/>
                          </a:rPr>
                        </m:ctrlPr>
                      </m:fPr>
                      <m:num>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𝐴</m:t>
                            </m:r>
                          </m:e>
                          <m:sub>
                            <m:r>
                              <a:rPr lang="sv-SE" sz="2000" b="0" i="1" dirty="0" smtClean="0">
                                <a:latin typeface="Cambria Math" panose="02040503050406030204" pitchFamily="18" charset="0"/>
                              </a:rPr>
                              <m:t>𝑎𝑐</m:t>
                            </m:r>
                            <m:r>
                              <a:rPr lang="sv-SE" sz="2000" b="0" i="1" dirty="0" smtClean="0">
                                <a:latin typeface="Cambria Math" panose="02040503050406030204" pitchFamily="18" charset="0"/>
                              </a:rPr>
                              <m:t>,</m:t>
                            </m:r>
                            <m:r>
                              <a:rPr lang="sv-SE" sz="2000" b="0" i="1" dirty="0" smtClean="0">
                                <a:latin typeface="Cambria Math" panose="02040503050406030204" pitchFamily="18" charset="0"/>
                              </a:rPr>
                              <m:t>𝑑𝑖𝑒</m:t>
                            </m:r>
                          </m:sub>
                        </m:sSub>
                      </m:num>
                      <m:den>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𝐴</m:t>
                            </m:r>
                          </m:e>
                          <m:sub>
                            <m:r>
                              <a:rPr lang="sv-SE" sz="2000" b="0" i="1" dirty="0" smtClean="0">
                                <a:latin typeface="Cambria Math" panose="02040503050406030204" pitchFamily="18" charset="0"/>
                              </a:rPr>
                              <m:t>𝑟𝑒𝑓</m:t>
                            </m:r>
                          </m:sub>
                        </m:sSub>
                      </m:den>
                    </m:f>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𝐸</m:t>
                        </m:r>
                      </m:e>
                      <m:sub>
                        <m:r>
                          <a:rPr lang="sv-SE" sz="2000" b="0" i="1" dirty="0" smtClean="0">
                            <a:latin typeface="Cambria Math" panose="02040503050406030204" pitchFamily="18" charset="0"/>
                          </a:rPr>
                          <m:t>𝑠𝑤</m:t>
                        </m:r>
                      </m:sub>
                    </m:sSub>
                    <m:r>
                      <a:rPr lang="sv-SE" sz="2000" b="0" i="1" dirty="0" smtClean="0">
                        <a:latin typeface="Cambria Math" panose="02040503050406030204" pitchFamily="18" charset="0"/>
                      </a:rPr>
                      <m:t>(</m:t>
                    </m:r>
                    <m:f>
                      <m:fPr>
                        <m:ctrlPr>
                          <a:rPr lang="sv-SE" sz="2000" b="0" i="1" dirty="0" smtClean="0">
                            <a:latin typeface="Cambria Math" panose="02040503050406030204" pitchFamily="18" charset="0"/>
                          </a:rPr>
                        </m:ctrlPr>
                      </m:fPr>
                      <m:num>
                        <m:r>
                          <a:rPr lang="sv-SE" sz="2000" b="0" i="1" dirty="0" smtClean="0">
                            <a:latin typeface="Cambria Math" panose="02040503050406030204" pitchFamily="18" charset="0"/>
                          </a:rPr>
                          <m:t>𝑖</m:t>
                        </m:r>
                      </m:num>
                      <m:den>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𝑛</m:t>
                            </m:r>
                          </m:e>
                          <m:sub>
                            <m:r>
                              <a:rPr lang="sv-SE" sz="2000" b="0" i="1" dirty="0" smtClean="0">
                                <a:latin typeface="Cambria Math" panose="02040503050406030204" pitchFamily="18" charset="0"/>
                              </a:rPr>
                              <m:t>𝑑𝑖𝑒</m:t>
                            </m:r>
                          </m:sub>
                        </m:sSub>
                      </m:den>
                    </m:f>
                  </m:oMath>
                </a14:m>
                <a:r>
                  <a:rPr lang="sv-SE" sz="2000" dirty="0" smtClean="0"/>
                  <a:t> </a:t>
                </a:r>
                <a14:m>
                  <m:oMath xmlns:m="http://schemas.openxmlformats.org/officeDocument/2006/math">
                    <m:f>
                      <m:fPr>
                        <m:ctrlPr>
                          <a:rPr lang="sv-SE" sz="2000" b="0" i="1" dirty="0" smtClean="0">
                            <a:latin typeface="Cambria Math" panose="02040503050406030204" pitchFamily="18" charset="0"/>
                          </a:rPr>
                        </m:ctrlPr>
                      </m:fPr>
                      <m:num>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𝐴</m:t>
                            </m:r>
                          </m:e>
                          <m:sub>
                            <m:r>
                              <a:rPr lang="sv-SE" sz="2000" b="0" i="1" dirty="0" smtClean="0">
                                <a:latin typeface="Cambria Math" panose="02040503050406030204" pitchFamily="18" charset="0"/>
                              </a:rPr>
                              <m:t>𝑟𝑒𝑓</m:t>
                            </m:r>
                          </m:sub>
                        </m:sSub>
                      </m:num>
                      <m:den>
                        <m:sSub>
                          <m:sSubPr>
                            <m:ctrlPr>
                              <a:rPr lang="sv-SE" sz="2000" b="0" i="1" dirty="0" smtClean="0">
                                <a:latin typeface="Cambria Math" panose="02040503050406030204" pitchFamily="18" charset="0"/>
                              </a:rPr>
                            </m:ctrlPr>
                          </m:sSubPr>
                          <m:e>
                            <m:r>
                              <a:rPr lang="sv-SE" sz="2000" b="0" i="1" dirty="0" smtClean="0">
                                <a:latin typeface="Cambria Math" panose="02040503050406030204" pitchFamily="18" charset="0"/>
                              </a:rPr>
                              <m:t>𝐴</m:t>
                            </m:r>
                          </m:e>
                          <m:sub>
                            <m:r>
                              <a:rPr lang="sv-SE" sz="2000" b="0" i="1" dirty="0" smtClean="0">
                                <a:latin typeface="Cambria Math" panose="02040503050406030204" pitchFamily="18" charset="0"/>
                              </a:rPr>
                              <m:t>𝑎𝑐</m:t>
                            </m:r>
                            <m:r>
                              <a:rPr lang="sv-SE" sz="2000" b="0" i="1" dirty="0" smtClean="0">
                                <a:latin typeface="Cambria Math" panose="02040503050406030204" pitchFamily="18" charset="0"/>
                              </a:rPr>
                              <m:t>,</m:t>
                            </m:r>
                            <m:r>
                              <a:rPr lang="sv-SE" sz="2000" b="0" i="1" dirty="0" smtClean="0">
                                <a:latin typeface="Cambria Math" panose="02040503050406030204" pitchFamily="18" charset="0"/>
                              </a:rPr>
                              <m:t>𝑑𝑖𝑒</m:t>
                            </m:r>
                          </m:sub>
                        </m:sSub>
                      </m:den>
                    </m:f>
                  </m:oMath>
                </a14:m>
                <a:r>
                  <a:rPr lang="sv-SE" sz="2000" dirty="0" smtClean="0"/>
                  <a:t>)</a:t>
                </a:r>
              </a:p>
              <a:p>
                <a:pPr marL="0" indent="0" algn="ctr">
                  <a:buNone/>
                </a:pPr>
                <a:endParaRPr lang="en-US" sz="2000" dirty="0"/>
              </a:p>
              <a:p>
                <a:r>
                  <a:rPr lang="en-US" sz="2000" dirty="0"/>
                  <a:t>The maximum heat dissipation </a:t>
                </a:r>
                <a14:m>
                  <m:oMath xmlns:m="http://schemas.openxmlformats.org/officeDocument/2006/math">
                    <m:sSub>
                      <m:sSubPr>
                        <m:ctrlPr>
                          <a:rPr lang="sv-SE" sz="2000" i="1" dirty="0">
                            <a:latin typeface="Cambria Math" panose="02040503050406030204" pitchFamily="18" charset="0"/>
                          </a:rPr>
                        </m:ctrlPr>
                      </m:sSubPr>
                      <m:e>
                        <m:r>
                          <a:rPr lang="en-US" sz="2000" i="1" dirty="0">
                            <a:latin typeface="Cambria Math" panose="02040503050406030204" pitchFamily="18" charset="0"/>
                          </a:rPr>
                          <m:t>𝑃</m:t>
                        </m:r>
                      </m:e>
                      <m:sub>
                        <m:r>
                          <a:rPr lang="en-US" sz="2000" i="1" dirty="0">
                            <a:latin typeface="Cambria Math" panose="02040503050406030204" pitchFamily="18" charset="0"/>
                          </a:rPr>
                          <m:t>𝑑𝑖𝑠𝑠</m:t>
                        </m:r>
                        <m:r>
                          <a:rPr lang="sv-SE" sz="2000" i="1" dirty="0">
                            <a:latin typeface="Cambria Math" panose="02040503050406030204" pitchFamily="18" charset="0"/>
                          </a:rPr>
                          <m:t>,</m:t>
                        </m:r>
                        <m:r>
                          <m:rPr>
                            <m:sty m:val="p"/>
                          </m:rPr>
                          <a:rPr lang="en-US" sz="2000" i="1" dirty="0">
                            <a:latin typeface="Cambria Math" panose="02040503050406030204" pitchFamily="18" charset="0"/>
                          </a:rPr>
                          <m:t>max</m:t>
                        </m:r>
                      </m:sub>
                    </m:sSub>
                  </m:oMath>
                </a14:m>
                <a:r>
                  <a:rPr lang="en-US" sz="2000" dirty="0"/>
                  <a:t> is defined by the maximum junction temperature </a:t>
                </a:r>
                <a14:m>
                  <m:oMath xmlns:m="http://schemas.openxmlformats.org/officeDocument/2006/math">
                    <m:sSub>
                      <m:sSubPr>
                        <m:ctrlPr>
                          <a:rPr lang="sv-SE" sz="2000" i="1" dirty="0">
                            <a:latin typeface="Cambria Math" panose="02040503050406030204" pitchFamily="18" charset="0"/>
                          </a:rPr>
                        </m:ctrlPr>
                      </m:sSubPr>
                      <m:e>
                        <m:r>
                          <a:rPr lang="en-US" sz="2000" i="1" dirty="0">
                            <a:latin typeface="Cambria Math" panose="02040503050406030204" pitchFamily="18" charset="0"/>
                          </a:rPr>
                          <m:t>𝜃</m:t>
                        </m:r>
                      </m:e>
                      <m:sub>
                        <m:r>
                          <a:rPr lang="en-US" sz="2000" i="1" dirty="0">
                            <a:latin typeface="Cambria Math" panose="02040503050406030204" pitchFamily="18" charset="0"/>
                          </a:rPr>
                          <m:t>𝑗</m:t>
                        </m:r>
                        <m:r>
                          <a:rPr lang="sv-SE" sz="2000" i="1" dirty="0">
                            <a:latin typeface="Cambria Math" panose="02040503050406030204" pitchFamily="18" charset="0"/>
                          </a:rPr>
                          <m:t>,</m:t>
                        </m:r>
                        <m:r>
                          <a:rPr lang="sv-SE" sz="2000" i="1" dirty="0">
                            <a:latin typeface="Cambria Math" panose="02040503050406030204" pitchFamily="18" charset="0"/>
                          </a:rPr>
                          <m:t>𝑚𝑎𝑥</m:t>
                        </m:r>
                      </m:sub>
                    </m:sSub>
                  </m:oMath>
                </a14:m>
                <a:r>
                  <a:rPr lang="en-US" sz="2000" dirty="0"/>
                  <a:t>, the cooling fluid temperature </a:t>
                </a:r>
                <a14:m>
                  <m:oMath xmlns:m="http://schemas.openxmlformats.org/officeDocument/2006/math">
                    <m:sSub>
                      <m:sSubPr>
                        <m:ctrlPr>
                          <a:rPr lang="sv-SE" sz="2000" i="1" dirty="0">
                            <a:latin typeface="Cambria Math" panose="02040503050406030204" pitchFamily="18" charset="0"/>
                          </a:rPr>
                        </m:ctrlPr>
                      </m:sSubPr>
                      <m:e>
                        <m:r>
                          <a:rPr lang="en-US" sz="2000" i="1" dirty="0">
                            <a:latin typeface="Cambria Math" panose="02040503050406030204" pitchFamily="18" charset="0"/>
                          </a:rPr>
                          <m:t>𝜃</m:t>
                        </m:r>
                      </m:e>
                      <m:sub>
                        <m:r>
                          <a:rPr lang="en-US" sz="2000" i="1" dirty="0">
                            <a:latin typeface="Cambria Math" panose="02040503050406030204" pitchFamily="18" charset="0"/>
                          </a:rPr>
                          <m:t>𝑓𝑙</m:t>
                        </m:r>
                      </m:sub>
                    </m:sSub>
                    <m:r>
                      <a:rPr lang="en-US" sz="2000" i="1" dirty="0">
                        <a:latin typeface="Cambria Math" panose="02040503050406030204" pitchFamily="18" charset="0"/>
                      </a:rPr>
                      <m:t>, </m:t>
                    </m:r>
                  </m:oMath>
                </a14:m>
                <a:r>
                  <a:rPr lang="en-US" sz="2000" dirty="0"/>
                  <a:t>and the thermal resistance </a:t>
                </a:r>
                <a14:m>
                  <m:oMath xmlns:m="http://schemas.openxmlformats.org/officeDocument/2006/math">
                    <m:sSub>
                      <m:sSubPr>
                        <m:ctrlPr>
                          <a:rPr lang="sv-SE" sz="2000" i="1" dirty="0">
                            <a:latin typeface="Cambria Math" panose="02040503050406030204" pitchFamily="18" charset="0"/>
                          </a:rPr>
                        </m:ctrlPr>
                      </m:sSubPr>
                      <m:e>
                        <m:r>
                          <a:rPr lang="en-US" sz="2000" i="1" dirty="0">
                            <a:latin typeface="Cambria Math" panose="02040503050406030204" pitchFamily="18" charset="0"/>
                          </a:rPr>
                          <m:t>𝑅</m:t>
                        </m:r>
                      </m:e>
                      <m:sub>
                        <m:r>
                          <a:rPr lang="en-US" sz="2000" i="1" dirty="0">
                            <a:latin typeface="Cambria Math" panose="02040503050406030204" pitchFamily="18" charset="0"/>
                          </a:rPr>
                          <m:t>𝑡h</m:t>
                        </m:r>
                        <m:r>
                          <a:rPr lang="sv-SE" sz="2000" i="1" dirty="0">
                            <a:latin typeface="Cambria Math" panose="02040503050406030204" pitchFamily="18" charset="0"/>
                          </a:rPr>
                          <m:t>,</m:t>
                        </m:r>
                        <m:r>
                          <a:rPr lang="en-US" sz="2000" i="1" dirty="0">
                            <a:latin typeface="Cambria Math" panose="02040503050406030204" pitchFamily="18" charset="0"/>
                          </a:rPr>
                          <m:t>𝑑𝑖𝑒</m:t>
                        </m:r>
                      </m:sub>
                    </m:sSub>
                  </m:oMath>
                </a14:m>
                <a:r>
                  <a:rPr lang="en-US" sz="2000" dirty="0"/>
                  <a:t> from the junction to the cooling fluid per die.</a:t>
                </a:r>
              </a:p>
              <a:p>
                <a:endParaRPr lang="en-US" sz="2000" dirty="0"/>
              </a:p>
              <a:p>
                <a:pPr marL="0" indent="0">
                  <a:buNone/>
                </a:pPr>
                <a14:m>
                  <m:oMathPara xmlns:m="http://schemas.openxmlformats.org/officeDocument/2006/math">
                    <m:oMathParaPr>
                      <m:jc m:val="center"/>
                    </m:oMathParaPr>
                    <m:oMath xmlns:m="http://schemas.openxmlformats.org/officeDocument/2006/math">
                      <m:sSub>
                        <m:sSubPr>
                          <m:ctrlPr>
                            <a:rPr lang="sv-SE" sz="2000" i="1" dirty="0">
                              <a:latin typeface="Cambria Math" panose="02040503050406030204" pitchFamily="18" charset="0"/>
                            </a:rPr>
                          </m:ctrlPr>
                        </m:sSubPr>
                        <m:e>
                          <m:r>
                            <a:rPr lang="en-US" sz="2000" i="1" dirty="0">
                              <a:latin typeface="Cambria Math" panose="02040503050406030204" pitchFamily="18" charset="0"/>
                            </a:rPr>
                            <m:t>𝑃</m:t>
                          </m:r>
                        </m:e>
                        <m:sub>
                          <m:r>
                            <a:rPr lang="en-US" sz="2000" i="1" dirty="0">
                              <a:latin typeface="Cambria Math" panose="02040503050406030204" pitchFamily="18" charset="0"/>
                            </a:rPr>
                            <m:t>𝑑𝑖𝑠𝑠</m:t>
                          </m:r>
                          <m:r>
                            <a:rPr lang="sv-SE" sz="2000" i="1" dirty="0">
                              <a:latin typeface="Cambria Math" panose="02040503050406030204" pitchFamily="18" charset="0"/>
                            </a:rPr>
                            <m:t>,</m:t>
                          </m:r>
                          <m:r>
                            <m:rPr>
                              <m:sty m:val="p"/>
                            </m:rPr>
                            <a:rPr lang="en-US" sz="2000" i="1" dirty="0">
                              <a:latin typeface="Cambria Math" panose="02040503050406030204" pitchFamily="18" charset="0"/>
                            </a:rPr>
                            <m:t>max</m:t>
                          </m:r>
                        </m:sub>
                      </m:sSub>
                      <m:r>
                        <a:rPr lang="sv-SE" sz="2000" i="1" dirty="0">
                          <a:latin typeface="Cambria Math" panose="02040503050406030204" pitchFamily="18" charset="0"/>
                        </a:rPr>
                        <m:t>=</m:t>
                      </m:r>
                      <m:sSub>
                        <m:sSubPr>
                          <m:ctrlPr>
                            <a:rPr lang="sv-SE" sz="2000" i="1" dirty="0">
                              <a:latin typeface="Cambria Math" panose="02040503050406030204" pitchFamily="18" charset="0"/>
                            </a:rPr>
                          </m:ctrlPr>
                        </m:sSubPr>
                        <m:e>
                          <m:r>
                            <a:rPr lang="sv-SE" sz="2000" i="1" dirty="0">
                              <a:latin typeface="Cambria Math" panose="02040503050406030204" pitchFamily="18" charset="0"/>
                            </a:rPr>
                            <m:t>𝑛</m:t>
                          </m:r>
                        </m:e>
                        <m:sub>
                          <m:r>
                            <a:rPr lang="sv-SE" sz="2000" i="1" dirty="0">
                              <a:latin typeface="Cambria Math" panose="02040503050406030204" pitchFamily="18" charset="0"/>
                            </a:rPr>
                            <m:t>𝑑𝑖𝑒</m:t>
                          </m:r>
                        </m:sub>
                      </m:sSub>
                      <m:f>
                        <m:fPr>
                          <m:ctrlPr>
                            <a:rPr lang="sv-SE" sz="2000" i="1" dirty="0">
                              <a:latin typeface="Cambria Math" panose="02040503050406030204" pitchFamily="18" charset="0"/>
                            </a:rPr>
                          </m:ctrlPr>
                        </m:fPr>
                        <m:num>
                          <m:sSub>
                            <m:sSubPr>
                              <m:ctrlPr>
                                <a:rPr lang="sv-SE" sz="2000" i="1" dirty="0">
                                  <a:latin typeface="Cambria Math" panose="02040503050406030204" pitchFamily="18" charset="0"/>
                                </a:rPr>
                              </m:ctrlPr>
                            </m:sSubPr>
                            <m:e>
                              <m:r>
                                <a:rPr lang="en-US" sz="2000" i="1" dirty="0">
                                  <a:latin typeface="Cambria Math" panose="02040503050406030204" pitchFamily="18" charset="0"/>
                                </a:rPr>
                                <m:t>𝜃</m:t>
                              </m:r>
                            </m:e>
                            <m:sub>
                              <m:r>
                                <a:rPr lang="en-US" sz="2000" i="1" dirty="0">
                                  <a:latin typeface="Cambria Math" panose="02040503050406030204" pitchFamily="18" charset="0"/>
                                </a:rPr>
                                <m:t>𝑗</m:t>
                              </m:r>
                              <m:r>
                                <a:rPr lang="sv-SE" sz="2000" i="1" dirty="0">
                                  <a:latin typeface="Cambria Math" panose="02040503050406030204" pitchFamily="18" charset="0"/>
                                </a:rPr>
                                <m:t>,</m:t>
                              </m:r>
                              <m:r>
                                <a:rPr lang="sv-SE" sz="2000" i="1" dirty="0">
                                  <a:latin typeface="Cambria Math" panose="02040503050406030204" pitchFamily="18" charset="0"/>
                                </a:rPr>
                                <m:t>𝑚𝑎𝑥</m:t>
                              </m:r>
                            </m:sub>
                          </m:sSub>
                          <m:r>
                            <a:rPr lang="sv-SE" sz="2000" i="1" dirty="0">
                              <a:latin typeface="Cambria Math" panose="02040503050406030204" pitchFamily="18" charset="0"/>
                            </a:rPr>
                            <m:t>−</m:t>
                          </m:r>
                          <m:sSub>
                            <m:sSubPr>
                              <m:ctrlPr>
                                <a:rPr lang="sv-SE" sz="2000" i="1" dirty="0">
                                  <a:latin typeface="Cambria Math" panose="02040503050406030204" pitchFamily="18" charset="0"/>
                                </a:rPr>
                              </m:ctrlPr>
                            </m:sSubPr>
                            <m:e>
                              <m:r>
                                <a:rPr lang="en-US" sz="2000" i="1" dirty="0">
                                  <a:latin typeface="Cambria Math" panose="02040503050406030204" pitchFamily="18" charset="0"/>
                                </a:rPr>
                                <m:t>𝜃</m:t>
                              </m:r>
                            </m:e>
                            <m:sub>
                              <m:r>
                                <a:rPr lang="en-US" sz="2000" i="1" dirty="0">
                                  <a:latin typeface="Cambria Math" panose="02040503050406030204" pitchFamily="18" charset="0"/>
                                </a:rPr>
                                <m:t>𝑓𝑙</m:t>
                              </m:r>
                            </m:sub>
                          </m:sSub>
                        </m:num>
                        <m:den>
                          <m:sSub>
                            <m:sSubPr>
                              <m:ctrlPr>
                                <a:rPr lang="sv-SE" sz="2000" i="1" dirty="0">
                                  <a:latin typeface="Cambria Math" panose="02040503050406030204" pitchFamily="18" charset="0"/>
                                </a:rPr>
                              </m:ctrlPr>
                            </m:sSubPr>
                            <m:e>
                              <m:r>
                                <a:rPr lang="en-US" sz="2000" i="1" dirty="0">
                                  <a:latin typeface="Cambria Math" panose="02040503050406030204" pitchFamily="18" charset="0"/>
                                </a:rPr>
                                <m:t>𝑅</m:t>
                              </m:r>
                            </m:e>
                            <m:sub>
                              <m:r>
                                <a:rPr lang="en-US" sz="2000" i="1" dirty="0">
                                  <a:latin typeface="Cambria Math" panose="02040503050406030204" pitchFamily="18" charset="0"/>
                                </a:rPr>
                                <m:t>𝑡h</m:t>
                              </m:r>
                              <m:r>
                                <a:rPr lang="sv-SE" sz="2000" i="1" dirty="0">
                                  <a:latin typeface="Cambria Math" panose="02040503050406030204" pitchFamily="18" charset="0"/>
                                </a:rPr>
                                <m:t>,</m:t>
                              </m:r>
                              <m:r>
                                <a:rPr lang="en-US" sz="2000" i="1" dirty="0">
                                  <a:latin typeface="Cambria Math" panose="02040503050406030204" pitchFamily="18" charset="0"/>
                                </a:rPr>
                                <m:t>𝑑𝑖𝑒</m:t>
                              </m:r>
                            </m:sub>
                          </m:sSub>
                          <m:r>
                            <a:rPr lang="sv-SE" sz="2000" i="1" dirty="0">
                              <a:latin typeface="Cambria Math" panose="02040503050406030204" pitchFamily="18" charset="0"/>
                            </a:rPr>
                            <m:t> (</m:t>
                          </m:r>
                          <m:sSub>
                            <m:sSubPr>
                              <m:ctrlPr>
                                <a:rPr lang="sv-SE" sz="2000" i="1" dirty="0">
                                  <a:latin typeface="Cambria Math" panose="02040503050406030204" pitchFamily="18" charset="0"/>
                                </a:rPr>
                              </m:ctrlPr>
                            </m:sSubPr>
                            <m:e>
                              <m:r>
                                <a:rPr lang="sv-SE" sz="2000" i="1" dirty="0">
                                  <a:latin typeface="Cambria Math" panose="02040503050406030204" pitchFamily="18" charset="0"/>
                                </a:rPr>
                                <m:t>𝐴</m:t>
                              </m:r>
                            </m:e>
                            <m:sub>
                              <m:r>
                                <a:rPr lang="sv-SE" sz="2000" i="1" dirty="0">
                                  <a:latin typeface="Cambria Math" panose="02040503050406030204" pitchFamily="18" charset="0"/>
                                </a:rPr>
                                <m:t>𝑎𝑐</m:t>
                              </m:r>
                              <m:r>
                                <a:rPr lang="sv-SE" sz="2000" i="1" dirty="0">
                                  <a:latin typeface="Cambria Math" panose="02040503050406030204" pitchFamily="18" charset="0"/>
                                </a:rPr>
                                <m:t>,</m:t>
                              </m:r>
                              <m:r>
                                <a:rPr lang="sv-SE" sz="2000" i="1" dirty="0">
                                  <a:latin typeface="Cambria Math" panose="02040503050406030204" pitchFamily="18" charset="0"/>
                                </a:rPr>
                                <m:t>𝑑𝑖𝑒</m:t>
                              </m:r>
                            </m:sub>
                          </m:sSub>
                          <m:r>
                            <a:rPr lang="sv-SE" sz="2000" i="1" dirty="0">
                              <a:latin typeface="Cambria Math" panose="02040503050406030204" pitchFamily="18" charset="0"/>
                            </a:rPr>
                            <m:t>)</m:t>
                          </m:r>
                        </m:den>
                      </m:f>
                    </m:oMath>
                  </m:oMathPara>
                </a14:m>
                <a:endParaRPr lang="sv-SE" sz="2000" dirty="0" smtClean="0"/>
              </a:p>
              <a:p>
                <a:r>
                  <a:rPr lang="en-US" sz="2000" dirty="0"/>
                  <a:t>The thermal resistance is decreasing with increasing chip areas leading to a growth in the total maximum heat dissipation.</a:t>
                </a:r>
              </a:p>
              <a:p>
                <a:pPr marL="0" indent="0">
                  <a:buNone/>
                </a:pPr>
                <a:endParaRPr lang="sv-SE" sz="2000" dirty="0" smtClean="0"/>
              </a:p>
              <a:p>
                <a:pPr marL="0" indent="0" algn="ctr">
                  <a:buNone/>
                </a:pPr>
                <a:endParaRPr lang="sv-SE"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38175" y="425161"/>
                <a:ext cx="10515600" cy="5761327"/>
              </a:xfrm>
              <a:blipFill>
                <a:blip r:embed="rId2"/>
                <a:stretch>
                  <a:fillRect l="-464" t="-1693" r="-522"/>
                </a:stretch>
              </a:blipFill>
            </p:spPr>
            <p:txBody>
              <a:bodyPr/>
              <a:lstStyle/>
              <a:p>
                <a:r>
                  <a:rPr lang="sv-SE">
                    <a:noFill/>
                  </a:rPr>
                  <a:t> </a:t>
                </a:r>
              </a:p>
            </p:txBody>
          </p:sp>
        </mc:Fallback>
      </mc:AlternateContent>
    </p:spTree>
    <p:extLst>
      <p:ext uri="{BB962C8B-B14F-4D97-AF65-F5344CB8AC3E}">
        <p14:creationId xmlns:p14="http://schemas.microsoft.com/office/powerpoint/2010/main" val="27470790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415636"/>
                <a:ext cx="10515600" cy="5761327"/>
              </a:xfrm>
            </p:spPr>
            <p:txBody>
              <a:bodyPr>
                <a:normAutofit/>
              </a:bodyPr>
              <a:lstStyle/>
              <a:p>
                <a:r>
                  <a:rPr lang="en-US" sz="2000" dirty="0" smtClean="0"/>
                  <a:t>A </a:t>
                </a:r>
                <a:r>
                  <a:rPr lang="en-US" sz="2000" dirty="0"/>
                  <a:t>higher number of </a:t>
                </a:r>
                <a:r>
                  <a:rPr lang="en-US" sz="2000" dirty="0" smtClean="0"/>
                  <a:t>dies </a:t>
                </a:r>
                <a:r>
                  <a:rPr lang="en-US" sz="2000" dirty="0"/>
                  <a:t>allow for a larger amount of maximum heat dissipation </a:t>
                </a:r>
                <a:r>
                  <a:rPr lang="en-US" sz="2000" dirty="0" smtClean="0"/>
                  <a:t>for </a:t>
                </a:r>
                <a:r>
                  <a:rPr lang="en-US" sz="2000" dirty="0"/>
                  <a:t>the same total chip area due to heat </a:t>
                </a:r>
                <a:r>
                  <a:rPr lang="en-US" sz="2000" dirty="0" smtClean="0"/>
                  <a:t>spreading.</a:t>
                </a:r>
                <a:endParaRPr lang="en-US" sz="2000" dirty="0"/>
              </a:p>
              <a:p>
                <a:r>
                  <a:rPr lang="en-US" sz="2000" dirty="0"/>
                  <a:t>The </a:t>
                </a:r>
                <a:r>
                  <a:rPr lang="en-US" sz="2000" dirty="0" smtClean="0"/>
                  <a:t>intersection of </a:t>
                </a:r>
                <a:r>
                  <a:rPr lang="en-US" sz="2000" dirty="0"/>
                  <a:t>the total losses </a:t>
                </a:r>
                <a14:m>
                  <m:oMath xmlns:m="http://schemas.openxmlformats.org/officeDocument/2006/math">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𝑃</m:t>
                        </m:r>
                      </m:e>
                      <m:sub>
                        <m:r>
                          <a:rPr lang="en-US" sz="2000" i="1" dirty="0" smtClean="0">
                            <a:latin typeface="Cambria Math" panose="02040503050406030204" pitchFamily="18" charset="0"/>
                          </a:rPr>
                          <m:t>𝑣</m:t>
                        </m:r>
                      </m:sub>
                    </m:sSub>
                    <m:r>
                      <a:rPr lang="en-US" sz="2000" i="1" dirty="0">
                        <a:latin typeface="Cambria Math" panose="02040503050406030204" pitchFamily="18" charset="0"/>
                      </a:rPr>
                      <m:t> = </m:t>
                    </m:r>
                    <m:sSub>
                      <m:sSubPr>
                        <m:ctrlPr>
                          <a:rPr lang="en-US" sz="2000" b="0" i="1" dirty="0" smtClean="0">
                            <a:latin typeface="Cambria Math" panose="02040503050406030204" pitchFamily="18" charset="0"/>
                          </a:rPr>
                        </m:ctrlPr>
                      </m:sSubPr>
                      <m:e>
                        <m:r>
                          <a:rPr lang="en-US" sz="2000" i="1" dirty="0" err="1">
                            <a:latin typeface="Cambria Math" panose="02040503050406030204" pitchFamily="18" charset="0"/>
                          </a:rPr>
                          <m:t>𝑃</m:t>
                        </m:r>
                      </m:e>
                      <m:sub>
                        <m:r>
                          <a:rPr lang="en-US" sz="2000" i="1" dirty="0" err="1">
                            <a:latin typeface="Cambria Math" panose="02040503050406030204" pitchFamily="18" charset="0"/>
                          </a:rPr>
                          <m:t>𝑣</m:t>
                        </m:r>
                        <m:r>
                          <a:rPr lang="en-US" sz="2000" b="0" i="1" dirty="0" smtClean="0">
                            <a:latin typeface="Cambria Math" panose="02040503050406030204" pitchFamily="18" charset="0"/>
                          </a:rPr>
                          <m:t>,</m:t>
                        </m:r>
                        <m:r>
                          <a:rPr lang="en-US" sz="2000" b="0" i="1" dirty="0" smtClean="0">
                            <a:latin typeface="Cambria Math" panose="02040503050406030204" pitchFamily="18" charset="0"/>
                          </a:rPr>
                          <m:t>𝑐</m:t>
                        </m:r>
                      </m:sub>
                    </m:sSub>
                    <m:r>
                      <a:rPr lang="en-US" sz="2000" i="1" dirty="0">
                        <a:latin typeface="Cambria Math" panose="02040503050406030204" pitchFamily="18" charset="0"/>
                      </a:rPr>
                      <m:t> +</m:t>
                    </m:r>
                    <m:sSub>
                      <m:sSubPr>
                        <m:ctrlPr>
                          <a:rPr lang="en-US" sz="2000" i="1" dirty="0">
                            <a:latin typeface="Cambria Math" panose="02040503050406030204" pitchFamily="18" charset="0"/>
                          </a:rPr>
                        </m:ctrlPr>
                      </m:sSubPr>
                      <m:e>
                        <m:r>
                          <a:rPr lang="en-US" sz="2000" i="1" dirty="0" err="1">
                            <a:latin typeface="Cambria Math" panose="02040503050406030204" pitchFamily="18" charset="0"/>
                          </a:rPr>
                          <m:t>𝑃</m:t>
                        </m:r>
                      </m:e>
                      <m:sub>
                        <m:r>
                          <a:rPr lang="en-US" sz="2000" i="1" dirty="0" err="1">
                            <a:latin typeface="Cambria Math" panose="02040503050406030204" pitchFamily="18" charset="0"/>
                          </a:rPr>
                          <m:t>𝑣</m:t>
                        </m:r>
                        <m:r>
                          <a:rPr lang="en-US" sz="2000" i="1" dirty="0">
                            <a:latin typeface="Cambria Math" panose="02040503050406030204" pitchFamily="18" charset="0"/>
                          </a:rPr>
                          <m:t>,</m:t>
                        </m:r>
                        <m:r>
                          <a:rPr lang="en-US" sz="2000" b="0" i="1" dirty="0" smtClean="0">
                            <a:latin typeface="Cambria Math" panose="02040503050406030204" pitchFamily="18" charset="0"/>
                          </a:rPr>
                          <m:t>𝑠𝑤</m:t>
                        </m:r>
                      </m:sub>
                    </m:sSub>
                  </m:oMath>
                </a14:m>
                <a:r>
                  <a:rPr lang="en-US" sz="2000" dirty="0" smtClean="0"/>
                  <a:t> with </a:t>
                </a:r>
                <a:r>
                  <a:rPr lang="en-US" sz="2000" dirty="0"/>
                  <a:t>the maximum </a:t>
                </a:r>
                <a:r>
                  <a:rPr lang="en-US" sz="2000" dirty="0" smtClean="0"/>
                  <a:t>heat </a:t>
                </a:r>
                <a:r>
                  <a:rPr lang="en-US" sz="2000" dirty="0"/>
                  <a:t>dissipation </a:t>
                </a:r>
                <a14:m>
                  <m:oMath xmlns:m="http://schemas.openxmlformats.org/officeDocument/2006/math">
                    <m:sSub>
                      <m:sSubPr>
                        <m:ctrlPr>
                          <a:rPr lang="en-US" sz="2000" b="0" i="1" dirty="0" smtClean="0">
                            <a:latin typeface="Cambria Math" panose="02040503050406030204" pitchFamily="18" charset="0"/>
                          </a:rPr>
                        </m:ctrlPr>
                      </m:sSubPr>
                      <m:e>
                        <m:r>
                          <a:rPr lang="en-US" sz="2000" i="1" dirty="0" smtClean="0">
                            <a:latin typeface="Cambria Math" panose="02040503050406030204" pitchFamily="18" charset="0"/>
                          </a:rPr>
                          <m:t>𝑃</m:t>
                        </m:r>
                      </m:e>
                      <m:sub>
                        <m:r>
                          <a:rPr lang="en-US" sz="2000" i="1" dirty="0" smtClean="0">
                            <a:latin typeface="Cambria Math" panose="02040503050406030204" pitchFamily="18" charset="0"/>
                          </a:rPr>
                          <m:t>𝑑𝑖𝑠𝑠</m:t>
                        </m:r>
                        <m:r>
                          <a:rPr lang="en-US" sz="2000" b="0" i="1" dirty="0" smtClean="0">
                            <a:latin typeface="Cambria Math" panose="02040503050406030204" pitchFamily="18" charset="0"/>
                          </a:rPr>
                          <m:t>,</m:t>
                        </m:r>
                        <m:r>
                          <a:rPr lang="en-US" sz="2000" b="0" i="1" dirty="0" smtClean="0">
                            <a:latin typeface="Cambria Math" panose="02040503050406030204" pitchFamily="18" charset="0"/>
                          </a:rPr>
                          <m:t>𝑚𝑎𝑥</m:t>
                        </m:r>
                      </m:sub>
                    </m:sSub>
                    <m:r>
                      <a:rPr lang="en-US" sz="2000" i="1" dirty="0" smtClean="0">
                        <a:latin typeface="Cambria Math" panose="02040503050406030204" pitchFamily="18" charset="0"/>
                      </a:rPr>
                      <m:t> </m:t>
                    </m:r>
                  </m:oMath>
                </a14:m>
                <a:r>
                  <a:rPr lang="en-US" sz="2000" dirty="0"/>
                  <a:t>where both the cumulative chip area </a:t>
                </a:r>
                <a:r>
                  <a:rPr lang="en-US" sz="2000" dirty="0" smtClean="0"/>
                  <a:t>and </a:t>
                </a:r>
                <a:r>
                  <a:rPr lang="en-US" sz="2000" dirty="0"/>
                  <a:t>the losses are minimal, marks the design point of the </a:t>
                </a:r>
                <a:r>
                  <a:rPr lang="en-US" sz="2000" dirty="0" smtClean="0"/>
                  <a:t>semiconductor </a:t>
                </a:r>
                <a:r>
                  <a:rPr lang="en-US" sz="2000" dirty="0"/>
                  <a:t>under </a:t>
                </a:r>
                <a:r>
                  <a:rPr lang="en-US" sz="2000" dirty="0" smtClean="0"/>
                  <a:t>consideration.</a:t>
                </a:r>
                <a:endParaRPr lang="sv-SE"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415636"/>
                <a:ext cx="10515600" cy="5761327"/>
              </a:xfrm>
              <a:blipFill>
                <a:blip r:embed="rId2"/>
                <a:stretch>
                  <a:fillRect l="-522" t="-1058" r="-1043"/>
                </a:stretch>
              </a:blipFill>
            </p:spPr>
            <p:txBody>
              <a:bodyPr/>
              <a:lstStyle/>
              <a:p>
                <a:r>
                  <a:rPr lang="sv-SE">
                    <a:noFill/>
                  </a:rPr>
                  <a:t> </a:t>
                </a:r>
              </a:p>
            </p:txBody>
          </p:sp>
        </mc:Fallback>
      </mc:AlternateContent>
      <p:pic>
        <p:nvPicPr>
          <p:cNvPr id="4" name="Picture 3"/>
          <p:cNvPicPr>
            <a:picLocks noChangeAspect="1"/>
          </p:cNvPicPr>
          <p:nvPr/>
        </p:nvPicPr>
        <p:blipFill>
          <a:blip r:embed="rId3"/>
          <a:stretch>
            <a:fillRect/>
          </a:stretch>
        </p:blipFill>
        <p:spPr>
          <a:xfrm>
            <a:off x="3487536" y="2071535"/>
            <a:ext cx="5216928" cy="4613814"/>
          </a:xfrm>
          <a:prstGeom prst="rect">
            <a:avLst/>
          </a:prstGeom>
        </p:spPr>
      </p:pic>
    </p:spTree>
    <p:extLst>
      <p:ext uri="{BB962C8B-B14F-4D97-AF65-F5344CB8AC3E}">
        <p14:creationId xmlns:p14="http://schemas.microsoft.com/office/powerpoint/2010/main" val="10288916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90050"/>
            <a:ext cx="10515600" cy="1325563"/>
          </a:xfrm>
        </p:spPr>
        <p:txBody>
          <a:bodyPr/>
          <a:lstStyle/>
          <a:p>
            <a:r>
              <a:rPr lang="en-US" dirty="0" smtClean="0">
                <a:solidFill>
                  <a:srgbClr val="C00000"/>
                </a:solidFill>
              </a:rPr>
              <a:t>Considered Topologies</a:t>
            </a:r>
            <a:endParaRPr lang="sv-SE" dirty="0">
              <a:solidFill>
                <a:srgbClr val="C00000"/>
              </a:solidFill>
            </a:endParaRPr>
          </a:p>
        </p:txBody>
      </p:sp>
      <p:pic>
        <p:nvPicPr>
          <p:cNvPr id="6" name="Picture 5"/>
          <p:cNvPicPr>
            <a:picLocks noChangeAspect="1"/>
          </p:cNvPicPr>
          <p:nvPr/>
        </p:nvPicPr>
        <p:blipFill rotWithShape="1">
          <a:blip r:embed="rId2"/>
          <a:srcRect b="10137"/>
          <a:stretch/>
        </p:blipFill>
        <p:spPr>
          <a:xfrm>
            <a:off x="663145" y="1465039"/>
            <a:ext cx="9998635" cy="2625804"/>
          </a:xfrm>
          <a:prstGeom prst="rect">
            <a:avLst/>
          </a:prstGeom>
        </p:spPr>
      </p:pic>
      <p:cxnSp>
        <p:nvCxnSpPr>
          <p:cNvPr id="8" name="Straight Arrow Connector 7"/>
          <p:cNvCxnSpPr/>
          <p:nvPr/>
        </p:nvCxnSpPr>
        <p:spPr>
          <a:xfrm>
            <a:off x="1933145" y="4090843"/>
            <a:ext cx="0" cy="3559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066370" y="4446801"/>
            <a:ext cx="1733549" cy="646331"/>
          </a:xfrm>
          <a:prstGeom prst="rect">
            <a:avLst/>
          </a:prstGeom>
          <a:noFill/>
        </p:spPr>
        <p:txBody>
          <a:bodyPr wrap="square" rtlCol="0">
            <a:spAutoFit/>
          </a:bodyPr>
          <a:lstStyle/>
          <a:p>
            <a:pPr algn="ctr"/>
            <a:r>
              <a:rPr lang="en-US" b="1" dirty="0" smtClean="0"/>
              <a:t>Two-level (2L)</a:t>
            </a:r>
          </a:p>
          <a:p>
            <a:pPr algn="ctr"/>
            <a:r>
              <a:rPr lang="en-US" b="1" dirty="0" smtClean="0"/>
              <a:t>Inverter</a:t>
            </a:r>
            <a:endParaRPr lang="sv-SE" b="1" dirty="0"/>
          </a:p>
        </p:txBody>
      </p:sp>
      <p:cxnSp>
        <p:nvCxnSpPr>
          <p:cNvPr id="12" name="Straight Arrow Connector 11"/>
          <p:cNvCxnSpPr/>
          <p:nvPr/>
        </p:nvCxnSpPr>
        <p:spPr>
          <a:xfrm>
            <a:off x="3780995" y="4090843"/>
            <a:ext cx="0" cy="3559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823731" y="4446801"/>
            <a:ext cx="1800225" cy="923330"/>
          </a:xfrm>
          <a:prstGeom prst="rect">
            <a:avLst/>
          </a:prstGeom>
          <a:noFill/>
        </p:spPr>
        <p:txBody>
          <a:bodyPr wrap="square" rtlCol="0">
            <a:spAutoFit/>
          </a:bodyPr>
          <a:lstStyle/>
          <a:p>
            <a:pPr algn="ctr"/>
            <a:r>
              <a:rPr lang="en-US" dirty="0" smtClean="0"/>
              <a:t>Three-level </a:t>
            </a:r>
          </a:p>
          <a:p>
            <a:pPr algn="ctr"/>
            <a:r>
              <a:rPr lang="en-US" dirty="0" smtClean="0"/>
              <a:t>T-Type (3L-TT)</a:t>
            </a:r>
          </a:p>
          <a:p>
            <a:pPr algn="ctr"/>
            <a:r>
              <a:rPr lang="en-US" dirty="0" smtClean="0"/>
              <a:t>Inverter</a:t>
            </a:r>
            <a:endParaRPr lang="sv-SE" dirty="0"/>
          </a:p>
        </p:txBody>
      </p:sp>
      <p:cxnSp>
        <p:nvCxnSpPr>
          <p:cNvPr id="14" name="Straight Arrow Connector 13"/>
          <p:cNvCxnSpPr/>
          <p:nvPr/>
        </p:nvCxnSpPr>
        <p:spPr>
          <a:xfrm>
            <a:off x="5679645" y="4020993"/>
            <a:ext cx="0" cy="3559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439806" y="4351551"/>
            <a:ext cx="2360614" cy="1200329"/>
          </a:xfrm>
          <a:prstGeom prst="rect">
            <a:avLst/>
          </a:prstGeom>
          <a:noFill/>
        </p:spPr>
        <p:txBody>
          <a:bodyPr wrap="square" rtlCol="0">
            <a:spAutoFit/>
          </a:bodyPr>
          <a:lstStyle/>
          <a:p>
            <a:pPr algn="ctr"/>
            <a:r>
              <a:rPr lang="en-US" b="1" dirty="0" smtClean="0"/>
              <a:t>Three-level </a:t>
            </a:r>
          </a:p>
          <a:p>
            <a:pPr algn="ctr"/>
            <a:r>
              <a:rPr lang="en-US" b="1" dirty="0" smtClean="0"/>
              <a:t>Neutral Point Clamped (3L-NPC)</a:t>
            </a:r>
          </a:p>
          <a:p>
            <a:pPr algn="ctr"/>
            <a:r>
              <a:rPr lang="en-US" b="1" dirty="0" smtClean="0"/>
              <a:t>Inverter</a:t>
            </a:r>
            <a:endParaRPr lang="sv-SE" b="1" dirty="0"/>
          </a:p>
        </p:txBody>
      </p:sp>
      <p:cxnSp>
        <p:nvCxnSpPr>
          <p:cNvPr id="18" name="Straight Arrow Connector 17"/>
          <p:cNvCxnSpPr/>
          <p:nvPr/>
        </p:nvCxnSpPr>
        <p:spPr>
          <a:xfrm>
            <a:off x="7864045" y="4020635"/>
            <a:ext cx="0" cy="3559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6624206" y="4351193"/>
            <a:ext cx="2360614" cy="1477328"/>
          </a:xfrm>
          <a:prstGeom prst="rect">
            <a:avLst/>
          </a:prstGeom>
          <a:noFill/>
        </p:spPr>
        <p:txBody>
          <a:bodyPr wrap="square" rtlCol="0">
            <a:spAutoFit/>
          </a:bodyPr>
          <a:lstStyle/>
          <a:p>
            <a:pPr algn="ctr"/>
            <a:r>
              <a:rPr lang="en-US" dirty="0" smtClean="0"/>
              <a:t>Three-level </a:t>
            </a:r>
          </a:p>
          <a:p>
            <a:pPr algn="ctr"/>
            <a:r>
              <a:rPr lang="en-US" dirty="0" smtClean="0"/>
              <a:t>Active Neutral Point Clamped </a:t>
            </a:r>
          </a:p>
          <a:p>
            <a:pPr algn="ctr"/>
            <a:r>
              <a:rPr lang="en-US" dirty="0" smtClean="0"/>
              <a:t>(3L-ANPC)</a:t>
            </a:r>
          </a:p>
          <a:p>
            <a:pPr algn="ctr"/>
            <a:r>
              <a:rPr lang="en-US" dirty="0" smtClean="0"/>
              <a:t>Inverter</a:t>
            </a:r>
            <a:endParaRPr lang="sv-SE" dirty="0"/>
          </a:p>
        </p:txBody>
      </p:sp>
      <p:cxnSp>
        <p:nvCxnSpPr>
          <p:cNvPr id="20" name="Straight Arrow Connector 19"/>
          <p:cNvCxnSpPr/>
          <p:nvPr/>
        </p:nvCxnSpPr>
        <p:spPr>
          <a:xfrm>
            <a:off x="9861121" y="4020635"/>
            <a:ext cx="0" cy="3559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621282" y="4351193"/>
            <a:ext cx="2360614" cy="923330"/>
          </a:xfrm>
          <a:prstGeom prst="rect">
            <a:avLst/>
          </a:prstGeom>
          <a:noFill/>
        </p:spPr>
        <p:txBody>
          <a:bodyPr wrap="square" rtlCol="0">
            <a:spAutoFit/>
          </a:bodyPr>
          <a:lstStyle/>
          <a:p>
            <a:pPr algn="ctr"/>
            <a:r>
              <a:rPr lang="en-US" dirty="0" smtClean="0"/>
              <a:t>Modular </a:t>
            </a:r>
            <a:r>
              <a:rPr lang="en-US" dirty="0"/>
              <a:t>multilevel </a:t>
            </a:r>
            <a:r>
              <a:rPr lang="en-US" dirty="0" smtClean="0"/>
              <a:t>converters</a:t>
            </a:r>
          </a:p>
          <a:p>
            <a:pPr algn="ctr"/>
            <a:r>
              <a:rPr lang="en-US" dirty="0" smtClean="0"/>
              <a:t>(MMC)</a:t>
            </a:r>
          </a:p>
        </p:txBody>
      </p:sp>
      <p:sp>
        <p:nvSpPr>
          <p:cNvPr id="4" name="TextBox 3"/>
          <p:cNvSpPr txBox="1"/>
          <p:nvPr/>
        </p:nvSpPr>
        <p:spPr>
          <a:xfrm>
            <a:off x="1016943" y="5920854"/>
            <a:ext cx="9915526" cy="369332"/>
          </a:xfrm>
          <a:prstGeom prst="rect">
            <a:avLst/>
          </a:prstGeom>
          <a:noFill/>
        </p:spPr>
        <p:txBody>
          <a:bodyPr wrap="square" rtlCol="0">
            <a:spAutoFit/>
          </a:bodyPr>
          <a:lstStyle/>
          <a:p>
            <a:r>
              <a:rPr lang="en-US" dirty="0" smtClean="0"/>
              <a:t>*The topologies, indicated by bold font,  may be preferred for a pre-study.</a:t>
            </a:r>
            <a:endParaRPr lang="sv-SE" dirty="0"/>
          </a:p>
        </p:txBody>
      </p:sp>
    </p:spTree>
    <p:extLst>
      <p:ext uri="{BB962C8B-B14F-4D97-AF65-F5344CB8AC3E}">
        <p14:creationId xmlns:p14="http://schemas.microsoft.com/office/powerpoint/2010/main" val="37153005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594" y="98854"/>
            <a:ext cx="10515600" cy="733039"/>
          </a:xfrm>
        </p:spPr>
        <p:txBody>
          <a:bodyPr/>
          <a:lstStyle/>
          <a:p>
            <a:r>
              <a:rPr lang="en-US" dirty="0" smtClean="0">
                <a:solidFill>
                  <a:srgbClr val="C00000"/>
                </a:solidFill>
              </a:rPr>
              <a:t>Loss Calculation Assumptions</a:t>
            </a:r>
            <a:endParaRPr lang="sv-SE" dirty="0">
              <a:solidFill>
                <a:srgbClr val="C00000"/>
              </a:solidFill>
            </a:endParaRPr>
          </a:p>
        </p:txBody>
      </p:sp>
      <p:sp>
        <p:nvSpPr>
          <p:cNvPr id="3" name="Content Placeholder 2"/>
          <p:cNvSpPr>
            <a:spLocks noGrp="1"/>
          </p:cNvSpPr>
          <p:nvPr>
            <p:ph idx="1"/>
          </p:nvPr>
        </p:nvSpPr>
        <p:spPr>
          <a:xfrm>
            <a:off x="838200" y="831893"/>
            <a:ext cx="10515600" cy="5345070"/>
          </a:xfrm>
        </p:spPr>
        <p:txBody>
          <a:bodyPr>
            <a:normAutofit fontScale="85000" lnSpcReduction="10000"/>
          </a:bodyPr>
          <a:lstStyle/>
          <a:p>
            <a:pPr marL="457200" indent="-457200">
              <a:buFont typeface="+mj-lt"/>
              <a:buAutoNum type="arabicPeriod"/>
            </a:pPr>
            <a:r>
              <a:rPr lang="sv-SE" dirty="0" err="1" smtClean="0"/>
              <a:t>SiC</a:t>
            </a:r>
            <a:r>
              <a:rPr lang="sv-SE" dirty="0" smtClean="0"/>
              <a:t> </a:t>
            </a:r>
            <a:r>
              <a:rPr lang="sv-SE" dirty="0" err="1"/>
              <a:t>MOSFETs</a:t>
            </a:r>
            <a:r>
              <a:rPr lang="sv-SE" dirty="0"/>
              <a:t>, </a:t>
            </a:r>
            <a:r>
              <a:rPr lang="sv-SE" dirty="0" err="1"/>
              <a:t>which</a:t>
            </a:r>
            <a:r>
              <a:rPr lang="sv-SE" dirty="0"/>
              <a:t> </a:t>
            </a:r>
            <a:r>
              <a:rPr lang="sv-SE" dirty="0" err="1"/>
              <a:t>are</a:t>
            </a:r>
            <a:r>
              <a:rPr lang="sv-SE" dirty="0"/>
              <a:t> </a:t>
            </a:r>
            <a:r>
              <a:rPr lang="sv-SE" dirty="0" err="1"/>
              <a:t>capable</a:t>
            </a:r>
            <a:r>
              <a:rPr lang="sv-SE" dirty="0"/>
              <a:t> </a:t>
            </a:r>
            <a:r>
              <a:rPr lang="sv-SE" dirty="0" err="1"/>
              <a:t>of</a:t>
            </a:r>
            <a:r>
              <a:rPr lang="sv-SE" dirty="0"/>
              <a:t> </a:t>
            </a:r>
            <a:r>
              <a:rPr lang="sv-SE" b="1" dirty="0"/>
              <a:t>forward</a:t>
            </a:r>
            <a:r>
              <a:rPr lang="sv-SE" dirty="0"/>
              <a:t> and </a:t>
            </a:r>
            <a:r>
              <a:rPr lang="sv-SE" b="1" dirty="0" err="1"/>
              <a:t>reverse</a:t>
            </a:r>
            <a:r>
              <a:rPr lang="sv-SE" b="1" dirty="0"/>
              <a:t> </a:t>
            </a:r>
            <a:r>
              <a:rPr lang="sv-SE" b="1" dirty="0" err="1"/>
              <a:t>current</a:t>
            </a:r>
            <a:r>
              <a:rPr lang="sv-SE" b="1" dirty="0"/>
              <a:t> </a:t>
            </a:r>
            <a:r>
              <a:rPr lang="sv-SE" dirty="0" err="1"/>
              <a:t>conduction</a:t>
            </a:r>
            <a:r>
              <a:rPr lang="sv-SE" dirty="0"/>
              <a:t> </a:t>
            </a:r>
            <a:r>
              <a:rPr lang="sv-SE" dirty="0" err="1"/>
              <a:t>through</a:t>
            </a:r>
            <a:r>
              <a:rPr lang="sv-SE" dirty="0"/>
              <a:t> the </a:t>
            </a:r>
            <a:r>
              <a:rPr lang="sv-SE" dirty="0" err="1"/>
              <a:t>channel</a:t>
            </a:r>
            <a:r>
              <a:rPr lang="sv-SE" dirty="0"/>
              <a:t>, </a:t>
            </a:r>
            <a:r>
              <a:rPr lang="sv-SE" dirty="0" err="1"/>
              <a:t>are</a:t>
            </a:r>
            <a:r>
              <a:rPr lang="sv-SE" dirty="0"/>
              <a:t> </a:t>
            </a:r>
            <a:r>
              <a:rPr lang="sv-SE" dirty="0" err="1"/>
              <a:t>used</a:t>
            </a:r>
            <a:r>
              <a:rPr lang="sv-SE" dirty="0"/>
              <a:t> as </a:t>
            </a:r>
            <a:r>
              <a:rPr lang="sv-SE" dirty="0" err="1"/>
              <a:t>switching</a:t>
            </a:r>
            <a:r>
              <a:rPr lang="sv-SE" dirty="0"/>
              <a:t> </a:t>
            </a:r>
            <a:r>
              <a:rPr lang="sv-SE" dirty="0" err="1" smtClean="0"/>
              <a:t>devices</a:t>
            </a:r>
            <a:r>
              <a:rPr lang="sv-SE" dirty="0" smtClean="0"/>
              <a:t>. </a:t>
            </a:r>
            <a:r>
              <a:rPr lang="en-US" dirty="0"/>
              <a:t>I</a:t>
            </a:r>
            <a:r>
              <a:rPr lang="en-US" dirty="0" smtClean="0"/>
              <a:t>t </a:t>
            </a:r>
            <a:r>
              <a:rPr lang="en-US" dirty="0"/>
              <a:t>is assumed that </a:t>
            </a:r>
            <a:r>
              <a:rPr lang="en-US" b="1" dirty="0"/>
              <a:t>the reverse current flows completely through the MOSFET channel</a:t>
            </a:r>
            <a:r>
              <a:rPr lang="en-US" dirty="0"/>
              <a:t>. This is a worse assumption than </a:t>
            </a:r>
            <a:r>
              <a:rPr lang="en-US" b="1" dirty="0"/>
              <a:t>current sharing </a:t>
            </a:r>
            <a:r>
              <a:rPr lang="en-US" dirty="0"/>
              <a:t>between the </a:t>
            </a:r>
            <a:r>
              <a:rPr lang="en-US" b="1" dirty="0"/>
              <a:t>channel</a:t>
            </a:r>
            <a:r>
              <a:rPr lang="en-US" dirty="0"/>
              <a:t> and the </a:t>
            </a:r>
            <a:r>
              <a:rPr lang="en-US" b="1" dirty="0"/>
              <a:t>body </a:t>
            </a:r>
            <a:r>
              <a:rPr lang="en-US" b="1" dirty="0" smtClean="0"/>
              <a:t>diode</a:t>
            </a:r>
            <a:r>
              <a:rPr lang="en-US" dirty="0" smtClean="0"/>
              <a:t>. It </a:t>
            </a:r>
            <a:r>
              <a:rPr lang="en-US" dirty="0"/>
              <a:t>partly compensates the </a:t>
            </a:r>
            <a:r>
              <a:rPr lang="en-US" dirty="0" err="1" smtClean="0"/>
              <a:t>neglection</a:t>
            </a:r>
            <a:r>
              <a:rPr lang="en-US" dirty="0" smtClean="0"/>
              <a:t> </a:t>
            </a:r>
            <a:r>
              <a:rPr lang="en-US" dirty="0"/>
              <a:t>of losses in the body diode during </a:t>
            </a:r>
            <a:r>
              <a:rPr lang="en-US" dirty="0" smtClean="0"/>
              <a:t>interlock (dead) </a:t>
            </a:r>
            <a:r>
              <a:rPr lang="en-US" dirty="0"/>
              <a:t>times. </a:t>
            </a:r>
          </a:p>
          <a:p>
            <a:pPr marL="457200" indent="-457200">
              <a:buFont typeface="+mj-lt"/>
              <a:buAutoNum type="arabicPeriod"/>
            </a:pPr>
            <a:r>
              <a:rPr lang="en-US" b="1" dirty="0"/>
              <a:t>The reverse recovery energy of the body diode is also not considered</a:t>
            </a:r>
            <a:r>
              <a:rPr lang="en-US" dirty="0"/>
              <a:t>, since measuring it is problematic  and it is comparably small so that it is not included in the datasheet of the </a:t>
            </a:r>
            <a:r>
              <a:rPr lang="en-US" dirty="0" smtClean="0"/>
              <a:t>module.</a:t>
            </a:r>
            <a:endParaRPr lang="en-US" dirty="0"/>
          </a:p>
          <a:p>
            <a:pPr marL="457200" indent="-457200">
              <a:buFont typeface="+mj-lt"/>
              <a:buAutoNum type="arabicPeriod"/>
            </a:pPr>
            <a:r>
              <a:rPr lang="en-US" dirty="0"/>
              <a:t>When the MOSFET is </a:t>
            </a:r>
            <a:r>
              <a:rPr lang="en-US" b="1" dirty="0"/>
              <a:t>in reverse conduction mode </a:t>
            </a:r>
            <a:r>
              <a:rPr lang="en-US" dirty="0"/>
              <a:t>(referred to as rev </a:t>
            </a:r>
            <a:r>
              <a:rPr lang="en-US" dirty="0" smtClean="0"/>
              <a:t>after), </a:t>
            </a:r>
            <a:r>
              <a:rPr lang="en-US" dirty="0"/>
              <a:t>the current commutates from and to its own body diode under </a:t>
            </a:r>
            <a:r>
              <a:rPr lang="en-US" b="1" dirty="0"/>
              <a:t>zero voltage switching (ZVS) condition</a:t>
            </a:r>
            <a:r>
              <a:rPr lang="en-US" dirty="0"/>
              <a:t>, and therefore </a:t>
            </a:r>
            <a:r>
              <a:rPr lang="en-US" b="1" dirty="0"/>
              <a:t>switching losses </a:t>
            </a:r>
            <a:r>
              <a:rPr lang="en-US" dirty="0"/>
              <a:t>are only taken into account during </a:t>
            </a:r>
            <a:r>
              <a:rPr lang="en-US" b="1" dirty="0"/>
              <a:t>forward conduction mode </a:t>
            </a:r>
            <a:r>
              <a:rPr lang="en-US" dirty="0"/>
              <a:t>of the MOSFET.</a:t>
            </a:r>
          </a:p>
          <a:p>
            <a:pPr marL="457200" indent="-457200">
              <a:buFont typeface="+mj-lt"/>
              <a:buAutoNum type="arabicPeriod"/>
            </a:pPr>
            <a:r>
              <a:rPr lang="en-US" dirty="0"/>
              <a:t>For the </a:t>
            </a:r>
            <a:r>
              <a:rPr lang="en-US" b="1" dirty="0"/>
              <a:t>NPC</a:t>
            </a:r>
            <a:r>
              <a:rPr lang="en-US" dirty="0"/>
              <a:t> inverter, another type of semiconductor is used for the clamping diodes. Here, </a:t>
            </a:r>
            <a:r>
              <a:rPr lang="en-US" b="1" dirty="0" err="1"/>
              <a:t>SiC</a:t>
            </a:r>
            <a:r>
              <a:rPr lang="en-US" b="1" dirty="0"/>
              <a:t> </a:t>
            </a:r>
            <a:r>
              <a:rPr lang="en-US" b="1" dirty="0" err="1"/>
              <a:t>Schottky</a:t>
            </a:r>
            <a:r>
              <a:rPr lang="en-US" b="1" dirty="0"/>
              <a:t> </a:t>
            </a:r>
            <a:r>
              <a:rPr lang="en-US" dirty="0"/>
              <a:t>diodes are considered which have </a:t>
            </a:r>
            <a:r>
              <a:rPr lang="en-US" b="1" dirty="0"/>
              <a:t>negligible switching losses</a:t>
            </a:r>
            <a:r>
              <a:rPr lang="en-US" dirty="0"/>
              <a:t>, and thus only </a:t>
            </a:r>
            <a:r>
              <a:rPr lang="en-US" b="1" dirty="0"/>
              <a:t>the conduction losses </a:t>
            </a:r>
            <a:r>
              <a:rPr lang="en-US" dirty="0"/>
              <a:t>are </a:t>
            </a:r>
            <a:r>
              <a:rPr lang="en-US" b="1" dirty="0"/>
              <a:t>accounted</a:t>
            </a:r>
            <a:r>
              <a:rPr lang="en-US" dirty="0"/>
              <a:t> for.</a:t>
            </a:r>
          </a:p>
        </p:txBody>
      </p:sp>
    </p:spTree>
    <p:extLst>
      <p:ext uri="{BB962C8B-B14F-4D97-AF65-F5344CB8AC3E}">
        <p14:creationId xmlns:p14="http://schemas.microsoft.com/office/powerpoint/2010/main" val="2040252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885" y="123128"/>
            <a:ext cx="10515600" cy="603699"/>
          </a:xfrm>
        </p:spPr>
        <p:txBody>
          <a:bodyPr>
            <a:normAutofit/>
          </a:bodyPr>
          <a:lstStyle/>
          <a:p>
            <a:pPr algn="ctr"/>
            <a:r>
              <a:rPr lang="en-US" sz="3600" dirty="0" smtClean="0">
                <a:solidFill>
                  <a:srgbClr val="C00000"/>
                </a:solidFill>
              </a:rPr>
              <a:t>2L-Inverter</a:t>
            </a:r>
            <a:endParaRPr lang="sv-SE" sz="3600" dirty="0">
              <a:solidFill>
                <a:srgbClr val="C00000"/>
              </a:solidFill>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nvPr>
            </p:nvGraphicFramePr>
            <p:xfrm>
              <a:off x="2234566" y="1231486"/>
              <a:ext cx="9576434" cy="2895506"/>
            </p:xfrm>
            <a:graphic>
              <a:graphicData uri="http://schemas.openxmlformats.org/drawingml/2006/table">
                <a:tbl>
                  <a:tblPr/>
                  <a:tblGrid>
                    <a:gridCol w="900912">
                      <a:extLst>
                        <a:ext uri="{9D8B030D-6E8A-4147-A177-3AD203B41FA5}">
                          <a16:colId xmlns:a16="http://schemas.microsoft.com/office/drawing/2014/main" val="3761696542"/>
                        </a:ext>
                      </a:extLst>
                    </a:gridCol>
                    <a:gridCol w="1131722">
                      <a:extLst>
                        <a:ext uri="{9D8B030D-6E8A-4147-A177-3AD203B41FA5}">
                          <a16:colId xmlns:a16="http://schemas.microsoft.com/office/drawing/2014/main" val="1021110957"/>
                        </a:ext>
                      </a:extLst>
                    </a:gridCol>
                    <a:gridCol w="1266825">
                      <a:extLst>
                        <a:ext uri="{9D8B030D-6E8A-4147-A177-3AD203B41FA5}">
                          <a16:colId xmlns:a16="http://schemas.microsoft.com/office/drawing/2014/main" val="3731599906"/>
                        </a:ext>
                      </a:extLst>
                    </a:gridCol>
                    <a:gridCol w="2600325">
                      <a:extLst>
                        <a:ext uri="{9D8B030D-6E8A-4147-A177-3AD203B41FA5}">
                          <a16:colId xmlns:a16="http://schemas.microsoft.com/office/drawing/2014/main" val="1982671173"/>
                        </a:ext>
                      </a:extLst>
                    </a:gridCol>
                    <a:gridCol w="1895475">
                      <a:extLst>
                        <a:ext uri="{9D8B030D-6E8A-4147-A177-3AD203B41FA5}">
                          <a16:colId xmlns:a16="http://schemas.microsoft.com/office/drawing/2014/main" val="1361513456"/>
                        </a:ext>
                      </a:extLst>
                    </a:gridCol>
                    <a:gridCol w="1781175">
                      <a:extLst>
                        <a:ext uri="{9D8B030D-6E8A-4147-A177-3AD203B41FA5}">
                          <a16:colId xmlns:a16="http://schemas.microsoft.com/office/drawing/2014/main" val="271046663"/>
                        </a:ext>
                      </a:extLst>
                    </a:gridCol>
                  </a:tblGrid>
                  <a:tr h="476918">
                    <a:tc>
                      <a:txBody>
                        <a:bodyPr/>
                        <a:lstStyle/>
                        <a:p>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𝑈</m:t>
                                    </m:r>
                                  </m:e>
                                  <m:sub>
                                    <m:r>
                                      <a:rPr lang="en-US" sz="2500" b="0" i="1" smtClean="0">
                                        <a:solidFill>
                                          <a:srgbClr val="C00000"/>
                                        </a:solidFill>
                                        <a:latin typeface="Cambria Math" panose="02040503050406030204" pitchFamily="18" charset="0"/>
                                      </a:rPr>
                                      <m:t>𝑏𝑙</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sz="2500" i="1" smtClean="0">
                                        <a:solidFill>
                                          <a:srgbClr val="C00000"/>
                                        </a:solidFill>
                                        <a:latin typeface="Cambria Math" panose="02040503050406030204" pitchFamily="18" charset="0"/>
                                      </a:rPr>
                                    </m:ctrlPr>
                                  </m:sSubPr>
                                  <m:e>
                                    <m:r>
                                      <a:rPr lang="en-US" sz="2500" i="1">
                                        <a:solidFill>
                                          <a:srgbClr val="C00000"/>
                                        </a:solidFill>
                                        <a:latin typeface="Cambria Math" panose="02040503050406030204" pitchFamily="18" charset="0"/>
                                      </a:rPr>
                                      <m:t>𝑈</m:t>
                                    </m:r>
                                  </m:e>
                                  <m:sub>
                                    <m:r>
                                      <a:rPr lang="en-US" sz="2500" b="0" i="1" smtClean="0">
                                        <a:solidFill>
                                          <a:srgbClr val="C00000"/>
                                        </a:solidFill>
                                        <a:latin typeface="Cambria Math" panose="02040503050406030204" pitchFamily="18" charset="0"/>
                                      </a:rPr>
                                      <m:t>𝑠𝑤</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1</m:t>
                                    </m:r>
                                  </m:sub>
                                </m:sSub>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𝑡𝑜</m:t>
                                </m:r>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2</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US" sz="2500" b="0" i="1" smtClean="0">
                                    <a:solidFill>
                                      <a:srgbClr val="C00000"/>
                                    </a:solidFill>
                                    <a:latin typeface="Cambria Math" panose="02040503050406030204" pitchFamily="18" charset="0"/>
                                  </a:rPr>
                                  <m:t>𝐷</m:t>
                                </m:r>
                                <m:r>
                                  <a:rPr lang="en-US" sz="2500" b="0" i="1" smtClean="0">
                                    <a:solidFill>
                                      <a:srgbClr val="C00000"/>
                                    </a:solidFill>
                                    <a:latin typeface="Cambria Math" panose="02040503050406030204" pitchFamily="18" charset="0"/>
                                  </a:rPr>
                                  <m:t>(</m:t>
                                </m:r>
                                <m:r>
                                  <a:rPr lang="en-US" sz="2500" b="0" i="1" smtClean="0">
                                    <a:solidFill>
                                      <a:srgbClr val="C00000"/>
                                    </a:solidFill>
                                    <a:latin typeface="Cambria Math" panose="02040503050406030204" pitchFamily="18" charset="0"/>
                                  </a:rPr>
                                  <m:t>𝛾</m:t>
                                </m:r>
                                <m:r>
                                  <a:rPr lang="en-US" sz="2500" b="0" i="1" smtClean="0">
                                    <a:solidFill>
                                      <a:srgbClr val="C00000"/>
                                    </a:solidFill>
                                    <a:latin typeface="Cambria Math" panose="02040503050406030204" pitchFamily="18" charset="0"/>
                                  </a:rPr>
                                  <m:t>)</m:t>
                                </m:r>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3</m:t>
                                    </m:r>
                                  </m:sub>
                                </m:sSub>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𝑡𝑜</m:t>
                                </m:r>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4</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582420"/>
                      </a:ext>
                    </a:extLst>
                  </a:tr>
                  <a:tr h="1202871">
                    <a:tc>
                      <a:txBody>
                        <a:bodyPr/>
                        <a:lstStyle/>
                        <a:p>
                          <a:pPr algn="ctr"/>
                          <a:r>
                            <a:rPr lang="en-US" sz="2500" dirty="0" smtClean="0"/>
                            <a:t>T1</a:t>
                          </a: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500" b="0" i="1" smtClean="0">
                                        <a:solidFill>
                                          <a:schemeClr val="tx1"/>
                                        </a:solidFill>
                                        <a:latin typeface="Cambria Math" panose="02040503050406030204" pitchFamily="18" charset="0"/>
                                      </a:rPr>
                                    </m:ctrlPr>
                                  </m:sSubPr>
                                  <m:e>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500" b="0" i="1" smtClean="0">
                                        <a:solidFill>
                                          <a:schemeClr val="tx1"/>
                                        </a:solidFill>
                                        <a:latin typeface="Cambria Math" panose="02040503050406030204" pitchFamily="18" charset="0"/>
                                      </a:rPr>
                                    </m:ctrlPr>
                                  </m:sSubPr>
                                  <m:e>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2500" b="0" i="1" smtClean="0">
                                        <a:latin typeface="Cambria Math" panose="02040503050406030204" pitchFamily="18" charset="0"/>
                                      </a:rPr>
                                    </m:ctrlPr>
                                  </m:fPr>
                                  <m:num>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num>
                                  <m:den>
                                    <m:r>
                                      <a:rPr lang="en-US" sz="2500" b="0" i="1" smtClean="0">
                                        <a:latin typeface="Cambria Math" panose="02040503050406030204" pitchFamily="18" charset="0"/>
                                      </a:rPr>
                                      <m:t>2</m:t>
                                    </m:r>
                                  </m:den>
                                </m:f>
                              </m:oMath>
                            </m:oMathPara>
                          </a14:m>
                          <a:endParaRPr lang="sv-SE" sz="2500" dirty="0"/>
                        </a:p>
                        <a:p>
                          <a:pPr algn="ctr"/>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p>
                          <a:pPr algn="ctr"/>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7361417"/>
                      </a:ext>
                    </a:extLst>
                  </a:tr>
                  <a:tr h="1136761">
                    <a:tc>
                      <a:txBody>
                        <a:bodyPr/>
                        <a:lstStyle/>
                        <a:p>
                          <a:pPr algn="ctr"/>
                          <a:r>
                            <a:rPr lang="en-US" sz="2500" dirty="0" smtClean="0"/>
                            <a:t>T2 (rev)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vMerge="1">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vMerge="1">
                      <a:txBody>
                        <a:bodyPr/>
                        <a:lstStyle/>
                        <a:p>
                          <a:endParaRPr lang="sv-SE"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2500" b="0" i="1" smtClean="0">
                                        <a:latin typeface="Cambria Math" panose="02040503050406030204" pitchFamily="18" charset="0"/>
                                      </a:rPr>
                                    </m:ctrlPr>
                                  </m:fPr>
                                  <m:num>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num>
                                  <m:den>
                                    <m:r>
                                      <a:rPr lang="en-US" sz="2500" b="0" i="1" smtClean="0">
                                        <a:latin typeface="Cambria Math" panose="02040503050406030204" pitchFamily="18" charset="0"/>
                                      </a:rPr>
                                      <m:t>2</m:t>
                                    </m:r>
                                  </m:den>
                                </m:f>
                              </m:oMath>
                            </m:oMathPara>
                          </a14:m>
                          <a:endParaRPr lang="sv-SE" sz="2500" dirty="0"/>
                        </a:p>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333502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346582539"/>
                  </p:ext>
                </p:extLst>
              </p:nvPr>
            </p:nvGraphicFramePr>
            <p:xfrm>
              <a:off x="2234566" y="1231486"/>
              <a:ext cx="9576434" cy="2895506"/>
            </p:xfrm>
            <a:graphic>
              <a:graphicData uri="http://schemas.openxmlformats.org/drawingml/2006/table">
                <a:tbl>
                  <a:tblPr/>
                  <a:tblGrid>
                    <a:gridCol w="900912">
                      <a:extLst>
                        <a:ext uri="{9D8B030D-6E8A-4147-A177-3AD203B41FA5}">
                          <a16:colId xmlns:a16="http://schemas.microsoft.com/office/drawing/2014/main" val="3761696542"/>
                        </a:ext>
                      </a:extLst>
                    </a:gridCol>
                    <a:gridCol w="1131722">
                      <a:extLst>
                        <a:ext uri="{9D8B030D-6E8A-4147-A177-3AD203B41FA5}">
                          <a16:colId xmlns:a16="http://schemas.microsoft.com/office/drawing/2014/main" val="1021110957"/>
                        </a:ext>
                      </a:extLst>
                    </a:gridCol>
                    <a:gridCol w="1266825">
                      <a:extLst>
                        <a:ext uri="{9D8B030D-6E8A-4147-A177-3AD203B41FA5}">
                          <a16:colId xmlns:a16="http://schemas.microsoft.com/office/drawing/2014/main" val="3731599906"/>
                        </a:ext>
                      </a:extLst>
                    </a:gridCol>
                    <a:gridCol w="2600325">
                      <a:extLst>
                        <a:ext uri="{9D8B030D-6E8A-4147-A177-3AD203B41FA5}">
                          <a16:colId xmlns:a16="http://schemas.microsoft.com/office/drawing/2014/main" val="1982671173"/>
                        </a:ext>
                      </a:extLst>
                    </a:gridCol>
                    <a:gridCol w="1895475">
                      <a:extLst>
                        <a:ext uri="{9D8B030D-6E8A-4147-A177-3AD203B41FA5}">
                          <a16:colId xmlns:a16="http://schemas.microsoft.com/office/drawing/2014/main" val="1361513456"/>
                        </a:ext>
                      </a:extLst>
                    </a:gridCol>
                    <a:gridCol w="1781175">
                      <a:extLst>
                        <a:ext uri="{9D8B030D-6E8A-4147-A177-3AD203B41FA5}">
                          <a16:colId xmlns:a16="http://schemas.microsoft.com/office/drawing/2014/main" val="271046663"/>
                        </a:ext>
                      </a:extLst>
                    </a:gridCol>
                  </a:tblGrid>
                  <a:tr h="476918">
                    <a:tc>
                      <a:txBody>
                        <a:bodyPr/>
                        <a:lstStyle/>
                        <a:p>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80108" t="-2564" r="-666667" b="-512821"/>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61058" t="-2564" r="-496154" b="-512821"/>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27465" t="-2564" r="-142254" b="-512821"/>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310577" t="-2564" r="-94231" b="-512821"/>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438699" t="-2564" r="-685" b="-512821"/>
                          </a:stretch>
                        </a:blipFill>
                      </a:tcPr>
                    </a:tc>
                    <a:extLst>
                      <a:ext uri="{0D108BD9-81ED-4DB2-BD59-A6C34878D82A}">
                        <a16:rowId xmlns:a16="http://schemas.microsoft.com/office/drawing/2014/main" val="1122582420"/>
                      </a:ext>
                    </a:extLst>
                  </a:tr>
                  <a:tr h="1209294">
                    <a:tc>
                      <a:txBody>
                        <a:bodyPr/>
                        <a:lstStyle/>
                        <a:p>
                          <a:pPr algn="ctr"/>
                          <a:r>
                            <a:rPr lang="en-US" sz="2500" dirty="0" smtClean="0"/>
                            <a:t>T1</a:t>
                          </a: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08" t="-20151" r="-666667" b="-756"/>
                          </a:stretch>
                        </a:blipFill>
                      </a:tcPr>
                    </a:tc>
                    <a:tc rowSpan="2">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1058" t="-20151" r="-496154" b="-756"/>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7465" t="-40201" r="-142254" b="-101005"/>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0577" t="-40201" r="-94231" b="-101005"/>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8699" t="-40201" r="-685" b="-101005"/>
                          </a:stretch>
                        </a:blipFill>
                      </a:tcPr>
                    </a:tc>
                    <a:extLst>
                      <a:ext uri="{0D108BD9-81ED-4DB2-BD59-A6C34878D82A}">
                        <a16:rowId xmlns:a16="http://schemas.microsoft.com/office/drawing/2014/main" val="2337361417"/>
                      </a:ext>
                    </a:extLst>
                  </a:tr>
                  <a:tr h="1209294">
                    <a:tc>
                      <a:txBody>
                        <a:bodyPr/>
                        <a:lstStyle/>
                        <a:p>
                          <a:pPr algn="ctr"/>
                          <a:r>
                            <a:rPr lang="en-US" sz="2500" dirty="0" smtClean="0"/>
                            <a:t>T2 (rev)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vMerge="1">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vMerge="1">
                      <a:txBody>
                        <a:bodyPr/>
                        <a:lstStyle/>
                        <a:p>
                          <a:endParaRPr lang="sv-SE"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7465" t="-140909" r="-142254" b="-1515"/>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0577" t="-140909" r="-94231" b="-1515"/>
                          </a:stretch>
                        </a:blipFill>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3335021"/>
                      </a:ext>
                    </a:extLst>
                  </a:tr>
                </a:tbl>
              </a:graphicData>
            </a:graphic>
          </p:graphicFrame>
        </mc:Fallback>
      </mc:AlternateContent>
      <p:pic>
        <p:nvPicPr>
          <p:cNvPr id="5" name="Picture 4"/>
          <p:cNvPicPr>
            <a:picLocks noChangeAspect="1"/>
          </p:cNvPicPr>
          <p:nvPr/>
        </p:nvPicPr>
        <p:blipFill rotWithShape="1">
          <a:blip r:embed="rId3"/>
          <a:srcRect r="80255" b="10137"/>
          <a:stretch/>
        </p:blipFill>
        <p:spPr>
          <a:xfrm>
            <a:off x="0" y="1433513"/>
            <a:ext cx="1974178" cy="2625804"/>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409060" y="4482259"/>
                <a:ext cx="4276725" cy="2308324"/>
              </a:xfrm>
              <a:prstGeom prst="rect">
                <a:avLst/>
              </a:prstGeom>
            </p:spPr>
            <p:txBody>
              <a:bodyPr wrap="square">
                <a:spAutoFit/>
              </a:bodyPr>
              <a:lstStyle/>
              <a:p>
                <a:r>
                  <a:rPr lang="sv-SE" dirty="0" smtClean="0"/>
                  <a:t>FOR </a:t>
                </a:r>
                <a:r>
                  <a:rPr lang="sv-SE" dirty="0"/>
                  <a:t>THE POSITIVE CURRENT </a:t>
                </a:r>
                <a:r>
                  <a:rPr lang="sv-SE" dirty="0" smtClean="0"/>
                  <a:t>HALF-WAVE</a:t>
                </a:r>
                <a:endParaRPr lang="sv-SE" dirty="0" smtClean="0">
                  <a:solidFill>
                    <a:schemeClr val="tx1"/>
                  </a:solidFill>
                </a:endParaRPr>
              </a:p>
              <a:p>
                <a:pPr marL="285750" indent="-285750">
                  <a:buFont typeface="Arial" panose="020B0604020202020204" pitchFamily="34" charset="0"/>
                  <a:buChar char="•"/>
                </a:pPr>
                <a:r>
                  <a:rPr lang="sv-SE" dirty="0" smtClean="0">
                    <a:solidFill>
                      <a:schemeClr val="tx1"/>
                    </a:solidFill>
                  </a:rPr>
                  <a:t>TRANSISTOR BLOCKING VOLTAGE </a:t>
                </a:r>
                <a14:m>
                  <m:oMath xmlns:m="http://schemas.openxmlformats.org/officeDocument/2006/math">
                    <m:sSub>
                      <m:sSubPr>
                        <m:ctrlPr>
                          <a:rPr lang="en-US" b="1" i="1" dirty="0" smtClean="0">
                            <a:solidFill>
                              <a:schemeClr val="tx1"/>
                            </a:solidFill>
                            <a:latin typeface="Cambria Math" panose="02040503050406030204" pitchFamily="18" charset="0"/>
                          </a:rPr>
                        </m:ctrlPr>
                      </m:sSubPr>
                      <m:e>
                        <m:r>
                          <a:rPr lang="sv-SE" b="1" i="1" dirty="0" smtClean="0">
                            <a:solidFill>
                              <a:schemeClr val="tx1"/>
                            </a:solidFill>
                            <a:latin typeface="Cambria Math" panose="02040503050406030204" pitchFamily="18" charset="0"/>
                          </a:rPr>
                          <m:t>𝑼</m:t>
                        </m:r>
                      </m:e>
                      <m:sub>
                        <m:r>
                          <a:rPr lang="en-US" b="1" i="1" dirty="0" smtClean="0">
                            <a:solidFill>
                              <a:schemeClr val="tx1"/>
                            </a:solidFill>
                            <a:latin typeface="Cambria Math" panose="02040503050406030204" pitchFamily="18" charset="0"/>
                          </a:rPr>
                          <m:t>𝒃𝒍</m:t>
                        </m:r>
                      </m:sub>
                    </m:sSub>
                  </m:oMath>
                </a14:m>
                <a:r>
                  <a:rPr lang="sv-SE" dirty="0">
                    <a:solidFill>
                      <a:schemeClr val="tx1"/>
                    </a:solidFill>
                  </a:rPr>
                  <a:t> </a:t>
                </a:r>
                <a:endParaRPr lang="sv-SE" dirty="0" smtClean="0">
                  <a:solidFill>
                    <a:schemeClr val="tx1"/>
                  </a:solidFill>
                </a:endParaRPr>
              </a:p>
              <a:p>
                <a:pPr marL="285750" indent="-285750">
                  <a:buFont typeface="Arial" panose="020B0604020202020204" pitchFamily="34" charset="0"/>
                  <a:buChar char="•"/>
                </a:pPr>
                <a:r>
                  <a:rPr lang="sv-SE" dirty="0" smtClean="0">
                    <a:solidFill>
                      <a:schemeClr val="tx1"/>
                    </a:solidFill>
                  </a:rPr>
                  <a:t>SWITCHING </a:t>
                </a:r>
                <a:r>
                  <a:rPr lang="sv-SE" dirty="0">
                    <a:solidFill>
                      <a:schemeClr val="tx1"/>
                    </a:solidFill>
                  </a:rPr>
                  <a:t>VOLTAGE </a:t>
                </a:r>
                <a14:m>
                  <m:oMath xmlns:m="http://schemas.openxmlformats.org/officeDocument/2006/math">
                    <m:sSub>
                      <m:sSubPr>
                        <m:ctrlPr>
                          <a:rPr lang="en-US" b="1" i="1" dirty="0" smtClean="0">
                            <a:solidFill>
                              <a:schemeClr val="tx1"/>
                            </a:solidFill>
                            <a:latin typeface="Cambria Math" panose="02040503050406030204" pitchFamily="18" charset="0"/>
                          </a:rPr>
                        </m:ctrlPr>
                      </m:sSubPr>
                      <m:e>
                        <m:r>
                          <a:rPr lang="sv-SE" b="1" i="1" dirty="0">
                            <a:solidFill>
                              <a:schemeClr val="tx1"/>
                            </a:solidFill>
                            <a:latin typeface="Cambria Math" panose="02040503050406030204" pitchFamily="18" charset="0"/>
                          </a:rPr>
                          <m:t>𝑼</m:t>
                        </m:r>
                      </m:e>
                      <m:sub>
                        <m:r>
                          <a:rPr lang="en-US" b="1" i="1" dirty="0" smtClean="0">
                            <a:solidFill>
                              <a:schemeClr val="tx1"/>
                            </a:solidFill>
                            <a:latin typeface="Cambria Math" panose="02040503050406030204" pitchFamily="18" charset="0"/>
                          </a:rPr>
                          <m:t>𝒔𝒘</m:t>
                        </m:r>
                      </m:sub>
                    </m:sSub>
                  </m:oMath>
                </a14:m>
                <a:r>
                  <a:rPr lang="sv-SE" dirty="0">
                    <a:solidFill>
                      <a:schemeClr val="tx1"/>
                    </a:solidFill>
                  </a:rPr>
                  <a:t> </a:t>
                </a:r>
                <a:endParaRPr lang="sv-SE" dirty="0" smtClean="0">
                  <a:solidFill>
                    <a:schemeClr val="tx1"/>
                  </a:solidFill>
                </a:endParaRPr>
              </a:p>
              <a:p>
                <a:pPr marL="285750" indent="-285750">
                  <a:buFont typeface="Arial" panose="020B0604020202020204" pitchFamily="34" charset="0"/>
                  <a:buChar char="•"/>
                </a:pPr>
                <a:r>
                  <a:rPr lang="sv-SE" dirty="0" smtClean="0">
                    <a:solidFill>
                      <a:schemeClr val="tx1"/>
                    </a:solidFill>
                  </a:rPr>
                  <a:t>CONDUCTION </a:t>
                </a:r>
                <a:r>
                  <a:rPr lang="sv-SE" dirty="0">
                    <a:solidFill>
                      <a:schemeClr val="tx1"/>
                    </a:solidFill>
                  </a:rPr>
                  <a:t>ANGLES </a:t>
                </a:r>
                <a14:m>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𝜸</m:t>
                        </m:r>
                      </m:e>
                      <m:sub>
                        <m:r>
                          <a:rPr lang="en-US" b="1" i="1">
                            <a:solidFill>
                              <a:schemeClr val="tx1"/>
                            </a:solidFill>
                            <a:latin typeface="Cambria Math" panose="02040503050406030204" pitchFamily="18" charset="0"/>
                          </a:rPr>
                          <m:t>𝟏</m:t>
                        </m:r>
                      </m:sub>
                    </m:sSub>
                  </m:oMath>
                </a14:m>
                <a:r>
                  <a:rPr lang="sv-SE" b="1" dirty="0">
                    <a:solidFill>
                      <a:schemeClr val="tx1"/>
                    </a:solidFill>
                  </a:rPr>
                  <a:t> ,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𝜸</m:t>
                        </m:r>
                      </m:e>
                      <m:sub>
                        <m:r>
                          <a:rPr lang="en-US" b="1" i="1" smtClean="0">
                            <a:solidFill>
                              <a:schemeClr val="tx1"/>
                            </a:solidFill>
                            <a:latin typeface="Cambria Math" panose="02040503050406030204" pitchFamily="18" charset="0"/>
                          </a:rPr>
                          <m:t>𝟐</m:t>
                        </m:r>
                      </m:sub>
                    </m:sSub>
                  </m:oMath>
                </a14:m>
                <a:r>
                  <a:rPr lang="sv-SE" dirty="0">
                    <a:solidFill>
                      <a:schemeClr val="tx1"/>
                    </a:solidFill>
                  </a:rPr>
                  <a:t> </a:t>
                </a:r>
                <a:endParaRPr lang="sv-SE" dirty="0" smtClean="0">
                  <a:solidFill>
                    <a:schemeClr val="tx1"/>
                  </a:solidFill>
                </a:endParaRPr>
              </a:p>
              <a:p>
                <a:pPr marL="285750" indent="-285750">
                  <a:buFont typeface="Arial" panose="020B0604020202020204" pitchFamily="34" charset="0"/>
                  <a:buChar char="•"/>
                </a:pPr>
                <a:r>
                  <a:rPr lang="sv-SE" dirty="0" smtClean="0">
                    <a:solidFill>
                      <a:schemeClr val="tx1"/>
                    </a:solidFill>
                  </a:rPr>
                  <a:t>DUTY RATIO </a:t>
                </a:r>
                <a14:m>
                  <m:oMath xmlns:m="http://schemas.openxmlformats.org/officeDocument/2006/math">
                    <m:r>
                      <a:rPr lang="en-US" b="1" i="1">
                        <a:solidFill>
                          <a:schemeClr val="tx1"/>
                        </a:solidFill>
                        <a:latin typeface="Cambria Math" panose="02040503050406030204" pitchFamily="18" charset="0"/>
                      </a:rPr>
                      <m:t>𝑫</m:t>
                    </m:r>
                    <m:r>
                      <a:rPr lang="en-US" b="1" i="1">
                        <a:solidFill>
                          <a:schemeClr val="tx1"/>
                        </a:solidFill>
                        <a:latin typeface="Cambria Math" panose="02040503050406030204" pitchFamily="18" charset="0"/>
                      </a:rPr>
                      <m:t>(</m:t>
                    </m:r>
                    <m:r>
                      <a:rPr lang="en-US" b="1" i="1">
                        <a:solidFill>
                          <a:schemeClr val="tx1"/>
                        </a:solidFill>
                        <a:latin typeface="Cambria Math" panose="02040503050406030204" pitchFamily="18" charset="0"/>
                      </a:rPr>
                      <m:t>𝜸</m:t>
                    </m:r>
                    <m:r>
                      <a:rPr lang="en-US" b="1" i="1">
                        <a:solidFill>
                          <a:schemeClr val="tx1"/>
                        </a:solidFill>
                        <a:latin typeface="Cambria Math" panose="02040503050406030204" pitchFamily="18" charset="0"/>
                      </a:rPr>
                      <m:t>)</m:t>
                    </m:r>
                  </m:oMath>
                </a14:m>
                <a:r>
                  <a:rPr lang="sv-SE" b="1" dirty="0" smtClean="0">
                    <a:solidFill>
                      <a:schemeClr val="tx1"/>
                    </a:solidFill>
                  </a:rPr>
                  <a:t> </a:t>
                </a:r>
              </a:p>
              <a:p>
                <a:pPr marL="285750" indent="-285750">
                  <a:buFont typeface="Arial" panose="020B0604020202020204" pitchFamily="34" charset="0"/>
                  <a:buChar char="•"/>
                </a:pPr>
                <a:r>
                  <a:rPr lang="sv-SE" dirty="0" smtClean="0">
                    <a:solidFill>
                      <a:schemeClr val="tx1"/>
                    </a:solidFill>
                  </a:rPr>
                  <a:t>AND SWITCHING </a:t>
                </a:r>
                <a:r>
                  <a:rPr lang="sv-SE" dirty="0">
                    <a:solidFill>
                      <a:schemeClr val="tx1"/>
                    </a:solidFill>
                  </a:rPr>
                  <a:t>ANGLES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𝜸</m:t>
                        </m:r>
                      </m:e>
                      <m:sub>
                        <m:r>
                          <a:rPr lang="en-US" b="1" i="1">
                            <a:solidFill>
                              <a:schemeClr val="tx1"/>
                            </a:solidFill>
                            <a:latin typeface="Cambria Math" panose="02040503050406030204" pitchFamily="18" charset="0"/>
                          </a:rPr>
                          <m:t>𝟑</m:t>
                        </m:r>
                      </m:sub>
                    </m:sSub>
                  </m:oMath>
                </a14:m>
                <a:r>
                  <a:rPr lang="sv-SE" b="1" dirty="0" smtClean="0">
                    <a:solidFill>
                      <a:schemeClr val="tx1"/>
                    </a:solidFill>
                  </a:rPr>
                  <a:t>,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 </m:t>
                        </m:r>
                        <m:r>
                          <a:rPr lang="en-US" b="1" i="1">
                            <a:solidFill>
                              <a:schemeClr val="tx1"/>
                            </a:solidFill>
                            <a:latin typeface="Cambria Math" panose="02040503050406030204" pitchFamily="18" charset="0"/>
                          </a:rPr>
                          <m:t>𝜸</m:t>
                        </m:r>
                      </m:e>
                      <m:sub>
                        <m:r>
                          <a:rPr lang="en-US" b="1" i="1">
                            <a:solidFill>
                              <a:schemeClr val="tx1"/>
                            </a:solidFill>
                            <a:latin typeface="Cambria Math" panose="02040503050406030204" pitchFamily="18" charset="0"/>
                          </a:rPr>
                          <m:t>𝟒</m:t>
                        </m:r>
                      </m:sub>
                    </m:sSub>
                  </m:oMath>
                </a14:m>
                <a:endParaRPr lang="en-US" b="1" dirty="0"/>
              </a:p>
              <a:p>
                <a:pPr marL="285750" indent="-285750">
                  <a:buFont typeface="Arial" panose="020B0604020202020204" pitchFamily="34" charset="0"/>
                  <a:buChar char="•"/>
                </a:pPr>
                <a14:m>
                  <m:oMath xmlns:m="http://schemas.openxmlformats.org/officeDocument/2006/math">
                    <m:r>
                      <a:rPr lang="en-US" b="1" i="1">
                        <a:latin typeface="Cambria Math" panose="02040503050406030204" pitchFamily="18" charset="0"/>
                      </a:rPr>
                      <m:t>𝝍</m:t>
                    </m:r>
                  </m:oMath>
                </a14:m>
                <a:r>
                  <a:rPr lang="sv-SE" dirty="0" smtClean="0"/>
                  <a:t> is </a:t>
                </a:r>
                <a:r>
                  <a:rPr lang="sv-SE" dirty="0" err="1" smtClean="0"/>
                  <a:t>phase</a:t>
                </a:r>
                <a:r>
                  <a:rPr lang="sv-SE" dirty="0" smtClean="0"/>
                  <a:t> </a:t>
                </a:r>
                <a:r>
                  <a:rPr lang="sv-SE" dirty="0" err="1" smtClean="0"/>
                  <a:t>angle</a:t>
                </a:r>
                <a:r>
                  <a:rPr lang="sv-SE" dirty="0" smtClean="0"/>
                  <a:t> </a:t>
                </a:r>
                <a:r>
                  <a:rPr lang="sv-SE" dirty="0" err="1" smtClean="0"/>
                  <a:t>where</a:t>
                </a:r>
                <a:r>
                  <a:rPr lang="sv-SE" dirty="0" smtClean="0"/>
                  <a:t> </a:t>
                </a:r>
                <a:r>
                  <a:rPr lang="sv-SE" b="1" dirty="0" smtClean="0"/>
                  <a:t>cos(</a:t>
                </a:r>
                <a14:m>
                  <m:oMath xmlns:m="http://schemas.openxmlformats.org/officeDocument/2006/math">
                    <m:r>
                      <a:rPr lang="en-US" b="1" i="1">
                        <a:latin typeface="Cambria Math" panose="02040503050406030204" pitchFamily="18" charset="0"/>
                      </a:rPr>
                      <m:t>𝝍</m:t>
                    </m:r>
                  </m:oMath>
                </a14:m>
                <a:r>
                  <a:rPr lang="sv-SE" b="1" dirty="0" smtClean="0"/>
                  <a:t>) </a:t>
                </a:r>
                <a:r>
                  <a:rPr lang="sv-SE" dirty="0" smtClean="0"/>
                  <a:t>is </a:t>
                </a:r>
                <a:r>
                  <a:rPr lang="sv-SE" dirty="0" err="1" smtClean="0"/>
                  <a:t>power</a:t>
                </a:r>
                <a:r>
                  <a:rPr lang="sv-SE" dirty="0" smtClean="0"/>
                  <a:t> </a:t>
                </a:r>
                <a:r>
                  <a:rPr lang="sv-SE" dirty="0" err="1" smtClean="0"/>
                  <a:t>factor</a:t>
                </a:r>
                <a:r>
                  <a:rPr lang="sv-SE" dirty="0" smtClean="0"/>
                  <a:t>.</a:t>
                </a:r>
              </a:p>
            </p:txBody>
          </p:sp>
        </mc:Choice>
        <mc:Fallback xmlns="">
          <p:sp>
            <p:nvSpPr>
              <p:cNvPr id="3" name="Rectangle 2"/>
              <p:cNvSpPr>
                <a:spLocks noRot="1" noChangeAspect="1" noMove="1" noResize="1" noEditPoints="1" noAdjustHandles="1" noChangeArrowheads="1" noChangeShapeType="1" noTextEdit="1"/>
              </p:cNvSpPr>
              <p:nvPr/>
            </p:nvSpPr>
            <p:spPr>
              <a:xfrm>
                <a:off x="409060" y="4482259"/>
                <a:ext cx="4276725" cy="2308324"/>
              </a:xfrm>
              <a:prstGeom prst="rect">
                <a:avLst/>
              </a:prstGeom>
              <a:blipFill>
                <a:blip r:embed="rId4"/>
                <a:stretch>
                  <a:fillRect l="-1140" t="-1319" b="-3166"/>
                </a:stretch>
              </a:blipFill>
            </p:spPr>
            <p:txBody>
              <a:bodyPr/>
              <a:lstStyle/>
              <a:p>
                <a:r>
                  <a:rPr lang="sv-SE">
                    <a:noFill/>
                  </a:rPr>
                  <a:t> </a:t>
                </a:r>
              </a:p>
            </p:txBody>
          </p:sp>
        </mc:Fallback>
      </mc:AlternateContent>
      <p:sp>
        <p:nvSpPr>
          <p:cNvPr id="6" name="Rectangle 5"/>
          <p:cNvSpPr/>
          <p:nvPr/>
        </p:nvSpPr>
        <p:spPr>
          <a:xfrm>
            <a:off x="4939870" y="5046038"/>
            <a:ext cx="7153275" cy="923330"/>
          </a:xfrm>
          <a:prstGeom prst="rect">
            <a:avLst/>
          </a:prstGeom>
        </p:spPr>
        <p:txBody>
          <a:bodyPr wrap="square">
            <a:spAutoFit/>
          </a:bodyPr>
          <a:lstStyle/>
          <a:p>
            <a:pPr marL="285750" indent="-285750">
              <a:buFont typeface="Arial" panose="020B0604020202020204" pitchFamily="34" charset="0"/>
              <a:buChar char="•"/>
            </a:pPr>
            <a:r>
              <a:rPr lang="sv-SE" dirty="0"/>
              <a:t>A </a:t>
            </a:r>
            <a:r>
              <a:rPr lang="sv-SE" dirty="0" err="1" smtClean="0"/>
              <a:t>phase</a:t>
            </a:r>
            <a:r>
              <a:rPr lang="sv-SE" dirty="0" smtClean="0"/>
              <a:t> (leg) </a:t>
            </a:r>
            <a:r>
              <a:rPr lang="sv-SE" dirty="0" err="1"/>
              <a:t>of</a:t>
            </a:r>
            <a:r>
              <a:rPr lang="sv-SE" dirty="0"/>
              <a:t> a </a:t>
            </a:r>
            <a:r>
              <a:rPr lang="sv-SE" dirty="0" err="1"/>
              <a:t>conventional</a:t>
            </a:r>
            <a:r>
              <a:rPr lang="sv-SE" dirty="0"/>
              <a:t> </a:t>
            </a:r>
            <a:r>
              <a:rPr lang="sv-SE" dirty="0" smtClean="0"/>
              <a:t>2L </a:t>
            </a:r>
            <a:r>
              <a:rPr lang="sv-SE" dirty="0" err="1"/>
              <a:t>inverter</a:t>
            </a:r>
            <a:r>
              <a:rPr lang="sv-SE" dirty="0"/>
              <a:t> </a:t>
            </a:r>
            <a:r>
              <a:rPr lang="sv-SE" dirty="0" err="1"/>
              <a:t>consists</a:t>
            </a:r>
            <a:r>
              <a:rPr lang="sv-SE" dirty="0"/>
              <a:t> </a:t>
            </a:r>
            <a:r>
              <a:rPr lang="sv-SE" dirty="0" err="1"/>
              <a:t>of</a:t>
            </a:r>
            <a:r>
              <a:rPr lang="sv-SE" dirty="0"/>
              <a:t> </a:t>
            </a:r>
            <a:r>
              <a:rPr lang="sv-SE" dirty="0" err="1" smtClean="0"/>
              <a:t>two</a:t>
            </a:r>
            <a:r>
              <a:rPr lang="sv-SE" dirty="0" smtClean="0"/>
              <a:t> </a:t>
            </a:r>
            <a:r>
              <a:rPr lang="sv-SE" dirty="0"/>
              <a:t>transistors (T1/T2) </a:t>
            </a:r>
            <a:r>
              <a:rPr lang="sv-SE" dirty="0" err="1"/>
              <a:t>that</a:t>
            </a:r>
            <a:r>
              <a:rPr lang="sv-SE" dirty="0"/>
              <a:t> block and switch the full dc-</a:t>
            </a:r>
            <a:r>
              <a:rPr lang="sv-SE" dirty="0" err="1"/>
              <a:t>link</a:t>
            </a:r>
            <a:r>
              <a:rPr lang="sv-SE" dirty="0"/>
              <a:t> </a:t>
            </a:r>
            <a:r>
              <a:rPr lang="sv-SE" dirty="0" err="1" smtClean="0"/>
              <a:t>voltage</a:t>
            </a:r>
            <a:r>
              <a:rPr lang="sv-SE" b="1" dirty="0" smtClean="0"/>
              <a:t>.</a:t>
            </a:r>
          </a:p>
          <a:p>
            <a:pPr marL="285750" indent="-285750">
              <a:buFont typeface="Arial" panose="020B0604020202020204" pitchFamily="34" charset="0"/>
              <a:buChar char="•"/>
            </a:pPr>
            <a:endParaRPr lang="sv-SE" dirty="0"/>
          </a:p>
        </p:txBody>
      </p:sp>
    </p:spTree>
    <p:extLst>
      <p:ext uri="{BB962C8B-B14F-4D97-AF65-F5344CB8AC3E}">
        <p14:creationId xmlns:p14="http://schemas.microsoft.com/office/powerpoint/2010/main" val="11522962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5" y="6074"/>
            <a:ext cx="10515600" cy="1325563"/>
          </a:xfrm>
        </p:spPr>
        <p:txBody>
          <a:bodyPr>
            <a:normAutofit/>
          </a:bodyPr>
          <a:lstStyle/>
          <a:p>
            <a:pPr algn="ctr"/>
            <a:r>
              <a:rPr lang="en-US" sz="3600" dirty="0" smtClean="0">
                <a:solidFill>
                  <a:srgbClr val="C00000"/>
                </a:solidFill>
              </a:rPr>
              <a:t>3L-TT</a:t>
            </a:r>
            <a:endParaRPr lang="sv-SE" sz="3600" dirty="0">
              <a:solidFill>
                <a:srgbClr val="C00000"/>
              </a:solidFill>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nvPr>
            </p:nvGraphicFramePr>
            <p:xfrm>
              <a:off x="2152650" y="1004204"/>
              <a:ext cx="8905874" cy="3919544"/>
            </p:xfrm>
            <a:graphic>
              <a:graphicData uri="http://schemas.openxmlformats.org/drawingml/2006/table">
                <a:tbl>
                  <a:tblPr/>
                  <a:tblGrid>
                    <a:gridCol w="837828">
                      <a:extLst>
                        <a:ext uri="{9D8B030D-6E8A-4147-A177-3AD203B41FA5}">
                          <a16:colId xmlns:a16="http://schemas.microsoft.com/office/drawing/2014/main" val="3761696542"/>
                        </a:ext>
                      </a:extLst>
                    </a:gridCol>
                    <a:gridCol w="1052477">
                      <a:extLst>
                        <a:ext uri="{9D8B030D-6E8A-4147-A177-3AD203B41FA5}">
                          <a16:colId xmlns:a16="http://schemas.microsoft.com/office/drawing/2014/main" val="1021110957"/>
                        </a:ext>
                      </a:extLst>
                    </a:gridCol>
                    <a:gridCol w="1178120">
                      <a:extLst>
                        <a:ext uri="{9D8B030D-6E8A-4147-A177-3AD203B41FA5}">
                          <a16:colId xmlns:a16="http://schemas.microsoft.com/office/drawing/2014/main" val="3731599906"/>
                        </a:ext>
                      </a:extLst>
                    </a:gridCol>
                    <a:gridCol w="2418246">
                      <a:extLst>
                        <a:ext uri="{9D8B030D-6E8A-4147-A177-3AD203B41FA5}">
                          <a16:colId xmlns:a16="http://schemas.microsoft.com/office/drawing/2014/main" val="1982671173"/>
                        </a:ext>
                      </a:extLst>
                    </a:gridCol>
                    <a:gridCol w="1762750">
                      <a:extLst>
                        <a:ext uri="{9D8B030D-6E8A-4147-A177-3AD203B41FA5}">
                          <a16:colId xmlns:a16="http://schemas.microsoft.com/office/drawing/2014/main" val="1361513456"/>
                        </a:ext>
                      </a:extLst>
                    </a:gridCol>
                    <a:gridCol w="1656453">
                      <a:extLst>
                        <a:ext uri="{9D8B030D-6E8A-4147-A177-3AD203B41FA5}">
                          <a16:colId xmlns:a16="http://schemas.microsoft.com/office/drawing/2014/main" val="271046663"/>
                        </a:ext>
                      </a:extLst>
                    </a:gridCol>
                  </a:tblGrid>
                  <a:tr h="346444">
                    <a:tc>
                      <a:txBody>
                        <a:bodyPr/>
                        <a:lstStyle/>
                        <a:p>
                          <a:pPr algn="ct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𝑈</m:t>
                                    </m:r>
                                  </m:e>
                                  <m:sub>
                                    <m:r>
                                      <a:rPr lang="en-US" sz="2500" b="0" i="1" smtClean="0">
                                        <a:solidFill>
                                          <a:srgbClr val="C00000"/>
                                        </a:solidFill>
                                        <a:latin typeface="Cambria Math" panose="02040503050406030204" pitchFamily="18" charset="0"/>
                                      </a:rPr>
                                      <m:t>𝑏𝑙</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i="1" smtClean="0">
                                        <a:solidFill>
                                          <a:srgbClr val="C00000"/>
                                        </a:solidFill>
                                        <a:latin typeface="Cambria Math" panose="02040503050406030204" pitchFamily="18" charset="0"/>
                                      </a:rPr>
                                    </m:ctrlPr>
                                  </m:sSubPr>
                                  <m:e>
                                    <m:r>
                                      <a:rPr lang="en-US" sz="2500" i="1">
                                        <a:solidFill>
                                          <a:srgbClr val="C00000"/>
                                        </a:solidFill>
                                        <a:latin typeface="Cambria Math" panose="02040503050406030204" pitchFamily="18" charset="0"/>
                                      </a:rPr>
                                      <m:t>𝑈</m:t>
                                    </m:r>
                                  </m:e>
                                  <m:sub>
                                    <m:r>
                                      <a:rPr lang="en-US" sz="2500" b="0" i="1" smtClean="0">
                                        <a:solidFill>
                                          <a:srgbClr val="C00000"/>
                                        </a:solidFill>
                                        <a:latin typeface="Cambria Math" panose="02040503050406030204" pitchFamily="18" charset="0"/>
                                      </a:rPr>
                                      <m:t>𝑠𝑤</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1</m:t>
                                    </m:r>
                                  </m:sub>
                                </m:sSub>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𝑡𝑜</m:t>
                                </m:r>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2</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rgbClr val="C00000"/>
                                    </a:solidFill>
                                    <a:latin typeface="Cambria Math" panose="02040503050406030204" pitchFamily="18" charset="0"/>
                                  </a:rPr>
                                  <m:t>𝐷</m:t>
                                </m:r>
                                <m:r>
                                  <a:rPr lang="en-US" sz="2500" b="0" i="1" smtClean="0">
                                    <a:solidFill>
                                      <a:srgbClr val="C00000"/>
                                    </a:solidFill>
                                    <a:latin typeface="Cambria Math" panose="02040503050406030204" pitchFamily="18" charset="0"/>
                                  </a:rPr>
                                  <m:t>(</m:t>
                                </m:r>
                                <m:r>
                                  <a:rPr lang="en-US" sz="2500" b="0" i="1" smtClean="0">
                                    <a:solidFill>
                                      <a:srgbClr val="C00000"/>
                                    </a:solidFill>
                                    <a:latin typeface="Cambria Math" panose="02040503050406030204" pitchFamily="18" charset="0"/>
                                  </a:rPr>
                                  <m:t>𝛾</m:t>
                                </m:r>
                                <m:r>
                                  <a:rPr lang="en-US" sz="2500" b="0" i="1" smtClean="0">
                                    <a:solidFill>
                                      <a:srgbClr val="C00000"/>
                                    </a:solidFill>
                                    <a:latin typeface="Cambria Math" panose="02040503050406030204" pitchFamily="18" charset="0"/>
                                  </a:rPr>
                                  <m:t>)</m:t>
                                </m:r>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3</m:t>
                                    </m:r>
                                  </m:sub>
                                </m:sSub>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𝑡𝑜</m:t>
                                </m:r>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4</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582420"/>
                      </a:ext>
                    </a:extLst>
                  </a:tr>
                  <a:tr h="828406">
                    <a:tc>
                      <a:txBody>
                        <a:bodyPr/>
                        <a:lstStyle/>
                        <a:p>
                          <a:pPr algn="ctr"/>
                          <a:r>
                            <a:rPr lang="en-US" sz="2500" dirty="0" smtClean="0"/>
                            <a:t>T1</a:t>
                          </a: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chemeClr val="tx1"/>
                                        </a:solidFill>
                                        <a:latin typeface="Cambria Math" panose="02040503050406030204" pitchFamily="18" charset="0"/>
                                      </a:rPr>
                                    </m:ctrlPr>
                                  </m:sSubPr>
                                  <m:e>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4">
                      <a:txBody>
                        <a:bodyPr/>
                        <a:lstStyle/>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500" b="0" i="1" smtClean="0">
                                        <a:solidFill>
                                          <a:schemeClr val="tx1"/>
                                        </a:solidFill>
                                        <a:latin typeface="Cambria Math" panose="02040503050406030204" pitchFamily="18" charset="0"/>
                                      </a:rPr>
                                    </m:ctrlPr>
                                  </m:sSubPr>
                                  <m:e>
                                    <m:f>
                                      <m:fPr>
                                        <m:ctrlPr>
                                          <a:rPr lang="en-US" sz="2500" b="0" i="1" smtClean="0">
                                            <a:solidFill>
                                              <a:schemeClr val="tx1"/>
                                            </a:solidFill>
                                            <a:latin typeface="Cambria Math" panose="02040503050406030204" pitchFamily="18" charset="0"/>
                                          </a:rPr>
                                        </m:ctrlPr>
                                      </m:fPr>
                                      <m:num>
                                        <m:r>
                                          <a:rPr lang="en-US" sz="2500" b="0" i="1" smtClean="0">
                                            <a:solidFill>
                                              <a:schemeClr val="tx1"/>
                                            </a:solidFill>
                                            <a:latin typeface="Cambria Math" panose="02040503050406030204" pitchFamily="18" charset="0"/>
                                          </a:rPr>
                                          <m:t>1</m:t>
                                        </m:r>
                                      </m:num>
                                      <m:den>
                                        <m:r>
                                          <a:rPr lang="en-US" sz="2500" b="0" i="1" smtClean="0">
                                            <a:solidFill>
                                              <a:schemeClr val="tx1"/>
                                            </a:solidFill>
                                            <a:latin typeface="Cambria Math" panose="02040503050406030204" pitchFamily="18" charset="0"/>
                                          </a:rPr>
                                          <m:t>2</m:t>
                                        </m:r>
                                      </m:den>
                                    </m:f>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p>
                          <a:pPr algn="ctr"/>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7361417"/>
                      </a:ext>
                    </a:extLst>
                  </a:tr>
                  <a:tr h="886784">
                    <a:tc>
                      <a:txBody>
                        <a:bodyPr/>
                        <a:lstStyle/>
                        <a:p>
                          <a:pPr algn="ctr"/>
                          <a:r>
                            <a:rPr lang="en-US" sz="2500" dirty="0" smtClean="0"/>
                            <a:t>T2</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endParaRPr lang="en-US" sz="2500" b="0"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500" b="0" i="1" smtClean="0">
                                        <a:solidFill>
                                          <a:schemeClr val="tx1"/>
                                        </a:solidFill>
                                        <a:latin typeface="Cambria Math" panose="02040503050406030204" pitchFamily="18" charset="0"/>
                                      </a:rPr>
                                    </m:ctrlPr>
                                  </m:sSubPr>
                                  <m:e>
                                    <m:f>
                                      <m:fPr>
                                        <m:ctrlPr>
                                          <a:rPr lang="en-US" sz="2500" b="0" i="1" smtClean="0">
                                            <a:solidFill>
                                              <a:schemeClr val="tx1"/>
                                            </a:solidFill>
                                            <a:latin typeface="Cambria Math" panose="02040503050406030204" pitchFamily="18" charset="0"/>
                                          </a:rPr>
                                        </m:ctrlPr>
                                      </m:fPr>
                                      <m:num>
                                        <m:r>
                                          <a:rPr lang="en-US" sz="2500" b="0" i="1" smtClean="0">
                                            <a:solidFill>
                                              <a:schemeClr val="tx1"/>
                                            </a:solidFill>
                                            <a:latin typeface="Cambria Math" panose="02040503050406030204" pitchFamily="18" charset="0"/>
                                          </a:rPr>
                                          <m:t>1</m:t>
                                        </m:r>
                                      </m:num>
                                      <m:den>
                                        <m:r>
                                          <a:rPr lang="en-US" sz="2500" b="0" i="1" smtClean="0">
                                            <a:solidFill>
                                              <a:schemeClr val="tx1"/>
                                            </a:solidFill>
                                            <a:latin typeface="Cambria Math" panose="02040503050406030204" pitchFamily="18" charset="0"/>
                                          </a:rPr>
                                          <m:t>2</m:t>
                                        </m:r>
                                      </m:den>
                                    </m:f>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𝜓</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3335021"/>
                      </a:ext>
                    </a:extLst>
                  </a:tr>
                  <a:tr h="762401">
                    <a:tc>
                      <a:txBody>
                        <a:bodyPr/>
                        <a:lstStyle/>
                        <a:p>
                          <a:pPr algn="ctr"/>
                          <a:r>
                            <a:rPr lang="en-US" sz="2500" dirty="0" smtClean="0"/>
                            <a:t>T3</a:t>
                          </a:r>
                          <a:r>
                            <a:rPr lang="en-US" sz="2500" baseline="0" dirty="0" smtClean="0"/>
                            <a:t> (rev)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3484046"/>
                      </a:ext>
                    </a:extLst>
                  </a:tr>
                  <a:tr h="762401">
                    <a:tc>
                      <a:txBody>
                        <a:bodyPr/>
                        <a:lstStyle/>
                        <a:p>
                          <a:pPr algn="ctr"/>
                          <a:r>
                            <a:rPr lang="en-US" sz="2500" dirty="0" smtClean="0"/>
                            <a:t>T4</a:t>
                          </a:r>
                        </a:p>
                        <a:p>
                          <a:pPr algn="ctr"/>
                          <a:r>
                            <a:rPr lang="en-US" sz="2500" dirty="0" smtClean="0"/>
                            <a:t>(rev)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chemeClr val="tx1"/>
                                        </a:solidFill>
                                        <a:latin typeface="Cambria Math" panose="02040503050406030204" pitchFamily="18" charset="0"/>
                                      </a:rPr>
                                    </m:ctrlPr>
                                  </m:sSubPr>
                                  <m:e>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181547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422726962"/>
                  </p:ext>
                </p:extLst>
              </p:nvPr>
            </p:nvGraphicFramePr>
            <p:xfrm>
              <a:off x="2152650" y="1004204"/>
              <a:ext cx="8905874" cy="3919544"/>
            </p:xfrm>
            <a:graphic>
              <a:graphicData uri="http://schemas.openxmlformats.org/drawingml/2006/table">
                <a:tbl>
                  <a:tblPr/>
                  <a:tblGrid>
                    <a:gridCol w="837828">
                      <a:extLst>
                        <a:ext uri="{9D8B030D-6E8A-4147-A177-3AD203B41FA5}">
                          <a16:colId xmlns:a16="http://schemas.microsoft.com/office/drawing/2014/main" val="3761696542"/>
                        </a:ext>
                      </a:extLst>
                    </a:gridCol>
                    <a:gridCol w="1052477">
                      <a:extLst>
                        <a:ext uri="{9D8B030D-6E8A-4147-A177-3AD203B41FA5}">
                          <a16:colId xmlns:a16="http://schemas.microsoft.com/office/drawing/2014/main" val="1021110957"/>
                        </a:ext>
                      </a:extLst>
                    </a:gridCol>
                    <a:gridCol w="1178120">
                      <a:extLst>
                        <a:ext uri="{9D8B030D-6E8A-4147-A177-3AD203B41FA5}">
                          <a16:colId xmlns:a16="http://schemas.microsoft.com/office/drawing/2014/main" val="3731599906"/>
                        </a:ext>
                      </a:extLst>
                    </a:gridCol>
                    <a:gridCol w="2418246">
                      <a:extLst>
                        <a:ext uri="{9D8B030D-6E8A-4147-A177-3AD203B41FA5}">
                          <a16:colId xmlns:a16="http://schemas.microsoft.com/office/drawing/2014/main" val="1982671173"/>
                        </a:ext>
                      </a:extLst>
                    </a:gridCol>
                    <a:gridCol w="1762750">
                      <a:extLst>
                        <a:ext uri="{9D8B030D-6E8A-4147-A177-3AD203B41FA5}">
                          <a16:colId xmlns:a16="http://schemas.microsoft.com/office/drawing/2014/main" val="1361513456"/>
                        </a:ext>
                      </a:extLst>
                    </a:gridCol>
                    <a:gridCol w="1656453">
                      <a:extLst>
                        <a:ext uri="{9D8B030D-6E8A-4147-A177-3AD203B41FA5}">
                          <a16:colId xmlns:a16="http://schemas.microsoft.com/office/drawing/2014/main" val="271046663"/>
                        </a:ext>
                      </a:extLst>
                    </a:gridCol>
                  </a:tblGrid>
                  <a:tr h="472440">
                    <a:tc>
                      <a:txBody>
                        <a:bodyPr/>
                        <a:lstStyle/>
                        <a:p>
                          <a:pPr algn="ct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80814" t="-1282" r="-670930" b="-75641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60309" t="-1282" r="-494845" b="-75641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27204" t="-1282" r="-141814" b="-75641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312111" t="-1282" r="-94810" b="-75641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437868" t="-1282" r="-735" b="-756410"/>
                          </a:stretch>
                        </a:blipFill>
                      </a:tcPr>
                    </a:tc>
                    <a:extLst>
                      <a:ext uri="{0D108BD9-81ED-4DB2-BD59-A6C34878D82A}">
                        <a16:rowId xmlns:a16="http://schemas.microsoft.com/office/drawing/2014/main" val="1122582420"/>
                      </a:ext>
                    </a:extLst>
                  </a:tr>
                  <a:tr h="853440">
                    <a:tc>
                      <a:txBody>
                        <a:bodyPr/>
                        <a:lstStyle/>
                        <a:p>
                          <a:pPr algn="ctr"/>
                          <a:r>
                            <a:rPr lang="en-US" sz="2500" dirty="0" smtClean="0"/>
                            <a:t>T1</a:t>
                          </a: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814" t="-56429" r="-670930" b="-321429"/>
                          </a:stretch>
                        </a:blipFill>
                      </a:tcPr>
                    </a:tc>
                    <a:tc rowSpan="4">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0309" t="-13958" r="-494845" b="-4240"/>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7204" t="-56429" r="-141814" b="-321429"/>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2111" t="-56429" r="-94810" b="-321429"/>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7868" t="-56429" r="-735" b="-321429"/>
                          </a:stretch>
                        </a:blipFill>
                      </a:tcPr>
                    </a:tc>
                    <a:extLst>
                      <a:ext uri="{0D108BD9-81ED-4DB2-BD59-A6C34878D82A}">
                        <a16:rowId xmlns:a16="http://schemas.microsoft.com/office/drawing/2014/main" val="2337361417"/>
                      </a:ext>
                    </a:extLst>
                  </a:tr>
                  <a:tr h="886784">
                    <a:tc>
                      <a:txBody>
                        <a:bodyPr/>
                        <a:lstStyle/>
                        <a:p>
                          <a:pPr algn="ctr"/>
                          <a:r>
                            <a:rPr lang="en-US" sz="2500" dirty="0" smtClean="0"/>
                            <a:t>T2</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814" t="-76573" r="-670930" b="-57343"/>
                          </a:stretch>
                        </a:blipFill>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7204" t="-150000" r="-141814" b="-208219"/>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2111" t="-150000" r="-94810" b="-208219"/>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7868" t="-150000" r="-735" b="-208219"/>
                          </a:stretch>
                        </a:blipFill>
                      </a:tcPr>
                    </a:tc>
                    <a:extLst>
                      <a:ext uri="{0D108BD9-81ED-4DB2-BD59-A6C34878D82A}">
                        <a16:rowId xmlns:a16="http://schemas.microsoft.com/office/drawing/2014/main" val="973335021"/>
                      </a:ext>
                    </a:extLst>
                  </a:tr>
                  <a:tr h="853440">
                    <a:tc>
                      <a:txBody>
                        <a:bodyPr/>
                        <a:lstStyle/>
                        <a:p>
                          <a:pPr algn="ctr"/>
                          <a:r>
                            <a:rPr lang="en-US" sz="2500" dirty="0" smtClean="0"/>
                            <a:t>T3</a:t>
                          </a:r>
                          <a:r>
                            <a:rPr lang="en-US" sz="2500" baseline="0" dirty="0" smtClean="0"/>
                            <a:t> (rev)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7204" t="-260714" r="-141814" b="-117143"/>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2111" t="-260714" r="-94810" b="-117143"/>
                          </a:stretch>
                        </a:blipFill>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3484046"/>
                      </a:ext>
                    </a:extLst>
                  </a:tr>
                  <a:tr h="853440">
                    <a:tc>
                      <a:txBody>
                        <a:bodyPr/>
                        <a:lstStyle/>
                        <a:p>
                          <a:pPr algn="ctr"/>
                          <a:r>
                            <a:rPr lang="en-US" sz="2500" dirty="0" smtClean="0"/>
                            <a:t>T4</a:t>
                          </a:r>
                        </a:p>
                        <a:p>
                          <a:pPr algn="ctr"/>
                          <a:r>
                            <a:rPr lang="en-US" sz="2500" dirty="0" smtClean="0"/>
                            <a:t>(rev)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814" t="-360714" r="-670930" b="-17143"/>
                          </a:stretch>
                        </a:blipFill>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7204" t="-360714" r="-141814" b="-17143"/>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2111" t="-360714" r="-94810" b="-17143"/>
                          </a:stretch>
                        </a:blipFill>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1815473"/>
                      </a:ext>
                    </a:extLst>
                  </a:tr>
                </a:tbl>
              </a:graphicData>
            </a:graphic>
          </p:graphicFrame>
        </mc:Fallback>
      </mc:AlternateContent>
      <p:sp>
        <p:nvSpPr>
          <p:cNvPr id="6" name="Rectangle 5"/>
          <p:cNvSpPr/>
          <p:nvPr/>
        </p:nvSpPr>
        <p:spPr>
          <a:xfrm>
            <a:off x="409575" y="5092601"/>
            <a:ext cx="11610975" cy="1200329"/>
          </a:xfrm>
          <a:prstGeom prst="rect">
            <a:avLst/>
          </a:prstGeom>
        </p:spPr>
        <p:txBody>
          <a:bodyPr wrap="square">
            <a:spAutoFit/>
          </a:bodyPr>
          <a:lstStyle/>
          <a:p>
            <a:pPr marL="285750" indent="-285750">
              <a:buFont typeface="Arial" panose="020B0604020202020204" pitchFamily="34" charset="0"/>
              <a:buChar char="•"/>
            </a:pPr>
            <a:r>
              <a:rPr lang="en-US" dirty="0" smtClean="0"/>
              <a:t>The </a:t>
            </a:r>
            <a:r>
              <a:rPr lang="en-US" dirty="0"/>
              <a:t>neutral point </a:t>
            </a:r>
            <a:r>
              <a:rPr lang="en-US" dirty="0" smtClean="0"/>
              <a:t>of </a:t>
            </a:r>
            <a:r>
              <a:rPr lang="en-US" dirty="0"/>
              <a:t>the three-level T-type inverter is connected via an active </a:t>
            </a:r>
            <a:r>
              <a:rPr lang="en-US" dirty="0" smtClean="0"/>
              <a:t>bidirectional </a:t>
            </a:r>
            <a:r>
              <a:rPr lang="en-US" dirty="0"/>
              <a:t>switch (T2/T3) which blocks and switches half </a:t>
            </a:r>
            <a:r>
              <a:rPr lang="en-US" dirty="0" smtClean="0"/>
              <a:t>of </a:t>
            </a:r>
            <a:r>
              <a:rPr lang="en-US" dirty="0"/>
              <a:t>the dc-link voltage</a:t>
            </a:r>
            <a:r>
              <a:rPr lang="en-US" dirty="0" smtClean="0"/>
              <a:t>.</a:t>
            </a:r>
          </a:p>
          <a:p>
            <a:pPr marL="285750" indent="-285750">
              <a:buFont typeface="Arial" panose="020B0604020202020204" pitchFamily="34" charset="0"/>
              <a:buChar char="•"/>
            </a:pPr>
            <a:r>
              <a:rPr lang="en-US" dirty="0" smtClean="0"/>
              <a:t>However</a:t>
            </a:r>
            <a:r>
              <a:rPr lang="en-US" dirty="0"/>
              <a:t>, the outer transistors (T1/T4) </a:t>
            </a:r>
            <a:r>
              <a:rPr lang="en-US" dirty="0" smtClean="0"/>
              <a:t>block </a:t>
            </a:r>
            <a:r>
              <a:rPr lang="en-US" dirty="0"/>
              <a:t>the full dc-link voltage, whereas half of the dc-link </a:t>
            </a:r>
            <a:r>
              <a:rPr lang="en-US" dirty="0" smtClean="0"/>
              <a:t>voltage </a:t>
            </a:r>
            <a:r>
              <a:rPr lang="en-US" dirty="0"/>
              <a:t>is applied during the switching process.</a:t>
            </a:r>
            <a:endParaRPr lang="sv-SE" dirty="0"/>
          </a:p>
        </p:txBody>
      </p:sp>
      <p:pic>
        <p:nvPicPr>
          <p:cNvPr id="7" name="Picture 6"/>
          <p:cNvPicPr>
            <a:picLocks noChangeAspect="1"/>
          </p:cNvPicPr>
          <p:nvPr/>
        </p:nvPicPr>
        <p:blipFill rotWithShape="1">
          <a:blip r:embed="rId3"/>
          <a:srcRect l="19434" r="60180" b="10137"/>
          <a:stretch/>
        </p:blipFill>
        <p:spPr>
          <a:xfrm>
            <a:off x="66675" y="1590675"/>
            <a:ext cx="1843185" cy="2374392"/>
          </a:xfrm>
          <a:prstGeom prst="rect">
            <a:avLst/>
          </a:prstGeom>
        </p:spPr>
      </p:pic>
    </p:spTree>
    <p:extLst>
      <p:ext uri="{BB962C8B-B14F-4D97-AF65-F5344CB8AC3E}">
        <p14:creationId xmlns:p14="http://schemas.microsoft.com/office/powerpoint/2010/main" val="6925815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4" y="183570"/>
            <a:ext cx="10515600" cy="605481"/>
          </a:xfrm>
        </p:spPr>
        <p:txBody>
          <a:bodyPr>
            <a:normAutofit/>
          </a:bodyPr>
          <a:lstStyle/>
          <a:p>
            <a:pPr algn="ctr"/>
            <a:r>
              <a:rPr lang="en-US" sz="3600" dirty="0" smtClean="0">
                <a:solidFill>
                  <a:srgbClr val="C00000"/>
                </a:solidFill>
              </a:rPr>
              <a:t>3L-NPC</a:t>
            </a:r>
            <a:endParaRPr lang="sv-SE" sz="3600" dirty="0">
              <a:solidFill>
                <a:srgbClr val="C00000"/>
              </a:solidFill>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nvPr>
            </p:nvGraphicFramePr>
            <p:xfrm>
              <a:off x="1947684" y="893078"/>
              <a:ext cx="10139543" cy="5024253"/>
            </p:xfrm>
            <a:graphic>
              <a:graphicData uri="http://schemas.openxmlformats.org/drawingml/2006/table">
                <a:tbl>
                  <a:tblPr/>
                  <a:tblGrid>
                    <a:gridCol w="1254292">
                      <a:extLst>
                        <a:ext uri="{9D8B030D-6E8A-4147-A177-3AD203B41FA5}">
                          <a16:colId xmlns:a16="http://schemas.microsoft.com/office/drawing/2014/main" val="3761696542"/>
                        </a:ext>
                      </a:extLst>
                    </a:gridCol>
                    <a:gridCol w="897864">
                      <a:extLst>
                        <a:ext uri="{9D8B030D-6E8A-4147-A177-3AD203B41FA5}">
                          <a16:colId xmlns:a16="http://schemas.microsoft.com/office/drawing/2014/main" val="1021110957"/>
                        </a:ext>
                      </a:extLst>
                    </a:gridCol>
                    <a:gridCol w="1341317">
                      <a:extLst>
                        <a:ext uri="{9D8B030D-6E8A-4147-A177-3AD203B41FA5}">
                          <a16:colId xmlns:a16="http://schemas.microsoft.com/office/drawing/2014/main" val="3731599906"/>
                        </a:ext>
                      </a:extLst>
                    </a:gridCol>
                    <a:gridCol w="2753229">
                      <a:extLst>
                        <a:ext uri="{9D8B030D-6E8A-4147-A177-3AD203B41FA5}">
                          <a16:colId xmlns:a16="http://schemas.microsoft.com/office/drawing/2014/main" val="1982671173"/>
                        </a:ext>
                      </a:extLst>
                    </a:gridCol>
                    <a:gridCol w="2006932">
                      <a:extLst>
                        <a:ext uri="{9D8B030D-6E8A-4147-A177-3AD203B41FA5}">
                          <a16:colId xmlns:a16="http://schemas.microsoft.com/office/drawing/2014/main" val="1361513456"/>
                        </a:ext>
                      </a:extLst>
                    </a:gridCol>
                    <a:gridCol w="1885909">
                      <a:extLst>
                        <a:ext uri="{9D8B030D-6E8A-4147-A177-3AD203B41FA5}">
                          <a16:colId xmlns:a16="http://schemas.microsoft.com/office/drawing/2014/main" val="271046663"/>
                        </a:ext>
                      </a:extLst>
                    </a:gridCol>
                  </a:tblGrid>
                  <a:tr h="0">
                    <a:tc>
                      <a:txBody>
                        <a:bodyPr/>
                        <a:lstStyle/>
                        <a:p>
                          <a:pPr algn="ct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𝑈</m:t>
                                    </m:r>
                                  </m:e>
                                  <m:sub>
                                    <m:r>
                                      <a:rPr lang="en-US" sz="2500" b="0" i="1" smtClean="0">
                                        <a:solidFill>
                                          <a:srgbClr val="C00000"/>
                                        </a:solidFill>
                                        <a:latin typeface="Cambria Math" panose="02040503050406030204" pitchFamily="18" charset="0"/>
                                      </a:rPr>
                                      <m:t>𝑏𝑙</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i="1" smtClean="0">
                                        <a:solidFill>
                                          <a:srgbClr val="C00000"/>
                                        </a:solidFill>
                                        <a:latin typeface="Cambria Math" panose="02040503050406030204" pitchFamily="18" charset="0"/>
                                      </a:rPr>
                                    </m:ctrlPr>
                                  </m:sSubPr>
                                  <m:e>
                                    <m:r>
                                      <a:rPr lang="en-US" sz="2500" i="1">
                                        <a:solidFill>
                                          <a:srgbClr val="C00000"/>
                                        </a:solidFill>
                                        <a:latin typeface="Cambria Math" panose="02040503050406030204" pitchFamily="18" charset="0"/>
                                      </a:rPr>
                                      <m:t>𝑈</m:t>
                                    </m:r>
                                  </m:e>
                                  <m:sub>
                                    <m:r>
                                      <a:rPr lang="en-US" sz="2500" b="0" i="1" smtClean="0">
                                        <a:solidFill>
                                          <a:srgbClr val="C00000"/>
                                        </a:solidFill>
                                        <a:latin typeface="Cambria Math" panose="02040503050406030204" pitchFamily="18" charset="0"/>
                                      </a:rPr>
                                      <m:t>𝑠𝑤</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1</m:t>
                                    </m:r>
                                  </m:sub>
                                </m:sSub>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𝑡𝑜</m:t>
                                </m:r>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2</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rgbClr val="C00000"/>
                                    </a:solidFill>
                                    <a:latin typeface="Cambria Math" panose="02040503050406030204" pitchFamily="18" charset="0"/>
                                  </a:rPr>
                                  <m:t>𝐷</m:t>
                                </m:r>
                                <m:r>
                                  <a:rPr lang="en-US" sz="2500" b="0" i="1" smtClean="0">
                                    <a:solidFill>
                                      <a:srgbClr val="C00000"/>
                                    </a:solidFill>
                                    <a:latin typeface="Cambria Math" panose="02040503050406030204" pitchFamily="18" charset="0"/>
                                  </a:rPr>
                                  <m:t>(</m:t>
                                </m:r>
                                <m:r>
                                  <a:rPr lang="en-US" sz="2500" b="0" i="1" smtClean="0">
                                    <a:solidFill>
                                      <a:srgbClr val="C00000"/>
                                    </a:solidFill>
                                    <a:latin typeface="Cambria Math" panose="02040503050406030204" pitchFamily="18" charset="0"/>
                                  </a:rPr>
                                  <m:t>𝛾</m:t>
                                </m:r>
                                <m:r>
                                  <a:rPr lang="en-US" sz="2500" b="0" i="1" smtClean="0">
                                    <a:solidFill>
                                      <a:srgbClr val="C00000"/>
                                    </a:solidFill>
                                    <a:latin typeface="Cambria Math" panose="02040503050406030204" pitchFamily="18" charset="0"/>
                                  </a:rPr>
                                  <m:t>)</m:t>
                                </m:r>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3</m:t>
                                    </m:r>
                                  </m:sub>
                                </m:sSub>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𝑡𝑜</m:t>
                                </m:r>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4</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582420"/>
                      </a:ext>
                    </a:extLst>
                  </a:tr>
                  <a:tr h="701407">
                    <a:tc>
                      <a:txBody>
                        <a:bodyPr/>
                        <a:lstStyle/>
                        <a:p>
                          <a:pPr algn="ctr"/>
                          <a:r>
                            <a:rPr lang="en-US" sz="2500" dirty="0" smtClean="0"/>
                            <a:t>T1</a:t>
                          </a: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6">
                      <a:txBody>
                        <a:bodyPr/>
                        <a:lstStyle/>
                        <a:p>
                          <a:pPr algn="ctr"/>
                          <a:endParaRPr lang="en-US" sz="2500" dirty="0" smtClean="0">
                            <a:solidFill>
                              <a:schemeClr val="tx1"/>
                            </a:solidFill>
                          </a:endParaRPr>
                        </a:p>
                        <a:p>
                          <a:pPr algn="ctr"/>
                          <a:endParaRPr lang="en-US" sz="2500" dirty="0" smtClean="0">
                            <a:solidFill>
                              <a:schemeClr val="tx1"/>
                            </a:solidFill>
                          </a:endParaRPr>
                        </a:p>
                        <a:p>
                          <a:pPr algn="ctr"/>
                          <a:endParaRPr lang="en-US" sz="2500" dirty="0" smtClean="0">
                            <a:solidFill>
                              <a:schemeClr val="tx1"/>
                            </a:solidFill>
                          </a:endParaRPr>
                        </a:p>
                        <a:p>
                          <a:pPr algn="ctr"/>
                          <a:endParaRPr lang="sv-SE" sz="2500" dirty="0">
                            <a:solidFill>
                              <a:schemeClr val="tx1"/>
                            </a:solidFill>
                          </a:endParaRPr>
                        </a:p>
                        <a:p>
                          <a:pPr algn="ctr"/>
                          <a:endParaRPr lang="en-US" sz="2500" b="0"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500" b="0" i="1" smtClean="0">
                                        <a:solidFill>
                                          <a:schemeClr val="tx1"/>
                                        </a:solidFill>
                                        <a:latin typeface="Cambria Math" panose="02040503050406030204" pitchFamily="18" charset="0"/>
                                      </a:rPr>
                                    </m:ctrlPr>
                                  </m:sSubPr>
                                  <m:e>
                                    <m:f>
                                      <m:fPr>
                                        <m:ctrlPr>
                                          <a:rPr lang="en-US" sz="2500" b="0" i="1" smtClean="0">
                                            <a:solidFill>
                                              <a:schemeClr val="tx1"/>
                                            </a:solidFill>
                                            <a:latin typeface="Cambria Math" panose="02040503050406030204" pitchFamily="18" charset="0"/>
                                          </a:rPr>
                                        </m:ctrlPr>
                                      </m:fPr>
                                      <m:num>
                                        <m:r>
                                          <a:rPr lang="en-US" sz="2500" b="0" i="1" smtClean="0">
                                            <a:solidFill>
                                              <a:schemeClr val="tx1"/>
                                            </a:solidFill>
                                            <a:latin typeface="Cambria Math" panose="02040503050406030204" pitchFamily="18" charset="0"/>
                                          </a:rPr>
                                          <m:t>1</m:t>
                                        </m:r>
                                      </m:num>
                                      <m:den>
                                        <m:r>
                                          <a:rPr lang="en-US" sz="2500" b="0" i="1" smtClean="0">
                                            <a:solidFill>
                                              <a:schemeClr val="tx1"/>
                                            </a:solidFill>
                                            <a:latin typeface="Cambria Math" panose="02040503050406030204" pitchFamily="18" charset="0"/>
                                          </a:rPr>
                                          <m:t>2</m:t>
                                        </m:r>
                                      </m:den>
                                    </m:f>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oMath>
                            </m:oMathPara>
                          </a14:m>
                          <a:endParaRPr lang="sv-SE" sz="2500" dirty="0">
                            <a:solidFill>
                              <a:schemeClr val="tx1"/>
                            </a:solidFill>
                          </a:endParaRPr>
                        </a:p>
                        <a:p>
                          <a:pPr algn="ctr"/>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6">
                      <a:txBody>
                        <a:bodyPr/>
                        <a:lstStyle/>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500" b="0" i="1" smtClean="0">
                                        <a:solidFill>
                                          <a:schemeClr val="tx1"/>
                                        </a:solidFill>
                                        <a:latin typeface="Cambria Math" panose="02040503050406030204" pitchFamily="18" charset="0"/>
                                      </a:rPr>
                                    </m:ctrlPr>
                                  </m:sSubPr>
                                  <m:e>
                                    <m:f>
                                      <m:fPr>
                                        <m:ctrlPr>
                                          <a:rPr lang="en-US" sz="2500" b="0" i="1" smtClean="0">
                                            <a:solidFill>
                                              <a:schemeClr val="tx1"/>
                                            </a:solidFill>
                                            <a:latin typeface="Cambria Math" panose="02040503050406030204" pitchFamily="18" charset="0"/>
                                          </a:rPr>
                                        </m:ctrlPr>
                                      </m:fPr>
                                      <m:num>
                                        <m:r>
                                          <a:rPr lang="en-US" sz="2500" b="0" i="1" smtClean="0">
                                            <a:solidFill>
                                              <a:schemeClr val="tx1"/>
                                            </a:solidFill>
                                            <a:latin typeface="Cambria Math" panose="02040503050406030204" pitchFamily="18" charset="0"/>
                                          </a:rPr>
                                          <m:t>1</m:t>
                                        </m:r>
                                      </m:num>
                                      <m:den>
                                        <m:r>
                                          <a:rPr lang="en-US" sz="2500" b="0" i="1" smtClean="0">
                                            <a:solidFill>
                                              <a:schemeClr val="tx1"/>
                                            </a:solidFill>
                                            <a:latin typeface="Cambria Math" panose="02040503050406030204" pitchFamily="18" charset="0"/>
                                          </a:rPr>
                                          <m:t>2</m:t>
                                        </m:r>
                                      </m:den>
                                    </m:f>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7361417"/>
                      </a:ext>
                    </a:extLst>
                  </a:tr>
                  <a:tr h="828675">
                    <a:tc>
                      <a:txBody>
                        <a:bodyPr/>
                        <a:lstStyle/>
                        <a:p>
                          <a:pPr algn="ctr"/>
                          <a:r>
                            <a:rPr lang="en-US" sz="2500" dirty="0" smtClean="0"/>
                            <a:t>T2</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smtClean="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500" b="0" i="1" dirty="0" smtClean="0">
                              <a:latin typeface="Cambria Math" panose="02040503050406030204" pitchFamily="18" charset="0"/>
                            </a:rPr>
                            <a:t>1</a:t>
                          </a: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𝜓</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1176242"/>
                      </a:ext>
                    </a:extLst>
                  </a:tr>
                  <a:tr h="647700">
                    <a:tc>
                      <a:txBody>
                        <a:bodyPr/>
                        <a:lstStyle/>
                        <a:p>
                          <a:pPr algn="ctr"/>
                          <a:r>
                            <a:rPr lang="en-US" sz="2500" dirty="0" smtClean="0"/>
                            <a:t>T3 (rev)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vMerge="1">
                      <a:txBody>
                        <a:bodyPr/>
                        <a:lstStyle/>
                        <a:p>
                          <a:endParaRPr lang="sv-SE"/>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0759942"/>
                      </a:ext>
                    </a:extLst>
                  </a:tr>
                  <a:tr h="733425">
                    <a:tc>
                      <a:txBody>
                        <a:bodyPr/>
                        <a:lstStyle/>
                        <a:p>
                          <a:pPr algn="ctr"/>
                          <a:r>
                            <a:rPr lang="en-US" sz="2500" dirty="0" smtClean="0"/>
                            <a:t>T4 (rev)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724557"/>
                      </a:ext>
                    </a:extLst>
                  </a:tr>
                  <a:tr h="762401">
                    <a:tc>
                      <a:txBody>
                        <a:bodyPr/>
                        <a:lstStyle/>
                        <a:p>
                          <a:pPr algn="ctr"/>
                          <a:r>
                            <a:rPr lang="en-US" sz="2500" dirty="0" smtClean="0"/>
                            <a:t>D5</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smtClean="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en-US" sz="2500" b="0" i="1" dirty="0" smtClean="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397665"/>
                      </a:ext>
                    </a:extLst>
                  </a:tr>
                  <a:tr h="762401">
                    <a:tc>
                      <a:txBody>
                        <a:bodyPr/>
                        <a:lstStyle/>
                        <a:p>
                          <a:pPr algn="ctr"/>
                          <a:r>
                            <a:rPr lang="en-US" sz="2500" dirty="0" smtClean="0"/>
                            <a:t>D6</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113969"/>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291424810"/>
                  </p:ext>
                </p:extLst>
              </p:nvPr>
            </p:nvGraphicFramePr>
            <p:xfrm>
              <a:off x="1947684" y="893078"/>
              <a:ext cx="10139543" cy="5024253"/>
            </p:xfrm>
            <a:graphic>
              <a:graphicData uri="http://schemas.openxmlformats.org/drawingml/2006/table">
                <a:tbl>
                  <a:tblPr/>
                  <a:tblGrid>
                    <a:gridCol w="1254292">
                      <a:extLst>
                        <a:ext uri="{9D8B030D-6E8A-4147-A177-3AD203B41FA5}">
                          <a16:colId xmlns:a16="http://schemas.microsoft.com/office/drawing/2014/main" val="3761696542"/>
                        </a:ext>
                      </a:extLst>
                    </a:gridCol>
                    <a:gridCol w="897864">
                      <a:extLst>
                        <a:ext uri="{9D8B030D-6E8A-4147-A177-3AD203B41FA5}">
                          <a16:colId xmlns:a16="http://schemas.microsoft.com/office/drawing/2014/main" val="1021110957"/>
                        </a:ext>
                      </a:extLst>
                    </a:gridCol>
                    <a:gridCol w="1341317">
                      <a:extLst>
                        <a:ext uri="{9D8B030D-6E8A-4147-A177-3AD203B41FA5}">
                          <a16:colId xmlns:a16="http://schemas.microsoft.com/office/drawing/2014/main" val="3731599906"/>
                        </a:ext>
                      </a:extLst>
                    </a:gridCol>
                    <a:gridCol w="2753229">
                      <a:extLst>
                        <a:ext uri="{9D8B030D-6E8A-4147-A177-3AD203B41FA5}">
                          <a16:colId xmlns:a16="http://schemas.microsoft.com/office/drawing/2014/main" val="1982671173"/>
                        </a:ext>
                      </a:extLst>
                    </a:gridCol>
                    <a:gridCol w="2006932">
                      <a:extLst>
                        <a:ext uri="{9D8B030D-6E8A-4147-A177-3AD203B41FA5}">
                          <a16:colId xmlns:a16="http://schemas.microsoft.com/office/drawing/2014/main" val="1361513456"/>
                        </a:ext>
                      </a:extLst>
                    </a:gridCol>
                    <a:gridCol w="1885909">
                      <a:extLst>
                        <a:ext uri="{9D8B030D-6E8A-4147-A177-3AD203B41FA5}">
                          <a16:colId xmlns:a16="http://schemas.microsoft.com/office/drawing/2014/main" val="271046663"/>
                        </a:ext>
                      </a:extLst>
                    </a:gridCol>
                  </a:tblGrid>
                  <a:tr h="472440">
                    <a:tc>
                      <a:txBody>
                        <a:bodyPr/>
                        <a:lstStyle/>
                        <a:p>
                          <a:pPr algn="ct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40816" t="-1282" r="-893197" b="-960256"/>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60909" t="-1282" r="-496818" b="-960256"/>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26991" t="-1282" r="-141814" b="-960256"/>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310909" t="-1282" r="-94242" b="-960256"/>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438835" t="-1282" r="-647" b="-960256"/>
                          </a:stretch>
                        </a:blipFill>
                      </a:tcPr>
                    </a:tc>
                    <a:extLst>
                      <a:ext uri="{0D108BD9-81ED-4DB2-BD59-A6C34878D82A}">
                        <a16:rowId xmlns:a16="http://schemas.microsoft.com/office/drawing/2014/main" val="1122582420"/>
                      </a:ext>
                    </a:extLst>
                  </a:tr>
                  <a:tr h="701407">
                    <a:tc>
                      <a:txBody>
                        <a:bodyPr/>
                        <a:lstStyle/>
                        <a:p>
                          <a:pPr algn="ctr"/>
                          <a:r>
                            <a:rPr lang="en-US" sz="2500" dirty="0" smtClean="0"/>
                            <a:t>T1</a:t>
                          </a: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6">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0816" t="-10576" r="-893197" b="-268"/>
                          </a:stretch>
                        </a:blipFill>
                      </a:tcPr>
                    </a:tc>
                    <a:tc rowSpan="6">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0909" t="-10576" r="-496818" b="-268"/>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991" t="-68696" r="-141814" b="-551304"/>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0909" t="-68696" r="-94242" b="-551304"/>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8835" t="-68696" r="-647" b="-551304"/>
                          </a:stretch>
                        </a:blipFill>
                      </a:tcPr>
                    </a:tc>
                    <a:extLst>
                      <a:ext uri="{0D108BD9-81ED-4DB2-BD59-A6C34878D82A}">
                        <a16:rowId xmlns:a16="http://schemas.microsoft.com/office/drawing/2014/main" val="2337361417"/>
                      </a:ext>
                    </a:extLst>
                  </a:tr>
                  <a:tr h="853440">
                    <a:tc>
                      <a:txBody>
                        <a:bodyPr/>
                        <a:lstStyle/>
                        <a:p>
                          <a:pPr algn="ctr"/>
                          <a:r>
                            <a:rPr lang="en-US" sz="2500" dirty="0" smtClean="0"/>
                            <a:t>T2</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991" t="-138571" r="-141814" b="-35285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0909" t="-138571" r="-94242" b="-35285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8835" t="-138571" r="-647" b="-352857"/>
                          </a:stretch>
                        </a:blipFill>
                      </a:tcPr>
                    </a:tc>
                    <a:extLst>
                      <a:ext uri="{0D108BD9-81ED-4DB2-BD59-A6C34878D82A}">
                        <a16:rowId xmlns:a16="http://schemas.microsoft.com/office/drawing/2014/main" val="2591176242"/>
                      </a:ext>
                    </a:extLst>
                  </a:tr>
                  <a:tr h="647700">
                    <a:tc>
                      <a:txBody>
                        <a:bodyPr/>
                        <a:lstStyle/>
                        <a:p>
                          <a:pPr algn="ctr"/>
                          <a:r>
                            <a:rPr lang="en-US" sz="2500" dirty="0" smtClean="0"/>
                            <a:t>T3 (rev)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vMerge="1">
                      <a:txBody>
                        <a:bodyPr/>
                        <a:lstStyle/>
                        <a:p>
                          <a:endParaRPr lang="sv-SE"/>
                        </a:p>
                      </a:txBody>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991" t="-315094" r="-141814" b="-366038"/>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0909" t="-315094" r="-94242" b="-366038"/>
                          </a:stretch>
                        </a:blipFill>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0759942"/>
                      </a:ext>
                    </a:extLst>
                  </a:tr>
                  <a:tr h="733425">
                    <a:tc>
                      <a:txBody>
                        <a:bodyPr/>
                        <a:lstStyle/>
                        <a:p>
                          <a:pPr algn="ctr"/>
                          <a:r>
                            <a:rPr lang="en-US" sz="2500" dirty="0" smtClean="0"/>
                            <a:t>T4 (rev)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991" t="-363636" r="-141814" b="-220661"/>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0909" t="-363636" r="-94242" b="-220661"/>
                          </a:stretch>
                        </a:blipFill>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724557"/>
                      </a:ext>
                    </a:extLst>
                  </a:tr>
                  <a:tr h="853440">
                    <a:tc>
                      <a:txBody>
                        <a:bodyPr/>
                        <a:lstStyle/>
                        <a:p>
                          <a:pPr algn="ctr"/>
                          <a:r>
                            <a:rPr lang="en-US" sz="2500" dirty="0" smtClean="0"/>
                            <a:t>D5</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6991" t="-400714" r="-141814" b="-90714"/>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10909" t="-400714" r="-94242" b="-90714"/>
                          </a:stretch>
                        </a:blipFill>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397665"/>
                      </a:ext>
                    </a:extLst>
                  </a:tr>
                  <a:tr h="762401">
                    <a:tc>
                      <a:txBody>
                        <a:bodyPr/>
                        <a:lstStyle/>
                        <a:p>
                          <a:pPr algn="ctr"/>
                          <a:r>
                            <a:rPr lang="en-US" sz="2500" dirty="0" smtClean="0"/>
                            <a:t>D6</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113969"/>
                      </a:ext>
                    </a:extLst>
                  </a:tr>
                </a:tbl>
              </a:graphicData>
            </a:graphic>
          </p:graphicFrame>
        </mc:Fallback>
      </mc:AlternateContent>
      <p:sp>
        <p:nvSpPr>
          <p:cNvPr id="6" name="Rectangle 5"/>
          <p:cNvSpPr/>
          <p:nvPr/>
        </p:nvSpPr>
        <p:spPr>
          <a:xfrm>
            <a:off x="280987" y="6125384"/>
            <a:ext cx="11610975" cy="646331"/>
          </a:xfrm>
          <a:prstGeom prst="rect">
            <a:avLst/>
          </a:prstGeom>
        </p:spPr>
        <p:txBody>
          <a:bodyPr wrap="square">
            <a:spAutoFit/>
          </a:bodyPr>
          <a:lstStyle/>
          <a:p>
            <a:pPr marL="285750" indent="-285750">
              <a:buFont typeface="Arial" panose="020B0604020202020204" pitchFamily="34" charset="0"/>
              <a:buChar char="•"/>
            </a:pPr>
            <a:r>
              <a:rPr lang="en-US" dirty="0" smtClean="0"/>
              <a:t>The neutral </a:t>
            </a:r>
            <a:r>
              <a:rPr lang="en-US" dirty="0"/>
              <a:t>point is clamped via </a:t>
            </a:r>
            <a:r>
              <a:rPr lang="en-US" dirty="0" smtClean="0"/>
              <a:t>diodes </a:t>
            </a:r>
            <a:r>
              <a:rPr lang="en-US" dirty="0"/>
              <a:t>(D5/D6</a:t>
            </a:r>
            <a:r>
              <a:rPr lang="en-US" dirty="0" smtClean="0"/>
              <a:t>).</a:t>
            </a:r>
          </a:p>
          <a:p>
            <a:pPr marL="285750" indent="-285750">
              <a:buFont typeface="Arial" panose="020B0604020202020204" pitchFamily="34" charset="0"/>
              <a:buChar char="•"/>
            </a:pPr>
            <a:r>
              <a:rPr lang="en-US" dirty="0"/>
              <a:t>The transistors/diodes of the NPC </a:t>
            </a:r>
            <a:r>
              <a:rPr lang="en-US" dirty="0" smtClean="0"/>
              <a:t>switch </a:t>
            </a:r>
            <a:r>
              <a:rPr lang="en-US" dirty="0"/>
              <a:t>and block half of the dc-link voltage.</a:t>
            </a:r>
            <a:endParaRPr lang="sv-SE" dirty="0"/>
          </a:p>
        </p:txBody>
      </p:sp>
      <p:pic>
        <p:nvPicPr>
          <p:cNvPr id="8" name="Picture 7"/>
          <p:cNvPicPr>
            <a:picLocks noChangeAspect="1"/>
          </p:cNvPicPr>
          <p:nvPr/>
        </p:nvPicPr>
        <p:blipFill rotWithShape="1">
          <a:blip r:embed="rId3"/>
          <a:srcRect l="39725" r="39318" b="10137"/>
          <a:stretch/>
        </p:blipFill>
        <p:spPr>
          <a:xfrm>
            <a:off x="8984" y="2082112"/>
            <a:ext cx="1871482" cy="2345094"/>
          </a:xfrm>
          <a:prstGeom prst="rect">
            <a:avLst/>
          </a:prstGeom>
        </p:spPr>
      </p:pic>
    </p:spTree>
    <p:extLst>
      <p:ext uri="{BB962C8B-B14F-4D97-AF65-F5344CB8AC3E}">
        <p14:creationId xmlns:p14="http://schemas.microsoft.com/office/powerpoint/2010/main" val="12949752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5" y="6074"/>
            <a:ext cx="10515600" cy="1325563"/>
          </a:xfrm>
        </p:spPr>
        <p:txBody>
          <a:bodyPr>
            <a:normAutofit/>
          </a:bodyPr>
          <a:lstStyle/>
          <a:p>
            <a:pPr algn="ctr"/>
            <a:r>
              <a:rPr lang="en-US" sz="3600" dirty="0" smtClean="0">
                <a:solidFill>
                  <a:srgbClr val="C00000"/>
                </a:solidFill>
              </a:rPr>
              <a:t>3L-ANPC</a:t>
            </a:r>
            <a:endParaRPr lang="sv-SE" sz="3600" dirty="0">
              <a:solidFill>
                <a:srgbClr val="C00000"/>
              </a:solidFill>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nvPr>
            </p:nvGraphicFramePr>
            <p:xfrm>
              <a:off x="1752419" y="890637"/>
              <a:ext cx="10139543" cy="5321032"/>
            </p:xfrm>
            <a:graphic>
              <a:graphicData uri="http://schemas.openxmlformats.org/drawingml/2006/table">
                <a:tbl>
                  <a:tblPr/>
                  <a:tblGrid>
                    <a:gridCol w="1254292">
                      <a:extLst>
                        <a:ext uri="{9D8B030D-6E8A-4147-A177-3AD203B41FA5}">
                          <a16:colId xmlns:a16="http://schemas.microsoft.com/office/drawing/2014/main" val="3761696542"/>
                        </a:ext>
                      </a:extLst>
                    </a:gridCol>
                    <a:gridCol w="897864">
                      <a:extLst>
                        <a:ext uri="{9D8B030D-6E8A-4147-A177-3AD203B41FA5}">
                          <a16:colId xmlns:a16="http://schemas.microsoft.com/office/drawing/2014/main" val="1021110957"/>
                        </a:ext>
                      </a:extLst>
                    </a:gridCol>
                    <a:gridCol w="1341317">
                      <a:extLst>
                        <a:ext uri="{9D8B030D-6E8A-4147-A177-3AD203B41FA5}">
                          <a16:colId xmlns:a16="http://schemas.microsoft.com/office/drawing/2014/main" val="3731599906"/>
                        </a:ext>
                      </a:extLst>
                    </a:gridCol>
                    <a:gridCol w="2083593">
                      <a:extLst>
                        <a:ext uri="{9D8B030D-6E8A-4147-A177-3AD203B41FA5}">
                          <a16:colId xmlns:a16="http://schemas.microsoft.com/office/drawing/2014/main" val="1982671173"/>
                        </a:ext>
                      </a:extLst>
                    </a:gridCol>
                    <a:gridCol w="2676568">
                      <a:extLst>
                        <a:ext uri="{9D8B030D-6E8A-4147-A177-3AD203B41FA5}">
                          <a16:colId xmlns:a16="http://schemas.microsoft.com/office/drawing/2014/main" val="1361513456"/>
                        </a:ext>
                      </a:extLst>
                    </a:gridCol>
                    <a:gridCol w="1885909">
                      <a:extLst>
                        <a:ext uri="{9D8B030D-6E8A-4147-A177-3AD203B41FA5}">
                          <a16:colId xmlns:a16="http://schemas.microsoft.com/office/drawing/2014/main" val="271046663"/>
                        </a:ext>
                      </a:extLst>
                    </a:gridCol>
                  </a:tblGrid>
                  <a:tr h="0">
                    <a:tc>
                      <a:txBody>
                        <a:bodyPr/>
                        <a:lstStyle/>
                        <a:p>
                          <a:pPr algn="ct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𝑈</m:t>
                                    </m:r>
                                  </m:e>
                                  <m:sub>
                                    <m:r>
                                      <a:rPr lang="en-US" sz="2500" b="0" i="1" smtClean="0">
                                        <a:solidFill>
                                          <a:srgbClr val="C00000"/>
                                        </a:solidFill>
                                        <a:latin typeface="Cambria Math" panose="02040503050406030204" pitchFamily="18" charset="0"/>
                                      </a:rPr>
                                      <m:t>𝑏𝑙</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i="1" smtClean="0">
                                        <a:solidFill>
                                          <a:srgbClr val="C00000"/>
                                        </a:solidFill>
                                        <a:latin typeface="Cambria Math" panose="02040503050406030204" pitchFamily="18" charset="0"/>
                                      </a:rPr>
                                    </m:ctrlPr>
                                  </m:sSubPr>
                                  <m:e>
                                    <m:r>
                                      <a:rPr lang="en-US" sz="2500" i="1">
                                        <a:solidFill>
                                          <a:srgbClr val="C00000"/>
                                        </a:solidFill>
                                        <a:latin typeface="Cambria Math" panose="02040503050406030204" pitchFamily="18" charset="0"/>
                                      </a:rPr>
                                      <m:t>𝑈</m:t>
                                    </m:r>
                                  </m:e>
                                  <m:sub>
                                    <m:r>
                                      <a:rPr lang="en-US" sz="2500" b="0" i="1" smtClean="0">
                                        <a:solidFill>
                                          <a:srgbClr val="C00000"/>
                                        </a:solidFill>
                                        <a:latin typeface="Cambria Math" panose="02040503050406030204" pitchFamily="18" charset="0"/>
                                      </a:rPr>
                                      <m:t>𝑠𝑤</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1</m:t>
                                    </m:r>
                                  </m:sub>
                                </m:sSub>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𝑡𝑜</m:t>
                                </m:r>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2</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rgbClr val="C00000"/>
                                    </a:solidFill>
                                    <a:latin typeface="Cambria Math" panose="02040503050406030204" pitchFamily="18" charset="0"/>
                                  </a:rPr>
                                  <m:t>𝐷</m:t>
                                </m:r>
                                <m:r>
                                  <a:rPr lang="en-US" sz="2500" b="0" i="1" smtClean="0">
                                    <a:solidFill>
                                      <a:srgbClr val="C00000"/>
                                    </a:solidFill>
                                    <a:latin typeface="Cambria Math" panose="02040503050406030204" pitchFamily="18" charset="0"/>
                                  </a:rPr>
                                  <m:t>(</m:t>
                                </m:r>
                                <m:r>
                                  <a:rPr lang="en-US" sz="2500" b="0" i="1" smtClean="0">
                                    <a:solidFill>
                                      <a:srgbClr val="C00000"/>
                                    </a:solidFill>
                                    <a:latin typeface="Cambria Math" panose="02040503050406030204" pitchFamily="18" charset="0"/>
                                  </a:rPr>
                                  <m:t>𝛾</m:t>
                                </m:r>
                                <m:r>
                                  <a:rPr lang="en-US" sz="2500" b="0" i="1" smtClean="0">
                                    <a:solidFill>
                                      <a:srgbClr val="C00000"/>
                                    </a:solidFill>
                                    <a:latin typeface="Cambria Math" panose="02040503050406030204" pitchFamily="18" charset="0"/>
                                  </a:rPr>
                                  <m:t>)</m:t>
                                </m:r>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3</m:t>
                                    </m:r>
                                  </m:sub>
                                </m:sSub>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𝑡𝑜</m:t>
                                </m:r>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4</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582420"/>
                      </a:ext>
                    </a:extLst>
                  </a:tr>
                  <a:tr h="701407">
                    <a:tc>
                      <a:txBody>
                        <a:bodyPr/>
                        <a:lstStyle/>
                        <a:p>
                          <a:pPr algn="ctr"/>
                          <a:r>
                            <a:rPr lang="en-US" sz="2500" dirty="0" smtClean="0"/>
                            <a:t>T1</a:t>
                          </a: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6">
                      <a:txBody>
                        <a:bodyPr/>
                        <a:lstStyle/>
                        <a:p>
                          <a:pPr algn="ctr"/>
                          <a:endParaRPr lang="en-US" sz="2500" dirty="0" smtClean="0">
                            <a:solidFill>
                              <a:schemeClr val="tx1"/>
                            </a:solidFill>
                          </a:endParaRPr>
                        </a:p>
                        <a:p>
                          <a:pPr algn="ctr"/>
                          <a:endParaRPr lang="en-US" sz="2500" dirty="0" smtClean="0">
                            <a:solidFill>
                              <a:schemeClr val="tx1"/>
                            </a:solidFill>
                          </a:endParaRPr>
                        </a:p>
                        <a:p>
                          <a:pPr algn="ctr"/>
                          <a:endParaRPr lang="en-US" sz="2500" dirty="0" smtClean="0">
                            <a:solidFill>
                              <a:schemeClr val="tx1"/>
                            </a:solidFill>
                          </a:endParaRPr>
                        </a:p>
                        <a:p>
                          <a:pPr algn="ctr"/>
                          <a:endParaRPr lang="sv-SE" sz="2500" dirty="0">
                            <a:solidFill>
                              <a:schemeClr val="tx1"/>
                            </a:solidFill>
                          </a:endParaRPr>
                        </a:p>
                        <a:p>
                          <a:pPr algn="ctr"/>
                          <a:endParaRPr lang="en-US" sz="2500" b="0"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500" b="0" i="1" smtClean="0">
                                        <a:solidFill>
                                          <a:schemeClr val="tx1"/>
                                        </a:solidFill>
                                        <a:latin typeface="Cambria Math" panose="02040503050406030204" pitchFamily="18" charset="0"/>
                                      </a:rPr>
                                    </m:ctrlPr>
                                  </m:sSubPr>
                                  <m:e>
                                    <m:f>
                                      <m:fPr>
                                        <m:ctrlPr>
                                          <a:rPr lang="en-US" sz="2500" b="0" i="1" smtClean="0">
                                            <a:solidFill>
                                              <a:schemeClr val="tx1"/>
                                            </a:solidFill>
                                            <a:latin typeface="Cambria Math" panose="02040503050406030204" pitchFamily="18" charset="0"/>
                                          </a:rPr>
                                        </m:ctrlPr>
                                      </m:fPr>
                                      <m:num>
                                        <m:r>
                                          <a:rPr lang="en-US" sz="2500" b="0" i="1" smtClean="0">
                                            <a:solidFill>
                                              <a:schemeClr val="tx1"/>
                                            </a:solidFill>
                                            <a:latin typeface="Cambria Math" panose="02040503050406030204" pitchFamily="18" charset="0"/>
                                          </a:rPr>
                                          <m:t>1</m:t>
                                        </m:r>
                                      </m:num>
                                      <m:den>
                                        <m:r>
                                          <a:rPr lang="en-US" sz="2500" b="0" i="1" smtClean="0">
                                            <a:solidFill>
                                              <a:schemeClr val="tx1"/>
                                            </a:solidFill>
                                            <a:latin typeface="Cambria Math" panose="02040503050406030204" pitchFamily="18" charset="0"/>
                                          </a:rPr>
                                          <m:t>2</m:t>
                                        </m:r>
                                      </m:den>
                                    </m:f>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oMath>
                            </m:oMathPara>
                          </a14:m>
                          <a:endParaRPr lang="sv-SE" sz="2500" dirty="0">
                            <a:solidFill>
                              <a:schemeClr val="tx1"/>
                            </a:solidFill>
                          </a:endParaRPr>
                        </a:p>
                        <a:p>
                          <a:pPr algn="ctr"/>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6">
                      <a:txBody>
                        <a:bodyPr/>
                        <a:lstStyle/>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sz="2500" b="0" i="1" smtClean="0">
                                        <a:solidFill>
                                          <a:schemeClr val="tx1"/>
                                        </a:solidFill>
                                        <a:latin typeface="Cambria Math" panose="02040503050406030204" pitchFamily="18" charset="0"/>
                                      </a:rPr>
                                    </m:ctrlPr>
                                  </m:sSubPr>
                                  <m:e>
                                    <m:f>
                                      <m:fPr>
                                        <m:ctrlPr>
                                          <a:rPr lang="en-US" sz="2500" b="0" i="1" smtClean="0">
                                            <a:solidFill>
                                              <a:schemeClr val="tx1"/>
                                            </a:solidFill>
                                            <a:latin typeface="Cambria Math" panose="02040503050406030204" pitchFamily="18" charset="0"/>
                                          </a:rPr>
                                        </m:ctrlPr>
                                      </m:fPr>
                                      <m:num>
                                        <m:r>
                                          <a:rPr lang="en-US" sz="2500" b="0" i="1" smtClean="0">
                                            <a:solidFill>
                                              <a:schemeClr val="tx1"/>
                                            </a:solidFill>
                                            <a:latin typeface="Cambria Math" panose="02040503050406030204" pitchFamily="18" charset="0"/>
                                          </a:rPr>
                                          <m:t>1</m:t>
                                        </m:r>
                                      </m:num>
                                      <m:den>
                                        <m:r>
                                          <a:rPr lang="en-US" sz="2500" b="0" i="1" smtClean="0">
                                            <a:solidFill>
                                              <a:schemeClr val="tx1"/>
                                            </a:solidFill>
                                            <a:latin typeface="Cambria Math" panose="02040503050406030204" pitchFamily="18" charset="0"/>
                                          </a:rPr>
                                          <m:t>2</m:t>
                                        </m:r>
                                      </m:den>
                                    </m:f>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7361417"/>
                      </a:ext>
                    </a:extLst>
                  </a:tr>
                  <a:tr h="828675">
                    <a:tc>
                      <a:txBody>
                        <a:bodyPr/>
                        <a:lstStyle/>
                        <a:p>
                          <a:pPr algn="ctr"/>
                          <a:r>
                            <a:rPr lang="en-US" sz="2500" dirty="0" smtClean="0"/>
                            <a:t>T2</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smtClean="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r>
                                <a:rPr lang="en-US" sz="2500" b="0" i="1" smtClean="0">
                                  <a:latin typeface="Cambria Math" panose="02040503050406030204" pitchFamily="18" charset="0"/>
                                </a:rPr>
                                <m:t> , 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a14:m>
                          <a:r>
                            <a:rPr lang="en-US" sz="2500" b="0" dirty="0" smtClean="0"/>
                            <a:t>*</a:t>
                          </a: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a14:m>
                          <a:r>
                            <a:rPr lang="sv-SE" sz="2500" dirty="0" smtClean="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𝜓</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1176242"/>
                      </a:ext>
                    </a:extLst>
                  </a:tr>
                  <a:tr h="647700">
                    <a:tc>
                      <a:txBody>
                        <a:bodyPr/>
                        <a:lstStyle/>
                        <a:p>
                          <a:pPr algn="ctr"/>
                          <a:r>
                            <a:rPr lang="en-US" sz="2500" dirty="0" smtClean="0"/>
                            <a:t>T3 (rev)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vMerge="1">
                      <a:txBody>
                        <a:bodyPr/>
                        <a:lstStyle/>
                        <a:p>
                          <a:endParaRPr lang="sv-SE"/>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a14:m>
                          <a:r>
                            <a:rPr lang="en-US" sz="2500" b="0" dirty="0" smtClean="0"/>
                            <a:t>*</a:t>
                          </a: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500" b="0" i="1" smtClean="0">
                                  <a:latin typeface="Cambria Math" panose="02040503050406030204" pitchFamily="18" charset="0"/>
                                </a:rPr>
                                <m:t>−</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r>
                                <a:rPr lang="en-US" sz="2500" b="0" i="1" smtClean="0">
                                  <a:latin typeface="Cambria Math" panose="02040503050406030204" pitchFamily="18" charset="0"/>
                                </a:rPr>
                                <m:t>, 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a14:m>
                          <a:r>
                            <a:rPr lang="sv-SE"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0759942"/>
                      </a:ext>
                    </a:extLst>
                  </a:tr>
                  <a:tr h="733425">
                    <a:tc>
                      <a:txBody>
                        <a:bodyPr/>
                        <a:lstStyle/>
                        <a:p>
                          <a:pPr algn="ctr"/>
                          <a:r>
                            <a:rPr lang="en-US" sz="2500" dirty="0" smtClean="0"/>
                            <a:t>T4 (rev)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latin typeface="Cambria Math" panose="02040503050406030204" pitchFamily="18" charset="0"/>
                                  </a:rPr>
                                  <m:t>−</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724557"/>
                      </a:ext>
                    </a:extLst>
                  </a:tr>
                  <a:tr h="762401">
                    <a:tc>
                      <a:txBody>
                        <a:bodyPr/>
                        <a:lstStyle/>
                        <a:p>
                          <a:pPr algn="ctr"/>
                          <a:r>
                            <a:rPr lang="en-US" sz="2500" dirty="0" smtClean="0"/>
                            <a:t>T5(rev)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smtClean="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a14:m>
                          <a:r>
                            <a:rPr lang="en-US" sz="2500" b="0" i="1" dirty="0" smtClean="0">
                              <a:latin typeface="Cambria Math" panose="02040503050406030204" pitchFamily="18"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a14:m>
                          <a:r>
                            <a:rPr lang="sv-SE"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397665"/>
                      </a:ext>
                    </a:extLst>
                  </a:tr>
                  <a:tr h="762401">
                    <a:tc>
                      <a:txBody>
                        <a:bodyPr/>
                        <a:lstStyle/>
                        <a:p>
                          <a:pPr algn="ctr"/>
                          <a:r>
                            <a:rPr lang="en-US" sz="2500" dirty="0" smtClean="0"/>
                            <a:t>T6</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oMath>
                            </m:oMathPara>
                          </a14:m>
                          <a:endParaRPr lang="sv-SE" sz="2500" dirty="0" smtClean="0">
                            <a:solidFill>
                              <a:schemeClr val="tx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𝜋</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a14:m>
                          <a:r>
                            <a:rPr lang="en-US" sz="2500" b="0" i="1" dirty="0" smtClean="0">
                              <a:latin typeface="Cambria Math" panose="02040503050406030204" pitchFamily="18" charset="0"/>
                            </a:rPr>
                            <a:t>*</a:t>
                          </a: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oMath>
                          </a14:m>
                          <a:r>
                            <a:rPr lang="sv-SE"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𝜋</m:t>
                                </m:r>
                                <m:r>
                                  <a:rPr lang="en-US" sz="2500" b="0" i="0"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𝜓</m:t>
                                </m:r>
                              </m:oMath>
                            </m:oMathPara>
                          </a14:m>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5113969"/>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791845063"/>
                  </p:ext>
                </p:extLst>
              </p:nvPr>
            </p:nvGraphicFramePr>
            <p:xfrm>
              <a:off x="1752419" y="890637"/>
              <a:ext cx="10139543" cy="5321032"/>
            </p:xfrm>
            <a:graphic>
              <a:graphicData uri="http://schemas.openxmlformats.org/drawingml/2006/table">
                <a:tbl>
                  <a:tblPr/>
                  <a:tblGrid>
                    <a:gridCol w="1254292">
                      <a:extLst>
                        <a:ext uri="{9D8B030D-6E8A-4147-A177-3AD203B41FA5}">
                          <a16:colId xmlns:a16="http://schemas.microsoft.com/office/drawing/2014/main" val="3761696542"/>
                        </a:ext>
                      </a:extLst>
                    </a:gridCol>
                    <a:gridCol w="897864">
                      <a:extLst>
                        <a:ext uri="{9D8B030D-6E8A-4147-A177-3AD203B41FA5}">
                          <a16:colId xmlns:a16="http://schemas.microsoft.com/office/drawing/2014/main" val="1021110957"/>
                        </a:ext>
                      </a:extLst>
                    </a:gridCol>
                    <a:gridCol w="1341317">
                      <a:extLst>
                        <a:ext uri="{9D8B030D-6E8A-4147-A177-3AD203B41FA5}">
                          <a16:colId xmlns:a16="http://schemas.microsoft.com/office/drawing/2014/main" val="3731599906"/>
                        </a:ext>
                      </a:extLst>
                    </a:gridCol>
                    <a:gridCol w="2083593">
                      <a:extLst>
                        <a:ext uri="{9D8B030D-6E8A-4147-A177-3AD203B41FA5}">
                          <a16:colId xmlns:a16="http://schemas.microsoft.com/office/drawing/2014/main" val="1982671173"/>
                        </a:ext>
                      </a:extLst>
                    </a:gridCol>
                    <a:gridCol w="2676568">
                      <a:extLst>
                        <a:ext uri="{9D8B030D-6E8A-4147-A177-3AD203B41FA5}">
                          <a16:colId xmlns:a16="http://schemas.microsoft.com/office/drawing/2014/main" val="1361513456"/>
                        </a:ext>
                      </a:extLst>
                    </a:gridCol>
                    <a:gridCol w="1885909">
                      <a:extLst>
                        <a:ext uri="{9D8B030D-6E8A-4147-A177-3AD203B41FA5}">
                          <a16:colId xmlns:a16="http://schemas.microsoft.com/office/drawing/2014/main" val="271046663"/>
                        </a:ext>
                      </a:extLst>
                    </a:gridCol>
                  </a:tblGrid>
                  <a:tr h="472440">
                    <a:tc>
                      <a:txBody>
                        <a:bodyPr/>
                        <a:lstStyle/>
                        <a:p>
                          <a:pPr algn="ct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40816" t="-1282" r="-893197" b="-105000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60909" t="-1282" r="-496818" b="-105000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67836" t="-1282" r="-219591" b="-105000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208182" t="-1282" r="-70682" b="-105000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438835" t="-1282" r="-647" b="-1050000"/>
                          </a:stretch>
                        </a:blipFill>
                      </a:tcPr>
                    </a:tc>
                    <a:extLst>
                      <a:ext uri="{0D108BD9-81ED-4DB2-BD59-A6C34878D82A}">
                        <a16:rowId xmlns:a16="http://schemas.microsoft.com/office/drawing/2014/main" val="1122582420"/>
                      </a:ext>
                    </a:extLst>
                  </a:tr>
                  <a:tr h="701407">
                    <a:tc>
                      <a:txBody>
                        <a:bodyPr/>
                        <a:lstStyle/>
                        <a:p>
                          <a:pPr algn="ctr"/>
                          <a:r>
                            <a:rPr lang="en-US" sz="2500" dirty="0" smtClean="0"/>
                            <a:t>T1</a:t>
                          </a: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6">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0816" t="-9937" r="-893197" b="-3019"/>
                          </a:stretch>
                        </a:blipFill>
                      </a:tcPr>
                    </a:tc>
                    <a:tc rowSpan="6">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0909" t="-9937" r="-496818" b="-3019"/>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836" t="-68696" r="-219591" b="-612174"/>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8182" t="-68696" r="-70682" b="-612174"/>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8835" t="-68696" r="-647" b="-612174"/>
                          </a:stretch>
                        </a:blipFill>
                      </a:tcPr>
                    </a:tc>
                    <a:extLst>
                      <a:ext uri="{0D108BD9-81ED-4DB2-BD59-A6C34878D82A}">
                        <a16:rowId xmlns:a16="http://schemas.microsoft.com/office/drawing/2014/main" val="2337361417"/>
                      </a:ext>
                    </a:extLst>
                  </a:tr>
                  <a:tr h="853440">
                    <a:tc>
                      <a:txBody>
                        <a:bodyPr/>
                        <a:lstStyle/>
                        <a:p>
                          <a:pPr algn="ctr"/>
                          <a:r>
                            <a:rPr lang="en-US" sz="2500" dirty="0" smtClean="0"/>
                            <a:t>T2</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836" t="-138571" r="-219591" b="-40285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8182" t="-138571" r="-70682" b="-40285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8835" t="-138571" r="-647" b="-402857"/>
                          </a:stretch>
                        </a:blipFill>
                      </a:tcPr>
                    </a:tc>
                    <a:extLst>
                      <a:ext uri="{0D108BD9-81ED-4DB2-BD59-A6C34878D82A}">
                        <a16:rowId xmlns:a16="http://schemas.microsoft.com/office/drawing/2014/main" val="2591176242"/>
                      </a:ext>
                    </a:extLst>
                  </a:tr>
                  <a:tr h="853440">
                    <a:tc>
                      <a:txBody>
                        <a:bodyPr/>
                        <a:lstStyle/>
                        <a:p>
                          <a:pPr algn="ctr"/>
                          <a:r>
                            <a:rPr lang="en-US" sz="2500" dirty="0" smtClean="0"/>
                            <a:t>T3 (rev)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vMerge="1">
                      <a:txBody>
                        <a:bodyPr/>
                        <a:lstStyle/>
                        <a:p>
                          <a:endParaRPr lang="sv-SE"/>
                        </a:p>
                      </a:txBody>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836" t="-238571" r="-219591" b="-30285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8182" t="-238571" r="-70682" b="-302857"/>
                          </a:stretch>
                        </a:blipFill>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0759942"/>
                      </a:ext>
                    </a:extLst>
                  </a:tr>
                  <a:tr h="733425">
                    <a:tc>
                      <a:txBody>
                        <a:bodyPr/>
                        <a:lstStyle/>
                        <a:p>
                          <a:pPr algn="ctr"/>
                          <a:r>
                            <a:rPr lang="en-US" sz="2500" dirty="0" smtClean="0"/>
                            <a:t>T4 (rev)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sv-SE"/>
                        </a:p>
                      </a:txBody>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836" t="-395000" r="-219591" b="-253333"/>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8182" t="-395000" r="-70682" b="-253333"/>
                          </a:stretch>
                        </a:blipFill>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724557"/>
                      </a:ext>
                    </a:extLst>
                  </a:tr>
                  <a:tr h="853440">
                    <a:tc>
                      <a:txBody>
                        <a:bodyPr/>
                        <a:lstStyle/>
                        <a:p>
                          <a:pPr algn="ctr"/>
                          <a:r>
                            <a:rPr lang="en-US" sz="2500" dirty="0" smtClean="0"/>
                            <a:t>T5(rev)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836" t="-424286" r="-219591" b="-117143"/>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8182" t="-424286" r="-70682" b="-117143"/>
                          </a:stretch>
                        </a:blipFill>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8397665"/>
                      </a:ext>
                    </a:extLst>
                  </a:tr>
                  <a:tr h="853440">
                    <a:tc>
                      <a:txBody>
                        <a:bodyPr/>
                        <a:lstStyle/>
                        <a:p>
                          <a:pPr algn="ctr"/>
                          <a:r>
                            <a:rPr lang="en-US" sz="2500" dirty="0" smtClean="0"/>
                            <a:t>T6</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7836" t="-524286" r="-219591" b="-17143"/>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8182" t="-524286" r="-70682" b="-17143"/>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8835" t="-524286" r="-647" b="-17143"/>
                          </a:stretch>
                        </a:blipFill>
                      </a:tcPr>
                    </a:tc>
                    <a:extLst>
                      <a:ext uri="{0D108BD9-81ED-4DB2-BD59-A6C34878D82A}">
                        <a16:rowId xmlns:a16="http://schemas.microsoft.com/office/drawing/2014/main" val="2625113969"/>
                      </a:ext>
                    </a:extLst>
                  </a:tr>
                </a:tbl>
              </a:graphicData>
            </a:graphic>
          </p:graphicFrame>
        </mc:Fallback>
      </mc:AlternateContent>
      <p:sp>
        <p:nvSpPr>
          <p:cNvPr id="6" name="Rectangle 5"/>
          <p:cNvSpPr/>
          <p:nvPr/>
        </p:nvSpPr>
        <p:spPr>
          <a:xfrm>
            <a:off x="280987" y="6211669"/>
            <a:ext cx="11610975" cy="369332"/>
          </a:xfrm>
          <a:prstGeom prst="rect">
            <a:avLst/>
          </a:prstGeom>
        </p:spPr>
        <p:txBody>
          <a:bodyPr wrap="square">
            <a:spAutoFit/>
          </a:bodyPr>
          <a:lstStyle/>
          <a:p>
            <a:pPr marL="285750" indent="-285750">
              <a:buFont typeface="Arial" panose="020B0604020202020204" pitchFamily="34" charset="0"/>
              <a:buChar char="•"/>
            </a:pPr>
            <a:r>
              <a:rPr lang="en-US" dirty="0"/>
              <a:t>By replacing the diodes of the NPC inverter </a:t>
            </a:r>
            <a:r>
              <a:rPr lang="en-US" dirty="0" smtClean="0"/>
              <a:t> </a:t>
            </a:r>
            <a:r>
              <a:rPr lang="en-US" dirty="0"/>
              <a:t>with active switches, the ANPC inverter offers more degrees </a:t>
            </a:r>
            <a:r>
              <a:rPr lang="en-US" dirty="0" smtClean="0"/>
              <a:t>of </a:t>
            </a:r>
            <a:r>
              <a:rPr lang="en-US" dirty="0"/>
              <a:t>freedom</a:t>
            </a:r>
            <a:r>
              <a:rPr lang="en-US" dirty="0" smtClean="0"/>
              <a:t>.</a:t>
            </a:r>
            <a:endParaRPr lang="sv-SE" dirty="0"/>
          </a:p>
        </p:txBody>
      </p:sp>
      <p:pic>
        <p:nvPicPr>
          <p:cNvPr id="7" name="Picture 6"/>
          <p:cNvPicPr>
            <a:picLocks noChangeAspect="1"/>
          </p:cNvPicPr>
          <p:nvPr/>
        </p:nvPicPr>
        <p:blipFill rotWithShape="1">
          <a:blip r:embed="rId3"/>
          <a:srcRect l="60479" r="17992" b="10137"/>
          <a:stretch/>
        </p:blipFill>
        <p:spPr>
          <a:xfrm>
            <a:off x="50389" y="2533650"/>
            <a:ext cx="1556571" cy="1898706"/>
          </a:xfrm>
          <a:prstGeom prst="rect">
            <a:avLst/>
          </a:prstGeom>
        </p:spPr>
      </p:pic>
      <p:pic>
        <p:nvPicPr>
          <p:cNvPr id="3" name="Picture 2"/>
          <p:cNvPicPr>
            <a:picLocks noChangeAspect="1"/>
          </p:cNvPicPr>
          <p:nvPr/>
        </p:nvPicPr>
        <p:blipFill rotWithShape="1">
          <a:blip r:embed="rId4"/>
          <a:srcRect t="9805" b="1"/>
          <a:stretch/>
        </p:blipFill>
        <p:spPr>
          <a:xfrm>
            <a:off x="409575" y="333375"/>
            <a:ext cx="2095500" cy="420962"/>
          </a:xfrm>
          <a:prstGeom prst="rect">
            <a:avLst/>
          </a:prstGeom>
        </p:spPr>
      </p:pic>
    </p:spTree>
    <p:extLst>
      <p:ext uri="{BB962C8B-B14F-4D97-AF65-F5344CB8AC3E}">
        <p14:creationId xmlns:p14="http://schemas.microsoft.com/office/powerpoint/2010/main" val="6057196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5" y="6074"/>
            <a:ext cx="10515600" cy="1325563"/>
          </a:xfrm>
        </p:spPr>
        <p:txBody>
          <a:bodyPr>
            <a:normAutofit/>
          </a:bodyPr>
          <a:lstStyle/>
          <a:p>
            <a:pPr algn="ctr"/>
            <a:r>
              <a:rPr lang="en-US" sz="3600" dirty="0" smtClean="0">
                <a:solidFill>
                  <a:srgbClr val="C00000"/>
                </a:solidFill>
              </a:rPr>
              <a:t>MMC</a:t>
            </a:r>
            <a:endParaRPr lang="sv-SE" sz="3600" dirty="0">
              <a:solidFill>
                <a:srgbClr val="C00000"/>
              </a:solidFill>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nvPr>
            </p:nvGraphicFramePr>
            <p:xfrm>
              <a:off x="2234566" y="1231486"/>
              <a:ext cx="9576434" cy="2895506"/>
            </p:xfrm>
            <a:graphic>
              <a:graphicData uri="http://schemas.openxmlformats.org/drawingml/2006/table">
                <a:tbl>
                  <a:tblPr/>
                  <a:tblGrid>
                    <a:gridCol w="900912">
                      <a:extLst>
                        <a:ext uri="{9D8B030D-6E8A-4147-A177-3AD203B41FA5}">
                          <a16:colId xmlns:a16="http://schemas.microsoft.com/office/drawing/2014/main" val="3761696542"/>
                        </a:ext>
                      </a:extLst>
                    </a:gridCol>
                    <a:gridCol w="1131722">
                      <a:extLst>
                        <a:ext uri="{9D8B030D-6E8A-4147-A177-3AD203B41FA5}">
                          <a16:colId xmlns:a16="http://schemas.microsoft.com/office/drawing/2014/main" val="1021110957"/>
                        </a:ext>
                      </a:extLst>
                    </a:gridCol>
                    <a:gridCol w="1085850">
                      <a:extLst>
                        <a:ext uri="{9D8B030D-6E8A-4147-A177-3AD203B41FA5}">
                          <a16:colId xmlns:a16="http://schemas.microsoft.com/office/drawing/2014/main" val="3731599906"/>
                        </a:ext>
                      </a:extLst>
                    </a:gridCol>
                    <a:gridCol w="3000375">
                      <a:extLst>
                        <a:ext uri="{9D8B030D-6E8A-4147-A177-3AD203B41FA5}">
                          <a16:colId xmlns:a16="http://schemas.microsoft.com/office/drawing/2014/main" val="1982671173"/>
                        </a:ext>
                      </a:extLst>
                    </a:gridCol>
                    <a:gridCol w="1676400">
                      <a:extLst>
                        <a:ext uri="{9D8B030D-6E8A-4147-A177-3AD203B41FA5}">
                          <a16:colId xmlns:a16="http://schemas.microsoft.com/office/drawing/2014/main" val="1361513456"/>
                        </a:ext>
                      </a:extLst>
                    </a:gridCol>
                    <a:gridCol w="1781175">
                      <a:extLst>
                        <a:ext uri="{9D8B030D-6E8A-4147-A177-3AD203B41FA5}">
                          <a16:colId xmlns:a16="http://schemas.microsoft.com/office/drawing/2014/main" val="271046663"/>
                        </a:ext>
                      </a:extLst>
                    </a:gridCol>
                  </a:tblGrid>
                  <a:tr h="476918">
                    <a:tc>
                      <a:txBody>
                        <a:bodyPr/>
                        <a:lstStyle/>
                        <a:p>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𝑈</m:t>
                                    </m:r>
                                  </m:e>
                                  <m:sub>
                                    <m:r>
                                      <a:rPr lang="en-US" sz="2500" b="0" i="1" smtClean="0">
                                        <a:solidFill>
                                          <a:srgbClr val="C00000"/>
                                        </a:solidFill>
                                        <a:latin typeface="Cambria Math" panose="02040503050406030204" pitchFamily="18" charset="0"/>
                                      </a:rPr>
                                      <m:t>𝑏𝑙</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sz="2500" i="1" smtClean="0">
                                        <a:solidFill>
                                          <a:srgbClr val="C00000"/>
                                        </a:solidFill>
                                        <a:latin typeface="Cambria Math" panose="02040503050406030204" pitchFamily="18" charset="0"/>
                                      </a:rPr>
                                    </m:ctrlPr>
                                  </m:sSubPr>
                                  <m:e>
                                    <m:r>
                                      <a:rPr lang="en-US" sz="2500" i="1">
                                        <a:solidFill>
                                          <a:srgbClr val="C00000"/>
                                        </a:solidFill>
                                        <a:latin typeface="Cambria Math" panose="02040503050406030204" pitchFamily="18" charset="0"/>
                                      </a:rPr>
                                      <m:t>𝑈</m:t>
                                    </m:r>
                                  </m:e>
                                  <m:sub>
                                    <m:r>
                                      <a:rPr lang="en-US" sz="2500" b="0" i="1" smtClean="0">
                                        <a:solidFill>
                                          <a:srgbClr val="C00000"/>
                                        </a:solidFill>
                                        <a:latin typeface="Cambria Math" panose="02040503050406030204" pitchFamily="18" charset="0"/>
                                      </a:rPr>
                                      <m:t>𝑠𝑤</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1</m:t>
                                    </m:r>
                                  </m:sub>
                                </m:sSub>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𝑡𝑜</m:t>
                                </m:r>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2</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n-US" sz="2500" b="0" i="1" smtClean="0">
                                    <a:solidFill>
                                      <a:srgbClr val="C00000"/>
                                    </a:solidFill>
                                    <a:latin typeface="Cambria Math" panose="02040503050406030204" pitchFamily="18" charset="0"/>
                                  </a:rPr>
                                  <m:t>𝐷</m:t>
                                </m:r>
                                <m:r>
                                  <a:rPr lang="en-US" sz="2500" b="0" i="1" smtClean="0">
                                    <a:solidFill>
                                      <a:srgbClr val="C00000"/>
                                    </a:solidFill>
                                    <a:latin typeface="Cambria Math" panose="02040503050406030204" pitchFamily="18" charset="0"/>
                                  </a:rPr>
                                  <m:t>(</m:t>
                                </m:r>
                                <m:r>
                                  <a:rPr lang="en-US" sz="2500" b="0" i="1" smtClean="0">
                                    <a:solidFill>
                                      <a:srgbClr val="C00000"/>
                                    </a:solidFill>
                                    <a:latin typeface="Cambria Math" panose="02040503050406030204" pitchFamily="18" charset="0"/>
                                  </a:rPr>
                                  <m:t>𝛾</m:t>
                                </m:r>
                                <m:r>
                                  <a:rPr lang="en-US" sz="2500" b="0" i="1" smtClean="0">
                                    <a:solidFill>
                                      <a:srgbClr val="C00000"/>
                                    </a:solidFill>
                                    <a:latin typeface="Cambria Math" panose="02040503050406030204" pitchFamily="18" charset="0"/>
                                  </a:rPr>
                                  <m:t>)</m:t>
                                </m:r>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3</m:t>
                                    </m:r>
                                  </m:sub>
                                </m:sSub>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𝑡𝑜</m:t>
                                </m:r>
                                <m:sSub>
                                  <m:sSubPr>
                                    <m:ctrlPr>
                                      <a:rPr lang="en-US" sz="2500" b="0" i="1" smtClean="0">
                                        <a:solidFill>
                                          <a:srgbClr val="C00000"/>
                                        </a:solidFill>
                                        <a:latin typeface="Cambria Math" panose="02040503050406030204" pitchFamily="18" charset="0"/>
                                      </a:rPr>
                                    </m:ctrlPr>
                                  </m:sSubPr>
                                  <m:e>
                                    <m:r>
                                      <a:rPr lang="en-US" sz="2500" b="0" i="1" smtClean="0">
                                        <a:solidFill>
                                          <a:srgbClr val="C00000"/>
                                        </a:solidFill>
                                        <a:latin typeface="Cambria Math" panose="02040503050406030204" pitchFamily="18" charset="0"/>
                                      </a:rPr>
                                      <m:t> </m:t>
                                    </m:r>
                                    <m:r>
                                      <a:rPr lang="en-US" sz="2500" b="0" i="1" smtClean="0">
                                        <a:solidFill>
                                          <a:srgbClr val="C00000"/>
                                        </a:solidFill>
                                        <a:latin typeface="Cambria Math" panose="02040503050406030204" pitchFamily="18" charset="0"/>
                                      </a:rPr>
                                      <m:t>𝛾</m:t>
                                    </m:r>
                                  </m:e>
                                  <m:sub>
                                    <m:r>
                                      <a:rPr lang="en-US" sz="2500" b="0" i="1" smtClean="0">
                                        <a:solidFill>
                                          <a:srgbClr val="C00000"/>
                                        </a:solidFill>
                                        <a:latin typeface="Cambria Math" panose="02040503050406030204" pitchFamily="18" charset="0"/>
                                      </a:rPr>
                                      <m:t>4</m:t>
                                    </m:r>
                                  </m:sub>
                                </m:sSub>
                              </m:oMath>
                            </m:oMathPara>
                          </a14:m>
                          <a:endParaRPr lang="sv-SE" sz="2500" dirty="0">
                            <a:solidFill>
                              <a:srgbClr val="C00000"/>
                            </a:solidFill>
                          </a:endParaRPr>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22582420"/>
                      </a:ext>
                    </a:extLst>
                  </a:tr>
                  <a:tr h="1202871">
                    <a:tc>
                      <a:txBody>
                        <a:bodyPr/>
                        <a:lstStyle/>
                        <a:p>
                          <a:pPr algn="ctr"/>
                          <a:r>
                            <a:rPr lang="en-US" sz="2500" dirty="0" smtClean="0"/>
                            <a:t>T1</a:t>
                          </a: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f>
                                  <m:fPr>
                                    <m:ctrlPr>
                                      <a:rPr lang="en-US" sz="2500" b="0" i="1" smtClean="0">
                                        <a:solidFill>
                                          <a:schemeClr val="tx1"/>
                                        </a:solidFill>
                                        <a:latin typeface="Cambria Math" panose="02040503050406030204" pitchFamily="18" charset="0"/>
                                      </a:rPr>
                                    </m:ctrlPr>
                                  </m:fPr>
                                  <m:num>
                                    <m:sSub>
                                      <m:sSubPr>
                                        <m:ctrlPr>
                                          <a:rPr lang="en-US" sz="2500" b="0" i="1" smtClean="0">
                                            <a:solidFill>
                                              <a:schemeClr val="tx1"/>
                                            </a:solidFill>
                                            <a:latin typeface="Cambria Math" panose="02040503050406030204" pitchFamily="18" charset="0"/>
                                          </a:rPr>
                                        </m:ctrlPr>
                                      </m:sSubPr>
                                      <m:e>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num>
                                  <m:den>
                                    <m:sSub>
                                      <m:sSubPr>
                                        <m:ctrlPr>
                                          <a:rPr lang="en-US" sz="2500" b="0" i="1" smtClean="0">
                                            <a:solidFill>
                                              <a:schemeClr val="tx1"/>
                                            </a:solidFill>
                                            <a:latin typeface="Cambria Math" panose="02040503050406030204" pitchFamily="18" charset="0"/>
                                          </a:rPr>
                                        </m:ctrlPr>
                                      </m:sSubPr>
                                      <m:e>
                                        <m:r>
                                          <a:rPr lang="en-US" sz="2500" b="0" i="1" smtClean="0">
                                            <a:solidFill>
                                              <a:schemeClr val="tx1"/>
                                            </a:solidFill>
                                            <a:latin typeface="Cambria Math" panose="02040503050406030204" pitchFamily="18" charset="0"/>
                                          </a:rPr>
                                          <m:t>𝑛</m:t>
                                        </m:r>
                                      </m:e>
                                      <m:sub>
                                        <m:r>
                                          <a:rPr lang="en-US" sz="2500" b="0" i="1" smtClean="0">
                                            <a:solidFill>
                                              <a:schemeClr val="tx1"/>
                                            </a:solidFill>
                                            <a:latin typeface="Cambria Math" panose="02040503050406030204" pitchFamily="18" charset="0"/>
                                          </a:rPr>
                                          <m:t>𝑚𝑜𝑑</m:t>
                                        </m:r>
                                      </m:sub>
                                    </m:sSub>
                                  </m:den>
                                </m:f>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endParaRPr lang="en-US" sz="2500" b="0" i="1" dirty="0" smtClean="0">
                            <a:solidFill>
                              <a:schemeClr val="tx1"/>
                            </a:solidFill>
                            <a:latin typeface="Cambria Math" panose="02040503050406030204" pitchFamily="18" charset="0"/>
                          </a:endParaRPr>
                        </a:p>
                        <a:p>
                          <a:pPr algn="ctr"/>
                          <a:endParaRPr lang="en-US" sz="2500" b="0" i="1" dirty="0" smtClean="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f>
                                  <m:fPr>
                                    <m:ctrlPr>
                                      <a:rPr lang="en-US" sz="2500" b="0" i="1" smtClean="0">
                                        <a:solidFill>
                                          <a:schemeClr val="tx1"/>
                                        </a:solidFill>
                                        <a:latin typeface="Cambria Math" panose="02040503050406030204" pitchFamily="18" charset="0"/>
                                      </a:rPr>
                                    </m:ctrlPr>
                                  </m:fPr>
                                  <m:num>
                                    <m:sSub>
                                      <m:sSubPr>
                                        <m:ctrlPr>
                                          <a:rPr lang="en-US" sz="2500" b="0" i="1" smtClean="0">
                                            <a:solidFill>
                                              <a:schemeClr val="tx1"/>
                                            </a:solidFill>
                                            <a:latin typeface="Cambria Math" panose="02040503050406030204" pitchFamily="18" charset="0"/>
                                          </a:rPr>
                                        </m:ctrlPr>
                                      </m:sSubPr>
                                      <m:e>
                                        <m:r>
                                          <a:rPr lang="en-US" sz="2500" b="0" i="1" smtClean="0">
                                            <a:solidFill>
                                              <a:schemeClr val="tx1"/>
                                            </a:solidFill>
                                            <a:latin typeface="Cambria Math" panose="02040503050406030204" pitchFamily="18" charset="0"/>
                                          </a:rPr>
                                          <m:t>𝑈</m:t>
                                        </m:r>
                                      </m:e>
                                      <m:sub>
                                        <m:r>
                                          <a:rPr lang="en-US" sz="2500" b="0" i="1" smtClean="0">
                                            <a:solidFill>
                                              <a:schemeClr val="tx1"/>
                                            </a:solidFill>
                                            <a:latin typeface="Cambria Math" panose="02040503050406030204" pitchFamily="18" charset="0"/>
                                          </a:rPr>
                                          <m:t>𝑑𝑐</m:t>
                                        </m:r>
                                      </m:sub>
                                    </m:sSub>
                                  </m:num>
                                  <m:den>
                                    <m:sSub>
                                      <m:sSubPr>
                                        <m:ctrlPr>
                                          <a:rPr lang="en-US" sz="2500" b="0" i="1" smtClean="0">
                                            <a:solidFill>
                                              <a:schemeClr val="tx1"/>
                                            </a:solidFill>
                                            <a:latin typeface="Cambria Math" panose="02040503050406030204" pitchFamily="18" charset="0"/>
                                          </a:rPr>
                                        </m:ctrlPr>
                                      </m:sSubPr>
                                      <m:e>
                                        <m:r>
                                          <a:rPr lang="en-US" sz="2500" b="0" i="1" smtClean="0">
                                            <a:solidFill>
                                              <a:schemeClr val="tx1"/>
                                            </a:solidFill>
                                            <a:latin typeface="Cambria Math" panose="02040503050406030204" pitchFamily="18" charset="0"/>
                                          </a:rPr>
                                          <m:t>𝑛</m:t>
                                        </m:r>
                                      </m:e>
                                      <m:sub>
                                        <m:r>
                                          <a:rPr lang="en-US" sz="2500" b="0" i="1" smtClean="0">
                                            <a:solidFill>
                                              <a:schemeClr val="tx1"/>
                                            </a:solidFill>
                                            <a:latin typeface="Cambria Math" panose="02040503050406030204" pitchFamily="18" charset="0"/>
                                          </a:rPr>
                                          <m:t>𝑚𝑜𝑑</m:t>
                                        </m:r>
                                      </m:sub>
                                    </m:sSub>
                                  </m:den>
                                </m:f>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𝐺</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𝐺</m:t>
                                </m:r>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2500" b="0" i="1" smtClean="0">
                                        <a:latin typeface="Cambria Math" panose="02040503050406030204" pitchFamily="18" charset="0"/>
                                      </a:rPr>
                                    </m:ctrlPr>
                                  </m:fPr>
                                  <m:num>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num>
                                  <m:den>
                                    <m:r>
                                      <a:rPr lang="en-US" sz="2500" b="0" i="1" smtClean="0">
                                        <a:latin typeface="Cambria Math" panose="02040503050406030204" pitchFamily="18" charset="0"/>
                                      </a:rPr>
                                      <m:t>2</m:t>
                                    </m:r>
                                  </m:den>
                                </m:f>
                              </m:oMath>
                            </m:oMathPara>
                          </a14:m>
                          <a:endParaRPr lang="sv-SE" sz="2500" dirty="0"/>
                        </a:p>
                        <a:p>
                          <a:pPr algn="ctr"/>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𝐺</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𝐺</m:t>
                                </m:r>
                              </m:oMath>
                            </m:oMathPara>
                          </a14:m>
                          <a:endParaRPr lang="sv-SE" sz="2500" dirty="0">
                            <a:solidFill>
                              <a:schemeClr val="tx1"/>
                            </a:solidFill>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7361417"/>
                      </a:ext>
                    </a:extLst>
                  </a:tr>
                  <a:tr h="1136761">
                    <a:tc>
                      <a:txBody>
                        <a:bodyPr/>
                        <a:lstStyle/>
                        <a:p>
                          <a:pPr algn="ctr"/>
                          <a:r>
                            <a:rPr lang="en-US" sz="2500" dirty="0" smtClean="0"/>
                            <a:t>T2 (rev)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vMerge="1">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vMerge="1">
                      <a:txBody>
                        <a:bodyPr/>
                        <a:lstStyle/>
                        <a:p>
                          <a:endParaRPr lang="sv-SE"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pPr algn="ctr"/>
                          <a14:m>
                            <m:oMathPara xmlns:m="http://schemas.openxmlformats.org/officeDocument/2006/math">
                              <m:oMathParaPr>
                                <m:jc m:val="centerGroup"/>
                              </m:oMathParaPr>
                              <m:oMath xmlns:m="http://schemas.openxmlformats.org/officeDocument/2006/math">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𝐺</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𝑡𝑜</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𝜋</m:t>
                                </m:r>
                                <m:r>
                                  <a:rPr lang="en-US" sz="2500" b="0" i="1" smtClean="0">
                                    <a:solidFill>
                                      <a:schemeClr val="tx1"/>
                                    </a:solidFill>
                                    <a:latin typeface="Cambria Math" panose="02040503050406030204" pitchFamily="18" charset="0"/>
                                  </a:rPr>
                                  <m:t>+</m:t>
                                </m:r>
                                <m:r>
                                  <a:rPr lang="en-US" sz="2500" b="0" i="1" smtClean="0">
                                    <a:solidFill>
                                      <a:schemeClr val="tx1"/>
                                    </a:solidFill>
                                    <a:latin typeface="Cambria Math" panose="02040503050406030204" pitchFamily="18" charset="0"/>
                                  </a:rPr>
                                  <m:t>𝜓</m:t>
                                </m:r>
                                <m:r>
                                  <a:rPr lang="en-US" sz="2500" b="0" i="1" smtClean="0">
                                    <a:solidFill>
                                      <a:schemeClr val="tx1"/>
                                    </a:solidFill>
                                    <a:latin typeface="Cambria Math" panose="02040503050406030204" pitchFamily="18" charset="0"/>
                                  </a:rPr>
                                  <m:t> −</m:t>
                                </m:r>
                                <m:r>
                                  <a:rPr lang="en-US" sz="2500" b="0" i="1" smtClean="0">
                                    <a:solidFill>
                                      <a:schemeClr val="tx1"/>
                                    </a:solidFill>
                                    <a:latin typeface="Cambria Math" panose="02040503050406030204" pitchFamily="18" charset="0"/>
                                  </a:rPr>
                                  <m:t>𝐺</m:t>
                                </m:r>
                              </m:oMath>
                            </m:oMathPara>
                          </a14:m>
                          <a:endParaRPr lang="sv-SE" sz="2500" dirty="0">
                            <a:solidFill>
                              <a:schemeClr val="tx1"/>
                            </a:solidFill>
                          </a:endParaRPr>
                        </a:p>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US" sz="2500" b="0" i="1" smtClean="0">
                                        <a:latin typeface="Cambria Math" panose="02040503050406030204" pitchFamily="18" charset="0"/>
                                      </a:rPr>
                                    </m:ctrlPr>
                                  </m:fPr>
                                  <m:num>
                                    <m:r>
                                      <a:rPr lang="en-US" sz="2500" b="0" i="1" smtClean="0">
                                        <a:latin typeface="Cambria Math" panose="02040503050406030204" pitchFamily="18" charset="0"/>
                                      </a:rPr>
                                      <m:t>1−</m:t>
                                    </m:r>
                                    <m:r>
                                      <a:rPr lang="en-US" sz="2500" b="0" i="1" smtClean="0">
                                        <a:latin typeface="Cambria Math" panose="02040503050406030204" pitchFamily="18" charset="0"/>
                                      </a:rPr>
                                      <m:t>𝛼</m:t>
                                    </m:r>
                                    <m:d>
                                      <m:dPr>
                                        <m:ctrlPr>
                                          <a:rPr lang="en-US" sz="2500" b="0" i="1" smtClean="0">
                                            <a:latin typeface="Cambria Math" panose="02040503050406030204" pitchFamily="18" charset="0"/>
                                          </a:rPr>
                                        </m:ctrlPr>
                                      </m:dPr>
                                      <m:e>
                                        <m:r>
                                          <a:rPr lang="en-US" sz="2500" b="0" i="1" smtClean="0">
                                            <a:latin typeface="Cambria Math" panose="02040503050406030204" pitchFamily="18" charset="0"/>
                                          </a:rPr>
                                          <m:t>𝛾</m:t>
                                        </m:r>
                                      </m:e>
                                    </m:d>
                                  </m:num>
                                  <m:den>
                                    <m:r>
                                      <a:rPr lang="en-US" sz="2500" b="0" i="1" smtClean="0">
                                        <a:latin typeface="Cambria Math" panose="02040503050406030204" pitchFamily="18" charset="0"/>
                                      </a:rPr>
                                      <m:t>2</m:t>
                                    </m:r>
                                  </m:den>
                                </m:f>
                              </m:oMath>
                            </m:oMathPara>
                          </a14:m>
                          <a:endParaRPr lang="sv-SE" sz="2500" dirty="0"/>
                        </a:p>
                        <a:p>
                          <a:pPr algn="ct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3335021"/>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218520544"/>
                  </p:ext>
                </p:extLst>
              </p:nvPr>
            </p:nvGraphicFramePr>
            <p:xfrm>
              <a:off x="2234566" y="1231486"/>
              <a:ext cx="9576434" cy="2895506"/>
            </p:xfrm>
            <a:graphic>
              <a:graphicData uri="http://schemas.openxmlformats.org/drawingml/2006/table">
                <a:tbl>
                  <a:tblPr/>
                  <a:tblGrid>
                    <a:gridCol w="900912">
                      <a:extLst>
                        <a:ext uri="{9D8B030D-6E8A-4147-A177-3AD203B41FA5}">
                          <a16:colId xmlns:a16="http://schemas.microsoft.com/office/drawing/2014/main" val="3761696542"/>
                        </a:ext>
                      </a:extLst>
                    </a:gridCol>
                    <a:gridCol w="1131722">
                      <a:extLst>
                        <a:ext uri="{9D8B030D-6E8A-4147-A177-3AD203B41FA5}">
                          <a16:colId xmlns:a16="http://schemas.microsoft.com/office/drawing/2014/main" val="1021110957"/>
                        </a:ext>
                      </a:extLst>
                    </a:gridCol>
                    <a:gridCol w="1085850">
                      <a:extLst>
                        <a:ext uri="{9D8B030D-6E8A-4147-A177-3AD203B41FA5}">
                          <a16:colId xmlns:a16="http://schemas.microsoft.com/office/drawing/2014/main" val="3731599906"/>
                        </a:ext>
                      </a:extLst>
                    </a:gridCol>
                    <a:gridCol w="3000375">
                      <a:extLst>
                        <a:ext uri="{9D8B030D-6E8A-4147-A177-3AD203B41FA5}">
                          <a16:colId xmlns:a16="http://schemas.microsoft.com/office/drawing/2014/main" val="1982671173"/>
                        </a:ext>
                      </a:extLst>
                    </a:gridCol>
                    <a:gridCol w="1676400">
                      <a:extLst>
                        <a:ext uri="{9D8B030D-6E8A-4147-A177-3AD203B41FA5}">
                          <a16:colId xmlns:a16="http://schemas.microsoft.com/office/drawing/2014/main" val="1361513456"/>
                        </a:ext>
                      </a:extLst>
                    </a:gridCol>
                    <a:gridCol w="1781175">
                      <a:extLst>
                        <a:ext uri="{9D8B030D-6E8A-4147-A177-3AD203B41FA5}">
                          <a16:colId xmlns:a16="http://schemas.microsoft.com/office/drawing/2014/main" val="271046663"/>
                        </a:ext>
                      </a:extLst>
                    </a:gridCol>
                  </a:tblGrid>
                  <a:tr h="476918">
                    <a:tc>
                      <a:txBody>
                        <a:bodyPr/>
                        <a:lstStyle/>
                        <a:p>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80108" t="-2564" r="-666667" b="-512821"/>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88202" t="-2564" r="-596629" b="-512821"/>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04268" t="-2564" r="-115854" b="-512821"/>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364130" t="-2564" r="-106522" b="-512821"/>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438699" t="-2564" r="-685" b="-512821"/>
                          </a:stretch>
                        </a:blipFill>
                      </a:tcPr>
                    </a:tc>
                    <a:extLst>
                      <a:ext uri="{0D108BD9-81ED-4DB2-BD59-A6C34878D82A}">
                        <a16:rowId xmlns:a16="http://schemas.microsoft.com/office/drawing/2014/main" val="1122582420"/>
                      </a:ext>
                    </a:extLst>
                  </a:tr>
                  <a:tr h="1209294">
                    <a:tc>
                      <a:txBody>
                        <a:bodyPr/>
                        <a:lstStyle/>
                        <a:p>
                          <a:pPr algn="ctr"/>
                          <a:r>
                            <a:rPr lang="en-US" sz="2500" dirty="0" smtClean="0"/>
                            <a:t>T1</a:t>
                          </a:r>
                          <a:endParaRPr lang="sv-SE" sz="2500" dirty="0"/>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0108" t="-20151" r="-666667" b="-756"/>
                          </a:stretch>
                        </a:blipFill>
                      </a:tcPr>
                    </a:tc>
                    <a:tc rowSpan="2">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88202" t="-20151" r="-596629" b="-756"/>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4268" t="-40201" r="-115854" b="-101005"/>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130" t="-40201" r="-106522" b="-101005"/>
                          </a:stretch>
                        </a:blipFill>
                      </a:tcPr>
                    </a:tc>
                    <a:tc>
                      <a:txBody>
                        <a:bodyPr/>
                        <a:lstStyle/>
                        <a:p>
                          <a:endParaRPr lang="sv-SE"/>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8699" t="-40201" r="-685" b="-101005"/>
                          </a:stretch>
                        </a:blipFill>
                      </a:tcPr>
                    </a:tc>
                    <a:extLst>
                      <a:ext uri="{0D108BD9-81ED-4DB2-BD59-A6C34878D82A}">
                        <a16:rowId xmlns:a16="http://schemas.microsoft.com/office/drawing/2014/main" val="2337361417"/>
                      </a:ext>
                    </a:extLst>
                  </a:tr>
                  <a:tr h="1209294">
                    <a:tc>
                      <a:txBody>
                        <a:bodyPr/>
                        <a:lstStyle/>
                        <a:p>
                          <a:pPr algn="ctr"/>
                          <a:r>
                            <a:rPr lang="en-US" sz="2500" dirty="0" smtClean="0"/>
                            <a:t>T2 (rev)</a:t>
                          </a:r>
                          <a:endParaRPr lang="sv-SE" sz="25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vMerge="1">
                      <a:txBody>
                        <a:bodyPr/>
                        <a:lstStyle/>
                        <a:p>
                          <a:endParaRPr lang="sv-SE"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mpd="sng">
                          <a:solidFill>
                            <a:schemeClr val="tx1"/>
                          </a:solidFill>
                          <a:prstDash val="solid"/>
                        </a:lnB>
                      </a:tcPr>
                    </a:tc>
                    <a:tc vMerge="1">
                      <a:txBody>
                        <a:bodyPr/>
                        <a:lstStyle/>
                        <a:p>
                          <a:endParaRPr lang="sv-SE" dirty="0"/>
                        </a:p>
                      </a:txBody>
                      <a:tcPr>
                        <a:lnL w="12700" cap="flat" cmpd="sng" algn="ctr">
                          <a:solidFill>
                            <a:schemeClr val="tx1"/>
                          </a:solidFill>
                          <a:prstDash val="solid"/>
                          <a:round/>
                          <a:headEnd type="none" w="med" len="med"/>
                          <a:tailEnd type="none" w="med" len="me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4268" t="-140909" r="-115854" b="-1515"/>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64130" t="-140909" r="-106522" b="-1515"/>
                          </a:stretch>
                        </a:blipFill>
                      </a:tcPr>
                    </a:tc>
                    <a:tc>
                      <a:txBody>
                        <a:bodyPr/>
                        <a:lstStyle/>
                        <a:p>
                          <a:pPr algn="ctr"/>
                          <a:r>
                            <a:rPr lang="en-US" sz="2500" dirty="0" smtClean="0">
                              <a:solidFill>
                                <a:schemeClr val="tx1"/>
                              </a:solidFill>
                            </a:rPr>
                            <a:t>-</a:t>
                          </a:r>
                          <a:endParaRPr lang="sv-SE" sz="25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3335021"/>
                      </a:ext>
                    </a:extLst>
                  </a:tr>
                </a:tbl>
              </a:graphicData>
            </a:graphic>
          </p:graphicFrame>
        </mc:Fallback>
      </mc:AlternateContent>
      <p:pic>
        <p:nvPicPr>
          <p:cNvPr id="7" name="Picture 6"/>
          <p:cNvPicPr>
            <a:picLocks noChangeAspect="1"/>
          </p:cNvPicPr>
          <p:nvPr/>
        </p:nvPicPr>
        <p:blipFill rotWithShape="1">
          <a:blip r:embed="rId3"/>
          <a:srcRect l="82021" b="10137"/>
          <a:stretch/>
        </p:blipFill>
        <p:spPr>
          <a:xfrm>
            <a:off x="209550" y="1331637"/>
            <a:ext cx="1797610" cy="2625804"/>
          </a:xfrm>
          <a:prstGeom prst="rect">
            <a:avLst/>
          </a:prstGeom>
        </p:spPr>
      </p:pic>
      <mc:AlternateContent xmlns:mc="http://schemas.openxmlformats.org/markup-compatibility/2006" xmlns:a14="http://schemas.microsoft.com/office/drawing/2010/main">
        <mc:Choice Requires="a14">
          <p:sp>
            <p:nvSpPr>
              <p:cNvPr id="8" name="Rectangle 7"/>
              <p:cNvSpPr/>
              <p:nvPr/>
            </p:nvSpPr>
            <p:spPr>
              <a:xfrm>
                <a:off x="295275" y="4706073"/>
                <a:ext cx="11296650" cy="646331"/>
              </a:xfrm>
              <a:prstGeom prst="rect">
                <a:avLst/>
              </a:prstGeom>
            </p:spPr>
            <p:txBody>
              <a:bodyPr wrap="square">
                <a:spAutoFit/>
              </a:bodyPr>
              <a:lstStyle/>
              <a:p>
                <a:r>
                  <a:rPr lang="en-US" dirty="0"/>
                  <a:t>T</a:t>
                </a:r>
                <a:r>
                  <a:rPr lang="en-US" dirty="0" smtClean="0"/>
                  <a:t>he </a:t>
                </a:r>
                <a:r>
                  <a:rPr lang="en-US" dirty="0"/>
                  <a:t>blocking and switching voltages of the </a:t>
                </a:r>
                <a:r>
                  <a:rPr lang="en-US" dirty="0" smtClean="0"/>
                  <a:t>semiconductors </a:t>
                </a:r>
                <a:r>
                  <a:rPr lang="en-US" dirty="0"/>
                  <a:t>(T1/T2) are reduced to the voltage of a single module </a:t>
                </a:r>
                <a:r>
                  <a:rPr lang="en-US" dirty="0" smtClean="0"/>
                  <a:t>capacitor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𝑚𝑜𝑑</m:t>
                        </m:r>
                      </m:sub>
                    </m:sSub>
                  </m:oMath>
                </a14:m>
                <a:r>
                  <a:rPr lang="en-US" dirty="0"/>
                  <a:t>.</a:t>
                </a:r>
                <a:endParaRPr lang="sv-SE" dirty="0"/>
              </a:p>
            </p:txBody>
          </p:sp>
        </mc:Choice>
        <mc:Fallback xmlns="">
          <p:sp>
            <p:nvSpPr>
              <p:cNvPr id="8" name="Rectangle 7"/>
              <p:cNvSpPr>
                <a:spLocks noRot="1" noChangeAspect="1" noMove="1" noResize="1" noEditPoints="1" noAdjustHandles="1" noChangeArrowheads="1" noChangeShapeType="1" noTextEdit="1"/>
              </p:cNvSpPr>
              <p:nvPr/>
            </p:nvSpPr>
            <p:spPr>
              <a:xfrm>
                <a:off x="295275" y="4706073"/>
                <a:ext cx="11296650" cy="646331"/>
              </a:xfrm>
              <a:prstGeom prst="rect">
                <a:avLst/>
              </a:prstGeom>
              <a:blipFill>
                <a:blip r:embed="rId4"/>
                <a:stretch>
                  <a:fillRect l="-431" t="-5660" b="-14151"/>
                </a:stretch>
              </a:blipFill>
            </p:spPr>
            <p:txBody>
              <a:bodyPr/>
              <a:lstStyle/>
              <a:p>
                <a:r>
                  <a:rPr lang="sv-SE">
                    <a:noFill/>
                  </a:rPr>
                  <a:t> </a:t>
                </a:r>
              </a:p>
            </p:txBody>
          </p:sp>
        </mc:Fallback>
      </mc:AlternateContent>
      <p:pic>
        <p:nvPicPr>
          <p:cNvPr id="9" name="Picture 8"/>
          <p:cNvPicPr>
            <a:picLocks noChangeAspect="1"/>
          </p:cNvPicPr>
          <p:nvPr/>
        </p:nvPicPr>
        <p:blipFill>
          <a:blip r:embed="rId5"/>
          <a:stretch>
            <a:fillRect/>
          </a:stretch>
        </p:blipFill>
        <p:spPr>
          <a:xfrm>
            <a:off x="3538537" y="4202220"/>
            <a:ext cx="2295525" cy="428625"/>
          </a:xfrm>
          <a:prstGeom prst="rect">
            <a:avLst/>
          </a:prstGeom>
        </p:spPr>
      </p:pic>
    </p:spTree>
    <p:extLst>
      <p:ext uri="{BB962C8B-B14F-4D97-AF65-F5344CB8AC3E}">
        <p14:creationId xmlns:p14="http://schemas.microsoft.com/office/powerpoint/2010/main" val="2710259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947" y="263132"/>
            <a:ext cx="10515600" cy="963857"/>
          </a:xfrm>
        </p:spPr>
        <p:txBody>
          <a:bodyPr/>
          <a:lstStyle/>
          <a:p>
            <a:r>
              <a:rPr lang="en-US" dirty="0" smtClean="0">
                <a:solidFill>
                  <a:srgbClr val="C00000"/>
                </a:solidFill>
              </a:rPr>
              <a:t>Semiconductor Losses</a:t>
            </a:r>
            <a:endParaRPr lang="sv-SE" dirty="0">
              <a:solidFill>
                <a:srgbClr val="C00000"/>
              </a:solidFill>
            </a:endParaRPr>
          </a:p>
        </p:txBody>
      </p:sp>
      <p:sp>
        <p:nvSpPr>
          <p:cNvPr id="5" name="Rectangle 4"/>
          <p:cNvSpPr/>
          <p:nvPr/>
        </p:nvSpPr>
        <p:spPr>
          <a:xfrm>
            <a:off x="742945" y="1251072"/>
            <a:ext cx="10515601" cy="369332"/>
          </a:xfrm>
          <a:prstGeom prst="rect">
            <a:avLst/>
          </a:prstGeom>
        </p:spPr>
        <p:txBody>
          <a:bodyPr wrap="square">
            <a:spAutoFit/>
          </a:bodyPr>
          <a:lstStyle/>
          <a:p>
            <a:r>
              <a:rPr lang="sv-SE" dirty="0"/>
              <a:t>The loss </a:t>
            </a:r>
            <a:r>
              <a:rPr lang="en-US" dirty="0" smtClean="0"/>
              <a:t>calculations are shown for one phase with the reference signal </a:t>
            </a:r>
            <a:r>
              <a:rPr lang="sv-SE" dirty="0" smtClean="0"/>
              <a:t>a(γ </a:t>
            </a:r>
            <a:r>
              <a:rPr lang="sv-SE" dirty="0"/>
              <a:t>) and the modulation index </a:t>
            </a:r>
            <a:r>
              <a:rPr lang="sv-SE" dirty="0" smtClean="0"/>
              <a:t>M.</a:t>
            </a:r>
            <a:endParaRPr lang="sv-SE" dirty="0"/>
          </a:p>
        </p:txBody>
      </p:sp>
      <mc:AlternateContent xmlns:mc="http://schemas.openxmlformats.org/markup-compatibility/2006" xmlns:a14="http://schemas.microsoft.com/office/drawing/2010/main">
        <mc:Choice Requires="a14">
          <p:sp>
            <p:nvSpPr>
              <p:cNvPr id="6" name="TextBox 5"/>
              <p:cNvSpPr txBox="1"/>
              <p:nvPr/>
            </p:nvSpPr>
            <p:spPr>
              <a:xfrm>
                <a:off x="3363355" y="1906719"/>
                <a:ext cx="34785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𝜶</m:t>
                      </m:r>
                      <m:d>
                        <m:dPr>
                          <m:ctrlPr>
                            <a:rPr lang="en-US" b="1" i="1" smtClean="0">
                              <a:latin typeface="Cambria Math" panose="02040503050406030204" pitchFamily="18" charset="0"/>
                            </a:rPr>
                          </m:ctrlPr>
                        </m:dPr>
                        <m:e>
                          <m:r>
                            <a:rPr lang="en-US" b="1" i="1" smtClean="0">
                              <a:latin typeface="Cambria Math" panose="02040503050406030204" pitchFamily="18" charset="0"/>
                            </a:rPr>
                            <m:t>𝜸</m:t>
                          </m:r>
                        </m:e>
                      </m:d>
                      <m:r>
                        <a:rPr lang="en-US" b="1" i="1" smtClean="0">
                          <a:latin typeface="Cambria Math" panose="02040503050406030204" pitchFamily="18" charset="0"/>
                        </a:rPr>
                        <m:t>=</m:t>
                      </m:r>
                      <m:r>
                        <a:rPr lang="en-US" b="1" i="1" smtClean="0">
                          <a:latin typeface="Cambria Math" panose="02040503050406030204" pitchFamily="18" charset="0"/>
                        </a:rPr>
                        <m:t>𝑴</m:t>
                      </m:r>
                      <m:func>
                        <m:funcPr>
                          <m:ctrlPr>
                            <a:rPr lang="en-US" b="1" i="1" smtClean="0">
                              <a:latin typeface="Cambria Math" panose="02040503050406030204" pitchFamily="18" charset="0"/>
                            </a:rPr>
                          </m:ctrlPr>
                        </m:funcPr>
                        <m:fName>
                          <m:r>
                            <a:rPr lang="en-US" b="1" i="0" smtClean="0">
                              <a:latin typeface="Cambria Math" panose="02040503050406030204" pitchFamily="18" charset="0"/>
                            </a:rPr>
                            <m:t>𝐬𝐢𝐧</m:t>
                          </m:r>
                        </m:fName>
                        <m:e>
                          <m:d>
                            <m:dPr>
                              <m:ctrlPr>
                                <a:rPr lang="en-US" b="1" i="1" smtClean="0">
                                  <a:latin typeface="Cambria Math" panose="02040503050406030204" pitchFamily="18" charset="0"/>
                                </a:rPr>
                              </m:ctrlPr>
                            </m:dPr>
                            <m:e>
                              <m:r>
                                <a:rPr lang="en-US" b="1" i="1" smtClean="0">
                                  <a:latin typeface="Cambria Math" panose="02040503050406030204" pitchFamily="18" charset="0"/>
                                </a:rPr>
                                <m:t>𝜸</m:t>
                              </m:r>
                            </m:e>
                          </m:d>
                          <m:r>
                            <a:rPr lang="en-US" b="1" i="1" smtClean="0">
                              <a:latin typeface="Cambria Math" panose="02040503050406030204" pitchFamily="18" charset="0"/>
                            </a:rPr>
                            <m:t>   ,  </m:t>
                          </m:r>
                          <m:r>
                            <a:rPr lang="en-US" b="1" i="1" smtClean="0">
                              <a:latin typeface="Cambria Math" panose="02040503050406030204" pitchFamily="18" charset="0"/>
                            </a:rPr>
                            <m:t>𝜸</m:t>
                          </m:r>
                          <m:r>
                            <a:rPr lang="en-US" b="1" i="1" smtClean="0">
                              <a:latin typeface="Cambria Math" panose="02040503050406030204" pitchFamily="18" charset="0"/>
                            </a:rPr>
                            <m:t>=</m:t>
                          </m:r>
                          <m:r>
                            <a:rPr lang="en-US" b="1" i="1" smtClean="0">
                              <a:latin typeface="Cambria Math" panose="02040503050406030204" pitchFamily="18" charset="0"/>
                            </a:rPr>
                            <m:t>𝟐</m:t>
                          </m:r>
                          <m:r>
                            <a:rPr lang="en-US" b="1" i="1" smtClean="0">
                              <a:latin typeface="Cambria Math" panose="02040503050406030204" pitchFamily="18" charset="0"/>
                            </a:rPr>
                            <m:t>𝝅</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𝒇</m:t>
                              </m:r>
                            </m:e>
                            <m:sub>
                              <m:r>
                                <a:rPr lang="en-US" b="1" i="1" smtClean="0">
                                  <a:latin typeface="Cambria Math" panose="02040503050406030204" pitchFamily="18" charset="0"/>
                                </a:rPr>
                                <m:t>𝑳</m:t>
                              </m:r>
                            </m:sub>
                          </m:sSub>
                          <m:r>
                            <a:rPr lang="en-US" b="1" i="1" smtClean="0">
                              <a:latin typeface="Cambria Math" panose="02040503050406030204" pitchFamily="18" charset="0"/>
                            </a:rPr>
                            <m:t>𝒕</m:t>
                          </m:r>
                        </m:e>
                      </m:func>
                    </m:oMath>
                  </m:oMathPara>
                </a14:m>
                <a:endParaRPr lang="sv-SE" b="1" dirty="0"/>
              </a:p>
            </p:txBody>
          </p:sp>
        </mc:Choice>
        <mc:Fallback xmlns="">
          <p:sp>
            <p:nvSpPr>
              <p:cNvPr id="6" name="TextBox 5"/>
              <p:cNvSpPr txBox="1">
                <a:spLocks noRot="1" noChangeAspect="1" noMove="1" noResize="1" noEditPoints="1" noAdjustHandles="1" noChangeArrowheads="1" noChangeShapeType="1" noTextEdit="1"/>
              </p:cNvSpPr>
              <p:nvPr/>
            </p:nvSpPr>
            <p:spPr>
              <a:xfrm>
                <a:off x="3363355" y="1906719"/>
                <a:ext cx="3478516" cy="276999"/>
              </a:xfrm>
              <a:prstGeom prst="rect">
                <a:avLst/>
              </a:prstGeom>
              <a:blipFill>
                <a:blip r:embed="rId2"/>
                <a:stretch>
                  <a:fillRect l="-526" t="-2222" r="-1228" b="-35556"/>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7" name="Rectangle 6"/>
              <p:cNvSpPr/>
              <p:nvPr/>
            </p:nvSpPr>
            <p:spPr>
              <a:xfrm>
                <a:off x="742945" y="2533353"/>
                <a:ext cx="10515601" cy="376770"/>
              </a:xfrm>
              <a:prstGeom prst="rect">
                <a:avLst/>
              </a:prstGeom>
            </p:spPr>
            <p:txBody>
              <a:bodyPr wrap="square">
                <a:spAutoFit/>
              </a:bodyPr>
              <a:lstStyle/>
              <a:p>
                <a:r>
                  <a:rPr lang="sv-SE" dirty="0" smtClean="0"/>
                  <a:t>The </a:t>
                </a:r>
                <a:r>
                  <a:rPr lang="sv-SE" dirty="0"/>
                  <a:t>output </a:t>
                </a:r>
                <a:r>
                  <a:rPr lang="sv-SE" dirty="0" err="1"/>
                  <a:t>current</a:t>
                </a:r>
                <a:r>
                  <a:rPr lang="sv-SE" dirty="0"/>
                  <a:t>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𝐢</m:t>
                        </m:r>
                      </m:e>
                      <m:sub>
                        <m:r>
                          <a:rPr lang="en-US" b="1" i="1" smtClean="0">
                            <a:latin typeface="Cambria Math" panose="02040503050406030204" pitchFamily="18" charset="0"/>
                          </a:rPr>
                          <m:t>𝑳</m:t>
                        </m:r>
                      </m:sub>
                    </m:sSub>
                    <m:d>
                      <m:dPr>
                        <m:ctrlPr>
                          <a:rPr lang="en-US" b="1" i="1" smtClean="0">
                            <a:latin typeface="Cambria Math" panose="02040503050406030204" pitchFamily="18" charset="0"/>
                          </a:rPr>
                        </m:ctrlPr>
                      </m:dPr>
                      <m:e>
                        <m:r>
                          <a:rPr lang="en-US" b="1" i="1" smtClean="0">
                            <a:latin typeface="Cambria Math" panose="02040503050406030204" pitchFamily="18" charset="0"/>
                          </a:rPr>
                          <m:t>𝜸</m:t>
                        </m:r>
                      </m:e>
                    </m:d>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𝑰</m:t>
                            </m:r>
                          </m:e>
                        </m:acc>
                      </m:e>
                      <m:sub>
                        <m:r>
                          <a:rPr lang="en-US" b="1" i="1" smtClean="0">
                            <a:latin typeface="Cambria Math" panose="02040503050406030204" pitchFamily="18" charset="0"/>
                          </a:rPr>
                          <m:t>𝑳</m:t>
                        </m:r>
                      </m:sub>
                    </m:sSub>
                    <m:func>
                      <m:funcPr>
                        <m:ctrlPr>
                          <a:rPr lang="en-US" b="1" i="1">
                            <a:latin typeface="Cambria Math" panose="02040503050406030204" pitchFamily="18" charset="0"/>
                          </a:rPr>
                        </m:ctrlPr>
                      </m:funcPr>
                      <m:fName>
                        <m:r>
                          <a:rPr lang="en-US" b="1" i="1">
                            <a:latin typeface="Cambria Math" panose="02040503050406030204" pitchFamily="18" charset="0"/>
                          </a:rPr>
                          <m:t>𝒔𝒊𝒏</m:t>
                        </m:r>
                      </m:fName>
                      <m:e>
                        <m:d>
                          <m:dPr>
                            <m:ctrlPr>
                              <a:rPr lang="en-US" b="1" i="1">
                                <a:latin typeface="Cambria Math" panose="02040503050406030204" pitchFamily="18" charset="0"/>
                              </a:rPr>
                            </m:ctrlPr>
                          </m:dPr>
                          <m:e>
                            <m:r>
                              <a:rPr lang="en-US" b="1" i="1">
                                <a:latin typeface="Cambria Math" panose="02040503050406030204" pitchFamily="18" charset="0"/>
                              </a:rPr>
                              <m:t>𝜸</m:t>
                            </m:r>
                            <m:r>
                              <a:rPr lang="en-US" b="1" i="1" smtClean="0">
                                <a:latin typeface="Cambria Math" panose="02040503050406030204" pitchFamily="18" charset="0"/>
                              </a:rPr>
                              <m:t>−</m:t>
                            </m:r>
                            <m:r>
                              <a:rPr lang="en-US" b="1" i="1" smtClean="0">
                                <a:latin typeface="Cambria Math" panose="02040503050406030204" pitchFamily="18" charset="0"/>
                              </a:rPr>
                              <m:t>𝝍</m:t>
                            </m:r>
                          </m:e>
                        </m:d>
                        <m:r>
                          <a:rPr lang="en-US" b="1" i="1">
                            <a:latin typeface="Cambria Math" panose="02040503050406030204" pitchFamily="18" charset="0"/>
                          </a:rPr>
                          <m:t>   </m:t>
                        </m:r>
                      </m:e>
                    </m:func>
                  </m:oMath>
                </a14:m>
                <a:r>
                  <a:rPr lang="sv-SE" dirty="0" err="1"/>
                  <a:t>which</a:t>
                </a:r>
                <a:r>
                  <a:rPr lang="sv-SE" dirty="0"/>
                  <a:t> </a:t>
                </a:r>
                <a:r>
                  <a:rPr lang="sv-SE" dirty="0" err="1" smtClean="0"/>
                  <a:t>depends</a:t>
                </a:r>
                <a:r>
                  <a:rPr lang="sv-SE" dirty="0" smtClean="0"/>
                  <a:t> </a:t>
                </a:r>
                <a:r>
                  <a:rPr lang="sv-SE" dirty="0"/>
                  <a:t>on the </a:t>
                </a:r>
                <a:r>
                  <a:rPr lang="sv-SE" dirty="0" err="1"/>
                  <a:t>connected</a:t>
                </a:r>
                <a:r>
                  <a:rPr lang="sv-SE" dirty="0"/>
                  <a:t> </a:t>
                </a:r>
                <a:r>
                  <a:rPr lang="sv-SE" dirty="0" err="1"/>
                  <a:t>machine’s</a:t>
                </a:r>
                <a:r>
                  <a:rPr lang="sv-SE" dirty="0"/>
                  <a:t> </a:t>
                </a:r>
                <a:r>
                  <a:rPr lang="sv-SE" b="1" dirty="0" err="1"/>
                  <a:t>power</a:t>
                </a:r>
                <a:r>
                  <a:rPr lang="sv-SE" b="1" dirty="0"/>
                  <a:t> </a:t>
                </a:r>
                <a:r>
                  <a:rPr lang="sv-SE" b="1" dirty="0" err="1"/>
                  <a:t>factor</a:t>
                </a:r>
                <a:r>
                  <a:rPr lang="sv-SE" b="1" dirty="0"/>
                  <a:t> </a:t>
                </a:r>
                <a14:m>
                  <m:oMath xmlns:m="http://schemas.openxmlformats.org/officeDocument/2006/math">
                    <m:r>
                      <a:rPr lang="en-US" b="1" i="0" smtClean="0">
                        <a:latin typeface="Cambria Math" panose="02040503050406030204" pitchFamily="18" charset="0"/>
                      </a:rPr>
                      <m:t>𝐜𝐨𝐬</m:t>
                    </m:r>
                    <m:d>
                      <m:dPr>
                        <m:ctrlPr>
                          <a:rPr lang="en-US" b="1" i="1" smtClean="0">
                            <a:latin typeface="Cambria Math" panose="02040503050406030204" pitchFamily="18" charset="0"/>
                          </a:rPr>
                        </m:ctrlPr>
                      </m:dPr>
                      <m:e>
                        <m:r>
                          <a:rPr lang="en-US" b="1" i="1">
                            <a:latin typeface="Cambria Math" panose="02040503050406030204" pitchFamily="18" charset="0"/>
                          </a:rPr>
                          <m:t>𝝍</m:t>
                        </m:r>
                      </m:e>
                    </m:d>
                    <m:r>
                      <a:rPr lang="en-US" b="1" i="0" smtClean="0">
                        <a:latin typeface="Cambria Math" panose="02040503050406030204" pitchFamily="18" charset="0"/>
                      </a:rPr>
                      <m:t>.</m:t>
                    </m:r>
                  </m:oMath>
                </a14:m>
                <a:endParaRPr lang="sv-SE" b="1" dirty="0"/>
              </a:p>
            </p:txBody>
          </p:sp>
        </mc:Choice>
        <mc:Fallback>
          <p:sp>
            <p:nvSpPr>
              <p:cNvPr id="7" name="Rectangle 6"/>
              <p:cNvSpPr>
                <a:spLocks noRot="1" noChangeAspect="1" noMove="1" noResize="1" noEditPoints="1" noAdjustHandles="1" noChangeArrowheads="1" noChangeShapeType="1" noTextEdit="1"/>
              </p:cNvSpPr>
              <p:nvPr/>
            </p:nvSpPr>
            <p:spPr>
              <a:xfrm>
                <a:off x="742945" y="2533353"/>
                <a:ext cx="10515601" cy="376770"/>
              </a:xfrm>
              <a:prstGeom prst="rect">
                <a:avLst/>
              </a:prstGeom>
              <a:blipFill>
                <a:blip r:embed="rId3"/>
                <a:stretch>
                  <a:fillRect l="-522" t="-6557" b="-27869"/>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742948" y="3255325"/>
                <a:ext cx="10515598" cy="947695"/>
              </a:xfrm>
              <a:prstGeom prst="rect">
                <a:avLst/>
              </a:prstGeom>
            </p:spPr>
            <p:txBody>
              <a:bodyPr wrap="square">
                <a:spAutoFit/>
              </a:bodyPr>
              <a:lstStyle/>
              <a:p>
                <a:r>
                  <a:rPr lang="sv-SE" dirty="0" smtClean="0"/>
                  <a:t>Based </a:t>
                </a:r>
                <a:r>
                  <a:rPr lang="sv-SE" dirty="0"/>
                  <a:t>on </a:t>
                </a:r>
                <a:r>
                  <a:rPr lang="sv-SE" dirty="0" err="1"/>
                  <a:t>these</a:t>
                </a:r>
                <a:r>
                  <a:rPr lang="sv-SE" dirty="0"/>
                  <a:t> parameters, the </a:t>
                </a:r>
                <a:r>
                  <a:rPr lang="sv-SE" dirty="0" err="1"/>
                  <a:t>average</a:t>
                </a:r>
                <a:r>
                  <a:rPr lang="sv-SE" dirty="0"/>
                  <a:t> </a:t>
                </a:r>
                <a:r>
                  <a:rPr lang="sv-SE" dirty="0" err="1" smtClean="0"/>
                  <a:t>conduction</a:t>
                </a:r>
                <a:r>
                  <a:rPr lang="sv-SE" dirty="0" smtClean="0"/>
                  <a:t> </a:t>
                </a:r>
                <a:r>
                  <a:rPr lang="sv-SE" dirty="0" err="1"/>
                  <a:t>losses</a:t>
                </a:r>
                <a:r>
                  <a:rPr lang="sv-SE" dirty="0"/>
                  <a:t> </a:t>
                </a:r>
                <a:r>
                  <a:rPr lang="sv-SE" dirty="0" err="1"/>
                  <a:t>of</a:t>
                </a:r>
                <a:r>
                  <a:rPr lang="sv-SE" dirty="0"/>
                  <a:t> the transistor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𝑃</m:t>
                        </m:r>
                      </m:e>
                      <m:sub>
                        <m:r>
                          <a:rPr lang="sv-SE" i="1" dirty="0" smtClean="0">
                            <a:latin typeface="Cambria Math" panose="02040503050406030204" pitchFamily="18" charset="0"/>
                          </a:rPr>
                          <m:t>𝑇</m:t>
                        </m:r>
                        <m:r>
                          <a:rPr lang="en-US" b="0" i="1" dirty="0" smtClean="0">
                            <a:latin typeface="Cambria Math" panose="02040503050406030204" pitchFamily="18" charset="0"/>
                          </a:rPr>
                          <m:t>,</m:t>
                        </m:r>
                        <m:r>
                          <a:rPr lang="en-US" b="0" i="1" dirty="0" smtClean="0">
                            <a:latin typeface="Cambria Math" panose="02040503050406030204" pitchFamily="18" charset="0"/>
                          </a:rPr>
                          <m:t>𝑣</m:t>
                        </m:r>
                        <m:r>
                          <a:rPr lang="en-US" b="0" i="1" dirty="0" smtClean="0">
                            <a:latin typeface="Cambria Math" panose="02040503050406030204" pitchFamily="18" charset="0"/>
                          </a:rPr>
                          <m:t>,</m:t>
                        </m:r>
                        <m:r>
                          <a:rPr lang="en-US" b="0" i="1" dirty="0" smtClean="0">
                            <a:latin typeface="Cambria Math" panose="02040503050406030204" pitchFamily="18" charset="0"/>
                          </a:rPr>
                          <m:t>𝑐</m:t>
                        </m:r>
                      </m:sub>
                    </m:sSub>
                  </m:oMath>
                </a14:m>
                <a:r>
                  <a:rPr lang="sv-SE" dirty="0" smtClean="0"/>
                  <a:t> </a:t>
                </a:r>
                <a:r>
                  <a:rPr lang="sv-SE" dirty="0"/>
                  <a:t> and the </a:t>
                </a:r>
                <a:r>
                  <a:rPr lang="sv-SE" dirty="0" err="1"/>
                  <a:t>diode</a:t>
                </a:r>
                <a:r>
                  <a:rPr lang="sv-SE" dirty="0"/>
                  <a:t> </a:t>
                </a:r>
                <a14:m>
                  <m:oMath xmlns:m="http://schemas.openxmlformats.org/officeDocument/2006/math">
                    <m:sSub>
                      <m:sSubPr>
                        <m:ctrlPr>
                          <a:rPr lang="en-US" i="1" dirty="0">
                            <a:latin typeface="Cambria Math" panose="02040503050406030204" pitchFamily="18" charset="0"/>
                          </a:rPr>
                        </m:ctrlPr>
                      </m:sSubPr>
                      <m:e>
                        <m:r>
                          <a:rPr lang="sv-SE" i="1" dirty="0">
                            <a:latin typeface="Cambria Math" panose="02040503050406030204" pitchFamily="18" charset="0"/>
                          </a:rPr>
                          <m:t>𝑃</m:t>
                        </m:r>
                      </m:e>
                      <m:sub>
                        <m:r>
                          <a:rPr lang="en-US" b="0" i="1" dirty="0" smtClean="0">
                            <a:latin typeface="Cambria Math" panose="02040503050406030204" pitchFamily="18" charset="0"/>
                          </a:rPr>
                          <m:t>𝐷</m:t>
                        </m:r>
                        <m:r>
                          <a:rPr lang="en-US" i="1" dirty="0">
                            <a:latin typeface="Cambria Math" panose="02040503050406030204" pitchFamily="18" charset="0"/>
                          </a:rPr>
                          <m:t>,</m:t>
                        </m:r>
                        <m:r>
                          <a:rPr lang="en-US" i="1" dirty="0">
                            <a:latin typeface="Cambria Math" panose="02040503050406030204" pitchFamily="18" charset="0"/>
                          </a:rPr>
                          <m:t>𝑣</m:t>
                        </m:r>
                        <m:r>
                          <a:rPr lang="en-US" i="1" dirty="0">
                            <a:latin typeface="Cambria Math" panose="02040503050406030204" pitchFamily="18" charset="0"/>
                          </a:rPr>
                          <m:t>,</m:t>
                        </m:r>
                        <m:r>
                          <a:rPr lang="en-US" i="1" dirty="0">
                            <a:latin typeface="Cambria Math" panose="02040503050406030204" pitchFamily="18" charset="0"/>
                          </a:rPr>
                          <m:t>𝑐</m:t>
                        </m:r>
                      </m:sub>
                    </m:sSub>
                  </m:oMath>
                </a14:m>
                <a:r>
                  <a:rPr lang="sv-SE" dirty="0" smtClean="0"/>
                  <a:t> are </a:t>
                </a:r>
                <a:r>
                  <a:rPr lang="sv-SE" dirty="0" err="1"/>
                  <a:t>calculated</a:t>
                </a:r>
                <a:r>
                  <a:rPr lang="sv-SE" dirty="0"/>
                  <a:t> in </a:t>
                </a:r>
                <a:r>
                  <a:rPr lang="sv-SE" dirty="0" err="1"/>
                  <a:t>dependence</a:t>
                </a:r>
                <a:r>
                  <a:rPr lang="sv-SE" dirty="0"/>
                  <a:t> on the </a:t>
                </a:r>
                <a:r>
                  <a:rPr lang="sv-SE" dirty="0" err="1"/>
                  <a:t>conduction</a:t>
                </a:r>
                <a:r>
                  <a:rPr lang="sv-SE" dirty="0"/>
                  <a:t> </a:t>
                </a:r>
                <a:r>
                  <a:rPr lang="sv-SE" dirty="0" err="1"/>
                  <a:t>angles</a:t>
                </a:r>
                <a:r>
                  <a:rPr lang="sv-SE" dirty="0"/>
                  <a:t> </a:t>
                </a:r>
                <a14:m>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𝛾</m:t>
                        </m:r>
                      </m:e>
                      <m:sub>
                        <m:r>
                          <a:rPr lang="en-US" b="0" i="1" smtClean="0">
                            <a:latin typeface="Cambria Math" panose="02040503050406030204" pitchFamily="18" charset="0"/>
                          </a:rPr>
                          <m:t>1</m:t>
                        </m:r>
                      </m:sub>
                    </m:sSub>
                  </m:oMath>
                </a14:m>
                <a:r>
                  <a:rPr lang="sv-SE"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b="0" i="1" smtClean="0">
                            <a:latin typeface="Cambria Math" panose="02040503050406030204" pitchFamily="18" charset="0"/>
                          </a:rPr>
                          <m:t>2</m:t>
                        </m:r>
                      </m:sub>
                    </m:sSub>
                  </m:oMath>
                </a14:m>
                <a:r>
                  <a:rPr lang="sv-SE" dirty="0" smtClean="0"/>
                  <a:t> </a:t>
                </a:r>
                <a:r>
                  <a:rPr lang="sv-SE" dirty="0"/>
                  <a:t>and the </a:t>
                </a:r>
                <a:r>
                  <a:rPr lang="sv-SE" dirty="0" err="1"/>
                  <a:t>duty</a:t>
                </a:r>
                <a:r>
                  <a:rPr lang="sv-SE" dirty="0"/>
                  <a:t> </a:t>
                </a:r>
                <a:r>
                  <a:rPr lang="sv-SE" dirty="0" err="1"/>
                  <a:t>ratio</a:t>
                </a:r>
                <a:r>
                  <a:rPr lang="sv-SE" dirty="0"/>
                  <a:t> </a:t>
                </a:r>
                <a14:m>
                  <m:oMath xmlns:m="http://schemas.openxmlformats.org/officeDocument/2006/math">
                    <m:r>
                      <m:rPr>
                        <m:sty m:val="p"/>
                      </m:rPr>
                      <a:rPr lang="en-US">
                        <a:latin typeface="Cambria Math" panose="02040503050406030204" pitchFamily="18" charset="0"/>
                      </a:rPr>
                      <m:t>D</m:t>
                    </m:r>
                    <m:d>
                      <m:dPr>
                        <m:ctrlPr>
                          <a:rPr lang="en-US" b="0" i="1" smtClean="0">
                            <a:latin typeface="Cambria Math" panose="02040503050406030204" pitchFamily="18" charset="0"/>
                          </a:rPr>
                        </m:ctrlPr>
                      </m:dPr>
                      <m:e>
                        <m:r>
                          <a:rPr lang="en-US" b="0" i="1" smtClean="0">
                            <a:latin typeface="Cambria Math" panose="02040503050406030204" pitchFamily="18" charset="0"/>
                          </a:rPr>
                          <m:t>𝛾</m:t>
                        </m:r>
                      </m:e>
                    </m:d>
                  </m:oMath>
                </a14:m>
                <a:r>
                  <a:rPr lang="sv-SE" dirty="0" smtClean="0"/>
                  <a:t> which </a:t>
                </a:r>
                <a:r>
                  <a:rPr lang="sv-SE" dirty="0" err="1"/>
                  <a:t>indicates</a:t>
                </a:r>
                <a:r>
                  <a:rPr lang="sv-SE" dirty="0"/>
                  <a:t> the </a:t>
                </a:r>
                <a:r>
                  <a:rPr lang="sv-SE" dirty="0" err="1"/>
                  <a:t>ratio</a:t>
                </a:r>
                <a:r>
                  <a:rPr lang="sv-SE" dirty="0"/>
                  <a:t> </a:t>
                </a:r>
                <a:r>
                  <a:rPr lang="sv-SE" dirty="0" err="1"/>
                  <a:t>between</a:t>
                </a:r>
                <a:r>
                  <a:rPr lang="sv-SE" dirty="0"/>
                  <a:t> </a:t>
                </a:r>
                <a:r>
                  <a:rPr lang="sv-SE" dirty="0" smtClean="0"/>
                  <a:t>the </a:t>
                </a:r>
                <a:r>
                  <a:rPr lang="sv-SE" dirty="0" err="1"/>
                  <a:t>conduction</a:t>
                </a:r>
                <a:r>
                  <a:rPr lang="sv-SE" dirty="0"/>
                  <a:t> </a:t>
                </a:r>
                <a:r>
                  <a:rPr lang="sv-SE" dirty="0" err="1"/>
                  <a:t>time</a:t>
                </a:r>
                <a:r>
                  <a:rPr lang="sv-SE" dirty="0"/>
                  <a:t> and the </a:t>
                </a:r>
                <a:r>
                  <a:rPr lang="sv-SE" dirty="0" err="1"/>
                  <a:t>switching</a:t>
                </a:r>
                <a:r>
                  <a:rPr lang="sv-SE" dirty="0"/>
                  <a:t> </a:t>
                </a:r>
                <a:r>
                  <a:rPr lang="sv-SE" dirty="0" smtClean="0"/>
                  <a:t>period.</a:t>
                </a:r>
                <a:endParaRPr lang="sv-SE" dirty="0"/>
              </a:p>
            </p:txBody>
          </p:sp>
        </mc:Choice>
        <mc:Fallback xmlns="">
          <p:sp>
            <p:nvSpPr>
              <p:cNvPr id="8" name="Rectangle 7"/>
              <p:cNvSpPr>
                <a:spLocks noRot="1" noChangeAspect="1" noMove="1" noResize="1" noEditPoints="1" noAdjustHandles="1" noChangeArrowheads="1" noChangeShapeType="1" noTextEdit="1"/>
              </p:cNvSpPr>
              <p:nvPr/>
            </p:nvSpPr>
            <p:spPr>
              <a:xfrm>
                <a:off x="742948" y="3255325"/>
                <a:ext cx="10515598" cy="947695"/>
              </a:xfrm>
              <a:prstGeom prst="rect">
                <a:avLst/>
              </a:prstGeom>
              <a:blipFill>
                <a:blip r:embed="rId4"/>
                <a:stretch>
                  <a:fillRect l="-522" t="-2581" r="-174" b="-8387"/>
                </a:stretch>
              </a:blipFill>
            </p:spPr>
            <p:txBody>
              <a:bodyPr/>
              <a:lstStyle/>
              <a:p>
                <a:r>
                  <a:rPr lang="sv-SE">
                    <a:noFill/>
                  </a:rPr>
                  <a:t> </a:t>
                </a:r>
              </a:p>
            </p:txBody>
          </p:sp>
        </mc:Fallback>
      </mc:AlternateContent>
      <p:pic>
        <p:nvPicPr>
          <p:cNvPr id="9" name="Picture 8"/>
          <p:cNvPicPr>
            <a:picLocks noChangeAspect="1"/>
          </p:cNvPicPr>
          <p:nvPr/>
        </p:nvPicPr>
        <p:blipFill rotWithShape="1">
          <a:blip r:embed="rId5"/>
          <a:srcRect t="7143"/>
          <a:stretch/>
        </p:blipFill>
        <p:spPr>
          <a:xfrm>
            <a:off x="2925590" y="4373815"/>
            <a:ext cx="5319713" cy="987946"/>
          </a:xfrm>
          <a:prstGeom prst="rect">
            <a:avLst/>
          </a:prstGeom>
        </p:spPr>
      </p:pic>
      <p:pic>
        <p:nvPicPr>
          <p:cNvPr id="10" name="Picture 9"/>
          <p:cNvPicPr>
            <a:picLocks noChangeAspect="1"/>
          </p:cNvPicPr>
          <p:nvPr/>
        </p:nvPicPr>
        <p:blipFill>
          <a:blip r:embed="rId6"/>
          <a:stretch>
            <a:fillRect/>
          </a:stretch>
        </p:blipFill>
        <p:spPr>
          <a:xfrm>
            <a:off x="3087904" y="5532557"/>
            <a:ext cx="5372099" cy="896508"/>
          </a:xfrm>
          <a:prstGeom prst="rect">
            <a:avLst/>
          </a:prstGeom>
        </p:spPr>
      </p:pic>
    </p:spTree>
    <p:extLst>
      <p:ext uri="{BB962C8B-B14F-4D97-AF65-F5344CB8AC3E}">
        <p14:creationId xmlns:p14="http://schemas.microsoft.com/office/powerpoint/2010/main" val="24743013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p:cNvSpPr/>
              <p:nvPr/>
            </p:nvSpPr>
            <p:spPr>
              <a:xfrm>
                <a:off x="752216" y="258859"/>
                <a:ext cx="10356508" cy="2088007"/>
              </a:xfrm>
              <a:prstGeom prst="rect">
                <a:avLst/>
              </a:prstGeom>
            </p:spPr>
            <p:txBody>
              <a:bodyPr wrap="square">
                <a:spAutoFit/>
              </a:bodyPr>
              <a:lstStyle/>
              <a:p>
                <a:r>
                  <a:rPr lang="en-US" dirty="0" smtClean="0"/>
                  <a:t>The area-specific ON-resistance </a:t>
                </a:r>
                <a14:m>
                  <m:oMath xmlns:m="http://schemas.openxmlformats.org/officeDocument/2006/math">
                    <m:sSub>
                      <m:sSubPr>
                        <m:ctrlPr>
                          <a:rPr lang="sv-SE" i="1" dirty="0">
                            <a:latin typeface="Cambria Math" panose="02040503050406030204" pitchFamily="18" charset="0"/>
                          </a:rPr>
                        </m:ctrlPr>
                      </m:sSubPr>
                      <m:e>
                        <m:r>
                          <a:rPr lang="sv-SE" i="1" dirty="0">
                            <a:latin typeface="Cambria Math" panose="02040503050406030204" pitchFamily="18" charset="0"/>
                          </a:rPr>
                          <m:t>𝑟</m:t>
                        </m:r>
                      </m:e>
                      <m:sub>
                        <m:r>
                          <a:rPr lang="en-US" i="1" dirty="0">
                            <a:latin typeface="Cambria Math" panose="02040503050406030204" pitchFamily="18" charset="0"/>
                          </a:rPr>
                          <m:t>𝑑𝑠</m:t>
                        </m:r>
                        <m:r>
                          <a:rPr lang="sv-SE" i="1" dirty="0">
                            <a:latin typeface="Cambria Math" panose="02040503050406030204" pitchFamily="18" charset="0"/>
                          </a:rPr>
                          <m:t>,</m:t>
                        </m:r>
                        <m:r>
                          <a:rPr lang="sv-SE" i="1" dirty="0">
                            <a:latin typeface="Cambria Math" panose="02040503050406030204" pitchFamily="18" charset="0"/>
                          </a:rPr>
                          <m:t>𝑜𝑛</m:t>
                        </m:r>
                      </m:sub>
                    </m:sSub>
                  </m:oMath>
                </a14:m>
                <a:r>
                  <a:rPr lang="en-US" dirty="0"/>
                  <a:t> of the MOSFET and </a:t>
                </a:r>
                <a14:m>
                  <m:oMath xmlns:m="http://schemas.openxmlformats.org/officeDocument/2006/math">
                    <m:sSub>
                      <m:sSubPr>
                        <m:ctrlPr>
                          <a:rPr lang="sv-SE" i="1" dirty="0" smtClean="0">
                            <a:latin typeface="Cambria Math" panose="02040503050406030204" pitchFamily="18" charset="0"/>
                          </a:rPr>
                        </m:ctrlPr>
                      </m:sSubPr>
                      <m:e>
                        <m:r>
                          <a:rPr lang="sv-SE" i="1" dirty="0">
                            <a:latin typeface="Cambria Math" panose="02040503050406030204" pitchFamily="18" charset="0"/>
                          </a:rPr>
                          <m:t>𝑟</m:t>
                        </m:r>
                      </m:e>
                      <m:sub>
                        <m:r>
                          <a:rPr lang="en-US" b="0" i="1" dirty="0" smtClean="0">
                            <a:latin typeface="Cambria Math" panose="02040503050406030204" pitchFamily="18" charset="0"/>
                          </a:rPr>
                          <m:t>0</m:t>
                        </m:r>
                      </m:sub>
                    </m:sSub>
                  </m:oMath>
                </a14:m>
                <a:r>
                  <a:rPr lang="en-US" dirty="0" smtClean="0"/>
                  <a:t> of </a:t>
                </a:r>
                <a:r>
                  <a:rPr lang="en-US" dirty="0"/>
                  <a:t>the diode are scaled with the active chip area. </a:t>
                </a:r>
                <a:endParaRPr lang="en-US" dirty="0" smtClean="0"/>
              </a:p>
              <a:p>
                <a:r>
                  <a:rPr lang="en-US" dirty="0" smtClean="0"/>
                  <a:t>In </a:t>
                </a:r>
                <a:r>
                  <a:rPr lang="en-US" dirty="0"/>
                  <a:t>contrast, </a:t>
                </a:r>
                <a:r>
                  <a:rPr lang="en-US" dirty="0" smtClean="0"/>
                  <a:t>the </a:t>
                </a:r>
                <a:r>
                  <a:rPr lang="en-US" dirty="0"/>
                  <a:t>initial voltage drop </a:t>
                </a:r>
                <a14:m>
                  <m:oMath xmlns:m="http://schemas.openxmlformats.org/officeDocument/2006/math">
                    <m:sSub>
                      <m:sSubPr>
                        <m:ctrlPr>
                          <a:rPr lang="sv-SE" i="1" dirty="0">
                            <a:latin typeface="Cambria Math" panose="02040503050406030204" pitchFamily="18" charset="0"/>
                          </a:rPr>
                        </m:ctrlPr>
                      </m:sSubPr>
                      <m:e>
                        <m:r>
                          <a:rPr lang="en-US" b="0" i="1" dirty="0" smtClean="0">
                            <a:latin typeface="Cambria Math" panose="02040503050406030204" pitchFamily="18" charset="0"/>
                          </a:rPr>
                          <m:t>𝑢</m:t>
                        </m:r>
                      </m:e>
                      <m:sub>
                        <m:r>
                          <a:rPr lang="en-US" i="1" dirty="0">
                            <a:latin typeface="Cambria Math" panose="02040503050406030204" pitchFamily="18" charset="0"/>
                          </a:rPr>
                          <m:t>0</m:t>
                        </m:r>
                      </m:sub>
                    </m:sSub>
                  </m:oMath>
                </a14:m>
                <a:r>
                  <a:rPr lang="en-US" dirty="0"/>
                  <a:t> of the diode does not scale with </a:t>
                </a:r>
                <a:r>
                  <a:rPr lang="en-US" dirty="0" smtClean="0"/>
                  <a:t>the </a:t>
                </a:r>
                <a:r>
                  <a:rPr lang="en-US" dirty="0"/>
                  <a:t>chip area, as it depends on the metal and semiconductor </a:t>
                </a:r>
                <a:r>
                  <a:rPr lang="en-US" dirty="0" smtClean="0"/>
                  <a:t>material.</a:t>
                </a:r>
              </a:p>
              <a:p>
                <a:endParaRPr lang="en-US" dirty="0"/>
              </a:p>
              <a:p>
                <a:r>
                  <a:rPr lang="en-US" dirty="0"/>
                  <a:t>The average switching loss </a:t>
                </a:r>
                <a14:m>
                  <m:oMath xmlns:m="http://schemas.openxmlformats.org/officeDocument/2006/math">
                    <m:sSub>
                      <m:sSubPr>
                        <m:ctrlPr>
                          <a:rPr lang="en-US" i="1" dirty="0">
                            <a:latin typeface="Cambria Math" panose="02040503050406030204" pitchFamily="18" charset="0"/>
                          </a:rPr>
                        </m:ctrlPr>
                      </m:sSubPr>
                      <m:e>
                        <m:r>
                          <a:rPr lang="sv-SE" i="1" dirty="0">
                            <a:latin typeface="Cambria Math" panose="02040503050406030204" pitchFamily="18" charset="0"/>
                          </a:rPr>
                          <m:t>𝑃</m:t>
                        </m:r>
                      </m:e>
                      <m:sub>
                        <m:r>
                          <a:rPr lang="sv-SE"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𝑣</m:t>
                        </m:r>
                        <m:r>
                          <a:rPr lang="en-US" i="1" dirty="0">
                            <a:latin typeface="Cambria Math" panose="02040503050406030204" pitchFamily="18" charset="0"/>
                          </a:rPr>
                          <m:t>,</m:t>
                        </m:r>
                        <m:r>
                          <a:rPr lang="en-US" b="0" i="1" dirty="0" smtClean="0">
                            <a:latin typeface="Cambria Math" panose="02040503050406030204" pitchFamily="18" charset="0"/>
                          </a:rPr>
                          <m:t>𝑠𝑤</m:t>
                        </m:r>
                      </m:sub>
                    </m:sSub>
                  </m:oMath>
                </a14:m>
                <a:r>
                  <a:rPr lang="en-US" dirty="0"/>
                  <a:t>calculation is based on </a:t>
                </a:r>
                <a:r>
                  <a:rPr lang="en-US" dirty="0" smtClean="0"/>
                  <a:t>a </a:t>
                </a:r>
                <a:r>
                  <a:rPr lang="en-US" dirty="0"/>
                  <a:t>reference chip with a chip area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𝐴</m:t>
                        </m:r>
                      </m:e>
                      <m:sub>
                        <m:r>
                          <a:rPr lang="en-US" i="1" dirty="0" smtClean="0">
                            <a:latin typeface="Cambria Math" panose="02040503050406030204" pitchFamily="18" charset="0"/>
                          </a:rPr>
                          <m:t>𝑟𝑒𝑓</m:t>
                        </m:r>
                      </m:sub>
                    </m:sSub>
                  </m:oMath>
                </a14:m>
                <a:r>
                  <a:rPr lang="en-US" dirty="0"/>
                  <a:t> and a switching energy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𝐸</m:t>
                        </m:r>
                      </m:e>
                      <m:sub>
                        <m:r>
                          <a:rPr lang="en-US" i="1" dirty="0" smtClean="0">
                            <a:latin typeface="Cambria Math" panose="02040503050406030204" pitchFamily="18" charset="0"/>
                          </a:rPr>
                          <m:t>𝑠𝑤</m:t>
                        </m:r>
                        <m:r>
                          <a:rPr lang="en-US" b="0" i="1" dirty="0" smtClean="0">
                            <a:latin typeface="Cambria Math" panose="02040503050406030204" pitchFamily="18" charset="0"/>
                          </a:rPr>
                          <m:t>,</m:t>
                        </m:r>
                        <m:r>
                          <a:rPr lang="en-US" b="0" i="1" dirty="0" smtClean="0">
                            <a:latin typeface="Cambria Math" panose="02040503050406030204" pitchFamily="18" charset="0"/>
                          </a:rPr>
                          <m:t>𝑟𝑒𝑓</m:t>
                        </m:r>
                      </m:sub>
                    </m:sSub>
                  </m:oMath>
                </a14:m>
                <a:r>
                  <a:rPr lang="en-US" dirty="0" smtClean="0"/>
                  <a:t> </a:t>
                </a:r>
                <a:r>
                  <a:rPr lang="en-US" dirty="0"/>
                  <a:t>at a reference operating </a:t>
                </a:r>
                <a:r>
                  <a:rPr lang="en-US" dirty="0" smtClean="0"/>
                  <a:t>point.</a:t>
                </a:r>
              </a:p>
              <a:p>
                <a:endParaRPr lang="sv-SE" dirty="0"/>
              </a:p>
            </p:txBody>
          </p:sp>
        </mc:Choice>
        <mc:Fallback xmlns="">
          <p:sp>
            <p:nvSpPr>
              <p:cNvPr id="5" name="Rectangle 4"/>
              <p:cNvSpPr>
                <a:spLocks noRot="1" noChangeAspect="1" noMove="1" noResize="1" noEditPoints="1" noAdjustHandles="1" noChangeArrowheads="1" noChangeShapeType="1" noTextEdit="1"/>
              </p:cNvSpPr>
              <p:nvPr/>
            </p:nvSpPr>
            <p:spPr>
              <a:xfrm>
                <a:off x="752216" y="258859"/>
                <a:ext cx="10356508" cy="2088007"/>
              </a:xfrm>
              <a:prstGeom prst="rect">
                <a:avLst/>
              </a:prstGeom>
              <a:blipFill>
                <a:blip r:embed="rId2"/>
                <a:stretch>
                  <a:fillRect l="-471" t="-1166" r="-765"/>
                </a:stretch>
              </a:blipFill>
            </p:spPr>
            <p:txBody>
              <a:bodyPr/>
              <a:lstStyle/>
              <a:p>
                <a:r>
                  <a:rPr lang="sv-SE">
                    <a:noFill/>
                  </a:rPr>
                  <a:t> </a:t>
                </a:r>
              </a:p>
            </p:txBody>
          </p:sp>
        </mc:Fallback>
      </mc:AlternateContent>
      <p:pic>
        <p:nvPicPr>
          <p:cNvPr id="3" name="Picture 2"/>
          <p:cNvPicPr>
            <a:picLocks noChangeAspect="1"/>
          </p:cNvPicPr>
          <p:nvPr/>
        </p:nvPicPr>
        <p:blipFill rotWithShape="1">
          <a:blip r:embed="rId3"/>
          <a:srcRect t="4974"/>
          <a:stretch/>
        </p:blipFill>
        <p:spPr>
          <a:xfrm>
            <a:off x="2352222" y="2460821"/>
            <a:ext cx="5884070" cy="1406959"/>
          </a:xfrm>
          <a:prstGeom prst="rect">
            <a:avLst/>
          </a:prstGeom>
        </p:spPr>
      </p:pic>
      <mc:AlternateContent xmlns:mc="http://schemas.openxmlformats.org/markup-compatibility/2006" xmlns:a14="http://schemas.microsoft.com/office/drawing/2010/main">
        <mc:Choice Requires="a14">
          <p:sp>
            <p:nvSpPr>
              <p:cNvPr id="4" name="Rectangle 3"/>
              <p:cNvSpPr/>
              <p:nvPr/>
            </p:nvSpPr>
            <p:spPr>
              <a:xfrm>
                <a:off x="916282" y="4378907"/>
                <a:ext cx="10192442" cy="820096"/>
              </a:xfrm>
              <a:prstGeom prst="rect">
                <a:avLst/>
              </a:prstGeom>
            </p:spPr>
            <p:txBody>
              <a:bodyPr wrap="square">
                <a:spAutoFit/>
              </a:bodyPr>
              <a:lstStyle/>
              <a:p>
                <a:r>
                  <a:rPr lang="sv-SE" dirty="0" smtClean="0"/>
                  <a:t>It </a:t>
                </a:r>
                <a:r>
                  <a:rPr lang="sv-SE" dirty="0" err="1"/>
                  <a:t>depends</a:t>
                </a:r>
                <a:r>
                  <a:rPr lang="sv-SE" dirty="0"/>
                  <a:t> on the </a:t>
                </a:r>
                <a:r>
                  <a:rPr lang="sv-SE" dirty="0" err="1"/>
                  <a:t>voltage</a:t>
                </a:r>
                <a:r>
                  <a:rPr lang="sv-SE" dirty="0"/>
                  <a:t> </a:t>
                </a:r>
                <a:r>
                  <a:rPr lang="sv-SE" dirty="0" err="1"/>
                  <a:t>utilization</a:t>
                </a:r>
                <a:r>
                  <a:rPr lang="sv-SE" dirty="0"/>
                  <a:t> </a:t>
                </a:r>
                <a:r>
                  <a:rPr lang="sv-SE" dirty="0" err="1"/>
                  <a:t>factor</a:t>
                </a:r>
                <a:r>
                  <a:rPr lang="sv-SE" dirty="0"/>
                  <a:t> </a:t>
                </a:r>
                <a14:m>
                  <m:oMath xmlns:m="http://schemas.openxmlformats.org/officeDocument/2006/math">
                    <m:sSub>
                      <m:sSubPr>
                        <m:ctrlPr>
                          <a:rPr lang="en-US" i="1" dirty="0">
                            <a:latin typeface="Cambria Math" panose="02040503050406030204" pitchFamily="18" charset="0"/>
                          </a:rPr>
                        </m:ctrlPr>
                      </m:sSubPr>
                      <m:e>
                        <m:r>
                          <a:rPr lang="sv-SE" i="1" dirty="0">
                            <a:latin typeface="Cambria Math" panose="02040503050406030204" pitchFamily="18" charset="0"/>
                          </a:rPr>
                          <m:t>𝑘</m:t>
                        </m:r>
                      </m:e>
                      <m:sub>
                        <m:r>
                          <a:rPr lang="en-US" i="1" dirty="0">
                            <a:latin typeface="Cambria Math" panose="02040503050406030204" pitchFamily="18" charset="0"/>
                          </a:rPr>
                          <m:t>𝑠𝑤</m:t>
                        </m:r>
                        <m:r>
                          <a:rPr lang="en-US" i="1" dirty="0">
                            <a:latin typeface="Cambria Math" panose="02040503050406030204" pitchFamily="18" charset="0"/>
                          </a:rPr>
                          <m:t>,</m:t>
                        </m:r>
                        <m:r>
                          <a:rPr lang="en-US" i="1" dirty="0">
                            <a:latin typeface="Cambria Math" panose="02040503050406030204" pitchFamily="18" charset="0"/>
                          </a:rPr>
                          <m:t>𝑑𝑠𝑠</m:t>
                        </m:r>
                      </m:sub>
                    </m:sSub>
                    <m:r>
                      <a:rPr lang="sv-SE" i="1" dirty="0">
                        <a:latin typeface="Cambria Math" panose="02040503050406030204" pitchFamily="18" charset="0"/>
                      </a:rPr>
                      <m:t> =</m:t>
                    </m:r>
                    <m:f>
                      <m:fPr>
                        <m:ctrlPr>
                          <a:rPr lang="sv-SE" i="1" dirty="0">
                            <a:latin typeface="Cambria Math" panose="02040503050406030204" pitchFamily="18" charset="0"/>
                          </a:rPr>
                        </m:ctrlPr>
                      </m:fPr>
                      <m:num>
                        <m:sSub>
                          <m:sSubPr>
                            <m:ctrlPr>
                              <a:rPr lang="en-US" i="1" dirty="0">
                                <a:latin typeface="Cambria Math" panose="02040503050406030204" pitchFamily="18" charset="0"/>
                              </a:rPr>
                            </m:ctrlPr>
                          </m:sSubPr>
                          <m:e>
                            <m:r>
                              <a:rPr lang="sv-SE" i="1" dirty="0">
                                <a:latin typeface="Cambria Math" panose="02040503050406030204" pitchFamily="18" charset="0"/>
                              </a:rPr>
                              <m:t>𝑈</m:t>
                            </m:r>
                          </m:e>
                          <m:sub>
                            <m:r>
                              <a:rPr lang="en-US" i="1" dirty="0">
                                <a:latin typeface="Cambria Math" panose="02040503050406030204" pitchFamily="18" charset="0"/>
                              </a:rPr>
                              <m:t>𝑠𝑤</m:t>
                            </m:r>
                          </m:sub>
                        </m:sSub>
                      </m:num>
                      <m:den>
                        <m:sSub>
                          <m:sSubPr>
                            <m:ctrlPr>
                              <a:rPr lang="en-US" i="1" dirty="0">
                                <a:latin typeface="Cambria Math" panose="02040503050406030204" pitchFamily="18" charset="0"/>
                              </a:rPr>
                            </m:ctrlPr>
                          </m:sSubPr>
                          <m:e>
                            <m:r>
                              <a:rPr lang="sv-SE" i="1" dirty="0">
                                <a:latin typeface="Cambria Math" panose="02040503050406030204" pitchFamily="18" charset="0"/>
                              </a:rPr>
                              <m:t>𝑈</m:t>
                            </m:r>
                          </m:e>
                          <m:sub>
                            <m:r>
                              <a:rPr lang="en-US" i="1" dirty="0">
                                <a:latin typeface="Cambria Math" panose="02040503050406030204" pitchFamily="18" charset="0"/>
                              </a:rPr>
                              <m:t>𝑑𝑠𝑠</m:t>
                            </m:r>
                          </m:sub>
                        </m:sSub>
                      </m:den>
                    </m:f>
                    <m:r>
                      <a:rPr lang="en-US" i="1" dirty="0">
                        <a:latin typeface="Cambria Math" panose="02040503050406030204" pitchFamily="18" charset="0"/>
                      </a:rPr>
                      <m:t> </m:t>
                    </m:r>
                  </m:oMath>
                </a14:m>
                <a:r>
                  <a:rPr lang="sv-SE" dirty="0" smtClean="0"/>
                  <a:t> (</a:t>
                </a:r>
                <a:r>
                  <a:rPr lang="sv-SE" dirty="0" err="1"/>
                  <a:t>with</a:t>
                </a:r>
                <a:r>
                  <a:rPr lang="sv-SE" dirty="0"/>
                  <a:t> the </a:t>
                </a:r>
                <a:r>
                  <a:rPr lang="sv-SE" dirty="0" err="1"/>
                  <a:t>switched</a:t>
                </a:r>
                <a:r>
                  <a:rPr lang="sv-SE" dirty="0"/>
                  <a:t> </a:t>
                </a:r>
                <a:r>
                  <a:rPr lang="sv-SE" dirty="0" err="1"/>
                  <a:t>voltage</a:t>
                </a:r>
                <a:r>
                  <a:rPr lang="sv-SE" dirty="0"/>
                  <a:t> </a:t>
                </a:r>
                <a14:m>
                  <m:oMath xmlns:m="http://schemas.openxmlformats.org/officeDocument/2006/math">
                    <m:sSub>
                      <m:sSubPr>
                        <m:ctrlPr>
                          <a:rPr lang="en-US" i="1" dirty="0">
                            <a:latin typeface="Cambria Math" panose="02040503050406030204" pitchFamily="18" charset="0"/>
                          </a:rPr>
                        </m:ctrlPr>
                      </m:sSubPr>
                      <m:e>
                        <m:r>
                          <a:rPr lang="sv-SE" i="1" dirty="0">
                            <a:latin typeface="Cambria Math" panose="02040503050406030204" pitchFamily="18" charset="0"/>
                          </a:rPr>
                          <m:t>𝑈</m:t>
                        </m:r>
                      </m:e>
                      <m:sub>
                        <m:r>
                          <a:rPr lang="en-US" i="1" dirty="0">
                            <a:latin typeface="Cambria Math" panose="02040503050406030204" pitchFamily="18" charset="0"/>
                          </a:rPr>
                          <m:t>𝑠𝑤</m:t>
                        </m:r>
                      </m:sub>
                    </m:sSub>
                  </m:oMath>
                </a14:m>
                <a:r>
                  <a:rPr lang="sv-SE" dirty="0"/>
                  <a:t>), the </a:t>
                </a:r>
                <a:r>
                  <a:rPr lang="sv-SE" dirty="0" err="1"/>
                  <a:t>current</a:t>
                </a:r>
                <a:r>
                  <a:rPr lang="sv-SE" dirty="0"/>
                  <a:t>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𝑖</m:t>
                        </m:r>
                      </m:e>
                      <m:sub>
                        <m:r>
                          <a:rPr lang="sv-SE" i="1" dirty="0" smtClean="0">
                            <a:latin typeface="Cambria Math" panose="02040503050406030204" pitchFamily="18" charset="0"/>
                          </a:rPr>
                          <m:t>𝐿</m:t>
                        </m:r>
                      </m:sub>
                    </m:sSub>
                  </m:oMath>
                </a14:m>
                <a:r>
                  <a:rPr lang="sv-SE" dirty="0"/>
                  <a:t>, the </a:t>
                </a:r>
                <a:r>
                  <a:rPr lang="sv-SE" dirty="0" err="1"/>
                  <a:t>junction</a:t>
                </a:r>
                <a:r>
                  <a:rPr lang="sv-SE" dirty="0"/>
                  <a:t> </a:t>
                </a:r>
                <a:r>
                  <a:rPr lang="sv-SE" dirty="0" err="1" smtClean="0"/>
                  <a:t>temperature</a:t>
                </a:r>
                <a:r>
                  <a:rPr lang="sv-SE" dirty="0" smtClean="0"/>
                  <a:t>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𝜃</m:t>
                        </m:r>
                      </m:e>
                      <m:sub>
                        <m:r>
                          <a:rPr lang="sv-SE" i="1" dirty="0" smtClean="0">
                            <a:latin typeface="Cambria Math" panose="02040503050406030204" pitchFamily="18" charset="0"/>
                          </a:rPr>
                          <m:t>𝑗</m:t>
                        </m:r>
                      </m:sub>
                    </m:sSub>
                  </m:oMath>
                </a14:m>
                <a:r>
                  <a:rPr lang="sv-SE" dirty="0"/>
                  <a:t>, and the </a:t>
                </a:r>
                <a:r>
                  <a:rPr lang="sv-SE" dirty="0" err="1"/>
                  <a:t>rated</a:t>
                </a:r>
                <a:r>
                  <a:rPr lang="sv-SE" dirty="0"/>
                  <a:t> </a:t>
                </a:r>
                <a:r>
                  <a:rPr lang="sv-SE" dirty="0" err="1"/>
                  <a:t>voltage</a:t>
                </a:r>
                <a:r>
                  <a:rPr lang="sv-SE" dirty="0"/>
                  <a:t>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𝑈</m:t>
                        </m:r>
                      </m:e>
                      <m:sub>
                        <m:r>
                          <a:rPr lang="sv-SE" i="1" dirty="0" smtClean="0">
                            <a:latin typeface="Cambria Math" panose="02040503050406030204" pitchFamily="18" charset="0"/>
                          </a:rPr>
                          <m:t>𝑑𝑠𝑠</m:t>
                        </m:r>
                      </m:sub>
                    </m:sSub>
                  </m:oMath>
                </a14:m>
                <a:r>
                  <a:rPr lang="sv-SE" dirty="0"/>
                  <a:t>.</a:t>
                </a:r>
              </a:p>
            </p:txBody>
          </p:sp>
        </mc:Choice>
        <mc:Fallback xmlns="">
          <p:sp>
            <p:nvSpPr>
              <p:cNvPr id="4" name="Rectangle 3"/>
              <p:cNvSpPr>
                <a:spLocks noRot="1" noChangeAspect="1" noMove="1" noResize="1" noEditPoints="1" noAdjustHandles="1" noChangeArrowheads="1" noChangeShapeType="1" noTextEdit="1"/>
              </p:cNvSpPr>
              <p:nvPr/>
            </p:nvSpPr>
            <p:spPr>
              <a:xfrm>
                <a:off x="916282" y="4378907"/>
                <a:ext cx="10192442" cy="820096"/>
              </a:xfrm>
              <a:prstGeom prst="rect">
                <a:avLst/>
              </a:prstGeom>
              <a:blipFill>
                <a:blip r:embed="rId4"/>
                <a:stretch>
                  <a:fillRect l="-478" b="-8148"/>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916282" y="5388696"/>
                <a:ext cx="10192442" cy="646331"/>
              </a:xfrm>
              <a:prstGeom prst="rect">
                <a:avLst/>
              </a:prstGeom>
            </p:spPr>
            <p:txBody>
              <a:bodyPr wrap="square">
                <a:spAutoFit/>
              </a:bodyPr>
              <a:lstStyle/>
              <a:p>
                <a:r>
                  <a:rPr lang="sv-SE" dirty="0" smtClean="0"/>
                  <a:t>The </a:t>
                </a:r>
                <a:r>
                  <a:rPr lang="sv-SE" dirty="0" err="1"/>
                  <a:t>angles</a:t>
                </a:r>
                <a:r>
                  <a:rPr lang="sv-SE"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b="0" i="1" smtClean="0">
                            <a:latin typeface="Cambria Math" panose="02040503050406030204" pitchFamily="18" charset="0"/>
                          </a:rPr>
                          <m:t>3</m:t>
                        </m:r>
                      </m:sub>
                    </m:sSub>
                  </m:oMath>
                </a14:m>
                <a:r>
                  <a:rPr lang="sv-SE" dirty="0"/>
                  <a:t> </a:t>
                </a:r>
                <a:r>
                  <a:rPr lang="sv-SE" dirty="0" smtClean="0"/>
                  <a:t>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b="0" i="1" smtClean="0">
                            <a:latin typeface="Cambria Math" panose="02040503050406030204" pitchFamily="18" charset="0"/>
                          </a:rPr>
                          <m:t>4</m:t>
                        </m:r>
                      </m:sub>
                    </m:sSub>
                  </m:oMath>
                </a14:m>
                <a:r>
                  <a:rPr lang="sv-SE" dirty="0"/>
                  <a:t> </a:t>
                </a:r>
                <a:r>
                  <a:rPr lang="sv-SE" dirty="0" err="1"/>
                  <a:t>indicate</a:t>
                </a:r>
                <a:r>
                  <a:rPr lang="sv-SE" dirty="0"/>
                  <a:t> the </a:t>
                </a:r>
                <a:r>
                  <a:rPr lang="sv-SE" dirty="0" err="1"/>
                  <a:t>range</a:t>
                </a:r>
                <a:r>
                  <a:rPr lang="sv-SE" dirty="0"/>
                  <a:t> in </a:t>
                </a:r>
                <a:r>
                  <a:rPr lang="sv-SE" dirty="0" err="1"/>
                  <a:t>which</a:t>
                </a:r>
                <a:r>
                  <a:rPr lang="sv-SE" dirty="0"/>
                  <a:t> the </a:t>
                </a:r>
                <a:r>
                  <a:rPr lang="sv-SE" dirty="0" err="1"/>
                  <a:t>semiconductor</a:t>
                </a:r>
                <a:r>
                  <a:rPr lang="sv-SE" dirty="0"/>
                  <a:t> </a:t>
                </a:r>
                <a:r>
                  <a:rPr lang="sv-SE" dirty="0" err="1"/>
                  <a:t>causes</a:t>
                </a:r>
                <a:r>
                  <a:rPr lang="sv-SE" dirty="0"/>
                  <a:t> </a:t>
                </a:r>
                <a:r>
                  <a:rPr lang="sv-SE" dirty="0" err="1" smtClean="0"/>
                  <a:t>switching</a:t>
                </a:r>
                <a:r>
                  <a:rPr lang="sv-SE" dirty="0" smtClean="0"/>
                  <a:t> </a:t>
                </a:r>
                <a:r>
                  <a:rPr lang="sv-SE" dirty="0" err="1"/>
                  <a:t>losses</a:t>
                </a:r>
                <a:r>
                  <a:rPr lang="sv-SE" dirty="0"/>
                  <a:t> and </a:t>
                </a:r>
                <a:r>
                  <a:rPr lang="sv-SE" dirty="0" err="1"/>
                  <a:t>are</a:t>
                </a:r>
                <a:r>
                  <a:rPr lang="sv-SE" dirty="0"/>
                  <a:t> </a:t>
                </a:r>
                <a:r>
                  <a:rPr lang="sv-SE" dirty="0" err="1"/>
                  <a:t>equal</a:t>
                </a:r>
                <a:r>
                  <a:rPr lang="sv-SE" dirty="0"/>
                  <a:t> to the </a:t>
                </a:r>
                <a:r>
                  <a:rPr lang="sv-SE" dirty="0" err="1"/>
                  <a:t>conduction</a:t>
                </a:r>
                <a:r>
                  <a:rPr lang="sv-SE" dirty="0"/>
                  <a:t> </a:t>
                </a:r>
                <a:r>
                  <a:rPr lang="sv-SE" dirty="0" err="1"/>
                  <a:t>angles</a:t>
                </a:r>
                <a:r>
                  <a:rPr lang="sv-SE"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b="0" i="1" smtClean="0">
                            <a:latin typeface="Cambria Math" panose="02040503050406030204" pitchFamily="18" charset="0"/>
                          </a:rPr>
                          <m:t>1</m:t>
                        </m:r>
                      </m:sub>
                    </m:sSub>
                  </m:oMath>
                </a14:m>
                <a:r>
                  <a:rPr lang="sv-SE"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𝛾</m:t>
                        </m:r>
                      </m:e>
                      <m:sub>
                        <m:r>
                          <a:rPr lang="en-US" i="1">
                            <a:latin typeface="Cambria Math" panose="02040503050406030204" pitchFamily="18" charset="0"/>
                          </a:rPr>
                          <m:t>2</m:t>
                        </m:r>
                      </m:sub>
                    </m:sSub>
                  </m:oMath>
                </a14:m>
                <a:r>
                  <a:rPr lang="sv-SE" dirty="0" smtClean="0"/>
                  <a:t> </a:t>
                </a:r>
                <a:r>
                  <a:rPr lang="sv-SE" dirty="0"/>
                  <a:t>in </a:t>
                </a:r>
                <a:r>
                  <a:rPr lang="sv-SE" dirty="0" err="1"/>
                  <a:t>most</a:t>
                </a:r>
                <a:r>
                  <a:rPr lang="sv-SE" dirty="0"/>
                  <a:t> </a:t>
                </a:r>
                <a:r>
                  <a:rPr lang="sv-SE" dirty="0" err="1"/>
                  <a:t>of</a:t>
                </a:r>
                <a:r>
                  <a:rPr lang="sv-SE" dirty="0"/>
                  <a:t> the </a:t>
                </a:r>
                <a:r>
                  <a:rPr lang="sv-SE" dirty="0" err="1"/>
                  <a:t>cases</a:t>
                </a:r>
                <a:r>
                  <a:rPr lang="sv-SE" dirty="0"/>
                  <a:t> in forward </a:t>
                </a:r>
                <a:r>
                  <a:rPr lang="sv-SE" dirty="0" err="1"/>
                  <a:t>conduction</a:t>
                </a:r>
                <a:r>
                  <a:rPr lang="sv-SE" dirty="0"/>
                  <a:t> </a:t>
                </a:r>
                <a:r>
                  <a:rPr lang="sv-SE" dirty="0" smtClean="0"/>
                  <a:t>mode.</a:t>
                </a:r>
                <a:endParaRPr lang="sv-SE" dirty="0"/>
              </a:p>
            </p:txBody>
          </p:sp>
        </mc:Choice>
        <mc:Fallback xmlns="">
          <p:sp>
            <p:nvSpPr>
              <p:cNvPr id="11" name="Rectangle 10"/>
              <p:cNvSpPr>
                <a:spLocks noRot="1" noChangeAspect="1" noMove="1" noResize="1" noEditPoints="1" noAdjustHandles="1" noChangeArrowheads="1" noChangeShapeType="1" noTextEdit="1"/>
              </p:cNvSpPr>
              <p:nvPr/>
            </p:nvSpPr>
            <p:spPr>
              <a:xfrm>
                <a:off x="916282" y="5388696"/>
                <a:ext cx="10192442" cy="646331"/>
              </a:xfrm>
              <a:prstGeom prst="rect">
                <a:avLst/>
              </a:prstGeom>
              <a:blipFill>
                <a:blip r:embed="rId5"/>
                <a:stretch>
                  <a:fillRect l="-478" t="-5660" b="-14151"/>
                </a:stretch>
              </a:blipFill>
            </p:spPr>
            <p:txBody>
              <a:bodyPr/>
              <a:lstStyle/>
              <a:p>
                <a:r>
                  <a:rPr lang="sv-SE">
                    <a:noFill/>
                  </a:rPr>
                  <a:t> </a:t>
                </a:r>
              </a:p>
            </p:txBody>
          </p:sp>
        </mc:Fallback>
      </mc:AlternateContent>
    </p:spTree>
    <p:extLst>
      <p:ext uri="{BB962C8B-B14F-4D97-AF65-F5344CB8AC3E}">
        <p14:creationId xmlns:p14="http://schemas.microsoft.com/office/powerpoint/2010/main" val="34301740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Rectangle 5"/>
              <p:cNvSpPr/>
              <p:nvPr/>
            </p:nvSpPr>
            <p:spPr>
              <a:xfrm>
                <a:off x="700086" y="482594"/>
                <a:ext cx="11344275" cy="2031325"/>
              </a:xfrm>
              <a:prstGeom prst="rect">
                <a:avLst/>
              </a:prstGeom>
            </p:spPr>
            <p:txBody>
              <a:bodyPr wrap="square">
                <a:spAutoFit/>
              </a:bodyPr>
              <a:lstStyle/>
              <a:p>
                <a:r>
                  <a:rPr lang="en-US" dirty="0" smtClean="0"/>
                  <a:t>The output voltage in MMCs is not modulated directly. </a:t>
                </a:r>
              </a:p>
              <a:p>
                <a:r>
                  <a:rPr lang="en-US" dirty="0" smtClean="0"/>
                  <a:t>Instead, the branch voltages are modulated to generate the superior output voltage waveform with </a:t>
                </a:r>
                <a14:m>
                  <m:oMath xmlns:m="http://schemas.openxmlformats.org/officeDocument/2006/math">
                    <m:r>
                      <a:rPr lang="en-US" i="1" dirty="0" smtClean="0">
                        <a:latin typeface="Cambria Math" panose="02040503050406030204" pitchFamily="18" charset="0"/>
                      </a:rPr>
                      <m:t>2</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𝑛</m:t>
                        </m:r>
                      </m:e>
                      <m:sub>
                        <m:r>
                          <a:rPr lang="en-US" i="1" dirty="0" smtClean="0">
                            <a:latin typeface="Cambria Math" panose="02040503050406030204" pitchFamily="18" charset="0"/>
                          </a:rPr>
                          <m:t>𝑚𝑜𝑑</m:t>
                        </m:r>
                      </m:sub>
                    </m:sSub>
                    <m:r>
                      <a:rPr lang="en-US" i="1" dirty="0" smtClean="0">
                        <a:latin typeface="Cambria Math" panose="02040503050406030204" pitchFamily="18" charset="0"/>
                      </a:rPr>
                      <m:t> + 1 </m:t>
                    </m:r>
                  </m:oMath>
                </a14:m>
                <a:r>
                  <a:rPr lang="en-US" dirty="0" smtClean="0"/>
                  <a:t>voltage levels. </a:t>
                </a:r>
              </a:p>
              <a:p>
                <a:r>
                  <a:rPr lang="en-US" dirty="0" smtClean="0"/>
                  <a:t>Assuming that the modulation technique balances the module capacitors within each branch and evenly distributes the losses among the modules, the described analytical approach can be used to calculate the semiconductor losses in each module.</a:t>
                </a:r>
              </a:p>
              <a:p>
                <a:r>
                  <a:rPr lang="en-US" dirty="0" smtClean="0"/>
                  <a:t>Since the semiconductors of the modules conduct the branch current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𝑖</m:t>
                        </m:r>
                      </m:e>
                      <m:sub>
                        <m:r>
                          <a:rPr lang="en-US" i="1" dirty="0" smtClean="0">
                            <a:latin typeface="Cambria Math" panose="02040503050406030204" pitchFamily="18" charset="0"/>
                          </a:rPr>
                          <m:t>𝑏𝑟</m:t>
                        </m:r>
                      </m:sub>
                    </m:sSub>
                    <m:r>
                      <a:rPr lang="en-US" i="1" dirty="0" smtClean="0">
                        <a:latin typeface="Cambria Math" panose="02040503050406030204" pitchFamily="18" charset="0"/>
                      </a:rPr>
                      <m:t>, </m:t>
                    </m:r>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i="1" dirty="0" err="1" smtClean="0">
                            <a:latin typeface="Cambria Math" panose="02040503050406030204" pitchFamily="18" charset="0"/>
                          </a:rPr>
                          <m:t>𝑖</m:t>
                        </m:r>
                      </m:e>
                      <m:sub>
                        <m:r>
                          <a:rPr lang="en-US" i="1" dirty="0" err="1" smtClean="0">
                            <a:latin typeface="Cambria Math" panose="02040503050406030204" pitchFamily="18" charset="0"/>
                          </a:rPr>
                          <m:t>𝐿</m:t>
                        </m:r>
                      </m:sub>
                    </m:sSub>
                    <m:d>
                      <m:dPr>
                        <m:ctrlPr>
                          <a:rPr lang="en-US" i="1" dirty="0" smtClean="0">
                            <a:latin typeface="Cambria Math" panose="02040503050406030204" pitchFamily="18" charset="0"/>
                          </a:rPr>
                        </m:ctrlPr>
                      </m:dPr>
                      <m:e>
                        <m:r>
                          <a:rPr lang="en-US" i="1" dirty="0" smtClean="0">
                            <a:latin typeface="Cambria Math" panose="02040503050406030204" pitchFamily="18" charset="0"/>
                          </a:rPr>
                          <m:t>𝛾</m:t>
                        </m:r>
                        <m:r>
                          <a:rPr lang="en-US" i="1" dirty="0" smtClean="0">
                            <a:latin typeface="Cambria Math" panose="02040503050406030204" pitchFamily="18" charset="0"/>
                          </a:rPr>
                          <m:t> </m:t>
                        </m:r>
                      </m:e>
                    </m:d>
                    <m:r>
                      <a:rPr lang="en-US" i="1" dirty="0" smtClean="0">
                        <a:latin typeface="Cambria Math" panose="02040503050406030204" pitchFamily="18" charset="0"/>
                      </a:rPr>
                      <m:t> </m:t>
                    </m:r>
                  </m:oMath>
                </a14:m>
                <a:r>
                  <a:rPr lang="en-US" dirty="0" smtClean="0"/>
                  <a:t>has to be replaced by</a:t>
                </a:r>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700086" y="482594"/>
                <a:ext cx="11344275" cy="2031325"/>
              </a:xfrm>
              <a:prstGeom prst="rect">
                <a:avLst/>
              </a:prstGeom>
              <a:blipFill>
                <a:blip r:embed="rId2"/>
                <a:stretch>
                  <a:fillRect l="-484" t="-1502" r="-645" b="-390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2768592" y="2701155"/>
                <a:ext cx="6330964" cy="7287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err="1">
                              <a:latin typeface="Cambria Math" panose="02040503050406030204" pitchFamily="18" charset="0"/>
                            </a:rPr>
                            <m:t>𝑖</m:t>
                          </m:r>
                        </m:e>
                        <m:sub>
                          <m:r>
                            <a:rPr lang="en-US" b="0" i="1" dirty="0" smtClean="0">
                              <a:latin typeface="Cambria Math" panose="02040503050406030204" pitchFamily="18" charset="0"/>
                            </a:rPr>
                            <m:t>𝑏𝑟</m:t>
                          </m:r>
                        </m:sub>
                      </m:sSub>
                      <m:d>
                        <m:dPr>
                          <m:ctrlPr>
                            <a:rPr lang="en-US" i="1" dirty="0">
                              <a:latin typeface="Cambria Math" panose="02040503050406030204" pitchFamily="18" charset="0"/>
                            </a:rPr>
                          </m:ctrlPr>
                        </m:dPr>
                        <m:e>
                          <m:r>
                            <a:rPr lang="en-US" i="1" dirty="0">
                              <a:latin typeface="Cambria Math" panose="02040503050406030204" pitchFamily="18" charset="0"/>
                            </a:rPr>
                            <m:t>𝛾</m:t>
                          </m:r>
                          <m:r>
                            <a:rPr lang="en-US" i="1" dirty="0">
                              <a:latin typeface="Cambria Math" panose="02040503050406030204" pitchFamily="18" charset="0"/>
                            </a:rPr>
                            <m:t> </m:t>
                          </m:r>
                        </m:e>
                      </m:d>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acc>
                                <m:accPr>
                                  <m:chr m:val="̂"/>
                                  <m:ctrlPr>
                                    <a:rPr lang="en-US" b="0" i="1" dirty="0" smtClean="0">
                                      <a:latin typeface="Cambria Math" panose="02040503050406030204" pitchFamily="18" charset="0"/>
                                    </a:rPr>
                                  </m:ctrlPr>
                                </m:accPr>
                                <m:e>
                                  <m:r>
                                    <a:rPr lang="en-US" b="0" i="1" dirty="0" smtClean="0">
                                      <a:latin typeface="Cambria Math" panose="02040503050406030204" pitchFamily="18" charset="0"/>
                                    </a:rPr>
                                    <m:t>𝐼</m:t>
                                  </m:r>
                                </m:e>
                              </m:acc>
                            </m:e>
                            <m:sub>
                              <m:r>
                                <a:rPr lang="en-US" b="0" i="1" dirty="0" smtClean="0">
                                  <a:latin typeface="Cambria Math" panose="02040503050406030204" pitchFamily="18" charset="0"/>
                                </a:rPr>
                                <m:t>𝐿</m:t>
                              </m:r>
                            </m:sub>
                          </m:sSub>
                        </m:num>
                        <m:den>
                          <m:r>
                            <a:rPr lang="en-US" b="0" i="1" dirty="0" smtClean="0">
                              <a:latin typeface="Cambria Math" panose="02040503050406030204" pitchFamily="18" charset="0"/>
                            </a:rPr>
                            <m:t>2</m:t>
                          </m:r>
                        </m:den>
                      </m:f>
                      <m:d>
                        <m:dPr>
                          <m:ctrlPr>
                            <a:rPr lang="en-US" b="0" i="1" dirty="0" smtClean="0">
                              <a:latin typeface="Cambria Math" panose="02040503050406030204" pitchFamily="18" charset="0"/>
                            </a:rPr>
                          </m:ctrlPr>
                        </m:dPr>
                        <m:e>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𝑘</m:t>
                              </m:r>
                            </m:den>
                          </m:f>
                          <m:r>
                            <a:rPr lang="en-US" b="0" i="1" dirty="0" smtClean="0">
                              <a:latin typeface="Cambria Math" panose="02040503050406030204" pitchFamily="18" charset="0"/>
                            </a:rPr>
                            <m:t>+</m:t>
                          </m:r>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sin</m:t>
                              </m:r>
                            </m:fName>
                            <m:e>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𝛾</m:t>
                                  </m:r>
                                  <m:r>
                                    <a:rPr lang="en-US" b="0" i="1" dirty="0" smtClean="0">
                                      <a:latin typeface="Cambria Math" panose="02040503050406030204" pitchFamily="18" charset="0"/>
                                    </a:rPr>
                                    <m:t>−</m:t>
                                  </m:r>
                                  <m:r>
                                    <a:rPr lang="en-US" b="0" i="1" dirty="0" smtClean="0">
                                      <a:latin typeface="Cambria Math" panose="02040503050406030204" pitchFamily="18" charset="0"/>
                                    </a:rPr>
                                    <m:t>𝜓</m:t>
                                  </m:r>
                                </m:e>
                              </m:d>
                            </m:e>
                          </m:func>
                        </m:e>
                      </m:d>
                      <m:r>
                        <a:rPr lang="en-US" b="0" i="1" dirty="0" smtClean="0">
                          <a:latin typeface="Cambria Math" panose="02040503050406030204" pitchFamily="18" charset="0"/>
                        </a:rPr>
                        <m:t> </m:t>
                      </m:r>
                      <m:r>
                        <a:rPr lang="en-US" b="0" i="1" dirty="0" smtClean="0">
                          <a:latin typeface="Cambria Math" panose="02040503050406030204" pitchFamily="18" charset="0"/>
                        </a:rPr>
                        <m:t>𝑤h𝑒𝑟𝑒</m:t>
                      </m:r>
                      <m:r>
                        <a:rPr lang="en-US" b="0" i="1" dirty="0" smtClean="0">
                          <a:latin typeface="Cambria Math" panose="02040503050406030204" pitchFamily="18" charset="0"/>
                        </a:rPr>
                        <m:t> </m:t>
                      </m:r>
                      <m:r>
                        <a:rPr lang="en-US" b="0" i="1" dirty="0" smtClean="0">
                          <a:latin typeface="Cambria Math" panose="02040503050406030204" pitchFamily="18" charset="0"/>
                        </a:rPr>
                        <m:t>𝑘</m:t>
                      </m:r>
                      <m:r>
                        <a:rPr lang="en-US" b="0" i="1" dirty="0" smtClean="0">
                          <a:latin typeface="Cambria Math" panose="02040503050406030204" pitchFamily="18" charset="0"/>
                        </a:rPr>
                        <m:t>=</m:t>
                      </m:r>
                      <m:r>
                        <m:rPr>
                          <m:sty m:val="p"/>
                        </m:rPr>
                        <a:rPr lang="en-US" b="0" i="0" dirty="0" smtClean="0">
                          <a:latin typeface="Cambria Math" panose="02040503050406030204" pitchFamily="18" charset="0"/>
                        </a:rPr>
                        <m:t>arcsin</m:t>
                      </m:r>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2</m:t>
                          </m:r>
                        </m:num>
                        <m:den>
                          <m:r>
                            <a:rPr lang="en-US" b="0" i="1" dirty="0" smtClean="0">
                              <a:latin typeface="Cambria Math" panose="02040503050406030204" pitchFamily="18" charset="0"/>
                            </a:rPr>
                            <m:t>𝑀𝑐𝑜𝑠</m:t>
                          </m:r>
                          <m:r>
                            <a:rPr lang="en-US" b="0" i="1" dirty="0" smtClean="0">
                              <a:latin typeface="Cambria Math" panose="02040503050406030204" pitchFamily="18" charset="0"/>
                            </a:rPr>
                            <m:t>(</m:t>
                          </m:r>
                          <m:r>
                            <a:rPr lang="en-US" b="0" i="1" dirty="0" smtClean="0">
                              <a:latin typeface="Cambria Math" panose="02040503050406030204" pitchFamily="18" charset="0"/>
                            </a:rPr>
                            <m:t>𝜓</m:t>
                          </m:r>
                          <m:r>
                            <a:rPr lang="en-US" b="0" i="1" dirty="0" smtClean="0">
                              <a:latin typeface="Cambria Math" panose="02040503050406030204" pitchFamily="18" charset="0"/>
                            </a:rPr>
                            <m:t>)</m:t>
                          </m:r>
                        </m:den>
                      </m:f>
                      <m:r>
                        <a:rPr lang="en-US" b="0" i="1" dirty="0" smtClean="0">
                          <a:latin typeface="Cambria Math" panose="02040503050406030204" pitchFamily="18" charset="0"/>
                        </a:rPr>
                        <m:t>) </m:t>
                      </m:r>
                    </m:oMath>
                  </m:oMathPara>
                </a14:m>
                <a:endParaRPr lang="sv-SE" dirty="0"/>
              </a:p>
            </p:txBody>
          </p:sp>
        </mc:Choice>
        <mc:Fallback xmlns="">
          <p:sp>
            <p:nvSpPr>
              <p:cNvPr id="7" name="Rectangle 6"/>
              <p:cNvSpPr>
                <a:spLocks noRot="1" noChangeAspect="1" noMove="1" noResize="1" noEditPoints="1" noAdjustHandles="1" noChangeArrowheads="1" noChangeShapeType="1" noTextEdit="1"/>
              </p:cNvSpPr>
              <p:nvPr/>
            </p:nvSpPr>
            <p:spPr>
              <a:xfrm>
                <a:off x="2768592" y="2701155"/>
                <a:ext cx="6330964" cy="728726"/>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700086" y="3753757"/>
                <a:ext cx="10296525" cy="1083117"/>
              </a:xfrm>
              <a:prstGeom prst="rect">
                <a:avLst/>
              </a:prstGeom>
            </p:spPr>
            <p:txBody>
              <a:bodyPr wrap="square">
                <a:spAutoFit/>
              </a:bodyPr>
              <a:lstStyle/>
              <a:p>
                <a:r>
                  <a:rPr lang="en-US" dirty="0" smtClean="0"/>
                  <a:t>Since the effective output switching frequency for all inverters should be the same (to ensure a fair comparison), the switching </a:t>
                </a:r>
                <a:r>
                  <a:rPr lang="en-US" dirty="0" err="1" smtClean="0"/>
                  <a:t>frequen</a:t>
                </a:r>
                <a:r>
                  <a:rPr lang="sv-SE" dirty="0" err="1" smtClean="0"/>
                  <a:t>cy</a:t>
                </a:r>
                <a:r>
                  <a:rPr lang="sv-SE" dirty="0" smtClean="0"/>
                  <a:t>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𝑓</m:t>
                        </m:r>
                      </m:e>
                      <m:sub>
                        <m:r>
                          <a:rPr lang="sv-SE" i="1" dirty="0" smtClean="0">
                            <a:latin typeface="Cambria Math" panose="02040503050406030204" pitchFamily="18" charset="0"/>
                          </a:rPr>
                          <m:t>𝑠𝑤</m:t>
                        </m:r>
                        <m:r>
                          <a:rPr lang="en-US" b="0" i="1" dirty="0" smtClean="0">
                            <a:latin typeface="Cambria Math" panose="02040503050406030204" pitchFamily="18" charset="0"/>
                          </a:rPr>
                          <m:t>,</m:t>
                        </m:r>
                        <m:r>
                          <a:rPr lang="en-US" b="0" i="1" dirty="0" smtClean="0">
                            <a:latin typeface="Cambria Math" panose="02040503050406030204" pitchFamily="18" charset="0"/>
                          </a:rPr>
                          <m:t>𝑚𝑜𝑑</m:t>
                        </m:r>
                      </m:sub>
                    </m:sSub>
                    <m:r>
                      <a:rPr lang="sv-SE" i="1" dirty="0">
                        <a:latin typeface="Cambria Math" panose="02040503050406030204" pitchFamily="18" charset="0"/>
                      </a:rPr>
                      <m:t> = (</m:t>
                    </m:r>
                    <m:f>
                      <m:fPr>
                        <m:ctrlPr>
                          <a:rPr lang="sv-SE" i="1" dirty="0">
                            <a:latin typeface="Cambria Math" panose="02040503050406030204" pitchFamily="18" charset="0"/>
                          </a:rPr>
                        </m:ctrlPr>
                      </m:fPr>
                      <m:num>
                        <m:sSub>
                          <m:sSubPr>
                            <m:ctrlPr>
                              <a:rPr lang="en-US" b="0" i="1" dirty="0" smtClean="0">
                                <a:latin typeface="Cambria Math" panose="02040503050406030204" pitchFamily="18" charset="0"/>
                              </a:rPr>
                            </m:ctrlPr>
                          </m:sSubPr>
                          <m:e>
                            <m:r>
                              <a:rPr lang="sv-SE" i="1" dirty="0" err="1">
                                <a:latin typeface="Cambria Math" panose="02040503050406030204" pitchFamily="18" charset="0"/>
                              </a:rPr>
                              <m:t>𝑓</m:t>
                            </m:r>
                          </m:e>
                          <m:sub>
                            <m:r>
                              <a:rPr lang="sv-SE" i="1" dirty="0" err="1">
                                <a:latin typeface="Cambria Math" panose="02040503050406030204" pitchFamily="18" charset="0"/>
                              </a:rPr>
                              <m:t>𝑠𝑤</m:t>
                            </m:r>
                          </m:sub>
                        </m:sSub>
                      </m:num>
                      <m:den>
                        <m:sSub>
                          <m:sSubPr>
                            <m:ctrlPr>
                              <a:rPr lang="en-US" b="0" i="1" dirty="0" smtClean="0">
                                <a:latin typeface="Cambria Math" panose="02040503050406030204" pitchFamily="18" charset="0"/>
                              </a:rPr>
                            </m:ctrlPr>
                          </m:sSubPr>
                          <m:e>
                            <m:r>
                              <a:rPr lang="sv-SE" i="1" dirty="0">
                                <a:latin typeface="Cambria Math" panose="02040503050406030204" pitchFamily="18" charset="0"/>
                              </a:rPr>
                              <m:t>𝑛</m:t>
                            </m:r>
                          </m:e>
                          <m:sub>
                            <m:r>
                              <a:rPr lang="sv-SE" i="1" dirty="0">
                                <a:latin typeface="Cambria Math" panose="02040503050406030204" pitchFamily="18" charset="0"/>
                              </a:rPr>
                              <m:t>𝑚𝑜</m:t>
                            </m:r>
                            <m:r>
                              <a:rPr lang="en-US" b="0" i="1" dirty="0" smtClean="0">
                                <a:latin typeface="Cambria Math" panose="02040503050406030204" pitchFamily="18" charset="0"/>
                              </a:rPr>
                              <m:t>𝑑</m:t>
                            </m:r>
                          </m:sub>
                        </m:sSub>
                      </m:den>
                    </m:f>
                    <m:r>
                      <a:rPr lang="sv-SE" i="1" dirty="0">
                        <a:latin typeface="Cambria Math" panose="02040503050406030204" pitchFamily="18" charset="0"/>
                      </a:rPr>
                      <m:t>) </m:t>
                    </m:r>
                  </m:oMath>
                </a14:m>
                <a:r>
                  <a:rPr lang="sv-SE" dirty="0" err="1"/>
                  <a:t>of</a:t>
                </a:r>
                <a:r>
                  <a:rPr lang="sv-SE" dirty="0"/>
                  <a:t> the </a:t>
                </a:r>
                <a:r>
                  <a:rPr lang="en-US" dirty="0" smtClean="0"/>
                  <a:t>semiconductors</a:t>
                </a:r>
                <a:r>
                  <a:rPr lang="sv-SE" dirty="0" smtClean="0"/>
                  <a:t> </a:t>
                </a:r>
                <a:r>
                  <a:rPr lang="sv-SE" dirty="0"/>
                  <a:t>T1 </a:t>
                </a:r>
                <a:r>
                  <a:rPr lang="sv-SE" dirty="0" smtClean="0"/>
                  <a:t>and </a:t>
                </a:r>
                <a:r>
                  <a:rPr lang="en-US" dirty="0"/>
                  <a:t>T2 within a module of the MMC is used for the switching loss </a:t>
                </a:r>
                <a:r>
                  <a:rPr lang="en-US" dirty="0" smtClean="0"/>
                  <a:t>calculation</a:t>
                </a:r>
                <a:r>
                  <a:rPr lang="en-US" dirty="0"/>
                  <a:t>.</a:t>
                </a:r>
                <a:endParaRPr lang="sv-SE" dirty="0"/>
              </a:p>
            </p:txBody>
          </p:sp>
        </mc:Choice>
        <mc:Fallback xmlns="">
          <p:sp>
            <p:nvSpPr>
              <p:cNvPr id="8" name="Rectangle 7"/>
              <p:cNvSpPr>
                <a:spLocks noRot="1" noChangeAspect="1" noMove="1" noResize="1" noEditPoints="1" noAdjustHandles="1" noChangeArrowheads="1" noChangeShapeType="1" noTextEdit="1"/>
              </p:cNvSpPr>
              <p:nvPr/>
            </p:nvSpPr>
            <p:spPr>
              <a:xfrm>
                <a:off x="700086" y="3753757"/>
                <a:ext cx="10296525" cy="1083117"/>
              </a:xfrm>
              <a:prstGeom prst="rect">
                <a:avLst/>
              </a:prstGeom>
              <a:blipFill>
                <a:blip r:embed="rId4"/>
                <a:stretch>
                  <a:fillRect l="-533" t="-3390" b="-8475"/>
                </a:stretch>
              </a:blipFill>
            </p:spPr>
            <p:txBody>
              <a:bodyPr/>
              <a:lstStyle/>
              <a:p>
                <a:r>
                  <a:rPr lang="sv-SE">
                    <a:noFill/>
                  </a:rPr>
                  <a:t> </a:t>
                </a:r>
              </a:p>
            </p:txBody>
          </p:sp>
        </mc:Fallback>
      </mc:AlternateContent>
      <p:sp>
        <p:nvSpPr>
          <p:cNvPr id="9" name="Rectangle 8"/>
          <p:cNvSpPr/>
          <p:nvPr/>
        </p:nvSpPr>
        <p:spPr>
          <a:xfrm>
            <a:off x="742949" y="4903859"/>
            <a:ext cx="10382250" cy="1477328"/>
          </a:xfrm>
          <a:prstGeom prst="rect">
            <a:avLst/>
          </a:prstGeom>
        </p:spPr>
        <p:txBody>
          <a:bodyPr wrap="square">
            <a:spAutoFit/>
          </a:bodyPr>
          <a:lstStyle/>
          <a:p>
            <a:r>
              <a:rPr lang="en-US" dirty="0" smtClean="0"/>
              <a:t>It should be noted here that the inverter output waveforms, as well as the switching frequencies, are also related to losses in the electric machine. </a:t>
            </a:r>
          </a:p>
          <a:p>
            <a:r>
              <a:rPr lang="en-US" dirty="0" smtClean="0"/>
              <a:t>But compared with the two-level inverter, the three-level inverters cause less losses in the machine at the same (resulting) switching frequency due to their lower voltage distortion. </a:t>
            </a:r>
          </a:p>
          <a:p>
            <a:r>
              <a:rPr lang="en-US" dirty="0" smtClean="0"/>
              <a:t>For the MMC, the same consideration applies because the number of levels is even higher.</a:t>
            </a:r>
            <a:endParaRPr lang="en-US" dirty="0"/>
          </a:p>
        </p:txBody>
      </p:sp>
    </p:spTree>
    <p:extLst>
      <p:ext uri="{BB962C8B-B14F-4D97-AF65-F5344CB8AC3E}">
        <p14:creationId xmlns:p14="http://schemas.microsoft.com/office/powerpoint/2010/main" val="41862043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949" y="53151"/>
            <a:ext cx="10515600" cy="1325563"/>
          </a:xfrm>
        </p:spPr>
        <p:txBody>
          <a:bodyPr/>
          <a:lstStyle/>
          <a:p>
            <a:r>
              <a:rPr lang="en-US" dirty="0" smtClean="0">
                <a:solidFill>
                  <a:srgbClr val="C00000"/>
                </a:solidFill>
              </a:rPr>
              <a:t>Conduction Losses</a:t>
            </a:r>
            <a:endParaRPr lang="sv-SE" dirty="0">
              <a:solidFill>
                <a:srgbClr val="C00000"/>
              </a:solidFill>
            </a:endParaRPr>
          </a:p>
        </p:txBody>
      </p:sp>
      <mc:AlternateContent xmlns:mc="http://schemas.openxmlformats.org/markup-compatibility/2006" xmlns:a14="http://schemas.microsoft.com/office/drawing/2010/main">
        <mc:Choice Requires="a14">
          <p:sp>
            <p:nvSpPr>
              <p:cNvPr id="3" name="Rectangle 2"/>
              <p:cNvSpPr/>
              <p:nvPr/>
            </p:nvSpPr>
            <p:spPr>
              <a:xfrm>
                <a:off x="409574" y="942864"/>
                <a:ext cx="11096626" cy="1351780"/>
              </a:xfrm>
              <a:prstGeom prst="rect">
                <a:avLst/>
              </a:prstGeom>
            </p:spPr>
            <p:txBody>
              <a:bodyPr wrap="square">
                <a:spAutoFit/>
              </a:bodyPr>
              <a:lstStyle/>
              <a:p>
                <a:r>
                  <a:rPr lang="sv-SE" dirty="0" smtClean="0"/>
                  <a:t>The </a:t>
                </a:r>
                <a:r>
                  <a:rPr lang="sv-SE" dirty="0" err="1"/>
                  <a:t>main</a:t>
                </a:r>
                <a:r>
                  <a:rPr lang="sv-SE" dirty="0"/>
                  <a:t> </a:t>
                </a:r>
                <a:r>
                  <a:rPr lang="sv-SE" dirty="0" err="1"/>
                  <a:t>contributor</a:t>
                </a:r>
                <a:r>
                  <a:rPr lang="sv-SE" dirty="0"/>
                  <a:t> to the ON-</a:t>
                </a:r>
                <a:r>
                  <a:rPr lang="sv-SE" dirty="0" err="1"/>
                  <a:t>resistance</a:t>
                </a:r>
                <a:r>
                  <a:rPr lang="sv-SE" dirty="0"/>
                  <a:t> is the drift region </a:t>
                </a:r>
                <a:r>
                  <a:rPr lang="sv-SE" dirty="0" smtClean="0"/>
                  <a:t>(</a:t>
                </a:r>
                <a:r>
                  <a:rPr lang="sv-SE" dirty="0"/>
                  <a:t>n− region</a:t>
                </a:r>
                <a:r>
                  <a:rPr lang="sv-SE" dirty="0" smtClean="0"/>
                  <a:t>).</a:t>
                </a:r>
              </a:p>
              <a:p>
                <a:endParaRPr lang="en-US" dirty="0"/>
              </a:p>
              <a:p>
                <a:r>
                  <a:rPr lang="en-US" dirty="0" smtClean="0"/>
                  <a:t>If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𝑘</m:t>
                        </m:r>
                      </m:e>
                      <m:sub>
                        <m:r>
                          <a:rPr lang="en-US" b="0" i="1" dirty="0" smtClean="0">
                            <a:latin typeface="Cambria Math" panose="02040503050406030204" pitchFamily="18" charset="0"/>
                          </a:rPr>
                          <m:t>𝑑𝑠𝑠</m:t>
                        </m:r>
                        <m:r>
                          <a:rPr lang="en-US" b="0" i="1" dirty="0" smtClean="0">
                            <a:latin typeface="Cambria Math" panose="02040503050406030204" pitchFamily="18" charset="0"/>
                          </a:rPr>
                          <m:t>,</m:t>
                        </m:r>
                        <m:r>
                          <a:rPr lang="en-US" b="0" i="1" dirty="0" smtClean="0">
                            <a:latin typeface="Cambria Math" panose="02040503050406030204" pitchFamily="18" charset="0"/>
                          </a:rPr>
                          <m:t>𝑏𝑑</m:t>
                        </m:r>
                      </m:sub>
                    </m:sSub>
                    <m:r>
                      <a:rPr lang="en-US" i="1" dirty="0" smtClean="0">
                        <a:latin typeface="Cambria Math" panose="02040503050406030204" pitchFamily="18" charset="0"/>
                      </a:rPr>
                      <m:t> = (</m:t>
                    </m:r>
                    <m:f>
                      <m:fPr>
                        <m:ctrlPr>
                          <a:rPr lang="en-US"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𝑈</m:t>
                            </m:r>
                          </m:e>
                          <m:sub>
                            <m:r>
                              <a:rPr lang="en-US" i="1" dirty="0" smtClean="0">
                                <a:latin typeface="Cambria Math" panose="02040503050406030204" pitchFamily="18" charset="0"/>
                              </a:rPr>
                              <m:t>𝑑𝑠𝑠</m:t>
                            </m:r>
                          </m:sub>
                        </m:sSub>
                      </m:num>
                      <m:den>
                        <m:sSub>
                          <m:sSubPr>
                            <m:ctrlPr>
                              <a:rPr lang="en-US" b="0" i="1" dirty="0" smtClean="0">
                                <a:latin typeface="Cambria Math" panose="02040503050406030204" pitchFamily="18" charset="0"/>
                              </a:rPr>
                            </m:ctrlPr>
                          </m:sSubPr>
                          <m:e>
                            <m:r>
                              <a:rPr lang="en-US" i="1" dirty="0">
                                <a:latin typeface="Cambria Math" panose="02040503050406030204" pitchFamily="18" charset="0"/>
                              </a:rPr>
                              <m:t>𝑈</m:t>
                            </m:r>
                          </m:e>
                          <m:sub>
                            <m:r>
                              <a:rPr lang="en-US" i="1" dirty="0">
                                <a:latin typeface="Cambria Math" panose="02040503050406030204" pitchFamily="18" charset="0"/>
                              </a:rPr>
                              <m:t>𝑏𝑑</m:t>
                            </m:r>
                          </m:sub>
                        </m:sSub>
                      </m:den>
                    </m:f>
                    <m:r>
                      <a:rPr lang="en-US" i="1" dirty="0" smtClean="0">
                        <a:latin typeface="Cambria Math" panose="02040503050406030204" pitchFamily="18" charset="0"/>
                      </a:rPr>
                      <m:t>) </m:t>
                    </m:r>
                    <m:r>
                      <a:rPr lang="en-US" i="1" dirty="0">
                        <a:latin typeface="Cambria Math" panose="02040503050406030204" pitchFamily="18" charset="0"/>
                      </a:rPr>
                      <m:t>= </m:t>
                    </m:r>
                    <m:r>
                      <a:rPr lang="en-US" i="1" dirty="0" err="1" smtClean="0">
                        <a:latin typeface="Cambria Math" panose="02040503050406030204" pitchFamily="18" charset="0"/>
                      </a:rPr>
                      <m:t>𝑐𝑜𝑛𝑠𝑡</m:t>
                    </m:r>
                    <m:r>
                      <a:rPr lang="en-US" i="1" dirty="0" smtClean="0">
                        <a:latin typeface="Cambria Math" panose="02040503050406030204" pitchFamily="18" charset="0"/>
                      </a:rPr>
                      <m:t> </m:t>
                    </m:r>
                  </m:oMath>
                </a14:m>
                <a:r>
                  <a:rPr lang="en-US" dirty="0" smtClean="0"/>
                  <a:t>, the </a:t>
                </a:r>
                <a:r>
                  <a:rPr lang="en-US" dirty="0"/>
                  <a:t>drift region thickness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𝑤</m:t>
                        </m:r>
                      </m:e>
                      <m:sub>
                        <m:r>
                          <a:rPr lang="en-US" i="1" dirty="0" smtClean="0">
                            <a:latin typeface="Cambria Math" panose="02040503050406030204" pitchFamily="18" charset="0"/>
                          </a:rPr>
                          <m:t>𝑑</m:t>
                        </m:r>
                      </m:sub>
                    </m:sSub>
                  </m:oMath>
                </a14:m>
                <a:r>
                  <a:rPr lang="en-US" dirty="0"/>
                  <a:t> depending on the rated </a:t>
                </a:r>
                <a:r>
                  <a:rPr lang="en-US" dirty="0" smtClean="0"/>
                  <a:t>voltage </a:t>
                </a:r>
                <a:r>
                  <a:rPr lang="en-US" dirty="0"/>
                  <a:t>is described by</a:t>
                </a:r>
                <a:endParaRPr lang="sv-SE" dirty="0" smtClean="0"/>
              </a:p>
              <a:p>
                <a:endParaRPr lang="sv-SE" dirty="0"/>
              </a:p>
            </p:txBody>
          </p:sp>
        </mc:Choice>
        <mc:Fallback xmlns="">
          <p:sp>
            <p:nvSpPr>
              <p:cNvPr id="3" name="Rectangle 2"/>
              <p:cNvSpPr>
                <a:spLocks noRot="1" noChangeAspect="1" noMove="1" noResize="1" noEditPoints="1" noAdjustHandles="1" noChangeArrowheads="1" noChangeShapeType="1" noTextEdit="1"/>
              </p:cNvSpPr>
              <p:nvPr/>
            </p:nvSpPr>
            <p:spPr>
              <a:xfrm>
                <a:off x="409574" y="942864"/>
                <a:ext cx="11096626" cy="1351780"/>
              </a:xfrm>
              <a:prstGeom prst="rect">
                <a:avLst/>
              </a:prstGeom>
              <a:blipFill>
                <a:blip r:embed="rId2"/>
                <a:stretch>
                  <a:fillRect l="-439" t="-2715"/>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569363" y="1934246"/>
                <a:ext cx="6777048" cy="538032"/>
              </a:xfrm>
              <a:prstGeom prst="rect">
                <a:avLst/>
              </a:prstGeom>
            </p:spPr>
            <p:txBody>
              <a:bodyPr wrap="none">
                <a:spAutoFit/>
              </a:bodyPr>
              <a:lstStyle/>
              <a:p>
                <a14:m>
                  <m:oMath xmlns:m="http://schemas.openxmlformats.org/officeDocument/2006/math">
                    <m:sSub>
                      <m:sSubPr>
                        <m:ctrlPr>
                          <a:rPr lang="en-US" i="1" dirty="0" smtClean="0">
                            <a:latin typeface="Cambria Math" panose="02040503050406030204" pitchFamily="18" charset="0"/>
                          </a:rPr>
                        </m:ctrlPr>
                      </m:sSubPr>
                      <m:e>
                        <m:r>
                          <a:rPr lang="en-US" i="1" dirty="0">
                            <a:latin typeface="Cambria Math" panose="02040503050406030204" pitchFamily="18" charset="0"/>
                          </a:rPr>
                          <m:t>𝑤</m:t>
                        </m:r>
                      </m:e>
                      <m:sub>
                        <m:r>
                          <a:rPr lang="en-US" i="1" dirty="0">
                            <a:latin typeface="Cambria Math" panose="02040503050406030204" pitchFamily="18" charset="0"/>
                          </a:rPr>
                          <m:t>𝑑</m:t>
                        </m:r>
                      </m:sub>
                    </m:sSub>
                    <m:r>
                      <a:rPr lang="en-US" b="0" i="1" dirty="0" smtClean="0">
                        <a:latin typeface="Cambria Math" panose="02040503050406030204" pitchFamily="18" charset="0"/>
                      </a:rPr>
                      <m:t>=2</m:t>
                    </m:r>
                    <m:f>
                      <m:fPr>
                        <m:ctrlPr>
                          <a:rPr lang="en-US" b="0" i="1" dirty="0" smtClean="0">
                            <a:latin typeface="Cambria Math" panose="02040503050406030204" pitchFamily="18" charset="0"/>
                          </a:rPr>
                        </m:ctrlPr>
                      </m:fPr>
                      <m:num>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𝑈</m:t>
                            </m:r>
                          </m:e>
                          <m:sub>
                            <m:r>
                              <a:rPr lang="en-US" b="0" i="1" dirty="0" smtClean="0">
                                <a:latin typeface="Cambria Math" panose="02040503050406030204" pitchFamily="18" charset="0"/>
                              </a:rPr>
                              <m:t>𝑑𝑠𝑠</m:t>
                            </m:r>
                          </m:sub>
                        </m:sSub>
                      </m:num>
                      <m:den>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𝑘</m:t>
                            </m:r>
                          </m:e>
                          <m:sub>
                            <m:r>
                              <a:rPr lang="en-US" b="0" i="1" dirty="0" smtClean="0">
                                <a:latin typeface="Cambria Math" panose="02040503050406030204" pitchFamily="18" charset="0"/>
                              </a:rPr>
                              <m:t>𝑑𝑠𝑠</m:t>
                            </m:r>
                            <m:r>
                              <a:rPr lang="en-US" b="0" i="1" dirty="0" smtClean="0">
                                <a:latin typeface="Cambria Math" panose="02040503050406030204" pitchFamily="18" charset="0"/>
                              </a:rPr>
                              <m:t>,</m:t>
                            </m:r>
                            <m:r>
                              <a:rPr lang="en-US" b="0" i="1" dirty="0" smtClean="0">
                                <a:latin typeface="Cambria Math" panose="02040503050406030204" pitchFamily="18" charset="0"/>
                              </a:rPr>
                              <m:t>𝑏𝑑</m:t>
                            </m:r>
                          </m:sub>
                        </m:sSub>
                        <m:r>
                          <a:rPr lang="en-US" b="0" i="1" dirty="0" smtClean="0">
                            <a:latin typeface="Cambria Math" panose="02040503050406030204" pitchFamily="18" charset="0"/>
                          </a:rPr>
                          <m:t> </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𝐸</m:t>
                            </m:r>
                          </m:e>
                          <m:sub>
                            <m:r>
                              <a:rPr lang="en-US" b="0" i="1" dirty="0" smtClean="0">
                                <a:latin typeface="Cambria Math" panose="02040503050406030204" pitchFamily="18" charset="0"/>
                              </a:rPr>
                              <m:t>𝑐</m:t>
                            </m:r>
                          </m:sub>
                        </m:sSub>
                      </m:den>
                    </m:f>
                    <m:r>
                      <a:rPr lang="en-US" b="0" i="1" dirty="0" smtClean="0">
                        <a:latin typeface="Cambria Math" panose="02040503050406030204" pitchFamily="18" charset="0"/>
                      </a:rPr>
                      <m:t>   </m:t>
                    </m:r>
                  </m:oMath>
                </a14:m>
                <a:r>
                  <a:rPr lang="sv-SE" dirty="0" smtClean="0"/>
                  <a:t> where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𝐸</m:t>
                        </m:r>
                      </m:e>
                      <m:sub>
                        <m:r>
                          <a:rPr lang="en-US" i="1" dirty="0">
                            <a:latin typeface="Cambria Math" panose="02040503050406030204" pitchFamily="18" charset="0"/>
                          </a:rPr>
                          <m:t>𝑐</m:t>
                        </m:r>
                      </m:sub>
                    </m:sSub>
                  </m:oMath>
                </a14:m>
                <a:r>
                  <a:rPr lang="sv-SE" dirty="0" smtClean="0"/>
                  <a:t> is </a:t>
                </a:r>
                <a:r>
                  <a:rPr lang="en-US" dirty="0"/>
                  <a:t>the critical field strength of the material</a:t>
                </a:r>
                <a:endParaRPr lang="sv-SE" dirty="0"/>
              </a:p>
            </p:txBody>
          </p:sp>
        </mc:Choice>
        <mc:Fallback xmlns="">
          <p:sp>
            <p:nvSpPr>
              <p:cNvPr id="4" name="Rectangle 3"/>
              <p:cNvSpPr>
                <a:spLocks noRot="1" noChangeAspect="1" noMove="1" noResize="1" noEditPoints="1" noAdjustHandles="1" noChangeArrowheads="1" noChangeShapeType="1" noTextEdit="1"/>
              </p:cNvSpPr>
              <p:nvPr/>
            </p:nvSpPr>
            <p:spPr>
              <a:xfrm>
                <a:off x="2569363" y="1934246"/>
                <a:ext cx="6777048" cy="538032"/>
              </a:xfrm>
              <a:prstGeom prst="rect">
                <a:avLst/>
              </a:prstGeom>
              <a:blipFill>
                <a:blip r:embed="rId3"/>
                <a:stretch>
                  <a:fillRect r="-9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409574" y="2457045"/>
                <a:ext cx="10067926" cy="681790"/>
              </a:xfrm>
              <a:prstGeom prst="rect">
                <a:avLst/>
              </a:prstGeom>
            </p:spPr>
            <p:txBody>
              <a:bodyPr wrap="square">
                <a:spAutoFit/>
              </a:bodyPr>
              <a:lstStyle/>
              <a:p>
                <a:r>
                  <a:rPr lang="sv-SE" dirty="0" smtClean="0"/>
                  <a:t>As a </a:t>
                </a:r>
                <a:r>
                  <a:rPr lang="sv-SE" dirty="0" err="1" smtClean="0"/>
                  <a:t>higher</a:t>
                </a:r>
                <a:r>
                  <a:rPr lang="sv-SE" dirty="0" smtClean="0"/>
                  <a:t> </a:t>
                </a:r>
                <a:r>
                  <a:rPr lang="sv-SE" dirty="0" err="1"/>
                  <a:t>blocking</a:t>
                </a:r>
                <a:r>
                  <a:rPr lang="sv-SE" dirty="0"/>
                  <a:t> </a:t>
                </a:r>
                <a:r>
                  <a:rPr lang="sv-SE" dirty="0" err="1"/>
                  <a:t>capability</a:t>
                </a:r>
                <a:r>
                  <a:rPr lang="sv-SE" dirty="0"/>
                  <a:t> </a:t>
                </a:r>
                <a:r>
                  <a:rPr lang="sv-SE" dirty="0" err="1"/>
                  <a:t>requires</a:t>
                </a:r>
                <a:r>
                  <a:rPr lang="sv-SE" dirty="0"/>
                  <a:t> an </a:t>
                </a:r>
                <a:r>
                  <a:rPr lang="sv-SE" dirty="0" err="1"/>
                  <a:t>enlargement</a:t>
                </a:r>
                <a:r>
                  <a:rPr lang="sv-SE" dirty="0"/>
                  <a:t> </a:t>
                </a:r>
                <a:r>
                  <a:rPr lang="sv-SE" dirty="0" err="1"/>
                  <a:t>of</a:t>
                </a:r>
                <a:r>
                  <a:rPr lang="sv-SE" dirty="0"/>
                  <a:t> the drift </a:t>
                </a:r>
                <a:r>
                  <a:rPr lang="sv-SE" dirty="0" smtClean="0"/>
                  <a:t>region</a:t>
                </a:r>
                <a:r>
                  <a:rPr lang="sv-SE" dirty="0"/>
                  <a:t>, the ON-</a:t>
                </a:r>
                <a:r>
                  <a:rPr lang="sv-SE" dirty="0" err="1"/>
                  <a:t>resistance</a:t>
                </a:r>
                <a:r>
                  <a:rPr lang="sv-SE" dirty="0"/>
                  <a:t> is </a:t>
                </a:r>
                <a:r>
                  <a:rPr lang="sv-SE" dirty="0" err="1"/>
                  <a:t>increased</a:t>
                </a:r>
                <a:r>
                  <a:rPr lang="sv-SE" dirty="0"/>
                  <a:t> in the process and </a:t>
                </a:r>
                <a:r>
                  <a:rPr lang="sv-SE" dirty="0" smtClean="0"/>
                  <a:t>it is proportional </a:t>
                </a:r>
                <a:r>
                  <a:rPr lang="sv-SE" dirty="0"/>
                  <a:t>to </a:t>
                </a:r>
                <a14:m>
                  <m:oMath xmlns:m="http://schemas.openxmlformats.org/officeDocument/2006/math">
                    <m:sSubSup>
                      <m:sSubSupPr>
                        <m:ctrlPr>
                          <a:rPr lang="en-US" b="0" i="1" dirty="0" smtClean="0">
                            <a:latin typeface="Cambria Math" panose="02040503050406030204" pitchFamily="18" charset="0"/>
                          </a:rPr>
                        </m:ctrlPr>
                      </m:sSubSupPr>
                      <m:e>
                        <m:r>
                          <a:rPr lang="sv-SE" i="1" dirty="0" smtClean="0">
                            <a:latin typeface="Cambria Math" panose="02040503050406030204" pitchFamily="18" charset="0"/>
                          </a:rPr>
                          <m:t>𝑈</m:t>
                        </m:r>
                      </m:e>
                      <m:sub>
                        <m:r>
                          <a:rPr lang="en-US" b="0" i="1" dirty="0" smtClean="0">
                            <a:latin typeface="Cambria Math" panose="02040503050406030204" pitchFamily="18" charset="0"/>
                          </a:rPr>
                          <m:t>𝑑𝑠𝑠</m:t>
                        </m:r>
                      </m:sub>
                      <m:sup>
                        <m:r>
                          <a:rPr lang="en-US" b="0" i="1" dirty="0" smtClean="0">
                            <a:latin typeface="Cambria Math" panose="02040503050406030204" pitchFamily="18" charset="0"/>
                          </a:rPr>
                          <m:t>2.5</m:t>
                        </m:r>
                      </m:sup>
                    </m:sSubSup>
                  </m:oMath>
                </a14:m>
                <a:r>
                  <a:rPr lang="sv-SE" dirty="0" smtClean="0"/>
                  <a:t>. </a:t>
                </a:r>
                <a:endParaRPr lang="sv-SE" dirty="0"/>
              </a:p>
            </p:txBody>
          </p:sp>
        </mc:Choice>
        <mc:Fallback xmlns="">
          <p:sp>
            <p:nvSpPr>
              <p:cNvPr id="5" name="Rectangle 4"/>
              <p:cNvSpPr>
                <a:spLocks noRot="1" noChangeAspect="1" noMove="1" noResize="1" noEditPoints="1" noAdjustHandles="1" noChangeArrowheads="1" noChangeShapeType="1" noTextEdit="1"/>
              </p:cNvSpPr>
              <p:nvPr/>
            </p:nvSpPr>
            <p:spPr>
              <a:xfrm>
                <a:off x="409574" y="2457045"/>
                <a:ext cx="10067926" cy="681790"/>
              </a:xfrm>
              <a:prstGeom prst="rect">
                <a:avLst/>
              </a:prstGeom>
              <a:blipFill>
                <a:blip r:embed="rId4"/>
                <a:stretch>
                  <a:fillRect l="-484" t="-4464" b="-10714"/>
                </a:stretch>
              </a:blipFill>
            </p:spPr>
            <p:txBody>
              <a:bodyPr/>
              <a:lstStyle/>
              <a:p>
                <a:r>
                  <a:rPr lang="sv-SE">
                    <a:noFill/>
                  </a:rPr>
                  <a:t> </a:t>
                </a:r>
              </a:p>
            </p:txBody>
          </p:sp>
        </mc:Fallback>
      </mc:AlternateContent>
      <p:pic>
        <p:nvPicPr>
          <p:cNvPr id="10" name="Picture 9"/>
          <p:cNvPicPr>
            <a:picLocks noChangeAspect="1"/>
          </p:cNvPicPr>
          <p:nvPr/>
        </p:nvPicPr>
        <p:blipFill>
          <a:blip r:embed="rId5"/>
          <a:stretch>
            <a:fillRect/>
          </a:stretch>
        </p:blipFill>
        <p:spPr>
          <a:xfrm>
            <a:off x="671212" y="3119116"/>
            <a:ext cx="3041651" cy="2523701"/>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6805311" y="3500518"/>
                <a:ext cx="2227477" cy="385939"/>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𝑇</m:t>
                        </m:r>
                      </m:sub>
                    </m:sSub>
                    <m:sSubSup>
                      <m:sSubSupPr>
                        <m:ctrlPr>
                          <a:rPr lang="en-US" i="1" dirty="0">
                            <a:latin typeface="Cambria Math" panose="02040503050406030204" pitchFamily="18" charset="0"/>
                          </a:rPr>
                        </m:ctrlPr>
                      </m:sSubSupPr>
                      <m:e>
                        <m:r>
                          <a:rPr lang="sv-SE" i="1" dirty="0">
                            <a:latin typeface="Cambria Math" panose="02040503050406030204" pitchFamily="18" charset="0"/>
                          </a:rPr>
                          <m:t>𝑈</m:t>
                        </m:r>
                      </m:e>
                      <m:sub>
                        <m:r>
                          <a:rPr lang="en-US" i="1" dirty="0">
                            <a:latin typeface="Cambria Math" panose="02040503050406030204" pitchFamily="18" charset="0"/>
                          </a:rPr>
                          <m:t>𝑑𝑠𝑠</m:t>
                        </m:r>
                      </m:sub>
                      <m:sup>
                        <m:r>
                          <a:rPr lang="en-US" i="1" dirty="0">
                            <a:latin typeface="Cambria Math" panose="02040503050406030204" pitchFamily="18" charset="0"/>
                          </a:rPr>
                          <m:t>2.5</m:t>
                        </m:r>
                      </m:sup>
                    </m:sSubSup>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𝑏</m:t>
                        </m:r>
                      </m:e>
                      <m:sub>
                        <m:r>
                          <a:rPr lang="en-US" b="0" i="1" dirty="0" smtClean="0">
                            <a:latin typeface="Cambria Math" panose="02040503050406030204" pitchFamily="18" charset="0"/>
                          </a:rPr>
                          <m:t>𝑇</m:t>
                        </m:r>
                      </m:sub>
                    </m:sSub>
                  </m:oMath>
                </a14:m>
                <a:r>
                  <a:rPr lang="sv-SE" dirty="0" smtClean="0"/>
                  <a:t> </a:t>
                </a:r>
                <a:endParaRPr lang="sv-SE" dirty="0"/>
              </a:p>
            </p:txBody>
          </p:sp>
        </mc:Choice>
        <mc:Fallback xmlns="">
          <p:sp>
            <p:nvSpPr>
              <p:cNvPr id="11" name="TextBox 10"/>
              <p:cNvSpPr txBox="1">
                <a:spLocks noRot="1" noChangeAspect="1" noMove="1" noResize="1" noEditPoints="1" noAdjustHandles="1" noChangeArrowheads="1" noChangeShapeType="1" noTextEdit="1"/>
              </p:cNvSpPr>
              <p:nvPr/>
            </p:nvSpPr>
            <p:spPr>
              <a:xfrm>
                <a:off x="6805311" y="3500518"/>
                <a:ext cx="2227477" cy="385939"/>
              </a:xfrm>
              <a:prstGeom prst="rect">
                <a:avLst/>
              </a:prstGeom>
              <a:blipFill>
                <a:blip r:embed="rId6"/>
                <a:stretch>
                  <a:fillRect b="-1563"/>
                </a:stretch>
              </a:blipFill>
            </p:spPr>
            <p:txBody>
              <a:bodyPr/>
              <a:lstStyle/>
              <a:p>
                <a:r>
                  <a:rPr lang="sv-SE">
                    <a:noFill/>
                  </a:rPr>
                  <a:t> </a:t>
                </a:r>
              </a:p>
            </p:txBody>
          </p:sp>
        </mc:Fallback>
      </mc:AlternateContent>
      <p:pic>
        <p:nvPicPr>
          <p:cNvPr id="13" name="Picture 12"/>
          <p:cNvPicPr>
            <a:picLocks noChangeAspect="1"/>
          </p:cNvPicPr>
          <p:nvPr/>
        </p:nvPicPr>
        <p:blipFill>
          <a:blip r:embed="rId7"/>
          <a:stretch>
            <a:fillRect/>
          </a:stretch>
        </p:blipFill>
        <p:spPr>
          <a:xfrm>
            <a:off x="4447402" y="4018908"/>
            <a:ext cx="6623052" cy="609289"/>
          </a:xfrm>
          <a:prstGeom prst="rect">
            <a:avLst/>
          </a:prstGeom>
        </p:spPr>
      </p:pic>
      <mc:AlternateContent xmlns:mc="http://schemas.openxmlformats.org/markup-compatibility/2006" xmlns:a14="http://schemas.microsoft.com/office/drawing/2010/main">
        <mc:Choice Requires="a14">
          <p:sp>
            <p:nvSpPr>
              <p:cNvPr id="7" name="Rectangle 6"/>
              <p:cNvSpPr/>
              <p:nvPr/>
            </p:nvSpPr>
            <p:spPr>
              <a:xfrm>
                <a:off x="4548143" y="4863099"/>
                <a:ext cx="6710403" cy="1477328"/>
              </a:xfrm>
              <a:prstGeom prst="rect">
                <a:avLst/>
              </a:prstGeom>
            </p:spPr>
            <p:txBody>
              <a:bodyPr wrap="square">
                <a:spAutoFit/>
              </a:bodyPr>
              <a:lstStyle/>
              <a:p>
                <a:r>
                  <a:rPr lang="sv-SE" dirty="0"/>
                  <a:t>The </a:t>
                </a:r>
                <a:r>
                  <a:rPr lang="sv-SE" dirty="0" err="1"/>
                  <a:t>static</a:t>
                </a:r>
                <a:r>
                  <a:rPr lang="sv-SE" dirty="0"/>
                  <a:t> </a:t>
                </a:r>
                <a:r>
                  <a:rPr lang="sv-SE" dirty="0" err="1"/>
                  <a:t>behavior</a:t>
                </a:r>
                <a:r>
                  <a:rPr lang="sv-SE" dirty="0"/>
                  <a:t> </a:t>
                </a:r>
                <a:r>
                  <a:rPr lang="sv-SE" dirty="0" err="1"/>
                  <a:t>of</a:t>
                </a:r>
                <a:r>
                  <a:rPr lang="sv-SE" dirty="0"/>
                  <a:t> the </a:t>
                </a:r>
                <a:r>
                  <a:rPr lang="sv-SE" dirty="0" err="1"/>
                  <a:t>SiC</a:t>
                </a:r>
                <a:r>
                  <a:rPr lang="sv-SE" dirty="0"/>
                  <a:t> </a:t>
                </a:r>
                <a:r>
                  <a:rPr lang="sv-SE" dirty="0" err="1"/>
                  <a:t>Schottky</a:t>
                </a:r>
                <a:r>
                  <a:rPr lang="sv-SE" dirty="0"/>
                  <a:t> </a:t>
                </a:r>
                <a:r>
                  <a:rPr lang="sv-SE" dirty="0" err="1"/>
                  <a:t>diode</a:t>
                </a:r>
                <a:r>
                  <a:rPr lang="sv-SE" dirty="0"/>
                  <a:t> is </a:t>
                </a:r>
                <a:r>
                  <a:rPr lang="sv-SE" dirty="0" err="1"/>
                  <a:t>evaluated</a:t>
                </a:r>
                <a:r>
                  <a:rPr lang="sv-SE" dirty="0"/>
                  <a:t> </a:t>
                </a:r>
                <a:r>
                  <a:rPr lang="sv-SE" dirty="0" err="1" smtClean="0"/>
                  <a:t>similarly</a:t>
                </a:r>
                <a:r>
                  <a:rPr lang="sv-SE" dirty="0" smtClean="0"/>
                  <a:t>. The </a:t>
                </a:r>
                <a:r>
                  <a:rPr lang="sv-SE" dirty="0" err="1"/>
                  <a:t>specific</a:t>
                </a:r>
                <a:r>
                  <a:rPr lang="sv-SE" dirty="0"/>
                  <a:t> </a:t>
                </a:r>
                <a:r>
                  <a:rPr lang="sv-SE" dirty="0" err="1"/>
                  <a:t>resistance</a:t>
                </a:r>
                <a:r>
                  <a:rPr lang="sv-SE" dirty="0"/>
                  <a:t> </a:t>
                </a:r>
                <a14:m>
                  <m:oMath xmlns:m="http://schemas.openxmlformats.org/officeDocument/2006/math">
                    <m:sSub>
                      <m:sSubPr>
                        <m:ctrlPr>
                          <a:rPr lang="en-US" i="1" dirty="0">
                            <a:latin typeface="Cambria Math" panose="02040503050406030204" pitchFamily="18" charset="0"/>
                          </a:rPr>
                        </m:ctrlPr>
                      </m:sSubPr>
                      <m:e>
                        <m:r>
                          <a:rPr lang="sv-SE" i="1" dirty="0">
                            <a:latin typeface="Cambria Math" panose="02040503050406030204" pitchFamily="18" charset="0"/>
                          </a:rPr>
                          <m:t>𝑟</m:t>
                        </m:r>
                      </m:e>
                      <m:sub>
                        <m:r>
                          <a:rPr lang="en-US" i="1" dirty="0">
                            <a:latin typeface="Cambria Math" panose="02040503050406030204" pitchFamily="18" charset="0"/>
                          </a:rPr>
                          <m:t>0</m:t>
                        </m:r>
                      </m:sub>
                    </m:sSub>
                    <m:r>
                      <a:rPr lang="sv-SE" i="1" dirty="0">
                        <a:latin typeface="Cambria Math" panose="02040503050406030204" pitchFamily="18" charset="0"/>
                      </a:rPr>
                      <m:t> </m:t>
                    </m:r>
                  </m:oMath>
                </a14:m>
                <a:r>
                  <a:rPr lang="sv-SE" dirty="0"/>
                  <a:t>as a </a:t>
                </a:r>
                <a:r>
                  <a:rPr lang="sv-SE" dirty="0" err="1"/>
                  <a:t>function</a:t>
                </a:r>
                <a:r>
                  <a:rPr lang="sv-SE" dirty="0"/>
                  <a:t> </a:t>
                </a:r>
                <a:r>
                  <a:rPr lang="sv-SE" dirty="0" err="1"/>
                  <a:t>of</a:t>
                </a:r>
                <a:r>
                  <a:rPr lang="sv-SE" dirty="0"/>
                  <a:t> the </a:t>
                </a:r>
                <a:r>
                  <a:rPr lang="sv-SE" dirty="0" err="1"/>
                  <a:t>rated</a:t>
                </a:r>
                <a:r>
                  <a:rPr lang="sv-SE" dirty="0"/>
                  <a:t> </a:t>
                </a:r>
                <a:r>
                  <a:rPr lang="sv-SE" dirty="0" err="1"/>
                  <a:t>voltage</a:t>
                </a:r>
                <a:r>
                  <a:rPr lang="sv-SE" dirty="0"/>
                  <a:t> </a:t>
                </a:r>
                <a:r>
                  <a:rPr lang="sv-SE" dirty="0" smtClean="0"/>
                  <a:t>fits </a:t>
                </a:r>
                <a:r>
                  <a:rPr lang="sv-SE" dirty="0" err="1"/>
                  <a:t>with</a:t>
                </a:r>
                <a:r>
                  <a:rPr lang="sv-SE" dirty="0"/>
                  <a:t> the </a:t>
                </a:r>
                <a:r>
                  <a:rPr lang="sv-SE" dirty="0" err="1"/>
                  <a:t>coefficients</a:t>
                </a:r>
                <a:r>
                  <a:rPr lang="sv-SE" dirty="0"/>
                  <a:t> </a:t>
                </a:r>
                <a14:m>
                  <m:oMath xmlns:m="http://schemas.openxmlformats.org/officeDocument/2006/math">
                    <m:sSub>
                      <m:sSubPr>
                        <m:ctrlPr>
                          <a:rPr lang="en-US" i="1" dirty="0">
                            <a:latin typeface="Cambria Math" panose="02040503050406030204" pitchFamily="18" charset="0"/>
                          </a:rPr>
                        </m:ctrlPr>
                      </m:sSubPr>
                      <m:e>
                        <m:r>
                          <a:rPr lang="sv-SE" i="1" dirty="0">
                            <a:latin typeface="Cambria Math" panose="02040503050406030204" pitchFamily="18" charset="0"/>
                          </a:rPr>
                          <m:t>𝑎</m:t>
                        </m:r>
                      </m:e>
                      <m:sub>
                        <m:r>
                          <a:rPr lang="sv-SE" i="1" dirty="0">
                            <a:latin typeface="Cambria Math" panose="02040503050406030204" pitchFamily="18" charset="0"/>
                          </a:rPr>
                          <m:t>𝐷</m:t>
                        </m:r>
                      </m:sub>
                    </m:sSub>
                  </m:oMath>
                </a14:m>
                <a:r>
                  <a:rPr lang="sv-SE"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𝑑</m:t>
                        </m:r>
                      </m:sub>
                    </m:sSub>
                    <m:r>
                      <a:rPr lang="en-US" i="1">
                        <a:latin typeface="Cambria Math" panose="02040503050406030204" pitchFamily="18" charset="0"/>
                      </a:rPr>
                      <m:t>.</m:t>
                    </m:r>
                    <m:r>
                      <a:rPr lang="en-US" i="1" smtClean="0">
                        <a:latin typeface="Cambria Math" panose="02040503050406030204" pitchFamily="18" charset="0"/>
                      </a:rPr>
                      <m:t> </m:t>
                    </m:r>
                  </m:oMath>
                </a14:m>
                <a:r>
                  <a:rPr lang="sv-SE" dirty="0"/>
                  <a:t>However,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𝑢</m:t>
                        </m:r>
                      </m:e>
                      <m:sub>
                        <m:r>
                          <a:rPr lang="en-US" i="1" dirty="0">
                            <a:latin typeface="Cambria Math" panose="02040503050406030204" pitchFamily="18" charset="0"/>
                          </a:rPr>
                          <m:t>0</m:t>
                        </m:r>
                      </m:sub>
                    </m:sSub>
                  </m:oMath>
                </a14:m>
                <a:r>
                  <a:rPr lang="en-US" dirty="0"/>
                  <a:t> does not depend on the drift region thickness. </a:t>
                </a:r>
                <a:endParaRPr lang="sv-SE" dirty="0"/>
              </a:p>
              <a:p>
                <a:endParaRPr lang="sv-SE" dirty="0"/>
              </a:p>
            </p:txBody>
          </p:sp>
        </mc:Choice>
        <mc:Fallback xmlns="">
          <p:sp>
            <p:nvSpPr>
              <p:cNvPr id="7" name="Rectangle 6"/>
              <p:cNvSpPr>
                <a:spLocks noRot="1" noChangeAspect="1" noMove="1" noResize="1" noEditPoints="1" noAdjustHandles="1" noChangeArrowheads="1" noChangeShapeType="1" noTextEdit="1"/>
              </p:cNvSpPr>
              <p:nvPr/>
            </p:nvSpPr>
            <p:spPr>
              <a:xfrm>
                <a:off x="4548143" y="4863099"/>
                <a:ext cx="6710403" cy="1477328"/>
              </a:xfrm>
              <a:prstGeom prst="rect">
                <a:avLst/>
              </a:prstGeom>
              <a:blipFill>
                <a:blip r:embed="rId8"/>
                <a:stretch>
                  <a:fillRect l="-727" t="-2479" r="-182"/>
                </a:stretch>
              </a:blipFill>
            </p:spPr>
            <p:txBody>
              <a:bodyPr/>
              <a:lstStyle/>
              <a:p>
                <a:r>
                  <a:rPr lang="sv-SE">
                    <a:noFill/>
                  </a:rPr>
                  <a:t> </a:t>
                </a:r>
              </a:p>
            </p:txBody>
          </p:sp>
        </mc:Fallback>
      </mc:AlternateContent>
      <p:pic>
        <p:nvPicPr>
          <p:cNvPr id="14" name="Picture 13"/>
          <p:cNvPicPr>
            <a:picLocks noChangeAspect="1"/>
          </p:cNvPicPr>
          <p:nvPr/>
        </p:nvPicPr>
        <p:blipFill>
          <a:blip r:embed="rId9"/>
          <a:stretch>
            <a:fillRect/>
          </a:stretch>
        </p:blipFill>
        <p:spPr>
          <a:xfrm>
            <a:off x="4605249" y="6138785"/>
            <a:ext cx="6200775" cy="533400"/>
          </a:xfrm>
          <a:prstGeom prst="rect">
            <a:avLst/>
          </a:prstGeom>
        </p:spPr>
      </p:pic>
    </p:spTree>
    <p:extLst>
      <p:ext uri="{BB962C8B-B14F-4D97-AF65-F5344CB8AC3E}">
        <p14:creationId xmlns:p14="http://schemas.microsoft.com/office/powerpoint/2010/main" val="32574025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949" y="53151"/>
            <a:ext cx="10515600" cy="1325563"/>
          </a:xfrm>
        </p:spPr>
        <p:txBody>
          <a:bodyPr/>
          <a:lstStyle/>
          <a:p>
            <a:r>
              <a:rPr lang="en-US" dirty="0" smtClean="0">
                <a:solidFill>
                  <a:srgbClr val="C00000"/>
                </a:solidFill>
              </a:rPr>
              <a:t>Switching Losses</a:t>
            </a:r>
            <a:endParaRPr lang="sv-SE" dirty="0">
              <a:solidFill>
                <a:srgbClr val="C00000"/>
              </a:solidFill>
            </a:endParaRPr>
          </a:p>
        </p:txBody>
      </p:sp>
      <mc:AlternateContent xmlns:mc="http://schemas.openxmlformats.org/markup-compatibility/2006" xmlns:a14="http://schemas.microsoft.com/office/drawing/2010/main">
        <mc:Choice Requires="a14">
          <p:sp>
            <p:nvSpPr>
              <p:cNvPr id="16" name="Rectangle 15"/>
              <p:cNvSpPr/>
              <p:nvPr/>
            </p:nvSpPr>
            <p:spPr>
              <a:xfrm>
                <a:off x="461962" y="1138396"/>
                <a:ext cx="10826750" cy="668645"/>
              </a:xfrm>
              <a:prstGeom prst="rect">
                <a:avLst/>
              </a:prstGeom>
            </p:spPr>
            <p:txBody>
              <a:bodyPr wrap="square">
                <a:spAutoFit/>
              </a:bodyPr>
              <a:lstStyle/>
              <a:p>
                <a:r>
                  <a:rPr lang="sv-SE" dirty="0" smtClean="0"/>
                  <a:t>For </a:t>
                </a:r>
                <a:r>
                  <a:rPr lang="sv-SE" dirty="0" err="1"/>
                  <a:t>examining</a:t>
                </a:r>
                <a:r>
                  <a:rPr lang="sv-SE" dirty="0"/>
                  <a:t> the </a:t>
                </a:r>
                <a:r>
                  <a:rPr lang="sv-SE" dirty="0" err="1"/>
                  <a:t>SiC</a:t>
                </a:r>
                <a:r>
                  <a:rPr lang="sv-SE" dirty="0"/>
                  <a:t> MOSFET </a:t>
                </a:r>
                <a:r>
                  <a:rPr lang="sv-SE" dirty="0" err="1"/>
                  <a:t>switching</a:t>
                </a:r>
                <a:r>
                  <a:rPr lang="sv-SE" dirty="0"/>
                  <a:t> </a:t>
                </a:r>
                <a:r>
                  <a:rPr lang="sv-SE" dirty="0" err="1"/>
                  <a:t>losses</a:t>
                </a:r>
                <a:r>
                  <a:rPr lang="sv-SE" dirty="0"/>
                  <a:t>, the </a:t>
                </a:r>
                <a:r>
                  <a:rPr lang="sv-SE" dirty="0" smtClean="0"/>
                  <a:t>parameters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𝑘</m:t>
                        </m:r>
                      </m:e>
                      <m:sub>
                        <m:r>
                          <a:rPr lang="sv-SE" i="1" dirty="0" smtClean="0">
                            <a:latin typeface="Cambria Math" panose="02040503050406030204" pitchFamily="18" charset="0"/>
                          </a:rPr>
                          <m:t>𝑠𝑤</m:t>
                        </m:r>
                        <m:r>
                          <a:rPr lang="en-US" b="0" i="1" dirty="0" smtClean="0">
                            <a:latin typeface="Cambria Math" panose="02040503050406030204" pitchFamily="18" charset="0"/>
                          </a:rPr>
                          <m:t>,</m:t>
                        </m:r>
                        <m:r>
                          <a:rPr lang="en-US" b="0" i="1" dirty="0" smtClean="0">
                            <a:latin typeface="Cambria Math" panose="02040503050406030204" pitchFamily="18" charset="0"/>
                          </a:rPr>
                          <m:t>𝑑𝑠𝑠</m:t>
                        </m:r>
                      </m:sub>
                    </m:sSub>
                  </m:oMath>
                </a14:m>
                <a:r>
                  <a:rPr lang="sv-SE" dirty="0" smtClean="0"/>
                  <a:t>,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𝐼</m:t>
                        </m:r>
                      </m:e>
                      <m:sub>
                        <m:r>
                          <a:rPr lang="sv-SE" i="1" dirty="0" smtClean="0">
                            <a:latin typeface="Cambria Math" panose="02040503050406030204" pitchFamily="18" charset="0"/>
                          </a:rPr>
                          <m:t>𝐿</m:t>
                        </m:r>
                      </m:sub>
                    </m:sSub>
                  </m:oMath>
                </a14:m>
                <a:r>
                  <a:rPr lang="sv-SE" dirty="0"/>
                  <a:t>,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𝜃</m:t>
                        </m:r>
                      </m:e>
                      <m:sub>
                        <m:r>
                          <a:rPr lang="sv-SE" i="1" dirty="0" smtClean="0">
                            <a:latin typeface="Cambria Math" panose="02040503050406030204" pitchFamily="18" charset="0"/>
                          </a:rPr>
                          <m:t>𝑗</m:t>
                        </m:r>
                      </m:sub>
                    </m:sSub>
                  </m:oMath>
                </a14:m>
                <a:r>
                  <a:rPr lang="sv-SE" dirty="0" smtClean="0"/>
                  <a:t>, and </a:t>
                </a:r>
                <a14:m>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𝑈</m:t>
                        </m:r>
                      </m:e>
                      <m:sub>
                        <m:r>
                          <a:rPr lang="sv-SE" i="1" dirty="0" smtClean="0">
                            <a:latin typeface="Cambria Math" panose="02040503050406030204" pitchFamily="18" charset="0"/>
                          </a:rPr>
                          <m:t>𝑑𝑠𝑠</m:t>
                        </m:r>
                      </m:sub>
                    </m:sSub>
                  </m:oMath>
                </a14:m>
                <a:r>
                  <a:rPr lang="sv-SE" dirty="0" smtClean="0"/>
                  <a:t> </a:t>
                </a:r>
                <a:r>
                  <a:rPr lang="sv-SE" dirty="0" err="1"/>
                  <a:t>are</a:t>
                </a:r>
                <a:r>
                  <a:rPr lang="sv-SE" dirty="0"/>
                  <a:t> </a:t>
                </a:r>
                <a:r>
                  <a:rPr lang="sv-SE" dirty="0" err="1"/>
                  <a:t>analyzed</a:t>
                </a:r>
                <a:r>
                  <a:rPr lang="sv-SE" dirty="0"/>
                  <a:t> </a:t>
                </a:r>
                <a:r>
                  <a:rPr lang="sv-SE" dirty="0" err="1"/>
                  <a:t>individually</a:t>
                </a:r>
                <a:r>
                  <a:rPr lang="sv-SE" dirty="0"/>
                  <a:t>, </a:t>
                </a:r>
                <a:r>
                  <a:rPr lang="sv-SE" dirty="0" err="1" smtClean="0"/>
                  <a:t>while</a:t>
                </a:r>
                <a:r>
                  <a:rPr lang="sv-SE" dirty="0" smtClean="0"/>
                  <a:t> </a:t>
                </a:r>
                <a:r>
                  <a:rPr lang="sv-SE" dirty="0"/>
                  <a:t>the </a:t>
                </a:r>
                <a:r>
                  <a:rPr lang="sv-SE" dirty="0" err="1"/>
                  <a:t>others</a:t>
                </a:r>
                <a:r>
                  <a:rPr lang="sv-SE" dirty="0"/>
                  <a:t> </a:t>
                </a:r>
                <a:r>
                  <a:rPr lang="sv-SE" dirty="0" err="1"/>
                  <a:t>are</a:t>
                </a:r>
                <a:r>
                  <a:rPr lang="sv-SE" dirty="0"/>
                  <a:t> </a:t>
                </a:r>
                <a:r>
                  <a:rPr lang="sv-SE" dirty="0" err="1"/>
                  <a:t>assumed</a:t>
                </a:r>
                <a:r>
                  <a:rPr lang="sv-SE" dirty="0"/>
                  <a:t> to be </a:t>
                </a:r>
                <a:r>
                  <a:rPr lang="sv-SE" dirty="0" err="1"/>
                  <a:t>constant</a:t>
                </a:r>
                <a:r>
                  <a:rPr lang="sv-SE" dirty="0"/>
                  <a:t>.</a:t>
                </a:r>
              </a:p>
            </p:txBody>
          </p:sp>
        </mc:Choice>
        <mc:Fallback xmlns="">
          <p:sp>
            <p:nvSpPr>
              <p:cNvPr id="16" name="Rectangle 15"/>
              <p:cNvSpPr>
                <a:spLocks noRot="1" noChangeAspect="1" noMove="1" noResize="1" noEditPoints="1" noAdjustHandles="1" noChangeArrowheads="1" noChangeShapeType="1" noTextEdit="1"/>
              </p:cNvSpPr>
              <p:nvPr/>
            </p:nvSpPr>
            <p:spPr>
              <a:xfrm>
                <a:off x="461962" y="1138396"/>
                <a:ext cx="10826750" cy="668645"/>
              </a:xfrm>
              <a:prstGeom prst="rect">
                <a:avLst/>
              </a:prstGeom>
              <a:blipFill>
                <a:blip r:embed="rId2"/>
                <a:stretch>
                  <a:fillRect l="-507" t="-4587" b="-14679"/>
                </a:stretch>
              </a:blipFill>
            </p:spPr>
            <p:txBody>
              <a:bodyPr/>
              <a:lstStyle/>
              <a:p>
                <a:r>
                  <a:rPr lang="sv-SE">
                    <a:noFill/>
                  </a:rPr>
                  <a:t> </a:t>
                </a:r>
              </a:p>
            </p:txBody>
          </p:sp>
        </mc:Fallback>
      </mc:AlternateContent>
      <p:pic>
        <p:nvPicPr>
          <p:cNvPr id="17" name="Picture 16"/>
          <p:cNvPicPr>
            <a:picLocks noChangeAspect="1"/>
          </p:cNvPicPr>
          <p:nvPr/>
        </p:nvPicPr>
        <p:blipFill>
          <a:blip r:embed="rId3"/>
          <a:stretch>
            <a:fillRect/>
          </a:stretch>
        </p:blipFill>
        <p:spPr>
          <a:xfrm>
            <a:off x="3774280" y="2163593"/>
            <a:ext cx="3233738" cy="630973"/>
          </a:xfrm>
          <a:prstGeom prst="rect">
            <a:avLst/>
          </a:prstGeom>
        </p:spPr>
      </p:pic>
      <p:sp>
        <p:nvSpPr>
          <p:cNvPr id="18" name="Rectangle 17"/>
          <p:cNvSpPr/>
          <p:nvPr/>
        </p:nvSpPr>
        <p:spPr>
          <a:xfrm>
            <a:off x="400050" y="2792263"/>
            <a:ext cx="11791950" cy="646331"/>
          </a:xfrm>
          <a:prstGeom prst="rect">
            <a:avLst/>
          </a:prstGeom>
        </p:spPr>
        <p:txBody>
          <a:bodyPr wrap="square">
            <a:spAutoFit/>
          </a:bodyPr>
          <a:lstStyle/>
          <a:p>
            <a:r>
              <a:rPr lang="sv-SE" dirty="0" smtClean="0"/>
              <a:t>2. The </a:t>
            </a:r>
            <a:r>
              <a:rPr lang="sv-SE" dirty="0" err="1"/>
              <a:t>switching</a:t>
            </a:r>
            <a:r>
              <a:rPr lang="sv-SE" dirty="0"/>
              <a:t> </a:t>
            </a:r>
            <a:r>
              <a:rPr lang="sv-SE" dirty="0" err="1"/>
              <a:t>energy</a:t>
            </a:r>
            <a:r>
              <a:rPr lang="sv-SE" dirty="0"/>
              <a:t> is </a:t>
            </a:r>
            <a:r>
              <a:rPr lang="sv-SE" dirty="0" err="1"/>
              <a:t>supposed</a:t>
            </a:r>
            <a:r>
              <a:rPr lang="sv-SE" dirty="0"/>
              <a:t> to be </a:t>
            </a:r>
            <a:r>
              <a:rPr lang="sv-SE" dirty="0" smtClean="0"/>
              <a:t>proportional </a:t>
            </a:r>
            <a:r>
              <a:rPr lang="sv-SE" dirty="0"/>
              <a:t>to the </a:t>
            </a:r>
            <a:r>
              <a:rPr lang="sv-SE" dirty="0" err="1"/>
              <a:t>load</a:t>
            </a:r>
            <a:r>
              <a:rPr lang="sv-SE" dirty="0"/>
              <a:t> </a:t>
            </a:r>
            <a:r>
              <a:rPr lang="sv-SE" dirty="0" err="1"/>
              <a:t>current</a:t>
            </a:r>
            <a:r>
              <a:rPr lang="sv-SE" dirty="0" smtClean="0"/>
              <a:t>. </a:t>
            </a:r>
            <a:r>
              <a:rPr lang="en-US" dirty="0"/>
              <a:t>Since fast switching is </a:t>
            </a:r>
            <a:r>
              <a:rPr lang="en-US" dirty="0" smtClean="0"/>
              <a:t>assumed</a:t>
            </a:r>
            <a:r>
              <a:rPr lang="en-US" dirty="0"/>
              <a:t>, f2(IL) is fit with a second-degree polynomial instead </a:t>
            </a:r>
            <a:r>
              <a:rPr lang="en-US" dirty="0" smtClean="0"/>
              <a:t>which </a:t>
            </a:r>
            <a:r>
              <a:rPr lang="en-US" dirty="0"/>
              <a:t>is in good agreement with the measured data</a:t>
            </a:r>
            <a:endParaRPr lang="sv-SE" dirty="0"/>
          </a:p>
        </p:txBody>
      </p:sp>
      <mc:AlternateContent xmlns:mc="http://schemas.openxmlformats.org/markup-compatibility/2006" xmlns:a14="http://schemas.microsoft.com/office/drawing/2010/main">
        <mc:Choice Requires="a14">
          <p:sp>
            <p:nvSpPr>
              <p:cNvPr id="19" name="Rectangle 18"/>
              <p:cNvSpPr/>
              <p:nvPr/>
            </p:nvSpPr>
            <p:spPr>
              <a:xfrm>
                <a:off x="400050" y="1777398"/>
                <a:ext cx="4528804" cy="372410"/>
              </a:xfrm>
              <a:prstGeom prst="rect">
                <a:avLst/>
              </a:prstGeom>
            </p:spPr>
            <p:txBody>
              <a:bodyPr wrap="none">
                <a:spAutoFit/>
              </a:bodyPr>
              <a:lstStyle/>
              <a:p>
                <a:r>
                  <a:rPr lang="sv-SE" dirty="0" smtClean="0"/>
                  <a:t>1. The </a:t>
                </a:r>
                <a:r>
                  <a:rPr lang="sv-SE" dirty="0" err="1"/>
                  <a:t>switching</a:t>
                </a:r>
                <a:r>
                  <a:rPr lang="sv-SE" dirty="0"/>
                  <a:t> </a:t>
                </a:r>
                <a:r>
                  <a:rPr lang="sv-SE" dirty="0" err="1"/>
                  <a:t>energy</a:t>
                </a:r>
                <a:r>
                  <a:rPr lang="sv-SE" dirty="0"/>
                  <a:t> is proportional to </a:t>
                </a:r>
                <a14:m>
                  <m:oMath xmlns:m="http://schemas.openxmlformats.org/officeDocument/2006/math">
                    <m:sSup>
                      <m:sSupPr>
                        <m:ctrlPr>
                          <a:rPr lang="en-US" b="0" i="1" dirty="0" smtClean="0">
                            <a:latin typeface="Cambria Math" panose="02040503050406030204" pitchFamily="18" charset="0"/>
                          </a:rPr>
                        </m:ctrlPr>
                      </m:sSupPr>
                      <m:e>
                        <m:r>
                          <a:rPr lang="sv-SE" i="1" dirty="0" smtClean="0">
                            <a:latin typeface="Cambria Math" panose="02040503050406030204" pitchFamily="18" charset="0"/>
                          </a:rPr>
                          <m:t>𝑈</m:t>
                        </m:r>
                      </m:e>
                      <m:sup>
                        <m:r>
                          <a:rPr lang="en-US" b="0" i="1" dirty="0" smtClean="0">
                            <a:latin typeface="Cambria Math" panose="02040503050406030204" pitchFamily="18" charset="0"/>
                          </a:rPr>
                          <m:t>1.5</m:t>
                        </m:r>
                      </m:sup>
                    </m:sSup>
                  </m:oMath>
                </a14:m>
                <a:endParaRPr lang="sv-SE" dirty="0"/>
              </a:p>
            </p:txBody>
          </p:sp>
        </mc:Choice>
        <mc:Fallback xmlns="">
          <p:sp>
            <p:nvSpPr>
              <p:cNvPr id="19" name="Rectangle 18"/>
              <p:cNvSpPr>
                <a:spLocks noRot="1" noChangeAspect="1" noMove="1" noResize="1" noEditPoints="1" noAdjustHandles="1" noChangeArrowheads="1" noChangeShapeType="1" noTextEdit="1"/>
              </p:cNvSpPr>
              <p:nvPr/>
            </p:nvSpPr>
            <p:spPr>
              <a:xfrm>
                <a:off x="400050" y="1777398"/>
                <a:ext cx="4528804" cy="372410"/>
              </a:xfrm>
              <a:prstGeom prst="rect">
                <a:avLst/>
              </a:prstGeom>
              <a:blipFill>
                <a:blip r:embed="rId4"/>
                <a:stretch>
                  <a:fillRect l="-1211" t="-8197" b="-26230"/>
                </a:stretch>
              </a:blipFill>
            </p:spPr>
            <p:txBody>
              <a:bodyPr/>
              <a:lstStyle/>
              <a:p>
                <a:r>
                  <a:rPr lang="sv-SE">
                    <a:noFill/>
                  </a:rPr>
                  <a:t> </a:t>
                </a:r>
              </a:p>
            </p:txBody>
          </p:sp>
        </mc:Fallback>
      </mc:AlternateContent>
      <p:pic>
        <p:nvPicPr>
          <p:cNvPr id="20" name="Picture 19"/>
          <p:cNvPicPr>
            <a:picLocks noChangeAspect="1"/>
          </p:cNvPicPr>
          <p:nvPr/>
        </p:nvPicPr>
        <p:blipFill>
          <a:blip r:embed="rId5"/>
          <a:stretch>
            <a:fillRect/>
          </a:stretch>
        </p:blipFill>
        <p:spPr>
          <a:xfrm>
            <a:off x="3349625" y="3438594"/>
            <a:ext cx="4695825" cy="495300"/>
          </a:xfrm>
          <a:prstGeom prst="rect">
            <a:avLst/>
          </a:prstGeom>
        </p:spPr>
      </p:pic>
      <p:sp>
        <p:nvSpPr>
          <p:cNvPr id="21" name="Rectangle 20"/>
          <p:cNvSpPr/>
          <p:nvPr/>
        </p:nvSpPr>
        <p:spPr>
          <a:xfrm>
            <a:off x="488950" y="3921114"/>
            <a:ext cx="7332457" cy="369332"/>
          </a:xfrm>
          <a:prstGeom prst="rect">
            <a:avLst/>
          </a:prstGeom>
        </p:spPr>
        <p:txBody>
          <a:bodyPr wrap="none">
            <a:spAutoFit/>
          </a:bodyPr>
          <a:lstStyle/>
          <a:p>
            <a:r>
              <a:rPr lang="sv-SE" dirty="0" smtClean="0"/>
              <a:t>3. The </a:t>
            </a:r>
            <a:r>
              <a:rPr lang="sv-SE" dirty="0" err="1" smtClean="0"/>
              <a:t>function</a:t>
            </a:r>
            <a:r>
              <a:rPr lang="sv-SE" dirty="0" smtClean="0"/>
              <a:t> for the </a:t>
            </a:r>
            <a:r>
              <a:rPr lang="sv-SE" dirty="0" err="1" smtClean="0"/>
              <a:t>temperature</a:t>
            </a:r>
            <a:r>
              <a:rPr lang="sv-SE" dirty="0" smtClean="0"/>
              <a:t> </a:t>
            </a:r>
            <a:r>
              <a:rPr lang="sv-SE" dirty="0" err="1" smtClean="0"/>
              <a:t>effect</a:t>
            </a:r>
            <a:r>
              <a:rPr lang="sv-SE" dirty="0" smtClean="0"/>
              <a:t> fits </a:t>
            </a:r>
            <a:r>
              <a:rPr lang="sv-SE" dirty="0" err="1"/>
              <a:t>with</a:t>
            </a:r>
            <a:r>
              <a:rPr lang="sv-SE" dirty="0"/>
              <a:t> a </a:t>
            </a:r>
            <a:r>
              <a:rPr lang="sv-SE" dirty="0" err="1"/>
              <a:t>first-degree</a:t>
            </a:r>
            <a:r>
              <a:rPr lang="sv-SE" dirty="0"/>
              <a:t> </a:t>
            </a:r>
            <a:r>
              <a:rPr lang="sv-SE" dirty="0" err="1" smtClean="0"/>
              <a:t>polynomial</a:t>
            </a:r>
            <a:endParaRPr lang="sv-SE" dirty="0"/>
          </a:p>
        </p:txBody>
      </p:sp>
      <p:pic>
        <p:nvPicPr>
          <p:cNvPr id="22" name="Picture 21"/>
          <p:cNvPicPr>
            <a:picLocks noChangeAspect="1"/>
          </p:cNvPicPr>
          <p:nvPr/>
        </p:nvPicPr>
        <p:blipFill rotWithShape="1">
          <a:blip r:embed="rId6"/>
          <a:srcRect t="3636" b="-3636"/>
          <a:stretch/>
        </p:blipFill>
        <p:spPr>
          <a:xfrm>
            <a:off x="3509962" y="4351460"/>
            <a:ext cx="3762375" cy="523875"/>
          </a:xfrm>
          <a:prstGeom prst="rect">
            <a:avLst/>
          </a:prstGeom>
        </p:spPr>
      </p:pic>
      <p:sp>
        <p:nvSpPr>
          <p:cNvPr id="23" name="Rectangle 22"/>
          <p:cNvSpPr/>
          <p:nvPr/>
        </p:nvSpPr>
        <p:spPr>
          <a:xfrm>
            <a:off x="461962" y="4875335"/>
            <a:ext cx="11539538" cy="923330"/>
          </a:xfrm>
          <a:prstGeom prst="rect">
            <a:avLst/>
          </a:prstGeom>
        </p:spPr>
        <p:txBody>
          <a:bodyPr wrap="square">
            <a:spAutoFit/>
          </a:bodyPr>
          <a:lstStyle/>
          <a:p>
            <a:r>
              <a:rPr lang="sv-SE" dirty="0" smtClean="0"/>
              <a:t>4. If </a:t>
            </a:r>
            <a:r>
              <a:rPr lang="sv-SE" dirty="0"/>
              <a:t>the </a:t>
            </a:r>
            <a:r>
              <a:rPr lang="sv-SE" dirty="0" err="1"/>
              <a:t>voltage</a:t>
            </a:r>
            <a:r>
              <a:rPr lang="sv-SE" dirty="0"/>
              <a:t> </a:t>
            </a:r>
            <a:r>
              <a:rPr lang="sv-SE" dirty="0" err="1"/>
              <a:t>slew</a:t>
            </a:r>
            <a:r>
              <a:rPr lang="sv-SE" dirty="0"/>
              <a:t> rate is not </a:t>
            </a:r>
            <a:r>
              <a:rPr lang="sv-SE" dirty="0" err="1"/>
              <a:t>limited</a:t>
            </a:r>
            <a:r>
              <a:rPr lang="sv-SE" dirty="0"/>
              <a:t> and the </a:t>
            </a:r>
            <a:r>
              <a:rPr lang="sv-SE" dirty="0" err="1"/>
              <a:t>voltage</a:t>
            </a:r>
            <a:r>
              <a:rPr lang="sv-SE" dirty="0"/>
              <a:t> </a:t>
            </a:r>
            <a:r>
              <a:rPr lang="sv-SE" dirty="0" err="1"/>
              <a:t>utilization</a:t>
            </a:r>
            <a:r>
              <a:rPr lang="sv-SE" dirty="0"/>
              <a:t> </a:t>
            </a:r>
            <a:r>
              <a:rPr lang="sv-SE" dirty="0" err="1" smtClean="0"/>
              <a:t>factor</a:t>
            </a:r>
            <a:r>
              <a:rPr lang="sv-SE" dirty="0" smtClean="0"/>
              <a:t> </a:t>
            </a:r>
            <a:r>
              <a:rPr lang="sv-SE" dirty="0"/>
              <a:t>is </a:t>
            </a:r>
            <a:r>
              <a:rPr lang="sv-SE" dirty="0" err="1"/>
              <a:t>constant</a:t>
            </a:r>
            <a:r>
              <a:rPr lang="sv-SE" dirty="0"/>
              <a:t> (</a:t>
            </a:r>
            <a:r>
              <a:rPr lang="sv-SE" dirty="0" err="1"/>
              <a:t>ksw,dss</a:t>
            </a:r>
            <a:r>
              <a:rPr lang="sv-SE" dirty="0"/>
              <a:t> = (</a:t>
            </a:r>
            <a:r>
              <a:rPr lang="sv-SE" dirty="0" err="1"/>
              <a:t>Usw</a:t>
            </a:r>
            <a:r>
              <a:rPr lang="sv-SE" dirty="0"/>
              <a:t>/</a:t>
            </a:r>
            <a:r>
              <a:rPr lang="sv-SE" dirty="0" err="1"/>
              <a:t>Udss</a:t>
            </a:r>
            <a:r>
              <a:rPr lang="sv-SE" dirty="0"/>
              <a:t>) = </a:t>
            </a:r>
            <a:r>
              <a:rPr lang="sv-SE" dirty="0" err="1"/>
              <a:t>const</a:t>
            </a:r>
            <a:r>
              <a:rPr lang="sv-SE" dirty="0"/>
              <a:t>.), </a:t>
            </a:r>
            <a:r>
              <a:rPr lang="sv-SE" dirty="0" smtClean="0"/>
              <a:t>the </a:t>
            </a:r>
            <a:r>
              <a:rPr lang="sv-SE" dirty="0"/>
              <a:t>charge </a:t>
            </a:r>
            <a:r>
              <a:rPr lang="sv-SE" dirty="0" err="1"/>
              <a:t>Qoss</a:t>
            </a:r>
            <a:r>
              <a:rPr lang="sv-SE" dirty="0"/>
              <a:t> and </a:t>
            </a:r>
            <a:r>
              <a:rPr lang="sv-SE" dirty="0" err="1"/>
              <a:t>consequently</a:t>
            </a:r>
            <a:r>
              <a:rPr lang="sv-SE" dirty="0"/>
              <a:t> the </a:t>
            </a:r>
            <a:r>
              <a:rPr lang="sv-SE" dirty="0" err="1"/>
              <a:t>switching</a:t>
            </a:r>
            <a:r>
              <a:rPr lang="sv-SE" dirty="0"/>
              <a:t> </a:t>
            </a:r>
            <a:r>
              <a:rPr lang="sv-SE" dirty="0" err="1"/>
              <a:t>time</a:t>
            </a:r>
            <a:r>
              <a:rPr lang="sv-SE" dirty="0"/>
              <a:t> </a:t>
            </a:r>
            <a:r>
              <a:rPr lang="sv-SE" dirty="0" err="1" smtClean="0"/>
              <a:t>tsw</a:t>
            </a:r>
            <a:r>
              <a:rPr lang="sv-SE" dirty="0" smtClean="0"/>
              <a:t> </a:t>
            </a:r>
            <a:r>
              <a:rPr lang="sv-SE" dirty="0" err="1"/>
              <a:t>are</a:t>
            </a:r>
            <a:r>
              <a:rPr lang="sv-SE" dirty="0"/>
              <a:t> </a:t>
            </a:r>
            <a:r>
              <a:rPr lang="sv-SE" dirty="0" err="1"/>
              <a:t>constant</a:t>
            </a:r>
            <a:r>
              <a:rPr lang="sv-SE" dirty="0"/>
              <a:t>. </a:t>
            </a:r>
            <a:r>
              <a:rPr lang="en-US" dirty="0"/>
              <a:t>Therefore, the switching energy is </a:t>
            </a:r>
            <a:r>
              <a:rPr lang="en-US" dirty="0" smtClean="0"/>
              <a:t>proportional </a:t>
            </a:r>
            <a:r>
              <a:rPr lang="en-US" dirty="0"/>
              <a:t>to the rated </a:t>
            </a:r>
            <a:r>
              <a:rPr lang="en-US" dirty="0" smtClean="0"/>
              <a:t>voltage.</a:t>
            </a:r>
            <a:endParaRPr lang="sv-SE" dirty="0"/>
          </a:p>
        </p:txBody>
      </p:sp>
      <p:pic>
        <p:nvPicPr>
          <p:cNvPr id="24" name="Picture 23"/>
          <p:cNvPicPr>
            <a:picLocks noChangeAspect="1"/>
          </p:cNvPicPr>
          <p:nvPr/>
        </p:nvPicPr>
        <p:blipFill>
          <a:blip r:embed="rId7"/>
          <a:stretch>
            <a:fillRect/>
          </a:stretch>
        </p:blipFill>
        <p:spPr>
          <a:xfrm>
            <a:off x="4181474" y="5727187"/>
            <a:ext cx="2419350" cy="838200"/>
          </a:xfrm>
          <a:prstGeom prst="rect">
            <a:avLst/>
          </a:prstGeom>
        </p:spPr>
      </p:pic>
    </p:spTree>
    <p:extLst>
      <p:ext uri="{BB962C8B-B14F-4D97-AF65-F5344CB8AC3E}">
        <p14:creationId xmlns:p14="http://schemas.microsoft.com/office/powerpoint/2010/main" val="2420852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949" y="53151"/>
            <a:ext cx="10515600" cy="1325563"/>
          </a:xfrm>
        </p:spPr>
        <p:txBody>
          <a:bodyPr/>
          <a:lstStyle/>
          <a:p>
            <a:r>
              <a:rPr lang="en-US" dirty="0" smtClean="0">
                <a:solidFill>
                  <a:srgbClr val="C00000"/>
                </a:solidFill>
              </a:rPr>
              <a:t>Switching Losses</a:t>
            </a:r>
            <a:endParaRPr lang="sv-SE" dirty="0">
              <a:solidFill>
                <a:srgbClr val="C00000"/>
              </a:solidFill>
            </a:endParaRPr>
          </a:p>
        </p:txBody>
      </p:sp>
      <p:pic>
        <p:nvPicPr>
          <p:cNvPr id="3" name="Picture 2"/>
          <p:cNvPicPr>
            <a:picLocks noChangeAspect="1"/>
          </p:cNvPicPr>
          <p:nvPr/>
        </p:nvPicPr>
        <p:blipFill>
          <a:blip r:embed="rId2"/>
          <a:stretch>
            <a:fillRect/>
          </a:stretch>
        </p:blipFill>
        <p:spPr>
          <a:xfrm>
            <a:off x="1335714" y="2541429"/>
            <a:ext cx="9330070" cy="3569534"/>
          </a:xfrm>
          <a:prstGeom prst="rect">
            <a:avLst/>
          </a:prstGeom>
        </p:spPr>
      </p:pic>
      <p:pic>
        <p:nvPicPr>
          <p:cNvPr id="4" name="Picture 3"/>
          <p:cNvPicPr>
            <a:picLocks noChangeAspect="1"/>
          </p:cNvPicPr>
          <p:nvPr/>
        </p:nvPicPr>
        <p:blipFill>
          <a:blip r:embed="rId3"/>
          <a:stretch>
            <a:fillRect/>
          </a:stretch>
        </p:blipFill>
        <p:spPr>
          <a:xfrm>
            <a:off x="2815527" y="1295114"/>
            <a:ext cx="6237287" cy="1043145"/>
          </a:xfrm>
          <a:prstGeom prst="rect">
            <a:avLst/>
          </a:prstGeom>
        </p:spPr>
      </p:pic>
    </p:spTree>
    <p:extLst>
      <p:ext uri="{BB962C8B-B14F-4D97-AF65-F5344CB8AC3E}">
        <p14:creationId xmlns:p14="http://schemas.microsoft.com/office/powerpoint/2010/main" val="860098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281" y="144094"/>
            <a:ext cx="11037094" cy="1325563"/>
          </a:xfrm>
        </p:spPr>
        <p:txBody>
          <a:bodyPr/>
          <a:lstStyle/>
          <a:p>
            <a:r>
              <a:rPr lang="en-US" dirty="0">
                <a:solidFill>
                  <a:srgbClr val="C00000"/>
                </a:solidFill>
              </a:rPr>
              <a:t>Thermal </a:t>
            </a:r>
            <a:r>
              <a:rPr lang="en-US" dirty="0" smtClean="0">
                <a:solidFill>
                  <a:srgbClr val="C00000"/>
                </a:solidFill>
              </a:rPr>
              <a:t>Management</a:t>
            </a:r>
            <a:endParaRPr lang="sv-SE" dirty="0">
              <a:solidFill>
                <a:srgbClr val="C00000"/>
              </a:solidFill>
            </a:endParaRPr>
          </a:p>
        </p:txBody>
      </p:sp>
      <p:sp>
        <p:nvSpPr>
          <p:cNvPr id="3" name="Content Placeholder 2"/>
          <p:cNvSpPr>
            <a:spLocks noGrp="1"/>
          </p:cNvSpPr>
          <p:nvPr>
            <p:ph idx="1"/>
          </p:nvPr>
        </p:nvSpPr>
        <p:spPr>
          <a:xfrm>
            <a:off x="832021" y="1282786"/>
            <a:ext cx="10515600" cy="4819650"/>
          </a:xfrm>
        </p:spPr>
        <p:txBody>
          <a:bodyPr>
            <a:normAutofit/>
          </a:bodyPr>
          <a:lstStyle/>
          <a:p>
            <a:r>
              <a:rPr lang="en-US" sz="2000" dirty="0" smtClean="0"/>
              <a:t>The </a:t>
            </a:r>
            <a:r>
              <a:rPr lang="en-US" sz="2000" dirty="0"/>
              <a:t>size of the </a:t>
            </a:r>
            <a:r>
              <a:rPr lang="en-US" sz="2000" dirty="0" err="1"/>
              <a:t>SiC</a:t>
            </a:r>
            <a:r>
              <a:rPr lang="en-US" sz="2000" dirty="0"/>
              <a:t> device is smaller than the Si counterpart, and its power loss caused by high switching frequency makes it a </a:t>
            </a:r>
            <a:r>
              <a:rPr lang="en-US" sz="2000" b="1" dirty="0"/>
              <a:t>high-heat-flux</a:t>
            </a:r>
            <a:r>
              <a:rPr lang="en-US" sz="2000" dirty="0"/>
              <a:t> </a:t>
            </a:r>
            <a:r>
              <a:rPr lang="en-US" sz="2000" dirty="0" smtClean="0"/>
              <a:t>scenario</a:t>
            </a:r>
            <a:r>
              <a:rPr lang="en-US" sz="2000" dirty="0"/>
              <a:t>. </a:t>
            </a:r>
            <a:endParaRPr lang="en-US" sz="2000" dirty="0" smtClean="0"/>
          </a:p>
          <a:p>
            <a:r>
              <a:rPr lang="en-US" sz="2000" dirty="0" smtClean="0"/>
              <a:t>Overheating </a:t>
            </a:r>
            <a:r>
              <a:rPr lang="en-US" sz="2000" dirty="0"/>
              <a:t>is typically a main cause that can lead to device </a:t>
            </a:r>
            <a:r>
              <a:rPr lang="en-US" sz="2000" b="1" dirty="0"/>
              <a:t>failure</a:t>
            </a:r>
            <a:r>
              <a:rPr lang="en-US" sz="2000" dirty="0"/>
              <a:t>, system malfunction, or even the vehicle break down</a:t>
            </a:r>
            <a:r>
              <a:rPr lang="en-US" sz="2000" dirty="0" smtClean="0"/>
              <a:t>.</a:t>
            </a:r>
          </a:p>
          <a:p>
            <a:r>
              <a:rPr lang="en-US" sz="2000" dirty="0" smtClean="0"/>
              <a:t>Especially </a:t>
            </a:r>
            <a:r>
              <a:rPr lang="en-US" sz="2000" dirty="0"/>
              <a:t>when modern automotive industry continuously drives for higher system performance and smaller packing size, proper thermal management is critically required to achieve </a:t>
            </a:r>
            <a:r>
              <a:rPr lang="en-US" sz="2000" b="1" dirty="0"/>
              <a:t>better heat dissipation</a:t>
            </a:r>
            <a:r>
              <a:rPr lang="en-US" sz="2000" dirty="0"/>
              <a:t>, </a:t>
            </a:r>
            <a:r>
              <a:rPr lang="en-US" sz="2000" b="1" dirty="0"/>
              <a:t>avoid local heat concentration</a:t>
            </a:r>
            <a:r>
              <a:rPr lang="en-US" sz="2000" dirty="0"/>
              <a:t>, </a:t>
            </a:r>
            <a:r>
              <a:rPr lang="en-US" sz="2000" b="1" dirty="0"/>
              <a:t>improve reliability</a:t>
            </a:r>
            <a:r>
              <a:rPr lang="en-US" sz="2000" dirty="0"/>
              <a:t>, and </a:t>
            </a:r>
            <a:r>
              <a:rPr lang="en-US" sz="2000" b="1" dirty="0"/>
              <a:t>reduce packaging size</a:t>
            </a:r>
            <a:r>
              <a:rPr lang="en-US" sz="2000" dirty="0" smtClean="0"/>
              <a:t>.</a:t>
            </a:r>
          </a:p>
          <a:p>
            <a:pPr marL="0" indent="0">
              <a:buNone/>
            </a:pPr>
            <a:r>
              <a:rPr lang="en-US" sz="2000" dirty="0" smtClean="0"/>
              <a:t>Different cooling technologies for power electronics are based on</a:t>
            </a:r>
          </a:p>
          <a:p>
            <a:pPr marL="914400" lvl="1" indent="-457200">
              <a:buFont typeface="+mj-lt"/>
              <a:buAutoNum type="arabicPeriod"/>
            </a:pPr>
            <a:r>
              <a:rPr lang="en-US" sz="2000" dirty="0" smtClean="0"/>
              <a:t>The heat transfer mechanism </a:t>
            </a:r>
          </a:p>
          <a:p>
            <a:pPr marL="914400" lvl="1" indent="-457200">
              <a:buFont typeface="+mj-lt"/>
              <a:buAutoNum type="arabicPeriod"/>
            </a:pPr>
            <a:r>
              <a:rPr lang="en-US" sz="2000" dirty="0" smtClean="0"/>
              <a:t>Coolant agent</a:t>
            </a:r>
          </a:p>
          <a:p>
            <a:pPr marL="914400" lvl="1" indent="-457200">
              <a:buFont typeface="+mj-lt"/>
              <a:buAutoNum type="arabicPeriod"/>
            </a:pPr>
            <a:r>
              <a:rPr lang="en-US" sz="2000" dirty="0" smtClean="0"/>
              <a:t>Heat sink (Aluminum is the cheapest and simplest)</a:t>
            </a:r>
          </a:p>
          <a:p>
            <a:pPr marL="914400" lvl="1" indent="-457200">
              <a:buFont typeface="+mj-lt"/>
              <a:buAutoNum type="arabicPeriod"/>
            </a:pPr>
            <a:r>
              <a:rPr lang="en-US" sz="2000" dirty="0" smtClean="0"/>
              <a:t>Advanced thermal interface materials (TIM) such as silicone based greases, aluminum-filled polyesters, and epoxy adhesives with silver particles</a:t>
            </a:r>
          </a:p>
          <a:p>
            <a:pPr marL="0" indent="0">
              <a:buNone/>
            </a:pPr>
            <a:endParaRPr lang="en-US" sz="2000" dirty="0" smtClean="0"/>
          </a:p>
          <a:p>
            <a:endParaRPr lang="en-US" sz="2000" dirty="0"/>
          </a:p>
        </p:txBody>
      </p:sp>
    </p:spTree>
    <p:extLst>
      <p:ext uri="{BB962C8B-B14F-4D97-AF65-F5344CB8AC3E}">
        <p14:creationId xmlns:p14="http://schemas.microsoft.com/office/powerpoint/2010/main" val="2131025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7142" y="151785"/>
            <a:ext cx="10515600" cy="2921086"/>
          </a:xfrm>
        </p:spPr>
        <p:txBody>
          <a:bodyPr>
            <a:noAutofit/>
          </a:bodyPr>
          <a:lstStyle/>
          <a:p>
            <a:pPr marL="0" indent="0">
              <a:buNone/>
            </a:pPr>
            <a:r>
              <a:rPr lang="en-US" sz="2000" dirty="0" smtClean="0">
                <a:solidFill>
                  <a:srgbClr val="7030A0"/>
                </a:solidFill>
              </a:rPr>
              <a:t>Air cooling technologies</a:t>
            </a:r>
          </a:p>
          <a:p>
            <a:pPr lvl="1"/>
            <a:r>
              <a:rPr lang="en-US" sz="2000" dirty="0" smtClean="0"/>
              <a:t>The simplest one</a:t>
            </a:r>
          </a:p>
          <a:p>
            <a:pPr lvl="1"/>
            <a:r>
              <a:rPr lang="en-US" sz="2000" dirty="0"/>
              <a:t>I</a:t>
            </a:r>
            <a:r>
              <a:rPr lang="en-US" sz="2000" dirty="0" smtClean="0"/>
              <a:t>ncreasing </a:t>
            </a:r>
            <a:r>
              <a:rPr lang="en-US" sz="2000" dirty="0"/>
              <a:t>the surface area of heat transfer with added fins </a:t>
            </a:r>
            <a:endParaRPr lang="en-US" sz="2000" dirty="0" smtClean="0"/>
          </a:p>
          <a:p>
            <a:pPr marL="0" indent="0">
              <a:buNone/>
            </a:pPr>
            <a:r>
              <a:rPr lang="en-US" sz="2000" dirty="0" smtClean="0">
                <a:solidFill>
                  <a:srgbClr val="7030A0"/>
                </a:solidFill>
              </a:rPr>
              <a:t>Liquid cooling technologies</a:t>
            </a:r>
          </a:p>
          <a:p>
            <a:pPr lvl="1"/>
            <a:r>
              <a:rPr lang="en-US" sz="2000" dirty="0" smtClean="0"/>
              <a:t>Higher device power density, microchannel heat sink can achieve around 1000 W/cm2 heat flux (State-of-the-art)</a:t>
            </a:r>
          </a:p>
          <a:p>
            <a:pPr lvl="1"/>
            <a:r>
              <a:rPr lang="en-US" sz="2000" dirty="0" smtClean="0"/>
              <a:t>However, liquid cooling also brings in extra weight, complexity, and cost to the system.</a:t>
            </a:r>
          </a:p>
          <a:p>
            <a:endParaRPr lang="en-US" dirty="0" smtClean="0"/>
          </a:p>
        </p:txBody>
      </p:sp>
      <p:pic>
        <p:nvPicPr>
          <p:cNvPr id="4" name="Picture 3"/>
          <p:cNvPicPr>
            <a:picLocks noChangeAspect="1"/>
          </p:cNvPicPr>
          <p:nvPr/>
        </p:nvPicPr>
        <p:blipFill>
          <a:blip r:embed="rId2"/>
          <a:stretch>
            <a:fillRect/>
          </a:stretch>
        </p:blipFill>
        <p:spPr>
          <a:xfrm>
            <a:off x="452739" y="2625812"/>
            <a:ext cx="2748242" cy="1757508"/>
          </a:xfrm>
          <a:prstGeom prst="rect">
            <a:avLst/>
          </a:prstGeom>
        </p:spPr>
      </p:pic>
      <p:pic>
        <p:nvPicPr>
          <p:cNvPr id="5" name="Picture 4"/>
          <p:cNvPicPr>
            <a:picLocks noChangeAspect="1"/>
          </p:cNvPicPr>
          <p:nvPr/>
        </p:nvPicPr>
        <p:blipFill>
          <a:blip r:embed="rId3"/>
          <a:stretch>
            <a:fillRect/>
          </a:stretch>
        </p:blipFill>
        <p:spPr>
          <a:xfrm>
            <a:off x="9069609" y="2452358"/>
            <a:ext cx="2718737" cy="2092057"/>
          </a:xfrm>
          <a:prstGeom prst="rect">
            <a:avLst/>
          </a:prstGeom>
        </p:spPr>
      </p:pic>
      <p:pic>
        <p:nvPicPr>
          <p:cNvPr id="6" name="Picture 5"/>
          <p:cNvPicPr>
            <a:picLocks noChangeAspect="1"/>
          </p:cNvPicPr>
          <p:nvPr/>
        </p:nvPicPr>
        <p:blipFill rotWithShape="1">
          <a:blip r:embed="rId4"/>
          <a:srcRect t="8664"/>
          <a:stretch/>
        </p:blipFill>
        <p:spPr>
          <a:xfrm>
            <a:off x="1217142" y="4466968"/>
            <a:ext cx="9169156" cy="2165689"/>
          </a:xfrm>
          <a:prstGeom prst="rect">
            <a:avLst/>
          </a:prstGeom>
        </p:spPr>
      </p:pic>
    </p:spTree>
    <p:extLst>
      <p:ext uri="{BB962C8B-B14F-4D97-AF65-F5344CB8AC3E}">
        <p14:creationId xmlns:p14="http://schemas.microsoft.com/office/powerpoint/2010/main" val="3886204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633</TotalTime>
  <Words>3169</Words>
  <Application>Microsoft Office PowerPoint</Application>
  <PresentationFormat>Widescreen</PresentationFormat>
  <Paragraphs>289</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Selection of Voltage Ratings of Semiconductors</vt:lpstr>
      <vt:lpstr>Selection of Chip Area (Current Ratings)</vt:lpstr>
      <vt:lpstr>PowerPoint Presentation</vt:lpstr>
      <vt:lpstr>PowerPoint Presentation</vt:lpstr>
      <vt:lpstr>Considered Topologies</vt:lpstr>
      <vt:lpstr>Loss Calculation Assumptions</vt:lpstr>
      <vt:lpstr>2L-Inverter</vt:lpstr>
      <vt:lpstr>3L-TT</vt:lpstr>
      <vt:lpstr>3L-NPC</vt:lpstr>
      <vt:lpstr>3L-ANPC</vt:lpstr>
      <vt:lpstr>MMC</vt:lpstr>
      <vt:lpstr>Semiconductor Losses</vt:lpstr>
      <vt:lpstr>PowerPoint Presentation</vt:lpstr>
      <vt:lpstr>PowerPoint Presentation</vt:lpstr>
      <vt:lpstr>Conduction Losses</vt:lpstr>
      <vt:lpstr>Switching Losses</vt:lpstr>
      <vt:lpstr>Switching Losses</vt:lpstr>
      <vt:lpstr>Thermal Management</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22</cp:revision>
  <dcterms:created xsi:type="dcterms:W3CDTF">2023-08-08T11:24:46Z</dcterms:created>
  <dcterms:modified xsi:type="dcterms:W3CDTF">2023-09-17T22:19:45Z</dcterms:modified>
</cp:coreProperties>
</file>