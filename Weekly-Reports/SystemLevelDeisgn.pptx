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3" r:id="rId6"/>
    <p:sldId id="265" r:id="rId7"/>
    <p:sldId id="264" r:id="rId8"/>
    <p:sldId id="266" r:id="rId9"/>
    <p:sldId id="267" r:id="rId10"/>
    <p:sldId id="268" r:id="rId11"/>
    <p:sldId id="269" r:id="rId12"/>
    <p:sldId id="270" r:id="rId13"/>
    <p:sldId id="271" r:id="rId14"/>
    <p:sldId id="258" r:id="rId15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15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1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52B89-932C-4107-8421-46654889DDF6}" type="datetimeFigureOut">
              <a:rPr lang="sv-SE" smtClean="0"/>
              <a:t>2023-12-06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A261-B686-4CD3-BFBF-26EDD142502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99170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52B89-932C-4107-8421-46654889DDF6}" type="datetimeFigureOut">
              <a:rPr lang="sv-SE" smtClean="0"/>
              <a:t>2023-12-06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A261-B686-4CD3-BFBF-26EDD142502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73317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52B89-932C-4107-8421-46654889DDF6}" type="datetimeFigureOut">
              <a:rPr lang="sv-SE" smtClean="0"/>
              <a:t>2023-12-06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A261-B686-4CD3-BFBF-26EDD142502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17150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52B89-932C-4107-8421-46654889DDF6}" type="datetimeFigureOut">
              <a:rPr lang="sv-SE" smtClean="0"/>
              <a:t>2023-12-06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A261-B686-4CD3-BFBF-26EDD142502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68270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52B89-932C-4107-8421-46654889DDF6}" type="datetimeFigureOut">
              <a:rPr lang="sv-SE" smtClean="0"/>
              <a:t>2023-12-06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A261-B686-4CD3-BFBF-26EDD142502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46257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52B89-932C-4107-8421-46654889DDF6}" type="datetimeFigureOut">
              <a:rPr lang="sv-SE" smtClean="0"/>
              <a:t>2023-12-06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A261-B686-4CD3-BFBF-26EDD142502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34559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52B89-932C-4107-8421-46654889DDF6}" type="datetimeFigureOut">
              <a:rPr lang="sv-SE" smtClean="0"/>
              <a:t>2023-12-06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A261-B686-4CD3-BFBF-26EDD142502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54528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52B89-932C-4107-8421-46654889DDF6}" type="datetimeFigureOut">
              <a:rPr lang="sv-SE" smtClean="0"/>
              <a:t>2023-12-06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A261-B686-4CD3-BFBF-26EDD142502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13274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52B89-932C-4107-8421-46654889DDF6}" type="datetimeFigureOut">
              <a:rPr lang="sv-SE" smtClean="0"/>
              <a:t>2023-12-06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A261-B686-4CD3-BFBF-26EDD142502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21201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52B89-932C-4107-8421-46654889DDF6}" type="datetimeFigureOut">
              <a:rPr lang="sv-SE" smtClean="0"/>
              <a:t>2023-12-06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A261-B686-4CD3-BFBF-26EDD142502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92924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52B89-932C-4107-8421-46654889DDF6}" type="datetimeFigureOut">
              <a:rPr lang="sv-SE" smtClean="0"/>
              <a:t>2023-12-06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A261-B686-4CD3-BFBF-26EDD142502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03579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D52B89-932C-4107-8421-46654889DDF6}" type="datetimeFigureOut">
              <a:rPr lang="sv-SE" smtClean="0"/>
              <a:t>2023-12-06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5AA261-B686-4CD3-BFBF-26EDD142502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1834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88895" y="81003"/>
            <a:ext cx="4934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Torque-Speed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b="1" i="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haracteristics in Electric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b="1" i="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rucks</a:t>
            </a:r>
            <a:endParaRPr lang="sv-SE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61552" y="450335"/>
            <a:ext cx="8054546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0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Motoring Mode: </a:t>
            </a:r>
          </a:p>
          <a:p>
            <a:endParaRPr lang="en-US" b="1" i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Starting/Initial Acceleration (High Torque, Lower Speed):</a:t>
            </a:r>
            <a:r>
              <a:rPr lang="en-US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nitiate motion from a standstill.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ffective acceleration and overcoming inertia.</a:t>
            </a:r>
          </a:p>
          <a:p>
            <a:pPr lvl="1"/>
            <a:endParaRPr lang="en-US" b="0" i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Normal Operation (Moderate Torque, Variable Speed):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delivers enough torque to maintain speed and handle typical loads efficiently.</a:t>
            </a:r>
          </a:p>
          <a:p>
            <a:pPr lvl="1">
              <a:buFont typeface="+mj-lt"/>
              <a:buAutoNum type="arabicPeriod"/>
            </a:pPr>
            <a:endParaRPr lang="en-US" b="0" i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b="1" i="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Hill Climbing/Heavy Load Conditions (High Torque, Low Speed):</a:t>
            </a:r>
            <a:r>
              <a:rPr lang="en-US" b="0" i="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Requires higher torque to counteract gravity or the added weight.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Speed might decrease as torque increases to maintain power.</a:t>
            </a:r>
          </a:p>
          <a:p>
            <a:pPr lvl="1">
              <a:buFont typeface="+mj-lt"/>
              <a:buAutoNum type="arabicPeriod"/>
            </a:pPr>
            <a:endParaRPr lang="en-US" b="0" i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b="1" i="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Cruising/Constant Speed (Balanced Torque and Speed):</a:t>
            </a:r>
            <a:r>
              <a:rPr lang="en-US" b="0" i="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During steady-state driving on flat roads or at a constant speed,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ptimizing energy efficiency.</a:t>
            </a:r>
          </a:p>
          <a:p>
            <a:pPr lvl="1"/>
            <a:endParaRPr lang="en-US" b="0" i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 Speed Capability (Lower Torque, High Speed):</a:t>
            </a:r>
            <a:endParaRPr lang="en-US" b="0" i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Reduced torque to achieve and sustain higher velocities.</a:t>
            </a:r>
            <a:endParaRPr lang="en-US" b="0" i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sv-SE" b="1" dirty="0">
              <a:solidFill>
                <a:srgbClr val="002060"/>
              </a:solidFill>
            </a:endParaRPr>
          </a:p>
          <a:p>
            <a:r>
              <a:rPr lang="sv-SE" b="1" dirty="0" smtClean="0">
                <a:solidFill>
                  <a:srgbClr val="002060"/>
                </a:solidFill>
              </a:rPr>
              <a:t>Regenerative </a:t>
            </a:r>
            <a:r>
              <a:rPr lang="sv-SE" b="1" dirty="0" err="1" smtClean="0">
                <a:solidFill>
                  <a:srgbClr val="002060"/>
                </a:solidFill>
              </a:rPr>
              <a:t>Braking</a:t>
            </a:r>
            <a:r>
              <a:rPr lang="sv-SE" b="1" dirty="0" smtClean="0">
                <a:solidFill>
                  <a:srgbClr val="002060"/>
                </a:solidFill>
              </a:rPr>
              <a:t>/</a:t>
            </a:r>
            <a:r>
              <a:rPr lang="sv-SE" b="1" dirty="0" err="1" smtClean="0">
                <a:solidFill>
                  <a:srgbClr val="002060"/>
                </a:solidFill>
              </a:rPr>
              <a:t>Deaceleration</a:t>
            </a:r>
            <a:r>
              <a:rPr lang="sv-SE" b="1" dirty="0" smtClean="0">
                <a:solidFill>
                  <a:srgbClr val="002060"/>
                </a:solidFill>
              </a:rPr>
              <a:t>?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062" y="3419420"/>
            <a:ext cx="4391206" cy="31409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501097" y="6450549"/>
            <a:ext cx="558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*[2]</a:t>
            </a:r>
            <a:endParaRPr lang="sv-SE" dirty="0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5" y="604996"/>
            <a:ext cx="3810729" cy="260261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501097" y="3054979"/>
            <a:ext cx="558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*[1]</a:t>
            </a:r>
            <a:endParaRPr lang="sv-S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6105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30490" y="85350"/>
            <a:ext cx="42569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Torque Calculatio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via Vehicle Dynamics</a:t>
            </a:r>
            <a:endParaRPr lang="sv-SE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6181465"/>
                  </p:ext>
                </p:extLst>
              </p:nvPr>
            </p:nvGraphicFramePr>
            <p:xfrm>
              <a:off x="1964040" y="639348"/>
              <a:ext cx="8128000" cy="5694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8162">
                      <a:extLst>
                        <a:ext uri="{9D8B030D-6E8A-4147-A177-3AD203B41FA5}">
                          <a16:colId xmlns:a16="http://schemas.microsoft.com/office/drawing/2014/main" val="4288452530"/>
                        </a:ext>
                      </a:extLst>
                    </a:gridCol>
                    <a:gridCol w="3919838">
                      <a:extLst>
                        <a:ext uri="{9D8B030D-6E8A-4147-A177-3AD203B41FA5}">
                          <a16:colId xmlns:a16="http://schemas.microsoft.com/office/drawing/2014/main" val="1103111073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Vehicle Dynamics</a:t>
                          </a:r>
                          <a:r>
                            <a:rPr lang="en-US" sz="1400" b="1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Coefficients and Parameters</a:t>
                          </a:r>
                          <a:endParaRPr lang="sv-SE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sv-SE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481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Radius</a:t>
                          </a:r>
                          <a:r>
                            <a:rPr lang="en-US" sz="1400" b="0" baseline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of wheels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0" i="1" baseline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baseline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400" b="0" i="1" baseline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b="0" baseline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in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baseline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oMath>
                          </a14:m>
                          <a:r>
                            <a:rPr lang="en-US" sz="1400" b="0" baseline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rgbClr val="7030A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0.25 –</a:t>
                          </a:r>
                          <a:r>
                            <a:rPr lang="en-US" sz="1400" b="0" baseline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0.40 (0.3?)</a:t>
                          </a:r>
                          <a:endParaRPr lang="sv-SE" sz="1400" b="0" dirty="0">
                            <a:solidFill>
                              <a:srgbClr val="7030A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804956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Vehicle</a:t>
                          </a:r>
                          <a:r>
                            <a:rPr lang="en-US" sz="1400" b="0" baseline="0" dirty="0" smtClean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front area 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baseline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sz="1400" b="0" baseline="0" dirty="0" smtClean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in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b="0" i="1" baseline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baseline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sz="1400" b="0" i="1" baseline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400" b="0" baseline="0" dirty="0" smtClean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rgbClr val="0070C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This value might range from 8 to 12 square meters, based on the vehicle's size and design.</a:t>
                          </a:r>
                          <a:endParaRPr lang="sv-SE" sz="1400" b="0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300007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Aerodynamic drag coefficient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0" i="1" baseline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baseline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400" b="0" i="1" baseline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b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rgbClr val="7030A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rgbClr val="7030A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Depending on the truck's design,</a:t>
                          </a:r>
                          <a:r>
                            <a:rPr lang="en-US" sz="1400" b="0" i="0" kern="1200" baseline="0" dirty="0" smtClean="0">
                              <a:solidFill>
                                <a:srgbClr val="7030A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400" b="0" i="0" kern="1200" dirty="0" smtClean="0">
                              <a:solidFill>
                                <a:srgbClr val="7030A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this could vary between 0.5 and 0.7.</a:t>
                          </a:r>
                          <a:endParaRPr lang="sv-SE" sz="1400" b="0" dirty="0">
                            <a:solidFill>
                              <a:srgbClr val="7030A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47790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Rolling resistance coefficient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0" i="1" baseline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baseline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400" b="0" i="1" baseline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𝑟𝑟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b="0" dirty="0" smtClean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Depends</a:t>
                          </a:r>
                          <a:r>
                            <a:rPr lang="en-US" sz="1400" b="0" baseline="0" dirty="0" smtClean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on tire type and road conditions, but </a:t>
                          </a:r>
                          <a:r>
                            <a:rPr lang="en-US" sz="1400" b="0" i="0" kern="1200" dirty="0" smtClean="0">
                              <a:solidFill>
                                <a:srgbClr val="0070C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this coefficient might range between 0.01 and 0.015.</a:t>
                          </a:r>
                          <a:r>
                            <a:rPr lang="en-US" sz="1400" b="0" baseline="0" dirty="0" smtClean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sv-SE" sz="1400" b="0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059162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Vehicle</a:t>
                          </a:r>
                          <a:r>
                            <a:rPr lang="en-US" sz="1400" b="0" baseline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mass </a:t>
                          </a:r>
                          <a:r>
                            <a:rPr lang="en-US" sz="1400" b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baseline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𝑀</m:t>
                              </m:r>
                            </m:oMath>
                          </a14:m>
                          <a:r>
                            <a:rPr lang="en-US" sz="1400" b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in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baseline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𝑘𝑔</m:t>
                              </m:r>
                            </m:oMath>
                          </a14:m>
                          <a:r>
                            <a:rPr lang="en-US" sz="1400" b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rgbClr val="7030A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rgbClr val="7030A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Encompasses the weight of the vehicle, payload, and occupants. </a:t>
                          </a:r>
                        </a:p>
                        <a:p>
                          <a:r>
                            <a:rPr lang="en-US" sz="1400" b="0" i="0" kern="1200" dirty="0" smtClean="0">
                              <a:solidFill>
                                <a:srgbClr val="7030A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Tens of thousands of kilograms.</a:t>
                          </a:r>
                          <a:endParaRPr lang="sv-SE" sz="1400" b="0" dirty="0">
                            <a:solidFill>
                              <a:srgbClr val="7030A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28269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i="0" kern="1200" noProof="0" dirty="0" smtClean="0">
                              <a:solidFill>
                                <a:srgbClr val="0070C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Coefficient</a:t>
                          </a:r>
                          <a:r>
                            <a:rPr lang="en-US" sz="1400" b="0" i="0" kern="1200" baseline="0" noProof="0" dirty="0" smtClean="0">
                              <a:solidFill>
                                <a:srgbClr val="0070C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of inertia 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kern="1200" baseline="0" noProof="0" smtClean="0">
                                  <a:solidFill>
                                    <a:srgbClr val="0070C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oMath>
                          </a14:m>
                          <a:r>
                            <a:rPr lang="en-US" sz="1400" b="0" noProof="0" dirty="0" smtClean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en-US" sz="1400" b="0" noProof="0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rgbClr val="0070C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Includes the inertia of the wheels, drivetrain, and other rotating parts. </a:t>
                          </a:r>
                          <a:endParaRPr lang="sv-SE" sz="1400" b="0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795092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i="0" kern="1200" noProof="0" dirty="0" smtClean="0">
                              <a:solidFill>
                                <a:srgbClr val="7030A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Coefficient</a:t>
                          </a:r>
                          <a:r>
                            <a:rPr lang="en-US" sz="1400" b="0" i="0" kern="1200" baseline="0" noProof="0" dirty="0" smtClean="0">
                              <a:solidFill>
                                <a:srgbClr val="7030A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of friction 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kern="1200" baseline="0" noProof="0" smtClean="0">
                                  <a:solidFill>
                                    <a:srgbClr val="7030A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𝜇</m:t>
                              </m:r>
                            </m:oMath>
                          </a14:m>
                          <a:r>
                            <a:rPr lang="en-US" sz="1400" b="0" noProof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en-US" sz="1400" b="0" noProof="0" dirty="0">
                            <a:solidFill>
                              <a:srgbClr val="7030A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rgbClr val="7030A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Represents the friction between the tires and the road surface. This might be around 0.7 to 1.0</a:t>
                          </a:r>
                          <a:endParaRPr lang="sv-SE" sz="1400" b="0" dirty="0">
                            <a:solidFill>
                              <a:srgbClr val="7030A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204894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i="0" kern="1200" noProof="0" dirty="0" smtClean="0">
                              <a:solidFill>
                                <a:srgbClr val="0070C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Coefficient</a:t>
                          </a:r>
                          <a:r>
                            <a:rPr lang="en-US" sz="1400" b="0" i="0" kern="1200" baseline="0" noProof="0" dirty="0" smtClean="0">
                              <a:solidFill>
                                <a:srgbClr val="0070C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of suspension stiffness  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kern="1200" baseline="0" noProof="0" smtClean="0">
                                  <a:solidFill>
                                    <a:srgbClr val="0070C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𝜇</m:t>
                              </m:r>
                            </m:oMath>
                          </a14:m>
                          <a:r>
                            <a:rPr lang="en-US" sz="1400" b="0" noProof="0" dirty="0" smtClean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en-US" sz="1400" b="0" noProof="0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rgbClr val="0070C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This coefficient varies based on the suspension design </a:t>
                          </a:r>
                          <a:endParaRPr lang="sv-SE" sz="1400" b="0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439796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Maximum vehicle speed 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sz="1400" b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in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baseline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𝑘𝑚</m:t>
                              </m:r>
                              <m:r>
                                <a:rPr lang="en-US" sz="1400" b="0" i="1" baseline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. </m:t>
                              </m:r>
                              <m:sSup>
                                <m:sSupPr>
                                  <m:ctrlPr>
                                    <a:rPr lang="en-US" sz="1400" b="0" i="1" baseline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baseline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US" sz="1400" b="0" i="1" baseline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400" b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)</a:t>
                          </a:r>
                          <a:endParaRPr lang="sv-SE" sz="1400" b="0" dirty="0">
                            <a:solidFill>
                              <a:srgbClr val="7030A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120 ?</a:t>
                          </a:r>
                          <a:endParaRPr lang="sv-SE" sz="1400" b="0" dirty="0">
                            <a:solidFill>
                              <a:srgbClr val="7030A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674583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Maximum NEDC acceleration (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1400" b="0" i="1" kern="1200" smtClean="0">
                                      <a:solidFill>
                                        <a:srgbClr val="0070C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0" i="1" kern="1200" smtClean="0">
                                      <a:solidFill>
                                        <a:srgbClr val="0070C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1400" b="0" dirty="0" smtClean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in m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baseline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. </m:t>
                              </m:r>
                              <m:sSup>
                                <m:sSupPr>
                                  <m:ctrlPr>
                                    <a:rPr lang="en-US" sz="1400" b="0" i="1" baseline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baseline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1400" b="0" i="1" baseline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</m:oMath>
                          </a14:m>
                          <a:r>
                            <a:rPr lang="sv-SE" sz="1400" b="0" dirty="0" smtClean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sv-SE" sz="1400" b="0" dirty="0" smtClean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1.043 ?</a:t>
                          </a:r>
                          <a:endParaRPr lang="sv-SE" sz="1400" b="0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82531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Differential</a:t>
                          </a:r>
                          <a:r>
                            <a:rPr lang="en-US" sz="1400" b="0" baseline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gear ratio 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baseline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oMath>
                          </a14:m>
                          <a:r>
                            <a:rPr lang="en-US" sz="1400" b="0" baseline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rgbClr val="7030A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Typically</a:t>
                          </a:r>
                          <a:r>
                            <a:rPr lang="en-US" sz="1400" b="0" baseline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&gt;</a:t>
                          </a:r>
                          <a:r>
                            <a:rPr lang="en-US" sz="1400" b="0" i="0" kern="1200" baseline="0" dirty="0" smtClean="0">
                              <a:solidFill>
                                <a:srgbClr val="7030A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4:1</a:t>
                          </a:r>
                          <a:endParaRPr lang="sv-SE" sz="1400" b="0" dirty="0">
                            <a:solidFill>
                              <a:srgbClr val="7030A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311461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6181465"/>
                  </p:ext>
                </p:extLst>
              </p:nvPr>
            </p:nvGraphicFramePr>
            <p:xfrm>
              <a:off x="1964040" y="639348"/>
              <a:ext cx="8128000" cy="5694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8162">
                      <a:extLst>
                        <a:ext uri="{9D8B030D-6E8A-4147-A177-3AD203B41FA5}">
                          <a16:colId xmlns:a16="http://schemas.microsoft.com/office/drawing/2014/main" val="4288452530"/>
                        </a:ext>
                      </a:extLst>
                    </a:gridCol>
                    <a:gridCol w="3919838">
                      <a:extLst>
                        <a:ext uri="{9D8B030D-6E8A-4147-A177-3AD203B41FA5}">
                          <a16:colId xmlns:a16="http://schemas.microsoft.com/office/drawing/2014/main" val="1103111073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Vehicle Dynamics</a:t>
                          </a:r>
                          <a:r>
                            <a:rPr lang="en-US" sz="1400" b="1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Coefficients and Parameters</a:t>
                          </a:r>
                          <a:endParaRPr lang="sv-SE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sv-SE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481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101639" r="-93343" b="-13377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0.25 –</a:t>
                          </a:r>
                          <a:r>
                            <a:rPr lang="en-US" sz="1400" b="0" baseline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0.40 (0.3?)</a:t>
                          </a:r>
                          <a:endParaRPr lang="sv-SE" sz="1400" b="0" dirty="0">
                            <a:solidFill>
                              <a:srgbClr val="7030A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8049569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144706" r="-93343" b="-86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rgbClr val="0070C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This value might range from 8 to 12 square meters, based on the vehicle's size and design.</a:t>
                          </a:r>
                          <a:endParaRPr lang="sv-SE" sz="1400" b="0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3000071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244706" r="-93343" b="-76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rgbClr val="7030A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Depending on the truck's design,</a:t>
                          </a:r>
                          <a:r>
                            <a:rPr lang="en-US" sz="1400" b="0" i="0" kern="1200" baseline="0" dirty="0" smtClean="0">
                              <a:solidFill>
                                <a:srgbClr val="7030A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400" b="0" i="0" kern="1200" dirty="0" smtClean="0">
                              <a:solidFill>
                                <a:srgbClr val="7030A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this could vary between 0.5 and 0.7.</a:t>
                          </a:r>
                          <a:endParaRPr lang="sv-SE" sz="1400" b="0" dirty="0">
                            <a:solidFill>
                              <a:srgbClr val="7030A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4779072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344706" r="-93343" b="-66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Depends</a:t>
                          </a:r>
                          <a:r>
                            <a:rPr lang="en-US" sz="1400" b="0" baseline="0" dirty="0" smtClean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on tire type and road conditions, but </a:t>
                          </a:r>
                          <a:r>
                            <a:rPr lang="en-US" sz="1400" b="0" i="0" kern="1200" dirty="0" smtClean="0">
                              <a:solidFill>
                                <a:srgbClr val="0070C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this coefficient might range between 0.01 and 0.015.</a:t>
                          </a:r>
                          <a:r>
                            <a:rPr lang="en-US" sz="1400" b="0" baseline="0" dirty="0" smtClean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sv-SE" sz="1400" b="0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05916226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312397" r="-93343" b="-36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rgbClr val="7030A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Encompasses the weight of the vehicle, payload, and occupants. </a:t>
                          </a:r>
                        </a:p>
                        <a:p>
                          <a:r>
                            <a:rPr lang="en-US" sz="1400" b="0" i="0" kern="1200" dirty="0" smtClean="0">
                              <a:solidFill>
                                <a:srgbClr val="7030A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Tens of thousands of kilograms.</a:t>
                          </a:r>
                          <a:endParaRPr lang="sv-SE" sz="1400" b="0" dirty="0">
                            <a:solidFill>
                              <a:srgbClr val="7030A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2826935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587059" r="-93343" b="-4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rgbClr val="0070C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Includes the inertia of the wheels, drivetrain, and other rotating parts. </a:t>
                          </a:r>
                          <a:endParaRPr lang="sv-SE" sz="1400" b="0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79509207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687059" r="-93343" b="-3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rgbClr val="7030A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Represents the friction between the tires and the road surface. This might be around 0.7 to 1.0</a:t>
                          </a:r>
                          <a:endParaRPr lang="sv-SE" sz="1400" b="0" dirty="0">
                            <a:solidFill>
                              <a:srgbClr val="7030A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2048943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787059" r="-93343" b="-2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rgbClr val="0070C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This coefficient varies based on the suspension design </a:t>
                          </a:r>
                          <a:endParaRPr lang="sv-SE" sz="1400" b="0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439796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1236066" r="-93343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120 ?</a:t>
                          </a:r>
                          <a:endParaRPr lang="sv-SE" sz="1400" b="0" dirty="0">
                            <a:solidFill>
                              <a:srgbClr val="7030A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674583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1336066" r="-93343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sv-SE" sz="1400" b="0" dirty="0" smtClean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1.043 ?</a:t>
                          </a:r>
                          <a:endParaRPr lang="sv-SE" sz="1400" b="0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82531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1436066" r="-93343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Typically</a:t>
                          </a:r>
                          <a:r>
                            <a:rPr lang="en-US" sz="1400" b="0" baseline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&gt;</a:t>
                          </a:r>
                          <a:r>
                            <a:rPr lang="en-US" sz="1400" b="0" i="0" kern="1200" baseline="0" dirty="0" smtClean="0">
                              <a:solidFill>
                                <a:srgbClr val="7030A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4:1</a:t>
                          </a:r>
                          <a:endParaRPr lang="sv-SE" sz="1400" b="0" dirty="0">
                            <a:solidFill>
                              <a:srgbClr val="7030A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3114612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Rectangle 6"/>
          <p:cNvSpPr/>
          <p:nvPr/>
        </p:nvSpPr>
        <p:spPr>
          <a:xfrm>
            <a:off x="5900792" y="6334028"/>
            <a:ext cx="558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*[2]</a:t>
            </a:r>
            <a:endParaRPr lang="sv-S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7246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69324" y="387348"/>
            <a:ext cx="99636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b="0" i="0" dirty="0" smtClean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 </a:t>
            </a:r>
            <a:r>
              <a:rPr lang="sv-SE" b="0" i="0" dirty="0" err="1" smtClean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Tractive</a:t>
            </a:r>
            <a:r>
              <a:rPr lang="sv-SE" b="0" i="0" dirty="0" smtClean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Force= Rolling </a:t>
            </a:r>
            <a:r>
              <a:rPr lang="sv-SE" b="0" i="0" dirty="0" err="1" smtClean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Resistance</a:t>
            </a:r>
            <a:r>
              <a:rPr lang="sv-SE" b="0" i="0" dirty="0" smtClean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sv-SE" b="0" i="0" dirty="0" err="1" smtClean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Aerodynamic</a:t>
            </a:r>
            <a:r>
              <a:rPr lang="sv-SE" b="0" i="0" dirty="0" smtClean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Drag + Gradient Force + Acceleration Force</a:t>
            </a:r>
            <a:endParaRPr lang="sv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154959" y="1093573"/>
                <a:ext cx="29122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𝑇𝑇𝐹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𝑅𝑅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𝐴𝐷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4959" y="1093573"/>
                <a:ext cx="2912271" cy="276999"/>
              </a:xfrm>
              <a:prstGeom prst="rect">
                <a:avLst/>
              </a:prstGeom>
              <a:blipFill>
                <a:blip r:embed="rId2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529105" y="1730632"/>
                <a:ext cx="253530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𝑅𝑅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05" y="1730632"/>
                <a:ext cx="2535309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29105" y="2229022"/>
                <a:ext cx="2432012" cy="6109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𝐴𝐷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05" y="2229022"/>
                <a:ext cx="2432012" cy="6109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9024789" y="2294219"/>
                <a:ext cx="178087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sv-SE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sv-SE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density</a:t>
                </a:r>
                <a:r>
                  <a:rPr lang="sv-SE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v-SE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</a:t>
                </a:r>
                <a:r>
                  <a:rPr lang="sv-SE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air</a:t>
                </a:r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4789" y="2294219"/>
                <a:ext cx="1780872" cy="369332"/>
              </a:xfrm>
              <a:prstGeom prst="rect">
                <a:avLst/>
              </a:prstGeom>
              <a:blipFill>
                <a:blip r:embed="rId5"/>
                <a:stretch>
                  <a:fillRect t="-8197" r="-2389" b="-2459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29105" y="3054866"/>
                <a:ext cx="207781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05" y="3054866"/>
                <a:ext cx="2077812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8269059" y="2923058"/>
                <a:ext cx="347755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sv-SE" b="0" i="0" dirty="0" smtClean="0">
                    <a:solidFill>
                      <a:srgbClr val="0F0F0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sv-SE" b="0" i="0" dirty="0" err="1" smtClean="0">
                    <a:solidFill>
                      <a:srgbClr val="0F0F0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uphill</a:t>
                </a:r>
                <a:r>
                  <a:rPr lang="sv-SE" b="0" i="0" dirty="0" smtClean="0">
                    <a:solidFill>
                      <a:srgbClr val="0F0F0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or </a:t>
                </a:r>
                <a:r>
                  <a:rPr lang="sv-SE" b="0" i="0" dirty="0" err="1" smtClean="0">
                    <a:solidFill>
                      <a:srgbClr val="0F0F0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downhill</a:t>
                </a:r>
                <a:r>
                  <a:rPr lang="sv-SE" b="0" i="0" dirty="0" smtClean="0">
                    <a:solidFill>
                      <a:srgbClr val="0F0F0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v-SE" b="0" i="0" dirty="0" err="1" smtClean="0">
                    <a:solidFill>
                      <a:srgbClr val="0F0F0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slopes</a:t>
                </a:r>
                <a:r>
                  <a:rPr lang="sv-SE" b="0" i="0" dirty="0" smtClean="0">
                    <a:solidFill>
                      <a:srgbClr val="0F0F0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v-S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angle</a:t>
                </a:r>
                <a:r>
                  <a:rPr lang="sv-SE" b="0" i="0" dirty="0" smtClean="0">
                    <a:solidFill>
                      <a:srgbClr val="0F0F0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9059" y="2923058"/>
                <a:ext cx="3477555" cy="369332"/>
              </a:xfrm>
              <a:prstGeom prst="rect">
                <a:avLst/>
              </a:prstGeom>
              <a:blipFill>
                <a:blip r:embed="rId7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529105" y="3807044"/>
                <a:ext cx="124123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acc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05" y="3807044"/>
                <a:ext cx="1241237" cy="369332"/>
              </a:xfrm>
              <a:prstGeom prst="rect">
                <a:avLst/>
              </a:prstGeom>
              <a:blipFill>
                <a:blip r:embed="rId8"/>
                <a:stretch>
                  <a:fillRect r="-16749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4785708" y="5616832"/>
                <a:ext cx="1650772" cy="5666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𝐸𝑀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𝑇𝑇𝐹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den>
                      </m:f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708" y="5616832"/>
                <a:ext cx="1650772" cy="56669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32862" y="1860974"/>
            <a:ext cx="4492196" cy="275711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194767" y="4618089"/>
            <a:ext cx="558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*[3]</a:t>
            </a:r>
            <a:endParaRPr lang="sv-S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5963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351490" y="161324"/>
            <a:ext cx="22259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Motor Specifications</a:t>
            </a:r>
            <a:endParaRPr lang="sv-SE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9843242"/>
                  </p:ext>
                </p:extLst>
              </p:nvPr>
            </p:nvGraphicFramePr>
            <p:xfrm>
              <a:off x="1947562" y="586261"/>
              <a:ext cx="8128000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8162">
                      <a:extLst>
                        <a:ext uri="{9D8B030D-6E8A-4147-A177-3AD203B41FA5}">
                          <a16:colId xmlns:a16="http://schemas.microsoft.com/office/drawing/2014/main" val="4288452530"/>
                        </a:ext>
                      </a:extLst>
                    </a:gridCol>
                    <a:gridCol w="3919838">
                      <a:extLst>
                        <a:ext uri="{9D8B030D-6E8A-4147-A177-3AD203B41FA5}">
                          <a16:colId xmlns:a16="http://schemas.microsoft.com/office/drawing/2014/main" val="1103111073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Motor Specifications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sv-SE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481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Active length (in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𝑚𝑚</m:t>
                              </m:r>
                            </m:oMath>
                          </a14:m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275</a:t>
                          </a:r>
                          <a:endParaRPr lang="sv-SE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804956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Outer diameter (in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𝑚𝑚</m:t>
                              </m:r>
                            </m:oMath>
                          </a14:m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350</a:t>
                          </a:r>
                          <a:endParaRPr lang="sv-SE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300007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Base/maximum </a:t>
                          </a:r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speed  </a:t>
                          </a:r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(in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𝑅𝑃𝑀</m:t>
                              </m:r>
                            </m:oMath>
                          </a14:m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2000-3000/7000</a:t>
                          </a:r>
                          <a:endParaRPr lang="sv-SE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47790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Continuous/peak (10s) </a:t>
                          </a:r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power </a:t>
                          </a:r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(in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k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oMath>
                          </a14:m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600/720</a:t>
                          </a:r>
                          <a:endParaRPr lang="sv-SE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059162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Continuous/peak (10s) </a:t>
                          </a:r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torque </a:t>
                          </a:r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(in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oMath>
                          </a14:m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2500 / </a:t>
                          </a:r>
                          <a:r>
                            <a:rPr lang="sv-SE" sz="1400" b="0" i="0" kern="1200" baseline="0" dirty="0" smtClean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300</a:t>
                          </a:r>
                          <a:r>
                            <a:rPr lang="sv-SE" sz="1400" b="0" i="0" kern="1200" dirty="0" smtClean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sv-SE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282693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9843242"/>
                  </p:ext>
                </p:extLst>
              </p:nvPr>
            </p:nvGraphicFramePr>
            <p:xfrm>
              <a:off x="1947562" y="586261"/>
              <a:ext cx="8128000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8162">
                      <a:extLst>
                        <a:ext uri="{9D8B030D-6E8A-4147-A177-3AD203B41FA5}">
                          <a16:colId xmlns:a16="http://schemas.microsoft.com/office/drawing/2014/main" val="4288452530"/>
                        </a:ext>
                      </a:extLst>
                    </a:gridCol>
                    <a:gridCol w="3919838">
                      <a:extLst>
                        <a:ext uri="{9D8B030D-6E8A-4147-A177-3AD203B41FA5}">
                          <a16:colId xmlns:a16="http://schemas.microsoft.com/office/drawing/2014/main" val="1103111073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Motor Specifications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sv-SE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481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103279" r="-93343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275</a:t>
                          </a:r>
                          <a:endParaRPr lang="sv-SE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804956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203279" r="-93343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350</a:t>
                          </a:r>
                          <a:endParaRPr lang="sv-SE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300007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303279" r="-93343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2000-3000/7000</a:t>
                          </a:r>
                          <a:endParaRPr lang="sv-SE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47790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403279" r="-93343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600/720</a:t>
                          </a:r>
                          <a:endParaRPr lang="sv-SE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059162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503279" r="-93343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2500 / </a:t>
                          </a:r>
                          <a:r>
                            <a:rPr lang="sv-SE" sz="1400" b="0" i="0" kern="1200" baseline="0" dirty="0" smtClean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300</a:t>
                          </a:r>
                          <a:r>
                            <a:rPr lang="sv-SE" sz="1400" b="0" i="0" kern="1200" dirty="0" smtClean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sv-SE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28269359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3" name="Straight Arrow Connector 2"/>
          <p:cNvCxnSpPr/>
          <p:nvPr/>
        </p:nvCxnSpPr>
        <p:spPr>
          <a:xfrm flipH="1">
            <a:off x="5928154" y="2866906"/>
            <a:ext cx="345989" cy="2038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88988" y="3126398"/>
            <a:ext cx="9224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did not apply the vehicle dynamics to find them, Scania just gave them !!!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Here we do not know the gear ratio, therefore can we change the torque and speed requirements? </a:t>
            </a:r>
            <a:endParaRPr lang="sv-S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287275" y="3929456"/>
            <a:ext cx="34485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Considerations for Heavy Trucks</a:t>
            </a:r>
            <a:endParaRPr lang="sv-SE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72179" y="4383721"/>
            <a:ext cx="1045793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Torque at Low Speeds:</a:t>
            </a:r>
            <a:r>
              <a:rPr lang="en-US" sz="16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Heavy-duty trucks often require high torque for initial acceleration and while climbing steep gradients with heavy loads.</a:t>
            </a:r>
          </a:p>
          <a:p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Durability and Reliability:</a:t>
            </a:r>
            <a:r>
              <a:rPr lang="en-US" sz="16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Motors should be designed to withstand continuous heavy usage, varied terrains, and adverse environmental conditions.</a:t>
            </a:r>
          </a:p>
          <a:p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Efficiency and Energy Recovery:</a:t>
            </a:r>
            <a:r>
              <a:rPr lang="en-US" sz="16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Motors capable of regenerative braking can help recover energy during braking, enhancing overall efficiency.</a:t>
            </a:r>
          </a:p>
          <a:p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Maintenance and Serviceability:</a:t>
            </a:r>
            <a:r>
              <a:rPr lang="en-US" sz="16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Motors should be designed for ease of maintenance and servicing to minimize downtime.</a:t>
            </a:r>
            <a:endParaRPr lang="en-US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7734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691549" y="112343"/>
            <a:ext cx="2441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Current Types of EMs</a:t>
            </a:r>
            <a:endParaRPr lang="sv-SE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37287" y="481675"/>
            <a:ext cx="11242588" cy="60324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Permanent Magnet Synchronous Motor (PMSM):</a:t>
            </a:r>
            <a:r>
              <a:rPr lang="en-US" sz="16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6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Providing high-speed capabilities, especially beneficial for cruising, maintaining higher speeds on highways, and offering good efficiency during constant-speed operations.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r>
              <a:rPr lang="en-US" sz="16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Offering excellent controllability, and efficiency at higher speeds.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Considerations:</a:t>
            </a:r>
            <a:r>
              <a:rPr lang="en-US" sz="16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Facing demagnetization issues due to high currents at low speeds or during high torque demands.</a:t>
            </a:r>
          </a:p>
          <a:p>
            <a:pPr lvl="1"/>
            <a:endParaRPr lang="en-US" sz="1600" b="0" i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Induction Motor: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Having strong torque output at lower speeds complements the requirements. 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r>
              <a:rPr lang="en-US" sz="16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Induction motors have robust torque capabilities at low speeds, making them well-suited for heavy-load scenarios.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Considerations:</a:t>
            </a:r>
            <a:r>
              <a:rPr lang="en-US" sz="16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They might lack the high-speed capabilities of PMSM motors.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Fixed-speed nature might limit their widespread adoption without additional control systems.</a:t>
            </a:r>
          </a:p>
          <a:p>
            <a:pPr lvl="1"/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Permanent Magnet Assisted Synchronous Reluctance Motors: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be designed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high torque even at low speeds, making them suitable for heavy-load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at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speeds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r>
              <a:rPr lang="en-US" sz="16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combined reluctance and permanent magnet design, might mitigate some risks of demagnetization at high currents or low speeds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Considerations:</a:t>
            </a:r>
            <a:r>
              <a:rPr lang="en-US" sz="16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availability, system complexity, and integration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r>
              <a:rPr lang="en-US" dirty="0" smtClean="0"/>
              <a:t>.</a:t>
            </a:r>
          </a:p>
          <a:p>
            <a:pPr lvl="1"/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Wound Rotor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ynchronous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otors (WRSMs), or Electrically Excited Synchronous Motor (EESMs)  :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Allowing for external control of the rotor winding, enabling variable speed and torque control and high torque output, particularly during starting and low-speed operations.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r>
              <a:rPr lang="en-US" sz="16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obustness and ability to handle harsh operating conditions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Considerations:</a:t>
            </a:r>
            <a:r>
              <a:rPr lang="en-US" sz="16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Needing brushless exciter (with WPT?) and reduced efficiency due to rotor winding (also cooling?).</a:t>
            </a:r>
          </a:p>
        </p:txBody>
      </p:sp>
    </p:spTree>
    <p:extLst>
      <p:ext uri="{BB962C8B-B14F-4D97-AF65-F5344CB8AC3E}">
        <p14:creationId xmlns:p14="http://schemas.microsoft.com/office/powerpoint/2010/main" val="3828395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50592" y="217376"/>
            <a:ext cx="2074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New Types of EMs</a:t>
            </a:r>
            <a:endParaRPr lang="sv-SE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3330" y="896551"/>
            <a:ext cx="6828536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STATOR PM MACHINES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FLUX MEMORY MACHINES AND HYBRID EXCITATION MACHINES</a:t>
            </a:r>
          </a:p>
          <a:p>
            <a:pPr marL="342900" indent="-342900">
              <a:buFont typeface="+mj-lt"/>
              <a:buAutoNum type="arabicPeriod"/>
            </a:pP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MULTIPHASE MACHINES</a:t>
            </a:r>
          </a:p>
          <a:p>
            <a:pPr marL="342900" indent="-342900">
              <a:buFont typeface="+mj-lt"/>
              <a:buAutoNum type="arabicPeriod"/>
            </a:pP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MAGNETIC GEARED MACHINES</a:t>
            </a:r>
          </a:p>
          <a:p>
            <a:pPr marL="342900" indent="-342900">
              <a:buFont typeface="+mj-lt"/>
              <a:buAutoNum type="arabicPeriod"/>
            </a:pP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RECONFIGURABLE WINDING MACHINES</a:t>
            </a:r>
            <a:endParaRPr lang="sv-S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87" y="2529833"/>
            <a:ext cx="5015059" cy="300085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930616" y="5455851"/>
            <a:ext cx="558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*[4]</a:t>
            </a:r>
            <a:endParaRPr lang="sv-SE" dirty="0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1255" y="2687594"/>
            <a:ext cx="3731506" cy="292134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327925" y="5530689"/>
            <a:ext cx="558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*[5]</a:t>
            </a:r>
            <a:endParaRPr lang="sv-S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4706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627311" y="80787"/>
            <a:ext cx="26234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Configurations</a:t>
            </a:r>
            <a:endParaRPr lang="sv-SE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56054" y="611660"/>
            <a:ext cx="1020668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motor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Coupled with front or rear axle via a differential.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Constant gear ratio, quite high, is used to reduce motor torque, resulting in lower motor size.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electrical motor needs a wide operating speed range.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motor should be capable of producing a higher torque, for a short time, in case of an overtaking or a starting from a high ground slope angle.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have motor specifications for continuous (rated) and temporary (peak) torque. 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5282513" y="2826099"/>
            <a:ext cx="6179" cy="3990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65420" y="3225114"/>
            <a:ext cx="87176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achieve a wide range of speeds, PMSM or EESM is suitable.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PMSM  has higher efficiency and is less complex, but demagnetization risk at the starting torque.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EESM has high torque at starting, but rotor cooling is problematic and efficiency is lower. </a:t>
            </a:r>
            <a:endParaRPr lang="sv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83508" y="5524720"/>
            <a:ext cx="558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*[2]</a:t>
            </a:r>
            <a:endParaRPr lang="sv-SE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7581" y="4598891"/>
            <a:ext cx="3105073" cy="222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858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627311" y="80787"/>
            <a:ext cx="26234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Configurations</a:t>
            </a:r>
            <a:endParaRPr lang="sv-SE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56054" y="611660"/>
            <a:ext cx="1020668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Dual motor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*[6]</a:t>
            </a:r>
          </a:p>
          <a:p>
            <a:endParaRPr lang="en-US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 is practically impossible to optimize based on the whole torque-speed profile and especially when partial loads and overload conditions are considered in the problem formulation. (with inclusion of drive cycle)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 propulsion machines, with complimentary torque-speed characteristics, can be coupled to the same shaft via a torque/speed coupler that could be deployed in the EV powertrain.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potential merit of using two propulsion machines is the improved powertrain efficiency and effective load power split.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Another advantage of using two complementary propulsion machines, instead of a single large machine, is that the space under the hood can be effectively utilized.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5418437" y="3812299"/>
            <a:ext cx="6179" cy="3990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877329" y="4318843"/>
            <a:ext cx="1037349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1400" b="1" i="0" dirty="0" smtClean="0">
                <a:effectLst/>
                <a:latin typeface="Söhne"/>
              </a:rPr>
              <a:t>Permanent Magnet Synchronous Motor (PMSM) for High-Speed Performance:</a:t>
            </a:r>
            <a:endParaRPr lang="en-US" sz="1400" b="0" i="0" dirty="0" smtClean="0">
              <a:effectLst/>
              <a:latin typeface="Söhne"/>
            </a:endParaRPr>
          </a:p>
          <a:p>
            <a:pPr lvl="1"/>
            <a:r>
              <a:rPr lang="en-US" sz="1400" b="1" i="0" dirty="0" smtClean="0">
                <a:effectLst/>
                <a:latin typeface="Söhne"/>
              </a:rPr>
              <a:t>Considerations:</a:t>
            </a:r>
            <a:r>
              <a:rPr lang="en-US" sz="1400" b="0" i="0" dirty="0" smtClean="0">
                <a:effectLst/>
                <a:latin typeface="Söhne"/>
              </a:rPr>
              <a:t> These motors might face demagnetization issues due to high currents at low speeds or during high torque demands. Therefore, using them for high-speed operations where torque requirements are lower can mitigate this issue.</a:t>
            </a:r>
          </a:p>
          <a:p>
            <a:pPr>
              <a:buFont typeface="+mj-lt"/>
              <a:buAutoNum type="arabicPeriod"/>
            </a:pPr>
            <a:r>
              <a:rPr lang="en-US" sz="1400" b="1" i="0" dirty="0" smtClean="0">
                <a:effectLst/>
                <a:latin typeface="Söhne"/>
              </a:rPr>
              <a:t>Induction Motor for High Torque at Low Speeds: </a:t>
            </a:r>
            <a:endParaRPr lang="en-US" sz="1400" b="0" i="0" dirty="0" smtClean="0">
              <a:effectLst/>
              <a:latin typeface="Söhne"/>
            </a:endParaRPr>
          </a:p>
          <a:p>
            <a:pPr lvl="1"/>
            <a:r>
              <a:rPr lang="en-US" sz="1400" b="1" i="0" dirty="0" smtClean="0">
                <a:effectLst/>
                <a:latin typeface="Söhne"/>
              </a:rPr>
              <a:t>Considerations:</a:t>
            </a:r>
            <a:r>
              <a:rPr lang="en-US" sz="1400" b="0" i="0" dirty="0" smtClean="0">
                <a:effectLst/>
                <a:latin typeface="Söhne"/>
              </a:rPr>
              <a:t> While they might lack the high-speed capabilities of PMSM motors, their strong torque output at lower speeds complements the requirements for heavy-duty trucks during start-up, inclines, and low-speed maneuvers.</a:t>
            </a:r>
          </a:p>
          <a:p>
            <a:pPr>
              <a:buFont typeface="+mj-lt"/>
              <a:buAutoNum type="arabicPeriod"/>
            </a:pPr>
            <a:r>
              <a:rPr lang="en-US" sz="1400" b="1" i="0" dirty="0" smtClean="0">
                <a:effectLst/>
                <a:latin typeface="Söhne"/>
              </a:rPr>
              <a:t>Electrically Excited Synchronous Motor (EESMs)  :</a:t>
            </a:r>
          </a:p>
          <a:p>
            <a:pPr lvl="1"/>
            <a:r>
              <a:rPr lang="en-US" sz="1400" b="1" i="0" dirty="0" smtClean="0">
                <a:effectLst/>
                <a:latin typeface="Söhne"/>
              </a:rPr>
              <a:t>Considerations:</a:t>
            </a:r>
            <a:r>
              <a:rPr lang="en-US" sz="1400" b="0" i="0" dirty="0" smtClean="0">
                <a:effectLst/>
                <a:latin typeface="Söhne"/>
              </a:rPr>
              <a:t> T</a:t>
            </a:r>
            <a:r>
              <a:rPr lang="en-US" sz="1400" dirty="0" smtClean="0"/>
              <a:t>hese </a:t>
            </a:r>
            <a:r>
              <a:rPr lang="en-US" sz="1400" dirty="0"/>
              <a:t>motors can provide high torque output, particularly during starting and low-speed operations, making them suitable for heavy-duty applications that demand strong torque at lower speeds.</a:t>
            </a:r>
            <a:endParaRPr lang="en-US" sz="1400" b="0" i="0" dirty="0"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1393529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47165" y="291069"/>
            <a:ext cx="60946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Efficiency</a:t>
            </a:r>
            <a:r>
              <a:rPr lang="sv-SE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</a:t>
            </a:r>
            <a:r>
              <a:rPr lang="sv-SE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v-SE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Dual-Motor </a:t>
            </a:r>
            <a:r>
              <a:rPr lang="sv-SE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Coupling</a:t>
            </a:r>
            <a:r>
              <a:rPr lang="sv-SE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EV </a:t>
            </a:r>
            <a:r>
              <a:rPr lang="sv-SE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Powertrain</a:t>
            </a:r>
            <a:r>
              <a:rPr lang="sv-SE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sv-SE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840011" y="291069"/>
            <a:ext cx="558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*[7]</a:t>
            </a:r>
            <a:endParaRPr lang="sv-SE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7860" y="887797"/>
            <a:ext cx="55523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sv-SE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lanetary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gear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unit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couples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speed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motors</a:t>
            </a:r>
          </a:p>
          <a:p>
            <a:pPr marL="342900" indent="-342900">
              <a:buFont typeface="+mj-lt"/>
              <a:buAutoNum type="arabicPeriod"/>
            </a:pPr>
            <a:r>
              <a:rPr lang="sv-SE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haft-fixed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gear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unit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couples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torque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motors</a:t>
            </a:r>
            <a:endParaRPr lang="sv-S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860" y="1844040"/>
            <a:ext cx="4259118" cy="33070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260" y="1412208"/>
            <a:ext cx="4564380" cy="39034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7860" y="5949434"/>
            <a:ext cx="106202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the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engaging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disengaging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clutches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setting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operate in four modes to satisfy the demands of different running conditions, thereby improving the energy utilization efficiency</a:t>
            </a:r>
            <a:endParaRPr lang="sv-S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053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12610" y="290728"/>
            <a:ext cx="95707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of a Dual-Motor Coupled Powertrain Energy Management Strategy for a Battery Electric Bus Based on Dynamic Programming Method</a:t>
            </a:r>
            <a:endParaRPr lang="sv-SE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095531" y="383402"/>
            <a:ext cx="558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*[8]</a:t>
            </a:r>
            <a:endParaRPr lang="sv-SE" dirty="0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03" y="1417320"/>
            <a:ext cx="6583442" cy="349091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9186" y="1417320"/>
            <a:ext cx="4509511" cy="32308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99159" y="5287417"/>
            <a:ext cx="1019637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torques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motor (M1) and the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auxiliary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motor (M2)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coupled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on a common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axis</a:t>
            </a:r>
            <a:r>
              <a:rPr lang="sv-S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1425" y="5835879"/>
            <a:ext cx="45169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M1= T= 2100N.m, base speed = 600RPM</a:t>
            </a:r>
            <a:endParaRPr lang="sv-S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731424" y="6215064"/>
            <a:ext cx="45169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M2= T= 900N.m, base speed = 1200RPM</a:t>
            </a:r>
            <a:endParaRPr lang="sv-S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472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12610" y="290728"/>
            <a:ext cx="95707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Split Control Strategy for an EV Powertrain With Two Propulsion Machines</a:t>
            </a:r>
            <a:endParaRPr lang="sv-SE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866931" y="290728"/>
            <a:ext cx="558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*[6]</a:t>
            </a:r>
            <a:endParaRPr lang="sv-SE" dirty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80" y="934720"/>
            <a:ext cx="5884018" cy="32584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46760" y="4448382"/>
            <a:ext cx="56794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atteries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relatively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energy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density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Ultra-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capacitors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(UCs), on the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hand,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density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excellent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instantaneous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charging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discharging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capabilities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sv-S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46760" y="5369461"/>
            <a:ext cx="557784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M1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operate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under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torques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M2 operates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torques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implying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complementary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operation features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propulsion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machines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sv-S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0142" y="1226820"/>
            <a:ext cx="4280458" cy="5372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146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12610" y="290728"/>
            <a:ext cx="95707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Novel Dual-Motor Two-Speed Direct Drive Battery Electric Vehicle Drivetrain</a:t>
            </a:r>
            <a:endParaRPr lang="sv-SE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866931" y="290728"/>
            <a:ext cx="558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*[9]</a:t>
            </a:r>
            <a:endParaRPr lang="sv-SE" dirty="0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" y="660060"/>
            <a:ext cx="6727248" cy="3886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63196" y="4546260"/>
            <a:ext cx="479107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sv-SE" dirty="0" err="1"/>
              <a:t>T</a:t>
            </a:r>
            <a:r>
              <a:rPr lang="sv-SE" dirty="0" err="1" smtClean="0"/>
              <a:t>wo</a:t>
            </a:r>
            <a:r>
              <a:rPr lang="sv-SE" dirty="0" smtClean="0"/>
              <a:t> </a:t>
            </a:r>
            <a:r>
              <a:rPr lang="sv-SE" dirty="0" err="1" smtClean="0"/>
              <a:t>smaller</a:t>
            </a:r>
            <a:r>
              <a:rPr lang="sv-SE" dirty="0" smtClean="0"/>
              <a:t> motors </a:t>
            </a:r>
            <a:r>
              <a:rPr lang="sv-SE" dirty="0" err="1" smtClean="0"/>
              <a:t>with</a:t>
            </a:r>
            <a:r>
              <a:rPr lang="sv-SE" dirty="0" smtClean="0"/>
              <a:t> </a:t>
            </a:r>
            <a:r>
              <a:rPr lang="sv-SE" dirty="0" err="1" smtClean="0"/>
              <a:t>approximate</a:t>
            </a:r>
            <a:r>
              <a:rPr lang="sv-SE" dirty="0" smtClean="0"/>
              <a:t> same total output </a:t>
            </a:r>
            <a:r>
              <a:rPr lang="sv-SE" dirty="0" err="1" smtClean="0"/>
              <a:t>power</a:t>
            </a:r>
            <a:r>
              <a:rPr lang="sv-SE" dirty="0" smtClean="0"/>
              <a:t> in </a:t>
            </a:r>
            <a:r>
              <a:rPr lang="sv-SE" dirty="0" err="1" smtClean="0"/>
              <a:t>this</a:t>
            </a:r>
            <a:r>
              <a:rPr lang="sv-SE" dirty="0" smtClean="0"/>
              <a:t> paper to </a:t>
            </a:r>
            <a:r>
              <a:rPr lang="sv-SE" dirty="0" err="1" smtClean="0"/>
              <a:t>improve</a:t>
            </a:r>
            <a:r>
              <a:rPr lang="sv-SE" dirty="0" smtClean="0"/>
              <a:t> overall motor </a:t>
            </a:r>
            <a:r>
              <a:rPr lang="sv-SE" dirty="0" err="1" smtClean="0"/>
              <a:t>efficiency</a:t>
            </a:r>
            <a:r>
              <a:rPr lang="sv-SE" dirty="0" smtClean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</a:t>
            </a:r>
            <a:r>
              <a:rPr lang="en-US" dirty="0" smtClean="0"/>
              <a:t>ermanently engaged gear pairs, rather than implicating mechanical shifting actuator, i.e. clutch or synchronizer.</a:t>
            </a:r>
            <a:endParaRPr lang="sv-SE" dirty="0" smtClean="0"/>
          </a:p>
          <a:p>
            <a:endParaRPr lang="sv-SE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l="4076"/>
          <a:stretch/>
        </p:blipFill>
        <p:spPr>
          <a:xfrm>
            <a:off x="6790847" y="718318"/>
            <a:ext cx="4238625" cy="312193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0847" y="3589520"/>
            <a:ext cx="3992483" cy="3153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529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12610" y="290728"/>
            <a:ext cx="95707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Transmotor</a:t>
            </a:r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-Based Powertrain for High-Performance Electric Vehicle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66931" y="290728"/>
            <a:ext cx="6751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*[10]</a:t>
            </a:r>
            <a:endParaRPr lang="sv-SE" dirty="0">
              <a:solidFill>
                <a:srgbClr val="FF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13" y="1190624"/>
            <a:ext cx="5848710" cy="340994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038975" y="1190624"/>
            <a:ext cx="436245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torque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determined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by the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 the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electrical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port (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located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on the inner rotor).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produced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torque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on the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shafts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equal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opposite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(action and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reaction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torque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speed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mechanical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ports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be different, so the input and output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mechanical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powers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not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necessarily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equal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sv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85559" y="5152172"/>
            <a:ext cx="89109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 maximum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torque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be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at a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larger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speed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range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?? Hill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Climbing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???</a:t>
            </a:r>
            <a:endParaRPr lang="sv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566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 smtClean="0"/>
              <a:t>[1] Design Approaches and Control Strategies for Energy-Efficient Electric Machines for Electric Vehicles—A Review</a:t>
            </a:r>
            <a:endParaRPr lang="en-US" sz="1600" dirty="0"/>
          </a:p>
          <a:p>
            <a:r>
              <a:rPr lang="en-US" sz="1600" dirty="0" smtClean="0"/>
              <a:t>[2] Fast Adaptive Evolutionary PM Traction Motor Optimization Based on Electric Vehicle Drive Cycle</a:t>
            </a:r>
            <a:endParaRPr lang="en-US" sz="1600" dirty="0"/>
          </a:p>
          <a:p>
            <a:r>
              <a:rPr lang="en-US" sz="1600" dirty="0" smtClean="0"/>
              <a:t>[3] Hill-start of Distributed Drive Electric Vehicle Based on Pneumatic Electronic Parking Brake System</a:t>
            </a:r>
          </a:p>
          <a:p>
            <a:r>
              <a:rPr lang="en-US" sz="1600" dirty="0" smtClean="0"/>
              <a:t>[4] Design Approaches and Control Strategies for Energy-Efficient Electric Machines for Electric Vehicles—A Review</a:t>
            </a:r>
          </a:p>
          <a:p>
            <a:r>
              <a:rPr lang="en-US" sz="1600" dirty="0" smtClean="0"/>
              <a:t>[5] A Reconfigurable-Winding System for Electric Vehicle Drive Applications</a:t>
            </a:r>
          </a:p>
          <a:p>
            <a:r>
              <a:rPr lang="en-US" sz="1600" dirty="0" smtClean="0"/>
              <a:t>[6] Power Split Control Strategy for an EV Powertrain With Two Propulsion Machines</a:t>
            </a:r>
          </a:p>
          <a:p>
            <a:r>
              <a:rPr lang="en-US" sz="1600" dirty="0" smtClean="0"/>
              <a:t>[7] Efficiency Study of a Dual-Motor Coupling EV Powertrain</a:t>
            </a:r>
          </a:p>
          <a:p>
            <a:r>
              <a:rPr lang="en-US" sz="1600" dirty="0" smtClean="0"/>
              <a:t>[8] Optimization of a Dual-Motor Coupled Powertrain Energy Management Strategy for a Battery Electric Bus Based on Dynamic Programming Method</a:t>
            </a:r>
          </a:p>
          <a:p>
            <a:r>
              <a:rPr lang="en-US" sz="1600" dirty="0" smtClean="0"/>
              <a:t>[9] A Novel Dual-Motor Two-Speed Direct Drive Battery Electric Vehicle Drivetrain</a:t>
            </a:r>
          </a:p>
          <a:p>
            <a:r>
              <a:rPr lang="en-US" sz="1600" dirty="0" smtClean="0"/>
              <a:t>[10] </a:t>
            </a:r>
            <a:r>
              <a:rPr lang="en-US" sz="1600" dirty="0" err="1" smtClean="0"/>
              <a:t>Transmotor</a:t>
            </a:r>
            <a:r>
              <a:rPr lang="en-US" sz="1600" dirty="0" smtClean="0"/>
              <a:t>-Based Powertrain for High-Performance Electric Vehicle</a:t>
            </a:r>
          </a:p>
        </p:txBody>
      </p:sp>
    </p:spTree>
    <p:extLst>
      <p:ext uri="{BB962C8B-B14F-4D97-AF65-F5344CB8AC3E}">
        <p14:creationId xmlns:p14="http://schemas.microsoft.com/office/powerpoint/2010/main" val="2085248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3097</TotalTime>
  <Words>1883</Words>
  <Application>Microsoft Office PowerPoint</Application>
  <PresentationFormat>Widescreen</PresentationFormat>
  <Paragraphs>166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Söhne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53</cp:revision>
  <dcterms:created xsi:type="dcterms:W3CDTF">2023-11-22T09:35:40Z</dcterms:created>
  <dcterms:modified xsi:type="dcterms:W3CDTF">2023-12-07T11:52:08Z</dcterms:modified>
</cp:coreProperties>
</file>