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90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91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92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57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DA8942-D3E7-47D2-B193-16C279262047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9CE4F0-6DBC-4634-83D3-8980A8DC089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0006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`</a:t>
            </a:r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FD5BB4-4224-4FCD-86EB-DC6A695B6B5E}" type="slidenum">
              <a:rPr lang="sv-SE" smtClean="0"/>
              <a:t>17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00078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`</a:t>
            </a:r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FD5BB4-4224-4FCD-86EB-DC6A695B6B5E}" type="slidenum">
              <a:rPr lang="sv-SE" smtClean="0"/>
              <a:t>18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14110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09840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3623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44510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1702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50297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02465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41586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7895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627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4262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80948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FB6C-6EC4-44B1-8567-71A5D118D7C8}" type="datetimeFigureOut">
              <a:rPr lang="sv-SE" smtClean="0"/>
              <a:t>2024-10-22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F82940-D710-4612-95A6-149A62DB143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01532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../media/image3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7.png"/><Relationship Id="rId5" Type="http://schemas.openxmlformats.org/officeDocument/2006/relationships/image" Target="NULL"/><Relationship Id="rId10" Type="http://schemas.openxmlformats.org/officeDocument/2006/relationships/image" Target="../media/image16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21.png"/><Relationship Id="rId5" Type="http://schemas.openxmlformats.org/officeDocument/2006/relationships/image" Target="NULL"/><Relationship Id="rId10" Type="http://schemas.openxmlformats.org/officeDocument/2006/relationships/image" Target="../media/image20.emf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2.png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25.emf"/><Relationship Id="rId4" Type="http://schemas.openxmlformats.org/officeDocument/2006/relationships/image" Target="../media/image24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NUL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10" Type="http://schemas.openxmlformats.org/officeDocument/2006/relationships/image" Target="../media/image3.png"/><Relationship Id="rId4" Type="http://schemas.openxmlformats.org/officeDocument/2006/relationships/image" Target="../media/image60.png"/><Relationship Id="rId9" Type="http://schemas.openxmlformats.org/officeDocument/2006/relationships/image" Target="../media/image1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Literature : Powertrains</a:t>
            </a:r>
            <a:endParaRPr lang="sv-S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Enes Ayaz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897418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88895" y="81003"/>
            <a:ext cx="49342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Torque-Speed </a:t>
            </a:r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b="1" i="0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haracteristics in Electric </a:t>
            </a:r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b="1" i="0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rucks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61552" y="450335"/>
            <a:ext cx="805454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Motoring Mode: </a:t>
            </a:r>
          </a:p>
          <a:p>
            <a:endParaRPr lang="en-US" b="1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Starting/Initial Acceleration (High Torque, Lower Speed):</a:t>
            </a: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nitiate motion from a standstill.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ffective acceleration and overcoming inertia.</a:t>
            </a:r>
          </a:p>
          <a:p>
            <a:pPr lvl="1"/>
            <a:endParaRPr lang="en-US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 Operation (Moderate Torque, Variable Speed):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delivers enough torque to maintain speed and handle typical loads efficiently.</a:t>
            </a:r>
          </a:p>
          <a:p>
            <a:pPr lvl="1">
              <a:buFont typeface="+mj-lt"/>
              <a:buAutoNum type="arabicPeriod"/>
            </a:pPr>
            <a:endParaRPr lang="en-US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b="1" i="0" dirty="0" smtClean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Hill Climbing/Heavy Load Conditions (High Torque, Low Speed):</a:t>
            </a:r>
            <a:r>
              <a:rPr lang="en-US" b="0" i="0" dirty="0" smtClean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Requires higher torque to counteract gravity or the added weight.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Speed might decrease as torque increases to maintain power.</a:t>
            </a:r>
          </a:p>
          <a:p>
            <a:pPr lvl="1">
              <a:buFont typeface="+mj-lt"/>
              <a:buAutoNum type="arabicPeriod"/>
            </a:pPr>
            <a:endParaRPr lang="en-US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b="1" i="0" dirty="0" smtClean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Cruising/Constant Speed (Balanced Torque and Speed):</a:t>
            </a:r>
            <a:r>
              <a:rPr lang="en-US" b="0" i="0" dirty="0" smtClean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During steady-state driving on flat roads or at a constant speed,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ptimizing energy efficiency.</a:t>
            </a:r>
          </a:p>
          <a:p>
            <a:pPr lvl="1"/>
            <a:endParaRPr lang="en-US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Max Speed Capability (Lower Torque, High Speed):</a:t>
            </a:r>
            <a:endParaRPr lang="en-US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Reduced torque to achieve and sustain higher velocities.</a:t>
            </a:r>
            <a:endParaRPr lang="en-US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sv-SE" b="1" dirty="0">
              <a:solidFill>
                <a:srgbClr val="002060"/>
              </a:solidFill>
            </a:endParaRPr>
          </a:p>
          <a:p>
            <a:r>
              <a:rPr lang="sv-SE" b="1" dirty="0" smtClean="0">
                <a:solidFill>
                  <a:srgbClr val="002060"/>
                </a:solidFill>
              </a:rPr>
              <a:t>Regenerative </a:t>
            </a:r>
            <a:r>
              <a:rPr lang="sv-SE" b="1" dirty="0" err="1" smtClean="0">
                <a:solidFill>
                  <a:srgbClr val="002060"/>
                </a:solidFill>
              </a:rPr>
              <a:t>Braking</a:t>
            </a:r>
            <a:r>
              <a:rPr lang="sv-SE" b="1" dirty="0" smtClean="0">
                <a:solidFill>
                  <a:srgbClr val="002060"/>
                </a:solidFill>
              </a:rPr>
              <a:t>/</a:t>
            </a:r>
            <a:r>
              <a:rPr lang="sv-SE" b="1" dirty="0" err="1" smtClean="0">
                <a:solidFill>
                  <a:srgbClr val="002060"/>
                </a:solidFill>
              </a:rPr>
              <a:t>Deaceleration</a:t>
            </a:r>
            <a:r>
              <a:rPr lang="sv-SE" b="1" dirty="0" smtClean="0">
                <a:solidFill>
                  <a:srgbClr val="002060"/>
                </a:solidFill>
              </a:rPr>
              <a:t>?</a:t>
            </a:r>
            <a:endParaRPr lang="en-US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062" y="3419420"/>
            <a:ext cx="4391206" cy="31409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501097" y="6450549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*[2]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5" y="604996"/>
            <a:ext cx="3810729" cy="260261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501097" y="3054979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*[1]</a:t>
            </a:r>
            <a:endParaRPr lang="sv-S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290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330490" y="85350"/>
            <a:ext cx="42569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Torque Calculatio</a:t>
            </a:r>
            <a:r>
              <a:rPr lang="en-US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 via Vehicle Dynamics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1964040" y="639348"/>
              <a:ext cx="8128000" cy="5694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 Dynamics</a:t>
                          </a:r>
                          <a:r>
                            <a:rPr lang="en-US" sz="1400" b="1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Coefficients and Parameters</a:t>
                          </a:r>
                          <a:endParaRPr lang="sv-SE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Radius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of wheels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0.25 –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0.40 (0.3?)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80495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</a:t>
                          </a:r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front area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value might range from 8 to 12 square meters, based on the vehicle's size and design.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30000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Aerodynamic drag coefficient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Depending on the truck's design,</a:t>
                          </a:r>
                          <a:r>
                            <a:rPr lang="en-US" sz="1400" b="0" i="0" kern="1200" baseline="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could vary between 0.5 and 0.7.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Rolling resistance coefficient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𝑟𝑟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Depends</a:t>
                          </a:r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on tire type and road conditions, but </a:t>
                          </a:r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coefficient might range between 0.01 and 0.015.</a:t>
                          </a:r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mass </a:t>
                          </a:r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𝑀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𝑘𝑔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Encompasses the weight of the vehicle, payload, and occupants. </a:t>
                          </a:r>
                        </a:p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Tens of thousands of kilograms.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i="0" kern="1200" noProof="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Coefficient</a:t>
                          </a:r>
                          <a:r>
                            <a:rPr lang="en-US" sz="1400" b="0" i="0" kern="1200" baseline="0" noProof="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of inertia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kern="1200" baseline="0" noProof="0" smtClean="0">
                                  <a:solidFill>
                                    <a:srgbClr val="0070C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oMath>
                          </a14:m>
                          <a:r>
                            <a:rPr lang="en-US" sz="1400" b="0" noProof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US" sz="1400" b="0" noProof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Includes the inertia of the wheels, drivetrain, and other rotating parts. 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95092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i="0" kern="1200" noProof="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Coefficient</a:t>
                          </a:r>
                          <a:r>
                            <a:rPr lang="en-US" sz="1400" b="0" i="0" kern="1200" baseline="0" noProof="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of friction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kern="1200" baseline="0" noProof="0" smtClean="0">
                                  <a:solidFill>
                                    <a:srgbClr val="7030A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Times New Roman" panose="02020603050405020304" pitchFamily="18" charset="0"/>
                                </a:rPr>
                                <m:t>𝜇</m:t>
                              </m:r>
                            </m:oMath>
                          </a14:m>
                          <a:r>
                            <a:rPr lang="en-US" sz="1400" b="0" noProof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US" sz="1400" b="0" noProof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Represents the friction between the tires and the road surface. This might be around 0.7 to 1.0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04894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i="0" kern="1200" noProof="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Coefficient</a:t>
                          </a:r>
                          <a:r>
                            <a:rPr lang="en-US" sz="1400" b="0" i="0" kern="1200" baseline="0" noProof="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of suspension stiffness 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kern="1200" baseline="0" noProof="0" smtClean="0">
                                  <a:solidFill>
                                    <a:srgbClr val="0070C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Times New Roman" panose="02020603050405020304" pitchFamily="18" charset="0"/>
                                </a:rPr>
                                <m:t>𝜇</m:t>
                              </m:r>
                            </m:oMath>
                          </a14:m>
                          <a:r>
                            <a:rPr lang="en-US" sz="1400" b="0" noProof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US" sz="1400" b="0" noProof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coefficient varies based on the suspension design 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43979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Maximum vehicle speed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dirty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𝑘𝑚</m:t>
                              </m:r>
                              <m:r>
                                <a:rPr lang="en-US" sz="1400" b="0" i="1" baseline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. </m:t>
                              </m:r>
                              <m:sSup>
                                <m:sSupPr>
                                  <m:ctrlP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sz="1400" b="0" i="1" baseline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120 ?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67458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Maximum NEDC acceleration 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en-US" sz="1400" b="0" i="1" kern="1200" smtClean="0">
                                      <a:solidFill>
                                        <a:srgbClr val="0070C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kern="1200" smtClean="0">
                                      <a:solidFill>
                                        <a:srgbClr val="0070C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𝑎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m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. </m:t>
                              </m:r>
                              <m:sSup>
                                <m:sSupPr>
                                  <m:ctrlP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1400" b="0" i="1" baseline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−2</m:t>
                                  </m:r>
                                </m:sup>
                              </m:sSup>
                            </m:oMath>
                          </a14:m>
                          <a:r>
                            <a:rPr lang="sv-SE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sv-SE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1.043 ?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82531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Differential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gear ratio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Typically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&gt;</a:t>
                          </a:r>
                          <a:r>
                            <a:rPr lang="en-US" sz="1400" b="0" i="0" kern="1200" baseline="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4:1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311461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6181465"/>
                  </p:ext>
                </p:extLst>
              </p:nvPr>
            </p:nvGraphicFramePr>
            <p:xfrm>
              <a:off x="1964040" y="639348"/>
              <a:ext cx="8128000" cy="5694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 Dynamics</a:t>
                          </a:r>
                          <a:r>
                            <a:rPr lang="en-US" sz="1400" b="1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Coefficients and Parameters</a:t>
                          </a:r>
                          <a:endParaRPr lang="sv-SE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01639" r="-93343" b="-13377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0.25 –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0.40 (0.3?)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80495690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44706" r="-93343" b="-8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value might range from 8 to 12 square meters, based on the vehicle's size and design.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300007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244706" r="-93343" b="-7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Depending on the truck's design,</a:t>
                          </a:r>
                          <a:r>
                            <a:rPr lang="en-US" sz="1400" b="0" i="0" kern="1200" baseline="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could vary between 0.5 and 0.7.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344706" r="-93343" b="-6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Depends</a:t>
                          </a:r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on tire type and road conditions, but </a:t>
                          </a:r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coefficient might range between 0.01 and 0.015.</a:t>
                          </a:r>
                          <a:r>
                            <a:rPr lang="en-US" sz="1400" b="0" baseline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312397" r="-93343" b="-36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Encompasses the weight of the vehicle, payload, and occupants. </a:t>
                          </a:r>
                        </a:p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Tens of thousands of kilograms.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587059" r="-93343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Includes the inertia of the wheels, drivetrain, and other rotating parts. 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950920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687059" r="-93343" b="-3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Represents the friction between the tires and the road surface. This might be around 0.7 to 1.0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048943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787059" r="-93343" b="-2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rgbClr val="0070C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This coefficient varies based on the suspension design 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43979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236066" r="-93343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120 ?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67458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336066" r="-93343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sv-SE" sz="1400" b="0" dirty="0" smtClean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1.043 ?</a:t>
                          </a:r>
                          <a:endParaRPr lang="sv-SE" sz="1400" b="0" dirty="0">
                            <a:solidFill>
                              <a:srgbClr val="0070C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82531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436066" r="-93343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Typically</a:t>
                          </a:r>
                          <a:r>
                            <a:rPr lang="en-US" sz="1400" b="0" baseline="0" dirty="0" smtClean="0">
                              <a:solidFill>
                                <a:srgbClr val="7030A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&gt;</a:t>
                          </a:r>
                          <a:r>
                            <a:rPr lang="en-US" sz="1400" b="0" i="0" kern="1200" baseline="0" dirty="0" smtClean="0">
                              <a:solidFill>
                                <a:srgbClr val="7030A0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4:1</a:t>
                          </a:r>
                          <a:endParaRPr lang="sv-SE" sz="1400" b="0" dirty="0">
                            <a:solidFill>
                              <a:srgbClr val="7030A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311461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Rectangle 6"/>
          <p:cNvSpPr/>
          <p:nvPr/>
        </p:nvSpPr>
        <p:spPr>
          <a:xfrm>
            <a:off x="5900792" y="6334028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*[2]</a:t>
            </a:r>
            <a:endParaRPr lang="sv-S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5954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69324" y="387348"/>
            <a:ext cx="99636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 </a:t>
            </a:r>
            <a:r>
              <a:rPr lang="sv-SE" b="0" i="0" dirty="0" err="1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Tractive</a:t>
            </a:r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Force= Rolling </a:t>
            </a:r>
            <a:r>
              <a:rPr lang="sv-SE" b="0" i="0" dirty="0" err="1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Resistance</a:t>
            </a:r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sv-SE" b="0" i="0" dirty="0" err="1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Aerodynamic</a:t>
            </a:r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Drag + Gradient Force + Acceleration Force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54959" y="1093573"/>
                <a:ext cx="2912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𝑇𝑇𝐹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4959" y="1093573"/>
                <a:ext cx="2912271" cy="276999"/>
              </a:xfrm>
              <a:prstGeom prst="rect">
                <a:avLst/>
              </a:prstGeom>
              <a:blipFill>
                <a:blip r:embed="rId2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29105" y="1730632"/>
                <a:ext cx="253530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1730632"/>
                <a:ext cx="253530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529105" y="2229022"/>
                <a:ext cx="2432012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2229022"/>
                <a:ext cx="2432012" cy="6109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9024789" y="2294219"/>
                <a:ext cx="17808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sv-SE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sv-SE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density</a:t>
                </a:r>
                <a:r>
                  <a:rPr lang="sv-SE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sv-SE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sv-SE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air</a:t>
                </a:r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789" y="2294219"/>
                <a:ext cx="1780872" cy="369332"/>
              </a:xfrm>
              <a:prstGeom prst="rect">
                <a:avLst/>
              </a:prstGeom>
              <a:blipFill>
                <a:blip r:embed="rId5"/>
                <a:stretch>
                  <a:fillRect t="-8197" r="-2389" b="-245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529105" y="3054866"/>
                <a:ext cx="207781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3054866"/>
                <a:ext cx="2077812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8269059" y="2923058"/>
                <a:ext cx="347755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v-SE" b="0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:r>
                  <a:rPr lang="sv-SE" b="0" i="0" dirty="0" err="1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uphill</a:t>
                </a:r>
                <a:r>
                  <a:rPr lang="sv-SE" b="0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or </a:t>
                </a:r>
                <a:r>
                  <a:rPr lang="sv-SE" b="0" i="0" dirty="0" err="1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downhill</a:t>
                </a:r>
                <a:r>
                  <a:rPr lang="sv-SE" b="0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sv-SE" b="0" i="0" dirty="0" err="1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slopes</a:t>
                </a:r>
                <a:r>
                  <a:rPr lang="sv-SE" b="0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sv-SE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angle</a:t>
                </a:r>
                <a:r>
                  <a:rPr lang="sv-SE" b="0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9059" y="2923058"/>
                <a:ext cx="3477555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29105" y="3807044"/>
                <a:ext cx="12412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3807044"/>
                <a:ext cx="1241237" cy="369332"/>
              </a:xfrm>
              <a:prstGeom prst="rect">
                <a:avLst/>
              </a:prstGeom>
              <a:blipFill>
                <a:blip r:embed="rId8"/>
                <a:stretch>
                  <a:fillRect r="-1674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4785708" y="5616832"/>
                <a:ext cx="1650772" cy="5666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𝐸𝑀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𝑇𝑇𝐹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708" y="5616832"/>
                <a:ext cx="1650772" cy="5666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32862" y="1860974"/>
            <a:ext cx="4492196" cy="275711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94767" y="4618089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*[3]</a:t>
            </a:r>
            <a:endParaRPr lang="sv-S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578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351490" y="161324"/>
            <a:ext cx="2225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Motor Specifications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1947562" y="586261"/>
              <a:ext cx="8128000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Motor Specifications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Active length (in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𝑚𝑚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275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80495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Outer diameter (in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𝑚𝑚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30000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Base/maximum 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speed 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𝑅𝑃𝑀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2000-3000/7000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Continuous/peak (10s) 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power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k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600/720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Continuous/peak (10s) 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torque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𝑁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.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2500 / </a:t>
                          </a:r>
                          <a:r>
                            <a:rPr lang="sv-SE" sz="1400" b="0" i="0" kern="1200" baseline="0" dirty="0" smtClean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300</a:t>
                          </a:r>
                          <a:r>
                            <a:rPr lang="sv-SE" sz="1400" b="0" i="0" kern="1200" dirty="0" smtClean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9843242"/>
                  </p:ext>
                </p:extLst>
              </p:nvPr>
            </p:nvGraphicFramePr>
            <p:xfrm>
              <a:off x="1947562" y="586261"/>
              <a:ext cx="8128000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Motor Specifications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03279" r="-93343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275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80495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203279" r="-93343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30000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303279" r="-93343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2000-3000/7000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403279" r="-93343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600/720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503279" r="-93343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2500 / </a:t>
                          </a:r>
                          <a:r>
                            <a:rPr lang="sv-SE" sz="1400" b="0" i="0" kern="1200" baseline="0" dirty="0" smtClean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300</a:t>
                          </a:r>
                          <a:r>
                            <a:rPr lang="sv-SE" sz="1400" b="0" i="0" kern="1200" dirty="0" smtClean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3" name="Straight Arrow Connector 2"/>
          <p:cNvCxnSpPr/>
          <p:nvPr/>
        </p:nvCxnSpPr>
        <p:spPr>
          <a:xfrm flipH="1">
            <a:off x="5928154" y="2866906"/>
            <a:ext cx="345989" cy="2038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88988" y="3126398"/>
            <a:ext cx="92243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did not apply the vehicle dynamics to find them, Scania just gave them !!!</a:t>
            </a:r>
          </a:p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Here we do not know the gear ratio, therefore can we change the torque and speed requirements? 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287275" y="3929456"/>
            <a:ext cx="34485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Considerations for Heavy Trucks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72179" y="4383721"/>
            <a:ext cx="10457934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 Torque at Low Speeds: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Heavy-duty trucks often require high torque for initial acceleration and while climbing steep gradients with heavy loads.</a:t>
            </a:r>
          </a:p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Durability and Reliability: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Motors should be designed to withstand continuous heavy usage, varied terrains, and adverse environmental conditions.</a:t>
            </a:r>
          </a:p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Efficiency and Energy Recovery: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Motors capable of regenerative braking can help recover energy during braking, enhancing overall efficiency.</a:t>
            </a:r>
          </a:p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Maintenance and Serviceability: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Motors should be designed for ease of maintenance and servicing to minimize downtime.</a:t>
            </a:r>
            <a:endParaRPr lang="en-US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332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691549" y="112343"/>
            <a:ext cx="2441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Current Types of EMs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37287" y="481675"/>
            <a:ext cx="11242588" cy="60324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Permanent Magnet Synchronous Motor (PMSM):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Providing high-speed capabilities, especially beneficial for cruising, maintaining higher speeds on highways, and offering good efficiency during constant-speed operations.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Offering excellent controllability, and efficiency at higher speeds.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Considerations: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Facing demagnetization issues due to high currents at low speeds or during high torque demands.</a:t>
            </a:r>
          </a:p>
          <a:p>
            <a:pPr lvl="1"/>
            <a:endParaRPr lang="en-US" sz="1600" b="0" i="0" dirty="0" smtClean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Induction Motor: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Having strong torque output at lower speeds complements the requirements. 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Induction motors have robust torque capabilities at low speeds, making them well-suited for heavy-load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Considerations: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They might lack the high-speed capabilities of PMSM motors.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Fixed-speed nature might limit their widespread adoption without additional control systems.</a:t>
            </a:r>
          </a:p>
          <a:p>
            <a:pPr lvl="1"/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Permanent Magnet Assisted Synchronous Reluctance Motors:</a:t>
            </a:r>
          </a:p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be designed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high torque even at low speeds, making them suitable for heavy-load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at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speeds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combined reluctance and permanent magnet design, might mitigate some risks of demagnetization at high currents or low speeds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Considerations: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availability, system complexity, and integration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r>
              <a:rPr lang="en-US" dirty="0" smtClean="0"/>
              <a:t>.</a:t>
            </a:r>
          </a:p>
          <a:p>
            <a:pPr lvl="1"/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Wound Rotor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ynchronous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otors (WRSMs), or Electrically Excited Synchronous Motor (EESMs)  :</a:t>
            </a:r>
          </a:p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Allowing for external control of the rotor winding, enabling variable speed and torque control and high torque output, particularly during starting and low-speed operations.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obustness and ability to handle harsh operating conditions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Considerations:</a:t>
            </a:r>
            <a:r>
              <a:rPr lang="en-US" sz="1600" b="0" i="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Needing brushless exciter (with WPT?) and reduced efficiency due to rotor winding (also cooling?).</a:t>
            </a:r>
          </a:p>
        </p:txBody>
      </p:sp>
    </p:spTree>
    <p:extLst>
      <p:ext uri="{BB962C8B-B14F-4D97-AF65-F5344CB8AC3E}">
        <p14:creationId xmlns:p14="http://schemas.microsoft.com/office/powerpoint/2010/main" val="3178366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450592" y="217376"/>
            <a:ext cx="20741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New Types of EMs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3330" y="896551"/>
            <a:ext cx="6828536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STATOR PM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FLUX MEMORY MACHINES AND HYBRID EXCITATION MACHINES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MAGNETIC GEARED MACHINES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RECONFIGURABLE WINDING MACHINES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87" y="2529833"/>
            <a:ext cx="5015059" cy="30008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930616" y="5455851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*[4]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255" y="2687594"/>
            <a:ext cx="3731506" cy="29213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27925" y="5530689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*[5]</a:t>
            </a:r>
            <a:endParaRPr lang="sv-S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603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27311" y="80787"/>
            <a:ext cx="26234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 Configurations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56054" y="611660"/>
            <a:ext cx="1020668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 motor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Coupled with front or rear axle via a differential.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Constant gear ratio, quite high, is used to reduce motor torque, resulting in lower motor size.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electrical motor needs a wide operating speed range.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motor should be capable of producing a higher torque, for a short time, in case of an overtaking or a starting from a high ground slope angle.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have motor specifications for continuous (rated) and temporary (peak) torque. 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282513" y="2826099"/>
            <a:ext cx="6179" cy="3990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65420" y="3225114"/>
            <a:ext cx="8717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achieve a wide range of speeds, PMSM or EESM is suitable.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PMSM  has higher efficiency and is less complex, but demagnetization risk at the starting torque.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EESM has high torque at starting, but rotor cooling is problematic and efficiency is lower. 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783508" y="5524720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*[2]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7581" y="4598891"/>
            <a:ext cx="3105073" cy="222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988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27311" y="80787"/>
            <a:ext cx="26234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 Configurations</a:t>
            </a:r>
            <a:endParaRPr lang="sv-SE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56054" y="611660"/>
            <a:ext cx="1020668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Dual motor 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*[6]</a:t>
            </a:r>
          </a:p>
          <a:p>
            <a:endParaRPr lang="en-US" b="1" dirty="0" smtClean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is practically impossible to optimize based on the whole torque-speed profile and especially when partial loads and overload conditions are considered in the problem formulation. (with inclusion of drive cycle)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 propulsion machines, with complimentary torque-speed characteristics, can be coupled to the same shaft via a torque/speed coupler that could be deployed in the EV powertrain.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potential merit of using two propulsion machines is the improved powertrain efficiency and effective load power split.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Another advantage of using two complementary propulsion machines, instead of a single large machine, is that the space under the hood can be effectively utilized.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5418437" y="3812299"/>
            <a:ext cx="6179" cy="3990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77329" y="4318843"/>
            <a:ext cx="1037349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US" sz="1400" b="1" i="0" dirty="0" smtClean="0">
                <a:effectLst/>
                <a:latin typeface="Söhne"/>
              </a:rPr>
              <a:t>Permanent Magnet Synchronous Motor (PMSM) for High-Speed Performance:</a:t>
            </a:r>
            <a:endParaRPr lang="en-US" sz="1400" b="0" i="0" dirty="0" smtClean="0">
              <a:effectLst/>
              <a:latin typeface="Söhne"/>
            </a:endParaRPr>
          </a:p>
          <a:p>
            <a:pPr lvl="1"/>
            <a:r>
              <a:rPr lang="en-US" sz="1400" b="1" i="0" dirty="0" smtClean="0">
                <a:effectLst/>
                <a:latin typeface="Söhne"/>
              </a:rPr>
              <a:t>Considerations:</a:t>
            </a:r>
            <a:r>
              <a:rPr lang="en-US" sz="1400" b="0" i="0" dirty="0" smtClean="0">
                <a:effectLst/>
                <a:latin typeface="Söhne"/>
              </a:rPr>
              <a:t> These motors might face demagnetization issues due to high currents at low speeds or during high torque demands. Therefore, using them for high-speed operations where torque requirements are lower can mitigate this issue.</a:t>
            </a:r>
          </a:p>
          <a:p>
            <a:pPr>
              <a:buFont typeface="+mj-lt"/>
              <a:buAutoNum type="arabicPeriod"/>
            </a:pPr>
            <a:r>
              <a:rPr lang="en-US" sz="1400" b="1" i="0" dirty="0" smtClean="0">
                <a:effectLst/>
                <a:latin typeface="Söhne"/>
              </a:rPr>
              <a:t>Induction Motor for High Torque at Low Speeds: </a:t>
            </a:r>
            <a:endParaRPr lang="en-US" sz="1400" b="0" i="0" dirty="0" smtClean="0">
              <a:effectLst/>
              <a:latin typeface="Söhne"/>
            </a:endParaRPr>
          </a:p>
          <a:p>
            <a:pPr lvl="1"/>
            <a:r>
              <a:rPr lang="en-US" sz="1400" b="1" i="0" dirty="0" smtClean="0">
                <a:effectLst/>
                <a:latin typeface="Söhne"/>
              </a:rPr>
              <a:t>Considerations:</a:t>
            </a:r>
            <a:r>
              <a:rPr lang="en-US" sz="1400" b="0" i="0" dirty="0" smtClean="0">
                <a:effectLst/>
                <a:latin typeface="Söhne"/>
              </a:rPr>
              <a:t> While they might lack the high-speed capabilities of PMSM motors, their strong torque output at lower speeds complements the requirements for heavy-duty trucks during start-up, inclines, and low-speed maneuvers.</a:t>
            </a:r>
          </a:p>
          <a:p>
            <a:pPr>
              <a:buFont typeface="+mj-lt"/>
              <a:buAutoNum type="arabicPeriod"/>
            </a:pPr>
            <a:r>
              <a:rPr lang="en-US" sz="1400" b="1" i="0" dirty="0" smtClean="0">
                <a:effectLst/>
                <a:latin typeface="Söhne"/>
              </a:rPr>
              <a:t>Electrically Excited Synchronous Motor (EESMs)  :</a:t>
            </a:r>
          </a:p>
          <a:p>
            <a:pPr lvl="1"/>
            <a:r>
              <a:rPr lang="en-US" sz="1400" b="1" i="0" dirty="0" smtClean="0">
                <a:effectLst/>
                <a:latin typeface="Söhne"/>
              </a:rPr>
              <a:t>Considerations:</a:t>
            </a:r>
            <a:r>
              <a:rPr lang="en-US" sz="1400" b="0" i="0" dirty="0" smtClean="0">
                <a:effectLst/>
                <a:latin typeface="Söhne"/>
              </a:rPr>
              <a:t> T</a:t>
            </a:r>
            <a:r>
              <a:rPr lang="en-US" sz="1400" dirty="0" smtClean="0"/>
              <a:t>hese </a:t>
            </a:r>
            <a:r>
              <a:rPr lang="en-US" sz="1400" dirty="0"/>
              <a:t>motors can provide high torque output, particularly during starting and low-speed operations, making them suitable for heavy-duty applications that demand strong torque at lower speeds.</a:t>
            </a:r>
            <a:endParaRPr lang="en-US" sz="1400" b="0" i="0" dirty="0">
              <a:effectLst/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1401147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47165" y="291069"/>
            <a:ext cx="6094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b="1" dirty="0" err="1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Efficiency</a:t>
            </a:r>
            <a:r>
              <a:rPr lang="sv-SE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b="1" dirty="0" err="1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r>
              <a:rPr lang="sv-SE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b="1" dirty="0" err="1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Dual-Motor </a:t>
            </a:r>
            <a:r>
              <a:rPr lang="sv-SE" b="1" dirty="0" err="1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Coupling</a:t>
            </a:r>
            <a:r>
              <a:rPr lang="sv-SE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 </a:t>
            </a:r>
            <a:r>
              <a:rPr lang="sv-SE" b="1" dirty="0" err="1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Powertrain</a:t>
            </a:r>
            <a:r>
              <a:rPr lang="sv-SE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sv-SE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840011" y="291069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*[7]</a:t>
            </a:r>
            <a:endParaRPr lang="sv-SE" dirty="0">
              <a:solidFill>
                <a:srgbClr val="FF000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7860" y="887797"/>
            <a:ext cx="55523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lanetary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gear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unit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couples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speed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motors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haft-fixed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gear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unit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couples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motors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60" y="1844040"/>
            <a:ext cx="4259118" cy="330708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260" y="1412208"/>
            <a:ext cx="4564380" cy="39034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7860" y="5949434"/>
            <a:ext cx="1062022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engaging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disengaging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clutches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setting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operate in four modes to satisfy the demands of different running conditions, thereby improving the energy utilization efficiency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627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12610" y="290728"/>
            <a:ext cx="95707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Optimization of a Dual-Motor Coupled Powertrain Energy Management Strategy for a Battery Electric Bus Based on Dynamic Programming Method</a:t>
            </a:r>
            <a:endParaRPr lang="sv-SE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1095531" y="383402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*[8]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03" y="1417320"/>
            <a:ext cx="6583442" cy="349091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186" y="1417320"/>
            <a:ext cx="4509511" cy="3230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9159" y="5287417"/>
            <a:ext cx="1019637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motor (M1) and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auxiliary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motor (M2)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coupled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 a common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axis</a:t>
            </a:r>
            <a:r>
              <a:rPr lang="sv-S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1425" y="5835879"/>
            <a:ext cx="45169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M1= T= 2100N.m, base speed = 600RPM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731424" y="6215064"/>
            <a:ext cx="45169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M2= T= 900N.m, base speed = 1200RPM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665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12610" y="290728"/>
            <a:ext cx="95707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Split Control Strategy for an EV Powertrain With Two Propulsion Machines</a:t>
            </a:r>
            <a:endParaRPr lang="sv-SE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866931" y="290728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*[6]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80" y="934720"/>
            <a:ext cx="5884018" cy="3258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6760" y="4448382"/>
            <a:ext cx="56794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atteries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have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relatively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energy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density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Ultra-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capacitors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(UCs), on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hand,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have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density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excellent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instantaneous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charging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discharging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6760" y="5369461"/>
            <a:ext cx="557784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M1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operate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at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efficiency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under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M2 operates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efficiency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at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implying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complementary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operation features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propulsion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machines</a:t>
            </a:r>
            <a:r>
              <a:rPr lang="sv-SE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v-SE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142" y="1226820"/>
            <a:ext cx="4280458" cy="537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540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12610" y="290728"/>
            <a:ext cx="95707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Novel Dual-Motor Two-Speed Direct Drive Battery Electric Vehicle Drivetrain</a:t>
            </a:r>
            <a:endParaRPr lang="sv-SE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866931" y="290728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*[9]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5" y="660060"/>
            <a:ext cx="6727248" cy="3886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63196" y="4546260"/>
            <a:ext cx="4791075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dirty="0" err="1"/>
              <a:t>T</a:t>
            </a:r>
            <a:r>
              <a:rPr lang="sv-SE" dirty="0" err="1" smtClean="0"/>
              <a:t>wo</a:t>
            </a:r>
            <a:r>
              <a:rPr lang="sv-SE" dirty="0" smtClean="0"/>
              <a:t> </a:t>
            </a:r>
            <a:r>
              <a:rPr lang="sv-SE" dirty="0" err="1" smtClean="0"/>
              <a:t>smaller</a:t>
            </a:r>
            <a:r>
              <a:rPr lang="sv-SE" dirty="0" smtClean="0"/>
              <a:t> motors </a:t>
            </a:r>
            <a:r>
              <a:rPr lang="sv-SE" dirty="0" err="1" smtClean="0"/>
              <a:t>with</a:t>
            </a:r>
            <a:r>
              <a:rPr lang="sv-SE" dirty="0" smtClean="0"/>
              <a:t> </a:t>
            </a:r>
            <a:r>
              <a:rPr lang="sv-SE" dirty="0" err="1" smtClean="0"/>
              <a:t>approximate</a:t>
            </a:r>
            <a:r>
              <a:rPr lang="sv-SE" dirty="0" smtClean="0"/>
              <a:t> same total output </a:t>
            </a:r>
            <a:r>
              <a:rPr lang="sv-SE" dirty="0" err="1" smtClean="0"/>
              <a:t>power</a:t>
            </a:r>
            <a:r>
              <a:rPr lang="sv-SE" dirty="0" smtClean="0"/>
              <a:t> in </a:t>
            </a:r>
            <a:r>
              <a:rPr lang="sv-SE" dirty="0" err="1" smtClean="0"/>
              <a:t>this</a:t>
            </a:r>
            <a:r>
              <a:rPr lang="sv-SE" dirty="0" smtClean="0"/>
              <a:t> paper to </a:t>
            </a:r>
            <a:r>
              <a:rPr lang="sv-SE" dirty="0" err="1" smtClean="0"/>
              <a:t>improve</a:t>
            </a:r>
            <a:r>
              <a:rPr lang="sv-SE" dirty="0" smtClean="0"/>
              <a:t> overall motor </a:t>
            </a:r>
            <a:r>
              <a:rPr lang="sv-SE" dirty="0" err="1" smtClean="0"/>
              <a:t>efficiency</a:t>
            </a:r>
            <a:r>
              <a:rPr lang="sv-SE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</a:t>
            </a:r>
            <a:r>
              <a:rPr lang="en-US" dirty="0" smtClean="0"/>
              <a:t>ermanently engaged gear pairs, rather than implicating mechanical shifting actuator, i.e. clutch or synchronizer.</a:t>
            </a:r>
            <a:endParaRPr lang="sv-SE" dirty="0" smtClean="0"/>
          </a:p>
          <a:p>
            <a:endParaRPr lang="sv-SE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rcRect l="4076"/>
          <a:stretch/>
        </p:blipFill>
        <p:spPr>
          <a:xfrm>
            <a:off x="6790847" y="718318"/>
            <a:ext cx="4238625" cy="312193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0847" y="3589520"/>
            <a:ext cx="3992483" cy="315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4753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12610" y="290728"/>
            <a:ext cx="95707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err="1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Transmotor</a:t>
            </a:r>
            <a:r>
              <a:rPr lang="en-US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-Based Powertrain for High-Performance Electric Vehicle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66931" y="290728"/>
            <a:ext cx="6751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*[10]</a:t>
            </a:r>
            <a:endParaRPr lang="sv-SE" dirty="0">
              <a:solidFill>
                <a:srgbClr val="FF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13" y="1190624"/>
            <a:ext cx="5848710" cy="340994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38975" y="1190624"/>
            <a:ext cx="436245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output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determined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by the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current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the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electrical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port (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located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 the inner rotor).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produced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 the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shafts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equal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but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opposite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(action and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reaction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speed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mechanical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ports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be different, so the input and output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mechanical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powers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not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necessarily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equal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85559" y="5152172"/>
            <a:ext cx="89109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he maximum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torque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be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available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at a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larger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speed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range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?? Hill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Climbing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???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024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 smtClean="0"/>
              <a:t>[1] Design Approaches and Control Strategies for Energy-Efficient Electric Machines for Electric Vehicles—A Review</a:t>
            </a:r>
            <a:endParaRPr lang="en-US" sz="1600" dirty="0"/>
          </a:p>
          <a:p>
            <a:r>
              <a:rPr lang="en-US" sz="1600" dirty="0" smtClean="0"/>
              <a:t>[2] Fast Adaptive Evolutionary PM Traction Motor Optimization Based on Electric Vehicle Drive Cycle</a:t>
            </a:r>
            <a:endParaRPr lang="en-US" sz="1600" dirty="0"/>
          </a:p>
          <a:p>
            <a:r>
              <a:rPr lang="en-US" sz="1600" dirty="0" smtClean="0"/>
              <a:t>[3] Hill-start of Distributed Drive Electric Vehicle Based on Pneumatic Electronic Parking Brake System</a:t>
            </a:r>
          </a:p>
          <a:p>
            <a:r>
              <a:rPr lang="en-US" sz="1600" dirty="0" smtClean="0"/>
              <a:t>[4] Design Approaches and Control Strategies for Energy-Efficient Electric Machines for Electric Vehicles—A Review</a:t>
            </a:r>
          </a:p>
          <a:p>
            <a:r>
              <a:rPr lang="en-US" sz="1600" dirty="0" smtClean="0"/>
              <a:t>[5] A Reconfigurable-Winding System for Electric Vehicle Drive Applications</a:t>
            </a:r>
          </a:p>
          <a:p>
            <a:r>
              <a:rPr lang="en-US" sz="1600" dirty="0" smtClean="0"/>
              <a:t>[6] Power Split Control Strategy for an EV Powertrain With Two Propulsion Machines</a:t>
            </a:r>
          </a:p>
          <a:p>
            <a:r>
              <a:rPr lang="en-US" sz="1600" dirty="0" smtClean="0"/>
              <a:t>[7] Efficiency Study of a Dual-Motor Coupling EV Powertrain</a:t>
            </a:r>
          </a:p>
          <a:p>
            <a:r>
              <a:rPr lang="en-US" sz="1600" dirty="0" smtClean="0"/>
              <a:t>[8] Optimization of a Dual-Motor Coupled Powertrain Energy Management Strategy for a Battery Electric Bus Based on Dynamic Programming Method</a:t>
            </a:r>
          </a:p>
          <a:p>
            <a:r>
              <a:rPr lang="en-US" sz="1600" dirty="0" smtClean="0"/>
              <a:t>[9] A Novel Dual-Motor Two-Speed Direct Drive Battery Electric Vehicle Drivetrain</a:t>
            </a:r>
          </a:p>
          <a:p>
            <a:r>
              <a:rPr lang="en-US" sz="1600" dirty="0" smtClean="0"/>
              <a:t>[10] </a:t>
            </a:r>
            <a:r>
              <a:rPr lang="en-US" sz="1600" dirty="0" err="1" smtClean="0"/>
              <a:t>Transmotor</a:t>
            </a:r>
            <a:r>
              <a:rPr lang="en-US" sz="1600" dirty="0" smtClean="0"/>
              <a:t>-Based Powertrain for High-Performance Electric Vehicle</a:t>
            </a:r>
          </a:p>
        </p:txBody>
      </p:sp>
    </p:spTree>
    <p:extLst>
      <p:ext uri="{BB962C8B-B14F-4D97-AF65-F5344CB8AC3E}">
        <p14:creationId xmlns:p14="http://schemas.microsoft.com/office/powerpoint/2010/main" val="1504532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Optimization : </a:t>
            </a:r>
            <a:r>
              <a:rPr lang="en-US" dirty="0" err="1" smtClean="0"/>
              <a:t>GearBox</a:t>
            </a:r>
            <a:r>
              <a:rPr lang="en-US" dirty="0" smtClean="0"/>
              <a:t>-EM</a:t>
            </a:r>
            <a:endParaRPr lang="sv-S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Enes Ayaz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8030332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157416" y="477795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Batteries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910016" y="477795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269525" y="615089"/>
            <a:ext cx="6404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4" idx="2"/>
          </p:cNvCxnSpPr>
          <p:nvPr/>
        </p:nvCxnSpPr>
        <p:spPr>
          <a:xfrm flipH="1">
            <a:off x="1713470" y="984423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4022125" y="615089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3479458" y="984423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487563" y="477794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E-motor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5599672" y="615089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065110" y="477793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Gearbox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42657" y="477793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Vehicle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/>
          <p:cNvCxnSpPr/>
          <p:nvPr/>
        </p:nvCxnSpPr>
        <p:spPr>
          <a:xfrm flipH="1">
            <a:off x="5043616" y="984423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6607773" y="984421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>
            <a:off x="8204881" y="984421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660470" y="581219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0470" y="581219"/>
                <a:ext cx="31509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/>
          <p:cNvSpPr/>
          <p:nvPr/>
        </p:nvSpPr>
        <p:spPr>
          <a:xfrm>
            <a:off x="9236804" y="477793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Cycle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2269525" y="818975"/>
            <a:ext cx="6404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2407991" y="382024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991" y="382024"/>
                <a:ext cx="262594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2377632" y="576070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7632" y="576070"/>
                <a:ext cx="3058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/>
          <p:cNvCxnSpPr/>
          <p:nvPr/>
        </p:nvCxnSpPr>
        <p:spPr>
          <a:xfrm>
            <a:off x="4028824" y="841170"/>
            <a:ext cx="458739" cy="3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4101928" y="382024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1928" y="382024"/>
                <a:ext cx="262594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071569" y="576070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1569" y="576070"/>
                <a:ext cx="3058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 flipV="1">
            <a:off x="5586273" y="818975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5693959" y="345752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3959" y="345752"/>
                <a:ext cx="25636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/>
          <p:cNvCxnSpPr/>
          <p:nvPr/>
        </p:nvCxnSpPr>
        <p:spPr>
          <a:xfrm flipV="1">
            <a:off x="7183919" y="615088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7244717" y="581218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4717" y="581218"/>
                <a:ext cx="315092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/>
          <p:cNvCxnSpPr/>
          <p:nvPr/>
        </p:nvCxnSpPr>
        <p:spPr>
          <a:xfrm flipV="1">
            <a:off x="7170520" y="818974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278206" y="345751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206" y="345751"/>
                <a:ext cx="25636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/>
          <p:cNvSpPr/>
          <p:nvPr/>
        </p:nvSpPr>
        <p:spPr>
          <a:xfrm>
            <a:off x="1157416" y="1287161"/>
            <a:ext cx="7597350" cy="43866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Losses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8776465" y="618397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8837263" y="584527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263" y="584527"/>
                <a:ext cx="31509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/>
          <p:cNvCxnSpPr/>
          <p:nvPr/>
        </p:nvCxnSpPr>
        <p:spPr>
          <a:xfrm flipV="1">
            <a:off x="8763066" y="822283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8870752" y="349060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0752" y="349060"/>
                <a:ext cx="256367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9809" y="3136890"/>
            <a:ext cx="4569307" cy="22326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04547" y="5163954"/>
            <a:ext cx="4560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We do not have altitude information, so we cannot achieve </a:t>
            </a:r>
            <a:r>
              <a:rPr lang="en-US" b="1" dirty="0" smtClean="0"/>
              <a:t>low-speed climbing </a:t>
            </a:r>
            <a:r>
              <a:rPr lang="en-US" dirty="0" smtClean="0"/>
              <a:t>torque ??</a:t>
            </a:r>
            <a:endParaRPr lang="sv-SE" dirty="0"/>
          </a:p>
        </p:txBody>
      </p:sp>
      <p:sp>
        <p:nvSpPr>
          <p:cNvPr id="48" name="Rectangle 47"/>
          <p:cNvSpPr/>
          <p:nvPr/>
        </p:nvSpPr>
        <p:spPr>
          <a:xfrm>
            <a:off x="4928854" y="2054060"/>
            <a:ext cx="247340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Drive Cycle</a:t>
            </a:r>
            <a:endParaRPr lang="sv-SE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47371" y="2353373"/>
            <a:ext cx="411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peed and Torque (Output of Gearbox) </a:t>
            </a:r>
            <a:endParaRPr lang="sv-SE" dirty="0"/>
          </a:p>
        </p:txBody>
      </p:sp>
      <p:sp>
        <p:nvSpPr>
          <p:cNvPr id="53" name="TextBox 52"/>
          <p:cNvSpPr txBox="1"/>
          <p:nvPr/>
        </p:nvSpPr>
        <p:spPr>
          <a:xfrm>
            <a:off x="8508357" y="2592024"/>
            <a:ext cx="2766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Example Ideal </a:t>
            </a:r>
            <a:r>
              <a:rPr lang="en-US" dirty="0"/>
              <a:t>Drive </a:t>
            </a:r>
            <a:r>
              <a:rPr lang="en-US" dirty="0" smtClean="0"/>
              <a:t>Cycle</a:t>
            </a:r>
            <a:endParaRPr lang="sv-SE" dirty="0"/>
          </a:p>
        </p:txBody>
      </p:sp>
      <p:pic>
        <p:nvPicPr>
          <p:cNvPr id="57" name="Picture 5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32" y="2819355"/>
            <a:ext cx="4064845" cy="2286475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3289186" y="4074378"/>
            <a:ext cx="739638" cy="185397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9" name="Oval 58"/>
          <p:cNvSpPr/>
          <p:nvPr/>
        </p:nvSpPr>
        <p:spPr>
          <a:xfrm>
            <a:off x="2583180" y="4074377"/>
            <a:ext cx="561128" cy="185397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0" name="Oval 59"/>
          <p:cNvSpPr/>
          <p:nvPr/>
        </p:nvSpPr>
        <p:spPr>
          <a:xfrm>
            <a:off x="1969419" y="3858445"/>
            <a:ext cx="561128" cy="308632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1523" y="2922901"/>
            <a:ext cx="2772508" cy="207938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343035" y="5010065"/>
            <a:ext cx="164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Wheel power</a:t>
            </a:r>
            <a:endParaRPr lang="sv-SE" sz="1400" dirty="0"/>
          </a:p>
        </p:txBody>
      </p:sp>
    </p:spTree>
    <p:extLst>
      <p:ext uri="{BB962C8B-B14F-4D97-AF65-F5344CB8AC3E}">
        <p14:creationId xmlns:p14="http://schemas.microsoft.com/office/powerpoint/2010/main" val="3722116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487" y="1357733"/>
            <a:ext cx="5347674" cy="363496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230" y="1701312"/>
            <a:ext cx="4273061" cy="320479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7110" y="152401"/>
            <a:ext cx="1913882" cy="1307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336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754880" y="289560"/>
            <a:ext cx="2407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Motor Size Estimation</a:t>
            </a:r>
            <a:endParaRPr lang="sv-SE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650788" y="981194"/>
                <a:ext cx="6813725" cy="3786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We 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can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use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</a:t>
                </a:r>
                <a:r>
                  <a:rPr lang="sv-SE" dirty="0" err="1">
                    <a:solidFill>
                      <a:srgbClr val="000000"/>
                    </a:solidFill>
                    <a:latin typeface="Yanone Kaffeesatz"/>
                  </a:rPr>
                  <a:t>s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pecific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electric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loading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) and 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magnetic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</a:t>
                </a:r>
                <a:r>
                  <a:rPr lang="sv-SE" dirty="0" err="1" smtClean="0">
                    <a:solidFill>
                      <a:srgbClr val="000000"/>
                    </a:solidFill>
                    <a:latin typeface="Yanone Kaffeesatz"/>
                  </a:rPr>
                  <a:t>loading</a:t>
                </a:r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lang="sv-SE" dirty="0" smtClean="0">
                    <a:solidFill>
                      <a:srgbClr val="000000"/>
                    </a:solidFill>
                    <a:latin typeface="Yanone Kaffeesatz"/>
                  </a:rPr>
                  <a:t>)</a:t>
                </a:r>
                <a:endParaRPr lang="sv-SE" dirty="0">
                  <a:solidFill>
                    <a:srgbClr val="000000"/>
                  </a:solidFill>
                  <a:latin typeface="Yanone Kaffeesatz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88" y="981194"/>
                <a:ext cx="6813725" cy="378630"/>
              </a:xfrm>
              <a:prstGeom prst="rect">
                <a:avLst/>
              </a:prstGeom>
              <a:blipFill>
                <a:blip r:embed="rId2"/>
                <a:stretch>
                  <a:fillRect l="-806" t="-6452" r="-3133" b="-2580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03302" y="1417208"/>
                <a:ext cx="35128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𝑠𝑦𝑠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3302" y="1417208"/>
                <a:ext cx="3512820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967942" y="2502147"/>
                <a:ext cx="152310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=0.959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942" y="2502147"/>
                <a:ext cx="152310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906981" y="2973385"/>
                <a:ext cx="1447599" cy="6164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=60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𝑘𝐴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81" y="2973385"/>
                <a:ext cx="1447599" cy="6164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712670" y="3691742"/>
                <a:ext cx="1836219" cy="37677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=1.05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70" y="3691742"/>
                <a:ext cx="1836219" cy="376770"/>
              </a:xfrm>
              <a:prstGeom prst="rect">
                <a:avLst/>
              </a:prstGeom>
              <a:blipFill>
                <a:blip r:embed="rId6"/>
                <a:stretch>
                  <a:fillRect t="-163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906981" y="4300374"/>
                <a:ext cx="152028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=330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𝑘𝑉𝐴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81" y="4300374"/>
                <a:ext cx="152028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906981" y="4930275"/>
                <a:ext cx="1957907" cy="3843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81" y="4930275"/>
                <a:ext cx="1957907" cy="384336"/>
              </a:xfrm>
              <a:prstGeom prst="rect">
                <a:avLst/>
              </a:prstGeom>
              <a:blipFill>
                <a:blip r:embed="rId8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926268" y="5530493"/>
                <a:ext cx="1577034" cy="6127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𝑠𝑦𝑠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68" y="5530493"/>
                <a:ext cx="1577034" cy="61279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10"/>
          <a:srcRect t="299"/>
          <a:stretch/>
        </p:blipFill>
        <p:spPr>
          <a:xfrm>
            <a:off x="6016122" y="2397369"/>
            <a:ext cx="5105268" cy="3817480"/>
          </a:xfrm>
          <a:prstGeom prst="rect">
            <a:avLst/>
          </a:prstGeom>
        </p:spPr>
      </p:pic>
      <p:cxnSp>
        <p:nvCxnSpPr>
          <p:cNvPr id="20" name="Straight Arrow Connector 19"/>
          <p:cNvCxnSpPr/>
          <p:nvPr/>
        </p:nvCxnSpPr>
        <p:spPr>
          <a:xfrm>
            <a:off x="2667000" y="4068512"/>
            <a:ext cx="800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14918" y="3007711"/>
            <a:ext cx="21524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If an induction machine is utilized, the specific magnetic and specific loadings would be decreased and  S should be raised for the same output power due to its bad power factor</a:t>
            </a:r>
            <a:endParaRPr lang="sv-SE" dirty="0"/>
          </a:p>
        </p:txBody>
      </p:sp>
      <p:cxnSp>
        <p:nvCxnSpPr>
          <p:cNvPr id="23" name="Straight Arrow Connector 22"/>
          <p:cNvCxnSpPr>
            <a:endCxn id="25" idx="1"/>
          </p:cNvCxnSpPr>
          <p:nvPr/>
        </p:nvCxnSpPr>
        <p:spPr>
          <a:xfrm flipV="1">
            <a:off x="2427269" y="1708255"/>
            <a:ext cx="5661281" cy="41091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88550" y="969591"/>
            <a:ext cx="40272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If we select a lower synchronous speed, we might increase the number of poles (that means using the same electrical </a:t>
            </a:r>
            <a:r>
              <a:rPr lang="en-US" dirty="0"/>
              <a:t>frequency every time), enabling a shorter outer diameter (stator diameter).  </a:t>
            </a:r>
            <a:endParaRPr lang="sv-SE" dirty="0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1630779" y="5189220"/>
            <a:ext cx="2567841" cy="9540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98620" y="5981700"/>
            <a:ext cx="229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Inner diameter (rotor diameter)</a:t>
            </a:r>
            <a:endParaRPr lang="sv-SE" dirty="0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48645" y="81961"/>
            <a:ext cx="3064235" cy="89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95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38" y="672612"/>
            <a:ext cx="53340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93723" y="398584"/>
            <a:ext cx="236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Variable pole pairs</a:t>
            </a:r>
            <a:endParaRPr lang="sv-SE" dirty="0"/>
          </a:p>
        </p:txBody>
      </p:sp>
      <p:sp>
        <p:nvSpPr>
          <p:cNvPr id="11" name="TextBox 10"/>
          <p:cNvSpPr txBox="1"/>
          <p:nvPr/>
        </p:nvSpPr>
        <p:spPr>
          <a:xfrm>
            <a:off x="3217985" y="427892"/>
            <a:ext cx="1735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 pole pair</a:t>
            </a:r>
            <a:endParaRPr lang="sv-SE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723" y="672612"/>
            <a:ext cx="5334000" cy="40005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2107" y="5322176"/>
            <a:ext cx="3064235" cy="89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930140" y="236220"/>
            <a:ext cx="2407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Motor Loss Estimation</a:t>
            </a:r>
            <a:endParaRPr lang="sv-SE" b="1" dirty="0"/>
          </a:p>
        </p:txBody>
      </p:sp>
      <p:sp>
        <p:nvSpPr>
          <p:cNvPr id="6" name="Rectangle 5"/>
          <p:cNvSpPr/>
          <p:nvPr/>
        </p:nvSpPr>
        <p:spPr>
          <a:xfrm>
            <a:off x="784860" y="1037569"/>
            <a:ext cx="93040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The EM </a:t>
            </a:r>
            <a:r>
              <a:rPr lang="sv-SE" dirty="0" err="1"/>
              <a:t>power</a:t>
            </a:r>
            <a:r>
              <a:rPr lang="sv-SE" dirty="0"/>
              <a:t> </a:t>
            </a:r>
            <a:r>
              <a:rPr lang="sv-SE" dirty="0" err="1"/>
              <a:t>losses</a:t>
            </a:r>
            <a:r>
              <a:rPr lang="sv-SE" dirty="0"/>
              <a:t> </a:t>
            </a:r>
            <a:r>
              <a:rPr lang="sv-SE" dirty="0" err="1"/>
              <a:t>are</a:t>
            </a:r>
            <a:r>
              <a:rPr lang="sv-SE" dirty="0"/>
              <a:t> </a:t>
            </a:r>
            <a:r>
              <a:rPr lang="sv-SE" dirty="0" err="1"/>
              <a:t>modelled</a:t>
            </a:r>
            <a:r>
              <a:rPr lang="sv-SE" dirty="0"/>
              <a:t> by a second-order </a:t>
            </a:r>
            <a:r>
              <a:rPr lang="sv-SE" dirty="0" err="1"/>
              <a:t>polynomial</a:t>
            </a:r>
            <a:r>
              <a:rPr lang="sv-SE" dirty="0"/>
              <a:t> in the </a:t>
            </a:r>
            <a:r>
              <a:rPr lang="sv-SE" dirty="0" err="1"/>
              <a:t>mechanical</a:t>
            </a:r>
            <a:r>
              <a:rPr lang="sv-SE" dirty="0"/>
              <a:t> </a:t>
            </a:r>
            <a:r>
              <a:rPr lang="sv-SE" dirty="0" err="1"/>
              <a:t>power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499360" y="1585568"/>
                <a:ext cx="4732020" cy="3731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𝐸𝑀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𝐸𝑀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360" y="1585568"/>
                <a:ext cx="4732020" cy="373179"/>
              </a:xfrm>
              <a:prstGeom prst="rect">
                <a:avLst/>
              </a:prstGeom>
              <a:blipFill>
                <a:blip r:embed="rId2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731" y="2748330"/>
            <a:ext cx="3680438" cy="251362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" y="2202180"/>
            <a:ext cx="3916680" cy="293751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3794" y="2205866"/>
            <a:ext cx="3979317" cy="2984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2304448" y="5551925"/>
                <a:ext cx="1407052" cy="9063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0.04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ma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𝑥𝑖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477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den>
                      </m:f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4448" y="5551925"/>
                <a:ext cx="1407052" cy="9063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4270408" y="5551925"/>
                <a:ext cx="1319464" cy="8600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477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0408" y="5551925"/>
                <a:ext cx="1319464" cy="8600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6307317" y="5497316"/>
                <a:ext cx="1389803" cy="9457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−5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𝑏𝑎𝑠𝑒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6000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den>
                      </m:f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7317" y="5497316"/>
                <a:ext cx="1389803" cy="9457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/>
          <p:nvPr/>
        </p:nvCxnSpPr>
        <p:spPr>
          <a:xfrm>
            <a:off x="6886722" y="1782026"/>
            <a:ext cx="2585524" cy="116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78340" y="1309610"/>
            <a:ext cx="20650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We do not include the switching harmonics losses here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756689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754880" y="289560"/>
            <a:ext cx="368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Inverter Size and Loss Estimation</a:t>
            </a:r>
            <a:endParaRPr lang="sv-SE" b="1" dirty="0"/>
          </a:p>
        </p:txBody>
      </p:sp>
      <p:sp>
        <p:nvSpPr>
          <p:cNvPr id="2" name="TextBox 1"/>
          <p:cNvSpPr txBox="1"/>
          <p:nvPr/>
        </p:nvSpPr>
        <p:spPr>
          <a:xfrm>
            <a:off x="480060" y="1074420"/>
            <a:ext cx="9921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inverter is not affected by gear ratio if the DC-link </a:t>
            </a:r>
            <a:r>
              <a:rPr lang="en-US" dirty="0" smtClean="0"/>
              <a:t>voltage and power are the same.   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423030" y="1709816"/>
                <a:ext cx="3238131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𝑒𝑙𝑒𝑐𝑡𝑟𝑖𝑐𝑎𝑙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𝑠𝑦𝑛𝑐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𝑝𝑎𝑖𝑟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3030" y="1709816"/>
                <a:ext cx="3238131" cy="298928"/>
              </a:xfrm>
              <a:prstGeom prst="rect">
                <a:avLst/>
              </a:prstGeom>
              <a:blipFill>
                <a:blip r:embed="rId2"/>
                <a:stretch>
                  <a:fillRect l="-2072" r="-565" b="-24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H="1">
            <a:off x="3967676" y="1984136"/>
            <a:ext cx="7620" cy="518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328194" y="2502296"/>
                <a:ext cx="2117118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𝑒𝑙𝑒𝑐𝑡𝑟𝑖𝑐𝑎𝑙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194" y="2502296"/>
                <a:ext cx="2117118" cy="299249"/>
              </a:xfrm>
              <a:prstGeom prst="rect">
                <a:avLst/>
              </a:prstGeom>
              <a:blipFill>
                <a:blip r:embed="rId3"/>
                <a:stretch>
                  <a:fillRect l="-3458" r="-865" b="-26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5918027" y="2317629"/>
                <a:ext cx="5318760" cy="6685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/>
                  <a:t>We can keep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sv-SE" dirty="0" smtClean="0"/>
                  <a:t> </a:t>
                </a:r>
                <a:r>
                  <a:rPr lang="sv-SE" dirty="0" err="1" smtClean="0"/>
                  <a:t>constant</a:t>
                </a:r>
                <a:r>
                  <a:rPr lang="sv-SE" dirty="0" smtClean="0"/>
                  <a:t>, so the </a:t>
                </a:r>
                <a:r>
                  <a:rPr lang="sv-SE" dirty="0" err="1" smtClean="0"/>
                  <a:t>minumum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switching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frequency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requirement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changes</a:t>
                </a:r>
                <a:r>
                  <a:rPr lang="sv-SE" dirty="0" smtClean="0"/>
                  <a:t>. </a:t>
                </a:r>
                <a:endParaRPr lang="sv-SE" dirty="0"/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027" y="2317629"/>
                <a:ext cx="5318760" cy="668581"/>
              </a:xfrm>
              <a:prstGeom prst="rect">
                <a:avLst/>
              </a:prstGeom>
              <a:blipFill>
                <a:blip r:embed="rId4"/>
                <a:stretch>
                  <a:fillRect l="-1032" t="-3636" b="-1363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" name="Picture 35"/>
          <p:cNvPicPr>
            <a:picLocks noChangeAspect="1"/>
          </p:cNvPicPr>
          <p:nvPr/>
        </p:nvPicPr>
        <p:blipFill rotWithShape="1">
          <a:blip r:embed="rId5"/>
          <a:srcRect t="46287"/>
          <a:stretch/>
        </p:blipFill>
        <p:spPr>
          <a:xfrm>
            <a:off x="741590" y="3713007"/>
            <a:ext cx="4356190" cy="2833727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 rotWithShape="1">
          <a:blip r:embed="rId6"/>
          <a:srcRect t="44670" b="17339"/>
          <a:stretch/>
        </p:blipFill>
        <p:spPr>
          <a:xfrm>
            <a:off x="5553007" y="3713007"/>
            <a:ext cx="5888925" cy="2800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468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646930" y="144928"/>
            <a:ext cx="2948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Gearbox Size Estimation</a:t>
            </a:r>
            <a:endParaRPr lang="sv-SE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18" y="1126703"/>
            <a:ext cx="7969334" cy="4235450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>
          <a:xfrm flipH="1" flipV="1">
            <a:off x="4488180" y="2428453"/>
            <a:ext cx="673100" cy="60960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2830830" y="2612603"/>
            <a:ext cx="1104900" cy="33655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46930" y="2046421"/>
            <a:ext cx="1143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78/25</a:t>
            </a:r>
            <a:endParaRPr lang="sv-SE" sz="2400" b="1" dirty="0">
              <a:solidFill>
                <a:srgbClr val="FF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640330" y="2197620"/>
            <a:ext cx="1143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78/25</a:t>
            </a:r>
            <a:endParaRPr lang="sv-SE" sz="2400" b="1" dirty="0">
              <a:solidFill>
                <a:srgbClr val="FF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56305" y="697820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Tesla </a:t>
            </a:r>
            <a:endParaRPr lang="sv-SE" dirty="0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5252" y="1350022"/>
            <a:ext cx="3622635" cy="3788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2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646930" y="144928"/>
            <a:ext cx="2948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Gearbox Size Estimation</a:t>
            </a:r>
            <a:endParaRPr lang="sv-SE" b="1" dirty="0"/>
          </a:p>
        </p:txBody>
      </p:sp>
      <p:sp>
        <p:nvSpPr>
          <p:cNvPr id="10" name="Rectangle 9"/>
          <p:cNvSpPr/>
          <p:nvPr/>
        </p:nvSpPr>
        <p:spPr>
          <a:xfrm>
            <a:off x="2069851" y="1399024"/>
            <a:ext cx="48772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Gear Ratio Distribution of Electric Vehicle Reducer</a:t>
            </a:r>
            <a:endParaRPr lang="sv-SE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3328273"/>
            <a:ext cx="7418276" cy="249459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334500" y="1883589"/>
            <a:ext cx="18821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 smtClean="0"/>
              <a:t>Spur gear 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 smtClean="0"/>
              <a:t>Helical gear 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 smtClean="0"/>
              <a:t>Ring gear</a:t>
            </a:r>
            <a:endParaRPr lang="sv-SE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2192" y="3039944"/>
            <a:ext cx="3220340" cy="1812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85860" y="4967804"/>
            <a:ext cx="2293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Chevrolet Bolt EV</a:t>
            </a:r>
            <a:endParaRPr lang="sv-SE" dirty="0"/>
          </a:p>
        </p:txBody>
      </p:sp>
      <p:sp>
        <p:nvSpPr>
          <p:cNvPr id="7" name="TextBox 6"/>
          <p:cNvSpPr txBox="1"/>
          <p:nvPr/>
        </p:nvSpPr>
        <p:spPr>
          <a:xfrm>
            <a:off x="845820" y="1839615"/>
            <a:ext cx="3009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Torque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Gear ratio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Material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Usage duty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178106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0" y="320040"/>
            <a:ext cx="3291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Single Stage Gear </a:t>
            </a:r>
            <a:endParaRPr lang="sv-SE" sz="2400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" y="942974"/>
            <a:ext cx="5280660" cy="39604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3020" y="5158740"/>
            <a:ext cx="3543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dirty="0" smtClean="0"/>
              <a:t>he </a:t>
            </a:r>
            <a:r>
              <a:rPr lang="en-US" b="1" dirty="0" smtClean="0"/>
              <a:t>volume</a:t>
            </a:r>
            <a:r>
              <a:rPr lang="en-US" dirty="0" smtClean="0"/>
              <a:t> will be increased </a:t>
            </a:r>
            <a:r>
              <a:rPr lang="en-US" dirty="0" err="1" smtClean="0"/>
              <a:t>quadratically</a:t>
            </a:r>
            <a:r>
              <a:rPr lang="en-US" dirty="0" smtClean="0"/>
              <a:t> if we have a constant aspect ratio and material.  </a:t>
            </a:r>
            <a:endParaRPr lang="sv-SE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781705"/>
            <a:ext cx="5334000" cy="4000500"/>
          </a:xfrm>
          <a:prstGeom prst="rect">
            <a:avLst/>
          </a:prstGeom>
        </p:spPr>
      </p:pic>
      <p:cxnSp>
        <p:nvCxnSpPr>
          <p:cNvPr id="3" name="Straight Arrow Connector 2"/>
          <p:cNvCxnSpPr/>
          <p:nvPr/>
        </p:nvCxnSpPr>
        <p:spPr>
          <a:xfrm flipV="1">
            <a:off x="1148862" y="679938"/>
            <a:ext cx="17584" cy="1371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46184" y="41372"/>
            <a:ext cx="3815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Not realistic values, since I have randomly selected the material !!!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0706957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ZF Electric Axle Driv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9107" y="1074430"/>
            <a:ext cx="3567677" cy="2373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4296507" y="252046"/>
            <a:ext cx="2215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E-axle ??? </a:t>
            </a:r>
            <a:endParaRPr lang="sv-SE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823" y="1354865"/>
            <a:ext cx="3220340" cy="18128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91154" y="1074430"/>
            <a:ext cx="2291861" cy="10474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" name="Rectangle 5"/>
          <p:cNvSpPr/>
          <p:nvPr/>
        </p:nvSpPr>
        <p:spPr>
          <a:xfrm>
            <a:off x="2491154" y="2261276"/>
            <a:ext cx="2291861" cy="10474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" name="Rectangle 6"/>
          <p:cNvSpPr/>
          <p:nvPr/>
        </p:nvSpPr>
        <p:spPr>
          <a:xfrm>
            <a:off x="1740877" y="1307124"/>
            <a:ext cx="650631" cy="200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TextBox 9"/>
          <p:cNvSpPr txBox="1"/>
          <p:nvPr/>
        </p:nvSpPr>
        <p:spPr>
          <a:xfrm>
            <a:off x="2491154" y="3719947"/>
            <a:ext cx="657664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If gear diameters are shorter than the summation of motor diameters and the height of the inverter in the e-axle system, we can increase the gear ratio.  Therefore, the motor diameter is decreased, and there might be a sweet point that they are overlapped.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However, consider that the width </a:t>
            </a:r>
            <a:r>
              <a:rPr lang="en-US" dirty="0"/>
              <a:t>of the </a:t>
            </a:r>
            <a:r>
              <a:rPr lang="en-US" dirty="0" smtClean="0"/>
              <a:t>gearbox is </a:t>
            </a:r>
            <a:r>
              <a:rPr lang="en-US" dirty="0"/>
              <a:t>also increased with the diameter if we use the same </a:t>
            </a:r>
            <a:r>
              <a:rPr lang="en-US" dirty="0" smtClean="0"/>
              <a:t>material and so </a:t>
            </a:r>
            <a:r>
              <a:rPr lang="en-US" dirty="0"/>
              <a:t>the aspect </a:t>
            </a:r>
            <a:r>
              <a:rPr lang="en-US" dirty="0" smtClean="0"/>
              <a:t>ratio.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079173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38416" y="1087395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Batteries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291016" y="1087395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650525" y="1224689"/>
            <a:ext cx="6404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4" idx="2"/>
          </p:cNvCxnSpPr>
          <p:nvPr/>
        </p:nvCxnSpPr>
        <p:spPr>
          <a:xfrm flipH="1">
            <a:off x="2094470" y="1594023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V="1">
            <a:off x="4403125" y="1224689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H="1">
            <a:off x="3860458" y="1594023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868563" y="1087394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E-motor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5980672" y="1224689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46110" y="1087393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Gearbox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23657" y="1087393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Vehicle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Straight Arrow Connector 24"/>
          <p:cNvCxnSpPr/>
          <p:nvPr/>
        </p:nvCxnSpPr>
        <p:spPr>
          <a:xfrm flipH="1">
            <a:off x="5424616" y="1594023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988773" y="1594021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8585881" y="1594021"/>
            <a:ext cx="1" cy="3027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6041470" y="1190819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1470" y="1190819"/>
                <a:ext cx="315092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/>
          <p:cNvSpPr/>
          <p:nvPr/>
        </p:nvSpPr>
        <p:spPr>
          <a:xfrm>
            <a:off x="9617804" y="1087393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Cycle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2650525" y="1428575"/>
            <a:ext cx="6404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2788991" y="991624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8991" y="991624"/>
                <a:ext cx="26259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2758632" y="1185670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632" y="1185670"/>
                <a:ext cx="3058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/>
          <p:cNvCxnSpPr/>
          <p:nvPr/>
        </p:nvCxnSpPr>
        <p:spPr>
          <a:xfrm>
            <a:off x="4409824" y="1450770"/>
            <a:ext cx="458739" cy="3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482928" y="991624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928" y="991624"/>
                <a:ext cx="26259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4452569" y="1185670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569" y="1185670"/>
                <a:ext cx="3058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/>
          <p:cNvCxnSpPr/>
          <p:nvPr/>
        </p:nvCxnSpPr>
        <p:spPr>
          <a:xfrm flipV="1">
            <a:off x="5967273" y="1428575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6074959" y="955352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959" y="955352"/>
                <a:ext cx="25636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/>
          <p:cNvCxnSpPr/>
          <p:nvPr/>
        </p:nvCxnSpPr>
        <p:spPr>
          <a:xfrm flipV="1">
            <a:off x="7564919" y="1224688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7625717" y="1190818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717" y="1190818"/>
                <a:ext cx="315092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/>
          <p:cNvCxnSpPr/>
          <p:nvPr/>
        </p:nvCxnSpPr>
        <p:spPr>
          <a:xfrm flipV="1">
            <a:off x="7551520" y="1428574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7659206" y="955351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9206" y="955351"/>
                <a:ext cx="25636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ctangle 55"/>
          <p:cNvSpPr/>
          <p:nvPr/>
        </p:nvSpPr>
        <p:spPr>
          <a:xfrm>
            <a:off x="1538416" y="1896761"/>
            <a:ext cx="7597350" cy="43866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Losses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2933714" y="359393"/>
            <a:ext cx="62824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Losses</a:t>
            </a:r>
            <a:r>
              <a:rPr lang="sv-SE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sv-SE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nergy </a:t>
            </a:r>
            <a:r>
              <a:rPr lang="sv-S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sv-SE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sv-SE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between</a:t>
            </a:r>
            <a:r>
              <a:rPr lang="sv-SE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sv-SE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rivetrain</a:t>
            </a:r>
            <a:r>
              <a:rPr lang="sv-SE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Components </a:t>
            </a:r>
            <a:r>
              <a:rPr lang="sv-SE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*[1]</a:t>
            </a:r>
            <a:endParaRPr lang="sv-SE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772427" y="6133241"/>
            <a:ext cx="99574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[1] A Simulation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Platform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Electric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Vehicles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Modular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Drivetrain</a:t>
            </a:r>
            <a:r>
              <a:rPr lang="sv-S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Topologies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Straight Arrow Connector 60"/>
          <p:cNvCxnSpPr/>
          <p:nvPr/>
        </p:nvCxnSpPr>
        <p:spPr>
          <a:xfrm flipV="1">
            <a:off x="9157465" y="1227997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/>
              <p:cNvSpPr txBox="1"/>
              <p:nvPr/>
            </p:nvSpPr>
            <p:spPr>
              <a:xfrm>
                <a:off x="9218263" y="1194127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8263" y="1194127"/>
                <a:ext cx="315092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Straight Arrow Connector 62"/>
          <p:cNvCxnSpPr/>
          <p:nvPr/>
        </p:nvCxnSpPr>
        <p:spPr>
          <a:xfrm flipV="1">
            <a:off x="9144066" y="1431883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9251752" y="958660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1752" y="958660"/>
                <a:ext cx="25636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Rectangle 156"/>
          <p:cNvSpPr/>
          <p:nvPr/>
        </p:nvSpPr>
        <p:spPr>
          <a:xfrm>
            <a:off x="1164681" y="3853472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Batteries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9" name="Straight Arrow Connector 158"/>
          <p:cNvCxnSpPr/>
          <p:nvPr/>
        </p:nvCxnSpPr>
        <p:spPr>
          <a:xfrm>
            <a:off x="2276790" y="3990766"/>
            <a:ext cx="6404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157" idx="2"/>
          </p:cNvCxnSpPr>
          <p:nvPr/>
        </p:nvCxnSpPr>
        <p:spPr>
          <a:xfrm>
            <a:off x="1720736" y="4360100"/>
            <a:ext cx="6464" cy="6866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/>
          <p:cNvCxnSpPr/>
          <p:nvPr/>
        </p:nvCxnSpPr>
        <p:spPr>
          <a:xfrm flipV="1">
            <a:off x="4115053" y="4374690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/>
          <p:cNvCxnSpPr>
            <a:stCxn id="200" idx="2"/>
          </p:cNvCxnSpPr>
          <p:nvPr/>
        </p:nvCxnSpPr>
        <p:spPr>
          <a:xfrm>
            <a:off x="3560218" y="3950028"/>
            <a:ext cx="12169" cy="10967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/>
          <p:nvPr/>
        </p:nvCxnSpPr>
        <p:spPr>
          <a:xfrm flipV="1">
            <a:off x="5692600" y="4374690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844897" y="3896689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Vehicle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Straight Arrow Connector 166"/>
          <p:cNvCxnSpPr>
            <a:stCxn id="202" idx="2"/>
          </p:cNvCxnSpPr>
          <p:nvPr/>
        </p:nvCxnSpPr>
        <p:spPr>
          <a:xfrm>
            <a:off x="5130803" y="3950027"/>
            <a:ext cx="5743" cy="1096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204" idx="2"/>
          </p:cNvCxnSpPr>
          <p:nvPr/>
        </p:nvCxnSpPr>
        <p:spPr>
          <a:xfrm flipH="1">
            <a:off x="6700702" y="3950026"/>
            <a:ext cx="43674" cy="10967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/>
          <p:cNvCxnSpPr/>
          <p:nvPr/>
        </p:nvCxnSpPr>
        <p:spPr>
          <a:xfrm>
            <a:off x="8407123" y="4403317"/>
            <a:ext cx="4057" cy="6434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/>
              <p:cNvSpPr txBox="1"/>
              <p:nvPr/>
            </p:nvSpPr>
            <p:spPr>
              <a:xfrm>
                <a:off x="5753398" y="4340820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0" name="TextBox 1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3398" y="4340820"/>
                <a:ext cx="31509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1" name="Rectangle 170"/>
          <p:cNvSpPr/>
          <p:nvPr/>
        </p:nvSpPr>
        <p:spPr>
          <a:xfrm>
            <a:off x="9439044" y="3896689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Cycle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2" name="Straight Arrow Connector 171"/>
          <p:cNvCxnSpPr/>
          <p:nvPr/>
        </p:nvCxnSpPr>
        <p:spPr>
          <a:xfrm>
            <a:off x="2276790" y="4194652"/>
            <a:ext cx="6404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TextBox 172"/>
              <p:cNvSpPr txBox="1"/>
              <p:nvPr/>
            </p:nvSpPr>
            <p:spPr>
              <a:xfrm>
                <a:off x="2415256" y="3757701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3" name="TextBox 1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256" y="3757701"/>
                <a:ext cx="26259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TextBox 173"/>
              <p:cNvSpPr txBox="1"/>
              <p:nvPr/>
            </p:nvSpPr>
            <p:spPr>
              <a:xfrm>
                <a:off x="2384897" y="3951747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4" name="TextBox 1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4897" y="3951747"/>
                <a:ext cx="3058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5" name="Straight Arrow Connector 174"/>
          <p:cNvCxnSpPr/>
          <p:nvPr/>
        </p:nvCxnSpPr>
        <p:spPr>
          <a:xfrm>
            <a:off x="4121752" y="4600771"/>
            <a:ext cx="458739" cy="3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/>
              <p:cNvSpPr txBox="1"/>
              <p:nvPr/>
            </p:nvSpPr>
            <p:spPr>
              <a:xfrm>
                <a:off x="4194856" y="4141625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6" name="TextBox 1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856" y="4141625"/>
                <a:ext cx="26259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/>
              <p:cNvSpPr txBox="1"/>
              <p:nvPr/>
            </p:nvSpPr>
            <p:spPr>
              <a:xfrm>
                <a:off x="4164497" y="4335671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7" name="TextBox 1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4497" y="4335671"/>
                <a:ext cx="3058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/>
          <p:cNvCxnSpPr/>
          <p:nvPr/>
        </p:nvCxnSpPr>
        <p:spPr>
          <a:xfrm flipV="1">
            <a:off x="5679201" y="4578576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/>
              <p:cNvSpPr txBox="1"/>
              <p:nvPr/>
            </p:nvSpPr>
            <p:spPr>
              <a:xfrm>
                <a:off x="5786887" y="4105353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9" name="TextBox 1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887" y="4105353"/>
                <a:ext cx="25636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Straight Arrow Connector 179"/>
          <p:cNvCxnSpPr/>
          <p:nvPr/>
        </p:nvCxnSpPr>
        <p:spPr>
          <a:xfrm flipV="1">
            <a:off x="7386159" y="4033984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/>
              <p:cNvSpPr txBox="1"/>
              <p:nvPr/>
            </p:nvSpPr>
            <p:spPr>
              <a:xfrm>
                <a:off x="7446957" y="4000114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1" name="TextBox 1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6957" y="4000114"/>
                <a:ext cx="31509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Straight Arrow Connector 181"/>
          <p:cNvCxnSpPr/>
          <p:nvPr/>
        </p:nvCxnSpPr>
        <p:spPr>
          <a:xfrm flipV="1">
            <a:off x="7372760" y="4237870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/>
              <p:cNvSpPr txBox="1"/>
              <p:nvPr/>
            </p:nvSpPr>
            <p:spPr>
              <a:xfrm>
                <a:off x="7480446" y="3764647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TextBox 1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446" y="3764647"/>
                <a:ext cx="25636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Rectangle 183"/>
          <p:cNvSpPr/>
          <p:nvPr/>
        </p:nvSpPr>
        <p:spPr>
          <a:xfrm>
            <a:off x="1250344" y="5046762"/>
            <a:ext cx="7597350" cy="43866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Losses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5" name="Straight Arrow Connector 184"/>
          <p:cNvCxnSpPr/>
          <p:nvPr/>
        </p:nvCxnSpPr>
        <p:spPr>
          <a:xfrm flipV="1">
            <a:off x="8978705" y="4037293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TextBox 185"/>
              <p:cNvSpPr txBox="1"/>
              <p:nvPr/>
            </p:nvSpPr>
            <p:spPr>
              <a:xfrm>
                <a:off x="9039503" y="4003423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TextBox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503" y="4003423"/>
                <a:ext cx="315092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7" name="Straight Arrow Connector 186"/>
          <p:cNvCxnSpPr/>
          <p:nvPr/>
        </p:nvCxnSpPr>
        <p:spPr>
          <a:xfrm flipV="1">
            <a:off x="8965306" y="4241179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/>
              <p:cNvSpPr txBox="1"/>
              <p:nvPr/>
            </p:nvSpPr>
            <p:spPr>
              <a:xfrm>
                <a:off x="9072992" y="3767956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8" name="TextBox 1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992" y="3767956"/>
                <a:ext cx="25636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Rectangle 199"/>
          <p:cNvSpPr/>
          <p:nvPr/>
        </p:nvSpPr>
        <p:spPr>
          <a:xfrm>
            <a:off x="3004163" y="3443400"/>
            <a:ext cx="1112109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Inverter-1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1" name="Straight Arrow Connector 200"/>
          <p:cNvCxnSpPr/>
          <p:nvPr/>
        </p:nvCxnSpPr>
        <p:spPr>
          <a:xfrm flipV="1">
            <a:off x="4116272" y="3580694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/>
          <p:cNvSpPr/>
          <p:nvPr/>
        </p:nvSpPr>
        <p:spPr>
          <a:xfrm>
            <a:off x="4555996" y="3443399"/>
            <a:ext cx="1149613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E-motor-1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3" name="Straight Arrow Connector 202"/>
          <p:cNvCxnSpPr/>
          <p:nvPr/>
        </p:nvCxnSpPr>
        <p:spPr>
          <a:xfrm flipV="1">
            <a:off x="5693819" y="3580694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Rectangle 203"/>
          <p:cNvSpPr/>
          <p:nvPr/>
        </p:nvSpPr>
        <p:spPr>
          <a:xfrm>
            <a:off x="6159257" y="3443398"/>
            <a:ext cx="1170237" cy="5066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Gearbox-1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/>
              <p:cNvSpPr txBox="1"/>
              <p:nvPr/>
            </p:nvSpPr>
            <p:spPr>
              <a:xfrm>
                <a:off x="5754617" y="3546824"/>
                <a:ext cx="3150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5" name="TextBox 2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4617" y="3546824"/>
                <a:ext cx="315092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6" name="Straight Arrow Connector 205"/>
          <p:cNvCxnSpPr/>
          <p:nvPr/>
        </p:nvCxnSpPr>
        <p:spPr>
          <a:xfrm>
            <a:off x="4122971" y="3806775"/>
            <a:ext cx="458739" cy="3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/>
              <p:cNvSpPr txBox="1"/>
              <p:nvPr/>
            </p:nvSpPr>
            <p:spPr>
              <a:xfrm>
                <a:off x="4196075" y="3347629"/>
                <a:ext cx="2625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7" name="TextBox 2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6075" y="3347629"/>
                <a:ext cx="26259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/>
              <p:cNvSpPr txBox="1"/>
              <p:nvPr/>
            </p:nvSpPr>
            <p:spPr>
              <a:xfrm>
                <a:off x="4165716" y="3541675"/>
                <a:ext cx="3058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8" name="TextBox 2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716" y="3541675"/>
                <a:ext cx="3058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9" name="Straight Arrow Connector 208"/>
          <p:cNvCxnSpPr/>
          <p:nvPr/>
        </p:nvCxnSpPr>
        <p:spPr>
          <a:xfrm flipV="1">
            <a:off x="5680420" y="3784580"/>
            <a:ext cx="46543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/>
              <p:cNvSpPr txBox="1"/>
              <p:nvPr/>
            </p:nvSpPr>
            <p:spPr>
              <a:xfrm>
                <a:off x="5788106" y="3311357"/>
                <a:ext cx="2563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TextBox 2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8106" y="3311357"/>
                <a:ext cx="256367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Rectangle 157"/>
          <p:cNvSpPr/>
          <p:nvPr/>
        </p:nvSpPr>
        <p:spPr>
          <a:xfrm>
            <a:off x="3002944" y="4237396"/>
            <a:ext cx="1112109" cy="5066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Inverter-2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4565535" y="4237395"/>
            <a:ext cx="1136904" cy="5066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E-motor-2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6158038" y="4237394"/>
            <a:ext cx="1172062" cy="5066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Gearbox-2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2917281" y="3311357"/>
            <a:ext cx="4487016" cy="15717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185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Drive Cycles</a:t>
            </a:r>
            <a:endParaRPr lang="sv-S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Enes Ayaz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1739633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286888" y="298073"/>
              <a:ext cx="812800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 Dynamics</a:t>
                          </a:r>
                          <a:r>
                            <a:rPr lang="en-US" sz="1400" b="1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Coefficients and Parameters</a:t>
                          </a:r>
                          <a:endParaRPr lang="sv-SE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Radius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of wheels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0.52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80495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front area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10.5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30000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Aerodynamic drag coefficient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0.7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Rolling resistance coefficient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b="0" i="1" baseline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𝑟𝑟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mass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𝑀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𝑘𝑔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40000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i="0" kern="1200" noProof="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Coefficient</a:t>
                          </a:r>
                          <a:r>
                            <a:rPr lang="en-US" sz="1400" b="0" i="0" kern="1200" baseline="0" noProof="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of inertia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kern="1200" baseline="0" noProof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oMath>
                          </a14:m>
                          <a:r>
                            <a:rPr lang="en-US" sz="1400" b="0" noProof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US" sz="1400" b="0" noProof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- Mass</a:t>
                          </a:r>
                          <a:r>
                            <a:rPr lang="en-US" sz="14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increase 1.05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95092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i="0" kern="1200" noProof="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Coefficient</a:t>
                          </a:r>
                          <a:r>
                            <a:rPr lang="en-US" sz="1400" b="0" i="0" kern="1200" baseline="0" noProof="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of friction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kern="1200" baseline="0" noProof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Times New Roman" panose="02020603050405020304" pitchFamily="18" charset="0"/>
                                </a:rPr>
                                <m:t>𝜇</m:t>
                              </m:r>
                            </m:oMath>
                          </a14:m>
                          <a:r>
                            <a:rPr lang="en-US" sz="1400" b="0" noProof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en-US" sz="1400" b="0" noProof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0.8 (at initial)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04894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Differential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gear ratio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oMath>
                          </a14:m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311461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6160340"/>
                  </p:ext>
                </p:extLst>
              </p:nvPr>
            </p:nvGraphicFramePr>
            <p:xfrm>
              <a:off x="286888" y="298073"/>
              <a:ext cx="812800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Vehicle Dynamics</a:t>
                          </a:r>
                          <a:r>
                            <a:rPr lang="en-US" sz="1400" b="1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Coefficients and Parameters</a:t>
                          </a:r>
                          <a:endParaRPr lang="sv-SE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101639" r="-93343" b="-7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0.52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80495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201639" r="-93343" b="-6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10.5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30000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301639" r="-93343" b="-5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0.7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401639" r="-93343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501639" r="-93343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40000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601639" r="-93343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- Mass</a:t>
                          </a:r>
                          <a:r>
                            <a:rPr lang="en-US" sz="14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increase 1.05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95092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701639" r="-93343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0.8 (at initial)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04894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5" t="-801639" r="-93343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3114612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286888" y="4723090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Motor Specifications</a:t>
                          </a:r>
                          <a:endParaRPr lang="sv-SE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Base 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speed 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(in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m/s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52 m/s , 187 km/h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Continuous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power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k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 kW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Continuous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torque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𝑁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.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3000 </a:t>
                          </a:r>
                          <a:r>
                            <a:rPr lang="en-US" sz="1400" baseline="0" dirty="0" err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N.m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9727641"/>
                  </p:ext>
                </p:extLst>
              </p:nvPr>
            </p:nvGraphicFramePr>
            <p:xfrm>
              <a:off x="286888" y="4723090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8162">
                      <a:extLst>
                        <a:ext uri="{9D8B030D-6E8A-4147-A177-3AD203B41FA5}">
                          <a16:colId xmlns:a16="http://schemas.microsoft.com/office/drawing/2014/main" val="4288452530"/>
                        </a:ext>
                      </a:extLst>
                    </a:gridCol>
                    <a:gridCol w="3919838">
                      <a:extLst>
                        <a:ext uri="{9D8B030D-6E8A-4147-A177-3AD203B41FA5}">
                          <a16:colId xmlns:a16="http://schemas.microsoft.com/office/drawing/2014/main" val="1103111073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Motor Specifications</a:t>
                          </a:r>
                          <a:endParaRPr lang="sv-SE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481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Base 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speed  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</a:t>
                          </a:r>
                          <a:r>
                            <a:rPr lang="en-US" sz="1400" b="0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m/s</a:t>
                          </a:r>
                          <a:r>
                            <a:rPr lang="en-US" sz="1400" b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sz="1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52 m/s , 187 km/h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47790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5" t="-203279" r="-93343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 kW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059162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5" t="-303279" r="-93343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3000 </a:t>
                          </a:r>
                          <a:r>
                            <a:rPr lang="en-US" sz="1400" baseline="0" dirty="0" err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N.m</a:t>
                          </a:r>
                          <a:endParaRPr lang="sv-SE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2826935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9128" y="3058509"/>
            <a:ext cx="3232345" cy="2044835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10050134" y="2184571"/>
            <a:ext cx="145042" cy="80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45799" y="1261241"/>
            <a:ext cx="19233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From the data that Luca has sent before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1252112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170" y="896822"/>
            <a:ext cx="9848134" cy="2880373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H="1" flipV="1">
            <a:off x="1587843" y="617838"/>
            <a:ext cx="704335" cy="8896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38170" y="248506"/>
            <a:ext cx="1501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90 km/h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06339" y="4056179"/>
            <a:ext cx="3215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Need altitude information?   </a:t>
            </a:r>
            <a:endParaRPr lang="sv-SE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490" y="4546976"/>
            <a:ext cx="2850705" cy="2138029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 flipH="1" flipV="1">
            <a:off x="3836773" y="679622"/>
            <a:ext cx="16477" cy="6620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89189" y="266487"/>
            <a:ext cx="1711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Cruise-high way</a:t>
            </a:r>
            <a:endParaRPr lang="sv-SE" dirty="0"/>
          </a:p>
        </p:txBody>
      </p:sp>
      <p:sp>
        <p:nvSpPr>
          <p:cNvPr id="12" name="TextBox 11"/>
          <p:cNvSpPr txBox="1"/>
          <p:nvPr/>
        </p:nvSpPr>
        <p:spPr>
          <a:xfrm>
            <a:off x="7529384" y="266487"/>
            <a:ext cx="1711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Hill climbing</a:t>
            </a:r>
            <a:endParaRPr lang="sv-SE" dirty="0"/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6221627" y="679622"/>
            <a:ext cx="1760838" cy="11738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71591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69324" y="387348"/>
            <a:ext cx="99636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 </a:t>
            </a:r>
            <a:r>
              <a:rPr lang="sv-SE" b="0" i="0" dirty="0" err="1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Tractive</a:t>
            </a:r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Force= Rolling </a:t>
            </a:r>
            <a:r>
              <a:rPr lang="sv-SE" b="0" i="0" dirty="0" err="1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Resistance</a:t>
            </a:r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sv-SE" b="0" i="0" dirty="0" err="1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Aerodynamic</a:t>
            </a:r>
            <a:r>
              <a:rPr lang="sv-SE" b="0" i="0" dirty="0" smtClean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Drag + Gradient Force + Acceleration Force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154959" y="1093573"/>
                <a:ext cx="2912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𝑇𝑇𝐹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4959" y="1093573"/>
                <a:ext cx="2912271" cy="276999"/>
              </a:xfrm>
              <a:prstGeom prst="rect">
                <a:avLst/>
              </a:prstGeom>
              <a:blipFill>
                <a:blip r:embed="rId2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29105" y="1730632"/>
                <a:ext cx="257057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1730632"/>
                <a:ext cx="2570575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529105" y="2229022"/>
                <a:ext cx="2432012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2229022"/>
                <a:ext cx="2432012" cy="6109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9024789" y="2294219"/>
                <a:ext cx="17808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sv-SE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sv-SE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density</a:t>
                </a:r>
                <a:r>
                  <a:rPr lang="sv-SE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sv-SE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sv-SE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air</a:t>
                </a:r>
                <a:endParaRPr lang="sv-S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789" y="2294219"/>
                <a:ext cx="1780872" cy="369332"/>
              </a:xfrm>
              <a:prstGeom prst="rect">
                <a:avLst/>
              </a:prstGeom>
              <a:blipFill>
                <a:blip r:embed="rId5"/>
                <a:stretch>
                  <a:fillRect t="-8197" r="-2389" b="-245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529105" y="3054866"/>
                <a:ext cx="207781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3054866"/>
                <a:ext cx="2077812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8269059" y="2923058"/>
                <a:ext cx="362374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v-SE" b="1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:r>
                  <a:rPr lang="sv-SE" b="1" i="0" dirty="0" err="1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uphill</a:t>
                </a:r>
                <a:r>
                  <a:rPr lang="sv-SE" b="1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or </a:t>
                </a:r>
                <a:r>
                  <a:rPr lang="sv-SE" b="1" i="0" dirty="0" err="1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downhill</a:t>
                </a:r>
                <a:r>
                  <a:rPr lang="sv-SE" b="1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sv-SE" b="1" i="0" dirty="0" err="1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slopes</a:t>
                </a:r>
                <a:r>
                  <a:rPr lang="sv-SE" b="1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sv-SE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angle</a:t>
                </a:r>
                <a:r>
                  <a:rPr lang="sv-SE" b="1" i="0" dirty="0" smtClean="0">
                    <a:solidFill>
                      <a:srgbClr val="0F0F0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sv-SE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9059" y="2923058"/>
                <a:ext cx="3623749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29105" y="3807044"/>
                <a:ext cx="12412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05" y="3807044"/>
                <a:ext cx="1241237" cy="369332"/>
              </a:xfrm>
              <a:prstGeom prst="rect">
                <a:avLst/>
              </a:prstGeom>
              <a:blipFill>
                <a:blip r:embed="rId8"/>
                <a:stretch>
                  <a:fillRect r="-1674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4785708" y="5616832"/>
                <a:ext cx="1650772" cy="5666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𝐸𝑀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𝑇𝑇𝐹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.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708" y="5616832"/>
                <a:ext cx="1650772" cy="5666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32862" y="1860974"/>
            <a:ext cx="4492196" cy="275711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94767" y="4618089"/>
            <a:ext cx="5581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*[3]</a:t>
            </a:r>
            <a:endParaRPr lang="sv-S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059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1138" y="148108"/>
            <a:ext cx="8800172" cy="351004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6042" y="3790126"/>
            <a:ext cx="9265920" cy="2811913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H="1" flipV="1">
            <a:off x="8773296" y="5313405"/>
            <a:ext cx="562235" cy="6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510250" y="4851740"/>
            <a:ext cx="1484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Regenerative brake efficiency? </a:t>
            </a:r>
            <a:endParaRPr lang="sv-SE" dirty="0"/>
          </a:p>
        </p:txBody>
      </p:sp>
      <p:sp>
        <p:nvSpPr>
          <p:cNvPr id="9" name="Rectangle 8"/>
          <p:cNvSpPr/>
          <p:nvPr/>
        </p:nvSpPr>
        <p:spPr>
          <a:xfrm>
            <a:off x="8349458" y="578698"/>
            <a:ext cx="3806119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 err="1" smtClean="0">
                <a:latin typeface="Arial" panose="020B0604020202020204" pitchFamily="34" charset="0"/>
              </a:rPr>
              <a:t>Powerized</a:t>
            </a:r>
            <a:r>
              <a:rPr lang="en-US" sz="1400" b="1" dirty="0" smtClean="0">
                <a:latin typeface="Arial" panose="020B0604020202020204" pitchFamily="34" charset="0"/>
              </a:rPr>
              <a:t> KPI</a:t>
            </a:r>
          </a:p>
          <a:p>
            <a:endParaRPr lang="en-US" sz="1400" b="1" dirty="0" smtClean="0">
              <a:latin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</a:rPr>
              <a:t>1.Reduce </a:t>
            </a:r>
            <a:r>
              <a:rPr lang="en-US" sz="1400" dirty="0">
                <a:latin typeface="Arial" panose="020B0604020202020204" pitchFamily="34" charset="0"/>
              </a:rPr>
              <a:t>the nominal power losses of </a:t>
            </a:r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>
                <a:latin typeface="Arial" panose="020B0604020202020204" pitchFamily="34" charset="0"/>
              </a:rPr>
              <a:t>the traction inverter from 1% to 0.6</a:t>
            </a:r>
            <a:r>
              <a:rPr lang="en-US" sz="1400" dirty="0" smtClean="0">
                <a:latin typeface="Arial" panose="020B0604020202020204" pitchFamily="34" charset="0"/>
              </a:rPr>
              <a:t>%.</a:t>
            </a:r>
          </a:p>
          <a:p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>
                <a:latin typeface="Arial" panose="020B0604020202020204" pitchFamily="34" charset="0"/>
              </a:rPr>
              <a:t>2. </a:t>
            </a:r>
            <a:r>
              <a:rPr lang="en-US" sz="1400" b="1" dirty="0">
                <a:latin typeface="Arial" panose="020B0604020202020204" pitchFamily="34" charset="0"/>
              </a:rPr>
              <a:t>Reduce losses over the VECTO long-</a:t>
            </a:r>
            <a:r>
              <a:rPr lang="en-US" sz="1400" b="1" dirty="0"/>
              <a:t/>
            </a:r>
            <a:br>
              <a:rPr lang="en-US" sz="1400" b="1" dirty="0"/>
            </a:br>
            <a:r>
              <a:rPr lang="en-US" sz="1400" b="1" dirty="0">
                <a:latin typeface="Arial" panose="020B0604020202020204" pitchFamily="34" charset="0"/>
              </a:rPr>
              <a:t>haul drive cycle from 1.2% to 0.7</a:t>
            </a:r>
            <a:r>
              <a:rPr lang="en-US" sz="1400" b="1" dirty="0" smtClean="0">
                <a:latin typeface="Arial" panose="020B0604020202020204" pitchFamily="34" charset="0"/>
              </a:rPr>
              <a:t>%</a:t>
            </a:r>
          </a:p>
          <a:p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>
                <a:latin typeface="Arial" panose="020B0604020202020204" pitchFamily="34" charset="0"/>
              </a:rPr>
              <a:t>3. Increase the input voltage of the </a:t>
            </a:r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 smtClean="0">
                <a:latin typeface="Arial" panose="020B0604020202020204" pitchFamily="34" charset="0"/>
              </a:rPr>
              <a:t>designed </a:t>
            </a:r>
            <a:r>
              <a:rPr lang="en-US" sz="1400" dirty="0">
                <a:latin typeface="Arial" panose="020B0604020202020204" pitchFamily="34" charset="0"/>
              </a:rPr>
              <a:t>converter from 800V to </a:t>
            </a:r>
            <a:r>
              <a:rPr lang="en-US" sz="1400" dirty="0" smtClean="0">
                <a:latin typeface="Arial" panose="020B0604020202020204" pitchFamily="34" charset="0"/>
              </a:rPr>
              <a:t>1250V</a:t>
            </a:r>
          </a:p>
          <a:p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>
                <a:latin typeface="Arial" panose="020B0604020202020204" pitchFamily="34" charset="0"/>
              </a:rPr>
              <a:t>4. Increase the power density of the </a:t>
            </a:r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>
                <a:latin typeface="Arial" panose="020B0604020202020204" pitchFamily="34" charset="0"/>
              </a:rPr>
              <a:t>traction inverter from 30 kW/l to 50 kW/l</a:t>
            </a:r>
            <a:endParaRPr lang="sv-SE" sz="1400" dirty="0"/>
          </a:p>
        </p:txBody>
      </p:sp>
    </p:spTree>
    <p:extLst>
      <p:ext uri="{BB962C8B-B14F-4D97-AF65-F5344CB8AC3E}">
        <p14:creationId xmlns:p14="http://schemas.microsoft.com/office/powerpoint/2010/main" val="7097409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397" y="290512"/>
            <a:ext cx="10372725" cy="635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1194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099" y="209548"/>
            <a:ext cx="4759961" cy="356997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48614"/>
            <a:ext cx="4381500" cy="32861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520" y="3634739"/>
            <a:ext cx="4221480" cy="3166110"/>
          </a:xfrm>
          <a:prstGeom prst="rect">
            <a:avLst/>
          </a:prstGeom>
        </p:spPr>
      </p:pic>
      <p:cxnSp>
        <p:nvCxnSpPr>
          <p:cNvPr id="3" name="Straight Arrow Connector 2"/>
          <p:cNvCxnSpPr/>
          <p:nvPr/>
        </p:nvCxnSpPr>
        <p:spPr>
          <a:xfrm>
            <a:off x="5301049" y="4028303"/>
            <a:ext cx="4170405" cy="1013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19734" y="4441392"/>
            <a:ext cx="19091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High torque requires acceleration from 0-100km/h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371901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2964</Words>
  <Application>Microsoft Office PowerPoint</Application>
  <PresentationFormat>Widescreen</PresentationFormat>
  <Paragraphs>335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Söhne</vt:lpstr>
      <vt:lpstr>Times New Roman</vt:lpstr>
      <vt:lpstr>Yanone Kaffeesatz</vt:lpstr>
      <vt:lpstr>Office Theme</vt:lpstr>
      <vt:lpstr>Literature : Powertrains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Optimization : GearBox-EM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Drive Cycles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3</cp:revision>
  <dcterms:created xsi:type="dcterms:W3CDTF">2024-10-22T09:21:39Z</dcterms:created>
  <dcterms:modified xsi:type="dcterms:W3CDTF">2024-10-22T09:31:53Z</dcterms:modified>
</cp:coreProperties>
</file>