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6"/>
  </p:notesMasterIdLst>
  <p:sldIdLst>
    <p:sldId id="290" r:id="rId2"/>
    <p:sldId id="268" r:id="rId3"/>
    <p:sldId id="269" r:id="rId4"/>
    <p:sldId id="270" r:id="rId5"/>
    <p:sldId id="271" r:id="rId6"/>
    <p:sldId id="272" r:id="rId7"/>
    <p:sldId id="273" r:id="rId8"/>
    <p:sldId id="274" r:id="rId9"/>
    <p:sldId id="275" r:id="rId10"/>
    <p:sldId id="276" r:id="rId11"/>
    <p:sldId id="277" r:id="rId12"/>
    <p:sldId id="278" r:id="rId13"/>
    <p:sldId id="279" r:id="rId14"/>
    <p:sldId id="280" r:id="rId15"/>
    <p:sldId id="281" r:id="rId16"/>
    <p:sldId id="291" r:id="rId17"/>
    <p:sldId id="257" r:id="rId18"/>
    <p:sldId id="258" r:id="rId19"/>
    <p:sldId id="259" r:id="rId20"/>
    <p:sldId id="260" r:id="rId21"/>
    <p:sldId id="261" r:id="rId22"/>
    <p:sldId id="262" r:id="rId23"/>
    <p:sldId id="263" r:id="rId24"/>
    <p:sldId id="264" r:id="rId25"/>
    <p:sldId id="265" r:id="rId26"/>
    <p:sldId id="266" r:id="rId27"/>
    <p:sldId id="267" r:id="rId28"/>
    <p:sldId id="292" r:id="rId29"/>
    <p:sldId id="284" r:id="rId30"/>
    <p:sldId id="285" r:id="rId31"/>
    <p:sldId id="286" r:id="rId32"/>
    <p:sldId id="287" r:id="rId33"/>
    <p:sldId id="288" r:id="rId34"/>
    <p:sldId id="289" r:id="rId35"/>
  </p:sldIdLst>
  <p:sldSz cx="12192000" cy="6858000"/>
  <p:notesSz cx="6858000" cy="9144000"/>
  <p:defaultTextStyle>
    <a:defPPr>
      <a:defRPr lang="sv-S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1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sv-S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8DA8942-D3E7-47D2-B193-16C279262047}" type="datetimeFigureOut">
              <a:rPr lang="sv-SE" smtClean="0"/>
              <a:t>2024-12-02</a:t>
            </a:fld>
            <a:endParaRPr lang="sv-S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sv-S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sv-S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09CE4F0-6DBC-4634-83D3-8980A8DC089B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2700067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`</a:t>
            </a:r>
            <a:endParaRPr lang="sv-S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FD5BB4-4224-4FCD-86EB-DC6A695B6B5E}" type="slidenum">
              <a:rPr lang="sv-SE" smtClean="0"/>
              <a:t>17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10007858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`</a:t>
            </a:r>
            <a:endParaRPr lang="sv-S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FD5BB4-4224-4FCD-86EB-DC6A695B6B5E}" type="slidenum">
              <a:rPr lang="sv-SE" smtClean="0"/>
              <a:t>18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1141100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sv-S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70FB6C-6EC4-44B1-8567-71A5D118D7C8}" type="datetimeFigureOut">
              <a:rPr lang="sv-SE" smtClean="0"/>
              <a:t>2024-12-02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F82940-D710-4612-95A6-149A62DB143E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5098405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70FB6C-6EC4-44B1-8567-71A5D118D7C8}" type="datetimeFigureOut">
              <a:rPr lang="sv-SE" smtClean="0"/>
              <a:t>2024-12-02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F82940-D710-4612-95A6-149A62DB143E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6362387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70FB6C-6EC4-44B1-8567-71A5D118D7C8}" type="datetimeFigureOut">
              <a:rPr lang="sv-SE" smtClean="0"/>
              <a:t>2024-12-02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F82940-D710-4612-95A6-149A62DB143E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2445105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70FB6C-6EC4-44B1-8567-71A5D118D7C8}" type="datetimeFigureOut">
              <a:rPr lang="sv-SE" smtClean="0"/>
              <a:t>2024-12-02</a:t>
            </a:fld>
            <a:endParaRPr lang="sv-S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F82940-D710-4612-95A6-149A62DB143E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917022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70FB6C-6EC4-44B1-8567-71A5D118D7C8}" type="datetimeFigureOut">
              <a:rPr lang="sv-SE" smtClean="0"/>
              <a:t>2024-12-02</a:t>
            </a:fld>
            <a:endParaRPr lang="sv-S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F82940-D710-4612-95A6-149A62DB143E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42502970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70FB6C-6EC4-44B1-8567-71A5D118D7C8}" type="datetimeFigureOut">
              <a:rPr lang="sv-SE" smtClean="0"/>
              <a:t>2024-12-02</a:t>
            </a:fld>
            <a:endParaRPr lang="sv-S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F82940-D710-4612-95A6-149A62DB143E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4024656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70FB6C-6EC4-44B1-8567-71A5D118D7C8}" type="datetimeFigureOut">
              <a:rPr lang="sv-SE" smtClean="0"/>
              <a:t>2024-12-02</a:t>
            </a:fld>
            <a:endParaRPr lang="sv-S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F82940-D710-4612-95A6-149A62DB143E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4415863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70FB6C-6EC4-44B1-8567-71A5D118D7C8}" type="datetimeFigureOut">
              <a:rPr lang="sv-SE" smtClean="0"/>
              <a:t>2024-12-02</a:t>
            </a:fld>
            <a:endParaRPr lang="sv-S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F82940-D710-4612-95A6-149A62DB143E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0178953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sv-SE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70FB6C-6EC4-44B1-8567-71A5D118D7C8}" type="datetimeFigureOut">
              <a:rPr lang="sv-SE" smtClean="0"/>
              <a:t>2024-12-02</a:t>
            </a:fld>
            <a:endParaRPr lang="sv-S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F82940-D710-4612-95A6-149A62DB143E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86271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70FB6C-6EC4-44B1-8567-71A5D118D7C8}" type="datetimeFigureOut">
              <a:rPr lang="sv-SE" smtClean="0"/>
              <a:t>2024-12-02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F82940-D710-4612-95A6-149A62DB143E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0642623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70FB6C-6EC4-44B1-8567-71A5D118D7C8}" type="datetimeFigureOut">
              <a:rPr lang="sv-SE" smtClean="0"/>
              <a:t>2024-12-02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F82940-D710-4612-95A6-149A62DB143E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4809484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70FB6C-6EC4-44B1-8567-71A5D118D7C8}" type="datetimeFigureOut">
              <a:rPr lang="sv-SE" smtClean="0"/>
              <a:t>2024-12-02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sv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F82940-D710-4612-95A6-149A62DB143E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6015328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sv-S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NULL"/><Relationship Id="rId3" Type="http://schemas.openxmlformats.org/officeDocument/2006/relationships/image" Target="NULL"/><Relationship Id="rId7" Type="http://schemas.openxmlformats.org/officeDocument/2006/relationships/image" Target="NULL"/><Relationship Id="rId2" Type="http://schemas.openxmlformats.org/officeDocument/2006/relationships/image" Target="NULL"/><Relationship Id="rId1" Type="http://schemas.openxmlformats.org/officeDocument/2006/relationships/slideLayout" Target="../slideLayouts/slideLayout2.xml"/><Relationship Id="rId6" Type="http://schemas.openxmlformats.org/officeDocument/2006/relationships/image" Target="NULL"/><Relationship Id="rId5" Type="http://schemas.openxmlformats.org/officeDocument/2006/relationships/image" Target="NULL"/><Relationship Id="rId10" Type="http://schemas.openxmlformats.org/officeDocument/2006/relationships/image" Target="../media/image3.png"/><Relationship Id="rId4" Type="http://schemas.openxmlformats.org/officeDocument/2006/relationships/image" Target="NULL"/><Relationship Id="rId9" Type="http://schemas.openxmlformats.org/officeDocument/2006/relationships/image" Target="NUL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NULL"/><Relationship Id="rId3" Type="http://schemas.openxmlformats.org/officeDocument/2006/relationships/image" Target="NULL"/><Relationship Id="rId7" Type="http://schemas.openxmlformats.org/officeDocument/2006/relationships/image" Target="NULL"/><Relationship Id="rId12" Type="http://schemas.openxmlformats.org/officeDocument/2006/relationships/image" Target="../media/image1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NULL"/><Relationship Id="rId11" Type="http://schemas.openxmlformats.org/officeDocument/2006/relationships/image" Target="../media/image17.png"/><Relationship Id="rId5" Type="http://schemas.openxmlformats.org/officeDocument/2006/relationships/image" Target="NULL"/><Relationship Id="rId10" Type="http://schemas.openxmlformats.org/officeDocument/2006/relationships/image" Target="../media/image16.png"/><Relationship Id="rId4" Type="http://schemas.openxmlformats.org/officeDocument/2006/relationships/image" Target="NULL"/><Relationship Id="rId9" Type="http://schemas.openxmlformats.org/officeDocument/2006/relationships/image" Target="NUL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image" Target="../media/image18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NULL"/><Relationship Id="rId3" Type="http://schemas.openxmlformats.org/officeDocument/2006/relationships/image" Target="NULL"/><Relationship Id="rId7" Type="http://schemas.openxmlformats.org/officeDocument/2006/relationships/image" Target="NULL"/><Relationship Id="rId2" Type="http://schemas.openxmlformats.org/officeDocument/2006/relationships/image" Target="NULL"/><Relationship Id="rId1" Type="http://schemas.openxmlformats.org/officeDocument/2006/relationships/slideLayout" Target="../slideLayouts/slideLayout2.xml"/><Relationship Id="rId6" Type="http://schemas.openxmlformats.org/officeDocument/2006/relationships/image" Target="NULL"/><Relationship Id="rId11" Type="http://schemas.openxmlformats.org/officeDocument/2006/relationships/image" Target="../media/image21.png"/><Relationship Id="rId5" Type="http://schemas.openxmlformats.org/officeDocument/2006/relationships/image" Target="NULL"/><Relationship Id="rId10" Type="http://schemas.openxmlformats.org/officeDocument/2006/relationships/image" Target="../media/image20.emf"/><Relationship Id="rId4" Type="http://schemas.openxmlformats.org/officeDocument/2006/relationships/image" Target="NULL"/><Relationship Id="rId9" Type="http://schemas.openxmlformats.org/officeDocument/2006/relationships/image" Target="NUL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emf"/><Relationship Id="rId2" Type="http://schemas.openxmlformats.org/officeDocument/2006/relationships/image" Target="../media/image22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NULL"/><Relationship Id="rId3" Type="http://schemas.openxmlformats.org/officeDocument/2006/relationships/image" Target="../media/image2.png"/><Relationship Id="rId7" Type="http://schemas.openxmlformats.org/officeDocument/2006/relationships/image" Target="NULL"/><Relationship Id="rId2" Type="http://schemas.openxmlformats.org/officeDocument/2006/relationships/image" Target="NULL"/><Relationship Id="rId1" Type="http://schemas.openxmlformats.org/officeDocument/2006/relationships/slideLayout" Target="../slideLayouts/slideLayout2.xml"/><Relationship Id="rId6" Type="http://schemas.openxmlformats.org/officeDocument/2006/relationships/image" Target="NULL"/><Relationship Id="rId5" Type="http://schemas.openxmlformats.org/officeDocument/2006/relationships/image" Target="../media/image25.emf"/><Relationship Id="rId4" Type="http://schemas.openxmlformats.org/officeDocument/2006/relationships/image" Target="../media/image24.emf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image" Target="NUL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NUL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emf"/><Relationship Id="rId2" Type="http://schemas.openxmlformats.org/officeDocument/2006/relationships/image" Target="../media/image32.emf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NULL"/><Relationship Id="rId3" Type="http://schemas.openxmlformats.org/officeDocument/2006/relationships/image" Target="NULL"/><Relationship Id="rId7" Type="http://schemas.openxmlformats.org/officeDocument/2006/relationships/image" Target="NULL"/><Relationship Id="rId12" Type="http://schemas.openxmlformats.org/officeDocument/2006/relationships/image" Target="NULL"/><Relationship Id="rId2" Type="http://schemas.openxmlformats.org/officeDocument/2006/relationships/image" Target="NULL"/><Relationship Id="rId1" Type="http://schemas.openxmlformats.org/officeDocument/2006/relationships/slideLayout" Target="../slideLayouts/slideLayout1.xml"/><Relationship Id="rId6" Type="http://schemas.openxmlformats.org/officeDocument/2006/relationships/image" Target="NULL"/><Relationship Id="rId11" Type="http://schemas.openxmlformats.org/officeDocument/2006/relationships/image" Target="NULL"/><Relationship Id="rId5" Type="http://schemas.openxmlformats.org/officeDocument/2006/relationships/image" Target="NULL"/><Relationship Id="rId10" Type="http://schemas.openxmlformats.org/officeDocument/2006/relationships/image" Target="NULL"/><Relationship Id="rId4" Type="http://schemas.openxmlformats.org/officeDocument/2006/relationships/image" Target="NULL"/><Relationship Id="rId9" Type="http://schemas.openxmlformats.org/officeDocument/2006/relationships/image" Target="NUL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0.png"/><Relationship Id="rId2" Type="http://schemas.openxmlformats.org/officeDocument/2006/relationships/image" Target="../media/image11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5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emf"/><Relationship Id="rId2" Type="http://schemas.openxmlformats.org/officeDocument/2006/relationships/image" Target="../media/image36.emf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0.png"/><Relationship Id="rId3" Type="http://schemas.openxmlformats.org/officeDocument/2006/relationships/image" Target="../media/image50.png"/><Relationship Id="rId7" Type="http://schemas.openxmlformats.org/officeDocument/2006/relationships/image" Target="../media/image90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0.png"/><Relationship Id="rId5" Type="http://schemas.openxmlformats.org/officeDocument/2006/relationships/image" Target="../media/image70.png"/><Relationship Id="rId10" Type="http://schemas.openxmlformats.org/officeDocument/2006/relationships/image" Target="../media/image3.png"/><Relationship Id="rId4" Type="http://schemas.openxmlformats.org/officeDocument/2006/relationships/image" Target="../media/image60.png"/><Relationship Id="rId9" Type="http://schemas.openxmlformats.org/officeDocument/2006/relationships/image" Target="../media/image110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emf"/><Relationship Id="rId2" Type="http://schemas.openxmlformats.org/officeDocument/2006/relationships/image" Target="../media/image38.emf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emf"/><Relationship Id="rId2" Type="http://schemas.openxmlformats.org/officeDocument/2006/relationships/image" Target="../media/image41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2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Literature : Powertrains</a:t>
            </a:r>
            <a:endParaRPr lang="sv-SE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Enes Ayaz</a:t>
            </a:r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8974180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088895" y="81003"/>
            <a:ext cx="493423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i="0" dirty="0" smtClean="0">
                <a:solidFill>
                  <a:srgbClr val="C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Torque-Speed </a:t>
            </a:r>
            <a:r>
              <a:rPr 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b="1" i="0" dirty="0" smtClean="0">
                <a:solidFill>
                  <a:srgbClr val="C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haracteristics in Electric </a:t>
            </a:r>
            <a:r>
              <a:rPr 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b="1" i="0" dirty="0" smtClean="0">
                <a:solidFill>
                  <a:srgbClr val="C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rucks</a:t>
            </a:r>
            <a:endParaRPr lang="sv-SE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261552" y="450335"/>
            <a:ext cx="8054546" cy="61863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i="0" dirty="0" smtClean="0">
                <a:solidFill>
                  <a:srgbClr val="00206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Motoring Mode: </a:t>
            </a:r>
          </a:p>
          <a:p>
            <a:endParaRPr lang="en-US" b="1" i="0" dirty="0" smtClean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+mj-lt"/>
              <a:buAutoNum type="arabicPeriod"/>
            </a:pPr>
            <a:r>
              <a:rPr lang="en-US" b="1" i="0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Starting/Initial Acceleration (High Torque, Lower Speed):</a:t>
            </a:r>
            <a:r>
              <a:rPr lang="en-US" b="0" i="0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b="0" i="0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nitiate motion from a standstill.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Requires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b="0" i="0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ffective acceleration and overcoming inertia.</a:t>
            </a:r>
          </a:p>
          <a:p>
            <a:pPr lvl="1"/>
            <a:endParaRPr lang="en-US" b="0" i="0" dirty="0" smtClean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+mj-lt"/>
              <a:buAutoNum type="arabicPeriod"/>
            </a:pPr>
            <a:r>
              <a:rPr lang="en-US" b="1" i="0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Normal Operation (Moderate Torque, Variable Speed):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0" i="0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It delivers enough torque to maintain speed and handle typical loads efficiently.</a:t>
            </a:r>
          </a:p>
          <a:p>
            <a:pPr lvl="1">
              <a:buFont typeface="+mj-lt"/>
              <a:buAutoNum type="arabicPeriod"/>
            </a:pPr>
            <a:endParaRPr lang="en-US" b="0" i="0" dirty="0" smtClean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+mj-lt"/>
              <a:buAutoNum type="arabicPeriod"/>
            </a:pPr>
            <a:r>
              <a:rPr lang="en-US" b="1" i="0" dirty="0" smtClean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Hill Climbing/Heavy Load Conditions (High Torque, Low Speed):</a:t>
            </a:r>
            <a:r>
              <a:rPr lang="en-US" b="0" i="0" dirty="0" smtClean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0" i="0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Requires higher torque to counteract gravity or the added weight.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0" i="0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Speed might decrease as torque increases to maintain power.</a:t>
            </a:r>
          </a:p>
          <a:p>
            <a:pPr lvl="1">
              <a:buFont typeface="+mj-lt"/>
              <a:buAutoNum type="arabicPeriod"/>
            </a:pPr>
            <a:endParaRPr lang="en-US" b="0" i="0" dirty="0" smtClean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+mj-lt"/>
              <a:buAutoNum type="arabicPeriod"/>
            </a:pPr>
            <a:r>
              <a:rPr lang="en-US" b="1" i="0" dirty="0" smtClean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Cruising/Constant Speed (Balanced Torque and Speed):</a:t>
            </a:r>
            <a:r>
              <a:rPr lang="en-US" b="0" i="0" dirty="0" smtClean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0" i="0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During steady-state driving on flat roads or at a constant speed,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b="0" i="0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ptimizing energy efficiency.</a:t>
            </a:r>
          </a:p>
          <a:p>
            <a:pPr lvl="1"/>
            <a:endParaRPr lang="en-US" b="0" i="0" dirty="0" smtClean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+mj-lt"/>
              <a:buAutoNum type="arabicPeriod"/>
            </a:pP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Max Speed Capability (Lower Torque, High Speed):</a:t>
            </a:r>
            <a:endParaRPr lang="en-US" b="0" i="0" dirty="0" smtClean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Reduced torque to achieve and sustain higher velocities.</a:t>
            </a:r>
            <a:endParaRPr lang="en-US" b="0" i="0" dirty="0" smtClean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sv-SE" b="1" dirty="0">
              <a:solidFill>
                <a:srgbClr val="002060"/>
              </a:solidFill>
            </a:endParaRPr>
          </a:p>
          <a:p>
            <a:r>
              <a:rPr lang="sv-SE" b="1" dirty="0" smtClean="0">
                <a:solidFill>
                  <a:srgbClr val="002060"/>
                </a:solidFill>
              </a:rPr>
              <a:t>Regenerative </a:t>
            </a:r>
            <a:r>
              <a:rPr lang="sv-SE" b="1" dirty="0" err="1" smtClean="0">
                <a:solidFill>
                  <a:srgbClr val="002060"/>
                </a:solidFill>
              </a:rPr>
              <a:t>Braking</a:t>
            </a:r>
            <a:r>
              <a:rPr lang="sv-SE" b="1" dirty="0" smtClean="0">
                <a:solidFill>
                  <a:srgbClr val="002060"/>
                </a:solidFill>
              </a:rPr>
              <a:t>/</a:t>
            </a:r>
            <a:r>
              <a:rPr lang="sv-SE" b="1" dirty="0" err="1" smtClean="0">
                <a:solidFill>
                  <a:srgbClr val="002060"/>
                </a:solidFill>
              </a:rPr>
              <a:t>Deaceleration</a:t>
            </a:r>
            <a:r>
              <a:rPr lang="sv-SE" b="1" dirty="0" smtClean="0">
                <a:solidFill>
                  <a:srgbClr val="002060"/>
                </a:solidFill>
              </a:rPr>
              <a:t>?</a:t>
            </a:r>
            <a:endParaRPr lang="en-US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29062" y="3419420"/>
            <a:ext cx="4391206" cy="3140932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9501097" y="6450549"/>
            <a:ext cx="55816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*[2]</a:t>
            </a:r>
            <a:endParaRPr lang="sv-SE" dirty="0">
              <a:solidFill>
                <a:srgbClr val="FF0000"/>
              </a:solidFill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74815" y="604996"/>
            <a:ext cx="3810729" cy="2602611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9501097" y="3054979"/>
            <a:ext cx="55816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*[1]</a:t>
            </a:r>
            <a:endParaRPr lang="sv-SE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352903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4330490" y="85350"/>
            <a:ext cx="425693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i="0" dirty="0" smtClean="0">
                <a:solidFill>
                  <a:srgbClr val="C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Torque Calculatio</a:t>
            </a:r>
            <a:r>
              <a:rPr lang="en-US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 via Vehicle Dynamics</a:t>
            </a:r>
            <a:endParaRPr lang="sv-SE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Table 5"/>
              <p:cNvGraphicFramePr>
                <a:graphicFrameLocks noGrp="1"/>
              </p:cNvGraphicFramePr>
              <p:nvPr>
                <p:extLst/>
              </p:nvPr>
            </p:nvGraphicFramePr>
            <p:xfrm>
              <a:off x="1964040" y="639348"/>
              <a:ext cx="8128000" cy="56946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208162">
                      <a:extLst>
                        <a:ext uri="{9D8B030D-6E8A-4147-A177-3AD203B41FA5}">
                          <a16:colId xmlns:a16="http://schemas.microsoft.com/office/drawing/2014/main" val="4288452530"/>
                        </a:ext>
                      </a:extLst>
                    </a:gridCol>
                    <a:gridCol w="3919838">
                      <a:extLst>
                        <a:ext uri="{9D8B030D-6E8A-4147-A177-3AD203B41FA5}">
                          <a16:colId xmlns:a16="http://schemas.microsoft.com/office/drawing/2014/main" val="1103111073"/>
                        </a:ext>
                      </a:extLst>
                    </a:gridCol>
                  </a:tblGrid>
                  <a:tr h="370840">
                    <a:tc gridSpan="2">
                      <a:txBody>
                        <a:bodyPr/>
                        <a:lstStyle/>
                        <a:p>
                          <a:pPr algn="ctr"/>
                          <a:r>
                            <a:rPr lang="en-US" sz="1400" b="1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Vehicle Dynamics</a:t>
                          </a:r>
                          <a:r>
                            <a:rPr lang="en-US" sz="1400" b="1" baseline="0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Coefficients and Parameters</a:t>
                          </a:r>
                          <a:endParaRPr lang="sv-SE" sz="1400" b="1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sv-SE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4748134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sz="1400" b="0" dirty="0" smtClean="0">
                              <a:solidFill>
                                <a:srgbClr val="7030A0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Radius</a:t>
                          </a:r>
                          <a:r>
                            <a:rPr lang="en-US" sz="1400" b="0" baseline="0" dirty="0" smtClean="0">
                              <a:solidFill>
                                <a:srgbClr val="7030A0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of wheels (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1400" b="0" i="1" baseline="0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b="0" i="1" baseline="0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𝑟</m:t>
                                  </m:r>
                                </m:e>
                                <m:sub>
                                  <m:r>
                                    <a:rPr lang="en-US" sz="1400" b="0" i="1" baseline="0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𝑤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sz="1400" b="0" baseline="0" dirty="0" smtClean="0">
                              <a:solidFill>
                                <a:srgbClr val="7030A0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in </a:t>
                          </a:r>
                          <a14:m>
                            <m:oMath xmlns:m="http://schemas.openxmlformats.org/officeDocument/2006/math">
                              <m:r>
                                <a:rPr lang="en-US" sz="1400" b="0" i="1" baseline="0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𝑚</m:t>
                              </m:r>
                            </m:oMath>
                          </a14:m>
                          <a:r>
                            <a:rPr lang="en-US" sz="1400" b="0" baseline="0" dirty="0" smtClean="0">
                              <a:solidFill>
                                <a:srgbClr val="7030A0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)</a:t>
                          </a:r>
                          <a:endParaRPr lang="sv-SE" sz="1400" b="0" dirty="0">
                            <a:solidFill>
                              <a:srgbClr val="7030A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b="0" dirty="0" smtClean="0">
                              <a:solidFill>
                                <a:srgbClr val="7030A0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0.25 –</a:t>
                          </a:r>
                          <a:r>
                            <a:rPr lang="en-US" sz="1400" b="0" baseline="0" dirty="0" smtClean="0">
                              <a:solidFill>
                                <a:srgbClr val="7030A0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0.40 (0.3?)</a:t>
                          </a:r>
                          <a:endParaRPr lang="sv-SE" sz="1400" b="0" dirty="0">
                            <a:solidFill>
                              <a:srgbClr val="7030A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98049569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sz="1400" b="0" dirty="0" smtClean="0">
                              <a:solidFill>
                                <a:srgbClr val="0070C0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Vehicle</a:t>
                          </a:r>
                          <a:r>
                            <a:rPr lang="en-US" sz="1400" b="0" baseline="0" dirty="0" smtClean="0">
                              <a:solidFill>
                                <a:srgbClr val="0070C0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front area (</a:t>
                          </a:r>
                          <a14:m>
                            <m:oMath xmlns:m="http://schemas.openxmlformats.org/officeDocument/2006/math">
                              <m:r>
                                <a:rPr lang="en-US" sz="1400" b="0" i="1" baseline="0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𝐴</m:t>
                              </m:r>
                            </m:oMath>
                          </a14:m>
                          <a:r>
                            <a:rPr lang="en-US" sz="1400" b="0" baseline="0" dirty="0" smtClean="0">
                              <a:solidFill>
                                <a:srgbClr val="0070C0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in 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sz="1400" b="0" i="1" baseline="0" smtClean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400" b="0" i="1" baseline="0" smtClean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𝑚</m:t>
                                  </m:r>
                                </m:e>
                                <m:sup>
                                  <m:r>
                                    <a:rPr lang="en-US" sz="1400" b="0" i="1" baseline="0" smtClean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oMath>
                          </a14:m>
                          <a:r>
                            <a:rPr lang="en-US" sz="1400" b="0" baseline="0" dirty="0" smtClean="0">
                              <a:solidFill>
                                <a:srgbClr val="0070C0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)</a:t>
                          </a:r>
                          <a:endParaRPr lang="sv-SE" sz="1400" b="0" dirty="0">
                            <a:solidFill>
                              <a:srgbClr val="0070C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b="0" i="0" kern="1200" dirty="0" smtClean="0">
                              <a:solidFill>
                                <a:srgbClr val="0070C0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This value might range from 8 to 12 square meters, based on the vehicle's size and design.</a:t>
                          </a:r>
                          <a:endParaRPr lang="sv-SE" sz="1400" b="0" dirty="0">
                            <a:solidFill>
                              <a:srgbClr val="0070C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13000071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sz="1400" b="0" dirty="0" smtClean="0">
                              <a:solidFill>
                                <a:srgbClr val="7030A0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Aerodynamic drag coefficient (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1400" b="0" i="1" baseline="0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b="0" i="1" baseline="0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en-US" sz="1400" b="0" i="1" baseline="0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𝑑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sz="1400" b="0" dirty="0" smtClean="0">
                              <a:solidFill>
                                <a:srgbClr val="7030A0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)</a:t>
                          </a:r>
                          <a:endParaRPr lang="sv-SE" sz="1400" b="0" dirty="0">
                            <a:solidFill>
                              <a:srgbClr val="7030A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b="0" i="0" kern="1200" dirty="0" smtClean="0">
                              <a:solidFill>
                                <a:srgbClr val="7030A0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Depending on the truck's design,</a:t>
                          </a:r>
                          <a:r>
                            <a:rPr lang="en-US" sz="1400" b="0" i="0" kern="1200" baseline="0" dirty="0" smtClean="0">
                              <a:solidFill>
                                <a:srgbClr val="7030A0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 </a:t>
                          </a:r>
                          <a:r>
                            <a:rPr lang="en-US" sz="1400" b="0" i="0" kern="1200" dirty="0" smtClean="0">
                              <a:solidFill>
                                <a:srgbClr val="7030A0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this could vary between 0.5 and 0.7.</a:t>
                          </a:r>
                          <a:endParaRPr lang="sv-SE" sz="1400" b="0" dirty="0">
                            <a:solidFill>
                              <a:srgbClr val="7030A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424779072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400" b="0" dirty="0" smtClean="0">
                              <a:solidFill>
                                <a:srgbClr val="0070C0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Rolling resistance coefficient (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1400" b="0" i="1" baseline="0" smtClean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b="0" i="1" baseline="0" smtClean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en-US" sz="1400" b="0" i="1" baseline="0" smtClean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𝑟𝑟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sz="1400" b="0" dirty="0" smtClean="0">
                              <a:solidFill>
                                <a:srgbClr val="0070C0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)</a:t>
                          </a:r>
                          <a:endParaRPr lang="sv-SE" sz="1400" b="0" dirty="0">
                            <a:solidFill>
                              <a:srgbClr val="0070C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b="0" dirty="0" smtClean="0">
                              <a:solidFill>
                                <a:srgbClr val="0070C0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Depends</a:t>
                          </a:r>
                          <a:r>
                            <a:rPr lang="en-US" sz="1400" b="0" baseline="0" dirty="0" smtClean="0">
                              <a:solidFill>
                                <a:srgbClr val="0070C0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on tire type and road conditions, but </a:t>
                          </a:r>
                          <a:r>
                            <a:rPr lang="en-US" sz="1400" b="0" i="0" kern="1200" dirty="0" smtClean="0">
                              <a:solidFill>
                                <a:srgbClr val="0070C0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this coefficient might range between 0.01 and 0.015.</a:t>
                          </a:r>
                          <a:r>
                            <a:rPr lang="en-US" sz="1400" b="0" baseline="0" dirty="0" smtClean="0">
                              <a:solidFill>
                                <a:srgbClr val="0070C0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</a:t>
                          </a:r>
                          <a:endParaRPr lang="sv-SE" sz="1400" b="0" dirty="0">
                            <a:solidFill>
                              <a:srgbClr val="0070C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00591622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400" b="0" dirty="0" smtClean="0">
                              <a:solidFill>
                                <a:srgbClr val="7030A0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Vehicle</a:t>
                          </a:r>
                          <a:r>
                            <a:rPr lang="en-US" sz="1400" b="0" baseline="0" dirty="0" smtClean="0">
                              <a:solidFill>
                                <a:srgbClr val="7030A0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mass </a:t>
                          </a:r>
                          <a:r>
                            <a:rPr lang="en-US" sz="1400" b="0" dirty="0" smtClean="0">
                              <a:solidFill>
                                <a:srgbClr val="7030A0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</a:t>
                          </a:r>
                          <a14:m>
                            <m:oMath xmlns:m="http://schemas.openxmlformats.org/officeDocument/2006/math">
                              <m:r>
                                <a:rPr lang="en-US" sz="1400" b="0" i="1" baseline="0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𝑀</m:t>
                              </m:r>
                            </m:oMath>
                          </a14:m>
                          <a:r>
                            <a:rPr lang="en-US" sz="1400" b="0" dirty="0" smtClean="0">
                              <a:solidFill>
                                <a:srgbClr val="7030A0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in </a:t>
                          </a:r>
                          <a14:m>
                            <m:oMath xmlns:m="http://schemas.openxmlformats.org/officeDocument/2006/math">
                              <m:r>
                                <a:rPr lang="en-US" sz="1400" b="0" i="1" baseline="0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𝑘𝑔</m:t>
                              </m:r>
                            </m:oMath>
                          </a14:m>
                          <a:r>
                            <a:rPr lang="en-US" sz="1400" b="0" dirty="0" smtClean="0">
                              <a:solidFill>
                                <a:srgbClr val="7030A0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)</a:t>
                          </a:r>
                          <a:endParaRPr lang="sv-SE" sz="1400" b="0" dirty="0">
                            <a:solidFill>
                              <a:srgbClr val="7030A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b="0" i="0" kern="1200" dirty="0" smtClean="0">
                              <a:solidFill>
                                <a:srgbClr val="7030A0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Encompasses the weight of the vehicle, payload, and occupants. </a:t>
                          </a:r>
                        </a:p>
                        <a:p>
                          <a:r>
                            <a:rPr lang="en-US" sz="1400" b="0" i="0" kern="1200" dirty="0" smtClean="0">
                              <a:solidFill>
                                <a:srgbClr val="7030A0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Tens of thousands of kilograms.</a:t>
                          </a:r>
                          <a:endParaRPr lang="sv-SE" sz="1400" b="0" dirty="0">
                            <a:solidFill>
                              <a:srgbClr val="7030A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22826935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400" b="0" i="0" kern="1200" noProof="0" dirty="0" smtClean="0">
                              <a:solidFill>
                                <a:srgbClr val="0070C0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Coefficient</a:t>
                          </a:r>
                          <a:r>
                            <a:rPr lang="en-US" sz="1400" b="0" i="0" kern="1200" baseline="0" noProof="0" dirty="0" smtClean="0">
                              <a:solidFill>
                                <a:srgbClr val="0070C0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 of inertia (</a:t>
                          </a:r>
                          <a14:m>
                            <m:oMath xmlns:m="http://schemas.openxmlformats.org/officeDocument/2006/math">
                              <m:r>
                                <a:rPr lang="en-US" sz="1400" b="0" i="1" kern="1200" baseline="0" noProof="0" smtClean="0">
                                  <a:solidFill>
                                    <a:srgbClr val="0070C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  <a:cs typeface="Times New Roman" panose="02020603050405020304" pitchFamily="18" charset="0"/>
                                </a:rPr>
                                <m:t>𝐼</m:t>
                              </m:r>
                            </m:oMath>
                          </a14:m>
                          <a:r>
                            <a:rPr lang="en-US" sz="1400" b="0" noProof="0" dirty="0" smtClean="0">
                              <a:solidFill>
                                <a:srgbClr val="0070C0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)</a:t>
                          </a:r>
                          <a:endParaRPr lang="en-US" sz="1400" b="0" noProof="0" dirty="0">
                            <a:solidFill>
                              <a:srgbClr val="0070C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b="0" i="0" kern="1200" dirty="0" smtClean="0">
                              <a:solidFill>
                                <a:srgbClr val="0070C0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Includes the inertia of the wheels, drivetrain, and other rotating parts. </a:t>
                          </a:r>
                          <a:endParaRPr lang="sv-SE" sz="1400" b="0" dirty="0">
                            <a:solidFill>
                              <a:srgbClr val="0070C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67950920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400" b="0" i="0" kern="1200" noProof="0" dirty="0" smtClean="0">
                              <a:solidFill>
                                <a:srgbClr val="7030A0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Coefficient</a:t>
                          </a:r>
                          <a:r>
                            <a:rPr lang="en-US" sz="1400" b="0" i="0" kern="1200" baseline="0" noProof="0" dirty="0" smtClean="0">
                              <a:solidFill>
                                <a:srgbClr val="7030A0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 of friction (</a:t>
                          </a:r>
                          <a14:m>
                            <m:oMath xmlns:m="http://schemas.openxmlformats.org/officeDocument/2006/math">
                              <m:r>
                                <a:rPr lang="en-US" sz="1400" b="0" i="1" kern="1200" baseline="0" noProof="0" smtClean="0">
                                  <a:solidFill>
                                    <a:srgbClr val="7030A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  <a:cs typeface="Times New Roman" panose="02020603050405020304" pitchFamily="18" charset="0"/>
                                </a:rPr>
                                <m:t>𝜇</m:t>
                              </m:r>
                            </m:oMath>
                          </a14:m>
                          <a:r>
                            <a:rPr lang="en-US" sz="1400" b="0" noProof="0" dirty="0" smtClean="0">
                              <a:solidFill>
                                <a:srgbClr val="7030A0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)</a:t>
                          </a:r>
                          <a:endParaRPr lang="en-US" sz="1400" b="0" noProof="0" dirty="0">
                            <a:solidFill>
                              <a:srgbClr val="7030A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b="0" i="0" kern="1200" dirty="0" smtClean="0">
                              <a:solidFill>
                                <a:srgbClr val="7030A0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Represents the friction between the tires and the road surface. This might be around 0.7 to 1.0</a:t>
                          </a:r>
                          <a:endParaRPr lang="sv-SE" sz="1400" b="0" dirty="0">
                            <a:solidFill>
                              <a:srgbClr val="7030A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82048943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400" b="0" i="0" kern="1200" noProof="0" dirty="0" smtClean="0">
                              <a:solidFill>
                                <a:srgbClr val="0070C0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Coefficient</a:t>
                          </a:r>
                          <a:r>
                            <a:rPr lang="en-US" sz="1400" b="0" i="0" kern="1200" baseline="0" noProof="0" dirty="0" smtClean="0">
                              <a:solidFill>
                                <a:srgbClr val="0070C0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 of suspension stiffness  (</a:t>
                          </a:r>
                          <a14:m>
                            <m:oMath xmlns:m="http://schemas.openxmlformats.org/officeDocument/2006/math">
                              <m:r>
                                <a:rPr lang="en-US" sz="1400" b="0" i="1" kern="1200" baseline="0" noProof="0" smtClean="0">
                                  <a:solidFill>
                                    <a:srgbClr val="0070C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  <a:cs typeface="Times New Roman" panose="02020603050405020304" pitchFamily="18" charset="0"/>
                                </a:rPr>
                                <m:t>𝜇</m:t>
                              </m:r>
                            </m:oMath>
                          </a14:m>
                          <a:r>
                            <a:rPr lang="en-US" sz="1400" b="0" noProof="0" dirty="0" smtClean="0">
                              <a:solidFill>
                                <a:srgbClr val="0070C0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)</a:t>
                          </a:r>
                          <a:endParaRPr lang="en-US" sz="1400" b="0" noProof="0" dirty="0">
                            <a:solidFill>
                              <a:srgbClr val="0070C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b="0" i="0" kern="1200" dirty="0" smtClean="0">
                              <a:solidFill>
                                <a:srgbClr val="0070C0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This coefficient varies based on the suspension design </a:t>
                          </a:r>
                          <a:endParaRPr lang="sv-SE" sz="1400" b="0" dirty="0">
                            <a:solidFill>
                              <a:srgbClr val="0070C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44397962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400" b="0" dirty="0" smtClean="0">
                              <a:solidFill>
                                <a:srgbClr val="7030A0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Maximum vehicle speed (</a:t>
                          </a:r>
                          <a14:m>
                            <m:oMath xmlns:m="http://schemas.openxmlformats.org/officeDocument/2006/math">
                              <m:r>
                                <a:rPr lang="en-US" sz="1400" b="0" i="1" dirty="0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𝑣</m:t>
                              </m:r>
                            </m:oMath>
                          </a14:m>
                          <a:r>
                            <a:rPr lang="en-US" sz="1400" b="0" dirty="0" smtClean="0">
                              <a:solidFill>
                                <a:srgbClr val="7030A0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in </a:t>
                          </a:r>
                          <a14:m>
                            <m:oMath xmlns:m="http://schemas.openxmlformats.org/officeDocument/2006/math">
                              <m:r>
                                <a:rPr lang="en-US" sz="1400" b="0" i="1" baseline="0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𝑘𝑚</m:t>
                              </m:r>
                              <m:r>
                                <a:rPr lang="en-US" sz="1400" b="0" i="1" baseline="0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. </m:t>
                              </m:r>
                              <m:sSup>
                                <m:sSupPr>
                                  <m:ctrlPr>
                                    <a:rPr lang="en-US" sz="1400" b="0" i="1" baseline="0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400" b="0" i="1" baseline="0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h</m:t>
                                  </m:r>
                                </m:e>
                                <m:sup>
                                  <m:r>
                                    <a:rPr lang="en-US" sz="1400" b="0" i="1" baseline="0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−1</m:t>
                                  </m:r>
                                </m:sup>
                              </m:sSup>
                            </m:oMath>
                          </a14:m>
                          <a:r>
                            <a:rPr lang="en-US" sz="1400" b="0" dirty="0" smtClean="0">
                              <a:solidFill>
                                <a:srgbClr val="7030A0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)</a:t>
                          </a:r>
                          <a:endParaRPr lang="sv-SE" sz="1400" b="0" dirty="0">
                            <a:solidFill>
                              <a:srgbClr val="7030A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b="0" dirty="0" smtClean="0">
                              <a:solidFill>
                                <a:srgbClr val="7030A0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120 ?</a:t>
                          </a:r>
                          <a:endParaRPr lang="sv-SE" sz="1400" b="0" dirty="0">
                            <a:solidFill>
                              <a:srgbClr val="7030A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56745835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400" b="0" dirty="0" smtClean="0">
                              <a:solidFill>
                                <a:srgbClr val="0070C0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Maximum NEDC acceleration (</a:t>
                          </a:r>
                          <a14:m>
                            <m:oMath xmlns:m="http://schemas.openxmlformats.org/officeDocument/2006/math">
                              <m:acc>
                                <m:accPr>
                                  <m:chr m:val="̅"/>
                                  <m:ctrlPr>
                                    <a:rPr lang="en-US" sz="1400" b="0" i="1" kern="1200" smtClean="0">
                                      <a:solidFill>
                                        <a:srgbClr val="0070C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+mn-ea"/>
                                      <a:cs typeface="Times New Roman" panose="020206030504050203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1400" b="0" i="1" kern="1200" smtClean="0">
                                      <a:solidFill>
                                        <a:srgbClr val="0070C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+mn-ea"/>
                                      <a:cs typeface="Times New Roman" panose="02020603050405020304" pitchFamily="18" charset="0"/>
                                    </a:rPr>
                                    <m:t>𝑎</m:t>
                                  </m:r>
                                </m:e>
                              </m:acc>
                            </m:oMath>
                          </a14:m>
                          <a:r>
                            <a:rPr lang="en-US" sz="1400" b="0" dirty="0" smtClean="0">
                              <a:solidFill>
                                <a:srgbClr val="0070C0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in m</a:t>
                          </a:r>
                          <a14:m>
                            <m:oMath xmlns:m="http://schemas.openxmlformats.org/officeDocument/2006/math">
                              <m:r>
                                <a:rPr lang="en-US" sz="1400" b="0" i="1" baseline="0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. </m:t>
                              </m:r>
                              <m:sSup>
                                <m:sSupPr>
                                  <m:ctrlPr>
                                    <a:rPr lang="en-US" sz="1400" b="0" i="1" baseline="0" smtClean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400" b="0" i="1" baseline="0" smtClean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𝑠</m:t>
                                  </m:r>
                                </m:e>
                                <m:sup>
                                  <m:r>
                                    <a:rPr lang="en-US" sz="1400" b="0" i="1" baseline="0" smtClean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−2</m:t>
                                  </m:r>
                                </m:sup>
                              </m:sSup>
                            </m:oMath>
                          </a14:m>
                          <a:r>
                            <a:rPr lang="sv-SE" sz="1400" b="0" dirty="0" smtClean="0">
                              <a:solidFill>
                                <a:srgbClr val="0070C0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)</a:t>
                          </a:r>
                          <a:endParaRPr lang="sv-SE" sz="1400" b="0" dirty="0">
                            <a:solidFill>
                              <a:srgbClr val="0070C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sv-SE" sz="1400" b="0" dirty="0" smtClean="0">
                              <a:solidFill>
                                <a:srgbClr val="0070C0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1.043 ?</a:t>
                          </a:r>
                          <a:endParaRPr lang="sv-SE" sz="1400" b="0" dirty="0">
                            <a:solidFill>
                              <a:srgbClr val="0070C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7825312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sz="1400" b="0" dirty="0" smtClean="0">
                              <a:solidFill>
                                <a:srgbClr val="7030A0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Differential</a:t>
                          </a:r>
                          <a:r>
                            <a:rPr lang="en-US" sz="1400" b="0" baseline="0" dirty="0" smtClean="0">
                              <a:solidFill>
                                <a:srgbClr val="7030A0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gear ratio (</a:t>
                          </a:r>
                          <a14:m>
                            <m:oMath xmlns:m="http://schemas.openxmlformats.org/officeDocument/2006/math">
                              <m:r>
                                <a:rPr lang="en-US" sz="1400" b="0" i="1" baseline="0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𝑢</m:t>
                              </m:r>
                            </m:oMath>
                          </a14:m>
                          <a:r>
                            <a:rPr lang="en-US" sz="1400" b="0" baseline="0" dirty="0" smtClean="0">
                              <a:solidFill>
                                <a:srgbClr val="7030A0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)</a:t>
                          </a:r>
                          <a:endParaRPr lang="sv-SE" sz="1400" b="0" dirty="0">
                            <a:solidFill>
                              <a:srgbClr val="7030A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b="0" dirty="0" smtClean="0">
                              <a:solidFill>
                                <a:srgbClr val="7030A0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Typically</a:t>
                          </a:r>
                          <a:r>
                            <a:rPr lang="en-US" sz="1400" b="0" baseline="0" dirty="0" smtClean="0">
                              <a:solidFill>
                                <a:srgbClr val="7030A0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&gt;</a:t>
                          </a:r>
                          <a:r>
                            <a:rPr lang="en-US" sz="1400" b="0" i="0" kern="1200" baseline="0" dirty="0" smtClean="0">
                              <a:solidFill>
                                <a:srgbClr val="7030A0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 4:1</a:t>
                          </a:r>
                          <a:endParaRPr lang="sv-SE" sz="1400" b="0" dirty="0">
                            <a:solidFill>
                              <a:srgbClr val="7030A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423114612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Table 5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826181465"/>
                  </p:ext>
                </p:extLst>
              </p:nvPr>
            </p:nvGraphicFramePr>
            <p:xfrm>
              <a:off x="1964040" y="639348"/>
              <a:ext cx="8128000" cy="56946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208162">
                      <a:extLst>
                        <a:ext uri="{9D8B030D-6E8A-4147-A177-3AD203B41FA5}">
                          <a16:colId xmlns:a16="http://schemas.microsoft.com/office/drawing/2014/main" val="4288452530"/>
                        </a:ext>
                      </a:extLst>
                    </a:gridCol>
                    <a:gridCol w="3919838">
                      <a:extLst>
                        <a:ext uri="{9D8B030D-6E8A-4147-A177-3AD203B41FA5}">
                          <a16:colId xmlns:a16="http://schemas.microsoft.com/office/drawing/2014/main" val="1103111073"/>
                        </a:ext>
                      </a:extLst>
                    </a:gridCol>
                  </a:tblGrid>
                  <a:tr h="370840">
                    <a:tc gridSpan="2">
                      <a:txBody>
                        <a:bodyPr/>
                        <a:lstStyle/>
                        <a:p>
                          <a:pPr algn="ctr"/>
                          <a:r>
                            <a:rPr lang="en-US" sz="1400" b="1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Vehicle Dynamics</a:t>
                          </a:r>
                          <a:r>
                            <a:rPr lang="en-US" sz="1400" b="1" baseline="0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Coefficients and Parameters</a:t>
                          </a:r>
                          <a:endParaRPr lang="sv-SE" sz="1400" b="1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sv-SE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4748134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sv-SE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45" t="-101639" r="-93343" b="-133770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b="0" dirty="0" smtClean="0">
                              <a:solidFill>
                                <a:srgbClr val="7030A0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0.25 –</a:t>
                          </a:r>
                          <a:r>
                            <a:rPr lang="en-US" sz="1400" b="0" baseline="0" dirty="0" smtClean="0">
                              <a:solidFill>
                                <a:srgbClr val="7030A0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0.40 (0.3?)</a:t>
                          </a:r>
                          <a:endParaRPr lang="sv-SE" sz="1400" b="0" dirty="0">
                            <a:solidFill>
                              <a:srgbClr val="7030A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980495690"/>
                      </a:ext>
                    </a:extLst>
                  </a:tr>
                  <a:tr h="518160">
                    <a:tc>
                      <a:txBody>
                        <a:bodyPr/>
                        <a:lstStyle/>
                        <a:p>
                          <a:endParaRPr lang="sv-SE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45" t="-144706" r="-93343" b="-86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b="0" i="0" kern="1200" dirty="0" smtClean="0">
                              <a:solidFill>
                                <a:srgbClr val="0070C0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This value might range from 8 to 12 square meters, based on the vehicle's size and design.</a:t>
                          </a:r>
                          <a:endParaRPr lang="sv-SE" sz="1400" b="0" dirty="0">
                            <a:solidFill>
                              <a:srgbClr val="0070C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130000714"/>
                      </a:ext>
                    </a:extLst>
                  </a:tr>
                  <a:tr h="518160">
                    <a:tc>
                      <a:txBody>
                        <a:bodyPr/>
                        <a:lstStyle/>
                        <a:p>
                          <a:endParaRPr lang="sv-SE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45" t="-244706" r="-93343" b="-76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b="0" i="0" kern="1200" dirty="0" smtClean="0">
                              <a:solidFill>
                                <a:srgbClr val="7030A0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Depending on the truck's design,</a:t>
                          </a:r>
                          <a:r>
                            <a:rPr lang="en-US" sz="1400" b="0" i="0" kern="1200" baseline="0" dirty="0" smtClean="0">
                              <a:solidFill>
                                <a:srgbClr val="7030A0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 </a:t>
                          </a:r>
                          <a:r>
                            <a:rPr lang="en-US" sz="1400" b="0" i="0" kern="1200" dirty="0" smtClean="0">
                              <a:solidFill>
                                <a:srgbClr val="7030A0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this could vary between 0.5 and 0.7.</a:t>
                          </a:r>
                          <a:endParaRPr lang="sv-SE" sz="1400" b="0" dirty="0">
                            <a:solidFill>
                              <a:srgbClr val="7030A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4247790728"/>
                      </a:ext>
                    </a:extLst>
                  </a:tr>
                  <a:tr h="518160">
                    <a:tc>
                      <a:txBody>
                        <a:bodyPr/>
                        <a:lstStyle/>
                        <a:p>
                          <a:endParaRPr lang="sv-SE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45" t="-344706" r="-93343" b="-66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b="0" dirty="0" smtClean="0">
                              <a:solidFill>
                                <a:srgbClr val="0070C0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Depends</a:t>
                          </a:r>
                          <a:r>
                            <a:rPr lang="en-US" sz="1400" b="0" baseline="0" dirty="0" smtClean="0">
                              <a:solidFill>
                                <a:srgbClr val="0070C0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on tire type and road conditions, but </a:t>
                          </a:r>
                          <a:r>
                            <a:rPr lang="en-US" sz="1400" b="0" i="0" kern="1200" dirty="0" smtClean="0">
                              <a:solidFill>
                                <a:srgbClr val="0070C0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this coefficient might range between 0.01 and 0.015.</a:t>
                          </a:r>
                          <a:r>
                            <a:rPr lang="en-US" sz="1400" b="0" baseline="0" dirty="0" smtClean="0">
                              <a:solidFill>
                                <a:srgbClr val="0070C0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</a:t>
                          </a:r>
                          <a:endParaRPr lang="sv-SE" sz="1400" b="0" dirty="0">
                            <a:solidFill>
                              <a:srgbClr val="0070C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005916226"/>
                      </a:ext>
                    </a:extLst>
                  </a:tr>
                  <a:tr h="731520">
                    <a:tc>
                      <a:txBody>
                        <a:bodyPr/>
                        <a:lstStyle/>
                        <a:p>
                          <a:endParaRPr lang="sv-SE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45" t="-312397" r="-93343" b="-36363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b="0" i="0" kern="1200" dirty="0" smtClean="0">
                              <a:solidFill>
                                <a:srgbClr val="7030A0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Encompasses the weight of the vehicle, payload, and occupants. </a:t>
                          </a:r>
                        </a:p>
                        <a:p>
                          <a:r>
                            <a:rPr lang="en-US" sz="1400" b="0" i="0" kern="1200" dirty="0" smtClean="0">
                              <a:solidFill>
                                <a:srgbClr val="7030A0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Tens of thousands of kilograms.</a:t>
                          </a:r>
                          <a:endParaRPr lang="sv-SE" sz="1400" b="0" dirty="0">
                            <a:solidFill>
                              <a:srgbClr val="7030A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228269359"/>
                      </a:ext>
                    </a:extLst>
                  </a:tr>
                  <a:tr h="518160">
                    <a:tc>
                      <a:txBody>
                        <a:bodyPr/>
                        <a:lstStyle/>
                        <a:p>
                          <a:endParaRPr lang="sv-SE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45" t="-587059" r="-93343" b="-41764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b="0" i="0" kern="1200" dirty="0" smtClean="0">
                              <a:solidFill>
                                <a:srgbClr val="0070C0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Includes the inertia of the wheels, drivetrain, and other rotating parts. </a:t>
                          </a:r>
                          <a:endParaRPr lang="sv-SE" sz="1400" b="0" dirty="0">
                            <a:solidFill>
                              <a:srgbClr val="0070C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679509207"/>
                      </a:ext>
                    </a:extLst>
                  </a:tr>
                  <a:tr h="518160">
                    <a:tc>
                      <a:txBody>
                        <a:bodyPr/>
                        <a:lstStyle/>
                        <a:p>
                          <a:endParaRPr lang="sv-SE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45" t="-687059" r="-93343" b="-31764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b="0" i="0" kern="1200" dirty="0" smtClean="0">
                              <a:solidFill>
                                <a:srgbClr val="7030A0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Represents the friction between the tires and the road surface. This might be around 0.7 to 1.0</a:t>
                          </a:r>
                          <a:endParaRPr lang="sv-SE" sz="1400" b="0" dirty="0">
                            <a:solidFill>
                              <a:srgbClr val="7030A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820489434"/>
                      </a:ext>
                    </a:extLst>
                  </a:tr>
                  <a:tr h="518160">
                    <a:tc>
                      <a:txBody>
                        <a:bodyPr/>
                        <a:lstStyle/>
                        <a:p>
                          <a:endParaRPr lang="sv-SE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45" t="-787059" r="-93343" b="-21764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b="0" i="0" kern="1200" dirty="0" smtClean="0">
                              <a:solidFill>
                                <a:srgbClr val="0070C0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This coefficient varies based on the suspension design </a:t>
                          </a:r>
                          <a:endParaRPr lang="sv-SE" sz="1400" b="0" dirty="0">
                            <a:solidFill>
                              <a:srgbClr val="0070C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44397962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sv-SE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45" t="-1236066" r="-93343" b="-2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b="0" dirty="0" smtClean="0">
                              <a:solidFill>
                                <a:srgbClr val="7030A0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120 ?</a:t>
                          </a:r>
                          <a:endParaRPr lang="sv-SE" sz="1400" b="0" dirty="0">
                            <a:solidFill>
                              <a:srgbClr val="7030A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56745835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sv-SE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45" t="-1336066" r="-93343" b="-1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sv-SE" sz="1400" b="0" dirty="0" smtClean="0">
                              <a:solidFill>
                                <a:srgbClr val="0070C0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1.043 ?</a:t>
                          </a:r>
                          <a:endParaRPr lang="sv-SE" sz="1400" b="0" dirty="0">
                            <a:solidFill>
                              <a:srgbClr val="0070C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7825312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sv-SE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45" t="-1436066" r="-93343" b="-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b="0" dirty="0" smtClean="0">
                              <a:solidFill>
                                <a:srgbClr val="7030A0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Typically</a:t>
                          </a:r>
                          <a:r>
                            <a:rPr lang="en-US" sz="1400" b="0" baseline="0" dirty="0" smtClean="0">
                              <a:solidFill>
                                <a:srgbClr val="7030A0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&gt;</a:t>
                          </a:r>
                          <a:r>
                            <a:rPr lang="en-US" sz="1400" b="0" i="0" kern="1200" baseline="0" dirty="0" smtClean="0">
                              <a:solidFill>
                                <a:srgbClr val="7030A0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 4:1</a:t>
                          </a:r>
                          <a:endParaRPr lang="sv-SE" sz="1400" b="0" dirty="0">
                            <a:solidFill>
                              <a:srgbClr val="7030A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4231146122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7" name="Rectangle 6"/>
          <p:cNvSpPr/>
          <p:nvPr/>
        </p:nvSpPr>
        <p:spPr>
          <a:xfrm>
            <a:off x="5900792" y="6334028"/>
            <a:ext cx="55816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*[2]</a:t>
            </a:r>
            <a:endParaRPr lang="sv-SE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059540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669324" y="387348"/>
            <a:ext cx="996366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sv-SE" b="0" i="0" dirty="0" smtClean="0">
                <a:solidFill>
                  <a:srgbClr val="0F0F0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Total </a:t>
            </a:r>
            <a:r>
              <a:rPr lang="sv-SE" b="0" i="0" dirty="0" err="1" smtClean="0">
                <a:solidFill>
                  <a:srgbClr val="0F0F0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Tractive</a:t>
            </a:r>
            <a:r>
              <a:rPr lang="sv-SE" b="0" i="0" dirty="0" smtClean="0">
                <a:solidFill>
                  <a:srgbClr val="0F0F0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Force= Rolling </a:t>
            </a:r>
            <a:r>
              <a:rPr lang="sv-SE" b="0" i="0" dirty="0" err="1" smtClean="0">
                <a:solidFill>
                  <a:srgbClr val="0F0F0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Resistance</a:t>
            </a:r>
            <a:r>
              <a:rPr lang="sv-SE" b="0" i="0" dirty="0" smtClean="0">
                <a:solidFill>
                  <a:srgbClr val="0F0F0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+ </a:t>
            </a:r>
            <a:r>
              <a:rPr lang="sv-SE" b="0" i="0" dirty="0" err="1" smtClean="0">
                <a:solidFill>
                  <a:srgbClr val="0F0F0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Aerodynamic</a:t>
            </a:r>
            <a:r>
              <a:rPr lang="sv-SE" b="0" i="0" dirty="0" smtClean="0">
                <a:solidFill>
                  <a:srgbClr val="0F0F0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Drag + Gradient Force + Acceleration Force</a:t>
            </a:r>
            <a:endParaRPr lang="sv-S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4154959" y="1093573"/>
                <a:ext cx="291227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𝑇𝑇𝐹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𝑅𝑅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𝐴𝐷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𝐺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sub>
                      </m:sSub>
                    </m:oMath>
                  </m:oMathPara>
                </a14:m>
                <a:endParaRPr lang="sv-SE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54959" y="1093573"/>
                <a:ext cx="2912271" cy="276999"/>
              </a:xfrm>
              <a:prstGeom prst="rect">
                <a:avLst/>
              </a:prstGeom>
              <a:blipFill>
                <a:blip r:embed="rId2"/>
                <a:stretch>
                  <a:fillRect b="-15217"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/>
              <p:cNvSpPr/>
              <p:nvPr/>
            </p:nvSpPr>
            <p:spPr>
              <a:xfrm>
                <a:off x="529105" y="1730632"/>
                <a:ext cx="2535309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𝑅𝑅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𝑟𝑟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.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.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cos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⁡(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sv-SE" dirty="0"/>
              </a:p>
            </p:txBody>
          </p:sp>
        </mc:Choice>
        <mc:Fallback xmlns="">
          <p:sp>
            <p:nvSpPr>
              <p:cNvPr id="7" name="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9105" y="1730632"/>
                <a:ext cx="2535309" cy="369332"/>
              </a:xfrm>
              <a:prstGeom prst="rect">
                <a:avLst/>
              </a:prstGeom>
              <a:blipFill>
                <a:blip r:embed="rId3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/>
              <p:cNvSpPr/>
              <p:nvPr/>
            </p:nvSpPr>
            <p:spPr>
              <a:xfrm>
                <a:off x="529105" y="2229022"/>
                <a:ext cx="2432012" cy="61093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𝐴𝐷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. 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.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𝜌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.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.</m:t>
                      </m:r>
                      <m:sSup>
                        <m:sSupPr>
                          <m:ctrlPr>
                            <a:rPr lang="en-US" b="0" i="1" dirty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i="1" dirty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𝑣</m:t>
                          </m:r>
                        </m:e>
                        <m:sup>
                          <m:r>
                            <a:rPr lang="en-US" b="0" i="1" dirty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b="0" i="1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 </m:t>
                      </m:r>
                    </m:oMath>
                  </m:oMathPara>
                </a14:m>
                <a:endParaRPr lang="sv-SE" dirty="0"/>
              </a:p>
            </p:txBody>
          </p:sp>
        </mc:Choice>
        <mc:Fallback xmlns="">
          <p:sp>
            <p:nvSpPr>
              <p:cNvPr id="8" name="Rectangle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9105" y="2229022"/>
                <a:ext cx="2432012" cy="61093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/>
              <p:cNvSpPr/>
              <p:nvPr/>
            </p:nvSpPr>
            <p:spPr>
              <a:xfrm>
                <a:off x="9024789" y="2294219"/>
                <a:ext cx="1780872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𝜌</m:t>
                    </m:r>
                  </m:oMath>
                </a14:m>
                <a:r>
                  <a:rPr lang="sv-SE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</a:t>
                </a:r>
                <a:r>
                  <a:rPr lang="sv-SE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density</a:t>
                </a:r>
                <a:r>
                  <a:rPr lang="sv-SE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sv-SE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of</a:t>
                </a:r>
                <a:r>
                  <a:rPr lang="sv-SE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air</a:t>
                </a:r>
                <a:endParaRPr lang="sv-SE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9" name="Rectangle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24789" y="2294219"/>
                <a:ext cx="1780872" cy="369332"/>
              </a:xfrm>
              <a:prstGeom prst="rect">
                <a:avLst/>
              </a:prstGeom>
              <a:blipFill>
                <a:blip r:embed="rId5"/>
                <a:stretch>
                  <a:fillRect t="-8197" r="-2389" b="-24590"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 10"/>
              <p:cNvSpPr/>
              <p:nvPr/>
            </p:nvSpPr>
            <p:spPr>
              <a:xfrm>
                <a:off x="529105" y="3054866"/>
                <a:ext cx="2077812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𝐺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.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. 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sin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⁡(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 </m:t>
                      </m:r>
                    </m:oMath>
                  </m:oMathPara>
                </a14:m>
                <a:endParaRPr lang="sv-SE" dirty="0"/>
              </a:p>
            </p:txBody>
          </p:sp>
        </mc:Choice>
        <mc:Fallback xmlns="">
          <p:sp>
            <p:nvSpPr>
              <p:cNvPr id="11" name="Rectangle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9105" y="3054866"/>
                <a:ext cx="2077812" cy="369332"/>
              </a:xfrm>
              <a:prstGeom prst="rect">
                <a:avLst/>
              </a:prstGeom>
              <a:blipFill>
                <a:blip r:embed="rId6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11"/>
              <p:cNvSpPr/>
              <p:nvPr/>
            </p:nvSpPr>
            <p:spPr>
              <a:xfrm>
                <a:off x="8269059" y="2923058"/>
                <a:ext cx="3477555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sv-SE" b="0" i="0" dirty="0" smtClean="0">
                    <a:solidFill>
                      <a:srgbClr val="0F0F0F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 </a:t>
                </a:r>
                <a:r>
                  <a:rPr lang="sv-SE" b="0" i="0" dirty="0" err="1" smtClean="0">
                    <a:solidFill>
                      <a:srgbClr val="0F0F0F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uphill</a:t>
                </a:r>
                <a:r>
                  <a:rPr lang="sv-SE" b="0" i="0" dirty="0" smtClean="0">
                    <a:solidFill>
                      <a:srgbClr val="0F0F0F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or </a:t>
                </a:r>
                <a:r>
                  <a:rPr lang="sv-SE" b="0" i="0" dirty="0" err="1" smtClean="0">
                    <a:solidFill>
                      <a:srgbClr val="0F0F0F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downhill</a:t>
                </a:r>
                <a:r>
                  <a:rPr lang="sv-SE" b="0" i="0" dirty="0" smtClean="0">
                    <a:solidFill>
                      <a:srgbClr val="0F0F0F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sv-SE" b="0" i="0" dirty="0" err="1" smtClean="0">
                    <a:solidFill>
                      <a:srgbClr val="0F0F0F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slopes</a:t>
                </a:r>
                <a:r>
                  <a:rPr lang="sv-SE" b="0" i="0" dirty="0" smtClean="0">
                    <a:solidFill>
                      <a:srgbClr val="0F0F0F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sv-SE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angle</a:t>
                </a:r>
                <a:r>
                  <a:rPr lang="sv-SE" b="0" i="0" dirty="0" smtClean="0">
                    <a:solidFill>
                      <a:srgbClr val="0F0F0F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endParaRPr lang="sv-SE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2" name="Rectangle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69059" y="2923058"/>
                <a:ext cx="3477555" cy="369332"/>
              </a:xfrm>
              <a:prstGeom prst="rect">
                <a:avLst/>
              </a:prstGeom>
              <a:blipFill>
                <a:blip r:embed="rId7"/>
                <a:stretch>
                  <a:fillRect t="-10000" b="-26667"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Rectangle 13"/>
              <p:cNvSpPr/>
              <p:nvPr/>
            </p:nvSpPr>
            <p:spPr>
              <a:xfrm>
                <a:off x="529105" y="3807044"/>
                <a:ext cx="1241237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.</m:t>
                      </m:r>
                      <m:acc>
                        <m:accPr>
                          <m:chr m:val="̅"/>
                          <m:ctrlPr>
                            <a:rPr lang="en-US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accPr>
                        <m:e>
                          <m:r>
                            <a:rPr lang="en-US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𝑎</m:t>
                          </m:r>
                        </m:e>
                      </m:acc>
                    </m:oMath>
                  </m:oMathPara>
                </a14:m>
                <a:endParaRPr lang="sv-SE" dirty="0"/>
              </a:p>
            </p:txBody>
          </p:sp>
        </mc:Choice>
        <mc:Fallback xmlns="">
          <p:sp>
            <p:nvSpPr>
              <p:cNvPr id="14" name="Rectangle 1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9105" y="3807044"/>
                <a:ext cx="1241237" cy="369332"/>
              </a:xfrm>
              <a:prstGeom prst="rect">
                <a:avLst/>
              </a:prstGeom>
              <a:blipFill>
                <a:blip r:embed="rId8"/>
                <a:stretch>
                  <a:fillRect r="-16749"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Rectangle 14"/>
              <p:cNvSpPr/>
              <p:nvPr/>
            </p:nvSpPr>
            <p:spPr>
              <a:xfrm>
                <a:off x="4785708" y="5616832"/>
                <a:ext cx="1650772" cy="56669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𝐸𝑀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𝑇𝑇𝐹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.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den>
                      </m:f>
                    </m:oMath>
                  </m:oMathPara>
                </a14:m>
                <a:endParaRPr lang="sv-SE" dirty="0"/>
              </a:p>
            </p:txBody>
          </p:sp>
        </mc:Choice>
        <mc:Fallback xmlns="">
          <p:sp>
            <p:nvSpPr>
              <p:cNvPr id="15" name="Rectangle 1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85708" y="5616832"/>
                <a:ext cx="1650772" cy="566694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7" name="Picture 16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432862" y="1860974"/>
            <a:ext cx="4492196" cy="2757115"/>
          </a:xfrm>
          <a:prstGeom prst="rect">
            <a:avLst/>
          </a:prstGeom>
        </p:spPr>
      </p:pic>
      <p:sp>
        <p:nvSpPr>
          <p:cNvPr id="18" name="Rectangle 17"/>
          <p:cNvSpPr/>
          <p:nvPr/>
        </p:nvSpPr>
        <p:spPr>
          <a:xfrm>
            <a:off x="5194767" y="4618089"/>
            <a:ext cx="55816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*[3]</a:t>
            </a:r>
            <a:endParaRPr lang="sv-SE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605781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5351490" y="161324"/>
            <a:ext cx="222593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i="0" dirty="0" smtClean="0">
                <a:solidFill>
                  <a:srgbClr val="C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Motor Specifications</a:t>
            </a:r>
            <a:endParaRPr lang="sv-SE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Table 5"/>
              <p:cNvGraphicFramePr>
                <a:graphicFrameLocks noGrp="1"/>
              </p:cNvGraphicFramePr>
              <p:nvPr>
                <p:extLst/>
              </p:nvPr>
            </p:nvGraphicFramePr>
            <p:xfrm>
              <a:off x="1947562" y="586261"/>
              <a:ext cx="8128000" cy="22250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208162">
                      <a:extLst>
                        <a:ext uri="{9D8B030D-6E8A-4147-A177-3AD203B41FA5}">
                          <a16:colId xmlns:a16="http://schemas.microsoft.com/office/drawing/2014/main" val="4288452530"/>
                        </a:ext>
                      </a:extLst>
                    </a:gridCol>
                    <a:gridCol w="3919838">
                      <a:extLst>
                        <a:ext uri="{9D8B030D-6E8A-4147-A177-3AD203B41FA5}">
                          <a16:colId xmlns:a16="http://schemas.microsoft.com/office/drawing/2014/main" val="1103111073"/>
                        </a:ext>
                      </a:extLst>
                    </a:gridCol>
                  </a:tblGrid>
                  <a:tr h="370840">
                    <a:tc gridSpan="2">
                      <a:txBody>
                        <a:bodyPr/>
                        <a:lstStyle/>
                        <a:p>
                          <a:pPr algn="ctr"/>
                          <a:r>
                            <a:rPr lang="en-US" sz="1400" b="0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Motor Specifications</a:t>
                          </a:r>
                          <a:endParaRPr lang="sv-SE" sz="1400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sv-SE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4748134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sz="1400" b="0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Active length (in </a:t>
                          </a:r>
                          <a14:m>
                            <m:oMath xmlns:m="http://schemas.openxmlformats.org/officeDocument/2006/math">
                              <m: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𝑚𝑚</m:t>
                              </m:r>
                            </m:oMath>
                          </a14:m>
                          <a:r>
                            <a:rPr lang="en-US" sz="1400" b="0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)</a:t>
                          </a:r>
                          <a:endParaRPr lang="sv-SE" sz="1400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275</a:t>
                          </a:r>
                          <a:endParaRPr lang="sv-SE" sz="1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98049569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sz="1400" b="0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Outer diameter (in </a:t>
                          </a:r>
                          <a14:m>
                            <m:oMath xmlns:m="http://schemas.openxmlformats.org/officeDocument/2006/math">
                              <m: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𝑚𝑚</m:t>
                              </m:r>
                            </m:oMath>
                          </a14:m>
                          <a:r>
                            <a:rPr lang="en-US" sz="1400" b="0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)</a:t>
                          </a:r>
                          <a:endParaRPr lang="sv-SE" sz="1400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350</a:t>
                          </a:r>
                          <a:endParaRPr lang="sv-SE" sz="1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13000071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sz="1400" b="0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Base/maximum </a:t>
                          </a:r>
                          <a:r>
                            <a:rPr lang="en-US" sz="1400" b="0" baseline="0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speed  </a:t>
                          </a:r>
                          <a:r>
                            <a:rPr lang="en-US" sz="1400" b="0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(in </a:t>
                          </a:r>
                          <a14:m>
                            <m:oMath xmlns:m="http://schemas.openxmlformats.org/officeDocument/2006/math">
                              <m: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𝑅𝑃𝑀</m:t>
                              </m:r>
                            </m:oMath>
                          </a14:m>
                          <a:r>
                            <a:rPr lang="en-US" sz="1400" b="0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)</a:t>
                          </a:r>
                          <a:endParaRPr lang="sv-SE" sz="1400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2000-3000/7000</a:t>
                          </a:r>
                          <a:endParaRPr lang="sv-SE" sz="1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424779072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400" b="0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Continuous/peak (10s) </a:t>
                          </a:r>
                          <a:r>
                            <a:rPr lang="en-US" sz="1400" b="0" baseline="0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power </a:t>
                          </a:r>
                          <a:r>
                            <a:rPr lang="en-US" sz="1400" b="0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(in </a:t>
                          </a:r>
                          <a14:m>
                            <m:oMath xmlns:m="http://schemas.openxmlformats.org/officeDocument/2006/math">
                              <m:r>
                                <m:rPr>
                                  <m:sty m:val="p"/>
                                </m:rPr>
                                <a:rPr lang="en-US" sz="14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k</m:t>
                              </m:r>
                              <m: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𝑊</m:t>
                              </m:r>
                            </m:oMath>
                          </a14:m>
                          <a:r>
                            <a:rPr lang="en-US" sz="1400" b="0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)</a:t>
                          </a:r>
                          <a:endParaRPr lang="sv-SE" sz="1400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600/720</a:t>
                          </a:r>
                          <a:endParaRPr lang="sv-SE" sz="1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00591622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400" b="0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Continuous/peak (10s) </a:t>
                          </a:r>
                          <a:r>
                            <a:rPr lang="en-US" sz="1400" b="0" baseline="0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torque </a:t>
                          </a:r>
                          <a:r>
                            <a:rPr lang="en-US" sz="1400" b="0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(in </a:t>
                          </a:r>
                          <a14:m>
                            <m:oMath xmlns:m="http://schemas.openxmlformats.org/officeDocument/2006/math">
                              <m: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𝑁</m:t>
                              </m:r>
                              <m: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.</m:t>
                              </m:r>
                              <m: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𝑚</m:t>
                              </m:r>
                            </m:oMath>
                          </a14:m>
                          <a:r>
                            <a:rPr lang="en-US" sz="1400" b="0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)</a:t>
                          </a:r>
                          <a:endParaRPr lang="sv-SE" sz="1400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baseline="0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2500 / </a:t>
                          </a:r>
                          <a:r>
                            <a:rPr lang="sv-SE" sz="1400" b="0" i="0" kern="1200" baseline="0" dirty="0" smtClean="0">
                              <a:solidFill>
                                <a:schemeClr val="dk1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300</a:t>
                          </a:r>
                          <a:r>
                            <a:rPr lang="sv-SE" sz="1400" b="0" i="0" kern="1200" dirty="0" smtClean="0">
                              <a:solidFill>
                                <a:schemeClr val="dk1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sv-SE" sz="1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22826935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Table 5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839843242"/>
                  </p:ext>
                </p:extLst>
              </p:nvPr>
            </p:nvGraphicFramePr>
            <p:xfrm>
              <a:off x="1947562" y="586261"/>
              <a:ext cx="8128000" cy="22250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208162">
                      <a:extLst>
                        <a:ext uri="{9D8B030D-6E8A-4147-A177-3AD203B41FA5}">
                          <a16:colId xmlns:a16="http://schemas.microsoft.com/office/drawing/2014/main" val="4288452530"/>
                        </a:ext>
                      </a:extLst>
                    </a:gridCol>
                    <a:gridCol w="3919838">
                      <a:extLst>
                        <a:ext uri="{9D8B030D-6E8A-4147-A177-3AD203B41FA5}">
                          <a16:colId xmlns:a16="http://schemas.microsoft.com/office/drawing/2014/main" val="1103111073"/>
                        </a:ext>
                      </a:extLst>
                    </a:gridCol>
                  </a:tblGrid>
                  <a:tr h="370840">
                    <a:tc gridSpan="2">
                      <a:txBody>
                        <a:bodyPr/>
                        <a:lstStyle/>
                        <a:p>
                          <a:pPr algn="ctr"/>
                          <a:r>
                            <a:rPr lang="en-US" sz="1400" b="0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Motor Specifications</a:t>
                          </a:r>
                          <a:endParaRPr lang="sv-SE" sz="1400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sv-SE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4748134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sv-SE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45" t="-103279" r="-93343" b="-4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275</a:t>
                          </a:r>
                          <a:endParaRPr lang="sv-SE" sz="1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98049569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sv-SE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45" t="-203279" r="-93343" b="-3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350</a:t>
                          </a:r>
                          <a:endParaRPr lang="sv-SE" sz="1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13000071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sv-SE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45" t="-303279" r="-93343" b="-2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2000-3000/7000</a:t>
                          </a:r>
                          <a:endParaRPr lang="sv-SE" sz="1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424779072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sv-SE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45" t="-403279" r="-93343" b="-1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600/720</a:t>
                          </a:r>
                          <a:endParaRPr lang="sv-SE" sz="1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00591622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sv-SE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45" t="-503279" r="-93343" b="-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baseline="0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2500 / </a:t>
                          </a:r>
                          <a:r>
                            <a:rPr lang="sv-SE" sz="1400" b="0" i="0" kern="1200" baseline="0" dirty="0" smtClean="0">
                              <a:solidFill>
                                <a:schemeClr val="dk1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300</a:t>
                          </a:r>
                          <a:r>
                            <a:rPr lang="sv-SE" sz="1400" b="0" i="0" kern="1200" dirty="0" smtClean="0">
                              <a:solidFill>
                                <a:schemeClr val="dk1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sv-SE" sz="1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228269359"/>
                      </a:ext>
                    </a:extLst>
                  </a:tr>
                </a:tbl>
              </a:graphicData>
            </a:graphic>
          </p:graphicFrame>
        </mc:Fallback>
      </mc:AlternateContent>
      <p:cxnSp>
        <p:nvCxnSpPr>
          <p:cNvPr id="3" name="Straight Arrow Connector 2"/>
          <p:cNvCxnSpPr/>
          <p:nvPr/>
        </p:nvCxnSpPr>
        <p:spPr>
          <a:xfrm flipH="1">
            <a:off x="5928154" y="2866906"/>
            <a:ext cx="345989" cy="20388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488988" y="3126398"/>
            <a:ext cx="922431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We did not apply the vehicle dynamics to find them, Scania just gave them !!!</a:t>
            </a:r>
          </a:p>
          <a:p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Here we do not know the gear ratio, therefore can we change the torque and speed requirements? </a:t>
            </a:r>
            <a:endParaRPr lang="sv-SE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4287275" y="3929456"/>
            <a:ext cx="344857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Considerations for Heavy Trucks</a:t>
            </a:r>
            <a:endParaRPr lang="sv-SE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872179" y="4383721"/>
            <a:ext cx="10457934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b="1" i="0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High Torque at Low Speeds:</a:t>
            </a:r>
            <a:r>
              <a:rPr lang="en-US" sz="1600" b="0" i="0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Heavy-duty trucks often require high torque for initial acceleration and while climbing steep gradients with heavy loads.</a:t>
            </a:r>
          </a:p>
          <a:p>
            <a:r>
              <a:rPr lang="en-US" sz="1600" b="1" i="0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Durability and Reliability:</a:t>
            </a:r>
            <a:r>
              <a:rPr lang="en-US" sz="1600" b="0" i="0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Motors should be designed to withstand continuous heavy usage, varied terrains, and adverse environmental conditions.</a:t>
            </a:r>
          </a:p>
          <a:p>
            <a:r>
              <a:rPr lang="en-US" sz="1600" b="1" i="0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Efficiency and Energy Recovery:</a:t>
            </a:r>
            <a:r>
              <a:rPr lang="en-US" sz="1600" b="0" i="0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Motors capable of regenerative braking can help recover energy during braking, enhancing overall efficiency.</a:t>
            </a:r>
          </a:p>
          <a:p>
            <a:r>
              <a:rPr lang="en-US" sz="1600" b="1" i="0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Maintenance and Serviceability:</a:t>
            </a:r>
            <a:r>
              <a:rPr lang="en-US" sz="1600" b="0" i="0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Motors should be designed for ease of maintenance and servicing to minimize downtime.</a:t>
            </a:r>
            <a:endParaRPr lang="en-US" sz="1600" b="0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413329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691549" y="112343"/>
            <a:ext cx="244188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Current Types of EMs</a:t>
            </a:r>
            <a:endParaRPr lang="sv-SE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737287" y="481675"/>
            <a:ext cx="11242588" cy="60324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b="1" i="0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1. Permanent Magnet Synchronous Motor (PMSM):</a:t>
            </a:r>
            <a:r>
              <a:rPr lang="en-US" sz="1600" b="0" i="0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en-US" sz="1600" b="0" i="0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Providing high-speed capabilities, especially beneficial for cruising, maintaining higher speeds on highways, and offering good efficiency during constant-speed operations.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b="1" i="0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Advantages:</a:t>
            </a:r>
            <a:r>
              <a:rPr lang="en-US" sz="1600" b="0" i="0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Offering excellent controllability, and efficiency at higher speeds.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b="1" i="0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Considerations:</a:t>
            </a:r>
            <a:r>
              <a:rPr lang="en-US" sz="1600" b="0" i="0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Facing demagnetization issues due to high currents at low speeds or during high torque demands.</a:t>
            </a:r>
          </a:p>
          <a:p>
            <a:pPr lvl="1"/>
            <a:endParaRPr lang="en-US" sz="1600" b="0" i="0" dirty="0" smtClean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600" b="1" i="0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2. Induction Motor:</a:t>
            </a:r>
            <a:endParaRPr lang="en-US" sz="16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600" b="0" i="0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Having strong torque output at lower speeds complements the requirements. </a:t>
            </a:r>
            <a:endParaRPr lang="en-US" sz="16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b="1" i="0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Advantages:</a:t>
            </a:r>
            <a:r>
              <a:rPr lang="en-US" sz="1600" b="0" i="0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Induction motors have robust torque capabilities at low speeds, making them well-suited for heavy-load scenarios.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b="1" i="0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Considerations:</a:t>
            </a:r>
            <a:r>
              <a:rPr lang="en-US" sz="1600" b="0" i="0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They might lack the high-speed capabilities of PMSM motors. </a:t>
            </a: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Fixed-speed nature might limit their widespread adoption without additional control systems.</a:t>
            </a:r>
          </a:p>
          <a:p>
            <a:pPr lvl="1"/>
            <a:endParaRPr lang="en-US" sz="16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600" b="1" i="0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3. Permanent Magnet Assisted Synchronous Reluctance Motors:</a:t>
            </a:r>
          </a:p>
          <a:p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Can be designed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provide high torque even at low speeds, making them suitable for heavy-load </a:t>
            </a: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applications at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lower speeds</a:t>
            </a: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b="1" i="0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Advantages:</a:t>
            </a:r>
            <a:r>
              <a:rPr lang="en-US" sz="1600" b="0" i="0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With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their combined reluctance and permanent magnet design, might mitigate some risks of demagnetization at high currents or low speeds</a:t>
            </a: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b="1" i="0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Considerations:</a:t>
            </a:r>
            <a:r>
              <a:rPr lang="en-US" sz="1600" b="0" i="0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Cost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availability, system complexity, and integration </a:t>
            </a: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challenges</a:t>
            </a:r>
            <a:r>
              <a:rPr lang="en-US" dirty="0" smtClean="0"/>
              <a:t>.</a:t>
            </a:r>
          </a:p>
          <a:p>
            <a:pPr lvl="1"/>
            <a:endParaRPr lang="en-US" sz="16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600" b="1" i="0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4. Wound Rotor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sz="1600" b="1" i="0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ynchronous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sz="1600" b="1" i="0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otors (WRSMs), or Electrically Excited Synchronous Motor (EESMs)  :</a:t>
            </a:r>
          </a:p>
          <a:p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Allowing for external control of the rotor winding, enabling variable speed and torque control and high torque output, particularly during starting and low-speed operations.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b="1" i="0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Advantages:</a:t>
            </a:r>
            <a:r>
              <a:rPr lang="en-US" sz="1600" b="0" i="0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obustness and ability to handle harsh operating conditions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b="1" i="0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Considerations:</a:t>
            </a:r>
            <a:r>
              <a:rPr lang="en-US" sz="1600" b="0" i="0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Needing brushless exciter (with WPT?) and reduced efficiency due to rotor winding (also cooling?).</a:t>
            </a:r>
          </a:p>
        </p:txBody>
      </p:sp>
    </p:spTree>
    <p:extLst>
      <p:ext uri="{BB962C8B-B14F-4D97-AF65-F5344CB8AC3E}">
        <p14:creationId xmlns:p14="http://schemas.microsoft.com/office/powerpoint/2010/main" val="31783667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4450592" y="217376"/>
            <a:ext cx="207415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New Types of EMs</a:t>
            </a:r>
            <a:endParaRPr lang="sv-SE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73330" y="896551"/>
            <a:ext cx="6828536" cy="132343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sv-SE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STATOR PM MACHINES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FLUX MEMORY MACHINES AND HYBRID EXCITATION MACHINES</a:t>
            </a:r>
          </a:p>
          <a:p>
            <a:pPr marL="342900" indent="-342900">
              <a:buFont typeface="+mj-lt"/>
              <a:buAutoNum type="arabicPeriod"/>
            </a:pPr>
            <a:r>
              <a:rPr lang="sv-SE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MULTIPHASE MACHINES</a:t>
            </a:r>
          </a:p>
          <a:p>
            <a:pPr marL="342900" indent="-342900">
              <a:buFont typeface="+mj-lt"/>
              <a:buAutoNum type="arabicPeriod"/>
            </a:pPr>
            <a:r>
              <a:rPr lang="sv-SE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MAGNETIC GEARED MACHINES</a:t>
            </a:r>
          </a:p>
          <a:p>
            <a:pPr marL="342900" indent="-342900">
              <a:buFont typeface="+mj-lt"/>
              <a:buAutoNum type="arabicPeriod"/>
            </a:pPr>
            <a:r>
              <a:rPr lang="sv-SE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RECONFIGURABLE WINDING MACHINES</a:t>
            </a:r>
            <a:endParaRPr lang="sv-SE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3087" y="2529833"/>
            <a:ext cx="5015059" cy="3000856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2930616" y="5455851"/>
            <a:ext cx="55816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*[4]</a:t>
            </a:r>
            <a:endParaRPr lang="sv-SE" dirty="0">
              <a:solidFill>
                <a:srgbClr val="FF0000"/>
              </a:solidFill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41255" y="2687594"/>
            <a:ext cx="3731506" cy="2921345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8327925" y="5530689"/>
            <a:ext cx="55816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*[5]</a:t>
            </a:r>
            <a:endParaRPr lang="sv-SE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906038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4627311" y="80787"/>
            <a:ext cx="262347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Different Configurations</a:t>
            </a:r>
            <a:endParaRPr lang="sv-SE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556054" y="611660"/>
            <a:ext cx="10206681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Single motor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Coupled with front or rear axle via a differential. 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Constant gear ratio, quite high, is used to reduce motor torque, resulting in lower motor size.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electrical motor needs a wide operating speed range.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motor should be capable of producing a higher torque, for a short time, in case of an overtaking or a starting from a high ground slope angle.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We have motor specifications for continuous (rated) and temporary (peak) torque. </a:t>
            </a:r>
          </a:p>
        </p:txBody>
      </p:sp>
      <p:cxnSp>
        <p:nvCxnSpPr>
          <p:cNvPr id="5" name="Straight Arrow Connector 4"/>
          <p:cNvCxnSpPr/>
          <p:nvPr/>
        </p:nvCxnSpPr>
        <p:spPr>
          <a:xfrm>
            <a:off x="5282513" y="2826099"/>
            <a:ext cx="6179" cy="39901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365420" y="3225114"/>
            <a:ext cx="871769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To achieve a wide range of speeds, PMSM or EESM is suitable.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PMSM  has higher efficiency and is less complex, but demagnetization risk at the starting torque.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EESM has high torque at starting, but rotor cooling is problematic and efficiency is lower. </a:t>
            </a:r>
            <a:endParaRPr lang="sv-S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7783508" y="5524720"/>
            <a:ext cx="55816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*[2]</a:t>
            </a:r>
            <a:endParaRPr lang="sv-SE" dirty="0">
              <a:solidFill>
                <a:srgbClr val="FF0000"/>
              </a:solidFill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37581" y="4598891"/>
            <a:ext cx="3105073" cy="2220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99882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4627311" y="80787"/>
            <a:ext cx="262347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Different Configurations</a:t>
            </a:r>
            <a:endParaRPr lang="sv-SE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556054" y="611660"/>
            <a:ext cx="10206681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Dual motor </a:t>
            </a:r>
            <a:r>
              <a:rPr lang="en-US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*[6]</a:t>
            </a:r>
          </a:p>
          <a:p>
            <a:endParaRPr lang="en-US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 is practically impossible to optimize based on the whole torque-speed profile and especially when partial loads and overload conditions are considered in the problem formulation. (with inclusion of drive cycle)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>
              <a:buFont typeface="+mj-lt"/>
              <a:buAutoNum type="arabicPeriod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Two propulsion machines, with complimentary torque-speed characteristics, can be coupled to the same shaft via a torque/speed coupler that could be deployed in the EV powertrain.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 potential merit of using two propulsion machines is the improved powertrain efficiency and effective load power split.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Another advantage of using two complementary propulsion machines, instead of a single large machine, is that the space under the hood can be effectively utilized.</a:t>
            </a:r>
          </a:p>
        </p:txBody>
      </p:sp>
      <p:cxnSp>
        <p:nvCxnSpPr>
          <p:cNvPr id="8" name="Straight Arrow Connector 7"/>
          <p:cNvCxnSpPr/>
          <p:nvPr/>
        </p:nvCxnSpPr>
        <p:spPr>
          <a:xfrm>
            <a:off x="5418437" y="3812299"/>
            <a:ext cx="6179" cy="39901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Rectangle 2"/>
          <p:cNvSpPr/>
          <p:nvPr/>
        </p:nvSpPr>
        <p:spPr>
          <a:xfrm>
            <a:off x="877329" y="4318843"/>
            <a:ext cx="10373498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+mj-lt"/>
              <a:buAutoNum type="arabicPeriod"/>
            </a:pPr>
            <a:r>
              <a:rPr lang="en-US" sz="1400" b="1" i="0" dirty="0" smtClean="0">
                <a:effectLst/>
                <a:latin typeface="Söhne"/>
              </a:rPr>
              <a:t>Permanent Magnet Synchronous Motor (PMSM) for High-Speed Performance:</a:t>
            </a:r>
            <a:endParaRPr lang="en-US" sz="1400" b="0" i="0" dirty="0" smtClean="0">
              <a:effectLst/>
              <a:latin typeface="Söhne"/>
            </a:endParaRPr>
          </a:p>
          <a:p>
            <a:pPr lvl="1"/>
            <a:r>
              <a:rPr lang="en-US" sz="1400" b="1" i="0" dirty="0" smtClean="0">
                <a:effectLst/>
                <a:latin typeface="Söhne"/>
              </a:rPr>
              <a:t>Considerations:</a:t>
            </a:r>
            <a:r>
              <a:rPr lang="en-US" sz="1400" b="0" i="0" dirty="0" smtClean="0">
                <a:effectLst/>
                <a:latin typeface="Söhne"/>
              </a:rPr>
              <a:t> These motors might face demagnetization issues due to high currents at low speeds or during high torque demands. Therefore, using them for high-speed operations where torque requirements are lower can mitigate this issue.</a:t>
            </a:r>
          </a:p>
          <a:p>
            <a:pPr>
              <a:buFont typeface="+mj-lt"/>
              <a:buAutoNum type="arabicPeriod"/>
            </a:pPr>
            <a:r>
              <a:rPr lang="en-US" sz="1400" b="1" i="0" dirty="0" smtClean="0">
                <a:effectLst/>
                <a:latin typeface="Söhne"/>
              </a:rPr>
              <a:t>Induction Motor for High Torque at Low Speeds: </a:t>
            </a:r>
            <a:endParaRPr lang="en-US" sz="1400" b="0" i="0" dirty="0" smtClean="0">
              <a:effectLst/>
              <a:latin typeface="Söhne"/>
            </a:endParaRPr>
          </a:p>
          <a:p>
            <a:pPr lvl="1"/>
            <a:r>
              <a:rPr lang="en-US" sz="1400" b="1" i="0" dirty="0" smtClean="0">
                <a:effectLst/>
                <a:latin typeface="Söhne"/>
              </a:rPr>
              <a:t>Considerations:</a:t>
            </a:r>
            <a:r>
              <a:rPr lang="en-US" sz="1400" b="0" i="0" dirty="0" smtClean="0">
                <a:effectLst/>
                <a:latin typeface="Söhne"/>
              </a:rPr>
              <a:t> While they might lack the high-speed capabilities of PMSM motors, their strong torque output at lower speeds complements the requirements for heavy-duty trucks during start-up, inclines, and low-speed maneuvers.</a:t>
            </a:r>
          </a:p>
          <a:p>
            <a:pPr>
              <a:buFont typeface="+mj-lt"/>
              <a:buAutoNum type="arabicPeriod"/>
            </a:pPr>
            <a:r>
              <a:rPr lang="en-US" sz="1400" b="1" i="0" dirty="0" smtClean="0">
                <a:effectLst/>
                <a:latin typeface="Söhne"/>
              </a:rPr>
              <a:t>Electrically Excited Synchronous Motor (EESMs)  :</a:t>
            </a:r>
          </a:p>
          <a:p>
            <a:pPr lvl="1"/>
            <a:r>
              <a:rPr lang="en-US" sz="1400" b="1" i="0" dirty="0" smtClean="0">
                <a:effectLst/>
                <a:latin typeface="Söhne"/>
              </a:rPr>
              <a:t>Considerations:</a:t>
            </a:r>
            <a:r>
              <a:rPr lang="en-US" sz="1400" b="0" i="0" dirty="0" smtClean="0">
                <a:effectLst/>
                <a:latin typeface="Söhne"/>
              </a:rPr>
              <a:t> T</a:t>
            </a:r>
            <a:r>
              <a:rPr lang="en-US" sz="1400" dirty="0" smtClean="0"/>
              <a:t>hese </a:t>
            </a:r>
            <a:r>
              <a:rPr lang="en-US" sz="1400" dirty="0"/>
              <a:t>motors can provide high torque output, particularly during starting and low-speed operations, making them suitable for heavy-duty applications that demand strong torque at lower speeds.</a:t>
            </a:r>
            <a:endParaRPr lang="en-US" sz="1400" b="0" i="0" dirty="0">
              <a:effectLst/>
              <a:latin typeface="Söhne"/>
            </a:endParaRPr>
          </a:p>
        </p:txBody>
      </p:sp>
    </p:spTree>
    <p:extLst>
      <p:ext uri="{BB962C8B-B14F-4D97-AF65-F5344CB8AC3E}">
        <p14:creationId xmlns:p14="http://schemas.microsoft.com/office/powerpoint/2010/main" val="14011473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947165" y="291069"/>
            <a:ext cx="609461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sv-SE" b="1" dirty="0" err="1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Efficiency</a:t>
            </a:r>
            <a:r>
              <a:rPr lang="sv-SE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v-SE" b="1" dirty="0" err="1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Study</a:t>
            </a:r>
            <a:r>
              <a:rPr lang="sv-SE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v-SE" b="1" dirty="0" err="1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sv-SE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 Dual-Motor </a:t>
            </a:r>
            <a:r>
              <a:rPr lang="sv-SE" b="1" dirty="0" err="1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Coupling</a:t>
            </a:r>
            <a:r>
              <a:rPr lang="sv-SE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EV </a:t>
            </a:r>
            <a:r>
              <a:rPr lang="sv-SE" b="1" dirty="0" err="1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Powertrain</a:t>
            </a:r>
            <a:r>
              <a:rPr lang="sv-SE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endParaRPr lang="sv-SE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8840011" y="291069"/>
            <a:ext cx="55816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*[7]</a:t>
            </a:r>
            <a:endParaRPr lang="sv-SE" dirty="0">
              <a:solidFill>
                <a:srgbClr val="FF0000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687860" y="887797"/>
            <a:ext cx="5552302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sv-SE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sv-SE" sz="1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lanetary</a:t>
            </a:r>
            <a:r>
              <a:rPr lang="sv-SE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v-SE" sz="1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gear</a:t>
            </a:r>
            <a:r>
              <a:rPr lang="sv-SE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v-SE" sz="1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unit</a:t>
            </a:r>
            <a:r>
              <a:rPr lang="sv-SE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v-SE" sz="1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couples</a:t>
            </a:r>
            <a:r>
              <a:rPr lang="sv-SE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the speed </a:t>
            </a:r>
            <a:r>
              <a:rPr lang="sv-SE" sz="1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sv-SE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v-SE" sz="1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two</a:t>
            </a:r>
            <a:r>
              <a:rPr lang="sv-SE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motors</a:t>
            </a:r>
          </a:p>
          <a:p>
            <a:pPr marL="342900" indent="-342900">
              <a:buFont typeface="+mj-lt"/>
              <a:buAutoNum type="arabicPeriod"/>
            </a:pPr>
            <a:r>
              <a:rPr lang="sv-SE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sv-SE" sz="1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haft-fixed</a:t>
            </a:r>
            <a:r>
              <a:rPr lang="sv-SE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v-SE" sz="1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gear</a:t>
            </a:r>
            <a:r>
              <a:rPr lang="sv-SE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v-SE" sz="1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unit</a:t>
            </a:r>
            <a:r>
              <a:rPr lang="sv-SE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v-SE" sz="1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couples</a:t>
            </a:r>
            <a:r>
              <a:rPr lang="sv-SE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the </a:t>
            </a:r>
            <a:r>
              <a:rPr lang="sv-SE" sz="1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torque</a:t>
            </a:r>
            <a:r>
              <a:rPr lang="sv-SE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v-SE" sz="1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sv-SE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v-SE" sz="1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two</a:t>
            </a:r>
            <a:r>
              <a:rPr lang="sv-SE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motors</a:t>
            </a:r>
            <a:endParaRPr lang="sv-SE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7860" y="1844040"/>
            <a:ext cx="4259118" cy="330708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52260" y="1412208"/>
            <a:ext cx="4564380" cy="3903496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687860" y="5949434"/>
            <a:ext cx="1062022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sv-SE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By the </a:t>
            </a:r>
            <a:r>
              <a:rPr lang="sv-SE" sz="1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engaging</a:t>
            </a:r>
            <a:r>
              <a:rPr lang="sv-SE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sv-SE" sz="1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disengaging</a:t>
            </a:r>
            <a:r>
              <a:rPr lang="sv-SE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v-SE" sz="1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sv-SE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the </a:t>
            </a:r>
            <a:r>
              <a:rPr lang="sv-SE" sz="1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clutches</a:t>
            </a:r>
            <a:r>
              <a:rPr lang="sv-SE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sv-SE" sz="1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setting</a:t>
            </a:r>
            <a:r>
              <a:rPr lang="sv-SE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can operate in four modes to satisfy the demands of different running conditions, thereby improving the energy utilization efficiency</a:t>
            </a:r>
            <a:endParaRPr lang="sv-SE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736277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212610" y="290728"/>
            <a:ext cx="957072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Optimization of a Dual-Motor Coupled Powertrain Energy Management Strategy for a Battery Electric Bus Based on Dynamic Programming Method</a:t>
            </a:r>
            <a:endParaRPr lang="sv-SE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1095531" y="383402"/>
            <a:ext cx="55816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*[8]</a:t>
            </a:r>
            <a:endParaRPr lang="sv-SE" dirty="0">
              <a:solidFill>
                <a:srgbClr val="FF0000"/>
              </a:solidFill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3403" y="1417320"/>
            <a:ext cx="6583442" cy="3490912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9186" y="1417320"/>
            <a:ext cx="4509511" cy="323088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899159" y="5287417"/>
            <a:ext cx="10196371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sv-SE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sv-SE" sz="1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torques</a:t>
            </a:r>
            <a:r>
              <a:rPr lang="sv-SE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v-SE" sz="1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sv-SE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the </a:t>
            </a:r>
            <a:r>
              <a:rPr lang="sv-SE" sz="1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main</a:t>
            </a:r>
            <a:r>
              <a:rPr lang="sv-SE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motor (M1) and the </a:t>
            </a:r>
            <a:r>
              <a:rPr lang="sv-SE" sz="1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auxiliary</a:t>
            </a:r>
            <a:r>
              <a:rPr lang="sv-SE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motor (M2) </a:t>
            </a:r>
            <a:r>
              <a:rPr lang="sv-SE" sz="1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are</a:t>
            </a:r>
            <a:r>
              <a:rPr lang="sv-SE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v-SE" sz="1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coupled</a:t>
            </a:r>
            <a:r>
              <a:rPr lang="sv-SE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on a common </a:t>
            </a:r>
            <a:r>
              <a:rPr lang="sv-SE" sz="1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axis</a:t>
            </a:r>
            <a:r>
              <a:rPr lang="sv-SE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731425" y="5835879"/>
            <a:ext cx="451697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M1= T= 2100N.m, base speed = 600RPM</a:t>
            </a:r>
            <a:endParaRPr lang="sv-SE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1731424" y="6215064"/>
            <a:ext cx="451697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M2= T= 900N.m, base speed = 1200RPM</a:t>
            </a:r>
            <a:endParaRPr lang="sv-SE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776658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212610" y="290728"/>
            <a:ext cx="957072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Power Split Control Strategy for an EV Powertrain With Two Propulsion Machines</a:t>
            </a:r>
            <a:endParaRPr lang="sv-SE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0866931" y="290728"/>
            <a:ext cx="55816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*[6]</a:t>
            </a:r>
            <a:endParaRPr lang="sv-SE" dirty="0">
              <a:solidFill>
                <a:srgbClr val="FF0000"/>
              </a:solidFill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2780" y="934720"/>
            <a:ext cx="5884018" cy="325848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746760" y="4448382"/>
            <a:ext cx="567944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sv-SE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sv-SE" sz="1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atteries</a:t>
            </a:r>
            <a:r>
              <a:rPr lang="sv-SE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v-SE" sz="1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have</a:t>
            </a:r>
            <a:r>
              <a:rPr lang="sv-SE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v-SE" sz="1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relatively</a:t>
            </a:r>
            <a:r>
              <a:rPr lang="sv-SE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v-SE" sz="1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high</a:t>
            </a:r>
            <a:r>
              <a:rPr lang="sv-SE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v-SE" sz="1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energy</a:t>
            </a:r>
            <a:r>
              <a:rPr lang="sv-SE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v-SE" sz="1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density</a:t>
            </a:r>
            <a:r>
              <a:rPr lang="sv-SE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 Ultra-</a:t>
            </a:r>
            <a:r>
              <a:rPr lang="sv-SE" sz="1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capacitors</a:t>
            </a:r>
            <a:r>
              <a:rPr lang="sv-SE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(UCs), on the </a:t>
            </a:r>
            <a:r>
              <a:rPr lang="sv-SE" sz="1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other</a:t>
            </a:r>
            <a:r>
              <a:rPr lang="sv-SE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hand, </a:t>
            </a:r>
            <a:r>
              <a:rPr lang="sv-SE" sz="1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have</a:t>
            </a:r>
            <a:r>
              <a:rPr lang="sv-SE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v-SE" sz="1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high</a:t>
            </a:r>
            <a:r>
              <a:rPr lang="sv-SE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v-SE" sz="1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power</a:t>
            </a:r>
            <a:r>
              <a:rPr lang="sv-SE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v-SE" sz="1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density</a:t>
            </a:r>
            <a:r>
              <a:rPr lang="sv-SE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and excellent </a:t>
            </a:r>
            <a:r>
              <a:rPr lang="sv-SE" sz="1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instantaneous</a:t>
            </a:r>
            <a:r>
              <a:rPr lang="sv-SE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v-SE" sz="1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charging</a:t>
            </a:r>
            <a:r>
              <a:rPr lang="sv-SE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sv-SE" sz="1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discharging</a:t>
            </a:r>
            <a:r>
              <a:rPr lang="sv-SE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v-SE" sz="1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capabilities</a:t>
            </a:r>
            <a:r>
              <a:rPr lang="sv-SE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sv-SE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746760" y="5369461"/>
            <a:ext cx="5577840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sv-SE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M1 </a:t>
            </a:r>
            <a:r>
              <a:rPr lang="sv-SE" sz="1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can</a:t>
            </a:r>
            <a:r>
              <a:rPr lang="sv-SE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v-SE" sz="1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operate</a:t>
            </a:r>
            <a:r>
              <a:rPr lang="sv-SE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at </a:t>
            </a:r>
            <a:r>
              <a:rPr lang="sv-SE" sz="1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high</a:t>
            </a:r>
            <a:r>
              <a:rPr lang="sv-SE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v-SE" sz="1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efficiency</a:t>
            </a:r>
            <a:r>
              <a:rPr lang="sv-SE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under </a:t>
            </a:r>
            <a:r>
              <a:rPr lang="sv-SE" sz="1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low</a:t>
            </a:r>
            <a:r>
              <a:rPr lang="sv-SE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v-SE" sz="1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torques</a:t>
            </a:r>
            <a:r>
              <a:rPr lang="sv-SE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sv-SE" sz="1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while</a:t>
            </a:r>
            <a:r>
              <a:rPr lang="sv-SE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M2 operates </a:t>
            </a:r>
            <a:r>
              <a:rPr lang="sv-SE" sz="1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with</a:t>
            </a:r>
            <a:r>
              <a:rPr lang="sv-SE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v-SE" sz="1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high</a:t>
            </a:r>
            <a:r>
              <a:rPr lang="sv-SE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v-SE" sz="1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efficiency</a:t>
            </a:r>
            <a:r>
              <a:rPr lang="sv-SE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at </a:t>
            </a:r>
            <a:r>
              <a:rPr lang="sv-SE" sz="1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high</a:t>
            </a:r>
            <a:r>
              <a:rPr lang="sv-SE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v-SE" sz="1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torques</a:t>
            </a:r>
            <a:r>
              <a:rPr lang="sv-SE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sv-SE" sz="1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implying</a:t>
            </a:r>
            <a:r>
              <a:rPr lang="sv-SE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the </a:t>
            </a:r>
            <a:r>
              <a:rPr lang="sv-SE" sz="1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complementary</a:t>
            </a:r>
            <a:r>
              <a:rPr lang="sv-SE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operation features </a:t>
            </a:r>
            <a:r>
              <a:rPr lang="sv-SE" sz="1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sv-SE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v-SE" sz="1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these</a:t>
            </a:r>
            <a:r>
              <a:rPr lang="sv-SE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v-SE" sz="1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two</a:t>
            </a:r>
            <a:r>
              <a:rPr lang="sv-SE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v-SE" sz="1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propulsion</a:t>
            </a:r>
            <a:r>
              <a:rPr lang="sv-SE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v-SE" sz="1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machines</a:t>
            </a:r>
            <a:r>
              <a:rPr lang="sv-SE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sv-SE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70142" y="1226820"/>
            <a:ext cx="4280458" cy="53725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55405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212610" y="290728"/>
            <a:ext cx="957072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Novel Dual-Motor Two-Speed Direct Drive Battery Electric Vehicle Drivetrain</a:t>
            </a:r>
            <a:endParaRPr lang="sv-SE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0866931" y="290728"/>
            <a:ext cx="55816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*[9]</a:t>
            </a:r>
            <a:endParaRPr lang="sv-SE" dirty="0">
              <a:solidFill>
                <a:srgbClr val="FF0000"/>
              </a:solidFill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8125" y="660060"/>
            <a:ext cx="6727248" cy="38862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063196" y="4546260"/>
            <a:ext cx="4791075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sv-SE" dirty="0" err="1"/>
              <a:t>T</a:t>
            </a:r>
            <a:r>
              <a:rPr lang="sv-SE" dirty="0" err="1" smtClean="0"/>
              <a:t>wo</a:t>
            </a:r>
            <a:r>
              <a:rPr lang="sv-SE" dirty="0" smtClean="0"/>
              <a:t> </a:t>
            </a:r>
            <a:r>
              <a:rPr lang="sv-SE" dirty="0" err="1" smtClean="0"/>
              <a:t>smaller</a:t>
            </a:r>
            <a:r>
              <a:rPr lang="sv-SE" dirty="0" smtClean="0"/>
              <a:t> motors </a:t>
            </a:r>
            <a:r>
              <a:rPr lang="sv-SE" dirty="0" err="1" smtClean="0"/>
              <a:t>with</a:t>
            </a:r>
            <a:r>
              <a:rPr lang="sv-SE" dirty="0" smtClean="0"/>
              <a:t> </a:t>
            </a:r>
            <a:r>
              <a:rPr lang="sv-SE" dirty="0" err="1" smtClean="0"/>
              <a:t>approximate</a:t>
            </a:r>
            <a:r>
              <a:rPr lang="sv-SE" dirty="0" smtClean="0"/>
              <a:t> same total output </a:t>
            </a:r>
            <a:r>
              <a:rPr lang="sv-SE" dirty="0" err="1" smtClean="0"/>
              <a:t>power</a:t>
            </a:r>
            <a:r>
              <a:rPr lang="sv-SE" dirty="0" smtClean="0"/>
              <a:t> in </a:t>
            </a:r>
            <a:r>
              <a:rPr lang="sv-SE" dirty="0" err="1" smtClean="0"/>
              <a:t>this</a:t>
            </a:r>
            <a:r>
              <a:rPr lang="sv-SE" dirty="0" smtClean="0"/>
              <a:t> paper to </a:t>
            </a:r>
            <a:r>
              <a:rPr lang="sv-SE" dirty="0" err="1" smtClean="0"/>
              <a:t>improve</a:t>
            </a:r>
            <a:r>
              <a:rPr lang="sv-SE" dirty="0" smtClean="0"/>
              <a:t> overall motor </a:t>
            </a:r>
            <a:r>
              <a:rPr lang="sv-SE" dirty="0" err="1" smtClean="0"/>
              <a:t>efficiency</a:t>
            </a:r>
            <a:r>
              <a:rPr lang="sv-SE" dirty="0" smtClean="0"/>
              <a:t>.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P</a:t>
            </a:r>
            <a:r>
              <a:rPr lang="en-US" dirty="0" smtClean="0"/>
              <a:t>ermanently engaged gear pairs, rather than implicating mechanical shifting actuator, i.e. clutch or synchronizer.</a:t>
            </a:r>
            <a:endParaRPr lang="sv-SE" dirty="0" smtClean="0"/>
          </a:p>
          <a:p>
            <a:endParaRPr lang="sv-SE" dirty="0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3"/>
          <a:srcRect l="4076"/>
          <a:stretch/>
        </p:blipFill>
        <p:spPr>
          <a:xfrm>
            <a:off x="6790847" y="718318"/>
            <a:ext cx="4238625" cy="3121934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90847" y="3589520"/>
            <a:ext cx="3992483" cy="31539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34753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212610" y="290728"/>
            <a:ext cx="957072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b="1" dirty="0" err="1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Transmotor</a:t>
            </a:r>
            <a:r>
              <a:rPr lang="en-US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-Based Powertrain for High-Performance Electric Vehicle</a:t>
            </a:r>
          </a:p>
        </p:txBody>
      </p:sp>
      <p:sp>
        <p:nvSpPr>
          <p:cNvPr id="5" name="Rectangle 4"/>
          <p:cNvSpPr/>
          <p:nvPr/>
        </p:nvSpPr>
        <p:spPr>
          <a:xfrm>
            <a:off x="10866931" y="290728"/>
            <a:ext cx="67518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*[10]</a:t>
            </a:r>
            <a:endParaRPr lang="sv-SE" dirty="0">
              <a:solidFill>
                <a:srgbClr val="FF0000"/>
              </a:solidFill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9113" y="1190624"/>
            <a:ext cx="5848710" cy="3409949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7038975" y="1190624"/>
            <a:ext cx="4362450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sv-SE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output </a:t>
            </a:r>
            <a:r>
              <a:rPr lang="sv-SE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torque</a:t>
            </a:r>
            <a:r>
              <a:rPr lang="sv-SE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is </a:t>
            </a:r>
            <a:r>
              <a:rPr lang="sv-SE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determined</a:t>
            </a:r>
            <a:r>
              <a:rPr lang="sv-SE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by the </a:t>
            </a:r>
            <a:r>
              <a:rPr lang="sv-SE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current</a:t>
            </a:r>
            <a:r>
              <a:rPr lang="sv-SE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in the </a:t>
            </a:r>
            <a:r>
              <a:rPr lang="sv-SE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electrical</a:t>
            </a:r>
            <a:r>
              <a:rPr lang="sv-SE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port (</a:t>
            </a:r>
            <a:r>
              <a:rPr lang="sv-SE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located</a:t>
            </a:r>
            <a:r>
              <a:rPr lang="sv-SE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on the inner rotor).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sv-SE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sv-SE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produced</a:t>
            </a:r>
            <a:r>
              <a:rPr lang="sv-SE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v-SE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torque</a:t>
            </a:r>
            <a:r>
              <a:rPr lang="sv-SE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on the </a:t>
            </a:r>
            <a:r>
              <a:rPr lang="sv-SE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two</a:t>
            </a:r>
            <a:r>
              <a:rPr lang="sv-SE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v-SE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shafts</a:t>
            </a:r>
            <a:r>
              <a:rPr lang="sv-SE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is </a:t>
            </a:r>
            <a:r>
              <a:rPr lang="sv-SE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equal</a:t>
            </a:r>
            <a:r>
              <a:rPr lang="sv-SE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v-SE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but</a:t>
            </a:r>
            <a:r>
              <a:rPr lang="sv-SE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v-SE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opposite</a:t>
            </a:r>
            <a:r>
              <a:rPr lang="sv-SE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(action and </a:t>
            </a:r>
            <a:r>
              <a:rPr lang="sv-SE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reaction</a:t>
            </a:r>
            <a:r>
              <a:rPr lang="sv-SE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v-SE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torque</a:t>
            </a:r>
            <a:r>
              <a:rPr lang="sv-SE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sv-SE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speed </a:t>
            </a:r>
            <a:r>
              <a:rPr lang="sv-SE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sv-SE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the </a:t>
            </a:r>
            <a:r>
              <a:rPr lang="sv-SE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mechanical</a:t>
            </a:r>
            <a:r>
              <a:rPr lang="sv-SE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ports </a:t>
            </a:r>
            <a:r>
              <a:rPr lang="sv-SE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can</a:t>
            </a:r>
            <a:r>
              <a:rPr lang="sv-SE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be different, so the input and output </a:t>
            </a:r>
            <a:r>
              <a:rPr lang="sv-SE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mechanical</a:t>
            </a:r>
            <a:r>
              <a:rPr lang="sv-SE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v-SE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powers</a:t>
            </a:r>
            <a:r>
              <a:rPr lang="sv-SE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v-SE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are</a:t>
            </a:r>
            <a:r>
              <a:rPr lang="sv-SE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not </a:t>
            </a:r>
            <a:r>
              <a:rPr lang="sv-SE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necessarily</a:t>
            </a:r>
            <a:r>
              <a:rPr lang="sv-SE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v-SE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equal</a:t>
            </a:r>
            <a:r>
              <a:rPr lang="sv-SE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endParaRPr lang="sv-S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985559" y="5152172"/>
            <a:ext cx="891091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sv-SE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sv-SE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he maximum </a:t>
            </a:r>
            <a:r>
              <a:rPr lang="sv-SE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torque</a:t>
            </a:r>
            <a:r>
              <a:rPr lang="sv-SE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v-SE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can</a:t>
            </a:r>
            <a:r>
              <a:rPr lang="sv-SE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be </a:t>
            </a:r>
            <a:r>
              <a:rPr lang="sv-SE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available</a:t>
            </a:r>
            <a:r>
              <a:rPr lang="sv-SE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at a </a:t>
            </a:r>
            <a:r>
              <a:rPr lang="sv-SE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larger</a:t>
            </a:r>
            <a:r>
              <a:rPr lang="sv-SE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speed </a:t>
            </a:r>
            <a:r>
              <a:rPr lang="sv-SE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range</a:t>
            </a:r>
            <a:r>
              <a:rPr lang="sv-SE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?? Hill </a:t>
            </a:r>
            <a:r>
              <a:rPr lang="sv-SE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Climbing</a:t>
            </a:r>
            <a:r>
              <a:rPr lang="sv-SE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???</a:t>
            </a:r>
            <a:endParaRPr lang="sv-S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700240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References</a:t>
            </a:r>
            <a:endParaRPr lang="sv-SE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1600" dirty="0" smtClean="0"/>
              <a:t>[1] Design Approaches and Control Strategies for Energy-Efficient Electric Machines for Electric Vehicles—A Review</a:t>
            </a:r>
            <a:endParaRPr lang="en-US" sz="1600" dirty="0"/>
          </a:p>
          <a:p>
            <a:r>
              <a:rPr lang="en-US" sz="1600" dirty="0" smtClean="0"/>
              <a:t>[2] Fast Adaptive Evolutionary PM Traction Motor Optimization Based on Electric Vehicle Drive Cycle</a:t>
            </a:r>
            <a:endParaRPr lang="en-US" sz="1600" dirty="0"/>
          </a:p>
          <a:p>
            <a:r>
              <a:rPr lang="en-US" sz="1600" dirty="0" smtClean="0"/>
              <a:t>[3] Hill-start of Distributed Drive Electric Vehicle Based on Pneumatic Electronic Parking Brake System</a:t>
            </a:r>
          </a:p>
          <a:p>
            <a:r>
              <a:rPr lang="en-US" sz="1600" dirty="0" smtClean="0"/>
              <a:t>[4] Design Approaches and Control Strategies for Energy-Efficient Electric Machines for Electric Vehicles—A Review</a:t>
            </a:r>
          </a:p>
          <a:p>
            <a:r>
              <a:rPr lang="en-US" sz="1600" dirty="0" smtClean="0"/>
              <a:t>[5] A Reconfigurable-Winding System for Electric Vehicle Drive Applications</a:t>
            </a:r>
          </a:p>
          <a:p>
            <a:r>
              <a:rPr lang="en-US" sz="1600" dirty="0" smtClean="0"/>
              <a:t>[6] Power Split Control Strategy for an EV Powertrain With Two Propulsion Machines</a:t>
            </a:r>
          </a:p>
          <a:p>
            <a:r>
              <a:rPr lang="en-US" sz="1600" dirty="0" smtClean="0"/>
              <a:t>[7] Efficiency Study of a Dual-Motor Coupling EV Powertrain</a:t>
            </a:r>
          </a:p>
          <a:p>
            <a:r>
              <a:rPr lang="en-US" sz="1600" dirty="0" smtClean="0"/>
              <a:t>[8] Optimization of a Dual-Motor Coupled Powertrain Energy Management Strategy for a Battery Electric Bus Based on Dynamic Programming Method</a:t>
            </a:r>
          </a:p>
          <a:p>
            <a:r>
              <a:rPr lang="en-US" sz="1600" dirty="0" smtClean="0"/>
              <a:t>[9] A Novel Dual-Motor Two-Speed Direct Drive Battery Electric Vehicle Drivetrain</a:t>
            </a:r>
          </a:p>
          <a:p>
            <a:r>
              <a:rPr lang="en-US" sz="1600" dirty="0" smtClean="0"/>
              <a:t>[10] </a:t>
            </a:r>
            <a:r>
              <a:rPr lang="en-US" sz="1600" dirty="0" err="1" smtClean="0"/>
              <a:t>Transmotor</a:t>
            </a:r>
            <a:r>
              <a:rPr lang="en-US" sz="1600" dirty="0" smtClean="0"/>
              <a:t>-Based Powertrain for High-Performance Electric Vehicle</a:t>
            </a:r>
          </a:p>
        </p:txBody>
      </p:sp>
    </p:spTree>
    <p:extLst>
      <p:ext uri="{BB962C8B-B14F-4D97-AF65-F5344CB8AC3E}">
        <p14:creationId xmlns:p14="http://schemas.microsoft.com/office/powerpoint/2010/main" val="15045328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Optimization : </a:t>
            </a:r>
            <a:r>
              <a:rPr lang="en-US" dirty="0" err="1" smtClean="0"/>
              <a:t>GearBox</a:t>
            </a:r>
            <a:r>
              <a:rPr lang="en-US" dirty="0" smtClean="0"/>
              <a:t>-EM</a:t>
            </a:r>
            <a:endParaRPr lang="sv-SE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Enes Ayaz</a:t>
            </a:r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280303325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157416" y="477795"/>
            <a:ext cx="1112109" cy="50662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Batteries</a:t>
            </a:r>
            <a:endParaRPr lang="sv-SE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2910016" y="477795"/>
            <a:ext cx="1112109" cy="50662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Inverter</a:t>
            </a:r>
            <a:endParaRPr lang="sv-SE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6" name="Straight Arrow Connector 5"/>
          <p:cNvCxnSpPr/>
          <p:nvPr/>
        </p:nvCxnSpPr>
        <p:spPr>
          <a:xfrm>
            <a:off x="2269525" y="615089"/>
            <a:ext cx="640491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/>
          <p:cNvCxnSpPr>
            <a:stCxn id="4" idx="2"/>
          </p:cNvCxnSpPr>
          <p:nvPr/>
        </p:nvCxnSpPr>
        <p:spPr>
          <a:xfrm flipH="1">
            <a:off x="1713470" y="984423"/>
            <a:ext cx="1" cy="30274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/>
          <p:nvPr/>
        </p:nvCxnSpPr>
        <p:spPr>
          <a:xfrm flipV="1">
            <a:off x="4022125" y="615089"/>
            <a:ext cx="465438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/>
          <p:nvPr/>
        </p:nvCxnSpPr>
        <p:spPr>
          <a:xfrm flipH="1">
            <a:off x="3479458" y="984423"/>
            <a:ext cx="1" cy="30274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4487563" y="477794"/>
            <a:ext cx="1112109" cy="50662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E-motor</a:t>
            </a:r>
            <a:endParaRPr lang="sv-SE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1" name="Straight Arrow Connector 10"/>
          <p:cNvCxnSpPr/>
          <p:nvPr/>
        </p:nvCxnSpPr>
        <p:spPr>
          <a:xfrm flipV="1">
            <a:off x="5599672" y="615089"/>
            <a:ext cx="465438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6065110" y="477793"/>
            <a:ext cx="1112109" cy="50662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Gearbox</a:t>
            </a:r>
            <a:endParaRPr lang="sv-SE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7642657" y="477793"/>
            <a:ext cx="1112109" cy="50662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Vehicle</a:t>
            </a:r>
            <a:endParaRPr lang="sv-SE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4" name="Straight Arrow Connector 13"/>
          <p:cNvCxnSpPr/>
          <p:nvPr/>
        </p:nvCxnSpPr>
        <p:spPr>
          <a:xfrm flipH="1">
            <a:off x="5043616" y="984423"/>
            <a:ext cx="1" cy="30274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/>
          <p:nvPr/>
        </p:nvCxnSpPr>
        <p:spPr>
          <a:xfrm flipH="1">
            <a:off x="6607773" y="984421"/>
            <a:ext cx="1" cy="30274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/>
          <p:nvPr/>
        </p:nvCxnSpPr>
        <p:spPr>
          <a:xfrm flipH="1">
            <a:off x="8204881" y="984421"/>
            <a:ext cx="1" cy="30274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/>
              <p:cNvSpPr txBox="1"/>
              <p:nvPr/>
            </p:nvSpPr>
            <p:spPr>
              <a:xfrm>
                <a:off x="5660470" y="581219"/>
                <a:ext cx="315092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dirty="0" smtClean="0">
                          <a:latin typeface="Cambria Math" panose="02040503050406030204" pitchFamily="18" charset="0"/>
                        </a:rPr>
                        <m:t>𝜔</m:t>
                      </m:r>
                    </m:oMath>
                  </m:oMathPara>
                </a14:m>
                <a:endParaRPr lang="sv-SE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60470" y="581219"/>
                <a:ext cx="315092" cy="30777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Rectangle 17"/>
          <p:cNvSpPr/>
          <p:nvPr/>
        </p:nvSpPr>
        <p:spPr>
          <a:xfrm>
            <a:off x="9236804" y="477793"/>
            <a:ext cx="1112109" cy="50662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Drive Cycle</a:t>
            </a:r>
            <a:endParaRPr lang="sv-SE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9" name="Straight Arrow Connector 18"/>
          <p:cNvCxnSpPr/>
          <p:nvPr/>
        </p:nvCxnSpPr>
        <p:spPr>
          <a:xfrm>
            <a:off x="2269525" y="818975"/>
            <a:ext cx="640491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/>
              <p:cNvSpPr txBox="1"/>
              <p:nvPr/>
            </p:nvSpPr>
            <p:spPr>
              <a:xfrm>
                <a:off x="2407991" y="382024"/>
                <a:ext cx="262594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dirty="0" smtClean="0">
                          <a:latin typeface="Cambria Math" panose="02040503050406030204" pitchFamily="18" charset="0"/>
                        </a:rPr>
                        <m:t>𝑉</m:t>
                      </m:r>
                    </m:oMath>
                  </m:oMathPara>
                </a14:m>
                <a:endParaRPr lang="sv-SE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0" name="TextBox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07991" y="382024"/>
                <a:ext cx="262594" cy="30777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/>
              <p:cNvSpPr txBox="1"/>
              <p:nvPr/>
            </p:nvSpPr>
            <p:spPr>
              <a:xfrm>
                <a:off x="2377632" y="576070"/>
                <a:ext cx="305831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dirty="0" smtClean="0">
                          <a:latin typeface="Cambria Math" panose="02040503050406030204" pitchFamily="18" charset="0"/>
                        </a:rPr>
                        <m:t>𝐼</m:t>
                      </m:r>
                    </m:oMath>
                  </m:oMathPara>
                </a14:m>
                <a:endParaRPr lang="sv-SE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1" name="TextBox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77632" y="576070"/>
                <a:ext cx="305831" cy="30777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2" name="Straight Arrow Connector 21"/>
          <p:cNvCxnSpPr/>
          <p:nvPr/>
        </p:nvCxnSpPr>
        <p:spPr>
          <a:xfrm>
            <a:off x="4028824" y="841170"/>
            <a:ext cx="458739" cy="320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/>
              <p:cNvSpPr txBox="1"/>
              <p:nvPr/>
            </p:nvSpPr>
            <p:spPr>
              <a:xfrm>
                <a:off x="4101928" y="382024"/>
                <a:ext cx="262594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dirty="0" smtClean="0">
                          <a:latin typeface="Cambria Math" panose="02040503050406030204" pitchFamily="18" charset="0"/>
                        </a:rPr>
                        <m:t>𝑉</m:t>
                      </m:r>
                    </m:oMath>
                  </m:oMathPara>
                </a14:m>
                <a:endParaRPr lang="sv-SE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3" name="TextBox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01928" y="382024"/>
                <a:ext cx="262594" cy="30777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/>
              <p:cNvSpPr txBox="1"/>
              <p:nvPr/>
            </p:nvSpPr>
            <p:spPr>
              <a:xfrm>
                <a:off x="4071569" y="576070"/>
                <a:ext cx="305831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dirty="0" smtClean="0">
                          <a:latin typeface="Cambria Math" panose="02040503050406030204" pitchFamily="18" charset="0"/>
                        </a:rPr>
                        <m:t>𝐼</m:t>
                      </m:r>
                    </m:oMath>
                  </m:oMathPara>
                </a14:m>
                <a:endParaRPr lang="sv-SE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4" name="TextBox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71569" y="576070"/>
                <a:ext cx="305831" cy="30777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5" name="Straight Arrow Connector 24"/>
          <p:cNvCxnSpPr/>
          <p:nvPr/>
        </p:nvCxnSpPr>
        <p:spPr>
          <a:xfrm flipV="1">
            <a:off x="5586273" y="818975"/>
            <a:ext cx="465438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/>
              <p:cNvSpPr txBox="1"/>
              <p:nvPr/>
            </p:nvSpPr>
            <p:spPr>
              <a:xfrm>
                <a:off x="5693959" y="345752"/>
                <a:ext cx="256367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dirty="0" smtClean="0">
                          <a:latin typeface="Cambria Math" panose="02040503050406030204" pitchFamily="18" charset="0"/>
                        </a:rPr>
                        <m:t>𝑇</m:t>
                      </m:r>
                    </m:oMath>
                  </m:oMathPara>
                </a14:m>
                <a:endParaRPr lang="sv-SE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6" name="TextBox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93959" y="345752"/>
                <a:ext cx="256367" cy="30777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7" name="Straight Arrow Connector 26"/>
          <p:cNvCxnSpPr/>
          <p:nvPr/>
        </p:nvCxnSpPr>
        <p:spPr>
          <a:xfrm flipV="1">
            <a:off x="7183919" y="615088"/>
            <a:ext cx="465438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/>
              <p:cNvSpPr txBox="1"/>
              <p:nvPr/>
            </p:nvSpPr>
            <p:spPr>
              <a:xfrm>
                <a:off x="7244717" y="581218"/>
                <a:ext cx="315092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dirty="0" smtClean="0">
                          <a:latin typeface="Cambria Math" panose="02040503050406030204" pitchFamily="18" charset="0"/>
                        </a:rPr>
                        <m:t>𝜔</m:t>
                      </m:r>
                    </m:oMath>
                  </m:oMathPara>
                </a14:m>
                <a:endParaRPr lang="sv-SE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8" name="TextBox 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44717" y="581218"/>
                <a:ext cx="315092" cy="307777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9" name="Straight Arrow Connector 28"/>
          <p:cNvCxnSpPr/>
          <p:nvPr/>
        </p:nvCxnSpPr>
        <p:spPr>
          <a:xfrm flipV="1">
            <a:off x="7170520" y="818974"/>
            <a:ext cx="465438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/>
              <p:cNvSpPr txBox="1"/>
              <p:nvPr/>
            </p:nvSpPr>
            <p:spPr>
              <a:xfrm>
                <a:off x="7278206" y="345751"/>
                <a:ext cx="256367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dirty="0" smtClean="0">
                          <a:latin typeface="Cambria Math" panose="02040503050406030204" pitchFamily="18" charset="0"/>
                        </a:rPr>
                        <m:t>𝑇</m:t>
                      </m:r>
                    </m:oMath>
                  </m:oMathPara>
                </a14:m>
                <a:endParaRPr lang="sv-SE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0" name="TextBox 2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78206" y="345751"/>
                <a:ext cx="256367" cy="30777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Rectangle 30"/>
          <p:cNvSpPr/>
          <p:nvPr/>
        </p:nvSpPr>
        <p:spPr>
          <a:xfrm>
            <a:off x="1157416" y="1287161"/>
            <a:ext cx="7597350" cy="438667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Losses</a:t>
            </a:r>
            <a:endParaRPr lang="sv-S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2" name="Straight Arrow Connector 31"/>
          <p:cNvCxnSpPr/>
          <p:nvPr/>
        </p:nvCxnSpPr>
        <p:spPr>
          <a:xfrm flipV="1">
            <a:off x="8776465" y="618397"/>
            <a:ext cx="465438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/>
              <p:cNvSpPr txBox="1"/>
              <p:nvPr/>
            </p:nvSpPr>
            <p:spPr>
              <a:xfrm>
                <a:off x="8837263" y="584527"/>
                <a:ext cx="315092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dirty="0" smtClean="0">
                          <a:latin typeface="Cambria Math" panose="02040503050406030204" pitchFamily="18" charset="0"/>
                        </a:rPr>
                        <m:t>𝜔</m:t>
                      </m:r>
                    </m:oMath>
                  </m:oMathPara>
                </a14:m>
                <a:endParaRPr lang="sv-SE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3" name="TextBox 3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37263" y="584527"/>
                <a:ext cx="315092" cy="307777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4" name="Straight Arrow Connector 33"/>
          <p:cNvCxnSpPr/>
          <p:nvPr/>
        </p:nvCxnSpPr>
        <p:spPr>
          <a:xfrm flipV="1">
            <a:off x="8763066" y="822283"/>
            <a:ext cx="465438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/>
              <p:cNvSpPr txBox="1"/>
              <p:nvPr/>
            </p:nvSpPr>
            <p:spPr>
              <a:xfrm>
                <a:off x="8870752" y="349060"/>
                <a:ext cx="256367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dirty="0" smtClean="0">
                          <a:latin typeface="Cambria Math" panose="02040503050406030204" pitchFamily="18" charset="0"/>
                        </a:rPr>
                        <m:t>𝑇</m:t>
                      </m:r>
                    </m:oMath>
                  </m:oMathPara>
                </a14:m>
                <a:endParaRPr lang="sv-SE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5" name="TextBox 3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70752" y="349060"/>
                <a:ext cx="256367" cy="307777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8" name="Picture 37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559809" y="3136890"/>
            <a:ext cx="4569307" cy="2232660"/>
          </a:xfrm>
          <a:prstGeom prst="rect">
            <a:avLst/>
          </a:prstGeom>
        </p:spPr>
      </p:pic>
      <p:sp>
        <p:nvSpPr>
          <p:cNvPr id="45" name="TextBox 44"/>
          <p:cNvSpPr txBox="1"/>
          <p:nvPr/>
        </p:nvSpPr>
        <p:spPr>
          <a:xfrm>
            <a:off x="304547" y="5163954"/>
            <a:ext cx="456071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We do not have altitude information, so we cannot achieve </a:t>
            </a:r>
            <a:r>
              <a:rPr lang="en-US" b="1" dirty="0" smtClean="0"/>
              <a:t>low-speed climbing </a:t>
            </a:r>
            <a:r>
              <a:rPr lang="en-US" dirty="0" smtClean="0"/>
              <a:t>torque ??</a:t>
            </a:r>
            <a:endParaRPr lang="sv-SE" dirty="0"/>
          </a:p>
        </p:txBody>
      </p:sp>
      <p:sp>
        <p:nvSpPr>
          <p:cNvPr id="48" name="Rectangle 47"/>
          <p:cNvSpPr/>
          <p:nvPr/>
        </p:nvSpPr>
        <p:spPr>
          <a:xfrm>
            <a:off x="4928854" y="2054060"/>
            <a:ext cx="247340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Drive Cycle</a:t>
            </a:r>
            <a:endParaRPr lang="sv-SE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747371" y="2353373"/>
            <a:ext cx="41178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</a:t>
            </a:r>
            <a:r>
              <a:rPr lang="en-US" dirty="0" smtClean="0"/>
              <a:t>peed and Torque (Output of Gearbox) </a:t>
            </a:r>
            <a:endParaRPr lang="sv-SE" dirty="0"/>
          </a:p>
        </p:txBody>
      </p:sp>
      <p:sp>
        <p:nvSpPr>
          <p:cNvPr id="53" name="TextBox 52"/>
          <p:cNvSpPr txBox="1"/>
          <p:nvPr/>
        </p:nvSpPr>
        <p:spPr>
          <a:xfrm>
            <a:off x="8508357" y="2592024"/>
            <a:ext cx="27668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Example Ideal </a:t>
            </a:r>
            <a:r>
              <a:rPr lang="en-US" dirty="0"/>
              <a:t>Drive </a:t>
            </a:r>
            <a:r>
              <a:rPr lang="en-US" dirty="0" smtClean="0"/>
              <a:t>Cycle</a:t>
            </a:r>
            <a:endParaRPr lang="sv-SE" dirty="0"/>
          </a:p>
        </p:txBody>
      </p:sp>
      <p:pic>
        <p:nvPicPr>
          <p:cNvPr id="57" name="Picture 56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16032" y="2819355"/>
            <a:ext cx="4064845" cy="2286475"/>
          </a:xfrm>
          <a:prstGeom prst="rect">
            <a:avLst/>
          </a:prstGeom>
        </p:spPr>
      </p:pic>
      <p:sp>
        <p:nvSpPr>
          <p:cNvPr id="58" name="Oval 57"/>
          <p:cNvSpPr/>
          <p:nvPr/>
        </p:nvSpPr>
        <p:spPr>
          <a:xfrm flipV="1">
            <a:off x="3289186" y="4091655"/>
            <a:ext cx="255768" cy="388904"/>
          </a:xfrm>
          <a:prstGeom prst="ellipse">
            <a:avLst/>
          </a:prstGeom>
          <a:noFill/>
          <a:ln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59" name="Oval 58"/>
          <p:cNvSpPr/>
          <p:nvPr/>
        </p:nvSpPr>
        <p:spPr>
          <a:xfrm>
            <a:off x="2583180" y="4074377"/>
            <a:ext cx="561128" cy="185397"/>
          </a:xfrm>
          <a:prstGeom prst="ellipse">
            <a:avLst/>
          </a:prstGeom>
          <a:noFill/>
          <a:ln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60" name="Oval 59"/>
          <p:cNvSpPr/>
          <p:nvPr/>
        </p:nvSpPr>
        <p:spPr>
          <a:xfrm>
            <a:off x="1816274" y="4091655"/>
            <a:ext cx="561128" cy="308632"/>
          </a:xfrm>
          <a:prstGeom prst="ellipse">
            <a:avLst/>
          </a:prstGeom>
          <a:noFill/>
          <a:ln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581523" y="2922901"/>
            <a:ext cx="2772508" cy="2079381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5343035" y="5010065"/>
            <a:ext cx="164504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/>
              <a:t>Wheel power</a:t>
            </a:r>
            <a:endParaRPr lang="sv-SE" sz="1400" dirty="0"/>
          </a:p>
        </p:txBody>
      </p:sp>
    </p:spTree>
    <p:extLst>
      <p:ext uri="{BB962C8B-B14F-4D97-AF65-F5344CB8AC3E}">
        <p14:creationId xmlns:p14="http://schemas.microsoft.com/office/powerpoint/2010/main" val="372211695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" name="Picture 4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6487" y="1357733"/>
            <a:ext cx="5347674" cy="3634968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230" y="1701312"/>
            <a:ext cx="4273061" cy="3204796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67110" y="152401"/>
            <a:ext cx="1913882" cy="13071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033635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4754880" y="289560"/>
            <a:ext cx="24079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Motor Size Estimation</a:t>
            </a:r>
            <a:endParaRPr lang="sv-SE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650788" y="981194"/>
                <a:ext cx="6813725" cy="37863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sv-SE" dirty="0" smtClean="0">
                    <a:solidFill>
                      <a:srgbClr val="000000"/>
                    </a:solidFill>
                    <a:latin typeface="Yanone Kaffeesatz"/>
                  </a:rPr>
                  <a:t>We </a:t>
                </a:r>
                <a:r>
                  <a:rPr lang="sv-SE" dirty="0" err="1" smtClean="0">
                    <a:solidFill>
                      <a:srgbClr val="000000"/>
                    </a:solidFill>
                    <a:latin typeface="Yanone Kaffeesatz"/>
                  </a:rPr>
                  <a:t>can</a:t>
                </a:r>
                <a:r>
                  <a:rPr lang="sv-SE" dirty="0" smtClean="0">
                    <a:solidFill>
                      <a:srgbClr val="000000"/>
                    </a:solidFill>
                    <a:latin typeface="Yanone Kaffeesatz"/>
                  </a:rPr>
                  <a:t> </a:t>
                </a:r>
                <a:r>
                  <a:rPr lang="sv-SE" dirty="0" err="1" smtClean="0">
                    <a:solidFill>
                      <a:srgbClr val="000000"/>
                    </a:solidFill>
                    <a:latin typeface="Yanone Kaffeesatz"/>
                  </a:rPr>
                  <a:t>use</a:t>
                </a:r>
                <a:r>
                  <a:rPr lang="sv-SE" dirty="0" smtClean="0">
                    <a:solidFill>
                      <a:srgbClr val="000000"/>
                    </a:solidFill>
                    <a:latin typeface="Yanone Kaffeesatz"/>
                  </a:rPr>
                  <a:t> </a:t>
                </a:r>
                <a:r>
                  <a:rPr lang="sv-SE" dirty="0" err="1">
                    <a:solidFill>
                      <a:srgbClr val="000000"/>
                    </a:solidFill>
                    <a:latin typeface="Yanone Kaffeesatz"/>
                  </a:rPr>
                  <a:t>s</a:t>
                </a:r>
                <a:r>
                  <a:rPr lang="sv-SE" dirty="0" err="1" smtClean="0">
                    <a:solidFill>
                      <a:srgbClr val="000000"/>
                    </a:solidFill>
                    <a:latin typeface="Yanone Kaffeesatz"/>
                  </a:rPr>
                  <a:t>pecific</a:t>
                </a:r>
                <a:r>
                  <a:rPr lang="sv-SE" dirty="0" smtClean="0">
                    <a:solidFill>
                      <a:srgbClr val="000000"/>
                    </a:solidFill>
                    <a:latin typeface="Yanone Kaffeesatz"/>
                  </a:rPr>
                  <a:t> </a:t>
                </a:r>
                <a:r>
                  <a:rPr lang="sv-SE" dirty="0" err="1" smtClean="0">
                    <a:solidFill>
                      <a:srgbClr val="000000"/>
                    </a:solidFill>
                    <a:latin typeface="Yanone Kaffeesatz"/>
                  </a:rPr>
                  <a:t>electric</a:t>
                </a:r>
                <a:r>
                  <a:rPr lang="sv-SE" dirty="0" smtClean="0">
                    <a:solidFill>
                      <a:srgbClr val="000000"/>
                    </a:solidFill>
                    <a:latin typeface="Yanone Kaffeesatz"/>
                  </a:rPr>
                  <a:t> </a:t>
                </a:r>
                <a:r>
                  <a:rPr lang="sv-SE" dirty="0" err="1" smtClean="0">
                    <a:solidFill>
                      <a:srgbClr val="000000"/>
                    </a:solidFill>
                    <a:latin typeface="Yanone Kaffeesatz"/>
                  </a:rPr>
                  <a:t>loading</a:t>
                </a:r>
                <a:r>
                  <a:rPr lang="sv-SE" dirty="0" smtClean="0">
                    <a:solidFill>
                      <a:srgbClr val="000000"/>
                    </a:solidFill>
                    <a:latin typeface="Yanone Kaffeesatz"/>
                  </a:rPr>
                  <a:t> (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</m:e>
                    </m:acc>
                  </m:oMath>
                </a14:m>
                <a:r>
                  <a:rPr lang="sv-SE" dirty="0" smtClean="0">
                    <a:solidFill>
                      <a:srgbClr val="000000"/>
                    </a:solidFill>
                    <a:latin typeface="Yanone Kaffeesatz"/>
                  </a:rPr>
                  <a:t>) and </a:t>
                </a:r>
                <a:r>
                  <a:rPr lang="sv-SE" dirty="0" err="1" smtClean="0">
                    <a:solidFill>
                      <a:srgbClr val="000000"/>
                    </a:solidFill>
                    <a:latin typeface="Yanone Kaffeesatz"/>
                  </a:rPr>
                  <a:t>magnetic</a:t>
                </a:r>
                <a:r>
                  <a:rPr lang="sv-SE" dirty="0" smtClean="0">
                    <a:solidFill>
                      <a:srgbClr val="000000"/>
                    </a:solidFill>
                    <a:latin typeface="Yanone Kaffeesatz"/>
                  </a:rPr>
                  <a:t> </a:t>
                </a:r>
                <a:r>
                  <a:rPr lang="sv-SE" dirty="0" err="1" smtClean="0">
                    <a:solidFill>
                      <a:srgbClr val="000000"/>
                    </a:solidFill>
                    <a:latin typeface="Yanone Kaffeesatz"/>
                  </a:rPr>
                  <a:t>loading</a:t>
                </a:r>
                <a:r>
                  <a:rPr lang="sv-SE" dirty="0" smtClean="0">
                    <a:solidFill>
                      <a:srgbClr val="000000"/>
                    </a:solidFill>
                    <a:latin typeface="Yanone Kaffeesatz"/>
                  </a:rPr>
                  <a:t> (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B</m:t>
                        </m:r>
                      </m:e>
                    </m:acc>
                  </m:oMath>
                </a14:m>
                <a:r>
                  <a:rPr lang="sv-SE" dirty="0" smtClean="0">
                    <a:solidFill>
                      <a:srgbClr val="000000"/>
                    </a:solidFill>
                    <a:latin typeface="Yanone Kaffeesatz"/>
                  </a:rPr>
                  <a:t>)</a:t>
                </a:r>
                <a:endParaRPr lang="sv-SE" dirty="0">
                  <a:solidFill>
                    <a:srgbClr val="000000"/>
                  </a:solidFill>
                  <a:latin typeface="Yanone Kaffeesatz"/>
                </a:endParaRPr>
              </a:p>
            </p:txBody>
          </p:sp>
        </mc:Choice>
        <mc:Fallback xmlns="">
          <p:sp>
            <p:nvSpPr>
              <p:cNvPr id="6" name="Rectangl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0788" y="981194"/>
                <a:ext cx="6813725" cy="378630"/>
              </a:xfrm>
              <a:prstGeom prst="rect">
                <a:avLst/>
              </a:prstGeom>
              <a:blipFill>
                <a:blip r:embed="rId2"/>
                <a:stretch>
                  <a:fillRect l="-806" t="-6452" r="-3133" b="-25806"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2503302" y="1417208"/>
                <a:ext cx="3512820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acc>
                        <m:accPr>
                          <m:chr m:val="̂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acc>
                      <m:acc>
                        <m:accPr>
                          <m:chr m:val="̂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ac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𝑙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𝑠𝑦𝑠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 </m:t>
                      </m:r>
                    </m:oMath>
                  </m:oMathPara>
                </a14:m>
                <a:endParaRPr lang="sv-SE" dirty="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03302" y="1417208"/>
                <a:ext cx="3512820" cy="64633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/>
              <p:cNvSpPr/>
              <p:nvPr/>
            </p:nvSpPr>
            <p:spPr>
              <a:xfrm>
                <a:off x="967942" y="2502147"/>
                <a:ext cx="1523109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𝑤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=0.959 </m:t>
                      </m:r>
                    </m:oMath>
                  </m:oMathPara>
                </a14:m>
                <a:endParaRPr lang="sv-SE" dirty="0"/>
              </a:p>
            </p:txBody>
          </p:sp>
        </mc:Choice>
        <mc:Fallback xmlns="">
          <p:sp>
            <p:nvSpPr>
              <p:cNvPr id="8" name="Rectangle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7942" y="2502147"/>
                <a:ext cx="1523109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/>
              <p:cNvSpPr/>
              <p:nvPr/>
            </p:nvSpPr>
            <p:spPr>
              <a:xfrm>
                <a:off x="906981" y="2973385"/>
                <a:ext cx="1447599" cy="61645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sty m:val="p"/>
                            </m:rPr>
                            <a:rPr lang="en-US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A</m:t>
                          </m:r>
                        </m:e>
                      </m:ac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=60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𝑘𝐴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sv-SE" dirty="0"/>
              </a:p>
            </p:txBody>
          </p:sp>
        </mc:Choice>
        <mc:Fallback xmlns="">
          <p:sp>
            <p:nvSpPr>
              <p:cNvPr id="9" name="Rectangle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6981" y="2973385"/>
                <a:ext cx="1447599" cy="61645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/>
              <p:cNvSpPr/>
              <p:nvPr/>
            </p:nvSpPr>
            <p:spPr>
              <a:xfrm>
                <a:off x="712670" y="3691742"/>
                <a:ext cx="1836219" cy="37677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acc>
                      <m:r>
                        <a:rPr lang="en-US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=1.05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𝑇</m:t>
                      </m:r>
                    </m:oMath>
                  </m:oMathPara>
                </a14:m>
                <a:endParaRPr lang="sv-SE" dirty="0"/>
              </a:p>
            </p:txBody>
          </p:sp>
        </mc:Choice>
        <mc:Fallback xmlns="">
          <p:sp>
            <p:nvSpPr>
              <p:cNvPr id="10" name="Rectangle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2670" y="3691742"/>
                <a:ext cx="1836219" cy="376770"/>
              </a:xfrm>
              <a:prstGeom prst="rect">
                <a:avLst/>
              </a:prstGeom>
              <a:blipFill>
                <a:blip r:embed="rId6"/>
                <a:stretch>
                  <a:fillRect t="-1639"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 10"/>
              <p:cNvSpPr/>
              <p:nvPr/>
            </p:nvSpPr>
            <p:spPr>
              <a:xfrm>
                <a:off x="906981" y="4300374"/>
                <a:ext cx="1520288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=330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𝑘𝑉𝐴</m:t>
                      </m:r>
                    </m:oMath>
                  </m:oMathPara>
                </a14:m>
                <a:endParaRPr lang="sv-SE" dirty="0"/>
              </a:p>
            </p:txBody>
          </p:sp>
        </mc:Choice>
        <mc:Fallback xmlns="">
          <p:sp>
            <p:nvSpPr>
              <p:cNvPr id="11" name="Rectangle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6981" y="4300374"/>
                <a:ext cx="1520288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11"/>
              <p:cNvSpPr/>
              <p:nvPr/>
            </p:nvSpPr>
            <p:spPr>
              <a:xfrm>
                <a:off x="906981" y="4930275"/>
                <a:ext cx="1957907" cy="38433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𝑙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(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𝑖𝑛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 </m:t>
                      </m:r>
                    </m:oMath>
                  </m:oMathPara>
                </a14:m>
                <a:endParaRPr lang="sv-SE" dirty="0"/>
              </a:p>
            </p:txBody>
          </p:sp>
        </mc:Choice>
        <mc:Fallback xmlns="">
          <p:sp>
            <p:nvSpPr>
              <p:cNvPr id="12" name="Rectangle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6981" y="4930275"/>
                <a:ext cx="1957907" cy="384336"/>
              </a:xfrm>
              <a:prstGeom prst="rect">
                <a:avLst/>
              </a:prstGeom>
              <a:blipFill>
                <a:blip r:embed="rId8"/>
                <a:stretch>
                  <a:fillRect b="-12698"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ctangle 12"/>
              <p:cNvSpPr/>
              <p:nvPr/>
            </p:nvSpPr>
            <p:spPr>
              <a:xfrm>
                <a:off x="926268" y="5530493"/>
                <a:ext cx="1577034" cy="61279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𝑠𝑦𝑠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𝑖𝑛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sv-SE" dirty="0"/>
              </a:p>
            </p:txBody>
          </p:sp>
        </mc:Choice>
        <mc:Fallback xmlns="">
          <p:sp>
            <p:nvSpPr>
              <p:cNvPr id="13" name="Rectangle 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6268" y="5530493"/>
                <a:ext cx="1577034" cy="612796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5" name="Picture 14"/>
          <p:cNvPicPr>
            <a:picLocks noChangeAspect="1"/>
          </p:cNvPicPr>
          <p:nvPr/>
        </p:nvPicPr>
        <p:blipFill rotWithShape="1">
          <a:blip r:embed="rId10"/>
          <a:srcRect t="299"/>
          <a:stretch/>
        </p:blipFill>
        <p:spPr>
          <a:xfrm>
            <a:off x="6016122" y="2397369"/>
            <a:ext cx="5105268" cy="3817480"/>
          </a:xfrm>
          <a:prstGeom prst="rect">
            <a:avLst/>
          </a:prstGeom>
        </p:spPr>
      </p:pic>
      <p:cxnSp>
        <p:nvCxnSpPr>
          <p:cNvPr id="20" name="Straight Arrow Connector 19"/>
          <p:cNvCxnSpPr/>
          <p:nvPr/>
        </p:nvCxnSpPr>
        <p:spPr>
          <a:xfrm>
            <a:off x="2667000" y="4068512"/>
            <a:ext cx="80010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3714918" y="3007711"/>
            <a:ext cx="2152482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If an induction machine is utilized, the specific magnetic and specific loadings would be decreased and  S should be raised for the same output power due to its bad power factor</a:t>
            </a:r>
            <a:endParaRPr lang="sv-SE" dirty="0"/>
          </a:p>
        </p:txBody>
      </p:sp>
      <p:cxnSp>
        <p:nvCxnSpPr>
          <p:cNvPr id="23" name="Straight Arrow Connector 22"/>
          <p:cNvCxnSpPr>
            <a:endCxn id="25" idx="1"/>
          </p:cNvCxnSpPr>
          <p:nvPr/>
        </p:nvCxnSpPr>
        <p:spPr>
          <a:xfrm flipV="1">
            <a:off x="2427269" y="1708255"/>
            <a:ext cx="5661281" cy="410916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8088550" y="969591"/>
            <a:ext cx="4027247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If we select a lower synchronous speed, we might increase the number of poles (that means using the same electrical </a:t>
            </a:r>
            <a:r>
              <a:rPr lang="en-US" dirty="0"/>
              <a:t>frequency every time), enabling a shorter outer diameter (stator diameter).  </a:t>
            </a:r>
            <a:endParaRPr lang="sv-SE" dirty="0"/>
          </a:p>
        </p:txBody>
      </p:sp>
      <p:cxnSp>
        <p:nvCxnSpPr>
          <p:cNvPr id="28" name="Straight Arrow Connector 27"/>
          <p:cNvCxnSpPr/>
          <p:nvPr/>
        </p:nvCxnSpPr>
        <p:spPr>
          <a:xfrm>
            <a:off x="1630779" y="5189220"/>
            <a:ext cx="2567841" cy="95406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4198620" y="5981700"/>
            <a:ext cx="229348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Inner diameter (rotor diameter)</a:t>
            </a:r>
            <a:endParaRPr lang="sv-SE" dirty="0"/>
          </a:p>
        </p:txBody>
      </p:sp>
      <p:pic>
        <p:nvPicPr>
          <p:cNvPr id="35" name="Picture 34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548645" y="81961"/>
            <a:ext cx="3064235" cy="8992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909521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9938" y="672612"/>
            <a:ext cx="5334000" cy="40005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393723" y="398584"/>
            <a:ext cx="2362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Variable pole pairs</a:t>
            </a:r>
            <a:endParaRPr lang="sv-SE" dirty="0"/>
          </a:p>
        </p:txBody>
      </p:sp>
      <p:sp>
        <p:nvSpPr>
          <p:cNvPr id="11" name="TextBox 10"/>
          <p:cNvSpPr txBox="1"/>
          <p:nvPr/>
        </p:nvSpPr>
        <p:spPr>
          <a:xfrm>
            <a:off x="3217985" y="427892"/>
            <a:ext cx="17350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2 pole pair</a:t>
            </a:r>
            <a:endParaRPr lang="sv-SE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8723" y="672612"/>
            <a:ext cx="5334000" cy="4000500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92107" y="5322176"/>
            <a:ext cx="3064235" cy="8992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860483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4930140" y="236220"/>
            <a:ext cx="24079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Motor Loss Estimation</a:t>
            </a:r>
            <a:endParaRPr lang="sv-SE" b="1" dirty="0"/>
          </a:p>
        </p:txBody>
      </p:sp>
      <p:sp>
        <p:nvSpPr>
          <p:cNvPr id="6" name="Rectangle 5"/>
          <p:cNvSpPr/>
          <p:nvPr/>
        </p:nvSpPr>
        <p:spPr>
          <a:xfrm>
            <a:off x="784860" y="1037569"/>
            <a:ext cx="930402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sv-SE" dirty="0"/>
              <a:t>The EM </a:t>
            </a:r>
            <a:r>
              <a:rPr lang="sv-SE" dirty="0" err="1"/>
              <a:t>power</a:t>
            </a:r>
            <a:r>
              <a:rPr lang="sv-SE" dirty="0"/>
              <a:t> </a:t>
            </a:r>
            <a:r>
              <a:rPr lang="sv-SE" dirty="0" err="1"/>
              <a:t>losses</a:t>
            </a:r>
            <a:r>
              <a:rPr lang="sv-SE" dirty="0"/>
              <a:t> </a:t>
            </a:r>
            <a:r>
              <a:rPr lang="sv-SE" dirty="0" err="1"/>
              <a:t>are</a:t>
            </a:r>
            <a:r>
              <a:rPr lang="sv-SE" dirty="0"/>
              <a:t> </a:t>
            </a:r>
            <a:r>
              <a:rPr lang="sv-SE" dirty="0" err="1"/>
              <a:t>modelled</a:t>
            </a:r>
            <a:r>
              <a:rPr lang="sv-SE" dirty="0"/>
              <a:t> by a second-order </a:t>
            </a:r>
            <a:r>
              <a:rPr lang="sv-SE" dirty="0" err="1"/>
              <a:t>polynomial</a:t>
            </a:r>
            <a:r>
              <a:rPr lang="sv-SE" dirty="0"/>
              <a:t> in the </a:t>
            </a:r>
            <a:r>
              <a:rPr lang="sv-SE" dirty="0" err="1"/>
              <a:t>mechanical</a:t>
            </a:r>
            <a:r>
              <a:rPr lang="sv-SE" dirty="0"/>
              <a:t> </a:t>
            </a:r>
            <a:r>
              <a:rPr lang="sv-SE" dirty="0" err="1"/>
              <a:t>power</a:t>
            </a:r>
            <a:endParaRPr lang="sv-SE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2499360" y="1585568"/>
                <a:ext cx="4732020" cy="37317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𝐸𝑀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𝑙𝑜𝑠𝑠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sSubSup>
                        <m:sSub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𝐸𝑀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𝐸𝑀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sv-SE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99360" y="1585568"/>
                <a:ext cx="4732020" cy="373179"/>
              </a:xfrm>
              <a:prstGeom prst="rect">
                <a:avLst/>
              </a:prstGeom>
              <a:blipFill>
                <a:blip r:embed="rId2"/>
                <a:stretch>
                  <a:fillRect b="-1639"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2" name="Picture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52731" y="2748330"/>
            <a:ext cx="3680438" cy="2513626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1020" y="2202180"/>
            <a:ext cx="3916680" cy="2937510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63794" y="2205866"/>
            <a:ext cx="3979317" cy="298448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6" name="Rectangle 15"/>
              <p:cNvSpPr/>
              <p:nvPr/>
            </p:nvSpPr>
            <p:spPr>
              <a:xfrm>
                <a:off x="2304448" y="5551925"/>
                <a:ext cx="1407052" cy="90633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0.04</m:t>
                          </m:r>
                        </m:num>
                        <m:den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𝑇</m:t>
                                      </m:r>
                                    </m:e>
                                    <m:sub>
                                      <m:r>
                                        <m:rPr>
                                          <m:sty m:val="p"/>
                                        </m:rPr>
                                        <a:rPr lang="en-US">
                                          <a:latin typeface="Cambria Math" panose="02040503050406030204" pitchFamily="18" charset="0"/>
                                        </a:rPr>
                                        <m:t>ma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𝑥𝑖</m:t>
                                      </m:r>
                                    </m:sub>
                                  </m:sSub>
                                </m:e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sSup>
                                <m:s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477</m:t>
                                  </m:r>
                                </m:e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</m:den>
                      </m:f>
                    </m:oMath>
                  </m:oMathPara>
                </a14:m>
                <a:endParaRPr lang="sv-SE" dirty="0"/>
              </a:p>
            </p:txBody>
          </p:sp>
        </mc:Choice>
        <mc:Fallback xmlns="">
          <p:sp>
            <p:nvSpPr>
              <p:cNvPr id="16" name="Rectangle 1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04448" y="5551925"/>
                <a:ext cx="1407052" cy="906338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Rectangle 16"/>
              <p:cNvSpPr/>
              <p:nvPr/>
            </p:nvSpPr>
            <p:spPr>
              <a:xfrm>
                <a:off x="4270408" y="5551925"/>
                <a:ext cx="1319464" cy="86004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num>
                        <m:den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𝑚𝑎𝑥𝑖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477</m:t>
                              </m:r>
                            </m:den>
                          </m:f>
                        </m:den>
                      </m:f>
                    </m:oMath>
                  </m:oMathPara>
                </a14:m>
                <a:endParaRPr lang="sv-SE" dirty="0"/>
              </a:p>
            </p:txBody>
          </p:sp>
        </mc:Choice>
        <mc:Fallback xmlns="">
          <p:sp>
            <p:nvSpPr>
              <p:cNvPr id="17" name="Rectangle 1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70408" y="5551925"/>
                <a:ext cx="1319464" cy="860044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Rectangle 17"/>
              <p:cNvSpPr/>
              <p:nvPr/>
            </p:nvSpPr>
            <p:spPr>
              <a:xfrm>
                <a:off x="6307317" y="5497316"/>
                <a:ext cx="1389803" cy="94570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−5</m:t>
                              </m:r>
                            </m:sup>
                          </m:s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num>
                        <m:den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Sup>
                                <m:sSub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𝑁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𝑏𝑎𝑠𝑒</m:t>
                                  </m:r>
                                </m:sub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</m:num>
                            <m:den>
                              <m:sSup>
                                <m:s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6000</m:t>
                                  </m:r>
                                </m:e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</m:den>
                      </m:f>
                    </m:oMath>
                  </m:oMathPara>
                </a14:m>
                <a:endParaRPr lang="sv-SE" dirty="0"/>
              </a:p>
            </p:txBody>
          </p:sp>
        </mc:Choice>
        <mc:Fallback xmlns="">
          <p:sp>
            <p:nvSpPr>
              <p:cNvPr id="18" name="Rectangle 1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07317" y="5497316"/>
                <a:ext cx="1389803" cy="945708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0" name="Straight Arrow Connector 19"/>
          <p:cNvCxnSpPr/>
          <p:nvPr/>
        </p:nvCxnSpPr>
        <p:spPr>
          <a:xfrm>
            <a:off x="6886722" y="1782026"/>
            <a:ext cx="2585524" cy="1160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9578340" y="1309610"/>
            <a:ext cx="206502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We do not include the switching harmonics losses here</a:t>
            </a:r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375668917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4754880" y="289560"/>
            <a:ext cx="36804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Inverter Size and Loss Estimation</a:t>
            </a:r>
            <a:endParaRPr lang="sv-SE" b="1" dirty="0"/>
          </a:p>
        </p:txBody>
      </p:sp>
      <p:sp>
        <p:nvSpPr>
          <p:cNvPr id="2" name="TextBox 1"/>
          <p:cNvSpPr txBox="1"/>
          <p:nvPr/>
        </p:nvSpPr>
        <p:spPr>
          <a:xfrm>
            <a:off x="480060" y="1074420"/>
            <a:ext cx="99212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 inverter is not affected by gear ratio if the DC-link </a:t>
            </a:r>
            <a:r>
              <a:rPr lang="en-US" dirty="0" smtClean="0"/>
              <a:t>voltage and power are the same.   </a:t>
            </a:r>
            <a:endParaRPr lang="sv-SE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3423030" y="1709816"/>
                <a:ext cx="3238131" cy="29892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𝑒𝑙𝑒𝑐𝑡𝑟𝑖𝑐𝑎𝑙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𝑠𝑦𝑛𝑐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𝑝𝑜𝑙𝑒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𝑝𝑎𝑖𝑟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sv-SE" dirty="0"/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23030" y="1709816"/>
                <a:ext cx="3238131" cy="298928"/>
              </a:xfrm>
              <a:prstGeom prst="rect">
                <a:avLst/>
              </a:prstGeom>
              <a:blipFill>
                <a:blip r:embed="rId2"/>
                <a:stretch>
                  <a:fillRect l="-2072" r="-565" b="-24000"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" name="Straight Arrow Connector 13"/>
          <p:cNvCxnSpPr/>
          <p:nvPr/>
        </p:nvCxnSpPr>
        <p:spPr>
          <a:xfrm flipH="1">
            <a:off x="3967676" y="1984136"/>
            <a:ext cx="7620" cy="51816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/>
              <p:cNvSpPr txBox="1"/>
              <p:nvPr/>
            </p:nvSpPr>
            <p:spPr>
              <a:xfrm>
                <a:off x="3328194" y="2502296"/>
                <a:ext cx="2117118" cy="29924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𝑠𝑤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𝑒𝑙𝑒𝑐𝑡𝑟𝑖𝑐𝑎𝑙</m:t>
                          </m:r>
                        </m:sub>
                      </m:sSub>
                    </m:oMath>
                  </m:oMathPara>
                </a14:m>
                <a:endParaRPr lang="sv-SE" dirty="0"/>
              </a:p>
            </p:txBody>
          </p:sp>
        </mc:Choice>
        <mc:Fallback xmlns="">
          <p:sp>
            <p:nvSpPr>
              <p:cNvPr id="24" name="TextBox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28194" y="2502296"/>
                <a:ext cx="2117118" cy="299249"/>
              </a:xfrm>
              <a:prstGeom prst="rect">
                <a:avLst/>
              </a:prstGeom>
              <a:blipFill>
                <a:blip r:embed="rId3"/>
                <a:stretch>
                  <a:fillRect l="-3458" r="-865" b="-26000"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/>
              <p:cNvSpPr txBox="1"/>
              <p:nvPr/>
            </p:nvSpPr>
            <p:spPr>
              <a:xfrm>
                <a:off x="5918027" y="2317629"/>
                <a:ext cx="5318760" cy="66858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 smtClean="0"/>
                  <a:t>We can keep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𝑓</m:t>
                        </m:r>
                      </m:sub>
                    </m:sSub>
                  </m:oMath>
                </a14:m>
                <a:r>
                  <a:rPr lang="sv-SE" dirty="0" smtClean="0"/>
                  <a:t> </a:t>
                </a:r>
                <a:r>
                  <a:rPr lang="sv-SE" dirty="0" err="1" smtClean="0"/>
                  <a:t>constant</a:t>
                </a:r>
                <a:r>
                  <a:rPr lang="sv-SE" dirty="0" smtClean="0"/>
                  <a:t>, so the </a:t>
                </a:r>
                <a:r>
                  <a:rPr lang="sv-SE" dirty="0" err="1" smtClean="0"/>
                  <a:t>minumum</a:t>
                </a:r>
                <a:r>
                  <a:rPr lang="sv-SE" dirty="0" smtClean="0"/>
                  <a:t> </a:t>
                </a:r>
                <a:r>
                  <a:rPr lang="sv-SE" dirty="0" err="1" smtClean="0"/>
                  <a:t>switching</a:t>
                </a:r>
                <a:r>
                  <a:rPr lang="sv-SE" dirty="0" smtClean="0"/>
                  <a:t> </a:t>
                </a:r>
                <a:r>
                  <a:rPr lang="sv-SE" dirty="0" err="1" smtClean="0"/>
                  <a:t>frequency</a:t>
                </a:r>
                <a:r>
                  <a:rPr lang="sv-SE" dirty="0" smtClean="0"/>
                  <a:t> </a:t>
                </a:r>
                <a:r>
                  <a:rPr lang="sv-SE" dirty="0" err="1" smtClean="0"/>
                  <a:t>requirement</a:t>
                </a:r>
                <a:r>
                  <a:rPr lang="sv-SE" dirty="0" smtClean="0"/>
                  <a:t> </a:t>
                </a:r>
                <a:r>
                  <a:rPr lang="sv-SE" dirty="0" err="1" smtClean="0"/>
                  <a:t>changes</a:t>
                </a:r>
                <a:r>
                  <a:rPr lang="sv-SE" dirty="0" smtClean="0"/>
                  <a:t>. </a:t>
                </a:r>
                <a:endParaRPr lang="sv-SE" dirty="0"/>
              </a:p>
            </p:txBody>
          </p:sp>
        </mc:Choice>
        <mc:Fallback xmlns="">
          <p:sp>
            <p:nvSpPr>
              <p:cNvPr id="32" name="TextBox 3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18027" y="2317629"/>
                <a:ext cx="5318760" cy="668581"/>
              </a:xfrm>
              <a:prstGeom prst="rect">
                <a:avLst/>
              </a:prstGeom>
              <a:blipFill>
                <a:blip r:embed="rId4"/>
                <a:stretch>
                  <a:fillRect l="-1032" t="-3636" b="-13636"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6" name="Picture 35"/>
          <p:cNvPicPr>
            <a:picLocks noChangeAspect="1"/>
          </p:cNvPicPr>
          <p:nvPr/>
        </p:nvPicPr>
        <p:blipFill rotWithShape="1">
          <a:blip r:embed="rId5"/>
          <a:srcRect t="46287"/>
          <a:stretch/>
        </p:blipFill>
        <p:spPr>
          <a:xfrm>
            <a:off x="741590" y="3713007"/>
            <a:ext cx="4356190" cy="2833727"/>
          </a:xfrm>
          <a:prstGeom prst="rect">
            <a:avLst/>
          </a:prstGeom>
        </p:spPr>
      </p:pic>
      <p:pic>
        <p:nvPicPr>
          <p:cNvPr id="38" name="Picture 37"/>
          <p:cNvPicPr>
            <a:picLocks noChangeAspect="1"/>
          </p:cNvPicPr>
          <p:nvPr/>
        </p:nvPicPr>
        <p:blipFill rotWithShape="1">
          <a:blip r:embed="rId6"/>
          <a:srcRect t="44670" b="17339"/>
          <a:stretch/>
        </p:blipFill>
        <p:spPr>
          <a:xfrm>
            <a:off x="5553007" y="3713007"/>
            <a:ext cx="5888925" cy="28001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044687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4646930" y="144928"/>
            <a:ext cx="29489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Gearbox Size Estimation</a:t>
            </a:r>
            <a:endParaRPr lang="sv-SE" b="1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418" y="1126703"/>
            <a:ext cx="7969334" cy="4235450"/>
          </a:xfrm>
          <a:prstGeom prst="rect">
            <a:avLst/>
          </a:prstGeom>
        </p:spPr>
      </p:pic>
      <p:cxnSp>
        <p:nvCxnSpPr>
          <p:cNvPr id="13" name="Straight Arrow Connector 12"/>
          <p:cNvCxnSpPr/>
          <p:nvPr/>
        </p:nvCxnSpPr>
        <p:spPr>
          <a:xfrm flipH="1" flipV="1">
            <a:off x="4488180" y="2428453"/>
            <a:ext cx="673100" cy="609600"/>
          </a:xfrm>
          <a:prstGeom prst="straightConnector1">
            <a:avLst/>
          </a:prstGeom>
          <a:ln w="762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/>
          <p:nvPr/>
        </p:nvCxnSpPr>
        <p:spPr>
          <a:xfrm flipH="1">
            <a:off x="2830830" y="2612603"/>
            <a:ext cx="1104900" cy="336550"/>
          </a:xfrm>
          <a:prstGeom prst="straightConnector1">
            <a:avLst/>
          </a:prstGeom>
          <a:ln w="762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4646930" y="2046421"/>
            <a:ext cx="1143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solidFill>
                  <a:srgbClr val="FF0000"/>
                </a:solidFill>
              </a:rPr>
              <a:t>78/25</a:t>
            </a:r>
            <a:endParaRPr lang="sv-SE" sz="2400" b="1" dirty="0">
              <a:solidFill>
                <a:srgbClr val="FF0000"/>
              </a:solidFill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2640330" y="2197620"/>
            <a:ext cx="1143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solidFill>
                  <a:srgbClr val="FF0000"/>
                </a:solidFill>
              </a:rPr>
              <a:t>78/25</a:t>
            </a:r>
            <a:endParaRPr lang="sv-SE" sz="2400" b="1" dirty="0">
              <a:solidFill>
                <a:srgbClr val="FF0000"/>
              </a:solidFill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3456305" y="697820"/>
            <a:ext cx="20637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Tesla </a:t>
            </a:r>
            <a:endParaRPr lang="sv-SE" dirty="0"/>
          </a:p>
        </p:txBody>
      </p:sp>
      <p:pic>
        <p:nvPicPr>
          <p:cNvPr id="23" name="Picture 2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5252" y="1350022"/>
            <a:ext cx="3622635" cy="37888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986020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4646930" y="144928"/>
            <a:ext cx="29489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Gearbox Size Estimation</a:t>
            </a:r>
            <a:endParaRPr lang="sv-SE" b="1" dirty="0"/>
          </a:p>
        </p:txBody>
      </p:sp>
      <p:sp>
        <p:nvSpPr>
          <p:cNvPr id="10" name="Rectangle 9"/>
          <p:cNvSpPr/>
          <p:nvPr/>
        </p:nvSpPr>
        <p:spPr>
          <a:xfrm>
            <a:off x="2069851" y="1399024"/>
            <a:ext cx="487729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/>
              <a:t>Gear Ratio Distribution of Electric Vehicle Reducer</a:t>
            </a:r>
            <a:endParaRPr lang="sv-SE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300" y="3328273"/>
            <a:ext cx="7418276" cy="2494597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9334500" y="1883589"/>
            <a:ext cx="188214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b="1" dirty="0" smtClean="0"/>
              <a:t>Spur gear </a:t>
            </a:r>
          </a:p>
          <a:p>
            <a:pPr marL="342900" indent="-342900">
              <a:buFont typeface="+mj-lt"/>
              <a:buAutoNum type="arabicPeriod"/>
            </a:pPr>
            <a:r>
              <a:rPr lang="en-US" b="1" dirty="0" smtClean="0"/>
              <a:t>Helical gear </a:t>
            </a:r>
          </a:p>
          <a:p>
            <a:pPr marL="342900" indent="-342900">
              <a:buFont typeface="+mj-lt"/>
              <a:buAutoNum type="arabicPeriod"/>
            </a:pPr>
            <a:r>
              <a:rPr lang="en-US" b="1" dirty="0" smtClean="0"/>
              <a:t>Ring gear</a:t>
            </a:r>
            <a:endParaRPr lang="sv-SE" b="1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82192" y="3039944"/>
            <a:ext cx="3220340" cy="181282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785860" y="4967804"/>
            <a:ext cx="22936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Chevrolet Bolt EV</a:t>
            </a:r>
            <a:endParaRPr lang="sv-SE" dirty="0"/>
          </a:p>
        </p:txBody>
      </p:sp>
      <p:sp>
        <p:nvSpPr>
          <p:cNvPr id="7" name="TextBox 6"/>
          <p:cNvSpPr txBox="1"/>
          <p:nvPr/>
        </p:nvSpPr>
        <p:spPr>
          <a:xfrm>
            <a:off x="845820" y="1839615"/>
            <a:ext cx="30099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Torque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Gear ratio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Material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Usage duty</a:t>
            </a:r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417810656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5029200" y="320040"/>
            <a:ext cx="32918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/>
              <a:t>Single Stage Gear </a:t>
            </a:r>
            <a:endParaRPr lang="sv-SE" sz="2400" b="1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080" y="942974"/>
            <a:ext cx="5280660" cy="396049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113020" y="5158740"/>
            <a:ext cx="35433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</a:t>
            </a:r>
            <a:r>
              <a:rPr lang="en-US" dirty="0" smtClean="0"/>
              <a:t>he </a:t>
            </a:r>
            <a:r>
              <a:rPr lang="en-US" b="1" dirty="0" smtClean="0"/>
              <a:t>volume</a:t>
            </a:r>
            <a:r>
              <a:rPr lang="en-US" dirty="0" smtClean="0"/>
              <a:t> will be increased </a:t>
            </a:r>
            <a:r>
              <a:rPr lang="en-US" dirty="0" err="1" smtClean="0"/>
              <a:t>quadratically</a:t>
            </a:r>
            <a:r>
              <a:rPr lang="en-US" dirty="0" smtClean="0"/>
              <a:t> if we have a constant aspect ratio and material.  </a:t>
            </a:r>
            <a:endParaRPr lang="sv-SE" dirty="0"/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7960" y="781705"/>
            <a:ext cx="5334000" cy="4000500"/>
          </a:xfrm>
          <a:prstGeom prst="rect">
            <a:avLst/>
          </a:prstGeom>
        </p:spPr>
      </p:pic>
      <p:cxnSp>
        <p:nvCxnSpPr>
          <p:cNvPr id="3" name="Straight Arrow Connector 2"/>
          <p:cNvCxnSpPr/>
          <p:nvPr/>
        </p:nvCxnSpPr>
        <p:spPr>
          <a:xfrm flipV="1">
            <a:off x="1148862" y="679938"/>
            <a:ext cx="17584" cy="137160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246184" y="41372"/>
            <a:ext cx="381586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Not realistic values, since I have randomly selected the material !!!</a:t>
            </a:r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207069577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ZF Electric Axle Driv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9107" y="1074430"/>
            <a:ext cx="3567677" cy="23736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4296507" y="252046"/>
            <a:ext cx="22156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E-axle ??? </a:t>
            </a:r>
            <a:endParaRPr lang="sv-SE" b="1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4823" y="1354865"/>
            <a:ext cx="3220340" cy="1812823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2491154" y="1074430"/>
            <a:ext cx="2291861" cy="104744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6" name="Rectangle 5"/>
          <p:cNvSpPr/>
          <p:nvPr/>
        </p:nvSpPr>
        <p:spPr>
          <a:xfrm>
            <a:off x="2491154" y="2261276"/>
            <a:ext cx="2291861" cy="104744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7" name="Rectangle 6"/>
          <p:cNvSpPr/>
          <p:nvPr/>
        </p:nvSpPr>
        <p:spPr>
          <a:xfrm>
            <a:off x="1740877" y="1307124"/>
            <a:ext cx="650631" cy="20016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10" name="TextBox 9"/>
          <p:cNvSpPr txBox="1"/>
          <p:nvPr/>
        </p:nvSpPr>
        <p:spPr>
          <a:xfrm>
            <a:off x="2491154" y="3719947"/>
            <a:ext cx="6576646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If gear diameters are shorter than the summation of motor diameters and the height of the inverter in the e-axle system, we can increase the gear ratio.  Therefore, the motor diameter is decreased, and there might be a sweet point that they are overlapped.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However, consider that the width </a:t>
            </a:r>
            <a:r>
              <a:rPr lang="en-US" dirty="0"/>
              <a:t>of the </a:t>
            </a:r>
            <a:r>
              <a:rPr lang="en-US" dirty="0" smtClean="0"/>
              <a:t>gearbox is </a:t>
            </a:r>
            <a:r>
              <a:rPr lang="en-US" dirty="0"/>
              <a:t>also increased with the diameter if we use the same </a:t>
            </a:r>
            <a:r>
              <a:rPr lang="en-US" dirty="0" smtClean="0"/>
              <a:t>material and so </a:t>
            </a:r>
            <a:r>
              <a:rPr lang="en-US" dirty="0"/>
              <a:t>the aspect </a:t>
            </a:r>
            <a:r>
              <a:rPr lang="en-US" dirty="0" smtClean="0"/>
              <a:t>ratio.  </a:t>
            </a:r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350791738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538416" y="1087395"/>
            <a:ext cx="1112109" cy="50662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Batteries</a:t>
            </a:r>
            <a:endParaRPr lang="sv-SE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3291016" y="1087395"/>
            <a:ext cx="1112109" cy="50662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Inverter</a:t>
            </a:r>
            <a:endParaRPr lang="sv-SE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8" name="Straight Arrow Connector 7"/>
          <p:cNvCxnSpPr/>
          <p:nvPr/>
        </p:nvCxnSpPr>
        <p:spPr>
          <a:xfrm>
            <a:off x="2650525" y="1224689"/>
            <a:ext cx="640491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>
            <a:stCxn id="4" idx="2"/>
          </p:cNvCxnSpPr>
          <p:nvPr/>
        </p:nvCxnSpPr>
        <p:spPr>
          <a:xfrm flipH="1">
            <a:off x="2094470" y="1594023"/>
            <a:ext cx="1" cy="30274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/>
          <p:nvPr/>
        </p:nvCxnSpPr>
        <p:spPr>
          <a:xfrm flipV="1">
            <a:off x="4403125" y="1224689"/>
            <a:ext cx="465438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/>
          <p:nvPr/>
        </p:nvCxnSpPr>
        <p:spPr>
          <a:xfrm flipH="1">
            <a:off x="3860458" y="1594023"/>
            <a:ext cx="1" cy="30274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4868563" y="1087394"/>
            <a:ext cx="1112109" cy="50662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E-motor</a:t>
            </a:r>
            <a:endParaRPr lang="sv-SE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1" name="Straight Arrow Connector 20"/>
          <p:cNvCxnSpPr/>
          <p:nvPr/>
        </p:nvCxnSpPr>
        <p:spPr>
          <a:xfrm flipV="1">
            <a:off x="5980672" y="1224689"/>
            <a:ext cx="465438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6446110" y="1087393"/>
            <a:ext cx="1112109" cy="50662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Gearbox</a:t>
            </a:r>
            <a:endParaRPr lang="sv-SE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8023657" y="1087393"/>
            <a:ext cx="1112109" cy="50662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Vehicle</a:t>
            </a:r>
            <a:endParaRPr lang="sv-SE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5" name="Straight Arrow Connector 24"/>
          <p:cNvCxnSpPr/>
          <p:nvPr/>
        </p:nvCxnSpPr>
        <p:spPr>
          <a:xfrm flipH="1">
            <a:off x="5424616" y="1594023"/>
            <a:ext cx="1" cy="30274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/>
          <p:cNvCxnSpPr/>
          <p:nvPr/>
        </p:nvCxnSpPr>
        <p:spPr>
          <a:xfrm flipH="1">
            <a:off x="6988773" y="1594021"/>
            <a:ext cx="1" cy="30274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/>
          <p:nvPr/>
        </p:nvCxnSpPr>
        <p:spPr>
          <a:xfrm flipH="1">
            <a:off x="8585881" y="1594021"/>
            <a:ext cx="1" cy="30274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/>
              <p:cNvSpPr txBox="1"/>
              <p:nvPr/>
            </p:nvSpPr>
            <p:spPr>
              <a:xfrm>
                <a:off x="6041470" y="1190819"/>
                <a:ext cx="315092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dirty="0" smtClean="0">
                          <a:latin typeface="Cambria Math" panose="02040503050406030204" pitchFamily="18" charset="0"/>
                        </a:rPr>
                        <m:t>𝜔</m:t>
                      </m:r>
                    </m:oMath>
                  </m:oMathPara>
                </a14:m>
                <a:endParaRPr lang="sv-SE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0" name="TextBox 2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41470" y="1190819"/>
                <a:ext cx="315092" cy="30777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" name="Rectangle 37"/>
          <p:cNvSpPr/>
          <p:nvPr/>
        </p:nvSpPr>
        <p:spPr>
          <a:xfrm>
            <a:off x="9617804" y="1087393"/>
            <a:ext cx="1112109" cy="50662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Drive Cycle</a:t>
            </a:r>
            <a:endParaRPr lang="sv-SE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9" name="Straight Arrow Connector 38"/>
          <p:cNvCxnSpPr/>
          <p:nvPr/>
        </p:nvCxnSpPr>
        <p:spPr>
          <a:xfrm>
            <a:off x="2650525" y="1428575"/>
            <a:ext cx="640491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/>
              <p:cNvSpPr txBox="1"/>
              <p:nvPr/>
            </p:nvSpPr>
            <p:spPr>
              <a:xfrm>
                <a:off x="2788991" y="991624"/>
                <a:ext cx="262594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dirty="0" smtClean="0">
                          <a:latin typeface="Cambria Math" panose="02040503050406030204" pitchFamily="18" charset="0"/>
                        </a:rPr>
                        <m:t>𝑉</m:t>
                      </m:r>
                    </m:oMath>
                  </m:oMathPara>
                </a14:m>
                <a:endParaRPr lang="sv-SE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0" name="TextBox 3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88991" y="991624"/>
                <a:ext cx="262594" cy="30777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/>
              <p:cNvSpPr txBox="1"/>
              <p:nvPr/>
            </p:nvSpPr>
            <p:spPr>
              <a:xfrm>
                <a:off x="2758632" y="1185670"/>
                <a:ext cx="305831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dirty="0" smtClean="0">
                          <a:latin typeface="Cambria Math" panose="02040503050406030204" pitchFamily="18" charset="0"/>
                        </a:rPr>
                        <m:t>𝐼</m:t>
                      </m:r>
                    </m:oMath>
                  </m:oMathPara>
                </a14:m>
                <a:endParaRPr lang="sv-SE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1" name="TextBox 4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58632" y="1185670"/>
                <a:ext cx="305831" cy="30777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2" name="Straight Arrow Connector 41"/>
          <p:cNvCxnSpPr/>
          <p:nvPr/>
        </p:nvCxnSpPr>
        <p:spPr>
          <a:xfrm>
            <a:off x="4409824" y="1450770"/>
            <a:ext cx="458739" cy="320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/>
              <p:cNvSpPr txBox="1"/>
              <p:nvPr/>
            </p:nvSpPr>
            <p:spPr>
              <a:xfrm>
                <a:off x="4482928" y="991624"/>
                <a:ext cx="262594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dirty="0" smtClean="0">
                          <a:latin typeface="Cambria Math" panose="02040503050406030204" pitchFamily="18" charset="0"/>
                        </a:rPr>
                        <m:t>𝑉</m:t>
                      </m:r>
                    </m:oMath>
                  </m:oMathPara>
                </a14:m>
                <a:endParaRPr lang="sv-SE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5" name="TextBox 4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82928" y="991624"/>
                <a:ext cx="262594" cy="30777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/>
              <p:cNvSpPr txBox="1"/>
              <p:nvPr/>
            </p:nvSpPr>
            <p:spPr>
              <a:xfrm>
                <a:off x="4452569" y="1185670"/>
                <a:ext cx="305831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dirty="0" smtClean="0">
                          <a:latin typeface="Cambria Math" panose="02040503050406030204" pitchFamily="18" charset="0"/>
                        </a:rPr>
                        <m:t>𝐼</m:t>
                      </m:r>
                    </m:oMath>
                  </m:oMathPara>
                </a14:m>
                <a:endParaRPr lang="sv-SE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6" name="TextBox 4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52569" y="1185670"/>
                <a:ext cx="305831" cy="30777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7" name="Straight Arrow Connector 46"/>
          <p:cNvCxnSpPr/>
          <p:nvPr/>
        </p:nvCxnSpPr>
        <p:spPr>
          <a:xfrm flipV="1">
            <a:off x="5967273" y="1428575"/>
            <a:ext cx="465438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9" name="TextBox 48"/>
              <p:cNvSpPr txBox="1"/>
              <p:nvPr/>
            </p:nvSpPr>
            <p:spPr>
              <a:xfrm>
                <a:off x="6074959" y="955352"/>
                <a:ext cx="256367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dirty="0" smtClean="0">
                          <a:latin typeface="Cambria Math" panose="02040503050406030204" pitchFamily="18" charset="0"/>
                        </a:rPr>
                        <m:t>𝑇</m:t>
                      </m:r>
                    </m:oMath>
                  </m:oMathPara>
                </a14:m>
                <a:endParaRPr lang="sv-SE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9" name="TextBox 4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74959" y="955352"/>
                <a:ext cx="256367" cy="30777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0" name="Straight Arrow Connector 49"/>
          <p:cNvCxnSpPr/>
          <p:nvPr/>
        </p:nvCxnSpPr>
        <p:spPr>
          <a:xfrm flipV="1">
            <a:off x="7564919" y="1224688"/>
            <a:ext cx="465438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1" name="TextBox 50"/>
              <p:cNvSpPr txBox="1"/>
              <p:nvPr/>
            </p:nvSpPr>
            <p:spPr>
              <a:xfrm>
                <a:off x="7625717" y="1190818"/>
                <a:ext cx="315092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dirty="0" smtClean="0">
                          <a:latin typeface="Cambria Math" panose="02040503050406030204" pitchFamily="18" charset="0"/>
                        </a:rPr>
                        <m:t>𝜔</m:t>
                      </m:r>
                    </m:oMath>
                  </m:oMathPara>
                </a14:m>
                <a:endParaRPr lang="sv-SE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1" name="TextBox 5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5717" y="1190818"/>
                <a:ext cx="315092" cy="30777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2" name="Straight Arrow Connector 51"/>
          <p:cNvCxnSpPr/>
          <p:nvPr/>
        </p:nvCxnSpPr>
        <p:spPr>
          <a:xfrm flipV="1">
            <a:off x="7551520" y="1428574"/>
            <a:ext cx="465438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3" name="TextBox 52"/>
              <p:cNvSpPr txBox="1"/>
              <p:nvPr/>
            </p:nvSpPr>
            <p:spPr>
              <a:xfrm>
                <a:off x="7659206" y="955351"/>
                <a:ext cx="256367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dirty="0" smtClean="0">
                          <a:latin typeface="Cambria Math" panose="02040503050406030204" pitchFamily="18" charset="0"/>
                        </a:rPr>
                        <m:t>𝑇</m:t>
                      </m:r>
                    </m:oMath>
                  </m:oMathPara>
                </a14:m>
                <a:endParaRPr lang="sv-SE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3" name="TextBox 5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59206" y="955351"/>
                <a:ext cx="256367" cy="30777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6" name="Rectangle 55"/>
          <p:cNvSpPr/>
          <p:nvPr/>
        </p:nvSpPr>
        <p:spPr>
          <a:xfrm>
            <a:off x="1538416" y="1896761"/>
            <a:ext cx="7597350" cy="438667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Losses</a:t>
            </a:r>
            <a:endParaRPr lang="sv-S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7" name="Rectangle 56"/>
          <p:cNvSpPr/>
          <p:nvPr/>
        </p:nvSpPr>
        <p:spPr>
          <a:xfrm>
            <a:off x="2933714" y="359393"/>
            <a:ext cx="628248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sv-SE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Losses</a:t>
            </a:r>
            <a:r>
              <a:rPr lang="sv-SE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sv-SE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sv-SE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nergy </a:t>
            </a:r>
            <a:r>
              <a:rPr lang="sv-SE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sv-SE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low</a:t>
            </a:r>
            <a:r>
              <a:rPr lang="sv-SE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v-SE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between</a:t>
            </a:r>
            <a:r>
              <a:rPr lang="sv-SE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v-SE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sv-SE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rivetrain</a:t>
            </a:r>
            <a:r>
              <a:rPr lang="sv-SE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Components </a:t>
            </a:r>
            <a:r>
              <a:rPr lang="sv-SE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*[1]</a:t>
            </a:r>
            <a:endParaRPr lang="sv-SE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8" name="Rectangle 57"/>
          <p:cNvSpPr/>
          <p:nvPr/>
        </p:nvSpPr>
        <p:spPr>
          <a:xfrm>
            <a:off x="772427" y="6133241"/>
            <a:ext cx="995748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sv-SE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[1] A Simulation </a:t>
            </a:r>
            <a:r>
              <a:rPr lang="sv-SE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Platform</a:t>
            </a:r>
            <a:r>
              <a:rPr lang="sv-SE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for </a:t>
            </a:r>
            <a:r>
              <a:rPr lang="sv-SE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Optimization</a:t>
            </a:r>
            <a:r>
              <a:rPr lang="sv-SE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v-SE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sv-SE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Electric </a:t>
            </a:r>
            <a:r>
              <a:rPr lang="sv-SE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Vehicles</a:t>
            </a:r>
            <a:r>
              <a:rPr lang="sv-SE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v-SE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With</a:t>
            </a:r>
            <a:r>
              <a:rPr lang="sv-SE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v-SE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Modular</a:t>
            </a:r>
            <a:r>
              <a:rPr lang="sv-SE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v-SE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Drivetrain</a:t>
            </a:r>
            <a:r>
              <a:rPr lang="sv-SE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v-SE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Topologies</a:t>
            </a:r>
            <a:endParaRPr lang="sv-S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61" name="Straight Arrow Connector 60"/>
          <p:cNvCxnSpPr/>
          <p:nvPr/>
        </p:nvCxnSpPr>
        <p:spPr>
          <a:xfrm flipV="1">
            <a:off x="9157465" y="1227997"/>
            <a:ext cx="465438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2" name="TextBox 61"/>
              <p:cNvSpPr txBox="1"/>
              <p:nvPr/>
            </p:nvSpPr>
            <p:spPr>
              <a:xfrm>
                <a:off x="9218263" y="1194127"/>
                <a:ext cx="315092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dirty="0" smtClean="0">
                          <a:latin typeface="Cambria Math" panose="02040503050406030204" pitchFamily="18" charset="0"/>
                        </a:rPr>
                        <m:t>𝜔</m:t>
                      </m:r>
                    </m:oMath>
                  </m:oMathPara>
                </a14:m>
                <a:endParaRPr lang="sv-SE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2" name="TextBox 6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18263" y="1194127"/>
                <a:ext cx="315092" cy="307777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3" name="Straight Arrow Connector 62"/>
          <p:cNvCxnSpPr/>
          <p:nvPr/>
        </p:nvCxnSpPr>
        <p:spPr>
          <a:xfrm flipV="1">
            <a:off x="9144066" y="1431883"/>
            <a:ext cx="465438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4" name="TextBox 63"/>
              <p:cNvSpPr txBox="1"/>
              <p:nvPr/>
            </p:nvSpPr>
            <p:spPr>
              <a:xfrm>
                <a:off x="9251752" y="958660"/>
                <a:ext cx="256367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dirty="0" smtClean="0">
                          <a:latin typeface="Cambria Math" panose="02040503050406030204" pitchFamily="18" charset="0"/>
                        </a:rPr>
                        <m:t>𝑇</m:t>
                      </m:r>
                    </m:oMath>
                  </m:oMathPara>
                </a14:m>
                <a:endParaRPr lang="sv-SE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4" name="TextBox 6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51752" y="958660"/>
                <a:ext cx="256367" cy="307777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7" name="Rectangle 156"/>
          <p:cNvSpPr/>
          <p:nvPr/>
        </p:nvSpPr>
        <p:spPr>
          <a:xfrm>
            <a:off x="1164681" y="3853472"/>
            <a:ext cx="1112109" cy="50662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Batteries</a:t>
            </a:r>
            <a:endParaRPr lang="sv-SE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59" name="Straight Arrow Connector 158"/>
          <p:cNvCxnSpPr/>
          <p:nvPr/>
        </p:nvCxnSpPr>
        <p:spPr>
          <a:xfrm>
            <a:off x="2276790" y="3990766"/>
            <a:ext cx="640491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0" name="Straight Arrow Connector 159"/>
          <p:cNvCxnSpPr>
            <a:stCxn id="157" idx="2"/>
          </p:cNvCxnSpPr>
          <p:nvPr/>
        </p:nvCxnSpPr>
        <p:spPr>
          <a:xfrm>
            <a:off x="1720736" y="4360100"/>
            <a:ext cx="6464" cy="68666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1" name="Straight Arrow Connector 160"/>
          <p:cNvCxnSpPr/>
          <p:nvPr/>
        </p:nvCxnSpPr>
        <p:spPr>
          <a:xfrm flipV="1">
            <a:off x="4115053" y="4374690"/>
            <a:ext cx="465438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2" name="Straight Arrow Connector 161"/>
          <p:cNvCxnSpPr>
            <a:stCxn id="200" idx="2"/>
          </p:cNvCxnSpPr>
          <p:nvPr/>
        </p:nvCxnSpPr>
        <p:spPr>
          <a:xfrm>
            <a:off x="3560218" y="3950028"/>
            <a:ext cx="12169" cy="109673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4" name="Straight Arrow Connector 163"/>
          <p:cNvCxnSpPr/>
          <p:nvPr/>
        </p:nvCxnSpPr>
        <p:spPr>
          <a:xfrm flipV="1">
            <a:off x="5692600" y="4374690"/>
            <a:ext cx="465438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6" name="Rectangle 165"/>
          <p:cNvSpPr/>
          <p:nvPr/>
        </p:nvSpPr>
        <p:spPr>
          <a:xfrm>
            <a:off x="7844897" y="3896689"/>
            <a:ext cx="1112109" cy="50662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Vehicle</a:t>
            </a:r>
            <a:endParaRPr lang="sv-SE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67" name="Straight Arrow Connector 166"/>
          <p:cNvCxnSpPr>
            <a:stCxn id="202" idx="2"/>
          </p:cNvCxnSpPr>
          <p:nvPr/>
        </p:nvCxnSpPr>
        <p:spPr>
          <a:xfrm>
            <a:off x="5130803" y="3950027"/>
            <a:ext cx="5743" cy="109673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8" name="Straight Arrow Connector 167"/>
          <p:cNvCxnSpPr>
            <a:stCxn id="204" idx="2"/>
          </p:cNvCxnSpPr>
          <p:nvPr/>
        </p:nvCxnSpPr>
        <p:spPr>
          <a:xfrm flipH="1">
            <a:off x="6700702" y="3950026"/>
            <a:ext cx="43674" cy="109673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9" name="Straight Arrow Connector 168"/>
          <p:cNvCxnSpPr/>
          <p:nvPr/>
        </p:nvCxnSpPr>
        <p:spPr>
          <a:xfrm>
            <a:off x="8407123" y="4403317"/>
            <a:ext cx="4057" cy="64344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70" name="TextBox 169"/>
              <p:cNvSpPr txBox="1"/>
              <p:nvPr/>
            </p:nvSpPr>
            <p:spPr>
              <a:xfrm>
                <a:off x="5753398" y="4340820"/>
                <a:ext cx="315092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dirty="0" smtClean="0">
                          <a:latin typeface="Cambria Math" panose="02040503050406030204" pitchFamily="18" charset="0"/>
                        </a:rPr>
                        <m:t>𝜔</m:t>
                      </m:r>
                    </m:oMath>
                  </m:oMathPara>
                </a14:m>
                <a:endParaRPr lang="sv-SE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70" name="TextBox 16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53398" y="4340820"/>
                <a:ext cx="315092" cy="307777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1" name="Rectangle 170"/>
          <p:cNvSpPr/>
          <p:nvPr/>
        </p:nvSpPr>
        <p:spPr>
          <a:xfrm>
            <a:off x="9439044" y="3896689"/>
            <a:ext cx="1112109" cy="50662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Drive Cycle</a:t>
            </a:r>
            <a:endParaRPr lang="sv-SE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72" name="Straight Arrow Connector 171"/>
          <p:cNvCxnSpPr/>
          <p:nvPr/>
        </p:nvCxnSpPr>
        <p:spPr>
          <a:xfrm>
            <a:off x="2276790" y="4194652"/>
            <a:ext cx="640491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73" name="TextBox 172"/>
              <p:cNvSpPr txBox="1"/>
              <p:nvPr/>
            </p:nvSpPr>
            <p:spPr>
              <a:xfrm>
                <a:off x="2415256" y="3757701"/>
                <a:ext cx="262594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dirty="0" smtClean="0">
                          <a:latin typeface="Cambria Math" panose="02040503050406030204" pitchFamily="18" charset="0"/>
                        </a:rPr>
                        <m:t>𝑉</m:t>
                      </m:r>
                    </m:oMath>
                  </m:oMathPara>
                </a14:m>
                <a:endParaRPr lang="sv-SE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73" name="TextBox 17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15256" y="3757701"/>
                <a:ext cx="262594" cy="307777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4" name="TextBox 173"/>
              <p:cNvSpPr txBox="1"/>
              <p:nvPr/>
            </p:nvSpPr>
            <p:spPr>
              <a:xfrm>
                <a:off x="2384897" y="3951747"/>
                <a:ext cx="305831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dirty="0" smtClean="0">
                          <a:latin typeface="Cambria Math" panose="02040503050406030204" pitchFamily="18" charset="0"/>
                        </a:rPr>
                        <m:t>𝐼</m:t>
                      </m:r>
                    </m:oMath>
                  </m:oMathPara>
                </a14:m>
                <a:endParaRPr lang="sv-SE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74" name="TextBox 17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84897" y="3951747"/>
                <a:ext cx="305831" cy="30777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75" name="Straight Arrow Connector 174"/>
          <p:cNvCxnSpPr/>
          <p:nvPr/>
        </p:nvCxnSpPr>
        <p:spPr>
          <a:xfrm>
            <a:off x="4121752" y="4600771"/>
            <a:ext cx="458739" cy="320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76" name="TextBox 175"/>
              <p:cNvSpPr txBox="1"/>
              <p:nvPr/>
            </p:nvSpPr>
            <p:spPr>
              <a:xfrm>
                <a:off x="4194856" y="4141625"/>
                <a:ext cx="262594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dirty="0" smtClean="0">
                          <a:latin typeface="Cambria Math" panose="02040503050406030204" pitchFamily="18" charset="0"/>
                        </a:rPr>
                        <m:t>𝑉</m:t>
                      </m:r>
                    </m:oMath>
                  </m:oMathPara>
                </a14:m>
                <a:endParaRPr lang="sv-SE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76" name="TextBox 17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94856" y="4141625"/>
                <a:ext cx="262594" cy="307777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7" name="TextBox 176"/>
              <p:cNvSpPr txBox="1"/>
              <p:nvPr/>
            </p:nvSpPr>
            <p:spPr>
              <a:xfrm>
                <a:off x="4164497" y="4335671"/>
                <a:ext cx="305831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dirty="0" smtClean="0">
                          <a:latin typeface="Cambria Math" panose="02040503050406030204" pitchFamily="18" charset="0"/>
                        </a:rPr>
                        <m:t>𝐼</m:t>
                      </m:r>
                    </m:oMath>
                  </m:oMathPara>
                </a14:m>
                <a:endParaRPr lang="sv-SE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77" name="TextBox 17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64497" y="4335671"/>
                <a:ext cx="305831" cy="30777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78" name="Straight Arrow Connector 177"/>
          <p:cNvCxnSpPr/>
          <p:nvPr/>
        </p:nvCxnSpPr>
        <p:spPr>
          <a:xfrm flipV="1">
            <a:off x="5679201" y="4578576"/>
            <a:ext cx="465438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79" name="TextBox 178"/>
              <p:cNvSpPr txBox="1"/>
              <p:nvPr/>
            </p:nvSpPr>
            <p:spPr>
              <a:xfrm>
                <a:off x="5786887" y="4105353"/>
                <a:ext cx="256367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dirty="0" smtClean="0">
                          <a:latin typeface="Cambria Math" panose="02040503050406030204" pitchFamily="18" charset="0"/>
                        </a:rPr>
                        <m:t>𝑇</m:t>
                      </m:r>
                    </m:oMath>
                  </m:oMathPara>
                </a14:m>
                <a:endParaRPr lang="sv-SE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79" name="TextBox 17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86887" y="4105353"/>
                <a:ext cx="256367" cy="307777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80" name="Straight Arrow Connector 179"/>
          <p:cNvCxnSpPr/>
          <p:nvPr/>
        </p:nvCxnSpPr>
        <p:spPr>
          <a:xfrm flipV="1">
            <a:off x="7386159" y="4033984"/>
            <a:ext cx="465438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81" name="TextBox 180"/>
              <p:cNvSpPr txBox="1"/>
              <p:nvPr/>
            </p:nvSpPr>
            <p:spPr>
              <a:xfrm>
                <a:off x="7446957" y="4000114"/>
                <a:ext cx="315092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dirty="0" smtClean="0">
                          <a:latin typeface="Cambria Math" panose="02040503050406030204" pitchFamily="18" charset="0"/>
                        </a:rPr>
                        <m:t>𝜔</m:t>
                      </m:r>
                    </m:oMath>
                  </m:oMathPara>
                </a14:m>
                <a:endParaRPr lang="sv-SE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81" name="TextBox 18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46957" y="4000114"/>
                <a:ext cx="315092" cy="307777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82" name="Straight Arrow Connector 181"/>
          <p:cNvCxnSpPr/>
          <p:nvPr/>
        </p:nvCxnSpPr>
        <p:spPr>
          <a:xfrm flipV="1">
            <a:off x="7372760" y="4237870"/>
            <a:ext cx="465438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83" name="TextBox 182"/>
              <p:cNvSpPr txBox="1"/>
              <p:nvPr/>
            </p:nvSpPr>
            <p:spPr>
              <a:xfrm>
                <a:off x="7480446" y="3764647"/>
                <a:ext cx="256367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dirty="0" smtClean="0">
                          <a:latin typeface="Cambria Math" panose="02040503050406030204" pitchFamily="18" charset="0"/>
                        </a:rPr>
                        <m:t>𝑇</m:t>
                      </m:r>
                    </m:oMath>
                  </m:oMathPara>
                </a14:m>
                <a:endParaRPr lang="sv-SE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83" name="TextBox 18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80446" y="3764647"/>
                <a:ext cx="256367" cy="30777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4" name="Rectangle 183"/>
          <p:cNvSpPr/>
          <p:nvPr/>
        </p:nvSpPr>
        <p:spPr>
          <a:xfrm>
            <a:off x="1250344" y="5046762"/>
            <a:ext cx="7597350" cy="438667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Losses</a:t>
            </a:r>
            <a:endParaRPr lang="sv-S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85" name="Straight Arrow Connector 184"/>
          <p:cNvCxnSpPr/>
          <p:nvPr/>
        </p:nvCxnSpPr>
        <p:spPr>
          <a:xfrm flipV="1">
            <a:off x="8978705" y="4037293"/>
            <a:ext cx="465438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86" name="TextBox 185"/>
              <p:cNvSpPr txBox="1"/>
              <p:nvPr/>
            </p:nvSpPr>
            <p:spPr>
              <a:xfrm>
                <a:off x="9039503" y="4003423"/>
                <a:ext cx="315092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dirty="0" smtClean="0">
                          <a:latin typeface="Cambria Math" panose="02040503050406030204" pitchFamily="18" charset="0"/>
                        </a:rPr>
                        <m:t>𝜔</m:t>
                      </m:r>
                    </m:oMath>
                  </m:oMathPara>
                </a14:m>
                <a:endParaRPr lang="sv-SE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86" name="TextBox 18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39503" y="4003423"/>
                <a:ext cx="315092" cy="307777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87" name="Straight Arrow Connector 186"/>
          <p:cNvCxnSpPr/>
          <p:nvPr/>
        </p:nvCxnSpPr>
        <p:spPr>
          <a:xfrm flipV="1">
            <a:off x="8965306" y="4241179"/>
            <a:ext cx="465438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88" name="TextBox 187"/>
              <p:cNvSpPr txBox="1"/>
              <p:nvPr/>
            </p:nvSpPr>
            <p:spPr>
              <a:xfrm>
                <a:off x="9072992" y="3767956"/>
                <a:ext cx="256367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dirty="0" smtClean="0">
                          <a:latin typeface="Cambria Math" panose="02040503050406030204" pitchFamily="18" charset="0"/>
                        </a:rPr>
                        <m:t>𝑇</m:t>
                      </m:r>
                    </m:oMath>
                  </m:oMathPara>
                </a14:m>
                <a:endParaRPr lang="sv-SE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88" name="TextBox 18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72992" y="3767956"/>
                <a:ext cx="256367" cy="307777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0" name="Rectangle 199"/>
          <p:cNvSpPr/>
          <p:nvPr/>
        </p:nvSpPr>
        <p:spPr>
          <a:xfrm>
            <a:off x="3004163" y="3443400"/>
            <a:ext cx="1112109" cy="50662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Inverter-1</a:t>
            </a:r>
            <a:endParaRPr lang="sv-SE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01" name="Straight Arrow Connector 200"/>
          <p:cNvCxnSpPr/>
          <p:nvPr/>
        </p:nvCxnSpPr>
        <p:spPr>
          <a:xfrm flipV="1">
            <a:off x="4116272" y="3580694"/>
            <a:ext cx="465438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2" name="Rectangle 201"/>
          <p:cNvSpPr/>
          <p:nvPr/>
        </p:nvSpPr>
        <p:spPr>
          <a:xfrm>
            <a:off x="4555996" y="3443399"/>
            <a:ext cx="1149613" cy="50662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E-motor-1</a:t>
            </a:r>
            <a:endParaRPr lang="sv-SE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03" name="Straight Arrow Connector 202"/>
          <p:cNvCxnSpPr/>
          <p:nvPr/>
        </p:nvCxnSpPr>
        <p:spPr>
          <a:xfrm flipV="1">
            <a:off x="5693819" y="3580694"/>
            <a:ext cx="465438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4" name="Rectangle 203"/>
          <p:cNvSpPr/>
          <p:nvPr/>
        </p:nvSpPr>
        <p:spPr>
          <a:xfrm>
            <a:off x="6159257" y="3443398"/>
            <a:ext cx="1170237" cy="50662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Gearbox-1</a:t>
            </a:r>
            <a:endParaRPr lang="sv-SE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5" name="TextBox 204"/>
              <p:cNvSpPr txBox="1"/>
              <p:nvPr/>
            </p:nvSpPr>
            <p:spPr>
              <a:xfrm>
                <a:off x="5754617" y="3546824"/>
                <a:ext cx="315092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dirty="0" smtClean="0">
                          <a:latin typeface="Cambria Math" panose="02040503050406030204" pitchFamily="18" charset="0"/>
                        </a:rPr>
                        <m:t>𝜔</m:t>
                      </m:r>
                    </m:oMath>
                  </m:oMathPara>
                </a14:m>
                <a:endParaRPr lang="sv-SE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05" name="TextBox 20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54617" y="3546824"/>
                <a:ext cx="315092" cy="307777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06" name="Straight Arrow Connector 205"/>
          <p:cNvCxnSpPr/>
          <p:nvPr/>
        </p:nvCxnSpPr>
        <p:spPr>
          <a:xfrm>
            <a:off x="4122971" y="3806775"/>
            <a:ext cx="458739" cy="320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07" name="TextBox 206"/>
              <p:cNvSpPr txBox="1"/>
              <p:nvPr/>
            </p:nvSpPr>
            <p:spPr>
              <a:xfrm>
                <a:off x="4196075" y="3347629"/>
                <a:ext cx="262594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dirty="0" smtClean="0">
                          <a:latin typeface="Cambria Math" panose="02040503050406030204" pitchFamily="18" charset="0"/>
                        </a:rPr>
                        <m:t>𝑉</m:t>
                      </m:r>
                    </m:oMath>
                  </m:oMathPara>
                </a14:m>
                <a:endParaRPr lang="sv-SE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07" name="TextBox 20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96075" y="3347629"/>
                <a:ext cx="262594" cy="307777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8" name="TextBox 207"/>
              <p:cNvSpPr txBox="1"/>
              <p:nvPr/>
            </p:nvSpPr>
            <p:spPr>
              <a:xfrm>
                <a:off x="4165716" y="3541675"/>
                <a:ext cx="305831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dirty="0" smtClean="0">
                          <a:latin typeface="Cambria Math" panose="02040503050406030204" pitchFamily="18" charset="0"/>
                        </a:rPr>
                        <m:t>𝐼</m:t>
                      </m:r>
                    </m:oMath>
                  </m:oMathPara>
                </a14:m>
                <a:endParaRPr lang="sv-SE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08" name="TextBox 20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65716" y="3541675"/>
                <a:ext cx="305831" cy="307777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09" name="Straight Arrow Connector 208"/>
          <p:cNvCxnSpPr/>
          <p:nvPr/>
        </p:nvCxnSpPr>
        <p:spPr>
          <a:xfrm flipV="1">
            <a:off x="5680420" y="3784580"/>
            <a:ext cx="465438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10" name="TextBox 209"/>
              <p:cNvSpPr txBox="1"/>
              <p:nvPr/>
            </p:nvSpPr>
            <p:spPr>
              <a:xfrm>
                <a:off x="5788106" y="3311357"/>
                <a:ext cx="256367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dirty="0" smtClean="0">
                          <a:latin typeface="Cambria Math" panose="02040503050406030204" pitchFamily="18" charset="0"/>
                        </a:rPr>
                        <m:t>𝑇</m:t>
                      </m:r>
                    </m:oMath>
                  </m:oMathPara>
                </a14:m>
                <a:endParaRPr lang="sv-SE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10" name="TextBox 20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88106" y="3311357"/>
                <a:ext cx="256367" cy="307777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8" name="Rectangle 157"/>
          <p:cNvSpPr/>
          <p:nvPr/>
        </p:nvSpPr>
        <p:spPr>
          <a:xfrm>
            <a:off x="3002944" y="4237396"/>
            <a:ext cx="1112109" cy="50662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Inverter-2</a:t>
            </a:r>
            <a:endParaRPr lang="sv-SE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3" name="Rectangle 162"/>
          <p:cNvSpPr/>
          <p:nvPr/>
        </p:nvSpPr>
        <p:spPr>
          <a:xfrm>
            <a:off x="4565535" y="4237395"/>
            <a:ext cx="1136904" cy="50662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E-motor-2</a:t>
            </a:r>
            <a:endParaRPr lang="sv-SE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5" name="Rectangle 164"/>
          <p:cNvSpPr/>
          <p:nvPr/>
        </p:nvSpPr>
        <p:spPr>
          <a:xfrm>
            <a:off x="6158038" y="4237394"/>
            <a:ext cx="1172062" cy="50662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Gearbox-2</a:t>
            </a:r>
            <a:endParaRPr lang="sv-SE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4" name="Rectangle 213"/>
          <p:cNvSpPr/>
          <p:nvPr/>
        </p:nvSpPr>
        <p:spPr>
          <a:xfrm>
            <a:off x="2917281" y="3311357"/>
            <a:ext cx="4487016" cy="157179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21850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Drive Cycles</a:t>
            </a:r>
            <a:endParaRPr lang="sv-SE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Enes Ayaz</a:t>
            </a:r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417396333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le 4"/>
              <p:cNvGraphicFramePr>
                <a:graphicFrameLocks noGrp="1"/>
              </p:cNvGraphicFramePr>
              <p:nvPr>
                <p:extLst/>
              </p:nvPr>
            </p:nvGraphicFramePr>
            <p:xfrm>
              <a:off x="286888" y="298073"/>
              <a:ext cx="8128000" cy="33375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208162">
                      <a:extLst>
                        <a:ext uri="{9D8B030D-6E8A-4147-A177-3AD203B41FA5}">
                          <a16:colId xmlns:a16="http://schemas.microsoft.com/office/drawing/2014/main" val="4288452530"/>
                        </a:ext>
                      </a:extLst>
                    </a:gridCol>
                    <a:gridCol w="3919838">
                      <a:extLst>
                        <a:ext uri="{9D8B030D-6E8A-4147-A177-3AD203B41FA5}">
                          <a16:colId xmlns:a16="http://schemas.microsoft.com/office/drawing/2014/main" val="1103111073"/>
                        </a:ext>
                      </a:extLst>
                    </a:gridCol>
                  </a:tblGrid>
                  <a:tr h="370840">
                    <a:tc gridSpan="2">
                      <a:txBody>
                        <a:bodyPr/>
                        <a:lstStyle/>
                        <a:p>
                          <a:pPr algn="ctr"/>
                          <a:r>
                            <a:rPr lang="en-US" sz="1400" b="1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Vehicle Dynamics</a:t>
                          </a:r>
                          <a:r>
                            <a:rPr lang="en-US" sz="1400" b="1" baseline="0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Coefficients and Parameters</a:t>
                          </a:r>
                          <a:endParaRPr lang="sv-SE" sz="1400" b="1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sv-SE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4748134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sz="1400" b="0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Radius</a:t>
                          </a:r>
                          <a:r>
                            <a:rPr lang="en-US" sz="1400" b="0" baseline="0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of wheels (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1400" b="0" i="1" baseline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b="0" i="1" baseline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𝑟</m:t>
                                  </m:r>
                                </m:e>
                                <m:sub>
                                  <m:r>
                                    <a:rPr lang="en-US" sz="1400" b="0" i="1" baseline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𝑤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sz="1400" b="0" baseline="0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in </a:t>
                          </a:r>
                          <a14:m>
                            <m:oMath xmlns:m="http://schemas.openxmlformats.org/officeDocument/2006/math">
                              <m:r>
                                <a:rPr lang="en-US" sz="1400" b="0" i="1" baseline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𝑚</m:t>
                              </m:r>
                            </m:oMath>
                          </a14:m>
                          <a:r>
                            <a:rPr lang="en-US" sz="1400" b="0" baseline="0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)</a:t>
                          </a:r>
                          <a:endParaRPr lang="sv-SE" sz="1400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b="0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0.52</a:t>
                          </a:r>
                          <a:endParaRPr lang="sv-SE" sz="1400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98049569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sz="1400" b="0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Vehicle</a:t>
                          </a:r>
                          <a:r>
                            <a:rPr lang="en-US" sz="1400" b="0" baseline="0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front area (</a:t>
                          </a:r>
                          <a14:m>
                            <m:oMath xmlns:m="http://schemas.openxmlformats.org/officeDocument/2006/math">
                              <m:r>
                                <a:rPr lang="en-US" sz="1400" b="0" i="1" baseline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𝐴</m:t>
                              </m:r>
                            </m:oMath>
                          </a14:m>
                          <a:r>
                            <a:rPr lang="en-US" sz="1400" b="0" baseline="0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in 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sz="1400" b="0" i="1" baseline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400" b="0" i="1" baseline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𝑚</m:t>
                                  </m:r>
                                </m:e>
                                <m:sup>
                                  <m:r>
                                    <a:rPr lang="en-US" sz="1400" b="0" i="1" baseline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oMath>
                          </a14:m>
                          <a:r>
                            <a:rPr lang="en-US" sz="1400" b="0" baseline="0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)</a:t>
                          </a:r>
                          <a:endParaRPr lang="sv-SE" sz="1400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b="0" i="0" kern="1200" dirty="0" smtClean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10.5</a:t>
                          </a:r>
                          <a:endParaRPr lang="sv-SE" sz="1400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13000071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sz="1400" b="0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Aerodynamic drag coefficient (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1400" b="0" i="1" baseline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b="0" i="1" baseline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en-US" sz="1400" b="0" i="1" baseline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𝑑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sz="1400" b="0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)</a:t>
                          </a:r>
                          <a:endParaRPr lang="sv-SE" sz="1400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b="0" i="0" kern="1200" dirty="0" smtClean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0.7</a:t>
                          </a:r>
                          <a:endParaRPr lang="sv-SE" sz="1400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424779072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400" b="0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Rolling resistance coefficient (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1400" b="0" i="1" baseline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b="0" i="1" baseline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en-US" sz="1400" b="0" i="1" baseline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𝑟𝑟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sz="1400" b="0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)</a:t>
                          </a:r>
                          <a:endParaRPr lang="sv-SE" sz="1400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b="0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0.01</a:t>
                          </a:r>
                          <a:endParaRPr lang="sv-SE" sz="1400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00591622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400" b="0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Vehicle</a:t>
                          </a:r>
                          <a:r>
                            <a:rPr lang="en-US" sz="1400" b="0" baseline="0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mass </a:t>
                          </a:r>
                          <a:r>
                            <a:rPr lang="en-US" sz="1400" b="0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</a:t>
                          </a:r>
                          <a14:m>
                            <m:oMath xmlns:m="http://schemas.openxmlformats.org/officeDocument/2006/math">
                              <m:r>
                                <a:rPr lang="en-US" sz="1400" b="0" i="1" baseline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𝑀</m:t>
                              </m:r>
                            </m:oMath>
                          </a14:m>
                          <a:r>
                            <a:rPr lang="en-US" sz="1400" b="0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in </a:t>
                          </a:r>
                          <a14:m>
                            <m:oMath xmlns:m="http://schemas.openxmlformats.org/officeDocument/2006/math">
                              <m:r>
                                <a:rPr lang="en-US" sz="1400" b="0" i="1" baseline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𝑘𝑔</m:t>
                              </m:r>
                            </m:oMath>
                          </a14:m>
                          <a:r>
                            <a:rPr lang="en-US" sz="1400" b="0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)</a:t>
                          </a:r>
                          <a:endParaRPr lang="sv-SE" sz="1400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b="0" i="0" kern="1200" dirty="0" smtClean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40000</a:t>
                          </a:r>
                          <a:endParaRPr lang="sv-SE" sz="1400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22826935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400" b="0" i="0" kern="1200" noProof="0" dirty="0" smtClean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Coefficient</a:t>
                          </a:r>
                          <a:r>
                            <a:rPr lang="en-US" sz="1400" b="0" i="0" kern="1200" baseline="0" noProof="0" dirty="0" smtClean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 of inertia (</a:t>
                          </a:r>
                          <a14:m>
                            <m:oMath xmlns:m="http://schemas.openxmlformats.org/officeDocument/2006/math">
                              <m:r>
                                <a:rPr lang="en-US" sz="1400" b="0" i="1" kern="1200" baseline="0" noProof="0" smtClean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  <a:cs typeface="Times New Roman" panose="02020603050405020304" pitchFamily="18" charset="0"/>
                                </a:rPr>
                                <m:t>𝐼</m:t>
                              </m:r>
                            </m:oMath>
                          </a14:m>
                          <a:r>
                            <a:rPr lang="en-US" sz="1400" b="0" noProof="0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)</a:t>
                          </a:r>
                          <a:endParaRPr lang="en-US" sz="1400" b="0" noProof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b="0" i="0" kern="1200" dirty="0" smtClean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- Mass</a:t>
                          </a:r>
                          <a:r>
                            <a:rPr lang="en-US" sz="1400" b="0" i="0" kern="1200" baseline="0" dirty="0" smtClean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 increase 1.05</a:t>
                          </a:r>
                          <a:endParaRPr lang="sv-SE" sz="1400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67950920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400" b="0" i="0" kern="1200" noProof="0" dirty="0" smtClean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Coefficient</a:t>
                          </a:r>
                          <a:r>
                            <a:rPr lang="en-US" sz="1400" b="0" i="0" kern="1200" baseline="0" noProof="0" dirty="0" smtClean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 of friction (</a:t>
                          </a:r>
                          <a14:m>
                            <m:oMath xmlns:m="http://schemas.openxmlformats.org/officeDocument/2006/math">
                              <m:r>
                                <a:rPr lang="en-US" sz="1400" b="0" i="1" kern="1200" baseline="0" noProof="0" smtClean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  <a:cs typeface="Times New Roman" panose="02020603050405020304" pitchFamily="18" charset="0"/>
                                </a:rPr>
                                <m:t>𝜇</m:t>
                              </m:r>
                            </m:oMath>
                          </a14:m>
                          <a:r>
                            <a:rPr lang="en-US" sz="1400" b="0" noProof="0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)</a:t>
                          </a:r>
                          <a:endParaRPr lang="en-US" sz="1400" b="0" noProof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b="0" i="0" kern="1200" dirty="0" smtClean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0.8 (at initial)</a:t>
                          </a:r>
                          <a:endParaRPr lang="sv-SE" sz="1400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82048943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sz="1400" b="0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Differential</a:t>
                          </a:r>
                          <a:r>
                            <a:rPr lang="en-US" sz="1400" b="0" baseline="0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gear ratio (</a:t>
                          </a:r>
                          <a14:m>
                            <m:oMath xmlns:m="http://schemas.openxmlformats.org/officeDocument/2006/math">
                              <m:r>
                                <a:rPr lang="en-US" sz="1400" b="0" i="1" baseline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𝑢</m:t>
                              </m:r>
                            </m:oMath>
                          </a14:m>
                          <a:r>
                            <a:rPr lang="en-US" sz="1400" b="0" baseline="0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)</a:t>
                          </a:r>
                          <a:endParaRPr lang="sv-SE" sz="1400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b="0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</a:t>
                          </a:r>
                          <a:endParaRPr lang="sv-SE" sz="1400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423114612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le 4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236160340"/>
                  </p:ext>
                </p:extLst>
              </p:nvPr>
            </p:nvGraphicFramePr>
            <p:xfrm>
              <a:off x="286888" y="298073"/>
              <a:ext cx="8128000" cy="33375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208162">
                      <a:extLst>
                        <a:ext uri="{9D8B030D-6E8A-4147-A177-3AD203B41FA5}">
                          <a16:colId xmlns:a16="http://schemas.microsoft.com/office/drawing/2014/main" val="4288452530"/>
                        </a:ext>
                      </a:extLst>
                    </a:gridCol>
                    <a:gridCol w="3919838">
                      <a:extLst>
                        <a:ext uri="{9D8B030D-6E8A-4147-A177-3AD203B41FA5}">
                          <a16:colId xmlns:a16="http://schemas.microsoft.com/office/drawing/2014/main" val="1103111073"/>
                        </a:ext>
                      </a:extLst>
                    </a:gridCol>
                  </a:tblGrid>
                  <a:tr h="370840">
                    <a:tc gridSpan="2">
                      <a:txBody>
                        <a:bodyPr/>
                        <a:lstStyle/>
                        <a:p>
                          <a:pPr algn="ctr"/>
                          <a:r>
                            <a:rPr lang="en-US" sz="1400" b="1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Vehicle Dynamics</a:t>
                          </a:r>
                          <a:r>
                            <a:rPr lang="en-US" sz="1400" b="1" baseline="0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Coefficients and Parameters</a:t>
                          </a:r>
                          <a:endParaRPr lang="sv-SE" sz="1400" b="1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sv-SE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4748134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sv-SE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45" t="-101639" r="-93343" b="-7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b="0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0.52</a:t>
                          </a:r>
                          <a:endParaRPr lang="sv-SE" sz="1400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98049569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sv-SE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45" t="-201639" r="-93343" b="-6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b="0" i="0" kern="1200" dirty="0" smtClean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10.5</a:t>
                          </a:r>
                          <a:endParaRPr lang="sv-SE" sz="1400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13000071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sv-SE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45" t="-301639" r="-93343" b="-5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b="0" i="0" kern="1200" dirty="0" smtClean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0.7</a:t>
                          </a:r>
                          <a:endParaRPr lang="sv-SE" sz="1400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424779072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sv-SE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45" t="-401639" r="-93343" b="-4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b="0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0.01</a:t>
                          </a:r>
                          <a:endParaRPr lang="sv-SE" sz="1400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00591622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sv-SE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45" t="-501639" r="-93343" b="-3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b="0" i="0" kern="1200" dirty="0" smtClean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40000</a:t>
                          </a:r>
                          <a:endParaRPr lang="sv-SE" sz="1400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22826935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sv-SE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45" t="-601639" r="-93343" b="-2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b="0" i="0" kern="1200" dirty="0" smtClean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- Mass</a:t>
                          </a:r>
                          <a:r>
                            <a:rPr lang="en-US" sz="1400" b="0" i="0" kern="1200" baseline="0" dirty="0" smtClean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 increase 1.05</a:t>
                          </a:r>
                          <a:endParaRPr lang="sv-SE" sz="1400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67950920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sv-SE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45" t="-701639" r="-93343" b="-1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b="0" i="0" kern="1200" dirty="0" smtClean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0.8 (at initial)</a:t>
                          </a:r>
                          <a:endParaRPr lang="sv-SE" sz="1400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82048943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sv-SE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45" t="-801639" r="-93343" b="-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b="0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</a:t>
                          </a:r>
                          <a:endParaRPr lang="sv-SE" sz="1400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4231146122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Table 6"/>
              <p:cNvGraphicFramePr>
                <a:graphicFrameLocks noGrp="1"/>
              </p:cNvGraphicFramePr>
              <p:nvPr>
                <p:extLst/>
              </p:nvPr>
            </p:nvGraphicFramePr>
            <p:xfrm>
              <a:off x="286888" y="4723090"/>
              <a:ext cx="8128000" cy="14833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208162">
                      <a:extLst>
                        <a:ext uri="{9D8B030D-6E8A-4147-A177-3AD203B41FA5}">
                          <a16:colId xmlns:a16="http://schemas.microsoft.com/office/drawing/2014/main" val="4288452530"/>
                        </a:ext>
                      </a:extLst>
                    </a:gridCol>
                    <a:gridCol w="3919838">
                      <a:extLst>
                        <a:ext uri="{9D8B030D-6E8A-4147-A177-3AD203B41FA5}">
                          <a16:colId xmlns:a16="http://schemas.microsoft.com/office/drawing/2014/main" val="1103111073"/>
                        </a:ext>
                      </a:extLst>
                    </a:gridCol>
                  </a:tblGrid>
                  <a:tr h="370840">
                    <a:tc gridSpan="2">
                      <a:txBody>
                        <a:bodyPr/>
                        <a:lstStyle/>
                        <a:p>
                          <a:pPr algn="ctr"/>
                          <a:r>
                            <a:rPr lang="en-US" sz="1400" b="1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Motor Specifications</a:t>
                          </a:r>
                          <a:endParaRPr lang="sv-SE" sz="1400" b="1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sv-SE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4748134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sz="1400" b="0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Base </a:t>
                          </a:r>
                          <a:r>
                            <a:rPr lang="en-US" sz="1400" b="0" baseline="0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speed  </a:t>
                          </a:r>
                          <a:r>
                            <a:rPr lang="en-US" sz="1400" b="0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(in</a:t>
                          </a:r>
                          <a:r>
                            <a:rPr lang="en-US" sz="1400" b="0" baseline="0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m/s</a:t>
                          </a:r>
                          <a:r>
                            <a:rPr lang="en-US" sz="1400" b="0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)</a:t>
                          </a:r>
                          <a:endParaRPr lang="sv-SE" sz="1400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52 m/s , 187 km/h</a:t>
                          </a:r>
                          <a:endParaRPr lang="sv-SE" sz="1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424779072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400" b="0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Continuous</a:t>
                          </a:r>
                          <a:r>
                            <a:rPr lang="en-US" sz="1400" b="0" baseline="0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power </a:t>
                          </a:r>
                          <a:r>
                            <a:rPr lang="en-US" sz="1400" b="0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(in </a:t>
                          </a:r>
                          <a14:m>
                            <m:oMath xmlns:m="http://schemas.openxmlformats.org/officeDocument/2006/math">
                              <m:r>
                                <m:rPr>
                                  <m:sty m:val="p"/>
                                </m:rPr>
                                <a:rPr lang="en-US" sz="14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k</m:t>
                              </m:r>
                              <m: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𝑊</m:t>
                              </m:r>
                            </m:oMath>
                          </a14:m>
                          <a:r>
                            <a:rPr lang="en-US" sz="1400" b="0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)</a:t>
                          </a:r>
                          <a:endParaRPr lang="sv-SE" sz="1400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300 kW</a:t>
                          </a:r>
                          <a:endParaRPr lang="sv-SE" sz="1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00591622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400" b="0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Continuous</a:t>
                          </a:r>
                          <a:r>
                            <a:rPr lang="en-US" sz="1400" b="0" baseline="0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torque </a:t>
                          </a:r>
                          <a:r>
                            <a:rPr lang="en-US" sz="1400" b="0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(in </a:t>
                          </a:r>
                          <a14:m>
                            <m:oMath xmlns:m="http://schemas.openxmlformats.org/officeDocument/2006/math">
                              <m: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𝑁</m:t>
                              </m:r>
                              <m: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.</m:t>
                              </m:r>
                              <m: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𝑚</m:t>
                              </m:r>
                            </m:oMath>
                          </a14:m>
                          <a:r>
                            <a:rPr lang="en-US" sz="1400" b="0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)</a:t>
                          </a:r>
                          <a:endParaRPr lang="sv-SE" sz="1400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baseline="0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3000 </a:t>
                          </a:r>
                          <a:r>
                            <a:rPr lang="en-US" sz="1400" baseline="0" dirty="0" err="1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N.m</a:t>
                          </a:r>
                          <a:endParaRPr lang="sv-SE" sz="1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22826935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Table 6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29727641"/>
                  </p:ext>
                </p:extLst>
              </p:nvPr>
            </p:nvGraphicFramePr>
            <p:xfrm>
              <a:off x="286888" y="4723090"/>
              <a:ext cx="8128000" cy="14833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208162">
                      <a:extLst>
                        <a:ext uri="{9D8B030D-6E8A-4147-A177-3AD203B41FA5}">
                          <a16:colId xmlns:a16="http://schemas.microsoft.com/office/drawing/2014/main" val="4288452530"/>
                        </a:ext>
                      </a:extLst>
                    </a:gridCol>
                    <a:gridCol w="3919838">
                      <a:extLst>
                        <a:ext uri="{9D8B030D-6E8A-4147-A177-3AD203B41FA5}">
                          <a16:colId xmlns:a16="http://schemas.microsoft.com/office/drawing/2014/main" val="1103111073"/>
                        </a:ext>
                      </a:extLst>
                    </a:gridCol>
                  </a:tblGrid>
                  <a:tr h="370840">
                    <a:tc gridSpan="2">
                      <a:txBody>
                        <a:bodyPr/>
                        <a:lstStyle/>
                        <a:p>
                          <a:pPr algn="ctr"/>
                          <a:r>
                            <a:rPr lang="en-US" sz="1400" b="1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Motor Specifications</a:t>
                          </a:r>
                          <a:endParaRPr lang="sv-SE" sz="1400" b="1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sv-SE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4748134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sz="1400" b="0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Base </a:t>
                          </a:r>
                          <a:r>
                            <a:rPr lang="en-US" sz="1400" b="0" baseline="0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</a:t>
                          </a:r>
                          <a:r>
                            <a:rPr lang="en-US" sz="1400" b="0" baseline="0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speed  </a:t>
                          </a:r>
                          <a:r>
                            <a:rPr lang="en-US" sz="1400" b="0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</a:t>
                          </a:r>
                          <a:r>
                            <a:rPr lang="en-US" sz="1400" b="0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in</a:t>
                          </a:r>
                          <a:r>
                            <a:rPr lang="en-US" sz="1400" b="0" baseline="0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m/s</a:t>
                          </a:r>
                          <a:r>
                            <a:rPr lang="en-US" sz="1400" b="0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)</a:t>
                          </a:r>
                          <a:endParaRPr lang="sv-SE" sz="1400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52 m/s , 187 km/h</a:t>
                          </a:r>
                          <a:endParaRPr lang="sv-SE" sz="1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424779072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sv-SE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45" t="-203279" r="-93343" b="-1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300 kW</a:t>
                          </a:r>
                          <a:endParaRPr lang="sv-SE" sz="1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00591622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sv-SE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45" t="-303279" r="-93343" b="-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baseline="0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3000 </a:t>
                          </a:r>
                          <a:r>
                            <a:rPr lang="en-US" sz="1400" baseline="0" dirty="0" err="1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N.m</a:t>
                          </a:r>
                          <a:endParaRPr lang="sv-SE" sz="1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228269359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89128" y="3058509"/>
            <a:ext cx="3232345" cy="2044835"/>
          </a:xfrm>
          <a:prstGeom prst="rect">
            <a:avLst/>
          </a:prstGeom>
        </p:spPr>
      </p:pic>
      <p:cxnSp>
        <p:nvCxnSpPr>
          <p:cNvPr id="10" name="Straight Arrow Connector 9"/>
          <p:cNvCxnSpPr/>
          <p:nvPr/>
        </p:nvCxnSpPr>
        <p:spPr>
          <a:xfrm>
            <a:off x="10050134" y="2184571"/>
            <a:ext cx="145042" cy="80088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9345799" y="1261241"/>
            <a:ext cx="192339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From the data that Luca has sent before</a:t>
            </a:r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112521125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8170" y="896822"/>
            <a:ext cx="9848134" cy="2880373"/>
          </a:xfrm>
          <a:prstGeom prst="rect">
            <a:avLst/>
          </a:prstGeom>
        </p:spPr>
      </p:pic>
      <p:cxnSp>
        <p:nvCxnSpPr>
          <p:cNvPr id="6" name="Straight Arrow Connector 5"/>
          <p:cNvCxnSpPr/>
          <p:nvPr/>
        </p:nvCxnSpPr>
        <p:spPr>
          <a:xfrm flipH="1" flipV="1">
            <a:off x="1587843" y="617838"/>
            <a:ext cx="704335" cy="88968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038170" y="248506"/>
            <a:ext cx="150134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90 km/h</a:t>
            </a:r>
            <a:endParaRPr lang="sv-SE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006339" y="4056179"/>
            <a:ext cx="32156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Need altitude information?   </a:t>
            </a:r>
            <a:endParaRPr lang="sv-SE" dirty="0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3490" y="4546976"/>
            <a:ext cx="2850705" cy="2138029"/>
          </a:xfrm>
          <a:prstGeom prst="rect">
            <a:avLst/>
          </a:prstGeom>
        </p:spPr>
      </p:pic>
      <p:cxnSp>
        <p:nvCxnSpPr>
          <p:cNvPr id="10" name="Straight Arrow Connector 9"/>
          <p:cNvCxnSpPr/>
          <p:nvPr/>
        </p:nvCxnSpPr>
        <p:spPr>
          <a:xfrm flipH="1" flipV="1">
            <a:off x="3836773" y="679622"/>
            <a:ext cx="16477" cy="66204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3089189" y="266487"/>
            <a:ext cx="17114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Cruise-high way</a:t>
            </a:r>
            <a:endParaRPr lang="sv-SE" dirty="0"/>
          </a:p>
        </p:txBody>
      </p:sp>
      <p:sp>
        <p:nvSpPr>
          <p:cNvPr id="12" name="TextBox 11"/>
          <p:cNvSpPr txBox="1"/>
          <p:nvPr/>
        </p:nvSpPr>
        <p:spPr>
          <a:xfrm>
            <a:off x="7529384" y="266487"/>
            <a:ext cx="17114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Hill climbing</a:t>
            </a:r>
            <a:endParaRPr lang="sv-SE" dirty="0"/>
          </a:p>
        </p:txBody>
      </p:sp>
      <p:cxnSp>
        <p:nvCxnSpPr>
          <p:cNvPr id="13" name="Straight Arrow Connector 12"/>
          <p:cNvCxnSpPr/>
          <p:nvPr/>
        </p:nvCxnSpPr>
        <p:spPr>
          <a:xfrm flipV="1">
            <a:off x="6221627" y="679622"/>
            <a:ext cx="1760838" cy="117389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5715914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669324" y="387348"/>
            <a:ext cx="996366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sv-SE" b="0" i="0" dirty="0" smtClean="0">
                <a:solidFill>
                  <a:srgbClr val="0F0F0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Total </a:t>
            </a:r>
            <a:r>
              <a:rPr lang="sv-SE" b="0" i="0" dirty="0" err="1" smtClean="0">
                <a:solidFill>
                  <a:srgbClr val="0F0F0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Tractive</a:t>
            </a:r>
            <a:r>
              <a:rPr lang="sv-SE" b="0" i="0" dirty="0" smtClean="0">
                <a:solidFill>
                  <a:srgbClr val="0F0F0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Force= Rolling </a:t>
            </a:r>
            <a:r>
              <a:rPr lang="sv-SE" b="0" i="0" dirty="0" err="1" smtClean="0">
                <a:solidFill>
                  <a:srgbClr val="0F0F0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Resistance</a:t>
            </a:r>
            <a:r>
              <a:rPr lang="sv-SE" b="0" i="0" dirty="0" smtClean="0">
                <a:solidFill>
                  <a:srgbClr val="0F0F0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+ </a:t>
            </a:r>
            <a:r>
              <a:rPr lang="sv-SE" b="0" i="0" dirty="0" err="1" smtClean="0">
                <a:solidFill>
                  <a:srgbClr val="0F0F0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Aerodynamic</a:t>
            </a:r>
            <a:r>
              <a:rPr lang="sv-SE" b="0" i="0" dirty="0" smtClean="0">
                <a:solidFill>
                  <a:srgbClr val="0F0F0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Drag + Gradient Force + Acceleration Force</a:t>
            </a:r>
            <a:endParaRPr lang="sv-S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4154959" y="1093573"/>
                <a:ext cx="291227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𝑇𝑇𝐹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𝑅𝑅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𝐴𝐷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𝐺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sub>
                      </m:sSub>
                    </m:oMath>
                  </m:oMathPara>
                </a14:m>
                <a:endParaRPr lang="sv-SE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54959" y="1093573"/>
                <a:ext cx="2912271" cy="276999"/>
              </a:xfrm>
              <a:prstGeom prst="rect">
                <a:avLst/>
              </a:prstGeom>
              <a:blipFill>
                <a:blip r:embed="rId2"/>
                <a:stretch>
                  <a:fillRect b="-15217"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/>
              <p:cNvSpPr/>
              <p:nvPr/>
            </p:nvSpPr>
            <p:spPr>
              <a:xfrm>
                <a:off x="529105" y="1730632"/>
                <a:ext cx="2570575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𝑅𝑅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𝑟𝑟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.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.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cos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⁡(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sv-SE" dirty="0"/>
              </a:p>
            </p:txBody>
          </p:sp>
        </mc:Choice>
        <mc:Fallback xmlns="">
          <p:sp>
            <p:nvSpPr>
              <p:cNvPr id="7" name="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9105" y="1730632"/>
                <a:ext cx="2570575" cy="369332"/>
              </a:xfrm>
              <a:prstGeom prst="rect">
                <a:avLst/>
              </a:prstGeom>
              <a:blipFill>
                <a:blip r:embed="rId3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/>
              <p:cNvSpPr/>
              <p:nvPr/>
            </p:nvSpPr>
            <p:spPr>
              <a:xfrm>
                <a:off x="529105" y="2229022"/>
                <a:ext cx="2432012" cy="61093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𝐴𝐷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. 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.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𝜌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.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.</m:t>
                      </m:r>
                      <m:sSup>
                        <m:sSupPr>
                          <m:ctrlPr>
                            <a:rPr lang="en-US" b="0" i="1" dirty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i="1" dirty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𝑣</m:t>
                          </m:r>
                        </m:e>
                        <m:sup>
                          <m:r>
                            <a:rPr lang="en-US" b="0" i="1" dirty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b="0" i="1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 </m:t>
                      </m:r>
                    </m:oMath>
                  </m:oMathPara>
                </a14:m>
                <a:endParaRPr lang="sv-SE" dirty="0"/>
              </a:p>
            </p:txBody>
          </p:sp>
        </mc:Choice>
        <mc:Fallback xmlns="">
          <p:sp>
            <p:nvSpPr>
              <p:cNvPr id="8" name="Rectangle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9105" y="2229022"/>
                <a:ext cx="2432012" cy="61093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/>
              <p:cNvSpPr/>
              <p:nvPr/>
            </p:nvSpPr>
            <p:spPr>
              <a:xfrm>
                <a:off x="9024789" y="2294219"/>
                <a:ext cx="1780872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𝜌</m:t>
                    </m:r>
                  </m:oMath>
                </a14:m>
                <a:r>
                  <a:rPr lang="sv-SE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</a:t>
                </a:r>
                <a:r>
                  <a:rPr lang="sv-SE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density</a:t>
                </a:r>
                <a:r>
                  <a:rPr lang="sv-SE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sv-SE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of</a:t>
                </a:r>
                <a:r>
                  <a:rPr lang="sv-SE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air</a:t>
                </a:r>
                <a:endParaRPr lang="sv-SE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9" name="Rectangle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24789" y="2294219"/>
                <a:ext cx="1780872" cy="369332"/>
              </a:xfrm>
              <a:prstGeom prst="rect">
                <a:avLst/>
              </a:prstGeom>
              <a:blipFill>
                <a:blip r:embed="rId5"/>
                <a:stretch>
                  <a:fillRect t="-8197" r="-2389" b="-24590"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 10"/>
              <p:cNvSpPr/>
              <p:nvPr/>
            </p:nvSpPr>
            <p:spPr>
              <a:xfrm>
                <a:off x="529105" y="3054866"/>
                <a:ext cx="2077812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𝐺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.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. 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sin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⁡(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 </m:t>
                      </m:r>
                    </m:oMath>
                  </m:oMathPara>
                </a14:m>
                <a:endParaRPr lang="sv-SE" dirty="0"/>
              </a:p>
            </p:txBody>
          </p:sp>
        </mc:Choice>
        <mc:Fallback xmlns="">
          <p:sp>
            <p:nvSpPr>
              <p:cNvPr id="11" name="Rectangle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9105" y="3054866"/>
                <a:ext cx="2077812" cy="369332"/>
              </a:xfrm>
              <a:prstGeom prst="rect">
                <a:avLst/>
              </a:prstGeom>
              <a:blipFill>
                <a:blip r:embed="rId6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11"/>
              <p:cNvSpPr/>
              <p:nvPr/>
            </p:nvSpPr>
            <p:spPr>
              <a:xfrm>
                <a:off x="8269059" y="2923058"/>
                <a:ext cx="3623749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𝜽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sv-SE" b="1" i="0" dirty="0" smtClean="0">
                    <a:solidFill>
                      <a:srgbClr val="0F0F0F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 </a:t>
                </a:r>
                <a:r>
                  <a:rPr lang="sv-SE" b="1" i="0" dirty="0" err="1" smtClean="0">
                    <a:solidFill>
                      <a:srgbClr val="0F0F0F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uphill</a:t>
                </a:r>
                <a:r>
                  <a:rPr lang="sv-SE" b="1" i="0" dirty="0" smtClean="0">
                    <a:solidFill>
                      <a:srgbClr val="0F0F0F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or </a:t>
                </a:r>
                <a:r>
                  <a:rPr lang="sv-SE" b="1" i="0" dirty="0" err="1" smtClean="0">
                    <a:solidFill>
                      <a:srgbClr val="0F0F0F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downhill</a:t>
                </a:r>
                <a:r>
                  <a:rPr lang="sv-SE" b="1" i="0" dirty="0" smtClean="0">
                    <a:solidFill>
                      <a:srgbClr val="0F0F0F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sv-SE" b="1" i="0" dirty="0" err="1" smtClean="0">
                    <a:solidFill>
                      <a:srgbClr val="0F0F0F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slopes</a:t>
                </a:r>
                <a:r>
                  <a:rPr lang="sv-SE" b="1" i="0" dirty="0" smtClean="0">
                    <a:solidFill>
                      <a:srgbClr val="0F0F0F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sv-SE" b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angle</a:t>
                </a:r>
                <a:r>
                  <a:rPr lang="sv-SE" b="1" i="0" dirty="0" smtClean="0">
                    <a:solidFill>
                      <a:srgbClr val="0F0F0F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endParaRPr lang="sv-SE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2" name="Rectangle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69059" y="2923058"/>
                <a:ext cx="3623749" cy="369332"/>
              </a:xfrm>
              <a:prstGeom prst="rect">
                <a:avLst/>
              </a:prstGeom>
              <a:blipFill>
                <a:blip r:embed="rId7"/>
                <a:stretch>
                  <a:fillRect t="-10000" b="-26667"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Rectangle 13"/>
              <p:cNvSpPr/>
              <p:nvPr/>
            </p:nvSpPr>
            <p:spPr>
              <a:xfrm>
                <a:off x="529105" y="3807044"/>
                <a:ext cx="1241237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.</m:t>
                      </m:r>
                      <m:acc>
                        <m:accPr>
                          <m:chr m:val="̅"/>
                          <m:ctrlPr>
                            <a:rPr lang="en-US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accPr>
                        <m:e>
                          <m:r>
                            <a:rPr lang="en-US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𝑎</m:t>
                          </m:r>
                        </m:e>
                      </m:acc>
                    </m:oMath>
                  </m:oMathPara>
                </a14:m>
                <a:endParaRPr lang="sv-SE" dirty="0"/>
              </a:p>
            </p:txBody>
          </p:sp>
        </mc:Choice>
        <mc:Fallback xmlns="">
          <p:sp>
            <p:nvSpPr>
              <p:cNvPr id="14" name="Rectangle 1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9105" y="3807044"/>
                <a:ext cx="1241237" cy="369332"/>
              </a:xfrm>
              <a:prstGeom prst="rect">
                <a:avLst/>
              </a:prstGeom>
              <a:blipFill>
                <a:blip r:embed="rId8"/>
                <a:stretch>
                  <a:fillRect r="-16749"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Rectangle 14"/>
              <p:cNvSpPr/>
              <p:nvPr/>
            </p:nvSpPr>
            <p:spPr>
              <a:xfrm>
                <a:off x="4785708" y="5616832"/>
                <a:ext cx="1650772" cy="56669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𝐸𝑀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𝑇𝑇𝐹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.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den>
                      </m:f>
                    </m:oMath>
                  </m:oMathPara>
                </a14:m>
                <a:endParaRPr lang="sv-SE" dirty="0"/>
              </a:p>
            </p:txBody>
          </p:sp>
        </mc:Choice>
        <mc:Fallback xmlns="">
          <p:sp>
            <p:nvSpPr>
              <p:cNvPr id="15" name="Rectangle 1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85708" y="5616832"/>
                <a:ext cx="1650772" cy="566694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7" name="Picture 16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432862" y="1860974"/>
            <a:ext cx="4492196" cy="2757115"/>
          </a:xfrm>
          <a:prstGeom prst="rect">
            <a:avLst/>
          </a:prstGeom>
        </p:spPr>
      </p:pic>
      <p:sp>
        <p:nvSpPr>
          <p:cNvPr id="18" name="Rectangle 17"/>
          <p:cNvSpPr/>
          <p:nvPr/>
        </p:nvSpPr>
        <p:spPr>
          <a:xfrm>
            <a:off x="5194767" y="4618089"/>
            <a:ext cx="55816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*[3]</a:t>
            </a:r>
            <a:endParaRPr lang="sv-SE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320591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571138" y="148108"/>
            <a:ext cx="8800172" cy="351004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56042" y="3790126"/>
            <a:ext cx="9265920" cy="2811913"/>
          </a:xfrm>
          <a:prstGeom prst="rect">
            <a:avLst/>
          </a:prstGeom>
        </p:spPr>
      </p:pic>
      <p:cxnSp>
        <p:nvCxnSpPr>
          <p:cNvPr id="5" name="Straight Arrow Connector 4"/>
          <p:cNvCxnSpPr/>
          <p:nvPr/>
        </p:nvCxnSpPr>
        <p:spPr>
          <a:xfrm flipH="1" flipV="1">
            <a:off x="8773296" y="5313405"/>
            <a:ext cx="562235" cy="617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9510250" y="4851740"/>
            <a:ext cx="148453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Regenerative brake efficiency? </a:t>
            </a:r>
            <a:endParaRPr lang="sv-SE" dirty="0"/>
          </a:p>
        </p:txBody>
      </p:sp>
      <p:sp>
        <p:nvSpPr>
          <p:cNvPr id="9" name="Rectangle 8"/>
          <p:cNvSpPr/>
          <p:nvPr/>
        </p:nvSpPr>
        <p:spPr>
          <a:xfrm>
            <a:off x="8349458" y="578698"/>
            <a:ext cx="3806119" cy="28931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b="1" dirty="0" err="1" smtClean="0">
                <a:latin typeface="Arial" panose="020B0604020202020204" pitchFamily="34" charset="0"/>
              </a:rPr>
              <a:t>Powerized</a:t>
            </a:r>
            <a:r>
              <a:rPr lang="en-US" sz="1400" b="1" dirty="0" smtClean="0">
                <a:latin typeface="Arial" panose="020B0604020202020204" pitchFamily="34" charset="0"/>
              </a:rPr>
              <a:t> KPI</a:t>
            </a:r>
          </a:p>
          <a:p>
            <a:endParaRPr lang="en-US" sz="1400" b="1" dirty="0" smtClean="0">
              <a:latin typeface="Arial" panose="020B0604020202020204" pitchFamily="34" charset="0"/>
            </a:endParaRPr>
          </a:p>
          <a:p>
            <a:r>
              <a:rPr lang="en-US" sz="1400" dirty="0" smtClean="0">
                <a:latin typeface="Arial" panose="020B0604020202020204" pitchFamily="34" charset="0"/>
              </a:rPr>
              <a:t>1.Reduce </a:t>
            </a:r>
            <a:r>
              <a:rPr lang="en-US" sz="1400" dirty="0">
                <a:latin typeface="Arial" panose="020B0604020202020204" pitchFamily="34" charset="0"/>
              </a:rPr>
              <a:t>the nominal power losses of </a:t>
            </a:r>
            <a:r>
              <a:rPr lang="en-US" sz="1400" dirty="0"/>
              <a:t/>
            </a:r>
            <a:br>
              <a:rPr lang="en-US" sz="1400" dirty="0"/>
            </a:br>
            <a:r>
              <a:rPr lang="en-US" sz="1400" dirty="0">
                <a:latin typeface="Arial" panose="020B0604020202020204" pitchFamily="34" charset="0"/>
              </a:rPr>
              <a:t>the traction inverter from 1% to 0.6</a:t>
            </a:r>
            <a:r>
              <a:rPr lang="en-US" sz="1400" dirty="0" smtClean="0">
                <a:latin typeface="Arial" panose="020B0604020202020204" pitchFamily="34" charset="0"/>
              </a:rPr>
              <a:t>%.</a:t>
            </a:r>
          </a:p>
          <a:p>
            <a:r>
              <a:rPr lang="en-US" sz="1400" dirty="0"/>
              <a:t/>
            </a:r>
            <a:br>
              <a:rPr lang="en-US" sz="1400" dirty="0"/>
            </a:br>
            <a:r>
              <a:rPr lang="en-US" sz="1400" dirty="0">
                <a:latin typeface="Arial" panose="020B0604020202020204" pitchFamily="34" charset="0"/>
              </a:rPr>
              <a:t>2. </a:t>
            </a:r>
            <a:r>
              <a:rPr lang="en-US" sz="1400" b="1" dirty="0">
                <a:latin typeface="Arial" panose="020B0604020202020204" pitchFamily="34" charset="0"/>
              </a:rPr>
              <a:t>Reduce losses over the VECTO long-</a:t>
            </a:r>
            <a:r>
              <a:rPr lang="en-US" sz="1400" b="1" dirty="0"/>
              <a:t/>
            </a:r>
            <a:br>
              <a:rPr lang="en-US" sz="1400" b="1" dirty="0"/>
            </a:br>
            <a:r>
              <a:rPr lang="en-US" sz="1400" b="1" dirty="0">
                <a:latin typeface="Arial" panose="020B0604020202020204" pitchFamily="34" charset="0"/>
              </a:rPr>
              <a:t>haul drive cycle from 1.2% to 0.7</a:t>
            </a:r>
            <a:r>
              <a:rPr lang="en-US" sz="1400" b="1" dirty="0" smtClean="0">
                <a:latin typeface="Arial" panose="020B0604020202020204" pitchFamily="34" charset="0"/>
              </a:rPr>
              <a:t>%</a:t>
            </a:r>
          </a:p>
          <a:p>
            <a:r>
              <a:rPr lang="en-US" sz="1400" dirty="0"/>
              <a:t/>
            </a:r>
            <a:br>
              <a:rPr lang="en-US" sz="1400" dirty="0"/>
            </a:br>
            <a:r>
              <a:rPr lang="en-US" sz="1400" dirty="0">
                <a:latin typeface="Arial" panose="020B0604020202020204" pitchFamily="34" charset="0"/>
              </a:rPr>
              <a:t>3. Increase the input voltage of the </a:t>
            </a:r>
            <a:r>
              <a:rPr lang="en-US" sz="1400" dirty="0"/>
              <a:t/>
            </a:r>
            <a:br>
              <a:rPr lang="en-US" sz="1400" dirty="0"/>
            </a:br>
            <a:r>
              <a:rPr lang="en-US" sz="1400" dirty="0" smtClean="0">
                <a:latin typeface="Arial" panose="020B0604020202020204" pitchFamily="34" charset="0"/>
              </a:rPr>
              <a:t>designed </a:t>
            </a:r>
            <a:r>
              <a:rPr lang="en-US" sz="1400" dirty="0">
                <a:latin typeface="Arial" panose="020B0604020202020204" pitchFamily="34" charset="0"/>
              </a:rPr>
              <a:t>converter from 800V to </a:t>
            </a:r>
            <a:r>
              <a:rPr lang="en-US" sz="1400" dirty="0" smtClean="0">
                <a:latin typeface="Arial" panose="020B0604020202020204" pitchFamily="34" charset="0"/>
              </a:rPr>
              <a:t>1250V</a:t>
            </a:r>
          </a:p>
          <a:p>
            <a:r>
              <a:rPr lang="en-US" sz="1400" dirty="0"/>
              <a:t/>
            </a:r>
            <a:br>
              <a:rPr lang="en-US" sz="1400" dirty="0"/>
            </a:br>
            <a:r>
              <a:rPr lang="en-US" sz="1400" dirty="0">
                <a:latin typeface="Arial" panose="020B0604020202020204" pitchFamily="34" charset="0"/>
              </a:rPr>
              <a:t>4. Increase the power density of the </a:t>
            </a:r>
            <a:r>
              <a:rPr lang="en-US" sz="1400" dirty="0"/>
              <a:t/>
            </a:r>
            <a:br>
              <a:rPr lang="en-US" sz="1400" dirty="0"/>
            </a:br>
            <a:r>
              <a:rPr lang="en-US" sz="1400" dirty="0">
                <a:latin typeface="Arial" panose="020B0604020202020204" pitchFamily="34" charset="0"/>
              </a:rPr>
              <a:t>traction inverter from 30 kW/l to 50 kW/l</a:t>
            </a:r>
            <a:endParaRPr lang="sv-SE" sz="1400" dirty="0"/>
          </a:p>
        </p:txBody>
      </p:sp>
    </p:spTree>
    <p:extLst>
      <p:ext uri="{BB962C8B-B14F-4D97-AF65-F5344CB8AC3E}">
        <p14:creationId xmlns:p14="http://schemas.microsoft.com/office/powerpoint/2010/main" val="70974094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4397" y="290512"/>
            <a:ext cx="10372725" cy="6353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411944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5099" y="209548"/>
            <a:ext cx="4759961" cy="3569971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348614"/>
            <a:ext cx="4381500" cy="3286125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79520" y="3634739"/>
            <a:ext cx="4221480" cy="3166110"/>
          </a:xfrm>
          <a:prstGeom prst="rect">
            <a:avLst/>
          </a:prstGeom>
        </p:spPr>
      </p:pic>
      <p:cxnSp>
        <p:nvCxnSpPr>
          <p:cNvPr id="3" name="Straight Arrow Connector 2"/>
          <p:cNvCxnSpPr/>
          <p:nvPr/>
        </p:nvCxnSpPr>
        <p:spPr>
          <a:xfrm>
            <a:off x="5301049" y="4028303"/>
            <a:ext cx="4170405" cy="101325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9619734" y="4441392"/>
            <a:ext cx="190911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High torque requires acceleration from 0-100km/h</a:t>
            </a:r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13719013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1291</TotalTime>
  <Words>2964</Words>
  <Application>Microsoft Office PowerPoint</Application>
  <PresentationFormat>Widescreen</PresentationFormat>
  <Paragraphs>335</Paragraphs>
  <Slides>34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42" baseType="lpstr">
      <vt:lpstr>Arial</vt:lpstr>
      <vt:lpstr>Calibri</vt:lpstr>
      <vt:lpstr>Calibri Light</vt:lpstr>
      <vt:lpstr>Cambria Math</vt:lpstr>
      <vt:lpstr>Söhne</vt:lpstr>
      <vt:lpstr>Times New Roman</vt:lpstr>
      <vt:lpstr>Yanone Kaffeesatz</vt:lpstr>
      <vt:lpstr>Office Theme</vt:lpstr>
      <vt:lpstr>Literature : Powertrains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References</vt:lpstr>
      <vt:lpstr>Optimization : GearBox-EM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Drive Cycles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KTH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Enes Ayaz</dc:creator>
  <cp:lastModifiedBy>Enes Ayaz</cp:lastModifiedBy>
  <cp:revision>5</cp:revision>
  <dcterms:created xsi:type="dcterms:W3CDTF">2024-10-22T09:21:39Z</dcterms:created>
  <dcterms:modified xsi:type="dcterms:W3CDTF">2024-12-03T11:53:54Z</dcterms:modified>
</cp:coreProperties>
</file>