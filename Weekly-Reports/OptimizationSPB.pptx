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2"/>
  </p:notesMasterIdLst>
  <p:sldIdLst>
    <p:sldId id="256" r:id="rId2"/>
    <p:sldId id="283" r:id="rId3"/>
    <p:sldId id="284" r:id="rId4"/>
    <p:sldId id="285" r:id="rId5"/>
    <p:sldId id="286" r:id="rId6"/>
    <p:sldId id="287" r:id="rId7"/>
    <p:sldId id="288" r:id="rId8"/>
    <p:sldId id="289" r:id="rId9"/>
    <p:sldId id="290" r:id="rId10"/>
    <p:sldId id="291" r:id="rId11"/>
  </p:sldIdLst>
  <p:sldSz cx="12192000" cy="6858000"/>
  <p:notesSz cx="6858000" cy="9144000"/>
  <p:embeddedFontLst>
    <p:embeddedFont>
      <p:font typeface="Cambria Math" panose="02040503050406030204" pitchFamily="18" charset="0"/>
      <p:regular r:id="rId13"/>
    </p:embeddedFont>
    <p:embeddedFont>
      <p:font typeface="Figtree" panose="020B0604020202020204" charset="0"/>
      <p:regular r:id="rId14"/>
      <p:bold r:id="rId15"/>
      <p:italic r:id="rId16"/>
      <p:boldItalic r:id="rId17"/>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942" autoAdjust="0"/>
    <p:restoredTop sz="96327"/>
  </p:normalViewPr>
  <p:slideViewPr>
    <p:cSldViewPr snapToGrid="0">
      <p:cViewPr>
        <p:scale>
          <a:sx n="125" d="100"/>
          <a:sy n="125" d="100"/>
        </p:scale>
        <p:origin x="11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2026-08-19</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2026-08-19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2026-08-19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2026-08-19</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2026-08-19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2026-08-19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2026-08-19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2026-08-19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2026-08-19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2026-08-19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2026-08-19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2026-08-19</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2026-08-19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2026-08-19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2026-08-19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2026-08-19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2026-08-19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2026-08-19</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2026-08-19</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2026-08-19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2026-08-19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2026-08-19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2026-08-19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2026-08-19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2026-08-19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2026-08-19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2026-08-19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2026-08-19</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2026-08-19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2026-08-19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2026-08-19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2026-08-19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2026-08-19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2026-08-19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2026-08-19</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2026-08-19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2026-08-19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2026-08-19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2026-08-19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2026-08-19</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2026-08-19</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2026-08-19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2026-08-19</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2026-08-19</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2026-08-19</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2026-08-19</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2026-08-19</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2026-08-19</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2026-08-19</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a:t>SPB Optimization</a:t>
            </a:r>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i="1" dirty="0">
                <a:solidFill>
                  <a:srgbClr val="6298D2"/>
                </a:solidFill>
                <a:latin typeface="Calibri" pitchFamily="34" charset="0"/>
                <a:ea typeface="Calibri" pitchFamily="34" charset="-122"/>
                <a:cs typeface="Calibri" pitchFamily="34" charset="-120"/>
              </a:rPr>
              <a:t>1200 V DC-link, 300 kW three-phase inverter</a:t>
            </a:r>
          </a:p>
          <a:p>
            <a:endParaRPr lang="sv-SE" dirty="0"/>
          </a:p>
        </p:txBody>
      </p:sp>
    </p:spTree>
    <p:extLst>
      <p:ext uri="{BB962C8B-B14F-4D97-AF65-F5344CB8AC3E}">
        <p14:creationId xmlns:p14="http://schemas.microsoft.com/office/powerpoint/2010/main" val="208122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4B20B-81C2-33E7-121E-7A05693D5127}"/>
              </a:ext>
            </a:extLst>
          </p:cNvPr>
          <p:cNvSpPr>
            <a:spLocks noGrp="1"/>
          </p:cNvSpPr>
          <p:nvPr>
            <p:ph type="title"/>
          </p:nvPr>
        </p:nvSpPr>
        <p:spPr>
          <a:xfrm>
            <a:off x="1009317" y="286175"/>
            <a:ext cx="10990263" cy="568412"/>
          </a:xfrm>
        </p:spPr>
        <p:txBody>
          <a:bodyPr/>
          <a:lstStyle/>
          <a:p>
            <a:r>
              <a:rPr lang="en-US" dirty="0"/>
              <a:t>Optimizing SPB Level Number with Available </a:t>
            </a:r>
            <a:r>
              <a:rPr lang="en-US" dirty="0" err="1"/>
              <a:t>GaN</a:t>
            </a:r>
            <a:r>
              <a:rPr lang="en-US" dirty="0"/>
              <a:t> Devices</a:t>
            </a:r>
            <a:endParaRPr lang="sv-SE" dirty="0"/>
          </a:p>
        </p:txBody>
      </p:sp>
      <p:sp>
        <p:nvSpPr>
          <p:cNvPr id="5" name="Shape 7">
            <a:extLst>
              <a:ext uri="{FF2B5EF4-FFF2-40B4-BE49-F238E27FC236}">
                <a16:creationId xmlns:a16="http://schemas.microsoft.com/office/drawing/2014/main" id="{A00023E0-339F-EE06-34A8-EB380E3EA3E2}"/>
              </a:ext>
            </a:extLst>
          </p:cNvPr>
          <p:cNvSpPr/>
          <p:nvPr/>
        </p:nvSpPr>
        <p:spPr>
          <a:xfrm>
            <a:off x="7978458" y="2035659"/>
            <a:ext cx="731520" cy="3383280"/>
          </a:xfrm>
          <a:prstGeom prst="chevron">
            <a:avLst/>
          </a:prstGeom>
          <a:solidFill>
            <a:srgbClr val="BFDBFE"/>
          </a:solidFill>
          <a:ln w="12700">
            <a:solidFill>
              <a:srgbClr val="BFDBFE"/>
            </a:solidFill>
            <a:prstDash val="solid"/>
          </a:ln>
        </p:spPr>
        <p:txBody>
          <a:bodyPr/>
          <a:lstStyle/>
          <a:p>
            <a:endParaRPr lang="sv-SE"/>
          </a:p>
        </p:txBody>
      </p:sp>
      <p:sp>
        <p:nvSpPr>
          <p:cNvPr id="7" name="Shape 8">
            <a:extLst>
              <a:ext uri="{FF2B5EF4-FFF2-40B4-BE49-F238E27FC236}">
                <a16:creationId xmlns:a16="http://schemas.microsoft.com/office/drawing/2014/main" id="{24C723C3-5552-A646-CA49-5B40651D3328}"/>
              </a:ext>
            </a:extLst>
          </p:cNvPr>
          <p:cNvSpPr/>
          <p:nvPr/>
        </p:nvSpPr>
        <p:spPr>
          <a:xfrm>
            <a:off x="8801418" y="2035659"/>
            <a:ext cx="731520" cy="3383280"/>
          </a:xfrm>
          <a:prstGeom prst="chevron">
            <a:avLst/>
          </a:prstGeom>
          <a:solidFill>
            <a:srgbClr val="93C5FD"/>
          </a:solidFill>
          <a:ln w="12700">
            <a:solidFill>
              <a:srgbClr val="93C5FD"/>
            </a:solidFill>
            <a:prstDash val="solid"/>
          </a:ln>
        </p:spPr>
        <p:txBody>
          <a:bodyPr/>
          <a:lstStyle/>
          <a:p>
            <a:endParaRPr lang="sv-SE"/>
          </a:p>
        </p:txBody>
      </p:sp>
      <p:sp>
        <p:nvSpPr>
          <p:cNvPr id="9" name="Shape 9">
            <a:extLst>
              <a:ext uri="{FF2B5EF4-FFF2-40B4-BE49-F238E27FC236}">
                <a16:creationId xmlns:a16="http://schemas.microsoft.com/office/drawing/2014/main" id="{19BF83C0-C0DD-E7E9-048C-CD5657966445}"/>
              </a:ext>
            </a:extLst>
          </p:cNvPr>
          <p:cNvSpPr/>
          <p:nvPr/>
        </p:nvSpPr>
        <p:spPr>
          <a:xfrm>
            <a:off x="9624378" y="2035659"/>
            <a:ext cx="731520" cy="3383280"/>
          </a:xfrm>
          <a:prstGeom prst="chevron">
            <a:avLst/>
          </a:prstGeom>
          <a:solidFill>
            <a:srgbClr val="60A5FA"/>
          </a:solidFill>
          <a:ln w="12700">
            <a:solidFill>
              <a:srgbClr val="60A5FA"/>
            </a:solidFill>
            <a:prstDash val="solid"/>
          </a:ln>
        </p:spPr>
        <p:txBody>
          <a:bodyPr/>
          <a:lstStyle/>
          <a:p>
            <a:endParaRPr lang="sv-SE"/>
          </a:p>
        </p:txBody>
      </p:sp>
      <p:sp>
        <p:nvSpPr>
          <p:cNvPr id="11" name="Shape 10">
            <a:extLst>
              <a:ext uri="{FF2B5EF4-FFF2-40B4-BE49-F238E27FC236}">
                <a16:creationId xmlns:a16="http://schemas.microsoft.com/office/drawing/2014/main" id="{5122323D-0796-B5E4-F89D-BF61DD0C6559}"/>
              </a:ext>
            </a:extLst>
          </p:cNvPr>
          <p:cNvSpPr/>
          <p:nvPr/>
        </p:nvSpPr>
        <p:spPr>
          <a:xfrm>
            <a:off x="10447338" y="2035659"/>
            <a:ext cx="731520" cy="3383280"/>
          </a:xfrm>
          <a:prstGeom prst="chevron">
            <a:avLst/>
          </a:prstGeom>
          <a:solidFill>
            <a:srgbClr val="3B82F6"/>
          </a:solidFill>
          <a:ln w="12700">
            <a:solidFill>
              <a:srgbClr val="3B82F6"/>
            </a:solidFill>
            <a:prstDash val="solid"/>
          </a:ln>
        </p:spPr>
        <p:txBody>
          <a:bodyPr/>
          <a:lstStyle/>
          <a:p>
            <a:endParaRPr lang="sv-SE"/>
          </a:p>
        </p:txBody>
      </p:sp>
      <p:sp>
        <p:nvSpPr>
          <p:cNvPr id="13" name="Text 11">
            <a:extLst>
              <a:ext uri="{FF2B5EF4-FFF2-40B4-BE49-F238E27FC236}">
                <a16:creationId xmlns:a16="http://schemas.microsoft.com/office/drawing/2014/main" id="{B6AC3A36-CB3C-C382-FC75-4DC5A10BDF66}"/>
              </a:ext>
            </a:extLst>
          </p:cNvPr>
          <p:cNvSpPr/>
          <p:nvPr/>
        </p:nvSpPr>
        <p:spPr>
          <a:xfrm>
            <a:off x="7658418" y="5601819"/>
            <a:ext cx="3931920" cy="685800"/>
          </a:xfrm>
          <a:prstGeom prst="rect">
            <a:avLst/>
          </a:prstGeom>
          <a:noFill/>
          <a:ln/>
        </p:spPr>
        <p:txBody>
          <a:bodyPr wrap="square" lIns="0" tIns="0" rIns="0" bIns="0" rtlCol="0" anchor="ctr"/>
          <a:lstStyle/>
          <a:p>
            <a:pPr marL="0" indent="0" algn="ctr">
              <a:buNone/>
            </a:pPr>
            <a:r>
              <a:rPr lang="en-US" sz="1400" b="1" dirty="0">
                <a:solidFill>
                  <a:srgbClr val="0F172A"/>
                </a:solidFill>
              </a:rPr>
              <a:t>More cells</a:t>
            </a:r>
            <a:endParaRPr lang="en-US" sz="1400" dirty="0"/>
          </a:p>
          <a:p>
            <a:pPr marL="0" indent="0" algn="ctr">
              <a:buNone/>
            </a:pPr>
            <a:r>
              <a:rPr lang="en-US" sz="1400" b="1" dirty="0">
                <a:solidFill>
                  <a:srgbClr val="0F172A"/>
                </a:solidFill>
              </a:rPr>
              <a:t>lower Vcell</a:t>
            </a:r>
            <a:endParaRPr lang="en-US" sz="1400" dirty="0"/>
          </a:p>
          <a:p>
            <a:pPr marL="0" indent="0" algn="ctr">
              <a:buNone/>
            </a:pPr>
            <a:r>
              <a:rPr lang="en-US" sz="1400" b="1" dirty="0">
                <a:solidFill>
                  <a:srgbClr val="0F172A"/>
                </a:solidFill>
              </a:rPr>
              <a:t>better device FOM</a:t>
            </a:r>
            <a:endParaRPr lang="en-US" sz="1400" dirty="0"/>
          </a:p>
          <a:p>
            <a:pPr marL="0" indent="0" algn="ctr">
              <a:buNone/>
            </a:pPr>
            <a:r>
              <a:rPr lang="en-US" sz="1400" b="1" dirty="0">
                <a:solidFill>
                  <a:srgbClr val="0F172A"/>
                </a:solidFill>
              </a:rPr>
              <a:t>more switches</a:t>
            </a:r>
            <a:endParaRPr lang="en-US" sz="1400" dirty="0"/>
          </a:p>
        </p:txBody>
      </p:sp>
      <p:sp>
        <p:nvSpPr>
          <p:cNvPr id="15" name="Text 4">
            <a:extLst>
              <a:ext uri="{FF2B5EF4-FFF2-40B4-BE49-F238E27FC236}">
                <a16:creationId xmlns:a16="http://schemas.microsoft.com/office/drawing/2014/main" id="{9C926FEB-0C67-A942-B1F6-85CA971C731D}"/>
              </a:ext>
            </a:extLst>
          </p:cNvPr>
          <p:cNvSpPr/>
          <p:nvPr/>
        </p:nvSpPr>
        <p:spPr>
          <a:xfrm>
            <a:off x="600075" y="2480787"/>
            <a:ext cx="5641784" cy="768096"/>
          </a:xfrm>
          <a:prstGeom prst="rect">
            <a:avLst/>
          </a:prstGeom>
          <a:noFill/>
          <a:ln/>
        </p:spPr>
        <p:txBody>
          <a:bodyPr wrap="square" lIns="254" tIns="254" rIns="254" bIns="254" rtlCol="0" anchor="ctr">
            <a:normAutofit/>
          </a:bodyPr>
          <a:lstStyle/>
          <a:p>
            <a:pPr marL="0" indent="0">
              <a:buNone/>
            </a:pPr>
            <a:r>
              <a:rPr lang="en-US" sz="1600" b="1" dirty="0">
                <a:solidFill>
                  <a:srgbClr val="0F172A"/>
                </a:solidFill>
                <a:latin typeface="+mj-lt"/>
                <a:ea typeface="Aptos" pitchFamily="34" charset="-122"/>
                <a:cs typeface="Aptos" pitchFamily="34" charset="-120"/>
              </a:rPr>
              <a:t>Core question:</a:t>
            </a:r>
            <a:endParaRPr lang="en-US" sz="1600" b="1" dirty="0">
              <a:latin typeface="+mj-lt"/>
            </a:endParaRPr>
          </a:p>
          <a:p>
            <a:pPr marL="0" indent="0">
              <a:buNone/>
            </a:pPr>
            <a:r>
              <a:rPr lang="en-US" sz="1600" dirty="0">
                <a:solidFill>
                  <a:srgbClr val="0F172A"/>
                </a:solidFill>
                <a:latin typeface="+mj-lt"/>
                <a:ea typeface="Aptos" pitchFamily="34" charset="-122"/>
                <a:cs typeface="Aptos" pitchFamily="34" charset="-120"/>
              </a:rPr>
              <a:t>How many stacked two-level cells are worth adding before device count and control overload dominate?</a:t>
            </a:r>
            <a:endParaRPr lang="en-US" sz="1600" dirty="0">
              <a:latin typeface="+mj-lt"/>
            </a:endParaRPr>
          </a:p>
        </p:txBody>
      </p:sp>
      <p:sp>
        <p:nvSpPr>
          <p:cNvPr id="19" name="Text 6">
            <a:extLst>
              <a:ext uri="{FF2B5EF4-FFF2-40B4-BE49-F238E27FC236}">
                <a16:creationId xmlns:a16="http://schemas.microsoft.com/office/drawing/2014/main" id="{6A75AEFB-7D65-8C11-7925-9B74A727CEDC}"/>
              </a:ext>
            </a:extLst>
          </p:cNvPr>
          <p:cNvSpPr/>
          <p:nvPr/>
        </p:nvSpPr>
        <p:spPr>
          <a:xfrm>
            <a:off x="600075" y="4200485"/>
            <a:ext cx="4352544" cy="768096"/>
          </a:xfrm>
          <a:prstGeom prst="rect">
            <a:avLst/>
          </a:prstGeom>
          <a:noFill/>
          <a:ln/>
        </p:spPr>
        <p:txBody>
          <a:bodyPr wrap="square" lIns="254" tIns="254" rIns="254" bIns="254" rtlCol="0" anchor="ctr">
            <a:normAutofit fontScale="85000" lnSpcReduction="20000"/>
          </a:bodyPr>
          <a:lstStyle/>
          <a:p>
            <a:pPr marL="0" indent="0">
              <a:buNone/>
            </a:pPr>
            <a:r>
              <a:rPr lang="en-US" sz="1600" b="1" dirty="0">
                <a:solidFill>
                  <a:srgbClr val="0F172A"/>
                </a:solidFill>
                <a:latin typeface="+mj-lt"/>
                <a:ea typeface="Aptos" pitchFamily="34" charset="-122"/>
                <a:cs typeface="Aptos" pitchFamily="34" charset="-120"/>
              </a:rPr>
              <a:t>Method:</a:t>
            </a:r>
            <a:endParaRPr lang="en-US" sz="1600" b="1" dirty="0">
              <a:latin typeface="+mj-lt"/>
            </a:endParaRPr>
          </a:p>
          <a:p>
            <a:pPr marL="285750" indent="-285750">
              <a:buFont typeface="Arial" panose="020B0604020202020204" pitchFamily="34" charset="0"/>
              <a:buChar char="•"/>
            </a:pPr>
            <a:r>
              <a:rPr lang="en-US" sz="1600" dirty="0">
                <a:solidFill>
                  <a:srgbClr val="0F172A"/>
                </a:solidFill>
                <a:latin typeface="+mj-lt"/>
                <a:ea typeface="Aptos" pitchFamily="34" charset="-122"/>
                <a:cs typeface="Aptos" pitchFamily="34" charset="-120"/>
              </a:rPr>
              <a:t>Off-the-shelf </a:t>
            </a:r>
            <a:r>
              <a:rPr lang="en-US" sz="1600" dirty="0" err="1">
                <a:solidFill>
                  <a:srgbClr val="0F172A"/>
                </a:solidFill>
                <a:latin typeface="+mj-lt"/>
                <a:ea typeface="Aptos" pitchFamily="34" charset="-122"/>
                <a:cs typeface="Aptos" pitchFamily="34" charset="-120"/>
              </a:rPr>
              <a:t>GaN</a:t>
            </a:r>
            <a:r>
              <a:rPr lang="en-US" sz="1600" dirty="0">
                <a:solidFill>
                  <a:srgbClr val="0F172A"/>
                </a:solidFill>
                <a:latin typeface="+mj-lt"/>
                <a:ea typeface="Aptos" pitchFamily="34" charset="-122"/>
                <a:cs typeface="Aptos" pitchFamily="34" charset="-120"/>
              </a:rPr>
              <a:t> database</a:t>
            </a:r>
          </a:p>
          <a:p>
            <a:pPr marL="285750" indent="-285750">
              <a:buFont typeface="Arial" panose="020B0604020202020204" pitchFamily="34" charset="0"/>
              <a:buChar char="•"/>
            </a:pPr>
            <a:r>
              <a:rPr lang="en-US" sz="1600" dirty="0">
                <a:solidFill>
                  <a:srgbClr val="0F172A"/>
                </a:solidFill>
                <a:ea typeface="Aptos" pitchFamily="34" charset="-122"/>
                <a:cs typeface="Aptos" pitchFamily="34" charset="-120"/>
              </a:rPr>
              <a:t>D-FOM screening</a:t>
            </a:r>
            <a:r>
              <a:rPr lang="en-US" sz="1600" dirty="0">
                <a:solidFill>
                  <a:srgbClr val="0F172A"/>
                </a:solidFill>
                <a:latin typeface="+mj-lt"/>
                <a:ea typeface="Aptos" pitchFamily="34" charset="-122"/>
                <a:cs typeface="Aptos" pitchFamily="34" charset="-120"/>
              </a:rPr>
              <a:t> </a:t>
            </a:r>
          </a:p>
          <a:p>
            <a:pPr marL="285750" indent="-285750">
              <a:buFont typeface="Arial" panose="020B0604020202020204" pitchFamily="34" charset="0"/>
              <a:buChar char="•"/>
            </a:pPr>
            <a:r>
              <a:rPr lang="en-US" sz="1600" dirty="0">
                <a:solidFill>
                  <a:srgbClr val="0F172A"/>
                </a:solidFill>
                <a:latin typeface="+mj-lt"/>
                <a:ea typeface="Aptos" pitchFamily="34" charset="-122"/>
                <a:cs typeface="Aptos" pitchFamily="34" charset="-120"/>
              </a:rPr>
              <a:t>first-order loss model</a:t>
            </a:r>
            <a:endParaRPr lang="en-US" sz="1600" dirty="0">
              <a:latin typeface="+mj-lt"/>
            </a:endParaRPr>
          </a:p>
        </p:txBody>
      </p:sp>
    </p:spTree>
    <p:extLst>
      <p:ext uri="{BB962C8B-B14F-4D97-AF65-F5344CB8AC3E}">
        <p14:creationId xmlns:p14="http://schemas.microsoft.com/office/powerpoint/2010/main" val="1418560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AD91D-883D-565D-B6C0-0EDDBF2A09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F7683-1620-1C61-D482-E69FA48A8C44}"/>
              </a:ext>
            </a:extLst>
          </p:cNvPr>
          <p:cNvSpPr>
            <a:spLocks noGrp="1"/>
          </p:cNvSpPr>
          <p:nvPr>
            <p:ph type="title"/>
          </p:nvPr>
        </p:nvSpPr>
        <p:spPr>
          <a:xfrm>
            <a:off x="1028500" y="368890"/>
            <a:ext cx="10990263" cy="568412"/>
          </a:xfrm>
        </p:spPr>
        <p:txBody>
          <a:bodyPr/>
          <a:lstStyle/>
          <a:p>
            <a:r>
              <a:rPr lang="en-US" dirty="0"/>
              <a:t>Why this optimization matters</a:t>
            </a:r>
            <a:endParaRPr lang="sv-SE" dirty="0"/>
          </a:p>
        </p:txBody>
      </p:sp>
      <p:sp>
        <p:nvSpPr>
          <p:cNvPr id="4" name="Shape 2">
            <a:extLst>
              <a:ext uri="{FF2B5EF4-FFF2-40B4-BE49-F238E27FC236}">
                <a16:creationId xmlns:a16="http://schemas.microsoft.com/office/drawing/2014/main" id="{368556BF-247F-57AB-601B-71951BBD844B}"/>
              </a:ext>
            </a:extLst>
          </p:cNvPr>
          <p:cNvSpPr/>
          <p:nvPr/>
        </p:nvSpPr>
        <p:spPr>
          <a:xfrm>
            <a:off x="527795" y="1412232"/>
            <a:ext cx="3291840" cy="187452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System target</a:t>
            </a:r>
            <a:endParaRPr lang="en-US" dirty="0"/>
          </a:p>
          <a:p>
            <a:pPr marL="285750" indent="-285750">
              <a:buFont typeface="Arial" panose="020B0604020202020204" pitchFamily="34" charset="0"/>
              <a:buChar char="•"/>
            </a:pPr>
            <a:r>
              <a:rPr lang="en-US" sz="1600" dirty="0">
                <a:solidFill>
                  <a:srgbClr val="475569"/>
                </a:solidFill>
              </a:rPr>
              <a:t> 1200 V DC-link</a:t>
            </a:r>
            <a:endParaRPr lang="en-US" sz="1600" dirty="0"/>
          </a:p>
          <a:p>
            <a:pPr marL="285750" indent="-285750">
              <a:buFont typeface="Arial" panose="020B0604020202020204" pitchFamily="34" charset="0"/>
              <a:buChar char="•"/>
            </a:pPr>
            <a:r>
              <a:rPr lang="en-US" sz="1600" dirty="0">
                <a:solidFill>
                  <a:srgbClr val="475569"/>
                </a:solidFill>
              </a:rPr>
              <a:t>• 300 kW output power</a:t>
            </a:r>
            <a:endParaRPr lang="en-US" sz="1600" dirty="0"/>
          </a:p>
          <a:p>
            <a:pPr marL="285750" indent="-285750">
              <a:buFont typeface="Arial" panose="020B0604020202020204" pitchFamily="34" charset="0"/>
              <a:buChar char="•"/>
            </a:pPr>
            <a:r>
              <a:rPr lang="en-US" sz="1600" dirty="0">
                <a:solidFill>
                  <a:srgbClr val="475569"/>
                </a:solidFill>
              </a:rPr>
              <a:t>• ≈ 291 A rms phase current</a:t>
            </a:r>
            <a:endParaRPr lang="en-US" sz="1600" dirty="0"/>
          </a:p>
          <a:p>
            <a:pPr marL="285750" indent="-285750">
              <a:buFont typeface="Arial" panose="020B0604020202020204" pitchFamily="34" charset="0"/>
              <a:buChar char="•"/>
            </a:pPr>
            <a:r>
              <a:rPr lang="en-US" sz="1600" dirty="0">
                <a:solidFill>
                  <a:srgbClr val="475569"/>
                </a:solidFill>
              </a:rPr>
              <a:t>• high-frequency </a:t>
            </a:r>
            <a:r>
              <a:rPr lang="en-US" sz="1600" dirty="0" err="1">
                <a:solidFill>
                  <a:srgbClr val="475569"/>
                </a:solidFill>
              </a:rPr>
              <a:t>GaN</a:t>
            </a:r>
            <a:r>
              <a:rPr lang="en-US" sz="1600" dirty="0">
                <a:solidFill>
                  <a:srgbClr val="475569"/>
                </a:solidFill>
              </a:rPr>
              <a:t> switching</a:t>
            </a:r>
            <a:endParaRPr lang="en-US" sz="1600" dirty="0"/>
          </a:p>
          <a:p>
            <a:endParaRPr lang="sv-SE" dirty="0"/>
          </a:p>
        </p:txBody>
      </p:sp>
      <p:sp>
        <p:nvSpPr>
          <p:cNvPr id="8" name="Shape 3">
            <a:extLst>
              <a:ext uri="{FF2B5EF4-FFF2-40B4-BE49-F238E27FC236}">
                <a16:creationId xmlns:a16="http://schemas.microsoft.com/office/drawing/2014/main" id="{697E31DE-EFE9-5FAF-A8CE-D5FF49C7398A}"/>
              </a:ext>
            </a:extLst>
          </p:cNvPr>
          <p:cNvSpPr/>
          <p:nvPr/>
        </p:nvSpPr>
        <p:spPr>
          <a:xfrm>
            <a:off x="454643" y="1412232"/>
            <a:ext cx="73152" cy="1874520"/>
          </a:xfrm>
          <a:prstGeom prst="rect">
            <a:avLst/>
          </a:prstGeom>
          <a:solidFill>
            <a:srgbClr val="2563EB"/>
          </a:solidFill>
          <a:ln w="12700">
            <a:solidFill>
              <a:srgbClr val="2563EB"/>
            </a:solidFill>
            <a:prstDash val="solid"/>
          </a:ln>
        </p:spPr>
        <p:txBody>
          <a:bodyPr/>
          <a:lstStyle/>
          <a:p>
            <a:endParaRPr lang="sv-SE"/>
          </a:p>
        </p:txBody>
      </p:sp>
      <p:sp>
        <p:nvSpPr>
          <p:cNvPr id="12" name="Text 4">
            <a:extLst>
              <a:ext uri="{FF2B5EF4-FFF2-40B4-BE49-F238E27FC236}">
                <a16:creationId xmlns:a16="http://schemas.microsoft.com/office/drawing/2014/main" id="{3F7DBD5D-CA9D-A802-55B1-018E709148BA}"/>
              </a:ext>
            </a:extLst>
          </p:cNvPr>
          <p:cNvSpPr/>
          <p:nvPr/>
        </p:nvSpPr>
        <p:spPr>
          <a:xfrm>
            <a:off x="637523" y="1558536"/>
            <a:ext cx="2971800" cy="228600"/>
          </a:xfrm>
          <a:prstGeom prst="rect">
            <a:avLst/>
          </a:prstGeom>
          <a:noFill/>
          <a:ln/>
        </p:spPr>
        <p:txBody>
          <a:bodyPr wrap="square" lIns="0" tIns="0" rIns="0" bIns="0" rtlCol="0" anchor="ctr"/>
          <a:lstStyle/>
          <a:p>
            <a:pPr marL="0" indent="0">
              <a:buNone/>
            </a:pPr>
            <a:endParaRPr lang="en-US" sz="1400" dirty="0"/>
          </a:p>
        </p:txBody>
      </p:sp>
      <p:sp>
        <p:nvSpPr>
          <p:cNvPr id="16" name="Text 5">
            <a:extLst>
              <a:ext uri="{FF2B5EF4-FFF2-40B4-BE49-F238E27FC236}">
                <a16:creationId xmlns:a16="http://schemas.microsoft.com/office/drawing/2014/main" id="{5AFC4ED3-5F99-4DA7-3995-ACF55DCE894B}"/>
              </a:ext>
            </a:extLst>
          </p:cNvPr>
          <p:cNvSpPr/>
          <p:nvPr/>
        </p:nvSpPr>
        <p:spPr>
          <a:xfrm>
            <a:off x="637523" y="1869432"/>
            <a:ext cx="2971800" cy="1307592"/>
          </a:xfrm>
          <a:prstGeom prst="rect">
            <a:avLst/>
          </a:prstGeom>
          <a:noFill/>
          <a:ln/>
        </p:spPr>
        <p:txBody>
          <a:bodyPr wrap="square" lIns="254" tIns="254" rIns="254" bIns="254" rtlCol="0" anchor="ctr">
            <a:normAutofit/>
          </a:bodyPr>
          <a:lstStyle/>
          <a:p>
            <a:endParaRPr lang="en-US" sz="1050" dirty="0"/>
          </a:p>
        </p:txBody>
      </p:sp>
      <p:sp>
        <p:nvSpPr>
          <p:cNvPr id="21" name="Shape 7">
            <a:extLst>
              <a:ext uri="{FF2B5EF4-FFF2-40B4-BE49-F238E27FC236}">
                <a16:creationId xmlns:a16="http://schemas.microsoft.com/office/drawing/2014/main" id="{2019E45B-E5BE-E637-E9A5-ED01AF450656}"/>
              </a:ext>
            </a:extLst>
          </p:cNvPr>
          <p:cNvSpPr/>
          <p:nvPr/>
        </p:nvSpPr>
        <p:spPr>
          <a:xfrm>
            <a:off x="4249403" y="1412232"/>
            <a:ext cx="73152" cy="1874520"/>
          </a:xfrm>
          <a:prstGeom prst="rect">
            <a:avLst/>
          </a:prstGeom>
          <a:solidFill>
            <a:srgbClr val="059669"/>
          </a:solidFill>
          <a:ln w="12700">
            <a:solidFill>
              <a:srgbClr val="059669"/>
            </a:solidFill>
            <a:prstDash val="solid"/>
          </a:ln>
        </p:spPr>
        <p:txBody>
          <a:bodyPr/>
          <a:lstStyle/>
          <a:p>
            <a:endParaRPr lang="sv-SE"/>
          </a:p>
        </p:txBody>
      </p:sp>
      <p:sp>
        <p:nvSpPr>
          <p:cNvPr id="29" name="Shape 11">
            <a:extLst>
              <a:ext uri="{FF2B5EF4-FFF2-40B4-BE49-F238E27FC236}">
                <a16:creationId xmlns:a16="http://schemas.microsoft.com/office/drawing/2014/main" id="{27D05C07-704E-A673-B4AF-919F593D6CDA}"/>
              </a:ext>
            </a:extLst>
          </p:cNvPr>
          <p:cNvSpPr/>
          <p:nvPr/>
        </p:nvSpPr>
        <p:spPr>
          <a:xfrm>
            <a:off x="8044163" y="1412232"/>
            <a:ext cx="73152" cy="1874520"/>
          </a:xfrm>
          <a:prstGeom prst="rect">
            <a:avLst/>
          </a:prstGeom>
          <a:solidFill>
            <a:srgbClr val="EA580C"/>
          </a:solidFill>
          <a:ln w="12700">
            <a:solidFill>
              <a:srgbClr val="EA580C"/>
            </a:solidFill>
            <a:prstDash val="solid"/>
          </a:ln>
        </p:spPr>
        <p:txBody>
          <a:bodyPr/>
          <a:lstStyle/>
          <a:p>
            <a:endParaRPr lang="sv-SE"/>
          </a:p>
        </p:txBody>
      </p:sp>
      <mc:AlternateContent xmlns:mc="http://schemas.openxmlformats.org/markup-compatibility/2006">
        <mc:Choice xmlns:a14="http://schemas.microsoft.com/office/drawing/2010/main" Requires="a14">
          <p:sp>
            <p:nvSpPr>
              <p:cNvPr id="35" name="Shape 2">
                <a:extLst>
                  <a:ext uri="{FF2B5EF4-FFF2-40B4-BE49-F238E27FC236}">
                    <a16:creationId xmlns:a16="http://schemas.microsoft.com/office/drawing/2014/main" id="{A40F677E-B71C-7CE9-0C89-6B1AF9A2447F}"/>
                  </a:ext>
                </a:extLst>
              </p:cNvPr>
              <p:cNvSpPr/>
              <p:nvPr/>
            </p:nvSpPr>
            <p:spPr>
              <a:xfrm>
                <a:off x="4322555" y="1412232"/>
                <a:ext cx="3291840" cy="187452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SPB opportunity</a:t>
                </a:r>
                <a:endParaRPr lang="en-US" dirty="0"/>
              </a:p>
              <a:p>
                <a:r>
                  <a:rPr lang="en-US" sz="1600" dirty="0">
                    <a:solidFill>
                      <a:srgbClr val="475569"/>
                    </a:solidFill>
                  </a:rPr>
                  <a:t>Stacked cells let each </a:t>
                </a:r>
                <a:r>
                  <a:rPr lang="en-US" sz="1600" dirty="0" err="1">
                    <a:solidFill>
                      <a:srgbClr val="475569"/>
                    </a:solidFill>
                  </a:rPr>
                  <a:t>GaN</a:t>
                </a:r>
                <a:r>
                  <a:rPr lang="en-US" sz="1600" dirty="0">
                    <a:solidFill>
                      <a:srgbClr val="475569"/>
                    </a:solidFill>
                  </a:rPr>
                  <a:t> device block only a fraction of the DC-link voltage, opening low-voltage </a:t>
                </a:r>
                <a:r>
                  <a:rPr lang="en-US" sz="1600" dirty="0" err="1">
                    <a:solidFill>
                      <a:srgbClr val="475569"/>
                    </a:solidFill>
                  </a:rPr>
                  <a:t>GaN</a:t>
                </a:r>
                <a:r>
                  <a:rPr lang="en-US" sz="1600" dirty="0">
                    <a:solidFill>
                      <a:srgbClr val="475569"/>
                    </a:solidFill>
                  </a:rPr>
                  <a:t> devices with lower </a:t>
                </a:r>
                <a14:m>
                  <m:oMath xmlns:m="http://schemas.openxmlformats.org/officeDocument/2006/math">
                    <m:sSub>
                      <m:sSubPr>
                        <m:ctrlPr>
                          <a:rPr lang="en-US" sz="1600" i="1" dirty="0" smtClean="0">
                            <a:solidFill>
                              <a:srgbClr val="475569"/>
                            </a:solidFill>
                            <a:latin typeface="Cambria Math" panose="02040503050406030204" pitchFamily="18" charset="0"/>
                          </a:rPr>
                        </m:ctrlPr>
                      </m:sSubPr>
                      <m:e>
                        <m:r>
                          <a:rPr lang="en-US" sz="1600" i="1" dirty="0" smtClean="0">
                            <a:solidFill>
                              <a:srgbClr val="475569"/>
                            </a:solidFill>
                            <a:latin typeface="Cambria Math" panose="02040503050406030204" pitchFamily="18" charset="0"/>
                          </a:rPr>
                          <m:t>𝑅</m:t>
                        </m:r>
                      </m:e>
                      <m:sub>
                        <m:r>
                          <a:rPr lang="en-US" sz="1600" i="1" dirty="0" smtClean="0">
                            <a:solidFill>
                              <a:srgbClr val="475569"/>
                            </a:solidFill>
                            <a:latin typeface="Cambria Math" panose="02040503050406030204" pitchFamily="18" charset="0"/>
                          </a:rPr>
                          <m:t>𝐷𝑆</m:t>
                        </m:r>
                        <m:d>
                          <m:dPr>
                            <m:ctrlPr>
                              <a:rPr lang="en-US" sz="1600" i="1" dirty="0" smtClean="0">
                                <a:solidFill>
                                  <a:srgbClr val="475569"/>
                                </a:solidFill>
                                <a:latin typeface="Cambria Math" panose="02040503050406030204" pitchFamily="18" charset="0"/>
                              </a:rPr>
                            </m:ctrlPr>
                          </m:dPr>
                          <m:e>
                            <m:r>
                              <a:rPr lang="en-US" sz="1600" i="1" dirty="0" smtClean="0">
                                <a:solidFill>
                                  <a:srgbClr val="475569"/>
                                </a:solidFill>
                                <a:latin typeface="Cambria Math" panose="02040503050406030204" pitchFamily="18" charset="0"/>
                              </a:rPr>
                              <m:t>𝑜𝑛</m:t>
                            </m:r>
                          </m:e>
                        </m:d>
                      </m:sub>
                    </m:sSub>
                    <m:r>
                      <a:rPr lang="en-US" sz="1600" i="1" dirty="0" smtClean="0">
                        <a:solidFill>
                          <a:srgbClr val="475569"/>
                        </a:solidFill>
                        <a:latin typeface="Cambria Math" panose="02040503050406030204" pitchFamily="18" charset="0"/>
                      </a:rPr>
                      <m:t>.</m:t>
                    </m:r>
                  </m:oMath>
                </a14:m>
                <a:endParaRPr lang="en-US" sz="1600" dirty="0"/>
              </a:p>
              <a:p>
                <a:endParaRPr lang="sv-SE" dirty="0"/>
              </a:p>
            </p:txBody>
          </p:sp>
        </mc:Choice>
        <mc:Fallback>
          <p:sp>
            <p:nvSpPr>
              <p:cNvPr id="35" name="Shape 2">
                <a:extLst>
                  <a:ext uri="{FF2B5EF4-FFF2-40B4-BE49-F238E27FC236}">
                    <a16:creationId xmlns:a16="http://schemas.microsoft.com/office/drawing/2014/main" id="{A40F677E-B71C-7CE9-0C89-6B1AF9A2447F}"/>
                  </a:ext>
                </a:extLst>
              </p:cNvPr>
              <p:cNvSpPr>
                <a:spLocks noRot="1" noChangeAspect="1" noMove="1" noResize="1" noEditPoints="1" noAdjustHandles="1" noChangeArrowheads="1" noChangeShapeType="1" noTextEdit="1"/>
              </p:cNvSpPr>
              <p:nvPr/>
            </p:nvSpPr>
            <p:spPr>
              <a:xfrm>
                <a:off x="4322555" y="1412232"/>
                <a:ext cx="3291840" cy="1874520"/>
              </a:xfrm>
              <a:prstGeom prst="roundRect">
                <a:avLst>
                  <a:gd name="adj" fmla="val 3415"/>
                </a:avLst>
              </a:prstGeom>
              <a:blipFill>
                <a:blip r:embed="rId2"/>
                <a:stretch>
                  <a:fillRect l="-738" t="-647"/>
                </a:stretch>
              </a:blipFill>
              <a:ln w="10160">
                <a:solidFill>
                  <a:srgbClr val="CBD5E1"/>
                </a:solidFill>
                <a:prstDash val="solid"/>
              </a:ln>
            </p:spPr>
            <p:txBody>
              <a:bodyPr/>
              <a:lstStyle/>
              <a:p>
                <a:r>
                  <a:rPr lang="sv-SE">
                    <a:noFill/>
                  </a:rPr>
                  <a:t> </a:t>
                </a:r>
              </a:p>
            </p:txBody>
          </p:sp>
        </mc:Fallback>
      </mc:AlternateContent>
      <p:sp>
        <p:nvSpPr>
          <p:cNvPr id="37" name="Shape 2">
            <a:extLst>
              <a:ext uri="{FF2B5EF4-FFF2-40B4-BE49-F238E27FC236}">
                <a16:creationId xmlns:a16="http://schemas.microsoft.com/office/drawing/2014/main" id="{E3B4D6B1-996C-CB5C-CDC7-0BF0EAC35420}"/>
              </a:ext>
            </a:extLst>
          </p:cNvPr>
          <p:cNvSpPr/>
          <p:nvPr/>
        </p:nvSpPr>
        <p:spPr>
          <a:xfrm>
            <a:off x="8117315" y="1412232"/>
            <a:ext cx="3291840" cy="187452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SPB penalty</a:t>
            </a:r>
            <a:endParaRPr lang="en-US" dirty="0"/>
          </a:p>
          <a:p>
            <a:r>
              <a:rPr lang="en-US" sz="1600" dirty="0">
                <a:solidFill>
                  <a:srgbClr val="475569"/>
                </a:solidFill>
              </a:rPr>
              <a:t>Each added cell brings six more switch positions, gate drivers, sensing, balancing, layout effort, and reliability questions.</a:t>
            </a:r>
            <a:endParaRPr lang="en-US" sz="1600" dirty="0"/>
          </a:p>
          <a:p>
            <a:endParaRPr lang="sv-SE" dirty="0"/>
          </a:p>
        </p:txBody>
      </p:sp>
      <p:sp>
        <p:nvSpPr>
          <p:cNvPr id="39" name="Shape 15">
            <a:extLst>
              <a:ext uri="{FF2B5EF4-FFF2-40B4-BE49-F238E27FC236}">
                <a16:creationId xmlns:a16="http://schemas.microsoft.com/office/drawing/2014/main" id="{582F933B-BB75-2D0A-974E-88BCEC61577E}"/>
              </a:ext>
            </a:extLst>
          </p:cNvPr>
          <p:cNvSpPr/>
          <p:nvPr/>
        </p:nvSpPr>
        <p:spPr>
          <a:xfrm>
            <a:off x="600075" y="4278497"/>
            <a:ext cx="2011680" cy="466150"/>
          </a:xfrm>
          <a:prstGeom prst="roundRect">
            <a:avLst>
              <a:gd name="adj" fmla="val 18750"/>
            </a:avLst>
          </a:prstGeom>
          <a:solidFill>
            <a:srgbClr val="2563EB"/>
          </a:solidFill>
          <a:ln w="12700">
            <a:solidFill>
              <a:srgbClr val="2563EB"/>
            </a:solidFill>
            <a:prstDash val="solid"/>
          </a:ln>
        </p:spPr>
        <p:txBody>
          <a:bodyPr/>
          <a:lstStyle/>
          <a:p>
            <a:pPr algn="ctr"/>
            <a:r>
              <a:rPr lang="en-US" b="1" dirty="0">
                <a:solidFill>
                  <a:srgbClr val="FFFFFF"/>
                </a:solidFill>
              </a:rPr>
              <a:t>Voltage stress</a:t>
            </a:r>
            <a:endParaRPr lang="en-US" dirty="0"/>
          </a:p>
        </p:txBody>
      </p:sp>
      <p:sp>
        <p:nvSpPr>
          <p:cNvPr id="41" name="Text 16">
            <a:extLst>
              <a:ext uri="{FF2B5EF4-FFF2-40B4-BE49-F238E27FC236}">
                <a16:creationId xmlns:a16="http://schemas.microsoft.com/office/drawing/2014/main" id="{6F35233E-BFE5-AB15-21FE-32777C99110D}"/>
              </a:ext>
            </a:extLst>
          </p:cNvPr>
          <p:cNvSpPr/>
          <p:nvPr/>
        </p:nvSpPr>
        <p:spPr>
          <a:xfrm>
            <a:off x="673227" y="4347077"/>
            <a:ext cx="1865376" cy="155448"/>
          </a:xfrm>
          <a:prstGeom prst="rect">
            <a:avLst/>
          </a:prstGeom>
          <a:noFill/>
          <a:ln/>
        </p:spPr>
        <p:txBody>
          <a:bodyPr wrap="square" lIns="0" tIns="0" rIns="0" bIns="0" rtlCol="0" anchor="ctr"/>
          <a:lstStyle/>
          <a:p>
            <a:pPr marL="0" indent="0" algn="ctr">
              <a:buNone/>
            </a:pPr>
            <a:endParaRPr lang="en-US" sz="850" dirty="0"/>
          </a:p>
        </p:txBody>
      </p:sp>
      <p:sp>
        <p:nvSpPr>
          <p:cNvPr id="43" name="Shape 17">
            <a:extLst>
              <a:ext uri="{FF2B5EF4-FFF2-40B4-BE49-F238E27FC236}">
                <a16:creationId xmlns:a16="http://schemas.microsoft.com/office/drawing/2014/main" id="{4D0B5D6D-BA16-2E5C-A122-4925CF2CE5A1}"/>
              </a:ext>
            </a:extLst>
          </p:cNvPr>
          <p:cNvSpPr/>
          <p:nvPr/>
        </p:nvSpPr>
        <p:spPr>
          <a:xfrm>
            <a:off x="2611755" y="4502524"/>
            <a:ext cx="1005840" cy="0"/>
          </a:xfrm>
          <a:prstGeom prst="line">
            <a:avLst/>
          </a:prstGeom>
          <a:noFill/>
          <a:ln w="19050">
            <a:solidFill>
              <a:srgbClr val="475569"/>
            </a:solidFill>
            <a:prstDash val="solid"/>
            <a:headEnd type="none"/>
            <a:tailEnd type="triangle"/>
          </a:ln>
        </p:spPr>
        <p:txBody>
          <a:bodyPr/>
          <a:lstStyle/>
          <a:p>
            <a:endParaRPr lang="sv-SE"/>
          </a:p>
        </p:txBody>
      </p:sp>
      <p:sp>
        <p:nvSpPr>
          <p:cNvPr id="45" name="Shape 18">
            <a:extLst>
              <a:ext uri="{FF2B5EF4-FFF2-40B4-BE49-F238E27FC236}">
                <a16:creationId xmlns:a16="http://schemas.microsoft.com/office/drawing/2014/main" id="{0AE09C1F-AE7C-3F6B-4FA0-983CAC6B247A}"/>
              </a:ext>
            </a:extLst>
          </p:cNvPr>
          <p:cNvSpPr/>
          <p:nvPr/>
        </p:nvSpPr>
        <p:spPr>
          <a:xfrm>
            <a:off x="3617595" y="4260408"/>
            <a:ext cx="2011680" cy="466145"/>
          </a:xfrm>
          <a:prstGeom prst="roundRect">
            <a:avLst>
              <a:gd name="adj" fmla="val 18750"/>
            </a:avLst>
          </a:prstGeom>
          <a:solidFill>
            <a:srgbClr val="059669"/>
          </a:solidFill>
          <a:ln w="12700">
            <a:solidFill>
              <a:srgbClr val="059669"/>
            </a:solidFill>
            <a:prstDash val="solid"/>
          </a:ln>
        </p:spPr>
        <p:txBody>
          <a:bodyPr/>
          <a:lstStyle/>
          <a:p>
            <a:r>
              <a:rPr lang="en-US" b="1" dirty="0">
                <a:solidFill>
                  <a:srgbClr val="FFFFFF"/>
                </a:solidFill>
              </a:rPr>
              <a:t>Device FOM</a:t>
            </a:r>
            <a:endParaRPr lang="en-US" dirty="0"/>
          </a:p>
          <a:p>
            <a:endParaRPr lang="sv-SE" dirty="0"/>
          </a:p>
        </p:txBody>
      </p:sp>
      <p:sp>
        <p:nvSpPr>
          <p:cNvPr id="47" name="Text 19">
            <a:extLst>
              <a:ext uri="{FF2B5EF4-FFF2-40B4-BE49-F238E27FC236}">
                <a16:creationId xmlns:a16="http://schemas.microsoft.com/office/drawing/2014/main" id="{E582B9A8-4132-5501-3979-74E8A5D0CF99}"/>
              </a:ext>
            </a:extLst>
          </p:cNvPr>
          <p:cNvSpPr/>
          <p:nvPr/>
        </p:nvSpPr>
        <p:spPr>
          <a:xfrm>
            <a:off x="3919347" y="4347077"/>
            <a:ext cx="1865376" cy="155448"/>
          </a:xfrm>
          <a:prstGeom prst="rect">
            <a:avLst/>
          </a:prstGeom>
          <a:noFill/>
          <a:ln/>
        </p:spPr>
        <p:txBody>
          <a:bodyPr wrap="square" lIns="0" tIns="0" rIns="0" bIns="0" rtlCol="0" anchor="ctr"/>
          <a:lstStyle/>
          <a:p>
            <a:pPr marL="0" indent="0" algn="ctr">
              <a:buNone/>
            </a:pPr>
            <a:endParaRPr lang="en-US" sz="850" dirty="0"/>
          </a:p>
        </p:txBody>
      </p:sp>
      <p:sp>
        <p:nvSpPr>
          <p:cNvPr id="49" name="Shape 20">
            <a:extLst>
              <a:ext uri="{FF2B5EF4-FFF2-40B4-BE49-F238E27FC236}">
                <a16:creationId xmlns:a16="http://schemas.microsoft.com/office/drawing/2014/main" id="{787A0D1B-60E0-F14F-6DD7-90FDED9C6C84}"/>
              </a:ext>
            </a:extLst>
          </p:cNvPr>
          <p:cNvSpPr/>
          <p:nvPr/>
        </p:nvSpPr>
        <p:spPr>
          <a:xfrm flipV="1">
            <a:off x="5635600" y="4493480"/>
            <a:ext cx="972333" cy="0"/>
          </a:xfrm>
          <a:prstGeom prst="line">
            <a:avLst/>
          </a:prstGeom>
          <a:noFill/>
          <a:ln w="19050">
            <a:solidFill>
              <a:srgbClr val="475569"/>
            </a:solidFill>
            <a:prstDash val="solid"/>
            <a:headEnd type="none"/>
            <a:tailEnd type="triangle"/>
          </a:ln>
        </p:spPr>
        <p:txBody>
          <a:bodyPr/>
          <a:lstStyle/>
          <a:p>
            <a:endParaRPr lang="sv-SE"/>
          </a:p>
        </p:txBody>
      </p:sp>
      <p:sp>
        <p:nvSpPr>
          <p:cNvPr id="51" name="Shape 21">
            <a:extLst>
              <a:ext uri="{FF2B5EF4-FFF2-40B4-BE49-F238E27FC236}">
                <a16:creationId xmlns:a16="http://schemas.microsoft.com/office/drawing/2014/main" id="{F944FD15-6B24-8746-84E0-ECDA0ED9EB01}"/>
              </a:ext>
            </a:extLst>
          </p:cNvPr>
          <p:cNvSpPr/>
          <p:nvPr/>
        </p:nvSpPr>
        <p:spPr>
          <a:xfrm>
            <a:off x="6615849" y="4274284"/>
            <a:ext cx="2011680" cy="466143"/>
          </a:xfrm>
          <a:prstGeom prst="roundRect">
            <a:avLst>
              <a:gd name="adj" fmla="val 18750"/>
            </a:avLst>
          </a:prstGeom>
          <a:solidFill>
            <a:srgbClr val="EA580C"/>
          </a:solidFill>
          <a:ln w="12700">
            <a:solidFill>
              <a:srgbClr val="EA580C"/>
            </a:solidFill>
            <a:prstDash val="solid"/>
          </a:ln>
        </p:spPr>
        <p:txBody>
          <a:bodyPr/>
          <a:lstStyle/>
          <a:p>
            <a:r>
              <a:rPr lang="en-US" b="1" dirty="0">
                <a:solidFill>
                  <a:srgbClr val="FFFFFF"/>
                </a:solidFill>
              </a:rPr>
              <a:t>Loss &amp; thermal</a:t>
            </a:r>
            <a:endParaRPr lang="en-US" dirty="0"/>
          </a:p>
          <a:p>
            <a:endParaRPr lang="sv-SE" dirty="0"/>
          </a:p>
        </p:txBody>
      </p:sp>
      <p:sp>
        <p:nvSpPr>
          <p:cNvPr id="53" name="Text 22">
            <a:extLst>
              <a:ext uri="{FF2B5EF4-FFF2-40B4-BE49-F238E27FC236}">
                <a16:creationId xmlns:a16="http://schemas.microsoft.com/office/drawing/2014/main" id="{4219976E-845D-8865-1FF9-458A494C27EC}"/>
              </a:ext>
            </a:extLst>
          </p:cNvPr>
          <p:cNvSpPr/>
          <p:nvPr/>
        </p:nvSpPr>
        <p:spPr>
          <a:xfrm>
            <a:off x="7165467" y="4347077"/>
            <a:ext cx="1865376" cy="155448"/>
          </a:xfrm>
          <a:prstGeom prst="rect">
            <a:avLst/>
          </a:prstGeom>
          <a:noFill/>
          <a:ln/>
        </p:spPr>
        <p:txBody>
          <a:bodyPr wrap="square" lIns="0" tIns="0" rIns="0" bIns="0" rtlCol="0" anchor="ctr"/>
          <a:lstStyle/>
          <a:p>
            <a:pPr marL="0" indent="0" algn="ctr">
              <a:buNone/>
            </a:pPr>
            <a:endParaRPr lang="en-US" sz="850" dirty="0"/>
          </a:p>
        </p:txBody>
      </p:sp>
      <p:sp>
        <p:nvSpPr>
          <p:cNvPr id="55" name="Shape 23">
            <a:extLst>
              <a:ext uri="{FF2B5EF4-FFF2-40B4-BE49-F238E27FC236}">
                <a16:creationId xmlns:a16="http://schemas.microsoft.com/office/drawing/2014/main" id="{4E7F48A9-35A1-64DF-4BB4-5CE271232DF0}"/>
              </a:ext>
            </a:extLst>
          </p:cNvPr>
          <p:cNvSpPr/>
          <p:nvPr/>
        </p:nvSpPr>
        <p:spPr>
          <a:xfrm>
            <a:off x="8627529" y="4502524"/>
            <a:ext cx="1005840" cy="0"/>
          </a:xfrm>
          <a:prstGeom prst="line">
            <a:avLst/>
          </a:prstGeom>
          <a:noFill/>
          <a:ln w="19050">
            <a:solidFill>
              <a:srgbClr val="475569"/>
            </a:solidFill>
            <a:prstDash val="solid"/>
            <a:headEnd type="none"/>
            <a:tailEnd type="triangle"/>
          </a:ln>
        </p:spPr>
        <p:txBody>
          <a:bodyPr/>
          <a:lstStyle/>
          <a:p>
            <a:endParaRPr lang="sv-SE"/>
          </a:p>
        </p:txBody>
      </p:sp>
      <p:sp>
        <p:nvSpPr>
          <p:cNvPr id="57" name="Shape 24">
            <a:extLst>
              <a:ext uri="{FF2B5EF4-FFF2-40B4-BE49-F238E27FC236}">
                <a16:creationId xmlns:a16="http://schemas.microsoft.com/office/drawing/2014/main" id="{AD22F15D-314C-FF29-86A4-8F50A8F138B7}"/>
              </a:ext>
            </a:extLst>
          </p:cNvPr>
          <p:cNvSpPr/>
          <p:nvPr/>
        </p:nvSpPr>
        <p:spPr>
          <a:xfrm>
            <a:off x="9633367" y="4278503"/>
            <a:ext cx="1600200" cy="466137"/>
          </a:xfrm>
          <a:prstGeom prst="roundRect">
            <a:avLst>
              <a:gd name="adj" fmla="val 18750"/>
            </a:avLst>
          </a:prstGeom>
          <a:solidFill>
            <a:srgbClr val="7C3AED"/>
          </a:solidFill>
          <a:ln w="12700">
            <a:solidFill>
              <a:srgbClr val="7C3AED"/>
            </a:solidFill>
            <a:prstDash val="solid"/>
          </a:ln>
        </p:spPr>
        <p:txBody>
          <a:bodyPr/>
          <a:lstStyle/>
          <a:p>
            <a:r>
              <a:rPr lang="en-US" b="1" dirty="0">
                <a:solidFill>
                  <a:srgbClr val="FFFFFF"/>
                </a:solidFill>
              </a:rPr>
              <a:t>Complexity</a:t>
            </a:r>
            <a:endParaRPr lang="en-US" dirty="0"/>
          </a:p>
          <a:p>
            <a:endParaRPr lang="sv-SE" dirty="0"/>
          </a:p>
        </p:txBody>
      </p:sp>
      <p:sp>
        <p:nvSpPr>
          <p:cNvPr id="59" name="Text 25">
            <a:extLst>
              <a:ext uri="{FF2B5EF4-FFF2-40B4-BE49-F238E27FC236}">
                <a16:creationId xmlns:a16="http://schemas.microsoft.com/office/drawing/2014/main" id="{A3227FCD-ACD9-314C-3810-22D7404421C5}"/>
              </a:ext>
            </a:extLst>
          </p:cNvPr>
          <p:cNvSpPr/>
          <p:nvPr/>
        </p:nvSpPr>
        <p:spPr>
          <a:xfrm>
            <a:off x="10000107" y="4347077"/>
            <a:ext cx="1453896" cy="155448"/>
          </a:xfrm>
          <a:prstGeom prst="rect">
            <a:avLst/>
          </a:prstGeom>
          <a:noFill/>
          <a:ln/>
        </p:spPr>
        <p:txBody>
          <a:bodyPr wrap="square" lIns="0" tIns="0" rIns="0" bIns="0" rtlCol="0" anchor="ctr"/>
          <a:lstStyle/>
          <a:p>
            <a:pPr marL="0" indent="0" algn="ctr">
              <a:buNone/>
            </a:pPr>
            <a:endParaRPr lang="en-US" sz="850" dirty="0"/>
          </a:p>
        </p:txBody>
      </p:sp>
      <p:sp>
        <p:nvSpPr>
          <p:cNvPr id="61" name="TextBox 60">
            <a:extLst>
              <a:ext uri="{FF2B5EF4-FFF2-40B4-BE49-F238E27FC236}">
                <a16:creationId xmlns:a16="http://schemas.microsoft.com/office/drawing/2014/main" id="{952F25A9-311B-A178-4B3C-6D14F2BE4F08}"/>
              </a:ext>
            </a:extLst>
          </p:cNvPr>
          <p:cNvSpPr txBox="1"/>
          <p:nvPr/>
        </p:nvSpPr>
        <p:spPr>
          <a:xfrm>
            <a:off x="454643" y="5335923"/>
            <a:ext cx="10954512" cy="584775"/>
          </a:xfrm>
          <a:prstGeom prst="rect">
            <a:avLst/>
          </a:prstGeom>
          <a:noFill/>
        </p:spPr>
        <p:txBody>
          <a:bodyPr wrap="square">
            <a:spAutoFit/>
          </a:bodyPr>
          <a:lstStyle/>
          <a:p>
            <a:pPr marL="0" indent="0" algn="ctr">
              <a:buNone/>
            </a:pPr>
            <a:r>
              <a:rPr lang="en-US" sz="1600" b="1" dirty="0">
                <a:solidFill>
                  <a:srgbClr val="0F172A"/>
                </a:solidFill>
              </a:rPr>
              <a:t>The optimum is not simply the lowest-voltage device: it is the best balance of device FOM, conduction loss, switching loss, and implementation complexity.</a:t>
            </a:r>
            <a:endParaRPr lang="en-US" sz="1600" dirty="0"/>
          </a:p>
        </p:txBody>
      </p:sp>
    </p:spTree>
    <p:extLst>
      <p:ext uri="{BB962C8B-B14F-4D97-AF65-F5344CB8AC3E}">
        <p14:creationId xmlns:p14="http://schemas.microsoft.com/office/powerpoint/2010/main" val="3045136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521C8-749C-49F0-F614-CB46106AC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DB7B0-40D0-4DD3-1C0D-67B0CF67A08E}"/>
              </a:ext>
            </a:extLst>
          </p:cNvPr>
          <p:cNvSpPr>
            <a:spLocks noGrp="1"/>
          </p:cNvSpPr>
          <p:nvPr>
            <p:ph type="title"/>
          </p:nvPr>
        </p:nvSpPr>
        <p:spPr>
          <a:xfrm>
            <a:off x="1028500" y="368890"/>
            <a:ext cx="10990263" cy="568412"/>
          </a:xfrm>
        </p:spPr>
        <p:txBody>
          <a:bodyPr/>
          <a:lstStyle/>
          <a:p>
            <a:r>
              <a:rPr lang="en-US" dirty="0"/>
              <a:t>Screening workflow implemented in MATLAB</a:t>
            </a:r>
          </a:p>
        </p:txBody>
      </p:sp>
      <p:sp>
        <p:nvSpPr>
          <p:cNvPr id="4" name="Shape 2">
            <a:extLst>
              <a:ext uri="{FF2B5EF4-FFF2-40B4-BE49-F238E27FC236}">
                <a16:creationId xmlns:a16="http://schemas.microsoft.com/office/drawing/2014/main" id="{85EB0352-75E1-0FA8-1B95-C469EF98559F}"/>
              </a:ext>
            </a:extLst>
          </p:cNvPr>
          <p:cNvSpPr/>
          <p:nvPr/>
        </p:nvSpPr>
        <p:spPr>
          <a:xfrm>
            <a:off x="527795" y="1412232"/>
            <a:ext cx="2209011" cy="146304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1. Inputs</a:t>
            </a:r>
            <a:endParaRPr lang="en-US" dirty="0"/>
          </a:p>
          <a:p>
            <a:r>
              <a:rPr lang="en-US" sz="1600" dirty="0">
                <a:solidFill>
                  <a:srgbClr val="475569"/>
                </a:solidFill>
              </a:rPr>
              <a:t>VDC, Pout, pf, modulation, </a:t>
            </a:r>
            <a:r>
              <a:rPr lang="en-US" sz="1600" dirty="0" err="1">
                <a:solidFill>
                  <a:srgbClr val="475569"/>
                </a:solidFill>
              </a:rPr>
              <a:t>fsw</a:t>
            </a:r>
            <a:r>
              <a:rPr lang="en-US" sz="1600" dirty="0">
                <a:solidFill>
                  <a:srgbClr val="475569"/>
                </a:solidFill>
              </a:rPr>
              <a:t>, dv/dt, di/dt, safety factor</a:t>
            </a:r>
            <a:endParaRPr lang="en-US" sz="1600" dirty="0"/>
          </a:p>
          <a:p>
            <a:endParaRPr lang="sv-SE" dirty="0"/>
          </a:p>
        </p:txBody>
      </p:sp>
      <p:sp>
        <p:nvSpPr>
          <p:cNvPr id="8" name="Shape 3">
            <a:extLst>
              <a:ext uri="{FF2B5EF4-FFF2-40B4-BE49-F238E27FC236}">
                <a16:creationId xmlns:a16="http://schemas.microsoft.com/office/drawing/2014/main" id="{15C83916-B66D-D3C7-89D8-D186F9613C3E}"/>
              </a:ext>
            </a:extLst>
          </p:cNvPr>
          <p:cNvSpPr/>
          <p:nvPr/>
        </p:nvSpPr>
        <p:spPr>
          <a:xfrm>
            <a:off x="454643" y="1412232"/>
            <a:ext cx="73152" cy="1463040"/>
          </a:xfrm>
          <a:prstGeom prst="rect">
            <a:avLst/>
          </a:prstGeom>
          <a:solidFill>
            <a:srgbClr val="2563EB"/>
          </a:solidFill>
          <a:ln w="12700">
            <a:solidFill>
              <a:srgbClr val="2563EB"/>
            </a:solidFill>
            <a:prstDash val="solid"/>
          </a:ln>
        </p:spPr>
        <p:txBody>
          <a:bodyPr/>
          <a:lstStyle/>
          <a:p>
            <a:endParaRPr lang="sv-SE"/>
          </a:p>
        </p:txBody>
      </p:sp>
      <p:sp>
        <p:nvSpPr>
          <p:cNvPr id="12" name="Text 4">
            <a:extLst>
              <a:ext uri="{FF2B5EF4-FFF2-40B4-BE49-F238E27FC236}">
                <a16:creationId xmlns:a16="http://schemas.microsoft.com/office/drawing/2014/main" id="{7A1E0DEE-228B-EB23-55C1-944C384EA922}"/>
              </a:ext>
            </a:extLst>
          </p:cNvPr>
          <p:cNvSpPr/>
          <p:nvPr/>
        </p:nvSpPr>
        <p:spPr>
          <a:xfrm>
            <a:off x="637523" y="1558536"/>
            <a:ext cx="2971800" cy="228600"/>
          </a:xfrm>
          <a:prstGeom prst="rect">
            <a:avLst/>
          </a:prstGeom>
          <a:noFill/>
          <a:ln/>
        </p:spPr>
        <p:txBody>
          <a:bodyPr wrap="square" lIns="0" tIns="0" rIns="0" bIns="0" rtlCol="0" anchor="ctr"/>
          <a:lstStyle/>
          <a:p>
            <a:pPr marL="0" indent="0">
              <a:buNone/>
            </a:pPr>
            <a:endParaRPr lang="en-US" sz="1400" dirty="0"/>
          </a:p>
        </p:txBody>
      </p:sp>
      <p:sp>
        <p:nvSpPr>
          <p:cNvPr id="16" name="Text 5">
            <a:extLst>
              <a:ext uri="{FF2B5EF4-FFF2-40B4-BE49-F238E27FC236}">
                <a16:creationId xmlns:a16="http://schemas.microsoft.com/office/drawing/2014/main" id="{E714DC7B-CD5E-2E53-5262-8C81D593483E}"/>
              </a:ext>
            </a:extLst>
          </p:cNvPr>
          <p:cNvSpPr/>
          <p:nvPr/>
        </p:nvSpPr>
        <p:spPr>
          <a:xfrm>
            <a:off x="637523" y="1869432"/>
            <a:ext cx="2971800" cy="1307592"/>
          </a:xfrm>
          <a:prstGeom prst="rect">
            <a:avLst/>
          </a:prstGeom>
          <a:noFill/>
          <a:ln/>
        </p:spPr>
        <p:txBody>
          <a:bodyPr wrap="square" lIns="254" tIns="254" rIns="254" bIns="254" rtlCol="0" anchor="ctr">
            <a:normAutofit/>
          </a:bodyPr>
          <a:lstStyle/>
          <a:p>
            <a:endParaRPr lang="en-US" sz="1050" dirty="0"/>
          </a:p>
        </p:txBody>
      </p:sp>
      <p:sp>
        <p:nvSpPr>
          <p:cNvPr id="21" name="Shape 7">
            <a:extLst>
              <a:ext uri="{FF2B5EF4-FFF2-40B4-BE49-F238E27FC236}">
                <a16:creationId xmlns:a16="http://schemas.microsoft.com/office/drawing/2014/main" id="{62134C96-AB48-8364-1732-4EC59C4507F3}"/>
              </a:ext>
            </a:extLst>
          </p:cNvPr>
          <p:cNvSpPr/>
          <p:nvPr/>
        </p:nvSpPr>
        <p:spPr>
          <a:xfrm>
            <a:off x="3169995" y="1412232"/>
            <a:ext cx="73152" cy="1463040"/>
          </a:xfrm>
          <a:prstGeom prst="rect">
            <a:avLst/>
          </a:prstGeom>
          <a:solidFill>
            <a:srgbClr val="059669"/>
          </a:solidFill>
          <a:ln w="12700">
            <a:solidFill>
              <a:srgbClr val="059669"/>
            </a:solidFill>
            <a:prstDash val="solid"/>
          </a:ln>
        </p:spPr>
        <p:txBody>
          <a:bodyPr/>
          <a:lstStyle/>
          <a:p>
            <a:endParaRPr lang="sv-SE"/>
          </a:p>
        </p:txBody>
      </p:sp>
      <p:sp>
        <p:nvSpPr>
          <p:cNvPr id="29" name="Shape 11">
            <a:extLst>
              <a:ext uri="{FF2B5EF4-FFF2-40B4-BE49-F238E27FC236}">
                <a16:creationId xmlns:a16="http://schemas.microsoft.com/office/drawing/2014/main" id="{72EF580C-C3AA-1EFB-EDE4-D9124469228B}"/>
              </a:ext>
            </a:extLst>
          </p:cNvPr>
          <p:cNvSpPr/>
          <p:nvPr/>
        </p:nvSpPr>
        <p:spPr>
          <a:xfrm>
            <a:off x="5975317" y="1441706"/>
            <a:ext cx="73152" cy="1463040"/>
          </a:xfrm>
          <a:prstGeom prst="rect">
            <a:avLst/>
          </a:prstGeom>
          <a:solidFill>
            <a:srgbClr val="EA580C"/>
          </a:solidFill>
          <a:ln w="12700">
            <a:solidFill>
              <a:srgbClr val="EA580C"/>
            </a:solidFill>
            <a:prstDash val="solid"/>
          </a:ln>
        </p:spPr>
        <p:txBody>
          <a:bodyPr/>
          <a:lstStyle/>
          <a:p>
            <a:endParaRPr lang="sv-SE"/>
          </a:p>
        </p:txBody>
      </p:sp>
      <mc:AlternateContent xmlns:mc="http://schemas.openxmlformats.org/markup-compatibility/2006">
        <mc:Choice xmlns:a14="http://schemas.microsoft.com/office/drawing/2010/main" Requires="a14">
          <p:sp>
            <p:nvSpPr>
              <p:cNvPr id="39" name="Shape 15">
                <a:extLst>
                  <a:ext uri="{FF2B5EF4-FFF2-40B4-BE49-F238E27FC236}">
                    <a16:creationId xmlns:a16="http://schemas.microsoft.com/office/drawing/2014/main" id="{083B52C4-5F2B-768F-B451-8EDBB17633B4}"/>
                  </a:ext>
                </a:extLst>
              </p:cNvPr>
              <p:cNvSpPr/>
              <p:nvPr/>
            </p:nvSpPr>
            <p:spPr>
              <a:xfrm>
                <a:off x="117906" y="4015851"/>
                <a:ext cx="3722544" cy="662452"/>
              </a:xfrm>
              <a:prstGeom prst="roundRect">
                <a:avLst>
                  <a:gd name="adj" fmla="val 18750"/>
                </a:avLst>
              </a:prstGeom>
              <a:solidFill>
                <a:srgbClr val="DEF0FF"/>
              </a:solidFill>
              <a:ln w="12700">
                <a:solidFill>
                  <a:srgbClr val="DEF0FF"/>
                </a:solidFill>
                <a:prstDash val="solid"/>
              </a:ln>
            </p:spPr>
            <p:txBody>
              <a:bodyPr/>
              <a:lstStyle/>
              <a:p>
                <a:pPr algn="ctr"/>
                <a14:m>
                  <m:oMathPara xmlns:m="http://schemas.openxmlformats.org/officeDocument/2006/math">
                    <m:oMath>
                      <m:r>
                        <a:rPr lang="en-US" sz="1600" b="0" i="1" dirty="0" smtClean="0">
                          <a:solidFill>
                            <a:schemeClr val="tx1"/>
                          </a:solidFill>
                          <a:latin typeface="Cambria Math" panose="02040503050406030204" pitchFamily="18" charset="0"/>
                        </a:rPr>
                        <m:t>𝐷</m:t>
                      </m:r>
                      <m:r>
                        <a:rPr lang="en-US" sz="1600" b="0" i="1" dirty="0" smtClean="0">
                          <a:solidFill>
                            <a:schemeClr val="tx1"/>
                          </a:solidFill>
                          <a:latin typeface="Cambria Math" panose="02040503050406030204" pitchFamily="18" charset="0"/>
                        </a:rPr>
                        <m:t>−</m:t>
                      </m:r>
                      <m:r>
                        <a:rPr lang="en-US" sz="1600" b="0" i="1" dirty="0" smtClean="0">
                          <a:solidFill>
                            <a:schemeClr val="tx1"/>
                          </a:solidFill>
                          <a:latin typeface="Cambria Math" panose="02040503050406030204" pitchFamily="18" charset="0"/>
                        </a:rPr>
                        <m:t>𝐹𝑂𝑀</m:t>
                      </m:r>
                      <m:r>
                        <a:rPr lang="en-US" sz="1600" b="0" i="1" dirty="0" smtClean="0">
                          <a:solidFill>
                            <a:schemeClr val="tx1"/>
                          </a:solidFill>
                          <a:latin typeface="Cambria Math" panose="02040503050406030204" pitchFamily="18" charset="0"/>
                        </a:rPr>
                        <m:t> = </m:t>
                      </m:r>
                      <m:f>
                        <m:fPr>
                          <m:ctrlPr>
                            <a:rPr lang="en-US" sz="1600" b="0" i="1" dirty="0" smtClean="0">
                              <a:solidFill>
                                <a:schemeClr val="tx1"/>
                              </a:solidFill>
                              <a:latin typeface="Cambria Math" panose="02040503050406030204" pitchFamily="18" charset="0"/>
                            </a:rPr>
                          </m:ctrlPr>
                        </m:fPr>
                        <m:num>
                          <m:r>
                            <a:rPr lang="en-US" sz="1600" b="0" i="1" dirty="0" smtClean="0">
                              <a:solidFill>
                                <a:schemeClr val="tx1"/>
                              </a:solidFill>
                              <a:latin typeface="Cambria Math" panose="02040503050406030204" pitchFamily="18" charset="0"/>
                            </a:rPr>
                            <m:t>1</m:t>
                          </m:r>
                        </m:num>
                        <m:den>
                          <m:rad>
                            <m:radPr>
                              <m:degHide m:val="on"/>
                              <m:ctrlPr>
                                <a:rPr lang="en-US" sz="1600" i="1" dirty="0">
                                  <a:solidFill>
                                    <a:schemeClr val="tx1"/>
                                  </a:solidFill>
                                  <a:latin typeface="Cambria Math" panose="02040503050406030204" pitchFamily="18" charset="0"/>
                                </a:rPr>
                              </m:ctrlPr>
                            </m:radPr>
                            <m:deg/>
                            <m:e>
                              <m:r>
                                <a:rPr lang="en-US" sz="1600" b="0" i="1" dirty="0">
                                  <a:solidFill>
                                    <a:schemeClr val="tx1"/>
                                  </a:solidFill>
                                  <a:latin typeface="Cambria Math" panose="02040503050406030204" pitchFamily="18" charset="0"/>
                                </a:rPr>
                                <m:t>𝑅𝐷𝑆</m:t>
                              </m:r>
                              <m:r>
                                <a:rPr lang="en-US" sz="1600" b="0" i="1" dirty="0">
                                  <a:solidFill>
                                    <a:schemeClr val="tx1"/>
                                  </a:solidFill>
                                  <a:latin typeface="Cambria Math" panose="02040503050406030204" pitchFamily="18" charset="0"/>
                                </a:rPr>
                                <m:t>(</m:t>
                              </m:r>
                              <m:r>
                                <a:rPr lang="en-US" sz="1600" b="0" i="1" dirty="0">
                                  <a:solidFill>
                                    <a:schemeClr val="tx1"/>
                                  </a:solidFill>
                                  <a:latin typeface="Cambria Math" panose="02040503050406030204" pitchFamily="18" charset="0"/>
                                </a:rPr>
                                <m:t>𝑜𝑛</m:t>
                              </m:r>
                              <m:r>
                                <a:rPr lang="en-US" sz="1600" b="0" i="1" dirty="0">
                                  <a:solidFill>
                                    <a:schemeClr val="tx1"/>
                                  </a:solidFill>
                                  <a:latin typeface="Cambria Math" panose="02040503050406030204" pitchFamily="18" charset="0"/>
                                </a:rPr>
                                <m:t>) · </m:t>
                              </m:r>
                              <m:r>
                                <a:rPr lang="en-US" sz="1600" b="0" i="1" dirty="0">
                                  <a:solidFill>
                                    <a:schemeClr val="tx1"/>
                                  </a:solidFill>
                                  <a:latin typeface="Cambria Math" panose="02040503050406030204" pitchFamily="18" charset="0"/>
                                </a:rPr>
                                <m:t>𝐶𝑜𝑠𝑠</m:t>
                              </m:r>
                            </m:e>
                          </m:rad>
                        </m:den>
                      </m:f>
                    </m:oMath>
                  </m:oMathPara>
                </a14:m>
              </a:p>
            </p:txBody>
          </p:sp>
        </mc:Choice>
        <mc:Fallback>
          <p:sp>
            <p:nvSpPr>
              <p:cNvPr id="39" name="Shape 15">
                <a:extLst>
                  <a:ext uri="{FF2B5EF4-FFF2-40B4-BE49-F238E27FC236}">
                    <a16:creationId xmlns:a16="http://schemas.microsoft.com/office/drawing/2014/main" id="{083B52C4-5F2B-768F-B451-8EDBB17633B4}"/>
                  </a:ext>
                </a:extLst>
              </p:cNvPr>
              <p:cNvSpPr>
                <a:spLocks noRot="1" noChangeAspect="1" noMove="1" noResize="1" noEditPoints="1" noAdjustHandles="1" noChangeArrowheads="1" noChangeShapeType="1" noTextEdit="1"/>
              </p:cNvSpPr>
              <p:nvPr/>
            </p:nvSpPr>
            <p:spPr>
              <a:xfrm>
                <a:off x="117906" y="4015851"/>
                <a:ext cx="3722544" cy="662452"/>
              </a:xfrm>
              <a:prstGeom prst="roundRect">
                <a:avLst>
                  <a:gd name="adj" fmla="val 18750"/>
                </a:avLst>
              </a:prstGeom>
              <a:blipFill>
                <a:blip r:embed="rId2"/>
                <a:stretch>
                  <a:fillRect/>
                </a:stretch>
              </a:blipFill>
              <a:ln w="12700">
                <a:solidFill>
                  <a:srgbClr val="DEF0FF"/>
                </a:solidFill>
                <a:prstDash val="solid"/>
              </a:ln>
            </p:spPr>
            <p:txBody>
              <a:bodyPr/>
              <a:lstStyle/>
              <a:p>
                <a:r>
                  <a:rPr lang="sv-SE">
                    <a:noFill/>
                  </a:rPr>
                  <a:t> </a:t>
                </a:r>
              </a:p>
            </p:txBody>
          </p:sp>
        </mc:Fallback>
      </mc:AlternateContent>
      <p:sp>
        <p:nvSpPr>
          <p:cNvPr id="41" name="Text 16">
            <a:extLst>
              <a:ext uri="{FF2B5EF4-FFF2-40B4-BE49-F238E27FC236}">
                <a16:creationId xmlns:a16="http://schemas.microsoft.com/office/drawing/2014/main" id="{6E7B1F38-C0A6-B4F1-54AA-4A75FADBAD87}"/>
              </a:ext>
            </a:extLst>
          </p:cNvPr>
          <p:cNvSpPr/>
          <p:nvPr/>
        </p:nvSpPr>
        <p:spPr>
          <a:xfrm>
            <a:off x="430511" y="4065976"/>
            <a:ext cx="1865376" cy="155448"/>
          </a:xfrm>
          <a:prstGeom prst="rect">
            <a:avLst/>
          </a:prstGeom>
          <a:noFill/>
          <a:ln/>
        </p:spPr>
        <p:txBody>
          <a:bodyPr wrap="square" lIns="0" tIns="0" rIns="0" bIns="0" rtlCol="0" anchor="ctr"/>
          <a:lstStyle/>
          <a:p>
            <a:pPr marL="0" indent="0" algn="ctr">
              <a:buNone/>
            </a:pPr>
            <a:endParaRPr lang="en-US" sz="850" dirty="0"/>
          </a:p>
        </p:txBody>
      </p:sp>
      <p:sp>
        <p:nvSpPr>
          <p:cNvPr id="47" name="Text 19">
            <a:extLst>
              <a:ext uri="{FF2B5EF4-FFF2-40B4-BE49-F238E27FC236}">
                <a16:creationId xmlns:a16="http://schemas.microsoft.com/office/drawing/2014/main" id="{AB75774F-0E47-2E6E-D053-C06C75F9FB98}"/>
              </a:ext>
            </a:extLst>
          </p:cNvPr>
          <p:cNvSpPr/>
          <p:nvPr/>
        </p:nvSpPr>
        <p:spPr>
          <a:xfrm>
            <a:off x="3919347" y="4347077"/>
            <a:ext cx="1865376" cy="155448"/>
          </a:xfrm>
          <a:prstGeom prst="rect">
            <a:avLst/>
          </a:prstGeom>
          <a:noFill/>
          <a:ln/>
        </p:spPr>
        <p:txBody>
          <a:bodyPr wrap="square" lIns="0" tIns="0" rIns="0" bIns="0" rtlCol="0" anchor="ctr"/>
          <a:lstStyle/>
          <a:p>
            <a:pPr marL="0" indent="0" algn="ctr">
              <a:buNone/>
            </a:pPr>
            <a:endParaRPr lang="en-US" sz="850" dirty="0"/>
          </a:p>
        </p:txBody>
      </p:sp>
      <p:sp>
        <p:nvSpPr>
          <p:cNvPr id="10" name="Shape 18">
            <a:extLst>
              <a:ext uri="{FF2B5EF4-FFF2-40B4-BE49-F238E27FC236}">
                <a16:creationId xmlns:a16="http://schemas.microsoft.com/office/drawing/2014/main" id="{A904D47B-1121-49E9-018A-1E9046862A04}"/>
              </a:ext>
            </a:extLst>
          </p:cNvPr>
          <p:cNvSpPr/>
          <p:nvPr/>
        </p:nvSpPr>
        <p:spPr>
          <a:xfrm>
            <a:off x="8922384" y="1412232"/>
            <a:ext cx="73152" cy="1463040"/>
          </a:xfrm>
          <a:prstGeom prst="rect">
            <a:avLst/>
          </a:prstGeom>
          <a:solidFill>
            <a:srgbClr val="7C3AED"/>
          </a:solidFill>
          <a:ln w="12700">
            <a:solidFill>
              <a:srgbClr val="7C3AED"/>
            </a:solidFill>
            <a:prstDash val="solid"/>
          </a:ln>
        </p:spPr>
        <p:txBody>
          <a:bodyPr/>
          <a:lstStyle/>
          <a:p>
            <a:endParaRPr lang="sv-SE"/>
          </a:p>
        </p:txBody>
      </p:sp>
      <p:sp>
        <p:nvSpPr>
          <p:cNvPr id="15" name="Shape 2">
            <a:extLst>
              <a:ext uri="{FF2B5EF4-FFF2-40B4-BE49-F238E27FC236}">
                <a16:creationId xmlns:a16="http://schemas.microsoft.com/office/drawing/2014/main" id="{E274783A-6E81-2AE4-50BF-469F5BCC7C6B}"/>
              </a:ext>
            </a:extLst>
          </p:cNvPr>
          <p:cNvSpPr/>
          <p:nvPr/>
        </p:nvSpPr>
        <p:spPr>
          <a:xfrm>
            <a:off x="3251556" y="1439674"/>
            <a:ext cx="2209011" cy="146304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2. Database</a:t>
            </a:r>
            <a:endParaRPr lang="en-US" dirty="0"/>
          </a:p>
          <a:p>
            <a:r>
              <a:rPr lang="en-US" sz="1600" dirty="0">
                <a:solidFill>
                  <a:srgbClr val="475569"/>
                </a:solidFill>
              </a:rPr>
              <a:t>RDS(on), Coss, voltage rating, current rating, vendor/device</a:t>
            </a:r>
            <a:endParaRPr lang="en-US" sz="1600" dirty="0"/>
          </a:p>
          <a:p>
            <a:endParaRPr lang="en-US" sz="1600" dirty="0"/>
          </a:p>
          <a:p>
            <a:endParaRPr lang="sv-SE" dirty="0"/>
          </a:p>
        </p:txBody>
      </p:sp>
      <mc:AlternateContent xmlns:mc="http://schemas.openxmlformats.org/markup-compatibility/2006">
        <mc:Choice xmlns:a14="http://schemas.microsoft.com/office/drawing/2010/main" Requires="a14">
          <p:sp>
            <p:nvSpPr>
              <p:cNvPr id="20" name="Shape 2">
                <a:extLst>
                  <a:ext uri="{FF2B5EF4-FFF2-40B4-BE49-F238E27FC236}">
                    <a16:creationId xmlns:a16="http://schemas.microsoft.com/office/drawing/2014/main" id="{437B0CE8-29D0-19C1-9204-9FCF9A0A98DB}"/>
                  </a:ext>
                </a:extLst>
              </p:cNvPr>
              <p:cNvSpPr/>
              <p:nvPr/>
            </p:nvSpPr>
            <p:spPr>
              <a:xfrm>
                <a:off x="6063341" y="1439674"/>
                <a:ext cx="2209011" cy="146304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3. Discrete levels</a:t>
                </a:r>
              </a:p>
              <a:p>
                <a:endParaRPr lang="en-US" dirty="0"/>
              </a:p>
              <a:p>
                <a14:m>
                  <m:oMathPara xmlns:m="http://schemas.openxmlformats.org/officeDocument/2006/math">
                    <m:oMath>
                      <m:r>
                        <a:rPr lang="en-US" sz="1200" i="1" dirty="0" smtClean="0">
                          <a:solidFill>
                            <a:srgbClr val="475569"/>
                          </a:solidFill>
                          <a:latin typeface="Cambria Math" panose="02040503050406030204" pitchFamily="18" charset="0"/>
                        </a:rPr>
                        <m:t>𝐶𝑒𝑙</m:t>
                      </m:r>
                      <m:r>
                        <a:rPr lang="en-US" sz="1200" b="0" i="1" dirty="0" smtClean="0">
                          <a:solidFill>
                            <a:srgbClr val="475569"/>
                          </a:solidFill>
                          <a:latin typeface="Cambria Math" panose="02040503050406030204" pitchFamily="18" charset="0"/>
                        </a:rPr>
                        <m:t>𝑙</m:t>
                      </m:r>
                      <m:r>
                        <a:rPr lang="en-US" sz="1200" b="0" i="1" dirty="0" smtClean="0">
                          <a:solidFill>
                            <a:srgbClr val="475569"/>
                          </a:solidFill>
                          <a:latin typeface="Cambria Math" panose="02040503050406030204" pitchFamily="18" charset="0"/>
                        </a:rPr>
                        <m:t>=</m:t>
                      </m:r>
                      <m:r>
                        <a:rPr lang="en-US" sz="1200" i="1" dirty="0" smtClean="0">
                          <a:solidFill>
                            <a:srgbClr val="475569"/>
                          </a:solidFill>
                          <a:latin typeface="Cambria Math" panose="02040503050406030204" pitchFamily="18" charset="0"/>
                        </a:rPr>
                        <m:t>𝑐𝑒𝑖𝑙</m:t>
                      </m:r>
                      <m:d>
                        <m:dPr>
                          <m:ctrlPr>
                            <a:rPr lang="en-US" sz="1200" i="1" dirty="0" err="1">
                              <a:solidFill>
                                <a:srgbClr val="475569"/>
                              </a:solidFill>
                              <a:latin typeface="Cambria Math" panose="02040503050406030204" pitchFamily="18" charset="0"/>
                            </a:rPr>
                          </m:ctrlPr>
                        </m:dPr>
                        <m:e>
                          <m:r>
                            <a:rPr lang="en-US" sz="1200" i="1" dirty="0" err="1">
                              <a:solidFill>
                                <a:srgbClr val="475569"/>
                              </a:solidFill>
                              <a:latin typeface="Cambria Math" panose="02040503050406030204" pitchFamily="18" charset="0"/>
                            </a:rPr>
                            <m:t>𝑘𝑠</m:t>
                          </m:r>
                          <m:r>
                            <a:rPr lang="en-US" sz="1200" i="1" dirty="0" err="1">
                              <a:solidFill>
                                <a:srgbClr val="475569"/>
                              </a:solidFill>
                              <a:latin typeface="Cambria Math" panose="02040503050406030204" pitchFamily="18" charset="0"/>
                            </a:rPr>
                            <m:t>·</m:t>
                          </m:r>
                          <m:f>
                            <m:fPr>
                              <m:ctrlPr>
                                <a:rPr lang="en-US" sz="1200" b="0" i="1" dirty="0" smtClean="0">
                                  <a:solidFill>
                                    <a:srgbClr val="475569"/>
                                  </a:solidFill>
                                  <a:latin typeface="Cambria Math" panose="02040503050406030204" pitchFamily="18" charset="0"/>
                                </a:rPr>
                              </m:ctrlPr>
                            </m:fPr>
                            <m:num>
                              <m:sSub>
                                <m:sSubPr>
                                  <m:ctrlPr>
                                    <a:rPr lang="en-US" sz="1200" i="1" dirty="0" err="1">
                                      <a:solidFill>
                                        <a:srgbClr val="475569"/>
                                      </a:solidFill>
                                      <a:latin typeface="Cambria Math" panose="02040503050406030204" pitchFamily="18" charset="0"/>
                                    </a:rPr>
                                  </m:ctrlPr>
                                </m:sSubPr>
                                <m:e>
                                  <m:r>
                                    <a:rPr lang="en-US" sz="1200" i="1" dirty="0" err="1">
                                      <a:solidFill>
                                        <a:srgbClr val="475569"/>
                                      </a:solidFill>
                                      <a:latin typeface="Cambria Math" panose="02040503050406030204" pitchFamily="18" charset="0"/>
                                    </a:rPr>
                                    <m:t>𝑉</m:t>
                                  </m:r>
                                </m:e>
                                <m:sub>
                                  <m:r>
                                    <a:rPr lang="en-US" sz="1200" i="1" dirty="0" err="1">
                                      <a:solidFill>
                                        <a:srgbClr val="475569"/>
                                      </a:solidFill>
                                      <a:latin typeface="Cambria Math" panose="02040503050406030204" pitchFamily="18" charset="0"/>
                                    </a:rPr>
                                    <m:t>𝐷𝐶</m:t>
                                  </m:r>
                                </m:sub>
                              </m:sSub>
                            </m:num>
                            <m:den>
                              <m:r>
                                <a:rPr lang="en-US" sz="1200" i="1" dirty="0">
                                  <a:solidFill>
                                    <a:srgbClr val="475569"/>
                                  </a:solidFill>
                                  <a:latin typeface="Cambria Math" panose="02040503050406030204" pitchFamily="18" charset="0"/>
                                </a:rPr>
                                <m:t>𝑉𝑑𝑒𝑣𝑖𝑐𝑒</m:t>
                              </m:r>
                            </m:den>
                          </m:f>
                        </m:e>
                      </m:d>
                      <m:r>
                        <a:rPr lang="en-US" sz="1200" b="0" i="1" dirty="0" smtClean="0">
                          <a:solidFill>
                            <a:srgbClr val="475569"/>
                          </a:solidFill>
                          <a:latin typeface="Cambria Math" panose="02040503050406030204" pitchFamily="18" charset="0"/>
                        </a:rPr>
                        <m:t> </m:t>
                      </m:r>
                    </m:oMath>
                  </m:oMathPara>
                </a14:m>
              </a:p>
            </p:txBody>
          </p:sp>
        </mc:Choice>
        <mc:Fallback>
          <p:sp>
            <p:nvSpPr>
              <p:cNvPr id="20" name="Shape 2">
                <a:extLst>
                  <a:ext uri="{FF2B5EF4-FFF2-40B4-BE49-F238E27FC236}">
                    <a16:creationId xmlns:a16="http://schemas.microsoft.com/office/drawing/2014/main" id="{437B0CE8-29D0-19C1-9204-9FCF9A0A98DB}"/>
                  </a:ext>
                </a:extLst>
              </p:cNvPr>
              <p:cNvSpPr>
                <a:spLocks noRot="1" noChangeAspect="1" noMove="1" noResize="1" noEditPoints="1" noAdjustHandles="1" noChangeArrowheads="1" noChangeShapeType="1" noTextEdit="1"/>
              </p:cNvSpPr>
              <p:nvPr/>
            </p:nvSpPr>
            <p:spPr>
              <a:xfrm>
                <a:off x="6063341" y="1439674"/>
                <a:ext cx="2209011" cy="1463040"/>
              </a:xfrm>
              <a:prstGeom prst="roundRect">
                <a:avLst>
                  <a:gd name="adj" fmla="val 3415"/>
                </a:avLst>
              </a:prstGeom>
              <a:blipFill>
                <a:blip r:embed="rId3"/>
                <a:stretch>
                  <a:fillRect l="-1374" t="-826"/>
                </a:stretch>
              </a:blipFill>
              <a:ln w="10160">
                <a:solidFill>
                  <a:srgbClr val="CBD5E1"/>
                </a:solidFill>
                <a:prstDash val="solid"/>
              </a:ln>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23" name="Shape 2">
                <a:extLst>
                  <a:ext uri="{FF2B5EF4-FFF2-40B4-BE49-F238E27FC236}">
                    <a16:creationId xmlns:a16="http://schemas.microsoft.com/office/drawing/2014/main" id="{EA0F9209-A55B-5F7F-84BD-AD165B9F2CF7}"/>
                  </a:ext>
                </a:extLst>
              </p:cNvPr>
              <p:cNvSpPr/>
              <p:nvPr/>
            </p:nvSpPr>
            <p:spPr>
              <a:xfrm>
                <a:off x="9024556" y="1412232"/>
                <a:ext cx="2209011" cy="146304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4. Loss model</a:t>
                </a:r>
              </a:p>
              <a:p>
                <a:endParaRPr lang="en-US" dirty="0"/>
              </a:p>
              <a:p>
                <a14:m>
                  <m:oMathPara xmlns:m="http://schemas.openxmlformats.org/officeDocument/2006/math">
                    <m:oMath>
                      <m:sSub>
                        <m:sSubPr>
                          <m:ctrlPr>
                            <a:rPr lang="en-US" sz="1100" i="1" dirty="0" smtClean="0">
                              <a:solidFill>
                                <a:srgbClr val="475569"/>
                              </a:solidFill>
                              <a:latin typeface="Cambria Math" panose="02040503050406030204" pitchFamily="18" charset="0"/>
                            </a:rPr>
                          </m:ctrlPr>
                        </m:sSubPr>
                        <m:e>
                          <m:r>
                            <a:rPr lang="en-US" sz="1100" i="1" dirty="0" smtClean="0">
                              <a:solidFill>
                                <a:srgbClr val="475569"/>
                              </a:solidFill>
                              <a:latin typeface="Cambria Math" panose="02040503050406030204" pitchFamily="18" charset="0"/>
                            </a:rPr>
                            <m:t>𝑃</m:t>
                          </m:r>
                        </m:e>
                        <m:sub>
                          <m:r>
                            <a:rPr lang="en-US" sz="1100" i="1" dirty="0" smtClean="0">
                              <a:solidFill>
                                <a:srgbClr val="475569"/>
                              </a:solidFill>
                              <a:latin typeface="Cambria Math" panose="02040503050406030204" pitchFamily="18" charset="0"/>
                            </a:rPr>
                            <m:t>𝑐𝑜𝑛𝑑</m:t>
                          </m:r>
                        </m:sub>
                      </m:sSub>
                      <m:r>
                        <a:rPr lang="en-US" sz="1100" i="1" dirty="0">
                          <a:solidFill>
                            <a:srgbClr val="475569"/>
                          </a:solidFill>
                          <a:latin typeface="Cambria Math" panose="02040503050406030204" pitchFamily="18" charset="0"/>
                        </a:rPr>
                        <m:t>+</m:t>
                      </m:r>
                      <m:sSub>
                        <m:sSubPr>
                          <m:ctrlPr>
                            <a:rPr lang="en-US" sz="1100" i="1" dirty="0" err="1" smtClean="0">
                              <a:solidFill>
                                <a:srgbClr val="475569"/>
                              </a:solidFill>
                              <a:latin typeface="Cambria Math" panose="02040503050406030204" pitchFamily="18" charset="0"/>
                            </a:rPr>
                          </m:ctrlPr>
                        </m:sSubPr>
                        <m:e>
                          <m:r>
                            <a:rPr lang="en-US" sz="1100" i="1" dirty="0" err="1" smtClean="0">
                              <a:solidFill>
                                <a:srgbClr val="475569"/>
                              </a:solidFill>
                              <a:latin typeface="Cambria Math" panose="02040503050406030204" pitchFamily="18" charset="0"/>
                            </a:rPr>
                            <m:t>𝑓</m:t>
                          </m:r>
                        </m:e>
                        <m:sub>
                          <m:r>
                            <a:rPr lang="en-US" sz="1100" i="1" dirty="0" err="1" smtClean="0">
                              <a:solidFill>
                                <a:srgbClr val="475569"/>
                              </a:solidFill>
                              <a:latin typeface="Cambria Math" panose="02040503050406030204" pitchFamily="18" charset="0"/>
                            </a:rPr>
                            <m:t>𝑠𝑤</m:t>
                          </m:r>
                        </m:sub>
                      </m:sSub>
                      <m:r>
                        <a:rPr lang="en-US" sz="1100" i="1" dirty="0" smtClean="0">
                          <a:solidFill>
                            <a:srgbClr val="475569"/>
                          </a:solidFill>
                          <a:latin typeface="Cambria Math" panose="02040503050406030204" pitchFamily="18" charset="0"/>
                        </a:rPr>
                        <m:t> (</m:t>
                      </m:r>
                      <m:sSub>
                        <m:sSubPr>
                          <m:ctrlPr>
                            <a:rPr lang="en-US" sz="1100" i="1" dirty="0" err="1" smtClean="0">
                              <a:solidFill>
                                <a:srgbClr val="475569"/>
                              </a:solidFill>
                              <a:latin typeface="Cambria Math" panose="02040503050406030204" pitchFamily="18" charset="0"/>
                            </a:rPr>
                          </m:ctrlPr>
                        </m:sSubPr>
                        <m:e>
                          <m:r>
                            <a:rPr lang="en-US" sz="1100" i="1" dirty="0" err="1" smtClean="0">
                              <a:solidFill>
                                <a:srgbClr val="475569"/>
                              </a:solidFill>
                              <a:latin typeface="Cambria Math" panose="02040503050406030204" pitchFamily="18" charset="0"/>
                            </a:rPr>
                            <m:t>𝐸</m:t>
                          </m:r>
                        </m:e>
                        <m:sub>
                          <m:r>
                            <a:rPr lang="en-US" sz="1100" i="1" dirty="0" err="1" smtClean="0">
                              <a:solidFill>
                                <a:srgbClr val="475569"/>
                              </a:solidFill>
                              <a:latin typeface="Cambria Math" panose="02040503050406030204" pitchFamily="18" charset="0"/>
                            </a:rPr>
                            <m:t>𝐶𝑜𝑠𝑠</m:t>
                          </m:r>
                        </m:sub>
                      </m:sSub>
                      <m:r>
                        <a:rPr lang="en-US" sz="1100" i="1" dirty="0" smtClean="0">
                          <a:solidFill>
                            <a:srgbClr val="475569"/>
                          </a:solidFill>
                          <a:latin typeface="Cambria Math" panose="02040503050406030204" pitchFamily="18" charset="0"/>
                        </a:rPr>
                        <m:t>+</m:t>
                      </m:r>
                      <m:sSub>
                        <m:sSubPr>
                          <m:ctrlPr>
                            <a:rPr lang="en-US" sz="1100" i="1" dirty="0" err="1" smtClean="0">
                              <a:solidFill>
                                <a:srgbClr val="475569"/>
                              </a:solidFill>
                              <a:latin typeface="Cambria Math" panose="02040503050406030204" pitchFamily="18" charset="0"/>
                            </a:rPr>
                          </m:ctrlPr>
                        </m:sSubPr>
                        <m:e>
                          <m:r>
                            <a:rPr lang="en-US" sz="1100" i="1" dirty="0" err="1" smtClean="0">
                              <a:solidFill>
                                <a:srgbClr val="475569"/>
                              </a:solidFill>
                              <a:latin typeface="Cambria Math" panose="02040503050406030204" pitchFamily="18" charset="0"/>
                            </a:rPr>
                            <m:t>𝐸</m:t>
                          </m:r>
                        </m:e>
                        <m:sub>
                          <m:r>
                            <a:rPr lang="en-US" sz="1100" i="1" dirty="0" err="1" smtClean="0">
                              <a:solidFill>
                                <a:srgbClr val="475569"/>
                              </a:solidFill>
                              <a:latin typeface="Cambria Math" panose="02040503050406030204" pitchFamily="18" charset="0"/>
                            </a:rPr>
                            <m:t>𝑜𝑣𝑒𝑟𝑙𝑎𝑝</m:t>
                          </m:r>
                        </m:sub>
                      </m:sSub>
                      <m:r>
                        <a:rPr lang="en-US" sz="1100" i="1" dirty="0" smtClean="0">
                          <a:solidFill>
                            <a:srgbClr val="475569"/>
                          </a:solidFill>
                          <a:latin typeface="Cambria Math" panose="02040503050406030204" pitchFamily="18" charset="0"/>
                        </a:rPr>
                        <m:t>)</m:t>
                      </m:r>
                    </m:oMath>
                  </m:oMathPara>
                </a14:m>
              </a:p>
            </p:txBody>
          </p:sp>
        </mc:Choice>
        <mc:Fallback>
          <p:sp>
            <p:nvSpPr>
              <p:cNvPr id="23" name="Shape 2">
                <a:extLst>
                  <a:ext uri="{FF2B5EF4-FFF2-40B4-BE49-F238E27FC236}">
                    <a16:creationId xmlns:a16="http://schemas.microsoft.com/office/drawing/2014/main" id="{EA0F9209-A55B-5F7F-84BD-AD165B9F2CF7}"/>
                  </a:ext>
                </a:extLst>
              </p:cNvPr>
              <p:cNvSpPr>
                <a:spLocks noRot="1" noChangeAspect="1" noMove="1" noResize="1" noEditPoints="1" noAdjustHandles="1" noChangeArrowheads="1" noChangeShapeType="1" noTextEdit="1"/>
              </p:cNvSpPr>
              <p:nvPr/>
            </p:nvSpPr>
            <p:spPr>
              <a:xfrm>
                <a:off x="9024556" y="1412232"/>
                <a:ext cx="2209011" cy="1463040"/>
              </a:xfrm>
              <a:prstGeom prst="roundRect">
                <a:avLst>
                  <a:gd name="adj" fmla="val 3415"/>
                </a:avLst>
              </a:prstGeom>
              <a:blipFill>
                <a:blip r:embed="rId4"/>
                <a:stretch>
                  <a:fillRect l="-1370" t="-826"/>
                </a:stretch>
              </a:blipFill>
              <a:ln w="10160">
                <a:solidFill>
                  <a:srgbClr val="CBD5E1"/>
                </a:solidFill>
                <a:prstDash val="solid"/>
              </a:ln>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25" name="Shape 15">
                <a:extLst>
                  <a:ext uri="{FF2B5EF4-FFF2-40B4-BE49-F238E27FC236}">
                    <a16:creationId xmlns:a16="http://schemas.microsoft.com/office/drawing/2014/main" id="{26E7785E-126F-76F3-DBE8-752DCE4E5B86}"/>
                  </a:ext>
                </a:extLst>
              </p:cNvPr>
              <p:cNvSpPr/>
              <p:nvPr/>
            </p:nvSpPr>
            <p:spPr>
              <a:xfrm>
                <a:off x="4187197" y="4013435"/>
                <a:ext cx="3722544" cy="662452"/>
              </a:xfrm>
              <a:prstGeom prst="roundRect">
                <a:avLst>
                  <a:gd name="adj" fmla="val 18750"/>
                </a:avLst>
              </a:prstGeom>
              <a:solidFill>
                <a:srgbClr val="FFF0B0"/>
              </a:solidFill>
              <a:ln w="12700">
                <a:solidFill>
                  <a:srgbClr val="FFF0B0"/>
                </a:solidFill>
                <a:prstDash val="solid"/>
              </a:ln>
            </p:spPr>
            <p:txBody>
              <a:bodyPr/>
              <a:lstStyle/>
              <a:p>
                <a14:m>
                  <m:oMathPara xmlns:m="http://schemas.openxmlformats.org/officeDocument/2006/math">
                    <m:oMath>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E</m:t>
                          </m:r>
                        </m:e>
                        <m:sub>
                          <m:r>
                            <m:rPr>
                              <m:sty m:val="p"/>
                            </m:rPr>
                            <a:rPr lang="en-US" sz="1600" dirty="0">
                              <a:solidFill>
                                <a:srgbClr val="0F172A"/>
                              </a:solidFill>
                              <a:latin typeface="Cambria Math" panose="02040503050406030204" pitchFamily="18" charset="0"/>
                              <a:ea typeface="Aptos" pitchFamily="34" charset="-122"/>
                              <a:cs typeface="Aptos" pitchFamily="34" charset="-120"/>
                            </a:rPr>
                            <m:t>overlap</m:t>
                          </m:r>
                        </m:sub>
                      </m:sSub>
                      <m:r>
                        <a:rPr lang="en-US" sz="1600" dirty="0" smtClean="0">
                          <a:solidFill>
                            <a:srgbClr val="0F172A"/>
                          </a:solidFill>
                          <a:latin typeface="Cambria Math" panose="02040503050406030204" pitchFamily="18" charset="0"/>
                          <a:ea typeface="Aptos" pitchFamily="34" charset="-122"/>
                          <a:cs typeface="Aptos" pitchFamily="34" charset="-120"/>
                        </a:rPr>
                        <m:t>= </m:t>
                      </m:r>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V</m:t>
                          </m:r>
                        </m:e>
                        <m:sub>
                          <m:r>
                            <m:rPr>
                              <m:sty m:val="p"/>
                            </m:rPr>
                            <a:rPr lang="en-US" sz="1600" dirty="0">
                              <a:solidFill>
                                <a:srgbClr val="0F172A"/>
                              </a:solidFill>
                              <a:latin typeface="Cambria Math" panose="02040503050406030204" pitchFamily="18" charset="0"/>
                              <a:ea typeface="Aptos" pitchFamily="34" charset="-122"/>
                              <a:cs typeface="Aptos" pitchFamily="34" charset="-120"/>
                            </a:rPr>
                            <m:t>cell</m:t>
                          </m:r>
                        </m:sub>
                      </m:sSub>
                      <m:r>
                        <a:rPr lang="en-US" sz="1600" dirty="0">
                          <a:solidFill>
                            <a:srgbClr val="0F172A"/>
                          </a:solidFill>
                          <a:latin typeface="Cambria Math" panose="02040503050406030204" pitchFamily="18" charset="0"/>
                          <a:ea typeface="Aptos" pitchFamily="34" charset="-122"/>
                          <a:cs typeface="Aptos" pitchFamily="34" charset="-120"/>
                        </a:rPr>
                        <m:t>·</m:t>
                      </m:r>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I</m:t>
                          </m:r>
                        </m:e>
                        <m:sub>
                          <m:r>
                            <m:rPr>
                              <m:sty m:val="p"/>
                            </m:rPr>
                            <a:rPr lang="en-US" sz="1600" dirty="0">
                              <a:solidFill>
                                <a:srgbClr val="0F172A"/>
                              </a:solidFill>
                              <a:latin typeface="Cambria Math" panose="02040503050406030204" pitchFamily="18" charset="0"/>
                              <a:ea typeface="Aptos" pitchFamily="34" charset="-122"/>
                              <a:cs typeface="Aptos" pitchFamily="34" charset="-120"/>
                            </a:rPr>
                            <m:t>sw</m:t>
                          </m:r>
                        </m:sub>
                      </m:sSub>
                      <m:r>
                        <a:rPr lang="en-US" sz="1600" dirty="0" smtClean="0">
                          <a:solidFill>
                            <a:srgbClr val="0F172A"/>
                          </a:solidFill>
                          <a:latin typeface="Cambria Math" panose="02040503050406030204" pitchFamily="18" charset="0"/>
                          <a:ea typeface="Aptos" pitchFamily="34" charset="-122"/>
                          <a:cs typeface="Aptos" pitchFamily="34" charset="-120"/>
                        </a:rPr>
                        <m:t>·</m:t>
                      </m:r>
                      <m:r>
                        <a:rPr lang="en-US" sz="1600" dirty="0">
                          <a:solidFill>
                            <a:srgbClr val="0F172A"/>
                          </a:solidFill>
                          <a:latin typeface="Cambria Math" panose="02040503050406030204" pitchFamily="18" charset="0"/>
                          <a:ea typeface="Aptos" pitchFamily="34" charset="-122"/>
                          <a:cs typeface="Aptos" pitchFamily="34" charset="-120"/>
                        </a:rPr>
                        <m:t>(</m:t>
                      </m:r>
                      <m:f>
                        <m:fPr>
                          <m:ctrlPr>
                            <a:rPr lang="en-US" sz="1600" b="0" i="0" dirty="0" smtClean="0">
                              <a:solidFill>
                                <a:srgbClr val="0F172A"/>
                              </a:solidFill>
                              <a:latin typeface="Cambria Math" panose="02040503050406030204" pitchFamily="18" charset="0"/>
                              <a:ea typeface="Aptos" pitchFamily="34" charset="-122"/>
                              <a:cs typeface="Aptos" pitchFamily="34" charset="-120"/>
                            </a:rPr>
                          </m:ctrlPr>
                        </m:fPr>
                        <m:num>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V</m:t>
                              </m:r>
                            </m:e>
                            <m:sub>
                              <m:r>
                                <m:rPr>
                                  <m:sty m:val="p"/>
                                </m:rPr>
                                <a:rPr lang="en-US" sz="1600" dirty="0">
                                  <a:solidFill>
                                    <a:srgbClr val="0F172A"/>
                                  </a:solidFill>
                                  <a:latin typeface="Cambria Math" panose="02040503050406030204" pitchFamily="18" charset="0"/>
                                  <a:ea typeface="Aptos" pitchFamily="34" charset="-122"/>
                                  <a:cs typeface="Aptos" pitchFamily="34" charset="-120"/>
                                </a:rPr>
                                <m:t>cell</m:t>
                              </m:r>
                            </m:sub>
                          </m:sSub>
                        </m:num>
                        <m:den>
                          <m:r>
                            <a:rPr lang="en-US" sz="1600" b="0" i="1" dirty="0" smtClean="0">
                              <a:solidFill>
                                <a:srgbClr val="0F172A"/>
                              </a:solidFill>
                              <a:latin typeface="Cambria Math" panose="02040503050406030204" pitchFamily="18" charset="0"/>
                              <a:ea typeface="Aptos" pitchFamily="34" charset="-122"/>
                              <a:cs typeface="Aptos" pitchFamily="34" charset="-120"/>
                            </a:rPr>
                            <m:t>𝑑𝑣</m:t>
                          </m:r>
                          <m:r>
                            <a:rPr lang="en-US" sz="1600" b="0" i="1" dirty="0" smtClean="0">
                              <a:solidFill>
                                <a:srgbClr val="0F172A"/>
                              </a:solidFill>
                              <a:latin typeface="Cambria Math" panose="02040503050406030204" pitchFamily="18" charset="0"/>
                              <a:ea typeface="Aptos" pitchFamily="34" charset="-122"/>
                              <a:cs typeface="Aptos" pitchFamily="34" charset="-120"/>
                            </a:rPr>
                            <m:t>/</m:t>
                          </m:r>
                          <m:r>
                            <a:rPr lang="en-US" sz="1600" b="0" i="1" dirty="0" smtClean="0">
                              <a:solidFill>
                                <a:srgbClr val="0F172A"/>
                              </a:solidFill>
                              <a:latin typeface="Cambria Math" panose="02040503050406030204" pitchFamily="18" charset="0"/>
                              <a:ea typeface="Aptos" pitchFamily="34" charset="-122"/>
                              <a:cs typeface="Aptos" pitchFamily="34" charset="-120"/>
                            </a:rPr>
                            <m:t>𝑑𝑡</m:t>
                          </m:r>
                        </m:den>
                      </m:f>
                      <m:r>
                        <a:rPr lang="en-US" sz="1600" b="0" i="1" dirty="0" smtClean="0">
                          <a:solidFill>
                            <a:srgbClr val="0F172A"/>
                          </a:solidFill>
                          <a:latin typeface="Cambria Math" panose="02040503050406030204" pitchFamily="18" charset="0"/>
                          <a:ea typeface="Aptos" pitchFamily="34" charset="-122"/>
                          <a:cs typeface="Aptos" pitchFamily="34" charset="-120"/>
                        </a:rPr>
                        <m:t>+</m:t>
                      </m:r>
                      <m:f>
                        <m:fPr>
                          <m:ctrlPr>
                            <a:rPr lang="en-US" sz="1600" b="0" i="0" dirty="0" smtClean="0">
                              <a:solidFill>
                                <a:srgbClr val="0F172A"/>
                              </a:solidFill>
                              <a:latin typeface="Cambria Math" panose="02040503050406030204" pitchFamily="18" charset="0"/>
                              <a:ea typeface="Aptos" pitchFamily="34" charset="-122"/>
                              <a:cs typeface="Aptos" pitchFamily="34" charset="-120"/>
                            </a:rPr>
                          </m:ctrlPr>
                        </m:fPr>
                        <m:num>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I</m:t>
                              </m:r>
                            </m:e>
                            <m:sub>
                              <m:r>
                                <m:rPr>
                                  <m:sty m:val="p"/>
                                </m:rPr>
                                <a:rPr lang="en-US" sz="1600" dirty="0">
                                  <a:solidFill>
                                    <a:srgbClr val="0F172A"/>
                                  </a:solidFill>
                                  <a:latin typeface="Cambria Math" panose="02040503050406030204" pitchFamily="18" charset="0"/>
                                  <a:ea typeface="Aptos" pitchFamily="34" charset="-122"/>
                                  <a:cs typeface="Aptos" pitchFamily="34" charset="-120"/>
                                </a:rPr>
                                <m:t>sw</m:t>
                              </m:r>
                            </m:sub>
                          </m:sSub>
                        </m:num>
                        <m:den>
                          <m:r>
                            <m:rPr>
                              <m:sty m:val="p"/>
                            </m:rPr>
                            <a:rPr lang="en-US" sz="1600" dirty="0">
                              <a:solidFill>
                                <a:srgbClr val="0F172A"/>
                              </a:solidFill>
                              <a:latin typeface="Cambria Math" panose="02040503050406030204" pitchFamily="18" charset="0"/>
                              <a:ea typeface="Aptos" pitchFamily="34" charset="-122"/>
                              <a:cs typeface="Aptos" pitchFamily="34" charset="-120"/>
                            </a:rPr>
                            <m:t>di</m:t>
                          </m:r>
                          <m:r>
                            <a:rPr lang="en-US" sz="1600" dirty="0">
                              <a:solidFill>
                                <a:srgbClr val="0F172A"/>
                              </a:solidFill>
                              <a:latin typeface="Cambria Math" panose="02040503050406030204" pitchFamily="18" charset="0"/>
                              <a:ea typeface="Aptos" pitchFamily="34" charset="-122"/>
                              <a:cs typeface="Aptos" pitchFamily="34" charset="-120"/>
                            </a:rPr>
                            <m:t>/</m:t>
                          </m:r>
                          <m:r>
                            <m:rPr>
                              <m:sty m:val="p"/>
                            </m:rPr>
                            <a:rPr lang="en-US" sz="1600" dirty="0">
                              <a:solidFill>
                                <a:srgbClr val="0F172A"/>
                              </a:solidFill>
                              <a:latin typeface="Cambria Math" panose="02040503050406030204" pitchFamily="18" charset="0"/>
                              <a:ea typeface="Aptos" pitchFamily="34" charset="-122"/>
                              <a:cs typeface="Aptos" pitchFamily="34" charset="-120"/>
                            </a:rPr>
                            <m:t>dt</m:t>
                          </m:r>
                        </m:den>
                      </m:f>
                      <m:r>
                        <a:rPr lang="en-US" sz="1600" b="0" i="0" dirty="0" smtClean="0">
                          <a:solidFill>
                            <a:srgbClr val="0F172A"/>
                          </a:solidFill>
                          <a:latin typeface="Cambria Math" panose="02040503050406030204" pitchFamily="18" charset="0"/>
                          <a:ea typeface="Aptos" pitchFamily="34" charset="-122"/>
                          <a:cs typeface="Aptos" pitchFamily="34" charset="-120"/>
                        </a:rPr>
                        <m:t>)</m:t>
                      </m:r>
                    </m:oMath>
                  </m:oMathPara>
                </a14:m>
              </a:p>
            </p:txBody>
          </p:sp>
        </mc:Choice>
        <mc:Fallback>
          <p:sp>
            <p:nvSpPr>
              <p:cNvPr id="25" name="Shape 15">
                <a:extLst>
                  <a:ext uri="{FF2B5EF4-FFF2-40B4-BE49-F238E27FC236}">
                    <a16:creationId xmlns:a16="http://schemas.microsoft.com/office/drawing/2014/main" id="{26E7785E-126F-76F3-DBE8-752DCE4E5B86}"/>
                  </a:ext>
                </a:extLst>
              </p:cNvPr>
              <p:cNvSpPr>
                <a:spLocks noRot="1" noChangeAspect="1" noMove="1" noResize="1" noEditPoints="1" noAdjustHandles="1" noChangeArrowheads="1" noChangeShapeType="1" noTextEdit="1"/>
              </p:cNvSpPr>
              <p:nvPr/>
            </p:nvSpPr>
            <p:spPr>
              <a:xfrm>
                <a:off x="4187197" y="4013435"/>
                <a:ext cx="3722544" cy="662452"/>
              </a:xfrm>
              <a:prstGeom prst="roundRect">
                <a:avLst>
                  <a:gd name="adj" fmla="val 18750"/>
                </a:avLst>
              </a:prstGeom>
              <a:blipFill>
                <a:blip r:embed="rId5"/>
                <a:stretch>
                  <a:fillRect/>
                </a:stretch>
              </a:blipFill>
              <a:ln w="12700">
                <a:solidFill>
                  <a:srgbClr val="FFF0B0"/>
                </a:solidFill>
                <a:prstDash val="solid"/>
              </a:ln>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27" name="Shape 15">
                <a:extLst>
                  <a:ext uri="{FF2B5EF4-FFF2-40B4-BE49-F238E27FC236}">
                    <a16:creationId xmlns:a16="http://schemas.microsoft.com/office/drawing/2014/main" id="{D5999CF2-5271-9FC1-0054-680989BA03F0}"/>
                  </a:ext>
                </a:extLst>
              </p:cNvPr>
              <p:cNvSpPr/>
              <p:nvPr/>
            </p:nvSpPr>
            <p:spPr>
              <a:xfrm>
                <a:off x="8177591" y="4013435"/>
                <a:ext cx="3722544" cy="662452"/>
              </a:xfrm>
              <a:prstGeom prst="roundRect">
                <a:avLst>
                  <a:gd name="adj" fmla="val 18750"/>
                </a:avLst>
              </a:prstGeom>
              <a:solidFill>
                <a:srgbClr val="C7EBBA"/>
              </a:solidFill>
              <a:ln w="12700">
                <a:solidFill>
                  <a:srgbClr val="B2E0E0"/>
                </a:solidFill>
                <a:prstDash val="solid"/>
              </a:ln>
            </p:spPr>
            <p:txBody>
              <a:bodyPr/>
              <a:lstStyle/>
              <a:p>
                <a14:m>
                  <m:oMathPara xmlns:m="http://schemas.openxmlformats.org/officeDocument/2006/math">
                    <m:oMath>
                      <m:sSub>
                        <m:sSubPr>
                          <m:ctrlPr>
                            <a:rPr lang="en-US" sz="1600" dirty="0" smtClean="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smtClean="0">
                              <a:solidFill>
                                <a:srgbClr val="0F172A"/>
                              </a:solidFill>
                              <a:latin typeface="Cambria Math" panose="02040503050406030204" pitchFamily="18" charset="0"/>
                              <a:ea typeface="Aptos" pitchFamily="34" charset="-122"/>
                              <a:cs typeface="Aptos" pitchFamily="34" charset="-120"/>
                            </a:rPr>
                            <m:t>E</m:t>
                          </m:r>
                        </m:e>
                        <m:sub>
                          <m:r>
                            <m:rPr>
                              <m:sty m:val="p"/>
                            </m:rPr>
                            <a:rPr lang="en-US" sz="1600" dirty="0">
                              <a:solidFill>
                                <a:srgbClr val="0F172A"/>
                              </a:solidFill>
                              <a:latin typeface="Cambria Math" panose="02040503050406030204" pitchFamily="18" charset="0"/>
                              <a:ea typeface="Aptos" pitchFamily="34" charset="-122"/>
                              <a:cs typeface="Aptos" pitchFamily="34" charset="-120"/>
                            </a:rPr>
                            <m:t>Coss</m:t>
                          </m:r>
                        </m:sub>
                      </m:sSub>
                      <m:r>
                        <a:rPr lang="en-US" sz="1600" b="0" i="0" dirty="0" smtClean="0">
                          <a:solidFill>
                            <a:srgbClr val="0F172A"/>
                          </a:solidFill>
                          <a:latin typeface="Cambria Math" panose="02040503050406030204" pitchFamily="18" charset="0"/>
                          <a:ea typeface="Aptos" pitchFamily="34" charset="-122"/>
                          <a:cs typeface="Aptos" pitchFamily="34" charset="-120"/>
                        </a:rPr>
                        <m:t> </m:t>
                      </m:r>
                      <m:r>
                        <a:rPr lang="en-US" sz="1600" dirty="0">
                          <a:solidFill>
                            <a:srgbClr val="0F172A"/>
                          </a:solidFill>
                          <a:latin typeface="Cambria Math" panose="02040503050406030204" pitchFamily="18" charset="0"/>
                          <a:ea typeface="Aptos" pitchFamily="34" charset="-122"/>
                          <a:cs typeface="Aptos" pitchFamily="34" charset="-120"/>
                        </a:rPr>
                        <m:t> = </m:t>
                      </m:r>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C</m:t>
                          </m:r>
                        </m:e>
                        <m:sub>
                          <m:r>
                            <m:rPr>
                              <m:sty m:val="p"/>
                            </m:rPr>
                            <a:rPr lang="en-US" sz="1600" dirty="0">
                              <a:solidFill>
                                <a:srgbClr val="0F172A"/>
                              </a:solidFill>
                              <a:latin typeface="Cambria Math" panose="02040503050406030204" pitchFamily="18" charset="0"/>
                              <a:ea typeface="Aptos" pitchFamily="34" charset="-122"/>
                              <a:cs typeface="Aptos" pitchFamily="34" charset="-120"/>
                            </a:rPr>
                            <m:t>oss</m:t>
                          </m:r>
                          <m:r>
                            <a:rPr lang="en-US" sz="1600" b="0" i="0" dirty="0" smtClean="0">
                              <a:solidFill>
                                <a:srgbClr val="0F172A"/>
                              </a:solidFill>
                              <a:latin typeface="Cambria Math" panose="02040503050406030204" pitchFamily="18" charset="0"/>
                              <a:ea typeface="Aptos" pitchFamily="34" charset="-122"/>
                              <a:cs typeface="Aptos" pitchFamily="34" charset="-120"/>
                            </a:rPr>
                            <m:t>.</m:t>
                          </m:r>
                          <m:r>
                            <m:rPr>
                              <m:sty m:val="p"/>
                            </m:rPr>
                            <a:rPr lang="en-US" sz="1600" b="0" i="0" dirty="0" smtClean="0">
                              <a:solidFill>
                                <a:srgbClr val="0F172A"/>
                              </a:solidFill>
                              <a:latin typeface="Cambria Math" panose="02040503050406030204" pitchFamily="18" charset="0"/>
                              <a:ea typeface="Aptos" pitchFamily="34" charset="-122"/>
                              <a:cs typeface="Aptos" pitchFamily="34" charset="-120"/>
                            </a:rPr>
                            <m:t>eq</m:t>
                          </m:r>
                        </m:sub>
                      </m:sSub>
                      <m:r>
                        <a:rPr lang="en-US" sz="1600" dirty="0">
                          <a:solidFill>
                            <a:srgbClr val="0F172A"/>
                          </a:solidFill>
                          <a:latin typeface="Cambria Math" panose="02040503050406030204" pitchFamily="18" charset="0"/>
                          <a:ea typeface="Aptos" pitchFamily="34" charset="-122"/>
                          <a:cs typeface="Aptos" pitchFamily="34" charset="-120"/>
                        </a:rPr>
                        <m:t> · </m:t>
                      </m:r>
                      <m:sSubSup>
                        <m:sSubSupPr>
                          <m:ctrlPr>
                            <a:rPr lang="en-US" sz="1600" dirty="0">
                              <a:solidFill>
                                <a:srgbClr val="0F172A"/>
                              </a:solidFill>
                              <a:latin typeface="Cambria Math" panose="02040503050406030204" pitchFamily="18" charset="0"/>
                              <a:ea typeface="Aptos" pitchFamily="34" charset="-122"/>
                              <a:cs typeface="Aptos" pitchFamily="34" charset="-120"/>
                            </a:rPr>
                          </m:ctrlPr>
                        </m:sSubSupPr>
                        <m:e>
                          <m:r>
                            <m:rPr>
                              <m:sty m:val="p"/>
                            </m:rPr>
                            <a:rPr lang="en-US" sz="1600" dirty="0">
                              <a:solidFill>
                                <a:srgbClr val="0F172A"/>
                              </a:solidFill>
                              <a:latin typeface="Cambria Math" panose="02040503050406030204" pitchFamily="18" charset="0"/>
                              <a:ea typeface="Aptos" pitchFamily="34" charset="-122"/>
                              <a:cs typeface="Aptos" pitchFamily="34" charset="-120"/>
                            </a:rPr>
                            <m:t>V</m:t>
                          </m:r>
                        </m:e>
                        <m:sub>
                          <m:r>
                            <m:rPr>
                              <m:sty m:val="p"/>
                            </m:rPr>
                            <a:rPr lang="en-US" sz="1600" dirty="0">
                              <a:solidFill>
                                <a:srgbClr val="0F172A"/>
                              </a:solidFill>
                              <a:latin typeface="Cambria Math" panose="02040503050406030204" pitchFamily="18" charset="0"/>
                              <a:ea typeface="Aptos" pitchFamily="34" charset="-122"/>
                              <a:cs typeface="Aptos" pitchFamily="34" charset="-120"/>
                            </a:rPr>
                            <m:t>cell</m:t>
                          </m:r>
                        </m:sub>
                        <m:sup>
                          <m:r>
                            <a:rPr lang="en-US" sz="1600" i="1" dirty="0">
                              <a:solidFill>
                                <a:srgbClr val="0F172A"/>
                              </a:solidFill>
                              <a:latin typeface="Cambria Math" panose="02040503050406030204" pitchFamily="18" charset="0"/>
                              <a:ea typeface="Aptos" pitchFamily="34" charset="-122"/>
                              <a:cs typeface="Aptos" pitchFamily="34" charset="-120"/>
                            </a:rPr>
                            <m:t>2</m:t>
                          </m:r>
                        </m:sup>
                      </m:sSubSup>
                    </m:oMath>
                  </m:oMathPara>
                </a14:m>
              </a:p>
            </p:txBody>
          </p:sp>
        </mc:Choice>
        <mc:Fallback>
          <p:sp>
            <p:nvSpPr>
              <p:cNvPr id="27" name="Shape 15">
                <a:extLst>
                  <a:ext uri="{FF2B5EF4-FFF2-40B4-BE49-F238E27FC236}">
                    <a16:creationId xmlns:a16="http://schemas.microsoft.com/office/drawing/2014/main" id="{D5999CF2-5271-9FC1-0054-680989BA03F0}"/>
                  </a:ext>
                </a:extLst>
              </p:cNvPr>
              <p:cNvSpPr>
                <a:spLocks noRot="1" noChangeAspect="1" noMove="1" noResize="1" noEditPoints="1" noAdjustHandles="1" noChangeArrowheads="1" noChangeShapeType="1" noTextEdit="1"/>
              </p:cNvSpPr>
              <p:nvPr/>
            </p:nvSpPr>
            <p:spPr>
              <a:xfrm>
                <a:off x="8177591" y="4013435"/>
                <a:ext cx="3722544" cy="662452"/>
              </a:xfrm>
              <a:prstGeom prst="roundRect">
                <a:avLst>
                  <a:gd name="adj" fmla="val 18750"/>
                </a:avLst>
              </a:prstGeom>
              <a:blipFill>
                <a:blip r:embed="rId6"/>
                <a:stretch>
                  <a:fillRect/>
                </a:stretch>
              </a:blipFill>
              <a:ln w="12700">
                <a:solidFill>
                  <a:srgbClr val="B2E0E0"/>
                </a:solidFill>
                <a:prstDash val="solid"/>
              </a:ln>
            </p:spPr>
            <p:txBody>
              <a:bodyPr/>
              <a:lstStyle/>
              <a:p>
                <a:r>
                  <a:rPr lang="sv-SE">
                    <a:noFill/>
                  </a:rPr>
                  <a:t> </a:t>
                </a:r>
              </a:p>
            </p:txBody>
          </p:sp>
        </mc:Fallback>
      </mc:AlternateContent>
      <p:sp>
        <p:nvSpPr>
          <p:cNvPr id="30" name="Text 27">
            <a:extLst>
              <a:ext uri="{FF2B5EF4-FFF2-40B4-BE49-F238E27FC236}">
                <a16:creationId xmlns:a16="http://schemas.microsoft.com/office/drawing/2014/main" id="{C06BAF92-7D37-ED65-B616-1A1D81EC8667}"/>
              </a:ext>
            </a:extLst>
          </p:cNvPr>
          <p:cNvSpPr/>
          <p:nvPr/>
        </p:nvSpPr>
        <p:spPr>
          <a:xfrm>
            <a:off x="1034141" y="5416294"/>
            <a:ext cx="10058400" cy="411480"/>
          </a:xfrm>
          <a:prstGeom prst="rect">
            <a:avLst/>
          </a:prstGeom>
          <a:noFill/>
          <a:ln/>
        </p:spPr>
        <p:txBody>
          <a:bodyPr wrap="square" lIns="254" tIns="254" rIns="254" bIns="254" rtlCol="0" anchor="ctr"/>
          <a:lstStyle/>
          <a:p>
            <a:pPr marL="0" indent="0" algn="ctr">
              <a:buNone/>
            </a:pPr>
            <a:r>
              <a:rPr lang="en-US" sz="1550" b="1" dirty="0">
                <a:solidFill>
                  <a:srgbClr val="0F172A"/>
                </a:solidFill>
              </a:rPr>
              <a:t>Only realizable x-axis points are used: 650 V, 200 V, 150 V, 120 V, 100 V devices create different discrete SPB level counts.</a:t>
            </a:r>
            <a:endParaRPr lang="en-US" sz="1550" dirty="0"/>
          </a:p>
        </p:txBody>
      </p:sp>
    </p:spTree>
    <p:extLst>
      <p:ext uri="{BB962C8B-B14F-4D97-AF65-F5344CB8AC3E}">
        <p14:creationId xmlns:p14="http://schemas.microsoft.com/office/powerpoint/2010/main" val="1323481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C82A8-F7A9-6F6E-0988-DDBC28BC7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7FFD4-404B-A091-45BF-93501017CBB9}"/>
              </a:ext>
            </a:extLst>
          </p:cNvPr>
          <p:cNvSpPr>
            <a:spLocks noGrp="1"/>
          </p:cNvSpPr>
          <p:nvPr>
            <p:ph type="title"/>
          </p:nvPr>
        </p:nvSpPr>
        <p:spPr>
          <a:xfrm>
            <a:off x="1028500" y="368890"/>
            <a:ext cx="10990263" cy="568412"/>
          </a:xfrm>
        </p:spPr>
        <p:txBody>
          <a:bodyPr/>
          <a:lstStyle/>
          <a:p>
            <a:r>
              <a:rPr lang="en-US" dirty="0"/>
              <a:t>Preliminary Results</a:t>
            </a:r>
          </a:p>
        </p:txBody>
      </p:sp>
      <p:pic>
        <p:nvPicPr>
          <p:cNvPr id="5" name="Picture 4">
            <a:extLst>
              <a:ext uri="{FF2B5EF4-FFF2-40B4-BE49-F238E27FC236}">
                <a16:creationId xmlns:a16="http://schemas.microsoft.com/office/drawing/2014/main" id="{196CA968-5319-4E19-C40F-0D038B87658D}"/>
              </a:ext>
            </a:extLst>
          </p:cNvPr>
          <p:cNvPicPr>
            <a:picLocks noChangeAspect="1"/>
          </p:cNvPicPr>
          <p:nvPr/>
        </p:nvPicPr>
        <p:blipFill>
          <a:blip r:embed="rId2"/>
          <a:stretch>
            <a:fillRect/>
          </a:stretch>
        </p:blipFill>
        <p:spPr>
          <a:xfrm>
            <a:off x="53340" y="1374687"/>
            <a:ext cx="9289595" cy="4730173"/>
          </a:xfrm>
          <a:prstGeom prst="rect">
            <a:avLst/>
          </a:prstGeom>
        </p:spPr>
      </p:pic>
      <p:sp>
        <p:nvSpPr>
          <p:cNvPr id="7" name="Shape 2">
            <a:extLst>
              <a:ext uri="{FF2B5EF4-FFF2-40B4-BE49-F238E27FC236}">
                <a16:creationId xmlns:a16="http://schemas.microsoft.com/office/drawing/2014/main" id="{9DA0CBB0-0AC9-DAEC-4295-9C6975F7FE77}"/>
              </a:ext>
            </a:extLst>
          </p:cNvPr>
          <p:cNvSpPr/>
          <p:nvPr/>
        </p:nvSpPr>
        <p:spPr>
          <a:xfrm>
            <a:off x="9504156" y="309368"/>
            <a:ext cx="2291604" cy="1307592"/>
          </a:xfrm>
          <a:prstGeom prst="roundRect">
            <a:avLst>
              <a:gd name="adj" fmla="val 3415"/>
            </a:avLst>
          </a:prstGeom>
          <a:solidFill>
            <a:srgbClr val="FFFFFF"/>
          </a:solidFill>
          <a:ln w="10160">
            <a:solidFill>
              <a:srgbClr val="CBD5E1"/>
            </a:solidFill>
            <a:prstDash val="solid"/>
          </a:ln>
        </p:spPr>
        <p:txBody>
          <a:bodyPr/>
          <a:lstStyle/>
          <a:p>
            <a:r>
              <a:rPr lang="en-US" sz="1600" b="1" dirty="0">
                <a:solidFill>
                  <a:srgbClr val="0F172A"/>
                </a:solidFill>
              </a:rPr>
              <a:t>Top-left</a:t>
            </a:r>
          </a:p>
          <a:p>
            <a:r>
              <a:rPr lang="en-US" sz="1600" dirty="0">
                <a:solidFill>
                  <a:srgbClr val="475569"/>
                </a:solidFill>
              </a:rPr>
              <a:t>Device database: lower-left is attractive, but voltage rating must be feasible.</a:t>
            </a:r>
            <a:endParaRPr lang="en-US" sz="1600" dirty="0"/>
          </a:p>
          <a:p>
            <a:endParaRPr lang="en-US" sz="1600" dirty="0"/>
          </a:p>
          <a:p>
            <a:endParaRPr lang="sv-SE" dirty="0"/>
          </a:p>
        </p:txBody>
      </p:sp>
      <p:sp>
        <p:nvSpPr>
          <p:cNvPr id="14" name="Text 4">
            <a:extLst>
              <a:ext uri="{FF2B5EF4-FFF2-40B4-BE49-F238E27FC236}">
                <a16:creationId xmlns:a16="http://schemas.microsoft.com/office/drawing/2014/main" id="{FFBA2D39-D17D-9FAF-8C9A-86BF6399C08B}"/>
              </a:ext>
            </a:extLst>
          </p:cNvPr>
          <p:cNvSpPr/>
          <p:nvPr/>
        </p:nvSpPr>
        <p:spPr>
          <a:xfrm>
            <a:off x="9613883" y="455672"/>
            <a:ext cx="2350856" cy="228600"/>
          </a:xfrm>
          <a:prstGeom prst="rect">
            <a:avLst/>
          </a:prstGeom>
          <a:noFill/>
          <a:ln/>
        </p:spPr>
        <p:txBody>
          <a:bodyPr wrap="square" lIns="0" tIns="0" rIns="0" bIns="0" rtlCol="0" anchor="ctr"/>
          <a:lstStyle/>
          <a:p>
            <a:pPr marL="0" indent="0">
              <a:buNone/>
            </a:pPr>
            <a:endParaRPr lang="en-US" sz="1400" dirty="0"/>
          </a:p>
        </p:txBody>
      </p:sp>
      <p:sp>
        <p:nvSpPr>
          <p:cNvPr id="22" name="Shape 2">
            <a:extLst>
              <a:ext uri="{FF2B5EF4-FFF2-40B4-BE49-F238E27FC236}">
                <a16:creationId xmlns:a16="http://schemas.microsoft.com/office/drawing/2014/main" id="{6B912CE3-DEA0-BFC6-9201-52ABD21A636D}"/>
              </a:ext>
            </a:extLst>
          </p:cNvPr>
          <p:cNvSpPr/>
          <p:nvPr/>
        </p:nvSpPr>
        <p:spPr>
          <a:xfrm>
            <a:off x="9504156" y="1952240"/>
            <a:ext cx="2291604" cy="1307592"/>
          </a:xfrm>
          <a:prstGeom prst="roundRect">
            <a:avLst>
              <a:gd name="adj" fmla="val 3415"/>
            </a:avLst>
          </a:prstGeom>
          <a:solidFill>
            <a:srgbClr val="FFFFFF"/>
          </a:solidFill>
          <a:ln w="10160">
            <a:solidFill>
              <a:srgbClr val="CBD5E1"/>
            </a:solidFill>
            <a:prstDash val="solid"/>
          </a:ln>
        </p:spPr>
        <p:txBody>
          <a:bodyPr/>
          <a:lstStyle/>
          <a:p>
            <a:r>
              <a:rPr lang="en-US" sz="1600" b="1" dirty="0">
                <a:solidFill>
                  <a:srgbClr val="0F172A"/>
                </a:solidFill>
              </a:rPr>
              <a:t>Top-middle</a:t>
            </a:r>
            <a:endParaRPr lang="en-US" sz="1600" dirty="0"/>
          </a:p>
          <a:p>
            <a:r>
              <a:rPr lang="en-US" sz="1600" dirty="0">
                <a:solidFill>
                  <a:srgbClr val="475569"/>
                </a:solidFill>
              </a:rPr>
              <a:t>D-FOM ranks devices by RDS(on)–Coss trade-off.</a:t>
            </a:r>
            <a:endParaRPr lang="en-US" sz="1600" dirty="0"/>
          </a:p>
          <a:p>
            <a:endParaRPr lang="en-US" sz="1600" dirty="0"/>
          </a:p>
          <a:p>
            <a:endParaRPr lang="sv-SE" dirty="0"/>
          </a:p>
        </p:txBody>
      </p:sp>
      <p:sp>
        <p:nvSpPr>
          <p:cNvPr id="31" name="Text 4">
            <a:extLst>
              <a:ext uri="{FF2B5EF4-FFF2-40B4-BE49-F238E27FC236}">
                <a16:creationId xmlns:a16="http://schemas.microsoft.com/office/drawing/2014/main" id="{C411DD05-A50A-E6F4-E5AD-6954A8A0C183}"/>
              </a:ext>
            </a:extLst>
          </p:cNvPr>
          <p:cNvSpPr/>
          <p:nvPr/>
        </p:nvSpPr>
        <p:spPr>
          <a:xfrm>
            <a:off x="9613883" y="2098544"/>
            <a:ext cx="2350856" cy="228600"/>
          </a:xfrm>
          <a:prstGeom prst="rect">
            <a:avLst/>
          </a:prstGeom>
          <a:noFill/>
          <a:ln/>
        </p:spPr>
        <p:txBody>
          <a:bodyPr wrap="square" lIns="0" tIns="0" rIns="0" bIns="0" rtlCol="0" anchor="ctr"/>
          <a:lstStyle/>
          <a:p>
            <a:pPr marL="0" indent="0">
              <a:buNone/>
            </a:pPr>
            <a:endParaRPr lang="en-US" sz="1400" dirty="0"/>
          </a:p>
        </p:txBody>
      </p:sp>
      <p:sp>
        <p:nvSpPr>
          <p:cNvPr id="33" name="Shape 2">
            <a:extLst>
              <a:ext uri="{FF2B5EF4-FFF2-40B4-BE49-F238E27FC236}">
                <a16:creationId xmlns:a16="http://schemas.microsoft.com/office/drawing/2014/main" id="{7DA00D7C-CA75-3D0D-003C-5369654F8419}"/>
              </a:ext>
            </a:extLst>
          </p:cNvPr>
          <p:cNvSpPr/>
          <p:nvPr/>
        </p:nvSpPr>
        <p:spPr>
          <a:xfrm>
            <a:off x="9504156" y="3569243"/>
            <a:ext cx="2291604" cy="1307592"/>
          </a:xfrm>
          <a:prstGeom prst="roundRect">
            <a:avLst>
              <a:gd name="adj" fmla="val 3415"/>
            </a:avLst>
          </a:prstGeom>
          <a:solidFill>
            <a:srgbClr val="FFFFFF"/>
          </a:solidFill>
          <a:ln w="10160">
            <a:solidFill>
              <a:srgbClr val="CBD5E1"/>
            </a:solidFill>
            <a:prstDash val="solid"/>
          </a:ln>
        </p:spPr>
        <p:txBody>
          <a:bodyPr/>
          <a:lstStyle/>
          <a:p>
            <a:r>
              <a:rPr lang="en-US" sz="1600" b="1" dirty="0">
                <a:solidFill>
                  <a:srgbClr val="0F172A"/>
                </a:solidFill>
              </a:rPr>
              <a:t>Top-right</a:t>
            </a:r>
            <a:endParaRPr lang="en-US" sz="1600" dirty="0"/>
          </a:p>
          <a:p>
            <a:r>
              <a:rPr lang="en-US" sz="1600" dirty="0">
                <a:solidFill>
                  <a:srgbClr val="475569"/>
                </a:solidFill>
              </a:rPr>
              <a:t>Discrete level count chooses the feasible best-FOM devices.</a:t>
            </a:r>
            <a:endParaRPr lang="en-US" sz="1600" dirty="0"/>
          </a:p>
          <a:p>
            <a:endParaRPr lang="en-US" sz="1600" dirty="0"/>
          </a:p>
          <a:p>
            <a:endParaRPr lang="sv-SE" dirty="0"/>
          </a:p>
        </p:txBody>
      </p:sp>
      <p:sp>
        <p:nvSpPr>
          <p:cNvPr id="37" name="Text 4">
            <a:extLst>
              <a:ext uri="{FF2B5EF4-FFF2-40B4-BE49-F238E27FC236}">
                <a16:creationId xmlns:a16="http://schemas.microsoft.com/office/drawing/2014/main" id="{38797029-C4F1-4860-3281-26F56369C742}"/>
              </a:ext>
            </a:extLst>
          </p:cNvPr>
          <p:cNvSpPr/>
          <p:nvPr/>
        </p:nvSpPr>
        <p:spPr>
          <a:xfrm>
            <a:off x="9613883" y="3715547"/>
            <a:ext cx="2350856" cy="228600"/>
          </a:xfrm>
          <a:prstGeom prst="rect">
            <a:avLst/>
          </a:prstGeom>
          <a:noFill/>
          <a:ln/>
        </p:spPr>
        <p:txBody>
          <a:bodyPr wrap="square" lIns="0" tIns="0" rIns="0" bIns="0" rtlCol="0" anchor="ctr"/>
          <a:lstStyle/>
          <a:p>
            <a:pPr marL="0" indent="0">
              <a:buNone/>
            </a:pPr>
            <a:endParaRPr lang="en-US" sz="1400" dirty="0"/>
          </a:p>
        </p:txBody>
      </p:sp>
      <p:sp>
        <p:nvSpPr>
          <p:cNvPr id="40" name="Shape 2">
            <a:extLst>
              <a:ext uri="{FF2B5EF4-FFF2-40B4-BE49-F238E27FC236}">
                <a16:creationId xmlns:a16="http://schemas.microsoft.com/office/drawing/2014/main" id="{BAA23128-4E7D-9C96-2445-9F6C9B12698B}"/>
              </a:ext>
            </a:extLst>
          </p:cNvPr>
          <p:cNvSpPr/>
          <p:nvPr/>
        </p:nvSpPr>
        <p:spPr>
          <a:xfrm>
            <a:off x="9476722" y="5181518"/>
            <a:ext cx="2291604" cy="1307592"/>
          </a:xfrm>
          <a:prstGeom prst="roundRect">
            <a:avLst>
              <a:gd name="adj" fmla="val 3415"/>
            </a:avLst>
          </a:prstGeom>
          <a:solidFill>
            <a:srgbClr val="FFFFFF"/>
          </a:solidFill>
          <a:ln w="10160">
            <a:solidFill>
              <a:srgbClr val="CBD5E1"/>
            </a:solidFill>
            <a:prstDash val="solid"/>
          </a:ln>
        </p:spPr>
        <p:txBody>
          <a:bodyPr/>
          <a:lstStyle/>
          <a:p>
            <a:r>
              <a:rPr lang="en-US" sz="1600" b="1" dirty="0">
                <a:solidFill>
                  <a:srgbClr val="0F172A"/>
                </a:solidFill>
              </a:rPr>
              <a:t>Bottom row</a:t>
            </a:r>
          </a:p>
          <a:p>
            <a:r>
              <a:rPr lang="en-US" sz="1600" dirty="0">
                <a:solidFill>
                  <a:srgbClr val="475569"/>
                </a:solidFill>
              </a:rPr>
              <a:t>Separates conduction, switching energy, and switching-loss components.</a:t>
            </a:r>
            <a:endParaRPr lang="en-US" sz="1600" dirty="0"/>
          </a:p>
          <a:p>
            <a:endParaRPr lang="en-US" sz="1600" dirty="0"/>
          </a:p>
          <a:p>
            <a:endParaRPr lang="sv-SE" dirty="0"/>
          </a:p>
        </p:txBody>
      </p:sp>
      <p:sp>
        <p:nvSpPr>
          <p:cNvPr id="45" name="Text 4">
            <a:extLst>
              <a:ext uri="{FF2B5EF4-FFF2-40B4-BE49-F238E27FC236}">
                <a16:creationId xmlns:a16="http://schemas.microsoft.com/office/drawing/2014/main" id="{6C4F940D-92E3-5890-3218-4BF074750E86}"/>
              </a:ext>
            </a:extLst>
          </p:cNvPr>
          <p:cNvSpPr/>
          <p:nvPr/>
        </p:nvSpPr>
        <p:spPr>
          <a:xfrm>
            <a:off x="9586449" y="5327822"/>
            <a:ext cx="2350856" cy="228600"/>
          </a:xfrm>
          <a:prstGeom prst="rect">
            <a:avLst/>
          </a:prstGeom>
          <a:noFill/>
          <a:ln/>
        </p:spPr>
        <p:txBody>
          <a:bodyPr wrap="square" lIns="0" tIns="0" rIns="0" bIns="0" rtlCol="0" anchor="ctr"/>
          <a:lstStyle/>
          <a:p>
            <a:pPr marL="0" indent="0">
              <a:buNone/>
            </a:pPr>
            <a:endParaRPr lang="en-US" sz="1400" dirty="0"/>
          </a:p>
        </p:txBody>
      </p:sp>
      <p:sp>
        <p:nvSpPr>
          <p:cNvPr id="48" name="Shape 7">
            <a:extLst>
              <a:ext uri="{FF2B5EF4-FFF2-40B4-BE49-F238E27FC236}">
                <a16:creationId xmlns:a16="http://schemas.microsoft.com/office/drawing/2014/main" id="{AC6D0B27-261D-735C-BE15-D9974C088E24}"/>
              </a:ext>
            </a:extLst>
          </p:cNvPr>
          <p:cNvSpPr/>
          <p:nvPr/>
        </p:nvSpPr>
        <p:spPr>
          <a:xfrm>
            <a:off x="9426428" y="1952240"/>
            <a:ext cx="77728" cy="1348701"/>
          </a:xfrm>
          <a:prstGeom prst="rect">
            <a:avLst/>
          </a:prstGeom>
          <a:solidFill>
            <a:srgbClr val="059669"/>
          </a:solidFill>
          <a:ln w="12700">
            <a:solidFill>
              <a:srgbClr val="059669"/>
            </a:solidFill>
            <a:prstDash val="solid"/>
          </a:ln>
        </p:spPr>
        <p:txBody>
          <a:bodyPr/>
          <a:lstStyle/>
          <a:p>
            <a:endParaRPr lang="sv-SE"/>
          </a:p>
        </p:txBody>
      </p:sp>
      <p:sp>
        <p:nvSpPr>
          <p:cNvPr id="50" name="Shape 3">
            <a:extLst>
              <a:ext uri="{FF2B5EF4-FFF2-40B4-BE49-F238E27FC236}">
                <a16:creationId xmlns:a16="http://schemas.microsoft.com/office/drawing/2014/main" id="{E84E90D4-84EF-68E0-77D4-8E4C31E6FCEC}"/>
              </a:ext>
            </a:extLst>
          </p:cNvPr>
          <p:cNvSpPr/>
          <p:nvPr/>
        </p:nvSpPr>
        <p:spPr>
          <a:xfrm>
            <a:off x="9426428" y="309368"/>
            <a:ext cx="77728" cy="1307592"/>
          </a:xfrm>
          <a:prstGeom prst="rect">
            <a:avLst/>
          </a:prstGeom>
          <a:solidFill>
            <a:srgbClr val="2563EB"/>
          </a:solidFill>
          <a:ln w="12700">
            <a:solidFill>
              <a:srgbClr val="2563EB"/>
            </a:solidFill>
            <a:prstDash val="solid"/>
          </a:ln>
        </p:spPr>
        <p:txBody>
          <a:bodyPr/>
          <a:lstStyle/>
          <a:p>
            <a:endParaRPr lang="sv-SE"/>
          </a:p>
        </p:txBody>
      </p:sp>
      <p:sp>
        <p:nvSpPr>
          <p:cNvPr id="54" name="Shape 11">
            <a:extLst>
              <a:ext uri="{FF2B5EF4-FFF2-40B4-BE49-F238E27FC236}">
                <a16:creationId xmlns:a16="http://schemas.microsoft.com/office/drawing/2014/main" id="{4F6F2BC1-70F0-8DBB-863A-8940AD0EAF04}"/>
              </a:ext>
            </a:extLst>
          </p:cNvPr>
          <p:cNvSpPr/>
          <p:nvPr/>
        </p:nvSpPr>
        <p:spPr>
          <a:xfrm>
            <a:off x="9437858" y="3564515"/>
            <a:ext cx="77728" cy="1307592"/>
          </a:xfrm>
          <a:prstGeom prst="rect">
            <a:avLst/>
          </a:prstGeom>
          <a:solidFill>
            <a:srgbClr val="EA580C"/>
          </a:solidFill>
          <a:ln w="12700">
            <a:solidFill>
              <a:srgbClr val="EA580C"/>
            </a:solidFill>
            <a:prstDash val="solid"/>
          </a:ln>
        </p:spPr>
        <p:txBody>
          <a:bodyPr/>
          <a:lstStyle/>
          <a:p>
            <a:endParaRPr lang="sv-SE"/>
          </a:p>
        </p:txBody>
      </p:sp>
      <p:sp>
        <p:nvSpPr>
          <p:cNvPr id="56" name="Shape 18">
            <a:extLst>
              <a:ext uri="{FF2B5EF4-FFF2-40B4-BE49-F238E27FC236}">
                <a16:creationId xmlns:a16="http://schemas.microsoft.com/office/drawing/2014/main" id="{6DABFCEC-8EA0-E049-2E12-42AD6023B126}"/>
              </a:ext>
            </a:extLst>
          </p:cNvPr>
          <p:cNvSpPr/>
          <p:nvPr/>
        </p:nvSpPr>
        <p:spPr>
          <a:xfrm>
            <a:off x="9397635" y="5181518"/>
            <a:ext cx="77727" cy="1307592"/>
          </a:xfrm>
          <a:prstGeom prst="rect">
            <a:avLst/>
          </a:prstGeom>
          <a:solidFill>
            <a:srgbClr val="7C3AED"/>
          </a:solidFill>
          <a:ln w="12700">
            <a:solidFill>
              <a:srgbClr val="7C3AED"/>
            </a:solidFill>
            <a:prstDash val="solid"/>
          </a:ln>
        </p:spPr>
        <p:txBody>
          <a:bodyPr/>
          <a:lstStyle/>
          <a:p>
            <a:endParaRPr lang="sv-SE"/>
          </a:p>
        </p:txBody>
      </p:sp>
    </p:spTree>
    <p:extLst>
      <p:ext uri="{BB962C8B-B14F-4D97-AF65-F5344CB8AC3E}">
        <p14:creationId xmlns:p14="http://schemas.microsoft.com/office/powerpoint/2010/main" val="1970027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FBF43-73B4-267C-A5A9-77543735C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28B9C-84FE-5850-323B-505CBEEB652F}"/>
              </a:ext>
            </a:extLst>
          </p:cNvPr>
          <p:cNvSpPr>
            <a:spLocks noGrp="1"/>
          </p:cNvSpPr>
          <p:nvPr>
            <p:ph type="title"/>
          </p:nvPr>
        </p:nvSpPr>
        <p:spPr>
          <a:xfrm>
            <a:off x="1028500" y="368890"/>
            <a:ext cx="10990263" cy="568412"/>
          </a:xfrm>
        </p:spPr>
        <p:txBody>
          <a:bodyPr/>
          <a:lstStyle/>
          <a:p>
            <a:r>
              <a:rPr lang="en-US" dirty="0"/>
              <a:t>Preliminary Results</a:t>
            </a:r>
          </a:p>
        </p:txBody>
      </p:sp>
      <p:pic>
        <p:nvPicPr>
          <p:cNvPr id="4" name="Picture 3">
            <a:extLst>
              <a:ext uri="{FF2B5EF4-FFF2-40B4-BE49-F238E27FC236}">
                <a16:creationId xmlns:a16="http://schemas.microsoft.com/office/drawing/2014/main" id="{864B5CD4-EC3D-F9BA-C6C2-F77BF2E6BF51}"/>
              </a:ext>
            </a:extLst>
          </p:cNvPr>
          <p:cNvPicPr>
            <a:picLocks noChangeAspect="1"/>
          </p:cNvPicPr>
          <p:nvPr/>
        </p:nvPicPr>
        <p:blipFill>
          <a:blip r:embed="rId2"/>
          <a:stretch>
            <a:fillRect/>
          </a:stretch>
        </p:blipFill>
        <p:spPr>
          <a:xfrm>
            <a:off x="173237" y="937302"/>
            <a:ext cx="6036385" cy="3664948"/>
          </a:xfrm>
          <a:prstGeom prst="rect">
            <a:avLst/>
          </a:prstGeom>
        </p:spPr>
      </p:pic>
      <p:pic>
        <p:nvPicPr>
          <p:cNvPr id="10" name="Picture 9">
            <a:extLst>
              <a:ext uri="{FF2B5EF4-FFF2-40B4-BE49-F238E27FC236}">
                <a16:creationId xmlns:a16="http://schemas.microsoft.com/office/drawing/2014/main" id="{EFAEFD93-895E-DF0A-F7DB-98E5D454F3C6}"/>
              </a:ext>
            </a:extLst>
          </p:cNvPr>
          <p:cNvPicPr>
            <a:picLocks noChangeAspect="1"/>
          </p:cNvPicPr>
          <p:nvPr/>
        </p:nvPicPr>
        <p:blipFill>
          <a:blip r:embed="rId3"/>
          <a:stretch>
            <a:fillRect/>
          </a:stretch>
        </p:blipFill>
        <p:spPr>
          <a:xfrm>
            <a:off x="5445930" y="929682"/>
            <a:ext cx="6458533" cy="3726077"/>
          </a:xfrm>
          <a:prstGeom prst="rect">
            <a:avLst/>
          </a:prstGeom>
        </p:spPr>
      </p:pic>
      <p:sp>
        <p:nvSpPr>
          <p:cNvPr id="12" name="Shape 2">
            <a:extLst>
              <a:ext uri="{FF2B5EF4-FFF2-40B4-BE49-F238E27FC236}">
                <a16:creationId xmlns:a16="http://schemas.microsoft.com/office/drawing/2014/main" id="{8C0BB7F4-C1E0-950A-DF5C-E974B9BA8B45}"/>
              </a:ext>
            </a:extLst>
          </p:cNvPr>
          <p:cNvSpPr/>
          <p:nvPr/>
        </p:nvSpPr>
        <p:spPr>
          <a:xfrm>
            <a:off x="802115" y="4602250"/>
            <a:ext cx="4259587" cy="998365"/>
          </a:xfrm>
          <a:prstGeom prst="roundRect">
            <a:avLst>
              <a:gd name="adj" fmla="val 3415"/>
            </a:avLst>
          </a:prstGeom>
          <a:solidFill>
            <a:srgbClr val="FFFFFF"/>
          </a:solidFill>
          <a:ln w="10160">
            <a:solidFill>
              <a:srgbClr val="CBD5E1"/>
            </a:solidFill>
            <a:prstDash val="solid"/>
          </a:ln>
        </p:spPr>
        <p:txBody>
          <a:bodyPr/>
          <a:lstStyle/>
          <a:p>
            <a:r>
              <a:rPr lang="en-US" sz="1600" dirty="0">
                <a:solidFill>
                  <a:srgbClr val="0F172A"/>
                </a:solidFill>
                <a:latin typeface="Aptos" pitchFamily="34" charset="0"/>
                <a:ea typeface="Aptos" pitchFamily="34" charset="-122"/>
                <a:cs typeface="Aptos" pitchFamily="34" charset="-120"/>
              </a:rPr>
              <a:t>Low voltage </a:t>
            </a:r>
            <a:r>
              <a:rPr lang="en-US" sz="1600" dirty="0" err="1">
                <a:solidFill>
                  <a:srgbClr val="0F172A"/>
                </a:solidFill>
                <a:latin typeface="Aptos" pitchFamily="34" charset="0"/>
                <a:ea typeface="Aptos" pitchFamily="34" charset="-122"/>
                <a:cs typeface="Aptos" pitchFamily="34" charset="-120"/>
              </a:rPr>
              <a:t>GaN</a:t>
            </a:r>
            <a:r>
              <a:rPr lang="en-US" sz="1600" dirty="0">
                <a:solidFill>
                  <a:srgbClr val="0F172A"/>
                </a:solidFill>
                <a:latin typeface="Aptos" pitchFamily="34" charset="0"/>
                <a:ea typeface="Aptos" pitchFamily="34" charset="-122"/>
                <a:cs typeface="Aptos" pitchFamily="34" charset="-120"/>
              </a:rPr>
              <a:t> often has excellent RDS(on), but its Coss can be large.</a:t>
            </a:r>
            <a:endParaRPr lang="en-US" sz="1600" dirty="0"/>
          </a:p>
          <a:p>
            <a:r>
              <a:rPr lang="en-US" sz="1600" dirty="0">
                <a:solidFill>
                  <a:srgbClr val="0F172A"/>
                </a:solidFill>
                <a:latin typeface="Aptos" pitchFamily="34" charset="0"/>
                <a:ea typeface="Aptos" pitchFamily="34" charset="-122"/>
                <a:cs typeface="Aptos" pitchFamily="34" charset="-120"/>
              </a:rPr>
              <a:t>The optimum depends on current, voltage per cell, and switching frequency.</a:t>
            </a:r>
            <a:endParaRPr lang="en-US" sz="1600" dirty="0"/>
          </a:p>
          <a:p>
            <a:endParaRPr lang="en-US" sz="1600" dirty="0"/>
          </a:p>
          <a:p>
            <a:endParaRPr lang="sv-SE" dirty="0"/>
          </a:p>
        </p:txBody>
      </p:sp>
      <p:sp>
        <p:nvSpPr>
          <p:cNvPr id="17" name="Shape 3">
            <a:extLst>
              <a:ext uri="{FF2B5EF4-FFF2-40B4-BE49-F238E27FC236}">
                <a16:creationId xmlns:a16="http://schemas.microsoft.com/office/drawing/2014/main" id="{B10C6D7C-1F38-7A65-BB60-C1B86F167CE5}"/>
              </a:ext>
            </a:extLst>
          </p:cNvPr>
          <p:cNvSpPr/>
          <p:nvPr/>
        </p:nvSpPr>
        <p:spPr>
          <a:xfrm>
            <a:off x="724388" y="4602250"/>
            <a:ext cx="77728" cy="998365"/>
          </a:xfrm>
          <a:prstGeom prst="rect">
            <a:avLst/>
          </a:prstGeom>
          <a:solidFill>
            <a:srgbClr val="2563EB"/>
          </a:solidFill>
          <a:ln w="12700">
            <a:solidFill>
              <a:srgbClr val="2563EB"/>
            </a:solidFill>
            <a:prstDash val="solid"/>
          </a:ln>
        </p:spPr>
        <p:txBody>
          <a:bodyPr/>
          <a:lstStyle/>
          <a:p>
            <a:endParaRPr lang="sv-SE"/>
          </a:p>
        </p:txBody>
      </p:sp>
      <p:sp>
        <p:nvSpPr>
          <p:cNvPr id="19" name="Shape 2">
            <a:extLst>
              <a:ext uri="{FF2B5EF4-FFF2-40B4-BE49-F238E27FC236}">
                <a16:creationId xmlns:a16="http://schemas.microsoft.com/office/drawing/2014/main" id="{9DA64716-B5C0-A190-3B44-B01FA10AD858}"/>
              </a:ext>
            </a:extLst>
          </p:cNvPr>
          <p:cNvSpPr/>
          <p:nvPr/>
        </p:nvSpPr>
        <p:spPr>
          <a:xfrm>
            <a:off x="6936214" y="4632815"/>
            <a:ext cx="4259587" cy="998365"/>
          </a:xfrm>
          <a:prstGeom prst="roundRect">
            <a:avLst>
              <a:gd name="adj" fmla="val 3415"/>
            </a:avLst>
          </a:prstGeom>
          <a:solidFill>
            <a:srgbClr val="FFFFFF"/>
          </a:solidFill>
          <a:ln w="10160">
            <a:solidFill>
              <a:srgbClr val="CBD5E1"/>
            </a:solidFill>
            <a:prstDash val="solid"/>
          </a:ln>
        </p:spPr>
        <p:txBody>
          <a:bodyPr/>
          <a:lstStyle/>
          <a:p>
            <a:r>
              <a:rPr lang="en-US" sz="1600" dirty="0">
                <a:solidFill>
                  <a:srgbClr val="0F172A"/>
                </a:solidFill>
                <a:latin typeface="Aptos" pitchFamily="34" charset="0"/>
                <a:ea typeface="Aptos" pitchFamily="34" charset="-122"/>
                <a:cs typeface="Aptos" pitchFamily="34" charset="-120"/>
              </a:rPr>
              <a:t>D-FOM alone does not decide the design.</a:t>
            </a:r>
            <a:endParaRPr lang="en-US" sz="1600" dirty="0"/>
          </a:p>
          <a:p>
            <a:r>
              <a:rPr lang="en-US" sz="1600" dirty="0">
                <a:solidFill>
                  <a:srgbClr val="0F172A"/>
                </a:solidFill>
                <a:latin typeface="Aptos" pitchFamily="34" charset="0"/>
                <a:ea typeface="Aptos" pitchFamily="34" charset="-122"/>
                <a:cs typeface="Aptos" pitchFamily="34" charset="-120"/>
              </a:rPr>
              <a:t>It only decides which devices deserve closer evaluation.</a:t>
            </a:r>
            <a:endParaRPr lang="en-US" sz="1600" dirty="0"/>
          </a:p>
          <a:p>
            <a:endParaRPr lang="en-US" sz="1600" dirty="0"/>
          </a:p>
          <a:p>
            <a:endParaRPr lang="sv-SE" dirty="0"/>
          </a:p>
        </p:txBody>
      </p:sp>
      <p:sp>
        <p:nvSpPr>
          <p:cNvPr id="24" name="Shape 7">
            <a:extLst>
              <a:ext uri="{FF2B5EF4-FFF2-40B4-BE49-F238E27FC236}">
                <a16:creationId xmlns:a16="http://schemas.microsoft.com/office/drawing/2014/main" id="{5588649E-5C6E-5A2B-300E-2B47CE37B1DB}"/>
              </a:ext>
            </a:extLst>
          </p:cNvPr>
          <p:cNvSpPr/>
          <p:nvPr/>
        </p:nvSpPr>
        <p:spPr>
          <a:xfrm>
            <a:off x="6858210" y="4632815"/>
            <a:ext cx="77728" cy="998365"/>
          </a:xfrm>
          <a:prstGeom prst="rect">
            <a:avLst/>
          </a:prstGeom>
          <a:solidFill>
            <a:srgbClr val="059669"/>
          </a:solidFill>
          <a:ln w="12700">
            <a:solidFill>
              <a:srgbClr val="059669"/>
            </a:solidFill>
            <a:prstDash val="solid"/>
          </a:ln>
        </p:spPr>
        <p:txBody>
          <a:bodyPr/>
          <a:lstStyle/>
          <a:p>
            <a:endParaRPr lang="sv-SE"/>
          </a:p>
        </p:txBody>
      </p:sp>
      <p:sp>
        <p:nvSpPr>
          <p:cNvPr id="26" name="Shape 2">
            <a:extLst>
              <a:ext uri="{FF2B5EF4-FFF2-40B4-BE49-F238E27FC236}">
                <a16:creationId xmlns:a16="http://schemas.microsoft.com/office/drawing/2014/main" id="{A72A7B8B-3B2A-5135-C1D6-C7ACF0CDBF97}"/>
              </a:ext>
            </a:extLst>
          </p:cNvPr>
          <p:cNvSpPr/>
          <p:nvPr/>
        </p:nvSpPr>
        <p:spPr>
          <a:xfrm>
            <a:off x="3966206" y="5745335"/>
            <a:ext cx="4259587" cy="998365"/>
          </a:xfrm>
          <a:prstGeom prst="roundRect">
            <a:avLst>
              <a:gd name="adj" fmla="val 3415"/>
            </a:avLst>
          </a:prstGeom>
          <a:solidFill>
            <a:srgbClr val="FFFFFF"/>
          </a:solidFill>
          <a:ln w="10160">
            <a:solidFill>
              <a:srgbClr val="CBD5E1"/>
            </a:solidFill>
            <a:prstDash val="solid"/>
          </a:ln>
        </p:spPr>
        <p:txBody>
          <a:bodyPr/>
          <a:lstStyle/>
          <a:p>
            <a:r>
              <a:rPr lang="en-US" sz="1600" b="1" dirty="0">
                <a:solidFill>
                  <a:srgbClr val="0F172A"/>
                </a:solidFill>
              </a:rPr>
              <a:t>Interpretation</a:t>
            </a:r>
            <a:endParaRPr lang="en-US" sz="1600" dirty="0"/>
          </a:p>
          <a:p>
            <a:r>
              <a:rPr lang="en-US" sz="1600" dirty="0">
                <a:solidFill>
                  <a:srgbClr val="475569"/>
                </a:solidFill>
              </a:rPr>
              <a:t>100–200 V devices look attractive, but only become feasible when enough cells are stacked.</a:t>
            </a:r>
            <a:endParaRPr lang="en-US" sz="1600" dirty="0"/>
          </a:p>
          <a:p>
            <a:endParaRPr lang="en-US" sz="1600" dirty="0"/>
          </a:p>
          <a:p>
            <a:endParaRPr lang="sv-SE" dirty="0"/>
          </a:p>
        </p:txBody>
      </p:sp>
      <p:sp>
        <p:nvSpPr>
          <p:cNvPr id="30" name="Shape 11">
            <a:extLst>
              <a:ext uri="{FF2B5EF4-FFF2-40B4-BE49-F238E27FC236}">
                <a16:creationId xmlns:a16="http://schemas.microsoft.com/office/drawing/2014/main" id="{20893B0A-468C-0E09-3FAF-27FB5613314C}"/>
              </a:ext>
            </a:extLst>
          </p:cNvPr>
          <p:cNvSpPr/>
          <p:nvPr/>
        </p:nvSpPr>
        <p:spPr>
          <a:xfrm>
            <a:off x="3888478" y="5745335"/>
            <a:ext cx="77728" cy="998365"/>
          </a:xfrm>
          <a:prstGeom prst="rect">
            <a:avLst/>
          </a:prstGeom>
          <a:solidFill>
            <a:srgbClr val="EA580C"/>
          </a:solidFill>
          <a:ln w="12700">
            <a:solidFill>
              <a:srgbClr val="EA580C"/>
            </a:solidFill>
            <a:prstDash val="solid"/>
          </a:ln>
        </p:spPr>
        <p:txBody>
          <a:bodyPr/>
          <a:lstStyle/>
          <a:p>
            <a:endParaRPr lang="sv-SE"/>
          </a:p>
        </p:txBody>
      </p:sp>
    </p:spTree>
    <p:extLst>
      <p:ext uri="{BB962C8B-B14F-4D97-AF65-F5344CB8AC3E}">
        <p14:creationId xmlns:p14="http://schemas.microsoft.com/office/powerpoint/2010/main" val="2118115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7F58D-2368-D936-08F3-40EDD1FF4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D0C6E-3852-6BD3-B0CC-8385832B6451}"/>
              </a:ext>
            </a:extLst>
          </p:cNvPr>
          <p:cNvSpPr>
            <a:spLocks noGrp="1"/>
          </p:cNvSpPr>
          <p:nvPr>
            <p:ph type="title"/>
          </p:nvPr>
        </p:nvSpPr>
        <p:spPr>
          <a:xfrm>
            <a:off x="1028500" y="368890"/>
            <a:ext cx="11102540" cy="568412"/>
          </a:xfrm>
        </p:spPr>
        <p:txBody>
          <a:bodyPr/>
          <a:lstStyle/>
          <a:p>
            <a:r>
              <a:rPr lang="en-US" sz="2400" dirty="0"/>
              <a:t>Discrete levels: the x-axis is constrained by available device classes</a:t>
            </a:r>
            <a:br>
              <a:rPr lang="en-US" dirty="0"/>
            </a:br>
            <a:endParaRPr lang="en-US" dirty="0"/>
          </a:p>
        </p:txBody>
      </p:sp>
      <p:sp>
        <p:nvSpPr>
          <p:cNvPr id="12" name="Shape 2">
            <a:extLst>
              <a:ext uri="{FF2B5EF4-FFF2-40B4-BE49-F238E27FC236}">
                <a16:creationId xmlns:a16="http://schemas.microsoft.com/office/drawing/2014/main" id="{66B48865-AAEC-0B83-49DB-18297A9E4C8D}"/>
              </a:ext>
            </a:extLst>
          </p:cNvPr>
          <p:cNvSpPr/>
          <p:nvPr/>
        </p:nvSpPr>
        <p:spPr>
          <a:xfrm>
            <a:off x="4245855" y="1226820"/>
            <a:ext cx="2047292" cy="998365"/>
          </a:xfrm>
          <a:prstGeom prst="roundRect">
            <a:avLst>
              <a:gd name="adj" fmla="val 3415"/>
            </a:avLst>
          </a:prstGeom>
          <a:solidFill>
            <a:srgbClr val="FFFFFF"/>
          </a:solidFill>
          <a:ln w="10160">
            <a:solidFill>
              <a:srgbClr val="CBD5E1"/>
            </a:solidFill>
            <a:prstDash val="solid"/>
          </a:ln>
        </p:spPr>
        <p:txBody>
          <a:bodyPr/>
          <a:lstStyle/>
          <a:p>
            <a:r>
              <a:rPr lang="en-US" sz="1600" b="1" dirty="0">
                <a:solidFill>
                  <a:srgbClr val="0F172A"/>
                </a:solidFill>
              </a:rPr>
              <a:t>650 V </a:t>
            </a:r>
            <a:r>
              <a:rPr lang="en-US" sz="1600" b="1" dirty="0" err="1">
                <a:solidFill>
                  <a:srgbClr val="0F172A"/>
                </a:solidFill>
              </a:rPr>
              <a:t>GaN</a:t>
            </a:r>
            <a:endParaRPr lang="en-US" sz="1600" dirty="0"/>
          </a:p>
          <a:p>
            <a:r>
              <a:rPr lang="en-US" sz="1600" dirty="0">
                <a:solidFill>
                  <a:srgbClr val="475569"/>
                </a:solidFill>
              </a:rPr>
              <a:t>cells ≈ 3</a:t>
            </a:r>
            <a:endParaRPr lang="en-US" sz="1600" dirty="0"/>
          </a:p>
          <a:p>
            <a:r>
              <a:rPr lang="en-US" sz="1600" dirty="0">
                <a:solidFill>
                  <a:srgbClr val="475569"/>
                </a:solidFill>
              </a:rPr>
              <a:t>simple, mature</a:t>
            </a:r>
            <a:endParaRPr lang="en-US" sz="1600" dirty="0"/>
          </a:p>
          <a:p>
            <a:endParaRPr lang="en-US" sz="1600" dirty="0"/>
          </a:p>
          <a:p>
            <a:endParaRPr lang="en-US" sz="1600" dirty="0"/>
          </a:p>
          <a:p>
            <a:endParaRPr lang="sv-SE" dirty="0"/>
          </a:p>
        </p:txBody>
      </p:sp>
      <p:sp>
        <p:nvSpPr>
          <p:cNvPr id="17" name="Shape 3">
            <a:extLst>
              <a:ext uri="{FF2B5EF4-FFF2-40B4-BE49-F238E27FC236}">
                <a16:creationId xmlns:a16="http://schemas.microsoft.com/office/drawing/2014/main" id="{4D66D9DA-B197-94D9-CEDB-4B8C9CF03C79}"/>
              </a:ext>
            </a:extLst>
          </p:cNvPr>
          <p:cNvSpPr/>
          <p:nvPr/>
        </p:nvSpPr>
        <p:spPr>
          <a:xfrm>
            <a:off x="4206991" y="1226820"/>
            <a:ext cx="77728" cy="998365"/>
          </a:xfrm>
          <a:prstGeom prst="rect">
            <a:avLst/>
          </a:prstGeom>
          <a:solidFill>
            <a:srgbClr val="2563EB"/>
          </a:solidFill>
          <a:ln w="12700">
            <a:solidFill>
              <a:srgbClr val="2563EB"/>
            </a:solidFill>
            <a:prstDash val="solid"/>
          </a:ln>
        </p:spPr>
        <p:txBody>
          <a:bodyPr/>
          <a:lstStyle/>
          <a:p>
            <a:endParaRPr lang="sv-SE"/>
          </a:p>
        </p:txBody>
      </p:sp>
      <p:sp>
        <p:nvSpPr>
          <p:cNvPr id="5" name="Shape 2">
            <a:extLst>
              <a:ext uri="{FF2B5EF4-FFF2-40B4-BE49-F238E27FC236}">
                <a16:creationId xmlns:a16="http://schemas.microsoft.com/office/drawing/2014/main" id="{5614F995-C408-CF44-F6D5-F290D21D7B64}"/>
              </a:ext>
            </a:extLst>
          </p:cNvPr>
          <p:cNvSpPr/>
          <p:nvPr/>
        </p:nvSpPr>
        <p:spPr>
          <a:xfrm>
            <a:off x="6691335" y="1230433"/>
            <a:ext cx="2047292" cy="998365"/>
          </a:xfrm>
          <a:prstGeom prst="roundRect">
            <a:avLst>
              <a:gd name="adj" fmla="val 3415"/>
            </a:avLst>
          </a:prstGeom>
          <a:solidFill>
            <a:srgbClr val="FFFFFF"/>
          </a:solidFill>
          <a:ln w="10160">
            <a:solidFill>
              <a:srgbClr val="CBD5E1"/>
            </a:solidFill>
            <a:prstDash val="solid"/>
          </a:ln>
        </p:spPr>
        <p:txBody>
          <a:bodyPr/>
          <a:lstStyle/>
          <a:p>
            <a:r>
              <a:rPr lang="en-US" sz="1600" b="1" dirty="0">
                <a:solidFill>
                  <a:srgbClr val="0F172A"/>
                </a:solidFill>
              </a:rPr>
              <a:t>200 V </a:t>
            </a:r>
            <a:r>
              <a:rPr lang="en-US" sz="1600" b="1" dirty="0" err="1">
                <a:solidFill>
                  <a:srgbClr val="0F172A"/>
                </a:solidFill>
              </a:rPr>
              <a:t>GaN</a:t>
            </a:r>
            <a:endParaRPr lang="en-US" sz="1600" dirty="0"/>
          </a:p>
          <a:p>
            <a:r>
              <a:rPr lang="en-US" sz="1600" dirty="0">
                <a:solidFill>
                  <a:srgbClr val="475569"/>
                </a:solidFill>
              </a:rPr>
              <a:t>cells ≈ 8</a:t>
            </a:r>
            <a:endParaRPr lang="en-US" sz="1600" dirty="0"/>
          </a:p>
          <a:p>
            <a:r>
              <a:rPr lang="en-US" sz="1600" dirty="0">
                <a:solidFill>
                  <a:srgbClr val="475569"/>
                </a:solidFill>
              </a:rPr>
              <a:t>Low voltage</a:t>
            </a:r>
            <a:endParaRPr lang="en-US" sz="1600" dirty="0"/>
          </a:p>
          <a:p>
            <a:endParaRPr lang="en-US" sz="1600" dirty="0"/>
          </a:p>
          <a:p>
            <a:endParaRPr lang="en-US" sz="1600" dirty="0"/>
          </a:p>
          <a:p>
            <a:endParaRPr lang="sv-SE" dirty="0"/>
          </a:p>
        </p:txBody>
      </p:sp>
      <p:sp>
        <p:nvSpPr>
          <p:cNvPr id="9" name="Shape 2">
            <a:extLst>
              <a:ext uri="{FF2B5EF4-FFF2-40B4-BE49-F238E27FC236}">
                <a16:creationId xmlns:a16="http://schemas.microsoft.com/office/drawing/2014/main" id="{676E8B1F-A529-55C0-13BD-13B889073F76}"/>
              </a:ext>
            </a:extLst>
          </p:cNvPr>
          <p:cNvSpPr/>
          <p:nvPr/>
        </p:nvSpPr>
        <p:spPr>
          <a:xfrm>
            <a:off x="9136815" y="1226820"/>
            <a:ext cx="2047292" cy="998365"/>
          </a:xfrm>
          <a:prstGeom prst="roundRect">
            <a:avLst>
              <a:gd name="adj" fmla="val 3415"/>
            </a:avLst>
          </a:prstGeom>
          <a:solidFill>
            <a:srgbClr val="FFFFFF"/>
          </a:solidFill>
          <a:ln w="10160">
            <a:solidFill>
              <a:srgbClr val="CBD5E1"/>
            </a:solidFill>
            <a:prstDash val="solid"/>
          </a:ln>
        </p:spPr>
        <p:txBody>
          <a:bodyPr/>
          <a:lstStyle/>
          <a:p>
            <a:r>
              <a:rPr lang="en-US" sz="1600" b="1" dirty="0">
                <a:solidFill>
                  <a:srgbClr val="0F172A"/>
                </a:solidFill>
              </a:rPr>
              <a:t>100 V </a:t>
            </a:r>
            <a:r>
              <a:rPr lang="en-US" sz="1600" b="1" dirty="0" err="1">
                <a:solidFill>
                  <a:srgbClr val="0F172A"/>
                </a:solidFill>
              </a:rPr>
              <a:t>GaN</a:t>
            </a:r>
            <a:endParaRPr lang="en-US" sz="1600" dirty="0"/>
          </a:p>
          <a:p>
            <a:r>
              <a:rPr lang="en-US" sz="1600" dirty="0">
                <a:solidFill>
                  <a:srgbClr val="475569"/>
                </a:solidFill>
              </a:rPr>
              <a:t>cells ≈ 15</a:t>
            </a:r>
            <a:endParaRPr lang="en-US" sz="1600" dirty="0"/>
          </a:p>
          <a:p>
            <a:r>
              <a:rPr lang="en-US" sz="1600" dirty="0">
                <a:solidFill>
                  <a:srgbClr val="475569"/>
                </a:solidFill>
              </a:rPr>
              <a:t>Aggressive low-voltage</a:t>
            </a:r>
            <a:endParaRPr lang="en-US" sz="1600" dirty="0"/>
          </a:p>
          <a:p>
            <a:endParaRPr lang="en-US" sz="1600" dirty="0"/>
          </a:p>
          <a:p>
            <a:endParaRPr lang="sv-SE" dirty="0"/>
          </a:p>
        </p:txBody>
      </p:sp>
      <p:sp>
        <p:nvSpPr>
          <p:cNvPr id="15" name="Shape 7">
            <a:extLst>
              <a:ext uri="{FF2B5EF4-FFF2-40B4-BE49-F238E27FC236}">
                <a16:creationId xmlns:a16="http://schemas.microsoft.com/office/drawing/2014/main" id="{E3777B12-02A9-B639-F402-FC5FE54265EA}"/>
              </a:ext>
            </a:extLst>
          </p:cNvPr>
          <p:cNvSpPr/>
          <p:nvPr/>
        </p:nvSpPr>
        <p:spPr>
          <a:xfrm>
            <a:off x="6620134" y="1226819"/>
            <a:ext cx="77728" cy="998365"/>
          </a:xfrm>
          <a:prstGeom prst="rect">
            <a:avLst/>
          </a:prstGeom>
          <a:solidFill>
            <a:srgbClr val="059669"/>
          </a:solidFill>
          <a:ln w="12700">
            <a:solidFill>
              <a:srgbClr val="059669"/>
            </a:solidFill>
            <a:prstDash val="solid"/>
          </a:ln>
        </p:spPr>
        <p:txBody>
          <a:bodyPr/>
          <a:lstStyle/>
          <a:p>
            <a:endParaRPr lang="sv-SE"/>
          </a:p>
        </p:txBody>
      </p:sp>
      <p:sp>
        <p:nvSpPr>
          <p:cNvPr id="18" name="Shape 11">
            <a:extLst>
              <a:ext uri="{FF2B5EF4-FFF2-40B4-BE49-F238E27FC236}">
                <a16:creationId xmlns:a16="http://schemas.microsoft.com/office/drawing/2014/main" id="{B1B95D3E-CCC0-1CFD-9326-100157C08F4C}"/>
              </a:ext>
            </a:extLst>
          </p:cNvPr>
          <p:cNvSpPr/>
          <p:nvPr/>
        </p:nvSpPr>
        <p:spPr>
          <a:xfrm>
            <a:off x="9059087" y="1226819"/>
            <a:ext cx="77728" cy="998365"/>
          </a:xfrm>
          <a:prstGeom prst="rect">
            <a:avLst/>
          </a:prstGeom>
          <a:solidFill>
            <a:srgbClr val="EA580C"/>
          </a:solidFill>
          <a:ln w="12700">
            <a:solidFill>
              <a:srgbClr val="EA580C"/>
            </a:solidFill>
            <a:prstDash val="solid"/>
          </a:ln>
        </p:spPr>
        <p:txBody>
          <a:bodyPr/>
          <a:lstStyle/>
          <a:p>
            <a:endParaRPr lang="sv-SE"/>
          </a:p>
        </p:txBody>
      </p:sp>
      <mc:AlternateContent xmlns:mc="http://schemas.openxmlformats.org/markup-compatibility/2006">
        <mc:Choice xmlns:a14="http://schemas.microsoft.com/office/drawing/2010/main" Requires="a14">
          <p:sp>
            <p:nvSpPr>
              <p:cNvPr id="21" name="Shape 15">
                <a:extLst>
                  <a:ext uri="{FF2B5EF4-FFF2-40B4-BE49-F238E27FC236}">
                    <a16:creationId xmlns:a16="http://schemas.microsoft.com/office/drawing/2014/main" id="{DB92EC03-7A9E-EE0D-C17A-1C958E169DCE}"/>
                  </a:ext>
                </a:extLst>
              </p:cNvPr>
              <p:cNvSpPr/>
              <p:nvPr/>
            </p:nvSpPr>
            <p:spPr>
              <a:xfrm>
                <a:off x="175260" y="1463151"/>
                <a:ext cx="3510862" cy="662452"/>
              </a:xfrm>
              <a:prstGeom prst="roundRect">
                <a:avLst>
                  <a:gd name="adj" fmla="val 18750"/>
                </a:avLst>
              </a:prstGeom>
              <a:solidFill>
                <a:srgbClr val="DEF0FF"/>
              </a:solidFill>
              <a:ln w="12700">
                <a:solidFill>
                  <a:srgbClr val="DEF0FF"/>
                </a:solidFill>
                <a:prstDash val="solid"/>
              </a:ln>
            </p:spPr>
            <p:txBody>
              <a:bodyPr/>
              <a:lstStyle/>
              <a:p>
                <a:pPr algn="ctr"/>
                <a14:m>
                  <m:oMathPara xmlns:m="http://schemas.openxmlformats.org/officeDocument/2006/math">
                    <m:oMath>
                      <m:r>
                        <a:rPr lang="en-US" i="1" dirty="0" smtClean="0">
                          <a:solidFill>
                            <a:srgbClr val="0F172A"/>
                          </a:solidFill>
                          <a:latin typeface="Cambria Math" panose="02040503050406030204" pitchFamily="18" charset="0"/>
                          <a:ea typeface="Aptos" pitchFamily="34" charset="-122"/>
                          <a:cs typeface="Aptos" pitchFamily="34" charset="-120"/>
                        </a:rPr>
                        <m:t>𝑐𝑒𝑙𝑙𝑠</m:t>
                      </m:r>
                      <m:r>
                        <a:rPr lang="en-US" i="1" dirty="0" smtClean="0">
                          <a:solidFill>
                            <a:srgbClr val="0F172A"/>
                          </a:solidFill>
                          <a:latin typeface="Cambria Math" panose="02040503050406030204" pitchFamily="18" charset="0"/>
                          <a:ea typeface="Aptos" pitchFamily="34" charset="-122"/>
                          <a:cs typeface="Aptos" pitchFamily="34" charset="-120"/>
                        </a:rPr>
                        <m:t> = </m:t>
                      </m:r>
                      <m:r>
                        <a:rPr lang="en-US" i="1" dirty="0" smtClean="0">
                          <a:solidFill>
                            <a:srgbClr val="0F172A"/>
                          </a:solidFill>
                          <a:latin typeface="Cambria Math" panose="02040503050406030204" pitchFamily="18" charset="0"/>
                          <a:ea typeface="Aptos" pitchFamily="34" charset="-122"/>
                          <a:cs typeface="Aptos" pitchFamily="34" charset="-120"/>
                        </a:rPr>
                        <m:t>𝑐𝑒𝑖𝑙</m:t>
                      </m:r>
                      <m:r>
                        <a:rPr lang="en-US" i="1" dirty="0" smtClean="0">
                          <a:solidFill>
                            <a:srgbClr val="0F172A"/>
                          </a:solidFill>
                          <a:latin typeface="Cambria Math" panose="02040503050406030204" pitchFamily="18" charset="0"/>
                          <a:ea typeface="Aptos" pitchFamily="34" charset="-122"/>
                          <a:cs typeface="Aptos" pitchFamily="34" charset="-120"/>
                        </a:rPr>
                        <m:t>(</m:t>
                      </m:r>
                      <m:r>
                        <a:rPr lang="en-US" i="1" dirty="0" err="1" smtClean="0">
                          <a:solidFill>
                            <a:srgbClr val="0F172A"/>
                          </a:solidFill>
                          <a:latin typeface="Cambria Math" panose="02040503050406030204" pitchFamily="18" charset="0"/>
                          <a:ea typeface="Aptos" pitchFamily="34" charset="-122"/>
                          <a:cs typeface="Aptos" pitchFamily="34" charset="-120"/>
                        </a:rPr>
                        <m:t>𝑘𝑠</m:t>
                      </m:r>
                      <m:r>
                        <a:rPr lang="en-US" i="1" dirty="0" smtClean="0">
                          <a:solidFill>
                            <a:srgbClr val="0F172A"/>
                          </a:solidFill>
                          <a:latin typeface="Cambria Math" panose="02040503050406030204" pitchFamily="18" charset="0"/>
                          <a:ea typeface="Aptos" pitchFamily="34" charset="-122"/>
                          <a:cs typeface="Aptos" pitchFamily="34" charset="-120"/>
                        </a:rPr>
                        <m:t> · </m:t>
                      </m:r>
                      <m:f>
                        <m:fPr>
                          <m:ctrlPr>
                            <a:rPr lang="en-US" i="1" dirty="0">
                              <a:solidFill>
                                <a:srgbClr val="0F172A"/>
                              </a:solidFill>
                              <a:latin typeface="Cambria Math" panose="02040503050406030204" pitchFamily="18" charset="0"/>
                              <a:ea typeface="Aptos" pitchFamily="34" charset="-122"/>
                              <a:cs typeface="Aptos" pitchFamily="34" charset="-120"/>
                            </a:rPr>
                          </m:ctrlPr>
                        </m:fPr>
                        <m:num>
                          <m:sSub>
                            <m:sSubPr>
                              <m:ctrlPr>
                                <a:rPr lang="en-US" i="1" dirty="0">
                                  <a:solidFill>
                                    <a:srgbClr val="0F172A"/>
                                  </a:solidFill>
                                  <a:latin typeface="Cambria Math" panose="02040503050406030204" pitchFamily="18" charset="0"/>
                                  <a:ea typeface="Aptos" pitchFamily="34" charset="-122"/>
                                  <a:cs typeface="Aptos" pitchFamily="34" charset="-120"/>
                                </a:rPr>
                              </m:ctrlPr>
                            </m:sSubPr>
                            <m:e>
                              <m:r>
                                <a:rPr lang="en-US" i="1" dirty="0">
                                  <a:solidFill>
                                    <a:srgbClr val="0F172A"/>
                                  </a:solidFill>
                                  <a:latin typeface="Cambria Math" panose="02040503050406030204" pitchFamily="18" charset="0"/>
                                  <a:ea typeface="Aptos" pitchFamily="34" charset="-122"/>
                                  <a:cs typeface="Aptos" pitchFamily="34" charset="-120"/>
                                </a:rPr>
                                <m:t>𝑉</m:t>
                              </m:r>
                            </m:e>
                            <m:sub>
                              <m:r>
                                <a:rPr lang="en-US" i="1" dirty="0">
                                  <a:solidFill>
                                    <a:srgbClr val="0F172A"/>
                                  </a:solidFill>
                                  <a:latin typeface="Cambria Math" panose="02040503050406030204" pitchFamily="18" charset="0"/>
                                  <a:ea typeface="Aptos" pitchFamily="34" charset="-122"/>
                                  <a:cs typeface="Aptos" pitchFamily="34" charset="-120"/>
                                </a:rPr>
                                <m:t>𝐷𝐶</m:t>
                              </m:r>
                            </m:sub>
                          </m:sSub>
                        </m:num>
                        <m:den>
                          <m:sSub>
                            <m:sSubPr>
                              <m:ctrlPr>
                                <a:rPr lang="en-US" i="1" dirty="0">
                                  <a:solidFill>
                                    <a:srgbClr val="0F172A"/>
                                  </a:solidFill>
                                  <a:latin typeface="Cambria Math" panose="02040503050406030204" pitchFamily="18" charset="0"/>
                                  <a:ea typeface="Aptos" pitchFamily="34" charset="-122"/>
                                  <a:cs typeface="Aptos" pitchFamily="34" charset="-120"/>
                                </a:rPr>
                              </m:ctrlPr>
                            </m:sSubPr>
                            <m:e>
                              <m:r>
                                <a:rPr lang="en-US" i="1" dirty="0">
                                  <a:solidFill>
                                    <a:srgbClr val="0F172A"/>
                                  </a:solidFill>
                                  <a:latin typeface="Cambria Math" panose="02040503050406030204" pitchFamily="18" charset="0"/>
                                  <a:ea typeface="Aptos" pitchFamily="34" charset="-122"/>
                                  <a:cs typeface="Aptos" pitchFamily="34" charset="-120"/>
                                </a:rPr>
                                <m:t>𝑉</m:t>
                              </m:r>
                            </m:e>
                            <m:sub>
                              <m:r>
                                <a:rPr lang="en-US" i="1" dirty="0">
                                  <a:solidFill>
                                    <a:srgbClr val="0F172A"/>
                                  </a:solidFill>
                                  <a:latin typeface="Cambria Math" panose="02040503050406030204" pitchFamily="18" charset="0"/>
                                  <a:ea typeface="Aptos" pitchFamily="34" charset="-122"/>
                                  <a:cs typeface="Aptos" pitchFamily="34" charset="-120"/>
                                </a:rPr>
                                <m:t>𝑑𝑒𝑣𝑖𝑐𝑒</m:t>
                              </m:r>
                              <m:r>
                                <a:rPr lang="en-US" b="0" i="1" dirty="0" smtClean="0">
                                  <a:solidFill>
                                    <a:srgbClr val="0F172A"/>
                                  </a:solidFill>
                                  <a:latin typeface="Cambria Math" panose="02040503050406030204" pitchFamily="18" charset="0"/>
                                  <a:ea typeface="Aptos" pitchFamily="34" charset="-122"/>
                                  <a:cs typeface="Aptos" pitchFamily="34" charset="-120"/>
                                </a:rPr>
                                <m:t>,</m:t>
                              </m:r>
                              <m:r>
                                <a:rPr lang="en-US" b="0" i="1" dirty="0" smtClean="0">
                                  <a:solidFill>
                                    <a:srgbClr val="0F172A"/>
                                  </a:solidFill>
                                  <a:latin typeface="Cambria Math" panose="02040503050406030204" pitchFamily="18" charset="0"/>
                                  <a:ea typeface="Aptos" pitchFamily="34" charset="-122"/>
                                  <a:cs typeface="Aptos" pitchFamily="34" charset="-120"/>
                                </a:rPr>
                                <m:t>𝑟𝑎𝑡𝑒𝑑</m:t>
                              </m:r>
                            </m:sub>
                          </m:sSub>
                        </m:den>
                      </m:f>
                      <m:r>
                        <a:rPr lang="en-US" i="1" dirty="0">
                          <a:solidFill>
                            <a:srgbClr val="0F172A"/>
                          </a:solidFill>
                          <a:latin typeface="Cambria Math" panose="02040503050406030204" pitchFamily="18" charset="0"/>
                          <a:ea typeface="Aptos" pitchFamily="34" charset="-122"/>
                          <a:cs typeface="Aptos" pitchFamily="34" charset="-120"/>
                        </a:rPr>
                        <m:t>)</m:t>
                      </m:r>
                    </m:oMath>
                  </m:oMathPara>
                </a14:m>
              </a:p>
              <a:p>
                <a:pPr algn="ctr"/>
                <a:endParaRPr dirty="0"/>
              </a:p>
            </p:txBody>
          </p:sp>
        </mc:Choice>
        <mc:Fallback>
          <p:sp>
            <p:nvSpPr>
              <p:cNvPr id="21" name="Shape 15">
                <a:extLst>
                  <a:ext uri="{FF2B5EF4-FFF2-40B4-BE49-F238E27FC236}">
                    <a16:creationId xmlns:a16="http://schemas.microsoft.com/office/drawing/2014/main" id="{DB92EC03-7A9E-EE0D-C17A-1C958E169DCE}"/>
                  </a:ext>
                </a:extLst>
              </p:cNvPr>
              <p:cNvSpPr>
                <a:spLocks noRot="1" noChangeAspect="1" noMove="1" noResize="1" noEditPoints="1" noAdjustHandles="1" noChangeArrowheads="1" noChangeShapeType="1" noTextEdit="1"/>
              </p:cNvSpPr>
              <p:nvPr/>
            </p:nvSpPr>
            <p:spPr>
              <a:xfrm>
                <a:off x="175260" y="1463151"/>
                <a:ext cx="3510862" cy="662452"/>
              </a:xfrm>
              <a:prstGeom prst="roundRect">
                <a:avLst>
                  <a:gd name="adj" fmla="val 18750"/>
                </a:avLst>
              </a:prstGeom>
              <a:blipFill>
                <a:blip r:embed="rId2"/>
                <a:stretch>
                  <a:fillRect/>
                </a:stretch>
              </a:blipFill>
              <a:ln w="12700">
                <a:solidFill>
                  <a:srgbClr val="DEF0FF"/>
                </a:solidFill>
                <a:prstDash val="solid"/>
              </a:ln>
            </p:spPr>
            <p:txBody>
              <a:bodyPr/>
              <a:lstStyle/>
              <a:p>
                <a:r>
                  <a:rPr lang="sv-SE">
                    <a:noFill/>
                  </a:rPr>
                  <a:t> </a:t>
                </a:r>
              </a:p>
            </p:txBody>
          </p:sp>
        </mc:Fallback>
      </mc:AlternateContent>
      <p:sp>
        <p:nvSpPr>
          <p:cNvPr id="23" name="Shape 16">
            <a:extLst>
              <a:ext uri="{FF2B5EF4-FFF2-40B4-BE49-F238E27FC236}">
                <a16:creationId xmlns:a16="http://schemas.microsoft.com/office/drawing/2014/main" id="{27C3FF97-F980-FC5B-99AC-40B249C637A4}"/>
              </a:ext>
            </a:extLst>
          </p:cNvPr>
          <p:cNvSpPr/>
          <p:nvPr/>
        </p:nvSpPr>
        <p:spPr>
          <a:xfrm>
            <a:off x="868680" y="3345180"/>
            <a:ext cx="10418041" cy="7620"/>
          </a:xfrm>
          <a:prstGeom prst="line">
            <a:avLst/>
          </a:prstGeom>
          <a:noFill/>
          <a:ln w="25400">
            <a:solidFill>
              <a:srgbClr val="CBD5E1"/>
            </a:solidFill>
            <a:prstDash val="solid"/>
          </a:ln>
        </p:spPr>
        <p:txBody>
          <a:bodyPr/>
          <a:lstStyle/>
          <a:p>
            <a:endParaRPr lang="sv-SE"/>
          </a:p>
        </p:txBody>
      </p:sp>
      <p:sp>
        <p:nvSpPr>
          <p:cNvPr id="27" name="Shape 17">
            <a:extLst>
              <a:ext uri="{FF2B5EF4-FFF2-40B4-BE49-F238E27FC236}">
                <a16:creationId xmlns:a16="http://schemas.microsoft.com/office/drawing/2014/main" id="{38AC1F80-860A-FED3-AA37-DF07F2527612}"/>
              </a:ext>
            </a:extLst>
          </p:cNvPr>
          <p:cNvSpPr/>
          <p:nvPr/>
        </p:nvSpPr>
        <p:spPr>
          <a:xfrm>
            <a:off x="960120" y="3208020"/>
            <a:ext cx="0" cy="274320"/>
          </a:xfrm>
          <a:prstGeom prst="line">
            <a:avLst/>
          </a:prstGeom>
          <a:noFill/>
          <a:ln w="15240">
            <a:solidFill>
              <a:srgbClr val="475569"/>
            </a:solidFill>
            <a:prstDash val="solid"/>
          </a:ln>
        </p:spPr>
        <p:txBody>
          <a:bodyPr/>
          <a:lstStyle/>
          <a:p>
            <a:endParaRPr lang="sv-SE"/>
          </a:p>
        </p:txBody>
      </p:sp>
      <p:sp>
        <p:nvSpPr>
          <p:cNvPr id="29" name="Text 18">
            <a:extLst>
              <a:ext uri="{FF2B5EF4-FFF2-40B4-BE49-F238E27FC236}">
                <a16:creationId xmlns:a16="http://schemas.microsoft.com/office/drawing/2014/main" id="{2E0DA022-E06A-4ECA-B4EE-16FE4CEE5567}"/>
              </a:ext>
            </a:extLst>
          </p:cNvPr>
          <p:cNvSpPr/>
          <p:nvPr/>
        </p:nvSpPr>
        <p:spPr>
          <a:xfrm>
            <a:off x="822960" y="3500628"/>
            <a:ext cx="274320" cy="182880"/>
          </a:xfrm>
          <a:prstGeom prst="rect">
            <a:avLst/>
          </a:prstGeom>
          <a:noFill/>
          <a:ln/>
        </p:spPr>
        <p:txBody>
          <a:bodyPr wrap="square" lIns="0" tIns="0" rIns="0" bIns="0" rtlCol="0" anchor="ctr"/>
          <a:lstStyle/>
          <a:p>
            <a:pPr marL="0" indent="0" algn="ctr">
              <a:buNone/>
            </a:pPr>
            <a:r>
              <a:rPr lang="en-US" sz="1000" dirty="0">
                <a:solidFill>
                  <a:srgbClr val="475569"/>
                </a:solidFill>
              </a:rPr>
              <a:t>3</a:t>
            </a:r>
            <a:endParaRPr lang="en-US" sz="1000" dirty="0"/>
          </a:p>
        </p:txBody>
      </p:sp>
      <p:sp>
        <p:nvSpPr>
          <p:cNvPr id="32" name="Shape 19">
            <a:extLst>
              <a:ext uri="{FF2B5EF4-FFF2-40B4-BE49-F238E27FC236}">
                <a16:creationId xmlns:a16="http://schemas.microsoft.com/office/drawing/2014/main" id="{2850C8C6-27B5-85F3-10A0-883D8B79C914}"/>
              </a:ext>
            </a:extLst>
          </p:cNvPr>
          <p:cNvSpPr/>
          <p:nvPr/>
        </p:nvSpPr>
        <p:spPr>
          <a:xfrm>
            <a:off x="2879873" y="3194304"/>
            <a:ext cx="0" cy="274320"/>
          </a:xfrm>
          <a:prstGeom prst="line">
            <a:avLst/>
          </a:prstGeom>
          <a:noFill/>
          <a:ln w="15240">
            <a:solidFill>
              <a:srgbClr val="475569"/>
            </a:solidFill>
            <a:prstDash val="solid"/>
          </a:ln>
        </p:spPr>
        <p:txBody>
          <a:bodyPr/>
          <a:lstStyle/>
          <a:p>
            <a:endParaRPr lang="sv-SE"/>
          </a:p>
        </p:txBody>
      </p:sp>
      <p:sp>
        <p:nvSpPr>
          <p:cNvPr id="34" name="Text 20">
            <a:extLst>
              <a:ext uri="{FF2B5EF4-FFF2-40B4-BE49-F238E27FC236}">
                <a16:creationId xmlns:a16="http://schemas.microsoft.com/office/drawing/2014/main" id="{81218E93-5C83-9DDA-96D3-372F85223955}"/>
              </a:ext>
            </a:extLst>
          </p:cNvPr>
          <p:cNvSpPr/>
          <p:nvPr/>
        </p:nvSpPr>
        <p:spPr>
          <a:xfrm>
            <a:off x="2742713" y="3486912"/>
            <a:ext cx="274320" cy="182880"/>
          </a:xfrm>
          <a:prstGeom prst="rect">
            <a:avLst/>
          </a:prstGeom>
          <a:noFill/>
          <a:ln/>
        </p:spPr>
        <p:txBody>
          <a:bodyPr wrap="square" lIns="0" tIns="0" rIns="0" bIns="0" rtlCol="0" anchor="ctr"/>
          <a:lstStyle/>
          <a:p>
            <a:pPr marL="0" indent="0" algn="ctr">
              <a:buNone/>
            </a:pPr>
            <a:r>
              <a:rPr lang="en-US" sz="1000" dirty="0">
                <a:solidFill>
                  <a:srgbClr val="475569"/>
                </a:solidFill>
              </a:rPr>
              <a:t>6</a:t>
            </a:r>
            <a:endParaRPr lang="en-US" sz="1000" dirty="0"/>
          </a:p>
        </p:txBody>
      </p:sp>
      <p:sp>
        <p:nvSpPr>
          <p:cNvPr id="36" name="Shape 21">
            <a:extLst>
              <a:ext uri="{FF2B5EF4-FFF2-40B4-BE49-F238E27FC236}">
                <a16:creationId xmlns:a16="http://schemas.microsoft.com/office/drawing/2014/main" id="{E164B21E-C1CA-1130-580D-19F9F89998AB}"/>
              </a:ext>
            </a:extLst>
          </p:cNvPr>
          <p:cNvSpPr/>
          <p:nvPr/>
        </p:nvSpPr>
        <p:spPr>
          <a:xfrm>
            <a:off x="4829620" y="3194304"/>
            <a:ext cx="0" cy="274320"/>
          </a:xfrm>
          <a:prstGeom prst="line">
            <a:avLst/>
          </a:prstGeom>
          <a:noFill/>
          <a:ln w="15240">
            <a:solidFill>
              <a:srgbClr val="475569"/>
            </a:solidFill>
            <a:prstDash val="solid"/>
          </a:ln>
        </p:spPr>
        <p:txBody>
          <a:bodyPr/>
          <a:lstStyle/>
          <a:p>
            <a:endParaRPr lang="sv-SE"/>
          </a:p>
        </p:txBody>
      </p:sp>
      <p:sp>
        <p:nvSpPr>
          <p:cNvPr id="38" name="Text 22">
            <a:extLst>
              <a:ext uri="{FF2B5EF4-FFF2-40B4-BE49-F238E27FC236}">
                <a16:creationId xmlns:a16="http://schemas.microsoft.com/office/drawing/2014/main" id="{E49AA322-5EA5-3353-08B5-48B531C01B11}"/>
              </a:ext>
            </a:extLst>
          </p:cNvPr>
          <p:cNvSpPr/>
          <p:nvPr/>
        </p:nvSpPr>
        <p:spPr>
          <a:xfrm>
            <a:off x="4692460" y="3486912"/>
            <a:ext cx="274320" cy="182880"/>
          </a:xfrm>
          <a:prstGeom prst="rect">
            <a:avLst/>
          </a:prstGeom>
          <a:noFill/>
          <a:ln/>
        </p:spPr>
        <p:txBody>
          <a:bodyPr wrap="square" lIns="0" tIns="0" rIns="0" bIns="0" rtlCol="0" anchor="ctr"/>
          <a:lstStyle/>
          <a:p>
            <a:pPr marL="0" indent="0" algn="ctr">
              <a:buNone/>
            </a:pPr>
            <a:r>
              <a:rPr lang="en-US" sz="1000" dirty="0">
                <a:solidFill>
                  <a:srgbClr val="475569"/>
                </a:solidFill>
              </a:rPr>
              <a:t>9</a:t>
            </a:r>
            <a:endParaRPr lang="en-US" sz="1000" dirty="0"/>
          </a:p>
        </p:txBody>
      </p:sp>
      <p:sp>
        <p:nvSpPr>
          <p:cNvPr id="40" name="Shape 23">
            <a:extLst>
              <a:ext uri="{FF2B5EF4-FFF2-40B4-BE49-F238E27FC236}">
                <a16:creationId xmlns:a16="http://schemas.microsoft.com/office/drawing/2014/main" id="{A19589B8-0FF9-25A1-E4A4-3E9537FBC622}"/>
              </a:ext>
            </a:extLst>
          </p:cNvPr>
          <p:cNvSpPr/>
          <p:nvPr/>
        </p:nvSpPr>
        <p:spPr>
          <a:xfrm>
            <a:off x="6779367" y="3229356"/>
            <a:ext cx="0" cy="274320"/>
          </a:xfrm>
          <a:prstGeom prst="line">
            <a:avLst/>
          </a:prstGeom>
          <a:noFill/>
          <a:ln w="15240">
            <a:solidFill>
              <a:srgbClr val="475569"/>
            </a:solidFill>
            <a:prstDash val="solid"/>
          </a:ln>
        </p:spPr>
        <p:txBody>
          <a:bodyPr/>
          <a:lstStyle/>
          <a:p>
            <a:endParaRPr lang="sv-SE"/>
          </a:p>
        </p:txBody>
      </p:sp>
      <p:sp>
        <p:nvSpPr>
          <p:cNvPr id="42" name="Text 24">
            <a:extLst>
              <a:ext uri="{FF2B5EF4-FFF2-40B4-BE49-F238E27FC236}">
                <a16:creationId xmlns:a16="http://schemas.microsoft.com/office/drawing/2014/main" id="{38898ADA-4813-EEA7-422E-7B188CE5A3CC}"/>
              </a:ext>
            </a:extLst>
          </p:cNvPr>
          <p:cNvSpPr/>
          <p:nvPr/>
        </p:nvSpPr>
        <p:spPr>
          <a:xfrm>
            <a:off x="6642207" y="3521964"/>
            <a:ext cx="274320" cy="182880"/>
          </a:xfrm>
          <a:prstGeom prst="rect">
            <a:avLst/>
          </a:prstGeom>
          <a:noFill/>
          <a:ln/>
        </p:spPr>
        <p:txBody>
          <a:bodyPr wrap="square" lIns="0" tIns="0" rIns="0" bIns="0" rtlCol="0" anchor="ctr"/>
          <a:lstStyle/>
          <a:p>
            <a:pPr marL="0" indent="0" algn="ctr">
              <a:buNone/>
            </a:pPr>
            <a:r>
              <a:rPr lang="en-US" sz="1000" dirty="0">
                <a:solidFill>
                  <a:srgbClr val="475569"/>
                </a:solidFill>
              </a:rPr>
              <a:t>12</a:t>
            </a:r>
            <a:endParaRPr lang="en-US" sz="1000" dirty="0"/>
          </a:p>
        </p:txBody>
      </p:sp>
      <p:sp>
        <p:nvSpPr>
          <p:cNvPr id="48" name="Shape 27">
            <a:extLst>
              <a:ext uri="{FF2B5EF4-FFF2-40B4-BE49-F238E27FC236}">
                <a16:creationId xmlns:a16="http://schemas.microsoft.com/office/drawing/2014/main" id="{A53AF491-F805-9BF8-D1EA-AE05B58D088C}"/>
              </a:ext>
            </a:extLst>
          </p:cNvPr>
          <p:cNvSpPr/>
          <p:nvPr/>
        </p:nvSpPr>
        <p:spPr>
          <a:xfrm>
            <a:off x="8729114" y="3247644"/>
            <a:ext cx="0" cy="274320"/>
          </a:xfrm>
          <a:prstGeom prst="line">
            <a:avLst/>
          </a:prstGeom>
          <a:noFill/>
          <a:ln w="15240">
            <a:solidFill>
              <a:srgbClr val="475569"/>
            </a:solidFill>
            <a:prstDash val="solid"/>
          </a:ln>
        </p:spPr>
        <p:txBody>
          <a:bodyPr/>
          <a:lstStyle/>
          <a:p>
            <a:endParaRPr lang="sv-SE"/>
          </a:p>
        </p:txBody>
      </p:sp>
      <p:sp>
        <p:nvSpPr>
          <p:cNvPr id="50" name="Text 28">
            <a:extLst>
              <a:ext uri="{FF2B5EF4-FFF2-40B4-BE49-F238E27FC236}">
                <a16:creationId xmlns:a16="http://schemas.microsoft.com/office/drawing/2014/main" id="{FA7F65F3-BCD1-4189-2C3F-FEFE50E5BC32}"/>
              </a:ext>
            </a:extLst>
          </p:cNvPr>
          <p:cNvSpPr/>
          <p:nvPr/>
        </p:nvSpPr>
        <p:spPr>
          <a:xfrm>
            <a:off x="8591954" y="3540252"/>
            <a:ext cx="274320" cy="182880"/>
          </a:xfrm>
          <a:prstGeom prst="rect">
            <a:avLst/>
          </a:prstGeom>
          <a:noFill/>
          <a:ln/>
        </p:spPr>
        <p:txBody>
          <a:bodyPr wrap="square" lIns="0" tIns="0" rIns="0" bIns="0" rtlCol="0" anchor="ctr"/>
          <a:lstStyle/>
          <a:p>
            <a:pPr marL="0" indent="0" algn="ctr">
              <a:buNone/>
            </a:pPr>
            <a:r>
              <a:rPr lang="en-US" sz="1000" dirty="0">
                <a:solidFill>
                  <a:srgbClr val="475569"/>
                </a:solidFill>
              </a:rPr>
              <a:t>15</a:t>
            </a:r>
            <a:endParaRPr lang="en-US" sz="1000" dirty="0"/>
          </a:p>
        </p:txBody>
      </p:sp>
      <p:sp>
        <p:nvSpPr>
          <p:cNvPr id="52" name="Shape 29">
            <a:extLst>
              <a:ext uri="{FF2B5EF4-FFF2-40B4-BE49-F238E27FC236}">
                <a16:creationId xmlns:a16="http://schemas.microsoft.com/office/drawing/2014/main" id="{9BA785C5-6E50-2B27-0517-B1A0F7192431}"/>
              </a:ext>
            </a:extLst>
          </p:cNvPr>
          <p:cNvSpPr/>
          <p:nvPr/>
        </p:nvSpPr>
        <p:spPr>
          <a:xfrm>
            <a:off x="10678861" y="3272028"/>
            <a:ext cx="0" cy="274320"/>
          </a:xfrm>
          <a:prstGeom prst="line">
            <a:avLst/>
          </a:prstGeom>
          <a:noFill/>
          <a:ln w="15240">
            <a:solidFill>
              <a:srgbClr val="475569"/>
            </a:solidFill>
            <a:prstDash val="solid"/>
          </a:ln>
        </p:spPr>
        <p:txBody>
          <a:bodyPr/>
          <a:lstStyle/>
          <a:p>
            <a:endParaRPr lang="sv-SE"/>
          </a:p>
        </p:txBody>
      </p:sp>
      <p:sp>
        <p:nvSpPr>
          <p:cNvPr id="54" name="Text 30">
            <a:extLst>
              <a:ext uri="{FF2B5EF4-FFF2-40B4-BE49-F238E27FC236}">
                <a16:creationId xmlns:a16="http://schemas.microsoft.com/office/drawing/2014/main" id="{583341DB-8889-9230-A860-C271DE2F4BA8}"/>
              </a:ext>
            </a:extLst>
          </p:cNvPr>
          <p:cNvSpPr/>
          <p:nvPr/>
        </p:nvSpPr>
        <p:spPr>
          <a:xfrm>
            <a:off x="10541701" y="3564636"/>
            <a:ext cx="274320" cy="182880"/>
          </a:xfrm>
          <a:prstGeom prst="rect">
            <a:avLst/>
          </a:prstGeom>
          <a:noFill/>
          <a:ln/>
        </p:spPr>
        <p:txBody>
          <a:bodyPr wrap="square" lIns="0" tIns="0" rIns="0" bIns="0" rtlCol="0" anchor="ctr"/>
          <a:lstStyle/>
          <a:p>
            <a:pPr marL="0" indent="0" algn="ctr">
              <a:buNone/>
            </a:pPr>
            <a:r>
              <a:rPr lang="en-US" sz="1000" dirty="0">
                <a:solidFill>
                  <a:srgbClr val="475569"/>
                </a:solidFill>
              </a:rPr>
              <a:t>18</a:t>
            </a:r>
            <a:endParaRPr lang="en-US" sz="1000" dirty="0"/>
          </a:p>
        </p:txBody>
      </p:sp>
      <p:sp>
        <p:nvSpPr>
          <p:cNvPr id="62" name="Shape 21">
            <a:extLst>
              <a:ext uri="{FF2B5EF4-FFF2-40B4-BE49-F238E27FC236}">
                <a16:creationId xmlns:a16="http://schemas.microsoft.com/office/drawing/2014/main" id="{9A204416-4642-A732-512A-8D41325100B3}"/>
              </a:ext>
            </a:extLst>
          </p:cNvPr>
          <p:cNvSpPr/>
          <p:nvPr/>
        </p:nvSpPr>
        <p:spPr>
          <a:xfrm>
            <a:off x="4161248" y="3215640"/>
            <a:ext cx="0" cy="274320"/>
          </a:xfrm>
          <a:prstGeom prst="line">
            <a:avLst/>
          </a:prstGeom>
          <a:noFill/>
          <a:ln w="15240">
            <a:solidFill>
              <a:srgbClr val="475569"/>
            </a:solidFill>
            <a:prstDash val="solid"/>
          </a:ln>
        </p:spPr>
        <p:txBody>
          <a:bodyPr/>
          <a:lstStyle/>
          <a:p>
            <a:endParaRPr lang="sv-SE" dirty="0"/>
          </a:p>
        </p:txBody>
      </p:sp>
      <p:sp>
        <p:nvSpPr>
          <p:cNvPr id="72" name="Text 22">
            <a:extLst>
              <a:ext uri="{FF2B5EF4-FFF2-40B4-BE49-F238E27FC236}">
                <a16:creationId xmlns:a16="http://schemas.microsoft.com/office/drawing/2014/main" id="{244570C5-CECB-FED0-1A58-EB3577311DA0}"/>
              </a:ext>
            </a:extLst>
          </p:cNvPr>
          <p:cNvSpPr/>
          <p:nvPr/>
        </p:nvSpPr>
        <p:spPr>
          <a:xfrm>
            <a:off x="4024088" y="3517392"/>
            <a:ext cx="274320" cy="182880"/>
          </a:xfrm>
          <a:prstGeom prst="rect">
            <a:avLst/>
          </a:prstGeom>
          <a:noFill/>
          <a:ln/>
        </p:spPr>
        <p:txBody>
          <a:bodyPr wrap="square" lIns="0" tIns="0" rIns="0" bIns="0" rtlCol="0" anchor="ctr"/>
          <a:lstStyle/>
          <a:p>
            <a:pPr marL="0" indent="0" algn="ctr">
              <a:buNone/>
            </a:pPr>
            <a:r>
              <a:rPr lang="en-US" sz="1000" dirty="0">
                <a:solidFill>
                  <a:srgbClr val="475569"/>
                </a:solidFill>
              </a:rPr>
              <a:t>8</a:t>
            </a:r>
            <a:endParaRPr lang="en-US" sz="1000" dirty="0"/>
          </a:p>
        </p:txBody>
      </p:sp>
      <p:sp>
        <p:nvSpPr>
          <p:cNvPr id="74" name="Shape 15">
            <a:extLst>
              <a:ext uri="{FF2B5EF4-FFF2-40B4-BE49-F238E27FC236}">
                <a16:creationId xmlns:a16="http://schemas.microsoft.com/office/drawing/2014/main" id="{CF33A79A-276A-B606-03F7-A37E9910EA38}"/>
              </a:ext>
            </a:extLst>
          </p:cNvPr>
          <p:cNvSpPr/>
          <p:nvPr/>
        </p:nvSpPr>
        <p:spPr>
          <a:xfrm>
            <a:off x="544605" y="3858859"/>
            <a:ext cx="862965" cy="466150"/>
          </a:xfrm>
          <a:prstGeom prst="roundRect">
            <a:avLst>
              <a:gd name="adj" fmla="val 18750"/>
            </a:avLst>
          </a:prstGeom>
          <a:solidFill>
            <a:srgbClr val="2563EB"/>
          </a:solidFill>
          <a:ln w="12700">
            <a:solidFill>
              <a:srgbClr val="2563EB"/>
            </a:solidFill>
            <a:prstDash val="solid"/>
          </a:ln>
        </p:spPr>
        <p:txBody>
          <a:bodyPr/>
          <a:lstStyle/>
          <a:p>
            <a:pPr algn="ctr"/>
            <a:r>
              <a:rPr lang="en-US" b="1" dirty="0">
                <a:solidFill>
                  <a:srgbClr val="FFFFFF"/>
                </a:solidFill>
              </a:rPr>
              <a:t>650V</a:t>
            </a:r>
            <a:endParaRPr lang="en-US" dirty="0"/>
          </a:p>
        </p:txBody>
      </p:sp>
      <p:sp>
        <p:nvSpPr>
          <p:cNvPr id="76" name="Shape 18">
            <a:extLst>
              <a:ext uri="{FF2B5EF4-FFF2-40B4-BE49-F238E27FC236}">
                <a16:creationId xmlns:a16="http://schemas.microsoft.com/office/drawing/2014/main" id="{AB608265-83AC-A346-1D90-3E172F00C98A}"/>
              </a:ext>
            </a:extLst>
          </p:cNvPr>
          <p:cNvSpPr/>
          <p:nvPr/>
        </p:nvSpPr>
        <p:spPr>
          <a:xfrm>
            <a:off x="3686122" y="3833965"/>
            <a:ext cx="862965" cy="466145"/>
          </a:xfrm>
          <a:prstGeom prst="roundRect">
            <a:avLst>
              <a:gd name="adj" fmla="val 18750"/>
            </a:avLst>
          </a:prstGeom>
          <a:solidFill>
            <a:srgbClr val="059669"/>
          </a:solidFill>
          <a:ln w="12700">
            <a:solidFill>
              <a:srgbClr val="059669"/>
            </a:solidFill>
            <a:prstDash val="solid"/>
          </a:ln>
        </p:spPr>
        <p:txBody>
          <a:bodyPr/>
          <a:lstStyle/>
          <a:p>
            <a:r>
              <a:rPr lang="en-US" b="1" dirty="0">
                <a:solidFill>
                  <a:srgbClr val="FFFFFF"/>
                </a:solidFill>
              </a:rPr>
              <a:t>200V</a:t>
            </a:r>
            <a:endParaRPr lang="en-US" dirty="0"/>
          </a:p>
          <a:p>
            <a:endParaRPr lang="sv-SE" dirty="0"/>
          </a:p>
        </p:txBody>
      </p:sp>
      <p:sp>
        <p:nvSpPr>
          <p:cNvPr id="78" name="Shape 21">
            <a:extLst>
              <a:ext uri="{FF2B5EF4-FFF2-40B4-BE49-F238E27FC236}">
                <a16:creationId xmlns:a16="http://schemas.microsoft.com/office/drawing/2014/main" id="{454F15D8-9FEE-CA16-2608-837DE6A47422}"/>
              </a:ext>
            </a:extLst>
          </p:cNvPr>
          <p:cNvSpPr/>
          <p:nvPr/>
        </p:nvSpPr>
        <p:spPr>
          <a:xfrm>
            <a:off x="8269896" y="3858859"/>
            <a:ext cx="918435" cy="466143"/>
          </a:xfrm>
          <a:prstGeom prst="roundRect">
            <a:avLst>
              <a:gd name="adj" fmla="val 18750"/>
            </a:avLst>
          </a:prstGeom>
          <a:solidFill>
            <a:srgbClr val="EA580C"/>
          </a:solidFill>
          <a:ln w="12700">
            <a:solidFill>
              <a:srgbClr val="EA580C"/>
            </a:solidFill>
            <a:prstDash val="solid"/>
          </a:ln>
        </p:spPr>
        <p:txBody>
          <a:bodyPr/>
          <a:lstStyle/>
          <a:p>
            <a:r>
              <a:rPr lang="en-US" b="1" dirty="0">
                <a:solidFill>
                  <a:srgbClr val="FFFFFF"/>
                </a:solidFill>
              </a:rPr>
              <a:t>100V</a:t>
            </a:r>
            <a:endParaRPr lang="en-US" dirty="0"/>
          </a:p>
          <a:p>
            <a:endParaRPr lang="sv-SE" dirty="0"/>
          </a:p>
        </p:txBody>
      </p:sp>
      <p:sp>
        <p:nvSpPr>
          <p:cNvPr id="80" name="TextBox 79">
            <a:extLst>
              <a:ext uri="{FF2B5EF4-FFF2-40B4-BE49-F238E27FC236}">
                <a16:creationId xmlns:a16="http://schemas.microsoft.com/office/drawing/2014/main" id="{BEA28EBF-A0E7-7638-F8DC-49234BEECD50}"/>
              </a:ext>
            </a:extLst>
          </p:cNvPr>
          <p:cNvSpPr txBox="1"/>
          <p:nvPr/>
        </p:nvSpPr>
        <p:spPr>
          <a:xfrm>
            <a:off x="1720660" y="5304402"/>
            <a:ext cx="8979601" cy="323165"/>
          </a:xfrm>
          <a:prstGeom prst="rect">
            <a:avLst/>
          </a:prstGeom>
          <a:noFill/>
        </p:spPr>
        <p:txBody>
          <a:bodyPr wrap="square">
            <a:spAutoFit/>
          </a:bodyPr>
          <a:lstStyle/>
          <a:p>
            <a:pPr marL="0" indent="0" algn="ctr">
              <a:buNone/>
            </a:pPr>
            <a:r>
              <a:rPr lang="en-US" sz="1500" b="1" dirty="0">
                <a:solidFill>
                  <a:srgbClr val="0F172A"/>
                </a:solidFill>
              </a:rPr>
              <a:t>If we force 14 cells with 100 V </a:t>
            </a:r>
            <a:r>
              <a:rPr lang="en-US" sz="1500" b="1" dirty="0" err="1">
                <a:solidFill>
                  <a:srgbClr val="0F172A"/>
                </a:solidFill>
              </a:rPr>
              <a:t>GaN</a:t>
            </a:r>
            <a:r>
              <a:rPr lang="en-US" sz="1500" b="1" dirty="0">
                <a:solidFill>
                  <a:srgbClr val="0F172A"/>
                </a:solidFill>
              </a:rPr>
              <a:t>, the voltage margin is only about 100 / (1200/15) = 1.25×.</a:t>
            </a:r>
            <a:endParaRPr lang="en-US" sz="1500" dirty="0"/>
          </a:p>
        </p:txBody>
      </p:sp>
    </p:spTree>
    <p:extLst>
      <p:ext uri="{BB962C8B-B14F-4D97-AF65-F5344CB8AC3E}">
        <p14:creationId xmlns:p14="http://schemas.microsoft.com/office/powerpoint/2010/main" val="2981303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D0F74-7A19-EB09-0ED7-0202FD2B07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B087B-DA9C-1C6D-AF5F-4E6ACF93FD4E}"/>
              </a:ext>
            </a:extLst>
          </p:cNvPr>
          <p:cNvSpPr>
            <a:spLocks noGrp="1"/>
          </p:cNvSpPr>
          <p:nvPr>
            <p:ph type="title"/>
          </p:nvPr>
        </p:nvSpPr>
        <p:spPr>
          <a:xfrm>
            <a:off x="1028500" y="368890"/>
            <a:ext cx="11102540" cy="568412"/>
          </a:xfrm>
        </p:spPr>
        <p:txBody>
          <a:bodyPr/>
          <a:lstStyle/>
          <a:p>
            <a:r>
              <a:rPr lang="en-US" sz="2400" dirty="0"/>
              <a:t>Loss model</a:t>
            </a:r>
          </a:p>
        </p:txBody>
      </p:sp>
      <p:sp>
        <p:nvSpPr>
          <p:cNvPr id="4" name="Text 19">
            <a:extLst>
              <a:ext uri="{FF2B5EF4-FFF2-40B4-BE49-F238E27FC236}">
                <a16:creationId xmlns:a16="http://schemas.microsoft.com/office/drawing/2014/main" id="{CDE779E3-F1AB-EB30-CAAD-11524051538C}"/>
              </a:ext>
            </a:extLst>
          </p:cNvPr>
          <p:cNvSpPr/>
          <p:nvPr/>
        </p:nvSpPr>
        <p:spPr>
          <a:xfrm>
            <a:off x="3919347" y="4347077"/>
            <a:ext cx="1865376" cy="155448"/>
          </a:xfrm>
          <a:prstGeom prst="rect">
            <a:avLst/>
          </a:prstGeom>
          <a:noFill/>
          <a:ln/>
        </p:spPr>
        <p:txBody>
          <a:bodyPr wrap="square" lIns="0" tIns="0" rIns="0" bIns="0" rtlCol="0" anchor="ctr"/>
          <a:lstStyle/>
          <a:p>
            <a:pPr marL="0" indent="0" algn="ctr">
              <a:buNone/>
            </a:pPr>
            <a:endParaRPr lang="en-US" sz="850" dirty="0"/>
          </a:p>
        </p:txBody>
      </p:sp>
      <mc:AlternateContent xmlns:mc="http://schemas.openxmlformats.org/markup-compatibility/2006">
        <mc:Choice xmlns:a14="http://schemas.microsoft.com/office/drawing/2010/main" Requires="a14">
          <p:sp>
            <p:nvSpPr>
              <p:cNvPr id="7" name="Shape 15">
                <a:extLst>
                  <a:ext uri="{FF2B5EF4-FFF2-40B4-BE49-F238E27FC236}">
                    <a16:creationId xmlns:a16="http://schemas.microsoft.com/office/drawing/2014/main" id="{C2FA75E6-CDE9-44F3-DC36-5560E6B348BC}"/>
                  </a:ext>
                </a:extLst>
              </p:cNvPr>
              <p:cNvSpPr/>
              <p:nvPr/>
            </p:nvSpPr>
            <p:spPr>
              <a:xfrm>
                <a:off x="1352917" y="2192807"/>
                <a:ext cx="3722544" cy="662452"/>
              </a:xfrm>
              <a:prstGeom prst="roundRect">
                <a:avLst>
                  <a:gd name="adj" fmla="val 18750"/>
                </a:avLst>
              </a:prstGeom>
              <a:solidFill>
                <a:srgbClr val="FFF0B0"/>
              </a:solidFill>
              <a:ln w="12700">
                <a:solidFill>
                  <a:srgbClr val="FFF0B0"/>
                </a:solidFill>
                <a:prstDash val="solid"/>
              </a:ln>
            </p:spPr>
            <p:txBody>
              <a:bodyPr/>
              <a:lstStyle/>
              <a:p>
                <a:pPr/>
                <a14:m>
                  <m:oMathPara xmlns:m="http://schemas.openxmlformats.org/officeDocument/2006/math">
                    <m:oMath>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E</m:t>
                          </m:r>
                        </m:e>
                        <m:sub>
                          <m:r>
                            <m:rPr>
                              <m:sty m:val="p"/>
                            </m:rPr>
                            <a:rPr lang="en-US" sz="1600" dirty="0">
                              <a:solidFill>
                                <a:srgbClr val="0F172A"/>
                              </a:solidFill>
                              <a:latin typeface="Cambria Math" panose="02040503050406030204" pitchFamily="18" charset="0"/>
                              <a:ea typeface="Aptos" pitchFamily="34" charset="-122"/>
                              <a:cs typeface="Aptos" pitchFamily="34" charset="-120"/>
                            </a:rPr>
                            <m:t>overlap</m:t>
                          </m:r>
                        </m:sub>
                      </m:sSub>
                      <m:r>
                        <a:rPr lang="en-US" sz="1600" dirty="0" smtClean="0">
                          <a:solidFill>
                            <a:srgbClr val="0F172A"/>
                          </a:solidFill>
                          <a:latin typeface="Cambria Math" panose="02040503050406030204" pitchFamily="18" charset="0"/>
                          <a:ea typeface="Aptos" pitchFamily="34" charset="-122"/>
                          <a:cs typeface="Aptos" pitchFamily="34" charset="-120"/>
                        </a:rPr>
                        <m:t>= </m:t>
                      </m:r>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V</m:t>
                          </m:r>
                        </m:e>
                        <m:sub>
                          <m:r>
                            <m:rPr>
                              <m:sty m:val="p"/>
                            </m:rPr>
                            <a:rPr lang="en-US" sz="1600" dirty="0">
                              <a:solidFill>
                                <a:srgbClr val="0F172A"/>
                              </a:solidFill>
                              <a:latin typeface="Cambria Math" panose="02040503050406030204" pitchFamily="18" charset="0"/>
                              <a:ea typeface="Aptos" pitchFamily="34" charset="-122"/>
                              <a:cs typeface="Aptos" pitchFamily="34" charset="-120"/>
                            </a:rPr>
                            <m:t>cell</m:t>
                          </m:r>
                        </m:sub>
                      </m:sSub>
                      <m:r>
                        <a:rPr lang="en-US" sz="1600" dirty="0">
                          <a:solidFill>
                            <a:srgbClr val="0F172A"/>
                          </a:solidFill>
                          <a:latin typeface="Cambria Math" panose="02040503050406030204" pitchFamily="18" charset="0"/>
                          <a:ea typeface="Aptos" pitchFamily="34" charset="-122"/>
                          <a:cs typeface="Aptos" pitchFamily="34" charset="-120"/>
                        </a:rPr>
                        <m:t>·</m:t>
                      </m:r>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I</m:t>
                          </m:r>
                        </m:e>
                        <m:sub>
                          <m:r>
                            <m:rPr>
                              <m:sty m:val="p"/>
                            </m:rPr>
                            <a:rPr lang="en-US" sz="1600" dirty="0">
                              <a:solidFill>
                                <a:srgbClr val="0F172A"/>
                              </a:solidFill>
                              <a:latin typeface="Cambria Math" panose="02040503050406030204" pitchFamily="18" charset="0"/>
                              <a:ea typeface="Aptos" pitchFamily="34" charset="-122"/>
                              <a:cs typeface="Aptos" pitchFamily="34" charset="-120"/>
                            </a:rPr>
                            <m:t>sw</m:t>
                          </m:r>
                        </m:sub>
                      </m:sSub>
                      <m:r>
                        <a:rPr lang="en-US" sz="1600" dirty="0" smtClean="0">
                          <a:solidFill>
                            <a:srgbClr val="0F172A"/>
                          </a:solidFill>
                          <a:latin typeface="Cambria Math" panose="02040503050406030204" pitchFamily="18" charset="0"/>
                          <a:ea typeface="Aptos" pitchFamily="34" charset="-122"/>
                          <a:cs typeface="Aptos" pitchFamily="34" charset="-120"/>
                        </a:rPr>
                        <m:t>·</m:t>
                      </m:r>
                      <m:r>
                        <a:rPr lang="en-US" sz="1600" dirty="0">
                          <a:solidFill>
                            <a:srgbClr val="0F172A"/>
                          </a:solidFill>
                          <a:latin typeface="Cambria Math" panose="02040503050406030204" pitchFamily="18" charset="0"/>
                          <a:ea typeface="Aptos" pitchFamily="34" charset="-122"/>
                          <a:cs typeface="Aptos" pitchFamily="34" charset="-120"/>
                        </a:rPr>
                        <m:t>(</m:t>
                      </m:r>
                      <m:f>
                        <m:fPr>
                          <m:ctrlPr>
                            <a:rPr lang="en-US" sz="1600" i="1" dirty="0">
                              <a:solidFill>
                                <a:srgbClr val="0F172A"/>
                              </a:solidFill>
                              <a:latin typeface="Cambria Math" panose="02040503050406030204" pitchFamily="18" charset="0"/>
                              <a:ea typeface="Aptos" pitchFamily="34" charset="-122"/>
                              <a:cs typeface="Aptos" pitchFamily="34" charset="-120"/>
                            </a:rPr>
                          </m:ctrlPr>
                        </m:fPr>
                        <m:num>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V</m:t>
                              </m:r>
                            </m:e>
                            <m:sub>
                              <m:r>
                                <m:rPr>
                                  <m:sty m:val="p"/>
                                </m:rPr>
                                <a:rPr lang="en-US" sz="1600" dirty="0">
                                  <a:solidFill>
                                    <a:srgbClr val="0F172A"/>
                                  </a:solidFill>
                                  <a:latin typeface="Cambria Math" panose="02040503050406030204" pitchFamily="18" charset="0"/>
                                  <a:ea typeface="Aptos" pitchFamily="34" charset="-122"/>
                                  <a:cs typeface="Aptos" pitchFamily="34" charset="-120"/>
                                </a:rPr>
                                <m:t>cell</m:t>
                              </m:r>
                            </m:sub>
                          </m:sSub>
                        </m:num>
                        <m:den>
                          <m:r>
                            <a:rPr lang="en-US" sz="1600" b="0" i="1" dirty="0" smtClean="0">
                              <a:solidFill>
                                <a:srgbClr val="0F172A"/>
                              </a:solidFill>
                              <a:latin typeface="Cambria Math" panose="02040503050406030204" pitchFamily="18" charset="0"/>
                              <a:ea typeface="Aptos" pitchFamily="34" charset="-122"/>
                              <a:cs typeface="Aptos" pitchFamily="34" charset="-120"/>
                            </a:rPr>
                            <m:t>𝑑𝑣</m:t>
                          </m:r>
                          <m:r>
                            <a:rPr lang="en-US" sz="1600" b="0" i="1" dirty="0" smtClean="0">
                              <a:solidFill>
                                <a:srgbClr val="0F172A"/>
                              </a:solidFill>
                              <a:latin typeface="Cambria Math" panose="02040503050406030204" pitchFamily="18" charset="0"/>
                              <a:ea typeface="Aptos" pitchFamily="34" charset="-122"/>
                              <a:cs typeface="Aptos" pitchFamily="34" charset="-120"/>
                            </a:rPr>
                            <m:t>/</m:t>
                          </m:r>
                          <m:r>
                            <a:rPr lang="en-US" sz="1600" b="0" i="1" dirty="0" smtClean="0">
                              <a:solidFill>
                                <a:srgbClr val="0F172A"/>
                              </a:solidFill>
                              <a:latin typeface="Cambria Math" panose="02040503050406030204" pitchFamily="18" charset="0"/>
                              <a:ea typeface="Aptos" pitchFamily="34" charset="-122"/>
                              <a:cs typeface="Aptos" pitchFamily="34" charset="-120"/>
                            </a:rPr>
                            <m:t>𝑑𝑡</m:t>
                          </m:r>
                        </m:den>
                      </m:f>
                      <m:r>
                        <a:rPr lang="en-US" sz="1600" b="0" i="1" dirty="0" smtClean="0">
                          <a:solidFill>
                            <a:srgbClr val="0F172A"/>
                          </a:solidFill>
                          <a:latin typeface="Cambria Math" panose="02040503050406030204" pitchFamily="18" charset="0"/>
                          <a:ea typeface="Aptos" pitchFamily="34" charset="-122"/>
                          <a:cs typeface="Aptos" pitchFamily="34" charset="-120"/>
                        </a:rPr>
                        <m:t>+</m:t>
                      </m:r>
                      <m:f>
                        <m:fPr>
                          <m:ctrlPr>
                            <a:rPr lang="en-US" sz="1600" i="1" dirty="0">
                              <a:solidFill>
                                <a:srgbClr val="0F172A"/>
                              </a:solidFill>
                              <a:latin typeface="Cambria Math" panose="02040503050406030204" pitchFamily="18" charset="0"/>
                              <a:ea typeface="Aptos" pitchFamily="34" charset="-122"/>
                              <a:cs typeface="Aptos" pitchFamily="34" charset="-120"/>
                            </a:rPr>
                          </m:ctrlPr>
                        </m:fPr>
                        <m:num>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I</m:t>
                              </m:r>
                            </m:e>
                            <m:sub>
                              <m:r>
                                <m:rPr>
                                  <m:sty m:val="p"/>
                                </m:rPr>
                                <a:rPr lang="en-US" sz="1600" dirty="0">
                                  <a:solidFill>
                                    <a:srgbClr val="0F172A"/>
                                  </a:solidFill>
                                  <a:latin typeface="Cambria Math" panose="02040503050406030204" pitchFamily="18" charset="0"/>
                                  <a:ea typeface="Aptos" pitchFamily="34" charset="-122"/>
                                  <a:cs typeface="Aptos" pitchFamily="34" charset="-120"/>
                                </a:rPr>
                                <m:t>sw</m:t>
                              </m:r>
                            </m:sub>
                          </m:sSub>
                        </m:num>
                        <m:den>
                          <m:r>
                            <m:rPr>
                              <m:sty m:val="p"/>
                            </m:rPr>
                            <a:rPr lang="en-US" sz="1600" dirty="0">
                              <a:solidFill>
                                <a:srgbClr val="0F172A"/>
                              </a:solidFill>
                              <a:latin typeface="Cambria Math" panose="02040503050406030204" pitchFamily="18" charset="0"/>
                              <a:ea typeface="Aptos" pitchFamily="34" charset="-122"/>
                              <a:cs typeface="Aptos" pitchFamily="34" charset="-120"/>
                            </a:rPr>
                            <m:t>di</m:t>
                          </m:r>
                          <m:r>
                            <a:rPr lang="en-US" sz="1600" dirty="0">
                              <a:solidFill>
                                <a:srgbClr val="0F172A"/>
                              </a:solidFill>
                              <a:latin typeface="Cambria Math" panose="02040503050406030204" pitchFamily="18" charset="0"/>
                              <a:ea typeface="Aptos" pitchFamily="34" charset="-122"/>
                              <a:cs typeface="Aptos" pitchFamily="34" charset="-120"/>
                            </a:rPr>
                            <m:t>/</m:t>
                          </m:r>
                          <m:r>
                            <m:rPr>
                              <m:sty m:val="p"/>
                            </m:rPr>
                            <a:rPr lang="en-US" sz="1600" dirty="0">
                              <a:solidFill>
                                <a:srgbClr val="0F172A"/>
                              </a:solidFill>
                              <a:latin typeface="Cambria Math" panose="02040503050406030204" pitchFamily="18" charset="0"/>
                              <a:ea typeface="Aptos" pitchFamily="34" charset="-122"/>
                              <a:cs typeface="Aptos" pitchFamily="34" charset="-120"/>
                            </a:rPr>
                            <m:t>dt</m:t>
                          </m:r>
                        </m:den>
                      </m:f>
                      <m:r>
                        <a:rPr lang="en-US" sz="1600" b="0" i="0" dirty="0" smtClean="0">
                          <a:solidFill>
                            <a:srgbClr val="0F172A"/>
                          </a:solidFill>
                          <a:latin typeface="Cambria Math" panose="02040503050406030204" pitchFamily="18" charset="0"/>
                          <a:ea typeface="Aptos" pitchFamily="34" charset="-122"/>
                          <a:cs typeface="Aptos" pitchFamily="34" charset="-120"/>
                        </a:rPr>
                        <m:t>)</m:t>
                      </m:r>
                    </m:oMath>
                  </m:oMathPara>
                </a14:m>
                <a:endParaRPr/>
              </a:p>
            </p:txBody>
          </p:sp>
        </mc:Choice>
        <mc:Fallback>
          <p:sp>
            <p:nvSpPr>
              <p:cNvPr id="7" name="Shape 15">
                <a:extLst>
                  <a:ext uri="{FF2B5EF4-FFF2-40B4-BE49-F238E27FC236}">
                    <a16:creationId xmlns:a16="http://schemas.microsoft.com/office/drawing/2014/main" id="{C2FA75E6-CDE9-44F3-DC36-5560E6B348BC}"/>
                  </a:ext>
                </a:extLst>
              </p:cNvPr>
              <p:cNvSpPr>
                <a:spLocks noRot="1" noChangeAspect="1" noMove="1" noResize="1" noEditPoints="1" noAdjustHandles="1" noChangeArrowheads="1" noChangeShapeType="1" noTextEdit="1"/>
              </p:cNvSpPr>
              <p:nvPr/>
            </p:nvSpPr>
            <p:spPr>
              <a:xfrm>
                <a:off x="1352917" y="2192807"/>
                <a:ext cx="3722544" cy="662452"/>
              </a:xfrm>
              <a:prstGeom prst="roundRect">
                <a:avLst>
                  <a:gd name="adj" fmla="val 18750"/>
                </a:avLst>
              </a:prstGeom>
              <a:blipFill>
                <a:blip r:embed="rId2"/>
                <a:stretch>
                  <a:fillRect/>
                </a:stretch>
              </a:blipFill>
              <a:ln w="12700">
                <a:solidFill>
                  <a:srgbClr val="FFF0B0"/>
                </a:solidFill>
                <a:prstDash val="solid"/>
              </a:ln>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0" name="Shape 15">
                <a:extLst>
                  <a:ext uri="{FF2B5EF4-FFF2-40B4-BE49-F238E27FC236}">
                    <a16:creationId xmlns:a16="http://schemas.microsoft.com/office/drawing/2014/main" id="{4F5BE353-361A-434C-E526-5DB24FF2461E}"/>
                  </a:ext>
                </a:extLst>
              </p:cNvPr>
              <p:cNvSpPr/>
              <p:nvPr/>
            </p:nvSpPr>
            <p:spPr>
              <a:xfrm>
                <a:off x="1352917" y="3065391"/>
                <a:ext cx="3722544" cy="662452"/>
              </a:xfrm>
              <a:prstGeom prst="roundRect">
                <a:avLst>
                  <a:gd name="adj" fmla="val 18750"/>
                </a:avLst>
              </a:prstGeom>
              <a:solidFill>
                <a:srgbClr val="C7EBBA"/>
              </a:solidFill>
              <a:ln w="12700">
                <a:solidFill>
                  <a:srgbClr val="B2E0E0"/>
                </a:solidFill>
                <a:prstDash val="solid"/>
              </a:ln>
            </p:spPr>
            <p:txBody>
              <a:bodyPr/>
              <a:lstStyle/>
              <a:p>
                <a:pPr/>
                <a14:m>
                  <m:oMathPara xmlns:m="http://schemas.openxmlformats.org/officeDocument/2006/math">
                    <m:oMath>
                      <m:sSub>
                        <m:sSubPr>
                          <m:ctrlPr>
                            <a:rPr lang="en-US" sz="1600" dirty="0" smtClean="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smtClean="0">
                              <a:solidFill>
                                <a:srgbClr val="0F172A"/>
                              </a:solidFill>
                              <a:latin typeface="Cambria Math" panose="02040503050406030204" pitchFamily="18" charset="0"/>
                              <a:ea typeface="Aptos" pitchFamily="34" charset="-122"/>
                              <a:cs typeface="Aptos" pitchFamily="34" charset="-120"/>
                            </a:rPr>
                            <m:t>E</m:t>
                          </m:r>
                        </m:e>
                        <m:sub>
                          <m:r>
                            <m:rPr>
                              <m:sty m:val="p"/>
                            </m:rPr>
                            <a:rPr lang="en-US" sz="1600" dirty="0">
                              <a:solidFill>
                                <a:srgbClr val="0F172A"/>
                              </a:solidFill>
                              <a:latin typeface="Cambria Math" panose="02040503050406030204" pitchFamily="18" charset="0"/>
                              <a:ea typeface="Aptos" pitchFamily="34" charset="-122"/>
                              <a:cs typeface="Aptos" pitchFamily="34" charset="-120"/>
                            </a:rPr>
                            <m:t>Coss</m:t>
                          </m:r>
                        </m:sub>
                      </m:sSub>
                      <m:r>
                        <a:rPr lang="en-US" sz="1600" b="0" i="0" dirty="0" smtClean="0">
                          <a:solidFill>
                            <a:srgbClr val="0F172A"/>
                          </a:solidFill>
                          <a:latin typeface="Cambria Math" panose="02040503050406030204" pitchFamily="18" charset="0"/>
                          <a:ea typeface="Aptos" pitchFamily="34" charset="-122"/>
                          <a:cs typeface="Aptos" pitchFamily="34" charset="-120"/>
                        </a:rPr>
                        <m:t> </m:t>
                      </m:r>
                      <m:r>
                        <a:rPr lang="en-US" sz="1600" dirty="0">
                          <a:solidFill>
                            <a:srgbClr val="0F172A"/>
                          </a:solidFill>
                          <a:latin typeface="Cambria Math" panose="02040503050406030204" pitchFamily="18" charset="0"/>
                          <a:ea typeface="Aptos" pitchFamily="34" charset="-122"/>
                          <a:cs typeface="Aptos" pitchFamily="34" charset="-120"/>
                        </a:rPr>
                        <m:t> = </m:t>
                      </m:r>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C</m:t>
                          </m:r>
                        </m:e>
                        <m:sub>
                          <m:r>
                            <m:rPr>
                              <m:sty m:val="p"/>
                            </m:rPr>
                            <a:rPr lang="en-US" sz="1600" dirty="0">
                              <a:solidFill>
                                <a:srgbClr val="0F172A"/>
                              </a:solidFill>
                              <a:latin typeface="Cambria Math" panose="02040503050406030204" pitchFamily="18" charset="0"/>
                              <a:ea typeface="Aptos" pitchFamily="34" charset="-122"/>
                              <a:cs typeface="Aptos" pitchFamily="34" charset="-120"/>
                            </a:rPr>
                            <m:t>oss</m:t>
                          </m:r>
                          <m:r>
                            <a:rPr lang="en-US" sz="1600" b="0" i="0" dirty="0" smtClean="0">
                              <a:solidFill>
                                <a:srgbClr val="0F172A"/>
                              </a:solidFill>
                              <a:latin typeface="Cambria Math" panose="02040503050406030204" pitchFamily="18" charset="0"/>
                              <a:ea typeface="Aptos" pitchFamily="34" charset="-122"/>
                              <a:cs typeface="Aptos" pitchFamily="34" charset="-120"/>
                            </a:rPr>
                            <m:t>.</m:t>
                          </m:r>
                          <m:r>
                            <m:rPr>
                              <m:sty m:val="p"/>
                            </m:rPr>
                            <a:rPr lang="en-US" sz="1600" b="0" i="0" dirty="0" smtClean="0">
                              <a:solidFill>
                                <a:srgbClr val="0F172A"/>
                              </a:solidFill>
                              <a:latin typeface="Cambria Math" panose="02040503050406030204" pitchFamily="18" charset="0"/>
                              <a:ea typeface="Aptos" pitchFamily="34" charset="-122"/>
                              <a:cs typeface="Aptos" pitchFamily="34" charset="-120"/>
                            </a:rPr>
                            <m:t>eq</m:t>
                          </m:r>
                        </m:sub>
                      </m:sSub>
                      <m:r>
                        <a:rPr lang="en-US" sz="1600" dirty="0">
                          <a:solidFill>
                            <a:srgbClr val="0F172A"/>
                          </a:solidFill>
                          <a:latin typeface="Cambria Math" panose="02040503050406030204" pitchFamily="18" charset="0"/>
                          <a:ea typeface="Aptos" pitchFamily="34" charset="-122"/>
                          <a:cs typeface="Aptos" pitchFamily="34" charset="-120"/>
                        </a:rPr>
                        <m:t> · </m:t>
                      </m:r>
                      <m:sSubSup>
                        <m:sSubSupPr>
                          <m:ctrlPr>
                            <a:rPr lang="en-US" sz="1600" dirty="0">
                              <a:solidFill>
                                <a:srgbClr val="0F172A"/>
                              </a:solidFill>
                              <a:latin typeface="Cambria Math" panose="02040503050406030204" pitchFamily="18" charset="0"/>
                              <a:ea typeface="Aptos" pitchFamily="34" charset="-122"/>
                              <a:cs typeface="Aptos" pitchFamily="34" charset="-120"/>
                            </a:rPr>
                          </m:ctrlPr>
                        </m:sSubSupPr>
                        <m:e>
                          <m:r>
                            <m:rPr>
                              <m:sty m:val="p"/>
                            </m:rPr>
                            <a:rPr lang="en-US" sz="1600" dirty="0">
                              <a:solidFill>
                                <a:srgbClr val="0F172A"/>
                              </a:solidFill>
                              <a:latin typeface="Cambria Math" panose="02040503050406030204" pitchFamily="18" charset="0"/>
                              <a:ea typeface="Aptos" pitchFamily="34" charset="-122"/>
                              <a:cs typeface="Aptos" pitchFamily="34" charset="-120"/>
                            </a:rPr>
                            <m:t>V</m:t>
                          </m:r>
                        </m:e>
                        <m:sub>
                          <m:r>
                            <m:rPr>
                              <m:sty m:val="p"/>
                            </m:rPr>
                            <a:rPr lang="en-US" sz="1600" dirty="0">
                              <a:solidFill>
                                <a:srgbClr val="0F172A"/>
                              </a:solidFill>
                              <a:latin typeface="Cambria Math" panose="02040503050406030204" pitchFamily="18" charset="0"/>
                              <a:ea typeface="Aptos" pitchFamily="34" charset="-122"/>
                              <a:cs typeface="Aptos" pitchFamily="34" charset="-120"/>
                            </a:rPr>
                            <m:t>cell</m:t>
                          </m:r>
                        </m:sub>
                        <m:sup>
                          <m:r>
                            <a:rPr lang="en-US" sz="1600" i="1" dirty="0">
                              <a:solidFill>
                                <a:srgbClr val="0F172A"/>
                              </a:solidFill>
                              <a:latin typeface="Cambria Math" panose="02040503050406030204" pitchFamily="18" charset="0"/>
                              <a:ea typeface="Aptos" pitchFamily="34" charset="-122"/>
                              <a:cs typeface="Aptos" pitchFamily="34" charset="-120"/>
                            </a:rPr>
                            <m:t>2</m:t>
                          </m:r>
                        </m:sup>
                      </m:sSubSup>
                    </m:oMath>
                  </m:oMathPara>
                </a14:m>
                <a:endParaRPr/>
              </a:p>
            </p:txBody>
          </p:sp>
        </mc:Choice>
        <mc:Fallback>
          <p:sp>
            <p:nvSpPr>
              <p:cNvPr id="10" name="Shape 15">
                <a:extLst>
                  <a:ext uri="{FF2B5EF4-FFF2-40B4-BE49-F238E27FC236}">
                    <a16:creationId xmlns:a16="http://schemas.microsoft.com/office/drawing/2014/main" id="{4F5BE353-361A-434C-E526-5DB24FF2461E}"/>
                  </a:ext>
                </a:extLst>
              </p:cNvPr>
              <p:cNvSpPr>
                <a:spLocks noRot="1" noChangeAspect="1" noMove="1" noResize="1" noEditPoints="1" noAdjustHandles="1" noChangeArrowheads="1" noChangeShapeType="1" noTextEdit="1"/>
              </p:cNvSpPr>
              <p:nvPr/>
            </p:nvSpPr>
            <p:spPr>
              <a:xfrm>
                <a:off x="1352917" y="3065391"/>
                <a:ext cx="3722544" cy="662452"/>
              </a:xfrm>
              <a:prstGeom prst="roundRect">
                <a:avLst>
                  <a:gd name="adj" fmla="val 18750"/>
                </a:avLst>
              </a:prstGeom>
              <a:blipFill>
                <a:blip r:embed="rId3"/>
                <a:stretch>
                  <a:fillRect/>
                </a:stretch>
              </a:blipFill>
              <a:ln w="12700">
                <a:solidFill>
                  <a:srgbClr val="B2E0E0"/>
                </a:solidFill>
                <a:prstDash val="solid"/>
              </a:ln>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3" name="Shape 15">
                <a:extLst>
                  <a:ext uri="{FF2B5EF4-FFF2-40B4-BE49-F238E27FC236}">
                    <a16:creationId xmlns:a16="http://schemas.microsoft.com/office/drawing/2014/main" id="{BE0A91D4-34EF-1030-B85B-8631E84E9772}"/>
                  </a:ext>
                </a:extLst>
              </p:cNvPr>
              <p:cNvSpPr/>
              <p:nvPr/>
            </p:nvSpPr>
            <p:spPr>
              <a:xfrm>
                <a:off x="1352917" y="1358056"/>
                <a:ext cx="3722544" cy="662452"/>
              </a:xfrm>
              <a:prstGeom prst="roundRect">
                <a:avLst>
                  <a:gd name="adj" fmla="val 18750"/>
                </a:avLst>
              </a:prstGeom>
              <a:solidFill>
                <a:srgbClr val="DEF0FF"/>
              </a:solidFill>
              <a:ln w="12700">
                <a:solidFill>
                  <a:srgbClr val="DEF0FF"/>
                </a:solidFill>
                <a:prstDash val="solid"/>
              </a:ln>
            </p:spPr>
            <p:txBody>
              <a:bodyPr/>
              <a:lstStyle/>
              <a:p>
                <a14:m>
                  <m:oMathPara xmlns:m="http://schemas.openxmlformats.org/officeDocument/2006/math">
                    <m:oMath>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P</m:t>
                          </m:r>
                        </m:e>
                        <m:sub>
                          <m:r>
                            <m:rPr>
                              <m:sty m:val="p"/>
                            </m:rPr>
                            <a:rPr lang="en-US" sz="1600" dirty="0">
                              <a:solidFill>
                                <a:srgbClr val="0F172A"/>
                              </a:solidFill>
                              <a:latin typeface="Cambria Math" panose="02040503050406030204" pitchFamily="18" charset="0"/>
                              <a:ea typeface="Aptos" pitchFamily="34" charset="-122"/>
                              <a:cs typeface="Aptos" pitchFamily="34" charset="-120"/>
                            </a:rPr>
                            <m:t>cond</m:t>
                          </m:r>
                        </m:sub>
                      </m:sSub>
                      <m:r>
                        <a:rPr lang="en-US" sz="1600" b="0" i="0" dirty="0" smtClean="0">
                          <a:solidFill>
                            <a:srgbClr val="0F172A"/>
                          </a:solidFill>
                          <a:latin typeface="Cambria Math" panose="02040503050406030204" pitchFamily="18" charset="0"/>
                          <a:ea typeface="Aptos" pitchFamily="34" charset="-122"/>
                          <a:cs typeface="Aptos" pitchFamily="34" charset="-120"/>
                        </a:rPr>
                        <m:t> </m:t>
                      </m:r>
                      <m:r>
                        <a:rPr lang="en-US" sz="1600" dirty="0">
                          <a:solidFill>
                            <a:srgbClr val="0F172A"/>
                          </a:solidFill>
                          <a:latin typeface="Cambria Math" panose="02040503050406030204" pitchFamily="18" charset="0"/>
                          <a:ea typeface="Aptos" pitchFamily="34" charset="-122"/>
                          <a:cs typeface="Aptos" pitchFamily="34" charset="-120"/>
                        </a:rPr>
                        <m:t> = 3 · </m:t>
                      </m:r>
                      <m:r>
                        <m:rPr>
                          <m:sty m:val="p"/>
                        </m:rPr>
                        <a:rPr lang="en-US" sz="1600" dirty="0">
                          <a:solidFill>
                            <a:srgbClr val="0F172A"/>
                          </a:solidFill>
                          <a:latin typeface="Cambria Math" panose="02040503050406030204" pitchFamily="18" charset="0"/>
                          <a:ea typeface="Aptos" pitchFamily="34" charset="-122"/>
                          <a:cs typeface="Aptos" pitchFamily="34" charset="-120"/>
                        </a:rPr>
                        <m:t>cells</m:t>
                      </m:r>
                      <m:r>
                        <a:rPr lang="en-US" sz="1600" dirty="0">
                          <a:solidFill>
                            <a:srgbClr val="0F172A"/>
                          </a:solidFill>
                          <a:latin typeface="Cambria Math" panose="02040503050406030204" pitchFamily="18" charset="0"/>
                          <a:ea typeface="Aptos" pitchFamily="34" charset="-122"/>
                          <a:cs typeface="Aptos" pitchFamily="34" charset="-120"/>
                        </a:rPr>
                        <m:t> · </m:t>
                      </m:r>
                      <m:sSubSup>
                        <m:sSubSupPr>
                          <m:ctrlPr>
                            <a:rPr lang="en-US" sz="1600" dirty="0">
                              <a:solidFill>
                                <a:srgbClr val="0F172A"/>
                              </a:solidFill>
                              <a:latin typeface="Cambria Math" panose="02040503050406030204" pitchFamily="18" charset="0"/>
                              <a:ea typeface="Aptos" pitchFamily="34" charset="-122"/>
                              <a:cs typeface="Aptos" pitchFamily="34" charset="-120"/>
                            </a:rPr>
                          </m:ctrlPr>
                        </m:sSubSupPr>
                        <m:e>
                          <m:r>
                            <m:rPr>
                              <m:sty m:val="p"/>
                            </m:rPr>
                            <a:rPr lang="en-US" sz="1600" dirty="0">
                              <a:solidFill>
                                <a:srgbClr val="0F172A"/>
                              </a:solidFill>
                              <a:latin typeface="Cambria Math" panose="02040503050406030204" pitchFamily="18" charset="0"/>
                              <a:ea typeface="Aptos" pitchFamily="34" charset="-122"/>
                              <a:cs typeface="Aptos" pitchFamily="34" charset="-120"/>
                            </a:rPr>
                            <m:t>I</m:t>
                          </m:r>
                        </m:e>
                        <m:sub>
                          <m:r>
                            <m:rPr>
                              <m:sty m:val="p"/>
                            </m:rPr>
                            <a:rPr lang="en-US" sz="1600" dirty="0">
                              <a:solidFill>
                                <a:srgbClr val="0F172A"/>
                              </a:solidFill>
                              <a:latin typeface="Cambria Math" panose="02040503050406030204" pitchFamily="18" charset="0"/>
                              <a:ea typeface="Aptos" pitchFamily="34" charset="-122"/>
                              <a:cs typeface="Aptos" pitchFamily="34" charset="-120"/>
                            </a:rPr>
                            <m:t>rm</m:t>
                          </m:r>
                          <m:r>
                            <m:rPr>
                              <m:sty m:val="p"/>
                            </m:rPr>
                            <a:rPr lang="en-US" sz="1600" b="0" i="0" dirty="0" smtClean="0">
                              <a:solidFill>
                                <a:srgbClr val="0F172A"/>
                              </a:solidFill>
                              <a:latin typeface="Cambria Math" panose="02040503050406030204" pitchFamily="18" charset="0"/>
                              <a:ea typeface="Aptos" pitchFamily="34" charset="-122"/>
                              <a:cs typeface="Aptos" pitchFamily="34" charset="-120"/>
                            </a:rPr>
                            <m:t>s</m:t>
                          </m:r>
                        </m:sub>
                        <m:sup>
                          <m:r>
                            <a:rPr lang="en-US" sz="1600" b="0" i="1" dirty="0" smtClean="0">
                              <a:solidFill>
                                <a:srgbClr val="0F172A"/>
                              </a:solidFill>
                              <a:latin typeface="Cambria Math" panose="02040503050406030204" pitchFamily="18" charset="0"/>
                              <a:ea typeface="Aptos" pitchFamily="34" charset="-122"/>
                              <a:cs typeface="Aptos" pitchFamily="34" charset="-120"/>
                            </a:rPr>
                            <m:t>2</m:t>
                          </m:r>
                        </m:sup>
                      </m:sSubSup>
                      <m:r>
                        <a:rPr lang="en-US" sz="1600" b="0" i="0" dirty="0" smtClean="0">
                          <a:solidFill>
                            <a:srgbClr val="0F172A"/>
                          </a:solidFill>
                          <a:latin typeface="Cambria Math" panose="02040503050406030204" pitchFamily="18" charset="0"/>
                          <a:ea typeface="Aptos" pitchFamily="34" charset="-122"/>
                          <a:cs typeface="Aptos" pitchFamily="34" charset="-120"/>
                        </a:rPr>
                        <m:t> </m:t>
                      </m:r>
                      <m:r>
                        <a:rPr lang="en-US" sz="1600" dirty="0">
                          <a:solidFill>
                            <a:srgbClr val="0F172A"/>
                          </a:solidFill>
                          <a:latin typeface="Cambria Math" panose="02040503050406030204" pitchFamily="18" charset="0"/>
                          <a:ea typeface="Aptos" pitchFamily="34" charset="-122"/>
                          <a:cs typeface="Aptos" pitchFamily="34" charset="-120"/>
                        </a:rPr>
                        <m:t>·</m:t>
                      </m:r>
                      <m:f>
                        <m:fPr>
                          <m:ctrlPr>
                            <a:rPr lang="en-US" sz="1600" b="0" i="0" dirty="0" smtClean="0">
                              <a:solidFill>
                                <a:srgbClr val="0F172A"/>
                              </a:solidFill>
                              <a:latin typeface="Cambria Math" panose="02040503050406030204" pitchFamily="18" charset="0"/>
                              <a:ea typeface="Aptos" pitchFamily="34" charset="-122"/>
                              <a:cs typeface="Aptos" pitchFamily="34" charset="-120"/>
                            </a:rPr>
                          </m:ctrlPr>
                        </m:fPr>
                        <m:num>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R</m:t>
                              </m:r>
                            </m:e>
                            <m:sub>
                              <m:r>
                                <m:rPr>
                                  <m:sty m:val="p"/>
                                </m:rPr>
                                <a:rPr lang="en-US" sz="1600" dirty="0">
                                  <a:solidFill>
                                    <a:srgbClr val="0F172A"/>
                                  </a:solidFill>
                                  <a:latin typeface="Cambria Math" panose="02040503050406030204" pitchFamily="18" charset="0"/>
                                  <a:ea typeface="Aptos" pitchFamily="34" charset="-122"/>
                                  <a:cs typeface="Aptos" pitchFamily="34" charset="-120"/>
                                </a:rPr>
                                <m:t>D</m:t>
                              </m:r>
                              <m:r>
                                <m:rPr>
                                  <m:sty m:val="p"/>
                                </m:rPr>
                                <a:rPr lang="en-US" sz="1600" b="0" i="0" dirty="0" smtClean="0">
                                  <a:solidFill>
                                    <a:srgbClr val="0F172A"/>
                                  </a:solidFill>
                                  <a:latin typeface="Cambria Math" panose="02040503050406030204" pitchFamily="18" charset="0"/>
                                  <a:ea typeface="Aptos" pitchFamily="34" charset="-122"/>
                                  <a:cs typeface="Aptos" pitchFamily="34" charset="-120"/>
                                </a:rPr>
                                <m:t>S</m:t>
                              </m:r>
                              <m:d>
                                <m:dPr>
                                  <m:ctrlPr>
                                    <a:rPr lang="en-US" sz="1600" b="0" i="0" dirty="0" smtClean="0">
                                      <a:solidFill>
                                        <a:srgbClr val="0F172A"/>
                                      </a:solidFill>
                                      <a:latin typeface="Cambria Math" panose="02040503050406030204" pitchFamily="18" charset="0"/>
                                      <a:ea typeface="Aptos" pitchFamily="34" charset="-122"/>
                                      <a:cs typeface="Aptos" pitchFamily="34" charset="-120"/>
                                    </a:rPr>
                                  </m:ctrlPr>
                                </m:dPr>
                                <m:e>
                                  <m:r>
                                    <m:rPr>
                                      <m:sty m:val="p"/>
                                    </m:rPr>
                                    <a:rPr lang="en-US" sz="1600" b="0" i="0" dirty="0" smtClean="0">
                                      <a:solidFill>
                                        <a:srgbClr val="0F172A"/>
                                      </a:solidFill>
                                      <a:latin typeface="Cambria Math" panose="02040503050406030204" pitchFamily="18" charset="0"/>
                                      <a:ea typeface="Aptos" pitchFamily="34" charset="-122"/>
                                      <a:cs typeface="Aptos" pitchFamily="34" charset="-120"/>
                                    </a:rPr>
                                    <m:t>ON</m:t>
                                  </m:r>
                                </m:e>
                              </m:d>
                            </m:sub>
                          </m:sSub>
                        </m:num>
                        <m:den>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n</m:t>
                              </m:r>
                            </m:e>
                            <m:sub>
                              <m:r>
                                <m:rPr>
                                  <m:sty m:val="p"/>
                                </m:rPr>
                                <a:rPr lang="en-US" sz="1600" dirty="0">
                                  <a:solidFill>
                                    <a:srgbClr val="0F172A"/>
                                  </a:solidFill>
                                  <a:latin typeface="Cambria Math" panose="02040503050406030204" pitchFamily="18" charset="0"/>
                                  <a:ea typeface="Aptos" pitchFamily="34" charset="-122"/>
                                  <a:cs typeface="Aptos" pitchFamily="34" charset="-120"/>
                                </a:rPr>
                                <m:t>par</m:t>
                              </m:r>
                            </m:sub>
                          </m:sSub>
                        </m:den>
                      </m:f>
                    </m:oMath>
                  </m:oMathPara>
                </a14:m>
              </a:p>
            </p:txBody>
          </p:sp>
        </mc:Choice>
        <mc:Fallback>
          <p:sp>
            <p:nvSpPr>
              <p:cNvPr id="13" name="Shape 15">
                <a:extLst>
                  <a:ext uri="{FF2B5EF4-FFF2-40B4-BE49-F238E27FC236}">
                    <a16:creationId xmlns:a16="http://schemas.microsoft.com/office/drawing/2014/main" id="{BE0A91D4-34EF-1030-B85B-8631E84E9772}"/>
                  </a:ext>
                </a:extLst>
              </p:cNvPr>
              <p:cNvSpPr>
                <a:spLocks noRot="1" noChangeAspect="1" noMove="1" noResize="1" noEditPoints="1" noAdjustHandles="1" noChangeArrowheads="1" noChangeShapeType="1" noTextEdit="1"/>
              </p:cNvSpPr>
              <p:nvPr/>
            </p:nvSpPr>
            <p:spPr>
              <a:xfrm>
                <a:off x="1352917" y="1358056"/>
                <a:ext cx="3722544" cy="662452"/>
              </a:xfrm>
              <a:prstGeom prst="roundRect">
                <a:avLst>
                  <a:gd name="adj" fmla="val 18750"/>
                </a:avLst>
              </a:prstGeom>
              <a:blipFill>
                <a:blip r:embed="rId4"/>
                <a:stretch>
                  <a:fillRect/>
                </a:stretch>
              </a:blipFill>
              <a:ln w="12700">
                <a:solidFill>
                  <a:srgbClr val="DEF0FF"/>
                </a:solidFill>
                <a:prstDash val="solid"/>
              </a:ln>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6" name="Shape 15">
                <a:extLst>
                  <a:ext uri="{FF2B5EF4-FFF2-40B4-BE49-F238E27FC236}">
                    <a16:creationId xmlns:a16="http://schemas.microsoft.com/office/drawing/2014/main" id="{B504CEA7-988E-CA65-0495-EBB0DD02D3C0}"/>
                  </a:ext>
                </a:extLst>
              </p:cNvPr>
              <p:cNvSpPr/>
              <p:nvPr/>
            </p:nvSpPr>
            <p:spPr>
              <a:xfrm>
                <a:off x="1352917" y="3937975"/>
                <a:ext cx="3722544" cy="662452"/>
              </a:xfrm>
              <a:prstGeom prst="roundRect">
                <a:avLst>
                  <a:gd name="adj" fmla="val 18750"/>
                </a:avLst>
              </a:prstGeom>
              <a:solidFill>
                <a:schemeClr val="tx2">
                  <a:lumMod val="10000"/>
                  <a:lumOff val="90000"/>
                </a:schemeClr>
              </a:solidFill>
              <a:ln w="12700">
                <a:solidFill>
                  <a:schemeClr val="tx2">
                    <a:lumMod val="10000"/>
                    <a:lumOff val="90000"/>
                  </a:schemeClr>
                </a:solidFill>
                <a:prstDash val="solid"/>
              </a:ln>
            </p:spPr>
            <p:txBody>
              <a:bodyPr/>
              <a:lstStyle/>
              <a:p>
                <a14:m>
                  <m:oMathPara xmlns:m="http://schemas.openxmlformats.org/officeDocument/2006/math">
                    <m:oMath>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P</m:t>
                          </m:r>
                        </m:e>
                        <m:sub>
                          <m:r>
                            <m:rPr>
                              <m:sty m:val="p"/>
                            </m:rPr>
                            <a:rPr lang="en-US" sz="1600" dirty="0">
                              <a:solidFill>
                                <a:srgbClr val="0F172A"/>
                              </a:solidFill>
                              <a:latin typeface="Cambria Math" panose="02040503050406030204" pitchFamily="18" charset="0"/>
                              <a:ea typeface="Aptos" pitchFamily="34" charset="-122"/>
                              <a:cs typeface="Aptos" pitchFamily="34" charset="-120"/>
                            </a:rPr>
                            <m:t>sw</m:t>
                          </m:r>
                        </m:sub>
                      </m:sSub>
                      <m:r>
                        <a:rPr lang="en-US" sz="1600" b="0" i="0" dirty="0" smtClean="0">
                          <a:solidFill>
                            <a:srgbClr val="0F172A"/>
                          </a:solidFill>
                          <a:latin typeface="Cambria Math" panose="02040503050406030204" pitchFamily="18" charset="0"/>
                          <a:ea typeface="Aptos" pitchFamily="34" charset="-122"/>
                          <a:cs typeface="Aptos" pitchFamily="34" charset="-120"/>
                        </a:rPr>
                        <m:t>  </m:t>
                      </m:r>
                      <m:r>
                        <a:rPr lang="en-US" sz="1600" dirty="0">
                          <a:solidFill>
                            <a:srgbClr val="0F172A"/>
                          </a:solidFill>
                          <a:latin typeface="Cambria Math" panose="02040503050406030204" pitchFamily="18" charset="0"/>
                          <a:ea typeface="Aptos" pitchFamily="34" charset="-122"/>
                          <a:cs typeface="Aptos" pitchFamily="34" charset="-120"/>
                        </a:rPr>
                        <m:t>= 3·</m:t>
                      </m:r>
                      <m:r>
                        <m:rPr>
                          <m:sty m:val="p"/>
                        </m:rPr>
                        <a:rPr lang="en-US" sz="1600" dirty="0">
                          <a:solidFill>
                            <a:srgbClr val="0F172A"/>
                          </a:solidFill>
                          <a:latin typeface="Cambria Math" panose="02040503050406030204" pitchFamily="18" charset="0"/>
                          <a:ea typeface="Aptos" pitchFamily="34" charset="-122"/>
                          <a:cs typeface="Aptos" pitchFamily="34" charset="-120"/>
                        </a:rPr>
                        <m:t>cells</m:t>
                      </m:r>
                      <m:r>
                        <a:rPr lang="en-US" sz="1600" dirty="0">
                          <a:solidFill>
                            <a:srgbClr val="0F172A"/>
                          </a:solidFill>
                          <a:latin typeface="Cambria Math" panose="02040503050406030204" pitchFamily="18" charset="0"/>
                          <a:ea typeface="Aptos" pitchFamily="34" charset="-122"/>
                          <a:cs typeface="Aptos" pitchFamily="34" charset="-120"/>
                        </a:rPr>
                        <m:t>·</m:t>
                      </m:r>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f</m:t>
                          </m:r>
                        </m:e>
                        <m:sub>
                          <m:r>
                            <m:rPr>
                              <m:sty m:val="p"/>
                            </m:rPr>
                            <a:rPr lang="en-US" sz="1600" dirty="0">
                              <a:solidFill>
                                <a:srgbClr val="0F172A"/>
                              </a:solidFill>
                              <a:latin typeface="Cambria Math" panose="02040503050406030204" pitchFamily="18" charset="0"/>
                              <a:ea typeface="Aptos" pitchFamily="34" charset="-122"/>
                              <a:cs typeface="Aptos" pitchFamily="34" charset="-120"/>
                            </a:rPr>
                            <m:t>sw</m:t>
                          </m:r>
                        </m:sub>
                      </m:sSub>
                      <m:r>
                        <a:rPr lang="en-US" sz="1600" dirty="0">
                          <a:solidFill>
                            <a:srgbClr val="0F172A"/>
                          </a:solidFill>
                          <a:latin typeface="Cambria Math" panose="02040503050406030204" pitchFamily="18" charset="0"/>
                          <a:ea typeface="Aptos" pitchFamily="34" charset="-122"/>
                          <a:cs typeface="Aptos" pitchFamily="34" charset="-120"/>
                        </a:rPr>
                        <m:t>·(</m:t>
                      </m:r>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E</m:t>
                          </m:r>
                        </m:e>
                        <m:sub>
                          <m:r>
                            <m:rPr>
                              <m:sty m:val="p"/>
                            </m:rPr>
                            <a:rPr lang="en-US" sz="1600" dirty="0">
                              <a:solidFill>
                                <a:srgbClr val="0F172A"/>
                              </a:solidFill>
                              <a:latin typeface="Cambria Math" panose="02040503050406030204" pitchFamily="18" charset="0"/>
                              <a:ea typeface="Aptos" pitchFamily="34" charset="-122"/>
                              <a:cs typeface="Aptos" pitchFamily="34" charset="-120"/>
                            </a:rPr>
                            <m:t>Coss</m:t>
                          </m:r>
                        </m:sub>
                      </m:sSub>
                      <m:r>
                        <a:rPr lang="en-US" sz="1600" dirty="0">
                          <a:solidFill>
                            <a:srgbClr val="0F172A"/>
                          </a:solidFill>
                          <a:latin typeface="Cambria Math" panose="02040503050406030204" pitchFamily="18" charset="0"/>
                          <a:ea typeface="Aptos" pitchFamily="34" charset="-122"/>
                          <a:cs typeface="Aptos" pitchFamily="34" charset="-120"/>
                        </a:rPr>
                        <m:t>+</m:t>
                      </m:r>
                      <m:sSub>
                        <m:sSubPr>
                          <m:ctrlPr>
                            <a:rPr lang="en-US" sz="1600" dirty="0">
                              <a:solidFill>
                                <a:srgbClr val="0F172A"/>
                              </a:solidFill>
                              <a:latin typeface="Cambria Math" panose="02040503050406030204" pitchFamily="18" charset="0"/>
                              <a:ea typeface="Aptos" pitchFamily="34" charset="-122"/>
                              <a:cs typeface="Aptos" pitchFamily="34" charset="-120"/>
                            </a:rPr>
                          </m:ctrlPr>
                        </m:sSubPr>
                        <m:e>
                          <m:r>
                            <m:rPr>
                              <m:sty m:val="p"/>
                            </m:rPr>
                            <a:rPr lang="en-US" sz="1600" dirty="0">
                              <a:solidFill>
                                <a:srgbClr val="0F172A"/>
                              </a:solidFill>
                              <a:latin typeface="Cambria Math" panose="02040503050406030204" pitchFamily="18" charset="0"/>
                              <a:ea typeface="Aptos" pitchFamily="34" charset="-122"/>
                              <a:cs typeface="Aptos" pitchFamily="34" charset="-120"/>
                            </a:rPr>
                            <m:t>E</m:t>
                          </m:r>
                        </m:e>
                        <m:sub>
                          <m:r>
                            <m:rPr>
                              <m:sty m:val="p"/>
                            </m:rPr>
                            <a:rPr lang="en-US" sz="1600" dirty="0">
                              <a:solidFill>
                                <a:srgbClr val="0F172A"/>
                              </a:solidFill>
                              <a:latin typeface="Cambria Math" panose="02040503050406030204" pitchFamily="18" charset="0"/>
                              <a:ea typeface="Aptos" pitchFamily="34" charset="-122"/>
                              <a:cs typeface="Aptos" pitchFamily="34" charset="-120"/>
                            </a:rPr>
                            <m:t>overlap</m:t>
                          </m:r>
                        </m:sub>
                      </m:sSub>
                      <m:r>
                        <a:rPr lang="en-US" sz="1600" dirty="0">
                          <a:solidFill>
                            <a:srgbClr val="0F172A"/>
                          </a:solidFill>
                          <a:latin typeface="Cambria Math" panose="02040503050406030204" pitchFamily="18" charset="0"/>
                          <a:ea typeface="Aptos" pitchFamily="34" charset="-122"/>
                          <a:cs typeface="Aptos" pitchFamily="34" charset="-120"/>
                        </a:rPr>
                        <m:t>)</m:t>
                      </m:r>
                    </m:oMath>
                  </m:oMathPara>
                </a14:m>
              </a:p>
            </p:txBody>
          </p:sp>
        </mc:Choice>
        <mc:Fallback>
          <p:sp>
            <p:nvSpPr>
              <p:cNvPr id="16" name="Shape 15">
                <a:extLst>
                  <a:ext uri="{FF2B5EF4-FFF2-40B4-BE49-F238E27FC236}">
                    <a16:creationId xmlns:a16="http://schemas.microsoft.com/office/drawing/2014/main" id="{B504CEA7-988E-CA65-0495-EBB0DD02D3C0}"/>
                  </a:ext>
                </a:extLst>
              </p:cNvPr>
              <p:cNvSpPr>
                <a:spLocks noRot="1" noChangeAspect="1" noMove="1" noResize="1" noEditPoints="1" noAdjustHandles="1" noChangeArrowheads="1" noChangeShapeType="1" noTextEdit="1"/>
              </p:cNvSpPr>
              <p:nvPr/>
            </p:nvSpPr>
            <p:spPr>
              <a:xfrm>
                <a:off x="1352917" y="3937975"/>
                <a:ext cx="3722544" cy="662452"/>
              </a:xfrm>
              <a:prstGeom prst="roundRect">
                <a:avLst>
                  <a:gd name="adj" fmla="val 18750"/>
                </a:avLst>
              </a:prstGeom>
              <a:blipFill>
                <a:blip r:embed="rId5"/>
                <a:stretch>
                  <a:fillRect r="-489"/>
                </a:stretch>
              </a:blipFill>
              <a:ln w="12700">
                <a:solidFill>
                  <a:schemeClr val="tx2">
                    <a:lumMod val="10000"/>
                    <a:lumOff val="90000"/>
                  </a:schemeClr>
                </a:solidFill>
                <a:prstDash val="solid"/>
              </a:ln>
            </p:spPr>
            <p:txBody>
              <a:bodyPr/>
              <a:lstStyle/>
              <a:p>
                <a:r>
                  <a:rPr lang="sv-SE">
                    <a:noFill/>
                  </a:rPr>
                  <a:t> </a:t>
                </a:r>
              </a:p>
            </p:txBody>
          </p:sp>
        </mc:Fallback>
      </mc:AlternateContent>
      <p:sp>
        <p:nvSpPr>
          <p:cNvPr id="20" name="Shape 7">
            <a:extLst>
              <a:ext uri="{FF2B5EF4-FFF2-40B4-BE49-F238E27FC236}">
                <a16:creationId xmlns:a16="http://schemas.microsoft.com/office/drawing/2014/main" id="{0F858CE7-9E6D-1C67-FD19-44E9ED1F7323}"/>
              </a:ext>
            </a:extLst>
          </p:cNvPr>
          <p:cNvSpPr/>
          <p:nvPr/>
        </p:nvSpPr>
        <p:spPr>
          <a:xfrm>
            <a:off x="6489883" y="937302"/>
            <a:ext cx="73152" cy="1874520"/>
          </a:xfrm>
          <a:prstGeom prst="rect">
            <a:avLst/>
          </a:prstGeom>
          <a:solidFill>
            <a:srgbClr val="059669"/>
          </a:solidFill>
          <a:ln w="12700">
            <a:solidFill>
              <a:srgbClr val="059669"/>
            </a:solidFill>
            <a:prstDash val="solid"/>
          </a:ln>
        </p:spPr>
        <p:txBody>
          <a:bodyPr/>
          <a:lstStyle/>
          <a:p>
            <a:endParaRPr lang="sv-SE"/>
          </a:p>
        </p:txBody>
      </p:sp>
      <p:sp>
        <p:nvSpPr>
          <p:cNvPr id="24" name="Shape 11">
            <a:extLst>
              <a:ext uri="{FF2B5EF4-FFF2-40B4-BE49-F238E27FC236}">
                <a16:creationId xmlns:a16="http://schemas.microsoft.com/office/drawing/2014/main" id="{0F7560D5-A9C9-56B5-F25A-C29AADFA1FFA}"/>
              </a:ext>
            </a:extLst>
          </p:cNvPr>
          <p:cNvSpPr/>
          <p:nvPr/>
        </p:nvSpPr>
        <p:spPr>
          <a:xfrm>
            <a:off x="6489881" y="3159643"/>
            <a:ext cx="102233" cy="1874520"/>
          </a:xfrm>
          <a:prstGeom prst="rect">
            <a:avLst/>
          </a:prstGeom>
          <a:solidFill>
            <a:srgbClr val="EA580C"/>
          </a:solidFill>
          <a:ln w="12700">
            <a:solidFill>
              <a:srgbClr val="EA580C"/>
            </a:solidFill>
            <a:prstDash val="solid"/>
          </a:ln>
        </p:spPr>
        <p:txBody>
          <a:bodyPr/>
          <a:lstStyle/>
          <a:p>
            <a:endParaRPr lang="sv-SE"/>
          </a:p>
        </p:txBody>
      </p:sp>
      <p:sp>
        <p:nvSpPr>
          <p:cNvPr id="26" name="Shape 2">
            <a:extLst>
              <a:ext uri="{FF2B5EF4-FFF2-40B4-BE49-F238E27FC236}">
                <a16:creationId xmlns:a16="http://schemas.microsoft.com/office/drawing/2014/main" id="{6E497B2B-2CF4-8E40-EE69-4F68CC4048EA}"/>
              </a:ext>
            </a:extLst>
          </p:cNvPr>
          <p:cNvSpPr/>
          <p:nvPr/>
        </p:nvSpPr>
        <p:spPr>
          <a:xfrm>
            <a:off x="6563034" y="937302"/>
            <a:ext cx="4470926" cy="187452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What it captures</a:t>
            </a:r>
          </a:p>
          <a:p>
            <a:endParaRPr lang="en-US" dirty="0"/>
          </a:p>
          <a:p>
            <a:r>
              <a:rPr lang="en-US" sz="1600" dirty="0">
                <a:solidFill>
                  <a:srgbClr val="475569"/>
                </a:solidFill>
              </a:rPr>
              <a:t>• higher cell count reduces </a:t>
            </a:r>
            <a:r>
              <a:rPr lang="en-US" sz="1600" dirty="0" err="1">
                <a:solidFill>
                  <a:srgbClr val="475569"/>
                </a:solidFill>
              </a:rPr>
              <a:t>Vcell</a:t>
            </a:r>
            <a:endParaRPr lang="en-US" sz="1600" dirty="0"/>
          </a:p>
          <a:p>
            <a:r>
              <a:rPr lang="en-US" sz="1600" dirty="0">
                <a:solidFill>
                  <a:srgbClr val="475569"/>
                </a:solidFill>
              </a:rPr>
              <a:t>• lower-voltage devices reduce RDS(on)</a:t>
            </a:r>
            <a:endParaRPr lang="en-US" sz="1600" dirty="0"/>
          </a:p>
          <a:p>
            <a:r>
              <a:rPr lang="en-US" sz="1600" dirty="0">
                <a:solidFill>
                  <a:srgbClr val="475569"/>
                </a:solidFill>
              </a:rPr>
              <a:t>• higher </a:t>
            </a:r>
            <a:r>
              <a:rPr lang="en-US" sz="1600" dirty="0" err="1">
                <a:solidFill>
                  <a:srgbClr val="475569"/>
                </a:solidFill>
              </a:rPr>
              <a:t>fsw</a:t>
            </a:r>
            <a:r>
              <a:rPr lang="en-US" sz="1600" dirty="0">
                <a:solidFill>
                  <a:srgbClr val="475569"/>
                </a:solidFill>
              </a:rPr>
              <a:t> amplifies switching energy</a:t>
            </a:r>
            <a:endParaRPr lang="en-US" sz="1600" dirty="0"/>
          </a:p>
          <a:p>
            <a:r>
              <a:rPr lang="en-US" sz="1600" dirty="0">
                <a:solidFill>
                  <a:srgbClr val="475569"/>
                </a:solidFill>
              </a:rPr>
              <a:t>• dv/dt and di/dt affect VI overlap</a:t>
            </a:r>
            <a:endParaRPr lang="en-US" sz="1600" dirty="0"/>
          </a:p>
          <a:p>
            <a:endParaRPr lang="sv-SE" dirty="0"/>
          </a:p>
        </p:txBody>
      </p:sp>
      <p:sp>
        <p:nvSpPr>
          <p:cNvPr id="30" name="Shape 2">
            <a:extLst>
              <a:ext uri="{FF2B5EF4-FFF2-40B4-BE49-F238E27FC236}">
                <a16:creationId xmlns:a16="http://schemas.microsoft.com/office/drawing/2014/main" id="{606570B4-1E1E-32E5-F1FE-22007F291924}"/>
              </a:ext>
            </a:extLst>
          </p:cNvPr>
          <p:cNvSpPr/>
          <p:nvPr/>
        </p:nvSpPr>
        <p:spPr>
          <a:xfrm>
            <a:off x="6563034" y="3159643"/>
            <a:ext cx="4600466" cy="187452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What it still misses</a:t>
            </a:r>
          </a:p>
          <a:p>
            <a:endParaRPr lang="en-US" dirty="0"/>
          </a:p>
          <a:p>
            <a:r>
              <a:rPr lang="en-US" sz="1600" dirty="0">
                <a:solidFill>
                  <a:srgbClr val="475569"/>
                </a:solidFill>
              </a:rPr>
              <a:t>• measured Eon/Eoff per device</a:t>
            </a:r>
            <a:endParaRPr lang="en-US" sz="1600" dirty="0"/>
          </a:p>
          <a:p>
            <a:r>
              <a:rPr lang="en-US" sz="1600" dirty="0">
                <a:solidFill>
                  <a:srgbClr val="475569"/>
                </a:solidFill>
              </a:rPr>
              <a:t>• dynamic RDS(on)</a:t>
            </a:r>
            <a:endParaRPr lang="en-US" sz="1600" dirty="0"/>
          </a:p>
          <a:p>
            <a:r>
              <a:rPr lang="en-US" sz="1600" dirty="0">
                <a:solidFill>
                  <a:srgbClr val="475569"/>
                </a:solidFill>
              </a:rPr>
              <a:t>• thermal impedance</a:t>
            </a:r>
            <a:endParaRPr lang="en-US" sz="1600" dirty="0"/>
          </a:p>
          <a:p>
            <a:r>
              <a:rPr lang="en-US" sz="1600" dirty="0">
                <a:solidFill>
                  <a:srgbClr val="475569"/>
                </a:solidFill>
              </a:rPr>
              <a:t>• layout inductance and overshoot</a:t>
            </a:r>
            <a:endParaRPr lang="en-US" sz="1600" dirty="0"/>
          </a:p>
          <a:p>
            <a:r>
              <a:rPr lang="en-US" sz="1600" dirty="0">
                <a:solidFill>
                  <a:srgbClr val="475569"/>
                </a:solidFill>
              </a:rPr>
              <a:t>• DC-link capacitor ripple</a:t>
            </a:r>
            <a:endParaRPr lang="en-US" sz="1600" dirty="0"/>
          </a:p>
          <a:p>
            <a:endParaRPr lang="sv-SE" dirty="0"/>
          </a:p>
        </p:txBody>
      </p:sp>
      <p:sp>
        <p:nvSpPr>
          <p:cNvPr id="33" name="TextBox 32">
            <a:extLst>
              <a:ext uri="{FF2B5EF4-FFF2-40B4-BE49-F238E27FC236}">
                <a16:creationId xmlns:a16="http://schemas.microsoft.com/office/drawing/2014/main" id="{2ED54375-E0F4-4226-EEFC-7D76E9D8FB66}"/>
              </a:ext>
            </a:extLst>
          </p:cNvPr>
          <p:cNvSpPr txBox="1"/>
          <p:nvPr/>
        </p:nvSpPr>
        <p:spPr>
          <a:xfrm>
            <a:off x="2324714" y="5786143"/>
            <a:ext cx="6096000" cy="553998"/>
          </a:xfrm>
          <a:prstGeom prst="rect">
            <a:avLst/>
          </a:prstGeom>
          <a:noFill/>
        </p:spPr>
        <p:txBody>
          <a:bodyPr wrap="square">
            <a:spAutoFit/>
          </a:bodyPr>
          <a:lstStyle/>
          <a:p>
            <a:pPr marL="0" indent="0" algn="ctr">
              <a:buNone/>
            </a:pPr>
            <a:r>
              <a:rPr lang="en-US" sz="1500" b="1" dirty="0">
                <a:solidFill>
                  <a:srgbClr val="0F172A"/>
                </a:solidFill>
              </a:rPr>
              <a:t>Next step: replace the generic overlap model with measured or datasheet-based Eon/Eoff for each candidate voltage class.</a:t>
            </a:r>
            <a:endParaRPr lang="en-US" sz="1500" dirty="0"/>
          </a:p>
        </p:txBody>
      </p:sp>
    </p:spTree>
    <p:extLst>
      <p:ext uri="{BB962C8B-B14F-4D97-AF65-F5344CB8AC3E}">
        <p14:creationId xmlns:p14="http://schemas.microsoft.com/office/powerpoint/2010/main" val="3418385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F9BB4-398B-613F-1350-631B709DA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1C0F1-F967-35CE-F5A9-1C72D06EE426}"/>
              </a:ext>
            </a:extLst>
          </p:cNvPr>
          <p:cNvSpPr>
            <a:spLocks noGrp="1"/>
          </p:cNvSpPr>
          <p:nvPr>
            <p:ph type="title"/>
          </p:nvPr>
        </p:nvSpPr>
        <p:spPr>
          <a:xfrm>
            <a:off x="1028500" y="368890"/>
            <a:ext cx="10990263" cy="568412"/>
          </a:xfrm>
        </p:spPr>
        <p:txBody>
          <a:bodyPr/>
          <a:lstStyle/>
          <a:p>
            <a:r>
              <a:rPr lang="en-US" dirty="0"/>
              <a:t>Suggested comparative study for the project</a:t>
            </a:r>
          </a:p>
        </p:txBody>
      </p:sp>
      <p:sp>
        <p:nvSpPr>
          <p:cNvPr id="5" name="Shape 2">
            <a:extLst>
              <a:ext uri="{FF2B5EF4-FFF2-40B4-BE49-F238E27FC236}">
                <a16:creationId xmlns:a16="http://schemas.microsoft.com/office/drawing/2014/main" id="{47EED758-C1CC-36B7-9FE4-86D9872C149C}"/>
              </a:ext>
            </a:extLst>
          </p:cNvPr>
          <p:cNvSpPr/>
          <p:nvPr/>
        </p:nvSpPr>
        <p:spPr>
          <a:xfrm>
            <a:off x="527795" y="1412232"/>
            <a:ext cx="3291840" cy="187452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Case A: simple high-voltage SPB</a:t>
            </a:r>
            <a:endParaRPr lang="en-US" dirty="0"/>
          </a:p>
          <a:p>
            <a:pPr marL="285750" indent="-285750">
              <a:buFont typeface="Arial" panose="020B0604020202020204" pitchFamily="34" charset="0"/>
              <a:buChar char="•"/>
            </a:pPr>
            <a:r>
              <a:rPr lang="en-US" sz="1600" dirty="0">
                <a:solidFill>
                  <a:srgbClr val="475569"/>
                </a:solidFill>
              </a:rPr>
              <a:t>650 V </a:t>
            </a:r>
            <a:r>
              <a:rPr lang="en-US" sz="1600" dirty="0" err="1">
                <a:solidFill>
                  <a:srgbClr val="475569"/>
                </a:solidFill>
              </a:rPr>
              <a:t>GaN</a:t>
            </a:r>
            <a:endParaRPr lang="en-US" sz="1600" dirty="0"/>
          </a:p>
          <a:p>
            <a:pPr marL="285750" indent="-285750">
              <a:buFont typeface="Arial" panose="020B0604020202020204" pitchFamily="34" charset="0"/>
              <a:buChar char="•"/>
            </a:pPr>
            <a:r>
              <a:rPr lang="en-US" sz="1600" dirty="0">
                <a:solidFill>
                  <a:srgbClr val="475569"/>
                </a:solidFill>
              </a:rPr>
              <a:t>3 cells </a:t>
            </a:r>
          </a:p>
          <a:p>
            <a:pPr marL="285750" indent="-285750">
              <a:buFont typeface="Arial" panose="020B0604020202020204" pitchFamily="34" charset="0"/>
              <a:buChar char="•"/>
            </a:pPr>
            <a:r>
              <a:rPr lang="en-US" sz="1600" dirty="0">
                <a:solidFill>
                  <a:srgbClr val="475569"/>
                </a:solidFill>
              </a:rPr>
              <a:t>Mature devices, low cell count</a:t>
            </a:r>
            <a:endParaRPr lang="en-US" sz="1600" dirty="0"/>
          </a:p>
          <a:p>
            <a:pPr marL="285750" indent="-285750">
              <a:buFont typeface="Arial" panose="020B0604020202020204" pitchFamily="34" charset="0"/>
              <a:buChar char="•"/>
            </a:pPr>
            <a:r>
              <a:rPr lang="en-US" sz="1600" dirty="0">
                <a:solidFill>
                  <a:srgbClr val="475569"/>
                </a:solidFill>
              </a:rPr>
              <a:t>Lower sensing and gate-drive overhead</a:t>
            </a:r>
            <a:endParaRPr lang="en-US" sz="1600" dirty="0"/>
          </a:p>
          <a:p>
            <a:endParaRPr lang="sv-SE" dirty="0"/>
          </a:p>
        </p:txBody>
      </p:sp>
      <p:sp>
        <p:nvSpPr>
          <p:cNvPr id="7" name="Shape 3">
            <a:extLst>
              <a:ext uri="{FF2B5EF4-FFF2-40B4-BE49-F238E27FC236}">
                <a16:creationId xmlns:a16="http://schemas.microsoft.com/office/drawing/2014/main" id="{C4BEE273-432D-AA05-C364-FE6FB6DB60E6}"/>
              </a:ext>
            </a:extLst>
          </p:cNvPr>
          <p:cNvSpPr/>
          <p:nvPr/>
        </p:nvSpPr>
        <p:spPr>
          <a:xfrm>
            <a:off x="454643" y="1412232"/>
            <a:ext cx="73152" cy="1874520"/>
          </a:xfrm>
          <a:prstGeom prst="rect">
            <a:avLst/>
          </a:prstGeom>
          <a:solidFill>
            <a:srgbClr val="2563EB"/>
          </a:solidFill>
          <a:ln w="12700">
            <a:solidFill>
              <a:srgbClr val="2563EB"/>
            </a:solidFill>
            <a:prstDash val="solid"/>
          </a:ln>
        </p:spPr>
        <p:txBody>
          <a:bodyPr/>
          <a:lstStyle/>
          <a:p>
            <a:endParaRPr lang="sv-SE"/>
          </a:p>
        </p:txBody>
      </p:sp>
      <p:sp>
        <p:nvSpPr>
          <p:cNvPr id="11" name="Text 4">
            <a:extLst>
              <a:ext uri="{FF2B5EF4-FFF2-40B4-BE49-F238E27FC236}">
                <a16:creationId xmlns:a16="http://schemas.microsoft.com/office/drawing/2014/main" id="{45B5C6E8-8CAD-CEAF-C674-3464E98FD8E5}"/>
              </a:ext>
            </a:extLst>
          </p:cNvPr>
          <p:cNvSpPr/>
          <p:nvPr/>
        </p:nvSpPr>
        <p:spPr>
          <a:xfrm>
            <a:off x="637523" y="1558536"/>
            <a:ext cx="2971800" cy="228600"/>
          </a:xfrm>
          <a:prstGeom prst="rect">
            <a:avLst/>
          </a:prstGeom>
          <a:noFill/>
          <a:ln/>
        </p:spPr>
        <p:txBody>
          <a:bodyPr wrap="square" lIns="0" tIns="0" rIns="0" bIns="0" rtlCol="0" anchor="ctr"/>
          <a:lstStyle/>
          <a:p>
            <a:pPr marL="0" indent="0">
              <a:buNone/>
            </a:pPr>
            <a:endParaRPr lang="en-US" sz="1400" dirty="0"/>
          </a:p>
        </p:txBody>
      </p:sp>
      <p:sp>
        <p:nvSpPr>
          <p:cNvPr id="14" name="Text 5">
            <a:extLst>
              <a:ext uri="{FF2B5EF4-FFF2-40B4-BE49-F238E27FC236}">
                <a16:creationId xmlns:a16="http://schemas.microsoft.com/office/drawing/2014/main" id="{5E663DF0-66DE-17D8-2D5A-B29469951488}"/>
              </a:ext>
            </a:extLst>
          </p:cNvPr>
          <p:cNvSpPr/>
          <p:nvPr/>
        </p:nvSpPr>
        <p:spPr>
          <a:xfrm>
            <a:off x="637523" y="1869432"/>
            <a:ext cx="2971800" cy="1307592"/>
          </a:xfrm>
          <a:prstGeom prst="rect">
            <a:avLst/>
          </a:prstGeom>
          <a:noFill/>
          <a:ln/>
        </p:spPr>
        <p:txBody>
          <a:bodyPr wrap="square" lIns="254" tIns="254" rIns="254" bIns="254" rtlCol="0" anchor="ctr">
            <a:normAutofit/>
          </a:bodyPr>
          <a:lstStyle/>
          <a:p>
            <a:endParaRPr lang="en-US" sz="1050" dirty="0"/>
          </a:p>
        </p:txBody>
      </p:sp>
      <p:sp>
        <p:nvSpPr>
          <p:cNvPr id="18" name="Shape 7">
            <a:extLst>
              <a:ext uri="{FF2B5EF4-FFF2-40B4-BE49-F238E27FC236}">
                <a16:creationId xmlns:a16="http://schemas.microsoft.com/office/drawing/2014/main" id="{B3191A29-DB39-CC10-BA57-CE41A084424F}"/>
              </a:ext>
            </a:extLst>
          </p:cNvPr>
          <p:cNvSpPr/>
          <p:nvPr/>
        </p:nvSpPr>
        <p:spPr>
          <a:xfrm>
            <a:off x="4249403" y="1412232"/>
            <a:ext cx="73152" cy="1874520"/>
          </a:xfrm>
          <a:prstGeom prst="rect">
            <a:avLst/>
          </a:prstGeom>
          <a:solidFill>
            <a:srgbClr val="059669"/>
          </a:solidFill>
          <a:ln w="12700">
            <a:solidFill>
              <a:srgbClr val="059669"/>
            </a:solidFill>
            <a:prstDash val="solid"/>
          </a:ln>
        </p:spPr>
        <p:txBody>
          <a:bodyPr/>
          <a:lstStyle/>
          <a:p>
            <a:endParaRPr lang="sv-SE"/>
          </a:p>
        </p:txBody>
      </p:sp>
      <p:sp>
        <p:nvSpPr>
          <p:cNvPr id="22" name="Shape 11">
            <a:extLst>
              <a:ext uri="{FF2B5EF4-FFF2-40B4-BE49-F238E27FC236}">
                <a16:creationId xmlns:a16="http://schemas.microsoft.com/office/drawing/2014/main" id="{DB044DA5-852A-60A9-5A1E-A72BE8A178E8}"/>
              </a:ext>
            </a:extLst>
          </p:cNvPr>
          <p:cNvSpPr/>
          <p:nvPr/>
        </p:nvSpPr>
        <p:spPr>
          <a:xfrm>
            <a:off x="8044163" y="1412232"/>
            <a:ext cx="73152" cy="1874520"/>
          </a:xfrm>
          <a:prstGeom prst="rect">
            <a:avLst/>
          </a:prstGeom>
          <a:solidFill>
            <a:srgbClr val="EA580C"/>
          </a:solidFill>
          <a:ln w="12700">
            <a:solidFill>
              <a:srgbClr val="EA580C"/>
            </a:solidFill>
            <a:prstDash val="solid"/>
          </a:ln>
        </p:spPr>
        <p:txBody>
          <a:bodyPr/>
          <a:lstStyle/>
          <a:p>
            <a:endParaRPr lang="sv-SE"/>
          </a:p>
        </p:txBody>
      </p:sp>
      <p:sp>
        <p:nvSpPr>
          <p:cNvPr id="26" name="Shape 2">
            <a:extLst>
              <a:ext uri="{FF2B5EF4-FFF2-40B4-BE49-F238E27FC236}">
                <a16:creationId xmlns:a16="http://schemas.microsoft.com/office/drawing/2014/main" id="{B0435E54-34C3-04CE-81FF-5ED9B7457B0F}"/>
              </a:ext>
            </a:extLst>
          </p:cNvPr>
          <p:cNvSpPr/>
          <p:nvPr/>
        </p:nvSpPr>
        <p:spPr>
          <a:xfrm>
            <a:off x="4322555" y="1412232"/>
            <a:ext cx="3291840" cy="187452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Case B: aggressive low-voltage SPB</a:t>
            </a:r>
          </a:p>
          <a:p>
            <a:endParaRPr lang="en-US" dirty="0"/>
          </a:p>
          <a:p>
            <a:pPr marL="285750" indent="-285750">
              <a:buFont typeface="Arial" panose="020B0604020202020204" pitchFamily="34" charset="0"/>
              <a:buChar char="•"/>
            </a:pPr>
            <a:r>
              <a:rPr lang="en-US" sz="1600" dirty="0">
                <a:solidFill>
                  <a:srgbClr val="475569"/>
                </a:solidFill>
              </a:rPr>
              <a:t>100 V </a:t>
            </a:r>
            <a:r>
              <a:rPr lang="en-US" sz="1600" dirty="0" err="1">
                <a:solidFill>
                  <a:srgbClr val="475569"/>
                </a:solidFill>
              </a:rPr>
              <a:t>GaN</a:t>
            </a:r>
            <a:endParaRPr lang="en-US" sz="1600" dirty="0"/>
          </a:p>
          <a:p>
            <a:pPr marL="285750" indent="-285750">
              <a:buFont typeface="Arial" panose="020B0604020202020204" pitchFamily="34" charset="0"/>
              <a:buChar char="•"/>
            </a:pPr>
            <a:r>
              <a:rPr lang="en-US" sz="1600" dirty="0">
                <a:solidFill>
                  <a:srgbClr val="475569"/>
                </a:solidFill>
              </a:rPr>
              <a:t>15 cells </a:t>
            </a:r>
          </a:p>
          <a:p>
            <a:pPr marL="285750" indent="-285750">
              <a:buFont typeface="Arial" panose="020B0604020202020204" pitchFamily="34" charset="0"/>
              <a:buChar char="•"/>
            </a:pPr>
            <a:endParaRPr lang="en-US" sz="1600" dirty="0">
              <a:solidFill>
                <a:srgbClr val="475569"/>
              </a:solidFill>
            </a:endParaRPr>
          </a:p>
          <a:p>
            <a:endParaRPr lang="sv-SE" dirty="0"/>
          </a:p>
        </p:txBody>
      </p:sp>
      <p:sp>
        <p:nvSpPr>
          <p:cNvPr id="31" name="Shape 2">
            <a:extLst>
              <a:ext uri="{FF2B5EF4-FFF2-40B4-BE49-F238E27FC236}">
                <a16:creationId xmlns:a16="http://schemas.microsoft.com/office/drawing/2014/main" id="{4E2E1692-1AE5-D9E3-EABB-0641828D8DD6}"/>
              </a:ext>
            </a:extLst>
          </p:cNvPr>
          <p:cNvSpPr/>
          <p:nvPr/>
        </p:nvSpPr>
        <p:spPr>
          <a:xfrm>
            <a:off x="8117315" y="1412232"/>
            <a:ext cx="3291840" cy="1874520"/>
          </a:xfrm>
          <a:prstGeom prst="roundRect">
            <a:avLst>
              <a:gd name="adj" fmla="val 3415"/>
            </a:avLst>
          </a:prstGeom>
          <a:solidFill>
            <a:srgbClr val="FFFFFF"/>
          </a:solidFill>
          <a:ln w="10160">
            <a:solidFill>
              <a:srgbClr val="CBD5E1"/>
            </a:solidFill>
            <a:prstDash val="solid"/>
          </a:ln>
        </p:spPr>
        <p:txBody>
          <a:bodyPr/>
          <a:lstStyle/>
          <a:p>
            <a:r>
              <a:rPr lang="en-US" b="1" dirty="0">
                <a:solidFill>
                  <a:srgbClr val="0F172A"/>
                </a:solidFill>
              </a:rPr>
              <a:t>Case C: low-voltage SPB</a:t>
            </a:r>
          </a:p>
          <a:p>
            <a:endParaRPr lang="en-US" dirty="0"/>
          </a:p>
          <a:p>
            <a:pPr marL="285750" indent="-285750">
              <a:buFont typeface="Arial" panose="020B0604020202020204" pitchFamily="34" charset="0"/>
              <a:buChar char="•"/>
            </a:pPr>
            <a:r>
              <a:rPr lang="en-US" sz="1600" dirty="0">
                <a:solidFill>
                  <a:srgbClr val="475569"/>
                </a:solidFill>
              </a:rPr>
              <a:t>200 V </a:t>
            </a:r>
            <a:r>
              <a:rPr lang="en-US" sz="1600" dirty="0" err="1">
                <a:solidFill>
                  <a:srgbClr val="475569"/>
                </a:solidFill>
              </a:rPr>
              <a:t>GaN</a:t>
            </a:r>
            <a:endParaRPr lang="en-US" sz="1600" dirty="0"/>
          </a:p>
          <a:p>
            <a:pPr marL="285750" indent="-285750">
              <a:buFont typeface="Arial" panose="020B0604020202020204" pitchFamily="34" charset="0"/>
              <a:buChar char="•"/>
            </a:pPr>
            <a:r>
              <a:rPr lang="en-US" sz="1600" dirty="0">
                <a:solidFill>
                  <a:srgbClr val="475569"/>
                </a:solidFill>
              </a:rPr>
              <a:t>8 cells </a:t>
            </a:r>
          </a:p>
          <a:p>
            <a:pPr marL="285750" indent="-285750">
              <a:buFont typeface="Arial" panose="020B0604020202020204" pitchFamily="34" charset="0"/>
              <a:buChar char="•"/>
            </a:pPr>
            <a:r>
              <a:rPr lang="en-US" sz="1600" dirty="0">
                <a:solidFill>
                  <a:srgbClr val="475569"/>
                </a:solidFill>
              </a:rPr>
              <a:t>Middle-ground baseline</a:t>
            </a:r>
            <a:endParaRPr lang="en-US" sz="1600" dirty="0"/>
          </a:p>
          <a:p>
            <a:endParaRPr lang="sv-SE" dirty="0"/>
          </a:p>
        </p:txBody>
      </p:sp>
      <p:sp>
        <p:nvSpPr>
          <p:cNvPr id="33" name="TextBox 32">
            <a:extLst>
              <a:ext uri="{FF2B5EF4-FFF2-40B4-BE49-F238E27FC236}">
                <a16:creationId xmlns:a16="http://schemas.microsoft.com/office/drawing/2014/main" id="{2B93B49F-0E1D-1A50-EA55-E20E7BA353DA}"/>
              </a:ext>
            </a:extLst>
          </p:cNvPr>
          <p:cNvSpPr txBox="1"/>
          <p:nvPr/>
        </p:nvSpPr>
        <p:spPr>
          <a:xfrm>
            <a:off x="2834640" y="3616453"/>
            <a:ext cx="6096000" cy="569387"/>
          </a:xfrm>
          <a:prstGeom prst="rect">
            <a:avLst/>
          </a:prstGeom>
          <a:noFill/>
        </p:spPr>
        <p:txBody>
          <a:bodyPr wrap="square">
            <a:spAutoFit/>
          </a:bodyPr>
          <a:lstStyle/>
          <a:p>
            <a:pPr marL="0" indent="0" algn="ctr">
              <a:buNone/>
            </a:pPr>
            <a:r>
              <a:rPr lang="en-US" sz="1550" b="1" dirty="0">
                <a:solidFill>
                  <a:srgbClr val="0F172A"/>
                </a:solidFill>
              </a:rPr>
              <a:t>Compare each case using the same current, </a:t>
            </a:r>
            <a:r>
              <a:rPr lang="en-US" sz="1550" b="1" dirty="0" err="1">
                <a:solidFill>
                  <a:srgbClr val="0F172A"/>
                </a:solidFill>
              </a:rPr>
              <a:t>fsw</a:t>
            </a:r>
            <a:r>
              <a:rPr lang="en-US" sz="1550" b="1" dirty="0">
                <a:solidFill>
                  <a:srgbClr val="0F172A"/>
                </a:solidFill>
              </a:rPr>
              <a:t>, thermal boundary, and modulation strategy.</a:t>
            </a:r>
            <a:endParaRPr lang="en-US" sz="1550" dirty="0"/>
          </a:p>
        </p:txBody>
      </p:sp>
      <p:sp>
        <p:nvSpPr>
          <p:cNvPr id="35" name="Text 19">
            <a:extLst>
              <a:ext uri="{FF2B5EF4-FFF2-40B4-BE49-F238E27FC236}">
                <a16:creationId xmlns:a16="http://schemas.microsoft.com/office/drawing/2014/main" id="{941EE88A-216F-D0DC-67FE-A5F81495434D}"/>
              </a:ext>
            </a:extLst>
          </p:cNvPr>
          <p:cNvSpPr/>
          <p:nvPr/>
        </p:nvSpPr>
        <p:spPr>
          <a:xfrm>
            <a:off x="637523" y="4188300"/>
            <a:ext cx="2286000" cy="201168"/>
          </a:xfrm>
          <a:prstGeom prst="rect">
            <a:avLst/>
          </a:prstGeom>
          <a:noFill/>
          <a:ln/>
        </p:spPr>
        <p:txBody>
          <a:bodyPr wrap="square" lIns="0" tIns="0" rIns="0" bIns="0" rtlCol="0" anchor="ctr"/>
          <a:lstStyle/>
          <a:p>
            <a:pPr marL="0" indent="0">
              <a:buNone/>
            </a:pPr>
            <a:r>
              <a:rPr lang="en-US" sz="1050" b="1" dirty="0">
                <a:solidFill>
                  <a:srgbClr val="0F172A"/>
                </a:solidFill>
              </a:rPr>
              <a:t>Evaluation metrics</a:t>
            </a:r>
            <a:endParaRPr lang="en-US" sz="1050" dirty="0"/>
          </a:p>
        </p:txBody>
      </p:sp>
      <p:sp>
        <p:nvSpPr>
          <p:cNvPr id="37" name="Text 20">
            <a:extLst>
              <a:ext uri="{FF2B5EF4-FFF2-40B4-BE49-F238E27FC236}">
                <a16:creationId xmlns:a16="http://schemas.microsoft.com/office/drawing/2014/main" id="{1811B4B1-C6EA-2B82-92FF-9DC86C7D6BCB}"/>
              </a:ext>
            </a:extLst>
          </p:cNvPr>
          <p:cNvSpPr/>
          <p:nvPr/>
        </p:nvSpPr>
        <p:spPr>
          <a:xfrm>
            <a:off x="637523" y="4462620"/>
            <a:ext cx="2377440" cy="182880"/>
          </a:xfrm>
          <a:prstGeom prst="rect">
            <a:avLst/>
          </a:prstGeom>
          <a:noFill/>
          <a:ln/>
        </p:spPr>
        <p:txBody>
          <a:bodyPr wrap="square" lIns="127" tIns="127" rIns="127" bIns="127" rtlCol="0" anchor="ctr"/>
          <a:lstStyle/>
          <a:p>
            <a:pPr marL="0" indent="0">
              <a:buNone/>
            </a:pPr>
            <a:r>
              <a:rPr lang="en-US" sz="870" b="1" dirty="0">
                <a:solidFill>
                  <a:srgbClr val="0F172A"/>
                </a:solidFill>
              </a:rPr>
              <a:t>Semiconductor loss</a:t>
            </a:r>
            <a:endParaRPr lang="en-US" sz="870" dirty="0"/>
          </a:p>
        </p:txBody>
      </p:sp>
      <p:sp>
        <p:nvSpPr>
          <p:cNvPr id="40" name="Text 21">
            <a:extLst>
              <a:ext uri="{FF2B5EF4-FFF2-40B4-BE49-F238E27FC236}">
                <a16:creationId xmlns:a16="http://schemas.microsoft.com/office/drawing/2014/main" id="{836BC472-1D32-C10F-D79F-938F24D0818B}"/>
              </a:ext>
            </a:extLst>
          </p:cNvPr>
          <p:cNvSpPr/>
          <p:nvPr/>
        </p:nvSpPr>
        <p:spPr>
          <a:xfrm>
            <a:off x="3197843" y="4462620"/>
            <a:ext cx="7680960" cy="182880"/>
          </a:xfrm>
          <a:prstGeom prst="rect">
            <a:avLst/>
          </a:prstGeom>
          <a:noFill/>
          <a:ln/>
        </p:spPr>
        <p:txBody>
          <a:bodyPr wrap="square" lIns="127" tIns="127" rIns="127" bIns="127" rtlCol="0" anchor="ctr"/>
          <a:lstStyle/>
          <a:p>
            <a:pPr marL="0" indent="0">
              <a:buNone/>
            </a:pPr>
            <a:r>
              <a:rPr lang="en-US" sz="870" dirty="0">
                <a:solidFill>
                  <a:srgbClr val="475569"/>
                </a:solidFill>
              </a:rPr>
              <a:t>conduction + Coss + measured/estimated Eon/Eoff</a:t>
            </a:r>
            <a:endParaRPr lang="en-US" sz="870" dirty="0"/>
          </a:p>
        </p:txBody>
      </p:sp>
      <p:sp>
        <p:nvSpPr>
          <p:cNvPr id="43" name="Text 22">
            <a:extLst>
              <a:ext uri="{FF2B5EF4-FFF2-40B4-BE49-F238E27FC236}">
                <a16:creationId xmlns:a16="http://schemas.microsoft.com/office/drawing/2014/main" id="{3BB272FC-5932-6EE1-9632-F7F31C6B5BC3}"/>
              </a:ext>
            </a:extLst>
          </p:cNvPr>
          <p:cNvSpPr/>
          <p:nvPr/>
        </p:nvSpPr>
        <p:spPr>
          <a:xfrm>
            <a:off x="637523" y="4709508"/>
            <a:ext cx="2377440" cy="182880"/>
          </a:xfrm>
          <a:prstGeom prst="rect">
            <a:avLst/>
          </a:prstGeom>
          <a:noFill/>
          <a:ln/>
        </p:spPr>
        <p:txBody>
          <a:bodyPr wrap="square" lIns="127" tIns="127" rIns="127" bIns="127" rtlCol="0" anchor="ctr"/>
          <a:lstStyle/>
          <a:p>
            <a:pPr marL="0" indent="0">
              <a:buNone/>
            </a:pPr>
            <a:r>
              <a:rPr lang="en-US" sz="870" b="1" dirty="0">
                <a:solidFill>
                  <a:srgbClr val="0F172A"/>
                </a:solidFill>
              </a:rPr>
              <a:t>Cost / Failure rate *Normalized?</a:t>
            </a:r>
            <a:endParaRPr lang="en-US" sz="870" dirty="0"/>
          </a:p>
        </p:txBody>
      </p:sp>
      <p:sp>
        <p:nvSpPr>
          <p:cNvPr id="45" name="Text 23">
            <a:extLst>
              <a:ext uri="{FF2B5EF4-FFF2-40B4-BE49-F238E27FC236}">
                <a16:creationId xmlns:a16="http://schemas.microsoft.com/office/drawing/2014/main" id="{9B9C7BB6-C1B4-24F7-9AAE-F25F67AF71CD}"/>
              </a:ext>
            </a:extLst>
          </p:cNvPr>
          <p:cNvSpPr/>
          <p:nvPr/>
        </p:nvSpPr>
        <p:spPr>
          <a:xfrm>
            <a:off x="3197843" y="4709508"/>
            <a:ext cx="7680960" cy="182880"/>
          </a:xfrm>
          <a:prstGeom prst="rect">
            <a:avLst/>
          </a:prstGeom>
          <a:noFill/>
          <a:ln/>
        </p:spPr>
        <p:txBody>
          <a:bodyPr wrap="square" lIns="127" tIns="127" rIns="127" bIns="127" rtlCol="0" anchor="ctr"/>
          <a:lstStyle/>
          <a:p>
            <a:pPr marL="0" indent="0">
              <a:buNone/>
            </a:pPr>
            <a:r>
              <a:rPr lang="en-US" sz="870" dirty="0">
                <a:solidFill>
                  <a:srgbClr val="475569"/>
                </a:solidFill>
              </a:rPr>
              <a:t>switch positions, gate drivers, isolated supplies, sensors</a:t>
            </a:r>
            <a:endParaRPr lang="en-US" sz="870" dirty="0"/>
          </a:p>
        </p:txBody>
      </p:sp>
      <p:sp>
        <p:nvSpPr>
          <p:cNvPr id="48" name="Text 24">
            <a:extLst>
              <a:ext uri="{FF2B5EF4-FFF2-40B4-BE49-F238E27FC236}">
                <a16:creationId xmlns:a16="http://schemas.microsoft.com/office/drawing/2014/main" id="{26107896-F9E3-3E76-6E16-5D9E8B6E3A03}"/>
              </a:ext>
            </a:extLst>
          </p:cNvPr>
          <p:cNvSpPr/>
          <p:nvPr/>
        </p:nvSpPr>
        <p:spPr>
          <a:xfrm>
            <a:off x="637523" y="4956396"/>
            <a:ext cx="2377440" cy="182880"/>
          </a:xfrm>
          <a:prstGeom prst="rect">
            <a:avLst/>
          </a:prstGeom>
          <a:noFill/>
          <a:ln/>
        </p:spPr>
        <p:txBody>
          <a:bodyPr wrap="square" lIns="127" tIns="127" rIns="127" bIns="127" rtlCol="0" anchor="ctr"/>
          <a:lstStyle/>
          <a:p>
            <a:pPr marL="0" indent="0">
              <a:buNone/>
            </a:pPr>
            <a:r>
              <a:rPr lang="en-US" sz="870" b="1" dirty="0">
                <a:solidFill>
                  <a:srgbClr val="0F172A"/>
                </a:solidFill>
              </a:rPr>
              <a:t>Thermal feasibility</a:t>
            </a:r>
            <a:endParaRPr lang="en-US" sz="870" dirty="0"/>
          </a:p>
        </p:txBody>
      </p:sp>
      <p:sp>
        <p:nvSpPr>
          <p:cNvPr id="50" name="Text 25">
            <a:extLst>
              <a:ext uri="{FF2B5EF4-FFF2-40B4-BE49-F238E27FC236}">
                <a16:creationId xmlns:a16="http://schemas.microsoft.com/office/drawing/2014/main" id="{E53ACD67-8BB6-BDAB-9853-3B15311579DB}"/>
              </a:ext>
            </a:extLst>
          </p:cNvPr>
          <p:cNvSpPr/>
          <p:nvPr/>
        </p:nvSpPr>
        <p:spPr>
          <a:xfrm>
            <a:off x="3197843" y="4956396"/>
            <a:ext cx="7680960" cy="182880"/>
          </a:xfrm>
          <a:prstGeom prst="rect">
            <a:avLst/>
          </a:prstGeom>
          <a:noFill/>
          <a:ln/>
        </p:spPr>
        <p:txBody>
          <a:bodyPr wrap="square" lIns="127" tIns="127" rIns="127" bIns="127" rtlCol="0" anchor="ctr"/>
          <a:lstStyle/>
          <a:p>
            <a:pPr marL="0" indent="0">
              <a:buNone/>
            </a:pPr>
            <a:r>
              <a:rPr lang="en-US" sz="870" dirty="0">
                <a:solidFill>
                  <a:srgbClr val="475569"/>
                </a:solidFill>
              </a:rPr>
              <a:t>junction rise at nominal and overload current</a:t>
            </a:r>
            <a:endParaRPr lang="en-US" sz="870" dirty="0"/>
          </a:p>
        </p:txBody>
      </p:sp>
      <p:sp>
        <p:nvSpPr>
          <p:cNvPr id="52" name="Text 26">
            <a:extLst>
              <a:ext uri="{FF2B5EF4-FFF2-40B4-BE49-F238E27FC236}">
                <a16:creationId xmlns:a16="http://schemas.microsoft.com/office/drawing/2014/main" id="{A8960D06-1F91-F175-440E-B640C3C4D7C5}"/>
              </a:ext>
            </a:extLst>
          </p:cNvPr>
          <p:cNvSpPr/>
          <p:nvPr/>
        </p:nvSpPr>
        <p:spPr>
          <a:xfrm>
            <a:off x="637523" y="5203284"/>
            <a:ext cx="2377440" cy="182880"/>
          </a:xfrm>
          <a:prstGeom prst="rect">
            <a:avLst/>
          </a:prstGeom>
          <a:noFill/>
          <a:ln/>
        </p:spPr>
        <p:txBody>
          <a:bodyPr wrap="square" lIns="127" tIns="127" rIns="127" bIns="127" rtlCol="0" anchor="ctr"/>
          <a:lstStyle/>
          <a:p>
            <a:pPr marL="0" indent="0">
              <a:buNone/>
            </a:pPr>
            <a:r>
              <a:rPr lang="en-US" sz="870" b="1" dirty="0">
                <a:solidFill>
                  <a:srgbClr val="0F172A"/>
                </a:solidFill>
              </a:rPr>
              <a:t>DC-link / module capacitor</a:t>
            </a:r>
            <a:endParaRPr lang="en-US" sz="870" dirty="0"/>
          </a:p>
        </p:txBody>
      </p:sp>
      <p:sp>
        <p:nvSpPr>
          <p:cNvPr id="54" name="Text 27">
            <a:extLst>
              <a:ext uri="{FF2B5EF4-FFF2-40B4-BE49-F238E27FC236}">
                <a16:creationId xmlns:a16="http://schemas.microsoft.com/office/drawing/2014/main" id="{02662AA8-F38E-9FA4-96BE-8460F1C655AE}"/>
              </a:ext>
            </a:extLst>
          </p:cNvPr>
          <p:cNvSpPr/>
          <p:nvPr/>
        </p:nvSpPr>
        <p:spPr>
          <a:xfrm>
            <a:off x="3179555" y="5189568"/>
            <a:ext cx="7680960" cy="182880"/>
          </a:xfrm>
          <a:prstGeom prst="rect">
            <a:avLst/>
          </a:prstGeom>
          <a:noFill/>
          <a:ln/>
        </p:spPr>
        <p:txBody>
          <a:bodyPr wrap="square" lIns="127" tIns="127" rIns="127" bIns="127" rtlCol="0" anchor="ctr"/>
          <a:lstStyle/>
          <a:p>
            <a:pPr marL="0" indent="0">
              <a:buNone/>
            </a:pPr>
            <a:r>
              <a:rPr lang="en-US" sz="870" dirty="0">
                <a:solidFill>
                  <a:srgbClr val="475569"/>
                </a:solidFill>
              </a:rPr>
              <a:t>ripple current, energy storage, balancing control</a:t>
            </a:r>
            <a:endParaRPr lang="en-US" sz="870" dirty="0"/>
          </a:p>
        </p:txBody>
      </p:sp>
      <p:sp>
        <p:nvSpPr>
          <p:cNvPr id="56" name="Text 28">
            <a:extLst>
              <a:ext uri="{FF2B5EF4-FFF2-40B4-BE49-F238E27FC236}">
                <a16:creationId xmlns:a16="http://schemas.microsoft.com/office/drawing/2014/main" id="{50F9E43D-1351-C773-9D49-DA5871E3F950}"/>
              </a:ext>
            </a:extLst>
          </p:cNvPr>
          <p:cNvSpPr/>
          <p:nvPr/>
        </p:nvSpPr>
        <p:spPr>
          <a:xfrm>
            <a:off x="637523" y="5450172"/>
            <a:ext cx="2377440" cy="182880"/>
          </a:xfrm>
          <a:prstGeom prst="rect">
            <a:avLst/>
          </a:prstGeom>
          <a:noFill/>
          <a:ln/>
        </p:spPr>
        <p:txBody>
          <a:bodyPr wrap="square" lIns="127" tIns="127" rIns="127" bIns="127" rtlCol="0" anchor="ctr"/>
          <a:lstStyle/>
          <a:p>
            <a:pPr marL="0" indent="0">
              <a:buNone/>
            </a:pPr>
            <a:r>
              <a:rPr lang="en-US" sz="870" b="1" dirty="0">
                <a:solidFill>
                  <a:srgbClr val="0F172A"/>
                </a:solidFill>
              </a:rPr>
              <a:t>Motor friendliness</a:t>
            </a:r>
            <a:endParaRPr lang="en-US" sz="870" dirty="0"/>
          </a:p>
        </p:txBody>
      </p:sp>
      <p:sp>
        <p:nvSpPr>
          <p:cNvPr id="58" name="Text 29">
            <a:extLst>
              <a:ext uri="{FF2B5EF4-FFF2-40B4-BE49-F238E27FC236}">
                <a16:creationId xmlns:a16="http://schemas.microsoft.com/office/drawing/2014/main" id="{153C6F16-EF11-582A-97B7-BC2EAC8CB999}"/>
              </a:ext>
            </a:extLst>
          </p:cNvPr>
          <p:cNvSpPr/>
          <p:nvPr/>
        </p:nvSpPr>
        <p:spPr>
          <a:xfrm>
            <a:off x="3197843" y="5450172"/>
            <a:ext cx="7680960" cy="182880"/>
          </a:xfrm>
          <a:prstGeom prst="rect">
            <a:avLst/>
          </a:prstGeom>
          <a:noFill/>
          <a:ln/>
        </p:spPr>
        <p:txBody>
          <a:bodyPr wrap="square" lIns="127" tIns="127" rIns="127" bIns="127" rtlCol="0" anchor="ctr"/>
          <a:lstStyle/>
          <a:p>
            <a:pPr marL="0" indent="0">
              <a:buNone/>
            </a:pPr>
            <a:r>
              <a:rPr lang="en-US" sz="870" dirty="0">
                <a:solidFill>
                  <a:srgbClr val="475569"/>
                </a:solidFill>
              </a:rPr>
              <a:t>voltage steps, CM voltage, winding stress, filtering need</a:t>
            </a:r>
            <a:endParaRPr lang="en-US" sz="870" dirty="0"/>
          </a:p>
        </p:txBody>
      </p:sp>
    </p:spTree>
    <p:extLst>
      <p:ext uri="{BB962C8B-B14F-4D97-AF65-F5344CB8AC3E}">
        <p14:creationId xmlns:p14="http://schemas.microsoft.com/office/powerpoint/2010/main" val="1431035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094CA-8CA2-1821-B07A-9D63287B6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2F77B-A479-DDC2-8676-856178A0819F}"/>
              </a:ext>
            </a:extLst>
          </p:cNvPr>
          <p:cNvSpPr>
            <a:spLocks noGrp="1"/>
          </p:cNvSpPr>
          <p:nvPr>
            <p:ph type="title"/>
          </p:nvPr>
        </p:nvSpPr>
        <p:spPr>
          <a:xfrm>
            <a:off x="1028500" y="368890"/>
            <a:ext cx="10990263" cy="568412"/>
          </a:xfrm>
        </p:spPr>
        <p:txBody>
          <a:bodyPr/>
          <a:lstStyle/>
          <a:p>
            <a:r>
              <a:rPr lang="en-US" sz="3200" dirty="0"/>
              <a:t>References</a:t>
            </a:r>
          </a:p>
        </p:txBody>
      </p:sp>
      <p:sp>
        <p:nvSpPr>
          <p:cNvPr id="62" name="TextBox 61">
            <a:extLst>
              <a:ext uri="{FF2B5EF4-FFF2-40B4-BE49-F238E27FC236}">
                <a16:creationId xmlns:a16="http://schemas.microsoft.com/office/drawing/2014/main" id="{4F0985CF-53A8-027E-66C5-052DCCDD2F5D}"/>
              </a:ext>
            </a:extLst>
          </p:cNvPr>
          <p:cNvSpPr txBox="1"/>
          <p:nvPr/>
        </p:nvSpPr>
        <p:spPr>
          <a:xfrm>
            <a:off x="1028500" y="2302538"/>
            <a:ext cx="9791900" cy="1588127"/>
          </a:xfrm>
          <a:prstGeom prst="rect">
            <a:avLst/>
          </a:prstGeom>
          <a:noFill/>
        </p:spPr>
        <p:txBody>
          <a:bodyPr wrap="square">
            <a:spAutoFit/>
          </a:bodyPr>
          <a:lstStyle/>
          <a:p>
            <a:pPr marL="228600" indent="-228600">
              <a:buFont typeface="+mj-lt"/>
              <a:buAutoNum type="arabicPeriod"/>
            </a:pPr>
            <a:r>
              <a:rPr lang="en-US" sz="1080" dirty="0">
                <a:solidFill>
                  <a:srgbClr val="0F172A"/>
                </a:solidFill>
              </a:rPr>
              <a:t>J. A. Anderson, G. Zulauf, J. W. Kolar, and G. Deboy, “New Figure-of-Merit Combining Semiconductor and Multi-Level Converter Properties,” IEEE Open Journal of Power Electronics, 2020.</a:t>
            </a:r>
            <a:endParaRPr lang="en-US" sz="1080" dirty="0"/>
          </a:p>
          <a:p>
            <a:pPr marL="228600" indent="-228600">
              <a:buFont typeface="+mj-lt"/>
              <a:buAutoNum type="arabicPeriod"/>
            </a:pPr>
            <a:r>
              <a:rPr lang="en-US" sz="1080" dirty="0">
                <a:solidFill>
                  <a:srgbClr val="0F172A"/>
                </a:solidFill>
              </a:rPr>
              <a:t>G. Rohner, J. W. Kolar, D. Bortis, and M. Schweizer, “Optimal Level Number and Performance Evaluation of Si/</a:t>
            </a:r>
            <a:r>
              <a:rPr lang="en-US" sz="1080" dirty="0" err="1">
                <a:solidFill>
                  <a:srgbClr val="0F172A"/>
                </a:solidFill>
              </a:rPr>
              <a:t>GaN</a:t>
            </a:r>
            <a:r>
              <a:rPr lang="en-US" sz="1080" dirty="0">
                <a:solidFill>
                  <a:srgbClr val="0F172A"/>
                </a:solidFill>
              </a:rPr>
              <a:t> Multi-Level Flying Capacitor Inverter for Variable Speed Drive Systems,” ICEMS, 2022.</a:t>
            </a:r>
            <a:endParaRPr lang="en-US" sz="1080" dirty="0"/>
          </a:p>
          <a:p>
            <a:pPr marL="228600" indent="-228600">
              <a:buFont typeface="+mj-lt"/>
              <a:buAutoNum type="arabicPeriod"/>
            </a:pPr>
            <a:r>
              <a:rPr lang="en-US" sz="1080" dirty="0">
                <a:solidFill>
                  <a:srgbClr val="0F172A"/>
                </a:solidFill>
              </a:rPr>
              <a:t>G. Rohner et al., “Comparative Evaluation of Three-Phase Three-Level </a:t>
            </a:r>
            <a:r>
              <a:rPr lang="en-US" sz="1080" dirty="0" err="1">
                <a:solidFill>
                  <a:srgbClr val="0F172A"/>
                </a:solidFill>
              </a:rPr>
              <a:t>GaN</a:t>
            </a:r>
            <a:r>
              <a:rPr lang="en-US" sz="1080" dirty="0">
                <a:solidFill>
                  <a:srgbClr val="0F172A"/>
                </a:solidFill>
              </a:rPr>
              <a:t> and Seven-Level Si Flying Capacitor Inverters for Integrated Motor Drives Considering Overload Operation,” IEEE Access, 2024.</a:t>
            </a:r>
            <a:endParaRPr lang="en-US" sz="1080" dirty="0"/>
          </a:p>
          <a:p>
            <a:pPr marL="228600" indent="-228600">
              <a:buFont typeface="+mj-lt"/>
              <a:buAutoNum type="arabicPeriod"/>
            </a:pPr>
            <a:r>
              <a:rPr lang="en-US" sz="1080" dirty="0">
                <a:solidFill>
                  <a:srgbClr val="0F172A"/>
                </a:solidFill>
              </a:rPr>
              <a:t>G. Rohner, J. Huber, S. Mirić, and J. W. Kolar, “Comparative Evaluation of Three-Phase Three-Level Flying Capacitor and Stacked Polyphase Bridge </a:t>
            </a:r>
            <a:r>
              <a:rPr lang="en-US" sz="1080" dirty="0" err="1">
                <a:solidFill>
                  <a:srgbClr val="0F172A"/>
                </a:solidFill>
              </a:rPr>
              <a:t>GaN</a:t>
            </a:r>
            <a:r>
              <a:rPr lang="en-US" sz="1080" dirty="0">
                <a:solidFill>
                  <a:srgbClr val="0F172A"/>
                </a:solidFill>
              </a:rPr>
              <a:t> Inverter Systems for Integrated Motor Drives,” Electronics, 2024.</a:t>
            </a:r>
            <a:endParaRPr lang="en-US" sz="1080" dirty="0"/>
          </a:p>
          <a:p>
            <a:pPr marL="228600" indent="-228600">
              <a:buFont typeface="+mj-lt"/>
              <a:buAutoNum type="arabicPeriod"/>
            </a:pPr>
            <a:r>
              <a:rPr lang="en-US" sz="1080" dirty="0">
                <a:solidFill>
                  <a:srgbClr val="0F172A"/>
                </a:solidFill>
              </a:rPr>
              <a:t>“Literature Survey for Integrated Modular Motor Drives,” presentation.</a:t>
            </a:r>
            <a:endParaRPr lang="en-US" sz="1080" dirty="0"/>
          </a:p>
        </p:txBody>
      </p:sp>
    </p:spTree>
    <p:extLst>
      <p:ext uri="{BB962C8B-B14F-4D97-AF65-F5344CB8AC3E}">
        <p14:creationId xmlns:p14="http://schemas.microsoft.com/office/powerpoint/2010/main" val="2971323781"/>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19965</TotalTime>
  <Words>906</Words>
  <Application>Microsoft Office PowerPoint</Application>
  <PresentationFormat>Widescreen</PresentationFormat>
  <Paragraphs>135</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Aptos</vt:lpstr>
      <vt:lpstr>Cambria Math</vt:lpstr>
      <vt:lpstr>Calibri</vt:lpstr>
      <vt:lpstr>Figtree</vt:lpstr>
      <vt:lpstr>Office-tema</vt:lpstr>
      <vt:lpstr>SPB Optimization</vt:lpstr>
      <vt:lpstr>Optimizing SPB Level Number with Available GaN Devices</vt:lpstr>
      <vt:lpstr>Why this optimization matters</vt:lpstr>
      <vt:lpstr>Screening workflow implemented in MATLAB</vt:lpstr>
      <vt:lpstr>Preliminary Results</vt:lpstr>
      <vt:lpstr>Preliminary Results</vt:lpstr>
      <vt:lpstr>Discrete levels: the x-axis is constrained by available device classes </vt:lpstr>
      <vt:lpstr>Loss model</vt:lpstr>
      <vt:lpstr>Suggested comparative study for the project</vt:lpstr>
      <vt:lpstr>References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207</cp:revision>
  <dcterms:created xsi:type="dcterms:W3CDTF">2024-01-10T13:17:29Z</dcterms:created>
  <dcterms:modified xsi:type="dcterms:W3CDTF">2026-08-25T08:56:03Z</dcterms:modified>
</cp:coreProperties>
</file>