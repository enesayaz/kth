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8"/>
  </p:notesMasterIdLst>
  <p:sldIdLst>
    <p:sldId id="256" r:id="rId2"/>
    <p:sldId id="281" r:id="rId3"/>
    <p:sldId id="282" r:id="rId4"/>
    <p:sldId id="283" r:id="rId5"/>
    <p:sldId id="284" r:id="rId6"/>
    <p:sldId id="285" r:id="rId7"/>
    <p:sldId id="270" r:id="rId8"/>
    <p:sldId id="277" r:id="rId9"/>
    <p:sldId id="279" r:id="rId10"/>
    <p:sldId id="280" r:id="rId11"/>
    <p:sldId id="275" r:id="rId12"/>
    <p:sldId id="278" r:id="rId13"/>
    <p:sldId id="276" r:id="rId14"/>
    <p:sldId id="286" r:id="rId15"/>
    <p:sldId id="288" r:id="rId16"/>
    <p:sldId id="287" r:id="rId17"/>
  </p:sldIdLst>
  <p:sldSz cx="12192000" cy="6858000"/>
  <p:notesSz cx="6858000" cy="9144000"/>
  <p:embeddedFontLst>
    <p:embeddedFont>
      <p:font typeface="Figtree" panose="020B0604020202020204" charset="0"/>
      <p:regular r:id="rId19"/>
      <p:bold r:id="rId20"/>
      <p:italic r:id="rId21"/>
      <p:boldItalic r:id="rId22"/>
    </p:embeddedFont>
    <p:embeddedFont>
      <p:font typeface="Cambria Math" panose="02040503050406030204" pitchFamily="18" charset="0"/>
      <p:regular r:id="rId23"/>
    </p:embeddedFont>
    <p:embeddedFont>
      <p:font typeface="Calibri" panose="020F0502020204030204" pitchFamily="34" charset="0"/>
      <p:regular r:id="rId24"/>
      <p:bold r:id="rId25"/>
      <p:italic r:id="rId26"/>
      <p:boldItalic r:id="rId27"/>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96327"/>
  </p:normalViewPr>
  <p:slideViewPr>
    <p:cSldViewPr snapToGrid="0">
      <p:cViewPr>
        <p:scale>
          <a:sx n="100" d="100"/>
          <a:sy n="100" d="100"/>
        </p:scale>
        <p:origin x="2538" y="14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2024-12-16</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2024-12-16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2024-12-16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2024-12-16</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2024-12-16</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2024-12-16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2024-12-16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2024-12-16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2024-12-16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2024-12-16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2024-12-16</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2024-12-16</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2024-12-16</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2024-12-16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2024-12-16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2024-12-16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2024-12-16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2024-12-16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2024-12-16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2024-12-16</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2024-12-16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2024-12-16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2024-12-16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2024-12-16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2024-12-16</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2024-12-16</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2024-12-16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2024-12-16</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2024-12-16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2024-12-16</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2024-12-16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2024-12-16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2024-12-16</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2024-12-16</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12.xml"/><Relationship Id="rId4" Type="http://schemas.openxmlformats.org/officeDocument/2006/relationships/image" Target="../media/image36.emf"/></Relationships>
</file>

<file path=ppt/slides/_rels/slide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2.xml"/><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2.xml"/><Relationship Id="rId5" Type="http://schemas.openxmlformats.org/officeDocument/2006/relationships/image" Target="../media/image53.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Harmonic Modelling of the Inverter</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Simplified Inverter Model </a:t>
            </a:r>
            <a:endParaRPr lang="sv-SE"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137606-0038-4161-A922-143AD7681AB4}"/>
              </a:ext>
            </a:extLst>
          </p:cNvPr>
          <p:cNvPicPr>
            <a:picLocks noChangeAspect="1"/>
          </p:cNvPicPr>
          <p:nvPr/>
        </p:nvPicPr>
        <p:blipFill rotWithShape="1">
          <a:blip r:embed="rId2"/>
          <a:srcRect t="9374"/>
          <a:stretch/>
        </p:blipFill>
        <p:spPr>
          <a:xfrm>
            <a:off x="295510" y="1070998"/>
            <a:ext cx="5641253" cy="2397213"/>
          </a:xfrm>
          <a:prstGeom prst="rect">
            <a:avLst/>
          </a:prstGeom>
        </p:spPr>
      </p:pic>
      <p:pic>
        <p:nvPicPr>
          <p:cNvPr id="5" name="Picture 4">
            <a:extLst>
              <a:ext uri="{FF2B5EF4-FFF2-40B4-BE49-F238E27FC236}">
                <a16:creationId xmlns:a16="http://schemas.microsoft.com/office/drawing/2014/main" id="{624A8284-0EA5-4C2D-A8F6-66303CEB5251}"/>
              </a:ext>
            </a:extLst>
          </p:cNvPr>
          <p:cNvPicPr>
            <a:picLocks noChangeAspect="1"/>
          </p:cNvPicPr>
          <p:nvPr/>
        </p:nvPicPr>
        <p:blipFill>
          <a:blip r:embed="rId3"/>
          <a:stretch>
            <a:fillRect/>
          </a:stretch>
        </p:blipFill>
        <p:spPr>
          <a:xfrm>
            <a:off x="6953826" y="1852705"/>
            <a:ext cx="2568580" cy="1253909"/>
          </a:xfrm>
          <a:prstGeom prst="rect">
            <a:avLst/>
          </a:prstGeom>
        </p:spPr>
      </p:pic>
      <p:sp>
        <p:nvSpPr>
          <p:cNvPr id="7" name="TextBox 6"/>
          <p:cNvSpPr txBox="1"/>
          <p:nvPr/>
        </p:nvSpPr>
        <p:spPr>
          <a:xfrm>
            <a:off x="6675664" y="1126000"/>
            <a:ext cx="3704011" cy="646331"/>
          </a:xfrm>
          <a:prstGeom prst="rect">
            <a:avLst/>
          </a:prstGeom>
          <a:noFill/>
        </p:spPr>
        <p:txBody>
          <a:bodyPr wrap="square" rtlCol="0">
            <a:spAutoFit/>
          </a:bodyPr>
          <a:lstStyle/>
          <a:p>
            <a:r>
              <a:rPr lang="sv-SE" dirty="0" smtClean="0">
                <a:latin typeface="Times New Roman" panose="02020603050405020304" pitchFamily="18" charset="0"/>
                <a:cs typeface="Times New Roman" panose="02020603050405020304" pitchFamily="18" charset="0"/>
              </a:rPr>
              <a:t>Do not </a:t>
            </a:r>
            <a:r>
              <a:rPr lang="sv-SE" dirty="0" err="1" smtClean="0">
                <a:latin typeface="Times New Roman" panose="02020603050405020304" pitchFamily="18" charset="0"/>
                <a:cs typeface="Times New Roman" panose="02020603050405020304" pitchFamily="18" charset="0"/>
              </a:rPr>
              <a:t>consider</a:t>
            </a:r>
            <a:r>
              <a:rPr lang="sv-SE" dirty="0" smtClean="0">
                <a:latin typeface="Times New Roman" panose="02020603050405020304" pitchFamily="18" charset="0"/>
                <a:cs typeface="Times New Roman" panose="02020603050405020304" pitchFamily="18" charset="0"/>
              </a:rPr>
              <a:t> output </a:t>
            </a:r>
            <a:r>
              <a:rPr lang="sv-SE" dirty="0" err="1" smtClean="0">
                <a:latin typeface="Times New Roman" panose="02020603050405020304" pitchFamily="18" charset="0"/>
                <a:cs typeface="Times New Roman" panose="02020603050405020304" pitchFamily="18" charset="0"/>
              </a:rPr>
              <a:t>harmonics</a:t>
            </a:r>
            <a:r>
              <a:rPr lang="sv-SE" dirty="0" smtClean="0">
                <a:latin typeface="Times New Roman" panose="02020603050405020304" pitchFamily="18" charset="0"/>
                <a:cs typeface="Times New Roman" panose="02020603050405020304" pitchFamily="18" charset="0"/>
              </a:rPr>
              <a:t> for the </a:t>
            </a:r>
            <a:r>
              <a:rPr lang="sv-SE" dirty="0" err="1" smtClean="0">
                <a:latin typeface="Times New Roman" panose="02020603050405020304" pitchFamily="18" charset="0"/>
                <a:cs typeface="Times New Roman" panose="02020603050405020304" pitchFamily="18" charset="0"/>
              </a:rPr>
              <a:t>phase</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currents</a:t>
            </a:r>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29651" y="3363919"/>
            <a:ext cx="3704011" cy="369332"/>
          </a:xfrm>
          <a:prstGeom prst="rect">
            <a:avLst/>
          </a:prstGeom>
          <a:noFill/>
        </p:spPr>
        <p:txBody>
          <a:bodyPr wrap="square" rtlCol="0">
            <a:spAutoFit/>
          </a:bodyPr>
          <a:lstStyle/>
          <a:p>
            <a:r>
              <a:rPr lang="sv-SE" dirty="0" err="1" smtClean="0">
                <a:latin typeface="Times New Roman" panose="02020603050405020304" pitchFamily="18" charset="0"/>
                <a:cs typeface="Times New Roman" panose="02020603050405020304" pitchFamily="18" charset="0"/>
              </a:rPr>
              <a:t>Combined</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and </a:t>
            </a:r>
            <a:r>
              <a:rPr lang="sv-SE" dirty="0" err="1" smtClean="0">
                <a:latin typeface="Times New Roman" panose="02020603050405020304" pitchFamily="18" charset="0"/>
                <a:cs typeface="Times New Roman" panose="02020603050405020304" pitchFamily="18" charset="0"/>
              </a:rPr>
              <a:t>battery</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model</a:t>
            </a:r>
            <a:endParaRPr lang="sv-SE"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CE53E73-1058-4484-9F31-376B4590F2A9}"/>
              </a:ext>
            </a:extLst>
          </p:cNvPr>
          <p:cNvPicPr>
            <a:picLocks noChangeAspect="1"/>
          </p:cNvPicPr>
          <p:nvPr/>
        </p:nvPicPr>
        <p:blipFill rotWithShape="1">
          <a:blip r:embed="rId4"/>
          <a:srcRect l="5820" t="9591"/>
          <a:stretch/>
        </p:blipFill>
        <p:spPr>
          <a:xfrm>
            <a:off x="408136" y="3888777"/>
            <a:ext cx="4480617" cy="1981868"/>
          </a:xfrm>
          <a:prstGeom prst="rect">
            <a:avLst/>
          </a:prstGeom>
        </p:spPr>
      </p:pic>
      <p:sp>
        <p:nvSpPr>
          <p:cNvPr id="10" name="TextBox 9"/>
          <p:cNvSpPr txBox="1"/>
          <p:nvPr/>
        </p:nvSpPr>
        <p:spPr>
          <a:xfrm>
            <a:off x="659014" y="5918595"/>
            <a:ext cx="4229739" cy="646331"/>
          </a:xfrm>
          <a:prstGeom prst="rect">
            <a:avLst/>
          </a:prstGeom>
          <a:noFill/>
        </p:spPr>
        <p:txBody>
          <a:bodyPr wrap="square" rtlCol="0">
            <a:spAutoFit/>
          </a:bodyPr>
          <a:lstStyle/>
          <a:p>
            <a:r>
              <a:rPr lang="sv-SE" dirty="0" smtClean="0">
                <a:latin typeface="Times New Roman" panose="02020603050405020304" pitchFamily="18" charset="0"/>
                <a:cs typeface="Times New Roman" panose="02020603050405020304" pitchFamily="18" charset="0"/>
              </a:rPr>
              <a:t>The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can</a:t>
            </a:r>
            <a:r>
              <a:rPr lang="sv-SE" dirty="0" smtClean="0">
                <a:latin typeface="Times New Roman" panose="02020603050405020304" pitchFamily="18" charset="0"/>
                <a:cs typeface="Times New Roman" panose="02020603050405020304" pitchFamily="18" charset="0"/>
              </a:rPr>
              <a:t> be </a:t>
            </a:r>
            <a:r>
              <a:rPr lang="sv-SE" dirty="0" err="1" smtClean="0">
                <a:latin typeface="Times New Roman" panose="02020603050405020304" pitchFamily="18" charset="0"/>
                <a:cs typeface="Times New Roman" panose="02020603050405020304" pitchFamily="18" charset="0"/>
              </a:rPr>
              <a:t>modeled</a:t>
            </a:r>
            <a:r>
              <a:rPr lang="sv-SE" dirty="0" smtClean="0">
                <a:latin typeface="Times New Roman" panose="02020603050405020304" pitchFamily="18" charset="0"/>
                <a:cs typeface="Times New Roman" panose="02020603050405020304" pitchFamily="18" charset="0"/>
              </a:rPr>
              <a:t> as </a:t>
            </a:r>
            <a:r>
              <a:rPr lang="sv-SE" dirty="0" err="1" smtClean="0">
                <a:latin typeface="Times New Roman" panose="02020603050405020304" pitchFamily="18" charset="0"/>
                <a:cs typeface="Times New Roman" panose="02020603050405020304" pitchFamily="18" charset="0"/>
              </a:rPr>
              <a:t>current</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sources</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of</a:t>
            </a:r>
            <a:r>
              <a:rPr lang="sv-SE" dirty="0" smtClean="0">
                <a:latin typeface="Times New Roman" panose="02020603050405020304" pitchFamily="18" charset="0"/>
                <a:cs typeface="Times New Roman" panose="02020603050405020304" pitchFamily="18" charset="0"/>
              </a:rPr>
              <a:t> </a:t>
            </a:r>
            <a:r>
              <a:rPr lang="tr-TR" dirty="0" smtClean="0">
                <a:latin typeface="Times New Roman" panose="02020603050405020304" pitchFamily="18" charset="0"/>
                <a:cs typeface="Times New Roman" panose="02020603050405020304" pitchFamily="18" charset="0"/>
              </a:rPr>
              <a:t>harmonic</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components</a:t>
            </a:r>
            <a:r>
              <a:rPr lang="sv-SE" dirty="0" smtClean="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9CFDEA6-CBF2-4265-8180-E6A7970CEDEA}"/>
              </a:ext>
            </a:extLst>
          </p:cNvPr>
          <p:cNvPicPr>
            <a:picLocks noChangeAspect="1"/>
          </p:cNvPicPr>
          <p:nvPr/>
        </p:nvPicPr>
        <p:blipFill>
          <a:blip r:embed="rId5"/>
          <a:stretch>
            <a:fillRect/>
          </a:stretch>
        </p:blipFill>
        <p:spPr>
          <a:xfrm>
            <a:off x="6306074" y="4583496"/>
            <a:ext cx="4276853" cy="592429"/>
          </a:xfrm>
          <a:prstGeom prst="rect">
            <a:avLst/>
          </a:prstGeom>
        </p:spPr>
      </p:pic>
    </p:spTree>
    <p:extLst>
      <p:ext uri="{BB962C8B-B14F-4D97-AF65-F5344CB8AC3E}">
        <p14:creationId xmlns:p14="http://schemas.microsoft.com/office/powerpoint/2010/main" val="19050526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latin typeface="Times New Roman" panose="02020603050405020304" pitchFamily="18" charset="0"/>
                <a:cs typeface="Times New Roman" panose="02020603050405020304" pitchFamily="18" charset="0"/>
              </a:rPr>
              <a:t>Current Sources of Harmonics</a:t>
            </a:r>
            <a:endParaRPr lang="sv-SE" dirty="0">
              <a:latin typeface="Times New Roman" panose="02020603050405020304" pitchFamily="18" charset="0"/>
              <a:cs typeface="Times New Roman" panose="02020603050405020304" pitchFamily="18" charset="0"/>
            </a:endParaRPr>
          </a:p>
        </p:txBody>
      </p:sp>
      <p:pic>
        <p:nvPicPr>
          <p:cNvPr id="9" name="Content Placeholder 3">
            <a:extLst>
              <a:ext uri="{FF2B5EF4-FFF2-40B4-BE49-F238E27FC236}">
                <a16:creationId xmlns:a16="http://schemas.microsoft.com/office/drawing/2014/main" id="{2152BF20-F541-4796-9466-8B9519526A7D}"/>
              </a:ext>
            </a:extLst>
          </p:cNvPr>
          <p:cNvPicPr>
            <a:picLocks noGrp="1" noChangeAspect="1"/>
          </p:cNvPicPr>
          <p:nvPr>
            <p:ph idx="1"/>
          </p:nvPr>
        </p:nvPicPr>
        <p:blipFill>
          <a:blip r:embed="rId2"/>
          <a:stretch>
            <a:fillRect/>
          </a:stretch>
        </p:blipFill>
        <p:spPr>
          <a:xfrm>
            <a:off x="3675788" y="1318858"/>
            <a:ext cx="4135459" cy="2713598"/>
          </a:xfrm>
          <a:prstGeom prst="rect">
            <a:avLst/>
          </a:prstGeom>
        </p:spPr>
      </p:pic>
      <mc:AlternateContent xmlns:mc="http://schemas.openxmlformats.org/markup-compatibility/2006">
        <mc:Choice xmlns:a14="http://schemas.microsoft.com/office/drawing/2010/main" Requires="a14">
          <p:sp>
            <p:nvSpPr>
              <p:cNvPr id="3" name="TextBox 2"/>
              <p:cNvSpPr txBox="1"/>
              <p:nvPr/>
            </p:nvSpPr>
            <p:spPr>
              <a:xfrm>
                <a:off x="446378" y="4973263"/>
                <a:ext cx="1454139"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sv-SE" dirty="0" smtClean="0">
                    <a:latin typeface="Times New Roman" panose="02020603050405020304" pitchFamily="18" charset="0"/>
                    <a:cs typeface="Times New Roman" panose="02020603050405020304" pitchFamily="18" charset="0"/>
                    <a:sym typeface="Wingdings" panose="05000000000000000000" pitchFamily="2" charset="2"/>
                  </a:rPr>
                  <a:t></a:t>
                </a:r>
                <a:endParaRPr lang="sv-SE" dirty="0">
                  <a:latin typeface="Times New Roman" panose="02020603050405020304" pitchFamily="18" charset="0"/>
                  <a:cs typeface="Times New Roman" panose="02020603050405020304" pitchFamily="18" charset="0"/>
                </a:endParaRPr>
              </a:p>
            </p:txBody>
          </p:sp>
        </mc:Choice>
        <mc:Fallback>
          <p:sp>
            <p:nvSpPr>
              <p:cNvPr id="3" name="TextBox 2"/>
              <p:cNvSpPr txBox="1">
                <a:spLocks noRot="1" noChangeAspect="1" noMove="1" noResize="1" noEditPoints="1" noAdjustHandles="1" noChangeArrowheads="1" noChangeShapeType="1" noTextEdit="1"/>
              </p:cNvSpPr>
              <p:nvPr/>
            </p:nvSpPr>
            <p:spPr>
              <a:xfrm>
                <a:off x="446378" y="4973263"/>
                <a:ext cx="1454139" cy="369332"/>
              </a:xfrm>
              <a:prstGeom prst="rect">
                <a:avLst/>
              </a:prstGeom>
              <a:blipFill>
                <a:blip r:embed="rId3"/>
                <a:stretch>
                  <a:fillRect t="-10000" r="-837" b="-26667"/>
                </a:stretch>
              </a:blipFill>
            </p:spPr>
            <p:txBody>
              <a:bodyPr/>
              <a:lstStyle/>
              <a:p>
                <a:r>
                  <a:rPr lang="sv-SE">
                    <a:noFill/>
                  </a:rPr>
                  <a:t> </a:t>
                </a:r>
              </a:p>
            </p:txBody>
          </p:sp>
        </mc:Fallback>
      </mc:AlternateContent>
      <p:sp>
        <p:nvSpPr>
          <p:cNvPr id="4" name="Rectangle 3"/>
          <p:cNvSpPr/>
          <p:nvPr/>
        </p:nvSpPr>
        <p:spPr>
          <a:xfrm>
            <a:off x="1786964" y="4506780"/>
            <a:ext cx="2265082" cy="1477328"/>
          </a:xfrm>
          <a:prstGeom prst="rect">
            <a:avLst/>
          </a:prstGeom>
        </p:spPr>
        <p:txBody>
          <a:bodyPr wrap="square">
            <a:spAutoFit/>
          </a:bodyPr>
          <a:lstStyle/>
          <a:p>
            <a:r>
              <a:rPr lang="sv-SE" dirty="0">
                <a:latin typeface="Times New Roman" panose="02020603050405020304" pitchFamily="18" charset="0"/>
                <a:cs typeface="Times New Roman" panose="02020603050405020304" pitchFamily="18" charset="0"/>
                <a:sym typeface="Wingdings" panose="05000000000000000000" pitchFamily="2" charset="2"/>
              </a:rPr>
              <a:t>Leg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in the  </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time</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domain</a:t>
            </a:r>
            <a:r>
              <a:rPr lang="sv-SE" dirty="0">
                <a:latin typeface="Times New Roman" panose="02020603050405020304" pitchFamily="18" charset="0"/>
                <a:cs typeface="Times New Roman" panose="02020603050405020304" pitchFamily="18" charset="0"/>
                <a:sym typeface="Wingdings" panose="05000000000000000000" pitchFamily="2" charset="2"/>
              </a:rPr>
              <a:t> is the  </a:t>
            </a:r>
            <a:r>
              <a:rPr lang="sv-SE" dirty="0" err="1">
                <a:latin typeface="Times New Roman" panose="02020603050405020304" pitchFamily="18" charset="0"/>
                <a:cs typeface="Times New Roman" panose="02020603050405020304" pitchFamily="18" charset="0"/>
                <a:sym typeface="Wingdings" panose="05000000000000000000" pitchFamily="2" charset="2"/>
              </a:rPr>
              <a:t>multiplication</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of</a:t>
            </a:r>
            <a:r>
              <a:rPr lang="sv-SE" dirty="0">
                <a:latin typeface="Times New Roman" panose="02020603050405020304" pitchFamily="18" charset="0"/>
                <a:cs typeface="Times New Roman" panose="02020603050405020304" pitchFamily="18" charset="0"/>
                <a:sym typeface="Wingdings" panose="05000000000000000000" pitchFamily="2" charset="2"/>
              </a:rPr>
              <a:t> the </a:t>
            </a:r>
            <a:r>
              <a:rPr lang="sv-SE" dirty="0" err="1">
                <a:latin typeface="Times New Roman" panose="02020603050405020304" pitchFamily="18" charset="0"/>
                <a:cs typeface="Times New Roman" panose="02020603050405020304" pitchFamily="18" charset="0"/>
                <a:sym typeface="Wingdings" panose="05000000000000000000" pitchFamily="2" charset="2"/>
              </a:rPr>
              <a:t>phase</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and </a:t>
            </a:r>
            <a:r>
              <a:rPr lang="sv-SE" dirty="0" err="1">
                <a:latin typeface="Times New Roman" panose="02020603050405020304" pitchFamily="18" charset="0"/>
                <a:cs typeface="Times New Roman" panose="02020603050405020304" pitchFamily="18" charset="0"/>
                <a:sym typeface="Wingdings" panose="05000000000000000000" pitchFamily="2" charset="2"/>
              </a:rPr>
              <a:t>switching</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function</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6" name="TextBox 15"/>
              <p:cNvSpPr txBox="1"/>
              <p:nvPr/>
            </p:nvSpPr>
            <p:spPr>
              <a:xfrm>
                <a:off x="7185573" y="5029234"/>
                <a:ext cx="2149674"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i="1">
                        <a:latin typeface="Cambria Math" panose="02040503050406030204" pitchFamily="18" charset="0"/>
                      </a:rPr>
                      <m:t>𝜔</m:t>
                    </m:r>
                    <m:r>
                      <a:rPr lang="en-US" b="0" i="1" smtClean="0">
                        <a:latin typeface="Cambria Math" panose="02040503050406030204" pitchFamily="18" charset="0"/>
                      </a:rPr>
                      <m:t>)</m:t>
                    </m:r>
                  </m:oMath>
                </a14:m>
                <a:r>
                  <a:rPr lang="sv-SE" dirty="0" smtClean="0">
                    <a:latin typeface="Times New Roman" panose="02020603050405020304" pitchFamily="18" charset="0"/>
                    <a:cs typeface="Times New Roman" panose="02020603050405020304" pitchFamily="18" charset="0"/>
                    <a:sym typeface="Wingdings" panose="05000000000000000000" pitchFamily="2" charset="2"/>
                  </a:rPr>
                  <a:t></a:t>
                </a:r>
                <a:endParaRPr lang="sv-SE" dirty="0">
                  <a:latin typeface="Times New Roman" panose="02020603050405020304" pitchFamily="18" charset="0"/>
                  <a:cs typeface="Times New Roman" panose="02020603050405020304" pitchFamily="18" charset="0"/>
                </a:endParaRPr>
              </a:p>
            </p:txBody>
          </p:sp>
        </mc:Choice>
        <mc:Fallback>
          <p:sp>
            <p:nvSpPr>
              <p:cNvPr id="16" name="TextBox 15"/>
              <p:cNvSpPr txBox="1">
                <a:spLocks noRot="1" noChangeAspect="1" noMove="1" noResize="1" noEditPoints="1" noAdjustHandles="1" noChangeArrowheads="1" noChangeShapeType="1" noTextEdit="1"/>
              </p:cNvSpPr>
              <p:nvPr/>
            </p:nvSpPr>
            <p:spPr>
              <a:xfrm>
                <a:off x="7185573" y="5029234"/>
                <a:ext cx="2149674" cy="369332"/>
              </a:xfrm>
              <a:prstGeom prst="rect">
                <a:avLst/>
              </a:prstGeom>
              <a:blipFill>
                <a:blip r:embed="rId4"/>
                <a:stretch>
                  <a:fillRect t="-8197" b="-24590"/>
                </a:stretch>
              </a:blipFill>
            </p:spPr>
            <p:txBody>
              <a:bodyPr/>
              <a:lstStyle/>
              <a:p>
                <a:r>
                  <a:rPr lang="sv-SE">
                    <a:noFill/>
                  </a:rPr>
                  <a:t> </a:t>
                </a:r>
              </a:p>
            </p:txBody>
          </p:sp>
        </mc:Fallback>
      </mc:AlternateContent>
      <p:sp>
        <p:nvSpPr>
          <p:cNvPr id="18" name="Rectangle 17"/>
          <p:cNvSpPr/>
          <p:nvPr/>
        </p:nvSpPr>
        <p:spPr>
          <a:xfrm>
            <a:off x="9099176" y="4562751"/>
            <a:ext cx="2265082" cy="1477328"/>
          </a:xfrm>
          <a:prstGeom prst="rect">
            <a:avLst/>
          </a:prstGeom>
        </p:spPr>
        <p:txBody>
          <a:bodyPr wrap="square">
            <a:spAutoFit/>
          </a:bodyPr>
          <a:lstStyle/>
          <a:p>
            <a:r>
              <a:rPr lang="sv-SE" dirty="0">
                <a:latin typeface="Times New Roman" panose="02020603050405020304" pitchFamily="18" charset="0"/>
                <a:cs typeface="Times New Roman" panose="02020603050405020304" pitchFamily="18" charset="0"/>
                <a:sym typeface="Wingdings" panose="05000000000000000000" pitchFamily="2" charset="2"/>
              </a:rPr>
              <a:t>Leg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in the  </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frequency</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domain</a:t>
            </a:r>
            <a:r>
              <a:rPr lang="sv-SE" dirty="0">
                <a:latin typeface="Times New Roman" panose="02020603050405020304" pitchFamily="18" charset="0"/>
                <a:cs typeface="Times New Roman" panose="02020603050405020304" pitchFamily="18" charset="0"/>
                <a:sym typeface="Wingdings" panose="05000000000000000000" pitchFamily="2" charset="2"/>
              </a:rPr>
              <a:t> is the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convolution</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of</a:t>
            </a:r>
            <a:r>
              <a:rPr lang="sv-SE" dirty="0">
                <a:latin typeface="Times New Roman" panose="02020603050405020304" pitchFamily="18" charset="0"/>
                <a:cs typeface="Times New Roman" panose="02020603050405020304" pitchFamily="18" charset="0"/>
                <a:sym typeface="Wingdings" panose="05000000000000000000" pitchFamily="2" charset="2"/>
              </a:rPr>
              <a:t> the </a:t>
            </a:r>
            <a:r>
              <a:rPr lang="sv-SE" dirty="0" err="1">
                <a:latin typeface="Times New Roman" panose="02020603050405020304" pitchFamily="18" charset="0"/>
                <a:cs typeface="Times New Roman" panose="02020603050405020304" pitchFamily="18" charset="0"/>
                <a:sym typeface="Wingdings" panose="05000000000000000000" pitchFamily="2" charset="2"/>
              </a:rPr>
              <a:t>phase</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and </a:t>
            </a:r>
            <a:r>
              <a:rPr lang="sv-SE" dirty="0" err="1">
                <a:latin typeface="Times New Roman" panose="02020603050405020304" pitchFamily="18" charset="0"/>
                <a:cs typeface="Times New Roman" panose="02020603050405020304" pitchFamily="18" charset="0"/>
                <a:sym typeface="Wingdings" panose="05000000000000000000" pitchFamily="2" charset="2"/>
              </a:rPr>
              <a:t>switching</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function</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21911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t>Impedance Model of an </a:t>
            </a:r>
            <a:r>
              <a:rPr lang="en-US" dirty="0" smtClean="0"/>
              <a:t>Inverter - Example</a:t>
            </a:r>
            <a:endParaRPr lang="sv-SE" dirty="0"/>
          </a:p>
        </p:txBody>
      </p:sp>
      <p:pic>
        <p:nvPicPr>
          <p:cNvPr id="4" name="Picture 3">
            <a:extLst>
              <a:ext uri="{FF2B5EF4-FFF2-40B4-BE49-F238E27FC236}">
                <a16:creationId xmlns:a16="http://schemas.microsoft.com/office/drawing/2014/main" id="{19403319-733C-4DA3-A9D6-8691AD8FDE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297" y="1395854"/>
            <a:ext cx="5725220" cy="3119963"/>
          </a:xfrm>
          <a:prstGeom prst="rect">
            <a:avLst/>
          </a:prstGeom>
        </p:spPr>
      </p:pic>
      <p:sp>
        <p:nvSpPr>
          <p:cNvPr id="5" name="TextBox 4"/>
          <p:cNvSpPr txBox="1"/>
          <p:nvPr/>
        </p:nvSpPr>
        <p:spPr>
          <a:xfrm>
            <a:off x="2838825" y="923942"/>
            <a:ext cx="6592046" cy="369332"/>
          </a:xfrm>
          <a:prstGeom prst="rect">
            <a:avLst/>
          </a:prstGeom>
          <a:noFill/>
        </p:spPr>
        <p:txBody>
          <a:bodyPr wrap="square" rtlCol="0">
            <a:spAutoFit/>
          </a:bodyPr>
          <a:lstStyle/>
          <a:p>
            <a:r>
              <a:rPr lang="en-US" dirty="0" smtClean="0"/>
              <a:t>Simplified 3 capacitors and 3 phase Parasitic Model </a:t>
            </a:r>
            <a:endParaRPr lang="sv-SE" dirty="0"/>
          </a:p>
        </p:txBody>
      </p:sp>
      <p:pic>
        <p:nvPicPr>
          <p:cNvPr id="6" name="Picture 5">
            <a:extLst>
              <a:ext uri="{FF2B5EF4-FFF2-40B4-BE49-F238E27FC236}">
                <a16:creationId xmlns:a16="http://schemas.microsoft.com/office/drawing/2014/main" id="{B4BC7DF3-6D61-4EAD-8042-A937582C2F5E}"/>
              </a:ext>
            </a:extLst>
          </p:cNvPr>
          <p:cNvPicPr>
            <a:picLocks noChangeAspect="1"/>
          </p:cNvPicPr>
          <p:nvPr/>
        </p:nvPicPr>
        <p:blipFill>
          <a:blip r:embed="rId3"/>
          <a:stretch>
            <a:fillRect/>
          </a:stretch>
        </p:blipFill>
        <p:spPr>
          <a:xfrm>
            <a:off x="405279" y="4793752"/>
            <a:ext cx="2499524" cy="1460787"/>
          </a:xfrm>
          <a:prstGeom prst="rect">
            <a:avLst/>
          </a:prstGeom>
        </p:spPr>
      </p:pic>
      <p:sp>
        <p:nvSpPr>
          <p:cNvPr id="7" name="TextBox 6"/>
          <p:cNvSpPr txBox="1"/>
          <p:nvPr/>
        </p:nvSpPr>
        <p:spPr>
          <a:xfrm>
            <a:off x="863038" y="6254539"/>
            <a:ext cx="2271059" cy="369332"/>
          </a:xfrm>
          <a:prstGeom prst="rect">
            <a:avLst/>
          </a:prstGeom>
          <a:noFill/>
        </p:spPr>
        <p:txBody>
          <a:bodyPr wrap="square" rtlCol="0">
            <a:spAutoFit/>
          </a:bodyPr>
          <a:lstStyle/>
          <a:p>
            <a:r>
              <a:rPr lang="en-US" dirty="0" smtClean="0"/>
              <a:t>Only Phase A</a:t>
            </a:r>
            <a:endParaRPr lang="sv-SE" dirty="0"/>
          </a:p>
        </p:txBody>
      </p:sp>
      <p:pic>
        <p:nvPicPr>
          <p:cNvPr id="8" name="Picture 7">
            <a:extLst>
              <a:ext uri="{FF2B5EF4-FFF2-40B4-BE49-F238E27FC236}">
                <a16:creationId xmlns:a16="http://schemas.microsoft.com/office/drawing/2014/main" id="{E90F9D6B-9ABD-430E-AB3E-609D3C47CC48}"/>
              </a:ext>
            </a:extLst>
          </p:cNvPr>
          <p:cNvPicPr>
            <a:picLocks noChangeAspect="1"/>
          </p:cNvPicPr>
          <p:nvPr/>
        </p:nvPicPr>
        <p:blipFill>
          <a:blip r:embed="rId4"/>
          <a:stretch>
            <a:fillRect/>
          </a:stretch>
        </p:blipFill>
        <p:spPr>
          <a:xfrm>
            <a:off x="3896659" y="4618397"/>
            <a:ext cx="2980757" cy="1723175"/>
          </a:xfrm>
          <a:prstGeom prst="rect">
            <a:avLst/>
          </a:prstGeom>
        </p:spPr>
      </p:pic>
      <p:pic>
        <p:nvPicPr>
          <p:cNvPr id="9" name="Picture 8">
            <a:extLst>
              <a:ext uri="{FF2B5EF4-FFF2-40B4-BE49-F238E27FC236}">
                <a16:creationId xmlns:a16="http://schemas.microsoft.com/office/drawing/2014/main" id="{2212C732-9EC1-4A4B-B97D-AF19098FB8AB}"/>
              </a:ext>
            </a:extLst>
          </p:cNvPr>
          <p:cNvPicPr>
            <a:picLocks noChangeAspect="1"/>
          </p:cNvPicPr>
          <p:nvPr/>
        </p:nvPicPr>
        <p:blipFill>
          <a:blip r:embed="rId5"/>
          <a:stretch>
            <a:fillRect/>
          </a:stretch>
        </p:blipFill>
        <p:spPr>
          <a:xfrm>
            <a:off x="7843658" y="4595627"/>
            <a:ext cx="3305430" cy="1745945"/>
          </a:xfrm>
          <a:prstGeom prst="rect">
            <a:avLst/>
          </a:prstGeom>
        </p:spPr>
      </p:pic>
      <p:sp>
        <p:nvSpPr>
          <p:cNvPr id="10" name="TextBox 9"/>
          <p:cNvSpPr txBox="1"/>
          <p:nvPr/>
        </p:nvSpPr>
        <p:spPr>
          <a:xfrm>
            <a:off x="4667061" y="6341572"/>
            <a:ext cx="2271059" cy="369332"/>
          </a:xfrm>
          <a:prstGeom prst="rect">
            <a:avLst/>
          </a:prstGeom>
          <a:noFill/>
        </p:spPr>
        <p:txBody>
          <a:bodyPr wrap="square" rtlCol="0">
            <a:spAutoFit/>
          </a:bodyPr>
          <a:lstStyle/>
          <a:p>
            <a:r>
              <a:rPr lang="en-US" dirty="0" smtClean="0"/>
              <a:t>Only Phase B</a:t>
            </a:r>
            <a:endParaRPr lang="sv-SE" dirty="0"/>
          </a:p>
        </p:txBody>
      </p:sp>
      <p:sp>
        <p:nvSpPr>
          <p:cNvPr id="11" name="TextBox 10"/>
          <p:cNvSpPr txBox="1"/>
          <p:nvPr/>
        </p:nvSpPr>
        <p:spPr>
          <a:xfrm>
            <a:off x="8760944" y="6341572"/>
            <a:ext cx="2271059" cy="369332"/>
          </a:xfrm>
          <a:prstGeom prst="rect">
            <a:avLst/>
          </a:prstGeom>
          <a:noFill/>
        </p:spPr>
        <p:txBody>
          <a:bodyPr wrap="square" rtlCol="0">
            <a:spAutoFit/>
          </a:bodyPr>
          <a:lstStyle/>
          <a:p>
            <a:r>
              <a:rPr lang="en-US" dirty="0" smtClean="0"/>
              <a:t>Only Phase C</a:t>
            </a:r>
            <a:endParaRPr lang="sv-SE" dirty="0"/>
          </a:p>
        </p:txBody>
      </p:sp>
    </p:spTree>
    <p:extLst>
      <p:ext uri="{BB962C8B-B14F-4D97-AF65-F5344CB8AC3E}">
        <p14:creationId xmlns:p14="http://schemas.microsoft.com/office/powerpoint/2010/main" val="25313706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t>The Aim of Using Impedance Model</a:t>
            </a:r>
            <a:endParaRPr lang="sv-SE" dirty="0"/>
          </a:p>
        </p:txBody>
      </p:sp>
      <p:sp>
        <p:nvSpPr>
          <p:cNvPr id="20" name="TextBox 19"/>
          <p:cNvSpPr txBox="1"/>
          <p:nvPr/>
        </p:nvSpPr>
        <p:spPr>
          <a:xfrm>
            <a:off x="251011" y="1141471"/>
            <a:ext cx="5354918" cy="5355312"/>
          </a:xfrm>
          <a:prstGeom prst="rect">
            <a:avLst/>
          </a:prstGeom>
          <a:noFill/>
        </p:spPr>
        <p:txBody>
          <a:bodyPr wrap="square" rtlCol="0">
            <a:spAutoFit/>
          </a:bodyPr>
          <a:lstStyle/>
          <a:p>
            <a:pPr marL="342900" indent="-342900" algn="just">
              <a:buFont typeface="+mj-lt"/>
              <a:buAutoNum type="arabicPeriod"/>
            </a:pPr>
            <a:r>
              <a:rPr lang="en-US" dirty="0" smtClean="0"/>
              <a:t>A simplified model does not provide the effective capacitance values for each phase. </a:t>
            </a:r>
          </a:p>
          <a:p>
            <a:pPr marL="342900" indent="-342900" algn="just">
              <a:buFont typeface="+mj-lt"/>
              <a:buAutoNum type="arabicPeriod"/>
            </a:pPr>
            <a:endParaRPr lang="en-US" dirty="0"/>
          </a:p>
          <a:p>
            <a:pPr marL="342900" indent="-342900" algn="just">
              <a:buFont typeface="+mj-lt"/>
              <a:buAutoNum type="arabicPeriod"/>
            </a:pPr>
            <a:r>
              <a:rPr lang="en-US" dirty="0"/>
              <a:t>A simplified model does not provide the current distribution of the capacitors. </a:t>
            </a:r>
            <a:endParaRPr lang="en-US" dirty="0" smtClean="0"/>
          </a:p>
          <a:p>
            <a:pPr marL="342900" indent="-342900" algn="just">
              <a:buFont typeface="+mj-lt"/>
              <a:buAutoNum type="arabicPeriod"/>
            </a:pPr>
            <a:endParaRPr lang="en-US" dirty="0"/>
          </a:p>
          <a:p>
            <a:pPr marL="342900" indent="-342900" algn="just">
              <a:buFont typeface="+mj-lt"/>
              <a:buAutoNum type="arabicPeriod"/>
            </a:pPr>
            <a:r>
              <a:rPr lang="en-US" dirty="0"/>
              <a:t>The uneven current distribution leads to thermal unbalance, which </a:t>
            </a:r>
            <a:r>
              <a:rPr lang="en-US" dirty="0" smtClean="0"/>
              <a:t>affects </a:t>
            </a:r>
            <a:r>
              <a:rPr lang="en-US" dirty="0"/>
              <a:t>the lifetime of the capacitors. </a:t>
            </a:r>
            <a:endParaRPr lang="en-US" dirty="0" smtClean="0"/>
          </a:p>
          <a:p>
            <a:pPr marL="342900" indent="-342900" algn="just">
              <a:buFont typeface="+mj-lt"/>
              <a:buAutoNum type="arabicPeriod"/>
            </a:pPr>
            <a:endParaRPr lang="en-US" dirty="0"/>
          </a:p>
          <a:p>
            <a:pPr marL="342900" indent="-342900" algn="just">
              <a:buFont typeface="+mj-lt"/>
              <a:buAutoNum type="arabicPeriod"/>
            </a:pPr>
            <a:r>
              <a:rPr lang="en-US" dirty="0"/>
              <a:t>The individual capacitance values of the capacitors, but the total capacitance value </a:t>
            </a:r>
            <a:r>
              <a:rPr lang="en-US" dirty="0" smtClean="0"/>
              <a:t>kept </a:t>
            </a:r>
            <a:r>
              <a:rPr lang="en-US" dirty="0"/>
              <a:t>the same, can be re-selected to balance the losses and thermal stress.  </a:t>
            </a:r>
          </a:p>
          <a:p>
            <a:pPr marL="342900" indent="-342900" algn="just">
              <a:buFont typeface="+mj-lt"/>
              <a:buAutoNum type="arabicPeriod"/>
            </a:pPr>
            <a:endParaRPr lang="en-US" dirty="0" smtClean="0"/>
          </a:p>
          <a:p>
            <a:pPr marL="342900" indent="-342900" algn="just">
              <a:buFont typeface="+mj-lt"/>
              <a:buAutoNum type="arabicPeriod"/>
            </a:pPr>
            <a:r>
              <a:rPr lang="en-US" dirty="0"/>
              <a:t>Additionally, </a:t>
            </a:r>
            <a:r>
              <a:rPr lang="en-US" dirty="0" smtClean="0"/>
              <a:t>a resonant structure is created because of the capacitors and stray inductances, which create high impedance for some frequencies. </a:t>
            </a:r>
          </a:p>
        </p:txBody>
      </p:sp>
      <p:pic>
        <p:nvPicPr>
          <p:cNvPr id="22" name="Picture 21"/>
          <p:cNvPicPr>
            <a:picLocks noChangeAspect="1"/>
          </p:cNvPicPr>
          <p:nvPr/>
        </p:nvPicPr>
        <p:blipFill>
          <a:blip r:embed="rId2"/>
          <a:stretch>
            <a:fillRect/>
          </a:stretch>
        </p:blipFill>
        <p:spPr>
          <a:xfrm>
            <a:off x="5947429" y="1807149"/>
            <a:ext cx="5682783" cy="4023955"/>
          </a:xfrm>
          <a:prstGeom prst="rect">
            <a:avLst/>
          </a:prstGeom>
        </p:spPr>
      </p:pic>
      <p:cxnSp>
        <p:nvCxnSpPr>
          <p:cNvPr id="24" name="Straight Arrow Connector 23"/>
          <p:cNvCxnSpPr/>
          <p:nvPr/>
        </p:nvCxnSpPr>
        <p:spPr>
          <a:xfrm flipV="1">
            <a:off x="9418918" y="1141471"/>
            <a:ext cx="561788" cy="16734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9705788" y="1141471"/>
            <a:ext cx="400424" cy="1930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887013" y="636696"/>
            <a:ext cx="2743199" cy="369332"/>
          </a:xfrm>
          <a:prstGeom prst="rect">
            <a:avLst/>
          </a:prstGeom>
          <a:noFill/>
        </p:spPr>
        <p:txBody>
          <a:bodyPr wrap="square" rtlCol="0">
            <a:spAutoFit/>
          </a:bodyPr>
          <a:lstStyle/>
          <a:p>
            <a:r>
              <a:rPr lang="en-US" dirty="0" smtClean="0"/>
              <a:t>High impedance points</a:t>
            </a:r>
            <a:endParaRPr lang="sv-SE" dirty="0"/>
          </a:p>
        </p:txBody>
      </p:sp>
    </p:spTree>
    <p:extLst>
      <p:ext uri="{BB962C8B-B14F-4D97-AF65-F5344CB8AC3E}">
        <p14:creationId xmlns:p14="http://schemas.microsoft.com/office/powerpoint/2010/main" val="36030788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err="1" smtClean="0">
                <a:latin typeface="Times New Roman" panose="02020603050405020304" pitchFamily="18" charset="0"/>
                <a:cs typeface="Times New Roman" panose="02020603050405020304" pitchFamily="18" charset="0"/>
              </a:rPr>
              <a:t>Busbar</a:t>
            </a:r>
            <a:r>
              <a:rPr lang="en-US" dirty="0" smtClean="0">
                <a:latin typeface="Times New Roman" panose="02020603050405020304" pitchFamily="18" charset="0"/>
                <a:cs typeface="Times New Roman" panose="02020603050405020304" pitchFamily="18" charset="0"/>
              </a:rPr>
              <a:t> Geometry 62mm Power Module</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20993" y="1296894"/>
            <a:ext cx="4022495" cy="4678176"/>
          </a:xfrm>
          <a:prstGeom prst="rect">
            <a:avLst/>
          </a:prstGeom>
        </p:spPr>
      </p:pic>
      <p:sp>
        <p:nvSpPr>
          <p:cNvPr id="6" name="Rectangle 5"/>
          <p:cNvSpPr/>
          <p:nvPr/>
        </p:nvSpPr>
        <p:spPr>
          <a:xfrm>
            <a:off x="1326776" y="175110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2823882" y="1795929"/>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1326776"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ctangle 12"/>
          <p:cNvSpPr/>
          <p:nvPr/>
        </p:nvSpPr>
        <p:spPr>
          <a:xfrm>
            <a:off x="2823882"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 name="Rectangle 13"/>
          <p:cNvSpPr/>
          <p:nvPr/>
        </p:nvSpPr>
        <p:spPr>
          <a:xfrm>
            <a:off x="3236819"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5" name="Rectangle 14"/>
          <p:cNvSpPr/>
          <p:nvPr/>
        </p:nvSpPr>
        <p:spPr>
          <a:xfrm>
            <a:off x="2188767"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 name="Rectangle 15"/>
          <p:cNvSpPr/>
          <p:nvPr/>
        </p:nvSpPr>
        <p:spPr>
          <a:xfrm>
            <a:off x="1140715"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 name="Rectangle 16"/>
          <p:cNvSpPr/>
          <p:nvPr/>
        </p:nvSpPr>
        <p:spPr>
          <a:xfrm>
            <a:off x="4736796" y="2881167"/>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8" name="Rectangle 17"/>
          <p:cNvSpPr/>
          <p:nvPr/>
        </p:nvSpPr>
        <p:spPr>
          <a:xfrm>
            <a:off x="4736796" y="3371238"/>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 name="TextBox 6"/>
          <p:cNvSpPr txBox="1"/>
          <p:nvPr/>
        </p:nvSpPr>
        <p:spPr>
          <a:xfrm>
            <a:off x="5214584" y="2809450"/>
            <a:ext cx="1679388" cy="369332"/>
          </a:xfrm>
          <a:prstGeom prst="rect">
            <a:avLst/>
          </a:prstGeom>
          <a:noFill/>
        </p:spPr>
        <p:txBody>
          <a:bodyPr wrap="square" rtlCol="0">
            <a:spAutoFit/>
          </a:bodyPr>
          <a:lstStyle/>
          <a:p>
            <a:r>
              <a:rPr lang="en-US" dirty="0" smtClean="0"/>
              <a:t>Capacitor</a:t>
            </a:r>
            <a:endParaRPr lang="sv-SE" dirty="0"/>
          </a:p>
        </p:txBody>
      </p:sp>
      <p:sp>
        <p:nvSpPr>
          <p:cNvPr id="19" name="TextBox 18"/>
          <p:cNvSpPr txBox="1"/>
          <p:nvPr/>
        </p:nvSpPr>
        <p:spPr>
          <a:xfrm>
            <a:off x="5204454" y="3309694"/>
            <a:ext cx="2058895" cy="369332"/>
          </a:xfrm>
          <a:prstGeom prst="rect">
            <a:avLst/>
          </a:prstGeom>
          <a:noFill/>
        </p:spPr>
        <p:txBody>
          <a:bodyPr wrap="square" rtlCol="0">
            <a:spAutoFit/>
          </a:bodyPr>
          <a:lstStyle/>
          <a:p>
            <a:r>
              <a:rPr lang="en-US" dirty="0" smtClean="0"/>
              <a:t>Power Modules</a:t>
            </a:r>
            <a:endParaRPr lang="sv-SE" dirty="0"/>
          </a:p>
        </p:txBody>
      </p:sp>
      <p:sp>
        <p:nvSpPr>
          <p:cNvPr id="8" name="Oval 7"/>
          <p:cNvSpPr/>
          <p:nvPr/>
        </p:nvSpPr>
        <p:spPr>
          <a:xfrm>
            <a:off x="4736796" y="3897168"/>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TextBox 19"/>
          <p:cNvSpPr txBox="1"/>
          <p:nvPr/>
        </p:nvSpPr>
        <p:spPr>
          <a:xfrm>
            <a:off x="5183537" y="3808125"/>
            <a:ext cx="2058895" cy="369332"/>
          </a:xfrm>
          <a:prstGeom prst="rect">
            <a:avLst/>
          </a:prstGeom>
          <a:noFill/>
        </p:spPr>
        <p:txBody>
          <a:bodyPr wrap="square" rtlCol="0">
            <a:spAutoFit/>
          </a:bodyPr>
          <a:lstStyle/>
          <a:p>
            <a:r>
              <a:rPr lang="en-US" dirty="0" smtClean="0"/>
              <a:t>DC- Nodes</a:t>
            </a:r>
            <a:endParaRPr lang="sv-SE" dirty="0"/>
          </a:p>
        </p:txBody>
      </p:sp>
      <p:sp>
        <p:nvSpPr>
          <p:cNvPr id="21" name="Oval 20"/>
          <p:cNvSpPr/>
          <p:nvPr/>
        </p:nvSpPr>
        <p:spPr>
          <a:xfrm>
            <a:off x="4736795" y="4279363"/>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3" name="TextBox 22"/>
          <p:cNvSpPr txBox="1"/>
          <p:nvPr/>
        </p:nvSpPr>
        <p:spPr>
          <a:xfrm>
            <a:off x="5183536" y="4210126"/>
            <a:ext cx="2058895" cy="369332"/>
          </a:xfrm>
          <a:prstGeom prst="rect">
            <a:avLst/>
          </a:prstGeom>
          <a:noFill/>
        </p:spPr>
        <p:txBody>
          <a:bodyPr wrap="square" rtlCol="0">
            <a:spAutoFit/>
          </a:bodyPr>
          <a:lstStyle/>
          <a:p>
            <a:r>
              <a:rPr lang="en-US" dirty="0" smtClean="0"/>
              <a:t>DC+ Nodes</a:t>
            </a:r>
            <a:endParaRPr lang="sv-SE" dirty="0"/>
          </a:p>
        </p:txBody>
      </p:sp>
      <p:sp>
        <p:nvSpPr>
          <p:cNvPr id="22" name="TextBox 21"/>
          <p:cNvSpPr txBox="1"/>
          <p:nvPr/>
        </p:nvSpPr>
        <p:spPr>
          <a:xfrm>
            <a:off x="3139472" y="3474736"/>
            <a:ext cx="483622" cy="369332"/>
          </a:xfrm>
          <a:prstGeom prst="rect">
            <a:avLst/>
          </a:prstGeom>
          <a:noFill/>
        </p:spPr>
        <p:txBody>
          <a:bodyPr wrap="square" rtlCol="0">
            <a:spAutoFit/>
          </a:bodyPr>
          <a:lstStyle/>
          <a:p>
            <a:r>
              <a:rPr lang="sv-SE" dirty="0" smtClean="0"/>
              <a:t>C1</a:t>
            </a:r>
            <a:endParaRPr lang="sv-SE" dirty="0"/>
          </a:p>
        </p:txBody>
      </p:sp>
      <p:sp>
        <p:nvSpPr>
          <p:cNvPr id="24" name="TextBox 23"/>
          <p:cNvSpPr txBox="1"/>
          <p:nvPr/>
        </p:nvSpPr>
        <p:spPr>
          <a:xfrm>
            <a:off x="1647273" y="3474736"/>
            <a:ext cx="483622" cy="369332"/>
          </a:xfrm>
          <a:prstGeom prst="rect">
            <a:avLst/>
          </a:prstGeom>
          <a:noFill/>
        </p:spPr>
        <p:txBody>
          <a:bodyPr wrap="square" rtlCol="0">
            <a:spAutoFit/>
          </a:bodyPr>
          <a:lstStyle/>
          <a:p>
            <a:r>
              <a:rPr lang="sv-SE" dirty="0" smtClean="0"/>
              <a:t>C2</a:t>
            </a:r>
            <a:endParaRPr lang="sv-SE" dirty="0"/>
          </a:p>
        </p:txBody>
      </p:sp>
      <p:sp>
        <p:nvSpPr>
          <p:cNvPr id="25" name="TextBox 24"/>
          <p:cNvSpPr txBox="1"/>
          <p:nvPr/>
        </p:nvSpPr>
        <p:spPr>
          <a:xfrm>
            <a:off x="1631813" y="1996364"/>
            <a:ext cx="483622" cy="369332"/>
          </a:xfrm>
          <a:prstGeom prst="rect">
            <a:avLst/>
          </a:prstGeom>
          <a:noFill/>
        </p:spPr>
        <p:txBody>
          <a:bodyPr wrap="square" rtlCol="0">
            <a:spAutoFit/>
          </a:bodyPr>
          <a:lstStyle/>
          <a:p>
            <a:r>
              <a:rPr lang="sv-SE" dirty="0" smtClean="0"/>
              <a:t>C3</a:t>
            </a:r>
            <a:endParaRPr lang="sv-SE" dirty="0"/>
          </a:p>
        </p:txBody>
      </p:sp>
      <p:sp>
        <p:nvSpPr>
          <p:cNvPr id="26" name="TextBox 25"/>
          <p:cNvSpPr txBox="1"/>
          <p:nvPr/>
        </p:nvSpPr>
        <p:spPr>
          <a:xfrm>
            <a:off x="3115132" y="1996364"/>
            <a:ext cx="507962" cy="369332"/>
          </a:xfrm>
          <a:prstGeom prst="rect">
            <a:avLst/>
          </a:prstGeom>
          <a:noFill/>
        </p:spPr>
        <p:txBody>
          <a:bodyPr wrap="square" rtlCol="0">
            <a:spAutoFit/>
          </a:bodyPr>
          <a:lstStyle/>
          <a:p>
            <a:r>
              <a:rPr lang="sv-SE" dirty="0" smtClean="0"/>
              <a:t>C4</a:t>
            </a:r>
            <a:endParaRPr lang="sv-SE" dirty="0"/>
          </a:p>
        </p:txBody>
      </p:sp>
    </p:spTree>
    <p:extLst>
      <p:ext uri="{BB962C8B-B14F-4D97-AF65-F5344CB8AC3E}">
        <p14:creationId xmlns:p14="http://schemas.microsoft.com/office/powerpoint/2010/main" val="19757863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Impedance Model</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39102026"/>
                  </p:ext>
                </p:extLst>
              </p:nvPr>
            </p:nvGraphicFramePr>
            <p:xfrm>
              <a:off x="1231154" y="1762561"/>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70013179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39102026"/>
                  </p:ext>
                </p:extLst>
              </p:nvPr>
            </p:nvGraphicFramePr>
            <p:xfrm>
              <a:off x="1231154" y="1762561"/>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36576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endParaRPr lang="sv-SE"/>
                        </a:p>
                      </a:txBody>
                      <a:tcPr>
                        <a:blipFill>
                          <a:blip r:embed="rId2"/>
                          <a:stretch>
                            <a:fillRect l="-100299" t="-106557" r="-200898" b="-324590"/>
                          </a:stretch>
                        </a:blipFill>
                      </a:tcPr>
                    </a:tc>
                    <a:tc>
                      <a:txBody>
                        <a:bodyPr/>
                        <a:lstStyle/>
                        <a:p>
                          <a:endParaRPr lang="sv-SE"/>
                        </a:p>
                      </a:txBody>
                      <a:tcPr>
                        <a:blipFill>
                          <a:blip r:embed="rId2"/>
                          <a:stretch>
                            <a:fillRect l="-200901" t="-106557" r="-101502" b="-324590"/>
                          </a:stretch>
                        </a:blipFill>
                      </a:tcPr>
                    </a:tc>
                    <a:tc>
                      <a:txBody>
                        <a:bodyPr/>
                        <a:lstStyle/>
                        <a:p>
                          <a:endParaRPr lang="sv-SE"/>
                        </a:p>
                      </a:txBody>
                      <a:tcPr>
                        <a:blipFill>
                          <a:blip r:embed="rId2"/>
                          <a:stretch>
                            <a:fillRect l="-300000" t="-106557" r="-1198" b="-324590"/>
                          </a:stretch>
                        </a:blipFill>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endParaRPr lang="sv-SE"/>
                        </a:p>
                      </a:txBody>
                      <a:tcPr>
                        <a:blipFill>
                          <a:blip r:embed="rId2"/>
                          <a:stretch>
                            <a:fillRect l="-100299" t="-206557" r="-200898" b="-224590"/>
                          </a:stretch>
                        </a:blipFill>
                      </a:tcPr>
                    </a:tc>
                    <a:tc>
                      <a:txBody>
                        <a:bodyPr/>
                        <a:lstStyle/>
                        <a:p>
                          <a:endParaRPr lang="sv-SE"/>
                        </a:p>
                      </a:txBody>
                      <a:tcPr>
                        <a:blipFill>
                          <a:blip r:embed="rId2"/>
                          <a:stretch>
                            <a:fillRect l="-200901" t="-206557" r="-101502" b="-224590"/>
                          </a:stretch>
                        </a:blipFill>
                      </a:tcPr>
                    </a:tc>
                    <a:tc>
                      <a:txBody>
                        <a:bodyPr/>
                        <a:lstStyle/>
                        <a:p>
                          <a:endParaRPr lang="sv-SE"/>
                        </a:p>
                      </a:txBody>
                      <a:tcPr>
                        <a:blipFill>
                          <a:blip r:embed="rId2"/>
                          <a:stretch>
                            <a:fillRect l="-300000" t="-206557" r="-1198" b="-224590"/>
                          </a:stretch>
                        </a:blipFill>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endParaRPr lang="sv-SE"/>
                        </a:p>
                      </a:txBody>
                      <a:tcPr>
                        <a:blipFill>
                          <a:blip r:embed="rId2"/>
                          <a:stretch>
                            <a:fillRect l="-100299" t="-306557" r="-200898" b="-124590"/>
                          </a:stretch>
                        </a:blipFill>
                      </a:tcPr>
                    </a:tc>
                    <a:tc>
                      <a:txBody>
                        <a:bodyPr/>
                        <a:lstStyle/>
                        <a:p>
                          <a:endParaRPr lang="sv-SE"/>
                        </a:p>
                      </a:txBody>
                      <a:tcPr>
                        <a:blipFill>
                          <a:blip r:embed="rId2"/>
                          <a:stretch>
                            <a:fillRect l="-200901" t="-306557" r="-101502" b="-124590"/>
                          </a:stretch>
                        </a:blipFill>
                      </a:tcPr>
                    </a:tc>
                    <a:tc>
                      <a:txBody>
                        <a:bodyPr/>
                        <a:lstStyle/>
                        <a:p>
                          <a:endParaRPr lang="sv-SE"/>
                        </a:p>
                      </a:txBody>
                      <a:tcPr>
                        <a:blipFill>
                          <a:blip r:embed="rId2"/>
                          <a:stretch>
                            <a:fillRect l="-300000" t="-306557" r="-1198" b="-124590"/>
                          </a:stretch>
                        </a:blipFill>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endParaRPr lang="sv-SE"/>
                        </a:p>
                      </a:txBody>
                      <a:tcPr>
                        <a:blipFill>
                          <a:blip r:embed="rId2"/>
                          <a:stretch>
                            <a:fillRect l="-100299" t="-406557" r="-200898" b="-24590"/>
                          </a:stretch>
                        </a:blipFill>
                      </a:tcPr>
                    </a:tc>
                    <a:tc>
                      <a:txBody>
                        <a:bodyPr/>
                        <a:lstStyle/>
                        <a:p>
                          <a:endParaRPr lang="sv-SE"/>
                        </a:p>
                      </a:txBody>
                      <a:tcPr>
                        <a:blipFill>
                          <a:blip r:embed="rId2"/>
                          <a:stretch>
                            <a:fillRect l="-200901" t="-406557" r="-101502" b="-24590"/>
                          </a:stretch>
                        </a:blipFill>
                      </a:tcPr>
                    </a:tc>
                    <a:tc>
                      <a:txBody>
                        <a:bodyPr/>
                        <a:lstStyle/>
                        <a:p>
                          <a:endParaRPr lang="sv-SE"/>
                        </a:p>
                      </a:txBody>
                      <a:tcPr>
                        <a:blipFill>
                          <a:blip r:embed="rId2"/>
                          <a:stretch>
                            <a:fillRect l="-300000" t="-406557" r="-1198" b="-24590"/>
                          </a:stretch>
                        </a:blipFill>
                      </a:tcPr>
                    </a:tc>
                    <a:extLst>
                      <a:ext uri="{0D108BD9-81ED-4DB2-BD59-A6C34878D82A}">
                        <a16:rowId xmlns:a16="http://schemas.microsoft.com/office/drawing/2014/main" val="1700131790"/>
                      </a:ext>
                    </a:extLst>
                  </a:tr>
                </a:tbl>
              </a:graphicData>
            </a:graphic>
          </p:graphicFrame>
        </mc:Fallback>
      </mc:AlternateContent>
      <p:sp>
        <p:nvSpPr>
          <p:cNvPr id="10" name="Rectangle 9">
            <a:extLst>
              <a:ext uri="{FF2B5EF4-FFF2-40B4-BE49-F238E27FC236}">
                <a16:creationId xmlns:a16="http://schemas.microsoft.com/office/drawing/2014/main" id="{5FD27746-BC71-497E-87F6-231B78DB66C2}"/>
              </a:ext>
            </a:extLst>
          </p:cNvPr>
          <p:cNvSpPr/>
          <p:nvPr/>
        </p:nvSpPr>
        <p:spPr>
          <a:xfrm>
            <a:off x="2784712" y="4229714"/>
            <a:ext cx="6286336" cy="646331"/>
          </a:xfrm>
          <a:prstGeom prst="rect">
            <a:avLst/>
          </a:prstGeom>
        </p:spPr>
        <p:txBody>
          <a:bodyPr wrap="none">
            <a:spAutoFit/>
          </a:bodyPr>
          <a:lstStyle/>
          <a:p>
            <a:r>
              <a:rPr lang="tr-TR" dirty="0" err="1">
                <a:latin typeface="Times New Roman" panose="02020603050405020304" pitchFamily="18" charset="0"/>
                <a:cs typeface="Times New Roman" panose="02020603050405020304" pitchFamily="18" charset="0"/>
              </a:rPr>
              <a:t>The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response</a:t>
            </a:r>
            <a:r>
              <a:rPr lang="tr-TR" dirty="0">
                <a:latin typeface="Times New Roman" panose="02020603050405020304" pitchFamily="18" charset="0"/>
                <a:cs typeface="Times New Roman" panose="02020603050405020304" pitchFamily="18" charset="0"/>
              </a:rPr>
              <a:t> of </a:t>
            </a:r>
            <a:r>
              <a:rPr lang="tr-TR" dirty="0" err="1">
                <a:latin typeface="Times New Roman" panose="02020603050405020304" pitchFamily="18" charset="0"/>
                <a:cs typeface="Times New Roman" panose="02020603050405020304" pitchFamily="18" charset="0"/>
              </a:rPr>
              <a:t>capacitor</a:t>
            </a:r>
            <a:r>
              <a:rPr lang="tr-TR" dirty="0">
                <a:latin typeface="Times New Roman" panose="02020603050405020304" pitchFamily="18" charset="0"/>
                <a:cs typeface="Times New Roman" panose="02020603050405020304" pitchFamily="18" charset="0"/>
              </a:rPr>
              <a:t> A </a:t>
            </a:r>
            <a:r>
              <a:rPr lang="tr-TR" dirty="0" err="1">
                <a:latin typeface="Times New Roman" panose="02020603050405020304" pitchFamily="18" charset="0"/>
                <a:cs typeface="Times New Roman" panose="02020603050405020304" pitchFamily="18" charset="0"/>
              </a:rPr>
              <a:t>for</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each</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leg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should</a:t>
            </a:r>
            <a:r>
              <a:rPr lang="tr-TR" dirty="0">
                <a:latin typeface="Times New Roman" panose="02020603050405020304" pitchFamily="18" charset="0"/>
                <a:cs typeface="Times New Roman" panose="02020603050405020304" pitchFamily="18" charset="0"/>
              </a:rPr>
              <a:t> be </a:t>
            </a:r>
            <a:r>
              <a:rPr lang="tr-TR" dirty="0" err="1">
                <a:latin typeface="Times New Roman" panose="02020603050405020304" pitchFamily="18" charset="0"/>
                <a:cs typeface="Times New Roman" panose="02020603050405020304" pitchFamily="18" charset="0"/>
              </a:rPr>
              <a:t>calculated</a:t>
            </a:r>
            <a:r>
              <a:rPr lang="tr-TR" dirty="0">
                <a:latin typeface="Times New Roman" panose="02020603050405020304" pitchFamily="18" charset="0"/>
                <a:cs typeface="Times New Roman" panose="02020603050405020304" pitchFamily="18" charset="0"/>
              </a:rPr>
              <a:t> as: </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45646" y="1340200"/>
            <a:ext cx="4733365"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Step response of capacitors to each leg</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A414EB2-1DD8-401E-96DE-5071FE225EAE}"/>
                  </a:ext>
                </a:extLst>
              </p:cNvPr>
              <p:cNvSpPr/>
              <p:nvPr/>
            </p:nvSpPr>
            <p:spPr>
              <a:xfrm>
                <a:off x="2766181" y="4685244"/>
                <a:ext cx="6323398" cy="390748"/>
              </a:xfrm>
              <a:prstGeom prst="rect">
                <a:avLst/>
              </a:prstGeom>
            </p:spPr>
            <p:txBody>
              <a:bodyPr wrap="non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𝑐𝑎𝑝𝐴</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𝐴</m:t>
                            </m:r>
                          </m:sub>
                        </m:sSub>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r>
                          <a:rPr lang="en-US" b="0" i="1" smtClean="0">
                            <a:latin typeface="Cambria Math" panose="02040503050406030204" pitchFamily="18" charset="0"/>
                          </a:rPr>
                          <m:t> )</m:t>
                        </m:r>
                        <m:r>
                          <a:rPr lang="tr-TR" b="0" i="1" smtClean="0">
                            <a:latin typeface="Cambria Math" panose="02040503050406030204" pitchFamily="18" charset="0"/>
                          </a:rPr>
                          <m:t>𝐻</m:t>
                        </m:r>
                      </m:e>
                      <m:sub>
                        <m:r>
                          <a:rPr lang="en-US" b="0" i="1" smtClean="0">
                            <a:latin typeface="Cambria Math" panose="02040503050406030204" pitchFamily="18" charset="0"/>
                          </a:rPr>
                          <m:t>1</m:t>
                        </m:r>
                        <m:r>
                          <a:rPr lang="tr-TR" b="0" i="1" smtClean="0">
                            <a:latin typeface="Cambria Math" panose="02040503050406030204" pitchFamily="18" charset="0"/>
                          </a:rPr>
                          <m:t>𝐴</m:t>
                        </m:r>
                      </m:sub>
                    </m:sSub>
                    <m:d>
                      <m:dPr>
                        <m:ctrlPr>
                          <a:rPr lang="tr-TR" b="0" i="1" smtClean="0">
                            <a:latin typeface="Cambria Math" panose="02040503050406030204" pitchFamily="18" charset="0"/>
                          </a:rPr>
                        </m:ctrlPr>
                      </m:dPr>
                      <m:e>
                        <m:r>
                          <a:rPr lang="tr-TR" b="0" i="1" smtClean="0">
                            <a:latin typeface="Cambria Math" panose="02040503050406030204" pitchFamily="18" charset="0"/>
                          </a:rPr>
                          <m:t>𝜔</m:t>
                        </m:r>
                      </m:e>
                    </m:d>
                    <m:r>
                      <a:rPr lang="tr-TR" b="0" i="0" smtClean="0">
                        <a:latin typeface="Cambria Math" panose="02040503050406030204" pitchFamily="18" charset="0"/>
                      </a:rPr>
                      <m:t>+</m:t>
                    </m:r>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𝐵</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𝐵</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r>
                  <a:rPr lang="en-US" dirty="0" smtClean="0"/>
                  <a:t>+</a:t>
                </a:r>
                <a14:m>
                  <m:oMath xmlns:m="http://schemas.openxmlformats.org/officeDocument/2006/math">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𝐶</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𝐶</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endParaRPr lang="en-US" dirty="0"/>
              </a:p>
            </p:txBody>
          </p:sp>
        </mc:Choice>
        <mc:Fallback xmlns="">
          <p:sp>
            <p:nvSpPr>
              <p:cNvPr id="12" name="Rectangle 11">
                <a:extLst>
                  <a:ext uri="{FF2B5EF4-FFF2-40B4-BE49-F238E27FC236}">
                    <a16:creationId xmlns:a16="http://schemas.microsoft.com/office/drawing/2014/main" id="{EA414EB2-1DD8-401E-96DE-5071FE225EAE}"/>
                  </a:ext>
                </a:extLst>
              </p:cNvPr>
              <p:cNvSpPr>
                <a:spLocks noRot="1" noChangeAspect="1" noMove="1" noResize="1" noEditPoints="1" noAdjustHandles="1" noChangeArrowheads="1" noChangeShapeType="1" noTextEdit="1"/>
              </p:cNvSpPr>
              <p:nvPr/>
            </p:nvSpPr>
            <p:spPr>
              <a:xfrm>
                <a:off x="2766181" y="4685244"/>
                <a:ext cx="6323398" cy="390748"/>
              </a:xfrm>
              <a:prstGeom prst="rect">
                <a:avLst/>
              </a:prstGeom>
              <a:blipFill>
                <a:blip r:embed="rId3"/>
                <a:stretch>
                  <a:fillRect t="-9375" b="-18750"/>
                </a:stretch>
              </a:blipFill>
            </p:spPr>
            <p:txBody>
              <a:bodyPr/>
              <a:lstStyle/>
              <a:p>
                <a:r>
                  <a:rPr lang="sv-SE">
                    <a:noFill/>
                  </a:rPr>
                  <a:t> </a:t>
                </a:r>
              </a:p>
            </p:txBody>
          </p:sp>
        </mc:Fallback>
      </mc:AlternateContent>
    </p:spTree>
    <p:extLst>
      <p:ext uri="{BB962C8B-B14F-4D97-AF65-F5344CB8AC3E}">
        <p14:creationId xmlns:p14="http://schemas.microsoft.com/office/powerpoint/2010/main" val="7711643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257175" y="832247"/>
            <a:ext cx="4264025" cy="3198019"/>
          </a:xfrm>
          <a:prstGeom prst="rect">
            <a:avLst/>
          </a:prstGeom>
        </p:spPr>
      </p:pic>
      <p:pic>
        <p:nvPicPr>
          <p:cNvPr id="10" name="Picture 9"/>
          <p:cNvPicPr>
            <a:picLocks noChangeAspect="1"/>
          </p:cNvPicPr>
          <p:nvPr/>
        </p:nvPicPr>
        <p:blipFill>
          <a:blip r:embed="rId3"/>
          <a:stretch>
            <a:fillRect/>
          </a:stretch>
        </p:blipFill>
        <p:spPr>
          <a:xfrm>
            <a:off x="8070850" y="990600"/>
            <a:ext cx="3896783" cy="2922587"/>
          </a:xfrm>
          <a:prstGeom prst="rect">
            <a:avLst/>
          </a:prstGeom>
        </p:spPr>
      </p:pic>
      <p:pic>
        <p:nvPicPr>
          <p:cNvPr id="11" name="Picture 10"/>
          <p:cNvPicPr>
            <a:picLocks noChangeAspect="1"/>
          </p:cNvPicPr>
          <p:nvPr/>
        </p:nvPicPr>
        <p:blipFill>
          <a:blip r:embed="rId4"/>
          <a:stretch>
            <a:fillRect/>
          </a:stretch>
        </p:blipFill>
        <p:spPr>
          <a:xfrm>
            <a:off x="4327525" y="3421530"/>
            <a:ext cx="3937000" cy="2952750"/>
          </a:xfrm>
          <a:prstGeom prst="rect">
            <a:avLst/>
          </a:prstGeom>
        </p:spPr>
      </p:pic>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DC Link Current (Positive/Negative/Zero Sequences)</a:t>
            </a:r>
            <a:endParaRPr lang="sv-SE" dirty="0">
              <a:latin typeface="Times New Roman" panose="02020603050405020304" pitchFamily="18" charset="0"/>
              <a:cs typeface="Times New Roman" panose="02020603050405020304" pitchFamily="18" charset="0"/>
            </a:endParaRPr>
          </a:p>
        </p:txBody>
      </p:sp>
      <p:sp>
        <p:nvSpPr>
          <p:cNvPr id="2" name="TextBox 1"/>
          <p:cNvSpPr txBox="1"/>
          <p:nvPr/>
        </p:nvSpPr>
        <p:spPr>
          <a:xfrm>
            <a:off x="5931273" y="6479797"/>
            <a:ext cx="2862730" cy="369332"/>
          </a:xfrm>
          <a:prstGeom prst="rect">
            <a:avLst/>
          </a:prstGeom>
          <a:noFill/>
        </p:spPr>
        <p:txBody>
          <a:bodyPr wrap="square" rtlCol="0">
            <a:spAutoFit/>
          </a:bodyPr>
          <a:lstStyle/>
          <a:p>
            <a:r>
              <a:rPr lang="en-US" dirty="0" smtClean="0"/>
              <a:t>6</a:t>
            </a:r>
            <a:r>
              <a:rPr lang="en-US" baseline="30000" dirty="0" smtClean="0"/>
              <a:t>th</a:t>
            </a:r>
            <a:r>
              <a:rPr lang="en-US" dirty="0" smtClean="0"/>
              <a:t> 12</a:t>
            </a:r>
            <a:r>
              <a:rPr lang="en-US" baseline="30000" dirty="0" smtClean="0"/>
              <a:t>th</a:t>
            </a:r>
            <a:r>
              <a:rPr lang="en-US" dirty="0" smtClean="0">
                <a:sym typeface="Wingdings" panose="05000000000000000000" pitchFamily="2" charset="2"/>
              </a:rPr>
              <a:t>  </a:t>
            </a:r>
            <a:endParaRPr lang="sv-SE" dirty="0"/>
          </a:p>
        </p:txBody>
      </p:sp>
    </p:spTree>
    <p:extLst>
      <p:ext uri="{BB962C8B-B14F-4D97-AF65-F5344CB8AC3E}">
        <p14:creationId xmlns:p14="http://schemas.microsoft.com/office/powerpoint/2010/main" val="22914261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240" y="300762"/>
            <a:ext cx="10990263" cy="568412"/>
          </a:xfrm>
        </p:spPr>
        <p:txBody>
          <a:bodyPr/>
          <a:lstStyle/>
          <a:p>
            <a:r>
              <a:rPr lang="en-US" dirty="0" smtClean="0"/>
              <a:t>Without Battery Model</a:t>
            </a:r>
            <a:endParaRPr lang="sv-SE" dirty="0"/>
          </a:p>
        </p:txBody>
      </p:sp>
      <p:pic>
        <p:nvPicPr>
          <p:cNvPr id="5" name="Picture 4"/>
          <p:cNvPicPr>
            <a:picLocks noChangeAspect="1"/>
          </p:cNvPicPr>
          <p:nvPr/>
        </p:nvPicPr>
        <p:blipFill>
          <a:blip r:embed="rId2"/>
          <a:stretch>
            <a:fillRect/>
          </a:stretch>
        </p:blipFill>
        <p:spPr>
          <a:xfrm>
            <a:off x="685800" y="1799292"/>
            <a:ext cx="5334000" cy="4000500"/>
          </a:xfrm>
          <a:prstGeom prst="rect">
            <a:avLst/>
          </a:prstGeom>
        </p:spPr>
      </p:pic>
      <p:sp>
        <p:nvSpPr>
          <p:cNvPr id="6" name="TextBox 5"/>
          <p:cNvSpPr txBox="1"/>
          <p:nvPr/>
        </p:nvSpPr>
        <p:spPr>
          <a:xfrm>
            <a:off x="1710036" y="1543836"/>
            <a:ext cx="3583232" cy="369332"/>
          </a:xfrm>
          <a:prstGeom prst="rect">
            <a:avLst/>
          </a:prstGeom>
          <a:noFill/>
        </p:spPr>
        <p:txBody>
          <a:bodyPr wrap="square" rtlCol="0">
            <a:spAutoFit/>
          </a:bodyPr>
          <a:lstStyle/>
          <a:p>
            <a:r>
              <a:rPr lang="en-US" dirty="0" smtClean="0"/>
              <a:t>Capacitor Responses to Phase-A</a:t>
            </a:r>
            <a:endParaRPr lang="sv-SE" dirty="0"/>
          </a:p>
        </p:txBody>
      </p:sp>
      <p:pic>
        <p:nvPicPr>
          <p:cNvPr id="7" name="Picture 6"/>
          <p:cNvPicPr>
            <a:picLocks noChangeAspect="1"/>
          </p:cNvPicPr>
          <p:nvPr/>
        </p:nvPicPr>
        <p:blipFill>
          <a:blip r:embed="rId3"/>
          <a:stretch>
            <a:fillRect/>
          </a:stretch>
        </p:blipFill>
        <p:spPr>
          <a:xfrm>
            <a:off x="6453094" y="1799292"/>
            <a:ext cx="5334000" cy="4000500"/>
          </a:xfrm>
          <a:prstGeom prst="rect">
            <a:avLst/>
          </a:prstGeom>
        </p:spPr>
      </p:pic>
      <p:sp>
        <p:nvSpPr>
          <p:cNvPr id="8" name="TextBox 7"/>
          <p:cNvSpPr txBox="1"/>
          <p:nvPr/>
        </p:nvSpPr>
        <p:spPr>
          <a:xfrm>
            <a:off x="7203692" y="1543836"/>
            <a:ext cx="4695621" cy="369332"/>
          </a:xfrm>
          <a:prstGeom prst="rect">
            <a:avLst/>
          </a:prstGeom>
          <a:noFill/>
        </p:spPr>
        <p:txBody>
          <a:bodyPr wrap="square" rtlCol="0">
            <a:spAutoFit/>
          </a:bodyPr>
          <a:lstStyle/>
          <a:p>
            <a:r>
              <a:rPr lang="en-US" dirty="0" smtClean="0"/>
              <a:t>Capacitor-1 Response to all phases</a:t>
            </a:r>
            <a:endParaRPr lang="sv-SE" dirty="0"/>
          </a:p>
        </p:txBody>
      </p:sp>
    </p:spTree>
    <p:extLst>
      <p:ext uri="{BB962C8B-B14F-4D97-AF65-F5344CB8AC3E}">
        <p14:creationId xmlns:p14="http://schemas.microsoft.com/office/powerpoint/2010/main" val="32228544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stretch>
            <a:fillRect/>
          </a:stretch>
        </p:blipFill>
        <p:spPr>
          <a:xfrm>
            <a:off x="3757706" y="2444071"/>
            <a:ext cx="5334000" cy="4000500"/>
          </a:xfrm>
          <a:prstGeom prst="rect">
            <a:avLst/>
          </a:prstGeom>
        </p:spPr>
      </p:pic>
      <p:sp>
        <p:nvSpPr>
          <p:cNvPr id="7" name="TextBox 6"/>
          <p:cNvSpPr txBox="1"/>
          <p:nvPr/>
        </p:nvSpPr>
        <p:spPr>
          <a:xfrm>
            <a:off x="4226129" y="2444071"/>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711670" y="2121248"/>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4" name="Straight Arrow Connector 3"/>
          <p:cNvCxnSpPr/>
          <p:nvPr/>
        </p:nvCxnSpPr>
        <p:spPr>
          <a:xfrm>
            <a:off x="5404971" y="2767106"/>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6" idx="2"/>
          </p:cNvCxnSpPr>
          <p:nvPr/>
        </p:nvCxnSpPr>
        <p:spPr>
          <a:xfrm>
            <a:off x="7933540" y="3823526"/>
            <a:ext cx="68954" cy="1208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The Effect of the Battery Connection and </a:t>
            </a:r>
            <a:r>
              <a:rPr lang="en-US" dirty="0" err="1" smtClean="0">
                <a:latin typeface="Times New Roman" panose="02020603050405020304" pitchFamily="18" charset="0"/>
                <a:cs typeface="Times New Roman" panose="02020603050405020304" pitchFamily="18" charset="0"/>
              </a:rPr>
              <a:t>Parasitics</a:t>
            </a:r>
            <a:endParaRPr lang="sv-SE"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771269" y="1614856"/>
            <a:ext cx="4695621" cy="369332"/>
          </a:xfrm>
          <a:prstGeom prst="rect">
            <a:avLst/>
          </a:prstGeom>
          <a:noFill/>
        </p:spPr>
        <p:txBody>
          <a:bodyPr wrap="square" rtlCol="0">
            <a:spAutoFit/>
          </a:bodyPr>
          <a:lstStyle/>
          <a:p>
            <a:r>
              <a:rPr lang="en-US" dirty="0" smtClean="0"/>
              <a:t>Capacitor-1 Response to all phases</a:t>
            </a:r>
            <a:endParaRPr lang="sv-SE" dirty="0"/>
          </a:p>
        </p:txBody>
      </p:sp>
      <p:pic>
        <p:nvPicPr>
          <p:cNvPr id="16" name="Picture 15"/>
          <p:cNvPicPr>
            <a:picLocks noChangeAspect="1"/>
          </p:cNvPicPr>
          <p:nvPr/>
        </p:nvPicPr>
        <p:blipFill>
          <a:blip r:embed="rId3"/>
          <a:stretch>
            <a:fillRect/>
          </a:stretch>
        </p:blipFill>
        <p:spPr>
          <a:xfrm>
            <a:off x="7219087" y="2751848"/>
            <a:ext cx="1428905" cy="1071678"/>
          </a:xfrm>
          <a:prstGeom prst="rect">
            <a:avLst/>
          </a:prstGeom>
        </p:spPr>
      </p:pic>
    </p:spTree>
    <p:extLst>
      <p:ext uri="{BB962C8B-B14F-4D97-AF65-F5344CB8AC3E}">
        <p14:creationId xmlns:p14="http://schemas.microsoft.com/office/powerpoint/2010/main" val="11821011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25252" y="1984562"/>
            <a:ext cx="5334000" cy="4000500"/>
          </a:xfrm>
          <a:prstGeom prst="rect">
            <a:avLst/>
          </a:prstGeom>
        </p:spPr>
      </p:pic>
      <p:pic>
        <p:nvPicPr>
          <p:cNvPr id="6" name="Picture 5"/>
          <p:cNvPicPr>
            <a:picLocks noChangeAspect="1"/>
          </p:cNvPicPr>
          <p:nvPr/>
        </p:nvPicPr>
        <p:blipFill>
          <a:blip r:embed="rId3"/>
          <a:stretch>
            <a:fillRect/>
          </a:stretch>
        </p:blipFill>
        <p:spPr>
          <a:xfrm>
            <a:off x="7104380" y="2292019"/>
            <a:ext cx="1406406" cy="1054805"/>
          </a:xfrm>
          <a:prstGeom prst="rect">
            <a:avLst/>
          </a:prstGeom>
        </p:spPr>
      </p:pic>
      <p:sp>
        <p:nvSpPr>
          <p:cNvPr id="7" name="TextBox 6"/>
          <p:cNvSpPr txBox="1"/>
          <p:nvPr/>
        </p:nvSpPr>
        <p:spPr>
          <a:xfrm>
            <a:off x="4226129" y="2444071"/>
            <a:ext cx="2277374" cy="307777"/>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Low</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716637" y="1722952"/>
            <a:ext cx="2277374" cy="523220"/>
          </a:xfrm>
          <a:prstGeom prst="rect">
            <a:avLst/>
          </a:prstGeom>
          <a:noFill/>
        </p:spPr>
        <p:txBody>
          <a:bodyPr wrap="square" rtlCol="0">
            <a:spAutoFit/>
          </a:bodyPr>
          <a:lstStyle/>
          <a:p>
            <a:pPr algn="ctr"/>
            <a:r>
              <a:rPr lang="sv-SE" sz="1400" dirty="0" err="1" smtClean="0">
                <a:latin typeface="Times New Roman" panose="02020603050405020304" pitchFamily="18" charset="0"/>
                <a:cs typeface="Times New Roman" panose="02020603050405020304" pitchFamily="18" charset="0"/>
              </a:rPr>
              <a:t>High</a:t>
            </a: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frequency</a:t>
            </a:r>
            <a:endParaRPr lang="sv-SE" sz="1400" dirty="0" smtClean="0">
              <a:latin typeface="Times New Roman" panose="02020603050405020304" pitchFamily="18" charset="0"/>
              <a:cs typeface="Times New Roman" panose="02020603050405020304" pitchFamily="18" charset="0"/>
            </a:endParaRPr>
          </a:p>
          <a:p>
            <a:pPr algn="ctr"/>
            <a:r>
              <a:rPr lang="sv-SE" sz="1400" dirty="0" smtClean="0">
                <a:latin typeface="Times New Roman" panose="02020603050405020304" pitchFamily="18" charset="0"/>
                <a:cs typeface="Times New Roman" panose="02020603050405020304" pitchFamily="18" charset="0"/>
              </a:rPr>
              <a:t> </a:t>
            </a:r>
            <a:r>
              <a:rPr lang="sv-SE" sz="1400" dirty="0" err="1" smtClean="0">
                <a:latin typeface="Times New Roman" panose="02020603050405020304" pitchFamily="18" charset="0"/>
                <a:cs typeface="Times New Roman" panose="02020603050405020304" pitchFamily="18" charset="0"/>
              </a:rPr>
              <a:t>resonance</a:t>
            </a:r>
            <a:endParaRPr lang="sv-SE" sz="1400" dirty="0">
              <a:latin typeface="Times New Roman" panose="02020603050405020304" pitchFamily="18" charset="0"/>
              <a:cs typeface="Times New Roman" panose="02020603050405020304" pitchFamily="18" charset="0"/>
            </a:endParaRPr>
          </a:p>
        </p:txBody>
      </p:sp>
      <p:cxnSp>
        <p:nvCxnSpPr>
          <p:cNvPr id="4" name="Straight Arrow Connector 3"/>
          <p:cNvCxnSpPr/>
          <p:nvPr/>
        </p:nvCxnSpPr>
        <p:spPr>
          <a:xfrm>
            <a:off x="5404971" y="2767106"/>
            <a:ext cx="887281" cy="5020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7845390" y="3346824"/>
            <a:ext cx="9934" cy="4951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The Effect of the Battery Connection and </a:t>
            </a:r>
            <a:r>
              <a:rPr lang="en-US" dirty="0" err="1" smtClean="0">
                <a:latin typeface="Times New Roman" panose="02020603050405020304" pitchFamily="18" charset="0"/>
                <a:cs typeface="Times New Roman" panose="02020603050405020304" pitchFamily="18" charset="0"/>
              </a:rPr>
              <a:t>Parasitics</a:t>
            </a:r>
            <a:endParaRPr lang="sv-SE" dirty="0">
              <a:latin typeface="Times New Roman" panose="02020603050405020304" pitchFamily="18" charset="0"/>
              <a:cs typeface="Times New Roman" panose="02020603050405020304" pitchFamily="18" charset="0"/>
            </a:endParaRPr>
          </a:p>
        </p:txBody>
      </p:sp>
      <p:sp>
        <p:nvSpPr>
          <p:cNvPr id="3" name="TextBox 2"/>
          <p:cNvSpPr txBox="1"/>
          <p:nvPr/>
        </p:nvSpPr>
        <p:spPr>
          <a:xfrm>
            <a:off x="4644483" y="1280871"/>
            <a:ext cx="3583232" cy="369332"/>
          </a:xfrm>
          <a:prstGeom prst="rect">
            <a:avLst/>
          </a:prstGeom>
          <a:noFill/>
        </p:spPr>
        <p:txBody>
          <a:bodyPr wrap="square" rtlCol="0">
            <a:spAutoFit/>
          </a:bodyPr>
          <a:lstStyle/>
          <a:p>
            <a:r>
              <a:rPr lang="en-US" dirty="0" smtClean="0"/>
              <a:t>Capacitor Responses to Phase-A</a:t>
            </a:r>
            <a:endParaRPr lang="sv-SE" dirty="0"/>
          </a:p>
        </p:txBody>
      </p:sp>
    </p:spTree>
    <p:extLst>
      <p:ext uri="{BB962C8B-B14F-4D97-AF65-F5344CB8AC3E}">
        <p14:creationId xmlns:p14="http://schemas.microsoft.com/office/powerpoint/2010/main" val="13072394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1100" y="1321140"/>
            <a:ext cx="3092450" cy="646331"/>
          </a:xfrm>
          <a:prstGeom prst="rect">
            <a:avLst/>
          </a:prstGeom>
          <a:noFill/>
        </p:spPr>
        <p:txBody>
          <a:bodyPr wrap="square" rtlCol="0">
            <a:spAutoFit/>
          </a:bodyPr>
          <a:lstStyle/>
          <a:p>
            <a:r>
              <a:rPr lang="en-US" dirty="0" smtClean="0"/>
              <a:t>14 kHz  </a:t>
            </a:r>
            <a:r>
              <a:rPr lang="en-US" dirty="0"/>
              <a:t>Switching</a:t>
            </a:r>
            <a:endParaRPr lang="sv-SE" dirty="0"/>
          </a:p>
          <a:p>
            <a:endParaRPr lang="sv-SE" dirty="0"/>
          </a:p>
        </p:txBody>
      </p:sp>
      <p:sp>
        <p:nvSpPr>
          <p:cNvPr id="6" name="TextBox 5"/>
          <p:cNvSpPr txBox="1"/>
          <p:nvPr/>
        </p:nvSpPr>
        <p:spPr>
          <a:xfrm>
            <a:off x="8412162" y="1290572"/>
            <a:ext cx="2871787" cy="369332"/>
          </a:xfrm>
          <a:prstGeom prst="rect">
            <a:avLst/>
          </a:prstGeom>
          <a:noFill/>
        </p:spPr>
        <p:txBody>
          <a:bodyPr wrap="square" rtlCol="0">
            <a:spAutoFit/>
          </a:bodyPr>
          <a:lstStyle/>
          <a:p>
            <a:r>
              <a:rPr lang="en-US" dirty="0" smtClean="0"/>
              <a:t>24kHz Switching</a:t>
            </a:r>
            <a:endParaRPr lang="sv-SE" dirty="0"/>
          </a:p>
        </p:txBody>
      </p:sp>
      <p:pic>
        <p:nvPicPr>
          <p:cNvPr id="7" name="Picture 6"/>
          <p:cNvPicPr>
            <a:picLocks noChangeAspect="1"/>
          </p:cNvPicPr>
          <p:nvPr/>
        </p:nvPicPr>
        <p:blipFill>
          <a:blip r:embed="rId2"/>
          <a:stretch>
            <a:fillRect/>
          </a:stretch>
        </p:blipFill>
        <p:spPr>
          <a:xfrm>
            <a:off x="6623050" y="1475238"/>
            <a:ext cx="5334000" cy="4000500"/>
          </a:xfrm>
          <a:prstGeom prst="rect">
            <a:avLst/>
          </a:prstGeom>
        </p:spPr>
      </p:pic>
      <p:pic>
        <p:nvPicPr>
          <p:cNvPr id="8" name="Picture 7"/>
          <p:cNvPicPr>
            <a:picLocks noChangeAspect="1"/>
          </p:cNvPicPr>
          <p:nvPr/>
        </p:nvPicPr>
        <p:blipFill>
          <a:blip r:embed="rId3"/>
          <a:stretch>
            <a:fillRect/>
          </a:stretch>
        </p:blipFill>
        <p:spPr>
          <a:xfrm>
            <a:off x="869950" y="1644306"/>
            <a:ext cx="4883150" cy="3662363"/>
          </a:xfrm>
          <a:prstGeom prst="rect">
            <a:avLst/>
          </a:prstGeom>
        </p:spPr>
      </p:pic>
      <p:sp>
        <p:nvSpPr>
          <p:cNvPr id="10"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High Frequency Resonance</a:t>
            </a:r>
            <a:endParaRPr lang="sv-SE" dirty="0">
              <a:latin typeface="Times New Roman" panose="02020603050405020304" pitchFamily="18" charset="0"/>
              <a:cs typeface="Times New Roman" panose="02020603050405020304" pitchFamily="18" charset="0"/>
            </a:endParaRPr>
          </a:p>
        </p:txBody>
      </p:sp>
      <p:sp>
        <p:nvSpPr>
          <p:cNvPr id="3" name="Rectangle 2"/>
          <p:cNvSpPr/>
          <p:nvPr/>
        </p:nvSpPr>
        <p:spPr>
          <a:xfrm>
            <a:off x="2671483" y="5062071"/>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 name="TextBox 3"/>
          <p:cNvSpPr txBox="1"/>
          <p:nvPr/>
        </p:nvSpPr>
        <p:spPr>
          <a:xfrm>
            <a:off x="2578799" y="5062071"/>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
        <p:nvSpPr>
          <p:cNvPr id="9" name="Rectangle 8"/>
          <p:cNvSpPr/>
          <p:nvPr/>
        </p:nvSpPr>
        <p:spPr>
          <a:xfrm>
            <a:off x="8609107" y="5215959"/>
            <a:ext cx="1667435" cy="3107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TextBox 10"/>
          <p:cNvSpPr txBox="1"/>
          <p:nvPr/>
        </p:nvSpPr>
        <p:spPr>
          <a:xfrm>
            <a:off x="8516423" y="5215959"/>
            <a:ext cx="2336334" cy="307777"/>
          </a:xfrm>
          <a:prstGeom prst="rect">
            <a:avLst/>
          </a:prstGeom>
          <a:noFill/>
        </p:spPr>
        <p:txBody>
          <a:bodyPr wrap="square" rtlCol="0">
            <a:spAutoFit/>
          </a:bodyPr>
          <a:lstStyle/>
          <a:p>
            <a:r>
              <a:rPr lang="en-US" sz="1400" dirty="0" smtClean="0">
                <a:latin typeface="Times New Roman" panose="02020603050405020304" pitchFamily="18" charset="0"/>
                <a:cs typeface="Times New Roman" panose="02020603050405020304" pitchFamily="18" charset="0"/>
              </a:rPr>
              <a:t>Harmonic number</a:t>
            </a:r>
            <a:endParaRPr lang="sv-SE"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9411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9862" y="1319852"/>
            <a:ext cx="5719763" cy="5296847"/>
          </a:xfrm>
          <a:prstGeom prst="rect">
            <a:avLst/>
          </a:prstGeom>
        </p:spPr>
      </p:pic>
      <p:pic>
        <p:nvPicPr>
          <p:cNvPr id="5" name="Picture 4"/>
          <p:cNvPicPr>
            <a:picLocks noChangeAspect="1"/>
          </p:cNvPicPr>
          <p:nvPr/>
        </p:nvPicPr>
        <p:blipFill>
          <a:blip r:embed="rId3"/>
          <a:stretch>
            <a:fillRect/>
          </a:stretch>
        </p:blipFill>
        <p:spPr>
          <a:xfrm>
            <a:off x="5481705" y="1528439"/>
            <a:ext cx="6944751" cy="5042957"/>
          </a:xfrm>
          <a:prstGeom prst="rect">
            <a:avLst/>
          </a:prstGeom>
        </p:spPr>
      </p:pic>
      <p:sp>
        <p:nvSpPr>
          <p:cNvPr id="2" name="TextBox 1"/>
          <p:cNvSpPr txBox="1"/>
          <p:nvPr/>
        </p:nvSpPr>
        <p:spPr>
          <a:xfrm>
            <a:off x="1835150" y="1159107"/>
            <a:ext cx="3092450" cy="369332"/>
          </a:xfrm>
          <a:prstGeom prst="rect">
            <a:avLst/>
          </a:prstGeom>
          <a:noFill/>
        </p:spPr>
        <p:txBody>
          <a:bodyPr wrap="square" rtlCol="0">
            <a:spAutoFit/>
          </a:bodyPr>
          <a:lstStyle/>
          <a:p>
            <a:r>
              <a:rPr lang="en-US" dirty="0" smtClean="0"/>
              <a:t>700 Hz Fundamental</a:t>
            </a:r>
            <a:endParaRPr lang="sv-SE" dirty="0"/>
          </a:p>
        </p:txBody>
      </p:sp>
      <p:sp>
        <p:nvSpPr>
          <p:cNvPr id="6" name="TextBox 5"/>
          <p:cNvSpPr txBox="1"/>
          <p:nvPr/>
        </p:nvSpPr>
        <p:spPr>
          <a:xfrm>
            <a:off x="8202612" y="1159107"/>
            <a:ext cx="2871787" cy="369332"/>
          </a:xfrm>
          <a:prstGeom prst="rect">
            <a:avLst/>
          </a:prstGeom>
          <a:noFill/>
        </p:spPr>
        <p:txBody>
          <a:bodyPr wrap="square" rtlCol="0">
            <a:spAutoFit/>
          </a:bodyPr>
          <a:lstStyle/>
          <a:p>
            <a:r>
              <a:rPr lang="en-US" dirty="0" smtClean="0"/>
              <a:t>200 Hz Fundamental</a:t>
            </a:r>
            <a:endParaRPr lang="sv-SE" dirty="0"/>
          </a:p>
        </p:txBody>
      </p:sp>
      <p:sp>
        <p:nvSpPr>
          <p:cNvPr id="7"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Low Frequency Resonance</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35630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686" y="306738"/>
            <a:ext cx="10990263" cy="568412"/>
          </a:xfrm>
        </p:spPr>
        <p:txBody>
          <a:bodyPr/>
          <a:lstStyle/>
          <a:p>
            <a:r>
              <a:rPr lang="en-US" dirty="0" smtClean="0"/>
              <a:t>Possible Solutions : 1- Passive </a:t>
            </a:r>
            <a:r>
              <a:rPr lang="en-US" dirty="0" err="1" smtClean="0"/>
              <a:t>Dampings</a:t>
            </a:r>
            <a:r>
              <a:rPr lang="en-US" dirty="0"/>
              <a:t/>
            </a:r>
            <a:br>
              <a:rPr lang="en-US" dirty="0"/>
            </a:br>
            <a:r>
              <a:rPr lang="en-US" dirty="0" smtClean="0"/>
              <a:t> </a:t>
            </a:r>
            <a:endParaRPr lang="sv-SE" dirty="0"/>
          </a:p>
        </p:txBody>
      </p:sp>
      <p:sp>
        <p:nvSpPr>
          <p:cNvPr id="3" name="Content Placeholder 2"/>
          <p:cNvSpPr>
            <a:spLocks noGrp="1"/>
          </p:cNvSpPr>
          <p:nvPr>
            <p:ph idx="1"/>
          </p:nvPr>
        </p:nvSpPr>
        <p:spPr>
          <a:xfrm>
            <a:off x="528357" y="1202979"/>
            <a:ext cx="10990263" cy="4453808"/>
          </a:xfrm>
        </p:spPr>
        <p:txBody>
          <a:bodyPr/>
          <a:lstStyle/>
          <a:p>
            <a:endParaRPr lang="en-US" dirty="0"/>
          </a:p>
          <a:p>
            <a:endParaRPr lang="sv-SE" dirty="0"/>
          </a:p>
        </p:txBody>
      </p:sp>
      <p:pic>
        <p:nvPicPr>
          <p:cNvPr id="5" name="Picture 4"/>
          <p:cNvPicPr>
            <a:picLocks noChangeAspect="1"/>
          </p:cNvPicPr>
          <p:nvPr/>
        </p:nvPicPr>
        <p:blipFill>
          <a:blip r:embed="rId2"/>
          <a:stretch>
            <a:fillRect/>
          </a:stretch>
        </p:blipFill>
        <p:spPr>
          <a:xfrm>
            <a:off x="3207684" y="1468948"/>
            <a:ext cx="4842622" cy="1619774"/>
          </a:xfrm>
          <a:prstGeom prst="rect">
            <a:avLst/>
          </a:prstGeom>
        </p:spPr>
      </p:pic>
      <p:sp>
        <p:nvSpPr>
          <p:cNvPr id="6" name="Rectangle 5"/>
          <p:cNvSpPr/>
          <p:nvPr/>
        </p:nvSpPr>
        <p:spPr>
          <a:xfrm>
            <a:off x="396874" y="6105408"/>
            <a:ext cx="9151657" cy="276999"/>
          </a:xfrm>
          <a:prstGeom prst="rect">
            <a:avLst/>
          </a:prstGeom>
        </p:spPr>
        <p:txBody>
          <a:bodyPr wrap="square">
            <a:spAutoFit/>
          </a:bodyPr>
          <a:lstStyle/>
          <a:p>
            <a:r>
              <a:rPr lang="sv-SE" sz="1200" dirty="0" smtClean="0"/>
              <a:t>[1] </a:t>
            </a:r>
            <a:r>
              <a:rPr lang="sv-SE" sz="1200" dirty="0" err="1" smtClean="0"/>
              <a:t>Damping</a:t>
            </a:r>
            <a:r>
              <a:rPr lang="sv-SE" sz="1200" dirty="0" smtClean="0"/>
              <a:t> </a:t>
            </a:r>
            <a:r>
              <a:rPr lang="sv-SE" sz="1200" dirty="0" err="1"/>
              <a:t>of</a:t>
            </a:r>
            <a:r>
              <a:rPr lang="sv-SE" sz="1200" dirty="0"/>
              <a:t> Input LC Filter </a:t>
            </a:r>
            <a:r>
              <a:rPr lang="sv-SE" sz="1200" dirty="0" err="1"/>
              <a:t>Resonance</a:t>
            </a:r>
            <a:r>
              <a:rPr lang="sv-SE" sz="1200" dirty="0"/>
              <a:t> </a:t>
            </a:r>
            <a:r>
              <a:rPr lang="sv-SE" sz="1200" dirty="0" err="1"/>
              <a:t>Based</a:t>
            </a:r>
            <a:r>
              <a:rPr lang="sv-SE" sz="1200" dirty="0"/>
              <a:t> </a:t>
            </a:r>
            <a:r>
              <a:rPr lang="sv-SE" sz="1200" dirty="0" smtClean="0"/>
              <a:t>on </a:t>
            </a:r>
            <a:r>
              <a:rPr lang="sv-SE" sz="1200" dirty="0" err="1" smtClean="0"/>
              <a:t>Virtual</a:t>
            </a:r>
            <a:r>
              <a:rPr lang="sv-SE" sz="1200" dirty="0" smtClean="0"/>
              <a:t> </a:t>
            </a:r>
            <a:r>
              <a:rPr lang="sv-SE" sz="1200" dirty="0"/>
              <a:t>Resistor for Matrix </a:t>
            </a:r>
            <a:r>
              <a:rPr lang="sv-SE" sz="1200" dirty="0" err="1"/>
              <a:t>Converter</a:t>
            </a:r>
            <a:endParaRPr lang="sv-SE" sz="1200" dirty="0"/>
          </a:p>
        </p:txBody>
      </p:sp>
      <p:sp>
        <p:nvSpPr>
          <p:cNvPr id="7" name="TextBox 6"/>
          <p:cNvSpPr txBox="1"/>
          <p:nvPr/>
        </p:nvSpPr>
        <p:spPr>
          <a:xfrm>
            <a:off x="1047750" y="1018313"/>
            <a:ext cx="9582150" cy="369332"/>
          </a:xfrm>
          <a:prstGeom prst="rect">
            <a:avLst/>
          </a:prstGeom>
          <a:noFill/>
        </p:spPr>
        <p:txBody>
          <a:bodyPr wrap="square" rtlCol="0">
            <a:spAutoFit/>
          </a:bodyPr>
          <a:lstStyle/>
          <a:p>
            <a:r>
              <a:rPr lang="en-US" dirty="0" smtClean="0"/>
              <a:t>We need additional passive elements  like resistance/capacitance/inductance</a:t>
            </a:r>
            <a:endParaRPr lang="sv-SE" dirty="0"/>
          </a:p>
        </p:txBody>
      </p:sp>
      <p:sp>
        <p:nvSpPr>
          <p:cNvPr id="8" name="AutoShape 4" descr="LC filter with passive damping network and constant power load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sp>
        <p:nvSpPr>
          <p:cNvPr id="9" name="AutoShape 6" descr="LC filter with passive damping network and constant power loa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sp>
        <p:nvSpPr>
          <p:cNvPr id="10" name="Rectangle 9"/>
          <p:cNvSpPr/>
          <p:nvPr/>
        </p:nvSpPr>
        <p:spPr>
          <a:xfrm>
            <a:off x="396875" y="6413672"/>
            <a:ext cx="10683876" cy="276999"/>
          </a:xfrm>
          <a:prstGeom prst="rect">
            <a:avLst/>
          </a:prstGeom>
        </p:spPr>
        <p:txBody>
          <a:bodyPr wrap="square">
            <a:spAutoFit/>
          </a:bodyPr>
          <a:lstStyle/>
          <a:p>
            <a:r>
              <a:rPr lang="sv-SE" sz="1200" dirty="0" smtClean="0"/>
              <a:t>[2] DC </a:t>
            </a:r>
            <a:r>
              <a:rPr lang="sv-SE" sz="1200" dirty="0"/>
              <a:t>bus </a:t>
            </a:r>
            <a:r>
              <a:rPr lang="sv-SE" sz="1200" dirty="0" err="1"/>
              <a:t>stabilization</a:t>
            </a:r>
            <a:r>
              <a:rPr lang="sv-SE" sz="1200" dirty="0"/>
              <a:t> </a:t>
            </a:r>
            <a:r>
              <a:rPr lang="sv-SE" sz="1200" dirty="0" err="1"/>
              <a:t>using</a:t>
            </a:r>
            <a:r>
              <a:rPr lang="sv-SE" sz="1200" dirty="0"/>
              <a:t> passive </a:t>
            </a:r>
            <a:r>
              <a:rPr lang="sv-SE" sz="1200" dirty="0" err="1"/>
              <a:t>damping</a:t>
            </a:r>
            <a:r>
              <a:rPr lang="sv-SE" sz="1200" dirty="0"/>
              <a:t> </a:t>
            </a:r>
            <a:r>
              <a:rPr lang="sv-SE" sz="1200" dirty="0" err="1"/>
              <a:t>network</a:t>
            </a:r>
            <a:r>
              <a:rPr lang="sv-SE" sz="1200" dirty="0"/>
              <a:t> </a:t>
            </a:r>
            <a:r>
              <a:rPr lang="sv-SE" sz="1200" dirty="0" err="1"/>
              <a:t>indistributed</a:t>
            </a:r>
            <a:r>
              <a:rPr lang="sv-SE" sz="1200" dirty="0"/>
              <a:t> </a:t>
            </a:r>
            <a:r>
              <a:rPr lang="sv-SE" sz="1200" dirty="0" err="1"/>
              <a:t>power</a:t>
            </a:r>
            <a:r>
              <a:rPr lang="sv-SE" sz="1200" dirty="0"/>
              <a:t> system </a:t>
            </a:r>
            <a:r>
              <a:rPr lang="sv-SE" sz="1200" dirty="0" err="1"/>
              <a:t>with</a:t>
            </a:r>
            <a:r>
              <a:rPr lang="sv-SE" sz="1200" dirty="0"/>
              <a:t> </a:t>
            </a:r>
            <a:r>
              <a:rPr lang="sv-SE" sz="1200" dirty="0" err="1"/>
              <a:t>constant</a:t>
            </a:r>
            <a:r>
              <a:rPr lang="sv-SE" sz="1200" dirty="0"/>
              <a:t> </a:t>
            </a:r>
            <a:r>
              <a:rPr lang="sv-SE" sz="1200" dirty="0" err="1"/>
              <a:t>power</a:t>
            </a:r>
            <a:r>
              <a:rPr lang="sv-SE" sz="1200" dirty="0"/>
              <a:t> </a:t>
            </a:r>
            <a:r>
              <a:rPr lang="sv-SE" sz="1200" dirty="0" err="1"/>
              <a:t>load</a:t>
            </a:r>
            <a:endParaRPr lang="sv-SE" sz="1200" dirty="0"/>
          </a:p>
        </p:txBody>
      </p:sp>
      <p:pic>
        <p:nvPicPr>
          <p:cNvPr id="11" name="Picture 10"/>
          <p:cNvPicPr>
            <a:picLocks noChangeAspect="1"/>
          </p:cNvPicPr>
          <p:nvPr/>
        </p:nvPicPr>
        <p:blipFill>
          <a:blip r:embed="rId3"/>
          <a:stretch>
            <a:fillRect/>
          </a:stretch>
        </p:blipFill>
        <p:spPr>
          <a:xfrm>
            <a:off x="3416020" y="3035720"/>
            <a:ext cx="4425950" cy="1794164"/>
          </a:xfrm>
          <a:prstGeom prst="rect">
            <a:avLst/>
          </a:prstGeom>
        </p:spPr>
      </p:pic>
      <p:sp>
        <p:nvSpPr>
          <p:cNvPr id="12" name="Rectangle 11"/>
          <p:cNvSpPr/>
          <p:nvPr/>
        </p:nvSpPr>
        <p:spPr>
          <a:xfrm>
            <a:off x="528357" y="4957768"/>
            <a:ext cx="10101543" cy="584775"/>
          </a:xfrm>
          <a:prstGeom prst="rect">
            <a:avLst/>
          </a:prstGeom>
        </p:spPr>
        <p:txBody>
          <a:bodyPr wrap="square">
            <a:spAutoFit/>
          </a:bodyPr>
          <a:lstStyle/>
          <a:p>
            <a:r>
              <a:rPr lang="sv-SE" sz="1600" dirty="0" smtClean="0"/>
              <a:t>In </a:t>
            </a:r>
            <a:r>
              <a:rPr lang="sv-SE" sz="1600" dirty="0"/>
              <a:t>the design, the </a:t>
            </a:r>
            <a:r>
              <a:rPr lang="sv-SE" sz="1600" dirty="0" err="1"/>
              <a:t>damping</a:t>
            </a:r>
            <a:r>
              <a:rPr lang="sv-SE" sz="1600" dirty="0"/>
              <a:t> </a:t>
            </a:r>
            <a:r>
              <a:rPr lang="sv-SE" sz="1600" dirty="0" err="1"/>
              <a:t>capacitor</a:t>
            </a:r>
            <a:r>
              <a:rPr lang="sv-SE" sz="1600" dirty="0"/>
              <a:t> C2 </a:t>
            </a:r>
            <a:r>
              <a:rPr lang="sv-SE" sz="1600" dirty="0" err="1"/>
              <a:t>was</a:t>
            </a:r>
            <a:r>
              <a:rPr lang="sv-SE" sz="1600" dirty="0"/>
              <a:t> </a:t>
            </a:r>
            <a:r>
              <a:rPr lang="sv-SE" sz="1600" dirty="0" err="1"/>
              <a:t>assumed</a:t>
            </a:r>
            <a:r>
              <a:rPr lang="sv-SE" sz="1600" dirty="0"/>
              <a:t> to be </a:t>
            </a:r>
            <a:r>
              <a:rPr lang="sv-SE" sz="1600" dirty="0" err="1"/>
              <a:t>much</a:t>
            </a:r>
            <a:r>
              <a:rPr lang="sv-SE" sz="1600" dirty="0"/>
              <a:t> </a:t>
            </a:r>
            <a:r>
              <a:rPr lang="sv-SE" sz="1600" dirty="0" err="1"/>
              <a:t>larger</a:t>
            </a:r>
            <a:r>
              <a:rPr lang="sv-SE" sz="1600" dirty="0"/>
              <a:t> </a:t>
            </a:r>
            <a:r>
              <a:rPr lang="sv-SE" sz="1600" dirty="0" err="1"/>
              <a:t>than</a:t>
            </a:r>
            <a:r>
              <a:rPr lang="sv-SE" sz="1600" dirty="0"/>
              <a:t> </a:t>
            </a:r>
            <a:r>
              <a:rPr lang="sv-SE" sz="1600" dirty="0" smtClean="0"/>
              <a:t>filter </a:t>
            </a:r>
            <a:r>
              <a:rPr lang="sv-SE" sz="1600" dirty="0" err="1" smtClean="0"/>
              <a:t>capacitor</a:t>
            </a:r>
            <a:r>
              <a:rPr lang="sv-SE" sz="1600" dirty="0" smtClean="0"/>
              <a:t> </a:t>
            </a:r>
            <a:r>
              <a:rPr lang="sv-SE" sz="1600" dirty="0"/>
              <a:t>C1, C2&gt;&gt;C1, and </a:t>
            </a:r>
            <a:r>
              <a:rPr lang="sv-SE" sz="1600" dirty="0" err="1"/>
              <a:t>that</a:t>
            </a:r>
            <a:r>
              <a:rPr lang="sv-SE" sz="1600" dirty="0"/>
              <a:t> </a:t>
            </a:r>
            <a:r>
              <a:rPr lang="sv-SE" sz="1600" dirty="0" smtClean="0"/>
              <a:t>makes the  </a:t>
            </a:r>
            <a:r>
              <a:rPr lang="sv-SE" sz="1600" dirty="0" err="1"/>
              <a:t>impedance</a:t>
            </a:r>
            <a:r>
              <a:rPr lang="sv-SE" sz="1600" dirty="0"/>
              <a:t> </a:t>
            </a:r>
            <a:r>
              <a:rPr lang="sv-SE" sz="1600" dirty="0" err="1"/>
              <a:t>of</a:t>
            </a:r>
            <a:r>
              <a:rPr lang="sv-SE" sz="1600" dirty="0"/>
              <a:t> C2 </a:t>
            </a:r>
            <a:r>
              <a:rPr lang="sv-SE" sz="1600" dirty="0" err="1"/>
              <a:t>very</a:t>
            </a:r>
            <a:r>
              <a:rPr lang="sv-SE" sz="1600" dirty="0"/>
              <a:t> small at </a:t>
            </a:r>
            <a:r>
              <a:rPr lang="sv-SE" sz="1600" dirty="0" err="1"/>
              <a:t>higher</a:t>
            </a:r>
            <a:r>
              <a:rPr lang="sv-SE" sz="1600" dirty="0"/>
              <a:t> </a:t>
            </a:r>
            <a:r>
              <a:rPr lang="sv-SE" sz="1600" dirty="0" err="1" smtClean="0"/>
              <a:t>frequencies</a:t>
            </a:r>
            <a:r>
              <a:rPr lang="sv-SE" sz="1600" dirty="0" smtClean="0"/>
              <a:t>.</a:t>
            </a:r>
          </a:p>
        </p:txBody>
      </p:sp>
      <p:pic>
        <p:nvPicPr>
          <p:cNvPr id="13" name="Picture 12"/>
          <p:cNvPicPr>
            <a:picLocks noChangeAspect="1"/>
          </p:cNvPicPr>
          <p:nvPr/>
        </p:nvPicPr>
        <p:blipFill>
          <a:blip r:embed="rId4"/>
          <a:stretch>
            <a:fillRect/>
          </a:stretch>
        </p:blipFill>
        <p:spPr>
          <a:xfrm>
            <a:off x="6985912" y="3307168"/>
            <a:ext cx="1712115" cy="1057772"/>
          </a:xfrm>
          <a:prstGeom prst="rect">
            <a:avLst/>
          </a:prstGeom>
        </p:spPr>
      </p:pic>
    </p:spTree>
    <p:extLst>
      <p:ext uri="{BB962C8B-B14F-4D97-AF65-F5344CB8AC3E}">
        <p14:creationId xmlns:p14="http://schemas.microsoft.com/office/powerpoint/2010/main" val="9809777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686" y="306738"/>
            <a:ext cx="10990263" cy="568412"/>
          </a:xfrm>
        </p:spPr>
        <p:txBody>
          <a:bodyPr/>
          <a:lstStyle/>
          <a:p>
            <a:r>
              <a:rPr lang="en-US" dirty="0" smtClean="0"/>
              <a:t>Possible Solutions : 2- Active </a:t>
            </a:r>
            <a:r>
              <a:rPr lang="en-US" dirty="0" err="1" smtClean="0"/>
              <a:t>Dampings</a:t>
            </a:r>
            <a:r>
              <a:rPr lang="en-US" dirty="0"/>
              <a:t/>
            </a:r>
            <a:br>
              <a:rPr lang="en-US" dirty="0"/>
            </a:br>
            <a:r>
              <a:rPr lang="en-US" dirty="0" smtClean="0"/>
              <a:t> </a:t>
            </a:r>
            <a:endParaRPr lang="sv-SE" dirty="0"/>
          </a:p>
        </p:txBody>
      </p:sp>
      <p:sp>
        <p:nvSpPr>
          <p:cNvPr id="8" name="AutoShape 4" descr="LC filter with passive damping network and constant power load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sp>
        <p:nvSpPr>
          <p:cNvPr id="9" name="AutoShape 6" descr="LC filter with passive damping network and constant power load"/>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sp>
        <p:nvSpPr>
          <p:cNvPr id="4" name="Rectangle 3"/>
          <p:cNvSpPr/>
          <p:nvPr/>
        </p:nvSpPr>
        <p:spPr>
          <a:xfrm>
            <a:off x="307975" y="6156920"/>
            <a:ext cx="11210645" cy="646331"/>
          </a:xfrm>
          <a:prstGeom prst="rect">
            <a:avLst/>
          </a:prstGeom>
        </p:spPr>
        <p:txBody>
          <a:bodyPr wrap="square">
            <a:spAutoFit/>
          </a:bodyPr>
          <a:lstStyle/>
          <a:p>
            <a:r>
              <a:rPr lang="sv-SE" dirty="0" smtClean="0"/>
              <a:t>[1] An </a:t>
            </a:r>
            <a:r>
              <a:rPr lang="sv-SE" dirty="0"/>
              <a:t>Active </a:t>
            </a:r>
            <a:r>
              <a:rPr lang="sv-SE" dirty="0" err="1"/>
              <a:t>Damping</a:t>
            </a:r>
            <a:r>
              <a:rPr lang="sv-SE" dirty="0"/>
              <a:t> </a:t>
            </a:r>
            <a:r>
              <a:rPr lang="sv-SE" dirty="0" err="1"/>
              <a:t>Strategy</a:t>
            </a:r>
            <a:r>
              <a:rPr lang="sv-SE" dirty="0"/>
              <a:t> for </a:t>
            </a:r>
            <a:r>
              <a:rPr lang="sv-SE" dirty="0" err="1"/>
              <a:t>InputImpedance</a:t>
            </a:r>
            <a:r>
              <a:rPr lang="sv-SE" dirty="0"/>
              <a:t> </a:t>
            </a:r>
            <a:r>
              <a:rPr lang="sv-SE" dirty="0" err="1"/>
              <a:t>of</a:t>
            </a:r>
            <a:r>
              <a:rPr lang="sv-SE" dirty="0"/>
              <a:t> </a:t>
            </a:r>
            <a:r>
              <a:rPr lang="sv-SE" dirty="0" err="1"/>
              <a:t>Bidirectional</a:t>
            </a:r>
            <a:r>
              <a:rPr lang="sv-SE" dirty="0"/>
              <a:t> Dual Active </a:t>
            </a:r>
            <a:r>
              <a:rPr lang="sv-SE" dirty="0" err="1"/>
              <a:t>BridgeDC</a:t>
            </a:r>
            <a:r>
              <a:rPr lang="sv-SE" dirty="0"/>
              <a:t>–DC </a:t>
            </a:r>
            <a:r>
              <a:rPr lang="sv-SE" dirty="0" err="1"/>
              <a:t>Converter</a:t>
            </a:r>
            <a:r>
              <a:rPr lang="sv-SE" dirty="0"/>
              <a:t>: </a:t>
            </a:r>
            <a:r>
              <a:rPr lang="sv-SE" dirty="0" err="1"/>
              <a:t>Modeling</a:t>
            </a:r>
            <a:r>
              <a:rPr lang="sv-SE" dirty="0"/>
              <a:t>, </a:t>
            </a:r>
            <a:r>
              <a:rPr lang="sv-SE" dirty="0" err="1"/>
              <a:t>Shaping,Design</a:t>
            </a:r>
            <a:r>
              <a:rPr lang="sv-SE" dirty="0"/>
              <a:t>, and Experiment</a:t>
            </a:r>
            <a:endParaRPr lang="sv-SE" dirty="0"/>
          </a:p>
        </p:txBody>
      </p:sp>
      <p:pic>
        <p:nvPicPr>
          <p:cNvPr id="15" name="Picture 14"/>
          <p:cNvPicPr>
            <a:picLocks noChangeAspect="1"/>
          </p:cNvPicPr>
          <p:nvPr/>
        </p:nvPicPr>
        <p:blipFill>
          <a:blip r:embed="rId2"/>
          <a:stretch>
            <a:fillRect/>
          </a:stretch>
        </p:blipFill>
        <p:spPr>
          <a:xfrm>
            <a:off x="3931935" y="3731277"/>
            <a:ext cx="2635250" cy="1427981"/>
          </a:xfrm>
          <a:prstGeom prst="rect">
            <a:avLst/>
          </a:prstGeom>
        </p:spPr>
      </p:pic>
      <p:pic>
        <p:nvPicPr>
          <p:cNvPr id="16" name="Picture 15"/>
          <p:cNvPicPr>
            <a:picLocks noChangeAspect="1"/>
          </p:cNvPicPr>
          <p:nvPr/>
        </p:nvPicPr>
        <p:blipFill>
          <a:blip r:embed="rId3"/>
          <a:stretch>
            <a:fillRect/>
          </a:stretch>
        </p:blipFill>
        <p:spPr>
          <a:xfrm>
            <a:off x="723901" y="3092843"/>
            <a:ext cx="2727726" cy="2614945"/>
          </a:xfrm>
          <a:prstGeom prst="rect">
            <a:avLst/>
          </a:prstGeom>
        </p:spPr>
      </p:pic>
      <p:pic>
        <p:nvPicPr>
          <p:cNvPr id="17" name="Picture 16"/>
          <p:cNvPicPr>
            <a:picLocks noChangeAspect="1"/>
          </p:cNvPicPr>
          <p:nvPr/>
        </p:nvPicPr>
        <p:blipFill>
          <a:blip r:embed="rId4"/>
          <a:stretch>
            <a:fillRect/>
          </a:stretch>
        </p:blipFill>
        <p:spPr>
          <a:xfrm>
            <a:off x="3714750" y="966968"/>
            <a:ext cx="4727593" cy="1811687"/>
          </a:xfrm>
          <a:prstGeom prst="rect">
            <a:avLst/>
          </a:prstGeom>
        </p:spPr>
      </p:pic>
      <p:pic>
        <p:nvPicPr>
          <p:cNvPr id="18" name="Picture 17"/>
          <p:cNvPicPr>
            <a:picLocks noChangeAspect="1"/>
          </p:cNvPicPr>
          <p:nvPr/>
        </p:nvPicPr>
        <p:blipFill>
          <a:blip r:embed="rId5"/>
          <a:stretch>
            <a:fillRect/>
          </a:stretch>
        </p:blipFill>
        <p:spPr>
          <a:xfrm>
            <a:off x="7047493" y="3205891"/>
            <a:ext cx="3784924" cy="2726463"/>
          </a:xfrm>
          <a:prstGeom prst="rect">
            <a:avLst/>
          </a:prstGeom>
        </p:spPr>
      </p:pic>
    </p:spTree>
    <p:extLst>
      <p:ext uri="{BB962C8B-B14F-4D97-AF65-F5344CB8AC3E}">
        <p14:creationId xmlns:p14="http://schemas.microsoft.com/office/powerpoint/2010/main" val="10710874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686" y="306738"/>
            <a:ext cx="10990263" cy="568412"/>
          </a:xfrm>
        </p:spPr>
        <p:txBody>
          <a:bodyPr/>
          <a:lstStyle/>
          <a:p>
            <a:r>
              <a:rPr lang="en-US" dirty="0" smtClean="0"/>
              <a:t>Possible Solutions: 3- Two-speed Transmission (Gearbox )</a:t>
            </a:r>
            <a:endParaRPr lang="sv-SE" dirty="0"/>
          </a:p>
        </p:txBody>
      </p:sp>
      <p:pic>
        <p:nvPicPr>
          <p:cNvPr id="2052" name="Picture 4" descr="https://res.cloudinary.com/tbmg/c_scale,w_800,f_auto,q_auto/v1719800933/ctf/entries/2024/063095531-Comparison_performance_between_single-speed_gearbox_and_2-speed_T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8775" y="1502271"/>
            <a:ext cx="5530560" cy="333216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p:cNvCxnSpPr/>
          <p:nvPr/>
        </p:nvCxnSpPr>
        <p:spPr>
          <a:xfrm>
            <a:off x="5019675" y="3347005"/>
            <a:ext cx="9525" cy="211455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181411" y="5572125"/>
            <a:ext cx="6820190" cy="923330"/>
          </a:xfrm>
          <a:prstGeom prst="rect">
            <a:avLst/>
          </a:prstGeom>
          <a:noFill/>
        </p:spPr>
        <p:txBody>
          <a:bodyPr wrap="square" rtlCol="0">
            <a:spAutoFit/>
          </a:bodyPr>
          <a:lstStyle/>
          <a:p>
            <a:r>
              <a:rPr lang="en-US" dirty="0"/>
              <a:t>The gear ratios can be selected as the low-frequency resonant frequency is aligned with the shift-region frequency to avoid the resonant frequency injection.</a:t>
            </a:r>
            <a:endParaRPr lang="sv-SE" dirty="0"/>
          </a:p>
        </p:txBody>
      </p:sp>
    </p:spTree>
    <p:extLst>
      <p:ext uri="{BB962C8B-B14F-4D97-AF65-F5344CB8AC3E}">
        <p14:creationId xmlns:p14="http://schemas.microsoft.com/office/powerpoint/2010/main" val="35302558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8454</TotalTime>
  <Words>695</Words>
  <Application>Microsoft Office PowerPoint</Application>
  <PresentationFormat>Widescreen</PresentationFormat>
  <Paragraphs>90</Paragraphs>
  <Slides>16</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Figtree</vt:lpstr>
      <vt:lpstr>Cambria Math</vt:lpstr>
      <vt:lpstr>Times New Roman</vt:lpstr>
      <vt:lpstr>Arial</vt:lpstr>
      <vt:lpstr>Calibri</vt:lpstr>
      <vt:lpstr>Wingdings</vt:lpstr>
      <vt:lpstr>Office-tema</vt:lpstr>
      <vt:lpstr>Harmonic Modelling of the Inverter</vt:lpstr>
      <vt:lpstr>Simplified Inverter Model </vt:lpstr>
      <vt:lpstr>Current Sources of Harmonics</vt:lpstr>
      <vt:lpstr>Impedance Model of an Inverter - Example</vt:lpstr>
      <vt:lpstr>The Aim of Using Impedance Model</vt:lpstr>
      <vt:lpstr>Busbar Geometry 62mm Power Module</vt:lpstr>
      <vt:lpstr>Impedance Model</vt:lpstr>
      <vt:lpstr>DC Link Current (Positive/Negative/Zero Sequences)</vt:lpstr>
      <vt:lpstr>Without Battery Model</vt:lpstr>
      <vt:lpstr>The Effect of the Battery Connection and Parasitics</vt:lpstr>
      <vt:lpstr>The Effect of the Battery Connection and Parasitics</vt:lpstr>
      <vt:lpstr>High Frequency Resonance</vt:lpstr>
      <vt:lpstr>Low Frequency Resonance</vt:lpstr>
      <vt:lpstr>Possible Solutions : 1- Passive Dampings  </vt:lpstr>
      <vt:lpstr>Possible Solutions : 2- Active Dampings  </vt:lpstr>
      <vt:lpstr>Possible Solutions: 3- Two-speed Transmission (Gearbox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160</cp:revision>
  <dcterms:created xsi:type="dcterms:W3CDTF">2024-01-10T13:17:29Z</dcterms:created>
  <dcterms:modified xsi:type="dcterms:W3CDTF">2024-12-16T14:47:00Z</dcterms:modified>
</cp:coreProperties>
</file>