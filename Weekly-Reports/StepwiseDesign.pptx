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60" r:id="rId4"/>
    <p:sldId id="258" r:id="rId5"/>
    <p:sldId id="259" r:id="rId6"/>
    <p:sldId id="261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7924251-0D1C-482F-9C00-375F743874E9}">
          <p14:sldIdLst>
            <p14:sldId id="256"/>
            <p14:sldId id="257"/>
            <p14:sldId id="260"/>
            <p14:sldId id="258"/>
            <p14:sldId id="259"/>
            <p14:sldId id="261"/>
            <p14:sldId id="263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614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F1A71A-9BFD-4E2F-8CB1-3FF418E5A8DE}" type="datetimeFigureOut">
              <a:rPr lang="sv-SE" smtClean="0"/>
              <a:t>2023-06-05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E4D78-AB85-481E-A603-2784DADE5AA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82372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2023-06-05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09357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2023-06-05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51407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2023-06-05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1989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2023-06-05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62741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2023-06-05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88178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2023-06-05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31030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2023-06-05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0404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2023-06-05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67984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2023-06-05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92539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2023-06-05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44571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2023-06-05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24245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F6EBA-2446-4F83-BF27-4368AC2AD5AA}" type="datetimeFigureOut">
              <a:rPr lang="sv-SE" smtClean="0"/>
              <a:t>2023-06-05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96518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79550" y="608013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/>
            </a:r>
            <a:br>
              <a:rPr lang="en-US" dirty="0" smtClean="0">
                <a:solidFill>
                  <a:srgbClr val="C00000"/>
                </a:solidFill>
              </a:rPr>
            </a:br>
            <a:r>
              <a:rPr lang="en-US" dirty="0" smtClean="0">
                <a:solidFill>
                  <a:srgbClr val="C00000"/>
                </a:solidFill>
              </a:rPr>
              <a:t>System-wise Design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6350" y="3627438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002060"/>
                </a:solidFill>
              </a:rPr>
              <a:t>Enes </a:t>
            </a:r>
            <a:r>
              <a:rPr lang="en-US" dirty="0" smtClean="0">
                <a:solidFill>
                  <a:srgbClr val="002060"/>
                </a:solidFill>
              </a:rPr>
              <a:t>Ayaz</a:t>
            </a:r>
            <a:endParaRPr lang="en-US" dirty="0" smtClean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826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Objectives-</a:t>
            </a:r>
            <a:r>
              <a:rPr lang="en-US" b="1" dirty="0" err="1" smtClean="0">
                <a:solidFill>
                  <a:srgbClr val="C00000"/>
                </a:solidFill>
              </a:rPr>
              <a:t>Hemizero</a:t>
            </a:r>
            <a:endParaRPr lang="sv-SE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To </a:t>
            </a:r>
            <a:r>
              <a:rPr lang="en-US" dirty="0"/>
              <a:t>p</a:t>
            </a:r>
            <a:r>
              <a:rPr lang="en-US" dirty="0" smtClean="0"/>
              <a:t>recisely </a:t>
            </a:r>
            <a:r>
              <a:rPr lang="en-US" dirty="0"/>
              <a:t>define the </a:t>
            </a:r>
            <a:r>
              <a:rPr lang="en-US" b="1" dirty="0"/>
              <a:t>specifications</a:t>
            </a:r>
            <a:r>
              <a:rPr lang="en-US" dirty="0"/>
              <a:t>, requirements and possibilities for the design of BEHDV powertrains with a nominal battery voltage of 1250 V compatible with the new </a:t>
            </a:r>
            <a:r>
              <a:rPr lang="en-US" b="1" dirty="0"/>
              <a:t>MCS</a:t>
            </a:r>
            <a:r>
              <a:rPr lang="en-US" dirty="0"/>
              <a:t> charging standard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To </a:t>
            </a:r>
            <a:r>
              <a:rPr lang="en-US" dirty="0"/>
              <a:t>develop and build a power electronic converter </a:t>
            </a:r>
            <a:r>
              <a:rPr lang="en-US" b="1" dirty="0"/>
              <a:t>optimized</a:t>
            </a:r>
            <a:r>
              <a:rPr lang="en-US" dirty="0"/>
              <a:t> for 1250V with min </a:t>
            </a:r>
            <a:r>
              <a:rPr lang="en-US" b="1" dirty="0"/>
              <a:t>99.5% </a:t>
            </a:r>
            <a:r>
              <a:rPr lang="en-US" dirty="0"/>
              <a:t>efficiency in the</a:t>
            </a:r>
            <a:r>
              <a:rPr lang="en-US" b="1" dirty="0"/>
              <a:t> best point </a:t>
            </a:r>
            <a:r>
              <a:rPr lang="en-US" dirty="0"/>
              <a:t>and understand the challenges.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To </a:t>
            </a:r>
            <a:r>
              <a:rPr lang="en-US" dirty="0"/>
              <a:t>develop and build an electric machine optimized for 1250V with at least 98% efficiency in best working point and understand the challenges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To </a:t>
            </a:r>
            <a:r>
              <a:rPr lang="en-US" dirty="0"/>
              <a:t>investigate and understand </a:t>
            </a:r>
            <a:r>
              <a:rPr lang="en-US" b="1" dirty="0"/>
              <a:t>aging phenomena </a:t>
            </a:r>
            <a:r>
              <a:rPr lang="en-US" dirty="0"/>
              <a:t>on constituent components of converters and electric machine that occurs at an elevated voltage level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To </a:t>
            </a:r>
            <a:r>
              <a:rPr lang="en-US" dirty="0"/>
              <a:t>develop methods for </a:t>
            </a:r>
            <a:r>
              <a:rPr lang="en-US" b="1" dirty="0"/>
              <a:t>diagnostics and prognostics </a:t>
            </a:r>
            <a:r>
              <a:rPr lang="en-US" dirty="0"/>
              <a:t>with the aim of reducing </a:t>
            </a:r>
            <a:r>
              <a:rPr lang="sv-SE" dirty="0" err="1"/>
              <a:t>maintenance</a:t>
            </a:r>
            <a:r>
              <a:rPr lang="sv-SE" dirty="0"/>
              <a:t> </a:t>
            </a:r>
            <a:r>
              <a:rPr lang="sv-SE" dirty="0" err="1"/>
              <a:t>costs</a:t>
            </a:r>
            <a:r>
              <a:rPr lang="sv-SE" dirty="0"/>
              <a:t>.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To </a:t>
            </a:r>
            <a:r>
              <a:rPr lang="en-US" dirty="0"/>
              <a:t>achieve a total efficiency in the drive system in the best operating point of 97.5%</a:t>
            </a:r>
          </a:p>
          <a:p>
            <a:pPr marL="0" indent="0">
              <a:buNone/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811794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Objectives-</a:t>
            </a:r>
            <a:r>
              <a:rPr lang="en-US" b="1" dirty="0" err="1" smtClean="0">
                <a:solidFill>
                  <a:srgbClr val="C00000"/>
                </a:solidFill>
              </a:rPr>
              <a:t>PowerizeD</a:t>
            </a:r>
            <a:endParaRPr lang="sv-SE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444625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sv-SE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To accurately define the </a:t>
            </a:r>
            <a:r>
              <a:rPr lang="en-US" b="1" dirty="0"/>
              <a:t>specifications</a:t>
            </a:r>
            <a:r>
              <a:rPr lang="en-US" dirty="0"/>
              <a:t>, requirements, and opportunities for the design of BEHDV drivetrains with a 1250 V nominal battery voltage </a:t>
            </a:r>
            <a:r>
              <a:rPr lang="en-US" b="1" dirty="0"/>
              <a:t>compatible</a:t>
            </a:r>
            <a:r>
              <a:rPr lang="en-US" dirty="0"/>
              <a:t> with the new MCS charging standard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To identify </a:t>
            </a:r>
            <a:r>
              <a:rPr lang="en-US" b="1" dirty="0"/>
              <a:t>suitable circuit topologies </a:t>
            </a:r>
            <a:r>
              <a:rPr lang="en-US" dirty="0"/>
              <a:t>and other basic design choices to meet the requirements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To design (through </a:t>
            </a:r>
            <a:r>
              <a:rPr lang="en-US" b="1" dirty="0"/>
              <a:t>holistic design optimizatio</a:t>
            </a:r>
            <a:r>
              <a:rPr lang="en-US" dirty="0"/>
              <a:t>n) a competitive and highly efficient 1250 V </a:t>
            </a:r>
            <a:r>
              <a:rPr lang="en-US" dirty="0" err="1"/>
              <a:t>SiC</a:t>
            </a:r>
            <a:r>
              <a:rPr lang="en-US" dirty="0"/>
              <a:t>-based BEHDV traction inverter </a:t>
            </a:r>
            <a:r>
              <a:rPr lang="en-US" b="1" dirty="0"/>
              <a:t>for e-axle </a:t>
            </a:r>
            <a:r>
              <a:rPr lang="en-US" b="1" dirty="0" smtClean="0"/>
              <a:t>integration.</a:t>
            </a:r>
            <a:endParaRPr lang="en-US" b="1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To design a </a:t>
            </a:r>
            <a:r>
              <a:rPr lang="en-US" b="1" dirty="0"/>
              <a:t>gate drive unit </a:t>
            </a:r>
            <a:r>
              <a:rPr lang="en-US" dirty="0"/>
              <a:t>with condition </a:t>
            </a:r>
            <a:r>
              <a:rPr lang="en-US" b="1" dirty="0"/>
              <a:t>monitoring</a:t>
            </a:r>
            <a:r>
              <a:rPr lang="en-US" dirty="0"/>
              <a:t> of the </a:t>
            </a:r>
            <a:r>
              <a:rPr lang="en-US" dirty="0" err="1"/>
              <a:t>SiC</a:t>
            </a:r>
            <a:r>
              <a:rPr lang="en-US" dirty="0"/>
              <a:t> </a:t>
            </a:r>
            <a:r>
              <a:rPr lang="en-US" dirty="0" smtClean="0"/>
              <a:t>MOSFETs. 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To verify the designed traction inverter design through realistic laboratory </a:t>
            </a:r>
            <a:r>
              <a:rPr lang="en-US" dirty="0" smtClean="0"/>
              <a:t>tests. 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To drive </a:t>
            </a:r>
            <a:r>
              <a:rPr lang="en-US" b="1" dirty="0"/>
              <a:t>reliability</a:t>
            </a:r>
            <a:r>
              <a:rPr lang="en-US" dirty="0"/>
              <a:t> improvements, prediction of reliability, and investigate methods for condition monitoring in the entire drive system. </a:t>
            </a:r>
          </a:p>
          <a:p>
            <a:pPr marL="0" indent="0">
              <a:buNone/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205086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Aims and Requirements</a:t>
            </a:r>
            <a:endParaRPr lang="sv-SE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0324"/>
            <a:ext cx="10515600" cy="5318125"/>
          </a:xfrm>
        </p:spPr>
        <p:txBody>
          <a:bodyPr>
            <a:normAutofit fontScale="62500" lnSpcReduction="20000"/>
          </a:bodyPr>
          <a:lstStyle/>
          <a:p>
            <a:pPr marL="457200" lvl="1" indent="0">
              <a:buNone/>
            </a:pPr>
            <a:endParaRPr lang="en-US" sz="2600" dirty="0"/>
          </a:p>
          <a:p>
            <a:pPr marL="914400" lvl="1" indent="-457200">
              <a:buFont typeface="+mj-lt"/>
              <a:buAutoNum type="arabicPeriod"/>
            </a:pPr>
            <a:r>
              <a:rPr lang="en-US" sz="2600" dirty="0" smtClean="0"/>
              <a:t>Reduced </a:t>
            </a:r>
            <a:r>
              <a:rPr lang="en-US" sz="2600" dirty="0"/>
              <a:t>power </a:t>
            </a:r>
            <a:r>
              <a:rPr lang="en-US" sz="2600" dirty="0" smtClean="0"/>
              <a:t>losses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600" dirty="0" smtClean="0"/>
              <a:t>Better </a:t>
            </a:r>
            <a:r>
              <a:rPr lang="en-US" sz="2600" dirty="0"/>
              <a:t>thermal design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600" dirty="0"/>
              <a:t>Integration of the drive system (also called e-axle)</a:t>
            </a:r>
          </a:p>
          <a:p>
            <a:pPr lvl="2"/>
            <a:r>
              <a:rPr lang="en-US" sz="2600" dirty="0"/>
              <a:t>Which in turn enables using larger battery pack, providing longer </a:t>
            </a:r>
            <a:r>
              <a:rPr lang="en-US" sz="2600" dirty="0" smtClean="0"/>
              <a:t>mileage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600" dirty="0"/>
              <a:t>Higher voltage </a:t>
            </a:r>
            <a:r>
              <a:rPr lang="en-US" sz="2600" dirty="0" smtClean="0"/>
              <a:t>level</a:t>
            </a:r>
            <a:endParaRPr lang="en-US" sz="2600" dirty="0"/>
          </a:p>
          <a:p>
            <a:pPr lvl="2"/>
            <a:r>
              <a:rPr lang="en-US" sz="2600" dirty="0" smtClean="0"/>
              <a:t>Enable </a:t>
            </a:r>
            <a:r>
              <a:rPr lang="en-US" sz="2600" dirty="0"/>
              <a:t>faster charging </a:t>
            </a:r>
          </a:p>
          <a:p>
            <a:pPr lvl="2"/>
            <a:r>
              <a:rPr lang="en-US" sz="2600" dirty="0"/>
              <a:t>Decreased power losses and demands for conductor material (by decreasing current requirements for the same power level)</a:t>
            </a:r>
          </a:p>
          <a:p>
            <a:pPr lvl="2"/>
            <a:r>
              <a:rPr lang="en-US" sz="2600" dirty="0"/>
              <a:t>New standard : Megawatt Charging System (MCS) (up to 1250 V and 3000 A)</a:t>
            </a:r>
          </a:p>
          <a:p>
            <a:pPr lvl="2"/>
            <a:r>
              <a:rPr lang="en-US" sz="2600" dirty="0"/>
              <a:t>But it should be consider reliability and physical stress, such chip cracks, bond-wires </a:t>
            </a:r>
            <a:r>
              <a:rPr lang="en-US" sz="2600" dirty="0" smtClean="0"/>
              <a:t>failures</a:t>
            </a:r>
          </a:p>
          <a:p>
            <a:pPr marL="457200" lvl="1" indent="0">
              <a:buNone/>
            </a:pPr>
            <a:r>
              <a:rPr lang="en-US" sz="2600" dirty="0" smtClean="0"/>
              <a:t>5. </a:t>
            </a:r>
            <a:r>
              <a:rPr lang="en-US" sz="2600" dirty="0"/>
              <a:t>Semiconductors </a:t>
            </a:r>
            <a:r>
              <a:rPr lang="en-US" sz="2600" dirty="0" err="1"/>
              <a:t>SiC</a:t>
            </a:r>
            <a:r>
              <a:rPr lang="en-US" sz="2600" dirty="0"/>
              <a:t> </a:t>
            </a:r>
            <a:r>
              <a:rPr lang="en-US" sz="2600" dirty="0" smtClean="0"/>
              <a:t>MOSFETs</a:t>
            </a:r>
            <a:endParaRPr lang="en-US" sz="2600" dirty="0"/>
          </a:p>
          <a:p>
            <a:pPr lvl="2"/>
            <a:r>
              <a:rPr lang="en-US" sz="2600" dirty="0" smtClean="0"/>
              <a:t>Higher </a:t>
            </a:r>
            <a:r>
              <a:rPr lang="en-US" sz="2600" dirty="0"/>
              <a:t>temperature </a:t>
            </a:r>
          </a:p>
          <a:p>
            <a:pPr lvl="2"/>
            <a:r>
              <a:rPr lang="en-US" sz="2600" dirty="0"/>
              <a:t>Better efficiency</a:t>
            </a:r>
          </a:p>
          <a:p>
            <a:pPr lvl="2"/>
            <a:r>
              <a:rPr lang="en-US" sz="2600" dirty="0"/>
              <a:t>But, new kind of failure mechanism </a:t>
            </a:r>
          </a:p>
          <a:p>
            <a:pPr lvl="2"/>
            <a:r>
              <a:rPr lang="en-US" sz="2600" dirty="0"/>
              <a:t>Should perform lifetime analysis, considering economic lifetime of the </a:t>
            </a:r>
            <a:r>
              <a:rPr lang="en-US" sz="2600" dirty="0" smtClean="0"/>
              <a:t>inverter</a:t>
            </a:r>
          </a:p>
          <a:p>
            <a:pPr lvl="2"/>
            <a:endParaRPr lang="en-US" sz="2600" dirty="0"/>
          </a:p>
          <a:p>
            <a:pPr marL="0" indent="0">
              <a:buNone/>
            </a:pPr>
            <a:r>
              <a:rPr lang="en-US" sz="2600" dirty="0"/>
              <a:t>Especially considering that the project aims at a </a:t>
            </a:r>
            <a:r>
              <a:rPr lang="en-US" sz="2600" b="1" dirty="0"/>
              <a:t>high voltage system</a:t>
            </a:r>
            <a:r>
              <a:rPr lang="en-US" sz="2600" dirty="0"/>
              <a:t>, modularity at the component, phase, converter or motor level can be used to achieve </a:t>
            </a:r>
            <a:r>
              <a:rPr lang="en-US" sz="2600" b="1" dirty="0"/>
              <a:t>high efficiency</a:t>
            </a:r>
            <a:r>
              <a:rPr lang="en-US" sz="2600" dirty="0"/>
              <a:t>, </a:t>
            </a:r>
            <a:r>
              <a:rPr lang="en-US" sz="2600" b="1" dirty="0"/>
              <a:t>high compactness</a:t>
            </a:r>
            <a:r>
              <a:rPr lang="en-US" sz="2600" dirty="0"/>
              <a:t>, </a:t>
            </a:r>
            <a:r>
              <a:rPr lang="en-US" sz="2600" b="1" dirty="0"/>
              <a:t>low cost </a:t>
            </a:r>
            <a:r>
              <a:rPr lang="en-US" sz="2600" dirty="0"/>
              <a:t>and </a:t>
            </a:r>
            <a:r>
              <a:rPr lang="en-US" sz="2600" b="1" dirty="0"/>
              <a:t>high reliability</a:t>
            </a:r>
            <a:r>
              <a:rPr lang="en-US" sz="2600" dirty="0"/>
              <a:t>. To achieve this, a </a:t>
            </a:r>
            <a:r>
              <a:rPr lang="en-US" sz="2600" b="1" dirty="0"/>
              <a:t>holistic optimization of the entire drive system </a:t>
            </a:r>
            <a:r>
              <a:rPr lang="en-US" sz="2600" dirty="0"/>
              <a:t>including </a:t>
            </a:r>
            <a:r>
              <a:rPr lang="en-US" sz="2600" b="1" dirty="0"/>
              <a:t>motor, inverter, control, and individual components such as intermediate link capacitors </a:t>
            </a:r>
            <a:r>
              <a:rPr lang="en-US" sz="2600" dirty="0"/>
              <a:t>is required. In doing so, it is also important to consider methods for </a:t>
            </a:r>
            <a:r>
              <a:rPr lang="en-US" sz="2600" b="1" dirty="0"/>
              <a:t>cooling</a:t>
            </a:r>
            <a:r>
              <a:rPr lang="en-US" sz="2600" dirty="0"/>
              <a:t> the motor, inverter, and components such as intermediate link capacitors</a:t>
            </a:r>
          </a:p>
          <a:p>
            <a:pPr marL="0" indent="0">
              <a:buNone/>
            </a:pPr>
            <a:endParaRPr lang="en-US" sz="2200" dirty="0"/>
          </a:p>
          <a:p>
            <a:pPr marL="457200" lvl="1" indent="0">
              <a:buNone/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132959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Key Technologies</a:t>
            </a:r>
            <a:endParaRPr lang="sv-SE" b="1" dirty="0">
              <a:solidFill>
                <a:srgbClr val="C0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1) power converter </a:t>
            </a:r>
            <a:r>
              <a:rPr lang="en-US" b="1" dirty="0"/>
              <a:t>topology</a:t>
            </a:r>
            <a:r>
              <a:rPr lang="en-US" dirty="0"/>
              <a:t>—The arrangement of the semiconductor devices and passive components;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2) power semiconductor </a:t>
            </a:r>
            <a:r>
              <a:rPr lang="en-US" b="1" dirty="0"/>
              <a:t>material</a:t>
            </a:r>
            <a:r>
              <a:rPr lang="en-US" dirty="0"/>
              <a:t> (commonly silicon or </a:t>
            </a:r>
            <a:r>
              <a:rPr lang="en-US" b="1" dirty="0"/>
              <a:t>silicon carbide</a:t>
            </a: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3) </a:t>
            </a:r>
            <a:r>
              <a:rPr lang="en-US" b="1" dirty="0"/>
              <a:t>passive component </a:t>
            </a:r>
            <a:r>
              <a:rPr lang="en-US" dirty="0"/>
              <a:t>requirements;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4) </a:t>
            </a:r>
            <a:r>
              <a:rPr lang="en-US" b="1" dirty="0"/>
              <a:t>modulation and control techniques </a:t>
            </a:r>
            <a:r>
              <a:rPr lang="en-US" dirty="0"/>
              <a:t>that are optimized for the application requirements;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5) </a:t>
            </a:r>
            <a:r>
              <a:rPr lang="en-US" b="1" dirty="0"/>
              <a:t>packaging</a:t>
            </a:r>
            <a:r>
              <a:rPr lang="en-US" dirty="0"/>
              <a:t>, housing, and </a:t>
            </a:r>
            <a:r>
              <a:rPr lang="en-US" b="1" dirty="0"/>
              <a:t>integration</a:t>
            </a:r>
            <a:r>
              <a:rPr lang="en-US" dirty="0"/>
              <a:t>, including </a:t>
            </a:r>
            <a:r>
              <a:rPr lang="en-US" b="1" dirty="0"/>
              <a:t>thermal interfaces</a:t>
            </a:r>
            <a:r>
              <a:rPr lang="en-US" dirty="0"/>
              <a:t> and </a:t>
            </a:r>
            <a:r>
              <a:rPr lang="en-US" b="1" dirty="0"/>
              <a:t>EMI shielding.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84561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Parameters</a:t>
            </a:r>
            <a:endParaRPr lang="sv-SE" b="1" dirty="0">
              <a:solidFill>
                <a:srgbClr val="C0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593850"/>
            <a:ext cx="10515600" cy="45831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1) </a:t>
            </a:r>
            <a:r>
              <a:rPr lang="en-US" b="1" dirty="0"/>
              <a:t>weight/volume </a:t>
            </a:r>
            <a:r>
              <a:rPr lang="en-US" dirty="0"/>
              <a:t>implications at the system level;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2) </a:t>
            </a:r>
            <a:r>
              <a:rPr lang="en-US" b="1" dirty="0"/>
              <a:t>thermal</a:t>
            </a:r>
            <a:r>
              <a:rPr lang="en-US" dirty="0"/>
              <a:t> design and </a:t>
            </a:r>
            <a:r>
              <a:rPr lang="en-US" b="1" dirty="0"/>
              <a:t>cooling</a:t>
            </a:r>
            <a:r>
              <a:rPr lang="en-US" dirty="0"/>
              <a:t> requirements;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3) power converter </a:t>
            </a:r>
            <a:r>
              <a:rPr lang="en-US" b="1" dirty="0"/>
              <a:t>efficiency</a:t>
            </a:r>
            <a:r>
              <a:rPr lang="en-US" dirty="0"/>
              <a:t> and </a:t>
            </a:r>
            <a:r>
              <a:rPr lang="en-US" b="1" dirty="0"/>
              <a:t>power quality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4) </a:t>
            </a:r>
            <a:r>
              <a:rPr lang="en-US" b="1" dirty="0"/>
              <a:t>packing</a:t>
            </a:r>
            <a:r>
              <a:rPr lang="en-US" dirty="0"/>
              <a:t>, </a:t>
            </a:r>
            <a:r>
              <a:rPr lang="en-US" b="1" dirty="0"/>
              <a:t>reliability</a:t>
            </a:r>
            <a:r>
              <a:rPr lang="en-US" dirty="0"/>
              <a:t>, and availability.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675958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68655" y="3153410"/>
            <a:ext cx="1423988" cy="11874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Heat Sink Cooling Type</a:t>
            </a:r>
            <a:endParaRPr lang="sv-SE" dirty="0"/>
          </a:p>
        </p:txBody>
      </p:sp>
      <p:sp>
        <p:nvSpPr>
          <p:cNvPr id="9" name="Rectangle 8"/>
          <p:cNvSpPr/>
          <p:nvPr/>
        </p:nvSpPr>
        <p:spPr>
          <a:xfrm>
            <a:off x="4209178" y="1540510"/>
            <a:ext cx="1231900" cy="59055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Weight</a:t>
            </a:r>
            <a:endParaRPr lang="sv-SE" dirty="0"/>
          </a:p>
        </p:txBody>
      </p:sp>
      <p:sp>
        <p:nvSpPr>
          <p:cNvPr id="10" name="Rectangle 9"/>
          <p:cNvSpPr/>
          <p:nvPr/>
        </p:nvSpPr>
        <p:spPr>
          <a:xfrm>
            <a:off x="5726828" y="1534160"/>
            <a:ext cx="1104900" cy="59055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Efficiency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06365" y="1540510"/>
            <a:ext cx="1168400" cy="5905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Reliability</a:t>
            </a:r>
            <a:endParaRPr lang="sv-SE" dirty="0"/>
          </a:p>
        </p:txBody>
      </p:sp>
      <p:sp>
        <p:nvSpPr>
          <p:cNvPr id="12" name="Rectangle 11"/>
          <p:cNvSpPr/>
          <p:nvPr/>
        </p:nvSpPr>
        <p:spPr>
          <a:xfrm>
            <a:off x="4531437" y="641985"/>
            <a:ext cx="1260475" cy="59055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Cost</a:t>
            </a:r>
            <a:endParaRPr lang="sv-SE" dirty="0"/>
          </a:p>
        </p:txBody>
      </p:sp>
      <p:sp>
        <p:nvSpPr>
          <p:cNvPr id="13" name="Rectangle 12"/>
          <p:cNvSpPr/>
          <p:nvPr/>
        </p:nvSpPr>
        <p:spPr>
          <a:xfrm>
            <a:off x="2573655" y="3153410"/>
            <a:ext cx="1185862" cy="11874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Topology Selection</a:t>
            </a:r>
            <a:endParaRPr lang="sv-SE" dirty="0"/>
          </a:p>
        </p:txBody>
      </p:sp>
      <p:sp>
        <p:nvSpPr>
          <p:cNvPr id="14" name="Rectangle 13"/>
          <p:cNvSpPr/>
          <p:nvPr/>
        </p:nvSpPr>
        <p:spPr>
          <a:xfrm>
            <a:off x="4483417" y="3153410"/>
            <a:ext cx="1222374" cy="11874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Capacitor</a:t>
            </a:r>
          </a:p>
          <a:p>
            <a:pPr algn="ctr"/>
            <a:r>
              <a:rPr lang="en-US" dirty="0" smtClean="0"/>
              <a:t>Selection</a:t>
            </a:r>
            <a:endParaRPr lang="sv-SE" dirty="0"/>
          </a:p>
        </p:txBody>
      </p:sp>
      <p:sp>
        <p:nvSpPr>
          <p:cNvPr id="15" name="Rectangle 14"/>
          <p:cNvSpPr/>
          <p:nvPr/>
        </p:nvSpPr>
        <p:spPr>
          <a:xfrm>
            <a:off x="6429691" y="3153410"/>
            <a:ext cx="1187450" cy="11874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Busbar</a:t>
            </a:r>
            <a:r>
              <a:rPr lang="en-US" dirty="0" smtClean="0"/>
              <a:t> </a:t>
            </a:r>
          </a:p>
          <a:p>
            <a:pPr algn="ctr"/>
            <a:r>
              <a:rPr lang="en-US" dirty="0" smtClean="0"/>
              <a:t>Design</a:t>
            </a:r>
            <a:endParaRPr lang="sv-SE" dirty="0"/>
          </a:p>
        </p:txBody>
      </p:sp>
      <p:sp>
        <p:nvSpPr>
          <p:cNvPr id="16" name="Rectangle 15"/>
          <p:cNvSpPr/>
          <p:nvPr/>
        </p:nvSpPr>
        <p:spPr>
          <a:xfrm>
            <a:off x="8310085" y="3134360"/>
            <a:ext cx="1092200" cy="11874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Auxilary</a:t>
            </a:r>
            <a:r>
              <a:rPr lang="en-US" dirty="0" smtClean="0"/>
              <a:t> </a:t>
            </a:r>
          </a:p>
          <a:p>
            <a:pPr algn="ctr"/>
            <a:r>
              <a:rPr lang="en-US" dirty="0" smtClean="0"/>
              <a:t>Circuits</a:t>
            </a:r>
            <a:endParaRPr lang="sv-SE" dirty="0"/>
          </a:p>
        </p:txBody>
      </p:sp>
      <p:sp>
        <p:nvSpPr>
          <p:cNvPr id="17" name="Rectangle 16"/>
          <p:cNvSpPr/>
          <p:nvPr/>
        </p:nvSpPr>
        <p:spPr>
          <a:xfrm>
            <a:off x="9960292" y="3153410"/>
            <a:ext cx="1273175" cy="11874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Connectors</a:t>
            </a:r>
          </a:p>
          <a:p>
            <a:pPr algn="ctr"/>
            <a:endParaRPr lang="sv-SE" dirty="0"/>
          </a:p>
        </p:txBody>
      </p:sp>
      <p:sp>
        <p:nvSpPr>
          <p:cNvPr id="18" name="Rectangle 17"/>
          <p:cNvSpPr/>
          <p:nvPr/>
        </p:nvSpPr>
        <p:spPr>
          <a:xfrm>
            <a:off x="8549401" y="1546860"/>
            <a:ext cx="1155700" cy="590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Packaging</a:t>
            </a:r>
            <a:endParaRPr lang="sv-SE" dirty="0"/>
          </a:p>
        </p:txBody>
      </p:sp>
      <p:sp>
        <p:nvSpPr>
          <p:cNvPr id="20" name="Rectangle 19"/>
          <p:cNvSpPr/>
          <p:nvPr/>
        </p:nvSpPr>
        <p:spPr>
          <a:xfrm>
            <a:off x="2691528" y="1540510"/>
            <a:ext cx="1231900" cy="59055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Volume</a:t>
            </a:r>
            <a:endParaRPr lang="sv-SE" dirty="0"/>
          </a:p>
        </p:txBody>
      </p:sp>
      <p:sp>
        <p:nvSpPr>
          <p:cNvPr id="21" name="Rectangle 20"/>
          <p:cNvSpPr/>
          <p:nvPr/>
        </p:nvSpPr>
        <p:spPr>
          <a:xfrm>
            <a:off x="6209028" y="641985"/>
            <a:ext cx="1408113" cy="59055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Integration</a:t>
            </a:r>
            <a:endParaRPr lang="sv-SE" dirty="0"/>
          </a:p>
        </p:txBody>
      </p:sp>
      <p:cxnSp>
        <p:nvCxnSpPr>
          <p:cNvPr id="23" name="Straight Arrow Connector 22"/>
          <p:cNvCxnSpPr>
            <a:stCxn id="20" idx="2"/>
            <a:endCxn id="5" idx="0"/>
          </p:cNvCxnSpPr>
          <p:nvPr/>
        </p:nvCxnSpPr>
        <p:spPr>
          <a:xfrm flipH="1">
            <a:off x="1380649" y="2131060"/>
            <a:ext cx="1926829" cy="10223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20" idx="2"/>
            <a:endCxn id="14" idx="0"/>
          </p:cNvCxnSpPr>
          <p:nvPr/>
        </p:nvCxnSpPr>
        <p:spPr>
          <a:xfrm>
            <a:off x="3307478" y="2131060"/>
            <a:ext cx="1787126" cy="10223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0" idx="2"/>
            <a:endCxn id="13" idx="0"/>
          </p:cNvCxnSpPr>
          <p:nvPr/>
        </p:nvCxnSpPr>
        <p:spPr>
          <a:xfrm flipH="1">
            <a:off x="3166586" y="2131060"/>
            <a:ext cx="140892" cy="10223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9" idx="2"/>
            <a:endCxn id="5" idx="0"/>
          </p:cNvCxnSpPr>
          <p:nvPr/>
        </p:nvCxnSpPr>
        <p:spPr>
          <a:xfrm flipH="1">
            <a:off x="1380649" y="2131060"/>
            <a:ext cx="3444479" cy="102235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9" idx="2"/>
            <a:endCxn id="13" idx="0"/>
          </p:cNvCxnSpPr>
          <p:nvPr/>
        </p:nvCxnSpPr>
        <p:spPr>
          <a:xfrm flipH="1">
            <a:off x="3166586" y="2131060"/>
            <a:ext cx="1658542" cy="102235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9" idx="2"/>
            <a:endCxn id="14" idx="0"/>
          </p:cNvCxnSpPr>
          <p:nvPr/>
        </p:nvCxnSpPr>
        <p:spPr>
          <a:xfrm>
            <a:off x="4825128" y="2131060"/>
            <a:ext cx="269476" cy="102235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0" idx="2"/>
            <a:endCxn id="13" idx="0"/>
          </p:cNvCxnSpPr>
          <p:nvPr/>
        </p:nvCxnSpPr>
        <p:spPr>
          <a:xfrm flipH="1">
            <a:off x="3166586" y="2124710"/>
            <a:ext cx="3112692" cy="102870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0" idx="2"/>
            <a:endCxn id="15" idx="0"/>
          </p:cNvCxnSpPr>
          <p:nvPr/>
        </p:nvCxnSpPr>
        <p:spPr>
          <a:xfrm>
            <a:off x="6279278" y="2124710"/>
            <a:ext cx="744138" cy="1028700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1" idx="2"/>
            <a:endCxn id="14" idx="0"/>
          </p:cNvCxnSpPr>
          <p:nvPr/>
        </p:nvCxnSpPr>
        <p:spPr>
          <a:xfrm flipH="1">
            <a:off x="5094604" y="2131060"/>
            <a:ext cx="2595961" cy="1022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11" idx="2"/>
            <a:endCxn id="5" idx="0"/>
          </p:cNvCxnSpPr>
          <p:nvPr/>
        </p:nvCxnSpPr>
        <p:spPr>
          <a:xfrm flipH="1">
            <a:off x="1380649" y="2131060"/>
            <a:ext cx="6309916" cy="1022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11" idx="2"/>
            <a:endCxn id="13" idx="0"/>
          </p:cNvCxnSpPr>
          <p:nvPr/>
        </p:nvCxnSpPr>
        <p:spPr>
          <a:xfrm flipH="1">
            <a:off x="3166586" y="2131060"/>
            <a:ext cx="4523979" cy="1022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11" idx="2"/>
            <a:endCxn id="16" idx="0"/>
          </p:cNvCxnSpPr>
          <p:nvPr/>
        </p:nvCxnSpPr>
        <p:spPr>
          <a:xfrm>
            <a:off x="7690565" y="2131060"/>
            <a:ext cx="1165620" cy="1003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11" idx="2"/>
            <a:endCxn id="17" idx="0"/>
          </p:cNvCxnSpPr>
          <p:nvPr/>
        </p:nvCxnSpPr>
        <p:spPr>
          <a:xfrm>
            <a:off x="7690565" y="2131060"/>
            <a:ext cx="2906315" cy="1022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20" idx="2"/>
            <a:endCxn id="15" idx="0"/>
          </p:cNvCxnSpPr>
          <p:nvPr/>
        </p:nvCxnSpPr>
        <p:spPr>
          <a:xfrm>
            <a:off x="3307478" y="2131060"/>
            <a:ext cx="3715938" cy="10223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18" idx="2"/>
            <a:endCxn id="5" idx="0"/>
          </p:cNvCxnSpPr>
          <p:nvPr/>
        </p:nvCxnSpPr>
        <p:spPr>
          <a:xfrm flipH="1">
            <a:off x="1380649" y="2137410"/>
            <a:ext cx="7746602" cy="101600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18" idx="2"/>
            <a:endCxn id="13" idx="0"/>
          </p:cNvCxnSpPr>
          <p:nvPr/>
        </p:nvCxnSpPr>
        <p:spPr>
          <a:xfrm flipH="1">
            <a:off x="3166586" y="2137410"/>
            <a:ext cx="5960665" cy="101600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>
            <a:stCxn id="18" idx="2"/>
            <a:endCxn id="17" idx="0"/>
          </p:cNvCxnSpPr>
          <p:nvPr/>
        </p:nvCxnSpPr>
        <p:spPr>
          <a:xfrm>
            <a:off x="9127251" y="2137410"/>
            <a:ext cx="1469629" cy="101600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86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38100"/>
            <a:ext cx="10515600" cy="87312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System </a:t>
            </a:r>
            <a:r>
              <a:rPr lang="en-US" dirty="0">
                <a:solidFill>
                  <a:srgbClr val="C00000"/>
                </a:solidFill>
              </a:rPr>
              <a:t>L</a:t>
            </a:r>
            <a:r>
              <a:rPr lang="en-US" dirty="0" smtClean="0">
                <a:solidFill>
                  <a:srgbClr val="C00000"/>
                </a:solidFill>
              </a:rPr>
              <a:t>evel Design Considerations [1]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860425"/>
            <a:ext cx="10515600" cy="5946775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Heat sink and cooling types</a:t>
            </a:r>
          </a:p>
          <a:p>
            <a:pPr lvl="1"/>
            <a:r>
              <a:rPr lang="en-US" sz="1600" dirty="0" smtClean="0"/>
              <a:t>Cold plate, liquid cooling</a:t>
            </a:r>
          </a:p>
          <a:p>
            <a:pPr lvl="1"/>
            <a:r>
              <a:rPr lang="en-US" sz="1600" dirty="0" smtClean="0"/>
              <a:t>Air cooling and heat-sink design</a:t>
            </a:r>
            <a:endParaRPr lang="en-US" sz="16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Selection of topology and power modules </a:t>
            </a:r>
          </a:p>
          <a:p>
            <a:pPr lvl="1"/>
            <a:r>
              <a:rPr lang="en-US" sz="1600" dirty="0" smtClean="0"/>
              <a:t>2-level : Half-bridge modules</a:t>
            </a:r>
          </a:p>
          <a:p>
            <a:pPr lvl="1"/>
            <a:r>
              <a:rPr lang="en-US" sz="1600" dirty="0" smtClean="0"/>
              <a:t>3-level NPC : </a:t>
            </a:r>
            <a:r>
              <a:rPr lang="en-US" sz="1600" dirty="0"/>
              <a:t>Half-bridge </a:t>
            </a:r>
            <a:r>
              <a:rPr lang="en-US" sz="1600" dirty="0" smtClean="0"/>
              <a:t>modules</a:t>
            </a:r>
          </a:p>
          <a:p>
            <a:pPr lvl="1"/>
            <a:r>
              <a:rPr lang="en-US" sz="1600" dirty="0"/>
              <a:t>3-level TTC : Half-bridge </a:t>
            </a:r>
            <a:r>
              <a:rPr lang="en-US" sz="1600" dirty="0" smtClean="0"/>
              <a:t>modules, Common-collector modules</a:t>
            </a:r>
          </a:p>
          <a:p>
            <a:pPr lvl="1"/>
            <a:r>
              <a:rPr lang="en-US" sz="1600" dirty="0" smtClean="0"/>
              <a:t>Segmented/multi module/phase structures</a:t>
            </a:r>
            <a:endParaRPr lang="en-US" sz="16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Capacitor bank for DC-link or decoupling</a:t>
            </a:r>
          </a:p>
          <a:p>
            <a:pPr lvl="1"/>
            <a:r>
              <a:rPr lang="en-US" sz="1600" dirty="0" smtClean="0"/>
              <a:t>Motor phase-module requirements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err="1" smtClean="0"/>
              <a:t>Busbar</a:t>
            </a:r>
            <a:r>
              <a:rPr lang="en-US" sz="2000" b="1" dirty="0" smtClean="0"/>
              <a:t> design</a:t>
            </a:r>
          </a:p>
          <a:p>
            <a:pPr lvl="1"/>
            <a:r>
              <a:rPr lang="en-US" sz="1600" dirty="0" smtClean="0"/>
              <a:t>Low inductance laminated connection to decrease switching noise</a:t>
            </a:r>
          </a:p>
          <a:p>
            <a:pPr marL="457200" indent="-457200">
              <a:buFont typeface="+mj-lt"/>
              <a:buAutoNum type="arabicPeriod"/>
            </a:pPr>
            <a:r>
              <a:rPr lang="sv-SE" sz="2000" b="1" dirty="0" err="1" smtClean="0"/>
              <a:t>Auxliary</a:t>
            </a:r>
            <a:r>
              <a:rPr lang="sv-SE" sz="2000" b="1" dirty="0" smtClean="0"/>
              <a:t> </a:t>
            </a:r>
            <a:r>
              <a:rPr lang="sv-SE" sz="2000" b="1" dirty="0" err="1" smtClean="0"/>
              <a:t>circuits</a:t>
            </a:r>
            <a:r>
              <a:rPr lang="sv-SE" sz="2000" b="1" dirty="0" smtClean="0"/>
              <a:t>: </a:t>
            </a:r>
          </a:p>
          <a:p>
            <a:pPr lvl="1"/>
            <a:r>
              <a:rPr lang="en-US" sz="1600" dirty="0" smtClean="0"/>
              <a:t>Gate drives</a:t>
            </a:r>
          </a:p>
          <a:p>
            <a:pPr lvl="1"/>
            <a:r>
              <a:rPr lang="en-US" sz="1600" dirty="0" smtClean="0"/>
              <a:t>Sensors</a:t>
            </a:r>
          </a:p>
          <a:p>
            <a:pPr lvl="1"/>
            <a:r>
              <a:rPr lang="en-US" sz="1600" dirty="0" smtClean="0"/>
              <a:t>Power supplies</a:t>
            </a:r>
            <a:endParaRPr lang="sv-SE" sz="1600" dirty="0" smtClean="0"/>
          </a:p>
          <a:p>
            <a:pPr marL="457200" indent="-457200">
              <a:buFont typeface="+mj-lt"/>
              <a:buAutoNum type="arabicPeriod"/>
            </a:pPr>
            <a:r>
              <a:rPr lang="sv-SE" sz="2000" b="1" dirty="0" err="1" smtClean="0"/>
              <a:t>Connectors</a:t>
            </a:r>
            <a:r>
              <a:rPr lang="sv-SE" sz="2000" b="1" dirty="0" smtClean="0"/>
              <a:t> and Filters :</a:t>
            </a:r>
          </a:p>
          <a:p>
            <a:pPr lvl="1"/>
            <a:r>
              <a:rPr lang="sv-SE" sz="1600" dirty="0" smtClean="0"/>
              <a:t>Input, output ; common mode, differential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4600" y="2705824"/>
            <a:ext cx="25590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Additionally, the </a:t>
            </a:r>
            <a:r>
              <a:rPr lang="en-US" b="1" dirty="0" smtClean="0"/>
              <a:t>life-time </a:t>
            </a:r>
            <a:r>
              <a:rPr lang="en-US" dirty="0" smtClean="0"/>
              <a:t>modelling and </a:t>
            </a:r>
            <a:r>
              <a:rPr lang="en-US" b="1" dirty="0" smtClean="0"/>
              <a:t>common mode voltage and EMI </a:t>
            </a:r>
            <a:r>
              <a:rPr lang="en-US" dirty="0" smtClean="0"/>
              <a:t>issues should be consireded.  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974946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687" y="102117"/>
            <a:ext cx="10795000" cy="132556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Stepwise Design Methodology and Multi-objective Optimization [6,9,10]</a:t>
            </a:r>
            <a:endParaRPr lang="sv-SE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406" y="1335983"/>
            <a:ext cx="3630612" cy="50604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3712" y="1427680"/>
            <a:ext cx="2704239" cy="48770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15363" y="2045500"/>
            <a:ext cx="332105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Multi-performance indicators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Higher reliability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Higher </a:t>
            </a:r>
            <a:r>
              <a:rPr lang="en-US" dirty="0" smtClean="0"/>
              <a:t>efficiency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</a:t>
            </a:r>
            <a:r>
              <a:rPr lang="en-US" dirty="0" smtClean="0"/>
              <a:t>ower cost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</a:t>
            </a:r>
            <a:r>
              <a:rPr lang="en-US" dirty="0" smtClean="0"/>
              <a:t>maller package</a:t>
            </a:r>
          </a:p>
          <a:p>
            <a:pPr lvl="1"/>
            <a:endParaRPr lang="en-US" dirty="0" smtClean="0"/>
          </a:p>
          <a:p>
            <a:r>
              <a:rPr lang="sv-SE" dirty="0" err="1"/>
              <a:t>O</a:t>
            </a:r>
            <a:r>
              <a:rPr lang="sv-SE" dirty="0" err="1" smtClean="0"/>
              <a:t>ptimization</a:t>
            </a:r>
            <a:r>
              <a:rPr lang="sv-SE" dirty="0" smtClean="0"/>
              <a:t> </a:t>
            </a:r>
            <a:r>
              <a:rPr lang="en-US" dirty="0" smtClean="0"/>
              <a:t>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v-SE" dirty="0" err="1" smtClean="0"/>
              <a:t>Stochastic</a:t>
            </a:r>
            <a:r>
              <a:rPr lang="sv-SE" dirty="0"/>
              <a:t> </a:t>
            </a:r>
            <a:r>
              <a:rPr lang="sv-SE" dirty="0" err="1" smtClean="0"/>
              <a:t>optimizations</a:t>
            </a:r>
            <a:r>
              <a:rPr lang="sv-SE" dirty="0" smtClean="0"/>
              <a:t> like </a:t>
            </a:r>
            <a:r>
              <a:rPr lang="sv-SE" dirty="0" err="1" smtClean="0"/>
              <a:t>Genetic</a:t>
            </a:r>
            <a:r>
              <a:rPr lang="sv-SE" dirty="0" smtClean="0"/>
              <a:t> </a:t>
            </a:r>
            <a:r>
              <a:rPr lang="sv-SE" dirty="0" err="1" smtClean="0"/>
              <a:t>Algorithm</a:t>
            </a:r>
            <a:r>
              <a:rPr lang="sv-SE" dirty="0" smtClean="0"/>
              <a:t> (</a:t>
            </a:r>
            <a:r>
              <a:rPr lang="sv-SE" dirty="0" err="1" smtClean="0"/>
              <a:t>but</a:t>
            </a:r>
            <a:r>
              <a:rPr lang="sv-SE" dirty="0" smtClean="0"/>
              <a:t> it has </a:t>
            </a:r>
            <a:r>
              <a:rPr lang="sv-SE" dirty="0" err="1" smtClean="0"/>
              <a:t>local</a:t>
            </a:r>
            <a:r>
              <a:rPr lang="sv-SE" dirty="0" smtClean="0"/>
              <a:t> optima problem)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v-SE" dirty="0" err="1" smtClean="0"/>
              <a:t>Direct</a:t>
            </a:r>
            <a:r>
              <a:rPr lang="sv-SE" dirty="0" smtClean="0"/>
              <a:t> </a:t>
            </a:r>
            <a:r>
              <a:rPr lang="sv-SE" dirty="0" err="1"/>
              <a:t>search</a:t>
            </a:r>
            <a:endParaRPr lang="sv-SE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v-SE" dirty="0" err="1" smtClean="0"/>
              <a:t>Pareto</a:t>
            </a:r>
            <a:r>
              <a:rPr lang="sv-SE" dirty="0" smtClean="0"/>
              <a:t> </a:t>
            </a:r>
            <a:r>
              <a:rPr lang="sv-SE" dirty="0" err="1"/>
              <a:t>frontiers</a:t>
            </a:r>
            <a:endParaRPr lang="sv-SE" dirty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l="12045"/>
          <a:stretch/>
        </p:blipFill>
        <p:spPr>
          <a:xfrm>
            <a:off x="3613150" y="1335983"/>
            <a:ext cx="2496037" cy="542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435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57150"/>
            <a:ext cx="10515600" cy="885824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Conceptual Topology </a:t>
            </a:r>
            <a:r>
              <a:rPr lang="en-US" dirty="0">
                <a:solidFill>
                  <a:srgbClr val="C00000"/>
                </a:solidFill>
              </a:rPr>
              <a:t>L</a:t>
            </a:r>
            <a:r>
              <a:rPr lang="en-US" dirty="0" smtClean="0">
                <a:solidFill>
                  <a:srgbClr val="C00000"/>
                </a:solidFill>
              </a:rPr>
              <a:t>evel Design [2,5]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900" y="942974"/>
            <a:ext cx="10515600" cy="58324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The potential solutions to enable </a:t>
            </a:r>
            <a:r>
              <a:rPr lang="en-US" sz="2000" b="1" dirty="0" smtClean="0"/>
              <a:t>high-density</a:t>
            </a:r>
            <a:r>
              <a:rPr lang="en-US" sz="2000" dirty="0" smtClean="0"/>
              <a:t> </a:t>
            </a:r>
            <a:r>
              <a:rPr lang="en-US" sz="2000" dirty="0"/>
              <a:t>and </a:t>
            </a:r>
            <a:r>
              <a:rPr lang="en-US" sz="2000" b="1" dirty="0"/>
              <a:t>high-efficiency </a:t>
            </a:r>
            <a:r>
              <a:rPr lang="en-US" sz="2000" dirty="0"/>
              <a:t>traction </a:t>
            </a:r>
            <a:r>
              <a:rPr lang="en-US" sz="2000" dirty="0" smtClean="0"/>
              <a:t>inverters: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Utilize WBG devices (all-</a:t>
            </a:r>
            <a:r>
              <a:rPr lang="en-US" sz="2000" dirty="0" err="1" smtClean="0"/>
              <a:t>SiC</a:t>
            </a:r>
            <a:r>
              <a:rPr lang="en-US" sz="2000" dirty="0" smtClean="0"/>
              <a:t>), with off-the-shelf modules, discrete or an optimized DBC???//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Still medium frequency range 10-25kHz up to 80kHz ????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Passing to multi level (especially 3L) inverters since 2L inverters have</a:t>
            </a:r>
          </a:p>
          <a:p>
            <a:pPr lvl="3"/>
            <a:r>
              <a:rPr lang="en-US" i="1" dirty="0" smtClean="0"/>
              <a:t>Higher output voltage harmonics</a:t>
            </a:r>
          </a:p>
          <a:p>
            <a:pPr lvl="3"/>
            <a:r>
              <a:rPr lang="en-US" i="1" dirty="0" smtClean="0"/>
              <a:t>Lower efficiency at higher switching frequency, which is vital to decrease the volume</a:t>
            </a:r>
          </a:p>
          <a:p>
            <a:pPr lvl="3"/>
            <a:r>
              <a:rPr lang="en-US" i="1" dirty="0" smtClean="0"/>
              <a:t>Higher dv/</a:t>
            </a:r>
            <a:r>
              <a:rPr lang="en-US" i="1" dirty="0" err="1" smtClean="0"/>
              <a:t>dt</a:t>
            </a:r>
            <a:r>
              <a:rPr lang="en-US" i="1" dirty="0" smtClean="0"/>
              <a:t> and EMI, which causes common mode problems at the motor side</a:t>
            </a:r>
          </a:p>
          <a:p>
            <a:pPr lvl="3"/>
            <a:r>
              <a:rPr lang="en-US" i="1" dirty="0" smtClean="0"/>
              <a:t>Higher voltage </a:t>
            </a:r>
            <a:r>
              <a:rPr lang="en-US" i="1" dirty="0"/>
              <a:t>ratings</a:t>
            </a:r>
            <a:r>
              <a:rPr lang="en-US" i="1" dirty="0" smtClean="0"/>
              <a:t> for switches</a:t>
            </a:r>
          </a:p>
          <a:p>
            <a:pPr marL="457200" lvl="1" indent="0">
              <a:buNone/>
            </a:pPr>
            <a:r>
              <a:rPr lang="en-US" sz="2000" dirty="0" smtClean="0"/>
              <a:t>	But  </a:t>
            </a:r>
            <a:r>
              <a:rPr lang="en-US" sz="2000" dirty="0"/>
              <a:t>3L inverters (NPC, ANPC, T-type) have </a:t>
            </a:r>
          </a:p>
          <a:p>
            <a:pPr lvl="3"/>
            <a:r>
              <a:rPr lang="en-US" i="1" dirty="0"/>
              <a:t>increased number of switches</a:t>
            </a:r>
          </a:p>
          <a:p>
            <a:pPr lvl="3"/>
            <a:r>
              <a:rPr lang="en-US" i="1" dirty="0"/>
              <a:t>increased isolated gate drives</a:t>
            </a:r>
          </a:p>
          <a:p>
            <a:pPr lvl="3"/>
            <a:r>
              <a:rPr lang="en-US" i="1" dirty="0"/>
              <a:t>Increased cost and complexity</a:t>
            </a:r>
          </a:p>
          <a:p>
            <a:pPr marL="457200" lvl="1" indent="0">
              <a:buNone/>
            </a:pPr>
            <a:r>
              <a:rPr lang="en-US" sz="2000" dirty="0" smtClean="0"/>
              <a:t>	NPC </a:t>
            </a:r>
            <a:r>
              <a:rPr lang="en-US" sz="2000" dirty="0"/>
              <a:t>and ANPC have</a:t>
            </a:r>
          </a:p>
          <a:p>
            <a:pPr lvl="3"/>
            <a:r>
              <a:rPr lang="en-US" i="1" dirty="0"/>
              <a:t>Higher conduction losses due to the series connection of two devices</a:t>
            </a:r>
          </a:p>
          <a:p>
            <a:pPr marL="457200" lvl="1" indent="0">
              <a:buNone/>
            </a:pPr>
            <a:r>
              <a:rPr lang="en-US" sz="2000" dirty="0"/>
              <a:t>	T-type </a:t>
            </a:r>
          </a:p>
          <a:p>
            <a:pPr lvl="3"/>
            <a:r>
              <a:rPr lang="en-US" i="1" dirty="0"/>
              <a:t>Higher voltage ratings for some of the switches</a:t>
            </a:r>
          </a:p>
          <a:p>
            <a:pPr lvl="3"/>
            <a:r>
              <a:rPr lang="en-US" i="1" dirty="0"/>
              <a:t>Higher switching losses because of higher voltage stress on single-switches</a:t>
            </a:r>
          </a:p>
          <a:p>
            <a:pPr marL="457200" lvl="1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43409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54050" y="511175"/>
                <a:ext cx="10515600" cy="5832475"/>
              </a:xfrm>
            </p:spPr>
            <p:txBody>
              <a:bodyPr>
                <a:noAutofit/>
              </a:bodyPr>
              <a:lstStyle/>
              <a:p>
                <a:pPr marL="457200" lvl="1" indent="0">
                  <a:buNone/>
                </a:pPr>
                <a:r>
                  <a:rPr lang="en-US" sz="2000" dirty="0"/>
                  <a:t>	</a:t>
                </a:r>
                <a:r>
                  <a:rPr lang="en-US" sz="2000" dirty="0" smtClean="0"/>
                  <a:t>4. Modular Motor Drives, Stacked Poly-Phase </a:t>
                </a:r>
                <a:r>
                  <a:rPr lang="en-US" sz="2000" dirty="0"/>
                  <a:t>B</a:t>
                </a:r>
                <a:r>
                  <a:rPr lang="en-US" sz="2000" dirty="0" smtClean="0"/>
                  <a:t>ridges [5] </a:t>
                </a:r>
              </a:p>
              <a:p>
                <a:pPr lvl="3"/>
                <a:r>
                  <a:rPr lang="en-US" sz="2000" i="1" dirty="0" smtClean="0"/>
                  <a:t>Series or parallel connected </a:t>
                </a:r>
              </a:p>
              <a:p>
                <a:pPr lvl="3"/>
                <a:r>
                  <a:rPr lang="en-US" sz="2000" i="1" dirty="0" smtClean="0"/>
                  <a:t>Lower semiconductor voltage/current ratings</a:t>
                </a:r>
              </a:p>
              <a:p>
                <a:pPr lvl="3"/>
                <a:r>
                  <a:rPr lang="en-US" sz="2000" i="1" dirty="0" smtClean="0"/>
                  <a:t>High switching frequency</a:t>
                </a:r>
              </a:p>
              <a:p>
                <a:pPr lvl="3"/>
                <a:r>
                  <a:rPr lang="en-US" sz="2000" i="1" dirty="0" smtClean="0"/>
                  <a:t>Compact design</a:t>
                </a:r>
              </a:p>
              <a:p>
                <a:pPr lvl="3"/>
                <a:r>
                  <a:rPr lang="en-US" sz="2000" i="1" dirty="0" smtClean="0"/>
                  <a:t>Phase shift/ interleaving to reduce DC-link ripple</a:t>
                </a:r>
                <a:endParaRPr lang="en-US" sz="2000" i="1" dirty="0"/>
              </a:p>
              <a:p>
                <a:pPr lvl="1"/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sz="2000" dirty="0" smtClean="0"/>
                  <a:t>	5. Other </a:t>
                </a:r>
                <a:r>
                  <a:rPr lang="en-US" sz="2000" dirty="0"/>
                  <a:t>Topologies, which will be considered afterward : </a:t>
                </a:r>
              </a:p>
              <a:p>
                <a:pPr lvl="3"/>
                <a:r>
                  <a:rPr lang="en-US" sz="2000" dirty="0" smtClean="0"/>
                  <a:t>Alternatively</a:t>
                </a:r>
                <a:r>
                  <a:rPr lang="en-US" sz="2000" dirty="0"/>
                  <a:t>, the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𝐿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/>
                  <a:t> can be implemented with series connected  </a:t>
                </a:r>
                <a:r>
                  <a:rPr lang="en-US" sz="2000" dirty="0" smtClean="0"/>
                  <a:t>IGBTs </a:t>
                </a:r>
                <a:r>
                  <a:rPr lang="en-US" sz="2000" dirty="0"/>
                  <a:t>replacing the  </a:t>
                </a:r>
                <a:r>
                  <a:rPr lang="en-US" sz="2000" dirty="0" smtClean="0"/>
                  <a:t>single </a:t>
                </a:r>
                <a:r>
                  <a:rPr lang="en-US" sz="2000" dirty="0"/>
                  <a:t>switches T1 and T4 if it is used for </a:t>
                </a:r>
                <a:r>
                  <a:rPr lang="en-US" sz="2000" dirty="0" smtClean="0"/>
                  <a:t>medium-voltage </a:t>
                </a:r>
                <a:r>
                  <a:rPr lang="en-US" sz="2000" dirty="0"/>
                  <a:t>applications. There, the topology  </a:t>
                </a:r>
                <a:r>
                  <a:rPr lang="en-US" sz="2000" dirty="0" smtClean="0"/>
                  <a:t>is </a:t>
                </a:r>
                <a:r>
                  <a:rPr lang="en-US" sz="2000" dirty="0"/>
                  <a:t>also known as</a:t>
                </a:r>
                <a:r>
                  <a:rPr lang="en-US" sz="2000" b="1" dirty="0"/>
                  <a:t> </a:t>
                </a:r>
                <a:r>
                  <a:rPr lang="en-US" sz="2000" b="1" dirty="0" smtClean="0"/>
                  <a:t>neutral-point-piloted </a:t>
                </a:r>
                <a:r>
                  <a:rPr lang="en-US" sz="2000" b="1" dirty="0"/>
                  <a:t>converter or transistor clamped converter</a:t>
                </a:r>
                <a:r>
                  <a:rPr lang="en-US" sz="2000" b="1" dirty="0" smtClean="0"/>
                  <a:t>.</a:t>
                </a:r>
                <a:endParaRPr lang="en-US" sz="2000" b="1" dirty="0"/>
              </a:p>
              <a:p>
                <a:pPr lvl="3"/>
                <a:r>
                  <a:rPr lang="sv-SE" sz="2000" dirty="0" smtClean="0"/>
                  <a:t>Split </a:t>
                </a:r>
                <a:r>
                  <a:rPr lang="sv-SE" sz="2000" dirty="0" err="1"/>
                  <a:t>inductor</a:t>
                </a:r>
                <a:r>
                  <a:rPr lang="sv-SE" sz="2000" dirty="0"/>
                  <a:t> </a:t>
                </a:r>
                <a:r>
                  <a:rPr lang="sv-SE" sz="2000" dirty="0" err="1" smtClean="0"/>
                  <a:t>converter</a:t>
                </a:r>
                <a:endParaRPr lang="sv-SE" sz="2000" dirty="0"/>
              </a:p>
              <a:p>
                <a:pPr lvl="3"/>
                <a:r>
                  <a:rPr lang="sv-SE" sz="2000" b="1" dirty="0"/>
                  <a:t>Active </a:t>
                </a:r>
                <a:r>
                  <a:rPr lang="sv-SE" sz="2000" b="1" dirty="0" err="1"/>
                  <a:t>clamped</a:t>
                </a:r>
                <a:r>
                  <a:rPr lang="sv-SE" sz="2000" b="1" dirty="0"/>
                  <a:t> </a:t>
                </a:r>
                <a:r>
                  <a:rPr lang="sv-SE" sz="2000" b="1" dirty="0" err="1"/>
                  <a:t>three-level</a:t>
                </a:r>
                <a:r>
                  <a:rPr lang="sv-SE" sz="2000" b="1" dirty="0"/>
                  <a:t> </a:t>
                </a:r>
                <a:r>
                  <a:rPr lang="sv-SE" sz="2000" b="1" dirty="0" err="1" smtClean="0"/>
                  <a:t>topologies</a:t>
                </a:r>
                <a:endParaRPr lang="sv-SE" sz="2000" b="1" dirty="0"/>
              </a:p>
              <a:p>
                <a:pPr lvl="3"/>
                <a:r>
                  <a:rPr lang="sv-SE" sz="2000" dirty="0"/>
                  <a:t>Three-</a:t>
                </a:r>
                <a:r>
                  <a:rPr lang="sv-SE" sz="2000" dirty="0" err="1"/>
                  <a:t>level</a:t>
                </a:r>
                <a:r>
                  <a:rPr lang="sv-SE" sz="2000" dirty="0"/>
                  <a:t> matrix </a:t>
                </a:r>
                <a:r>
                  <a:rPr lang="sv-SE" sz="2000" dirty="0" err="1" smtClean="0"/>
                  <a:t>converters</a:t>
                </a:r>
                <a:endParaRPr lang="sv-SE" sz="2000" dirty="0"/>
              </a:p>
              <a:p>
                <a:pPr lvl="3"/>
                <a:r>
                  <a:rPr lang="en-US" sz="2000" b="1" dirty="0"/>
                  <a:t>Three-level flying capacitor converter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000" b="1" i="1" dirty="0">
                        <a:latin typeface="Cambria Math" panose="02040503050406030204" pitchFamily="18" charset="0"/>
                      </a:rPr>
                      <m:t>𝑳𝑭</m:t>
                    </m:r>
                    <m:sSup>
                      <m:sSup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p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sz="2000" i="1" dirty="0" smtClean="0"/>
              </a:p>
              <a:p>
                <a:pPr marL="914400" lvl="2" indent="0"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</a:t>
                </a:r>
              </a:p>
              <a:p>
                <a:pPr marL="0" indent="0">
                  <a:buNone/>
                </a:pPr>
                <a:endParaRPr lang="en-US" sz="20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4050" y="511175"/>
                <a:ext cx="10515600" cy="5832475"/>
              </a:xfrm>
              <a:blipFill>
                <a:blip r:embed="rId2"/>
                <a:stretch>
                  <a:fillRect t="-1149" r="-110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5267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Voltage source inverters (VSIs) or current source inverters (CSIs) [3,4]</a:t>
            </a:r>
            <a:endParaRPr lang="sv-SE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994" y="1642211"/>
            <a:ext cx="6321425" cy="26445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b="2601"/>
          <a:stretch/>
        </p:blipFill>
        <p:spPr>
          <a:xfrm>
            <a:off x="10151731" y="1795938"/>
            <a:ext cx="1570038" cy="129465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47011" t="4316" r="46861" b="21247"/>
          <a:stretch/>
        </p:blipFill>
        <p:spPr>
          <a:xfrm>
            <a:off x="9157032" y="1953633"/>
            <a:ext cx="255564" cy="1298765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9665957" y="2446007"/>
            <a:ext cx="234615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9665957" y="2603016"/>
            <a:ext cx="234615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 r="88448" b="25140"/>
          <a:stretch/>
        </p:blipFill>
        <p:spPr>
          <a:xfrm>
            <a:off x="138157" y="1932490"/>
            <a:ext cx="486869" cy="1319908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1049646" y="2446007"/>
            <a:ext cx="288187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049646" y="2603016"/>
            <a:ext cx="288187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/>
          <a:srcRect l="1" r="72126" b="2601"/>
          <a:stretch/>
        </p:blipFill>
        <p:spPr>
          <a:xfrm>
            <a:off x="1588992" y="1585061"/>
            <a:ext cx="550867" cy="16135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057400" y="4286771"/>
            <a:ext cx="7289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CSIs provide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</a:t>
            </a:r>
            <a:r>
              <a:rPr lang="en-US" dirty="0" smtClean="0"/>
              <a:t>igher efficiency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Lower THD in the current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Lower conducted </a:t>
            </a:r>
            <a:r>
              <a:rPr lang="en-US" b="1" dirty="0" smtClean="0"/>
              <a:t>EMI</a:t>
            </a:r>
            <a:r>
              <a:rPr lang="en-US" dirty="0" smtClean="0"/>
              <a:t> (both differential mode and common mode)</a:t>
            </a:r>
          </a:p>
          <a:p>
            <a:endParaRPr lang="en-US" dirty="0"/>
          </a:p>
          <a:p>
            <a:r>
              <a:rPr lang="en-US" dirty="0" smtClean="0"/>
              <a:t>But, CSIs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Have higher number of switches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Require additional DC/DC converter to energize via battery</a:t>
            </a:r>
          </a:p>
          <a:p>
            <a:endParaRPr lang="en-US" dirty="0" smtClean="0"/>
          </a:p>
          <a:p>
            <a:r>
              <a:rPr lang="en-US" dirty="0" smtClean="0"/>
              <a:t>  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39062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311150" y="288925"/>
                <a:ext cx="10515600" cy="1325563"/>
              </a:xfrm>
            </p:spPr>
            <p:txBody>
              <a:bodyPr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𝐿𝐶</m:t>
                      </m:r>
                    </m:oMath>
                  </m:oMathPara>
                </a14:m>
                <a:endParaRPr lang="sv-SE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11150" y="288925"/>
                <a:ext cx="1051560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8814" y="2375241"/>
            <a:ext cx="4127867" cy="19466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3183" y="1794297"/>
            <a:ext cx="717769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800" dirty="0" smtClean="0"/>
              <a:t>Suitable for low voltage applications.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 smtClean="0"/>
              <a:t>Simple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I</a:t>
            </a:r>
            <a:r>
              <a:rPr lang="en-US" sz="2800" dirty="0" smtClean="0"/>
              <a:t>nexpensive</a:t>
            </a:r>
          </a:p>
          <a:p>
            <a:endParaRPr lang="en-US" sz="2800" dirty="0" smtClean="0"/>
          </a:p>
          <a:p>
            <a:pPr marL="342900" indent="-342900">
              <a:buFont typeface="+mj-lt"/>
              <a:buAutoNum type="arabicPeriod"/>
            </a:pPr>
            <a:r>
              <a:rPr lang="en-US" sz="2800" dirty="0" smtClean="0"/>
              <a:t>Bad efficiency for higher switching frequency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 smtClean="0"/>
              <a:t>Cause higher overvoltage due to long cables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 smtClean="0"/>
              <a:t>Cause higher </a:t>
            </a:r>
            <a:r>
              <a:rPr lang="en-US" sz="2800" dirty="0"/>
              <a:t>m</a:t>
            </a:r>
            <a:r>
              <a:rPr lang="en-US" sz="2800" dirty="0" smtClean="0"/>
              <a:t>achine isolation stress</a:t>
            </a:r>
            <a:endParaRPr lang="sv-SE" sz="2800" dirty="0"/>
          </a:p>
        </p:txBody>
      </p:sp>
    </p:spTree>
    <p:extLst>
      <p:ext uri="{BB962C8B-B14F-4D97-AF65-F5344CB8AC3E}">
        <p14:creationId xmlns:p14="http://schemas.microsoft.com/office/powerpoint/2010/main" val="3598235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𝐿𝑁𝑃</m:t>
                    </m:r>
                    <m:sSup>
                      <m:sSupPr>
                        <m:ctrlPr>
                          <a:rPr lang="en-US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sv-SE" dirty="0" smtClean="0">
                    <a:solidFill>
                      <a:srgbClr val="C00000"/>
                    </a:solidFill>
                  </a:rPr>
                  <a:t> </a:t>
                </a:r>
                <a:endParaRPr lang="sv-SE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499000" y="1374924"/>
            <a:ext cx="717769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600" dirty="0" smtClean="0"/>
              <a:t>Medium voltage applications.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600" dirty="0" smtClean="0"/>
              <a:t>Reduced switching losses.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600" dirty="0" smtClean="0"/>
              <a:t>Split blocking voltage </a:t>
            </a:r>
          </a:p>
          <a:p>
            <a:endParaRPr lang="en-US" sz="2600" dirty="0" smtClean="0"/>
          </a:p>
          <a:p>
            <a:pPr marL="514350" indent="-514350">
              <a:buAutoNum type="arabicPeriod"/>
            </a:pPr>
            <a:r>
              <a:rPr lang="en-US" sz="2600" dirty="0" smtClean="0"/>
              <a:t>The conduction losses can increase for bipolar devices if two devices with half of the blocking voltage are connected in series compared to one device providing the full blocking voltage.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US" sz="2600" dirty="0" smtClean="0"/>
              <a:t>Increased amount of semiconductors (2 diodes and four MOSFETs per bridge leg)</a:t>
            </a:r>
          </a:p>
          <a:p>
            <a:pPr marL="514350" indent="-514350">
              <a:buAutoNum type="arabicPeriod"/>
            </a:pPr>
            <a:r>
              <a:rPr lang="en-US" sz="2600" dirty="0" smtClean="0"/>
              <a:t>Increased amount of isolated gate drive voltage supplies (6 addition ones per inverter 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38" y="2685797"/>
            <a:ext cx="3903775" cy="22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835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sv-SE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512157" y="1434130"/>
                <a:ext cx="7177690" cy="4493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2200" dirty="0" smtClean="0"/>
                  <a:t>Switches having different voltage ratings. (</a:t>
                </a:r>
                <a:r>
                  <a:rPr lang="en-US" sz="2200" dirty="0" err="1" smtClean="0"/>
                  <a:t>Vdc</a:t>
                </a:r>
                <a:r>
                  <a:rPr lang="en-US" sz="2200" dirty="0" smtClean="0"/>
                  <a:t> or </a:t>
                </a:r>
                <a:r>
                  <a:rPr lang="en-US" sz="2200" dirty="0" err="1" smtClean="0"/>
                  <a:t>Vdc</a:t>
                </a:r>
                <a:r>
                  <a:rPr lang="en-US" sz="2200" dirty="0" smtClean="0"/>
                  <a:t>/2) 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200" dirty="0" smtClean="0"/>
                  <a:t>Reduced conduction and switching losses.  (It is better for medium switching frequency)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200" dirty="0" smtClean="0"/>
                  <a:t>Combines the positive affect of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𝐿𝐶</m:t>
                    </m:r>
                  </m:oMath>
                </a14:m>
                <a:r>
                  <a:rPr lang="en-US" sz="2200" dirty="0" smtClean="0"/>
                  <a:t> such as low conduction losses, and small part count, and a simple operation principle with advantages of the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𝐿𝑁𝑃</m:t>
                    </m:r>
                    <m:sSup>
                      <m:sSupPr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2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200" dirty="0" smtClean="0"/>
                  <a:t> such as low switching losses and superior output voltage.</a:t>
                </a:r>
                <a:endParaRPr lang="en-US" sz="2200" dirty="0"/>
              </a:p>
              <a:p>
                <a:endParaRPr lang="en-US" sz="2200" dirty="0" smtClean="0"/>
              </a:p>
              <a:p>
                <a:pPr marL="514350" indent="-514350">
                  <a:buAutoNum type="arabicPeriod"/>
                </a:pPr>
                <a:r>
                  <a:rPr lang="en-US" sz="2200" dirty="0" smtClean="0"/>
                  <a:t>Increased amount of semiconductors (4 MOSFETs per bridge leg)</a:t>
                </a:r>
              </a:p>
              <a:p>
                <a:pPr marL="514350" indent="-514350">
                  <a:buAutoNum type="arabicPeriod"/>
                </a:pPr>
                <a:r>
                  <a:rPr lang="en-US" sz="2200" dirty="0" smtClean="0"/>
                  <a:t>Increased amount of isolated gate drive voltage supplies (3 addition ones per inverter) if midpoint is configured in common collector.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2157" y="1434130"/>
                <a:ext cx="7177690" cy="4493538"/>
              </a:xfrm>
              <a:prstGeom prst="rect">
                <a:avLst/>
              </a:prstGeom>
              <a:blipFill>
                <a:blip r:embed="rId3"/>
                <a:stretch>
                  <a:fillRect l="-1104" t="-1085" r="-934" b="-190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05" y="2311976"/>
            <a:ext cx="4068252" cy="2231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39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600" y="155575"/>
            <a:ext cx="10515600" cy="1325563"/>
          </a:xfrm>
        </p:spPr>
        <p:txBody>
          <a:bodyPr/>
          <a:lstStyle/>
          <a:p>
            <a:pPr algn="ctr"/>
            <a:r>
              <a:rPr lang="sv-SE" dirty="0" smtClean="0">
                <a:solidFill>
                  <a:srgbClr val="C00000"/>
                </a:solidFill>
              </a:rPr>
              <a:t>SPB [5]</a:t>
            </a:r>
            <a:endParaRPr lang="sv-SE" dirty="0">
              <a:solidFill>
                <a:srgbClr val="C0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0064" r="5668" b="10723"/>
          <a:stretch/>
        </p:blipFill>
        <p:spPr>
          <a:xfrm>
            <a:off x="247650" y="2247920"/>
            <a:ext cx="4959350" cy="2400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05450" y="1481138"/>
            <a:ext cx="6280150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200" dirty="0" smtClean="0"/>
              <a:t>The  voltage ratings of the switches depends on the number </a:t>
            </a:r>
            <a:r>
              <a:rPr lang="en-US" sz="2200" dirty="0"/>
              <a:t>of series connected </a:t>
            </a:r>
            <a:r>
              <a:rPr lang="en-US" sz="2200" dirty="0" smtClean="0"/>
              <a:t>submodules.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/>
              <a:t>C</a:t>
            </a:r>
            <a:r>
              <a:rPr lang="en-US" sz="2200" dirty="0" smtClean="0"/>
              <a:t>an drive multi-phase or multi-3-phase machines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 smtClean="0"/>
              <a:t>Reduces capacitor size </a:t>
            </a:r>
            <a:r>
              <a:rPr lang="en-US" sz="2200" dirty="0"/>
              <a:t>in submodules, allowing for high switching </a:t>
            </a:r>
            <a:r>
              <a:rPr lang="en-US" sz="2200" dirty="0" smtClean="0"/>
              <a:t>frequencies.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 smtClean="0"/>
              <a:t>Possesses </a:t>
            </a:r>
            <a:r>
              <a:rPr lang="en-US" sz="2200" dirty="0"/>
              <a:t>an inherent fault-tolerant capability.</a:t>
            </a:r>
            <a:endParaRPr lang="en-US" sz="2200" dirty="0" smtClean="0"/>
          </a:p>
          <a:p>
            <a:pPr marL="342900" indent="-342900">
              <a:buFont typeface="+mj-lt"/>
              <a:buAutoNum type="arabicPeriod"/>
            </a:pPr>
            <a:r>
              <a:rPr lang="en-US" sz="2200" dirty="0"/>
              <a:t>I</a:t>
            </a:r>
            <a:r>
              <a:rPr lang="en-US" sz="2200" dirty="0" smtClean="0"/>
              <a:t>ntegration </a:t>
            </a:r>
            <a:r>
              <a:rPr lang="en-US" sz="2200" dirty="0"/>
              <a:t>and </a:t>
            </a:r>
            <a:r>
              <a:rPr lang="en-US" sz="2200" dirty="0" smtClean="0"/>
              <a:t>scalability</a:t>
            </a:r>
            <a:r>
              <a:rPr lang="en-US" sz="2200" dirty="0"/>
              <a:t> </a:t>
            </a:r>
          </a:p>
          <a:p>
            <a:pPr marL="342900" indent="-342900">
              <a:buFont typeface="+mj-lt"/>
              <a:buAutoNum type="arabicPeriod"/>
            </a:pPr>
            <a:endParaRPr lang="en-US" sz="2200" dirty="0"/>
          </a:p>
          <a:p>
            <a:endParaRPr lang="en-US" sz="2200" dirty="0"/>
          </a:p>
          <a:p>
            <a:pPr marL="342900" indent="-342900">
              <a:buFont typeface="+mj-lt"/>
              <a:buAutoNum type="arabicPeriod"/>
            </a:pPr>
            <a:r>
              <a:rPr lang="en-US" sz="2200" dirty="0"/>
              <a:t>Since the series connected submodules are sharing the dc </a:t>
            </a:r>
            <a:r>
              <a:rPr lang="en-US" sz="2200" dirty="0" smtClean="0"/>
              <a:t>voltage, submodule capacitor voltage </a:t>
            </a:r>
            <a:r>
              <a:rPr lang="en-US" sz="2200" dirty="0"/>
              <a:t>balance </a:t>
            </a:r>
            <a:r>
              <a:rPr lang="en-US" sz="2200" dirty="0" smtClean="0"/>
              <a:t>should be </a:t>
            </a:r>
            <a:r>
              <a:rPr lang="en-US" sz="2200" dirty="0"/>
              <a:t>maintained under both normal and fault conditions</a:t>
            </a:r>
            <a:r>
              <a:rPr lang="en-US" sz="2200" dirty="0" smtClean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691956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6281" y="144094"/>
            <a:ext cx="11037094" cy="1325563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Thermal </a:t>
            </a:r>
            <a:r>
              <a:rPr lang="en-US" dirty="0" smtClean="0">
                <a:solidFill>
                  <a:srgbClr val="C00000"/>
                </a:solidFill>
              </a:rPr>
              <a:t>Management [6,7]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0175"/>
            <a:ext cx="10515600" cy="481965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The </a:t>
            </a:r>
            <a:r>
              <a:rPr lang="en-US" sz="2000" dirty="0"/>
              <a:t>size of the </a:t>
            </a:r>
            <a:r>
              <a:rPr lang="en-US" sz="2000" dirty="0" err="1"/>
              <a:t>SiC</a:t>
            </a:r>
            <a:r>
              <a:rPr lang="en-US" sz="2000" dirty="0"/>
              <a:t> device is smaller than the Si counterpart, and its power loss caused by high switching frequency makes it a </a:t>
            </a:r>
            <a:r>
              <a:rPr lang="en-US" sz="2000" b="1" dirty="0"/>
              <a:t>high-heat-flux</a:t>
            </a:r>
            <a:r>
              <a:rPr lang="en-US" sz="2000" dirty="0"/>
              <a:t> </a:t>
            </a:r>
            <a:r>
              <a:rPr lang="en-US" sz="2000" dirty="0" smtClean="0"/>
              <a:t>scenario</a:t>
            </a:r>
            <a:r>
              <a:rPr lang="en-US" sz="2000" dirty="0"/>
              <a:t>. </a:t>
            </a:r>
            <a:endParaRPr lang="en-US" sz="2000" dirty="0" smtClean="0"/>
          </a:p>
          <a:p>
            <a:r>
              <a:rPr lang="en-US" sz="2000" dirty="0" smtClean="0"/>
              <a:t>Overheating </a:t>
            </a:r>
            <a:r>
              <a:rPr lang="en-US" sz="2000" dirty="0"/>
              <a:t>is typically a main cause that can lead to device </a:t>
            </a:r>
            <a:r>
              <a:rPr lang="en-US" sz="2000" b="1" dirty="0"/>
              <a:t>failure</a:t>
            </a:r>
            <a:r>
              <a:rPr lang="en-US" sz="2000" dirty="0"/>
              <a:t>, system malfunction, or even the vehicle break down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Especially </a:t>
            </a:r>
            <a:r>
              <a:rPr lang="en-US" sz="2000" dirty="0"/>
              <a:t>when modern automotive industry continuously drives for higher system performance and smaller packing size, proper thermal management is critically required to achieve </a:t>
            </a:r>
            <a:r>
              <a:rPr lang="en-US" sz="2000" b="1" dirty="0"/>
              <a:t>better heat dissipation</a:t>
            </a:r>
            <a:r>
              <a:rPr lang="en-US" sz="2000" dirty="0"/>
              <a:t>, </a:t>
            </a:r>
            <a:r>
              <a:rPr lang="en-US" sz="2000" b="1" dirty="0"/>
              <a:t>avoid local heat concentration</a:t>
            </a:r>
            <a:r>
              <a:rPr lang="en-US" sz="2000" dirty="0"/>
              <a:t>, </a:t>
            </a:r>
            <a:r>
              <a:rPr lang="en-US" sz="2000" b="1" dirty="0"/>
              <a:t>improve reliability</a:t>
            </a:r>
            <a:r>
              <a:rPr lang="en-US" sz="2000" dirty="0"/>
              <a:t>, and </a:t>
            </a:r>
            <a:r>
              <a:rPr lang="en-US" sz="2000" b="1" dirty="0"/>
              <a:t>reduce packaging size</a:t>
            </a:r>
            <a:r>
              <a:rPr lang="en-US" sz="2000" dirty="0" smtClean="0"/>
              <a:t>.</a:t>
            </a:r>
          </a:p>
          <a:p>
            <a:endParaRPr lang="en-US" sz="2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320" y="3939401"/>
            <a:ext cx="3914775" cy="250350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140" y="3739924"/>
            <a:ext cx="3771900" cy="2902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3344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6281" y="144094"/>
            <a:ext cx="11037094" cy="1325563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Thermal </a:t>
            </a:r>
            <a:r>
              <a:rPr lang="en-US" dirty="0" smtClean="0">
                <a:solidFill>
                  <a:srgbClr val="C00000"/>
                </a:solidFill>
              </a:rPr>
              <a:t>Management [7]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0" y="1133474"/>
            <a:ext cx="10515600" cy="55626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Different cooling technologies for power electronics are based on</a:t>
            </a:r>
          </a:p>
          <a:p>
            <a:pPr lvl="1"/>
            <a:r>
              <a:rPr lang="en-US" sz="2000" dirty="0"/>
              <a:t>The heat transfer mechanism </a:t>
            </a:r>
          </a:p>
          <a:p>
            <a:pPr lvl="1"/>
            <a:r>
              <a:rPr lang="en-US" sz="2000" dirty="0"/>
              <a:t>Coolant agent</a:t>
            </a:r>
          </a:p>
          <a:p>
            <a:pPr lvl="1"/>
            <a:r>
              <a:rPr lang="en-US" sz="2000" dirty="0"/>
              <a:t>Heat sink (Aluminum is the cheapest and simplest)</a:t>
            </a:r>
          </a:p>
          <a:p>
            <a:pPr lvl="1"/>
            <a:r>
              <a:rPr lang="en-US" sz="2000" dirty="0"/>
              <a:t>Advanced thermal interface materials (TIM) such as silicone based greases, aluminum-filled polyesters, and epoxy adhesives with silver </a:t>
            </a:r>
            <a:r>
              <a:rPr lang="en-US" sz="2000" dirty="0" smtClean="0"/>
              <a:t>particles</a:t>
            </a:r>
          </a:p>
          <a:p>
            <a:pPr marL="457200" lvl="1" indent="0">
              <a:buNone/>
            </a:pPr>
            <a:endParaRPr lang="en-US" sz="2000" dirty="0" smtClean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rgbClr val="7030A0"/>
                </a:solidFill>
              </a:rPr>
              <a:t>1. Air cooling technologies</a:t>
            </a:r>
          </a:p>
          <a:p>
            <a:pPr lvl="1"/>
            <a:r>
              <a:rPr lang="en-US" sz="2000" dirty="0"/>
              <a:t>convection heat transfer </a:t>
            </a:r>
            <a:r>
              <a:rPr lang="en-US" sz="2000" dirty="0" smtClean="0"/>
              <a:t>mechanism</a:t>
            </a:r>
          </a:p>
          <a:p>
            <a:pPr marL="457200" lvl="1" indent="0">
              <a:buNone/>
            </a:pPr>
            <a:r>
              <a:rPr lang="en-US" sz="2000" b="1" dirty="0"/>
              <a:t>N</a:t>
            </a:r>
            <a:r>
              <a:rPr lang="en-US" sz="2000" b="1" dirty="0" smtClean="0"/>
              <a:t>atural </a:t>
            </a:r>
            <a:r>
              <a:rPr lang="en-US" sz="2000" b="1" dirty="0"/>
              <a:t>air convection </a:t>
            </a:r>
            <a:endParaRPr lang="en-US" sz="2000" dirty="0" smtClean="0"/>
          </a:p>
          <a:p>
            <a:pPr lvl="2"/>
            <a:r>
              <a:rPr lang="en-US" dirty="0" smtClean="0"/>
              <a:t> </a:t>
            </a:r>
            <a:r>
              <a:rPr lang="en-US" dirty="0"/>
              <a:t>the </a:t>
            </a:r>
            <a:r>
              <a:rPr lang="en-US" dirty="0" err="1"/>
              <a:t>the</a:t>
            </a:r>
            <a:r>
              <a:rPr lang="en-US" dirty="0"/>
              <a:t> </a:t>
            </a:r>
            <a:r>
              <a:rPr lang="en-US" dirty="0" smtClean="0"/>
              <a:t>simplest one</a:t>
            </a:r>
          </a:p>
          <a:p>
            <a:pPr lvl="2"/>
            <a:r>
              <a:rPr lang="en-US" dirty="0"/>
              <a:t>I</a:t>
            </a:r>
            <a:r>
              <a:rPr lang="en-US" dirty="0" smtClean="0"/>
              <a:t>ncreasing </a:t>
            </a:r>
            <a:r>
              <a:rPr lang="en-US" dirty="0"/>
              <a:t>the surface area of heat transfer with added fins </a:t>
            </a:r>
            <a:endParaRPr lang="en-US" dirty="0" smtClean="0"/>
          </a:p>
          <a:p>
            <a:pPr lvl="2"/>
            <a:r>
              <a:rPr lang="en-US" dirty="0"/>
              <a:t>H</a:t>
            </a:r>
            <a:r>
              <a:rPr lang="en-US" dirty="0" smtClean="0"/>
              <a:t>eat spreaders</a:t>
            </a:r>
          </a:p>
          <a:p>
            <a:pPr marL="457200" lvl="1" indent="0">
              <a:buNone/>
            </a:pPr>
            <a:r>
              <a:rPr lang="en-US" sz="2000" b="1" dirty="0"/>
              <a:t>F</a:t>
            </a:r>
            <a:r>
              <a:rPr lang="en-US" sz="2000" b="1" dirty="0" smtClean="0"/>
              <a:t>orced </a:t>
            </a:r>
            <a:r>
              <a:rPr lang="en-US" sz="2000" b="1" dirty="0"/>
              <a:t>air-cooling </a:t>
            </a:r>
            <a:r>
              <a:rPr lang="en-US" sz="2000" b="1" dirty="0" smtClean="0"/>
              <a:t>systems</a:t>
            </a:r>
          </a:p>
          <a:p>
            <a:pPr lvl="2"/>
            <a:r>
              <a:rPr lang="en-US" dirty="0" smtClean="0"/>
              <a:t>piezoelectric </a:t>
            </a:r>
            <a:r>
              <a:rPr lang="en-US" dirty="0"/>
              <a:t>fans </a:t>
            </a:r>
            <a:endParaRPr lang="en-US" dirty="0" smtClean="0"/>
          </a:p>
          <a:p>
            <a:pPr lvl="2"/>
            <a:r>
              <a:rPr lang="en-US" dirty="0" smtClean="0"/>
              <a:t>synthetic </a:t>
            </a:r>
            <a:r>
              <a:rPr lang="en-US" dirty="0"/>
              <a:t>jet </a:t>
            </a:r>
            <a:r>
              <a:rPr lang="en-US" dirty="0" smtClean="0"/>
              <a:t>diaphragm</a:t>
            </a:r>
          </a:p>
        </p:txBody>
      </p:sp>
    </p:spTree>
    <p:extLst>
      <p:ext uri="{BB962C8B-B14F-4D97-AF65-F5344CB8AC3E}">
        <p14:creationId xmlns:p14="http://schemas.microsoft.com/office/powerpoint/2010/main" val="6907046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6281" y="144094"/>
            <a:ext cx="11037094" cy="1325563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Thermal </a:t>
            </a:r>
            <a:r>
              <a:rPr lang="en-US" dirty="0" smtClean="0">
                <a:solidFill>
                  <a:srgbClr val="C00000"/>
                </a:solidFill>
              </a:rPr>
              <a:t>Management [7]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0" y="1133474"/>
            <a:ext cx="10515600" cy="55626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>
                <a:solidFill>
                  <a:srgbClr val="7030A0"/>
                </a:solidFill>
              </a:rPr>
              <a:t>2.  Liquid </a:t>
            </a:r>
            <a:r>
              <a:rPr lang="en-US" sz="2000" dirty="0">
                <a:solidFill>
                  <a:srgbClr val="7030A0"/>
                </a:solidFill>
              </a:rPr>
              <a:t>cooling technologies</a:t>
            </a:r>
          </a:p>
          <a:p>
            <a:pPr lvl="1"/>
            <a:r>
              <a:rPr lang="en-US" sz="2000" dirty="0"/>
              <a:t>higher device power density</a:t>
            </a:r>
          </a:p>
          <a:p>
            <a:pPr lvl="1"/>
            <a:r>
              <a:rPr lang="en-US" sz="2000" dirty="0"/>
              <a:t>microchannel heat sink can achieve around 1000 W/cm2 heat flux (State-of-the-art)</a:t>
            </a:r>
          </a:p>
          <a:p>
            <a:pPr lvl="1"/>
            <a:r>
              <a:rPr lang="en-US" sz="2000" dirty="0" smtClean="0"/>
              <a:t>Electro-wetting</a:t>
            </a:r>
            <a:r>
              <a:rPr lang="en-US" sz="2000" dirty="0"/>
              <a:t>, jet impingement; Immersion; Two-phase spray cooling</a:t>
            </a:r>
          </a:p>
          <a:p>
            <a:pPr lvl="1"/>
            <a:r>
              <a:rPr lang="en-US" sz="2000" b="1" dirty="0"/>
              <a:t>However</a:t>
            </a:r>
            <a:r>
              <a:rPr lang="en-US" sz="2000" dirty="0"/>
              <a:t>, liquid cooling also brings </a:t>
            </a:r>
            <a:r>
              <a:rPr lang="en-US" sz="2000" b="1" dirty="0"/>
              <a:t>in extra weight, complexity, and cos</a:t>
            </a:r>
            <a:r>
              <a:rPr lang="en-US" sz="2000" dirty="0"/>
              <a:t>t to the system.</a:t>
            </a:r>
          </a:p>
          <a:p>
            <a:pPr lvl="1"/>
            <a:r>
              <a:rPr lang="en-US" sz="2000" dirty="0"/>
              <a:t>Acoustic noise, coolant leakage, corrosion, toxicity are also other factors</a:t>
            </a:r>
          </a:p>
          <a:p>
            <a:pPr lvl="1"/>
            <a:r>
              <a:rPr lang="en-US" sz="2000" dirty="0"/>
              <a:t>Cutting-edge cooling: magnetic cooling, thermoelectric cooling, </a:t>
            </a:r>
            <a:r>
              <a:rPr lang="en-US" sz="2000" dirty="0" smtClean="0"/>
              <a:t>thermo-tunneling </a:t>
            </a:r>
            <a:r>
              <a:rPr lang="en-US" sz="2000" dirty="0"/>
              <a:t>and </a:t>
            </a:r>
            <a:r>
              <a:rPr lang="en-US" sz="2000" dirty="0" smtClean="0"/>
              <a:t>thermo-ionic </a:t>
            </a:r>
            <a:r>
              <a:rPr lang="en-US" sz="2000" dirty="0"/>
              <a:t>cooling, </a:t>
            </a:r>
            <a:r>
              <a:rPr lang="en-US" sz="2000" b="1" dirty="0"/>
              <a:t>phase change materials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 smtClean="0"/>
              <a:t>DBC</a:t>
            </a:r>
            <a:r>
              <a:rPr lang="en-US" sz="2000" dirty="0" smtClean="0"/>
              <a:t> </a:t>
            </a:r>
            <a:r>
              <a:rPr lang="en-US" sz="2000" dirty="0"/>
              <a:t>direct bond copper: </a:t>
            </a:r>
          </a:p>
          <a:p>
            <a:pPr marL="0" indent="0">
              <a:buNone/>
            </a:pPr>
            <a:r>
              <a:rPr lang="en-US" sz="2000" dirty="0"/>
              <a:t>	This type of substrate contains a ceramic layer sandwiched in between two copper layers.</a:t>
            </a:r>
          </a:p>
          <a:p>
            <a:pPr marL="0" indent="0">
              <a:buNone/>
            </a:pPr>
            <a:r>
              <a:rPr lang="en-US" sz="2000" dirty="0"/>
              <a:t>	In order to spread better the heat and to increase the mechanical strength of the module, 	the substrate is bonded to a </a:t>
            </a:r>
            <a:r>
              <a:rPr lang="en-US" sz="2000" b="1" dirty="0"/>
              <a:t>base plate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r>
              <a:rPr lang="en-US" sz="2000" b="1" dirty="0" smtClean="0"/>
              <a:t>DSC </a:t>
            </a:r>
            <a:r>
              <a:rPr lang="en-US" sz="2000" dirty="0" smtClean="0"/>
              <a:t>double sided cooling: </a:t>
            </a:r>
            <a:endParaRPr lang="en-US" sz="2000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dirty="0"/>
              <a:t>	</a:t>
            </a:r>
          </a:p>
          <a:p>
            <a:pPr marL="0" indent="0">
              <a:buNone/>
            </a:pPr>
            <a:r>
              <a:rPr lang="en-US" sz="2000" dirty="0" smtClean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389432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706" y="258394"/>
            <a:ext cx="11037094" cy="1325563"/>
          </a:xfrm>
        </p:spPr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STATE-OF-THE-ART [6]</a:t>
            </a:r>
            <a:endParaRPr lang="sv-SE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3163" b="55364"/>
          <a:stretch/>
        </p:blipFill>
        <p:spPr>
          <a:xfrm>
            <a:off x="153801" y="1252219"/>
            <a:ext cx="6299386" cy="326985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44670" b="12115"/>
          <a:stretch/>
        </p:blipFill>
        <p:spPr>
          <a:xfrm>
            <a:off x="5779635" y="1174615"/>
            <a:ext cx="6391784" cy="34571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89119" b="2556"/>
          <a:stretch/>
        </p:blipFill>
        <p:spPr>
          <a:xfrm>
            <a:off x="2705100" y="4648917"/>
            <a:ext cx="7496175" cy="7810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683644"/>
            <a:ext cx="110978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err="1"/>
              <a:t>However</a:t>
            </a:r>
            <a:r>
              <a:rPr lang="sv-SE" dirty="0"/>
              <a:t>, the </a:t>
            </a:r>
            <a:r>
              <a:rPr lang="sv-SE" dirty="0" err="1"/>
              <a:t>volume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the </a:t>
            </a:r>
            <a:r>
              <a:rPr lang="sv-SE" dirty="0" err="1"/>
              <a:t>liquid-cycling</a:t>
            </a:r>
            <a:r>
              <a:rPr lang="sv-SE" dirty="0"/>
              <a:t> system (pumps, radiator, </a:t>
            </a:r>
            <a:r>
              <a:rPr lang="sv-SE" dirty="0" err="1"/>
              <a:t>compressor</a:t>
            </a:r>
            <a:r>
              <a:rPr lang="sv-SE" dirty="0"/>
              <a:t>, and </a:t>
            </a:r>
            <a:r>
              <a:rPr lang="sv-SE" dirty="0" err="1"/>
              <a:t>chiller</a:t>
            </a:r>
            <a:r>
              <a:rPr lang="sv-SE" dirty="0"/>
              <a:t>) </a:t>
            </a:r>
            <a:r>
              <a:rPr lang="sv-SE" dirty="0" err="1"/>
              <a:t>will</a:t>
            </a:r>
            <a:r>
              <a:rPr lang="sv-SE" dirty="0"/>
              <a:t> </a:t>
            </a:r>
            <a:r>
              <a:rPr lang="sv-SE" dirty="0" err="1"/>
              <a:t>remarkably</a:t>
            </a:r>
            <a:r>
              <a:rPr lang="sv-SE" dirty="0"/>
              <a:t> </a:t>
            </a:r>
            <a:r>
              <a:rPr lang="sv-SE" dirty="0" err="1"/>
              <a:t>reduce</a:t>
            </a:r>
            <a:r>
              <a:rPr lang="sv-SE" dirty="0"/>
              <a:t> the overall </a:t>
            </a:r>
            <a:r>
              <a:rPr lang="sv-SE" dirty="0" err="1"/>
              <a:t>power</a:t>
            </a:r>
            <a:r>
              <a:rPr lang="sv-SE" dirty="0"/>
              <a:t> </a:t>
            </a:r>
            <a:r>
              <a:rPr lang="sv-SE" dirty="0" err="1"/>
              <a:t>density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the PCU.</a:t>
            </a:r>
          </a:p>
        </p:txBody>
      </p:sp>
    </p:spTree>
    <p:extLst>
      <p:ext uri="{BB962C8B-B14F-4D97-AF65-F5344CB8AC3E}">
        <p14:creationId xmlns:p14="http://schemas.microsoft.com/office/powerpoint/2010/main" val="23461894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706" y="258394"/>
            <a:ext cx="11037094" cy="1325563"/>
          </a:xfrm>
        </p:spPr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STATE-OF-THE-ART [8]</a:t>
            </a:r>
            <a:endParaRPr lang="sv-SE" dirty="0">
              <a:solidFill>
                <a:srgbClr val="C0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54" y="1583957"/>
            <a:ext cx="11244046" cy="470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8959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Trend [6,8]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52500"/>
            <a:ext cx="10515600" cy="5819775"/>
          </a:xfrm>
        </p:spPr>
        <p:txBody>
          <a:bodyPr>
            <a:normAutofit fontScale="70000" lnSpcReduction="20000"/>
          </a:bodyPr>
          <a:lstStyle/>
          <a:p>
            <a:r>
              <a:rPr lang="en-US" sz="2600" dirty="0" smtClean="0"/>
              <a:t>The </a:t>
            </a:r>
            <a:r>
              <a:rPr lang="en-US" sz="2600" dirty="0"/>
              <a:t>liquid-cooled Si inverters dominate the market, nowadays</a:t>
            </a:r>
            <a:r>
              <a:rPr lang="en-US" sz="2600" dirty="0" smtClean="0"/>
              <a:t>.</a:t>
            </a:r>
          </a:p>
          <a:p>
            <a:r>
              <a:rPr lang="en-US" sz="2600" dirty="0" smtClean="0"/>
              <a:t> </a:t>
            </a:r>
            <a:r>
              <a:rPr lang="en-US" sz="2600" dirty="0"/>
              <a:t>However, </a:t>
            </a:r>
            <a:r>
              <a:rPr lang="en-US" sz="2600" b="1" dirty="0"/>
              <a:t>the liquid-cooled </a:t>
            </a:r>
            <a:r>
              <a:rPr lang="en-US" sz="2600" b="1" dirty="0" err="1"/>
              <a:t>SiC</a:t>
            </a:r>
            <a:r>
              <a:rPr lang="en-US" sz="2600" b="1" dirty="0"/>
              <a:t> inverters </a:t>
            </a:r>
            <a:r>
              <a:rPr lang="en-US" sz="2600" dirty="0"/>
              <a:t>have been replacing the liquid-cooled Si inverter. </a:t>
            </a:r>
            <a:endParaRPr lang="en-US" sz="2600" dirty="0" smtClean="0"/>
          </a:p>
          <a:p>
            <a:r>
              <a:rPr lang="en-US" sz="2600" dirty="0" smtClean="0"/>
              <a:t>Direct </a:t>
            </a:r>
            <a:r>
              <a:rPr lang="en-US" sz="2600" dirty="0"/>
              <a:t>cooling has been demonstrated in the Cadillac CT6 inverter in which the module </a:t>
            </a:r>
            <a:r>
              <a:rPr lang="en-US" sz="2600" dirty="0" smtClean="0"/>
              <a:t>package </a:t>
            </a:r>
            <a:r>
              <a:rPr lang="en-US" sz="2600" dirty="0"/>
              <a:t>is fully immersed in the coolant, rather than bolted to a cold </a:t>
            </a:r>
            <a:r>
              <a:rPr lang="en-US" sz="2600" dirty="0" smtClean="0"/>
              <a:t>plate.</a:t>
            </a:r>
          </a:p>
          <a:p>
            <a:r>
              <a:rPr lang="en-US" sz="2600" dirty="0"/>
              <a:t>Passive 2-phase immersion cooling has been successfully applied to large scale traction </a:t>
            </a:r>
            <a:r>
              <a:rPr lang="en-US" sz="2600" dirty="0" smtClean="0"/>
              <a:t>inverters. (</a:t>
            </a:r>
            <a:r>
              <a:rPr lang="en-US" sz="2600" dirty="0"/>
              <a:t>immersing them in a non-conductive cooling fluid</a:t>
            </a:r>
            <a:r>
              <a:rPr lang="en-US" sz="2600" dirty="0" smtClean="0"/>
              <a:t>.)</a:t>
            </a:r>
          </a:p>
          <a:p>
            <a:pPr marL="0" indent="0">
              <a:buNone/>
            </a:pPr>
            <a:endParaRPr lang="en-US" sz="2600" dirty="0" smtClean="0"/>
          </a:p>
          <a:p>
            <a:pPr marL="0" indent="0">
              <a:buNone/>
            </a:pPr>
            <a:r>
              <a:rPr lang="en-US" sz="2600" dirty="0"/>
              <a:t>Moreover, the undergoing air-cooled </a:t>
            </a:r>
            <a:r>
              <a:rPr lang="en-US" sz="2600" dirty="0" err="1"/>
              <a:t>SiC</a:t>
            </a:r>
            <a:r>
              <a:rPr lang="en-US" sz="2600" dirty="0"/>
              <a:t> inverters are expected to be the next-generation PCU of EV powertrain toward the continuously increasing light and compact requirements of the EV</a:t>
            </a:r>
            <a:r>
              <a:rPr lang="en-US" sz="2600" dirty="0" smtClean="0"/>
              <a:t>.</a:t>
            </a:r>
          </a:p>
          <a:p>
            <a:r>
              <a:rPr lang="en-US" sz="2600" dirty="0"/>
              <a:t>If the </a:t>
            </a:r>
            <a:r>
              <a:rPr lang="en-US" sz="2600" b="1" dirty="0"/>
              <a:t>air-cooled </a:t>
            </a:r>
            <a:r>
              <a:rPr lang="en-US" sz="2600" b="1" dirty="0" err="1"/>
              <a:t>SiC</a:t>
            </a:r>
            <a:r>
              <a:rPr lang="en-US" sz="2600" b="1" dirty="0"/>
              <a:t> inverter </a:t>
            </a:r>
            <a:r>
              <a:rPr lang="en-US" sz="2600" dirty="0"/>
              <a:t>is desired, it </a:t>
            </a:r>
          </a:p>
          <a:p>
            <a:pPr lvl="1"/>
            <a:r>
              <a:rPr lang="en-US" sz="2600" dirty="0"/>
              <a:t>Requires innovative to enhance the power dissipation and reduce the thermal resistance, including  </a:t>
            </a:r>
          </a:p>
          <a:p>
            <a:pPr lvl="2"/>
            <a:r>
              <a:rPr lang="en-US" sz="2600" dirty="0"/>
              <a:t>optimized heat sink structure</a:t>
            </a:r>
          </a:p>
          <a:p>
            <a:pPr lvl="2"/>
            <a:r>
              <a:rPr lang="en-US" sz="2600" dirty="0"/>
              <a:t>integrated baseplate with pin-fin</a:t>
            </a:r>
          </a:p>
          <a:p>
            <a:pPr lvl="2"/>
            <a:r>
              <a:rPr lang="sv-SE" sz="2600" dirty="0" err="1"/>
              <a:t>power</a:t>
            </a:r>
            <a:r>
              <a:rPr lang="sv-SE" sz="2600" dirty="0"/>
              <a:t>-shower </a:t>
            </a:r>
            <a:r>
              <a:rPr lang="sv-SE" sz="2600" dirty="0" err="1"/>
              <a:t>technologies</a:t>
            </a:r>
            <a:endParaRPr lang="sv-SE" sz="2600" dirty="0"/>
          </a:p>
          <a:p>
            <a:pPr lvl="2"/>
            <a:r>
              <a:rPr lang="sv-SE" sz="2600" dirty="0"/>
              <a:t>3-D </a:t>
            </a:r>
            <a:r>
              <a:rPr lang="sv-SE" sz="2600" dirty="0" err="1"/>
              <a:t>printed</a:t>
            </a:r>
            <a:r>
              <a:rPr lang="sv-SE" sz="2600" dirty="0"/>
              <a:t> heat sink</a:t>
            </a:r>
          </a:p>
          <a:p>
            <a:pPr lvl="2"/>
            <a:r>
              <a:rPr lang="it-IT" sz="2600" dirty="0"/>
              <a:t>nano-scale thermal interface material (TIM)</a:t>
            </a:r>
          </a:p>
          <a:p>
            <a:pPr lvl="2"/>
            <a:r>
              <a:rPr lang="en-US" sz="2600" dirty="0"/>
              <a:t>cold spray low temperature soldering</a:t>
            </a:r>
          </a:p>
          <a:p>
            <a:pPr lvl="1"/>
            <a:r>
              <a:rPr lang="en-US" sz="2600" dirty="0"/>
              <a:t>Requires on-line regulation of power losses; including</a:t>
            </a:r>
          </a:p>
          <a:p>
            <a:pPr lvl="2"/>
            <a:r>
              <a:rPr lang="en-US" sz="2600" dirty="0"/>
              <a:t>adaptive switching frequency</a:t>
            </a:r>
          </a:p>
          <a:p>
            <a:pPr lvl="2"/>
            <a:r>
              <a:rPr lang="en-US" sz="2600" dirty="0"/>
              <a:t>adjustable dc-link voltage</a:t>
            </a:r>
            <a:endParaRPr lang="sv-SE" sz="2600" dirty="0"/>
          </a:p>
          <a:p>
            <a:pPr marL="0" indent="0">
              <a:buNone/>
            </a:pPr>
            <a:endParaRPr lang="en-US" sz="2000" dirty="0"/>
          </a:p>
          <a:p>
            <a:endParaRPr lang="sv-SE" sz="2000" dirty="0"/>
          </a:p>
        </p:txBody>
      </p:sp>
    </p:spTree>
    <p:extLst>
      <p:ext uri="{BB962C8B-B14F-4D97-AF65-F5344CB8AC3E}">
        <p14:creationId xmlns:p14="http://schemas.microsoft.com/office/powerpoint/2010/main" val="2932064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DC-link Capacitor Selection [6]</a:t>
            </a:r>
            <a:endParaRPr lang="sv-SE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2487"/>
                <a:ext cx="10515600" cy="4902835"/>
              </a:xfrm>
            </p:spPr>
            <p:txBody>
              <a:bodyPr>
                <a:noAutofit/>
              </a:bodyPr>
              <a:lstStyle/>
              <a:p>
                <a:r>
                  <a:rPr lang="en-US" sz="1600" dirty="0" smtClean="0"/>
                  <a:t>To </a:t>
                </a:r>
                <a:r>
                  <a:rPr lang="en-US" sz="1600" dirty="0"/>
                  <a:t>meet the light and compact design target, the capacitance and volume of the dc-link capacitor should be </a:t>
                </a:r>
                <a:r>
                  <a:rPr lang="en-US" sz="1600" dirty="0" smtClean="0"/>
                  <a:t>optimized</a:t>
                </a:r>
              </a:p>
              <a:p>
                <a:r>
                  <a:rPr lang="en-US" sz="1600" dirty="0"/>
                  <a:t>D</a:t>
                </a:r>
                <a:r>
                  <a:rPr lang="en-US" sz="1600" dirty="0" smtClean="0"/>
                  <a:t>ue </a:t>
                </a:r>
                <a:r>
                  <a:rPr lang="en-US" sz="1600" dirty="0"/>
                  <a:t>to the ripple voltage and ripple current caused by the switching behavior of </a:t>
                </a:r>
                <a:r>
                  <a:rPr lang="en-US" sz="1600" dirty="0" err="1"/>
                  <a:t>SiC</a:t>
                </a:r>
                <a:r>
                  <a:rPr lang="en-US" sz="1600" dirty="0"/>
                  <a:t> MOSFET</a:t>
                </a:r>
                <a:r>
                  <a:rPr lang="en-US" sz="1600" dirty="0" smtClean="0"/>
                  <a:t>, the </a:t>
                </a:r>
                <a:r>
                  <a:rPr lang="en-US" sz="1600" dirty="0"/>
                  <a:t>dc-link capacitor is one of the weakest elements in the </a:t>
                </a:r>
                <a:r>
                  <a:rPr lang="en-US" sz="1600" dirty="0" smtClean="0"/>
                  <a:t>inverter.</a:t>
                </a: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 smtClean="0"/>
                  <a:t>Objectives:</a:t>
                </a:r>
              </a:p>
              <a:p>
                <a:pPr lvl="1"/>
                <a:r>
                  <a:rPr lang="en-US" sz="1600" dirty="0" smtClean="0"/>
                  <a:t>Optimal material:</a:t>
                </a:r>
              </a:p>
              <a:p>
                <a:pPr lvl="2"/>
                <a:r>
                  <a:rPr lang="en-US" sz="1600" b="1" dirty="0" smtClean="0"/>
                  <a:t>Ceramic</a:t>
                </a:r>
                <a:r>
                  <a:rPr lang="en-US" sz="1600" dirty="0" smtClean="0"/>
                  <a:t> can endure </a:t>
                </a:r>
                <a:r>
                  <a:rPr lang="en-US" sz="1600" dirty="0"/>
                  <a:t>high temperature, but its capacitance is small and sensitive to humidity</a:t>
                </a:r>
                <a:r>
                  <a:rPr lang="en-US" sz="1600" dirty="0" smtClean="0"/>
                  <a:t>.</a:t>
                </a:r>
                <a:r>
                  <a:rPr lang="en-US" sz="1600" dirty="0"/>
                  <a:t> Power density is about </a:t>
                </a:r>
                <a:r>
                  <a:rPr lang="en-US" sz="1600" b="1" dirty="0" smtClean="0"/>
                  <a:t>2</a:t>
                </a:r>
                <a14:m>
                  <m:oMath xmlns:m="http://schemas.openxmlformats.org/officeDocument/2006/math">
                    <m:r>
                      <a:rPr lang="el-GR" sz="16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sz="1600" b="1" i="1" dirty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𝒄</m:t>
                    </m:r>
                    <m:sSup>
                      <m:sSupPr>
                        <m:ctrlPr>
                          <a:rPr lang="en-US" sz="16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1600" dirty="0"/>
                  <a:t>. It </a:t>
                </a:r>
                <a:r>
                  <a:rPr lang="en-US" sz="1600" dirty="0" smtClean="0"/>
                  <a:t>is </a:t>
                </a:r>
                <a:r>
                  <a:rPr lang="en-US" sz="1600" dirty="0"/>
                  <a:t>much more </a:t>
                </a:r>
                <a:r>
                  <a:rPr lang="en-US" sz="1600" b="1" dirty="0"/>
                  <a:t>expensive</a:t>
                </a:r>
                <a:r>
                  <a:rPr lang="en-US" sz="1600" dirty="0"/>
                  <a:t> than others.</a:t>
                </a:r>
                <a:endParaRPr lang="en-US" sz="1600" dirty="0" smtClean="0"/>
              </a:p>
              <a:p>
                <a:pPr lvl="2"/>
                <a:r>
                  <a:rPr lang="en-US" sz="1600" b="1" dirty="0"/>
                  <a:t>Electrolytic</a:t>
                </a:r>
                <a:r>
                  <a:rPr lang="en-US" sz="1600" dirty="0"/>
                  <a:t> capacitor has large capacitance, it cannot endure high temperature. </a:t>
                </a:r>
                <a:r>
                  <a:rPr lang="en-US" sz="1600" dirty="0" smtClean="0"/>
                  <a:t>The </a:t>
                </a:r>
                <a:r>
                  <a:rPr lang="en-US" sz="1600" dirty="0"/>
                  <a:t>hot operation condition dries the electrolytic out and damages the capacitor</a:t>
                </a:r>
                <a:r>
                  <a:rPr lang="en-US" sz="1600" dirty="0" smtClean="0"/>
                  <a:t>. Higher power density, which is greater than </a:t>
                </a:r>
                <a14:m>
                  <m:oMath xmlns:m="http://schemas.openxmlformats.org/officeDocument/2006/math">
                    <m:r>
                      <a:rPr lang="el-GR" sz="1600" b="1" i="1" dirty="0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l-GR" sz="16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sz="1600" b="1" i="1" dirty="0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𝒄</m:t>
                    </m:r>
                    <m:sSup>
                      <m:sSupPr>
                        <m:ctrlPr>
                          <a:rPr lang="en-US" sz="16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en-US" sz="1600" dirty="0" smtClean="0"/>
              </a:p>
              <a:p>
                <a:pPr lvl="2"/>
                <a:r>
                  <a:rPr lang="en-US" sz="1600" b="1" dirty="0" smtClean="0"/>
                  <a:t>Film</a:t>
                </a:r>
                <a:r>
                  <a:rPr lang="en-US" sz="1600" dirty="0" smtClean="0"/>
                  <a:t> </a:t>
                </a:r>
                <a:r>
                  <a:rPr lang="en-US" sz="1600" dirty="0"/>
                  <a:t>capacitor are between the ceramic and electrolytic capacitors</a:t>
                </a:r>
                <a:r>
                  <a:rPr lang="en-US" sz="1600" dirty="0" smtClean="0"/>
                  <a:t>. Power density is about </a:t>
                </a:r>
                <a:r>
                  <a:rPr lang="en-US" sz="1600" b="1" dirty="0" smtClean="0"/>
                  <a:t>1</a:t>
                </a:r>
                <a14:m>
                  <m:oMath xmlns:m="http://schemas.openxmlformats.org/officeDocument/2006/math">
                    <m:r>
                      <a:rPr lang="el-GR" sz="16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sz="1600" b="1" i="1" dirty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𝒄</m:t>
                    </m:r>
                    <m:sSup>
                      <m:sSupPr>
                        <m:ctrlPr>
                          <a:rPr lang="en-US" sz="16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en-US" sz="1600" b="1" dirty="0" smtClean="0"/>
              </a:p>
              <a:p>
                <a:pPr lvl="1"/>
                <a:r>
                  <a:rPr lang="en-US" sz="1600" dirty="0" smtClean="0"/>
                  <a:t>Minimized capacitance</a:t>
                </a:r>
              </a:p>
              <a:p>
                <a:pPr lvl="2"/>
                <a:r>
                  <a:rPr lang="en-US" sz="1600" dirty="0"/>
                  <a:t>Considering the ripple voltage of the inverter, the minimum capacitance </a:t>
                </a:r>
                <a:r>
                  <a:rPr lang="en-US" sz="1600" dirty="0" err="1" smtClean="0"/>
                  <a:t>Cv</a:t>
                </a:r>
                <a:r>
                  <a:rPr lang="en-US" sz="1600" dirty="0" smtClean="0"/>
                  <a:t> can be found respecting topology. </a:t>
                </a:r>
              </a:p>
              <a:p>
                <a:pPr lvl="2"/>
                <a:r>
                  <a:rPr lang="en-US" sz="1600" dirty="0"/>
                  <a:t>Considering the ripple </a:t>
                </a:r>
                <a:r>
                  <a:rPr lang="en-US" sz="1600" dirty="0" smtClean="0"/>
                  <a:t>current, </a:t>
                </a:r>
                <a:r>
                  <a:rPr lang="en-US" sz="1600" dirty="0"/>
                  <a:t>the minimum capacitance </a:t>
                </a:r>
                <a:r>
                  <a:rPr lang="en-US" sz="1600" dirty="0" smtClean="0"/>
                  <a:t>Ci </a:t>
                </a:r>
                <a:r>
                  <a:rPr lang="en-US" sz="1600" dirty="0"/>
                  <a:t>can be found respecting topology. </a:t>
                </a:r>
              </a:p>
              <a:p>
                <a:pPr lvl="2"/>
                <a:r>
                  <a:rPr lang="en-US" sz="1600" dirty="0" smtClean="0"/>
                  <a:t>Multi level or multi-module decreases the capacitance requirement?</a:t>
                </a: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C</a:t>
                </a:r>
                <a:r>
                  <a:rPr lang="en-US" sz="1600" dirty="0" smtClean="0"/>
                  <a:t>onstraints: </a:t>
                </a:r>
              </a:p>
              <a:p>
                <a:pPr marL="457200" lvl="1" indent="0">
                  <a:buNone/>
                </a:pPr>
                <a:r>
                  <a:rPr lang="en-US" sz="1600" dirty="0" smtClean="0"/>
                  <a:t>1. Ripple voltage, 2.Ripple current , 3.Cost, 4.Size, 5.Weight</a:t>
                </a:r>
                <a:endParaRPr lang="sv-SE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2487"/>
                <a:ext cx="10515600" cy="4902835"/>
              </a:xfrm>
              <a:blipFill>
                <a:blip r:embed="rId2"/>
                <a:stretch>
                  <a:fillRect l="-348" t="-87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6431" b="1"/>
          <a:stretch/>
        </p:blipFill>
        <p:spPr>
          <a:xfrm>
            <a:off x="8502014" y="5387339"/>
            <a:ext cx="3217545" cy="6119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7713" y="5950706"/>
            <a:ext cx="3446145" cy="60540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7522" y="5794330"/>
            <a:ext cx="1862139" cy="41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316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DC-link Capacitor Selection- Example Weight/Volume/Cost[6]</a:t>
            </a:r>
            <a:endParaRPr lang="sv-SE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243" y="1777831"/>
            <a:ext cx="7820978" cy="397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3682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9385"/>
            <a:ext cx="10515600" cy="1325563"/>
          </a:xfrm>
        </p:spPr>
        <p:txBody>
          <a:bodyPr/>
          <a:lstStyle/>
          <a:p>
            <a:r>
              <a:rPr lang="en-US" dirty="0" err="1" smtClean="0">
                <a:solidFill>
                  <a:srgbClr val="C00000"/>
                </a:solidFill>
              </a:rPr>
              <a:t>Busbar</a:t>
            </a:r>
            <a:r>
              <a:rPr lang="en-US" dirty="0" smtClean="0">
                <a:solidFill>
                  <a:srgbClr val="C00000"/>
                </a:solidFill>
              </a:rPr>
              <a:t> Design [11]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620" y="1116964"/>
            <a:ext cx="10515600" cy="59239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/>
              <a:t>High switching speed of </a:t>
            </a:r>
            <a:r>
              <a:rPr lang="en-US" sz="2000" dirty="0" err="1" smtClean="0"/>
              <a:t>SiC</a:t>
            </a:r>
            <a:r>
              <a:rPr lang="en-US" sz="2000" dirty="0" smtClean="0"/>
              <a:t> may potentially cause:</a:t>
            </a:r>
          </a:p>
          <a:p>
            <a:pPr lvl="1"/>
            <a:r>
              <a:rPr lang="en-US" sz="2000" dirty="0"/>
              <a:t>E</a:t>
            </a:r>
            <a:r>
              <a:rPr lang="en-US" sz="2000" dirty="0" smtClean="0"/>
              <a:t>xcessive </a:t>
            </a:r>
            <a:r>
              <a:rPr lang="en-US" sz="2000" dirty="0"/>
              <a:t>voltage </a:t>
            </a:r>
            <a:r>
              <a:rPr lang="en-US" sz="2000" dirty="0" smtClean="0"/>
              <a:t>overshoot</a:t>
            </a:r>
          </a:p>
          <a:p>
            <a:pPr lvl="1"/>
            <a:r>
              <a:rPr lang="sv-SE" sz="2000" dirty="0" err="1" smtClean="0"/>
              <a:t>Ringing</a:t>
            </a:r>
            <a:r>
              <a:rPr lang="sv-SE" sz="2000" dirty="0" smtClean="0"/>
              <a:t> </a:t>
            </a: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The </a:t>
            </a:r>
            <a:r>
              <a:rPr lang="en-US" sz="2000" dirty="0"/>
              <a:t>overshoot voltage during </a:t>
            </a:r>
            <a:r>
              <a:rPr lang="en-US" sz="2000" dirty="0" err="1"/>
              <a:t>turn-OFF</a:t>
            </a:r>
            <a:r>
              <a:rPr lang="en-US" sz="2000" dirty="0"/>
              <a:t> transient is a common </a:t>
            </a:r>
            <a:r>
              <a:rPr lang="en-US" sz="2000" dirty="0" smtClean="0"/>
              <a:t>issue. </a:t>
            </a:r>
            <a:r>
              <a:rPr lang="sv-SE" sz="2000" dirty="0" smtClean="0"/>
              <a:t>It </a:t>
            </a:r>
            <a:r>
              <a:rPr lang="sv-SE" sz="2000" dirty="0" err="1" smtClean="0"/>
              <a:t>stems</a:t>
            </a:r>
            <a:r>
              <a:rPr lang="sv-SE" sz="2000" dirty="0" smtClean="0"/>
              <a:t> from: </a:t>
            </a:r>
          </a:p>
          <a:p>
            <a:pPr lvl="1"/>
            <a:r>
              <a:rPr lang="en-US" sz="2000" dirty="0" smtClean="0"/>
              <a:t>high di/</a:t>
            </a:r>
            <a:r>
              <a:rPr lang="en-US" sz="2000" dirty="0" err="1" smtClean="0"/>
              <a:t>dt</a:t>
            </a:r>
            <a:r>
              <a:rPr lang="en-US" sz="2000" dirty="0" smtClean="0"/>
              <a:t> (5-10  times higher than Si)</a:t>
            </a:r>
          </a:p>
          <a:p>
            <a:pPr lvl="1"/>
            <a:r>
              <a:rPr lang="en-US" sz="2000" dirty="0" smtClean="0"/>
              <a:t>the </a:t>
            </a:r>
            <a:r>
              <a:rPr lang="en-US" sz="2000" dirty="0"/>
              <a:t>total stray inductance in the current commutation loops </a:t>
            </a:r>
            <a:r>
              <a:rPr lang="en-US" sz="2000" dirty="0" smtClean="0"/>
              <a:t>	(</a:t>
            </a:r>
            <a:r>
              <a:rPr lang="en-US" sz="2000" dirty="0"/>
              <a:t>CCLs</a:t>
            </a:r>
            <a:r>
              <a:rPr lang="en-US" sz="2000" dirty="0" smtClean="0"/>
              <a:t>)</a:t>
            </a:r>
          </a:p>
          <a:p>
            <a:pPr lvl="2"/>
            <a:r>
              <a:rPr lang="en-US" dirty="0"/>
              <a:t>the parasitic inductance of the dc-link </a:t>
            </a:r>
            <a:r>
              <a:rPr lang="en-US" dirty="0" smtClean="0"/>
              <a:t>capacitors</a:t>
            </a:r>
          </a:p>
          <a:p>
            <a:pPr lvl="2"/>
            <a:r>
              <a:rPr lang="en-US" dirty="0"/>
              <a:t>the stray inductance of the semiconductor devices or power </a:t>
            </a:r>
            <a:r>
              <a:rPr lang="en-US" dirty="0" smtClean="0"/>
              <a:t>modules</a:t>
            </a:r>
            <a:endParaRPr lang="en-US" dirty="0"/>
          </a:p>
          <a:p>
            <a:pPr lvl="2"/>
            <a:r>
              <a:rPr lang="en-US" dirty="0"/>
              <a:t>the stray inductance on the bus bars connecting the capacitors and the power devices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r>
              <a:rPr lang="en-US" sz="2000" b="1" dirty="0"/>
              <a:t>The </a:t>
            </a:r>
            <a:r>
              <a:rPr lang="en-US" sz="2000" b="1" dirty="0" smtClean="0"/>
              <a:t>laminated </a:t>
            </a:r>
            <a:r>
              <a:rPr lang="en-US" sz="2000" b="1" dirty="0"/>
              <a:t>bus bar structure</a:t>
            </a:r>
            <a:r>
              <a:rPr lang="en-US" sz="2000" dirty="0"/>
              <a:t>, which consists of multiple copper sheets, separated from each other by a </a:t>
            </a:r>
            <a:r>
              <a:rPr lang="en-US" sz="2000" b="1" dirty="0"/>
              <a:t>dielectric material</a:t>
            </a:r>
            <a:r>
              <a:rPr lang="en-US" sz="2000" dirty="0"/>
              <a:t>, is commonly used since it can effectively reduce the stray inductance</a:t>
            </a:r>
            <a:r>
              <a:rPr lang="en-US" sz="2000" dirty="0" smtClean="0"/>
              <a:t>. A proper </a:t>
            </a:r>
            <a:r>
              <a:rPr lang="en-US" sz="2000" dirty="0" err="1" smtClean="0"/>
              <a:t>busbar</a:t>
            </a:r>
            <a:r>
              <a:rPr lang="en-US" sz="2000" dirty="0" smtClean="0"/>
              <a:t> decrease:</a:t>
            </a:r>
          </a:p>
          <a:p>
            <a:pPr lvl="1">
              <a:lnSpc>
                <a:spcPct val="100000"/>
              </a:lnSpc>
            </a:pPr>
            <a:r>
              <a:rPr lang="en-US" sz="1800" dirty="0" smtClean="0"/>
              <a:t>voltage overshoot</a:t>
            </a:r>
          </a:p>
          <a:p>
            <a:pPr lvl="1">
              <a:lnSpc>
                <a:spcPct val="100000"/>
              </a:lnSpc>
            </a:pPr>
            <a:r>
              <a:rPr lang="en-US" sz="1800" dirty="0" smtClean="0"/>
              <a:t>electromagnetic </a:t>
            </a:r>
            <a:r>
              <a:rPr lang="en-US" sz="1800" dirty="0"/>
              <a:t>interference (EMI) </a:t>
            </a:r>
            <a:r>
              <a:rPr lang="en-US" sz="1800" dirty="0" smtClean="0"/>
              <a:t>emission</a:t>
            </a:r>
          </a:p>
          <a:p>
            <a:pPr lvl="1">
              <a:lnSpc>
                <a:spcPct val="100000"/>
              </a:lnSpc>
            </a:pPr>
            <a:r>
              <a:rPr lang="en-US" sz="1800" dirty="0" smtClean="0"/>
              <a:t>switching losses</a:t>
            </a:r>
          </a:p>
          <a:p>
            <a:pPr lvl="1">
              <a:lnSpc>
                <a:spcPct val="100000"/>
              </a:lnSpc>
            </a:pPr>
            <a:r>
              <a:rPr lang="en-US" sz="1800" dirty="0" smtClean="0"/>
              <a:t>thermal </a:t>
            </a:r>
            <a:r>
              <a:rPr lang="en-US" sz="1800" dirty="0"/>
              <a:t>stress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22924103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9385"/>
            <a:ext cx="10515600" cy="1325563"/>
          </a:xfrm>
        </p:spPr>
        <p:txBody>
          <a:bodyPr/>
          <a:lstStyle/>
          <a:p>
            <a:r>
              <a:rPr lang="en-US" dirty="0" err="1" smtClean="0">
                <a:solidFill>
                  <a:srgbClr val="C00000"/>
                </a:solidFill>
              </a:rPr>
              <a:t>Busbar</a:t>
            </a:r>
            <a:r>
              <a:rPr lang="en-US" dirty="0" smtClean="0">
                <a:solidFill>
                  <a:srgbClr val="C00000"/>
                </a:solidFill>
              </a:rPr>
              <a:t> Design Example[12]</a:t>
            </a:r>
            <a:endParaRPr lang="sv-SE" dirty="0">
              <a:solidFill>
                <a:srgbClr val="C00000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462" t="3108" r="7375" b="879"/>
          <a:stretch/>
        </p:blipFill>
        <p:spPr>
          <a:xfrm>
            <a:off x="5010149" y="4244341"/>
            <a:ext cx="3169920" cy="197423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8400" t="3712" r="7605" b="1143"/>
          <a:stretch/>
        </p:blipFill>
        <p:spPr>
          <a:xfrm>
            <a:off x="4876799" y="1354811"/>
            <a:ext cx="3124201" cy="253894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l="8744" t="11355" r="7727"/>
          <a:stretch/>
        </p:blipFill>
        <p:spPr>
          <a:xfrm>
            <a:off x="8420099" y="1267710"/>
            <a:ext cx="3627120" cy="249590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/>
          <a:srcRect l="6311" r="13921"/>
          <a:stretch/>
        </p:blipFill>
        <p:spPr>
          <a:xfrm>
            <a:off x="8420098" y="4101392"/>
            <a:ext cx="3467101" cy="24307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300" y="2209990"/>
            <a:ext cx="465582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High-frequency current flow </a:t>
            </a:r>
            <a:r>
              <a:rPr lang="en-US" dirty="0" smtClean="0"/>
              <a:t>paths should be considered.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layout of the </a:t>
            </a:r>
            <a:r>
              <a:rPr lang="en-US" dirty="0" err="1"/>
              <a:t>busbar</a:t>
            </a:r>
            <a:r>
              <a:rPr lang="en-US" dirty="0"/>
              <a:t> should be </a:t>
            </a:r>
            <a:r>
              <a:rPr lang="en-US" dirty="0" smtClean="0"/>
              <a:t>symmetric.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Current distribution should be homogenized.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 smtClean="0"/>
              <a:t>Analytical calculations or FEA can be used to calculate stray inductances. </a:t>
            </a:r>
          </a:p>
          <a:p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stray inductances in current commutation </a:t>
            </a:r>
            <a:r>
              <a:rPr lang="en-US" dirty="0" smtClean="0"/>
              <a:t>loops should be minimized. (Typically order of 10nH)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293953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References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[1</a:t>
            </a:r>
            <a:r>
              <a:rPr lang="en-US" dirty="0"/>
              <a:t>] A Compact 250 kW Silicon Carbide MOSFET based Three-Level Traction Inverter for Heavy Equipment </a:t>
            </a:r>
            <a:r>
              <a:rPr lang="en-US" dirty="0" smtClean="0"/>
              <a:t>Applications</a:t>
            </a:r>
          </a:p>
          <a:p>
            <a:r>
              <a:rPr lang="en-US" dirty="0"/>
              <a:t>[2] Design and Validation of A 250-kW All-Silicon Carbide High-Density Three-Level T-Type </a:t>
            </a:r>
            <a:r>
              <a:rPr lang="en-US" dirty="0" smtClean="0"/>
              <a:t>Inverter</a:t>
            </a:r>
          </a:p>
          <a:p>
            <a:r>
              <a:rPr lang="en-US" dirty="0"/>
              <a:t>[3] Comparative Study of Conducted Common-Mode EMI in WBG-Enabled DC-Fed Three-Phase Current-Source </a:t>
            </a:r>
            <a:r>
              <a:rPr lang="en-US" dirty="0" smtClean="0"/>
              <a:t>Inverter</a:t>
            </a:r>
          </a:p>
          <a:p>
            <a:r>
              <a:rPr lang="en-US" dirty="0" smtClean="0"/>
              <a:t>[4] </a:t>
            </a:r>
            <a:r>
              <a:rPr lang="en-US" dirty="0"/>
              <a:t>Design of High Power Density 100 kW Surface Permanent Magnet Machine with No Heavy Rare Earth Material Using Current Source Inverter for Traction </a:t>
            </a:r>
            <a:r>
              <a:rPr lang="en-US" dirty="0" smtClean="0"/>
              <a:t>Application</a:t>
            </a:r>
          </a:p>
          <a:p>
            <a:r>
              <a:rPr lang="en-US" dirty="0" smtClean="0"/>
              <a:t>[5] </a:t>
            </a:r>
            <a:r>
              <a:rPr lang="en-US" dirty="0"/>
              <a:t>Modulation and Power Losses of a </a:t>
            </a:r>
            <a:r>
              <a:rPr lang="en-US" dirty="0" smtClean="0"/>
              <a:t>Stacked </a:t>
            </a:r>
            <a:r>
              <a:rPr lang="en-US" dirty="0" err="1" smtClean="0"/>
              <a:t>Polyphase</a:t>
            </a:r>
            <a:r>
              <a:rPr lang="en-US" dirty="0" smtClean="0"/>
              <a:t> </a:t>
            </a:r>
            <a:r>
              <a:rPr lang="en-US" dirty="0"/>
              <a:t>Bridge </a:t>
            </a:r>
            <a:r>
              <a:rPr lang="en-US" dirty="0" smtClean="0"/>
              <a:t>Converter</a:t>
            </a:r>
          </a:p>
          <a:p>
            <a:r>
              <a:rPr lang="en-US" dirty="0"/>
              <a:t>[6] Stepwise Design Methodology and Heterogeneous Integration Routine of Air-Cooled </a:t>
            </a:r>
            <a:r>
              <a:rPr lang="en-US" dirty="0" err="1"/>
              <a:t>SiC</a:t>
            </a:r>
            <a:r>
              <a:rPr lang="en-US" dirty="0"/>
              <a:t> Inverter for Electric </a:t>
            </a:r>
            <a:r>
              <a:rPr lang="en-US" dirty="0" smtClean="0"/>
              <a:t>Vehicle</a:t>
            </a:r>
          </a:p>
          <a:p>
            <a:r>
              <a:rPr lang="en-US" dirty="0"/>
              <a:t>[7] Recent Developments in Thermal Management of Electrified Powertrains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96609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References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[</a:t>
            </a:r>
            <a:r>
              <a:rPr lang="en-US" dirty="0"/>
              <a:t>8] Automotive Traction Inverters: Current Status and Future </a:t>
            </a:r>
            <a:r>
              <a:rPr lang="en-US" dirty="0" smtClean="0"/>
              <a:t>Trends</a:t>
            </a:r>
          </a:p>
          <a:p>
            <a:r>
              <a:rPr lang="en-US" dirty="0" smtClean="0"/>
              <a:t>[9] Multi-objective </a:t>
            </a:r>
            <a:r>
              <a:rPr lang="en-US" dirty="0"/>
              <a:t>optimization design of electric vehicle converters based on ε-γ-σ</a:t>
            </a:r>
          </a:p>
          <a:p>
            <a:r>
              <a:rPr lang="en-US" dirty="0" smtClean="0"/>
              <a:t>[10] </a:t>
            </a:r>
            <a:r>
              <a:rPr lang="en-US" dirty="0"/>
              <a:t>Comparative Life Cycle Cost Analysis of Si and </a:t>
            </a:r>
            <a:r>
              <a:rPr lang="en-US" dirty="0" err="1"/>
              <a:t>SiC</a:t>
            </a:r>
            <a:r>
              <a:rPr lang="en-US" dirty="0"/>
              <a:t> PV Converter Systems Based on Advanced η-ρ-σ </a:t>
            </a:r>
            <a:r>
              <a:rPr lang="en-US" dirty="0" err="1"/>
              <a:t>Multiobjective</a:t>
            </a:r>
            <a:r>
              <a:rPr lang="en-US" dirty="0"/>
              <a:t> Optimization </a:t>
            </a:r>
            <a:r>
              <a:rPr lang="en-US" dirty="0" smtClean="0"/>
              <a:t>Techniques</a:t>
            </a:r>
          </a:p>
          <a:p>
            <a:r>
              <a:rPr lang="en-US" dirty="0"/>
              <a:t>[11] </a:t>
            </a:r>
            <a:r>
              <a:rPr lang="en-US" dirty="0" err="1"/>
              <a:t>Busbar</a:t>
            </a:r>
            <a:r>
              <a:rPr lang="en-US" dirty="0"/>
              <a:t> Design and Optimization for Voltage Overshoot Mitigation of a Silicon Carbide High-Power Three-Phase T-Type </a:t>
            </a:r>
            <a:r>
              <a:rPr lang="en-US" dirty="0" smtClean="0"/>
              <a:t>Inverter</a:t>
            </a:r>
          </a:p>
          <a:p>
            <a:r>
              <a:rPr lang="en-US" dirty="0"/>
              <a:t>[12] A low-inductance Sectional </a:t>
            </a:r>
            <a:r>
              <a:rPr lang="en-US" dirty="0" err="1"/>
              <a:t>Busbar</a:t>
            </a:r>
            <a:r>
              <a:rPr lang="en-US" dirty="0"/>
              <a:t> for </a:t>
            </a:r>
            <a:r>
              <a:rPr lang="en-US" dirty="0" err="1"/>
              <a:t>Snuberless</a:t>
            </a:r>
            <a:r>
              <a:rPr lang="en-US" dirty="0"/>
              <a:t> Operation of </a:t>
            </a:r>
            <a:r>
              <a:rPr lang="en-US" dirty="0" err="1"/>
              <a:t>SiC</a:t>
            </a:r>
            <a:r>
              <a:rPr lang="en-US" dirty="0"/>
              <a:t>-based EV Traction Inverters</a:t>
            </a:r>
            <a:endParaRPr lang="sv-SE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353133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13851</TotalTime>
  <Words>2505</Words>
  <Application>Microsoft Office PowerPoint</Application>
  <PresentationFormat>Widescreen</PresentationFormat>
  <Paragraphs>289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Office Theme</vt:lpstr>
      <vt:lpstr> System-wise Design</vt:lpstr>
      <vt:lpstr>Objectives-Hemizero</vt:lpstr>
      <vt:lpstr>Objectives-PowerizeD</vt:lpstr>
      <vt:lpstr>Aims and Requirements</vt:lpstr>
      <vt:lpstr>Key Technologies</vt:lpstr>
      <vt:lpstr>Parameters</vt:lpstr>
      <vt:lpstr>PowerPoint Presentation</vt:lpstr>
      <vt:lpstr>System Level Design Considerations [1]</vt:lpstr>
      <vt:lpstr>Stepwise Design Methodology and Multi-objective Optimization [6,9,10]</vt:lpstr>
      <vt:lpstr>Conceptual Topology Level Design [2,5]</vt:lpstr>
      <vt:lpstr>PowerPoint Presentation</vt:lpstr>
      <vt:lpstr>Voltage source inverters (VSIs) or current source inverters (CSIs) [3,4]</vt:lpstr>
      <vt:lpstr>2LC</vt:lpstr>
      <vt:lpstr>3LNPC^2 </vt:lpstr>
      <vt:lpstr>3LT^2 C</vt:lpstr>
      <vt:lpstr>SPB [5]</vt:lpstr>
      <vt:lpstr>Thermal Management [6,7]</vt:lpstr>
      <vt:lpstr>Thermal Management [7]</vt:lpstr>
      <vt:lpstr>Thermal Management [7]</vt:lpstr>
      <vt:lpstr>STATE-OF-THE-ART [6]</vt:lpstr>
      <vt:lpstr>STATE-OF-THE-ART [8]</vt:lpstr>
      <vt:lpstr>Trend [6,8]</vt:lpstr>
      <vt:lpstr>DC-link Capacitor Selection [6]</vt:lpstr>
      <vt:lpstr>DC-link Capacitor Selection- Example Weight/Volume/Cost[6]</vt:lpstr>
      <vt:lpstr>Busbar Design [11]</vt:lpstr>
      <vt:lpstr>Busbar Design Example[12]</vt:lpstr>
      <vt:lpstr>References</vt:lpstr>
      <vt:lpstr>References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131</cp:revision>
  <dcterms:created xsi:type="dcterms:W3CDTF">2023-05-19T13:17:21Z</dcterms:created>
  <dcterms:modified xsi:type="dcterms:W3CDTF">2023-06-05T13:21:04Z</dcterms:modified>
</cp:coreProperties>
</file>