
<file path=[Content_Types].xml><?xml version="1.0" encoding="utf-8"?>
<Types xmlns="http://schemas.openxmlformats.org/package/2006/content-types">
  <Default Extension="png" ContentType="image/png"/>
  <Default Extension="svg" ContentType="image/svg+xml"/>
  <Default Extension="emf" ContentType="image/x-emf"/>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15"/>
  </p:notesMasterIdLst>
  <p:sldIdLst>
    <p:sldId id="301" r:id="rId2"/>
    <p:sldId id="304" r:id="rId3"/>
    <p:sldId id="305" r:id="rId4"/>
    <p:sldId id="306" r:id="rId5"/>
    <p:sldId id="307" r:id="rId6"/>
    <p:sldId id="318" r:id="rId7"/>
    <p:sldId id="311" r:id="rId8"/>
    <p:sldId id="315" r:id="rId9"/>
    <p:sldId id="313" r:id="rId10"/>
    <p:sldId id="319" r:id="rId11"/>
    <p:sldId id="312" r:id="rId12"/>
    <p:sldId id="316" r:id="rId13"/>
    <p:sldId id="317" r:id="rId14"/>
  </p:sldIdLst>
  <p:sldSz cx="12192000" cy="6858000"/>
  <p:notesSz cx="6858000" cy="9144000"/>
  <p:embeddedFontLst>
    <p:embeddedFont>
      <p:font typeface="Figtree" panose="020B0604020202020204" charset="0"/>
      <p:regular r:id="rId16"/>
      <p:bold r:id="rId17"/>
      <p:italic r:id="rId18"/>
      <p:boldItalic r:id="rId19"/>
    </p:embeddedFont>
    <p:embeddedFont>
      <p:font typeface="Cambria Math" panose="02040503050406030204" pitchFamily="18" charset="0"/>
      <p:regular r:id="rId20"/>
    </p:embeddedFont>
    <p:embeddedFont>
      <p:font typeface="Calibri" panose="020F0502020204030204" pitchFamily="34" charset="0"/>
      <p:regular r:id="rId21"/>
      <p:bold r:id="rId22"/>
      <p:italic r:id="rId23"/>
      <p:boldItalic r:id="rId24"/>
    </p:embeddedFont>
  </p:embeddedFontLst>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5" autoAdjust="0"/>
    <p:restoredTop sz="96327"/>
  </p:normalViewPr>
  <p:slideViewPr>
    <p:cSldViewPr snapToGrid="0">
      <p:cViewPr varScale="1">
        <p:scale>
          <a:sx n="101" d="100"/>
          <a:sy n="101" d="100"/>
        </p:scale>
        <p:origin x="138" y="3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ACA97-DCC5-D741-8303-D68B06D997A0}" type="datetimeFigureOut">
              <a:rPr lang="sv-SE" smtClean="0"/>
              <a:t>2025-07-14</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02129-24FE-4746-9897-C7E55345F5DD}" type="slidenum">
              <a:rPr lang="sv-SE" smtClean="0"/>
              <a:t>‹#›</a:t>
            </a:fld>
            <a:endParaRPr lang="sv-SE"/>
          </a:p>
        </p:txBody>
      </p:sp>
    </p:spTree>
    <p:extLst>
      <p:ext uri="{BB962C8B-B14F-4D97-AF65-F5344CB8AC3E}">
        <p14:creationId xmlns:p14="http://schemas.microsoft.com/office/powerpoint/2010/main" val="4061700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6.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2.sv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15.svg"/><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4.svg"/><Relationship Id="rId4" Type="http://schemas.openxmlformats.org/officeDocument/2006/relationships/image" Target="../media/image2.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10.svg"/><Relationship Id="rId4" Type="http://schemas.openxmlformats.org/officeDocument/2006/relationships/image" Target="../media/image5.pn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KTH blue">
    <p:bg>
      <p:bgPr>
        <a:solidFill>
          <a:schemeClr val="accent1"/>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6D38D80F-8198-3D50-0CAB-FB287588B37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3936" b="32409"/>
          <a:stretch/>
        </p:blipFill>
        <p:spPr>
          <a:xfrm>
            <a:off x="-1" y="1"/>
            <a:ext cx="3177767" cy="4635374"/>
          </a:xfrm>
          <a:prstGeom prst="rect">
            <a:avLst/>
          </a:prstGeom>
        </p:spPr>
      </p:pic>
      <p:pic>
        <p:nvPicPr>
          <p:cNvPr id="8" name="Bild 7">
            <a:extLst>
              <a:ext uri="{FF2B5EF4-FFF2-40B4-BE49-F238E27FC236}">
                <a16:creationId xmlns:a16="http://schemas.microsoft.com/office/drawing/2014/main" id="{70792B10-D270-C2C6-5B88-13B9E3D50A01}"/>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369C0258-E083-684F-B81E-2491FB4EFBD1}" type="datetime1">
              <a:rPr lang="sv-SE" smtClean="0"/>
              <a:t>2025-07-14</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247854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063A90AC-AA0F-4983-942B-962F71B301C4}"/>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3936" b="32409"/>
          <a:stretch/>
        </p:blipFill>
        <p:spPr>
          <a:xfrm>
            <a:off x="-1" y="1"/>
            <a:ext cx="3177767" cy="4635374"/>
          </a:xfrm>
          <a:prstGeom prst="rect">
            <a:avLst/>
          </a:prstGeom>
        </p:spPr>
      </p:pic>
      <p:pic>
        <p:nvPicPr>
          <p:cNvPr id="10" name="Bild 9">
            <a:extLst>
              <a:ext uri="{FF2B5EF4-FFF2-40B4-BE49-F238E27FC236}">
                <a16:creationId xmlns:a16="http://schemas.microsoft.com/office/drawing/2014/main" id="{73BDFF50-BF25-9A02-09D1-C21E45C0BA8F}"/>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D7F93862-881E-DF46-AD81-FDB1501BAD48}" type="datetime1">
              <a:rPr lang="sv-SE" smtClean="0"/>
              <a:t>2025-07-14</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966584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E4E20116-AB17-4A1A-F8AD-05FA68213302}"/>
              </a:ext>
            </a:extLst>
          </p:cNvPr>
          <p:cNvSpPr/>
          <p:nvPr userDrawn="1"/>
        </p:nvSpPr>
        <p:spPr>
          <a:xfrm>
            <a:off x="0" y="0"/>
            <a:ext cx="12192000" cy="685800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xmlns=""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A1A0D637-CC39-0F47-97F1-76AAE59A5700}" type="datetime1">
              <a:rPr lang="sv-SE" smtClean="0"/>
              <a:t>2025-07-14</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algn="l">
              <a:spcAft>
                <a:spcPts val="800"/>
              </a:spcAft>
            </a:pPr>
            <a:r>
              <a:rPr lang="en-US" sz="1100" noProof="0" dirty="0">
                <a:latin typeface="+mj-lt"/>
              </a:rPr>
              <a:t>Change background image</a:t>
            </a:r>
          </a:p>
          <a:p>
            <a:pPr marL="162900" indent="-162900" algn="l">
              <a:spcAft>
                <a:spcPts val="600"/>
              </a:spcAft>
              <a:buFont typeface="+mj-lt"/>
              <a:buAutoNum type="arabicPeriod"/>
            </a:pPr>
            <a:r>
              <a:rPr lang="en-US" sz="1000" noProof="0" dirty="0"/>
              <a:t>Select Design &gt; Format Background.</a:t>
            </a:r>
          </a:p>
          <a:p>
            <a:pPr marL="162900" indent="-162900" algn="l">
              <a:spcAft>
                <a:spcPts val="600"/>
              </a:spcAft>
              <a:buFont typeface="+mj-lt"/>
              <a:buAutoNum type="arabicPeriod"/>
            </a:pPr>
            <a:r>
              <a:rPr lang="en-US" sz="1000" noProof="0" dirty="0"/>
              <a:t>In the Format Background pane, select Picture or texture fill.</a:t>
            </a:r>
          </a:p>
          <a:p>
            <a:pPr marL="162900" indent="-162900" algn="l">
              <a:spcAft>
                <a:spcPts val="600"/>
              </a:spcAft>
              <a:buFont typeface="+mj-lt"/>
              <a:buAutoNum type="arabicPeriod"/>
            </a:pPr>
            <a:r>
              <a:rPr lang="en-US" sz="1000" noProof="0" dirty="0"/>
              <a:t>Select File.</a:t>
            </a:r>
          </a:p>
          <a:p>
            <a:pPr marL="162900" indent="-162900" algn="l">
              <a:spcAft>
                <a:spcPts val="600"/>
              </a:spcAft>
              <a:buFont typeface="+mj-lt"/>
              <a:buAutoNum type="arabicPeriod"/>
            </a:pPr>
            <a:r>
              <a:rPr lang="en-US" sz="1000" noProof="0" dirty="0"/>
              <a:t>In the Insert Picture dialog box, choose the picture you want to use and then select Insert.</a:t>
            </a:r>
          </a:p>
        </p:txBody>
      </p:sp>
    </p:spTree>
    <p:extLst>
      <p:ext uri="{BB962C8B-B14F-4D97-AF65-F5344CB8AC3E}">
        <p14:creationId xmlns:p14="http://schemas.microsoft.com/office/powerpoint/2010/main" val="1939952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le/chapter, light blue">
    <p:bg>
      <p:bgPr>
        <a:solidFill>
          <a:schemeClr val="accent4"/>
        </a:solidFill>
        <a:effectLst/>
      </p:bgPr>
    </p:bg>
    <p:spTree>
      <p:nvGrpSpPr>
        <p:cNvPr id="1" name=""/>
        <p:cNvGrpSpPr/>
        <p:nvPr/>
      </p:nvGrpSpPr>
      <p:grpSpPr>
        <a:xfrm>
          <a:off x="0" y="0"/>
          <a:ext cx="0" cy="0"/>
          <a:chOff x="0" y="0"/>
          <a:chExt cx="0" cy="0"/>
        </a:xfrm>
      </p:grpSpPr>
      <p:pic>
        <p:nvPicPr>
          <p:cNvPr id="13" name="Bild 12">
            <a:extLst>
              <a:ext uri="{FF2B5EF4-FFF2-40B4-BE49-F238E27FC236}">
                <a16:creationId xmlns:a16="http://schemas.microsoft.com/office/drawing/2014/main" id="{90C470E2-DC28-87C0-F617-C04E8F72383B}"/>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FC84D86F-77A2-B649-9DAB-4D28280CD96F}" type="datetime1">
              <a:rPr lang="sv-SE" smtClean="0"/>
              <a:t>2025-07-14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33083591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chapter, image,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75DBF22-A5DA-3B43-92C3-F6BCD51A4216}" type="datetime1">
              <a:rPr lang="sv-SE" smtClean="0"/>
              <a:t>2025-07-14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195098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Title/chapter, sand">
    <p:bg>
      <p:bgPr>
        <a:solidFill>
          <a:schemeClr val="bg2"/>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3B3563A2-9CD9-4FFB-4072-1AE98552F239}"/>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0F5ACA-7455-4642-BFE0-35A3360E2D3F}" type="datetime1">
              <a:rPr lang="sv-SE" smtClean="0"/>
              <a:t>2025-07-14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689938952"/>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chapter, image,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7029E1-9B44-DE43-98B9-EBAFD8B9E3F1}" type="datetime1">
              <a:rPr lang="sv-SE" smtClean="0"/>
              <a:t>2025-07-14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Tree>
    <p:extLst>
      <p:ext uri="{BB962C8B-B14F-4D97-AF65-F5344CB8AC3E}">
        <p14:creationId xmlns:p14="http://schemas.microsoft.com/office/powerpoint/2010/main" val="3734903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Title/chapter, KTH blue">
    <p:bg>
      <p:bgPr>
        <a:solidFill>
          <a:schemeClr val="accent1"/>
        </a:solidFill>
        <a:effectLst/>
      </p:bgPr>
    </p:bg>
    <p:spTree>
      <p:nvGrpSpPr>
        <p:cNvPr id="1" name=""/>
        <p:cNvGrpSpPr/>
        <p:nvPr/>
      </p:nvGrpSpPr>
      <p:grpSpPr>
        <a:xfrm>
          <a:off x="0" y="0"/>
          <a:ext cx="0" cy="0"/>
          <a:chOff x="0" y="0"/>
          <a:chExt cx="0" cy="0"/>
        </a:xfrm>
      </p:grpSpPr>
      <p:pic>
        <p:nvPicPr>
          <p:cNvPr id="9" name="Bild 8">
            <a:extLst>
              <a:ext uri="{FF2B5EF4-FFF2-40B4-BE49-F238E27FC236}">
                <a16:creationId xmlns:a16="http://schemas.microsoft.com/office/drawing/2014/main" id="{BD7C2495-EEC2-B0B4-E314-5E0AAC7DA05C}"/>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pic>
        <p:nvPicPr>
          <p:cNvPr id="8" name="Bild 7">
            <a:extLst>
              <a:ext uri="{FF2B5EF4-FFF2-40B4-BE49-F238E27FC236}">
                <a16:creationId xmlns:a16="http://schemas.microsoft.com/office/drawing/2014/main" id="{2A6CC77B-C027-6CAF-7D4C-2E3A15A51698}"/>
              </a:ext>
            </a:extLst>
          </p:cNvPr>
          <p:cNvPicPr>
            <a:picLocks noChangeAspect="1"/>
          </p:cNvPicPr>
          <p:nvPr userDrawn="1"/>
        </p:nvPicPr>
        <p:blipFill>
          <a:blip r:embed="rId4">
            <a:extLst>
              <a:ext uri="{96DAC541-7B7A-43D3-8B79-37D633B846F1}">
                <asvg:svgBlip xmlns:asvg="http://schemas.microsoft.com/office/drawing/2016/SVG/main" xmlns="" r:embed="rId5"/>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EECCBBAF-5C49-D145-9814-61A8103632A9}" type="datetime1">
              <a:rPr lang="sv-SE" smtClean="0"/>
              <a:t>2025-07-14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1096779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KTH blue">
    <p:bg>
      <p:bgPr>
        <a:solidFill>
          <a:schemeClr val="accent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823D8581-A4D9-BE4A-AEA5-9282CF05EB42}" type="datetime1">
              <a:rPr lang="sv-SE" smtClean="0"/>
              <a:t>2025-07-14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pic>
        <p:nvPicPr>
          <p:cNvPr id="9" name="Bild 8">
            <a:extLst>
              <a:ext uri="{FF2B5EF4-FFF2-40B4-BE49-F238E27FC236}">
                <a16:creationId xmlns:a16="http://schemas.microsoft.com/office/drawing/2014/main" id="{B9CCB106-B724-D4FC-9180-F2081684D467}"/>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3070710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Title/chapter,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E5884329-1698-379E-55B0-296699708BB2}"/>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08C894E9-0885-714C-A367-BDC2DC59BB91}" type="datetime1">
              <a:rPr lang="sv-SE" smtClean="0"/>
              <a:t>2025-07-14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pic>
        <p:nvPicPr>
          <p:cNvPr id="9" name="Bild 8">
            <a:extLst>
              <a:ext uri="{FF2B5EF4-FFF2-40B4-BE49-F238E27FC236}">
                <a16:creationId xmlns:a16="http://schemas.microsoft.com/office/drawing/2014/main" id="{E3DA9A33-1CAA-3164-6E44-47421CD08E03}"/>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650629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navy blue">
    <p:bg>
      <p:bgPr>
        <a:solidFill>
          <a:schemeClr val="accent3"/>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E926FF3D-704F-D246-9E92-4739AF4BF32C}" type="datetime1">
              <a:rPr lang="sv-SE" smtClean="0"/>
              <a:t>2025-07-14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pic>
        <p:nvPicPr>
          <p:cNvPr id="9" name="Bild 8">
            <a:extLst>
              <a:ext uri="{FF2B5EF4-FFF2-40B4-BE49-F238E27FC236}">
                <a16:creationId xmlns:a16="http://schemas.microsoft.com/office/drawing/2014/main" id="{EACB4A23-3C87-4C5A-07DC-8116B46C6C7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592994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Headline and conten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2025-07-14</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78780645"/>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Headline and content, blue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795850"/>
            <a:ext cx="8805181"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E2AD36EE-D7EC-624A-BB6C-F8DADCB0E6B6}" type="datetime1">
              <a:rPr lang="sv-SE" smtClean="0"/>
              <a:t>2025-07-14</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027229708"/>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Headline and content, sand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CEEB1428-F34F-9743-B7C9-0212F6B23615}" type="datetime1">
              <a:rPr lang="sv-SE" smtClean="0"/>
              <a:t>2025-07-14</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10830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Headline and content, light blue ">
    <p:bg>
      <p:bgPr>
        <a:solidFill>
          <a:schemeClr val="accent4"/>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05182"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117AD585-73D1-4C4C-9D7C-030D27625895}" type="datetime1">
              <a:rPr lang="sv-SE" smtClean="0"/>
              <a:t>2025-07-14</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526984783"/>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Headline and content, sand">
    <p:bg>
      <p:bgPr>
        <a:solidFill>
          <a:schemeClr val="bg2"/>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750754"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07E8514D-D455-9E46-BC18-4265F6A85EC5}" type="datetime1">
              <a:rPr lang="sv-SE" smtClean="0"/>
              <a:t>2025-07-14</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850852257"/>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4959C9-2F76-B9B0-59E8-58FE65006E5D}"/>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902AE670-4D80-39DE-5AAA-236D68C5E4FE}"/>
              </a:ext>
            </a:extLst>
          </p:cNvPr>
          <p:cNvSpPr>
            <a:spLocks noGrp="1"/>
          </p:cNvSpPr>
          <p:nvPr>
            <p:ph sz="half" idx="1"/>
          </p:nvPr>
        </p:nvSpPr>
        <p:spPr>
          <a:xfrm>
            <a:off x="600075" y="1795850"/>
            <a:ext cx="5314950" cy="453192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innehåll 3">
            <a:extLst>
              <a:ext uri="{FF2B5EF4-FFF2-40B4-BE49-F238E27FC236}">
                <a16:creationId xmlns:a16="http://schemas.microsoft.com/office/drawing/2014/main" id="{540C6723-9D57-3BE7-0314-142789CF9371}"/>
              </a:ext>
            </a:extLst>
          </p:cNvPr>
          <p:cNvSpPr>
            <a:spLocks noGrp="1"/>
          </p:cNvSpPr>
          <p:nvPr>
            <p:ph sz="half" idx="2"/>
          </p:nvPr>
        </p:nvSpPr>
        <p:spPr>
          <a:xfrm>
            <a:off x="6275388" y="1795851"/>
            <a:ext cx="5314950" cy="453192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datum 4">
            <a:extLst>
              <a:ext uri="{FF2B5EF4-FFF2-40B4-BE49-F238E27FC236}">
                <a16:creationId xmlns:a16="http://schemas.microsoft.com/office/drawing/2014/main" id="{E2533F65-F144-E57C-127B-9A8D7ABE671A}"/>
              </a:ext>
            </a:extLst>
          </p:cNvPr>
          <p:cNvSpPr>
            <a:spLocks noGrp="1"/>
          </p:cNvSpPr>
          <p:nvPr>
            <p:ph type="dt" sz="half" idx="10"/>
          </p:nvPr>
        </p:nvSpPr>
        <p:spPr/>
        <p:txBody>
          <a:bodyPr/>
          <a:lstStyle/>
          <a:p>
            <a:fld id="{A67A58AE-A0B6-FF4E-B30B-64917FEAC316}" type="datetime1">
              <a:rPr lang="sv-SE" smtClean="0"/>
              <a:t>2025-07-14</a:t>
            </a:fld>
            <a:endParaRPr lang="sv-SE"/>
          </a:p>
        </p:txBody>
      </p:sp>
      <p:sp>
        <p:nvSpPr>
          <p:cNvPr id="6" name="Platshållare för sidfot 5">
            <a:extLst>
              <a:ext uri="{FF2B5EF4-FFF2-40B4-BE49-F238E27FC236}">
                <a16:creationId xmlns:a16="http://schemas.microsoft.com/office/drawing/2014/main" id="{F6C0DB15-F374-5A00-4880-4AA76C675F94}"/>
              </a:ext>
            </a:extLst>
          </p:cNvPr>
          <p:cNvSpPr>
            <a:spLocks noGrp="1"/>
          </p:cNvSpPr>
          <p:nvPr>
            <p:ph type="ftr" sz="quarter" idx="11"/>
          </p:nvPr>
        </p:nvSpPr>
        <p:spPr/>
        <p:txBody>
          <a:bodyPr/>
          <a:lstStyle/>
          <a:p>
            <a:r>
              <a:rPr lang="sv-SE"/>
              <a:t>Presentation footer</a:t>
            </a:r>
          </a:p>
        </p:txBody>
      </p:sp>
      <p:sp>
        <p:nvSpPr>
          <p:cNvPr id="7" name="Platshållare för bildnummer 6">
            <a:extLst>
              <a:ext uri="{FF2B5EF4-FFF2-40B4-BE49-F238E27FC236}">
                <a16:creationId xmlns:a16="http://schemas.microsoft.com/office/drawing/2014/main" id="{12539EF3-2889-FC04-31FC-8AF48EAFC002}"/>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548705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parts, subheader">
    <p:spTree>
      <p:nvGrpSpPr>
        <p:cNvPr id="1" name=""/>
        <p:cNvGrpSpPr/>
        <p:nvPr/>
      </p:nvGrpSpPr>
      <p:grpSpPr>
        <a:xfrm>
          <a:off x="0" y="0"/>
          <a:ext cx="0" cy="0"/>
          <a:chOff x="0" y="0"/>
          <a:chExt cx="0" cy="0"/>
        </a:xfrm>
      </p:grpSpPr>
      <p:sp>
        <p:nvSpPr>
          <p:cNvPr id="10" name="Rubrik 9">
            <a:extLst>
              <a:ext uri="{FF2B5EF4-FFF2-40B4-BE49-F238E27FC236}">
                <a16:creationId xmlns:a16="http://schemas.microsoft.com/office/drawing/2014/main" id="{C63C1EB8-E569-DA98-4D95-5FC12FB4C459}"/>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8DE1978A-D59D-BEB3-3574-B37CA68E4323}"/>
              </a:ext>
            </a:extLst>
          </p:cNvPr>
          <p:cNvSpPr>
            <a:spLocks noGrp="1"/>
          </p:cNvSpPr>
          <p:nvPr>
            <p:ph type="body" idx="1"/>
          </p:nvPr>
        </p:nvSpPr>
        <p:spPr>
          <a:xfrm>
            <a:off x="600075"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Platshållare för innehåll 3">
            <a:extLst>
              <a:ext uri="{FF2B5EF4-FFF2-40B4-BE49-F238E27FC236}">
                <a16:creationId xmlns:a16="http://schemas.microsoft.com/office/drawing/2014/main" id="{3FDE66B4-4491-C676-4004-9327D92F0111}"/>
              </a:ext>
            </a:extLst>
          </p:cNvPr>
          <p:cNvSpPr>
            <a:spLocks noGrp="1"/>
          </p:cNvSpPr>
          <p:nvPr>
            <p:ph sz="half" idx="2"/>
          </p:nvPr>
        </p:nvSpPr>
        <p:spPr>
          <a:xfrm>
            <a:off x="600075" y="2179165"/>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text 4">
            <a:extLst>
              <a:ext uri="{FF2B5EF4-FFF2-40B4-BE49-F238E27FC236}">
                <a16:creationId xmlns:a16="http://schemas.microsoft.com/office/drawing/2014/main" id="{F55884CC-21E7-90D7-61AB-0459599D097A}"/>
              </a:ext>
            </a:extLst>
          </p:cNvPr>
          <p:cNvSpPr>
            <a:spLocks noGrp="1"/>
          </p:cNvSpPr>
          <p:nvPr>
            <p:ph type="body" sz="quarter" idx="3"/>
          </p:nvPr>
        </p:nvSpPr>
        <p:spPr>
          <a:xfrm>
            <a:off x="6275388"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Platshållare för innehåll 5">
            <a:extLst>
              <a:ext uri="{FF2B5EF4-FFF2-40B4-BE49-F238E27FC236}">
                <a16:creationId xmlns:a16="http://schemas.microsoft.com/office/drawing/2014/main" id="{C9A9E6FC-CBB8-1BD8-F388-D4BAEC7E1F13}"/>
              </a:ext>
            </a:extLst>
          </p:cNvPr>
          <p:cNvSpPr>
            <a:spLocks noGrp="1"/>
          </p:cNvSpPr>
          <p:nvPr>
            <p:ph sz="quarter" idx="4"/>
          </p:nvPr>
        </p:nvSpPr>
        <p:spPr>
          <a:xfrm>
            <a:off x="6275388" y="2179163"/>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datum 6">
            <a:extLst>
              <a:ext uri="{FF2B5EF4-FFF2-40B4-BE49-F238E27FC236}">
                <a16:creationId xmlns:a16="http://schemas.microsoft.com/office/drawing/2014/main" id="{CAFDD56A-1297-3792-8143-D555882FE2CA}"/>
              </a:ext>
            </a:extLst>
          </p:cNvPr>
          <p:cNvSpPr>
            <a:spLocks noGrp="1"/>
          </p:cNvSpPr>
          <p:nvPr>
            <p:ph type="dt" sz="half" idx="10"/>
          </p:nvPr>
        </p:nvSpPr>
        <p:spPr/>
        <p:txBody>
          <a:bodyPr/>
          <a:lstStyle/>
          <a:p>
            <a:fld id="{3626A2DA-BD88-784C-A132-57FFB928491A}" type="datetime1">
              <a:rPr lang="sv-SE" smtClean="0"/>
              <a:t>2025-07-14</a:t>
            </a:fld>
            <a:endParaRPr lang="sv-SE"/>
          </a:p>
        </p:txBody>
      </p:sp>
      <p:sp>
        <p:nvSpPr>
          <p:cNvPr id="8" name="Platshållare för sidfot 7">
            <a:extLst>
              <a:ext uri="{FF2B5EF4-FFF2-40B4-BE49-F238E27FC236}">
                <a16:creationId xmlns:a16="http://schemas.microsoft.com/office/drawing/2014/main" id="{A57BD6EF-A167-CE86-7A77-2162641605FD}"/>
              </a:ext>
            </a:extLst>
          </p:cNvPr>
          <p:cNvSpPr>
            <a:spLocks noGrp="1"/>
          </p:cNvSpPr>
          <p:nvPr>
            <p:ph type="ftr" sz="quarter" idx="11"/>
          </p:nvPr>
        </p:nvSpPr>
        <p:spPr/>
        <p:txBody>
          <a:bodyPr/>
          <a:lstStyle/>
          <a:p>
            <a:r>
              <a:rPr lang="sv-SE"/>
              <a:t>Presentation footer</a:t>
            </a:r>
          </a:p>
        </p:txBody>
      </p:sp>
      <p:sp>
        <p:nvSpPr>
          <p:cNvPr id="9" name="Platshållare för bildnummer 8">
            <a:extLst>
              <a:ext uri="{FF2B5EF4-FFF2-40B4-BE49-F238E27FC236}">
                <a16:creationId xmlns:a16="http://schemas.microsoft.com/office/drawing/2014/main" id="{CDB4B22B-EE55-F7F6-4734-928F7B66EC5D}"/>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19761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7" name="Rubrik 6">
            <a:extLst>
              <a:ext uri="{FF2B5EF4-FFF2-40B4-BE49-F238E27FC236}">
                <a16:creationId xmlns:a16="http://schemas.microsoft.com/office/drawing/2014/main" id="{9B9D78B8-14EA-7C8B-0F6E-5FC0A61A7676}"/>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6" name="Platshållare för innehåll 2">
            <a:extLst>
              <a:ext uri="{FF2B5EF4-FFF2-40B4-BE49-F238E27FC236}">
                <a16:creationId xmlns:a16="http://schemas.microsoft.com/office/drawing/2014/main" id="{C8E71948-DDFC-93D6-07D4-FA5E9923A9C4}"/>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2">
            <a:extLst>
              <a:ext uri="{FF2B5EF4-FFF2-40B4-BE49-F238E27FC236}">
                <a16:creationId xmlns:a16="http://schemas.microsoft.com/office/drawing/2014/main" id="{A51C4AA9-7CC2-70C9-89B3-A18AC9ECAA3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AC15C714-122B-4048-9D2D-1F5A3BEA504A}" type="datetime1">
              <a:rPr lang="sv-SE" smtClean="0"/>
              <a:t>2025-07-14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6226858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light blue">
    <p:bg>
      <p:bgPr>
        <a:solidFill>
          <a:schemeClr val="accent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E53B21-3BB0-7776-1C8F-14570934732F}"/>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0" name="Rubrik 1">
            <a:extLst>
              <a:ext uri="{FF2B5EF4-FFF2-40B4-BE49-F238E27FC236}">
                <a16:creationId xmlns:a16="http://schemas.microsoft.com/office/drawing/2014/main" id="{70BAD773-C5A8-1DD6-DAEF-296346C1E1B4}"/>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8" name="Platshållare för innehåll 1">
            <a:extLst>
              <a:ext uri="{FF2B5EF4-FFF2-40B4-BE49-F238E27FC236}">
                <a16:creationId xmlns:a16="http://schemas.microsoft.com/office/drawing/2014/main" id="{9E21FC13-6345-3248-A947-DE8A8903EE8D}"/>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11" name="Rubrik 2">
            <a:extLst>
              <a:ext uri="{FF2B5EF4-FFF2-40B4-BE49-F238E27FC236}">
                <a16:creationId xmlns:a16="http://schemas.microsoft.com/office/drawing/2014/main" id="{45E054D9-4635-C7AD-5248-012C9290BBA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9" name="Platshållare för innehåll 2">
            <a:extLst>
              <a:ext uri="{FF2B5EF4-FFF2-40B4-BE49-F238E27FC236}">
                <a16:creationId xmlns:a16="http://schemas.microsoft.com/office/drawing/2014/main" id="{08973148-6FE0-2E5B-CDAC-B5A8EFA5DCA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EE5E874D-60F8-8B45-B36B-3029A6FA7FCB}" type="datetime1">
              <a:rPr lang="sv-SE" smtClean="0"/>
              <a:t>2025-07-14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179425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sand">
    <p:bg>
      <p:bgPr>
        <a:solidFill>
          <a:schemeClr val="bg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D98A3471-E78E-5A25-CDCD-A70A1BA88DD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A2A70668-AB85-7E63-22C0-B9431D72BC07}"/>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65773533-9418-9BC8-07BE-DE1982D8EE15}"/>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592051F6-14B7-8364-56E9-FC036767257B}"/>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F2B79C1-A27F-5DA9-D1F0-FC96C9A68BC7}"/>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7FE3A002-8AA0-194E-81B1-1ADE5B52840E}" type="datetime1">
              <a:rPr lang="sv-SE" smtClean="0"/>
              <a:t>2025-07-14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616948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KTH blue">
    <p:bg>
      <p:bgPr>
        <a:solidFill>
          <a:schemeClr val="accent1"/>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83C6AD54-EED3-3960-39F1-6C44C49ED29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3B85E6DD-F8DF-4BBD-E46A-52EC6D703C63}"/>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DD1CE06C-E8A4-9360-B155-3B7D11D411E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CC32D746-BC2A-D4E0-4FDE-8026A3339744}"/>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0B6CAC2E-851A-9B60-91F5-AEEA25AB753E}"/>
              </a:ext>
            </a:extLst>
          </p:cNvPr>
          <p:cNvSpPr>
            <a:spLocks noGrp="1"/>
          </p:cNvSpPr>
          <p:nvPr>
            <p:ph sz="half" idx="13"/>
          </p:nvPr>
        </p:nvSpPr>
        <p:spPr>
          <a:xfrm>
            <a:off x="6661947" y="2281473"/>
            <a:ext cx="4928391" cy="4046300"/>
          </a:xfrm>
        </p:spPr>
        <p:txBody>
          <a:bodyPr/>
          <a:lstStyle>
            <a:lvl1pPr>
              <a:buClr>
                <a:schemeClr val="accent2"/>
              </a:buCl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B003E109-5503-A446-83DE-4F0349794E27}" type="datetime1">
              <a:rPr lang="sv-SE" smtClean="0"/>
              <a:t>2025-07-14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3715672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navy blue">
    <p:bg>
      <p:bgPr>
        <a:solidFill>
          <a:schemeClr val="tx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4BFF3707-BCF8-3B40-4A6E-BB485A3058DD}"/>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7E30C4E1-FD13-FB51-43E8-4F36CF652781}"/>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E649F8F8-B8DB-7C5C-A600-75F519BA5D5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D24132AE-47F1-716B-6975-B6DE84BD7143}"/>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C2860E0A-4616-275E-6EEB-5B0EBBD9F7E3}"/>
              </a:ext>
            </a:extLst>
          </p:cNvPr>
          <p:cNvSpPr>
            <a:spLocks noGrp="1"/>
          </p:cNvSpPr>
          <p:nvPr>
            <p:ph sz="half" idx="13"/>
          </p:nvPr>
        </p:nvSpPr>
        <p:spPr>
          <a:xfrm>
            <a:off x="6661947" y="2281473"/>
            <a:ext cx="4928391" cy="4046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1F9706F9-3770-3C47-9C0E-E405B1F87DBD}" type="datetime1">
              <a:rPr lang="sv-SE" smtClean="0"/>
              <a:t>2025-07-14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3430972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green">
    <p:bg>
      <p:bgPr>
        <a:solidFill>
          <a:srgbClr val="C7EBBA"/>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498978-27A1-BC36-D1C0-F12E64FC5C0E}"/>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58CDF499-9790-E8A2-3B44-8DDFA267A94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86430320-1A4F-412F-300A-456151767E30}"/>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B510906-94F4-6B14-FDC7-76CDBAF81A1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334025BC-079F-EA86-F798-CAD6618E645E}"/>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E503FC7-D8F6-4243-8CCB-9A739180F56A}" type="datetime1">
              <a:rPr lang="sv-SE" smtClean="0"/>
              <a:t>2025-07-14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12125025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teal">
    <p:bg>
      <p:bgPr>
        <a:solidFill>
          <a:srgbClr val="B2E0E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925A3E22-BA62-7F69-450C-20B52F594B7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E1E07B9C-02BD-AC56-ABC5-455CEBB24AC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22D67319-CD30-B99B-C636-4905BD0CE9D9}"/>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FE151B58-3B63-330E-7BE5-9A36F8D82000}"/>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1BA7EFEF-D6C1-C9F7-8504-107188FC0566}"/>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719EDF7-C24A-7E4C-9EBB-98C778ECC35A}" type="datetime1">
              <a:rPr lang="sv-SE" smtClean="0"/>
              <a:t>2025-07-14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9062174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red">
    <p:bg>
      <p:bgPr>
        <a:solidFill>
          <a:srgbClr val="FFCCC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0A12FA56-217E-78A9-0201-C28109AB8E9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214F56B9-DEF6-409D-736C-E96172170452}"/>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C0ECC4A3-C076-B625-7E77-9DE3F047B9BB}"/>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0A9AF8D0-B58B-0439-D162-96136F7DA0C7}"/>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C163C54-5959-5606-C36B-9E364C931E73}"/>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DB96772-CADE-B345-804B-3DF93A11AE0A}" type="datetime1">
              <a:rPr lang="sv-SE" smtClean="0"/>
              <a:t>2025-07-14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4178440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yellow">
    <p:bg>
      <p:bgPr>
        <a:solidFill>
          <a:srgbClr val="FFF0B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A5D08FD5-CEDA-760E-6063-D0EA59B0D67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F9485CCE-1723-48F8-36F7-B271C8911C85}"/>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020AD7BA-30E7-614D-F529-872AA9BB7A1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76FF026-F97C-9444-5B6A-C4AF50690ADD}"/>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93803107-D46C-D12D-AAD7-E84641384E1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69F8B43-28B6-0949-93DC-6B291391CFD4}" type="datetime1">
              <a:rPr lang="sv-SE" smtClean="0"/>
              <a:t>2025-07-14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650259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line and 1 imag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4" y="1919288"/>
            <a:ext cx="10990263"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450A6BD-1EFB-BD42-9DC0-F0A6BEB4C27D}" type="datetime1">
              <a:rPr lang="sv-SE" smtClean="0"/>
              <a:t>2025-07-14</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566691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ADBDFCF2-2839-8D4F-B5E5-9B488CE2E4EE}" type="datetime1">
              <a:rPr lang="sv-SE" smtClean="0"/>
              <a:t>2025-07-14</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06981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text 2">
            <a:extLst>
              <a:ext uri="{FF2B5EF4-FFF2-40B4-BE49-F238E27FC236}">
                <a16:creationId xmlns:a16="http://schemas.microsoft.com/office/drawing/2014/main" id="{BC674729-23CB-CE55-418D-9B4DA58EC148}"/>
              </a:ext>
            </a:extLst>
          </p:cNvPr>
          <p:cNvSpPr>
            <a:spLocks noGrp="1"/>
          </p:cNvSpPr>
          <p:nvPr>
            <p:ph type="body" sz="quarter" idx="16"/>
          </p:nvPr>
        </p:nvSpPr>
        <p:spPr>
          <a:xfrm>
            <a:off x="600075"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3">
            <a:extLst>
              <a:ext uri="{FF2B5EF4-FFF2-40B4-BE49-F238E27FC236}">
                <a16:creationId xmlns:a16="http://schemas.microsoft.com/office/drawing/2014/main" id="{4E2E81CD-B9BA-4D4B-D687-9453DEF10687}"/>
              </a:ext>
            </a:extLst>
          </p:cNvPr>
          <p:cNvSpPr>
            <a:spLocks noGrp="1"/>
          </p:cNvSpPr>
          <p:nvPr>
            <p:ph type="body" sz="quarter" idx="17"/>
          </p:nvPr>
        </p:nvSpPr>
        <p:spPr>
          <a:xfrm>
            <a:off x="6275388"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47A9746E-62D8-944D-99B0-D98695592DCF}" type="datetime1">
              <a:rPr lang="sv-SE" smtClean="0"/>
              <a:t>2025-07-14</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4697270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C42A3C6-0141-7544-8502-44E44E5AD51F}" type="datetime1">
              <a:rPr lang="sv-SE" smtClean="0"/>
              <a:t>2025-07-14</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2197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E8F9620A-7B37-2787-0C61-0CB4A6519E3C}"/>
              </a:ext>
            </a:extLst>
          </p:cNvPr>
          <p:cNvSpPr>
            <a:spLocks noGrp="1"/>
          </p:cNvSpPr>
          <p:nvPr>
            <p:ph type="body" sz="quarter" idx="16"/>
          </p:nvPr>
        </p:nvSpPr>
        <p:spPr>
          <a:xfrm>
            <a:off x="600075"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1" name="Platshållare för text 3">
            <a:extLst>
              <a:ext uri="{FF2B5EF4-FFF2-40B4-BE49-F238E27FC236}">
                <a16:creationId xmlns:a16="http://schemas.microsoft.com/office/drawing/2014/main" id="{81E59C72-4325-9697-1B8F-6876044359F2}"/>
              </a:ext>
            </a:extLst>
          </p:cNvPr>
          <p:cNvSpPr>
            <a:spLocks noGrp="1"/>
          </p:cNvSpPr>
          <p:nvPr>
            <p:ph type="body" sz="quarter" idx="17"/>
          </p:nvPr>
        </p:nvSpPr>
        <p:spPr>
          <a:xfrm>
            <a:off x="4383881"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2" name="Platshållare för text 4">
            <a:extLst>
              <a:ext uri="{FF2B5EF4-FFF2-40B4-BE49-F238E27FC236}">
                <a16:creationId xmlns:a16="http://schemas.microsoft.com/office/drawing/2014/main" id="{04B71E10-09CE-4F1F-5969-3DD959F0102C}"/>
              </a:ext>
            </a:extLst>
          </p:cNvPr>
          <p:cNvSpPr>
            <a:spLocks noGrp="1"/>
          </p:cNvSpPr>
          <p:nvPr>
            <p:ph type="body" sz="quarter" idx="18"/>
          </p:nvPr>
        </p:nvSpPr>
        <p:spPr>
          <a:xfrm>
            <a:off x="8167687"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5A8E03F6-2D99-9C4F-8DF5-D169CFDD1A0C}" type="datetime1">
              <a:rPr lang="sv-SE" smtClean="0"/>
              <a:t>2025-07-14</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7029571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4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8AF63115-71BE-3E46-BB5A-A4600F1506C7}" type="datetime1">
              <a:rPr lang="sv-SE" smtClean="0"/>
              <a:t>2025-07-14</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357120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4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D90C2B5D-CFFA-002C-8403-A5BA4FD6C513}"/>
              </a:ext>
            </a:extLst>
          </p:cNvPr>
          <p:cNvSpPr>
            <a:spLocks noGrp="1"/>
          </p:cNvSpPr>
          <p:nvPr>
            <p:ph type="body" sz="quarter" idx="17"/>
          </p:nvPr>
        </p:nvSpPr>
        <p:spPr>
          <a:xfrm>
            <a:off x="600075"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Platshållare för text 3">
            <a:extLst>
              <a:ext uri="{FF2B5EF4-FFF2-40B4-BE49-F238E27FC236}">
                <a16:creationId xmlns:a16="http://schemas.microsoft.com/office/drawing/2014/main" id="{F4E32133-1B05-00E9-FC72-16105F20E5D8}"/>
              </a:ext>
            </a:extLst>
          </p:cNvPr>
          <p:cNvSpPr>
            <a:spLocks noGrp="1"/>
          </p:cNvSpPr>
          <p:nvPr>
            <p:ph type="body" sz="quarter" idx="18"/>
          </p:nvPr>
        </p:nvSpPr>
        <p:spPr>
          <a:xfrm>
            <a:off x="3446727"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5" name="Platshållare för text 4">
            <a:extLst>
              <a:ext uri="{FF2B5EF4-FFF2-40B4-BE49-F238E27FC236}">
                <a16:creationId xmlns:a16="http://schemas.microsoft.com/office/drawing/2014/main" id="{9FBEA034-4378-57AD-9BAA-D23952A616CE}"/>
              </a:ext>
            </a:extLst>
          </p:cNvPr>
          <p:cNvSpPr>
            <a:spLocks noGrp="1"/>
          </p:cNvSpPr>
          <p:nvPr>
            <p:ph type="body" sz="quarter" idx="19"/>
          </p:nvPr>
        </p:nvSpPr>
        <p:spPr>
          <a:xfrm>
            <a:off x="6293379"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6" name="Platshållare för text 5">
            <a:extLst>
              <a:ext uri="{FF2B5EF4-FFF2-40B4-BE49-F238E27FC236}">
                <a16:creationId xmlns:a16="http://schemas.microsoft.com/office/drawing/2014/main" id="{06D592E5-8C13-50D1-1CCC-8F6917A28780}"/>
              </a:ext>
            </a:extLst>
          </p:cNvPr>
          <p:cNvSpPr>
            <a:spLocks noGrp="1"/>
          </p:cNvSpPr>
          <p:nvPr>
            <p:ph type="body" sz="quarter" idx="20"/>
          </p:nvPr>
        </p:nvSpPr>
        <p:spPr>
          <a:xfrm>
            <a:off x="9140030"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09FED66-59CE-6445-BA05-B37954B8CE47}" type="datetime1">
              <a:rPr lang="sv-SE" smtClean="0"/>
              <a:t>2025-07-14</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483866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8C332B6B-9A86-944B-B689-8453757791DF}" type="datetime1">
              <a:rPr lang="sv-SE" smtClean="0"/>
              <a:t>2025-07-14</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Tree>
    <p:extLst>
      <p:ext uri="{BB962C8B-B14F-4D97-AF65-F5344CB8AC3E}">
        <p14:creationId xmlns:p14="http://schemas.microsoft.com/office/powerpoint/2010/main" val="40127707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line only, light blue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957E16A-1246-F744-BDA8-D5896FB385F8}" type="datetime1">
              <a:rPr lang="sv-SE" smtClean="0"/>
              <a:t>2025-07-14</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2CD49F62-B17F-4256-87E8-B48CEC1AECF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4285149322"/>
      </p:ext>
    </p:extLst>
  </p:cSld>
  <p:clrMapOvr>
    <a:masterClrMapping/>
  </p:clrMapOvr>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line only, sand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8888E78-A3E8-2E47-A37C-B0DACC4AC38C}" type="datetime1">
              <a:rPr lang="sv-SE" smtClean="0"/>
              <a:t>2025-07-14</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70BC9548-E26C-77A2-1994-5B2D723366A9}"/>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567527219"/>
      </p:ext>
    </p:extLst>
  </p:cSld>
  <p:clrMapOvr>
    <a:masterClrMapping/>
  </p:clrMapOvr>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line only,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AC1801B8-2ABD-E645-B0F3-2F4D3FFFF5AE}" type="datetime1">
              <a:rPr lang="sv-SE" smtClean="0"/>
              <a:t>2025-07-14</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C21FC7DD-9D09-44CA-0597-9DEB74E2004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776879057"/>
      </p:ext>
    </p:extLst>
  </p:cSld>
  <p:clrMapOvr>
    <a:masterClrMapping/>
  </p:clrMapOvr>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eadline only,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64FA935-6078-184F-946C-D8B2130A7BC4}" type="datetime1">
              <a:rPr lang="sv-SE" smtClean="0"/>
              <a:t>2025-07-14</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B0E08DE0-7713-2F89-9CAE-718563F453A7}"/>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2293152745"/>
      </p:ext>
    </p:extLst>
  </p:cSld>
  <p:clrMapOvr>
    <a:masterClrMapping/>
  </p:clrMapOvr>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CB35DBFB-5CDF-E32D-0562-6D92213809A1}"/>
              </a:ext>
            </a:extLst>
          </p:cNvPr>
          <p:cNvSpPr>
            <a:spLocks noGrp="1"/>
          </p:cNvSpPr>
          <p:nvPr>
            <p:ph type="dt" sz="half" idx="10"/>
          </p:nvPr>
        </p:nvSpPr>
        <p:spPr/>
        <p:txBody>
          <a:bodyPr/>
          <a:lstStyle/>
          <a:p>
            <a:fld id="{878DDE6C-6786-8C48-9317-AF0776715ACF}" type="datetime1">
              <a:rPr lang="sv-SE" smtClean="0"/>
              <a:t>2025-07-14</a:t>
            </a:fld>
            <a:endParaRPr lang="sv-SE"/>
          </a:p>
        </p:txBody>
      </p:sp>
      <p:sp>
        <p:nvSpPr>
          <p:cNvPr id="3" name="Platshållare för sidfot 2">
            <a:extLst>
              <a:ext uri="{FF2B5EF4-FFF2-40B4-BE49-F238E27FC236}">
                <a16:creationId xmlns:a16="http://schemas.microsoft.com/office/drawing/2014/main" id="{9757DD51-31A9-0B97-878B-DC725BEF456D}"/>
              </a:ext>
            </a:extLst>
          </p:cNvPr>
          <p:cNvSpPr>
            <a:spLocks noGrp="1"/>
          </p:cNvSpPr>
          <p:nvPr>
            <p:ph type="ftr" sz="quarter" idx="11"/>
          </p:nvPr>
        </p:nvSpPr>
        <p:spPr/>
        <p:txBody>
          <a:bodyPr/>
          <a:lstStyle/>
          <a:p>
            <a:r>
              <a:rPr lang="sv-SE"/>
              <a:t>Presentation footer</a:t>
            </a:r>
          </a:p>
        </p:txBody>
      </p:sp>
      <p:sp>
        <p:nvSpPr>
          <p:cNvPr id="4" name="Platshållare för bildnummer 3">
            <a:extLst>
              <a:ext uri="{FF2B5EF4-FFF2-40B4-BE49-F238E27FC236}">
                <a16:creationId xmlns:a16="http://schemas.microsoft.com/office/drawing/2014/main" id="{49810C51-F518-224E-FB91-8421FD7D6879}"/>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1349400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Headline and content,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366838"/>
            <a:ext cx="10990263" cy="495931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2025-07-14</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605808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eadline only,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2025-07-14</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2833364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chemeClr val="accent1"/>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A3328FD-6257-AC43-9CE4-2903A4D2BB9D}" type="datetime1">
              <a:rPr lang="sv-SE" smtClean="0"/>
              <a:t>2025-07-14</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B31C6E16-A8C5-A850-CB5B-D4A530D7DE27}"/>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4EDED1D2-CC81-27E6-259D-AC4805594BE1}"/>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23260593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Logo, navy blue">
    <p:bg>
      <p:bgPr>
        <a:solidFill>
          <a:schemeClr val="tx2"/>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2BABC24-2A82-014C-9256-A51302708EE4}" type="datetime1">
              <a:rPr lang="sv-SE" smtClean="0"/>
              <a:t>2025-07-14</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0D27DED8-EA09-1EA2-8C8D-DCB1C9F0377C}"/>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004E1202-DA06-9B02-2B87-6713C953C357}"/>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41503116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ow to use template">
    <p:spTree>
      <p:nvGrpSpPr>
        <p:cNvPr id="1" name=""/>
        <p:cNvGrpSpPr/>
        <p:nvPr/>
      </p:nvGrpSpPr>
      <p:grpSpPr>
        <a:xfrm>
          <a:off x="0" y="0"/>
          <a:ext cx="0" cy="0"/>
          <a:chOff x="0" y="0"/>
          <a:chExt cx="0" cy="0"/>
        </a:xfrm>
      </p:grpSpPr>
      <p:grpSp>
        <p:nvGrpSpPr>
          <p:cNvPr id="16" name="Grupp 15">
            <a:extLst>
              <a:ext uri="{FF2B5EF4-FFF2-40B4-BE49-F238E27FC236}">
                <a16:creationId xmlns:a16="http://schemas.microsoft.com/office/drawing/2014/main" id="{CE19B76B-69BE-2CE8-2691-D7F57CA2A986}"/>
              </a:ext>
            </a:extLst>
          </p:cNvPr>
          <p:cNvGrpSpPr>
            <a:grpSpLocks noChangeAspect="1"/>
          </p:cNvGrpSpPr>
          <p:nvPr userDrawn="1"/>
        </p:nvGrpSpPr>
        <p:grpSpPr>
          <a:xfrm>
            <a:off x="2347236" y="2028884"/>
            <a:ext cx="1806522" cy="3150398"/>
            <a:chOff x="3971925" y="-1798194"/>
            <a:chExt cx="6248400" cy="10896600"/>
          </a:xfrm>
        </p:grpSpPr>
        <p:pic>
          <p:nvPicPr>
            <p:cNvPr id="13" name="Bildobjekt 12" descr="En bild som visar text, skärmbild, programvara, diagram&#10;&#10;Automatiskt genererad beskrivning">
              <a:extLst>
                <a:ext uri="{FF2B5EF4-FFF2-40B4-BE49-F238E27FC236}">
                  <a16:creationId xmlns:a16="http://schemas.microsoft.com/office/drawing/2014/main" id="{77182B8F-9D5B-E130-993A-698BFACD82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71925" y="3650106"/>
              <a:ext cx="6248400" cy="5448300"/>
            </a:xfrm>
            <a:prstGeom prst="rect">
              <a:avLst/>
            </a:prstGeom>
          </p:spPr>
        </p:pic>
        <p:pic>
          <p:nvPicPr>
            <p:cNvPr id="15" name="Bildobjekt 14" descr="En bild som visar text, skärmbild, programvara, Datorikon&#10;&#10;Automatiskt genererad beskrivning">
              <a:extLst>
                <a:ext uri="{FF2B5EF4-FFF2-40B4-BE49-F238E27FC236}">
                  <a16:creationId xmlns:a16="http://schemas.microsoft.com/office/drawing/2014/main" id="{7DA50AB1-F7A2-EBC7-FB82-E0BBB147318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71925" y="-1798194"/>
              <a:ext cx="6248400" cy="5448300"/>
            </a:xfrm>
            <a:prstGeom prst="rect">
              <a:avLst/>
            </a:prstGeom>
          </p:spPr>
        </p:pic>
      </p:grpSp>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77AA192B-9140-F746-B429-ACF197DC5439}" type="datetime1">
              <a:rPr lang="sv-SE" smtClean="0"/>
              <a:t>2025-07-14</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46036"/>
            <a:ext cx="10991850" cy="796252"/>
          </a:xfrm>
          <a:prstGeom prst="rect">
            <a:avLst/>
          </a:prstGeom>
          <a:noFill/>
        </p:spPr>
        <p:txBody>
          <a:bodyPr wrap="square" anchor="t">
            <a:noAutofit/>
          </a:bodyPr>
          <a:lstStyle/>
          <a:p>
            <a:r>
              <a:rPr lang="en-US" sz="3600" b="1" noProof="0" dirty="0">
                <a:solidFill>
                  <a:schemeClr val="tx2"/>
                </a:solidFill>
                <a:latin typeface="+mj-lt"/>
              </a:rPr>
              <a:t>How to use this template</a:t>
            </a:r>
          </a:p>
        </p:txBody>
      </p:sp>
      <p:sp>
        <p:nvSpPr>
          <p:cNvPr id="6" name="textruta 5">
            <a:extLst>
              <a:ext uri="{FF2B5EF4-FFF2-40B4-BE49-F238E27FC236}">
                <a16:creationId xmlns:a16="http://schemas.microsoft.com/office/drawing/2014/main" id="{A169F84A-F3A8-EFE5-7C9A-F2537DED6605}"/>
              </a:ext>
            </a:extLst>
          </p:cNvPr>
          <p:cNvSpPr txBox="1"/>
          <p:nvPr userDrawn="1"/>
        </p:nvSpPr>
        <p:spPr>
          <a:xfrm>
            <a:off x="716536" y="2472816"/>
            <a:ext cx="1469735" cy="723275"/>
          </a:xfrm>
          <a:prstGeom prst="rect">
            <a:avLst/>
          </a:prstGeom>
          <a:noFill/>
        </p:spPr>
        <p:txBody>
          <a:bodyPr wrap="square" lIns="0" tIns="0" rIns="0" bIns="0" rtlCol="0">
            <a:spAutoFit/>
          </a:bodyPr>
          <a:lstStyle/>
          <a:p>
            <a:pPr>
              <a:spcAft>
                <a:spcPts val="600"/>
              </a:spcAft>
            </a:pPr>
            <a:r>
              <a:rPr lang="en-US" sz="1000" b="1" noProof="0" dirty="0">
                <a:solidFill>
                  <a:schemeClr val="tx2"/>
                </a:solidFill>
              </a:rPr>
              <a:t>Slide templates</a:t>
            </a:r>
          </a:p>
          <a:p>
            <a:pPr>
              <a:spcAft>
                <a:spcPts val="600"/>
              </a:spcAft>
            </a:pPr>
            <a:r>
              <a:rPr lang="en-US" sz="800" noProof="0" dirty="0"/>
              <a:t>Click on </a:t>
            </a:r>
            <a:r>
              <a:rPr lang="en-US" sz="800" i="1" noProof="0" dirty="0"/>
              <a:t>New slide</a:t>
            </a:r>
            <a:r>
              <a:rPr lang="en-US" sz="800" noProof="0" dirty="0"/>
              <a:t> to see the templates various template slide. Choose one to suite </a:t>
            </a:r>
            <a:br>
              <a:rPr lang="en-US" sz="800" noProof="0" dirty="0"/>
            </a:br>
            <a:r>
              <a:rPr lang="en-US" sz="800" noProof="0" dirty="0"/>
              <a:t>your content.</a:t>
            </a:r>
          </a:p>
        </p:txBody>
      </p:sp>
      <p:sp>
        <p:nvSpPr>
          <p:cNvPr id="8" name="textruta 7">
            <a:extLst>
              <a:ext uri="{FF2B5EF4-FFF2-40B4-BE49-F238E27FC236}">
                <a16:creationId xmlns:a16="http://schemas.microsoft.com/office/drawing/2014/main" id="{768BCC39-F9DA-DF60-4025-17B6E0131556}"/>
              </a:ext>
            </a:extLst>
          </p:cNvPr>
          <p:cNvSpPr txBox="1"/>
          <p:nvPr userDrawn="1"/>
        </p:nvSpPr>
        <p:spPr>
          <a:xfrm>
            <a:off x="716537" y="3685917"/>
            <a:ext cx="1469735" cy="692497"/>
          </a:xfrm>
          <a:prstGeom prst="rect">
            <a:avLst/>
          </a:prstGeom>
          <a:noFill/>
        </p:spPr>
        <p:txBody>
          <a:bodyPr wrap="square" lIns="0" tIns="0" rIns="0" bIns="0" rtlCol="0">
            <a:spAutoFit/>
          </a:bodyPr>
          <a:lstStyle/>
          <a:p>
            <a:pPr>
              <a:spcAft>
                <a:spcPts val="600"/>
              </a:spcAft>
            </a:pPr>
            <a:r>
              <a:rPr lang="en-US" sz="800" b="1" noProof="0" dirty="0">
                <a:solidFill>
                  <a:schemeClr val="tx2"/>
                </a:solidFill>
              </a:rPr>
              <a:t>Layout</a:t>
            </a:r>
          </a:p>
          <a:p>
            <a:pPr>
              <a:spcAft>
                <a:spcPts val="600"/>
              </a:spcAft>
            </a:pPr>
            <a:r>
              <a:rPr lang="en-US" sz="800" noProof="0" dirty="0"/>
              <a:t>If you’d like to change slide template on an existing slide, click on </a:t>
            </a:r>
            <a:r>
              <a:rPr lang="en-US" sz="800" i="1" noProof="0" dirty="0"/>
              <a:t>Layout</a:t>
            </a:r>
            <a:r>
              <a:rPr lang="en-US" sz="800" noProof="0" dirty="0"/>
              <a:t> and select a new template. </a:t>
            </a:r>
          </a:p>
        </p:txBody>
      </p:sp>
      <p:sp>
        <p:nvSpPr>
          <p:cNvPr id="9" name="textruta 8">
            <a:extLst>
              <a:ext uri="{FF2B5EF4-FFF2-40B4-BE49-F238E27FC236}">
                <a16:creationId xmlns:a16="http://schemas.microsoft.com/office/drawing/2014/main" id="{F266C024-6842-2553-28D2-931168DE2970}"/>
              </a:ext>
            </a:extLst>
          </p:cNvPr>
          <p:cNvSpPr txBox="1"/>
          <p:nvPr userDrawn="1"/>
        </p:nvSpPr>
        <p:spPr>
          <a:xfrm>
            <a:off x="716536" y="4881301"/>
            <a:ext cx="1469735" cy="569387"/>
          </a:xfrm>
          <a:prstGeom prst="rect">
            <a:avLst/>
          </a:prstGeom>
          <a:noFill/>
        </p:spPr>
        <p:txBody>
          <a:bodyPr wrap="square" lIns="0" tIns="0" rIns="0" bIns="0" rtlCol="0">
            <a:spAutoFit/>
          </a:bodyPr>
          <a:lstStyle/>
          <a:p>
            <a:pPr>
              <a:spcAft>
                <a:spcPts val="600"/>
              </a:spcAft>
            </a:pPr>
            <a:r>
              <a:rPr lang="en-US" sz="800" b="1" noProof="0" dirty="0">
                <a:solidFill>
                  <a:schemeClr val="tx2"/>
                </a:solidFill>
              </a:rPr>
              <a:t>Reset</a:t>
            </a:r>
          </a:p>
          <a:p>
            <a:pPr>
              <a:spcAft>
                <a:spcPts val="600"/>
              </a:spcAft>
            </a:pPr>
            <a:r>
              <a:rPr lang="en-US" sz="800" noProof="0" dirty="0"/>
              <a:t>Reset a slide to the slide templates design by </a:t>
            </a:r>
            <a:br>
              <a:rPr lang="en-US" sz="800" noProof="0" dirty="0"/>
            </a:br>
            <a:r>
              <a:rPr lang="en-US" sz="800" noProof="0" dirty="0"/>
              <a:t>clicking on </a:t>
            </a:r>
            <a:r>
              <a:rPr lang="en-US" sz="800" i="1" noProof="0" dirty="0"/>
              <a:t>Reset</a:t>
            </a:r>
            <a:r>
              <a:rPr lang="en-US" sz="800" noProof="0" dirty="0"/>
              <a:t>. </a:t>
            </a:r>
          </a:p>
        </p:txBody>
      </p:sp>
      <p:sp>
        <p:nvSpPr>
          <p:cNvPr id="10" name="textruta 9">
            <a:extLst>
              <a:ext uri="{FF2B5EF4-FFF2-40B4-BE49-F238E27FC236}">
                <a16:creationId xmlns:a16="http://schemas.microsoft.com/office/drawing/2014/main" id="{C49C5967-B80A-E7A8-432B-804EA96184DA}"/>
              </a:ext>
            </a:extLst>
          </p:cNvPr>
          <p:cNvSpPr txBox="1"/>
          <p:nvPr userDrawn="1"/>
        </p:nvSpPr>
        <p:spPr>
          <a:xfrm>
            <a:off x="4586575" y="2066955"/>
            <a:ext cx="1361445" cy="1092607"/>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Colors</a:t>
            </a:r>
          </a:p>
          <a:p>
            <a:pPr>
              <a:spcAft>
                <a:spcPts val="600"/>
              </a:spcAft>
            </a:pPr>
            <a:r>
              <a:rPr lang="en-US" sz="800" noProof="0" dirty="0"/>
              <a:t>This template is programmed with the KTH color palette. The correct colors are the in top row under </a:t>
            </a:r>
            <a:r>
              <a:rPr lang="en-US" sz="800" i="1" noProof="0" dirty="0"/>
              <a:t>Theme Colors</a:t>
            </a:r>
            <a:r>
              <a:rPr lang="en-US" sz="800" noProof="0" dirty="0"/>
              <a:t> and all colors under </a:t>
            </a:r>
            <a:r>
              <a:rPr lang="en-US" sz="800" i="1" noProof="0" dirty="0"/>
              <a:t>Custom Colors</a:t>
            </a:r>
            <a:r>
              <a:rPr lang="en-US" sz="800" noProof="0" dirty="0"/>
              <a:t>. Only use the correct colors.</a:t>
            </a:r>
          </a:p>
        </p:txBody>
      </p:sp>
      <p:sp>
        <p:nvSpPr>
          <p:cNvPr id="17" name="textruta 16">
            <a:extLst>
              <a:ext uri="{FF2B5EF4-FFF2-40B4-BE49-F238E27FC236}">
                <a16:creationId xmlns:a16="http://schemas.microsoft.com/office/drawing/2014/main" id="{5077E03A-6420-92EB-FBAB-1A11484F6E1E}"/>
              </a:ext>
            </a:extLst>
          </p:cNvPr>
          <p:cNvSpPr txBox="1"/>
          <p:nvPr userDrawn="1"/>
        </p:nvSpPr>
        <p:spPr>
          <a:xfrm>
            <a:off x="6938221" y="2303726"/>
            <a:ext cx="598588" cy="307777"/>
          </a:xfrm>
          <a:prstGeom prst="rect">
            <a:avLst/>
          </a:prstGeom>
          <a:noFill/>
        </p:spPr>
        <p:txBody>
          <a:bodyPr wrap="square" lIns="0" tIns="0" rIns="0" bIns="0" rtlCol="0">
            <a:spAutoFit/>
          </a:bodyPr>
          <a:lstStyle/>
          <a:p>
            <a:r>
              <a:rPr lang="en-US" sz="500" noProof="0" dirty="0">
                <a:solidFill>
                  <a:srgbClr val="F9535C"/>
                </a:solidFill>
              </a:rPr>
              <a:t>Do </a:t>
            </a:r>
            <a:r>
              <a:rPr lang="en-US" sz="500" u="sng" noProof="0" dirty="0">
                <a:solidFill>
                  <a:srgbClr val="F9535C"/>
                </a:solidFill>
              </a:rPr>
              <a:t>NOT</a:t>
            </a:r>
            <a:r>
              <a:rPr lang="en-US" sz="500" noProof="0" dirty="0">
                <a:solidFill>
                  <a:srgbClr val="F9535C"/>
                </a:solidFill>
              </a:rPr>
              <a:t> use the colors PowerPoint auto generates. They are not on brand. </a:t>
            </a:r>
          </a:p>
        </p:txBody>
      </p:sp>
      <p:sp>
        <p:nvSpPr>
          <p:cNvPr id="21" name="textruta 20">
            <a:extLst>
              <a:ext uri="{FF2B5EF4-FFF2-40B4-BE49-F238E27FC236}">
                <a16:creationId xmlns:a16="http://schemas.microsoft.com/office/drawing/2014/main" id="{8926CA3B-DA70-E9B7-6DA6-A695DCFB4726}"/>
              </a:ext>
            </a:extLst>
          </p:cNvPr>
          <p:cNvSpPr txBox="1"/>
          <p:nvPr userDrawn="1"/>
        </p:nvSpPr>
        <p:spPr>
          <a:xfrm>
            <a:off x="8095279" y="2061013"/>
            <a:ext cx="1588210" cy="2185214"/>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Change the image crop</a:t>
            </a:r>
          </a:p>
          <a:p>
            <a:pPr>
              <a:spcAft>
                <a:spcPts val="600"/>
              </a:spcAft>
            </a:pPr>
            <a:r>
              <a:rPr lang="en-US" sz="800" noProof="0" dirty="0"/>
              <a:t>When an image is placed in an image place holder, PowerPoint automatically crops the image to fit the placeholder. To alter what part of the image is shown:</a:t>
            </a:r>
          </a:p>
          <a:p>
            <a:pPr marL="120600" indent="-120600">
              <a:spcAft>
                <a:spcPts val="600"/>
              </a:spcAft>
              <a:buClr>
                <a:schemeClr val="accent1"/>
              </a:buClr>
              <a:buFont typeface="+mj-lt"/>
              <a:buAutoNum type="arabicPeriod"/>
            </a:pPr>
            <a:r>
              <a:rPr lang="en-US" sz="800" noProof="0" dirty="0"/>
              <a:t>Select the image and go to </a:t>
            </a:r>
            <a:br>
              <a:rPr lang="en-US" sz="800" noProof="0" dirty="0"/>
            </a:br>
            <a:r>
              <a:rPr lang="en-US" sz="800" noProof="0" dirty="0"/>
              <a:t>the </a:t>
            </a:r>
            <a:r>
              <a:rPr lang="en-US" sz="800" i="1" noProof="0" dirty="0"/>
              <a:t>Picture Format </a:t>
            </a:r>
            <a:r>
              <a:rPr lang="en-US" sz="800" noProof="0" dirty="0"/>
              <a:t>tab. </a:t>
            </a:r>
          </a:p>
          <a:p>
            <a:pPr marL="120600" indent="-120600">
              <a:spcAft>
                <a:spcPts val="600"/>
              </a:spcAft>
              <a:buClr>
                <a:schemeClr val="accent1"/>
              </a:buClr>
              <a:buFont typeface="+mj-lt"/>
              <a:buAutoNum type="arabicPeriod"/>
            </a:pPr>
            <a:r>
              <a:rPr lang="en-US" sz="800" noProof="0" dirty="0"/>
              <a:t>Choose </a:t>
            </a:r>
            <a:r>
              <a:rPr lang="en-US" sz="800" i="1" noProof="0" dirty="0"/>
              <a:t>Crop</a:t>
            </a:r>
            <a:r>
              <a:rPr lang="en-US" sz="800" noProof="0" dirty="0"/>
              <a:t>. Now, the entire image is visible, the cropped out parts are darker. </a:t>
            </a:r>
          </a:p>
          <a:p>
            <a:pPr marL="120600" indent="-120600">
              <a:spcAft>
                <a:spcPts val="600"/>
              </a:spcAft>
              <a:buClr>
                <a:schemeClr val="accent1"/>
              </a:buClr>
              <a:buFont typeface="+mj-lt"/>
              <a:buAutoNum type="arabicPeriod"/>
            </a:pPr>
            <a:r>
              <a:rPr lang="en-US" sz="800" noProof="0" dirty="0"/>
              <a:t>Now you can move the image around within the placeholder and/or zoom in by pulling the corners of the image. </a:t>
            </a:r>
          </a:p>
        </p:txBody>
      </p:sp>
      <p:sp>
        <p:nvSpPr>
          <p:cNvPr id="23" name="textruta 22">
            <a:extLst>
              <a:ext uri="{FF2B5EF4-FFF2-40B4-BE49-F238E27FC236}">
                <a16:creationId xmlns:a16="http://schemas.microsoft.com/office/drawing/2014/main" id="{4FF18537-A6AC-E08C-1D06-F4EFDB0287B8}"/>
              </a:ext>
            </a:extLst>
          </p:cNvPr>
          <p:cNvSpPr txBox="1"/>
          <p:nvPr userDrawn="1"/>
        </p:nvSpPr>
        <p:spPr>
          <a:xfrm>
            <a:off x="10058400" y="2061013"/>
            <a:ext cx="1486590" cy="1692771"/>
          </a:xfrm>
          <a:prstGeom prst="rect">
            <a:avLst/>
          </a:prstGeom>
          <a:noFill/>
        </p:spPr>
        <p:txBody>
          <a:bodyPr wrap="square" lIns="0" tIns="0" rIns="0" bIns="0" rtlCol="0">
            <a:spAutoFit/>
          </a:bodyPr>
          <a:lstStyle/>
          <a:p>
            <a:pPr>
              <a:spcAft>
                <a:spcPts val="600"/>
              </a:spcAft>
            </a:pPr>
            <a:r>
              <a:rPr lang="en-US" sz="1000" b="1" noProof="0" dirty="0">
                <a:solidFill>
                  <a:schemeClr val="tx2"/>
                </a:solidFill>
              </a:rPr>
              <a:t>Edit image background</a:t>
            </a:r>
          </a:p>
          <a:p>
            <a:pPr marL="120600" indent="-120600">
              <a:spcAft>
                <a:spcPts val="600"/>
              </a:spcAft>
              <a:buClr>
                <a:schemeClr val="accent1"/>
              </a:buClr>
              <a:buAutoNum type="arabicPeriod"/>
            </a:pPr>
            <a:r>
              <a:rPr lang="en-US" sz="800" noProof="0" dirty="0"/>
              <a:t>Select </a:t>
            </a:r>
            <a:r>
              <a:rPr lang="en-US" sz="800" i="1" noProof="0" dirty="0"/>
              <a:t>Design</a:t>
            </a:r>
            <a:r>
              <a:rPr lang="en-US" sz="800" noProof="0" dirty="0"/>
              <a:t> &gt; </a:t>
            </a:r>
            <a:r>
              <a:rPr lang="en-US" sz="800" i="1" noProof="0" dirty="0"/>
              <a:t>Format Background</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Format Background pane</a:t>
            </a:r>
            <a:r>
              <a:rPr lang="en-US" sz="800" noProof="0" dirty="0"/>
              <a:t>, select </a:t>
            </a:r>
            <a:r>
              <a:rPr lang="en-US" sz="800" i="1" noProof="0" dirty="0"/>
              <a:t>Picture or texture fill</a:t>
            </a:r>
            <a:r>
              <a:rPr lang="en-US" sz="800" noProof="0" dirty="0"/>
              <a:t>.</a:t>
            </a:r>
          </a:p>
          <a:p>
            <a:pPr marL="120600" indent="-120600">
              <a:spcAft>
                <a:spcPts val="600"/>
              </a:spcAft>
              <a:buClr>
                <a:schemeClr val="accent1"/>
              </a:buClr>
              <a:buAutoNum type="arabicPeriod"/>
            </a:pPr>
            <a:r>
              <a:rPr lang="en-US" sz="800" noProof="0" dirty="0"/>
              <a:t>Select </a:t>
            </a:r>
            <a:r>
              <a:rPr lang="en-US" sz="800" i="1" noProof="0" dirty="0"/>
              <a:t>File</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Insert Picture</a:t>
            </a:r>
            <a:r>
              <a:rPr lang="en-US" sz="800" noProof="0" dirty="0"/>
              <a:t> dialog box, choose the picture </a:t>
            </a:r>
            <a:br>
              <a:rPr lang="en-US" sz="800" noProof="0" dirty="0"/>
            </a:br>
            <a:r>
              <a:rPr lang="en-US" sz="800" noProof="0" dirty="0"/>
              <a:t>you want to use and then select </a:t>
            </a:r>
            <a:r>
              <a:rPr lang="en-US" sz="800" i="1" noProof="0" dirty="0"/>
              <a:t>Insert</a:t>
            </a:r>
            <a:r>
              <a:rPr lang="en-US" sz="800" noProof="0" dirty="0"/>
              <a:t>.</a:t>
            </a:r>
          </a:p>
        </p:txBody>
      </p:sp>
      <p:sp>
        <p:nvSpPr>
          <p:cNvPr id="24" name="textruta 23">
            <a:extLst>
              <a:ext uri="{FF2B5EF4-FFF2-40B4-BE49-F238E27FC236}">
                <a16:creationId xmlns:a16="http://schemas.microsoft.com/office/drawing/2014/main" id="{49208D86-4998-5146-37DE-48F0F8DCB7BC}"/>
              </a:ext>
            </a:extLst>
          </p:cNvPr>
          <p:cNvSpPr txBox="1"/>
          <p:nvPr userDrawn="1"/>
        </p:nvSpPr>
        <p:spPr>
          <a:xfrm>
            <a:off x="4586575" y="4075714"/>
            <a:ext cx="1295401" cy="1569660"/>
          </a:xfrm>
          <a:prstGeom prst="rect">
            <a:avLst/>
          </a:prstGeom>
          <a:noFill/>
        </p:spPr>
        <p:txBody>
          <a:bodyPr wrap="square" lIns="0" tIns="0" rIns="0" bIns="0" rtlCol="0">
            <a:spAutoFit/>
          </a:bodyPr>
          <a:lstStyle/>
          <a:p>
            <a:pPr>
              <a:spcAft>
                <a:spcPts val="600"/>
              </a:spcAft>
            </a:pPr>
            <a:r>
              <a:rPr lang="en-US" sz="1000" b="1" noProof="0" dirty="0">
                <a:solidFill>
                  <a:schemeClr val="tx2"/>
                </a:solidFill>
              </a:rPr>
              <a:t>Header and footer</a:t>
            </a:r>
          </a:p>
          <a:p>
            <a:pPr>
              <a:spcAft>
                <a:spcPts val="600"/>
              </a:spcAft>
            </a:pPr>
            <a:r>
              <a:rPr lang="en-US" sz="800" noProof="0" dirty="0"/>
              <a:t>Insert header/footer, </a:t>
            </a:r>
            <a:br>
              <a:rPr lang="en-US" sz="800" noProof="0" dirty="0"/>
            </a:br>
            <a:r>
              <a:rPr lang="en-US" sz="800" noProof="0" dirty="0"/>
              <a:t>date and page numbers:</a:t>
            </a:r>
          </a:p>
          <a:p>
            <a:pPr marL="120600" indent="-120600">
              <a:spcAft>
                <a:spcPts val="600"/>
              </a:spcAft>
              <a:buClr>
                <a:schemeClr val="accent1"/>
              </a:buClr>
              <a:buFont typeface="+mj-lt"/>
              <a:buAutoNum type="arabicPeriod"/>
            </a:pPr>
            <a:r>
              <a:rPr lang="en-US" sz="800" noProof="0" dirty="0"/>
              <a:t>On the </a:t>
            </a:r>
            <a:r>
              <a:rPr lang="en-US" sz="800" i="1" noProof="0" dirty="0"/>
              <a:t>Insert</a:t>
            </a:r>
            <a:r>
              <a:rPr lang="en-US" sz="800" noProof="0" dirty="0"/>
              <a:t> tab, </a:t>
            </a:r>
            <a:br>
              <a:rPr lang="en-US" sz="800" noProof="0" dirty="0"/>
            </a:br>
            <a:r>
              <a:rPr lang="en-US" sz="800" noProof="0" dirty="0"/>
              <a:t>click </a:t>
            </a:r>
            <a:r>
              <a:rPr lang="en-US" sz="800" i="1" noProof="0" dirty="0"/>
              <a:t>Header &amp; Footer</a:t>
            </a:r>
            <a:r>
              <a:rPr lang="en-US" sz="800" noProof="0" dirty="0"/>
              <a:t>.</a:t>
            </a:r>
          </a:p>
          <a:p>
            <a:pPr marL="120600" indent="-120600">
              <a:spcAft>
                <a:spcPts val="600"/>
              </a:spcAft>
              <a:buClr>
                <a:schemeClr val="accent1"/>
              </a:buClr>
              <a:buFont typeface="+mj-lt"/>
              <a:buAutoNum type="arabicPeriod"/>
            </a:pPr>
            <a:r>
              <a:rPr lang="en-US" sz="800" noProof="0" dirty="0"/>
              <a:t>In the Header and Footer box, on the Slide tab, select the information you want.</a:t>
            </a:r>
          </a:p>
          <a:p>
            <a:pPr marL="120600" indent="-120600">
              <a:spcAft>
                <a:spcPts val="600"/>
              </a:spcAft>
              <a:buClr>
                <a:schemeClr val="accent1"/>
              </a:buClr>
              <a:buFont typeface="+mj-lt"/>
              <a:buAutoNum type="arabicPeriod"/>
            </a:pPr>
            <a:r>
              <a:rPr lang="en-US" sz="800" noProof="0" dirty="0"/>
              <a:t>Click </a:t>
            </a:r>
            <a:r>
              <a:rPr lang="en-US" sz="800" i="1" noProof="0" dirty="0"/>
              <a:t>Apply to All</a:t>
            </a:r>
            <a:r>
              <a:rPr lang="en-US" sz="800" noProof="0" dirty="0"/>
              <a:t>.</a:t>
            </a:r>
          </a:p>
        </p:txBody>
      </p:sp>
      <p:pic>
        <p:nvPicPr>
          <p:cNvPr id="32" name="Bildobjekt 31" descr="En bild som visar moln, utomhus, himmel, byggnad&#10;&#10;Automatiskt genererad beskrivning">
            <a:extLst>
              <a:ext uri="{FF2B5EF4-FFF2-40B4-BE49-F238E27FC236}">
                <a16:creationId xmlns:a16="http://schemas.microsoft.com/office/drawing/2014/main" id="{94D13EAB-F856-BC62-1623-0235CE917A48}"/>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066200" y="4318565"/>
            <a:ext cx="1493231" cy="1981989"/>
          </a:xfrm>
          <a:prstGeom prst="rect">
            <a:avLst/>
          </a:prstGeom>
        </p:spPr>
      </p:pic>
      <p:pic>
        <p:nvPicPr>
          <p:cNvPr id="34" name="Picture 4" descr="Microsoft PowerPoint 365 Overview and Supported File Types">
            <a:extLst>
              <a:ext uri="{FF2B5EF4-FFF2-40B4-BE49-F238E27FC236}">
                <a16:creationId xmlns:a16="http://schemas.microsoft.com/office/drawing/2014/main" id="{6B95C2D0-3101-BE06-9875-AF2510CF817D}"/>
              </a:ext>
            </a:extLst>
          </p:cNvPr>
          <p:cNvPicPr>
            <a:picLocks noChangeAspect="1" noChangeArrowheads="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721644" y="2028884"/>
            <a:ext cx="208587" cy="33433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icrosoft PowerPoint 365 Overview and Supported File Types">
            <a:extLst>
              <a:ext uri="{FF2B5EF4-FFF2-40B4-BE49-F238E27FC236}">
                <a16:creationId xmlns:a16="http://schemas.microsoft.com/office/drawing/2014/main" id="{D259F975-3B73-BC3A-B353-F3B57056CAFE}"/>
              </a:ext>
            </a:extLst>
          </p:cNvPr>
          <p:cNvPicPr>
            <a:picLocks noChangeAspect="1" noChangeArrowheads="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716536" y="3527233"/>
            <a:ext cx="328130" cy="10531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Microsoft PowerPoint 365 Overview and Supported File Types">
            <a:extLst>
              <a:ext uri="{FF2B5EF4-FFF2-40B4-BE49-F238E27FC236}">
                <a16:creationId xmlns:a16="http://schemas.microsoft.com/office/drawing/2014/main" id="{C0490137-5992-062D-6D6B-7856F08EDE8C}"/>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a:ext>
            </a:extLst>
          </a:blip>
          <a:srcRect/>
          <a:stretch/>
        </p:blipFill>
        <p:spPr bwMode="auto">
          <a:xfrm>
            <a:off x="716536" y="4708556"/>
            <a:ext cx="256300" cy="1053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eader and Footer on slides - Microsoft PowerPoint 365">
            <a:extLst>
              <a:ext uri="{FF2B5EF4-FFF2-40B4-BE49-F238E27FC236}">
                <a16:creationId xmlns:a16="http://schemas.microsoft.com/office/drawing/2014/main" id="{514F44FF-F14B-3D48-E9D1-E7E8BB20F671}"/>
              </a:ext>
            </a:extLst>
          </p:cNvPr>
          <p:cNvPicPr>
            <a:picLocks noChangeAspect="1" noChangeArrowheads="1"/>
          </p:cNvPicPr>
          <p:nvPr userDrawn="1"/>
        </p:nvPicPr>
        <p:blipFill>
          <a:blip r:embed="rId8" cstate="print">
            <a:extLst>
              <a:ext uri="{28A0092B-C50C-407E-A947-70E740481C1C}">
                <a14:useLocalDpi xmlns:a14="http://schemas.microsoft.com/office/drawing/2010/main"/>
              </a:ext>
            </a:extLst>
          </a:blip>
          <a:srcRect/>
          <a:stretch>
            <a:fillRect/>
          </a:stretch>
        </p:blipFill>
        <p:spPr bwMode="auto">
          <a:xfrm>
            <a:off x="6062042" y="4075714"/>
            <a:ext cx="1493231" cy="1103568"/>
          </a:xfrm>
          <a:prstGeom prst="rect">
            <a:avLst/>
          </a:prstGeom>
          <a:noFill/>
          <a:extLst>
            <a:ext uri="{909E8E84-426E-40DD-AFC4-6F175D3DCCD1}">
              <a14:hiddenFill xmlns:a14="http://schemas.microsoft.com/office/drawing/2010/main">
                <a:solidFill>
                  <a:srgbClr val="FFFFFF"/>
                </a:solidFill>
              </a14:hiddenFill>
            </a:ext>
          </a:extLst>
        </p:spPr>
      </p:pic>
      <p:grpSp>
        <p:nvGrpSpPr>
          <p:cNvPr id="1125" name="Grupp 1124">
            <a:extLst>
              <a:ext uri="{FF2B5EF4-FFF2-40B4-BE49-F238E27FC236}">
                <a16:creationId xmlns:a16="http://schemas.microsoft.com/office/drawing/2014/main" id="{918579BF-BDEF-7B25-9DCA-62CC6D39793B}"/>
              </a:ext>
            </a:extLst>
          </p:cNvPr>
          <p:cNvGrpSpPr/>
          <p:nvPr userDrawn="1"/>
        </p:nvGrpSpPr>
        <p:grpSpPr>
          <a:xfrm>
            <a:off x="6063783" y="2031850"/>
            <a:ext cx="800155" cy="1688467"/>
            <a:chOff x="6063783" y="2031850"/>
            <a:chExt cx="1800691" cy="3799773"/>
          </a:xfrm>
        </p:grpSpPr>
        <p:pic>
          <p:nvPicPr>
            <p:cNvPr id="1030" name="Picture 6" descr="Hacking PowerPoint to create custom colors | BrightCarbon">
              <a:extLst>
                <a:ext uri="{FF2B5EF4-FFF2-40B4-BE49-F238E27FC236}">
                  <a16:creationId xmlns:a16="http://schemas.microsoft.com/office/drawing/2014/main" id="{1E944A0E-9B5A-F599-847C-0737479E7BC1}"/>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l="36641" r="36664"/>
            <a:stretch/>
          </p:blipFill>
          <p:spPr bwMode="auto">
            <a:xfrm>
              <a:off x="6063783" y="2031850"/>
              <a:ext cx="1800691" cy="3799773"/>
            </a:xfrm>
            <a:prstGeom prst="rect">
              <a:avLst/>
            </a:prstGeom>
            <a:noFill/>
            <a:extLst>
              <a:ext uri="{909E8E84-426E-40DD-AFC4-6F175D3DCCD1}">
                <a14:hiddenFill xmlns:a14="http://schemas.microsoft.com/office/drawing/2010/main">
                  <a:solidFill>
                    <a:srgbClr val="FFFFFF"/>
                  </a:solidFill>
                </a14:hiddenFill>
              </a:ext>
            </a:extLst>
          </p:spPr>
        </p:pic>
        <p:sp>
          <p:nvSpPr>
            <p:cNvPr id="1123" name="Rektangel 1122">
              <a:extLst>
                <a:ext uri="{FF2B5EF4-FFF2-40B4-BE49-F238E27FC236}">
                  <a16:creationId xmlns:a16="http://schemas.microsoft.com/office/drawing/2014/main" id="{1ED61660-0DB3-CEA4-C27E-195D3290C063}"/>
                </a:ext>
              </a:extLst>
            </p:cNvPr>
            <p:cNvSpPr/>
            <p:nvPr userDrawn="1"/>
          </p:nvSpPr>
          <p:spPr>
            <a:xfrm>
              <a:off x="6095206" y="3789106"/>
              <a:ext cx="1743870" cy="7370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4" name="Rektangel 1123">
              <a:extLst>
                <a:ext uri="{FF2B5EF4-FFF2-40B4-BE49-F238E27FC236}">
                  <a16:creationId xmlns:a16="http://schemas.microsoft.com/office/drawing/2014/main" id="{97E61731-FF1C-C73E-9B81-82B5C53D7931}"/>
                </a:ext>
              </a:extLst>
            </p:cNvPr>
            <p:cNvSpPr/>
            <p:nvPr userDrawn="1"/>
          </p:nvSpPr>
          <p:spPr>
            <a:xfrm>
              <a:off x="6451542" y="2363219"/>
              <a:ext cx="1378008" cy="983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 name="Rektangel 18">
              <a:extLst>
                <a:ext uri="{FF2B5EF4-FFF2-40B4-BE49-F238E27FC236}">
                  <a16:creationId xmlns:a16="http://schemas.microsoft.com/office/drawing/2014/main" id="{71A7971D-8FD8-6FAF-FBCA-543DAC638849}"/>
                </a:ext>
              </a:extLst>
            </p:cNvPr>
            <p:cNvSpPr/>
            <p:nvPr userDrawn="1"/>
          </p:nvSpPr>
          <p:spPr>
            <a:xfrm>
              <a:off x="6637090" y="2388295"/>
              <a:ext cx="126305" cy="126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0" name="Rektangel 19">
              <a:extLst>
                <a:ext uri="{FF2B5EF4-FFF2-40B4-BE49-F238E27FC236}">
                  <a16:creationId xmlns:a16="http://schemas.microsoft.com/office/drawing/2014/main" id="{C9DDD11C-85E2-44BE-6A91-D72279994B26}"/>
                </a:ext>
              </a:extLst>
            </p:cNvPr>
            <p:cNvSpPr/>
            <p:nvPr userDrawn="1"/>
          </p:nvSpPr>
          <p:spPr>
            <a:xfrm>
              <a:off x="6812622" y="2388295"/>
              <a:ext cx="126305" cy="126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2" name="Rektangel 21">
              <a:extLst>
                <a:ext uri="{FF2B5EF4-FFF2-40B4-BE49-F238E27FC236}">
                  <a16:creationId xmlns:a16="http://schemas.microsoft.com/office/drawing/2014/main" id="{A5F72BB2-8D37-F99C-624D-D6B83AEDB706}"/>
                </a:ext>
              </a:extLst>
            </p:cNvPr>
            <p:cNvSpPr/>
            <p:nvPr userDrawn="1"/>
          </p:nvSpPr>
          <p:spPr>
            <a:xfrm>
              <a:off x="6988154" y="23882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Rektangel 24">
              <a:extLst>
                <a:ext uri="{FF2B5EF4-FFF2-40B4-BE49-F238E27FC236}">
                  <a16:creationId xmlns:a16="http://schemas.microsoft.com/office/drawing/2014/main" id="{84DFF5F4-D1BE-880D-87D8-99BD8D5986B4}"/>
                </a:ext>
              </a:extLst>
            </p:cNvPr>
            <p:cNvSpPr/>
            <p:nvPr userDrawn="1"/>
          </p:nvSpPr>
          <p:spPr>
            <a:xfrm>
              <a:off x="7163686" y="23882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6" name="Rektangel 25">
              <a:extLst>
                <a:ext uri="{FF2B5EF4-FFF2-40B4-BE49-F238E27FC236}">
                  <a16:creationId xmlns:a16="http://schemas.microsoft.com/office/drawing/2014/main" id="{57799422-9E37-147F-C5EF-BD69600A0259}"/>
                </a:ext>
              </a:extLst>
            </p:cNvPr>
            <p:cNvSpPr/>
            <p:nvPr userDrawn="1"/>
          </p:nvSpPr>
          <p:spPr>
            <a:xfrm>
              <a:off x="7339218" y="23882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7" name="Rektangel 26">
              <a:extLst>
                <a:ext uri="{FF2B5EF4-FFF2-40B4-BE49-F238E27FC236}">
                  <a16:creationId xmlns:a16="http://schemas.microsoft.com/office/drawing/2014/main" id="{CF0BD3BD-CA59-5181-6A7D-85BA481CF469}"/>
                </a:ext>
              </a:extLst>
            </p:cNvPr>
            <p:cNvSpPr/>
            <p:nvPr userDrawn="1"/>
          </p:nvSpPr>
          <p:spPr>
            <a:xfrm>
              <a:off x="7514750" y="2388295"/>
              <a:ext cx="126305" cy="12630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8" name="Rektangel 27">
              <a:extLst>
                <a:ext uri="{FF2B5EF4-FFF2-40B4-BE49-F238E27FC236}">
                  <a16:creationId xmlns:a16="http://schemas.microsoft.com/office/drawing/2014/main" id="{AD483FB7-DFED-6269-FDB3-DA99BF8F1738}"/>
                </a:ext>
              </a:extLst>
            </p:cNvPr>
            <p:cNvSpPr/>
            <p:nvPr userDrawn="1"/>
          </p:nvSpPr>
          <p:spPr>
            <a:xfrm>
              <a:off x="7690282" y="23882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1" name="Rektangel 30">
              <a:extLst>
                <a:ext uri="{FF2B5EF4-FFF2-40B4-BE49-F238E27FC236}">
                  <a16:creationId xmlns:a16="http://schemas.microsoft.com/office/drawing/2014/main" id="{53C50CD2-78C6-259C-97BD-526C014CEC81}"/>
                </a:ext>
              </a:extLst>
            </p:cNvPr>
            <p:cNvSpPr/>
            <p:nvPr userDrawn="1"/>
          </p:nvSpPr>
          <p:spPr>
            <a:xfrm>
              <a:off x="6637090" y="2661345"/>
              <a:ext cx="126305" cy="13209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7" name="Rektangel 46">
              <a:extLst>
                <a:ext uri="{FF2B5EF4-FFF2-40B4-BE49-F238E27FC236}">
                  <a16:creationId xmlns:a16="http://schemas.microsoft.com/office/drawing/2014/main" id="{8C1EA23D-35AA-C628-1834-7EC9974FAFA4}"/>
                </a:ext>
              </a:extLst>
            </p:cNvPr>
            <p:cNvSpPr/>
            <p:nvPr userDrawn="1"/>
          </p:nvSpPr>
          <p:spPr>
            <a:xfrm>
              <a:off x="6637090" y="2794041"/>
              <a:ext cx="126305" cy="1320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5" name="Rektangel 54">
              <a:extLst>
                <a:ext uri="{FF2B5EF4-FFF2-40B4-BE49-F238E27FC236}">
                  <a16:creationId xmlns:a16="http://schemas.microsoft.com/office/drawing/2014/main" id="{583F96BE-E130-3FDD-576F-874BDC4A6C90}"/>
                </a:ext>
              </a:extLst>
            </p:cNvPr>
            <p:cNvSpPr/>
            <p:nvPr userDrawn="1"/>
          </p:nvSpPr>
          <p:spPr>
            <a:xfrm>
              <a:off x="6637090" y="2926737"/>
              <a:ext cx="126305" cy="13209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3" name="Rektangel 62">
              <a:extLst>
                <a:ext uri="{FF2B5EF4-FFF2-40B4-BE49-F238E27FC236}">
                  <a16:creationId xmlns:a16="http://schemas.microsoft.com/office/drawing/2014/main" id="{33F1335E-E254-7491-5F15-30754BBD151E}"/>
                </a:ext>
              </a:extLst>
            </p:cNvPr>
            <p:cNvSpPr/>
            <p:nvPr userDrawn="1"/>
          </p:nvSpPr>
          <p:spPr>
            <a:xfrm>
              <a:off x="6637090" y="3059433"/>
              <a:ext cx="126305" cy="13209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33" name="Rektangel 1032">
              <a:extLst>
                <a:ext uri="{FF2B5EF4-FFF2-40B4-BE49-F238E27FC236}">
                  <a16:creationId xmlns:a16="http://schemas.microsoft.com/office/drawing/2014/main" id="{B691ED7D-5446-C50C-8BC0-D7AB6D614765}"/>
                </a:ext>
              </a:extLst>
            </p:cNvPr>
            <p:cNvSpPr/>
            <p:nvPr userDrawn="1"/>
          </p:nvSpPr>
          <p:spPr>
            <a:xfrm>
              <a:off x="6637090" y="3192130"/>
              <a:ext cx="126305" cy="132095"/>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2" name="Rektangel 1041">
              <a:extLst>
                <a:ext uri="{FF2B5EF4-FFF2-40B4-BE49-F238E27FC236}">
                  <a16:creationId xmlns:a16="http://schemas.microsoft.com/office/drawing/2014/main" id="{7F5FD652-25CD-24B4-271B-3CFC6E465C27}"/>
                </a:ext>
              </a:extLst>
            </p:cNvPr>
            <p:cNvSpPr/>
            <p:nvPr userDrawn="1"/>
          </p:nvSpPr>
          <p:spPr>
            <a:xfrm>
              <a:off x="6812622" y="2661345"/>
              <a:ext cx="126305" cy="13209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3" name="Rektangel 1042">
              <a:extLst>
                <a:ext uri="{FF2B5EF4-FFF2-40B4-BE49-F238E27FC236}">
                  <a16:creationId xmlns:a16="http://schemas.microsoft.com/office/drawing/2014/main" id="{46276B80-6A92-8513-3337-2E24980A3660}"/>
                </a:ext>
              </a:extLst>
            </p:cNvPr>
            <p:cNvSpPr/>
            <p:nvPr userDrawn="1"/>
          </p:nvSpPr>
          <p:spPr>
            <a:xfrm>
              <a:off x="6812622" y="2794041"/>
              <a:ext cx="126305" cy="1320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4" name="Rektangel 1043">
              <a:extLst>
                <a:ext uri="{FF2B5EF4-FFF2-40B4-BE49-F238E27FC236}">
                  <a16:creationId xmlns:a16="http://schemas.microsoft.com/office/drawing/2014/main" id="{DF08EB8B-05A1-5D1E-3453-E35F156EA44C}"/>
                </a:ext>
              </a:extLst>
            </p:cNvPr>
            <p:cNvSpPr/>
            <p:nvPr userDrawn="1"/>
          </p:nvSpPr>
          <p:spPr>
            <a:xfrm>
              <a:off x="6812622" y="2926737"/>
              <a:ext cx="126305" cy="1320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5" name="Rektangel 1044">
              <a:extLst>
                <a:ext uri="{FF2B5EF4-FFF2-40B4-BE49-F238E27FC236}">
                  <a16:creationId xmlns:a16="http://schemas.microsoft.com/office/drawing/2014/main" id="{73BCDEB0-F256-9D9A-1735-36C73E5A4254}"/>
                </a:ext>
              </a:extLst>
            </p:cNvPr>
            <p:cNvSpPr/>
            <p:nvPr userDrawn="1"/>
          </p:nvSpPr>
          <p:spPr>
            <a:xfrm>
              <a:off x="6812622" y="3059433"/>
              <a:ext cx="126305" cy="1320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6" name="Rektangel 1045">
              <a:extLst>
                <a:ext uri="{FF2B5EF4-FFF2-40B4-BE49-F238E27FC236}">
                  <a16:creationId xmlns:a16="http://schemas.microsoft.com/office/drawing/2014/main" id="{8FB9E9DD-EB3E-746C-2937-90EBE84B3B2A}"/>
                </a:ext>
              </a:extLst>
            </p:cNvPr>
            <p:cNvSpPr/>
            <p:nvPr userDrawn="1"/>
          </p:nvSpPr>
          <p:spPr>
            <a:xfrm>
              <a:off x="6812622" y="3192130"/>
              <a:ext cx="126305" cy="13209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7" name="Rektangel 1046">
              <a:extLst>
                <a:ext uri="{FF2B5EF4-FFF2-40B4-BE49-F238E27FC236}">
                  <a16:creationId xmlns:a16="http://schemas.microsoft.com/office/drawing/2014/main" id="{BF36CC62-D665-E681-0504-9607980B29D1}"/>
                </a:ext>
              </a:extLst>
            </p:cNvPr>
            <p:cNvSpPr/>
            <p:nvPr userDrawn="1"/>
          </p:nvSpPr>
          <p:spPr>
            <a:xfrm>
              <a:off x="6988154" y="2661345"/>
              <a:ext cx="126305" cy="13209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8" name="Rektangel 1047">
              <a:extLst>
                <a:ext uri="{FF2B5EF4-FFF2-40B4-BE49-F238E27FC236}">
                  <a16:creationId xmlns:a16="http://schemas.microsoft.com/office/drawing/2014/main" id="{2ED8E59C-4621-6900-D5FB-392B5F63EB15}"/>
                </a:ext>
              </a:extLst>
            </p:cNvPr>
            <p:cNvSpPr/>
            <p:nvPr userDrawn="1"/>
          </p:nvSpPr>
          <p:spPr>
            <a:xfrm>
              <a:off x="6988154" y="2794041"/>
              <a:ext cx="126305" cy="13209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9" name="Rektangel 1048">
              <a:extLst>
                <a:ext uri="{FF2B5EF4-FFF2-40B4-BE49-F238E27FC236}">
                  <a16:creationId xmlns:a16="http://schemas.microsoft.com/office/drawing/2014/main" id="{1D1DFB72-8F94-C092-AB42-28E3BBF12D65}"/>
                </a:ext>
              </a:extLst>
            </p:cNvPr>
            <p:cNvSpPr/>
            <p:nvPr userDrawn="1"/>
          </p:nvSpPr>
          <p:spPr>
            <a:xfrm>
              <a:off x="6988154" y="2926737"/>
              <a:ext cx="126305" cy="1320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0" name="Rektangel 1049">
              <a:extLst>
                <a:ext uri="{FF2B5EF4-FFF2-40B4-BE49-F238E27FC236}">
                  <a16:creationId xmlns:a16="http://schemas.microsoft.com/office/drawing/2014/main" id="{9B388C52-8786-0F82-B433-3A79F1A4541A}"/>
                </a:ext>
              </a:extLst>
            </p:cNvPr>
            <p:cNvSpPr/>
            <p:nvPr userDrawn="1"/>
          </p:nvSpPr>
          <p:spPr>
            <a:xfrm>
              <a:off x="6988154" y="3059433"/>
              <a:ext cx="126305" cy="13209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1" name="Rektangel 1050">
              <a:extLst>
                <a:ext uri="{FF2B5EF4-FFF2-40B4-BE49-F238E27FC236}">
                  <a16:creationId xmlns:a16="http://schemas.microsoft.com/office/drawing/2014/main" id="{D4A998FA-E595-5120-1049-A3CC1C33E72E}"/>
                </a:ext>
              </a:extLst>
            </p:cNvPr>
            <p:cNvSpPr/>
            <p:nvPr userDrawn="1"/>
          </p:nvSpPr>
          <p:spPr>
            <a:xfrm>
              <a:off x="6988154" y="3192130"/>
              <a:ext cx="126305" cy="13209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2" name="Rektangel 1051">
              <a:extLst>
                <a:ext uri="{FF2B5EF4-FFF2-40B4-BE49-F238E27FC236}">
                  <a16:creationId xmlns:a16="http://schemas.microsoft.com/office/drawing/2014/main" id="{C8E27C97-6977-891F-B3C0-4CDE580AF57D}"/>
                </a:ext>
              </a:extLst>
            </p:cNvPr>
            <p:cNvSpPr/>
            <p:nvPr userDrawn="1"/>
          </p:nvSpPr>
          <p:spPr>
            <a:xfrm>
              <a:off x="7163686" y="2661345"/>
              <a:ext cx="126305" cy="132095"/>
            </a:xfrm>
            <a:prstGeom prst="rect">
              <a:avLst/>
            </a:prstGeom>
            <a:solidFill>
              <a:schemeClr val="accent3">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3" name="Rektangel 1052">
              <a:extLst>
                <a:ext uri="{FF2B5EF4-FFF2-40B4-BE49-F238E27FC236}">
                  <a16:creationId xmlns:a16="http://schemas.microsoft.com/office/drawing/2014/main" id="{19FB03B5-BA18-74B7-9DEB-889CA8566539}"/>
                </a:ext>
              </a:extLst>
            </p:cNvPr>
            <p:cNvSpPr/>
            <p:nvPr userDrawn="1"/>
          </p:nvSpPr>
          <p:spPr>
            <a:xfrm>
              <a:off x="7163686" y="2794041"/>
              <a:ext cx="126305" cy="132095"/>
            </a:xfrm>
            <a:prstGeom prst="rect">
              <a:avLst/>
            </a:prstGeom>
            <a:solidFill>
              <a:schemeClr val="accent3">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4" name="Rektangel 1053">
              <a:extLst>
                <a:ext uri="{FF2B5EF4-FFF2-40B4-BE49-F238E27FC236}">
                  <a16:creationId xmlns:a16="http://schemas.microsoft.com/office/drawing/2014/main" id="{57CEB0A0-35F5-997A-61EB-3E655B67D34B}"/>
                </a:ext>
              </a:extLst>
            </p:cNvPr>
            <p:cNvSpPr/>
            <p:nvPr userDrawn="1"/>
          </p:nvSpPr>
          <p:spPr>
            <a:xfrm>
              <a:off x="7163686" y="2926737"/>
              <a:ext cx="126305" cy="132095"/>
            </a:xfrm>
            <a:prstGeom prst="rect">
              <a:avLst/>
            </a:prstGeom>
            <a:solidFill>
              <a:schemeClr val="accent3">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5" name="Rektangel 1054">
              <a:extLst>
                <a:ext uri="{FF2B5EF4-FFF2-40B4-BE49-F238E27FC236}">
                  <a16:creationId xmlns:a16="http://schemas.microsoft.com/office/drawing/2014/main" id="{187C5504-CF38-10EF-6656-9D373F47022B}"/>
                </a:ext>
              </a:extLst>
            </p:cNvPr>
            <p:cNvSpPr/>
            <p:nvPr userDrawn="1"/>
          </p:nvSpPr>
          <p:spPr>
            <a:xfrm>
              <a:off x="7163686" y="3059433"/>
              <a:ext cx="126305" cy="132095"/>
            </a:xfrm>
            <a:prstGeom prst="rect">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6" name="Rektangel 1055">
              <a:extLst>
                <a:ext uri="{FF2B5EF4-FFF2-40B4-BE49-F238E27FC236}">
                  <a16:creationId xmlns:a16="http://schemas.microsoft.com/office/drawing/2014/main" id="{00ECB6FD-B078-6ED8-3BF0-E6FFFB4125FF}"/>
                </a:ext>
              </a:extLst>
            </p:cNvPr>
            <p:cNvSpPr/>
            <p:nvPr userDrawn="1"/>
          </p:nvSpPr>
          <p:spPr>
            <a:xfrm>
              <a:off x="7163686" y="3192130"/>
              <a:ext cx="126305" cy="132095"/>
            </a:xfrm>
            <a:prstGeom prst="rect">
              <a:avLst/>
            </a:prstGeom>
            <a:solidFill>
              <a:schemeClr val="accent3">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7" name="Rektangel 1056">
              <a:extLst>
                <a:ext uri="{FF2B5EF4-FFF2-40B4-BE49-F238E27FC236}">
                  <a16:creationId xmlns:a16="http://schemas.microsoft.com/office/drawing/2014/main" id="{2A81D134-CDD5-3A11-68DD-9A7DA325C5E2}"/>
                </a:ext>
              </a:extLst>
            </p:cNvPr>
            <p:cNvSpPr/>
            <p:nvPr userDrawn="1"/>
          </p:nvSpPr>
          <p:spPr>
            <a:xfrm>
              <a:off x="7339331" y="2661345"/>
              <a:ext cx="126305" cy="132095"/>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8" name="Rektangel 1057">
              <a:extLst>
                <a:ext uri="{FF2B5EF4-FFF2-40B4-BE49-F238E27FC236}">
                  <a16:creationId xmlns:a16="http://schemas.microsoft.com/office/drawing/2014/main" id="{A3E6B7BF-B8DF-4895-BFF7-E48F3EA56C3C}"/>
                </a:ext>
              </a:extLst>
            </p:cNvPr>
            <p:cNvSpPr/>
            <p:nvPr userDrawn="1"/>
          </p:nvSpPr>
          <p:spPr>
            <a:xfrm>
              <a:off x="7339331" y="2794041"/>
              <a:ext cx="126305" cy="13209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9" name="Rektangel 1058">
              <a:extLst>
                <a:ext uri="{FF2B5EF4-FFF2-40B4-BE49-F238E27FC236}">
                  <a16:creationId xmlns:a16="http://schemas.microsoft.com/office/drawing/2014/main" id="{C9880F48-FE6A-D652-5F55-4BD96B03F4E4}"/>
                </a:ext>
              </a:extLst>
            </p:cNvPr>
            <p:cNvSpPr/>
            <p:nvPr userDrawn="1"/>
          </p:nvSpPr>
          <p:spPr>
            <a:xfrm>
              <a:off x="7339331" y="2926737"/>
              <a:ext cx="126305" cy="13209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0" name="Rektangel 1059">
              <a:extLst>
                <a:ext uri="{FF2B5EF4-FFF2-40B4-BE49-F238E27FC236}">
                  <a16:creationId xmlns:a16="http://schemas.microsoft.com/office/drawing/2014/main" id="{3D6EF6E0-55EF-D427-7BD3-3F9C9599C746}"/>
                </a:ext>
              </a:extLst>
            </p:cNvPr>
            <p:cNvSpPr/>
            <p:nvPr userDrawn="1"/>
          </p:nvSpPr>
          <p:spPr>
            <a:xfrm>
              <a:off x="7339331" y="3059433"/>
              <a:ext cx="126305" cy="132095"/>
            </a:xfrm>
            <a:prstGeom prst="rect">
              <a:avLst/>
            </a:prstGeom>
            <a:solidFill>
              <a:schemeClr val="accent4">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1" name="Rektangel 1060">
              <a:extLst>
                <a:ext uri="{FF2B5EF4-FFF2-40B4-BE49-F238E27FC236}">
                  <a16:creationId xmlns:a16="http://schemas.microsoft.com/office/drawing/2014/main" id="{BB5DD28F-1631-1EC1-63A2-5C34A28B0C19}"/>
                </a:ext>
              </a:extLst>
            </p:cNvPr>
            <p:cNvSpPr/>
            <p:nvPr userDrawn="1"/>
          </p:nvSpPr>
          <p:spPr>
            <a:xfrm>
              <a:off x="7339331" y="3192130"/>
              <a:ext cx="126305" cy="132095"/>
            </a:xfrm>
            <a:prstGeom prst="rect">
              <a:avLst/>
            </a:prstGeom>
            <a:solidFill>
              <a:schemeClr val="accent4">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2" name="Rektangel 1061">
              <a:extLst>
                <a:ext uri="{FF2B5EF4-FFF2-40B4-BE49-F238E27FC236}">
                  <a16:creationId xmlns:a16="http://schemas.microsoft.com/office/drawing/2014/main" id="{C2846DE4-F371-1BF5-4167-59B95320B756}"/>
                </a:ext>
              </a:extLst>
            </p:cNvPr>
            <p:cNvSpPr/>
            <p:nvPr userDrawn="1"/>
          </p:nvSpPr>
          <p:spPr>
            <a:xfrm>
              <a:off x="7513832" y="2661345"/>
              <a:ext cx="126305" cy="132095"/>
            </a:xfrm>
            <a:prstGeom prst="rect">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3" name="Rektangel 1062">
              <a:extLst>
                <a:ext uri="{FF2B5EF4-FFF2-40B4-BE49-F238E27FC236}">
                  <a16:creationId xmlns:a16="http://schemas.microsoft.com/office/drawing/2014/main" id="{D1FCE270-22E9-6108-5292-0A2E890C7042}"/>
                </a:ext>
              </a:extLst>
            </p:cNvPr>
            <p:cNvSpPr/>
            <p:nvPr userDrawn="1"/>
          </p:nvSpPr>
          <p:spPr>
            <a:xfrm>
              <a:off x="7513832" y="2794041"/>
              <a:ext cx="126305" cy="132095"/>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4" name="Rektangel 1063">
              <a:extLst>
                <a:ext uri="{FF2B5EF4-FFF2-40B4-BE49-F238E27FC236}">
                  <a16:creationId xmlns:a16="http://schemas.microsoft.com/office/drawing/2014/main" id="{E0AB0C3D-3E2C-BA8B-F8FF-D1BAE2FD78AB}"/>
                </a:ext>
              </a:extLst>
            </p:cNvPr>
            <p:cNvSpPr/>
            <p:nvPr userDrawn="1"/>
          </p:nvSpPr>
          <p:spPr>
            <a:xfrm>
              <a:off x="7513832" y="2926737"/>
              <a:ext cx="126305" cy="132095"/>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5" name="Rektangel 1064">
              <a:extLst>
                <a:ext uri="{FF2B5EF4-FFF2-40B4-BE49-F238E27FC236}">
                  <a16:creationId xmlns:a16="http://schemas.microsoft.com/office/drawing/2014/main" id="{A5B9B835-C0B3-CE1F-0F4F-E77B314EE265}"/>
                </a:ext>
              </a:extLst>
            </p:cNvPr>
            <p:cNvSpPr/>
            <p:nvPr userDrawn="1"/>
          </p:nvSpPr>
          <p:spPr>
            <a:xfrm>
              <a:off x="7513832" y="3059433"/>
              <a:ext cx="126305" cy="132095"/>
            </a:xfrm>
            <a:prstGeom prst="rect">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6" name="Rektangel 1065">
              <a:extLst>
                <a:ext uri="{FF2B5EF4-FFF2-40B4-BE49-F238E27FC236}">
                  <a16:creationId xmlns:a16="http://schemas.microsoft.com/office/drawing/2014/main" id="{B6F46CE6-CCAF-9D3F-1627-61487FF99D45}"/>
                </a:ext>
              </a:extLst>
            </p:cNvPr>
            <p:cNvSpPr/>
            <p:nvPr userDrawn="1"/>
          </p:nvSpPr>
          <p:spPr>
            <a:xfrm>
              <a:off x="7513832" y="3192130"/>
              <a:ext cx="126305" cy="132095"/>
            </a:xfrm>
            <a:prstGeom prst="rect">
              <a:avLst/>
            </a:prstGeom>
            <a:solidFill>
              <a:schemeClr val="accent5">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7" name="Rektangel 1066">
              <a:extLst>
                <a:ext uri="{FF2B5EF4-FFF2-40B4-BE49-F238E27FC236}">
                  <a16:creationId xmlns:a16="http://schemas.microsoft.com/office/drawing/2014/main" id="{B0D96E62-E6D5-5382-108B-2D8B21B1C7C0}"/>
                </a:ext>
              </a:extLst>
            </p:cNvPr>
            <p:cNvSpPr/>
            <p:nvPr userDrawn="1"/>
          </p:nvSpPr>
          <p:spPr>
            <a:xfrm>
              <a:off x="7690674" y="2661345"/>
              <a:ext cx="126305" cy="13209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8" name="Rektangel 1067">
              <a:extLst>
                <a:ext uri="{FF2B5EF4-FFF2-40B4-BE49-F238E27FC236}">
                  <a16:creationId xmlns:a16="http://schemas.microsoft.com/office/drawing/2014/main" id="{589AC037-F773-58BF-FA0E-B29A0BAE94D6}"/>
                </a:ext>
              </a:extLst>
            </p:cNvPr>
            <p:cNvSpPr/>
            <p:nvPr userDrawn="1"/>
          </p:nvSpPr>
          <p:spPr>
            <a:xfrm>
              <a:off x="7690674" y="2794041"/>
              <a:ext cx="126305" cy="132095"/>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9" name="Rektangel 1068">
              <a:extLst>
                <a:ext uri="{FF2B5EF4-FFF2-40B4-BE49-F238E27FC236}">
                  <a16:creationId xmlns:a16="http://schemas.microsoft.com/office/drawing/2014/main" id="{07045815-7B67-4A94-7C17-8D64E287040A}"/>
                </a:ext>
              </a:extLst>
            </p:cNvPr>
            <p:cNvSpPr/>
            <p:nvPr userDrawn="1"/>
          </p:nvSpPr>
          <p:spPr>
            <a:xfrm>
              <a:off x="7690674" y="2926737"/>
              <a:ext cx="126305" cy="13209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0" name="Rektangel 1069">
              <a:extLst>
                <a:ext uri="{FF2B5EF4-FFF2-40B4-BE49-F238E27FC236}">
                  <a16:creationId xmlns:a16="http://schemas.microsoft.com/office/drawing/2014/main" id="{D85D7A99-C5CD-38F6-939F-A3EF9E12781C}"/>
                </a:ext>
              </a:extLst>
            </p:cNvPr>
            <p:cNvSpPr/>
            <p:nvPr userDrawn="1"/>
          </p:nvSpPr>
          <p:spPr>
            <a:xfrm>
              <a:off x="7690674" y="3059433"/>
              <a:ext cx="126305" cy="132095"/>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1" name="Rektangel 1070">
              <a:extLst>
                <a:ext uri="{FF2B5EF4-FFF2-40B4-BE49-F238E27FC236}">
                  <a16:creationId xmlns:a16="http://schemas.microsoft.com/office/drawing/2014/main" id="{32FB7A58-1D8F-5665-AC4F-BA2FE1869B27}"/>
                </a:ext>
              </a:extLst>
            </p:cNvPr>
            <p:cNvSpPr/>
            <p:nvPr userDrawn="1"/>
          </p:nvSpPr>
          <p:spPr>
            <a:xfrm>
              <a:off x="7690674" y="3192130"/>
              <a:ext cx="126305" cy="132095"/>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7" name="Rektangel 1076">
              <a:extLst>
                <a:ext uri="{FF2B5EF4-FFF2-40B4-BE49-F238E27FC236}">
                  <a16:creationId xmlns:a16="http://schemas.microsoft.com/office/drawing/2014/main" id="{5F9AF638-6FAD-3C50-00FA-ADD872158CE5}"/>
                </a:ext>
              </a:extLst>
            </p:cNvPr>
            <p:cNvSpPr/>
            <p:nvPr userDrawn="1"/>
          </p:nvSpPr>
          <p:spPr>
            <a:xfrm>
              <a:off x="6464595" y="23882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8" name="Rektangel 1077">
              <a:extLst>
                <a:ext uri="{FF2B5EF4-FFF2-40B4-BE49-F238E27FC236}">
                  <a16:creationId xmlns:a16="http://schemas.microsoft.com/office/drawing/2014/main" id="{C4749DD0-3DD2-A386-7BED-084BA84DBBE6}"/>
                </a:ext>
              </a:extLst>
            </p:cNvPr>
            <p:cNvSpPr/>
            <p:nvPr userDrawn="1"/>
          </p:nvSpPr>
          <p:spPr>
            <a:xfrm>
              <a:off x="6464595" y="2661345"/>
              <a:ext cx="126305" cy="13209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9" name="Rektangel 1078">
              <a:extLst>
                <a:ext uri="{FF2B5EF4-FFF2-40B4-BE49-F238E27FC236}">
                  <a16:creationId xmlns:a16="http://schemas.microsoft.com/office/drawing/2014/main" id="{B4499066-323D-EE08-E5A2-F43B0807892C}"/>
                </a:ext>
              </a:extLst>
            </p:cNvPr>
            <p:cNvSpPr/>
            <p:nvPr userDrawn="1"/>
          </p:nvSpPr>
          <p:spPr>
            <a:xfrm>
              <a:off x="6464595" y="2794041"/>
              <a:ext cx="126305" cy="132095"/>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0" name="Rektangel 1079">
              <a:extLst>
                <a:ext uri="{FF2B5EF4-FFF2-40B4-BE49-F238E27FC236}">
                  <a16:creationId xmlns:a16="http://schemas.microsoft.com/office/drawing/2014/main" id="{1BBF49EA-C637-CAB3-6569-11A2CFD31079}"/>
                </a:ext>
              </a:extLst>
            </p:cNvPr>
            <p:cNvSpPr/>
            <p:nvPr userDrawn="1"/>
          </p:nvSpPr>
          <p:spPr>
            <a:xfrm>
              <a:off x="6464595" y="2926737"/>
              <a:ext cx="126305" cy="132095"/>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1" name="Rektangel 1080">
              <a:extLst>
                <a:ext uri="{FF2B5EF4-FFF2-40B4-BE49-F238E27FC236}">
                  <a16:creationId xmlns:a16="http://schemas.microsoft.com/office/drawing/2014/main" id="{1F27D949-C326-6486-1CD4-2B8AF35ADE78}"/>
                </a:ext>
              </a:extLst>
            </p:cNvPr>
            <p:cNvSpPr/>
            <p:nvPr userDrawn="1"/>
          </p:nvSpPr>
          <p:spPr>
            <a:xfrm>
              <a:off x="6464595" y="3059433"/>
              <a:ext cx="126305" cy="132095"/>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2" name="Rektangel 1081">
              <a:extLst>
                <a:ext uri="{FF2B5EF4-FFF2-40B4-BE49-F238E27FC236}">
                  <a16:creationId xmlns:a16="http://schemas.microsoft.com/office/drawing/2014/main" id="{F216B4A1-3944-F8CE-8C9B-FA88B4D03E26}"/>
                </a:ext>
              </a:extLst>
            </p:cNvPr>
            <p:cNvSpPr/>
            <p:nvPr userDrawn="1"/>
          </p:nvSpPr>
          <p:spPr>
            <a:xfrm>
              <a:off x="6464595" y="3192130"/>
              <a:ext cx="126305" cy="132095"/>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3" name="Rektangel 1082">
              <a:extLst>
                <a:ext uri="{FF2B5EF4-FFF2-40B4-BE49-F238E27FC236}">
                  <a16:creationId xmlns:a16="http://schemas.microsoft.com/office/drawing/2014/main" id="{5F4ADBA2-1A1B-A4CA-F30B-B0C82CEC3557}"/>
                </a:ext>
              </a:extLst>
            </p:cNvPr>
            <p:cNvSpPr/>
            <p:nvPr userDrawn="1"/>
          </p:nvSpPr>
          <p:spPr>
            <a:xfrm>
              <a:off x="6108995" y="38106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4" name="Rektangel 1083">
              <a:extLst>
                <a:ext uri="{FF2B5EF4-FFF2-40B4-BE49-F238E27FC236}">
                  <a16:creationId xmlns:a16="http://schemas.microsoft.com/office/drawing/2014/main" id="{374BD5DA-8482-21B6-9413-9B1A45CF76C1}"/>
                </a:ext>
              </a:extLst>
            </p:cNvPr>
            <p:cNvSpPr/>
            <p:nvPr userDrawn="1"/>
          </p:nvSpPr>
          <p:spPr>
            <a:xfrm>
              <a:off x="6108995" y="3986378"/>
              <a:ext cx="126305" cy="126305"/>
            </a:xfrm>
            <a:prstGeom prst="rect">
              <a:avLst/>
            </a:prstGeom>
            <a:solidFill>
              <a:srgbClr val="0D4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5" name="Rektangel 1084">
              <a:extLst>
                <a:ext uri="{FF2B5EF4-FFF2-40B4-BE49-F238E27FC236}">
                  <a16:creationId xmlns:a16="http://schemas.microsoft.com/office/drawing/2014/main" id="{5F6020BD-6733-E876-2089-C3084AEA1A1C}"/>
                </a:ext>
              </a:extLst>
            </p:cNvPr>
            <p:cNvSpPr/>
            <p:nvPr userDrawn="1"/>
          </p:nvSpPr>
          <p:spPr>
            <a:xfrm>
              <a:off x="6108995" y="4162061"/>
              <a:ext cx="126305" cy="126305"/>
            </a:xfrm>
            <a:prstGeom prst="rect">
              <a:avLst/>
            </a:prstGeom>
            <a:solidFill>
              <a:srgbClr val="4DA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6" name="Rektangel 1085">
              <a:extLst>
                <a:ext uri="{FF2B5EF4-FFF2-40B4-BE49-F238E27FC236}">
                  <a16:creationId xmlns:a16="http://schemas.microsoft.com/office/drawing/2014/main" id="{C4348C5F-5E10-920F-C2FB-889532E2F622}"/>
                </a:ext>
              </a:extLst>
            </p:cNvPr>
            <p:cNvSpPr/>
            <p:nvPr userDrawn="1"/>
          </p:nvSpPr>
          <p:spPr>
            <a:xfrm>
              <a:off x="6108995" y="4337745"/>
              <a:ext cx="126305" cy="126305"/>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7" name="Rektangel 1086">
              <a:extLst>
                <a:ext uri="{FF2B5EF4-FFF2-40B4-BE49-F238E27FC236}">
                  <a16:creationId xmlns:a16="http://schemas.microsoft.com/office/drawing/2014/main" id="{D2D321FD-AE36-8DCA-8744-C0F46B88F58C}"/>
                </a:ext>
              </a:extLst>
            </p:cNvPr>
            <p:cNvSpPr/>
            <p:nvPr userDrawn="1"/>
          </p:nvSpPr>
          <p:spPr>
            <a:xfrm>
              <a:off x="6285031" y="3810695"/>
              <a:ext cx="126305" cy="12630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8" name="Rektangel 1087">
              <a:extLst>
                <a:ext uri="{FF2B5EF4-FFF2-40B4-BE49-F238E27FC236}">
                  <a16:creationId xmlns:a16="http://schemas.microsoft.com/office/drawing/2014/main" id="{A93DF2FE-61D7-AA01-C339-B2ECCF6D103B}"/>
                </a:ext>
              </a:extLst>
            </p:cNvPr>
            <p:cNvSpPr/>
            <p:nvPr userDrawn="1"/>
          </p:nvSpPr>
          <p:spPr>
            <a:xfrm>
              <a:off x="6285031" y="3986378"/>
              <a:ext cx="126305" cy="126305"/>
            </a:xfrm>
            <a:prstGeom prst="rect">
              <a:avLst/>
            </a:prstGeom>
            <a:solidFill>
              <a:srgbClr val="1C4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9" name="Rektangel 1088">
              <a:extLst>
                <a:ext uri="{FF2B5EF4-FFF2-40B4-BE49-F238E27FC236}">
                  <a16:creationId xmlns:a16="http://schemas.microsoft.com/office/drawing/2014/main" id="{89244240-2B76-F8CB-21C9-2B1FA90DD280}"/>
                </a:ext>
              </a:extLst>
            </p:cNvPr>
            <p:cNvSpPr/>
            <p:nvPr userDrawn="1"/>
          </p:nvSpPr>
          <p:spPr>
            <a:xfrm>
              <a:off x="6285031" y="4162061"/>
              <a:ext cx="126305" cy="126305"/>
            </a:xfrm>
            <a:prstGeom prst="rect">
              <a:avLst/>
            </a:prstGeom>
            <a:solidFill>
              <a:srgbClr val="339C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0" name="Rektangel 1089">
              <a:extLst>
                <a:ext uri="{FF2B5EF4-FFF2-40B4-BE49-F238E27FC236}">
                  <a16:creationId xmlns:a16="http://schemas.microsoft.com/office/drawing/2014/main" id="{33D9BE51-B8F2-F451-C1A3-3725C01F9D93}"/>
                </a:ext>
              </a:extLst>
            </p:cNvPr>
            <p:cNvSpPr/>
            <p:nvPr userDrawn="1"/>
          </p:nvSpPr>
          <p:spPr>
            <a:xfrm>
              <a:off x="6285031" y="4337745"/>
              <a:ext cx="126305" cy="126305"/>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1" name="Rektangel 1090">
              <a:extLst>
                <a:ext uri="{FF2B5EF4-FFF2-40B4-BE49-F238E27FC236}">
                  <a16:creationId xmlns:a16="http://schemas.microsoft.com/office/drawing/2014/main" id="{ACA30911-7D60-921E-C70A-F693BE675834}"/>
                </a:ext>
              </a:extLst>
            </p:cNvPr>
            <p:cNvSpPr/>
            <p:nvPr userDrawn="1"/>
          </p:nvSpPr>
          <p:spPr>
            <a:xfrm>
              <a:off x="6461067" y="38106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2" name="Rektangel 1091">
              <a:extLst>
                <a:ext uri="{FF2B5EF4-FFF2-40B4-BE49-F238E27FC236}">
                  <a16:creationId xmlns:a16="http://schemas.microsoft.com/office/drawing/2014/main" id="{7C3A2D5F-4466-B210-4CF0-4DBBC6BB3BA6}"/>
                </a:ext>
              </a:extLst>
            </p:cNvPr>
            <p:cNvSpPr/>
            <p:nvPr userDrawn="1"/>
          </p:nvSpPr>
          <p:spPr>
            <a:xfrm>
              <a:off x="6461067" y="3986378"/>
              <a:ext cx="126305" cy="126305"/>
            </a:xfrm>
            <a:prstGeom prst="rect">
              <a:avLst/>
            </a:prstGeom>
            <a:solidFill>
              <a:srgbClr val="7800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3" name="Rektangel 1092">
              <a:extLst>
                <a:ext uri="{FF2B5EF4-FFF2-40B4-BE49-F238E27FC236}">
                  <a16:creationId xmlns:a16="http://schemas.microsoft.com/office/drawing/2014/main" id="{3DB1223D-C353-676D-5093-C19368A843EA}"/>
                </a:ext>
              </a:extLst>
            </p:cNvPr>
            <p:cNvSpPr/>
            <p:nvPr userDrawn="1"/>
          </p:nvSpPr>
          <p:spPr>
            <a:xfrm>
              <a:off x="6461067" y="4162061"/>
              <a:ext cx="126305" cy="126305"/>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4" name="Rektangel 1093">
              <a:extLst>
                <a:ext uri="{FF2B5EF4-FFF2-40B4-BE49-F238E27FC236}">
                  <a16:creationId xmlns:a16="http://schemas.microsoft.com/office/drawing/2014/main" id="{ECBE00DC-9A99-ED4F-7AB0-E71447F5BE95}"/>
                </a:ext>
              </a:extLst>
            </p:cNvPr>
            <p:cNvSpPr/>
            <p:nvPr userDrawn="1"/>
          </p:nvSpPr>
          <p:spPr>
            <a:xfrm>
              <a:off x="6461067" y="4337745"/>
              <a:ext cx="126305" cy="126305"/>
            </a:xfrm>
            <a:prstGeom prst="rect">
              <a:avLst/>
            </a:prstGeom>
            <a:solidFill>
              <a:srgbClr val="FFCC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5" name="Rektangel 1094">
              <a:extLst>
                <a:ext uri="{FF2B5EF4-FFF2-40B4-BE49-F238E27FC236}">
                  <a16:creationId xmlns:a16="http://schemas.microsoft.com/office/drawing/2014/main" id="{5BAC4B2F-5948-684F-53E5-17024EA24387}"/>
                </a:ext>
              </a:extLst>
            </p:cNvPr>
            <p:cNvSpPr/>
            <p:nvPr userDrawn="1"/>
          </p:nvSpPr>
          <p:spPr>
            <a:xfrm>
              <a:off x="6637103" y="38106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6" name="Rektangel 1095">
              <a:extLst>
                <a:ext uri="{FF2B5EF4-FFF2-40B4-BE49-F238E27FC236}">
                  <a16:creationId xmlns:a16="http://schemas.microsoft.com/office/drawing/2014/main" id="{9DED6478-BDF3-512F-58F3-E36C2B3C3BAA}"/>
                </a:ext>
              </a:extLst>
            </p:cNvPr>
            <p:cNvSpPr/>
            <p:nvPr userDrawn="1"/>
          </p:nvSpPr>
          <p:spPr>
            <a:xfrm>
              <a:off x="6637103" y="3986378"/>
              <a:ext cx="126305" cy="126305"/>
            </a:xfrm>
            <a:prstGeom prst="rect">
              <a:avLst/>
            </a:prstGeom>
            <a:solidFill>
              <a:srgbClr val="A65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7" name="Rektangel 1096">
              <a:extLst>
                <a:ext uri="{FF2B5EF4-FFF2-40B4-BE49-F238E27FC236}">
                  <a16:creationId xmlns:a16="http://schemas.microsoft.com/office/drawing/2014/main" id="{6D820422-D0D9-5ACE-DB5E-ACF44106A99E}"/>
                </a:ext>
              </a:extLst>
            </p:cNvPr>
            <p:cNvSpPr/>
            <p:nvPr userDrawn="1"/>
          </p:nvSpPr>
          <p:spPr>
            <a:xfrm>
              <a:off x="6637103" y="4162061"/>
              <a:ext cx="126305" cy="126305"/>
            </a:xfrm>
            <a:prstGeom prst="rect">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8" name="Rektangel 1097">
              <a:extLst>
                <a:ext uri="{FF2B5EF4-FFF2-40B4-BE49-F238E27FC236}">
                  <a16:creationId xmlns:a16="http://schemas.microsoft.com/office/drawing/2014/main" id="{8B60BAF5-04DE-84E4-664B-F75D369387BB}"/>
                </a:ext>
              </a:extLst>
            </p:cNvPr>
            <p:cNvSpPr/>
            <p:nvPr userDrawn="1"/>
          </p:nvSpPr>
          <p:spPr>
            <a:xfrm>
              <a:off x="6637103" y="4337745"/>
              <a:ext cx="126305" cy="12630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9" name="Rektangel 1098">
              <a:extLst>
                <a:ext uri="{FF2B5EF4-FFF2-40B4-BE49-F238E27FC236}">
                  <a16:creationId xmlns:a16="http://schemas.microsoft.com/office/drawing/2014/main" id="{2E36144B-8356-508C-530F-E4563E893F8E}"/>
                </a:ext>
              </a:extLst>
            </p:cNvPr>
            <p:cNvSpPr/>
            <p:nvPr userDrawn="1"/>
          </p:nvSpPr>
          <p:spPr>
            <a:xfrm>
              <a:off x="6813139" y="38106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0" name="Rektangel 1099">
              <a:extLst>
                <a:ext uri="{FF2B5EF4-FFF2-40B4-BE49-F238E27FC236}">
                  <a16:creationId xmlns:a16="http://schemas.microsoft.com/office/drawing/2014/main" id="{4A6003A8-E644-C22A-594E-648C05A084B5}"/>
                </a:ext>
              </a:extLst>
            </p:cNvPr>
            <p:cNvSpPr/>
            <p:nvPr userDrawn="1"/>
          </p:nvSpPr>
          <p:spPr>
            <a:xfrm>
              <a:off x="6813139" y="3986378"/>
              <a:ext cx="126305" cy="126305"/>
            </a:xfrm>
            <a:prstGeom prst="rect">
              <a:avLst/>
            </a:prstGeom>
            <a:solidFill>
              <a:srgbClr val="3232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1" name="Rektangel 1100">
              <a:extLst>
                <a:ext uri="{FF2B5EF4-FFF2-40B4-BE49-F238E27FC236}">
                  <a16:creationId xmlns:a16="http://schemas.microsoft.com/office/drawing/2014/main" id="{71252218-348E-C0A3-6703-29BD88D5A17F}"/>
                </a:ext>
              </a:extLst>
            </p:cNvPr>
            <p:cNvSpPr/>
            <p:nvPr userDrawn="1"/>
          </p:nvSpPr>
          <p:spPr>
            <a:xfrm>
              <a:off x="6813139" y="4162061"/>
              <a:ext cx="126305" cy="126305"/>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2" name="Rektangel 1101">
              <a:extLst>
                <a:ext uri="{FF2B5EF4-FFF2-40B4-BE49-F238E27FC236}">
                  <a16:creationId xmlns:a16="http://schemas.microsoft.com/office/drawing/2014/main" id="{F40D39AB-38A0-8D9F-98CF-0849C6CB1A97}"/>
                </a:ext>
              </a:extLst>
            </p:cNvPr>
            <p:cNvSpPr/>
            <p:nvPr userDrawn="1"/>
          </p:nvSpPr>
          <p:spPr>
            <a:xfrm>
              <a:off x="6813139" y="4337745"/>
              <a:ext cx="126305" cy="126305"/>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3" name="Rektangel 1102">
              <a:extLst>
                <a:ext uri="{FF2B5EF4-FFF2-40B4-BE49-F238E27FC236}">
                  <a16:creationId xmlns:a16="http://schemas.microsoft.com/office/drawing/2014/main" id="{B0EEB85D-E1B5-BB7E-06F5-B7F663E237EA}"/>
                </a:ext>
              </a:extLst>
            </p:cNvPr>
            <p:cNvSpPr/>
            <p:nvPr userDrawn="1"/>
          </p:nvSpPr>
          <p:spPr>
            <a:xfrm>
              <a:off x="6989175" y="38106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4" name="Rektangel 1103">
              <a:extLst>
                <a:ext uri="{FF2B5EF4-FFF2-40B4-BE49-F238E27FC236}">
                  <a16:creationId xmlns:a16="http://schemas.microsoft.com/office/drawing/2014/main" id="{0C4BF3AC-6949-B173-1F6F-7ACF6CCCA68D}"/>
                </a:ext>
              </a:extLst>
            </p:cNvPr>
            <p:cNvSpPr/>
            <p:nvPr userDrawn="1"/>
          </p:nvSpPr>
          <p:spPr>
            <a:xfrm>
              <a:off x="6989175"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5" name="Rektangel 1104">
              <a:extLst>
                <a:ext uri="{FF2B5EF4-FFF2-40B4-BE49-F238E27FC236}">
                  <a16:creationId xmlns:a16="http://schemas.microsoft.com/office/drawing/2014/main" id="{5E724053-DDC1-BCE6-018B-3C13912CBCAA}"/>
                </a:ext>
              </a:extLst>
            </p:cNvPr>
            <p:cNvSpPr/>
            <p:nvPr userDrawn="1"/>
          </p:nvSpPr>
          <p:spPr>
            <a:xfrm>
              <a:off x="6989175"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7" name="Rektangel 1106">
              <a:extLst>
                <a:ext uri="{FF2B5EF4-FFF2-40B4-BE49-F238E27FC236}">
                  <a16:creationId xmlns:a16="http://schemas.microsoft.com/office/drawing/2014/main" id="{B89A7384-2EB1-E47E-4661-2C135E836BAB}"/>
                </a:ext>
              </a:extLst>
            </p:cNvPr>
            <p:cNvSpPr/>
            <p:nvPr userDrawn="1"/>
          </p:nvSpPr>
          <p:spPr>
            <a:xfrm>
              <a:off x="7165211"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8" name="Rektangel 1107">
              <a:extLst>
                <a:ext uri="{FF2B5EF4-FFF2-40B4-BE49-F238E27FC236}">
                  <a16:creationId xmlns:a16="http://schemas.microsoft.com/office/drawing/2014/main" id="{64053484-E065-730D-63D9-F3F09E971CEC}"/>
                </a:ext>
              </a:extLst>
            </p:cNvPr>
            <p:cNvSpPr/>
            <p:nvPr userDrawn="1"/>
          </p:nvSpPr>
          <p:spPr>
            <a:xfrm>
              <a:off x="7165211"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9" name="Rektangel 1108">
              <a:extLst>
                <a:ext uri="{FF2B5EF4-FFF2-40B4-BE49-F238E27FC236}">
                  <a16:creationId xmlns:a16="http://schemas.microsoft.com/office/drawing/2014/main" id="{E5345871-5F8B-2377-CAC8-6913E51EB927}"/>
                </a:ext>
              </a:extLst>
            </p:cNvPr>
            <p:cNvSpPr/>
            <p:nvPr userDrawn="1"/>
          </p:nvSpPr>
          <p:spPr>
            <a:xfrm>
              <a:off x="7165211"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1" name="Rektangel 1110">
              <a:extLst>
                <a:ext uri="{FF2B5EF4-FFF2-40B4-BE49-F238E27FC236}">
                  <a16:creationId xmlns:a16="http://schemas.microsoft.com/office/drawing/2014/main" id="{15038F50-63E9-76D9-070D-599071F6D0B1}"/>
                </a:ext>
              </a:extLst>
            </p:cNvPr>
            <p:cNvSpPr/>
            <p:nvPr userDrawn="1"/>
          </p:nvSpPr>
          <p:spPr>
            <a:xfrm>
              <a:off x="7341247"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2" name="Rektangel 1111">
              <a:extLst>
                <a:ext uri="{FF2B5EF4-FFF2-40B4-BE49-F238E27FC236}">
                  <a16:creationId xmlns:a16="http://schemas.microsoft.com/office/drawing/2014/main" id="{062851F2-FDB2-63C5-B741-C1CAD1FE3211}"/>
                </a:ext>
              </a:extLst>
            </p:cNvPr>
            <p:cNvSpPr/>
            <p:nvPr userDrawn="1"/>
          </p:nvSpPr>
          <p:spPr>
            <a:xfrm>
              <a:off x="7341247"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3" name="Rektangel 1112">
              <a:extLst>
                <a:ext uri="{FF2B5EF4-FFF2-40B4-BE49-F238E27FC236}">
                  <a16:creationId xmlns:a16="http://schemas.microsoft.com/office/drawing/2014/main" id="{DE4F3BAC-C90D-4B77-27FF-4CD535F909E2}"/>
                </a:ext>
              </a:extLst>
            </p:cNvPr>
            <p:cNvSpPr/>
            <p:nvPr userDrawn="1"/>
          </p:nvSpPr>
          <p:spPr>
            <a:xfrm>
              <a:off x="7341247"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5" name="Rektangel 1114">
              <a:extLst>
                <a:ext uri="{FF2B5EF4-FFF2-40B4-BE49-F238E27FC236}">
                  <a16:creationId xmlns:a16="http://schemas.microsoft.com/office/drawing/2014/main" id="{6625D88E-960F-4248-3CEB-C2E5020321B6}"/>
                </a:ext>
              </a:extLst>
            </p:cNvPr>
            <p:cNvSpPr/>
            <p:nvPr userDrawn="1"/>
          </p:nvSpPr>
          <p:spPr>
            <a:xfrm>
              <a:off x="7517283"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6" name="Rektangel 1115">
              <a:extLst>
                <a:ext uri="{FF2B5EF4-FFF2-40B4-BE49-F238E27FC236}">
                  <a16:creationId xmlns:a16="http://schemas.microsoft.com/office/drawing/2014/main" id="{C10CFB8F-8E16-B335-A926-3A4BAA2E78D5}"/>
                </a:ext>
              </a:extLst>
            </p:cNvPr>
            <p:cNvSpPr/>
            <p:nvPr userDrawn="1"/>
          </p:nvSpPr>
          <p:spPr>
            <a:xfrm>
              <a:off x="7517283"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7" name="Rektangel 1116">
              <a:extLst>
                <a:ext uri="{FF2B5EF4-FFF2-40B4-BE49-F238E27FC236}">
                  <a16:creationId xmlns:a16="http://schemas.microsoft.com/office/drawing/2014/main" id="{1BAFE015-800E-787E-0572-90F6C0823C14}"/>
                </a:ext>
              </a:extLst>
            </p:cNvPr>
            <p:cNvSpPr/>
            <p:nvPr userDrawn="1"/>
          </p:nvSpPr>
          <p:spPr>
            <a:xfrm>
              <a:off x="7517283"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9" name="Rektangel 1118">
              <a:extLst>
                <a:ext uri="{FF2B5EF4-FFF2-40B4-BE49-F238E27FC236}">
                  <a16:creationId xmlns:a16="http://schemas.microsoft.com/office/drawing/2014/main" id="{4A97B2EF-9E28-C94C-6879-E7C073C12C39}"/>
                </a:ext>
              </a:extLst>
            </p:cNvPr>
            <p:cNvSpPr/>
            <p:nvPr userDrawn="1"/>
          </p:nvSpPr>
          <p:spPr>
            <a:xfrm>
              <a:off x="7693320"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0" name="Rektangel 1119">
              <a:extLst>
                <a:ext uri="{FF2B5EF4-FFF2-40B4-BE49-F238E27FC236}">
                  <a16:creationId xmlns:a16="http://schemas.microsoft.com/office/drawing/2014/main" id="{0046F9B6-9CA1-5B09-D162-A1A23AA1E72E}"/>
                </a:ext>
              </a:extLst>
            </p:cNvPr>
            <p:cNvSpPr/>
            <p:nvPr userDrawn="1"/>
          </p:nvSpPr>
          <p:spPr>
            <a:xfrm>
              <a:off x="7693320"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1" name="Rektangel 1120">
              <a:extLst>
                <a:ext uri="{FF2B5EF4-FFF2-40B4-BE49-F238E27FC236}">
                  <a16:creationId xmlns:a16="http://schemas.microsoft.com/office/drawing/2014/main" id="{555E2503-2C99-3601-4234-B5374905D676}"/>
                </a:ext>
              </a:extLst>
            </p:cNvPr>
            <p:cNvSpPr/>
            <p:nvPr userDrawn="1"/>
          </p:nvSpPr>
          <p:spPr>
            <a:xfrm>
              <a:off x="7693320"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grpSp>
      <p:sp>
        <p:nvSpPr>
          <p:cNvPr id="11" name="Rektangel med rundade hörn 10">
            <a:extLst>
              <a:ext uri="{FF2B5EF4-FFF2-40B4-BE49-F238E27FC236}">
                <a16:creationId xmlns:a16="http://schemas.microsoft.com/office/drawing/2014/main" id="{636AEB1C-664E-B3BB-DB73-01E07A3BF846}"/>
              </a:ext>
            </a:extLst>
          </p:cNvPr>
          <p:cNvSpPr/>
          <p:nvPr userDrawn="1"/>
        </p:nvSpPr>
        <p:spPr>
          <a:xfrm>
            <a:off x="6062449" y="2168771"/>
            <a:ext cx="800154" cy="97738"/>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6" name="Rektangel med rundade hörn 1125">
            <a:extLst>
              <a:ext uri="{FF2B5EF4-FFF2-40B4-BE49-F238E27FC236}">
                <a16:creationId xmlns:a16="http://schemas.microsoft.com/office/drawing/2014/main" id="{F5D2D686-1879-1B11-9682-DCB8A43C167A}"/>
              </a:ext>
            </a:extLst>
          </p:cNvPr>
          <p:cNvSpPr/>
          <p:nvPr userDrawn="1"/>
        </p:nvSpPr>
        <p:spPr>
          <a:xfrm>
            <a:off x="6062449" y="2800595"/>
            <a:ext cx="800154" cy="331200"/>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8" name="Grupp 37">
            <a:extLst>
              <a:ext uri="{FF2B5EF4-FFF2-40B4-BE49-F238E27FC236}">
                <a16:creationId xmlns:a16="http://schemas.microsoft.com/office/drawing/2014/main" id="{6F818A9C-F465-3CE9-20FA-7BDEA4C864A3}"/>
              </a:ext>
            </a:extLst>
          </p:cNvPr>
          <p:cNvGrpSpPr/>
          <p:nvPr userDrawn="1"/>
        </p:nvGrpSpPr>
        <p:grpSpPr>
          <a:xfrm>
            <a:off x="6074571" y="3306851"/>
            <a:ext cx="781200" cy="90681"/>
            <a:chOff x="6511014" y="2308965"/>
            <a:chExt cx="602272" cy="346936"/>
          </a:xfrm>
        </p:grpSpPr>
        <p:sp>
          <p:nvSpPr>
            <p:cNvPr id="39" name="Rektangel med rundade hörn 38">
              <a:extLst>
                <a:ext uri="{FF2B5EF4-FFF2-40B4-BE49-F238E27FC236}">
                  <a16:creationId xmlns:a16="http://schemas.microsoft.com/office/drawing/2014/main" id="{341D2BCA-FEB1-3F16-2075-DBBCEE121133}"/>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0" name="Rak 39">
              <a:extLst>
                <a:ext uri="{FF2B5EF4-FFF2-40B4-BE49-F238E27FC236}">
                  <a16:creationId xmlns:a16="http://schemas.microsoft.com/office/drawing/2014/main" id="{245C22F3-BAE7-75A9-96B0-E39BB2EFEC22}"/>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41" name="Rak 40">
              <a:extLst>
                <a:ext uri="{FF2B5EF4-FFF2-40B4-BE49-F238E27FC236}">
                  <a16:creationId xmlns:a16="http://schemas.microsoft.com/office/drawing/2014/main" id="{1947DE09-EBCF-E910-33E6-512123ADAAFA}"/>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grpSp>
        <p:nvGrpSpPr>
          <p:cNvPr id="1127" name="Grupp 1126">
            <a:extLst>
              <a:ext uri="{FF2B5EF4-FFF2-40B4-BE49-F238E27FC236}">
                <a16:creationId xmlns:a16="http://schemas.microsoft.com/office/drawing/2014/main" id="{5E961FC3-B409-F6A8-2D6C-145379049C89}"/>
              </a:ext>
            </a:extLst>
          </p:cNvPr>
          <p:cNvGrpSpPr/>
          <p:nvPr userDrawn="1"/>
        </p:nvGrpSpPr>
        <p:grpSpPr>
          <a:xfrm>
            <a:off x="6074571" y="2295574"/>
            <a:ext cx="781200" cy="324083"/>
            <a:chOff x="6511014" y="2308965"/>
            <a:chExt cx="602272" cy="346936"/>
          </a:xfrm>
        </p:grpSpPr>
        <p:sp>
          <p:nvSpPr>
            <p:cNvPr id="1128" name="Rektangel med rundade hörn 1127">
              <a:extLst>
                <a:ext uri="{FF2B5EF4-FFF2-40B4-BE49-F238E27FC236}">
                  <a16:creationId xmlns:a16="http://schemas.microsoft.com/office/drawing/2014/main" id="{2B5BA7A3-F734-9E73-0F7B-B2A14C010F59}"/>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129" name="Rak 1128">
              <a:extLst>
                <a:ext uri="{FF2B5EF4-FFF2-40B4-BE49-F238E27FC236}">
                  <a16:creationId xmlns:a16="http://schemas.microsoft.com/office/drawing/2014/main" id="{23AB9D37-FDD0-9B73-576D-D72C040BD7D8}"/>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1130" name="Rak 1129">
              <a:extLst>
                <a:ext uri="{FF2B5EF4-FFF2-40B4-BE49-F238E27FC236}">
                  <a16:creationId xmlns:a16="http://schemas.microsoft.com/office/drawing/2014/main" id="{3A5FBCF0-695B-2C2E-D769-6AEE9E5D9CA6}"/>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27242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120FD48D-1F42-B341-AF85-AE480DB64991}" type="datetime1">
              <a:rPr lang="sv-SE" smtClean="0"/>
              <a:t>2025-07-14</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2" name="textruta 1">
            <a:extLst>
              <a:ext uri="{FF2B5EF4-FFF2-40B4-BE49-F238E27FC236}">
                <a16:creationId xmlns:a16="http://schemas.microsoft.com/office/drawing/2014/main" id="{1A0056A6-C8C3-8E39-A19D-E42D44FC04A1}"/>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2013/2016.</a:t>
            </a:r>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3216265"/>
          </a:xfrm>
          <a:prstGeom prst="rect">
            <a:avLst/>
          </a:prstGeom>
          <a:noFill/>
        </p:spPr>
        <p:txBody>
          <a:bodyPr wrap="square" rtlCol="0">
            <a:spAutoFit/>
          </a:bodyPr>
          <a:lstStyle/>
          <a:p>
            <a:pPr>
              <a:spcAft>
                <a:spcPts val="600"/>
              </a:spcAft>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latin typeface="+mj-lt"/>
              </a:rPr>
              <a:t>You can control the reading order by:</a:t>
            </a:r>
          </a:p>
          <a:p>
            <a:pPr marL="228600" indent="-228600">
              <a:spcAft>
                <a:spcPts val="600"/>
              </a:spcAft>
              <a:buClr>
                <a:schemeClr val="accent1"/>
              </a:buClr>
              <a:buFont typeface="+mj-lt"/>
              <a:buAutoNum type="arabicPeriod"/>
            </a:pPr>
            <a:r>
              <a:rPr lang="en-US" sz="1200" dirty="0"/>
              <a:t>Selecting an object in the file.</a:t>
            </a:r>
          </a:p>
          <a:p>
            <a:pPr marL="228600" indent="-228600">
              <a:spcAft>
                <a:spcPts val="600"/>
              </a:spcAft>
              <a:buClr>
                <a:schemeClr val="accent1"/>
              </a:buClr>
              <a:buFont typeface="+mj-lt"/>
              <a:buAutoNum type="arabicPeriod"/>
            </a:pPr>
            <a:r>
              <a:rPr lang="en-US" sz="1200" dirty="0"/>
              <a:t>Choosing the "Format" tab that appears on the right side of the ribbon.</a:t>
            </a:r>
          </a:p>
          <a:p>
            <a:pPr marL="228600" indent="-228600">
              <a:spcAft>
                <a:spcPts val="600"/>
              </a:spcAft>
              <a:buClr>
                <a:schemeClr val="accent1"/>
              </a:buClr>
              <a:buFont typeface="+mj-lt"/>
              <a:buAutoNum type="arabicPeriod"/>
            </a:pPr>
            <a:r>
              <a:rPr lang="en-US" sz="1200" dirty="0"/>
              <a:t>Selecting "Selection Pane" in the "Arrange" group.</a:t>
            </a:r>
          </a:p>
          <a:p>
            <a:pPr marL="228600" indent="-228600">
              <a:spcAft>
                <a:spcPts val="600"/>
              </a:spcAft>
              <a:buClr>
                <a:schemeClr val="accent1"/>
              </a:buClr>
              <a:buFont typeface="+mj-lt"/>
              <a:buAutoNum type="arabicPeriod"/>
            </a:pPr>
            <a:r>
              <a:rPr lang="en-US" sz="1200" dirty="0"/>
              <a:t>Selecting one or more objects in the list.</a:t>
            </a:r>
          </a:p>
          <a:p>
            <a:pPr marL="228600" indent="-228600">
              <a:spcAft>
                <a:spcPts val="600"/>
              </a:spcAft>
              <a:buClr>
                <a:schemeClr val="accent1"/>
              </a:buClr>
              <a:buFont typeface="+mj-lt"/>
              <a:buAutoNum type="arabicPeriod"/>
            </a:pPr>
            <a:r>
              <a:rPr lang="en-US" sz="1200" dirty="0"/>
              <a:t>Dragging the selection upward or downward, or clicking the "Up" button.</a:t>
            </a:r>
          </a:p>
          <a:p>
            <a:pPr marL="228600" indent="-228600">
              <a:spcAft>
                <a:spcPts val="600"/>
              </a:spcAft>
              <a:buClr>
                <a:schemeClr val="accent1"/>
              </a:buClr>
              <a:buFont typeface="+mj-lt"/>
              <a:buAutoNum type="arabicPeriod"/>
            </a:pPr>
            <a:r>
              <a:rPr lang="en-US" sz="1200" dirty="0"/>
              <a:t>Dragging the objects until they have the desired order. This will not affect the layout on the page, only the order in which they are read by screen readers.</a:t>
            </a:r>
          </a:p>
        </p:txBody>
      </p:sp>
    </p:spTree>
    <p:extLst>
      <p:ext uri="{BB962C8B-B14F-4D97-AF65-F5344CB8AC3E}">
        <p14:creationId xmlns:p14="http://schemas.microsoft.com/office/powerpoint/2010/main" val="460740386"/>
      </p:ext>
    </p:extLst>
  </p:cSld>
  <p:clrMapOvr>
    <a:masterClrMapping/>
  </p:clrMapOvr>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45830D3C-297D-AF4B-BF84-42155CB091D6}" type="datetime1">
              <a:rPr lang="sv-SE" smtClean="0"/>
              <a:t>2025-07-14</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2246769"/>
          </a:xfrm>
          <a:prstGeom prst="rect">
            <a:avLst/>
          </a:prstGeom>
          <a:noFill/>
        </p:spPr>
        <p:txBody>
          <a:bodyPr wrap="square" rtlCol="0">
            <a:spAutoFit/>
          </a:bodyPr>
          <a:lstStyle/>
          <a:p>
            <a:pPr marL="0" indent="0">
              <a:spcAft>
                <a:spcPts val="600"/>
              </a:spcAft>
              <a:buNone/>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rPr>
              <a:t>You can control the reading order by:</a:t>
            </a:r>
          </a:p>
          <a:p>
            <a:pPr marL="228600" indent="-228600">
              <a:spcAft>
                <a:spcPts val="600"/>
              </a:spcAft>
              <a:buClr>
                <a:schemeClr val="accent1"/>
              </a:buClr>
              <a:buFont typeface="+mj-lt"/>
              <a:buAutoNum type="arabicPeriod"/>
            </a:pPr>
            <a:r>
              <a:rPr lang="en-US" sz="1200" dirty="0"/>
              <a:t>On the </a:t>
            </a:r>
            <a:r>
              <a:rPr lang="en-US" sz="1200" i="1" dirty="0"/>
              <a:t>Home</a:t>
            </a:r>
            <a:r>
              <a:rPr lang="en-US" sz="1200" dirty="0"/>
              <a:t> tab, select </a:t>
            </a:r>
            <a:r>
              <a:rPr lang="en-US" sz="1200" i="1" dirty="0"/>
              <a:t>Arrange</a:t>
            </a:r>
          </a:p>
          <a:p>
            <a:pPr marL="228600" indent="-228600">
              <a:spcAft>
                <a:spcPts val="600"/>
              </a:spcAft>
              <a:buClr>
                <a:schemeClr val="accent1"/>
              </a:buClr>
              <a:buFont typeface="+mj-lt"/>
              <a:buAutoNum type="arabicPeriod"/>
            </a:pPr>
            <a:r>
              <a:rPr lang="en-US" sz="1200" dirty="0"/>
              <a:t>From the </a:t>
            </a:r>
            <a:r>
              <a:rPr lang="en-US" sz="1200" i="1" dirty="0"/>
              <a:t>Arrange </a:t>
            </a:r>
            <a:r>
              <a:rPr lang="en-US" sz="1200" dirty="0"/>
              <a:t>menu, choose "Selection Pane.“</a:t>
            </a:r>
          </a:p>
          <a:p>
            <a:pPr marL="228600" indent="-228600">
              <a:spcAft>
                <a:spcPts val="600"/>
              </a:spcAft>
              <a:buClr>
                <a:schemeClr val="accent1"/>
              </a:buClr>
              <a:buFont typeface="+mj-lt"/>
              <a:buAutoNum type="arabicPeriod"/>
            </a:pPr>
            <a:r>
              <a:rPr lang="en-US" sz="1200" dirty="0"/>
              <a:t>A tab will open on the right side of the window. Drag the objects until they have the desired order. This will not affect the layout on the page, only the order in which they are read by screen readers.</a:t>
            </a:r>
          </a:p>
        </p:txBody>
      </p:sp>
      <p:sp>
        <p:nvSpPr>
          <p:cNvPr id="6" name="textruta 5">
            <a:extLst>
              <a:ext uri="{FF2B5EF4-FFF2-40B4-BE49-F238E27FC236}">
                <a16:creationId xmlns:a16="http://schemas.microsoft.com/office/drawing/2014/main" id="{60BCB9D5-FB2E-F01B-B2C5-5BFB4C55D46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8" name="textruta 7">
            <a:extLst>
              <a:ext uri="{FF2B5EF4-FFF2-40B4-BE49-F238E27FC236}">
                <a16:creationId xmlns:a16="http://schemas.microsoft.com/office/drawing/2014/main" id="{83F6329C-964B-2CDD-13A7-0D9A1FF8FB4F}"/>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365 or Office 2019.</a:t>
            </a:r>
          </a:p>
        </p:txBody>
      </p:sp>
    </p:spTree>
    <p:extLst>
      <p:ext uri="{BB962C8B-B14F-4D97-AF65-F5344CB8AC3E}">
        <p14:creationId xmlns:p14="http://schemas.microsoft.com/office/powerpoint/2010/main" val="78837107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2.sv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220414E7-5508-776E-6BBC-4EE50480958F}"/>
              </a:ext>
            </a:extLst>
          </p:cNvPr>
          <p:cNvSpPr>
            <a:spLocks noGrp="1"/>
          </p:cNvSpPr>
          <p:nvPr>
            <p:ph type="title"/>
          </p:nvPr>
        </p:nvSpPr>
        <p:spPr>
          <a:xfrm>
            <a:off x="600075" y="1095632"/>
            <a:ext cx="10990263" cy="568412"/>
          </a:xfrm>
          <a:prstGeom prst="rect">
            <a:avLst/>
          </a:prstGeom>
        </p:spPr>
        <p:txBody>
          <a:bodyPr vert="horz" lIns="91440" tIns="108000" rIns="91440" bIns="45720" rtlCol="0" anchor="t">
            <a:noAutofit/>
          </a:bodyPr>
          <a:lstStyle/>
          <a:p>
            <a:r>
              <a:rPr lang="sv-SE" dirty="0"/>
              <a:t>Klicka här för att ändra mall för rubrikformat</a:t>
            </a:r>
          </a:p>
        </p:txBody>
      </p:sp>
      <p:sp>
        <p:nvSpPr>
          <p:cNvPr id="3" name="Platshållare för text 2">
            <a:extLst>
              <a:ext uri="{FF2B5EF4-FFF2-40B4-BE49-F238E27FC236}">
                <a16:creationId xmlns:a16="http://schemas.microsoft.com/office/drawing/2014/main" id="{2006EF76-9662-2CD9-346E-23511E804736}"/>
              </a:ext>
            </a:extLst>
          </p:cNvPr>
          <p:cNvSpPr>
            <a:spLocks noGrp="1"/>
          </p:cNvSpPr>
          <p:nvPr>
            <p:ph type="body" idx="1"/>
          </p:nvPr>
        </p:nvSpPr>
        <p:spPr>
          <a:xfrm>
            <a:off x="600075" y="1872344"/>
            <a:ext cx="10990263" cy="4453808"/>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a:extLst>
              <a:ext uri="{FF2B5EF4-FFF2-40B4-BE49-F238E27FC236}">
                <a16:creationId xmlns:a16="http://schemas.microsoft.com/office/drawing/2014/main" id="{5E3A2378-EA0B-2CB0-A3C0-B0181DFC31CC}"/>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a:solidFill>
                  <a:schemeClr val="accent2"/>
                </a:solidFill>
              </a:defRPr>
            </a:lvl1pPr>
          </a:lstStyle>
          <a:p>
            <a:fld id="{888E4D63-BE2C-4D4B-BBD2-256262659A9F}" type="datetime1">
              <a:rPr lang="sv-SE" smtClean="0"/>
              <a:t>2025-07-14</a:t>
            </a:fld>
            <a:endParaRPr lang="sv-SE" dirty="0"/>
          </a:p>
        </p:txBody>
      </p:sp>
      <p:sp>
        <p:nvSpPr>
          <p:cNvPr id="5" name="Platshållare för sidfot 4">
            <a:extLst>
              <a:ext uri="{FF2B5EF4-FFF2-40B4-BE49-F238E27FC236}">
                <a16:creationId xmlns:a16="http://schemas.microsoft.com/office/drawing/2014/main" id="{24CA2E8D-AD94-B894-C4F1-B88C763BA32D}"/>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a:solidFill>
                  <a:schemeClr val="accent2"/>
                </a:solidFill>
              </a:defRPr>
            </a:lvl1pPr>
          </a:lstStyle>
          <a:p>
            <a:r>
              <a:rPr lang="sv-SE"/>
              <a:t>Presentation footer</a:t>
            </a:r>
            <a:endParaRPr lang="sv-SE" dirty="0"/>
          </a:p>
        </p:txBody>
      </p:sp>
      <p:sp>
        <p:nvSpPr>
          <p:cNvPr id="6" name="Platshållare för bildnummer 5">
            <a:extLst>
              <a:ext uri="{FF2B5EF4-FFF2-40B4-BE49-F238E27FC236}">
                <a16:creationId xmlns:a16="http://schemas.microsoft.com/office/drawing/2014/main" id="{045617BD-973D-B163-E4ED-D245FDF0BDFC}"/>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a:solidFill>
                  <a:schemeClr val="accent2"/>
                </a:solidFill>
              </a:defRPr>
            </a:lvl1pPr>
          </a:lstStyle>
          <a:p>
            <a:fld id="{B716C8F4-20CD-364A-8A8E-DE130115B178}" type="slidenum">
              <a:rPr lang="sv-SE" smtClean="0"/>
              <a:pPr/>
              <a:t>‹#›</a:t>
            </a:fld>
            <a:endParaRPr lang="sv-SE" dirty="0"/>
          </a:p>
        </p:txBody>
      </p:sp>
      <p:pic>
        <p:nvPicPr>
          <p:cNvPr id="11" name="Bild 10">
            <a:extLst>
              <a:ext uri="{FF2B5EF4-FFF2-40B4-BE49-F238E27FC236}">
                <a16:creationId xmlns:a16="http://schemas.microsoft.com/office/drawing/2014/main" id="{57E3D58E-4C99-E6D1-B925-E182668FA2E3}"/>
              </a:ext>
            </a:extLst>
          </p:cNvPr>
          <p:cNvPicPr>
            <a:picLocks noChangeAspect="1"/>
          </p:cNvPicPr>
          <p:nvPr userDrawn="1"/>
        </p:nvPicPr>
        <p:blipFill>
          <a:blip r:embed="rId49" cstate="print">
            <a:extLst>
              <a:ext uri="{28A0092B-C50C-407E-A947-70E740481C1C}">
                <a14:useLocalDpi xmlns:a14="http://schemas.microsoft.com/office/drawing/2010/main"/>
              </a:ext>
              <a:ext uri="{96DAC541-7B7A-43D3-8B79-37D633B846F1}">
                <asvg:svgBlip xmlns:asvg="http://schemas.microsoft.com/office/drawing/2016/SVG/main" xmlns="" r:embed="rId50"/>
              </a:ext>
            </a:extLst>
          </a:blip>
          <a:stretch>
            <a:fillRect/>
          </a:stretch>
        </p:blipFill>
        <p:spPr>
          <a:xfrm>
            <a:off x="193566" y="164552"/>
            <a:ext cx="714243" cy="799273"/>
          </a:xfrm>
          <a:prstGeom prst="rect">
            <a:avLst/>
          </a:prstGeom>
        </p:spPr>
      </p:pic>
    </p:spTree>
    <p:extLst>
      <p:ext uri="{BB962C8B-B14F-4D97-AF65-F5344CB8AC3E}">
        <p14:creationId xmlns:p14="http://schemas.microsoft.com/office/powerpoint/2010/main" val="118368451"/>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9" r:id="rId3"/>
    <p:sldLayoutId id="2147483651" r:id="rId4"/>
    <p:sldLayoutId id="2147483670" r:id="rId5"/>
    <p:sldLayoutId id="2147483660" r:id="rId6"/>
    <p:sldLayoutId id="2147483671" r:id="rId7"/>
    <p:sldLayoutId id="2147483661" r:id="rId8"/>
    <p:sldLayoutId id="2147483672" r:id="rId9"/>
    <p:sldLayoutId id="2147483662" r:id="rId10"/>
    <p:sldLayoutId id="2147483673" r:id="rId11"/>
    <p:sldLayoutId id="2147483650" r:id="rId12"/>
    <p:sldLayoutId id="2147483685" r:id="rId13"/>
    <p:sldLayoutId id="2147483688" r:id="rId14"/>
    <p:sldLayoutId id="2147483686" r:id="rId15"/>
    <p:sldLayoutId id="2147483687" r:id="rId16"/>
    <p:sldLayoutId id="2147483652" r:id="rId17"/>
    <p:sldLayoutId id="2147483653" r:id="rId18"/>
    <p:sldLayoutId id="2147483656" r:id="rId19"/>
    <p:sldLayoutId id="2147483657" r:id="rId20"/>
    <p:sldLayoutId id="2147483663" r:id="rId21"/>
    <p:sldLayoutId id="2147483694" r:id="rId22"/>
    <p:sldLayoutId id="2147483693" r:id="rId23"/>
    <p:sldLayoutId id="2147483684" r:id="rId24"/>
    <p:sldLayoutId id="2147483683" r:id="rId25"/>
    <p:sldLayoutId id="2147483681" r:id="rId26"/>
    <p:sldLayoutId id="2147483682" r:id="rId27"/>
    <p:sldLayoutId id="2147483676" r:id="rId28"/>
    <p:sldLayoutId id="2147483677" r:id="rId29"/>
    <p:sldLayoutId id="2147483678" r:id="rId30"/>
    <p:sldLayoutId id="2147483654" r:id="rId31"/>
    <p:sldLayoutId id="2147483668" r:id="rId32"/>
    <p:sldLayoutId id="2147483667" r:id="rId33"/>
    <p:sldLayoutId id="2147483669" r:id="rId34"/>
    <p:sldLayoutId id="2147483666" r:id="rId35"/>
    <p:sldLayoutId id="2147483689" r:id="rId36"/>
    <p:sldLayoutId id="2147483690" r:id="rId37"/>
    <p:sldLayoutId id="2147483691" r:id="rId38"/>
    <p:sldLayoutId id="2147483692" r:id="rId39"/>
    <p:sldLayoutId id="2147483655" r:id="rId40"/>
    <p:sldLayoutId id="2147483696" r:id="rId41"/>
    <p:sldLayoutId id="2147483697" r:id="rId42"/>
    <p:sldLayoutId id="2147483664" r:id="rId43"/>
    <p:sldLayoutId id="2147483695" r:id="rId44"/>
    <p:sldLayoutId id="2147483658" r:id="rId45"/>
    <p:sldLayoutId id="2147483674" r:id="rId46"/>
    <p:sldLayoutId id="2147483675" r:id="rId47"/>
  </p:sldLayoutIdLst>
  <p:timing>
    <p:tnLst>
      <p:par>
        <p:cTn id="1" dur="indefinite" restart="never" nodeType="tmRoot"/>
      </p:par>
    </p:tnLst>
  </p:timing>
  <p:hf sldNum="0" hdr="0" ft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userDrawn="1">
          <p15:clr>
            <a:srgbClr val="F26B43"/>
          </p15:clr>
        </p15:guide>
        <p15:guide id="2" pos="7680" userDrawn="1">
          <p15:clr>
            <a:srgbClr val="F26B43"/>
          </p15:clr>
        </p15:guide>
        <p15:guide id="3" pos="378" userDrawn="1">
          <p15:clr>
            <a:srgbClr val="F26B43"/>
          </p15:clr>
        </p15:guide>
        <p15:guide id="4" pos="1343" userDrawn="1">
          <p15:clr>
            <a:srgbClr val="F26B43"/>
          </p15:clr>
        </p15:guide>
        <p15:guide id="5" pos="1570" userDrawn="1">
          <p15:clr>
            <a:srgbClr val="F26B43"/>
          </p15:clr>
        </p15:guide>
        <p15:guide id="6" pos="2535" userDrawn="1">
          <p15:clr>
            <a:srgbClr val="F26B43"/>
          </p15:clr>
        </p15:guide>
        <p15:guide id="7" pos="2761" userDrawn="1">
          <p15:clr>
            <a:srgbClr val="F26B43"/>
          </p15:clr>
        </p15:guide>
        <p15:guide id="8" pos="3726" userDrawn="1">
          <p15:clr>
            <a:srgbClr val="F26B43"/>
          </p15:clr>
        </p15:guide>
        <p15:guide id="9" pos="3953" userDrawn="1">
          <p15:clr>
            <a:srgbClr val="F26B43"/>
          </p15:clr>
        </p15:guide>
        <p15:guide id="10" pos="4918" userDrawn="1">
          <p15:clr>
            <a:srgbClr val="F26B43"/>
          </p15:clr>
        </p15:guide>
        <p15:guide id="11" pos="5144" userDrawn="1">
          <p15:clr>
            <a:srgbClr val="F26B43"/>
          </p15:clr>
        </p15:guide>
        <p15:guide id="12" pos="6109" userDrawn="1">
          <p15:clr>
            <a:srgbClr val="F26B43"/>
          </p15:clr>
        </p15:guide>
        <p15:guide id="13" pos="6336" userDrawn="1">
          <p15:clr>
            <a:srgbClr val="F26B43"/>
          </p15:clr>
        </p15:guide>
        <p15:guide id="14" pos="7301" userDrawn="1">
          <p15:clr>
            <a:srgbClr val="F26B43"/>
          </p15:clr>
        </p15:guide>
        <p15:guide id="15" orient="horz" userDrawn="1">
          <p15:clr>
            <a:srgbClr val="F26B43"/>
          </p15:clr>
        </p15:guide>
        <p15:guide id="16" orient="horz" pos="4320" userDrawn="1">
          <p15:clr>
            <a:srgbClr val="F26B43"/>
          </p15:clr>
        </p15:guide>
        <p15:guide id="17" orient="horz" pos="514" userDrawn="1">
          <p15:clr>
            <a:srgbClr val="F26B43"/>
          </p15:clr>
        </p15:guide>
        <p15:guide id="18" orient="horz" pos="861" userDrawn="1">
          <p15:clr>
            <a:srgbClr val="F26B43"/>
          </p15:clr>
        </p15:guide>
        <p15:guide id="19" orient="horz" pos="1209" userDrawn="1">
          <p15:clr>
            <a:srgbClr val="F26B43"/>
          </p15:clr>
        </p15:guide>
        <p15:guide id="20" orient="horz" pos="1570" userDrawn="1">
          <p15:clr>
            <a:srgbClr val="F26B43"/>
          </p15:clr>
        </p15:guide>
        <p15:guide id="21" orient="horz" pos="1903" userDrawn="1">
          <p15:clr>
            <a:srgbClr val="F26B43"/>
          </p15:clr>
        </p15:guide>
        <p15:guide id="22" orient="horz" pos="2250" userDrawn="1">
          <p15:clr>
            <a:srgbClr val="F26B43"/>
          </p15:clr>
        </p15:guide>
        <p15:guide id="23" orient="horz" pos="2597" userDrawn="1">
          <p15:clr>
            <a:srgbClr val="F26B43"/>
          </p15:clr>
        </p15:guide>
        <p15:guide id="24" orient="horz" pos="2945" userDrawn="1">
          <p15:clr>
            <a:srgbClr val="F26B43"/>
          </p15:clr>
        </p15:guide>
        <p15:guide id="25" orient="horz" pos="3292" userDrawn="1">
          <p15:clr>
            <a:srgbClr val="F26B43"/>
          </p15:clr>
        </p15:guide>
        <p15:guide id="26" orient="horz" pos="3639" userDrawn="1">
          <p15:clr>
            <a:srgbClr val="F26B43"/>
          </p15:clr>
        </p15:guide>
        <p15:guide id="27" orient="horz" pos="398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2.xml"/><Relationship Id="rId5" Type="http://schemas.openxmlformats.org/officeDocument/2006/relationships/image" Target="../media/image25.png"/><Relationship Id="rId4" Type="http://schemas.openxmlformats.org/officeDocument/2006/relationships/image" Target="../media/image24.png"/></Relationships>
</file>

<file path=ppt/slides/_rels/slide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8" Type="http://schemas.openxmlformats.org/officeDocument/2006/relationships/image" Target="../media/image34.emf"/><Relationship Id="rId3" Type="http://schemas.openxmlformats.org/officeDocument/2006/relationships/image" Target="../media/image29.emf"/><Relationship Id="rId7" Type="http://schemas.openxmlformats.org/officeDocument/2006/relationships/image" Target="../media/image33.emf"/><Relationship Id="rId2" Type="http://schemas.openxmlformats.org/officeDocument/2006/relationships/image" Target="../media/image28.emf"/><Relationship Id="rId1" Type="http://schemas.openxmlformats.org/officeDocument/2006/relationships/slideLayout" Target="../slideLayouts/slideLayout12.xml"/><Relationship Id="rId6" Type="http://schemas.openxmlformats.org/officeDocument/2006/relationships/image" Target="../media/image32.emf"/><Relationship Id="rId11" Type="http://schemas.openxmlformats.org/officeDocument/2006/relationships/image" Target="../media/image37.png"/><Relationship Id="rId5" Type="http://schemas.openxmlformats.org/officeDocument/2006/relationships/image" Target="../media/image31.emf"/><Relationship Id="rId10" Type="http://schemas.openxmlformats.org/officeDocument/2006/relationships/image" Target="../media/image36.png"/><Relationship Id="rId4" Type="http://schemas.openxmlformats.org/officeDocument/2006/relationships/image" Target="../media/image30.emf"/><Relationship Id="rId9" Type="http://schemas.openxmlformats.org/officeDocument/2006/relationships/image" Target="../media/image35.png"/></Relationships>
</file>

<file path=ppt/slides/_rels/slide6.xml.rels><?xml version="1.0" encoding="UTF-8" standalone="yes"?>
<Relationships xmlns="http://schemas.openxmlformats.org/package/2006/relationships"><Relationship Id="rId8" Type="http://schemas.openxmlformats.org/officeDocument/2006/relationships/image" Target="../media/image34.emf"/><Relationship Id="rId3" Type="http://schemas.openxmlformats.org/officeDocument/2006/relationships/image" Target="../media/image29.emf"/><Relationship Id="rId7" Type="http://schemas.openxmlformats.org/officeDocument/2006/relationships/image" Target="../media/image33.emf"/><Relationship Id="rId2" Type="http://schemas.openxmlformats.org/officeDocument/2006/relationships/image" Target="../media/image28.emf"/><Relationship Id="rId1" Type="http://schemas.openxmlformats.org/officeDocument/2006/relationships/slideLayout" Target="../slideLayouts/slideLayout12.xml"/><Relationship Id="rId6" Type="http://schemas.openxmlformats.org/officeDocument/2006/relationships/image" Target="../media/image32.emf"/><Relationship Id="rId5" Type="http://schemas.openxmlformats.org/officeDocument/2006/relationships/image" Target="../media/image31.emf"/><Relationship Id="rId4" Type="http://schemas.openxmlformats.org/officeDocument/2006/relationships/image" Target="../media/image30.emf"/></Relationships>
</file>

<file path=ppt/slides/_rels/slide7.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6.emf"/><Relationship Id="rId7" Type="http://schemas.openxmlformats.org/officeDocument/2006/relationships/image" Target="../media/image43.png"/><Relationship Id="rId2" Type="http://schemas.openxmlformats.org/officeDocument/2006/relationships/image" Target="../media/image35.emf"/><Relationship Id="rId1" Type="http://schemas.openxmlformats.org/officeDocument/2006/relationships/slideLayout" Target="../slideLayouts/slideLayout12.xml"/><Relationship Id="rId6" Type="http://schemas.openxmlformats.org/officeDocument/2006/relationships/image" Target="../media/image42.png"/><Relationship Id="rId11" Type="http://schemas.openxmlformats.org/officeDocument/2006/relationships/image" Target="../media/image38.png"/><Relationship Id="rId5" Type="http://schemas.openxmlformats.org/officeDocument/2006/relationships/image" Target="../media/image41.png"/><Relationship Id="rId10" Type="http://schemas.openxmlformats.org/officeDocument/2006/relationships/image" Target="../media/image46.png"/><Relationship Id="rId4" Type="http://schemas.openxmlformats.org/officeDocument/2006/relationships/image" Target="../media/image40.png"/><Relationship Id="rId9" Type="http://schemas.openxmlformats.org/officeDocument/2006/relationships/image" Target="../media/image45.png"/></Relationships>
</file>

<file path=ppt/slides/_rels/slide8.xml.rels><?xml version="1.0" encoding="UTF-8" standalone="yes"?>
<Relationships xmlns="http://schemas.openxmlformats.org/package/2006/relationships"><Relationship Id="rId8" Type="http://schemas.openxmlformats.org/officeDocument/2006/relationships/image" Target="../media/image49.png"/><Relationship Id="rId13" Type="http://schemas.openxmlformats.org/officeDocument/2006/relationships/image" Target="../media/image56.png"/><Relationship Id="rId3" Type="http://schemas.openxmlformats.org/officeDocument/2006/relationships/image" Target="../media/image40.emf"/><Relationship Id="rId7" Type="http://schemas.openxmlformats.org/officeDocument/2006/relationships/image" Target="../media/image53.png"/><Relationship Id="rId12" Type="http://schemas.openxmlformats.org/officeDocument/2006/relationships/image" Target="../media/image54.png"/><Relationship Id="rId17" Type="http://schemas.openxmlformats.org/officeDocument/2006/relationships/image" Target="../media/image63.png"/><Relationship Id="rId2" Type="http://schemas.openxmlformats.org/officeDocument/2006/relationships/image" Target="../media/image39.emf"/><Relationship Id="rId16" Type="http://schemas.openxmlformats.org/officeDocument/2006/relationships/image" Target="../media/image62.png"/><Relationship Id="rId1" Type="http://schemas.openxmlformats.org/officeDocument/2006/relationships/slideLayout" Target="../slideLayouts/slideLayout12.xml"/><Relationship Id="rId6" Type="http://schemas.openxmlformats.org/officeDocument/2006/relationships/image" Target="../media/image48.png"/><Relationship Id="rId11" Type="http://schemas.openxmlformats.org/officeDocument/2006/relationships/image" Target="../media/image52.png"/><Relationship Id="rId5" Type="http://schemas.openxmlformats.org/officeDocument/2006/relationships/image" Target="../media/image51.png"/><Relationship Id="rId15" Type="http://schemas.openxmlformats.org/officeDocument/2006/relationships/image" Target="../media/image61.png"/><Relationship Id="rId10" Type="http://schemas.openxmlformats.org/officeDocument/2006/relationships/image" Target="../media/image50.png"/><Relationship Id="rId4" Type="http://schemas.openxmlformats.org/officeDocument/2006/relationships/image" Target="../media/image47.png"/><Relationship Id="rId9" Type="http://schemas.openxmlformats.org/officeDocument/2006/relationships/image" Target="../media/image55.png"/><Relationship Id="rId14" Type="http://schemas.openxmlformats.org/officeDocument/2006/relationships/image" Target="../media/image60.png"/></Relationships>
</file>

<file path=ppt/slides/_rels/slide9.xml.rels><?xml version="1.0" encoding="UTF-8" standalone="yes"?>
<Relationships xmlns="http://schemas.openxmlformats.org/package/2006/relationships"><Relationship Id="rId3" Type="http://schemas.openxmlformats.org/officeDocument/2006/relationships/image" Target="../media/image58.emf"/><Relationship Id="rId2" Type="http://schemas.openxmlformats.org/officeDocument/2006/relationships/image" Target="../media/image57.emf"/><Relationship Id="rId1" Type="http://schemas.openxmlformats.org/officeDocument/2006/relationships/slideLayout" Target="../slideLayouts/slideLayout12.xml"/><Relationship Id="rId5" Type="http://schemas.openxmlformats.org/officeDocument/2006/relationships/image" Target="../media/image60.emf"/><Relationship Id="rId4" Type="http://schemas.openxmlformats.org/officeDocument/2006/relationships/image" Target="../media/image59.e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95853" y="3571875"/>
            <a:ext cx="9905597" cy="1654175"/>
          </a:xfrm>
        </p:spPr>
        <p:txBody>
          <a:bodyPr/>
          <a:lstStyle/>
          <a:p>
            <a:r>
              <a:rPr lang="en-US" dirty="0" smtClean="0"/>
              <a:t>A </a:t>
            </a:r>
            <a:r>
              <a:rPr lang="tr-TR" dirty="0" smtClean="0"/>
              <a:t>Neural Network A</a:t>
            </a:r>
            <a:r>
              <a:rPr lang="en-US" dirty="0" err="1" smtClean="0"/>
              <a:t>ided</a:t>
            </a:r>
            <a:r>
              <a:rPr lang="en-US" dirty="0" smtClean="0"/>
              <a:t> </a:t>
            </a:r>
            <a:r>
              <a:rPr lang="en-US" dirty="0"/>
              <a:t>Modulation Strategy </a:t>
            </a:r>
            <a:r>
              <a:rPr lang="en-US" dirty="0" smtClean="0"/>
              <a:t>for </a:t>
            </a:r>
            <a:r>
              <a:rPr lang="en-US" dirty="0"/>
              <a:t>DC-Link Capacitor Lifetime Extension </a:t>
            </a:r>
            <a:r>
              <a:rPr lang="en-US" dirty="0" smtClean="0"/>
              <a:t>in </a:t>
            </a:r>
            <a:r>
              <a:rPr lang="en-US" dirty="0"/>
              <a:t>Three-Phase Two-Level </a:t>
            </a:r>
            <a:r>
              <a:rPr lang="en-US" dirty="0" smtClean="0"/>
              <a:t>VSIs</a:t>
            </a:r>
            <a:endParaRPr lang="en-US" b="0" dirty="0"/>
          </a:p>
        </p:txBody>
      </p:sp>
      <p:sp>
        <p:nvSpPr>
          <p:cNvPr id="3" name="Subtitle 2"/>
          <p:cNvSpPr>
            <a:spLocks noGrp="1"/>
          </p:cNvSpPr>
          <p:nvPr>
            <p:ph type="subTitle" idx="1"/>
          </p:nvPr>
        </p:nvSpPr>
        <p:spPr/>
        <p:txBody>
          <a:bodyPr/>
          <a:lstStyle/>
          <a:p>
            <a:r>
              <a:rPr lang="en-US" dirty="0"/>
              <a:t>Enes Ayaz, KTH</a:t>
            </a:r>
            <a:endParaRPr lang="sv-SE" dirty="0"/>
          </a:p>
          <a:p>
            <a:endParaRPr lang="sv-SE" dirty="0"/>
          </a:p>
        </p:txBody>
      </p:sp>
    </p:spTree>
    <p:extLst>
      <p:ext uri="{BB962C8B-B14F-4D97-AF65-F5344CB8AC3E}">
        <p14:creationId xmlns:p14="http://schemas.microsoft.com/office/powerpoint/2010/main" val="18651543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0458" y="273907"/>
            <a:ext cx="10990263" cy="568412"/>
          </a:xfrm>
        </p:spPr>
        <p:txBody>
          <a:bodyPr/>
          <a:lstStyle/>
          <a:p>
            <a:r>
              <a:rPr lang="en-US" dirty="0"/>
              <a:t>Overview of Three-Phase Two-Level </a:t>
            </a:r>
            <a:r>
              <a:rPr lang="en-US" dirty="0" smtClean="0"/>
              <a:t>VSIs</a:t>
            </a:r>
            <a:endParaRPr lang="sv-SE" dirty="0"/>
          </a:p>
        </p:txBody>
      </p:sp>
      <p:sp>
        <p:nvSpPr>
          <p:cNvPr id="3" name="Content Placeholder 2"/>
          <p:cNvSpPr>
            <a:spLocks noGrp="1"/>
          </p:cNvSpPr>
          <p:nvPr>
            <p:ph idx="1"/>
          </p:nvPr>
        </p:nvSpPr>
        <p:spPr>
          <a:xfrm>
            <a:off x="618611" y="1037966"/>
            <a:ext cx="10990263" cy="4744995"/>
          </a:xfrm>
        </p:spPr>
        <p:txBody>
          <a:bodyPr/>
          <a:lstStyle/>
          <a:p>
            <a:pPr marL="0" indent="0">
              <a:buNone/>
            </a:pPr>
            <a:r>
              <a:rPr lang="en-US" dirty="0" smtClean="0"/>
              <a:t>Still </a:t>
            </a:r>
            <a:r>
              <a:rPr lang="en-US" b="1" dirty="0" smtClean="0"/>
              <a:t>dominant</a:t>
            </a:r>
            <a:r>
              <a:rPr lang="en-US" dirty="0" smtClean="0"/>
              <a:t> </a:t>
            </a:r>
            <a:r>
              <a:rPr lang="en-US" dirty="0"/>
              <a:t>in </a:t>
            </a:r>
            <a:r>
              <a:rPr lang="en-US" dirty="0" smtClean="0"/>
              <a:t>industrial </a:t>
            </a:r>
            <a:r>
              <a:rPr lang="en-US" dirty="0"/>
              <a:t>motor </a:t>
            </a:r>
            <a:r>
              <a:rPr lang="en-US" dirty="0" smtClean="0"/>
              <a:t>drives, traction systems, </a:t>
            </a:r>
            <a:r>
              <a:rPr lang="en-US" dirty="0"/>
              <a:t>and </a:t>
            </a:r>
            <a:r>
              <a:rPr lang="en-US" dirty="0" smtClean="0"/>
              <a:t>renewable </a:t>
            </a:r>
            <a:r>
              <a:rPr lang="en-US" dirty="0"/>
              <a:t>energy </a:t>
            </a:r>
            <a:r>
              <a:rPr lang="en-US" dirty="0" smtClean="0"/>
              <a:t>applications owing </a:t>
            </a:r>
            <a:r>
              <a:rPr lang="en-US" dirty="0"/>
              <a:t>to:   </a:t>
            </a:r>
            <a:endParaRPr lang="en-US" dirty="0" smtClean="0"/>
          </a:p>
          <a:p>
            <a:pPr lvl="1"/>
            <a:r>
              <a:rPr lang="en-US" sz="2000" dirty="0" smtClean="0"/>
              <a:t>Structural </a:t>
            </a:r>
            <a:r>
              <a:rPr lang="en-US" sz="2000" dirty="0"/>
              <a:t>simplicity   </a:t>
            </a:r>
            <a:endParaRPr lang="en-US" sz="2000" dirty="0" smtClean="0"/>
          </a:p>
          <a:p>
            <a:pPr lvl="1"/>
            <a:r>
              <a:rPr lang="en-US" sz="2000" dirty="0" smtClean="0"/>
              <a:t>Minimal </a:t>
            </a:r>
            <a:r>
              <a:rPr lang="en-US" sz="2000" dirty="0"/>
              <a:t>component requirements </a:t>
            </a:r>
            <a:endParaRPr lang="en-US" sz="2000" dirty="0" smtClean="0"/>
          </a:p>
          <a:p>
            <a:pPr lvl="1"/>
            <a:r>
              <a:rPr lang="en-US" sz="2000" dirty="0" smtClean="0"/>
              <a:t>Simple to control</a:t>
            </a:r>
          </a:p>
          <a:p>
            <a:pPr lvl="1"/>
            <a:r>
              <a:rPr lang="en-US" sz="2000" dirty="0" smtClean="0"/>
              <a:t>Minimal cost</a:t>
            </a:r>
          </a:p>
          <a:p>
            <a:pPr marL="0" indent="0">
              <a:buNone/>
            </a:pPr>
            <a:r>
              <a:rPr lang="en-US" b="1" dirty="0" smtClean="0"/>
              <a:t>Reliability</a:t>
            </a:r>
            <a:r>
              <a:rPr lang="en-US" dirty="0" smtClean="0"/>
              <a:t> </a:t>
            </a:r>
            <a:r>
              <a:rPr lang="en-US" dirty="0"/>
              <a:t>remains a critical </a:t>
            </a:r>
            <a:r>
              <a:rPr lang="en-US" dirty="0" smtClean="0"/>
              <a:t>concern </a:t>
            </a:r>
            <a:r>
              <a:rPr lang="en-US" dirty="0"/>
              <a:t>for sustainable power conversion </a:t>
            </a:r>
            <a:r>
              <a:rPr lang="en-US" dirty="0" smtClean="0"/>
              <a:t>systems. </a:t>
            </a:r>
          </a:p>
          <a:p>
            <a:pPr marL="0" indent="0">
              <a:buNone/>
            </a:pPr>
            <a:r>
              <a:rPr lang="en-US" dirty="0" smtClean="0"/>
              <a:t>Extending the </a:t>
            </a:r>
            <a:r>
              <a:rPr lang="en-US" b="1" dirty="0" smtClean="0"/>
              <a:t>lifespan</a:t>
            </a:r>
            <a:r>
              <a:rPr lang="en-US" dirty="0" smtClean="0"/>
              <a:t> of the system is crucial at this point. </a:t>
            </a:r>
            <a:endParaRPr lang="sv-SE"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55315" y="4051503"/>
            <a:ext cx="3894663" cy="2442315"/>
          </a:xfrm>
          <a:prstGeom prst="rect">
            <a:avLst/>
          </a:prstGeom>
        </p:spPr>
      </p:pic>
    </p:spTree>
    <p:extLst>
      <p:ext uri="{BB962C8B-B14F-4D97-AF65-F5344CB8AC3E}">
        <p14:creationId xmlns:p14="http://schemas.microsoft.com/office/powerpoint/2010/main" val="24615308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0458" y="273907"/>
            <a:ext cx="10990263" cy="568412"/>
          </a:xfrm>
        </p:spPr>
        <p:txBody>
          <a:bodyPr/>
          <a:lstStyle/>
          <a:p>
            <a:r>
              <a:rPr lang="en-US" dirty="0"/>
              <a:t>DC-Link Capacitor: A Key Reliability Bottleneck</a:t>
            </a:r>
            <a:endParaRPr lang="sv-SE" dirty="0"/>
          </a:p>
        </p:txBody>
      </p:sp>
      <p:sp>
        <p:nvSpPr>
          <p:cNvPr id="3" name="Content Placeholder 2"/>
          <p:cNvSpPr>
            <a:spLocks noGrp="1"/>
          </p:cNvSpPr>
          <p:nvPr>
            <p:ph idx="1"/>
          </p:nvPr>
        </p:nvSpPr>
        <p:spPr>
          <a:xfrm>
            <a:off x="600075" y="1044145"/>
            <a:ext cx="7036401" cy="2940909"/>
          </a:xfrm>
        </p:spPr>
        <p:txBody>
          <a:bodyPr/>
          <a:lstStyle/>
          <a:p>
            <a:pPr marL="0" indent="0">
              <a:buNone/>
            </a:pPr>
            <a:r>
              <a:rPr lang="en-US" dirty="0" smtClean="0"/>
              <a:t>Functions</a:t>
            </a:r>
            <a:r>
              <a:rPr lang="en-US" dirty="0"/>
              <a:t>:    </a:t>
            </a:r>
            <a:endParaRPr lang="en-US" dirty="0" smtClean="0"/>
          </a:p>
          <a:p>
            <a:pPr lvl="1"/>
            <a:r>
              <a:rPr lang="en-US" sz="2000" dirty="0" smtClean="0"/>
              <a:t>Stabilizes </a:t>
            </a:r>
            <a:r>
              <a:rPr lang="en-US" sz="2000" dirty="0"/>
              <a:t>DC bus voltage    </a:t>
            </a:r>
            <a:endParaRPr lang="en-US" sz="2000" dirty="0" smtClean="0"/>
          </a:p>
          <a:p>
            <a:pPr lvl="1"/>
            <a:r>
              <a:rPr lang="en-US" sz="2000" dirty="0" smtClean="0"/>
              <a:t>Suppresses switching-induced fluctuations </a:t>
            </a:r>
            <a:r>
              <a:rPr lang="en-US" sz="2000" dirty="0"/>
              <a:t>and </a:t>
            </a:r>
            <a:r>
              <a:rPr lang="en-US" sz="2000" dirty="0" smtClean="0"/>
              <a:t>parasitic oscillations</a:t>
            </a:r>
          </a:p>
          <a:p>
            <a:pPr marL="0" indent="0">
              <a:buNone/>
            </a:pPr>
            <a:r>
              <a:rPr lang="en-US" dirty="0"/>
              <a:t>Accounts for </a:t>
            </a:r>
            <a:r>
              <a:rPr lang="en-US" b="1" dirty="0"/>
              <a:t>~20% </a:t>
            </a:r>
            <a:r>
              <a:rPr lang="en-US" dirty="0"/>
              <a:t>of all VSI</a:t>
            </a:r>
            <a:r>
              <a:rPr lang="en-US" b="1" dirty="0"/>
              <a:t> failures</a:t>
            </a:r>
            <a:r>
              <a:rPr lang="en-US" dirty="0"/>
              <a:t>.  </a:t>
            </a:r>
            <a:endParaRPr lang="en-US" dirty="0" smtClean="0"/>
          </a:p>
          <a:p>
            <a:pPr marL="0" indent="0">
              <a:buNone/>
            </a:pPr>
            <a:r>
              <a:rPr lang="en-US" dirty="0" smtClean="0"/>
              <a:t>Degradation </a:t>
            </a:r>
            <a:r>
              <a:rPr lang="en-US" dirty="0"/>
              <a:t>impacts system </a:t>
            </a:r>
            <a:r>
              <a:rPr lang="en-US" b="1" dirty="0" smtClean="0"/>
              <a:t>longevity</a:t>
            </a:r>
            <a:r>
              <a:rPr lang="en-US" dirty="0" smtClean="0"/>
              <a:t>.</a:t>
            </a:r>
            <a:endParaRPr lang="en-US" dirty="0"/>
          </a:p>
          <a:p>
            <a:pPr marL="0" indent="0">
              <a:buNone/>
            </a:pPr>
            <a:r>
              <a:rPr lang="en-US" dirty="0" smtClean="0"/>
              <a:t>DC-link </a:t>
            </a:r>
            <a:r>
              <a:rPr lang="en-US" dirty="0"/>
              <a:t>current </a:t>
            </a:r>
            <a:r>
              <a:rPr lang="en-US" dirty="0" smtClean="0"/>
              <a:t>harmonics </a:t>
            </a:r>
            <a:r>
              <a:rPr lang="en-US" dirty="0"/>
              <a:t>influence </a:t>
            </a:r>
            <a:r>
              <a:rPr lang="en-US" b="1" dirty="0"/>
              <a:t>thermal stress</a:t>
            </a:r>
            <a:r>
              <a:rPr lang="en-US" dirty="0"/>
              <a:t>, affecting capacitor lifespan. </a:t>
            </a:r>
            <a:endParaRPr lang="sv-SE" dirty="0"/>
          </a:p>
        </p:txBody>
      </p:sp>
      <p:pic>
        <p:nvPicPr>
          <p:cNvPr id="4" name="Picture 3"/>
          <p:cNvPicPr>
            <a:picLocks noChangeAspect="1"/>
          </p:cNvPicPr>
          <p:nvPr/>
        </p:nvPicPr>
        <p:blipFill rotWithShape="1">
          <a:blip r:embed="rId2"/>
          <a:srcRect t="11493"/>
          <a:stretch/>
        </p:blipFill>
        <p:spPr>
          <a:xfrm>
            <a:off x="1017616" y="4085967"/>
            <a:ext cx="3372387" cy="690176"/>
          </a:xfrm>
          <a:prstGeom prst="rect">
            <a:avLst/>
          </a:prstGeom>
        </p:spPr>
      </p:pic>
      <p:pic>
        <p:nvPicPr>
          <p:cNvPr id="5" name="Picture 4"/>
          <p:cNvPicPr>
            <a:picLocks noChangeAspect="1"/>
          </p:cNvPicPr>
          <p:nvPr/>
        </p:nvPicPr>
        <p:blipFill>
          <a:blip r:embed="rId3"/>
          <a:stretch>
            <a:fillRect/>
          </a:stretch>
        </p:blipFill>
        <p:spPr>
          <a:xfrm>
            <a:off x="400247" y="4830107"/>
            <a:ext cx="4318301" cy="571444"/>
          </a:xfrm>
          <a:prstGeom prst="rect">
            <a:avLst/>
          </a:prstGeom>
        </p:spPr>
      </p:pic>
      <p:pic>
        <p:nvPicPr>
          <p:cNvPr id="6" name="Picture 5"/>
          <p:cNvPicPr>
            <a:picLocks noChangeAspect="1"/>
          </p:cNvPicPr>
          <p:nvPr/>
        </p:nvPicPr>
        <p:blipFill>
          <a:blip r:embed="rId4"/>
          <a:stretch>
            <a:fillRect/>
          </a:stretch>
        </p:blipFill>
        <p:spPr>
          <a:xfrm>
            <a:off x="763294" y="5621196"/>
            <a:ext cx="3626709" cy="745623"/>
          </a:xfrm>
          <a:prstGeom prst="rect">
            <a:avLst/>
          </a:prstGeom>
        </p:spPr>
      </p:pic>
      <p:sp>
        <p:nvSpPr>
          <p:cNvPr id="7" name="Rectangle 6"/>
          <p:cNvSpPr/>
          <p:nvPr/>
        </p:nvSpPr>
        <p:spPr>
          <a:xfrm>
            <a:off x="5301435" y="4034647"/>
            <a:ext cx="6180323" cy="2585323"/>
          </a:xfrm>
          <a:prstGeom prst="rect">
            <a:avLst/>
          </a:prstGeom>
        </p:spPr>
        <p:txBody>
          <a:bodyPr wrap="square">
            <a:spAutoFit/>
          </a:bodyPr>
          <a:lstStyle/>
          <a:p>
            <a:pPr marL="285750" indent="-285750">
              <a:buFont typeface="Arial" panose="020B0604020202020204" pitchFamily="34" charset="0"/>
              <a:buChar char="•"/>
            </a:pPr>
            <a:r>
              <a:rPr lang="en-US" dirty="0"/>
              <a:t>Capacitor lifetime improves with lower </a:t>
            </a:r>
            <a:r>
              <a:rPr lang="en-US" b="1" dirty="0"/>
              <a:t>hot-spot temperatures</a:t>
            </a:r>
            <a:r>
              <a:rPr lang="en-US" b="1" dirty="0" smtClean="0"/>
              <a: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Hot-spot temperature depends on power losses, which decrease when the </a:t>
            </a:r>
            <a:r>
              <a:rPr lang="en-US" b="1" dirty="0"/>
              <a:t>RMS value </a:t>
            </a:r>
            <a:r>
              <a:rPr lang="en-US" dirty="0"/>
              <a:t>of the </a:t>
            </a:r>
            <a:r>
              <a:rPr lang="en-US" b="1" dirty="0"/>
              <a:t>capacitor current </a:t>
            </a:r>
            <a:r>
              <a:rPr lang="en-US" dirty="0"/>
              <a:t>is reduced</a:t>
            </a:r>
            <a:r>
              <a:rPr lang="en-US" dirty="0" smtClean="0"/>
              <a: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Therefore, </a:t>
            </a:r>
            <a:r>
              <a:rPr lang="en-US" b="1" dirty="0"/>
              <a:t>minimizing</a:t>
            </a:r>
            <a:r>
              <a:rPr lang="en-US" dirty="0"/>
              <a:t> the capacitor's </a:t>
            </a:r>
            <a:r>
              <a:rPr lang="en-US" b="1" dirty="0"/>
              <a:t>ripple</a:t>
            </a:r>
            <a:r>
              <a:rPr lang="en-US" dirty="0"/>
              <a:t> current helps </a:t>
            </a:r>
            <a:r>
              <a:rPr lang="en-US" b="1" dirty="0"/>
              <a:t>extend</a:t>
            </a:r>
            <a:r>
              <a:rPr lang="en-US" dirty="0"/>
              <a:t> its </a:t>
            </a:r>
            <a:r>
              <a:rPr lang="en-US" b="1" dirty="0"/>
              <a:t>lifespan</a:t>
            </a:r>
            <a:r>
              <a:rPr lang="en-US" dirty="0"/>
              <a:t>.</a:t>
            </a:r>
          </a:p>
        </p:txBody>
      </p:sp>
      <p:pic>
        <p:nvPicPr>
          <p:cNvPr id="8" name="Picture 7">
            <a:extLst>
              <a:ext uri="{FF2B5EF4-FFF2-40B4-BE49-F238E27FC236}">
                <a16:creationId xmlns:a16="http://schemas.microsoft.com/office/drawing/2014/main" id="{AE137606-0038-4161-A922-143AD7681AB4}"/>
              </a:ext>
            </a:extLst>
          </p:cNvPr>
          <p:cNvPicPr>
            <a:picLocks noChangeAspect="1"/>
          </p:cNvPicPr>
          <p:nvPr/>
        </p:nvPicPr>
        <p:blipFill rotWithShape="1">
          <a:blip r:embed="rId5"/>
          <a:srcRect t="9374"/>
          <a:stretch/>
        </p:blipFill>
        <p:spPr>
          <a:xfrm>
            <a:off x="6933105" y="1576557"/>
            <a:ext cx="4414903" cy="1876084"/>
          </a:xfrm>
          <a:prstGeom prst="rect">
            <a:avLst/>
          </a:prstGeom>
        </p:spPr>
      </p:pic>
    </p:spTree>
    <p:extLst>
      <p:ext uri="{BB962C8B-B14F-4D97-AF65-F5344CB8AC3E}">
        <p14:creationId xmlns:p14="http://schemas.microsoft.com/office/powerpoint/2010/main" val="30220696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0458" y="273907"/>
            <a:ext cx="10990263" cy="568412"/>
          </a:xfrm>
        </p:spPr>
        <p:txBody>
          <a:bodyPr/>
          <a:lstStyle/>
          <a:p>
            <a:r>
              <a:rPr lang="en-US" dirty="0" smtClean="0"/>
              <a:t>Reducing </a:t>
            </a:r>
            <a:r>
              <a:rPr lang="en-US" dirty="0"/>
              <a:t>Current Ripple &amp; Stress</a:t>
            </a:r>
            <a:endParaRPr lang="sv-SE" dirty="0"/>
          </a:p>
        </p:txBody>
      </p:sp>
      <p:sp>
        <p:nvSpPr>
          <p:cNvPr id="3" name="Content Placeholder 2"/>
          <p:cNvSpPr>
            <a:spLocks noGrp="1"/>
          </p:cNvSpPr>
          <p:nvPr>
            <p:ph idx="1"/>
          </p:nvPr>
        </p:nvSpPr>
        <p:spPr>
          <a:xfrm>
            <a:off x="600076" y="1044146"/>
            <a:ext cx="10879352" cy="3274540"/>
          </a:xfrm>
        </p:spPr>
        <p:txBody>
          <a:bodyPr/>
          <a:lstStyle/>
          <a:p>
            <a:pPr marL="0" indent="0">
              <a:buNone/>
            </a:pPr>
            <a:r>
              <a:rPr lang="en-US" dirty="0" smtClean="0"/>
              <a:t>Advanced </a:t>
            </a:r>
            <a:r>
              <a:rPr lang="en-US" dirty="0"/>
              <a:t>modulation </a:t>
            </a:r>
            <a:r>
              <a:rPr lang="en-US" dirty="0" smtClean="0"/>
              <a:t>techniques </a:t>
            </a:r>
            <a:r>
              <a:rPr lang="en-US" dirty="0"/>
              <a:t>aim to:   </a:t>
            </a:r>
          </a:p>
          <a:p>
            <a:pPr lvl="1"/>
            <a:r>
              <a:rPr lang="en-US" sz="2000" dirty="0" smtClean="0"/>
              <a:t>Minimize </a:t>
            </a:r>
            <a:r>
              <a:rPr lang="en-US" sz="2000" dirty="0"/>
              <a:t>inverter-induced current ripple  </a:t>
            </a:r>
            <a:endParaRPr lang="en-US" sz="2000" dirty="0" smtClean="0"/>
          </a:p>
          <a:p>
            <a:pPr lvl="1"/>
            <a:r>
              <a:rPr lang="en-US" sz="2000" dirty="0" smtClean="0"/>
              <a:t>Reduce </a:t>
            </a:r>
            <a:r>
              <a:rPr lang="en-US" sz="2000" dirty="0"/>
              <a:t>DC-link current stress   </a:t>
            </a:r>
            <a:endParaRPr lang="en-US" sz="2000" dirty="0" smtClean="0"/>
          </a:p>
          <a:p>
            <a:pPr lvl="1"/>
            <a:r>
              <a:rPr lang="en-US" sz="2000" dirty="0" smtClean="0"/>
              <a:t>Maintain </a:t>
            </a:r>
            <a:r>
              <a:rPr lang="en-US" sz="2000" dirty="0"/>
              <a:t>system performance &amp; durability  </a:t>
            </a:r>
            <a:endParaRPr lang="en-US" sz="2000" dirty="0" smtClean="0"/>
          </a:p>
          <a:p>
            <a:pPr marL="0" indent="0">
              <a:buNone/>
            </a:pPr>
            <a:r>
              <a:rPr lang="en-US" b="1" dirty="0" smtClean="0"/>
              <a:t>Interleaving</a:t>
            </a:r>
            <a:r>
              <a:rPr lang="en-US" dirty="0" smtClean="0"/>
              <a:t> techniques </a:t>
            </a:r>
            <a:r>
              <a:rPr lang="en-US" dirty="0"/>
              <a:t>modify </a:t>
            </a:r>
            <a:r>
              <a:rPr lang="en-US" dirty="0" smtClean="0"/>
              <a:t>carrier </a:t>
            </a:r>
            <a:r>
              <a:rPr lang="en-US" dirty="0"/>
              <a:t>phase-shift </a:t>
            </a:r>
            <a:r>
              <a:rPr lang="en-US" dirty="0" smtClean="0"/>
              <a:t>relationships </a:t>
            </a:r>
            <a:r>
              <a:rPr lang="en-US" dirty="0"/>
              <a:t>to reduce stress</a:t>
            </a:r>
            <a:r>
              <a:rPr lang="en-US" dirty="0" smtClean="0"/>
              <a:t>.</a:t>
            </a:r>
          </a:p>
          <a:p>
            <a:pPr marL="0" indent="0">
              <a:buNone/>
            </a:pPr>
            <a:r>
              <a:rPr lang="en-US" dirty="0"/>
              <a:t>Primarily applied in </a:t>
            </a:r>
            <a:r>
              <a:rPr lang="en-US" b="1" dirty="0"/>
              <a:t>multi-converter systems</a:t>
            </a:r>
            <a:r>
              <a:rPr lang="en-US" dirty="0"/>
              <a:t>, such as: </a:t>
            </a:r>
          </a:p>
          <a:p>
            <a:pPr lvl="1"/>
            <a:r>
              <a:rPr lang="en-US" sz="2000" dirty="0"/>
              <a:t>Dual-inverter architectures </a:t>
            </a:r>
            <a:r>
              <a:rPr lang="en-US" sz="2000" dirty="0" smtClean="0"/>
              <a:t>(e.g. Segmented motor drives)   </a:t>
            </a:r>
            <a:endParaRPr lang="en-US" sz="2000" dirty="0"/>
          </a:p>
          <a:p>
            <a:pPr lvl="1"/>
            <a:r>
              <a:rPr lang="en-US" sz="2000" dirty="0"/>
              <a:t>Systems with integrated front-end converters  for DC-link regulation  </a:t>
            </a:r>
          </a:p>
          <a:p>
            <a:pPr marL="0" indent="0">
              <a:buNone/>
            </a:pPr>
            <a:r>
              <a:rPr lang="en-US" dirty="0" smtClean="0"/>
              <a:t> </a:t>
            </a:r>
            <a:endParaRPr lang="sv-SE" dirty="0"/>
          </a:p>
        </p:txBody>
      </p:sp>
      <p:pic>
        <p:nvPicPr>
          <p:cNvPr id="4" name="Picture 3">
            <a:extLst>
              <a:ext uri="{FF2B5EF4-FFF2-40B4-BE49-F238E27FC236}">
                <a16:creationId xmlns:a16="http://schemas.microsoft.com/office/drawing/2014/main" id="{3DFFF436-23DF-49E5-9C44-CB917E970CFB}"/>
              </a:ext>
            </a:extLst>
          </p:cNvPr>
          <p:cNvPicPr>
            <a:picLocks noChangeAspect="1"/>
          </p:cNvPicPr>
          <p:nvPr/>
        </p:nvPicPr>
        <p:blipFill>
          <a:blip r:embed="rId2"/>
          <a:stretch>
            <a:fillRect/>
          </a:stretch>
        </p:blipFill>
        <p:spPr>
          <a:xfrm>
            <a:off x="1695451" y="4230390"/>
            <a:ext cx="3720304" cy="2215889"/>
          </a:xfrm>
          <a:prstGeom prst="rect">
            <a:avLst/>
          </a:prstGeom>
        </p:spPr>
      </p:pic>
      <p:pic>
        <p:nvPicPr>
          <p:cNvPr id="5" name="Picture 4"/>
          <p:cNvPicPr>
            <a:picLocks noChangeAspect="1"/>
          </p:cNvPicPr>
          <p:nvPr/>
        </p:nvPicPr>
        <p:blipFill>
          <a:blip r:embed="rId3"/>
          <a:stretch>
            <a:fillRect/>
          </a:stretch>
        </p:blipFill>
        <p:spPr>
          <a:xfrm>
            <a:off x="6164134" y="4230390"/>
            <a:ext cx="3052078" cy="2337504"/>
          </a:xfrm>
          <a:prstGeom prst="rect">
            <a:avLst/>
          </a:prstGeom>
        </p:spPr>
      </p:pic>
    </p:spTree>
    <p:extLst>
      <p:ext uri="{BB962C8B-B14F-4D97-AF65-F5344CB8AC3E}">
        <p14:creationId xmlns:p14="http://schemas.microsoft.com/office/powerpoint/2010/main" val="35951659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0458" y="273907"/>
            <a:ext cx="10990263" cy="568412"/>
          </a:xfrm>
        </p:spPr>
        <p:txBody>
          <a:bodyPr/>
          <a:lstStyle/>
          <a:p>
            <a:r>
              <a:rPr lang="en-US" dirty="0" smtClean="0"/>
              <a:t>Interleaving </a:t>
            </a:r>
            <a:r>
              <a:rPr lang="en-US" dirty="0"/>
              <a:t>for Single 2L-VSI</a:t>
            </a:r>
            <a:endParaRPr lang="sv-SE" dirty="0"/>
          </a:p>
        </p:txBody>
      </p:sp>
      <p:sp>
        <p:nvSpPr>
          <p:cNvPr id="3" name="Content Placeholder 2"/>
          <p:cNvSpPr>
            <a:spLocks noGrp="1"/>
          </p:cNvSpPr>
          <p:nvPr>
            <p:ph idx="1"/>
          </p:nvPr>
        </p:nvSpPr>
        <p:spPr>
          <a:xfrm>
            <a:off x="417195" y="1035642"/>
            <a:ext cx="10990263" cy="1124466"/>
          </a:xfrm>
        </p:spPr>
        <p:txBody>
          <a:bodyPr/>
          <a:lstStyle/>
          <a:p>
            <a:pPr marL="0" indent="0">
              <a:buNone/>
            </a:pPr>
            <a:r>
              <a:rPr lang="en-US" sz="1800" dirty="0" smtClean="0"/>
              <a:t>Existing </a:t>
            </a:r>
            <a:r>
              <a:rPr lang="en-US" sz="1800" dirty="0"/>
              <a:t>Interleaving Approaches &amp; Limitations</a:t>
            </a:r>
          </a:p>
          <a:p>
            <a:pPr lvl="1"/>
            <a:r>
              <a:rPr lang="en-US" dirty="0"/>
              <a:t>Require additional </a:t>
            </a:r>
            <a:r>
              <a:rPr lang="en-US" dirty="0" smtClean="0"/>
              <a:t>switches (</a:t>
            </a:r>
            <a:r>
              <a:rPr lang="en-US" dirty="0"/>
              <a:t>pre-converters, parallel inverters)    </a:t>
            </a:r>
          </a:p>
          <a:p>
            <a:pPr lvl="1"/>
            <a:r>
              <a:rPr lang="en-US" dirty="0"/>
              <a:t>Not applicable </a:t>
            </a:r>
            <a:r>
              <a:rPr lang="en-US" dirty="0" smtClean="0"/>
              <a:t>for several applications that aim to achieve a cost-effective </a:t>
            </a:r>
            <a:r>
              <a:rPr lang="en-US" dirty="0"/>
              <a:t>solution</a:t>
            </a:r>
            <a:r>
              <a:rPr lang="en-US" dirty="0" smtClean="0"/>
              <a:t>. </a:t>
            </a:r>
            <a:endParaRPr lang="sv-SE" dirty="0"/>
          </a:p>
          <a:p>
            <a:pPr marL="457200" lvl="1" indent="0">
              <a:buNone/>
            </a:pPr>
            <a:endParaRPr lang="sv-SE" sz="2400" dirty="0"/>
          </a:p>
        </p:txBody>
      </p:sp>
      <p:sp>
        <p:nvSpPr>
          <p:cNvPr id="4" name="Rectangle 3"/>
          <p:cNvSpPr/>
          <p:nvPr/>
        </p:nvSpPr>
        <p:spPr>
          <a:xfrm>
            <a:off x="441253" y="3095971"/>
            <a:ext cx="5013277" cy="2339102"/>
          </a:xfrm>
          <a:prstGeom prst="rect">
            <a:avLst/>
          </a:prstGeom>
        </p:spPr>
        <p:txBody>
          <a:bodyPr wrap="square">
            <a:spAutoFit/>
          </a:bodyPr>
          <a:lstStyle/>
          <a:p>
            <a:r>
              <a:rPr lang="en-US" dirty="0" smtClean="0"/>
              <a:t>We propose a novel interleaving between the phase legs of a single two-level VSI. </a:t>
            </a:r>
          </a:p>
          <a:p>
            <a:r>
              <a:rPr lang="en-US" dirty="0" smtClean="0"/>
              <a:t>Challenges:   </a:t>
            </a:r>
          </a:p>
          <a:p>
            <a:pPr marL="800100" lvl="1" indent="-342900">
              <a:buFont typeface="Arial" panose="020B0604020202020204" pitchFamily="34" charset="0"/>
              <a:buChar char="•"/>
            </a:pPr>
            <a:r>
              <a:rPr lang="en-US" b="1" dirty="0" smtClean="0"/>
              <a:t>Time-varying</a:t>
            </a:r>
            <a:r>
              <a:rPr lang="en-US" dirty="0" smtClean="0"/>
              <a:t> leg currents complicate implementation.</a:t>
            </a:r>
          </a:p>
          <a:p>
            <a:pPr marL="800100" lvl="1" indent="-342900">
              <a:buFont typeface="Arial" panose="020B0604020202020204" pitchFamily="34" charset="0"/>
              <a:buChar char="•"/>
            </a:pPr>
            <a:r>
              <a:rPr lang="en-US" dirty="0" smtClean="0"/>
              <a:t>Unlike parallel systems, it requires </a:t>
            </a:r>
            <a:r>
              <a:rPr lang="en-US" b="1" dirty="0" smtClean="0"/>
              <a:t>dynamic</a:t>
            </a:r>
            <a:r>
              <a:rPr lang="en-US" dirty="0" smtClean="0"/>
              <a:t> phase adjustment.  </a:t>
            </a:r>
          </a:p>
          <a:p>
            <a:pPr>
              <a:buFontTx/>
              <a:buChar char="-"/>
            </a:pPr>
            <a:endParaRPr lang="en-US" sz="2000" dirty="0" smtClean="0"/>
          </a:p>
        </p:txBody>
      </p:sp>
      <p:pic>
        <p:nvPicPr>
          <p:cNvPr id="6" name="Picture 5"/>
          <p:cNvPicPr>
            <a:picLocks noChangeAspect="1"/>
          </p:cNvPicPr>
          <p:nvPr/>
        </p:nvPicPr>
        <p:blipFill>
          <a:blip r:embed="rId2"/>
          <a:stretch>
            <a:fillRect/>
          </a:stretch>
        </p:blipFill>
        <p:spPr>
          <a:xfrm>
            <a:off x="6020088" y="3303204"/>
            <a:ext cx="489827" cy="367371"/>
          </a:xfrm>
          <a:prstGeom prst="rect">
            <a:avLst/>
          </a:prstGeom>
        </p:spPr>
      </p:pic>
      <p:pic>
        <p:nvPicPr>
          <p:cNvPr id="7" name="Picture 6"/>
          <p:cNvPicPr>
            <a:picLocks noChangeAspect="1"/>
          </p:cNvPicPr>
          <p:nvPr/>
        </p:nvPicPr>
        <p:blipFill>
          <a:blip r:embed="rId3"/>
          <a:stretch>
            <a:fillRect/>
          </a:stretch>
        </p:blipFill>
        <p:spPr>
          <a:xfrm>
            <a:off x="6020088" y="2659428"/>
            <a:ext cx="731001" cy="548251"/>
          </a:xfrm>
          <a:prstGeom prst="rect">
            <a:avLst/>
          </a:prstGeom>
        </p:spPr>
      </p:pic>
      <p:pic>
        <p:nvPicPr>
          <p:cNvPr id="8" name="Picture 7"/>
          <p:cNvPicPr>
            <a:picLocks noChangeAspect="1"/>
          </p:cNvPicPr>
          <p:nvPr/>
        </p:nvPicPr>
        <p:blipFill>
          <a:blip r:embed="rId4"/>
          <a:stretch>
            <a:fillRect/>
          </a:stretch>
        </p:blipFill>
        <p:spPr>
          <a:xfrm>
            <a:off x="5997591" y="3761015"/>
            <a:ext cx="724303" cy="543227"/>
          </a:xfrm>
          <a:prstGeom prst="rect">
            <a:avLst/>
          </a:prstGeom>
        </p:spPr>
      </p:pic>
      <p:pic>
        <p:nvPicPr>
          <p:cNvPr id="9" name="Picture 8"/>
          <p:cNvPicPr>
            <a:picLocks noChangeAspect="1"/>
          </p:cNvPicPr>
          <p:nvPr/>
        </p:nvPicPr>
        <p:blipFill>
          <a:blip r:embed="rId5"/>
          <a:stretch>
            <a:fillRect/>
          </a:stretch>
        </p:blipFill>
        <p:spPr>
          <a:xfrm>
            <a:off x="5990103" y="4829884"/>
            <a:ext cx="714727" cy="536045"/>
          </a:xfrm>
          <a:prstGeom prst="rect">
            <a:avLst/>
          </a:prstGeom>
        </p:spPr>
      </p:pic>
      <p:cxnSp>
        <p:nvCxnSpPr>
          <p:cNvPr id="10" name="Straight Connector 9"/>
          <p:cNvCxnSpPr/>
          <p:nvPr/>
        </p:nvCxnSpPr>
        <p:spPr>
          <a:xfrm>
            <a:off x="6676949" y="2933553"/>
            <a:ext cx="5651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V="1">
            <a:off x="7777946" y="2926533"/>
            <a:ext cx="565165"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V="1">
            <a:off x="7761482" y="3992106"/>
            <a:ext cx="573580" cy="1349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V="1">
            <a:off x="6459364" y="3481804"/>
            <a:ext cx="291725" cy="50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7" name="Picture 26"/>
          <p:cNvPicPr>
            <a:picLocks noChangeAspect="1"/>
          </p:cNvPicPr>
          <p:nvPr/>
        </p:nvPicPr>
        <p:blipFill>
          <a:blip r:embed="rId6"/>
          <a:stretch>
            <a:fillRect/>
          </a:stretch>
        </p:blipFill>
        <p:spPr>
          <a:xfrm>
            <a:off x="8246550" y="4863342"/>
            <a:ext cx="508385" cy="381289"/>
          </a:xfrm>
          <a:prstGeom prst="rect">
            <a:avLst/>
          </a:prstGeom>
        </p:spPr>
      </p:pic>
      <p:pic>
        <p:nvPicPr>
          <p:cNvPr id="28" name="Picture 27"/>
          <p:cNvPicPr>
            <a:picLocks noChangeAspect="1"/>
          </p:cNvPicPr>
          <p:nvPr/>
        </p:nvPicPr>
        <p:blipFill>
          <a:blip r:embed="rId7"/>
          <a:stretch>
            <a:fillRect/>
          </a:stretch>
        </p:blipFill>
        <p:spPr>
          <a:xfrm>
            <a:off x="8274873" y="3810163"/>
            <a:ext cx="503168" cy="377376"/>
          </a:xfrm>
          <a:prstGeom prst="rect">
            <a:avLst/>
          </a:prstGeom>
        </p:spPr>
      </p:pic>
      <p:pic>
        <p:nvPicPr>
          <p:cNvPr id="29" name="Picture 28"/>
          <p:cNvPicPr>
            <a:picLocks noChangeAspect="1"/>
          </p:cNvPicPr>
          <p:nvPr/>
        </p:nvPicPr>
        <p:blipFill>
          <a:blip r:embed="rId8"/>
          <a:stretch>
            <a:fillRect/>
          </a:stretch>
        </p:blipFill>
        <p:spPr>
          <a:xfrm>
            <a:off x="8274873" y="2729636"/>
            <a:ext cx="516424" cy="387318"/>
          </a:xfrm>
          <a:prstGeom prst="rect">
            <a:avLst/>
          </a:prstGeom>
        </p:spPr>
      </p:pic>
      <p:sp>
        <p:nvSpPr>
          <p:cNvPr id="37" name="Rectangle 36"/>
          <p:cNvSpPr/>
          <p:nvPr/>
        </p:nvSpPr>
        <p:spPr>
          <a:xfrm rot="2508795">
            <a:off x="7311455" y="2756838"/>
            <a:ext cx="380687" cy="35343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8" name="TextBox 37"/>
          <p:cNvSpPr txBox="1"/>
          <p:nvPr/>
        </p:nvSpPr>
        <p:spPr>
          <a:xfrm>
            <a:off x="7350040" y="2741868"/>
            <a:ext cx="291941" cy="369332"/>
          </a:xfrm>
          <a:prstGeom prst="rect">
            <a:avLst/>
          </a:prstGeom>
          <a:noFill/>
          <a:ln>
            <a:noFill/>
          </a:ln>
        </p:spPr>
        <p:txBody>
          <a:bodyPr wrap="square" rtlCol="0">
            <a:spAutoFit/>
          </a:bodyPr>
          <a:lstStyle/>
          <a:p>
            <a:r>
              <a:rPr lang="en-US" dirty="0" smtClean="0"/>
              <a:t>&gt;</a:t>
            </a:r>
            <a:endParaRPr lang="sv-SE" dirty="0"/>
          </a:p>
        </p:txBody>
      </p:sp>
      <mc:AlternateContent xmlns:mc="http://schemas.openxmlformats.org/markup-compatibility/2006" xmlns:a14="http://schemas.microsoft.com/office/drawing/2010/main">
        <mc:Choice Requires="a14">
          <p:sp>
            <p:nvSpPr>
              <p:cNvPr id="47" name="Rectangle 46"/>
              <p:cNvSpPr/>
              <p:nvPr/>
            </p:nvSpPr>
            <p:spPr>
              <a:xfrm>
                <a:off x="6751089" y="3370952"/>
                <a:ext cx="193261" cy="23187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1000" b="0" i="1" smtClean="0">
                              <a:solidFill>
                                <a:schemeClr val="tx1"/>
                              </a:solidFill>
                              <a:latin typeface="Cambria Math" panose="02040503050406030204" pitchFamily="18" charset="0"/>
                            </a:rPr>
                          </m:ctrlPr>
                        </m:sSubPr>
                        <m:e>
                          <m:r>
                            <a:rPr lang="en-US" sz="1000" b="0" i="1" smtClean="0">
                              <a:solidFill>
                                <a:schemeClr val="tx1"/>
                              </a:solidFill>
                              <a:latin typeface="Cambria Math" panose="02040503050406030204" pitchFamily="18" charset="0"/>
                            </a:rPr>
                            <m:t>𝜙</m:t>
                          </m:r>
                        </m:e>
                        <m:sub>
                          <m:r>
                            <a:rPr lang="en-US" sz="1000" b="0" i="1" smtClean="0">
                              <a:solidFill>
                                <a:schemeClr val="tx1"/>
                              </a:solidFill>
                              <a:latin typeface="Cambria Math" panose="02040503050406030204" pitchFamily="18" charset="0"/>
                            </a:rPr>
                            <m:t>𝐴</m:t>
                          </m:r>
                        </m:sub>
                      </m:sSub>
                    </m:oMath>
                  </m:oMathPara>
                </a14:m>
                <a:endParaRPr lang="sv-SE" sz="1000" dirty="0">
                  <a:solidFill>
                    <a:schemeClr val="tx1"/>
                  </a:solidFill>
                </a:endParaRPr>
              </a:p>
            </p:txBody>
          </p:sp>
        </mc:Choice>
        <mc:Fallback xmlns="">
          <p:sp>
            <p:nvSpPr>
              <p:cNvPr id="47" name="Rectangle 46"/>
              <p:cNvSpPr>
                <a:spLocks noRot="1" noChangeAspect="1" noMove="1" noResize="1" noEditPoints="1" noAdjustHandles="1" noChangeArrowheads="1" noChangeShapeType="1" noTextEdit="1"/>
              </p:cNvSpPr>
              <p:nvPr/>
            </p:nvSpPr>
            <p:spPr>
              <a:xfrm>
                <a:off x="6751089" y="3370952"/>
                <a:ext cx="193261" cy="231874"/>
              </a:xfrm>
              <a:prstGeom prst="rect">
                <a:avLst/>
              </a:prstGeom>
              <a:blipFill>
                <a:blip r:embed="rId9"/>
                <a:stretch>
                  <a:fillRect l="-20588" b="-2500"/>
                </a:stretch>
              </a:blipFill>
              <a:ln>
                <a:solidFill>
                  <a:schemeClr val="tx1"/>
                </a:solidFill>
              </a:ln>
            </p:spPr>
            <p:txBody>
              <a:bodyPr/>
              <a:lstStyle/>
              <a:p>
                <a:r>
                  <a:rPr lang="sv-SE">
                    <a:noFill/>
                  </a:rPr>
                  <a:t> </a:t>
                </a:r>
              </a:p>
            </p:txBody>
          </p:sp>
        </mc:Fallback>
      </mc:AlternateContent>
      <p:cxnSp>
        <p:nvCxnSpPr>
          <p:cNvPr id="49" name="Straight Connector 48"/>
          <p:cNvCxnSpPr/>
          <p:nvPr/>
        </p:nvCxnSpPr>
        <p:spPr>
          <a:xfrm flipV="1">
            <a:off x="6944350" y="3481804"/>
            <a:ext cx="580793" cy="25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a:off x="7521295" y="3192167"/>
            <a:ext cx="3848" cy="2896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57" name="Picture 56"/>
          <p:cNvPicPr>
            <a:picLocks noChangeAspect="1"/>
          </p:cNvPicPr>
          <p:nvPr/>
        </p:nvPicPr>
        <p:blipFill>
          <a:blip r:embed="rId2"/>
          <a:stretch>
            <a:fillRect/>
          </a:stretch>
        </p:blipFill>
        <p:spPr>
          <a:xfrm>
            <a:off x="6020088" y="4406388"/>
            <a:ext cx="489827" cy="367371"/>
          </a:xfrm>
          <a:prstGeom prst="rect">
            <a:avLst/>
          </a:prstGeom>
        </p:spPr>
      </p:pic>
      <p:cxnSp>
        <p:nvCxnSpPr>
          <p:cNvPr id="58" name="Straight Connector 57"/>
          <p:cNvCxnSpPr/>
          <p:nvPr/>
        </p:nvCxnSpPr>
        <p:spPr>
          <a:xfrm flipV="1">
            <a:off x="6459364" y="4571225"/>
            <a:ext cx="291725" cy="50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9" name="Rectangle 58"/>
              <p:cNvSpPr/>
              <p:nvPr/>
            </p:nvSpPr>
            <p:spPr>
              <a:xfrm>
                <a:off x="6751089" y="4460373"/>
                <a:ext cx="193261" cy="23187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1000" b="0" i="1" smtClean="0">
                              <a:solidFill>
                                <a:schemeClr val="tx1"/>
                              </a:solidFill>
                              <a:latin typeface="Cambria Math" panose="02040503050406030204" pitchFamily="18" charset="0"/>
                            </a:rPr>
                          </m:ctrlPr>
                        </m:sSubPr>
                        <m:e>
                          <m:r>
                            <a:rPr lang="en-US" sz="1000" b="0" i="1" smtClean="0">
                              <a:solidFill>
                                <a:schemeClr val="tx1"/>
                              </a:solidFill>
                              <a:latin typeface="Cambria Math" panose="02040503050406030204" pitchFamily="18" charset="0"/>
                            </a:rPr>
                            <m:t>𝜙</m:t>
                          </m:r>
                        </m:e>
                        <m:sub>
                          <m:r>
                            <a:rPr lang="en-US" sz="1000" b="0" i="1" smtClean="0">
                              <a:solidFill>
                                <a:schemeClr val="tx1"/>
                              </a:solidFill>
                              <a:latin typeface="Cambria Math" panose="02040503050406030204" pitchFamily="18" charset="0"/>
                            </a:rPr>
                            <m:t>𝐵</m:t>
                          </m:r>
                        </m:sub>
                      </m:sSub>
                    </m:oMath>
                  </m:oMathPara>
                </a14:m>
                <a:endParaRPr lang="sv-SE" sz="1000" dirty="0">
                  <a:solidFill>
                    <a:schemeClr val="tx1"/>
                  </a:solidFill>
                </a:endParaRPr>
              </a:p>
            </p:txBody>
          </p:sp>
        </mc:Choice>
        <mc:Fallback xmlns="">
          <p:sp>
            <p:nvSpPr>
              <p:cNvPr id="59" name="Rectangle 58"/>
              <p:cNvSpPr>
                <a:spLocks noRot="1" noChangeAspect="1" noMove="1" noResize="1" noEditPoints="1" noAdjustHandles="1" noChangeArrowheads="1" noChangeShapeType="1" noTextEdit="1"/>
              </p:cNvSpPr>
              <p:nvPr/>
            </p:nvSpPr>
            <p:spPr>
              <a:xfrm>
                <a:off x="6751089" y="4460373"/>
                <a:ext cx="193261" cy="231874"/>
              </a:xfrm>
              <a:prstGeom prst="rect">
                <a:avLst/>
              </a:prstGeom>
              <a:blipFill>
                <a:blip r:embed="rId10"/>
                <a:stretch>
                  <a:fillRect l="-23529" b="-2500"/>
                </a:stretch>
              </a:blipFill>
              <a:ln>
                <a:solidFill>
                  <a:schemeClr val="tx1"/>
                </a:solidFill>
              </a:ln>
            </p:spPr>
            <p:txBody>
              <a:bodyPr/>
              <a:lstStyle/>
              <a:p>
                <a:r>
                  <a:rPr lang="sv-SE">
                    <a:noFill/>
                  </a:rPr>
                  <a:t> </a:t>
                </a:r>
              </a:p>
            </p:txBody>
          </p:sp>
        </mc:Fallback>
      </mc:AlternateContent>
      <p:cxnSp>
        <p:nvCxnSpPr>
          <p:cNvPr id="60" name="Straight Connector 59"/>
          <p:cNvCxnSpPr/>
          <p:nvPr/>
        </p:nvCxnSpPr>
        <p:spPr>
          <a:xfrm flipV="1">
            <a:off x="6944350" y="4571225"/>
            <a:ext cx="580793" cy="25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1" name="Rectangle 60"/>
          <p:cNvSpPr/>
          <p:nvPr/>
        </p:nvSpPr>
        <p:spPr>
          <a:xfrm rot="2508795">
            <a:off x="7311454" y="3835900"/>
            <a:ext cx="380687" cy="35343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2" name="TextBox 61"/>
          <p:cNvSpPr txBox="1"/>
          <p:nvPr/>
        </p:nvSpPr>
        <p:spPr>
          <a:xfrm>
            <a:off x="7350039" y="3820930"/>
            <a:ext cx="291941" cy="369332"/>
          </a:xfrm>
          <a:prstGeom prst="rect">
            <a:avLst/>
          </a:prstGeom>
          <a:noFill/>
          <a:ln>
            <a:noFill/>
          </a:ln>
        </p:spPr>
        <p:txBody>
          <a:bodyPr wrap="square" rtlCol="0">
            <a:spAutoFit/>
          </a:bodyPr>
          <a:lstStyle/>
          <a:p>
            <a:r>
              <a:rPr lang="en-US" dirty="0" smtClean="0"/>
              <a:t>&gt;</a:t>
            </a:r>
            <a:endParaRPr lang="sv-SE" dirty="0"/>
          </a:p>
        </p:txBody>
      </p:sp>
      <p:cxnSp>
        <p:nvCxnSpPr>
          <p:cNvPr id="63" name="Straight Connector 62"/>
          <p:cNvCxnSpPr/>
          <p:nvPr/>
        </p:nvCxnSpPr>
        <p:spPr>
          <a:xfrm>
            <a:off x="7521295" y="4275132"/>
            <a:ext cx="3848" cy="2896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a:off x="6661767" y="4023844"/>
            <a:ext cx="5651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65" name="Picture 64"/>
          <p:cNvPicPr>
            <a:picLocks noChangeAspect="1"/>
          </p:cNvPicPr>
          <p:nvPr/>
        </p:nvPicPr>
        <p:blipFill>
          <a:blip r:embed="rId2"/>
          <a:stretch>
            <a:fillRect/>
          </a:stretch>
        </p:blipFill>
        <p:spPr>
          <a:xfrm>
            <a:off x="6009808" y="5446911"/>
            <a:ext cx="489827" cy="367371"/>
          </a:xfrm>
          <a:prstGeom prst="rect">
            <a:avLst/>
          </a:prstGeom>
        </p:spPr>
      </p:pic>
      <p:cxnSp>
        <p:nvCxnSpPr>
          <p:cNvPr id="66" name="Straight Connector 65"/>
          <p:cNvCxnSpPr/>
          <p:nvPr/>
        </p:nvCxnSpPr>
        <p:spPr>
          <a:xfrm flipV="1">
            <a:off x="6449084" y="5625511"/>
            <a:ext cx="291725" cy="50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7" name="Rectangle 66"/>
              <p:cNvSpPr/>
              <p:nvPr/>
            </p:nvSpPr>
            <p:spPr>
              <a:xfrm>
                <a:off x="6740809" y="5514659"/>
                <a:ext cx="193261" cy="23187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1000" b="0" i="1" smtClean="0">
                              <a:solidFill>
                                <a:schemeClr val="tx1"/>
                              </a:solidFill>
                              <a:latin typeface="Cambria Math" panose="02040503050406030204" pitchFamily="18" charset="0"/>
                            </a:rPr>
                          </m:ctrlPr>
                        </m:sSubPr>
                        <m:e>
                          <m:r>
                            <a:rPr lang="en-US" sz="1000" b="0" i="1" smtClean="0">
                              <a:solidFill>
                                <a:schemeClr val="tx1"/>
                              </a:solidFill>
                              <a:latin typeface="Cambria Math" panose="02040503050406030204" pitchFamily="18" charset="0"/>
                            </a:rPr>
                            <m:t>𝜙</m:t>
                          </m:r>
                        </m:e>
                        <m:sub>
                          <m:r>
                            <a:rPr lang="en-US" sz="1000" b="0" i="1" smtClean="0">
                              <a:solidFill>
                                <a:schemeClr val="tx1"/>
                              </a:solidFill>
                              <a:latin typeface="Cambria Math" panose="02040503050406030204" pitchFamily="18" charset="0"/>
                            </a:rPr>
                            <m:t>𝐶</m:t>
                          </m:r>
                        </m:sub>
                      </m:sSub>
                    </m:oMath>
                  </m:oMathPara>
                </a14:m>
                <a:endParaRPr lang="sv-SE" sz="1000" dirty="0">
                  <a:solidFill>
                    <a:schemeClr val="tx1"/>
                  </a:solidFill>
                </a:endParaRPr>
              </a:p>
            </p:txBody>
          </p:sp>
        </mc:Choice>
        <mc:Fallback xmlns="">
          <p:sp>
            <p:nvSpPr>
              <p:cNvPr id="67" name="Rectangle 66"/>
              <p:cNvSpPr>
                <a:spLocks noRot="1" noChangeAspect="1" noMove="1" noResize="1" noEditPoints="1" noAdjustHandles="1" noChangeArrowheads="1" noChangeShapeType="1" noTextEdit="1"/>
              </p:cNvSpPr>
              <p:nvPr/>
            </p:nvSpPr>
            <p:spPr>
              <a:xfrm>
                <a:off x="6740809" y="5514659"/>
                <a:ext cx="193261" cy="231874"/>
              </a:xfrm>
              <a:prstGeom prst="rect">
                <a:avLst/>
              </a:prstGeom>
              <a:blipFill>
                <a:blip r:embed="rId11"/>
                <a:stretch>
                  <a:fillRect l="-24242" b="-2500"/>
                </a:stretch>
              </a:blipFill>
              <a:ln>
                <a:solidFill>
                  <a:schemeClr val="tx1"/>
                </a:solidFill>
              </a:ln>
            </p:spPr>
            <p:txBody>
              <a:bodyPr/>
              <a:lstStyle/>
              <a:p>
                <a:r>
                  <a:rPr lang="sv-SE">
                    <a:noFill/>
                  </a:rPr>
                  <a:t> </a:t>
                </a:r>
              </a:p>
            </p:txBody>
          </p:sp>
        </mc:Fallback>
      </mc:AlternateContent>
      <p:cxnSp>
        <p:nvCxnSpPr>
          <p:cNvPr id="68" name="Straight Connector 67"/>
          <p:cNvCxnSpPr/>
          <p:nvPr/>
        </p:nvCxnSpPr>
        <p:spPr>
          <a:xfrm flipV="1">
            <a:off x="6934070" y="5625511"/>
            <a:ext cx="580793" cy="25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a:off x="7499394" y="5338337"/>
            <a:ext cx="3848" cy="2896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0" name="Rectangle 69"/>
          <p:cNvSpPr/>
          <p:nvPr/>
        </p:nvSpPr>
        <p:spPr>
          <a:xfrm rot="2508795">
            <a:off x="7289034" y="4890269"/>
            <a:ext cx="380687" cy="35343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71" name="TextBox 70"/>
          <p:cNvSpPr txBox="1"/>
          <p:nvPr/>
        </p:nvSpPr>
        <p:spPr>
          <a:xfrm>
            <a:off x="7327619" y="4875299"/>
            <a:ext cx="291941" cy="369332"/>
          </a:xfrm>
          <a:prstGeom prst="rect">
            <a:avLst/>
          </a:prstGeom>
          <a:noFill/>
          <a:ln>
            <a:noFill/>
          </a:ln>
        </p:spPr>
        <p:txBody>
          <a:bodyPr wrap="square" rtlCol="0">
            <a:spAutoFit/>
          </a:bodyPr>
          <a:lstStyle/>
          <a:p>
            <a:r>
              <a:rPr lang="en-US" dirty="0" smtClean="0"/>
              <a:t>&gt;</a:t>
            </a:r>
            <a:endParaRPr lang="sv-SE" dirty="0"/>
          </a:p>
        </p:txBody>
      </p:sp>
      <p:cxnSp>
        <p:nvCxnSpPr>
          <p:cNvPr id="72" name="Straight Connector 71"/>
          <p:cNvCxnSpPr/>
          <p:nvPr/>
        </p:nvCxnSpPr>
        <p:spPr>
          <a:xfrm>
            <a:off x="6639347" y="5078213"/>
            <a:ext cx="5651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p:nvPr/>
        </p:nvCxnSpPr>
        <p:spPr>
          <a:xfrm flipV="1">
            <a:off x="7731533" y="5059964"/>
            <a:ext cx="565165"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4" name="TextBox 73"/>
          <p:cNvSpPr txBox="1"/>
          <p:nvPr/>
        </p:nvSpPr>
        <p:spPr>
          <a:xfrm>
            <a:off x="5344418" y="2699931"/>
            <a:ext cx="837950" cy="461665"/>
          </a:xfrm>
          <a:prstGeom prst="rect">
            <a:avLst/>
          </a:prstGeom>
          <a:noFill/>
        </p:spPr>
        <p:txBody>
          <a:bodyPr wrap="square" rtlCol="0">
            <a:spAutoFit/>
          </a:bodyPr>
          <a:lstStyle/>
          <a:p>
            <a:pPr algn="ctr"/>
            <a:r>
              <a:rPr lang="en-US" sz="1200" dirty="0" err="1" smtClean="0"/>
              <a:t>PhA</a:t>
            </a:r>
            <a:endParaRPr lang="en-US" sz="1200" dirty="0" smtClean="0"/>
          </a:p>
          <a:p>
            <a:pPr algn="ctr"/>
            <a:r>
              <a:rPr lang="en-US" sz="1200" dirty="0" smtClean="0"/>
              <a:t>Voltage</a:t>
            </a:r>
            <a:endParaRPr lang="sv-SE" sz="1200" dirty="0"/>
          </a:p>
        </p:txBody>
      </p:sp>
      <p:pic>
        <p:nvPicPr>
          <p:cNvPr id="77" name="Picture 76"/>
          <p:cNvPicPr>
            <a:picLocks noChangeAspect="1"/>
          </p:cNvPicPr>
          <p:nvPr/>
        </p:nvPicPr>
        <p:blipFill>
          <a:blip r:embed="rId3"/>
          <a:stretch>
            <a:fillRect/>
          </a:stretch>
        </p:blipFill>
        <p:spPr>
          <a:xfrm>
            <a:off x="8295349" y="3174670"/>
            <a:ext cx="481033" cy="360775"/>
          </a:xfrm>
          <a:prstGeom prst="rect">
            <a:avLst/>
          </a:prstGeom>
        </p:spPr>
      </p:pic>
      <p:sp>
        <p:nvSpPr>
          <p:cNvPr id="78" name="TextBox 77"/>
          <p:cNvSpPr txBox="1"/>
          <p:nvPr/>
        </p:nvSpPr>
        <p:spPr>
          <a:xfrm>
            <a:off x="8060528" y="2423779"/>
            <a:ext cx="1098662" cy="276999"/>
          </a:xfrm>
          <a:prstGeom prst="rect">
            <a:avLst/>
          </a:prstGeom>
          <a:noFill/>
        </p:spPr>
        <p:txBody>
          <a:bodyPr wrap="square" rtlCol="0">
            <a:spAutoFit/>
          </a:bodyPr>
          <a:lstStyle/>
          <a:p>
            <a:r>
              <a:rPr lang="en-US" sz="1200" dirty="0" smtClean="0"/>
              <a:t>PWM-</a:t>
            </a:r>
            <a:r>
              <a:rPr lang="en-US" sz="1200" dirty="0" err="1" smtClean="0"/>
              <a:t>phA</a:t>
            </a:r>
            <a:endParaRPr lang="sv-SE" sz="1200" dirty="0"/>
          </a:p>
        </p:txBody>
      </p:sp>
      <p:sp>
        <p:nvSpPr>
          <p:cNvPr id="79" name="TextBox 78"/>
          <p:cNvSpPr txBox="1"/>
          <p:nvPr/>
        </p:nvSpPr>
        <p:spPr>
          <a:xfrm>
            <a:off x="8078150" y="3558524"/>
            <a:ext cx="1098662" cy="276999"/>
          </a:xfrm>
          <a:prstGeom prst="rect">
            <a:avLst/>
          </a:prstGeom>
          <a:noFill/>
        </p:spPr>
        <p:txBody>
          <a:bodyPr wrap="square" rtlCol="0">
            <a:spAutoFit/>
          </a:bodyPr>
          <a:lstStyle/>
          <a:p>
            <a:r>
              <a:rPr lang="en-US" sz="1200" dirty="0" smtClean="0"/>
              <a:t>PWM-</a:t>
            </a:r>
            <a:r>
              <a:rPr lang="en-US" sz="1200" dirty="0" err="1" smtClean="0"/>
              <a:t>phB</a:t>
            </a:r>
            <a:endParaRPr lang="sv-SE" sz="1200" dirty="0"/>
          </a:p>
        </p:txBody>
      </p:sp>
      <p:sp>
        <p:nvSpPr>
          <p:cNvPr id="80" name="TextBox 79"/>
          <p:cNvSpPr txBox="1"/>
          <p:nvPr/>
        </p:nvSpPr>
        <p:spPr>
          <a:xfrm>
            <a:off x="8048272" y="4593662"/>
            <a:ext cx="1098662" cy="276999"/>
          </a:xfrm>
          <a:prstGeom prst="rect">
            <a:avLst/>
          </a:prstGeom>
          <a:noFill/>
        </p:spPr>
        <p:txBody>
          <a:bodyPr wrap="square" rtlCol="0">
            <a:spAutoFit/>
          </a:bodyPr>
          <a:lstStyle/>
          <a:p>
            <a:r>
              <a:rPr lang="en-US" sz="1200" dirty="0" smtClean="0"/>
              <a:t>PWM-</a:t>
            </a:r>
            <a:r>
              <a:rPr lang="en-US" sz="1200" dirty="0" err="1" smtClean="0"/>
              <a:t>phC</a:t>
            </a:r>
            <a:endParaRPr lang="sv-SE" sz="1200" dirty="0"/>
          </a:p>
        </p:txBody>
      </p:sp>
      <p:pic>
        <p:nvPicPr>
          <p:cNvPr id="81" name="Picture 80"/>
          <p:cNvPicPr>
            <a:picLocks noChangeAspect="1"/>
          </p:cNvPicPr>
          <p:nvPr/>
        </p:nvPicPr>
        <p:blipFill>
          <a:blip r:embed="rId4"/>
          <a:stretch>
            <a:fillRect/>
          </a:stretch>
        </p:blipFill>
        <p:spPr>
          <a:xfrm>
            <a:off x="8333634" y="4245865"/>
            <a:ext cx="433814" cy="325360"/>
          </a:xfrm>
          <a:prstGeom prst="rect">
            <a:avLst/>
          </a:prstGeom>
        </p:spPr>
      </p:pic>
      <p:pic>
        <p:nvPicPr>
          <p:cNvPr id="82" name="Picture 81"/>
          <p:cNvPicPr>
            <a:picLocks noChangeAspect="1"/>
          </p:cNvPicPr>
          <p:nvPr/>
        </p:nvPicPr>
        <p:blipFill>
          <a:blip r:embed="rId5"/>
          <a:stretch>
            <a:fillRect/>
          </a:stretch>
        </p:blipFill>
        <p:spPr>
          <a:xfrm>
            <a:off x="8285326" y="5325598"/>
            <a:ext cx="430831" cy="323123"/>
          </a:xfrm>
          <a:prstGeom prst="rect">
            <a:avLst/>
          </a:prstGeom>
        </p:spPr>
      </p:pic>
      <p:sp>
        <p:nvSpPr>
          <p:cNvPr id="83" name="TextBox 82"/>
          <p:cNvSpPr txBox="1"/>
          <p:nvPr/>
        </p:nvSpPr>
        <p:spPr>
          <a:xfrm>
            <a:off x="5310426" y="3754398"/>
            <a:ext cx="837950" cy="461665"/>
          </a:xfrm>
          <a:prstGeom prst="rect">
            <a:avLst/>
          </a:prstGeom>
          <a:noFill/>
        </p:spPr>
        <p:txBody>
          <a:bodyPr wrap="square" rtlCol="0">
            <a:spAutoFit/>
          </a:bodyPr>
          <a:lstStyle/>
          <a:p>
            <a:pPr algn="ctr"/>
            <a:r>
              <a:rPr lang="en-US" sz="1200" dirty="0" err="1" smtClean="0"/>
              <a:t>PhB</a:t>
            </a:r>
            <a:endParaRPr lang="en-US" sz="1200" dirty="0" smtClean="0"/>
          </a:p>
          <a:p>
            <a:pPr algn="ctr"/>
            <a:r>
              <a:rPr lang="en-US" sz="1200" dirty="0" smtClean="0"/>
              <a:t>Voltage</a:t>
            </a:r>
            <a:endParaRPr lang="sv-SE" sz="1200" dirty="0"/>
          </a:p>
        </p:txBody>
      </p:sp>
      <p:sp>
        <p:nvSpPr>
          <p:cNvPr id="84" name="TextBox 83"/>
          <p:cNvSpPr txBox="1"/>
          <p:nvPr/>
        </p:nvSpPr>
        <p:spPr>
          <a:xfrm>
            <a:off x="5286534" y="4853062"/>
            <a:ext cx="837950" cy="461665"/>
          </a:xfrm>
          <a:prstGeom prst="rect">
            <a:avLst/>
          </a:prstGeom>
          <a:noFill/>
        </p:spPr>
        <p:txBody>
          <a:bodyPr wrap="square" rtlCol="0">
            <a:spAutoFit/>
          </a:bodyPr>
          <a:lstStyle/>
          <a:p>
            <a:pPr algn="ctr"/>
            <a:r>
              <a:rPr lang="en-US" sz="1200" dirty="0" err="1" smtClean="0"/>
              <a:t>PhC</a:t>
            </a:r>
            <a:endParaRPr lang="en-US" sz="1200" dirty="0" smtClean="0"/>
          </a:p>
          <a:p>
            <a:pPr algn="ctr"/>
            <a:r>
              <a:rPr lang="en-US" sz="1200" dirty="0" smtClean="0"/>
              <a:t>Voltage</a:t>
            </a:r>
            <a:endParaRPr lang="sv-SE" sz="1200" dirty="0"/>
          </a:p>
        </p:txBody>
      </p:sp>
      <p:sp>
        <p:nvSpPr>
          <p:cNvPr id="85" name="TextBox 84"/>
          <p:cNvSpPr txBox="1"/>
          <p:nvPr/>
        </p:nvSpPr>
        <p:spPr>
          <a:xfrm>
            <a:off x="7612099" y="3125995"/>
            <a:ext cx="837950" cy="461665"/>
          </a:xfrm>
          <a:prstGeom prst="rect">
            <a:avLst/>
          </a:prstGeom>
          <a:noFill/>
        </p:spPr>
        <p:txBody>
          <a:bodyPr wrap="square" rtlCol="0">
            <a:spAutoFit/>
          </a:bodyPr>
          <a:lstStyle/>
          <a:p>
            <a:pPr algn="ctr"/>
            <a:r>
              <a:rPr lang="en-US" sz="1200" dirty="0" err="1" smtClean="0"/>
              <a:t>PhA</a:t>
            </a:r>
            <a:endParaRPr lang="en-US" sz="1200" dirty="0" smtClean="0"/>
          </a:p>
          <a:p>
            <a:pPr algn="ctr"/>
            <a:r>
              <a:rPr lang="en-US" sz="1200" dirty="0" smtClean="0"/>
              <a:t>Current</a:t>
            </a:r>
            <a:endParaRPr lang="sv-SE" sz="1200" dirty="0"/>
          </a:p>
        </p:txBody>
      </p:sp>
      <p:sp>
        <p:nvSpPr>
          <p:cNvPr id="86" name="TextBox 85"/>
          <p:cNvSpPr txBox="1"/>
          <p:nvPr/>
        </p:nvSpPr>
        <p:spPr>
          <a:xfrm>
            <a:off x="7626387" y="4166525"/>
            <a:ext cx="837950" cy="461665"/>
          </a:xfrm>
          <a:prstGeom prst="rect">
            <a:avLst/>
          </a:prstGeom>
          <a:noFill/>
        </p:spPr>
        <p:txBody>
          <a:bodyPr wrap="square" rtlCol="0">
            <a:spAutoFit/>
          </a:bodyPr>
          <a:lstStyle/>
          <a:p>
            <a:pPr algn="ctr"/>
            <a:r>
              <a:rPr lang="en-US" sz="1200" dirty="0" err="1" smtClean="0"/>
              <a:t>PhB</a:t>
            </a:r>
            <a:endParaRPr lang="en-US" sz="1200" dirty="0" smtClean="0"/>
          </a:p>
          <a:p>
            <a:pPr algn="ctr"/>
            <a:r>
              <a:rPr lang="en-US" sz="1200" dirty="0" smtClean="0"/>
              <a:t>Current</a:t>
            </a:r>
            <a:endParaRPr lang="sv-SE" sz="1200" dirty="0"/>
          </a:p>
        </p:txBody>
      </p:sp>
      <p:sp>
        <p:nvSpPr>
          <p:cNvPr id="87" name="TextBox 86"/>
          <p:cNvSpPr txBox="1"/>
          <p:nvPr/>
        </p:nvSpPr>
        <p:spPr>
          <a:xfrm>
            <a:off x="7582992" y="5256326"/>
            <a:ext cx="837950" cy="461665"/>
          </a:xfrm>
          <a:prstGeom prst="rect">
            <a:avLst/>
          </a:prstGeom>
          <a:noFill/>
        </p:spPr>
        <p:txBody>
          <a:bodyPr wrap="square" rtlCol="0">
            <a:spAutoFit/>
          </a:bodyPr>
          <a:lstStyle/>
          <a:p>
            <a:pPr algn="ctr"/>
            <a:r>
              <a:rPr lang="en-US" sz="1200" dirty="0" err="1" smtClean="0"/>
              <a:t>PhC</a:t>
            </a:r>
            <a:endParaRPr lang="en-US" sz="1200" dirty="0" smtClean="0"/>
          </a:p>
          <a:p>
            <a:pPr algn="ctr"/>
            <a:r>
              <a:rPr lang="en-US" sz="1200" dirty="0" smtClean="0"/>
              <a:t>Current</a:t>
            </a:r>
            <a:endParaRPr lang="sv-SE" sz="1200" dirty="0"/>
          </a:p>
        </p:txBody>
      </p:sp>
      <p:cxnSp>
        <p:nvCxnSpPr>
          <p:cNvPr id="88" name="Straight Connector 87"/>
          <p:cNvCxnSpPr/>
          <p:nvPr/>
        </p:nvCxnSpPr>
        <p:spPr>
          <a:xfrm flipV="1">
            <a:off x="8743888" y="2921428"/>
            <a:ext cx="565165"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8716157" y="3334683"/>
            <a:ext cx="876705" cy="102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0" name="Rectangle 89"/>
          <p:cNvSpPr/>
          <p:nvPr/>
        </p:nvSpPr>
        <p:spPr>
          <a:xfrm rot="2508795">
            <a:off x="9394504" y="2726647"/>
            <a:ext cx="380687" cy="35343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91" name="TextBox 90"/>
          <p:cNvSpPr txBox="1"/>
          <p:nvPr/>
        </p:nvSpPr>
        <p:spPr>
          <a:xfrm>
            <a:off x="9433089" y="2711677"/>
            <a:ext cx="291941" cy="369332"/>
          </a:xfrm>
          <a:prstGeom prst="rect">
            <a:avLst/>
          </a:prstGeom>
          <a:noFill/>
          <a:ln>
            <a:noFill/>
          </a:ln>
        </p:spPr>
        <p:txBody>
          <a:bodyPr wrap="square" rtlCol="0">
            <a:spAutoFit/>
          </a:bodyPr>
          <a:lstStyle/>
          <a:p>
            <a:r>
              <a:rPr lang="en-US" dirty="0"/>
              <a:t>x</a:t>
            </a:r>
            <a:endParaRPr lang="sv-SE" dirty="0"/>
          </a:p>
        </p:txBody>
      </p:sp>
      <p:cxnSp>
        <p:nvCxnSpPr>
          <p:cNvPr id="93" name="Straight Connector 92"/>
          <p:cNvCxnSpPr/>
          <p:nvPr/>
        </p:nvCxnSpPr>
        <p:spPr>
          <a:xfrm flipH="1">
            <a:off x="9608972" y="3161596"/>
            <a:ext cx="4874" cy="1730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Straight Connector 98"/>
          <p:cNvCxnSpPr/>
          <p:nvPr/>
        </p:nvCxnSpPr>
        <p:spPr>
          <a:xfrm flipV="1">
            <a:off x="8735912" y="3984831"/>
            <a:ext cx="565165"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a:xfrm>
            <a:off x="8708181" y="4398086"/>
            <a:ext cx="876705" cy="102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1" name="Rectangle 100"/>
          <p:cNvSpPr/>
          <p:nvPr/>
        </p:nvSpPr>
        <p:spPr>
          <a:xfrm rot="2508795">
            <a:off x="9386528" y="3790050"/>
            <a:ext cx="380687" cy="35343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2" name="TextBox 101"/>
          <p:cNvSpPr txBox="1"/>
          <p:nvPr/>
        </p:nvSpPr>
        <p:spPr>
          <a:xfrm>
            <a:off x="9425113" y="3775080"/>
            <a:ext cx="291941" cy="369332"/>
          </a:xfrm>
          <a:prstGeom prst="rect">
            <a:avLst/>
          </a:prstGeom>
          <a:noFill/>
          <a:ln>
            <a:noFill/>
          </a:ln>
        </p:spPr>
        <p:txBody>
          <a:bodyPr wrap="square" rtlCol="0">
            <a:spAutoFit/>
          </a:bodyPr>
          <a:lstStyle/>
          <a:p>
            <a:r>
              <a:rPr lang="en-US" dirty="0"/>
              <a:t>x</a:t>
            </a:r>
            <a:endParaRPr lang="sv-SE" dirty="0"/>
          </a:p>
        </p:txBody>
      </p:sp>
      <p:cxnSp>
        <p:nvCxnSpPr>
          <p:cNvPr id="103" name="Straight Connector 102"/>
          <p:cNvCxnSpPr/>
          <p:nvPr/>
        </p:nvCxnSpPr>
        <p:spPr>
          <a:xfrm flipH="1">
            <a:off x="9600996" y="4224999"/>
            <a:ext cx="4874" cy="1730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V="1">
            <a:off x="8689692" y="5058643"/>
            <a:ext cx="565165"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a:off x="8661961" y="5471898"/>
            <a:ext cx="876705" cy="102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6" name="Rectangle 105"/>
          <p:cNvSpPr/>
          <p:nvPr/>
        </p:nvSpPr>
        <p:spPr>
          <a:xfrm rot="2508795">
            <a:off x="9340308" y="4863862"/>
            <a:ext cx="380687" cy="35343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 name="TextBox 106"/>
          <p:cNvSpPr txBox="1"/>
          <p:nvPr/>
        </p:nvSpPr>
        <p:spPr>
          <a:xfrm>
            <a:off x="9378893" y="4848892"/>
            <a:ext cx="291941" cy="369332"/>
          </a:xfrm>
          <a:prstGeom prst="rect">
            <a:avLst/>
          </a:prstGeom>
          <a:noFill/>
          <a:ln>
            <a:noFill/>
          </a:ln>
        </p:spPr>
        <p:txBody>
          <a:bodyPr wrap="square" rtlCol="0">
            <a:spAutoFit/>
          </a:bodyPr>
          <a:lstStyle/>
          <a:p>
            <a:r>
              <a:rPr lang="en-US" dirty="0"/>
              <a:t>x</a:t>
            </a:r>
            <a:endParaRPr lang="sv-SE" dirty="0"/>
          </a:p>
        </p:txBody>
      </p:sp>
      <p:cxnSp>
        <p:nvCxnSpPr>
          <p:cNvPr id="108" name="Straight Connector 107"/>
          <p:cNvCxnSpPr/>
          <p:nvPr/>
        </p:nvCxnSpPr>
        <p:spPr>
          <a:xfrm flipH="1">
            <a:off x="9554776" y="5298811"/>
            <a:ext cx="4874" cy="1730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p:nvCxnSpPr>
        <p:spPr>
          <a:xfrm flipV="1">
            <a:off x="9844532" y="2896342"/>
            <a:ext cx="565165"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a:xfrm>
            <a:off x="10414571" y="2896342"/>
            <a:ext cx="10751" cy="8118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Rectangle 110"/>
          <p:cNvSpPr/>
          <p:nvPr/>
        </p:nvSpPr>
        <p:spPr>
          <a:xfrm rot="2508795">
            <a:off x="10240767" y="3782720"/>
            <a:ext cx="380687" cy="35343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 name="TextBox 111"/>
          <p:cNvSpPr txBox="1"/>
          <p:nvPr/>
        </p:nvSpPr>
        <p:spPr>
          <a:xfrm>
            <a:off x="10279352" y="3767750"/>
            <a:ext cx="291941" cy="369332"/>
          </a:xfrm>
          <a:prstGeom prst="rect">
            <a:avLst/>
          </a:prstGeom>
          <a:noFill/>
          <a:ln>
            <a:noFill/>
          </a:ln>
        </p:spPr>
        <p:txBody>
          <a:bodyPr wrap="square" rtlCol="0">
            <a:spAutoFit/>
          </a:bodyPr>
          <a:lstStyle/>
          <a:p>
            <a:r>
              <a:rPr lang="en-US" dirty="0" smtClean="0"/>
              <a:t>+</a:t>
            </a:r>
            <a:endParaRPr lang="sv-SE" dirty="0"/>
          </a:p>
        </p:txBody>
      </p:sp>
      <p:cxnSp>
        <p:nvCxnSpPr>
          <p:cNvPr id="113" name="Straight Connector 112"/>
          <p:cNvCxnSpPr/>
          <p:nvPr/>
        </p:nvCxnSpPr>
        <p:spPr>
          <a:xfrm flipV="1">
            <a:off x="9810537" y="3959746"/>
            <a:ext cx="343904"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p:cNvCxnSpPr/>
          <p:nvPr/>
        </p:nvCxnSpPr>
        <p:spPr>
          <a:xfrm flipV="1">
            <a:off x="9778760" y="5033558"/>
            <a:ext cx="673091" cy="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p:cNvCxnSpPr/>
          <p:nvPr/>
        </p:nvCxnSpPr>
        <p:spPr>
          <a:xfrm>
            <a:off x="10451851" y="4233233"/>
            <a:ext cx="0" cy="8073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4" name="Straight Arrow Connector 123"/>
          <p:cNvCxnSpPr/>
          <p:nvPr/>
        </p:nvCxnSpPr>
        <p:spPr>
          <a:xfrm>
            <a:off x="10690795" y="3951697"/>
            <a:ext cx="255752" cy="804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5" name="TextBox 124"/>
          <p:cNvSpPr txBox="1"/>
          <p:nvPr/>
        </p:nvSpPr>
        <p:spPr>
          <a:xfrm>
            <a:off x="10929597" y="3690087"/>
            <a:ext cx="1090296" cy="523220"/>
          </a:xfrm>
          <a:prstGeom prst="rect">
            <a:avLst/>
          </a:prstGeom>
          <a:noFill/>
        </p:spPr>
        <p:txBody>
          <a:bodyPr wrap="square" rtlCol="0">
            <a:spAutoFit/>
          </a:bodyPr>
          <a:lstStyle/>
          <a:p>
            <a:r>
              <a:rPr lang="en-US" sz="1400" dirty="0" smtClean="0"/>
              <a:t>Inverter current</a:t>
            </a:r>
            <a:endParaRPr lang="sv-SE" sz="1400" dirty="0"/>
          </a:p>
        </p:txBody>
      </p:sp>
    </p:spTree>
    <p:extLst>
      <p:ext uri="{BB962C8B-B14F-4D97-AF65-F5344CB8AC3E}">
        <p14:creationId xmlns:p14="http://schemas.microsoft.com/office/powerpoint/2010/main" val="25558524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470018" y="2920498"/>
            <a:ext cx="489827" cy="367371"/>
          </a:xfrm>
          <a:prstGeom prst="rect">
            <a:avLst/>
          </a:prstGeom>
        </p:spPr>
      </p:pic>
      <p:pic>
        <p:nvPicPr>
          <p:cNvPr id="5" name="Picture 4"/>
          <p:cNvPicPr>
            <a:picLocks noChangeAspect="1"/>
          </p:cNvPicPr>
          <p:nvPr/>
        </p:nvPicPr>
        <p:blipFill>
          <a:blip r:embed="rId3"/>
          <a:stretch>
            <a:fillRect/>
          </a:stretch>
        </p:blipFill>
        <p:spPr>
          <a:xfrm>
            <a:off x="3583734" y="1198843"/>
            <a:ext cx="731001" cy="548251"/>
          </a:xfrm>
          <a:prstGeom prst="rect">
            <a:avLst/>
          </a:prstGeom>
        </p:spPr>
      </p:pic>
      <p:pic>
        <p:nvPicPr>
          <p:cNvPr id="6" name="Picture 5"/>
          <p:cNvPicPr>
            <a:picLocks noChangeAspect="1"/>
          </p:cNvPicPr>
          <p:nvPr/>
        </p:nvPicPr>
        <p:blipFill>
          <a:blip r:embed="rId4"/>
          <a:stretch>
            <a:fillRect/>
          </a:stretch>
        </p:blipFill>
        <p:spPr>
          <a:xfrm>
            <a:off x="3561237" y="2300430"/>
            <a:ext cx="724303" cy="543227"/>
          </a:xfrm>
          <a:prstGeom prst="rect">
            <a:avLst/>
          </a:prstGeom>
        </p:spPr>
      </p:pic>
      <p:pic>
        <p:nvPicPr>
          <p:cNvPr id="7" name="Picture 6"/>
          <p:cNvPicPr>
            <a:picLocks noChangeAspect="1"/>
          </p:cNvPicPr>
          <p:nvPr/>
        </p:nvPicPr>
        <p:blipFill>
          <a:blip r:embed="rId5"/>
          <a:stretch>
            <a:fillRect/>
          </a:stretch>
        </p:blipFill>
        <p:spPr>
          <a:xfrm>
            <a:off x="3553749" y="3369299"/>
            <a:ext cx="714727" cy="536045"/>
          </a:xfrm>
          <a:prstGeom prst="rect">
            <a:avLst/>
          </a:prstGeom>
        </p:spPr>
      </p:pic>
      <p:cxnSp>
        <p:nvCxnSpPr>
          <p:cNvPr id="8" name="Straight Connector 7"/>
          <p:cNvCxnSpPr/>
          <p:nvPr/>
        </p:nvCxnSpPr>
        <p:spPr>
          <a:xfrm>
            <a:off x="4240595" y="1472968"/>
            <a:ext cx="5651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5341592" y="1465948"/>
            <a:ext cx="565165"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5325128" y="2531521"/>
            <a:ext cx="573580" cy="1349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2" name="Picture 11"/>
          <p:cNvPicPr>
            <a:picLocks noChangeAspect="1"/>
          </p:cNvPicPr>
          <p:nvPr/>
        </p:nvPicPr>
        <p:blipFill>
          <a:blip r:embed="rId6"/>
          <a:stretch>
            <a:fillRect/>
          </a:stretch>
        </p:blipFill>
        <p:spPr>
          <a:xfrm>
            <a:off x="5810196" y="3402757"/>
            <a:ext cx="508385" cy="381289"/>
          </a:xfrm>
          <a:prstGeom prst="rect">
            <a:avLst/>
          </a:prstGeom>
        </p:spPr>
      </p:pic>
      <p:pic>
        <p:nvPicPr>
          <p:cNvPr id="13" name="Picture 12"/>
          <p:cNvPicPr>
            <a:picLocks noChangeAspect="1"/>
          </p:cNvPicPr>
          <p:nvPr/>
        </p:nvPicPr>
        <p:blipFill>
          <a:blip r:embed="rId7"/>
          <a:stretch>
            <a:fillRect/>
          </a:stretch>
        </p:blipFill>
        <p:spPr>
          <a:xfrm>
            <a:off x="5838519" y="2349578"/>
            <a:ext cx="503168" cy="377376"/>
          </a:xfrm>
          <a:prstGeom prst="rect">
            <a:avLst/>
          </a:prstGeom>
        </p:spPr>
      </p:pic>
      <p:pic>
        <p:nvPicPr>
          <p:cNvPr id="14" name="Picture 13"/>
          <p:cNvPicPr>
            <a:picLocks noChangeAspect="1"/>
          </p:cNvPicPr>
          <p:nvPr/>
        </p:nvPicPr>
        <p:blipFill>
          <a:blip r:embed="rId8"/>
          <a:stretch>
            <a:fillRect/>
          </a:stretch>
        </p:blipFill>
        <p:spPr>
          <a:xfrm>
            <a:off x="5838519" y="1269051"/>
            <a:ext cx="516424" cy="387318"/>
          </a:xfrm>
          <a:prstGeom prst="rect">
            <a:avLst/>
          </a:prstGeom>
        </p:spPr>
      </p:pic>
      <p:sp>
        <p:nvSpPr>
          <p:cNvPr id="15" name="Rectangle 14"/>
          <p:cNvSpPr/>
          <p:nvPr/>
        </p:nvSpPr>
        <p:spPr>
          <a:xfrm rot="2508795">
            <a:off x="4875101" y="1296253"/>
            <a:ext cx="380687" cy="35343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6" name="TextBox 15"/>
          <p:cNvSpPr txBox="1"/>
          <p:nvPr/>
        </p:nvSpPr>
        <p:spPr>
          <a:xfrm>
            <a:off x="4913686" y="1281283"/>
            <a:ext cx="291941" cy="369332"/>
          </a:xfrm>
          <a:prstGeom prst="rect">
            <a:avLst/>
          </a:prstGeom>
          <a:noFill/>
          <a:ln>
            <a:noFill/>
          </a:ln>
        </p:spPr>
        <p:txBody>
          <a:bodyPr wrap="square" rtlCol="0">
            <a:spAutoFit/>
          </a:bodyPr>
          <a:lstStyle/>
          <a:p>
            <a:r>
              <a:rPr lang="en-US" dirty="0" smtClean="0"/>
              <a:t>&gt;</a:t>
            </a:r>
            <a:endParaRPr lang="sv-SE" dirty="0"/>
          </a:p>
        </p:txBody>
      </p:sp>
      <p:cxnSp>
        <p:nvCxnSpPr>
          <p:cNvPr id="18" name="Straight Connector 17"/>
          <p:cNvCxnSpPr/>
          <p:nvPr/>
        </p:nvCxnSpPr>
        <p:spPr>
          <a:xfrm>
            <a:off x="2209288" y="2003958"/>
            <a:ext cx="2879501" cy="172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084941" y="1731582"/>
            <a:ext cx="3848" cy="2896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1889985" y="3109634"/>
            <a:ext cx="3198804" cy="10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Rectangle 23"/>
          <p:cNvSpPr/>
          <p:nvPr/>
        </p:nvSpPr>
        <p:spPr>
          <a:xfrm rot="2508795">
            <a:off x="4875100" y="2375315"/>
            <a:ext cx="380687" cy="35343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TextBox 24"/>
          <p:cNvSpPr txBox="1"/>
          <p:nvPr/>
        </p:nvSpPr>
        <p:spPr>
          <a:xfrm>
            <a:off x="4913685" y="2360345"/>
            <a:ext cx="291941" cy="369332"/>
          </a:xfrm>
          <a:prstGeom prst="rect">
            <a:avLst/>
          </a:prstGeom>
          <a:noFill/>
          <a:ln>
            <a:noFill/>
          </a:ln>
        </p:spPr>
        <p:txBody>
          <a:bodyPr wrap="square" rtlCol="0">
            <a:spAutoFit/>
          </a:bodyPr>
          <a:lstStyle/>
          <a:p>
            <a:r>
              <a:rPr lang="en-US" dirty="0" smtClean="0"/>
              <a:t>&gt;</a:t>
            </a:r>
            <a:endParaRPr lang="sv-SE" dirty="0"/>
          </a:p>
        </p:txBody>
      </p:sp>
      <p:cxnSp>
        <p:nvCxnSpPr>
          <p:cNvPr id="26" name="Straight Connector 25"/>
          <p:cNvCxnSpPr/>
          <p:nvPr/>
        </p:nvCxnSpPr>
        <p:spPr>
          <a:xfrm>
            <a:off x="5084941" y="2814547"/>
            <a:ext cx="3848" cy="2896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4225413" y="2563259"/>
            <a:ext cx="5651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2209288" y="4164003"/>
            <a:ext cx="2869221" cy="9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5063040" y="3877752"/>
            <a:ext cx="3848" cy="2896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Rectangle 32"/>
          <p:cNvSpPr/>
          <p:nvPr/>
        </p:nvSpPr>
        <p:spPr>
          <a:xfrm rot="2508795">
            <a:off x="4852680" y="3429684"/>
            <a:ext cx="380687" cy="35343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4" name="TextBox 33"/>
          <p:cNvSpPr txBox="1"/>
          <p:nvPr/>
        </p:nvSpPr>
        <p:spPr>
          <a:xfrm>
            <a:off x="4891265" y="3414714"/>
            <a:ext cx="291941" cy="369332"/>
          </a:xfrm>
          <a:prstGeom prst="rect">
            <a:avLst/>
          </a:prstGeom>
          <a:noFill/>
          <a:ln>
            <a:noFill/>
          </a:ln>
        </p:spPr>
        <p:txBody>
          <a:bodyPr wrap="square" rtlCol="0">
            <a:spAutoFit/>
          </a:bodyPr>
          <a:lstStyle/>
          <a:p>
            <a:r>
              <a:rPr lang="en-US" dirty="0" smtClean="0"/>
              <a:t>&gt;</a:t>
            </a:r>
            <a:endParaRPr lang="sv-SE" dirty="0"/>
          </a:p>
        </p:txBody>
      </p:sp>
      <p:cxnSp>
        <p:nvCxnSpPr>
          <p:cNvPr id="35" name="Straight Connector 34"/>
          <p:cNvCxnSpPr/>
          <p:nvPr/>
        </p:nvCxnSpPr>
        <p:spPr>
          <a:xfrm>
            <a:off x="4202993" y="3617628"/>
            <a:ext cx="5651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V="1">
            <a:off x="5295179" y="3599379"/>
            <a:ext cx="565165"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2908064" y="1239346"/>
            <a:ext cx="837950" cy="461665"/>
          </a:xfrm>
          <a:prstGeom prst="rect">
            <a:avLst/>
          </a:prstGeom>
          <a:noFill/>
        </p:spPr>
        <p:txBody>
          <a:bodyPr wrap="square" rtlCol="0">
            <a:spAutoFit/>
          </a:bodyPr>
          <a:lstStyle/>
          <a:p>
            <a:pPr algn="ctr"/>
            <a:r>
              <a:rPr lang="en-US" sz="1200" dirty="0" err="1" smtClean="0"/>
              <a:t>PhA</a:t>
            </a:r>
            <a:endParaRPr lang="en-US" sz="1200" dirty="0" smtClean="0"/>
          </a:p>
          <a:p>
            <a:pPr algn="ctr"/>
            <a:r>
              <a:rPr lang="en-US" sz="1200" dirty="0" smtClean="0"/>
              <a:t>Voltage</a:t>
            </a:r>
            <a:endParaRPr lang="sv-SE" sz="1200" dirty="0"/>
          </a:p>
        </p:txBody>
      </p:sp>
      <p:pic>
        <p:nvPicPr>
          <p:cNvPr id="38" name="Picture 37"/>
          <p:cNvPicPr>
            <a:picLocks noChangeAspect="1"/>
          </p:cNvPicPr>
          <p:nvPr/>
        </p:nvPicPr>
        <p:blipFill>
          <a:blip r:embed="rId3"/>
          <a:stretch>
            <a:fillRect/>
          </a:stretch>
        </p:blipFill>
        <p:spPr>
          <a:xfrm>
            <a:off x="5858995" y="1714085"/>
            <a:ext cx="481033" cy="360775"/>
          </a:xfrm>
          <a:prstGeom prst="rect">
            <a:avLst/>
          </a:prstGeom>
        </p:spPr>
      </p:pic>
      <p:sp>
        <p:nvSpPr>
          <p:cNvPr id="39" name="TextBox 38"/>
          <p:cNvSpPr txBox="1"/>
          <p:nvPr/>
        </p:nvSpPr>
        <p:spPr>
          <a:xfrm>
            <a:off x="5641796" y="2097939"/>
            <a:ext cx="1098662" cy="276999"/>
          </a:xfrm>
          <a:prstGeom prst="rect">
            <a:avLst/>
          </a:prstGeom>
          <a:noFill/>
        </p:spPr>
        <p:txBody>
          <a:bodyPr wrap="square" rtlCol="0">
            <a:spAutoFit/>
          </a:bodyPr>
          <a:lstStyle/>
          <a:p>
            <a:r>
              <a:rPr lang="en-US" sz="1200" dirty="0" smtClean="0"/>
              <a:t>PWM-</a:t>
            </a:r>
            <a:r>
              <a:rPr lang="en-US" sz="1200" dirty="0" err="1" smtClean="0"/>
              <a:t>phB</a:t>
            </a:r>
            <a:endParaRPr lang="sv-SE" sz="1200" dirty="0"/>
          </a:p>
        </p:txBody>
      </p:sp>
      <p:sp>
        <p:nvSpPr>
          <p:cNvPr id="40" name="TextBox 39"/>
          <p:cNvSpPr txBox="1"/>
          <p:nvPr/>
        </p:nvSpPr>
        <p:spPr>
          <a:xfrm>
            <a:off x="5611918" y="3133077"/>
            <a:ext cx="1098662" cy="276999"/>
          </a:xfrm>
          <a:prstGeom prst="rect">
            <a:avLst/>
          </a:prstGeom>
          <a:noFill/>
        </p:spPr>
        <p:txBody>
          <a:bodyPr wrap="square" rtlCol="0">
            <a:spAutoFit/>
          </a:bodyPr>
          <a:lstStyle/>
          <a:p>
            <a:r>
              <a:rPr lang="en-US" sz="1200" dirty="0" smtClean="0"/>
              <a:t>PWM-</a:t>
            </a:r>
            <a:r>
              <a:rPr lang="en-US" sz="1200" dirty="0" err="1" smtClean="0"/>
              <a:t>phC</a:t>
            </a:r>
            <a:endParaRPr lang="sv-SE" sz="1200" dirty="0"/>
          </a:p>
        </p:txBody>
      </p:sp>
      <p:pic>
        <p:nvPicPr>
          <p:cNvPr id="41" name="Picture 40"/>
          <p:cNvPicPr>
            <a:picLocks noChangeAspect="1"/>
          </p:cNvPicPr>
          <p:nvPr/>
        </p:nvPicPr>
        <p:blipFill>
          <a:blip r:embed="rId4"/>
          <a:stretch>
            <a:fillRect/>
          </a:stretch>
        </p:blipFill>
        <p:spPr>
          <a:xfrm>
            <a:off x="5897280" y="2785280"/>
            <a:ext cx="433814" cy="325360"/>
          </a:xfrm>
          <a:prstGeom prst="rect">
            <a:avLst/>
          </a:prstGeom>
        </p:spPr>
      </p:pic>
      <p:pic>
        <p:nvPicPr>
          <p:cNvPr id="42" name="Picture 41"/>
          <p:cNvPicPr>
            <a:picLocks noChangeAspect="1"/>
          </p:cNvPicPr>
          <p:nvPr/>
        </p:nvPicPr>
        <p:blipFill>
          <a:blip r:embed="rId5"/>
          <a:stretch>
            <a:fillRect/>
          </a:stretch>
        </p:blipFill>
        <p:spPr>
          <a:xfrm>
            <a:off x="5848972" y="3865013"/>
            <a:ext cx="430831" cy="323123"/>
          </a:xfrm>
          <a:prstGeom prst="rect">
            <a:avLst/>
          </a:prstGeom>
        </p:spPr>
      </p:pic>
      <p:sp>
        <p:nvSpPr>
          <p:cNvPr id="43" name="TextBox 42"/>
          <p:cNvSpPr txBox="1"/>
          <p:nvPr/>
        </p:nvSpPr>
        <p:spPr>
          <a:xfrm>
            <a:off x="2874072" y="2293813"/>
            <a:ext cx="837950" cy="461665"/>
          </a:xfrm>
          <a:prstGeom prst="rect">
            <a:avLst/>
          </a:prstGeom>
          <a:noFill/>
        </p:spPr>
        <p:txBody>
          <a:bodyPr wrap="square" rtlCol="0">
            <a:spAutoFit/>
          </a:bodyPr>
          <a:lstStyle/>
          <a:p>
            <a:pPr algn="ctr"/>
            <a:r>
              <a:rPr lang="en-US" sz="1200" dirty="0" err="1" smtClean="0"/>
              <a:t>PhB</a:t>
            </a:r>
            <a:endParaRPr lang="en-US" sz="1200" dirty="0" smtClean="0"/>
          </a:p>
          <a:p>
            <a:pPr algn="ctr"/>
            <a:r>
              <a:rPr lang="en-US" sz="1200" dirty="0" smtClean="0"/>
              <a:t>Voltage</a:t>
            </a:r>
            <a:endParaRPr lang="sv-SE" sz="1200" dirty="0"/>
          </a:p>
        </p:txBody>
      </p:sp>
      <p:sp>
        <p:nvSpPr>
          <p:cNvPr id="44" name="TextBox 43"/>
          <p:cNvSpPr txBox="1"/>
          <p:nvPr/>
        </p:nvSpPr>
        <p:spPr>
          <a:xfrm>
            <a:off x="2850180" y="3392477"/>
            <a:ext cx="837950" cy="461665"/>
          </a:xfrm>
          <a:prstGeom prst="rect">
            <a:avLst/>
          </a:prstGeom>
          <a:noFill/>
        </p:spPr>
        <p:txBody>
          <a:bodyPr wrap="square" rtlCol="0">
            <a:spAutoFit/>
          </a:bodyPr>
          <a:lstStyle/>
          <a:p>
            <a:pPr algn="ctr"/>
            <a:r>
              <a:rPr lang="en-US" sz="1200" dirty="0" err="1" smtClean="0"/>
              <a:t>PhC</a:t>
            </a:r>
            <a:endParaRPr lang="en-US" sz="1200" dirty="0" smtClean="0"/>
          </a:p>
          <a:p>
            <a:pPr algn="ctr"/>
            <a:r>
              <a:rPr lang="en-US" sz="1200" dirty="0" smtClean="0"/>
              <a:t>Voltage</a:t>
            </a:r>
            <a:endParaRPr lang="sv-SE" sz="1200" dirty="0"/>
          </a:p>
        </p:txBody>
      </p:sp>
      <p:sp>
        <p:nvSpPr>
          <p:cNvPr id="45" name="TextBox 44"/>
          <p:cNvSpPr txBox="1"/>
          <p:nvPr/>
        </p:nvSpPr>
        <p:spPr>
          <a:xfrm>
            <a:off x="5175745" y="1665410"/>
            <a:ext cx="837950" cy="461665"/>
          </a:xfrm>
          <a:prstGeom prst="rect">
            <a:avLst/>
          </a:prstGeom>
          <a:noFill/>
        </p:spPr>
        <p:txBody>
          <a:bodyPr wrap="square" rtlCol="0">
            <a:spAutoFit/>
          </a:bodyPr>
          <a:lstStyle/>
          <a:p>
            <a:pPr algn="ctr"/>
            <a:r>
              <a:rPr lang="en-US" sz="1200" dirty="0" err="1" smtClean="0"/>
              <a:t>PhA</a:t>
            </a:r>
            <a:endParaRPr lang="en-US" sz="1200" dirty="0" smtClean="0"/>
          </a:p>
          <a:p>
            <a:pPr algn="ctr"/>
            <a:r>
              <a:rPr lang="en-US" sz="1200" dirty="0" smtClean="0"/>
              <a:t>Current</a:t>
            </a:r>
            <a:endParaRPr lang="sv-SE" sz="1200" dirty="0"/>
          </a:p>
        </p:txBody>
      </p:sp>
      <p:sp>
        <p:nvSpPr>
          <p:cNvPr id="46" name="TextBox 45"/>
          <p:cNvSpPr txBox="1"/>
          <p:nvPr/>
        </p:nvSpPr>
        <p:spPr>
          <a:xfrm>
            <a:off x="5190033" y="2705940"/>
            <a:ext cx="837950" cy="461665"/>
          </a:xfrm>
          <a:prstGeom prst="rect">
            <a:avLst/>
          </a:prstGeom>
          <a:noFill/>
        </p:spPr>
        <p:txBody>
          <a:bodyPr wrap="square" rtlCol="0">
            <a:spAutoFit/>
          </a:bodyPr>
          <a:lstStyle/>
          <a:p>
            <a:pPr algn="ctr"/>
            <a:r>
              <a:rPr lang="en-US" sz="1200" dirty="0" err="1" smtClean="0"/>
              <a:t>PhB</a:t>
            </a:r>
            <a:endParaRPr lang="en-US" sz="1200" dirty="0" smtClean="0"/>
          </a:p>
          <a:p>
            <a:pPr algn="ctr"/>
            <a:r>
              <a:rPr lang="en-US" sz="1200" dirty="0" smtClean="0"/>
              <a:t>Current</a:t>
            </a:r>
            <a:endParaRPr lang="sv-SE" sz="1200" dirty="0"/>
          </a:p>
        </p:txBody>
      </p:sp>
      <p:sp>
        <p:nvSpPr>
          <p:cNvPr id="47" name="TextBox 46"/>
          <p:cNvSpPr txBox="1"/>
          <p:nvPr/>
        </p:nvSpPr>
        <p:spPr>
          <a:xfrm>
            <a:off x="5146638" y="3795741"/>
            <a:ext cx="837950" cy="461665"/>
          </a:xfrm>
          <a:prstGeom prst="rect">
            <a:avLst/>
          </a:prstGeom>
          <a:noFill/>
        </p:spPr>
        <p:txBody>
          <a:bodyPr wrap="square" rtlCol="0">
            <a:spAutoFit/>
          </a:bodyPr>
          <a:lstStyle/>
          <a:p>
            <a:pPr algn="ctr"/>
            <a:r>
              <a:rPr lang="en-US" sz="1200" dirty="0" err="1" smtClean="0"/>
              <a:t>PhC</a:t>
            </a:r>
            <a:endParaRPr lang="en-US" sz="1200" dirty="0" smtClean="0"/>
          </a:p>
          <a:p>
            <a:pPr algn="ctr"/>
            <a:r>
              <a:rPr lang="en-US" sz="1200" dirty="0" smtClean="0"/>
              <a:t>Current</a:t>
            </a:r>
            <a:endParaRPr lang="sv-SE" sz="1200" dirty="0"/>
          </a:p>
        </p:txBody>
      </p:sp>
      <p:cxnSp>
        <p:nvCxnSpPr>
          <p:cNvPr id="48" name="Straight Connector 47"/>
          <p:cNvCxnSpPr/>
          <p:nvPr/>
        </p:nvCxnSpPr>
        <p:spPr>
          <a:xfrm flipV="1">
            <a:off x="6307534" y="1460843"/>
            <a:ext cx="565165"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a:off x="6279803" y="1874098"/>
            <a:ext cx="876705" cy="102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Rectangle 49"/>
          <p:cNvSpPr/>
          <p:nvPr/>
        </p:nvSpPr>
        <p:spPr>
          <a:xfrm rot="2508795">
            <a:off x="6958150" y="1266062"/>
            <a:ext cx="380687" cy="35343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1" name="TextBox 50"/>
          <p:cNvSpPr txBox="1"/>
          <p:nvPr/>
        </p:nvSpPr>
        <p:spPr>
          <a:xfrm>
            <a:off x="6996735" y="1251092"/>
            <a:ext cx="291941" cy="369332"/>
          </a:xfrm>
          <a:prstGeom prst="rect">
            <a:avLst/>
          </a:prstGeom>
          <a:noFill/>
          <a:ln>
            <a:noFill/>
          </a:ln>
        </p:spPr>
        <p:txBody>
          <a:bodyPr wrap="square" rtlCol="0">
            <a:spAutoFit/>
          </a:bodyPr>
          <a:lstStyle/>
          <a:p>
            <a:r>
              <a:rPr lang="en-US" dirty="0"/>
              <a:t>x</a:t>
            </a:r>
            <a:endParaRPr lang="sv-SE" dirty="0"/>
          </a:p>
        </p:txBody>
      </p:sp>
      <p:cxnSp>
        <p:nvCxnSpPr>
          <p:cNvPr id="52" name="Straight Connector 51"/>
          <p:cNvCxnSpPr/>
          <p:nvPr/>
        </p:nvCxnSpPr>
        <p:spPr>
          <a:xfrm flipH="1">
            <a:off x="7172618" y="1701011"/>
            <a:ext cx="4874" cy="1730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flipV="1">
            <a:off x="6299558" y="2524246"/>
            <a:ext cx="565165"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a:off x="6271827" y="2937501"/>
            <a:ext cx="876705" cy="102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5" name="Rectangle 54"/>
          <p:cNvSpPr/>
          <p:nvPr/>
        </p:nvSpPr>
        <p:spPr>
          <a:xfrm rot="2508795">
            <a:off x="6950174" y="2329465"/>
            <a:ext cx="380687" cy="35343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6" name="TextBox 55"/>
          <p:cNvSpPr txBox="1"/>
          <p:nvPr/>
        </p:nvSpPr>
        <p:spPr>
          <a:xfrm>
            <a:off x="6988759" y="2314495"/>
            <a:ext cx="291941" cy="369332"/>
          </a:xfrm>
          <a:prstGeom prst="rect">
            <a:avLst/>
          </a:prstGeom>
          <a:noFill/>
          <a:ln>
            <a:noFill/>
          </a:ln>
        </p:spPr>
        <p:txBody>
          <a:bodyPr wrap="square" rtlCol="0">
            <a:spAutoFit/>
          </a:bodyPr>
          <a:lstStyle/>
          <a:p>
            <a:r>
              <a:rPr lang="en-US" dirty="0"/>
              <a:t>x</a:t>
            </a:r>
            <a:endParaRPr lang="sv-SE" dirty="0"/>
          </a:p>
        </p:txBody>
      </p:sp>
      <p:cxnSp>
        <p:nvCxnSpPr>
          <p:cNvPr id="57" name="Straight Connector 56"/>
          <p:cNvCxnSpPr/>
          <p:nvPr/>
        </p:nvCxnSpPr>
        <p:spPr>
          <a:xfrm flipH="1">
            <a:off x="7164642" y="2764414"/>
            <a:ext cx="4874" cy="1730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flipV="1">
            <a:off x="6253338" y="3598058"/>
            <a:ext cx="565165"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a:xfrm>
            <a:off x="6225607" y="4011313"/>
            <a:ext cx="876705" cy="102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0" name="Rectangle 59"/>
          <p:cNvSpPr/>
          <p:nvPr/>
        </p:nvSpPr>
        <p:spPr>
          <a:xfrm rot="2508795">
            <a:off x="6903954" y="3403277"/>
            <a:ext cx="380687" cy="35343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1" name="TextBox 60"/>
          <p:cNvSpPr txBox="1"/>
          <p:nvPr/>
        </p:nvSpPr>
        <p:spPr>
          <a:xfrm>
            <a:off x="6942539" y="3388307"/>
            <a:ext cx="291941" cy="369332"/>
          </a:xfrm>
          <a:prstGeom prst="rect">
            <a:avLst/>
          </a:prstGeom>
          <a:noFill/>
          <a:ln>
            <a:noFill/>
          </a:ln>
        </p:spPr>
        <p:txBody>
          <a:bodyPr wrap="square" rtlCol="0">
            <a:spAutoFit/>
          </a:bodyPr>
          <a:lstStyle/>
          <a:p>
            <a:r>
              <a:rPr lang="en-US" dirty="0"/>
              <a:t>x</a:t>
            </a:r>
            <a:endParaRPr lang="sv-SE" dirty="0"/>
          </a:p>
        </p:txBody>
      </p:sp>
      <p:cxnSp>
        <p:nvCxnSpPr>
          <p:cNvPr id="62" name="Straight Connector 61"/>
          <p:cNvCxnSpPr/>
          <p:nvPr/>
        </p:nvCxnSpPr>
        <p:spPr>
          <a:xfrm flipH="1">
            <a:off x="7118422" y="3838226"/>
            <a:ext cx="4874" cy="1730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flipV="1">
            <a:off x="7408178" y="1435757"/>
            <a:ext cx="565165"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a:off x="7978217" y="1435757"/>
            <a:ext cx="10751" cy="8118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Rectangle 64"/>
          <p:cNvSpPr/>
          <p:nvPr/>
        </p:nvSpPr>
        <p:spPr>
          <a:xfrm rot="2508795">
            <a:off x="7804413" y="2322135"/>
            <a:ext cx="380687" cy="35343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6" name="TextBox 65"/>
          <p:cNvSpPr txBox="1"/>
          <p:nvPr/>
        </p:nvSpPr>
        <p:spPr>
          <a:xfrm>
            <a:off x="7842998" y="2307165"/>
            <a:ext cx="291941" cy="369332"/>
          </a:xfrm>
          <a:prstGeom prst="rect">
            <a:avLst/>
          </a:prstGeom>
          <a:noFill/>
          <a:ln>
            <a:noFill/>
          </a:ln>
        </p:spPr>
        <p:txBody>
          <a:bodyPr wrap="square" rtlCol="0">
            <a:spAutoFit/>
          </a:bodyPr>
          <a:lstStyle/>
          <a:p>
            <a:r>
              <a:rPr lang="en-US" dirty="0" smtClean="0"/>
              <a:t>+</a:t>
            </a:r>
            <a:endParaRPr lang="sv-SE" dirty="0"/>
          </a:p>
        </p:txBody>
      </p:sp>
      <p:cxnSp>
        <p:nvCxnSpPr>
          <p:cNvPr id="67" name="Straight Connector 66"/>
          <p:cNvCxnSpPr/>
          <p:nvPr/>
        </p:nvCxnSpPr>
        <p:spPr>
          <a:xfrm flipV="1">
            <a:off x="7374183" y="2499161"/>
            <a:ext cx="343904"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flipV="1">
            <a:off x="7342406" y="3572973"/>
            <a:ext cx="673091" cy="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a:off x="8015497" y="2772648"/>
            <a:ext cx="0" cy="8073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p:nvPr/>
        </p:nvCxnSpPr>
        <p:spPr>
          <a:xfrm>
            <a:off x="8254441" y="2491112"/>
            <a:ext cx="255752" cy="804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flipH="1">
            <a:off x="2203689" y="2015049"/>
            <a:ext cx="1751" cy="214895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0" name="TextBox 79"/>
          <p:cNvSpPr txBox="1"/>
          <p:nvPr/>
        </p:nvSpPr>
        <p:spPr>
          <a:xfrm>
            <a:off x="8467428" y="2222718"/>
            <a:ext cx="1090296" cy="523220"/>
          </a:xfrm>
          <a:prstGeom prst="rect">
            <a:avLst/>
          </a:prstGeom>
          <a:noFill/>
        </p:spPr>
        <p:txBody>
          <a:bodyPr wrap="square" rtlCol="0">
            <a:spAutoFit/>
          </a:bodyPr>
          <a:lstStyle/>
          <a:p>
            <a:r>
              <a:rPr lang="en-US" sz="1400" dirty="0" smtClean="0"/>
              <a:t>Inverter current</a:t>
            </a:r>
            <a:endParaRPr lang="sv-SE" sz="1400" dirty="0"/>
          </a:p>
        </p:txBody>
      </p:sp>
    </p:spTree>
    <p:extLst>
      <p:ext uri="{BB962C8B-B14F-4D97-AF65-F5344CB8AC3E}">
        <p14:creationId xmlns:p14="http://schemas.microsoft.com/office/powerpoint/2010/main" val="37342896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0458" y="273907"/>
            <a:ext cx="10990263" cy="568412"/>
          </a:xfrm>
        </p:spPr>
        <p:txBody>
          <a:bodyPr/>
          <a:lstStyle/>
          <a:p>
            <a:r>
              <a:rPr lang="en-US" dirty="0" smtClean="0"/>
              <a:t>Dynamic </a:t>
            </a:r>
            <a:r>
              <a:rPr lang="en-US" dirty="0"/>
              <a:t>Variable Carrier Phase-Shift </a:t>
            </a:r>
            <a:r>
              <a:rPr lang="en-US" dirty="0" smtClean="0"/>
              <a:t>Modulation</a:t>
            </a:r>
            <a:endParaRPr lang="en-US" dirty="0"/>
          </a:p>
        </p:txBody>
      </p:sp>
      <p:sp>
        <p:nvSpPr>
          <p:cNvPr id="15" name="Rectangle 14"/>
          <p:cNvSpPr/>
          <p:nvPr/>
        </p:nvSpPr>
        <p:spPr>
          <a:xfrm>
            <a:off x="419100" y="953867"/>
            <a:ext cx="8983980" cy="707886"/>
          </a:xfrm>
          <a:prstGeom prst="rect">
            <a:avLst/>
          </a:prstGeom>
        </p:spPr>
        <p:txBody>
          <a:bodyPr wrap="square">
            <a:spAutoFit/>
          </a:bodyPr>
          <a:lstStyle/>
          <a:p>
            <a:pPr marL="800100" lvl="1" indent="-342900">
              <a:buFont typeface="Arial" panose="020B0604020202020204" pitchFamily="34" charset="0"/>
              <a:buChar char="•"/>
            </a:pPr>
            <a:r>
              <a:rPr lang="en-US" sz="2000" b="1" dirty="0"/>
              <a:t>Adaptively</a:t>
            </a:r>
            <a:r>
              <a:rPr lang="en-US" sz="2000" dirty="0"/>
              <a:t> adjusts carrier phase shifts in real-time.    </a:t>
            </a:r>
          </a:p>
          <a:p>
            <a:pPr marL="800100" lvl="1" indent="-342900">
              <a:buFont typeface="Arial" panose="020B0604020202020204" pitchFamily="34" charset="0"/>
              <a:buChar char="•"/>
            </a:pPr>
            <a:r>
              <a:rPr lang="en-US" sz="2000" dirty="0"/>
              <a:t>Optimizes current stress reduction while maintaining performance</a:t>
            </a:r>
            <a:endParaRPr lang="sv-SE" sz="2000" dirty="0"/>
          </a:p>
        </p:txBody>
      </p:sp>
      <p:pic>
        <p:nvPicPr>
          <p:cNvPr id="16" name="Picture 15"/>
          <p:cNvPicPr>
            <a:picLocks noChangeAspect="1"/>
          </p:cNvPicPr>
          <p:nvPr/>
        </p:nvPicPr>
        <p:blipFill>
          <a:blip r:embed="rId2"/>
          <a:stretch>
            <a:fillRect/>
          </a:stretch>
        </p:blipFill>
        <p:spPr>
          <a:xfrm>
            <a:off x="1380617" y="2032927"/>
            <a:ext cx="2460069" cy="1845052"/>
          </a:xfrm>
          <a:prstGeom prst="rect">
            <a:avLst/>
          </a:prstGeom>
        </p:spPr>
      </p:pic>
      <p:pic>
        <p:nvPicPr>
          <p:cNvPr id="17" name="Picture 16"/>
          <p:cNvPicPr>
            <a:picLocks noChangeAspect="1"/>
          </p:cNvPicPr>
          <p:nvPr/>
        </p:nvPicPr>
        <p:blipFill>
          <a:blip r:embed="rId3"/>
          <a:stretch>
            <a:fillRect/>
          </a:stretch>
        </p:blipFill>
        <p:spPr>
          <a:xfrm>
            <a:off x="1428544" y="4249153"/>
            <a:ext cx="2309272" cy="1731954"/>
          </a:xfrm>
          <a:prstGeom prst="rect">
            <a:avLst/>
          </a:prstGeom>
        </p:spPr>
      </p:pic>
      <p:cxnSp>
        <p:nvCxnSpPr>
          <p:cNvPr id="19" name="Straight Connector 18"/>
          <p:cNvCxnSpPr/>
          <p:nvPr/>
        </p:nvCxnSpPr>
        <p:spPr>
          <a:xfrm flipH="1">
            <a:off x="2575560" y="1958787"/>
            <a:ext cx="7620" cy="2301796"/>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2659380" y="1958787"/>
            <a:ext cx="7620" cy="2301796"/>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2667000" y="4260583"/>
            <a:ext cx="15240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V="1">
            <a:off x="2465070" y="4249153"/>
            <a:ext cx="110490" cy="163830"/>
          </a:xfrm>
          <a:prstGeom prst="line">
            <a:avLst/>
          </a:prstGeom>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943181" y="5981107"/>
            <a:ext cx="4360339" cy="584775"/>
          </a:xfrm>
          <a:prstGeom prst="rect">
            <a:avLst/>
          </a:prstGeom>
          <a:noFill/>
        </p:spPr>
        <p:txBody>
          <a:bodyPr wrap="square" rtlCol="0">
            <a:spAutoFit/>
          </a:bodyPr>
          <a:lstStyle/>
          <a:p>
            <a:r>
              <a:rPr lang="en-US" sz="1600" dirty="0" smtClean="0"/>
              <a:t>Each operating point (switching period )</a:t>
            </a:r>
          </a:p>
          <a:p>
            <a:r>
              <a:rPr lang="en-US" sz="1600" dirty="0" smtClean="0"/>
              <a:t>duty cycles and phase currents are changing</a:t>
            </a:r>
            <a:endParaRPr lang="sv-SE" sz="1600" dirty="0"/>
          </a:p>
        </p:txBody>
      </p:sp>
      <mc:AlternateContent xmlns:mc="http://schemas.openxmlformats.org/markup-compatibility/2006" xmlns:a14="http://schemas.microsoft.com/office/drawing/2010/main">
        <mc:Choice Requires="a14">
          <p:sp>
            <p:nvSpPr>
              <p:cNvPr id="32" name="TextBox 31"/>
              <p:cNvSpPr txBox="1"/>
              <p:nvPr/>
            </p:nvSpPr>
            <p:spPr>
              <a:xfrm>
                <a:off x="7360871" y="4119450"/>
                <a:ext cx="624840" cy="369332"/>
              </a:xfrm>
              <a:prstGeom prst="rect">
                <a:avLst/>
              </a:prstGeom>
              <a:noFill/>
            </p:spPr>
            <p:txBody>
              <a:bodyPr wrap="square" rtlCol="0">
                <a:spAutoFit/>
              </a:bodyPr>
              <a:lstStyle/>
              <a:p>
                <a14:m>
                  <m:oMath xmlns:m="http://schemas.openxmlformats.org/officeDocument/2006/math">
                    <m:r>
                      <a:rPr lang="en-US" i="1" dirty="0" smtClean="0">
                        <a:latin typeface="Cambria Math" panose="02040503050406030204" pitchFamily="18" charset="0"/>
                      </a:rPr>
                      <m:t>𝑂</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𝐶</m:t>
                        </m:r>
                      </m:e>
                      <m:sub>
                        <m:r>
                          <a:rPr lang="en-US" i="1" dirty="0" smtClean="0">
                            <a:latin typeface="Cambria Math" panose="02040503050406030204" pitchFamily="18" charset="0"/>
                          </a:rPr>
                          <m:t>1</m:t>
                        </m:r>
                      </m:sub>
                    </m:sSub>
                  </m:oMath>
                </a14:m>
                <a:r>
                  <a:rPr lang="sv-SE" dirty="0" smtClean="0"/>
                  <a:t> </a:t>
                </a:r>
                <a:endParaRPr lang="sv-SE" dirty="0"/>
              </a:p>
            </p:txBody>
          </p:sp>
        </mc:Choice>
        <mc:Fallback xmlns="">
          <p:sp>
            <p:nvSpPr>
              <p:cNvPr id="32" name="TextBox 31"/>
              <p:cNvSpPr txBox="1">
                <a:spLocks noRot="1" noChangeAspect="1" noMove="1" noResize="1" noEditPoints="1" noAdjustHandles="1" noChangeArrowheads="1" noChangeShapeType="1" noTextEdit="1"/>
              </p:cNvSpPr>
              <p:nvPr/>
            </p:nvSpPr>
            <p:spPr>
              <a:xfrm>
                <a:off x="7360871" y="4119450"/>
                <a:ext cx="624840" cy="369332"/>
              </a:xfrm>
              <a:prstGeom prst="rect">
                <a:avLst/>
              </a:prstGeom>
              <a:blipFill>
                <a:blip r:embed="rId4"/>
                <a:stretch>
                  <a:fillRect b="-1667"/>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33" name="TextBox 32"/>
              <p:cNvSpPr txBox="1"/>
              <p:nvPr/>
            </p:nvSpPr>
            <p:spPr>
              <a:xfrm>
                <a:off x="8374360" y="4113854"/>
                <a:ext cx="693420" cy="391582"/>
              </a:xfrm>
              <a:prstGeom prst="rect">
                <a:avLst/>
              </a:prstGeom>
              <a:noFill/>
            </p:spPr>
            <p:txBody>
              <a:bodyPr wrap="square" rtlCol="0">
                <a:spAutoFit/>
              </a:bodyPr>
              <a:lstStyle/>
              <a:p>
                <a14:m>
                  <m:oMath xmlns:m="http://schemas.openxmlformats.org/officeDocument/2006/math">
                    <m:r>
                      <a:rPr lang="en-US" i="1" dirty="0" smtClean="0">
                        <a:latin typeface="Cambria Math" panose="02040503050406030204" pitchFamily="18" charset="0"/>
                      </a:rPr>
                      <m:t>𝑂</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𝐶</m:t>
                        </m:r>
                      </m:e>
                      <m:sub>
                        <m:r>
                          <a:rPr lang="en-US" b="0" i="1" dirty="0" smtClean="0">
                            <a:latin typeface="Cambria Math" panose="02040503050406030204" pitchFamily="18" charset="0"/>
                          </a:rPr>
                          <m:t>𝑚𝑓</m:t>
                        </m:r>
                      </m:sub>
                    </m:sSub>
                  </m:oMath>
                </a14:m>
                <a:r>
                  <a:rPr lang="sv-SE" dirty="0" smtClean="0"/>
                  <a:t> </a:t>
                </a:r>
                <a:endParaRPr lang="sv-SE" dirty="0"/>
              </a:p>
            </p:txBody>
          </p:sp>
        </mc:Choice>
        <mc:Fallback xmlns="">
          <p:sp>
            <p:nvSpPr>
              <p:cNvPr id="33" name="TextBox 32"/>
              <p:cNvSpPr txBox="1">
                <a:spLocks noRot="1" noChangeAspect="1" noMove="1" noResize="1" noEditPoints="1" noAdjustHandles="1" noChangeArrowheads="1" noChangeShapeType="1" noTextEdit="1"/>
              </p:cNvSpPr>
              <p:nvPr/>
            </p:nvSpPr>
            <p:spPr>
              <a:xfrm>
                <a:off x="8374360" y="4113854"/>
                <a:ext cx="693420" cy="391582"/>
              </a:xfrm>
              <a:prstGeom prst="rect">
                <a:avLst/>
              </a:prstGeom>
              <a:blipFill>
                <a:blip r:embed="rId5"/>
                <a:stretch>
                  <a:fillRect r="-3540" b="-9375"/>
                </a:stretch>
              </a:blipFill>
            </p:spPr>
            <p:txBody>
              <a:bodyPr/>
              <a:lstStyle/>
              <a:p>
                <a:r>
                  <a:rPr lang="sv-SE">
                    <a:noFill/>
                  </a:rPr>
                  <a:t> </a:t>
                </a:r>
              </a:p>
            </p:txBody>
          </p:sp>
        </mc:Fallback>
      </mc:AlternateContent>
      <p:sp>
        <p:nvSpPr>
          <p:cNvPr id="37" name="TextBox 36"/>
          <p:cNvSpPr txBox="1"/>
          <p:nvPr/>
        </p:nvSpPr>
        <p:spPr>
          <a:xfrm>
            <a:off x="4977084" y="4132722"/>
            <a:ext cx="2831462" cy="369332"/>
          </a:xfrm>
          <a:prstGeom prst="rect">
            <a:avLst/>
          </a:prstGeom>
          <a:noFill/>
        </p:spPr>
        <p:txBody>
          <a:bodyPr wrap="square" rtlCol="0">
            <a:spAutoFit/>
          </a:bodyPr>
          <a:lstStyle/>
          <a:p>
            <a:r>
              <a:rPr lang="en-US" b="1" dirty="0" smtClean="0"/>
              <a:t>Operating condition</a:t>
            </a:r>
            <a:endParaRPr lang="sv-SE" b="1" dirty="0"/>
          </a:p>
        </p:txBody>
      </p:sp>
      <p:sp>
        <p:nvSpPr>
          <p:cNvPr id="38" name="TextBox 37"/>
          <p:cNvSpPr txBox="1"/>
          <p:nvPr/>
        </p:nvSpPr>
        <p:spPr>
          <a:xfrm>
            <a:off x="5028945" y="4502054"/>
            <a:ext cx="2331926" cy="369332"/>
          </a:xfrm>
          <a:prstGeom prst="rect">
            <a:avLst/>
          </a:prstGeom>
          <a:noFill/>
        </p:spPr>
        <p:txBody>
          <a:bodyPr wrap="square" rtlCol="0">
            <a:spAutoFit/>
          </a:bodyPr>
          <a:lstStyle/>
          <a:p>
            <a:r>
              <a:rPr lang="en-US" b="1" dirty="0" smtClean="0"/>
              <a:t>Fundamental Phase</a:t>
            </a:r>
            <a:endParaRPr lang="sv-SE" b="1" dirty="0"/>
          </a:p>
        </p:txBody>
      </p:sp>
      <mc:AlternateContent xmlns:mc="http://schemas.openxmlformats.org/markup-compatibility/2006" xmlns:a14="http://schemas.microsoft.com/office/drawing/2010/main">
        <mc:Choice Requires="a14">
          <p:sp>
            <p:nvSpPr>
              <p:cNvPr id="39" name="TextBox 38"/>
              <p:cNvSpPr txBox="1"/>
              <p:nvPr/>
            </p:nvSpPr>
            <p:spPr>
              <a:xfrm>
                <a:off x="7400905" y="4507650"/>
                <a:ext cx="624840" cy="369332"/>
              </a:xfrm>
              <a:prstGeom prst="rect">
                <a:avLst/>
              </a:prstGeom>
              <a:noFill/>
            </p:spPr>
            <p:txBody>
              <a:bodyPr wrap="square" rtlCol="0">
                <a:spAutoFit/>
              </a:bodyPr>
              <a:lstStyle/>
              <a:p>
                <a14:m>
                  <m:oMath xmlns:m="http://schemas.openxmlformats.org/officeDocument/2006/math">
                    <m:r>
                      <a:rPr lang="en-US" b="0" i="1" dirty="0" smtClean="0">
                        <a:latin typeface="Cambria Math" panose="02040503050406030204" pitchFamily="18" charset="0"/>
                      </a:rPr>
                      <m:t>0</m:t>
                    </m:r>
                  </m:oMath>
                </a14:m>
                <a:r>
                  <a:rPr lang="sv-SE" dirty="0" smtClean="0"/>
                  <a:t> </a:t>
                </a:r>
                <a:endParaRPr lang="sv-SE" dirty="0"/>
              </a:p>
            </p:txBody>
          </p:sp>
        </mc:Choice>
        <mc:Fallback xmlns="">
          <p:sp>
            <p:nvSpPr>
              <p:cNvPr id="39" name="TextBox 38"/>
              <p:cNvSpPr txBox="1">
                <a:spLocks noRot="1" noChangeAspect="1" noMove="1" noResize="1" noEditPoints="1" noAdjustHandles="1" noChangeArrowheads="1" noChangeShapeType="1" noTextEdit="1"/>
              </p:cNvSpPr>
              <p:nvPr/>
            </p:nvSpPr>
            <p:spPr>
              <a:xfrm>
                <a:off x="7400905" y="4507650"/>
                <a:ext cx="624840" cy="369332"/>
              </a:xfrm>
              <a:prstGeom prst="rect">
                <a:avLst/>
              </a:prstGeom>
              <a:blipFill>
                <a:blip r:embed="rId6"/>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40" name="TextBox 39"/>
              <p:cNvSpPr txBox="1"/>
              <p:nvPr/>
            </p:nvSpPr>
            <p:spPr>
              <a:xfrm>
                <a:off x="8414394" y="4502054"/>
                <a:ext cx="693420" cy="369332"/>
              </a:xfrm>
              <a:prstGeom prst="rect">
                <a:avLst/>
              </a:prstGeom>
              <a:noFill/>
            </p:spPr>
            <p:txBody>
              <a:bodyPr wrap="square" rtlCol="0">
                <a:spAutoFit/>
              </a:bodyPr>
              <a:lstStyle/>
              <a:p>
                <a14:m>
                  <m:oMath xmlns:m="http://schemas.openxmlformats.org/officeDocument/2006/math">
                    <m:r>
                      <a:rPr lang="en-US" i="1" dirty="0" smtClean="0">
                        <a:latin typeface="Cambria Math" panose="02040503050406030204" pitchFamily="18" charset="0"/>
                      </a:rPr>
                      <m:t>2</m:t>
                    </m:r>
                    <m:r>
                      <a:rPr lang="en-US" b="0" i="1" dirty="0" smtClean="0">
                        <a:latin typeface="Cambria Math" panose="02040503050406030204" pitchFamily="18" charset="0"/>
                      </a:rPr>
                      <m:t>𝜋</m:t>
                    </m:r>
                  </m:oMath>
                </a14:m>
                <a:r>
                  <a:rPr lang="sv-SE" dirty="0" smtClean="0"/>
                  <a:t> </a:t>
                </a:r>
                <a:endParaRPr lang="sv-SE" dirty="0"/>
              </a:p>
            </p:txBody>
          </p:sp>
        </mc:Choice>
        <mc:Fallback xmlns="">
          <p:sp>
            <p:nvSpPr>
              <p:cNvPr id="40" name="TextBox 39"/>
              <p:cNvSpPr txBox="1">
                <a:spLocks noRot="1" noChangeAspect="1" noMove="1" noResize="1" noEditPoints="1" noAdjustHandles="1" noChangeArrowheads="1" noChangeShapeType="1" noTextEdit="1"/>
              </p:cNvSpPr>
              <p:nvPr/>
            </p:nvSpPr>
            <p:spPr>
              <a:xfrm>
                <a:off x="8414394" y="4502054"/>
                <a:ext cx="693420" cy="369332"/>
              </a:xfrm>
              <a:prstGeom prst="rect">
                <a:avLst/>
              </a:prstGeom>
              <a:blipFill>
                <a:blip r:embed="rId7"/>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42" name="TextBox 41"/>
              <p:cNvSpPr txBox="1"/>
              <p:nvPr/>
            </p:nvSpPr>
            <p:spPr>
              <a:xfrm>
                <a:off x="6196974" y="5692196"/>
                <a:ext cx="4434840" cy="557845"/>
              </a:xfrm>
              <a:prstGeom prst="rect">
                <a:avLst/>
              </a:prstGeom>
              <a:noFill/>
            </p:spPr>
            <p:txBody>
              <a:bodyPr wrap="square" rtlCol="0">
                <a:spAutoFit/>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𝑓</m:t>
                        </m:r>
                      </m:sub>
                    </m:sSub>
                  </m:oMath>
                </a14:m>
                <a:r>
                  <a:rPr lang="en-US" dirty="0" smtClean="0"/>
                  <a:t> is the frequency ratio: </a:t>
                </a:r>
                <a14:m>
                  <m:oMath xmlns:m="http://schemas.openxmlformats.org/officeDocument/2006/math">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𝑠𝑤</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𝑓𝑢𝑛𝑑</m:t>
                            </m:r>
                          </m:sub>
                        </m:sSub>
                      </m:den>
                    </m:f>
                  </m:oMath>
                </a14:m>
                <a:endParaRPr lang="sv-SE" dirty="0"/>
              </a:p>
            </p:txBody>
          </p:sp>
        </mc:Choice>
        <mc:Fallback xmlns="">
          <p:sp>
            <p:nvSpPr>
              <p:cNvPr id="42" name="TextBox 41"/>
              <p:cNvSpPr txBox="1">
                <a:spLocks noRot="1" noChangeAspect="1" noMove="1" noResize="1" noEditPoints="1" noAdjustHandles="1" noChangeArrowheads="1" noChangeShapeType="1" noTextEdit="1"/>
              </p:cNvSpPr>
              <p:nvPr/>
            </p:nvSpPr>
            <p:spPr>
              <a:xfrm>
                <a:off x="6196974" y="5692196"/>
                <a:ext cx="4434840" cy="557845"/>
              </a:xfrm>
              <a:prstGeom prst="rect">
                <a:avLst/>
              </a:prstGeom>
              <a:blipFill>
                <a:blip r:embed="rId8"/>
                <a:stretch>
                  <a:fillRect b="-3297"/>
                </a:stretch>
              </a:blipFill>
            </p:spPr>
            <p:txBody>
              <a:bodyPr/>
              <a:lstStyle/>
              <a:p>
                <a:r>
                  <a:rPr lang="sv-SE">
                    <a:noFill/>
                  </a:rPr>
                  <a:t> </a:t>
                </a:r>
              </a:p>
            </p:txBody>
          </p:sp>
        </mc:Fallback>
      </mc:AlternateContent>
      <p:sp>
        <p:nvSpPr>
          <p:cNvPr id="51" name="TextBox 50"/>
          <p:cNvSpPr txBox="1"/>
          <p:nvPr/>
        </p:nvSpPr>
        <p:spPr>
          <a:xfrm>
            <a:off x="4988911" y="4943867"/>
            <a:ext cx="2331926" cy="369332"/>
          </a:xfrm>
          <a:prstGeom prst="rect">
            <a:avLst/>
          </a:prstGeom>
          <a:noFill/>
        </p:spPr>
        <p:txBody>
          <a:bodyPr wrap="square" rtlCol="0">
            <a:spAutoFit/>
          </a:bodyPr>
          <a:lstStyle/>
          <a:p>
            <a:r>
              <a:rPr lang="en-US" b="1" dirty="0" smtClean="0"/>
              <a:t>Carrier phase shift</a:t>
            </a:r>
            <a:endParaRPr lang="sv-SE" b="1" dirty="0"/>
          </a:p>
        </p:txBody>
      </p:sp>
      <mc:AlternateContent xmlns:mc="http://schemas.openxmlformats.org/markup-compatibility/2006" xmlns:a14="http://schemas.microsoft.com/office/drawing/2010/main">
        <mc:Choice Requires="a14">
          <p:sp>
            <p:nvSpPr>
              <p:cNvPr id="52" name="TextBox 51"/>
              <p:cNvSpPr txBox="1"/>
              <p:nvPr/>
            </p:nvSpPr>
            <p:spPr>
              <a:xfrm>
                <a:off x="7360871" y="4949463"/>
                <a:ext cx="624840"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𝐵</m:t>
                        </m:r>
                        <m:r>
                          <a:rPr lang="en-US" b="0" i="1" smtClean="0">
                            <a:latin typeface="Cambria Math" panose="02040503050406030204" pitchFamily="18" charset="0"/>
                          </a:rPr>
                          <m:t>−</m:t>
                        </m:r>
                        <m:r>
                          <a:rPr lang="en-US" b="0" i="1" smtClean="0">
                            <a:latin typeface="Cambria Math" panose="02040503050406030204" pitchFamily="18" charset="0"/>
                          </a:rPr>
                          <m:t>𝑂𝐶</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𝜙</m:t>
                        </m:r>
                      </m:e>
                      <m:sub>
                        <m:r>
                          <a:rPr lang="en-US" b="0" i="1" smtClean="0">
                            <a:latin typeface="Cambria Math" panose="02040503050406030204" pitchFamily="18" charset="0"/>
                          </a:rPr>
                          <m:t>𝐶</m:t>
                        </m:r>
                        <m:r>
                          <a:rPr lang="en-US" i="1">
                            <a:latin typeface="Cambria Math" panose="02040503050406030204" pitchFamily="18" charset="0"/>
                          </a:rPr>
                          <m:t>−</m:t>
                        </m:r>
                        <m:r>
                          <a:rPr lang="en-US" i="1">
                            <a:latin typeface="Cambria Math" panose="02040503050406030204" pitchFamily="18" charset="0"/>
                          </a:rPr>
                          <m:t>𝑂𝐶</m:t>
                        </m:r>
                        <m:r>
                          <a:rPr lang="en-US" i="1">
                            <a:latin typeface="Cambria Math" panose="02040503050406030204" pitchFamily="18" charset="0"/>
                          </a:rPr>
                          <m:t>1</m:t>
                        </m:r>
                      </m:sub>
                    </m:sSub>
                    <m:r>
                      <a:rPr lang="en-US" i="1">
                        <a:latin typeface="Cambria Math" panose="02040503050406030204" pitchFamily="18" charset="0"/>
                      </a:rPr>
                      <m:t>,</m:t>
                    </m:r>
                    <m:r>
                      <a:rPr lang="en-US" b="0" i="1" smtClean="0">
                        <a:latin typeface="Cambria Math" panose="02040503050406030204" pitchFamily="18" charset="0"/>
                      </a:rPr>
                      <m:t>]</m:t>
                    </m:r>
                  </m:oMath>
                </a14:m>
                <a:r>
                  <a:rPr lang="sv-SE" dirty="0" smtClean="0"/>
                  <a:t> </a:t>
                </a:r>
                <a:endParaRPr lang="sv-SE" dirty="0"/>
              </a:p>
            </p:txBody>
          </p:sp>
        </mc:Choice>
        <mc:Fallback xmlns="">
          <p:sp>
            <p:nvSpPr>
              <p:cNvPr id="52" name="TextBox 51"/>
              <p:cNvSpPr txBox="1">
                <a:spLocks noRot="1" noChangeAspect="1" noMove="1" noResize="1" noEditPoints="1" noAdjustHandles="1" noChangeArrowheads="1" noChangeShapeType="1" noTextEdit="1"/>
              </p:cNvSpPr>
              <p:nvPr/>
            </p:nvSpPr>
            <p:spPr>
              <a:xfrm>
                <a:off x="7360871" y="4949463"/>
                <a:ext cx="624840" cy="369332"/>
              </a:xfrm>
              <a:prstGeom prst="rect">
                <a:avLst/>
              </a:prstGeom>
              <a:blipFill>
                <a:blip r:embed="rId9"/>
                <a:stretch>
                  <a:fillRect l="-2913" r="-212621" b="-16393"/>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55" name="Rectangle 54"/>
              <p:cNvSpPr/>
              <p:nvPr/>
            </p:nvSpPr>
            <p:spPr>
              <a:xfrm>
                <a:off x="9583041" y="4939524"/>
                <a:ext cx="2297680" cy="424155"/>
              </a:xfrm>
              <a:prstGeom prst="rect">
                <a:avLst/>
              </a:prstGeom>
            </p:spPr>
            <p:txBody>
              <a:bodyPr wrap="none">
                <a:spAutoFit/>
              </a:bodyPr>
              <a:lstStyle/>
              <a:p>
                <a14:m>
                  <m:oMath xmlns:m="http://schemas.openxmlformats.org/officeDocument/2006/math">
                    <m:r>
                      <a:rPr lang="en-US"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𝜙</m:t>
                        </m:r>
                      </m:e>
                      <m:sub>
                        <m:r>
                          <a:rPr lang="en-US" i="1">
                            <a:latin typeface="Cambria Math" panose="02040503050406030204" pitchFamily="18" charset="0"/>
                          </a:rPr>
                          <m:t>𝐵</m:t>
                        </m:r>
                        <m:r>
                          <a:rPr lang="en-US" i="1">
                            <a:latin typeface="Cambria Math" panose="02040503050406030204" pitchFamily="18" charset="0"/>
                          </a:rPr>
                          <m:t>−</m:t>
                        </m:r>
                        <m:r>
                          <a:rPr lang="en-US" i="1">
                            <a:latin typeface="Cambria Math" panose="02040503050406030204" pitchFamily="18" charset="0"/>
                          </a:rPr>
                          <m:t>𝑂</m:t>
                        </m:r>
                        <m:sSub>
                          <m:sSubPr>
                            <m:ctrlPr>
                              <a:rPr lang="en-US" b="0" i="1" smtClean="0">
                                <a:latin typeface="Cambria Math" panose="02040503050406030204" pitchFamily="18" charset="0"/>
                              </a:rPr>
                            </m:ctrlPr>
                          </m:sSubPr>
                          <m:e>
                            <m:r>
                              <a:rPr lang="en-US" i="1">
                                <a:latin typeface="Cambria Math" panose="02040503050406030204" pitchFamily="18" charset="0"/>
                              </a:rPr>
                              <m:t>𝐶</m:t>
                            </m:r>
                          </m:e>
                          <m:sub>
                            <m:r>
                              <a:rPr lang="en-US" b="0" i="1" smtClean="0">
                                <a:latin typeface="Cambria Math" panose="02040503050406030204" pitchFamily="18" charset="0"/>
                              </a:rPr>
                              <m:t>𝑚𝑓</m:t>
                            </m:r>
                          </m:sub>
                        </m:sSub>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𝜙</m:t>
                        </m:r>
                      </m:e>
                      <m:sub>
                        <m:r>
                          <a:rPr lang="en-US" i="1">
                            <a:latin typeface="Cambria Math" panose="02040503050406030204" pitchFamily="18" charset="0"/>
                          </a:rPr>
                          <m:t>𝐶</m:t>
                        </m:r>
                        <m:r>
                          <a:rPr lang="en-US" i="1">
                            <a:latin typeface="Cambria Math" panose="02040503050406030204" pitchFamily="18" charset="0"/>
                          </a:rPr>
                          <m:t>−</m:t>
                        </m:r>
                        <m:r>
                          <a:rPr lang="en-US" i="1">
                            <a:latin typeface="Cambria Math" panose="02040503050406030204" pitchFamily="18" charset="0"/>
                          </a:rPr>
                          <m:t>𝑂</m:t>
                        </m:r>
                        <m:sSub>
                          <m:sSubPr>
                            <m:ctrlPr>
                              <a:rPr lang="en-US" b="0" i="1" smtClean="0">
                                <a:latin typeface="Cambria Math" panose="02040503050406030204" pitchFamily="18" charset="0"/>
                              </a:rPr>
                            </m:ctrlPr>
                          </m:sSubPr>
                          <m:e>
                            <m:r>
                              <a:rPr lang="en-US" i="1">
                                <a:latin typeface="Cambria Math" panose="02040503050406030204" pitchFamily="18" charset="0"/>
                              </a:rPr>
                              <m:t>𝐶</m:t>
                            </m:r>
                          </m:e>
                          <m:sub>
                            <m:r>
                              <a:rPr lang="en-US" b="0" i="1" smtClean="0">
                                <a:latin typeface="Cambria Math" panose="02040503050406030204" pitchFamily="18" charset="0"/>
                              </a:rPr>
                              <m:t>𝑚𝑓</m:t>
                            </m:r>
                          </m:sub>
                        </m:sSub>
                      </m:sub>
                    </m:sSub>
                    <m:r>
                      <a:rPr lang="en-US" i="1">
                        <a:latin typeface="Cambria Math" panose="02040503050406030204" pitchFamily="18" charset="0"/>
                      </a:rPr>
                      <m:t>,]</m:t>
                    </m:r>
                  </m:oMath>
                </a14:m>
                <a:r>
                  <a:rPr lang="sv-SE" dirty="0"/>
                  <a:t> </a:t>
                </a:r>
              </a:p>
            </p:txBody>
          </p:sp>
        </mc:Choice>
        <mc:Fallback xmlns="">
          <p:sp>
            <p:nvSpPr>
              <p:cNvPr id="55" name="Rectangle 54"/>
              <p:cNvSpPr>
                <a:spLocks noRot="1" noChangeAspect="1" noMove="1" noResize="1" noEditPoints="1" noAdjustHandles="1" noChangeArrowheads="1" noChangeShapeType="1" noTextEdit="1"/>
              </p:cNvSpPr>
              <p:nvPr/>
            </p:nvSpPr>
            <p:spPr>
              <a:xfrm>
                <a:off x="9583041" y="4939524"/>
                <a:ext cx="2297680" cy="424155"/>
              </a:xfrm>
              <a:prstGeom prst="rect">
                <a:avLst/>
              </a:prstGeom>
              <a:blipFill>
                <a:blip r:embed="rId10"/>
                <a:stretch>
                  <a:fillRect l="-796" b="-5714"/>
                </a:stretch>
              </a:blipFill>
            </p:spPr>
            <p:txBody>
              <a:bodyPr/>
              <a:lstStyle/>
              <a:p>
                <a:r>
                  <a:rPr lang="sv-SE">
                    <a:noFill/>
                  </a:rPr>
                  <a:t> </a:t>
                </a:r>
              </a:p>
            </p:txBody>
          </p:sp>
        </mc:Fallback>
      </mc:AlternateContent>
      <p:pic>
        <p:nvPicPr>
          <p:cNvPr id="56" name="Picture 55"/>
          <p:cNvPicPr>
            <a:picLocks noChangeAspect="1"/>
          </p:cNvPicPr>
          <p:nvPr/>
        </p:nvPicPr>
        <p:blipFill>
          <a:blip r:embed="rId11"/>
          <a:stretch>
            <a:fillRect/>
          </a:stretch>
        </p:blipFill>
        <p:spPr>
          <a:xfrm>
            <a:off x="5654041" y="1773301"/>
            <a:ext cx="2999640" cy="2050774"/>
          </a:xfrm>
          <a:prstGeom prst="rect">
            <a:avLst/>
          </a:prstGeom>
        </p:spPr>
      </p:pic>
      <p:sp>
        <p:nvSpPr>
          <p:cNvPr id="57" name="TextBox 56"/>
          <p:cNvSpPr txBox="1"/>
          <p:nvPr/>
        </p:nvSpPr>
        <p:spPr>
          <a:xfrm>
            <a:off x="7985711" y="4158646"/>
            <a:ext cx="304829" cy="369332"/>
          </a:xfrm>
          <a:prstGeom prst="rect">
            <a:avLst/>
          </a:prstGeom>
          <a:noFill/>
        </p:spPr>
        <p:txBody>
          <a:bodyPr wrap="square" rtlCol="0">
            <a:spAutoFit/>
          </a:bodyPr>
          <a:lstStyle/>
          <a:p>
            <a:r>
              <a:rPr lang="en-US" dirty="0" smtClean="0"/>
              <a:t>…</a:t>
            </a:r>
            <a:endParaRPr lang="sv-SE" dirty="0"/>
          </a:p>
        </p:txBody>
      </p:sp>
      <p:sp>
        <p:nvSpPr>
          <p:cNvPr id="58" name="TextBox 57"/>
          <p:cNvSpPr txBox="1"/>
          <p:nvPr/>
        </p:nvSpPr>
        <p:spPr>
          <a:xfrm>
            <a:off x="8011438" y="4517814"/>
            <a:ext cx="304829" cy="369332"/>
          </a:xfrm>
          <a:prstGeom prst="rect">
            <a:avLst/>
          </a:prstGeom>
          <a:noFill/>
        </p:spPr>
        <p:txBody>
          <a:bodyPr wrap="square" rtlCol="0">
            <a:spAutoFit/>
          </a:bodyPr>
          <a:lstStyle/>
          <a:p>
            <a:r>
              <a:rPr lang="en-US" dirty="0" smtClean="0"/>
              <a:t>…</a:t>
            </a:r>
            <a:endParaRPr lang="sv-SE" dirty="0"/>
          </a:p>
        </p:txBody>
      </p:sp>
      <p:sp>
        <p:nvSpPr>
          <p:cNvPr id="59" name="TextBox 58"/>
          <p:cNvSpPr txBox="1"/>
          <p:nvPr/>
        </p:nvSpPr>
        <p:spPr>
          <a:xfrm>
            <a:off x="9278212" y="4966935"/>
            <a:ext cx="304829" cy="369332"/>
          </a:xfrm>
          <a:prstGeom prst="rect">
            <a:avLst/>
          </a:prstGeom>
          <a:noFill/>
        </p:spPr>
        <p:txBody>
          <a:bodyPr wrap="square" rtlCol="0">
            <a:spAutoFit/>
          </a:bodyPr>
          <a:lstStyle/>
          <a:p>
            <a:r>
              <a:rPr lang="en-US" dirty="0" smtClean="0"/>
              <a:t>…</a:t>
            </a:r>
            <a:endParaRPr lang="sv-SE" dirty="0"/>
          </a:p>
        </p:txBody>
      </p:sp>
      <p:sp>
        <p:nvSpPr>
          <p:cNvPr id="60" name="TextBox 59"/>
          <p:cNvSpPr txBox="1"/>
          <p:nvPr/>
        </p:nvSpPr>
        <p:spPr>
          <a:xfrm>
            <a:off x="9442430" y="2475522"/>
            <a:ext cx="1924070" cy="646331"/>
          </a:xfrm>
          <a:prstGeom prst="rect">
            <a:avLst/>
          </a:prstGeom>
          <a:noFill/>
        </p:spPr>
        <p:txBody>
          <a:bodyPr wrap="square" rtlCol="0">
            <a:spAutoFit/>
          </a:bodyPr>
          <a:lstStyle/>
          <a:p>
            <a:r>
              <a:rPr lang="en-US" dirty="0" err="1" smtClean="0"/>
              <a:t>Paralel</a:t>
            </a:r>
            <a:r>
              <a:rPr lang="en-US" dirty="0" smtClean="0"/>
              <a:t> DC/DC Converters</a:t>
            </a:r>
            <a:endParaRPr lang="sv-SE" dirty="0"/>
          </a:p>
        </p:txBody>
      </p:sp>
      <p:cxnSp>
        <p:nvCxnSpPr>
          <p:cNvPr id="62" name="Straight Arrow Connector 61"/>
          <p:cNvCxnSpPr>
            <a:stCxn id="56" idx="3"/>
          </p:cNvCxnSpPr>
          <p:nvPr/>
        </p:nvCxnSpPr>
        <p:spPr>
          <a:xfrm>
            <a:off x="8653681" y="2798688"/>
            <a:ext cx="74939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7807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0458" y="273907"/>
            <a:ext cx="10990263" cy="568412"/>
          </a:xfrm>
        </p:spPr>
        <p:txBody>
          <a:bodyPr/>
          <a:lstStyle/>
          <a:p>
            <a:r>
              <a:rPr lang="en-US" dirty="0" smtClean="0"/>
              <a:t>Example of Finding Carrier Phase Shifts </a:t>
            </a:r>
            <a:endParaRPr lang="sv-SE" dirty="0"/>
          </a:p>
        </p:txBody>
      </p:sp>
      <p:pic>
        <p:nvPicPr>
          <p:cNvPr id="3" name="Picture 2"/>
          <p:cNvPicPr>
            <a:picLocks noChangeAspect="1"/>
          </p:cNvPicPr>
          <p:nvPr/>
        </p:nvPicPr>
        <p:blipFill>
          <a:blip r:embed="rId2"/>
          <a:stretch>
            <a:fillRect/>
          </a:stretch>
        </p:blipFill>
        <p:spPr>
          <a:xfrm>
            <a:off x="2203086" y="1528882"/>
            <a:ext cx="2050627" cy="1537970"/>
          </a:xfrm>
          <a:prstGeom prst="rect">
            <a:avLst/>
          </a:prstGeom>
        </p:spPr>
      </p:pic>
      <p:pic>
        <p:nvPicPr>
          <p:cNvPr id="4" name="Picture 3"/>
          <p:cNvPicPr>
            <a:picLocks noChangeAspect="1"/>
          </p:cNvPicPr>
          <p:nvPr/>
        </p:nvPicPr>
        <p:blipFill>
          <a:blip r:embed="rId3"/>
          <a:stretch>
            <a:fillRect/>
          </a:stretch>
        </p:blipFill>
        <p:spPr>
          <a:xfrm>
            <a:off x="112312" y="1555411"/>
            <a:ext cx="2072640" cy="1554480"/>
          </a:xfrm>
          <a:prstGeom prst="rect">
            <a:avLst/>
          </a:prstGeom>
        </p:spPr>
      </p:pic>
      <p:sp>
        <p:nvSpPr>
          <p:cNvPr id="5" name="TextBox 4"/>
          <p:cNvSpPr txBox="1"/>
          <p:nvPr/>
        </p:nvSpPr>
        <p:spPr>
          <a:xfrm>
            <a:off x="1148632" y="3104168"/>
            <a:ext cx="2537460" cy="646331"/>
          </a:xfrm>
          <a:prstGeom prst="rect">
            <a:avLst/>
          </a:prstGeom>
          <a:noFill/>
        </p:spPr>
        <p:txBody>
          <a:bodyPr wrap="square" rtlCol="0">
            <a:spAutoFit/>
          </a:bodyPr>
          <a:lstStyle/>
          <a:p>
            <a:r>
              <a:rPr lang="en-US" dirty="0" smtClean="0"/>
              <a:t>Power factor =1 </a:t>
            </a:r>
          </a:p>
          <a:p>
            <a:r>
              <a:rPr lang="en-US" dirty="0" smtClean="0"/>
              <a:t>Modulation index=0.8</a:t>
            </a:r>
            <a:endParaRPr lang="sv-SE" dirty="0"/>
          </a:p>
        </p:txBody>
      </p:sp>
      <p:pic>
        <p:nvPicPr>
          <p:cNvPr id="9" name="Picture 8"/>
          <p:cNvPicPr>
            <a:picLocks noChangeAspect="1"/>
          </p:cNvPicPr>
          <p:nvPr/>
        </p:nvPicPr>
        <p:blipFill>
          <a:blip r:embed="rId4"/>
          <a:stretch>
            <a:fillRect/>
          </a:stretch>
        </p:blipFill>
        <p:spPr>
          <a:xfrm>
            <a:off x="4136038" y="1555411"/>
            <a:ext cx="2710828" cy="2033121"/>
          </a:xfrm>
          <a:prstGeom prst="rect">
            <a:avLst/>
          </a:prstGeom>
        </p:spPr>
      </p:pic>
      <mc:AlternateContent xmlns:mc="http://schemas.openxmlformats.org/markup-compatibility/2006" xmlns:a14="http://schemas.microsoft.com/office/drawing/2010/main">
        <mc:Choice Requires="a14">
          <p:sp>
            <p:nvSpPr>
              <p:cNvPr id="10" name="TextBox 9"/>
              <p:cNvSpPr txBox="1"/>
              <p:nvPr/>
            </p:nvSpPr>
            <p:spPr>
              <a:xfrm>
                <a:off x="4678709" y="3624753"/>
                <a:ext cx="1706880" cy="39158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𝑓𝑢𝑛𝑑</m:t>
                          </m:r>
                        </m:sub>
                      </m:sSub>
                      <m:r>
                        <a:rPr lang="en-US" b="0" i="1" smtClean="0">
                          <a:latin typeface="Cambria Math" panose="02040503050406030204" pitchFamily="18" charset="0"/>
                        </a:rPr>
                        <m:t>=0</m:t>
                      </m:r>
                    </m:oMath>
                  </m:oMathPara>
                </a14:m>
                <a:endParaRPr lang="sv-SE" dirty="0"/>
              </a:p>
            </p:txBody>
          </p:sp>
        </mc:Choice>
        <mc:Fallback xmlns="">
          <p:sp>
            <p:nvSpPr>
              <p:cNvPr id="10" name="TextBox 9"/>
              <p:cNvSpPr txBox="1">
                <a:spLocks noRot="1" noChangeAspect="1" noMove="1" noResize="1" noEditPoints="1" noAdjustHandles="1" noChangeArrowheads="1" noChangeShapeType="1" noTextEdit="1"/>
              </p:cNvSpPr>
              <p:nvPr/>
            </p:nvSpPr>
            <p:spPr>
              <a:xfrm>
                <a:off x="4678709" y="3624753"/>
                <a:ext cx="1706880" cy="391582"/>
              </a:xfrm>
              <a:prstGeom prst="rect">
                <a:avLst/>
              </a:prstGeom>
              <a:blipFill>
                <a:blip r:embed="rId5"/>
                <a:stretch>
                  <a:fillRect b="-9375"/>
                </a:stretch>
              </a:blipFill>
            </p:spPr>
            <p:txBody>
              <a:bodyPr/>
              <a:lstStyle/>
              <a:p>
                <a:r>
                  <a:rPr lang="sv-SE">
                    <a:noFill/>
                  </a:rPr>
                  <a:t> </a:t>
                </a:r>
              </a:p>
            </p:txBody>
          </p:sp>
        </mc:Fallback>
      </mc:AlternateContent>
      <p:pic>
        <p:nvPicPr>
          <p:cNvPr id="11" name="Picture 10"/>
          <p:cNvPicPr>
            <a:picLocks noChangeAspect="1"/>
          </p:cNvPicPr>
          <p:nvPr/>
        </p:nvPicPr>
        <p:blipFill>
          <a:blip r:embed="rId6"/>
          <a:stretch>
            <a:fillRect/>
          </a:stretch>
        </p:blipFill>
        <p:spPr>
          <a:xfrm>
            <a:off x="6638315" y="1633227"/>
            <a:ext cx="2593153" cy="1944864"/>
          </a:xfrm>
          <a:prstGeom prst="rect">
            <a:avLst/>
          </a:prstGeom>
        </p:spPr>
      </p:pic>
      <mc:AlternateContent xmlns:mc="http://schemas.openxmlformats.org/markup-compatibility/2006" xmlns:a14="http://schemas.microsoft.com/office/drawing/2010/main">
        <mc:Choice Requires="a14">
          <p:sp>
            <p:nvSpPr>
              <p:cNvPr id="12" name="TextBox 11"/>
              <p:cNvSpPr txBox="1"/>
              <p:nvPr/>
            </p:nvSpPr>
            <p:spPr>
              <a:xfrm>
                <a:off x="7146980" y="3624753"/>
                <a:ext cx="1706880" cy="39158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𝑓𝑢𝑛𝑑</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60</m:t>
                          </m:r>
                        </m:e>
                        <m:sup>
                          <m:r>
                            <a:rPr lang="en-US" b="0" i="1" smtClean="0">
                              <a:latin typeface="Cambria Math" panose="02040503050406030204" pitchFamily="18" charset="0"/>
                            </a:rPr>
                            <m:t>𝑜</m:t>
                          </m:r>
                        </m:sup>
                      </m:sSup>
                    </m:oMath>
                  </m:oMathPara>
                </a14:m>
                <a:endParaRPr lang="sv-SE" dirty="0"/>
              </a:p>
            </p:txBody>
          </p:sp>
        </mc:Choice>
        <mc:Fallback xmlns="">
          <p:sp>
            <p:nvSpPr>
              <p:cNvPr id="12" name="TextBox 11"/>
              <p:cNvSpPr txBox="1">
                <a:spLocks noRot="1" noChangeAspect="1" noMove="1" noResize="1" noEditPoints="1" noAdjustHandles="1" noChangeArrowheads="1" noChangeShapeType="1" noTextEdit="1"/>
              </p:cNvSpPr>
              <p:nvPr/>
            </p:nvSpPr>
            <p:spPr>
              <a:xfrm>
                <a:off x="7146980" y="3624753"/>
                <a:ext cx="1706880" cy="391582"/>
              </a:xfrm>
              <a:prstGeom prst="rect">
                <a:avLst/>
              </a:prstGeom>
              <a:blipFill>
                <a:blip r:embed="rId7"/>
                <a:stretch>
                  <a:fillRect b="-9375"/>
                </a:stretch>
              </a:blipFill>
            </p:spPr>
            <p:txBody>
              <a:bodyPr/>
              <a:lstStyle/>
              <a:p>
                <a:r>
                  <a:rPr lang="sv-SE">
                    <a:noFill/>
                  </a:rPr>
                  <a:t> </a:t>
                </a:r>
              </a:p>
            </p:txBody>
          </p:sp>
        </mc:Fallback>
      </mc:AlternateContent>
      <p:pic>
        <p:nvPicPr>
          <p:cNvPr id="13" name="Picture 12"/>
          <p:cNvPicPr>
            <a:picLocks noChangeAspect="1"/>
          </p:cNvPicPr>
          <p:nvPr/>
        </p:nvPicPr>
        <p:blipFill>
          <a:blip r:embed="rId8"/>
          <a:stretch>
            <a:fillRect/>
          </a:stretch>
        </p:blipFill>
        <p:spPr>
          <a:xfrm>
            <a:off x="9231468" y="1534046"/>
            <a:ext cx="2787610" cy="2090707"/>
          </a:xfrm>
          <a:prstGeom prst="rect">
            <a:avLst/>
          </a:prstGeom>
        </p:spPr>
      </p:pic>
      <mc:AlternateContent xmlns:mc="http://schemas.openxmlformats.org/markup-compatibility/2006" xmlns:a14="http://schemas.microsoft.com/office/drawing/2010/main">
        <mc:Choice Requires="a14">
          <p:sp>
            <p:nvSpPr>
              <p:cNvPr id="14" name="TextBox 13"/>
              <p:cNvSpPr txBox="1"/>
              <p:nvPr/>
            </p:nvSpPr>
            <p:spPr>
              <a:xfrm>
                <a:off x="9459621" y="3578091"/>
                <a:ext cx="1706880" cy="39158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𝑓𝑢𝑛𝑑</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120</m:t>
                          </m:r>
                        </m:e>
                        <m:sup>
                          <m:r>
                            <a:rPr lang="en-US" b="0" i="1" smtClean="0">
                              <a:latin typeface="Cambria Math" panose="02040503050406030204" pitchFamily="18" charset="0"/>
                            </a:rPr>
                            <m:t>𝑜</m:t>
                          </m:r>
                        </m:sup>
                      </m:sSup>
                    </m:oMath>
                  </m:oMathPara>
                </a14:m>
                <a:endParaRPr lang="sv-SE" dirty="0"/>
              </a:p>
            </p:txBody>
          </p:sp>
        </mc:Choice>
        <mc:Fallback xmlns="">
          <p:sp>
            <p:nvSpPr>
              <p:cNvPr id="14" name="TextBox 13"/>
              <p:cNvSpPr txBox="1">
                <a:spLocks noRot="1" noChangeAspect="1" noMove="1" noResize="1" noEditPoints="1" noAdjustHandles="1" noChangeArrowheads="1" noChangeShapeType="1" noTextEdit="1"/>
              </p:cNvSpPr>
              <p:nvPr/>
            </p:nvSpPr>
            <p:spPr>
              <a:xfrm>
                <a:off x="9459621" y="3578091"/>
                <a:ext cx="1706880" cy="391582"/>
              </a:xfrm>
              <a:prstGeom prst="rect">
                <a:avLst/>
              </a:prstGeom>
              <a:blipFill>
                <a:blip r:embed="rId9"/>
                <a:stretch>
                  <a:fillRect b="-9375"/>
                </a:stretch>
              </a:blipFill>
            </p:spPr>
            <p:txBody>
              <a:bodyPr/>
              <a:lstStyle/>
              <a:p>
                <a:r>
                  <a:rPr lang="sv-SE">
                    <a:noFill/>
                  </a:rPr>
                  <a:t> </a:t>
                </a:r>
              </a:p>
            </p:txBody>
          </p:sp>
        </mc:Fallback>
      </mc:AlternateContent>
      <p:pic>
        <p:nvPicPr>
          <p:cNvPr id="15" name="Picture 14"/>
          <p:cNvPicPr>
            <a:picLocks noChangeAspect="1"/>
          </p:cNvPicPr>
          <p:nvPr/>
        </p:nvPicPr>
        <p:blipFill>
          <a:blip r:embed="rId10"/>
          <a:stretch>
            <a:fillRect/>
          </a:stretch>
        </p:blipFill>
        <p:spPr>
          <a:xfrm>
            <a:off x="569749" y="4237821"/>
            <a:ext cx="2772961" cy="2079721"/>
          </a:xfrm>
          <a:prstGeom prst="rect">
            <a:avLst/>
          </a:prstGeom>
        </p:spPr>
      </p:pic>
      <p:pic>
        <p:nvPicPr>
          <p:cNvPr id="16" name="Picture 15"/>
          <p:cNvPicPr>
            <a:picLocks noChangeAspect="1"/>
          </p:cNvPicPr>
          <p:nvPr/>
        </p:nvPicPr>
        <p:blipFill>
          <a:blip r:embed="rId11"/>
          <a:stretch>
            <a:fillRect/>
          </a:stretch>
        </p:blipFill>
        <p:spPr>
          <a:xfrm>
            <a:off x="3342710" y="4223092"/>
            <a:ext cx="2867010" cy="2150258"/>
          </a:xfrm>
          <a:prstGeom prst="rect">
            <a:avLst/>
          </a:prstGeom>
        </p:spPr>
      </p:pic>
      <p:pic>
        <p:nvPicPr>
          <p:cNvPr id="17" name="Picture 16"/>
          <p:cNvPicPr>
            <a:picLocks noChangeAspect="1"/>
          </p:cNvPicPr>
          <p:nvPr/>
        </p:nvPicPr>
        <p:blipFill>
          <a:blip r:embed="rId12"/>
          <a:stretch>
            <a:fillRect/>
          </a:stretch>
        </p:blipFill>
        <p:spPr>
          <a:xfrm>
            <a:off x="6239313" y="4149506"/>
            <a:ext cx="3063240" cy="2297430"/>
          </a:xfrm>
          <a:prstGeom prst="rect">
            <a:avLst/>
          </a:prstGeom>
        </p:spPr>
      </p:pic>
      <p:pic>
        <p:nvPicPr>
          <p:cNvPr id="18" name="Picture 17"/>
          <p:cNvPicPr>
            <a:picLocks noChangeAspect="1"/>
          </p:cNvPicPr>
          <p:nvPr/>
        </p:nvPicPr>
        <p:blipFill>
          <a:blip r:embed="rId13"/>
          <a:stretch>
            <a:fillRect/>
          </a:stretch>
        </p:blipFill>
        <p:spPr>
          <a:xfrm>
            <a:off x="9161691" y="4100618"/>
            <a:ext cx="3030309" cy="2272732"/>
          </a:xfrm>
          <a:prstGeom prst="rect">
            <a:avLst/>
          </a:prstGeom>
        </p:spPr>
      </p:pic>
      <mc:AlternateContent xmlns:mc="http://schemas.openxmlformats.org/markup-compatibility/2006" xmlns:a14="http://schemas.microsoft.com/office/drawing/2010/main">
        <mc:Choice Requires="a14">
          <p:sp>
            <p:nvSpPr>
              <p:cNvPr id="19" name="TextBox 18"/>
              <p:cNvSpPr txBox="1"/>
              <p:nvPr/>
            </p:nvSpPr>
            <p:spPr>
              <a:xfrm>
                <a:off x="1047604" y="6392174"/>
                <a:ext cx="1706880" cy="39158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𝑓𝑢𝑛𝑑</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180</m:t>
                          </m:r>
                        </m:e>
                        <m:sup>
                          <m:r>
                            <a:rPr lang="en-US" b="0" i="1" smtClean="0">
                              <a:latin typeface="Cambria Math" panose="02040503050406030204" pitchFamily="18" charset="0"/>
                            </a:rPr>
                            <m:t>𝑜</m:t>
                          </m:r>
                        </m:sup>
                      </m:sSup>
                    </m:oMath>
                  </m:oMathPara>
                </a14:m>
                <a:endParaRPr lang="sv-SE" dirty="0"/>
              </a:p>
            </p:txBody>
          </p:sp>
        </mc:Choice>
        <mc:Fallback xmlns="">
          <p:sp>
            <p:nvSpPr>
              <p:cNvPr id="19" name="TextBox 18"/>
              <p:cNvSpPr txBox="1">
                <a:spLocks noRot="1" noChangeAspect="1" noMove="1" noResize="1" noEditPoints="1" noAdjustHandles="1" noChangeArrowheads="1" noChangeShapeType="1" noTextEdit="1"/>
              </p:cNvSpPr>
              <p:nvPr/>
            </p:nvSpPr>
            <p:spPr>
              <a:xfrm>
                <a:off x="1047604" y="6392174"/>
                <a:ext cx="1706880" cy="391582"/>
              </a:xfrm>
              <a:prstGeom prst="rect">
                <a:avLst/>
              </a:prstGeom>
              <a:blipFill>
                <a:blip r:embed="rId14"/>
                <a:stretch>
                  <a:fillRect b="-9375"/>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20" name="TextBox 19"/>
              <p:cNvSpPr txBox="1"/>
              <p:nvPr/>
            </p:nvSpPr>
            <p:spPr>
              <a:xfrm>
                <a:off x="3873137" y="6373350"/>
                <a:ext cx="1706880" cy="39158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𝑓𝑢𝑛𝑑</m:t>
                          </m:r>
                        </m:sub>
                      </m:sSub>
                      <m:r>
                        <a:rPr lang="en-US" b="0" i="1" smtClean="0">
                          <a:latin typeface="Cambria Math" panose="02040503050406030204" pitchFamily="18" charset="0"/>
                        </a:rPr>
                        <m:t>=240</m:t>
                      </m:r>
                    </m:oMath>
                  </m:oMathPara>
                </a14:m>
                <a:endParaRPr lang="sv-SE" dirty="0"/>
              </a:p>
            </p:txBody>
          </p:sp>
        </mc:Choice>
        <mc:Fallback xmlns="">
          <p:sp>
            <p:nvSpPr>
              <p:cNvPr id="20" name="TextBox 19"/>
              <p:cNvSpPr txBox="1">
                <a:spLocks noRot="1" noChangeAspect="1" noMove="1" noResize="1" noEditPoints="1" noAdjustHandles="1" noChangeArrowheads="1" noChangeShapeType="1" noTextEdit="1"/>
              </p:cNvSpPr>
              <p:nvPr/>
            </p:nvSpPr>
            <p:spPr>
              <a:xfrm>
                <a:off x="3873137" y="6373350"/>
                <a:ext cx="1706880" cy="391582"/>
              </a:xfrm>
              <a:prstGeom prst="rect">
                <a:avLst/>
              </a:prstGeom>
              <a:blipFill>
                <a:blip r:embed="rId15"/>
                <a:stretch>
                  <a:fillRect b="-9231"/>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6795515" y="6300033"/>
                <a:ext cx="1706880" cy="39158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𝑓𝑢𝑛𝑑</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300</m:t>
                          </m:r>
                        </m:e>
                        <m:sup>
                          <m:r>
                            <a:rPr lang="en-US" b="0" i="1" smtClean="0">
                              <a:latin typeface="Cambria Math" panose="02040503050406030204" pitchFamily="18" charset="0"/>
                            </a:rPr>
                            <m:t>𝑜</m:t>
                          </m:r>
                        </m:sup>
                      </m:sSup>
                    </m:oMath>
                  </m:oMathPara>
                </a14:m>
                <a:endParaRPr lang="sv-SE" dirty="0"/>
              </a:p>
            </p:txBody>
          </p:sp>
        </mc:Choice>
        <mc:Fallback xmlns="">
          <p:sp>
            <p:nvSpPr>
              <p:cNvPr id="21" name="TextBox 20"/>
              <p:cNvSpPr txBox="1">
                <a:spLocks noRot="1" noChangeAspect="1" noMove="1" noResize="1" noEditPoints="1" noAdjustHandles="1" noChangeArrowheads="1" noChangeShapeType="1" noTextEdit="1"/>
              </p:cNvSpPr>
              <p:nvPr/>
            </p:nvSpPr>
            <p:spPr>
              <a:xfrm>
                <a:off x="6795515" y="6300033"/>
                <a:ext cx="1706880" cy="391582"/>
              </a:xfrm>
              <a:prstGeom prst="rect">
                <a:avLst/>
              </a:prstGeom>
              <a:blipFill>
                <a:blip r:embed="rId16"/>
                <a:stretch>
                  <a:fillRect b="-9231"/>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22" name="TextBox 21"/>
              <p:cNvSpPr txBox="1"/>
              <p:nvPr/>
            </p:nvSpPr>
            <p:spPr>
              <a:xfrm>
                <a:off x="9580596" y="6253371"/>
                <a:ext cx="1706880" cy="39158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𝑓𝑢𝑛𝑑</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360</m:t>
                          </m:r>
                        </m:e>
                        <m:sup>
                          <m:r>
                            <a:rPr lang="en-US" b="0" i="1" smtClean="0">
                              <a:latin typeface="Cambria Math" panose="02040503050406030204" pitchFamily="18" charset="0"/>
                            </a:rPr>
                            <m:t>𝑜</m:t>
                          </m:r>
                        </m:sup>
                      </m:sSup>
                    </m:oMath>
                  </m:oMathPara>
                </a14:m>
                <a:endParaRPr lang="sv-SE" dirty="0"/>
              </a:p>
            </p:txBody>
          </p:sp>
        </mc:Choice>
        <mc:Fallback xmlns="">
          <p:sp>
            <p:nvSpPr>
              <p:cNvPr id="22" name="TextBox 21"/>
              <p:cNvSpPr txBox="1">
                <a:spLocks noRot="1" noChangeAspect="1" noMove="1" noResize="1" noEditPoints="1" noAdjustHandles="1" noChangeArrowheads="1" noChangeShapeType="1" noTextEdit="1"/>
              </p:cNvSpPr>
              <p:nvPr/>
            </p:nvSpPr>
            <p:spPr>
              <a:xfrm>
                <a:off x="9580596" y="6253371"/>
                <a:ext cx="1706880" cy="391582"/>
              </a:xfrm>
              <a:prstGeom prst="rect">
                <a:avLst/>
              </a:prstGeom>
              <a:blipFill>
                <a:blip r:embed="rId17"/>
                <a:stretch>
                  <a:fillRect b="-9375"/>
                </a:stretch>
              </a:blipFill>
            </p:spPr>
            <p:txBody>
              <a:bodyPr/>
              <a:lstStyle/>
              <a:p>
                <a:r>
                  <a:rPr lang="sv-SE">
                    <a:noFill/>
                  </a:rPr>
                  <a:t> </a:t>
                </a:r>
              </a:p>
            </p:txBody>
          </p:sp>
        </mc:Fallback>
      </mc:AlternateContent>
    </p:spTree>
    <p:extLst>
      <p:ext uri="{BB962C8B-B14F-4D97-AF65-F5344CB8AC3E}">
        <p14:creationId xmlns:p14="http://schemas.microsoft.com/office/powerpoint/2010/main" val="1124483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0458" y="273907"/>
            <a:ext cx="10990263" cy="568412"/>
          </a:xfrm>
        </p:spPr>
        <p:txBody>
          <a:bodyPr/>
          <a:lstStyle/>
          <a:p>
            <a:r>
              <a:rPr lang="en-US" dirty="0" smtClean="0"/>
              <a:t>Example of Finding Carrier Phase Shifts </a:t>
            </a:r>
            <a:endParaRPr lang="sv-SE" dirty="0"/>
          </a:p>
        </p:txBody>
      </p:sp>
      <p:pic>
        <p:nvPicPr>
          <p:cNvPr id="9" name="Picture 8"/>
          <p:cNvPicPr>
            <a:picLocks noChangeAspect="1"/>
          </p:cNvPicPr>
          <p:nvPr/>
        </p:nvPicPr>
        <p:blipFill>
          <a:blip r:embed="rId2"/>
          <a:stretch>
            <a:fillRect/>
          </a:stretch>
        </p:blipFill>
        <p:spPr>
          <a:xfrm>
            <a:off x="6090708" y="1059335"/>
            <a:ext cx="3599392" cy="2699544"/>
          </a:xfrm>
          <a:prstGeom prst="rect">
            <a:avLst/>
          </a:prstGeom>
        </p:spPr>
      </p:pic>
      <p:pic>
        <p:nvPicPr>
          <p:cNvPr id="10" name="Picture 9"/>
          <p:cNvPicPr>
            <a:picLocks noChangeAspect="1"/>
          </p:cNvPicPr>
          <p:nvPr/>
        </p:nvPicPr>
        <p:blipFill>
          <a:blip r:embed="rId3"/>
          <a:stretch>
            <a:fillRect/>
          </a:stretch>
        </p:blipFill>
        <p:spPr>
          <a:xfrm>
            <a:off x="2359783" y="3901752"/>
            <a:ext cx="3536351" cy="2652264"/>
          </a:xfrm>
          <a:prstGeom prst="rect">
            <a:avLst/>
          </a:prstGeom>
        </p:spPr>
      </p:pic>
      <p:pic>
        <p:nvPicPr>
          <p:cNvPr id="11" name="Picture 10"/>
          <p:cNvPicPr>
            <a:picLocks noChangeAspect="1"/>
          </p:cNvPicPr>
          <p:nvPr/>
        </p:nvPicPr>
        <p:blipFill>
          <a:blip r:embed="rId4"/>
          <a:stretch>
            <a:fillRect/>
          </a:stretch>
        </p:blipFill>
        <p:spPr>
          <a:xfrm>
            <a:off x="6043083" y="3758879"/>
            <a:ext cx="3694641" cy="2770981"/>
          </a:xfrm>
          <a:prstGeom prst="rect">
            <a:avLst/>
          </a:prstGeom>
        </p:spPr>
      </p:pic>
      <p:pic>
        <p:nvPicPr>
          <p:cNvPr id="12" name="Picture 11"/>
          <p:cNvPicPr>
            <a:picLocks noChangeAspect="1"/>
          </p:cNvPicPr>
          <p:nvPr/>
        </p:nvPicPr>
        <p:blipFill>
          <a:blip r:embed="rId5"/>
          <a:stretch>
            <a:fillRect/>
          </a:stretch>
        </p:blipFill>
        <p:spPr>
          <a:xfrm>
            <a:off x="2355850" y="957734"/>
            <a:ext cx="3791349" cy="2843512"/>
          </a:xfrm>
          <a:prstGeom prst="rect">
            <a:avLst/>
          </a:prstGeom>
        </p:spPr>
      </p:pic>
    </p:spTree>
    <p:extLst>
      <p:ext uri="{BB962C8B-B14F-4D97-AF65-F5344CB8AC3E}">
        <p14:creationId xmlns:p14="http://schemas.microsoft.com/office/powerpoint/2010/main" val="4698982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817881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0458" y="273907"/>
            <a:ext cx="10990263" cy="568412"/>
          </a:xfrm>
        </p:spPr>
        <p:txBody>
          <a:bodyPr/>
          <a:lstStyle/>
          <a:p>
            <a:r>
              <a:rPr lang="en-US" dirty="0" smtClean="0"/>
              <a:t>Convolutional Neural Network for CPS</a:t>
            </a:r>
            <a:endParaRPr lang="sv-SE" dirty="0"/>
          </a:p>
        </p:txBody>
      </p:sp>
      <p:sp>
        <p:nvSpPr>
          <p:cNvPr id="4" name="TextBox 3"/>
          <p:cNvSpPr txBox="1"/>
          <p:nvPr/>
        </p:nvSpPr>
        <p:spPr>
          <a:xfrm>
            <a:off x="6534150" y="1394674"/>
            <a:ext cx="5657850" cy="369332"/>
          </a:xfrm>
          <a:prstGeom prst="rect">
            <a:avLst/>
          </a:prstGeom>
          <a:noFill/>
        </p:spPr>
        <p:txBody>
          <a:bodyPr wrap="square" rtlCol="0">
            <a:spAutoFit/>
          </a:bodyPr>
          <a:lstStyle/>
          <a:p>
            <a:r>
              <a:rPr lang="en-US" dirty="0" smtClean="0"/>
              <a:t>6 inputs in our case:   DA, DB, DC, </a:t>
            </a:r>
            <a:r>
              <a:rPr lang="en-US" dirty="0" err="1" smtClean="0"/>
              <a:t>IphA</a:t>
            </a:r>
            <a:r>
              <a:rPr lang="en-US" dirty="0" smtClean="0"/>
              <a:t>, </a:t>
            </a:r>
            <a:r>
              <a:rPr lang="en-US" dirty="0" err="1" smtClean="0"/>
              <a:t>IphB</a:t>
            </a:r>
            <a:r>
              <a:rPr lang="en-US" dirty="0" smtClean="0"/>
              <a:t>, </a:t>
            </a:r>
            <a:r>
              <a:rPr lang="en-US" dirty="0" err="1" smtClean="0"/>
              <a:t>IphC</a:t>
            </a:r>
            <a:r>
              <a:rPr lang="en-US" dirty="0" smtClean="0"/>
              <a:t> </a:t>
            </a:r>
            <a:endParaRPr lang="sv-SE" dirty="0"/>
          </a:p>
        </p:txBody>
      </p:sp>
      <p:sp>
        <p:nvSpPr>
          <p:cNvPr id="6" name="TextBox 5"/>
          <p:cNvSpPr txBox="1"/>
          <p:nvPr/>
        </p:nvSpPr>
        <p:spPr>
          <a:xfrm>
            <a:off x="6534150" y="2135770"/>
            <a:ext cx="4476750" cy="369332"/>
          </a:xfrm>
          <a:prstGeom prst="rect">
            <a:avLst/>
          </a:prstGeom>
          <a:noFill/>
        </p:spPr>
        <p:txBody>
          <a:bodyPr wrap="square" rtlCol="0">
            <a:spAutoFit/>
          </a:bodyPr>
          <a:lstStyle/>
          <a:p>
            <a:r>
              <a:rPr lang="en-US" dirty="0"/>
              <a:t>2</a:t>
            </a:r>
            <a:r>
              <a:rPr lang="en-US" dirty="0" smtClean="0"/>
              <a:t> outputs in our case:   </a:t>
            </a:r>
            <a:r>
              <a:rPr lang="en-US" dirty="0" err="1" smtClean="0"/>
              <a:t>PhiB</a:t>
            </a:r>
            <a:r>
              <a:rPr lang="en-US" dirty="0" smtClean="0"/>
              <a:t> and </a:t>
            </a:r>
            <a:r>
              <a:rPr lang="en-US" dirty="0" err="1" smtClean="0"/>
              <a:t>PhiC</a:t>
            </a:r>
            <a:endParaRPr lang="sv-SE" dirty="0"/>
          </a:p>
        </p:txBody>
      </p:sp>
      <p:sp>
        <p:nvSpPr>
          <p:cNvPr id="7" name="TextBox 6"/>
          <p:cNvSpPr txBox="1"/>
          <p:nvPr/>
        </p:nvSpPr>
        <p:spPr>
          <a:xfrm>
            <a:off x="6534150" y="2925403"/>
            <a:ext cx="4643120" cy="1200329"/>
          </a:xfrm>
          <a:prstGeom prst="rect">
            <a:avLst/>
          </a:prstGeom>
          <a:noFill/>
        </p:spPr>
        <p:txBody>
          <a:bodyPr wrap="square" rtlCol="0">
            <a:spAutoFit/>
          </a:bodyPr>
          <a:lstStyle/>
          <a:p>
            <a:r>
              <a:rPr lang="en-US" dirty="0" smtClean="0"/>
              <a:t>SPWM: We can make reduction for inputs: DB, DC, and </a:t>
            </a:r>
            <a:r>
              <a:rPr lang="en-US" dirty="0" err="1" smtClean="0"/>
              <a:t>IphB</a:t>
            </a:r>
            <a:r>
              <a:rPr lang="en-US" dirty="0" smtClean="0"/>
              <a:t>, </a:t>
            </a:r>
            <a:r>
              <a:rPr lang="en-US" dirty="0" err="1" smtClean="0"/>
              <a:t>IphC</a:t>
            </a:r>
            <a:r>
              <a:rPr lang="en-US" dirty="0" smtClean="0"/>
              <a:t> since the sum of duty cycle is 3/2 and the sum of the currents is zero. </a:t>
            </a:r>
            <a:endParaRPr lang="sv-SE" dirty="0"/>
          </a:p>
        </p:txBody>
      </p:sp>
      <p:sp>
        <p:nvSpPr>
          <p:cNvPr id="8" name="Rectangle 7"/>
          <p:cNvSpPr/>
          <p:nvPr/>
        </p:nvSpPr>
        <p:spPr>
          <a:xfrm>
            <a:off x="6575425" y="4393634"/>
            <a:ext cx="4435475" cy="1477328"/>
          </a:xfrm>
          <a:prstGeom prst="rect">
            <a:avLst/>
          </a:prstGeom>
        </p:spPr>
        <p:txBody>
          <a:bodyPr wrap="square">
            <a:spAutoFit/>
          </a:bodyPr>
          <a:lstStyle/>
          <a:p>
            <a:r>
              <a:rPr lang="en-US" dirty="0" smtClean="0"/>
              <a:t>SVM or other methods: </a:t>
            </a:r>
            <a:r>
              <a:rPr lang="en-US" dirty="0"/>
              <a:t>We can </a:t>
            </a:r>
            <a:r>
              <a:rPr lang="en-US" dirty="0" smtClean="0"/>
              <a:t>reduce </a:t>
            </a:r>
            <a:r>
              <a:rPr lang="en-US" dirty="0"/>
              <a:t>inputs: </a:t>
            </a:r>
            <a:r>
              <a:rPr lang="en-US" dirty="0" smtClean="0"/>
              <a:t>DA, DB</a:t>
            </a:r>
            <a:r>
              <a:rPr lang="en-US" dirty="0"/>
              <a:t>, DC, and </a:t>
            </a:r>
            <a:r>
              <a:rPr lang="en-US" dirty="0" err="1"/>
              <a:t>IphB</a:t>
            </a:r>
            <a:r>
              <a:rPr lang="en-US" dirty="0"/>
              <a:t>, </a:t>
            </a:r>
            <a:r>
              <a:rPr lang="en-US" dirty="0" err="1"/>
              <a:t>IphC</a:t>
            </a:r>
            <a:r>
              <a:rPr lang="en-US" dirty="0"/>
              <a:t> since the sum of duty cycle </a:t>
            </a:r>
            <a:r>
              <a:rPr lang="en-US" dirty="0" smtClean="0"/>
              <a:t>depends on the common mode as well and </a:t>
            </a:r>
            <a:r>
              <a:rPr lang="en-US" dirty="0"/>
              <a:t>the sum of the currents is zero. </a:t>
            </a:r>
            <a:endParaRPr lang="sv-SE" dirty="0"/>
          </a:p>
        </p:txBody>
      </p:sp>
      <p:pic>
        <p:nvPicPr>
          <p:cNvPr id="9" name="Picture 8"/>
          <p:cNvPicPr>
            <a:picLocks noChangeAspect="1"/>
          </p:cNvPicPr>
          <p:nvPr/>
        </p:nvPicPr>
        <p:blipFill>
          <a:blip r:embed="rId2"/>
          <a:stretch>
            <a:fillRect/>
          </a:stretch>
        </p:blipFill>
        <p:spPr>
          <a:xfrm>
            <a:off x="3106401" y="1394674"/>
            <a:ext cx="3279188" cy="4951705"/>
          </a:xfrm>
          <a:prstGeom prst="rect">
            <a:avLst/>
          </a:prstGeom>
        </p:spPr>
      </p:pic>
      <p:sp>
        <p:nvSpPr>
          <p:cNvPr id="11" name="TextBox 10"/>
          <p:cNvSpPr txBox="1"/>
          <p:nvPr/>
        </p:nvSpPr>
        <p:spPr>
          <a:xfrm>
            <a:off x="2347149" y="1025342"/>
            <a:ext cx="3157733" cy="369332"/>
          </a:xfrm>
          <a:prstGeom prst="rect">
            <a:avLst/>
          </a:prstGeom>
          <a:noFill/>
        </p:spPr>
        <p:txBody>
          <a:bodyPr wrap="square" rtlCol="0">
            <a:spAutoFit/>
          </a:bodyPr>
          <a:lstStyle/>
          <a:p>
            <a:r>
              <a:rPr lang="en-US" dirty="0" smtClean="0"/>
              <a:t>Parallel DC/DC Converters</a:t>
            </a:r>
            <a:endParaRPr lang="sv-SE" dirty="0"/>
          </a:p>
        </p:txBody>
      </p:sp>
      <p:pic>
        <p:nvPicPr>
          <p:cNvPr id="13" name="Picture 12"/>
          <p:cNvPicPr>
            <a:picLocks noChangeAspect="1"/>
          </p:cNvPicPr>
          <p:nvPr/>
        </p:nvPicPr>
        <p:blipFill>
          <a:blip r:embed="rId3"/>
          <a:stretch>
            <a:fillRect/>
          </a:stretch>
        </p:blipFill>
        <p:spPr>
          <a:xfrm>
            <a:off x="153684" y="2205805"/>
            <a:ext cx="3393615" cy="2090150"/>
          </a:xfrm>
          <a:prstGeom prst="rect">
            <a:avLst/>
          </a:prstGeom>
        </p:spPr>
      </p:pic>
    </p:spTree>
    <p:extLst>
      <p:ext uri="{BB962C8B-B14F-4D97-AF65-F5344CB8AC3E}">
        <p14:creationId xmlns:p14="http://schemas.microsoft.com/office/powerpoint/2010/main" val="20117801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0458" y="273907"/>
            <a:ext cx="10990263" cy="568412"/>
          </a:xfrm>
        </p:spPr>
        <p:txBody>
          <a:bodyPr/>
          <a:lstStyle/>
          <a:p>
            <a:r>
              <a:rPr lang="en-US" dirty="0" smtClean="0"/>
              <a:t>Possible Contributions</a:t>
            </a:r>
            <a:endParaRPr lang="sv-SE" dirty="0"/>
          </a:p>
        </p:txBody>
      </p:sp>
      <p:sp>
        <p:nvSpPr>
          <p:cNvPr id="7" name="Rectangle 6"/>
          <p:cNvSpPr/>
          <p:nvPr/>
        </p:nvSpPr>
        <p:spPr>
          <a:xfrm>
            <a:off x="577850" y="1244938"/>
            <a:ext cx="10966450" cy="3139321"/>
          </a:xfrm>
          <a:prstGeom prst="rect">
            <a:avLst/>
          </a:prstGeom>
        </p:spPr>
        <p:txBody>
          <a:bodyPr wrap="square">
            <a:spAutoFit/>
          </a:bodyPr>
          <a:lstStyle/>
          <a:p>
            <a:pPr marL="342900" indent="-342900">
              <a:buFont typeface="+mj-lt"/>
              <a:buAutoNum type="arabicPeriod"/>
            </a:pPr>
            <a:r>
              <a:rPr lang="sv-SE" dirty="0" smtClean="0"/>
              <a:t>A new </a:t>
            </a:r>
            <a:r>
              <a:rPr lang="sv-SE" dirty="0" err="1" smtClean="0"/>
              <a:t>interleaving</a:t>
            </a:r>
            <a:r>
              <a:rPr lang="sv-SE" dirty="0" smtClean="0"/>
              <a:t> </a:t>
            </a:r>
            <a:r>
              <a:rPr lang="sv-SE" dirty="0" err="1"/>
              <a:t>technique</a:t>
            </a:r>
            <a:r>
              <a:rPr lang="sv-SE" dirty="0"/>
              <a:t> for </a:t>
            </a:r>
            <a:r>
              <a:rPr lang="sv-SE" dirty="0" err="1"/>
              <a:t>single</a:t>
            </a:r>
            <a:r>
              <a:rPr lang="sv-SE" dirty="0"/>
              <a:t> </a:t>
            </a:r>
            <a:r>
              <a:rPr lang="sv-SE" dirty="0" err="1"/>
              <a:t>two-level</a:t>
            </a:r>
            <a:r>
              <a:rPr lang="sv-SE" dirty="0"/>
              <a:t> </a:t>
            </a:r>
            <a:r>
              <a:rPr lang="sv-SE" dirty="0" err="1"/>
              <a:t>VSIs</a:t>
            </a:r>
            <a:r>
              <a:rPr lang="sv-SE" dirty="0"/>
              <a:t>, </a:t>
            </a:r>
            <a:r>
              <a:rPr lang="sv-SE" dirty="0" err="1"/>
              <a:t>eliminating</a:t>
            </a:r>
            <a:r>
              <a:rPr lang="sv-SE" dirty="0"/>
              <a:t> the </a:t>
            </a:r>
            <a:r>
              <a:rPr lang="sv-SE" dirty="0" err="1"/>
              <a:t>need</a:t>
            </a:r>
            <a:r>
              <a:rPr lang="sv-SE" dirty="0"/>
              <a:t> for </a:t>
            </a:r>
            <a:r>
              <a:rPr lang="sv-SE" dirty="0" err="1"/>
              <a:t>additional</a:t>
            </a:r>
            <a:r>
              <a:rPr lang="sv-SE" dirty="0"/>
              <a:t> </a:t>
            </a:r>
            <a:r>
              <a:rPr lang="sv-SE" dirty="0" err="1" smtClean="0"/>
              <a:t>converter</a:t>
            </a:r>
            <a:r>
              <a:rPr lang="sv-SE" dirty="0" smtClean="0"/>
              <a:t>/</a:t>
            </a:r>
            <a:r>
              <a:rPr lang="sv-SE" dirty="0" err="1" smtClean="0"/>
              <a:t>inverter</a:t>
            </a:r>
            <a:r>
              <a:rPr lang="sv-SE" dirty="0" smtClean="0"/>
              <a:t>.   </a:t>
            </a:r>
          </a:p>
          <a:p>
            <a:pPr marL="342900" indent="-342900">
              <a:buFont typeface="+mj-lt"/>
              <a:buAutoNum type="arabicPeriod"/>
            </a:pPr>
            <a:endParaRPr lang="sv-SE" dirty="0" smtClean="0"/>
          </a:p>
          <a:p>
            <a:pPr marL="342900" indent="-342900">
              <a:buFont typeface="+mj-lt"/>
              <a:buAutoNum type="arabicPeriod"/>
            </a:pPr>
            <a:r>
              <a:rPr lang="sv-SE" dirty="0" smtClean="0"/>
              <a:t>An </a:t>
            </a:r>
            <a:r>
              <a:rPr lang="sv-SE" dirty="0"/>
              <a:t>AI-</a:t>
            </a:r>
            <a:r>
              <a:rPr lang="sv-SE" dirty="0" err="1"/>
              <a:t>based</a:t>
            </a:r>
            <a:r>
              <a:rPr lang="sv-SE" dirty="0"/>
              <a:t> adaptive modulation </a:t>
            </a:r>
            <a:r>
              <a:rPr lang="sv-SE" dirty="0" err="1"/>
              <a:t>strategy</a:t>
            </a:r>
            <a:r>
              <a:rPr lang="sv-SE" dirty="0"/>
              <a:t> </a:t>
            </a:r>
            <a:r>
              <a:rPr lang="sv-SE" dirty="0" err="1"/>
              <a:t>that</a:t>
            </a:r>
            <a:r>
              <a:rPr lang="sv-SE" dirty="0"/>
              <a:t> </a:t>
            </a:r>
            <a:r>
              <a:rPr lang="sv-SE" dirty="0" err="1"/>
              <a:t>dynamically</a:t>
            </a:r>
            <a:r>
              <a:rPr lang="sv-SE" dirty="0"/>
              <a:t> </a:t>
            </a:r>
            <a:r>
              <a:rPr lang="sv-SE" dirty="0" err="1"/>
              <a:t>adjusts</a:t>
            </a:r>
            <a:r>
              <a:rPr lang="sv-SE" dirty="0"/>
              <a:t> </a:t>
            </a:r>
            <a:r>
              <a:rPr lang="sv-SE" dirty="0" err="1"/>
              <a:t>phase</a:t>
            </a:r>
            <a:r>
              <a:rPr lang="sv-SE" dirty="0"/>
              <a:t> </a:t>
            </a:r>
            <a:r>
              <a:rPr lang="sv-SE" dirty="0" err="1"/>
              <a:t>shifts</a:t>
            </a:r>
            <a:r>
              <a:rPr lang="sv-SE" dirty="0"/>
              <a:t> to </a:t>
            </a:r>
            <a:r>
              <a:rPr lang="sv-SE" dirty="0" err="1"/>
              <a:t>minimize</a:t>
            </a:r>
            <a:r>
              <a:rPr lang="sv-SE" dirty="0"/>
              <a:t> DC-</a:t>
            </a:r>
            <a:r>
              <a:rPr lang="sv-SE" dirty="0" err="1"/>
              <a:t>link</a:t>
            </a:r>
            <a:r>
              <a:rPr lang="sv-SE" dirty="0"/>
              <a:t> </a:t>
            </a:r>
            <a:r>
              <a:rPr lang="sv-SE" dirty="0" err="1"/>
              <a:t>current</a:t>
            </a:r>
            <a:r>
              <a:rPr lang="sv-SE" dirty="0"/>
              <a:t> </a:t>
            </a:r>
            <a:r>
              <a:rPr lang="sv-SE" dirty="0" err="1"/>
              <a:t>ripple</a:t>
            </a:r>
            <a:r>
              <a:rPr lang="sv-SE" dirty="0"/>
              <a:t>.   </a:t>
            </a:r>
            <a:endParaRPr lang="sv-SE" dirty="0" smtClean="0"/>
          </a:p>
          <a:p>
            <a:pPr marL="342900" indent="-342900">
              <a:buFont typeface="+mj-lt"/>
              <a:buAutoNum type="arabicPeriod"/>
            </a:pPr>
            <a:endParaRPr lang="sv-SE" dirty="0" smtClean="0"/>
          </a:p>
          <a:p>
            <a:pPr marL="342900" indent="-342900">
              <a:buFont typeface="+mj-lt"/>
              <a:buAutoNum type="arabicPeriod"/>
            </a:pPr>
            <a:r>
              <a:rPr lang="en-US" dirty="0" smtClean="0"/>
              <a:t>The proposed system is independent of the modulation technique, which can be applied to SPWM, THIPWM, SVM. </a:t>
            </a:r>
            <a:endParaRPr lang="sv-SE" dirty="0"/>
          </a:p>
          <a:p>
            <a:pPr marL="342900" indent="-342900">
              <a:buFont typeface="+mj-lt"/>
              <a:buAutoNum type="arabicPeriod"/>
            </a:pPr>
            <a:endParaRPr lang="sv-SE" dirty="0"/>
          </a:p>
          <a:p>
            <a:pPr marL="342900" indent="-342900">
              <a:buFont typeface="+mj-lt"/>
              <a:buAutoNum type="arabicPeriod"/>
            </a:pPr>
            <a:r>
              <a:rPr lang="sv-SE" dirty="0" smtClean="0"/>
              <a:t>Experimental </a:t>
            </a:r>
            <a:r>
              <a:rPr lang="sv-SE" dirty="0" err="1"/>
              <a:t>validation</a:t>
            </a:r>
            <a:r>
              <a:rPr lang="sv-SE" dirty="0"/>
              <a:t> </a:t>
            </a:r>
            <a:r>
              <a:rPr lang="sv-SE" dirty="0" err="1"/>
              <a:t>demonstrating</a:t>
            </a:r>
            <a:r>
              <a:rPr lang="sv-SE" dirty="0"/>
              <a:t> </a:t>
            </a:r>
            <a:r>
              <a:rPr lang="sv-SE" dirty="0" err="1"/>
              <a:t>significant</a:t>
            </a:r>
            <a:r>
              <a:rPr lang="sv-SE" dirty="0"/>
              <a:t> </a:t>
            </a:r>
            <a:r>
              <a:rPr lang="sv-SE" dirty="0" err="1"/>
              <a:t>ripple</a:t>
            </a:r>
            <a:r>
              <a:rPr lang="sv-SE" dirty="0"/>
              <a:t> </a:t>
            </a:r>
            <a:r>
              <a:rPr lang="sv-SE" dirty="0" err="1"/>
              <a:t>reduction</a:t>
            </a:r>
            <a:r>
              <a:rPr lang="sv-SE" dirty="0"/>
              <a:t> </a:t>
            </a:r>
            <a:r>
              <a:rPr lang="sv-SE" dirty="0" err="1"/>
              <a:t>compared</a:t>
            </a:r>
            <a:r>
              <a:rPr lang="sv-SE" dirty="0"/>
              <a:t> to </a:t>
            </a:r>
            <a:r>
              <a:rPr lang="sv-SE" dirty="0" err="1"/>
              <a:t>conventional</a:t>
            </a:r>
            <a:r>
              <a:rPr lang="sv-SE" dirty="0"/>
              <a:t> PWM </a:t>
            </a:r>
            <a:r>
              <a:rPr lang="sv-SE" dirty="0" err="1" smtClean="0"/>
              <a:t>methods</a:t>
            </a:r>
            <a:r>
              <a:rPr lang="sv-SE" dirty="0" smtClean="0"/>
              <a:t> to show </a:t>
            </a:r>
            <a:r>
              <a:rPr lang="sv-SE" dirty="0" err="1" smtClean="0"/>
              <a:t>life</a:t>
            </a:r>
            <a:r>
              <a:rPr lang="sv-SE" dirty="0" smtClean="0"/>
              <a:t> </a:t>
            </a:r>
            <a:r>
              <a:rPr lang="sv-SE" dirty="0" err="1" smtClean="0"/>
              <a:t>time</a:t>
            </a:r>
            <a:r>
              <a:rPr lang="sv-SE" dirty="0" smtClean="0"/>
              <a:t> </a:t>
            </a:r>
            <a:r>
              <a:rPr lang="sv-SE" dirty="0" err="1" smtClean="0"/>
              <a:t>extention</a:t>
            </a:r>
            <a:r>
              <a:rPr lang="sv-SE" dirty="0" smtClean="0"/>
              <a:t>. </a:t>
            </a:r>
            <a:endParaRPr lang="sv-SE" dirty="0"/>
          </a:p>
        </p:txBody>
      </p:sp>
    </p:spTree>
    <p:extLst>
      <p:ext uri="{BB962C8B-B14F-4D97-AF65-F5344CB8AC3E}">
        <p14:creationId xmlns:p14="http://schemas.microsoft.com/office/powerpoint/2010/main" val="315089873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5111" y="322381"/>
            <a:ext cx="10990263" cy="568412"/>
          </a:xfrm>
        </p:spPr>
        <p:txBody>
          <a:bodyPr/>
          <a:lstStyle/>
          <a:p>
            <a:r>
              <a:rPr lang="en-US" dirty="0" smtClean="0"/>
              <a:t>DC-link Current Ripple- Calculations</a:t>
            </a:r>
            <a:endParaRPr lang="sv-SE" dirty="0"/>
          </a:p>
        </p:txBody>
      </p:sp>
    </p:spTree>
    <p:extLst>
      <p:ext uri="{BB962C8B-B14F-4D97-AF65-F5344CB8AC3E}">
        <p14:creationId xmlns:p14="http://schemas.microsoft.com/office/powerpoint/2010/main" val="1539586710"/>
      </p:ext>
    </p:extLst>
  </p:cSld>
  <p:clrMapOvr>
    <a:masterClrMapping/>
  </p:clrMapOvr>
</p:sld>
</file>

<file path=ppt/theme/theme1.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Sand">
      <a:srgbClr val="EBE5E0"/>
    </a:custClr>
    <a:custClr name="KTH blue">
      <a:srgbClr val="004791"/>
    </a:custClr>
    <a:custClr name="Sky blue">
      <a:srgbClr val="6298D2"/>
    </a:custClr>
    <a:custClr name="Navy blue">
      <a:srgbClr val="000061"/>
    </a:custClr>
    <a:custClr name="Light blue">
      <a:srgbClr val="DEF0FF"/>
    </a:custClr>
    <a:custClr name="Digital blue">
      <a:srgbClr val="0029ED"/>
    </a:custClr>
    <a:custClr name="Blank">
      <a:srgbClr val="FFFFFF"/>
    </a:custClr>
    <a:custClr name="Blank">
      <a:srgbClr val="FFFFFF"/>
    </a:custClr>
    <a:custClr name="Blank">
      <a:srgbClr val="FFFFFF"/>
    </a:custClr>
    <a:custClr name="Blank">
      <a:srgbClr val="FFFFFF"/>
    </a:custClr>
    <a:custClr name="Dark green">
      <a:srgbClr val="0D4A21"/>
    </a:custClr>
    <a:custClr name="Dark turquoise">
      <a:srgbClr val="1C434C"/>
    </a:custClr>
    <a:custClr name="Dark brick">
      <a:srgbClr val="78001A"/>
    </a:custClr>
    <a:custClr name="Dark yellow">
      <a:srgbClr val="A65900"/>
    </a:custClr>
    <a:custClr name="Dark grey">
      <a:srgbClr val="323232"/>
    </a:custClr>
    <a:custClr name="Blank">
      <a:srgbClr val="FFFFFF"/>
    </a:custClr>
    <a:custClr name="Blank">
      <a:srgbClr val="FFFFFF"/>
    </a:custClr>
    <a:custClr name="Blank">
      <a:srgbClr val="FFFFFF"/>
    </a:custClr>
    <a:custClr name="Blank">
      <a:srgbClr val="FFFFFF"/>
    </a:custClr>
    <a:custClr name="Blank">
      <a:srgbClr val="FFFFFF"/>
    </a:custClr>
    <a:custClr name="Green">
      <a:srgbClr val="4DA060"/>
    </a:custClr>
    <a:custClr name="Turquoise">
      <a:srgbClr val="339C9C"/>
    </a:custClr>
    <a:custClr name="Brick">
      <a:srgbClr val="E86A58"/>
    </a:custClr>
    <a:custClr name="Yellow">
      <a:srgbClr val="FFBE00"/>
    </a:custClr>
    <a:custClr name="Grey">
      <a:srgbClr val="A5A5A5"/>
    </a:custClr>
    <a:custClr name="Blank">
      <a:srgbClr val="FFFFFF"/>
    </a:custClr>
    <a:custClr name="Blank">
      <a:srgbClr val="FFFFFF"/>
    </a:custClr>
    <a:custClr name="Blank">
      <a:srgbClr val="FFFFFF"/>
    </a:custClr>
    <a:custClr name="Blank">
      <a:srgbClr val="FFFFFF"/>
    </a:custClr>
    <a:custClr name="Blank">
      <a:srgbClr val="FFFFFF"/>
    </a:custClr>
    <a:custClr name="Light green">
      <a:srgbClr val="C7EBBA"/>
    </a:custClr>
    <a:custClr name="Light turquoise">
      <a:srgbClr val="B2E0E0"/>
    </a:custClr>
    <a:custClr name="Light brick">
      <a:srgbClr val="FFCCC4"/>
    </a:custClr>
    <a:custClr name="Light yellow">
      <a:srgbClr val="FFF0B0"/>
    </a:custClr>
    <a:custClr name="Light grey">
      <a:srgbClr val="E6E6E6"/>
    </a:custClr>
  </a:custClrLst>
  <a:extLst>
    <a:ext uri="{05A4C25C-085E-4340-85A3-A5531E510DB2}">
      <thm15:themeFamily xmlns:thm15="http://schemas.microsoft.com/office/thememl/2012/main" name="KTH_presentation_template_Figtree" id="{E6011EE6-5294-D344-AE93-F618069F8922}" vid="{45727F30-E711-A740-91D8-A34DFFD32AAE}"/>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KTH_presentation_template_Figtree (2)</Template>
  <TotalTime>22398</TotalTime>
  <Words>756</Words>
  <Application>Microsoft Office PowerPoint</Application>
  <PresentationFormat>Widescreen</PresentationFormat>
  <Paragraphs>133</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Figtree</vt:lpstr>
      <vt:lpstr>Cambria Math</vt:lpstr>
      <vt:lpstr>Arial</vt:lpstr>
      <vt:lpstr>Calibri</vt:lpstr>
      <vt:lpstr>Office-tema</vt:lpstr>
      <vt:lpstr>A Neural Network Aided Modulation Strategy for DC-Link Capacitor Lifetime Extension in Three-Phase Two-Level VSIs</vt:lpstr>
      <vt:lpstr>Overview of Three-Phase Two-Level VSIs</vt:lpstr>
      <vt:lpstr>DC-Link Capacitor: A Key Reliability Bottleneck</vt:lpstr>
      <vt:lpstr>Reducing Current Ripple &amp; Stress</vt:lpstr>
      <vt:lpstr>Interleaving for Single 2L-VSI</vt:lpstr>
      <vt:lpstr>PowerPoint Presentation</vt:lpstr>
      <vt:lpstr>Dynamic Variable Carrier Phase-Shift Modulation</vt:lpstr>
      <vt:lpstr>Example of Finding Carrier Phase Shifts </vt:lpstr>
      <vt:lpstr>Example of Finding Carrier Phase Shifts </vt:lpstr>
      <vt:lpstr>PowerPoint Presentation</vt:lpstr>
      <vt:lpstr>Convolutional Neural Network for CPS</vt:lpstr>
      <vt:lpstr>Possible Contributions</vt:lpstr>
      <vt:lpstr>DC-link Current Ripple- Calculations</vt:lpstr>
    </vt:vector>
  </TitlesOfParts>
  <Company>KTH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Tove Guldbrand</dc:creator>
  <cp:lastModifiedBy>Enes Ayaz</cp:lastModifiedBy>
  <cp:revision>255</cp:revision>
  <dcterms:created xsi:type="dcterms:W3CDTF">2024-01-10T13:17:29Z</dcterms:created>
  <dcterms:modified xsi:type="dcterms:W3CDTF">2025-07-14T09:41:34Z</dcterms:modified>
</cp:coreProperties>
</file>