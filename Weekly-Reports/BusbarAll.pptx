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5"/>
  </p:notesMasterIdLst>
  <p:sldIdLst>
    <p:sldId id="256" r:id="rId2"/>
    <p:sldId id="291" r:id="rId3"/>
    <p:sldId id="294" r:id="rId4"/>
    <p:sldId id="293" r:id="rId5"/>
    <p:sldId id="295" r:id="rId6"/>
    <p:sldId id="296" r:id="rId7"/>
    <p:sldId id="261" r:id="rId8"/>
    <p:sldId id="273" r:id="rId9"/>
    <p:sldId id="272" r:id="rId10"/>
    <p:sldId id="288" r:id="rId11"/>
    <p:sldId id="275" r:id="rId12"/>
    <p:sldId id="289" r:id="rId13"/>
    <p:sldId id="290" r:id="rId14"/>
  </p:sldIdLst>
  <p:sldSz cx="12192000" cy="6858000"/>
  <p:notesSz cx="6858000" cy="9144000"/>
  <p:embeddedFontLst>
    <p:embeddedFont>
      <p:font typeface="Calibri" panose="020F0502020204030204" pitchFamily="34" charset="0"/>
      <p:regular r:id="rId16"/>
      <p:bold r:id="rId17"/>
      <p:italic r:id="rId18"/>
      <p:boldItalic r:id="rId19"/>
    </p:embeddedFont>
    <p:embeddedFont>
      <p:font typeface="Cambria Math" panose="02040503050406030204" pitchFamily="18" charset="0"/>
      <p:regular r:id="rId20"/>
    </p:embeddedFont>
    <p:embeddedFont>
      <p:font typeface="Figtree" panose="020B0604020202020204" charset="0"/>
      <p:regular r:id="rId21"/>
      <p:bold r:id="rId22"/>
      <p:italic r:id="rId23"/>
      <p:boldItalic r:id="rId24"/>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13" autoAdjust="0"/>
    <p:restoredTop sz="96327"/>
  </p:normalViewPr>
  <p:slideViewPr>
    <p:cSldViewPr snapToGrid="0">
      <p:cViewPr>
        <p:scale>
          <a:sx n="66" d="100"/>
          <a:sy n="66" d="100"/>
        </p:scale>
        <p:origin x="1998" y="10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2024-11-29</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2.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2024-11-29</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2024-11-29</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xmlns=""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2024-11-29</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2024-11-29</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2024-11-29</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2024-11-29</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2024-11-29</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2024-11-29</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2024-11-29</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2024-11-29</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2024-11-29</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2024-11-29</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2024-11-29</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2024-11-29</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2024-11-29</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2024-11-29</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2024-11-29</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2024-11-29</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2024-11-29</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2024-11-29</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2024-11-29</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2024-11-29</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2024-11-29</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2024-11-29</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2024-11-29</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2024-11-29</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2024-11-29</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2024-11-29</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2024-11-29</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2024-11-29</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2024-11-29</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2024-11-29</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2024-11-29</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2024-11-29</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2024-11-29</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2024-11-29</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2024-11-29</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2024-11-29</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2024-11-29</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2024-11-29</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2024-11-29</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2024-11-29</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2024-11-29</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2024-11-29</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2024-11-29</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2024-11-29</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2024-11-29</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2024-11-29</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asvg="http://schemas.microsoft.com/office/drawing/2016/SVG/main" xmlns=""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timing>
    <p:tnLst>
      <p:par>
        <p:cTn id="1" dur="indefinite" restart="never" nodeType="tmRoot"/>
      </p:par>
    </p:tnLst>
  </p:timing>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2.xml"/><Relationship Id="rId5" Type="http://schemas.openxmlformats.org/officeDocument/2006/relationships/image" Target="../media/image27.emf"/><Relationship Id="rId4" Type="http://schemas.openxmlformats.org/officeDocument/2006/relationships/image" Target="../media/image26.emf"/></Relationships>
</file>

<file path=ppt/slides/_rels/slide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10.png"/><Relationship Id="rId1" Type="http://schemas.openxmlformats.org/officeDocument/2006/relationships/slideLayout" Target="../slideLayouts/slideLayout12.xml"/><Relationship Id="rId5" Type="http://schemas.openxmlformats.org/officeDocument/2006/relationships/image" Target="../media/image28.png"/><Relationship Id="rId4" Type="http://schemas.openxmlformats.org/officeDocument/2006/relationships/image" Target="../media/image230.pn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0.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12.xml"/><Relationship Id="rId5" Type="http://schemas.openxmlformats.org/officeDocument/2006/relationships/image" Target="../media/image33.png"/><Relationship Id="rId4" Type="http://schemas.openxmlformats.org/officeDocument/2006/relationships/image" Target="../media/image290.png"/></Relationships>
</file>

<file path=ppt/slides/_rels/slide10.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emf"/><Relationship Id="rId1" Type="http://schemas.openxmlformats.org/officeDocument/2006/relationships/slideLayout" Target="../slideLayouts/slideLayout12.xml"/><Relationship Id="rId4" Type="http://schemas.openxmlformats.org/officeDocument/2006/relationships/image" Target="../media/image36.emf"/></Relationships>
</file>

<file path=ppt/slides/_rels/slide11.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40.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38.emf"/><Relationship Id="rId7" Type="http://schemas.openxmlformats.org/officeDocument/2006/relationships/image" Target="../media/image400.png"/><Relationship Id="rId2" Type="http://schemas.openxmlformats.org/officeDocument/2006/relationships/image" Target="../media/image34.emf"/><Relationship Id="rId1" Type="http://schemas.openxmlformats.org/officeDocument/2006/relationships/slideLayout" Target="../slideLayouts/slideLayout12.xml"/><Relationship Id="rId6" Type="http://schemas.openxmlformats.org/officeDocument/2006/relationships/image" Target="../media/image390.png"/><Relationship Id="rId5" Type="http://schemas.openxmlformats.org/officeDocument/2006/relationships/image" Target="../media/image380.png"/><Relationship Id="rId4" Type="http://schemas.openxmlformats.org/officeDocument/2006/relationships/image" Target="../media/image39.emf"/></Relationships>
</file>

<file path=ppt/slides/_rels/slide13.xml.rels><?xml version="1.0" encoding="UTF-8" standalone="yes"?>
<Relationships xmlns="http://schemas.openxmlformats.org/package/2006/relationships"><Relationship Id="rId3" Type="http://schemas.openxmlformats.org/officeDocument/2006/relationships/image" Target="../media/image40.emf"/><Relationship Id="rId7" Type="http://schemas.openxmlformats.org/officeDocument/2006/relationships/image" Target="../media/image46.png"/><Relationship Id="rId2" Type="http://schemas.openxmlformats.org/officeDocument/2006/relationships/image" Target="../media/image41.png"/><Relationship Id="rId1" Type="http://schemas.openxmlformats.org/officeDocument/2006/relationships/slideLayout" Target="../slideLayouts/slideLayout12.xml"/><Relationship Id="rId6" Type="http://schemas.openxmlformats.org/officeDocument/2006/relationships/image" Target="../media/image45.png"/><Relationship Id="rId5" Type="http://schemas.openxmlformats.org/officeDocument/2006/relationships/image" Target="../media/image42.emf"/><Relationship Id="rId4" Type="http://schemas.openxmlformats.org/officeDocument/2006/relationships/image" Target="../media/image4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p:txBody>
          <a:bodyPr/>
          <a:lstStyle/>
          <a:p>
            <a:r>
              <a:rPr lang="sv-SE" dirty="0" err="1" smtClean="0"/>
              <a:t>Busbar</a:t>
            </a:r>
            <a:r>
              <a:rPr lang="sv-SE" dirty="0" smtClean="0"/>
              <a:t> Design</a:t>
            </a:r>
            <a:endParaRPr lang="sv-SE" dirty="0"/>
          </a:p>
        </p:txBody>
      </p:sp>
      <p:sp>
        <p:nvSpPr>
          <p:cNvPr id="5" name="Underrubrik 4">
            <a:extLst>
              <a:ext uri="{FF2B5EF4-FFF2-40B4-BE49-F238E27FC236}">
                <a16:creationId xmlns:a16="http://schemas.microsoft.com/office/drawing/2014/main" id="{92A29924-00C9-C549-25FA-02CDD1D96ADA}"/>
              </a:ext>
            </a:extLst>
          </p:cNvPr>
          <p:cNvSpPr>
            <a:spLocks noGrp="1"/>
          </p:cNvSpPr>
          <p:nvPr>
            <p:ph type="subTitle" idx="1"/>
          </p:nvPr>
        </p:nvSpPr>
        <p:spPr/>
        <p:txBody>
          <a:bodyPr/>
          <a:lstStyle/>
          <a:p>
            <a:r>
              <a:rPr lang="en-US" dirty="0" smtClean="0"/>
              <a:t>KTH</a:t>
            </a:r>
            <a:endParaRPr lang="sv-SE" dirty="0"/>
          </a:p>
        </p:txBody>
      </p:sp>
    </p:spTree>
    <p:extLst>
      <p:ext uri="{BB962C8B-B14F-4D97-AF65-F5344CB8AC3E}">
        <p14:creationId xmlns:p14="http://schemas.microsoft.com/office/powerpoint/2010/main" val="2081227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2105" y="278103"/>
            <a:ext cx="10990263" cy="568412"/>
          </a:xfrm>
        </p:spPr>
        <p:txBody>
          <a:bodyPr/>
          <a:lstStyle/>
          <a:p>
            <a:r>
              <a:rPr lang="en-US" dirty="0" err="1">
                <a:latin typeface="Times New Roman" panose="02020603050405020304" pitchFamily="18" charset="0"/>
                <a:cs typeface="Times New Roman" panose="02020603050405020304" pitchFamily="18" charset="0"/>
              </a:rPr>
              <a:t>Busbar</a:t>
            </a:r>
            <a:r>
              <a:rPr lang="en-US" dirty="0">
                <a:latin typeface="Times New Roman" panose="02020603050405020304" pitchFamily="18" charset="0"/>
                <a:cs typeface="Times New Roman" panose="02020603050405020304" pitchFamily="18" charset="0"/>
              </a:rPr>
              <a:t> Geometry 62mm Power Module</a:t>
            </a:r>
            <a:endParaRPr lang="sv-SE" dirty="0"/>
          </a:p>
        </p:txBody>
      </p:sp>
      <p:pic>
        <p:nvPicPr>
          <p:cNvPr id="4" name="Picture 3"/>
          <p:cNvPicPr>
            <a:picLocks noChangeAspect="1"/>
          </p:cNvPicPr>
          <p:nvPr/>
        </p:nvPicPr>
        <p:blipFill>
          <a:blip r:embed="rId2"/>
          <a:stretch>
            <a:fillRect/>
          </a:stretch>
        </p:blipFill>
        <p:spPr>
          <a:xfrm>
            <a:off x="539951" y="1090304"/>
            <a:ext cx="4022495" cy="4678176"/>
          </a:xfrm>
          <a:prstGeom prst="rect">
            <a:avLst/>
          </a:prstGeom>
        </p:spPr>
      </p:pic>
      <p:sp>
        <p:nvSpPr>
          <p:cNvPr id="5" name="Rectangle 4"/>
          <p:cNvSpPr/>
          <p:nvPr/>
        </p:nvSpPr>
        <p:spPr>
          <a:xfrm>
            <a:off x="1245734" y="1544516"/>
            <a:ext cx="1093696" cy="914400"/>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 name="Rectangle 5"/>
          <p:cNvSpPr/>
          <p:nvPr/>
        </p:nvSpPr>
        <p:spPr>
          <a:xfrm>
            <a:off x="2742840" y="1589339"/>
            <a:ext cx="1093696" cy="914400"/>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7" name="Rectangle 6"/>
          <p:cNvSpPr/>
          <p:nvPr/>
        </p:nvSpPr>
        <p:spPr>
          <a:xfrm>
            <a:off x="1245734" y="2972192"/>
            <a:ext cx="1093696" cy="914400"/>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8" name="Rectangle 7"/>
          <p:cNvSpPr/>
          <p:nvPr/>
        </p:nvSpPr>
        <p:spPr>
          <a:xfrm>
            <a:off x="2742840" y="2972192"/>
            <a:ext cx="1093696" cy="914400"/>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9" name="Rectangle 8"/>
          <p:cNvSpPr/>
          <p:nvPr/>
        </p:nvSpPr>
        <p:spPr>
          <a:xfrm>
            <a:off x="3155777" y="4732963"/>
            <a:ext cx="886946" cy="914400"/>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 name="Rectangle 9"/>
          <p:cNvSpPr/>
          <p:nvPr/>
        </p:nvSpPr>
        <p:spPr>
          <a:xfrm>
            <a:off x="2107725" y="4732963"/>
            <a:ext cx="886946" cy="914400"/>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 name="Rectangle 10"/>
          <p:cNvSpPr/>
          <p:nvPr/>
        </p:nvSpPr>
        <p:spPr>
          <a:xfrm>
            <a:off x="1059673" y="4732963"/>
            <a:ext cx="886946" cy="914400"/>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2" name="Rectangle 11"/>
          <p:cNvSpPr/>
          <p:nvPr/>
        </p:nvSpPr>
        <p:spPr>
          <a:xfrm>
            <a:off x="377052" y="5853552"/>
            <a:ext cx="304470" cy="295835"/>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3" name="Rectangle 12"/>
          <p:cNvSpPr/>
          <p:nvPr/>
        </p:nvSpPr>
        <p:spPr>
          <a:xfrm>
            <a:off x="377052" y="6343623"/>
            <a:ext cx="292286" cy="262965"/>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4" name="TextBox 13"/>
          <p:cNvSpPr txBox="1"/>
          <p:nvPr/>
        </p:nvSpPr>
        <p:spPr>
          <a:xfrm>
            <a:off x="854840" y="5781835"/>
            <a:ext cx="1679388" cy="369332"/>
          </a:xfrm>
          <a:prstGeom prst="rect">
            <a:avLst/>
          </a:prstGeom>
          <a:noFill/>
        </p:spPr>
        <p:txBody>
          <a:bodyPr wrap="square" rtlCol="0">
            <a:spAutoFit/>
          </a:bodyPr>
          <a:lstStyle/>
          <a:p>
            <a:r>
              <a:rPr lang="en-US" dirty="0" smtClean="0"/>
              <a:t>Capacitor</a:t>
            </a:r>
            <a:endParaRPr lang="sv-SE" dirty="0"/>
          </a:p>
        </p:txBody>
      </p:sp>
      <p:sp>
        <p:nvSpPr>
          <p:cNvPr id="15" name="TextBox 14"/>
          <p:cNvSpPr txBox="1"/>
          <p:nvPr/>
        </p:nvSpPr>
        <p:spPr>
          <a:xfrm>
            <a:off x="844710" y="6282079"/>
            <a:ext cx="2058895" cy="369332"/>
          </a:xfrm>
          <a:prstGeom prst="rect">
            <a:avLst/>
          </a:prstGeom>
          <a:noFill/>
        </p:spPr>
        <p:txBody>
          <a:bodyPr wrap="square" rtlCol="0">
            <a:spAutoFit/>
          </a:bodyPr>
          <a:lstStyle/>
          <a:p>
            <a:r>
              <a:rPr lang="en-US" dirty="0" smtClean="0"/>
              <a:t>Power Modules</a:t>
            </a:r>
            <a:endParaRPr lang="sv-SE" dirty="0"/>
          </a:p>
        </p:txBody>
      </p:sp>
      <p:sp>
        <p:nvSpPr>
          <p:cNvPr id="16" name="Oval 15"/>
          <p:cNvSpPr/>
          <p:nvPr/>
        </p:nvSpPr>
        <p:spPr>
          <a:xfrm>
            <a:off x="2826954" y="5956644"/>
            <a:ext cx="214823" cy="191247"/>
          </a:xfrm>
          <a:prstGeom prst="ellipse">
            <a:avLst/>
          </a:prstGeom>
          <a:solidFill>
            <a:srgbClr val="0029ED"/>
          </a:solidFill>
          <a:ln>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7" name="TextBox 16"/>
          <p:cNvSpPr txBox="1"/>
          <p:nvPr/>
        </p:nvSpPr>
        <p:spPr>
          <a:xfrm>
            <a:off x="3058430" y="5898183"/>
            <a:ext cx="2058895" cy="369332"/>
          </a:xfrm>
          <a:prstGeom prst="rect">
            <a:avLst/>
          </a:prstGeom>
          <a:noFill/>
        </p:spPr>
        <p:txBody>
          <a:bodyPr wrap="square" rtlCol="0">
            <a:spAutoFit/>
          </a:bodyPr>
          <a:lstStyle/>
          <a:p>
            <a:r>
              <a:rPr lang="en-US" dirty="0" smtClean="0"/>
              <a:t>DC- Nodes</a:t>
            </a:r>
            <a:endParaRPr lang="sv-SE" dirty="0"/>
          </a:p>
        </p:txBody>
      </p:sp>
      <p:sp>
        <p:nvSpPr>
          <p:cNvPr id="18" name="Oval 17"/>
          <p:cNvSpPr/>
          <p:nvPr/>
        </p:nvSpPr>
        <p:spPr>
          <a:xfrm>
            <a:off x="2826953" y="6338839"/>
            <a:ext cx="214823" cy="191247"/>
          </a:xfrm>
          <a:prstGeom prst="ellipse">
            <a:avLst/>
          </a:prstGeom>
          <a:solidFill>
            <a:srgbClr val="FF0000"/>
          </a:solidFill>
          <a:ln>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TextBox 18"/>
          <p:cNvSpPr txBox="1"/>
          <p:nvPr/>
        </p:nvSpPr>
        <p:spPr>
          <a:xfrm>
            <a:off x="3078977" y="6290439"/>
            <a:ext cx="2058895" cy="369332"/>
          </a:xfrm>
          <a:prstGeom prst="rect">
            <a:avLst/>
          </a:prstGeom>
          <a:noFill/>
        </p:spPr>
        <p:txBody>
          <a:bodyPr wrap="square" rtlCol="0">
            <a:spAutoFit/>
          </a:bodyPr>
          <a:lstStyle/>
          <a:p>
            <a:r>
              <a:rPr lang="en-US" dirty="0" smtClean="0"/>
              <a:t>DC+ Nodes</a:t>
            </a:r>
            <a:endParaRPr lang="sv-SE" dirty="0"/>
          </a:p>
        </p:txBody>
      </p:sp>
      <p:sp>
        <p:nvSpPr>
          <p:cNvPr id="20" name="TextBox 19"/>
          <p:cNvSpPr txBox="1"/>
          <p:nvPr/>
        </p:nvSpPr>
        <p:spPr>
          <a:xfrm>
            <a:off x="3058430" y="3268146"/>
            <a:ext cx="483622" cy="369332"/>
          </a:xfrm>
          <a:prstGeom prst="rect">
            <a:avLst/>
          </a:prstGeom>
          <a:noFill/>
        </p:spPr>
        <p:txBody>
          <a:bodyPr wrap="square" rtlCol="0">
            <a:spAutoFit/>
          </a:bodyPr>
          <a:lstStyle/>
          <a:p>
            <a:r>
              <a:rPr lang="sv-SE" dirty="0" smtClean="0"/>
              <a:t>C1</a:t>
            </a:r>
            <a:endParaRPr lang="sv-SE" dirty="0"/>
          </a:p>
        </p:txBody>
      </p:sp>
      <p:sp>
        <p:nvSpPr>
          <p:cNvPr id="21" name="TextBox 20"/>
          <p:cNvSpPr txBox="1"/>
          <p:nvPr/>
        </p:nvSpPr>
        <p:spPr>
          <a:xfrm>
            <a:off x="1566231" y="3268146"/>
            <a:ext cx="483622" cy="369332"/>
          </a:xfrm>
          <a:prstGeom prst="rect">
            <a:avLst/>
          </a:prstGeom>
          <a:noFill/>
        </p:spPr>
        <p:txBody>
          <a:bodyPr wrap="square" rtlCol="0">
            <a:spAutoFit/>
          </a:bodyPr>
          <a:lstStyle/>
          <a:p>
            <a:r>
              <a:rPr lang="sv-SE" dirty="0" smtClean="0"/>
              <a:t>C2</a:t>
            </a:r>
            <a:endParaRPr lang="sv-SE" dirty="0"/>
          </a:p>
        </p:txBody>
      </p:sp>
      <p:sp>
        <p:nvSpPr>
          <p:cNvPr id="22" name="TextBox 21"/>
          <p:cNvSpPr txBox="1"/>
          <p:nvPr/>
        </p:nvSpPr>
        <p:spPr>
          <a:xfrm>
            <a:off x="1550771" y="1789774"/>
            <a:ext cx="483622" cy="369332"/>
          </a:xfrm>
          <a:prstGeom prst="rect">
            <a:avLst/>
          </a:prstGeom>
          <a:noFill/>
        </p:spPr>
        <p:txBody>
          <a:bodyPr wrap="square" rtlCol="0">
            <a:spAutoFit/>
          </a:bodyPr>
          <a:lstStyle/>
          <a:p>
            <a:r>
              <a:rPr lang="sv-SE" dirty="0" smtClean="0"/>
              <a:t>C3</a:t>
            </a:r>
            <a:endParaRPr lang="sv-SE" dirty="0"/>
          </a:p>
        </p:txBody>
      </p:sp>
      <p:sp>
        <p:nvSpPr>
          <p:cNvPr id="23" name="TextBox 22"/>
          <p:cNvSpPr txBox="1"/>
          <p:nvPr/>
        </p:nvSpPr>
        <p:spPr>
          <a:xfrm>
            <a:off x="3034090" y="1789774"/>
            <a:ext cx="507962" cy="369332"/>
          </a:xfrm>
          <a:prstGeom prst="rect">
            <a:avLst/>
          </a:prstGeom>
          <a:noFill/>
        </p:spPr>
        <p:txBody>
          <a:bodyPr wrap="square" rtlCol="0">
            <a:spAutoFit/>
          </a:bodyPr>
          <a:lstStyle/>
          <a:p>
            <a:r>
              <a:rPr lang="sv-SE" dirty="0" smtClean="0"/>
              <a:t>C4</a:t>
            </a:r>
            <a:endParaRPr lang="sv-SE" dirty="0"/>
          </a:p>
        </p:txBody>
      </p:sp>
      <p:pic>
        <p:nvPicPr>
          <p:cNvPr id="24" name="Picture 23"/>
          <p:cNvPicPr>
            <a:picLocks noChangeAspect="1"/>
          </p:cNvPicPr>
          <p:nvPr/>
        </p:nvPicPr>
        <p:blipFill>
          <a:blip r:embed="rId3"/>
          <a:stretch>
            <a:fillRect/>
          </a:stretch>
        </p:blipFill>
        <p:spPr>
          <a:xfrm>
            <a:off x="5264419" y="1090304"/>
            <a:ext cx="5685867" cy="2545474"/>
          </a:xfrm>
          <a:prstGeom prst="rect">
            <a:avLst/>
          </a:prstGeom>
        </p:spPr>
      </p:pic>
      <p:sp>
        <p:nvSpPr>
          <p:cNvPr id="3" name="Rectangle 2"/>
          <p:cNvSpPr/>
          <p:nvPr/>
        </p:nvSpPr>
        <p:spPr>
          <a:xfrm>
            <a:off x="5876613" y="3723849"/>
            <a:ext cx="4410182"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Lumped Circuit Representation </a:t>
            </a:r>
            <a:r>
              <a:rPr lang="en-US" dirty="0" smtClean="0">
                <a:latin typeface="Times New Roman" panose="02020603050405020304" pitchFamily="18" charset="0"/>
                <a:cs typeface="Times New Roman" panose="02020603050405020304" pitchFamily="18" charset="0"/>
              </a:rPr>
              <a:t>for one phase</a:t>
            </a:r>
            <a:endParaRPr lang="sv-SE" dirty="0"/>
          </a:p>
        </p:txBody>
      </p:sp>
      <p:sp>
        <p:nvSpPr>
          <p:cNvPr id="25" name="TextBox 24"/>
          <p:cNvSpPr txBox="1"/>
          <p:nvPr/>
        </p:nvSpPr>
        <p:spPr>
          <a:xfrm>
            <a:off x="5589221" y="4093181"/>
            <a:ext cx="5233693" cy="1477328"/>
          </a:xfrm>
          <a:prstGeom prst="rect">
            <a:avLst/>
          </a:prstGeom>
          <a:noFill/>
        </p:spPr>
        <p:txBody>
          <a:bodyPr wrap="square" rtlCol="0">
            <a:spAutoFit/>
          </a:bodyPr>
          <a:lstStyle/>
          <a:p>
            <a:pPr marL="285750" indent="-285750">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20 inductance values (and mutual inductances between them</a:t>
            </a:r>
            <a:r>
              <a:rPr lang="en-US"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Q3D Extractor can give the equivalent impedance between </a:t>
            </a:r>
            <a:r>
              <a:rPr lang="en-US" dirty="0" smtClean="0">
                <a:latin typeface="Times New Roman" panose="02020603050405020304" pitchFamily="18" charset="0"/>
                <a:cs typeface="Times New Roman" panose="02020603050405020304" pitchFamily="18" charset="0"/>
              </a:rPr>
              <a:t>one sink and multiple sources. </a:t>
            </a:r>
          </a:p>
          <a:p>
            <a:pPr marL="285750" indent="-285750">
              <a:buFont typeface="Arial" panose="020B0604020202020204" pitchFamily="34" charset="0"/>
              <a:buChar char="•"/>
            </a:pPr>
            <a:endParaRPr lang="en-US" dirty="0" smtClean="0">
              <a:latin typeface="Times New Roman" panose="02020603050405020304" pitchFamily="18" charset="0"/>
              <a:cs typeface="Times New Roman" panose="02020603050405020304" pitchFamily="18" charset="0"/>
            </a:endParaRPr>
          </a:p>
        </p:txBody>
      </p:sp>
      <p:pic>
        <p:nvPicPr>
          <p:cNvPr id="26" name="Picture 25"/>
          <p:cNvPicPr>
            <a:picLocks noChangeAspect="1"/>
          </p:cNvPicPr>
          <p:nvPr/>
        </p:nvPicPr>
        <p:blipFill>
          <a:blip r:embed="rId4"/>
          <a:stretch>
            <a:fillRect/>
          </a:stretch>
        </p:blipFill>
        <p:spPr>
          <a:xfrm>
            <a:off x="4695594" y="5350600"/>
            <a:ext cx="4881656" cy="1464497"/>
          </a:xfrm>
          <a:prstGeom prst="rect">
            <a:avLst/>
          </a:prstGeom>
        </p:spPr>
      </p:pic>
      <p:sp>
        <p:nvSpPr>
          <p:cNvPr id="27" name="TextBox 26"/>
          <p:cNvSpPr txBox="1"/>
          <p:nvPr/>
        </p:nvSpPr>
        <p:spPr>
          <a:xfrm>
            <a:off x="9641027" y="5539804"/>
            <a:ext cx="2479086" cy="923330"/>
          </a:xfrm>
          <a:prstGeom prst="rect">
            <a:avLst/>
          </a:prstGeom>
          <a:noFill/>
        </p:spPr>
        <p:txBody>
          <a:bodyPr wrap="square" rtlCol="0">
            <a:spAutoFit/>
          </a:bodyPr>
          <a:lstStyle/>
          <a:p>
            <a:pPr algn="ctr"/>
            <a:r>
              <a:rPr lang="sv-SE" dirty="0" err="1" smtClean="0"/>
              <a:t>Stray</a:t>
            </a:r>
            <a:r>
              <a:rPr lang="sv-SE" dirty="0" smtClean="0"/>
              <a:t> </a:t>
            </a:r>
            <a:r>
              <a:rPr lang="sv-SE" dirty="0" err="1" smtClean="0"/>
              <a:t>inductance</a:t>
            </a:r>
            <a:r>
              <a:rPr lang="sv-SE" dirty="0" smtClean="0"/>
              <a:t> inside the </a:t>
            </a:r>
            <a:r>
              <a:rPr lang="sv-SE" dirty="0" err="1" smtClean="0"/>
              <a:t>modules</a:t>
            </a:r>
            <a:r>
              <a:rPr lang="sv-SE" dirty="0" smtClean="0"/>
              <a:t> is </a:t>
            </a:r>
            <a:r>
              <a:rPr lang="sv-SE" dirty="0" err="1" smtClean="0"/>
              <a:t>considerably</a:t>
            </a:r>
            <a:r>
              <a:rPr lang="sv-SE" dirty="0" smtClean="0"/>
              <a:t> </a:t>
            </a:r>
            <a:r>
              <a:rPr lang="sv-SE" dirty="0" err="1" smtClean="0"/>
              <a:t>high</a:t>
            </a:r>
            <a:r>
              <a:rPr lang="sv-SE" dirty="0" smtClean="0"/>
              <a:t>. </a:t>
            </a:r>
            <a:endParaRPr lang="sv-SE" dirty="0"/>
          </a:p>
        </p:txBody>
      </p:sp>
    </p:spTree>
    <p:extLst>
      <p:ext uri="{BB962C8B-B14F-4D97-AF65-F5344CB8AC3E}">
        <p14:creationId xmlns:p14="http://schemas.microsoft.com/office/powerpoint/2010/main" val="41234365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2216" y="252950"/>
            <a:ext cx="10990263" cy="568412"/>
          </a:xfrm>
        </p:spPr>
        <p:txBody>
          <a:bodyPr/>
          <a:lstStyle/>
          <a:p>
            <a:r>
              <a:rPr lang="en-US" dirty="0" smtClean="0">
                <a:latin typeface="Times New Roman" panose="02020603050405020304" pitchFamily="18" charset="0"/>
                <a:cs typeface="Times New Roman" panose="02020603050405020304" pitchFamily="18" charset="0"/>
              </a:rPr>
              <a:t>Impedance Model</a:t>
            </a:r>
            <a:endParaRPr lang="sv-SE"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graphicFrame>
            <p:nvGraphicFramePr>
              <p:cNvPr id="3" name="Table 2"/>
              <p:cNvGraphicFramePr>
                <a:graphicFrameLocks noGrp="1"/>
              </p:cNvGraphicFramePr>
              <p:nvPr>
                <p:extLst>
                  <p:ext uri="{D42A27DB-BD31-4B8C-83A1-F6EECF244321}">
                    <p14:modId xmlns:p14="http://schemas.microsoft.com/office/powerpoint/2010/main" val="4251438957"/>
                  </p:ext>
                </p:extLst>
              </p:nvPr>
            </p:nvGraphicFramePr>
            <p:xfrm>
              <a:off x="1912641" y="1243723"/>
              <a:ext cx="8128000" cy="184912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78631582"/>
                        </a:ext>
                      </a:extLst>
                    </a:gridCol>
                    <a:gridCol w="2032000">
                      <a:extLst>
                        <a:ext uri="{9D8B030D-6E8A-4147-A177-3AD203B41FA5}">
                          <a16:colId xmlns:a16="http://schemas.microsoft.com/office/drawing/2014/main" val="844494951"/>
                        </a:ext>
                      </a:extLst>
                    </a:gridCol>
                    <a:gridCol w="2032000">
                      <a:extLst>
                        <a:ext uri="{9D8B030D-6E8A-4147-A177-3AD203B41FA5}">
                          <a16:colId xmlns:a16="http://schemas.microsoft.com/office/drawing/2014/main" val="3775262176"/>
                        </a:ext>
                      </a:extLst>
                    </a:gridCol>
                    <a:gridCol w="2032000">
                      <a:extLst>
                        <a:ext uri="{9D8B030D-6E8A-4147-A177-3AD203B41FA5}">
                          <a16:colId xmlns:a16="http://schemas.microsoft.com/office/drawing/2014/main" val="3461459550"/>
                        </a:ext>
                      </a:extLst>
                    </a:gridCol>
                  </a:tblGrid>
                  <a:tr h="0">
                    <a:tc>
                      <a:txBody>
                        <a:bodyPr/>
                        <a:lstStyle/>
                        <a:p>
                          <a:endParaRPr lang="sv-SE" dirty="0"/>
                        </a:p>
                      </a:txBody>
                      <a:tcPr/>
                    </a:tc>
                    <a:tc>
                      <a:txBody>
                        <a:bodyPr/>
                        <a:lstStyle/>
                        <a:p>
                          <a:r>
                            <a:rPr lang="en-US" dirty="0" smtClean="0"/>
                            <a:t>Leg</a:t>
                          </a:r>
                          <a:r>
                            <a:rPr lang="en-US" baseline="0" dirty="0" smtClean="0"/>
                            <a:t> A</a:t>
                          </a:r>
                          <a:endParaRPr lang="sv-S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Leg</a:t>
                          </a:r>
                          <a:r>
                            <a:rPr lang="en-US" baseline="0" dirty="0" smtClean="0"/>
                            <a:t> B</a:t>
                          </a:r>
                          <a:endParaRPr lang="sv-S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Leg</a:t>
                          </a:r>
                          <a:r>
                            <a:rPr lang="en-US" baseline="0" dirty="0" smtClean="0"/>
                            <a:t> C</a:t>
                          </a:r>
                          <a:endParaRPr lang="sv-SE" dirty="0" smtClean="0"/>
                        </a:p>
                      </a:txBody>
                      <a:tcPr/>
                    </a:tc>
                    <a:extLst>
                      <a:ext uri="{0D108BD9-81ED-4DB2-BD59-A6C34878D82A}">
                        <a16:rowId xmlns:a16="http://schemas.microsoft.com/office/drawing/2014/main" val="3784776413"/>
                      </a:ext>
                    </a:extLst>
                  </a:tr>
                  <a:tr h="370840">
                    <a:tc>
                      <a:txBody>
                        <a:bodyPr/>
                        <a:lstStyle/>
                        <a:p>
                          <a:r>
                            <a:rPr lang="en-US" dirty="0" smtClean="0"/>
                            <a:t>Capacitor-1</a:t>
                          </a:r>
                          <a:endParaRPr lang="sv-S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1</m:t>
                                    </m:r>
                                    <m:r>
                                      <a:rPr lang="en-US" b="0" i="1" smtClean="0">
                                        <a:latin typeface="Cambria Math" panose="02040503050406030204" pitchFamily="18" charset="0"/>
                                      </a:rPr>
                                      <m:t>𝐴</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1</m:t>
                                    </m:r>
                                    <m:r>
                                      <a:rPr lang="en-US" b="0" i="1" smtClean="0">
                                        <a:latin typeface="Cambria Math" panose="02040503050406030204" pitchFamily="18" charset="0"/>
                                      </a:rPr>
                                      <m:t>𝐵</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1</m:t>
                                    </m:r>
                                    <m:r>
                                      <a:rPr lang="en-US" b="0" i="1" smtClean="0">
                                        <a:latin typeface="Cambria Math" panose="02040503050406030204" pitchFamily="18" charset="0"/>
                                      </a:rPr>
                                      <m:t>𝐶</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extLst>
                      <a:ext uri="{0D108BD9-81ED-4DB2-BD59-A6C34878D82A}">
                        <a16:rowId xmlns:a16="http://schemas.microsoft.com/office/drawing/2014/main" val="330419332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Capacitor-2</a:t>
                          </a:r>
                          <a:endParaRPr lang="sv-S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2</m:t>
                                    </m:r>
                                    <m:r>
                                      <a:rPr lang="en-US" b="0" i="1" smtClean="0">
                                        <a:latin typeface="Cambria Math" panose="02040503050406030204" pitchFamily="18" charset="0"/>
                                      </a:rPr>
                                      <m:t>𝐴</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2</m:t>
                                    </m:r>
                                    <m:r>
                                      <a:rPr lang="en-US" b="0" i="1" smtClean="0">
                                        <a:latin typeface="Cambria Math" panose="02040503050406030204" pitchFamily="18" charset="0"/>
                                      </a:rPr>
                                      <m:t>𝐵</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2</m:t>
                                    </m:r>
                                    <m:r>
                                      <a:rPr lang="en-US" b="0" i="1" smtClean="0">
                                        <a:latin typeface="Cambria Math" panose="02040503050406030204" pitchFamily="18" charset="0"/>
                                      </a:rPr>
                                      <m:t>𝐶</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extLst>
                      <a:ext uri="{0D108BD9-81ED-4DB2-BD59-A6C34878D82A}">
                        <a16:rowId xmlns:a16="http://schemas.microsoft.com/office/drawing/2014/main" val="90424896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Capacitor-3</a:t>
                          </a:r>
                          <a:endParaRPr lang="sv-S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3</m:t>
                                    </m:r>
                                    <m:r>
                                      <a:rPr lang="en-US" b="0" i="1" smtClean="0">
                                        <a:latin typeface="Cambria Math" panose="02040503050406030204" pitchFamily="18" charset="0"/>
                                      </a:rPr>
                                      <m:t>𝐴</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3</m:t>
                                    </m:r>
                                    <m:r>
                                      <a:rPr lang="en-US" b="0" i="1" smtClean="0">
                                        <a:latin typeface="Cambria Math" panose="02040503050406030204" pitchFamily="18" charset="0"/>
                                      </a:rPr>
                                      <m:t>𝐵</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3</m:t>
                                    </m:r>
                                    <m:r>
                                      <a:rPr lang="en-US" b="0" i="1" smtClean="0">
                                        <a:latin typeface="Cambria Math" panose="02040503050406030204" pitchFamily="18" charset="0"/>
                                      </a:rPr>
                                      <m:t>𝐶</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extLst>
                      <a:ext uri="{0D108BD9-81ED-4DB2-BD59-A6C34878D82A}">
                        <a16:rowId xmlns:a16="http://schemas.microsoft.com/office/drawing/2014/main" val="200599621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Capacitor-4</a:t>
                          </a:r>
                          <a:endParaRPr lang="sv-S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4</m:t>
                                    </m:r>
                                    <m:r>
                                      <a:rPr lang="tr-TR" b="0" i="1" smtClean="0">
                                        <a:latin typeface="Cambria Math" panose="02040503050406030204" pitchFamily="18" charset="0"/>
                                      </a:rPr>
                                      <m:t>𝐴</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4</m:t>
                                    </m:r>
                                    <m:r>
                                      <a:rPr lang="en-US" b="0" i="1" smtClean="0">
                                        <a:latin typeface="Cambria Math" panose="02040503050406030204" pitchFamily="18" charset="0"/>
                                      </a:rPr>
                                      <m:t>𝐵</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4</m:t>
                                    </m:r>
                                    <m:r>
                                      <a:rPr lang="en-US" b="0" i="1" smtClean="0">
                                        <a:latin typeface="Cambria Math" panose="02040503050406030204" pitchFamily="18" charset="0"/>
                                      </a:rPr>
                                      <m:t>𝐶</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extLst>
                      <a:ext uri="{0D108BD9-81ED-4DB2-BD59-A6C34878D82A}">
                        <a16:rowId xmlns:a16="http://schemas.microsoft.com/office/drawing/2014/main" val="1700131790"/>
                      </a:ext>
                    </a:extLst>
                  </a:tr>
                </a:tbl>
              </a:graphicData>
            </a:graphic>
          </p:graphicFrame>
        </mc:Choice>
        <mc:Fallback>
          <p:graphicFrame>
            <p:nvGraphicFramePr>
              <p:cNvPr id="3" name="Table 2"/>
              <p:cNvGraphicFramePr>
                <a:graphicFrameLocks noGrp="1"/>
              </p:cNvGraphicFramePr>
              <p:nvPr>
                <p:extLst>
                  <p:ext uri="{D42A27DB-BD31-4B8C-83A1-F6EECF244321}">
                    <p14:modId xmlns:p14="http://schemas.microsoft.com/office/powerpoint/2010/main" val="4251438957"/>
                  </p:ext>
                </p:extLst>
              </p:nvPr>
            </p:nvGraphicFramePr>
            <p:xfrm>
              <a:off x="1912641" y="1243723"/>
              <a:ext cx="8128000" cy="184912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78631582"/>
                        </a:ext>
                      </a:extLst>
                    </a:gridCol>
                    <a:gridCol w="2032000">
                      <a:extLst>
                        <a:ext uri="{9D8B030D-6E8A-4147-A177-3AD203B41FA5}">
                          <a16:colId xmlns:a16="http://schemas.microsoft.com/office/drawing/2014/main" val="844494951"/>
                        </a:ext>
                      </a:extLst>
                    </a:gridCol>
                    <a:gridCol w="2032000">
                      <a:extLst>
                        <a:ext uri="{9D8B030D-6E8A-4147-A177-3AD203B41FA5}">
                          <a16:colId xmlns:a16="http://schemas.microsoft.com/office/drawing/2014/main" val="3775262176"/>
                        </a:ext>
                      </a:extLst>
                    </a:gridCol>
                    <a:gridCol w="2032000">
                      <a:extLst>
                        <a:ext uri="{9D8B030D-6E8A-4147-A177-3AD203B41FA5}">
                          <a16:colId xmlns:a16="http://schemas.microsoft.com/office/drawing/2014/main" val="3461459550"/>
                        </a:ext>
                      </a:extLst>
                    </a:gridCol>
                  </a:tblGrid>
                  <a:tr h="365760">
                    <a:tc>
                      <a:txBody>
                        <a:bodyPr/>
                        <a:lstStyle/>
                        <a:p>
                          <a:endParaRPr lang="sv-SE" dirty="0"/>
                        </a:p>
                      </a:txBody>
                      <a:tcPr/>
                    </a:tc>
                    <a:tc>
                      <a:txBody>
                        <a:bodyPr/>
                        <a:lstStyle/>
                        <a:p>
                          <a:r>
                            <a:rPr lang="en-US" dirty="0" smtClean="0"/>
                            <a:t>Leg</a:t>
                          </a:r>
                          <a:r>
                            <a:rPr lang="en-US" baseline="0" dirty="0" smtClean="0"/>
                            <a:t> A</a:t>
                          </a:r>
                          <a:endParaRPr lang="sv-S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Leg</a:t>
                          </a:r>
                          <a:r>
                            <a:rPr lang="en-US" baseline="0" dirty="0" smtClean="0"/>
                            <a:t> B</a:t>
                          </a:r>
                          <a:endParaRPr lang="sv-S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Leg</a:t>
                          </a:r>
                          <a:r>
                            <a:rPr lang="en-US" baseline="0" dirty="0" smtClean="0"/>
                            <a:t> C</a:t>
                          </a:r>
                          <a:endParaRPr lang="sv-SE" dirty="0" smtClean="0"/>
                        </a:p>
                      </a:txBody>
                      <a:tcPr/>
                    </a:tc>
                    <a:extLst>
                      <a:ext uri="{0D108BD9-81ED-4DB2-BD59-A6C34878D82A}">
                        <a16:rowId xmlns:a16="http://schemas.microsoft.com/office/drawing/2014/main" val="3784776413"/>
                      </a:ext>
                    </a:extLst>
                  </a:tr>
                  <a:tr h="370840">
                    <a:tc>
                      <a:txBody>
                        <a:bodyPr/>
                        <a:lstStyle/>
                        <a:p>
                          <a:r>
                            <a:rPr lang="en-US" dirty="0" smtClean="0"/>
                            <a:t>Capacitor-1</a:t>
                          </a:r>
                          <a:endParaRPr lang="sv-SE" dirty="0"/>
                        </a:p>
                      </a:txBody>
                      <a:tcPr/>
                    </a:tc>
                    <a:tc>
                      <a:txBody>
                        <a:bodyPr/>
                        <a:lstStyle/>
                        <a:p>
                          <a:endParaRPr lang="sv-SE"/>
                        </a:p>
                      </a:txBody>
                      <a:tcPr>
                        <a:blipFill>
                          <a:blip r:embed="rId2"/>
                          <a:stretch>
                            <a:fillRect l="-100299" t="-106557" r="-200898" b="-324590"/>
                          </a:stretch>
                        </a:blipFill>
                      </a:tcPr>
                    </a:tc>
                    <a:tc>
                      <a:txBody>
                        <a:bodyPr/>
                        <a:lstStyle/>
                        <a:p>
                          <a:endParaRPr lang="sv-SE"/>
                        </a:p>
                      </a:txBody>
                      <a:tcPr>
                        <a:blipFill>
                          <a:blip r:embed="rId2"/>
                          <a:stretch>
                            <a:fillRect l="-200901" t="-106557" r="-101502" b="-324590"/>
                          </a:stretch>
                        </a:blipFill>
                      </a:tcPr>
                    </a:tc>
                    <a:tc>
                      <a:txBody>
                        <a:bodyPr/>
                        <a:lstStyle/>
                        <a:p>
                          <a:endParaRPr lang="sv-SE"/>
                        </a:p>
                      </a:txBody>
                      <a:tcPr>
                        <a:blipFill>
                          <a:blip r:embed="rId2"/>
                          <a:stretch>
                            <a:fillRect l="-300000" t="-106557" r="-1198" b="-324590"/>
                          </a:stretch>
                        </a:blipFill>
                      </a:tcPr>
                    </a:tc>
                    <a:extLst>
                      <a:ext uri="{0D108BD9-81ED-4DB2-BD59-A6C34878D82A}">
                        <a16:rowId xmlns:a16="http://schemas.microsoft.com/office/drawing/2014/main" val="330419332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Capacitor-2</a:t>
                          </a:r>
                          <a:endParaRPr lang="sv-SE" dirty="0" smtClean="0"/>
                        </a:p>
                      </a:txBody>
                      <a:tcPr/>
                    </a:tc>
                    <a:tc>
                      <a:txBody>
                        <a:bodyPr/>
                        <a:lstStyle/>
                        <a:p>
                          <a:endParaRPr lang="sv-SE"/>
                        </a:p>
                      </a:txBody>
                      <a:tcPr>
                        <a:blipFill>
                          <a:blip r:embed="rId2"/>
                          <a:stretch>
                            <a:fillRect l="-100299" t="-206557" r="-200898" b="-224590"/>
                          </a:stretch>
                        </a:blipFill>
                      </a:tcPr>
                    </a:tc>
                    <a:tc>
                      <a:txBody>
                        <a:bodyPr/>
                        <a:lstStyle/>
                        <a:p>
                          <a:endParaRPr lang="sv-SE"/>
                        </a:p>
                      </a:txBody>
                      <a:tcPr>
                        <a:blipFill>
                          <a:blip r:embed="rId2"/>
                          <a:stretch>
                            <a:fillRect l="-200901" t="-206557" r="-101502" b="-224590"/>
                          </a:stretch>
                        </a:blipFill>
                      </a:tcPr>
                    </a:tc>
                    <a:tc>
                      <a:txBody>
                        <a:bodyPr/>
                        <a:lstStyle/>
                        <a:p>
                          <a:endParaRPr lang="sv-SE"/>
                        </a:p>
                      </a:txBody>
                      <a:tcPr>
                        <a:blipFill>
                          <a:blip r:embed="rId2"/>
                          <a:stretch>
                            <a:fillRect l="-300000" t="-206557" r="-1198" b="-224590"/>
                          </a:stretch>
                        </a:blipFill>
                      </a:tcPr>
                    </a:tc>
                    <a:extLst>
                      <a:ext uri="{0D108BD9-81ED-4DB2-BD59-A6C34878D82A}">
                        <a16:rowId xmlns:a16="http://schemas.microsoft.com/office/drawing/2014/main" val="90424896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Capacitor-3</a:t>
                          </a:r>
                          <a:endParaRPr lang="sv-SE" dirty="0" smtClean="0"/>
                        </a:p>
                      </a:txBody>
                      <a:tcPr/>
                    </a:tc>
                    <a:tc>
                      <a:txBody>
                        <a:bodyPr/>
                        <a:lstStyle/>
                        <a:p>
                          <a:endParaRPr lang="sv-SE"/>
                        </a:p>
                      </a:txBody>
                      <a:tcPr>
                        <a:blipFill>
                          <a:blip r:embed="rId2"/>
                          <a:stretch>
                            <a:fillRect l="-100299" t="-306557" r="-200898" b="-124590"/>
                          </a:stretch>
                        </a:blipFill>
                      </a:tcPr>
                    </a:tc>
                    <a:tc>
                      <a:txBody>
                        <a:bodyPr/>
                        <a:lstStyle/>
                        <a:p>
                          <a:endParaRPr lang="sv-SE"/>
                        </a:p>
                      </a:txBody>
                      <a:tcPr>
                        <a:blipFill>
                          <a:blip r:embed="rId2"/>
                          <a:stretch>
                            <a:fillRect l="-200901" t="-306557" r="-101502" b="-124590"/>
                          </a:stretch>
                        </a:blipFill>
                      </a:tcPr>
                    </a:tc>
                    <a:tc>
                      <a:txBody>
                        <a:bodyPr/>
                        <a:lstStyle/>
                        <a:p>
                          <a:endParaRPr lang="sv-SE"/>
                        </a:p>
                      </a:txBody>
                      <a:tcPr>
                        <a:blipFill>
                          <a:blip r:embed="rId2"/>
                          <a:stretch>
                            <a:fillRect l="-300000" t="-306557" r="-1198" b="-124590"/>
                          </a:stretch>
                        </a:blipFill>
                      </a:tcPr>
                    </a:tc>
                    <a:extLst>
                      <a:ext uri="{0D108BD9-81ED-4DB2-BD59-A6C34878D82A}">
                        <a16:rowId xmlns:a16="http://schemas.microsoft.com/office/drawing/2014/main" val="200599621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Capacitor-4</a:t>
                          </a:r>
                          <a:endParaRPr lang="sv-SE" dirty="0" smtClean="0"/>
                        </a:p>
                      </a:txBody>
                      <a:tcPr/>
                    </a:tc>
                    <a:tc>
                      <a:txBody>
                        <a:bodyPr/>
                        <a:lstStyle/>
                        <a:p>
                          <a:endParaRPr lang="sv-SE"/>
                        </a:p>
                      </a:txBody>
                      <a:tcPr>
                        <a:blipFill>
                          <a:blip r:embed="rId2"/>
                          <a:stretch>
                            <a:fillRect l="-100299" t="-406557" r="-200898" b="-24590"/>
                          </a:stretch>
                        </a:blipFill>
                      </a:tcPr>
                    </a:tc>
                    <a:tc>
                      <a:txBody>
                        <a:bodyPr/>
                        <a:lstStyle/>
                        <a:p>
                          <a:endParaRPr lang="sv-SE"/>
                        </a:p>
                      </a:txBody>
                      <a:tcPr>
                        <a:blipFill>
                          <a:blip r:embed="rId2"/>
                          <a:stretch>
                            <a:fillRect l="-200901" t="-406557" r="-101502" b="-24590"/>
                          </a:stretch>
                        </a:blipFill>
                      </a:tcPr>
                    </a:tc>
                    <a:tc>
                      <a:txBody>
                        <a:bodyPr/>
                        <a:lstStyle/>
                        <a:p>
                          <a:endParaRPr lang="sv-SE"/>
                        </a:p>
                      </a:txBody>
                      <a:tcPr>
                        <a:blipFill>
                          <a:blip r:embed="rId2"/>
                          <a:stretch>
                            <a:fillRect l="-300000" t="-406557" r="-1198" b="-24590"/>
                          </a:stretch>
                        </a:blipFill>
                      </a:tcPr>
                    </a:tc>
                    <a:extLst>
                      <a:ext uri="{0D108BD9-81ED-4DB2-BD59-A6C34878D82A}">
                        <a16:rowId xmlns:a16="http://schemas.microsoft.com/office/drawing/2014/main" val="1700131790"/>
                      </a:ext>
                    </a:extLst>
                  </a:tr>
                </a:tbl>
              </a:graphicData>
            </a:graphic>
          </p:graphicFrame>
        </mc:Fallback>
      </mc:AlternateContent>
      <p:sp>
        <p:nvSpPr>
          <p:cNvPr id="10" name="Rectangle 9">
            <a:extLst>
              <a:ext uri="{FF2B5EF4-FFF2-40B4-BE49-F238E27FC236}">
                <a16:creationId xmlns:a16="http://schemas.microsoft.com/office/drawing/2014/main" id="{5FD27746-BC71-497E-87F6-231B78DB66C2}"/>
              </a:ext>
            </a:extLst>
          </p:cNvPr>
          <p:cNvSpPr/>
          <p:nvPr/>
        </p:nvSpPr>
        <p:spPr>
          <a:xfrm>
            <a:off x="3147022" y="3162160"/>
            <a:ext cx="6286336" cy="646331"/>
          </a:xfrm>
          <a:prstGeom prst="rect">
            <a:avLst/>
          </a:prstGeom>
        </p:spPr>
        <p:txBody>
          <a:bodyPr wrap="none">
            <a:spAutoFit/>
          </a:bodyPr>
          <a:lstStyle/>
          <a:p>
            <a:r>
              <a:rPr lang="tr-TR" dirty="0" err="1">
                <a:latin typeface="Times New Roman" panose="02020603050405020304" pitchFamily="18" charset="0"/>
                <a:cs typeface="Times New Roman" panose="02020603050405020304" pitchFamily="18" charset="0"/>
              </a:rPr>
              <a:t>The</a:t>
            </a:r>
            <a:r>
              <a:rPr lang="tr-TR" dirty="0">
                <a:latin typeface="Times New Roman" panose="02020603050405020304" pitchFamily="18" charset="0"/>
                <a:cs typeface="Times New Roman" panose="02020603050405020304" pitchFamily="18" charset="0"/>
              </a:rPr>
              <a:t> </a:t>
            </a:r>
            <a:r>
              <a:rPr lang="tr-TR" dirty="0" err="1">
                <a:latin typeface="Times New Roman" panose="02020603050405020304" pitchFamily="18" charset="0"/>
                <a:cs typeface="Times New Roman" panose="02020603050405020304" pitchFamily="18" charset="0"/>
              </a:rPr>
              <a:t>response</a:t>
            </a:r>
            <a:r>
              <a:rPr lang="tr-TR" dirty="0">
                <a:latin typeface="Times New Roman" panose="02020603050405020304" pitchFamily="18" charset="0"/>
                <a:cs typeface="Times New Roman" panose="02020603050405020304" pitchFamily="18" charset="0"/>
              </a:rPr>
              <a:t> of </a:t>
            </a:r>
            <a:r>
              <a:rPr lang="tr-TR" dirty="0" err="1">
                <a:latin typeface="Times New Roman" panose="02020603050405020304" pitchFamily="18" charset="0"/>
                <a:cs typeface="Times New Roman" panose="02020603050405020304" pitchFamily="18" charset="0"/>
              </a:rPr>
              <a:t>capacitor</a:t>
            </a:r>
            <a:r>
              <a:rPr lang="tr-TR" dirty="0">
                <a:latin typeface="Times New Roman" panose="02020603050405020304" pitchFamily="18" charset="0"/>
                <a:cs typeface="Times New Roman" panose="02020603050405020304" pitchFamily="18" charset="0"/>
              </a:rPr>
              <a:t> A </a:t>
            </a:r>
            <a:r>
              <a:rPr lang="tr-TR" dirty="0" err="1">
                <a:latin typeface="Times New Roman" panose="02020603050405020304" pitchFamily="18" charset="0"/>
                <a:cs typeface="Times New Roman" panose="02020603050405020304" pitchFamily="18" charset="0"/>
              </a:rPr>
              <a:t>for</a:t>
            </a:r>
            <a:r>
              <a:rPr lang="tr-TR" dirty="0">
                <a:latin typeface="Times New Roman" panose="02020603050405020304" pitchFamily="18" charset="0"/>
                <a:cs typeface="Times New Roman" panose="02020603050405020304" pitchFamily="18" charset="0"/>
              </a:rPr>
              <a:t> </a:t>
            </a:r>
            <a:r>
              <a:rPr lang="tr-TR" dirty="0" err="1">
                <a:latin typeface="Times New Roman" panose="02020603050405020304" pitchFamily="18" charset="0"/>
                <a:cs typeface="Times New Roman" panose="02020603050405020304" pitchFamily="18" charset="0"/>
              </a:rPr>
              <a:t>each</a:t>
            </a:r>
            <a:r>
              <a:rPr lang="tr-TR" dirty="0">
                <a:latin typeface="Times New Roman" panose="02020603050405020304" pitchFamily="18" charset="0"/>
                <a:cs typeface="Times New Roman" panose="02020603050405020304" pitchFamily="18" charset="0"/>
              </a:rPr>
              <a:t> </a:t>
            </a:r>
            <a:r>
              <a:rPr lang="tr-TR" dirty="0" err="1">
                <a:latin typeface="Times New Roman" panose="02020603050405020304" pitchFamily="18" charset="0"/>
                <a:cs typeface="Times New Roman" panose="02020603050405020304" pitchFamily="18" charset="0"/>
              </a:rPr>
              <a:t>leg</a:t>
            </a:r>
            <a:r>
              <a:rPr lang="tr-TR" dirty="0">
                <a:latin typeface="Times New Roman" panose="02020603050405020304" pitchFamily="18" charset="0"/>
                <a:cs typeface="Times New Roman" panose="02020603050405020304" pitchFamily="18" charset="0"/>
              </a:rPr>
              <a:t> </a:t>
            </a:r>
            <a:r>
              <a:rPr lang="tr-TR" dirty="0" err="1">
                <a:latin typeface="Times New Roman" panose="02020603050405020304" pitchFamily="18" charset="0"/>
                <a:cs typeface="Times New Roman" panose="02020603050405020304" pitchFamily="18" charset="0"/>
              </a:rPr>
              <a:t>should</a:t>
            </a:r>
            <a:r>
              <a:rPr lang="tr-TR" dirty="0">
                <a:latin typeface="Times New Roman" panose="02020603050405020304" pitchFamily="18" charset="0"/>
                <a:cs typeface="Times New Roman" panose="02020603050405020304" pitchFamily="18" charset="0"/>
              </a:rPr>
              <a:t> be </a:t>
            </a:r>
            <a:r>
              <a:rPr lang="tr-TR" dirty="0" err="1">
                <a:latin typeface="Times New Roman" panose="02020603050405020304" pitchFamily="18" charset="0"/>
                <a:cs typeface="Times New Roman" panose="02020603050405020304" pitchFamily="18" charset="0"/>
              </a:rPr>
              <a:t>calculated</a:t>
            </a:r>
            <a:r>
              <a:rPr lang="tr-TR" dirty="0">
                <a:latin typeface="Times New Roman" panose="02020603050405020304" pitchFamily="18" charset="0"/>
                <a:cs typeface="Times New Roman" panose="02020603050405020304" pitchFamily="18" charset="0"/>
              </a:rPr>
              <a:t> as: </a:t>
            </a:r>
          </a:p>
          <a:p>
            <a:endParaRPr lang="en-US" dirty="0">
              <a:latin typeface="Times New Roman" panose="02020603050405020304" pitchFamily="18" charset="0"/>
              <a:cs typeface="Times New Roman" panose="02020603050405020304" pitchFamily="18" charset="0"/>
            </a:endParaRPr>
          </a:p>
        </p:txBody>
      </p:sp>
      <p:sp>
        <p:nvSpPr>
          <p:cNvPr id="4" name="TextBox 3"/>
          <p:cNvSpPr txBox="1"/>
          <p:nvPr/>
        </p:nvSpPr>
        <p:spPr>
          <a:xfrm>
            <a:off x="4327133" y="821362"/>
            <a:ext cx="4733365"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Step response of capacitors to each leg</a:t>
            </a:r>
            <a:endParaRPr lang="sv-SE"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2" name="Rectangle 11">
                <a:extLst>
                  <a:ext uri="{FF2B5EF4-FFF2-40B4-BE49-F238E27FC236}">
                    <a16:creationId xmlns:a16="http://schemas.microsoft.com/office/drawing/2014/main" id="{EA414EB2-1DD8-401E-96DE-5071FE225EAE}"/>
                  </a:ext>
                </a:extLst>
              </p:cNvPr>
              <p:cNvSpPr/>
              <p:nvPr/>
            </p:nvSpPr>
            <p:spPr>
              <a:xfrm>
                <a:off x="3109960" y="3613117"/>
                <a:ext cx="6323398" cy="390748"/>
              </a:xfrm>
              <a:prstGeom prst="rect">
                <a:avLst/>
              </a:prstGeom>
            </p:spPr>
            <p:txBody>
              <a:bodyPr wrap="none">
                <a:spAutoFit/>
              </a:bodyPr>
              <a:lstStyle/>
              <a:p>
                <a14:m>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𝐼</m:t>
                        </m:r>
                      </m:e>
                      <m:sub>
                        <m:r>
                          <a:rPr lang="tr-TR" b="0" i="1" smtClean="0">
                            <a:latin typeface="Cambria Math" panose="02040503050406030204" pitchFamily="18" charset="0"/>
                          </a:rPr>
                          <m:t>𝑐𝑎𝑝𝐴</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en-US"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𝑆</m:t>
                            </m:r>
                          </m:e>
                          <m:sub>
                            <m:r>
                              <a:rPr lang="tr-TR" b="0" i="1" smtClean="0">
                                <a:latin typeface="Cambria Math" panose="02040503050406030204" pitchFamily="18" charset="0"/>
                              </a:rPr>
                              <m:t>𝐴</m:t>
                            </m:r>
                          </m:sub>
                        </m:sSub>
                        <m:r>
                          <a:rPr lang="en-US"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𝐼</m:t>
                            </m:r>
                          </m:e>
                          <m:sub>
                            <m:r>
                              <a:rPr lang="tr-TR" b="0" i="1" smtClean="0">
                                <a:latin typeface="Cambria Math" panose="02040503050406030204" pitchFamily="18" charset="0"/>
                              </a:rPr>
                              <m:t>𝐴</m:t>
                            </m:r>
                          </m:sub>
                        </m:sSub>
                        <m:r>
                          <a:rPr lang="en-US" b="0" i="1" smtClean="0">
                            <a:latin typeface="Cambria Math" panose="02040503050406030204" pitchFamily="18" charset="0"/>
                          </a:rPr>
                          <m:t> )</m:t>
                        </m:r>
                        <m:r>
                          <a:rPr lang="tr-TR" b="0" i="1" smtClean="0">
                            <a:latin typeface="Cambria Math" panose="02040503050406030204" pitchFamily="18" charset="0"/>
                          </a:rPr>
                          <m:t>𝐻</m:t>
                        </m:r>
                      </m:e>
                      <m:sub>
                        <m:r>
                          <a:rPr lang="en-US" b="0" i="1" smtClean="0">
                            <a:latin typeface="Cambria Math" panose="02040503050406030204" pitchFamily="18" charset="0"/>
                          </a:rPr>
                          <m:t>1</m:t>
                        </m:r>
                        <m:r>
                          <a:rPr lang="tr-TR" b="0" i="1" smtClean="0">
                            <a:latin typeface="Cambria Math" panose="02040503050406030204" pitchFamily="18" charset="0"/>
                          </a:rPr>
                          <m:t>𝐴</m:t>
                        </m:r>
                      </m:sub>
                    </m:sSub>
                    <m:d>
                      <m:dPr>
                        <m:ctrlPr>
                          <a:rPr lang="tr-TR" b="0" i="1" smtClean="0">
                            <a:latin typeface="Cambria Math" panose="02040503050406030204" pitchFamily="18" charset="0"/>
                          </a:rPr>
                        </m:ctrlPr>
                      </m:dPr>
                      <m:e>
                        <m:r>
                          <a:rPr lang="tr-TR" b="0" i="1" smtClean="0">
                            <a:latin typeface="Cambria Math" panose="02040503050406030204" pitchFamily="18" charset="0"/>
                          </a:rPr>
                          <m:t>𝜔</m:t>
                        </m:r>
                      </m:e>
                    </m:d>
                    <m:r>
                      <a:rPr lang="tr-TR" b="0" i="0" smtClean="0">
                        <a:latin typeface="Cambria Math" panose="02040503050406030204" pitchFamily="18" charset="0"/>
                      </a:rPr>
                      <m:t>+</m:t>
                    </m:r>
                    <m:sSub>
                      <m:sSubPr>
                        <m:ctrlPr>
                          <a:rPr lang="tr-TR" i="1">
                            <a:latin typeface="Cambria Math" panose="02040503050406030204" pitchFamily="18" charset="0"/>
                          </a:rPr>
                        </m:ctrlPr>
                      </m:sSubPr>
                      <m:e>
                        <m:r>
                          <a:rPr lang="en-US"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𝑆</m:t>
                            </m:r>
                          </m:e>
                          <m:sub>
                            <m:r>
                              <a:rPr lang="en-US" b="0" i="1" smtClean="0">
                                <a:latin typeface="Cambria Math" panose="02040503050406030204" pitchFamily="18" charset="0"/>
                              </a:rPr>
                              <m:t>𝐵</m:t>
                            </m:r>
                          </m:sub>
                        </m:sSub>
                        <m:r>
                          <a:rPr lang="en-US"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𝐼</m:t>
                            </m:r>
                          </m:e>
                          <m:sub>
                            <m:r>
                              <a:rPr lang="en-US" b="0" i="1" smtClean="0">
                                <a:latin typeface="Cambria Math" panose="02040503050406030204" pitchFamily="18" charset="0"/>
                              </a:rPr>
                              <m:t>𝐵</m:t>
                            </m:r>
                          </m:sub>
                        </m:sSub>
                        <m:r>
                          <a:rPr lang="en-US" i="1">
                            <a:latin typeface="Cambria Math" panose="02040503050406030204" pitchFamily="18" charset="0"/>
                          </a:rPr>
                          <m:t> )</m:t>
                        </m:r>
                        <m:r>
                          <a:rPr lang="tr-TR" i="1">
                            <a:latin typeface="Cambria Math" panose="02040503050406030204" pitchFamily="18" charset="0"/>
                          </a:rPr>
                          <m:t>𝐻</m:t>
                        </m:r>
                      </m:e>
                      <m:sub>
                        <m:r>
                          <a:rPr lang="en-US" i="1">
                            <a:latin typeface="Cambria Math" panose="02040503050406030204" pitchFamily="18" charset="0"/>
                          </a:rPr>
                          <m:t>1</m:t>
                        </m:r>
                        <m:r>
                          <a:rPr lang="en-US" b="0" i="1" smtClean="0">
                            <a:latin typeface="Cambria Math" panose="02040503050406030204" pitchFamily="18" charset="0"/>
                          </a:rPr>
                          <m:t>𝐵</m:t>
                        </m:r>
                      </m:sub>
                    </m:sSub>
                    <m:d>
                      <m:dPr>
                        <m:ctrlPr>
                          <a:rPr lang="tr-TR" i="1">
                            <a:latin typeface="Cambria Math" panose="02040503050406030204" pitchFamily="18" charset="0"/>
                          </a:rPr>
                        </m:ctrlPr>
                      </m:dPr>
                      <m:e>
                        <m:r>
                          <a:rPr lang="tr-TR" i="1">
                            <a:latin typeface="Cambria Math" panose="02040503050406030204" pitchFamily="18" charset="0"/>
                          </a:rPr>
                          <m:t>𝜔</m:t>
                        </m:r>
                      </m:e>
                    </m:d>
                  </m:oMath>
                </a14:m>
                <a:r>
                  <a:rPr lang="en-US" dirty="0" smtClean="0"/>
                  <a:t>+</a:t>
                </a:r>
                <a14:m>
                  <m:oMath xmlns:m="http://schemas.openxmlformats.org/officeDocument/2006/math">
                    <m:sSub>
                      <m:sSubPr>
                        <m:ctrlPr>
                          <a:rPr lang="tr-TR" i="1">
                            <a:latin typeface="Cambria Math" panose="02040503050406030204" pitchFamily="18" charset="0"/>
                          </a:rPr>
                        </m:ctrlPr>
                      </m:sSubPr>
                      <m:e>
                        <m:r>
                          <a:rPr lang="en-US"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𝑆</m:t>
                            </m:r>
                          </m:e>
                          <m:sub>
                            <m:r>
                              <a:rPr lang="en-US" b="0" i="1" smtClean="0">
                                <a:latin typeface="Cambria Math" panose="02040503050406030204" pitchFamily="18" charset="0"/>
                              </a:rPr>
                              <m:t>𝐶</m:t>
                            </m:r>
                          </m:sub>
                        </m:sSub>
                        <m:r>
                          <a:rPr lang="en-US"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𝐼</m:t>
                            </m:r>
                          </m:e>
                          <m:sub>
                            <m:r>
                              <a:rPr lang="en-US" b="0" i="1" smtClean="0">
                                <a:latin typeface="Cambria Math" panose="02040503050406030204" pitchFamily="18" charset="0"/>
                              </a:rPr>
                              <m:t>𝐶</m:t>
                            </m:r>
                          </m:sub>
                        </m:sSub>
                        <m:r>
                          <a:rPr lang="en-US" i="1">
                            <a:latin typeface="Cambria Math" panose="02040503050406030204" pitchFamily="18" charset="0"/>
                          </a:rPr>
                          <m:t> )</m:t>
                        </m:r>
                        <m:r>
                          <a:rPr lang="tr-TR" i="1">
                            <a:latin typeface="Cambria Math" panose="02040503050406030204" pitchFamily="18" charset="0"/>
                          </a:rPr>
                          <m:t>𝐻</m:t>
                        </m:r>
                      </m:e>
                      <m:sub>
                        <m:r>
                          <a:rPr lang="en-US" i="1">
                            <a:latin typeface="Cambria Math" panose="02040503050406030204" pitchFamily="18" charset="0"/>
                          </a:rPr>
                          <m:t>1</m:t>
                        </m:r>
                        <m:r>
                          <a:rPr lang="en-US" b="0" i="1" smtClean="0">
                            <a:latin typeface="Cambria Math" panose="02040503050406030204" pitchFamily="18" charset="0"/>
                          </a:rPr>
                          <m:t>𝐶</m:t>
                        </m:r>
                      </m:sub>
                    </m:sSub>
                    <m:d>
                      <m:dPr>
                        <m:ctrlPr>
                          <a:rPr lang="tr-TR" i="1">
                            <a:latin typeface="Cambria Math" panose="02040503050406030204" pitchFamily="18" charset="0"/>
                          </a:rPr>
                        </m:ctrlPr>
                      </m:dPr>
                      <m:e>
                        <m:r>
                          <a:rPr lang="tr-TR" i="1">
                            <a:latin typeface="Cambria Math" panose="02040503050406030204" pitchFamily="18" charset="0"/>
                          </a:rPr>
                          <m:t>𝜔</m:t>
                        </m:r>
                      </m:e>
                    </m:d>
                  </m:oMath>
                </a14:m>
                <a:endParaRPr lang="en-US" dirty="0"/>
              </a:p>
            </p:txBody>
          </p:sp>
        </mc:Choice>
        <mc:Fallback>
          <p:sp>
            <p:nvSpPr>
              <p:cNvPr id="12" name="Rectangle 11">
                <a:extLst>
                  <a:ext uri="{FF2B5EF4-FFF2-40B4-BE49-F238E27FC236}">
                    <a16:creationId xmlns:a16="http://schemas.microsoft.com/office/drawing/2014/main" id="{EA414EB2-1DD8-401E-96DE-5071FE225EAE}"/>
                  </a:ext>
                </a:extLst>
              </p:cNvPr>
              <p:cNvSpPr>
                <a:spLocks noRot="1" noChangeAspect="1" noMove="1" noResize="1" noEditPoints="1" noAdjustHandles="1" noChangeArrowheads="1" noChangeShapeType="1" noTextEdit="1"/>
              </p:cNvSpPr>
              <p:nvPr/>
            </p:nvSpPr>
            <p:spPr>
              <a:xfrm>
                <a:off x="3109960" y="3613117"/>
                <a:ext cx="6323398" cy="390748"/>
              </a:xfrm>
              <a:prstGeom prst="rect">
                <a:avLst/>
              </a:prstGeom>
              <a:blipFill>
                <a:blip r:embed="rId3"/>
                <a:stretch>
                  <a:fillRect t="-9375" b="-18750"/>
                </a:stretch>
              </a:blipFill>
            </p:spPr>
            <p:txBody>
              <a:bodyPr/>
              <a:lstStyle/>
              <a:p>
                <a:r>
                  <a:rPr lang="sv-SE">
                    <a:noFill/>
                  </a:rPr>
                  <a:t> </a:t>
                </a:r>
              </a:p>
            </p:txBody>
          </p:sp>
        </mc:Fallback>
      </mc:AlternateContent>
      <p:pic>
        <p:nvPicPr>
          <p:cNvPr id="7" name="Picture 6"/>
          <p:cNvPicPr>
            <a:picLocks noChangeAspect="1"/>
          </p:cNvPicPr>
          <p:nvPr/>
        </p:nvPicPr>
        <p:blipFill>
          <a:blip r:embed="rId4"/>
          <a:stretch>
            <a:fillRect/>
          </a:stretch>
        </p:blipFill>
        <p:spPr>
          <a:xfrm>
            <a:off x="743901" y="4450366"/>
            <a:ext cx="3144328" cy="2358246"/>
          </a:xfrm>
          <a:prstGeom prst="rect">
            <a:avLst/>
          </a:prstGeom>
        </p:spPr>
      </p:pic>
      <p:sp>
        <p:nvSpPr>
          <p:cNvPr id="8" name="TextBox 7"/>
          <p:cNvSpPr txBox="1"/>
          <p:nvPr/>
        </p:nvSpPr>
        <p:spPr>
          <a:xfrm>
            <a:off x="680713" y="4259448"/>
            <a:ext cx="3583232" cy="369332"/>
          </a:xfrm>
          <a:prstGeom prst="rect">
            <a:avLst/>
          </a:prstGeom>
          <a:noFill/>
        </p:spPr>
        <p:txBody>
          <a:bodyPr wrap="square" rtlCol="0">
            <a:spAutoFit/>
          </a:bodyPr>
          <a:lstStyle/>
          <a:p>
            <a:r>
              <a:rPr lang="en-US" dirty="0" smtClean="0"/>
              <a:t>Capacitor Responses to Phase-A</a:t>
            </a:r>
            <a:endParaRPr lang="sv-SE" dirty="0"/>
          </a:p>
        </p:txBody>
      </p:sp>
      <p:pic>
        <p:nvPicPr>
          <p:cNvPr id="9" name="Picture 8"/>
          <p:cNvPicPr>
            <a:picLocks noChangeAspect="1"/>
          </p:cNvPicPr>
          <p:nvPr/>
        </p:nvPicPr>
        <p:blipFill>
          <a:blip r:embed="rId5"/>
          <a:stretch>
            <a:fillRect/>
          </a:stretch>
        </p:blipFill>
        <p:spPr>
          <a:xfrm>
            <a:off x="8222892" y="4489572"/>
            <a:ext cx="3096347" cy="2322260"/>
          </a:xfrm>
          <a:prstGeom prst="rect">
            <a:avLst/>
          </a:prstGeom>
        </p:spPr>
      </p:pic>
      <p:sp>
        <p:nvSpPr>
          <p:cNvPr id="11" name="TextBox 10"/>
          <p:cNvSpPr txBox="1"/>
          <p:nvPr/>
        </p:nvSpPr>
        <p:spPr>
          <a:xfrm>
            <a:off x="7945564" y="4233989"/>
            <a:ext cx="4695621" cy="369332"/>
          </a:xfrm>
          <a:prstGeom prst="rect">
            <a:avLst/>
          </a:prstGeom>
          <a:noFill/>
        </p:spPr>
        <p:txBody>
          <a:bodyPr wrap="square" rtlCol="0">
            <a:spAutoFit/>
          </a:bodyPr>
          <a:lstStyle/>
          <a:p>
            <a:r>
              <a:rPr lang="en-US" dirty="0" smtClean="0"/>
              <a:t>Capacitor-1 Response to all phases</a:t>
            </a:r>
            <a:endParaRPr lang="sv-SE" dirty="0"/>
          </a:p>
        </p:txBody>
      </p:sp>
    </p:spTree>
    <p:extLst>
      <p:ext uri="{BB962C8B-B14F-4D97-AF65-F5344CB8AC3E}">
        <p14:creationId xmlns:p14="http://schemas.microsoft.com/office/powerpoint/2010/main" val="34716771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2216" y="252950"/>
            <a:ext cx="10990263" cy="568412"/>
          </a:xfrm>
        </p:spPr>
        <p:txBody>
          <a:bodyPr/>
          <a:lstStyle/>
          <a:p>
            <a:r>
              <a:rPr lang="sv-SE" dirty="0" err="1" smtClean="0">
                <a:latin typeface="Times New Roman" panose="02020603050405020304" pitchFamily="18" charset="0"/>
                <a:cs typeface="Times New Roman" panose="02020603050405020304" pitchFamily="18" charset="0"/>
              </a:rPr>
              <a:t>What</a:t>
            </a:r>
            <a:r>
              <a:rPr lang="sv-SE" dirty="0" smtClean="0">
                <a:latin typeface="Times New Roman" panose="02020603050405020304" pitchFamily="18" charset="0"/>
                <a:cs typeface="Times New Roman" panose="02020603050405020304" pitchFamily="18" charset="0"/>
              </a:rPr>
              <a:t> do </a:t>
            </a:r>
            <a:r>
              <a:rPr lang="sv-SE" dirty="0" err="1" smtClean="0">
                <a:latin typeface="Times New Roman" panose="02020603050405020304" pitchFamily="18" charset="0"/>
                <a:cs typeface="Times New Roman" panose="02020603050405020304" pitchFamily="18" charset="0"/>
              </a:rPr>
              <a:t>we</a:t>
            </a:r>
            <a:r>
              <a:rPr lang="sv-SE" dirty="0" smtClean="0">
                <a:latin typeface="Times New Roman" panose="02020603050405020304" pitchFamily="18" charset="0"/>
                <a:cs typeface="Times New Roman" panose="02020603050405020304" pitchFamily="18" charset="0"/>
              </a:rPr>
              <a:t> </a:t>
            </a:r>
            <a:r>
              <a:rPr lang="sv-SE" dirty="0" err="1" smtClean="0">
                <a:latin typeface="Times New Roman" panose="02020603050405020304" pitchFamily="18" charset="0"/>
                <a:cs typeface="Times New Roman" panose="02020603050405020304" pitchFamily="18" charset="0"/>
              </a:rPr>
              <a:t>need</a:t>
            </a:r>
            <a:r>
              <a:rPr lang="sv-SE" dirty="0" smtClean="0">
                <a:latin typeface="Times New Roman" panose="02020603050405020304" pitchFamily="18" charset="0"/>
                <a:cs typeface="Times New Roman" panose="02020603050405020304" pitchFamily="18" charset="0"/>
              </a:rPr>
              <a:t> for </a:t>
            </a:r>
            <a:r>
              <a:rPr lang="sv-SE" dirty="0" err="1" smtClean="0">
                <a:latin typeface="Times New Roman" panose="02020603050405020304" pitchFamily="18" charset="0"/>
                <a:cs typeface="Times New Roman" panose="02020603050405020304" pitchFamily="18" charset="0"/>
              </a:rPr>
              <a:t>further</a:t>
            </a:r>
            <a:r>
              <a:rPr lang="sv-SE" dirty="0" smtClean="0">
                <a:latin typeface="Times New Roman" panose="02020603050405020304" pitchFamily="18" charset="0"/>
                <a:cs typeface="Times New Roman" panose="02020603050405020304" pitchFamily="18" charset="0"/>
              </a:rPr>
              <a:t> </a:t>
            </a:r>
            <a:r>
              <a:rPr lang="sv-SE" dirty="0" err="1" smtClean="0">
                <a:latin typeface="Times New Roman" panose="02020603050405020304" pitchFamily="18" charset="0"/>
                <a:cs typeface="Times New Roman" panose="02020603050405020304" pitchFamily="18" charset="0"/>
              </a:rPr>
              <a:t>investigation</a:t>
            </a:r>
            <a:r>
              <a:rPr lang="sv-SE" dirty="0" smtClean="0">
                <a:latin typeface="Times New Roman" panose="02020603050405020304" pitchFamily="18" charset="0"/>
                <a:cs typeface="Times New Roman" panose="02020603050405020304" pitchFamily="18" charset="0"/>
              </a:rPr>
              <a:t>? </a:t>
            </a:r>
            <a:endParaRPr lang="sv-SE"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1999648" y="821363"/>
            <a:ext cx="2427210" cy="2423614"/>
          </a:xfrm>
          <a:prstGeom prst="rect">
            <a:avLst/>
          </a:prstGeom>
        </p:spPr>
      </p:pic>
      <p:sp>
        <p:nvSpPr>
          <p:cNvPr id="7" name="TextBox 6"/>
          <p:cNvSpPr txBox="1"/>
          <p:nvPr/>
        </p:nvSpPr>
        <p:spPr>
          <a:xfrm>
            <a:off x="6891000" y="2548729"/>
            <a:ext cx="4285000" cy="2185214"/>
          </a:xfrm>
          <a:prstGeom prst="rect">
            <a:avLst/>
          </a:prstGeom>
          <a:noFill/>
        </p:spPr>
        <p:txBody>
          <a:bodyPr wrap="square" rtlCol="0">
            <a:spAutoFit/>
          </a:bodyPr>
          <a:lstStyle/>
          <a:p>
            <a:r>
              <a:rPr lang="sv-SE" sz="2000" dirty="0" err="1"/>
              <a:t>Packaging</a:t>
            </a:r>
            <a:r>
              <a:rPr lang="sv-SE" sz="2000" dirty="0"/>
              <a:t> </a:t>
            </a:r>
            <a:r>
              <a:rPr lang="sv-SE" sz="2000" dirty="0" err="1"/>
              <a:t>Stray</a:t>
            </a:r>
            <a:r>
              <a:rPr lang="sv-SE" sz="2000" dirty="0"/>
              <a:t> </a:t>
            </a:r>
            <a:r>
              <a:rPr lang="sv-SE" sz="2000" dirty="0" err="1" smtClean="0"/>
              <a:t>Inductance</a:t>
            </a:r>
            <a:r>
              <a:rPr lang="sv-SE" sz="2000" dirty="0" smtClean="0"/>
              <a:t>, </a:t>
            </a:r>
            <a:r>
              <a:rPr lang="en-US" sz="2000" dirty="0"/>
              <a:t>Gate </a:t>
            </a:r>
            <a:r>
              <a:rPr lang="en-US" sz="2000" dirty="0" smtClean="0"/>
              <a:t>Loop, </a:t>
            </a:r>
            <a:r>
              <a:rPr lang="en-US" sz="2000" dirty="0"/>
              <a:t>and Power Loop </a:t>
            </a:r>
            <a:r>
              <a:rPr lang="en-US" sz="2000" dirty="0" smtClean="0"/>
              <a:t>Interaction</a:t>
            </a:r>
          </a:p>
          <a:p>
            <a:endParaRPr lang="en-US" sz="2000" dirty="0"/>
          </a:p>
          <a:p>
            <a:r>
              <a:rPr lang="en-US" sz="2000" dirty="0"/>
              <a:t>Switching Energy Dependency on Current </a:t>
            </a:r>
            <a:r>
              <a:rPr lang="en-US" sz="2000" dirty="0" smtClean="0"/>
              <a:t>Levels</a:t>
            </a:r>
          </a:p>
          <a:p>
            <a:endParaRPr lang="en-US" dirty="0"/>
          </a:p>
          <a:p>
            <a:endParaRPr lang="sv-SE" dirty="0" smtClean="0"/>
          </a:p>
        </p:txBody>
      </p:sp>
      <mc:AlternateContent xmlns:mc="http://schemas.openxmlformats.org/markup-compatibility/2006">
        <mc:Choice xmlns:a14="http://schemas.microsoft.com/office/drawing/2010/main" Requires="a14">
          <p:graphicFrame>
            <p:nvGraphicFramePr>
              <p:cNvPr id="10" name="Table 9"/>
              <p:cNvGraphicFramePr>
                <a:graphicFrameLocks noGrp="1"/>
              </p:cNvGraphicFramePr>
              <p:nvPr>
                <p:extLst>
                  <p:ext uri="{D42A27DB-BD31-4B8C-83A1-F6EECF244321}">
                    <p14:modId xmlns:p14="http://schemas.microsoft.com/office/powerpoint/2010/main" val="3839692676"/>
                  </p:ext>
                </p:extLst>
              </p:nvPr>
            </p:nvGraphicFramePr>
            <p:xfrm>
              <a:off x="473183" y="3541635"/>
              <a:ext cx="5895022" cy="1103820"/>
            </p:xfrm>
            <a:graphic>
              <a:graphicData uri="http://schemas.openxmlformats.org/drawingml/2006/table">
                <a:tbl>
                  <a:tblPr>
                    <a:tableStyleId>{5C22544A-7EE6-4342-B048-85BDC9FD1C3A}</a:tableStyleId>
                  </a:tblPr>
                  <a:tblGrid>
                    <a:gridCol w="826741">
                      <a:extLst>
                        <a:ext uri="{9D8B030D-6E8A-4147-A177-3AD203B41FA5}">
                          <a16:colId xmlns:a16="http://schemas.microsoft.com/office/drawing/2014/main" val="3449397765"/>
                        </a:ext>
                      </a:extLst>
                    </a:gridCol>
                    <a:gridCol w="3414799">
                      <a:extLst>
                        <a:ext uri="{9D8B030D-6E8A-4147-A177-3AD203B41FA5}">
                          <a16:colId xmlns:a16="http://schemas.microsoft.com/office/drawing/2014/main" val="1481575902"/>
                        </a:ext>
                      </a:extLst>
                    </a:gridCol>
                    <a:gridCol w="826741">
                      <a:extLst>
                        <a:ext uri="{9D8B030D-6E8A-4147-A177-3AD203B41FA5}">
                          <a16:colId xmlns:a16="http://schemas.microsoft.com/office/drawing/2014/main" val="2726582199"/>
                        </a:ext>
                      </a:extLst>
                    </a:gridCol>
                    <a:gridCol w="826741">
                      <a:extLst>
                        <a:ext uri="{9D8B030D-6E8A-4147-A177-3AD203B41FA5}">
                          <a16:colId xmlns:a16="http://schemas.microsoft.com/office/drawing/2014/main" val="961435461"/>
                        </a:ext>
                      </a:extLst>
                    </a:gridCol>
                  </a:tblGrid>
                  <a:tr h="188764">
                    <a:tc rowSpan="3">
                      <a:txBody>
                        <a:bodyPr/>
                        <a:lstStyle/>
                        <a:p>
                          <a:pPr algn="ctr" fontAlgn="t"/>
                          <a:r>
                            <a:rPr lang="sv-SE" sz="1000" u="none" strike="noStrike" dirty="0">
                              <a:effectLst/>
                            </a:rPr>
                            <a:t>E</a:t>
                          </a:r>
                          <a:r>
                            <a:rPr lang="sv-SE" sz="800" u="none" strike="noStrike" dirty="0">
                              <a:effectLst/>
                            </a:rPr>
                            <a:t>on</a:t>
                          </a:r>
                          <a:endParaRPr lang="sv-SE" sz="1000" b="0" i="1" u="none" strike="noStrike" dirty="0">
                            <a:solidFill>
                              <a:srgbClr val="000000"/>
                            </a:solidFill>
                            <a:effectLst/>
                            <a:latin typeface="Source Sans Pro"/>
                          </a:endParaRPr>
                        </a:p>
                      </a:txBody>
                      <a:tcPr marL="8989" marR="8989" marT="898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l" fontAlgn="t"/>
                          <a:r>
                            <a:rPr lang="sv-SE" sz="1000" u="none" strike="noStrike" dirty="0">
                              <a:effectLst/>
                            </a:rPr>
                            <a:t>I</a:t>
                          </a:r>
                          <a:r>
                            <a:rPr lang="sv-SE" sz="800" u="none" strike="noStrike" dirty="0">
                              <a:effectLst/>
                            </a:rPr>
                            <a:t>D </a:t>
                          </a:r>
                          <a:r>
                            <a:rPr lang="sv-SE" sz="1100" u="none" strike="noStrike" dirty="0">
                              <a:effectLst/>
                            </a:rPr>
                            <a:t>= 700 A, </a:t>
                          </a:r>
                          <a:r>
                            <a:rPr lang="sv-SE" sz="1000" u="none" strike="noStrike" dirty="0">
                              <a:effectLst/>
                            </a:rPr>
                            <a:t>V</a:t>
                          </a:r>
                          <a:r>
                            <a:rPr lang="sv-SE" sz="800" u="none" strike="noStrike" dirty="0">
                              <a:effectLst/>
                            </a:rPr>
                            <a:t>DS </a:t>
                          </a:r>
                          <a:r>
                            <a:rPr lang="sv-SE" sz="1100" u="none" strike="noStrike" dirty="0">
                              <a:effectLst/>
                            </a:rPr>
                            <a:t>= 1200 V</a:t>
                          </a:r>
                          <a:r>
                            <a:rPr lang="sv-SE" sz="1000" u="none" strike="noStrike" dirty="0">
                              <a:effectLst/>
                            </a:rPr>
                            <a:t>, L</a:t>
                          </a:r>
                          <a:r>
                            <a:rPr lang="el-GR" sz="1000" u="none" strike="noStrike" dirty="0">
                              <a:effectLst/>
                            </a:rPr>
                            <a:t>σ = 12 </a:t>
                          </a:r>
                          <a:r>
                            <a:rPr lang="sv-SE" sz="1000" u="none" strike="noStrike" dirty="0" err="1">
                              <a:effectLst/>
                            </a:rPr>
                            <a:t>nH</a:t>
                          </a:r>
                          <a:r>
                            <a:rPr lang="sv-SE" sz="1000" u="none" strike="noStrike" dirty="0">
                              <a:effectLst/>
                            </a:rPr>
                            <a:t>, VGS = 18/-5 V, </a:t>
                          </a:r>
                          <a:r>
                            <a:rPr lang="sv-SE" sz="1000" u="none" strike="noStrike" dirty="0" err="1">
                              <a:effectLst/>
                            </a:rPr>
                            <a:t>RGon</a:t>
                          </a:r>
                          <a:r>
                            <a:rPr lang="sv-SE" sz="1000" u="none" strike="noStrike" dirty="0">
                              <a:effectLst/>
                            </a:rPr>
                            <a:t> = 0.51 </a:t>
                          </a:r>
                          <a:r>
                            <a:rPr lang="el-GR" sz="1000" u="none" strike="noStrike" dirty="0">
                              <a:effectLst/>
                            </a:rPr>
                            <a:t>Ω, </a:t>
                          </a:r>
                          <a:r>
                            <a:rPr lang="sv-SE" sz="1000" u="none" strike="noStrike" dirty="0">
                              <a:effectLst/>
                            </a:rPr>
                            <a:t>di/dt = 9 </a:t>
                          </a:r>
                          <a:r>
                            <a:rPr lang="sv-SE" sz="1000" u="none" strike="noStrike" dirty="0" err="1">
                              <a:effectLst/>
                            </a:rPr>
                            <a:t>kA</a:t>
                          </a:r>
                          <a:r>
                            <a:rPr lang="sv-SE" sz="1000" u="none" strike="noStrike" dirty="0">
                              <a:effectLst/>
                            </a:rPr>
                            <a:t>/µs (</a:t>
                          </a:r>
                          <a:r>
                            <a:rPr lang="sv-SE" sz="1000" u="none" strike="noStrike" dirty="0" err="1">
                              <a:effectLst/>
                            </a:rPr>
                            <a:t>Tvj</a:t>
                          </a:r>
                          <a:r>
                            <a:rPr lang="sv-SE" sz="1000" u="none" strike="noStrike" dirty="0">
                              <a:effectLst/>
                            </a:rPr>
                            <a:t> = 175 °C)</a:t>
                          </a:r>
                          <a:endParaRPr lang="sv-SE" sz="1000" b="0" i="0" u="none" strike="noStrike" dirty="0">
                            <a:solidFill>
                              <a:srgbClr val="000000"/>
                            </a:solidFill>
                            <a:effectLst/>
                            <a:latin typeface="Source Sans Pro"/>
                          </a:endParaRPr>
                        </a:p>
                      </a:txBody>
                      <a:tcPr marL="8989" marR="8989" marT="898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sv-SE" sz="1000" u="none" strike="noStrike">
                              <a:effectLst/>
                            </a:rPr>
                            <a:t>T</a:t>
                          </a:r>
                          <a:r>
                            <a:rPr lang="sv-SE" sz="800" u="none" strike="noStrike">
                              <a:effectLst/>
                            </a:rPr>
                            <a:t>vj </a:t>
                          </a:r>
                          <a:r>
                            <a:rPr lang="sv-SE" sz="1100" u="none" strike="noStrike">
                              <a:effectLst/>
                            </a:rPr>
                            <a:t>= 25 °C</a:t>
                          </a:r>
                          <a:endParaRPr lang="sv-SE" sz="1000" b="0" i="1" u="none" strike="noStrike">
                            <a:solidFill>
                              <a:srgbClr val="00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14:m>
                            <m:oMathPara xmlns:m="http://schemas.openxmlformats.org/officeDocument/2006/math">
                              <m:oMathParaPr>
                                <m:jc m:val="centerGroup"/>
                              </m:oMathParaPr>
                              <m:oMath xmlns:m="http://schemas.openxmlformats.org/officeDocument/2006/math">
                                <m:r>
                                  <a:rPr lang="sv-SE" sz="1100" i="1" u="none" strike="noStrike" dirty="0" smtClean="0">
                                    <a:solidFill>
                                      <a:srgbClr val="FF0000"/>
                                    </a:solidFill>
                                    <a:effectLst/>
                                    <a:latin typeface="Cambria Math" panose="02040503050406030204" pitchFamily="18" charset="0"/>
                                  </a:rPr>
                                  <m:t>64,0 </m:t>
                                </m:r>
                                <m:r>
                                  <a:rPr lang="sv-SE" sz="1100" i="1" u="none" strike="noStrike" dirty="0" err="1" smtClean="0">
                                    <a:solidFill>
                                      <a:srgbClr val="FF0000"/>
                                    </a:solidFill>
                                    <a:effectLst/>
                                    <a:latin typeface="Cambria Math" panose="02040503050406030204" pitchFamily="18" charset="0"/>
                                  </a:rPr>
                                  <m:t>𝑚𝐽</m:t>
                                </m:r>
                              </m:oMath>
                            </m:oMathPara>
                          </a14:m>
                          <a:endParaRPr lang="sv-SE" sz="1100" b="0" i="0" u="none" strike="noStrike" dirty="0">
                            <a:solidFill>
                              <a:srgbClr val="FF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2689815"/>
                      </a:ext>
                    </a:extLst>
                  </a:tr>
                  <a:tr h="181573">
                    <a:tc vMerge="1">
                      <a:txBody>
                        <a:bodyPr/>
                        <a:lstStyle/>
                        <a:p>
                          <a:endParaRPr lang="sv-SE"/>
                        </a:p>
                      </a:txBody>
                      <a:tcPr/>
                    </a:tc>
                    <a:tc vMerge="1">
                      <a:txBody>
                        <a:bodyPr/>
                        <a:lstStyle/>
                        <a:p>
                          <a:endParaRPr lang="sv-SE"/>
                        </a:p>
                      </a:txBody>
                      <a:tcPr/>
                    </a:tc>
                    <a:tc>
                      <a:txBody>
                        <a:bodyPr/>
                        <a:lstStyle/>
                        <a:p>
                          <a:pPr algn="l" fontAlgn="ctr"/>
                          <a:r>
                            <a:rPr lang="sv-SE" sz="1000" u="none" strike="noStrike" dirty="0" err="1">
                              <a:effectLst/>
                            </a:rPr>
                            <a:t>T</a:t>
                          </a:r>
                          <a:r>
                            <a:rPr lang="sv-SE" sz="800" u="none" strike="noStrike" dirty="0" err="1">
                              <a:effectLst/>
                            </a:rPr>
                            <a:t>vj</a:t>
                          </a:r>
                          <a:r>
                            <a:rPr lang="sv-SE" sz="800" u="none" strike="noStrike" dirty="0">
                              <a:effectLst/>
                            </a:rPr>
                            <a:t> </a:t>
                          </a:r>
                          <a:r>
                            <a:rPr lang="sv-SE" sz="1100" u="none" strike="noStrike" dirty="0">
                              <a:effectLst/>
                            </a:rPr>
                            <a:t>= 125 °C</a:t>
                          </a:r>
                          <a:endParaRPr lang="sv-SE" sz="1000" b="0" i="1" u="none" strike="noStrike" dirty="0">
                            <a:solidFill>
                              <a:srgbClr val="00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14:m>
                            <m:oMathPara xmlns:m="http://schemas.openxmlformats.org/officeDocument/2006/math">
                              <m:oMathParaPr>
                                <m:jc m:val="centerGroup"/>
                              </m:oMathParaPr>
                              <m:oMath xmlns:m="http://schemas.openxmlformats.org/officeDocument/2006/math">
                                <m:r>
                                  <a:rPr lang="sv-SE" sz="1100" i="1" u="none" strike="noStrike" dirty="0" smtClean="0">
                                    <a:solidFill>
                                      <a:srgbClr val="FF0000"/>
                                    </a:solidFill>
                                    <a:effectLst/>
                                    <a:latin typeface="Cambria Math" panose="02040503050406030204" pitchFamily="18" charset="0"/>
                                  </a:rPr>
                                  <m:t>70,0 </m:t>
                                </m:r>
                                <m:r>
                                  <a:rPr lang="sv-SE" sz="1100" i="1" u="none" strike="noStrike" dirty="0" err="1" smtClean="0">
                                    <a:solidFill>
                                      <a:srgbClr val="FF0000"/>
                                    </a:solidFill>
                                    <a:effectLst/>
                                    <a:latin typeface="Cambria Math" panose="02040503050406030204" pitchFamily="18" charset="0"/>
                                  </a:rPr>
                                  <m:t>𝑚𝐽</m:t>
                                </m:r>
                              </m:oMath>
                            </m:oMathPara>
                          </a14:m>
                          <a:endParaRPr lang="sv-SE" sz="1100" b="0" i="0" u="none" strike="noStrike" dirty="0">
                            <a:solidFill>
                              <a:srgbClr val="FF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3103614"/>
                      </a:ext>
                    </a:extLst>
                  </a:tr>
                  <a:tr h="181573">
                    <a:tc vMerge="1">
                      <a:txBody>
                        <a:bodyPr/>
                        <a:lstStyle/>
                        <a:p>
                          <a:endParaRPr lang="sv-SE"/>
                        </a:p>
                      </a:txBody>
                      <a:tcPr/>
                    </a:tc>
                    <a:tc vMerge="1">
                      <a:txBody>
                        <a:bodyPr/>
                        <a:lstStyle/>
                        <a:p>
                          <a:endParaRPr lang="sv-SE"/>
                        </a:p>
                      </a:txBody>
                      <a:tcPr/>
                    </a:tc>
                    <a:tc>
                      <a:txBody>
                        <a:bodyPr/>
                        <a:lstStyle/>
                        <a:p>
                          <a:pPr algn="l" fontAlgn="ctr"/>
                          <a:r>
                            <a:rPr lang="sv-SE" sz="1000" u="none" strike="noStrike">
                              <a:effectLst/>
                            </a:rPr>
                            <a:t>T</a:t>
                          </a:r>
                          <a:r>
                            <a:rPr lang="sv-SE" sz="800" u="none" strike="noStrike">
                              <a:effectLst/>
                            </a:rPr>
                            <a:t>vj </a:t>
                          </a:r>
                          <a:r>
                            <a:rPr lang="sv-SE" sz="1100" u="none" strike="noStrike">
                              <a:effectLst/>
                            </a:rPr>
                            <a:t>= 175 °C</a:t>
                          </a:r>
                          <a:endParaRPr lang="sv-SE" sz="1000" b="0" i="1" u="none" strike="noStrike">
                            <a:solidFill>
                              <a:srgbClr val="00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14:m>
                            <m:oMathPara xmlns:m="http://schemas.openxmlformats.org/officeDocument/2006/math">
                              <m:oMathParaPr>
                                <m:jc m:val="centerGroup"/>
                              </m:oMathParaPr>
                              <m:oMath xmlns:m="http://schemas.openxmlformats.org/officeDocument/2006/math">
                                <m:r>
                                  <a:rPr lang="sv-SE" sz="1100" i="1" u="none" strike="noStrike" dirty="0" smtClean="0">
                                    <a:solidFill>
                                      <a:srgbClr val="FF0000"/>
                                    </a:solidFill>
                                    <a:effectLst/>
                                    <a:latin typeface="Cambria Math" panose="02040503050406030204" pitchFamily="18" charset="0"/>
                                  </a:rPr>
                                  <m:t>86,0 </m:t>
                                </m:r>
                                <m:r>
                                  <a:rPr lang="sv-SE" sz="1100" i="1" u="none" strike="noStrike" dirty="0" err="1" smtClean="0">
                                    <a:solidFill>
                                      <a:srgbClr val="FF0000"/>
                                    </a:solidFill>
                                    <a:effectLst/>
                                    <a:latin typeface="Cambria Math" panose="02040503050406030204" pitchFamily="18" charset="0"/>
                                  </a:rPr>
                                  <m:t>𝑚𝐽</m:t>
                                </m:r>
                              </m:oMath>
                            </m:oMathPara>
                          </a14:m>
                          <a:endParaRPr lang="sv-SE" sz="1100" b="0" i="0" u="none" strike="noStrike" dirty="0">
                            <a:solidFill>
                              <a:srgbClr val="FF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2571821"/>
                      </a:ext>
                    </a:extLst>
                  </a:tr>
                  <a:tr h="188764">
                    <a:tc rowSpan="3">
                      <a:txBody>
                        <a:bodyPr/>
                        <a:lstStyle/>
                        <a:p>
                          <a:pPr algn="ctr" fontAlgn="t"/>
                          <a:r>
                            <a:rPr lang="sv-SE" sz="1000" u="none" strike="noStrike">
                              <a:effectLst/>
                            </a:rPr>
                            <a:t>E</a:t>
                          </a:r>
                          <a:r>
                            <a:rPr lang="sv-SE" sz="800" u="none" strike="noStrike">
                              <a:effectLst/>
                            </a:rPr>
                            <a:t>off</a:t>
                          </a:r>
                          <a:endParaRPr lang="sv-SE" sz="1000" b="0" i="1" u="none" strike="noStrike">
                            <a:solidFill>
                              <a:srgbClr val="000000"/>
                            </a:solidFill>
                            <a:effectLst/>
                            <a:latin typeface="Source Sans Pro"/>
                          </a:endParaRPr>
                        </a:p>
                      </a:txBody>
                      <a:tcPr marL="8989" marR="8989" marT="898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l" fontAlgn="t"/>
                          <a:r>
                            <a:rPr lang="sv-SE" sz="1000" u="none" strike="noStrike" dirty="0">
                              <a:effectLst/>
                            </a:rPr>
                            <a:t>I</a:t>
                          </a:r>
                          <a:r>
                            <a:rPr lang="sv-SE" sz="800" u="none" strike="noStrike" dirty="0">
                              <a:effectLst/>
                            </a:rPr>
                            <a:t>D </a:t>
                          </a:r>
                          <a:r>
                            <a:rPr lang="sv-SE" sz="1100" u="none" strike="noStrike" dirty="0">
                              <a:effectLst/>
                            </a:rPr>
                            <a:t>= 700 A, </a:t>
                          </a:r>
                          <a:r>
                            <a:rPr lang="sv-SE" sz="1000" u="none" strike="noStrike" dirty="0">
                              <a:effectLst/>
                            </a:rPr>
                            <a:t>V</a:t>
                          </a:r>
                          <a:r>
                            <a:rPr lang="sv-SE" sz="800" u="none" strike="noStrike" dirty="0">
                              <a:effectLst/>
                            </a:rPr>
                            <a:t>DS </a:t>
                          </a:r>
                          <a:r>
                            <a:rPr lang="sv-SE" sz="1100" u="none" strike="noStrike" dirty="0">
                              <a:effectLst/>
                            </a:rPr>
                            <a:t>= 1200 V</a:t>
                          </a:r>
                          <a:r>
                            <a:rPr lang="sv-SE" sz="1000" u="none" strike="noStrike" dirty="0">
                              <a:effectLst/>
                            </a:rPr>
                            <a:t>, L</a:t>
                          </a:r>
                          <a:r>
                            <a:rPr lang="el-GR" sz="1000" u="none" strike="noStrike" dirty="0">
                              <a:effectLst/>
                            </a:rPr>
                            <a:t>σ = 12 </a:t>
                          </a:r>
                          <a:r>
                            <a:rPr lang="sv-SE" sz="1000" u="none" strike="noStrike" dirty="0" err="1">
                              <a:effectLst/>
                            </a:rPr>
                            <a:t>nH</a:t>
                          </a:r>
                          <a:r>
                            <a:rPr lang="sv-SE" sz="1000" u="none" strike="noStrike" dirty="0">
                              <a:effectLst/>
                            </a:rPr>
                            <a:t>, VGS = 18/-5 V, </a:t>
                          </a:r>
                          <a:r>
                            <a:rPr lang="sv-SE" sz="1000" u="none" strike="noStrike" dirty="0" err="1">
                              <a:effectLst/>
                            </a:rPr>
                            <a:t>RGoff</a:t>
                          </a:r>
                          <a:r>
                            <a:rPr lang="sv-SE" sz="1000" u="none" strike="noStrike" dirty="0">
                              <a:effectLst/>
                            </a:rPr>
                            <a:t> = 0.56 </a:t>
                          </a:r>
                          <a:r>
                            <a:rPr lang="el-GR" sz="1000" u="none" strike="noStrike" dirty="0">
                              <a:effectLst/>
                            </a:rPr>
                            <a:t>Ω, </a:t>
                          </a:r>
                          <a:r>
                            <a:rPr lang="sv-SE" sz="1000" u="none" strike="noStrike" dirty="0">
                              <a:effectLst/>
                            </a:rPr>
                            <a:t>du/dt = 18 kV/µs (</a:t>
                          </a:r>
                          <a:r>
                            <a:rPr lang="sv-SE" sz="1000" u="none" strike="noStrike" dirty="0" err="1">
                              <a:effectLst/>
                            </a:rPr>
                            <a:t>Tvj</a:t>
                          </a:r>
                          <a:r>
                            <a:rPr lang="sv-SE" sz="1000" u="none" strike="noStrike" dirty="0">
                              <a:effectLst/>
                            </a:rPr>
                            <a:t> = 175 °C)</a:t>
                          </a:r>
                          <a:endParaRPr lang="sv-SE" sz="1000" b="0" i="0" u="none" strike="noStrike" dirty="0">
                            <a:solidFill>
                              <a:srgbClr val="000000"/>
                            </a:solidFill>
                            <a:effectLst/>
                            <a:latin typeface="Source Sans Pro"/>
                          </a:endParaRPr>
                        </a:p>
                      </a:txBody>
                      <a:tcPr marL="8989" marR="8989" marT="898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sv-SE" sz="1000" u="none" strike="noStrike" dirty="0" err="1">
                              <a:effectLst/>
                            </a:rPr>
                            <a:t>T</a:t>
                          </a:r>
                          <a:r>
                            <a:rPr lang="sv-SE" sz="800" u="none" strike="noStrike" dirty="0" err="1">
                              <a:effectLst/>
                            </a:rPr>
                            <a:t>vj</a:t>
                          </a:r>
                          <a:r>
                            <a:rPr lang="sv-SE" sz="800" u="none" strike="noStrike" dirty="0">
                              <a:effectLst/>
                            </a:rPr>
                            <a:t> </a:t>
                          </a:r>
                          <a:r>
                            <a:rPr lang="sv-SE" sz="1100" u="none" strike="noStrike" dirty="0">
                              <a:effectLst/>
                            </a:rPr>
                            <a:t>= 25 °C</a:t>
                          </a:r>
                          <a:endParaRPr lang="sv-SE" sz="1000" b="0" i="1" u="none" strike="noStrike" dirty="0">
                            <a:solidFill>
                              <a:srgbClr val="00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14:m>
                            <m:oMathPara xmlns:m="http://schemas.openxmlformats.org/officeDocument/2006/math">
                              <m:oMathParaPr>
                                <m:jc m:val="centerGroup"/>
                              </m:oMathParaPr>
                              <m:oMath xmlns:m="http://schemas.openxmlformats.org/officeDocument/2006/math">
                                <m:r>
                                  <a:rPr lang="sv-SE" sz="1100" i="1" u="none" strike="noStrike" dirty="0" smtClean="0">
                                    <a:solidFill>
                                      <a:srgbClr val="FF0000"/>
                                    </a:solidFill>
                                    <a:effectLst/>
                                    <a:latin typeface="Cambria Math" panose="02040503050406030204" pitchFamily="18" charset="0"/>
                                  </a:rPr>
                                  <m:t>43,0 </m:t>
                                </m:r>
                                <m:r>
                                  <a:rPr lang="sv-SE" sz="1100" i="1" u="none" strike="noStrike" dirty="0" err="1" smtClean="0">
                                    <a:solidFill>
                                      <a:srgbClr val="FF0000"/>
                                    </a:solidFill>
                                    <a:effectLst/>
                                    <a:latin typeface="Cambria Math" panose="02040503050406030204" pitchFamily="18" charset="0"/>
                                  </a:rPr>
                                  <m:t>𝑚𝐽</m:t>
                                </m:r>
                              </m:oMath>
                            </m:oMathPara>
                          </a14:m>
                          <a:endParaRPr lang="sv-SE" sz="1100" b="0" i="0" u="none" strike="noStrike" dirty="0">
                            <a:solidFill>
                              <a:srgbClr val="FF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3986964"/>
                      </a:ext>
                    </a:extLst>
                  </a:tr>
                  <a:tr h="181573">
                    <a:tc vMerge="1">
                      <a:txBody>
                        <a:bodyPr/>
                        <a:lstStyle/>
                        <a:p>
                          <a:endParaRPr lang="sv-SE"/>
                        </a:p>
                      </a:txBody>
                      <a:tcPr/>
                    </a:tc>
                    <a:tc vMerge="1">
                      <a:txBody>
                        <a:bodyPr/>
                        <a:lstStyle/>
                        <a:p>
                          <a:endParaRPr lang="sv-SE"/>
                        </a:p>
                      </a:txBody>
                      <a:tcPr/>
                    </a:tc>
                    <a:tc>
                      <a:txBody>
                        <a:bodyPr/>
                        <a:lstStyle/>
                        <a:p>
                          <a:pPr algn="l" fontAlgn="ctr"/>
                          <a:r>
                            <a:rPr lang="sv-SE" sz="1000" u="none" strike="noStrike">
                              <a:effectLst/>
                            </a:rPr>
                            <a:t>T</a:t>
                          </a:r>
                          <a:r>
                            <a:rPr lang="sv-SE" sz="800" u="none" strike="noStrike">
                              <a:effectLst/>
                            </a:rPr>
                            <a:t>vj </a:t>
                          </a:r>
                          <a:r>
                            <a:rPr lang="sv-SE" sz="1100" u="none" strike="noStrike">
                              <a:effectLst/>
                            </a:rPr>
                            <a:t>= 125 °C</a:t>
                          </a:r>
                          <a:endParaRPr lang="sv-SE" sz="1000" b="0" i="1" u="none" strike="noStrike">
                            <a:solidFill>
                              <a:srgbClr val="00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14:m>
                            <m:oMathPara xmlns:m="http://schemas.openxmlformats.org/officeDocument/2006/math">
                              <m:oMathParaPr>
                                <m:jc m:val="centerGroup"/>
                              </m:oMathParaPr>
                              <m:oMath xmlns:m="http://schemas.openxmlformats.org/officeDocument/2006/math">
                                <m:r>
                                  <a:rPr lang="sv-SE" sz="1100" i="1" u="none" strike="noStrike" dirty="0" smtClean="0">
                                    <a:solidFill>
                                      <a:srgbClr val="FF0000"/>
                                    </a:solidFill>
                                    <a:effectLst/>
                                    <a:latin typeface="Cambria Math" panose="02040503050406030204" pitchFamily="18" charset="0"/>
                                  </a:rPr>
                                  <m:t>45,0 </m:t>
                                </m:r>
                                <m:r>
                                  <a:rPr lang="sv-SE" sz="1100" i="1" u="none" strike="noStrike" dirty="0" err="1" smtClean="0">
                                    <a:solidFill>
                                      <a:srgbClr val="FF0000"/>
                                    </a:solidFill>
                                    <a:effectLst/>
                                    <a:latin typeface="Cambria Math" panose="02040503050406030204" pitchFamily="18" charset="0"/>
                                  </a:rPr>
                                  <m:t>𝑚𝐽</m:t>
                                </m:r>
                              </m:oMath>
                            </m:oMathPara>
                          </a14:m>
                          <a:endParaRPr lang="sv-SE" sz="1100" b="0" i="0" u="none" strike="noStrike" dirty="0">
                            <a:solidFill>
                              <a:srgbClr val="FF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99260178"/>
                      </a:ext>
                    </a:extLst>
                  </a:tr>
                  <a:tr h="181573">
                    <a:tc vMerge="1">
                      <a:txBody>
                        <a:bodyPr/>
                        <a:lstStyle/>
                        <a:p>
                          <a:endParaRPr lang="sv-SE"/>
                        </a:p>
                      </a:txBody>
                      <a:tcPr/>
                    </a:tc>
                    <a:tc vMerge="1">
                      <a:txBody>
                        <a:bodyPr/>
                        <a:lstStyle/>
                        <a:p>
                          <a:endParaRPr lang="sv-SE"/>
                        </a:p>
                      </a:txBody>
                      <a:tcPr/>
                    </a:tc>
                    <a:tc>
                      <a:txBody>
                        <a:bodyPr/>
                        <a:lstStyle/>
                        <a:p>
                          <a:pPr algn="l" fontAlgn="ctr"/>
                          <a:r>
                            <a:rPr lang="sv-SE" sz="1000" u="none" strike="noStrike" dirty="0" err="1">
                              <a:effectLst/>
                            </a:rPr>
                            <a:t>T</a:t>
                          </a:r>
                          <a:r>
                            <a:rPr lang="sv-SE" sz="800" u="none" strike="noStrike" dirty="0" err="1">
                              <a:effectLst/>
                            </a:rPr>
                            <a:t>vj</a:t>
                          </a:r>
                          <a:r>
                            <a:rPr lang="sv-SE" sz="800" u="none" strike="noStrike" dirty="0">
                              <a:effectLst/>
                            </a:rPr>
                            <a:t> </a:t>
                          </a:r>
                          <a:r>
                            <a:rPr lang="sv-SE" sz="1100" u="none" strike="noStrike" dirty="0">
                              <a:effectLst/>
                            </a:rPr>
                            <a:t>= 175 °C</a:t>
                          </a:r>
                          <a:endParaRPr lang="sv-SE" sz="1000" b="0" i="1" u="none" strike="noStrike" dirty="0">
                            <a:solidFill>
                              <a:srgbClr val="00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14:m>
                            <m:oMathPara xmlns:m="http://schemas.openxmlformats.org/officeDocument/2006/math">
                              <m:oMathParaPr>
                                <m:jc m:val="centerGroup"/>
                              </m:oMathParaPr>
                              <m:oMath xmlns:m="http://schemas.openxmlformats.org/officeDocument/2006/math">
                                <m:r>
                                  <a:rPr lang="sv-SE" sz="1100" i="1" u="none" strike="noStrike" dirty="0" smtClean="0">
                                    <a:solidFill>
                                      <a:srgbClr val="FF0000"/>
                                    </a:solidFill>
                                    <a:effectLst/>
                                    <a:latin typeface="Cambria Math" panose="02040503050406030204" pitchFamily="18" charset="0"/>
                                  </a:rPr>
                                  <m:t>47,0 </m:t>
                                </m:r>
                                <m:r>
                                  <a:rPr lang="sv-SE" sz="1100" i="1" u="none" strike="noStrike" dirty="0" err="1" smtClean="0">
                                    <a:solidFill>
                                      <a:srgbClr val="FF0000"/>
                                    </a:solidFill>
                                    <a:effectLst/>
                                    <a:latin typeface="Cambria Math" panose="02040503050406030204" pitchFamily="18" charset="0"/>
                                  </a:rPr>
                                  <m:t>𝑚𝐽</m:t>
                                </m:r>
                              </m:oMath>
                            </m:oMathPara>
                          </a14:m>
                          <a:endParaRPr lang="sv-SE" sz="1100" b="0" i="0" u="none" strike="noStrike" dirty="0">
                            <a:solidFill>
                              <a:srgbClr val="FF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23730722"/>
                      </a:ext>
                    </a:extLst>
                  </a:tr>
                </a:tbl>
              </a:graphicData>
            </a:graphic>
          </p:graphicFrame>
        </mc:Choice>
        <mc:Fallback>
          <p:graphicFrame>
            <p:nvGraphicFramePr>
              <p:cNvPr id="10" name="Table 9"/>
              <p:cNvGraphicFramePr>
                <a:graphicFrameLocks noGrp="1"/>
              </p:cNvGraphicFramePr>
              <p:nvPr>
                <p:extLst>
                  <p:ext uri="{D42A27DB-BD31-4B8C-83A1-F6EECF244321}">
                    <p14:modId xmlns:p14="http://schemas.microsoft.com/office/powerpoint/2010/main" val="3839692676"/>
                  </p:ext>
                </p:extLst>
              </p:nvPr>
            </p:nvGraphicFramePr>
            <p:xfrm>
              <a:off x="473183" y="3541635"/>
              <a:ext cx="5895022" cy="1103820"/>
            </p:xfrm>
            <a:graphic>
              <a:graphicData uri="http://schemas.openxmlformats.org/drawingml/2006/table">
                <a:tbl>
                  <a:tblPr>
                    <a:tableStyleId>{5C22544A-7EE6-4342-B048-85BDC9FD1C3A}</a:tableStyleId>
                  </a:tblPr>
                  <a:tblGrid>
                    <a:gridCol w="826741">
                      <a:extLst>
                        <a:ext uri="{9D8B030D-6E8A-4147-A177-3AD203B41FA5}">
                          <a16:colId xmlns:a16="http://schemas.microsoft.com/office/drawing/2014/main" val="3449397765"/>
                        </a:ext>
                      </a:extLst>
                    </a:gridCol>
                    <a:gridCol w="3414799">
                      <a:extLst>
                        <a:ext uri="{9D8B030D-6E8A-4147-A177-3AD203B41FA5}">
                          <a16:colId xmlns:a16="http://schemas.microsoft.com/office/drawing/2014/main" val="1481575902"/>
                        </a:ext>
                      </a:extLst>
                    </a:gridCol>
                    <a:gridCol w="826741">
                      <a:extLst>
                        <a:ext uri="{9D8B030D-6E8A-4147-A177-3AD203B41FA5}">
                          <a16:colId xmlns:a16="http://schemas.microsoft.com/office/drawing/2014/main" val="2726582199"/>
                        </a:ext>
                      </a:extLst>
                    </a:gridCol>
                    <a:gridCol w="826741">
                      <a:extLst>
                        <a:ext uri="{9D8B030D-6E8A-4147-A177-3AD203B41FA5}">
                          <a16:colId xmlns:a16="http://schemas.microsoft.com/office/drawing/2014/main" val="961435461"/>
                        </a:ext>
                      </a:extLst>
                    </a:gridCol>
                  </a:tblGrid>
                  <a:tr h="188764">
                    <a:tc rowSpan="3">
                      <a:txBody>
                        <a:bodyPr/>
                        <a:lstStyle/>
                        <a:p>
                          <a:pPr algn="ctr" fontAlgn="t"/>
                          <a:r>
                            <a:rPr lang="sv-SE" sz="1000" u="none" strike="noStrike" dirty="0">
                              <a:effectLst/>
                            </a:rPr>
                            <a:t>E</a:t>
                          </a:r>
                          <a:r>
                            <a:rPr lang="sv-SE" sz="800" u="none" strike="noStrike" dirty="0">
                              <a:effectLst/>
                            </a:rPr>
                            <a:t>on</a:t>
                          </a:r>
                          <a:endParaRPr lang="sv-SE" sz="1000" b="0" i="1" u="none" strike="noStrike" dirty="0">
                            <a:solidFill>
                              <a:srgbClr val="000000"/>
                            </a:solidFill>
                            <a:effectLst/>
                            <a:latin typeface="Source Sans Pro"/>
                          </a:endParaRPr>
                        </a:p>
                      </a:txBody>
                      <a:tcPr marL="8989" marR="8989" marT="898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l" fontAlgn="t"/>
                          <a:r>
                            <a:rPr lang="sv-SE" sz="1000" u="none" strike="noStrike" dirty="0">
                              <a:effectLst/>
                            </a:rPr>
                            <a:t>I</a:t>
                          </a:r>
                          <a:r>
                            <a:rPr lang="sv-SE" sz="800" u="none" strike="noStrike" dirty="0">
                              <a:effectLst/>
                            </a:rPr>
                            <a:t>D </a:t>
                          </a:r>
                          <a:r>
                            <a:rPr lang="sv-SE" sz="1100" u="none" strike="noStrike" dirty="0">
                              <a:effectLst/>
                            </a:rPr>
                            <a:t>= 700 A, </a:t>
                          </a:r>
                          <a:r>
                            <a:rPr lang="sv-SE" sz="1000" u="none" strike="noStrike" dirty="0">
                              <a:effectLst/>
                            </a:rPr>
                            <a:t>V</a:t>
                          </a:r>
                          <a:r>
                            <a:rPr lang="sv-SE" sz="800" u="none" strike="noStrike" dirty="0">
                              <a:effectLst/>
                            </a:rPr>
                            <a:t>DS </a:t>
                          </a:r>
                          <a:r>
                            <a:rPr lang="sv-SE" sz="1100" u="none" strike="noStrike" dirty="0">
                              <a:effectLst/>
                            </a:rPr>
                            <a:t>= 1200 V</a:t>
                          </a:r>
                          <a:r>
                            <a:rPr lang="sv-SE" sz="1000" u="none" strike="noStrike" dirty="0">
                              <a:effectLst/>
                            </a:rPr>
                            <a:t>, L</a:t>
                          </a:r>
                          <a:r>
                            <a:rPr lang="el-GR" sz="1000" u="none" strike="noStrike" dirty="0">
                              <a:effectLst/>
                            </a:rPr>
                            <a:t>σ = 12 </a:t>
                          </a:r>
                          <a:r>
                            <a:rPr lang="sv-SE" sz="1000" u="none" strike="noStrike" dirty="0" err="1">
                              <a:effectLst/>
                            </a:rPr>
                            <a:t>nH</a:t>
                          </a:r>
                          <a:r>
                            <a:rPr lang="sv-SE" sz="1000" u="none" strike="noStrike" dirty="0">
                              <a:effectLst/>
                            </a:rPr>
                            <a:t>, VGS = 18/-5 V, </a:t>
                          </a:r>
                          <a:r>
                            <a:rPr lang="sv-SE" sz="1000" u="none" strike="noStrike" dirty="0" err="1">
                              <a:effectLst/>
                            </a:rPr>
                            <a:t>RGon</a:t>
                          </a:r>
                          <a:r>
                            <a:rPr lang="sv-SE" sz="1000" u="none" strike="noStrike" dirty="0">
                              <a:effectLst/>
                            </a:rPr>
                            <a:t> = 0.51 </a:t>
                          </a:r>
                          <a:r>
                            <a:rPr lang="el-GR" sz="1000" u="none" strike="noStrike" dirty="0">
                              <a:effectLst/>
                            </a:rPr>
                            <a:t>Ω, </a:t>
                          </a:r>
                          <a:r>
                            <a:rPr lang="sv-SE" sz="1000" u="none" strike="noStrike" dirty="0">
                              <a:effectLst/>
                            </a:rPr>
                            <a:t>di/dt = 9 </a:t>
                          </a:r>
                          <a:r>
                            <a:rPr lang="sv-SE" sz="1000" u="none" strike="noStrike" dirty="0" err="1">
                              <a:effectLst/>
                            </a:rPr>
                            <a:t>kA</a:t>
                          </a:r>
                          <a:r>
                            <a:rPr lang="sv-SE" sz="1000" u="none" strike="noStrike" dirty="0">
                              <a:effectLst/>
                            </a:rPr>
                            <a:t>/µs (</a:t>
                          </a:r>
                          <a:r>
                            <a:rPr lang="sv-SE" sz="1000" u="none" strike="noStrike" dirty="0" err="1">
                              <a:effectLst/>
                            </a:rPr>
                            <a:t>Tvj</a:t>
                          </a:r>
                          <a:r>
                            <a:rPr lang="sv-SE" sz="1000" u="none" strike="noStrike" dirty="0">
                              <a:effectLst/>
                            </a:rPr>
                            <a:t> = 175 °C)</a:t>
                          </a:r>
                          <a:endParaRPr lang="sv-SE" sz="1000" b="0" i="0" u="none" strike="noStrike" dirty="0">
                            <a:solidFill>
                              <a:srgbClr val="000000"/>
                            </a:solidFill>
                            <a:effectLst/>
                            <a:latin typeface="Source Sans Pro"/>
                          </a:endParaRPr>
                        </a:p>
                      </a:txBody>
                      <a:tcPr marL="8989" marR="8989" marT="898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sv-SE" sz="1000" u="none" strike="noStrike">
                              <a:effectLst/>
                            </a:rPr>
                            <a:t>T</a:t>
                          </a:r>
                          <a:r>
                            <a:rPr lang="sv-SE" sz="800" u="none" strike="noStrike">
                              <a:effectLst/>
                            </a:rPr>
                            <a:t>vj </a:t>
                          </a:r>
                          <a:r>
                            <a:rPr lang="sv-SE" sz="1100" u="none" strike="noStrike">
                              <a:effectLst/>
                            </a:rPr>
                            <a:t>= 25 °C</a:t>
                          </a:r>
                          <a:endParaRPr lang="sv-SE" sz="1000" b="0" i="1" u="none" strike="noStrike">
                            <a:solidFill>
                              <a:srgbClr val="00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sv-SE"/>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12500" t="-16129" r="-1471" b="-535484"/>
                          </a:stretch>
                        </a:blipFill>
                      </a:tcPr>
                    </a:tc>
                    <a:extLst>
                      <a:ext uri="{0D108BD9-81ED-4DB2-BD59-A6C34878D82A}">
                        <a16:rowId xmlns:a16="http://schemas.microsoft.com/office/drawing/2014/main" val="1752689815"/>
                      </a:ext>
                    </a:extLst>
                  </a:tr>
                  <a:tr h="181573">
                    <a:tc vMerge="1">
                      <a:txBody>
                        <a:bodyPr/>
                        <a:lstStyle/>
                        <a:p>
                          <a:endParaRPr lang="sv-SE"/>
                        </a:p>
                      </a:txBody>
                      <a:tcPr/>
                    </a:tc>
                    <a:tc vMerge="1">
                      <a:txBody>
                        <a:bodyPr/>
                        <a:lstStyle/>
                        <a:p>
                          <a:endParaRPr lang="sv-SE"/>
                        </a:p>
                      </a:txBody>
                      <a:tcPr/>
                    </a:tc>
                    <a:tc>
                      <a:txBody>
                        <a:bodyPr/>
                        <a:lstStyle/>
                        <a:p>
                          <a:pPr algn="l" fontAlgn="ctr"/>
                          <a:r>
                            <a:rPr lang="sv-SE" sz="1000" u="none" strike="noStrike" dirty="0" err="1">
                              <a:effectLst/>
                            </a:rPr>
                            <a:t>T</a:t>
                          </a:r>
                          <a:r>
                            <a:rPr lang="sv-SE" sz="800" u="none" strike="noStrike" dirty="0" err="1">
                              <a:effectLst/>
                            </a:rPr>
                            <a:t>vj</a:t>
                          </a:r>
                          <a:r>
                            <a:rPr lang="sv-SE" sz="800" u="none" strike="noStrike" dirty="0">
                              <a:effectLst/>
                            </a:rPr>
                            <a:t> </a:t>
                          </a:r>
                          <a:r>
                            <a:rPr lang="sv-SE" sz="1100" u="none" strike="noStrike" dirty="0">
                              <a:effectLst/>
                            </a:rPr>
                            <a:t>= 125 °C</a:t>
                          </a:r>
                          <a:endParaRPr lang="sv-SE" sz="1000" b="0" i="1" u="none" strike="noStrike" dirty="0">
                            <a:solidFill>
                              <a:srgbClr val="00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sv-SE"/>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12500" t="-120000" r="-1471" b="-453333"/>
                          </a:stretch>
                        </a:blipFill>
                      </a:tcPr>
                    </a:tc>
                    <a:extLst>
                      <a:ext uri="{0D108BD9-81ED-4DB2-BD59-A6C34878D82A}">
                        <a16:rowId xmlns:a16="http://schemas.microsoft.com/office/drawing/2014/main" val="663103614"/>
                      </a:ext>
                    </a:extLst>
                  </a:tr>
                  <a:tr h="181573">
                    <a:tc vMerge="1">
                      <a:txBody>
                        <a:bodyPr/>
                        <a:lstStyle/>
                        <a:p>
                          <a:endParaRPr lang="sv-SE"/>
                        </a:p>
                      </a:txBody>
                      <a:tcPr/>
                    </a:tc>
                    <a:tc vMerge="1">
                      <a:txBody>
                        <a:bodyPr/>
                        <a:lstStyle/>
                        <a:p>
                          <a:endParaRPr lang="sv-SE"/>
                        </a:p>
                      </a:txBody>
                      <a:tcPr/>
                    </a:tc>
                    <a:tc>
                      <a:txBody>
                        <a:bodyPr/>
                        <a:lstStyle/>
                        <a:p>
                          <a:pPr algn="l" fontAlgn="ctr"/>
                          <a:r>
                            <a:rPr lang="sv-SE" sz="1000" u="none" strike="noStrike">
                              <a:effectLst/>
                            </a:rPr>
                            <a:t>T</a:t>
                          </a:r>
                          <a:r>
                            <a:rPr lang="sv-SE" sz="800" u="none" strike="noStrike">
                              <a:effectLst/>
                            </a:rPr>
                            <a:t>vj </a:t>
                          </a:r>
                          <a:r>
                            <a:rPr lang="sv-SE" sz="1100" u="none" strike="noStrike">
                              <a:effectLst/>
                            </a:rPr>
                            <a:t>= 175 °C</a:t>
                          </a:r>
                          <a:endParaRPr lang="sv-SE" sz="1000" b="0" i="1" u="none" strike="noStrike">
                            <a:solidFill>
                              <a:srgbClr val="00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sv-SE"/>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12500" t="-212903" r="-1471" b="-338710"/>
                          </a:stretch>
                        </a:blipFill>
                      </a:tcPr>
                    </a:tc>
                    <a:extLst>
                      <a:ext uri="{0D108BD9-81ED-4DB2-BD59-A6C34878D82A}">
                        <a16:rowId xmlns:a16="http://schemas.microsoft.com/office/drawing/2014/main" val="1582571821"/>
                      </a:ext>
                    </a:extLst>
                  </a:tr>
                  <a:tr h="188764">
                    <a:tc rowSpan="3">
                      <a:txBody>
                        <a:bodyPr/>
                        <a:lstStyle/>
                        <a:p>
                          <a:pPr algn="ctr" fontAlgn="t"/>
                          <a:r>
                            <a:rPr lang="sv-SE" sz="1000" u="none" strike="noStrike">
                              <a:effectLst/>
                            </a:rPr>
                            <a:t>E</a:t>
                          </a:r>
                          <a:r>
                            <a:rPr lang="sv-SE" sz="800" u="none" strike="noStrike">
                              <a:effectLst/>
                            </a:rPr>
                            <a:t>off</a:t>
                          </a:r>
                          <a:endParaRPr lang="sv-SE" sz="1000" b="0" i="1" u="none" strike="noStrike">
                            <a:solidFill>
                              <a:srgbClr val="000000"/>
                            </a:solidFill>
                            <a:effectLst/>
                            <a:latin typeface="Source Sans Pro"/>
                          </a:endParaRPr>
                        </a:p>
                      </a:txBody>
                      <a:tcPr marL="8989" marR="8989" marT="898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l" fontAlgn="t"/>
                          <a:r>
                            <a:rPr lang="sv-SE" sz="1000" u="none" strike="noStrike" dirty="0">
                              <a:effectLst/>
                            </a:rPr>
                            <a:t>I</a:t>
                          </a:r>
                          <a:r>
                            <a:rPr lang="sv-SE" sz="800" u="none" strike="noStrike" dirty="0">
                              <a:effectLst/>
                            </a:rPr>
                            <a:t>D </a:t>
                          </a:r>
                          <a:r>
                            <a:rPr lang="sv-SE" sz="1100" u="none" strike="noStrike" dirty="0">
                              <a:effectLst/>
                            </a:rPr>
                            <a:t>= 700 A, </a:t>
                          </a:r>
                          <a:r>
                            <a:rPr lang="sv-SE" sz="1000" u="none" strike="noStrike" dirty="0">
                              <a:effectLst/>
                            </a:rPr>
                            <a:t>V</a:t>
                          </a:r>
                          <a:r>
                            <a:rPr lang="sv-SE" sz="800" u="none" strike="noStrike" dirty="0">
                              <a:effectLst/>
                            </a:rPr>
                            <a:t>DS </a:t>
                          </a:r>
                          <a:r>
                            <a:rPr lang="sv-SE" sz="1100" u="none" strike="noStrike" dirty="0">
                              <a:effectLst/>
                            </a:rPr>
                            <a:t>= 1200 V</a:t>
                          </a:r>
                          <a:r>
                            <a:rPr lang="sv-SE" sz="1000" u="none" strike="noStrike" dirty="0">
                              <a:effectLst/>
                            </a:rPr>
                            <a:t>, L</a:t>
                          </a:r>
                          <a:r>
                            <a:rPr lang="el-GR" sz="1000" u="none" strike="noStrike" dirty="0">
                              <a:effectLst/>
                            </a:rPr>
                            <a:t>σ = 12 </a:t>
                          </a:r>
                          <a:r>
                            <a:rPr lang="sv-SE" sz="1000" u="none" strike="noStrike" dirty="0" err="1">
                              <a:effectLst/>
                            </a:rPr>
                            <a:t>nH</a:t>
                          </a:r>
                          <a:r>
                            <a:rPr lang="sv-SE" sz="1000" u="none" strike="noStrike" dirty="0">
                              <a:effectLst/>
                            </a:rPr>
                            <a:t>, VGS = 18/-5 V, </a:t>
                          </a:r>
                          <a:r>
                            <a:rPr lang="sv-SE" sz="1000" u="none" strike="noStrike" dirty="0" err="1">
                              <a:effectLst/>
                            </a:rPr>
                            <a:t>RGoff</a:t>
                          </a:r>
                          <a:r>
                            <a:rPr lang="sv-SE" sz="1000" u="none" strike="noStrike" dirty="0">
                              <a:effectLst/>
                            </a:rPr>
                            <a:t> = 0.56 </a:t>
                          </a:r>
                          <a:r>
                            <a:rPr lang="el-GR" sz="1000" u="none" strike="noStrike" dirty="0">
                              <a:effectLst/>
                            </a:rPr>
                            <a:t>Ω, </a:t>
                          </a:r>
                          <a:r>
                            <a:rPr lang="sv-SE" sz="1000" u="none" strike="noStrike" dirty="0">
                              <a:effectLst/>
                            </a:rPr>
                            <a:t>du/dt = 18 kV/µs (</a:t>
                          </a:r>
                          <a:r>
                            <a:rPr lang="sv-SE" sz="1000" u="none" strike="noStrike" dirty="0" err="1">
                              <a:effectLst/>
                            </a:rPr>
                            <a:t>Tvj</a:t>
                          </a:r>
                          <a:r>
                            <a:rPr lang="sv-SE" sz="1000" u="none" strike="noStrike" dirty="0">
                              <a:effectLst/>
                            </a:rPr>
                            <a:t> = 175 °C)</a:t>
                          </a:r>
                          <a:endParaRPr lang="sv-SE" sz="1000" b="0" i="0" u="none" strike="noStrike" dirty="0">
                            <a:solidFill>
                              <a:srgbClr val="000000"/>
                            </a:solidFill>
                            <a:effectLst/>
                            <a:latin typeface="Source Sans Pro"/>
                          </a:endParaRPr>
                        </a:p>
                      </a:txBody>
                      <a:tcPr marL="8989" marR="8989" marT="898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sv-SE" sz="1000" u="none" strike="noStrike" dirty="0" err="1">
                              <a:effectLst/>
                            </a:rPr>
                            <a:t>T</a:t>
                          </a:r>
                          <a:r>
                            <a:rPr lang="sv-SE" sz="800" u="none" strike="noStrike" dirty="0" err="1">
                              <a:effectLst/>
                            </a:rPr>
                            <a:t>vj</a:t>
                          </a:r>
                          <a:r>
                            <a:rPr lang="sv-SE" sz="800" u="none" strike="noStrike" dirty="0">
                              <a:effectLst/>
                            </a:rPr>
                            <a:t> </a:t>
                          </a:r>
                          <a:r>
                            <a:rPr lang="sv-SE" sz="1100" u="none" strike="noStrike" dirty="0">
                              <a:effectLst/>
                            </a:rPr>
                            <a:t>= 25 °C</a:t>
                          </a:r>
                          <a:endParaRPr lang="sv-SE" sz="1000" b="0" i="1" u="none" strike="noStrike" dirty="0">
                            <a:solidFill>
                              <a:srgbClr val="00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sv-SE"/>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12500" t="-312903" r="-1471" b="-238710"/>
                          </a:stretch>
                        </a:blipFill>
                      </a:tcPr>
                    </a:tc>
                    <a:extLst>
                      <a:ext uri="{0D108BD9-81ED-4DB2-BD59-A6C34878D82A}">
                        <a16:rowId xmlns:a16="http://schemas.microsoft.com/office/drawing/2014/main" val="1723986964"/>
                      </a:ext>
                    </a:extLst>
                  </a:tr>
                  <a:tr h="181573">
                    <a:tc vMerge="1">
                      <a:txBody>
                        <a:bodyPr/>
                        <a:lstStyle/>
                        <a:p>
                          <a:endParaRPr lang="sv-SE"/>
                        </a:p>
                      </a:txBody>
                      <a:tcPr/>
                    </a:tc>
                    <a:tc vMerge="1">
                      <a:txBody>
                        <a:bodyPr/>
                        <a:lstStyle/>
                        <a:p>
                          <a:endParaRPr lang="sv-SE"/>
                        </a:p>
                      </a:txBody>
                      <a:tcPr/>
                    </a:tc>
                    <a:tc>
                      <a:txBody>
                        <a:bodyPr/>
                        <a:lstStyle/>
                        <a:p>
                          <a:pPr algn="l" fontAlgn="ctr"/>
                          <a:r>
                            <a:rPr lang="sv-SE" sz="1000" u="none" strike="noStrike">
                              <a:effectLst/>
                            </a:rPr>
                            <a:t>T</a:t>
                          </a:r>
                          <a:r>
                            <a:rPr lang="sv-SE" sz="800" u="none" strike="noStrike">
                              <a:effectLst/>
                            </a:rPr>
                            <a:t>vj </a:t>
                          </a:r>
                          <a:r>
                            <a:rPr lang="sv-SE" sz="1100" u="none" strike="noStrike">
                              <a:effectLst/>
                            </a:rPr>
                            <a:t>= 125 °C</a:t>
                          </a:r>
                          <a:endParaRPr lang="sv-SE" sz="1000" b="0" i="1" u="none" strike="noStrike">
                            <a:solidFill>
                              <a:srgbClr val="00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sv-SE"/>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12500" t="-426667" r="-1471" b="-146667"/>
                          </a:stretch>
                        </a:blipFill>
                      </a:tcPr>
                    </a:tc>
                    <a:extLst>
                      <a:ext uri="{0D108BD9-81ED-4DB2-BD59-A6C34878D82A}">
                        <a16:rowId xmlns:a16="http://schemas.microsoft.com/office/drawing/2014/main" val="3099260178"/>
                      </a:ext>
                    </a:extLst>
                  </a:tr>
                  <a:tr h="181573">
                    <a:tc vMerge="1">
                      <a:txBody>
                        <a:bodyPr/>
                        <a:lstStyle/>
                        <a:p>
                          <a:endParaRPr lang="sv-SE"/>
                        </a:p>
                      </a:txBody>
                      <a:tcPr/>
                    </a:tc>
                    <a:tc vMerge="1">
                      <a:txBody>
                        <a:bodyPr/>
                        <a:lstStyle/>
                        <a:p>
                          <a:endParaRPr lang="sv-SE"/>
                        </a:p>
                      </a:txBody>
                      <a:tcPr/>
                    </a:tc>
                    <a:tc>
                      <a:txBody>
                        <a:bodyPr/>
                        <a:lstStyle/>
                        <a:p>
                          <a:pPr algn="l" fontAlgn="ctr"/>
                          <a:r>
                            <a:rPr lang="sv-SE" sz="1000" u="none" strike="noStrike" dirty="0" err="1">
                              <a:effectLst/>
                            </a:rPr>
                            <a:t>T</a:t>
                          </a:r>
                          <a:r>
                            <a:rPr lang="sv-SE" sz="800" u="none" strike="noStrike" dirty="0" err="1">
                              <a:effectLst/>
                            </a:rPr>
                            <a:t>vj</a:t>
                          </a:r>
                          <a:r>
                            <a:rPr lang="sv-SE" sz="800" u="none" strike="noStrike" dirty="0">
                              <a:effectLst/>
                            </a:rPr>
                            <a:t> </a:t>
                          </a:r>
                          <a:r>
                            <a:rPr lang="sv-SE" sz="1100" u="none" strike="noStrike" dirty="0">
                              <a:effectLst/>
                            </a:rPr>
                            <a:t>= 175 °C</a:t>
                          </a:r>
                          <a:endParaRPr lang="sv-SE" sz="1000" b="0" i="1" u="none" strike="noStrike" dirty="0">
                            <a:solidFill>
                              <a:srgbClr val="00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sv-SE"/>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12500" t="-526667" r="-1471" b="-46667"/>
                          </a:stretch>
                        </a:blipFill>
                      </a:tcPr>
                    </a:tc>
                    <a:extLst>
                      <a:ext uri="{0D108BD9-81ED-4DB2-BD59-A6C34878D82A}">
                        <a16:rowId xmlns:a16="http://schemas.microsoft.com/office/drawing/2014/main" val="3623730722"/>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15" name="Table 14"/>
              <p:cNvGraphicFramePr>
                <a:graphicFrameLocks noGrp="1"/>
              </p:cNvGraphicFramePr>
              <p:nvPr>
                <p:extLst>
                  <p:ext uri="{D42A27DB-BD31-4B8C-83A1-F6EECF244321}">
                    <p14:modId xmlns:p14="http://schemas.microsoft.com/office/powerpoint/2010/main" val="1578873689"/>
                  </p:ext>
                </p:extLst>
              </p:nvPr>
            </p:nvGraphicFramePr>
            <p:xfrm>
              <a:off x="2544394" y="4942114"/>
              <a:ext cx="1752600" cy="1524000"/>
            </p:xfrm>
            <a:graphic>
              <a:graphicData uri="http://schemas.openxmlformats.org/drawingml/2006/table">
                <a:tbl>
                  <a:tblPr>
                    <a:tableStyleId>{5C22544A-7EE6-4342-B048-85BDC9FD1C3A}</a:tableStyleId>
                  </a:tblPr>
                  <a:tblGrid>
                    <a:gridCol w="876300">
                      <a:extLst>
                        <a:ext uri="{9D8B030D-6E8A-4147-A177-3AD203B41FA5}">
                          <a16:colId xmlns:a16="http://schemas.microsoft.com/office/drawing/2014/main" val="3214802722"/>
                        </a:ext>
                      </a:extLst>
                    </a:gridCol>
                    <a:gridCol w="876300">
                      <a:extLst>
                        <a:ext uri="{9D8B030D-6E8A-4147-A177-3AD203B41FA5}">
                          <a16:colId xmlns:a16="http://schemas.microsoft.com/office/drawing/2014/main" val="3090613650"/>
                        </a:ext>
                      </a:extLst>
                    </a:gridCol>
                  </a:tblGrid>
                  <a:tr h="381000">
                    <a:tc>
                      <a:txBody>
                        <a:bodyPr/>
                        <a:lstStyle/>
                        <a:p>
                          <a:pPr algn="l" fontAlgn="t"/>
                          <a:r>
                            <a:rPr lang="sv-SE" sz="1100" u="none" strike="noStrike" dirty="0">
                              <a:effectLst/>
                            </a:rPr>
                            <a:t>V</a:t>
                          </a:r>
                          <a:r>
                            <a:rPr lang="sv-SE" sz="850" u="none" strike="noStrike" dirty="0">
                              <a:effectLst/>
                            </a:rPr>
                            <a:t>GS </a:t>
                          </a:r>
                          <a:r>
                            <a:rPr lang="sv-SE" sz="1200" u="none" strike="noStrike" dirty="0">
                              <a:effectLst/>
                            </a:rPr>
                            <a:t>= 18 V,</a:t>
                          </a:r>
                          <a:br>
                            <a:rPr lang="sv-SE" sz="1200" u="none" strike="noStrike" dirty="0">
                              <a:effectLst/>
                            </a:rPr>
                          </a:br>
                          <a:r>
                            <a:rPr lang="sv-SE" sz="1100" u="none" strike="noStrike" dirty="0" err="1">
                              <a:effectLst/>
                            </a:rPr>
                            <a:t>T</a:t>
                          </a:r>
                          <a:r>
                            <a:rPr lang="sv-SE" sz="850" u="none" strike="noStrike" dirty="0" err="1">
                              <a:effectLst/>
                            </a:rPr>
                            <a:t>vj</a:t>
                          </a:r>
                          <a:r>
                            <a:rPr lang="sv-SE" sz="850" u="none" strike="noStrike" dirty="0">
                              <a:effectLst/>
                            </a:rPr>
                            <a:t> </a:t>
                          </a:r>
                          <a:r>
                            <a:rPr lang="sv-SE" sz="1200" u="none" strike="noStrike" dirty="0">
                              <a:effectLst/>
                            </a:rPr>
                            <a:t>= 25 °C</a:t>
                          </a:r>
                          <a:endParaRPr lang="sv-SE" sz="1100" b="0" i="1" u="none" strike="noStrike" dirty="0">
                            <a:solidFill>
                              <a:srgbClr val="000000"/>
                            </a:solidFill>
                            <a:effectLst/>
                            <a:latin typeface="Source Sans Pro"/>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t"/>
                          <a:r>
                            <a:rPr lang="sv-SE" sz="1200" u="none" strike="noStrike" dirty="0" smtClean="0">
                              <a:solidFill>
                                <a:srgbClr val="FF0000"/>
                              </a:solidFill>
                              <a:effectLst/>
                            </a:rPr>
                            <a:t>2,1 </a:t>
                          </a:r>
                          <a14:m>
                            <m:oMath xmlns:m="http://schemas.openxmlformats.org/officeDocument/2006/math">
                              <m:r>
                                <m:rPr>
                                  <m:sty m:val="p"/>
                                </m:rPr>
                                <a:rPr lang="sv-SE" sz="1200" b="0" i="0" u="none" strike="noStrike" smtClean="0">
                                  <a:solidFill>
                                    <a:srgbClr val="FF0000"/>
                                  </a:solidFill>
                                  <a:effectLst/>
                                  <a:latin typeface="Cambria Math" panose="02040503050406030204" pitchFamily="18" charset="0"/>
                                </a:rPr>
                                <m:t>Ω</m:t>
                              </m:r>
                            </m:oMath>
                          </a14:m>
                          <a:endParaRPr lang="sv-SE" sz="1200" b="0" i="0" u="none" strike="noStrike" dirty="0">
                            <a:solidFill>
                              <a:srgbClr val="FF0000"/>
                            </a:solidFill>
                            <a:effectLst/>
                            <a:latin typeface="Source Sans Pro"/>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25359964"/>
                      </a:ext>
                    </a:extLst>
                  </a:tr>
                  <a:tr h="381000">
                    <a:tc>
                      <a:txBody>
                        <a:bodyPr/>
                        <a:lstStyle/>
                        <a:p>
                          <a:pPr algn="l" fontAlgn="t"/>
                          <a:r>
                            <a:rPr lang="sv-SE" sz="1100" u="none" strike="noStrike" dirty="0">
                              <a:effectLst/>
                            </a:rPr>
                            <a:t>V</a:t>
                          </a:r>
                          <a:r>
                            <a:rPr lang="sv-SE" sz="850" u="none" strike="noStrike" dirty="0">
                              <a:effectLst/>
                            </a:rPr>
                            <a:t>GS </a:t>
                          </a:r>
                          <a:r>
                            <a:rPr lang="sv-SE" sz="1200" u="none" strike="noStrike" dirty="0">
                              <a:effectLst/>
                            </a:rPr>
                            <a:t>= 18 V,</a:t>
                          </a:r>
                          <a:br>
                            <a:rPr lang="sv-SE" sz="1200" u="none" strike="noStrike" dirty="0">
                              <a:effectLst/>
                            </a:rPr>
                          </a:br>
                          <a:r>
                            <a:rPr lang="sv-SE" sz="1100" u="none" strike="noStrike" dirty="0" err="1">
                              <a:effectLst/>
                            </a:rPr>
                            <a:t>T</a:t>
                          </a:r>
                          <a:r>
                            <a:rPr lang="sv-SE" sz="850" u="none" strike="noStrike" dirty="0" err="1">
                              <a:effectLst/>
                            </a:rPr>
                            <a:t>vj</a:t>
                          </a:r>
                          <a:r>
                            <a:rPr lang="sv-SE" sz="850" u="none" strike="noStrike" dirty="0">
                              <a:effectLst/>
                            </a:rPr>
                            <a:t> </a:t>
                          </a:r>
                          <a:r>
                            <a:rPr lang="sv-SE" sz="1200" u="none" strike="noStrike" dirty="0">
                              <a:effectLst/>
                            </a:rPr>
                            <a:t>= 125 °C</a:t>
                          </a:r>
                          <a:endParaRPr lang="sv-SE" sz="1100" b="0" i="1" u="none" strike="noStrike" dirty="0">
                            <a:solidFill>
                              <a:srgbClr val="000000"/>
                            </a:solidFill>
                            <a:effectLst/>
                            <a:latin typeface="Source Sans Pro"/>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t"/>
                          <a:r>
                            <a:rPr lang="sv-SE" sz="1200" u="none" strike="noStrike" dirty="0" smtClean="0">
                              <a:solidFill>
                                <a:srgbClr val="FF0000"/>
                              </a:solidFill>
                              <a:effectLst/>
                            </a:rPr>
                            <a:t>3,4</a:t>
                          </a:r>
                          <a14:m>
                            <m:oMath xmlns:m="http://schemas.openxmlformats.org/officeDocument/2006/math">
                              <m:r>
                                <m:rPr>
                                  <m:sty m:val="p"/>
                                </m:rPr>
                                <a:rPr lang="sv-SE" sz="1200" b="0" i="0" u="none" strike="noStrike" smtClean="0">
                                  <a:solidFill>
                                    <a:srgbClr val="FF0000"/>
                                  </a:solidFill>
                                  <a:effectLst/>
                                  <a:latin typeface="Cambria Math" panose="02040503050406030204" pitchFamily="18" charset="0"/>
                                </a:rPr>
                                <m:t>Ω</m:t>
                              </m:r>
                            </m:oMath>
                          </a14:m>
                          <a:endParaRPr lang="sv-SE" sz="1200" b="0" i="0" u="none" strike="noStrike" dirty="0">
                            <a:solidFill>
                              <a:srgbClr val="FF0000"/>
                            </a:solidFill>
                            <a:effectLst/>
                            <a:latin typeface="Source Sans Pro"/>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61443675"/>
                      </a:ext>
                    </a:extLst>
                  </a:tr>
                  <a:tr h="381000">
                    <a:tc>
                      <a:txBody>
                        <a:bodyPr/>
                        <a:lstStyle/>
                        <a:p>
                          <a:pPr algn="l" fontAlgn="t"/>
                          <a:r>
                            <a:rPr lang="sv-SE" sz="1100" u="none" strike="noStrike">
                              <a:effectLst/>
                            </a:rPr>
                            <a:t>V</a:t>
                          </a:r>
                          <a:r>
                            <a:rPr lang="sv-SE" sz="850" u="none" strike="noStrike">
                              <a:effectLst/>
                            </a:rPr>
                            <a:t>GS </a:t>
                          </a:r>
                          <a:r>
                            <a:rPr lang="sv-SE" sz="1200" u="none" strike="noStrike">
                              <a:effectLst/>
                            </a:rPr>
                            <a:t>= 18 V,</a:t>
                          </a:r>
                          <a:br>
                            <a:rPr lang="sv-SE" sz="1200" u="none" strike="noStrike">
                              <a:effectLst/>
                            </a:rPr>
                          </a:br>
                          <a:r>
                            <a:rPr lang="sv-SE" sz="1100" u="none" strike="noStrike">
                              <a:effectLst/>
                            </a:rPr>
                            <a:t>T</a:t>
                          </a:r>
                          <a:r>
                            <a:rPr lang="sv-SE" sz="850" u="none" strike="noStrike">
                              <a:effectLst/>
                            </a:rPr>
                            <a:t>vj </a:t>
                          </a:r>
                          <a:r>
                            <a:rPr lang="sv-SE" sz="1200" u="none" strike="noStrike">
                              <a:effectLst/>
                            </a:rPr>
                            <a:t>= 175 °C</a:t>
                          </a:r>
                          <a:endParaRPr lang="sv-SE" sz="1100" b="0" i="1" u="none" strike="noStrike">
                            <a:solidFill>
                              <a:srgbClr val="000000"/>
                            </a:solidFill>
                            <a:effectLst/>
                            <a:latin typeface="Source Sans Pro"/>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t"/>
                          <a:r>
                            <a:rPr lang="sv-SE" sz="1200" u="none" strike="noStrike" dirty="0" smtClean="0">
                              <a:solidFill>
                                <a:srgbClr val="FF0000"/>
                              </a:solidFill>
                              <a:effectLst/>
                            </a:rPr>
                            <a:t>4,3</a:t>
                          </a:r>
                          <a14:m>
                            <m:oMath xmlns:m="http://schemas.openxmlformats.org/officeDocument/2006/math">
                              <m:r>
                                <m:rPr>
                                  <m:sty m:val="p"/>
                                </m:rPr>
                                <a:rPr lang="sv-SE" sz="1200" b="0" i="0" u="none" strike="noStrike" smtClean="0">
                                  <a:solidFill>
                                    <a:srgbClr val="FF0000"/>
                                  </a:solidFill>
                                  <a:effectLst/>
                                  <a:latin typeface="Cambria Math" panose="02040503050406030204" pitchFamily="18" charset="0"/>
                                </a:rPr>
                                <m:t>Ω</m:t>
                              </m:r>
                            </m:oMath>
                          </a14:m>
                          <a:endParaRPr lang="sv-SE" sz="1200" b="0" i="0" u="none" strike="noStrike" dirty="0">
                            <a:solidFill>
                              <a:srgbClr val="FF0000"/>
                            </a:solidFill>
                            <a:effectLst/>
                            <a:latin typeface="Source Sans Pro"/>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93678389"/>
                      </a:ext>
                    </a:extLst>
                  </a:tr>
                  <a:tr h="381000">
                    <a:tc>
                      <a:txBody>
                        <a:bodyPr/>
                        <a:lstStyle/>
                        <a:p>
                          <a:pPr algn="l" fontAlgn="t"/>
                          <a:r>
                            <a:rPr lang="sv-SE" sz="1100" u="none" strike="noStrike" dirty="0">
                              <a:effectLst/>
                            </a:rPr>
                            <a:t>V</a:t>
                          </a:r>
                          <a:r>
                            <a:rPr lang="sv-SE" sz="850" u="none" strike="noStrike" dirty="0">
                              <a:effectLst/>
                            </a:rPr>
                            <a:t>GS </a:t>
                          </a:r>
                          <a:r>
                            <a:rPr lang="sv-SE" sz="1200" u="none" strike="noStrike" dirty="0">
                              <a:effectLst/>
                            </a:rPr>
                            <a:t>= 15 V,</a:t>
                          </a:r>
                          <a:br>
                            <a:rPr lang="sv-SE" sz="1200" u="none" strike="noStrike" dirty="0">
                              <a:effectLst/>
                            </a:rPr>
                          </a:br>
                          <a:r>
                            <a:rPr lang="sv-SE" sz="1100" u="none" strike="noStrike" dirty="0" err="1">
                              <a:effectLst/>
                            </a:rPr>
                            <a:t>T</a:t>
                          </a:r>
                          <a:r>
                            <a:rPr lang="sv-SE" sz="850" u="none" strike="noStrike" dirty="0" err="1">
                              <a:effectLst/>
                            </a:rPr>
                            <a:t>vj</a:t>
                          </a:r>
                          <a:r>
                            <a:rPr lang="sv-SE" sz="850" u="none" strike="noStrike" dirty="0">
                              <a:effectLst/>
                            </a:rPr>
                            <a:t> </a:t>
                          </a:r>
                          <a:r>
                            <a:rPr lang="sv-SE" sz="1200" u="none" strike="noStrike" dirty="0">
                              <a:effectLst/>
                            </a:rPr>
                            <a:t>= 25 °C</a:t>
                          </a:r>
                          <a:endParaRPr lang="sv-SE" sz="1100" b="0" i="1" u="none" strike="noStrike" dirty="0">
                            <a:solidFill>
                              <a:srgbClr val="000000"/>
                            </a:solidFill>
                            <a:effectLst/>
                            <a:latin typeface="Source Sans Pro"/>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t"/>
                          <a:r>
                            <a:rPr lang="sv-SE" sz="1200" u="none" strike="noStrike" dirty="0" smtClean="0">
                              <a:solidFill>
                                <a:srgbClr val="FF0000"/>
                              </a:solidFill>
                              <a:effectLst/>
                            </a:rPr>
                            <a:t>2,4</a:t>
                          </a:r>
                          <a14:m>
                            <m:oMath xmlns:m="http://schemas.openxmlformats.org/officeDocument/2006/math">
                              <m:r>
                                <m:rPr>
                                  <m:sty m:val="p"/>
                                </m:rPr>
                                <a:rPr lang="sv-SE" sz="1200" b="0" i="0" u="none" strike="noStrike" smtClean="0">
                                  <a:solidFill>
                                    <a:srgbClr val="FF0000"/>
                                  </a:solidFill>
                                  <a:effectLst/>
                                  <a:latin typeface="Cambria Math" panose="02040503050406030204" pitchFamily="18" charset="0"/>
                                </a:rPr>
                                <m:t>Ω</m:t>
                              </m:r>
                            </m:oMath>
                          </a14:m>
                          <a:endParaRPr lang="sv-SE" sz="1200" b="0" i="0" u="none" strike="noStrike" dirty="0">
                            <a:solidFill>
                              <a:srgbClr val="FF0000"/>
                            </a:solidFill>
                            <a:effectLst/>
                            <a:latin typeface="Source Sans Pro"/>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27315180"/>
                      </a:ext>
                    </a:extLst>
                  </a:tr>
                </a:tbl>
              </a:graphicData>
            </a:graphic>
          </p:graphicFrame>
        </mc:Choice>
        <mc:Fallback>
          <p:graphicFrame>
            <p:nvGraphicFramePr>
              <p:cNvPr id="15" name="Table 14"/>
              <p:cNvGraphicFramePr>
                <a:graphicFrameLocks noGrp="1"/>
              </p:cNvGraphicFramePr>
              <p:nvPr>
                <p:extLst>
                  <p:ext uri="{D42A27DB-BD31-4B8C-83A1-F6EECF244321}">
                    <p14:modId xmlns:p14="http://schemas.microsoft.com/office/powerpoint/2010/main" val="1578873689"/>
                  </p:ext>
                </p:extLst>
              </p:nvPr>
            </p:nvGraphicFramePr>
            <p:xfrm>
              <a:off x="2544394" y="4942114"/>
              <a:ext cx="1752600" cy="1524000"/>
            </p:xfrm>
            <a:graphic>
              <a:graphicData uri="http://schemas.openxmlformats.org/drawingml/2006/table">
                <a:tbl>
                  <a:tblPr>
                    <a:tableStyleId>{5C22544A-7EE6-4342-B048-85BDC9FD1C3A}</a:tableStyleId>
                  </a:tblPr>
                  <a:tblGrid>
                    <a:gridCol w="876300">
                      <a:extLst>
                        <a:ext uri="{9D8B030D-6E8A-4147-A177-3AD203B41FA5}">
                          <a16:colId xmlns:a16="http://schemas.microsoft.com/office/drawing/2014/main" val="3214802722"/>
                        </a:ext>
                      </a:extLst>
                    </a:gridCol>
                    <a:gridCol w="876300">
                      <a:extLst>
                        <a:ext uri="{9D8B030D-6E8A-4147-A177-3AD203B41FA5}">
                          <a16:colId xmlns:a16="http://schemas.microsoft.com/office/drawing/2014/main" val="3090613650"/>
                        </a:ext>
                      </a:extLst>
                    </a:gridCol>
                  </a:tblGrid>
                  <a:tr h="381000">
                    <a:tc>
                      <a:txBody>
                        <a:bodyPr/>
                        <a:lstStyle/>
                        <a:p>
                          <a:pPr algn="l" fontAlgn="t"/>
                          <a:r>
                            <a:rPr lang="sv-SE" sz="1100" u="none" strike="noStrike" dirty="0">
                              <a:effectLst/>
                            </a:rPr>
                            <a:t>V</a:t>
                          </a:r>
                          <a:r>
                            <a:rPr lang="sv-SE" sz="850" u="none" strike="noStrike" dirty="0">
                              <a:effectLst/>
                            </a:rPr>
                            <a:t>GS </a:t>
                          </a:r>
                          <a:r>
                            <a:rPr lang="sv-SE" sz="1200" u="none" strike="noStrike" dirty="0">
                              <a:effectLst/>
                            </a:rPr>
                            <a:t>= 18 V,</a:t>
                          </a:r>
                          <a:br>
                            <a:rPr lang="sv-SE" sz="1200" u="none" strike="noStrike" dirty="0">
                              <a:effectLst/>
                            </a:rPr>
                          </a:br>
                          <a:r>
                            <a:rPr lang="sv-SE" sz="1100" u="none" strike="noStrike" dirty="0" err="1">
                              <a:effectLst/>
                            </a:rPr>
                            <a:t>T</a:t>
                          </a:r>
                          <a:r>
                            <a:rPr lang="sv-SE" sz="850" u="none" strike="noStrike" dirty="0" err="1">
                              <a:effectLst/>
                            </a:rPr>
                            <a:t>vj</a:t>
                          </a:r>
                          <a:r>
                            <a:rPr lang="sv-SE" sz="850" u="none" strike="noStrike" dirty="0">
                              <a:effectLst/>
                            </a:rPr>
                            <a:t> </a:t>
                          </a:r>
                          <a:r>
                            <a:rPr lang="sv-SE" sz="1200" u="none" strike="noStrike" dirty="0">
                              <a:effectLst/>
                            </a:rPr>
                            <a:t>= 25 °C</a:t>
                          </a:r>
                          <a:endParaRPr lang="sv-SE" sz="1100" b="0" i="1" u="none" strike="noStrike" dirty="0">
                            <a:solidFill>
                              <a:srgbClr val="000000"/>
                            </a:solidFill>
                            <a:effectLst/>
                            <a:latin typeface="Source Sans Pro"/>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sv-SE"/>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694" t="-9524" r="-1389" b="-320635"/>
                          </a:stretch>
                        </a:blipFill>
                      </a:tcPr>
                    </a:tc>
                    <a:extLst>
                      <a:ext uri="{0D108BD9-81ED-4DB2-BD59-A6C34878D82A}">
                        <a16:rowId xmlns:a16="http://schemas.microsoft.com/office/drawing/2014/main" val="3125359964"/>
                      </a:ext>
                    </a:extLst>
                  </a:tr>
                  <a:tr h="381000">
                    <a:tc>
                      <a:txBody>
                        <a:bodyPr/>
                        <a:lstStyle/>
                        <a:p>
                          <a:pPr algn="l" fontAlgn="t"/>
                          <a:r>
                            <a:rPr lang="sv-SE" sz="1100" u="none" strike="noStrike" dirty="0">
                              <a:effectLst/>
                            </a:rPr>
                            <a:t>V</a:t>
                          </a:r>
                          <a:r>
                            <a:rPr lang="sv-SE" sz="850" u="none" strike="noStrike" dirty="0">
                              <a:effectLst/>
                            </a:rPr>
                            <a:t>GS </a:t>
                          </a:r>
                          <a:r>
                            <a:rPr lang="sv-SE" sz="1200" u="none" strike="noStrike" dirty="0">
                              <a:effectLst/>
                            </a:rPr>
                            <a:t>= 18 V,</a:t>
                          </a:r>
                          <a:br>
                            <a:rPr lang="sv-SE" sz="1200" u="none" strike="noStrike" dirty="0">
                              <a:effectLst/>
                            </a:rPr>
                          </a:br>
                          <a:r>
                            <a:rPr lang="sv-SE" sz="1100" u="none" strike="noStrike" dirty="0" err="1">
                              <a:effectLst/>
                            </a:rPr>
                            <a:t>T</a:t>
                          </a:r>
                          <a:r>
                            <a:rPr lang="sv-SE" sz="850" u="none" strike="noStrike" dirty="0" err="1">
                              <a:effectLst/>
                            </a:rPr>
                            <a:t>vj</a:t>
                          </a:r>
                          <a:r>
                            <a:rPr lang="sv-SE" sz="850" u="none" strike="noStrike" dirty="0">
                              <a:effectLst/>
                            </a:rPr>
                            <a:t> </a:t>
                          </a:r>
                          <a:r>
                            <a:rPr lang="sv-SE" sz="1200" u="none" strike="noStrike" dirty="0">
                              <a:effectLst/>
                            </a:rPr>
                            <a:t>= 125 °C</a:t>
                          </a:r>
                          <a:endParaRPr lang="sv-SE" sz="1100" b="0" i="1" u="none" strike="noStrike" dirty="0">
                            <a:solidFill>
                              <a:srgbClr val="000000"/>
                            </a:solidFill>
                            <a:effectLst/>
                            <a:latin typeface="Source Sans Pro"/>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sv-SE"/>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694" t="-109524" r="-1389" b="-220635"/>
                          </a:stretch>
                        </a:blipFill>
                      </a:tcPr>
                    </a:tc>
                    <a:extLst>
                      <a:ext uri="{0D108BD9-81ED-4DB2-BD59-A6C34878D82A}">
                        <a16:rowId xmlns:a16="http://schemas.microsoft.com/office/drawing/2014/main" val="3661443675"/>
                      </a:ext>
                    </a:extLst>
                  </a:tr>
                  <a:tr h="381000">
                    <a:tc>
                      <a:txBody>
                        <a:bodyPr/>
                        <a:lstStyle/>
                        <a:p>
                          <a:pPr algn="l" fontAlgn="t"/>
                          <a:r>
                            <a:rPr lang="sv-SE" sz="1100" u="none" strike="noStrike">
                              <a:effectLst/>
                            </a:rPr>
                            <a:t>V</a:t>
                          </a:r>
                          <a:r>
                            <a:rPr lang="sv-SE" sz="850" u="none" strike="noStrike">
                              <a:effectLst/>
                            </a:rPr>
                            <a:t>GS </a:t>
                          </a:r>
                          <a:r>
                            <a:rPr lang="sv-SE" sz="1200" u="none" strike="noStrike">
                              <a:effectLst/>
                            </a:rPr>
                            <a:t>= 18 V,</a:t>
                          </a:r>
                          <a:br>
                            <a:rPr lang="sv-SE" sz="1200" u="none" strike="noStrike">
                              <a:effectLst/>
                            </a:rPr>
                          </a:br>
                          <a:r>
                            <a:rPr lang="sv-SE" sz="1100" u="none" strike="noStrike">
                              <a:effectLst/>
                            </a:rPr>
                            <a:t>T</a:t>
                          </a:r>
                          <a:r>
                            <a:rPr lang="sv-SE" sz="850" u="none" strike="noStrike">
                              <a:effectLst/>
                            </a:rPr>
                            <a:t>vj </a:t>
                          </a:r>
                          <a:r>
                            <a:rPr lang="sv-SE" sz="1200" u="none" strike="noStrike">
                              <a:effectLst/>
                            </a:rPr>
                            <a:t>= 175 °C</a:t>
                          </a:r>
                          <a:endParaRPr lang="sv-SE" sz="1100" b="0" i="1" u="none" strike="noStrike">
                            <a:solidFill>
                              <a:srgbClr val="000000"/>
                            </a:solidFill>
                            <a:effectLst/>
                            <a:latin typeface="Source Sans Pro"/>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sv-SE"/>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694" t="-212903" r="-1389" b="-124194"/>
                          </a:stretch>
                        </a:blipFill>
                      </a:tcPr>
                    </a:tc>
                    <a:extLst>
                      <a:ext uri="{0D108BD9-81ED-4DB2-BD59-A6C34878D82A}">
                        <a16:rowId xmlns:a16="http://schemas.microsoft.com/office/drawing/2014/main" val="2793678389"/>
                      </a:ext>
                    </a:extLst>
                  </a:tr>
                  <a:tr h="381000">
                    <a:tc>
                      <a:txBody>
                        <a:bodyPr/>
                        <a:lstStyle/>
                        <a:p>
                          <a:pPr algn="l" fontAlgn="t"/>
                          <a:r>
                            <a:rPr lang="sv-SE" sz="1100" u="none" strike="noStrike" dirty="0">
                              <a:effectLst/>
                            </a:rPr>
                            <a:t>V</a:t>
                          </a:r>
                          <a:r>
                            <a:rPr lang="sv-SE" sz="850" u="none" strike="noStrike" dirty="0">
                              <a:effectLst/>
                            </a:rPr>
                            <a:t>GS </a:t>
                          </a:r>
                          <a:r>
                            <a:rPr lang="sv-SE" sz="1200" u="none" strike="noStrike" dirty="0">
                              <a:effectLst/>
                            </a:rPr>
                            <a:t>= 15 V,</a:t>
                          </a:r>
                          <a:br>
                            <a:rPr lang="sv-SE" sz="1200" u="none" strike="noStrike" dirty="0">
                              <a:effectLst/>
                            </a:rPr>
                          </a:br>
                          <a:r>
                            <a:rPr lang="sv-SE" sz="1100" u="none" strike="noStrike" dirty="0" err="1">
                              <a:effectLst/>
                            </a:rPr>
                            <a:t>T</a:t>
                          </a:r>
                          <a:r>
                            <a:rPr lang="sv-SE" sz="850" u="none" strike="noStrike" dirty="0" err="1">
                              <a:effectLst/>
                            </a:rPr>
                            <a:t>vj</a:t>
                          </a:r>
                          <a:r>
                            <a:rPr lang="sv-SE" sz="850" u="none" strike="noStrike" dirty="0">
                              <a:effectLst/>
                            </a:rPr>
                            <a:t> </a:t>
                          </a:r>
                          <a:r>
                            <a:rPr lang="sv-SE" sz="1200" u="none" strike="noStrike" dirty="0">
                              <a:effectLst/>
                            </a:rPr>
                            <a:t>= 25 °C</a:t>
                          </a:r>
                          <a:endParaRPr lang="sv-SE" sz="1100" b="0" i="1" u="none" strike="noStrike" dirty="0">
                            <a:solidFill>
                              <a:srgbClr val="000000"/>
                            </a:solidFill>
                            <a:effectLst/>
                            <a:latin typeface="Source Sans Pro"/>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sv-SE"/>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694" t="-307937" r="-1389" b="-22222"/>
                          </a:stretch>
                        </a:blipFill>
                      </a:tcPr>
                    </a:tc>
                    <a:extLst>
                      <a:ext uri="{0D108BD9-81ED-4DB2-BD59-A6C34878D82A}">
                        <a16:rowId xmlns:a16="http://schemas.microsoft.com/office/drawing/2014/main" val="2327315180"/>
                      </a:ext>
                    </a:extLst>
                  </a:tr>
                </a:tbl>
              </a:graphicData>
            </a:graphic>
          </p:graphicFrame>
        </mc:Fallback>
      </mc:AlternateContent>
    </p:spTree>
    <p:extLst>
      <p:ext uri="{BB962C8B-B14F-4D97-AF65-F5344CB8AC3E}">
        <p14:creationId xmlns:p14="http://schemas.microsoft.com/office/powerpoint/2010/main" val="32080857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sv-SE"/>
          </a:p>
        </p:txBody>
      </p:sp>
      <p:sp>
        <p:nvSpPr>
          <p:cNvPr id="3" name="Content Placeholder 2"/>
          <p:cNvSpPr>
            <a:spLocks noGrp="1"/>
          </p:cNvSpPr>
          <p:nvPr>
            <p:ph idx="1"/>
          </p:nvPr>
        </p:nvSpPr>
        <p:spPr/>
        <p:txBody>
          <a:bodyPr/>
          <a:lstStyle/>
          <a:p>
            <a:endParaRPr lang="sv-SE"/>
          </a:p>
        </p:txBody>
      </p:sp>
    </p:spTree>
    <p:extLst>
      <p:ext uri="{BB962C8B-B14F-4D97-AF65-F5344CB8AC3E}">
        <p14:creationId xmlns:p14="http://schemas.microsoft.com/office/powerpoint/2010/main" val="18499530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sv-SE"/>
          </a:p>
        </p:txBody>
      </p:sp>
      <p:sp>
        <p:nvSpPr>
          <p:cNvPr id="3" name="Content Placeholder 2"/>
          <p:cNvSpPr>
            <a:spLocks noGrp="1"/>
          </p:cNvSpPr>
          <p:nvPr>
            <p:ph idx="1"/>
          </p:nvPr>
        </p:nvSpPr>
        <p:spPr/>
        <p:txBody>
          <a:bodyPr/>
          <a:lstStyle/>
          <a:p>
            <a:endParaRPr lang="sv-SE"/>
          </a:p>
        </p:txBody>
      </p:sp>
    </p:spTree>
    <p:extLst>
      <p:ext uri="{BB962C8B-B14F-4D97-AF65-F5344CB8AC3E}">
        <p14:creationId xmlns:p14="http://schemas.microsoft.com/office/powerpoint/2010/main" val="30284122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014143" y="276122"/>
            <a:ext cx="10990263" cy="568412"/>
          </a:xfrm>
        </p:spPr>
        <p:txBody>
          <a:bodyPr/>
          <a:lstStyle/>
          <a:p>
            <a:r>
              <a:rPr lang="en-US" dirty="0" smtClean="0"/>
              <a:t>2-Level Inverter Power Ratings</a:t>
            </a:r>
            <a:endParaRPr lang="sv-SE"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65352" y="1403559"/>
                <a:ext cx="4985179" cy="4453808"/>
              </a:xfrm>
            </p:spPr>
            <p:txBody>
              <a:bodyPr/>
              <a:lstStyle/>
              <a:p>
                <a:pPr>
                  <a:buFont typeface="Wingdings" panose="05000000000000000000" pitchFamily="2" charset="2"/>
                  <a:buChar char="§"/>
                </a:pPr>
                <a:endParaRPr lang="en-US" i="1" dirty="0" smtClean="0">
                  <a:latin typeface="Cambria Math" panose="02040503050406030204" pitchFamily="18" charset="0"/>
                </a:endParaRPr>
              </a:p>
              <a:p>
                <a:pPr>
                  <a:buFont typeface="Wingdings" panose="05000000000000000000" pitchFamily="2" charset="2"/>
                  <a:buChar char="§"/>
                </a:pP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𝑜𝑢𝑡</m:t>
                        </m:r>
                      </m:sub>
                    </m:sSub>
                    <m:r>
                      <a:rPr lang="en-US" i="1">
                        <a:latin typeface="Cambria Math" panose="02040503050406030204" pitchFamily="18" charset="0"/>
                      </a:rPr>
                      <m:t>=300 </m:t>
                    </m:r>
                    <m:r>
                      <a:rPr lang="en-US" i="1">
                        <a:latin typeface="Cambria Math" panose="02040503050406030204" pitchFamily="18" charset="0"/>
                      </a:rPr>
                      <m:t>𝑘𝑊</m:t>
                    </m:r>
                    <m:r>
                      <a:rPr lang="en-US" i="1">
                        <a:latin typeface="Cambria Math" panose="02040503050406030204" pitchFamily="18" charset="0"/>
                      </a:rPr>
                      <m:t> </m:t>
                    </m:r>
                  </m:oMath>
                </a14:m>
                <a:endParaRPr lang="en-US" i="1" dirty="0">
                  <a:latin typeface="Cambria Math" panose="02040503050406030204" pitchFamily="18" charset="0"/>
                </a:endParaRPr>
              </a:p>
              <a:p>
                <a:pPr>
                  <a:buFont typeface="Wingdings" panose="05000000000000000000" pitchFamily="2" charset="2"/>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𝑉</m:t>
                        </m:r>
                      </m:e>
                      <m:sub>
                        <m:r>
                          <a:rPr lang="sv-SE" b="0" i="1" smtClean="0">
                            <a:latin typeface="Cambria Math" panose="02040503050406030204" pitchFamily="18" charset="0"/>
                          </a:rPr>
                          <m:t>𝐷𝐶</m:t>
                        </m:r>
                      </m:sub>
                    </m:sSub>
                    <m:r>
                      <a:rPr lang="en-US" i="1">
                        <a:latin typeface="Cambria Math" panose="02040503050406030204" pitchFamily="18" charset="0"/>
                      </a:rPr>
                      <m:t>=1</m:t>
                    </m:r>
                    <m:r>
                      <a:rPr lang="sv-SE" b="0" i="1" smtClean="0">
                        <a:latin typeface="Cambria Math" panose="02040503050406030204" pitchFamily="18" charset="0"/>
                      </a:rPr>
                      <m:t>05</m:t>
                    </m:r>
                    <m:r>
                      <a:rPr lang="en-US" i="1">
                        <a:latin typeface="Cambria Math" panose="02040503050406030204" pitchFamily="18" charset="0"/>
                      </a:rPr>
                      <m:t>0 </m:t>
                    </m:r>
                    <m:r>
                      <a:rPr lang="en-US" i="1" smtClean="0">
                        <a:latin typeface="Cambria Math" panose="02040503050406030204" pitchFamily="18" charset="0"/>
                      </a:rPr>
                      <m:t>𝑉</m:t>
                    </m:r>
                  </m:oMath>
                </a14:m>
                <a:r>
                  <a:rPr lang="sv-SE" dirty="0"/>
                  <a:t>   </a:t>
                </a:r>
              </a:p>
              <a:p>
                <a:pPr>
                  <a:buFont typeface="Wingdings" panose="05000000000000000000" pitchFamily="2" charset="2"/>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𝑖𝑛</m:t>
                        </m:r>
                      </m:sub>
                    </m:sSub>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𝑜𝑢𝑡</m:t>
                            </m:r>
                          </m:sub>
                        </m:sSub>
                      </m:num>
                      <m:den>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𝑖𝑛</m:t>
                            </m:r>
                          </m:sub>
                        </m:sSub>
                      </m:den>
                    </m:f>
                    <m:r>
                      <a:rPr lang="en-US" i="1">
                        <a:latin typeface="Cambria Math" panose="02040503050406030204" pitchFamily="18" charset="0"/>
                      </a:rPr>
                      <m:t>=2</m:t>
                    </m:r>
                    <m:r>
                      <a:rPr lang="sv-SE" b="0" i="1" smtClean="0">
                        <a:latin typeface="Cambria Math" panose="02040503050406030204" pitchFamily="18" charset="0"/>
                      </a:rPr>
                      <m:t>85</m:t>
                    </m:r>
                    <m:r>
                      <a:rPr lang="en-US" i="1">
                        <a:latin typeface="Cambria Math" panose="02040503050406030204" pitchFamily="18" charset="0"/>
                      </a:rPr>
                      <m:t> </m:t>
                    </m:r>
                    <m:r>
                      <a:rPr lang="en-US" i="1">
                        <a:latin typeface="Cambria Math" panose="02040503050406030204" pitchFamily="18" charset="0"/>
                      </a:rPr>
                      <m:t>𝐴</m:t>
                    </m:r>
                  </m:oMath>
                </a14:m>
                <a:endParaRPr lang="en-US" i="1" dirty="0">
                  <a:latin typeface="Cambria Math" panose="02040503050406030204" pitchFamily="18" charset="0"/>
                </a:endParaRPr>
              </a:p>
              <a:p>
                <a:pPr>
                  <a:buFont typeface="Wingdings" panose="05000000000000000000" pitchFamily="2" charset="2"/>
                  <a:buChar char="§"/>
                </a:pPr>
                <a14:m>
                  <m:oMath xmlns:m="http://schemas.openxmlformats.org/officeDocument/2006/math">
                    <m:sSub>
                      <m:sSubPr>
                        <m:ctrlPr>
                          <a:rPr lang="en-US" i="1" smtClean="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𝑉</m:t>
                            </m:r>
                          </m:e>
                        </m:acc>
                      </m:e>
                      <m:sub>
                        <m:r>
                          <a:rPr lang="en-US" i="1">
                            <a:latin typeface="Cambria Math" panose="02040503050406030204" pitchFamily="18" charset="0"/>
                          </a:rPr>
                          <m:t>𝑙</m:t>
                        </m:r>
                        <m:r>
                          <a:rPr lang="en-US" i="1">
                            <a:latin typeface="Cambria Math" panose="02040503050406030204" pitchFamily="18" charset="0"/>
                          </a:rPr>
                          <m:t>−</m:t>
                        </m:r>
                        <m:r>
                          <a:rPr lang="en-US" i="1">
                            <a:latin typeface="Cambria Math" panose="02040503050406030204" pitchFamily="18" charset="0"/>
                          </a:rPr>
                          <m:t>𝑛</m:t>
                        </m:r>
                      </m:sub>
                    </m:sSub>
                    <m:r>
                      <a:rPr lang="en-US" i="1">
                        <a:latin typeface="Cambria Math" panose="02040503050406030204" pitchFamily="18" charset="0"/>
                      </a:rPr>
                      <m:t>= </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𝑖𝑛</m:t>
                            </m:r>
                          </m:sub>
                        </m:sSub>
                      </m:num>
                      <m:den>
                        <m:r>
                          <a:rPr lang="en-US" i="1">
                            <a:latin typeface="Cambria Math" panose="02040503050406030204" pitchFamily="18" charset="0"/>
                          </a:rPr>
                          <m:t>2</m:t>
                        </m:r>
                      </m:den>
                    </m:f>
                    <m:r>
                      <a:rPr lang="en-US" i="1">
                        <a:latin typeface="Cambria Math" panose="02040503050406030204" pitchFamily="18" charset="0"/>
                      </a:rPr>
                      <m:t>=</m:t>
                    </m:r>
                    <m:r>
                      <a:rPr lang="sv-SE" b="0" i="1" smtClean="0">
                        <a:latin typeface="Cambria Math" panose="02040503050406030204" pitchFamily="18" charset="0"/>
                      </a:rPr>
                      <m:t>525</m:t>
                    </m:r>
                    <m:r>
                      <a:rPr lang="en-US" b="0" i="1" smtClean="0">
                        <a:latin typeface="Cambria Math" panose="02040503050406030204" pitchFamily="18" charset="0"/>
                      </a:rPr>
                      <m:t> </m:t>
                    </m:r>
                    <m:r>
                      <a:rPr lang="en-US" b="0" i="1" smtClean="0">
                        <a:latin typeface="Cambria Math" panose="02040503050406030204" pitchFamily="18" charset="0"/>
                      </a:rPr>
                      <m:t>𝑉</m:t>
                    </m:r>
                    <m:r>
                      <a:rPr lang="en-US" b="0" i="1" smtClean="0">
                        <a:latin typeface="Cambria Math" panose="02040503050406030204" pitchFamily="18" charset="0"/>
                      </a:rPr>
                      <m:t> </m:t>
                    </m:r>
                    <m:r>
                      <a:rPr lang="en-US" b="0" i="1" smtClean="0">
                        <a:latin typeface="Cambria Math" panose="02040503050406030204" pitchFamily="18" charset="0"/>
                      </a:rPr>
                      <m:t>𝑜𝑟</m:t>
                    </m:r>
                    <m:r>
                      <a:rPr lang="en-US" b="0" i="1" smtClean="0">
                        <a:latin typeface="Cambria Math" panose="02040503050406030204" pitchFamily="18" charset="0"/>
                      </a:rPr>
                      <m:t> </m:t>
                    </m:r>
                    <m:f>
                      <m:fPr>
                        <m:ctrlPr>
                          <a:rPr lang="en-US" b="0"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𝑖𝑛</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1+</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6</m:t>
                                </m:r>
                              </m:den>
                            </m:f>
                          </m:e>
                        </m:d>
                      </m:num>
                      <m:den>
                        <m:r>
                          <a:rPr lang="en-US" b="0" i="1" smtClean="0">
                            <a:latin typeface="Cambria Math" panose="02040503050406030204" pitchFamily="18" charset="0"/>
                          </a:rPr>
                          <m:t>2</m:t>
                        </m:r>
                      </m:den>
                    </m:f>
                    <m:r>
                      <a:rPr lang="en-US" i="1">
                        <a:latin typeface="Cambria Math" panose="02040503050406030204" pitchFamily="18" charset="0"/>
                      </a:rPr>
                      <m:t>=</m:t>
                    </m:r>
                    <m:r>
                      <a:rPr lang="sv-SE" b="0" i="1" smtClean="0">
                        <a:latin typeface="Cambria Math" panose="02040503050406030204" pitchFamily="18" charset="0"/>
                      </a:rPr>
                      <m:t>612.5</m:t>
                    </m:r>
                    <m:r>
                      <a:rPr lang="en-US" i="1">
                        <a:latin typeface="Cambria Math" panose="02040503050406030204" pitchFamily="18" charset="0"/>
                      </a:rPr>
                      <m:t> </m:t>
                    </m:r>
                    <m:r>
                      <a:rPr lang="en-US" i="1">
                        <a:latin typeface="Cambria Math" panose="02040503050406030204" pitchFamily="18" charset="0"/>
                      </a:rPr>
                      <m:t>𝑉</m:t>
                    </m:r>
                  </m:oMath>
                </a14:m>
                <a:endParaRPr lang="sv-SE" dirty="0" smtClean="0"/>
              </a:p>
              <a:p>
                <a:pPr>
                  <a:buFont typeface="Wingdings" panose="05000000000000000000" pitchFamily="2" charset="2"/>
                  <a:buChar char="§"/>
                </a:pP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𝐼</m:t>
                            </m:r>
                          </m:e>
                        </m:acc>
                      </m:e>
                      <m:sub>
                        <m:r>
                          <a:rPr lang="en-US" i="1">
                            <a:latin typeface="Cambria Math" panose="02040503050406030204" pitchFamily="18" charset="0"/>
                          </a:rPr>
                          <m:t>𝑙</m:t>
                        </m:r>
                      </m:sub>
                    </m:sSub>
                    <m:r>
                      <a:rPr lang="en-US" i="1">
                        <a:latin typeface="Cambria Math" panose="02040503050406030204" pitchFamily="18" charset="0"/>
                      </a:rPr>
                      <m:t>=2</m:t>
                    </m:r>
                    <m:f>
                      <m:fPr>
                        <m:ctrlPr>
                          <a:rPr lang="en-US" i="1">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𝑜𝑢𝑡</m:t>
                            </m:r>
                          </m:sub>
                        </m:sSub>
                      </m:num>
                      <m:den>
                        <m:sSub>
                          <m:sSubPr>
                            <m:ctrlPr>
                              <a:rPr lang="en-US" i="1">
                                <a:latin typeface="Cambria Math" panose="02040503050406030204" pitchFamily="18" charset="0"/>
                              </a:rPr>
                            </m:ctrlPr>
                          </m:sSubPr>
                          <m:e>
                            <m:r>
                              <a:rPr lang="en-US" i="1">
                                <a:latin typeface="Cambria Math" panose="02040503050406030204" pitchFamily="18" charset="0"/>
                              </a:rPr>
                              <m:t>3</m:t>
                            </m:r>
                            <m:acc>
                              <m:accPr>
                                <m:chr m:val="̂"/>
                                <m:ctrlPr>
                                  <a:rPr lang="en-US" i="1">
                                    <a:latin typeface="Cambria Math" panose="02040503050406030204" pitchFamily="18" charset="0"/>
                                  </a:rPr>
                                </m:ctrlPr>
                              </m:accPr>
                              <m:e>
                                <m:r>
                                  <a:rPr lang="en-US" i="1">
                                    <a:latin typeface="Cambria Math" panose="02040503050406030204" pitchFamily="18" charset="0"/>
                                  </a:rPr>
                                  <m:t>𝑉</m:t>
                                </m:r>
                              </m:e>
                            </m:acc>
                          </m:e>
                          <m:sub>
                            <m:r>
                              <a:rPr lang="en-US" i="1">
                                <a:latin typeface="Cambria Math" panose="02040503050406030204" pitchFamily="18" charset="0"/>
                              </a:rPr>
                              <m:t>𝑙</m:t>
                            </m:r>
                            <m:r>
                              <a:rPr lang="en-US" i="1">
                                <a:latin typeface="Cambria Math" panose="02040503050406030204" pitchFamily="18" charset="0"/>
                              </a:rPr>
                              <m:t>−</m:t>
                            </m:r>
                            <m:r>
                              <a:rPr lang="en-US" i="1">
                                <a:latin typeface="Cambria Math" panose="02040503050406030204" pitchFamily="18" charset="0"/>
                              </a:rPr>
                              <m:t>𝑛</m:t>
                            </m:r>
                          </m:sub>
                        </m:sSub>
                      </m:den>
                    </m:f>
                    <m:r>
                      <a:rPr lang="en-US" i="1">
                        <a:latin typeface="Cambria Math" panose="02040503050406030204" pitchFamily="18" charset="0"/>
                      </a:rPr>
                      <m:t>=32</m:t>
                    </m:r>
                    <m:r>
                      <a:rPr lang="sv-SE" b="0" i="1" smtClean="0">
                        <a:latin typeface="Cambria Math" panose="02040503050406030204" pitchFamily="18" charset="0"/>
                      </a:rPr>
                      <m:t>6 </m:t>
                    </m:r>
                    <m:r>
                      <a:rPr lang="sv-SE" b="0" i="1" smtClean="0">
                        <a:latin typeface="Cambria Math" panose="02040503050406030204" pitchFamily="18" charset="0"/>
                      </a:rPr>
                      <m:t>𝐴</m:t>
                    </m:r>
                  </m:oMath>
                </a14:m>
                <a:endParaRPr lang="sv-SE" b="0" i="1" dirty="0" smtClean="0">
                  <a:latin typeface="Cambria Math" panose="02040503050406030204" pitchFamily="18" charset="0"/>
                </a:endParaRPr>
              </a:p>
              <a:p>
                <a:pPr>
                  <a:buFont typeface="Wingdings" panose="05000000000000000000" pitchFamily="2" charset="2"/>
                  <a:buChar char="§"/>
                </a:pPr>
                <a14:m>
                  <m:oMath xmlns:m="http://schemas.openxmlformats.org/officeDocument/2006/math">
                    <m:r>
                      <a:rPr lang="en-US" i="1" dirty="0">
                        <a:latin typeface="Cambria Math" panose="02040503050406030204" pitchFamily="18" charset="0"/>
                      </a:rPr>
                      <m:t>𝑝𝑓</m:t>
                    </m:r>
                    <m:r>
                      <a:rPr lang="en-US" i="1" dirty="0">
                        <a:latin typeface="Cambria Math" panose="02040503050406030204" pitchFamily="18" charset="0"/>
                      </a:rPr>
                      <m:t>= 0.9</m:t>
                    </m:r>
                  </m:oMath>
                </a14:m>
                <a:endParaRPr lang="sv-SE" dirty="0"/>
              </a:p>
              <a:p>
                <a:pPr>
                  <a:buFont typeface="Wingdings" panose="05000000000000000000" pitchFamily="2" charset="2"/>
                  <a:buChar char="§"/>
                </a:pP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𝐼</m:t>
                            </m:r>
                          </m:e>
                        </m:acc>
                      </m:e>
                      <m:sub>
                        <m:r>
                          <a:rPr lang="en-US" i="1">
                            <a:latin typeface="Cambria Math" panose="02040503050406030204" pitchFamily="18" charset="0"/>
                          </a:rPr>
                          <m:t>𝑙</m:t>
                        </m:r>
                      </m:sub>
                    </m:sSub>
                    <m:r>
                      <a:rPr lang="en-US" i="1">
                        <a:latin typeface="Cambria Math" panose="02040503050406030204" pitchFamily="18" charset="0"/>
                      </a:rPr>
                      <m:t>=</m:t>
                    </m:r>
                    <m:r>
                      <a:rPr lang="en-US" b="0" i="1" smtClean="0">
                        <a:latin typeface="Cambria Math" panose="02040503050406030204" pitchFamily="18" charset="0"/>
                      </a:rPr>
                      <m:t>2</m:t>
                    </m:r>
                    <m:f>
                      <m:fPr>
                        <m:ctrlPr>
                          <a:rPr lang="en-US" b="0" i="1" smtClean="0">
                            <a:latin typeface="Cambria Math" panose="02040503050406030204" pitchFamily="18" charset="0"/>
                          </a:rPr>
                        </m:ctrlPr>
                      </m:fPr>
                      <m:num>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𝑜𝑢𝑡</m:t>
                                </m:r>
                              </m:sub>
                            </m:sSub>
                          </m:num>
                          <m:den>
                            <m:r>
                              <a:rPr lang="en-US" b="0" i="1" smtClean="0">
                                <a:latin typeface="Cambria Math" panose="02040503050406030204" pitchFamily="18" charset="0"/>
                              </a:rPr>
                              <m:t>𝑝𝑓</m:t>
                            </m:r>
                          </m:den>
                        </m:f>
                      </m:num>
                      <m:den>
                        <m:sSub>
                          <m:sSubPr>
                            <m:ctrlPr>
                              <a:rPr lang="en-US" i="1">
                                <a:latin typeface="Cambria Math" panose="02040503050406030204" pitchFamily="18" charset="0"/>
                              </a:rPr>
                            </m:ctrlPr>
                          </m:sSubPr>
                          <m:e>
                            <m:r>
                              <a:rPr lang="en-US" b="0" i="1" smtClean="0">
                                <a:latin typeface="Cambria Math" panose="02040503050406030204" pitchFamily="18" charset="0"/>
                              </a:rPr>
                              <m:t>3</m:t>
                            </m:r>
                            <m:acc>
                              <m:accPr>
                                <m:chr m:val="̂"/>
                                <m:ctrlPr>
                                  <a:rPr lang="en-US" i="1">
                                    <a:latin typeface="Cambria Math" panose="02040503050406030204" pitchFamily="18" charset="0"/>
                                  </a:rPr>
                                </m:ctrlPr>
                              </m:accPr>
                              <m:e>
                                <m:r>
                                  <a:rPr lang="en-US" i="1">
                                    <a:latin typeface="Cambria Math" panose="02040503050406030204" pitchFamily="18" charset="0"/>
                                  </a:rPr>
                                  <m:t>𝑉</m:t>
                                </m:r>
                              </m:e>
                            </m:acc>
                          </m:e>
                          <m:sub>
                            <m:r>
                              <a:rPr lang="en-US" i="1">
                                <a:latin typeface="Cambria Math" panose="02040503050406030204" pitchFamily="18" charset="0"/>
                              </a:rPr>
                              <m:t>𝑙</m:t>
                            </m:r>
                            <m:r>
                              <a:rPr lang="en-US" i="1">
                                <a:latin typeface="Cambria Math" panose="02040503050406030204" pitchFamily="18" charset="0"/>
                              </a:rPr>
                              <m:t>−</m:t>
                            </m:r>
                            <m:r>
                              <a:rPr lang="en-US" i="1">
                                <a:latin typeface="Cambria Math" panose="02040503050406030204" pitchFamily="18" charset="0"/>
                              </a:rPr>
                              <m:t>𝑛</m:t>
                            </m:r>
                          </m:sub>
                        </m:sSub>
                      </m:den>
                    </m:f>
                    <m:r>
                      <a:rPr lang="en-US" i="1">
                        <a:latin typeface="Cambria Math" panose="02040503050406030204" pitchFamily="18" charset="0"/>
                      </a:rPr>
                      <m:t>=</m:t>
                    </m:r>
                    <m:r>
                      <a:rPr lang="sv-SE" b="0" i="1" smtClean="0">
                        <a:latin typeface="Cambria Math" panose="02040503050406030204" pitchFamily="18" charset="0"/>
                      </a:rPr>
                      <m:t>360</m:t>
                    </m:r>
                    <m:r>
                      <a:rPr lang="sv-SE" b="0" i="1" smtClean="0">
                        <a:latin typeface="Cambria Math" panose="02040503050406030204" pitchFamily="18" charset="0"/>
                      </a:rPr>
                      <m:t>𝐴</m:t>
                    </m:r>
                  </m:oMath>
                </a14:m>
                <a:endParaRPr lang="en-US" b="1"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65352" y="1403559"/>
                <a:ext cx="4985179" cy="4453808"/>
              </a:xfrm>
              <a:blipFill>
                <a:blip r:embed="rId2"/>
                <a:stretch>
                  <a:fillRect l="-1100"/>
                </a:stretch>
              </a:blipFill>
            </p:spPr>
            <p:txBody>
              <a:bodyPr/>
              <a:lstStyle/>
              <a:p>
                <a:r>
                  <a:rPr lang="sv-SE">
                    <a:noFill/>
                  </a:rPr>
                  <a:t> </a:t>
                </a:r>
              </a:p>
            </p:txBody>
          </p:sp>
        </mc:Fallback>
      </mc:AlternateContent>
      <p:pic>
        <p:nvPicPr>
          <p:cNvPr id="4" name="Picture 3"/>
          <p:cNvPicPr>
            <a:picLocks noChangeAspect="1"/>
          </p:cNvPicPr>
          <p:nvPr/>
        </p:nvPicPr>
        <p:blipFill rotWithShape="1">
          <a:blip r:embed="rId3"/>
          <a:srcRect l="4779" r="80577" b="10137"/>
          <a:stretch/>
        </p:blipFill>
        <p:spPr>
          <a:xfrm>
            <a:off x="9598440" y="1668422"/>
            <a:ext cx="1464277" cy="2625804"/>
          </a:xfrm>
          <a:prstGeom prst="rect">
            <a:avLst/>
          </a:prstGeom>
        </p:spPr>
      </p:pic>
      <mc:AlternateContent xmlns:mc="http://schemas.openxmlformats.org/markup-compatibility/2006" xmlns:a14="http://schemas.microsoft.com/office/drawing/2010/main">
        <mc:Choice Requires="a14">
          <p:sp>
            <p:nvSpPr>
              <p:cNvPr id="6" name="Rectangle 5"/>
              <p:cNvSpPr/>
              <p:nvPr/>
            </p:nvSpPr>
            <p:spPr>
              <a:xfrm>
                <a:off x="5917950" y="5211036"/>
                <a:ext cx="5583936" cy="646331"/>
              </a:xfrm>
              <a:prstGeom prst="rect">
                <a:avLst/>
              </a:prstGeom>
            </p:spPr>
            <p:txBody>
              <a:bodyPr wrap="square">
                <a:spAutoFit/>
              </a:bodyPr>
              <a:lstStyle/>
              <a:p>
                <a:pPr algn="ctr"/>
                <a:r>
                  <a:rPr lang="en-US" dirty="0" smtClean="0"/>
                  <a:t>Efficiency </a:t>
                </a:r>
                <a:r>
                  <a:rPr lang="en-US" dirty="0"/>
                  <a:t>(99.5%) </a:t>
                </a:r>
                <a:endParaRPr lang="en-US" dirty="0" smtClean="0"/>
              </a:p>
              <a:p>
                <a:pPr algn="ctr"/>
                <a:r>
                  <a:rPr lang="en-US" dirty="0" smtClean="0">
                    <a:sym typeface="Wingdings" panose="05000000000000000000" pitchFamily="2" charset="2"/>
                  </a:rPr>
                  <a:t>Semiconductor Losses (6 switches): </a:t>
                </a:r>
                <a:r>
                  <a:rPr lang="en-US" b="1" dirty="0">
                    <a:sym typeface="Wingdings" panose="05000000000000000000" pitchFamily="2" charset="2"/>
                  </a:rPr>
                  <a:t>1500 </a:t>
                </a:r>
                <a14:m>
                  <m:oMath xmlns:m="http://schemas.openxmlformats.org/officeDocument/2006/math">
                    <m:r>
                      <a:rPr lang="en-US" b="1" i="1">
                        <a:latin typeface="Cambria Math" panose="02040503050406030204" pitchFamily="18" charset="0"/>
                      </a:rPr>
                      <m:t>𝑾</m:t>
                    </m:r>
                  </m:oMath>
                </a14:m>
                <a:endParaRPr lang="sv-SE" b="1" dirty="0"/>
              </a:p>
            </p:txBody>
          </p:sp>
        </mc:Choice>
        <mc:Fallback xmlns="">
          <p:sp>
            <p:nvSpPr>
              <p:cNvPr id="6" name="Rectangle 5"/>
              <p:cNvSpPr>
                <a:spLocks noRot="1" noChangeAspect="1" noMove="1" noResize="1" noEditPoints="1" noAdjustHandles="1" noChangeArrowheads="1" noChangeShapeType="1" noTextEdit="1"/>
              </p:cNvSpPr>
              <p:nvPr/>
            </p:nvSpPr>
            <p:spPr>
              <a:xfrm>
                <a:off x="5917950" y="5211036"/>
                <a:ext cx="5583936" cy="646331"/>
              </a:xfrm>
              <a:prstGeom prst="rect">
                <a:avLst/>
              </a:prstGeom>
              <a:blipFill>
                <a:blip r:embed="rId4"/>
                <a:stretch>
                  <a:fillRect t="-5660" b="-14151"/>
                </a:stretch>
              </a:blipFill>
            </p:spPr>
            <p:txBody>
              <a:bodyPr/>
              <a:lstStyle/>
              <a:p>
                <a:r>
                  <a:rPr lang="sv-SE">
                    <a:noFill/>
                  </a:rPr>
                  <a:t> </a:t>
                </a:r>
              </a:p>
            </p:txBody>
          </p:sp>
        </mc:Fallback>
      </mc:AlternateContent>
      <p:pic>
        <p:nvPicPr>
          <p:cNvPr id="5" name="Picture 4"/>
          <p:cNvPicPr>
            <a:picLocks noChangeAspect="1"/>
          </p:cNvPicPr>
          <p:nvPr/>
        </p:nvPicPr>
        <p:blipFill>
          <a:blip r:embed="rId5"/>
          <a:stretch>
            <a:fillRect/>
          </a:stretch>
        </p:blipFill>
        <p:spPr>
          <a:xfrm>
            <a:off x="5796349" y="1668422"/>
            <a:ext cx="3103351" cy="3098753"/>
          </a:xfrm>
          <a:prstGeom prst="rect">
            <a:avLst/>
          </a:prstGeom>
        </p:spPr>
      </p:pic>
    </p:spTree>
    <p:extLst>
      <p:ext uri="{BB962C8B-B14F-4D97-AF65-F5344CB8AC3E}">
        <p14:creationId xmlns:p14="http://schemas.microsoft.com/office/powerpoint/2010/main" val="147732490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281561" y="360012"/>
            <a:ext cx="10990263" cy="568412"/>
          </a:xfrm>
        </p:spPr>
        <p:txBody>
          <a:bodyPr/>
          <a:lstStyle/>
          <a:p>
            <a:r>
              <a:rPr lang="en-US" dirty="0" smtClean="0"/>
              <a:t>Given Parameters from Infineon</a:t>
            </a:r>
            <a:endParaRPr lang="sv-SE"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0073" y="1423770"/>
                <a:ext cx="10990263" cy="4839352"/>
              </a:xfrm>
            </p:spPr>
            <p:txBody>
              <a:bodyPr/>
              <a:lstStyle/>
              <a:p>
                <a:pPr marL="0" indent="0">
                  <a:buNone/>
                </a:pPr>
                <a:r>
                  <a:rPr lang="en-US" b="1" dirty="0" smtClean="0"/>
                  <a:t>A. Basic Parameters:</a:t>
                </a:r>
                <a:endParaRPr lang="sv-SE" dirty="0"/>
              </a:p>
              <a:p>
                <a:pPr lvl="0"/>
                <a:r>
                  <a:rPr lang="en-US" dirty="0"/>
                  <a:t>Current rating @25°C (in Amperes) </a:t>
                </a:r>
                <a14:m>
                  <m:oMath xmlns:m="http://schemas.openxmlformats.org/officeDocument/2006/math">
                    <m:r>
                      <a:rPr lang="en-US" i="1" dirty="0">
                        <a:solidFill>
                          <a:srgbClr val="FF0000"/>
                        </a:solidFill>
                        <a:latin typeface="Cambria Math" panose="02040503050406030204" pitchFamily="18" charset="0"/>
                      </a:rPr>
                      <m:t>7</m:t>
                    </m:r>
                    <m:r>
                      <a:rPr lang="sv-SE" b="0" i="1" dirty="0" smtClean="0">
                        <a:solidFill>
                          <a:srgbClr val="FF0000"/>
                        </a:solidFill>
                        <a:latin typeface="Cambria Math" panose="02040503050406030204" pitchFamily="18" charset="0"/>
                      </a:rPr>
                      <m:t>00</m:t>
                    </m:r>
                    <m:r>
                      <a:rPr lang="en-US" i="1" dirty="0" smtClean="0">
                        <a:solidFill>
                          <a:srgbClr val="FF0000"/>
                        </a:solidFill>
                        <a:latin typeface="Cambria Math" panose="02040503050406030204" pitchFamily="18" charset="0"/>
                      </a:rPr>
                      <m:t> </m:t>
                    </m:r>
                    <m:r>
                      <a:rPr lang="en-US" i="1" dirty="0" smtClean="0">
                        <a:solidFill>
                          <a:srgbClr val="FF0000"/>
                        </a:solidFill>
                        <a:latin typeface="Cambria Math" panose="02040503050406030204" pitchFamily="18" charset="0"/>
                      </a:rPr>
                      <m:t>𝐴</m:t>
                    </m:r>
                  </m:oMath>
                </a14:m>
                <a:endParaRPr lang="sv-SE" dirty="0" smtClean="0">
                  <a:solidFill>
                    <a:srgbClr val="FF0000"/>
                  </a:solidFill>
                </a:endParaRPr>
              </a:p>
              <a:p>
                <a:pPr lvl="0"/>
                <a:endParaRPr lang="sv-SE" dirty="0">
                  <a:solidFill>
                    <a:srgbClr val="FF0000"/>
                  </a:solidFill>
                </a:endParaRPr>
              </a:p>
              <a:p>
                <a:pPr lvl="0"/>
                <a:r>
                  <a:rPr lang="en-US" dirty="0"/>
                  <a:t>On-state resistance @25°C (in Ohms</a:t>
                </a:r>
                <a:r>
                  <a:rPr lang="en-US" dirty="0" smtClean="0"/>
                  <a:t>)</a:t>
                </a:r>
              </a:p>
              <a:p>
                <a:pPr marL="0" lvl="0" indent="0">
                  <a:buNone/>
                </a:pPr>
                <a:endParaRPr lang="en-US" dirty="0" smtClean="0"/>
              </a:p>
              <a:p>
                <a:pPr lvl="0"/>
                <a:r>
                  <a:rPr lang="en-US" dirty="0" smtClean="0"/>
                  <a:t>Internal </a:t>
                </a:r>
                <a:r>
                  <a:rPr lang="en-US" dirty="0"/>
                  <a:t>gate resistance (in Ohms) ~ </a:t>
                </a:r>
                <a14:m>
                  <m:oMath xmlns:m="http://schemas.openxmlformats.org/officeDocument/2006/math">
                    <m:r>
                      <a:rPr lang="en-US" i="1" dirty="0">
                        <a:solidFill>
                          <a:srgbClr val="FF0000"/>
                        </a:solidFill>
                        <a:latin typeface="Cambria Math" panose="02040503050406030204" pitchFamily="18" charset="0"/>
                      </a:rPr>
                      <m:t>2</m:t>
                    </m:r>
                    <m:r>
                      <a:rPr lang="en-US" i="1" dirty="0" smtClean="0">
                        <a:solidFill>
                          <a:srgbClr val="FF0000"/>
                        </a:solidFill>
                        <a:latin typeface="Cambria Math" panose="02040503050406030204" pitchFamily="18" charset="0"/>
                      </a:rPr>
                      <m:t>,</m:t>
                    </m:r>
                    <m:r>
                      <a:rPr lang="sv-SE" b="0" i="1" dirty="0" smtClean="0">
                        <a:solidFill>
                          <a:srgbClr val="FF0000"/>
                        </a:solidFill>
                        <a:latin typeface="Cambria Math" panose="02040503050406030204" pitchFamily="18" charset="0"/>
                      </a:rPr>
                      <m:t>1 </m:t>
                    </m:r>
                    <m:r>
                      <m:rPr>
                        <m:sty m:val="p"/>
                      </m:rPr>
                      <a:rPr lang="sv-SE" b="0" i="0" dirty="0" smtClean="0">
                        <a:solidFill>
                          <a:srgbClr val="FF0000"/>
                        </a:solidFill>
                        <a:latin typeface="Cambria Math" panose="02040503050406030204" pitchFamily="18" charset="0"/>
                      </a:rPr>
                      <m:t>Ω</m:t>
                    </m:r>
                    <m:r>
                      <a:rPr lang="sv-SE" b="0" i="1" dirty="0" smtClean="0">
                        <a:solidFill>
                          <a:srgbClr val="FF0000"/>
                        </a:solidFill>
                        <a:latin typeface="Cambria Math" panose="02040503050406030204" pitchFamily="18" charset="0"/>
                      </a:rPr>
                      <m:t> </m:t>
                    </m:r>
                  </m:oMath>
                </a14:m>
                <a:endParaRPr lang="sv-SE" dirty="0" smtClean="0">
                  <a:solidFill>
                    <a:srgbClr val="FF0000"/>
                  </a:solidFill>
                </a:endParaRPr>
              </a:p>
              <a:p>
                <a:pPr marL="0" lvl="0" indent="0">
                  <a:buNone/>
                </a:pPr>
                <a:endParaRPr lang="sv-SE" dirty="0">
                  <a:solidFill>
                    <a:srgbClr val="FF0000"/>
                  </a:solidFill>
                </a:endParaRPr>
              </a:p>
              <a:p>
                <a:pPr lvl="0"/>
                <a:r>
                  <a:rPr lang="de-DE" dirty="0"/>
                  <a:t>Die Size (</a:t>
                </a:r>
                <a:r>
                  <a:rPr lang="de-DE" dirty="0" smtClean="0"/>
                  <a:t>mm) </a:t>
                </a:r>
                <a14:m>
                  <m:oMath xmlns:m="http://schemas.openxmlformats.org/officeDocument/2006/math">
                    <m:r>
                      <a:rPr lang="sv-SE" b="0" i="1" smtClean="0">
                        <a:solidFill>
                          <a:srgbClr val="FF0000"/>
                        </a:solidFill>
                        <a:latin typeface="Cambria Math" panose="02040503050406030204" pitchFamily="18" charset="0"/>
                      </a:rPr>
                      <m:t>20</m:t>
                    </m:r>
                    <m:r>
                      <a:rPr lang="sv-SE" b="0" i="1" smtClean="0">
                        <a:solidFill>
                          <a:srgbClr val="FF0000"/>
                        </a:solidFill>
                        <a:latin typeface="Cambria Math" panose="02040503050406030204" pitchFamily="18" charset="0"/>
                      </a:rPr>
                      <m:t>𝑚</m:t>
                    </m:r>
                    <m:sSup>
                      <m:sSupPr>
                        <m:ctrlPr>
                          <a:rPr lang="sv-SE" b="0" i="1" smtClean="0">
                            <a:solidFill>
                              <a:srgbClr val="FF0000"/>
                            </a:solidFill>
                            <a:latin typeface="Cambria Math" panose="02040503050406030204" pitchFamily="18" charset="0"/>
                          </a:rPr>
                        </m:ctrlPr>
                      </m:sSupPr>
                      <m:e>
                        <m:r>
                          <a:rPr lang="sv-SE" b="0" i="1" smtClean="0">
                            <a:solidFill>
                              <a:srgbClr val="FF0000"/>
                            </a:solidFill>
                            <a:latin typeface="Cambria Math" panose="02040503050406030204" pitchFamily="18" charset="0"/>
                          </a:rPr>
                          <m:t>𝑚</m:t>
                        </m:r>
                      </m:e>
                      <m:sup>
                        <m:r>
                          <a:rPr lang="sv-SE" b="0" i="1" smtClean="0">
                            <a:solidFill>
                              <a:srgbClr val="FF0000"/>
                            </a:solidFill>
                            <a:latin typeface="Cambria Math" panose="02040503050406030204" pitchFamily="18" charset="0"/>
                          </a:rPr>
                          <m:t>2</m:t>
                        </m:r>
                      </m:sup>
                    </m:sSup>
                  </m:oMath>
                </a14:m>
                <a:r>
                  <a:rPr lang="sv-SE" dirty="0" smtClean="0">
                    <a:solidFill>
                      <a:srgbClr val="FF0000"/>
                    </a:solidFill>
                  </a:rPr>
                  <a:t>   (12 chips)</a:t>
                </a:r>
              </a:p>
              <a:p>
                <a:pPr lvl="0"/>
                <a:endParaRPr lang="sv-SE" dirty="0">
                  <a:solidFill>
                    <a:srgbClr val="FF0000"/>
                  </a:solidFill>
                </a:endParaRPr>
              </a:p>
              <a:p>
                <a:r>
                  <a:rPr lang="en-US" dirty="0"/>
                  <a:t>Thermal resistance (Junction </a:t>
                </a:r>
                <a:r>
                  <a:rPr lang="en-US" dirty="0" smtClean="0"/>
                  <a:t>to Fluid)  </a:t>
                </a:r>
                <a14:m>
                  <m:oMath xmlns:m="http://schemas.openxmlformats.org/officeDocument/2006/math">
                    <m:r>
                      <a:rPr lang="sv-SE" i="1" dirty="0" smtClean="0">
                        <a:solidFill>
                          <a:srgbClr val="FF0000"/>
                        </a:solidFill>
                        <a:latin typeface="Cambria Math" panose="02040503050406030204" pitchFamily="18" charset="0"/>
                      </a:rPr>
                      <m:t>56</m:t>
                    </m:r>
                    <m:r>
                      <m:rPr>
                        <m:nor/>
                      </m:rPr>
                      <a:rPr lang="en-US" dirty="0">
                        <a:solidFill>
                          <a:srgbClr val="FF0000"/>
                        </a:solidFill>
                      </a:rPr>
                      <m:t>°</m:t>
                    </m:r>
                    <m:r>
                      <m:rPr>
                        <m:nor/>
                      </m:rPr>
                      <a:rPr lang="en-US" dirty="0">
                        <a:solidFill>
                          <a:srgbClr val="FF0000"/>
                        </a:solidFill>
                      </a:rPr>
                      <m:t>C</m:t>
                    </m:r>
                    <m:r>
                      <m:rPr>
                        <m:nor/>
                      </m:rPr>
                      <a:rPr lang="sv-SE" b="0" i="0" dirty="0" smtClean="0">
                        <a:solidFill>
                          <a:srgbClr val="FF0000"/>
                        </a:solidFill>
                      </a:rPr>
                      <m:t>/</m:t>
                    </m:r>
                    <m:r>
                      <m:rPr>
                        <m:nor/>
                      </m:rPr>
                      <a:rPr lang="en-US" dirty="0">
                        <a:solidFill>
                          <a:srgbClr val="FF0000"/>
                        </a:solidFill>
                      </a:rPr>
                      <m:t>kW</m:t>
                    </m:r>
                    <m:r>
                      <m:rPr>
                        <m:nor/>
                      </m:rPr>
                      <a:rPr lang="sv-SE" b="0" i="0" dirty="0" smtClean="0">
                        <a:solidFill>
                          <a:srgbClr val="FF0000"/>
                        </a:solidFill>
                      </a:rPr>
                      <m:t> </m:t>
                    </m:r>
                  </m:oMath>
                </a14:m>
                <a:r>
                  <a:rPr lang="sv-SE" dirty="0" smtClean="0">
                    <a:solidFill>
                      <a:srgbClr val="FF0000"/>
                    </a:solidFill>
                  </a:rPr>
                  <a:t> </a:t>
                </a:r>
                <a:endParaRPr lang="sv-SE" dirty="0">
                  <a:solidFill>
                    <a:srgbClr val="FF0000"/>
                  </a:solidFill>
                </a:endParaRPr>
              </a:p>
              <a:p>
                <a:pPr marL="0" lvl="0" indent="0">
                  <a:buNone/>
                </a:pPr>
                <a:r>
                  <a:rPr lang="sv-SE" dirty="0"/>
                  <a:t>	</a:t>
                </a:r>
                <a:r>
                  <a:rPr lang="sv-SE" dirty="0" smtClean="0"/>
                  <a:t>					</a:t>
                </a:r>
                <a:endParaRPr lang="sv-SE"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0073" y="1423770"/>
                <a:ext cx="10990263" cy="4839352"/>
              </a:xfrm>
              <a:blipFill>
                <a:blip r:embed="rId2"/>
                <a:stretch>
                  <a:fillRect l="-555" t="-1261"/>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1086328586"/>
                  </p:ext>
                </p:extLst>
              </p:nvPr>
            </p:nvGraphicFramePr>
            <p:xfrm>
              <a:off x="7029091" y="2041584"/>
              <a:ext cx="1752600" cy="1524000"/>
            </p:xfrm>
            <a:graphic>
              <a:graphicData uri="http://schemas.openxmlformats.org/drawingml/2006/table">
                <a:tbl>
                  <a:tblPr>
                    <a:tableStyleId>{5C22544A-7EE6-4342-B048-85BDC9FD1C3A}</a:tableStyleId>
                  </a:tblPr>
                  <a:tblGrid>
                    <a:gridCol w="876300">
                      <a:extLst>
                        <a:ext uri="{9D8B030D-6E8A-4147-A177-3AD203B41FA5}">
                          <a16:colId xmlns:a16="http://schemas.microsoft.com/office/drawing/2014/main" val="3214802722"/>
                        </a:ext>
                      </a:extLst>
                    </a:gridCol>
                    <a:gridCol w="876300">
                      <a:extLst>
                        <a:ext uri="{9D8B030D-6E8A-4147-A177-3AD203B41FA5}">
                          <a16:colId xmlns:a16="http://schemas.microsoft.com/office/drawing/2014/main" val="3090613650"/>
                        </a:ext>
                      </a:extLst>
                    </a:gridCol>
                  </a:tblGrid>
                  <a:tr h="381000">
                    <a:tc>
                      <a:txBody>
                        <a:bodyPr/>
                        <a:lstStyle/>
                        <a:p>
                          <a:pPr algn="l" fontAlgn="t"/>
                          <a:r>
                            <a:rPr lang="sv-SE" sz="1100" u="none" strike="noStrike" dirty="0">
                              <a:effectLst/>
                            </a:rPr>
                            <a:t>V</a:t>
                          </a:r>
                          <a:r>
                            <a:rPr lang="sv-SE" sz="850" u="none" strike="noStrike" dirty="0">
                              <a:effectLst/>
                            </a:rPr>
                            <a:t>GS </a:t>
                          </a:r>
                          <a:r>
                            <a:rPr lang="sv-SE" sz="1200" u="none" strike="noStrike" dirty="0">
                              <a:effectLst/>
                            </a:rPr>
                            <a:t>= 18 V,</a:t>
                          </a:r>
                          <a:br>
                            <a:rPr lang="sv-SE" sz="1200" u="none" strike="noStrike" dirty="0">
                              <a:effectLst/>
                            </a:rPr>
                          </a:br>
                          <a:r>
                            <a:rPr lang="sv-SE" sz="1100" u="none" strike="noStrike" dirty="0" err="1">
                              <a:effectLst/>
                            </a:rPr>
                            <a:t>T</a:t>
                          </a:r>
                          <a:r>
                            <a:rPr lang="sv-SE" sz="850" u="none" strike="noStrike" dirty="0" err="1">
                              <a:effectLst/>
                            </a:rPr>
                            <a:t>vj</a:t>
                          </a:r>
                          <a:r>
                            <a:rPr lang="sv-SE" sz="850" u="none" strike="noStrike" dirty="0">
                              <a:effectLst/>
                            </a:rPr>
                            <a:t> </a:t>
                          </a:r>
                          <a:r>
                            <a:rPr lang="sv-SE" sz="1200" u="none" strike="noStrike" dirty="0">
                              <a:effectLst/>
                            </a:rPr>
                            <a:t>= 25 °C</a:t>
                          </a:r>
                          <a:endParaRPr lang="sv-SE" sz="1100" b="0" i="1" u="none" strike="noStrike" dirty="0">
                            <a:solidFill>
                              <a:srgbClr val="000000"/>
                            </a:solidFill>
                            <a:effectLst/>
                            <a:latin typeface="Source Sans Pro"/>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t"/>
                          <a:r>
                            <a:rPr lang="sv-SE" sz="1200" u="none" strike="noStrike" dirty="0" smtClean="0">
                              <a:solidFill>
                                <a:srgbClr val="FF0000"/>
                              </a:solidFill>
                              <a:effectLst/>
                            </a:rPr>
                            <a:t>2,1 </a:t>
                          </a:r>
                          <a14:m>
                            <m:oMath xmlns:m="http://schemas.openxmlformats.org/officeDocument/2006/math">
                              <m:r>
                                <m:rPr>
                                  <m:sty m:val="p"/>
                                </m:rPr>
                                <a:rPr lang="sv-SE" sz="1200" b="0" i="0" u="none" strike="noStrike" smtClean="0">
                                  <a:solidFill>
                                    <a:srgbClr val="FF0000"/>
                                  </a:solidFill>
                                  <a:effectLst/>
                                  <a:latin typeface="Cambria Math" panose="02040503050406030204" pitchFamily="18" charset="0"/>
                                </a:rPr>
                                <m:t>Ω</m:t>
                              </m:r>
                            </m:oMath>
                          </a14:m>
                          <a:endParaRPr lang="sv-SE" sz="1200" b="0" i="0" u="none" strike="noStrike" dirty="0">
                            <a:solidFill>
                              <a:srgbClr val="FF0000"/>
                            </a:solidFill>
                            <a:effectLst/>
                            <a:latin typeface="Source Sans Pro"/>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25359964"/>
                      </a:ext>
                    </a:extLst>
                  </a:tr>
                  <a:tr h="381000">
                    <a:tc>
                      <a:txBody>
                        <a:bodyPr/>
                        <a:lstStyle/>
                        <a:p>
                          <a:pPr algn="l" fontAlgn="t"/>
                          <a:r>
                            <a:rPr lang="sv-SE" sz="1100" u="none" strike="noStrike" dirty="0">
                              <a:effectLst/>
                            </a:rPr>
                            <a:t>V</a:t>
                          </a:r>
                          <a:r>
                            <a:rPr lang="sv-SE" sz="850" u="none" strike="noStrike" dirty="0">
                              <a:effectLst/>
                            </a:rPr>
                            <a:t>GS </a:t>
                          </a:r>
                          <a:r>
                            <a:rPr lang="sv-SE" sz="1200" u="none" strike="noStrike" dirty="0">
                              <a:effectLst/>
                            </a:rPr>
                            <a:t>= 18 V,</a:t>
                          </a:r>
                          <a:br>
                            <a:rPr lang="sv-SE" sz="1200" u="none" strike="noStrike" dirty="0">
                              <a:effectLst/>
                            </a:rPr>
                          </a:br>
                          <a:r>
                            <a:rPr lang="sv-SE" sz="1100" u="none" strike="noStrike" dirty="0" err="1">
                              <a:effectLst/>
                            </a:rPr>
                            <a:t>T</a:t>
                          </a:r>
                          <a:r>
                            <a:rPr lang="sv-SE" sz="850" u="none" strike="noStrike" dirty="0" err="1">
                              <a:effectLst/>
                            </a:rPr>
                            <a:t>vj</a:t>
                          </a:r>
                          <a:r>
                            <a:rPr lang="sv-SE" sz="850" u="none" strike="noStrike" dirty="0">
                              <a:effectLst/>
                            </a:rPr>
                            <a:t> </a:t>
                          </a:r>
                          <a:r>
                            <a:rPr lang="sv-SE" sz="1200" u="none" strike="noStrike" dirty="0">
                              <a:effectLst/>
                            </a:rPr>
                            <a:t>= 125 °C</a:t>
                          </a:r>
                          <a:endParaRPr lang="sv-SE" sz="1100" b="0" i="1" u="none" strike="noStrike" dirty="0">
                            <a:solidFill>
                              <a:srgbClr val="000000"/>
                            </a:solidFill>
                            <a:effectLst/>
                            <a:latin typeface="Source Sans Pro"/>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t"/>
                          <a:r>
                            <a:rPr lang="sv-SE" sz="1200" u="none" strike="noStrike" dirty="0" smtClean="0">
                              <a:solidFill>
                                <a:srgbClr val="FF0000"/>
                              </a:solidFill>
                              <a:effectLst/>
                            </a:rPr>
                            <a:t>3,4</a:t>
                          </a:r>
                          <a14:m>
                            <m:oMath xmlns:m="http://schemas.openxmlformats.org/officeDocument/2006/math">
                              <m:r>
                                <m:rPr>
                                  <m:sty m:val="p"/>
                                </m:rPr>
                                <a:rPr lang="sv-SE" sz="1200" b="0" i="0" u="none" strike="noStrike" smtClean="0">
                                  <a:solidFill>
                                    <a:srgbClr val="FF0000"/>
                                  </a:solidFill>
                                  <a:effectLst/>
                                  <a:latin typeface="Cambria Math" panose="02040503050406030204" pitchFamily="18" charset="0"/>
                                </a:rPr>
                                <m:t>Ω</m:t>
                              </m:r>
                            </m:oMath>
                          </a14:m>
                          <a:endParaRPr lang="sv-SE" sz="1200" b="0" i="0" u="none" strike="noStrike" dirty="0">
                            <a:solidFill>
                              <a:srgbClr val="FF0000"/>
                            </a:solidFill>
                            <a:effectLst/>
                            <a:latin typeface="Source Sans Pro"/>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61443675"/>
                      </a:ext>
                    </a:extLst>
                  </a:tr>
                  <a:tr h="381000">
                    <a:tc>
                      <a:txBody>
                        <a:bodyPr/>
                        <a:lstStyle/>
                        <a:p>
                          <a:pPr algn="l" fontAlgn="t"/>
                          <a:r>
                            <a:rPr lang="sv-SE" sz="1100" u="none" strike="noStrike">
                              <a:effectLst/>
                            </a:rPr>
                            <a:t>V</a:t>
                          </a:r>
                          <a:r>
                            <a:rPr lang="sv-SE" sz="850" u="none" strike="noStrike">
                              <a:effectLst/>
                            </a:rPr>
                            <a:t>GS </a:t>
                          </a:r>
                          <a:r>
                            <a:rPr lang="sv-SE" sz="1200" u="none" strike="noStrike">
                              <a:effectLst/>
                            </a:rPr>
                            <a:t>= 18 V,</a:t>
                          </a:r>
                          <a:br>
                            <a:rPr lang="sv-SE" sz="1200" u="none" strike="noStrike">
                              <a:effectLst/>
                            </a:rPr>
                          </a:br>
                          <a:r>
                            <a:rPr lang="sv-SE" sz="1100" u="none" strike="noStrike">
                              <a:effectLst/>
                            </a:rPr>
                            <a:t>T</a:t>
                          </a:r>
                          <a:r>
                            <a:rPr lang="sv-SE" sz="850" u="none" strike="noStrike">
                              <a:effectLst/>
                            </a:rPr>
                            <a:t>vj </a:t>
                          </a:r>
                          <a:r>
                            <a:rPr lang="sv-SE" sz="1200" u="none" strike="noStrike">
                              <a:effectLst/>
                            </a:rPr>
                            <a:t>= 175 °C</a:t>
                          </a:r>
                          <a:endParaRPr lang="sv-SE" sz="1100" b="0" i="1" u="none" strike="noStrike">
                            <a:solidFill>
                              <a:srgbClr val="000000"/>
                            </a:solidFill>
                            <a:effectLst/>
                            <a:latin typeface="Source Sans Pro"/>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t"/>
                          <a:r>
                            <a:rPr lang="sv-SE" sz="1200" u="none" strike="noStrike" dirty="0" smtClean="0">
                              <a:solidFill>
                                <a:srgbClr val="FF0000"/>
                              </a:solidFill>
                              <a:effectLst/>
                            </a:rPr>
                            <a:t>4,3</a:t>
                          </a:r>
                          <a14:m>
                            <m:oMath xmlns:m="http://schemas.openxmlformats.org/officeDocument/2006/math">
                              <m:r>
                                <m:rPr>
                                  <m:sty m:val="p"/>
                                </m:rPr>
                                <a:rPr lang="sv-SE" sz="1200" b="0" i="0" u="none" strike="noStrike" smtClean="0">
                                  <a:solidFill>
                                    <a:srgbClr val="FF0000"/>
                                  </a:solidFill>
                                  <a:effectLst/>
                                  <a:latin typeface="Cambria Math" panose="02040503050406030204" pitchFamily="18" charset="0"/>
                                </a:rPr>
                                <m:t>Ω</m:t>
                              </m:r>
                            </m:oMath>
                          </a14:m>
                          <a:endParaRPr lang="sv-SE" sz="1200" b="0" i="0" u="none" strike="noStrike" dirty="0">
                            <a:solidFill>
                              <a:srgbClr val="FF0000"/>
                            </a:solidFill>
                            <a:effectLst/>
                            <a:latin typeface="Source Sans Pro"/>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93678389"/>
                      </a:ext>
                    </a:extLst>
                  </a:tr>
                  <a:tr h="381000">
                    <a:tc>
                      <a:txBody>
                        <a:bodyPr/>
                        <a:lstStyle/>
                        <a:p>
                          <a:pPr algn="l" fontAlgn="t"/>
                          <a:r>
                            <a:rPr lang="sv-SE" sz="1100" u="none" strike="noStrike" dirty="0">
                              <a:effectLst/>
                            </a:rPr>
                            <a:t>V</a:t>
                          </a:r>
                          <a:r>
                            <a:rPr lang="sv-SE" sz="850" u="none" strike="noStrike" dirty="0">
                              <a:effectLst/>
                            </a:rPr>
                            <a:t>GS </a:t>
                          </a:r>
                          <a:r>
                            <a:rPr lang="sv-SE" sz="1200" u="none" strike="noStrike" dirty="0">
                              <a:effectLst/>
                            </a:rPr>
                            <a:t>= 15 V,</a:t>
                          </a:r>
                          <a:br>
                            <a:rPr lang="sv-SE" sz="1200" u="none" strike="noStrike" dirty="0">
                              <a:effectLst/>
                            </a:rPr>
                          </a:br>
                          <a:r>
                            <a:rPr lang="sv-SE" sz="1100" u="none" strike="noStrike" dirty="0" err="1">
                              <a:effectLst/>
                            </a:rPr>
                            <a:t>T</a:t>
                          </a:r>
                          <a:r>
                            <a:rPr lang="sv-SE" sz="850" u="none" strike="noStrike" dirty="0" err="1">
                              <a:effectLst/>
                            </a:rPr>
                            <a:t>vj</a:t>
                          </a:r>
                          <a:r>
                            <a:rPr lang="sv-SE" sz="850" u="none" strike="noStrike" dirty="0">
                              <a:effectLst/>
                            </a:rPr>
                            <a:t> </a:t>
                          </a:r>
                          <a:r>
                            <a:rPr lang="sv-SE" sz="1200" u="none" strike="noStrike" dirty="0">
                              <a:effectLst/>
                            </a:rPr>
                            <a:t>= 25 °C</a:t>
                          </a:r>
                          <a:endParaRPr lang="sv-SE" sz="1100" b="0" i="1" u="none" strike="noStrike" dirty="0">
                            <a:solidFill>
                              <a:srgbClr val="000000"/>
                            </a:solidFill>
                            <a:effectLst/>
                            <a:latin typeface="Source Sans Pro"/>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t"/>
                          <a:r>
                            <a:rPr lang="sv-SE" sz="1200" u="none" strike="noStrike" dirty="0" smtClean="0">
                              <a:solidFill>
                                <a:srgbClr val="FF0000"/>
                              </a:solidFill>
                              <a:effectLst/>
                            </a:rPr>
                            <a:t>2,4</a:t>
                          </a:r>
                          <a14:m>
                            <m:oMath xmlns:m="http://schemas.openxmlformats.org/officeDocument/2006/math">
                              <m:r>
                                <m:rPr>
                                  <m:sty m:val="p"/>
                                </m:rPr>
                                <a:rPr lang="sv-SE" sz="1200" b="0" i="0" u="none" strike="noStrike" smtClean="0">
                                  <a:solidFill>
                                    <a:srgbClr val="FF0000"/>
                                  </a:solidFill>
                                  <a:effectLst/>
                                  <a:latin typeface="Cambria Math" panose="02040503050406030204" pitchFamily="18" charset="0"/>
                                </a:rPr>
                                <m:t>Ω</m:t>
                              </m:r>
                            </m:oMath>
                          </a14:m>
                          <a:endParaRPr lang="sv-SE" sz="1200" b="0" i="0" u="none" strike="noStrike" dirty="0">
                            <a:solidFill>
                              <a:srgbClr val="FF0000"/>
                            </a:solidFill>
                            <a:effectLst/>
                            <a:latin typeface="Source Sans Pro"/>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27315180"/>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1086328586"/>
                  </p:ext>
                </p:extLst>
              </p:nvPr>
            </p:nvGraphicFramePr>
            <p:xfrm>
              <a:off x="7029091" y="2041584"/>
              <a:ext cx="1752600" cy="1524000"/>
            </p:xfrm>
            <a:graphic>
              <a:graphicData uri="http://schemas.openxmlformats.org/drawingml/2006/table">
                <a:tbl>
                  <a:tblPr>
                    <a:tableStyleId>{5C22544A-7EE6-4342-B048-85BDC9FD1C3A}</a:tableStyleId>
                  </a:tblPr>
                  <a:tblGrid>
                    <a:gridCol w="876300">
                      <a:extLst>
                        <a:ext uri="{9D8B030D-6E8A-4147-A177-3AD203B41FA5}">
                          <a16:colId xmlns:a16="http://schemas.microsoft.com/office/drawing/2014/main" val="3214802722"/>
                        </a:ext>
                      </a:extLst>
                    </a:gridCol>
                    <a:gridCol w="876300">
                      <a:extLst>
                        <a:ext uri="{9D8B030D-6E8A-4147-A177-3AD203B41FA5}">
                          <a16:colId xmlns:a16="http://schemas.microsoft.com/office/drawing/2014/main" val="3090613650"/>
                        </a:ext>
                      </a:extLst>
                    </a:gridCol>
                  </a:tblGrid>
                  <a:tr h="381000">
                    <a:tc>
                      <a:txBody>
                        <a:bodyPr/>
                        <a:lstStyle/>
                        <a:p>
                          <a:pPr algn="l" fontAlgn="t"/>
                          <a:r>
                            <a:rPr lang="sv-SE" sz="1100" u="none" strike="noStrike" dirty="0">
                              <a:effectLst/>
                            </a:rPr>
                            <a:t>V</a:t>
                          </a:r>
                          <a:r>
                            <a:rPr lang="sv-SE" sz="850" u="none" strike="noStrike" dirty="0">
                              <a:effectLst/>
                            </a:rPr>
                            <a:t>GS </a:t>
                          </a:r>
                          <a:r>
                            <a:rPr lang="sv-SE" sz="1200" u="none" strike="noStrike" dirty="0">
                              <a:effectLst/>
                            </a:rPr>
                            <a:t>= 18 V,</a:t>
                          </a:r>
                          <a:br>
                            <a:rPr lang="sv-SE" sz="1200" u="none" strike="noStrike" dirty="0">
                              <a:effectLst/>
                            </a:rPr>
                          </a:br>
                          <a:r>
                            <a:rPr lang="sv-SE" sz="1100" u="none" strike="noStrike" dirty="0" err="1">
                              <a:effectLst/>
                            </a:rPr>
                            <a:t>T</a:t>
                          </a:r>
                          <a:r>
                            <a:rPr lang="sv-SE" sz="850" u="none" strike="noStrike" dirty="0" err="1">
                              <a:effectLst/>
                            </a:rPr>
                            <a:t>vj</a:t>
                          </a:r>
                          <a:r>
                            <a:rPr lang="sv-SE" sz="850" u="none" strike="noStrike" dirty="0">
                              <a:effectLst/>
                            </a:rPr>
                            <a:t> </a:t>
                          </a:r>
                          <a:r>
                            <a:rPr lang="sv-SE" sz="1200" u="none" strike="noStrike" dirty="0">
                              <a:effectLst/>
                            </a:rPr>
                            <a:t>= 25 °C</a:t>
                          </a:r>
                          <a:endParaRPr lang="sv-SE" sz="1100" b="0" i="1" u="none" strike="noStrike" dirty="0">
                            <a:solidFill>
                              <a:srgbClr val="000000"/>
                            </a:solidFill>
                            <a:effectLst/>
                            <a:latin typeface="Source Sans Pro"/>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sv-SE"/>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694" t="-9524" r="-1389" b="-320635"/>
                          </a:stretch>
                        </a:blipFill>
                      </a:tcPr>
                    </a:tc>
                    <a:extLst>
                      <a:ext uri="{0D108BD9-81ED-4DB2-BD59-A6C34878D82A}">
                        <a16:rowId xmlns:a16="http://schemas.microsoft.com/office/drawing/2014/main" val="3125359964"/>
                      </a:ext>
                    </a:extLst>
                  </a:tr>
                  <a:tr h="381000">
                    <a:tc>
                      <a:txBody>
                        <a:bodyPr/>
                        <a:lstStyle/>
                        <a:p>
                          <a:pPr algn="l" fontAlgn="t"/>
                          <a:r>
                            <a:rPr lang="sv-SE" sz="1100" u="none" strike="noStrike" dirty="0">
                              <a:effectLst/>
                            </a:rPr>
                            <a:t>V</a:t>
                          </a:r>
                          <a:r>
                            <a:rPr lang="sv-SE" sz="850" u="none" strike="noStrike" dirty="0">
                              <a:effectLst/>
                            </a:rPr>
                            <a:t>GS </a:t>
                          </a:r>
                          <a:r>
                            <a:rPr lang="sv-SE" sz="1200" u="none" strike="noStrike" dirty="0">
                              <a:effectLst/>
                            </a:rPr>
                            <a:t>= 18 V,</a:t>
                          </a:r>
                          <a:br>
                            <a:rPr lang="sv-SE" sz="1200" u="none" strike="noStrike" dirty="0">
                              <a:effectLst/>
                            </a:rPr>
                          </a:br>
                          <a:r>
                            <a:rPr lang="sv-SE" sz="1100" u="none" strike="noStrike" dirty="0" err="1">
                              <a:effectLst/>
                            </a:rPr>
                            <a:t>T</a:t>
                          </a:r>
                          <a:r>
                            <a:rPr lang="sv-SE" sz="850" u="none" strike="noStrike" dirty="0" err="1">
                              <a:effectLst/>
                            </a:rPr>
                            <a:t>vj</a:t>
                          </a:r>
                          <a:r>
                            <a:rPr lang="sv-SE" sz="850" u="none" strike="noStrike" dirty="0">
                              <a:effectLst/>
                            </a:rPr>
                            <a:t> </a:t>
                          </a:r>
                          <a:r>
                            <a:rPr lang="sv-SE" sz="1200" u="none" strike="noStrike" dirty="0">
                              <a:effectLst/>
                            </a:rPr>
                            <a:t>= 125 °C</a:t>
                          </a:r>
                          <a:endParaRPr lang="sv-SE" sz="1100" b="0" i="1" u="none" strike="noStrike" dirty="0">
                            <a:solidFill>
                              <a:srgbClr val="000000"/>
                            </a:solidFill>
                            <a:effectLst/>
                            <a:latin typeface="Source Sans Pro"/>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sv-SE"/>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694" t="-109524" r="-1389" b="-220635"/>
                          </a:stretch>
                        </a:blipFill>
                      </a:tcPr>
                    </a:tc>
                    <a:extLst>
                      <a:ext uri="{0D108BD9-81ED-4DB2-BD59-A6C34878D82A}">
                        <a16:rowId xmlns:a16="http://schemas.microsoft.com/office/drawing/2014/main" val="3661443675"/>
                      </a:ext>
                    </a:extLst>
                  </a:tr>
                  <a:tr h="381000">
                    <a:tc>
                      <a:txBody>
                        <a:bodyPr/>
                        <a:lstStyle/>
                        <a:p>
                          <a:pPr algn="l" fontAlgn="t"/>
                          <a:r>
                            <a:rPr lang="sv-SE" sz="1100" u="none" strike="noStrike">
                              <a:effectLst/>
                            </a:rPr>
                            <a:t>V</a:t>
                          </a:r>
                          <a:r>
                            <a:rPr lang="sv-SE" sz="850" u="none" strike="noStrike">
                              <a:effectLst/>
                            </a:rPr>
                            <a:t>GS </a:t>
                          </a:r>
                          <a:r>
                            <a:rPr lang="sv-SE" sz="1200" u="none" strike="noStrike">
                              <a:effectLst/>
                            </a:rPr>
                            <a:t>= 18 V,</a:t>
                          </a:r>
                          <a:br>
                            <a:rPr lang="sv-SE" sz="1200" u="none" strike="noStrike">
                              <a:effectLst/>
                            </a:rPr>
                          </a:br>
                          <a:r>
                            <a:rPr lang="sv-SE" sz="1100" u="none" strike="noStrike">
                              <a:effectLst/>
                            </a:rPr>
                            <a:t>T</a:t>
                          </a:r>
                          <a:r>
                            <a:rPr lang="sv-SE" sz="850" u="none" strike="noStrike">
                              <a:effectLst/>
                            </a:rPr>
                            <a:t>vj </a:t>
                          </a:r>
                          <a:r>
                            <a:rPr lang="sv-SE" sz="1200" u="none" strike="noStrike">
                              <a:effectLst/>
                            </a:rPr>
                            <a:t>= 175 °C</a:t>
                          </a:r>
                          <a:endParaRPr lang="sv-SE" sz="1100" b="0" i="1" u="none" strike="noStrike">
                            <a:solidFill>
                              <a:srgbClr val="000000"/>
                            </a:solidFill>
                            <a:effectLst/>
                            <a:latin typeface="Source Sans Pro"/>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sv-SE"/>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694" t="-212903" r="-1389" b="-124194"/>
                          </a:stretch>
                        </a:blipFill>
                      </a:tcPr>
                    </a:tc>
                    <a:extLst>
                      <a:ext uri="{0D108BD9-81ED-4DB2-BD59-A6C34878D82A}">
                        <a16:rowId xmlns:a16="http://schemas.microsoft.com/office/drawing/2014/main" val="2793678389"/>
                      </a:ext>
                    </a:extLst>
                  </a:tr>
                  <a:tr h="381000">
                    <a:tc>
                      <a:txBody>
                        <a:bodyPr/>
                        <a:lstStyle/>
                        <a:p>
                          <a:pPr algn="l" fontAlgn="t"/>
                          <a:r>
                            <a:rPr lang="sv-SE" sz="1100" u="none" strike="noStrike" dirty="0">
                              <a:effectLst/>
                            </a:rPr>
                            <a:t>V</a:t>
                          </a:r>
                          <a:r>
                            <a:rPr lang="sv-SE" sz="850" u="none" strike="noStrike" dirty="0">
                              <a:effectLst/>
                            </a:rPr>
                            <a:t>GS </a:t>
                          </a:r>
                          <a:r>
                            <a:rPr lang="sv-SE" sz="1200" u="none" strike="noStrike" dirty="0">
                              <a:effectLst/>
                            </a:rPr>
                            <a:t>= 15 V,</a:t>
                          </a:r>
                          <a:br>
                            <a:rPr lang="sv-SE" sz="1200" u="none" strike="noStrike" dirty="0">
                              <a:effectLst/>
                            </a:rPr>
                          </a:br>
                          <a:r>
                            <a:rPr lang="sv-SE" sz="1100" u="none" strike="noStrike" dirty="0" err="1">
                              <a:effectLst/>
                            </a:rPr>
                            <a:t>T</a:t>
                          </a:r>
                          <a:r>
                            <a:rPr lang="sv-SE" sz="850" u="none" strike="noStrike" dirty="0" err="1">
                              <a:effectLst/>
                            </a:rPr>
                            <a:t>vj</a:t>
                          </a:r>
                          <a:r>
                            <a:rPr lang="sv-SE" sz="850" u="none" strike="noStrike" dirty="0">
                              <a:effectLst/>
                            </a:rPr>
                            <a:t> </a:t>
                          </a:r>
                          <a:r>
                            <a:rPr lang="sv-SE" sz="1200" u="none" strike="noStrike" dirty="0">
                              <a:effectLst/>
                            </a:rPr>
                            <a:t>= 25 °C</a:t>
                          </a:r>
                          <a:endParaRPr lang="sv-SE" sz="1100" b="0" i="1" u="none" strike="noStrike" dirty="0">
                            <a:solidFill>
                              <a:srgbClr val="000000"/>
                            </a:solidFill>
                            <a:effectLst/>
                            <a:latin typeface="Source Sans Pro"/>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sv-SE"/>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694" t="-307937" r="-1389" b="-22222"/>
                          </a:stretch>
                        </a:blipFill>
                      </a:tcPr>
                    </a:tc>
                    <a:extLst>
                      <a:ext uri="{0D108BD9-81ED-4DB2-BD59-A6C34878D82A}">
                        <a16:rowId xmlns:a16="http://schemas.microsoft.com/office/drawing/2014/main" val="2327315180"/>
                      </a:ext>
                    </a:extLst>
                  </a:tr>
                </a:tbl>
              </a:graphicData>
            </a:graphic>
          </p:graphicFrame>
        </mc:Fallback>
      </mc:AlternateContent>
      <p:cxnSp>
        <p:nvCxnSpPr>
          <p:cNvPr id="9" name="Straight Arrow Connector 8"/>
          <p:cNvCxnSpPr/>
          <p:nvPr/>
        </p:nvCxnSpPr>
        <p:spPr>
          <a:xfrm flipV="1">
            <a:off x="5317446" y="2803584"/>
            <a:ext cx="1555515" cy="15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endCxn id="16" idx="0"/>
          </p:cNvCxnSpPr>
          <p:nvPr/>
        </p:nvCxnSpPr>
        <p:spPr>
          <a:xfrm>
            <a:off x="6499654" y="5226908"/>
            <a:ext cx="2724170" cy="44616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6175824" y="5673068"/>
            <a:ext cx="6096000" cy="923330"/>
          </a:xfrm>
          <a:prstGeom prst="rect">
            <a:avLst/>
          </a:prstGeom>
        </p:spPr>
        <p:txBody>
          <a:bodyPr>
            <a:spAutoFit/>
          </a:bodyPr>
          <a:lstStyle/>
          <a:p>
            <a:pPr lvl="0"/>
            <a:r>
              <a:rPr lang="en-US" dirty="0"/>
              <a:t>per MOSFET, </a:t>
            </a:r>
            <a:r>
              <a:rPr lang="en-US" dirty="0" err="1"/>
              <a:t>Tf</a:t>
            </a:r>
            <a:r>
              <a:rPr lang="en-US" dirty="0"/>
              <a:t> = 60 °C, ΔV/</a:t>
            </a:r>
            <a:r>
              <a:rPr lang="en-US" dirty="0" err="1"/>
              <a:t>Δt</a:t>
            </a:r>
            <a:r>
              <a:rPr lang="en-US" dirty="0"/>
              <a:t> = 10 dm³/min,</a:t>
            </a:r>
            <a:br>
              <a:rPr lang="en-US" dirty="0"/>
            </a:br>
            <a:r>
              <a:rPr lang="en-US" dirty="0"/>
              <a:t>						50% water / 50% </a:t>
            </a:r>
            <a:r>
              <a:rPr lang="en-US" dirty="0" err="1"/>
              <a:t>ethylenglycol</a:t>
            </a:r>
            <a:r>
              <a:rPr lang="en-US" dirty="0"/>
              <a:t>   56 </a:t>
            </a:r>
            <a:endParaRPr lang="sv-SE" dirty="0"/>
          </a:p>
        </p:txBody>
      </p:sp>
    </p:spTree>
    <p:extLst>
      <p:ext uri="{BB962C8B-B14F-4D97-AF65-F5344CB8AC3E}">
        <p14:creationId xmlns:p14="http://schemas.microsoft.com/office/powerpoint/2010/main" val="361429375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048649" y="276123"/>
            <a:ext cx="10990263" cy="568412"/>
          </a:xfrm>
        </p:spPr>
        <p:txBody>
          <a:bodyPr/>
          <a:lstStyle/>
          <a:p>
            <a:r>
              <a:rPr lang="en-US" dirty="0" smtClean="0"/>
              <a:t>Datasheet-driven Loss </a:t>
            </a:r>
            <a:r>
              <a:rPr lang="en-US" dirty="0"/>
              <a:t>Calculation </a:t>
            </a:r>
            <a:endParaRPr lang="sv-SE" dirty="0"/>
          </a:p>
        </p:txBody>
      </p:sp>
      <p:sp>
        <p:nvSpPr>
          <p:cNvPr id="4" name="Content Placeholder 3"/>
          <p:cNvSpPr txBox="1">
            <a:spLocks noGrp="1"/>
          </p:cNvSpPr>
          <p:nvPr>
            <p:ph idx="1"/>
          </p:nvPr>
        </p:nvSpPr>
        <p:spPr>
          <a:xfrm>
            <a:off x="444800" y="1164978"/>
            <a:ext cx="3301365" cy="774571"/>
          </a:xfrm>
          <a:prstGeom prst="rect">
            <a:avLst/>
          </a:prstGeom>
          <a:noFill/>
        </p:spPr>
        <p:txBody>
          <a:bodyPr wrap="square" rtlCol="0">
            <a:spAutoFit/>
          </a:bodyPr>
          <a:lstStyle/>
          <a:p>
            <a:pPr marL="0" indent="0">
              <a:buNone/>
            </a:pPr>
            <a:r>
              <a:rPr lang="sv-SE" dirty="0" err="1" smtClean="0"/>
              <a:t>Voltage</a:t>
            </a:r>
            <a:r>
              <a:rPr lang="sv-SE" dirty="0" smtClean="0"/>
              <a:t> rating: 1700V </a:t>
            </a:r>
          </a:p>
          <a:p>
            <a:pPr marL="0" indent="0">
              <a:buNone/>
            </a:pPr>
            <a:r>
              <a:rPr lang="sv-SE" dirty="0" err="1" smtClean="0"/>
              <a:t>Current</a:t>
            </a:r>
            <a:r>
              <a:rPr lang="sv-SE" dirty="0" smtClean="0"/>
              <a:t> rating: 700A</a:t>
            </a:r>
          </a:p>
        </p:txBody>
      </p:sp>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3584560473"/>
                  </p:ext>
                </p:extLst>
              </p:nvPr>
            </p:nvGraphicFramePr>
            <p:xfrm>
              <a:off x="5294432" y="1095967"/>
              <a:ext cx="5895022" cy="1103820"/>
            </p:xfrm>
            <a:graphic>
              <a:graphicData uri="http://schemas.openxmlformats.org/drawingml/2006/table">
                <a:tbl>
                  <a:tblPr>
                    <a:tableStyleId>{5C22544A-7EE6-4342-B048-85BDC9FD1C3A}</a:tableStyleId>
                  </a:tblPr>
                  <a:tblGrid>
                    <a:gridCol w="826741">
                      <a:extLst>
                        <a:ext uri="{9D8B030D-6E8A-4147-A177-3AD203B41FA5}">
                          <a16:colId xmlns:a16="http://schemas.microsoft.com/office/drawing/2014/main" val="3449397765"/>
                        </a:ext>
                      </a:extLst>
                    </a:gridCol>
                    <a:gridCol w="3414799">
                      <a:extLst>
                        <a:ext uri="{9D8B030D-6E8A-4147-A177-3AD203B41FA5}">
                          <a16:colId xmlns:a16="http://schemas.microsoft.com/office/drawing/2014/main" val="1481575902"/>
                        </a:ext>
                      </a:extLst>
                    </a:gridCol>
                    <a:gridCol w="826741">
                      <a:extLst>
                        <a:ext uri="{9D8B030D-6E8A-4147-A177-3AD203B41FA5}">
                          <a16:colId xmlns:a16="http://schemas.microsoft.com/office/drawing/2014/main" val="2726582199"/>
                        </a:ext>
                      </a:extLst>
                    </a:gridCol>
                    <a:gridCol w="826741">
                      <a:extLst>
                        <a:ext uri="{9D8B030D-6E8A-4147-A177-3AD203B41FA5}">
                          <a16:colId xmlns:a16="http://schemas.microsoft.com/office/drawing/2014/main" val="961435461"/>
                        </a:ext>
                      </a:extLst>
                    </a:gridCol>
                  </a:tblGrid>
                  <a:tr h="188764">
                    <a:tc rowSpan="3">
                      <a:txBody>
                        <a:bodyPr/>
                        <a:lstStyle/>
                        <a:p>
                          <a:pPr algn="ctr" fontAlgn="t"/>
                          <a:r>
                            <a:rPr lang="sv-SE" sz="1000" u="none" strike="noStrike" dirty="0">
                              <a:effectLst/>
                            </a:rPr>
                            <a:t>E</a:t>
                          </a:r>
                          <a:r>
                            <a:rPr lang="sv-SE" sz="800" u="none" strike="noStrike" dirty="0">
                              <a:effectLst/>
                            </a:rPr>
                            <a:t>on</a:t>
                          </a:r>
                          <a:endParaRPr lang="sv-SE" sz="1000" b="0" i="1" u="none" strike="noStrike" dirty="0">
                            <a:solidFill>
                              <a:srgbClr val="000000"/>
                            </a:solidFill>
                            <a:effectLst/>
                            <a:latin typeface="Source Sans Pro"/>
                          </a:endParaRPr>
                        </a:p>
                      </a:txBody>
                      <a:tcPr marL="8989" marR="8989" marT="898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l" fontAlgn="t"/>
                          <a:r>
                            <a:rPr lang="sv-SE" sz="1000" u="none" strike="noStrike" dirty="0">
                              <a:effectLst/>
                            </a:rPr>
                            <a:t>I</a:t>
                          </a:r>
                          <a:r>
                            <a:rPr lang="sv-SE" sz="800" u="none" strike="noStrike" dirty="0">
                              <a:effectLst/>
                            </a:rPr>
                            <a:t>D </a:t>
                          </a:r>
                          <a:r>
                            <a:rPr lang="sv-SE" sz="1100" u="none" strike="noStrike" dirty="0">
                              <a:effectLst/>
                            </a:rPr>
                            <a:t>= 700 A, </a:t>
                          </a:r>
                          <a:r>
                            <a:rPr lang="sv-SE" sz="1000" u="none" strike="noStrike" dirty="0">
                              <a:effectLst/>
                            </a:rPr>
                            <a:t>V</a:t>
                          </a:r>
                          <a:r>
                            <a:rPr lang="sv-SE" sz="800" u="none" strike="noStrike" dirty="0">
                              <a:effectLst/>
                            </a:rPr>
                            <a:t>DS </a:t>
                          </a:r>
                          <a:r>
                            <a:rPr lang="sv-SE" sz="1100" u="none" strike="noStrike" dirty="0">
                              <a:effectLst/>
                            </a:rPr>
                            <a:t>= 1200 V</a:t>
                          </a:r>
                          <a:r>
                            <a:rPr lang="sv-SE" sz="1000" u="none" strike="noStrike" dirty="0">
                              <a:effectLst/>
                            </a:rPr>
                            <a:t>, L</a:t>
                          </a:r>
                          <a:r>
                            <a:rPr lang="el-GR" sz="1000" u="none" strike="noStrike" dirty="0">
                              <a:effectLst/>
                            </a:rPr>
                            <a:t>σ = 12 </a:t>
                          </a:r>
                          <a:r>
                            <a:rPr lang="sv-SE" sz="1000" u="none" strike="noStrike" dirty="0" err="1">
                              <a:effectLst/>
                            </a:rPr>
                            <a:t>nH</a:t>
                          </a:r>
                          <a:r>
                            <a:rPr lang="sv-SE" sz="1000" u="none" strike="noStrike" dirty="0">
                              <a:effectLst/>
                            </a:rPr>
                            <a:t>, VGS = 18/-5 V, </a:t>
                          </a:r>
                          <a:r>
                            <a:rPr lang="sv-SE" sz="1000" u="none" strike="noStrike" dirty="0" err="1">
                              <a:effectLst/>
                            </a:rPr>
                            <a:t>RGon</a:t>
                          </a:r>
                          <a:r>
                            <a:rPr lang="sv-SE" sz="1000" u="none" strike="noStrike" dirty="0">
                              <a:effectLst/>
                            </a:rPr>
                            <a:t> = 0.51 </a:t>
                          </a:r>
                          <a:r>
                            <a:rPr lang="el-GR" sz="1000" u="none" strike="noStrike" dirty="0">
                              <a:effectLst/>
                            </a:rPr>
                            <a:t>Ω, </a:t>
                          </a:r>
                          <a:r>
                            <a:rPr lang="sv-SE" sz="1000" u="none" strike="noStrike" dirty="0">
                              <a:effectLst/>
                            </a:rPr>
                            <a:t>di/dt = 9 </a:t>
                          </a:r>
                          <a:r>
                            <a:rPr lang="sv-SE" sz="1000" u="none" strike="noStrike" dirty="0" err="1">
                              <a:effectLst/>
                            </a:rPr>
                            <a:t>kA</a:t>
                          </a:r>
                          <a:r>
                            <a:rPr lang="sv-SE" sz="1000" u="none" strike="noStrike" dirty="0">
                              <a:effectLst/>
                            </a:rPr>
                            <a:t>/µs (</a:t>
                          </a:r>
                          <a:r>
                            <a:rPr lang="sv-SE" sz="1000" u="none" strike="noStrike" dirty="0" err="1">
                              <a:effectLst/>
                            </a:rPr>
                            <a:t>Tvj</a:t>
                          </a:r>
                          <a:r>
                            <a:rPr lang="sv-SE" sz="1000" u="none" strike="noStrike" dirty="0">
                              <a:effectLst/>
                            </a:rPr>
                            <a:t> = 175 °C)</a:t>
                          </a:r>
                          <a:endParaRPr lang="sv-SE" sz="1000" b="0" i="0" u="none" strike="noStrike" dirty="0">
                            <a:solidFill>
                              <a:srgbClr val="000000"/>
                            </a:solidFill>
                            <a:effectLst/>
                            <a:latin typeface="Source Sans Pro"/>
                          </a:endParaRPr>
                        </a:p>
                      </a:txBody>
                      <a:tcPr marL="8989" marR="8989" marT="898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sv-SE" sz="1000" u="none" strike="noStrike">
                              <a:effectLst/>
                            </a:rPr>
                            <a:t>T</a:t>
                          </a:r>
                          <a:r>
                            <a:rPr lang="sv-SE" sz="800" u="none" strike="noStrike">
                              <a:effectLst/>
                            </a:rPr>
                            <a:t>vj </a:t>
                          </a:r>
                          <a:r>
                            <a:rPr lang="sv-SE" sz="1100" u="none" strike="noStrike">
                              <a:effectLst/>
                            </a:rPr>
                            <a:t>= 25 °C</a:t>
                          </a:r>
                          <a:endParaRPr lang="sv-SE" sz="1000" b="0" i="1" u="none" strike="noStrike">
                            <a:solidFill>
                              <a:srgbClr val="00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14:m>
                            <m:oMathPara xmlns:m="http://schemas.openxmlformats.org/officeDocument/2006/math">
                              <m:oMathParaPr>
                                <m:jc m:val="centerGroup"/>
                              </m:oMathParaPr>
                              <m:oMath xmlns:m="http://schemas.openxmlformats.org/officeDocument/2006/math">
                                <m:r>
                                  <a:rPr lang="sv-SE" sz="1100" i="1" u="none" strike="noStrike" dirty="0" smtClean="0">
                                    <a:solidFill>
                                      <a:srgbClr val="FF0000"/>
                                    </a:solidFill>
                                    <a:effectLst/>
                                    <a:latin typeface="Cambria Math" panose="02040503050406030204" pitchFamily="18" charset="0"/>
                                  </a:rPr>
                                  <m:t>64,0 </m:t>
                                </m:r>
                                <m:r>
                                  <a:rPr lang="sv-SE" sz="1100" i="1" u="none" strike="noStrike" dirty="0" err="1" smtClean="0">
                                    <a:solidFill>
                                      <a:srgbClr val="FF0000"/>
                                    </a:solidFill>
                                    <a:effectLst/>
                                    <a:latin typeface="Cambria Math" panose="02040503050406030204" pitchFamily="18" charset="0"/>
                                  </a:rPr>
                                  <m:t>𝑚𝐽</m:t>
                                </m:r>
                              </m:oMath>
                            </m:oMathPara>
                          </a14:m>
                          <a:endParaRPr lang="sv-SE" sz="1100" b="0" i="0" u="none" strike="noStrike" dirty="0">
                            <a:solidFill>
                              <a:srgbClr val="FF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2689815"/>
                      </a:ext>
                    </a:extLst>
                  </a:tr>
                  <a:tr h="181573">
                    <a:tc vMerge="1">
                      <a:txBody>
                        <a:bodyPr/>
                        <a:lstStyle/>
                        <a:p>
                          <a:endParaRPr lang="sv-SE"/>
                        </a:p>
                      </a:txBody>
                      <a:tcPr/>
                    </a:tc>
                    <a:tc vMerge="1">
                      <a:txBody>
                        <a:bodyPr/>
                        <a:lstStyle/>
                        <a:p>
                          <a:endParaRPr lang="sv-SE"/>
                        </a:p>
                      </a:txBody>
                      <a:tcPr/>
                    </a:tc>
                    <a:tc>
                      <a:txBody>
                        <a:bodyPr/>
                        <a:lstStyle/>
                        <a:p>
                          <a:pPr algn="l" fontAlgn="ctr"/>
                          <a:r>
                            <a:rPr lang="sv-SE" sz="1000" u="none" strike="noStrike" dirty="0" err="1">
                              <a:effectLst/>
                            </a:rPr>
                            <a:t>T</a:t>
                          </a:r>
                          <a:r>
                            <a:rPr lang="sv-SE" sz="800" u="none" strike="noStrike" dirty="0" err="1">
                              <a:effectLst/>
                            </a:rPr>
                            <a:t>vj</a:t>
                          </a:r>
                          <a:r>
                            <a:rPr lang="sv-SE" sz="800" u="none" strike="noStrike" dirty="0">
                              <a:effectLst/>
                            </a:rPr>
                            <a:t> </a:t>
                          </a:r>
                          <a:r>
                            <a:rPr lang="sv-SE" sz="1100" u="none" strike="noStrike" dirty="0">
                              <a:effectLst/>
                            </a:rPr>
                            <a:t>= 125 °C</a:t>
                          </a:r>
                          <a:endParaRPr lang="sv-SE" sz="1000" b="0" i="1" u="none" strike="noStrike" dirty="0">
                            <a:solidFill>
                              <a:srgbClr val="00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14:m>
                            <m:oMathPara xmlns:m="http://schemas.openxmlformats.org/officeDocument/2006/math">
                              <m:oMathParaPr>
                                <m:jc m:val="centerGroup"/>
                              </m:oMathParaPr>
                              <m:oMath xmlns:m="http://schemas.openxmlformats.org/officeDocument/2006/math">
                                <m:r>
                                  <a:rPr lang="sv-SE" sz="1100" i="1" u="none" strike="noStrike" dirty="0" smtClean="0">
                                    <a:solidFill>
                                      <a:srgbClr val="FF0000"/>
                                    </a:solidFill>
                                    <a:effectLst/>
                                    <a:latin typeface="Cambria Math" panose="02040503050406030204" pitchFamily="18" charset="0"/>
                                  </a:rPr>
                                  <m:t>70,0 </m:t>
                                </m:r>
                                <m:r>
                                  <a:rPr lang="sv-SE" sz="1100" i="1" u="none" strike="noStrike" dirty="0" err="1" smtClean="0">
                                    <a:solidFill>
                                      <a:srgbClr val="FF0000"/>
                                    </a:solidFill>
                                    <a:effectLst/>
                                    <a:latin typeface="Cambria Math" panose="02040503050406030204" pitchFamily="18" charset="0"/>
                                  </a:rPr>
                                  <m:t>𝑚𝐽</m:t>
                                </m:r>
                              </m:oMath>
                            </m:oMathPara>
                          </a14:m>
                          <a:endParaRPr lang="sv-SE" sz="1100" b="0" i="0" u="none" strike="noStrike" dirty="0">
                            <a:solidFill>
                              <a:srgbClr val="FF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3103614"/>
                      </a:ext>
                    </a:extLst>
                  </a:tr>
                  <a:tr h="181573">
                    <a:tc vMerge="1">
                      <a:txBody>
                        <a:bodyPr/>
                        <a:lstStyle/>
                        <a:p>
                          <a:endParaRPr lang="sv-SE"/>
                        </a:p>
                      </a:txBody>
                      <a:tcPr/>
                    </a:tc>
                    <a:tc vMerge="1">
                      <a:txBody>
                        <a:bodyPr/>
                        <a:lstStyle/>
                        <a:p>
                          <a:endParaRPr lang="sv-SE"/>
                        </a:p>
                      </a:txBody>
                      <a:tcPr/>
                    </a:tc>
                    <a:tc>
                      <a:txBody>
                        <a:bodyPr/>
                        <a:lstStyle/>
                        <a:p>
                          <a:pPr algn="l" fontAlgn="ctr"/>
                          <a:r>
                            <a:rPr lang="sv-SE" sz="1000" u="none" strike="noStrike">
                              <a:effectLst/>
                            </a:rPr>
                            <a:t>T</a:t>
                          </a:r>
                          <a:r>
                            <a:rPr lang="sv-SE" sz="800" u="none" strike="noStrike">
                              <a:effectLst/>
                            </a:rPr>
                            <a:t>vj </a:t>
                          </a:r>
                          <a:r>
                            <a:rPr lang="sv-SE" sz="1100" u="none" strike="noStrike">
                              <a:effectLst/>
                            </a:rPr>
                            <a:t>= 175 °C</a:t>
                          </a:r>
                          <a:endParaRPr lang="sv-SE" sz="1000" b="0" i="1" u="none" strike="noStrike">
                            <a:solidFill>
                              <a:srgbClr val="00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14:m>
                            <m:oMathPara xmlns:m="http://schemas.openxmlformats.org/officeDocument/2006/math">
                              <m:oMathParaPr>
                                <m:jc m:val="centerGroup"/>
                              </m:oMathParaPr>
                              <m:oMath xmlns:m="http://schemas.openxmlformats.org/officeDocument/2006/math">
                                <m:r>
                                  <a:rPr lang="sv-SE" sz="1100" i="1" u="none" strike="noStrike" dirty="0" smtClean="0">
                                    <a:solidFill>
                                      <a:srgbClr val="FF0000"/>
                                    </a:solidFill>
                                    <a:effectLst/>
                                    <a:latin typeface="Cambria Math" panose="02040503050406030204" pitchFamily="18" charset="0"/>
                                  </a:rPr>
                                  <m:t>86,0 </m:t>
                                </m:r>
                                <m:r>
                                  <a:rPr lang="sv-SE" sz="1100" i="1" u="none" strike="noStrike" dirty="0" err="1" smtClean="0">
                                    <a:solidFill>
                                      <a:srgbClr val="FF0000"/>
                                    </a:solidFill>
                                    <a:effectLst/>
                                    <a:latin typeface="Cambria Math" panose="02040503050406030204" pitchFamily="18" charset="0"/>
                                  </a:rPr>
                                  <m:t>𝑚𝐽</m:t>
                                </m:r>
                              </m:oMath>
                            </m:oMathPara>
                          </a14:m>
                          <a:endParaRPr lang="sv-SE" sz="1100" b="0" i="0" u="none" strike="noStrike" dirty="0">
                            <a:solidFill>
                              <a:srgbClr val="FF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2571821"/>
                      </a:ext>
                    </a:extLst>
                  </a:tr>
                  <a:tr h="188764">
                    <a:tc rowSpan="3">
                      <a:txBody>
                        <a:bodyPr/>
                        <a:lstStyle/>
                        <a:p>
                          <a:pPr algn="ctr" fontAlgn="t"/>
                          <a:r>
                            <a:rPr lang="sv-SE" sz="1000" u="none" strike="noStrike">
                              <a:effectLst/>
                            </a:rPr>
                            <a:t>E</a:t>
                          </a:r>
                          <a:r>
                            <a:rPr lang="sv-SE" sz="800" u="none" strike="noStrike">
                              <a:effectLst/>
                            </a:rPr>
                            <a:t>off</a:t>
                          </a:r>
                          <a:endParaRPr lang="sv-SE" sz="1000" b="0" i="1" u="none" strike="noStrike">
                            <a:solidFill>
                              <a:srgbClr val="000000"/>
                            </a:solidFill>
                            <a:effectLst/>
                            <a:latin typeface="Source Sans Pro"/>
                          </a:endParaRPr>
                        </a:p>
                      </a:txBody>
                      <a:tcPr marL="8989" marR="8989" marT="898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l" fontAlgn="t"/>
                          <a:r>
                            <a:rPr lang="sv-SE" sz="1000" u="none" strike="noStrike" dirty="0">
                              <a:effectLst/>
                            </a:rPr>
                            <a:t>I</a:t>
                          </a:r>
                          <a:r>
                            <a:rPr lang="sv-SE" sz="800" u="none" strike="noStrike" dirty="0">
                              <a:effectLst/>
                            </a:rPr>
                            <a:t>D </a:t>
                          </a:r>
                          <a:r>
                            <a:rPr lang="sv-SE" sz="1100" u="none" strike="noStrike" dirty="0">
                              <a:effectLst/>
                            </a:rPr>
                            <a:t>= 700 A, </a:t>
                          </a:r>
                          <a:r>
                            <a:rPr lang="sv-SE" sz="1000" u="none" strike="noStrike" dirty="0">
                              <a:effectLst/>
                            </a:rPr>
                            <a:t>V</a:t>
                          </a:r>
                          <a:r>
                            <a:rPr lang="sv-SE" sz="800" u="none" strike="noStrike" dirty="0">
                              <a:effectLst/>
                            </a:rPr>
                            <a:t>DS </a:t>
                          </a:r>
                          <a:r>
                            <a:rPr lang="sv-SE" sz="1100" u="none" strike="noStrike" dirty="0">
                              <a:effectLst/>
                            </a:rPr>
                            <a:t>= 1200 V</a:t>
                          </a:r>
                          <a:r>
                            <a:rPr lang="sv-SE" sz="1000" u="none" strike="noStrike" dirty="0">
                              <a:effectLst/>
                            </a:rPr>
                            <a:t>, L</a:t>
                          </a:r>
                          <a:r>
                            <a:rPr lang="el-GR" sz="1000" u="none" strike="noStrike" dirty="0">
                              <a:effectLst/>
                            </a:rPr>
                            <a:t>σ = 12 </a:t>
                          </a:r>
                          <a:r>
                            <a:rPr lang="sv-SE" sz="1000" u="none" strike="noStrike" dirty="0" err="1">
                              <a:effectLst/>
                            </a:rPr>
                            <a:t>nH</a:t>
                          </a:r>
                          <a:r>
                            <a:rPr lang="sv-SE" sz="1000" u="none" strike="noStrike" dirty="0">
                              <a:effectLst/>
                            </a:rPr>
                            <a:t>, VGS = 18/-5 V, </a:t>
                          </a:r>
                          <a:r>
                            <a:rPr lang="sv-SE" sz="1000" u="none" strike="noStrike" dirty="0" err="1">
                              <a:effectLst/>
                            </a:rPr>
                            <a:t>RGoff</a:t>
                          </a:r>
                          <a:r>
                            <a:rPr lang="sv-SE" sz="1000" u="none" strike="noStrike" dirty="0">
                              <a:effectLst/>
                            </a:rPr>
                            <a:t> = 0.56 </a:t>
                          </a:r>
                          <a:r>
                            <a:rPr lang="el-GR" sz="1000" u="none" strike="noStrike" dirty="0">
                              <a:effectLst/>
                            </a:rPr>
                            <a:t>Ω, </a:t>
                          </a:r>
                          <a:r>
                            <a:rPr lang="sv-SE" sz="1000" u="none" strike="noStrike" dirty="0">
                              <a:effectLst/>
                            </a:rPr>
                            <a:t>du/dt = 18 kV/µs (</a:t>
                          </a:r>
                          <a:r>
                            <a:rPr lang="sv-SE" sz="1000" u="none" strike="noStrike" dirty="0" err="1">
                              <a:effectLst/>
                            </a:rPr>
                            <a:t>Tvj</a:t>
                          </a:r>
                          <a:r>
                            <a:rPr lang="sv-SE" sz="1000" u="none" strike="noStrike" dirty="0">
                              <a:effectLst/>
                            </a:rPr>
                            <a:t> = 175 °C)</a:t>
                          </a:r>
                          <a:endParaRPr lang="sv-SE" sz="1000" b="0" i="0" u="none" strike="noStrike" dirty="0">
                            <a:solidFill>
                              <a:srgbClr val="000000"/>
                            </a:solidFill>
                            <a:effectLst/>
                            <a:latin typeface="Source Sans Pro"/>
                          </a:endParaRPr>
                        </a:p>
                      </a:txBody>
                      <a:tcPr marL="8989" marR="8989" marT="898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sv-SE" sz="1000" u="none" strike="noStrike" dirty="0" err="1">
                              <a:effectLst/>
                            </a:rPr>
                            <a:t>T</a:t>
                          </a:r>
                          <a:r>
                            <a:rPr lang="sv-SE" sz="800" u="none" strike="noStrike" dirty="0" err="1">
                              <a:effectLst/>
                            </a:rPr>
                            <a:t>vj</a:t>
                          </a:r>
                          <a:r>
                            <a:rPr lang="sv-SE" sz="800" u="none" strike="noStrike" dirty="0">
                              <a:effectLst/>
                            </a:rPr>
                            <a:t> </a:t>
                          </a:r>
                          <a:r>
                            <a:rPr lang="sv-SE" sz="1100" u="none" strike="noStrike" dirty="0">
                              <a:effectLst/>
                            </a:rPr>
                            <a:t>= 25 °C</a:t>
                          </a:r>
                          <a:endParaRPr lang="sv-SE" sz="1000" b="0" i="1" u="none" strike="noStrike" dirty="0">
                            <a:solidFill>
                              <a:srgbClr val="00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14:m>
                            <m:oMathPara xmlns:m="http://schemas.openxmlformats.org/officeDocument/2006/math">
                              <m:oMathParaPr>
                                <m:jc m:val="centerGroup"/>
                              </m:oMathParaPr>
                              <m:oMath xmlns:m="http://schemas.openxmlformats.org/officeDocument/2006/math">
                                <m:r>
                                  <a:rPr lang="sv-SE" sz="1100" i="1" u="none" strike="noStrike" dirty="0" smtClean="0">
                                    <a:solidFill>
                                      <a:srgbClr val="FF0000"/>
                                    </a:solidFill>
                                    <a:effectLst/>
                                    <a:latin typeface="Cambria Math" panose="02040503050406030204" pitchFamily="18" charset="0"/>
                                  </a:rPr>
                                  <m:t>43,0 </m:t>
                                </m:r>
                                <m:r>
                                  <a:rPr lang="sv-SE" sz="1100" i="1" u="none" strike="noStrike" dirty="0" err="1" smtClean="0">
                                    <a:solidFill>
                                      <a:srgbClr val="FF0000"/>
                                    </a:solidFill>
                                    <a:effectLst/>
                                    <a:latin typeface="Cambria Math" panose="02040503050406030204" pitchFamily="18" charset="0"/>
                                  </a:rPr>
                                  <m:t>𝑚𝐽</m:t>
                                </m:r>
                              </m:oMath>
                            </m:oMathPara>
                          </a14:m>
                          <a:endParaRPr lang="sv-SE" sz="1100" b="0" i="0" u="none" strike="noStrike" dirty="0">
                            <a:solidFill>
                              <a:srgbClr val="FF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3986964"/>
                      </a:ext>
                    </a:extLst>
                  </a:tr>
                  <a:tr h="181573">
                    <a:tc vMerge="1">
                      <a:txBody>
                        <a:bodyPr/>
                        <a:lstStyle/>
                        <a:p>
                          <a:endParaRPr lang="sv-SE"/>
                        </a:p>
                      </a:txBody>
                      <a:tcPr/>
                    </a:tc>
                    <a:tc vMerge="1">
                      <a:txBody>
                        <a:bodyPr/>
                        <a:lstStyle/>
                        <a:p>
                          <a:endParaRPr lang="sv-SE"/>
                        </a:p>
                      </a:txBody>
                      <a:tcPr/>
                    </a:tc>
                    <a:tc>
                      <a:txBody>
                        <a:bodyPr/>
                        <a:lstStyle/>
                        <a:p>
                          <a:pPr algn="l" fontAlgn="ctr"/>
                          <a:r>
                            <a:rPr lang="sv-SE" sz="1000" u="none" strike="noStrike">
                              <a:effectLst/>
                            </a:rPr>
                            <a:t>T</a:t>
                          </a:r>
                          <a:r>
                            <a:rPr lang="sv-SE" sz="800" u="none" strike="noStrike">
                              <a:effectLst/>
                            </a:rPr>
                            <a:t>vj </a:t>
                          </a:r>
                          <a:r>
                            <a:rPr lang="sv-SE" sz="1100" u="none" strike="noStrike">
                              <a:effectLst/>
                            </a:rPr>
                            <a:t>= 125 °C</a:t>
                          </a:r>
                          <a:endParaRPr lang="sv-SE" sz="1000" b="0" i="1" u="none" strike="noStrike">
                            <a:solidFill>
                              <a:srgbClr val="00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14:m>
                            <m:oMathPara xmlns:m="http://schemas.openxmlformats.org/officeDocument/2006/math">
                              <m:oMathParaPr>
                                <m:jc m:val="centerGroup"/>
                              </m:oMathParaPr>
                              <m:oMath xmlns:m="http://schemas.openxmlformats.org/officeDocument/2006/math">
                                <m:r>
                                  <a:rPr lang="sv-SE" sz="1100" i="1" u="none" strike="noStrike" dirty="0" smtClean="0">
                                    <a:solidFill>
                                      <a:srgbClr val="FF0000"/>
                                    </a:solidFill>
                                    <a:effectLst/>
                                    <a:latin typeface="Cambria Math" panose="02040503050406030204" pitchFamily="18" charset="0"/>
                                  </a:rPr>
                                  <m:t>45,0 </m:t>
                                </m:r>
                                <m:r>
                                  <a:rPr lang="sv-SE" sz="1100" i="1" u="none" strike="noStrike" dirty="0" err="1" smtClean="0">
                                    <a:solidFill>
                                      <a:srgbClr val="FF0000"/>
                                    </a:solidFill>
                                    <a:effectLst/>
                                    <a:latin typeface="Cambria Math" panose="02040503050406030204" pitchFamily="18" charset="0"/>
                                  </a:rPr>
                                  <m:t>𝑚𝐽</m:t>
                                </m:r>
                              </m:oMath>
                            </m:oMathPara>
                          </a14:m>
                          <a:endParaRPr lang="sv-SE" sz="1100" b="0" i="0" u="none" strike="noStrike" dirty="0">
                            <a:solidFill>
                              <a:srgbClr val="FF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99260178"/>
                      </a:ext>
                    </a:extLst>
                  </a:tr>
                  <a:tr h="181573">
                    <a:tc vMerge="1">
                      <a:txBody>
                        <a:bodyPr/>
                        <a:lstStyle/>
                        <a:p>
                          <a:endParaRPr lang="sv-SE"/>
                        </a:p>
                      </a:txBody>
                      <a:tcPr/>
                    </a:tc>
                    <a:tc vMerge="1">
                      <a:txBody>
                        <a:bodyPr/>
                        <a:lstStyle/>
                        <a:p>
                          <a:endParaRPr lang="sv-SE"/>
                        </a:p>
                      </a:txBody>
                      <a:tcPr/>
                    </a:tc>
                    <a:tc>
                      <a:txBody>
                        <a:bodyPr/>
                        <a:lstStyle/>
                        <a:p>
                          <a:pPr algn="l" fontAlgn="ctr"/>
                          <a:r>
                            <a:rPr lang="sv-SE" sz="1000" u="none" strike="noStrike" dirty="0" err="1">
                              <a:effectLst/>
                            </a:rPr>
                            <a:t>T</a:t>
                          </a:r>
                          <a:r>
                            <a:rPr lang="sv-SE" sz="800" u="none" strike="noStrike" dirty="0" err="1">
                              <a:effectLst/>
                            </a:rPr>
                            <a:t>vj</a:t>
                          </a:r>
                          <a:r>
                            <a:rPr lang="sv-SE" sz="800" u="none" strike="noStrike" dirty="0">
                              <a:effectLst/>
                            </a:rPr>
                            <a:t> </a:t>
                          </a:r>
                          <a:r>
                            <a:rPr lang="sv-SE" sz="1100" u="none" strike="noStrike" dirty="0">
                              <a:effectLst/>
                            </a:rPr>
                            <a:t>= 175 °C</a:t>
                          </a:r>
                          <a:endParaRPr lang="sv-SE" sz="1000" b="0" i="1" u="none" strike="noStrike" dirty="0">
                            <a:solidFill>
                              <a:srgbClr val="00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14:m>
                            <m:oMathPara xmlns:m="http://schemas.openxmlformats.org/officeDocument/2006/math">
                              <m:oMathParaPr>
                                <m:jc m:val="centerGroup"/>
                              </m:oMathParaPr>
                              <m:oMath xmlns:m="http://schemas.openxmlformats.org/officeDocument/2006/math">
                                <m:r>
                                  <a:rPr lang="sv-SE" sz="1100" i="1" u="none" strike="noStrike" dirty="0" smtClean="0">
                                    <a:solidFill>
                                      <a:srgbClr val="FF0000"/>
                                    </a:solidFill>
                                    <a:effectLst/>
                                    <a:latin typeface="Cambria Math" panose="02040503050406030204" pitchFamily="18" charset="0"/>
                                  </a:rPr>
                                  <m:t>47,0 </m:t>
                                </m:r>
                                <m:r>
                                  <a:rPr lang="sv-SE" sz="1100" i="1" u="none" strike="noStrike" dirty="0" err="1" smtClean="0">
                                    <a:solidFill>
                                      <a:srgbClr val="FF0000"/>
                                    </a:solidFill>
                                    <a:effectLst/>
                                    <a:latin typeface="Cambria Math" panose="02040503050406030204" pitchFamily="18" charset="0"/>
                                  </a:rPr>
                                  <m:t>𝑚𝐽</m:t>
                                </m:r>
                              </m:oMath>
                            </m:oMathPara>
                          </a14:m>
                          <a:endParaRPr lang="sv-SE" sz="1100" b="0" i="0" u="none" strike="noStrike" dirty="0">
                            <a:solidFill>
                              <a:srgbClr val="FF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23730722"/>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3584560473"/>
                  </p:ext>
                </p:extLst>
              </p:nvPr>
            </p:nvGraphicFramePr>
            <p:xfrm>
              <a:off x="5294432" y="1095967"/>
              <a:ext cx="5895022" cy="1103820"/>
            </p:xfrm>
            <a:graphic>
              <a:graphicData uri="http://schemas.openxmlformats.org/drawingml/2006/table">
                <a:tbl>
                  <a:tblPr>
                    <a:tableStyleId>{5C22544A-7EE6-4342-B048-85BDC9FD1C3A}</a:tableStyleId>
                  </a:tblPr>
                  <a:tblGrid>
                    <a:gridCol w="826741">
                      <a:extLst>
                        <a:ext uri="{9D8B030D-6E8A-4147-A177-3AD203B41FA5}">
                          <a16:colId xmlns:a16="http://schemas.microsoft.com/office/drawing/2014/main" val="3449397765"/>
                        </a:ext>
                      </a:extLst>
                    </a:gridCol>
                    <a:gridCol w="3414799">
                      <a:extLst>
                        <a:ext uri="{9D8B030D-6E8A-4147-A177-3AD203B41FA5}">
                          <a16:colId xmlns:a16="http://schemas.microsoft.com/office/drawing/2014/main" val="1481575902"/>
                        </a:ext>
                      </a:extLst>
                    </a:gridCol>
                    <a:gridCol w="826741">
                      <a:extLst>
                        <a:ext uri="{9D8B030D-6E8A-4147-A177-3AD203B41FA5}">
                          <a16:colId xmlns:a16="http://schemas.microsoft.com/office/drawing/2014/main" val="2726582199"/>
                        </a:ext>
                      </a:extLst>
                    </a:gridCol>
                    <a:gridCol w="826741">
                      <a:extLst>
                        <a:ext uri="{9D8B030D-6E8A-4147-A177-3AD203B41FA5}">
                          <a16:colId xmlns:a16="http://schemas.microsoft.com/office/drawing/2014/main" val="961435461"/>
                        </a:ext>
                      </a:extLst>
                    </a:gridCol>
                  </a:tblGrid>
                  <a:tr h="188764">
                    <a:tc rowSpan="3">
                      <a:txBody>
                        <a:bodyPr/>
                        <a:lstStyle/>
                        <a:p>
                          <a:pPr algn="ctr" fontAlgn="t"/>
                          <a:r>
                            <a:rPr lang="sv-SE" sz="1000" u="none" strike="noStrike" dirty="0">
                              <a:effectLst/>
                            </a:rPr>
                            <a:t>E</a:t>
                          </a:r>
                          <a:r>
                            <a:rPr lang="sv-SE" sz="800" u="none" strike="noStrike" dirty="0">
                              <a:effectLst/>
                            </a:rPr>
                            <a:t>on</a:t>
                          </a:r>
                          <a:endParaRPr lang="sv-SE" sz="1000" b="0" i="1" u="none" strike="noStrike" dirty="0">
                            <a:solidFill>
                              <a:srgbClr val="000000"/>
                            </a:solidFill>
                            <a:effectLst/>
                            <a:latin typeface="Source Sans Pro"/>
                          </a:endParaRPr>
                        </a:p>
                      </a:txBody>
                      <a:tcPr marL="8989" marR="8989" marT="898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l" fontAlgn="t"/>
                          <a:r>
                            <a:rPr lang="sv-SE" sz="1000" u="none" strike="noStrike" dirty="0">
                              <a:effectLst/>
                            </a:rPr>
                            <a:t>I</a:t>
                          </a:r>
                          <a:r>
                            <a:rPr lang="sv-SE" sz="800" u="none" strike="noStrike" dirty="0">
                              <a:effectLst/>
                            </a:rPr>
                            <a:t>D </a:t>
                          </a:r>
                          <a:r>
                            <a:rPr lang="sv-SE" sz="1100" u="none" strike="noStrike" dirty="0">
                              <a:effectLst/>
                            </a:rPr>
                            <a:t>= 700 A, </a:t>
                          </a:r>
                          <a:r>
                            <a:rPr lang="sv-SE" sz="1000" u="none" strike="noStrike" dirty="0">
                              <a:effectLst/>
                            </a:rPr>
                            <a:t>V</a:t>
                          </a:r>
                          <a:r>
                            <a:rPr lang="sv-SE" sz="800" u="none" strike="noStrike" dirty="0">
                              <a:effectLst/>
                            </a:rPr>
                            <a:t>DS </a:t>
                          </a:r>
                          <a:r>
                            <a:rPr lang="sv-SE" sz="1100" u="none" strike="noStrike" dirty="0">
                              <a:effectLst/>
                            </a:rPr>
                            <a:t>= 1200 V</a:t>
                          </a:r>
                          <a:r>
                            <a:rPr lang="sv-SE" sz="1000" u="none" strike="noStrike" dirty="0">
                              <a:effectLst/>
                            </a:rPr>
                            <a:t>, L</a:t>
                          </a:r>
                          <a:r>
                            <a:rPr lang="el-GR" sz="1000" u="none" strike="noStrike" dirty="0">
                              <a:effectLst/>
                            </a:rPr>
                            <a:t>σ = 12 </a:t>
                          </a:r>
                          <a:r>
                            <a:rPr lang="sv-SE" sz="1000" u="none" strike="noStrike" dirty="0" err="1">
                              <a:effectLst/>
                            </a:rPr>
                            <a:t>nH</a:t>
                          </a:r>
                          <a:r>
                            <a:rPr lang="sv-SE" sz="1000" u="none" strike="noStrike" dirty="0">
                              <a:effectLst/>
                            </a:rPr>
                            <a:t>, VGS = 18/-5 V, </a:t>
                          </a:r>
                          <a:r>
                            <a:rPr lang="sv-SE" sz="1000" u="none" strike="noStrike" dirty="0" err="1">
                              <a:effectLst/>
                            </a:rPr>
                            <a:t>RGon</a:t>
                          </a:r>
                          <a:r>
                            <a:rPr lang="sv-SE" sz="1000" u="none" strike="noStrike" dirty="0">
                              <a:effectLst/>
                            </a:rPr>
                            <a:t> = 0.51 </a:t>
                          </a:r>
                          <a:r>
                            <a:rPr lang="el-GR" sz="1000" u="none" strike="noStrike" dirty="0">
                              <a:effectLst/>
                            </a:rPr>
                            <a:t>Ω, </a:t>
                          </a:r>
                          <a:r>
                            <a:rPr lang="sv-SE" sz="1000" u="none" strike="noStrike" dirty="0">
                              <a:effectLst/>
                            </a:rPr>
                            <a:t>di/dt = 9 </a:t>
                          </a:r>
                          <a:r>
                            <a:rPr lang="sv-SE" sz="1000" u="none" strike="noStrike" dirty="0" err="1">
                              <a:effectLst/>
                            </a:rPr>
                            <a:t>kA</a:t>
                          </a:r>
                          <a:r>
                            <a:rPr lang="sv-SE" sz="1000" u="none" strike="noStrike" dirty="0">
                              <a:effectLst/>
                            </a:rPr>
                            <a:t>/µs (</a:t>
                          </a:r>
                          <a:r>
                            <a:rPr lang="sv-SE" sz="1000" u="none" strike="noStrike" dirty="0" err="1">
                              <a:effectLst/>
                            </a:rPr>
                            <a:t>Tvj</a:t>
                          </a:r>
                          <a:r>
                            <a:rPr lang="sv-SE" sz="1000" u="none" strike="noStrike" dirty="0">
                              <a:effectLst/>
                            </a:rPr>
                            <a:t> = 175 °C)</a:t>
                          </a:r>
                          <a:endParaRPr lang="sv-SE" sz="1000" b="0" i="0" u="none" strike="noStrike" dirty="0">
                            <a:solidFill>
                              <a:srgbClr val="000000"/>
                            </a:solidFill>
                            <a:effectLst/>
                            <a:latin typeface="Source Sans Pro"/>
                          </a:endParaRPr>
                        </a:p>
                      </a:txBody>
                      <a:tcPr marL="8989" marR="8989" marT="898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sv-SE" sz="1000" u="none" strike="noStrike">
                              <a:effectLst/>
                            </a:rPr>
                            <a:t>T</a:t>
                          </a:r>
                          <a:r>
                            <a:rPr lang="sv-SE" sz="800" u="none" strike="noStrike">
                              <a:effectLst/>
                            </a:rPr>
                            <a:t>vj </a:t>
                          </a:r>
                          <a:r>
                            <a:rPr lang="sv-SE" sz="1100" u="none" strike="noStrike">
                              <a:effectLst/>
                            </a:rPr>
                            <a:t>= 25 °C</a:t>
                          </a:r>
                          <a:endParaRPr lang="sv-SE" sz="1000" b="0" i="1" u="none" strike="noStrike">
                            <a:solidFill>
                              <a:srgbClr val="00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sv-SE"/>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12500" t="-16129" r="-1471" b="-532258"/>
                          </a:stretch>
                        </a:blipFill>
                      </a:tcPr>
                    </a:tc>
                    <a:extLst>
                      <a:ext uri="{0D108BD9-81ED-4DB2-BD59-A6C34878D82A}">
                        <a16:rowId xmlns:a16="http://schemas.microsoft.com/office/drawing/2014/main" val="1752689815"/>
                      </a:ext>
                    </a:extLst>
                  </a:tr>
                  <a:tr h="181573">
                    <a:tc vMerge="1">
                      <a:txBody>
                        <a:bodyPr/>
                        <a:lstStyle/>
                        <a:p>
                          <a:endParaRPr lang="sv-SE"/>
                        </a:p>
                      </a:txBody>
                      <a:tcPr/>
                    </a:tc>
                    <a:tc vMerge="1">
                      <a:txBody>
                        <a:bodyPr/>
                        <a:lstStyle/>
                        <a:p>
                          <a:endParaRPr lang="sv-SE"/>
                        </a:p>
                      </a:txBody>
                      <a:tcPr/>
                    </a:tc>
                    <a:tc>
                      <a:txBody>
                        <a:bodyPr/>
                        <a:lstStyle/>
                        <a:p>
                          <a:pPr algn="l" fontAlgn="ctr"/>
                          <a:r>
                            <a:rPr lang="sv-SE" sz="1000" u="none" strike="noStrike" dirty="0" err="1">
                              <a:effectLst/>
                            </a:rPr>
                            <a:t>T</a:t>
                          </a:r>
                          <a:r>
                            <a:rPr lang="sv-SE" sz="800" u="none" strike="noStrike" dirty="0" err="1">
                              <a:effectLst/>
                            </a:rPr>
                            <a:t>vj</a:t>
                          </a:r>
                          <a:r>
                            <a:rPr lang="sv-SE" sz="800" u="none" strike="noStrike" dirty="0">
                              <a:effectLst/>
                            </a:rPr>
                            <a:t> </a:t>
                          </a:r>
                          <a:r>
                            <a:rPr lang="sv-SE" sz="1100" u="none" strike="noStrike" dirty="0">
                              <a:effectLst/>
                            </a:rPr>
                            <a:t>= 125 °C</a:t>
                          </a:r>
                          <a:endParaRPr lang="sv-SE" sz="1000" b="0" i="1" u="none" strike="noStrike" dirty="0">
                            <a:solidFill>
                              <a:srgbClr val="00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sv-SE"/>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12500" t="-120000" r="-1471" b="-450000"/>
                          </a:stretch>
                        </a:blipFill>
                      </a:tcPr>
                    </a:tc>
                    <a:extLst>
                      <a:ext uri="{0D108BD9-81ED-4DB2-BD59-A6C34878D82A}">
                        <a16:rowId xmlns:a16="http://schemas.microsoft.com/office/drawing/2014/main" val="663103614"/>
                      </a:ext>
                    </a:extLst>
                  </a:tr>
                  <a:tr h="181573">
                    <a:tc vMerge="1">
                      <a:txBody>
                        <a:bodyPr/>
                        <a:lstStyle/>
                        <a:p>
                          <a:endParaRPr lang="sv-SE"/>
                        </a:p>
                      </a:txBody>
                      <a:tcPr/>
                    </a:tc>
                    <a:tc vMerge="1">
                      <a:txBody>
                        <a:bodyPr/>
                        <a:lstStyle/>
                        <a:p>
                          <a:endParaRPr lang="sv-SE"/>
                        </a:p>
                      </a:txBody>
                      <a:tcPr/>
                    </a:tc>
                    <a:tc>
                      <a:txBody>
                        <a:bodyPr/>
                        <a:lstStyle/>
                        <a:p>
                          <a:pPr algn="l" fontAlgn="ctr"/>
                          <a:r>
                            <a:rPr lang="sv-SE" sz="1000" u="none" strike="noStrike">
                              <a:effectLst/>
                            </a:rPr>
                            <a:t>T</a:t>
                          </a:r>
                          <a:r>
                            <a:rPr lang="sv-SE" sz="800" u="none" strike="noStrike">
                              <a:effectLst/>
                            </a:rPr>
                            <a:t>vj </a:t>
                          </a:r>
                          <a:r>
                            <a:rPr lang="sv-SE" sz="1100" u="none" strike="noStrike">
                              <a:effectLst/>
                            </a:rPr>
                            <a:t>= 175 °C</a:t>
                          </a:r>
                          <a:endParaRPr lang="sv-SE" sz="1000" b="0" i="1" u="none" strike="noStrike">
                            <a:solidFill>
                              <a:srgbClr val="00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sv-SE"/>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12500" t="-220000" r="-1471" b="-350000"/>
                          </a:stretch>
                        </a:blipFill>
                      </a:tcPr>
                    </a:tc>
                    <a:extLst>
                      <a:ext uri="{0D108BD9-81ED-4DB2-BD59-A6C34878D82A}">
                        <a16:rowId xmlns:a16="http://schemas.microsoft.com/office/drawing/2014/main" val="1582571821"/>
                      </a:ext>
                    </a:extLst>
                  </a:tr>
                  <a:tr h="188764">
                    <a:tc rowSpan="3">
                      <a:txBody>
                        <a:bodyPr/>
                        <a:lstStyle/>
                        <a:p>
                          <a:pPr algn="ctr" fontAlgn="t"/>
                          <a:r>
                            <a:rPr lang="sv-SE" sz="1000" u="none" strike="noStrike">
                              <a:effectLst/>
                            </a:rPr>
                            <a:t>E</a:t>
                          </a:r>
                          <a:r>
                            <a:rPr lang="sv-SE" sz="800" u="none" strike="noStrike">
                              <a:effectLst/>
                            </a:rPr>
                            <a:t>off</a:t>
                          </a:r>
                          <a:endParaRPr lang="sv-SE" sz="1000" b="0" i="1" u="none" strike="noStrike">
                            <a:solidFill>
                              <a:srgbClr val="000000"/>
                            </a:solidFill>
                            <a:effectLst/>
                            <a:latin typeface="Source Sans Pro"/>
                          </a:endParaRPr>
                        </a:p>
                      </a:txBody>
                      <a:tcPr marL="8989" marR="8989" marT="898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l" fontAlgn="t"/>
                          <a:r>
                            <a:rPr lang="sv-SE" sz="1000" u="none" strike="noStrike" dirty="0">
                              <a:effectLst/>
                            </a:rPr>
                            <a:t>I</a:t>
                          </a:r>
                          <a:r>
                            <a:rPr lang="sv-SE" sz="800" u="none" strike="noStrike" dirty="0">
                              <a:effectLst/>
                            </a:rPr>
                            <a:t>D </a:t>
                          </a:r>
                          <a:r>
                            <a:rPr lang="sv-SE" sz="1100" u="none" strike="noStrike" dirty="0">
                              <a:effectLst/>
                            </a:rPr>
                            <a:t>= 700 A, </a:t>
                          </a:r>
                          <a:r>
                            <a:rPr lang="sv-SE" sz="1000" u="none" strike="noStrike" dirty="0">
                              <a:effectLst/>
                            </a:rPr>
                            <a:t>V</a:t>
                          </a:r>
                          <a:r>
                            <a:rPr lang="sv-SE" sz="800" u="none" strike="noStrike" dirty="0">
                              <a:effectLst/>
                            </a:rPr>
                            <a:t>DS </a:t>
                          </a:r>
                          <a:r>
                            <a:rPr lang="sv-SE" sz="1100" u="none" strike="noStrike" dirty="0">
                              <a:effectLst/>
                            </a:rPr>
                            <a:t>= 1200 V</a:t>
                          </a:r>
                          <a:r>
                            <a:rPr lang="sv-SE" sz="1000" u="none" strike="noStrike" dirty="0">
                              <a:effectLst/>
                            </a:rPr>
                            <a:t>, L</a:t>
                          </a:r>
                          <a:r>
                            <a:rPr lang="el-GR" sz="1000" u="none" strike="noStrike" dirty="0">
                              <a:effectLst/>
                            </a:rPr>
                            <a:t>σ = 12 </a:t>
                          </a:r>
                          <a:r>
                            <a:rPr lang="sv-SE" sz="1000" u="none" strike="noStrike" dirty="0" err="1">
                              <a:effectLst/>
                            </a:rPr>
                            <a:t>nH</a:t>
                          </a:r>
                          <a:r>
                            <a:rPr lang="sv-SE" sz="1000" u="none" strike="noStrike" dirty="0">
                              <a:effectLst/>
                            </a:rPr>
                            <a:t>, VGS = 18/-5 V, </a:t>
                          </a:r>
                          <a:r>
                            <a:rPr lang="sv-SE" sz="1000" u="none" strike="noStrike" dirty="0" err="1">
                              <a:effectLst/>
                            </a:rPr>
                            <a:t>RGoff</a:t>
                          </a:r>
                          <a:r>
                            <a:rPr lang="sv-SE" sz="1000" u="none" strike="noStrike" dirty="0">
                              <a:effectLst/>
                            </a:rPr>
                            <a:t> = 0.56 </a:t>
                          </a:r>
                          <a:r>
                            <a:rPr lang="el-GR" sz="1000" u="none" strike="noStrike" dirty="0">
                              <a:effectLst/>
                            </a:rPr>
                            <a:t>Ω, </a:t>
                          </a:r>
                          <a:r>
                            <a:rPr lang="sv-SE" sz="1000" u="none" strike="noStrike" dirty="0">
                              <a:effectLst/>
                            </a:rPr>
                            <a:t>du/dt = 18 kV/µs (</a:t>
                          </a:r>
                          <a:r>
                            <a:rPr lang="sv-SE" sz="1000" u="none" strike="noStrike" dirty="0" err="1">
                              <a:effectLst/>
                            </a:rPr>
                            <a:t>Tvj</a:t>
                          </a:r>
                          <a:r>
                            <a:rPr lang="sv-SE" sz="1000" u="none" strike="noStrike" dirty="0">
                              <a:effectLst/>
                            </a:rPr>
                            <a:t> = 175 °C)</a:t>
                          </a:r>
                          <a:endParaRPr lang="sv-SE" sz="1000" b="0" i="0" u="none" strike="noStrike" dirty="0">
                            <a:solidFill>
                              <a:srgbClr val="000000"/>
                            </a:solidFill>
                            <a:effectLst/>
                            <a:latin typeface="Source Sans Pro"/>
                          </a:endParaRPr>
                        </a:p>
                      </a:txBody>
                      <a:tcPr marL="8989" marR="8989" marT="898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sv-SE" sz="1000" u="none" strike="noStrike" dirty="0" err="1">
                              <a:effectLst/>
                            </a:rPr>
                            <a:t>T</a:t>
                          </a:r>
                          <a:r>
                            <a:rPr lang="sv-SE" sz="800" u="none" strike="noStrike" dirty="0" err="1">
                              <a:effectLst/>
                            </a:rPr>
                            <a:t>vj</a:t>
                          </a:r>
                          <a:r>
                            <a:rPr lang="sv-SE" sz="800" u="none" strike="noStrike" dirty="0">
                              <a:effectLst/>
                            </a:rPr>
                            <a:t> </a:t>
                          </a:r>
                          <a:r>
                            <a:rPr lang="sv-SE" sz="1100" u="none" strike="noStrike" dirty="0">
                              <a:effectLst/>
                            </a:rPr>
                            <a:t>= 25 °C</a:t>
                          </a:r>
                          <a:endParaRPr lang="sv-SE" sz="1000" b="0" i="1" u="none" strike="noStrike" dirty="0">
                            <a:solidFill>
                              <a:srgbClr val="00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sv-SE"/>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12500" t="-309677" r="-1471" b="-238710"/>
                          </a:stretch>
                        </a:blipFill>
                      </a:tcPr>
                    </a:tc>
                    <a:extLst>
                      <a:ext uri="{0D108BD9-81ED-4DB2-BD59-A6C34878D82A}">
                        <a16:rowId xmlns:a16="http://schemas.microsoft.com/office/drawing/2014/main" val="1723986964"/>
                      </a:ext>
                    </a:extLst>
                  </a:tr>
                  <a:tr h="181573">
                    <a:tc vMerge="1">
                      <a:txBody>
                        <a:bodyPr/>
                        <a:lstStyle/>
                        <a:p>
                          <a:endParaRPr lang="sv-SE"/>
                        </a:p>
                      </a:txBody>
                      <a:tcPr/>
                    </a:tc>
                    <a:tc vMerge="1">
                      <a:txBody>
                        <a:bodyPr/>
                        <a:lstStyle/>
                        <a:p>
                          <a:endParaRPr lang="sv-SE"/>
                        </a:p>
                      </a:txBody>
                      <a:tcPr/>
                    </a:tc>
                    <a:tc>
                      <a:txBody>
                        <a:bodyPr/>
                        <a:lstStyle/>
                        <a:p>
                          <a:pPr algn="l" fontAlgn="ctr"/>
                          <a:r>
                            <a:rPr lang="sv-SE" sz="1000" u="none" strike="noStrike">
                              <a:effectLst/>
                            </a:rPr>
                            <a:t>T</a:t>
                          </a:r>
                          <a:r>
                            <a:rPr lang="sv-SE" sz="800" u="none" strike="noStrike">
                              <a:effectLst/>
                            </a:rPr>
                            <a:t>vj </a:t>
                          </a:r>
                          <a:r>
                            <a:rPr lang="sv-SE" sz="1100" u="none" strike="noStrike">
                              <a:effectLst/>
                            </a:rPr>
                            <a:t>= 125 °C</a:t>
                          </a:r>
                          <a:endParaRPr lang="sv-SE" sz="1000" b="0" i="1" u="none" strike="noStrike">
                            <a:solidFill>
                              <a:srgbClr val="00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sv-SE"/>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12500" t="-423333" r="-1471" b="-146667"/>
                          </a:stretch>
                        </a:blipFill>
                      </a:tcPr>
                    </a:tc>
                    <a:extLst>
                      <a:ext uri="{0D108BD9-81ED-4DB2-BD59-A6C34878D82A}">
                        <a16:rowId xmlns:a16="http://schemas.microsoft.com/office/drawing/2014/main" val="3099260178"/>
                      </a:ext>
                    </a:extLst>
                  </a:tr>
                  <a:tr h="181573">
                    <a:tc vMerge="1">
                      <a:txBody>
                        <a:bodyPr/>
                        <a:lstStyle/>
                        <a:p>
                          <a:endParaRPr lang="sv-SE"/>
                        </a:p>
                      </a:txBody>
                      <a:tcPr/>
                    </a:tc>
                    <a:tc vMerge="1">
                      <a:txBody>
                        <a:bodyPr/>
                        <a:lstStyle/>
                        <a:p>
                          <a:endParaRPr lang="sv-SE"/>
                        </a:p>
                      </a:txBody>
                      <a:tcPr/>
                    </a:tc>
                    <a:tc>
                      <a:txBody>
                        <a:bodyPr/>
                        <a:lstStyle/>
                        <a:p>
                          <a:pPr algn="l" fontAlgn="ctr"/>
                          <a:r>
                            <a:rPr lang="sv-SE" sz="1000" u="none" strike="noStrike" dirty="0" err="1">
                              <a:effectLst/>
                            </a:rPr>
                            <a:t>T</a:t>
                          </a:r>
                          <a:r>
                            <a:rPr lang="sv-SE" sz="800" u="none" strike="noStrike" dirty="0" err="1">
                              <a:effectLst/>
                            </a:rPr>
                            <a:t>vj</a:t>
                          </a:r>
                          <a:r>
                            <a:rPr lang="sv-SE" sz="800" u="none" strike="noStrike" dirty="0">
                              <a:effectLst/>
                            </a:rPr>
                            <a:t> </a:t>
                          </a:r>
                          <a:r>
                            <a:rPr lang="sv-SE" sz="1100" u="none" strike="noStrike" dirty="0">
                              <a:effectLst/>
                            </a:rPr>
                            <a:t>= 175 °C</a:t>
                          </a:r>
                          <a:endParaRPr lang="sv-SE" sz="1000" b="0" i="1" u="none" strike="noStrike" dirty="0">
                            <a:solidFill>
                              <a:srgbClr val="00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sv-SE"/>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12500" t="-523333" r="-1471" b="-46667"/>
                          </a:stretch>
                        </a:blipFill>
                      </a:tcPr>
                    </a:tc>
                    <a:extLst>
                      <a:ext uri="{0D108BD9-81ED-4DB2-BD59-A6C34878D82A}">
                        <a16:rowId xmlns:a16="http://schemas.microsoft.com/office/drawing/2014/main" val="3623730722"/>
                      </a:ext>
                    </a:extLst>
                  </a:tr>
                </a:tbl>
              </a:graphicData>
            </a:graphic>
          </p:graphicFrame>
        </mc:Fallback>
      </mc:AlternateContent>
      <p:cxnSp>
        <p:nvCxnSpPr>
          <p:cNvPr id="7" name="Straight Arrow Connector 6"/>
          <p:cNvCxnSpPr/>
          <p:nvPr/>
        </p:nvCxnSpPr>
        <p:spPr>
          <a:xfrm flipH="1">
            <a:off x="7306573" y="1975449"/>
            <a:ext cx="336430" cy="56071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6349039" y="2536166"/>
            <a:ext cx="2432649" cy="369332"/>
          </a:xfrm>
          <a:prstGeom prst="rect">
            <a:avLst/>
          </a:prstGeom>
          <a:noFill/>
        </p:spPr>
        <p:txBody>
          <a:bodyPr wrap="square" rtlCol="0">
            <a:spAutoFit/>
          </a:bodyPr>
          <a:lstStyle/>
          <a:p>
            <a:r>
              <a:rPr lang="sv-SE" dirty="0" smtClean="0"/>
              <a:t>Fast </a:t>
            </a:r>
            <a:r>
              <a:rPr lang="sv-SE" dirty="0" err="1" smtClean="0"/>
              <a:t>Switching</a:t>
            </a:r>
            <a:endParaRPr lang="sv-SE" dirty="0"/>
          </a:p>
        </p:txBody>
      </p:sp>
      <p:pic>
        <p:nvPicPr>
          <p:cNvPr id="20" name="Picture 19"/>
          <p:cNvPicPr>
            <a:picLocks noChangeAspect="1"/>
          </p:cNvPicPr>
          <p:nvPr/>
        </p:nvPicPr>
        <p:blipFill>
          <a:blip r:embed="rId3"/>
          <a:stretch>
            <a:fillRect/>
          </a:stretch>
        </p:blipFill>
        <p:spPr>
          <a:xfrm>
            <a:off x="283821" y="2674589"/>
            <a:ext cx="2532226" cy="3339770"/>
          </a:xfrm>
          <a:prstGeom prst="rect">
            <a:avLst/>
          </a:prstGeom>
        </p:spPr>
      </p:pic>
      <mc:AlternateContent xmlns:mc="http://schemas.openxmlformats.org/markup-compatibility/2006" xmlns:a14="http://schemas.microsoft.com/office/drawing/2010/main">
        <mc:Choice Requires="a14">
          <p:sp>
            <p:nvSpPr>
              <p:cNvPr id="21" name="Rectangle 20"/>
              <p:cNvSpPr/>
              <p:nvPr/>
            </p:nvSpPr>
            <p:spPr>
              <a:xfrm>
                <a:off x="3049987" y="3605810"/>
                <a:ext cx="8699189" cy="1477328"/>
              </a:xfrm>
              <a:prstGeom prst="rect">
                <a:avLst/>
              </a:prstGeom>
            </p:spPr>
            <p:txBody>
              <a:bodyPr wrap="square">
                <a:spAutoFit/>
              </a:bodyPr>
              <a:lstStyle/>
              <a:p>
                <a:r>
                  <a:rPr lang="sv-SE" dirty="0"/>
                  <a:t>T</a:t>
                </a:r>
                <a:r>
                  <a:rPr lang="sv-SE" dirty="0" smtClean="0"/>
                  <a:t>he </a:t>
                </a:r>
                <a:r>
                  <a:rPr lang="sv-SE" dirty="0" err="1"/>
                  <a:t>switching</a:t>
                </a:r>
                <a:r>
                  <a:rPr lang="sv-SE" dirty="0"/>
                  <a:t> </a:t>
                </a:r>
                <a:r>
                  <a:rPr lang="sv-SE" dirty="0" err="1"/>
                  <a:t>energy</a:t>
                </a:r>
                <a:r>
                  <a:rPr lang="sv-SE" dirty="0"/>
                  <a:t> is </a:t>
                </a:r>
                <a:r>
                  <a:rPr lang="sv-SE" dirty="0" err="1"/>
                  <a:t>supposed</a:t>
                </a:r>
                <a:r>
                  <a:rPr lang="sv-SE" dirty="0"/>
                  <a:t> to be </a:t>
                </a:r>
                <a:r>
                  <a:rPr lang="sv-SE" dirty="0" smtClean="0"/>
                  <a:t>proportional </a:t>
                </a:r>
                <a:r>
                  <a:rPr lang="sv-SE" dirty="0"/>
                  <a:t>to the </a:t>
                </a:r>
                <a:r>
                  <a:rPr lang="sv-SE" dirty="0" err="1"/>
                  <a:t>load</a:t>
                </a:r>
                <a:r>
                  <a:rPr lang="sv-SE" dirty="0"/>
                  <a:t> </a:t>
                </a:r>
                <a:r>
                  <a:rPr lang="sv-SE" dirty="0" err="1"/>
                  <a:t>current</a:t>
                </a:r>
                <a:r>
                  <a:rPr lang="sv-SE" dirty="0"/>
                  <a:t>. </a:t>
                </a:r>
                <a:endParaRPr lang="sv-SE" dirty="0" smtClean="0"/>
              </a:p>
              <a:p>
                <a:r>
                  <a:rPr lang="sv-SE" dirty="0" err="1" smtClean="0"/>
                  <a:t>However</a:t>
                </a:r>
                <a:r>
                  <a:rPr lang="sv-SE" dirty="0"/>
                  <a:t>, </a:t>
                </a:r>
                <a:r>
                  <a:rPr lang="sv-SE" dirty="0" err="1" smtClean="0"/>
                  <a:t>Figure</a:t>
                </a:r>
                <a:r>
                  <a:rPr lang="sv-SE" dirty="0" smtClean="0"/>
                  <a:t> </a:t>
                </a:r>
                <a:r>
                  <a:rPr lang="sv-SE" dirty="0" err="1" smtClean="0"/>
                  <a:t>demonstrates</a:t>
                </a:r>
                <a:r>
                  <a:rPr lang="sv-SE" dirty="0" smtClean="0"/>
                  <a:t> </a:t>
                </a:r>
                <a:r>
                  <a:rPr lang="sv-SE" dirty="0" err="1"/>
                  <a:t>that</a:t>
                </a:r>
                <a:r>
                  <a:rPr lang="sv-SE" dirty="0"/>
                  <a:t> the relationship is </a:t>
                </a:r>
                <a:r>
                  <a:rPr lang="sv-SE" dirty="0" err="1"/>
                  <a:t>true</a:t>
                </a:r>
                <a:r>
                  <a:rPr lang="sv-SE" dirty="0"/>
                  <a:t> for a gate </a:t>
                </a:r>
                <a:r>
                  <a:rPr lang="sv-SE" dirty="0" err="1"/>
                  <a:t>resistance</a:t>
                </a:r>
                <a:r>
                  <a:rPr lang="sv-SE" dirty="0"/>
                  <a:t> </a:t>
                </a:r>
                <a14:m>
                  <m:oMath xmlns:m="http://schemas.openxmlformats.org/officeDocument/2006/math">
                    <m:r>
                      <a:rPr lang="sv-SE" i="1" dirty="0" smtClean="0">
                        <a:latin typeface="Cambria Math" panose="02040503050406030204" pitchFamily="18" charset="0"/>
                      </a:rPr>
                      <m:t>𝑅𝑔</m:t>
                    </m:r>
                    <m:r>
                      <a:rPr lang="sv-SE" i="1" dirty="0" smtClean="0">
                        <a:latin typeface="Cambria Math" panose="02040503050406030204" pitchFamily="18" charset="0"/>
                      </a:rPr>
                      <m:t> = 10 </m:t>
                    </m:r>
                    <m:r>
                      <m:rPr>
                        <m:sty m:val="p"/>
                      </m:rPr>
                      <a:rPr lang="sv-SE" b="0" i="0" dirty="0" smtClean="0">
                        <a:latin typeface="Cambria Math" panose="02040503050406030204" pitchFamily="18" charset="0"/>
                      </a:rPr>
                      <m:t>Ω</m:t>
                    </m:r>
                    <m:r>
                      <a:rPr lang="sv-SE" i="1" dirty="0" smtClean="0">
                        <a:latin typeface="Cambria Math" panose="02040503050406030204" pitchFamily="18" charset="0"/>
                      </a:rPr>
                      <m:t> </m:t>
                    </m:r>
                  </m:oMath>
                </a14:m>
                <a:r>
                  <a:rPr lang="sv-SE" dirty="0" smtClean="0"/>
                  <a:t>,  </a:t>
                </a:r>
                <a:r>
                  <a:rPr lang="sv-SE" dirty="0" err="1"/>
                  <a:t>but</a:t>
                </a:r>
                <a:r>
                  <a:rPr lang="sv-SE" dirty="0"/>
                  <a:t> not for </a:t>
                </a:r>
                <a14:m>
                  <m:oMath xmlns:m="http://schemas.openxmlformats.org/officeDocument/2006/math">
                    <m:r>
                      <a:rPr lang="sv-SE" i="1" dirty="0">
                        <a:latin typeface="Cambria Math" panose="02040503050406030204" pitchFamily="18" charset="0"/>
                      </a:rPr>
                      <m:t>𝑅𝑔</m:t>
                    </m:r>
                    <m:r>
                      <a:rPr lang="sv-SE" i="1" dirty="0">
                        <a:latin typeface="Cambria Math" panose="02040503050406030204" pitchFamily="18" charset="0"/>
                      </a:rPr>
                      <m:t> = 1 </m:t>
                    </m:r>
                    <m:r>
                      <m:rPr>
                        <m:sty m:val="p"/>
                      </m:rPr>
                      <a:rPr lang="sv-SE" dirty="0">
                        <a:latin typeface="Cambria Math" panose="02040503050406030204" pitchFamily="18" charset="0"/>
                      </a:rPr>
                      <m:t>Ω</m:t>
                    </m:r>
                    <m:r>
                      <a:rPr lang="sv-SE" i="1" dirty="0">
                        <a:latin typeface="Cambria Math" panose="02040503050406030204" pitchFamily="18" charset="0"/>
                      </a:rPr>
                      <m:t> </m:t>
                    </m:r>
                  </m:oMath>
                </a14:m>
                <a:r>
                  <a:rPr lang="sv-SE" dirty="0" smtClean="0"/>
                  <a:t>.</a:t>
                </a:r>
              </a:p>
              <a:p>
                <a:r>
                  <a:rPr lang="sv-SE" dirty="0" smtClean="0"/>
                  <a:t> </a:t>
                </a:r>
                <a:r>
                  <a:rPr lang="sv-SE" dirty="0" err="1"/>
                  <a:t>Since</a:t>
                </a:r>
                <a:r>
                  <a:rPr lang="sv-SE" dirty="0"/>
                  <a:t> fast </a:t>
                </a:r>
                <a:r>
                  <a:rPr lang="sv-SE" dirty="0" err="1"/>
                  <a:t>switching</a:t>
                </a:r>
                <a:r>
                  <a:rPr lang="sv-SE" dirty="0"/>
                  <a:t> is </a:t>
                </a:r>
                <a:r>
                  <a:rPr lang="sv-SE" dirty="0" err="1" smtClean="0"/>
                  <a:t>assumed</a:t>
                </a:r>
                <a:r>
                  <a:rPr lang="sv-SE" dirty="0"/>
                  <a:t>, f2(IL) is fit </a:t>
                </a:r>
                <a:r>
                  <a:rPr lang="sv-SE" dirty="0" err="1"/>
                  <a:t>with</a:t>
                </a:r>
                <a:r>
                  <a:rPr lang="sv-SE" dirty="0"/>
                  <a:t> a second-</a:t>
                </a:r>
                <a:r>
                  <a:rPr lang="sv-SE" dirty="0" err="1"/>
                  <a:t>degree</a:t>
                </a:r>
                <a:r>
                  <a:rPr lang="sv-SE" dirty="0"/>
                  <a:t> </a:t>
                </a:r>
                <a:r>
                  <a:rPr lang="sv-SE" dirty="0" err="1"/>
                  <a:t>polynomial</a:t>
                </a:r>
                <a:r>
                  <a:rPr lang="sv-SE" dirty="0"/>
                  <a:t> </a:t>
                </a:r>
                <a:r>
                  <a:rPr lang="sv-SE" dirty="0" err="1"/>
                  <a:t>instead</a:t>
                </a:r>
                <a:r>
                  <a:rPr lang="sv-SE" dirty="0"/>
                  <a:t> </a:t>
                </a:r>
                <a:r>
                  <a:rPr lang="sv-SE" dirty="0" err="1" smtClean="0"/>
                  <a:t>which</a:t>
                </a:r>
                <a:r>
                  <a:rPr lang="sv-SE" dirty="0" smtClean="0"/>
                  <a:t> </a:t>
                </a:r>
                <a:r>
                  <a:rPr lang="sv-SE" dirty="0"/>
                  <a:t>is in </a:t>
                </a:r>
                <a:r>
                  <a:rPr lang="sv-SE" dirty="0" err="1"/>
                  <a:t>good</a:t>
                </a:r>
                <a:r>
                  <a:rPr lang="sv-SE" dirty="0"/>
                  <a:t> </a:t>
                </a:r>
                <a:r>
                  <a:rPr lang="sv-SE" dirty="0" err="1"/>
                  <a:t>agreement</a:t>
                </a:r>
                <a:r>
                  <a:rPr lang="sv-SE" dirty="0"/>
                  <a:t> </a:t>
                </a:r>
                <a:r>
                  <a:rPr lang="sv-SE" dirty="0" err="1"/>
                  <a:t>with</a:t>
                </a:r>
                <a:r>
                  <a:rPr lang="sv-SE" dirty="0"/>
                  <a:t> the </a:t>
                </a:r>
                <a:r>
                  <a:rPr lang="sv-SE" dirty="0" err="1"/>
                  <a:t>measured</a:t>
                </a:r>
                <a:r>
                  <a:rPr lang="sv-SE" dirty="0"/>
                  <a:t> </a:t>
                </a:r>
                <a:r>
                  <a:rPr lang="sv-SE" dirty="0" smtClean="0"/>
                  <a:t>data.</a:t>
                </a:r>
                <a:endParaRPr lang="sv-SE" dirty="0"/>
              </a:p>
            </p:txBody>
          </p:sp>
        </mc:Choice>
        <mc:Fallback xmlns="">
          <p:sp>
            <p:nvSpPr>
              <p:cNvPr id="21" name="Rectangle 20"/>
              <p:cNvSpPr>
                <a:spLocks noRot="1" noChangeAspect="1" noMove="1" noResize="1" noEditPoints="1" noAdjustHandles="1" noChangeArrowheads="1" noChangeShapeType="1" noTextEdit="1"/>
              </p:cNvSpPr>
              <p:nvPr/>
            </p:nvSpPr>
            <p:spPr>
              <a:xfrm>
                <a:off x="3049987" y="3605810"/>
                <a:ext cx="8699189" cy="1477328"/>
              </a:xfrm>
              <a:prstGeom prst="rect">
                <a:avLst/>
              </a:prstGeom>
              <a:blipFill>
                <a:blip r:embed="rId4"/>
                <a:stretch>
                  <a:fillRect l="-561" t="-2479" b="-5785"/>
                </a:stretch>
              </a:blipFill>
            </p:spPr>
            <p:txBody>
              <a:bodyPr/>
              <a:lstStyle/>
              <a:p>
                <a:r>
                  <a:rPr lang="sv-SE">
                    <a:noFill/>
                  </a:rPr>
                  <a:t> </a:t>
                </a:r>
              </a:p>
            </p:txBody>
          </p:sp>
        </mc:Fallback>
      </mc:AlternateContent>
      <p:pic>
        <p:nvPicPr>
          <p:cNvPr id="22" name="Picture 21"/>
          <p:cNvPicPr>
            <a:picLocks noChangeAspect="1"/>
          </p:cNvPicPr>
          <p:nvPr/>
        </p:nvPicPr>
        <p:blipFill>
          <a:blip r:embed="rId5"/>
          <a:stretch>
            <a:fillRect/>
          </a:stretch>
        </p:blipFill>
        <p:spPr>
          <a:xfrm>
            <a:off x="4347264" y="5362232"/>
            <a:ext cx="4167008" cy="609082"/>
          </a:xfrm>
          <a:prstGeom prst="rect">
            <a:avLst/>
          </a:prstGeom>
        </p:spPr>
      </p:pic>
      <p:sp>
        <p:nvSpPr>
          <p:cNvPr id="23" name="Rectangle 22"/>
          <p:cNvSpPr/>
          <p:nvPr/>
        </p:nvSpPr>
        <p:spPr>
          <a:xfrm>
            <a:off x="444800" y="6219645"/>
            <a:ext cx="11218114" cy="369332"/>
          </a:xfrm>
          <a:prstGeom prst="rect">
            <a:avLst/>
          </a:prstGeom>
        </p:spPr>
        <p:txBody>
          <a:bodyPr wrap="square">
            <a:spAutoFit/>
          </a:bodyPr>
          <a:lstStyle/>
          <a:p>
            <a:r>
              <a:rPr lang="sv-SE" dirty="0" err="1" smtClean="0"/>
              <a:t>Retrieved</a:t>
            </a:r>
            <a:r>
              <a:rPr lang="sv-SE" dirty="0" smtClean="0"/>
              <a:t> from Potentials </a:t>
            </a:r>
            <a:r>
              <a:rPr lang="sv-SE" dirty="0"/>
              <a:t>and </a:t>
            </a:r>
            <a:r>
              <a:rPr lang="sv-SE" dirty="0" err="1"/>
              <a:t>Comparison</a:t>
            </a:r>
            <a:r>
              <a:rPr lang="sv-SE" dirty="0"/>
              <a:t> </a:t>
            </a:r>
            <a:r>
              <a:rPr lang="sv-SE" dirty="0" err="1"/>
              <a:t>of</a:t>
            </a:r>
            <a:r>
              <a:rPr lang="sv-SE" dirty="0"/>
              <a:t> </a:t>
            </a:r>
            <a:r>
              <a:rPr lang="sv-SE" dirty="0" err="1"/>
              <a:t>Inverter</a:t>
            </a:r>
            <a:r>
              <a:rPr lang="sv-SE" dirty="0"/>
              <a:t> </a:t>
            </a:r>
            <a:r>
              <a:rPr lang="sv-SE" dirty="0" err="1"/>
              <a:t>Topologies</a:t>
            </a:r>
            <a:r>
              <a:rPr lang="sv-SE" dirty="0"/>
              <a:t> for </a:t>
            </a:r>
            <a:r>
              <a:rPr lang="sv-SE" dirty="0" err="1"/>
              <a:t>Future</a:t>
            </a:r>
            <a:r>
              <a:rPr lang="sv-SE" dirty="0"/>
              <a:t> All-Electric Aircraft </a:t>
            </a:r>
            <a:r>
              <a:rPr lang="sv-SE" dirty="0" err="1"/>
              <a:t>Propulsion</a:t>
            </a:r>
            <a:endParaRPr lang="sv-SE" dirty="0"/>
          </a:p>
        </p:txBody>
      </p:sp>
    </p:spTree>
    <p:extLst>
      <p:ext uri="{BB962C8B-B14F-4D97-AF65-F5344CB8AC3E}">
        <p14:creationId xmlns:p14="http://schemas.microsoft.com/office/powerpoint/2010/main" val="239493275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048649" y="276123"/>
            <a:ext cx="10990263" cy="568412"/>
          </a:xfrm>
        </p:spPr>
        <p:txBody>
          <a:bodyPr/>
          <a:lstStyle/>
          <a:p>
            <a:r>
              <a:rPr lang="en-US" dirty="0" smtClean="0"/>
              <a:t>Datasheet-driven Loss </a:t>
            </a:r>
            <a:r>
              <a:rPr lang="en-US" dirty="0"/>
              <a:t>Calculation </a:t>
            </a:r>
            <a:endParaRPr lang="sv-SE" dirty="0"/>
          </a:p>
        </p:txBody>
      </p:sp>
      <p:pic>
        <p:nvPicPr>
          <p:cNvPr id="6" name="Picture 5"/>
          <p:cNvPicPr>
            <a:picLocks noChangeAspect="1"/>
          </p:cNvPicPr>
          <p:nvPr/>
        </p:nvPicPr>
        <p:blipFill>
          <a:blip r:embed="rId2"/>
          <a:stretch>
            <a:fillRect/>
          </a:stretch>
        </p:blipFill>
        <p:spPr>
          <a:xfrm>
            <a:off x="73323" y="844535"/>
            <a:ext cx="3558396" cy="2668797"/>
          </a:xfrm>
          <a:prstGeom prst="rect">
            <a:avLst/>
          </a:prstGeom>
        </p:spPr>
      </p:pic>
      <p:sp>
        <p:nvSpPr>
          <p:cNvPr id="12" name="TextBox 11"/>
          <p:cNvSpPr txBox="1"/>
          <p:nvPr/>
        </p:nvSpPr>
        <p:spPr>
          <a:xfrm>
            <a:off x="794272" y="3513332"/>
            <a:ext cx="2294626" cy="369332"/>
          </a:xfrm>
          <a:prstGeom prst="rect">
            <a:avLst/>
          </a:prstGeom>
          <a:noFill/>
        </p:spPr>
        <p:txBody>
          <a:bodyPr wrap="square" rtlCol="0">
            <a:spAutoFit/>
          </a:bodyPr>
          <a:lstStyle/>
          <a:p>
            <a:r>
              <a:rPr lang="sv-SE" dirty="0" err="1" smtClean="0"/>
              <a:t>Linear</a:t>
            </a:r>
            <a:r>
              <a:rPr lang="sv-SE" dirty="0" smtClean="0"/>
              <a:t> </a:t>
            </a:r>
            <a:r>
              <a:rPr lang="sv-SE" dirty="0" err="1" smtClean="0"/>
              <a:t>assumption</a:t>
            </a:r>
            <a:endParaRPr lang="sv-SE" dirty="0"/>
          </a:p>
        </p:txBody>
      </p:sp>
      <p:sp>
        <p:nvSpPr>
          <p:cNvPr id="18" name="TextBox 17"/>
          <p:cNvSpPr txBox="1"/>
          <p:nvPr/>
        </p:nvSpPr>
        <p:spPr>
          <a:xfrm>
            <a:off x="4210332" y="3584912"/>
            <a:ext cx="3286665" cy="369332"/>
          </a:xfrm>
          <a:prstGeom prst="rect">
            <a:avLst/>
          </a:prstGeom>
          <a:noFill/>
        </p:spPr>
        <p:txBody>
          <a:bodyPr wrap="square" rtlCol="0">
            <a:spAutoFit/>
          </a:bodyPr>
          <a:lstStyle/>
          <a:p>
            <a:r>
              <a:rPr lang="sv-SE" dirty="0" err="1" smtClean="0"/>
              <a:t>Polynomial</a:t>
            </a:r>
            <a:r>
              <a:rPr lang="sv-SE" dirty="0" smtClean="0"/>
              <a:t> </a:t>
            </a:r>
            <a:r>
              <a:rPr lang="sv-SE" dirty="0" err="1" smtClean="0"/>
              <a:t>assumption</a:t>
            </a:r>
            <a:r>
              <a:rPr lang="sv-SE" dirty="0" smtClean="0"/>
              <a:t> 1</a:t>
            </a:r>
          </a:p>
        </p:txBody>
      </p:sp>
      <p:sp>
        <p:nvSpPr>
          <p:cNvPr id="14" name="TextBox 13"/>
          <p:cNvSpPr txBox="1"/>
          <p:nvPr/>
        </p:nvSpPr>
        <p:spPr>
          <a:xfrm>
            <a:off x="2869734" y="5671344"/>
            <a:ext cx="7697623" cy="369332"/>
          </a:xfrm>
          <a:prstGeom prst="rect">
            <a:avLst/>
          </a:prstGeom>
          <a:noFill/>
        </p:spPr>
        <p:txBody>
          <a:bodyPr wrap="square" rtlCol="0">
            <a:spAutoFit/>
          </a:bodyPr>
          <a:lstStyle/>
          <a:p>
            <a:r>
              <a:rPr lang="sv-SE" dirty="0" err="1" smtClean="0"/>
              <a:t>Linear</a:t>
            </a:r>
            <a:r>
              <a:rPr lang="sv-SE" dirty="0" smtClean="0"/>
              <a:t> </a:t>
            </a:r>
            <a:r>
              <a:rPr lang="sv-SE" dirty="0" err="1" smtClean="0"/>
              <a:t>assumption</a:t>
            </a:r>
            <a:r>
              <a:rPr lang="sv-SE" dirty="0" smtClean="0"/>
              <a:t> </a:t>
            </a:r>
            <a:r>
              <a:rPr lang="sv-SE" dirty="0" err="1" smtClean="0"/>
              <a:t>might</a:t>
            </a:r>
            <a:r>
              <a:rPr lang="sv-SE" dirty="0" smtClean="0"/>
              <a:t> be the </a:t>
            </a:r>
            <a:r>
              <a:rPr lang="sv-SE" dirty="0" err="1" smtClean="0"/>
              <a:t>worst-case</a:t>
            </a:r>
            <a:r>
              <a:rPr lang="sv-SE" dirty="0" smtClean="0"/>
              <a:t> scenario.</a:t>
            </a:r>
            <a:endParaRPr lang="sv-SE" dirty="0"/>
          </a:p>
        </p:txBody>
      </p:sp>
      <p:sp>
        <p:nvSpPr>
          <p:cNvPr id="17" name="Rectangle 16"/>
          <p:cNvSpPr/>
          <p:nvPr/>
        </p:nvSpPr>
        <p:spPr>
          <a:xfrm>
            <a:off x="4046919" y="4067293"/>
            <a:ext cx="3898824" cy="369332"/>
          </a:xfrm>
          <a:prstGeom prst="rect">
            <a:avLst/>
          </a:prstGeom>
        </p:spPr>
        <p:txBody>
          <a:bodyPr wrap="none">
            <a:spAutoFit/>
          </a:bodyPr>
          <a:lstStyle/>
          <a:p>
            <a:r>
              <a:rPr lang="sv-SE" dirty="0" smtClean="0"/>
              <a:t>Eon </a:t>
            </a:r>
            <a:r>
              <a:rPr lang="sv-SE" dirty="0" smtClean="0">
                <a:sym typeface="Wingdings" panose="05000000000000000000" pitchFamily="2" charset="2"/>
              </a:rPr>
              <a:t> </a:t>
            </a:r>
            <a:r>
              <a:rPr lang="sv-SE" dirty="0" smtClean="0"/>
              <a:t>p1,1=0.007  </a:t>
            </a:r>
            <a:r>
              <a:rPr lang="sv-SE" dirty="0"/>
              <a:t>p1,2=0.5 p1,3=0 </a:t>
            </a:r>
          </a:p>
        </p:txBody>
      </p:sp>
      <p:sp>
        <p:nvSpPr>
          <p:cNvPr id="24" name="Rectangle 23"/>
          <p:cNvSpPr/>
          <p:nvPr/>
        </p:nvSpPr>
        <p:spPr>
          <a:xfrm>
            <a:off x="4046919" y="4528958"/>
            <a:ext cx="3858749" cy="369332"/>
          </a:xfrm>
          <a:prstGeom prst="rect">
            <a:avLst/>
          </a:prstGeom>
        </p:spPr>
        <p:txBody>
          <a:bodyPr wrap="none">
            <a:spAutoFit/>
          </a:bodyPr>
          <a:lstStyle/>
          <a:p>
            <a:r>
              <a:rPr lang="sv-SE" dirty="0" err="1" smtClean="0"/>
              <a:t>Eoff</a:t>
            </a:r>
            <a:r>
              <a:rPr lang="sv-SE" dirty="0" smtClean="0"/>
              <a:t> </a:t>
            </a:r>
            <a:r>
              <a:rPr lang="sv-SE" dirty="0" smtClean="0">
                <a:sym typeface="Wingdings" panose="05000000000000000000" pitchFamily="2" charset="2"/>
              </a:rPr>
              <a:t> </a:t>
            </a:r>
            <a:r>
              <a:rPr lang="sv-SE" dirty="0" smtClean="0"/>
              <a:t>p1,1=0.011  </a:t>
            </a:r>
            <a:r>
              <a:rPr lang="sv-SE" dirty="0"/>
              <a:t>p1,2=0.5 p1,3=0 </a:t>
            </a:r>
          </a:p>
        </p:txBody>
      </p:sp>
      <p:sp>
        <p:nvSpPr>
          <p:cNvPr id="25" name="TextBox 24"/>
          <p:cNvSpPr txBox="1"/>
          <p:nvPr/>
        </p:nvSpPr>
        <p:spPr>
          <a:xfrm>
            <a:off x="8229452" y="3513332"/>
            <a:ext cx="3286665" cy="369332"/>
          </a:xfrm>
          <a:prstGeom prst="rect">
            <a:avLst/>
          </a:prstGeom>
          <a:noFill/>
        </p:spPr>
        <p:txBody>
          <a:bodyPr wrap="square" rtlCol="0">
            <a:spAutoFit/>
          </a:bodyPr>
          <a:lstStyle/>
          <a:p>
            <a:r>
              <a:rPr lang="sv-SE" dirty="0" err="1"/>
              <a:t>Polynomial</a:t>
            </a:r>
            <a:r>
              <a:rPr lang="sv-SE" dirty="0"/>
              <a:t> </a:t>
            </a:r>
            <a:r>
              <a:rPr lang="sv-SE" dirty="0" err="1" smtClean="0"/>
              <a:t>assumption</a:t>
            </a:r>
            <a:r>
              <a:rPr lang="sv-SE" dirty="0" smtClean="0"/>
              <a:t> 2</a:t>
            </a:r>
          </a:p>
        </p:txBody>
      </p:sp>
      <p:sp>
        <p:nvSpPr>
          <p:cNvPr id="27" name="Rectangle 26"/>
          <p:cNvSpPr/>
          <p:nvPr/>
        </p:nvSpPr>
        <p:spPr>
          <a:xfrm>
            <a:off x="8066039" y="3995713"/>
            <a:ext cx="4121641" cy="369332"/>
          </a:xfrm>
          <a:prstGeom prst="rect">
            <a:avLst/>
          </a:prstGeom>
        </p:spPr>
        <p:txBody>
          <a:bodyPr wrap="none">
            <a:spAutoFit/>
          </a:bodyPr>
          <a:lstStyle/>
          <a:p>
            <a:r>
              <a:rPr lang="sv-SE" dirty="0" smtClean="0"/>
              <a:t>Eon </a:t>
            </a:r>
            <a:r>
              <a:rPr lang="sv-SE" dirty="0" smtClean="0">
                <a:sym typeface="Wingdings" panose="05000000000000000000" pitchFamily="2" charset="2"/>
              </a:rPr>
              <a:t> </a:t>
            </a:r>
            <a:r>
              <a:rPr lang="sv-SE" dirty="0" smtClean="0"/>
              <a:t>p1,1=0.0107  p1,2=0.25 </a:t>
            </a:r>
            <a:r>
              <a:rPr lang="sv-SE" dirty="0"/>
              <a:t>p1,3=0 </a:t>
            </a:r>
          </a:p>
        </p:txBody>
      </p:sp>
      <p:sp>
        <p:nvSpPr>
          <p:cNvPr id="28" name="Rectangle 27"/>
          <p:cNvSpPr/>
          <p:nvPr/>
        </p:nvSpPr>
        <p:spPr>
          <a:xfrm>
            <a:off x="8066039" y="4457378"/>
            <a:ext cx="4156907" cy="369332"/>
          </a:xfrm>
          <a:prstGeom prst="rect">
            <a:avLst/>
          </a:prstGeom>
        </p:spPr>
        <p:txBody>
          <a:bodyPr wrap="none">
            <a:spAutoFit/>
          </a:bodyPr>
          <a:lstStyle/>
          <a:p>
            <a:r>
              <a:rPr lang="sv-SE" dirty="0" err="1" smtClean="0"/>
              <a:t>Eoff</a:t>
            </a:r>
            <a:r>
              <a:rPr lang="sv-SE" dirty="0" smtClean="0"/>
              <a:t> </a:t>
            </a:r>
            <a:r>
              <a:rPr lang="sv-SE" dirty="0" smtClean="0">
                <a:sym typeface="Wingdings" panose="05000000000000000000" pitchFamily="2" charset="2"/>
              </a:rPr>
              <a:t> </a:t>
            </a:r>
            <a:r>
              <a:rPr lang="sv-SE" dirty="0" smtClean="0"/>
              <a:t>p1,1=0.0165  p1,2=0.25 </a:t>
            </a:r>
            <a:r>
              <a:rPr lang="sv-SE" dirty="0"/>
              <a:t>p1,3=0 </a:t>
            </a:r>
          </a:p>
        </p:txBody>
      </p:sp>
      <p:pic>
        <p:nvPicPr>
          <p:cNvPr id="19" name="Picture 18"/>
          <p:cNvPicPr>
            <a:picLocks noChangeAspect="1"/>
          </p:cNvPicPr>
          <p:nvPr/>
        </p:nvPicPr>
        <p:blipFill>
          <a:blip r:embed="rId3"/>
          <a:stretch>
            <a:fillRect/>
          </a:stretch>
        </p:blipFill>
        <p:spPr>
          <a:xfrm>
            <a:off x="4046919" y="857204"/>
            <a:ext cx="3561578" cy="2671183"/>
          </a:xfrm>
          <a:prstGeom prst="rect">
            <a:avLst/>
          </a:prstGeom>
        </p:spPr>
      </p:pic>
      <p:pic>
        <p:nvPicPr>
          <p:cNvPr id="29" name="Picture 28"/>
          <p:cNvPicPr>
            <a:picLocks noChangeAspect="1"/>
          </p:cNvPicPr>
          <p:nvPr/>
        </p:nvPicPr>
        <p:blipFill>
          <a:blip r:embed="rId4"/>
          <a:stretch>
            <a:fillRect/>
          </a:stretch>
        </p:blipFill>
        <p:spPr>
          <a:xfrm>
            <a:off x="7828031" y="856553"/>
            <a:ext cx="3492559" cy="2619419"/>
          </a:xfrm>
          <a:prstGeom prst="rect">
            <a:avLst/>
          </a:prstGeom>
        </p:spPr>
      </p:pic>
    </p:spTree>
    <p:extLst>
      <p:ext uri="{BB962C8B-B14F-4D97-AF65-F5344CB8AC3E}">
        <p14:creationId xmlns:p14="http://schemas.microsoft.com/office/powerpoint/2010/main" val="131198675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122490" y="287931"/>
            <a:ext cx="10990263" cy="568412"/>
          </a:xfrm>
        </p:spPr>
        <p:txBody>
          <a:bodyPr/>
          <a:lstStyle/>
          <a:p>
            <a:r>
              <a:rPr lang="en-US" dirty="0"/>
              <a:t>Datasheet-driven Loss </a:t>
            </a:r>
            <a:r>
              <a:rPr lang="en-US" dirty="0" smtClean="0"/>
              <a:t>Calculation (Conduction) </a:t>
            </a:r>
            <a:endParaRPr lang="sv-SE" dirty="0"/>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3320896809"/>
                  </p:ext>
                </p:extLst>
              </p:nvPr>
            </p:nvGraphicFramePr>
            <p:xfrm>
              <a:off x="2247210" y="4970174"/>
              <a:ext cx="6682395" cy="758698"/>
            </p:xfrm>
            <a:graphic>
              <a:graphicData uri="http://schemas.openxmlformats.org/drawingml/2006/table">
                <a:tbl>
                  <a:tblPr firstRow="1" bandRow="1">
                    <a:tableStyleId>{5C22544A-7EE6-4342-B048-85BDC9FD1C3A}</a:tableStyleId>
                  </a:tblPr>
                  <a:tblGrid>
                    <a:gridCol w="1336479">
                      <a:extLst>
                        <a:ext uri="{9D8B030D-6E8A-4147-A177-3AD203B41FA5}">
                          <a16:colId xmlns:a16="http://schemas.microsoft.com/office/drawing/2014/main" val="701188241"/>
                        </a:ext>
                      </a:extLst>
                    </a:gridCol>
                    <a:gridCol w="1336479">
                      <a:extLst>
                        <a:ext uri="{9D8B030D-6E8A-4147-A177-3AD203B41FA5}">
                          <a16:colId xmlns:a16="http://schemas.microsoft.com/office/drawing/2014/main" val="2487507754"/>
                        </a:ext>
                      </a:extLst>
                    </a:gridCol>
                    <a:gridCol w="1336479">
                      <a:extLst>
                        <a:ext uri="{9D8B030D-6E8A-4147-A177-3AD203B41FA5}">
                          <a16:colId xmlns:a16="http://schemas.microsoft.com/office/drawing/2014/main" val="267292927"/>
                        </a:ext>
                      </a:extLst>
                    </a:gridCol>
                    <a:gridCol w="1336479">
                      <a:extLst>
                        <a:ext uri="{9D8B030D-6E8A-4147-A177-3AD203B41FA5}">
                          <a16:colId xmlns:a16="http://schemas.microsoft.com/office/drawing/2014/main" val="482194914"/>
                        </a:ext>
                      </a:extLst>
                    </a:gridCol>
                    <a:gridCol w="1336479">
                      <a:extLst>
                        <a:ext uri="{9D8B030D-6E8A-4147-A177-3AD203B41FA5}">
                          <a16:colId xmlns:a16="http://schemas.microsoft.com/office/drawing/2014/main" val="2386295402"/>
                        </a:ext>
                      </a:extLst>
                    </a:gridCol>
                  </a:tblGrid>
                  <a:tr h="370840">
                    <a:tc>
                      <a:txBody>
                        <a:bodyPr/>
                        <a:lstStyle/>
                        <a:p>
                          <a:pPr algn="ctr"/>
                          <a14:m>
                            <m:oMath xmlns:m="http://schemas.openxmlformats.org/officeDocument/2006/math">
                              <m:sSub>
                                <m:sSubPr>
                                  <m:ctrlPr>
                                    <a:rPr lang="sv-SE" b="0" i="1" dirty="0" smtClean="0">
                                      <a:latin typeface="Cambria Math" panose="02040503050406030204" pitchFamily="18" charset="0"/>
                                    </a:rPr>
                                  </m:ctrlPr>
                                </m:sSubPr>
                                <m:e>
                                  <m:r>
                                    <a:rPr lang="sv-SE" i="1" dirty="0" smtClean="0">
                                      <a:latin typeface="Cambria Math" panose="02040503050406030204" pitchFamily="18" charset="0"/>
                                    </a:rPr>
                                    <m:t>𝑇</m:t>
                                  </m:r>
                                </m:e>
                                <m:sub>
                                  <m:r>
                                    <a:rPr lang="sv-SE" i="1" dirty="0" smtClean="0">
                                      <a:latin typeface="Cambria Math" panose="02040503050406030204" pitchFamily="18" charset="0"/>
                                    </a:rPr>
                                    <m:t>𝑗</m:t>
                                  </m:r>
                                </m:sub>
                              </m:sSub>
                            </m:oMath>
                          </a14:m>
                          <a:r>
                            <a:rPr lang="sv-SE" dirty="0" smtClean="0"/>
                            <a:t> ( </a:t>
                          </a:r>
                          <a14:m>
                            <m:oMath xmlns:m="http://schemas.openxmlformats.org/officeDocument/2006/math">
                              <m:sSup>
                                <m:sSupPr>
                                  <m:ctrlPr>
                                    <a:rPr lang="sv-SE" b="0" i="1" smtClean="0">
                                      <a:latin typeface="Cambria Math" panose="02040503050406030204" pitchFamily="18" charset="0"/>
                                    </a:rPr>
                                  </m:ctrlPr>
                                </m:sSupPr>
                                <m:e>
                                  <m:r>
                                    <a:rPr lang="sv-SE" b="0" i="1" smtClean="0">
                                      <a:latin typeface="Cambria Math" panose="02040503050406030204" pitchFamily="18" charset="0"/>
                                    </a:rPr>
                                    <m:t>𝐶</m:t>
                                  </m:r>
                                </m:e>
                                <m:sup>
                                  <m:r>
                                    <a:rPr lang="sv-SE" b="0" i="1" smtClean="0">
                                      <a:latin typeface="Cambria Math" panose="02040503050406030204" pitchFamily="18" charset="0"/>
                                    </a:rPr>
                                    <m:t>𝑜</m:t>
                                  </m:r>
                                </m:sup>
                              </m:sSup>
                            </m:oMath>
                          </a14:m>
                          <a:r>
                            <a:rPr lang="sv-SE" dirty="0" smtClean="0"/>
                            <a:t>)</a:t>
                          </a:r>
                          <a:endParaRPr lang="sv-SE" dirty="0"/>
                        </a:p>
                      </a:txBody>
                      <a:tcPr/>
                    </a:tc>
                    <a:tc>
                      <a:txBody>
                        <a:bodyPr/>
                        <a:lstStyle/>
                        <a:p>
                          <a:pPr/>
                          <a14:m>
                            <m:oMathPara xmlns:m="http://schemas.openxmlformats.org/officeDocument/2006/math">
                              <m:oMathParaPr>
                                <m:jc m:val="centerGroup"/>
                              </m:oMathParaPr>
                              <m:oMath xmlns:m="http://schemas.openxmlformats.org/officeDocument/2006/math">
                                <m:r>
                                  <a:rPr lang="sv-SE" b="1" i="1" dirty="0" smtClean="0">
                                    <a:latin typeface="Cambria Math" panose="02040503050406030204" pitchFamily="18" charset="0"/>
                                  </a:rPr>
                                  <m:t>2</m:t>
                                </m:r>
                                <m:r>
                                  <a:rPr lang="sv-SE" b="0" i="1" dirty="0" smtClean="0">
                                    <a:latin typeface="Cambria Math" panose="02040503050406030204" pitchFamily="18" charset="0"/>
                                  </a:rPr>
                                  <m:t>5</m:t>
                                </m:r>
                                <m:r>
                                  <a:rPr lang="sv-SE" i="1" dirty="0" smtClean="0">
                                    <a:latin typeface="Cambria Math" panose="02040503050406030204" pitchFamily="18" charset="0"/>
                                  </a:rPr>
                                  <m:t> </m:t>
                                </m:r>
                                <m:sSup>
                                  <m:sSupPr>
                                    <m:ctrlPr>
                                      <a:rPr lang="sv-SE" b="0" i="1" smtClean="0">
                                        <a:latin typeface="Cambria Math" panose="02040503050406030204" pitchFamily="18" charset="0"/>
                                      </a:rPr>
                                    </m:ctrlPr>
                                  </m:sSupPr>
                                  <m:e>
                                    <m:r>
                                      <a:rPr lang="sv-SE" b="0" i="1" smtClean="0">
                                        <a:latin typeface="Cambria Math" panose="02040503050406030204" pitchFamily="18" charset="0"/>
                                      </a:rPr>
                                      <m:t>𝐶</m:t>
                                    </m:r>
                                  </m:e>
                                  <m:sup>
                                    <m:r>
                                      <a:rPr lang="sv-SE" b="0" i="1" smtClean="0">
                                        <a:latin typeface="Cambria Math" panose="02040503050406030204" pitchFamily="18" charset="0"/>
                                      </a:rPr>
                                      <m:t>𝑜</m:t>
                                    </m:r>
                                  </m:sup>
                                </m:sSup>
                              </m:oMath>
                            </m:oMathPara>
                          </a14:m>
                          <a:endParaRPr lang="sv-SE" dirty="0"/>
                        </a:p>
                      </a:txBody>
                      <a:tcPr/>
                    </a:tc>
                    <a:tc>
                      <a:txBody>
                        <a:bodyPr/>
                        <a:lstStyle/>
                        <a:p>
                          <a:pPr algn="ctr"/>
                          <a14:m>
                            <m:oMathPara xmlns:m="http://schemas.openxmlformats.org/officeDocument/2006/math">
                              <m:oMathParaPr>
                                <m:jc m:val="centerGroup"/>
                              </m:oMathParaPr>
                              <m:oMath xmlns:m="http://schemas.openxmlformats.org/officeDocument/2006/math">
                                <m:r>
                                  <a:rPr lang="sv-SE" i="1" dirty="0" smtClean="0">
                                    <a:latin typeface="Cambria Math" panose="02040503050406030204" pitchFamily="18" charset="0"/>
                                  </a:rPr>
                                  <m:t>7</m:t>
                                </m:r>
                                <m:r>
                                  <a:rPr lang="sv-SE" b="0" i="1" dirty="0" smtClean="0">
                                    <a:latin typeface="Cambria Math" panose="02040503050406030204" pitchFamily="18" charset="0"/>
                                  </a:rPr>
                                  <m:t>5</m:t>
                                </m:r>
                                <m:r>
                                  <a:rPr lang="sv-SE" i="1" dirty="0" smtClean="0">
                                    <a:latin typeface="Cambria Math" panose="02040503050406030204" pitchFamily="18" charset="0"/>
                                  </a:rPr>
                                  <m:t> </m:t>
                                </m:r>
                                <m:sSup>
                                  <m:sSupPr>
                                    <m:ctrlPr>
                                      <a:rPr lang="sv-SE" b="0" i="1" smtClean="0">
                                        <a:latin typeface="Cambria Math" panose="02040503050406030204" pitchFamily="18" charset="0"/>
                                      </a:rPr>
                                    </m:ctrlPr>
                                  </m:sSupPr>
                                  <m:e>
                                    <m:r>
                                      <a:rPr lang="sv-SE" b="0" i="1" smtClean="0">
                                        <a:latin typeface="Cambria Math" panose="02040503050406030204" pitchFamily="18" charset="0"/>
                                      </a:rPr>
                                      <m:t>𝐶</m:t>
                                    </m:r>
                                  </m:e>
                                  <m:sup>
                                    <m:r>
                                      <a:rPr lang="sv-SE" b="0" i="1" smtClean="0">
                                        <a:latin typeface="Cambria Math" panose="02040503050406030204" pitchFamily="18" charset="0"/>
                                      </a:rPr>
                                      <m:t>𝑜</m:t>
                                    </m:r>
                                  </m:sup>
                                </m:sSup>
                              </m:oMath>
                            </m:oMathPara>
                          </a14:m>
                          <a:endParaRPr lang="sv-SE" dirty="0"/>
                        </a:p>
                      </a:txBody>
                      <a:tcPr/>
                    </a:tc>
                    <a:tc>
                      <a:txBody>
                        <a:bodyPr/>
                        <a:lstStyle/>
                        <a:p>
                          <a:pPr algn="ctr"/>
                          <a14:m>
                            <m:oMathPara xmlns:m="http://schemas.openxmlformats.org/officeDocument/2006/math">
                              <m:oMathParaPr>
                                <m:jc m:val="centerGroup"/>
                              </m:oMathParaPr>
                              <m:oMath xmlns:m="http://schemas.openxmlformats.org/officeDocument/2006/math">
                                <m:r>
                                  <a:rPr lang="sv-SE" i="1" dirty="0" smtClean="0">
                                    <a:latin typeface="Cambria Math" panose="02040503050406030204" pitchFamily="18" charset="0"/>
                                  </a:rPr>
                                  <m:t>1</m:t>
                                </m:r>
                                <m:r>
                                  <a:rPr lang="sv-SE" b="0" i="1" dirty="0" smtClean="0">
                                    <a:latin typeface="Cambria Math" panose="02040503050406030204" pitchFamily="18" charset="0"/>
                                  </a:rPr>
                                  <m:t>25</m:t>
                                </m:r>
                                <m:sSup>
                                  <m:sSupPr>
                                    <m:ctrlPr>
                                      <a:rPr lang="sv-SE" b="0" i="1" smtClean="0">
                                        <a:latin typeface="Cambria Math" panose="02040503050406030204" pitchFamily="18" charset="0"/>
                                      </a:rPr>
                                    </m:ctrlPr>
                                  </m:sSupPr>
                                  <m:e>
                                    <m:r>
                                      <a:rPr lang="sv-SE" b="0" i="1" smtClean="0">
                                        <a:latin typeface="Cambria Math" panose="02040503050406030204" pitchFamily="18" charset="0"/>
                                      </a:rPr>
                                      <m:t>𝐶</m:t>
                                    </m:r>
                                  </m:e>
                                  <m:sup>
                                    <m:r>
                                      <a:rPr lang="sv-SE" b="0" i="1" smtClean="0">
                                        <a:latin typeface="Cambria Math" panose="02040503050406030204" pitchFamily="18" charset="0"/>
                                      </a:rPr>
                                      <m:t>𝑜</m:t>
                                    </m:r>
                                  </m:sup>
                                </m:sSup>
                              </m:oMath>
                            </m:oMathPara>
                          </a14:m>
                          <a:endParaRPr lang="sv-SE" dirty="0"/>
                        </a:p>
                      </a:txBody>
                      <a:tcPr/>
                    </a:tc>
                    <a:tc>
                      <a:txBody>
                        <a:bodyPr/>
                        <a:lstStyle/>
                        <a:p>
                          <a:pPr algn="ctr"/>
                          <a14:m>
                            <m:oMathPara xmlns:m="http://schemas.openxmlformats.org/officeDocument/2006/math">
                              <m:oMathParaPr>
                                <m:jc m:val="centerGroup"/>
                              </m:oMathParaPr>
                              <m:oMath xmlns:m="http://schemas.openxmlformats.org/officeDocument/2006/math">
                                <m:r>
                                  <a:rPr lang="sv-SE" i="1" dirty="0" smtClean="0">
                                    <a:latin typeface="Cambria Math" panose="02040503050406030204" pitchFamily="18" charset="0"/>
                                  </a:rPr>
                                  <m:t>150 </m:t>
                                </m:r>
                                <m:sSup>
                                  <m:sSupPr>
                                    <m:ctrlPr>
                                      <a:rPr lang="sv-SE" b="0" i="1" smtClean="0">
                                        <a:latin typeface="Cambria Math" panose="02040503050406030204" pitchFamily="18" charset="0"/>
                                      </a:rPr>
                                    </m:ctrlPr>
                                  </m:sSupPr>
                                  <m:e>
                                    <m:r>
                                      <a:rPr lang="sv-SE" b="0" i="1" smtClean="0">
                                        <a:latin typeface="Cambria Math" panose="02040503050406030204" pitchFamily="18" charset="0"/>
                                      </a:rPr>
                                      <m:t>𝐶</m:t>
                                    </m:r>
                                  </m:e>
                                  <m:sup>
                                    <m:r>
                                      <a:rPr lang="sv-SE" b="0" i="1" smtClean="0">
                                        <a:latin typeface="Cambria Math" panose="02040503050406030204" pitchFamily="18" charset="0"/>
                                      </a:rPr>
                                      <m:t>𝑜</m:t>
                                    </m:r>
                                  </m:sup>
                                </m:sSup>
                              </m:oMath>
                            </m:oMathPara>
                          </a14:m>
                          <a:endParaRPr lang="sv-SE" dirty="0"/>
                        </a:p>
                      </a:txBody>
                      <a:tcPr/>
                    </a:tc>
                    <a:extLst>
                      <a:ext uri="{0D108BD9-81ED-4DB2-BD59-A6C34878D82A}">
                        <a16:rowId xmlns:a16="http://schemas.microsoft.com/office/drawing/2014/main" val="379032225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t>Loss</a:t>
                          </a:r>
                          <a:r>
                            <a:rPr lang="sv-SE" baseline="0" dirty="0" smtClean="0"/>
                            <a:t> (W)</a:t>
                          </a:r>
                          <a:endParaRPr lang="sv-SE" dirty="0" smtClean="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t>301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t>394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solidFill>
                                <a:srgbClr val="FF0000"/>
                              </a:solidFill>
                            </a:rPr>
                            <a:t>440</a:t>
                          </a:r>
                          <a:r>
                            <a:rPr lang="sv-SE" dirty="0" smtClean="0"/>
                            <a:t>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t>552</a:t>
                          </a:r>
                        </a:p>
                      </a:txBody>
                      <a:tcPr/>
                    </a:tc>
                    <a:extLst>
                      <a:ext uri="{0D108BD9-81ED-4DB2-BD59-A6C34878D82A}">
                        <a16:rowId xmlns:a16="http://schemas.microsoft.com/office/drawing/2014/main" val="1224150159"/>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3320896809"/>
                  </p:ext>
                </p:extLst>
              </p:nvPr>
            </p:nvGraphicFramePr>
            <p:xfrm>
              <a:off x="2247210" y="4970174"/>
              <a:ext cx="6682395" cy="758698"/>
            </p:xfrm>
            <a:graphic>
              <a:graphicData uri="http://schemas.openxmlformats.org/drawingml/2006/table">
                <a:tbl>
                  <a:tblPr firstRow="1" bandRow="1">
                    <a:tableStyleId>{5C22544A-7EE6-4342-B048-85BDC9FD1C3A}</a:tableStyleId>
                  </a:tblPr>
                  <a:tblGrid>
                    <a:gridCol w="1336479">
                      <a:extLst>
                        <a:ext uri="{9D8B030D-6E8A-4147-A177-3AD203B41FA5}">
                          <a16:colId xmlns:a16="http://schemas.microsoft.com/office/drawing/2014/main" val="701188241"/>
                        </a:ext>
                      </a:extLst>
                    </a:gridCol>
                    <a:gridCol w="1336479">
                      <a:extLst>
                        <a:ext uri="{9D8B030D-6E8A-4147-A177-3AD203B41FA5}">
                          <a16:colId xmlns:a16="http://schemas.microsoft.com/office/drawing/2014/main" val="2487507754"/>
                        </a:ext>
                      </a:extLst>
                    </a:gridCol>
                    <a:gridCol w="1336479">
                      <a:extLst>
                        <a:ext uri="{9D8B030D-6E8A-4147-A177-3AD203B41FA5}">
                          <a16:colId xmlns:a16="http://schemas.microsoft.com/office/drawing/2014/main" val="267292927"/>
                        </a:ext>
                      </a:extLst>
                    </a:gridCol>
                    <a:gridCol w="1336479">
                      <a:extLst>
                        <a:ext uri="{9D8B030D-6E8A-4147-A177-3AD203B41FA5}">
                          <a16:colId xmlns:a16="http://schemas.microsoft.com/office/drawing/2014/main" val="482194914"/>
                        </a:ext>
                      </a:extLst>
                    </a:gridCol>
                    <a:gridCol w="1336479">
                      <a:extLst>
                        <a:ext uri="{9D8B030D-6E8A-4147-A177-3AD203B41FA5}">
                          <a16:colId xmlns:a16="http://schemas.microsoft.com/office/drawing/2014/main" val="2386295402"/>
                        </a:ext>
                      </a:extLst>
                    </a:gridCol>
                  </a:tblGrid>
                  <a:tr h="387858">
                    <a:tc>
                      <a:txBody>
                        <a:bodyPr/>
                        <a:lstStyle/>
                        <a:p>
                          <a:endParaRPr lang="sv-SE"/>
                        </a:p>
                      </a:txBody>
                      <a:tcPr>
                        <a:blipFill>
                          <a:blip r:embed="rId2"/>
                          <a:stretch>
                            <a:fillRect l="-457" t="-7813" r="-402740" b="-118750"/>
                          </a:stretch>
                        </a:blipFill>
                      </a:tcPr>
                    </a:tc>
                    <a:tc>
                      <a:txBody>
                        <a:bodyPr/>
                        <a:lstStyle/>
                        <a:p>
                          <a:endParaRPr lang="sv-SE"/>
                        </a:p>
                      </a:txBody>
                      <a:tcPr>
                        <a:blipFill>
                          <a:blip r:embed="rId2"/>
                          <a:stretch>
                            <a:fillRect l="-100000" t="-7813" r="-300909" b="-118750"/>
                          </a:stretch>
                        </a:blipFill>
                      </a:tcPr>
                    </a:tc>
                    <a:tc>
                      <a:txBody>
                        <a:bodyPr/>
                        <a:lstStyle/>
                        <a:p>
                          <a:endParaRPr lang="sv-SE"/>
                        </a:p>
                      </a:txBody>
                      <a:tcPr>
                        <a:blipFill>
                          <a:blip r:embed="rId2"/>
                          <a:stretch>
                            <a:fillRect l="-200913" t="-7813" r="-202283" b="-118750"/>
                          </a:stretch>
                        </a:blipFill>
                      </a:tcPr>
                    </a:tc>
                    <a:tc>
                      <a:txBody>
                        <a:bodyPr/>
                        <a:lstStyle/>
                        <a:p>
                          <a:endParaRPr lang="sv-SE"/>
                        </a:p>
                      </a:txBody>
                      <a:tcPr>
                        <a:blipFill>
                          <a:blip r:embed="rId2"/>
                          <a:stretch>
                            <a:fillRect l="-299545" t="-7813" r="-101364" b="-118750"/>
                          </a:stretch>
                        </a:blipFill>
                      </a:tcPr>
                    </a:tc>
                    <a:tc>
                      <a:txBody>
                        <a:bodyPr/>
                        <a:lstStyle/>
                        <a:p>
                          <a:endParaRPr lang="sv-SE"/>
                        </a:p>
                      </a:txBody>
                      <a:tcPr>
                        <a:blipFill>
                          <a:blip r:embed="rId2"/>
                          <a:stretch>
                            <a:fillRect l="-401370" t="-7813" r="-1826" b="-118750"/>
                          </a:stretch>
                        </a:blipFill>
                      </a:tcPr>
                    </a:tc>
                    <a:extLst>
                      <a:ext uri="{0D108BD9-81ED-4DB2-BD59-A6C34878D82A}">
                        <a16:rowId xmlns:a16="http://schemas.microsoft.com/office/drawing/2014/main" val="379032225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t>Loss</a:t>
                          </a:r>
                          <a:r>
                            <a:rPr lang="sv-SE" baseline="0" dirty="0" smtClean="0"/>
                            <a:t> (W)</a:t>
                          </a:r>
                          <a:endParaRPr lang="sv-SE" dirty="0" smtClean="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t>301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t>394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solidFill>
                                <a:srgbClr val="FF0000"/>
                              </a:solidFill>
                            </a:rPr>
                            <a:t>440</a:t>
                          </a:r>
                          <a:r>
                            <a:rPr lang="sv-SE" dirty="0" smtClean="0"/>
                            <a:t>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t>552</a:t>
                          </a:r>
                        </a:p>
                      </a:txBody>
                      <a:tcPr/>
                    </a:tc>
                    <a:extLst>
                      <a:ext uri="{0D108BD9-81ED-4DB2-BD59-A6C34878D82A}">
                        <a16:rowId xmlns:a16="http://schemas.microsoft.com/office/drawing/2014/main" val="1224150159"/>
                      </a:ext>
                    </a:extLst>
                  </a:tr>
                </a:tbl>
              </a:graphicData>
            </a:graphic>
          </p:graphicFrame>
        </mc:Fallback>
      </mc:AlternateContent>
      <p:pic>
        <p:nvPicPr>
          <p:cNvPr id="15" name="Picture 14"/>
          <p:cNvPicPr>
            <a:picLocks noChangeAspect="1"/>
          </p:cNvPicPr>
          <p:nvPr/>
        </p:nvPicPr>
        <p:blipFill>
          <a:blip r:embed="rId3"/>
          <a:stretch>
            <a:fillRect/>
          </a:stretch>
        </p:blipFill>
        <p:spPr>
          <a:xfrm>
            <a:off x="3256471" y="1035169"/>
            <a:ext cx="4800601" cy="3600451"/>
          </a:xfrm>
          <a:prstGeom prst="rect">
            <a:avLst/>
          </a:prstGeom>
        </p:spPr>
      </p:pic>
      <p:sp>
        <p:nvSpPr>
          <p:cNvPr id="4" name="TextBox 3"/>
          <p:cNvSpPr txBox="1"/>
          <p:nvPr/>
        </p:nvSpPr>
        <p:spPr>
          <a:xfrm>
            <a:off x="3021228" y="6063426"/>
            <a:ext cx="5504935" cy="369332"/>
          </a:xfrm>
          <a:prstGeom prst="rect">
            <a:avLst/>
          </a:prstGeom>
          <a:noFill/>
        </p:spPr>
        <p:txBody>
          <a:bodyPr wrap="square" rtlCol="0">
            <a:spAutoFit/>
          </a:bodyPr>
          <a:lstStyle/>
          <a:p>
            <a:pPr algn="ctr"/>
            <a:r>
              <a:rPr lang="en-US" dirty="0" smtClean="0"/>
              <a:t>Switching energies should be lower than </a:t>
            </a:r>
            <a:r>
              <a:rPr lang="en-US" dirty="0" smtClean="0">
                <a:solidFill>
                  <a:srgbClr val="FF0000"/>
                </a:solidFill>
              </a:rPr>
              <a:t>1060 W</a:t>
            </a:r>
            <a:r>
              <a:rPr lang="en-US" dirty="0" smtClean="0"/>
              <a:t>.</a:t>
            </a:r>
            <a:endParaRPr lang="sv-SE" dirty="0"/>
          </a:p>
        </p:txBody>
      </p:sp>
    </p:spTree>
    <p:extLst>
      <p:ext uri="{BB962C8B-B14F-4D97-AF65-F5344CB8AC3E}">
        <p14:creationId xmlns:p14="http://schemas.microsoft.com/office/powerpoint/2010/main" val="19535298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122490" y="287931"/>
            <a:ext cx="10990263" cy="568412"/>
          </a:xfrm>
        </p:spPr>
        <p:txBody>
          <a:bodyPr/>
          <a:lstStyle/>
          <a:p>
            <a:r>
              <a:rPr lang="en-US" dirty="0"/>
              <a:t>Datasheet-driven Loss </a:t>
            </a:r>
            <a:r>
              <a:rPr lang="en-US" dirty="0" smtClean="0"/>
              <a:t>Calculation (Switching) </a:t>
            </a:r>
            <a:endParaRPr lang="sv-SE" dirty="0"/>
          </a:p>
        </p:txBody>
      </p:sp>
      <p:pic>
        <p:nvPicPr>
          <p:cNvPr id="7" name="Picture 6"/>
          <p:cNvPicPr>
            <a:picLocks noChangeAspect="1"/>
          </p:cNvPicPr>
          <p:nvPr/>
        </p:nvPicPr>
        <p:blipFill>
          <a:blip r:embed="rId2"/>
          <a:stretch>
            <a:fillRect/>
          </a:stretch>
        </p:blipFill>
        <p:spPr>
          <a:xfrm>
            <a:off x="234073" y="1616630"/>
            <a:ext cx="3181937" cy="2386453"/>
          </a:xfrm>
          <a:prstGeom prst="rect">
            <a:avLst/>
          </a:prstGeom>
        </p:spPr>
      </p:pic>
      <p:pic>
        <p:nvPicPr>
          <p:cNvPr id="6" name="Picture 5"/>
          <p:cNvPicPr>
            <a:picLocks noChangeAspect="1"/>
          </p:cNvPicPr>
          <p:nvPr/>
        </p:nvPicPr>
        <p:blipFill>
          <a:blip r:embed="rId3"/>
          <a:stretch>
            <a:fillRect/>
          </a:stretch>
        </p:blipFill>
        <p:spPr>
          <a:xfrm>
            <a:off x="3416010" y="1250001"/>
            <a:ext cx="4261011" cy="3195759"/>
          </a:xfrm>
          <a:prstGeom prst="rect">
            <a:avLst/>
          </a:prstGeom>
        </p:spPr>
      </p:pic>
      <p:pic>
        <p:nvPicPr>
          <p:cNvPr id="8" name="Picture 7"/>
          <p:cNvPicPr>
            <a:picLocks noChangeAspect="1"/>
          </p:cNvPicPr>
          <p:nvPr/>
        </p:nvPicPr>
        <p:blipFill>
          <a:blip r:embed="rId4"/>
          <a:stretch>
            <a:fillRect/>
          </a:stretch>
        </p:blipFill>
        <p:spPr>
          <a:xfrm>
            <a:off x="7771911" y="1313543"/>
            <a:ext cx="4176289" cy="3132217"/>
          </a:xfrm>
          <a:prstGeom prst="rect">
            <a:avLst/>
          </a:prstGeom>
        </p:spPr>
      </p:pic>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extLst>
                  <p:ext uri="{D42A27DB-BD31-4B8C-83A1-F6EECF244321}">
                    <p14:modId xmlns:p14="http://schemas.microsoft.com/office/powerpoint/2010/main" val="1001233670"/>
                  </p:ext>
                </p:extLst>
              </p:nvPr>
            </p:nvGraphicFramePr>
            <p:xfrm>
              <a:off x="3416010" y="4869836"/>
              <a:ext cx="5345916" cy="741680"/>
            </p:xfrm>
            <a:graphic>
              <a:graphicData uri="http://schemas.openxmlformats.org/drawingml/2006/table">
                <a:tbl>
                  <a:tblPr firstRow="1" bandRow="1">
                    <a:tableStyleId>{5C22544A-7EE6-4342-B048-85BDC9FD1C3A}</a:tableStyleId>
                  </a:tblPr>
                  <a:tblGrid>
                    <a:gridCol w="1336479">
                      <a:extLst>
                        <a:ext uri="{9D8B030D-6E8A-4147-A177-3AD203B41FA5}">
                          <a16:colId xmlns:a16="http://schemas.microsoft.com/office/drawing/2014/main" val="701188241"/>
                        </a:ext>
                      </a:extLst>
                    </a:gridCol>
                    <a:gridCol w="1336479">
                      <a:extLst>
                        <a:ext uri="{9D8B030D-6E8A-4147-A177-3AD203B41FA5}">
                          <a16:colId xmlns:a16="http://schemas.microsoft.com/office/drawing/2014/main" val="2487507754"/>
                        </a:ext>
                      </a:extLst>
                    </a:gridCol>
                    <a:gridCol w="1336479">
                      <a:extLst>
                        <a:ext uri="{9D8B030D-6E8A-4147-A177-3AD203B41FA5}">
                          <a16:colId xmlns:a16="http://schemas.microsoft.com/office/drawing/2014/main" val="267292927"/>
                        </a:ext>
                      </a:extLst>
                    </a:gridCol>
                    <a:gridCol w="1336479">
                      <a:extLst>
                        <a:ext uri="{9D8B030D-6E8A-4147-A177-3AD203B41FA5}">
                          <a16:colId xmlns:a16="http://schemas.microsoft.com/office/drawing/2014/main" val="482194914"/>
                        </a:ext>
                      </a:extLst>
                    </a:gridCol>
                  </a:tblGrid>
                  <a:tr h="370840">
                    <a:tc>
                      <a:txBody>
                        <a:bodyPr/>
                        <a:lstStyle/>
                        <a:p>
                          <a:pPr algn="ctr"/>
                          <a14:m>
                            <m:oMath xmlns:m="http://schemas.openxmlformats.org/officeDocument/2006/math">
                              <m:sSub>
                                <m:sSubPr>
                                  <m:ctrlPr>
                                    <a:rPr lang="sv-SE" b="0" i="1" dirty="0" smtClean="0">
                                      <a:latin typeface="Cambria Math" panose="02040503050406030204" pitchFamily="18" charset="0"/>
                                    </a:rPr>
                                  </m:ctrlPr>
                                </m:sSubPr>
                                <m:e>
                                  <m:r>
                                    <a:rPr lang="sv-SE" b="1" i="1" dirty="0" smtClean="0">
                                      <a:latin typeface="Cambria Math" panose="02040503050406030204" pitchFamily="18" charset="0"/>
                                    </a:rPr>
                                    <m:t>𝒇</m:t>
                                  </m:r>
                                </m:e>
                                <m:sub>
                                  <m:r>
                                    <a:rPr lang="sv-SE" b="1" i="1" dirty="0" smtClean="0">
                                      <a:latin typeface="Cambria Math" panose="02040503050406030204" pitchFamily="18" charset="0"/>
                                    </a:rPr>
                                    <m:t>𝒔𝒘</m:t>
                                  </m:r>
                                </m:sub>
                              </m:sSub>
                            </m:oMath>
                          </a14:m>
                          <a:r>
                            <a:rPr lang="sv-SE" dirty="0" smtClean="0"/>
                            <a:t> ( </a:t>
                          </a:r>
                          <a14:m>
                            <m:oMath xmlns:m="http://schemas.openxmlformats.org/officeDocument/2006/math">
                              <m:sSup>
                                <m:sSupPr>
                                  <m:ctrlPr>
                                    <a:rPr lang="sv-SE" b="0" i="1" smtClean="0">
                                      <a:latin typeface="Cambria Math" panose="02040503050406030204" pitchFamily="18" charset="0"/>
                                    </a:rPr>
                                  </m:ctrlPr>
                                </m:sSupPr>
                                <m:e>
                                  <m:r>
                                    <a:rPr lang="sv-SE" b="0" i="1" smtClean="0">
                                      <a:latin typeface="Cambria Math" panose="02040503050406030204" pitchFamily="18" charset="0"/>
                                    </a:rPr>
                                    <m:t>𝐶</m:t>
                                  </m:r>
                                </m:e>
                                <m:sup>
                                  <m:r>
                                    <a:rPr lang="sv-SE" b="0" i="1" smtClean="0">
                                      <a:latin typeface="Cambria Math" panose="02040503050406030204" pitchFamily="18" charset="0"/>
                                    </a:rPr>
                                    <m:t>𝑜</m:t>
                                  </m:r>
                                </m:sup>
                              </m:sSup>
                            </m:oMath>
                          </a14:m>
                          <a:r>
                            <a:rPr lang="sv-SE" dirty="0" smtClean="0"/>
                            <a:t>)</a:t>
                          </a:r>
                          <a:endParaRPr lang="sv-SE" dirty="0"/>
                        </a:p>
                      </a:txBody>
                      <a:tcPr/>
                    </a:tc>
                    <a:tc>
                      <a:txBody>
                        <a:bodyPr/>
                        <a:lstStyle/>
                        <a:p>
                          <a:pPr/>
                          <a14:m>
                            <m:oMathPara xmlns:m="http://schemas.openxmlformats.org/officeDocument/2006/math">
                              <m:oMathParaPr>
                                <m:jc m:val="centerGroup"/>
                              </m:oMathParaPr>
                              <m:oMath xmlns:m="http://schemas.openxmlformats.org/officeDocument/2006/math">
                                <m:r>
                                  <a:rPr lang="sv-SE" b="1" i="1" dirty="0" smtClean="0">
                                    <a:latin typeface="Cambria Math" panose="02040503050406030204" pitchFamily="18" charset="0"/>
                                  </a:rPr>
                                  <m:t>𝟏𝟎</m:t>
                                </m:r>
                                <m:r>
                                  <a:rPr lang="sv-SE" b="1" i="1" dirty="0" smtClean="0">
                                    <a:latin typeface="Cambria Math" panose="02040503050406030204" pitchFamily="18" charset="0"/>
                                  </a:rPr>
                                  <m:t>𝒌𝑯𝒛</m:t>
                                </m:r>
                              </m:oMath>
                            </m:oMathPara>
                          </a14:m>
                          <a:endParaRPr lang="sv-SE"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sv-SE" b="1" i="1" dirty="0" smtClean="0">
                                    <a:latin typeface="Cambria Math" panose="02040503050406030204" pitchFamily="18" charset="0"/>
                                  </a:rPr>
                                  <m:t>𝟏𝟐</m:t>
                                </m:r>
                                <m:r>
                                  <a:rPr lang="sv-SE" b="1" i="1" dirty="0" smtClean="0">
                                    <a:latin typeface="Cambria Math" panose="02040503050406030204" pitchFamily="18" charset="0"/>
                                  </a:rPr>
                                  <m:t>.</m:t>
                                </m:r>
                                <m:r>
                                  <a:rPr lang="sv-SE" b="1" i="1" dirty="0" smtClean="0">
                                    <a:latin typeface="Cambria Math" panose="02040503050406030204" pitchFamily="18" charset="0"/>
                                  </a:rPr>
                                  <m:t>𝟓</m:t>
                                </m:r>
                                <m:r>
                                  <a:rPr lang="sv-SE" b="1" i="1" dirty="0" smtClean="0">
                                    <a:latin typeface="Cambria Math" panose="02040503050406030204" pitchFamily="18" charset="0"/>
                                  </a:rPr>
                                  <m:t>𝒌𝑯𝒛</m:t>
                                </m:r>
                              </m:oMath>
                            </m:oMathPara>
                          </a14:m>
                          <a:endParaRPr lang="sv-SE"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sv-SE" b="1" i="1" dirty="0" smtClean="0">
                                    <a:latin typeface="Cambria Math" panose="02040503050406030204" pitchFamily="18" charset="0"/>
                                  </a:rPr>
                                  <m:t>𝟏𝟓</m:t>
                                </m:r>
                                <m:r>
                                  <a:rPr lang="sv-SE" b="1" i="1" dirty="0" smtClean="0">
                                    <a:latin typeface="Cambria Math" panose="02040503050406030204" pitchFamily="18" charset="0"/>
                                  </a:rPr>
                                  <m:t>𝒌𝑯𝒛</m:t>
                                </m:r>
                              </m:oMath>
                            </m:oMathPara>
                          </a14:m>
                          <a:endParaRPr lang="sv-SE" dirty="0"/>
                        </a:p>
                      </a:txBody>
                      <a:tcPr/>
                    </a:tc>
                    <a:extLst>
                      <a:ext uri="{0D108BD9-81ED-4DB2-BD59-A6C34878D82A}">
                        <a16:rowId xmlns:a16="http://schemas.microsoft.com/office/drawing/2014/main" val="379032225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t>Loss</a:t>
                          </a:r>
                          <a:r>
                            <a:rPr lang="sv-SE" baseline="0" dirty="0" smtClean="0"/>
                            <a:t> (W)</a:t>
                          </a:r>
                          <a:endParaRPr lang="sv-SE" dirty="0" smtClean="0"/>
                        </a:p>
                      </a:txBody>
                      <a:tcPr/>
                    </a:tc>
                    <a:tc>
                      <a:txBody>
                        <a:bodyPr/>
                        <a:lstStyle/>
                        <a:p>
                          <a:pPr algn="ctr"/>
                          <a:r>
                            <a:rPr lang="sv-SE" dirty="0" smtClean="0"/>
                            <a:t>962</a:t>
                          </a:r>
                          <a:endParaRPr lang="sv-SE" dirty="0"/>
                        </a:p>
                      </a:txBody>
                      <a:tcPr/>
                    </a:tc>
                    <a:tc>
                      <a:txBody>
                        <a:bodyPr/>
                        <a:lstStyle/>
                        <a:p>
                          <a:pPr algn="ctr"/>
                          <a:r>
                            <a:rPr lang="sv-SE" dirty="0" smtClean="0"/>
                            <a:t>1200</a:t>
                          </a:r>
                          <a:endParaRPr lang="sv-SE" dirty="0"/>
                        </a:p>
                      </a:txBody>
                      <a:tcPr/>
                    </a:tc>
                    <a:tc>
                      <a:txBody>
                        <a:bodyPr/>
                        <a:lstStyle/>
                        <a:p>
                          <a:pPr algn="ctr"/>
                          <a:r>
                            <a:rPr lang="sv-SE" dirty="0" smtClean="0"/>
                            <a:t>1448</a:t>
                          </a:r>
                          <a:endParaRPr lang="sv-SE" dirty="0"/>
                        </a:p>
                      </a:txBody>
                      <a:tcPr/>
                    </a:tc>
                    <a:extLst>
                      <a:ext uri="{0D108BD9-81ED-4DB2-BD59-A6C34878D82A}">
                        <a16:rowId xmlns:a16="http://schemas.microsoft.com/office/drawing/2014/main" val="1224150159"/>
                      </a:ext>
                    </a:extLst>
                  </a:tr>
                </a:tbl>
              </a:graphicData>
            </a:graphic>
          </p:graphicFrame>
        </mc:Choice>
        <mc:Fallback xmlns="">
          <p:graphicFrame>
            <p:nvGraphicFramePr>
              <p:cNvPr id="10" name="Table 9"/>
              <p:cNvGraphicFramePr>
                <a:graphicFrameLocks noGrp="1"/>
              </p:cNvGraphicFramePr>
              <p:nvPr>
                <p:extLst>
                  <p:ext uri="{D42A27DB-BD31-4B8C-83A1-F6EECF244321}">
                    <p14:modId xmlns:p14="http://schemas.microsoft.com/office/powerpoint/2010/main" val="1001233670"/>
                  </p:ext>
                </p:extLst>
              </p:nvPr>
            </p:nvGraphicFramePr>
            <p:xfrm>
              <a:off x="3416010" y="4869836"/>
              <a:ext cx="5345916" cy="741680"/>
            </p:xfrm>
            <a:graphic>
              <a:graphicData uri="http://schemas.openxmlformats.org/drawingml/2006/table">
                <a:tbl>
                  <a:tblPr firstRow="1" bandRow="1">
                    <a:tableStyleId>{5C22544A-7EE6-4342-B048-85BDC9FD1C3A}</a:tableStyleId>
                  </a:tblPr>
                  <a:tblGrid>
                    <a:gridCol w="1336479">
                      <a:extLst>
                        <a:ext uri="{9D8B030D-6E8A-4147-A177-3AD203B41FA5}">
                          <a16:colId xmlns:a16="http://schemas.microsoft.com/office/drawing/2014/main" val="701188241"/>
                        </a:ext>
                      </a:extLst>
                    </a:gridCol>
                    <a:gridCol w="1336479">
                      <a:extLst>
                        <a:ext uri="{9D8B030D-6E8A-4147-A177-3AD203B41FA5}">
                          <a16:colId xmlns:a16="http://schemas.microsoft.com/office/drawing/2014/main" val="2487507754"/>
                        </a:ext>
                      </a:extLst>
                    </a:gridCol>
                    <a:gridCol w="1336479">
                      <a:extLst>
                        <a:ext uri="{9D8B030D-6E8A-4147-A177-3AD203B41FA5}">
                          <a16:colId xmlns:a16="http://schemas.microsoft.com/office/drawing/2014/main" val="267292927"/>
                        </a:ext>
                      </a:extLst>
                    </a:gridCol>
                    <a:gridCol w="1336479">
                      <a:extLst>
                        <a:ext uri="{9D8B030D-6E8A-4147-A177-3AD203B41FA5}">
                          <a16:colId xmlns:a16="http://schemas.microsoft.com/office/drawing/2014/main" val="482194914"/>
                        </a:ext>
                      </a:extLst>
                    </a:gridCol>
                  </a:tblGrid>
                  <a:tr h="370840">
                    <a:tc>
                      <a:txBody>
                        <a:bodyPr/>
                        <a:lstStyle/>
                        <a:p>
                          <a:endParaRPr lang="sv-SE"/>
                        </a:p>
                      </a:txBody>
                      <a:tcPr>
                        <a:blipFill>
                          <a:blip r:embed="rId5"/>
                          <a:stretch>
                            <a:fillRect l="-455" t="-8065" r="-300909" b="-122581"/>
                          </a:stretch>
                        </a:blipFill>
                      </a:tcPr>
                    </a:tc>
                    <a:tc>
                      <a:txBody>
                        <a:bodyPr/>
                        <a:lstStyle/>
                        <a:p>
                          <a:endParaRPr lang="sv-SE"/>
                        </a:p>
                      </a:txBody>
                      <a:tcPr>
                        <a:blipFill>
                          <a:blip r:embed="rId5"/>
                          <a:stretch>
                            <a:fillRect l="-100913" t="-8065" r="-202283" b="-122581"/>
                          </a:stretch>
                        </a:blipFill>
                      </a:tcPr>
                    </a:tc>
                    <a:tc>
                      <a:txBody>
                        <a:bodyPr/>
                        <a:lstStyle/>
                        <a:p>
                          <a:endParaRPr lang="sv-SE"/>
                        </a:p>
                      </a:txBody>
                      <a:tcPr>
                        <a:blipFill>
                          <a:blip r:embed="rId5"/>
                          <a:stretch>
                            <a:fillRect l="-200000" t="-8065" r="-101364" b="-122581"/>
                          </a:stretch>
                        </a:blipFill>
                      </a:tcPr>
                    </a:tc>
                    <a:tc>
                      <a:txBody>
                        <a:bodyPr/>
                        <a:lstStyle/>
                        <a:p>
                          <a:endParaRPr lang="sv-SE"/>
                        </a:p>
                      </a:txBody>
                      <a:tcPr>
                        <a:blipFill>
                          <a:blip r:embed="rId5"/>
                          <a:stretch>
                            <a:fillRect l="-301370" t="-8065" r="-1826" b="-122581"/>
                          </a:stretch>
                        </a:blipFill>
                      </a:tcPr>
                    </a:tc>
                    <a:extLst>
                      <a:ext uri="{0D108BD9-81ED-4DB2-BD59-A6C34878D82A}">
                        <a16:rowId xmlns:a16="http://schemas.microsoft.com/office/drawing/2014/main" val="379032225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t>Loss</a:t>
                          </a:r>
                          <a:r>
                            <a:rPr lang="sv-SE" baseline="0" dirty="0" smtClean="0"/>
                            <a:t> (W)</a:t>
                          </a:r>
                          <a:endParaRPr lang="sv-SE" dirty="0" smtClean="0"/>
                        </a:p>
                      </a:txBody>
                      <a:tcPr/>
                    </a:tc>
                    <a:tc>
                      <a:txBody>
                        <a:bodyPr/>
                        <a:lstStyle/>
                        <a:p>
                          <a:pPr algn="ctr"/>
                          <a:r>
                            <a:rPr lang="sv-SE" dirty="0" smtClean="0"/>
                            <a:t>962</a:t>
                          </a:r>
                          <a:endParaRPr lang="sv-SE" dirty="0"/>
                        </a:p>
                      </a:txBody>
                      <a:tcPr/>
                    </a:tc>
                    <a:tc>
                      <a:txBody>
                        <a:bodyPr/>
                        <a:lstStyle/>
                        <a:p>
                          <a:pPr algn="ctr"/>
                          <a:r>
                            <a:rPr lang="sv-SE" dirty="0" smtClean="0"/>
                            <a:t>1200</a:t>
                          </a:r>
                          <a:endParaRPr lang="sv-SE" dirty="0"/>
                        </a:p>
                      </a:txBody>
                      <a:tcPr/>
                    </a:tc>
                    <a:tc>
                      <a:txBody>
                        <a:bodyPr/>
                        <a:lstStyle/>
                        <a:p>
                          <a:pPr algn="ctr"/>
                          <a:r>
                            <a:rPr lang="sv-SE" dirty="0" smtClean="0"/>
                            <a:t>1448</a:t>
                          </a:r>
                          <a:endParaRPr lang="sv-SE" dirty="0"/>
                        </a:p>
                      </a:txBody>
                      <a:tcPr/>
                    </a:tc>
                    <a:extLst>
                      <a:ext uri="{0D108BD9-81ED-4DB2-BD59-A6C34878D82A}">
                        <a16:rowId xmlns:a16="http://schemas.microsoft.com/office/drawing/2014/main" val="1224150159"/>
                      </a:ext>
                    </a:extLst>
                  </a:tr>
                </a:tbl>
              </a:graphicData>
            </a:graphic>
          </p:graphicFrame>
        </mc:Fallback>
      </mc:AlternateContent>
      <mc:AlternateContent xmlns:mc="http://schemas.openxmlformats.org/markup-compatibility/2006" xmlns:a14="http://schemas.microsoft.com/office/drawing/2010/main">
        <mc:Choice Requires="a14">
          <p:sp>
            <p:nvSpPr>
              <p:cNvPr id="3" name="Rectangle 2"/>
              <p:cNvSpPr/>
              <p:nvPr/>
            </p:nvSpPr>
            <p:spPr>
              <a:xfrm>
                <a:off x="5184055" y="2663214"/>
                <a:ext cx="95891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v-SE" b="1" i="1" dirty="0">
                          <a:latin typeface="Cambria Math" panose="02040503050406030204" pitchFamily="18" charset="0"/>
                        </a:rPr>
                        <m:t>𝟏𝟎</m:t>
                      </m:r>
                      <m:r>
                        <a:rPr lang="sv-SE" b="1" i="1" dirty="0">
                          <a:latin typeface="Cambria Math" panose="02040503050406030204" pitchFamily="18" charset="0"/>
                        </a:rPr>
                        <m:t>𝒌𝑯𝒛</m:t>
                      </m:r>
                    </m:oMath>
                  </m:oMathPara>
                </a14:m>
                <a:endParaRPr lang="sv-SE" dirty="0"/>
              </a:p>
            </p:txBody>
          </p:sp>
        </mc:Choice>
        <mc:Fallback xmlns="">
          <p:sp>
            <p:nvSpPr>
              <p:cNvPr id="3" name="Rectangle 2"/>
              <p:cNvSpPr>
                <a:spLocks noRot="1" noChangeAspect="1" noMove="1" noResize="1" noEditPoints="1" noAdjustHandles="1" noChangeArrowheads="1" noChangeShapeType="1" noTextEdit="1"/>
              </p:cNvSpPr>
              <p:nvPr/>
            </p:nvSpPr>
            <p:spPr>
              <a:xfrm>
                <a:off x="5184055" y="2663214"/>
                <a:ext cx="958917" cy="369332"/>
              </a:xfrm>
              <a:prstGeom prst="rect">
                <a:avLst/>
              </a:prstGeom>
              <a:blipFill>
                <a:blip r:embed="rId6"/>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8965607" y="2663214"/>
                <a:ext cx="95891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v-SE" b="1" i="1" dirty="0">
                          <a:latin typeface="Cambria Math" panose="02040503050406030204" pitchFamily="18" charset="0"/>
                        </a:rPr>
                        <m:t>𝟏𝟎</m:t>
                      </m:r>
                      <m:r>
                        <a:rPr lang="sv-SE" b="1" i="1" dirty="0">
                          <a:latin typeface="Cambria Math" panose="02040503050406030204" pitchFamily="18" charset="0"/>
                        </a:rPr>
                        <m:t>𝒌𝑯𝒛</m:t>
                      </m:r>
                    </m:oMath>
                  </m:oMathPara>
                </a14:m>
                <a:endParaRPr lang="sv-SE" dirty="0"/>
              </a:p>
            </p:txBody>
          </p:sp>
        </mc:Choice>
        <mc:Fallback xmlns="">
          <p:sp>
            <p:nvSpPr>
              <p:cNvPr id="4" name="Rectangle 3"/>
              <p:cNvSpPr>
                <a:spLocks noRot="1" noChangeAspect="1" noMove="1" noResize="1" noEditPoints="1" noAdjustHandles="1" noChangeArrowheads="1" noChangeShapeType="1" noTextEdit="1"/>
              </p:cNvSpPr>
              <p:nvPr/>
            </p:nvSpPr>
            <p:spPr>
              <a:xfrm>
                <a:off x="8965607" y="2663214"/>
                <a:ext cx="958917" cy="369332"/>
              </a:xfrm>
              <a:prstGeom prst="rect">
                <a:avLst/>
              </a:prstGeom>
              <a:blipFill>
                <a:blip r:embed="rId7"/>
                <a:stretch>
                  <a:fillRect/>
                </a:stretch>
              </a:blipFill>
            </p:spPr>
            <p:txBody>
              <a:bodyPr/>
              <a:lstStyle/>
              <a:p>
                <a:r>
                  <a:rPr lang="sv-SE">
                    <a:noFill/>
                  </a:rPr>
                  <a:t> </a:t>
                </a:r>
              </a:p>
            </p:txBody>
          </p:sp>
        </mc:Fallback>
      </mc:AlternateContent>
    </p:spTree>
    <p:extLst>
      <p:ext uri="{BB962C8B-B14F-4D97-AF65-F5344CB8AC3E}">
        <p14:creationId xmlns:p14="http://schemas.microsoft.com/office/powerpoint/2010/main" val="127459880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122490" y="287931"/>
            <a:ext cx="10990263" cy="568412"/>
          </a:xfrm>
        </p:spPr>
        <p:txBody>
          <a:bodyPr/>
          <a:lstStyle/>
          <a:p>
            <a:r>
              <a:rPr lang="en-US" dirty="0"/>
              <a:t>Datasheet-driven Loss </a:t>
            </a:r>
            <a:r>
              <a:rPr lang="en-US" dirty="0" smtClean="0"/>
              <a:t>Calculation (Switching) </a:t>
            </a:r>
            <a:endParaRPr lang="sv-SE" dirty="0"/>
          </a:p>
        </p:txBody>
      </p:sp>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extLst>
                  <p:ext uri="{D42A27DB-BD31-4B8C-83A1-F6EECF244321}">
                    <p14:modId xmlns:p14="http://schemas.microsoft.com/office/powerpoint/2010/main" val="3891608963"/>
                  </p:ext>
                </p:extLst>
              </p:nvPr>
            </p:nvGraphicFramePr>
            <p:xfrm>
              <a:off x="2001327" y="4932544"/>
              <a:ext cx="8376249" cy="1010920"/>
            </p:xfrm>
            <a:graphic>
              <a:graphicData uri="http://schemas.openxmlformats.org/drawingml/2006/table">
                <a:tbl>
                  <a:tblPr firstRow="1" bandRow="1">
                    <a:tableStyleId>{5C22544A-7EE6-4342-B048-85BDC9FD1C3A}</a:tableStyleId>
                  </a:tblPr>
                  <a:tblGrid>
                    <a:gridCol w="1196607">
                      <a:extLst>
                        <a:ext uri="{9D8B030D-6E8A-4147-A177-3AD203B41FA5}">
                          <a16:colId xmlns:a16="http://schemas.microsoft.com/office/drawing/2014/main" val="701188241"/>
                        </a:ext>
                      </a:extLst>
                    </a:gridCol>
                    <a:gridCol w="1196607">
                      <a:extLst>
                        <a:ext uri="{9D8B030D-6E8A-4147-A177-3AD203B41FA5}">
                          <a16:colId xmlns:a16="http://schemas.microsoft.com/office/drawing/2014/main" val="2487507754"/>
                        </a:ext>
                      </a:extLst>
                    </a:gridCol>
                    <a:gridCol w="1196607">
                      <a:extLst>
                        <a:ext uri="{9D8B030D-6E8A-4147-A177-3AD203B41FA5}">
                          <a16:colId xmlns:a16="http://schemas.microsoft.com/office/drawing/2014/main" val="267292927"/>
                        </a:ext>
                      </a:extLst>
                    </a:gridCol>
                    <a:gridCol w="1196607">
                      <a:extLst>
                        <a:ext uri="{9D8B030D-6E8A-4147-A177-3AD203B41FA5}">
                          <a16:colId xmlns:a16="http://schemas.microsoft.com/office/drawing/2014/main" val="482194914"/>
                        </a:ext>
                      </a:extLst>
                    </a:gridCol>
                    <a:gridCol w="1196607">
                      <a:extLst>
                        <a:ext uri="{9D8B030D-6E8A-4147-A177-3AD203B41FA5}">
                          <a16:colId xmlns:a16="http://schemas.microsoft.com/office/drawing/2014/main" val="1173395562"/>
                        </a:ext>
                      </a:extLst>
                    </a:gridCol>
                    <a:gridCol w="1196607">
                      <a:extLst>
                        <a:ext uri="{9D8B030D-6E8A-4147-A177-3AD203B41FA5}">
                          <a16:colId xmlns:a16="http://schemas.microsoft.com/office/drawing/2014/main" val="2166802620"/>
                        </a:ext>
                      </a:extLst>
                    </a:gridCol>
                    <a:gridCol w="1196607">
                      <a:extLst>
                        <a:ext uri="{9D8B030D-6E8A-4147-A177-3AD203B41FA5}">
                          <a16:colId xmlns:a16="http://schemas.microsoft.com/office/drawing/2014/main" val="2974429694"/>
                        </a:ext>
                      </a:extLst>
                    </a:gridCol>
                  </a:tblGrid>
                  <a:tr h="370840">
                    <a:tc>
                      <a:txBody>
                        <a:bodyPr/>
                        <a:lstStyle/>
                        <a:p>
                          <a:pPr algn="ctr"/>
                          <a14:m>
                            <m:oMath xmlns:m="http://schemas.openxmlformats.org/officeDocument/2006/math">
                              <m:sSub>
                                <m:sSubPr>
                                  <m:ctrlPr>
                                    <a:rPr lang="sv-SE" b="0" i="1" dirty="0" smtClean="0">
                                      <a:latin typeface="Cambria Math" panose="02040503050406030204" pitchFamily="18" charset="0"/>
                                    </a:rPr>
                                  </m:ctrlPr>
                                </m:sSubPr>
                                <m:e>
                                  <m:r>
                                    <a:rPr lang="sv-SE" b="1" i="1" dirty="0" smtClean="0">
                                      <a:latin typeface="Cambria Math" panose="02040503050406030204" pitchFamily="18" charset="0"/>
                                    </a:rPr>
                                    <m:t>𝒇</m:t>
                                  </m:r>
                                </m:e>
                                <m:sub>
                                  <m:r>
                                    <a:rPr lang="sv-SE" b="1" i="1" dirty="0" smtClean="0">
                                      <a:latin typeface="Cambria Math" panose="02040503050406030204" pitchFamily="18" charset="0"/>
                                    </a:rPr>
                                    <m:t>𝒔𝒘</m:t>
                                  </m:r>
                                </m:sub>
                              </m:sSub>
                            </m:oMath>
                          </a14:m>
                          <a:r>
                            <a:rPr lang="sv-SE" dirty="0" smtClean="0"/>
                            <a:t> ( </a:t>
                          </a:r>
                          <a14:m>
                            <m:oMath xmlns:m="http://schemas.openxmlformats.org/officeDocument/2006/math">
                              <m:sSup>
                                <m:sSupPr>
                                  <m:ctrlPr>
                                    <a:rPr lang="sv-SE" b="0" i="1" smtClean="0">
                                      <a:latin typeface="Cambria Math" panose="02040503050406030204" pitchFamily="18" charset="0"/>
                                    </a:rPr>
                                  </m:ctrlPr>
                                </m:sSupPr>
                                <m:e>
                                  <m:r>
                                    <a:rPr lang="sv-SE" b="0" i="1" smtClean="0">
                                      <a:latin typeface="Cambria Math" panose="02040503050406030204" pitchFamily="18" charset="0"/>
                                    </a:rPr>
                                    <m:t>𝐶</m:t>
                                  </m:r>
                                </m:e>
                                <m:sup>
                                  <m:r>
                                    <a:rPr lang="sv-SE" b="0" i="1" smtClean="0">
                                      <a:latin typeface="Cambria Math" panose="02040503050406030204" pitchFamily="18" charset="0"/>
                                    </a:rPr>
                                    <m:t>𝑜</m:t>
                                  </m:r>
                                </m:sup>
                              </m:sSup>
                            </m:oMath>
                          </a14:m>
                          <a:r>
                            <a:rPr lang="sv-SE" dirty="0" smtClean="0"/>
                            <a:t>)</a:t>
                          </a:r>
                          <a:endParaRPr lang="sv-SE" dirty="0"/>
                        </a:p>
                      </a:txBody>
                      <a:tcPr/>
                    </a:tc>
                    <a:tc>
                      <a:txBody>
                        <a:bodyPr/>
                        <a:lstStyle/>
                        <a:p>
                          <a:pPr/>
                          <a14:m>
                            <m:oMathPara xmlns:m="http://schemas.openxmlformats.org/officeDocument/2006/math">
                              <m:oMathParaPr>
                                <m:jc m:val="centerGroup"/>
                              </m:oMathParaPr>
                              <m:oMath xmlns:m="http://schemas.openxmlformats.org/officeDocument/2006/math">
                                <m:r>
                                  <a:rPr lang="sv-SE" b="1" i="1" dirty="0" smtClean="0">
                                    <a:latin typeface="Cambria Math" panose="02040503050406030204" pitchFamily="18" charset="0"/>
                                  </a:rPr>
                                  <m:t>𝟏𝟎</m:t>
                                </m:r>
                                <m:r>
                                  <a:rPr lang="sv-SE" b="1" i="1" dirty="0" smtClean="0">
                                    <a:latin typeface="Cambria Math" panose="02040503050406030204" pitchFamily="18" charset="0"/>
                                  </a:rPr>
                                  <m:t> </m:t>
                                </m:r>
                                <m:r>
                                  <a:rPr lang="sv-SE" b="1" i="1" dirty="0" smtClean="0">
                                    <a:latin typeface="Cambria Math" panose="02040503050406030204" pitchFamily="18" charset="0"/>
                                  </a:rPr>
                                  <m:t>𝒌𝑯𝒛</m:t>
                                </m:r>
                              </m:oMath>
                            </m:oMathPara>
                          </a14:m>
                          <a:endParaRPr lang="sv-SE"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sv-SE" b="1" i="1" dirty="0" smtClean="0">
                                    <a:latin typeface="Cambria Math" panose="02040503050406030204" pitchFamily="18" charset="0"/>
                                  </a:rPr>
                                  <m:t>𝟏𝟐</m:t>
                                </m:r>
                                <m:r>
                                  <a:rPr lang="sv-SE" b="1" i="1" dirty="0" smtClean="0">
                                    <a:latin typeface="Cambria Math" panose="02040503050406030204" pitchFamily="18" charset="0"/>
                                  </a:rPr>
                                  <m:t>.</m:t>
                                </m:r>
                                <m:r>
                                  <a:rPr lang="sv-SE" b="1" i="1" dirty="0" smtClean="0">
                                    <a:latin typeface="Cambria Math" panose="02040503050406030204" pitchFamily="18" charset="0"/>
                                  </a:rPr>
                                  <m:t>𝟓</m:t>
                                </m:r>
                                <m:r>
                                  <a:rPr lang="sv-SE" b="1" i="1" dirty="0" smtClean="0">
                                    <a:latin typeface="Cambria Math" panose="02040503050406030204" pitchFamily="18" charset="0"/>
                                  </a:rPr>
                                  <m:t> </m:t>
                                </m:r>
                                <m:r>
                                  <a:rPr lang="sv-SE" b="1" i="1" dirty="0" smtClean="0">
                                    <a:latin typeface="Cambria Math" panose="02040503050406030204" pitchFamily="18" charset="0"/>
                                  </a:rPr>
                                  <m:t>𝒌𝑯𝒛</m:t>
                                </m:r>
                              </m:oMath>
                            </m:oMathPara>
                          </a14:m>
                          <a:endParaRPr lang="sv-SE"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sv-SE" b="1" i="1" dirty="0" smtClean="0">
                                    <a:latin typeface="Cambria Math" panose="02040503050406030204" pitchFamily="18" charset="0"/>
                                  </a:rPr>
                                  <m:t>𝟏𝟓</m:t>
                                </m:r>
                                <m:r>
                                  <a:rPr lang="sv-SE" b="1" i="1" dirty="0" smtClean="0">
                                    <a:latin typeface="Cambria Math" panose="02040503050406030204" pitchFamily="18" charset="0"/>
                                  </a:rPr>
                                  <m:t> </m:t>
                                </m:r>
                                <m:r>
                                  <a:rPr lang="sv-SE" b="1" i="1" dirty="0" smtClean="0">
                                    <a:latin typeface="Cambria Math" panose="02040503050406030204" pitchFamily="18" charset="0"/>
                                  </a:rPr>
                                  <m:t>𝒌𝑯𝒛</m:t>
                                </m:r>
                              </m:oMath>
                            </m:oMathPara>
                          </a14:m>
                          <a:endParaRPr lang="sv-SE"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sv-SE" b="1" i="1" dirty="0" smtClean="0">
                                    <a:latin typeface="Cambria Math" panose="02040503050406030204" pitchFamily="18" charset="0"/>
                                  </a:rPr>
                                  <m:t>𝟏𝟕</m:t>
                                </m:r>
                                <m:r>
                                  <a:rPr lang="sv-SE" b="1" i="1" dirty="0" smtClean="0">
                                    <a:latin typeface="Cambria Math" panose="02040503050406030204" pitchFamily="18" charset="0"/>
                                  </a:rPr>
                                  <m:t>.</m:t>
                                </m:r>
                                <m:r>
                                  <a:rPr lang="sv-SE" b="1" i="1" dirty="0" smtClean="0">
                                    <a:latin typeface="Cambria Math" panose="02040503050406030204" pitchFamily="18" charset="0"/>
                                  </a:rPr>
                                  <m:t>𝟓</m:t>
                                </m:r>
                                <m:r>
                                  <a:rPr lang="sv-SE" b="1" i="1" dirty="0" smtClean="0">
                                    <a:latin typeface="Cambria Math" panose="02040503050406030204" pitchFamily="18" charset="0"/>
                                  </a:rPr>
                                  <m:t> </m:t>
                                </m:r>
                                <m:r>
                                  <a:rPr lang="sv-SE" b="1" i="1" dirty="0" smtClean="0">
                                    <a:latin typeface="Cambria Math" panose="02040503050406030204" pitchFamily="18" charset="0"/>
                                  </a:rPr>
                                  <m:t>𝒌𝑯𝒛</m:t>
                                </m:r>
                              </m:oMath>
                            </m:oMathPara>
                          </a14:m>
                          <a:endParaRPr lang="sv-SE" dirty="0"/>
                        </a:p>
                        <a:p>
                          <a:pPr marL="0" marR="0" lvl="0" indent="0" algn="ctr" defTabSz="914400" rtl="0" eaLnBrk="1" fontAlgn="auto" latinLnBrk="0" hangingPunct="1">
                            <a:lnSpc>
                              <a:spcPct val="100000"/>
                            </a:lnSpc>
                            <a:spcBef>
                              <a:spcPts val="0"/>
                            </a:spcBef>
                            <a:spcAft>
                              <a:spcPts val="0"/>
                            </a:spcAft>
                            <a:buClrTx/>
                            <a:buSzTx/>
                            <a:buFontTx/>
                            <a:buNone/>
                            <a:tabLst/>
                            <a:defRPr/>
                          </a:pPr>
                          <a:endParaRPr lang="sv-SE"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sv-SE" b="1" i="1" dirty="0" smtClean="0">
                                    <a:latin typeface="Cambria Math" panose="02040503050406030204" pitchFamily="18" charset="0"/>
                                  </a:rPr>
                                  <m:t>𝟐𝟎</m:t>
                                </m:r>
                                <m:r>
                                  <a:rPr lang="sv-SE" b="1" i="1" dirty="0" smtClean="0">
                                    <a:latin typeface="Cambria Math" panose="02040503050406030204" pitchFamily="18" charset="0"/>
                                  </a:rPr>
                                  <m:t> </m:t>
                                </m:r>
                                <m:r>
                                  <a:rPr lang="sv-SE" b="1" i="1" dirty="0" smtClean="0">
                                    <a:latin typeface="Cambria Math" panose="02040503050406030204" pitchFamily="18" charset="0"/>
                                  </a:rPr>
                                  <m:t>𝒌𝑯𝒛</m:t>
                                </m:r>
                              </m:oMath>
                            </m:oMathPara>
                          </a14:m>
                          <a:endParaRPr lang="sv-SE" dirty="0"/>
                        </a:p>
                        <a:p>
                          <a:pPr marL="0" marR="0" lvl="0" indent="0" algn="ctr" defTabSz="914400" rtl="0" eaLnBrk="1" fontAlgn="auto" latinLnBrk="0" hangingPunct="1">
                            <a:lnSpc>
                              <a:spcPct val="100000"/>
                            </a:lnSpc>
                            <a:spcBef>
                              <a:spcPts val="0"/>
                            </a:spcBef>
                            <a:spcAft>
                              <a:spcPts val="0"/>
                            </a:spcAft>
                            <a:buClrTx/>
                            <a:buSzTx/>
                            <a:buFontTx/>
                            <a:buNone/>
                            <a:tabLst/>
                            <a:defRPr/>
                          </a:pPr>
                          <a:endParaRPr lang="sv-SE"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sv-SE" b="1" i="1" dirty="0" smtClean="0">
                                    <a:latin typeface="Cambria Math" panose="02040503050406030204" pitchFamily="18" charset="0"/>
                                  </a:rPr>
                                  <m:t>𝟐𝟐</m:t>
                                </m:r>
                                <m:r>
                                  <a:rPr lang="sv-SE" b="1" i="1" dirty="0" smtClean="0">
                                    <a:latin typeface="Cambria Math" panose="02040503050406030204" pitchFamily="18" charset="0"/>
                                  </a:rPr>
                                  <m:t>.</m:t>
                                </m:r>
                                <m:r>
                                  <a:rPr lang="sv-SE" b="1" i="1" dirty="0" smtClean="0">
                                    <a:latin typeface="Cambria Math" panose="02040503050406030204" pitchFamily="18" charset="0"/>
                                  </a:rPr>
                                  <m:t>𝟓</m:t>
                                </m:r>
                                <m:r>
                                  <a:rPr lang="sv-SE" b="1" i="1" dirty="0" smtClean="0">
                                    <a:latin typeface="Cambria Math" panose="02040503050406030204" pitchFamily="18" charset="0"/>
                                  </a:rPr>
                                  <m:t> </m:t>
                                </m:r>
                                <m:r>
                                  <a:rPr lang="sv-SE" b="1" i="1" dirty="0" smtClean="0">
                                    <a:latin typeface="Cambria Math" panose="02040503050406030204" pitchFamily="18" charset="0"/>
                                  </a:rPr>
                                  <m:t>𝒌𝑯𝒛</m:t>
                                </m:r>
                              </m:oMath>
                            </m:oMathPara>
                          </a14:m>
                          <a:endParaRPr lang="sv-SE" dirty="0"/>
                        </a:p>
                        <a:p>
                          <a:pPr marL="0" marR="0" lvl="0" indent="0" algn="ctr" defTabSz="914400" rtl="0" eaLnBrk="1" fontAlgn="auto" latinLnBrk="0" hangingPunct="1">
                            <a:lnSpc>
                              <a:spcPct val="100000"/>
                            </a:lnSpc>
                            <a:spcBef>
                              <a:spcPts val="0"/>
                            </a:spcBef>
                            <a:spcAft>
                              <a:spcPts val="0"/>
                            </a:spcAft>
                            <a:buClrTx/>
                            <a:buSzTx/>
                            <a:buFontTx/>
                            <a:buNone/>
                            <a:tabLst/>
                            <a:defRPr/>
                          </a:pPr>
                          <a:endParaRPr lang="sv-SE" dirty="0"/>
                        </a:p>
                      </a:txBody>
                      <a:tcPr/>
                    </a:tc>
                    <a:extLst>
                      <a:ext uri="{0D108BD9-81ED-4DB2-BD59-A6C34878D82A}">
                        <a16:rowId xmlns:a16="http://schemas.microsoft.com/office/drawing/2014/main" val="379032225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t>Loss</a:t>
                          </a:r>
                          <a:r>
                            <a:rPr lang="sv-SE" baseline="0" dirty="0" smtClean="0"/>
                            <a:t> (W)</a:t>
                          </a:r>
                          <a:endParaRPr lang="sv-SE" dirty="0" smtClean="0"/>
                        </a:p>
                      </a:txBody>
                      <a:tcPr/>
                    </a:tc>
                    <a:tc>
                      <a:txBody>
                        <a:bodyPr/>
                        <a:lstStyle/>
                        <a:p>
                          <a:pPr algn="ctr"/>
                          <a:r>
                            <a:rPr lang="sv-SE" dirty="0" smtClean="0"/>
                            <a:t>491</a:t>
                          </a:r>
                          <a:endParaRPr lang="sv-SE" dirty="0"/>
                        </a:p>
                      </a:txBody>
                      <a:tcPr/>
                    </a:tc>
                    <a:tc>
                      <a:txBody>
                        <a:bodyPr/>
                        <a:lstStyle/>
                        <a:p>
                          <a:pPr algn="ctr"/>
                          <a:r>
                            <a:rPr lang="sv-SE" dirty="0" smtClean="0"/>
                            <a:t>614</a:t>
                          </a:r>
                          <a:endParaRPr lang="sv-SE" dirty="0"/>
                        </a:p>
                      </a:txBody>
                      <a:tcPr/>
                    </a:tc>
                    <a:tc>
                      <a:txBody>
                        <a:bodyPr/>
                        <a:lstStyle/>
                        <a:p>
                          <a:pPr algn="ctr"/>
                          <a:r>
                            <a:rPr lang="sv-SE" dirty="0" smtClean="0"/>
                            <a:t>740</a:t>
                          </a:r>
                          <a:endParaRPr lang="sv-SE" dirty="0"/>
                        </a:p>
                      </a:txBody>
                      <a:tcPr/>
                    </a:tc>
                    <a:tc>
                      <a:txBody>
                        <a:bodyPr/>
                        <a:lstStyle/>
                        <a:p>
                          <a:pPr algn="ctr"/>
                          <a:r>
                            <a:rPr lang="sv-SE" dirty="0" smtClean="0"/>
                            <a:t>863</a:t>
                          </a:r>
                          <a:endParaRPr lang="sv-SE" dirty="0"/>
                        </a:p>
                      </a:txBody>
                      <a:tcPr/>
                    </a:tc>
                    <a:tc>
                      <a:txBody>
                        <a:bodyPr/>
                        <a:lstStyle/>
                        <a:p>
                          <a:pPr algn="ctr"/>
                          <a:r>
                            <a:rPr lang="sv-SE" dirty="0" smtClean="0"/>
                            <a:t>920</a:t>
                          </a:r>
                          <a:endParaRPr lang="sv-SE" dirty="0"/>
                        </a:p>
                      </a:txBody>
                      <a:tcPr/>
                    </a:tc>
                    <a:tc>
                      <a:txBody>
                        <a:bodyPr/>
                        <a:lstStyle/>
                        <a:p>
                          <a:pPr algn="ctr"/>
                          <a:r>
                            <a:rPr lang="sv-SE" dirty="0" smtClean="0">
                              <a:solidFill>
                                <a:srgbClr val="FF0000"/>
                              </a:solidFill>
                            </a:rPr>
                            <a:t>1046</a:t>
                          </a:r>
                          <a:endParaRPr lang="sv-SE" dirty="0">
                            <a:solidFill>
                              <a:srgbClr val="FF0000"/>
                            </a:solidFill>
                          </a:endParaRPr>
                        </a:p>
                      </a:txBody>
                      <a:tcPr/>
                    </a:tc>
                    <a:extLst>
                      <a:ext uri="{0D108BD9-81ED-4DB2-BD59-A6C34878D82A}">
                        <a16:rowId xmlns:a16="http://schemas.microsoft.com/office/drawing/2014/main" val="1224150159"/>
                      </a:ext>
                    </a:extLst>
                  </a:tr>
                </a:tbl>
              </a:graphicData>
            </a:graphic>
          </p:graphicFrame>
        </mc:Choice>
        <mc:Fallback xmlns="">
          <p:graphicFrame>
            <p:nvGraphicFramePr>
              <p:cNvPr id="10" name="Table 9"/>
              <p:cNvGraphicFramePr>
                <a:graphicFrameLocks noGrp="1"/>
              </p:cNvGraphicFramePr>
              <p:nvPr>
                <p:extLst>
                  <p:ext uri="{D42A27DB-BD31-4B8C-83A1-F6EECF244321}">
                    <p14:modId xmlns:p14="http://schemas.microsoft.com/office/powerpoint/2010/main" val="3891608963"/>
                  </p:ext>
                </p:extLst>
              </p:nvPr>
            </p:nvGraphicFramePr>
            <p:xfrm>
              <a:off x="2001327" y="4932544"/>
              <a:ext cx="8376249" cy="1010920"/>
            </p:xfrm>
            <a:graphic>
              <a:graphicData uri="http://schemas.openxmlformats.org/drawingml/2006/table">
                <a:tbl>
                  <a:tblPr firstRow="1" bandRow="1">
                    <a:tableStyleId>{5C22544A-7EE6-4342-B048-85BDC9FD1C3A}</a:tableStyleId>
                  </a:tblPr>
                  <a:tblGrid>
                    <a:gridCol w="1196607">
                      <a:extLst>
                        <a:ext uri="{9D8B030D-6E8A-4147-A177-3AD203B41FA5}">
                          <a16:colId xmlns:a16="http://schemas.microsoft.com/office/drawing/2014/main" val="701188241"/>
                        </a:ext>
                      </a:extLst>
                    </a:gridCol>
                    <a:gridCol w="1196607">
                      <a:extLst>
                        <a:ext uri="{9D8B030D-6E8A-4147-A177-3AD203B41FA5}">
                          <a16:colId xmlns:a16="http://schemas.microsoft.com/office/drawing/2014/main" val="2487507754"/>
                        </a:ext>
                      </a:extLst>
                    </a:gridCol>
                    <a:gridCol w="1196607">
                      <a:extLst>
                        <a:ext uri="{9D8B030D-6E8A-4147-A177-3AD203B41FA5}">
                          <a16:colId xmlns:a16="http://schemas.microsoft.com/office/drawing/2014/main" val="267292927"/>
                        </a:ext>
                      </a:extLst>
                    </a:gridCol>
                    <a:gridCol w="1196607">
                      <a:extLst>
                        <a:ext uri="{9D8B030D-6E8A-4147-A177-3AD203B41FA5}">
                          <a16:colId xmlns:a16="http://schemas.microsoft.com/office/drawing/2014/main" val="482194914"/>
                        </a:ext>
                      </a:extLst>
                    </a:gridCol>
                    <a:gridCol w="1196607">
                      <a:extLst>
                        <a:ext uri="{9D8B030D-6E8A-4147-A177-3AD203B41FA5}">
                          <a16:colId xmlns:a16="http://schemas.microsoft.com/office/drawing/2014/main" val="1173395562"/>
                        </a:ext>
                      </a:extLst>
                    </a:gridCol>
                    <a:gridCol w="1196607">
                      <a:extLst>
                        <a:ext uri="{9D8B030D-6E8A-4147-A177-3AD203B41FA5}">
                          <a16:colId xmlns:a16="http://schemas.microsoft.com/office/drawing/2014/main" val="2166802620"/>
                        </a:ext>
                      </a:extLst>
                    </a:gridCol>
                    <a:gridCol w="1196607">
                      <a:extLst>
                        <a:ext uri="{9D8B030D-6E8A-4147-A177-3AD203B41FA5}">
                          <a16:colId xmlns:a16="http://schemas.microsoft.com/office/drawing/2014/main" val="2974429694"/>
                        </a:ext>
                      </a:extLst>
                    </a:gridCol>
                  </a:tblGrid>
                  <a:tr h="640080">
                    <a:tc>
                      <a:txBody>
                        <a:bodyPr/>
                        <a:lstStyle/>
                        <a:p>
                          <a:endParaRPr lang="sv-SE"/>
                        </a:p>
                      </a:txBody>
                      <a:tcPr>
                        <a:blipFill>
                          <a:blip r:embed="rId2"/>
                          <a:stretch>
                            <a:fillRect l="-510" t="-4762" r="-603571" b="-72381"/>
                          </a:stretch>
                        </a:blipFill>
                      </a:tcPr>
                    </a:tc>
                    <a:tc>
                      <a:txBody>
                        <a:bodyPr/>
                        <a:lstStyle/>
                        <a:p>
                          <a:endParaRPr lang="sv-SE"/>
                        </a:p>
                      </a:txBody>
                      <a:tcPr>
                        <a:blipFill>
                          <a:blip r:embed="rId2"/>
                          <a:stretch>
                            <a:fillRect l="-100000" t="-4762" r="-500508" b="-72381"/>
                          </a:stretch>
                        </a:blipFill>
                      </a:tcPr>
                    </a:tc>
                    <a:tc>
                      <a:txBody>
                        <a:bodyPr/>
                        <a:lstStyle/>
                        <a:p>
                          <a:endParaRPr lang="sv-SE"/>
                        </a:p>
                      </a:txBody>
                      <a:tcPr>
                        <a:blipFill>
                          <a:blip r:embed="rId2"/>
                          <a:stretch>
                            <a:fillRect l="-201020" t="-4762" r="-403061" b="-72381"/>
                          </a:stretch>
                        </a:blipFill>
                      </a:tcPr>
                    </a:tc>
                    <a:tc>
                      <a:txBody>
                        <a:bodyPr/>
                        <a:lstStyle/>
                        <a:p>
                          <a:endParaRPr lang="sv-SE"/>
                        </a:p>
                      </a:txBody>
                      <a:tcPr>
                        <a:blipFill>
                          <a:blip r:embed="rId2"/>
                          <a:stretch>
                            <a:fillRect l="-299492" t="-4762" r="-301015" b="-72381"/>
                          </a:stretch>
                        </a:blipFill>
                      </a:tcPr>
                    </a:tc>
                    <a:tc>
                      <a:txBody>
                        <a:bodyPr/>
                        <a:lstStyle/>
                        <a:p>
                          <a:endParaRPr lang="sv-SE"/>
                        </a:p>
                      </a:txBody>
                      <a:tcPr>
                        <a:blipFill>
                          <a:blip r:embed="rId2"/>
                          <a:stretch>
                            <a:fillRect l="-401531" t="-4762" r="-202551" b="-72381"/>
                          </a:stretch>
                        </a:blipFill>
                      </a:tcPr>
                    </a:tc>
                    <a:tc>
                      <a:txBody>
                        <a:bodyPr/>
                        <a:lstStyle/>
                        <a:p>
                          <a:endParaRPr lang="sv-SE"/>
                        </a:p>
                      </a:txBody>
                      <a:tcPr>
                        <a:blipFill>
                          <a:blip r:embed="rId2"/>
                          <a:stretch>
                            <a:fillRect l="-498985" t="-4762" r="-101523" b="-72381"/>
                          </a:stretch>
                        </a:blipFill>
                      </a:tcPr>
                    </a:tc>
                    <a:tc>
                      <a:txBody>
                        <a:bodyPr/>
                        <a:lstStyle/>
                        <a:p>
                          <a:endParaRPr lang="sv-SE"/>
                        </a:p>
                      </a:txBody>
                      <a:tcPr>
                        <a:blipFill>
                          <a:blip r:embed="rId2"/>
                          <a:stretch>
                            <a:fillRect l="-602041" t="-4762" r="-2041" b="-72381"/>
                          </a:stretch>
                        </a:blipFill>
                      </a:tcPr>
                    </a:tc>
                    <a:extLst>
                      <a:ext uri="{0D108BD9-81ED-4DB2-BD59-A6C34878D82A}">
                        <a16:rowId xmlns:a16="http://schemas.microsoft.com/office/drawing/2014/main" val="379032225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t>Loss</a:t>
                          </a:r>
                          <a:r>
                            <a:rPr lang="sv-SE" baseline="0" dirty="0" smtClean="0"/>
                            <a:t> (W)</a:t>
                          </a:r>
                          <a:endParaRPr lang="sv-SE" dirty="0" smtClean="0"/>
                        </a:p>
                      </a:txBody>
                      <a:tcPr/>
                    </a:tc>
                    <a:tc>
                      <a:txBody>
                        <a:bodyPr/>
                        <a:lstStyle/>
                        <a:p>
                          <a:pPr algn="ctr"/>
                          <a:r>
                            <a:rPr lang="sv-SE" dirty="0" smtClean="0"/>
                            <a:t>491</a:t>
                          </a:r>
                          <a:endParaRPr lang="sv-SE" dirty="0"/>
                        </a:p>
                      </a:txBody>
                      <a:tcPr/>
                    </a:tc>
                    <a:tc>
                      <a:txBody>
                        <a:bodyPr/>
                        <a:lstStyle/>
                        <a:p>
                          <a:pPr algn="ctr"/>
                          <a:r>
                            <a:rPr lang="sv-SE" dirty="0" smtClean="0"/>
                            <a:t>614</a:t>
                          </a:r>
                          <a:endParaRPr lang="sv-SE" dirty="0"/>
                        </a:p>
                      </a:txBody>
                      <a:tcPr/>
                    </a:tc>
                    <a:tc>
                      <a:txBody>
                        <a:bodyPr/>
                        <a:lstStyle/>
                        <a:p>
                          <a:pPr algn="ctr"/>
                          <a:r>
                            <a:rPr lang="sv-SE" dirty="0" smtClean="0"/>
                            <a:t>740</a:t>
                          </a:r>
                          <a:endParaRPr lang="sv-SE" dirty="0"/>
                        </a:p>
                      </a:txBody>
                      <a:tcPr/>
                    </a:tc>
                    <a:tc>
                      <a:txBody>
                        <a:bodyPr/>
                        <a:lstStyle/>
                        <a:p>
                          <a:pPr algn="ctr"/>
                          <a:r>
                            <a:rPr lang="sv-SE" dirty="0" smtClean="0"/>
                            <a:t>863</a:t>
                          </a:r>
                          <a:endParaRPr lang="sv-SE" dirty="0"/>
                        </a:p>
                      </a:txBody>
                      <a:tcPr/>
                    </a:tc>
                    <a:tc>
                      <a:txBody>
                        <a:bodyPr/>
                        <a:lstStyle/>
                        <a:p>
                          <a:pPr algn="ctr"/>
                          <a:r>
                            <a:rPr lang="sv-SE" dirty="0" smtClean="0"/>
                            <a:t>920</a:t>
                          </a:r>
                          <a:endParaRPr lang="sv-SE" dirty="0"/>
                        </a:p>
                      </a:txBody>
                      <a:tcPr/>
                    </a:tc>
                    <a:tc>
                      <a:txBody>
                        <a:bodyPr/>
                        <a:lstStyle/>
                        <a:p>
                          <a:pPr algn="ctr"/>
                          <a:r>
                            <a:rPr lang="sv-SE" dirty="0" smtClean="0">
                              <a:solidFill>
                                <a:srgbClr val="FF0000"/>
                              </a:solidFill>
                            </a:rPr>
                            <a:t>1046</a:t>
                          </a:r>
                          <a:endParaRPr lang="sv-SE" dirty="0">
                            <a:solidFill>
                              <a:srgbClr val="FF0000"/>
                            </a:solidFill>
                          </a:endParaRPr>
                        </a:p>
                      </a:txBody>
                      <a:tcPr/>
                    </a:tc>
                    <a:extLst>
                      <a:ext uri="{0D108BD9-81ED-4DB2-BD59-A6C34878D82A}">
                        <a16:rowId xmlns:a16="http://schemas.microsoft.com/office/drawing/2014/main" val="1224150159"/>
                      </a:ext>
                    </a:extLst>
                  </a:tr>
                </a:tbl>
              </a:graphicData>
            </a:graphic>
          </p:graphicFrame>
        </mc:Fallback>
      </mc:AlternateContent>
      <p:pic>
        <p:nvPicPr>
          <p:cNvPr id="3" name="Picture 2"/>
          <p:cNvPicPr>
            <a:picLocks noChangeAspect="1"/>
          </p:cNvPicPr>
          <p:nvPr/>
        </p:nvPicPr>
        <p:blipFill>
          <a:blip r:embed="rId3"/>
          <a:stretch>
            <a:fillRect/>
          </a:stretch>
        </p:blipFill>
        <p:spPr>
          <a:xfrm>
            <a:off x="65409" y="1414970"/>
            <a:ext cx="3452819" cy="2589614"/>
          </a:xfrm>
          <a:prstGeom prst="rect">
            <a:avLst/>
          </a:prstGeom>
        </p:spPr>
      </p:pic>
      <p:pic>
        <p:nvPicPr>
          <p:cNvPr id="4" name="Picture 3"/>
          <p:cNvPicPr>
            <a:picLocks noChangeAspect="1"/>
          </p:cNvPicPr>
          <p:nvPr/>
        </p:nvPicPr>
        <p:blipFill>
          <a:blip r:embed="rId4"/>
          <a:stretch>
            <a:fillRect/>
          </a:stretch>
        </p:blipFill>
        <p:spPr>
          <a:xfrm>
            <a:off x="7981217" y="1280419"/>
            <a:ext cx="4131536" cy="3098652"/>
          </a:xfrm>
          <a:prstGeom prst="rect">
            <a:avLst/>
          </a:prstGeom>
        </p:spPr>
      </p:pic>
      <p:pic>
        <p:nvPicPr>
          <p:cNvPr id="5" name="Picture 4"/>
          <p:cNvPicPr>
            <a:picLocks noChangeAspect="1"/>
          </p:cNvPicPr>
          <p:nvPr/>
        </p:nvPicPr>
        <p:blipFill>
          <a:blip r:embed="rId5"/>
          <a:stretch>
            <a:fillRect/>
          </a:stretch>
        </p:blipFill>
        <p:spPr>
          <a:xfrm>
            <a:off x="3860044" y="1302440"/>
            <a:ext cx="4121173" cy="3090880"/>
          </a:xfrm>
          <a:prstGeom prst="rect">
            <a:avLst/>
          </a:prstGeom>
        </p:spPr>
      </p:pic>
      <p:sp>
        <p:nvSpPr>
          <p:cNvPr id="6" name="Rectangle 5"/>
          <p:cNvSpPr/>
          <p:nvPr/>
        </p:nvSpPr>
        <p:spPr>
          <a:xfrm>
            <a:off x="508880" y="4101810"/>
            <a:ext cx="2771913" cy="369332"/>
          </a:xfrm>
          <a:prstGeom prst="rect">
            <a:avLst/>
          </a:prstGeom>
        </p:spPr>
        <p:txBody>
          <a:bodyPr wrap="none">
            <a:spAutoFit/>
          </a:bodyPr>
          <a:lstStyle/>
          <a:p>
            <a:r>
              <a:rPr lang="sv-SE" dirty="0" err="1"/>
              <a:t>Polynomial</a:t>
            </a:r>
            <a:r>
              <a:rPr lang="sv-SE" dirty="0"/>
              <a:t> </a:t>
            </a:r>
            <a:r>
              <a:rPr lang="sv-SE" dirty="0" err="1"/>
              <a:t>assumption</a:t>
            </a:r>
            <a:r>
              <a:rPr lang="sv-SE" dirty="0"/>
              <a:t> 2</a:t>
            </a:r>
          </a:p>
        </p:txBody>
      </p:sp>
      <mc:AlternateContent xmlns:mc="http://schemas.openxmlformats.org/markup-compatibility/2006" xmlns:a14="http://schemas.microsoft.com/office/drawing/2010/main">
        <mc:Choice Requires="a14">
          <p:sp>
            <p:nvSpPr>
              <p:cNvPr id="7" name="Rectangle 6"/>
              <p:cNvSpPr/>
              <p:nvPr/>
            </p:nvSpPr>
            <p:spPr>
              <a:xfrm>
                <a:off x="5415523" y="2709777"/>
                <a:ext cx="101021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v-SE" b="1" i="1" dirty="0">
                          <a:latin typeface="Cambria Math" panose="02040503050406030204" pitchFamily="18" charset="0"/>
                        </a:rPr>
                        <m:t>𝟏𝟎</m:t>
                      </m:r>
                      <m:r>
                        <a:rPr lang="sv-SE" b="1" i="1" dirty="0">
                          <a:latin typeface="Cambria Math" panose="02040503050406030204" pitchFamily="18" charset="0"/>
                        </a:rPr>
                        <m:t> </m:t>
                      </m:r>
                      <m:r>
                        <a:rPr lang="sv-SE" b="1" i="1" dirty="0">
                          <a:latin typeface="Cambria Math" panose="02040503050406030204" pitchFamily="18" charset="0"/>
                        </a:rPr>
                        <m:t>𝒌𝑯𝒛</m:t>
                      </m:r>
                    </m:oMath>
                  </m:oMathPara>
                </a14:m>
                <a:endParaRPr lang="sv-SE" dirty="0"/>
              </a:p>
            </p:txBody>
          </p:sp>
        </mc:Choice>
        <mc:Fallback xmlns="">
          <p:sp>
            <p:nvSpPr>
              <p:cNvPr id="7" name="Rectangle 6"/>
              <p:cNvSpPr>
                <a:spLocks noRot="1" noChangeAspect="1" noMove="1" noResize="1" noEditPoints="1" noAdjustHandles="1" noChangeArrowheads="1" noChangeShapeType="1" noTextEdit="1"/>
              </p:cNvSpPr>
              <p:nvPr/>
            </p:nvSpPr>
            <p:spPr>
              <a:xfrm>
                <a:off x="5415523" y="2709777"/>
                <a:ext cx="1010213" cy="369332"/>
              </a:xfrm>
              <a:prstGeom prst="rect">
                <a:avLst/>
              </a:prstGeom>
              <a:blipFill>
                <a:blip r:embed="rId6"/>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9205245" y="2645079"/>
                <a:ext cx="101021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v-SE" b="1" i="1" dirty="0">
                          <a:latin typeface="Cambria Math" panose="02040503050406030204" pitchFamily="18" charset="0"/>
                        </a:rPr>
                        <m:t>𝟏𝟎</m:t>
                      </m:r>
                      <m:r>
                        <a:rPr lang="sv-SE" b="1" i="1" dirty="0">
                          <a:latin typeface="Cambria Math" panose="02040503050406030204" pitchFamily="18" charset="0"/>
                        </a:rPr>
                        <m:t> </m:t>
                      </m:r>
                      <m:r>
                        <a:rPr lang="sv-SE" b="1" i="1" dirty="0">
                          <a:latin typeface="Cambria Math" panose="02040503050406030204" pitchFamily="18" charset="0"/>
                        </a:rPr>
                        <m:t>𝒌𝑯𝒛</m:t>
                      </m:r>
                    </m:oMath>
                  </m:oMathPara>
                </a14:m>
                <a:endParaRPr lang="sv-SE" dirty="0"/>
              </a:p>
            </p:txBody>
          </p:sp>
        </mc:Choice>
        <mc:Fallback xmlns="">
          <p:sp>
            <p:nvSpPr>
              <p:cNvPr id="8" name="Rectangle 7"/>
              <p:cNvSpPr>
                <a:spLocks noRot="1" noChangeAspect="1" noMove="1" noResize="1" noEditPoints="1" noAdjustHandles="1" noChangeArrowheads="1" noChangeShapeType="1" noTextEdit="1"/>
              </p:cNvSpPr>
              <p:nvPr/>
            </p:nvSpPr>
            <p:spPr>
              <a:xfrm>
                <a:off x="9205245" y="2645079"/>
                <a:ext cx="1010213" cy="369332"/>
              </a:xfrm>
              <a:prstGeom prst="rect">
                <a:avLst/>
              </a:prstGeom>
              <a:blipFill>
                <a:blip r:embed="rId7"/>
                <a:stretch>
                  <a:fillRect/>
                </a:stretch>
              </a:blipFill>
            </p:spPr>
            <p:txBody>
              <a:bodyPr/>
              <a:lstStyle/>
              <a:p>
                <a:r>
                  <a:rPr lang="sv-SE">
                    <a:noFill/>
                  </a:rPr>
                  <a:t> </a:t>
                </a:r>
              </a:p>
            </p:txBody>
          </p:sp>
        </mc:Fallback>
      </mc:AlternateContent>
    </p:spTree>
    <p:extLst>
      <p:ext uri="{BB962C8B-B14F-4D97-AF65-F5344CB8AC3E}">
        <p14:creationId xmlns:p14="http://schemas.microsoft.com/office/powerpoint/2010/main" val="343211294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_presentation_template_Figtree" id="{E6011EE6-5294-D344-AE93-F618069F8922}" vid="{45727F30-E711-A740-91D8-A34DFFD32AAE}"/>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KTH_presentation_template_Figtree (2)</Template>
  <TotalTime>7698</TotalTime>
  <Words>1204</Words>
  <Application>Microsoft Office PowerPoint</Application>
  <PresentationFormat>Widescreen</PresentationFormat>
  <Paragraphs>174</Paragraphs>
  <Slides>13</Slides>
  <Notes>0</Notes>
  <HiddenSlides>7</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Source Sans Pro</vt:lpstr>
      <vt:lpstr>Calibri</vt:lpstr>
      <vt:lpstr>Wingdings</vt:lpstr>
      <vt:lpstr>Arial</vt:lpstr>
      <vt:lpstr>Cambria Math</vt:lpstr>
      <vt:lpstr>Times New Roman</vt:lpstr>
      <vt:lpstr>Figtree</vt:lpstr>
      <vt:lpstr>Office-tema</vt:lpstr>
      <vt:lpstr>Busbar Design</vt:lpstr>
      <vt:lpstr>Busbar Geometry 62mm Power Module</vt:lpstr>
      <vt:lpstr>Impedance Model</vt:lpstr>
      <vt:lpstr>What do we need for further investigation? </vt:lpstr>
      <vt:lpstr>PowerPoint Presentation</vt:lpstr>
      <vt:lpstr>PowerPoint Presentation</vt:lpstr>
      <vt:lpstr>2-Level Inverter Power Ratings</vt:lpstr>
      <vt:lpstr>Given Parameters from Infineon</vt:lpstr>
      <vt:lpstr>Datasheet-driven Loss Calculation </vt:lpstr>
      <vt:lpstr>Datasheet-driven Loss Calculation </vt:lpstr>
      <vt:lpstr>Datasheet-driven Loss Calculation (Conduction) </vt:lpstr>
      <vt:lpstr>Datasheet-driven Loss Calculation (Switching) </vt:lpstr>
      <vt:lpstr>Datasheet-driven Loss Calculation (Switching) </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Tove Guldbrand</dc:creator>
  <cp:lastModifiedBy>Enes Ayaz</cp:lastModifiedBy>
  <cp:revision>118</cp:revision>
  <dcterms:created xsi:type="dcterms:W3CDTF">2024-01-10T13:17:29Z</dcterms:created>
  <dcterms:modified xsi:type="dcterms:W3CDTF">2024-11-29T13:52:53Z</dcterms:modified>
</cp:coreProperties>
</file>