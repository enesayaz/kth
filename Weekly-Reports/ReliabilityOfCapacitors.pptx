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3"/>
  </p:notesMasterIdLst>
  <p:sldIdLst>
    <p:sldId id="301" r:id="rId2"/>
    <p:sldId id="304" r:id="rId3"/>
    <p:sldId id="305" r:id="rId4"/>
    <p:sldId id="306" r:id="rId5"/>
    <p:sldId id="307" r:id="rId6"/>
    <p:sldId id="311" r:id="rId7"/>
    <p:sldId id="315" r:id="rId8"/>
    <p:sldId id="313" r:id="rId9"/>
    <p:sldId id="312" r:id="rId10"/>
    <p:sldId id="316" r:id="rId11"/>
    <p:sldId id="317" r:id="rId12"/>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Figtree" panose="020B0604020202020204" charset="0"/>
      <p:regular r:id="rId18"/>
      <p:bold r:id="rId19"/>
      <p:italic r:id="rId20"/>
      <p:boldItalic r:id="rId21"/>
    </p:embeddedFont>
    <p:embeddedFont>
      <p:font typeface="Cambria Math" panose="02040503050406030204" pitchFamily="18" charset="0"/>
      <p:regular r:id="rId22"/>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00" autoAdjust="0"/>
    <p:restoredTop sz="96327"/>
  </p:normalViewPr>
  <p:slideViewPr>
    <p:cSldViewPr snapToGrid="0">
      <p:cViewPr varScale="1">
        <p:scale>
          <a:sx n="156" d="100"/>
          <a:sy n="156" d="100"/>
        </p:scale>
        <p:origin x="144"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2025-05-15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2025-05-15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2025-05-15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2025-05-15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2025-05-15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2025-05-15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2025-05-15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2025-05-15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2025-05-15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2025-05-15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2025-05-15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2025-05-15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2025-05-15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2025-05-15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2025-05-15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2025-05-15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2025-05-15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2025-05-15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2025-05-15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2025-05-15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2025-05-15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2025-05-15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2025-05-15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2025-05-15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2025-05-15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2025-05-15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2025-05-15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2025-05-15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2025-05-15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2025-05-15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2025-05-15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2025-05-15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2025-05-15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2025-05-15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2025-05-15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2025-05-15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2025-05-15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2025-05-15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2025-05-15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2025-05-15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2025-05-15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2025-05-15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2025-05-15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2025-05-15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2025-05-15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2025-05-15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29.emf"/><Relationship Id="rId7" Type="http://schemas.openxmlformats.org/officeDocument/2006/relationships/image" Target="../media/image33.emf"/><Relationship Id="rId2" Type="http://schemas.openxmlformats.org/officeDocument/2006/relationships/image" Target="../media/image28.emf"/><Relationship Id="rId1" Type="http://schemas.openxmlformats.org/officeDocument/2006/relationships/slideLayout" Target="../slideLayouts/slideLayout12.xml"/><Relationship Id="rId6" Type="http://schemas.openxmlformats.org/officeDocument/2006/relationships/image" Target="../media/image32.emf"/><Relationship Id="rId11" Type="http://schemas.openxmlformats.org/officeDocument/2006/relationships/image" Target="../media/image37.png"/><Relationship Id="rId5" Type="http://schemas.openxmlformats.org/officeDocument/2006/relationships/image" Target="../media/image31.emf"/><Relationship Id="rId10" Type="http://schemas.openxmlformats.org/officeDocument/2006/relationships/image" Target="../media/image36.png"/><Relationship Id="rId4" Type="http://schemas.openxmlformats.org/officeDocument/2006/relationships/image" Target="../media/image30.emf"/><Relationship Id="rId9" Type="http://schemas.openxmlformats.org/officeDocument/2006/relationships/image" Target="../media/image35.png"/></Relationships>
</file>

<file path=ppt/slides/_rels/slide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6.emf"/><Relationship Id="rId7" Type="http://schemas.openxmlformats.org/officeDocument/2006/relationships/image" Target="../media/image43.png"/><Relationship Id="rId2" Type="http://schemas.openxmlformats.org/officeDocument/2006/relationships/image" Target="../media/image35.emf"/><Relationship Id="rId1" Type="http://schemas.openxmlformats.org/officeDocument/2006/relationships/slideLayout" Target="../slideLayouts/slideLayout12.xml"/><Relationship Id="rId6" Type="http://schemas.openxmlformats.org/officeDocument/2006/relationships/image" Target="../media/image42.png"/><Relationship Id="rId11" Type="http://schemas.openxmlformats.org/officeDocument/2006/relationships/image" Target="../media/image38.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6.png"/><Relationship Id="rId3" Type="http://schemas.openxmlformats.org/officeDocument/2006/relationships/image" Target="../media/image40.emf"/><Relationship Id="rId7" Type="http://schemas.openxmlformats.org/officeDocument/2006/relationships/image" Target="../media/image53.png"/><Relationship Id="rId12" Type="http://schemas.openxmlformats.org/officeDocument/2006/relationships/image" Target="../media/image54.png"/><Relationship Id="rId17" Type="http://schemas.openxmlformats.org/officeDocument/2006/relationships/image" Target="../media/image63.png"/><Relationship Id="rId2" Type="http://schemas.openxmlformats.org/officeDocument/2006/relationships/image" Target="../media/image39.emf"/><Relationship Id="rId16" Type="http://schemas.openxmlformats.org/officeDocument/2006/relationships/image" Target="../media/image62.png"/><Relationship Id="rId1" Type="http://schemas.openxmlformats.org/officeDocument/2006/relationships/slideLayout" Target="../slideLayouts/slideLayout12.xml"/><Relationship Id="rId6" Type="http://schemas.openxmlformats.org/officeDocument/2006/relationships/image" Target="../media/image48.png"/><Relationship Id="rId11" Type="http://schemas.openxmlformats.org/officeDocument/2006/relationships/image" Target="../media/image52.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0.png"/><Relationship Id="rId4" Type="http://schemas.openxmlformats.org/officeDocument/2006/relationships/image" Target="../media/image47.png"/><Relationship Id="rId9" Type="http://schemas.openxmlformats.org/officeDocument/2006/relationships/image" Target="../media/image55.png"/><Relationship Id="rId14" Type="http://schemas.openxmlformats.org/officeDocument/2006/relationships/image" Target="../media/image60.png"/></Relationships>
</file>

<file path=ppt/slides/_rels/slide8.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12.xml"/><Relationship Id="rId5" Type="http://schemas.openxmlformats.org/officeDocument/2006/relationships/image" Target="../media/image60.emf"/><Relationship Id="rId4" Type="http://schemas.openxmlformats.org/officeDocument/2006/relationships/image" Target="../media/image59.emf"/></Relationships>
</file>

<file path=ppt/slides/_rels/slide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5853" y="3571875"/>
            <a:ext cx="9905597" cy="1654175"/>
          </a:xfrm>
        </p:spPr>
        <p:txBody>
          <a:bodyPr/>
          <a:lstStyle/>
          <a:p>
            <a:r>
              <a:rPr lang="en-US" dirty="0" smtClean="0"/>
              <a:t>A </a:t>
            </a:r>
            <a:r>
              <a:rPr lang="tr-TR" dirty="0" smtClean="0"/>
              <a:t>Neural Network A</a:t>
            </a:r>
            <a:r>
              <a:rPr lang="en-US" dirty="0" err="1" smtClean="0"/>
              <a:t>ided</a:t>
            </a:r>
            <a:r>
              <a:rPr lang="en-US" dirty="0" smtClean="0"/>
              <a:t> </a:t>
            </a:r>
            <a:r>
              <a:rPr lang="en-US" dirty="0"/>
              <a:t>Modulation Strategy </a:t>
            </a:r>
            <a:r>
              <a:rPr lang="en-US" dirty="0" smtClean="0"/>
              <a:t>for </a:t>
            </a:r>
            <a:r>
              <a:rPr lang="en-US" dirty="0"/>
              <a:t>DC-Link Capacitor Lifetime Extension </a:t>
            </a:r>
            <a:r>
              <a:rPr lang="en-US" dirty="0" smtClean="0"/>
              <a:t>in </a:t>
            </a:r>
            <a:r>
              <a:rPr lang="en-US" dirty="0"/>
              <a:t>Three-Phase Two-Level </a:t>
            </a:r>
            <a:r>
              <a:rPr lang="en-US" dirty="0" smtClean="0"/>
              <a:t>VSIs</a:t>
            </a:r>
            <a:endParaRPr lang="en-US" b="0" dirty="0"/>
          </a:p>
        </p:txBody>
      </p:sp>
      <p:sp>
        <p:nvSpPr>
          <p:cNvPr id="3" name="Subtitle 2"/>
          <p:cNvSpPr>
            <a:spLocks noGrp="1"/>
          </p:cNvSpPr>
          <p:nvPr>
            <p:ph type="subTitle" idx="1"/>
          </p:nvPr>
        </p:nvSpPr>
        <p:spPr/>
        <p:txBody>
          <a:bodyPr/>
          <a:lstStyle/>
          <a:p>
            <a:r>
              <a:rPr lang="en-US" dirty="0"/>
              <a:t>Enes Ayaz, KTH</a:t>
            </a:r>
            <a:endParaRPr lang="sv-SE" dirty="0"/>
          </a:p>
          <a:p>
            <a:endParaRPr lang="sv-SE" dirty="0"/>
          </a:p>
        </p:txBody>
      </p:sp>
    </p:spTree>
    <p:extLst>
      <p:ext uri="{BB962C8B-B14F-4D97-AF65-F5344CB8AC3E}">
        <p14:creationId xmlns:p14="http://schemas.microsoft.com/office/powerpoint/2010/main" val="1865154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Overview of Three-Phase Two-Level </a:t>
            </a:r>
            <a:r>
              <a:rPr lang="en-US" dirty="0" smtClean="0"/>
              <a:t>VSIs</a:t>
            </a:r>
            <a:endParaRPr lang="sv-SE" dirty="0"/>
          </a:p>
        </p:txBody>
      </p:sp>
      <p:sp>
        <p:nvSpPr>
          <p:cNvPr id="3" name="Content Placeholder 2"/>
          <p:cNvSpPr>
            <a:spLocks noGrp="1"/>
          </p:cNvSpPr>
          <p:nvPr>
            <p:ph idx="1"/>
          </p:nvPr>
        </p:nvSpPr>
        <p:spPr>
          <a:xfrm>
            <a:off x="618611" y="1037966"/>
            <a:ext cx="10990263" cy="4744995"/>
          </a:xfrm>
        </p:spPr>
        <p:txBody>
          <a:bodyPr/>
          <a:lstStyle/>
          <a:p>
            <a:pPr marL="0" indent="0">
              <a:buNone/>
            </a:pPr>
            <a:r>
              <a:rPr lang="en-US" dirty="0" smtClean="0"/>
              <a:t>Still </a:t>
            </a:r>
            <a:r>
              <a:rPr lang="en-US" b="1" dirty="0" smtClean="0"/>
              <a:t>dominant</a:t>
            </a:r>
            <a:r>
              <a:rPr lang="en-US" dirty="0" smtClean="0"/>
              <a:t> </a:t>
            </a:r>
            <a:r>
              <a:rPr lang="en-US" dirty="0"/>
              <a:t>in </a:t>
            </a:r>
            <a:r>
              <a:rPr lang="en-US" dirty="0" smtClean="0"/>
              <a:t>industrial </a:t>
            </a:r>
            <a:r>
              <a:rPr lang="en-US" dirty="0"/>
              <a:t>motor </a:t>
            </a:r>
            <a:r>
              <a:rPr lang="en-US" dirty="0" smtClean="0"/>
              <a:t>drives, traction systems, </a:t>
            </a:r>
            <a:r>
              <a:rPr lang="en-US" dirty="0"/>
              <a:t>and </a:t>
            </a:r>
            <a:r>
              <a:rPr lang="en-US" dirty="0" smtClean="0"/>
              <a:t>renewable </a:t>
            </a:r>
            <a:r>
              <a:rPr lang="en-US" dirty="0"/>
              <a:t>energy </a:t>
            </a:r>
            <a:r>
              <a:rPr lang="en-US" dirty="0" smtClean="0"/>
              <a:t>applications owing </a:t>
            </a:r>
            <a:r>
              <a:rPr lang="en-US" dirty="0"/>
              <a:t>to:   </a:t>
            </a:r>
            <a:endParaRPr lang="en-US" dirty="0" smtClean="0"/>
          </a:p>
          <a:p>
            <a:pPr lvl="1"/>
            <a:r>
              <a:rPr lang="en-US" sz="2000" dirty="0" smtClean="0"/>
              <a:t>Structural </a:t>
            </a:r>
            <a:r>
              <a:rPr lang="en-US" sz="2000" dirty="0"/>
              <a:t>simplicity   </a:t>
            </a:r>
            <a:endParaRPr lang="en-US" sz="2000" dirty="0" smtClean="0"/>
          </a:p>
          <a:p>
            <a:pPr lvl="1"/>
            <a:r>
              <a:rPr lang="en-US" sz="2000" dirty="0" smtClean="0"/>
              <a:t>Minimal </a:t>
            </a:r>
            <a:r>
              <a:rPr lang="en-US" sz="2000" dirty="0"/>
              <a:t>component requirements </a:t>
            </a:r>
            <a:endParaRPr lang="en-US" sz="2000" dirty="0" smtClean="0"/>
          </a:p>
          <a:p>
            <a:pPr lvl="1"/>
            <a:r>
              <a:rPr lang="en-US" sz="2000" dirty="0" smtClean="0"/>
              <a:t>Simple to control</a:t>
            </a:r>
          </a:p>
          <a:p>
            <a:pPr lvl="1"/>
            <a:r>
              <a:rPr lang="en-US" sz="2000" dirty="0" smtClean="0"/>
              <a:t>Minimal cost</a:t>
            </a:r>
          </a:p>
          <a:p>
            <a:pPr marL="0" indent="0">
              <a:buNone/>
            </a:pPr>
            <a:r>
              <a:rPr lang="en-US" b="1" dirty="0" smtClean="0"/>
              <a:t>Reliability</a:t>
            </a:r>
            <a:r>
              <a:rPr lang="en-US" dirty="0" smtClean="0"/>
              <a:t> </a:t>
            </a:r>
            <a:r>
              <a:rPr lang="en-US" dirty="0"/>
              <a:t>remains a critical </a:t>
            </a:r>
            <a:r>
              <a:rPr lang="en-US" dirty="0" smtClean="0"/>
              <a:t>concern </a:t>
            </a:r>
            <a:r>
              <a:rPr lang="en-US" dirty="0"/>
              <a:t>for sustainable power conversion </a:t>
            </a:r>
            <a:r>
              <a:rPr lang="en-US" dirty="0" smtClean="0"/>
              <a:t>systems. </a:t>
            </a:r>
          </a:p>
          <a:p>
            <a:pPr marL="0" indent="0">
              <a:buNone/>
            </a:pPr>
            <a:r>
              <a:rPr lang="en-US" dirty="0" smtClean="0"/>
              <a:t>Extending the </a:t>
            </a:r>
            <a:r>
              <a:rPr lang="en-US" b="1" dirty="0" smtClean="0"/>
              <a:t>lifespan</a:t>
            </a:r>
            <a:r>
              <a:rPr lang="en-US" dirty="0" smtClean="0"/>
              <a:t> of the system is crucial at this point. </a:t>
            </a:r>
            <a:endParaRPr lang="sv-SE"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5315" y="4051503"/>
            <a:ext cx="3894663" cy="2442315"/>
          </a:xfrm>
          <a:prstGeom prst="rect">
            <a:avLst/>
          </a:prstGeom>
        </p:spPr>
      </p:pic>
    </p:spTree>
    <p:extLst>
      <p:ext uri="{BB962C8B-B14F-4D97-AF65-F5344CB8AC3E}">
        <p14:creationId xmlns:p14="http://schemas.microsoft.com/office/powerpoint/2010/main" val="2461530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DC-Link Capacitor: A Key Reliability Bottleneck</a:t>
            </a:r>
            <a:endParaRPr lang="sv-SE" dirty="0"/>
          </a:p>
        </p:txBody>
      </p:sp>
      <p:sp>
        <p:nvSpPr>
          <p:cNvPr id="3" name="Content Placeholder 2"/>
          <p:cNvSpPr>
            <a:spLocks noGrp="1"/>
          </p:cNvSpPr>
          <p:nvPr>
            <p:ph idx="1"/>
          </p:nvPr>
        </p:nvSpPr>
        <p:spPr>
          <a:xfrm>
            <a:off x="600075" y="1044145"/>
            <a:ext cx="7036401" cy="2940909"/>
          </a:xfrm>
        </p:spPr>
        <p:txBody>
          <a:bodyPr/>
          <a:lstStyle/>
          <a:p>
            <a:pPr marL="0" indent="0">
              <a:buNone/>
            </a:pPr>
            <a:r>
              <a:rPr lang="en-US" dirty="0" smtClean="0"/>
              <a:t>Functions</a:t>
            </a:r>
            <a:r>
              <a:rPr lang="en-US" dirty="0"/>
              <a:t>:    </a:t>
            </a:r>
            <a:endParaRPr lang="en-US" dirty="0" smtClean="0"/>
          </a:p>
          <a:p>
            <a:pPr lvl="1"/>
            <a:r>
              <a:rPr lang="en-US" sz="2000" dirty="0" smtClean="0"/>
              <a:t>Stabilizes </a:t>
            </a:r>
            <a:r>
              <a:rPr lang="en-US" sz="2000" dirty="0"/>
              <a:t>DC bus voltage    </a:t>
            </a:r>
            <a:endParaRPr lang="en-US" sz="2000" dirty="0" smtClean="0"/>
          </a:p>
          <a:p>
            <a:pPr lvl="1"/>
            <a:r>
              <a:rPr lang="en-US" sz="2000" dirty="0" smtClean="0"/>
              <a:t>Suppresses switching-induced fluctuations </a:t>
            </a:r>
            <a:r>
              <a:rPr lang="en-US" sz="2000" dirty="0"/>
              <a:t>and </a:t>
            </a:r>
            <a:r>
              <a:rPr lang="en-US" sz="2000" dirty="0" smtClean="0"/>
              <a:t>parasitic oscillations</a:t>
            </a:r>
          </a:p>
          <a:p>
            <a:pPr marL="0" indent="0">
              <a:buNone/>
            </a:pPr>
            <a:r>
              <a:rPr lang="en-US" dirty="0"/>
              <a:t>Accounts for </a:t>
            </a:r>
            <a:r>
              <a:rPr lang="en-US" b="1" dirty="0"/>
              <a:t>~20% </a:t>
            </a:r>
            <a:r>
              <a:rPr lang="en-US" dirty="0"/>
              <a:t>of all VSI</a:t>
            </a:r>
            <a:r>
              <a:rPr lang="en-US" b="1" dirty="0"/>
              <a:t> failures</a:t>
            </a:r>
            <a:r>
              <a:rPr lang="en-US" dirty="0"/>
              <a:t>.  </a:t>
            </a:r>
            <a:endParaRPr lang="en-US" dirty="0" smtClean="0"/>
          </a:p>
          <a:p>
            <a:pPr marL="0" indent="0">
              <a:buNone/>
            </a:pPr>
            <a:r>
              <a:rPr lang="en-US" dirty="0" smtClean="0"/>
              <a:t>Degradation </a:t>
            </a:r>
            <a:r>
              <a:rPr lang="en-US" dirty="0"/>
              <a:t>impacts system </a:t>
            </a:r>
            <a:r>
              <a:rPr lang="en-US" b="1" dirty="0" smtClean="0"/>
              <a:t>longevity</a:t>
            </a:r>
            <a:r>
              <a:rPr lang="en-US" dirty="0" smtClean="0"/>
              <a:t>.</a:t>
            </a:r>
            <a:endParaRPr lang="en-US" dirty="0"/>
          </a:p>
          <a:p>
            <a:pPr marL="0" indent="0">
              <a:buNone/>
            </a:pPr>
            <a:r>
              <a:rPr lang="en-US" dirty="0" smtClean="0"/>
              <a:t>DC-link </a:t>
            </a:r>
            <a:r>
              <a:rPr lang="en-US" dirty="0"/>
              <a:t>current </a:t>
            </a:r>
            <a:r>
              <a:rPr lang="en-US" dirty="0" smtClean="0"/>
              <a:t>harmonics </a:t>
            </a:r>
            <a:r>
              <a:rPr lang="en-US" dirty="0"/>
              <a:t>influence </a:t>
            </a:r>
            <a:r>
              <a:rPr lang="en-US" b="1" dirty="0"/>
              <a:t>thermal stress</a:t>
            </a:r>
            <a:r>
              <a:rPr lang="en-US" dirty="0"/>
              <a:t>, affecting capacitor lifespan. </a:t>
            </a:r>
            <a:endParaRPr lang="sv-SE" dirty="0"/>
          </a:p>
        </p:txBody>
      </p:sp>
      <p:pic>
        <p:nvPicPr>
          <p:cNvPr id="4" name="Picture 3"/>
          <p:cNvPicPr>
            <a:picLocks noChangeAspect="1"/>
          </p:cNvPicPr>
          <p:nvPr/>
        </p:nvPicPr>
        <p:blipFill rotWithShape="1">
          <a:blip r:embed="rId2"/>
          <a:srcRect t="11493"/>
          <a:stretch/>
        </p:blipFill>
        <p:spPr>
          <a:xfrm>
            <a:off x="1017616" y="4085967"/>
            <a:ext cx="3372387" cy="690176"/>
          </a:xfrm>
          <a:prstGeom prst="rect">
            <a:avLst/>
          </a:prstGeom>
        </p:spPr>
      </p:pic>
      <p:pic>
        <p:nvPicPr>
          <p:cNvPr id="5" name="Picture 4"/>
          <p:cNvPicPr>
            <a:picLocks noChangeAspect="1"/>
          </p:cNvPicPr>
          <p:nvPr/>
        </p:nvPicPr>
        <p:blipFill>
          <a:blip r:embed="rId3"/>
          <a:stretch>
            <a:fillRect/>
          </a:stretch>
        </p:blipFill>
        <p:spPr>
          <a:xfrm>
            <a:off x="400247" y="4830107"/>
            <a:ext cx="4318301" cy="571444"/>
          </a:xfrm>
          <a:prstGeom prst="rect">
            <a:avLst/>
          </a:prstGeom>
        </p:spPr>
      </p:pic>
      <p:pic>
        <p:nvPicPr>
          <p:cNvPr id="6" name="Picture 5"/>
          <p:cNvPicPr>
            <a:picLocks noChangeAspect="1"/>
          </p:cNvPicPr>
          <p:nvPr/>
        </p:nvPicPr>
        <p:blipFill>
          <a:blip r:embed="rId4"/>
          <a:stretch>
            <a:fillRect/>
          </a:stretch>
        </p:blipFill>
        <p:spPr>
          <a:xfrm>
            <a:off x="763294" y="5621196"/>
            <a:ext cx="3626709" cy="745623"/>
          </a:xfrm>
          <a:prstGeom prst="rect">
            <a:avLst/>
          </a:prstGeom>
        </p:spPr>
      </p:pic>
      <p:sp>
        <p:nvSpPr>
          <p:cNvPr id="7" name="Rectangle 6"/>
          <p:cNvSpPr/>
          <p:nvPr/>
        </p:nvSpPr>
        <p:spPr>
          <a:xfrm>
            <a:off x="5301435" y="4034647"/>
            <a:ext cx="6180323" cy="2585323"/>
          </a:xfrm>
          <a:prstGeom prst="rect">
            <a:avLst/>
          </a:prstGeom>
        </p:spPr>
        <p:txBody>
          <a:bodyPr wrap="square">
            <a:spAutoFit/>
          </a:bodyPr>
          <a:lstStyle/>
          <a:p>
            <a:pPr marL="285750" indent="-285750">
              <a:buFont typeface="Arial" panose="020B0604020202020204" pitchFamily="34" charset="0"/>
              <a:buChar char="•"/>
            </a:pPr>
            <a:r>
              <a:rPr lang="en-US" dirty="0"/>
              <a:t>Capacitor lifetime improves with lower </a:t>
            </a:r>
            <a:r>
              <a:rPr lang="en-US" b="1" dirty="0"/>
              <a:t>hot-spot temperatures</a:t>
            </a:r>
            <a:r>
              <a:rPr lang="en-US" b="1"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Hot-spot temperature depends on power losses, which decrease when the </a:t>
            </a:r>
            <a:r>
              <a:rPr lang="en-US" b="1" dirty="0"/>
              <a:t>RMS value </a:t>
            </a:r>
            <a:r>
              <a:rPr lang="en-US" dirty="0"/>
              <a:t>of the </a:t>
            </a:r>
            <a:r>
              <a:rPr lang="en-US" b="1" dirty="0"/>
              <a:t>capacitor current </a:t>
            </a:r>
            <a:r>
              <a:rPr lang="en-US" dirty="0"/>
              <a:t>is reduced</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Therefore, </a:t>
            </a:r>
            <a:r>
              <a:rPr lang="en-US" b="1" dirty="0"/>
              <a:t>minimizing</a:t>
            </a:r>
            <a:r>
              <a:rPr lang="en-US" dirty="0"/>
              <a:t> the capacitor's </a:t>
            </a:r>
            <a:r>
              <a:rPr lang="en-US" b="1" dirty="0"/>
              <a:t>ripple</a:t>
            </a:r>
            <a:r>
              <a:rPr lang="en-US" dirty="0"/>
              <a:t> current helps </a:t>
            </a:r>
            <a:r>
              <a:rPr lang="en-US" b="1" dirty="0"/>
              <a:t>extend</a:t>
            </a:r>
            <a:r>
              <a:rPr lang="en-US" dirty="0"/>
              <a:t> its </a:t>
            </a:r>
            <a:r>
              <a:rPr lang="en-US" b="1" dirty="0"/>
              <a:t>lifespan</a:t>
            </a:r>
            <a:r>
              <a:rPr lang="en-US" dirty="0"/>
              <a:t>.</a:t>
            </a:r>
          </a:p>
        </p:txBody>
      </p:sp>
      <p:pic>
        <p:nvPicPr>
          <p:cNvPr id="8" name="Picture 7">
            <a:extLst>
              <a:ext uri="{FF2B5EF4-FFF2-40B4-BE49-F238E27FC236}">
                <a16:creationId xmlns:a16="http://schemas.microsoft.com/office/drawing/2014/main" id="{AE137606-0038-4161-A922-143AD7681AB4}"/>
              </a:ext>
            </a:extLst>
          </p:cNvPr>
          <p:cNvPicPr>
            <a:picLocks noChangeAspect="1"/>
          </p:cNvPicPr>
          <p:nvPr/>
        </p:nvPicPr>
        <p:blipFill rotWithShape="1">
          <a:blip r:embed="rId5"/>
          <a:srcRect t="9374"/>
          <a:stretch/>
        </p:blipFill>
        <p:spPr>
          <a:xfrm>
            <a:off x="6933105" y="1576557"/>
            <a:ext cx="4414903" cy="1876084"/>
          </a:xfrm>
          <a:prstGeom prst="rect">
            <a:avLst/>
          </a:prstGeom>
        </p:spPr>
      </p:pic>
    </p:spTree>
    <p:extLst>
      <p:ext uri="{BB962C8B-B14F-4D97-AF65-F5344CB8AC3E}">
        <p14:creationId xmlns:p14="http://schemas.microsoft.com/office/powerpoint/2010/main" val="3022069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Reducing </a:t>
            </a:r>
            <a:r>
              <a:rPr lang="en-US" dirty="0"/>
              <a:t>Current Ripple &amp; Stress</a:t>
            </a:r>
            <a:endParaRPr lang="sv-SE" dirty="0"/>
          </a:p>
        </p:txBody>
      </p:sp>
      <p:sp>
        <p:nvSpPr>
          <p:cNvPr id="3" name="Content Placeholder 2"/>
          <p:cNvSpPr>
            <a:spLocks noGrp="1"/>
          </p:cNvSpPr>
          <p:nvPr>
            <p:ph idx="1"/>
          </p:nvPr>
        </p:nvSpPr>
        <p:spPr>
          <a:xfrm>
            <a:off x="600076" y="1044146"/>
            <a:ext cx="10879352" cy="3274540"/>
          </a:xfrm>
        </p:spPr>
        <p:txBody>
          <a:bodyPr/>
          <a:lstStyle/>
          <a:p>
            <a:pPr marL="0" indent="0">
              <a:buNone/>
            </a:pPr>
            <a:r>
              <a:rPr lang="en-US" dirty="0" smtClean="0"/>
              <a:t>Advanced </a:t>
            </a:r>
            <a:r>
              <a:rPr lang="en-US" dirty="0"/>
              <a:t>modulation </a:t>
            </a:r>
            <a:r>
              <a:rPr lang="en-US" dirty="0" smtClean="0"/>
              <a:t>techniques </a:t>
            </a:r>
            <a:r>
              <a:rPr lang="en-US" dirty="0"/>
              <a:t>aim to:   </a:t>
            </a:r>
          </a:p>
          <a:p>
            <a:pPr lvl="1"/>
            <a:r>
              <a:rPr lang="en-US" sz="2000" dirty="0" smtClean="0"/>
              <a:t>Minimize </a:t>
            </a:r>
            <a:r>
              <a:rPr lang="en-US" sz="2000" dirty="0"/>
              <a:t>inverter-induced current ripple  </a:t>
            </a:r>
            <a:endParaRPr lang="en-US" sz="2000" dirty="0" smtClean="0"/>
          </a:p>
          <a:p>
            <a:pPr lvl="1"/>
            <a:r>
              <a:rPr lang="en-US" sz="2000" dirty="0" smtClean="0"/>
              <a:t>Reduce </a:t>
            </a:r>
            <a:r>
              <a:rPr lang="en-US" sz="2000" dirty="0"/>
              <a:t>DC-link current stress   </a:t>
            </a:r>
            <a:endParaRPr lang="en-US" sz="2000" dirty="0" smtClean="0"/>
          </a:p>
          <a:p>
            <a:pPr lvl="1"/>
            <a:r>
              <a:rPr lang="en-US" sz="2000" dirty="0" smtClean="0"/>
              <a:t>Maintain </a:t>
            </a:r>
            <a:r>
              <a:rPr lang="en-US" sz="2000" dirty="0"/>
              <a:t>system performance &amp; durability  </a:t>
            </a:r>
            <a:endParaRPr lang="en-US" sz="2000" dirty="0" smtClean="0"/>
          </a:p>
          <a:p>
            <a:pPr marL="0" indent="0">
              <a:buNone/>
            </a:pPr>
            <a:r>
              <a:rPr lang="en-US" b="1" dirty="0" smtClean="0"/>
              <a:t>Interleaving</a:t>
            </a:r>
            <a:r>
              <a:rPr lang="en-US" dirty="0" smtClean="0"/>
              <a:t> techniques </a:t>
            </a:r>
            <a:r>
              <a:rPr lang="en-US" dirty="0"/>
              <a:t>modify </a:t>
            </a:r>
            <a:r>
              <a:rPr lang="en-US" dirty="0" smtClean="0"/>
              <a:t>carrier </a:t>
            </a:r>
            <a:r>
              <a:rPr lang="en-US" dirty="0"/>
              <a:t>phase-shift </a:t>
            </a:r>
            <a:r>
              <a:rPr lang="en-US" dirty="0" smtClean="0"/>
              <a:t>relationships </a:t>
            </a:r>
            <a:r>
              <a:rPr lang="en-US" dirty="0"/>
              <a:t>to reduce stress</a:t>
            </a:r>
            <a:r>
              <a:rPr lang="en-US" dirty="0" smtClean="0"/>
              <a:t>.</a:t>
            </a:r>
          </a:p>
          <a:p>
            <a:pPr marL="0" indent="0">
              <a:buNone/>
            </a:pPr>
            <a:r>
              <a:rPr lang="en-US" dirty="0"/>
              <a:t>Primarily applied in </a:t>
            </a:r>
            <a:r>
              <a:rPr lang="en-US" b="1" dirty="0"/>
              <a:t>multi-converter systems</a:t>
            </a:r>
            <a:r>
              <a:rPr lang="en-US" dirty="0"/>
              <a:t>, such as: </a:t>
            </a:r>
          </a:p>
          <a:p>
            <a:pPr lvl="1"/>
            <a:r>
              <a:rPr lang="en-US" sz="2000" dirty="0"/>
              <a:t>Dual-inverter architectures </a:t>
            </a:r>
            <a:r>
              <a:rPr lang="en-US" sz="2000" dirty="0" smtClean="0"/>
              <a:t>(e.g. Segmented motor drives)   </a:t>
            </a:r>
            <a:endParaRPr lang="en-US" sz="2000" dirty="0"/>
          </a:p>
          <a:p>
            <a:pPr lvl="1"/>
            <a:r>
              <a:rPr lang="en-US" sz="2000" dirty="0"/>
              <a:t>Systems with integrated front-end converters  for DC-link regulation  </a:t>
            </a:r>
          </a:p>
          <a:p>
            <a:pPr marL="0" indent="0">
              <a:buNone/>
            </a:pPr>
            <a:r>
              <a:rPr lang="en-US" dirty="0" smtClean="0"/>
              <a:t> </a:t>
            </a:r>
            <a:endParaRPr lang="sv-SE" dirty="0"/>
          </a:p>
        </p:txBody>
      </p:sp>
      <p:pic>
        <p:nvPicPr>
          <p:cNvPr id="4" name="Picture 3">
            <a:extLst>
              <a:ext uri="{FF2B5EF4-FFF2-40B4-BE49-F238E27FC236}">
                <a16:creationId xmlns:a16="http://schemas.microsoft.com/office/drawing/2014/main" id="{3DFFF436-23DF-49E5-9C44-CB917E970CFB}"/>
              </a:ext>
            </a:extLst>
          </p:cNvPr>
          <p:cNvPicPr>
            <a:picLocks noChangeAspect="1"/>
          </p:cNvPicPr>
          <p:nvPr/>
        </p:nvPicPr>
        <p:blipFill>
          <a:blip r:embed="rId2"/>
          <a:stretch>
            <a:fillRect/>
          </a:stretch>
        </p:blipFill>
        <p:spPr>
          <a:xfrm>
            <a:off x="1695451" y="4230390"/>
            <a:ext cx="3720304" cy="2215889"/>
          </a:xfrm>
          <a:prstGeom prst="rect">
            <a:avLst/>
          </a:prstGeom>
        </p:spPr>
      </p:pic>
      <p:pic>
        <p:nvPicPr>
          <p:cNvPr id="5" name="Picture 4"/>
          <p:cNvPicPr>
            <a:picLocks noChangeAspect="1"/>
          </p:cNvPicPr>
          <p:nvPr/>
        </p:nvPicPr>
        <p:blipFill>
          <a:blip r:embed="rId3"/>
          <a:stretch>
            <a:fillRect/>
          </a:stretch>
        </p:blipFill>
        <p:spPr>
          <a:xfrm>
            <a:off x="6164134" y="4230390"/>
            <a:ext cx="3052078" cy="2337504"/>
          </a:xfrm>
          <a:prstGeom prst="rect">
            <a:avLst/>
          </a:prstGeom>
        </p:spPr>
      </p:pic>
    </p:spTree>
    <p:extLst>
      <p:ext uri="{BB962C8B-B14F-4D97-AF65-F5344CB8AC3E}">
        <p14:creationId xmlns:p14="http://schemas.microsoft.com/office/powerpoint/2010/main" val="3595165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Interleaving </a:t>
            </a:r>
            <a:r>
              <a:rPr lang="en-US" dirty="0"/>
              <a:t>for Single 2L-VSI</a:t>
            </a:r>
            <a:endParaRPr lang="sv-SE" dirty="0"/>
          </a:p>
        </p:txBody>
      </p:sp>
      <p:sp>
        <p:nvSpPr>
          <p:cNvPr id="3" name="Content Placeholder 2"/>
          <p:cNvSpPr>
            <a:spLocks noGrp="1"/>
          </p:cNvSpPr>
          <p:nvPr>
            <p:ph idx="1"/>
          </p:nvPr>
        </p:nvSpPr>
        <p:spPr>
          <a:xfrm>
            <a:off x="417195" y="1035642"/>
            <a:ext cx="10990263" cy="1124466"/>
          </a:xfrm>
        </p:spPr>
        <p:txBody>
          <a:bodyPr/>
          <a:lstStyle/>
          <a:p>
            <a:pPr marL="0" indent="0">
              <a:buNone/>
            </a:pPr>
            <a:r>
              <a:rPr lang="en-US" sz="1800" dirty="0" smtClean="0"/>
              <a:t>Existing </a:t>
            </a:r>
            <a:r>
              <a:rPr lang="en-US" sz="1800" dirty="0"/>
              <a:t>Interleaving Approaches &amp; Limitations</a:t>
            </a:r>
          </a:p>
          <a:p>
            <a:pPr lvl="1"/>
            <a:r>
              <a:rPr lang="en-US" dirty="0"/>
              <a:t>Require additional </a:t>
            </a:r>
            <a:r>
              <a:rPr lang="en-US" dirty="0" smtClean="0"/>
              <a:t>switches (</a:t>
            </a:r>
            <a:r>
              <a:rPr lang="en-US" dirty="0"/>
              <a:t>pre-converters, parallel inverters)    </a:t>
            </a:r>
          </a:p>
          <a:p>
            <a:pPr lvl="1"/>
            <a:r>
              <a:rPr lang="en-US" dirty="0"/>
              <a:t>Not applicable </a:t>
            </a:r>
            <a:r>
              <a:rPr lang="en-US" dirty="0" smtClean="0"/>
              <a:t>for several applications that aim to achieve a cost-effective </a:t>
            </a:r>
            <a:r>
              <a:rPr lang="en-US" dirty="0"/>
              <a:t>solution</a:t>
            </a:r>
            <a:r>
              <a:rPr lang="en-US" dirty="0" smtClean="0"/>
              <a:t>. </a:t>
            </a:r>
            <a:endParaRPr lang="sv-SE" dirty="0"/>
          </a:p>
          <a:p>
            <a:pPr marL="457200" lvl="1" indent="0">
              <a:buNone/>
            </a:pPr>
            <a:endParaRPr lang="sv-SE" sz="2400" dirty="0"/>
          </a:p>
        </p:txBody>
      </p:sp>
      <p:sp>
        <p:nvSpPr>
          <p:cNvPr id="4" name="Rectangle 3"/>
          <p:cNvSpPr/>
          <p:nvPr/>
        </p:nvSpPr>
        <p:spPr>
          <a:xfrm>
            <a:off x="441253" y="3095971"/>
            <a:ext cx="5013277" cy="2339102"/>
          </a:xfrm>
          <a:prstGeom prst="rect">
            <a:avLst/>
          </a:prstGeom>
        </p:spPr>
        <p:txBody>
          <a:bodyPr wrap="square">
            <a:spAutoFit/>
          </a:bodyPr>
          <a:lstStyle/>
          <a:p>
            <a:r>
              <a:rPr lang="en-US" dirty="0" smtClean="0"/>
              <a:t>We propose a novel interleaving between the phase legs of a single two-level VSI. </a:t>
            </a:r>
          </a:p>
          <a:p>
            <a:r>
              <a:rPr lang="en-US" dirty="0" smtClean="0"/>
              <a:t>Challenges:   </a:t>
            </a:r>
          </a:p>
          <a:p>
            <a:pPr marL="800100" lvl="1" indent="-342900">
              <a:buFont typeface="Arial" panose="020B0604020202020204" pitchFamily="34" charset="0"/>
              <a:buChar char="•"/>
            </a:pPr>
            <a:r>
              <a:rPr lang="en-US" b="1" dirty="0" smtClean="0"/>
              <a:t>Time-varying</a:t>
            </a:r>
            <a:r>
              <a:rPr lang="en-US" dirty="0" smtClean="0"/>
              <a:t> leg currents complicate implementation.</a:t>
            </a:r>
          </a:p>
          <a:p>
            <a:pPr marL="800100" lvl="1" indent="-342900">
              <a:buFont typeface="Arial" panose="020B0604020202020204" pitchFamily="34" charset="0"/>
              <a:buChar char="•"/>
            </a:pPr>
            <a:r>
              <a:rPr lang="en-US" dirty="0" smtClean="0"/>
              <a:t>Unlike parallel systems, it requires </a:t>
            </a:r>
            <a:r>
              <a:rPr lang="en-US" b="1" dirty="0" smtClean="0"/>
              <a:t>dynamic</a:t>
            </a:r>
            <a:r>
              <a:rPr lang="en-US" dirty="0" smtClean="0"/>
              <a:t> phase adjustment.  </a:t>
            </a:r>
          </a:p>
          <a:p>
            <a:pPr>
              <a:buFontTx/>
              <a:buChar char="-"/>
            </a:pPr>
            <a:endParaRPr lang="en-US" sz="2000" dirty="0" smtClean="0"/>
          </a:p>
        </p:txBody>
      </p:sp>
      <p:pic>
        <p:nvPicPr>
          <p:cNvPr id="6" name="Picture 5"/>
          <p:cNvPicPr>
            <a:picLocks noChangeAspect="1"/>
          </p:cNvPicPr>
          <p:nvPr/>
        </p:nvPicPr>
        <p:blipFill>
          <a:blip r:embed="rId2"/>
          <a:stretch>
            <a:fillRect/>
          </a:stretch>
        </p:blipFill>
        <p:spPr>
          <a:xfrm>
            <a:off x="6020088" y="3303204"/>
            <a:ext cx="489827" cy="367371"/>
          </a:xfrm>
          <a:prstGeom prst="rect">
            <a:avLst/>
          </a:prstGeom>
        </p:spPr>
      </p:pic>
      <p:pic>
        <p:nvPicPr>
          <p:cNvPr id="7" name="Picture 6"/>
          <p:cNvPicPr>
            <a:picLocks noChangeAspect="1"/>
          </p:cNvPicPr>
          <p:nvPr/>
        </p:nvPicPr>
        <p:blipFill>
          <a:blip r:embed="rId3"/>
          <a:stretch>
            <a:fillRect/>
          </a:stretch>
        </p:blipFill>
        <p:spPr>
          <a:xfrm>
            <a:off x="6020088" y="2659428"/>
            <a:ext cx="731001" cy="548251"/>
          </a:xfrm>
          <a:prstGeom prst="rect">
            <a:avLst/>
          </a:prstGeom>
        </p:spPr>
      </p:pic>
      <p:pic>
        <p:nvPicPr>
          <p:cNvPr id="8" name="Picture 7"/>
          <p:cNvPicPr>
            <a:picLocks noChangeAspect="1"/>
          </p:cNvPicPr>
          <p:nvPr/>
        </p:nvPicPr>
        <p:blipFill>
          <a:blip r:embed="rId4"/>
          <a:stretch>
            <a:fillRect/>
          </a:stretch>
        </p:blipFill>
        <p:spPr>
          <a:xfrm>
            <a:off x="5997591" y="3761015"/>
            <a:ext cx="724303" cy="543227"/>
          </a:xfrm>
          <a:prstGeom prst="rect">
            <a:avLst/>
          </a:prstGeom>
        </p:spPr>
      </p:pic>
      <p:pic>
        <p:nvPicPr>
          <p:cNvPr id="9" name="Picture 8"/>
          <p:cNvPicPr>
            <a:picLocks noChangeAspect="1"/>
          </p:cNvPicPr>
          <p:nvPr/>
        </p:nvPicPr>
        <p:blipFill>
          <a:blip r:embed="rId5"/>
          <a:stretch>
            <a:fillRect/>
          </a:stretch>
        </p:blipFill>
        <p:spPr>
          <a:xfrm>
            <a:off x="5990103" y="4829884"/>
            <a:ext cx="714727" cy="536045"/>
          </a:xfrm>
          <a:prstGeom prst="rect">
            <a:avLst/>
          </a:prstGeom>
        </p:spPr>
      </p:pic>
      <p:cxnSp>
        <p:nvCxnSpPr>
          <p:cNvPr id="10" name="Straight Connector 9"/>
          <p:cNvCxnSpPr/>
          <p:nvPr/>
        </p:nvCxnSpPr>
        <p:spPr>
          <a:xfrm>
            <a:off x="6676949" y="2933553"/>
            <a:ext cx="5651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7777946" y="2926533"/>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7761482" y="3992106"/>
            <a:ext cx="573580" cy="134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6459364" y="3481804"/>
            <a:ext cx="291725" cy="50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6"/>
          <a:stretch>
            <a:fillRect/>
          </a:stretch>
        </p:blipFill>
        <p:spPr>
          <a:xfrm>
            <a:off x="8246550" y="4863342"/>
            <a:ext cx="508385" cy="381289"/>
          </a:xfrm>
          <a:prstGeom prst="rect">
            <a:avLst/>
          </a:prstGeom>
        </p:spPr>
      </p:pic>
      <p:pic>
        <p:nvPicPr>
          <p:cNvPr id="28" name="Picture 27"/>
          <p:cNvPicPr>
            <a:picLocks noChangeAspect="1"/>
          </p:cNvPicPr>
          <p:nvPr/>
        </p:nvPicPr>
        <p:blipFill>
          <a:blip r:embed="rId7"/>
          <a:stretch>
            <a:fillRect/>
          </a:stretch>
        </p:blipFill>
        <p:spPr>
          <a:xfrm>
            <a:off x="8274873" y="3810163"/>
            <a:ext cx="503168" cy="377376"/>
          </a:xfrm>
          <a:prstGeom prst="rect">
            <a:avLst/>
          </a:prstGeom>
        </p:spPr>
      </p:pic>
      <p:pic>
        <p:nvPicPr>
          <p:cNvPr id="29" name="Picture 28"/>
          <p:cNvPicPr>
            <a:picLocks noChangeAspect="1"/>
          </p:cNvPicPr>
          <p:nvPr/>
        </p:nvPicPr>
        <p:blipFill>
          <a:blip r:embed="rId8"/>
          <a:stretch>
            <a:fillRect/>
          </a:stretch>
        </p:blipFill>
        <p:spPr>
          <a:xfrm>
            <a:off x="8274873" y="2729636"/>
            <a:ext cx="516424" cy="387318"/>
          </a:xfrm>
          <a:prstGeom prst="rect">
            <a:avLst/>
          </a:prstGeom>
        </p:spPr>
      </p:pic>
      <p:sp>
        <p:nvSpPr>
          <p:cNvPr id="37" name="Rectangle 36"/>
          <p:cNvSpPr/>
          <p:nvPr/>
        </p:nvSpPr>
        <p:spPr>
          <a:xfrm rot="2508795">
            <a:off x="7311455" y="2756838"/>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8" name="TextBox 37"/>
          <p:cNvSpPr txBox="1"/>
          <p:nvPr/>
        </p:nvSpPr>
        <p:spPr>
          <a:xfrm>
            <a:off x="7350040" y="2741868"/>
            <a:ext cx="291941" cy="369332"/>
          </a:xfrm>
          <a:prstGeom prst="rect">
            <a:avLst/>
          </a:prstGeom>
          <a:noFill/>
          <a:ln>
            <a:noFill/>
          </a:ln>
        </p:spPr>
        <p:txBody>
          <a:bodyPr wrap="square" rtlCol="0">
            <a:spAutoFit/>
          </a:bodyPr>
          <a:lstStyle/>
          <a:p>
            <a:r>
              <a:rPr lang="en-US" dirty="0" smtClean="0"/>
              <a:t>&gt;</a:t>
            </a:r>
            <a:endParaRPr lang="sv-SE" dirty="0"/>
          </a:p>
        </p:txBody>
      </p:sp>
      <mc:AlternateContent xmlns:mc="http://schemas.openxmlformats.org/markup-compatibility/2006" xmlns:a14="http://schemas.microsoft.com/office/drawing/2010/main">
        <mc:Choice Requires="a14">
          <p:sp>
            <p:nvSpPr>
              <p:cNvPr id="47" name="Rectangle 46"/>
              <p:cNvSpPr/>
              <p:nvPr/>
            </p:nvSpPr>
            <p:spPr>
              <a:xfrm>
                <a:off x="6751089" y="3370952"/>
                <a:ext cx="193261" cy="2318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00" b="0" i="1" smtClean="0">
                              <a:solidFill>
                                <a:schemeClr val="tx1"/>
                              </a:solidFill>
                              <a:latin typeface="Cambria Math" panose="02040503050406030204" pitchFamily="18" charset="0"/>
                            </a:rPr>
                          </m:ctrlPr>
                        </m:sSubPr>
                        <m:e>
                          <m:r>
                            <a:rPr lang="en-US" sz="1000" b="0" i="1" smtClean="0">
                              <a:solidFill>
                                <a:schemeClr val="tx1"/>
                              </a:solidFill>
                              <a:latin typeface="Cambria Math" panose="02040503050406030204" pitchFamily="18" charset="0"/>
                            </a:rPr>
                            <m:t>𝜙</m:t>
                          </m:r>
                        </m:e>
                        <m:sub>
                          <m:r>
                            <a:rPr lang="en-US" sz="1000" b="0" i="1" smtClean="0">
                              <a:solidFill>
                                <a:schemeClr val="tx1"/>
                              </a:solidFill>
                              <a:latin typeface="Cambria Math" panose="02040503050406030204" pitchFamily="18" charset="0"/>
                            </a:rPr>
                            <m:t>𝐴</m:t>
                          </m:r>
                        </m:sub>
                      </m:sSub>
                    </m:oMath>
                  </m:oMathPara>
                </a14:m>
                <a:endParaRPr lang="sv-SE" sz="1000" dirty="0">
                  <a:solidFill>
                    <a:schemeClr val="tx1"/>
                  </a:solidFill>
                </a:endParaRPr>
              </a:p>
            </p:txBody>
          </p:sp>
        </mc:Choice>
        <mc:Fallback xmlns="">
          <p:sp>
            <p:nvSpPr>
              <p:cNvPr id="47" name="Rectangle 46"/>
              <p:cNvSpPr>
                <a:spLocks noRot="1" noChangeAspect="1" noMove="1" noResize="1" noEditPoints="1" noAdjustHandles="1" noChangeArrowheads="1" noChangeShapeType="1" noTextEdit="1"/>
              </p:cNvSpPr>
              <p:nvPr/>
            </p:nvSpPr>
            <p:spPr>
              <a:xfrm>
                <a:off x="6751089" y="3370952"/>
                <a:ext cx="193261" cy="231874"/>
              </a:xfrm>
              <a:prstGeom prst="rect">
                <a:avLst/>
              </a:prstGeom>
              <a:blipFill>
                <a:blip r:embed="rId9"/>
                <a:stretch>
                  <a:fillRect l="-20588" b="-2500"/>
                </a:stretch>
              </a:blipFill>
              <a:ln>
                <a:solidFill>
                  <a:schemeClr val="tx1"/>
                </a:solidFill>
              </a:ln>
            </p:spPr>
            <p:txBody>
              <a:bodyPr/>
              <a:lstStyle/>
              <a:p>
                <a:r>
                  <a:rPr lang="sv-SE">
                    <a:noFill/>
                  </a:rPr>
                  <a:t> </a:t>
                </a:r>
              </a:p>
            </p:txBody>
          </p:sp>
        </mc:Fallback>
      </mc:AlternateContent>
      <p:cxnSp>
        <p:nvCxnSpPr>
          <p:cNvPr id="49" name="Straight Connector 48"/>
          <p:cNvCxnSpPr/>
          <p:nvPr/>
        </p:nvCxnSpPr>
        <p:spPr>
          <a:xfrm flipV="1">
            <a:off x="6944350" y="3481804"/>
            <a:ext cx="580793" cy="25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7521295" y="3192167"/>
            <a:ext cx="3848" cy="289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p:nvPicPr>
        <p:blipFill>
          <a:blip r:embed="rId2"/>
          <a:stretch>
            <a:fillRect/>
          </a:stretch>
        </p:blipFill>
        <p:spPr>
          <a:xfrm>
            <a:off x="6020088" y="4406388"/>
            <a:ext cx="489827" cy="367371"/>
          </a:xfrm>
          <a:prstGeom prst="rect">
            <a:avLst/>
          </a:prstGeom>
        </p:spPr>
      </p:pic>
      <p:cxnSp>
        <p:nvCxnSpPr>
          <p:cNvPr id="58" name="Straight Connector 57"/>
          <p:cNvCxnSpPr/>
          <p:nvPr/>
        </p:nvCxnSpPr>
        <p:spPr>
          <a:xfrm flipV="1">
            <a:off x="6459364" y="4571225"/>
            <a:ext cx="291725" cy="50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ctangle 58"/>
              <p:cNvSpPr/>
              <p:nvPr/>
            </p:nvSpPr>
            <p:spPr>
              <a:xfrm>
                <a:off x="6751089" y="4460373"/>
                <a:ext cx="193261" cy="2318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00" b="0" i="1" smtClean="0">
                              <a:solidFill>
                                <a:schemeClr val="tx1"/>
                              </a:solidFill>
                              <a:latin typeface="Cambria Math" panose="02040503050406030204" pitchFamily="18" charset="0"/>
                            </a:rPr>
                          </m:ctrlPr>
                        </m:sSubPr>
                        <m:e>
                          <m:r>
                            <a:rPr lang="en-US" sz="1000" b="0" i="1" smtClean="0">
                              <a:solidFill>
                                <a:schemeClr val="tx1"/>
                              </a:solidFill>
                              <a:latin typeface="Cambria Math" panose="02040503050406030204" pitchFamily="18" charset="0"/>
                            </a:rPr>
                            <m:t>𝜙</m:t>
                          </m:r>
                        </m:e>
                        <m:sub>
                          <m:r>
                            <a:rPr lang="en-US" sz="1000" b="0" i="1" smtClean="0">
                              <a:solidFill>
                                <a:schemeClr val="tx1"/>
                              </a:solidFill>
                              <a:latin typeface="Cambria Math" panose="02040503050406030204" pitchFamily="18" charset="0"/>
                            </a:rPr>
                            <m:t>𝐵</m:t>
                          </m:r>
                        </m:sub>
                      </m:sSub>
                    </m:oMath>
                  </m:oMathPara>
                </a14:m>
                <a:endParaRPr lang="sv-SE" sz="1000" dirty="0">
                  <a:solidFill>
                    <a:schemeClr val="tx1"/>
                  </a:solidFill>
                </a:endParaRPr>
              </a:p>
            </p:txBody>
          </p:sp>
        </mc:Choice>
        <mc:Fallback xmlns="">
          <p:sp>
            <p:nvSpPr>
              <p:cNvPr id="59" name="Rectangle 58"/>
              <p:cNvSpPr>
                <a:spLocks noRot="1" noChangeAspect="1" noMove="1" noResize="1" noEditPoints="1" noAdjustHandles="1" noChangeArrowheads="1" noChangeShapeType="1" noTextEdit="1"/>
              </p:cNvSpPr>
              <p:nvPr/>
            </p:nvSpPr>
            <p:spPr>
              <a:xfrm>
                <a:off x="6751089" y="4460373"/>
                <a:ext cx="193261" cy="231874"/>
              </a:xfrm>
              <a:prstGeom prst="rect">
                <a:avLst/>
              </a:prstGeom>
              <a:blipFill>
                <a:blip r:embed="rId10"/>
                <a:stretch>
                  <a:fillRect l="-23529" b="-2500"/>
                </a:stretch>
              </a:blipFill>
              <a:ln>
                <a:solidFill>
                  <a:schemeClr val="tx1"/>
                </a:solidFill>
              </a:ln>
            </p:spPr>
            <p:txBody>
              <a:bodyPr/>
              <a:lstStyle/>
              <a:p>
                <a:r>
                  <a:rPr lang="sv-SE">
                    <a:noFill/>
                  </a:rPr>
                  <a:t> </a:t>
                </a:r>
              </a:p>
            </p:txBody>
          </p:sp>
        </mc:Fallback>
      </mc:AlternateContent>
      <p:cxnSp>
        <p:nvCxnSpPr>
          <p:cNvPr id="60" name="Straight Connector 59"/>
          <p:cNvCxnSpPr/>
          <p:nvPr/>
        </p:nvCxnSpPr>
        <p:spPr>
          <a:xfrm flipV="1">
            <a:off x="6944350" y="4571225"/>
            <a:ext cx="580793" cy="25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rot="2508795">
            <a:off x="7311454" y="3835900"/>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2" name="TextBox 61"/>
          <p:cNvSpPr txBox="1"/>
          <p:nvPr/>
        </p:nvSpPr>
        <p:spPr>
          <a:xfrm>
            <a:off x="7350039" y="3820930"/>
            <a:ext cx="291941" cy="369332"/>
          </a:xfrm>
          <a:prstGeom prst="rect">
            <a:avLst/>
          </a:prstGeom>
          <a:noFill/>
          <a:ln>
            <a:noFill/>
          </a:ln>
        </p:spPr>
        <p:txBody>
          <a:bodyPr wrap="square" rtlCol="0">
            <a:spAutoFit/>
          </a:bodyPr>
          <a:lstStyle/>
          <a:p>
            <a:r>
              <a:rPr lang="en-US" dirty="0" smtClean="0"/>
              <a:t>&gt;</a:t>
            </a:r>
            <a:endParaRPr lang="sv-SE" dirty="0"/>
          </a:p>
        </p:txBody>
      </p:sp>
      <p:cxnSp>
        <p:nvCxnSpPr>
          <p:cNvPr id="63" name="Straight Connector 62"/>
          <p:cNvCxnSpPr/>
          <p:nvPr/>
        </p:nvCxnSpPr>
        <p:spPr>
          <a:xfrm>
            <a:off x="7521295" y="4275132"/>
            <a:ext cx="3848" cy="289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6661767" y="4023844"/>
            <a:ext cx="5651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5" name="Picture 64"/>
          <p:cNvPicPr>
            <a:picLocks noChangeAspect="1"/>
          </p:cNvPicPr>
          <p:nvPr/>
        </p:nvPicPr>
        <p:blipFill>
          <a:blip r:embed="rId2"/>
          <a:stretch>
            <a:fillRect/>
          </a:stretch>
        </p:blipFill>
        <p:spPr>
          <a:xfrm>
            <a:off x="6009808" y="5446911"/>
            <a:ext cx="489827" cy="367371"/>
          </a:xfrm>
          <a:prstGeom prst="rect">
            <a:avLst/>
          </a:prstGeom>
        </p:spPr>
      </p:pic>
      <p:cxnSp>
        <p:nvCxnSpPr>
          <p:cNvPr id="66" name="Straight Connector 65"/>
          <p:cNvCxnSpPr/>
          <p:nvPr/>
        </p:nvCxnSpPr>
        <p:spPr>
          <a:xfrm flipV="1">
            <a:off x="6449084" y="5625511"/>
            <a:ext cx="291725" cy="50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Rectangle 66"/>
              <p:cNvSpPr/>
              <p:nvPr/>
            </p:nvSpPr>
            <p:spPr>
              <a:xfrm>
                <a:off x="6740809" y="5514659"/>
                <a:ext cx="193261" cy="2318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00" b="0" i="1" smtClean="0">
                              <a:solidFill>
                                <a:schemeClr val="tx1"/>
                              </a:solidFill>
                              <a:latin typeface="Cambria Math" panose="02040503050406030204" pitchFamily="18" charset="0"/>
                            </a:rPr>
                          </m:ctrlPr>
                        </m:sSubPr>
                        <m:e>
                          <m:r>
                            <a:rPr lang="en-US" sz="1000" b="0" i="1" smtClean="0">
                              <a:solidFill>
                                <a:schemeClr val="tx1"/>
                              </a:solidFill>
                              <a:latin typeface="Cambria Math" panose="02040503050406030204" pitchFamily="18" charset="0"/>
                            </a:rPr>
                            <m:t>𝜙</m:t>
                          </m:r>
                        </m:e>
                        <m:sub>
                          <m:r>
                            <a:rPr lang="en-US" sz="1000" b="0" i="1" smtClean="0">
                              <a:solidFill>
                                <a:schemeClr val="tx1"/>
                              </a:solidFill>
                              <a:latin typeface="Cambria Math" panose="02040503050406030204" pitchFamily="18" charset="0"/>
                            </a:rPr>
                            <m:t>𝐶</m:t>
                          </m:r>
                        </m:sub>
                      </m:sSub>
                    </m:oMath>
                  </m:oMathPara>
                </a14:m>
                <a:endParaRPr lang="sv-SE" sz="1000" dirty="0">
                  <a:solidFill>
                    <a:schemeClr val="tx1"/>
                  </a:solidFill>
                </a:endParaRPr>
              </a:p>
            </p:txBody>
          </p:sp>
        </mc:Choice>
        <mc:Fallback xmlns="">
          <p:sp>
            <p:nvSpPr>
              <p:cNvPr id="67" name="Rectangle 66"/>
              <p:cNvSpPr>
                <a:spLocks noRot="1" noChangeAspect="1" noMove="1" noResize="1" noEditPoints="1" noAdjustHandles="1" noChangeArrowheads="1" noChangeShapeType="1" noTextEdit="1"/>
              </p:cNvSpPr>
              <p:nvPr/>
            </p:nvSpPr>
            <p:spPr>
              <a:xfrm>
                <a:off x="6740809" y="5514659"/>
                <a:ext cx="193261" cy="231874"/>
              </a:xfrm>
              <a:prstGeom prst="rect">
                <a:avLst/>
              </a:prstGeom>
              <a:blipFill>
                <a:blip r:embed="rId11"/>
                <a:stretch>
                  <a:fillRect l="-24242" b="-2500"/>
                </a:stretch>
              </a:blipFill>
              <a:ln>
                <a:solidFill>
                  <a:schemeClr val="tx1"/>
                </a:solidFill>
              </a:ln>
            </p:spPr>
            <p:txBody>
              <a:bodyPr/>
              <a:lstStyle/>
              <a:p>
                <a:r>
                  <a:rPr lang="sv-SE">
                    <a:noFill/>
                  </a:rPr>
                  <a:t> </a:t>
                </a:r>
              </a:p>
            </p:txBody>
          </p:sp>
        </mc:Fallback>
      </mc:AlternateContent>
      <p:cxnSp>
        <p:nvCxnSpPr>
          <p:cNvPr id="68" name="Straight Connector 67"/>
          <p:cNvCxnSpPr/>
          <p:nvPr/>
        </p:nvCxnSpPr>
        <p:spPr>
          <a:xfrm flipV="1">
            <a:off x="6934070" y="5625511"/>
            <a:ext cx="580793" cy="25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7499394" y="5338337"/>
            <a:ext cx="3848" cy="289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rot="2508795">
            <a:off x="7289034" y="4890269"/>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1" name="TextBox 70"/>
          <p:cNvSpPr txBox="1"/>
          <p:nvPr/>
        </p:nvSpPr>
        <p:spPr>
          <a:xfrm>
            <a:off x="7327619" y="4875299"/>
            <a:ext cx="291941" cy="369332"/>
          </a:xfrm>
          <a:prstGeom prst="rect">
            <a:avLst/>
          </a:prstGeom>
          <a:noFill/>
          <a:ln>
            <a:noFill/>
          </a:ln>
        </p:spPr>
        <p:txBody>
          <a:bodyPr wrap="square" rtlCol="0">
            <a:spAutoFit/>
          </a:bodyPr>
          <a:lstStyle/>
          <a:p>
            <a:r>
              <a:rPr lang="en-US" dirty="0" smtClean="0"/>
              <a:t>&gt;</a:t>
            </a:r>
            <a:endParaRPr lang="sv-SE" dirty="0"/>
          </a:p>
        </p:txBody>
      </p:sp>
      <p:cxnSp>
        <p:nvCxnSpPr>
          <p:cNvPr id="72" name="Straight Connector 71"/>
          <p:cNvCxnSpPr/>
          <p:nvPr/>
        </p:nvCxnSpPr>
        <p:spPr>
          <a:xfrm>
            <a:off x="6639347" y="5078213"/>
            <a:ext cx="5651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V="1">
            <a:off x="7731533" y="5059964"/>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5344418" y="2699931"/>
            <a:ext cx="837950" cy="461665"/>
          </a:xfrm>
          <a:prstGeom prst="rect">
            <a:avLst/>
          </a:prstGeom>
          <a:noFill/>
        </p:spPr>
        <p:txBody>
          <a:bodyPr wrap="square" rtlCol="0">
            <a:spAutoFit/>
          </a:bodyPr>
          <a:lstStyle/>
          <a:p>
            <a:pPr algn="ctr"/>
            <a:r>
              <a:rPr lang="en-US" sz="1200" dirty="0" err="1" smtClean="0"/>
              <a:t>PhA</a:t>
            </a:r>
            <a:endParaRPr lang="en-US" sz="1200" dirty="0" smtClean="0"/>
          </a:p>
          <a:p>
            <a:pPr algn="ctr"/>
            <a:r>
              <a:rPr lang="en-US" sz="1200" dirty="0" smtClean="0"/>
              <a:t>Voltage</a:t>
            </a:r>
            <a:endParaRPr lang="sv-SE" sz="1200" dirty="0"/>
          </a:p>
        </p:txBody>
      </p:sp>
      <p:pic>
        <p:nvPicPr>
          <p:cNvPr id="77" name="Picture 76"/>
          <p:cNvPicPr>
            <a:picLocks noChangeAspect="1"/>
          </p:cNvPicPr>
          <p:nvPr/>
        </p:nvPicPr>
        <p:blipFill>
          <a:blip r:embed="rId3"/>
          <a:stretch>
            <a:fillRect/>
          </a:stretch>
        </p:blipFill>
        <p:spPr>
          <a:xfrm>
            <a:off x="8295349" y="3174670"/>
            <a:ext cx="481033" cy="360775"/>
          </a:xfrm>
          <a:prstGeom prst="rect">
            <a:avLst/>
          </a:prstGeom>
        </p:spPr>
      </p:pic>
      <p:sp>
        <p:nvSpPr>
          <p:cNvPr id="78" name="TextBox 77"/>
          <p:cNvSpPr txBox="1"/>
          <p:nvPr/>
        </p:nvSpPr>
        <p:spPr>
          <a:xfrm>
            <a:off x="8060528" y="2423779"/>
            <a:ext cx="1098662" cy="276999"/>
          </a:xfrm>
          <a:prstGeom prst="rect">
            <a:avLst/>
          </a:prstGeom>
          <a:noFill/>
        </p:spPr>
        <p:txBody>
          <a:bodyPr wrap="square" rtlCol="0">
            <a:spAutoFit/>
          </a:bodyPr>
          <a:lstStyle/>
          <a:p>
            <a:r>
              <a:rPr lang="en-US" sz="1200" dirty="0" smtClean="0"/>
              <a:t>PWM-</a:t>
            </a:r>
            <a:r>
              <a:rPr lang="en-US" sz="1200" dirty="0" err="1" smtClean="0"/>
              <a:t>phA</a:t>
            </a:r>
            <a:endParaRPr lang="sv-SE" sz="1200" dirty="0"/>
          </a:p>
        </p:txBody>
      </p:sp>
      <p:sp>
        <p:nvSpPr>
          <p:cNvPr id="79" name="TextBox 78"/>
          <p:cNvSpPr txBox="1"/>
          <p:nvPr/>
        </p:nvSpPr>
        <p:spPr>
          <a:xfrm>
            <a:off x="8078150" y="3558524"/>
            <a:ext cx="1098662" cy="276999"/>
          </a:xfrm>
          <a:prstGeom prst="rect">
            <a:avLst/>
          </a:prstGeom>
          <a:noFill/>
        </p:spPr>
        <p:txBody>
          <a:bodyPr wrap="square" rtlCol="0">
            <a:spAutoFit/>
          </a:bodyPr>
          <a:lstStyle/>
          <a:p>
            <a:r>
              <a:rPr lang="en-US" sz="1200" dirty="0" smtClean="0"/>
              <a:t>PWM-</a:t>
            </a:r>
            <a:r>
              <a:rPr lang="en-US" sz="1200" dirty="0" err="1" smtClean="0"/>
              <a:t>phB</a:t>
            </a:r>
            <a:endParaRPr lang="sv-SE" sz="1200" dirty="0"/>
          </a:p>
        </p:txBody>
      </p:sp>
      <p:sp>
        <p:nvSpPr>
          <p:cNvPr id="80" name="TextBox 79"/>
          <p:cNvSpPr txBox="1"/>
          <p:nvPr/>
        </p:nvSpPr>
        <p:spPr>
          <a:xfrm>
            <a:off x="8048272" y="4593662"/>
            <a:ext cx="1098662" cy="276999"/>
          </a:xfrm>
          <a:prstGeom prst="rect">
            <a:avLst/>
          </a:prstGeom>
          <a:noFill/>
        </p:spPr>
        <p:txBody>
          <a:bodyPr wrap="square" rtlCol="0">
            <a:spAutoFit/>
          </a:bodyPr>
          <a:lstStyle/>
          <a:p>
            <a:r>
              <a:rPr lang="en-US" sz="1200" dirty="0" smtClean="0"/>
              <a:t>PWM-</a:t>
            </a:r>
            <a:r>
              <a:rPr lang="en-US" sz="1200" dirty="0" err="1" smtClean="0"/>
              <a:t>phC</a:t>
            </a:r>
            <a:endParaRPr lang="sv-SE" sz="1200" dirty="0"/>
          </a:p>
        </p:txBody>
      </p:sp>
      <p:pic>
        <p:nvPicPr>
          <p:cNvPr id="81" name="Picture 80"/>
          <p:cNvPicPr>
            <a:picLocks noChangeAspect="1"/>
          </p:cNvPicPr>
          <p:nvPr/>
        </p:nvPicPr>
        <p:blipFill>
          <a:blip r:embed="rId4"/>
          <a:stretch>
            <a:fillRect/>
          </a:stretch>
        </p:blipFill>
        <p:spPr>
          <a:xfrm>
            <a:off x="8333634" y="4245865"/>
            <a:ext cx="433814" cy="325360"/>
          </a:xfrm>
          <a:prstGeom prst="rect">
            <a:avLst/>
          </a:prstGeom>
        </p:spPr>
      </p:pic>
      <p:pic>
        <p:nvPicPr>
          <p:cNvPr id="82" name="Picture 81"/>
          <p:cNvPicPr>
            <a:picLocks noChangeAspect="1"/>
          </p:cNvPicPr>
          <p:nvPr/>
        </p:nvPicPr>
        <p:blipFill>
          <a:blip r:embed="rId5"/>
          <a:stretch>
            <a:fillRect/>
          </a:stretch>
        </p:blipFill>
        <p:spPr>
          <a:xfrm>
            <a:off x="8285326" y="5325598"/>
            <a:ext cx="430831" cy="323123"/>
          </a:xfrm>
          <a:prstGeom prst="rect">
            <a:avLst/>
          </a:prstGeom>
        </p:spPr>
      </p:pic>
      <p:sp>
        <p:nvSpPr>
          <p:cNvPr id="83" name="TextBox 82"/>
          <p:cNvSpPr txBox="1"/>
          <p:nvPr/>
        </p:nvSpPr>
        <p:spPr>
          <a:xfrm>
            <a:off x="5310426" y="3754398"/>
            <a:ext cx="837950" cy="461665"/>
          </a:xfrm>
          <a:prstGeom prst="rect">
            <a:avLst/>
          </a:prstGeom>
          <a:noFill/>
        </p:spPr>
        <p:txBody>
          <a:bodyPr wrap="square" rtlCol="0">
            <a:spAutoFit/>
          </a:bodyPr>
          <a:lstStyle/>
          <a:p>
            <a:pPr algn="ctr"/>
            <a:r>
              <a:rPr lang="en-US" sz="1200" dirty="0" err="1" smtClean="0"/>
              <a:t>PhB</a:t>
            </a:r>
            <a:endParaRPr lang="en-US" sz="1200" dirty="0" smtClean="0"/>
          </a:p>
          <a:p>
            <a:pPr algn="ctr"/>
            <a:r>
              <a:rPr lang="en-US" sz="1200" dirty="0" smtClean="0"/>
              <a:t>Voltage</a:t>
            </a:r>
            <a:endParaRPr lang="sv-SE" sz="1200" dirty="0"/>
          </a:p>
        </p:txBody>
      </p:sp>
      <p:sp>
        <p:nvSpPr>
          <p:cNvPr id="84" name="TextBox 83"/>
          <p:cNvSpPr txBox="1"/>
          <p:nvPr/>
        </p:nvSpPr>
        <p:spPr>
          <a:xfrm>
            <a:off x="5286534" y="4853062"/>
            <a:ext cx="837950" cy="461665"/>
          </a:xfrm>
          <a:prstGeom prst="rect">
            <a:avLst/>
          </a:prstGeom>
          <a:noFill/>
        </p:spPr>
        <p:txBody>
          <a:bodyPr wrap="square" rtlCol="0">
            <a:spAutoFit/>
          </a:bodyPr>
          <a:lstStyle/>
          <a:p>
            <a:pPr algn="ctr"/>
            <a:r>
              <a:rPr lang="en-US" sz="1200" dirty="0" err="1" smtClean="0"/>
              <a:t>PhC</a:t>
            </a:r>
            <a:endParaRPr lang="en-US" sz="1200" dirty="0" smtClean="0"/>
          </a:p>
          <a:p>
            <a:pPr algn="ctr"/>
            <a:r>
              <a:rPr lang="en-US" sz="1200" dirty="0" smtClean="0"/>
              <a:t>Voltage</a:t>
            </a:r>
            <a:endParaRPr lang="sv-SE" sz="1200" dirty="0"/>
          </a:p>
        </p:txBody>
      </p:sp>
      <p:sp>
        <p:nvSpPr>
          <p:cNvPr id="85" name="TextBox 84"/>
          <p:cNvSpPr txBox="1"/>
          <p:nvPr/>
        </p:nvSpPr>
        <p:spPr>
          <a:xfrm>
            <a:off x="7612099" y="3125995"/>
            <a:ext cx="837950" cy="461665"/>
          </a:xfrm>
          <a:prstGeom prst="rect">
            <a:avLst/>
          </a:prstGeom>
          <a:noFill/>
        </p:spPr>
        <p:txBody>
          <a:bodyPr wrap="square" rtlCol="0">
            <a:spAutoFit/>
          </a:bodyPr>
          <a:lstStyle/>
          <a:p>
            <a:pPr algn="ctr"/>
            <a:r>
              <a:rPr lang="en-US" sz="1200" dirty="0" err="1" smtClean="0"/>
              <a:t>PhA</a:t>
            </a:r>
            <a:endParaRPr lang="en-US" sz="1200" dirty="0" smtClean="0"/>
          </a:p>
          <a:p>
            <a:pPr algn="ctr"/>
            <a:r>
              <a:rPr lang="en-US" sz="1200" dirty="0" smtClean="0"/>
              <a:t>Current</a:t>
            </a:r>
            <a:endParaRPr lang="sv-SE" sz="1200" dirty="0"/>
          </a:p>
        </p:txBody>
      </p:sp>
      <p:sp>
        <p:nvSpPr>
          <p:cNvPr id="86" name="TextBox 85"/>
          <p:cNvSpPr txBox="1"/>
          <p:nvPr/>
        </p:nvSpPr>
        <p:spPr>
          <a:xfrm>
            <a:off x="7626387" y="4166525"/>
            <a:ext cx="837950" cy="461665"/>
          </a:xfrm>
          <a:prstGeom prst="rect">
            <a:avLst/>
          </a:prstGeom>
          <a:noFill/>
        </p:spPr>
        <p:txBody>
          <a:bodyPr wrap="square" rtlCol="0">
            <a:spAutoFit/>
          </a:bodyPr>
          <a:lstStyle/>
          <a:p>
            <a:pPr algn="ctr"/>
            <a:r>
              <a:rPr lang="en-US" sz="1200" dirty="0" err="1" smtClean="0"/>
              <a:t>PhB</a:t>
            </a:r>
            <a:endParaRPr lang="en-US" sz="1200" dirty="0" smtClean="0"/>
          </a:p>
          <a:p>
            <a:pPr algn="ctr"/>
            <a:r>
              <a:rPr lang="en-US" sz="1200" dirty="0" smtClean="0"/>
              <a:t>Current</a:t>
            </a:r>
            <a:endParaRPr lang="sv-SE" sz="1200" dirty="0"/>
          </a:p>
        </p:txBody>
      </p:sp>
      <p:sp>
        <p:nvSpPr>
          <p:cNvPr id="87" name="TextBox 86"/>
          <p:cNvSpPr txBox="1"/>
          <p:nvPr/>
        </p:nvSpPr>
        <p:spPr>
          <a:xfrm>
            <a:off x="7582992" y="5256326"/>
            <a:ext cx="837950" cy="461665"/>
          </a:xfrm>
          <a:prstGeom prst="rect">
            <a:avLst/>
          </a:prstGeom>
          <a:noFill/>
        </p:spPr>
        <p:txBody>
          <a:bodyPr wrap="square" rtlCol="0">
            <a:spAutoFit/>
          </a:bodyPr>
          <a:lstStyle/>
          <a:p>
            <a:pPr algn="ctr"/>
            <a:r>
              <a:rPr lang="en-US" sz="1200" dirty="0" err="1" smtClean="0"/>
              <a:t>PhC</a:t>
            </a:r>
            <a:endParaRPr lang="en-US" sz="1200" dirty="0" smtClean="0"/>
          </a:p>
          <a:p>
            <a:pPr algn="ctr"/>
            <a:r>
              <a:rPr lang="en-US" sz="1200" dirty="0" smtClean="0"/>
              <a:t>Current</a:t>
            </a:r>
            <a:endParaRPr lang="sv-SE" sz="1200" dirty="0"/>
          </a:p>
        </p:txBody>
      </p:sp>
      <p:cxnSp>
        <p:nvCxnSpPr>
          <p:cNvPr id="88" name="Straight Connector 87"/>
          <p:cNvCxnSpPr/>
          <p:nvPr/>
        </p:nvCxnSpPr>
        <p:spPr>
          <a:xfrm flipV="1">
            <a:off x="8743888" y="2921428"/>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8716157" y="3334683"/>
            <a:ext cx="876705" cy="10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Rectangle 89"/>
          <p:cNvSpPr/>
          <p:nvPr/>
        </p:nvSpPr>
        <p:spPr>
          <a:xfrm rot="2508795">
            <a:off x="9394504" y="2726647"/>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1" name="TextBox 90"/>
          <p:cNvSpPr txBox="1"/>
          <p:nvPr/>
        </p:nvSpPr>
        <p:spPr>
          <a:xfrm>
            <a:off x="9433089" y="2711677"/>
            <a:ext cx="291941" cy="369332"/>
          </a:xfrm>
          <a:prstGeom prst="rect">
            <a:avLst/>
          </a:prstGeom>
          <a:noFill/>
          <a:ln>
            <a:noFill/>
          </a:ln>
        </p:spPr>
        <p:txBody>
          <a:bodyPr wrap="square" rtlCol="0">
            <a:spAutoFit/>
          </a:bodyPr>
          <a:lstStyle/>
          <a:p>
            <a:r>
              <a:rPr lang="en-US" dirty="0"/>
              <a:t>x</a:t>
            </a:r>
            <a:endParaRPr lang="sv-SE" dirty="0"/>
          </a:p>
        </p:txBody>
      </p:sp>
      <p:cxnSp>
        <p:nvCxnSpPr>
          <p:cNvPr id="93" name="Straight Connector 92"/>
          <p:cNvCxnSpPr/>
          <p:nvPr/>
        </p:nvCxnSpPr>
        <p:spPr>
          <a:xfrm flipH="1">
            <a:off x="9608972" y="3161596"/>
            <a:ext cx="4874" cy="173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V="1">
            <a:off x="8735912" y="3984831"/>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8708181" y="4398086"/>
            <a:ext cx="876705" cy="10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Rectangle 100"/>
          <p:cNvSpPr/>
          <p:nvPr/>
        </p:nvSpPr>
        <p:spPr>
          <a:xfrm rot="2508795">
            <a:off x="9386528" y="3790050"/>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2" name="TextBox 101"/>
          <p:cNvSpPr txBox="1"/>
          <p:nvPr/>
        </p:nvSpPr>
        <p:spPr>
          <a:xfrm>
            <a:off x="9425113" y="3775080"/>
            <a:ext cx="291941" cy="369332"/>
          </a:xfrm>
          <a:prstGeom prst="rect">
            <a:avLst/>
          </a:prstGeom>
          <a:noFill/>
          <a:ln>
            <a:noFill/>
          </a:ln>
        </p:spPr>
        <p:txBody>
          <a:bodyPr wrap="square" rtlCol="0">
            <a:spAutoFit/>
          </a:bodyPr>
          <a:lstStyle/>
          <a:p>
            <a:r>
              <a:rPr lang="en-US" dirty="0"/>
              <a:t>x</a:t>
            </a:r>
            <a:endParaRPr lang="sv-SE" dirty="0"/>
          </a:p>
        </p:txBody>
      </p:sp>
      <p:cxnSp>
        <p:nvCxnSpPr>
          <p:cNvPr id="103" name="Straight Connector 102"/>
          <p:cNvCxnSpPr/>
          <p:nvPr/>
        </p:nvCxnSpPr>
        <p:spPr>
          <a:xfrm flipH="1">
            <a:off x="9600996" y="4224999"/>
            <a:ext cx="4874" cy="173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V="1">
            <a:off x="8689692" y="5058643"/>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8661961" y="5471898"/>
            <a:ext cx="876705" cy="10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a:xfrm rot="2508795">
            <a:off x="9340308" y="4863862"/>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 name="TextBox 106"/>
          <p:cNvSpPr txBox="1"/>
          <p:nvPr/>
        </p:nvSpPr>
        <p:spPr>
          <a:xfrm>
            <a:off x="9378893" y="4848892"/>
            <a:ext cx="291941" cy="369332"/>
          </a:xfrm>
          <a:prstGeom prst="rect">
            <a:avLst/>
          </a:prstGeom>
          <a:noFill/>
          <a:ln>
            <a:noFill/>
          </a:ln>
        </p:spPr>
        <p:txBody>
          <a:bodyPr wrap="square" rtlCol="0">
            <a:spAutoFit/>
          </a:bodyPr>
          <a:lstStyle/>
          <a:p>
            <a:r>
              <a:rPr lang="en-US" dirty="0"/>
              <a:t>x</a:t>
            </a:r>
            <a:endParaRPr lang="sv-SE" dirty="0"/>
          </a:p>
        </p:txBody>
      </p:sp>
      <p:cxnSp>
        <p:nvCxnSpPr>
          <p:cNvPr id="108" name="Straight Connector 107"/>
          <p:cNvCxnSpPr/>
          <p:nvPr/>
        </p:nvCxnSpPr>
        <p:spPr>
          <a:xfrm flipH="1">
            <a:off x="9554776" y="5298811"/>
            <a:ext cx="4874" cy="173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V="1">
            <a:off x="9844532" y="2896342"/>
            <a:ext cx="5651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0414571" y="2896342"/>
            <a:ext cx="10751" cy="8118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Rectangle 110"/>
          <p:cNvSpPr/>
          <p:nvPr/>
        </p:nvSpPr>
        <p:spPr>
          <a:xfrm rot="2508795">
            <a:off x="10240767" y="3782720"/>
            <a:ext cx="380687" cy="3534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 name="TextBox 111"/>
          <p:cNvSpPr txBox="1"/>
          <p:nvPr/>
        </p:nvSpPr>
        <p:spPr>
          <a:xfrm>
            <a:off x="10279352" y="3767750"/>
            <a:ext cx="291941" cy="369332"/>
          </a:xfrm>
          <a:prstGeom prst="rect">
            <a:avLst/>
          </a:prstGeom>
          <a:noFill/>
          <a:ln>
            <a:noFill/>
          </a:ln>
        </p:spPr>
        <p:txBody>
          <a:bodyPr wrap="square" rtlCol="0">
            <a:spAutoFit/>
          </a:bodyPr>
          <a:lstStyle/>
          <a:p>
            <a:r>
              <a:rPr lang="en-US" dirty="0" smtClean="0"/>
              <a:t>+</a:t>
            </a:r>
            <a:endParaRPr lang="sv-SE" dirty="0"/>
          </a:p>
        </p:txBody>
      </p:sp>
      <p:cxnSp>
        <p:nvCxnSpPr>
          <p:cNvPr id="113" name="Straight Connector 112"/>
          <p:cNvCxnSpPr/>
          <p:nvPr/>
        </p:nvCxnSpPr>
        <p:spPr>
          <a:xfrm flipV="1">
            <a:off x="9810537" y="3959746"/>
            <a:ext cx="34390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flipV="1">
            <a:off x="9778760" y="5033558"/>
            <a:ext cx="673091"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a:off x="10451851" y="4233233"/>
            <a:ext cx="0" cy="8073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p:nvPr/>
        </p:nvCxnSpPr>
        <p:spPr>
          <a:xfrm>
            <a:off x="10690795" y="3951697"/>
            <a:ext cx="255752" cy="80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10929597" y="3690087"/>
            <a:ext cx="1090296" cy="523220"/>
          </a:xfrm>
          <a:prstGeom prst="rect">
            <a:avLst/>
          </a:prstGeom>
          <a:noFill/>
        </p:spPr>
        <p:txBody>
          <a:bodyPr wrap="square" rtlCol="0">
            <a:spAutoFit/>
          </a:bodyPr>
          <a:lstStyle/>
          <a:p>
            <a:r>
              <a:rPr lang="en-US" sz="1400" dirty="0" smtClean="0"/>
              <a:t>Inverter current</a:t>
            </a:r>
            <a:endParaRPr lang="sv-SE" sz="1400" dirty="0"/>
          </a:p>
        </p:txBody>
      </p:sp>
    </p:spTree>
    <p:extLst>
      <p:ext uri="{BB962C8B-B14F-4D97-AF65-F5344CB8AC3E}">
        <p14:creationId xmlns:p14="http://schemas.microsoft.com/office/powerpoint/2010/main" val="2555852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Dynamic </a:t>
            </a:r>
            <a:r>
              <a:rPr lang="en-US" dirty="0"/>
              <a:t>Variable Carrier Phase-Shift </a:t>
            </a:r>
            <a:r>
              <a:rPr lang="en-US" dirty="0" smtClean="0"/>
              <a:t>Modulation</a:t>
            </a:r>
            <a:endParaRPr lang="en-US" dirty="0"/>
          </a:p>
        </p:txBody>
      </p:sp>
      <p:sp>
        <p:nvSpPr>
          <p:cNvPr id="15" name="Rectangle 14"/>
          <p:cNvSpPr/>
          <p:nvPr/>
        </p:nvSpPr>
        <p:spPr>
          <a:xfrm>
            <a:off x="419100" y="953867"/>
            <a:ext cx="8983980" cy="707886"/>
          </a:xfrm>
          <a:prstGeom prst="rect">
            <a:avLst/>
          </a:prstGeom>
        </p:spPr>
        <p:txBody>
          <a:bodyPr wrap="square">
            <a:spAutoFit/>
          </a:bodyPr>
          <a:lstStyle/>
          <a:p>
            <a:pPr marL="800100" lvl="1" indent="-342900">
              <a:buFont typeface="Arial" panose="020B0604020202020204" pitchFamily="34" charset="0"/>
              <a:buChar char="•"/>
            </a:pPr>
            <a:r>
              <a:rPr lang="en-US" sz="2000" b="1" dirty="0"/>
              <a:t>Adaptively</a:t>
            </a:r>
            <a:r>
              <a:rPr lang="en-US" sz="2000" dirty="0"/>
              <a:t> adjusts carrier phase shifts in real-time.    </a:t>
            </a:r>
          </a:p>
          <a:p>
            <a:pPr marL="800100" lvl="1" indent="-342900">
              <a:buFont typeface="Arial" panose="020B0604020202020204" pitchFamily="34" charset="0"/>
              <a:buChar char="•"/>
            </a:pPr>
            <a:r>
              <a:rPr lang="en-US" sz="2000" dirty="0"/>
              <a:t>Optimizes current stress reduction while maintaining performance</a:t>
            </a:r>
            <a:endParaRPr lang="sv-SE" sz="2000" dirty="0"/>
          </a:p>
        </p:txBody>
      </p:sp>
      <p:pic>
        <p:nvPicPr>
          <p:cNvPr id="16" name="Picture 15"/>
          <p:cNvPicPr>
            <a:picLocks noChangeAspect="1"/>
          </p:cNvPicPr>
          <p:nvPr/>
        </p:nvPicPr>
        <p:blipFill>
          <a:blip r:embed="rId2"/>
          <a:stretch>
            <a:fillRect/>
          </a:stretch>
        </p:blipFill>
        <p:spPr>
          <a:xfrm>
            <a:off x="1380617" y="2032927"/>
            <a:ext cx="2460069" cy="1845052"/>
          </a:xfrm>
          <a:prstGeom prst="rect">
            <a:avLst/>
          </a:prstGeom>
        </p:spPr>
      </p:pic>
      <p:pic>
        <p:nvPicPr>
          <p:cNvPr id="17" name="Picture 16"/>
          <p:cNvPicPr>
            <a:picLocks noChangeAspect="1"/>
          </p:cNvPicPr>
          <p:nvPr/>
        </p:nvPicPr>
        <p:blipFill>
          <a:blip r:embed="rId3"/>
          <a:stretch>
            <a:fillRect/>
          </a:stretch>
        </p:blipFill>
        <p:spPr>
          <a:xfrm>
            <a:off x="1428544" y="4249153"/>
            <a:ext cx="2309272" cy="1731954"/>
          </a:xfrm>
          <a:prstGeom prst="rect">
            <a:avLst/>
          </a:prstGeom>
        </p:spPr>
      </p:pic>
      <p:cxnSp>
        <p:nvCxnSpPr>
          <p:cNvPr id="19" name="Straight Connector 18"/>
          <p:cNvCxnSpPr/>
          <p:nvPr/>
        </p:nvCxnSpPr>
        <p:spPr>
          <a:xfrm flipH="1">
            <a:off x="2575560" y="1958787"/>
            <a:ext cx="7620" cy="2301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659380" y="1958787"/>
            <a:ext cx="7620" cy="2301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667000" y="4260583"/>
            <a:ext cx="1524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2465070" y="4249153"/>
            <a:ext cx="110490" cy="16383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943181" y="5981107"/>
            <a:ext cx="4360339" cy="584775"/>
          </a:xfrm>
          <a:prstGeom prst="rect">
            <a:avLst/>
          </a:prstGeom>
          <a:noFill/>
        </p:spPr>
        <p:txBody>
          <a:bodyPr wrap="square" rtlCol="0">
            <a:spAutoFit/>
          </a:bodyPr>
          <a:lstStyle/>
          <a:p>
            <a:r>
              <a:rPr lang="en-US" sz="1600" dirty="0" smtClean="0"/>
              <a:t>Each operating point (switching period )</a:t>
            </a:r>
          </a:p>
          <a:p>
            <a:r>
              <a:rPr lang="en-US" sz="1600" dirty="0" smtClean="0"/>
              <a:t>duty cycles and phase currents are changing</a:t>
            </a:r>
            <a:endParaRPr lang="sv-SE" sz="1600" dirty="0"/>
          </a:p>
        </p:txBody>
      </p:sp>
      <mc:AlternateContent xmlns:mc="http://schemas.openxmlformats.org/markup-compatibility/2006" xmlns:a14="http://schemas.microsoft.com/office/drawing/2010/main">
        <mc:Choice Requires="a14">
          <p:sp>
            <p:nvSpPr>
              <p:cNvPr id="32" name="TextBox 31"/>
              <p:cNvSpPr txBox="1"/>
              <p:nvPr/>
            </p:nvSpPr>
            <p:spPr>
              <a:xfrm>
                <a:off x="7360871" y="4119450"/>
                <a:ext cx="62484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oMath>
                </a14:m>
                <a:r>
                  <a:rPr lang="sv-SE" dirty="0" smtClean="0"/>
                  <a:t> </a:t>
                </a:r>
                <a:endParaRPr lang="sv-SE" dirty="0"/>
              </a:p>
            </p:txBody>
          </p:sp>
        </mc:Choice>
        <mc:Fallback xmlns="">
          <p:sp>
            <p:nvSpPr>
              <p:cNvPr id="32" name="TextBox 31"/>
              <p:cNvSpPr txBox="1">
                <a:spLocks noRot="1" noChangeAspect="1" noMove="1" noResize="1" noEditPoints="1" noAdjustHandles="1" noChangeArrowheads="1" noChangeShapeType="1" noTextEdit="1"/>
              </p:cNvSpPr>
              <p:nvPr/>
            </p:nvSpPr>
            <p:spPr>
              <a:xfrm>
                <a:off x="7360871" y="4119450"/>
                <a:ext cx="624840" cy="369332"/>
              </a:xfrm>
              <a:prstGeom prst="rect">
                <a:avLst/>
              </a:prstGeom>
              <a:blipFill>
                <a:blip r:embed="rId4"/>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8374360" y="4113854"/>
                <a:ext cx="693420" cy="39158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b="0" i="1" dirty="0" smtClean="0">
                            <a:latin typeface="Cambria Math" panose="02040503050406030204" pitchFamily="18" charset="0"/>
                          </a:rPr>
                          <m:t>𝑚𝑓</m:t>
                        </m:r>
                      </m:sub>
                    </m:sSub>
                  </m:oMath>
                </a14:m>
                <a:r>
                  <a:rPr lang="sv-SE" dirty="0" smtClean="0"/>
                  <a:t> </a:t>
                </a:r>
                <a:endParaRPr lang="sv-SE" dirty="0"/>
              </a:p>
            </p:txBody>
          </p:sp>
        </mc:Choice>
        <mc:Fallback xmlns="">
          <p:sp>
            <p:nvSpPr>
              <p:cNvPr id="33" name="TextBox 32"/>
              <p:cNvSpPr txBox="1">
                <a:spLocks noRot="1" noChangeAspect="1" noMove="1" noResize="1" noEditPoints="1" noAdjustHandles="1" noChangeArrowheads="1" noChangeShapeType="1" noTextEdit="1"/>
              </p:cNvSpPr>
              <p:nvPr/>
            </p:nvSpPr>
            <p:spPr>
              <a:xfrm>
                <a:off x="8374360" y="4113854"/>
                <a:ext cx="693420" cy="391582"/>
              </a:xfrm>
              <a:prstGeom prst="rect">
                <a:avLst/>
              </a:prstGeom>
              <a:blipFill>
                <a:blip r:embed="rId5"/>
                <a:stretch>
                  <a:fillRect r="-3540" b="-9375"/>
                </a:stretch>
              </a:blipFill>
            </p:spPr>
            <p:txBody>
              <a:bodyPr/>
              <a:lstStyle/>
              <a:p>
                <a:r>
                  <a:rPr lang="sv-SE">
                    <a:noFill/>
                  </a:rPr>
                  <a:t> </a:t>
                </a:r>
              </a:p>
            </p:txBody>
          </p:sp>
        </mc:Fallback>
      </mc:AlternateContent>
      <p:sp>
        <p:nvSpPr>
          <p:cNvPr id="37" name="TextBox 36"/>
          <p:cNvSpPr txBox="1"/>
          <p:nvPr/>
        </p:nvSpPr>
        <p:spPr>
          <a:xfrm>
            <a:off x="4977084" y="4132722"/>
            <a:ext cx="2831462" cy="369332"/>
          </a:xfrm>
          <a:prstGeom prst="rect">
            <a:avLst/>
          </a:prstGeom>
          <a:noFill/>
        </p:spPr>
        <p:txBody>
          <a:bodyPr wrap="square" rtlCol="0">
            <a:spAutoFit/>
          </a:bodyPr>
          <a:lstStyle/>
          <a:p>
            <a:r>
              <a:rPr lang="en-US" b="1" dirty="0" smtClean="0"/>
              <a:t>Operating condition</a:t>
            </a:r>
            <a:endParaRPr lang="sv-SE" b="1" dirty="0"/>
          </a:p>
        </p:txBody>
      </p:sp>
      <p:sp>
        <p:nvSpPr>
          <p:cNvPr id="38" name="TextBox 37"/>
          <p:cNvSpPr txBox="1"/>
          <p:nvPr/>
        </p:nvSpPr>
        <p:spPr>
          <a:xfrm>
            <a:off x="5028945" y="4502054"/>
            <a:ext cx="2331926" cy="369332"/>
          </a:xfrm>
          <a:prstGeom prst="rect">
            <a:avLst/>
          </a:prstGeom>
          <a:noFill/>
        </p:spPr>
        <p:txBody>
          <a:bodyPr wrap="square" rtlCol="0">
            <a:spAutoFit/>
          </a:bodyPr>
          <a:lstStyle/>
          <a:p>
            <a:r>
              <a:rPr lang="en-US" b="1" dirty="0" smtClean="0"/>
              <a:t>Fundamental Phase</a:t>
            </a:r>
            <a:endParaRPr lang="sv-SE" b="1" dirty="0"/>
          </a:p>
        </p:txBody>
      </p:sp>
      <mc:AlternateContent xmlns:mc="http://schemas.openxmlformats.org/markup-compatibility/2006" xmlns:a14="http://schemas.microsoft.com/office/drawing/2010/main">
        <mc:Choice Requires="a14">
          <p:sp>
            <p:nvSpPr>
              <p:cNvPr id="39" name="TextBox 38"/>
              <p:cNvSpPr txBox="1"/>
              <p:nvPr/>
            </p:nvSpPr>
            <p:spPr>
              <a:xfrm>
                <a:off x="7400905" y="4507650"/>
                <a:ext cx="624840" cy="369332"/>
              </a:xfrm>
              <a:prstGeom prst="rect">
                <a:avLst/>
              </a:prstGeom>
              <a:noFill/>
            </p:spPr>
            <p:txBody>
              <a:bodyPr wrap="square" rtlCol="0">
                <a:spAutoFit/>
              </a:bodyPr>
              <a:lstStyle/>
              <a:p>
                <a14:m>
                  <m:oMath xmlns:m="http://schemas.openxmlformats.org/officeDocument/2006/math">
                    <m:r>
                      <a:rPr lang="en-US" b="0" i="1" dirty="0" smtClean="0">
                        <a:latin typeface="Cambria Math" panose="02040503050406030204" pitchFamily="18" charset="0"/>
                      </a:rPr>
                      <m:t>0</m:t>
                    </m:r>
                  </m:oMath>
                </a14:m>
                <a:r>
                  <a:rPr lang="sv-SE" dirty="0" smtClean="0"/>
                  <a:t> </a:t>
                </a:r>
                <a:endParaRPr lang="sv-SE" dirty="0"/>
              </a:p>
            </p:txBody>
          </p:sp>
        </mc:Choice>
        <mc:Fallback xmlns="">
          <p:sp>
            <p:nvSpPr>
              <p:cNvPr id="39" name="TextBox 38"/>
              <p:cNvSpPr txBox="1">
                <a:spLocks noRot="1" noChangeAspect="1" noMove="1" noResize="1" noEditPoints="1" noAdjustHandles="1" noChangeArrowheads="1" noChangeShapeType="1" noTextEdit="1"/>
              </p:cNvSpPr>
              <p:nvPr/>
            </p:nvSpPr>
            <p:spPr>
              <a:xfrm>
                <a:off x="7400905" y="4507650"/>
                <a:ext cx="624840" cy="369332"/>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8414394" y="4502054"/>
                <a:ext cx="69342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2</m:t>
                    </m:r>
                    <m:r>
                      <a:rPr lang="en-US" b="0" i="1" dirty="0" smtClean="0">
                        <a:latin typeface="Cambria Math" panose="02040503050406030204" pitchFamily="18" charset="0"/>
                      </a:rPr>
                      <m:t>𝜋</m:t>
                    </m:r>
                  </m:oMath>
                </a14:m>
                <a:r>
                  <a:rPr lang="sv-SE" dirty="0" smtClean="0"/>
                  <a:t> </a:t>
                </a:r>
                <a:endParaRPr lang="sv-SE" dirty="0"/>
              </a:p>
            </p:txBody>
          </p:sp>
        </mc:Choice>
        <mc:Fallback xmlns="">
          <p:sp>
            <p:nvSpPr>
              <p:cNvPr id="40" name="TextBox 39"/>
              <p:cNvSpPr txBox="1">
                <a:spLocks noRot="1" noChangeAspect="1" noMove="1" noResize="1" noEditPoints="1" noAdjustHandles="1" noChangeArrowheads="1" noChangeShapeType="1" noTextEdit="1"/>
              </p:cNvSpPr>
              <p:nvPr/>
            </p:nvSpPr>
            <p:spPr>
              <a:xfrm>
                <a:off x="8414394" y="4502054"/>
                <a:ext cx="693420" cy="369332"/>
              </a:xfrm>
              <a:prstGeom prst="rect">
                <a:avLst/>
              </a:prstGeom>
              <a:blipFill>
                <a:blip r:embed="rId7"/>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6196974" y="5692196"/>
                <a:ext cx="4434840" cy="557845"/>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sub>
                    </m:sSub>
                  </m:oMath>
                </a14:m>
                <a:r>
                  <a:rPr lang="en-US" dirty="0" smtClean="0"/>
                  <a:t> is the frequency ratio: </a:t>
                </a:r>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𝑠𝑤</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𝑓𝑢𝑛𝑑</m:t>
                            </m:r>
                          </m:sub>
                        </m:sSub>
                      </m:den>
                    </m:f>
                  </m:oMath>
                </a14:m>
                <a:endParaRPr lang="sv-SE" dirty="0"/>
              </a:p>
            </p:txBody>
          </p:sp>
        </mc:Choice>
        <mc:Fallback xmlns="">
          <p:sp>
            <p:nvSpPr>
              <p:cNvPr id="42" name="TextBox 41"/>
              <p:cNvSpPr txBox="1">
                <a:spLocks noRot="1" noChangeAspect="1" noMove="1" noResize="1" noEditPoints="1" noAdjustHandles="1" noChangeArrowheads="1" noChangeShapeType="1" noTextEdit="1"/>
              </p:cNvSpPr>
              <p:nvPr/>
            </p:nvSpPr>
            <p:spPr>
              <a:xfrm>
                <a:off x="6196974" y="5692196"/>
                <a:ext cx="4434840" cy="557845"/>
              </a:xfrm>
              <a:prstGeom prst="rect">
                <a:avLst/>
              </a:prstGeom>
              <a:blipFill>
                <a:blip r:embed="rId8"/>
                <a:stretch>
                  <a:fillRect b="-3297"/>
                </a:stretch>
              </a:blipFill>
            </p:spPr>
            <p:txBody>
              <a:bodyPr/>
              <a:lstStyle/>
              <a:p>
                <a:r>
                  <a:rPr lang="sv-SE">
                    <a:noFill/>
                  </a:rPr>
                  <a:t> </a:t>
                </a:r>
              </a:p>
            </p:txBody>
          </p:sp>
        </mc:Fallback>
      </mc:AlternateContent>
      <p:sp>
        <p:nvSpPr>
          <p:cNvPr id="51" name="TextBox 50"/>
          <p:cNvSpPr txBox="1"/>
          <p:nvPr/>
        </p:nvSpPr>
        <p:spPr>
          <a:xfrm>
            <a:off x="4988911" y="4943867"/>
            <a:ext cx="2331926" cy="369332"/>
          </a:xfrm>
          <a:prstGeom prst="rect">
            <a:avLst/>
          </a:prstGeom>
          <a:noFill/>
        </p:spPr>
        <p:txBody>
          <a:bodyPr wrap="square" rtlCol="0">
            <a:spAutoFit/>
          </a:bodyPr>
          <a:lstStyle/>
          <a:p>
            <a:r>
              <a:rPr lang="en-US" b="1" dirty="0" smtClean="0"/>
              <a:t>Carrier phase shift</a:t>
            </a:r>
            <a:endParaRPr lang="sv-SE" b="1" dirty="0"/>
          </a:p>
        </p:txBody>
      </p:sp>
      <mc:AlternateContent xmlns:mc="http://schemas.openxmlformats.org/markup-compatibility/2006" xmlns:a14="http://schemas.microsoft.com/office/drawing/2010/main">
        <mc:Choice Requires="a14">
          <p:sp>
            <p:nvSpPr>
              <p:cNvPr id="52" name="TextBox 51"/>
              <p:cNvSpPr txBox="1"/>
              <p:nvPr/>
            </p:nvSpPr>
            <p:spPr>
              <a:xfrm>
                <a:off x="7360871" y="4949463"/>
                <a:ext cx="62484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𝑂𝐶</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𝑂𝐶</m:t>
                        </m:r>
                        <m:r>
                          <a:rPr lang="en-US" i="1">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m:t>
                    </m:r>
                  </m:oMath>
                </a14:m>
                <a:r>
                  <a:rPr lang="sv-SE" dirty="0" smtClean="0"/>
                  <a:t> </a:t>
                </a:r>
                <a:endParaRPr lang="sv-SE" dirty="0"/>
              </a:p>
            </p:txBody>
          </p:sp>
        </mc:Choice>
        <mc:Fallback xmlns="">
          <p:sp>
            <p:nvSpPr>
              <p:cNvPr id="52" name="TextBox 51"/>
              <p:cNvSpPr txBox="1">
                <a:spLocks noRot="1" noChangeAspect="1" noMove="1" noResize="1" noEditPoints="1" noAdjustHandles="1" noChangeArrowheads="1" noChangeShapeType="1" noTextEdit="1"/>
              </p:cNvSpPr>
              <p:nvPr/>
            </p:nvSpPr>
            <p:spPr>
              <a:xfrm>
                <a:off x="7360871" y="4949463"/>
                <a:ext cx="624840" cy="369332"/>
              </a:xfrm>
              <a:prstGeom prst="rect">
                <a:avLst/>
              </a:prstGeom>
              <a:blipFill>
                <a:blip r:embed="rId9"/>
                <a:stretch>
                  <a:fillRect l="-2913" r="-212621" b="-16393"/>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5" name="Rectangle 54"/>
              <p:cNvSpPr/>
              <p:nvPr/>
            </p:nvSpPr>
            <p:spPr>
              <a:xfrm>
                <a:off x="9583041" y="4939524"/>
                <a:ext cx="2297680" cy="424155"/>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𝐵</m:t>
                        </m:r>
                        <m:r>
                          <a:rPr lang="en-US" i="1">
                            <a:latin typeface="Cambria Math" panose="02040503050406030204" pitchFamily="18" charset="0"/>
                          </a:rPr>
                          <m:t>−</m:t>
                        </m:r>
                        <m:r>
                          <a:rPr lang="en-US" i="1">
                            <a:latin typeface="Cambria Math" panose="02040503050406030204" pitchFamily="18" charset="0"/>
                          </a:rPr>
                          <m:t>𝑂</m:t>
                        </m:r>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m:t>
                        </m:r>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oMath>
                </a14:m>
                <a:r>
                  <a:rPr lang="sv-SE" dirty="0"/>
                  <a:t> </a:t>
                </a:r>
              </a:p>
            </p:txBody>
          </p:sp>
        </mc:Choice>
        <mc:Fallback xmlns="">
          <p:sp>
            <p:nvSpPr>
              <p:cNvPr id="55" name="Rectangle 54"/>
              <p:cNvSpPr>
                <a:spLocks noRot="1" noChangeAspect="1" noMove="1" noResize="1" noEditPoints="1" noAdjustHandles="1" noChangeArrowheads="1" noChangeShapeType="1" noTextEdit="1"/>
              </p:cNvSpPr>
              <p:nvPr/>
            </p:nvSpPr>
            <p:spPr>
              <a:xfrm>
                <a:off x="9583041" y="4939524"/>
                <a:ext cx="2297680" cy="424155"/>
              </a:xfrm>
              <a:prstGeom prst="rect">
                <a:avLst/>
              </a:prstGeom>
              <a:blipFill>
                <a:blip r:embed="rId10"/>
                <a:stretch>
                  <a:fillRect l="-796" b="-5714"/>
                </a:stretch>
              </a:blipFill>
            </p:spPr>
            <p:txBody>
              <a:bodyPr/>
              <a:lstStyle/>
              <a:p>
                <a:r>
                  <a:rPr lang="sv-SE">
                    <a:noFill/>
                  </a:rPr>
                  <a:t> </a:t>
                </a:r>
              </a:p>
            </p:txBody>
          </p:sp>
        </mc:Fallback>
      </mc:AlternateContent>
      <p:pic>
        <p:nvPicPr>
          <p:cNvPr id="56" name="Picture 55"/>
          <p:cNvPicPr>
            <a:picLocks noChangeAspect="1"/>
          </p:cNvPicPr>
          <p:nvPr/>
        </p:nvPicPr>
        <p:blipFill>
          <a:blip r:embed="rId11"/>
          <a:stretch>
            <a:fillRect/>
          </a:stretch>
        </p:blipFill>
        <p:spPr>
          <a:xfrm>
            <a:off x="5654041" y="1773301"/>
            <a:ext cx="2999640" cy="2050774"/>
          </a:xfrm>
          <a:prstGeom prst="rect">
            <a:avLst/>
          </a:prstGeom>
        </p:spPr>
      </p:pic>
      <p:sp>
        <p:nvSpPr>
          <p:cNvPr id="57" name="TextBox 56"/>
          <p:cNvSpPr txBox="1"/>
          <p:nvPr/>
        </p:nvSpPr>
        <p:spPr>
          <a:xfrm>
            <a:off x="7985711" y="4158646"/>
            <a:ext cx="304829" cy="369332"/>
          </a:xfrm>
          <a:prstGeom prst="rect">
            <a:avLst/>
          </a:prstGeom>
          <a:noFill/>
        </p:spPr>
        <p:txBody>
          <a:bodyPr wrap="square" rtlCol="0">
            <a:spAutoFit/>
          </a:bodyPr>
          <a:lstStyle/>
          <a:p>
            <a:r>
              <a:rPr lang="en-US" dirty="0" smtClean="0"/>
              <a:t>…</a:t>
            </a:r>
            <a:endParaRPr lang="sv-SE" dirty="0"/>
          </a:p>
        </p:txBody>
      </p:sp>
      <p:sp>
        <p:nvSpPr>
          <p:cNvPr id="58" name="TextBox 57"/>
          <p:cNvSpPr txBox="1"/>
          <p:nvPr/>
        </p:nvSpPr>
        <p:spPr>
          <a:xfrm>
            <a:off x="8011438" y="4517814"/>
            <a:ext cx="304829" cy="369332"/>
          </a:xfrm>
          <a:prstGeom prst="rect">
            <a:avLst/>
          </a:prstGeom>
          <a:noFill/>
        </p:spPr>
        <p:txBody>
          <a:bodyPr wrap="square" rtlCol="0">
            <a:spAutoFit/>
          </a:bodyPr>
          <a:lstStyle/>
          <a:p>
            <a:r>
              <a:rPr lang="en-US" dirty="0" smtClean="0"/>
              <a:t>…</a:t>
            </a:r>
            <a:endParaRPr lang="sv-SE" dirty="0"/>
          </a:p>
        </p:txBody>
      </p:sp>
      <p:sp>
        <p:nvSpPr>
          <p:cNvPr id="59" name="TextBox 58"/>
          <p:cNvSpPr txBox="1"/>
          <p:nvPr/>
        </p:nvSpPr>
        <p:spPr>
          <a:xfrm>
            <a:off x="9278212" y="4966935"/>
            <a:ext cx="304829" cy="369332"/>
          </a:xfrm>
          <a:prstGeom prst="rect">
            <a:avLst/>
          </a:prstGeom>
          <a:noFill/>
        </p:spPr>
        <p:txBody>
          <a:bodyPr wrap="square" rtlCol="0">
            <a:spAutoFit/>
          </a:bodyPr>
          <a:lstStyle/>
          <a:p>
            <a:r>
              <a:rPr lang="en-US" dirty="0" smtClean="0"/>
              <a:t>…</a:t>
            </a:r>
            <a:endParaRPr lang="sv-SE" dirty="0"/>
          </a:p>
        </p:txBody>
      </p:sp>
      <p:sp>
        <p:nvSpPr>
          <p:cNvPr id="60" name="TextBox 59"/>
          <p:cNvSpPr txBox="1"/>
          <p:nvPr/>
        </p:nvSpPr>
        <p:spPr>
          <a:xfrm>
            <a:off x="9442430" y="2475522"/>
            <a:ext cx="1924070" cy="646331"/>
          </a:xfrm>
          <a:prstGeom prst="rect">
            <a:avLst/>
          </a:prstGeom>
          <a:noFill/>
        </p:spPr>
        <p:txBody>
          <a:bodyPr wrap="square" rtlCol="0">
            <a:spAutoFit/>
          </a:bodyPr>
          <a:lstStyle/>
          <a:p>
            <a:r>
              <a:rPr lang="en-US" dirty="0" err="1" smtClean="0"/>
              <a:t>Paralel</a:t>
            </a:r>
            <a:r>
              <a:rPr lang="en-US" dirty="0" smtClean="0"/>
              <a:t> DC/DC Converters</a:t>
            </a:r>
            <a:endParaRPr lang="sv-SE" dirty="0"/>
          </a:p>
        </p:txBody>
      </p:sp>
      <p:cxnSp>
        <p:nvCxnSpPr>
          <p:cNvPr id="62" name="Straight Arrow Connector 61"/>
          <p:cNvCxnSpPr>
            <a:stCxn id="56" idx="3"/>
          </p:cNvCxnSpPr>
          <p:nvPr/>
        </p:nvCxnSpPr>
        <p:spPr>
          <a:xfrm>
            <a:off x="8653681" y="2798688"/>
            <a:ext cx="7493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80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Example of Finding Carrier Phase Shifts </a:t>
            </a:r>
            <a:endParaRPr lang="sv-SE" dirty="0"/>
          </a:p>
        </p:txBody>
      </p:sp>
      <p:pic>
        <p:nvPicPr>
          <p:cNvPr id="3" name="Picture 2"/>
          <p:cNvPicPr>
            <a:picLocks noChangeAspect="1"/>
          </p:cNvPicPr>
          <p:nvPr/>
        </p:nvPicPr>
        <p:blipFill>
          <a:blip r:embed="rId2"/>
          <a:stretch>
            <a:fillRect/>
          </a:stretch>
        </p:blipFill>
        <p:spPr>
          <a:xfrm>
            <a:off x="2203086" y="1528882"/>
            <a:ext cx="2050627" cy="1537970"/>
          </a:xfrm>
          <a:prstGeom prst="rect">
            <a:avLst/>
          </a:prstGeom>
        </p:spPr>
      </p:pic>
      <p:pic>
        <p:nvPicPr>
          <p:cNvPr id="4" name="Picture 3"/>
          <p:cNvPicPr>
            <a:picLocks noChangeAspect="1"/>
          </p:cNvPicPr>
          <p:nvPr/>
        </p:nvPicPr>
        <p:blipFill>
          <a:blip r:embed="rId3"/>
          <a:stretch>
            <a:fillRect/>
          </a:stretch>
        </p:blipFill>
        <p:spPr>
          <a:xfrm>
            <a:off x="112312" y="1555411"/>
            <a:ext cx="2072640" cy="1554480"/>
          </a:xfrm>
          <a:prstGeom prst="rect">
            <a:avLst/>
          </a:prstGeom>
        </p:spPr>
      </p:pic>
      <p:sp>
        <p:nvSpPr>
          <p:cNvPr id="5" name="TextBox 4"/>
          <p:cNvSpPr txBox="1"/>
          <p:nvPr/>
        </p:nvSpPr>
        <p:spPr>
          <a:xfrm>
            <a:off x="1148632" y="3104168"/>
            <a:ext cx="2537460" cy="646331"/>
          </a:xfrm>
          <a:prstGeom prst="rect">
            <a:avLst/>
          </a:prstGeom>
          <a:noFill/>
        </p:spPr>
        <p:txBody>
          <a:bodyPr wrap="square" rtlCol="0">
            <a:spAutoFit/>
          </a:bodyPr>
          <a:lstStyle/>
          <a:p>
            <a:r>
              <a:rPr lang="en-US" dirty="0" smtClean="0"/>
              <a:t>Power factor =1 </a:t>
            </a:r>
          </a:p>
          <a:p>
            <a:r>
              <a:rPr lang="en-US" dirty="0" smtClean="0"/>
              <a:t>Modulation index=0.8</a:t>
            </a:r>
            <a:endParaRPr lang="sv-SE" dirty="0"/>
          </a:p>
        </p:txBody>
      </p:sp>
      <p:pic>
        <p:nvPicPr>
          <p:cNvPr id="9" name="Picture 8"/>
          <p:cNvPicPr>
            <a:picLocks noChangeAspect="1"/>
          </p:cNvPicPr>
          <p:nvPr/>
        </p:nvPicPr>
        <p:blipFill>
          <a:blip r:embed="rId4"/>
          <a:stretch>
            <a:fillRect/>
          </a:stretch>
        </p:blipFill>
        <p:spPr>
          <a:xfrm>
            <a:off x="4136038" y="1555411"/>
            <a:ext cx="2710828" cy="2033121"/>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4678709" y="3624753"/>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=0</m:t>
                      </m:r>
                    </m:oMath>
                  </m:oMathPara>
                </a14:m>
                <a:endParaRPr lang="sv-SE" dirty="0"/>
              </a:p>
            </p:txBody>
          </p:sp>
        </mc:Choice>
        <mc:Fallback xmlns="">
          <p:sp>
            <p:nvSpPr>
              <p:cNvPr id="10" name="TextBox 9"/>
              <p:cNvSpPr txBox="1">
                <a:spLocks noRot="1" noChangeAspect="1" noMove="1" noResize="1" noEditPoints="1" noAdjustHandles="1" noChangeArrowheads="1" noChangeShapeType="1" noTextEdit="1"/>
              </p:cNvSpPr>
              <p:nvPr/>
            </p:nvSpPr>
            <p:spPr>
              <a:xfrm>
                <a:off x="4678709" y="3624753"/>
                <a:ext cx="1706880" cy="391582"/>
              </a:xfrm>
              <a:prstGeom prst="rect">
                <a:avLst/>
              </a:prstGeom>
              <a:blipFill>
                <a:blip r:embed="rId5"/>
                <a:stretch>
                  <a:fillRect b="-9375"/>
                </a:stretch>
              </a:blipFill>
            </p:spPr>
            <p:txBody>
              <a:bodyPr/>
              <a:lstStyle/>
              <a:p>
                <a:r>
                  <a:rPr lang="sv-SE">
                    <a:noFill/>
                  </a:rPr>
                  <a:t> </a:t>
                </a:r>
              </a:p>
            </p:txBody>
          </p:sp>
        </mc:Fallback>
      </mc:AlternateContent>
      <p:pic>
        <p:nvPicPr>
          <p:cNvPr id="11" name="Picture 10"/>
          <p:cNvPicPr>
            <a:picLocks noChangeAspect="1"/>
          </p:cNvPicPr>
          <p:nvPr/>
        </p:nvPicPr>
        <p:blipFill>
          <a:blip r:embed="rId6"/>
          <a:stretch>
            <a:fillRect/>
          </a:stretch>
        </p:blipFill>
        <p:spPr>
          <a:xfrm>
            <a:off x="6638315" y="1633227"/>
            <a:ext cx="2593153" cy="1944864"/>
          </a:xfrm>
          <a:prstGeom prst="rect">
            <a:avLst/>
          </a:prstGeom>
        </p:spPr>
      </p:pic>
      <mc:AlternateContent xmlns:mc="http://schemas.openxmlformats.org/markup-compatibility/2006" xmlns:a14="http://schemas.microsoft.com/office/drawing/2010/main">
        <mc:Choice Requires="a14">
          <p:sp>
            <p:nvSpPr>
              <p:cNvPr id="12" name="TextBox 11"/>
              <p:cNvSpPr txBox="1"/>
              <p:nvPr/>
            </p:nvSpPr>
            <p:spPr>
              <a:xfrm>
                <a:off x="7146980" y="3624753"/>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60</m:t>
                          </m:r>
                        </m:e>
                        <m:sup>
                          <m:r>
                            <a:rPr lang="en-US" b="0" i="1" smtClean="0">
                              <a:latin typeface="Cambria Math" panose="02040503050406030204" pitchFamily="18" charset="0"/>
                            </a:rPr>
                            <m:t>𝑜</m:t>
                          </m:r>
                        </m:sup>
                      </m:sSup>
                    </m:oMath>
                  </m:oMathPara>
                </a14:m>
                <a:endParaRPr lang="sv-SE" dirty="0"/>
              </a:p>
            </p:txBody>
          </p:sp>
        </mc:Choice>
        <mc:Fallback xmlns="">
          <p:sp>
            <p:nvSpPr>
              <p:cNvPr id="12" name="TextBox 11"/>
              <p:cNvSpPr txBox="1">
                <a:spLocks noRot="1" noChangeAspect="1" noMove="1" noResize="1" noEditPoints="1" noAdjustHandles="1" noChangeArrowheads="1" noChangeShapeType="1" noTextEdit="1"/>
              </p:cNvSpPr>
              <p:nvPr/>
            </p:nvSpPr>
            <p:spPr>
              <a:xfrm>
                <a:off x="7146980" y="3624753"/>
                <a:ext cx="1706880" cy="391582"/>
              </a:xfrm>
              <a:prstGeom prst="rect">
                <a:avLst/>
              </a:prstGeom>
              <a:blipFill>
                <a:blip r:embed="rId7"/>
                <a:stretch>
                  <a:fillRect b="-9375"/>
                </a:stretch>
              </a:blipFill>
            </p:spPr>
            <p:txBody>
              <a:bodyPr/>
              <a:lstStyle/>
              <a:p>
                <a:r>
                  <a:rPr lang="sv-SE">
                    <a:noFill/>
                  </a:rPr>
                  <a:t> </a:t>
                </a:r>
              </a:p>
            </p:txBody>
          </p:sp>
        </mc:Fallback>
      </mc:AlternateContent>
      <p:pic>
        <p:nvPicPr>
          <p:cNvPr id="13" name="Picture 12"/>
          <p:cNvPicPr>
            <a:picLocks noChangeAspect="1"/>
          </p:cNvPicPr>
          <p:nvPr/>
        </p:nvPicPr>
        <p:blipFill>
          <a:blip r:embed="rId8"/>
          <a:stretch>
            <a:fillRect/>
          </a:stretch>
        </p:blipFill>
        <p:spPr>
          <a:xfrm>
            <a:off x="9231468" y="1534046"/>
            <a:ext cx="2787610" cy="2090707"/>
          </a:xfrm>
          <a:prstGeom prst="rect">
            <a:avLst/>
          </a:prstGeom>
        </p:spPr>
      </p:pic>
      <mc:AlternateContent xmlns:mc="http://schemas.openxmlformats.org/markup-compatibility/2006" xmlns:a14="http://schemas.microsoft.com/office/drawing/2010/main">
        <mc:Choice Requires="a14">
          <p:sp>
            <p:nvSpPr>
              <p:cNvPr id="14" name="TextBox 13"/>
              <p:cNvSpPr txBox="1"/>
              <p:nvPr/>
            </p:nvSpPr>
            <p:spPr>
              <a:xfrm>
                <a:off x="9459621" y="3578091"/>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14" name="TextBox 13"/>
              <p:cNvSpPr txBox="1">
                <a:spLocks noRot="1" noChangeAspect="1" noMove="1" noResize="1" noEditPoints="1" noAdjustHandles="1" noChangeArrowheads="1" noChangeShapeType="1" noTextEdit="1"/>
              </p:cNvSpPr>
              <p:nvPr/>
            </p:nvSpPr>
            <p:spPr>
              <a:xfrm>
                <a:off x="9459621" y="3578091"/>
                <a:ext cx="1706880" cy="391582"/>
              </a:xfrm>
              <a:prstGeom prst="rect">
                <a:avLst/>
              </a:prstGeom>
              <a:blipFill>
                <a:blip r:embed="rId9"/>
                <a:stretch>
                  <a:fillRect b="-9375"/>
                </a:stretch>
              </a:blipFill>
            </p:spPr>
            <p:txBody>
              <a:bodyPr/>
              <a:lstStyle/>
              <a:p>
                <a:r>
                  <a:rPr lang="sv-SE">
                    <a:noFill/>
                  </a:rPr>
                  <a:t> </a:t>
                </a:r>
              </a:p>
            </p:txBody>
          </p:sp>
        </mc:Fallback>
      </mc:AlternateContent>
      <p:pic>
        <p:nvPicPr>
          <p:cNvPr id="15" name="Picture 14"/>
          <p:cNvPicPr>
            <a:picLocks noChangeAspect="1"/>
          </p:cNvPicPr>
          <p:nvPr/>
        </p:nvPicPr>
        <p:blipFill>
          <a:blip r:embed="rId10"/>
          <a:stretch>
            <a:fillRect/>
          </a:stretch>
        </p:blipFill>
        <p:spPr>
          <a:xfrm>
            <a:off x="569749" y="4237821"/>
            <a:ext cx="2772961" cy="2079721"/>
          </a:xfrm>
          <a:prstGeom prst="rect">
            <a:avLst/>
          </a:prstGeom>
        </p:spPr>
      </p:pic>
      <p:pic>
        <p:nvPicPr>
          <p:cNvPr id="16" name="Picture 15"/>
          <p:cNvPicPr>
            <a:picLocks noChangeAspect="1"/>
          </p:cNvPicPr>
          <p:nvPr/>
        </p:nvPicPr>
        <p:blipFill>
          <a:blip r:embed="rId11"/>
          <a:stretch>
            <a:fillRect/>
          </a:stretch>
        </p:blipFill>
        <p:spPr>
          <a:xfrm>
            <a:off x="3342710" y="4223092"/>
            <a:ext cx="2867010" cy="2150258"/>
          </a:xfrm>
          <a:prstGeom prst="rect">
            <a:avLst/>
          </a:prstGeom>
        </p:spPr>
      </p:pic>
      <p:pic>
        <p:nvPicPr>
          <p:cNvPr id="17" name="Picture 16"/>
          <p:cNvPicPr>
            <a:picLocks noChangeAspect="1"/>
          </p:cNvPicPr>
          <p:nvPr/>
        </p:nvPicPr>
        <p:blipFill>
          <a:blip r:embed="rId12"/>
          <a:stretch>
            <a:fillRect/>
          </a:stretch>
        </p:blipFill>
        <p:spPr>
          <a:xfrm>
            <a:off x="6239313" y="4149506"/>
            <a:ext cx="3063240" cy="2297430"/>
          </a:xfrm>
          <a:prstGeom prst="rect">
            <a:avLst/>
          </a:prstGeom>
        </p:spPr>
      </p:pic>
      <p:pic>
        <p:nvPicPr>
          <p:cNvPr id="18" name="Picture 17"/>
          <p:cNvPicPr>
            <a:picLocks noChangeAspect="1"/>
          </p:cNvPicPr>
          <p:nvPr/>
        </p:nvPicPr>
        <p:blipFill>
          <a:blip r:embed="rId13"/>
          <a:stretch>
            <a:fillRect/>
          </a:stretch>
        </p:blipFill>
        <p:spPr>
          <a:xfrm>
            <a:off x="9161691" y="4100618"/>
            <a:ext cx="3030309" cy="2272732"/>
          </a:xfrm>
          <a:prstGeom prst="rect">
            <a:avLst/>
          </a:prstGeom>
        </p:spPr>
      </p:pic>
      <mc:AlternateContent xmlns:mc="http://schemas.openxmlformats.org/markup-compatibility/2006" xmlns:a14="http://schemas.microsoft.com/office/drawing/2010/main">
        <mc:Choice Requires="a14">
          <p:sp>
            <p:nvSpPr>
              <p:cNvPr id="19" name="TextBox 18"/>
              <p:cNvSpPr txBox="1"/>
              <p:nvPr/>
            </p:nvSpPr>
            <p:spPr>
              <a:xfrm>
                <a:off x="1047604" y="6392174"/>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180</m:t>
                          </m:r>
                        </m:e>
                        <m:sup>
                          <m:r>
                            <a:rPr lang="en-US" b="0" i="1" smtClean="0">
                              <a:latin typeface="Cambria Math" panose="02040503050406030204" pitchFamily="18" charset="0"/>
                            </a:rPr>
                            <m:t>𝑜</m:t>
                          </m:r>
                        </m:sup>
                      </m:sSup>
                    </m:oMath>
                  </m:oMathPara>
                </a14:m>
                <a:endParaRPr lang="sv-SE" dirty="0"/>
              </a:p>
            </p:txBody>
          </p:sp>
        </mc:Choice>
        <mc:Fallback xmlns="">
          <p:sp>
            <p:nvSpPr>
              <p:cNvPr id="19" name="TextBox 18"/>
              <p:cNvSpPr txBox="1">
                <a:spLocks noRot="1" noChangeAspect="1" noMove="1" noResize="1" noEditPoints="1" noAdjustHandles="1" noChangeArrowheads="1" noChangeShapeType="1" noTextEdit="1"/>
              </p:cNvSpPr>
              <p:nvPr/>
            </p:nvSpPr>
            <p:spPr>
              <a:xfrm>
                <a:off x="1047604" y="6392174"/>
                <a:ext cx="1706880" cy="391582"/>
              </a:xfrm>
              <a:prstGeom prst="rect">
                <a:avLst/>
              </a:prstGeom>
              <a:blipFill>
                <a:blip r:embed="rId14"/>
                <a:stretch>
                  <a:fillRect b="-9375"/>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3873137" y="6373350"/>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=240</m:t>
                      </m:r>
                    </m:oMath>
                  </m:oMathPara>
                </a14:m>
                <a:endParaRPr lang="sv-SE" dirty="0"/>
              </a:p>
            </p:txBody>
          </p:sp>
        </mc:Choice>
        <mc:Fallback xmlns="">
          <p:sp>
            <p:nvSpPr>
              <p:cNvPr id="20" name="TextBox 19"/>
              <p:cNvSpPr txBox="1">
                <a:spLocks noRot="1" noChangeAspect="1" noMove="1" noResize="1" noEditPoints="1" noAdjustHandles="1" noChangeArrowheads="1" noChangeShapeType="1" noTextEdit="1"/>
              </p:cNvSpPr>
              <p:nvPr/>
            </p:nvSpPr>
            <p:spPr>
              <a:xfrm>
                <a:off x="3873137" y="6373350"/>
                <a:ext cx="1706880" cy="391582"/>
              </a:xfrm>
              <a:prstGeom prst="rect">
                <a:avLst/>
              </a:prstGeom>
              <a:blipFill>
                <a:blip r:embed="rId15"/>
                <a:stretch>
                  <a:fillRect b="-923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795515" y="6300033"/>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300</m:t>
                          </m:r>
                        </m:e>
                        <m:sup>
                          <m:r>
                            <a:rPr lang="en-US" b="0" i="1" smtClean="0">
                              <a:latin typeface="Cambria Math" panose="02040503050406030204" pitchFamily="18" charset="0"/>
                            </a:rPr>
                            <m:t>𝑜</m:t>
                          </m:r>
                        </m:sup>
                      </m:sSup>
                    </m:oMath>
                  </m:oMathPara>
                </a14:m>
                <a:endParaRPr lang="sv-SE" dirty="0"/>
              </a:p>
            </p:txBody>
          </p:sp>
        </mc:Choice>
        <mc:Fallback xmlns="">
          <p:sp>
            <p:nvSpPr>
              <p:cNvPr id="21" name="TextBox 20"/>
              <p:cNvSpPr txBox="1">
                <a:spLocks noRot="1" noChangeAspect="1" noMove="1" noResize="1" noEditPoints="1" noAdjustHandles="1" noChangeArrowheads="1" noChangeShapeType="1" noTextEdit="1"/>
              </p:cNvSpPr>
              <p:nvPr/>
            </p:nvSpPr>
            <p:spPr>
              <a:xfrm>
                <a:off x="6795515" y="6300033"/>
                <a:ext cx="1706880" cy="391582"/>
              </a:xfrm>
              <a:prstGeom prst="rect">
                <a:avLst/>
              </a:prstGeom>
              <a:blipFill>
                <a:blip r:embed="rId16"/>
                <a:stretch>
                  <a:fillRect b="-923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9580596" y="6253371"/>
                <a:ext cx="1706880"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𝑓𝑢𝑛𝑑</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360</m:t>
                          </m:r>
                        </m:e>
                        <m:sup>
                          <m:r>
                            <a:rPr lang="en-US" b="0" i="1" smtClean="0">
                              <a:latin typeface="Cambria Math" panose="02040503050406030204" pitchFamily="18" charset="0"/>
                            </a:rPr>
                            <m:t>𝑜</m:t>
                          </m:r>
                        </m:sup>
                      </m:sSup>
                    </m:oMath>
                  </m:oMathPara>
                </a14:m>
                <a:endParaRPr lang="sv-SE" dirty="0"/>
              </a:p>
            </p:txBody>
          </p:sp>
        </mc:Choice>
        <mc:Fallback xmlns="">
          <p:sp>
            <p:nvSpPr>
              <p:cNvPr id="22" name="TextBox 21"/>
              <p:cNvSpPr txBox="1">
                <a:spLocks noRot="1" noChangeAspect="1" noMove="1" noResize="1" noEditPoints="1" noAdjustHandles="1" noChangeArrowheads="1" noChangeShapeType="1" noTextEdit="1"/>
              </p:cNvSpPr>
              <p:nvPr/>
            </p:nvSpPr>
            <p:spPr>
              <a:xfrm>
                <a:off x="9580596" y="6253371"/>
                <a:ext cx="1706880" cy="391582"/>
              </a:xfrm>
              <a:prstGeom prst="rect">
                <a:avLst/>
              </a:prstGeom>
              <a:blipFill>
                <a:blip r:embed="rId17"/>
                <a:stretch>
                  <a:fillRect b="-9375"/>
                </a:stretch>
              </a:blipFill>
            </p:spPr>
            <p:txBody>
              <a:bodyPr/>
              <a:lstStyle/>
              <a:p>
                <a:r>
                  <a:rPr lang="sv-SE">
                    <a:noFill/>
                  </a:rPr>
                  <a:t> </a:t>
                </a:r>
              </a:p>
            </p:txBody>
          </p:sp>
        </mc:Fallback>
      </mc:AlternateContent>
    </p:spTree>
    <p:extLst>
      <p:ext uri="{BB962C8B-B14F-4D97-AF65-F5344CB8AC3E}">
        <p14:creationId xmlns:p14="http://schemas.microsoft.com/office/powerpoint/2010/main" val="1124483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Example of Finding Carrier Phase Shifts </a:t>
            </a:r>
            <a:endParaRPr lang="sv-SE" dirty="0"/>
          </a:p>
        </p:txBody>
      </p:sp>
      <p:pic>
        <p:nvPicPr>
          <p:cNvPr id="9" name="Picture 8"/>
          <p:cNvPicPr>
            <a:picLocks noChangeAspect="1"/>
          </p:cNvPicPr>
          <p:nvPr/>
        </p:nvPicPr>
        <p:blipFill>
          <a:blip r:embed="rId2"/>
          <a:stretch>
            <a:fillRect/>
          </a:stretch>
        </p:blipFill>
        <p:spPr>
          <a:xfrm>
            <a:off x="6090708" y="1059335"/>
            <a:ext cx="3599392" cy="2699544"/>
          </a:xfrm>
          <a:prstGeom prst="rect">
            <a:avLst/>
          </a:prstGeom>
        </p:spPr>
      </p:pic>
      <p:pic>
        <p:nvPicPr>
          <p:cNvPr id="10" name="Picture 9"/>
          <p:cNvPicPr>
            <a:picLocks noChangeAspect="1"/>
          </p:cNvPicPr>
          <p:nvPr/>
        </p:nvPicPr>
        <p:blipFill>
          <a:blip r:embed="rId3"/>
          <a:stretch>
            <a:fillRect/>
          </a:stretch>
        </p:blipFill>
        <p:spPr>
          <a:xfrm>
            <a:off x="2359783" y="3901752"/>
            <a:ext cx="3536351" cy="2652264"/>
          </a:xfrm>
          <a:prstGeom prst="rect">
            <a:avLst/>
          </a:prstGeom>
        </p:spPr>
      </p:pic>
      <p:pic>
        <p:nvPicPr>
          <p:cNvPr id="11" name="Picture 10"/>
          <p:cNvPicPr>
            <a:picLocks noChangeAspect="1"/>
          </p:cNvPicPr>
          <p:nvPr/>
        </p:nvPicPr>
        <p:blipFill>
          <a:blip r:embed="rId4"/>
          <a:stretch>
            <a:fillRect/>
          </a:stretch>
        </p:blipFill>
        <p:spPr>
          <a:xfrm>
            <a:off x="6043083" y="3758879"/>
            <a:ext cx="3694641" cy="2770981"/>
          </a:xfrm>
          <a:prstGeom prst="rect">
            <a:avLst/>
          </a:prstGeom>
        </p:spPr>
      </p:pic>
      <p:pic>
        <p:nvPicPr>
          <p:cNvPr id="12" name="Picture 11"/>
          <p:cNvPicPr>
            <a:picLocks noChangeAspect="1"/>
          </p:cNvPicPr>
          <p:nvPr/>
        </p:nvPicPr>
        <p:blipFill>
          <a:blip r:embed="rId5"/>
          <a:stretch>
            <a:fillRect/>
          </a:stretch>
        </p:blipFill>
        <p:spPr>
          <a:xfrm>
            <a:off x="2355850" y="957734"/>
            <a:ext cx="3791349" cy="2843512"/>
          </a:xfrm>
          <a:prstGeom prst="rect">
            <a:avLst/>
          </a:prstGeom>
        </p:spPr>
      </p:pic>
    </p:spTree>
    <p:extLst>
      <p:ext uri="{BB962C8B-B14F-4D97-AF65-F5344CB8AC3E}">
        <p14:creationId xmlns:p14="http://schemas.microsoft.com/office/powerpoint/2010/main" val="469898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Convolutional Neural Network for CPS</a:t>
            </a:r>
            <a:endParaRPr lang="sv-SE" dirty="0"/>
          </a:p>
        </p:txBody>
      </p:sp>
      <p:sp>
        <p:nvSpPr>
          <p:cNvPr id="4" name="TextBox 3"/>
          <p:cNvSpPr txBox="1"/>
          <p:nvPr/>
        </p:nvSpPr>
        <p:spPr>
          <a:xfrm>
            <a:off x="6534150" y="1394674"/>
            <a:ext cx="5657850" cy="369332"/>
          </a:xfrm>
          <a:prstGeom prst="rect">
            <a:avLst/>
          </a:prstGeom>
          <a:noFill/>
        </p:spPr>
        <p:txBody>
          <a:bodyPr wrap="square" rtlCol="0">
            <a:spAutoFit/>
          </a:bodyPr>
          <a:lstStyle/>
          <a:p>
            <a:r>
              <a:rPr lang="en-US" dirty="0" smtClean="0"/>
              <a:t>6 inputs in our case:   DA, DB, DC, </a:t>
            </a:r>
            <a:r>
              <a:rPr lang="en-US" dirty="0" err="1" smtClean="0"/>
              <a:t>IphA</a:t>
            </a:r>
            <a:r>
              <a:rPr lang="en-US" dirty="0" smtClean="0"/>
              <a:t>, </a:t>
            </a:r>
            <a:r>
              <a:rPr lang="en-US" dirty="0" err="1" smtClean="0"/>
              <a:t>IphB</a:t>
            </a:r>
            <a:r>
              <a:rPr lang="en-US" dirty="0" smtClean="0"/>
              <a:t>, </a:t>
            </a:r>
            <a:r>
              <a:rPr lang="en-US" dirty="0" err="1" smtClean="0"/>
              <a:t>IphC</a:t>
            </a:r>
            <a:r>
              <a:rPr lang="en-US" dirty="0" smtClean="0"/>
              <a:t> </a:t>
            </a:r>
            <a:endParaRPr lang="sv-SE" dirty="0"/>
          </a:p>
        </p:txBody>
      </p:sp>
      <p:sp>
        <p:nvSpPr>
          <p:cNvPr id="6" name="TextBox 5"/>
          <p:cNvSpPr txBox="1"/>
          <p:nvPr/>
        </p:nvSpPr>
        <p:spPr>
          <a:xfrm>
            <a:off x="6534150" y="2135770"/>
            <a:ext cx="4476750" cy="369332"/>
          </a:xfrm>
          <a:prstGeom prst="rect">
            <a:avLst/>
          </a:prstGeom>
          <a:noFill/>
        </p:spPr>
        <p:txBody>
          <a:bodyPr wrap="square" rtlCol="0">
            <a:spAutoFit/>
          </a:bodyPr>
          <a:lstStyle/>
          <a:p>
            <a:r>
              <a:rPr lang="en-US" dirty="0"/>
              <a:t>2</a:t>
            </a:r>
            <a:r>
              <a:rPr lang="en-US" dirty="0" smtClean="0"/>
              <a:t> outputs in our case:   </a:t>
            </a:r>
            <a:r>
              <a:rPr lang="en-US" dirty="0" err="1" smtClean="0"/>
              <a:t>PhiB</a:t>
            </a:r>
            <a:r>
              <a:rPr lang="en-US" dirty="0" smtClean="0"/>
              <a:t> and </a:t>
            </a:r>
            <a:r>
              <a:rPr lang="en-US" dirty="0" err="1" smtClean="0"/>
              <a:t>PhiC</a:t>
            </a:r>
            <a:endParaRPr lang="sv-SE" dirty="0"/>
          </a:p>
        </p:txBody>
      </p:sp>
      <p:sp>
        <p:nvSpPr>
          <p:cNvPr id="7" name="TextBox 6"/>
          <p:cNvSpPr txBox="1"/>
          <p:nvPr/>
        </p:nvSpPr>
        <p:spPr>
          <a:xfrm>
            <a:off x="6534150" y="2925403"/>
            <a:ext cx="4643120" cy="1200329"/>
          </a:xfrm>
          <a:prstGeom prst="rect">
            <a:avLst/>
          </a:prstGeom>
          <a:noFill/>
        </p:spPr>
        <p:txBody>
          <a:bodyPr wrap="square" rtlCol="0">
            <a:spAutoFit/>
          </a:bodyPr>
          <a:lstStyle/>
          <a:p>
            <a:r>
              <a:rPr lang="en-US" dirty="0" smtClean="0"/>
              <a:t>SPWM: We can make reduction for inputs: DB, DC, and </a:t>
            </a:r>
            <a:r>
              <a:rPr lang="en-US" dirty="0" err="1" smtClean="0"/>
              <a:t>IphB</a:t>
            </a:r>
            <a:r>
              <a:rPr lang="en-US" dirty="0" smtClean="0"/>
              <a:t>, </a:t>
            </a:r>
            <a:r>
              <a:rPr lang="en-US" dirty="0" err="1" smtClean="0"/>
              <a:t>IphC</a:t>
            </a:r>
            <a:r>
              <a:rPr lang="en-US" dirty="0" smtClean="0"/>
              <a:t> since the sum of duty cycle is 3/2 and the sum of the currents is zero. </a:t>
            </a:r>
            <a:endParaRPr lang="sv-SE" dirty="0"/>
          </a:p>
        </p:txBody>
      </p:sp>
      <p:sp>
        <p:nvSpPr>
          <p:cNvPr id="8" name="Rectangle 7"/>
          <p:cNvSpPr/>
          <p:nvPr/>
        </p:nvSpPr>
        <p:spPr>
          <a:xfrm>
            <a:off x="6575425" y="4393634"/>
            <a:ext cx="4435475" cy="1477328"/>
          </a:xfrm>
          <a:prstGeom prst="rect">
            <a:avLst/>
          </a:prstGeom>
        </p:spPr>
        <p:txBody>
          <a:bodyPr wrap="square">
            <a:spAutoFit/>
          </a:bodyPr>
          <a:lstStyle/>
          <a:p>
            <a:r>
              <a:rPr lang="en-US" dirty="0" smtClean="0"/>
              <a:t>SVM or other methods: </a:t>
            </a:r>
            <a:r>
              <a:rPr lang="en-US" dirty="0"/>
              <a:t>We can </a:t>
            </a:r>
            <a:r>
              <a:rPr lang="en-US" dirty="0" smtClean="0"/>
              <a:t>reduce </a:t>
            </a:r>
            <a:r>
              <a:rPr lang="en-US" dirty="0"/>
              <a:t>inputs: </a:t>
            </a:r>
            <a:r>
              <a:rPr lang="en-US" dirty="0" smtClean="0"/>
              <a:t>DA, DB</a:t>
            </a:r>
            <a:r>
              <a:rPr lang="en-US" dirty="0"/>
              <a:t>, DC, and </a:t>
            </a:r>
            <a:r>
              <a:rPr lang="en-US" dirty="0" err="1"/>
              <a:t>IphB</a:t>
            </a:r>
            <a:r>
              <a:rPr lang="en-US" dirty="0"/>
              <a:t>, </a:t>
            </a:r>
            <a:r>
              <a:rPr lang="en-US" dirty="0" err="1"/>
              <a:t>IphC</a:t>
            </a:r>
            <a:r>
              <a:rPr lang="en-US" dirty="0"/>
              <a:t> since the sum of duty cycle </a:t>
            </a:r>
            <a:r>
              <a:rPr lang="en-US" dirty="0" smtClean="0"/>
              <a:t>depends on the common mode as well and </a:t>
            </a:r>
            <a:r>
              <a:rPr lang="en-US" dirty="0"/>
              <a:t>the sum of the currents is zero. </a:t>
            </a:r>
            <a:endParaRPr lang="sv-SE" dirty="0"/>
          </a:p>
        </p:txBody>
      </p:sp>
      <p:pic>
        <p:nvPicPr>
          <p:cNvPr id="9" name="Picture 8"/>
          <p:cNvPicPr>
            <a:picLocks noChangeAspect="1"/>
          </p:cNvPicPr>
          <p:nvPr/>
        </p:nvPicPr>
        <p:blipFill>
          <a:blip r:embed="rId2"/>
          <a:stretch>
            <a:fillRect/>
          </a:stretch>
        </p:blipFill>
        <p:spPr>
          <a:xfrm>
            <a:off x="3106401" y="1394674"/>
            <a:ext cx="3279188" cy="4951705"/>
          </a:xfrm>
          <a:prstGeom prst="rect">
            <a:avLst/>
          </a:prstGeom>
        </p:spPr>
      </p:pic>
      <p:sp>
        <p:nvSpPr>
          <p:cNvPr id="11" name="TextBox 10"/>
          <p:cNvSpPr txBox="1"/>
          <p:nvPr/>
        </p:nvSpPr>
        <p:spPr>
          <a:xfrm>
            <a:off x="2347149" y="1025342"/>
            <a:ext cx="3157733" cy="369332"/>
          </a:xfrm>
          <a:prstGeom prst="rect">
            <a:avLst/>
          </a:prstGeom>
          <a:noFill/>
        </p:spPr>
        <p:txBody>
          <a:bodyPr wrap="square" rtlCol="0">
            <a:spAutoFit/>
          </a:bodyPr>
          <a:lstStyle/>
          <a:p>
            <a:r>
              <a:rPr lang="en-US" dirty="0" smtClean="0"/>
              <a:t>Parallel DC/DC Converters</a:t>
            </a:r>
            <a:endParaRPr lang="sv-SE" dirty="0"/>
          </a:p>
        </p:txBody>
      </p:sp>
      <p:pic>
        <p:nvPicPr>
          <p:cNvPr id="13" name="Picture 12"/>
          <p:cNvPicPr>
            <a:picLocks noChangeAspect="1"/>
          </p:cNvPicPr>
          <p:nvPr/>
        </p:nvPicPr>
        <p:blipFill>
          <a:blip r:embed="rId3"/>
          <a:stretch>
            <a:fillRect/>
          </a:stretch>
        </p:blipFill>
        <p:spPr>
          <a:xfrm>
            <a:off x="153684" y="2205805"/>
            <a:ext cx="3393615" cy="2090150"/>
          </a:xfrm>
          <a:prstGeom prst="rect">
            <a:avLst/>
          </a:prstGeom>
        </p:spPr>
      </p:pic>
    </p:spTree>
    <p:extLst>
      <p:ext uri="{BB962C8B-B14F-4D97-AF65-F5344CB8AC3E}">
        <p14:creationId xmlns:p14="http://schemas.microsoft.com/office/powerpoint/2010/main" val="2011780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Possible Contributions</a:t>
            </a:r>
            <a:endParaRPr lang="sv-SE" dirty="0"/>
          </a:p>
        </p:txBody>
      </p:sp>
      <p:sp>
        <p:nvSpPr>
          <p:cNvPr id="7" name="Rectangle 6"/>
          <p:cNvSpPr/>
          <p:nvPr/>
        </p:nvSpPr>
        <p:spPr>
          <a:xfrm>
            <a:off x="577850" y="1244938"/>
            <a:ext cx="10966450" cy="3139321"/>
          </a:xfrm>
          <a:prstGeom prst="rect">
            <a:avLst/>
          </a:prstGeom>
        </p:spPr>
        <p:txBody>
          <a:bodyPr wrap="square">
            <a:spAutoFit/>
          </a:bodyPr>
          <a:lstStyle/>
          <a:p>
            <a:pPr marL="342900" indent="-342900">
              <a:buFont typeface="+mj-lt"/>
              <a:buAutoNum type="arabicPeriod"/>
            </a:pPr>
            <a:r>
              <a:rPr lang="sv-SE" dirty="0" smtClean="0"/>
              <a:t>A new </a:t>
            </a:r>
            <a:r>
              <a:rPr lang="sv-SE" dirty="0" err="1" smtClean="0"/>
              <a:t>interleaving</a:t>
            </a:r>
            <a:r>
              <a:rPr lang="sv-SE" dirty="0" smtClean="0"/>
              <a:t> </a:t>
            </a:r>
            <a:r>
              <a:rPr lang="sv-SE" dirty="0" err="1"/>
              <a:t>technique</a:t>
            </a:r>
            <a:r>
              <a:rPr lang="sv-SE" dirty="0"/>
              <a:t> for </a:t>
            </a:r>
            <a:r>
              <a:rPr lang="sv-SE" dirty="0" err="1"/>
              <a:t>single</a:t>
            </a:r>
            <a:r>
              <a:rPr lang="sv-SE" dirty="0"/>
              <a:t> </a:t>
            </a:r>
            <a:r>
              <a:rPr lang="sv-SE" dirty="0" err="1"/>
              <a:t>two-level</a:t>
            </a:r>
            <a:r>
              <a:rPr lang="sv-SE" dirty="0"/>
              <a:t> </a:t>
            </a:r>
            <a:r>
              <a:rPr lang="sv-SE" dirty="0" err="1"/>
              <a:t>VSIs</a:t>
            </a:r>
            <a:r>
              <a:rPr lang="sv-SE" dirty="0"/>
              <a:t>, </a:t>
            </a:r>
            <a:r>
              <a:rPr lang="sv-SE" dirty="0" err="1"/>
              <a:t>eliminating</a:t>
            </a:r>
            <a:r>
              <a:rPr lang="sv-SE" dirty="0"/>
              <a:t> the </a:t>
            </a:r>
            <a:r>
              <a:rPr lang="sv-SE" dirty="0" err="1"/>
              <a:t>need</a:t>
            </a:r>
            <a:r>
              <a:rPr lang="sv-SE" dirty="0"/>
              <a:t> for </a:t>
            </a:r>
            <a:r>
              <a:rPr lang="sv-SE" dirty="0" err="1"/>
              <a:t>additional</a:t>
            </a:r>
            <a:r>
              <a:rPr lang="sv-SE" dirty="0"/>
              <a:t> </a:t>
            </a:r>
            <a:r>
              <a:rPr lang="sv-SE" dirty="0" err="1" smtClean="0"/>
              <a:t>converter</a:t>
            </a:r>
            <a:r>
              <a:rPr lang="sv-SE" dirty="0" smtClean="0"/>
              <a:t>/</a:t>
            </a:r>
            <a:r>
              <a:rPr lang="sv-SE" dirty="0" err="1" smtClean="0"/>
              <a:t>inverter</a:t>
            </a:r>
            <a:r>
              <a:rPr lang="sv-SE" dirty="0" smtClean="0"/>
              <a:t>.   </a:t>
            </a:r>
          </a:p>
          <a:p>
            <a:pPr marL="342900" indent="-342900">
              <a:buFont typeface="+mj-lt"/>
              <a:buAutoNum type="arabicPeriod"/>
            </a:pPr>
            <a:endParaRPr lang="sv-SE" dirty="0" smtClean="0"/>
          </a:p>
          <a:p>
            <a:pPr marL="342900" indent="-342900">
              <a:buFont typeface="+mj-lt"/>
              <a:buAutoNum type="arabicPeriod"/>
            </a:pPr>
            <a:r>
              <a:rPr lang="sv-SE" dirty="0" smtClean="0"/>
              <a:t>An </a:t>
            </a:r>
            <a:r>
              <a:rPr lang="sv-SE" dirty="0"/>
              <a:t>AI-</a:t>
            </a:r>
            <a:r>
              <a:rPr lang="sv-SE" dirty="0" err="1"/>
              <a:t>based</a:t>
            </a:r>
            <a:r>
              <a:rPr lang="sv-SE" dirty="0"/>
              <a:t> adaptive modulation </a:t>
            </a:r>
            <a:r>
              <a:rPr lang="sv-SE" dirty="0" err="1"/>
              <a:t>strategy</a:t>
            </a:r>
            <a:r>
              <a:rPr lang="sv-SE" dirty="0"/>
              <a:t> </a:t>
            </a:r>
            <a:r>
              <a:rPr lang="sv-SE" dirty="0" err="1"/>
              <a:t>that</a:t>
            </a:r>
            <a:r>
              <a:rPr lang="sv-SE" dirty="0"/>
              <a:t> </a:t>
            </a:r>
            <a:r>
              <a:rPr lang="sv-SE" dirty="0" err="1"/>
              <a:t>dynamically</a:t>
            </a:r>
            <a:r>
              <a:rPr lang="sv-SE" dirty="0"/>
              <a:t> </a:t>
            </a:r>
            <a:r>
              <a:rPr lang="sv-SE" dirty="0" err="1"/>
              <a:t>adjusts</a:t>
            </a:r>
            <a:r>
              <a:rPr lang="sv-SE" dirty="0"/>
              <a:t> </a:t>
            </a:r>
            <a:r>
              <a:rPr lang="sv-SE" dirty="0" err="1"/>
              <a:t>phase</a:t>
            </a:r>
            <a:r>
              <a:rPr lang="sv-SE" dirty="0"/>
              <a:t> </a:t>
            </a:r>
            <a:r>
              <a:rPr lang="sv-SE" dirty="0" err="1"/>
              <a:t>shifts</a:t>
            </a:r>
            <a:r>
              <a:rPr lang="sv-SE" dirty="0"/>
              <a:t> to </a:t>
            </a:r>
            <a:r>
              <a:rPr lang="sv-SE" dirty="0" err="1"/>
              <a:t>minimize</a:t>
            </a:r>
            <a:r>
              <a:rPr lang="sv-SE" dirty="0"/>
              <a:t> DC-</a:t>
            </a:r>
            <a:r>
              <a:rPr lang="sv-SE" dirty="0" err="1"/>
              <a:t>link</a:t>
            </a:r>
            <a:r>
              <a:rPr lang="sv-SE" dirty="0"/>
              <a:t> </a:t>
            </a:r>
            <a:r>
              <a:rPr lang="sv-SE" dirty="0" err="1"/>
              <a:t>current</a:t>
            </a:r>
            <a:r>
              <a:rPr lang="sv-SE" dirty="0"/>
              <a:t> </a:t>
            </a:r>
            <a:r>
              <a:rPr lang="sv-SE" dirty="0" err="1"/>
              <a:t>ripple</a:t>
            </a:r>
            <a:r>
              <a:rPr lang="sv-SE" dirty="0"/>
              <a:t>.   </a:t>
            </a:r>
            <a:endParaRPr lang="sv-SE" dirty="0" smtClean="0"/>
          </a:p>
          <a:p>
            <a:pPr marL="342900" indent="-342900">
              <a:buFont typeface="+mj-lt"/>
              <a:buAutoNum type="arabicPeriod"/>
            </a:pPr>
            <a:endParaRPr lang="sv-SE" dirty="0" smtClean="0"/>
          </a:p>
          <a:p>
            <a:pPr marL="342900" indent="-342900">
              <a:buFont typeface="+mj-lt"/>
              <a:buAutoNum type="arabicPeriod"/>
            </a:pPr>
            <a:r>
              <a:rPr lang="en-US" dirty="0" smtClean="0"/>
              <a:t>The proposed system is independent of the modulation technique, which can be applied to SPWM, THIPWM, SVM. </a:t>
            </a:r>
            <a:endParaRPr lang="sv-SE" dirty="0"/>
          </a:p>
          <a:p>
            <a:pPr marL="342900" indent="-342900">
              <a:buFont typeface="+mj-lt"/>
              <a:buAutoNum type="arabicPeriod"/>
            </a:pPr>
            <a:endParaRPr lang="sv-SE" dirty="0"/>
          </a:p>
          <a:p>
            <a:pPr marL="342900" indent="-342900">
              <a:buFont typeface="+mj-lt"/>
              <a:buAutoNum type="arabicPeriod"/>
            </a:pPr>
            <a:r>
              <a:rPr lang="sv-SE" dirty="0" smtClean="0"/>
              <a:t>Experimental </a:t>
            </a:r>
            <a:r>
              <a:rPr lang="sv-SE" dirty="0" err="1"/>
              <a:t>validation</a:t>
            </a:r>
            <a:r>
              <a:rPr lang="sv-SE" dirty="0"/>
              <a:t> </a:t>
            </a:r>
            <a:r>
              <a:rPr lang="sv-SE" dirty="0" err="1"/>
              <a:t>demonstrating</a:t>
            </a:r>
            <a:r>
              <a:rPr lang="sv-SE" dirty="0"/>
              <a:t> </a:t>
            </a:r>
            <a:r>
              <a:rPr lang="sv-SE" dirty="0" err="1"/>
              <a:t>significant</a:t>
            </a:r>
            <a:r>
              <a:rPr lang="sv-SE" dirty="0"/>
              <a:t> </a:t>
            </a:r>
            <a:r>
              <a:rPr lang="sv-SE" dirty="0" err="1"/>
              <a:t>ripple</a:t>
            </a:r>
            <a:r>
              <a:rPr lang="sv-SE" dirty="0"/>
              <a:t> </a:t>
            </a:r>
            <a:r>
              <a:rPr lang="sv-SE" dirty="0" err="1"/>
              <a:t>reduction</a:t>
            </a:r>
            <a:r>
              <a:rPr lang="sv-SE" dirty="0"/>
              <a:t> </a:t>
            </a:r>
            <a:r>
              <a:rPr lang="sv-SE" dirty="0" err="1"/>
              <a:t>compared</a:t>
            </a:r>
            <a:r>
              <a:rPr lang="sv-SE" dirty="0"/>
              <a:t> to </a:t>
            </a:r>
            <a:r>
              <a:rPr lang="sv-SE" dirty="0" err="1"/>
              <a:t>conventional</a:t>
            </a:r>
            <a:r>
              <a:rPr lang="sv-SE" dirty="0"/>
              <a:t> PWM </a:t>
            </a:r>
            <a:r>
              <a:rPr lang="sv-SE" dirty="0" err="1" smtClean="0"/>
              <a:t>methods</a:t>
            </a:r>
            <a:r>
              <a:rPr lang="sv-SE" dirty="0" smtClean="0"/>
              <a:t> to show </a:t>
            </a:r>
            <a:r>
              <a:rPr lang="sv-SE" dirty="0" err="1" smtClean="0"/>
              <a:t>life</a:t>
            </a:r>
            <a:r>
              <a:rPr lang="sv-SE" dirty="0" smtClean="0"/>
              <a:t> </a:t>
            </a:r>
            <a:r>
              <a:rPr lang="sv-SE" dirty="0" err="1" smtClean="0"/>
              <a:t>time</a:t>
            </a:r>
            <a:r>
              <a:rPr lang="sv-SE" dirty="0" smtClean="0"/>
              <a:t> </a:t>
            </a:r>
            <a:r>
              <a:rPr lang="sv-SE" dirty="0" err="1" smtClean="0"/>
              <a:t>extention</a:t>
            </a:r>
            <a:r>
              <a:rPr lang="sv-SE" dirty="0" smtClean="0"/>
              <a:t>. </a:t>
            </a:r>
            <a:endParaRPr lang="sv-SE" dirty="0"/>
          </a:p>
        </p:txBody>
      </p:sp>
    </p:spTree>
    <p:extLst>
      <p:ext uri="{BB962C8B-B14F-4D97-AF65-F5344CB8AC3E}">
        <p14:creationId xmlns:p14="http://schemas.microsoft.com/office/powerpoint/2010/main" val="31508987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111" y="322381"/>
            <a:ext cx="10990263" cy="568412"/>
          </a:xfrm>
        </p:spPr>
        <p:txBody>
          <a:bodyPr/>
          <a:lstStyle/>
          <a:p>
            <a:r>
              <a:rPr lang="en-US" dirty="0" smtClean="0"/>
              <a:t>DC-link Current Ripple- Calculations</a:t>
            </a:r>
            <a:endParaRPr lang="sv-SE" dirty="0"/>
          </a:p>
        </p:txBody>
      </p:sp>
    </p:spTree>
    <p:extLst>
      <p:ext uri="{BB962C8B-B14F-4D97-AF65-F5344CB8AC3E}">
        <p14:creationId xmlns:p14="http://schemas.microsoft.com/office/powerpoint/2010/main" val="1539586710"/>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22359</TotalTime>
  <Words>733</Words>
  <Application>Microsoft Office PowerPoint</Application>
  <PresentationFormat>Widescreen</PresentationFormat>
  <Paragraphs>111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Figtree</vt:lpstr>
      <vt:lpstr>Cambria Math</vt:lpstr>
      <vt:lpstr>Arial</vt:lpstr>
      <vt:lpstr>Office-tema</vt:lpstr>
      <vt:lpstr>A Neural Network Aided Modulation Strategy for DC-Link Capacitor Lifetime Extension in Three-Phase Two-Level VSIs</vt:lpstr>
      <vt:lpstr>Overview of Three-Phase Two-Level VSIs</vt:lpstr>
      <vt:lpstr>DC-Link Capacitor: A Key Reliability Bottleneck</vt:lpstr>
      <vt:lpstr>Reducing Current Ripple &amp; Stress</vt:lpstr>
      <vt:lpstr>Interleaving for Single 2L-VSI</vt:lpstr>
      <vt:lpstr>Dynamic Variable Carrier Phase-Shift Modulation</vt:lpstr>
      <vt:lpstr>Example of Finding Carrier Phase Shifts </vt:lpstr>
      <vt:lpstr>Example of Finding Carrier Phase Shifts </vt:lpstr>
      <vt:lpstr>Convolutional Neural Network for CPS</vt:lpstr>
      <vt:lpstr>Possible Contributions</vt:lpstr>
      <vt:lpstr>DC-link Current Ripple- Calculations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252</cp:revision>
  <dcterms:created xsi:type="dcterms:W3CDTF">2024-01-10T13:17:29Z</dcterms:created>
  <dcterms:modified xsi:type="dcterms:W3CDTF">2025-05-19T12:05:38Z</dcterms:modified>
</cp:coreProperties>
</file>