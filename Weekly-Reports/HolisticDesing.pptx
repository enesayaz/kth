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A2651-240E-4238-841D-6879D2F274EA}" type="datetimeFigureOut">
              <a:rPr lang="sv-SE" smtClean="0"/>
              <a:t>2023-06-18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A4828-8718-4CD0-BF99-FCDE411F029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7722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E4D78-AB85-481E-A603-2784DADE5AA2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667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7A67-C57D-4149-A709-CFF8C995BD74}" type="datetime1">
              <a:rPr lang="sv-SE" smtClean="0"/>
              <a:t>2023-06-18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2204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C578-FE8C-460B-83A1-FD192F0571A2}" type="datetime1">
              <a:rPr lang="sv-SE" smtClean="0"/>
              <a:t>2023-06-18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716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8A4C3-1359-4785-A3CE-5CF7E00AFFB1}" type="datetime1">
              <a:rPr lang="sv-SE" smtClean="0"/>
              <a:t>2023-06-18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0478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C4DAF-BB60-46C6-81D0-4AD24F3FA2E2}" type="datetime1">
              <a:rPr lang="sv-SE" smtClean="0"/>
              <a:t>2023-06-18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786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F0D1-4FA4-4F96-8728-5C247A1A4FFD}" type="datetime1">
              <a:rPr lang="sv-SE" smtClean="0"/>
              <a:t>2023-06-18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4976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F3022-F91E-4953-AC7F-5AD7B40FD798}" type="datetime1">
              <a:rPr lang="sv-SE" smtClean="0"/>
              <a:t>2023-06-18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165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65E00-6DF4-41B4-9F57-9096333732C6}" type="datetime1">
              <a:rPr lang="sv-SE" smtClean="0"/>
              <a:t>2023-06-18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092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F50C0-8735-4F8A-B21F-A4E05F6946C1}" type="datetime1">
              <a:rPr lang="sv-SE" smtClean="0"/>
              <a:t>2023-06-18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821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9B0-DB10-4D81-85B8-B31B5A11262F}" type="datetime1">
              <a:rPr lang="sv-SE" smtClean="0"/>
              <a:t>2023-06-18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495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97BB-739F-4D80-80A1-744870594BDD}" type="datetime1">
              <a:rPr lang="sv-SE" smtClean="0"/>
              <a:t>2023-06-18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654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5078F-7647-4F96-83A5-3850C1298F5B}" type="datetime1">
              <a:rPr lang="sv-SE" smtClean="0"/>
              <a:t>2023-06-18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4366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8AC7E-FA48-44EA-A5C5-B04679A5B5BE}" type="datetime1">
              <a:rPr lang="sv-SE" smtClean="0"/>
              <a:t>2023-06-18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993D7-CBE3-4B8A-88EA-3754F4C35EF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37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Holistic Life Cycle Cost Optimization of the Traction Inverter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Enes Ayaz, KTH</a:t>
            </a:r>
          </a:p>
          <a:p>
            <a:r>
              <a:rPr lang="en-US" dirty="0" smtClean="0"/>
              <a:t>2023.06.19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0822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746" y="-70338"/>
            <a:ext cx="10515600" cy="90353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</a:rPr>
              <a:t>Key parameter indicators(KPI) and Design Chapters [1]</a:t>
            </a:r>
            <a:endParaRPr lang="sv-SE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285" y="833194"/>
            <a:ext cx="5676899" cy="3307983"/>
          </a:xfrm>
        </p:spPr>
        <p:txBody>
          <a:bodyPr>
            <a:normAutofit/>
          </a:bodyPr>
          <a:lstStyle/>
          <a:p>
            <a:pPr algn="just"/>
            <a:r>
              <a:rPr lang="en-US" sz="2200" dirty="0" smtClean="0"/>
              <a:t>Volume (50kW/L)</a:t>
            </a:r>
          </a:p>
          <a:p>
            <a:pPr algn="just"/>
            <a:r>
              <a:rPr lang="en-US" sz="2200" dirty="0" smtClean="0"/>
              <a:t>Losses/Efficiency (99.5%)</a:t>
            </a:r>
          </a:p>
          <a:p>
            <a:pPr marL="0" indent="0" algn="just">
              <a:buNone/>
            </a:pPr>
            <a:r>
              <a:rPr lang="en-US" sz="2200" dirty="0" smtClean="0"/>
              <a:t>Additionally</a:t>
            </a:r>
            <a:r>
              <a:rPr lang="en-US" sz="2200" b="1" dirty="0" smtClean="0"/>
              <a:t>, life </a:t>
            </a:r>
            <a:r>
              <a:rPr lang="en-US" sz="2200" b="1" dirty="0"/>
              <a:t>c</a:t>
            </a:r>
            <a:r>
              <a:rPr lang="en-US" sz="2200" b="1" dirty="0" smtClean="0"/>
              <a:t>ycle </a:t>
            </a:r>
            <a:r>
              <a:rPr lang="en-US" sz="2200" b="1" dirty="0"/>
              <a:t>c</a:t>
            </a:r>
            <a:r>
              <a:rPr lang="en-US" sz="2200" b="1" dirty="0" smtClean="0"/>
              <a:t>ost optimization </a:t>
            </a:r>
            <a:r>
              <a:rPr lang="en-US" sz="2200" dirty="0" smtClean="0"/>
              <a:t>(LCCA) is required to select the design that is both economically and energy-wise favorable.</a:t>
            </a:r>
          </a:p>
          <a:p>
            <a:pPr algn="just"/>
            <a:r>
              <a:rPr lang="en-US" sz="2200" dirty="0" smtClean="0"/>
              <a:t>Cost </a:t>
            </a:r>
            <a:endParaRPr lang="en-US" sz="2200" dirty="0"/>
          </a:p>
          <a:p>
            <a:pPr algn="just"/>
            <a:r>
              <a:rPr lang="en-US" sz="2200" dirty="0" smtClean="0"/>
              <a:t>Reliability</a:t>
            </a:r>
            <a:endParaRPr lang="en-US" dirty="0" smtClean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87697" y="570277"/>
            <a:ext cx="6283080" cy="6120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Heat sink and cooling types</a:t>
            </a:r>
          </a:p>
          <a:p>
            <a:pPr lvl="1"/>
            <a:r>
              <a:rPr lang="en-US" sz="1600" dirty="0" smtClean="0"/>
              <a:t>Cold plate and liquid cooling</a:t>
            </a:r>
          </a:p>
          <a:p>
            <a:pPr lvl="1"/>
            <a:r>
              <a:rPr lang="en-US" sz="1600" dirty="0" smtClean="0"/>
              <a:t>Air cooling and heat-sink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Selection of topology and power modules </a:t>
            </a:r>
          </a:p>
          <a:p>
            <a:pPr lvl="1"/>
            <a:r>
              <a:rPr lang="en-US" sz="1600" dirty="0" smtClean="0"/>
              <a:t>2-level : Half-bridge modules</a:t>
            </a:r>
          </a:p>
          <a:p>
            <a:pPr lvl="1"/>
            <a:r>
              <a:rPr lang="en-US" sz="1600" dirty="0" smtClean="0"/>
              <a:t>3-level NPC, TTC : Half-bridge modules, common-collector modules</a:t>
            </a:r>
          </a:p>
          <a:p>
            <a:pPr lvl="1"/>
            <a:r>
              <a:rPr lang="en-US" sz="1600" dirty="0" smtClean="0"/>
              <a:t>Segmented/multi module/phase structures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Capacitor bank for DC-link </a:t>
            </a:r>
          </a:p>
          <a:p>
            <a:pPr lvl="1"/>
            <a:r>
              <a:rPr lang="en-US" sz="1600" dirty="0" smtClean="0"/>
              <a:t>Maximum voltage ripple</a:t>
            </a:r>
          </a:p>
          <a:p>
            <a:pPr lvl="1"/>
            <a:r>
              <a:rPr lang="en-US" sz="1600" dirty="0" smtClean="0"/>
              <a:t>RMS current of the capacitor bank (thermal issues)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Bus bar design</a:t>
            </a:r>
          </a:p>
          <a:p>
            <a:pPr lvl="1"/>
            <a:r>
              <a:rPr lang="en-US" sz="1600" dirty="0" smtClean="0"/>
              <a:t>Low inductance laminated connection</a:t>
            </a:r>
          </a:p>
          <a:p>
            <a:pPr lvl="2"/>
            <a:r>
              <a:rPr lang="en-US" sz="1600" dirty="0" smtClean="0"/>
              <a:t>To decrease switching noise</a:t>
            </a:r>
          </a:p>
          <a:p>
            <a:pPr lvl="2"/>
            <a:r>
              <a:rPr lang="en-US" sz="1600" dirty="0" smtClean="0"/>
              <a:t>To decrease switching losses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Auxiliary circuits</a:t>
            </a:r>
            <a:r>
              <a:rPr lang="sv-SE" sz="2000" b="1" dirty="0" smtClean="0"/>
              <a:t>: </a:t>
            </a:r>
          </a:p>
          <a:p>
            <a:pPr lvl="1"/>
            <a:r>
              <a:rPr lang="en-US" sz="1600" dirty="0" smtClean="0"/>
              <a:t>Gate drives and sensors</a:t>
            </a:r>
          </a:p>
          <a:p>
            <a:pPr lvl="1"/>
            <a:r>
              <a:rPr lang="en-US" sz="1600" dirty="0" smtClean="0"/>
              <a:t>Power supplies</a:t>
            </a:r>
            <a:endParaRPr lang="sv-SE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Connectors and Filters </a:t>
            </a:r>
            <a:r>
              <a:rPr lang="sv-SE" sz="2000" b="1" dirty="0" smtClean="0"/>
              <a:t>:</a:t>
            </a:r>
          </a:p>
          <a:p>
            <a:pPr lvl="1"/>
            <a:r>
              <a:rPr lang="sv-SE" sz="1600" dirty="0" smtClean="0"/>
              <a:t>Input, output ; common mode, differential mode</a:t>
            </a:r>
            <a:endParaRPr lang="sv-SE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1310543" y="3908424"/>
                <a:ext cx="4158273" cy="3444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900" i="1" dirty="0" smtClean="0">
                    <a:latin typeface="Cambria Math" panose="02040503050406030204" pitchFamily="18" charset="0"/>
                  </a:rPr>
                  <a:t>Specifications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900" dirty="0" smtClean="0"/>
                  <a:t>  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sz="1900" i="1" smtClean="0">
                        <a:latin typeface="Cambria Math" panose="02040503050406030204" pitchFamily="18" charset="0"/>
                      </a:rPr>
                      <m:t>=240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900" i="1" dirty="0" smtClean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900" i="1" smtClean="0">
                        <a:latin typeface="Cambria Math" panose="02040503050406030204" pitchFamily="18" charset="0"/>
                      </a:rPr>
                      <m:t>=625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900" dirty="0" smtClean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1900" dirty="0" smtClean="0"/>
                  <a:t> </a:t>
                </a:r>
                <a:endParaRPr lang="sv-SE" sz="19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543" y="3908424"/>
                <a:ext cx="4158273" cy="3444875"/>
              </a:xfrm>
              <a:prstGeom prst="rect">
                <a:avLst/>
              </a:prstGeom>
              <a:blipFill>
                <a:blip r:embed="rId2"/>
                <a:stretch>
                  <a:fillRect l="-1466" t="-177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66231" y="6325820"/>
            <a:ext cx="791797" cy="365125"/>
          </a:xfrm>
        </p:spPr>
        <p:txBody>
          <a:bodyPr/>
          <a:lstStyle/>
          <a:p>
            <a:r>
              <a:rPr lang="sv-SE" sz="2000" b="1" dirty="0" smtClean="0"/>
              <a:t>´1\3</a:t>
            </a:r>
            <a:endParaRPr lang="sv-SE" sz="2000" b="1" dirty="0"/>
          </a:p>
        </p:txBody>
      </p:sp>
    </p:spTree>
    <p:extLst>
      <p:ext uri="{BB962C8B-B14F-4D97-AF65-F5344CB8AC3E}">
        <p14:creationId xmlns:p14="http://schemas.microsoft.com/office/powerpoint/2010/main" val="315987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803" y="720048"/>
            <a:ext cx="4284959" cy="2969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 smtClean="0">
                <a:solidFill>
                  <a:srgbClr val="C00000"/>
                </a:solidFill>
              </a:rPr>
              <a:t>Losses</a:t>
            </a:r>
            <a:endParaRPr lang="en-US" sz="17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700" dirty="0" smtClean="0"/>
              <a:t>Power semiconductors (90 %) </a:t>
            </a:r>
            <a:r>
              <a:rPr lang="en-US" sz="1700" dirty="0"/>
              <a:t>(</a:t>
            </a:r>
            <a:r>
              <a:rPr lang="en-US" sz="1700" dirty="0" smtClean="0"/>
              <a:t>eff 99.5%)</a:t>
            </a:r>
          </a:p>
          <a:p>
            <a:pPr lvl="1"/>
            <a:r>
              <a:rPr lang="en-US" sz="1700" dirty="0" smtClean="0"/>
              <a:t>Conduction Losses</a:t>
            </a:r>
          </a:p>
          <a:p>
            <a:pPr lvl="1"/>
            <a:r>
              <a:rPr lang="en-US" sz="1700" dirty="0" smtClean="0"/>
              <a:t>Switching Losses</a:t>
            </a:r>
          </a:p>
          <a:p>
            <a:pPr lvl="1"/>
            <a:r>
              <a:rPr lang="en-US" sz="1700" strike="sngStrike" dirty="0"/>
              <a:t>Driving losses</a:t>
            </a:r>
          </a:p>
          <a:p>
            <a:pPr lvl="1"/>
            <a:r>
              <a:rPr lang="en-US" sz="1700" strike="sngStrike" dirty="0"/>
              <a:t>Leakage </a:t>
            </a:r>
            <a:r>
              <a:rPr lang="en-US" sz="1700" strike="sngStrike" dirty="0" smtClean="0"/>
              <a:t>Losses</a:t>
            </a:r>
            <a:endParaRPr lang="en-US" sz="1700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 smtClean="0"/>
              <a:t>Additional Losses  ( 10%)</a:t>
            </a:r>
          </a:p>
          <a:p>
            <a:pPr lvl="1"/>
            <a:r>
              <a:rPr lang="en-US" sz="1700" dirty="0" smtClean="0"/>
              <a:t>Filters losses </a:t>
            </a:r>
            <a:endParaRPr lang="en-US" sz="17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190049" y="720048"/>
            <a:ext cx="2412594" cy="2895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 smtClean="0">
                <a:solidFill>
                  <a:srgbClr val="C00000"/>
                </a:solidFill>
              </a:rPr>
              <a:t>Volume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Power </a:t>
            </a:r>
            <a:r>
              <a:rPr lang="en-US" sz="1600" dirty="0" smtClean="0"/>
              <a:t>Module (12%)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Gate </a:t>
            </a:r>
            <a:r>
              <a:rPr lang="en-US" sz="1600" dirty="0" smtClean="0"/>
              <a:t>Drives (3%)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Capacitor (24 %)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Cooling (32 %)</a:t>
            </a:r>
          </a:p>
          <a:p>
            <a:pPr lvl="1"/>
            <a:r>
              <a:rPr lang="en-US" sz="1600" dirty="0" smtClean="0"/>
              <a:t>Cold plate</a:t>
            </a:r>
          </a:p>
          <a:p>
            <a:pPr lvl="1"/>
            <a:r>
              <a:rPr lang="en-US" sz="1600" dirty="0" smtClean="0"/>
              <a:t>Heatsink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Others (29%)</a:t>
            </a:r>
          </a:p>
          <a:p>
            <a:pPr marL="0" indent="0">
              <a:buNone/>
            </a:pPr>
            <a:endParaRPr lang="en-US" sz="25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294959" y="2078356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5665662" y="2257530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067468" y="1875758"/>
            <a:ext cx="1231900" cy="59055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Volume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4560762" y="1875758"/>
            <a:ext cx="1104900" cy="5905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7385" y="1605566"/>
            <a:ext cx="97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Cooling</a:t>
            </a:r>
            <a:endParaRPr lang="sv-SE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75803" y="8523"/>
            <a:ext cx="11473961" cy="757441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Loss and Volume Breakdowns \ Considered Topologies [2,3]</a:t>
            </a:r>
            <a:endParaRPr lang="sv-SE" sz="3600" dirty="0">
              <a:solidFill>
                <a:srgbClr val="C0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t="5639" b="10136"/>
          <a:stretch/>
        </p:blipFill>
        <p:spPr>
          <a:xfrm>
            <a:off x="1289064" y="3236294"/>
            <a:ext cx="8883162" cy="2186476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>
            <a:off x="2497517" y="5430362"/>
            <a:ext cx="0" cy="278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92289" y="5906539"/>
            <a:ext cx="1540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Two-level (2L)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072805" y="5430362"/>
            <a:ext cx="0" cy="278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73111" y="5798817"/>
            <a:ext cx="15993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Three-level </a:t>
            </a:r>
          </a:p>
          <a:p>
            <a:pPr algn="ctr"/>
            <a:r>
              <a:rPr lang="en-US" sz="1400" dirty="0" smtClean="0"/>
              <a:t>T-Type (3L-TT)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992368" y="5430362"/>
            <a:ext cx="0" cy="278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57021" y="5757025"/>
            <a:ext cx="20972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Three-level </a:t>
            </a:r>
          </a:p>
          <a:p>
            <a:pPr algn="ctr"/>
            <a:r>
              <a:rPr lang="en-US" sz="1400" dirty="0" smtClean="0"/>
              <a:t>Neutral Point Clamped (3L-NPC)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874501" y="5422770"/>
            <a:ext cx="0" cy="278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25872" y="5714625"/>
            <a:ext cx="20972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Three-level </a:t>
            </a:r>
          </a:p>
          <a:p>
            <a:pPr algn="ctr"/>
            <a:r>
              <a:rPr lang="en-US" sz="1400" dirty="0" smtClean="0"/>
              <a:t>Active Neutral Point Clamped </a:t>
            </a:r>
          </a:p>
          <a:p>
            <a:pPr algn="ctr"/>
            <a:r>
              <a:rPr lang="en-US" sz="1400" dirty="0" smtClean="0"/>
              <a:t>(3L-ANPC)</a:t>
            </a:r>
          </a:p>
          <a:p>
            <a:pPr algn="ctr"/>
            <a:r>
              <a:rPr lang="en-US" sz="1400" dirty="0" smtClean="0"/>
              <a:t>Inverter</a:t>
            </a:r>
            <a:endParaRPr lang="sv-SE" sz="1400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9255032" y="5430362"/>
            <a:ext cx="0" cy="278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64351" y="5864746"/>
            <a:ext cx="2097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Modular </a:t>
            </a:r>
            <a:r>
              <a:rPr lang="en-US" sz="1400" dirty="0"/>
              <a:t>multilevel </a:t>
            </a:r>
            <a:r>
              <a:rPr lang="en-US" sz="1400" dirty="0" smtClean="0"/>
              <a:t>converters</a:t>
            </a:r>
          </a:p>
          <a:p>
            <a:pPr algn="ctr"/>
            <a:r>
              <a:rPr lang="en-US" sz="1400" dirty="0" smtClean="0"/>
              <a:t>(MMC)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66231" y="6325820"/>
            <a:ext cx="791797" cy="365125"/>
          </a:xfrm>
        </p:spPr>
        <p:txBody>
          <a:bodyPr/>
          <a:lstStyle/>
          <a:p>
            <a:r>
              <a:rPr lang="sv-SE" sz="2000" b="1" dirty="0" smtClean="0"/>
              <a:t>´2\3</a:t>
            </a:r>
            <a:endParaRPr lang="sv-SE" sz="2000" b="1" dirty="0"/>
          </a:p>
        </p:txBody>
      </p:sp>
    </p:spTree>
    <p:extLst>
      <p:ext uri="{BB962C8B-B14F-4D97-AF65-F5344CB8AC3E}">
        <p14:creationId xmlns:p14="http://schemas.microsoft.com/office/powerpoint/2010/main" val="231361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887" y="-33703"/>
            <a:ext cx="107950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Stepwise Design Methodology and Multi-objective Optimization [4,5]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260" y="1382873"/>
            <a:ext cx="3630612" cy="5060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872" y="1382873"/>
            <a:ext cx="2704239" cy="4877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455" y="1200845"/>
            <a:ext cx="361773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Key performance indicators: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Higher 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Smaller volume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n-US" dirty="0" smtClean="0"/>
              <a:t>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Lower </a:t>
            </a:r>
            <a:r>
              <a:rPr lang="en-US" dirty="0" smtClean="0"/>
              <a:t>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Life cycle cost 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 smtClean="0">
              <a:solidFill>
                <a:srgbClr val="C00000"/>
              </a:solidFill>
            </a:endParaRPr>
          </a:p>
          <a:p>
            <a:r>
              <a:rPr lang="sv-SE" dirty="0" err="1"/>
              <a:t>O</a:t>
            </a:r>
            <a:r>
              <a:rPr lang="sv-SE" dirty="0" err="1" smtClean="0"/>
              <a:t>ptimization</a:t>
            </a:r>
            <a:r>
              <a:rPr lang="sv-SE" dirty="0" smtClean="0"/>
              <a:t> 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Stochastic</a:t>
            </a:r>
            <a:r>
              <a:rPr lang="sv-SE" dirty="0"/>
              <a:t> </a:t>
            </a:r>
            <a:r>
              <a:rPr lang="sv-SE" dirty="0" err="1" smtClean="0"/>
              <a:t>optimizations</a:t>
            </a:r>
            <a:r>
              <a:rPr lang="sv-SE" dirty="0" smtClean="0"/>
              <a:t> like </a:t>
            </a:r>
            <a:r>
              <a:rPr lang="sv-SE" dirty="0" err="1" smtClean="0"/>
              <a:t>Genetic</a:t>
            </a:r>
            <a:r>
              <a:rPr lang="sv-SE" dirty="0" smtClean="0"/>
              <a:t> </a:t>
            </a:r>
            <a:r>
              <a:rPr lang="sv-SE" dirty="0" err="1" smtClean="0"/>
              <a:t>Algorithm</a:t>
            </a:r>
            <a:r>
              <a:rPr lang="sv-SE" dirty="0" smtClean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Direct</a:t>
            </a:r>
            <a:r>
              <a:rPr lang="sv-SE" dirty="0" smtClean="0"/>
              <a:t> </a:t>
            </a:r>
            <a:r>
              <a:rPr lang="sv-SE" dirty="0" err="1"/>
              <a:t>search</a:t>
            </a:r>
            <a:endParaRPr lang="sv-SE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Pareto</a:t>
            </a:r>
            <a:r>
              <a:rPr lang="sv-SE" dirty="0" smtClean="0"/>
              <a:t> </a:t>
            </a:r>
            <a:r>
              <a:rPr lang="sv-SE" dirty="0" err="1" smtClean="0"/>
              <a:t>frontier</a:t>
            </a:r>
            <a:endParaRPr lang="sv-SE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Inputs: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Mission profiles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Power ratings (Voltage, Current)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2045"/>
          <a:stretch/>
        </p:blipFill>
        <p:spPr>
          <a:xfrm>
            <a:off x="3502513" y="1200845"/>
            <a:ext cx="2496037" cy="5424487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69515" y="6350923"/>
            <a:ext cx="791797" cy="365125"/>
          </a:xfrm>
        </p:spPr>
        <p:txBody>
          <a:bodyPr/>
          <a:lstStyle/>
          <a:p>
            <a:r>
              <a:rPr lang="sv-SE" sz="2000" b="1" dirty="0" smtClean="0"/>
              <a:t>´3\3</a:t>
            </a:r>
            <a:endParaRPr lang="sv-SE" sz="2000" b="1" dirty="0"/>
          </a:p>
        </p:txBody>
      </p:sp>
    </p:spTree>
    <p:extLst>
      <p:ext uri="{BB962C8B-B14F-4D97-AF65-F5344CB8AC3E}">
        <p14:creationId xmlns:p14="http://schemas.microsoft.com/office/powerpoint/2010/main" val="244802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[1] A Compact 250 kW Silicon Carbide MOSFET based Three-Level Traction Inverter for Heavy Equipment Applications</a:t>
            </a:r>
          </a:p>
          <a:p>
            <a:r>
              <a:rPr lang="en-US" dirty="0" smtClean="0"/>
              <a:t>[2] Stepwise Design Methodology and Heterogeneous Integration Routine of Air-Cooled </a:t>
            </a:r>
            <a:r>
              <a:rPr lang="en-US" dirty="0" err="1" smtClean="0"/>
              <a:t>SiC</a:t>
            </a:r>
            <a:r>
              <a:rPr lang="en-US" dirty="0" smtClean="0"/>
              <a:t> Inverter for Electric Vehicle</a:t>
            </a:r>
          </a:p>
          <a:p>
            <a:r>
              <a:rPr lang="sv-SE" dirty="0" smtClean="0"/>
              <a:t>[3]Potentials and </a:t>
            </a:r>
            <a:r>
              <a:rPr lang="sv-SE" dirty="0" err="1" smtClean="0"/>
              <a:t>Comparison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Inverter</a:t>
            </a:r>
            <a:r>
              <a:rPr lang="sv-SE" dirty="0" smtClean="0"/>
              <a:t> </a:t>
            </a:r>
            <a:r>
              <a:rPr lang="sv-SE" dirty="0" err="1" smtClean="0"/>
              <a:t>Topologies</a:t>
            </a:r>
            <a:r>
              <a:rPr lang="sv-SE" dirty="0" smtClean="0"/>
              <a:t> for </a:t>
            </a:r>
            <a:r>
              <a:rPr lang="sv-SE" dirty="0" err="1" smtClean="0"/>
              <a:t>Future</a:t>
            </a:r>
            <a:r>
              <a:rPr lang="sv-SE" dirty="0" smtClean="0"/>
              <a:t> All-Electric Aircraft </a:t>
            </a:r>
            <a:r>
              <a:rPr lang="sv-SE" dirty="0" err="1" smtClean="0"/>
              <a:t>Propulsion</a:t>
            </a:r>
            <a:endParaRPr lang="sv-SE" dirty="0"/>
          </a:p>
          <a:p>
            <a:r>
              <a:rPr lang="en-US" dirty="0" smtClean="0"/>
              <a:t>[4] Multi-objective optimization design of electric vehicle converters based on ε-γ-σ</a:t>
            </a:r>
          </a:p>
          <a:p>
            <a:r>
              <a:rPr lang="en-US" dirty="0" smtClean="0"/>
              <a:t>[5] Comparative Life Cycle Cost Analysis of Si and </a:t>
            </a:r>
            <a:r>
              <a:rPr lang="en-US" dirty="0" err="1" smtClean="0"/>
              <a:t>SiC</a:t>
            </a:r>
            <a:r>
              <a:rPr lang="en-US" dirty="0" smtClean="0"/>
              <a:t> PV Converter Systems Based on Advanced η-ρ-σ </a:t>
            </a:r>
            <a:r>
              <a:rPr lang="en-US" dirty="0" err="1" smtClean="0"/>
              <a:t>Multiobjective</a:t>
            </a:r>
            <a:r>
              <a:rPr lang="en-US" dirty="0" smtClean="0"/>
              <a:t> Optimization Techniques</a:t>
            </a:r>
          </a:p>
          <a:p>
            <a:endParaRPr lang="sv-SE" dirty="0" smtClean="0"/>
          </a:p>
          <a:p>
            <a:endParaRPr lang="en-US" dirty="0" smtClean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0960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470</Words>
  <Application>Microsoft Office PowerPoint</Application>
  <PresentationFormat>Widescreen</PresentationFormat>
  <Paragraphs>95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Holistic Life Cycle Cost Optimization of the Traction Inverter</vt:lpstr>
      <vt:lpstr>Key parameter indicators(KPI) and Design Chapters [1]</vt:lpstr>
      <vt:lpstr>Loss and Volume Breakdowns \ Considered Topologies [2,3]</vt:lpstr>
      <vt:lpstr>Stepwise Design Methodology and Multi-objective Optimization [4,5]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Holistic Life Cycle Cost Optimization </dc:title>
  <dc:creator>Enes Ayaz</dc:creator>
  <cp:lastModifiedBy>Enes Ayaz</cp:lastModifiedBy>
  <cp:revision>10</cp:revision>
  <dcterms:created xsi:type="dcterms:W3CDTF">2023-06-18T13:45:21Z</dcterms:created>
  <dcterms:modified xsi:type="dcterms:W3CDTF">2023-06-19T07:12:23Z</dcterms:modified>
</cp:coreProperties>
</file>