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70" r:id="rId2"/>
    <p:sldId id="269" r:id="rId3"/>
    <p:sldId id="272" r:id="rId4"/>
    <p:sldId id="273" r:id="rId5"/>
    <p:sldId id="274" r:id="rId6"/>
    <p:sldId id="275" r:id="rId7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000" autoAdjust="0"/>
  </p:normalViewPr>
  <p:slideViewPr>
    <p:cSldViewPr snapToGrid="0">
      <p:cViewPr>
        <p:scale>
          <a:sx n="150" d="100"/>
          <a:sy n="150" d="100"/>
        </p:scale>
        <p:origin x="654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748320-CD47-4052-ADDD-D819C92E4C86}" type="datetimeFigureOut">
              <a:rPr lang="sv-SE" smtClean="0"/>
              <a:t>2024-03-05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7216CD-4008-44B2-8691-C150C71C924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831898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7216CD-4008-44B2-8691-C150C71C924D}" type="slidenum">
              <a:rPr lang="sv-SE" smtClean="0"/>
              <a:t>2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649181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1E336-1465-4761-8EE1-9A745EC7FE3E}" type="datetimeFigureOut">
              <a:rPr lang="sv-SE" smtClean="0"/>
              <a:t>2024-03-05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9030-8722-4F99-AB7E-48D3D9D3B7A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312636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1E336-1465-4761-8EE1-9A745EC7FE3E}" type="datetimeFigureOut">
              <a:rPr lang="sv-SE" smtClean="0"/>
              <a:t>2024-03-05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9030-8722-4F99-AB7E-48D3D9D3B7A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2958662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1E336-1465-4761-8EE1-9A745EC7FE3E}" type="datetimeFigureOut">
              <a:rPr lang="sv-SE" smtClean="0"/>
              <a:t>2024-03-05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9030-8722-4F99-AB7E-48D3D9D3B7A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791353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1E336-1465-4761-8EE1-9A745EC7FE3E}" type="datetimeFigureOut">
              <a:rPr lang="sv-SE" smtClean="0"/>
              <a:t>2024-03-05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9030-8722-4F99-AB7E-48D3D9D3B7A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379890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1E336-1465-4761-8EE1-9A745EC7FE3E}" type="datetimeFigureOut">
              <a:rPr lang="sv-SE" smtClean="0"/>
              <a:t>2024-03-05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9030-8722-4F99-AB7E-48D3D9D3B7A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532674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1E336-1465-4761-8EE1-9A745EC7FE3E}" type="datetimeFigureOut">
              <a:rPr lang="sv-SE" smtClean="0"/>
              <a:t>2024-03-05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9030-8722-4F99-AB7E-48D3D9D3B7A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050439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1E336-1465-4761-8EE1-9A745EC7FE3E}" type="datetimeFigureOut">
              <a:rPr lang="sv-SE" smtClean="0"/>
              <a:t>2024-03-05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9030-8722-4F99-AB7E-48D3D9D3B7A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2608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1E336-1465-4761-8EE1-9A745EC7FE3E}" type="datetimeFigureOut">
              <a:rPr lang="sv-SE" smtClean="0"/>
              <a:t>2024-03-05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9030-8722-4F99-AB7E-48D3D9D3B7A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952209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1E336-1465-4761-8EE1-9A745EC7FE3E}" type="datetimeFigureOut">
              <a:rPr lang="sv-SE" smtClean="0"/>
              <a:t>2024-03-05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9030-8722-4F99-AB7E-48D3D9D3B7A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198271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1E336-1465-4761-8EE1-9A745EC7FE3E}" type="datetimeFigureOut">
              <a:rPr lang="sv-SE" smtClean="0"/>
              <a:t>2024-03-05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9030-8722-4F99-AB7E-48D3D9D3B7A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220945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1E336-1465-4761-8EE1-9A745EC7FE3E}" type="datetimeFigureOut">
              <a:rPr lang="sv-SE" smtClean="0"/>
              <a:t>2024-03-05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9030-8722-4F99-AB7E-48D3D9D3B7A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468795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1E336-1465-4761-8EE1-9A745EC7FE3E}" type="datetimeFigureOut">
              <a:rPr lang="sv-SE" smtClean="0"/>
              <a:t>2024-03-05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49030-8722-4F99-AB7E-48D3D9D3B7A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02089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emf"/><Relationship Id="rId3" Type="http://schemas.openxmlformats.org/officeDocument/2006/relationships/image" Target="../media/image10.png"/><Relationship Id="rId7" Type="http://schemas.openxmlformats.org/officeDocument/2006/relationships/image" Target="../media/image14.emf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emf"/><Relationship Id="rId5" Type="http://schemas.openxmlformats.org/officeDocument/2006/relationships/image" Target="../media/image12.emf"/><Relationship Id="rId4" Type="http://schemas.openxmlformats.org/officeDocument/2006/relationships/image" Target="../media/image11.emf"/><Relationship Id="rId9" Type="http://schemas.openxmlformats.org/officeDocument/2006/relationships/image" Target="../media/image16.e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emf"/><Relationship Id="rId3" Type="http://schemas.openxmlformats.org/officeDocument/2006/relationships/image" Target="../media/image11.emf"/><Relationship Id="rId7" Type="http://schemas.openxmlformats.org/officeDocument/2006/relationships/image" Target="../media/image18.emf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emf"/><Relationship Id="rId5" Type="http://schemas.openxmlformats.org/officeDocument/2006/relationships/image" Target="../media/image13.emf"/><Relationship Id="rId4" Type="http://schemas.openxmlformats.org/officeDocument/2006/relationships/image" Target="../media/image12.e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:\Users\enesa\AppData\Local\Temp\ConnectorClipboard4878265646404591624\image16974464007200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816" y="422918"/>
            <a:ext cx="5524500" cy="456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166815" y="5798061"/>
            <a:ext cx="11318789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+mj-lt"/>
              <a:buAutoNum type="arabicPeriod"/>
            </a:pPr>
            <a:r>
              <a:rPr lang="sv-SE" dirty="0">
                <a:solidFill>
                  <a:srgbClr val="212121"/>
                </a:solidFill>
                <a:latin typeface="Helvetica" panose="020B0604020202020204" pitchFamily="34" charset="0"/>
              </a:rPr>
              <a:t>A Review </a:t>
            </a:r>
            <a:r>
              <a:rPr lang="sv-SE" dirty="0" err="1">
                <a:solidFill>
                  <a:srgbClr val="212121"/>
                </a:solidFill>
                <a:latin typeface="Helvetica" panose="020B0604020202020204" pitchFamily="34" charset="0"/>
              </a:rPr>
              <a:t>of</a:t>
            </a:r>
            <a:r>
              <a:rPr lang="sv-SE" dirty="0">
                <a:solidFill>
                  <a:srgbClr val="212121"/>
                </a:solidFill>
                <a:latin typeface="Helvetica" panose="020B0604020202020204" pitchFamily="34" charset="0"/>
              </a:rPr>
              <a:t> </a:t>
            </a:r>
            <a:r>
              <a:rPr lang="sv-SE" dirty="0" err="1">
                <a:solidFill>
                  <a:srgbClr val="212121"/>
                </a:solidFill>
                <a:latin typeface="Helvetica" panose="020B0604020202020204" pitchFamily="34" charset="0"/>
              </a:rPr>
              <a:t>Switching</a:t>
            </a:r>
            <a:r>
              <a:rPr lang="sv-SE" dirty="0">
                <a:solidFill>
                  <a:srgbClr val="212121"/>
                </a:solidFill>
                <a:latin typeface="Helvetica" panose="020B0604020202020204" pitchFamily="34" charset="0"/>
              </a:rPr>
              <a:t> </a:t>
            </a:r>
            <a:r>
              <a:rPr lang="sv-SE" dirty="0" err="1">
                <a:solidFill>
                  <a:srgbClr val="212121"/>
                </a:solidFill>
                <a:latin typeface="Helvetica" panose="020B0604020202020204" pitchFamily="34" charset="0"/>
              </a:rPr>
              <a:t>Slew</a:t>
            </a:r>
            <a:r>
              <a:rPr lang="sv-SE" dirty="0">
                <a:solidFill>
                  <a:srgbClr val="212121"/>
                </a:solidFill>
                <a:latin typeface="Helvetica" panose="020B0604020202020204" pitchFamily="34" charset="0"/>
              </a:rPr>
              <a:t> Rate Control for Silicon Carbide </a:t>
            </a:r>
            <a:r>
              <a:rPr lang="sv-SE" dirty="0" err="1">
                <a:solidFill>
                  <a:srgbClr val="212121"/>
                </a:solidFill>
                <a:latin typeface="Helvetica" panose="020B0604020202020204" pitchFamily="34" charset="0"/>
              </a:rPr>
              <a:t>Devices</a:t>
            </a:r>
            <a:r>
              <a:rPr lang="sv-SE" dirty="0">
                <a:solidFill>
                  <a:srgbClr val="212121"/>
                </a:solidFill>
                <a:latin typeface="Helvetica" panose="020B0604020202020204" pitchFamily="34" charset="0"/>
              </a:rPr>
              <a:t> </a:t>
            </a:r>
            <a:r>
              <a:rPr lang="sv-SE" dirty="0" err="1">
                <a:solidFill>
                  <a:srgbClr val="212121"/>
                </a:solidFill>
                <a:latin typeface="Helvetica" panose="020B0604020202020204" pitchFamily="34" charset="0"/>
              </a:rPr>
              <a:t>Using</a:t>
            </a:r>
            <a:r>
              <a:rPr lang="sv-SE" dirty="0">
                <a:solidFill>
                  <a:srgbClr val="212121"/>
                </a:solidFill>
                <a:latin typeface="Helvetica" panose="020B0604020202020204" pitchFamily="34" charset="0"/>
              </a:rPr>
              <a:t> Active Gate Drivers.</a:t>
            </a:r>
          </a:p>
          <a:p>
            <a:pPr>
              <a:buFont typeface="+mj-lt"/>
              <a:buAutoNum type="arabicPeriod"/>
            </a:pPr>
            <a:r>
              <a:rPr lang="sv-SE" dirty="0" err="1">
                <a:solidFill>
                  <a:srgbClr val="212121"/>
                </a:solidFill>
                <a:latin typeface="Helvetica" panose="020B0604020202020204" pitchFamily="34" charset="0"/>
              </a:rPr>
              <a:t>Analytical</a:t>
            </a:r>
            <a:r>
              <a:rPr lang="sv-SE" dirty="0">
                <a:solidFill>
                  <a:srgbClr val="212121"/>
                </a:solidFill>
                <a:latin typeface="Helvetica" panose="020B0604020202020204" pitchFamily="34" charset="0"/>
              </a:rPr>
              <a:t> Loss </a:t>
            </a:r>
            <a:r>
              <a:rPr lang="sv-SE" dirty="0" err="1">
                <a:solidFill>
                  <a:srgbClr val="212121"/>
                </a:solidFill>
                <a:latin typeface="Helvetica" panose="020B0604020202020204" pitchFamily="34" charset="0"/>
              </a:rPr>
              <a:t>Model</a:t>
            </a:r>
            <a:r>
              <a:rPr lang="sv-SE" dirty="0">
                <a:solidFill>
                  <a:srgbClr val="212121"/>
                </a:solidFill>
                <a:latin typeface="Helvetica" panose="020B0604020202020204" pitchFamily="34" charset="0"/>
              </a:rPr>
              <a:t> for Three-</a:t>
            </a:r>
            <a:r>
              <a:rPr lang="sv-SE" dirty="0" err="1">
                <a:solidFill>
                  <a:srgbClr val="212121"/>
                </a:solidFill>
                <a:latin typeface="Helvetica" panose="020B0604020202020204" pitchFamily="34" charset="0"/>
              </a:rPr>
              <a:t>Phase</a:t>
            </a:r>
            <a:r>
              <a:rPr lang="sv-SE" dirty="0">
                <a:solidFill>
                  <a:srgbClr val="212121"/>
                </a:solidFill>
                <a:latin typeface="Helvetica" panose="020B0604020202020204" pitchFamily="34" charset="0"/>
              </a:rPr>
              <a:t> 1200V </a:t>
            </a:r>
            <a:r>
              <a:rPr lang="sv-SE" dirty="0" err="1">
                <a:solidFill>
                  <a:srgbClr val="212121"/>
                </a:solidFill>
                <a:latin typeface="Helvetica" panose="020B0604020202020204" pitchFamily="34" charset="0"/>
              </a:rPr>
              <a:t>SiC</a:t>
            </a:r>
            <a:r>
              <a:rPr lang="sv-SE" dirty="0">
                <a:solidFill>
                  <a:srgbClr val="212121"/>
                </a:solidFill>
                <a:latin typeface="Helvetica" panose="020B0604020202020204" pitchFamily="34" charset="0"/>
              </a:rPr>
              <a:t> MOSFET </a:t>
            </a:r>
            <a:r>
              <a:rPr lang="sv-SE" dirty="0" err="1">
                <a:solidFill>
                  <a:srgbClr val="212121"/>
                </a:solidFill>
                <a:latin typeface="Helvetica" panose="020B0604020202020204" pitchFamily="34" charset="0"/>
              </a:rPr>
              <a:t>Inverter</a:t>
            </a:r>
            <a:r>
              <a:rPr lang="sv-SE" dirty="0">
                <a:solidFill>
                  <a:srgbClr val="212121"/>
                </a:solidFill>
                <a:latin typeface="Helvetica" panose="020B0604020202020204" pitchFamily="34" charset="0"/>
              </a:rPr>
              <a:t> Drive System </a:t>
            </a:r>
            <a:r>
              <a:rPr lang="sv-SE" dirty="0" err="1">
                <a:solidFill>
                  <a:srgbClr val="212121"/>
                </a:solidFill>
                <a:latin typeface="Helvetica" panose="020B0604020202020204" pitchFamily="34" charset="0"/>
              </a:rPr>
              <a:t>Utilizing</a:t>
            </a:r>
            <a:r>
              <a:rPr lang="sv-SE" dirty="0">
                <a:solidFill>
                  <a:srgbClr val="212121"/>
                </a:solidFill>
                <a:latin typeface="Helvetica" panose="020B0604020202020204" pitchFamily="34" charset="0"/>
              </a:rPr>
              <a:t> Miller </a:t>
            </a:r>
            <a:r>
              <a:rPr lang="sv-SE" dirty="0" err="1">
                <a:solidFill>
                  <a:srgbClr val="212121"/>
                </a:solidFill>
                <a:latin typeface="Helvetica" panose="020B0604020202020204" pitchFamily="34" charset="0"/>
              </a:rPr>
              <a:t>Capacitor-Based</a:t>
            </a:r>
            <a:r>
              <a:rPr lang="sv-SE" dirty="0">
                <a:solidFill>
                  <a:srgbClr val="212121"/>
                </a:solidFill>
                <a:latin typeface="Helvetica" panose="020B0604020202020204" pitchFamily="34" charset="0"/>
              </a:rPr>
              <a:t> dv/dt-Limitation</a:t>
            </a:r>
            <a:endParaRPr lang="sv-SE" b="0" i="0" dirty="0">
              <a:solidFill>
                <a:srgbClr val="212121"/>
              </a:solidFill>
              <a:effectLst/>
              <a:latin typeface="Helvetica" panose="020B0604020202020204" pitchFamily="34" charset="0"/>
            </a:endParaRPr>
          </a:p>
        </p:txBody>
      </p:sp>
      <p:pic>
        <p:nvPicPr>
          <p:cNvPr id="1028" name="Picture 4" descr="C:\Users\enesa\AppData\Local\Temp\ConnectorClipboard4878265646404591624\image16974465575270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7872" y="1512648"/>
            <a:ext cx="3086100" cy="84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/>
          <p:cNvSpPr/>
          <p:nvPr/>
        </p:nvSpPr>
        <p:spPr>
          <a:xfrm>
            <a:off x="6096000" y="535651"/>
            <a:ext cx="585651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121"/>
                </a:solidFill>
                <a:latin typeface="Helvetica" panose="020B0604020202020204" pitchFamily="34" charset="0"/>
              </a:rPr>
              <a:t>The </a:t>
            </a:r>
            <a:r>
              <a:rPr lang="en-US" b="1" dirty="0">
                <a:solidFill>
                  <a:srgbClr val="212121"/>
                </a:solidFill>
                <a:latin typeface="Helvetica" panose="020B0604020202020204" pitchFamily="34" charset="0"/>
              </a:rPr>
              <a:t>switching energy loss </a:t>
            </a:r>
            <a:r>
              <a:rPr lang="en-US" dirty="0">
                <a:solidFill>
                  <a:srgbClr val="212121"/>
                </a:solidFill>
                <a:latin typeface="Helvetica" panose="020B0604020202020204" pitchFamily="34" charset="0"/>
              </a:rPr>
              <a:t>can be roughly evaluated with the following </a:t>
            </a:r>
            <a:r>
              <a:rPr lang="en-US" dirty="0" smtClean="0">
                <a:solidFill>
                  <a:srgbClr val="212121"/>
                </a:solidFill>
                <a:latin typeface="Helvetica" panose="020B0604020202020204" pitchFamily="34" charset="0"/>
              </a:rPr>
              <a:t>equation (without zero current component):</a:t>
            </a:r>
            <a:endParaRPr lang="en-US" b="0" i="0" dirty="0">
              <a:solidFill>
                <a:srgbClr val="212121"/>
              </a:solidFill>
              <a:effectLst/>
              <a:latin typeface="Helvetica" panose="020B0604020202020204" pitchFamily="34" charset="0"/>
            </a:endParaRPr>
          </a:p>
        </p:txBody>
      </p:sp>
      <p:pic>
        <p:nvPicPr>
          <p:cNvPr id="1030" name="Picture 6" descr="C:\Users\enesa\AppData\Local\Temp\ConnectorClipboard4878265646404591624\image16974466597240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9590" y="2749179"/>
            <a:ext cx="4917989" cy="2236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54476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9450" y="157694"/>
            <a:ext cx="5918200" cy="785383"/>
          </a:xfrm>
        </p:spPr>
        <p:txBody>
          <a:bodyPr/>
          <a:lstStyle/>
          <a:p>
            <a:r>
              <a:rPr lang="en-US" dirty="0" smtClean="0"/>
              <a:t>Effect of dv/</a:t>
            </a:r>
            <a:r>
              <a:rPr lang="en-US" dirty="0" err="1" smtClean="0"/>
              <a:t>dt</a:t>
            </a:r>
            <a:endParaRPr lang="sv-SE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48" y="943077"/>
            <a:ext cx="3144141" cy="21674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04026719"/>
                  </p:ext>
                </p:extLst>
              </p:nvPr>
            </p:nvGraphicFramePr>
            <p:xfrm>
              <a:off x="752228" y="3278831"/>
              <a:ext cx="10445752" cy="317553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97293">
                      <a:extLst>
                        <a:ext uri="{9D8B030D-6E8A-4147-A177-3AD203B41FA5}">
                          <a16:colId xmlns:a16="http://schemas.microsoft.com/office/drawing/2014/main" val="765254450"/>
                        </a:ext>
                      </a:extLst>
                    </a:gridCol>
                    <a:gridCol w="1407858">
                      <a:extLst>
                        <a:ext uri="{9D8B030D-6E8A-4147-A177-3AD203B41FA5}">
                          <a16:colId xmlns:a16="http://schemas.microsoft.com/office/drawing/2014/main" val="1853295923"/>
                        </a:ext>
                      </a:extLst>
                    </a:gridCol>
                    <a:gridCol w="790648">
                      <a:extLst>
                        <a:ext uri="{9D8B030D-6E8A-4147-A177-3AD203B41FA5}">
                          <a16:colId xmlns:a16="http://schemas.microsoft.com/office/drawing/2014/main" val="1049471291"/>
                        </a:ext>
                      </a:extLst>
                    </a:gridCol>
                    <a:gridCol w="1279452">
                      <a:extLst>
                        <a:ext uri="{9D8B030D-6E8A-4147-A177-3AD203B41FA5}">
                          <a16:colId xmlns:a16="http://schemas.microsoft.com/office/drawing/2014/main" val="3933410167"/>
                        </a:ext>
                      </a:extLst>
                    </a:gridCol>
                    <a:gridCol w="1238250">
                      <a:extLst>
                        <a:ext uri="{9D8B030D-6E8A-4147-A177-3AD203B41FA5}">
                          <a16:colId xmlns:a16="http://schemas.microsoft.com/office/drawing/2014/main" val="2752168892"/>
                        </a:ext>
                      </a:extLst>
                    </a:gridCol>
                    <a:gridCol w="1416050">
                      <a:extLst>
                        <a:ext uri="{9D8B030D-6E8A-4147-A177-3AD203B41FA5}">
                          <a16:colId xmlns:a16="http://schemas.microsoft.com/office/drawing/2014/main" val="1978550322"/>
                        </a:ext>
                      </a:extLst>
                    </a:gridCol>
                    <a:gridCol w="1377950">
                      <a:extLst>
                        <a:ext uri="{9D8B030D-6E8A-4147-A177-3AD203B41FA5}">
                          <a16:colId xmlns:a16="http://schemas.microsoft.com/office/drawing/2014/main" val="3843558292"/>
                        </a:ext>
                      </a:extLst>
                    </a:gridCol>
                    <a:gridCol w="1238251">
                      <a:extLst>
                        <a:ext uri="{9D8B030D-6E8A-4147-A177-3AD203B41FA5}">
                          <a16:colId xmlns:a16="http://schemas.microsoft.com/office/drawing/2014/main" val="4197363272"/>
                        </a:ext>
                      </a:extLst>
                    </a:gridCol>
                  </a:tblGrid>
                  <a:tr h="90878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Gate Resistance (Ext)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Ω</m:t>
                              </m:r>
                            </m:oMath>
                          </a14:m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Source current </a:t>
                          </a:r>
                        </a:p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Eon </a:t>
                          </a:r>
                        </a:p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Eoff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l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di/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dt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(on) (A/ns)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dv/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dt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(on) (V/ns)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l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di/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dt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(off) </a:t>
                          </a:r>
                        </a:p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(A/ns)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dv/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dt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(off)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(V/ns)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0662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32.5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752573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0.5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17.5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37.5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42.5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42.5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8965090"/>
                      </a:ext>
                    </a:extLst>
                  </a:tr>
                  <a:tr h="40693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21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60064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1.75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17.5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27.5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17999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Changes ratio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X3.5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X0.5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x0.60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X0.66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X0.58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7206792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Total Change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x2.15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sv-SE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297830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04026719"/>
                  </p:ext>
                </p:extLst>
              </p:nvPr>
            </p:nvGraphicFramePr>
            <p:xfrm>
              <a:off x="752228" y="3278831"/>
              <a:ext cx="10445752" cy="317553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97293">
                      <a:extLst>
                        <a:ext uri="{9D8B030D-6E8A-4147-A177-3AD203B41FA5}">
                          <a16:colId xmlns:a16="http://schemas.microsoft.com/office/drawing/2014/main" val="765254450"/>
                        </a:ext>
                      </a:extLst>
                    </a:gridCol>
                    <a:gridCol w="1407858">
                      <a:extLst>
                        <a:ext uri="{9D8B030D-6E8A-4147-A177-3AD203B41FA5}">
                          <a16:colId xmlns:a16="http://schemas.microsoft.com/office/drawing/2014/main" val="1853295923"/>
                        </a:ext>
                      </a:extLst>
                    </a:gridCol>
                    <a:gridCol w="790648">
                      <a:extLst>
                        <a:ext uri="{9D8B030D-6E8A-4147-A177-3AD203B41FA5}">
                          <a16:colId xmlns:a16="http://schemas.microsoft.com/office/drawing/2014/main" val="1049471291"/>
                        </a:ext>
                      </a:extLst>
                    </a:gridCol>
                    <a:gridCol w="1279452">
                      <a:extLst>
                        <a:ext uri="{9D8B030D-6E8A-4147-A177-3AD203B41FA5}">
                          <a16:colId xmlns:a16="http://schemas.microsoft.com/office/drawing/2014/main" val="3933410167"/>
                        </a:ext>
                      </a:extLst>
                    </a:gridCol>
                    <a:gridCol w="1238250">
                      <a:extLst>
                        <a:ext uri="{9D8B030D-6E8A-4147-A177-3AD203B41FA5}">
                          <a16:colId xmlns:a16="http://schemas.microsoft.com/office/drawing/2014/main" val="2752168892"/>
                        </a:ext>
                      </a:extLst>
                    </a:gridCol>
                    <a:gridCol w="1416050">
                      <a:extLst>
                        <a:ext uri="{9D8B030D-6E8A-4147-A177-3AD203B41FA5}">
                          <a16:colId xmlns:a16="http://schemas.microsoft.com/office/drawing/2014/main" val="1978550322"/>
                        </a:ext>
                      </a:extLst>
                    </a:gridCol>
                    <a:gridCol w="1377950">
                      <a:extLst>
                        <a:ext uri="{9D8B030D-6E8A-4147-A177-3AD203B41FA5}">
                          <a16:colId xmlns:a16="http://schemas.microsoft.com/office/drawing/2014/main" val="3843558292"/>
                        </a:ext>
                      </a:extLst>
                    </a:gridCol>
                    <a:gridCol w="1238251">
                      <a:extLst>
                        <a:ext uri="{9D8B030D-6E8A-4147-A177-3AD203B41FA5}">
                          <a16:colId xmlns:a16="http://schemas.microsoft.com/office/drawing/2014/main" val="4197363272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58" t="-3333" r="-515412" b="-25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Source current </a:t>
                          </a:r>
                        </a:p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Eon </a:t>
                          </a:r>
                        </a:p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Eoff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l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di/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dt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(on) (A/ns)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dv/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dt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(on) (V/ns)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l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di/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dt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(off) </a:t>
                          </a:r>
                        </a:p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(A/ns)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dv/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dt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(off)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(V/ns)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0662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32.5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752573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0.5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17.5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37.5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42.5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42.5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8965090"/>
                      </a:ext>
                    </a:extLst>
                  </a:tr>
                  <a:tr h="40693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21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60064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1.75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17.5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27.5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17999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Changes ratio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X3.5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X0.5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x0.60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X0.66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X0.58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7206792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Total Change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x2.15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sv-SE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29783007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2426" y="965621"/>
            <a:ext cx="3047206" cy="216749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3297" y="943077"/>
            <a:ext cx="3108703" cy="2257866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88897" y="954349"/>
            <a:ext cx="3068964" cy="2167497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343399" y="217434"/>
            <a:ext cx="707082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 smtClean="0"/>
              <a:t>https://eu.mouser.com/datasheet/2/90/CAB006A12GM3-2886938.pdf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9030479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2113808" y="414996"/>
            <a:ext cx="3920876" cy="433761"/>
          </a:xfrm>
        </p:spPr>
        <p:txBody>
          <a:bodyPr>
            <a:noAutofit/>
          </a:bodyPr>
          <a:lstStyle/>
          <a:p>
            <a:r>
              <a:rPr lang="sv-SE" sz="2800" dirty="0" smtClean="0"/>
              <a:t>CAB500M17HM3-3ph</a:t>
            </a:r>
            <a:endParaRPr lang="sv-SE" sz="28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252" y="304822"/>
            <a:ext cx="1802400" cy="613515"/>
          </a:xfrm>
          <a:prstGeom prst="rect">
            <a:avLst/>
          </a:prstGeom>
        </p:spPr>
      </p:pic>
      <p:sp>
        <p:nvSpPr>
          <p:cNvPr id="14" name="Title 1"/>
          <p:cNvSpPr txBox="1">
            <a:spLocks/>
          </p:cNvSpPr>
          <p:nvPr/>
        </p:nvSpPr>
        <p:spPr>
          <a:xfrm>
            <a:off x="2255617" y="3630294"/>
            <a:ext cx="3444633" cy="6166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v-SE" dirty="0" smtClean="0"/>
              <a:t>CAS380M17HM3-3ph</a:t>
            </a:r>
            <a:endParaRPr lang="sv-SE" dirty="0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4782" y="3551902"/>
            <a:ext cx="1661628" cy="664651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776" y="4223950"/>
            <a:ext cx="3441357" cy="2581018"/>
          </a:xfrm>
          <a:prstGeom prst="rect">
            <a:avLst/>
          </a:prstGeom>
        </p:spPr>
      </p:pic>
      <p:pic>
        <p:nvPicPr>
          <p:cNvPr id="24" name="Picture 2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6522" y="4297138"/>
            <a:ext cx="3336324" cy="2502243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4235" y="4437007"/>
            <a:ext cx="3215070" cy="2411303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5806" y="1004494"/>
            <a:ext cx="3457296" cy="2592972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67054" y="1050058"/>
            <a:ext cx="3335792" cy="2501844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08752" y="1053423"/>
            <a:ext cx="3270553" cy="2452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0332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 txBox="1">
            <a:spLocks/>
          </p:cNvSpPr>
          <p:nvPr/>
        </p:nvSpPr>
        <p:spPr>
          <a:xfrm>
            <a:off x="2382046" y="224289"/>
            <a:ext cx="3444633" cy="6166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v-SE" dirty="0" smtClean="0"/>
              <a:t>CAS380M17HM3-3ph</a:t>
            </a:r>
            <a:endParaRPr lang="sv-SE" dirty="0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559" y="191629"/>
            <a:ext cx="1661628" cy="664651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311" y="832021"/>
            <a:ext cx="3441357" cy="2581018"/>
          </a:xfrm>
          <a:prstGeom prst="rect">
            <a:avLst/>
          </a:prstGeom>
        </p:spPr>
      </p:pic>
      <p:pic>
        <p:nvPicPr>
          <p:cNvPr id="24" name="Picture 2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5057" y="905209"/>
            <a:ext cx="3336324" cy="2502243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2770" y="1045078"/>
            <a:ext cx="3215070" cy="2411303"/>
          </a:xfrm>
          <a:prstGeom prst="rect">
            <a:avLst/>
          </a:prstGeom>
        </p:spPr>
      </p:pic>
      <p:sp>
        <p:nvSpPr>
          <p:cNvPr id="13" name="Title 1"/>
          <p:cNvSpPr txBox="1">
            <a:spLocks/>
          </p:cNvSpPr>
          <p:nvPr/>
        </p:nvSpPr>
        <p:spPr>
          <a:xfrm>
            <a:off x="2102989" y="3511342"/>
            <a:ext cx="3444633" cy="6166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v-SE" dirty="0" smtClean="0"/>
              <a:t>CAS380M17HM3-6ph</a:t>
            </a:r>
            <a:endParaRPr lang="sv-SE" dirty="0"/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559" y="3463294"/>
            <a:ext cx="1661628" cy="66465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945" y="4338257"/>
            <a:ext cx="3219376" cy="241453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3464" y="4291149"/>
            <a:ext cx="3127917" cy="2345938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9048" y="4244958"/>
            <a:ext cx="3217741" cy="2413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800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164" y="644355"/>
            <a:ext cx="7648302" cy="3550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7583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337194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4576</TotalTime>
  <Words>151</Words>
  <Application>Microsoft Office PowerPoint</Application>
  <PresentationFormat>Widescreen</PresentationFormat>
  <Paragraphs>64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Arial</vt:lpstr>
      <vt:lpstr>Calibri</vt:lpstr>
      <vt:lpstr>Calibri Light</vt:lpstr>
      <vt:lpstr>Cambria Math</vt:lpstr>
      <vt:lpstr>Helvetica</vt:lpstr>
      <vt:lpstr>Times New Roman</vt:lpstr>
      <vt:lpstr>Office Theme</vt:lpstr>
      <vt:lpstr>PowerPoint Presentation</vt:lpstr>
      <vt:lpstr>Effect of dv/dt</vt:lpstr>
      <vt:lpstr>CAB500M17HM3-3ph</vt:lpstr>
      <vt:lpstr>PowerPoint Presentation</vt:lpstr>
      <vt:lpstr>PowerPoint Presentation</vt:lpstr>
      <vt:lpstr>PowerPoint Presentation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62</cp:revision>
  <dcterms:created xsi:type="dcterms:W3CDTF">2023-10-04T08:35:24Z</dcterms:created>
  <dcterms:modified xsi:type="dcterms:W3CDTF">2024-03-07T09:46:07Z</dcterms:modified>
</cp:coreProperties>
</file>