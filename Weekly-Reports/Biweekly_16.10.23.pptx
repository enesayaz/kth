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0" r:id="rId2"/>
    <p:sldId id="269" r:id="rId3"/>
    <p:sldId id="272" r:id="rId4"/>
    <p:sldId id="273" r:id="rId5"/>
    <p:sldId id="274" r:id="rId6"/>
    <p:sldId id="275" r:id="rId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180" autoAdjust="0"/>
  </p:normalViewPr>
  <p:slideViewPr>
    <p:cSldViewPr snapToGrid="0">
      <p:cViewPr varScale="1">
        <p:scale>
          <a:sx n="146" d="100"/>
          <a:sy n="146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48320-CD47-4052-ADDD-D819C92E4C86}" type="datetimeFigureOut">
              <a:rPr lang="sv-SE" smtClean="0"/>
              <a:t>2023-10-16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216CD-4008-44B2-8691-C150C71C924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31898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216CD-4008-44B2-8691-C150C71C924D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4918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31263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586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79135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7989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2023-10-16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5326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2023-10-16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05043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2023-10-16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260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522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1982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2209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2023-10-16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687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1E336-1465-4761-8EE1-9A745EC7FE3E}" type="datetimeFigureOut">
              <a:rPr lang="sv-SE" smtClean="0"/>
              <a:t>2023-10-16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0208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png"/><Relationship Id="rId7" Type="http://schemas.openxmlformats.org/officeDocument/2006/relationships/image" Target="../media/image14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Relationship Id="rId9" Type="http://schemas.openxmlformats.org/officeDocument/2006/relationships/image" Target="../media/image1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11.emf"/><Relationship Id="rId7" Type="http://schemas.openxmlformats.org/officeDocument/2006/relationships/image" Target="../media/image18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enesa\AppData\Local\Temp\ConnectorClipboard4878265646404591624\image16974464007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16" y="422918"/>
            <a:ext cx="5524500" cy="456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66815" y="5798061"/>
            <a:ext cx="113187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sv-SE" dirty="0">
                <a:solidFill>
                  <a:srgbClr val="212121"/>
                </a:solidFill>
                <a:latin typeface="Helvetica" panose="020B0604020202020204" pitchFamily="34" charset="0"/>
              </a:rPr>
              <a:t>A Review </a:t>
            </a:r>
            <a:r>
              <a:rPr lang="sv-SE" dirty="0" err="1">
                <a:solidFill>
                  <a:srgbClr val="212121"/>
                </a:solidFill>
                <a:latin typeface="Helvetica" panose="020B0604020202020204" pitchFamily="34" charset="0"/>
              </a:rPr>
              <a:t>of</a:t>
            </a:r>
            <a:r>
              <a:rPr lang="sv-SE" dirty="0">
                <a:solidFill>
                  <a:srgbClr val="212121"/>
                </a:solidFill>
                <a:latin typeface="Helvetica" panose="020B0604020202020204" pitchFamily="34" charset="0"/>
              </a:rPr>
              <a:t> </a:t>
            </a:r>
            <a:r>
              <a:rPr lang="sv-SE" dirty="0" err="1">
                <a:solidFill>
                  <a:srgbClr val="212121"/>
                </a:solidFill>
                <a:latin typeface="Helvetica" panose="020B0604020202020204" pitchFamily="34" charset="0"/>
              </a:rPr>
              <a:t>Switching</a:t>
            </a:r>
            <a:r>
              <a:rPr lang="sv-SE" dirty="0">
                <a:solidFill>
                  <a:srgbClr val="212121"/>
                </a:solidFill>
                <a:latin typeface="Helvetica" panose="020B0604020202020204" pitchFamily="34" charset="0"/>
              </a:rPr>
              <a:t> </a:t>
            </a:r>
            <a:r>
              <a:rPr lang="sv-SE" dirty="0" err="1">
                <a:solidFill>
                  <a:srgbClr val="212121"/>
                </a:solidFill>
                <a:latin typeface="Helvetica" panose="020B0604020202020204" pitchFamily="34" charset="0"/>
              </a:rPr>
              <a:t>Slew</a:t>
            </a:r>
            <a:r>
              <a:rPr lang="sv-SE" dirty="0">
                <a:solidFill>
                  <a:srgbClr val="212121"/>
                </a:solidFill>
                <a:latin typeface="Helvetica" panose="020B0604020202020204" pitchFamily="34" charset="0"/>
              </a:rPr>
              <a:t> Rate Control for Silicon Carbide </a:t>
            </a:r>
            <a:r>
              <a:rPr lang="sv-SE" dirty="0" err="1">
                <a:solidFill>
                  <a:srgbClr val="212121"/>
                </a:solidFill>
                <a:latin typeface="Helvetica" panose="020B0604020202020204" pitchFamily="34" charset="0"/>
              </a:rPr>
              <a:t>Devices</a:t>
            </a:r>
            <a:r>
              <a:rPr lang="sv-SE" dirty="0">
                <a:solidFill>
                  <a:srgbClr val="212121"/>
                </a:solidFill>
                <a:latin typeface="Helvetica" panose="020B0604020202020204" pitchFamily="34" charset="0"/>
              </a:rPr>
              <a:t> </a:t>
            </a:r>
            <a:r>
              <a:rPr lang="sv-SE" dirty="0" err="1">
                <a:solidFill>
                  <a:srgbClr val="212121"/>
                </a:solidFill>
                <a:latin typeface="Helvetica" panose="020B0604020202020204" pitchFamily="34" charset="0"/>
              </a:rPr>
              <a:t>Using</a:t>
            </a:r>
            <a:r>
              <a:rPr lang="sv-SE" dirty="0">
                <a:solidFill>
                  <a:srgbClr val="212121"/>
                </a:solidFill>
                <a:latin typeface="Helvetica" panose="020B0604020202020204" pitchFamily="34" charset="0"/>
              </a:rPr>
              <a:t> Active Gate Drivers.</a:t>
            </a:r>
          </a:p>
          <a:p>
            <a:pPr>
              <a:buFont typeface="+mj-lt"/>
              <a:buAutoNum type="arabicPeriod"/>
            </a:pPr>
            <a:r>
              <a:rPr lang="sv-SE" dirty="0" err="1">
                <a:solidFill>
                  <a:srgbClr val="212121"/>
                </a:solidFill>
                <a:latin typeface="Helvetica" panose="020B0604020202020204" pitchFamily="34" charset="0"/>
              </a:rPr>
              <a:t>Analytical</a:t>
            </a:r>
            <a:r>
              <a:rPr lang="sv-SE" dirty="0">
                <a:solidFill>
                  <a:srgbClr val="212121"/>
                </a:solidFill>
                <a:latin typeface="Helvetica" panose="020B0604020202020204" pitchFamily="34" charset="0"/>
              </a:rPr>
              <a:t> Loss </a:t>
            </a:r>
            <a:r>
              <a:rPr lang="sv-SE" dirty="0" err="1">
                <a:solidFill>
                  <a:srgbClr val="212121"/>
                </a:solidFill>
                <a:latin typeface="Helvetica" panose="020B0604020202020204" pitchFamily="34" charset="0"/>
              </a:rPr>
              <a:t>Model</a:t>
            </a:r>
            <a:r>
              <a:rPr lang="sv-SE" dirty="0">
                <a:solidFill>
                  <a:srgbClr val="212121"/>
                </a:solidFill>
                <a:latin typeface="Helvetica" panose="020B0604020202020204" pitchFamily="34" charset="0"/>
              </a:rPr>
              <a:t> for Three-</a:t>
            </a:r>
            <a:r>
              <a:rPr lang="sv-SE" dirty="0" err="1">
                <a:solidFill>
                  <a:srgbClr val="212121"/>
                </a:solidFill>
                <a:latin typeface="Helvetica" panose="020B0604020202020204" pitchFamily="34" charset="0"/>
              </a:rPr>
              <a:t>Phase</a:t>
            </a:r>
            <a:r>
              <a:rPr lang="sv-SE" dirty="0">
                <a:solidFill>
                  <a:srgbClr val="212121"/>
                </a:solidFill>
                <a:latin typeface="Helvetica" panose="020B0604020202020204" pitchFamily="34" charset="0"/>
              </a:rPr>
              <a:t> 1200V </a:t>
            </a:r>
            <a:r>
              <a:rPr lang="sv-SE" dirty="0" err="1">
                <a:solidFill>
                  <a:srgbClr val="212121"/>
                </a:solidFill>
                <a:latin typeface="Helvetica" panose="020B0604020202020204" pitchFamily="34" charset="0"/>
              </a:rPr>
              <a:t>SiC</a:t>
            </a:r>
            <a:r>
              <a:rPr lang="sv-SE" dirty="0">
                <a:solidFill>
                  <a:srgbClr val="212121"/>
                </a:solidFill>
                <a:latin typeface="Helvetica" panose="020B0604020202020204" pitchFamily="34" charset="0"/>
              </a:rPr>
              <a:t> MOSFET </a:t>
            </a:r>
            <a:r>
              <a:rPr lang="sv-SE" dirty="0" err="1">
                <a:solidFill>
                  <a:srgbClr val="212121"/>
                </a:solidFill>
                <a:latin typeface="Helvetica" panose="020B0604020202020204" pitchFamily="34" charset="0"/>
              </a:rPr>
              <a:t>Inverter</a:t>
            </a:r>
            <a:r>
              <a:rPr lang="sv-SE" dirty="0">
                <a:solidFill>
                  <a:srgbClr val="212121"/>
                </a:solidFill>
                <a:latin typeface="Helvetica" panose="020B0604020202020204" pitchFamily="34" charset="0"/>
              </a:rPr>
              <a:t> Drive System </a:t>
            </a:r>
            <a:r>
              <a:rPr lang="sv-SE" dirty="0" err="1">
                <a:solidFill>
                  <a:srgbClr val="212121"/>
                </a:solidFill>
                <a:latin typeface="Helvetica" panose="020B0604020202020204" pitchFamily="34" charset="0"/>
              </a:rPr>
              <a:t>Utilizing</a:t>
            </a:r>
            <a:r>
              <a:rPr lang="sv-SE" dirty="0">
                <a:solidFill>
                  <a:srgbClr val="212121"/>
                </a:solidFill>
                <a:latin typeface="Helvetica" panose="020B0604020202020204" pitchFamily="34" charset="0"/>
              </a:rPr>
              <a:t> Miller </a:t>
            </a:r>
            <a:r>
              <a:rPr lang="sv-SE" dirty="0" err="1">
                <a:solidFill>
                  <a:srgbClr val="212121"/>
                </a:solidFill>
                <a:latin typeface="Helvetica" panose="020B0604020202020204" pitchFamily="34" charset="0"/>
              </a:rPr>
              <a:t>Capacitor-Based</a:t>
            </a:r>
            <a:r>
              <a:rPr lang="sv-SE" dirty="0">
                <a:solidFill>
                  <a:srgbClr val="212121"/>
                </a:solidFill>
                <a:latin typeface="Helvetica" panose="020B0604020202020204" pitchFamily="34" charset="0"/>
              </a:rPr>
              <a:t> dv/dt-Limitation</a:t>
            </a:r>
            <a:endParaRPr lang="sv-SE" b="0" i="0" dirty="0">
              <a:solidFill>
                <a:srgbClr val="212121"/>
              </a:solidFill>
              <a:effectLst/>
              <a:latin typeface="Helvetica" panose="020B0604020202020204" pitchFamily="34" charset="0"/>
            </a:endParaRPr>
          </a:p>
        </p:txBody>
      </p:sp>
      <p:pic>
        <p:nvPicPr>
          <p:cNvPr id="1028" name="Picture 4" descr="C:\Users\enesa\AppData\Local\Temp\ConnectorClipboard4878265646404591624\image1697446557527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872" y="1512648"/>
            <a:ext cx="308610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096000" y="535651"/>
            <a:ext cx="58565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12121"/>
                </a:solidFill>
                <a:latin typeface="Helvetica" panose="020B0604020202020204" pitchFamily="34" charset="0"/>
              </a:rPr>
              <a:t>The </a:t>
            </a:r>
            <a:r>
              <a:rPr lang="en-US" b="1" dirty="0">
                <a:solidFill>
                  <a:srgbClr val="212121"/>
                </a:solidFill>
                <a:latin typeface="Helvetica" panose="020B0604020202020204" pitchFamily="34" charset="0"/>
              </a:rPr>
              <a:t>switching energy loss </a:t>
            </a:r>
            <a:r>
              <a:rPr lang="en-US" dirty="0">
                <a:solidFill>
                  <a:srgbClr val="212121"/>
                </a:solidFill>
                <a:latin typeface="Helvetica" panose="020B0604020202020204" pitchFamily="34" charset="0"/>
              </a:rPr>
              <a:t>can be roughly evaluated with the following </a:t>
            </a:r>
            <a:r>
              <a:rPr lang="en-US" dirty="0" smtClean="0">
                <a:solidFill>
                  <a:srgbClr val="212121"/>
                </a:solidFill>
                <a:latin typeface="Helvetica" panose="020B0604020202020204" pitchFamily="34" charset="0"/>
              </a:rPr>
              <a:t>equation (without zero current component):</a:t>
            </a:r>
            <a:endParaRPr lang="en-US" b="0" i="0" dirty="0">
              <a:solidFill>
                <a:srgbClr val="212121"/>
              </a:solidFill>
              <a:effectLst/>
              <a:latin typeface="Helvetica" panose="020B0604020202020204" pitchFamily="34" charset="0"/>
            </a:endParaRPr>
          </a:p>
        </p:txBody>
      </p:sp>
      <p:pic>
        <p:nvPicPr>
          <p:cNvPr id="1030" name="Picture 6" descr="C:\Users\enesa\AppData\Local\Temp\ConnectorClipboard4878265646404591624\image1697446659724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590" y="2749179"/>
            <a:ext cx="4917989" cy="2236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447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450" y="157694"/>
            <a:ext cx="5918200" cy="785383"/>
          </a:xfrm>
        </p:spPr>
        <p:txBody>
          <a:bodyPr/>
          <a:lstStyle/>
          <a:p>
            <a:r>
              <a:rPr lang="en-US" dirty="0" smtClean="0"/>
              <a:t>Effect of dv/</a:t>
            </a:r>
            <a:r>
              <a:rPr lang="en-US" dirty="0" err="1" smtClean="0"/>
              <a:t>dt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48" y="943077"/>
            <a:ext cx="3144141" cy="21674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4026719"/>
                  </p:ext>
                </p:extLst>
              </p:nvPr>
            </p:nvGraphicFramePr>
            <p:xfrm>
              <a:off x="752228" y="3278831"/>
              <a:ext cx="10445752" cy="31755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7293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407858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790648">
                      <a:extLst>
                        <a:ext uri="{9D8B030D-6E8A-4147-A177-3AD203B41FA5}">
                          <a16:colId xmlns:a16="http://schemas.microsoft.com/office/drawing/2014/main" val="1049471291"/>
                        </a:ext>
                      </a:extLst>
                    </a:gridCol>
                    <a:gridCol w="1279452">
                      <a:extLst>
                        <a:ext uri="{9D8B030D-6E8A-4147-A177-3AD203B41FA5}">
                          <a16:colId xmlns:a16="http://schemas.microsoft.com/office/drawing/2014/main" val="3933410167"/>
                        </a:ext>
                      </a:extLst>
                    </a:gridCol>
                    <a:gridCol w="12382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416050">
                      <a:extLst>
                        <a:ext uri="{9D8B030D-6E8A-4147-A177-3AD203B41FA5}">
                          <a16:colId xmlns:a16="http://schemas.microsoft.com/office/drawing/2014/main" val="1978550322"/>
                        </a:ext>
                      </a:extLst>
                    </a:gridCol>
                    <a:gridCol w="1377950">
                      <a:extLst>
                        <a:ext uri="{9D8B030D-6E8A-4147-A177-3AD203B41FA5}">
                          <a16:colId xmlns:a16="http://schemas.microsoft.com/office/drawing/2014/main" val="3843558292"/>
                        </a:ext>
                      </a:extLst>
                    </a:gridCol>
                    <a:gridCol w="1238251">
                      <a:extLst>
                        <a:ext uri="{9D8B030D-6E8A-4147-A177-3AD203B41FA5}">
                          <a16:colId xmlns:a16="http://schemas.microsoft.com/office/drawing/2014/main" val="4197363272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Gate Resistance (Ext)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oMath>
                          </a14:m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current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Eon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Eoff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  <a:tr h="4069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6006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1799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Changes ratio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X3.5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x0.60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X0.66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X0.58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0679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Change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x2.15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9783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4026719"/>
                  </p:ext>
                </p:extLst>
              </p:nvPr>
            </p:nvGraphicFramePr>
            <p:xfrm>
              <a:off x="752228" y="3278831"/>
              <a:ext cx="10445752" cy="31755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7293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407858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790648">
                      <a:extLst>
                        <a:ext uri="{9D8B030D-6E8A-4147-A177-3AD203B41FA5}">
                          <a16:colId xmlns:a16="http://schemas.microsoft.com/office/drawing/2014/main" val="1049471291"/>
                        </a:ext>
                      </a:extLst>
                    </a:gridCol>
                    <a:gridCol w="1279452">
                      <a:extLst>
                        <a:ext uri="{9D8B030D-6E8A-4147-A177-3AD203B41FA5}">
                          <a16:colId xmlns:a16="http://schemas.microsoft.com/office/drawing/2014/main" val="3933410167"/>
                        </a:ext>
                      </a:extLst>
                    </a:gridCol>
                    <a:gridCol w="12382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416050">
                      <a:extLst>
                        <a:ext uri="{9D8B030D-6E8A-4147-A177-3AD203B41FA5}">
                          <a16:colId xmlns:a16="http://schemas.microsoft.com/office/drawing/2014/main" val="1978550322"/>
                        </a:ext>
                      </a:extLst>
                    </a:gridCol>
                    <a:gridCol w="1377950">
                      <a:extLst>
                        <a:ext uri="{9D8B030D-6E8A-4147-A177-3AD203B41FA5}">
                          <a16:colId xmlns:a16="http://schemas.microsoft.com/office/drawing/2014/main" val="3843558292"/>
                        </a:ext>
                      </a:extLst>
                    </a:gridCol>
                    <a:gridCol w="1238251">
                      <a:extLst>
                        <a:ext uri="{9D8B030D-6E8A-4147-A177-3AD203B41FA5}">
                          <a16:colId xmlns:a16="http://schemas.microsoft.com/office/drawing/2014/main" val="4197363272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58" t="-3333" r="-515412" b="-25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current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Eon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Eoff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  <a:tr h="4069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6006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1799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Changes ratio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X3.5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x0.60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X0.66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X0.58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0679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Change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x2.15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978300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426" y="965621"/>
            <a:ext cx="3047206" cy="21674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3297" y="943077"/>
            <a:ext cx="3108703" cy="225786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8897" y="954349"/>
            <a:ext cx="3068964" cy="216749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43399" y="217434"/>
            <a:ext cx="70708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https://eu.mouser.com/datasheet/2/90/CAB006A12GM3-2886938.pdf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0304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113808" y="414996"/>
            <a:ext cx="3920876" cy="433761"/>
          </a:xfrm>
        </p:spPr>
        <p:txBody>
          <a:bodyPr>
            <a:noAutofit/>
          </a:bodyPr>
          <a:lstStyle/>
          <a:p>
            <a:r>
              <a:rPr lang="sv-SE" sz="2800" dirty="0" smtClean="0"/>
              <a:t>CAB500M17HM3-3ph</a:t>
            </a:r>
            <a:endParaRPr lang="sv-SE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252" y="304822"/>
            <a:ext cx="1802400" cy="613515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2255617" y="3630294"/>
            <a:ext cx="3444633" cy="616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dirty="0" smtClean="0"/>
              <a:t>CAS380M17HM3-3ph</a:t>
            </a:r>
            <a:endParaRPr lang="sv-SE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782" y="3551902"/>
            <a:ext cx="1661628" cy="66465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76" y="4223950"/>
            <a:ext cx="3441357" cy="258101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522" y="4297138"/>
            <a:ext cx="3336324" cy="250224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4235" y="4437007"/>
            <a:ext cx="3215070" cy="241130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806" y="1004494"/>
            <a:ext cx="3457296" cy="259297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7054" y="1050058"/>
            <a:ext cx="3335792" cy="250184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8752" y="1053423"/>
            <a:ext cx="3270553" cy="245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033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>
          <a:xfrm>
            <a:off x="2382046" y="224289"/>
            <a:ext cx="3444633" cy="616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dirty="0" smtClean="0"/>
              <a:t>CAS380M17HM3-3ph</a:t>
            </a:r>
            <a:endParaRPr lang="sv-SE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559" y="191629"/>
            <a:ext cx="1661628" cy="66465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11" y="832021"/>
            <a:ext cx="3441357" cy="258101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057" y="905209"/>
            <a:ext cx="3336324" cy="250224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2770" y="1045078"/>
            <a:ext cx="3215070" cy="2411303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2662740" y="3520697"/>
            <a:ext cx="3444633" cy="616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dirty="0" smtClean="0"/>
              <a:t>CAS380M17HM3-6ph</a:t>
            </a:r>
            <a:endParaRPr lang="sv-SE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559" y="3463294"/>
            <a:ext cx="1661628" cy="6646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4945" y="4338257"/>
            <a:ext cx="3219376" cy="24145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3464" y="4291149"/>
            <a:ext cx="3127917" cy="23459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048" y="4244958"/>
            <a:ext cx="3217741" cy="241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800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4" y="644355"/>
            <a:ext cx="7648302" cy="355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758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33719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1979</TotalTime>
  <Words>151</Words>
  <Application>Microsoft Office PowerPoint</Application>
  <PresentationFormat>Widescreen</PresentationFormat>
  <Paragraphs>64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Helvetica</vt:lpstr>
      <vt:lpstr>Times New Roman</vt:lpstr>
      <vt:lpstr>Office Theme</vt:lpstr>
      <vt:lpstr>PowerPoint Presentation</vt:lpstr>
      <vt:lpstr>Effect of dv/dt</vt:lpstr>
      <vt:lpstr>CAB500M17HM3-3ph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61</cp:revision>
  <dcterms:created xsi:type="dcterms:W3CDTF">2023-10-04T08:35:24Z</dcterms:created>
  <dcterms:modified xsi:type="dcterms:W3CDTF">2023-10-16T11:46:54Z</dcterms:modified>
</cp:coreProperties>
</file>