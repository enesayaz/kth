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3" r:id="rId17"/>
    <p:sldId id="270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924251-0D1C-482F-9C00-375F743874E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2"/>
            <p14:sldId id="273"/>
            <p14:sldId id="270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1A71A-9BFD-4E2F-8CB1-3FF418E5A8DE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E4D78-AB85-481E-A603-2784DADE5AA2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8237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935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5140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1989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741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88178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103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4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7984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9253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4457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4245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F6EBA-2446-4F83-BF27-4368AC2AD5AA}" type="datetimeFigureOut">
              <a:rPr lang="sv-SE" smtClean="0"/>
              <a:t>2023-06-02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A7EED-293F-4A4F-99E5-D9A6EDED4F5B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9651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550" y="608013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Mitigation of CMV and Bearing Currents 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6350" y="3627438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Enes Ayaz</a:t>
            </a:r>
          </a:p>
          <a:p>
            <a:r>
              <a:rPr lang="en-US" dirty="0" smtClean="0">
                <a:solidFill>
                  <a:srgbClr val="002060"/>
                </a:solidFill>
              </a:rPr>
              <a:t>First Draft : </a:t>
            </a:r>
            <a:r>
              <a:rPr lang="en-US" dirty="0" smtClean="0">
                <a:solidFill>
                  <a:srgbClr val="002060"/>
                </a:solidFill>
              </a:rPr>
              <a:t>2023.06.01</a:t>
            </a:r>
            <a:endParaRPr lang="en-US" dirty="0" smtClean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826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CM Filter and Motor Shaft Grounding Ring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Investigation and Mitigation of Premature Bearing Degradation in Motor Drive </a:t>
            </a:r>
            <a:r>
              <a:rPr lang="en-US" i="1" dirty="0" smtClean="0">
                <a:solidFill>
                  <a:srgbClr val="7030A0"/>
                </a:solidFill>
              </a:rPr>
              <a:t>System, </a:t>
            </a:r>
            <a:r>
              <a:rPr lang="sv-SE" b="1" dirty="0"/>
              <a:t>IEEE </a:t>
            </a:r>
            <a:r>
              <a:rPr lang="sv-SE" b="1" dirty="0" err="1"/>
              <a:t>Electromagnetic</a:t>
            </a:r>
            <a:r>
              <a:rPr lang="sv-SE" b="1" dirty="0"/>
              <a:t> </a:t>
            </a:r>
            <a:r>
              <a:rPr lang="sv-SE" b="1" dirty="0" err="1"/>
              <a:t>Compatibility</a:t>
            </a:r>
            <a:r>
              <a:rPr lang="sv-SE" b="1" dirty="0"/>
              <a:t> </a:t>
            </a:r>
            <a:r>
              <a:rPr lang="sv-SE" b="1" dirty="0" smtClean="0"/>
              <a:t>Magazine, 2019</a:t>
            </a:r>
            <a:endParaRPr lang="en-US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Although there are several main </a:t>
            </a:r>
            <a:r>
              <a:rPr lang="en-US" sz="2000" dirty="0"/>
              <a:t>mitigation methods for bearing degradation problem </a:t>
            </a:r>
            <a:r>
              <a:rPr lang="en-US" sz="2000" dirty="0" smtClean="0"/>
              <a:t>such as </a:t>
            </a:r>
            <a:r>
              <a:rPr lang="en-US" sz="2000" dirty="0"/>
              <a:t>soft switching technology or advanced PWM </a:t>
            </a:r>
            <a:r>
              <a:rPr lang="en-US" sz="2000" dirty="0" smtClean="0"/>
              <a:t>techniques, CM filter, </a:t>
            </a:r>
            <a:r>
              <a:rPr lang="en-US" sz="2000" dirty="0"/>
              <a:t>insulated motor bearing, shaft grounding ring and Faraday </a:t>
            </a:r>
            <a:r>
              <a:rPr lang="en-US" sz="2000" dirty="0" smtClean="0"/>
              <a:t>shield ; </a:t>
            </a:r>
            <a:r>
              <a:rPr lang="en-US" sz="2000" b="1" dirty="0"/>
              <a:t>shaft grounding brush </a:t>
            </a:r>
            <a:r>
              <a:rPr lang="en-US" sz="2000" dirty="0"/>
              <a:t>or </a:t>
            </a:r>
            <a:r>
              <a:rPr lang="en-US" sz="2000" b="1" dirty="0"/>
              <a:t>CM filter </a:t>
            </a:r>
            <a:r>
              <a:rPr lang="en-US" sz="2000" dirty="0"/>
              <a:t>are preferred, as they do not require major modifications to the machines and therefore they are more </a:t>
            </a:r>
            <a:r>
              <a:rPr lang="en-US" sz="2000" b="1" dirty="0"/>
              <a:t>cost effective</a:t>
            </a:r>
            <a:r>
              <a:rPr lang="en-US" sz="2000" dirty="0"/>
              <a:t>.</a:t>
            </a:r>
            <a:endParaRPr lang="en-US" sz="20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3535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281886"/>
            <a:ext cx="4879146" cy="39822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40400" y="1016813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The grounding brush provides a </a:t>
            </a:r>
            <a:r>
              <a:rPr lang="en-US" b="1" dirty="0">
                <a:latin typeface="Arial" panose="020B0604020202020204" pitchFamily="34" charset="0"/>
              </a:rPr>
              <a:t>low impedance path </a:t>
            </a:r>
            <a:r>
              <a:rPr lang="en-US" dirty="0">
                <a:latin typeface="Arial" panose="020B0604020202020204" pitchFamily="34" charset="0"/>
              </a:rPr>
              <a:t>in parallel with the bearing lubrication film. </a:t>
            </a:r>
            <a:endParaRPr lang="en-US" dirty="0" smtClean="0">
              <a:latin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</a:rPr>
              <a:t>Thus</a:t>
            </a:r>
            <a:r>
              <a:rPr lang="en-US" dirty="0">
                <a:latin typeface="Arial" panose="020B0604020202020204" pitchFamily="34" charset="0"/>
              </a:rPr>
              <a:t>, peak-to-peak shaft voltage drops from more than 8 V to less than 2 V at the instant when the brush touches the rotating </a:t>
            </a:r>
            <a:r>
              <a:rPr lang="en-US" dirty="0" smtClean="0">
                <a:latin typeface="Arial" panose="020B0604020202020204" pitchFamily="34" charset="0"/>
              </a:rPr>
              <a:t>shaft.</a:t>
            </a:r>
          </a:p>
          <a:p>
            <a:r>
              <a:rPr lang="en-US" b="1" dirty="0" smtClean="0">
                <a:latin typeface="Arial" panose="020B0604020202020204" pitchFamily="34" charset="0"/>
              </a:rPr>
              <a:t>Therefore, </a:t>
            </a:r>
            <a:r>
              <a:rPr lang="en-US" b="1" dirty="0"/>
              <a:t>EDM process can be </a:t>
            </a:r>
            <a:r>
              <a:rPr lang="en-US" b="1" dirty="0" smtClean="0"/>
              <a:t>prevented.</a:t>
            </a:r>
          </a:p>
          <a:p>
            <a:endParaRPr lang="en-US" b="1" dirty="0"/>
          </a:p>
          <a:p>
            <a:r>
              <a:rPr lang="en-US" dirty="0"/>
              <a:t>The grounding brush helps to prevent bearing degradation caused by the EDM bearing current </a:t>
            </a:r>
            <a:r>
              <a:rPr lang="en-US" b="1" dirty="0"/>
              <a:t>but has no impact on the CM current</a:t>
            </a:r>
            <a:r>
              <a:rPr lang="en-US" dirty="0"/>
              <a:t>, which can be as high as tens of amperes in high power machines. </a:t>
            </a:r>
            <a:endParaRPr lang="en-US" dirty="0" smtClean="0"/>
          </a:p>
          <a:p>
            <a:endParaRPr lang="en-US" dirty="0"/>
          </a:p>
          <a:p>
            <a:r>
              <a:rPr lang="en-US" dirty="0"/>
              <a:t>It is reported that in a </a:t>
            </a:r>
            <a:r>
              <a:rPr lang="en-US" b="1" dirty="0"/>
              <a:t>500-kW</a:t>
            </a:r>
            <a:r>
              <a:rPr lang="en-US" dirty="0"/>
              <a:t> machine, the bearing current induced by CM current can reach as high as </a:t>
            </a:r>
            <a:r>
              <a:rPr lang="en-US" b="1" dirty="0"/>
              <a:t>5 A </a:t>
            </a:r>
            <a:r>
              <a:rPr lang="en-US" b="1" dirty="0" smtClean="0"/>
              <a:t>peak-to-peak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(How much current flows in our motor????)</a:t>
            </a:r>
            <a:endParaRPr lang="sv-SE" b="1" dirty="0"/>
          </a:p>
        </p:txBody>
      </p:sp>
      <p:sp>
        <p:nvSpPr>
          <p:cNvPr id="6" name="Rectangle 5"/>
          <p:cNvSpPr/>
          <p:nvPr/>
        </p:nvSpPr>
        <p:spPr>
          <a:xfrm>
            <a:off x="3783865" y="329684"/>
            <a:ext cx="3746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SHAFT GROUNDING BRUSH 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124349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959641" y="272534"/>
            <a:ext cx="15615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CM FILTER </a:t>
            </a:r>
            <a:endParaRPr lang="sv-SE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2" y="1209675"/>
            <a:ext cx="6276975" cy="45529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0" y="250507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Usually, </a:t>
            </a:r>
            <a:r>
              <a:rPr lang="en-US" b="1" dirty="0">
                <a:latin typeface="Arial" panose="020B0604020202020204" pitchFamily="34" charset="0"/>
              </a:rPr>
              <a:t>several one-turn CM chokes</a:t>
            </a:r>
            <a:r>
              <a:rPr lang="en-US" dirty="0">
                <a:latin typeface="Arial" panose="020B0604020202020204" pitchFamily="34" charset="0"/>
              </a:rPr>
              <a:t> are necessary to provide high </a:t>
            </a:r>
            <a:r>
              <a:rPr lang="en-US" dirty="0" smtClean="0">
                <a:latin typeface="Arial" panose="020B0604020202020204" pitchFamily="34" charset="0"/>
              </a:rPr>
              <a:t>inductance</a:t>
            </a:r>
            <a:r>
              <a:rPr lang="en-US" dirty="0">
                <a:latin typeface="Arial" panose="020B0604020202020204" pitchFamily="34" charset="0"/>
              </a:rPr>
              <a:t>. </a:t>
            </a:r>
            <a:endParaRPr lang="en-US" dirty="0" smtClean="0">
              <a:latin typeface="Arial" panose="020B0604020202020204" pitchFamily="34" charset="0"/>
            </a:endParaRPr>
          </a:p>
          <a:p>
            <a:r>
              <a:rPr lang="en-US" dirty="0" smtClean="0">
                <a:latin typeface="Arial" panose="020B0604020202020204" pitchFamily="34" charset="0"/>
              </a:rPr>
              <a:t>CM </a:t>
            </a:r>
            <a:r>
              <a:rPr lang="en-US" dirty="0">
                <a:latin typeface="Arial" panose="020B0604020202020204" pitchFamily="34" charset="0"/>
              </a:rPr>
              <a:t>chokes with </a:t>
            </a:r>
            <a:r>
              <a:rPr lang="en-US" b="1" dirty="0" err="1">
                <a:latin typeface="Arial" panose="020B0604020202020204" pitchFamily="34" charset="0"/>
              </a:rPr>
              <a:t>nanocrystalline</a:t>
            </a:r>
            <a:r>
              <a:rPr lang="en-US" dirty="0">
                <a:latin typeface="Arial" panose="020B0604020202020204" pitchFamily="34" charset="0"/>
              </a:rPr>
              <a:t> core are selected because of their high permeability, high saturation flux density and low core loss.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9252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Brushless </a:t>
            </a:r>
            <a:r>
              <a:rPr lang="en-US" dirty="0">
                <a:solidFill>
                  <a:srgbClr val="C00000"/>
                </a:solidFill>
              </a:rPr>
              <a:t>Mitigation 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Brushless Mitigation of Bearing Currents </a:t>
            </a:r>
            <a:r>
              <a:rPr lang="en-US" i="1" dirty="0" smtClean="0">
                <a:solidFill>
                  <a:srgbClr val="7030A0"/>
                </a:solidFill>
              </a:rPr>
              <a:t>in Electric Machines </a:t>
            </a:r>
            <a:r>
              <a:rPr lang="en-US" i="1" dirty="0">
                <a:solidFill>
                  <a:srgbClr val="7030A0"/>
                </a:solidFill>
              </a:rPr>
              <a:t>Via </a:t>
            </a:r>
            <a:r>
              <a:rPr lang="en-US" i="1" dirty="0" err="1">
                <a:solidFill>
                  <a:srgbClr val="7030A0"/>
                </a:solidFill>
              </a:rPr>
              <a:t>Capacitively</a:t>
            </a:r>
            <a:r>
              <a:rPr lang="en-US" i="1" dirty="0">
                <a:solidFill>
                  <a:srgbClr val="7030A0"/>
                </a:solidFill>
              </a:rPr>
              <a:t> Coupled Shunting, </a:t>
            </a:r>
            <a:r>
              <a:rPr lang="sv-SE" b="1" dirty="0"/>
              <a:t>IEEE TRANSACTIONS ON INDUSTRY APPLICATIONS, , </a:t>
            </a:r>
            <a:r>
              <a:rPr lang="sv-SE" b="1" dirty="0" smtClean="0"/>
              <a:t>2015</a:t>
            </a:r>
            <a:endParaRPr lang="en-US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Although common </a:t>
            </a:r>
            <a:r>
              <a:rPr lang="en-US" sz="2000" dirty="0"/>
              <a:t>solutions include </a:t>
            </a:r>
            <a:r>
              <a:rPr lang="en-US" sz="2000" dirty="0" smtClean="0"/>
              <a:t>insulating the </a:t>
            </a:r>
            <a:r>
              <a:rPr lang="en-US" sz="2000" dirty="0"/>
              <a:t>bearings, installing common-mode filters, or using a brush </a:t>
            </a:r>
            <a:r>
              <a:rPr lang="en-US" sz="2000" dirty="0" smtClean="0"/>
              <a:t>to ground </a:t>
            </a:r>
            <a:r>
              <a:rPr lang="en-US" sz="2000" dirty="0"/>
              <a:t>the rotor </a:t>
            </a:r>
            <a:r>
              <a:rPr lang="en-US" sz="2000" dirty="0" smtClean="0"/>
              <a:t>shaft, these </a:t>
            </a:r>
            <a:r>
              <a:rPr lang="en-US" sz="2000" dirty="0"/>
              <a:t>solutions are not universally </a:t>
            </a:r>
            <a:r>
              <a:rPr lang="en-US" sz="2000" dirty="0" smtClean="0"/>
              <a:t>scalable and </a:t>
            </a:r>
            <a:r>
              <a:rPr lang="en-US" sz="2000" dirty="0"/>
              <a:t>may require </a:t>
            </a:r>
            <a:r>
              <a:rPr lang="en-US" sz="2000" b="1" dirty="0"/>
              <a:t>periodic maintenance</a:t>
            </a:r>
            <a:r>
              <a:rPr lang="en-US" sz="2000" b="1" dirty="0" smtClean="0"/>
              <a:t>.</a:t>
            </a:r>
          </a:p>
          <a:p>
            <a:pPr marL="0" indent="0">
              <a:buNone/>
            </a:pPr>
            <a:r>
              <a:rPr lang="sv-SE" sz="2000" dirty="0" err="1" smtClean="0"/>
              <a:t>Therefore</a:t>
            </a:r>
            <a:r>
              <a:rPr lang="sv-SE" sz="2000" dirty="0" smtClean="0"/>
              <a:t>, </a:t>
            </a:r>
            <a:r>
              <a:rPr lang="sv-SE" sz="2000" b="1" dirty="0" err="1"/>
              <a:t>n</a:t>
            </a:r>
            <a:r>
              <a:rPr lang="sv-SE" sz="2000" b="1" dirty="0" err="1" smtClean="0"/>
              <a:t>oncontact</a:t>
            </a:r>
            <a:r>
              <a:rPr lang="sv-SE" sz="2000" b="1" dirty="0" smtClean="0"/>
              <a:t> </a:t>
            </a:r>
            <a:r>
              <a:rPr lang="sv-SE" sz="2000" b="1" dirty="0"/>
              <a:t>(</a:t>
            </a:r>
            <a:r>
              <a:rPr lang="sv-SE" sz="2000" b="1" dirty="0" err="1"/>
              <a:t>brushless</a:t>
            </a:r>
            <a:r>
              <a:rPr lang="sv-SE" sz="2000" b="1" dirty="0"/>
              <a:t>) </a:t>
            </a:r>
            <a:r>
              <a:rPr lang="sv-SE" sz="2000" b="1" dirty="0" err="1"/>
              <a:t>capacitive</a:t>
            </a:r>
            <a:r>
              <a:rPr lang="sv-SE" sz="2000" b="1" dirty="0"/>
              <a:t> </a:t>
            </a:r>
            <a:r>
              <a:rPr lang="sv-SE" sz="2000" b="1" dirty="0" err="1" smtClean="0"/>
              <a:t>coupling</a:t>
            </a:r>
            <a:r>
              <a:rPr lang="sv-SE" sz="2000" b="1" dirty="0" smtClean="0"/>
              <a:t> </a:t>
            </a:r>
            <a:r>
              <a:rPr lang="sv-SE" sz="2000" dirty="0" smtClean="0"/>
              <a:t>is </a:t>
            </a:r>
            <a:r>
              <a:rPr lang="sv-SE" sz="2000" dirty="0" err="1" smtClean="0"/>
              <a:t>proposed</a:t>
            </a:r>
            <a:r>
              <a:rPr lang="sv-SE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Generally </a:t>
            </a:r>
            <a:r>
              <a:rPr lang="en-US" sz="2000" dirty="0"/>
              <a:t>speaking, smaller machines experience wear </a:t>
            </a:r>
            <a:r>
              <a:rPr lang="en-US" sz="2000" dirty="0" smtClean="0"/>
              <a:t>due to </a:t>
            </a:r>
            <a:r>
              <a:rPr lang="en-US" sz="2000" dirty="0"/>
              <a:t>bearing currents of the </a:t>
            </a:r>
            <a:r>
              <a:rPr lang="sv-SE" sz="2000" dirty="0" err="1"/>
              <a:t>e</a:t>
            </a:r>
            <a:r>
              <a:rPr lang="sv-SE" sz="2000" dirty="0" err="1" smtClean="0"/>
              <a:t>lectrostatic</a:t>
            </a:r>
            <a:r>
              <a:rPr lang="sv-SE" sz="2000" dirty="0" smtClean="0"/>
              <a:t> </a:t>
            </a:r>
            <a:r>
              <a:rPr lang="sv-SE" sz="2000" dirty="0"/>
              <a:t>discharge </a:t>
            </a:r>
            <a:r>
              <a:rPr lang="sv-SE" sz="2000" dirty="0" err="1"/>
              <a:t>currents</a:t>
            </a:r>
            <a:r>
              <a:rPr lang="sv-SE" sz="2000" dirty="0"/>
              <a:t> (</a:t>
            </a:r>
            <a:r>
              <a:rPr lang="sv-SE" sz="2000" dirty="0" err="1"/>
              <a:t>EDCs</a:t>
            </a:r>
            <a:r>
              <a:rPr lang="sv-SE" sz="2000" dirty="0" smtClean="0"/>
              <a:t>) </a:t>
            </a:r>
            <a:r>
              <a:rPr lang="en-US" sz="2000" dirty="0" smtClean="0"/>
              <a:t>, </a:t>
            </a:r>
            <a:r>
              <a:rPr lang="en-US" sz="2000" dirty="0"/>
              <a:t>whereas larger </a:t>
            </a:r>
            <a:r>
              <a:rPr lang="en-US" sz="2000" dirty="0" smtClean="0"/>
              <a:t>machines experience the</a:t>
            </a:r>
            <a:r>
              <a:rPr lang="sv-SE" sz="2000" dirty="0"/>
              <a:t> </a:t>
            </a:r>
            <a:r>
              <a:rPr lang="sv-SE" sz="2000" dirty="0" err="1"/>
              <a:t>c</a:t>
            </a:r>
            <a:r>
              <a:rPr lang="sv-SE" sz="2000" dirty="0" err="1" smtClean="0"/>
              <a:t>irculating</a:t>
            </a:r>
            <a:r>
              <a:rPr lang="sv-SE" sz="2000" dirty="0" smtClean="0"/>
              <a:t> </a:t>
            </a:r>
            <a:r>
              <a:rPr lang="sv-SE" sz="2000" dirty="0" err="1"/>
              <a:t>bearing</a:t>
            </a:r>
            <a:r>
              <a:rPr lang="sv-SE" sz="2000" dirty="0"/>
              <a:t> </a:t>
            </a:r>
            <a:r>
              <a:rPr lang="sv-SE" sz="2000" dirty="0" err="1" smtClean="0"/>
              <a:t>currents</a:t>
            </a:r>
            <a:r>
              <a:rPr lang="sv-SE" sz="2000" dirty="0" smtClean="0"/>
              <a:t> a</a:t>
            </a:r>
            <a:r>
              <a:rPr lang="en-US" sz="2000" dirty="0" err="1" smtClean="0"/>
              <a:t>nd</a:t>
            </a:r>
            <a:r>
              <a:rPr lang="en-US" sz="2000" dirty="0" smtClean="0"/>
              <a:t> </a:t>
            </a:r>
            <a:r>
              <a:rPr lang="sv-SE" sz="2000" dirty="0"/>
              <a:t>r</a:t>
            </a:r>
            <a:r>
              <a:rPr lang="sv-SE" sz="2000" dirty="0" smtClean="0"/>
              <a:t>otor </a:t>
            </a:r>
            <a:r>
              <a:rPr lang="sv-SE" sz="2000" dirty="0" err="1"/>
              <a:t>ground</a:t>
            </a:r>
            <a:r>
              <a:rPr lang="sv-SE" sz="2000" dirty="0"/>
              <a:t> </a:t>
            </a:r>
            <a:r>
              <a:rPr lang="sv-SE" sz="2000" dirty="0" err="1" smtClean="0"/>
              <a:t>currents</a:t>
            </a:r>
            <a:r>
              <a:rPr lang="sv-SE" sz="2000" dirty="0" smtClean="0"/>
              <a:t>.</a:t>
            </a:r>
            <a:endParaRPr lang="sv-SE" sz="2000" dirty="0"/>
          </a:p>
        </p:txBody>
      </p:sp>
    </p:spTree>
    <p:extLst>
      <p:ext uri="{BB962C8B-B14F-4D97-AF65-F5344CB8AC3E}">
        <p14:creationId xmlns:p14="http://schemas.microsoft.com/office/powerpoint/2010/main" val="331238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65200" y="1112063"/>
            <a:ext cx="100139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b="1" dirty="0" smtClean="0"/>
              <a:t>1. </a:t>
            </a:r>
            <a:r>
              <a:rPr lang="sv-SE" b="1" dirty="0" err="1" smtClean="0"/>
              <a:t>Brushes</a:t>
            </a:r>
            <a:r>
              <a:rPr lang="sv-SE" b="1" dirty="0" smtClean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grounded brush forms a sliding contact </a:t>
            </a:r>
            <a:r>
              <a:rPr lang="en-US" dirty="0" smtClean="0"/>
              <a:t>on the </a:t>
            </a:r>
            <a:r>
              <a:rPr lang="en-US" dirty="0"/>
              <a:t>rotor of the </a:t>
            </a:r>
            <a:r>
              <a:rPr lang="en-US" dirty="0" smtClean="0"/>
              <a:t>machine.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contact possesses </a:t>
            </a:r>
            <a:r>
              <a:rPr lang="en-US" dirty="0" smtClean="0"/>
              <a:t>lower electrical </a:t>
            </a:r>
            <a:r>
              <a:rPr lang="en-US" dirty="0"/>
              <a:t>impedance than the bearings, thus bearing cur-rents are shunted around the bearings </a:t>
            </a:r>
            <a:r>
              <a:rPr lang="en-US" dirty="0" smtClean="0"/>
              <a:t>safely a</a:t>
            </a:r>
            <a:r>
              <a:rPr lang="sv-SE" dirty="0" smtClean="0"/>
              <a:t>nd </a:t>
            </a:r>
            <a:r>
              <a:rPr lang="sv-SE" dirty="0"/>
              <a:t>the </a:t>
            </a:r>
            <a:r>
              <a:rPr lang="sv-SE" dirty="0" err="1" smtClean="0"/>
              <a:t>bearing</a:t>
            </a:r>
            <a:r>
              <a:rPr lang="sv-SE" dirty="0" smtClean="0"/>
              <a:t> </a:t>
            </a:r>
            <a:r>
              <a:rPr lang="sv-SE" dirty="0" err="1"/>
              <a:t>voltage</a:t>
            </a:r>
            <a:r>
              <a:rPr lang="sv-SE" dirty="0"/>
              <a:t> is driven </a:t>
            </a:r>
            <a:r>
              <a:rPr lang="sv-SE" dirty="0" err="1"/>
              <a:t>toward</a:t>
            </a:r>
            <a:r>
              <a:rPr lang="sv-SE" dirty="0"/>
              <a:t> </a:t>
            </a:r>
            <a:r>
              <a:rPr lang="sv-SE" dirty="0" err="1"/>
              <a:t>zero</a:t>
            </a:r>
            <a:r>
              <a:rPr lang="sv-SE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Brushes make </a:t>
            </a:r>
            <a:r>
              <a:rPr lang="en-US" dirty="0" err="1"/>
              <a:t>physicalcontact</a:t>
            </a:r>
            <a:r>
              <a:rPr lang="en-US" dirty="0"/>
              <a:t> with the rotor, and most experience </a:t>
            </a:r>
            <a:r>
              <a:rPr lang="en-US" dirty="0" err="1"/>
              <a:t>mechani-cal</a:t>
            </a:r>
            <a:r>
              <a:rPr lang="en-US" dirty="0"/>
              <a:t> wear that requires periodic maintenance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sv-SE" b="1" dirty="0" smtClean="0"/>
              <a:t>2. </a:t>
            </a:r>
            <a:r>
              <a:rPr lang="sv-SE" b="1" dirty="0" err="1" smtClean="0"/>
              <a:t>Bearing</a:t>
            </a:r>
            <a:r>
              <a:rPr lang="sv-SE" b="1" dirty="0" smtClean="0"/>
              <a:t> </a:t>
            </a:r>
            <a:r>
              <a:rPr lang="sv-SE" b="1" dirty="0" err="1" smtClean="0"/>
              <a:t>Insulator</a:t>
            </a:r>
            <a:r>
              <a:rPr lang="sv-SE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Electrical insulation in the path </a:t>
            </a:r>
            <a:r>
              <a:rPr lang="en-US" dirty="0" smtClean="0"/>
              <a:t>that bearing </a:t>
            </a:r>
            <a:r>
              <a:rPr lang="en-US" dirty="0"/>
              <a:t>currents flow are typically either in </a:t>
            </a:r>
            <a:r>
              <a:rPr lang="en-US" dirty="0" smtClean="0"/>
              <a:t>insulated bearing </a:t>
            </a:r>
            <a:r>
              <a:rPr lang="en-US" dirty="0"/>
              <a:t>mounts or bearings with insulating balls </a:t>
            </a:r>
            <a:r>
              <a:rPr lang="en-US" dirty="0" smtClean="0"/>
              <a:t>and/or races.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common approach for smaller </a:t>
            </a:r>
            <a:r>
              <a:rPr lang="en-US" dirty="0" smtClean="0"/>
              <a:t>machines is </a:t>
            </a:r>
            <a:r>
              <a:rPr lang="en-US" dirty="0"/>
              <a:t>ceramic bearings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drawback </a:t>
            </a:r>
            <a:r>
              <a:rPr lang="en-US" dirty="0"/>
              <a:t>of this system is the higher purchase price </a:t>
            </a:r>
            <a:r>
              <a:rPr lang="en-US" dirty="0" smtClean="0"/>
              <a:t>for ceramic </a:t>
            </a:r>
            <a:r>
              <a:rPr lang="en-US" dirty="0"/>
              <a:t>bearings, and the retrofit of </a:t>
            </a:r>
            <a:r>
              <a:rPr lang="en-US" dirty="0" smtClean="0"/>
              <a:t>existing/deployed systems </a:t>
            </a:r>
            <a:r>
              <a:rPr lang="en-US" dirty="0"/>
              <a:t>is difficult without significant </a:t>
            </a:r>
            <a:r>
              <a:rPr lang="en-US" dirty="0" smtClean="0"/>
              <a:t>effort</a:t>
            </a:r>
          </a:p>
          <a:p>
            <a:endParaRPr lang="en-US" dirty="0"/>
          </a:p>
          <a:p>
            <a:r>
              <a:rPr lang="sv-SE" b="1" dirty="0" smtClean="0"/>
              <a:t>3. Line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electrical line filter may be placed </a:t>
            </a:r>
            <a:r>
              <a:rPr lang="en-US" dirty="0" smtClean="0"/>
              <a:t>on the </a:t>
            </a:r>
            <a:r>
              <a:rPr lang="en-US" dirty="0"/>
              <a:t>terminals of the electric machine to filter common-mode voltages and </a:t>
            </a:r>
            <a:r>
              <a:rPr lang="en-US" dirty="0" smtClean="0"/>
              <a:t>reduce dv/</a:t>
            </a:r>
            <a:r>
              <a:rPr lang="en-US" dirty="0" err="1" smtClean="0"/>
              <a:t>dt</a:t>
            </a:r>
            <a:r>
              <a:rPr lang="en-US" dirty="0" smtClean="0"/>
              <a:t> at </a:t>
            </a:r>
            <a:r>
              <a:rPr lang="en-US" dirty="0"/>
              <a:t>the terminals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 filters can be expensive and bulky, deterring </a:t>
            </a:r>
            <a:r>
              <a:rPr lang="en-US" dirty="0" smtClean="0"/>
              <a:t>their deployment </a:t>
            </a:r>
            <a:r>
              <a:rPr lang="en-US" dirty="0"/>
              <a:t>in many </a:t>
            </a:r>
            <a:r>
              <a:rPr lang="en-US" dirty="0" smtClean="0"/>
              <a:t>application.</a:t>
            </a:r>
            <a:r>
              <a:rPr lang="sv-SE" dirty="0"/>
              <a:t/>
            </a:r>
            <a:br>
              <a:rPr lang="sv-SE" dirty="0"/>
            </a:br>
            <a:endParaRPr lang="sv-SE" b="1" dirty="0"/>
          </a:p>
        </p:txBody>
      </p:sp>
      <p:sp>
        <p:nvSpPr>
          <p:cNvPr id="6" name="Rectangle 5"/>
          <p:cNvSpPr/>
          <p:nvPr/>
        </p:nvSpPr>
        <p:spPr>
          <a:xfrm>
            <a:off x="2583715" y="272534"/>
            <a:ext cx="69190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/>
              <a:t>EXISTING BEARING CURRENT MITIGATION SOLUTION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97522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83715" y="272534"/>
            <a:ext cx="6121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PROPOSED CAPACITIVE COUPLING APPROACH</a:t>
            </a:r>
            <a:endParaRPr lang="sv-SE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88" y="977900"/>
            <a:ext cx="3370316" cy="54213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062" y="917575"/>
            <a:ext cx="5514975" cy="333375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187353" y="425132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To </a:t>
            </a:r>
            <a:r>
              <a:rPr lang="en-US" dirty="0" smtClean="0">
                <a:latin typeface="Times New Roman" panose="02020603050405020304" pitchFamily="18" charset="0"/>
              </a:rPr>
              <a:t>mitigate IB, </a:t>
            </a:r>
            <a:r>
              <a:rPr lang="en-US" dirty="0">
                <a:latin typeface="Times New Roman" panose="02020603050405020304" pitchFamily="18" charset="0"/>
              </a:rPr>
              <a:t>the bearing </a:t>
            </a:r>
            <a:r>
              <a:rPr lang="en-US" dirty="0" smtClean="0">
                <a:latin typeface="Times New Roman" panose="02020603050405020304" pitchFamily="18" charset="0"/>
              </a:rPr>
              <a:t>voltage </a:t>
            </a:r>
            <a:r>
              <a:rPr lang="en-US" dirty="0" smtClean="0">
                <a:latin typeface="Arial" panose="020B0604020202020204" pitchFamily="34" charset="0"/>
              </a:rPr>
              <a:t>VB </a:t>
            </a:r>
            <a:r>
              <a:rPr lang="en-US" dirty="0" smtClean="0">
                <a:latin typeface="Times New Roman" panose="02020603050405020304" pitchFamily="18" charset="0"/>
              </a:rPr>
              <a:t>must </a:t>
            </a:r>
            <a:r>
              <a:rPr lang="en-US" dirty="0">
                <a:latin typeface="Times New Roman" panose="02020603050405020304" pitchFamily="18" charset="0"/>
              </a:rPr>
              <a:t>be driven toward zero. A rotating capacitor placed </a:t>
            </a:r>
            <a:r>
              <a:rPr lang="en-US" dirty="0" smtClean="0">
                <a:latin typeface="Times New Roman" panose="02020603050405020304" pitchFamily="18" charset="0"/>
              </a:rPr>
              <a:t>in parallel </a:t>
            </a:r>
            <a:r>
              <a:rPr lang="en-US" dirty="0">
                <a:latin typeface="Times New Roman" panose="02020603050405020304" pitchFamily="18" charset="0"/>
              </a:rPr>
              <a:t>with the </a:t>
            </a:r>
            <a:r>
              <a:rPr lang="en-US" dirty="0" smtClean="0">
                <a:latin typeface="Times New Roman" panose="02020603050405020304" pitchFamily="18" charset="0"/>
              </a:rPr>
              <a:t>bearing can </a:t>
            </a:r>
            <a:r>
              <a:rPr lang="en-US" dirty="0">
                <a:latin typeface="Times New Roman" panose="02020603050405020304" pitchFamily="18" charset="0"/>
              </a:rPr>
              <a:t>accomplish this, i.e.,</a:t>
            </a:r>
            <a:r>
              <a:rPr lang="en-US" dirty="0" err="1" smtClean="0">
                <a:latin typeface="Arial" panose="020B0604020202020204" pitchFamily="34" charset="0"/>
              </a:rPr>
              <a:t>Z</a:t>
            </a:r>
            <a:r>
              <a:rPr lang="en-US" dirty="0" err="1" smtClean="0">
                <a:latin typeface="Times New Roman" panose="02020603050405020304" pitchFamily="18" charset="0"/>
              </a:rPr>
              <a:t>shunt</a:t>
            </a:r>
            <a:r>
              <a:rPr lang="en-US" dirty="0" smtClean="0">
                <a:latin typeface="Times New Roman" panose="02020603050405020304" pitchFamily="18" charset="0"/>
              </a:rPr>
              <a:t> is a capacitor</a:t>
            </a:r>
            <a:r>
              <a:rPr lang="en-US" dirty="0">
                <a:latin typeface="Times New Roman" panose="02020603050405020304" pitchFamily="18" charset="0"/>
              </a:rPr>
              <a:t>. </a:t>
            </a:r>
            <a:endParaRPr lang="en-US" dirty="0" smtClean="0">
              <a:latin typeface="Times New Roman" panose="02020603050405020304" pitchFamily="18" charset="0"/>
            </a:endParaRPr>
          </a:p>
          <a:p>
            <a:endParaRPr lang="en-US" dirty="0" smtClean="0"/>
          </a:p>
          <a:p>
            <a:r>
              <a:rPr lang="en-US" dirty="0" smtClean="0"/>
              <a:t>A rotating </a:t>
            </a:r>
            <a:r>
              <a:rPr lang="en-US" dirty="0"/>
              <a:t>capacitor may take one of two </a:t>
            </a:r>
            <a:r>
              <a:rPr lang="en-US" dirty="0" smtClean="0"/>
              <a:t>forms 1</a:t>
            </a:r>
            <a:r>
              <a:rPr lang="en-US" dirty="0"/>
              <a:t>) </a:t>
            </a:r>
            <a:r>
              <a:rPr lang="en-US" dirty="0" smtClean="0"/>
              <a:t>a series </a:t>
            </a:r>
            <a:r>
              <a:rPr lang="en-US" dirty="0"/>
              <a:t>of parallel plates/disks or 2) concentric hoops/cylinders</a:t>
            </a:r>
            <a:r>
              <a:rPr lang="en-US" dirty="0" smtClean="0"/>
              <a:t>. In </a:t>
            </a:r>
            <a:r>
              <a:rPr lang="en-US" dirty="0"/>
              <a:t>both configurations, the surfaces must be close </a:t>
            </a:r>
            <a:r>
              <a:rPr lang="en-US" dirty="0" smtClean="0"/>
              <a:t>enough together </a:t>
            </a:r>
            <a:r>
              <a:rPr lang="en-US" dirty="0"/>
              <a:t>and of sufficient surface area to provide </a:t>
            </a:r>
            <a:r>
              <a:rPr lang="en-US" dirty="0" smtClean="0"/>
              <a:t>significant capacitance</a:t>
            </a:r>
            <a:r>
              <a:rPr lang="en-US" dirty="0"/>
              <a:t>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14135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583715" y="272534"/>
            <a:ext cx="61216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PROPOSED CAPACITIVE COUPLING APPROACH</a:t>
            </a:r>
            <a:endParaRPr lang="sv-SE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13" y="1275734"/>
            <a:ext cx="5145088" cy="42249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141" y="734199"/>
            <a:ext cx="4385156" cy="561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8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sv-SE" dirty="0"/>
              <a:t>Common-Mode </a:t>
            </a:r>
            <a:r>
              <a:rPr lang="sv-SE" dirty="0" err="1"/>
              <a:t>Voltage</a:t>
            </a:r>
            <a:r>
              <a:rPr lang="sv-SE" dirty="0"/>
              <a:t> and Vibration </a:t>
            </a:r>
            <a:r>
              <a:rPr lang="sv-SE" dirty="0" err="1"/>
              <a:t>Mitigation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Common-Mode Voltage and Vibration Mitigation </a:t>
            </a:r>
            <a:r>
              <a:rPr lang="en-US" i="1" dirty="0" err="1">
                <a:solidFill>
                  <a:srgbClr val="7030A0"/>
                </a:solidFill>
              </a:rPr>
              <a:t>ofa</a:t>
            </a:r>
            <a:r>
              <a:rPr lang="en-US" i="1" dirty="0">
                <a:solidFill>
                  <a:srgbClr val="7030A0"/>
                </a:solidFill>
              </a:rPr>
              <a:t> Five-Phase Three-Level NPC Inverter-</a:t>
            </a:r>
            <a:r>
              <a:rPr lang="en-US" i="1" dirty="0" err="1">
                <a:solidFill>
                  <a:srgbClr val="7030A0"/>
                </a:solidFill>
              </a:rPr>
              <a:t>FedInduction</a:t>
            </a:r>
            <a:r>
              <a:rPr lang="en-US" i="1" dirty="0">
                <a:solidFill>
                  <a:srgbClr val="7030A0"/>
                </a:solidFill>
              </a:rPr>
              <a:t> Motor Drive System, </a:t>
            </a:r>
            <a:r>
              <a:rPr lang="en-US" b="1" dirty="0"/>
              <a:t>IEEE JOURNAL OF EMERGING AND SELECTED TOPICS IN POWER ELECTRONICS</a:t>
            </a:r>
            <a:r>
              <a:rPr lang="sv-SE" b="1" dirty="0" smtClean="0"/>
              <a:t>, 2015</a:t>
            </a:r>
            <a:endParaRPr lang="en-US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/>
              <a:t>The space </a:t>
            </a:r>
            <a:r>
              <a:rPr lang="en-US" sz="2000" dirty="0" smtClean="0"/>
              <a:t>vector pulse </a:t>
            </a:r>
            <a:r>
              <a:rPr lang="en-US" sz="2000" dirty="0"/>
              <a:t>width modulation </a:t>
            </a:r>
            <a:r>
              <a:rPr lang="en-US" sz="2000" b="1" dirty="0"/>
              <a:t>(SVPWM) </a:t>
            </a:r>
            <a:r>
              <a:rPr lang="en-US" sz="2000" dirty="0"/>
              <a:t>technique is developed </a:t>
            </a:r>
            <a:r>
              <a:rPr lang="en-US" sz="2000" dirty="0" smtClean="0"/>
              <a:t>for the </a:t>
            </a:r>
            <a:r>
              <a:rPr lang="en-US" sz="2000" dirty="0"/>
              <a:t>elimination of CM voltages. Only those switching states </a:t>
            </a:r>
            <a:r>
              <a:rPr lang="en-US" sz="2000" dirty="0" smtClean="0"/>
              <a:t>are selected </a:t>
            </a:r>
            <a:r>
              <a:rPr lang="en-US" sz="2000" dirty="0"/>
              <a:t>which give zero CM voltage.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same selected </a:t>
            </a:r>
            <a:r>
              <a:rPr lang="en-US" sz="2000" dirty="0" smtClean="0"/>
              <a:t>switching states </a:t>
            </a:r>
            <a:r>
              <a:rPr lang="en-US" sz="2000" dirty="0"/>
              <a:t>also give the </a:t>
            </a:r>
            <a:r>
              <a:rPr lang="en-US" sz="2000" b="1" dirty="0"/>
              <a:t>balanced dc link capacitor </a:t>
            </a:r>
            <a:r>
              <a:rPr lang="en-US" sz="2000" b="1" dirty="0" smtClean="0"/>
              <a:t>voltages.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authors have shown that </a:t>
            </a:r>
            <a:r>
              <a:rPr lang="en-US" sz="2000" dirty="0" smtClean="0"/>
              <a:t>three-level inverter </a:t>
            </a:r>
            <a:r>
              <a:rPr lang="en-US" sz="2000" dirty="0"/>
              <a:t>gives better performance (low stress to motor winding</a:t>
            </a:r>
            <a:r>
              <a:rPr lang="en-US" sz="2000" dirty="0" smtClean="0"/>
              <a:t>, less </a:t>
            </a:r>
            <a:r>
              <a:rPr lang="en-US" sz="2000" dirty="0"/>
              <a:t>influence of noise to the adjacent equipment, low </a:t>
            </a:r>
            <a:r>
              <a:rPr lang="en-US" sz="2000" dirty="0" smtClean="0"/>
              <a:t>shaft voltage</a:t>
            </a:r>
            <a:r>
              <a:rPr lang="en-US" sz="2000" dirty="0"/>
              <a:t>, and bearing current. etc.) when compared with </a:t>
            </a:r>
            <a:r>
              <a:rPr lang="en-US" sz="2000" dirty="0" smtClean="0"/>
              <a:t>its two-level </a:t>
            </a:r>
            <a:r>
              <a:rPr lang="en-US" sz="2000" dirty="0"/>
              <a:t>counterpart</a:t>
            </a:r>
            <a:r>
              <a:rPr lang="en-US" dirty="0"/>
              <a:t>.</a:t>
            </a:r>
            <a:endParaRPr lang="sv-SE" sz="2000" b="1" dirty="0"/>
          </a:p>
        </p:txBody>
      </p:sp>
    </p:spTree>
    <p:extLst>
      <p:ext uri="{BB962C8B-B14F-4D97-AF65-F5344CB8AC3E}">
        <p14:creationId xmlns:p14="http://schemas.microsoft.com/office/powerpoint/2010/main" val="183152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242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CM Voltage Elimination</a:t>
            </a:r>
            <a:endParaRPr lang="sv-SE" sz="2400" dirty="0"/>
          </a:p>
        </p:txBody>
      </p:sp>
      <p:sp>
        <p:nvSpPr>
          <p:cNvPr id="3" name="Rectangle 2"/>
          <p:cNvSpPr/>
          <p:nvPr/>
        </p:nvSpPr>
        <p:spPr>
          <a:xfrm>
            <a:off x="730250" y="1213535"/>
            <a:ext cx="1051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The solution is </a:t>
            </a:r>
            <a:r>
              <a:rPr lang="en-US" dirty="0">
                <a:latin typeface="Times New Roman" panose="02020603050405020304" pitchFamily="18" charset="0"/>
              </a:rPr>
              <a:t>to </a:t>
            </a:r>
            <a:r>
              <a:rPr lang="en-US" dirty="0" smtClean="0">
                <a:latin typeface="Times New Roman" panose="02020603050405020304" pitchFamily="18" charset="0"/>
              </a:rPr>
              <a:t>select only </a:t>
            </a:r>
            <a:r>
              <a:rPr lang="en-US" dirty="0">
                <a:latin typeface="Times New Roman" panose="02020603050405020304" pitchFamily="18" charset="0"/>
              </a:rPr>
              <a:t>those switching states which give zero CM </a:t>
            </a:r>
            <a:r>
              <a:rPr lang="en-US" dirty="0" smtClean="0">
                <a:latin typeface="Times New Roman" panose="02020603050405020304" pitchFamily="18" charset="0"/>
              </a:rPr>
              <a:t>voltage.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</a:rPr>
              <a:t>For example, </a:t>
            </a:r>
            <a:r>
              <a:rPr lang="en-US" dirty="0"/>
              <a:t>f</a:t>
            </a:r>
            <a:r>
              <a:rPr lang="en-US" dirty="0" smtClean="0"/>
              <a:t>or a </a:t>
            </a:r>
            <a:r>
              <a:rPr lang="en-US" dirty="0"/>
              <a:t>five-phase three-level inverter, out of 35(243) states, </a:t>
            </a:r>
            <a:r>
              <a:rPr lang="en-US" dirty="0" smtClean="0"/>
              <a:t>only 53 </a:t>
            </a:r>
            <a:r>
              <a:rPr lang="en-US" dirty="0"/>
              <a:t>switching states give zero CM voltage.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</a:t>
            </a:r>
            <a:r>
              <a:rPr lang="en-US" dirty="0" smtClean="0"/>
              <a:t>, in </a:t>
            </a:r>
            <a:r>
              <a:rPr lang="en-US" dirty="0"/>
              <a:t>the proposed SVPWM technique the voltage vectors </a:t>
            </a:r>
            <a:r>
              <a:rPr lang="en-US" dirty="0" smtClean="0"/>
              <a:t>with above </a:t>
            </a:r>
            <a:r>
              <a:rPr lang="en-US" dirty="0"/>
              <a:t>two types of switching states are being used, </a:t>
            </a:r>
            <a:r>
              <a:rPr lang="en-US" dirty="0" smtClean="0"/>
              <a:t>the balanced </a:t>
            </a:r>
            <a:r>
              <a:rPr lang="en-US" dirty="0"/>
              <a:t>dc link voltages are ensured for the entire </a:t>
            </a:r>
            <a:r>
              <a:rPr lang="en-US" dirty="0" smtClean="0"/>
              <a:t>switching cycle</a:t>
            </a:r>
            <a:endParaRPr lang="sv-S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119" y="3118533"/>
            <a:ext cx="4097823" cy="2695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837" y="3176549"/>
            <a:ext cx="4220327" cy="27279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947" y="2832783"/>
            <a:ext cx="4232579" cy="29321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8131" y="5764918"/>
            <a:ext cx="6191770" cy="87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28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 smtClean="0"/>
              <a:t>Improved Topology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362074"/>
            <a:ext cx="10515600" cy="5197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Fourth-Arm Common-Mode Voltage Mitigation</a:t>
            </a:r>
            <a:r>
              <a:rPr lang="en-US" i="1" dirty="0" smtClean="0">
                <a:solidFill>
                  <a:srgbClr val="7030A0"/>
                </a:solidFill>
              </a:rPr>
              <a:t>, </a:t>
            </a:r>
            <a:r>
              <a:rPr lang="en-US" b="1" dirty="0"/>
              <a:t>IEEE TRANSACTIONS ON POWER ELECTRONICS</a:t>
            </a:r>
            <a:r>
              <a:rPr lang="en-US" b="1" dirty="0" smtClean="0"/>
              <a:t>,</a:t>
            </a:r>
            <a:r>
              <a:rPr lang="sv-SE" b="1" dirty="0" smtClean="0"/>
              <a:t> 2016</a:t>
            </a:r>
            <a:endParaRPr lang="en-US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/>
              <a:t>A</a:t>
            </a:r>
            <a:r>
              <a:rPr lang="en-US" sz="2000" dirty="0" smtClean="0"/>
              <a:t>n active </a:t>
            </a:r>
            <a:r>
              <a:rPr lang="en-US" sz="2000" dirty="0"/>
              <a:t>method for eliminating CMV in multilevel inverters which </a:t>
            </a:r>
            <a:r>
              <a:rPr lang="en-US" sz="2000" dirty="0" smtClean="0"/>
              <a:t>is independent </a:t>
            </a:r>
            <a:r>
              <a:rPr lang="en-US" sz="2000" dirty="0"/>
              <a:t>on the inverter topology or its modulation </a:t>
            </a:r>
            <a:r>
              <a:rPr lang="en-US" sz="2000" dirty="0" smtClean="0"/>
              <a:t>scheme. </a:t>
            </a:r>
          </a:p>
          <a:p>
            <a:pPr marL="0" indent="0">
              <a:buNone/>
            </a:pPr>
            <a:r>
              <a:rPr lang="en-US" sz="2000" dirty="0" smtClean="0"/>
              <a:t>The </a:t>
            </a:r>
            <a:r>
              <a:rPr lang="en-US" sz="2000" dirty="0"/>
              <a:t>proposed method does not restrict the </a:t>
            </a:r>
            <a:r>
              <a:rPr lang="en-US" sz="2000" dirty="0" smtClean="0"/>
              <a:t>modulation index </a:t>
            </a:r>
            <a:r>
              <a:rPr lang="en-US" sz="2000" dirty="0"/>
              <a:t>range of the drive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Special </a:t>
            </a:r>
            <a:r>
              <a:rPr lang="en-US" sz="2000" dirty="0"/>
              <a:t>mechanical modifications have been suggested to </a:t>
            </a:r>
            <a:r>
              <a:rPr lang="en-US" sz="2000" dirty="0" smtClean="0"/>
              <a:t>mitigate  </a:t>
            </a:r>
            <a:r>
              <a:rPr lang="en-US" sz="2000" dirty="0"/>
              <a:t>the  negative  effect  of  CMV  over  motor  bearing.  </a:t>
            </a:r>
            <a:r>
              <a:rPr lang="en-US" sz="2000" dirty="0" smtClean="0"/>
              <a:t>Shaft ground </a:t>
            </a:r>
            <a:r>
              <a:rPr lang="en-US" sz="2000" dirty="0"/>
              <a:t>brushes, conductive grease, and insulated bearings </a:t>
            </a:r>
            <a:r>
              <a:rPr lang="en-US" sz="2000" dirty="0" smtClean="0"/>
              <a:t>are one  </a:t>
            </a:r>
            <a:r>
              <a:rPr lang="en-US" sz="2000" dirty="0"/>
              <a:t>example  of  such  an  </a:t>
            </a:r>
            <a:r>
              <a:rPr lang="en-US" sz="2000" dirty="0" smtClean="0"/>
              <a:t>approach</a:t>
            </a:r>
            <a:r>
              <a:rPr lang="en-US" sz="2000" dirty="0"/>
              <a:t>. While motor mechanical </a:t>
            </a:r>
            <a:r>
              <a:rPr lang="en-US" sz="2000" dirty="0" smtClean="0"/>
              <a:t>modifications </a:t>
            </a:r>
            <a:r>
              <a:rPr lang="en-US" sz="2000" dirty="0"/>
              <a:t>are quite effective, they require high maintenance </a:t>
            </a:r>
            <a:r>
              <a:rPr lang="en-US" sz="2000" dirty="0" smtClean="0"/>
              <a:t>and impair </a:t>
            </a:r>
            <a:r>
              <a:rPr lang="en-US" sz="2000" dirty="0"/>
              <a:t>motor </a:t>
            </a:r>
            <a:r>
              <a:rPr lang="en-US" sz="2000" dirty="0" smtClean="0"/>
              <a:t>standard.</a:t>
            </a:r>
          </a:p>
          <a:p>
            <a:pPr marL="0" indent="0">
              <a:buNone/>
            </a:pPr>
            <a:r>
              <a:rPr lang="en-US" sz="2000" dirty="0"/>
              <a:t>Reduced CMV (RCMV) PWM schemes are another </a:t>
            </a:r>
            <a:r>
              <a:rPr lang="en-US" sz="2000" dirty="0" smtClean="0"/>
              <a:t>approach</a:t>
            </a:r>
            <a:r>
              <a:rPr lang="en-US" sz="2000" dirty="0"/>
              <a:t>. These  schemes  attenuate  CMV  by  avoiding  zero-state  </a:t>
            </a:r>
            <a:r>
              <a:rPr lang="en-US" sz="2000" dirty="0" smtClean="0"/>
              <a:t>space-vectors</a:t>
            </a:r>
            <a:r>
              <a:rPr lang="en-US" sz="2000" dirty="0"/>
              <a:t>. The  main  advantage  </a:t>
            </a:r>
            <a:r>
              <a:rPr lang="en-US" sz="2000" dirty="0" smtClean="0"/>
              <a:t>of RCMV-PWM  </a:t>
            </a:r>
            <a:r>
              <a:rPr lang="en-US" sz="2000" dirty="0"/>
              <a:t>methods  is  that  they  do  not  require  </a:t>
            </a:r>
            <a:r>
              <a:rPr lang="en-US" sz="2000" dirty="0" smtClean="0"/>
              <a:t>additional hardware  </a:t>
            </a:r>
            <a:r>
              <a:rPr lang="en-US" sz="2000" dirty="0"/>
              <a:t>and/or  motor  structure  modification. The  </a:t>
            </a:r>
            <a:r>
              <a:rPr lang="en-US" sz="2000" dirty="0" smtClean="0"/>
              <a:t>disadvantages </a:t>
            </a:r>
            <a:r>
              <a:rPr lang="en-US" sz="2000" dirty="0"/>
              <a:t>are reduced voltage </a:t>
            </a:r>
            <a:r>
              <a:rPr lang="en-US" sz="2000" dirty="0" smtClean="0"/>
              <a:t>utilization, increased over-voltages , low  </a:t>
            </a:r>
            <a:r>
              <a:rPr lang="en-US" sz="2000" dirty="0"/>
              <a:t>space-vector  redundancy  which  </a:t>
            </a:r>
            <a:r>
              <a:rPr lang="en-US" sz="2000" dirty="0" smtClean="0"/>
              <a:t>could limit </a:t>
            </a:r>
            <a:r>
              <a:rPr lang="en-US" sz="2000" dirty="0"/>
              <a:t>dc-link capacitor voltage </a:t>
            </a:r>
            <a:r>
              <a:rPr lang="en-US" sz="2000" dirty="0" smtClean="0"/>
              <a:t>balancing, </a:t>
            </a:r>
            <a:r>
              <a:rPr lang="en-US" sz="2000" dirty="0"/>
              <a:t>and </a:t>
            </a:r>
            <a:r>
              <a:rPr lang="en-US" sz="2000" dirty="0" smtClean="0"/>
              <a:t>impracticability </a:t>
            </a:r>
            <a:r>
              <a:rPr lang="en-US" sz="2000" dirty="0"/>
              <a:t>when dead-time is </a:t>
            </a:r>
            <a:r>
              <a:rPr lang="en-US" sz="2000" dirty="0" smtClean="0"/>
              <a:t>considered.</a:t>
            </a:r>
          </a:p>
          <a:p>
            <a:pPr marL="0" indent="0">
              <a:buNone/>
            </a:pPr>
            <a:r>
              <a:rPr lang="en-US" sz="2000" dirty="0"/>
              <a:t>Passive methods are another </a:t>
            </a:r>
            <a:r>
              <a:rPr lang="en-US" sz="2000" dirty="0" smtClean="0"/>
              <a:t>approach</a:t>
            </a:r>
            <a:r>
              <a:rPr lang="en-US" sz="2000" dirty="0"/>
              <a:t>. These  methods  generally  </a:t>
            </a:r>
            <a:r>
              <a:rPr lang="en-US" sz="2000" dirty="0" smtClean="0"/>
              <a:t>involve common-mode </a:t>
            </a:r>
            <a:r>
              <a:rPr lang="en-US" sz="2000" dirty="0"/>
              <a:t>(CM) inductors, CM </a:t>
            </a:r>
            <a:r>
              <a:rPr lang="en-US" sz="2000" dirty="0" smtClean="0"/>
              <a:t>transformers, and additional </a:t>
            </a:r>
            <a:r>
              <a:rPr lang="en-US" sz="2000" dirty="0"/>
              <a:t>passive RLC elements. </a:t>
            </a:r>
            <a:r>
              <a:rPr lang="en-US" sz="2000" dirty="0" smtClean="0"/>
              <a:t>Passive </a:t>
            </a:r>
            <a:r>
              <a:rPr lang="en-US" sz="2000" dirty="0"/>
              <a:t>CM filters involve large size and </a:t>
            </a:r>
            <a:r>
              <a:rPr lang="en-US" sz="2000" dirty="0" smtClean="0"/>
              <a:t>weight penalties.</a:t>
            </a:r>
          </a:p>
          <a:p>
            <a:pPr marL="0" indent="0">
              <a:buNone/>
            </a:pPr>
            <a:r>
              <a:rPr lang="sv-SE" sz="2200" dirty="0"/>
              <a:t>A</a:t>
            </a:r>
            <a:r>
              <a:rPr lang="sv-SE" sz="2200" dirty="0" smtClean="0"/>
              <a:t>ctive </a:t>
            </a:r>
            <a:r>
              <a:rPr lang="sv-SE" sz="2200" dirty="0"/>
              <a:t>and </a:t>
            </a:r>
            <a:r>
              <a:rPr lang="sv-SE" sz="2200" dirty="0" err="1"/>
              <a:t>topological</a:t>
            </a:r>
            <a:r>
              <a:rPr lang="sv-SE" sz="2200" dirty="0"/>
              <a:t> </a:t>
            </a:r>
            <a:r>
              <a:rPr lang="sv-SE" sz="2200" dirty="0" smtClean="0"/>
              <a:t>solutions </a:t>
            </a:r>
            <a:r>
              <a:rPr lang="sv-SE" sz="2200" dirty="0" err="1"/>
              <a:t>are</a:t>
            </a:r>
            <a:r>
              <a:rPr lang="sv-SE" sz="2200" dirty="0"/>
              <a:t> </a:t>
            </a:r>
            <a:r>
              <a:rPr lang="sv-SE" sz="2200" dirty="0" err="1"/>
              <a:t>abundantly</a:t>
            </a:r>
            <a:r>
              <a:rPr lang="sv-SE" sz="2200" dirty="0"/>
              <a:t> </a:t>
            </a:r>
            <a:r>
              <a:rPr lang="sv-SE" sz="2200" dirty="0" err="1" smtClean="0"/>
              <a:t>found</a:t>
            </a:r>
            <a:r>
              <a:rPr lang="sv-SE" sz="2200" dirty="0"/>
              <a:t>.</a:t>
            </a:r>
            <a:endParaRPr lang="en-US" sz="2200" dirty="0" smtClean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684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795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The Proposed Methodology</a:t>
            </a:r>
            <a:endParaRPr lang="sv-SE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56782"/>
            <a:ext cx="4543425" cy="40106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803900" y="137588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</a:rPr>
              <a:t>1)Small </a:t>
            </a:r>
            <a:r>
              <a:rPr lang="en-US" dirty="0" err="1" smtClean="0">
                <a:latin typeface="Arial" panose="020B0604020202020204" pitchFamily="34" charset="0"/>
              </a:rPr>
              <a:t>C</a:t>
            </a:r>
            <a:r>
              <a:rPr lang="en-US" dirty="0" err="1" smtClean="0">
                <a:latin typeface="Times New Roman" panose="02020603050405020304" pitchFamily="18" charset="0"/>
              </a:rPr>
              <a:t>out</a:t>
            </a:r>
            <a:r>
              <a:rPr lang="en-US" dirty="0" smtClean="0">
                <a:latin typeface="Times New Roman" panose="02020603050405020304" pitchFamily="18" charset="0"/>
              </a:rPr>
              <a:t> will </a:t>
            </a:r>
            <a:r>
              <a:rPr lang="en-US" dirty="0">
                <a:latin typeface="Times New Roman" panose="02020603050405020304" pitchFamily="18" charset="0"/>
              </a:rPr>
              <a:t>result in a small FACC output </a:t>
            </a:r>
            <a:r>
              <a:rPr lang="en-US" dirty="0" err="1">
                <a:latin typeface="Times New Roman" panose="02020603050405020304" pitchFamily="18" charset="0"/>
              </a:rPr>
              <a:t>current,which</a:t>
            </a:r>
            <a:r>
              <a:rPr lang="en-US" dirty="0">
                <a:latin typeface="Times New Roman" panose="02020603050405020304" pitchFamily="18" charset="0"/>
              </a:rPr>
              <a:t> will lead to low power ratings of the </a:t>
            </a:r>
            <a:r>
              <a:rPr lang="en-US" dirty="0" smtClean="0">
                <a:latin typeface="Times New Roman" panose="02020603050405020304" pitchFamily="18" charset="0"/>
              </a:rPr>
              <a:t>FACC</a:t>
            </a:r>
          </a:p>
          <a:p>
            <a:r>
              <a:rPr lang="en-US" dirty="0" smtClean="0">
                <a:latin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</a:rPr>
              <a:t>) on the other hand, a </a:t>
            </a:r>
            <a:r>
              <a:rPr lang="en-US" dirty="0" smtClean="0">
                <a:latin typeface="Times New Roman" panose="02020603050405020304" pitchFamily="18" charset="0"/>
              </a:rPr>
              <a:t>large </a:t>
            </a:r>
            <a:r>
              <a:rPr lang="en-US" dirty="0" err="1" smtClean="0">
                <a:latin typeface="Arial" panose="020B0604020202020204" pitchFamily="34" charset="0"/>
              </a:rPr>
              <a:t>C</a:t>
            </a:r>
            <a:r>
              <a:rPr lang="en-US" dirty="0" err="1" smtClean="0">
                <a:latin typeface="Times New Roman" panose="02020603050405020304" pitchFamily="18" charset="0"/>
              </a:rPr>
              <a:t>out</a:t>
            </a:r>
            <a:r>
              <a:rPr lang="en-US" dirty="0" smtClean="0">
                <a:latin typeface="Times New Roman" panose="02020603050405020304" pitchFamily="18" charset="0"/>
              </a:rPr>
              <a:t> will </a:t>
            </a:r>
            <a:r>
              <a:rPr lang="en-US" dirty="0">
                <a:latin typeface="Times New Roman" panose="02020603050405020304" pitchFamily="18" charset="0"/>
              </a:rPr>
              <a:t>result in a voltage </a:t>
            </a:r>
            <a:r>
              <a:rPr lang="en-US" dirty="0" smtClean="0">
                <a:latin typeface="Times New Roman" panose="02020603050405020304" pitchFamily="18" charset="0"/>
              </a:rPr>
              <a:t>drop over </a:t>
            </a:r>
            <a:r>
              <a:rPr lang="en-US" dirty="0">
                <a:latin typeface="Times New Roman" panose="02020603050405020304" pitchFamily="18" charset="0"/>
              </a:rPr>
              <a:t>the stray </a:t>
            </a:r>
            <a:r>
              <a:rPr lang="en-US" dirty="0" smtClean="0">
                <a:latin typeface="Times New Roman" panose="02020603050405020304" pitchFamily="18" charset="0"/>
              </a:rPr>
              <a:t>capacitor </a:t>
            </a:r>
            <a:r>
              <a:rPr lang="en-US" dirty="0" err="1" smtClean="0">
                <a:latin typeface="Arial" panose="020B0604020202020204" pitchFamily="34" charset="0"/>
              </a:rPr>
              <a:t>Cp</a:t>
            </a: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</a:rPr>
              <a:t>nearly </a:t>
            </a:r>
            <a:r>
              <a:rPr lang="en-US" dirty="0">
                <a:latin typeface="Times New Roman" panose="02020603050405020304" pitchFamily="18" charset="0"/>
              </a:rPr>
              <a:t>equal </a:t>
            </a:r>
            <a:r>
              <a:rPr lang="en-US" dirty="0" smtClean="0">
                <a:latin typeface="Times New Roman" panose="02020603050405020304" pitchFamily="18" charset="0"/>
              </a:rPr>
              <a:t>to </a:t>
            </a:r>
            <a:r>
              <a:rPr lang="en-US" dirty="0" err="1" smtClean="0">
                <a:latin typeface="Arial" panose="020B0604020202020204" pitchFamily="34" charset="0"/>
              </a:rPr>
              <a:t>Vd</a:t>
            </a:r>
            <a:r>
              <a:rPr lang="en-US" dirty="0">
                <a:latin typeface="Times New Roman" panose="02020603050405020304" pitchFamily="18" charset="0"/>
              </a:rPr>
              <a:t>. As a </a:t>
            </a:r>
            <a:r>
              <a:rPr lang="en-US" dirty="0" err="1" smtClean="0">
                <a:latin typeface="Times New Roman" panose="02020603050405020304" pitchFamily="18" charset="0"/>
              </a:rPr>
              <a:t>result,a</a:t>
            </a:r>
            <a:r>
              <a:rPr lang="en-US" dirty="0" smtClean="0">
                <a:latin typeface="Times New Roman" panose="02020603050405020304" pitchFamily="18" charset="0"/>
              </a:rPr>
              <a:t>  </a:t>
            </a:r>
            <a:r>
              <a:rPr lang="en-US" dirty="0">
                <a:latin typeface="Times New Roman" panose="02020603050405020304" pitchFamily="18" charset="0"/>
              </a:rPr>
              <a:t>good mitigation of motor CMV will be </a:t>
            </a:r>
            <a:r>
              <a:rPr lang="en-US" dirty="0" smtClean="0">
                <a:latin typeface="Times New Roman" panose="02020603050405020304" pitchFamily="18" charset="0"/>
              </a:rPr>
              <a:t>provided.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669"/>
          <a:stretch/>
        </p:blipFill>
        <p:spPr>
          <a:xfrm>
            <a:off x="7307263" y="3501251"/>
            <a:ext cx="3354388" cy="254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0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 smtClean="0"/>
              <a:t>Improved Topology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6224"/>
            <a:ext cx="10515600" cy="5197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Reduction of Common Mode Voltage and Conducted EMI Through Three-</a:t>
            </a:r>
            <a:r>
              <a:rPr lang="en-US" i="1" dirty="0" err="1">
                <a:solidFill>
                  <a:srgbClr val="7030A0"/>
                </a:solidFill>
              </a:rPr>
              <a:t>PhaseInverter</a:t>
            </a:r>
            <a:r>
              <a:rPr lang="en-US" i="1" dirty="0">
                <a:solidFill>
                  <a:srgbClr val="7030A0"/>
                </a:solidFill>
              </a:rPr>
              <a:t> Topology, </a:t>
            </a:r>
            <a:r>
              <a:rPr lang="en-US" b="1" dirty="0"/>
              <a:t>IEEE TRANSACTIONS ON POWER </a:t>
            </a:r>
            <a:r>
              <a:rPr lang="en-US" b="1" dirty="0" smtClean="0"/>
              <a:t>ELECTRONICS-Letter,</a:t>
            </a:r>
            <a:r>
              <a:rPr lang="sv-SE" b="1" dirty="0" smtClean="0"/>
              <a:t> 2017</a:t>
            </a:r>
          </a:p>
          <a:p>
            <a:pPr marL="0" indent="0">
              <a:buNone/>
            </a:pPr>
            <a:endParaRPr lang="en-US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 smtClean="0"/>
              <a:t>Instead </a:t>
            </a:r>
            <a:r>
              <a:rPr lang="en-US" sz="2000" dirty="0"/>
              <a:t>of using filters, active or passive, or specific pulse </a:t>
            </a:r>
            <a:r>
              <a:rPr lang="en-US" sz="2000" dirty="0" smtClean="0"/>
              <a:t>width modulated </a:t>
            </a:r>
            <a:r>
              <a:rPr lang="en-US" sz="2000" dirty="0"/>
              <a:t>(PWM) techniques to reduce the CM voltage, the pro-posed topology has inherently less CM voltage generation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With the </a:t>
            </a:r>
            <a:r>
              <a:rPr lang="en-US" sz="2000" dirty="0"/>
              <a:t>addition of two switches placed in series on the dc lines, </a:t>
            </a:r>
            <a:r>
              <a:rPr lang="en-US" sz="2000" dirty="0" smtClean="0"/>
              <a:t>this topology </a:t>
            </a:r>
            <a:r>
              <a:rPr lang="en-US" sz="2000" dirty="0"/>
              <a:t>effectively reduces the CM voltage during zero </a:t>
            </a:r>
            <a:r>
              <a:rPr lang="en-US" sz="2000" dirty="0" smtClean="0"/>
              <a:t>switching states </a:t>
            </a:r>
            <a:r>
              <a:rPr lang="en-US" sz="2000" dirty="0"/>
              <a:t>by “floating” the inverter from the dc source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It can </a:t>
            </a:r>
            <a:r>
              <a:rPr lang="en-US" sz="2000" dirty="0"/>
              <a:t>be implemented with any PWM method 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43698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795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The Proposed Methodology</a:t>
            </a:r>
            <a:endParaRPr lang="sv-SE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00" y="1581149"/>
            <a:ext cx="4305300" cy="31506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185" y="1581149"/>
            <a:ext cx="4176543" cy="27781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6300" y="5056485"/>
            <a:ext cx="101727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</a:rPr>
              <a:t>is also important to understand the impact on </a:t>
            </a:r>
            <a:r>
              <a:rPr lang="en-US" b="1" dirty="0" smtClean="0">
                <a:latin typeface="Times New Roman" panose="02020603050405020304" pitchFamily="18" charset="0"/>
              </a:rPr>
              <a:t>efficiency</a:t>
            </a:r>
            <a:r>
              <a:rPr lang="en-US" dirty="0" smtClean="0">
                <a:latin typeface="Times New Roman" panose="02020603050405020304" pitchFamily="18" charset="0"/>
              </a:rPr>
              <a:t> that </a:t>
            </a:r>
            <a:r>
              <a:rPr lang="en-US" dirty="0">
                <a:latin typeface="Times New Roman" panose="02020603050405020304" pitchFamily="18" charset="0"/>
              </a:rPr>
              <a:t>the introduction of the extra </a:t>
            </a:r>
            <a:r>
              <a:rPr lang="en-US" dirty="0" smtClean="0">
                <a:latin typeface="Times New Roman" panose="02020603050405020304" pitchFamily="18" charset="0"/>
              </a:rPr>
              <a:t>switches (series) has </a:t>
            </a:r>
            <a:r>
              <a:rPr lang="en-US" dirty="0">
                <a:latin typeface="Times New Roman" panose="02020603050405020304" pitchFamily="18" charset="0"/>
              </a:rPr>
              <a:t>compared to </a:t>
            </a:r>
            <a:r>
              <a:rPr lang="en-US" dirty="0" smtClean="0">
                <a:latin typeface="Times New Roman" panose="02020603050405020304" pitchFamily="18" charset="0"/>
              </a:rPr>
              <a:t>the conventional inverter.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379822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 smtClean="0"/>
              <a:t>Motor Side Solution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6224"/>
            <a:ext cx="10515600" cy="5197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Mitigation Method of the Shaft Voltage According </a:t>
            </a:r>
            <a:r>
              <a:rPr lang="en-US" i="1" dirty="0" smtClean="0">
                <a:solidFill>
                  <a:srgbClr val="7030A0"/>
                </a:solidFill>
              </a:rPr>
              <a:t>to Parasitic </a:t>
            </a:r>
            <a:r>
              <a:rPr lang="en-US" i="1" dirty="0">
                <a:solidFill>
                  <a:srgbClr val="7030A0"/>
                </a:solidFill>
              </a:rPr>
              <a:t>Capacitance of the PMSM, </a:t>
            </a:r>
            <a:r>
              <a:rPr lang="en-US" b="1" dirty="0"/>
              <a:t>IEEE TRANSACTIONS ON INDUSTRY APPLICATIONS,</a:t>
            </a:r>
            <a:r>
              <a:rPr lang="sv-SE" b="1" dirty="0" smtClean="0"/>
              <a:t> 2017</a:t>
            </a:r>
          </a:p>
          <a:p>
            <a:pPr marL="0" indent="0">
              <a:buNone/>
            </a:pPr>
            <a:r>
              <a:rPr lang="en-US" sz="2000" dirty="0" smtClean="0"/>
              <a:t>The rotor-to-winding </a:t>
            </a:r>
            <a:r>
              <a:rPr lang="en-US" sz="2000" dirty="0"/>
              <a:t>is determined as an appropriate parameter </a:t>
            </a:r>
            <a:r>
              <a:rPr lang="en-US" sz="2000" dirty="0" smtClean="0"/>
              <a:t>to mitigate </a:t>
            </a:r>
            <a:r>
              <a:rPr lang="en-US" sz="2000" dirty="0"/>
              <a:t>the shaft voltage among the parasitic capacitances, </a:t>
            </a:r>
            <a:r>
              <a:rPr lang="en-US" sz="2000" dirty="0" smtClean="0"/>
              <a:t>because </a:t>
            </a:r>
            <a:r>
              <a:rPr lang="en-US" sz="2000" dirty="0"/>
              <a:t>it affects the shaft voltage and does not affect the </a:t>
            </a:r>
            <a:r>
              <a:rPr lang="en-US" sz="2000" dirty="0" smtClean="0"/>
              <a:t>output torque</a:t>
            </a:r>
            <a:r>
              <a:rPr lang="en-US" sz="2000" dirty="0"/>
              <a:t>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In </a:t>
            </a:r>
            <a:r>
              <a:rPr lang="en-US" sz="2000" dirty="0"/>
              <a:t>case </a:t>
            </a:r>
            <a:r>
              <a:rPr lang="en-US" sz="2000" dirty="0" smtClean="0"/>
              <a:t>of the </a:t>
            </a:r>
            <a:r>
              <a:rPr lang="en-US" sz="2000" dirty="0"/>
              <a:t>ball bearing capacitance (</a:t>
            </a:r>
            <a:r>
              <a:rPr lang="en-US" sz="2000" dirty="0" err="1"/>
              <a:t>Cb</a:t>
            </a:r>
            <a:r>
              <a:rPr lang="en-US" sz="2000" dirty="0"/>
              <a:t>), it is a critical component </a:t>
            </a:r>
            <a:r>
              <a:rPr lang="en-US" sz="2000" dirty="0" smtClean="0"/>
              <a:t>for the </a:t>
            </a:r>
            <a:r>
              <a:rPr lang="en-US" sz="2000" dirty="0"/>
              <a:t>shaft voltage. However, </a:t>
            </a:r>
            <a:r>
              <a:rPr lang="en-US" sz="2000" dirty="0" err="1"/>
              <a:t>Cb</a:t>
            </a:r>
            <a:r>
              <a:rPr lang="en-US" sz="2000" dirty="0"/>
              <a:t> is not considered as a </a:t>
            </a:r>
            <a:r>
              <a:rPr lang="en-US" sz="2000" dirty="0" smtClean="0"/>
              <a:t>mitigation </a:t>
            </a:r>
            <a:r>
              <a:rPr lang="en-US" sz="2000" dirty="0"/>
              <a:t>parameter because standard of industrial bearings is </a:t>
            </a:r>
            <a:r>
              <a:rPr lang="en-US" sz="2000" dirty="0" smtClean="0"/>
              <a:t>fixed according </a:t>
            </a:r>
            <a:r>
              <a:rPr lang="en-US" sz="2000" dirty="0"/>
              <a:t>to </a:t>
            </a:r>
            <a:r>
              <a:rPr lang="en-US" sz="2000" dirty="0" smtClean="0"/>
              <a:t>size.</a:t>
            </a:r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664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795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The Proposed Methodology</a:t>
            </a:r>
            <a:endParaRPr lang="sv-SE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8" y="1657350"/>
            <a:ext cx="4433467" cy="45276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011237"/>
            <a:ext cx="4610100" cy="1952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1101789"/>
            <a:ext cx="3261567" cy="15367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396" y="2763837"/>
            <a:ext cx="4993855" cy="385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952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/>
              <a:t>Grounding Concept and Common-Mode Filter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6224"/>
            <a:ext cx="10515600" cy="5197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Grounding Concept and Common-Mode </a:t>
            </a:r>
            <a:r>
              <a:rPr lang="en-US" i="1" dirty="0" smtClean="0">
                <a:solidFill>
                  <a:srgbClr val="7030A0"/>
                </a:solidFill>
              </a:rPr>
              <a:t>Filter Design </a:t>
            </a:r>
            <a:r>
              <a:rPr lang="en-US" i="1" dirty="0">
                <a:solidFill>
                  <a:srgbClr val="7030A0"/>
                </a:solidFill>
              </a:rPr>
              <a:t>Methodology for </a:t>
            </a:r>
            <a:r>
              <a:rPr lang="en-US" i="1" dirty="0" err="1">
                <a:solidFill>
                  <a:srgbClr val="7030A0"/>
                </a:solidFill>
              </a:rPr>
              <a:t>Transformerless</a:t>
            </a:r>
            <a:r>
              <a:rPr lang="en-US" i="1" dirty="0">
                <a:solidFill>
                  <a:srgbClr val="7030A0"/>
                </a:solidFill>
              </a:rPr>
              <a:t> MV </a:t>
            </a:r>
            <a:r>
              <a:rPr lang="en-US" i="1" dirty="0" smtClean="0">
                <a:solidFill>
                  <a:srgbClr val="7030A0"/>
                </a:solidFill>
              </a:rPr>
              <a:t>Drives to </a:t>
            </a:r>
            <a:r>
              <a:rPr lang="en-US" i="1" dirty="0">
                <a:solidFill>
                  <a:srgbClr val="7030A0"/>
                </a:solidFill>
              </a:rPr>
              <a:t>Prevent Bearing Current Issues, </a:t>
            </a:r>
            <a:r>
              <a:rPr lang="en-US" b="1" dirty="0"/>
              <a:t>IEEE TRANSACTIONS ON INDUSTRY APPLICATIONS,</a:t>
            </a:r>
            <a:r>
              <a:rPr lang="sv-SE" b="1" dirty="0" smtClean="0"/>
              <a:t> 2017</a:t>
            </a:r>
            <a:endParaRPr lang="en-US" sz="2000" i="1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sv-SE" sz="2000" dirty="0"/>
              <a:t>Electric Discharge </a:t>
            </a:r>
            <a:r>
              <a:rPr lang="sv-SE" sz="2000" dirty="0" err="1" smtClean="0"/>
              <a:t>current</a:t>
            </a:r>
            <a:endParaRPr lang="sv-SE" sz="2000" dirty="0" smtClean="0"/>
          </a:p>
          <a:p>
            <a:pPr marL="0" indent="0">
              <a:buNone/>
            </a:pPr>
            <a:r>
              <a:rPr lang="sv-SE" sz="2000" dirty="0" err="1"/>
              <a:t>Induced</a:t>
            </a:r>
            <a:r>
              <a:rPr lang="sv-SE" sz="2000" dirty="0"/>
              <a:t> </a:t>
            </a:r>
            <a:r>
              <a:rPr lang="sv-SE" sz="2000" dirty="0" err="1"/>
              <a:t>Circulating</a:t>
            </a:r>
            <a:r>
              <a:rPr lang="sv-SE" sz="2000" dirty="0"/>
              <a:t> </a:t>
            </a:r>
            <a:r>
              <a:rPr lang="sv-SE" sz="2000" dirty="0" err="1"/>
              <a:t>Bearing</a:t>
            </a:r>
            <a:r>
              <a:rPr lang="sv-SE" sz="2000" dirty="0"/>
              <a:t> </a:t>
            </a:r>
            <a:r>
              <a:rPr lang="sv-SE" sz="2000" dirty="0" err="1" smtClean="0"/>
              <a:t>Currents</a:t>
            </a:r>
            <a:endParaRPr lang="sv-SE" sz="2000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sv-SE" dirty="0" smtClean="0"/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313" y="3751304"/>
            <a:ext cx="6383338" cy="271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332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 smtClean="0"/>
              <a:t>Motor Side Solution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6224"/>
            <a:ext cx="10515600" cy="5197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Shaft-to-Frame Voltage Mitigation Method </a:t>
            </a:r>
            <a:r>
              <a:rPr lang="en-US" i="1" dirty="0" smtClean="0">
                <a:solidFill>
                  <a:srgbClr val="7030A0"/>
                </a:solidFill>
              </a:rPr>
              <a:t>by Changing </a:t>
            </a:r>
            <a:r>
              <a:rPr lang="en-US" i="1" dirty="0">
                <a:solidFill>
                  <a:srgbClr val="7030A0"/>
                </a:solidFill>
              </a:rPr>
              <a:t>Winding-to-Rotor </a:t>
            </a:r>
            <a:r>
              <a:rPr lang="en-US" i="1" dirty="0" smtClean="0">
                <a:solidFill>
                  <a:srgbClr val="7030A0"/>
                </a:solidFill>
              </a:rPr>
              <a:t>Parasitic Capacitance </a:t>
            </a:r>
            <a:r>
              <a:rPr lang="en-US" i="1" dirty="0">
                <a:solidFill>
                  <a:srgbClr val="7030A0"/>
                </a:solidFill>
              </a:rPr>
              <a:t>of IPMSM, </a:t>
            </a:r>
            <a:r>
              <a:rPr lang="en-US" b="1" dirty="0"/>
              <a:t>IEEE TRANSACTIONS ON INDUSTRY APPLICATIONS,</a:t>
            </a:r>
            <a:r>
              <a:rPr lang="sv-SE" b="1" dirty="0" smtClean="0"/>
              <a:t> 2019</a:t>
            </a:r>
          </a:p>
          <a:p>
            <a:pPr marL="0" indent="0">
              <a:buNone/>
            </a:pPr>
            <a:r>
              <a:rPr lang="en-US" sz="2000" dirty="0"/>
              <a:t>Among all parasitic </a:t>
            </a:r>
            <a:r>
              <a:rPr lang="en-US" sz="2000" dirty="0" smtClean="0"/>
              <a:t>capacitances</a:t>
            </a:r>
            <a:r>
              <a:rPr lang="en-US" sz="2000" dirty="0"/>
              <a:t>, winding-to-rotor parasitic capacitance has the </a:t>
            </a:r>
            <a:r>
              <a:rPr lang="en-US" sz="2000" dirty="0" smtClean="0"/>
              <a:t>greatest effect </a:t>
            </a:r>
            <a:r>
              <a:rPr lang="en-US" sz="2000" dirty="0"/>
              <a:t>on the shaft-to-frame voltage, which means the winding-to-rotor parasitic capacitance must be suppressed for </a:t>
            </a:r>
            <a:r>
              <a:rPr lang="en-US" sz="2000" dirty="0" smtClean="0"/>
              <a:t>noticeable mitigation </a:t>
            </a:r>
            <a:r>
              <a:rPr lang="en-US" sz="2000" dirty="0"/>
              <a:t>of the shaft-to-frame voltage</a:t>
            </a:r>
            <a:r>
              <a:rPr lang="en-US" sz="2000" dirty="0" smtClean="0"/>
              <a:t>. </a:t>
            </a:r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sz="2000" dirty="0"/>
              <a:t>First, the modified </a:t>
            </a:r>
            <a:r>
              <a:rPr lang="en-US" sz="2000" dirty="0" err="1"/>
              <a:t>windingshape</a:t>
            </a:r>
            <a:r>
              <a:rPr lang="en-US" sz="2000" dirty="0"/>
              <a:t> is utilized for the suppression of stator winding-to-rotor ca-</a:t>
            </a:r>
            <a:r>
              <a:rPr lang="en-US" sz="2000" dirty="0" err="1"/>
              <a:t>pacitance</a:t>
            </a:r>
            <a:r>
              <a:rPr lang="en-US" sz="2000" dirty="0"/>
              <a:t>.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Second</a:t>
            </a:r>
            <a:r>
              <a:rPr lang="en-US" sz="2000" dirty="0"/>
              <a:t>, a copper shield is applied to suppress the </a:t>
            </a:r>
            <a:r>
              <a:rPr lang="en-US" sz="2000" dirty="0" err="1"/>
              <a:t>endwinding</a:t>
            </a:r>
            <a:r>
              <a:rPr lang="en-US" sz="2000" dirty="0"/>
              <a:t>-to-rotor parasitic capacitance. </a:t>
            </a:r>
            <a:endParaRPr lang="en-US" sz="2000" i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000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795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The Proposed Methodology</a:t>
            </a:r>
            <a:endParaRPr lang="sv-SE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933450"/>
            <a:ext cx="4694812" cy="4457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37" y="727849"/>
            <a:ext cx="4748213" cy="59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44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788650" cy="1325563"/>
          </a:xfrm>
        </p:spPr>
        <p:txBody>
          <a:bodyPr/>
          <a:lstStyle/>
          <a:p>
            <a:r>
              <a:rPr lang="en-US" dirty="0" smtClean="0"/>
              <a:t>Dual Three-Phase VSI Inverter</a:t>
            </a:r>
            <a:endParaRPr lang="sv-SE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700" y="1546224"/>
            <a:ext cx="10515600" cy="51974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7030A0"/>
                </a:solidFill>
              </a:rPr>
              <a:t>Paper title: </a:t>
            </a:r>
            <a:r>
              <a:rPr lang="en-US" i="1" dirty="0">
                <a:solidFill>
                  <a:srgbClr val="7030A0"/>
                </a:solidFill>
              </a:rPr>
              <a:t>Common-Mode Voltage Mitigation of </a:t>
            </a:r>
            <a:r>
              <a:rPr lang="en-US" i="1" dirty="0" smtClean="0">
                <a:solidFill>
                  <a:srgbClr val="7030A0"/>
                </a:solidFill>
              </a:rPr>
              <a:t>Dual Three-Phase </a:t>
            </a:r>
            <a:r>
              <a:rPr lang="en-US" i="1" dirty="0">
                <a:solidFill>
                  <a:srgbClr val="7030A0"/>
                </a:solidFill>
              </a:rPr>
              <a:t>Voltage Source Inverters in a </a:t>
            </a:r>
            <a:r>
              <a:rPr lang="en-US" i="1" dirty="0" smtClean="0">
                <a:solidFill>
                  <a:srgbClr val="7030A0"/>
                </a:solidFill>
              </a:rPr>
              <a:t>Motor Drive </a:t>
            </a:r>
            <a:r>
              <a:rPr lang="en-US" i="1" dirty="0">
                <a:solidFill>
                  <a:srgbClr val="7030A0"/>
                </a:solidFill>
              </a:rPr>
              <a:t>Application, </a:t>
            </a:r>
            <a:r>
              <a:rPr lang="en-US" b="1" dirty="0" smtClean="0"/>
              <a:t>IEEE ACCESS,</a:t>
            </a:r>
            <a:r>
              <a:rPr lang="sv-SE" b="1" dirty="0" smtClean="0"/>
              <a:t> 2021</a:t>
            </a:r>
          </a:p>
        </p:txBody>
      </p:sp>
    </p:spTree>
    <p:extLst>
      <p:ext uri="{BB962C8B-B14F-4D97-AF65-F5344CB8AC3E}">
        <p14:creationId xmlns:p14="http://schemas.microsoft.com/office/powerpoint/2010/main" val="552640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533165" y="266184"/>
            <a:ext cx="37951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 </a:t>
            </a:r>
            <a:r>
              <a:rPr lang="en-US" sz="2400" b="1" dirty="0" smtClean="0"/>
              <a:t>The Proposed Methodology</a:t>
            </a:r>
            <a:endParaRPr lang="sv-SE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933450"/>
            <a:ext cx="4694812" cy="4457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37" y="727849"/>
            <a:ext cx="4748213" cy="59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4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13946</TotalTime>
  <Words>1505</Words>
  <Application>Microsoft Office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Office Theme</vt:lpstr>
      <vt:lpstr>Mitigation of CMV and Bearing Currents </vt:lpstr>
      <vt:lpstr>CM Filter and Motor Shaft Grounding Ring</vt:lpstr>
      <vt:lpstr>PowerPoint Presentation</vt:lpstr>
      <vt:lpstr>PowerPoint Presentation</vt:lpstr>
      <vt:lpstr>Brushless Mitigation </vt:lpstr>
      <vt:lpstr>PowerPoint Presentation</vt:lpstr>
      <vt:lpstr>PowerPoint Presentation</vt:lpstr>
      <vt:lpstr>PowerPoint Presentation</vt:lpstr>
      <vt:lpstr>Common-Mode Voltage and Vibration Mitigation</vt:lpstr>
      <vt:lpstr>PowerPoint Presentation</vt:lpstr>
      <vt:lpstr>Improved Topology</vt:lpstr>
      <vt:lpstr>PowerPoint Presentation</vt:lpstr>
      <vt:lpstr>Improved Topology</vt:lpstr>
      <vt:lpstr>PowerPoint Presentation</vt:lpstr>
      <vt:lpstr>Motor Side Solution</vt:lpstr>
      <vt:lpstr>PowerPoint Presentation</vt:lpstr>
      <vt:lpstr>Grounding Concept and Common-Mode Filter</vt:lpstr>
      <vt:lpstr>Motor Side Solution</vt:lpstr>
      <vt:lpstr>PowerPoint Presentation</vt:lpstr>
      <vt:lpstr>Dual Three-Phase VSI Inverter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155</cp:revision>
  <dcterms:created xsi:type="dcterms:W3CDTF">2023-05-19T13:17:21Z</dcterms:created>
  <dcterms:modified xsi:type="dcterms:W3CDTF">2023-06-02T13:38:48Z</dcterms:modified>
</cp:coreProperties>
</file>