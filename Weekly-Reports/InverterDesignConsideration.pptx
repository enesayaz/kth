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74" r:id="rId3"/>
    <p:sldId id="275" r:id="rId4"/>
    <p:sldId id="280" r:id="rId5"/>
    <p:sldId id="281" r:id="rId6"/>
    <p:sldId id="276" r:id="rId7"/>
    <p:sldId id="277" r:id="rId8"/>
    <p:sldId id="278" r:id="rId9"/>
    <p:sldId id="279" r:id="rId10"/>
    <p:sldId id="261" r:id="rId11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7924251-0D1C-482F-9C00-375F743874E9}">
          <p14:sldIdLst>
            <p14:sldId id="256"/>
            <p14:sldId id="274"/>
            <p14:sldId id="275"/>
            <p14:sldId id="280"/>
            <p14:sldId id="281"/>
            <p14:sldId id="276"/>
            <p14:sldId id="277"/>
            <p14:sldId id="278"/>
            <p14:sldId id="279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F1A71A-9BFD-4E2F-8CB1-3FF418E5A8DE}" type="datetimeFigureOut">
              <a:rPr lang="sv-SE" smtClean="0"/>
              <a:t>2023-05-26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AE4D78-AB85-481E-A603-2784DADE5A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2372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2023-05-26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09357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2023-05-26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51407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2023-05-26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198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2023-05-26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62741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2023-05-26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88178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2023-05-26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31030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2023-05-26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0404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2023-05-26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67984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2023-05-26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92539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2023-05-26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44571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2023-05-26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24245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F6EBA-2446-4F83-BF27-4368AC2AD5AA}" type="datetimeFigureOut">
              <a:rPr lang="sv-SE" smtClean="0"/>
              <a:t>2023-05-26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96518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ctrTitle"/>
              </p:nvPr>
            </p:nvSpPr>
            <p:spPr>
              <a:xfrm>
                <a:off x="1479550" y="608013"/>
                <a:ext cx="9144000" cy="2387600"/>
              </a:xfrm>
            </p:spPr>
            <p:txBody>
              <a:bodyPr>
                <a:normAutofit/>
              </a:bodyPr>
              <a:lstStyle/>
              <a:p>
                <a:r>
                  <a:rPr lang="en-US" dirty="0" smtClean="0">
                    <a:solidFill>
                      <a:srgbClr val="C00000"/>
                    </a:solidFill>
                  </a:rPr>
                  <a:t>3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 smtClean="0">
                    <a:solidFill>
                      <a:srgbClr val="C00000"/>
                    </a:solidFill>
                  </a:rPr>
                  <a:t> Traction Inverter Consideration</a:t>
                </a:r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1479550" y="608013"/>
                <a:ext cx="9144000" cy="2387600"/>
              </a:xfrm>
              <a:blipFill>
                <a:blip r:embed="rId2"/>
                <a:stretch>
                  <a:fillRect b="-1739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002060"/>
                </a:solidFill>
              </a:rPr>
              <a:t>Enes Ayaz</a:t>
            </a:r>
          </a:p>
        </p:txBody>
      </p:sp>
    </p:spTree>
    <p:extLst>
      <p:ext uri="{BB962C8B-B14F-4D97-AF65-F5344CB8AC3E}">
        <p14:creationId xmlns:p14="http://schemas.microsoft.com/office/powerpoint/2010/main" val="1267826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0" y="36512"/>
            <a:ext cx="10515600" cy="1325563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System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 smtClean="0">
                <a:solidFill>
                  <a:srgbClr val="C00000"/>
                </a:solidFill>
              </a:rPr>
              <a:t>evel Design Considerations [1]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5350" y="1171575"/>
            <a:ext cx="10515600" cy="5394325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Heat sink and cooling types</a:t>
            </a:r>
          </a:p>
          <a:p>
            <a:pPr lvl="1"/>
            <a:r>
              <a:rPr lang="en-US" sz="1600" dirty="0" smtClean="0"/>
              <a:t>Cold plate, liquid cooling</a:t>
            </a:r>
          </a:p>
          <a:p>
            <a:pPr lvl="1"/>
            <a:r>
              <a:rPr lang="en-US" sz="1600" dirty="0" smtClean="0"/>
              <a:t>Air cooling and heat-sink </a:t>
            </a:r>
            <a:r>
              <a:rPr lang="en-US" sz="1600" dirty="0" smtClean="0"/>
              <a:t>design</a:t>
            </a:r>
            <a:endParaRPr lang="en-US" sz="16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Selection of topology and power modules </a:t>
            </a:r>
          </a:p>
          <a:p>
            <a:pPr lvl="1"/>
            <a:r>
              <a:rPr lang="en-US" sz="1600" dirty="0" smtClean="0"/>
              <a:t>2-level : Half-bridge modules</a:t>
            </a:r>
          </a:p>
          <a:p>
            <a:pPr lvl="1"/>
            <a:r>
              <a:rPr lang="en-US" sz="1600" dirty="0" smtClean="0"/>
              <a:t>3-level NPC : </a:t>
            </a:r>
            <a:r>
              <a:rPr lang="en-US" sz="1600" dirty="0"/>
              <a:t>Half-bridge </a:t>
            </a:r>
            <a:r>
              <a:rPr lang="en-US" sz="1600" dirty="0" smtClean="0"/>
              <a:t>modules</a:t>
            </a:r>
          </a:p>
          <a:p>
            <a:pPr lvl="1"/>
            <a:r>
              <a:rPr lang="en-US" sz="1600" dirty="0"/>
              <a:t>3-level TTC : Half-bridge </a:t>
            </a:r>
            <a:r>
              <a:rPr lang="en-US" sz="1600" dirty="0" smtClean="0"/>
              <a:t>modules, Common-collector modules</a:t>
            </a:r>
            <a:endParaRPr lang="en-US" sz="16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Capacitor bank for DC-link or decoupling</a:t>
            </a:r>
          </a:p>
          <a:p>
            <a:pPr lvl="1"/>
            <a:r>
              <a:rPr lang="en-US" sz="1600" dirty="0" smtClean="0"/>
              <a:t>Motor phase-module requirements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err="1" smtClean="0"/>
              <a:t>Busbar</a:t>
            </a:r>
            <a:r>
              <a:rPr lang="en-US" sz="2000" b="1" dirty="0" smtClean="0"/>
              <a:t> design</a:t>
            </a:r>
          </a:p>
          <a:p>
            <a:pPr lvl="1"/>
            <a:r>
              <a:rPr lang="en-US" sz="1600" dirty="0" smtClean="0"/>
              <a:t>Low inductance laminated connection to decrease switching noise</a:t>
            </a:r>
          </a:p>
          <a:p>
            <a:pPr marL="457200" indent="-457200">
              <a:buFont typeface="+mj-lt"/>
              <a:buAutoNum type="arabicPeriod"/>
            </a:pPr>
            <a:r>
              <a:rPr lang="sv-SE" sz="2000" b="1" dirty="0" err="1" smtClean="0"/>
              <a:t>Auxliary</a:t>
            </a:r>
            <a:r>
              <a:rPr lang="sv-SE" sz="2000" b="1" dirty="0" smtClean="0"/>
              <a:t> </a:t>
            </a:r>
            <a:r>
              <a:rPr lang="sv-SE" sz="2000" b="1" dirty="0" err="1" smtClean="0"/>
              <a:t>circuits</a:t>
            </a:r>
            <a:r>
              <a:rPr lang="sv-SE" sz="2000" b="1" dirty="0" smtClean="0"/>
              <a:t>: </a:t>
            </a:r>
          </a:p>
          <a:p>
            <a:pPr lvl="1"/>
            <a:r>
              <a:rPr lang="en-US" sz="1600" dirty="0" smtClean="0"/>
              <a:t>Gate drives</a:t>
            </a:r>
          </a:p>
          <a:p>
            <a:pPr lvl="1"/>
            <a:r>
              <a:rPr lang="en-US" sz="1600" dirty="0" smtClean="0"/>
              <a:t>Sensors</a:t>
            </a:r>
          </a:p>
          <a:p>
            <a:pPr lvl="1"/>
            <a:r>
              <a:rPr lang="en-US" sz="1600" dirty="0" smtClean="0"/>
              <a:t>Power supplies</a:t>
            </a:r>
            <a:endParaRPr lang="sv-SE" sz="1600" dirty="0" smtClean="0"/>
          </a:p>
          <a:p>
            <a:pPr marL="457200" indent="-457200">
              <a:buFont typeface="+mj-lt"/>
              <a:buAutoNum type="arabicPeriod"/>
            </a:pPr>
            <a:r>
              <a:rPr lang="sv-SE" sz="2000" b="1" dirty="0" err="1" smtClean="0"/>
              <a:t>Connectors</a:t>
            </a:r>
            <a:r>
              <a:rPr lang="sv-SE" sz="2000" b="1" dirty="0" smtClean="0"/>
              <a:t> and Filters :</a:t>
            </a:r>
          </a:p>
          <a:p>
            <a:pPr lvl="1"/>
            <a:r>
              <a:rPr lang="sv-SE" sz="1600" dirty="0" smtClean="0"/>
              <a:t>Input, output ; common mode, differential mode</a:t>
            </a:r>
          </a:p>
        </p:txBody>
      </p:sp>
    </p:spTree>
    <p:extLst>
      <p:ext uri="{BB962C8B-B14F-4D97-AF65-F5344CB8AC3E}">
        <p14:creationId xmlns:p14="http://schemas.microsoft.com/office/powerpoint/2010/main" val="3577491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57150"/>
            <a:ext cx="10515600" cy="885824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Conceptual System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 smtClean="0">
                <a:solidFill>
                  <a:srgbClr val="C00000"/>
                </a:solidFill>
              </a:rPr>
              <a:t>evel Design [2]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3900" y="727075"/>
            <a:ext cx="10515600" cy="58324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The potential solutions to enable </a:t>
            </a:r>
            <a:r>
              <a:rPr lang="en-US" sz="2000" b="1" dirty="0" smtClean="0"/>
              <a:t>high-density</a:t>
            </a:r>
            <a:r>
              <a:rPr lang="en-US" sz="2000" dirty="0" smtClean="0"/>
              <a:t> </a:t>
            </a:r>
            <a:r>
              <a:rPr lang="en-US" sz="2000" dirty="0"/>
              <a:t>and </a:t>
            </a:r>
            <a:r>
              <a:rPr lang="en-US" sz="2000" b="1" dirty="0"/>
              <a:t>high-efficiency </a:t>
            </a:r>
            <a:r>
              <a:rPr lang="en-US" sz="2000" dirty="0"/>
              <a:t>traction </a:t>
            </a:r>
            <a:r>
              <a:rPr lang="en-US" sz="2000" dirty="0" smtClean="0"/>
              <a:t>inverters: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Utilize WBG devices (all-</a:t>
            </a:r>
            <a:r>
              <a:rPr lang="en-US" sz="2000" dirty="0" err="1" smtClean="0"/>
              <a:t>SiC</a:t>
            </a:r>
            <a:r>
              <a:rPr lang="en-US" sz="2000" dirty="0" smtClean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Still medium frequency range 10-25kHz ????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Passing to multi level (especially 3L) inverters since 2L inverters have</a:t>
            </a:r>
          </a:p>
          <a:p>
            <a:pPr lvl="2"/>
            <a:r>
              <a:rPr lang="en-US" dirty="0" smtClean="0"/>
              <a:t>Higher output voltage harmonics</a:t>
            </a:r>
          </a:p>
          <a:p>
            <a:pPr lvl="2"/>
            <a:r>
              <a:rPr lang="en-US" dirty="0" smtClean="0"/>
              <a:t>Lower efficiency at higher switching frequency, which is vital to decrease the volume</a:t>
            </a:r>
          </a:p>
          <a:p>
            <a:pPr lvl="2"/>
            <a:r>
              <a:rPr lang="en-US" dirty="0" smtClean="0"/>
              <a:t>Higher dv/</a:t>
            </a:r>
            <a:r>
              <a:rPr lang="en-US" dirty="0" err="1" smtClean="0"/>
              <a:t>dt</a:t>
            </a:r>
            <a:r>
              <a:rPr lang="en-US" dirty="0" smtClean="0"/>
              <a:t> and EMI, which causes common mode problems at the motor side</a:t>
            </a:r>
          </a:p>
          <a:p>
            <a:pPr lvl="2"/>
            <a:r>
              <a:rPr lang="en-US" dirty="0" smtClean="0"/>
              <a:t>Higher voltage </a:t>
            </a:r>
            <a:r>
              <a:rPr lang="en-US" dirty="0"/>
              <a:t>ratings</a:t>
            </a:r>
            <a:r>
              <a:rPr lang="en-US" dirty="0" smtClean="0"/>
              <a:t> for switches</a:t>
            </a:r>
          </a:p>
          <a:p>
            <a:pPr marL="457200" lvl="1" indent="0">
              <a:buNone/>
            </a:pPr>
            <a:r>
              <a:rPr lang="en-US" sz="2000" dirty="0" smtClean="0"/>
              <a:t>	But  3L inverters (NPC, ANPC, T-type) have </a:t>
            </a:r>
          </a:p>
          <a:p>
            <a:pPr lvl="2"/>
            <a:r>
              <a:rPr lang="en-US" dirty="0" smtClean="0"/>
              <a:t>increased number of switches</a:t>
            </a:r>
          </a:p>
          <a:p>
            <a:pPr lvl="2"/>
            <a:r>
              <a:rPr lang="en-US" dirty="0" smtClean="0"/>
              <a:t>increased isolated gate drives</a:t>
            </a:r>
          </a:p>
          <a:p>
            <a:pPr lvl="2"/>
            <a:r>
              <a:rPr lang="en-US" dirty="0" smtClean="0"/>
              <a:t>Increased cost and complexity</a:t>
            </a:r>
          </a:p>
          <a:p>
            <a:pPr marL="457200" lvl="1" indent="0">
              <a:buNone/>
            </a:pPr>
            <a:r>
              <a:rPr lang="en-US" sz="2000" dirty="0" smtClean="0"/>
              <a:t>	NPC and ANPC have</a:t>
            </a:r>
          </a:p>
          <a:p>
            <a:pPr lvl="2"/>
            <a:r>
              <a:rPr lang="en-US" dirty="0" smtClean="0"/>
              <a:t>Higher conduction losses due to the series connection of two devices</a:t>
            </a:r>
          </a:p>
          <a:p>
            <a:pPr marL="457200" lvl="1" indent="0">
              <a:buNone/>
            </a:pPr>
            <a:r>
              <a:rPr lang="en-US" sz="2000" dirty="0" smtClean="0"/>
              <a:t>	T-type </a:t>
            </a:r>
          </a:p>
          <a:p>
            <a:pPr lvl="2"/>
            <a:r>
              <a:rPr lang="en-US" dirty="0" smtClean="0"/>
              <a:t>Higher voltage ratings for some of the switches</a:t>
            </a:r>
          </a:p>
          <a:p>
            <a:pPr lvl="2"/>
            <a:r>
              <a:rPr lang="en-US" dirty="0" smtClean="0"/>
              <a:t>Higher switching losses because of higher voltage stress on single-switches</a:t>
            </a:r>
          </a:p>
        </p:txBody>
      </p:sp>
    </p:spTree>
    <p:extLst>
      <p:ext uri="{BB962C8B-B14F-4D97-AF65-F5344CB8AC3E}">
        <p14:creationId xmlns:p14="http://schemas.microsoft.com/office/powerpoint/2010/main" val="824230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Voltage source inverters (VSIs) or current source inverters (CSIs) [3,4]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575" y="1585061"/>
            <a:ext cx="6321425" cy="26445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b="2601"/>
          <a:stretch/>
        </p:blipFill>
        <p:spPr>
          <a:xfrm>
            <a:off x="2066926" y="4405406"/>
            <a:ext cx="2379663" cy="196226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l="47011" t="4316" r="46861" b="21247"/>
          <a:stretch/>
        </p:blipFill>
        <p:spPr>
          <a:xfrm>
            <a:off x="487361" y="4546600"/>
            <a:ext cx="387351" cy="1968500"/>
          </a:xfrm>
          <a:prstGeom prst="rect">
            <a:avLst/>
          </a:prstGeom>
        </p:spPr>
      </p:pic>
      <p:cxnSp>
        <p:nvCxnSpPr>
          <p:cNvPr id="9" name="Straight Connector 8"/>
          <p:cNvCxnSpPr/>
          <p:nvPr/>
        </p:nvCxnSpPr>
        <p:spPr>
          <a:xfrm>
            <a:off x="1282700" y="5316691"/>
            <a:ext cx="355600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82700" y="5473700"/>
            <a:ext cx="355600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r="88448" b="25140"/>
          <a:stretch/>
        </p:blipFill>
        <p:spPr>
          <a:xfrm>
            <a:off x="7886701" y="4387958"/>
            <a:ext cx="730250" cy="1979717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9347200" y="5210756"/>
            <a:ext cx="355600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9347200" y="5367765"/>
            <a:ext cx="355600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/>
          <a:srcRect l="1" r="72126" b="2601"/>
          <a:stretch/>
        </p:blipFill>
        <p:spPr>
          <a:xfrm>
            <a:off x="10321927" y="4229621"/>
            <a:ext cx="669924" cy="1962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784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Comparisons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33450" y="1690688"/>
            <a:ext cx="7289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CSIs provide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</a:t>
            </a:r>
            <a:r>
              <a:rPr lang="en-US" dirty="0" smtClean="0"/>
              <a:t>igher efficiency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Lower THD in the current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Lower conducted </a:t>
            </a:r>
            <a:r>
              <a:rPr lang="en-US" b="1" dirty="0" smtClean="0"/>
              <a:t>EMI</a:t>
            </a:r>
            <a:r>
              <a:rPr lang="en-US" dirty="0" smtClean="0"/>
              <a:t> (both differential mode and common mode)</a:t>
            </a:r>
          </a:p>
          <a:p>
            <a:endParaRPr lang="en-US" dirty="0"/>
          </a:p>
          <a:p>
            <a:r>
              <a:rPr lang="en-US" dirty="0" smtClean="0"/>
              <a:t>But, CSIs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Have higher number of switches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Require additional DC/DC converter to energize via battery</a:t>
            </a:r>
          </a:p>
          <a:p>
            <a:endParaRPr lang="en-US" dirty="0" smtClean="0"/>
          </a:p>
          <a:p>
            <a:r>
              <a:rPr lang="en-US" dirty="0" smtClean="0"/>
              <a:t> 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141099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𝐿𝐶</m:t>
                      </m:r>
                    </m:oMath>
                  </m:oMathPara>
                </a14:m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5614" y="2375243"/>
            <a:ext cx="4127867" cy="1946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62033" y="1794297"/>
            <a:ext cx="717769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Suitable for low voltage applications.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Simple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I</a:t>
            </a:r>
            <a:r>
              <a:rPr lang="en-US" sz="2800" dirty="0" smtClean="0"/>
              <a:t>nexpensive</a:t>
            </a:r>
          </a:p>
          <a:p>
            <a:endParaRPr lang="en-US" sz="28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Bad efficiency for higher switching frequency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Cause higher overvoltage due to long cables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Cause higher </a:t>
            </a:r>
            <a:r>
              <a:rPr lang="en-US" sz="2800" dirty="0"/>
              <a:t>m</a:t>
            </a:r>
            <a:r>
              <a:rPr lang="en-US" sz="2800" dirty="0" smtClean="0"/>
              <a:t>achine isolation stress</a:t>
            </a:r>
            <a:endParaRPr lang="sv-SE" sz="2800" dirty="0"/>
          </a:p>
        </p:txBody>
      </p:sp>
    </p:spTree>
    <p:extLst>
      <p:ext uri="{BB962C8B-B14F-4D97-AF65-F5344CB8AC3E}">
        <p14:creationId xmlns:p14="http://schemas.microsoft.com/office/powerpoint/2010/main" val="3866847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𝐿𝑁𝑃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sv-SE" dirty="0" smtClean="0">
                    <a:solidFill>
                      <a:srgbClr val="C00000"/>
                    </a:solidFill>
                  </a:rPr>
                  <a:t> </a:t>
                </a:r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4499000" y="1374924"/>
            <a:ext cx="717769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Medium voltage applications.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Reduced switching losses.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Split blocking voltage </a:t>
            </a:r>
          </a:p>
          <a:p>
            <a:endParaRPr lang="en-US" sz="2600" dirty="0" smtClean="0"/>
          </a:p>
          <a:p>
            <a:pPr marL="514350" indent="-514350">
              <a:buAutoNum type="arabicPeriod"/>
            </a:pPr>
            <a:r>
              <a:rPr lang="en-US" sz="2600" dirty="0" smtClean="0"/>
              <a:t>The conduction losses can increase for bipolar devices if two devices with half of the blocking voltage are connected in series compared to one device providing the full blocking voltage.</a:t>
            </a:r>
            <a:endParaRPr lang="en-US" sz="2600" dirty="0"/>
          </a:p>
          <a:p>
            <a:pPr marL="514350" indent="-514350">
              <a:buAutoNum type="arabicPeriod"/>
            </a:pPr>
            <a:r>
              <a:rPr lang="en-US" sz="2600" dirty="0" smtClean="0"/>
              <a:t>Increased amount of semiconductors (2 diodes and four MOSFETs per bridge leg)</a:t>
            </a:r>
          </a:p>
          <a:p>
            <a:pPr marL="514350" indent="-514350">
              <a:buAutoNum type="arabicPeriod"/>
            </a:pPr>
            <a:r>
              <a:rPr lang="en-US" sz="2600" dirty="0" smtClean="0"/>
              <a:t>Increased amount of isolated gate drive voltage supplies (6 addition ones per inverter 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38" y="2685797"/>
            <a:ext cx="3903775" cy="22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941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512157" y="1434130"/>
                <a:ext cx="7177690" cy="44935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Switches having different voltage ratings. (</a:t>
                </a:r>
                <a:r>
                  <a:rPr lang="en-US" sz="2200" dirty="0" err="1" smtClean="0"/>
                  <a:t>Vdc</a:t>
                </a:r>
                <a:r>
                  <a:rPr lang="en-US" sz="2200" dirty="0" smtClean="0"/>
                  <a:t> or </a:t>
                </a:r>
                <a:r>
                  <a:rPr lang="en-US" sz="2200" dirty="0" err="1" smtClean="0"/>
                  <a:t>Vdc</a:t>
                </a:r>
                <a:r>
                  <a:rPr lang="en-US" sz="2200" dirty="0" smtClean="0"/>
                  <a:t>/2) 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Reduced conduction and switching losses.  (It is better for medium switching frequency)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Combines the positive affect of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𝐿𝐶</m:t>
                    </m:r>
                  </m:oMath>
                </a14:m>
                <a:r>
                  <a:rPr lang="en-US" sz="2200" dirty="0" smtClean="0"/>
                  <a:t> such as low conduction losses, and small part count, and a simple operation principle with advantages of the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𝐿𝑁𝑃</m:t>
                    </m:r>
                    <m:sSup>
                      <m:sSup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200" dirty="0" smtClean="0"/>
                  <a:t> such as low switching losses and superior output voltage.</a:t>
                </a:r>
                <a:endParaRPr lang="en-US" sz="2200" dirty="0"/>
              </a:p>
              <a:p>
                <a:endParaRPr lang="en-US" sz="2200" dirty="0" smtClean="0"/>
              </a:p>
              <a:p>
                <a:pPr marL="514350" indent="-514350">
                  <a:buAutoNum type="arabicPeriod"/>
                </a:pPr>
                <a:r>
                  <a:rPr lang="en-US" sz="2200" dirty="0" smtClean="0"/>
                  <a:t>Increased amount of semiconductors (4 MOSFETs per bridge leg)</a:t>
                </a:r>
              </a:p>
              <a:p>
                <a:pPr marL="514350" indent="-514350">
                  <a:buAutoNum type="arabicPeriod"/>
                </a:pPr>
                <a:r>
                  <a:rPr lang="en-US" sz="2200" dirty="0" smtClean="0"/>
                  <a:t>Increased amount of isolated gate drive voltage supplies (3 addition ones per inverter) if midpoint is configured in common collector.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2157" y="1434130"/>
                <a:ext cx="7177690" cy="4493538"/>
              </a:xfrm>
              <a:prstGeom prst="rect">
                <a:avLst/>
              </a:prstGeom>
              <a:blipFill>
                <a:blip r:embed="rId3"/>
                <a:stretch>
                  <a:fillRect l="-1104" t="-1085" r="-934" b="-19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05" y="2311976"/>
            <a:ext cx="4068252" cy="223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194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Efficiency and Power </a:t>
            </a:r>
            <a:r>
              <a:rPr lang="en-US" dirty="0">
                <a:solidFill>
                  <a:srgbClr val="C00000"/>
                </a:solidFill>
              </a:rPr>
              <a:t>D</a:t>
            </a:r>
            <a:r>
              <a:rPr lang="en-US" dirty="0" smtClean="0">
                <a:solidFill>
                  <a:srgbClr val="C00000"/>
                </a:solidFill>
              </a:rPr>
              <a:t>ensity </a:t>
            </a:r>
            <a:r>
              <a:rPr lang="en-US" dirty="0">
                <a:solidFill>
                  <a:srgbClr val="C00000"/>
                </a:solidFill>
              </a:rPr>
              <a:t>T</a:t>
            </a:r>
            <a:r>
              <a:rPr lang="en-US" dirty="0" smtClean="0">
                <a:solidFill>
                  <a:srgbClr val="C00000"/>
                </a:solidFill>
              </a:rPr>
              <a:t>argets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062049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References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[1</a:t>
            </a:r>
            <a:r>
              <a:rPr lang="en-US" dirty="0"/>
              <a:t>] A Compact 250 kW Silicon Carbide MOSFET based Three-Level Traction Inverter for Heavy Equipment </a:t>
            </a:r>
            <a:r>
              <a:rPr lang="en-US" dirty="0" smtClean="0"/>
              <a:t>Applications</a:t>
            </a:r>
          </a:p>
          <a:p>
            <a:r>
              <a:rPr lang="en-US" dirty="0"/>
              <a:t>[2] Design and Validation of A 250-kW All-Silicon Carbide High-Density Three-Level T-Type </a:t>
            </a:r>
            <a:r>
              <a:rPr lang="en-US" dirty="0" smtClean="0"/>
              <a:t>Inverter</a:t>
            </a:r>
          </a:p>
          <a:p>
            <a:r>
              <a:rPr lang="en-US" dirty="0"/>
              <a:t>[3] Comparative Study of Conducted Common-Mode EMI in WBG-Enabled DC-Fed Three-Phase Current-Source </a:t>
            </a:r>
            <a:r>
              <a:rPr lang="en-US" dirty="0" smtClean="0"/>
              <a:t>Inverter</a:t>
            </a:r>
          </a:p>
          <a:p>
            <a:r>
              <a:rPr lang="en-US" dirty="0" smtClean="0"/>
              <a:t>[4] </a:t>
            </a:r>
            <a:r>
              <a:rPr lang="en-US" dirty="0"/>
              <a:t>Design of High Power Density 100 kW Surface Permanent Magnet Machine with No Heavy Rare Earth Material Using Current Source Inverter for Traction Application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359806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13377</TotalTime>
  <Words>587</Words>
  <Application>Microsoft Office PowerPoint</Application>
  <PresentationFormat>Widescreen</PresentationFormat>
  <Paragraphs>79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Office Theme</vt:lpstr>
      <vt:lpstr>3ϕ Traction Inverter Consideration</vt:lpstr>
      <vt:lpstr>System Level Design Considerations [1]</vt:lpstr>
      <vt:lpstr>Conceptual System Level Design [2]</vt:lpstr>
      <vt:lpstr>Voltage source inverters (VSIs) or current source inverters (CSIs) [3,4]</vt:lpstr>
      <vt:lpstr>Comparisons</vt:lpstr>
      <vt:lpstr>2LC</vt:lpstr>
      <vt:lpstr>3LNPC^2 </vt:lpstr>
      <vt:lpstr>3LT^2 C</vt:lpstr>
      <vt:lpstr>Efficiency and Power Density Targets</vt:lpstr>
      <vt:lpstr>References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68</cp:revision>
  <dcterms:created xsi:type="dcterms:W3CDTF">2023-05-19T13:17:21Z</dcterms:created>
  <dcterms:modified xsi:type="dcterms:W3CDTF">2023-05-30T15:13:33Z</dcterms:modified>
</cp:coreProperties>
</file>