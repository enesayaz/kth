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2" r:id="rId3"/>
    <p:sldId id="264" r:id="rId4"/>
    <p:sldId id="263" r:id="rId5"/>
    <p:sldId id="265" r:id="rId6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5" d="100"/>
          <a:sy n="155" d="100"/>
        </p:scale>
        <p:origin x="498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E7CC8-D6E9-4E63-8E92-F07E56B0286F}" type="datetimeFigureOut">
              <a:rPr lang="sv-SE" smtClean="0"/>
              <a:t>2023-08-29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527F44-D609-4A40-AD2A-FFD44F309A1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676277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E7CC8-D6E9-4E63-8E92-F07E56B0286F}" type="datetimeFigureOut">
              <a:rPr lang="sv-SE" smtClean="0"/>
              <a:t>2023-08-29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527F44-D609-4A40-AD2A-FFD44F309A1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776260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E7CC8-D6E9-4E63-8E92-F07E56B0286F}" type="datetimeFigureOut">
              <a:rPr lang="sv-SE" smtClean="0"/>
              <a:t>2023-08-29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527F44-D609-4A40-AD2A-FFD44F309A1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4559773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E7CC8-D6E9-4E63-8E92-F07E56B0286F}" type="datetimeFigureOut">
              <a:rPr lang="sv-SE" smtClean="0"/>
              <a:t>2023-08-29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527F44-D609-4A40-AD2A-FFD44F309A1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6085883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E7CC8-D6E9-4E63-8E92-F07E56B0286F}" type="datetimeFigureOut">
              <a:rPr lang="sv-SE" smtClean="0"/>
              <a:t>2023-08-29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527F44-D609-4A40-AD2A-FFD44F309A1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457199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E7CC8-D6E9-4E63-8E92-F07E56B0286F}" type="datetimeFigureOut">
              <a:rPr lang="sv-SE" smtClean="0"/>
              <a:t>2023-08-29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527F44-D609-4A40-AD2A-FFD44F309A1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908043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E7CC8-D6E9-4E63-8E92-F07E56B0286F}" type="datetimeFigureOut">
              <a:rPr lang="sv-SE" smtClean="0"/>
              <a:t>2023-08-29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527F44-D609-4A40-AD2A-FFD44F309A1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736239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E7CC8-D6E9-4E63-8E92-F07E56B0286F}" type="datetimeFigureOut">
              <a:rPr lang="sv-SE" smtClean="0"/>
              <a:t>2023-08-29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527F44-D609-4A40-AD2A-FFD44F309A1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38373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E7CC8-D6E9-4E63-8E92-F07E56B0286F}" type="datetimeFigureOut">
              <a:rPr lang="sv-SE" smtClean="0"/>
              <a:t>2023-08-29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527F44-D609-4A40-AD2A-FFD44F309A1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851684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E7CC8-D6E9-4E63-8E92-F07E56B0286F}" type="datetimeFigureOut">
              <a:rPr lang="sv-SE" smtClean="0"/>
              <a:t>2023-08-29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527F44-D609-4A40-AD2A-FFD44F309A1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4691005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E7CC8-D6E9-4E63-8E92-F07E56B0286F}" type="datetimeFigureOut">
              <a:rPr lang="sv-SE" smtClean="0"/>
              <a:t>2023-08-29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527F44-D609-4A40-AD2A-FFD44F309A1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906599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CE7CC8-D6E9-4E63-8E92-F07E56B0286F}" type="datetimeFigureOut">
              <a:rPr lang="sv-SE" smtClean="0"/>
              <a:t>2023-08-29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527F44-D609-4A40-AD2A-FFD44F309A1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6921924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258" y="803189"/>
            <a:ext cx="4554766" cy="253712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94271" y="3340314"/>
            <a:ext cx="449735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sz="1200" dirty="0" smtClean="0">
                <a:solidFill>
                  <a:schemeClr val="accent5"/>
                </a:solidFill>
              </a:rPr>
              <a:t>[1] </a:t>
            </a:r>
            <a:r>
              <a:rPr lang="sv-SE" sz="1200" dirty="0" err="1" smtClean="0">
                <a:solidFill>
                  <a:schemeClr val="accent5"/>
                </a:solidFill>
              </a:rPr>
              <a:t>Electrothermal</a:t>
            </a:r>
            <a:r>
              <a:rPr lang="sv-SE" sz="1200" dirty="0" smtClean="0">
                <a:solidFill>
                  <a:schemeClr val="accent5"/>
                </a:solidFill>
              </a:rPr>
              <a:t>-Control Co-Design </a:t>
            </a:r>
            <a:r>
              <a:rPr lang="sv-SE" sz="1200" dirty="0" err="1" smtClean="0">
                <a:solidFill>
                  <a:schemeClr val="accent5"/>
                </a:solidFill>
              </a:rPr>
              <a:t>of</a:t>
            </a:r>
            <a:r>
              <a:rPr lang="sv-SE" sz="1200" dirty="0" smtClean="0">
                <a:solidFill>
                  <a:schemeClr val="accent5"/>
                </a:solidFill>
              </a:rPr>
              <a:t> an All Silicon Carbide 2×250 kW Dual </a:t>
            </a:r>
            <a:r>
              <a:rPr lang="sv-SE" sz="1200" dirty="0" err="1" smtClean="0">
                <a:solidFill>
                  <a:schemeClr val="accent5"/>
                </a:solidFill>
              </a:rPr>
              <a:t>Inverter</a:t>
            </a:r>
            <a:r>
              <a:rPr lang="sv-SE" sz="1200" dirty="0" smtClean="0">
                <a:solidFill>
                  <a:schemeClr val="accent5"/>
                </a:solidFill>
              </a:rPr>
              <a:t> for Heavy-</a:t>
            </a:r>
            <a:r>
              <a:rPr lang="sv-SE" sz="1200" dirty="0" err="1" smtClean="0">
                <a:solidFill>
                  <a:schemeClr val="accent5"/>
                </a:solidFill>
              </a:rPr>
              <a:t>Duty</a:t>
            </a:r>
            <a:r>
              <a:rPr lang="sv-SE" sz="1200" dirty="0" smtClean="0">
                <a:solidFill>
                  <a:schemeClr val="accent5"/>
                </a:solidFill>
              </a:rPr>
              <a:t> </a:t>
            </a:r>
            <a:r>
              <a:rPr lang="sv-SE" sz="1200" dirty="0" err="1" smtClean="0">
                <a:solidFill>
                  <a:schemeClr val="accent5"/>
                </a:solidFill>
              </a:rPr>
              <a:t>Traction</a:t>
            </a:r>
            <a:r>
              <a:rPr lang="sv-SE" sz="1200" dirty="0" smtClean="0">
                <a:solidFill>
                  <a:schemeClr val="accent5"/>
                </a:solidFill>
              </a:rPr>
              <a:t> </a:t>
            </a:r>
            <a:r>
              <a:rPr lang="sv-SE" sz="1200" dirty="0" err="1" smtClean="0">
                <a:solidFill>
                  <a:schemeClr val="accent5"/>
                </a:solidFill>
              </a:rPr>
              <a:t>Applications</a:t>
            </a:r>
            <a:endParaRPr lang="sv-SE" sz="1200" dirty="0">
              <a:solidFill>
                <a:schemeClr val="accent5"/>
              </a:solidFill>
            </a:endParaRP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2658641" y="3898557"/>
            <a:ext cx="6178" cy="35964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1258" y="4300476"/>
            <a:ext cx="48950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The thermal model, including just thermal resistance, is enough to calculate steady-state junction temperature and losses for </a:t>
            </a:r>
            <a:r>
              <a:rPr lang="en-US" b="1" dirty="0" smtClean="0"/>
              <a:t>continuous power </a:t>
            </a:r>
            <a:r>
              <a:rPr lang="en-US" dirty="0" smtClean="0"/>
              <a:t>operation.   </a:t>
            </a:r>
            <a:endParaRPr lang="sv-SE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4901" y="1164626"/>
            <a:ext cx="3884398" cy="217568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06514" y="3315591"/>
            <a:ext cx="449735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sz="1200" dirty="0" smtClean="0">
                <a:solidFill>
                  <a:schemeClr val="accent5"/>
                </a:solidFill>
              </a:rPr>
              <a:t>[2] </a:t>
            </a:r>
            <a:r>
              <a:rPr lang="en-US" sz="1200" dirty="0" smtClean="0">
                <a:solidFill>
                  <a:schemeClr val="accent5"/>
                </a:solidFill>
              </a:rPr>
              <a:t>ANALYSIS AND MODELING OF A LIQUID COOLED HEAT SINK FOR EV TRACTION INVERTER SYSTEMS</a:t>
            </a:r>
            <a:endParaRPr lang="sv-SE" sz="1200" dirty="0">
              <a:solidFill>
                <a:schemeClr val="accent5"/>
              </a:solidFill>
            </a:endParaRPr>
          </a:p>
        </p:txBody>
      </p:sp>
      <p:cxnSp>
        <p:nvCxnSpPr>
          <p:cNvPr id="14" name="Straight Arrow Connector 13"/>
          <p:cNvCxnSpPr/>
          <p:nvPr/>
        </p:nvCxnSpPr>
        <p:spPr>
          <a:xfrm>
            <a:off x="8964706" y="3898557"/>
            <a:ext cx="6178" cy="35964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87323" y="4300476"/>
            <a:ext cx="48950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A Foster network is required to consider </a:t>
            </a:r>
            <a:r>
              <a:rPr lang="en-US" b="1" dirty="0" smtClean="0"/>
              <a:t>peak power operation</a:t>
            </a:r>
            <a:r>
              <a:rPr lang="en-US" dirty="0" smtClean="0"/>
              <a:t> for a finite time.   </a:t>
            </a:r>
            <a:endParaRPr lang="sv-SE" dirty="0"/>
          </a:p>
        </p:txBody>
      </p:sp>
      <p:sp>
        <p:nvSpPr>
          <p:cNvPr id="16" name="Rectangle 15"/>
          <p:cNvSpPr/>
          <p:nvPr/>
        </p:nvSpPr>
        <p:spPr>
          <a:xfrm>
            <a:off x="251011" y="6233085"/>
            <a:ext cx="58038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sz="1400" dirty="0" smtClean="0">
                <a:solidFill>
                  <a:schemeClr val="accent5"/>
                </a:solidFill>
              </a:rPr>
              <a:t>[3] A </a:t>
            </a:r>
            <a:r>
              <a:rPr lang="sv-SE" sz="1400" dirty="0" err="1" smtClean="0">
                <a:solidFill>
                  <a:schemeClr val="accent5"/>
                </a:solidFill>
              </a:rPr>
              <a:t>SiC-Based</a:t>
            </a:r>
            <a:r>
              <a:rPr lang="sv-SE" sz="1400" dirty="0" smtClean="0">
                <a:solidFill>
                  <a:schemeClr val="accent5"/>
                </a:solidFill>
              </a:rPr>
              <a:t> </a:t>
            </a:r>
            <a:r>
              <a:rPr lang="sv-SE" sz="1200" dirty="0" err="1" smtClean="0">
                <a:solidFill>
                  <a:schemeClr val="accent5"/>
                </a:solidFill>
              </a:rPr>
              <a:t>Liquid-Cooled</a:t>
            </a:r>
            <a:r>
              <a:rPr lang="sv-SE" sz="1400" dirty="0" smtClean="0">
                <a:solidFill>
                  <a:schemeClr val="accent5"/>
                </a:solidFill>
              </a:rPr>
              <a:t> Electric </a:t>
            </a:r>
            <a:r>
              <a:rPr lang="sv-SE" sz="1400" dirty="0" err="1" smtClean="0">
                <a:solidFill>
                  <a:schemeClr val="accent5"/>
                </a:solidFill>
              </a:rPr>
              <a:t>Vehicle</a:t>
            </a:r>
            <a:r>
              <a:rPr lang="sv-SE" sz="1400" dirty="0" smtClean="0">
                <a:solidFill>
                  <a:schemeClr val="accent5"/>
                </a:solidFill>
              </a:rPr>
              <a:t> </a:t>
            </a:r>
            <a:r>
              <a:rPr lang="sv-SE" sz="1400" dirty="0" err="1" smtClean="0">
                <a:solidFill>
                  <a:schemeClr val="accent5"/>
                </a:solidFill>
              </a:rPr>
              <a:t>Traction</a:t>
            </a:r>
            <a:r>
              <a:rPr lang="sv-SE" sz="1400" dirty="0" smtClean="0">
                <a:solidFill>
                  <a:schemeClr val="accent5"/>
                </a:solidFill>
              </a:rPr>
              <a:t> </a:t>
            </a:r>
            <a:r>
              <a:rPr lang="sv-SE" sz="1400" dirty="0" err="1" smtClean="0">
                <a:solidFill>
                  <a:schemeClr val="accent5"/>
                </a:solidFill>
              </a:rPr>
              <a:t>Inverter</a:t>
            </a:r>
            <a:r>
              <a:rPr lang="sv-SE" sz="1400" dirty="0" smtClean="0">
                <a:solidFill>
                  <a:schemeClr val="accent5"/>
                </a:solidFill>
              </a:rPr>
              <a:t> Operating at </a:t>
            </a:r>
            <a:r>
              <a:rPr lang="sv-SE" sz="1400" dirty="0" err="1" smtClean="0">
                <a:solidFill>
                  <a:schemeClr val="accent5"/>
                </a:solidFill>
              </a:rPr>
              <a:t>High</a:t>
            </a:r>
            <a:r>
              <a:rPr lang="sv-SE" sz="1400" dirty="0" smtClean="0">
                <a:solidFill>
                  <a:schemeClr val="accent5"/>
                </a:solidFill>
              </a:rPr>
              <a:t> Ambient </a:t>
            </a:r>
            <a:r>
              <a:rPr lang="sv-SE" sz="1400" dirty="0" err="1" smtClean="0">
                <a:solidFill>
                  <a:schemeClr val="accent5"/>
                </a:solidFill>
              </a:rPr>
              <a:t>Temperature</a:t>
            </a:r>
            <a:endParaRPr lang="sv-SE" sz="1400" dirty="0">
              <a:solidFill>
                <a:schemeClr val="accent5"/>
              </a:solidFill>
            </a:endParaRP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264" y="5758195"/>
            <a:ext cx="4441354" cy="507583"/>
          </a:xfrm>
          <a:prstGeom prst="rect">
            <a:avLst/>
          </a:prstGeom>
        </p:spPr>
      </p:pic>
      <p:sp>
        <p:nvSpPr>
          <p:cNvPr id="20" name="Title 1"/>
          <p:cNvSpPr>
            <a:spLocks noGrp="1"/>
          </p:cNvSpPr>
          <p:nvPr>
            <p:ph type="title"/>
          </p:nvPr>
        </p:nvSpPr>
        <p:spPr>
          <a:xfrm>
            <a:off x="797663" y="242840"/>
            <a:ext cx="10261636" cy="641645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Thermal Modelling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072987" y="5263589"/>
            <a:ext cx="4280313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sv-SE" sz="1600" b="1" i="0" u="none" strike="noStrike" dirty="0" err="1" smtClean="0">
                <a:effectLst/>
                <a:latin typeface="Scania Office"/>
              </a:rPr>
              <a:t>Continuous</a:t>
            </a:r>
            <a:r>
              <a:rPr lang="sv-SE" sz="1600" b="1" i="0" u="none" strike="noStrike" dirty="0" smtClean="0">
                <a:effectLst/>
                <a:latin typeface="Scania Office"/>
              </a:rPr>
              <a:t> rating</a:t>
            </a:r>
            <a:r>
              <a:rPr lang="en-US" sz="1600" b="1" i="0" dirty="0" smtClean="0">
                <a:effectLst/>
                <a:latin typeface="Scania Office"/>
              </a:rPr>
              <a:t>​</a:t>
            </a:r>
            <a:endParaRPr lang="en-US" sz="1400" b="1" i="0" dirty="0" smtClean="0">
              <a:effectLst/>
              <a:latin typeface="Arial" panose="020B0604020202020204" pitchFamily="34" charset="0"/>
            </a:endParaRPr>
          </a:p>
          <a:p>
            <a:pPr fontAlgn="base"/>
            <a:r>
              <a:rPr lang="sv-SE" sz="1400" dirty="0" smtClean="0">
                <a:latin typeface="Scania Office"/>
              </a:rPr>
              <a:t>	600 </a:t>
            </a:r>
            <a:r>
              <a:rPr lang="sv-SE" sz="1400" dirty="0">
                <a:latin typeface="Scania Office"/>
              </a:rPr>
              <a:t>kW </a:t>
            </a:r>
            <a:r>
              <a:rPr lang="en-US" sz="1400" dirty="0">
                <a:latin typeface="Scania Office"/>
              </a:rPr>
              <a:t>​</a:t>
            </a:r>
            <a:endParaRPr lang="en-US" sz="1400" b="0" i="0" dirty="0" smtClean="0">
              <a:effectLst/>
              <a:latin typeface="Arial" panose="020B0604020202020204" pitchFamily="34" charset="0"/>
            </a:endParaRPr>
          </a:p>
          <a:p>
            <a:pPr fontAlgn="base"/>
            <a:r>
              <a:rPr lang="sv-SE" sz="1600" b="1" i="0" u="none" strike="noStrike" dirty="0" smtClean="0">
                <a:effectLst/>
                <a:latin typeface="Scania Office"/>
              </a:rPr>
              <a:t>Short term rating</a:t>
            </a:r>
            <a:r>
              <a:rPr lang="en-US" sz="1600" b="0" i="0" dirty="0" smtClean="0">
                <a:effectLst/>
                <a:latin typeface="Scania Office"/>
              </a:rPr>
              <a:t>​</a:t>
            </a:r>
            <a:endParaRPr lang="en-US" sz="1400" b="0" i="0" dirty="0" smtClean="0">
              <a:effectLst/>
              <a:latin typeface="Arial" panose="020B0604020202020204" pitchFamily="34" charset="0"/>
            </a:endParaRPr>
          </a:p>
          <a:p>
            <a:pPr fontAlgn="base"/>
            <a:r>
              <a:rPr lang="sv-SE" sz="1400" dirty="0" smtClean="0">
                <a:latin typeface="Scania Office"/>
              </a:rPr>
              <a:t>	20</a:t>
            </a:r>
            <a:r>
              <a:rPr lang="sv-SE" sz="1400" dirty="0">
                <a:latin typeface="Scania Office"/>
              </a:rPr>
              <a:t>% </a:t>
            </a:r>
            <a:r>
              <a:rPr lang="sv-SE" sz="1400" dirty="0" err="1">
                <a:latin typeface="Scania Office"/>
              </a:rPr>
              <a:t>above</a:t>
            </a:r>
            <a:r>
              <a:rPr lang="sv-SE" sz="1400" dirty="0">
                <a:latin typeface="Scania Office"/>
              </a:rPr>
              <a:t> the </a:t>
            </a:r>
            <a:r>
              <a:rPr lang="sv-SE" sz="1400" dirty="0" err="1">
                <a:latin typeface="Scania Office"/>
              </a:rPr>
              <a:t>continous</a:t>
            </a:r>
            <a:r>
              <a:rPr lang="sv-SE" sz="1400" dirty="0">
                <a:latin typeface="Scania Office"/>
              </a:rPr>
              <a:t> rating</a:t>
            </a:r>
            <a:r>
              <a:rPr lang="en-US" sz="1400" dirty="0">
                <a:latin typeface="Scania Office"/>
              </a:rPr>
              <a:t>​</a:t>
            </a:r>
            <a:endParaRPr lang="en-US" sz="1400" b="0" i="0" dirty="0" smtClean="0">
              <a:effectLst/>
              <a:latin typeface="Arial" panose="020B0604020202020204" pitchFamily="34" charset="0"/>
            </a:endParaRPr>
          </a:p>
          <a:p>
            <a:pPr fontAlgn="base"/>
            <a:r>
              <a:rPr lang="sv-SE" sz="1400" dirty="0" smtClean="0">
                <a:latin typeface="Scania Office"/>
              </a:rPr>
              <a:t>	10 </a:t>
            </a:r>
            <a:r>
              <a:rPr lang="sv-SE" sz="1400" dirty="0">
                <a:latin typeface="Scania Office"/>
              </a:rPr>
              <a:t>s</a:t>
            </a:r>
            <a:endParaRPr lang="en-US" sz="1400" b="0" i="0" dirty="0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67847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/>
          <p:cNvSpPr>
            <a:spLocks noGrp="1"/>
          </p:cNvSpPr>
          <p:nvPr>
            <p:ph type="title"/>
          </p:nvPr>
        </p:nvSpPr>
        <p:spPr>
          <a:xfrm>
            <a:off x="797663" y="242840"/>
            <a:ext cx="10261636" cy="641645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Thermal Modelling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64" y="955475"/>
            <a:ext cx="7591040" cy="303641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044211" y="3970987"/>
            <a:ext cx="645434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 smtClean="0">
                <a:solidFill>
                  <a:schemeClr val="accent5"/>
                </a:solidFill>
              </a:rPr>
              <a:t>[4] MSCSM70AM10CT3AG Datasheet Phase Leg </a:t>
            </a:r>
            <a:r>
              <a:rPr lang="en-US" sz="1200" dirty="0" err="1" smtClean="0">
                <a:solidFill>
                  <a:schemeClr val="accent5"/>
                </a:solidFill>
              </a:rPr>
              <a:t>SiC</a:t>
            </a:r>
            <a:r>
              <a:rPr lang="en-US" sz="1200" dirty="0" smtClean="0">
                <a:solidFill>
                  <a:schemeClr val="accent5"/>
                </a:solidFill>
              </a:rPr>
              <a:t> MOSFET Power Module https://www.microchip.com/content/dam/mchp/documents/PPM/ProductDocuments/DataSheets/Microsemi_MSCSM70AM10CT3AG_Phase_Leg_SiC_MOSFET_Power_Module_Datasheet_1.0.pdf</a:t>
            </a:r>
            <a:endParaRPr lang="sv-SE" sz="1200" dirty="0">
              <a:solidFill>
                <a:schemeClr val="accent5"/>
              </a:solidFill>
            </a:endParaRPr>
          </a:p>
        </p:txBody>
      </p:sp>
      <p:cxnSp>
        <p:nvCxnSpPr>
          <p:cNvPr id="6" name="Straight Arrow Connector 5"/>
          <p:cNvCxnSpPr/>
          <p:nvPr/>
        </p:nvCxnSpPr>
        <p:spPr>
          <a:xfrm flipH="1" flipV="1">
            <a:off x="4627606" y="1090493"/>
            <a:ext cx="6178" cy="5066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139840" y="884485"/>
            <a:ext cx="15384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Time constant</a:t>
            </a:r>
            <a:endParaRPr lang="sv-SE" sz="1200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6903" y="1260568"/>
            <a:ext cx="3933053" cy="271041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110669" y="4042415"/>
            <a:ext cx="384552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sz="1200" dirty="0">
                <a:solidFill>
                  <a:schemeClr val="accent5"/>
                </a:solidFill>
              </a:rPr>
              <a:t>[2] </a:t>
            </a:r>
            <a:r>
              <a:rPr lang="en-US" sz="1200" dirty="0">
                <a:solidFill>
                  <a:schemeClr val="accent5"/>
                </a:solidFill>
              </a:rPr>
              <a:t>ANALYSIS AND MODELING OF A LIQUID </a:t>
            </a:r>
            <a:endParaRPr lang="en-US" sz="1200" dirty="0" smtClean="0">
              <a:solidFill>
                <a:schemeClr val="accent5"/>
              </a:solidFill>
            </a:endParaRPr>
          </a:p>
          <a:p>
            <a:r>
              <a:rPr lang="en-US" sz="1200" dirty="0" smtClean="0">
                <a:solidFill>
                  <a:schemeClr val="accent5"/>
                </a:solidFill>
              </a:rPr>
              <a:t>COOLED </a:t>
            </a:r>
            <a:r>
              <a:rPr lang="en-US" sz="1200" dirty="0">
                <a:solidFill>
                  <a:schemeClr val="accent5"/>
                </a:solidFill>
              </a:rPr>
              <a:t>HEAT SINK FOR EV TRACTION INVERTER SYSTEMS</a:t>
            </a:r>
            <a:endParaRPr lang="sv-SE" sz="1200" dirty="0">
              <a:solidFill>
                <a:schemeClr val="accent5"/>
              </a:solidFill>
            </a:endParaRPr>
          </a:p>
        </p:txBody>
      </p:sp>
      <p:cxnSp>
        <p:nvCxnSpPr>
          <p:cNvPr id="11" name="Straight Arrow Connector 10"/>
          <p:cNvCxnSpPr/>
          <p:nvPr/>
        </p:nvCxnSpPr>
        <p:spPr>
          <a:xfrm flipV="1">
            <a:off x="10687053" y="1140580"/>
            <a:ext cx="14416" cy="9422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28074" y="863581"/>
            <a:ext cx="11732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Time constant</a:t>
            </a:r>
            <a:endParaRPr lang="sv-SE" sz="1200" dirty="0"/>
          </a:p>
        </p:txBody>
      </p:sp>
    </p:spTree>
    <p:extLst>
      <p:ext uri="{BB962C8B-B14F-4D97-AF65-F5344CB8AC3E}">
        <p14:creationId xmlns:p14="http://schemas.microsoft.com/office/powerpoint/2010/main" val="15289732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/>
          <p:cNvSpPr>
            <a:spLocks noGrp="1"/>
          </p:cNvSpPr>
          <p:nvPr>
            <p:ph type="title"/>
          </p:nvPr>
        </p:nvSpPr>
        <p:spPr>
          <a:xfrm>
            <a:off x="797663" y="242840"/>
            <a:ext cx="10261636" cy="641645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Thermal Modelling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69" y="1063659"/>
            <a:ext cx="4831482" cy="2754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8592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/>
          <p:cNvSpPr>
            <a:spLocks noGrp="1"/>
          </p:cNvSpPr>
          <p:nvPr>
            <p:ph type="title"/>
          </p:nvPr>
        </p:nvSpPr>
        <p:spPr>
          <a:xfrm>
            <a:off x="797663" y="242840"/>
            <a:ext cx="10261636" cy="641645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Overall Modelling</a:t>
            </a:r>
            <a:endParaRPr lang="sv-SE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6907426" y="1112109"/>
                <a:ext cx="4386648" cy="5344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u="sng" dirty="0" smtClean="0">
                    <a:solidFill>
                      <a:srgbClr val="FF0000"/>
                    </a:solidFill>
                  </a:rPr>
                  <a:t>Rating calculations (</a:t>
                </a:r>
                <a:r>
                  <a:rPr lang="en-US" u="sng" dirty="0" err="1" smtClean="0">
                    <a:solidFill>
                      <a:srgbClr val="FF0000"/>
                    </a:solidFill>
                  </a:rPr>
                  <a:t>Continous</a:t>
                </a:r>
                <a:r>
                  <a:rPr lang="en-US" u="sng" dirty="0" smtClean="0">
                    <a:solidFill>
                      <a:srgbClr val="FF0000"/>
                    </a:solidFill>
                  </a:rPr>
                  <a:t>)</a:t>
                </a:r>
              </a:p>
              <a:p>
                <a:endParaRPr lang="en-US" u="sng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𝑜𝑢𝑡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𝑝h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𝑟𝑚𝑠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.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𝑝h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𝑟𝑚𝑠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.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b="0" dirty="0" smtClean="0"/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𝑝h</m:t>
                          </m:r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𝑟𝑚𝑠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 .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𝑑𝑐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b="0" dirty="0" smtClean="0"/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𝑆𝑉𝑀</m:t>
                      </m:r>
                    </m:oMath>
                  </m:oMathPara>
                </a14:m>
                <a:endParaRPr lang="en-US" b="0" dirty="0" smtClean="0"/>
              </a:p>
              <a:p>
                <a:endParaRPr lang="en-US" b="0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𝑆𝑃𝑊𝑀</m:t>
                      </m:r>
                    </m:oMath>
                  </m:oMathPara>
                </a14:m>
                <a:endParaRPr lang="en-US" b="0" dirty="0" smtClean="0"/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=1.1547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𝑇𝐻𝐼𝑃𝑊𝑀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𝑤𝑖𝑡h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3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𝑟𝑑</m:t>
                          </m:r>
                        </m:sup>
                      </m:sSup>
                    </m:oMath>
                  </m:oMathPara>
                </a14:m>
                <a:endParaRPr lang="en-US" b="0" dirty="0" smtClean="0"/>
              </a:p>
              <a:p>
                <a:endParaRPr lang="en-US" b="0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=1.15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𝑇𝐻𝐼𝑃𝑊𝑀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𝑤𝑖𝑡h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3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𝑟𝑑</m:t>
                          </m:r>
                        </m:sup>
                      </m:sSup>
                    </m:oMath>
                  </m:oMathPara>
                </a14:m>
                <a:endParaRPr lang="en-US" b="0" dirty="0" smtClean="0"/>
              </a:p>
              <a:p>
                <a:endParaRPr lang="en-US" dirty="0" smtClean="0"/>
              </a:p>
              <a:p>
                <a:endParaRPr lang="sv-SE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7426" y="1112109"/>
                <a:ext cx="4386648" cy="5344220"/>
              </a:xfrm>
              <a:prstGeom prst="rect">
                <a:avLst/>
              </a:prstGeom>
              <a:blipFill>
                <a:blip r:embed="rId2"/>
                <a:stretch>
                  <a:fillRect l="-1111" t="-57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797663" y="1266567"/>
                <a:ext cx="4386648" cy="4247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u="sng" dirty="0" smtClean="0">
                    <a:solidFill>
                      <a:srgbClr val="FF0000"/>
                    </a:solidFill>
                  </a:rPr>
                  <a:t>Modulations</a:t>
                </a:r>
              </a:p>
              <a:p>
                <a:endParaRPr lang="en-US" u="sng" dirty="0" smtClean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u="sng" dirty="0" smtClean="0"/>
                  <a:t>SPWM</a:t>
                </a:r>
                <a:endParaRPr lang="en-US" u="sng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b="0" dirty="0" smtClean="0"/>
                  <a:t>THIPWM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 smtClean="0"/>
                  <a:t>1/6 THIPWM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b="0" dirty="0" smtClean="0"/>
                  <a:t>¼ THIPWM 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b="0" dirty="0" smtClean="0"/>
                  <a:t>SVM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dirty="0" smtClean="0"/>
                  <a:t>DPWM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120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𝐷𝑃𝑊𝑀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0" dirty="0" smtClean="0"/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𝐷𝑃𝑊𝑀</m:t>
                    </m:r>
                  </m:oMath>
                </a14:m>
                <a:endParaRPr lang="en-US" b="0" dirty="0" smtClean="0"/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𝐷𝑃𝑊𝑀</m:t>
                    </m:r>
                  </m:oMath>
                </a14:m>
                <a:endParaRPr lang="en-US" b="0" dirty="0" smtClean="0"/>
              </a:p>
              <a:p>
                <a:pPr marL="800100" lvl="1" indent="-342900">
                  <a:buFont typeface="+mj-lt"/>
                  <a:buAutoNum type="arabicPeriod"/>
                </a:pPr>
                <a:endParaRPr lang="en-US" b="0" dirty="0" smtClean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b="0" dirty="0" smtClean="0"/>
              </a:p>
              <a:p>
                <a:endParaRPr lang="en-US" dirty="0" smtClean="0"/>
              </a:p>
              <a:p>
                <a:endParaRPr lang="sv-SE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663" y="1266567"/>
                <a:ext cx="4386648" cy="4247317"/>
              </a:xfrm>
              <a:prstGeom prst="rect">
                <a:avLst/>
              </a:prstGeom>
              <a:blipFill>
                <a:blip r:embed="rId3"/>
                <a:stretch>
                  <a:fillRect l="-1252" t="-86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122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/>
          <p:cNvSpPr>
            <a:spLocks noGrp="1"/>
          </p:cNvSpPr>
          <p:nvPr>
            <p:ph type="title"/>
          </p:nvPr>
        </p:nvSpPr>
        <p:spPr>
          <a:xfrm>
            <a:off x="797663" y="242840"/>
            <a:ext cx="10261636" cy="641645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Temperature Estimation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94" y="884485"/>
            <a:ext cx="4831482" cy="2754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9999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331</Words>
  <Application>Microsoft Office PowerPoint</Application>
  <PresentationFormat>Widescreen</PresentationFormat>
  <Paragraphs>46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Cambria Math</vt:lpstr>
      <vt:lpstr>Scania Office</vt:lpstr>
      <vt:lpstr>Office Theme</vt:lpstr>
      <vt:lpstr>Thermal Modelling</vt:lpstr>
      <vt:lpstr>Thermal Modelling</vt:lpstr>
      <vt:lpstr>Thermal Modelling</vt:lpstr>
      <vt:lpstr>Overall Modelling</vt:lpstr>
      <vt:lpstr>Temperature Estimation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13</cp:revision>
  <dcterms:created xsi:type="dcterms:W3CDTF">2023-08-29T09:32:26Z</dcterms:created>
  <dcterms:modified xsi:type="dcterms:W3CDTF">2023-08-29T12:59:48Z</dcterms:modified>
</cp:coreProperties>
</file>