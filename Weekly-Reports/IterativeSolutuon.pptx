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6" r:id="rId5"/>
    <p:sldId id="267" r:id="rId6"/>
    <p:sldId id="269" r:id="rId7"/>
    <p:sldId id="268" r:id="rId8"/>
    <p:sldId id="265" r:id="rId9"/>
    <p:sldId id="271" r:id="rId10"/>
    <p:sldId id="270" r:id="rId11"/>
    <p:sldId id="273" r:id="rId12"/>
    <p:sldId id="274" r:id="rId13"/>
    <p:sldId id="272" r:id="rId14"/>
    <p:sldId id="264" r:id="rId1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762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762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597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858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4571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80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362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837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516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910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065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E7CC8-D6E9-4E63-8E92-F07E56B0286F}" type="datetimeFigureOut">
              <a:rPr lang="sv-SE" smtClean="0"/>
              <a:t>2023-09-01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27F44-D609-4A40-AD2A-FFD44F309A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219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58" y="803189"/>
            <a:ext cx="4554766" cy="2537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4271" y="3340314"/>
            <a:ext cx="44973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solidFill>
                  <a:schemeClr val="accent5"/>
                </a:solidFill>
              </a:rPr>
              <a:t>[1] </a:t>
            </a:r>
            <a:r>
              <a:rPr lang="sv-SE" sz="1200" dirty="0" err="1" smtClean="0">
                <a:solidFill>
                  <a:schemeClr val="accent5"/>
                </a:solidFill>
              </a:rPr>
              <a:t>Electrothermal</a:t>
            </a:r>
            <a:r>
              <a:rPr lang="sv-SE" sz="1200" dirty="0" smtClean="0">
                <a:solidFill>
                  <a:schemeClr val="accent5"/>
                </a:solidFill>
              </a:rPr>
              <a:t>-Control Co-Design </a:t>
            </a:r>
            <a:r>
              <a:rPr lang="sv-SE" sz="1200" dirty="0" err="1" smtClean="0">
                <a:solidFill>
                  <a:schemeClr val="accent5"/>
                </a:solidFill>
              </a:rPr>
              <a:t>of</a:t>
            </a:r>
            <a:r>
              <a:rPr lang="sv-SE" sz="1200" dirty="0" smtClean="0">
                <a:solidFill>
                  <a:schemeClr val="accent5"/>
                </a:solidFill>
              </a:rPr>
              <a:t> an All Silicon Carbide 2×250 kW Dual </a:t>
            </a:r>
            <a:r>
              <a:rPr lang="sv-SE" sz="1200" dirty="0" err="1" smtClean="0">
                <a:solidFill>
                  <a:schemeClr val="accent5"/>
                </a:solidFill>
              </a:rPr>
              <a:t>Inverter</a:t>
            </a:r>
            <a:r>
              <a:rPr lang="sv-SE" sz="1200" dirty="0" smtClean="0">
                <a:solidFill>
                  <a:schemeClr val="accent5"/>
                </a:solidFill>
              </a:rPr>
              <a:t> for Heavy-</a:t>
            </a:r>
            <a:r>
              <a:rPr lang="sv-SE" sz="1200" dirty="0" err="1" smtClean="0">
                <a:solidFill>
                  <a:schemeClr val="accent5"/>
                </a:solidFill>
              </a:rPr>
              <a:t>Duty</a:t>
            </a:r>
            <a:r>
              <a:rPr lang="sv-SE" sz="1200" dirty="0" smtClean="0">
                <a:solidFill>
                  <a:schemeClr val="accent5"/>
                </a:solidFill>
              </a:rPr>
              <a:t> </a:t>
            </a:r>
            <a:r>
              <a:rPr lang="sv-SE" sz="1200" dirty="0" err="1" smtClean="0">
                <a:solidFill>
                  <a:schemeClr val="accent5"/>
                </a:solidFill>
              </a:rPr>
              <a:t>Traction</a:t>
            </a:r>
            <a:r>
              <a:rPr lang="sv-SE" sz="1200" dirty="0" smtClean="0">
                <a:solidFill>
                  <a:schemeClr val="accent5"/>
                </a:solidFill>
              </a:rPr>
              <a:t> </a:t>
            </a:r>
            <a:r>
              <a:rPr lang="sv-SE" sz="1200" dirty="0" err="1" smtClean="0">
                <a:solidFill>
                  <a:schemeClr val="accent5"/>
                </a:solidFill>
              </a:rPr>
              <a:t>Applications</a:t>
            </a:r>
            <a:endParaRPr lang="sv-SE" sz="1200" dirty="0">
              <a:solidFill>
                <a:schemeClr val="accent5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658641" y="3898557"/>
            <a:ext cx="6178" cy="359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258" y="4300476"/>
            <a:ext cx="4895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thermal model, including just thermal resistance, is enough to calculate steady-state junction temperature and losses for </a:t>
            </a:r>
            <a:r>
              <a:rPr lang="en-US" b="1" dirty="0" smtClean="0"/>
              <a:t>continuous power </a:t>
            </a:r>
            <a:r>
              <a:rPr lang="en-US" dirty="0" smtClean="0"/>
              <a:t>operation.   </a:t>
            </a:r>
            <a:endParaRPr lang="sv-SE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901" y="1164626"/>
            <a:ext cx="3884398" cy="21756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06514" y="3315591"/>
            <a:ext cx="44973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solidFill>
                  <a:schemeClr val="accent5"/>
                </a:solidFill>
              </a:rPr>
              <a:t>[2] </a:t>
            </a:r>
            <a:r>
              <a:rPr lang="en-US" sz="1200" dirty="0" smtClean="0">
                <a:solidFill>
                  <a:schemeClr val="accent5"/>
                </a:solidFill>
              </a:rPr>
              <a:t>ANALYSIS AND MODELING OF A LIQUID COOLED HEAT SINK FOR EV TRACTION INVERTER SYSTEMS</a:t>
            </a:r>
            <a:endParaRPr lang="sv-SE" sz="1200" dirty="0">
              <a:solidFill>
                <a:schemeClr val="accent5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964706" y="3898557"/>
            <a:ext cx="6178" cy="359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87323" y="4300476"/>
            <a:ext cx="4895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Foster network is required to consider </a:t>
            </a:r>
            <a:r>
              <a:rPr lang="en-US" b="1" dirty="0" smtClean="0"/>
              <a:t>peak power operation</a:t>
            </a:r>
            <a:r>
              <a:rPr lang="en-US" dirty="0" smtClean="0"/>
              <a:t> for a finite time.   </a:t>
            </a:r>
            <a:endParaRPr lang="sv-SE" dirty="0"/>
          </a:p>
        </p:txBody>
      </p:sp>
      <p:sp>
        <p:nvSpPr>
          <p:cNvPr id="16" name="Rectangle 15"/>
          <p:cNvSpPr/>
          <p:nvPr/>
        </p:nvSpPr>
        <p:spPr>
          <a:xfrm>
            <a:off x="251011" y="6233085"/>
            <a:ext cx="580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 smtClean="0">
                <a:solidFill>
                  <a:schemeClr val="accent5"/>
                </a:solidFill>
              </a:rPr>
              <a:t>[3] A </a:t>
            </a:r>
            <a:r>
              <a:rPr lang="sv-SE" sz="1400" dirty="0" err="1" smtClean="0">
                <a:solidFill>
                  <a:schemeClr val="accent5"/>
                </a:solidFill>
              </a:rPr>
              <a:t>SiC-Based</a:t>
            </a:r>
            <a:r>
              <a:rPr lang="sv-SE" sz="1400" dirty="0" smtClean="0">
                <a:solidFill>
                  <a:schemeClr val="accent5"/>
                </a:solidFill>
              </a:rPr>
              <a:t> </a:t>
            </a:r>
            <a:r>
              <a:rPr lang="sv-SE" sz="1200" dirty="0" err="1" smtClean="0">
                <a:solidFill>
                  <a:schemeClr val="accent5"/>
                </a:solidFill>
              </a:rPr>
              <a:t>Liquid-Cooled</a:t>
            </a:r>
            <a:r>
              <a:rPr lang="sv-SE" sz="1400" dirty="0" smtClean="0">
                <a:solidFill>
                  <a:schemeClr val="accent5"/>
                </a:solidFill>
              </a:rPr>
              <a:t> Electric </a:t>
            </a:r>
            <a:r>
              <a:rPr lang="sv-SE" sz="1400" dirty="0" err="1" smtClean="0">
                <a:solidFill>
                  <a:schemeClr val="accent5"/>
                </a:solidFill>
              </a:rPr>
              <a:t>Vehicle</a:t>
            </a:r>
            <a:r>
              <a:rPr lang="sv-SE" sz="1400" dirty="0" smtClean="0">
                <a:solidFill>
                  <a:schemeClr val="accent5"/>
                </a:solidFill>
              </a:rPr>
              <a:t> </a:t>
            </a:r>
            <a:r>
              <a:rPr lang="sv-SE" sz="1400" dirty="0" err="1" smtClean="0">
                <a:solidFill>
                  <a:schemeClr val="accent5"/>
                </a:solidFill>
              </a:rPr>
              <a:t>Traction</a:t>
            </a:r>
            <a:r>
              <a:rPr lang="sv-SE" sz="1400" dirty="0" smtClean="0">
                <a:solidFill>
                  <a:schemeClr val="accent5"/>
                </a:solidFill>
              </a:rPr>
              <a:t> </a:t>
            </a:r>
            <a:r>
              <a:rPr lang="sv-SE" sz="1400" dirty="0" err="1" smtClean="0">
                <a:solidFill>
                  <a:schemeClr val="accent5"/>
                </a:solidFill>
              </a:rPr>
              <a:t>Inverter</a:t>
            </a:r>
            <a:r>
              <a:rPr lang="sv-SE" sz="1400" dirty="0" smtClean="0">
                <a:solidFill>
                  <a:schemeClr val="accent5"/>
                </a:solidFill>
              </a:rPr>
              <a:t> Operating at </a:t>
            </a:r>
            <a:r>
              <a:rPr lang="sv-SE" sz="1400" dirty="0" err="1" smtClean="0">
                <a:solidFill>
                  <a:schemeClr val="accent5"/>
                </a:solidFill>
              </a:rPr>
              <a:t>High</a:t>
            </a:r>
            <a:r>
              <a:rPr lang="sv-SE" sz="1400" dirty="0" smtClean="0">
                <a:solidFill>
                  <a:schemeClr val="accent5"/>
                </a:solidFill>
              </a:rPr>
              <a:t> Ambient </a:t>
            </a:r>
            <a:r>
              <a:rPr lang="sv-SE" sz="1400" dirty="0" err="1" smtClean="0">
                <a:solidFill>
                  <a:schemeClr val="accent5"/>
                </a:solidFill>
              </a:rPr>
              <a:t>Temperature</a:t>
            </a:r>
            <a:endParaRPr lang="sv-SE" sz="1400" dirty="0">
              <a:solidFill>
                <a:schemeClr val="accent5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264" y="5758195"/>
            <a:ext cx="4441354" cy="507583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97663" y="242840"/>
            <a:ext cx="10261636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Thermal Modelling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72987" y="5263589"/>
            <a:ext cx="428031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sv-SE" sz="1600" b="1" i="0" u="none" strike="noStrike" dirty="0" err="1" smtClean="0">
                <a:effectLst/>
                <a:latin typeface="Scania Office"/>
              </a:rPr>
              <a:t>Continuous</a:t>
            </a:r>
            <a:r>
              <a:rPr lang="sv-SE" sz="1600" b="1" i="0" u="none" strike="noStrike" dirty="0" smtClean="0">
                <a:effectLst/>
                <a:latin typeface="Scania Office"/>
              </a:rPr>
              <a:t> rating</a:t>
            </a:r>
            <a:r>
              <a:rPr lang="en-US" sz="1600" b="1" i="0" dirty="0" smtClean="0">
                <a:effectLst/>
                <a:latin typeface="Scania Office"/>
              </a:rPr>
              <a:t>​</a:t>
            </a:r>
            <a:endParaRPr lang="en-US" sz="1400" b="1" i="0" dirty="0" smtClean="0">
              <a:effectLst/>
              <a:latin typeface="Arial" panose="020B0604020202020204" pitchFamily="34" charset="0"/>
            </a:endParaRPr>
          </a:p>
          <a:p>
            <a:pPr fontAlgn="base"/>
            <a:r>
              <a:rPr lang="sv-SE" sz="1400" dirty="0" smtClean="0">
                <a:latin typeface="Scania Office"/>
              </a:rPr>
              <a:t>	600 </a:t>
            </a:r>
            <a:r>
              <a:rPr lang="sv-SE" sz="1400" dirty="0">
                <a:latin typeface="Scania Office"/>
              </a:rPr>
              <a:t>kW </a:t>
            </a:r>
            <a:r>
              <a:rPr lang="en-US" sz="1400" dirty="0">
                <a:latin typeface="Scania Office"/>
              </a:rPr>
              <a:t>​</a:t>
            </a:r>
            <a:endParaRPr lang="en-US" sz="1400" b="0" i="0" dirty="0" smtClean="0">
              <a:effectLst/>
              <a:latin typeface="Arial" panose="020B0604020202020204" pitchFamily="34" charset="0"/>
            </a:endParaRPr>
          </a:p>
          <a:p>
            <a:pPr fontAlgn="base"/>
            <a:r>
              <a:rPr lang="sv-SE" sz="1600" b="1" i="0" u="none" strike="noStrike" dirty="0" smtClean="0">
                <a:effectLst/>
                <a:latin typeface="Scania Office"/>
              </a:rPr>
              <a:t>Short term rating</a:t>
            </a:r>
            <a:r>
              <a:rPr lang="en-US" sz="1600" b="0" i="0" dirty="0" smtClean="0">
                <a:effectLst/>
                <a:latin typeface="Scania Office"/>
              </a:rPr>
              <a:t>​</a:t>
            </a:r>
            <a:endParaRPr lang="en-US" sz="1400" b="0" i="0" dirty="0" smtClean="0">
              <a:effectLst/>
              <a:latin typeface="Arial" panose="020B0604020202020204" pitchFamily="34" charset="0"/>
            </a:endParaRPr>
          </a:p>
          <a:p>
            <a:pPr fontAlgn="base"/>
            <a:r>
              <a:rPr lang="sv-SE" sz="1400" dirty="0" smtClean="0">
                <a:latin typeface="Scania Office"/>
              </a:rPr>
              <a:t>	20</a:t>
            </a:r>
            <a:r>
              <a:rPr lang="sv-SE" sz="1400" dirty="0">
                <a:latin typeface="Scania Office"/>
              </a:rPr>
              <a:t>% </a:t>
            </a:r>
            <a:r>
              <a:rPr lang="sv-SE" sz="1400" dirty="0" err="1">
                <a:latin typeface="Scania Office"/>
              </a:rPr>
              <a:t>above</a:t>
            </a:r>
            <a:r>
              <a:rPr lang="sv-SE" sz="1400" dirty="0">
                <a:latin typeface="Scania Office"/>
              </a:rPr>
              <a:t> the </a:t>
            </a:r>
            <a:r>
              <a:rPr lang="sv-SE" sz="1400" dirty="0" err="1">
                <a:latin typeface="Scania Office"/>
              </a:rPr>
              <a:t>continous</a:t>
            </a:r>
            <a:r>
              <a:rPr lang="sv-SE" sz="1400" dirty="0">
                <a:latin typeface="Scania Office"/>
              </a:rPr>
              <a:t> rating</a:t>
            </a:r>
            <a:r>
              <a:rPr lang="en-US" sz="1400" dirty="0">
                <a:latin typeface="Scania Office"/>
              </a:rPr>
              <a:t>​</a:t>
            </a:r>
            <a:endParaRPr lang="en-US" sz="1400" b="0" i="0" dirty="0" smtClean="0">
              <a:effectLst/>
              <a:latin typeface="Arial" panose="020B0604020202020204" pitchFamily="34" charset="0"/>
            </a:endParaRPr>
          </a:p>
          <a:p>
            <a:pPr fontAlgn="base"/>
            <a:r>
              <a:rPr lang="sv-SE" sz="1400" dirty="0" smtClean="0">
                <a:latin typeface="Scania Office"/>
              </a:rPr>
              <a:t>	10 </a:t>
            </a:r>
            <a:r>
              <a:rPr lang="sv-SE" sz="1400" dirty="0">
                <a:latin typeface="Scania Office"/>
              </a:rPr>
              <a:t>s</a:t>
            </a:r>
            <a:endParaRPr lang="en-US" sz="14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78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97663" y="242840"/>
            <a:ext cx="10261636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Thermal Modelling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64" y="955475"/>
            <a:ext cx="7591040" cy="30364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44211" y="3970987"/>
            <a:ext cx="6454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accent5"/>
                </a:solidFill>
              </a:rPr>
              <a:t>[4] MSCSM70AM10CT3AG Datasheet Phase Leg </a:t>
            </a:r>
            <a:r>
              <a:rPr lang="en-US" sz="1200" dirty="0" err="1" smtClean="0">
                <a:solidFill>
                  <a:schemeClr val="accent5"/>
                </a:solidFill>
              </a:rPr>
              <a:t>SiC</a:t>
            </a:r>
            <a:r>
              <a:rPr lang="en-US" sz="1200" dirty="0" smtClean="0">
                <a:solidFill>
                  <a:schemeClr val="accent5"/>
                </a:solidFill>
              </a:rPr>
              <a:t> MOSFET Power Module https://www.microchip.com/content/dam/mchp/documents/PPM/ProductDocuments/DataSheets/Microsemi_MSCSM70AM10CT3AG_Phase_Leg_SiC_MOSFET_Power_Module_Datasheet_1.0.pdf</a:t>
            </a:r>
            <a:endParaRPr lang="sv-SE" sz="1200" dirty="0">
              <a:solidFill>
                <a:schemeClr val="accent5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4627606" y="1090493"/>
            <a:ext cx="6178" cy="50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9840" y="884485"/>
            <a:ext cx="1538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Time constant</a:t>
            </a:r>
            <a:endParaRPr lang="sv-SE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903" y="1260568"/>
            <a:ext cx="3933053" cy="27104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0669" y="4042415"/>
            <a:ext cx="38455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chemeClr val="accent5"/>
                </a:solidFill>
              </a:rPr>
              <a:t>[2] </a:t>
            </a:r>
            <a:r>
              <a:rPr lang="en-US" sz="1200" dirty="0">
                <a:solidFill>
                  <a:schemeClr val="accent5"/>
                </a:solidFill>
              </a:rPr>
              <a:t>ANALYSIS AND MODELING OF A LIQUID </a:t>
            </a:r>
            <a:endParaRPr lang="en-US" sz="1200" dirty="0" smtClean="0">
              <a:solidFill>
                <a:schemeClr val="accent5"/>
              </a:solidFill>
            </a:endParaRPr>
          </a:p>
          <a:p>
            <a:r>
              <a:rPr lang="en-US" sz="1200" dirty="0" smtClean="0">
                <a:solidFill>
                  <a:schemeClr val="accent5"/>
                </a:solidFill>
              </a:rPr>
              <a:t>COOLED </a:t>
            </a:r>
            <a:r>
              <a:rPr lang="en-US" sz="1200" dirty="0">
                <a:solidFill>
                  <a:schemeClr val="accent5"/>
                </a:solidFill>
              </a:rPr>
              <a:t>HEAT SINK FOR EV TRACTION INVERTER SYSTEMS</a:t>
            </a:r>
            <a:endParaRPr lang="sv-SE" sz="1200" dirty="0">
              <a:solidFill>
                <a:schemeClr val="accent5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0687053" y="1140580"/>
            <a:ext cx="14416" cy="94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28074" y="863581"/>
            <a:ext cx="1173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Time constant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152897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97663" y="242840"/>
            <a:ext cx="10261636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Overall Modelling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64177" y="1019433"/>
                <a:ext cx="4386648" cy="5344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 smtClean="0">
                    <a:solidFill>
                      <a:srgbClr val="FF0000"/>
                    </a:solidFill>
                  </a:rPr>
                  <a:t>Rating calculations (</a:t>
                </a:r>
                <a:r>
                  <a:rPr lang="en-US" u="sng" dirty="0" err="1" smtClean="0">
                    <a:solidFill>
                      <a:srgbClr val="FF0000"/>
                    </a:solidFill>
                  </a:rPr>
                  <a:t>Continous</a:t>
                </a:r>
                <a:r>
                  <a:rPr lang="en-US" u="sng" dirty="0" smtClean="0">
                    <a:solidFill>
                      <a:srgbClr val="FF0000"/>
                    </a:solidFill>
                  </a:rPr>
                  <a:t>)</a:t>
                </a:r>
              </a:p>
              <a:p>
                <a:endParaRPr lang="en-US" u="sng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𝑝h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𝑝h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𝑆𝑉𝑀</m:t>
                      </m:r>
                    </m:oMath>
                  </m:oMathPara>
                </a14:m>
                <a:endParaRPr lang="en-US" b="0" dirty="0" smtClean="0"/>
              </a:p>
              <a:p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𝑆𝑃𝑊𝑀</m:t>
                      </m:r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=1.1547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𝑇𝐻𝐼𝑃𝑊𝑀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=1.15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𝑇𝐻𝐼𝑃𝑊𝑀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endParaRPr lang="en-US" dirty="0" smtClean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177" y="1019433"/>
                <a:ext cx="4386648" cy="5344220"/>
              </a:xfrm>
              <a:prstGeom prst="rect">
                <a:avLst/>
              </a:prstGeom>
              <a:blipFill>
                <a:blip r:embed="rId2"/>
                <a:stretch>
                  <a:fillRect l="-1111" t="-57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10469" y="1019433"/>
                <a:ext cx="4386648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 smtClean="0">
                    <a:solidFill>
                      <a:srgbClr val="FF0000"/>
                    </a:solidFill>
                  </a:rPr>
                  <a:t>Modulations</a:t>
                </a:r>
              </a:p>
              <a:p>
                <a:endParaRPr lang="en-US" u="sng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u="sng" dirty="0" smtClean="0"/>
                  <a:t>SPWM</a:t>
                </a:r>
                <a:endParaRPr lang="en-US" u="sng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 smtClean="0"/>
                  <a:t>THIPWM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1/6 THIPWM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0" dirty="0" smtClean="0"/>
                  <a:t>¼ THIPWM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0" dirty="0" smtClean="0"/>
                  <a:t>SVM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/>
                  <a:t>DPWM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𝐷𝑃𝑊𝑀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 smtClean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𝐷𝑃𝑊𝑀</m:t>
                    </m:r>
                  </m:oMath>
                </a14:m>
                <a:endParaRPr lang="en-US" b="0" dirty="0" smtClean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𝐷𝑃𝑊𝑀</m:t>
                    </m:r>
                  </m:oMath>
                </a14:m>
                <a:endParaRPr lang="en-US" b="0" dirty="0" smtClean="0"/>
              </a:p>
              <a:p>
                <a:pPr marL="800100" lvl="1" indent="-342900">
                  <a:buFont typeface="+mj-lt"/>
                  <a:buAutoNum type="arabicPeriod"/>
                </a:pPr>
                <a:endParaRPr lang="en-US" b="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0" dirty="0" smtClean="0"/>
              </a:p>
              <a:p>
                <a:endParaRPr lang="en-US" dirty="0" smtClean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469" y="1019433"/>
                <a:ext cx="4386648" cy="4247317"/>
              </a:xfrm>
              <a:prstGeom prst="rect">
                <a:avLst/>
              </a:prstGeom>
              <a:blipFill>
                <a:blip r:embed="rId3"/>
                <a:stretch>
                  <a:fillRect l="-1250" t="-7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2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94290" y="1985980"/>
            <a:ext cx="1488988" cy="2814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Modulation </a:t>
            </a:r>
          </a:p>
          <a:p>
            <a:pPr algn="ctr"/>
            <a:r>
              <a:rPr lang="en-US" smtClean="0">
                <a:solidFill>
                  <a:schemeClr val="tx1"/>
                </a:solidFill>
              </a:rPr>
              <a:t>Function 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267144" y="2144398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267136" y="2383649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267137" y="2655984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2297" y="229084"/>
                <a:ext cx="6263640" cy="6532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F0000"/>
                    </a:solidFill>
                  </a:rPr>
                  <a:t>Input : </a:t>
                </a:r>
                <a:endParaRPr lang="sv-SE" sz="1400" b="1" dirty="0" smtClean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b="1" dirty="0" err="1" smtClean="0">
                    <a:solidFill>
                      <a:schemeClr val="tx1"/>
                    </a:solidFill>
                  </a:rPr>
                  <a:t>ma</a:t>
                </a:r>
                <a:r>
                  <a:rPr lang="sv-SE" sz="1400" dirty="0" smtClean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>
                    <a:solidFill>
                      <a:schemeClr val="tx1"/>
                    </a:solidFill>
                  </a:rPr>
                  <a:t>: modulation index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b="1" dirty="0" err="1">
                    <a:solidFill>
                      <a:schemeClr val="tx1"/>
                    </a:solidFill>
                  </a:rPr>
                  <a:t>pn</a:t>
                </a:r>
                <a:r>
                  <a:rPr lang="en-US" sz="1400" dirty="0">
                    <a:solidFill>
                      <a:schemeClr val="tx1"/>
                    </a:solidFill>
                  </a:rPr>
                  <a:t> : pulse number (carrier to fundamental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𝑠𝑤𝑖𝑡𝑐h𝑖𝑛𝑔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𝑓𝑢𝑛𝑑𝑎𝑚𝑒𝑛𝑡𝑎𝑙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b="1" dirty="0" err="1">
                    <a:solidFill>
                      <a:schemeClr val="tx1"/>
                    </a:solidFill>
                  </a:rPr>
                  <a:t>npoints</a:t>
                </a:r>
                <a:r>
                  <a:rPr lang="en-US" sz="1400" dirty="0">
                    <a:solidFill>
                      <a:schemeClr val="tx1"/>
                    </a:solidFill>
                  </a:rPr>
                  <a:t>: number of sampling points during fundamental signal (determine the time steps)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b="1" dirty="0" err="1">
                    <a:solidFill>
                      <a:schemeClr val="tx1"/>
                    </a:solidFill>
                  </a:rPr>
                  <a:t>carrytype</a:t>
                </a:r>
                <a:r>
                  <a:rPr lang="en-US" sz="1400" dirty="0">
                    <a:solidFill>
                      <a:schemeClr val="tx1"/>
                    </a:solidFill>
                  </a:rPr>
                  <a:t>: Type of carrier signal (two options)</a:t>
                </a:r>
              </a:p>
              <a:p>
                <a:pPr lvl="4"/>
                <a:r>
                  <a:rPr lang="en-US" sz="1400" dirty="0">
                    <a:solidFill>
                      <a:schemeClr val="tx1"/>
                    </a:solidFill>
                  </a:rPr>
                  <a:t>'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sawp</a:t>
                </a:r>
                <a:r>
                  <a:rPr lang="en-US" sz="1400" dirty="0">
                    <a:solidFill>
                      <a:schemeClr val="tx1"/>
                    </a:solidFill>
                  </a:rPr>
                  <a:t>' : 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sawtooth</a:t>
                </a:r>
                <a:r>
                  <a:rPr lang="en-US" sz="1400" dirty="0">
                    <a:solidFill>
                      <a:schemeClr val="tx1"/>
                    </a:solidFill>
                  </a:rPr>
                  <a:t> carrier with positive slope</a:t>
                </a: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'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tria</a:t>
                </a:r>
                <a:r>
                  <a:rPr lang="sv-SE" sz="1400" dirty="0">
                    <a:solidFill>
                      <a:schemeClr val="tx1"/>
                    </a:solidFill>
                  </a:rPr>
                  <a:t>' :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triangular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carrier</a:t>
                </a:r>
                <a:r>
                  <a:rPr lang="sv-SE" sz="1400" dirty="0">
                    <a:solidFill>
                      <a:schemeClr val="tx1"/>
                    </a:solidFill>
                  </a:rPr>
                  <a:t> (default)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b="1" dirty="0" err="1">
                    <a:solidFill>
                      <a:schemeClr val="tx1"/>
                    </a:solidFill>
                  </a:rPr>
                  <a:t>smp</a:t>
                </a:r>
                <a:r>
                  <a:rPr lang="en-US" sz="1400" dirty="0">
                    <a:solidFill>
                      <a:schemeClr val="tx1"/>
                    </a:solidFill>
                  </a:rPr>
                  <a:t>: (optional) reference sampling mode (three options)</a:t>
                </a: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'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ns</a:t>
                </a:r>
                <a:r>
                  <a:rPr lang="sv-SE" sz="1400" dirty="0">
                    <a:solidFill>
                      <a:schemeClr val="tx1"/>
                    </a:solidFill>
                  </a:rPr>
                  <a:t>' :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natural</a:t>
                </a:r>
                <a:r>
                  <a:rPr lang="sv-SE" sz="1400" dirty="0">
                    <a:solidFill>
                      <a:schemeClr val="tx1"/>
                    </a:solidFill>
                  </a:rPr>
                  <a:t> sampling (default)</a:t>
                </a: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'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rs</a:t>
                </a:r>
                <a:r>
                  <a:rPr lang="sv-SE" sz="1400" dirty="0">
                    <a:solidFill>
                      <a:schemeClr val="tx1"/>
                    </a:solidFill>
                  </a:rPr>
                  <a:t>' :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regular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symmetric</a:t>
                </a:r>
                <a:r>
                  <a:rPr lang="sv-SE" sz="1400" dirty="0">
                    <a:solidFill>
                      <a:schemeClr val="tx1"/>
                    </a:solidFill>
                  </a:rPr>
                  <a:t> sampling</a:t>
                </a: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'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ra</a:t>
                </a:r>
                <a:r>
                  <a:rPr lang="sv-SE" sz="1400" dirty="0">
                    <a:solidFill>
                      <a:schemeClr val="tx1"/>
                    </a:solidFill>
                  </a:rPr>
                  <a:t>' :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regular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asymmetric</a:t>
                </a:r>
                <a:r>
                  <a:rPr lang="sv-SE" sz="1400" dirty="0">
                    <a:solidFill>
                      <a:schemeClr val="tx1"/>
                    </a:solidFill>
                  </a:rPr>
                  <a:t> sampling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b="1" dirty="0" err="1">
                    <a:solidFill>
                      <a:schemeClr val="tx1"/>
                    </a:solidFill>
                  </a:rPr>
                  <a:t>cmode</a:t>
                </a:r>
                <a:r>
                  <a:rPr lang="sv-SE" sz="1400" dirty="0">
                    <a:solidFill>
                      <a:schemeClr val="tx1"/>
                    </a:solidFill>
                  </a:rPr>
                  <a:t>: (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optional</a:t>
                </a:r>
                <a:r>
                  <a:rPr lang="sv-SE" sz="1400" dirty="0">
                    <a:solidFill>
                      <a:schemeClr val="tx1"/>
                    </a:solidFill>
                  </a:rPr>
                  <a:t>)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reference</a:t>
                </a:r>
                <a:r>
                  <a:rPr lang="sv-SE" sz="1400" dirty="0">
                    <a:solidFill>
                      <a:schemeClr val="tx1"/>
                    </a:solidFill>
                  </a:rPr>
                  <a:t> common-mode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component</a:t>
                </a:r>
                <a:r>
                  <a:rPr lang="sv-SE" sz="1400" dirty="0">
                    <a:solidFill>
                      <a:schemeClr val="tx1"/>
                    </a:solidFill>
                  </a:rPr>
                  <a:t> for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three-phase</a:t>
                </a:r>
                <a:r>
                  <a:rPr lang="sv-SE" sz="1400" dirty="0">
                    <a:solidFill>
                      <a:schemeClr val="tx1"/>
                    </a:solidFill>
                  </a:rPr>
                  <a:t> systems</a:t>
                </a: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 '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none</a:t>
                </a:r>
                <a:r>
                  <a:rPr lang="sv-SE" sz="1400" dirty="0">
                    <a:solidFill>
                      <a:schemeClr val="tx1"/>
                    </a:solidFill>
                  </a:rPr>
                  <a:t>' : No common mode (default)</a:t>
                </a: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 'tri4' :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One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fourth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third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harmonic</a:t>
                </a:r>
                <a:endParaRPr lang="sv-SE" sz="1400" dirty="0">
                  <a:solidFill>
                    <a:schemeClr val="tx1"/>
                  </a:solidFill>
                </a:endParaRPr>
              </a:p>
              <a:p>
                <a:pPr lvl="4"/>
                <a:r>
                  <a:rPr lang="sv-SE" sz="1400" dirty="0">
                    <a:solidFill>
                      <a:schemeClr val="tx1"/>
                    </a:solidFill>
                  </a:rPr>
                  <a:t> 'tri6' :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One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sixth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third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harmonic</a:t>
                </a:r>
                <a:endParaRPr lang="sv-SE" sz="1400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b="1" dirty="0">
                    <a:solidFill>
                      <a:schemeClr val="tx1"/>
                    </a:solidFill>
                  </a:rPr>
                  <a:t>theta0</a:t>
                </a:r>
                <a:r>
                  <a:rPr lang="sv-SE" sz="1400" dirty="0">
                    <a:solidFill>
                      <a:schemeClr val="tx1"/>
                    </a:solidFill>
                  </a:rPr>
                  <a:t>: (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optional</a:t>
                </a:r>
                <a:r>
                  <a:rPr lang="sv-SE" sz="1400" dirty="0">
                    <a:solidFill>
                      <a:schemeClr val="tx1"/>
                    </a:solidFill>
                  </a:rPr>
                  <a:t>)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reference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phase</a:t>
                </a:r>
                <a:r>
                  <a:rPr lang="sv-SE" sz="1400" dirty="0">
                    <a:solidFill>
                      <a:schemeClr val="tx1"/>
                    </a:solidFill>
                  </a:rPr>
                  <a:t> offset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b="1" dirty="0" err="1">
                    <a:solidFill>
                      <a:schemeClr val="tx1"/>
                    </a:solidFill>
                  </a:rPr>
                  <a:t>thetac</a:t>
                </a:r>
                <a:r>
                  <a:rPr lang="sv-SE" sz="1400" dirty="0">
                    <a:solidFill>
                      <a:schemeClr val="tx1"/>
                    </a:solidFill>
                  </a:rPr>
                  <a:t>: (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optional</a:t>
                </a:r>
                <a:r>
                  <a:rPr lang="sv-SE" sz="1400" dirty="0">
                    <a:solidFill>
                      <a:schemeClr val="tx1"/>
                    </a:solidFill>
                  </a:rPr>
                  <a:t>)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carrier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phase</a:t>
                </a:r>
                <a:r>
                  <a:rPr lang="sv-SE" sz="1400" dirty="0">
                    <a:solidFill>
                      <a:schemeClr val="tx1"/>
                    </a:solidFill>
                  </a:rPr>
                  <a:t> offset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b="1" dirty="0">
                    <a:solidFill>
                      <a:schemeClr val="tx1"/>
                    </a:solidFill>
                  </a:rPr>
                  <a:t>start</a:t>
                </a:r>
                <a:r>
                  <a:rPr lang="sv-SE" sz="1400" dirty="0">
                    <a:solidFill>
                      <a:schemeClr val="tx1"/>
                    </a:solidFill>
                  </a:rPr>
                  <a:t>: (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optional</a:t>
                </a:r>
                <a:r>
                  <a:rPr lang="sv-SE" sz="1400" dirty="0">
                    <a:solidFill>
                      <a:schemeClr val="tx1"/>
                    </a:solidFill>
                  </a:rPr>
                  <a:t>)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reference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angle</a:t>
                </a:r>
                <a:r>
                  <a:rPr lang="sv-SE" sz="1400" dirty="0">
                    <a:solidFill>
                      <a:schemeClr val="tx1"/>
                    </a:solidFill>
                  </a:rPr>
                  <a:t> to start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with</a:t>
                </a:r>
                <a:r>
                  <a:rPr lang="sv-SE" sz="1400" dirty="0">
                    <a:solidFill>
                      <a:schemeClr val="tx1"/>
                    </a:solidFill>
                  </a:rPr>
                  <a:t> (default=0)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b="1" dirty="0">
                    <a:solidFill>
                      <a:schemeClr val="tx1"/>
                    </a:solidFill>
                  </a:rPr>
                  <a:t>end</a:t>
                </a:r>
                <a:r>
                  <a:rPr lang="sv-SE" sz="1400" dirty="0">
                    <a:solidFill>
                      <a:schemeClr val="tx1"/>
                    </a:solidFill>
                  </a:rPr>
                  <a:t>: (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optional</a:t>
                </a:r>
                <a:r>
                  <a:rPr lang="sv-SE" sz="1400" dirty="0">
                    <a:solidFill>
                      <a:schemeClr val="tx1"/>
                    </a:solidFill>
                  </a:rPr>
                  <a:t>)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reference</a:t>
                </a:r>
                <a:r>
                  <a:rPr lang="sv-SE" sz="1400" dirty="0">
                    <a:solidFill>
                      <a:schemeClr val="tx1"/>
                    </a:solidFill>
                  </a:rPr>
                  <a:t>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angle</a:t>
                </a:r>
                <a:r>
                  <a:rPr lang="sv-SE" sz="1400" dirty="0">
                    <a:solidFill>
                      <a:schemeClr val="tx1"/>
                    </a:solidFill>
                  </a:rPr>
                  <a:t> to end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with</a:t>
                </a:r>
                <a:r>
                  <a:rPr lang="sv-SE" sz="1400" dirty="0">
                    <a:solidFill>
                      <a:schemeClr val="tx1"/>
                    </a:solidFill>
                  </a:rPr>
                  <a:t> (default=2pi)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sv-SE" sz="1400" b="1" dirty="0">
                    <a:solidFill>
                      <a:schemeClr val="tx1"/>
                    </a:solidFill>
                  </a:rPr>
                  <a:t>ma0</a:t>
                </a:r>
                <a:r>
                  <a:rPr lang="sv-SE" sz="1400" dirty="0">
                    <a:solidFill>
                      <a:schemeClr val="tx1"/>
                    </a:solidFill>
                  </a:rPr>
                  <a:t>: (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optional</a:t>
                </a:r>
                <a:r>
                  <a:rPr lang="sv-SE" sz="1400" dirty="0">
                    <a:solidFill>
                      <a:schemeClr val="tx1"/>
                    </a:solidFill>
                  </a:rPr>
                  <a:t>) DC </a:t>
                </a:r>
                <a:r>
                  <a:rPr lang="sv-SE" sz="1400" dirty="0" err="1">
                    <a:solidFill>
                      <a:schemeClr val="tx1"/>
                    </a:solidFill>
                  </a:rPr>
                  <a:t>reference</a:t>
                </a:r>
                <a:r>
                  <a:rPr lang="sv-SE" sz="1400" dirty="0">
                    <a:solidFill>
                      <a:schemeClr val="tx1"/>
                    </a:solidFill>
                  </a:rPr>
                  <a:t> (default =0</a:t>
                </a:r>
                <a:r>
                  <a:rPr lang="sv-SE" sz="14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1400" dirty="0"/>
              </a:p>
              <a:p>
                <a:r>
                  <a:rPr lang="en-US" sz="1400" b="1" dirty="0" smtClean="0">
                    <a:solidFill>
                      <a:srgbClr val="FF0000"/>
                    </a:solidFill>
                  </a:rPr>
                  <a:t>Output:</a:t>
                </a:r>
              </a:p>
              <a:p>
                <a:pPr marL="514350" indent="-514350" fontAlgn="t">
                  <a:buFont typeface="+mj-lt"/>
                  <a:buAutoNum type="arabicPeriod"/>
                </a:pPr>
                <a:r>
                  <a:rPr lang="en-US" sz="1400" b="1" dirty="0"/>
                  <a:t>s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Pwm</a:t>
                </a:r>
                <a:r>
                  <a:rPr lang="en-US" sz="1400" dirty="0"/>
                  <a:t> pattern during fundamental cycle</a:t>
                </a:r>
                <a:endParaRPr lang="sv-SE" sz="1400" dirty="0"/>
              </a:p>
              <a:p>
                <a:pPr marL="514350" indent="-514350" fontAlgn="t">
                  <a:buFont typeface="+mj-lt"/>
                  <a:buAutoNum type="arabicPeriod"/>
                </a:pPr>
                <a:r>
                  <a:rPr lang="en-US" sz="1400" b="1" dirty="0" err="1"/>
                  <a:t>wt</a:t>
                </a:r>
                <a:r>
                  <a:rPr lang="en-US" sz="1400" dirty="0"/>
                  <a:t>: (optional) phase angle vector corresponding to s</a:t>
                </a:r>
                <a:endParaRPr lang="sv-SE" sz="1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400" b="1" dirty="0" err="1"/>
                  <a:t>carr</a:t>
                </a:r>
                <a:r>
                  <a:rPr lang="en-US" sz="1400" dirty="0"/>
                  <a:t>: (optional) </a:t>
                </a:r>
                <a:r>
                  <a:rPr lang="sv-SE" sz="1400" dirty="0" err="1"/>
                  <a:t>carrier</a:t>
                </a:r>
                <a:r>
                  <a:rPr lang="sv-SE" sz="1400" dirty="0"/>
                  <a:t> signal </a:t>
                </a:r>
                <a:r>
                  <a:rPr lang="sv-SE" sz="1400" dirty="0" err="1"/>
                  <a:t>vector</a:t>
                </a:r>
                <a:r>
                  <a:rPr lang="sv-SE" sz="1400" dirty="0"/>
                  <a:t> </a:t>
                </a:r>
              </a:p>
              <a:p>
                <a:pPr marL="514350" indent="-514350" fontAlgn="t">
                  <a:buFont typeface="+mj-lt"/>
                  <a:buAutoNum type="arabicPeriod"/>
                </a:pPr>
                <a:r>
                  <a:rPr lang="en-US" sz="1400" b="1" dirty="0"/>
                  <a:t>ref</a:t>
                </a:r>
                <a:r>
                  <a:rPr lang="en-US" sz="1400" dirty="0"/>
                  <a:t>: (optional) reference signal vector</a:t>
                </a:r>
              </a:p>
              <a:p>
                <a:r>
                  <a:rPr lang="en-US" sz="1600" b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endParaRPr lang="sv-SE" sz="16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7" y="229084"/>
                <a:ext cx="6263640" cy="6532494"/>
              </a:xfrm>
              <a:prstGeom prst="rect">
                <a:avLst/>
              </a:prstGeom>
              <a:blipFill>
                <a:blip r:embed="rId2"/>
                <a:stretch>
                  <a:fillRect l="-389" t="-18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7101056" y="1851988"/>
            <a:ext cx="10960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 err="1">
                <a:solidFill>
                  <a:schemeClr val="accent6">
                    <a:lumMod val="50000"/>
                  </a:schemeClr>
                </a:solidFill>
              </a:rPr>
              <a:t>ma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01056" y="2066466"/>
            <a:ext cx="10960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 err="1" smtClean="0">
                <a:solidFill>
                  <a:schemeClr val="accent6">
                    <a:lumMod val="50000"/>
                  </a:schemeClr>
                </a:solidFill>
              </a:rPr>
              <a:t>pn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101048" y="2343234"/>
            <a:ext cx="1096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6">
                    <a:lumMod val="50000"/>
                  </a:schemeClr>
                </a:solidFill>
              </a:rPr>
              <a:t>npoints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267144" y="2904097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267136" y="3143348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267137" y="3415683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267144" y="3653631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267136" y="3892882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267137" y="4165217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101048" y="2607791"/>
            <a:ext cx="1096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carrytype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101048" y="2817910"/>
            <a:ext cx="1096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smp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01040" y="3087625"/>
            <a:ext cx="1096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 err="1">
                <a:solidFill>
                  <a:schemeClr val="accent6">
                    <a:lumMod val="50000"/>
                  </a:schemeClr>
                </a:solidFill>
              </a:rPr>
              <a:t>cmode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101033" y="3341421"/>
            <a:ext cx="10960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>
                <a:solidFill>
                  <a:schemeClr val="accent6">
                    <a:lumMod val="50000"/>
                  </a:schemeClr>
                </a:solidFill>
              </a:rPr>
              <a:t>theta0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101025" y="3589534"/>
            <a:ext cx="10960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 err="1">
                <a:solidFill>
                  <a:schemeClr val="accent6">
                    <a:lumMod val="50000"/>
                  </a:schemeClr>
                </a:solidFill>
              </a:rPr>
              <a:t>thetac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101017" y="3821255"/>
            <a:ext cx="1096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>
                <a:solidFill>
                  <a:schemeClr val="accent6">
                    <a:lumMod val="50000"/>
                  </a:schemeClr>
                </a:solidFill>
              </a:rPr>
              <a:t>start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02447" y="4071169"/>
            <a:ext cx="9946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>
                <a:solidFill>
                  <a:schemeClr val="accent6">
                    <a:lumMod val="50000"/>
                  </a:schemeClr>
                </a:solidFill>
              </a:rPr>
              <a:t>end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267136" y="4308120"/>
            <a:ext cx="929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b="1" dirty="0">
                <a:solidFill>
                  <a:schemeClr val="accent6">
                    <a:lumMod val="50000"/>
                  </a:schemeClr>
                </a:solidFill>
              </a:rPr>
              <a:t>ma0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7267136" y="4400670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267135" y="4634224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9783276" y="2585088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9783277" y="3091468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9783277" y="3582625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9783277" y="4067371"/>
            <a:ext cx="1027155" cy="3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847227" y="2251132"/>
            <a:ext cx="845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s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847227" y="2749767"/>
            <a:ext cx="845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wt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847227" y="3237126"/>
            <a:ext cx="845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carr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47227" y="3715790"/>
            <a:ext cx="845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ref</a:t>
            </a:r>
            <a:endParaRPr lang="sv-SE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3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217793" y="33000"/>
            <a:ext cx="10261636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SCPAR (</a:t>
            </a:r>
            <a:r>
              <a:rPr lang="en-US" dirty="0" err="1" smtClean="0">
                <a:solidFill>
                  <a:srgbClr val="C00000"/>
                </a:solidFill>
              </a:rPr>
              <a:t>Semicondcutor</a:t>
            </a:r>
            <a:r>
              <a:rPr lang="en-US" dirty="0" smtClean="0">
                <a:solidFill>
                  <a:srgbClr val="C00000"/>
                </a:solidFill>
              </a:rPr>
              <a:t> and Thermal Parameters)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1596" y="495472"/>
            <a:ext cx="2304349" cy="75713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T </a:t>
            </a: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>
                <a:solidFill>
                  <a:srgbClr val="548235"/>
                </a:solidFill>
                <a:latin typeface="Calibri" panose="020F0502020204030204" pitchFamily="34" charset="0"/>
              </a:rPr>
              <a:t>I</a:t>
            </a:r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>
                <a:solidFill>
                  <a:srgbClr val="548235"/>
                </a:solidFill>
                <a:latin typeface="Calibri" panose="020F0502020204030204" pitchFamily="34" charset="0"/>
              </a:rPr>
              <a:t>E</a:t>
            </a:r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U</a:t>
            </a: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en-US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T 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I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E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U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TON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en-US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T 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O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I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smtClean="0"/>
              <a:t>.</a:t>
            </a:r>
            <a:r>
              <a:rPr lang="sv-SE" b="1" dirty="0">
                <a:solidFill>
                  <a:srgbClr val="548235"/>
                </a:solidFill>
                <a:latin typeface="Calibri" panose="020F0502020204030204" pitchFamily="34" charset="0"/>
              </a:rPr>
              <a:t>V</a:t>
            </a: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/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/>
              <a:t>.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NAME</a:t>
            </a:r>
            <a:r>
              <a:rPr lang="sv-SE" b="1" dirty="0">
                <a:solidFill>
                  <a:srgbClr val="548235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Manuf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RATG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548235"/>
                </a:solidFill>
                <a:latin typeface="Calibri" panose="020F0502020204030204" pitchFamily="34" charset="0"/>
              </a:rPr>
              <a:t>Irat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/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/>
              <a:t>.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BV</a:t>
            </a:r>
            <a:endParaRPr lang="sv-SE" dirty="0"/>
          </a:p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TH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548235"/>
                </a:solidFill>
                <a:latin typeface="Calibri" panose="020F0502020204030204" pitchFamily="34" charset="0"/>
              </a:rPr>
              <a:t>Rthjc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TH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548235"/>
                </a:solidFill>
                <a:latin typeface="Calibri" panose="020F0502020204030204" pitchFamily="34" charset="0"/>
              </a:rPr>
              <a:t>Rthch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TH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en-US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/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/>
              <a:t>.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NPKG</a:t>
            </a:r>
            <a:endParaRPr lang="sv-SE" dirty="0"/>
          </a:p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err="1"/>
              <a:t>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Package</a:t>
            </a:r>
            <a:endParaRPr lang="sv-SE" dirty="0"/>
          </a:p>
          <a:p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760927" y="516239"/>
            <a:ext cx="2285882" cy="5078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HSSW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NAME</a:t>
            </a: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HSSW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L</a:t>
            </a: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HSSW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Rthha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HSSW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model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HSDI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NAME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HSDI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L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HSDI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Rthha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HSDI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model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igbtareascale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diodeareascale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 </a:t>
            </a:r>
          </a:p>
          <a:p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endParaRPr lang="sv-SE" dirty="0"/>
          </a:p>
        </p:txBody>
      </p:sp>
      <p:sp>
        <p:nvSpPr>
          <p:cNvPr id="8" name="Rectangle 7"/>
          <p:cNvSpPr/>
          <p:nvPr/>
        </p:nvSpPr>
        <p:spPr>
          <a:xfrm>
            <a:off x="4874599" y="516239"/>
            <a:ext cx="2143087" cy="59093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T </a:t>
            </a: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I</a:t>
            </a: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E</a:t>
            </a: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U</a:t>
            </a: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TOF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en-US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T 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I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V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ON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NAME</a:t>
            </a:r>
            <a:r>
              <a:rPr lang="sv-SE" b="1" dirty="0" smtClean="0">
                <a:solidFill>
                  <a:srgbClr val="548235"/>
                </a:solidFill>
                <a:latin typeface="Calibri" panose="020F0502020204030204" pitchFamily="34" charset="0"/>
              </a:rPr>
              <a:t> 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Manuf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RATG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Irat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BV</a:t>
            </a:r>
            <a:endParaRPr lang="sv-SE" dirty="0"/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TH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Rthjc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TH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Rthch</a:t>
            </a:r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TH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548235"/>
                </a:solidFill>
                <a:latin typeface="Calibri" panose="020F0502020204030204" pitchFamily="34" charset="0"/>
              </a:rPr>
              <a:t>model</a:t>
            </a:r>
            <a:endParaRPr lang="en-US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NPKG</a:t>
            </a:r>
            <a:endParaRPr lang="sv-SE" dirty="0"/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Package</a:t>
            </a:r>
            <a:endParaRPr lang="sv-SE" dirty="0"/>
          </a:p>
          <a:p>
            <a:endParaRPr lang="sv-SE" b="1" dirty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endParaRPr lang="sv-SE" b="1" dirty="0" smtClean="0">
              <a:solidFill>
                <a:srgbClr val="548235"/>
              </a:solidFill>
              <a:latin typeface="Calibri" panose="020F0502020204030204" pitchFamily="34" charset="0"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4492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217793" y="33000"/>
            <a:ext cx="10261636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PC and OP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4762" y="724071"/>
            <a:ext cx="2327240" cy="4801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diodepackincr</a:t>
            </a:r>
            <a:r>
              <a:rPr lang="sv-SE" dirty="0" smtClean="0"/>
              <a:t> </a:t>
            </a: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Igbtpackincr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Igbtcoolincr</a:t>
            </a:r>
            <a:r>
              <a:rPr lang="sv-SE" dirty="0" smtClean="0"/>
              <a:t> </a:t>
            </a:r>
          </a:p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diodecoolincr</a:t>
            </a:r>
            <a:r>
              <a:rPr lang="sv-SE" dirty="0"/>
              <a:t> </a:t>
            </a: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seriesautoselect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Nseries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diodefile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PC</a:t>
            </a:r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SCTHERM.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Tjtol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SCTHERM.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model</a:t>
            </a:r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SCTHERM.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maxiter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npar</a:t>
            </a:r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nop</a:t>
            </a:r>
            <a:endParaRPr lang="sv-SE" b="1" dirty="0" smtClean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TOPOLOGY</a:t>
            </a:r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dirty="0"/>
          </a:p>
          <a:p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7639307" y="785856"/>
            <a:ext cx="7954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OP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Ta</a:t>
            </a:r>
            <a:endParaRPr lang="sv-SE" b="1" dirty="0" smtClean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OP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Ud</a:t>
            </a:r>
            <a:endParaRPr lang="sv-SE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668780" y="5090160"/>
            <a:ext cx="0" cy="541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67288" y="5697974"/>
            <a:ext cx="200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seriesmargin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979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1065588" y="1396312"/>
            <a:ext cx="1713472" cy="716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Modulation </a:t>
            </a:r>
          </a:p>
          <a:p>
            <a:pPr algn="ctr"/>
            <a:r>
              <a:rPr lang="en-US" smtClean="0">
                <a:solidFill>
                  <a:schemeClr val="tx1"/>
                </a:solidFill>
              </a:rPr>
              <a:t>Function 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endCxn id="37" idx="1"/>
          </p:cNvCxnSpPr>
          <p:nvPr/>
        </p:nvCxnSpPr>
        <p:spPr>
          <a:xfrm>
            <a:off x="364525" y="1754657"/>
            <a:ext cx="70106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1677" y="1385325"/>
            <a:ext cx="926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</a:t>
            </a:r>
            <a:endParaRPr lang="sv-SE" dirty="0"/>
          </a:p>
        </p:txBody>
      </p:sp>
      <p:cxnSp>
        <p:nvCxnSpPr>
          <p:cNvPr id="42" name="Straight Arrow Connector 41"/>
          <p:cNvCxnSpPr>
            <a:endCxn id="92" idx="1"/>
          </p:cNvCxnSpPr>
          <p:nvPr/>
        </p:nvCxnSpPr>
        <p:spPr>
          <a:xfrm>
            <a:off x="4238367" y="1754658"/>
            <a:ext cx="583726" cy="593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779060" y="2782329"/>
            <a:ext cx="18850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065588" y="3479630"/>
            <a:ext cx="1713472" cy="704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Parameters for calculations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065588" y="2317065"/>
            <a:ext cx="1713472" cy="986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Dataset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(Semiconductor and Heatsink)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/>
          <p:cNvCxnSpPr>
            <a:endCxn id="92" idx="3"/>
          </p:cNvCxnSpPr>
          <p:nvPr/>
        </p:nvCxnSpPr>
        <p:spPr>
          <a:xfrm flipV="1">
            <a:off x="4236009" y="3139597"/>
            <a:ext cx="586084" cy="676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37" idx="3"/>
          </p:cNvCxnSpPr>
          <p:nvPr/>
        </p:nvCxnSpPr>
        <p:spPr>
          <a:xfrm>
            <a:off x="2779060" y="1754658"/>
            <a:ext cx="145930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2779060" y="3809999"/>
            <a:ext cx="1459307" cy="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4664098" y="2184035"/>
            <a:ext cx="1078860" cy="11195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dirty="0" err="1" smtClean="0">
                <a:solidFill>
                  <a:schemeClr val="tx1"/>
                </a:solidFill>
              </a:rPr>
              <a:t>scloss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261419" y="3462419"/>
            <a:ext cx="426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mtClean="0">
                <a:latin typeface="Calibri" panose="020F0502020204030204" pitchFamily="34" charset="0"/>
              </a:rPr>
              <a:t>PC</a:t>
            </a:r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246992" y="3809999"/>
            <a:ext cx="455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mtClean="0">
                <a:latin typeface="Calibri" panose="020F0502020204030204" pitchFamily="34" charset="0"/>
              </a:rPr>
              <a:t>OP</a:t>
            </a:r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3204791" y="2434748"/>
            <a:ext cx="773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latin typeface="Calibri" panose="020F0502020204030204" pitchFamily="34" charset="0"/>
              </a:rPr>
              <a:t>SCPAR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11956" y="1200659"/>
            <a:ext cx="35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latin typeface="Calibri" panose="020F0502020204030204" pitchFamily="34" charset="0"/>
              </a:rPr>
              <a:t>ip</a:t>
            </a:r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3276217" y="1708496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latin typeface="Calibri" panose="020F0502020204030204" pitchFamily="34" charset="0"/>
              </a:rPr>
              <a:t>vp</a:t>
            </a:r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301059" y="1455890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>
                <a:latin typeface="Calibri" panose="020F0502020204030204" pitchFamily="34" charset="0"/>
              </a:rPr>
              <a:t>f1</a:t>
            </a:r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563115" y="1255319"/>
            <a:ext cx="1064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smtClean="0">
                <a:latin typeface="Calibri" panose="020F0502020204030204" pitchFamily="34" charset="0"/>
              </a:rPr>
              <a:t>PC.TOPOLOGY</a:t>
            </a:r>
          </a:p>
          <a:p>
            <a:r>
              <a:rPr lang="en-US" sz="1200" dirty="0" smtClean="0">
                <a:latin typeface="Calibri" panose="020F0502020204030204" pitchFamily="34" charset="0"/>
              </a:rPr>
              <a:t>(switch case)</a:t>
            </a:r>
            <a:endParaRPr lang="sv-SE" sz="1200" dirty="0">
              <a:latin typeface="Calibri" panose="020F0502020204030204" pitchFamily="34" charset="0"/>
            </a:endParaRPr>
          </a:p>
        </p:txBody>
      </p:sp>
      <p:cxnSp>
        <p:nvCxnSpPr>
          <p:cNvPr id="130" name="Straight Arrow Connector 129"/>
          <p:cNvCxnSpPr/>
          <p:nvPr/>
        </p:nvCxnSpPr>
        <p:spPr>
          <a:xfrm>
            <a:off x="6301758" y="2725362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>
            <a:off x="5742958" y="2725362"/>
            <a:ext cx="5588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H="1">
            <a:off x="6290065" y="2094577"/>
            <a:ext cx="11694" cy="13494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>
            <a:off x="6290065" y="2409969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6301758" y="2094577"/>
            <a:ext cx="22690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>
            <a:off x="6301758" y="3036512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6290065" y="3431881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6431508" y="1836775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</a:rPr>
              <a:t>1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6443201" y="2160439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</a:rPr>
              <a:t>2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6439968" y="2465439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</a:rPr>
              <a:t>3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6439968" y="2763755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</a:rPr>
              <a:t>4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6444199" y="3170770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</a:rPr>
              <a:t>5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6619215" y="1797334"/>
            <a:ext cx="8229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err="1">
                <a:latin typeface="Calibri" panose="020F0502020204030204" pitchFamily="34" charset="0"/>
              </a:rPr>
              <a:t>case</a:t>
            </a:r>
            <a:r>
              <a:rPr lang="sv-SE" sz="1200" dirty="0">
                <a:latin typeface="Calibri" panose="020F0502020204030204" pitchFamily="34" charset="0"/>
              </a:rPr>
              <a:t> for 2l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71575" y="2110220"/>
            <a:ext cx="11195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err="1">
                <a:latin typeface="Calibri" panose="020F0502020204030204" pitchFamily="34" charset="0"/>
              </a:rPr>
              <a:t>case</a:t>
            </a:r>
            <a:r>
              <a:rPr lang="sv-SE" sz="1200" dirty="0">
                <a:latin typeface="Calibri" panose="020F0502020204030204" pitchFamily="34" charset="0"/>
              </a:rPr>
              <a:t> for </a:t>
            </a:r>
            <a:r>
              <a:rPr lang="sv-SE" sz="1200" dirty="0" smtClean="0">
                <a:latin typeface="Calibri" panose="020F0502020204030204" pitchFamily="34" charset="0"/>
              </a:rPr>
              <a:t>3l NPC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6571575" y="2458993"/>
            <a:ext cx="12093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err="1">
                <a:latin typeface="Calibri" panose="020F0502020204030204" pitchFamily="34" charset="0"/>
              </a:rPr>
              <a:t>case</a:t>
            </a:r>
            <a:r>
              <a:rPr lang="sv-SE" sz="1200" dirty="0">
                <a:latin typeface="Calibri" panose="020F0502020204030204" pitchFamily="34" charset="0"/>
              </a:rPr>
              <a:t> for </a:t>
            </a:r>
            <a:r>
              <a:rPr lang="sv-SE" sz="1200" dirty="0" smtClean="0">
                <a:latin typeface="Calibri" panose="020F0502020204030204" pitchFamily="34" charset="0"/>
              </a:rPr>
              <a:t>3l ANPC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6605219" y="2757293"/>
            <a:ext cx="10538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err="1">
                <a:latin typeface="Calibri" panose="020F0502020204030204" pitchFamily="34" charset="0"/>
              </a:rPr>
              <a:t>case</a:t>
            </a:r>
            <a:r>
              <a:rPr lang="sv-SE" sz="1200" dirty="0">
                <a:latin typeface="Calibri" panose="020F0502020204030204" pitchFamily="34" charset="0"/>
              </a:rPr>
              <a:t> for </a:t>
            </a:r>
            <a:r>
              <a:rPr lang="sv-SE" sz="1200" dirty="0" smtClean="0">
                <a:latin typeface="Calibri" panose="020F0502020204030204" pitchFamily="34" charset="0"/>
              </a:rPr>
              <a:t>MMC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6605219" y="3116488"/>
            <a:ext cx="10538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200" dirty="0" err="1">
                <a:latin typeface="Calibri" panose="020F0502020204030204" pitchFamily="34" charset="0"/>
              </a:rPr>
              <a:t>case</a:t>
            </a:r>
            <a:r>
              <a:rPr lang="sv-SE" sz="1200" dirty="0">
                <a:latin typeface="Calibri" panose="020F0502020204030204" pitchFamily="34" charset="0"/>
              </a:rPr>
              <a:t> for </a:t>
            </a:r>
            <a:r>
              <a:rPr lang="sv-SE" sz="1200" dirty="0" smtClean="0">
                <a:latin typeface="Calibri" panose="020F0502020204030204" pitchFamily="34" charset="0"/>
              </a:rPr>
              <a:t>MMC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8570761" y="1486151"/>
            <a:ext cx="1266659" cy="12123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dirty="0" smtClean="0">
                <a:solidFill>
                  <a:schemeClr val="tx1"/>
                </a:solidFill>
              </a:rPr>
              <a:t>scloss2l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4713252" y="1712047"/>
            <a:ext cx="1215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smtClean="0">
                <a:latin typeface="Calibri" panose="020F0502020204030204" pitchFamily="34" charset="0"/>
              </a:rPr>
              <a:t>Loss Calculation </a:t>
            </a:r>
          </a:p>
          <a:p>
            <a:pPr algn="ctr"/>
            <a:r>
              <a:rPr lang="en-US" sz="1200" dirty="0" smtClean="0">
                <a:latin typeface="Calibri" panose="020F0502020204030204" pitchFamily="34" charset="0"/>
              </a:rPr>
              <a:t>Function</a:t>
            </a:r>
            <a:endParaRPr lang="sv-SE" sz="1200" dirty="0">
              <a:latin typeface="Calibri" panose="020F0502020204030204" pitchFamily="34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621831" y="994225"/>
            <a:ext cx="1215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smtClean="0">
                <a:latin typeface="Calibri" panose="020F0502020204030204" pitchFamily="34" charset="0"/>
              </a:rPr>
              <a:t>Loss Calculation </a:t>
            </a:r>
          </a:p>
          <a:p>
            <a:pPr algn="ctr"/>
            <a:r>
              <a:rPr lang="en-US" sz="1200" dirty="0" smtClean="0">
                <a:latin typeface="Calibri" panose="020F0502020204030204" pitchFamily="34" charset="0"/>
              </a:rPr>
              <a:t>Function for 2L</a:t>
            </a:r>
            <a:endParaRPr lang="sv-SE" sz="1200" dirty="0">
              <a:latin typeface="Calibri" panose="020F0502020204030204" pitchFamily="34" charset="0"/>
            </a:endParaRPr>
          </a:p>
        </p:txBody>
      </p:sp>
      <p:cxnSp>
        <p:nvCxnSpPr>
          <p:cNvPr id="170" name="Straight Arrow Connector 169"/>
          <p:cNvCxnSpPr/>
          <p:nvPr/>
        </p:nvCxnSpPr>
        <p:spPr>
          <a:xfrm>
            <a:off x="9837420" y="2051320"/>
            <a:ext cx="937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10777433" y="1866654"/>
            <a:ext cx="870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latin typeface="Calibri" panose="020F0502020204030204" pitchFamily="34" charset="0"/>
              </a:rPr>
              <a:t>SCLOSS</a:t>
            </a:r>
          </a:p>
        </p:txBody>
      </p:sp>
    </p:spTree>
    <p:extLst>
      <p:ext uri="{BB962C8B-B14F-4D97-AF65-F5344CB8AC3E}">
        <p14:creationId xmlns:p14="http://schemas.microsoft.com/office/powerpoint/2010/main" val="195434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7540" y="1293614"/>
            <a:ext cx="23801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seriesautoselect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seriesmargin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Nseries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/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/>
              <a:t>.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NPKG</a:t>
            </a:r>
            <a:endParaRPr lang="sv-SE" dirty="0"/>
          </a:p>
          <a:p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NPKG</a:t>
            </a:r>
            <a:endParaRPr lang="sv-SE" dirty="0"/>
          </a:p>
        </p:txBody>
      </p:sp>
      <p:cxnSp>
        <p:nvCxnSpPr>
          <p:cNvPr id="39" name="Straight Arrow Connector 38"/>
          <p:cNvCxnSpPr>
            <a:stCxn id="4" idx="3"/>
          </p:cNvCxnSpPr>
          <p:nvPr/>
        </p:nvCxnSpPr>
        <p:spPr>
          <a:xfrm flipV="1">
            <a:off x="2877679" y="2446020"/>
            <a:ext cx="558941" cy="1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528060" y="1552991"/>
            <a:ext cx="85801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If 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seriesautoselect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=0 </a:t>
            </a:r>
            <a:endParaRPr lang="en-US" dirty="0" smtClean="0"/>
          </a:p>
          <a:p>
            <a:r>
              <a:rPr lang="en-US" dirty="0" smtClean="0"/>
              <a:t>      determine # of series IGBTs (N) by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Nseries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     </a:t>
            </a:r>
            <a:r>
              <a:rPr lang="en-US" dirty="0" smtClean="0"/>
              <a:t>Then # of series diodes (</a:t>
            </a:r>
            <a:r>
              <a:rPr lang="en-US" dirty="0" err="1" smtClean="0"/>
              <a:t>Nd</a:t>
            </a:r>
            <a:r>
              <a:rPr lang="en-US" dirty="0" smtClean="0"/>
              <a:t>) </a:t>
            </a:r>
            <a:r>
              <a:rPr lang="en-US" dirty="0"/>
              <a:t>N </a:t>
            </a:r>
            <a:r>
              <a:rPr lang="en-US" dirty="0" smtClean="0"/>
              <a:t>* </a:t>
            </a:r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NPKG </a:t>
            </a:r>
            <a:r>
              <a:rPr lang="en-US" dirty="0"/>
              <a:t>/ </a:t>
            </a:r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NPKG</a:t>
            </a:r>
          </a:p>
          <a:p>
            <a:endParaRPr lang="en-US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en-US" dirty="0"/>
              <a:t>If  </a:t>
            </a:r>
            <a:r>
              <a:rPr lang="sv-SE" b="1" dirty="0" err="1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seriesautoselect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=1 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determine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seriesmargin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en-US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     </a:t>
            </a:r>
            <a:r>
              <a:rPr lang="en-US" dirty="0" smtClean="0"/>
              <a:t>and </a:t>
            </a:r>
            <a:r>
              <a:rPr lang="en-US" dirty="0"/>
              <a:t># of series </a:t>
            </a:r>
            <a:r>
              <a:rPr lang="en-US" dirty="0" smtClean="0"/>
              <a:t>IGBTs </a:t>
            </a:r>
            <a:r>
              <a:rPr lang="en-US" dirty="0"/>
              <a:t>(</a:t>
            </a:r>
            <a:r>
              <a:rPr lang="en-US" dirty="0" smtClean="0"/>
              <a:t>N) by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seriesmargin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/>
              <a:t>*2*max(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OP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Ud</a:t>
            </a:r>
            <a:r>
              <a:rPr lang="sv-SE" dirty="0" smtClean="0"/>
              <a:t>)/</a:t>
            </a:r>
            <a:r>
              <a:rPr lang="sv-SE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 smtClean="0"/>
              <a:t>.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BV</a:t>
            </a:r>
          </a:p>
          <a:p>
            <a:r>
              <a:rPr lang="en-US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     </a:t>
            </a:r>
            <a:r>
              <a:rPr lang="en-US" dirty="0" smtClean="0"/>
              <a:t>Then </a:t>
            </a:r>
            <a:r>
              <a:rPr lang="en-US" dirty="0"/>
              <a:t># of series diodes (</a:t>
            </a:r>
            <a:r>
              <a:rPr lang="en-US" dirty="0" err="1"/>
              <a:t>Nd</a:t>
            </a:r>
            <a:r>
              <a:rPr lang="en-US" dirty="0"/>
              <a:t>) N * </a:t>
            </a:r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/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DI</a:t>
            </a:r>
            <a:r>
              <a:rPr lang="sv-SE" dirty="0"/>
              <a:t>.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NPKG </a:t>
            </a:r>
            <a:r>
              <a:rPr lang="en-US" dirty="0"/>
              <a:t>/ </a:t>
            </a:r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/>
              <a:t>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SW</a:t>
            </a:r>
            <a:r>
              <a:rPr lang="sv-SE" dirty="0"/>
              <a:t>.</a:t>
            </a:r>
            <a:r>
              <a:rPr lang="sv-SE" b="1" dirty="0">
                <a:solidFill>
                  <a:srgbClr val="4472C4"/>
                </a:solidFill>
                <a:latin typeface="Calibri" panose="020F0502020204030204" pitchFamily="34" charset="0"/>
              </a:rPr>
              <a:t>NPKG</a:t>
            </a:r>
          </a:p>
          <a:p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dirty="0" smtClean="0"/>
          </a:p>
          <a:p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en-US" dirty="0" smtClean="0"/>
              <a:t> </a:t>
            </a:r>
            <a:endParaRPr lang="sv-SE" dirty="0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8519160" y="3512820"/>
            <a:ext cx="0" cy="6781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99860" y="4267200"/>
            <a:ext cx="51739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Why do we multiply by 2 ?</a:t>
            </a:r>
          </a:p>
          <a:p>
            <a:endParaRPr lang="en-US" dirty="0"/>
          </a:p>
          <a:p>
            <a:r>
              <a:rPr lang="en-US" dirty="0" smtClean="0"/>
              <a:t>if we select margin as 1.5, we have a DC link 1250 Voltage and semiconductor with 1200V blocking voltage,  our series devices become 3. </a:t>
            </a:r>
          </a:p>
          <a:p>
            <a:endParaRPr lang="en-US" dirty="0" smtClean="0"/>
          </a:p>
          <a:p>
            <a:r>
              <a:rPr lang="en-US" dirty="0" smtClean="0"/>
              <a:t>Using 3 series device seem not logical?</a:t>
            </a:r>
            <a:endParaRPr lang="en-US" dirty="0"/>
          </a:p>
        </p:txBody>
      </p:sp>
      <p:sp>
        <p:nvSpPr>
          <p:cNvPr id="49" name="Title 1"/>
          <p:cNvSpPr>
            <a:spLocks noGrp="1"/>
          </p:cNvSpPr>
          <p:nvPr>
            <p:ph type="title"/>
          </p:nvPr>
        </p:nvSpPr>
        <p:spPr>
          <a:xfrm>
            <a:off x="411480" y="335143"/>
            <a:ext cx="10961269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1. Calculating the number of series IGBTs and Diodes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92970" y="419100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if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latin typeface="Calibri" panose="020F0502020204030204" pitchFamily="34" charset="0"/>
              </a:rPr>
              <a:t>isfield</a:t>
            </a:r>
            <a:r>
              <a:rPr lang="sv-SE" dirty="0">
                <a:latin typeface="Calibri" panose="020F0502020204030204" pitchFamily="34" charset="0"/>
              </a:rPr>
              <a:t>(PC.SC,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seriesautoselct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)</a:t>
            </a: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if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latin typeface="Calibri" panose="020F0502020204030204" pitchFamily="34" charset="0"/>
              </a:rPr>
              <a:t>PC.SC.seriesautoselct</a:t>
            </a:r>
            <a:r>
              <a:rPr lang="sv-SE" dirty="0">
                <a:latin typeface="Calibri" panose="020F0502020204030204" pitchFamily="34" charset="0"/>
              </a:rPr>
              <a:t>, </a:t>
            </a:r>
          </a:p>
          <a:p>
            <a:r>
              <a:rPr lang="sv-SE" dirty="0">
                <a:latin typeface="Calibri" panose="020F0502020204030204" pitchFamily="34" charset="0"/>
              </a:rPr>
              <a:t>N = round(</a:t>
            </a:r>
            <a:r>
              <a:rPr lang="sv-SE" dirty="0" err="1">
                <a:latin typeface="Calibri" panose="020F0502020204030204" pitchFamily="34" charset="0"/>
              </a:rPr>
              <a:t>PC.SC.seriesmargin</a:t>
            </a:r>
            <a:r>
              <a:rPr lang="sv-SE" dirty="0">
                <a:latin typeface="Calibri" panose="020F0502020204030204" pitchFamily="34" charset="0"/>
              </a:rPr>
              <a:t> * 2*max(</a:t>
            </a:r>
            <a:r>
              <a:rPr lang="sv-SE" dirty="0" err="1">
                <a:latin typeface="Calibri" panose="020F0502020204030204" pitchFamily="34" charset="0"/>
              </a:rPr>
              <a:t>OP.Ud</a:t>
            </a:r>
            <a:r>
              <a:rPr lang="sv-SE" dirty="0">
                <a:latin typeface="Calibri" panose="020F0502020204030204" pitchFamily="34" charset="0"/>
              </a:rPr>
              <a:t>)/SCPAR.SW.BV); </a:t>
            </a: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else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N=</a:t>
            </a:r>
            <a:r>
              <a:rPr lang="sv-SE" dirty="0" err="1">
                <a:latin typeface="Calibri" panose="020F0502020204030204" pitchFamily="34" charset="0"/>
              </a:rPr>
              <a:t>PC.SC.Nseries</a:t>
            </a:r>
            <a:r>
              <a:rPr lang="sv-SE" dirty="0">
                <a:latin typeface="Calibri" panose="020F0502020204030204" pitchFamily="34" charset="0"/>
              </a:rPr>
              <a:t>;</a:t>
            </a:r>
          </a:p>
          <a:p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end</a:t>
            </a:r>
            <a:r>
              <a:rPr lang="sv-SE" dirty="0">
                <a:latin typeface="Calibri" panose="020F0502020204030204" pitchFamily="34" charset="0"/>
              </a:rPr>
              <a:t>;</a:t>
            </a:r>
          </a:p>
          <a:p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end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Nd = N*SCPAR.DI.NPKG/SCPAR.SW.NPKG;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no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of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diodes</a:t>
            </a:r>
            <a:endParaRPr lang="sv-SE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99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1"/>
          </p:cNvSpPr>
          <p:nvPr>
            <p:ph type="title"/>
          </p:nvPr>
        </p:nvSpPr>
        <p:spPr>
          <a:xfrm>
            <a:off x="411480" y="335143"/>
            <a:ext cx="10961269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1. Temperature Tolerance and SCLOSS </a:t>
            </a:r>
            <a:r>
              <a:rPr lang="en-US" dirty="0" err="1" smtClean="0">
                <a:solidFill>
                  <a:srgbClr val="C00000"/>
                </a:solidFill>
              </a:rPr>
              <a:t>struct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210717"/>
            <a:ext cx="8724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T0=1/f0; </a:t>
            </a:r>
            <a:r>
              <a:rPr lang="en-US" dirty="0">
                <a:solidFill>
                  <a:srgbClr val="008013"/>
                </a:solidFill>
                <a:latin typeface="Calibri" panose="020F0502020204030204" pitchFamily="34" charset="0"/>
              </a:rPr>
              <a:t>% Fundamental cycle time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</a:rPr>
              <a:t>thiterate</a:t>
            </a:r>
            <a:r>
              <a:rPr lang="en-US" dirty="0">
                <a:latin typeface="Calibri" panose="020F0502020204030204" pitchFamily="34" charset="0"/>
              </a:rPr>
              <a:t> = </a:t>
            </a:r>
            <a:r>
              <a:rPr lang="en-US" dirty="0" err="1">
                <a:latin typeface="Calibri" panose="020F0502020204030204" pitchFamily="34" charset="0"/>
              </a:rPr>
              <a:t>PC.SCTHERM.model</a:t>
            </a:r>
            <a:r>
              <a:rPr lang="en-US" dirty="0">
                <a:latin typeface="Calibri" panose="020F0502020204030204" pitchFamily="34" charset="0"/>
              </a:rPr>
              <a:t> &gt; 1; </a:t>
            </a:r>
            <a:r>
              <a:rPr lang="en-US" dirty="0">
                <a:solidFill>
                  <a:srgbClr val="008013"/>
                </a:solidFill>
                <a:latin typeface="Calibri" panose="020F0502020204030204" pitchFamily="34" charset="0"/>
              </a:rPr>
              <a:t>% Iterate to find proper junction temperatures?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>
                <a:solidFill>
                  <a:srgbClr val="0E00FF"/>
                </a:solidFill>
                <a:latin typeface="Calibri" panose="020F0502020204030204" pitchFamily="34" charset="0"/>
              </a:rPr>
              <a:t>if </a:t>
            </a:r>
            <a:r>
              <a:rPr lang="en-US" dirty="0" err="1">
                <a:latin typeface="Calibri" panose="020F0502020204030204" pitchFamily="34" charset="0"/>
              </a:rPr>
              <a:t>thiterate</a:t>
            </a:r>
            <a:r>
              <a:rPr lang="en-US" dirty="0">
                <a:latin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</a:rPr>
              <a:t>PC.SCTHERM.Tjtol</a:t>
            </a:r>
            <a:r>
              <a:rPr lang="en-US" dirty="0">
                <a:latin typeface="Calibri" panose="020F0502020204030204" pitchFamily="34" charset="0"/>
              </a:rPr>
              <a:t>=0.5; </a:t>
            </a:r>
            <a:r>
              <a:rPr lang="en-US" dirty="0">
                <a:solidFill>
                  <a:srgbClr val="0E00FF"/>
                </a:solidFill>
                <a:latin typeface="Calibri" panose="020F0502020204030204" pitchFamily="34" charset="0"/>
              </a:rPr>
              <a:t>end</a:t>
            </a:r>
            <a:r>
              <a:rPr lang="en-US" dirty="0">
                <a:latin typeface="Calibri" panose="020F0502020204030204" pitchFamily="34" charset="0"/>
              </a:rPr>
              <a:t>; </a:t>
            </a:r>
            <a:r>
              <a:rPr lang="en-US" dirty="0">
                <a:solidFill>
                  <a:srgbClr val="008013"/>
                </a:solidFill>
                <a:latin typeface="Calibri" panose="020F0502020204030204" pitchFamily="34" charset="0"/>
              </a:rPr>
              <a:t>%tolerance in temperature;</a:t>
            </a:r>
            <a:endParaRPr lang="en-US" dirty="0">
              <a:latin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</a:rPr>
              <a:t>npts</a:t>
            </a:r>
            <a:r>
              <a:rPr lang="en-US" dirty="0">
                <a:latin typeface="Calibri" panose="020F0502020204030204" pitchFamily="34" charset="0"/>
              </a:rPr>
              <a:t>=length(Up); </a:t>
            </a:r>
            <a:r>
              <a:rPr lang="en-US" dirty="0">
                <a:solidFill>
                  <a:srgbClr val="008013"/>
                </a:solidFill>
                <a:latin typeface="Calibri" panose="020F0502020204030204" pitchFamily="34" charset="0"/>
              </a:rPr>
              <a:t>% No of time points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00493" y="1210717"/>
            <a:ext cx="227600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SCTHERM.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model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SCTHERM.</a:t>
            </a:r>
            <a:r>
              <a:rPr lang="sv-SE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Tjtol</a:t>
            </a:r>
            <a:endParaRPr lang="sv-SE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SCTHERM.</a:t>
            </a:r>
            <a:r>
              <a:rPr lang="sv-SE" b="1" dirty="0" err="1">
                <a:solidFill>
                  <a:srgbClr val="4472C4"/>
                </a:solidFill>
                <a:latin typeface="Calibri" panose="020F0502020204030204" pitchFamily="34" charset="0"/>
              </a:rPr>
              <a:t>maxiter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en-US" b="1" dirty="0">
              <a:solidFill>
                <a:srgbClr val="4472C4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2921974"/>
            <a:ext cx="88239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Reserve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space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SCLOSS.SW.Tj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'Switch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junction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temperature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'C'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SCLOSS.SW.Pc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'Switch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conduction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SCLOSS.SW.Pton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'Switch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turn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on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SCLOSS.SW.Ptof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'Switch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turn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off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SCLOSS.SW.Ptot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'Switch total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SCLOSS.DI.Tj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Diode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junction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temperature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'C'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SCLOSS.DI.Pc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Diode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conduction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SCLOSS.DI.Ptof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Diode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turn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off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SCLOSS.DI.Ptot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Diode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total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  <a:p>
            <a:r>
              <a:rPr lang="sv-SE" dirty="0" err="1">
                <a:latin typeface="Calibri" panose="020F0502020204030204" pitchFamily="34" charset="0"/>
              </a:rPr>
              <a:t>SCLOSS.Ptot</a:t>
            </a:r>
            <a:r>
              <a:rPr lang="sv-SE" dirty="0">
                <a:latin typeface="Calibri" panose="020F0502020204030204" pitchFamily="34" charset="0"/>
              </a:rPr>
              <a:t>= </a:t>
            </a:r>
            <a:r>
              <a:rPr lang="sv-SE" dirty="0" err="1">
                <a:latin typeface="Calibri" panose="020F0502020204030204" pitchFamily="34" charset="0"/>
              </a:rPr>
              <a:t>plstruc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'Total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semiconductor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losses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>
                <a:latin typeface="Calibri" panose="020F0502020204030204" pitchFamily="34" charset="0"/>
              </a:rPr>
              <a:t>,</a:t>
            </a:r>
            <a:r>
              <a:rPr lang="sv-SE" dirty="0" err="1">
                <a:latin typeface="Calibri" panose="020F0502020204030204" pitchFamily="34" charset="0"/>
              </a:rPr>
              <a:t>zeros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PC.npar,PC.nop</a:t>
            </a:r>
            <a:r>
              <a:rPr lang="sv-SE" dirty="0">
                <a:latin typeface="Calibri" panose="020F0502020204030204" pitchFamily="34" charset="0"/>
              </a:rPr>
              <a:t>),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'W'</a:t>
            </a:r>
            <a:r>
              <a:rPr lang="sv-SE" dirty="0">
                <a:latin typeface="Calibri" panose="020F0502020204030204" pitchFamily="34" charset="0"/>
              </a:rPr>
              <a:t>,1);</a:t>
            </a:r>
          </a:p>
        </p:txBody>
      </p:sp>
    </p:spTree>
    <p:extLst>
      <p:ext uri="{BB962C8B-B14F-4D97-AF65-F5344CB8AC3E}">
        <p14:creationId xmlns:p14="http://schemas.microsoft.com/office/powerpoint/2010/main" val="307131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534799"/>
            <a:ext cx="82524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Check dimension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of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voltage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and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vectors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if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latin typeface="Calibri" panose="020F0502020204030204" pitchFamily="34" charset="0"/>
              </a:rPr>
              <a:t>size</a:t>
            </a:r>
            <a:r>
              <a:rPr lang="sv-SE" dirty="0">
                <a:latin typeface="Calibri" panose="020F0502020204030204" pitchFamily="34" charset="0"/>
              </a:rPr>
              <a:t>(Up,1) == </a:t>
            </a:r>
            <a:r>
              <a:rPr lang="sv-SE" dirty="0" err="1">
                <a:latin typeface="Calibri" panose="020F0502020204030204" pitchFamily="34" charset="0"/>
              </a:rPr>
              <a:t>PC.npar</a:t>
            </a:r>
            <a:r>
              <a:rPr lang="sv-SE" dirty="0">
                <a:latin typeface="Calibri" panose="020F0502020204030204" pitchFamily="34" charset="0"/>
              </a:rPr>
              <a:t>*</a:t>
            </a:r>
            <a:r>
              <a:rPr lang="sv-SE" dirty="0" err="1">
                <a:latin typeface="Calibri" panose="020F0502020204030204" pitchFamily="34" charset="0"/>
              </a:rPr>
              <a:t>PC.nop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varsizeopt</a:t>
            </a:r>
            <a:r>
              <a:rPr lang="sv-SE" dirty="0">
                <a:latin typeface="Calibri" panose="020F0502020204030204" pitchFamily="34" charset="0"/>
              </a:rPr>
              <a:t> =1;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option 1 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elseif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latin typeface="Calibri" panose="020F0502020204030204" pitchFamily="34" charset="0"/>
              </a:rPr>
              <a:t>size</a:t>
            </a:r>
            <a:r>
              <a:rPr lang="sv-SE" dirty="0">
                <a:latin typeface="Calibri" panose="020F0502020204030204" pitchFamily="34" charset="0"/>
              </a:rPr>
              <a:t>(Up,1) == </a:t>
            </a:r>
            <a:r>
              <a:rPr lang="sv-SE" dirty="0" err="1">
                <a:latin typeface="Calibri" panose="020F0502020204030204" pitchFamily="34" charset="0"/>
              </a:rPr>
              <a:t>PC.npar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varsizeopt</a:t>
            </a:r>
            <a:r>
              <a:rPr lang="sv-SE" dirty="0">
                <a:latin typeface="Calibri" panose="020F0502020204030204" pitchFamily="34" charset="0"/>
              </a:rPr>
              <a:t> =2;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option 2 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elseif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latin typeface="Calibri" panose="020F0502020204030204" pitchFamily="34" charset="0"/>
              </a:rPr>
              <a:t>size</a:t>
            </a:r>
            <a:r>
              <a:rPr lang="sv-SE" dirty="0">
                <a:latin typeface="Calibri" panose="020F0502020204030204" pitchFamily="34" charset="0"/>
              </a:rPr>
              <a:t>(Up,1) == 1</a:t>
            </a:r>
          </a:p>
          <a:p>
            <a:r>
              <a:rPr lang="sv-SE" dirty="0" err="1">
                <a:latin typeface="Calibri" panose="020F0502020204030204" pitchFamily="34" charset="0"/>
              </a:rPr>
              <a:t>varsizeopt</a:t>
            </a:r>
            <a:r>
              <a:rPr lang="sv-SE" dirty="0">
                <a:latin typeface="Calibri" panose="020F0502020204030204" pitchFamily="34" charset="0"/>
              </a:rPr>
              <a:t> =3;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option 3 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else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error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'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Wrong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dimension </a:t>
            </a:r>
            <a:r>
              <a:rPr lang="sv-SE" dirty="0" err="1">
                <a:solidFill>
                  <a:srgbClr val="A709F5"/>
                </a:solidFill>
                <a:latin typeface="Calibri" panose="020F0502020204030204" pitchFamily="34" charset="0"/>
              </a:rPr>
              <a:t>of</a:t>
            </a:r>
            <a:r>
              <a:rPr lang="sv-SE" dirty="0">
                <a:solidFill>
                  <a:srgbClr val="A709F5"/>
                </a:solidFill>
                <a:latin typeface="Calibri" panose="020F0502020204030204" pitchFamily="34" charset="0"/>
              </a:rPr>
              <a:t> '</a:t>
            </a:r>
            <a:r>
              <a:rPr lang="sv-SE" dirty="0">
                <a:latin typeface="Calibri" panose="020F0502020204030204" pitchFamily="34" charset="0"/>
              </a:rPr>
              <a:t>)</a:t>
            </a:r>
          </a:p>
          <a:p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end</a:t>
            </a:r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8680" y="3778268"/>
            <a:ext cx="110642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npar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dirty="0" smtClean="0">
                <a:latin typeface="Calibri" panose="020F0502020204030204" pitchFamily="34" charset="0"/>
              </a:rPr>
              <a:t>is </a:t>
            </a:r>
            <a:r>
              <a:rPr lang="sv-SE" dirty="0" err="1" smtClean="0">
                <a:latin typeface="Calibri" panose="020F0502020204030204" pitchFamily="34" charset="0"/>
              </a:rPr>
              <a:t>related</a:t>
            </a:r>
            <a:r>
              <a:rPr lang="sv-SE" dirty="0" smtClean="0">
                <a:latin typeface="Calibri" panose="020F0502020204030204" pitchFamily="34" charset="0"/>
              </a:rPr>
              <a:t> to the </a:t>
            </a:r>
            <a:r>
              <a:rPr lang="sv-SE" dirty="0" err="1" smtClean="0">
                <a:latin typeface="Calibri" panose="020F0502020204030204" pitchFamily="34" charset="0"/>
              </a:rPr>
              <a:t>selection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dirty="0" err="1" smtClean="0">
                <a:latin typeface="Calibri" panose="020F0502020204030204" pitchFamily="34" charset="0"/>
              </a:rPr>
              <a:t>of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dirty="0" err="1" smtClean="0">
                <a:latin typeface="Calibri" panose="020F0502020204030204" pitchFamily="34" charset="0"/>
              </a:rPr>
              <a:t>igbtareascale</a:t>
            </a:r>
            <a:r>
              <a:rPr lang="sv-SE" dirty="0" smtClean="0">
                <a:latin typeface="Calibri" panose="020F0502020204030204" pitchFamily="34" charset="0"/>
              </a:rPr>
              <a:t>/</a:t>
            </a:r>
            <a:r>
              <a:rPr lang="sv-SE" dirty="0" err="1" smtClean="0">
                <a:latin typeface="Calibri" panose="020F0502020204030204" pitchFamily="34" charset="0"/>
              </a:rPr>
              <a:t>diodearescale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igbtareascale</a:t>
            </a:r>
            <a:r>
              <a:rPr lang="sv-SE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SCPAR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diodeareascale</a:t>
            </a:r>
            <a:endParaRPr lang="sv-SE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dirty="0" smtClean="0">
                <a:latin typeface="Calibri" panose="020F0502020204030204" pitchFamily="34" charset="0"/>
              </a:rPr>
              <a:t>  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  </a:t>
            </a:r>
            <a:endParaRPr lang="en-US" b="1" dirty="0" smtClean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PC.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nop</a:t>
            </a:r>
            <a:r>
              <a:rPr lang="sv-SE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dirty="0">
                <a:latin typeface="Calibri" panose="020F0502020204030204" pitchFamily="34" charset="0"/>
              </a:rPr>
              <a:t>is </a:t>
            </a:r>
            <a:r>
              <a:rPr lang="sv-SE" dirty="0" err="1">
                <a:latin typeface="Calibri" panose="020F0502020204030204" pitchFamily="34" charset="0"/>
              </a:rPr>
              <a:t>related</a:t>
            </a:r>
            <a:r>
              <a:rPr lang="sv-SE" dirty="0">
                <a:latin typeface="Calibri" panose="020F0502020204030204" pitchFamily="34" charset="0"/>
              </a:rPr>
              <a:t> to the </a:t>
            </a:r>
            <a:r>
              <a:rPr lang="sv-SE" dirty="0" err="1">
                <a:latin typeface="Calibri" panose="020F0502020204030204" pitchFamily="34" charset="0"/>
              </a:rPr>
              <a:t>selection</a:t>
            </a:r>
            <a:r>
              <a:rPr lang="sv-SE" dirty="0">
                <a:latin typeface="Calibri" panose="020F0502020204030204" pitchFamily="34" charset="0"/>
              </a:rPr>
              <a:t> </a:t>
            </a:r>
            <a:r>
              <a:rPr lang="sv-SE" dirty="0" err="1">
                <a:latin typeface="Calibri" panose="020F0502020204030204" pitchFamily="34" charset="0"/>
              </a:rPr>
              <a:t>of</a:t>
            </a:r>
            <a:r>
              <a:rPr lang="sv-SE" dirty="0">
                <a:latin typeface="Calibri" panose="020F0502020204030204" pitchFamily="34" charset="0"/>
              </a:rPr>
              <a:t> </a:t>
            </a:r>
            <a:r>
              <a:rPr lang="sv-SE" dirty="0" smtClean="0">
                <a:latin typeface="Calibri" panose="020F0502020204030204" pitchFamily="34" charset="0"/>
              </a:rPr>
              <a:t>operating </a:t>
            </a:r>
            <a:r>
              <a:rPr lang="sv-SE" dirty="0" err="1" smtClean="0">
                <a:latin typeface="Calibri" panose="020F0502020204030204" pitchFamily="34" charset="0"/>
              </a:rPr>
              <a:t>condition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OP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Ta</a:t>
            </a:r>
            <a:r>
              <a:rPr lang="sv-SE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sv-SE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OP</a:t>
            </a:r>
            <a:r>
              <a:rPr lang="sv-SE" dirty="0" err="1" smtClean="0"/>
              <a:t>.</a:t>
            </a:r>
            <a:r>
              <a:rPr lang="sv-SE" b="1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Ud</a:t>
            </a:r>
            <a:endParaRPr lang="sv-SE" dirty="0"/>
          </a:p>
        </p:txBody>
      </p:sp>
      <p:sp>
        <p:nvSpPr>
          <p:cNvPr id="5" name="Rectangle 4"/>
          <p:cNvSpPr/>
          <p:nvPr/>
        </p:nvSpPr>
        <p:spPr>
          <a:xfrm>
            <a:off x="6004560" y="534799"/>
            <a:ext cx="6096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Extract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vectors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with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phase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and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voltage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for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this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point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switch </a:t>
            </a:r>
            <a:r>
              <a:rPr lang="sv-SE" dirty="0" err="1">
                <a:latin typeface="Calibri" panose="020F0502020204030204" pitchFamily="34" charset="0"/>
              </a:rPr>
              <a:t>varsizeopt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case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>
                <a:latin typeface="Calibri" panose="020F0502020204030204" pitchFamily="34" charset="0"/>
              </a:rPr>
              <a:t>1</a:t>
            </a:r>
          </a:p>
          <a:p>
            <a:r>
              <a:rPr lang="sv-SE" dirty="0" err="1">
                <a:latin typeface="Calibri" panose="020F0502020204030204" pitchFamily="34" charset="0"/>
              </a:rPr>
              <a:t>varindex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kop</a:t>
            </a:r>
            <a:r>
              <a:rPr lang="sv-SE" dirty="0">
                <a:latin typeface="Calibri" panose="020F0502020204030204" pitchFamily="34" charset="0"/>
              </a:rPr>
              <a:t>+(kpar-1)*</a:t>
            </a:r>
            <a:r>
              <a:rPr lang="sv-SE" dirty="0" err="1">
                <a:latin typeface="Calibri" panose="020F0502020204030204" pitchFamily="34" charset="0"/>
              </a:rPr>
              <a:t>PC.nop</a:t>
            </a:r>
            <a:r>
              <a:rPr lang="sv-SE" dirty="0">
                <a:latin typeface="Calibri" panose="020F0502020204030204" pitchFamily="34" charset="0"/>
              </a:rPr>
              <a:t>;</a:t>
            </a: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case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>
                <a:latin typeface="Calibri" panose="020F0502020204030204" pitchFamily="34" charset="0"/>
              </a:rPr>
              <a:t>2</a:t>
            </a:r>
          </a:p>
          <a:p>
            <a:r>
              <a:rPr lang="sv-SE" dirty="0" err="1">
                <a:latin typeface="Calibri" panose="020F0502020204030204" pitchFamily="34" charset="0"/>
              </a:rPr>
              <a:t>varindex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;</a:t>
            </a:r>
          </a:p>
          <a:p>
            <a:r>
              <a:rPr lang="sv-SE" dirty="0" err="1">
                <a:solidFill>
                  <a:srgbClr val="0E00FF"/>
                </a:solidFill>
                <a:latin typeface="Calibri" panose="020F0502020204030204" pitchFamily="34" charset="0"/>
              </a:rPr>
              <a:t>case</a:t>
            </a:r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 </a:t>
            </a:r>
            <a:r>
              <a:rPr lang="sv-SE" dirty="0">
                <a:latin typeface="Calibri" panose="020F0502020204030204" pitchFamily="34" charset="0"/>
              </a:rPr>
              <a:t>3</a:t>
            </a:r>
          </a:p>
          <a:p>
            <a:r>
              <a:rPr lang="sv-SE" dirty="0" err="1">
                <a:latin typeface="Calibri" panose="020F0502020204030204" pitchFamily="34" charset="0"/>
              </a:rPr>
              <a:t>varindex</a:t>
            </a:r>
            <a:r>
              <a:rPr lang="sv-SE" dirty="0">
                <a:latin typeface="Calibri" panose="020F0502020204030204" pitchFamily="34" charset="0"/>
              </a:rPr>
              <a:t> = 1;</a:t>
            </a:r>
          </a:p>
          <a:p>
            <a:r>
              <a:rPr lang="sv-SE" dirty="0">
                <a:solidFill>
                  <a:srgbClr val="0E00FF"/>
                </a:solidFill>
                <a:latin typeface="Calibri" panose="020F0502020204030204" pitchFamily="34" charset="0"/>
              </a:rPr>
              <a:t>end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Ip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varindex</a:t>
            </a:r>
            <a:r>
              <a:rPr lang="sv-SE" dirty="0">
                <a:latin typeface="Calibri" panose="020F0502020204030204" pitchFamily="34" charset="0"/>
              </a:rPr>
              <a:t>,:);</a:t>
            </a:r>
          </a:p>
          <a:p>
            <a:r>
              <a:rPr lang="sv-SE" dirty="0" err="1">
                <a:latin typeface="Calibri" panose="020F0502020204030204" pitchFamily="34" charset="0"/>
              </a:rPr>
              <a:t>Upk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Up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varindex</a:t>
            </a:r>
            <a:r>
              <a:rPr lang="sv-SE" dirty="0">
                <a:latin typeface="Calibri" panose="020F0502020204030204" pitchFamily="34" charset="0"/>
              </a:rPr>
              <a:t>,:); </a:t>
            </a:r>
          </a:p>
          <a:p>
            <a:r>
              <a:rPr lang="sv-SE" dirty="0">
                <a:latin typeface="Calibri" panose="020F0502020204030204" pitchFamily="34" charset="0"/>
              </a:rPr>
              <a:t/>
            </a:r>
            <a:br>
              <a:rPr lang="sv-SE" dirty="0">
                <a:latin typeface="Calibri" panose="020F0502020204030204" pitchFamily="34" charset="0"/>
              </a:rPr>
            </a:br>
            <a:endParaRPr lang="sv-SE" dirty="0">
              <a:latin typeface="Calibri" panose="020F0502020204030204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416040" y="4701598"/>
            <a:ext cx="0" cy="464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10100" y="5176176"/>
            <a:ext cx="398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should update the plot script as well</a:t>
            </a:r>
            <a:endParaRPr lang="sv-SE" dirty="0"/>
          </a:p>
        </p:txBody>
      </p:sp>
      <p:sp>
        <p:nvSpPr>
          <p:cNvPr id="10" name="Rectangle 9"/>
          <p:cNvSpPr/>
          <p:nvPr/>
        </p:nvSpPr>
        <p:spPr>
          <a:xfrm>
            <a:off x="4145280" y="56398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sv-SE" dirty="0" err="1"/>
              <a:t>PC.npar</a:t>
            </a:r>
            <a:r>
              <a:rPr lang="sv-SE" dirty="0"/>
              <a:t>=</a:t>
            </a:r>
            <a:r>
              <a:rPr lang="sv-SE" dirty="0" err="1"/>
              <a:t>length</a:t>
            </a:r>
            <a:r>
              <a:rPr lang="sv-SE" dirty="0"/>
              <a:t>(</a:t>
            </a:r>
            <a:r>
              <a:rPr lang="sv-SE" dirty="0" err="1"/>
              <a:t>SCPAR.diodeareascale</a:t>
            </a:r>
            <a:r>
              <a:rPr lang="sv-SE" dirty="0"/>
              <a:t>);</a:t>
            </a:r>
          </a:p>
          <a:p>
            <a:r>
              <a:rPr lang="sv-SE" dirty="0" err="1"/>
              <a:t>PC.nop</a:t>
            </a:r>
            <a:r>
              <a:rPr lang="sv-SE" dirty="0"/>
              <a:t>=</a:t>
            </a:r>
            <a:r>
              <a:rPr lang="sv-SE" dirty="0" err="1"/>
              <a:t>length</a:t>
            </a:r>
            <a:r>
              <a:rPr lang="sv-SE" dirty="0"/>
              <a:t>(</a:t>
            </a:r>
            <a:r>
              <a:rPr lang="sv-SE" dirty="0" err="1"/>
              <a:t>OP.Ud</a:t>
            </a:r>
            <a:r>
              <a:rPr lang="sv-SE" dirty="0"/>
              <a:t>);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23925" y="0"/>
            <a:ext cx="10961269" cy="641645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Creating Loop for different operation point and area scales</a:t>
            </a:r>
            <a:endParaRPr lang="sv-SE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36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" y="934224"/>
            <a:ext cx="121539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>
                <a:latin typeface="Calibri" panose="020F0502020204030204" pitchFamily="34" charset="0"/>
              </a:rPr>
              <a:t>sw</a:t>
            </a:r>
            <a:r>
              <a:rPr lang="sv-SE" dirty="0">
                <a:latin typeface="Calibri" panose="020F0502020204030204" pitchFamily="34" charset="0"/>
              </a:rPr>
              <a:t> = (</a:t>
            </a:r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&gt;=0&amp;Upk&gt;0) | (</a:t>
            </a:r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&lt;0&amp;Upk&lt;=0);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=1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when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passes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through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switch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di = ~</a:t>
            </a:r>
            <a:r>
              <a:rPr lang="sv-SE" dirty="0" err="1">
                <a:latin typeface="Calibri" panose="020F0502020204030204" pitchFamily="34" charset="0"/>
              </a:rPr>
              <a:t>sw</a:t>
            </a:r>
            <a:r>
              <a:rPr lang="sv-SE" dirty="0">
                <a:latin typeface="Calibri" panose="020F0502020204030204" pitchFamily="34" charset="0"/>
              </a:rPr>
              <a:t>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=1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when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passes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through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Isw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abs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.*</a:t>
            </a:r>
            <a:r>
              <a:rPr lang="sv-SE" dirty="0" err="1">
                <a:latin typeface="Calibri" panose="020F0502020204030204" pitchFamily="34" charset="0"/>
              </a:rPr>
              <a:t>sw</a:t>
            </a:r>
            <a:r>
              <a:rPr lang="sv-SE" dirty="0">
                <a:latin typeface="Calibri" panose="020F0502020204030204" pitchFamily="34" charset="0"/>
              </a:rPr>
              <a:t>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through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switch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Idi = </a:t>
            </a:r>
            <a:r>
              <a:rPr lang="sv-SE" dirty="0" err="1">
                <a:latin typeface="Calibri" panose="020F0502020204030204" pitchFamily="34" charset="0"/>
              </a:rPr>
              <a:t>abs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.*di);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through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comm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sw</a:t>
            </a:r>
            <a:r>
              <a:rPr lang="sv-SE" dirty="0">
                <a:latin typeface="Calibri" panose="020F0502020204030204" pitchFamily="34" charset="0"/>
              </a:rPr>
              <a:t> - [</a:t>
            </a:r>
            <a:r>
              <a:rPr lang="sv-SE" dirty="0" err="1">
                <a:latin typeface="Calibri" panose="020F0502020204030204" pitchFamily="34" charset="0"/>
              </a:rPr>
              <a:t>sw</a:t>
            </a:r>
            <a:r>
              <a:rPr lang="sv-SE" dirty="0">
                <a:latin typeface="Calibri" panose="020F0502020204030204" pitchFamily="34" charset="0"/>
              </a:rPr>
              <a:t>(end) </a:t>
            </a:r>
            <a:r>
              <a:rPr lang="sv-SE" dirty="0" err="1">
                <a:latin typeface="Calibri" panose="020F0502020204030204" pitchFamily="34" charset="0"/>
              </a:rPr>
              <a:t>sw</a:t>
            </a:r>
            <a:r>
              <a:rPr lang="sv-SE" dirty="0">
                <a:latin typeface="Calibri" panose="020F0502020204030204" pitchFamily="34" charset="0"/>
              </a:rPr>
              <a:t>(1:end-1)];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Nonzero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at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commutations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(NOTE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includes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natural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as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well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as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forced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commutations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)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s2d=</a:t>
            </a:r>
            <a:r>
              <a:rPr lang="sv-SE" dirty="0" err="1">
                <a:latin typeface="Calibri" panose="020F0502020204030204" pitchFamily="34" charset="0"/>
              </a:rPr>
              <a:t>find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comm</a:t>
            </a:r>
            <a:r>
              <a:rPr lang="sv-SE" dirty="0">
                <a:latin typeface="Calibri" panose="020F0502020204030204" pitchFamily="34" charset="0"/>
              </a:rPr>
              <a:t> &lt; -</a:t>
            </a:r>
            <a:r>
              <a:rPr lang="sv-SE" dirty="0" err="1">
                <a:latin typeface="Calibri" panose="020F0502020204030204" pitchFamily="34" charset="0"/>
              </a:rPr>
              <a:t>eps</a:t>
            </a:r>
            <a:r>
              <a:rPr lang="sv-SE" dirty="0">
                <a:latin typeface="Calibri" panose="020F0502020204030204" pitchFamily="34" charset="0"/>
              </a:rPr>
              <a:t>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Find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the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instants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(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samples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)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when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commutates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from switch to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d2s=</a:t>
            </a:r>
            <a:r>
              <a:rPr lang="sv-SE" dirty="0" err="1">
                <a:latin typeface="Calibri" panose="020F0502020204030204" pitchFamily="34" charset="0"/>
              </a:rPr>
              <a:t>find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comm</a:t>
            </a:r>
            <a:r>
              <a:rPr lang="sv-SE" dirty="0">
                <a:latin typeface="Calibri" panose="020F0502020204030204" pitchFamily="34" charset="0"/>
              </a:rPr>
              <a:t> &gt; </a:t>
            </a:r>
            <a:r>
              <a:rPr lang="sv-SE" dirty="0" err="1">
                <a:latin typeface="Calibri" panose="020F0502020204030204" pitchFamily="34" charset="0"/>
              </a:rPr>
              <a:t>eps</a:t>
            </a:r>
            <a:r>
              <a:rPr lang="sv-SE" dirty="0">
                <a:latin typeface="Calibri" panose="020F0502020204030204" pitchFamily="34" charset="0"/>
              </a:rPr>
              <a:t>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Find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the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instants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(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samples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)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when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commutates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from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to switch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is2d = </a:t>
            </a:r>
            <a:r>
              <a:rPr lang="sv-SE" dirty="0" err="1">
                <a:latin typeface="Calibri" panose="020F0502020204030204" pitchFamily="34" charset="0"/>
              </a:rPr>
              <a:t>abs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(s2d));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at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commutations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switch to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id2s = </a:t>
            </a:r>
            <a:r>
              <a:rPr lang="sv-SE" dirty="0" err="1">
                <a:latin typeface="Calibri" panose="020F0502020204030204" pitchFamily="34" charset="0"/>
              </a:rPr>
              <a:t>abs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Ipk</a:t>
            </a:r>
            <a:r>
              <a:rPr lang="sv-SE" dirty="0">
                <a:latin typeface="Calibri" panose="020F0502020204030204" pitchFamily="34" charset="0"/>
              </a:rPr>
              <a:t>(d2s));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Current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at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commutations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diode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to switch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Tjdi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OP.Ta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kop</a:t>
            </a:r>
            <a:r>
              <a:rPr lang="sv-SE" dirty="0">
                <a:latin typeface="Calibri" panose="020F0502020204030204" pitchFamily="34" charset="0"/>
              </a:rPr>
              <a:t>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Inital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junction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temp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value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for iteration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Tjsw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OP.Ta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kop</a:t>
            </a:r>
            <a:r>
              <a:rPr lang="sv-SE" dirty="0">
                <a:latin typeface="Calibri" panose="020F0502020204030204" pitchFamily="34" charset="0"/>
              </a:rPr>
              <a:t>);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Inital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junction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temp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value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for iteration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>
                <a:latin typeface="Calibri" panose="020F0502020204030204" pitchFamily="34" charset="0"/>
              </a:rPr>
              <a:t>niter=0</a:t>
            </a:r>
            <a:r>
              <a:rPr lang="sv-SE" dirty="0" smtClean="0">
                <a:latin typeface="Calibri" panose="020F0502020204030204" pitchFamily="34" charset="0"/>
              </a:rPr>
              <a:t>;</a:t>
            </a:r>
          </a:p>
          <a:p>
            <a:r>
              <a:rPr lang="sv-SE" dirty="0"/>
              <a:t>go=1</a:t>
            </a:r>
            <a:r>
              <a:rPr lang="sv-SE" dirty="0" smtClean="0"/>
              <a:t>;</a:t>
            </a:r>
            <a:endParaRPr lang="sv-SE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165" y="121920"/>
            <a:ext cx="10961269" cy="641645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Finding devices currents and commutations</a:t>
            </a:r>
            <a:endParaRPr lang="sv-SE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394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165" y="121920"/>
            <a:ext cx="10961269" cy="641645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</a:rPr>
              <a:t>Thermal iteration-Loss Calculation</a:t>
            </a:r>
            <a:endParaRPr lang="sv-SE" sz="32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2419" y="628085"/>
            <a:ext cx="11414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dirty="0"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299" y="751570"/>
            <a:ext cx="12039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>
                <a:latin typeface="Calibri" panose="020F0502020204030204" pitchFamily="34" charset="0"/>
              </a:rPr>
              <a:t>Pcsw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Isw</a:t>
            </a:r>
            <a:r>
              <a:rPr lang="sv-SE" dirty="0">
                <a:latin typeface="Calibri" panose="020F0502020204030204" pitchFamily="34" charset="0"/>
              </a:rPr>
              <a:t>*Von(</a:t>
            </a:r>
            <a:r>
              <a:rPr lang="sv-SE" dirty="0" err="1">
                <a:latin typeface="Calibri" panose="020F0502020204030204" pitchFamily="34" charset="0"/>
              </a:rPr>
              <a:t>SCPAR.SW.ON,Tjsw,Isw</a:t>
            </a:r>
            <a:r>
              <a:rPr lang="sv-SE" dirty="0">
                <a:latin typeface="Calibri" panose="020F0502020204030204" pitchFamily="34" charset="0"/>
              </a:rPr>
              <a:t>/</a:t>
            </a:r>
            <a:r>
              <a:rPr lang="sv-SE" dirty="0" err="1">
                <a:latin typeface="Calibri" panose="020F0502020204030204" pitchFamily="34" charset="0"/>
              </a:rPr>
              <a:t>SCPAR.igbtareascale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))/</a:t>
            </a:r>
            <a:r>
              <a:rPr lang="sv-SE" dirty="0" err="1">
                <a:latin typeface="Calibri" panose="020F0502020204030204" pitchFamily="34" charset="0"/>
              </a:rPr>
              <a:t>npts</a:t>
            </a:r>
            <a:r>
              <a:rPr lang="sv-SE" dirty="0">
                <a:latin typeface="Calibri" panose="020F0502020204030204" pitchFamily="34" charset="0"/>
              </a:rPr>
              <a:t>/2; 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% '/2' -&gt; Loss in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one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of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two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devices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in a </a:t>
            </a:r>
            <a:r>
              <a:rPr lang="sv-SE" dirty="0" err="1">
                <a:solidFill>
                  <a:srgbClr val="008013"/>
                </a:solidFill>
                <a:latin typeface="Calibri" panose="020F0502020204030204" pitchFamily="34" charset="0"/>
              </a:rPr>
              <a:t>phase</a:t>
            </a:r>
            <a:r>
              <a:rPr lang="sv-SE" dirty="0">
                <a:solidFill>
                  <a:srgbClr val="008013"/>
                </a:solidFill>
                <a:latin typeface="Calibri" panose="020F0502020204030204" pitchFamily="34" charset="0"/>
              </a:rPr>
              <a:t> leg</a:t>
            </a:r>
            <a:endParaRPr lang="sv-SE" dirty="0">
              <a:latin typeface="Calibri" panose="020F0502020204030204" pitchFamily="34" charset="0"/>
            </a:endParaRPr>
          </a:p>
          <a:p>
            <a:r>
              <a:rPr lang="sv-SE" dirty="0" err="1">
                <a:latin typeface="Calibri" panose="020F0502020204030204" pitchFamily="34" charset="0"/>
              </a:rPr>
              <a:t>Pcdi</a:t>
            </a:r>
            <a:r>
              <a:rPr lang="sv-SE" dirty="0">
                <a:latin typeface="Calibri" panose="020F0502020204030204" pitchFamily="34" charset="0"/>
              </a:rPr>
              <a:t> = Idi*Von(</a:t>
            </a:r>
            <a:r>
              <a:rPr lang="sv-SE" dirty="0" err="1">
                <a:latin typeface="Calibri" panose="020F0502020204030204" pitchFamily="34" charset="0"/>
              </a:rPr>
              <a:t>SCPAR.DI.ON,Tjdi,Idi</a:t>
            </a:r>
            <a:r>
              <a:rPr lang="sv-SE" dirty="0">
                <a:latin typeface="Calibri" panose="020F0502020204030204" pitchFamily="34" charset="0"/>
              </a:rPr>
              <a:t>/</a:t>
            </a:r>
            <a:r>
              <a:rPr lang="sv-SE" dirty="0" err="1">
                <a:latin typeface="Calibri" panose="020F0502020204030204" pitchFamily="34" charset="0"/>
              </a:rPr>
              <a:t>SCPAR.diodeareascale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))/</a:t>
            </a:r>
            <a:r>
              <a:rPr lang="sv-SE" dirty="0" err="1">
                <a:latin typeface="Calibri" panose="020F0502020204030204" pitchFamily="34" charset="0"/>
              </a:rPr>
              <a:t>npts</a:t>
            </a:r>
            <a:r>
              <a:rPr lang="sv-SE" dirty="0">
                <a:latin typeface="Calibri" panose="020F0502020204030204" pitchFamily="34" charset="0"/>
              </a:rPr>
              <a:t>/2;</a:t>
            </a:r>
          </a:p>
          <a:p>
            <a:r>
              <a:rPr lang="sv-SE" dirty="0" err="1">
                <a:latin typeface="Calibri" panose="020F0502020204030204" pitchFamily="34" charset="0"/>
              </a:rPr>
              <a:t>Ptonsw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SCPAR.igbtareascale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)*</a:t>
            </a:r>
            <a:r>
              <a:rPr lang="sv-SE" dirty="0" err="1">
                <a:latin typeface="Calibri" panose="020F0502020204030204" pitchFamily="34" charset="0"/>
              </a:rPr>
              <a:t>sum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swloss_calc</a:t>
            </a:r>
            <a:r>
              <a:rPr lang="sv-SE" dirty="0">
                <a:latin typeface="Calibri" panose="020F0502020204030204" pitchFamily="34" charset="0"/>
              </a:rPr>
              <a:t>(SCPAR.SW.TON , </a:t>
            </a:r>
            <a:r>
              <a:rPr lang="sv-SE" dirty="0" err="1">
                <a:latin typeface="Calibri" panose="020F0502020204030204" pitchFamily="34" charset="0"/>
              </a:rPr>
              <a:t>Tjsw</a:t>
            </a:r>
            <a:r>
              <a:rPr lang="sv-SE" dirty="0">
                <a:latin typeface="Calibri" panose="020F0502020204030204" pitchFamily="34" charset="0"/>
              </a:rPr>
              <a:t> , 2*</a:t>
            </a:r>
            <a:r>
              <a:rPr lang="sv-SE" dirty="0" err="1">
                <a:latin typeface="Calibri" panose="020F0502020204030204" pitchFamily="34" charset="0"/>
              </a:rPr>
              <a:t>OP.Ud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kop</a:t>
            </a:r>
            <a:r>
              <a:rPr lang="sv-SE" dirty="0">
                <a:latin typeface="Calibri" panose="020F0502020204030204" pitchFamily="34" charset="0"/>
              </a:rPr>
              <a:t>)/N , id2s/</a:t>
            </a:r>
            <a:r>
              <a:rPr lang="sv-SE" dirty="0" err="1">
                <a:latin typeface="Calibri" panose="020F0502020204030204" pitchFamily="34" charset="0"/>
              </a:rPr>
              <a:t>SCPAR.igbtareascale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))) / T0 / 2;</a:t>
            </a:r>
          </a:p>
          <a:p>
            <a:r>
              <a:rPr lang="sv-SE" dirty="0" err="1">
                <a:latin typeface="Calibri" panose="020F0502020204030204" pitchFamily="34" charset="0"/>
              </a:rPr>
              <a:t>Ptofsw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SCPAR.igbtareascale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)*</a:t>
            </a:r>
            <a:r>
              <a:rPr lang="sv-SE" dirty="0" err="1">
                <a:latin typeface="Calibri" panose="020F0502020204030204" pitchFamily="34" charset="0"/>
              </a:rPr>
              <a:t>sum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swloss_calc</a:t>
            </a:r>
            <a:r>
              <a:rPr lang="sv-SE" dirty="0">
                <a:latin typeface="Calibri" panose="020F0502020204030204" pitchFamily="34" charset="0"/>
              </a:rPr>
              <a:t>(SCPAR.SW.TOF , </a:t>
            </a:r>
            <a:r>
              <a:rPr lang="sv-SE" dirty="0" err="1">
                <a:latin typeface="Calibri" panose="020F0502020204030204" pitchFamily="34" charset="0"/>
              </a:rPr>
              <a:t>Tjsw</a:t>
            </a:r>
            <a:r>
              <a:rPr lang="sv-SE" dirty="0">
                <a:latin typeface="Calibri" panose="020F0502020204030204" pitchFamily="34" charset="0"/>
              </a:rPr>
              <a:t> , 2*</a:t>
            </a:r>
            <a:r>
              <a:rPr lang="sv-SE" dirty="0" err="1">
                <a:latin typeface="Calibri" panose="020F0502020204030204" pitchFamily="34" charset="0"/>
              </a:rPr>
              <a:t>OP.Ud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kop</a:t>
            </a:r>
            <a:r>
              <a:rPr lang="sv-SE" dirty="0">
                <a:latin typeface="Calibri" panose="020F0502020204030204" pitchFamily="34" charset="0"/>
              </a:rPr>
              <a:t>)/N , is2d/</a:t>
            </a:r>
            <a:r>
              <a:rPr lang="sv-SE" dirty="0" err="1">
                <a:latin typeface="Calibri" panose="020F0502020204030204" pitchFamily="34" charset="0"/>
              </a:rPr>
              <a:t>SCPAR.igbtareascale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))) / T0 / 2;</a:t>
            </a:r>
          </a:p>
          <a:p>
            <a:r>
              <a:rPr lang="sv-SE" dirty="0" err="1">
                <a:latin typeface="Calibri" panose="020F0502020204030204" pitchFamily="34" charset="0"/>
              </a:rPr>
              <a:t>Ptofdi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SCPAR.diodeareascale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)*</a:t>
            </a:r>
            <a:r>
              <a:rPr lang="sv-SE" dirty="0" err="1">
                <a:latin typeface="Calibri" panose="020F0502020204030204" pitchFamily="34" charset="0"/>
              </a:rPr>
              <a:t>sum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swloss_calc</a:t>
            </a:r>
            <a:r>
              <a:rPr lang="sv-SE" dirty="0">
                <a:latin typeface="Calibri" panose="020F0502020204030204" pitchFamily="34" charset="0"/>
              </a:rPr>
              <a:t>(SCPAR.DI.TOF , </a:t>
            </a:r>
            <a:r>
              <a:rPr lang="sv-SE" dirty="0" err="1">
                <a:latin typeface="Calibri" panose="020F0502020204030204" pitchFamily="34" charset="0"/>
              </a:rPr>
              <a:t>Tjdi</a:t>
            </a:r>
            <a:r>
              <a:rPr lang="sv-SE" dirty="0">
                <a:latin typeface="Calibri" panose="020F0502020204030204" pitchFamily="34" charset="0"/>
              </a:rPr>
              <a:t> ,2*</a:t>
            </a:r>
            <a:r>
              <a:rPr lang="sv-SE" dirty="0" err="1">
                <a:latin typeface="Calibri" panose="020F0502020204030204" pitchFamily="34" charset="0"/>
              </a:rPr>
              <a:t>OP.Ud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kop</a:t>
            </a:r>
            <a:r>
              <a:rPr lang="sv-SE" dirty="0">
                <a:latin typeface="Calibri" panose="020F0502020204030204" pitchFamily="34" charset="0"/>
              </a:rPr>
              <a:t>)/Nd , id2s/</a:t>
            </a:r>
            <a:r>
              <a:rPr lang="sv-SE" dirty="0" err="1">
                <a:latin typeface="Calibri" panose="020F0502020204030204" pitchFamily="34" charset="0"/>
              </a:rPr>
              <a:t>SCPAR.diodeareascale</a:t>
            </a:r>
            <a:r>
              <a:rPr lang="sv-SE" dirty="0">
                <a:latin typeface="Calibri" panose="020F0502020204030204" pitchFamily="34" charset="0"/>
              </a:rPr>
              <a:t>(</a:t>
            </a:r>
            <a:r>
              <a:rPr lang="sv-SE" dirty="0" err="1">
                <a:latin typeface="Calibri" panose="020F0502020204030204" pitchFamily="34" charset="0"/>
              </a:rPr>
              <a:t>kpar</a:t>
            </a:r>
            <a:r>
              <a:rPr lang="sv-SE" dirty="0">
                <a:latin typeface="Calibri" panose="020F0502020204030204" pitchFamily="34" charset="0"/>
              </a:rPr>
              <a:t>))) / T0 / 2;</a:t>
            </a:r>
          </a:p>
          <a:p>
            <a:r>
              <a:rPr lang="sv-SE" dirty="0" err="1">
                <a:latin typeface="Calibri" panose="020F0502020204030204" pitchFamily="34" charset="0"/>
              </a:rPr>
              <a:t>Ptotsw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Pcsw</a:t>
            </a:r>
            <a:r>
              <a:rPr lang="sv-SE" dirty="0">
                <a:latin typeface="Calibri" panose="020F0502020204030204" pitchFamily="34" charset="0"/>
              </a:rPr>
              <a:t> + </a:t>
            </a:r>
            <a:r>
              <a:rPr lang="sv-SE" dirty="0" err="1">
                <a:latin typeface="Calibri" panose="020F0502020204030204" pitchFamily="34" charset="0"/>
              </a:rPr>
              <a:t>Ptonsw</a:t>
            </a:r>
            <a:r>
              <a:rPr lang="sv-SE" dirty="0">
                <a:latin typeface="Calibri" panose="020F0502020204030204" pitchFamily="34" charset="0"/>
              </a:rPr>
              <a:t> + </a:t>
            </a:r>
            <a:r>
              <a:rPr lang="sv-SE" dirty="0" err="1">
                <a:latin typeface="Calibri" panose="020F0502020204030204" pitchFamily="34" charset="0"/>
              </a:rPr>
              <a:t>Ptofsw</a:t>
            </a:r>
            <a:r>
              <a:rPr lang="sv-SE" dirty="0">
                <a:latin typeface="Calibri" panose="020F0502020204030204" pitchFamily="34" charset="0"/>
              </a:rPr>
              <a:t>;</a:t>
            </a:r>
          </a:p>
          <a:p>
            <a:r>
              <a:rPr lang="sv-SE" dirty="0" err="1">
                <a:latin typeface="Calibri" panose="020F0502020204030204" pitchFamily="34" charset="0"/>
              </a:rPr>
              <a:t>Ptotdi</a:t>
            </a:r>
            <a:r>
              <a:rPr lang="sv-SE" dirty="0">
                <a:latin typeface="Calibri" panose="020F0502020204030204" pitchFamily="34" charset="0"/>
              </a:rPr>
              <a:t> = </a:t>
            </a:r>
            <a:r>
              <a:rPr lang="sv-SE" dirty="0" err="1">
                <a:latin typeface="Calibri" panose="020F0502020204030204" pitchFamily="34" charset="0"/>
              </a:rPr>
              <a:t>Pcdi</a:t>
            </a:r>
            <a:r>
              <a:rPr lang="sv-SE" dirty="0">
                <a:latin typeface="Calibri" panose="020F0502020204030204" pitchFamily="34" charset="0"/>
              </a:rPr>
              <a:t> + </a:t>
            </a:r>
            <a:r>
              <a:rPr lang="sv-SE" dirty="0" err="1">
                <a:latin typeface="Calibri" panose="020F0502020204030204" pitchFamily="34" charset="0"/>
              </a:rPr>
              <a:t>Ptofdi</a:t>
            </a:r>
            <a:r>
              <a:rPr lang="sv-SE" dirty="0">
                <a:latin typeface="Calibri" panose="020F050202020403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40304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16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97663" y="242840"/>
            <a:ext cx="10261636" cy="6416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Thermal Modelling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69" y="1063659"/>
            <a:ext cx="4831482" cy="27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5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4559</TotalTime>
  <Words>1483</Words>
  <Application>Microsoft Office PowerPoint</Application>
  <PresentationFormat>Widescreen</PresentationFormat>
  <Paragraphs>309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Scania Office</vt:lpstr>
      <vt:lpstr>Office Theme</vt:lpstr>
      <vt:lpstr>Thermal Modelling</vt:lpstr>
      <vt:lpstr>Thermal Modelling</vt:lpstr>
      <vt:lpstr>Overall Modelling</vt:lpstr>
      <vt:lpstr>PowerPoint Presentation</vt:lpstr>
      <vt:lpstr>SCPAR (Semicondcutor and Thermal Parameters)</vt:lpstr>
      <vt:lpstr>PC and OP</vt:lpstr>
      <vt:lpstr>PowerPoint Presentation</vt:lpstr>
      <vt:lpstr>1. Calculating the number of series IGBTs and Diodes</vt:lpstr>
      <vt:lpstr>1. Temperature Tolerance and SCLOSS struct</vt:lpstr>
      <vt:lpstr>Creating Loop for different operation point and area scales</vt:lpstr>
      <vt:lpstr>Finding devices currents and commutations</vt:lpstr>
      <vt:lpstr>Thermal iteration-Loss Calculation</vt:lpstr>
      <vt:lpstr>PowerPoint Presentation</vt:lpstr>
      <vt:lpstr>Thermal Modelling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50</cp:revision>
  <dcterms:created xsi:type="dcterms:W3CDTF">2023-08-29T09:32:26Z</dcterms:created>
  <dcterms:modified xsi:type="dcterms:W3CDTF">2023-09-04T07:19:43Z</dcterms:modified>
</cp:coreProperties>
</file>