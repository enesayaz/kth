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9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2023-11-13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0479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2023-11-13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04550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2023-11-13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15248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2023-11-13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20495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2023-11-13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9517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2023-11-13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32745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2023-11-13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9850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2023-11-13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36776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2023-11-13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47071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2023-11-13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70771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2023-11-13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12603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2B27E-7F57-4E1B-92E4-BF405CC45DFC}" type="datetimeFigureOut">
              <a:rPr lang="sv-SE" smtClean="0"/>
              <a:t>2023-11-13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0420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image" Target="../media/image14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09" y="161051"/>
            <a:ext cx="7222710" cy="38548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173" y="3814949"/>
            <a:ext cx="3772378" cy="3043051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>
            <a:off x="6505832" y="5393724"/>
            <a:ext cx="15075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84405" y="5209058"/>
            <a:ext cx="4893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Effect the reliability of trucks on a high altitude  </a:t>
            </a:r>
            <a:endParaRPr lang="sv-SE" dirty="0"/>
          </a:p>
        </p:txBody>
      </p:sp>
      <p:sp>
        <p:nvSpPr>
          <p:cNvPr id="9" name="TextBox 8"/>
          <p:cNvSpPr txBox="1"/>
          <p:nvPr/>
        </p:nvSpPr>
        <p:spPr>
          <a:xfrm>
            <a:off x="8180173" y="1165168"/>
            <a:ext cx="3972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2kV </a:t>
            </a:r>
            <a:r>
              <a:rPr lang="en-US" dirty="0" err="1" smtClean="0"/>
              <a:t>SiC</a:t>
            </a:r>
            <a:r>
              <a:rPr lang="en-US" dirty="0" smtClean="0"/>
              <a:t> probably might have a higher on-state resistance and switching energies than 1.7 kV </a:t>
            </a:r>
            <a:r>
              <a:rPr lang="en-US" dirty="0" err="1" smtClean="0"/>
              <a:t>SiC</a:t>
            </a:r>
            <a:r>
              <a:rPr lang="en-US" dirty="0"/>
              <a:t> </a:t>
            </a:r>
            <a:r>
              <a:rPr lang="en-US" dirty="0" smtClean="0"/>
              <a:t>competitors.</a:t>
            </a:r>
          </a:p>
        </p:txBody>
      </p:sp>
    </p:spTree>
    <p:extLst>
      <p:ext uri="{BB962C8B-B14F-4D97-AF65-F5344CB8AC3E}">
        <p14:creationId xmlns:p14="http://schemas.microsoft.com/office/powerpoint/2010/main" val="468129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10540" y="350520"/>
            <a:ext cx="2735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Voltage</a:t>
            </a:r>
            <a:r>
              <a:rPr lang="sv-SE" dirty="0" smtClean="0"/>
              <a:t> rating: 2kV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Current</a:t>
            </a:r>
            <a:r>
              <a:rPr lang="sv-SE" dirty="0" smtClean="0"/>
              <a:t> rating: 400A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24" y="1726223"/>
            <a:ext cx="4854103" cy="33642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220959" y="5208563"/>
                <a:ext cx="2735580" cy="97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=1200 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sv-SE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=150 </m:t>
                      </m:r>
                      <m:sSup>
                        <m:sSup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sv-SE" b="0" dirty="0" smtClean="0"/>
              </a:p>
              <a:p>
                <a:endParaRPr lang="sv-SE" dirty="0" smtClean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959" y="5208563"/>
                <a:ext cx="2735580" cy="9756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436" y="1859573"/>
            <a:ext cx="4727421" cy="3097530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stCxn id="6" idx="3"/>
          </p:cNvCxnSpPr>
          <p:nvPr/>
        </p:nvCxnSpPr>
        <p:spPr>
          <a:xfrm>
            <a:off x="5071127" y="3408338"/>
            <a:ext cx="14838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39707" y="2922027"/>
            <a:ext cx="1415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Interpolation</a:t>
            </a:r>
            <a:endParaRPr lang="sv-SE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914" y="151098"/>
            <a:ext cx="2444231" cy="147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30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>
            <a:stCxn id="11" idx="3"/>
          </p:cNvCxnSpPr>
          <p:nvPr/>
        </p:nvCxnSpPr>
        <p:spPr>
          <a:xfrm>
            <a:off x="4782694" y="1605915"/>
            <a:ext cx="1191798" cy="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08" y="99060"/>
            <a:ext cx="4455986" cy="30137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528" y="99060"/>
            <a:ext cx="4618300" cy="286512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017" y="3221136"/>
            <a:ext cx="4171244" cy="290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85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1" y="561389"/>
            <a:ext cx="3916680" cy="26447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997" y="561388"/>
            <a:ext cx="3834821" cy="26447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2000" y="192056"/>
            <a:ext cx="87325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 smtClean="0">
                <a:latin typeface="Calibri" panose="020F0502020204030204" pitchFamily="34" charset="0"/>
              </a:rPr>
              <a:t>Switching</a:t>
            </a:r>
            <a:r>
              <a:rPr lang="sv-SE" dirty="0" smtClean="0">
                <a:latin typeface="Calibri" panose="020F0502020204030204" pitchFamily="34" charset="0"/>
              </a:rPr>
              <a:t> </a:t>
            </a:r>
            <a:r>
              <a:rPr lang="sv-SE" dirty="0" err="1" smtClean="0">
                <a:latin typeface="Calibri" panose="020F0502020204030204" pitchFamily="34" charset="0"/>
              </a:rPr>
              <a:t>frequency</a:t>
            </a:r>
            <a:r>
              <a:rPr lang="sv-SE" dirty="0" smtClean="0">
                <a:latin typeface="Calibri" panose="020F0502020204030204" pitchFamily="34" charset="0"/>
              </a:rPr>
              <a:t> = </a:t>
            </a:r>
            <a:r>
              <a:rPr lang="sv-SE" b="1" dirty="0" smtClean="0">
                <a:latin typeface="Calibri" panose="020F0502020204030204" pitchFamily="34" charset="0"/>
              </a:rPr>
              <a:t>5kHz</a:t>
            </a:r>
            <a:r>
              <a:rPr lang="sv-SE" dirty="0" smtClean="0">
                <a:latin typeface="Calibri" panose="020F0502020204030204" pitchFamily="34" charset="0"/>
              </a:rPr>
              <a:t>, </a:t>
            </a:r>
            <a:r>
              <a:rPr lang="sv-SE" dirty="0" err="1" smtClean="0">
                <a:latin typeface="Calibri" panose="020F0502020204030204" pitchFamily="34" charset="0"/>
              </a:rPr>
              <a:t>ma</a:t>
            </a:r>
            <a:r>
              <a:rPr lang="sv-SE" dirty="0" smtClean="0">
                <a:latin typeface="Calibri" panose="020F0502020204030204" pitchFamily="34" charset="0"/>
              </a:rPr>
              <a:t>=1.15, </a:t>
            </a:r>
            <a:r>
              <a:rPr lang="sv-SE" dirty="0" err="1" smtClean="0">
                <a:latin typeface="Calibri" panose="020F0502020204030204" pitchFamily="34" charset="0"/>
              </a:rPr>
              <a:t>pf</a:t>
            </a:r>
            <a:r>
              <a:rPr lang="sv-SE" dirty="0" smtClean="0">
                <a:latin typeface="Calibri" panose="020F0502020204030204" pitchFamily="34" charset="0"/>
              </a:rPr>
              <a:t>=0.9 2-level 3 </a:t>
            </a:r>
            <a:r>
              <a:rPr lang="sv-SE" dirty="0" err="1" smtClean="0">
                <a:latin typeface="Calibri" panose="020F0502020204030204" pitchFamily="34" charset="0"/>
              </a:rPr>
              <a:t>phase</a:t>
            </a:r>
            <a:r>
              <a:rPr lang="sv-SE" dirty="0" smtClean="0">
                <a:latin typeface="Calibri" panose="020F0502020204030204" pitchFamily="34" charset="0"/>
              </a:rPr>
              <a:t>, P=300kW</a:t>
            </a:r>
            <a:endParaRPr lang="sv-SE" dirty="0">
              <a:latin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6695" y="561388"/>
            <a:ext cx="4418194" cy="29222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989032" y="4492812"/>
                <a:ext cx="2175510" cy="122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dirty="0" smtClean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sv-SE" i="1" dirty="0" smtClean="0">
                        <a:latin typeface="Cambria Math" panose="02040503050406030204" pitchFamily="18" charset="0"/>
                      </a:rPr>
                      <m:t>= 1</m:t>
                    </m:r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25</m:t>
                    </m:r>
                    <m:sSup>
                      <m:s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endParaRPr lang="sv-SE" dirty="0" smtClean="0"/>
              </a:p>
              <a:p>
                <a:endParaRPr lang="sv-SE" dirty="0"/>
              </a:p>
              <a:p>
                <a:r>
                  <a:rPr lang="sv-SE" dirty="0" smtClean="0"/>
                  <a:t>Loss= 1590 W</a:t>
                </a:r>
              </a:p>
              <a:p>
                <a:r>
                  <a:rPr lang="sv-SE" dirty="0" err="1" smtClean="0"/>
                  <a:t>Efficiency</a:t>
                </a:r>
                <a:r>
                  <a:rPr lang="sv-SE" dirty="0" smtClean="0"/>
                  <a:t>= 99.47 %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032" y="4492812"/>
                <a:ext cx="2175510" cy="1223989"/>
              </a:xfrm>
              <a:prstGeom prst="rect">
                <a:avLst/>
              </a:prstGeom>
              <a:blipFill>
                <a:blip r:embed="rId5"/>
                <a:stretch>
                  <a:fillRect l="-2241" t="-1990" b="-696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042703" y="4513510"/>
                <a:ext cx="2175510" cy="122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dirty="0" smtClean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sv-SE" i="1" dirty="0" smtClean="0">
                        <a:latin typeface="Cambria Math" panose="02040503050406030204" pitchFamily="18" charset="0"/>
                      </a:rPr>
                      <m:t>=7</m:t>
                    </m:r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sv-SE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endParaRPr lang="sv-SE" dirty="0" smtClean="0"/>
              </a:p>
              <a:p>
                <a:endParaRPr lang="sv-SE" dirty="0"/>
              </a:p>
              <a:p>
                <a:r>
                  <a:rPr lang="sv-SE" dirty="0" smtClean="0"/>
                  <a:t>Loss= 1366 W</a:t>
                </a:r>
              </a:p>
              <a:p>
                <a:r>
                  <a:rPr lang="sv-SE" dirty="0" err="1" smtClean="0"/>
                  <a:t>Efficiency</a:t>
                </a:r>
                <a:r>
                  <a:rPr lang="sv-SE" dirty="0" smtClean="0"/>
                  <a:t>= 99.55 %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703" y="4513510"/>
                <a:ext cx="2175510" cy="1223989"/>
              </a:xfrm>
              <a:prstGeom prst="rect">
                <a:avLst/>
              </a:prstGeom>
              <a:blipFill>
                <a:blip r:embed="rId6"/>
                <a:stretch>
                  <a:fillRect l="-2241" t="-1990" b="-696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8935361" y="4495542"/>
                <a:ext cx="2175510" cy="122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dirty="0" smtClean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sv-SE" i="1" dirty="0" smtClean="0">
                        <a:latin typeface="Cambria Math" panose="02040503050406030204" pitchFamily="18" charset="0"/>
                      </a:rPr>
                      <m:t>= 150 </m:t>
                    </m:r>
                    <m:sSup>
                      <m:s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endParaRPr lang="sv-SE" dirty="0" smtClean="0"/>
              </a:p>
              <a:p>
                <a:endParaRPr lang="sv-SE" dirty="0"/>
              </a:p>
              <a:p>
                <a:r>
                  <a:rPr lang="sv-SE" dirty="0" smtClean="0"/>
                  <a:t>Loss= 1770 W</a:t>
                </a:r>
              </a:p>
              <a:p>
                <a:r>
                  <a:rPr lang="sv-SE" dirty="0" err="1" smtClean="0"/>
                  <a:t>Efficiency</a:t>
                </a:r>
                <a:r>
                  <a:rPr lang="sv-SE" dirty="0" smtClean="0"/>
                  <a:t>= 99.41 %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5361" y="4495542"/>
                <a:ext cx="2175510" cy="1223989"/>
              </a:xfrm>
              <a:prstGeom prst="rect">
                <a:avLst/>
              </a:prstGeom>
              <a:blipFill>
                <a:blip r:embed="rId7"/>
                <a:stretch>
                  <a:fillRect l="-2521" t="-1990" b="-696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370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497228" y="1140133"/>
              <a:ext cx="2822872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2872">
                      <a:extLst>
                        <a:ext uri="{9D8B030D-6E8A-4147-A177-3AD203B41FA5}">
                          <a16:colId xmlns:a16="http://schemas.microsoft.com/office/drawing/2014/main" val="786361794"/>
                        </a:ext>
                      </a:extLst>
                    </a:gridCol>
                  </a:tblGrid>
                  <a:tr h="3561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 Parameters</a:t>
                          </a:r>
                          <a:endParaRPr lang="sv-SE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85988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𝑑𝑠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68138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@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25 </m:t>
                              </m:r>
                              <m:sSup>
                                <m:sSup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m:rPr>
                                      <m:nor/>
                                    </m:rPr>
                                    <a:rPr lang="sv-SE" b="0" dirty="0">
                                      <a:solidFill>
                                        <a:schemeClr val="tx1"/>
                                      </a:solidFill>
                                    </a:rPr>
                                    <m:t> 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p>
                              </m:sSup>
                            </m:oMath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73646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𝑑𝑠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@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25 </m:t>
                              </m:r>
                              <m:sSup>
                                <m:sSup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m:rPr>
                                      <m:nor/>
                                    </m:rPr>
                                    <a:rPr lang="sv-SE" b="0" dirty="0">
                                      <a:solidFill>
                                        <a:schemeClr val="tx1"/>
                                      </a:solidFill>
                                    </a:rPr>
                                    <m:t> 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454005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Internal</a:t>
                          </a:r>
                          <a:r>
                            <a:rPr lang="en-US" b="0" baseline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b>
                              </m:sSub>
                            </m:oMath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9235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Die Size 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𝑚𝑚</m:t>
                              </m:r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𝑚𝑚</m:t>
                              </m:r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55694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baseline="0" dirty="0" smtClean="0">
                              <a:solidFill>
                                <a:schemeClr val="tx1"/>
                              </a:solidFill>
                            </a:rPr>
                            <a:t>j-c thermal resistance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45873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8719707"/>
                  </p:ext>
                </p:extLst>
              </p:nvPr>
            </p:nvGraphicFramePr>
            <p:xfrm>
              <a:off x="1497228" y="1140133"/>
              <a:ext cx="2822872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2872">
                      <a:extLst>
                        <a:ext uri="{9D8B030D-6E8A-4147-A177-3AD203B41FA5}">
                          <a16:colId xmlns:a16="http://schemas.microsoft.com/office/drawing/2014/main" val="78636179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 Parameters</a:t>
                          </a:r>
                          <a:endParaRPr lang="sv-SE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85988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106557" r="-431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68138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206557" r="-431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3646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306557" r="-431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54005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406557" r="-431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9235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506557" r="-431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5694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baseline="0" dirty="0" smtClean="0">
                              <a:solidFill>
                                <a:schemeClr val="tx1"/>
                              </a:solidFill>
                            </a:rPr>
                            <a:t>j-c thermal resistance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45873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836610" y="1874058"/>
              <a:ext cx="4150615" cy="28328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50615">
                      <a:extLst>
                        <a:ext uri="{9D8B030D-6E8A-4147-A177-3AD203B41FA5}">
                          <a16:colId xmlns:a16="http://schemas.microsoft.com/office/drawing/2014/main" val="786361794"/>
                        </a:ext>
                      </a:extLst>
                    </a:gridCol>
                  </a:tblGrid>
                  <a:tr h="4418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2D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 Parameters and Graphs</a:t>
                          </a:r>
                          <a:endParaRPr lang="sv-SE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8598808"/>
                      </a:ext>
                    </a:extLst>
                  </a:tr>
                  <a:tr h="393368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  <m:t>𝐷𝑆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vs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  <m:t>𝐷𝑆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(</a:t>
                          </a:r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@ different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p>
                                <m:sSup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m:rPr>
                                      <m:nor/>
                                    </m:rPr>
                                    <a:rPr lang="sv-SE" b="0" dirty="0">
                                      <a:solidFill>
                                        <a:schemeClr val="tx1"/>
                                      </a:solidFill>
                                    </a:rPr>
                                    <m:t> 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p>
                              </m:sSup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6813850"/>
                      </a:ext>
                    </a:extLst>
                  </a:tr>
                  <a:tr h="36216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𝑆𝐷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vs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𝑆𝐷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(</a:t>
                          </a:r>
                          <a:r>
                            <a:rPr lang="sv-SE" b="0" dirty="0" err="1" smtClean="0">
                              <a:solidFill>
                                <a:schemeClr val="tx1"/>
                              </a:solidFill>
                            </a:rPr>
                            <a:t>also</a:t>
                          </a:r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sv-SE" b="0" dirty="0" err="1" smtClean="0">
                              <a:solidFill>
                                <a:schemeClr val="tx1"/>
                              </a:solidFill>
                            </a:rPr>
                            <a:t>body</a:t>
                          </a:r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sv-SE" b="0" dirty="0" err="1" smtClean="0">
                              <a:solidFill>
                                <a:schemeClr val="tx1"/>
                              </a:solidFill>
                            </a:rPr>
                            <a:t>diode</a:t>
                          </a:r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sv-SE" b="0" dirty="0" err="1" smtClean="0">
                              <a:solidFill>
                                <a:schemeClr val="tx1"/>
                              </a:solidFill>
                            </a:rPr>
                            <a:t>characteristic</a:t>
                          </a:r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32890263"/>
                      </a:ext>
                    </a:extLst>
                  </a:tr>
                  <a:tr h="36216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𝑜𝑛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𝑜𝑓𝑓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𝑟𝑟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𝑓𝑟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vs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  <m:t>𝐷𝑆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5017857"/>
                      </a:ext>
                    </a:extLst>
                  </a:tr>
                  <a:tr h="36216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𝑜𝑛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𝑜𝑓𝑓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𝑟𝑟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𝑓𝑟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vs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5309262"/>
                      </a:ext>
                    </a:extLst>
                  </a:tr>
                  <a:tr h="36216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𝑑𝑖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𝑑𝑉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 vs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60191068"/>
                      </a:ext>
                    </a:extLst>
                  </a:tr>
                  <a:tr h="36216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sv-SE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𝑖𝑠𝑠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𝑜𝑠𝑠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𝑟𝑠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baseline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vs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  <m:t>𝐷𝑆</m:t>
                                  </m:r>
                                </m:sub>
                              </m:sSub>
                            </m:oMath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429533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7811930"/>
                  </p:ext>
                </p:extLst>
              </p:nvPr>
            </p:nvGraphicFramePr>
            <p:xfrm>
              <a:off x="5836610" y="1874058"/>
              <a:ext cx="4150615" cy="28328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50615">
                      <a:extLst>
                        <a:ext uri="{9D8B030D-6E8A-4147-A177-3AD203B41FA5}">
                          <a16:colId xmlns:a16="http://schemas.microsoft.com/office/drawing/2014/main" val="786361794"/>
                        </a:ext>
                      </a:extLst>
                    </a:gridCol>
                  </a:tblGrid>
                  <a:tr h="4418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2D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 Parameters and Graphs</a:t>
                          </a:r>
                          <a:endParaRPr lang="sv-SE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8598808"/>
                      </a:ext>
                    </a:extLst>
                  </a:tr>
                  <a:tr h="393368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" t="-121875" r="-293" b="-53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681385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" t="-232787" r="-293" b="-4639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890263"/>
                      </a:ext>
                    </a:extLst>
                  </a:tr>
                  <a:tr h="387795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" t="-322222" r="-293" b="-3492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5017857"/>
                      </a:ext>
                    </a:extLst>
                  </a:tr>
                  <a:tr h="387858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" t="-415625" r="-293" b="-24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5309262"/>
                      </a:ext>
                    </a:extLst>
                  </a:tr>
                  <a:tr h="490474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" t="-407407" r="-293" b="-925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019106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" t="-685000" r="-293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29533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/>
          <p:cNvSpPr txBox="1"/>
          <p:nvPr/>
        </p:nvSpPr>
        <p:spPr>
          <a:xfrm>
            <a:off x="1894261" y="368389"/>
            <a:ext cx="8466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Single Bare Die Parameters with 62mm power module and T</a:t>
            </a:r>
            <a:r>
              <a:rPr lang="sv-SE" b="1" dirty="0" smtClean="0"/>
              <a:t>O-247PLUS-4-HCC </a:t>
            </a:r>
            <a:r>
              <a:rPr lang="sv-SE" b="1" dirty="0" err="1" smtClean="0"/>
              <a:t>package</a:t>
            </a:r>
            <a:r>
              <a:rPr lang="en-US" b="1" dirty="0" smtClean="0"/>
              <a:t>  </a:t>
            </a:r>
            <a:endParaRPr lang="sv-SE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497228" y="4253995"/>
              <a:ext cx="282287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2872">
                      <a:extLst>
                        <a:ext uri="{9D8B030D-6E8A-4147-A177-3AD203B41FA5}">
                          <a16:colId xmlns:a16="http://schemas.microsoft.com/office/drawing/2014/main" val="786361794"/>
                        </a:ext>
                      </a:extLst>
                    </a:gridCol>
                  </a:tblGrid>
                  <a:tr h="1289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 Switching </a:t>
                          </a:r>
                          <a:endParaRPr lang="sv-SE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78095130"/>
                      </a:ext>
                    </a:extLst>
                  </a:tr>
                  <a:tr h="3561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Max</a:t>
                          </a:r>
                          <a:r>
                            <a:rPr lang="en-US" b="0" baseline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b="0" i="1" dirty="0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sv-SE" b="0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oMath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8598808"/>
                      </a:ext>
                    </a:extLst>
                  </a:tr>
                  <a:tr h="3561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Min</a:t>
                          </a:r>
                          <a:r>
                            <a:rPr lang="en-US" b="0" baseline="0" dirty="0" smtClean="0">
                              <a:solidFill>
                                <a:schemeClr val="tx1"/>
                              </a:solidFill>
                            </a:rPr>
                            <a:t> external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b>
                              </m:sSub>
                            </m:oMath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28935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2422144"/>
                  </p:ext>
                </p:extLst>
              </p:nvPr>
            </p:nvGraphicFramePr>
            <p:xfrm>
              <a:off x="1497228" y="4253995"/>
              <a:ext cx="282287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2872">
                      <a:extLst>
                        <a:ext uri="{9D8B030D-6E8A-4147-A177-3AD203B41FA5}">
                          <a16:colId xmlns:a16="http://schemas.microsoft.com/office/drawing/2014/main" val="78636179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 Switching </a:t>
                          </a:r>
                          <a:endParaRPr lang="sv-SE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780951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6" t="-106557" r="-431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859880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6" t="-210000" r="-431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89359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54825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8584" b="546"/>
          <a:stretch/>
        </p:blipFill>
        <p:spPr>
          <a:xfrm>
            <a:off x="710984" y="0"/>
            <a:ext cx="10140123" cy="3284719"/>
          </a:xfrm>
          <a:prstGeom prst="rect">
            <a:avLst/>
          </a:prstGeom>
        </p:spPr>
      </p:pic>
      <p:cxnSp>
        <p:nvCxnSpPr>
          <p:cNvPr id="7" name="Straight Arrow Connector 6"/>
          <p:cNvCxnSpPr>
            <a:endCxn id="11" idx="0"/>
          </p:cNvCxnSpPr>
          <p:nvPr/>
        </p:nvCxnSpPr>
        <p:spPr>
          <a:xfrm>
            <a:off x="4078071" y="2610032"/>
            <a:ext cx="1257300" cy="1073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11" idx="0"/>
          </p:cNvCxnSpPr>
          <p:nvPr/>
        </p:nvCxnSpPr>
        <p:spPr>
          <a:xfrm>
            <a:off x="4135221" y="419282"/>
            <a:ext cx="1200150" cy="32639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92371" y="3683182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Package dependent</a:t>
            </a:r>
            <a:endParaRPr lang="sv-SE" dirty="0"/>
          </a:p>
        </p:txBody>
      </p:sp>
      <p:cxnSp>
        <p:nvCxnSpPr>
          <p:cNvPr id="12" name="Straight Arrow Connector 11"/>
          <p:cNvCxnSpPr>
            <a:endCxn id="11" idx="0"/>
          </p:cNvCxnSpPr>
          <p:nvPr/>
        </p:nvCxnSpPr>
        <p:spPr>
          <a:xfrm flipH="1">
            <a:off x="5335371" y="489132"/>
            <a:ext cx="3702050" cy="31940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11" idx="0"/>
          </p:cNvCxnSpPr>
          <p:nvPr/>
        </p:nvCxnSpPr>
        <p:spPr>
          <a:xfrm flipH="1">
            <a:off x="5335371" y="2438582"/>
            <a:ext cx="3803650" cy="1244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314906" y="4231097"/>
            <a:ext cx="22966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Single Bare </a:t>
            </a:r>
            <a:r>
              <a:rPr lang="en-US" b="1" dirty="0" smtClean="0"/>
              <a:t>Die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Double Dies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Triple Dies</a:t>
            </a:r>
          </a:p>
          <a:p>
            <a:pPr marL="342900" indent="-342900">
              <a:buFont typeface="+mj-lt"/>
              <a:buAutoNum type="arabicPeriod"/>
            </a:pPr>
            <a:endParaRPr lang="sv-SE" dirty="0"/>
          </a:p>
        </p:txBody>
      </p:sp>
      <p:sp>
        <p:nvSpPr>
          <p:cNvPr id="24" name="Right Brace 23"/>
          <p:cNvSpPr/>
          <p:nvPr/>
        </p:nvSpPr>
        <p:spPr>
          <a:xfrm>
            <a:off x="3317443" y="4283724"/>
            <a:ext cx="868350" cy="86717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TextBox 25"/>
          <p:cNvSpPr txBox="1"/>
          <p:nvPr/>
        </p:nvSpPr>
        <p:spPr>
          <a:xfrm>
            <a:off x="4249656" y="4394146"/>
            <a:ext cx="7025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 investigate the conduction and switching losses vs die area</a:t>
            </a:r>
          </a:p>
          <a:p>
            <a:r>
              <a:rPr lang="en-US" dirty="0" smtClean="0"/>
              <a:t>To </a:t>
            </a:r>
            <a:r>
              <a:rPr lang="en-US" dirty="0"/>
              <a:t>investigate the </a:t>
            </a:r>
            <a:r>
              <a:rPr lang="en-US" dirty="0" smtClean="0"/>
              <a:t>distortive effect of the package on the losses </a:t>
            </a:r>
            <a:endParaRPr lang="sv-SE" dirty="0"/>
          </a:p>
        </p:txBody>
      </p:sp>
      <p:sp>
        <p:nvSpPr>
          <p:cNvPr id="27" name="Rectangle 26"/>
          <p:cNvSpPr/>
          <p:nvPr/>
        </p:nvSpPr>
        <p:spPr>
          <a:xfrm>
            <a:off x="1314906" y="5708802"/>
            <a:ext cx="31518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4</a:t>
            </a:r>
            <a:r>
              <a:rPr lang="en-US" b="1" dirty="0" smtClean="0"/>
              <a:t>00 A (290 A 3-phase)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200 </a:t>
            </a:r>
            <a:r>
              <a:rPr lang="en-US" b="1" dirty="0"/>
              <a:t>A </a:t>
            </a:r>
            <a:r>
              <a:rPr lang="en-US" b="1" dirty="0" smtClean="0"/>
              <a:t>(145 </a:t>
            </a:r>
            <a:r>
              <a:rPr lang="en-US" b="1" dirty="0"/>
              <a:t>A </a:t>
            </a:r>
            <a:r>
              <a:rPr lang="en-US" b="1" dirty="0" smtClean="0"/>
              <a:t>6-phase)</a:t>
            </a:r>
            <a:endParaRPr lang="en-US" b="1" dirty="0"/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3901001" y="5894262"/>
            <a:ext cx="14343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335371" y="5708802"/>
            <a:ext cx="2336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With fast switching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97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enesa\AppData\Local\Temp\ConnectorClipboard9001578144035710531\image1699518325394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38" y="714467"/>
            <a:ext cx="5095037" cy="1201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enesa\AppData\Local\Temp\ConnectorClipboard9001578144035710531\image1699518328787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7531" y="746092"/>
            <a:ext cx="5207000" cy="117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7619186"/>
                  </p:ext>
                </p:extLst>
              </p:nvPr>
            </p:nvGraphicFramePr>
            <p:xfrm>
              <a:off x="1219199" y="2949883"/>
              <a:ext cx="8267700" cy="257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55900">
                      <a:extLst>
                        <a:ext uri="{9D8B030D-6E8A-4147-A177-3AD203B41FA5}">
                          <a16:colId xmlns:a16="http://schemas.microsoft.com/office/drawing/2014/main" val="786361794"/>
                        </a:ext>
                      </a:extLst>
                    </a:gridCol>
                    <a:gridCol w="2755900">
                      <a:extLst>
                        <a:ext uri="{9D8B030D-6E8A-4147-A177-3AD203B41FA5}">
                          <a16:colId xmlns:a16="http://schemas.microsoft.com/office/drawing/2014/main" val="3781079998"/>
                        </a:ext>
                      </a:extLst>
                    </a:gridCol>
                    <a:gridCol w="2755900">
                      <a:extLst>
                        <a:ext uri="{9D8B030D-6E8A-4147-A177-3AD203B41FA5}">
                          <a16:colId xmlns:a16="http://schemas.microsoft.com/office/drawing/2014/main" val="1361092490"/>
                        </a:ext>
                      </a:extLst>
                    </a:gridCol>
                  </a:tblGrid>
                  <a:tr h="3561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Die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 Area Dependent Parameters</a:t>
                          </a:r>
                          <a:endParaRPr lang="sv-SE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Package 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Dependent Parameters</a:t>
                          </a:r>
                          <a:endParaRPr lang="sv-SE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 In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dependent Parameters</a:t>
                          </a:r>
                          <a:endParaRPr lang="sv-SE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85988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𝑔𝑑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𝑚𝑖𝑙𝑙𝑒𝑟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68138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𝑡h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73646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𝑑𝑟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𝑜𝑛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454005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𝑓𝑠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𝑑𝑟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𝑜𝑓𝑓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9025845"/>
                      </a:ext>
                    </a:extLst>
                  </a:tr>
                  <a:tr h="398648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dirty="0" smtClean="0"/>
                            <a:t> ?</a:t>
                          </a:r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?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?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956922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7619186"/>
                  </p:ext>
                </p:extLst>
              </p:nvPr>
            </p:nvGraphicFramePr>
            <p:xfrm>
              <a:off x="1219199" y="2949883"/>
              <a:ext cx="8267700" cy="257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55900">
                      <a:extLst>
                        <a:ext uri="{9D8B030D-6E8A-4147-A177-3AD203B41FA5}">
                          <a16:colId xmlns:a16="http://schemas.microsoft.com/office/drawing/2014/main" val="786361794"/>
                        </a:ext>
                      </a:extLst>
                    </a:gridCol>
                    <a:gridCol w="2755900">
                      <a:extLst>
                        <a:ext uri="{9D8B030D-6E8A-4147-A177-3AD203B41FA5}">
                          <a16:colId xmlns:a16="http://schemas.microsoft.com/office/drawing/2014/main" val="3781079998"/>
                        </a:ext>
                      </a:extLst>
                    </a:gridCol>
                    <a:gridCol w="2755900">
                      <a:extLst>
                        <a:ext uri="{9D8B030D-6E8A-4147-A177-3AD203B41FA5}">
                          <a16:colId xmlns:a16="http://schemas.microsoft.com/office/drawing/2014/main" val="1361092490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Die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 Area Dependent Parameters</a:t>
                          </a:r>
                          <a:endParaRPr lang="sv-SE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Package 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Dependent Parameters</a:t>
                          </a:r>
                          <a:endParaRPr lang="sv-SE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 In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dependent Parameters</a:t>
                          </a:r>
                          <a:endParaRPr lang="sv-SE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8598808"/>
                      </a:ext>
                    </a:extLst>
                  </a:tr>
                  <a:tr h="388112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1" t="-171875" r="-200221" b="-4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442" t="-171875" r="-100664" b="-4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71875" r="-442" b="-415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6813850"/>
                      </a:ext>
                    </a:extLst>
                  </a:tr>
                  <a:tr h="388112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1" t="-271875" r="-200221" b="-3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71875" r="-442" b="-315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3646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1" t="-390164" r="-200221" b="-2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390164" r="-442" b="-231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5400517"/>
                      </a:ext>
                    </a:extLst>
                  </a:tr>
                  <a:tr h="387795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1" t="-467188" r="-200221" b="-120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467188" r="-442" b="-1203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9025845"/>
                      </a:ext>
                    </a:extLst>
                  </a:tr>
                  <a:tr h="398648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1" t="-550000" r="-200221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442" t="-550000" r="-100664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550000" r="-442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95692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96666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2925</TotalTime>
  <Words>498</Words>
  <Application>Microsoft Office PowerPoint</Application>
  <PresentationFormat>Widescreen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20</cp:revision>
  <dcterms:created xsi:type="dcterms:W3CDTF">2023-10-25T13:14:15Z</dcterms:created>
  <dcterms:modified xsi:type="dcterms:W3CDTF">2023-11-13T11:46:45Z</dcterms:modified>
</cp:coreProperties>
</file>