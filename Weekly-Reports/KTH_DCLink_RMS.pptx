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0"/>
            <a:ext cx="71323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691640" y="2194560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POWER ELECTRONICS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201168"/>
            <a:ext cx="149961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201168"/>
            <a:ext cx="1499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0" y="502920"/>
            <a:ext cx="6675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Minimizing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DC-Link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Capacitor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 Current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3246120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29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Multi-Carrier PWM via Triple Overlap Principle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286000" y="3822192"/>
            <a:ext cx="6492240" cy="0"/>
          </a:xfrm>
          <a:prstGeom prst="line">
            <a:avLst/>
          </a:prstGeom>
          <a:noFill/>
          <a:ln w="19050">
            <a:solidFill>
              <a:srgbClr val="DE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931920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Two-level three-phase VSI   ·   Analytical closed-form optimum   ·   No LUT, no sweep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4681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KTH Royal Institute of Technology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BE5E0"/>
          </a:solidFill>
          <a:ln w="12700">
            <a:solidFill>
              <a:srgbClr val="EBE5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solidFill>
            <a:srgbClr val="000061"/>
          </a:solidFill>
          <a:ln w="12700">
            <a:solidFill>
              <a:srgbClr val="0000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5A6A7A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Uncontrolled switching → excessive capacitor stress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974336"/>
            <a:ext cx="88148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KTH Royal Institute of Technology  |  Electrical Engineering  |  2 / 10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5943600" cy="4069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91072" y="713232"/>
            <a:ext cx="2670048" cy="1078992"/>
          </a:xfrm>
          <a:prstGeom prst="rect">
            <a:avLst/>
          </a:prstGeom>
          <a:solidFill>
            <a:srgbClr val="DEF0FF"/>
          </a:solidFill>
          <a:ln w="10160">
            <a:solidFill>
              <a:srgbClr val="6298D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91072" y="713232"/>
            <a:ext cx="54864" cy="1078992"/>
          </a:xfrm>
          <a:prstGeom prst="rect">
            <a:avLst/>
          </a:prstGeom>
          <a:solidFill>
            <a:srgbClr val="A0281E"/>
          </a:solidFill>
          <a:ln w="12700">
            <a:solidFill>
              <a:srgbClr val="A028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7376" y="7863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028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437376" y="12618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of inverter failures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linked to DC-link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capacitor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91072" y="1947672"/>
            <a:ext cx="2670048" cy="1078992"/>
          </a:xfrm>
          <a:prstGeom prst="rect">
            <a:avLst/>
          </a:prstGeom>
          <a:solidFill>
            <a:srgbClr val="DEF0FF"/>
          </a:solidFill>
          <a:ln w="10160">
            <a:solidFill>
              <a:srgbClr val="6298D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91072" y="1947672"/>
            <a:ext cx="54864" cy="107899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7376" y="20208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8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RMS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37376" y="24963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causes thermal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stress &amp; lifetime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reduction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91072" y="3182112"/>
            <a:ext cx="2670048" cy="1078992"/>
          </a:xfrm>
          <a:prstGeom prst="rect">
            <a:avLst/>
          </a:prstGeom>
          <a:solidFill>
            <a:srgbClr val="DEF0FF"/>
          </a:solidFill>
          <a:ln w="10160">
            <a:solidFill>
              <a:srgbClr val="6298D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91072" y="3182112"/>
            <a:ext cx="54864" cy="10789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37376" y="32552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hw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437376" y="37307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extra hardware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needed for this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optimisation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BE5E0"/>
          </a:solidFill>
          <a:ln w="12700">
            <a:solidFill>
              <a:srgbClr val="EBE5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solidFill>
            <a:srgbClr val="000061"/>
          </a:solidFill>
          <a:ln w="12700">
            <a:solidFill>
              <a:srgbClr val="0000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5A6A7A"/>
                </a:solidFill>
              </a:rPr>
              <a:t>ANALYTICAL FOUNDATION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RMS² budget decomposition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974336"/>
            <a:ext cx="88148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KTH Royal Institute of Technology  |  Electrical Engineering  |  3 / 10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0080"/>
            <a:ext cx="8814816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BE5E0"/>
          </a:solidFill>
          <a:ln w="12700">
            <a:solidFill>
              <a:srgbClr val="EBE5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solidFill>
            <a:srgbClr val="000061"/>
          </a:solidFill>
          <a:ln w="12700">
            <a:solidFill>
              <a:srgbClr val="0000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5A6A7A"/>
                </a:solidFill>
              </a:rPr>
              <a:t>KEY INSIGHT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Triple overlap principle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974336"/>
            <a:ext cx="88148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KTH Royal Institute of Technology  |  Electrical Engineering  |  4 / 10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1168" y="658368"/>
            <a:ext cx="4315968" cy="4151376"/>
          </a:xfrm>
          <a:prstGeom prst="rect">
            <a:avLst/>
          </a:prstGeom>
          <a:solidFill>
            <a:srgbClr val="F0FAF4"/>
          </a:solidFill>
          <a:ln w="15240">
            <a:solidFill>
              <a:srgbClr val="1F6B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658368"/>
            <a:ext cx="4315968" cy="64008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77724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Maximize  λ_abc  (Triple Overlap)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1280160"/>
            <a:ext cx="4023360" cy="548640"/>
          </a:xfrm>
          <a:prstGeom prst="rect">
            <a:avLst/>
          </a:prstGeom>
          <a:solidFill>
            <a:srgbClr val="E8F5EE"/>
          </a:solidFill>
          <a:ln w="15240">
            <a:solidFill>
              <a:srgbClr val="1F6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280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∂I² / ∂λ_abc = −(ia²+ib²+ic²)  &lt; 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1920240"/>
            <a:ext cx="40050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When all three switches are ON simultaneously,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ia + ib + ic = 0  →  only −ī_dc remains.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Triple overlap ALWAYS reduces RMS² —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unconditionally, regardless of signs.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81728" y="658368"/>
            <a:ext cx="4315968" cy="4151376"/>
          </a:xfrm>
          <a:prstGeom prst="rect">
            <a:avLst/>
          </a:prstGeom>
          <a:solidFill>
            <a:srgbClr val="FDF3F2"/>
          </a:solidFill>
          <a:ln w="15240">
            <a:solidFill>
              <a:srgbClr val="A028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658368"/>
            <a:ext cx="4315968" cy="64008"/>
          </a:xfrm>
          <a:prstGeom prst="rect">
            <a:avLst/>
          </a:prstGeom>
          <a:solidFill>
            <a:srgbClr val="A0281E"/>
          </a:solidFill>
          <a:ln w="12700">
            <a:solidFill>
              <a:srgbClr val="A028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77724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Minimize  λ_bc,only  (Same-Sign Pair)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28032" y="1280160"/>
            <a:ext cx="4023360" cy="548640"/>
          </a:xfrm>
          <a:prstGeom prst="rect">
            <a:avLst/>
          </a:prstGeom>
          <a:solidFill>
            <a:srgbClr val="FDECEA"/>
          </a:solidFill>
          <a:ln w="15240">
            <a:solidFill>
              <a:srgbClr val="A028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280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2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∂I² / ∂λ_bc,only = 2·ib·ic  &gt;  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40050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When the two same-sign legs switch together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without the lone leg: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ib + ic = −ia flows as ripple current.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Same-sign exclusive overlap ALWAYS bad.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1168" y="4773168"/>
            <a:ext cx="8741664" cy="164592"/>
          </a:xfrm>
          <a:prstGeom prst="rect">
            <a:avLst/>
          </a:prstGeom>
          <a:solidFill>
            <a:srgbClr val="DEF0FF"/>
          </a:solidFill>
          <a:ln w="10160">
            <a:solidFill>
              <a:srgbClr val="629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4773168"/>
            <a:ext cx="8741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4791"/>
                </a:solidFill>
              </a:rPr>
              <a:t>Optimal rule: nest both bank pulses INSIDE the lone pulse  →  λ_bc,only = 0   AND   λ_abc = max(0, db+dc−da)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BE5E0"/>
          </a:solidFill>
          <a:ln w="12700">
            <a:solidFill>
              <a:srgbClr val="EBE5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solidFill>
            <a:srgbClr val="000061"/>
          </a:solidFill>
          <a:ln w="12700">
            <a:solidFill>
              <a:srgbClr val="0000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5A6A7A"/>
                </a:solidFill>
              </a:rPr>
              <a:t>PULSE GEOMETRY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&amp; after: nesting the bank pulses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974336"/>
            <a:ext cx="88148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KTH Royal Institute of Technology  |  Electrical Engineering  |  5 / 10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640080"/>
            <a:ext cx="8887968" cy="4178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BE5E0"/>
          </a:solidFill>
          <a:ln w="12700">
            <a:solidFill>
              <a:srgbClr val="EBE5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solidFill>
            <a:srgbClr val="000061"/>
          </a:solidFill>
          <a:ln w="12700">
            <a:solidFill>
              <a:srgbClr val="0000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5A6A7A"/>
                </a:solidFill>
              </a:rPr>
              <a:t>SECTOR LOGIC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if-else cases cover all six sign combinations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974336"/>
            <a:ext cx="88148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KTH Royal Institute of Technology  |  Electrical Engineering  |  6 / 10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640080"/>
            <a:ext cx="5120640" cy="41788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94960" y="640080"/>
            <a:ext cx="3566160" cy="4178808"/>
          </a:xfrm>
          <a:prstGeom prst="rect">
            <a:avLst/>
          </a:prstGeom>
          <a:solidFill>
            <a:srgbClr val="F8FAFF"/>
          </a:solidFill>
          <a:ln w="10160">
            <a:solidFill>
              <a:srgbClr val="6298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94960" y="640080"/>
            <a:ext cx="54864" cy="4178808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04688" y="749808"/>
            <a:ext cx="33832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 comparisons, 1 subtraction
</a:t>
            </a:r>
            <a:pPr algn="l" indent="0" marL="0">
              <a:buNone/>
            </a:pPr>
            <a:r>
              <a:rPr lang="en-US" sz="950" b="1" dirty="0">
                <a:solidFill>
                  <a:srgbClr val="A02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sign(ia);  </a:t>
            </a:r>
            <a:pPr algn="l" indent="0" marL="0">
              <a:buNone/>
            </a:pPr>
            <a:r>
              <a:rPr lang="en-US" sz="950" b="1" dirty="0">
                <a:solidFill>
                  <a:srgbClr val="004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sign(ib);
</a:t>
            </a:r>
            <a:pPr algn="l" indent="0" marL="0">
              <a:buNone/>
            </a:pPr>
            <a:r>
              <a:rPr lang="en-US" sz="950" b="1" dirty="0">
                <a:solidFill>
                  <a:srgbClr val="1F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sign(ic);
</a:t>
            </a:r>
            <a:pPr algn="l" indent="0" marL="0">
              <a:buNone/>
            </a:pPr>
            <a:r>
              <a:rPr lang="en-US" sz="950" b="1" dirty="0">
                <a:solidFill>
                  <a:srgbClr val="0000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sa≠sb &amp;&amp; sa≠sc</a:t>
            </a:r>
            <a:pPr algn="l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lone=A
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θ_a=0; θ_b=0;</a:t>
            </a:r>
            <a:endParaRPr lang="en-US" sz="8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θ_c=</a:t>
            </a:r>
            <a:endParaRPr lang="en-US" sz="8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D48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da−dc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algn="l" indent="0" marL="0">
              <a:buNone/>
            </a:pPr>
            <a:r>
              <a:rPr lang="en-US" sz="950" b="1" dirty="0">
                <a:solidFill>
                  <a:srgbClr val="0000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sb≠sa &amp;&amp; sb≠sc</a:t>
            </a:r>
            <a:pPr algn="l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lone=B
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θ_a=0; θ_b=0;</a:t>
            </a:r>
            <a:endParaRPr lang="en-US" sz="8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θ_c=</a:t>
            </a:r>
            <a:endParaRPr lang="en-US" sz="8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D48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db−dc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algn="l" indent="0" marL="0">
              <a:buNone/>
            </a:pPr>
            <a:r>
              <a:rPr lang="en-US" sz="950" b="1" dirty="0">
                <a:solidFill>
                  <a:srgbClr val="0000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% lone=C
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θ_a=0;</a:t>
            </a:r>
            <a:endParaRPr lang="en-US" sz="8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θ_b=</a:t>
            </a:r>
            <a:endParaRPr lang="en-US" sz="80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D48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dc−db</a:t>
            </a:r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θ_c=0;
</a:t>
            </a:r>
            <a:pPr algn="l" indent="0" marL="0">
              <a:buNone/>
            </a:pPr>
            <a:r>
              <a:rPr lang="en-US" sz="950" b="1" dirty="0">
                <a:solidFill>
                  <a:srgbClr val="0000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BE5E0"/>
          </a:solidFill>
          <a:ln w="12700">
            <a:solidFill>
              <a:srgbClr val="EBE5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solidFill>
            <a:srgbClr val="000061"/>
          </a:solidFill>
          <a:ln w="12700">
            <a:solidFill>
              <a:srgbClr val="0000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5A6A7A"/>
                </a:solidFill>
              </a:rPr>
              <a:t>RESULTS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fundamental cycle — sinusoidal references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974336"/>
            <a:ext cx="88148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KTH Royal Institute of Technology  |  Electrical Engineering  |  7 / 10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640080"/>
            <a:ext cx="8887968" cy="4178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BE5E0"/>
          </a:solidFill>
          <a:ln w="12700">
            <a:solidFill>
              <a:srgbClr val="EBE5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solidFill>
            <a:srgbClr val="000061"/>
          </a:solidFill>
          <a:ln w="12700">
            <a:solidFill>
              <a:srgbClr val="0000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5A6A7A"/>
                </a:solidFill>
              </a:rPr>
              <a:t>PERFORMANCE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switching interval — before vs after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974336"/>
            <a:ext cx="88148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KTH Royal Institute of Technology  |  Electrical Engineering  |  8 / 10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640080"/>
            <a:ext cx="8887968" cy="4178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BE5E0"/>
          </a:solidFill>
          <a:ln w="12700">
            <a:solidFill>
              <a:srgbClr val="EBE5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4864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solidFill>
            <a:srgbClr val="000061"/>
          </a:solidFill>
          <a:ln w="12700">
            <a:solidFill>
              <a:srgbClr val="0000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77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22960" y="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5A6A7A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algorithm: 2 comparisons + 1 subtraction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974336"/>
            <a:ext cx="88148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KTH Royal Institute of Technology  |  Electrical Engineering  |  9 / 10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640080"/>
            <a:ext cx="6126480" cy="4160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46520" y="731520"/>
            <a:ext cx="2514600" cy="475488"/>
          </a:xfrm>
          <a:prstGeom prst="rect">
            <a:avLst/>
          </a:prstGeom>
          <a:solidFill>
            <a:srgbClr val="DEF0FF"/>
          </a:solidFill>
          <a:ln w="7620">
            <a:solidFill>
              <a:srgbClr val="6298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731520"/>
            <a:ext cx="45720" cy="475488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47104" y="7498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✓  No offline LUT required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46520" y="1298448"/>
            <a:ext cx="2514600" cy="475488"/>
          </a:xfrm>
          <a:prstGeom prst="rect">
            <a:avLst/>
          </a:prstGeom>
          <a:solidFill>
            <a:srgbClr val="DEF0FF"/>
          </a:solidFill>
          <a:ln w="7620">
            <a:solidFill>
              <a:srgbClr val="6298D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1298448"/>
            <a:ext cx="45720" cy="475488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47104" y="131673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✓  No iterative solver or sweep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46520" y="1865376"/>
            <a:ext cx="2514600" cy="475488"/>
          </a:xfrm>
          <a:prstGeom prst="rect">
            <a:avLst/>
          </a:prstGeom>
          <a:solidFill>
            <a:srgbClr val="DEF0FF"/>
          </a:solidFill>
          <a:ln w="7620">
            <a:solidFill>
              <a:srgbClr val="6298D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1865376"/>
            <a:ext cx="45720" cy="475488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47104" y="188366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✓  Analytically optimal — proved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46520" y="2432304"/>
            <a:ext cx="2514600" cy="475488"/>
          </a:xfrm>
          <a:prstGeom prst="rect">
            <a:avLst/>
          </a:prstGeom>
          <a:solidFill>
            <a:srgbClr val="DEF0FF"/>
          </a:solidFill>
          <a:ln w="7620">
            <a:solidFill>
              <a:srgbClr val="6298D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2432304"/>
            <a:ext cx="45720" cy="475488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47104" y="24505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✓  2 sign checks + 1 subtraction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46520" y="2999232"/>
            <a:ext cx="2514600" cy="475488"/>
          </a:xfrm>
          <a:prstGeom prst="rect">
            <a:avLst/>
          </a:prstGeom>
          <a:solidFill>
            <a:srgbClr val="DEF0FF"/>
          </a:solidFill>
          <a:ln w="7620">
            <a:solidFill>
              <a:srgbClr val="6298D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0" y="2999232"/>
            <a:ext cx="45720" cy="475488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47104" y="30175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✓  Updates every switching cycle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46520" y="3566160"/>
            <a:ext cx="2514600" cy="475488"/>
          </a:xfrm>
          <a:prstGeom prst="rect">
            <a:avLst/>
          </a:prstGeom>
          <a:solidFill>
            <a:srgbClr val="DEF0FF"/>
          </a:solidFill>
          <a:ln w="7620">
            <a:solidFill>
              <a:srgbClr val="6298D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46520" y="3566160"/>
            <a:ext cx="45720" cy="475488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47104" y="358444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✓  No extra hardware needed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4315968" cy="1627632"/>
          </a:xfrm>
          <a:prstGeom prst="rect">
            <a:avLst/>
          </a:prstGeom>
          <a:solidFill>
            <a:srgbClr val="DEF0FF"/>
          </a:solidFill>
          <a:ln w="12700">
            <a:solidFill>
              <a:srgbClr val="00479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15568"/>
            <a:ext cx="54864" cy="1627632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25296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47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Closed-Form 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773936"/>
            <a:ext cx="405993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I²_rms decomposes into fixed F₀ plus pairwise overlap cross-terms.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All overlaps are piecewise-linear in θ_b, θ_c — exact, no approximation.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2926080"/>
            <a:ext cx="4315968" cy="1627632"/>
          </a:xfrm>
          <a:prstGeom prst="rect">
            <a:avLst/>
          </a:prstGeom>
          <a:solidFill>
            <a:srgbClr val="EBF7EF"/>
          </a:solidFill>
          <a:ln w="12700">
            <a:solidFill>
              <a:srgbClr val="1F6B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2926080"/>
            <a:ext cx="54864" cy="162763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035808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" y="30175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Triple Overlap Always Beneficial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3584448"/>
            <a:ext cx="405993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∂I²/∂λ_abc = −(ia²+ib²+ic²) &lt; 0 unconditionally.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Maximising λ_abc = maximising sum-to-zero intervals.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115568"/>
            <a:ext cx="4315968" cy="1627632"/>
          </a:xfrm>
          <a:prstGeom prst="rect">
            <a:avLst/>
          </a:prstGeom>
          <a:solidFill>
            <a:srgbClr val="FEF6E8"/>
          </a:solidFill>
          <a:ln w="12700">
            <a:solidFill>
              <a:srgbClr val="D486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115568"/>
            <a:ext cx="54864" cy="162763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225296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8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28032" y="1207008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Two-Rule Implementation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1773936"/>
            <a:ext cx="405993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Align START of one bank pulse with lone pulse.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Align END of other bank pulse with lone pulse.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→ θ_b = 0,   θ_c = d_lone − d_bank2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81728" y="2926080"/>
            <a:ext cx="4315968" cy="1627632"/>
          </a:xfrm>
          <a:prstGeom prst="rect">
            <a:avLst/>
          </a:prstGeom>
          <a:solidFill>
            <a:srgbClr val="FEF0EF"/>
          </a:solidFill>
          <a:ln w="12700">
            <a:solidFill>
              <a:srgbClr val="A028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2926080"/>
            <a:ext cx="54864" cy="1627632"/>
          </a:xfrm>
          <a:prstGeom prst="rect">
            <a:avLst/>
          </a:prstGeom>
          <a:solidFill>
            <a:srgbClr val="A0281E"/>
          </a:solidFill>
          <a:ln w="12700">
            <a:solidFill>
              <a:srgbClr val="A028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035808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028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28032" y="30175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0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If-Else Cases Cover Full Cycle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584448"/>
            <a:ext cx="405993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Sign detection → 3 sectors → one subtraction per case.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No sweep, no LUT, no offline computation needed.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04791"/>
          </a:solidFill>
          <a:ln w="12700">
            <a:solidFill>
              <a:srgbClr val="0047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4974336"/>
            <a:ext cx="8814816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KTH Royal Institute of Technology  |  Electrical Engineering  |  10 / 10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01168" y="4754880"/>
            <a:ext cx="8741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A7A"/>
                </a:solidFill>
              </a:rPr>
              <a:t>Verified analytically and against brute-force sweep across all operating points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DC-Link Capacitor RMS Minimization</dc:title>
  <dc:subject>PptxGenJS Presentation</dc:subject>
  <dc:creator>KTH Royal Institute of Technology</dc:creator>
  <cp:lastModifiedBy>KTH Royal Institute of Technology</cp:lastModifiedBy>
  <cp:revision>1</cp:revision>
  <dcterms:created xsi:type="dcterms:W3CDTF">2026-03-03T08:46:09Z</dcterms:created>
  <dcterms:modified xsi:type="dcterms:W3CDTF">2026-03-03T08:46:09Z</dcterms:modified>
</cp:coreProperties>
</file>