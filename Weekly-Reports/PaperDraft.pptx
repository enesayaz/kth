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3" r:id="rId5"/>
    <p:sldId id="262" r:id="rId6"/>
    <p:sldId id="258" r:id="rId7"/>
    <p:sldId id="257" r:id="rId8"/>
    <p:sldId id="259" r:id="rId9"/>
    <p:sldId id="265" r:id="rId10"/>
    <p:sldId id="266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1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4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22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835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913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664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202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523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255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170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654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370E7-FD7C-42BE-A47A-6B56B536AAD9}" type="datetimeFigureOut">
              <a:rPr lang="sv-SE" smtClean="0"/>
              <a:t>2023-11-16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4F8-05DD-4FF7-AB74-9C4A6436A8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919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719707"/>
                  </p:ext>
                </p:extLst>
              </p:nvPr>
            </p:nvGraphicFramePr>
            <p:xfrm>
              <a:off x="1497228" y="1140133"/>
              <a:ext cx="2822872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Internal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92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Die Size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𝑚𝑚</m:t>
                              </m:r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5694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j-c thermal resistance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45873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719707"/>
                  </p:ext>
                </p:extLst>
              </p:nvPr>
            </p:nvGraphicFramePr>
            <p:xfrm>
              <a:off x="1497228" y="1140133"/>
              <a:ext cx="2822872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Basic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106557" r="-431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206557" r="-43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306557" r="-431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406557" r="-431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9235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6" t="-506557" r="-431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694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j-c thermal resistance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45873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811930"/>
                  </p:ext>
                </p:extLst>
              </p:nvPr>
            </p:nvGraphicFramePr>
            <p:xfrm>
              <a:off x="5836610" y="1874058"/>
              <a:ext cx="4150615" cy="2832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0615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441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2D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 and Graphs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93368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(</a:t>
                          </a:r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@ different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b="0" dirty="0">
                                      <a:solidFill>
                                        <a:schemeClr val="tx1"/>
                                      </a:solidFill>
                                    </a:rPr>
                                    <m:t> 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(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also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body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diode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err="1" smtClean="0">
                              <a:solidFill>
                                <a:schemeClr val="tx1"/>
                              </a:solidFill>
                            </a:rPr>
                            <a:t>characteristic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32890263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𝑜𝑓𝑓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5017857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𝑜𝑓𝑓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𝑓𝑟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95309262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𝑑𝑖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𝑑𝑉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 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191068"/>
                      </a:ext>
                    </a:extLst>
                  </a:tr>
                  <a:tr h="36216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sv-SE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𝑖𝑠𝑠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𝑜𝑠𝑠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vs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 smtClean="0">
                                      <a:latin typeface="Cambria Math" panose="02040503050406030204" pitchFamily="18" charset="0"/>
                                    </a:rPr>
                                    <m:t>𝐷𝑆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29533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7811930"/>
                  </p:ext>
                </p:extLst>
              </p:nvPr>
            </p:nvGraphicFramePr>
            <p:xfrm>
              <a:off x="5836610" y="1874058"/>
              <a:ext cx="4150615" cy="2832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0615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441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2D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Parameters and Graphs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9336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121875" r="-293" b="-5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232787" r="-293" b="-4639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890263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322222" r="-293" b="-3492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5017857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415625" r="-293" b="-24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5309262"/>
                      </a:ext>
                    </a:extLst>
                  </a:tr>
                  <a:tr h="490474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407407" r="-293" b="-92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01910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" t="-685000" r="-29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9533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1894261" y="368389"/>
            <a:ext cx="846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Single Bare Die Parameters with 62mm power module and T</a:t>
            </a:r>
            <a:r>
              <a:rPr lang="sv-SE" b="1" dirty="0" smtClean="0"/>
              <a:t>O-247PLUS-4-HCC </a:t>
            </a:r>
            <a:r>
              <a:rPr lang="sv-SE" b="1" dirty="0" err="1" smtClean="0"/>
              <a:t>package</a:t>
            </a:r>
            <a:r>
              <a:rPr lang="en-US" b="1" dirty="0" smtClean="0"/>
              <a:t>  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2422144"/>
                  </p:ext>
                </p:extLst>
              </p:nvPr>
            </p:nvGraphicFramePr>
            <p:xfrm>
              <a:off x="1497228" y="4253995"/>
              <a:ext cx="282287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1289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Switching 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8095130"/>
                      </a:ext>
                    </a:extLst>
                  </a:tr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 smtClean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r>
                            <a:rPr lang="en-US" b="0" baseline="0" dirty="0" smtClean="0">
                              <a:solidFill>
                                <a:schemeClr val="tx1"/>
                              </a:solidFill>
                            </a:rPr>
                            <a:t> external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oMath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8935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2422144"/>
                  </p:ext>
                </p:extLst>
              </p:nvPr>
            </p:nvGraphicFramePr>
            <p:xfrm>
              <a:off x="1497228" y="4253995"/>
              <a:ext cx="282287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2872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Switching 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80951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" t="-106557" r="-431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" t="-210000" r="-431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8935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177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584" b="546"/>
          <a:stretch/>
        </p:blipFill>
        <p:spPr>
          <a:xfrm>
            <a:off x="710984" y="0"/>
            <a:ext cx="10140123" cy="3284719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11" idx="0"/>
          </p:cNvCxnSpPr>
          <p:nvPr/>
        </p:nvCxnSpPr>
        <p:spPr>
          <a:xfrm>
            <a:off x="4078071" y="2610032"/>
            <a:ext cx="1257300" cy="1073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4135221" y="419282"/>
            <a:ext cx="1200150" cy="3263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2371" y="368318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 dependent</a:t>
            </a:r>
            <a:endParaRPr lang="sv-SE" dirty="0"/>
          </a:p>
        </p:txBody>
      </p:sp>
      <p:cxnSp>
        <p:nvCxnSpPr>
          <p:cNvPr id="12" name="Straight Arrow Connector 11"/>
          <p:cNvCxnSpPr>
            <a:endCxn id="11" idx="0"/>
          </p:cNvCxnSpPr>
          <p:nvPr/>
        </p:nvCxnSpPr>
        <p:spPr>
          <a:xfrm flipH="1">
            <a:off x="5335371" y="489132"/>
            <a:ext cx="3702050" cy="3194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5335371" y="2438582"/>
            <a:ext cx="3803650" cy="1244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314906" y="4231097"/>
            <a:ext cx="22966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Single Bare </a:t>
            </a:r>
            <a:r>
              <a:rPr lang="en-US" b="1" dirty="0" smtClean="0"/>
              <a:t>Die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Double 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Triple Dies</a:t>
            </a:r>
          </a:p>
          <a:p>
            <a:pPr marL="342900" indent="-342900">
              <a:buFont typeface="+mj-lt"/>
              <a:buAutoNum type="arabicPeriod"/>
            </a:pPr>
            <a:endParaRPr lang="sv-SE" dirty="0"/>
          </a:p>
        </p:txBody>
      </p:sp>
      <p:sp>
        <p:nvSpPr>
          <p:cNvPr id="24" name="Right Brace 23"/>
          <p:cNvSpPr/>
          <p:nvPr/>
        </p:nvSpPr>
        <p:spPr>
          <a:xfrm>
            <a:off x="3317443" y="4283724"/>
            <a:ext cx="868350" cy="8671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/>
          <p:cNvSpPr txBox="1"/>
          <p:nvPr/>
        </p:nvSpPr>
        <p:spPr>
          <a:xfrm>
            <a:off x="4249656" y="4394146"/>
            <a:ext cx="7025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investigate the conduction and switching losses vs die area</a:t>
            </a:r>
          </a:p>
          <a:p>
            <a:r>
              <a:rPr lang="en-US" dirty="0" smtClean="0"/>
              <a:t>To </a:t>
            </a:r>
            <a:r>
              <a:rPr lang="en-US" dirty="0"/>
              <a:t>investigate the </a:t>
            </a:r>
            <a:r>
              <a:rPr lang="en-US" dirty="0" smtClean="0"/>
              <a:t>distortive effect of the package on the losses </a:t>
            </a:r>
            <a:endParaRPr lang="sv-SE" dirty="0"/>
          </a:p>
        </p:txBody>
      </p:sp>
      <p:sp>
        <p:nvSpPr>
          <p:cNvPr id="27" name="Rectangle 26"/>
          <p:cNvSpPr/>
          <p:nvPr/>
        </p:nvSpPr>
        <p:spPr>
          <a:xfrm>
            <a:off x="1314906" y="5708802"/>
            <a:ext cx="3151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4</a:t>
            </a:r>
            <a:r>
              <a:rPr lang="en-US" b="1" dirty="0" smtClean="0"/>
              <a:t>00 A (290 A 3-phase)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200 </a:t>
            </a:r>
            <a:r>
              <a:rPr lang="en-US" b="1" dirty="0"/>
              <a:t>A </a:t>
            </a:r>
            <a:r>
              <a:rPr lang="en-US" b="1" dirty="0" smtClean="0"/>
              <a:t>(145 </a:t>
            </a:r>
            <a:r>
              <a:rPr lang="en-US" b="1" dirty="0"/>
              <a:t>A </a:t>
            </a:r>
            <a:r>
              <a:rPr lang="en-US" b="1" dirty="0" smtClean="0"/>
              <a:t>6-phase)</a:t>
            </a:r>
            <a:endParaRPr lang="en-US" b="1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901001" y="5894262"/>
            <a:ext cx="14343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5371" y="5708802"/>
            <a:ext cx="2336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fast switching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9770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nesa\AppData\Local\Temp\ConnectorClipboard9001578144035710531\image1699518325394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850900"/>
            <a:ext cx="5095037" cy="120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nesa\AppData\Local\Temp\ConnectorClipboard9001578144035710531\image169951832878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882525"/>
            <a:ext cx="5207000" cy="117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9163364"/>
                  </p:ext>
                </p:extLst>
              </p:nvPr>
            </p:nvGraphicFramePr>
            <p:xfrm>
              <a:off x="1219199" y="2949883"/>
              <a:ext cx="8267700" cy="25630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𝑚𝑖𝑙𝑙𝑒𝑟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𝑜𝑓𝑓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dirty="0" smtClean="0"/>
                            <a:t> ?</a:t>
                          </a:r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9163364"/>
                  </p:ext>
                </p:extLst>
              </p:nvPr>
            </p:nvGraphicFramePr>
            <p:xfrm>
              <a:off x="1219199" y="2949883"/>
              <a:ext cx="8267700" cy="25630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171875" r="-200221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171875" r="-100664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71875" r="-442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271875" r="-200221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71875" r="-442" b="-3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390164" r="-200221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390164" r="-442" b="-2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467188" r="-200221" b="-1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467188" r="-442" b="-1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567188" r="-200221" b="-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567188" r="-100664" b="-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67188" r="-442" b="-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890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741" y="1217008"/>
            <a:ext cx="3775720" cy="28317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6" y="598390"/>
            <a:ext cx="5345505" cy="452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7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353" y="418260"/>
            <a:ext cx="3712966" cy="2784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25904" y="1722530"/>
            <a:ext cx="1775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dirty="0" smtClean="0"/>
              <a:t>11 </a:t>
            </a:r>
            <a:r>
              <a:rPr lang="sv-SE" dirty="0" err="1" smtClean="0"/>
              <a:t>ns</a:t>
            </a:r>
            <a:r>
              <a:rPr lang="sv-SE" dirty="0" smtClean="0"/>
              <a:t> </a:t>
            </a:r>
            <a:r>
              <a:rPr lang="sv-SE" dirty="0" err="1" smtClean="0"/>
              <a:t>deskewing</a:t>
            </a:r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138" y="3224192"/>
            <a:ext cx="3625255" cy="271894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70182" y="4361862"/>
            <a:ext cx="1775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dirty="0" smtClean="0"/>
              <a:t>11 </a:t>
            </a:r>
            <a:r>
              <a:rPr lang="sv-SE" dirty="0" err="1" smtClean="0"/>
              <a:t>ns</a:t>
            </a:r>
            <a:r>
              <a:rPr lang="sv-SE" dirty="0" smtClean="0"/>
              <a:t> </a:t>
            </a:r>
            <a:r>
              <a:rPr lang="sv-SE" dirty="0" err="1" smtClean="0"/>
              <a:t>deskewing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842" y="461430"/>
            <a:ext cx="3597849" cy="269838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55419" y="1222100"/>
            <a:ext cx="1963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dirty="0" smtClean="0"/>
              <a:t>-100 </a:t>
            </a:r>
            <a:r>
              <a:rPr lang="sv-SE" dirty="0" err="1" smtClean="0"/>
              <a:t>ns</a:t>
            </a:r>
            <a:r>
              <a:rPr lang="sv-SE" dirty="0" smtClean="0"/>
              <a:t> </a:t>
            </a:r>
            <a:r>
              <a:rPr lang="sv-SE" dirty="0" err="1" smtClean="0"/>
              <a:t>deskewing</a:t>
            </a:r>
            <a:endParaRPr lang="sv-SE" dirty="0"/>
          </a:p>
        </p:txBody>
      </p:sp>
      <p:sp>
        <p:nvSpPr>
          <p:cNvPr id="19" name="TextBox 18"/>
          <p:cNvSpPr txBox="1"/>
          <p:nvPr/>
        </p:nvSpPr>
        <p:spPr>
          <a:xfrm>
            <a:off x="3697071" y="178086"/>
            <a:ext cx="131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-on</a:t>
            </a:r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7947825" y="178086"/>
            <a:ext cx="131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-off</a:t>
            </a:r>
            <a:endParaRPr lang="sv-SE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107" y="3266287"/>
            <a:ext cx="3579212" cy="268441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981227" y="4398996"/>
            <a:ext cx="1963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 </a:t>
            </a:r>
            <a:r>
              <a:rPr lang="sv-SE" dirty="0" smtClean="0"/>
              <a:t>-100 </a:t>
            </a:r>
            <a:r>
              <a:rPr lang="sv-SE" dirty="0" err="1" smtClean="0"/>
              <a:t>ns</a:t>
            </a:r>
            <a:r>
              <a:rPr lang="sv-SE" dirty="0" smtClean="0"/>
              <a:t> </a:t>
            </a:r>
            <a:r>
              <a:rPr lang="sv-SE" dirty="0" err="1" smtClean="0"/>
              <a:t>deskewing</a:t>
            </a:r>
            <a:endParaRPr lang="sv-SE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895350" y="5943133"/>
            <a:ext cx="396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895350" y="6242050"/>
            <a:ext cx="396875" cy="2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46172" y="5723260"/>
            <a:ext cx="899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 smtClean="0"/>
              <a:t>Current</a:t>
            </a:r>
            <a:endParaRPr lang="sv-SE" dirty="0"/>
          </a:p>
        </p:txBody>
      </p:sp>
      <p:sp>
        <p:nvSpPr>
          <p:cNvPr id="33" name="Rectangle 32"/>
          <p:cNvSpPr/>
          <p:nvPr/>
        </p:nvSpPr>
        <p:spPr>
          <a:xfrm>
            <a:off x="1258117" y="6057384"/>
            <a:ext cx="888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 smtClean="0"/>
              <a:t>Voltage</a:t>
            </a:r>
            <a:endParaRPr lang="sv-SE" dirty="0"/>
          </a:p>
        </p:txBody>
      </p:sp>
      <p:sp>
        <p:nvSpPr>
          <p:cNvPr id="34" name="Multiply 33"/>
          <p:cNvSpPr/>
          <p:nvPr/>
        </p:nvSpPr>
        <p:spPr>
          <a:xfrm>
            <a:off x="5816691" y="3965795"/>
            <a:ext cx="819059" cy="94275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684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030" y="342900"/>
            <a:ext cx="9537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Outline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: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Evaluation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Traction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Inverter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Topologies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for </a:t>
            </a:r>
            <a:r>
              <a:rPr lang="sv-SE" sz="200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High-Duty</a:t>
            </a:r>
            <a:r>
              <a:rPr lang="sv-SE" sz="2000" b="1" dirty="0" smtClean="0">
                <a:latin typeface="Times" panose="02020603050405020304" pitchFamily="18" charset="0"/>
                <a:cs typeface="Times" panose="02020603050405020304" pitchFamily="18" charset="0"/>
              </a:rPr>
              <a:t> Electric Truck </a:t>
            </a:r>
            <a:endParaRPr lang="sv-SE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868" y="1143686"/>
            <a:ext cx="65649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Literature</a:t>
            </a:r>
            <a:r>
              <a:rPr lang="sv-SE" b="1" u="sng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sv-SE" b="1" u="sng" dirty="0" smtClean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Review:</a:t>
            </a:r>
          </a:p>
          <a:p>
            <a:endParaRPr lang="sv-SE" b="1" u="sng" dirty="0" smtClean="0">
              <a:solidFill>
                <a:srgbClr val="37415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Traction Inverters: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 Automotive,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Aerospace because of ratings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Key </a:t>
            </a:r>
            <a:r>
              <a:rPr lang="en-US" dirty="0"/>
              <a:t>Requirements for High-Duty Electric </a:t>
            </a:r>
            <a:r>
              <a:rPr lang="en-US" dirty="0" smtClean="0"/>
              <a:t>Trucks: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Power requirements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High voltage, fast charge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Existing Traction Inverter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8378" y="4310618"/>
            <a:ext cx="7324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smtClean="0"/>
              <a:t> </a:t>
            </a:r>
            <a:endParaRPr lang="sv-SE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429" y="3243848"/>
            <a:ext cx="2426820" cy="1893502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5" idx="1"/>
          </p:cNvCxnSpPr>
          <p:nvPr/>
        </p:nvCxnSpPr>
        <p:spPr>
          <a:xfrm>
            <a:off x="4373880" y="4047289"/>
            <a:ext cx="1227549" cy="143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93" y="972048"/>
            <a:ext cx="2489888" cy="1343984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endCxn id="9" idx="1"/>
          </p:cNvCxnSpPr>
          <p:nvPr/>
        </p:nvCxnSpPr>
        <p:spPr>
          <a:xfrm flipV="1">
            <a:off x="3688492" y="1644040"/>
            <a:ext cx="1628001" cy="549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379" y="852606"/>
            <a:ext cx="4052888" cy="268144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4897336" y="2193326"/>
            <a:ext cx="3317024" cy="3121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t="5639" b="10136"/>
          <a:stretch/>
        </p:blipFill>
        <p:spPr>
          <a:xfrm>
            <a:off x="5806646" y="5298710"/>
            <a:ext cx="5295900" cy="1303517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4502492" y="5703799"/>
            <a:ext cx="1456348" cy="236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00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178" y="721598"/>
            <a:ext cx="732491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Prototyping</a:t>
            </a:r>
            <a:r>
              <a:rPr lang="sv-SE" b="1" u="sng" dirty="0" smtClean="0">
                <a:solidFill>
                  <a:srgbClr val="C00000"/>
                </a:solidFill>
              </a:rPr>
              <a:t> and </a:t>
            </a:r>
            <a:r>
              <a:rPr lang="sv-SE" b="1" u="sng" dirty="0" err="1" smtClean="0">
                <a:solidFill>
                  <a:srgbClr val="C00000"/>
                </a:solidFill>
              </a:rPr>
              <a:t>Modelling</a:t>
            </a:r>
            <a:r>
              <a:rPr lang="sv-SE" b="1" u="sng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Figure-of-Merit </a:t>
            </a:r>
            <a:r>
              <a:rPr lang="en-US" dirty="0" err="1" smtClean="0"/>
              <a:t>SiC</a:t>
            </a:r>
            <a:r>
              <a:rPr lang="en-US" dirty="0" smtClean="0"/>
              <a:t> devices: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rds</a:t>
            </a:r>
            <a:endParaRPr lang="en-US" dirty="0" smtClean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switching loss</a:t>
            </a:r>
          </a:p>
          <a:p>
            <a:pPr marL="1714500" lvl="3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Probable Topology Selection and Current-Voltage Waveforms: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2-level 3-phase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3-level 3-phase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2-level 6-phase 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Loss Modelling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Semiconductor Loss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en-US" dirty="0" smtClean="0"/>
              <a:t>Thermal Model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dirty="0" smtClean="0"/>
              <a:t>   Capacitor </a:t>
            </a:r>
            <a:r>
              <a:rPr lang="en-US" dirty="0"/>
              <a:t>Modelling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lvl="3"/>
            <a:endParaRPr lang="en-US" b="1" dirty="0"/>
          </a:p>
          <a:p>
            <a:pPr lvl="3"/>
            <a:endParaRPr lang="sv-SE" b="1" dirty="0" smtClean="0"/>
          </a:p>
          <a:p>
            <a:pPr lvl="3"/>
            <a:endParaRPr lang="sv-SE" b="1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133" y="194370"/>
            <a:ext cx="2698207" cy="15350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3025140" y="1440180"/>
            <a:ext cx="1706880" cy="20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1016563"/>
            <a:ext cx="2917079" cy="1604393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>
            <a:off x="3489960" y="1991575"/>
            <a:ext cx="5234940" cy="22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821" y="2568257"/>
            <a:ext cx="2175066" cy="163129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866" y="2566429"/>
            <a:ext cx="2177501" cy="1633127"/>
          </a:xfrm>
          <a:prstGeom prst="rect">
            <a:avLst/>
          </a:prstGeom>
        </p:spPr>
      </p:pic>
      <p:cxnSp>
        <p:nvCxnSpPr>
          <p:cNvPr id="28" name="Straight Arrow Connector 27"/>
          <p:cNvCxnSpPr/>
          <p:nvPr/>
        </p:nvCxnSpPr>
        <p:spPr>
          <a:xfrm>
            <a:off x="5423862" y="2760423"/>
            <a:ext cx="981603" cy="5272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6"/>
          <a:srcRect t="4044"/>
          <a:stretch/>
        </p:blipFill>
        <p:spPr>
          <a:xfrm>
            <a:off x="6073984" y="4242268"/>
            <a:ext cx="2769882" cy="105882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31" name="Straight Arrow Connector 30"/>
          <p:cNvCxnSpPr/>
          <p:nvPr/>
        </p:nvCxnSpPr>
        <p:spPr>
          <a:xfrm>
            <a:off x="3369295" y="4771681"/>
            <a:ext cx="2643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7"/>
          <a:srcRect b="17226"/>
          <a:stretch/>
        </p:blipFill>
        <p:spPr>
          <a:xfrm>
            <a:off x="9673191" y="4888744"/>
            <a:ext cx="1968788" cy="9077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34" name="Straight Arrow Connector 33"/>
          <p:cNvCxnSpPr/>
          <p:nvPr/>
        </p:nvCxnSpPr>
        <p:spPr>
          <a:xfrm>
            <a:off x="3952875" y="5086879"/>
            <a:ext cx="5633085" cy="391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622" y="5584318"/>
            <a:ext cx="3220393" cy="107565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866" y="5757564"/>
            <a:ext cx="1347144" cy="8232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40" name="Straight Arrow Connector 39"/>
          <p:cNvCxnSpPr>
            <a:endCxn id="38" idx="1"/>
          </p:cNvCxnSpPr>
          <p:nvPr/>
        </p:nvCxnSpPr>
        <p:spPr>
          <a:xfrm>
            <a:off x="3369295" y="5478780"/>
            <a:ext cx="1573327" cy="643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9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178" y="721598"/>
            <a:ext cx="73249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err="1">
                <a:solidFill>
                  <a:srgbClr val="C00000"/>
                </a:solidFill>
              </a:rPr>
              <a:t>Performance</a:t>
            </a:r>
            <a:r>
              <a:rPr lang="sv-SE" b="1" dirty="0">
                <a:solidFill>
                  <a:srgbClr val="C00000"/>
                </a:solidFill>
              </a:rPr>
              <a:t> </a:t>
            </a:r>
            <a:r>
              <a:rPr lang="sv-SE" b="1" dirty="0" err="1">
                <a:solidFill>
                  <a:srgbClr val="C00000"/>
                </a:solidFill>
              </a:rPr>
              <a:t>Evaluation</a:t>
            </a:r>
            <a:r>
              <a:rPr lang="sv-SE" b="1" u="sng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Loss and Size Comparison</a:t>
            </a:r>
          </a:p>
          <a:p>
            <a:pPr marL="1714500" lvl="3" indent="-342900">
              <a:buFont typeface="+mj-lt"/>
              <a:buAutoNum type="alphaUcPeriod"/>
            </a:pPr>
            <a:endParaRPr lang="en-US" dirty="0"/>
          </a:p>
          <a:p>
            <a:pPr marL="1714500" lvl="3" indent="-342900">
              <a:buFont typeface="+mj-lt"/>
              <a:buAutoNum type="alphaUcPeriod"/>
            </a:pPr>
            <a:endParaRPr lang="en-US" dirty="0" smtClean="0"/>
          </a:p>
          <a:p>
            <a:pPr marL="1714500" lvl="3" indent="-342900">
              <a:buFont typeface="+mj-lt"/>
              <a:buAutoNum type="alphaUcPeriod"/>
            </a:pPr>
            <a:endParaRPr lang="en-US" dirty="0"/>
          </a:p>
          <a:p>
            <a:pPr marL="1714500" lvl="3" indent="-342900">
              <a:buFont typeface="+mj-lt"/>
              <a:buAutoNum type="alphaUcPeriod"/>
            </a:pPr>
            <a:endParaRPr lang="en-US" dirty="0" smtClean="0"/>
          </a:p>
          <a:p>
            <a:pPr lvl="3"/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Output Harmonics   and Possible Motor Losses</a:t>
            </a:r>
          </a:p>
          <a:p>
            <a:pPr marL="342900" indent="-342900">
              <a:buFont typeface="+mj-lt"/>
              <a:buAutoNum type="alphaU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lphaUcPeriod"/>
            </a:pPr>
            <a:r>
              <a:rPr lang="en-US" dirty="0" smtClean="0"/>
              <a:t>Common Mode Voltage and Bearing Current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 smtClean="0"/>
              <a:t>PWM methodologies</a:t>
            </a:r>
            <a:endParaRPr lang="en-US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sv-SE" dirty="0"/>
          </a:p>
          <a:p>
            <a:pPr lvl="3"/>
            <a:endParaRPr lang="en-US" b="1" dirty="0"/>
          </a:p>
          <a:p>
            <a:pPr lvl="3"/>
            <a:endParaRPr lang="sv-SE" b="1" dirty="0" smtClean="0"/>
          </a:p>
          <a:p>
            <a:pPr lvl="3"/>
            <a:endParaRPr lang="sv-SE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72759"/>
            <a:ext cx="3762866" cy="2397998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3619500" y="1476375"/>
            <a:ext cx="2924175" cy="1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30" y="2594011"/>
            <a:ext cx="3377561" cy="1568153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22" idx="1"/>
          </p:cNvCxnSpPr>
          <p:nvPr/>
        </p:nvCxnSpPr>
        <p:spPr>
          <a:xfrm>
            <a:off x="5177422" y="3106159"/>
            <a:ext cx="2037308" cy="271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091" y="4293505"/>
            <a:ext cx="3981450" cy="1670787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5081587" y="4245485"/>
            <a:ext cx="2995613" cy="7122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095" y="4988822"/>
            <a:ext cx="3197298" cy="1823765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>
            <a:off x="3382095" y="4495800"/>
            <a:ext cx="1598649" cy="461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89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4500" y="292100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>
                <a:solidFill>
                  <a:srgbClr val="C00000"/>
                </a:solidFill>
              </a:rPr>
              <a:t>Prototyping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235075"/>
            <a:ext cx="4476750" cy="933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5" y="756682"/>
            <a:ext cx="4587357" cy="2597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7" y="2168525"/>
            <a:ext cx="4048125" cy="1276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25" y="4196040"/>
            <a:ext cx="4800600" cy="619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6625" y="701953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Conduction</a:t>
            </a:r>
            <a:r>
              <a:rPr lang="sv-SE" b="1" u="sng" dirty="0" smtClean="0">
                <a:solidFill>
                  <a:srgbClr val="C00000"/>
                </a:solidFill>
              </a:rPr>
              <a:t> Loss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936625" y="3793847"/>
            <a:ext cx="341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Zero</a:t>
            </a:r>
            <a:r>
              <a:rPr lang="sv-SE" b="1" u="sng" dirty="0" smtClean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Current</a:t>
            </a:r>
            <a:r>
              <a:rPr lang="sv-SE" b="1" u="sng" dirty="0" smtClean="0">
                <a:solidFill>
                  <a:srgbClr val="C00000"/>
                </a:solidFill>
              </a:rPr>
              <a:t> </a:t>
            </a:r>
            <a:r>
              <a:rPr lang="sv-SE" b="1" u="sng" dirty="0" err="1" smtClean="0">
                <a:solidFill>
                  <a:srgbClr val="C00000"/>
                </a:solidFill>
              </a:rPr>
              <a:t>Switching</a:t>
            </a:r>
            <a:r>
              <a:rPr lang="sv-SE" b="1" u="sng" dirty="0" smtClean="0">
                <a:solidFill>
                  <a:srgbClr val="C00000"/>
                </a:solidFill>
              </a:rPr>
              <a:t> Loss</a:t>
            </a:r>
            <a:endParaRPr lang="sv-SE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37" y="4680505"/>
            <a:ext cx="5743575" cy="5429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225" y="3742245"/>
            <a:ext cx="4678363" cy="25648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075" y="5299630"/>
            <a:ext cx="4076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6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4500" y="292100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>
                <a:solidFill>
                  <a:srgbClr val="C00000"/>
                </a:solidFill>
              </a:rPr>
              <a:t>Virtual</a:t>
            </a:r>
            <a:r>
              <a:rPr lang="sv-SE" b="1" u="sng" dirty="0">
                <a:solidFill>
                  <a:srgbClr val="C00000"/>
                </a:solidFill>
              </a:rPr>
              <a:t> </a:t>
            </a:r>
            <a:r>
              <a:rPr lang="sv-SE" b="1" u="sng" dirty="0" err="1">
                <a:solidFill>
                  <a:srgbClr val="C00000"/>
                </a:solidFill>
              </a:rPr>
              <a:t>Prototyping</a:t>
            </a:r>
            <a:endParaRPr lang="sv-SE" dirty="0"/>
          </a:p>
        </p:txBody>
      </p:sp>
      <p:sp>
        <p:nvSpPr>
          <p:cNvPr id="9" name="TextBox 8"/>
          <p:cNvSpPr txBox="1"/>
          <p:nvPr/>
        </p:nvSpPr>
        <p:spPr>
          <a:xfrm>
            <a:off x="936624" y="701953"/>
            <a:ext cx="420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u="sng" dirty="0" err="1" smtClean="0">
                <a:solidFill>
                  <a:srgbClr val="C00000"/>
                </a:solidFill>
              </a:rPr>
              <a:t>Switching</a:t>
            </a:r>
            <a:r>
              <a:rPr lang="sv-SE" b="1" u="sng" dirty="0" smtClean="0">
                <a:solidFill>
                  <a:srgbClr val="C00000"/>
                </a:solidFill>
              </a:rPr>
              <a:t> Loss – dv/dt and di/dt</a:t>
            </a:r>
            <a:endParaRPr lang="sv-SE" dirty="0"/>
          </a:p>
        </p:txBody>
      </p:sp>
      <p:pic>
        <p:nvPicPr>
          <p:cNvPr id="2050" name="Picture 2" descr="C:\Users\enesa\AppData\Local\Temp\ConnectorClipboard9001578144035710531\image1699519413576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524" y="2147888"/>
            <a:ext cx="3086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enesa\AppData\Local\Temp\ConnectorClipboard9001578144035710531\image169951941871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" y="2831307"/>
            <a:ext cx="5391150" cy="121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enesa\AppData\Local\Temp\ConnectorClipboard9001578144035710531\image169951942624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" y="1290618"/>
            <a:ext cx="58959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4321062"/>
            <a:ext cx="4519613" cy="2429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6838" y="4977637"/>
            <a:ext cx="3167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2-level loss-</a:t>
            </a:r>
            <a:r>
              <a:rPr lang="sv-SE" dirty="0" err="1"/>
              <a:t>minimized</a:t>
            </a:r>
            <a:r>
              <a:rPr lang="sv-SE" dirty="0"/>
              <a:t> </a:t>
            </a:r>
            <a:endParaRPr lang="sv-SE" dirty="0" smtClean="0"/>
          </a:p>
          <a:p>
            <a:r>
              <a:rPr lang="sv-SE" dirty="0" smtClean="0"/>
              <a:t>optimal </a:t>
            </a:r>
            <a:r>
              <a:rPr lang="sv-SE" dirty="0" err="1"/>
              <a:t>semiconductor</a:t>
            </a:r>
            <a:r>
              <a:rPr lang="sv-SE" dirty="0"/>
              <a:t> </a:t>
            </a:r>
            <a:r>
              <a:rPr lang="sv-SE" dirty="0" err="1"/>
              <a:t>die</a:t>
            </a:r>
            <a:r>
              <a:rPr lang="sv-SE" dirty="0"/>
              <a:t> </a:t>
            </a:r>
            <a:r>
              <a:rPr lang="sv-SE" dirty="0" smtClean="0"/>
              <a:t>area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413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9707</TotalTime>
  <Words>517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35</cp:revision>
  <dcterms:created xsi:type="dcterms:W3CDTF">2023-10-25T13:10:18Z</dcterms:created>
  <dcterms:modified xsi:type="dcterms:W3CDTF">2023-11-22T15:16:03Z</dcterms:modified>
</cp:coreProperties>
</file>