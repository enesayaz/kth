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4" r:id="rId4"/>
    <p:sldId id="263" r:id="rId5"/>
    <p:sldId id="262" r:id="rId6"/>
    <p:sldId id="258" r:id="rId7"/>
    <p:sldId id="257" r:id="rId8"/>
    <p:sldId id="259" r:id="rId9"/>
    <p:sldId id="265" r:id="rId10"/>
    <p:sldId id="266" r:id="rId11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49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10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74144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227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818354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59130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66455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12023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15235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22559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01705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46540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E370E7-FD7C-42BE-A47A-6B56B536AAD9}" type="datetimeFigureOut">
              <a:rPr lang="sv-SE" smtClean="0"/>
              <a:t>2023-11-10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154F8-05DD-4FF7-AB74-9C4A6436A89D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9198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emf"/><Relationship Id="rId4" Type="http://schemas.openxmlformats.org/officeDocument/2006/relationships/image" Target="../media/image1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emf"/><Relationship Id="rId4" Type="http://schemas.openxmlformats.org/officeDocument/2006/relationships/image" Target="../media/image19.emf"/><Relationship Id="rId9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8719707"/>
                  </p:ext>
                </p:extLst>
              </p:nvPr>
            </p:nvGraphicFramePr>
            <p:xfrm>
              <a:off x="1497228" y="1140133"/>
              <a:ext cx="2822872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2872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</a:tblGrid>
                  <a:tr h="3561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Basic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Parameters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𝑑𝑠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@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25 </m:t>
                              </m:r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m:rPr>
                                      <m:nor/>
                                    </m:rPr>
                                    <a:rPr lang="sv-SE" b="0" dirty="0">
                                      <a:solidFill>
                                        <a:schemeClr val="tx1"/>
                                      </a:solidFill>
                                    </a:rPr>
                                    <m:t> </m:t>
                                  </m:r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p>
                              </m:sSup>
                            </m:oMath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73646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𝑑𝑠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@ 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25 </m:t>
                              </m:r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m:rPr>
                                      <m:nor/>
                                    </m:rPr>
                                    <a:rPr lang="sv-SE" b="0" dirty="0">
                                      <a:solidFill>
                                        <a:schemeClr val="tx1"/>
                                      </a:solidFill>
                                    </a:rPr>
                                    <m:t> </m:t>
                                  </m:r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454005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Internal</a:t>
                          </a:r>
                          <a:r>
                            <a:rPr lang="en-US" b="0" baseline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sub>
                              </m:sSub>
                            </m:oMath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499235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Die Size (</a:t>
                          </a:r>
                          <a14:m>
                            <m:oMath xmlns:m="http://schemas.openxmlformats.org/officeDocument/2006/math"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𝑚𝑚</m:t>
                              </m:r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𝑚𝑚</m:t>
                              </m:r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556944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baseline="0" dirty="0" smtClean="0">
                              <a:solidFill>
                                <a:schemeClr val="tx1"/>
                              </a:solidFill>
                            </a:rPr>
                            <a:t>j-c thermal resistance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6458733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18719707"/>
                  </p:ext>
                </p:extLst>
              </p:nvPr>
            </p:nvGraphicFramePr>
            <p:xfrm>
              <a:off x="1497228" y="1140133"/>
              <a:ext cx="2822872" cy="2590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2872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Basic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Parameters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6" t="-106557" r="-431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6" t="-206557" r="-431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3646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6" t="-306557" r="-431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54005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6" t="-406557" r="-431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92351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16" t="-506557" r="-43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556944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0" baseline="0" dirty="0" smtClean="0">
                              <a:solidFill>
                                <a:schemeClr val="tx1"/>
                              </a:solidFill>
                            </a:rPr>
                            <a:t>j-c thermal resistance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6458733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7811930"/>
                  </p:ext>
                </p:extLst>
              </p:nvPr>
            </p:nvGraphicFramePr>
            <p:xfrm>
              <a:off x="5836610" y="1874058"/>
              <a:ext cx="4150615" cy="28328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150615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</a:tblGrid>
                  <a:tr h="44181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2D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Parameters and Graphs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93368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  <m:t>𝐷𝑆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vs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  <m:t>𝐷𝑆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(</a:t>
                          </a:r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@ different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sSup>
                                <m:sSup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  <m:r>
                                    <m:rPr>
                                      <m:nor/>
                                    </m:rPr>
                                    <a:rPr lang="sv-SE" b="0" dirty="0">
                                      <a:solidFill>
                                        <a:schemeClr val="tx1"/>
                                      </a:solidFill>
                                    </a:rPr>
                                    <m:t> </m:t>
                                  </m:r>
                                </m:e>
                                <m:sup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p>
                              </m:sSup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6216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𝑆𝐷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vs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𝑆𝐷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(</a:t>
                          </a:r>
                          <a:r>
                            <a:rPr lang="sv-SE" b="0" dirty="0" err="1" smtClean="0">
                              <a:solidFill>
                                <a:schemeClr val="tx1"/>
                              </a:solidFill>
                            </a:rPr>
                            <a:t>also</a:t>
                          </a:r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sv-SE" b="0" dirty="0" err="1" smtClean="0">
                              <a:solidFill>
                                <a:schemeClr val="tx1"/>
                              </a:solidFill>
                            </a:rPr>
                            <a:t>body</a:t>
                          </a:r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sv-SE" b="0" dirty="0" err="1" smtClean="0">
                              <a:solidFill>
                                <a:schemeClr val="tx1"/>
                              </a:solidFill>
                            </a:rPr>
                            <a:t>diode</a:t>
                          </a:r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sv-SE" b="0" dirty="0" err="1" smtClean="0">
                              <a:solidFill>
                                <a:schemeClr val="tx1"/>
                              </a:solidFill>
                            </a:rPr>
                            <a:t>characteristic</a:t>
                          </a:r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32890263"/>
                      </a:ext>
                    </a:extLst>
                  </a:tr>
                  <a:tr h="36216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𝑜𝑛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𝑜𝑓𝑓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𝑟𝑟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𝑓𝑟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vs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  <m:t>𝐷𝑆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35017857"/>
                      </a:ext>
                    </a:extLst>
                  </a:tr>
                  <a:tr h="36216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𝑜𝑛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𝑜𝑓𝑓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𝑟𝑟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𝑓𝑟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vs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95309262"/>
                      </a:ext>
                    </a:extLst>
                  </a:tr>
                  <a:tr h="36216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,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𝑑𝑉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𝑑𝑡</m:t>
                                  </m:r>
                                </m:den>
                              </m:f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 vs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sub>
                              </m:sSub>
                            </m:oMath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60191068"/>
                      </a:ext>
                    </a:extLst>
                  </a:tr>
                  <a:tr h="36216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sv-SE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𝑖𝑠𝑠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𝑜𝑠𝑠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𝑟𝑠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baseline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vs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sv-SE" i="1" dirty="0" smtClean="0">
                                      <a:latin typeface="Cambria Math" panose="02040503050406030204" pitchFamily="18" charset="0"/>
                                    </a:rPr>
                                    <m:t>𝐷𝑆</m:t>
                                  </m:r>
                                </m:sub>
                              </m:sSub>
                            </m:oMath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44295337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7811930"/>
                  </p:ext>
                </p:extLst>
              </p:nvPr>
            </p:nvGraphicFramePr>
            <p:xfrm>
              <a:off x="5836610" y="1874058"/>
              <a:ext cx="4150615" cy="283283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150615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</a:tblGrid>
                  <a:tr h="44181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2D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Parameters and Graphs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93368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" t="-121875" r="-293" b="-5375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" t="-232787" r="-293" b="-46393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32890263"/>
                      </a:ext>
                    </a:extLst>
                  </a:tr>
                  <a:tr h="387795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" t="-322222" r="-293" b="-34920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5017857"/>
                      </a:ext>
                    </a:extLst>
                  </a:tr>
                  <a:tr h="387858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" t="-415625" r="-293" b="-243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5309262"/>
                      </a:ext>
                    </a:extLst>
                  </a:tr>
                  <a:tr h="490474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" t="-407407" r="-293" b="-9259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019106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" t="-685000" r="-293" b="-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295337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TextBox 7"/>
          <p:cNvSpPr txBox="1"/>
          <p:nvPr/>
        </p:nvSpPr>
        <p:spPr>
          <a:xfrm>
            <a:off x="1894261" y="368389"/>
            <a:ext cx="8466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Single Bare Die Parameters with 62mm power module and T</a:t>
            </a:r>
            <a:r>
              <a:rPr lang="sv-SE" b="1" dirty="0" smtClean="0"/>
              <a:t>O-247PLUS-4-HCC </a:t>
            </a:r>
            <a:r>
              <a:rPr lang="sv-SE" b="1" dirty="0" err="1" smtClean="0"/>
              <a:t>package</a:t>
            </a:r>
            <a:r>
              <a:rPr lang="en-US" b="1" dirty="0" smtClean="0"/>
              <a:t>  </a:t>
            </a:r>
            <a:endParaRPr lang="sv-SE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2422144"/>
                  </p:ext>
                </p:extLst>
              </p:nvPr>
            </p:nvGraphicFramePr>
            <p:xfrm>
              <a:off x="1497228" y="4253995"/>
              <a:ext cx="282287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2872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</a:tblGrid>
                  <a:tr h="128939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Switching 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8095130"/>
                      </a:ext>
                    </a:extLst>
                  </a:tr>
                  <a:tr h="3561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Max</a:t>
                          </a:r>
                          <a:r>
                            <a:rPr lang="en-US" b="0" baseline="0" dirty="0" smtClean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sv-SE" b="0" i="1" dirty="0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r>
                                    <a:rPr lang="sv-SE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oMath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561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0" dirty="0" smtClean="0">
                              <a:solidFill>
                                <a:schemeClr val="tx1"/>
                              </a:solidFill>
                            </a:rPr>
                            <a:t>Min</a:t>
                          </a:r>
                          <a:r>
                            <a:rPr lang="en-US" b="0" baseline="0" dirty="0" smtClean="0">
                              <a:solidFill>
                                <a:schemeClr val="tx1"/>
                              </a:solidFill>
                            </a:rPr>
                            <a:t> external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sv-SE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sub>
                              </m:sSub>
                            </m:oMath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28935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32422144"/>
                  </p:ext>
                </p:extLst>
              </p:nvPr>
            </p:nvGraphicFramePr>
            <p:xfrm>
              <a:off x="1497228" y="4253995"/>
              <a:ext cx="2822872" cy="1097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822872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Switching 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7809513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16" t="-106557" r="-431" b="-1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16" t="-210000" r="-431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8935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41778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8584" b="546"/>
          <a:stretch/>
        </p:blipFill>
        <p:spPr>
          <a:xfrm>
            <a:off x="710984" y="0"/>
            <a:ext cx="10140123" cy="3284719"/>
          </a:xfrm>
          <a:prstGeom prst="rect">
            <a:avLst/>
          </a:prstGeom>
        </p:spPr>
      </p:pic>
      <p:cxnSp>
        <p:nvCxnSpPr>
          <p:cNvPr id="7" name="Straight Arrow Connector 6"/>
          <p:cNvCxnSpPr>
            <a:endCxn id="11" idx="0"/>
          </p:cNvCxnSpPr>
          <p:nvPr/>
        </p:nvCxnSpPr>
        <p:spPr>
          <a:xfrm>
            <a:off x="4078071" y="2610032"/>
            <a:ext cx="1257300" cy="10731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endCxn id="11" idx="0"/>
          </p:cNvCxnSpPr>
          <p:nvPr/>
        </p:nvCxnSpPr>
        <p:spPr>
          <a:xfrm>
            <a:off x="4135221" y="419282"/>
            <a:ext cx="1200150" cy="32639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192371" y="3683182"/>
            <a:ext cx="228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Package dependent</a:t>
            </a:r>
            <a:endParaRPr lang="sv-SE" dirty="0"/>
          </a:p>
        </p:txBody>
      </p:sp>
      <p:cxnSp>
        <p:nvCxnSpPr>
          <p:cNvPr id="12" name="Straight Arrow Connector 11"/>
          <p:cNvCxnSpPr>
            <a:endCxn id="11" idx="0"/>
          </p:cNvCxnSpPr>
          <p:nvPr/>
        </p:nvCxnSpPr>
        <p:spPr>
          <a:xfrm flipH="1">
            <a:off x="5335371" y="489132"/>
            <a:ext cx="3702050" cy="31940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endCxn id="11" idx="0"/>
          </p:cNvCxnSpPr>
          <p:nvPr/>
        </p:nvCxnSpPr>
        <p:spPr>
          <a:xfrm flipH="1">
            <a:off x="5335371" y="2438582"/>
            <a:ext cx="3803650" cy="1244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314906" y="4231097"/>
            <a:ext cx="229664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Single Bare </a:t>
            </a:r>
            <a:r>
              <a:rPr lang="en-US" b="1" dirty="0" smtClean="0"/>
              <a:t>Die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Double Dies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Triple Dies</a:t>
            </a:r>
          </a:p>
          <a:p>
            <a:pPr marL="342900" indent="-342900">
              <a:buFont typeface="+mj-lt"/>
              <a:buAutoNum type="arabicPeriod"/>
            </a:pPr>
            <a:endParaRPr lang="sv-SE" dirty="0"/>
          </a:p>
        </p:txBody>
      </p:sp>
      <p:sp>
        <p:nvSpPr>
          <p:cNvPr id="24" name="Right Brace 23"/>
          <p:cNvSpPr/>
          <p:nvPr/>
        </p:nvSpPr>
        <p:spPr>
          <a:xfrm>
            <a:off x="3317443" y="4283724"/>
            <a:ext cx="868350" cy="867176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TextBox 25"/>
          <p:cNvSpPr txBox="1"/>
          <p:nvPr/>
        </p:nvSpPr>
        <p:spPr>
          <a:xfrm>
            <a:off x="4249656" y="4394146"/>
            <a:ext cx="70257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To investigate the conduction and switching losses vs die area</a:t>
            </a:r>
          </a:p>
          <a:p>
            <a:r>
              <a:rPr lang="en-US" dirty="0" smtClean="0"/>
              <a:t>To </a:t>
            </a:r>
            <a:r>
              <a:rPr lang="en-US" dirty="0"/>
              <a:t>investigate the </a:t>
            </a:r>
            <a:r>
              <a:rPr lang="en-US" dirty="0" smtClean="0"/>
              <a:t>distortive effect of the package on the losses </a:t>
            </a:r>
            <a:endParaRPr lang="sv-SE" dirty="0"/>
          </a:p>
        </p:txBody>
      </p:sp>
      <p:sp>
        <p:nvSpPr>
          <p:cNvPr id="27" name="Rectangle 26"/>
          <p:cNvSpPr/>
          <p:nvPr/>
        </p:nvSpPr>
        <p:spPr>
          <a:xfrm>
            <a:off x="1314906" y="5708802"/>
            <a:ext cx="31518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4</a:t>
            </a:r>
            <a:r>
              <a:rPr lang="en-US" b="1" dirty="0" smtClean="0"/>
              <a:t>00 A (290 A 3-phase)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 smtClean="0"/>
              <a:t>200 </a:t>
            </a:r>
            <a:r>
              <a:rPr lang="en-US" b="1" dirty="0"/>
              <a:t>A </a:t>
            </a:r>
            <a:r>
              <a:rPr lang="en-US" b="1" dirty="0" smtClean="0"/>
              <a:t>(145 </a:t>
            </a:r>
            <a:r>
              <a:rPr lang="en-US" b="1" dirty="0"/>
              <a:t>A </a:t>
            </a:r>
            <a:r>
              <a:rPr lang="en-US" b="1" dirty="0" smtClean="0"/>
              <a:t>6-phase)</a:t>
            </a:r>
            <a:endParaRPr lang="en-US" b="1" dirty="0"/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3901001" y="5894262"/>
            <a:ext cx="14343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335371" y="5708802"/>
            <a:ext cx="23363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With fast switching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997702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:\Users\enesa\AppData\Local\Temp\ConnectorClipboard9001578144035710531\image1699518325394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800" y="850900"/>
            <a:ext cx="5095037" cy="1201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enesa\AppData\Local\Temp\ConnectorClipboard9001578144035710531\image1699518328787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1" y="882525"/>
            <a:ext cx="5207000" cy="1170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9163364"/>
                  </p:ext>
                </p:extLst>
              </p:nvPr>
            </p:nvGraphicFramePr>
            <p:xfrm>
              <a:off x="1219199" y="2949883"/>
              <a:ext cx="8267700" cy="25630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55900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3781079998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1361092490"/>
                        </a:ext>
                      </a:extLst>
                    </a:gridCol>
                  </a:tblGrid>
                  <a:tr h="3561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Die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Area Dependent Parameters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Package 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 In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𝑔𝑑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𝑚𝑖𝑙𝑙𝑒𝑟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𝑡h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73646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𝑜𝑛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454005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𝑓𝑠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𝑉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𝑜𝑓𝑓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9990258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dirty="0" smtClean="0"/>
                            <a:t> ?</a:t>
                          </a:r>
                          <a:endParaRPr lang="sv-SE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?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</m:oMath>
                          </a14:m>
                          <a:r>
                            <a:rPr lang="sv-SE" b="0" dirty="0" smtClean="0">
                              <a:solidFill>
                                <a:schemeClr val="tx1"/>
                              </a:solidFill>
                            </a:rPr>
                            <a:t> ?</a:t>
                          </a:r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56922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9163364"/>
                  </p:ext>
                </p:extLst>
              </p:nvPr>
            </p:nvGraphicFramePr>
            <p:xfrm>
              <a:off x="1219199" y="2949883"/>
              <a:ext cx="8267700" cy="256305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755900">
                      <a:extLst>
                        <a:ext uri="{9D8B030D-6E8A-4147-A177-3AD203B41FA5}">
                          <a16:colId xmlns:a16="http://schemas.microsoft.com/office/drawing/2014/main" val="786361794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3781079998"/>
                        </a:ext>
                      </a:extLst>
                    </a:gridCol>
                    <a:gridCol w="2755900">
                      <a:extLst>
                        <a:ext uri="{9D8B030D-6E8A-4147-A177-3AD203B41FA5}">
                          <a16:colId xmlns:a16="http://schemas.microsoft.com/office/drawing/2014/main" val="136109249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Die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 Area Dependent Parameters</a:t>
                          </a:r>
                          <a:endParaRPr lang="sv-SE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Package 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b="1" dirty="0" smtClean="0">
                              <a:solidFill>
                                <a:schemeClr val="tx1"/>
                              </a:solidFill>
                            </a:rPr>
                            <a:t> In</a:t>
                          </a:r>
                          <a:r>
                            <a:rPr lang="en-US" b="1" baseline="0" dirty="0" smtClean="0">
                              <a:solidFill>
                                <a:schemeClr val="tx1"/>
                              </a:solidFill>
                            </a:rPr>
                            <a:t>dependent Parameters</a:t>
                          </a:r>
                          <a:endParaRPr lang="sv-SE" b="1" dirty="0" smtClean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48598808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171875" r="-200221" b="-4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442" t="-171875" r="-100664" b="-4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171875" r="-442" b="-4156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46813850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271875" r="-200221" b="-315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271875" r="-442" b="-3156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7364644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390164" r="-200221" b="-2311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390164" r="-442" b="-231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5400517"/>
                      </a:ext>
                    </a:extLst>
                  </a:tr>
                  <a:tr h="387795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467188" r="-200221" b="-1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467188" r="-442" b="-1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9025845"/>
                      </a:ext>
                    </a:extLst>
                  </a:tr>
                  <a:tr h="388112"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1" t="-567188" r="-200221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442" t="-567188" r="-100664" b="-203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sv-SE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567188" r="-442" b="-203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9956922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68900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741" y="1217008"/>
            <a:ext cx="3775720" cy="283179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16" y="598390"/>
            <a:ext cx="5345505" cy="452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072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353" y="418260"/>
            <a:ext cx="3712966" cy="278472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925904" y="1722530"/>
            <a:ext cx="17758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/>
              <a:t> </a:t>
            </a:r>
            <a:r>
              <a:rPr lang="sv-SE" dirty="0" smtClean="0"/>
              <a:t>11 </a:t>
            </a:r>
            <a:r>
              <a:rPr lang="sv-SE" dirty="0" err="1" smtClean="0"/>
              <a:t>ns</a:t>
            </a:r>
            <a:r>
              <a:rPr lang="sv-SE" dirty="0" smtClean="0"/>
              <a:t> </a:t>
            </a:r>
            <a:r>
              <a:rPr lang="sv-SE" dirty="0" err="1" smtClean="0"/>
              <a:t>deskewing</a:t>
            </a:r>
            <a:endParaRPr lang="sv-SE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138" y="3224192"/>
            <a:ext cx="3625255" cy="2718941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70182" y="4361862"/>
            <a:ext cx="17758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/>
              <a:t> </a:t>
            </a:r>
            <a:r>
              <a:rPr lang="sv-SE" dirty="0" smtClean="0"/>
              <a:t>11 </a:t>
            </a:r>
            <a:r>
              <a:rPr lang="sv-SE" dirty="0" err="1" smtClean="0"/>
              <a:t>ns</a:t>
            </a:r>
            <a:r>
              <a:rPr lang="sv-SE" dirty="0" smtClean="0"/>
              <a:t> </a:t>
            </a:r>
            <a:r>
              <a:rPr lang="sv-SE" dirty="0" err="1" smtClean="0"/>
              <a:t>deskewing</a:t>
            </a:r>
            <a:endParaRPr lang="sv-SE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8842" y="461430"/>
            <a:ext cx="3597849" cy="2698387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55419" y="1222100"/>
            <a:ext cx="19634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/>
              <a:t> </a:t>
            </a:r>
            <a:r>
              <a:rPr lang="sv-SE" dirty="0" smtClean="0"/>
              <a:t>-100 </a:t>
            </a:r>
            <a:r>
              <a:rPr lang="sv-SE" dirty="0" err="1" smtClean="0"/>
              <a:t>ns</a:t>
            </a:r>
            <a:r>
              <a:rPr lang="sv-SE" dirty="0" smtClean="0"/>
              <a:t> </a:t>
            </a:r>
            <a:r>
              <a:rPr lang="sv-SE" dirty="0" err="1" smtClean="0"/>
              <a:t>deskewing</a:t>
            </a:r>
            <a:endParaRPr lang="sv-SE" dirty="0"/>
          </a:p>
        </p:txBody>
      </p:sp>
      <p:sp>
        <p:nvSpPr>
          <p:cNvPr id="19" name="TextBox 18"/>
          <p:cNvSpPr txBox="1"/>
          <p:nvPr/>
        </p:nvSpPr>
        <p:spPr>
          <a:xfrm>
            <a:off x="3697071" y="178086"/>
            <a:ext cx="1315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Turn -on</a:t>
            </a:r>
            <a:endParaRPr lang="sv-SE" dirty="0"/>
          </a:p>
        </p:txBody>
      </p:sp>
      <p:sp>
        <p:nvSpPr>
          <p:cNvPr id="20" name="TextBox 19"/>
          <p:cNvSpPr txBox="1"/>
          <p:nvPr/>
        </p:nvSpPr>
        <p:spPr>
          <a:xfrm>
            <a:off x="7947825" y="178086"/>
            <a:ext cx="13156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Turn -off</a:t>
            </a:r>
            <a:endParaRPr lang="sv-SE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5107" y="3266287"/>
            <a:ext cx="3579212" cy="268441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981227" y="4398996"/>
            <a:ext cx="19634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/>
              <a:t> </a:t>
            </a:r>
            <a:r>
              <a:rPr lang="sv-SE" dirty="0" smtClean="0"/>
              <a:t>-100 </a:t>
            </a:r>
            <a:r>
              <a:rPr lang="sv-SE" dirty="0" err="1" smtClean="0"/>
              <a:t>ns</a:t>
            </a:r>
            <a:r>
              <a:rPr lang="sv-SE" dirty="0" smtClean="0"/>
              <a:t> </a:t>
            </a:r>
            <a:r>
              <a:rPr lang="sv-SE" dirty="0" err="1" smtClean="0"/>
              <a:t>deskewing</a:t>
            </a:r>
            <a:endParaRPr lang="sv-SE" dirty="0"/>
          </a:p>
        </p:txBody>
      </p:sp>
      <p:cxnSp>
        <p:nvCxnSpPr>
          <p:cNvPr id="24" name="Straight Connector 23"/>
          <p:cNvCxnSpPr/>
          <p:nvPr/>
        </p:nvCxnSpPr>
        <p:spPr>
          <a:xfrm>
            <a:off x="895350" y="5943133"/>
            <a:ext cx="396875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895350" y="6242050"/>
            <a:ext cx="396875" cy="24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246172" y="5723260"/>
            <a:ext cx="8992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err="1" smtClean="0"/>
              <a:t>Current</a:t>
            </a:r>
            <a:endParaRPr lang="sv-SE" dirty="0"/>
          </a:p>
        </p:txBody>
      </p:sp>
      <p:sp>
        <p:nvSpPr>
          <p:cNvPr id="33" name="Rectangle 32"/>
          <p:cNvSpPr/>
          <p:nvPr/>
        </p:nvSpPr>
        <p:spPr>
          <a:xfrm>
            <a:off x="1258117" y="6057384"/>
            <a:ext cx="8883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err="1" smtClean="0"/>
              <a:t>Voltage</a:t>
            </a:r>
            <a:endParaRPr lang="sv-SE" dirty="0"/>
          </a:p>
        </p:txBody>
      </p:sp>
      <p:sp>
        <p:nvSpPr>
          <p:cNvPr id="34" name="Multiply 33"/>
          <p:cNvSpPr/>
          <p:nvPr/>
        </p:nvSpPr>
        <p:spPr>
          <a:xfrm>
            <a:off x="5816691" y="3965795"/>
            <a:ext cx="819059" cy="942755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36843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65030" y="342900"/>
            <a:ext cx="95375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Outline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: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Evaluation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of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Traction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Inverter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Topologies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for </a:t>
            </a:r>
            <a:r>
              <a:rPr lang="sv-SE" sz="2000" b="1" dirty="0" err="1" smtClean="0">
                <a:latin typeface="Times" panose="02020603050405020304" pitchFamily="18" charset="0"/>
                <a:cs typeface="Times" panose="02020603050405020304" pitchFamily="18" charset="0"/>
              </a:rPr>
              <a:t>High-Duty</a:t>
            </a:r>
            <a:r>
              <a:rPr lang="sv-SE" sz="2000" b="1" dirty="0" smtClean="0">
                <a:latin typeface="Times" panose="02020603050405020304" pitchFamily="18" charset="0"/>
                <a:cs typeface="Times" panose="02020603050405020304" pitchFamily="18" charset="0"/>
              </a:rPr>
              <a:t> Electric Truck </a:t>
            </a:r>
            <a:endParaRPr lang="sv-SE" sz="2000" b="1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49868" y="1143686"/>
            <a:ext cx="656497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  <a:latin typeface="Times" panose="02020603050405020304" pitchFamily="18" charset="0"/>
                <a:cs typeface="Times" panose="02020603050405020304" pitchFamily="18" charset="0"/>
              </a:rPr>
              <a:t>Literature</a:t>
            </a:r>
            <a:r>
              <a:rPr lang="sv-SE" b="1" u="sng" dirty="0">
                <a:solidFill>
                  <a:srgbClr val="C00000"/>
                </a:solidFill>
                <a:latin typeface="Times" panose="02020603050405020304" pitchFamily="18" charset="0"/>
                <a:cs typeface="Times" panose="02020603050405020304" pitchFamily="18" charset="0"/>
              </a:rPr>
              <a:t> </a:t>
            </a:r>
            <a:r>
              <a:rPr lang="sv-SE" b="1" u="sng" dirty="0" smtClean="0">
                <a:solidFill>
                  <a:srgbClr val="C00000"/>
                </a:solidFill>
                <a:latin typeface="Times" panose="02020603050405020304" pitchFamily="18" charset="0"/>
                <a:cs typeface="Times" panose="02020603050405020304" pitchFamily="18" charset="0"/>
              </a:rPr>
              <a:t>Review:</a:t>
            </a:r>
          </a:p>
          <a:p>
            <a:endParaRPr lang="sv-SE" b="1" u="sng" dirty="0" smtClean="0">
              <a:solidFill>
                <a:srgbClr val="374151"/>
              </a:solidFill>
              <a:latin typeface="Times" panose="02020603050405020304" pitchFamily="18" charset="0"/>
              <a:cs typeface="Times" panose="02020603050405020304" pitchFamily="18" charset="0"/>
            </a:endParaRPr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Traction Inverters: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 Automotive,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Aerospace because of ratings</a:t>
            </a:r>
          </a:p>
          <a:p>
            <a:pPr lvl="3"/>
            <a:endParaRPr lang="en-US" dirty="0" smtClean="0"/>
          </a:p>
          <a:p>
            <a:pPr lvl="3"/>
            <a:endParaRPr lang="en-US" dirty="0" smtClean="0"/>
          </a:p>
          <a:p>
            <a:pPr lvl="3"/>
            <a:endParaRPr lang="en-US" dirty="0" smtClean="0"/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Key </a:t>
            </a:r>
            <a:r>
              <a:rPr lang="en-US" dirty="0"/>
              <a:t>Requirements for High-Duty Electric </a:t>
            </a:r>
            <a:r>
              <a:rPr lang="en-US" dirty="0" smtClean="0"/>
              <a:t>Trucks: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Power requirements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High voltage, fast charge 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Existing Traction Inverter Topologies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78378" y="4310618"/>
            <a:ext cx="732491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dirty="0" smtClean="0"/>
              <a:t> </a:t>
            </a:r>
            <a:endParaRPr lang="sv-SE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1429" y="3243848"/>
            <a:ext cx="2426820" cy="1893502"/>
          </a:xfrm>
          <a:prstGeom prst="rect">
            <a:avLst/>
          </a:prstGeom>
        </p:spPr>
      </p:pic>
      <p:cxnSp>
        <p:nvCxnSpPr>
          <p:cNvPr id="7" name="Straight Arrow Connector 6"/>
          <p:cNvCxnSpPr>
            <a:endCxn id="5" idx="1"/>
          </p:cNvCxnSpPr>
          <p:nvPr/>
        </p:nvCxnSpPr>
        <p:spPr>
          <a:xfrm>
            <a:off x="4373880" y="4047289"/>
            <a:ext cx="1227549" cy="1433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493" y="972048"/>
            <a:ext cx="2489888" cy="1343984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endCxn id="9" idx="1"/>
          </p:cNvCxnSpPr>
          <p:nvPr/>
        </p:nvCxnSpPr>
        <p:spPr>
          <a:xfrm flipV="1">
            <a:off x="3688492" y="1644040"/>
            <a:ext cx="1628001" cy="5492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9379" y="852606"/>
            <a:ext cx="4052888" cy="2681440"/>
          </a:xfrm>
          <a:prstGeom prst="rect">
            <a:avLst/>
          </a:prstGeom>
        </p:spPr>
      </p:pic>
      <p:cxnSp>
        <p:nvCxnSpPr>
          <p:cNvPr id="14" name="Straight Arrow Connector 13"/>
          <p:cNvCxnSpPr/>
          <p:nvPr/>
        </p:nvCxnSpPr>
        <p:spPr>
          <a:xfrm flipV="1">
            <a:off x="4897336" y="2193326"/>
            <a:ext cx="3317024" cy="3121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/>
          <p:cNvPicPr>
            <a:picLocks noChangeAspect="1"/>
          </p:cNvPicPr>
          <p:nvPr/>
        </p:nvPicPr>
        <p:blipFill rotWithShape="1">
          <a:blip r:embed="rId5"/>
          <a:srcRect t="5639" b="10136"/>
          <a:stretch/>
        </p:blipFill>
        <p:spPr>
          <a:xfrm>
            <a:off x="5806646" y="5298710"/>
            <a:ext cx="5295900" cy="1303517"/>
          </a:xfrm>
          <a:prstGeom prst="rect">
            <a:avLst/>
          </a:prstGeom>
        </p:spPr>
      </p:pic>
      <p:cxnSp>
        <p:nvCxnSpPr>
          <p:cNvPr id="22" name="Straight Arrow Connector 21"/>
          <p:cNvCxnSpPr/>
          <p:nvPr/>
        </p:nvCxnSpPr>
        <p:spPr>
          <a:xfrm>
            <a:off x="4502492" y="5703799"/>
            <a:ext cx="1456348" cy="23699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90012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2178" y="721598"/>
            <a:ext cx="7324913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</a:rPr>
              <a:t>Virtual</a:t>
            </a:r>
            <a:r>
              <a:rPr lang="sv-SE" b="1" u="sng" dirty="0">
                <a:solidFill>
                  <a:srgbClr val="C00000"/>
                </a:solidFill>
              </a:rPr>
              <a:t> </a:t>
            </a:r>
            <a:r>
              <a:rPr lang="sv-SE" b="1" u="sng" dirty="0" err="1" smtClean="0">
                <a:solidFill>
                  <a:srgbClr val="C00000"/>
                </a:solidFill>
              </a:rPr>
              <a:t>Prototyping</a:t>
            </a:r>
            <a:r>
              <a:rPr lang="sv-SE" b="1" u="sng" dirty="0" smtClean="0">
                <a:solidFill>
                  <a:srgbClr val="C00000"/>
                </a:solidFill>
              </a:rPr>
              <a:t> and </a:t>
            </a:r>
            <a:r>
              <a:rPr lang="sv-SE" b="1" u="sng" dirty="0" err="1" smtClean="0">
                <a:solidFill>
                  <a:srgbClr val="C00000"/>
                </a:solidFill>
              </a:rPr>
              <a:t>Modelling</a:t>
            </a:r>
            <a:r>
              <a:rPr lang="sv-SE" b="1" u="sng" dirty="0" smtClean="0">
                <a:solidFill>
                  <a:srgbClr val="C00000"/>
                </a:solidFill>
              </a:rPr>
              <a:t>:</a:t>
            </a:r>
          </a:p>
          <a:p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Figure-of-Merit </a:t>
            </a:r>
            <a:r>
              <a:rPr lang="en-US" dirty="0" err="1" smtClean="0"/>
              <a:t>SiC</a:t>
            </a:r>
            <a:r>
              <a:rPr lang="en-US" dirty="0" smtClean="0"/>
              <a:t> devices: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err="1" smtClean="0"/>
              <a:t>rds</a:t>
            </a:r>
            <a:endParaRPr lang="en-US" dirty="0" smtClean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switching loss</a:t>
            </a:r>
          </a:p>
          <a:p>
            <a:pPr marL="1714500" lvl="3" indent="-342900">
              <a:buFont typeface="+mj-lt"/>
              <a:buAutoNum type="alphaUcPeriod"/>
            </a:pPr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Probable Topology Selection and Current-Voltage Waveforms: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2-level 3-phase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3-level 3-phase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2-level 6-phase </a:t>
            </a:r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Loss Modelling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Semiconductor Loss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/>
              <a:t>	</a:t>
            </a:r>
            <a:r>
              <a:rPr lang="en-US" dirty="0" smtClean="0"/>
              <a:t>Thermal Model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dirty="0" smtClean="0"/>
              <a:t>   Capacitor </a:t>
            </a:r>
            <a:r>
              <a:rPr lang="en-US" dirty="0"/>
              <a:t>Modelling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sv-SE" dirty="0"/>
          </a:p>
          <a:p>
            <a:pPr lvl="3"/>
            <a:endParaRPr lang="en-US" b="1" dirty="0"/>
          </a:p>
          <a:p>
            <a:pPr lvl="3"/>
            <a:endParaRPr lang="sv-SE" b="1" dirty="0" smtClean="0"/>
          </a:p>
          <a:p>
            <a:pPr lvl="3"/>
            <a:endParaRPr lang="sv-SE" b="1" dirty="0" smtClean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133" y="194370"/>
            <a:ext cx="2698207" cy="1535051"/>
          </a:xfrm>
          <a:prstGeom prst="rect">
            <a:avLst/>
          </a:prstGeom>
        </p:spPr>
      </p:pic>
      <p:cxnSp>
        <p:nvCxnSpPr>
          <p:cNvPr id="19" name="Straight Arrow Connector 18"/>
          <p:cNvCxnSpPr/>
          <p:nvPr/>
        </p:nvCxnSpPr>
        <p:spPr>
          <a:xfrm flipV="1">
            <a:off x="3025140" y="1440180"/>
            <a:ext cx="1706880" cy="200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900" y="1016563"/>
            <a:ext cx="2917079" cy="1604393"/>
          </a:xfrm>
          <a:prstGeom prst="rect">
            <a:avLst/>
          </a:prstGeom>
        </p:spPr>
      </p:pic>
      <p:cxnSp>
        <p:nvCxnSpPr>
          <p:cNvPr id="21" name="Straight Arrow Connector 20"/>
          <p:cNvCxnSpPr/>
          <p:nvPr/>
        </p:nvCxnSpPr>
        <p:spPr>
          <a:xfrm>
            <a:off x="3489960" y="1752600"/>
            <a:ext cx="5234940" cy="2286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821" y="2568257"/>
            <a:ext cx="2175066" cy="1631299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3866" y="2566429"/>
            <a:ext cx="2177501" cy="1633127"/>
          </a:xfrm>
          <a:prstGeom prst="rect">
            <a:avLst/>
          </a:prstGeom>
        </p:spPr>
      </p:pic>
      <p:cxnSp>
        <p:nvCxnSpPr>
          <p:cNvPr id="28" name="Straight Arrow Connector 27"/>
          <p:cNvCxnSpPr/>
          <p:nvPr/>
        </p:nvCxnSpPr>
        <p:spPr>
          <a:xfrm>
            <a:off x="5423862" y="2760423"/>
            <a:ext cx="981603" cy="5272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/>
          <p:cNvPicPr>
            <a:picLocks noChangeAspect="1"/>
          </p:cNvPicPr>
          <p:nvPr/>
        </p:nvPicPr>
        <p:blipFill rotWithShape="1">
          <a:blip r:embed="rId6"/>
          <a:srcRect t="4044"/>
          <a:stretch/>
        </p:blipFill>
        <p:spPr>
          <a:xfrm>
            <a:off x="6073984" y="4242268"/>
            <a:ext cx="2769882" cy="105882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cxnSp>
        <p:nvCxnSpPr>
          <p:cNvPr id="31" name="Straight Arrow Connector 30"/>
          <p:cNvCxnSpPr/>
          <p:nvPr/>
        </p:nvCxnSpPr>
        <p:spPr>
          <a:xfrm>
            <a:off x="3369295" y="4771681"/>
            <a:ext cx="264342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/>
          <p:cNvPicPr>
            <a:picLocks noChangeAspect="1"/>
          </p:cNvPicPr>
          <p:nvPr/>
        </p:nvPicPr>
        <p:blipFill rotWithShape="1">
          <a:blip r:embed="rId7"/>
          <a:srcRect b="17226"/>
          <a:stretch/>
        </p:blipFill>
        <p:spPr>
          <a:xfrm>
            <a:off x="9673191" y="4888744"/>
            <a:ext cx="1968788" cy="907757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cxnSp>
        <p:nvCxnSpPr>
          <p:cNvPr id="34" name="Straight Arrow Connector 33"/>
          <p:cNvCxnSpPr/>
          <p:nvPr/>
        </p:nvCxnSpPr>
        <p:spPr>
          <a:xfrm>
            <a:off x="3952875" y="5086879"/>
            <a:ext cx="5633085" cy="3919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42622" y="5584318"/>
            <a:ext cx="3220393" cy="1075652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pic>
        <p:nvPicPr>
          <p:cNvPr id="39" name="Picture 3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7866" y="5757564"/>
            <a:ext cx="1347144" cy="823254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cxnSp>
        <p:nvCxnSpPr>
          <p:cNvPr id="40" name="Straight Arrow Connector 39"/>
          <p:cNvCxnSpPr>
            <a:endCxn id="38" idx="1"/>
          </p:cNvCxnSpPr>
          <p:nvPr/>
        </p:nvCxnSpPr>
        <p:spPr>
          <a:xfrm>
            <a:off x="3369295" y="5478780"/>
            <a:ext cx="1573327" cy="6433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5977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02178" y="721598"/>
            <a:ext cx="7324913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dirty="0" err="1">
                <a:solidFill>
                  <a:srgbClr val="C00000"/>
                </a:solidFill>
              </a:rPr>
              <a:t>Performance</a:t>
            </a:r>
            <a:r>
              <a:rPr lang="sv-SE" b="1" dirty="0">
                <a:solidFill>
                  <a:srgbClr val="C00000"/>
                </a:solidFill>
              </a:rPr>
              <a:t> </a:t>
            </a:r>
            <a:r>
              <a:rPr lang="sv-SE" b="1" dirty="0" err="1">
                <a:solidFill>
                  <a:srgbClr val="C00000"/>
                </a:solidFill>
              </a:rPr>
              <a:t>Evaluation</a:t>
            </a:r>
            <a:r>
              <a:rPr lang="sv-SE" b="1" u="sng" dirty="0" smtClean="0">
                <a:solidFill>
                  <a:srgbClr val="C00000"/>
                </a:solidFill>
              </a:rPr>
              <a:t>:</a:t>
            </a:r>
          </a:p>
          <a:p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Loss and Size Comparison</a:t>
            </a:r>
          </a:p>
          <a:p>
            <a:pPr marL="1714500" lvl="3" indent="-342900">
              <a:buFont typeface="+mj-lt"/>
              <a:buAutoNum type="alphaUcPeriod"/>
            </a:pPr>
            <a:endParaRPr lang="en-US" dirty="0"/>
          </a:p>
          <a:p>
            <a:pPr marL="1714500" lvl="3" indent="-342900">
              <a:buFont typeface="+mj-lt"/>
              <a:buAutoNum type="alphaUcPeriod"/>
            </a:pPr>
            <a:endParaRPr lang="en-US" dirty="0" smtClean="0"/>
          </a:p>
          <a:p>
            <a:pPr marL="1714500" lvl="3" indent="-342900">
              <a:buFont typeface="+mj-lt"/>
              <a:buAutoNum type="alphaUcPeriod"/>
            </a:pPr>
            <a:endParaRPr lang="en-US" dirty="0"/>
          </a:p>
          <a:p>
            <a:pPr marL="1714500" lvl="3" indent="-342900">
              <a:buFont typeface="+mj-lt"/>
              <a:buAutoNum type="alphaUcPeriod"/>
            </a:pPr>
            <a:endParaRPr lang="en-US" dirty="0" smtClean="0"/>
          </a:p>
          <a:p>
            <a:pPr lvl="3"/>
            <a:endParaRPr lang="en-US" dirty="0" smtClean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Output Harmonics   and Possible Motor Losses</a:t>
            </a:r>
          </a:p>
          <a:p>
            <a:pPr marL="342900" indent="-342900">
              <a:buFont typeface="+mj-lt"/>
              <a:buAutoNum type="alphaUcPeriod"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342900" indent="-342900">
              <a:buFont typeface="+mj-lt"/>
              <a:buAutoNum type="alphaUcPeriod"/>
            </a:pPr>
            <a:r>
              <a:rPr lang="en-US" dirty="0" smtClean="0"/>
              <a:t>Common Mode Voltage and Bearing Current</a:t>
            </a:r>
          </a:p>
          <a:p>
            <a:pPr marL="800100" lvl="1" indent="-342900">
              <a:buFont typeface="+mj-lt"/>
              <a:buAutoNum type="alphaUcPeriod"/>
            </a:pPr>
            <a:r>
              <a:rPr lang="en-US" dirty="0" smtClean="0"/>
              <a:t>PWM methodologies</a:t>
            </a:r>
            <a:endParaRPr lang="en-US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endParaRPr lang="sv-SE" dirty="0"/>
          </a:p>
          <a:p>
            <a:pPr lvl="3"/>
            <a:endParaRPr lang="en-US" b="1" dirty="0"/>
          </a:p>
          <a:p>
            <a:pPr lvl="3"/>
            <a:endParaRPr lang="sv-SE" b="1" dirty="0" smtClean="0"/>
          </a:p>
          <a:p>
            <a:pPr lvl="3"/>
            <a:endParaRPr lang="sv-SE" b="1" dirty="0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9425" y="72759"/>
            <a:ext cx="3762866" cy="2397998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 flipV="1">
            <a:off x="3619500" y="1476375"/>
            <a:ext cx="2924175" cy="190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4730" y="2594011"/>
            <a:ext cx="3377561" cy="1568153"/>
          </a:xfrm>
          <a:prstGeom prst="rect">
            <a:avLst/>
          </a:prstGeom>
        </p:spPr>
      </p:pic>
      <p:cxnSp>
        <p:nvCxnSpPr>
          <p:cNvPr id="23" name="Straight Arrow Connector 22"/>
          <p:cNvCxnSpPr>
            <a:endCxn id="22" idx="1"/>
          </p:cNvCxnSpPr>
          <p:nvPr/>
        </p:nvCxnSpPr>
        <p:spPr>
          <a:xfrm>
            <a:off x="5177422" y="3106159"/>
            <a:ext cx="2037308" cy="2719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091" y="4293505"/>
            <a:ext cx="3981450" cy="1670787"/>
          </a:xfrm>
          <a:prstGeom prst="rect">
            <a:avLst/>
          </a:prstGeom>
        </p:spPr>
      </p:pic>
      <p:cxnSp>
        <p:nvCxnSpPr>
          <p:cNvPr id="25" name="Straight Arrow Connector 24"/>
          <p:cNvCxnSpPr/>
          <p:nvPr/>
        </p:nvCxnSpPr>
        <p:spPr>
          <a:xfrm>
            <a:off x="5081587" y="4245485"/>
            <a:ext cx="2995613" cy="7122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2095" y="4988822"/>
            <a:ext cx="3197298" cy="1823765"/>
          </a:xfrm>
          <a:prstGeom prst="rect">
            <a:avLst/>
          </a:prstGeom>
        </p:spPr>
      </p:pic>
      <p:cxnSp>
        <p:nvCxnSpPr>
          <p:cNvPr id="32" name="Straight Arrow Connector 31"/>
          <p:cNvCxnSpPr/>
          <p:nvPr/>
        </p:nvCxnSpPr>
        <p:spPr>
          <a:xfrm>
            <a:off x="3382095" y="4495800"/>
            <a:ext cx="1598649" cy="4619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890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54500" y="292100"/>
            <a:ext cx="246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</a:rPr>
              <a:t>Virtual</a:t>
            </a:r>
            <a:r>
              <a:rPr lang="sv-SE" b="1" u="sng" dirty="0">
                <a:solidFill>
                  <a:srgbClr val="C00000"/>
                </a:solidFill>
              </a:rPr>
              <a:t> </a:t>
            </a:r>
            <a:r>
              <a:rPr lang="sv-SE" b="1" u="sng" dirty="0" err="1">
                <a:solidFill>
                  <a:srgbClr val="C00000"/>
                </a:solidFill>
              </a:rPr>
              <a:t>Prototyping</a:t>
            </a:r>
            <a:endParaRPr lang="sv-SE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" y="1235075"/>
            <a:ext cx="4476750" cy="93345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25" y="756682"/>
            <a:ext cx="4587357" cy="259715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587" y="2168525"/>
            <a:ext cx="4048125" cy="127635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825" y="4196040"/>
            <a:ext cx="4800600" cy="619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6625" y="701953"/>
            <a:ext cx="246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 smtClean="0">
                <a:solidFill>
                  <a:srgbClr val="C00000"/>
                </a:solidFill>
              </a:rPr>
              <a:t>Conduction</a:t>
            </a:r>
            <a:r>
              <a:rPr lang="sv-SE" b="1" u="sng" dirty="0" smtClean="0">
                <a:solidFill>
                  <a:srgbClr val="C00000"/>
                </a:solidFill>
              </a:rPr>
              <a:t> Loss</a:t>
            </a:r>
            <a:endParaRPr lang="sv-SE" dirty="0"/>
          </a:p>
        </p:txBody>
      </p:sp>
      <p:sp>
        <p:nvSpPr>
          <p:cNvPr id="10" name="TextBox 9"/>
          <p:cNvSpPr txBox="1"/>
          <p:nvPr/>
        </p:nvSpPr>
        <p:spPr>
          <a:xfrm>
            <a:off x="936625" y="3793847"/>
            <a:ext cx="3413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 smtClean="0">
                <a:solidFill>
                  <a:srgbClr val="C00000"/>
                </a:solidFill>
              </a:rPr>
              <a:t>Zero</a:t>
            </a:r>
            <a:r>
              <a:rPr lang="sv-SE" b="1" u="sng" dirty="0" smtClean="0">
                <a:solidFill>
                  <a:srgbClr val="C00000"/>
                </a:solidFill>
              </a:rPr>
              <a:t> </a:t>
            </a:r>
            <a:r>
              <a:rPr lang="sv-SE" b="1" u="sng" dirty="0" err="1" smtClean="0">
                <a:solidFill>
                  <a:srgbClr val="C00000"/>
                </a:solidFill>
              </a:rPr>
              <a:t>Current</a:t>
            </a:r>
            <a:r>
              <a:rPr lang="sv-SE" b="1" u="sng" dirty="0" smtClean="0">
                <a:solidFill>
                  <a:srgbClr val="C00000"/>
                </a:solidFill>
              </a:rPr>
              <a:t> </a:t>
            </a:r>
            <a:r>
              <a:rPr lang="sv-SE" b="1" u="sng" dirty="0" err="1" smtClean="0">
                <a:solidFill>
                  <a:srgbClr val="C00000"/>
                </a:solidFill>
              </a:rPr>
              <a:t>Switching</a:t>
            </a:r>
            <a:r>
              <a:rPr lang="sv-SE" b="1" u="sng" dirty="0" smtClean="0">
                <a:solidFill>
                  <a:srgbClr val="C00000"/>
                </a:solidFill>
              </a:rPr>
              <a:t> Loss</a:t>
            </a:r>
            <a:endParaRPr lang="sv-SE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337" y="4680505"/>
            <a:ext cx="5743575" cy="542925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5225" y="3742245"/>
            <a:ext cx="4678363" cy="256489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2075" y="5299630"/>
            <a:ext cx="40767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769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54500" y="292100"/>
            <a:ext cx="246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>
                <a:solidFill>
                  <a:srgbClr val="C00000"/>
                </a:solidFill>
              </a:rPr>
              <a:t>Virtual</a:t>
            </a:r>
            <a:r>
              <a:rPr lang="sv-SE" b="1" u="sng" dirty="0">
                <a:solidFill>
                  <a:srgbClr val="C00000"/>
                </a:solidFill>
              </a:rPr>
              <a:t> </a:t>
            </a:r>
            <a:r>
              <a:rPr lang="sv-SE" b="1" u="sng" dirty="0" err="1">
                <a:solidFill>
                  <a:srgbClr val="C00000"/>
                </a:solidFill>
              </a:rPr>
              <a:t>Prototyping</a:t>
            </a:r>
            <a:endParaRPr lang="sv-SE" dirty="0"/>
          </a:p>
        </p:txBody>
      </p:sp>
      <p:sp>
        <p:nvSpPr>
          <p:cNvPr id="9" name="TextBox 8"/>
          <p:cNvSpPr txBox="1"/>
          <p:nvPr/>
        </p:nvSpPr>
        <p:spPr>
          <a:xfrm>
            <a:off x="936624" y="701953"/>
            <a:ext cx="42068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b="1" u="sng" dirty="0" err="1" smtClean="0">
                <a:solidFill>
                  <a:srgbClr val="C00000"/>
                </a:solidFill>
              </a:rPr>
              <a:t>Switching</a:t>
            </a:r>
            <a:r>
              <a:rPr lang="sv-SE" b="1" u="sng" dirty="0" smtClean="0">
                <a:solidFill>
                  <a:srgbClr val="C00000"/>
                </a:solidFill>
              </a:rPr>
              <a:t> Loss – dv/dt and di/dt</a:t>
            </a:r>
            <a:endParaRPr lang="sv-SE" dirty="0"/>
          </a:p>
        </p:txBody>
      </p:sp>
      <p:pic>
        <p:nvPicPr>
          <p:cNvPr id="2050" name="Picture 2" descr="C:\Users\enesa\AppData\Local\Temp\ConnectorClipboard9001578144035710531\image1699519413576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5524" y="2147888"/>
            <a:ext cx="3086100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:\Users\enesa\AppData\Local\Temp\ConnectorClipboard9001578144035710531\image1699519418712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4" y="2831307"/>
            <a:ext cx="5391150" cy="1211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:\Users\enesa\AppData\Local\Temp\ConnectorClipboard9001578144035710531\image16995194262400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712" y="1290618"/>
            <a:ext cx="5895975" cy="1390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4321062"/>
            <a:ext cx="4519613" cy="242937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6838" y="4977637"/>
            <a:ext cx="316766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/>
              <a:t>2-level loss-</a:t>
            </a:r>
            <a:r>
              <a:rPr lang="sv-SE" dirty="0" err="1"/>
              <a:t>minimized</a:t>
            </a:r>
            <a:r>
              <a:rPr lang="sv-SE" dirty="0"/>
              <a:t> </a:t>
            </a:r>
            <a:endParaRPr lang="sv-SE" dirty="0" smtClean="0"/>
          </a:p>
          <a:p>
            <a:r>
              <a:rPr lang="sv-SE" dirty="0" smtClean="0"/>
              <a:t>optimal </a:t>
            </a:r>
            <a:r>
              <a:rPr lang="sv-SE" dirty="0" err="1"/>
              <a:t>semiconductor</a:t>
            </a:r>
            <a:r>
              <a:rPr lang="sv-SE" dirty="0"/>
              <a:t> </a:t>
            </a:r>
            <a:r>
              <a:rPr lang="sv-SE" dirty="0" err="1"/>
              <a:t>die</a:t>
            </a:r>
            <a:r>
              <a:rPr lang="sv-SE" dirty="0"/>
              <a:t> </a:t>
            </a:r>
            <a:r>
              <a:rPr lang="sv-SE" dirty="0" smtClean="0"/>
              <a:t>area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241352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944</TotalTime>
  <Words>517</Words>
  <Application>Microsoft Office PowerPoint</Application>
  <PresentationFormat>Widescreen</PresentationFormat>
  <Paragraphs>110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Cambria Math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33</cp:revision>
  <dcterms:created xsi:type="dcterms:W3CDTF">2023-10-25T13:10:18Z</dcterms:created>
  <dcterms:modified xsi:type="dcterms:W3CDTF">2023-11-10T12:29:22Z</dcterms:modified>
</cp:coreProperties>
</file>