
<file path=[Content_Types].xml><?xml version="1.0" encoding="utf-8"?>
<Types xmlns="http://schemas.openxmlformats.org/package/2006/content-types">
  <Default Extension="emf" ContentType="image/x-emf"/>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3"/>
  </p:notesMasterIdLst>
  <p:sldIdLst>
    <p:sldId id="256" r:id="rId2"/>
    <p:sldId id="281" r:id="rId3"/>
    <p:sldId id="282" r:id="rId4"/>
    <p:sldId id="284" r:id="rId5"/>
    <p:sldId id="289" r:id="rId6"/>
    <p:sldId id="285" r:id="rId7"/>
    <p:sldId id="287" r:id="rId8"/>
    <p:sldId id="290" r:id="rId9"/>
    <p:sldId id="283" r:id="rId10"/>
    <p:sldId id="286" r:id="rId11"/>
    <p:sldId id="288" r:id="rId12"/>
  </p:sldIdLst>
  <p:sldSz cx="12192000" cy="6858000"/>
  <p:notesSz cx="6858000" cy="9144000"/>
  <p:embeddedFontLst>
    <p:embeddedFont>
      <p:font typeface="Cambria Math" panose="02040503050406030204" pitchFamily="18" charset="0"/>
      <p:regular r:id="rId14"/>
    </p:embeddedFont>
    <p:embeddedFont>
      <p:font typeface="Figtree" panose="020B0604020202020204" charset="0"/>
      <p:regular r:id="rId15"/>
      <p:bold r:id="rId16"/>
      <p:italic r:id="rId17"/>
      <p:boldItalic r:id="rId18"/>
    </p:embeddedFont>
    <p:embeddedFont>
      <p:font typeface="Georgia" panose="02040502050405020303" pitchFamily="18" charset="0"/>
      <p:regular r:id="rId19"/>
      <p:bold r:id="rId20"/>
      <p:italic r:id="rId21"/>
      <p:boldItalic r:id="rId22"/>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42" autoAdjust="0"/>
    <p:restoredTop sz="96327"/>
  </p:normalViewPr>
  <p:slideViewPr>
    <p:cSldViewPr snapToGrid="0">
      <p:cViewPr>
        <p:scale>
          <a:sx n="100" d="100"/>
          <a:sy n="100" d="100"/>
        </p:scale>
        <p:origin x="1086"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2026-03-04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2026-03-04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2026-03-04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2026-03-04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2026-03-04</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2026-03-04</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2026-03-04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2026-03-04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2026-03-04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2026-03-04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2026-03-04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2026-03-04</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2026-03-04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2026-03-04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2026-03-04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2026-03-04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2026-03-04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2026-03-04</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8.png"/><Relationship Id="rId3" Type="http://schemas.openxmlformats.org/officeDocument/2006/relationships/image" Target="../media/image50.png"/><Relationship Id="rId7" Type="http://schemas.openxmlformats.org/officeDocument/2006/relationships/image" Target="../media/image48.gif"/><Relationship Id="rId12" Type="http://schemas.openxmlformats.org/officeDocument/2006/relationships/image" Target="../media/image56.png"/><Relationship Id="rId17" Type="http://schemas.openxmlformats.org/officeDocument/2006/relationships/image" Target="../media/image63.png"/><Relationship Id="rId2" Type="http://schemas.openxmlformats.org/officeDocument/2006/relationships/image" Target="../media/image49.png"/><Relationship Id="rId1" Type="http://schemas.openxmlformats.org/officeDocument/2006/relationships/slideLayout" Target="../slideLayouts/slideLayout12.xml"/><Relationship Id="rId6" Type="http://schemas.openxmlformats.org/officeDocument/2006/relationships/image" Target="../media/image47.png"/><Relationship Id="rId11" Type="http://schemas.openxmlformats.org/officeDocument/2006/relationships/image" Target="../media/image57.png"/><Relationship Id="rId5" Type="http://schemas.openxmlformats.org/officeDocument/2006/relationships/image" Target="../media/image52.png"/><Relationship Id="rId10" Type="http://schemas.openxmlformats.org/officeDocument/2006/relationships/image" Target="../media/image55.png"/><Relationship Id="rId4" Type="http://schemas.openxmlformats.org/officeDocument/2006/relationships/image" Target="../media/image51.png"/><Relationship Id="rId9" Type="http://schemas.openxmlformats.org/officeDocument/2006/relationships/image" Target="../media/image53.png"/><Relationship Id="rId14" Type="http://schemas.openxmlformats.org/officeDocument/2006/relationships/image" Target="../media/image59.png"/></Relationships>
</file>

<file path=ppt/slides/_rels/slide7.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48.gif"/><Relationship Id="rId1" Type="http://schemas.openxmlformats.org/officeDocument/2006/relationships/slideLayout" Target="../slideLayouts/slideLayout12.xml"/><Relationship Id="rId4" Type="http://schemas.openxmlformats.org/officeDocument/2006/relationships/image" Target="../media/image61.emf"/></Relationships>
</file>

<file path=ppt/slides/_rels/slide8.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48.gif"/><Relationship Id="rId1" Type="http://schemas.openxmlformats.org/officeDocument/2006/relationships/slideLayout" Target="../slideLayouts/slideLayout12.xml"/><Relationship Id="rId4" Type="http://schemas.openxmlformats.org/officeDocument/2006/relationships/image" Target="../media/image63.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0.png"/><Relationship Id="rId3" Type="http://schemas.openxmlformats.org/officeDocument/2006/relationships/image" Target="../media/image50.png"/><Relationship Id="rId7" Type="http://schemas.openxmlformats.org/officeDocument/2006/relationships/image" Target="../media/image48.gif"/><Relationship Id="rId12" Type="http://schemas.openxmlformats.org/officeDocument/2006/relationships/image" Target="../media/image580.png"/><Relationship Id="rId17" Type="http://schemas.openxmlformats.org/officeDocument/2006/relationships/image" Target="../media/image63.png"/><Relationship Id="rId2" Type="http://schemas.openxmlformats.org/officeDocument/2006/relationships/image" Target="../media/image49.png"/><Relationship Id="rId16" Type="http://schemas.openxmlformats.org/officeDocument/2006/relationships/image" Target="../media/image62.png"/><Relationship Id="rId1" Type="http://schemas.openxmlformats.org/officeDocument/2006/relationships/slideLayout" Target="../slideLayouts/slideLayout12.xml"/><Relationship Id="rId6" Type="http://schemas.openxmlformats.org/officeDocument/2006/relationships/image" Target="../media/image530.png"/><Relationship Id="rId11" Type="http://schemas.openxmlformats.org/officeDocument/2006/relationships/image" Target="../media/image57.png"/><Relationship Id="rId5" Type="http://schemas.openxmlformats.org/officeDocument/2006/relationships/image" Target="../media/image52.png"/><Relationship Id="rId15" Type="http://schemas.openxmlformats.org/officeDocument/2006/relationships/image" Target="../media/image61.png"/><Relationship Id="rId10" Type="http://schemas.openxmlformats.org/officeDocument/2006/relationships/image" Target="../media/image560.png"/><Relationship Id="rId4" Type="http://schemas.openxmlformats.org/officeDocument/2006/relationships/image" Target="../media/image51.png"/><Relationship Id="rId9" Type="http://schemas.openxmlformats.org/officeDocument/2006/relationships/image" Target="../media/image550.png"/><Relationship Id="rId1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a:t>DC-Link Capacitor</a:t>
            </a:r>
            <a:br>
              <a:rPr lang="en-US" dirty="0"/>
            </a:br>
            <a:r>
              <a:rPr lang="en-US" dirty="0"/>
              <a:t>RMS Current Minimization</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i="1" dirty="0">
                <a:solidFill>
                  <a:srgbClr val="6298D2"/>
                </a:solidFill>
                <a:latin typeface="Calibri" pitchFamily="34" charset="0"/>
                <a:ea typeface="Calibri" pitchFamily="34" charset="-122"/>
                <a:cs typeface="Calibri" pitchFamily="34" charset="-120"/>
              </a:rPr>
              <a:t>Adaptive Multi-Carrier PWM via Triple Overlap Principle</a:t>
            </a:r>
            <a:endParaRPr lang="en-US" dirty="0"/>
          </a:p>
          <a:p>
            <a:endParaRPr lang="sv-SE" dirty="0"/>
          </a:p>
        </p:txBody>
      </p:sp>
    </p:spTree>
    <p:extLst>
      <p:ext uri="{BB962C8B-B14F-4D97-AF65-F5344CB8AC3E}">
        <p14:creationId xmlns:p14="http://schemas.microsoft.com/office/powerpoint/2010/main" val="20812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dirty="0"/>
              <a:t>PROBLEM 				</a:t>
            </a:r>
            <a:r>
              <a:rPr kumimoji="0" lang="en-US" sz="1800" b="0" i="0" u="none" strike="noStrike" kern="1200" cap="none" spc="0" normalizeH="0" baseline="0" noProof="0" dirty="0">
                <a:ln>
                  <a:noFill/>
                </a:ln>
                <a:solidFill>
                  <a:srgbClr val="000061"/>
                </a:solidFill>
                <a:effectLst/>
                <a:uLnTx/>
                <a:uFillTx/>
                <a:latin typeface="Georgia" pitchFamily="34" charset="0"/>
                <a:ea typeface="Georgia" pitchFamily="34" charset="-122"/>
                <a:cs typeface="Georgia" pitchFamily="34" charset="-120"/>
              </a:rPr>
              <a:t>Uncontrolled switching → excessive capacitor stress</a:t>
            </a:r>
            <a:br>
              <a:rPr kumimoji="0" lang="sv-SE" sz="1800" b="0" i="0" u="none" strike="noStrike" kern="1200" cap="none" spc="0" normalizeH="0" baseline="0" noProof="0" dirty="0">
                <a:ln>
                  <a:noFill/>
                </a:ln>
                <a:solidFill>
                  <a:srgbClr val="000000"/>
                </a:solidFill>
                <a:effectLst/>
                <a:uLnTx/>
                <a:uFillTx/>
                <a:latin typeface="Figtree" panose="020F0502020204030204"/>
                <a:ea typeface="+mn-ea"/>
                <a:cs typeface="+mn-cs"/>
              </a:rPr>
            </a:br>
            <a:endParaRPr lang="en-US" dirty="0"/>
          </a:p>
        </p:txBody>
      </p:sp>
      <p:sp>
        <p:nvSpPr>
          <p:cNvPr id="17" name="Shape 8">
            <a:extLst>
              <a:ext uri="{FF2B5EF4-FFF2-40B4-BE49-F238E27FC236}">
                <a16:creationId xmlns:a16="http://schemas.microsoft.com/office/drawing/2014/main" id="{9FFD7390-72A2-3A18-6EEB-0CFAFD454765}"/>
              </a:ext>
            </a:extLst>
          </p:cNvPr>
          <p:cNvSpPr/>
          <p:nvPr/>
        </p:nvSpPr>
        <p:spPr>
          <a:xfrm>
            <a:off x="8685022" y="2637282"/>
            <a:ext cx="2670048" cy="1078992"/>
          </a:xfrm>
          <a:prstGeom prst="rect">
            <a:avLst/>
          </a:prstGeom>
          <a:solidFill>
            <a:srgbClr val="DEF0FF"/>
          </a:solidFill>
          <a:ln w="10160">
            <a:solidFill>
              <a:srgbClr val="6298D2"/>
            </a:solidFill>
            <a:prstDash val="solid"/>
          </a:ln>
          <a:effectLst>
            <a:outerShdw blurRad="63500" dist="25400" dir="8100000" algn="bl" rotWithShape="0">
              <a:srgbClr val="000000">
                <a:alpha val="12000"/>
              </a:srgbClr>
            </a:outerShdw>
          </a:effectLst>
        </p:spPr>
        <p:txBody>
          <a:bodyPr/>
          <a:lstStyle/>
          <a:p>
            <a:endParaRPr lang="sv-SE"/>
          </a:p>
        </p:txBody>
      </p:sp>
      <p:sp>
        <p:nvSpPr>
          <p:cNvPr id="18" name="Shape 9">
            <a:extLst>
              <a:ext uri="{FF2B5EF4-FFF2-40B4-BE49-F238E27FC236}">
                <a16:creationId xmlns:a16="http://schemas.microsoft.com/office/drawing/2014/main" id="{519621D1-556E-43F0-B64C-0593A14E9FA8}"/>
              </a:ext>
            </a:extLst>
          </p:cNvPr>
          <p:cNvSpPr/>
          <p:nvPr/>
        </p:nvSpPr>
        <p:spPr>
          <a:xfrm>
            <a:off x="8685022" y="2637282"/>
            <a:ext cx="54864" cy="1078992"/>
          </a:xfrm>
          <a:prstGeom prst="rect">
            <a:avLst/>
          </a:prstGeom>
          <a:solidFill>
            <a:srgbClr val="A0281E"/>
          </a:solidFill>
          <a:ln w="12700">
            <a:solidFill>
              <a:srgbClr val="A0281E"/>
            </a:solidFill>
            <a:prstDash val="solid"/>
          </a:ln>
        </p:spPr>
        <p:txBody>
          <a:bodyPr/>
          <a:lstStyle/>
          <a:p>
            <a:endParaRPr lang="sv-SE"/>
          </a:p>
        </p:txBody>
      </p:sp>
      <p:sp>
        <p:nvSpPr>
          <p:cNvPr id="19" name="Text 10">
            <a:extLst>
              <a:ext uri="{FF2B5EF4-FFF2-40B4-BE49-F238E27FC236}">
                <a16:creationId xmlns:a16="http://schemas.microsoft.com/office/drawing/2014/main" id="{C5F13247-B777-CE9C-2DF1-9FF1BC375023}"/>
              </a:ext>
            </a:extLst>
          </p:cNvPr>
          <p:cNvSpPr/>
          <p:nvPr/>
        </p:nvSpPr>
        <p:spPr>
          <a:xfrm>
            <a:off x="8831326" y="2710434"/>
            <a:ext cx="2468880" cy="502920"/>
          </a:xfrm>
          <a:prstGeom prst="rect">
            <a:avLst/>
          </a:prstGeom>
          <a:noFill/>
          <a:ln/>
        </p:spPr>
        <p:txBody>
          <a:bodyPr wrap="square" rtlCol="0" anchor="ctr"/>
          <a:lstStyle/>
          <a:p>
            <a:pPr marL="0" indent="0" algn="l">
              <a:buNone/>
            </a:pPr>
            <a:r>
              <a:rPr lang="en-US" sz="2600" b="1" dirty="0">
                <a:solidFill>
                  <a:srgbClr val="A0281E"/>
                </a:solidFill>
                <a:latin typeface="Georgia" pitchFamily="34" charset="0"/>
                <a:ea typeface="Georgia" pitchFamily="34" charset="-122"/>
                <a:cs typeface="Georgia" pitchFamily="34" charset="-120"/>
              </a:rPr>
              <a:t>~30%</a:t>
            </a:r>
            <a:endParaRPr lang="en-US" sz="2600" dirty="0"/>
          </a:p>
        </p:txBody>
      </p:sp>
      <p:sp>
        <p:nvSpPr>
          <p:cNvPr id="20" name="Text 11">
            <a:extLst>
              <a:ext uri="{FF2B5EF4-FFF2-40B4-BE49-F238E27FC236}">
                <a16:creationId xmlns:a16="http://schemas.microsoft.com/office/drawing/2014/main" id="{0AF4248B-AA09-CDCF-8EDC-3D2A7AF04DD0}"/>
              </a:ext>
            </a:extLst>
          </p:cNvPr>
          <p:cNvSpPr/>
          <p:nvPr/>
        </p:nvSpPr>
        <p:spPr>
          <a:xfrm>
            <a:off x="8831326" y="3185922"/>
            <a:ext cx="2468880" cy="475488"/>
          </a:xfrm>
          <a:prstGeom prst="rect">
            <a:avLst/>
          </a:prstGeom>
          <a:noFill/>
          <a:ln/>
        </p:spPr>
        <p:txBody>
          <a:bodyPr wrap="square" rtlCol="0" anchor="ctr"/>
          <a:lstStyle/>
          <a:p>
            <a:pPr marL="0" indent="0" algn="l">
              <a:buNone/>
            </a:pPr>
            <a:r>
              <a:rPr lang="en-US" sz="950" dirty="0">
                <a:solidFill>
                  <a:srgbClr val="1A1A2E"/>
                </a:solidFill>
              </a:rPr>
              <a:t>of inverter failures</a:t>
            </a:r>
            <a:endParaRPr lang="en-US" sz="950" dirty="0"/>
          </a:p>
          <a:p>
            <a:pPr marL="0" indent="0" algn="l">
              <a:buNone/>
            </a:pPr>
            <a:r>
              <a:rPr lang="en-US" sz="950" dirty="0">
                <a:solidFill>
                  <a:srgbClr val="1A1A2E"/>
                </a:solidFill>
              </a:rPr>
              <a:t>linked to DC-link</a:t>
            </a:r>
            <a:endParaRPr lang="en-US" sz="950" dirty="0"/>
          </a:p>
          <a:p>
            <a:pPr marL="0" indent="0" algn="l">
              <a:buNone/>
            </a:pPr>
            <a:r>
              <a:rPr lang="en-US" sz="950" dirty="0">
                <a:solidFill>
                  <a:srgbClr val="1A1A2E"/>
                </a:solidFill>
              </a:rPr>
              <a:t>capacitor</a:t>
            </a:r>
            <a:endParaRPr lang="en-US" sz="950" dirty="0"/>
          </a:p>
        </p:txBody>
      </p:sp>
      <p:sp>
        <p:nvSpPr>
          <p:cNvPr id="21" name="Shape 12">
            <a:extLst>
              <a:ext uri="{FF2B5EF4-FFF2-40B4-BE49-F238E27FC236}">
                <a16:creationId xmlns:a16="http://schemas.microsoft.com/office/drawing/2014/main" id="{51D2ECAA-29C4-DD19-40A2-E639E16F4250}"/>
              </a:ext>
            </a:extLst>
          </p:cNvPr>
          <p:cNvSpPr/>
          <p:nvPr/>
        </p:nvSpPr>
        <p:spPr>
          <a:xfrm>
            <a:off x="8685022" y="3871722"/>
            <a:ext cx="2670048" cy="1078992"/>
          </a:xfrm>
          <a:prstGeom prst="rect">
            <a:avLst/>
          </a:prstGeom>
          <a:solidFill>
            <a:srgbClr val="DEF0FF"/>
          </a:solidFill>
          <a:ln w="10160">
            <a:solidFill>
              <a:srgbClr val="6298D2"/>
            </a:solidFill>
            <a:prstDash val="solid"/>
          </a:ln>
          <a:effectLst>
            <a:outerShdw blurRad="63500" dist="25400" dir="8100000" algn="bl" rotWithShape="0">
              <a:srgbClr val="000000">
                <a:alpha val="12000"/>
              </a:srgbClr>
            </a:outerShdw>
          </a:effectLst>
        </p:spPr>
        <p:txBody>
          <a:bodyPr/>
          <a:lstStyle/>
          <a:p>
            <a:endParaRPr lang="sv-SE"/>
          </a:p>
        </p:txBody>
      </p:sp>
      <p:sp>
        <p:nvSpPr>
          <p:cNvPr id="22" name="Shape 13">
            <a:extLst>
              <a:ext uri="{FF2B5EF4-FFF2-40B4-BE49-F238E27FC236}">
                <a16:creationId xmlns:a16="http://schemas.microsoft.com/office/drawing/2014/main" id="{BBB695A4-7B20-0814-D5C3-C52C28E7BEB2}"/>
              </a:ext>
            </a:extLst>
          </p:cNvPr>
          <p:cNvSpPr/>
          <p:nvPr/>
        </p:nvSpPr>
        <p:spPr>
          <a:xfrm>
            <a:off x="8685022" y="3871722"/>
            <a:ext cx="54864" cy="1078992"/>
          </a:xfrm>
          <a:prstGeom prst="rect">
            <a:avLst/>
          </a:prstGeom>
          <a:solidFill>
            <a:srgbClr val="D4860A"/>
          </a:solidFill>
          <a:ln w="12700">
            <a:solidFill>
              <a:srgbClr val="D4860A"/>
            </a:solidFill>
            <a:prstDash val="solid"/>
          </a:ln>
        </p:spPr>
        <p:txBody>
          <a:bodyPr/>
          <a:lstStyle/>
          <a:p>
            <a:endParaRPr lang="sv-SE"/>
          </a:p>
        </p:txBody>
      </p:sp>
      <p:sp>
        <p:nvSpPr>
          <p:cNvPr id="23" name="Text 14">
            <a:extLst>
              <a:ext uri="{FF2B5EF4-FFF2-40B4-BE49-F238E27FC236}">
                <a16:creationId xmlns:a16="http://schemas.microsoft.com/office/drawing/2014/main" id="{5CF84B53-A029-6905-B5DB-05D4A2E222CA}"/>
              </a:ext>
            </a:extLst>
          </p:cNvPr>
          <p:cNvSpPr/>
          <p:nvPr/>
        </p:nvSpPr>
        <p:spPr>
          <a:xfrm>
            <a:off x="8831326" y="3944874"/>
            <a:ext cx="2468880" cy="502920"/>
          </a:xfrm>
          <a:prstGeom prst="rect">
            <a:avLst/>
          </a:prstGeom>
          <a:noFill/>
          <a:ln/>
        </p:spPr>
        <p:txBody>
          <a:bodyPr wrap="square" rtlCol="0" anchor="ctr"/>
          <a:lstStyle/>
          <a:p>
            <a:pPr marL="0" indent="0" algn="l">
              <a:buNone/>
            </a:pPr>
            <a:r>
              <a:rPr lang="en-US" sz="2600" b="1" dirty="0">
                <a:solidFill>
                  <a:srgbClr val="D4860A"/>
                </a:solidFill>
                <a:latin typeface="Georgia" pitchFamily="34" charset="0"/>
                <a:ea typeface="Georgia" pitchFamily="34" charset="-122"/>
                <a:cs typeface="Georgia" pitchFamily="34" charset="-120"/>
              </a:rPr>
              <a:t>↑ RMS</a:t>
            </a:r>
            <a:endParaRPr lang="en-US" sz="2600" dirty="0"/>
          </a:p>
        </p:txBody>
      </p:sp>
      <p:sp>
        <p:nvSpPr>
          <p:cNvPr id="24" name="Text 15">
            <a:extLst>
              <a:ext uri="{FF2B5EF4-FFF2-40B4-BE49-F238E27FC236}">
                <a16:creationId xmlns:a16="http://schemas.microsoft.com/office/drawing/2014/main" id="{61B461AB-71EB-C9FF-586A-917EDB885570}"/>
              </a:ext>
            </a:extLst>
          </p:cNvPr>
          <p:cNvSpPr/>
          <p:nvPr/>
        </p:nvSpPr>
        <p:spPr>
          <a:xfrm>
            <a:off x="8831326" y="4420362"/>
            <a:ext cx="2468880" cy="475488"/>
          </a:xfrm>
          <a:prstGeom prst="rect">
            <a:avLst/>
          </a:prstGeom>
          <a:noFill/>
          <a:ln/>
        </p:spPr>
        <p:txBody>
          <a:bodyPr wrap="square" rtlCol="0" anchor="ctr"/>
          <a:lstStyle/>
          <a:p>
            <a:pPr marL="0" indent="0" algn="l">
              <a:buNone/>
            </a:pPr>
            <a:r>
              <a:rPr lang="en-US" sz="950" dirty="0">
                <a:solidFill>
                  <a:srgbClr val="1A1A2E"/>
                </a:solidFill>
              </a:rPr>
              <a:t>causes thermal</a:t>
            </a:r>
            <a:endParaRPr lang="en-US" sz="950" dirty="0"/>
          </a:p>
          <a:p>
            <a:pPr marL="0" indent="0" algn="l">
              <a:buNone/>
            </a:pPr>
            <a:r>
              <a:rPr lang="en-US" sz="950" dirty="0">
                <a:solidFill>
                  <a:srgbClr val="1A1A2E"/>
                </a:solidFill>
              </a:rPr>
              <a:t>stress &amp; lifetime</a:t>
            </a:r>
            <a:endParaRPr lang="en-US" sz="950" dirty="0"/>
          </a:p>
          <a:p>
            <a:pPr marL="0" indent="0" algn="l">
              <a:buNone/>
            </a:pPr>
            <a:r>
              <a:rPr lang="en-US" sz="950" dirty="0">
                <a:solidFill>
                  <a:srgbClr val="1A1A2E"/>
                </a:solidFill>
              </a:rPr>
              <a:t>reduction</a:t>
            </a:r>
            <a:endParaRPr lang="en-US" sz="950" dirty="0"/>
          </a:p>
        </p:txBody>
      </p:sp>
      <p:pic>
        <p:nvPicPr>
          <p:cNvPr id="39" name="Picture 38">
            <a:extLst>
              <a:ext uri="{FF2B5EF4-FFF2-40B4-BE49-F238E27FC236}">
                <a16:creationId xmlns:a16="http://schemas.microsoft.com/office/drawing/2014/main" id="{B6F5F536-C58B-4161-7B33-B43065723F9B}"/>
              </a:ext>
            </a:extLst>
          </p:cNvPr>
          <p:cNvPicPr>
            <a:picLocks noChangeAspect="1"/>
          </p:cNvPicPr>
          <p:nvPr/>
        </p:nvPicPr>
        <p:blipFill>
          <a:blip r:embed="rId2"/>
          <a:stretch>
            <a:fillRect/>
          </a:stretch>
        </p:blipFill>
        <p:spPr>
          <a:xfrm>
            <a:off x="194055" y="1206500"/>
            <a:ext cx="8061525" cy="5130061"/>
          </a:xfrm>
          <a:prstGeom prst="rect">
            <a:avLst/>
          </a:prstGeom>
        </p:spPr>
      </p:pic>
    </p:spTree>
    <p:extLst>
      <p:ext uri="{BB962C8B-B14F-4D97-AF65-F5344CB8AC3E}">
        <p14:creationId xmlns:p14="http://schemas.microsoft.com/office/powerpoint/2010/main" val="1905052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BFB66-D83F-75D6-F587-7F3FB1B695C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E56882B-5199-61FB-64F1-EF7BBCCB8E59}"/>
              </a:ext>
            </a:extLst>
          </p:cNvPr>
          <p:cNvSpPr>
            <a:spLocks noGrp="1"/>
          </p:cNvSpPr>
          <p:nvPr>
            <p:ph type="title"/>
          </p:nvPr>
        </p:nvSpPr>
        <p:spPr>
          <a:xfrm>
            <a:off x="984260" y="283592"/>
            <a:ext cx="10990263" cy="568412"/>
          </a:xfrm>
        </p:spPr>
        <p:txBody>
          <a:bodyPr/>
          <a:lstStyle/>
          <a:p>
            <a:pPr>
              <a:lnSpc>
                <a:spcPct val="100000"/>
              </a:lnSpc>
              <a:spcBef>
                <a:spcPts val="0"/>
              </a:spcBef>
              <a:defRPr/>
            </a:pPr>
            <a:r>
              <a:rPr lang="en-US" dirty="0"/>
              <a:t>Analytical Foundation 			</a:t>
            </a:r>
            <a:r>
              <a:rPr lang="en-US" sz="1800" b="0" dirty="0">
                <a:solidFill>
                  <a:srgbClr val="000061"/>
                </a:solidFill>
                <a:latin typeface="Georgia" pitchFamily="34" charset="0"/>
                <a:ea typeface="Georgia" pitchFamily="34" charset="-122"/>
                <a:cs typeface="Georgia" pitchFamily="34" charset="-120"/>
              </a:rPr>
              <a:t>RMS² budget decomposition</a:t>
            </a:r>
            <a:r>
              <a:rPr kumimoji="0" lang="en-US" sz="1800" b="0" i="0" u="none" strike="noStrike" kern="1200" cap="none" spc="0" normalizeH="0" baseline="0" noProof="0" dirty="0">
                <a:ln>
                  <a:noFill/>
                </a:ln>
                <a:solidFill>
                  <a:srgbClr val="000061"/>
                </a:solidFill>
                <a:effectLst/>
                <a:uLnTx/>
                <a:uFillTx/>
                <a:latin typeface="Georgia" pitchFamily="34" charset="0"/>
                <a:ea typeface="Georgia" pitchFamily="34" charset="-122"/>
                <a:cs typeface="Georgia" pitchFamily="34" charset="-120"/>
              </a:rPr>
              <a:t>s</a:t>
            </a:r>
            <a:br>
              <a:rPr kumimoji="0" lang="sv-SE" sz="1800" b="0" i="0" u="none" strike="noStrike" kern="1200" cap="none" spc="0" normalizeH="0" baseline="0" noProof="0" dirty="0">
                <a:ln>
                  <a:noFill/>
                </a:ln>
                <a:solidFill>
                  <a:srgbClr val="000000"/>
                </a:solidFill>
                <a:effectLst/>
                <a:uLnTx/>
                <a:uFillTx/>
                <a:latin typeface="Figtree" panose="020F0502020204030204"/>
                <a:ea typeface="+mn-ea"/>
                <a:cs typeface="+mn-cs"/>
              </a:rPr>
            </a:b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4DF6F91-C7F8-5325-B72C-2F41F5A380DC}"/>
                  </a:ext>
                </a:extLst>
              </p:cNvPr>
              <p:cNvSpPr txBox="1"/>
              <p:nvPr/>
            </p:nvSpPr>
            <p:spPr>
              <a:xfrm>
                <a:off x="766513" y="2838886"/>
                <a:ext cx="1013675" cy="3131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𝐼</m:t>
                          </m:r>
                        </m:e>
                        <m:sub>
                          <m:r>
                            <a:rPr lang="en-US" b="0" i="1" smtClean="0">
                              <a:latin typeface="Cambria Math" panose="02040503050406030204" pitchFamily="18" charset="0"/>
                            </a:rPr>
                            <m:t>𝑖𝑛𝑣</m:t>
                          </m:r>
                          <m:r>
                            <a:rPr lang="en-US" b="0" i="1" smtClean="0">
                              <a:latin typeface="Cambria Math" panose="02040503050406030204" pitchFamily="18" charset="0"/>
                            </a:rPr>
                            <m:t>,</m:t>
                          </m:r>
                          <m:r>
                            <a:rPr lang="en-US" b="0" i="1" smtClean="0">
                              <a:latin typeface="Cambria Math" panose="02040503050406030204" pitchFamily="18" charset="0"/>
                            </a:rPr>
                            <m:t>𝑟𝑚𝑠</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oMath>
                  </m:oMathPara>
                </a14:m>
                <a:endParaRPr lang="sv-SE" dirty="0"/>
              </a:p>
            </p:txBody>
          </p:sp>
        </mc:Choice>
        <mc:Fallback xmlns="">
          <p:sp>
            <p:nvSpPr>
              <p:cNvPr id="5" name="TextBox 4">
                <a:extLst>
                  <a:ext uri="{FF2B5EF4-FFF2-40B4-BE49-F238E27FC236}">
                    <a16:creationId xmlns:a16="http://schemas.microsoft.com/office/drawing/2014/main" id="{14DF6F91-C7F8-5325-B72C-2F41F5A380DC}"/>
                  </a:ext>
                </a:extLst>
              </p:cNvPr>
              <p:cNvSpPr txBox="1">
                <a:spLocks noRot="1" noChangeAspect="1" noMove="1" noResize="1" noEditPoints="1" noAdjustHandles="1" noChangeArrowheads="1" noChangeShapeType="1" noTextEdit="1"/>
              </p:cNvSpPr>
              <p:nvPr/>
            </p:nvSpPr>
            <p:spPr>
              <a:xfrm>
                <a:off x="766513" y="2838886"/>
                <a:ext cx="1013675" cy="313163"/>
              </a:xfrm>
              <a:prstGeom prst="rect">
                <a:avLst/>
              </a:prstGeom>
              <a:blipFill>
                <a:blip r:embed="rId2"/>
                <a:stretch>
                  <a:fillRect l="-5422" r="-1807" b="-11765"/>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5FFE476-275A-A76D-A324-C46B1C95C9E1}"/>
                  </a:ext>
                </a:extLst>
              </p:cNvPr>
              <p:cNvSpPr txBox="1"/>
              <p:nvPr/>
            </p:nvSpPr>
            <p:spPr>
              <a:xfrm>
                <a:off x="4212535" y="1154322"/>
                <a:ext cx="369690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𝑖𝑛𝑣</m:t>
                          </m:r>
                          <m:r>
                            <a:rPr lang="en-US" b="0" i="1" smtClean="0">
                              <a:latin typeface="Cambria Math" panose="02040503050406030204" pitchFamily="18" charset="0"/>
                            </a:rPr>
                            <m:t> </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𝑎</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𝑏</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𝑏</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𝑐</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𝐶</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sv-SE" dirty="0"/>
              </a:p>
            </p:txBody>
          </p:sp>
        </mc:Choice>
        <mc:Fallback xmlns="">
          <p:sp>
            <p:nvSpPr>
              <p:cNvPr id="8" name="TextBox 7">
                <a:extLst>
                  <a:ext uri="{FF2B5EF4-FFF2-40B4-BE49-F238E27FC236}">
                    <a16:creationId xmlns:a16="http://schemas.microsoft.com/office/drawing/2014/main" id="{B5FFE476-275A-A76D-A324-C46B1C95C9E1}"/>
                  </a:ext>
                </a:extLst>
              </p:cNvPr>
              <p:cNvSpPr txBox="1">
                <a:spLocks noRot="1" noChangeAspect="1" noMove="1" noResize="1" noEditPoints="1" noAdjustHandles="1" noChangeArrowheads="1" noChangeShapeType="1" noTextEdit="1"/>
              </p:cNvSpPr>
              <p:nvPr/>
            </p:nvSpPr>
            <p:spPr>
              <a:xfrm>
                <a:off x="4212535" y="1154322"/>
                <a:ext cx="3696909" cy="276999"/>
              </a:xfrm>
              <a:prstGeom prst="rect">
                <a:avLst/>
              </a:prstGeom>
              <a:blipFill>
                <a:blip r:embed="rId3"/>
                <a:stretch>
                  <a:fillRect l="-990" b="-1739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B87CE88-81C6-C009-1B71-34C0DF664354}"/>
                  </a:ext>
                </a:extLst>
              </p:cNvPr>
              <p:cNvSpPr txBox="1"/>
              <p:nvPr/>
            </p:nvSpPr>
            <p:spPr>
              <a:xfrm>
                <a:off x="1444978" y="3950149"/>
                <a:ext cx="2861365" cy="3802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𝑖</m:t>
                          </m:r>
                        </m:e>
                        <m:sub>
                          <m:r>
                            <a:rPr lang="en-US" b="0" i="1" smtClean="0">
                              <a:latin typeface="Cambria Math" panose="02040503050406030204" pitchFamily="18" charset="0"/>
                            </a:rPr>
                            <m:t>𝑎</m:t>
                          </m:r>
                        </m:sub>
                        <m:sup>
                          <m:r>
                            <a:rPr lang="en-US" b="0" i="1" smtClean="0">
                              <a:latin typeface="Cambria Math" panose="02040503050406030204" pitchFamily="18" charset="0"/>
                            </a:rPr>
                            <m:t>2</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𝜆</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𝑖</m:t>
                          </m:r>
                        </m:e>
                        <m:sub>
                          <m:r>
                            <a:rPr lang="en-US" b="0" i="1" smtClean="0">
                              <a:latin typeface="Cambria Math" panose="02040503050406030204" pitchFamily="18" charset="0"/>
                            </a:rPr>
                            <m:t>𝑏</m:t>
                          </m:r>
                        </m:sub>
                        <m:sup>
                          <m:r>
                            <a:rPr lang="en-US" i="1">
                              <a:latin typeface="Cambria Math" panose="02040503050406030204" pitchFamily="18" charset="0"/>
                            </a:rPr>
                            <m:t>2</m:t>
                          </m:r>
                        </m:sup>
                      </m:sSubSup>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𝜆</m:t>
                          </m:r>
                        </m:e>
                        <m:sub>
                          <m:r>
                            <a:rPr lang="en-US" b="0" i="1" smtClean="0">
                              <a:latin typeface="Cambria Math" panose="02040503050406030204" pitchFamily="18" charset="0"/>
                            </a:rPr>
                            <m:t>𝑏</m:t>
                          </m:r>
                        </m:sub>
                      </m:sSub>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𝑖</m:t>
                          </m:r>
                        </m:e>
                        <m:sub>
                          <m:r>
                            <a:rPr lang="en-US" b="0" i="1" smtClean="0">
                              <a:latin typeface="Cambria Math" panose="02040503050406030204" pitchFamily="18" charset="0"/>
                            </a:rPr>
                            <m:t>𝑐</m:t>
                          </m:r>
                        </m:sub>
                        <m:sup>
                          <m:r>
                            <a:rPr lang="en-US" i="1">
                              <a:latin typeface="Cambria Math" panose="02040503050406030204" pitchFamily="18" charset="0"/>
                            </a:rPr>
                            <m:t>2</m:t>
                          </m:r>
                        </m:sup>
                      </m:sSubSup>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𝜆</m:t>
                          </m:r>
                        </m:e>
                        <m:sub>
                          <m:r>
                            <a:rPr lang="en-US" b="0" i="1" smtClean="0">
                              <a:latin typeface="Cambria Math" panose="02040503050406030204" pitchFamily="18" charset="0"/>
                            </a:rPr>
                            <m:t>𝑐</m:t>
                          </m:r>
                        </m:sub>
                      </m:sSub>
                    </m:oMath>
                  </m:oMathPara>
                </a14:m>
                <a:endParaRPr lang="sv-SE" dirty="0"/>
              </a:p>
            </p:txBody>
          </p:sp>
        </mc:Choice>
        <mc:Fallback xmlns="">
          <p:sp>
            <p:nvSpPr>
              <p:cNvPr id="12" name="TextBox 11">
                <a:extLst>
                  <a:ext uri="{FF2B5EF4-FFF2-40B4-BE49-F238E27FC236}">
                    <a16:creationId xmlns:a16="http://schemas.microsoft.com/office/drawing/2014/main" id="{2B87CE88-81C6-C009-1B71-34C0DF664354}"/>
                  </a:ext>
                </a:extLst>
              </p:cNvPr>
              <p:cNvSpPr txBox="1">
                <a:spLocks noRot="1" noChangeAspect="1" noMove="1" noResize="1" noEditPoints="1" noAdjustHandles="1" noChangeArrowheads="1" noChangeShapeType="1" noTextEdit="1"/>
              </p:cNvSpPr>
              <p:nvPr/>
            </p:nvSpPr>
            <p:spPr>
              <a:xfrm>
                <a:off x="1444978" y="3950149"/>
                <a:ext cx="2861365" cy="380297"/>
              </a:xfrm>
              <a:prstGeom prst="rect">
                <a:avLst/>
              </a:prstGeom>
              <a:blipFill>
                <a:blip r:embed="rId4"/>
                <a:stretch>
                  <a:fillRect b="-1613"/>
                </a:stretch>
              </a:blipFill>
            </p:spPr>
            <p:txBody>
              <a:bodyPr/>
              <a:lstStyle/>
              <a:p>
                <a:r>
                  <a:rPr lang="sv-SE">
                    <a:noFill/>
                  </a:rPr>
                  <a:t> </a:t>
                </a:r>
              </a:p>
            </p:txBody>
          </p:sp>
        </mc:Fallback>
      </mc:AlternateContent>
      <p:sp>
        <p:nvSpPr>
          <p:cNvPr id="13" name="Shape 8">
            <a:extLst>
              <a:ext uri="{FF2B5EF4-FFF2-40B4-BE49-F238E27FC236}">
                <a16:creationId xmlns:a16="http://schemas.microsoft.com/office/drawing/2014/main" id="{4853B879-F87A-C5E6-4DFC-43CFFD334D17}"/>
              </a:ext>
            </a:extLst>
          </p:cNvPr>
          <p:cNvSpPr/>
          <p:nvPr/>
        </p:nvSpPr>
        <p:spPr>
          <a:xfrm>
            <a:off x="1884172" y="2451354"/>
            <a:ext cx="1982978" cy="1078992"/>
          </a:xfrm>
          <a:prstGeom prst="rect">
            <a:avLst/>
          </a:prstGeom>
          <a:solidFill>
            <a:srgbClr val="DEF0FF"/>
          </a:solidFill>
          <a:ln w="10160">
            <a:solidFill>
              <a:srgbClr val="6298D2"/>
            </a:solidFill>
            <a:prstDash val="solid"/>
          </a:ln>
          <a:effectLst>
            <a:outerShdw blurRad="63500" dist="25400" dir="8100000" algn="bl" rotWithShape="0">
              <a:srgbClr val="000000">
                <a:alpha val="12000"/>
              </a:srgbClr>
            </a:outerShdw>
          </a:effectLst>
        </p:spPr>
        <p:txBody>
          <a:bodyPr/>
          <a:lstStyle/>
          <a:p>
            <a:pPr algn="ctr"/>
            <a:r>
              <a:rPr lang="en-US" dirty="0"/>
              <a:t>Fraction of time only Sa, Sb, or Sc is on</a:t>
            </a:r>
            <a:endParaRPr lang="sv-SE"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C001051-AAB2-7880-4630-A812803331C2}"/>
                  </a:ext>
                </a:extLst>
              </p:cNvPr>
              <p:cNvSpPr txBox="1"/>
              <p:nvPr/>
            </p:nvSpPr>
            <p:spPr>
              <a:xfrm>
                <a:off x="3867150" y="2775020"/>
                <a:ext cx="4445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sv-SE" dirty="0"/>
              </a:p>
            </p:txBody>
          </p:sp>
        </mc:Choice>
        <mc:Fallback xmlns="">
          <p:sp>
            <p:nvSpPr>
              <p:cNvPr id="25" name="TextBox 24">
                <a:extLst>
                  <a:ext uri="{FF2B5EF4-FFF2-40B4-BE49-F238E27FC236}">
                    <a16:creationId xmlns:a16="http://schemas.microsoft.com/office/drawing/2014/main" id="{2C001051-AAB2-7880-4630-A812803331C2}"/>
                  </a:ext>
                </a:extLst>
              </p:cNvPr>
              <p:cNvSpPr txBox="1">
                <a:spLocks noRot="1" noChangeAspect="1" noMove="1" noResize="1" noEditPoints="1" noAdjustHandles="1" noChangeArrowheads="1" noChangeShapeType="1" noTextEdit="1"/>
              </p:cNvSpPr>
              <p:nvPr/>
            </p:nvSpPr>
            <p:spPr>
              <a:xfrm>
                <a:off x="3867150" y="2775020"/>
                <a:ext cx="444500" cy="369332"/>
              </a:xfrm>
              <a:prstGeom prst="rect">
                <a:avLst/>
              </a:prstGeom>
              <a:blipFill>
                <a:blip r:embed="rId5"/>
                <a:stretch>
                  <a:fillRect/>
                </a:stretch>
              </a:blipFill>
            </p:spPr>
            <p:txBody>
              <a:bodyPr/>
              <a:lstStyle/>
              <a:p>
                <a:r>
                  <a:rPr lang="sv-SE">
                    <a:noFill/>
                  </a:rPr>
                  <a:t> </a:t>
                </a:r>
              </a:p>
            </p:txBody>
          </p:sp>
        </mc:Fallback>
      </mc:AlternateContent>
      <p:sp>
        <p:nvSpPr>
          <p:cNvPr id="26" name="Shape 8">
            <a:extLst>
              <a:ext uri="{FF2B5EF4-FFF2-40B4-BE49-F238E27FC236}">
                <a16:creationId xmlns:a16="http://schemas.microsoft.com/office/drawing/2014/main" id="{5A185C04-41BD-6531-8135-31A68F785CEB}"/>
              </a:ext>
            </a:extLst>
          </p:cNvPr>
          <p:cNvSpPr/>
          <p:nvPr/>
        </p:nvSpPr>
        <p:spPr>
          <a:xfrm>
            <a:off x="4324350" y="2451354"/>
            <a:ext cx="1982978" cy="1078992"/>
          </a:xfrm>
          <a:prstGeom prst="rect">
            <a:avLst/>
          </a:prstGeom>
          <a:solidFill>
            <a:srgbClr val="DEF0FF"/>
          </a:solidFill>
          <a:ln w="10160">
            <a:solidFill>
              <a:srgbClr val="6298D2"/>
            </a:solidFill>
            <a:prstDash val="solid"/>
          </a:ln>
          <a:effectLst>
            <a:outerShdw blurRad="63500" dist="25400" dir="8100000" algn="bl" rotWithShape="0">
              <a:srgbClr val="000000">
                <a:alpha val="12000"/>
              </a:srgbClr>
            </a:outerShdw>
          </a:effectLst>
        </p:spPr>
        <p:txBody>
          <a:bodyPr/>
          <a:lstStyle/>
          <a:p>
            <a:pPr algn="ctr"/>
            <a:r>
              <a:rPr lang="en-US" dirty="0"/>
              <a:t>Fraction of time only same-sign pair is on</a:t>
            </a:r>
            <a:endParaRPr lang="sv-SE" dirty="0"/>
          </a:p>
        </p:txBody>
      </p:sp>
      <p:sp>
        <p:nvSpPr>
          <p:cNvPr id="27" name="Shape 8">
            <a:extLst>
              <a:ext uri="{FF2B5EF4-FFF2-40B4-BE49-F238E27FC236}">
                <a16:creationId xmlns:a16="http://schemas.microsoft.com/office/drawing/2014/main" id="{8F3FAB29-1447-278C-68C0-5110275042F1}"/>
              </a:ext>
            </a:extLst>
          </p:cNvPr>
          <p:cNvSpPr/>
          <p:nvPr/>
        </p:nvSpPr>
        <p:spPr>
          <a:xfrm>
            <a:off x="6677025" y="2451354"/>
            <a:ext cx="1982978" cy="1078992"/>
          </a:xfrm>
          <a:prstGeom prst="rect">
            <a:avLst/>
          </a:prstGeom>
          <a:solidFill>
            <a:srgbClr val="DEF0FF"/>
          </a:solidFill>
          <a:ln w="10160">
            <a:solidFill>
              <a:srgbClr val="6298D2"/>
            </a:solidFill>
            <a:prstDash val="solid"/>
          </a:ln>
          <a:effectLst>
            <a:outerShdw blurRad="63500" dist="25400" dir="8100000" algn="bl" rotWithShape="0">
              <a:srgbClr val="000000">
                <a:alpha val="12000"/>
              </a:srgbClr>
            </a:outerShdw>
          </a:effectLst>
        </p:spPr>
        <p:txBody>
          <a:bodyPr/>
          <a:lstStyle/>
          <a:p>
            <a:pPr algn="ctr"/>
            <a:r>
              <a:rPr lang="en-US" dirty="0"/>
              <a:t>Fraction of time only opposite-sign pairs are on</a:t>
            </a:r>
            <a:endParaRPr lang="sv-SE"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E027659-DFF3-2334-DD34-E473B65373F3}"/>
                  </a:ext>
                </a:extLst>
              </p:cNvPr>
              <p:cNvSpPr txBox="1"/>
              <p:nvPr/>
            </p:nvSpPr>
            <p:spPr>
              <a:xfrm>
                <a:off x="8660003" y="2775020"/>
                <a:ext cx="4445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sv-SE" dirty="0"/>
              </a:p>
            </p:txBody>
          </p:sp>
        </mc:Choice>
        <mc:Fallback xmlns="">
          <p:sp>
            <p:nvSpPr>
              <p:cNvPr id="28" name="TextBox 27">
                <a:extLst>
                  <a:ext uri="{FF2B5EF4-FFF2-40B4-BE49-F238E27FC236}">
                    <a16:creationId xmlns:a16="http://schemas.microsoft.com/office/drawing/2014/main" id="{9E027659-DFF3-2334-DD34-E473B65373F3}"/>
                  </a:ext>
                </a:extLst>
              </p:cNvPr>
              <p:cNvSpPr txBox="1">
                <a:spLocks noRot="1" noChangeAspect="1" noMove="1" noResize="1" noEditPoints="1" noAdjustHandles="1" noChangeArrowheads="1" noChangeShapeType="1" noTextEdit="1"/>
              </p:cNvSpPr>
              <p:nvPr/>
            </p:nvSpPr>
            <p:spPr>
              <a:xfrm>
                <a:off x="8660003" y="2775020"/>
                <a:ext cx="444500" cy="369332"/>
              </a:xfrm>
              <a:prstGeom prst="rect">
                <a:avLst/>
              </a:prstGeom>
              <a:blipFill>
                <a:blip r:embed="rId6"/>
                <a:stretch>
                  <a:fillRect/>
                </a:stretch>
              </a:blipFill>
            </p:spPr>
            <p:txBody>
              <a:bodyPr/>
              <a:lstStyle/>
              <a:p>
                <a:r>
                  <a:rPr lang="sv-SE">
                    <a:noFill/>
                  </a:rPr>
                  <a:t> </a:t>
                </a:r>
              </a:p>
            </p:txBody>
          </p:sp>
        </mc:Fallback>
      </mc:AlternateContent>
      <p:sp>
        <p:nvSpPr>
          <p:cNvPr id="29" name="Shape 8">
            <a:extLst>
              <a:ext uri="{FF2B5EF4-FFF2-40B4-BE49-F238E27FC236}">
                <a16:creationId xmlns:a16="http://schemas.microsoft.com/office/drawing/2014/main" id="{7E1AAFE0-D1F9-4D15-D991-E67CB54E938E}"/>
              </a:ext>
            </a:extLst>
          </p:cNvPr>
          <p:cNvSpPr/>
          <p:nvPr/>
        </p:nvSpPr>
        <p:spPr>
          <a:xfrm>
            <a:off x="9117203" y="2451354"/>
            <a:ext cx="1982978" cy="1078992"/>
          </a:xfrm>
          <a:prstGeom prst="rect">
            <a:avLst/>
          </a:prstGeom>
          <a:solidFill>
            <a:srgbClr val="DEF0FF"/>
          </a:solidFill>
          <a:ln w="10160">
            <a:solidFill>
              <a:srgbClr val="6298D2"/>
            </a:solidFill>
            <a:prstDash val="solid"/>
          </a:ln>
          <a:effectLst>
            <a:outerShdw blurRad="63500" dist="25400" dir="8100000" algn="bl" rotWithShape="0">
              <a:srgbClr val="000000">
                <a:alpha val="12000"/>
              </a:srgbClr>
            </a:outerShdw>
          </a:effectLst>
        </p:spPr>
        <p:txBody>
          <a:bodyPr/>
          <a:lstStyle/>
          <a:p>
            <a:pPr algn="ctr"/>
            <a:r>
              <a:rPr lang="en-US" dirty="0"/>
              <a:t>Fraction of time triple overlap, Sa, Sb, Sc are on</a:t>
            </a:r>
            <a:endParaRPr lang="sv-SE"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29F616A-FED7-B1D7-2C15-EEAC4E19BDE0}"/>
                  </a:ext>
                </a:extLst>
              </p:cNvPr>
              <p:cNvSpPr txBox="1"/>
              <p:nvPr/>
            </p:nvSpPr>
            <p:spPr>
              <a:xfrm>
                <a:off x="6232525" y="2775020"/>
                <a:ext cx="4445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sv-SE" dirty="0"/>
              </a:p>
            </p:txBody>
          </p:sp>
        </mc:Choice>
        <mc:Fallback xmlns="">
          <p:sp>
            <p:nvSpPr>
              <p:cNvPr id="30" name="TextBox 29">
                <a:extLst>
                  <a:ext uri="{FF2B5EF4-FFF2-40B4-BE49-F238E27FC236}">
                    <a16:creationId xmlns:a16="http://schemas.microsoft.com/office/drawing/2014/main" id="{C29F616A-FED7-B1D7-2C15-EEAC4E19BDE0}"/>
                  </a:ext>
                </a:extLst>
              </p:cNvPr>
              <p:cNvSpPr txBox="1">
                <a:spLocks noRot="1" noChangeAspect="1" noMove="1" noResize="1" noEditPoints="1" noAdjustHandles="1" noChangeArrowheads="1" noChangeShapeType="1" noTextEdit="1"/>
              </p:cNvSpPr>
              <p:nvPr/>
            </p:nvSpPr>
            <p:spPr>
              <a:xfrm>
                <a:off x="6232525" y="2775020"/>
                <a:ext cx="444500" cy="369332"/>
              </a:xfrm>
              <a:prstGeom prst="rect">
                <a:avLst/>
              </a:prstGeom>
              <a:blipFill>
                <a:blip r:embed="rId7"/>
                <a:stretch>
                  <a:fillRect/>
                </a:stretch>
              </a:blipFill>
            </p:spPr>
            <p:txBody>
              <a:bodyPr/>
              <a:lstStyle/>
              <a:p>
                <a:r>
                  <a:rPr lang="sv-SE">
                    <a:noFill/>
                  </a:rPr>
                  <a:t> </a:t>
                </a:r>
              </a:p>
            </p:txBody>
          </p:sp>
        </mc:Fallback>
      </mc:AlternateContent>
      <p:cxnSp>
        <p:nvCxnSpPr>
          <p:cNvPr id="33" name="Straight Arrow Connector 32">
            <a:extLst>
              <a:ext uri="{FF2B5EF4-FFF2-40B4-BE49-F238E27FC236}">
                <a16:creationId xmlns:a16="http://schemas.microsoft.com/office/drawing/2014/main" id="{DC93F1C1-AEB0-BCBA-B16E-C73C669DBD1B}"/>
              </a:ext>
            </a:extLst>
          </p:cNvPr>
          <p:cNvCxnSpPr>
            <a:cxnSpLocks/>
          </p:cNvCxnSpPr>
          <p:nvPr/>
        </p:nvCxnSpPr>
        <p:spPr>
          <a:xfrm>
            <a:off x="2875661" y="3616761"/>
            <a:ext cx="0" cy="336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A957CC7-A3F3-EF35-B6E9-269EAE897F7E}"/>
              </a:ext>
            </a:extLst>
          </p:cNvPr>
          <p:cNvCxnSpPr>
            <a:cxnSpLocks/>
          </p:cNvCxnSpPr>
          <p:nvPr/>
        </p:nvCxnSpPr>
        <p:spPr>
          <a:xfrm>
            <a:off x="5364861" y="3530346"/>
            <a:ext cx="0" cy="724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6DFA71C-DCB9-8B9A-A05B-EF6A87877D1C}"/>
                  </a:ext>
                </a:extLst>
              </p:cNvPr>
              <p:cNvSpPr txBox="1"/>
              <p:nvPr/>
            </p:nvSpPr>
            <p:spPr>
              <a:xfrm>
                <a:off x="3928018" y="4235196"/>
                <a:ext cx="286136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𝑖</m:t>
                              </m:r>
                            </m:e>
                            <m:sub>
                              <m:r>
                                <a:rPr lang="en-US" i="1">
                                  <a:latin typeface="Cambria Math" panose="02040503050406030204" pitchFamily="18" charset="0"/>
                                </a:rPr>
                                <m:t>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𝑐</m:t>
                              </m:r>
                            </m:sub>
                          </m:sSub>
                          <m:r>
                            <a:rPr lang="en-US" b="0" i="1" smtClean="0">
                              <a:latin typeface="Cambria Math" panose="02040503050406030204" pitchFamily="18" charset="0"/>
                            </a:rPr>
                            <m:t>)</m:t>
                          </m:r>
                        </m:e>
                        <m:sup>
                          <m:r>
                            <a:rPr lang="en-US" b="0" i="1" smtClean="0">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𝜆</m:t>
                          </m:r>
                        </m:e>
                        <m:sub>
                          <m:r>
                            <a:rPr lang="en-US" b="0" i="1" smtClean="0">
                              <a:latin typeface="Cambria Math" panose="02040503050406030204" pitchFamily="18" charset="0"/>
                            </a:rPr>
                            <m:t>𝑏𝑐</m:t>
                          </m:r>
                        </m:sub>
                      </m:sSub>
                    </m:oMath>
                  </m:oMathPara>
                </a14:m>
                <a:endParaRPr lang="sv-SE" dirty="0"/>
              </a:p>
            </p:txBody>
          </p:sp>
        </mc:Choice>
        <mc:Fallback xmlns="">
          <p:sp>
            <p:nvSpPr>
              <p:cNvPr id="37" name="TextBox 36">
                <a:extLst>
                  <a:ext uri="{FF2B5EF4-FFF2-40B4-BE49-F238E27FC236}">
                    <a16:creationId xmlns:a16="http://schemas.microsoft.com/office/drawing/2014/main" id="{26DFA71C-DCB9-8B9A-A05B-EF6A87877D1C}"/>
                  </a:ext>
                </a:extLst>
              </p:cNvPr>
              <p:cNvSpPr txBox="1">
                <a:spLocks noRot="1" noChangeAspect="1" noMove="1" noResize="1" noEditPoints="1" noAdjustHandles="1" noChangeArrowheads="1" noChangeShapeType="1" noTextEdit="1"/>
              </p:cNvSpPr>
              <p:nvPr/>
            </p:nvSpPr>
            <p:spPr>
              <a:xfrm>
                <a:off x="3928018" y="4235196"/>
                <a:ext cx="2861365" cy="369332"/>
              </a:xfrm>
              <a:prstGeom prst="rect">
                <a:avLst/>
              </a:prstGeom>
              <a:blipFill>
                <a:blip r:embed="rId8"/>
                <a:stretch>
                  <a:fillRect b="-1500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292C528-2E2F-FB45-9F38-03F16BA2640A}"/>
                  </a:ext>
                </a:extLst>
              </p:cNvPr>
              <p:cNvSpPr txBox="1"/>
              <p:nvPr/>
            </p:nvSpPr>
            <p:spPr>
              <a:xfrm>
                <a:off x="5424688" y="1642452"/>
                <a:ext cx="344804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𝑎</m:t>
                          </m:r>
                        </m:sub>
                      </m:sSub>
                      <m:r>
                        <a:rPr lang="en-US" b="0" i="1" smtClean="0">
                          <a:latin typeface="Cambria Math" panose="02040503050406030204" pitchFamily="18" charset="0"/>
                        </a:rPr>
                        <m:t>= +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𝑏</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𝑐</m:t>
                          </m:r>
                        </m:sub>
                      </m:sSub>
                      <m:r>
                        <a:rPr lang="en-US" b="0" i="1" smtClean="0">
                          <a:latin typeface="Cambria Math" panose="02040503050406030204" pitchFamily="18" charset="0"/>
                        </a:rPr>
                        <m:t>= +</m:t>
                      </m:r>
                    </m:oMath>
                  </m:oMathPara>
                </a14:m>
                <a:endParaRPr lang="sv-SE" dirty="0"/>
              </a:p>
            </p:txBody>
          </p:sp>
        </mc:Choice>
        <mc:Fallback xmlns="">
          <p:sp>
            <p:nvSpPr>
              <p:cNvPr id="43" name="TextBox 42">
                <a:extLst>
                  <a:ext uri="{FF2B5EF4-FFF2-40B4-BE49-F238E27FC236}">
                    <a16:creationId xmlns:a16="http://schemas.microsoft.com/office/drawing/2014/main" id="{2292C528-2E2F-FB45-9F38-03F16BA2640A}"/>
                  </a:ext>
                </a:extLst>
              </p:cNvPr>
              <p:cNvSpPr txBox="1">
                <a:spLocks noRot="1" noChangeAspect="1" noMove="1" noResize="1" noEditPoints="1" noAdjustHandles="1" noChangeArrowheads="1" noChangeShapeType="1" noTextEdit="1"/>
              </p:cNvSpPr>
              <p:nvPr/>
            </p:nvSpPr>
            <p:spPr>
              <a:xfrm>
                <a:off x="5424688" y="1642452"/>
                <a:ext cx="3448040" cy="369332"/>
              </a:xfrm>
              <a:prstGeom prst="rect">
                <a:avLst/>
              </a:prstGeom>
              <a:blipFill>
                <a:blip r:embed="rId9"/>
                <a:stretch>
                  <a:fillRect/>
                </a:stretch>
              </a:blipFill>
            </p:spPr>
            <p:txBody>
              <a:bodyPr/>
              <a:lstStyle/>
              <a:p>
                <a:r>
                  <a:rPr lang="sv-SE">
                    <a:noFill/>
                  </a:rPr>
                  <a:t> </a:t>
                </a:r>
              </a:p>
            </p:txBody>
          </p:sp>
        </mc:Fallback>
      </mc:AlternateContent>
      <p:sp>
        <p:nvSpPr>
          <p:cNvPr id="45" name="TextBox 44">
            <a:extLst>
              <a:ext uri="{FF2B5EF4-FFF2-40B4-BE49-F238E27FC236}">
                <a16:creationId xmlns:a16="http://schemas.microsoft.com/office/drawing/2014/main" id="{98D6E544-E77E-3DEA-48EA-97A2E669ED3F}"/>
              </a:ext>
            </a:extLst>
          </p:cNvPr>
          <p:cNvSpPr txBox="1"/>
          <p:nvPr/>
        </p:nvSpPr>
        <p:spPr>
          <a:xfrm>
            <a:off x="4484878" y="1652895"/>
            <a:ext cx="1747647" cy="369332"/>
          </a:xfrm>
          <a:prstGeom prst="rect">
            <a:avLst/>
          </a:prstGeom>
          <a:noFill/>
        </p:spPr>
        <p:txBody>
          <a:bodyPr wrap="square">
            <a:spAutoFit/>
          </a:bodyPr>
          <a:lstStyle/>
          <a:p>
            <a:r>
              <a:rPr lang="en-US" sz="1800" b="0" dirty="0">
                <a:solidFill>
                  <a:srgbClr val="000061"/>
                </a:solidFill>
                <a:latin typeface="Georgia" pitchFamily="34" charset="0"/>
                <a:ea typeface="Georgia" pitchFamily="34" charset="-122"/>
                <a:cs typeface="Georgia" pitchFamily="34" charset="-120"/>
              </a:rPr>
              <a:t>Assume that</a:t>
            </a:r>
            <a:endParaRPr lang="sv-SE" dirty="0"/>
          </a:p>
        </p:txBody>
      </p:sp>
      <p:cxnSp>
        <p:nvCxnSpPr>
          <p:cNvPr id="46" name="Straight Arrow Connector 45">
            <a:extLst>
              <a:ext uri="{FF2B5EF4-FFF2-40B4-BE49-F238E27FC236}">
                <a16:creationId xmlns:a16="http://schemas.microsoft.com/office/drawing/2014/main" id="{2A9B3890-7EA0-3C87-3BB3-5BAD9857AABC}"/>
              </a:ext>
            </a:extLst>
          </p:cNvPr>
          <p:cNvCxnSpPr>
            <a:cxnSpLocks/>
          </p:cNvCxnSpPr>
          <p:nvPr/>
        </p:nvCxnSpPr>
        <p:spPr>
          <a:xfrm>
            <a:off x="7638161" y="3530346"/>
            <a:ext cx="0" cy="1009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5916DFF-7384-B7B4-4931-EEF11C59279D}"/>
                  </a:ext>
                </a:extLst>
              </p:cNvPr>
              <p:cNvSpPr txBox="1"/>
              <p:nvPr/>
            </p:nvSpPr>
            <p:spPr>
              <a:xfrm>
                <a:off x="6232525" y="4525757"/>
                <a:ext cx="2861365" cy="3802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𝑖</m:t>
                              </m:r>
                            </m:e>
                            <m:sub>
                              <m:r>
                                <a:rPr lang="en-US" b="0" i="1" smtClean="0">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𝑏</m:t>
                              </m:r>
                            </m:sub>
                          </m:sSub>
                          <m:r>
                            <a:rPr lang="en-US" i="1">
                              <a:latin typeface="Cambria Math" panose="02040503050406030204" pitchFamily="18" charset="0"/>
                            </a:rPr>
                            <m:t>)</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𝜆</m:t>
                          </m:r>
                        </m:e>
                        <m:sub>
                          <m:r>
                            <a:rPr lang="en-US" b="0" i="1" smtClean="0">
                              <a:latin typeface="Cambria Math" panose="02040503050406030204" pitchFamily="18" charset="0"/>
                            </a:rPr>
                            <m:t>𝑎𝑏</m:t>
                          </m:r>
                        </m:sub>
                      </m:sSub>
                      <m:r>
                        <a:rPr lang="en-US" b="0" i="1" smtClean="0">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𝑖</m:t>
                              </m:r>
                            </m:e>
                            <m:sub>
                              <m:r>
                                <a:rPr lang="en-US" b="0" i="1" smtClean="0">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𝑐</m:t>
                              </m:r>
                            </m:sub>
                          </m:sSub>
                          <m:r>
                            <a:rPr lang="en-US" i="1">
                              <a:latin typeface="Cambria Math" panose="02040503050406030204" pitchFamily="18" charset="0"/>
                            </a:rPr>
                            <m:t>)</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𝜆</m:t>
                          </m:r>
                        </m:e>
                        <m:sub>
                          <m:r>
                            <a:rPr lang="en-US" i="1">
                              <a:latin typeface="Cambria Math" panose="02040503050406030204" pitchFamily="18" charset="0"/>
                            </a:rPr>
                            <m:t>𝑎𝑐</m:t>
                          </m:r>
                        </m:sub>
                      </m:sSub>
                    </m:oMath>
                  </m:oMathPara>
                </a14:m>
                <a:endParaRPr lang="sv-SE" dirty="0"/>
              </a:p>
            </p:txBody>
          </p:sp>
        </mc:Choice>
        <mc:Fallback xmlns="">
          <p:sp>
            <p:nvSpPr>
              <p:cNvPr id="49" name="TextBox 48">
                <a:extLst>
                  <a:ext uri="{FF2B5EF4-FFF2-40B4-BE49-F238E27FC236}">
                    <a16:creationId xmlns:a16="http://schemas.microsoft.com/office/drawing/2014/main" id="{15916DFF-7384-B7B4-4931-EEF11C59279D}"/>
                  </a:ext>
                </a:extLst>
              </p:cNvPr>
              <p:cNvSpPr txBox="1">
                <a:spLocks noRot="1" noChangeAspect="1" noMove="1" noResize="1" noEditPoints="1" noAdjustHandles="1" noChangeArrowheads="1" noChangeShapeType="1" noTextEdit="1"/>
              </p:cNvSpPr>
              <p:nvPr/>
            </p:nvSpPr>
            <p:spPr>
              <a:xfrm>
                <a:off x="6232525" y="4525757"/>
                <a:ext cx="2861365" cy="380297"/>
              </a:xfrm>
              <a:prstGeom prst="rect">
                <a:avLst/>
              </a:prstGeom>
              <a:blipFill>
                <a:blip r:embed="rId10"/>
                <a:stretch>
                  <a:fillRect l="-638" r="-5319" b="-11111"/>
                </a:stretch>
              </a:blipFill>
            </p:spPr>
            <p:txBody>
              <a:bodyPr/>
              <a:lstStyle/>
              <a:p>
                <a:r>
                  <a:rPr lang="sv-SE">
                    <a:noFill/>
                  </a:rPr>
                  <a:t> </a:t>
                </a:r>
              </a:p>
            </p:txBody>
          </p:sp>
        </mc:Fallback>
      </mc:AlternateContent>
      <p:cxnSp>
        <p:nvCxnSpPr>
          <p:cNvPr id="50" name="Straight Arrow Connector 49">
            <a:extLst>
              <a:ext uri="{FF2B5EF4-FFF2-40B4-BE49-F238E27FC236}">
                <a16:creationId xmlns:a16="http://schemas.microsoft.com/office/drawing/2014/main" id="{0D382248-2264-984D-01F0-748CD1E2A131}"/>
              </a:ext>
            </a:extLst>
          </p:cNvPr>
          <p:cNvCxnSpPr>
            <a:cxnSpLocks/>
          </p:cNvCxnSpPr>
          <p:nvPr/>
        </p:nvCxnSpPr>
        <p:spPr>
          <a:xfrm>
            <a:off x="10381361" y="3605589"/>
            <a:ext cx="0" cy="1214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C512644-708F-1F1C-6A38-DF56F1AC10F4}"/>
                  </a:ext>
                </a:extLst>
              </p:cNvPr>
              <p:cNvSpPr txBox="1"/>
              <p:nvPr/>
            </p:nvSpPr>
            <p:spPr>
              <a:xfrm>
                <a:off x="8950678" y="4816318"/>
                <a:ext cx="2861365" cy="3802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𝑎</m:t>
                                  </m:r>
                                </m:sub>
                              </m:sSub>
                              <m:r>
                                <a:rPr lang="en-US" b="0" i="1" smtClean="0">
                                  <a:latin typeface="Cambria Math" panose="02040503050406030204" pitchFamily="18" charset="0"/>
                                </a:rPr>
                                <m:t>+</m:t>
                              </m:r>
                              <m:r>
                                <a:rPr lang="en-US" i="1">
                                  <a:latin typeface="Cambria Math" panose="02040503050406030204" pitchFamily="18" charset="0"/>
                                </a:rPr>
                                <m:t>𝑖</m:t>
                              </m:r>
                            </m:e>
                            <m:sub>
                              <m:r>
                                <a:rPr lang="en-US" i="1">
                                  <a:latin typeface="Cambria Math" panose="02040503050406030204" pitchFamily="18" charset="0"/>
                                </a:rPr>
                                <m:t>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𝑐</m:t>
                              </m:r>
                            </m:sub>
                          </m:sSub>
                          <m:r>
                            <a:rPr lang="en-US" i="1">
                              <a:latin typeface="Cambria Math" panose="02040503050406030204" pitchFamily="18" charset="0"/>
                            </a:rPr>
                            <m:t>)</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𝜆</m:t>
                          </m:r>
                        </m:e>
                        <m:sub>
                          <m:r>
                            <a:rPr lang="en-US" b="0" i="1" smtClean="0">
                              <a:latin typeface="Cambria Math" panose="02040503050406030204" pitchFamily="18" charset="0"/>
                            </a:rPr>
                            <m:t>𝑎𝑏𝑐</m:t>
                          </m:r>
                        </m:sub>
                      </m:sSub>
                    </m:oMath>
                  </m:oMathPara>
                </a14:m>
                <a:endParaRPr lang="sv-SE" dirty="0"/>
              </a:p>
            </p:txBody>
          </p:sp>
        </mc:Choice>
        <mc:Fallback xmlns="">
          <p:sp>
            <p:nvSpPr>
              <p:cNvPr id="53" name="TextBox 52">
                <a:extLst>
                  <a:ext uri="{FF2B5EF4-FFF2-40B4-BE49-F238E27FC236}">
                    <a16:creationId xmlns:a16="http://schemas.microsoft.com/office/drawing/2014/main" id="{1C512644-708F-1F1C-6A38-DF56F1AC10F4}"/>
                  </a:ext>
                </a:extLst>
              </p:cNvPr>
              <p:cNvSpPr txBox="1">
                <a:spLocks noRot="1" noChangeAspect="1" noMove="1" noResize="1" noEditPoints="1" noAdjustHandles="1" noChangeArrowheads="1" noChangeShapeType="1" noTextEdit="1"/>
              </p:cNvSpPr>
              <p:nvPr/>
            </p:nvSpPr>
            <p:spPr>
              <a:xfrm>
                <a:off x="8950678" y="4816318"/>
                <a:ext cx="2861365" cy="380297"/>
              </a:xfrm>
              <a:prstGeom prst="rect">
                <a:avLst/>
              </a:prstGeom>
              <a:blipFill>
                <a:blip r:embed="rId11"/>
                <a:stretch>
                  <a:fillRect b="-12903"/>
                </a:stretch>
              </a:blipFill>
            </p:spPr>
            <p:txBody>
              <a:bodyPr/>
              <a:lstStyle/>
              <a:p>
                <a:r>
                  <a:rPr lang="sv-SE">
                    <a:noFill/>
                  </a:rPr>
                  <a:t> </a:t>
                </a:r>
              </a:p>
            </p:txBody>
          </p:sp>
        </mc:Fallback>
      </mc:AlternateContent>
      <p:sp>
        <p:nvSpPr>
          <p:cNvPr id="55" name="TextBox 54">
            <a:extLst>
              <a:ext uri="{FF2B5EF4-FFF2-40B4-BE49-F238E27FC236}">
                <a16:creationId xmlns:a16="http://schemas.microsoft.com/office/drawing/2014/main" id="{F5DB2324-FF7E-5956-039D-D5F83EE5B960}"/>
              </a:ext>
            </a:extLst>
          </p:cNvPr>
          <p:cNvSpPr txBox="1"/>
          <p:nvPr/>
        </p:nvSpPr>
        <p:spPr>
          <a:xfrm>
            <a:off x="4134050" y="4641436"/>
            <a:ext cx="2581275" cy="369332"/>
          </a:xfrm>
          <a:prstGeom prst="rect">
            <a:avLst/>
          </a:prstGeom>
          <a:noFill/>
        </p:spPr>
        <p:txBody>
          <a:bodyPr wrap="square">
            <a:spAutoFit/>
          </a:bodyPr>
          <a:lstStyle/>
          <a:p>
            <a:pPr marL="0" indent="0" algn="l">
              <a:buNone/>
            </a:pPr>
            <a:r>
              <a:rPr lang="en-US" sz="1800" b="1" dirty="0">
                <a:solidFill>
                  <a:srgbClr val="A0281E"/>
                </a:solidFill>
                <a:latin typeface="Georgia" pitchFamily="34" charset="0"/>
                <a:ea typeface="Georgia" pitchFamily="34" charset="-122"/>
                <a:cs typeface="Georgia" pitchFamily="34" charset="-120"/>
              </a:rPr>
              <a:t>Minimize to zero</a:t>
            </a:r>
            <a:endParaRPr lang="en-US" sz="1800" dirty="0"/>
          </a:p>
        </p:txBody>
      </p:sp>
      <p:sp>
        <p:nvSpPr>
          <p:cNvPr id="57" name="TextBox 56">
            <a:extLst>
              <a:ext uri="{FF2B5EF4-FFF2-40B4-BE49-F238E27FC236}">
                <a16:creationId xmlns:a16="http://schemas.microsoft.com/office/drawing/2014/main" id="{FC29EE31-136A-829D-B688-5DBBBA4F065E}"/>
              </a:ext>
            </a:extLst>
          </p:cNvPr>
          <p:cNvSpPr txBox="1"/>
          <p:nvPr/>
        </p:nvSpPr>
        <p:spPr>
          <a:xfrm>
            <a:off x="9842500" y="5302510"/>
            <a:ext cx="1525970" cy="369332"/>
          </a:xfrm>
          <a:prstGeom prst="rect">
            <a:avLst/>
          </a:prstGeom>
          <a:noFill/>
        </p:spPr>
        <p:txBody>
          <a:bodyPr wrap="square">
            <a:spAutoFit/>
          </a:bodyPr>
          <a:lstStyle/>
          <a:p>
            <a:pPr marL="0" indent="0" algn="l">
              <a:buNone/>
            </a:pPr>
            <a:r>
              <a:rPr lang="en-US" sz="1800" b="1" dirty="0">
                <a:solidFill>
                  <a:srgbClr val="1F6B3A"/>
                </a:solidFill>
                <a:latin typeface="Georgia" pitchFamily="34" charset="0"/>
                <a:ea typeface="Georgia" pitchFamily="34" charset="-122"/>
                <a:cs typeface="Georgia" pitchFamily="34" charset="-120"/>
              </a:rPr>
              <a:t>Maximize</a:t>
            </a:r>
            <a:endParaRPr lang="en-US" sz="1800" dirty="0"/>
          </a:p>
        </p:txBody>
      </p:sp>
      <p:sp>
        <p:nvSpPr>
          <p:cNvPr id="60" name="TextBox 59">
            <a:extLst>
              <a:ext uri="{FF2B5EF4-FFF2-40B4-BE49-F238E27FC236}">
                <a16:creationId xmlns:a16="http://schemas.microsoft.com/office/drawing/2014/main" id="{F47B2BC2-3FA6-7FD8-4A27-29571700FB54}"/>
              </a:ext>
            </a:extLst>
          </p:cNvPr>
          <p:cNvSpPr txBox="1"/>
          <p:nvPr/>
        </p:nvSpPr>
        <p:spPr>
          <a:xfrm>
            <a:off x="5046655" y="5868090"/>
            <a:ext cx="834347" cy="369332"/>
          </a:xfrm>
          <a:prstGeom prst="rect">
            <a:avLst/>
          </a:prstGeom>
          <a:noFill/>
        </p:spPr>
        <p:txBody>
          <a:bodyPr wrap="square">
            <a:spAutoFit/>
          </a:bodyPr>
          <a:lstStyle/>
          <a:p>
            <a:r>
              <a:rPr lang="en-US" sz="1800" b="0" dirty="0">
                <a:solidFill>
                  <a:srgbClr val="000061"/>
                </a:solidFill>
                <a:latin typeface="Georgia" pitchFamily="34" charset="0"/>
                <a:ea typeface="Georgia" pitchFamily="34" charset="-122"/>
                <a:cs typeface="Georgia" pitchFamily="34" charset="-120"/>
              </a:rPr>
              <a:t>Since</a:t>
            </a:r>
            <a:endParaRPr lang="en-US" dirty="0">
              <a:solidFill>
                <a:srgbClr val="000061"/>
              </a:solidFill>
              <a:latin typeface="Georgia" pitchFamily="34" charset="0"/>
              <a:ea typeface="Georgia" pitchFamily="34" charset="-122"/>
              <a:cs typeface="Georgia" pitchFamily="34" charset="-120"/>
            </a:endParaRP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8B792A96-4967-2269-1A93-DAD5BBEB8B54}"/>
                  </a:ext>
                </a:extLst>
              </p:cNvPr>
              <p:cNvSpPr txBox="1"/>
              <p:nvPr/>
            </p:nvSpPr>
            <p:spPr>
              <a:xfrm>
                <a:off x="6096000" y="5548795"/>
                <a:ext cx="1954657" cy="369332"/>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𝑐</m:t>
                        </m:r>
                      </m:sub>
                    </m:sSub>
                    <m:r>
                      <a:rPr lang="en-US" b="0" i="1" smtClean="0">
                        <a:latin typeface="Cambria Math" panose="02040503050406030204" pitchFamily="18" charset="0"/>
                      </a:rPr>
                      <m:t>=0</m:t>
                    </m:r>
                  </m:oMath>
                </a14:m>
                <a:r>
                  <a:rPr lang="en-US" dirty="0">
                    <a:latin typeface="Georgia" pitchFamily="34" charset="0"/>
                  </a:rPr>
                  <a:t> </a:t>
                </a:r>
                <a:endParaRPr lang="sv-SE" dirty="0"/>
              </a:p>
            </p:txBody>
          </p:sp>
        </mc:Choice>
        <mc:Fallback xmlns="">
          <p:sp>
            <p:nvSpPr>
              <p:cNvPr id="62" name="TextBox 61">
                <a:extLst>
                  <a:ext uri="{FF2B5EF4-FFF2-40B4-BE49-F238E27FC236}">
                    <a16:creationId xmlns:a16="http://schemas.microsoft.com/office/drawing/2014/main" id="{8B792A96-4967-2269-1A93-DAD5BBEB8B54}"/>
                  </a:ext>
                </a:extLst>
              </p:cNvPr>
              <p:cNvSpPr txBox="1">
                <a:spLocks noRot="1" noChangeAspect="1" noMove="1" noResize="1" noEditPoints="1" noAdjustHandles="1" noChangeArrowheads="1" noChangeShapeType="1" noTextEdit="1"/>
              </p:cNvSpPr>
              <p:nvPr/>
            </p:nvSpPr>
            <p:spPr>
              <a:xfrm>
                <a:off x="6096000" y="5548795"/>
                <a:ext cx="1954657" cy="369332"/>
              </a:xfrm>
              <a:prstGeom prst="rect">
                <a:avLst/>
              </a:prstGeom>
              <a:blipFill>
                <a:blip r:embed="rId12"/>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04A743A-0E79-8DD5-6793-72D1E427A513}"/>
                  </a:ext>
                </a:extLst>
              </p:cNvPr>
              <p:cNvSpPr txBox="1"/>
              <p:nvPr/>
            </p:nvSpPr>
            <p:spPr>
              <a:xfrm>
                <a:off x="6096000" y="5914092"/>
                <a:ext cx="1954657" cy="369332"/>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m:rPr>
                            <m:lit/>
                          </m:rPr>
                          <a:rPr lang="en-US" b="0" i="1" smtClean="0">
                            <a:latin typeface="Cambria Math" panose="02040503050406030204" pitchFamily="18" charset="0"/>
                          </a:rPr>
                          <m:t> </m:t>
                        </m:r>
                        <m:r>
                          <a:rPr lang="en-US" i="1">
                            <a:latin typeface="Cambria Math" panose="02040503050406030204" pitchFamily="18" charset="0"/>
                          </a:rPr>
                          <m:t>𝑖</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𝑏</m:t>
                        </m:r>
                      </m:sub>
                    </m:sSub>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𝑎</m:t>
                        </m:r>
                      </m:sub>
                    </m:sSub>
                  </m:oMath>
                </a14:m>
                <a:r>
                  <a:rPr lang="en-US" dirty="0">
                    <a:latin typeface="Georgia" pitchFamily="34" charset="0"/>
                  </a:rPr>
                  <a:t> </a:t>
                </a:r>
                <a:endParaRPr lang="sv-SE" dirty="0"/>
              </a:p>
            </p:txBody>
          </p:sp>
        </mc:Choice>
        <mc:Fallback xmlns="">
          <p:sp>
            <p:nvSpPr>
              <p:cNvPr id="63" name="TextBox 62">
                <a:extLst>
                  <a:ext uri="{FF2B5EF4-FFF2-40B4-BE49-F238E27FC236}">
                    <a16:creationId xmlns:a16="http://schemas.microsoft.com/office/drawing/2014/main" id="{404A743A-0E79-8DD5-6793-72D1E427A513}"/>
                  </a:ext>
                </a:extLst>
              </p:cNvPr>
              <p:cNvSpPr txBox="1">
                <a:spLocks noRot="1" noChangeAspect="1" noMove="1" noResize="1" noEditPoints="1" noAdjustHandles="1" noChangeArrowheads="1" noChangeShapeType="1" noTextEdit="1"/>
              </p:cNvSpPr>
              <p:nvPr/>
            </p:nvSpPr>
            <p:spPr>
              <a:xfrm>
                <a:off x="6096000" y="5914092"/>
                <a:ext cx="1954657" cy="369332"/>
              </a:xfrm>
              <a:prstGeom prst="rect">
                <a:avLst/>
              </a:prstGeom>
              <a:blipFill>
                <a:blip r:embed="rId13"/>
                <a:stretch>
                  <a:fillRect/>
                </a:stretch>
              </a:blipFill>
            </p:spPr>
            <p:txBody>
              <a:bodyPr/>
              <a:lstStyle/>
              <a:p>
                <a:r>
                  <a:rPr lang="sv-SE">
                    <a:noFill/>
                  </a:rPr>
                  <a:t> </a:t>
                </a:r>
              </a:p>
            </p:txBody>
          </p:sp>
        </mc:Fallback>
      </mc:AlternateContent>
      <p:sp>
        <p:nvSpPr>
          <p:cNvPr id="65" name="TextBox 64">
            <a:extLst>
              <a:ext uri="{FF2B5EF4-FFF2-40B4-BE49-F238E27FC236}">
                <a16:creationId xmlns:a16="http://schemas.microsoft.com/office/drawing/2014/main" id="{6BFC752F-112C-0FB5-4755-9A649260EC1A}"/>
              </a:ext>
            </a:extLst>
          </p:cNvPr>
          <p:cNvSpPr txBox="1"/>
          <p:nvPr/>
        </p:nvSpPr>
        <p:spPr>
          <a:xfrm>
            <a:off x="7287672" y="4934258"/>
            <a:ext cx="1525970" cy="369332"/>
          </a:xfrm>
          <a:prstGeom prst="rect">
            <a:avLst/>
          </a:prstGeom>
          <a:noFill/>
        </p:spPr>
        <p:txBody>
          <a:bodyPr wrap="square">
            <a:spAutoFit/>
          </a:bodyPr>
          <a:lstStyle/>
          <a:p>
            <a:pPr marL="0" indent="0" algn="l">
              <a:buNone/>
            </a:pPr>
            <a:r>
              <a:rPr lang="en-US" sz="1800" b="1" dirty="0">
                <a:solidFill>
                  <a:srgbClr val="1F6B3A"/>
                </a:solidFill>
                <a:latin typeface="Georgia" pitchFamily="34" charset="0"/>
                <a:ea typeface="Georgia" pitchFamily="34" charset="-122"/>
                <a:cs typeface="Georgia" pitchFamily="34" charset="-120"/>
              </a:rPr>
              <a:t>Maximize</a:t>
            </a:r>
            <a:endParaRPr lang="en-US" sz="1800" dirty="0"/>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C6F5CE3A-3254-848D-4105-AECA601C15BD}"/>
                  </a:ext>
                </a:extLst>
              </p:cNvPr>
              <p:cNvSpPr txBox="1"/>
              <p:nvPr/>
            </p:nvSpPr>
            <p:spPr>
              <a:xfrm>
                <a:off x="6096000" y="6267880"/>
                <a:ext cx="1587500" cy="369332"/>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𝑏</m:t>
                        </m:r>
                      </m:sub>
                    </m:sSub>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𝑎</m:t>
                        </m:r>
                      </m:sub>
                    </m:sSub>
                  </m:oMath>
                </a14:m>
                <a:r>
                  <a:rPr lang="en-US" dirty="0">
                    <a:latin typeface="Georgia" pitchFamily="34" charset="0"/>
                  </a:rPr>
                  <a:t> </a:t>
                </a:r>
                <a:endParaRPr lang="sv-SE" dirty="0"/>
              </a:p>
            </p:txBody>
          </p:sp>
        </mc:Choice>
        <mc:Fallback xmlns="">
          <p:sp>
            <p:nvSpPr>
              <p:cNvPr id="67" name="TextBox 66">
                <a:extLst>
                  <a:ext uri="{FF2B5EF4-FFF2-40B4-BE49-F238E27FC236}">
                    <a16:creationId xmlns:a16="http://schemas.microsoft.com/office/drawing/2014/main" id="{C6F5CE3A-3254-848D-4105-AECA601C15BD}"/>
                  </a:ext>
                </a:extLst>
              </p:cNvPr>
              <p:cNvSpPr txBox="1">
                <a:spLocks noRot="1" noChangeAspect="1" noMove="1" noResize="1" noEditPoints="1" noAdjustHandles="1" noChangeArrowheads="1" noChangeShapeType="1" noTextEdit="1"/>
              </p:cNvSpPr>
              <p:nvPr/>
            </p:nvSpPr>
            <p:spPr>
              <a:xfrm>
                <a:off x="6096000" y="6267880"/>
                <a:ext cx="1587500" cy="369332"/>
              </a:xfrm>
              <a:prstGeom prst="rect">
                <a:avLst/>
              </a:prstGeom>
              <a:blipFill>
                <a:blip r:embed="rId14"/>
                <a:stretch>
                  <a:fillRect/>
                </a:stretch>
              </a:blipFill>
            </p:spPr>
            <p:txBody>
              <a:bodyPr/>
              <a:lstStyle/>
              <a:p>
                <a:r>
                  <a:rPr lang="sv-SE">
                    <a:noFill/>
                  </a:rPr>
                  <a:t> </a:t>
                </a:r>
              </a:p>
            </p:txBody>
          </p:sp>
        </mc:Fallback>
      </mc:AlternateContent>
      <p:sp>
        <p:nvSpPr>
          <p:cNvPr id="2" name="TextBox 1">
            <a:extLst>
              <a:ext uri="{FF2B5EF4-FFF2-40B4-BE49-F238E27FC236}">
                <a16:creationId xmlns:a16="http://schemas.microsoft.com/office/drawing/2014/main" id="{8FB8887D-799B-7095-0759-9BA10F897F06}"/>
              </a:ext>
            </a:extLst>
          </p:cNvPr>
          <p:cNvSpPr txBox="1"/>
          <p:nvPr/>
        </p:nvSpPr>
        <p:spPr>
          <a:xfrm>
            <a:off x="1165225" y="5011949"/>
            <a:ext cx="2581275" cy="369332"/>
          </a:xfrm>
          <a:prstGeom prst="rect">
            <a:avLst/>
          </a:prstGeom>
          <a:noFill/>
        </p:spPr>
        <p:txBody>
          <a:bodyPr wrap="square">
            <a:spAutoFit/>
          </a:bodyPr>
          <a:lstStyle/>
          <a:p>
            <a:pPr marL="0" indent="0" algn="l">
              <a:buNone/>
            </a:pPr>
            <a:r>
              <a:rPr lang="en-US" sz="1800" b="1" dirty="0">
                <a:solidFill>
                  <a:srgbClr val="A0281E"/>
                </a:solidFill>
                <a:latin typeface="Georgia" pitchFamily="34" charset="0"/>
                <a:ea typeface="Georgia" pitchFamily="34" charset="-122"/>
                <a:cs typeface="Georgia" pitchFamily="34" charset="-120"/>
              </a:rPr>
              <a:t>Minimize Lone</a:t>
            </a:r>
            <a:endParaRPr lang="en-US" sz="1800" dirty="0"/>
          </a:p>
        </p:txBody>
      </p:sp>
      <p:cxnSp>
        <p:nvCxnSpPr>
          <p:cNvPr id="3" name="Straight Arrow Connector 2">
            <a:extLst>
              <a:ext uri="{FF2B5EF4-FFF2-40B4-BE49-F238E27FC236}">
                <a16:creationId xmlns:a16="http://schemas.microsoft.com/office/drawing/2014/main" id="{5BB59A79-3159-5C02-6E9D-DC7A4E116CA6}"/>
              </a:ext>
            </a:extLst>
          </p:cNvPr>
          <p:cNvCxnSpPr>
            <a:cxnSpLocks/>
          </p:cNvCxnSpPr>
          <p:nvPr/>
        </p:nvCxnSpPr>
        <p:spPr>
          <a:xfrm>
            <a:off x="2196211" y="4330446"/>
            <a:ext cx="0" cy="724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613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59AA1-C033-A947-85C4-03B9C079E91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FA1924A-1617-2BBC-E6D7-CF7E48FCBAC7}"/>
              </a:ext>
            </a:extLst>
          </p:cNvPr>
          <p:cNvSpPr>
            <a:spLocks noGrp="1"/>
          </p:cNvSpPr>
          <p:nvPr>
            <p:ph type="title"/>
          </p:nvPr>
        </p:nvSpPr>
        <p:spPr>
          <a:xfrm>
            <a:off x="984260" y="283592"/>
            <a:ext cx="10990263" cy="568412"/>
          </a:xfrm>
        </p:spPr>
        <p:txBody>
          <a:bodyPr/>
          <a:lstStyle/>
          <a:p>
            <a:pPr>
              <a:lnSpc>
                <a:spcPct val="100000"/>
              </a:lnSpc>
              <a:spcBef>
                <a:spcPts val="0"/>
              </a:spcBef>
              <a:defRPr/>
            </a:pPr>
            <a:r>
              <a:rPr lang="en-US" dirty="0"/>
              <a:t>Fraction of Times			</a:t>
            </a:r>
            <a:br>
              <a:rPr kumimoji="0" lang="sv-SE" sz="1800" b="0" i="0" u="none" strike="noStrike" kern="1200" cap="none" spc="0" normalizeH="0" baseline="0" noProof="0" dirty="0">
                <a:ln>
                  <a:noFill/>
                </a:ln>
                <a:solidFill>
                  <a:srgbClr val="000000"/>
                </a:solidFill>
                <a:effectLst/>
                <a:uLnTx/>
                <a:uFillTx/>
                <a:latin typeface="Figtree" panose="020F0502020204030204"/>
                <a:ea typeface="+mn-ea"/>
                <a:cs typeface="+mn-cs"/>
              </a:rPr>
            </a:br>
            <a:endParaRPr lang="en-US"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306DBC6-19ED-47C6-6126-70CBAB60FE0A}"/>
                  </a:ext>
                </a:extLst>
              </p:cNvPr>
              <p:cNvGraphicFramePr>
                <a:graphicFrameLocks noGrp="1"/>
              </p:cNvGraphicFramePr>
              <p:nvPr>
                <p:extLst>
                  <p:ext uri="{D42A27DB-BD31-4B8C-83A1-F6EECF244321}">
                    <p14:modId xmlns:p14="http://schemas.microsoft.com/office/powerpoint/2010/main" val="2114973092"/>
                  </p:ext>
                </p:extLst>
              </p:nvPr>
            </p:nvGraphicFramePr>
            <p:xfrm>
              <a:off x="457200" y="1541356"/>
              <a:ext cx="3422650" cy="3545840"/>
            </p:xfrm>
            <a:graphic>
              <a:graphicData uri="http://schemas.openxmlformats.org/drawingml/2006/table">
                <a:tbl>
                  <a:tblPr firstRow="1" bandRow="1">
                    <a:tableStyleId>{5C22544A-7EE6-4342-B048-85BDC9FD1C3A}</a:tableStyleId>
                  </a:tblPr>
                  <a:tblGrid>
                    <a:gridCol w="1060450">
                      <a:extLst>
                        <a:ext uri="{9D8B030D-6E8A-4147-A177-3AD203B41FA5}">
                          <a16:colId xmlns:a16="http://schemas.microsoft.com/office/drawing/2014/main" val="1441831067"/>
                        </a:ext>
                      </a:extLst>
                    </a:gridCol>
                    <a:gridCol w="2362200">
                      <a:extLst>
                        <a:ext uri="{9D8B030D-6E8A-4147-A177-3AD203B41FA5}">
                          <a16:colId xmlns:a16="http://schemas.microsoft.com/office/drawing/2014/main" val="3590361050"/>
                        </a:ext>
                      </a:extLst>
                    </a:gridCol>
                  </a:tblGrid>
                  <a:tr h="370840">
                    <a:tc>
                      <a:txBody>
                        <a:bodyPr/>
                        <a:lstStyle/>
                        <a:p>
                          <a:pPr algn="ctr"/>
                          <a:r>
                            <a:rPr lang="en-US" sz="1600" dirty="0"/>
                            <a:t>Fraction of Time</a:t>
                          </a:r>
                          <a:endParaRPr lang="sv-SE" sz="1600" dirty="0"/>
                        </a:p>
                      </a:txBody>
                      <a:tcPr/>
                    </a:tc>
                    <a:tc>
                      <a:txBody>
                        <a:bodyPr/>
                        <a:lstStyle/>
                        <a:p>
                          <a:r>
                            <a:rPr lang="en-US" dirty="0"/>
                            <a:t>Switching States</a:t>
                          </a:r>
                          <a:endParaRPr lang="sv-SE" dirty="0"/>
                        </a:p>
                      </a:txBody>
                      <a:tcPr/>
                    </a:tc>
                    <a:extLst>
                      <a:ext uri="{0D108BD9-81ED-4DB2-BD59-A6C34878D82A}">
                        <a16:rowId xmlns:a16="http://schemas.microsoft.com/office/drawing/2014/main" val="166653369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𝑎</m:t>
                                    </m:r>
                                  </m:sub>
                                </m:sSub>
                              </m:oMath>
                            </m:oMathPara>
                          </a14:m>
                          <a:endParaRPr lang="sv-SE" dirty="0"/>
                        </a:p>
                      </a:txBody>
                      <a:tcPr/>
                    </a:tc>
                    <a:tc>
                      <a: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m:t>
                                  </m:r>
                                </m:sub>
                              </m:sSub>
                              <m:r>
                                <a:rPr lang="en-US" b="0" i="1" smtClean="0">
                                  <a:latin typeface="Cambria Math" panose="02040503050406030204" pitchFamily="18" charset="0"/>
                                </a:rPr>
                                <m:t>=1</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𝑏</m:t>
                                  </m:r>
                                </m:sub>
                              </m:sSub>
                              <m:r>
                                <a:rPr lang="en-US" b="0" i="1" smtClean="0">
                                  <a:latin typeface="Cambria Math" panose="02040503050406030204" pitchFamily="18" charset="0"/>
                                </a:rPr>
                                <m:t>=0</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𝑐</m:t>
                                  </m:r>
                                </m:sub>
                              </m:sSub>
                              <m:r>
                                <a:rPr lang="en-US" b="0" i="1" smtClean="0">
                                  <a:latin typeface="Cambria Math" panose="02040503050406030204" pitchFamily="18" charset="0"/>
                                </a:rPr>
                                <m:t>=0</m:t>
                              </m:r>
                            </m:oMath>
                          </a14:m>
                          <a:endParaRPr lang="sv-SE" dirty="0"/>
                        </a:p>
                      </a:txBody>
                      <a:tcPr/>
                    </a:tc>
                    <a:extLst>
                      <a:ext uri="{0D108BD9-81ED-4DB2-BD59-A6C34878D82A}">
                        <a16:rowId xmlns:a16="http://schemas.microsoft.com/office/drawing/2014/main" val="245402942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𝑏</m:t>
                                    </m:r>
                                  </m:sub>
                                </m:sSub>
                              </m:oMath>
                            </m:oMathPara>
                          </a14:m>
                          <a:endParaRPr lang="sv-SE" dirty="0"/>
                        </a:p>
                      </a:txBody>
                      <a:tcPr/>
                    </a:tc>
                    <a:tc>
                      <a: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m:t>
                                  </m:r>
                                </m:sub>
                              </m:sSub>
                              <m:r>
                                <a:rPr lang="en-US" b="0" i="1" smtClean="0">
                                  <a:latin typeface="Cambria Math" panose="02040503050406030204" pitchFamily="18" charset="0"/>
                                </a:rPr>
                                <m:t>=0</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𝑏</m:t>
                                  </m:r>
                                </m:sub>
                              </m:sSub>
                              <m:r>
                                <a:rPr lang="en-US" b="0" i="1" smtClean="0">
                                  <a:latin typeface="Cambria Math" panose="02040503050406030204" pitchFamily="18" charset="0"/>
                                </a:rPr>
                                <m:t>=1</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𝑐</m:t>
                                  </m:r>
                                </m:sub>
                              </m:sSub>
                              <m:r>
                                <a:rPr lang="en-US" b="0" i="1" smtClean="0">
                                  <a:latin typeface="Cambria Math" panose="02040503050406030204" pitchFamily="18" charset="0"/>
                                </a:rPr>
                                <m:t>=0</m:t>
                              </m:r>
                            </m:oMath>
                          </a14:m>
                          <a:endParaRPr lang="sv-SE" dirty="0"/>
                        </a:p>
                      </a:txBody>
                      <a:tcPr/>
                    </a:tc>
                    <a:extLst>
                      <a:ext uri="{0D108BD9-81ED-4DB2-BD59-A6C34878D82A}">
                        <a16:rowId xmlns:a16="http://schemas.microsoft.com/office/drawing/2014/main" val="77607116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𝑐</m:t>
                                    </m:r>
                                  </m:sub>
                                </m:sSub>
                              </m:oMath>
                            </m:oMathPara>
                          </a14:m>
                          <a:endParaRPr lang="sv-SE" dirty="0"/>
                        </a:p>
                      </a:txBody>
                      <a:tcPr/>
                    </a:tc>
                    <a:tc>
                      <a: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m:t>
                                  </m:r>
                                </m:sub>
                              </m:sSub>
                              <m:r>
                                <a:rPr lang="en-US" b="0" i="1" smtClean="0">
                                  <a:latin typeface="Cambria Math" panose="02040503050406030204" pitchFamily="18" charset="0"/>
                                </a:rPr>
                                <m:t>=0</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𝑏</m:t>
                                  </m:r>
                                </m:sub>
                              </m:sSub>
                              <m:r>
                                <a:rPr lang="en-US" b="0" i="1" smtClean="0">
                                  <a:latin typeface="Cambria Math" panose="02040503050406030204" pitchFamily="18" charset="0"/>
                                </a:rPr>
                                <m:t>=0</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𝑐</m:t>
                                  </m:r>
                                </m:sub>
                              </m:sSub>
                              <m:r>
                                <a:rPr lang="en-US" b="0" i="1" smtClean="0">
                                  <a:latin typeface="Cambria Math" panose="02040503050406030204" pitchFamily="18" charset="0"/>
                                </a:rPr>
                                <m:t>=1</m:t>
                              </m:r>
                            </m:oMath>
                          </a14:m>
                          <a:endParaRPr lang="sv-SE" dirty="0"/>
                        </a:p>
                      </a:txBody>
                      <a:tcPr/>
                    </a:tc>
                    <a:extLst>
                      <a:ext uri="{0D108BD9-81ED-4DB2-BD59-A6C34878D82A}">
                        <a16:rowId xmlns:a16="http://schemas.microsoft.com/office/drawing/2014/main" val="164247755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𝑎𝑏</m:t>
                                    </m:r>
                                  </m:sub>
                                </m:sSub>
                              </m:oMath>
                            </m:oMathPara>
                          </a14:m>
                          <a:endParaRPr lang="sv-SE" dirty="0"/>
                        </a:p>
                      </a:txBody>
                      <a:tcPr/>
                    </a:tc>
                    <a:tc>
                      <a: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m:t>
                                  </m:r>
                                </m:sub>
                              </m:sSub>
                              <m:r>
                                <a:rPr lang="en-US" b="0" i="1" smtClean="0">
                                  <a:latin typeface="Cambria Math" panose="02040503050406030204" pitchFamily="18" charset="0"/>
                                </a:rPr>
                                <m:t>=1</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𝑏</m:t>
                                  </m:r>
                                </m:sub>
                              </m:sSub>
                              <m:r>
                                <a:rPr lang="en-US" b="0" i="1" smtClean="0">
                                  <a:latin typeface="Cambria Math" panose="02040503050406030204" pitchFamily="18" charset="0"/>
                                </a:rPr>
                                <m:t>=1</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𝑐</m:t>
                                  </m:r>
                                </m:sub>
                              </m:sSub>
                              <m:r>
                                <a:rPr lang="en-US" b="0" i="1" smtClean="0">
                                  <a:latin typeface="Cambria Math" panose="02040503050406030204" pitchFamily="18" charset="0"/>
                                </a:rPr>
                                <m:t>=0</m:t>
                              </m:r>
                            </m:oMath>
                          </a14:m>
                          <a:endParaRPr lang="sv-SE" dirty="0"/>
                        </a:p>
                      </a:txBody>
                      <a:tcPr/>
                    </a:tc>
                    <a:extLst>
                      <a:ext uri="{0D108BD9-81ED-4DB2-BD59-A6C34878D82A}">
                        <a16:rowId xmlns:a16="http://schemas.microsoft.com/office/drawing/2014/main" val="351558489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𝑎𝑐</m:t>
                                    </m:r>
                                  </m:sub>
                                </m:sSub>
                              </m:oMath>
                            </m:oMathPara>
                          </a14:m>
                          <a:endParaRPr lang="sv-SE" dirty="0"/>
                        </a:p>
                      </a:txBody>
                      <a:tcPr/>
                    </a:tc>
                    <a:tc>
                      <a: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m:t>
                                  </m:r>
                                </m:sub>
                              </m:sSub>
                              <m:r>
                                <a:rPr lang="en-US" b="0" i="1" smtClean="0">
                                  <a:latin typeface="Cambria Math" panose="02040503050406030204" pitchFamily="18" charset="0"/>
                                </a:rPr>
                                <m:t>=1</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𝑏</m:t>
                                  </m:r>
                                </m:sub>
                              </m:sSub>
                              <m:r>
                                <a:rPr lang="en-US" b="0" i="1" smtClean="0">
                                  <a:latin typeface="Cambria Math" panose="02040503050406030204" pitchFamily="18" charset="0"/>
                                </a:rPr>
                                <m:t>=0</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𝑐</m:t>
                                  </m:r>
                                </m:sub>
                              </m:sSub>
                              <m:r>
                                <a:rPr lang="en-US" b="0" i="1" smtClean="0">
                                  <a:latin typeface="Cambria Math" panose="02040503050406030204" pitchFamily="18" charset="0"/>
                                </a:rPr>
                                <m:t>=1</m:t>
                              </m:r>
                            </m:oMath>
                          </a14:m>
                          <a:endParaRPr lang="sv-SE" dirty="0"/>
                        </a:p>
                      </a:txBody>
                      <a:tcPr/>
                    </a:tc>
                    <a:extLst>
                      <a:ext uri="{0D108BD9-81ED-4DB2-BD59-A6C34878D82A}">
                        <a16:rowId xmlns:a16="http://schemas.microsoft.com/office/drawing/2014/main" val="344897099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𝑏𝑐</m:t>
                                    </m:r>
                                  </m:sub>
                                </m:sSub>
                              </m:oMath>
                            </m:oMathPara>
                          </a14:m>
                          <a:endParaRPr lang="sv-SE" dirty="0"/>
                        </a:p>
                      </a:txBody>
                      <a:tcPr/>
                    </a:tc>
                    <a:tc>
                      <a: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m:t>
                                  </m:r>
                                </m:sub>
                              </m:sSub>
                              <m:r>
                                <a:rPr lang="en-US" b="0" i="1" smtClean="0">
                                  <a:latin typeface="Cambria Math" panose="02040503050406030204" pitchFamily="18" charset="0"/>
                                </a:rPr>
                                <m:t>=0</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𝑏</m:t>
                                  </m:r>
                                </m:sub>
                              </m:sSub>
                              <m:r>
                                <a:rPr lang="en-US" b="0" i="1" smtClean="0">
                                  <a:latin typeface="Cambria Math" panose="02040503050406030204" pitchFamily="18" charset="0"/>
                                </a:rPr>
                                <m:t>=1</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𝑐</m:t>
                                  </m:r>
                                </m:sub>
                              </m:sSub>
                              <m:r>
                                <a:rPr lang="en-US" b="0" i="1" smtClean="0">
                                  <a:latin typeface="Cambria Math" panose="02040503050406030204" pitchFamily="18" charset="0"/>
                                </a:rPr>
                                <m:t>=1</m:t>
                              </m:r>
                            </m:oMath>
                          </a14:m>
                          <a:endParaRPr lang="sv-SE" dirty="0"/>
                        </a:p>
                      </a:txBody>
                      <a:tcPr/>
                    </a:tc>
                    <a:extLst>
                      <a:ext uri="{0D108BD9-81ED-4DB2-BD59-A6C34878D82A}">
                        <a16:rowId xmlns:a16="http://schemas.microsoft.com/office/drawing/2014/main" val="42961754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𝑎𝑏𝑐</m:t>
                                    </m:r>
                                  </m:sub>
                                </m:sSub>
                              </m:oMath>
                            </m:oMathPara>
                          </a14:m>
                          <a:endParaRPr lang="sv-SE" dirty="0"/>
                        </a:p>
                      </a:txBody>
                      <a:tcPr/>
                    </a:tc>
                    <a:tc>
                      <a: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m:t>
                                  </m:r>
                                </m:sub>
                              </m:sSub>
                              <m:r>
                                <a:rPr lang="en-US" b="0" i="1" smtClean="0">
                                  <a:latin typeface="Cambria Math" panose="02040503050406030204" pitchFamily="18" charset="0"/>
                                </a:rPr>
                                <m:t>=1</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𝑏</m:t>
                                  </m:r>
                                </m:sub>
                              </m:sSub>
                              <m:r>
                                <a:rPr lang="en-US" b="0" i="1" smtClean="0">
                                  <a:latin typeface="Cambria Math" panose="02040503050406030204" pitchFamily="18" charset="0"/>
                                </a:rPr>
                                <m:t>=1</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𝑐</m:t>
                                  </m:r>
                                </m:sub>
                              </m:sSub>
                              <m:r>
                                <a:rPr lang="en-US" b="0" i="1" smtClean="0">
                                  <a:latin typeface="Cambria Math" panose="02040503050406030204" pitchFamily="18" charset="0"/>
                                </a:rPr>
                                <m:t>=1</m:t>
                              </m:r>
                            </m:oMath>
                          </a14:m>
                          <a:endParaRPr lang="sv-SE" dirty="0"/>
                        </a:p>
                      </a:txBody>
                      <a:tcPr/>
                    </a:tc>
                    <a:extLst>
                      <a:ext uri="{0D108BD9-81ED-4DB2-BD59-A6C34878D82A}">
                        <a16:rowId xmlns:a16="http://schemas.microsoft.com/office/drawing/2014/main" val="283514384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0</m:t>
                                    </m:r>
                                  </m:sub>
                                </m:sSub>
                              </m:oMath>
                            </m:oMathPara>
                          </a14:m>
                          <a:endParaRPr lang="sv-SE" dirty="0"/>
                        </a:p>
                      </a:txBody>
                      <a:tcPr/>
                    </a:tc>
                    <a:tc>
                      <a: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m:t>
                                  </m:r>
                                </m:sub>
                              </m:sSub>
                              <m:r>
                                <a:rPr lang="en-US" b="0" i="1" smtClean="0">
                                  <a:latin typeface="Cambria Math" panose="02040503050406030204" pitchFamily="18" charset="0"/>
                                </a:rPr>
                                <m:t>=0</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𝑏</m:t>
                                  </m:r>
                                </m:sub>
                              </m:sSub>
                              <m:r>
                                <a:rPr lang="en-US" b="0" i="1" smtClean="0">
                                  <a:latin typeface="Cambria Math" panose="02040503050406030204" pitchFamily="18" charset="0"/>
                                </a:rPr>
                                <m:t>=0</m:t>
                              </m:r>
                            </m:oMath>
                          </a14:m>
                          <a:r>
                            <a:rPr lang="sv-SE"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𝑐</m:t>
                                  </m:r>
                                </m:sub>
                              </m:sSub>
                              <m:r>
                                <a:rPr lang="en-US" b="0" i="1" smtClean="0">
                                  <a:latin typeface="Cambria Math" panose="02040503050406030204" pitchFamily="18" charset="0"/>
                                </a:rPr>
                                <m:t>=0</m:t>
                              </m:r>
                            </m:oMath>
                          </a14:m>
                          <a:endParaRPr lang="sv-SE" dirty="0"/>
                        </a:p>
                      </a:txBody>
                      <a:tcPr/>
                    </a:tc>
                    <a:extLst>
                      <a:ext uri="{0D108BD9-81ED-4DB2-BD59-A6C34878D82A}">
                        <a16:rowId xmlns:a16="http://schemas.microsoft.com/office/drawing/2014/main" val="1029686120"/>
                      </a:ext>
                    </a:extLst>
                  </a:tr>
                </a:tbl>
              </a:graphicData>
            </a:graphic>
          </p:graphicFrame>
        </mc:Choice>
        <mc:Fallback xmlns="">
          <p:graphicFrame>
            <p:nvGraphicFramePr>
              <p:cNvPr id="2" name="Table 1">
                <a:extLst>
                  <a:ext uri="{FF2B5EF4-FFF2-40B4-BE49-F238E27FC236}">
                    <a16:creationId xmlns:a16="http://schemas.microsoft.com/office/drawing/2014/main" id="{9306DBC6-19ED-47C6-6126-70CBAB60FE0A}"/>
                  </a:ext>
                </a:extLst>
              </p:cNvPr>
              <p:cNvGraphicFramePr>
                <a:graphicFrameLocks noGrp="1"/>
              </p:cNvGraphicFramePr>
              <p:nvPr>
                <p:extLst>
                  <p:ext uri="{D42A27DB-BD31-4B8C-83A1-F6EECF244321}">
                    <p14:modId xmlns:p14="http://schemas.microsoft.com/office/powerpoint/2010/main" val="2114973092"/>
                  </p:ext>
                </p:extLst>
              </p:nvPr>
            </p:nvGraphicFramePr>
            <p:xfrm>
              <a:off x="457200" y="1541356"/>
              <a:ext cx="3422650" cy="3545840"/>
            </p:xfrm>
            <a:graphic>
              <a:graphicData uri="http://schemas.openxmlformats.org/drawingml/2006/table">
                <a:tbl>
                  <a:tblPr firstRow="1" bandRow="1">
                    <a:tableStyleId>{5C22544A-7EE6-4342-B048-85BDC9FD1C3A}</a:tableStyleId>
                  </a:tblPr>
                  <a:tblGrid>
                    <a:gridCol w="1060450">
                      <a:extLst>
                        <a:ext uri="{9D8B030D-6E8A-4147-A177-3AD203B41FA5}">
                          <a16:colId xmlns:a16="http://schemas.microsoft.com/office/drawing/2014/main" val="1441831067"/>
                        </a:ext>
                      </a:extLst>
                    </a:gridCol>
                    <a:gridCol w="2362200">
                      <a:extLst>
                        <a:ext uri="{9D8B030D-6E8A-4147-A177-3AD203B41FA5}">
                          <a16:colId xmlns:a16="http://schemas.microsoft.com/office/drawing/2014/main" val="3590361050"/>
                        </a:ext>
                      </a:extLst>
                    </a:gridCol>
                  </a:tblGrid>
                  <a:tr h="579120">
                    <a:tc>
                      <a:txBody>
                        <a:bodyPr/>
                        <a:lstStyle/>
                        <a:p>
                          <a:pPr algn="ctr"/>
                          <a:r>
                            <a:rPr lang="en-US" sz="1600" dirty="0"/>
                            <a:t>Fraction of Time</a:t>
                          </a:r>
                          <a:endParaRPr lang="sv-SE" sz="1600" dirty="0"/>
                        </a:p>
                      </a:txBody>
                      <a:tcPr/>
                    </a:tc>
                    <a:tc>
                      <a:txBody>
                        <a:bodyPr/>
                        <a:lstStyle/>
                        <a:p>
                          <a:r>
                            <a:rPr lang="en-US" dirty="0"/>
                            <a:t>Switching States</a:t>
                          </a:r>
                          <a:endParaRPr lang="sv-SE" dirty="0"/>
                        </a:p>
                      </a:txBody>
                      <a:tcPr/>
                    </a:tc>
                    <a:extLst>
                      <a:ext uri="{0D108BD9-81ED-4DB2-BD59-A6C34878D82A}">
                        <a16:rowId xmlns:a16="http://schemas.microsoft.com/office/drawing/2014/main" val="1666533691"/>
                      </a:ext>
                    </a:extLst>
                  </a:tr>
                  <a:tr h="370840">
                    <a:tc>
                      <a:txBody>
                        <a:bodyPr/>
                        <a:lstStyle/>
                        <a:p>
                          <a:endParaRPr lang="sv-SE"/>
                        </a:p>
                      </a:txBody>
                      <a:tcPr>
                        <a:blipFill>
                          <a:blip r:embed="rId2"/>
                          <a:stretch>
                            <a:fillRect l="-1149" t="-163934" r="-225287" b="-724590"/>
                          </a:stretch>
                        </a:blipFill>
                      </a:tcPr>
                    </a:tc>
                    <a:tc>
                      <a:txBody>
                        <a:bodyPr/>
                        <a:lstStyle/>
                        <a:p>
                          <a:endParaRPr lang="sv-SE"/>
                        </a:p>
                      </a:txBody>
                      <a:tcPr>
                        <a:blipFill>
                          <a:blip r:embed="rId2"/>
                          <a:stretch>
                            <a:fillRect l="-45361" t="-163934" r="-1031" b="-724590"/>
                          </a:stretch>
                        </a:blipFill>
                      </a:tcPr>
                    </a:tc>
                    <a:extLst>
                      <a:ext uri="{0D108BD9-81ED-4DB2-BD59-A6C34878D82A}">
                        <a16:rowId xmlns:a16="http://schemas.microsoft.com/office/drawing/2014/main" val="2454029421"/>
                      </a:ext>
                    </a:extLst>
                  </a:tr>
                  <a:tr h="370840">
                    <a:tc>
                      <a:txBody>
                        <a:bodyPr/>
                        <a:lstStyle/>
                        <a:p>
                          <a:endParaRPr lang="sv-SE"/>
                        </a:p>
                      </a:txBody>
                      <a:tcPr>
                        <a:blipFill>
                          <a:blip r:embed="rId2"/>
                          <a:stretch>
                            <a:fillRect l="-1149" t="-263934" r="-225287" b="-624590"/>
                          </a:stretch>
                        </a:blipFill>
                      </a:tcPr>
                    </a:tc>
                    <a:tc>
                      <a:txBody>
                        <a:bodyPr/>
                        <a:lstStyle/>
                        <a:p>
                          <a:endParaRPr lang="sv-SE"/>
                        </a:p>
                      </a:txBody>
                      <a:tcPr>
                        <a:blipFill>
                          <a:blip r:embed="rId2"/>
                          <a:stretch>
                            <a:fillRect l="-45361" t="-263934" r="-1031" b="-624590"/>
                          </a:stretch>
                        </a:blipFill>
                      </a:tcPr>
                    </a:tc>
                    <a:extLst>
                      <a:ext uri="{0D108BD9-81ED-4DB2-BD59-A6C34878D82A}">
                        <a16:rowId xmlns:a16="http://schemas.microsoft.com/office/drawing/2014/main" val="776071168"/>
                      </a:ext>
                    </a:extLst>
                  </a:tr>
                  <a:tr h="370840">
                    <a:tc>
                      <a:txBody>
                        <a:bodyPr/>
                        <a:lstStyle/>
                        <a:p>
                          <a:endParaRPr lang="sv-SE"/>
                        </a:p>
                      </a:txBody>
                      <a:tcPr>
                        <a:blipFill>
                          <a:blip r:embed="rId2"/>
                          <a:stretch>
                            <a:fillRect l="-1149" t="-363934" r="-225287" b="-524590"/>
                          </a:stretch>
                        </a:blipFill>
                      </a:tcPr>
                    </a:tc>
                    <a:tc>
                      <a:txBody>
                        <a:bodyPr/>
                        <a:lstStyle/>
                        <a:p>
                          <a:endParaRPr lang="sv-SE"/>
                        </a:p>
                      </a:txBody>
                      <a:tcPr>
                        <a:blipFill>
                          <a:blip r:embed="rId2"/>
                          <a:stretch>
                            <a:fillRect l="-45361" t="-363934" r="-1031" b="-524590"/>
                          </a:stretch>
                        </a:blipFill>
                      </a:tcPr>
                    </a:tc>
                    <a:extLst>
                      <a:ext uri="{0D108BD9-81ED-4DB2-BD59-A6C34878D82A}">
                        <a16:rowId xmlns:a16="http://schemas.microsoft.com/office/drawing/2014/main" val="1642477553"/>
                      </a:ext>
                    </a:extLst>
                  </a:tr>
                  <a:tr h="370840">
                    <a:tc>
                      <a:txBody>
                        <a:bodyPr/>
                        <a:lstStyle/>
                        <a:p>
                          <a:endParaRPr lang="sv-SE"/>
                        </a:p>
                      </a:txBody>
                      <a:tcPr>
                        <a:blipFill>
                          <a:blip r:embed="rId2"/>
                          <a:stretch>
                            <a:fillRect l="-1149" t="-463934" r="-225287" b="-424590"/>
                          </a:stretch>
                        </a:blipFill>
                      </a:tcPr>
                    </a:tc>
                    <a:tc>
                      <a:txBody>
                        <a:bodyPr/>
                        <a:lstStyle/>
                        <a:p>
                          <a:endParaRPr lang="sv-SE"/>
                        </a:p>
                      </a:txBody>
                      <a:tcPr>
                        <a:blipFill>
                          <a:blip r:embed="rId2"/>
                          <a:stretch>
                            <a:fillRect l="-45361" t="-463934" r="-1031" b="-424590"/>
                          </a:stretch>
                        </a:blipFill>
                      </a:tcPr>
                    </a:tc>
                    <a:extLst>
                      <a:ext uri="{0D108BD9-81ED-4DB2-BD59-A6C34878D82A}">
                        <a16:rowId xmlns:a16="http://schemas.microsoft.com/office/drawing/2014/main" val="3515584895"/>
                      </a:ext>
                    </a:extLst>
                  </a:tr>
                  <a:tr h="370840">
                    <a:tc>
                      <a:txBody>
                        <a:bodyPr/>
                        <a:lstStyle/>
                        <a:p>
                          <a:endParaRPr lang="sv-SE"/>
                        </a:p>
                      </a:txBody>
                      <a:tcPr>
                        <a:blipFill>
                          <a:blip r:embed="rId2"/>
                          <a:stretch>
                            <a:fillRect l="-1149" t="-563934" r="-225287" b="-324590"/>
                          </a:stretch>
                        </a:blipFill>
                      </a:tcPr>
                    </a:tc>
                    <a:tc>
                      <a:txBody>
                        <a:bodyPr/>
                        <a:lstStyle/>
                        <a:p>
                          <a:endParaRPr lang="sv-SE"/>
                        </a:p>
                      </a:txBody>
                      <a:tcPr>
                        <a:blipFill>
                          <a:blip r:embed="rId2"/>
                          <a:stretch>
                            <a:fillRect l="-45361" t="-563934" r="-1031" b="-324590"/>
                          </a:stretch>
                        </a:blipFill>
                      </a:tcPr>
                    </a:tc>
                    <a:extLst>
                      <a:ext uri="{0D108BD9-81ED-4DB2-BD59-A6C34878D82A}">
                        <a16:rowId xmlns:a16="http://schemas.microsoft.com/office/drawing/2014/main" val="3448970999"/>
                      </a:ext>
                    </a:extLst>
                  </a:tr>
                  <a:tr h="370840">
                    <a:tc>
                      <a:txBody>
                        <a:bodyPr/>
                        <a:lstStyle/>
                        <a:p>
                          <a:endParaRPr lang="sv-SE"/>
                        </a:p>
                      </a:txBody>
                      <a:tcPr>
                        <a:blipFill>
                          <a:blip r:embed="rId2"/>
                          <a:stretch>
                            <a:fillRect l="-1149" t="-663934" r="-225287" b="-224590"/>
                          </a:stretch>
                        </a:blipFill>
                      </a:tcPr>
                    </a:tc>
                    <a:tc>
                      <a:txBody>
                        <a:bodyPr/>
                        <a:lstStyle/>
                        <a:p>
                          <a:endParaRPr lang="sv-SE"/>
                        </a:p>
                      </a:txBody>
                      <a:tcPr>
                        <a:blipFill>
                          <a:blip r:embed="rId2"/>
                          <a:stretch>
                            <a:fillRect l="-45361" t="-663934" r="-1031" b="-224590"/>
                          </a:stretch>
                        </a:blipFill>
                      </a:tcPr>
                    </a:tc>
                    <a:extLst>
                      <a:ext uri="{0D108BD9-81ED-4DB2-BD59-A6C34878D82A}">
                        <a16:rowId xmlns:a16="http://schemas.microsoft.com/office/drawing/2014/main" val="429617545"/>
                      </a:ext>
                    </a:extLst>
                  </a:tr>
                  <a:tr h="370840">
                    <a:tc>
                      <a:txBody>
                        <a:bodyPr/>
                        <a:lstStyle/>
                        <a:p>
                          <a:endParaRPr lang="sv-SE"/>
                        </a:p>
                      </a:txBody>
                      <a:tcPr>
                        <a:blipFill>
                          <a:blip r:embed="rId2"/>
                          <a:stretch>
                            <a:fillRect l="-1149" t="-763934" r="-225287" b="-124590"/>
                          </a:stretch>
                        </a:blipFill>
                      </a:tcPr>
                    </a:tc>
                    <a:tc>
                      <a:txBody>
                        <a:bodyPr/>
                        <a:lstStyle/>
                        <a:p>
                          <a:endParaRPr lang="sv-SE"/>
                        </a:p>
                      </a:txBody>
                      <a:tcPr>
                        <a:blipFill>
                          <a:blip r:embed="rId2"/>
                          <a:stretch>
                            <a:fillRect l="-45361" t="-763934" r="-1031" b="-124590"/>
                          </a:stretch>
                        </a:blipFill>
                      </a:tcPr>
                    </a:tc>
                    <a:extLst>
                      <a:ext uri="{0D108BD9-81ED-4DB2-BD59-A6C34878D82A}">
                        <a16:rowId xmlns:a16="http://schemas.microsoft.com/office/drawing/2014/main" val="2835143844"/>
                      </a:ext>
                    </a:extLst>
                  </a:tr>
                  <a:tr h="370840">
                    <a:tc>
                      <a:txBody>
                        <a:bodyPr/>
                        <a:lstStyle/>
                        <a:p>
                          <a:endParaRPr lang="sv-SE"/>
                        </a:p>
                      </a:txBody>
                      <a:tcPr>
                        <a:blipFill>
                          <a:blip r:embed="rId2"/>
                          <a:stretch>
                            <a:fillRect l="-1149" t="-863934" r="-225287" b="-24590"/>
                          </a:stretch>
                        </a:blipFill>
                      </a:tcPr>
                    </a:tc>
                    <a:tc>
                      <a:txBody>
                        <a:bodyPr/>
                        <a:lstStyle/>
                        <a:p>
                          <a:endParaRPr lang="sv-SE"/>
                        </a:p>
                      </a:txBody>
                      <a:tcPr>
                        <a:blipFill>
                          <a:blip r:embed="rId2"/>
                          <a:stretch>
                            <a:fillRect l="-45361" t="-863934" r="-1031" b="-24590"/>
                          </a:stretch>
                        </a:blipFill>
                      </a:tcPr>
                    </a:tc>
                    <a:extLst>
                      <a:ext uri="{0D108BD9-81ED-4DB2-BD59-A6C34878D82A}">
                        <a16:rowId xmlns:a16="http://schemas.microsoft.com/office/drawing/2014/main" val="1029686120"/>
                      </a:ext>
                    </a:extLst>
                  </a:tr>
                </a:tbl>
              </a:graphicData>
            </a:graphic>
          </p:graphicFrame>
        </mc:Fallback>
      </mc:AlternateContent>
      <p:pic>
        <p:nvPicPr>
          <p:cNvPr id="7" name="Picture 6">
            <a:extLst>
              <a:ext uri="{FF2B5EF4-FFF2-40B4-BE49-F238E27FC236}">
                <a16:creationId xmlns:a16="http://schemas.microsoft.com/office/drawing/2014/main" id="{AC37043B-82F0-C3B1-1001-7E0EC2CA5A9A}"/>
              </a:ext>
            </a:extLst>
          </p:cNvPr>
          <p:cNvPicPr>
            <a:picLocks noChangeAspect="1"/>
          </p:cNvPicPr>
          <p:nvPr/>
        </p:nvPicPr>
        <p:blipFill>
          <a:blip r:embed="rId3"/>
          <a:stretch>
            <a:fillRect/>
          </a:stretch>
        </p:blipFill>
        <p:spPr>
          <a:xfrm>
            <a:off x="4140211" y="1638300"/>
            <a:ext cx="7834312" cy="3581400"/>
          </a:xfrm>
          <a:prstGeom prst="rect">
            <a:avLst/>
          </a:prstGeom>
        </p:spPr>
      </p:pic>
    </p:spTree>
    <p:extLst>
      <p:ext uri="{BB962C8B-B14F-4D97-AF65-F5344CB8AC3E}">
        <p14:creationId xmlns:p14="http://schemas.microsoft.com/office/powerpoint/2010/main" val="2022440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C92D9-EDBB-4C7E-4567-CFF990AEDC5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72900DC-0EE4-1A5D-E144-F385B350863B}"/>
              </a:ext>
            </a:extLst>
          </p:cNvPr>
          <p:cNvSpPr>
            <a:spLocks noGrp="1"/>
          </p:cNvSpPr>
          <p:nvPr>
            <p:ph type="title"/>
          </p:nvPr>
        </p:nvSpPr>
        <p:spPr>
          <a:xfrm>
            <a:off x="1026299" y="277213"/>
            <a:ext cx="10990263" cy="568412"/>
          </a:xfrm>
        </p:spPr>
        <p:txBody>
          <a:bodyPr/>
          <a:lstStyle/>
          <a:p>
            <a:pPr>
              <a:lnSpc>
                <a:spcPct val="100000"/>
              </a:lnSpc>
              <a:spcBef>
                <a:spcPts val="0"/>
              </a:spcBef>
              <a:defRPr/>
            </a:pPr>
            <a:r>
              <a:rPr lang="en-US" dirty="0"/>
              <a:t>Algorithm</a:t>
            </a:r>
          </a:p>
        </p:txBody>
      </p:sp>
      <p:sp>
        <p:nvSpPr>
          <p:cNvPr id="25" name="Rectangle: Rounded Corners 24">
            <a:extLst>
              <a:ext uri="{FF2B5EF4-FFF2-40B4-BE49-F238E27FC236}">
                <a16:creationId xmlns:a16="http://schemas.microsoft.com/office/drawing/2014/main" id="{7F9ABC5B-FCAD-CBAD-620B-281FD5FA0B7E}"/>
              </a:ext>
            </a:extLst>
          </p:cNvPr>
          <p:cNvSpPr/>
          <p:nvPr/>
        </p:nvSpPr>
        <p:spPr>
          <a:xfrm>
            <a:off x="5011659" y="1240824"/>
            <a:ext cx="2168682" cy="598754"/>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6"/>
                </a:solidFill>
              </a:rPr>
              <a:t>Measure </a:t>
            </a:r>
            <a:r>
              <a:rPr lang="en-US" sz="1600" dirty="0" err="1">
                <a:solidFill>
                  <a:schemeClr val="accent6"/>
                </a:solidFill>
              </a:rPr>
              <a:t>ia</a:t>
            </a:r>
            <a:r>
              <a:rPr lang="en-US" sz="1600" dirty="0">
                <a:solidFill>
                  <a:schemeClr val="accent6"/>
                </a:solidFill>
              </a:rPr>
              <a:t>, </a:t>
            </a:r>
            <a:r>
              <a:rPr lang="en-US" sz="1600" dirty="0" err="1">
                <a:solidFill>
                  <a:schemeClr val="accent6"/>
                </a:solidFill>
              </a:rPr>
              <a:t>ib,ic</a:t>
            </a:r>
            <a:endParaRPr lang="en-US" sz="1600" dirty="0">
              <a:solidFill>
                <a:schemeClr val="accent6"/>
              </a:solidFill>
            </a:endParaRPr>
          </a:p>
          <a:p>
            <a:pPr algn="ctr"/>
            <a:r>
              <a:rPr lang="en-US" sz="1600" dirty="0">
                <a:solidFill>
                  <a:schemeClr val="accent6"/>
                </a:solidFill>
              </a:rPr>
              <a:t>Compute </a:t>
            </a:r>
            <a:r>
              <a:rPr lang="en-US" sz="1600" dirty="0" err="1">
                <a:solidFill>
                  <a:schemeClr val="accent6"/>
                </a:solidFill>
              </a:rPr>
              <a:t>da,db,dc</a:t>
            </a:r>
            <a:endParaRPr lang="sv-SE" sz="1600" dirty="0">
              <a:solidFill>
                <a:schemeClr val="accent6"/>
              </a:solidFill>
            </a:endParaRPr>
          </a:p>
        </p:txBody>
      </p:sp>
      <p:cxnSp>
        <p:nvCxnSpPr>
          <p:cNvPr id="27" name="Straight Arrow Connector 26">
            <a:extLst>
              <a:ext uri="{FF2B5EF4-FFF2-40B4-BE49-F238E27FC236}">
                <a16:creationId xmlns:a16="http://schemas.microsoft.com/office/drawing/2014/main" id="{EBD2ACDF-9C62-CF05-A906-AA8D31016C41}"/>
              </a:ext>
            </a:extLst>
          </p:cNvPr>
          <p:cNvCxnSpPr>
            <a:cxnSpLocks/>
            <a:stCxn id="25" idx="2"/>
            <a:endCxn id="28" idx="0"/>
          </p:cNvCxnSpPr>
          <p:nvPr/>
        </p:nvCxnSpPr>
        <p:spPr>
          <a:xfrm>
            <a:off x="6096000" y="1839578"/>
            <a:ext cx="1" cy="4281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61E4D928-58E7-FFC8-6390-0E0C52DCEF40}"/>
              </a:ext>
            </a:extLst>
          </p:cNvPr>
          <p:cNvSpPr/>
          <p:nvPr/>
        </p:nvSpPr>
        <p:spPr>
          <a:xfrm>
            <a:off x="4818500" y="2267732"/>
            <a:ext cx="2555001" cy="829264"/>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6"/>
                </a:solidFill>
              </a:rPr>
              <a:t>Detect lone-sign leg</a:t>
            </a:r>
          </a:p>
          <a:p>
            <a:pPr algn="ctr"/>
            <a:r>
              <a:rPr lang="en-US" sz="1600" dirty="0">
                <a:solidFill>
                  <a:schemeClr val="accent6"/>
                </a:solidFill>
              </a:rPr>
              <a:t>Sign(</a:t>
            </a:r>
            <a:r>
              <a:rPr lang="en-US" sz="1600" dirty="0" err="1">
                <a:solidFill>
                  <a:schemeClr val="accent6"/>
                </a:solidFill>
              </a:rPr>
              <a:t>ia</a:t>
            </a:r>
            <a:r>
              <a:rPr lang="en-US" sz="1600" dirty="0">
                <a:solidFill>
                  <a:schemeClr val="accent6"/>
                </a:solidFill>
              </a:rPr>
              <a:t>), sign(</a:t>
            </a:r>
            <a:r>
              <a:rPr lang="en-US" sz="1600" dirty="0" err="1">
                <a:solidFill>
                  <a:schemeClr val="accent6"/>
                </a:solidFill>
              </a:rPr>
              <a:t>ib</a:t>
            </a:r>
            <a:r>
              <a:rPr lang="en-US" sz="1600" dirty="0">
                <a:solidFill>
                  <a:schemeClr val="accent6"/>
                </a:solidFill>
              </a:rPr>
              <a:t>), sign(</a:t>
            </a:r>
            <a:r>
              <a:rPr lang="en-US" sz="1600" dirty="0" err="1">
                <a:solidFill>
                  <a:schemeClr val="accent6"/>
                </a:solidFill>
              </a:rPr>
              <a:t>ic</a:t>
            </a:r>
            <a:r>
              <a:rPr lang="en-US" sz="1600" dirty="0">
                <a:solidFill>
                  <a:schemeClr val="accent6"/>
                </a:solidFill>
              </a:rPr>
              <a:t>)</a:t>
            </a:r>
            <a:endParaRPr lang="sv-SE" sz="1600" dirty="0">
              <a:solidFill>
                <a:schemeClr val="accent6"/>
              </a:solidFill>
            </a:endParaRPr>
          </a:p>
        </p:txBody>
      </p:sp>
      <p:cxnSp>
        <p:nvCxnSpPr>
          <p:cNvPr id="30" name="Straight Arrow Connector 29">
            <a:extLst>
              <a:ext uri="{FF2B5EF4-FFF2-40B4-BE49-F238E27FC236}">
                <a16:creationId xmlns:a16="http://schemas.microsoft.com/office/drawing/2014/main" id="{94C5C080-A6CD-6B63-EF76-4D79ACC81D9E}"/>
              </a:ext>
            </a:extLst>
          </p:cNvPr>
          <p:cNvCxnSpPr>
            <a:cxnSpLocks/>
            <a:stCxn id="28" idx="2"/>
            <a:endCxn id="33" idx="0"/>
          </p:cNvCxnSpPr>
          <p:nvPr/>
        </p:nvCxnSpPr>
        <p:spPr>
          <a:xfrm flipH="1">
            <a:off x="1981441" y="3096996"/>
            <a:ext cx="4114560" cy="815682"/>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A813ECD7-FF7B-4079-63B6-248BC6669715}"/>
              </a:ext>
            </a:extLst>
          </p:cNvPr>
          <p:cNvSpPr/>
          <p:nvPr/>
        </p:nvSpPr>
        <p:spPr>
          <a:xfrm>
            <a:off x="1026299" y="3912678"/>
            <a:ext cx="1910284"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Lone =A</a:t>
            </a:r>
          </a:p>
        </p:txBody>
      </p:sp>
      <p:cxnSp>
        <p:nvCxnSpPr>
          <p:cNvPr id="43" name="Straight Arrow Connector 42">
            <a:extLst>
              <a:ext uri="{FF2B5EF4-FFF2-40B4-BE49-F238E27FC236}">
                <a16:creationId xmlns:a16="http://schemas.microsoft.com/office/drawing/2014/main" id="{93064566-51C2-22CB-16DD-3A9533AB7897}"/>
              </a:ext>
            </a:extLst>
          </p:cNvPr>
          <p:cNvCxnSpPr>
            <a:cxnSpLocks/>
            <a:stCxn id="33" idx="2"/>
            <a:endCxn id="2" idx="0"/>
          </p:cNvCxnSpPr>
          <p:nvPr/>
        </p:nvCxnSpPr>
        <p:spPr>
          <a:xfrm>
            <a:off x="1981441" y="4654249"/>
            <a:ext cx="4114560" cy="98751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4692CA73-EEF4-12EE-5F79-837345D5F7AF}"/>
              </a:ext>
            </a:extLst>
          </p:cNvPr>
          <p:cNvSpPr/>
          <p:nvPr/>
        </p:nvSpPr>
        <p:spPr>
          <a:xfrm>
            <a:off x="5140859" y="3910249"/>
            <a:ext cx="1910284"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Lone =B</a:t>
            </a:r>
          </a:p>
        </p:txBody>
      </p:sp>
      <p:cxnSp>
        <p:nvCxnSpPr>
          <p:cNvPr id="55" name="Straight Arrow Connector 54">
            <a:extLst>
              <a:ext uri="{FF2B5EF4-FFF2-40B4-BE49-F238E27FC236}">
                <a16:creationId xmlns:a16="http://schemas.microsoft.com/office/drawing/2014/main" id="{43E0E65F-62AF-BB40-3703-F0917B8441A6}"/>
              </a:ext>
            </a:extLst>
          </p:cNvPr>
          <p:cNvCxnSpPr>
            <a:cxnSpLocks/>
            <a:stCxn id="49" idx="2"/>
            <a:endCxn id="2" idx="0"/>
          </p:cNvCxnSpPr>
          <p:nvPr/>
        </p:nvCxnSpPr>
        <p:spPr>
          <a:xfrm>
            <a:off x="6096001" y="4651820"/>
            <a:ext cx="0" cy="98994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Rounded Corners 57">
            <a:extLst>
              <a:ext uri="{FF2B5EF4-FFF2-40B4-BE49-F238E27FC236}">
                <a16:creationId xmlns:a16="http://schemas.microsoft.com/office/drawing/2014/main" id="{34ADF9BD-2394-1A91-1A0F-07D5E07EEC90}"/>
              </a:ext>
            </a:extLst>
          </p:cNvPr>
          <p:cNvSpPr/>
          <p:nvPr/>
        </p:nvSpPr>
        <p:spPr>
          <a:xfrm>
            <a:off x="9254453" y="3910249"/>
            <a:ext cx="1910284"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Lone =C</a:t>
            </a:r>
          </a:p>
        </p:txBody>
      </p:sp>
      <p:cxnSp>
        <p:nvCxnSpPr>
          <p:cNvPr id="62" name="Straight Arrow Connector 61">
            <a:extLst>
              <a:ext uri="{FF2B5EF4-FFF2-40B4-BE49-F238E27FC236}">
                <a16:creationId xmlns:a16="http://schemas.microsoft.com/office/drawing/2014/main" id="{6B6B64B6-0CFC-F99C-0671-91A81B6BA81F}"/>
              </a:ext>
            </a:extLst>
          </p:cNvPr>
          <p:cNvCxnSpPr>
            <a:cxnSpLocks/>
            <a:stCxn id="58" idx="2"/>
            <a:endCxn id="2" idx="0"/>
          </p:cNvCxnSpPr>
          <p:nvPr/>
        </p:nvCxnSpPr>
        <p:spPr>
          <a:xfrm flipH="1">
            <a:off x="6096001" y="4651820"/>
            <a:ext cx="4113594" cy="98994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35" name="Straight Arrow Connector 1034">
            <a:extLst>
              <a:ext uri="{FF2B5EF4-FFF2-40B4-BE49-F238E27FC236}">
                <a16:creationId xmlns:a16="http://schemas.microsoft.com/office/drawing/2014/main" id="{E60F43F4-3DF6-97A6-2E76-BF3198E24132}"/>
              </a:ext>
            </a:extLst>
          </p:cNvPr>
          <p:cNvCxnSpPr>
            <a:cxnSpLocks/>
            <a:stCxn id="28" idx="2"/>
            <a:endCxn id="49" idx="0"/>
          </p:cNvCxnSpPr>
          <p:nvPr/>
        </p:nvCxnSpPr>
        <p:spPr>
          <a:xfrm>
            <a:off x="6096001" y="3096996"/>
            <a:ext cx="0" cy="81325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41" name="Straight Arrow Connector 1040">
            <a:extLst>
              <a:ext uri="{FF2B5EF4-FFF2-40B4-BE49-F238E27FC236}">
                <a16:creationId xmlns:a16="http://schemas.microsoft.com/office/drawing/2014/main" id="{F4C306E2-54F5-D77B-B511-5F833A897F24}"/>
              </a:ext>
            </a:extLst>
          </p:cNvPr>
          <p:cNvCxnSpPr>
            <a:cxnSpLocks/>
            <a:stCxn id="28" idx="2"/>
            <a:endCxn id="58" idx="0"/>
          </p:cNvCxnSpPr>
          <p:nvPr/>
        </p:nvCxnSpPr>
        <p:spPr>
          <a:xfrm>
            <a:off x="6096001" y="3096996"/>
            <a:ext cx="4113594" cy="81325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D46F47D2-E853-A7F6-CB9D-7A060AC496A5}"/>
              </a:ext>
            </a:extLst>
          </p:cNvPr>
          <p:cNvSpPr/>
          <p:nvPr/>
        </p:nvSpPr>
        <p:spPr>
          <a:xfrm>
            <a:off x="5140859" y="5641763"/>
            <a:ext cx="1910284"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Introduce Phase Shift</a:t>
            </a:r>
          </a:p>
        </p:txBody>
      </p:sp>
    </p:spTree>
    <p:extLst>
      <p:ext uri="{BB962C8B-B14F-4D97-AF65-F5344CB8AC3E}">
        <p14:creationId xmlns:p14="http://schemas.microsoft.com/office/powerpoint/2010/main" val="303290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53669-4334-79B0-9D34-15D0E9F6F68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390B8A9-85EA-E24D-1BC7-ABA8FB1D4811}"/>
              </a:ext>
            </a:extLst>
          </p:cNvPr>
          <p:cNvSpPr>
            <a:spLocks noGrp="1"/>
          </p:cNvSpPr>
          <p:nvPr>
            <p:ph type="title"/>
          </p:nvPr>
        </p:nvSpPr>
        <p:spPr>
          <a:xfrm>
            <a:off x="984260" y="283592"/>
            <a:ext cx="10990263" cy="568412"/>
          </a:xfrm>
        </p:spPr>
        <p:txBody>
          <a:bodyPr/>
          <a:lstStyle/>
          <a:p>
            <a:pPr>
              <a:lnSpc>
                <a:spcPct val="100000"/>
              </a:lnSpc>
              <a:spcBef>
                <a:spcPts val="0"/>
              </a:spcBef>
              <a:defRPr/>
            </a:pPr>
            <a:r>
              <a:rPr lang="en-US" dirty="0"/>
              <a:t>Lone = A</a:t>
            </a:r>
            <a:br>
              <a:rPr lang="en-US" dirty="0"/>
            </a:b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B633E54-36DB-52C2-0A22-AE40C0557E15}"/>
                  </a:ext>
                </a:extLst>
              </p:cNvPr>
              <p:cNvSpPr txBox="1"/>
              <p:nvPr/>
            </p:nvSpPr>
            <p:spPr>
              <a:xfrm>
                <a:off x="-240199" y="2140349"/>
                <a:ext cx="50736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𝑏𝑐</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0</m:t>
                          </m:r>
                        </m:sub>
                      </m:sSub>
                    </m:oMath>
                  </m:oMathPara>
                </a14:m>
                <a:endParaRPr lang="sv-SE" dirty="0"/>
              </a:p>
            </p:txBody>
          </p:sp>
        </mc:Choice>
        <mc:Fallback xmlns="">
          <p:sp>
            <p:nvSpPr>
              <p:cNvPr id="5" name="TextBox 4">
                <a:extLst>
                  <a:ext uri="{FF2B5EF4-FFF2-40B4-BE49-F238E27FC236}">
                    <a16:creationId xmlns:a16="http://schemas.microsoft.com/office/drawing/2014/main" id="{BB633E54-36DB-52C2-0A22-AE40C0557E15}"/>
                  </a:ext>
                </a:extLst>
              </p:cNvPr>
              <p:cNvSpPr txBox="1">
                <a:spLocks noRot="1" noChangeAspect="1" noMove="1" noResize="1" noEditPoints="1" noAdjustHandles="1" noChangeArrowheads="1" noChangeShapeType="1" noTextEdit="1"/>
              </p:cNvSpPr>
              <p:nvPr/>
            </p:nvSpPr>
            <p:spPr>
              <a:xfrm>
                <a:off x="-240199" y="2140349"/>
                <a:ext cx="5073650" cy="369332"/>
              </a:xfrm>
              <a:prstGeom prst="rect">
                <a:avLst/>
              </a:prstGeom>
              <a:blipFill>
                <a:blip r:embed="rId2"/>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31CF5A4-B10F-37CD-B249-B872B966FAC4}"/>
                  </a:ext>
                </a:extLst>
              </p:cNvPr>
              <p:cNvSpPr txBox="1"/>
              <p:nvPr/>
            </p:nvSpPr>
            <p:spPr>
              <a:xfrm>
                <a:off x="152325" y="1305268"/>
                <a:ext cx="4163209"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oMath>
                  </m:oMathPara>
                </a14:m>
                <a:endParaRPr lang="sv-SE" dirty="0"/>
              </a:p>
            </p:txBody>
          </p:sp>
        </mc:Choice>
        <mc:Fallback xmlns="">
          <p:sp>
            <p:nvSpPr>
              <p:cNvPr id="8" name="TextBox 7">
                <a:extLst>
                  <a:ext uri="{FF2B5EF4-FFF2-40B4-BE49-F238E27FC236}">
                    <a16:creationId xmlns:a16="http://schemas.microsoft.com/office/drawing/2014/main" id="{E31CF5A4-B10F-37CD-B249-B872B966FAC4}"/>
                  </a:ext>
                </a:extLst>
              </p:cNvPr>
              <p:cNvSpPr txBox="1">
                <a:spLocks noRot="1" noChangeAspect="1" noMove="1" noResize="1" noEditPoints="1" noAdjustHandles="1" noChangeArrowheads="1" noChangeShapeType="1" noTextEdit="1"/>
              </p:cNvSpPr>
              <p:nvPr/>
            </p:nvSpPr>
            <p:spPr>
              <a:xfrm>
                <a:off x="152325" y="1305268"/>
                <a:ext cx="4163209" cy="610936"/>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CF8BE62-BB99-B0E3-B982-9F3714C410FB}"/>
                  </a:ext>
                </a:extLst>
              </p:cNvPr>
              <p:cNvSpPr txBox="1"/>
              <p:nvPr/>
            </p:nvSpPr>
            <p:spPr>
              <a:xfrm>
                <a:off x="-240199" y="2717895"/>
                <a:ext cx="50736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𝑏𝑐</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0</m:t>
                          </m:r>
                        </m:sub>
                      </m:sSub>
                    </m:oMath>
                  </m:oMathPara>
                </a14:m>
                <a:endParaRPr lang="sv-SE" dirty="0"/>
              </a:p>
            </p:txBody>
          </p:sp>
        </mc:Choice>
        <mc:Fallback xmlns="">
          <p:sp>
            <p:nvSpPr>
              <p:cNvPr id="9" name="TextBox 8">
                <a:extLst>
                  <a:ext uri="{FF2B5EF4-FFF2-40B4-BE49-F238E27FC236}">
                    <a16:creationId xmlns:a16="http://schemas.microsoft.com/office/drawing/2014/main" id="{2CF8BE62-BB99-B0E3-B982-9F3714C410FB}"/>
                  </a:ext>
                </a:extLst>
              </p:cNvPr>
              <p:cNvSpPr txBox="1">
                <a:spLocks noRot="1" noChangeAspect="1" noMove="1" noResize="1" noEditPoints="1" noAdjustHandles="1" noChangeArrowheads="1" noChangeShapeType="1" noTextEdit="1"/>
              </p:cNvSpPr>
              <p:nvPr/>
            </p:nvSpPr>
            <p:spPr>
              <a:xfrm>
                <a:off x="-240199" y="2717895"/>
                <a:ext cx="5073650" cy="369332"/>
              </a:xfrm>
              <a:prstGeom prst="rect">
                <a:avLst/>
              </a:prstGeom>
              <a:blipFill>
                <a:blip r:embed="rId4"/>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CC9A329-1ED9-5D44-9AD6-D7739AC66AE8}"/>
                  </a:ext>
                </a:extLst>
              </p:cNvPr>
              <p:cNvSpPr txBox="1"/>
              <p:nvPr/>
            </p:nvSpPr>
            <p:spPr>
              <a:xfrm>
                <a:off x="-240199" y="3288787"/>
                <a:ext cx="50736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𝑏𝑐</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0</m:t>
                          </m:r>
                        </m:sub>
                      </m:sSub>
                    </m:oMath>
                  </m:oMathPara>
                </a14:m>
                <a:endParaRPr lang="sv-SE" dirty="0"/>
              </a:p>
            </p:txBody>
          </p:sp>
        </mc:Choice>
        <mc:Fallback xmlns="">
          <p:sp>
            <p:nvSpPr>
              <p:cNvPr id="10" name="TextBox 9">
                <a:extLst>
                  <a:ext uri="{FF2B5EF4-FFF2-40B4-BE49-F238E27FC236}">
                    <a16:creationId xmlns:a16="http://schemas.microsoft.com/office/drawing/2014/main" id="{6CC9A329-1ED9-5D44-9AD6-D7739AC66AE8}"/>
                  </a:ext>
                </a:extLst>
              </p:cNvPr>
              <p:cNvSpPr txBox="1">
                <a:spLocks noRot="1" noChangeAspect="1" noMove="1" noResize="1" noEditPoints="1" noAdjustHandles="1" noChangeArrowheads="1" noChangeShapeType="1" noTextEdit="1"/>
              </p:cNvSpPr>
              <p:nvPr/>
            </p:nvSpPr>
            <p:spPr>
              <a:xfrm>
                <a:off x="-240199" y="3288787"/>
                <a:ext cx="5073650" cy="369332"/>
              </a:xfrm>
              <a:prstGeom prst="rect">
                <a:avLst/>
              </a:prstGeom>
              <a:blipFill>
                <a:blip r:embed="rId5"/>
                <a:stretch>
                  <a:fillRect/>
                </a:stretch>
              </a:blipFill>
            </p:spPr>
            <p:txBody>
              <a:bodyPr/>
              <a:lstStyle/>
              <a:p>
                <a:r>
                  <a:rPr lang="sv-SE">
                    <a:noFill/>
                  </a:rPr>
                  <a:t> </a:t>
                </a:r>
              </a:p>
            </p:txBody>
          </p:sp>
        </mc:Fallback>
      </mc:AlternateContent>
      <p:sp>
        <p:nvSpPr>
          <p:cNvPr id="11" name="Right Brace 10">
            <a:extLst>
              <a:ext uri="{FF2B5EF4-FFF2-40B4-BE49-F238E27FC236}">
                <a16:creationId xmlns:a16="http://schemas.microsoft.com/office/drawing/2014/main" id="{AFFB4DDD-8CCA-5753-40E2-273E9CEA258A}"/>
              </a:ext>
            </a:extLst>
          </p:cNvPr>
          <p:cNvSpPr/>
          <p:nvPr/>
        </p:nvSpPr>
        <p:spPr>
          <a:xfrm rot="5400000">
            <a:off x="2052283" y="2456217"/>
            <a:ext cx="749300" cy="351274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DB223C1-ED19-3590-A3C5-9DE453675E33}"/>
                  </a:ext>
                </a:extLst>
              </p:cNvPr>
              <p:cNvSpPr txBox="1"/>
              <p:nvPr/>
            </p:nvSpPr>
            <p:spPr>
              <a:xfrm>
                <a:off x="1050364" y="5036015"/>
                <a:ext cx="2724150" cy="369332"/>
              </a:xfrm>
              <a:prstGeom prst="rect">
                <a:avLst/>
              </a:prstGeom>
              <a:noFill/>
            </p:spPr>
            <p:txBody>
              <a:bodyPr wrap="square">
                <a:spAutoFit/>
              </a:bodyPr>
              <a:lstStyle/>
              <a:p>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𝑏𝑐</m:t>
                        </m:r>
                      </m:sub>
                    </m:sSub>
                  </m:oMath>
                </a14:m>
                <a:r>
                  <a:rPr lang="sv-SE"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i="1">
                            <a:latin typeface="Cambria Math" panose="02040503050406030204" pitchFamily="18" charset="0"/>
                          </a:rPr>
                          <m:t>𝑏</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𝑐</m:t>
                        </m:r>
                      </m:sub>
                    </m:sSub>
                  </m:oMath>
                </a14:m>
                <a:endParaRPr lang="sv-SE" dirty="0"/>
              </a:p>
            </p:txBody>
          </p:sp>
        </mc:Choice>
        <mc:Fallback>
          <p:sp>
            <p:nvSpPr>
              <p:cNvPr id="13" name="TextBox 12">
                <a:extLst>
                  <a:ext uri="{FF2B5EF4-FFF2-40B4-BE49-F238E27FC236}">
                    <a16:creationId xmlns:a16="http://schemas.microsoft.com/office/drawing/2014/main" id="{8DB223C1-ED19-3590-A3C5-9DE453675E33}"/>
                  </a:ext>
                </a:extLst>
              </p:cNvPr>
              <p:cNvSpPr txBox="1">
                <a:spLocks noRot="1" noChangeAspect="1" noMove="1" noResize="1" noEditPoints="1" noAdjustHandles="1" noChangeArrowheads="1" noChangeShapeType="1" noTextEdit="1"/>
              </p:cNvSpPr>
              <p:nvPr/>
            </p:nvSpPr>
            <p:spPr>
              <a:xfrm>
                <a:off x="1050364" y="5036015"/>
                <a:ext cx="2724150" cy="369332"/>
              </a:xfrm>
              <a:prstGeom prst="rect">
                <a:avLst/>
              </a:prstGeom>
              <a:blipFill>
                <a:blip r:embed="rId6"/>
                <a:stretch>
                  <a:fillRect t="-8197" b="-24590"/>
                </a:stretch>
              </a:blipFill>
            </p:spPr>
            <p:txBody>
              <a:bodyPr/>
              <a:lstStyle/>
              <a:p>
                <a:r>
                  <a:rPr lang="sv-SE">
                    <a:noFill/>
                  </a:rPr>
                  <a:t> </a:t>
                </a:r>
              </a:p>
            </p:txBody>
          </p:sp>
        </mc:Fallback>
      </mc:AlternateContent>
      <p:sp>
        <p:nvSpPr>
          <p:cNvPr id="18" name="TextBox 17">
            <a:extLst>
              <a:ext uri="{FF2B5EF4-FFF2-40B4-BE49-F238E27FC236}">
                <a16:creationId xmlns:a16="http://schemas.microsoft.com/office/drawing/2014/main" id="{8DBCBDF0-7DB9-F451-A12E-7B4D4625CA84}"/>
              </a:ext>
            </a:extLst>
          </p:cNvPr>
          <p:cNvSpPr txBox="1"/>
          <p:nvPr/>
        </p:nvSpPr>
        <p:spPr>
          <a:xfrm>
            <a:off x="984260" y="5444210"/>
            <a:ext cx="3337635" cy="307777"/>
          </a:xfrm>
          <a:prstGeom prst="rect">
            <a:avLst/>
          </a:prstGeom>
          <a:noFill/>
        </p:spPr>
        <p:txBody>
          <a:bodyPr wrap="square">
            <a:spAutoFit/>
          </a:bodyPr>
          <a:lstStyle/>
          <a:p>
            <a:r>
              <a:rPr lang="en-US" sz="1400" b="0" dirty="0">
                <a:solidFill>
                  <a:srgbClr val="000061"/>
                </a:solidFill>
                <a:latin typeface="Georgia" pitchFamily="34" charset="0"/>
                <a:ea typeface="Georgia" pitchFamily="34" charset="-122"/>
                <a:cs typeface="Georgia" pitchFamily="34" charset="-120"/>
              </a:rPr>
              <a:t>Minimizing opposite pair overlap</a:t>
            </a:r>
            <a:endParaRPr lang="en-US" sz="1400" dirty="0">
              <a:solidFill>
                <a:srgbClr val="000061"/>
              </a:solidFill>
              <a:latin typeface="Georgia" pitchFamily="34" charset="0"/>
              <a:ea typeface="Georgia" pitchFamily="34" charset="-122"/>
              <a:cs typeface="Georgia" pitchFamily="34" charset="-120"/>
            </a:endParaRPr>
          </a:p>
        </p:txBody>
      </p:sp>
      <p:pic>
        <p:nvPicPr>
          <p:cNvPr id="1026" name="Picture 2">
            <a:extLst>
              <a:ext uri="{FF2B5EF4-FFF2-40B4-BE49-F238E27FC236}">
                <a16:creationId xmlns:a16="http://schemas.microsoft.com/office/drawing/2014/main" id="{3CD65D18-8C2A-5E00-CCD9-27DD5D73CE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725" y="-417937"/>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56" name="TextBox 55">
            <a:extLst>
              <a:ext uri="{FF2B5EF4-FFF2-40B4-BE49-F238E27FC236}">
                <a16:creationId xmlns:a16="http://schemas.microsoft.com/office/drawing/2014/main" id="{4A2B7DA5-9825-05AF-9D27-44A0FFABD530}"/>
              </a:ext>
            </a:extLst>
          </p:cNvPr>
          <p:cNvSpPr txBox="1"/>
          <p:nvPr/>
        </p:nvSpPr>
        <p:spPr>
          <a:xfrm>
            <a:off x="1156260" y="4687659"/>
            <a:ext cx="2432050" cy="307777"/>
          </a:xfrm>
          <a:prstGeom prst="rect">
            <a:avLst/>
          </a:prstGeom>
          <a:noFill/>
        </p:spPr>
        <p:txBody>
          <a:bodyPr wrap="square">
            <a:spAutoFit/>
          </a:bodyPr>
          <a:lstStyle/>
          <a:p>
            <a:r>
              <a:rPr lang="en-US" sz="1400" b="0" dirty="0">
                <a:solidFill>
                  <a:srgbClr val="000061"/>
                </a:solidFill>
                <a:latin typeface="Georgia" pitchFamily="34" charset="0"/>
                <a:ea typeface="Georgia" pitchFamily="34" charset="-122"/>
                <a:cs typeface="Georgia" pitchFamily="34" charset="-120"/>
              </a:rPr>
              <a:t>Maximizing triple-overlap</a:t>
            </a:r>
            <a:endParaRPr lang="en-US" sz="1400" dirty="0">
              <a:solidFill>
                <a:srgbClr val="000061"/>
              </a:solidFill>
              <a:latin typeface="Georgia" pitchFamily="34" charset="0"/>
              <a:ea typeface="Georgia" pitchFamily="34" charset="-122"/>
              <a:cs typeface="Georgia" pitchFamily="34" charset="-120"/>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1467ED0-A6F3-F354-2D53-4AA30848ABE2}"/>
                  </a:ext>
                </a:extLst>
              </p:cNvPr>
              <p:cNvSpPr txBox="1"/>
              <p:nvPr/>
            </p:nvSpPr>
            <p:spPr>
              <a:xfrm>
                <a:off x="1010210" y="5751987"/>
                <a:ext cx="27241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𝑏𝑐</m:t>
                          </m:r>
                        </m:sub>
                      </m:sSub>
                    </m:oMath>
                  </m:oMathPara>
                </a14:m>
                <a:endParaRPr lang="sv-SE" dirty="0"/>
              </a:p>
            </p:txBody>
          </p:sp>
        </mc:Choice>
        <mc:Fallback xmlns="">
          <p:sp>
            <p:nvSpPr>
              <p:cNvPr id="57" name="TextBox 56">
                <a:extLst>
                  <a:ext uri="{FF2B5EF4-FFF2-40B4-BE49-F238E27FC236}">
                    <a16:creationId xmlns:a16="http://schemas.microsoft.com/office/drawing/2014/main" id="{C1467ED0-A6F3-F354-2D53-4AA30848ABE2}"/>
                  </a:ext>
                </a:extLst>
              </p:cNvPr>
              <p:cNvSpPr txBox="1">
                <a:spLocks noRot="1" noChangeAspect="1" noMove="1" noResize="1" noEditPoints="1" noAdjustHandles="1" noChangeArrowheads="1" noChangeShapeType="1" noTextEdit="1"/>
              </p:cNvSpPr>
              <p:nvPr/>
            </p:nvSpPr>
            <p:spPr>
              <a:xfrm>
                <a:off x="1010210" y="5751987"/>
                <a:ext cx="2724150" cy="369332"/>
              </a:xfrm>
              <a:prstGeom prst="rect">
                <a:avLst/>
              </a:prstGeom>
              <a:blipFill>
                <a:blip r:embed="rId8"/>
                <a:stretch>
                  <a:fillRect b="-1667"/>
                </a:stretch>
              </a:blipFill>
            </p:spPr>
            <p:txBody>
              <a:bodyPr/>
              <a:lstStyle/>
              <a:p>
                <a:r>
                  <a:rPr lang="sv-SE">
                    <a:noFill/>
                  </a:rPr>
                  <a:t> </a:t>
                </a:r>
              </a:p>
            </p:txBody>
          </p:sp>
        </mc:Fallback>
      </mc:AlternateContent>
      <p:sp>
        <p:nvSpPr>
          <p:cNvPr id="58" name="Rectangle 57">
            <a:extLst>
              <a:ext uri="{FF2B5EF4-FFF2-40B4-BE49-F238E27FC236}">
                <a16:creationId xmlns:a16="http://schemas.microsoft.com/office/drawing/2014/main" id="{09E5E900-74A2-09EA-06E2-22D4BB56C9B2}"/>
              </a:ext>
            </a:extLst>
          </p:cNvPr>
          <p:cNvSpPr/>
          <p:nvPr/>
        </p:nvSpPr>
        <p:spPr>
          <a:xfrm>
            <a:off x="4347846" y="1896017"/>
            <a:ext cx="4255846" cy="61093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Case 1 </a:t>
            </a:r>
          </a:p>
          <a:p>
            <a:pPr algn="ctr"/>
            <a:r>
              <a:rPr lang="en-US" sz="1400" dirty="0"/>
              <a:t>DA&lt;(DB +DC) AND DA&gt;DB  DA&gt;DC</a:t>
            </a:r>
            <a:endParaRPr lang="sv-SE" sz="1400" dirty="0"/>
          </a:p>
        </p:txBody>
      </p:sp>
      <p:sp>
        <p:nvSpPr>
          <p:cNvPr id="59" name="Rectangle 58">
            <a:extLst>
              <a:ext uri="{FF2B5EF4-FFF2-40B4-BE49-F238E27FC236}">
                <a16:creationId xmlns:a16="http://schemas.microsoft.com/office/drawing/2014/main" id="{94704F75-F9CA-906E-851C-5E3F6CCE7D03}"/>
              </a:ext>
            </a:extLst>
          </p:cNvPr>
          <p:cNvSpPr/>
          <p:nvPr/>
        </p:nvSpPr>
        <p:spPr>
          <a:xfrm>
            <a:off x="4347846" y="2527141"/>
            <a:ext cx="4255846" cy="328963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mc:AlternateContent xmlns:mc="http://schemas.openxmlformats.org/markup-compatibility/2006">
        <mc:Choice xmlns:a14="http://schemas.microsoft.com/office/drawing/2010/main" Requires="a14">
          <p:sp>
            <p:nvSpPr>
              <p:cNvPr id="61" name="TextBox 60">
                <a:extLst>
                  <a:ext uri="{FF2B5EF4-FFF2-40B4-BE49-F238E27FC236}">
                    <a16:creationId xmlns:a16="http://schemas.microsoft.com/office/drawing/2014/main" id="{1FB88FD3-643A-B547-05BD-9C3F97548FD9}"/>
                  </a:ext>
                </a:extLst>
              </p:cNvPr>
              <p:cNvSpPr txBox="1"/>
              <p:nvPr/>
            </p:nvSpPr>
            <p:spPr>
              <a:xfrm>
                <a:off x="4873604" y="2670867"/>
                <a:ext cx="315087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m:t>
                          </m:r>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oMath>
                  </m:oMathPara>
                </a14:m>
                <a:endParaRPr lang="sv-SE" dirty="0"/>
              </a:p>
            </p:txBody>
          </p:sp>
        </mc:Choice>
        <mc:Fallback>
          <p:sp>
            <p:nvSpPr>
              <p:cNvPr id="61" name="TextBox 60">
                <a:extLst>
                  <a:ext uri="{FF2B5EF4-FFF2-40B4-BE49-F238E27FC236}">
                    <a16:creationId xmlns:a16="http://schemas.microsoft.com/office/drawing/2014/main" id="{1FB88FD3-643A-B547-05BD-9C3F97548FD9}"/>
                  </a:ext>
                </a:extLst>
              </p:cNvPr>
              <p:cNvSpPr txBox="1">
                <a:spLocks noRot="1" noChangeAspect="1" noMove="1" noResize="1" noEditPoints="1" noAdjustHandles="1" noChangeArrowheads="1" noChangeShapeType="1" noTextEdit="1"/>
              </p:cNvSpPr>
              <p:nvPr/>
            </p:nvSpPr>
            <p:spPr>
              <a:xfrm>
                <a:off x="4873604" y="2670867"/>
                <a:ext cx="3150870" cy="369332"/>
              </a:xfrm>
              <a:prstGeom prst="rect">
                <a:avLst/>
              </a:prstGeom>
              <a:blipFill>
                <a:blip r:embed="rId9"/>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63" name="TextBox 62">
                <a:extLst>
                  <a:ext uri="{FF2B5EF4-FFF2-40B4-BE49-F238E27FC236}">
                    <a16:creationId xmlns:a16="http://schemas.microsoft.com/office/drawing/2014/main" id="{DF8E3499-A33D-6712-27B6-0A45C8D4452D}"/>
                  </a:ext>
                </a:extLst>
              </p:cNvPr>
              <p:cNvSpPr txBox="1"/>
              <p:nvPr/>
            </p:nvSpPr>
            <p:spPr>
              <a:xfrm>
                <a:off x="4352463" y="3248413"/>
                <a:ext cx="4193152" cy="639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𝑐</m:t>
                          </m:r>
                        </m:sub>
                      </m:sSub>
                      <m:r>
                        <a:rPr lang="en-US" b="0" i="1" smtClean="0">
                          <a:latin typeface="Cambria Math" panose="02040503050406030204" pitchFamily="18" charset="0"/>
                        </a:rPr>
                        <m:t>=0 ,</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𝑎𝑐</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m:t>
                          </m:r>
                          <m:r>
                            <a:rPr lang="en-US" i="1">
                              <a:latin typeface="Cambria Math" panose="02040503050406030204" pitchFamily="18" charset="0"/>
                            </a:rPr>
                            <m:t>𝑐</m:t>
                          </m:r>
                        </m:sub>
                      </m:sSub>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oMath>
                  </m:oMathPara>
                </a14:m>
                <a:endParaRPr lang="sv-SE" dirty="0"/>
              </a:p>
            </p:txBody>
          </p:sp>
        </mc:Choice>
        <mc:Fallback>
          <p:sp>
            <p:nvSpPr>
              <p:cNvPr id="63" name="TextBox 62">
                <a:extLst>
                  <a:ext uri="{FF2B5EF4-FFF2-40B4-BE49-F238E27FC236}">
                    <a16:creationId xmlns:a16="http://schemas.microsoft.com/office/drawing/2014/main" id="{DF8E3499-A33D-6712-27B6-0A45C8D4452D}"/>
                  </a:ext>
                </a:extLst>
              </p:cNvPr>
              <p:cNvSpPr txBox="1">
                <a:spLocks noRot="1" noChangeAspect="1" noMove="1" noResize="1" noEditPoints="1" noAdjustHandles="1" noChangeArrowheads="1" noChangeShapeType="1" noTextEdit="1"/>
              </p:cNvSpPr>
              <p:nvPr/>
            </p:nvSpPr>
            <p:spPr>
              <a:xfrm>
                <a:off x="4352463" y="3248413"/>
                <a:ext cx="4193152" cy="639983"/>
              </a:xfrm>
              <a:prstGeom prst="rect">
                <a:avLst/>
              </a:prstGeom>
              <a:blipFill>
                <a:blip r:embed="rId10"/>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25" name="TextBox 1024">
                <a:extLst>
                  <a:ext uri="{FF2B5EF4-FFF2-40B4-BE49-F238E27FC236}">
                    <a16:creationId xmlns:a16="http://schemas.microsoft.com/office/drawing/2014/main" id="{5EA9AFBD-8299-7EF3-E5E0-EB347A8610E1}"/>
                  </a:ext>
                </a:extLst>
              </p:cNvPr>
              <p:cNvSpPr txBox="1"/>
              <p:nvPr/>
            </p:nvSpPr>
            <p:spPr>
              <a:xfrm>
                <a:off x="1754066" y="6373332"/>
                <a:ext cx="13457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𝑎</m:t>
                          </m:r>
                        </m:sub>
                      </m:sSub>
                    </m:oMath>
                  </m:oMathPara>
                </a14:m>
                <a:endParaRPr lang="sv-SE" dirty="0"/>
              </a:p>
            </p:txBody>
          </p:sp>
        </mc:Choice>
        <mc:Fallback xmlns="">
          <p:sp>
            <p:nvSpPr>
              <p:cNvPr id="1025" name="TextBox 1024">
                <a:extLst>
                  <a:ext uri="{FF2B5EF4-FFF2-40B4-BE49-F238E27FC236}">
                    <a16:creationId xmlns:a16="http://schemas.microsoft.com/office/drawing/2014/main" id="{5EA9AFBD-8299-7EF3-E5E0-EB347A8610E1}"/>
                  </a:ext>
                </a:extLst>
              </p:cNvPr>
              <p:cNvSpPr txBox="1">
                <a:spLocks noRot="1" noChangeAspect="1" noMove="1" noResize="1" noEditPoints="1" noAdjustHandles="1" noChangeArrowheads="1" noChangeShapeType="1" noTextEdit="1"/>
              </p:cNvSpPr>
              <p:nvPr/>
            </p:nvSpPr>
            <p:spPr>
              <a:xfrm>
                <a:off x="1754066" y="6373332"/>
                <a:ext cx="1345734" cy="369332"/>
              </a:xfrm>
              <a:prstGeom prst="rect">
                <a:avLst/>
              </a:prstGeom>
              <a:blipFill>
                <a:blip r:embed="rId11"/>
                <a:stretch>
                  <a:fillRect/>
                </a:stretch>
              </a:blipFill>
            </p:spPr>
            <p:txBody>
              <a:bodyPr/>
              <a:lstStyle/>
              <a:p>
                <a:r>
                  <a:rPr lang="sv-SE">
                    <a:noFill/>
                  </a:rPr>
                  <a:t> </a:t>
                </a:r>
              </a:p>
            </p:txBody>
          </p:sp>
        </mc:Fallback>
      </mc:AlternateContent>
      <p:sp>
        <p:nvSpPr>
          <p:cNvPr id="1027" name="TextBox 1026">
            <a:extLst>
              <a:ext uri="{FF2B5EF4-FFF2-40B4-BE49-F238E27FC236}">
                <a16:creationId xmlns:a16="http://schemas.microsoft.com/office/drawing/2014/main" id="{5CCA3D73-DCE1-D86A-D787-9087564B5EAE}"/>
              </a:ext>
            </a:extLst>
          </p:cNvPr>
          <p:cNvSpPr txBox="1"/>
          <p:nvPr/>
        </p:nvSpPr>
        <p:spPr>
          <a:xfrm>
            <a:off x="1493165" y="6093437"/>
            <a:ext cx="1867536" cy="307777"/>
          </a:xfrm>
          <a:prstGeom prst="rect">
            <a:avLst/>
          </a:prstGeom>
          <a:noFill/>
        </p:spPr>
        <p:txBody>
          <a:bodyPr wrap="square">
            <a:spAutoFit/>
          </a:bodyPr>
          <a:lstStyle/>
          <a:p>
            <a:r>
              <a:rPr lang="en-US" sz="1400" b="0" dirty="0">
                <a:solidFill>
                  <a:srgbClr val="000061"/>
                </a:solidFill>
                <a:latin typeface="Georgia" pitchFamily="34" charset="0"/>
                <a:ea typeface="Georgia" pitchFamily="34" charset="-122"/>
                <a:cs typeface="Georgia" pitchFamily="34" charset="-120"/>
              </a:rPr>
              <a:t>Minimizing lone</a:t>
            </a:r>
            <a:endParaRPr lang="en-US" sz="1400" dirty="0">
              <a:solidFill>
                <a:srgbClr val="000061"/>
              </a:solidFill>
              <a:latin typeface="Georgia" pitchFamily="34" charset="0"/>
              <a:ea typeface="Georgia" pitchFamily="34" charset="-122"/>
              <a:cs typeface="Georgia" pitchFamily="34" charset="-120"/>
            </a:endParaRPr>
          </a:p>
        </p:txBody>
      </p:sp>
      <mc:AlternateContent xmlns:mc="http://schemas.openxmlformats.org/markup-compatibility/2006">
        <mc:Choice xmlns:a14="http://schemas.microsoft.com/office/drawing/2010/main" Requires="a14">
          <p:sp>
            <p:nvSpPr>
              <p:cNvPr id="1029" name="TextBox 1028">
                <a:extLst>
                  <a:ext uri="{FF2B5EF4-FFF2-40B4-BE49-F238E27FC236}">
                    <a16:creationId xmlns:a16="http://schemas.microsoft.com/office/drawing/2014/main" id="{B6ABA7DC-E4BD-6F47-2240-B25B1DB271D5}"/>
                  </a:ext>
                </a:extLst>
              </p:cNvPr>
              <p:cNvSpPr txBox="1"/>
              <p:nvPr/>
            </p:nvSpPr>
            <p:spPr>
              <a:xfrm>
                <a:off x="4352463" y="3825959"/>
                <a:ext cx="4193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 </m:t>
                          </m:r>
                        </m:sub>
                      </m:sSub>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𝑎𝑏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oMath>
                  </m:oMathPara>
                </a14:m>
                <a:endParaRPr lang="sv-SE" dirty="0"/>
              </a:p>
            </p:txBody>
          </p:sp>
        </mc:Choice>
        <mc:Fallback>
          <p:sp>
            <p:nvSpPr>
              <p:cNvPr id="1029" name="TextBox 1028">
                <a:extLst>
                  <a:ext uri="{FF2B5EF4-FFF2-40B4-BE49-F238E27FC236}">
                    <a16:creationId xmlns:a16="http://schemas.microsoft.com/office/drawing/2014/main" id="{B6ABA7DC-E4BD-6F47-2240-B25B1DB271D5}"/>
                  </a:ext>
                </a:extLst>
              </p:cNvPr>
              <p:cNvSpPr txBox="1">
                <a:spLocks noRot="1" noChangeAspect="1" noMove="1" noResize="1" noEditPoints="1" noAdjustHandles="1" noChangeArrowheads="1" noChangeShapeType="1" noTextEdit="1"/>
              </p:cNvSpPr>
              <p:nvPr/>
            </p:nvSpPr>
            <p:spPr>
              <a:xfrm>
                <a:off x="4352463" y="3825959"/>
                <a:ext cx="4193152" cy="369332"/>
              </a:xfrm>
              <a:prstGeom prst="rect">
                <a:avLst/>
              </a:prstGeom>
              <a:blipFill>
                <a:blip r:embed="rId12"/>
                <a:stretch>
                  <a:fillRect b="-1667"/>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030" name="TextBox 1029">
                <a:extLst>
                  <a:ext uri="{FF2B5EF4-FFF2-40B4-BE49-F238E27FC236}">
                    <a16:creationId xmlns:a16="http://schemas.microsoft.com/office/drawing/2014/main" id="{2942FB8A-300D-F9B1-36D3-7971BA7E3C2F}"/>
                  </a:ext>
                </a:extLst>
              </p:cNvPr>
              <p:cNvSpPr txBox="1"/>
              <p:nvPr/>
            </p:nvSpPr>
            <p:spPr>
              <a:xfrm>
                <a:off x="4352463" y="4345598"/>
                <a:ext cx="4193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m:t>
                          </m:r>
                        </m:sub>
                      </m:sSub>
                      <m:r>
                        <a:rPr lang="en-US" b="0" i="1" smtClean="0">
                          <a:latin typeface="Cambria Math" panose="02040503050406030204" pitchFamily="18" charset="0"/>
                        </a:rPr>
                        <m:t>=0</m:t>
                      </m:r>
                    </m:oMath>
                  </m:oMathPara>
                </a14:m>
                <a:endParaRPr lang="sv-SE" dirty="0"/>
              </a:p>
            </p:txBody>
          </p:sp>
        </mc:Choice>
        <mc:Fallback>
          <p:sp>
            <p:nvSpPr>
              <p:cNvPr id="1030" name="TextBox 1029">
                <a:extLst>
                  <a:ext uri="{FF2B5EF4-FFF2-40B4-BE49-F238E27FC236}">
                    <a16:creationId xmlns:a16="http://schemas.microsoft.com/office/drawing/2014/main" id="{2942FB8A-300D-F9B1-36D3-7971BA7E3C2F}"/>
                  </a:ext>
                </a:extLst>
              </p:cNvPr>
              <p:cNvSpPr txBox="1">
                <a:spLocks noRot="1" noChangeAspect="1" noMove="1" noResize="1" noEditPoints="1" noAdjustHandles="1" noChangeArrowheads="1" noChangeShapeType="1" noTextEdit="1"/>
              </p:cNvSpPr>
              <p:nvPr/>
            </p:nvSpPr>
            <p:spPr>
              <a:xfrm>
                <a:off x="4352463" y="4345598"/>
                <a:ext cx="4193152" cy="369332"/>
              </a:xfrm>
              <a:prstGeom prst="rect">
                <a:avLst/>
              </a:prstGeom>
              <a:blipFill>
                <a:blip r:embed="rId13"/>
                <a:stretch>
                  <a:fillRect b="-1667"/>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graphicFrame>
            <p:nvGraphicFramePr>
              <p:cNvPr id="1033" name="Table 1032">
                <a:extLst>
                  <a:ext uri="{FF2B5EF4-FFF2-40B4-BE49-F238E27FC236}">
                    <a16:creationId xmlns:a16="http://schemas.microsoft.com/office/drawing/2014/main" id="{E13F7AC0-D063-B42A-3811-7D85024128EE}"/>
                  </a:ext>
                </a:extLst>
              </p:cNvPr>
              <p:cNvGraphicFramePr>
                <a:graphicFrameLocks noGrp="1"/>
              </p:cNvGraphicFramePr>
              <p:nvPr>
                <p:extLst>
                  <p:ext uri="{D42A27DB-BD31-4B8C-83A1-F6EECF244321}">
                    <p14:modId xmlns:p14="http://schemas.microsoft.com/office/powerpoint/2010/main" val="953477261"/>
                  </p:ext>
                </p:extLst>
              </p:nvPr>
            </p:nvGraphicFramePr>
            <p:xfrm>
              <a:off x="9177024" y="958907"/>
              <a:ext cx="2541830" cy="3423920"/>
            </p:xfrm>
            <a:graphic>
              <a:graphicData uri="http://schemas.openxmlformats.org/drawingml/2006/table">
                <a:tbl>
                  <a:tblPr firstRow="1" bandRow="1">
                    <a:tableStyleId>{5C22544A-7EE6-4342-B048-85BDC9FD1C3A}</a:tableStyleId>
                  </a:tblPr>
                  <a:tblGrid>
                    <a:gridCol w="1069549">
                      <a:extLst>
                        <a:ext uri="{9D8B030D-6E8A-4147-A177-3AD203B41FA5}">
                          <a16:colId xmlns:a16="http://schemas.microsoft.com/office/drawing/2014/main" val="1441831067"/>
                        </a:ext>
                      </a:extLst>
                    </a:gridCol>
                    <a:gridCol w="1472281">
                      <a:extLst>
                        <a:ext uri="{9D8B030D-6E8A-4147-A177-3AD203B41FA5}">
                          <a16:colId xmlns:a16="http://schemas.microsoft.com/office/drawing/2014/main" val="3590361050"/>
                        </a:ext>
                      </a:extLst>
                    </a:gridCol>
                  </a:tblGrid>
                  <a:tr h="370840">
                    <a:tc>
                      <a:txBody>
                        <a:bodyPr/>
                        <a:lstStyle/>
                        <a:p>
                          <a:pPr algn="ctr"/>
                          <a:r>
                            <a:rPr lang="en-US" sz="1200" dirty="0"/>
                            <a:t>Fraction of Time</a:t>
                          </a:r>
                          <a:endParaRPr lang="sv-SE" sz="1200" dirty="0"/>
                        </a:p>
                      </a:txBody>
                      <a:tcPr/>
                    </a:tc>
                    <a:tc>
                      <a:txBody>
                        <a:bodyPr/>
                        <a:lstStyle/>
                        <a:p>
                          <a:pPr algn="ctr"/>
                          <a:r>
                            <a:rPr lang="en-US" sz="1400" dirty="0"/>
                            <a:t>Value</a:t>
                          </a:r>
                          <a:endParaRPr lang="sv-SE" sz="1400" dirty="0"/>
                        </a:p>
                      </a:txBody>
                      <a:tcPr/>
                    </a:tc>
                    <a:extLst>
                      <a:ext uri="{0D108BD9-81ED-4DB2-BD59-A6C34878D82A}">
                        <a16:rowId xmlns:a16="http://schemas.microsoft.com/office/drawing/2014/main" val="166653369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𝑎</m:t>
                                    </m:r>
                                  </m:sub>
                                </m:sSub>
                              </m:oMath>
                            </m:oMathPara>
                          </a14:m>
                          <a:endParaRPr lang="sv-SE"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sv-SE" sz="1400" dirty="0"/>
                        </a:p>
                      </a:txBody>
                      <a:tcPr/>
                    </a:tc>
                    <a:extLst>
                      <a:ext uri="{0D108BD9-81ED-4DB2-BD59-A6C34878D82A}">
                        <a16:rowId xmlns:a16="http://schemas.microsoft.com/office/drawing/2014/main" val="245402942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𝑏</m:t>
                                    </m:r>
                                  </m:sub>
                                </m:sSub>
                              </m:oMath>
                            </m:oMathPara>
                          </a14:m>
                          <a:endParaRPr lang="sv-SE"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sv-SE" sz="1400" dirty="0"/>
                        </a:p>
                      </a:txBody>
                      <a:tcPr/>
                    </a:tc>
                    <a:extLst>
                      <a:ext uri="{0D108BD9-81ED-4DB2-BD59-A6C34878D82A}">
                        <a16:rowId xmlns:a16="http://schemas.microsoft.com/office/drawing/2014/main" val="776071168"/>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𝑐</m:t>
                                    </m:r>
                                  </m:sub>
                                </m:sSub>
                              </m:oMath>
                            </m:oMathPara>
                          </a14:m>
                          <a:endParaRPr lang="sv-SE"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sv-SE" sz="1400" dirty="0"/>
                        </a:p>
                      </a:txBody>
                      <a:tcPr/>
                    </a:tc>
                    <a:extLst>
                      <a:ext uri="{0D108BD9-81ED-4DB2-BD59-A6C34878D82A}">
                        <a16:rowId xmlns:a16="http://schemas.microsoft.com/office/drawing/2014/main" val="1642477553"/>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𝑎𝑏</m:t>
                                    </m:r>
                                  </m:sub>
                                </m:sSub>
                              </m:oMath>
                            </m:oMathPara>
                          </a14:m>
                          <a:endParaRPr lang="sv-SE"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𝑎</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𝑐</m:t>
                                    </m:r>
                                  </m:sub>
                                </m:sSub>
                              </m:oMath>
                            </m:oMathPara>
                          </a14:m>
                          <a:endParaRPr lang="sv-SE" sz="1400" dirty="0"/>
                        </a:p>
                      </a:txBody>
                      <a:tcPr/>
                    </a:tc>
                    <a:extLst>
                      <a:ext uri="{0D108BD9-81ED-4DB2-BD59-A6C34878D82A}">
                        <a16:rowId xmlns:a16="http://schemas.microsoft.com/office/drawing/2014/main" val="351558489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𝑎𝑐</m:t>
                                    </m:r>
                                  </m:sub>
                                </m:sSub>
                              </m:oMath>
                            </m:oMathPara>
                          </a14:m>
                          <a:endParaRPr lang="sv-SE"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𝑎</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𝑏</m:t>
                                    </m:r>
                                  </m:sub>
                                </m:sSub>
                              </m:oMath>
                            </m:oMathPara>
                          </a14:m>
                          <a:endParaRPr lang="sv-SE" sz="1400" dirty="0"/>
                        </a:p>
                      </a:txBody>
                      <a:tcPr/>
                    </a:tc>
                    <a:extLst>
                      <a:ext uri="{0D108BD9-81ED-4DB2-BD59-A6C34878D82A}">
                        <a16:rowId xmlns:a16="http://schemas.microsoft.com/office/drawing/2014/main" val="3448970999"/>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𝑏𝑐</m:t>
                                    </m:r>
                                  </m:sub>
                                </m:sSub>
                              </m:oMath>
                            </m:oMathPara>
                          </a14:m>
                          <a:endParaRPr lang="sv-SE"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sv-SE" sz="1400" dirty="0"/>
                        </a:p>
                      </a:txBody>
                      <a:tcPr/>
                    </a:tc>
                    <a:extLst>
                      <a:ext uri="{0D108BD9-81ED-4DB2-BD59-A6C34878D82A}">
                        <a16:rowId xmlns:a16="http://schemas.microsoft.com/office/drawing/2014/main" val="42961754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𝑎𝑏𝑐</m:t>
                                    </m:r>
                                  </m:sub>
                                </m:sSub>
                              </m:oMath>
                            </m:oMathPara>
                          </a14:m>
                          <a:endParaRPr lang="sv-SE" sz="1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𝐶</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𝑏</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𝑎</m:t>
                                    </m:r>
                                  </m:sub>
                                </m:sSub>
                              </m:oMath>
                            </m:oMathPara>
                          </a14:m>
                          <a:endParaRPr lang="sv-SE" sz="1400" dirty="0"/>
                        </a:p>
                      </a:txBody>
                      <a:tcPr/>
                    </a:tc>
                    <a:extLst>
                      <a:ext uri="{0D108BD9-81ED-4DB2-BD59-A6C34878D82A}">
                        <a16:rowId xmlns:a16="http://schemas.microsoft.com/office/drawing/2014/main" val="283514384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0</m:t>
                                    </m:r>
                                  </m:sub>
                                </m:sSub>
                              </m:oMath>
                            </m:oMathPara>
                          </a14:m>
                          <a:endParaRPr lang="sv-SE"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𝑎</m:t>
                                    </m:r>
                                  </m:sub>
                                </m:sSub>
                              </m:oMath>
                            </m:oMathPara>
                          </a14:m>
                          <a:endParaRPr lang="sv-SE" sz="1400" dirty="0"/>
                        </a:p>
                      </a:txBody>
                      <a:tcPr/>
                    </a:tc>
                    <a:extLst>
                      <a:ext uri="{0D108BD9-81ED-4DB2-BD59-A6C34878D82A}">
                        <a16:rowId xmlns:a16="http://schemas.microsoft.com/office/drawing/2014/main" val="1029686120"/>
                      </a:ext>
                    </a:extLst>
                  </a:tr>
                </a:tbl>
              </a:graphicData>
            </a:graphic>
          </p:graphicFrame>
        </mc:Choice>
        <mc:Fallback>
          <p:graphicFrame>
            <p:nvGraphicFramePr>
              <p:cNvPr id="1033" name="Table 1032">
                <a:extLst>
                  <a:ext uri="{FF2B5EF4-FFF2-40B4-BE49-F238E27FC236}">
                    <a16:creationId xmlns:a16="http://schemas.microsoft.com/office/drawing/2014/main" id="{E13F7AC0-D063-B42A-3811-7D85024128EE}"/>
                  </a:ext>
                </a:extLst>
              </p:cNvPr>
              <p:cNvGraphicFramePr>
                <a:graphicFrameLocks noGrp="1"/>
              </p:cNvGraphicFramePr>
              <p:nvPr>
                <p:extLst>
                  <p:ext uri="{D42A27DB-BD31-4B8C-83A1-F6EECF244321}">
                    <p14:modId xmlns:p14="http://schemas.microsoft.com/office/powerpoint/2010/main" val="953477261"/>
                  </p:ext>
                </p:extLst>
              </p:nvPr>
            </p:nvGraphicFramePr>
            <p:xfrm>
              <a:off x="9177024" y="958907"/>
              <a:ext cx="2541830" cy="3423920"/>
            </p:xfrm>
            <a:graphic>
              <a:graphicData uri="http://schemas.openxmlformats.org/drawingml/2006/table">
                <a:tbl>
                  <a:tblPr firstRow="1" bandRow="1">
                    <a:tableStyleId>{5C22544A-7EE6-4342-B048-85BDC9FD1C3A}</a:tableStyleId>
                  </a:tblPr>
                  <a:tblGrid>
                    <a:gridCol w="1069549">
                      <a:extLst>
                        <a:ext uri="{9D8B030D-6E8A-4147-A177-3AD203B41FA5}">
                          <a16:colId xmlns:a16="http://schemas.microsoft.com/office/drawing/2014/main" val="1441831067"/>
                        </a:ext>
                      </a:extLst>
                    </a:gridCol>
                    <a:gridCol w="1472281">
                      <a:extLst>
                        <a:ext uri="{9D8B030D-6E8A-4147-A177-3AD203B41FA5}">
                          <a16:colId xmlns:a16="http://schemas.microsoft.com/office/drawing/2014/main" val="3590361050"/>
                        </a:ext>
                      </a:extLst>
                    </a:gridCol>
                  </a:tblGrid>
                  <a:tr h="457200">
                    <a:tc>
                      <a:txBody>
                        <a:bodyPr/>
                        <a:lstStyle/>
                        <a:p>
                          <a:pPr algn="ctr"/>
                          <a:r>
                            <a:rPr lang="en-US" sz="1200" dirty="0"/>
                            <a:t>Fraction of Time</a:t>
                          </a:r>
                          <a:endParaRPr lang="sv-SE" sz="1200" dirty="0"/>
                        </a:p>
                      </a:txBody>
                      <a:tcPr/>
                    </a:tc>
                    <a:tc>
                      <a:txBody>
                        <a:bodyPr/>
                        <a:lstStyle/>
                        <a:p>
                          <a:pPr algn="ctr"/>
                          <a:r>
                            <a:rPr lang="en-US" sz="1400" dirty="0"/>
                            <a:t>Value</a:t>
                          </a:r>
                          <a:endParaRPr lang="sv-SE" sz="1400" dirty="0"/>
                        </a:p>
                      </a:txBody>
                      <a:tcPr/>
                    </a:tc>
                    <a:extLst>
                      <a:ext uri="{0D108BD9-81ED-4DB2-BD59-A6C34878D82A}">
                        <a16:rowId xmlns:a16="http://schemas.microsoft.com/office/drawing/2014/main" val="1666533691"/>
                      </a:ext>
                    </a:extLst>
                  </a:tr>
                  <a:tr h="370840">
                    <a:tc>
                      <a:txBody>
                        <a:bodyPr/>
                        <a:lstStyle/>
                        <a:p>
                          <a:endParaRPr lang="sv-SE"/>
                        </a:p>
                      </a:txBody>
                      <a:tcPr>
                        <a:blipFill>
                          <a:blip r:embed="rId14"/>
                          <a:stretch>
                            <a:fillRect l="-568" t="-124590" r="-139773" b="-703279"/>
                          </a:stretch>
                        </a:blipFill>
                      </a:tcPr>
                    </a:tc>
                    <a:tc>
                      <a:txBody>
                        <a:bodyPr/>
                        <a:lstStyle/>
                        <a:p>
                          <a:endParaRPr lang="sv-SE"/>
                        </a:p>
                      </a:txBody>
                      <a:tcPr>
                        <a:blipFill>
                          <a:blip r:embed="rId14"/>
                          <a:stretch>
                            <a:fillRect l="-73140" t="-124590" r="-1653" b="-703279"/>
                          </a:stretch>
                        </a:blipFill>
                      </a:tcPr>
                    </a:tc>
                    <a:extLst>
                      <a:ext uri="{0D108BD9-81ED-4DB2-BD59-A6C34878D82A}">
                        <a16:rowId xmlns:a16="http://schemas.microsoft.com/office/drawing/2014/main" val="2454029421"/>
                      </a:ext>
                    </a:extLst>
                  </a:tr>
                  <a:tr h="370840">
                    <a:tc>
                      <a:txBody>
                        <a:bodyPr/>
                        <a:lstStyle/>
                        <a:p>
                          <a:endParaRPr lang="sv-SE"/>
                        </a:p>
                      </a:txBody>
                      <a:tcPr>
                        <a:blipFill>
                          <a:blip r:embed="rId14"/>
                          <a:stretch>
                            <a:fillRect l="-568" t="-224590" r="-139773" b="-603279"/>
                          </a:stretch>
                        </a:blipFill>
                      </a:tcPr>
                    </a:tc>
                    <a:tc>
                      <a:txBody>
                        <a:bodyPr/>
                        <a:lstStyle/>
                        <a:p>
                          <a:endParaRPr lang="sv-SE"/>
                        </a:p>
                      </a:txBody>
                      <a:tcPr>
                        <a:blipFill>
                          <a:blip r:embed="rId14"/>
                          <a:stretch>
                            <a:fillRect l="-73140" t="-224590" r="-1653" b="-603279"/>
                          </a:stretch>
                        </a:blipFill>
                      </a:tcPr>
                    </a:tc>
                    <a:extLst>
                      <a:ext uri="{0D108BD9-81ED-4DB2-BD59-A6C34878D82A}">
                        <a16:rowId xmlns:a16="http://schemas.microsoft.com/office/drawing/2014/main" val="776071168"/>
                      </a:ext>
                    </a:extLst>
                  </a:tr>
                  <a:tr h="370840">
                    <a:tc>
                      <a:txBody>
                        <a:bodyPr/>
                        <a:lstStyle/>
                        <a:p>
                          <a:endParaRPr lang="sv-SE"/>
                        </a:p>
                      </a:txBody>
                      <a:tcPr>
                        <a:blipFill>
                          <a:blip r:embed="rId14"/>
                          <a:stretch>
                            <a:fillRect l="-568" t="-324590" r="-139773" b="-503279"/>
                          </a:stretch>
                        </a:blipFill>
                      </a:tcPr>
                    </a:tc>
                    <a:tc>
                      <a:txBody>
                        <a:bodyPr/>
                        <a:lstStyle/>
                        <a:p>
                          <a:endParaRPr lang="sv-SE"/>
                        </a:p>
                      </a:txBody>
                      <a:tcPr>
                        <a:blipFill>
                          <a:blip r:embed="rId14"/>
                          <a:stretch>
                            <a:fillRect l="-73140" t="-324590" r="-1653" b="-503279"/>
                          </a:stretch>
                        </a:blipFill>
                      </a:tcPr>
                    </a:tc>
                    <a:extLst>
                      <a:ext uri="{0D108BD9-81ED-4DB2-BD59-A6C34878D82A}">
                        <a16:rowId xmlns:a16="http://schemas.microsoft.com/office/drawing/2014/main" val="1642477553"/>
                      </a:ext>
                    </a:extLst>
                  </a:tr>
                  <a:tr h="370840">
                    <a:tc>
                      <a:txBody>
                        <a:bodyPr/>
                        <a:lstStyle/>
                        <a:p>
                          <a:endParaRPr lang="sv-SE"/>
                        </a:p>
                      </a:txBody>
                      <a:tcPr>
                        <a:blipFill>
                          <a:blip r:embed="rId14"/>
                          <a:stretch>
                            <a:fillRect l="-568" t="-424590" r="-139773" b="-403279"/>
                          </a:stretch>
                        </a:blipFill>
                      </a:tcPr>
                    </a:tc>
                    <a:tc>
                      <a:txBody>
                        <a:bodyPr/>
                        <a:lstStyle/>
                        <a:p>
                          <a:endParaRPr lang="sv-SE"/>
                        </a:p>
                      </a:txBody>
                      <a:tcPr>
                        <a:blipFill>
                          <a:blip r:embed="rId14"/>
                          <a:stretch>
                            <a:fillRect l="-73140" t="-424590" r="-1653" b="-403279"/>
                          </a:stretch>
                        </a:blipFill>
                      </a:tcPr>
                    </a:tc>
                    <a:extLst>
                      <a:ext uri="{0D108BD9-81ED-4DB2-BD59-A6C34878D82A}">
                        <a16:rowId xmlns:a16="http://schemas.microsoft.com/office/drawing/2014/main" val="3515584895"/>
                      </a:ext>
                    </a:extLst>
                  </a:tr>
                  <a:tr h="370840">
                    <a:tc>
                      <a:txBody>
                        <a:bodyPr/>
                        <a:lstStyle/>
                        <a:p>
                          <a:endParaRPr lang="sv-SE"/>
                        </a:p>
                      </a:txBody>
                      <a:tcPr>
                        <a:blipFill>
                          <a:blip r:embed="rId14"/>
                          <a:stretch>
                            <a:fillRect l="-568" t="-533333" r="-139773" b="-310000"/>
                          </a:stretch>
                        </a:blipFill>
                      </a:tcPr>
                    </a:tc>
                    <a:tc>
                      <a:txBody>
                        <a:bodyPr/>
                        <a:lstStyle/>
                        <a:p>
                          <a:endParaRPr lang="sv-SE"/>
                        </a:p>
                      </a:txBody>
                      <a:tcPr>
                        <a:blipFill>
                          <a:blip r:embed="rId14"/>
                          <a:stretch>
                            <a:fillRect l="-73140" t="-533333" r="-1653" b="-310000"/>
                          </a:stretch>
                        </a:blipFill>
                      </a:tcPr>
                    </a:tc>
                    <a:extLst>
                      <a:ext uri="{0D108BD9-81ED-4DB2-BD59-A6C34878D82A}">
                        <a16:rowId xmlns:a16="http://schemas.microsoft.com/office/drawing/2014/main" val="3448970999"/>
                      </a:ext>
                    </a:extLst>
                  </a:tr>
                  <a:tr h="370840">
                    <a:tc>
                      <a:txBody>
                        <a:bodyPr/>
                        <a:lstStyle/>
                        <a:p>
                          <a:endParaRPr lang="sv-SE"/>
                        </a:p>
                      </a:txBody>
                      <a:tcPr>
                        <a:blipFill>
                          <a:blip r:embed="rId14"/>
                          <a:stretch>
                            <a:fillRect l="-568" t="-622951" r="-139773" b="-204918"/>
                          </a:stretch>
                        </a:blipFill>
                      </a:tcPr>
                    </a:tc>
                    <a:tc>
                      <a:txBody>
                        <a:bodyPr/>
                        <a:lstStyle/>
                        <a:p>
                          <a:endParaRPr lang="sv-SE"/>
                        </a:p>
                      </a:txBody>
                      <a:tcPr>
                        <a:blipFill>
                          <a:blip r:embed="rId14"/>
                          <a:stretch>
                            <a:fillRect l="-73140" t="-622951" r="-1653" b="-204918"/>
                          </a:stretch>
                        </a:blipFill>
                      </a:tcPr>
                    </a:tc>
                    <a:extLst>
                      <a:ext uri="{0D108BD9-81ED-4DB2-BD59-A6C34878D82A}">
                        <a16:rowId xmlns:a16="http://schemas.microsoft.com/office/drawing/2014/main" val="429617545"/>
                      </a:ext>
                    </a:extLst>
                  </a:tr>
                  <a:tr h="370840">
                    <a:tc>
                      <a:txBody>
                        <a:bodyPr/>
                        <a:lstStyle/>
                        <a:p>
                          <a:endParaRPr lang="sv-SE"/>
                        </a:p>
                      </a:txBody>
                      <a:tcPr>
                        <a:blipFill>
                          <a:blip r:embed="rId14"/>
                          <a:stretch>
                            <a:fillRect l="-568" t="-722951" r="-139773" b="-104918"/>
                          </a:stretch>
                        </a:blipFill>
                      </a:tcPr>
                    </a:tc>
                    <a:tc>
                      <a:txBody>
                        <a:bodyPr/>
                        <a:lstStyle/>
                        <a:p>
                          <a:endParaRPr lang="sv-SE"/>
                        </a:p>
                      </a:txBody>
                      <a:tcPr>
                        <a:blipFill>
                          <a:blip r:embed="rId14"/>
                          <a:stretch>
                            <a:fillRect l="-73140" t="-722951" r="-1653" b="-104918"/>
                          </a:stretch>
                        </a:blipFill>
                      </a:tcPr>
                    </a:tc>
                    <a:extLst>
                      <a:ext uri="{0D108BD9-81ED-4DB2-BD59-A6C34878D82A}">
                        <a16:rowId xmlns:a16="http://schemas.microsoft.com/office/drawing/2014/main" val="2835143844"/>
                      </a:ext>
                    </a:extLst>
                  </a:tr>
                  <a:tr h="370840">
                    <a:tc>
                      <a:txBody>
                        <a:bodyPr/>
                        <a:lstStyle/>
                        <a:p>
                          <a:endParaRPr lang="sv-SE"/>
                        </a:p>
                      </a:txBody>
                      <a:tcPr>
                        <a:blipFill>
                          <a:blip r:embed="rId14"/>
                          <a:stretch>
                            <a:fillRect l="-568" t="-822951" r="-139773" b="-4918"/>
                          </a:stretch>
                        </a:blipFill>
                      </a:tcPr>
                    </a:tc>
                    <a:tc>
                      <a:txBody>
                        <a:bodyPr/>
                        <a:lstStyle/>
                        <a:p>
                          <a:endParaRPr lang="sv-SE"/>
                        </a:p>
                      </a:txBody>
                      <a:tcPr>
                        <a:blipFill>
                          <a:blip r:embed="rId14"/>
                          <a:stretch>
                            <a:fillRect l="-73140" t="-822951" r="-1653" b="-4918"/>
                          </a:stretch>
                        </a:blipFill>
                      </a:tcPr>
                    </a:tc>
                    <a:extLst>
                      <a:ext uri="{0D108BD9-81ED-4DB2-BD59-A6C34878D82A}">
                        <a16:rowId xmlns:a16="http://schemas.microsoft.com/office/drawing/2014/main" val="102968612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34" name="Table 1033">
                <a:extLst>
                  <a:ext uri="{FF2B5EF4-FFF2-40B4-BE49-F238E27FC236}">
                    <a16:creationId xmlns:a16="http://schemas.microsoft.com/office/drawing/2014/main" id="{8A26E369-5A5F-163D-AB26-6FA0F1D1F8EF}"/>
                  </a:ext>
                </a:extLst>
              </p:cNvPr>
              <p:cNvGraphicFramePr>
                <a:graphicFrameLocks noGrp="1"/>
              </p:cNvGraphicFramePr>
              <p:nvPr>
                <p:extLst>
                  <p:ext uri="{D42A27DB-BD31-4B8C-83A1-F6EECF244321}">
                    <p14:modId xmlns:p14="http://schemas.microsoft.com/office/powerpoint/2010/main" val="693299023"/>
                  </p:ext>
                </p:extLst>
              </p:nvPr>
            </p:nvGraphicFramePr>
            <p:xfrm>
              <a:off x="9177024" y="4842906"/>
              <a:ext cx="2541830" cy="1654128"/>
            </p:xfrm>
            <a:graphic>
              <a:graphicData uri="http://schemas.openxmlformats.org/drawingml/2006/table">
                <a:tbl>
                  <a:tblPr firstRow="1" bandRow="1">
                    <a:tableStyleId>{5C22544A-7EE6-4342-B048-85BDC9FD1C3A}</a:tableStyleId>
                  </a:tblPr>
                  <a:tblGrid>
                    <a:gridCol w="1138402">
                      <a:extLst>
                        <a:ext uri="{9D8B030D-6E8A-4147-A177-3AD203B41FA5}">
                          <a16:colId xmlns:a16="http://schemas.microsoft.com/office/drawing/2014/main" val="1441831067"/>
                        </a:ext>
                      </a:extLst>
                    </a:gridCol>
                    <a:gridCol w="1403428">
                      <a:extLst>
                        <a:ext uri="{9D8B030D-6E8A-4147-A177-3AD203B41FA5}">
                          <a16:colId xmlns:a16="http://schemas.microsoft.com/office/drawing/2014/main" val="3590361050"/>
                        </a:ext>
                      </a:extLst>
                    </a:gridCol>
                  </a:tblGrid>
                  <a:tr h="455248">
                    <a:tc>
                      <a:txBody>
                        <a:bodyPr/>
                        <a:lstStyle/>
                        <a:p>
                          <a:pPr algn="ctr"/>
                          <a:r>
                            <a:rPr lang="en-US" sz="1100" dirty="0"/>
                            <a:t>Carrier</a:t>
                          </a:r>
                        </a:p>
                        <a:p>
                          <a:pPr algn="ctr"/>
                          <a:r>
                            <a:rPr lang="en-US" sz="1100" dirty="0"/>
                            <a:t> Phases</a:t>
                          </a:r>
                          <a:endParaRPr lang="sv-SE" sz="1100" dirty="0"/>
                        </a:p>
                      </a:txBody>
                      <a:tcPr/>
                    </a:tc>
                    <a:tc>
                      <a:txBody>
                        <a:bodyPr/>
                        <a:lstStyle/>
                        <a:p>
                          <a:pPr algn="ctr"/>
                          <a:r>
                            <a:rPr lang="en-US" sz="1200" dirty="0"/>
                            <a:t>Value</a:t>
                          </a:r>
                          <a:endParaRPr lang="sv-SE" sz="1200" dirty="0"/>
                        </a:p>
                      </a:txBody>
                      <a:tcPr/>
                    </a:tc>
                    <a:extLst>
                      <a:ext uri="{0D108BD9-81ED-4DB2-BD59-A6C34878D82A}">
                        <a16:rowId xmlns:a16="http://schemas.microsoft.com/office/drawing/2014/main" val="166653369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𝜃</m:t>
                                    </m:r>
                                  </m:e>
                                  <m:sub>
                                    <m:r>
                                      <a:rPr lang="en-US" sz="1200" b="0" i="1" smtClean="0">
                                        <a:latin typeface="Cambria Math" panose="02040503050406030204" pitchFamily="18" charset="0"/>
                                      </a:rPr>
                                      <m:t>𝑐𝐴</m:t>
                                    </m:r>
                                  </m:sub>
                                </m:sSub>
                              </m:oMath>
                            </m:oMathPara>
                          </a14:m>
                          <a:endParaRPr lang="sv-SE" sz="12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180 (</m:t>
                                    </m:r>
                                    <m:r>
                                      <a:rPr lang="en-US" sz="1200" b="0" i="1" smtClean="0">
                                        <a:latin typeface="Cambria Math" panose="02040503050406030204" pitchFamily="18" charset="0"/>
                                      </a:rPr>
                                      <m:t>𝐷</m:t>
                                    </m:r>
                                  </m:e>
                                  <m:sub>
                                    <m:r>
                                      <a:rPr lang="en-US" sz="1200" b="0" i="1" smtClean="0">
                                        <a:latin typeface="Cambria Math" panose="02040503050406030204" pitchFamily="18" charset="0"/>
                                      </a:rPr>
                                      <m:t>𝐴</m:t>
                                    </m:r>
                                  </m:sub>
                                </m:sSub>
                                <m:r>
                                  <a:rPr lang="en-US" sz="1200" b="0" i="1" smtClean="0">
                                    <a:latin typeface="Cambria Math" panose="02040503050406030204" pitchFamily="18" charset="0"/>
                                  </a:rPr>
                                  <m:t>−1)</m:t>
                                </m:r>
                              </m:oMath>
                            </m:oMathPara>
                          </a14:m>
                          <a:endParaRPr lang="sv-SE" sz="1200" dirty="0"/>
                        </a:p>
                      </a:txBody>
                      <a:tcPr/>
                    </a:tc>
                    <a:extLst>
                      <a:ext uri="{0D108BD9-81ED-4DB2-BD59-A6C34878D82A}">
                        <a16:rowId xmlns:a16="http://schemas.microsoft.com/office/drawing/2014/main" val="245402942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𝜃</m:t>
                                    </m:r>
                                  </m:e>
                                  <m:sub>
                                    <m:r>
                                      <a:rPr lang="en-US" sz="1200" b="0" i="1" smtClean="0">
                                        <a:latin typeface="Cambria Math" panose="02040503050406030204" pitchFamily="18" charset="0"/>
                                      </a:rPr>
                                      <m:t>𝑐𝐵</m:t>
                                    </m:r>
                                  </m:sub>
                                </m:sSub>
                              </m:oMath>
                            </m:oMathPara>
                          </a14:m>
                          <a:endParaRPr lang="sv-SE" sz="12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180 (</m:t>
                                    </m:r>
                                    <m:r>
                                      <a:rPr lang="en-US" sz="1200" b="0" i="1" smtClean="0">
                                        <a:latin typeface="Cambria Math" panose="02040503050406030204" pitchFamily="18" charset="0"/>
                                      </a:rPr>
                                      <m:t>𝐷</m:t>
                                    </m:r>
                                  </m:e>
                                  <m:sub>
                                    <m:r>
                                      <a:rPr lang="en-US" sz="1200" b="0" i="1" smtClean="0">
                                        <a:latin typeface="Cambria Math" panose="02040503050406030204" pitchFamily="18" charset="0"/>
                                      </a:rPr>
                                      <m:t>𝐵</m:t>
                                    </m:r>
                                  </m:sub>
                                </m:sSub>
                                <m:r>
                                  <a:rPr lang="en-US" sz="1200" b="0" i="1" smtClean="0">
                                    <a:latin typeface="Cambria Math" panose="02040503050406030204" pitchFamily="18" charset="0"/>
                                  </a:rPr>
                                  <m:t>−1)</m:t>
                                </m:r>
                              </m:oMath>
                            </m:oMathPara>
                          </a14:m>
                          <a:endParaRPr lang="sv-SE" sz="1200" dirty="0"/>
                        </a:p>
                      </a:txBody>
                      <a:tcPr/>
                    </a:tc>
                    <a:extLst>
                      <a:ext uri="{0D108BD9-81ED-4DB2-BD59-A6C34878D82A}">
                        <a16:rowId xmlns:a16="http://schemas.microsoft.com/office/drawing/2014/main" val="776071168"/>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𝜃</m:t>
                                    </m:r>
                                  </m:e>
                                  <m:sub>
                                    <m:r>
                                      <a:rPr lang="en-US" sz="1200" b="0" i="1" smtClean="0">
                                        <a:latin typeface="Cambria Math" panose="02040503050406030204" pitchFamily="18" charset="0"/>
                                      </a:rPr>
                                      <m:t>𝑐𝐶</m:t>
                                    </m:r>
                                  </m:sub>
                                </m:sSub>
                              </m:oMath>
                            </m:oMathPara>
                          </a14:m>
                          <a:endParaRPr lang="sv-SE" sz="1200" dirty="0"/>
                        </a:p>
                      </a:txBody>
                      <a:tcPr/>
                    </a:tc>
                    <a:tc>
                      <a:txBody>
                        <a:bodyPr/>
                        <a:lstStyle/>
                        <a:p>
                          <a:pPr algn="ct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180 (</m:t>
                                  </m:r>
                                  <m:r>
                                    <a:rPr lang="en-US" sz="1200" b="0" i="1" smtClean="0">
                                      <a:latin typeface="Cambria Math" panose="02040503050406030204" pitchFamily="18" charset="0"/>
                                    </a:rPr>
                                    <m:t>𝐷</m:t>
                                  </m:r>
                                </m:e>
                                <m:sub>
                                  <m:r>
                                    <a:rPr lang="en-US" sz="1200" b="0" i="1" smtClean="0">
                                      <a:latin typeface="Cambria Math" panose="02040503050406030204" pitchFamily="18" charset="0"/>
                                    </a:rPr>
                                    <m:t>𝐶</m:t>
                                  </m:r>
                                </m:sub>
                              </m:sSub>
                              <m:r>
                                <a:rPr lang="en-US" sz="1200" b="0" i="1" smtClean="0">
                                  <a:latin typeface="Cambria Math" panose="02040503050406030204" pitchFamily="18" charset="0"/>
                                </a:rPr>
                                <m:t>−1)</m:t>
                              </m:r>
                            </m:oMath>
                          </a14:m>
                          <a:r>
                            <a:rPr lang="sv-SE" sz="1200" dirty="0"/>
                            <a:t>- 360(</a:t>
                          </a:r>
                          <a:r>
                            <a:rPr lang="sv-SE" sz="1200" dirty="0" err="1"/>
                            <a:t>Dc</a:t>
                          </a:r>
                          <a:r>
                            <a:rPr lang="sv-SE" sz="1200"/>
                            <a:t> -</a:t>
                          </a:r>
                          <a:r>
                            <a:rPr lang="sv-SE" sz="1200" dirty="0"/>
                            <a:t>Da)</a:t>
                          </a:r>
                        </a:p>
                      </a:txBody>
                      <a:tcPr/>
                    </a:tc>
                    <a:extLst>
                      <a:ext uri="{0D108BD9-81ED-4DB2-BD59-A6C34878D82A}">
                        <a16:rowId xmlns:a16="http://schemas.microsoft.com/office/drawing/2014/main" val="1642477553"/>
                      </a:ext>
                    </a:extLst>
                  </a:tr>
                </a:tbl>
              </a:graphicData>
            </a:graphic>
          </p:graphicFrame>
        </mc:Choice>
        <mc:Fallback xmlns="">
          <p:graphicFrame>
            <p:nvGraphicFramePr>
              <p:cNvPr id="1034" name="Table 1033">
                <a:extLst>
                  <a:ext uri="{FF2B5EF4-FFF2-40B4-BE49-F238E27FC236}">
                    <a16:creationId xmlns:a16="http://schemas.microsoft.com/office/drawing/2014/main" id="{8A26E369-5A5F-163D-AB26-6FA0F1D1F8EF}"/>
                  </a:ext>
                </a:extLst>
              </p:cNvPr>
              <p:cNvGraphicFramePr>
                <a:graphicFrameLocks noGrp="1"/>
              </p:cNvGraphicFramePr>
              <p:nvPr>
                <p:extLst>
                  <p:ext uri="{D42A27DB-BD31-4B8C-83A1-F6EECF244321}">
                    <p14:modId xmlns:p14="http://schemas.microsoft.com/office/powerpoint/2010/main" val="693299023"/>
                  </p:ext>
                </p:extLst>
              </p:nvPr>
            </p:nvGraphicFramePr>
            <p:xfrm>
              <a:off x="9177024" y="4842906"/>
              <a:ext cx="2541830" cy="1654128"/>
            </p:xfrm>
            <a:graphic>
              <a:graphicData uri="http://schemas.openxmlformats.org/drawingml/2006/table">
                <a:tbl>
                  <a:tblPr firstRow="1" bandRow="1">
                    <a:tableStyleId>{5C22544A-7EE6-4342-B048-85BDC9FD1C3A}</a:tableStyleId>
                  </a:tblPr>
                  <a:tblGrid>
                    <a:gridCol w="1138402">
                      <a:extLst>
                        <a:ext uri="{9D8B030D-6E8A-4147-A177-3AD203B41FA5}">
                          <a16:colId xmlns:a16="http://schemas.microsoft.com/office/drawing/2014/main" val="1441831067"/>
                        </a:ext>
                      </a:extLst>
                    </a:gridCol>
                    <a:gridCol w="1403428">
                      <a:extLst>
                        <a:ext uri="{9D8B030D-6E8A-4147-A177-3AD203B41FA5}">
                          <a16:colId xmlns:a16="http://schemas.microsoft.com/office/drawing/2014/main" val="3590361050"/>
                        </a:ext>
                      </a:extLst>
                    </a:gridCol>
                  </a:tblGrid>
                  <a:tr h="455248">
                    <a:tc>
                      <a:txBody>
                        <a:bodyPr/>
                        <a:lstStyle/>
                        <a:p>
                          <a:pPr algn="ctr"/>
                          <a:r>
                            <a:rPr lang="en-US" sz="1100" dirty="0"/>
                            <a:t>Carrier</a:t>
                          </a:r>
                        </a:p>
                        <a:p>
                          <a:pPr algn="ctr"/>
                          <a:r>
                            <a:rPr lang="en-US" sz="1100" dirty="0"/>
                            <a:t> Phases</a:t>
                          </a:r>
                          <a:endParaRPr lang="sv-SE" sz="1100" dirty="0"/>
                        </a:p>
                      </a:txBody>
                      <a:tcPr/>
                    </a:tc>
                    <a:tc>
                      <a:txBody>
                        <a:bodyPr/>
                        <a:lstStyle/>
                        <a:p>
                          <a:pPr algn="ctr"/>
                          <a:r>
                            <a:rPr lang="en-US" sz="1200" dirty="0"/>
                            <a:t>Value</a:t>
                          </a:r>
                          <a:endParaRPr lang="sv-SE" sz="1200" dirty="0"/>
                        </a:p>
                      </a:txBody>
                      <a:tcPr/>
                    </a:tc>
                    <a:extLst>
                      <a:ext uri="{0D108BD9-81ED-4DB2-BD59-A6C34878D82A}">
                        <a16:rowId xmlns:a16="http://schemas.microsoft.com/office/drawing/2014/main" val="1666533691"/>
                      </a:ext>
                    </a:extLst>
                  </a:tr>
                  <a:tr h="370840">
                    <a:tc>
                      <a:txBody>
                        <a:bodyPr/>
                        <a:lstStyle/>
                        <a:p>
                          <a:endParaRPr lang="sv-SE"/>
                        </a:p>
                      </a:txBody>
                      <a:tcPr>
                        <a:blipFill>
                          <a:blip r:embed="rId17"/>
                          <a:stretch>
                            <a:fillRect l="-535" t="-124590" r="-125668" b="-236066"/>
                          </a:stretch>
                        </a:blipFill>
                      </a:tcPr>
                    </a:tc>
                    <a:tc>
                      <a:txBody>
                        <a:bodyPr/>
                        <a:lstStyle/>
                        <a:p>
                          <a:endParaRPr lang="sv-SE"/>
                        </a:p>
                      </a:txBody>
                      <a:tcPr>
                        <a:blipFill>
                          <a:blip r:embed="rId17"/>
                          <a:stretch>
                            <a:fillRect l="-81385" t="-124590" r="-1732" b="-236066"/>
                          </a:stretch>
                        </a:blipFill>
                      </a:tcPr>
                    </a:tc>
                    <a:extLst>
                      <a:ext uri="{0D108BD9-81ED-4DB2-BD59-A6C34878D82A}">
                        <a16:rowId xmlns:a16="http://schemas.microsoft.com/office/drawing/2014/main" val="2454029421"/>
                      </a:ext>
                    </a:extLst>
                  </a:tr>
                  <a:tr h="370840">
                    <a:tc>
                      <a:txBody>
                        <a:bodyPr/>
                        <a:lstStyle/>
                        <a:p>
                          <a:endParaRPr lang="sv-SE"/>
                        </a:p>
                      </a:txBody>
                      <a:tcPr>
                        <a:blipFill>
                          <a:blip r:embed="rId17"/>
                          <a:stretch>
                            <a:fillRect l="-535" t="-224590" r="-125668" b="-136066"/>
                          </a:stretch>
                        </a:blipFill>
                      </a:tcPr>
                    </a:tc>
                    <a:tc>
                      <a:txBody>
                        <a:bodyPr/>
                        <a:lstStyle/>
                        <a:p>
                          <a:endParaRPr lang="sv-SE"/>
                        </a:p>
                      </a:txBody>
                      <a:tcPr>
                        <a:blipFill>
                          <a:blip r:embed="rId17"/>
                          <a:stretch>
                            <a:fillRect l="-81385" t="-224590" r="-1732" b="-136066"/>
                          </a:stretch>
                        </a:blipFill>
                      </a:tcPr>
                    </a:tc>
                    <a:extLst>
                      <a:ext uri="{0D108BD9-81ED-4DB2-BD59-A6C34878D82A}">
                        <a16:rowId xmlns:a16="http://schemas.microsoft.com/office/drawing/2014/main" val="776071168"/>
                      </a:ext>
                    </a:extLst>
                  </a:tr>
                  <a:tr h="457200">
                    <a:tc>
                      <a:txBody>
                        <a:bodyPr/>
                        <a:lstStyle/>
                        <a:p>
                          <a:endParaRPr lang="sv-SE"/>
                        </a:p>
                      </a:txBody>
                      <a:tcPr>
                        <a:blipFill>
                          <a:blip r:embed="rId17"/>
                          <a:stretch>
                            <a:fillRect l="-535" t="-264000" r="-125668" b="-10667"/>
                          </a:stretch>
                        </a:blipFill>
                      </a:tcPr>
                    </a:tc>
                    <a:tc>
                      <a:txBody>
                        <a:bodyPr/>
                        <a:lstStyle/>
                        <a:p>
                          <a:endParaRPr lang="sv-SE"/>
                        </a:p>
                      </a:txBody>
                      <a:tcPr>
                        <a:blipFill>
                          <a:blip r:embed="rId17"/>
                          <a:stretch>
                            <a:fillRect l="-81385" t="-264000" r="-1732" b="-10667"/>
                          </a:stretch>
                        </a:blipFill>
                      </a:tcPr>
                    </a:tc>
                    <a:extLst>
                      <a:ext uri="{0D108BD9-81ED-4DB2-BD59-A6C34878D82A}">
                        <a16:rowId xmlns:a16="http://schemas.microsoft.com/office/drawing/2014/main" val="1642477553"/>
                      </a:ext>
                    </a:extLst>
                  </a:tr>
                </a:tbl>
              </a:graphicData>
            </a:graphic>
          </p:graphicFrame>
        </mc:Fallback>
      </mc:AlternateContent>
    </p:spTree>
    <p:extLst>
      <p:ext uri="{BB962C8B-B14F-4D97-AF65-F5344CB8AC3E}">
        <p14:creationId xmlns:p14="http://schemas.microsoft.com/office/powerpoint/2010/main" val="3028355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733E4-5926-B387-FCE1-B2E27EE06BF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30D93BE-8390-6E50-249F-D6C7886056B7}"/>
              </a:ext>
            </a:extLst>
          </p:cNvPr>
          <p:cNvSpPr>
            <a:spLocks noGrp="1"/>
          </p:cNvSpPr>
          <p:nvPr>
            <p:ph type="title"/>
          </p:nvPr>
        </p:nvSpPr>
        <p:spPr>
          <a:xfrm>
            <a:off x="984260" y="283592"/>
            <a:ext cx="10990263" cy="568412"/>
          </a:xfrm>
        </p:spPr>
        <p:txBody>
          <a:bodyPr/>
          <a:lstStyle/>
          <a:p>
            <a:pPr>
              <a:lnSpc>
                <a:spcPct val="100000"/>
              </a:lnSpc>
              <a:spcBef>
                <a:spcPts val="0"/>
              </a:spcBef>
              <a:defRPr/>
            </a:pPr>
            <a:r>
              <a:rPr lang="en-US" dirty="0"/>
              <a:t>Lone =A - Case 1</a:t>
            </a:r>
          </a:p>
        </p:txBody>
      </p:sp>
      <p:pic>
        <p:nvPicPr>
          <p:cNvPr id="1026" name="Picture 2">
            <a:extLst>
              <a:ext uri="{FF2B5EF4-FFF2-40B4-BE49-F238E27FC236}">
                <a16:creationId xmlns:a16="http://schemas.microsoft.com/office/drawing/2014/main" id="{42DAEBAA-F5D3-994B-43E8-3F000314C3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417937"/>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278721D-4DF6-5C9D-B210-01F9FCB0891F}"/>
              </a:ext>
            </a:extLst>
          </p:cNvPr>
          <p:cNvPicPr>
            <a:picLocks noChangeAspect="1"/>
          </p:cNvPicPr>
          <p:nvPr/>
        </p:nvPicPr>
        <p:blipFill>
          <a:blip r:embed="rId3"/>
          <a:stretch>
            <a:fillRect/>
          </a:stretch>
        </p:blipFill>
        <p:spPr>
          <a:xfrm>
            <a:off x="85725" y="1089027"/>
            <a:ext cx="5807525" cy="3695698"/>
          </a:xfrm>
          <a:prstGeom prst="rect">
            <a:avLst/>
          </a:prstGeom>
        </p:spPr>
      </p:pic>
      <p:pic>
        <p:nvPicPr>
          <p:cNvPr id="6" name="Picture 5">
            <a:extLst>
              <a:ext uri="{FF2B5EF4-FFF2-40B4-BE49-F238E27FC236}">
                <a16:creationId xmlns:a16="http://schemas.microsoft.com/office/drawing/2014/main" id="{8207F743-E3AA-27DD-A557-CE569E43D14A}"/>
              </a:ext>
            </a:extLst>
          </p:cNvPr>
          <p:cNvPicPr>
            <a:picLocks noChangeAspect="1"/>
          </p:cNvPicPr>
          <p:nvPr/>
        </p:nvPicPr>
        <p:blipFill>
          <a:blip r:embed="rId4"/>
          <a:stretch>
            <a:fillRect/>
          </a:stretch>
        </p:blipFill>
        <p:spPr>
          <a:xfrm>
            <a:off x="5893250" y="1089027"/>
            <a:ext cx="5556127" cy="3535717"/>
          </a:xfrm>
          <a:prstGeom prst="rect">
            <a:avLst/>
          </a:prstGeom>
        </p:spPr>
      </p:pic>
    </p:spTree>
    <p:extLst>
      <p:ext uri="{BB962C8B-B14F-4D97-AF65-F5344CB8AC3E}">
        <p14:creationId xmlns:p14="http://schemas.microsoft.com/office/powerpoint/2010/main" val="4125248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66122-3367-6F25-1102-F1082E8EB69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5CED43C-F4B4-4E08-8BDA-EE5393F85340}"/>
              </a:ext>
            </a:extLst>
          </p:cNvPr>
          <p:cNvSpPr>
            <a:spLocks noGrp="1"/>
          </p:cNvSpPr>
          <p:nvPr>
            <p:ph type="title"/>
          </p:nvPr>
        </p:nvSpPr>
        <p:spPr>
          <a:xfrm>
            <a:off x="984260" y="283592"/>
            <a:ext cx="10990263" cy="568412"/>
          </a:xfrm>
        </p:spPr>
        <p:txBody>
          <a:bodyPr/>
          <a:lstStyle/>
          <a:p>
            <a:pPr>
              <a:lnSpc>
                <a:spcPct val="100000"/>
              </a:lnSpc>
              <a:spcBef>
                <a:spcPts val="0"/>
              </a:spcBef>
              <a:defRPr/>
            </a:pPr>
            <a:r>
              <a:rPr lang="en-US" dirty="0"/>
              <a:t>Lone =A - Case 1</a:t>
            </a:r>
          </a:p>
        </p:txBody>
      </p:sp>
      <p:pic>
        <p:nvPicPr>
          <p:cNvPr id="1026" name="Picture 2">
            <a:extLst>
              <a:ext uri="{FF2B5EF4-FFF2-40B4-BE49-F238E27FC236}">
                <a16:creationId xmlns:a16="http://schemas.microsoft.com/office/drawing/2014/main" id="{91480377-E483-EA21-0400-27A1212ED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417937"/>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294A024-598D-DEB0-82F5-4FEA90451A3A}"/>
              </a:ext>
            </a:extLst>
          </p:cNvPr>
          <p:cNvPicPr>
            <a:picLocks noChangeAspect="1"/>
          </p:cNvPicPr>
          <p:nvPr/>
        </p:nvPicPr>
        <p:blipFill>
          <a:blip r:embed="rId3"/>
          <a:stretch>
            <a:fillRect/>
          </a:stretch>
        </p:blipFill>
        <p:spPr>
          <a:xfrm>
            <a:off x="5784850" y="1089027"/>
            <a:ext cx="5807525" cy="3695698"/>
          </a:xfrm>
          <a:prstGeom prst="rect">
            <a:avLst/>
          </a:prstGeom>
        </p:spPr>
      </p:pic>
      <p:pic>
        <p:nvPicPr>
          <p:cNvPr id="8" name="Picture 7">
            <a:extLst>
              <a:ext uri="{FF2B5EF4-FFF2-40B4-BE49-F238E27FC236}">
                <a16:creationId xmlns:a16="http://schemas.microsoft.com/office/drawing/2014/main" id="{71DB3FA0-F40E-59B7-0E67-AF51871DD1DF}"/>
              </a:ext>
            </a:extLst>
          </p:cNvPr>
          <p:cNvPicPr>
            <a:picLocks noChangeAspect="1"/>
          </p:cNvPicPr>
          <p:nvPr/>
        </p:nvPicPr>
        <p:blipFill>
          <a:blip r:embed="rId4"/>
          <a:stretch>
            <a:fillRect/>
          </a:stretch>
        </p:blipFill>
        <p:spPr>
          <a:xfrm>
            <a:off x="148771" y="1237148"/>
            <a:ext cx="5947229" cy="3784600"/>
          </a:xfrm>
          <a:prstGeom prst="rect">
            <a:avLst/>
          </a:prstGeom>
        </p:spPr>
      </p:pic>
    </p:spTree>
    <p:extLst>
      <p:ext uri="{BB962C8B-B14F-4D97-AF65-F5344CB8AC3E}">
        <p14:creationId xmlns:p14="http://schemas.microsoft.com/office/powerpoint/2010/main" val="2815098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4B20B-81C2-33E7-121E-7A05693D5127}"/>
              </a:ext>
            </a:extLst>
          </p:cNvPr>
          <p:cNvSpPr>
            <a:spLocks noGrp="1"/>
          </p:cNvSpPr>
          <p:nvPr>
            <p:ph type="title"/>
          </p:nvPr>
        </p:nvSpPr>
        <p:spPr/>
        <p:txBody>
          <a:bodyPr/>
          <a:lstStyle/>
          <a:p>
            <a:endParaRPr lang="sv-SE"/>
          </a:p>
        </p:txBody>
      </p:sp>
      <p:sp>
        <p:nvSpPr>
          <p:cNvPr id="3" name="Content Placeholder 2">
            <a:extLst>
              <a:ext uri="{FF2B5EF4-FFF2-40B4-BE49-F238E27FC236}">
                <a16:creationId xmlns:a16="http://schemas.microsoft.com/office/drawing/2014/main" id="{D86C9FD4-38C2-1BF4-2607-DDB27E326FB7}"/>
              </a:ext>
            </a:extLst>
          </p:cNvPr>
          <p:cNvSpPr>
            <a:spLocks noGrp="1"/>
          </p:cNvSpPr>
          <p:nvPr>
            <p:ph idx="1"/>
          </p:nvPr>
        </p:nvSpPr>
        <p:spPr/>
        <p:txBody>
          <a:bodyPr/>
          <a:lstStyle/>
          <a:p>
            <a:endParaRPr lang="sv-SE"/>
          </a:p>
        </p:txBody>
      </p:sp>
    </p:spTree>
    <p:extLst>
      <p:ext uri="{BB962C8B-B14F-4D97-AF65-F5344CB8AC3E}">
        <p14:creationId xmlns:p14="http://schemas.microsoft.com/office/powerpoint/2010/main" val="1418560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BF5C4-0735-16AC-9048-182D5A47B81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5AFC274-2A74-858B-FE0B-2F3A3B354354}"/>
              </a:ext>
            </a:extLst>
          </p:cNvPr>
          <p:cNvSpPr>
            <a:spLocks noGrp="1"/>
          </p:cNvSpPr>
          <p:nvPr>
            <p:ph type="title"/>
          </p:nvPr>
        </p:nvSpPr>
        <p:spPr>
          <a:xfrm>
            <a:off x="984260" y="283592"/>
            <a:ext cx="10990263" cy="568412"/>
          </a:xfrm>
        </p:spPr>
        <p:txBody>
          <a:bodyPr/>
          <a:lstStyle/>
          <a:p>
            <a:pPr>
              <a:lnSpc>
                <a:spcPct val="100000"/>
              </a:lnSpc>
              <a:spcBef>
                <a:spcPts val="0"/>
              </a:spcBef>
              <a:defRPr/>
            </a:pPr>
            <a:r>
              <a:rPr lang="en-US" dirty="0"/>
              <a:t>Algorithm</a:t>
            </a:r>
          </a:p>
        </p:txBody>
      </p:sp>
      <p:sp>
        <p:nvSpPr>
          <p:cNvPr id="25" name="Rectangle: Rounded Corners 24">
            <a:extLst>
              <a:ext uri="{FF2B5EF4-FFF2-40B4-BE49-F238E27FC236}">
                <a16:creationId xmlns:a16="http://schemas.microsoft.com/office/drawing/2014/main" id="{1977543E-CA9C-BCA5-4EA1-E12A098722A9}"/>
              </a:ext>
            </a:extLst>
          </p:cNvPr>
          <p:cNvSpPr/>
          <p:nvPr/>
        </p:nvSpPr>
        <p:spPr>
          <a:xfrm>
            <a:off x="5011659" y="672352"/>
            <a:ext cx="2168682" cy="598754"/>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6"/>
                </a:solidFill>
              </a:rPr>
              <a:t>Measure </a:t>
            </a:r>
            <a:r>
              <a:rPr lang="en-US" sz="1600" dirty="0" err="1">
                <a:solidFill>
                  <a:schemeClr val="accent6"/>
                </a:solidFill>
              </a:rPr>
              <a:t>ia</a:t>
            </a:r>
            <a:r>
              <a:rPr lang="en-US" sz="1600" dirty="0">
                <a:solidFill>
                  <a:schemeClr val="accent6"/>
                </a:solidFill>
              </a:rPr>
              <a:t>, </a:t>
            </a:r>
            <a:r>
              <a:rPr lang="en-US" sz="1600" dirty="0" err="1">
                <a:solidFill>
                  <a:schemeClr val="accent6"/>
                </a:solidFill>
              </a:rPr>
              <a:t>ib,ic</a:t>
            </a:r>
            <a:endParaRPr lang="en-US" sz="1600" dirty="0">
              <a:solidFill>
                <a:schemeClr val="accent6"/>
              </a:solidFill>
            </a:endParaRPr>
          </a:p>
          <a:p>
            <a:pPr algn="ctr"/>
            <a:r>
              <a:rPr lang="en-US" sz="1600" dirty="0">
                <a:solidFill>
                  <a:schemeClr val="accent6"/>
                </a:solidFill>
              </a:rPr>
              <a:t>Compute </a:t>
            </a:r>
            <a:r>
              <a:rPr lang="en-US" sz="1600" dirty="0" err="1">
                <a:solidFill>
                  <a:schemeClr val="accent6"/>
                </a:solidFill>
              </a:rPr>
              <a:t>da,db,dc</a:t>
            </a:r>
            <a:endParaRPr lang="sv-SE" sz="1600" dirty="0">
              <a:solidFill>
                <a:schemeClr val="accent6"/>
              </a:solidFill>
            </a:endParaRPr>
          </a:p>
        </p:txBody>
      </p:sp>
      <p:cxnSp>
        <p:nvCxnSpPr>
          <p:cNvPr id="27" name="Straight Arrow Connector 26">
            <a:extLst>
              <a:ext uri="{FF2B5EF4-FFF2-40B4-BE49-F238E27FC236}">
                <a16:creationId xmlns:a16="http://schemas.microsoft.com/office/drawing/2014/main" id="{890FA3BC-86C4-6B09-0EB4-5A6656356DFA}"/>
              </a:ext>
            </a:extLst>
          </p:cNvPr>
          <p:cNvCxnSpPr>
            <a:cxnSpLocks/>
            <a:stCxn id="25" idx="2"/>
            <a:endCxn id="28" idx="0"/>
          </p:cNvCxnSpPr>
          <p:nvPr/>
        </p:nvCxnSpPr>
        <p:spPr>
          <a:xfrm>
            <a:off x="6096000" y="1271106"/>
            <a:ext cx="1" cy="4281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6BCA7D47-6FDC-E7BC-FD71-DC3D0D9755BD}"/>
              </a:ext>
            </a:extLst>
          </p:cNvPr>
          <p:cNvSpPr/>
          <p:nvPr/>
        </p:nvSpPr>
        <p:spPr>
          <a:xfrm>
            <a:off x="4818500" y="1699260"/>
            <a:ext cx="2555001" cy="829264"/>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6"/>
                </a:solidFill>
              </a:rPr>
              <a:t>Detect lone-sign leg</a:t>
            </a:r>
          </a:p>
          <a:p>
            <a:pPr algn="ctr"/>
            <a:r>
              <a:rPr lang="en-US" sz="1600" dirty="0">
                <a:solidFill>
                  <a:schemeClr val="accent6"/>
                </a:solidFill>
              </a:rPr>
              <a:t>Sign(</a:t>
            </a:r>
            <a:r>
              <a:rPr lang="en-US" sz="1600" dirty="0" err="1">
                <a:solidFill>
                  <a:schemeClr val="accent6"/>
                </a:solidFill>
              </a:rPr>
              <a:t>ia</a:t>
            </a:r>
            <a:r>
              <a:rPr lang="en-US" sz="1600" dirty="0">
                <a:solidFill>
                  <a:schemeClr val="accent6"/>
                </a:solidFill>
              </a:rPr>
              <a:t>), sign(</a:t>
            </a:r>
            <a:r>
              <a:rPr lang="en-US" sz="1600" dirty="0" err="1">
                <a:solidFill>
                  <a:schemeClr val="accent6"/>
                </a:solidFill>
              </a:rPr>
              <a:t>ib</a:t>
            </a:r>
            <a:r>
              <a:rPr lang="en-US" sz="1600" dirty="0">
                <a:solidFill>
                  <a:schemeClr val="accent6"/>
                </a:solidFill>
              </a:rPr>
              <a:t>), sign(</a:t>
            </a:r>
            <a:r>
              <a:rPr lang="en-US" sz="1600" dirty="0" err="1">
                <a:solidFill>
                  <a:schemeClr val="accent6"/>
                </a:solidFill>
              </a:rPr>
              <a:t>ic</a:t>
            </a:r>
            <a:r>
              <a:rPr lang="en-US" sz="1600" dirty="0">
                <a:solidFill>
                  <a:schemeClr val="accent6"/>
                </a:solidFill>
              </a:rPr>
              <a:t>)</a:t>
            </a:r>
            <a:endParaRPr lang="sv-SE" sz="1600" dirty="0">
              <a:solidFill>
                <a:schemeClr val="accent6"/>
              </a:solidFill>
            </a:endParaRPr>
          </a:p>
        </p:txBody>
      </p:sp>
      <p:cxnSp>
        <p:nvCxnSpPr>
          <p:cNvPr id="30" name="Straight Arrow Connector 29">
            <a:extLst>
              <a:ext uri="{FF2B5EF4-FFF2-40B4-BE49-F238E27FC236}">
                <a16:creationId xmlns:a16="http://schemas.microsoft.com/office/drawing/2014/main" id="{9D90C598-71D7-C2A5-09EF-2583C443018F}"/>
              </a:ext>
            </a:extLst>
          </p:cNvPr>
          <p:cNvCxnSpPr>
            <a:cxnSpLocks/>
            <a:stCxn id="28" idx="2"/>
            <a:endCxn id="33" idx="0"/>
          </p:cNvCxnSpPr>
          <p:nvPr/>
        </p:nvCxnSpPr>
        <p:spPr>
          <a:xfrm flipH="1">
            <a:off x="1981441" y="2528524"/>
            <a:ext cx="4114560" cy="815682"/>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01921288-57BD-398F-C32B-5AB45BE7736C}"/>
              </a:ext>
            </a:extLst>
          </p:cNvPr>
          <p:cNvSpPr/>
          <p:nvPr/>
        </p:nvSpPr>
        <p:spPr>
          <a:xfrm>
            <a:off x="1026299" y="3344206"/>
            <a:ext cx="1910284"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Lone =A</a:t>
            </a:r>
          </a:p>
        </p:txBody>
      </p:sp>
      <p:cxnSp>
        <p:nvCxnSpPr>
          <p:cNvPr id="36" name="Straight Arrow Connector 35">
            <a:extLst>
              <a:ext uri="{FF2B5EF4-FFF2-40B4-BE49-F238E27FC236}">
                <a16:creationId xmlns:a16="http://schemas.microsoft.com/office/drawing/2014/main" id="{6ED648E4-C2F0-02B8-FD36-F3BA25218120}"/>
              </a:ext>
            </a:extLst>
          </p:cNvPr>
          <p:cNvCxnSpPr>
            <a:cxnSpLocks/>
            <a:stCxn id="33" idx="2"/>
            <a:endCxn id="39" idx="0"/>
          </p:cNvCxnSpPr>
          <p:nvPr/>
        </p:nvCxnSpPr>
        <p:spPr>
          <a:xfrm flipH="1">
            <a:off x="603847" y="4085777"/>
            <a:ext cx="1377594" cy="54872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Rounded Corners 38">
            <a:extLst>
              <a:ext uri="{FF2B5EF4-FFF2-40B4-BE49-F238E27FC236}">
                <a16:creationId xmlns:a16="http://schemas.microsoft.com/office/drawing/2014/main" id="{70C9F02C-2CC8-D98A-A8CD-C8C694C6F445}"/>
              </a:ext>
            </a:extLst>
          </p:cNvPr>
          <p:cNvSpPr/>
          <p:nvPr/>
        </p:nvSpPr>
        <p:spPr>
          <a:xfrm>
            <a:off x="108519" y="4634502"/>
            <a:ext cx="990656"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DA &gt; DB AND </a:t>
            </a:r>
          </a:p>
          <a:p>
            <a:pPr algn="ctr"/>
            <a:r>
              <a:rPr lang="en-US" sz="1400" dirty="0">
                <a:solidFill>
                  <a:schemeClr val="accent6"/>
                </a:solidFill>
              </a:rPr>
              <a:t>DA&gt; DC</a:t>
            </a:r>
          </a:p>
        </p:txBody>
      </p:sp>
      <p:sp>
        <p:nvSpPr>
          <p:cNvPr id="42" name="Rectangle: Rounded Corners 41">
            <a:extLst>
              <a:ext uri="{FF2B5EF4-FFF2-40B4-BE49-F238E27FC236}">
                <a16:creationId xmlns:a16="http://schemas.microsoft.com/office/drawing/2014/main" id="{9948AAF3-04BA-0416-B0E6-1A964DCD8CCA}"/>
              </a:ext>
            </a:extLst>
          </p:cNvPr>
          <p:cNvSpPr/>
          <p:nvPr/>
        </p:nvSpPr>
        <p:spPr>
          <a:xfrm>
            <a:off x="1479717" y="4634502"/>
            <a:ext cx="990656"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DA &lt; DC XOR </a:t>
            </a:r>
          </a:p>
          <a:p>
            <a:pPr algn="ctr"/>
            <a:r>
              <a:rPr lang="en-US" sz="1400" dirty="0">
                <a:solidFill>
                  <a:schemeClr val="accent6"/>
                </a:solidFill>
              </a:rPr>
              <a:t>DA &lt; DB</a:t>
            </a:r>
          </a:p>
        </p:txBody>
      </p:sp>
      <p:cxnSp>
        <p:nvCxnSpPr>
          <p:cNvPr id="43" name="Straight Arrow Connector 42">
            <a:extLst>
              <a:ext uri="{FF2B5EF4-FFF2-40B4-BE49-F238E27FC236}">
                <a16:creationId xmlns:a16="http://schemas.microsoft.com/office/drawing/2014/main" id="{8D99DF3C-AA23-DB47-A292-D803053A8909}"/>
              </a:ext>
            </a:extLst>
          </p:cNvPr>
          <p:cNvCxnSpPr>
            <a:cxnSpLocks/>
            <a:stCxn id="33" idx="2"/>
            <a:endCxn id="42" idx="0"/>
          </p:cNvCxnSpPr>
          <p:nvPr/>
        </p:nvCxnSpPr>
        <p:spPr>
          <a:xfrm flipH="1">
            <a:off x="1975045" y="4085777"/>
            <a:ext cx="6396" cy="54872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FC94946-0F73-CFC1-5D65-873FEA38E11E}"/>
              </a:ext>
            </a:extLst>
          </p:cNvPr>
          <p:cNvCxnSpPr>
            <a:cxnSpLocks/>
            <a:stCxn id="33" idx="2"/>
            <a:endCxn id="50" idx="0"/>
          </p:cNvCxnSpPr>
          <p:nvPr/>
        </p:nvCxnSpPr>
        <p:spPr>
          <a:xfrm>
            <a:off x="1981441" y="4085777"/>
            <a:ext cx="1364802" cy="5511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34E20DB4-8E30-EBF3-6E71-2281614A2A93}"/>
              </a:ext>
            </a:extLst>
          </p:cNvPr>
          <p:cNvSpPr/>
          <p:nvPr/>
        </p:nvSpPr>
        <p:spPr>
          <a:xfrm>
            <a:off x="2850915" y="4636931"/>
            <a:ext cx="990656"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DA &lt; DB AND </a:t>
            </a:r>
          </a:p>
          <a:p>
            <a:pPr algn="ctr"/>
            <a:r>
              <a:rPr lang="en-US" sz="1400" dirty="0">
                <a:solidFill>
                  <a:schemeClr val="accent6"/>
                </a:solidFill>
              </a:rPr>
              <a:t>DA&lt; DC</a:t>
            </a:r>
          </a:p>
        </p:txBody>
      </p:sp>
      <p:sp>
        <p:nvSpPr>
          <p:cNvPr id="52" name="Rectangle 1">
            <a:extLst>
              <a:ext uri="{FF2B5EF4-FFF2-40B4-BE49-F238E27FC236}">
                <a16:creationId xmlns:a16="http://schemas.microsoft.com/office/drawing/2014/main" id="{C9570ED4-1ADB-E959-F155-A2ABEA9698A8}"/>
              </a:ext>
            </a:extLst>
          </p:cNvPr>
          <p:cNvSpPr>
            <a:spLocks noChangeArrowheads="1"/>
          </p:cNvSpPr>
          <p:nvPr/>
        </p:nvSpPr>
        <p:spPr bwMode="auto">
          <a:xfrm>
            <a:off x="-41275" y="-677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800" b="1" i="0" u="none" strike="noStrike" cap="none" normalizeH="0" baseline="0">
                <a:ln>
                  <a:noFill/>
                </a:ln>
                <a:solidFill>
                  <a:schemeClr val="tx1"/>
                </a:solidFill>
                <a:effectLst/>
                <a:latin typeface="Arial" panose="020B0604020202020204" pitchFamily="34" charset="0"/>
              </a:rPr>
              <a:t>  </a:t>
            </a:r>
            <a:r>
              <a:rPr kumimoji="0" lang="sv-SE" altLang="sv-SE" b="1" i="0" u="none" strike="noStrike" cap="none" normalizeH="0" baseline="0">
                <a:ln>
                  <a:noFill/>
                </a:ln>
                <a:solidFill>
                  <a:schemeClr val="tx1"/>
                </a:solidFill>
                <a:effectLst/>
                <a:latin typeface="Arial" panose="020B0604020202020204" pitchFamily="34" charset="0"/>
              </a:rPr>
              <a:t> </a:t>
            </a:r>
            <a:endParaRPr kumimoji="0" lang="sv-SE" altLang="sv-SE" sz="18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800" b="1"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800" b="1" i="0" u="none" strike="noStrike" cap="none" normalizeH="0" baseline="0">
                <a:ln>
                  <a:noFill/>
                </a:ln>
                <a:solidFill>
                  <a:schemeClr val="tx1"/>
                </a:solidFill>
                <a:effectLst/>
                <a:latin typeface="Arial" panose="020B0604020202020204" pitchFamily="34" charset="0"/>
              </a:rPr>
              <a:t>⊻</a:t>
            </a:r>
            <a:endParaRPr kumimoji="0" lang="sv-SE" altLang="sv-SE" sz="1800" b="0" i="0" u="none" strike="noStrike" cap="none" normalizeH="0" baseline="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12EDEB23-20D3-9B73-DE9A-2B975A495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417937"/>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49" name="Rectangle: Rounded Corners 48">
            <a:extLst>
              <a:ext uri="{FF2B5EF4-FFF2-40B4-BE49-F238E27FC236}">
                <a16:creationId xmlns:a16="http://schemas.microsoft.com/office/drawing/2014/main" id="{60D6C8AD-6766-0CBE-3ECC-245B4E77EF56}"/>
              </a:ext>
            </a:extLst>
          </p:cNvPr>
          <p:cNvSpPr/>
          <p:nvPr/>
        </p:nvSpPr>
        <p:spPr>
          <a:xfrm>
            <a:off x="5140859" y="3341777"/>
            <a:ext cx="1910284"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Lone =B</a:t>
            </a:r>
          </a:p>
        </p:txBody>
      </p:sp>
      <p:cxnSp>
        <p:nvCxnSpPr>
          <p:cNvPr id="51" name="Straight Arrow Connector 50">
            <a:extLst>
              <a:ext uri="{FF2B5EF4-FFF2-40B4-BE49-F238E27FC236}">
                <a16:creationId xmlns:a16="http://schemas.microsoft.com/office/drawing/2014/main" id="{16D90C84-1BC6-4BE8-E981-4ADF53E2440E}"/>
              </a:ext>
            </a:extLst>
          </p:cNvPr>
          <p:cNvCxnSpPr>
            <a:cxnSpLocks/>
            <a:stCxn id="49" idx="2"/>
            <a:endCxn id="53" idx="0"/>
          </p:cNvCxnSpPr>
          <p:nvPr/>
        </p:nvCxnSpPr>
        <p:spPr>
          <a:xfrm flipH="1">
            <a:off x="4724803" y="4083348"/>
            <a:ext cx="1371198" cy="5511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0ACAF403-959B-8F18-5A10-E92A55D0FE4D}"/>
              </a:ext>
            </a:extLst>
          </p:cNvPr>
          <p:cNvSpPr/>
          <p:nvPr/>
        </p:nvSpPr>
        <p:spPr>
          <a:xfrm>
            <a:off x="4229475" y="4634502"/>
            <a:ext cx="990656"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DB &gt; DA AND </a:t>
            </a:r>
          </a:p>
          <a:p>
            <a:pPr algn="ctr"/>
            <a:r>
              <a:rPr lang="en-US" sz="1400" dirty="0">
                <a:solidFill>
                  <a:schemeClr val="accent6"/>
                </a:solidFill>
              </a:rPr>
              <a:t>DB&gt; DC</a:t>
            </a:r>
          </a:p>
        </p:txBody>
      </p:sp>
      <p:sp>
        <p:nvSpPr>
          <p:cNvPr id="54" name="Rectangle: Rounded Corners 53">
            <a:extLst>
              <a:ext uri="{FF2B5EF4-FFF2-40B4-BE49-F238E27FC236}">
                <a16:creationId xmlns:a16="http://schemas.microsoft.com/office/drawing/2014/main" id="{C83A6109-D2E4-0D88-7B5E-6BA0A52B5A3D}"/>
              </a:ext>
            </a:extLst>
          </p:cNvPr>
          <p:cNvSpPr/>
          <p:nvPr/>
        </p:nvSpPr>
        <p:spPr>
          <a:xfrm>
            <a:off x="5600673" y="4634502"/>
            <a:ext cx="990656"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DB &lt; DA XOR </a:t>
            </a:r>
          </a:p>
          <a:p>
            <a:pPr algn="ctr"/>
            <a:r>
              <a:rPr lang="en-US" sz="1400" dirty="0">
                <a:solidFill>
                  <a:schemeClr val="accent6"/>
                </a:solidFill>
              </a:rPr>
              <a:t>DB &lt; DC</a:t>
            </a:r>
          </a:p>
        </p:txBody>
      </p:sp>
      <p:cxnSp>
        <p:nvCxnSpPr>
          <p:cNvPr id="55" name="Straight Arrow Connector 54">
            <a:extLst>
              <a:ext uri="{FF2B5EF4-FFF2-40B4-BE49-F238E27FC236}">
                <a16:creationId xmlns:a16="http://schemas.microsoft.com/office/drawing/2014/main" id="{7B7B5D7F-3D77-84E8-4DDB-2B990A9A7EB4}"/>
              </a:ext>
            </a:extLst>
          </p:cNvPr>
          <p:cNvCxnSpPr>
            <a:cxnSpLocks/>
            <a:stCxn id="49" idx="2"/>
            <a:endCxn id="54" idx="0"/>
          </p:cNvCxnSpPr>
          <p:nvPr/>
        </p:nvCxnSpPr>
        <p:spPr>
          <a:xfrm>
            <a:off x="6096001" y="4083348"/>
            <a:ext cx="0" cy="5511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65001C6-FD92-0A39-0C3F-797CD88DC846}"/>
              </a:ext>
            </a:extLst>
          </p:cNvPr>
          <p:cNvCxnSpPr>
            <a:cxnSpLocks/>
            <a:stCxn id="49" idx="2"/>
            <a:endCxn id="57" idx="0"/>
          </p:cNvCxnSpPr>
          <p:nvPr/>
        </p:nvCxnSpPr>
        <p:spPr>
          <a:xfrm>
            <a:off x="6096001" y="4083348"/>
            <a:ext cx="1371198" cy="55358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Rounded Corners 56">
            <a:extLst>
              <a:ext uri="{FF2B5EF4-FFF2-40B4-BE49-F238E27FC236}">
                <a16:creationId xmlns:a16="http://schemas.microsoft.com/office/drawing/2014/main" id="{81CC17FD-0677-871E-84C7-1CCE9D57E773}"/>
              </a:ext>
            </a:extLst>
          </p:cNvPr>
          <p:cNvSpPr/>
          <p:nvPr/>
        </p:nvSpPr>
        <p:spPr>
          <a:xfrm>
            <a:off x="6971871" y="4636931"/>
            <a:ext cx="990656"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DB &lt; DA AND </a:t>
            </a:r>
          </a:p>
          <a:p>
            <a:pPr algn="ctr"/>
            <a:r>
              <a:rPr lang="en-US" sz="1400" dirty="0">
                <a:solidFill>
                  <a:schemeClr val="accent6"/>
                </a:solidFill>
              </a:rPr>
              <a:t>DB&lt; DC</a:t>
            </a:r>
          </a:p>
        </p:txBody>
      </p:sp>
      <p:sp>
        <p:nvSpPr>
          <p:cNvPr id="58" name="Rectangle: Rounded Corners 57">
            <a:extLst>
              <a:ext uri="{FF2B5EF4-FFF2-40B4-BE49-F238E27FC236}">
                <a16:creationId xmlns:a16="http://schemas.microsoft.com/office/drawing/2014/main" id="{0FF107F3-9318-3A34-20EF-581583865148}"/>
              </a:ext>
            </a:extLst>
          </p:cNvPr>
          <p:cNvSpPr/>
          <p:nvPr/>
        </p:nvSpPr>
        <p:spPr>
          <a:xfrm>
            <a:off x="9254453" y="3341777"/>
            <a:ext cx="1910284"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Lone =C</a:t>
            </a:r>
          </a:p>
        </p:txBody>
      </p:sp>
      <p:cxnSp>
        <p:nvCxnSpPr>
          <p:cNvPr id="59" name="Straight Arrow Connector 58">
            <a:extLst>
              <a:ext uri="{FF2B5EF4-FFF2-40B4-BE49-F238E27FC236}">
                <a16:creationId xmlns:a16="http://schemas.microsoft.com/office/drawing/2014/main" id="{03B8CFCE-D29F-C256-C824-3E56D56DE6DF}"/>
              </a:ext>
            </a:extLst>
          </p:cNvPr>
          <p:cNvCxnSpPr>
            <a:cxnSpLocks/>
            <a:stCxn id="58" idx="2"/>
            <a:endCxn id="60" idx="0"/>
          </p:cNvCxnSpPr>
          <p:nvPr/>
        </p:nvCxnSpPr>
        <p:spPr>
          <a:xfrm flipH="1">
            <a:off x="8838397" y="4083348"/>
            <a:ext cx="1371198" cy="54872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60" name="Rectangle: Rounded Corners 59">
            <a:extLst>
              <a:ext uri="{FF2B5EF4-FFF2-40B4-BE49-F238E27FC236}">
                <a16:creationId xmlns:a16="http://schemas.microsoft.com/office/drawing/2014/main" id="{0CE54D66-187B-A579-C723-1ECC895FF05E}"/>
              </a:ext>
            </a:extLst>
          </p:cNvPr>
          <p:cNvSpPr/>
          <p:nvPr/>
        </p:nvSpPr>
        <p:spPr>
          <a:xfrm>
            <a:off x="8343069" y="4632073"/>
            <a:ext cx="990656"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DC &gt; DA AND </a:t>
            </a:r>
          </a:p>
          <a:p>
            <a:pPr algn="ctr"/>
            <a:r>
              <a:rPr lang="en-US" sz="1400" dirty="0">
                <a:solidFill>
                  <a:schemeClr val="accent6"/>
                </a:solidFill>
              </a:rPr>
              <a:t>DC&gt; DB</a:t>
            </a:r>
          </a:p>
        </p:txBody>
      </p:sp>
      <p:sp>
        <p:nvSpPr>
          <p:cNvPr id="61" name="Rectangle: Rounded Corners 60">
            <a:extLst>
              <a:ext uri="{FF2B5EF4-FFF2-40B4-BE49-F238E27FC236}">
                <a16:creationId xmlns:a16="http://schemas.microsoft.com/office/drawing/2014/main" id="{679ADAA4-A855-F55F-BA28-E0BA2EA762F8}"/>
              </a:ext>
            </a:extLst>
          </p:cNvPr>
          <p:cNvSpPr/>
          <p:nvPr/>
        </p:nvSpPr>
        <p:spPr>
          <a:xfrm>
            <a:off x="9714267" y="4632073"/>
            <a:ext cx="990656"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DC &lt; DA XOR </a:t>
            </a:r>
          </a:p>
          <a:p>
            <a:pPr algn="ctr"/>
            <a:r>
              <a:rPr lang="en-US" sz="1400" dirty="0">
                <a:solidFill>
                  <a:schemeClr val="accent6"/>
                </a:solidFill>
              </a:rPr>
              <a:t>DC &lt; DB</a:t>
            </a:r>
          </a:p>
        </p:txBody>
      </p:sp>
      <p:cxnSp>
        <p:nvCxnSpPr>
          <p:cNvPr id="62" name="Straight Arrow Connector 61">
            <a:extLst>
              <a:ext uri="{FF2B5EF4-FFF2-40B4-BE49-F238E27FC236}">
                <a16:creationId xmlns:a16="http://schemas.microsoft.com/office/drawing/2014/main" id="{3AF5E0E5-95C2-D818-9B3E-FC0524C7FBD2}"/>
              </a:ext>
            </a:extLst>
          </p:cNvPr>
          <p:cNvCxnSpPr>
            <a:cxnSpLocks/>
            <a:stCxn id="58" idx="2"/>
            <a:endCxn id="61" idx="0"/>
          </p:cNvCxnSpPr>
          <p:nvPr/>
        </p:nvCxnSpPr>
        <p:spPr>
          <a:xfrm>
            <a:off x="10209595" y="4083348"/>
            <a:ext cx="0" cy="54872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A48606E-F616-6CEB-8237-32466D816FEF}"/>
              </a:ext>
            </a:extLst>
          </p:cNvPr>
          <p:cNvCxnSpPr>
            <a:cxnSpLocks/>
            <a:stCxn id="58" idx="2"/>
            <a:endCxn id="1024" idx="0"/>
          </p:cNvCxnSpPr>
          <p:nvPr/>
        </p:nvCxnSpPr>
        <p:spPr>
          <a:xfrm>
            <a:off x="10209595" y="4083348"/>
            <a:ext cx="1371198" cy="5511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024" name="Rectangle: Rounded Corners 1023">
            <a:extLst>
              <a:ext uri="{FF2B5EF4-FFF2-40B4-BE49-F238E27FC236}">
                <a16:creationId xmlns:a16="http://schemas.microsoft.com/office/drawing/2014/main" id="{CB27D912-2FA8-C98C-0A08-4798CE03DAB8}"/>
              </a:ext>
            </a:extLst>
          </p:cNvPr>
          <p:cNvSpPr/>
          <p:nvPr/>
        </p:nvSpPr>
        <p:spPr>
          <a:xfrm>
            <a:off x="11085465" y="4634502"/>
            <a:ext cx="990656"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DC &lt; DA AND </a:t>
            </a:r>
          </a:p>
          <a:p>
            <a:pPr algn="ctr"/>
            <a:r>
              <a:rPr lang="en-US" sz="1400" dirty="0">
                <a:solidFill>
                  <a:schemeClr val="accent6"/>
                </a:solidFill>
              </a:rPr>
              <a:t>DC&lt; DB</a:t>
            </a:r>
          </a:p>
        </p:txBody>
      </p:sp>
      <p:cxnSp>
        <p:nvCxnSpPr>
          <p:cNvPr id="1035" name="Straight Arrow Connector 1034">
            <a:extLst>
              <a:ext uri="{FF2B5EF4-FFF2-40B4-BE49-F238E27FC236}">
                <a16:creationId xmlns:a16="http://schemas.microsoft.com/office/drawing/2014/main" id="{79C23D78-BC77-4FCD-2CCF-EF43C874D926}"/>
              </a:ext>
            </a:extLst>
          </p:cNvPr>
          <p:cNvCxnSpPr>
            <a:cxnSpLocks/>
            <a:stCxn id="28" idx="2"/>
            <a:endCxn id="49" idx="0"/>
          </p:cNvCxnSpPr>
          <p:nvPr/>
        </p:nvCxnSpPr>
        <p:spPr>
          <a:xfrm>
            <a:off x="6096001" y="2528524"/>
            <a:ext cx="0" cy="81325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41" name="Straight Arrow Connector 1040">
            <a:extLst>
              <a:ext uri="{FF2B5EF4-FFF2-40B4-BE49-F238E27FC236}">
                <a16:creationId xmlns:a16="http://schemas.microsoft.com/office/drawing/2014/main" id="{331AD155-B064-3790-DCDA-9BB13C354FCC}"/>
              </a:ext>
            </a:extLst>
          </p:cNvPr>
          <p:cNvCxnSpPr>
            <a:cxnSpLocks/>
            <a:stCxn id="28" idx="2"/>
            <a:endCxn id="58" idx="0"/>
          </p:cNvCxnSpPr>
          <p:nvPr/>
        </p:nvCxnSpPr>
        <p:spPr>
          <a:xfrm>
            <a:off x="6096001" y="2528524"/>
            <a:ext cx="4113594" cy="81325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97" name="Straight Arrow Connector 1096">
            <a:extLst>
              <a:ext uri="{FF2B5EF4-FFF2-40B4-BE49-F238E27FC236}">
                <a16:creationId xmlns:a16="http://schemas.microsoft.com/office/drawing/2014/main" id="{F1452EB1-EAD9-EF77-1876-4E5F1DB48688}"/>
              </a:ext>
            </a:extLst>
          </p:cNvPr>
          <p:cNvCxnSpPr>
            <a:cxnSpLocks/>
            <a:endCxn id="1099" idx="0"/>
          </p:cNvCxnSpPr>
          <p:nvPr/>
        </p:nvCxnSpPr>
        <p:spPr>
          <a:xfrm>
            <a:off x="567555" y="5376073"/>
            <a:ext cx="5551335" cy="54872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099" name="Rectangle: Rounded Corners 1098">
            <a:extLst>
              <a:ext uri="{FF2B5EF4-FFF2-40B4-BE49-F238E27FC236}">
                <a16:creationId xmlns:a16="http://schemas.microsoft.com/office/drawing/2014/main" id="{C67E0CEA-4E7F-9881-53F2-2FE2A24EB8FC}"/>
              </a:ext>
            </a:extLst>
          </p:cNvPr>
          <p:cNvSpPr/>
          <p:nvPr/>
        </p:nvSpPr>
        <p:spPr>
          <a:xfrm>
            <a:off x="5163748" y="5924798"/>
            <a:ext cx="1910284" cy="741571"/>
          </a:xfrm>
          <a:prstGeom prst="roundRect">
            <a:avLst/>
          </a:prstGeom>
          <a:solidFill>
            <a:srgbClr val="DEF0FF"/>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Introduce Phase Shift</a:t>
            </a:r>
          </a:p>
        </p:txBody>
      </p:sp>
      <p:cxnSp>
        <p:nvCxnSpPr>
          <p:cNvPr id="1101" name="Straight Arrow Connector 1100">
            <a:extLst>
              <a:ext uri="{FF2B5EF4-FFF2-40B4-BE49-F238E27FC236}">
                <a16:creationId xmlns:a16="http://schemas.microsoft.com/office/drawing/2014/main" id="{DE80DE85-CD41-6E83-D69B-02CBC5641575}"/>
              </a:ext>
            </a:extLst>
          </p:cNvPr>
          <p:cNvCxnSpPr>
            <a:cxnSpLocks/>
            <a:stCxn id="42" idx="2"/>
            <a:endCxn id="1099" idx="0"/>
          </p:cNvCxnSpPr>
          <p:nvPr/>
        </p:nvCxnSpPr>
        <p:spPr>
          <a:xfrm>
            <a:off x="1975045" y="5376073"/>
            <a:ext cx="4143845" cy="54872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04" name="Straight Arrow Connector 1103">
            <a:extLst>
              <a:ext uri="{FF2B5EF4-FFF2-40B4-BE49-F238E27FC236}">
                <a16:creationId xmlns:a16="http://schemas.microsoft.com/office/drawing/2014/main" id="{12B618B5-78A7-9F89-F564-B9B57FD1AB7E}"/>
              </a:ext>
            </a:extLst>
          </p:cNvPr>
          <p:cNvCxnSpPr>
            <a:cxnSpLocks/>
            <a:stCxn id="50" idx="2"/>
            <a:endCxn id="1099" idx="0"/>
          </p:cNvCxnSpPr>
          <p:nvPr/>
        </p:nvCxnSpPr>
        <p:spPr>
          <a:xfrm>
            <a:off x="3346243" y="5378502"/>
            <a:ext cx="2772647" cy="54629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07" name="Straight Arrow Connector 1106">
            <a:extLst>
              <a:ext uri="{FF2B5EF4-FFF2-40B4-BE49-F238E27FC236}">
                <a16:creationId xmlns:a16="http://schemas.microsoft.com/office/drawing/2014/main" id="{7234DC89-2A5E-C0A4-6378-F2CA88283DB6}"/>
              </a:ext>
            </a:extLst>
          </p:cNvPr>
          <p:cNvCxnSpPr>
            <a:cxnSpLocks/>
            <a:stCxn id="53" idx="2"/>
            <a:endCxn id="1099" idx="0"/>
          </p:cNvCxnSpPr>
          <p:nvPr/>
        </p:nvCxnSpPr>
        <p:spPr>
          <a:xfrm>
            <a:off x="4724803" y="5376073"/>
            <a:ext cx="1394087" cy="54872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11" name="Straight Arrow Connector 1110">
            <a:extLst>
              <a:ext uri="{FF2B5EF4-FFF2-40B4-BE49-F238E27FC236}">
                <a16:creationId xmlns:a16="http://schemas.microsoft.com/office/drawing/2014/main" id="{F9219B98-A42A-E944-6BE0-46140441359D}"/>
              </a:ext>
            </a:extLst>
          </p:cNvPr>
          <p:cNvCxnSpPr>
            <a:cxnSpLocks/>
            <a:stCxn id="54" idx="2"/>
            <a:endCxn id="1099" idx="0"/>
          </p:cNvCxnSpPr>
          <p:nvPr/>
        </p:nvCxnSpPr>
        <p:spPr>
          <a:xfrm>
            <a:off x="6096001" y="5376073"/>
            <a:ext cx="22889" cy="54872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18" name="Straight Arrow Connector 1117">
            <a:extLst>
              <a:ext uri="{FF2B5EF4-FFF2-40B4-BE49-F238E27FC236}">
                <a16:creationId xmlns:a16="http://schemas.microsoft.com/office/drawing/2014/main" id="{20231396-06DA-F238-A063-3ED518C1D8A1}"/>
              </a:ext>
            </a:extLst>
          </p:cNvPr>
          <p:cNvCxnSpPr>
            <a:cxnSpLocks/>
            <a:stCxn id="57" idx="2"/>
            <a:endCxn id="1099" idx="0"/>
          </p:cNvCxnSpPr>
          <p:nvPr/>
        </p:nvCxnSpPr>
        <p:spPr>
          <a:xfrm flipH="1">
            <a:off x="6118890" y="5378502"/>
            <a:ext cx="1348309" cy="54629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21" name="Straight Arrow Connector 1120">
            <a:extLst>
              <a:ext uri="{FF2B5EF4-FFF2-40B4-BE49-F238E27FC236}">
                <a16:creationId xmlns:a16="http://schemas.microsoft.com/office/drawing/2014/main" id="{9B6ED7A5-284A-BDE1-DFE0-830EDADAE563}"/>
              </a:ext>
            </a:extLst>
          </p:cNvPr>
          <p:cNvCxnSpPr>
            <a:cxnSpLocks/>
            <a:endCxn id="1099" idx="0"/>
          </p:cNvCxnSpPr>
          <p:nvPr/>
        </p:nvCxnSpPr>
        <p:spPr>
          <a:xfrm flipH="1">
            <a:off x="6118890" y="5373644"/>
            <a:ext cx="2552670" cy="5511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24" name="Straight Arrow Connector 1123">
            <a:extLst>
              <a:ext uri="{FF2B5EF4-FFF2-40B4-BE49-F238E27FC236}">
                <a16:creationId xmlns:a16="http://schemas.microsoft.com/office/drawing/2014/main" id="{D0ECD125-632D-BA71-11D3-8F70DD8FF538}"/>
              </a:ext>
            </a:extLst>
          </p:cNvPr>
          <p:cNvCxnSpPr>
            <a:cxnSpLocks/>
            <a:stCxn id="61" idx="2"/>
            <a:endCxn id="1099" idx="0"/>
          </p:cNvCxnSpPr>
          <p:nvPr/>
        </p:nvCxnSpPr>
        <p:spPr>
          <a:xfrm flipH="1">
            <a:off x="6118890" y="5373644"/>
            <a:ext cx="4090705" cy="5511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28" name="Straight Arrow Connector 1127">
            <a:extLst>
              <a:ext uri="{FF2B5EF4-FFF2-40B4-BE49-F238E27FC236}">
                <a16:creationId xmlns:a16="http://schemas.microsoft.com/office/drawing/2014/main" id="{846E52C8-CB2B-D095-72C4-40B382871652}"/>
              </a:ext>
            </a:extLst>
          </p:cNvPr>
          <p:cNvCxnSpPr>
            <a:cxnSpLocks/>
            <a:stCxn id="1024" idx="2"/>
            <a:endCxn id="1099" idx="0"/>
          </p:cNvCxnSpPr>
          <p:nvPr/>
        </p:nvCxnSpPr>
        <p:spPr>
          <a:xfrm flipH="1">
            <a:off x="6118890" y="5376073"/>
            <a:ext cx="5461903" cy="54872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446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2E769-9B9D-7651-D975-42B7FDAFEA5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99215D0-1958-04F5-BC04-B00472E4235D}"/>
              </a:ext>
            </a:extLst>
          </p:cNvPr>
          <p:cNvSpPr>
            <a:spLocks noGrp="1"/>
          </p:cNvSpPr>
          <p:nvPr>
            <p:ph type="title"/>
          </p:nvPr>
        </p:nvSpPr>
        <p:spPr>
          <a:xfrm>
            <a:off x="984260" y="283592"/>
            <a:ext cx="10990263" cy="568412"/>
          </a:xfrm>
        </p:spPr>
        <p:txBody>
          <a:bodyPr/>
          <a:lstStyle/>
          <a:p>
            <a:pPr>
              <a:lnSpc>
                <a:spcPct val="100000"/>
              </a:lnSpc>
              <a:spcBef>
                <a:spcPts val="0"/>
              </a:spcBef>
              <a:defRPr/>
            </a:pPr>
            <a:r>
              <a:rPr lang="en-US" dirty="0"/>
              <a:t>Lone =A</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2CB1258-1DA4-83B8-2033-BDA5F31EC67F}"/>
                  </a:ext>
                </a:extLst>
              </p:cNvPr>
              <p:cNvSpPr txBox="1"/>
              <p:nvPr/>
            </p:nvSpPr>
            <p:spPr>
              <a:xfrm>
                <a:off x="-240199" y="2140349"/>
                <a:ext cx="50736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𝑏𝑐</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0</m:t>
                          </m:r>
                        </m:sub>
                      </m:sSub>
                    </m:oMath>
                  </m:oMathPara>
                </a14:m>
                <a:endParaRPr lang="sv-SE" dirty="0"/>
              </a:p>
            </p:txBody>
          </p:sp>
        </mc:Choice>
        <mc:Fallback xmlns="">
          <p:sp>
            <p:nvSpPr>
              <p:cNvPr id="5" name="TextBox 4">
                <a:extLst>
                  <a:ext uri="{FF2B5EF4-FFF2-40B4-BE49-F238E27FC236}">
                    <a16:creationId xmlns:a16="http://schemas.microsoft.com/office/drawing/2014/main" id="{BB633E54-36DB-52C2-0A22-AE40C0557E15}"/>
                  </a:ext>
                </a:extLst>
              </p:cNvPr>
              <p:cNvSpPr txBox="1">
                <a:spLocks noRot="1" noChangeAspect="1" noMove="1" noResize="1" noEditPoints="1" noAdjustHandles="1" noChangeArrowheads="1" noChangeShapeType="1" noTextEdit="1"/>
              </p:cNvSpPr>
              <p:nvPr/>
            </p:nvSpPr>
            <p:spPr>
              <a:xfrm>
                <a:off x="-240199" y="2140349"/>
                <a:ext cx="5073650" cy="369332"/>
              </a:xfrm>
              <a:prstGeom prst="rect">
                <a:avLst/>
              </a:prstGeom>
              <a:blipFill>
                <a:blip r:embed="rId2"/>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368A7B3-86B1-C1AF-7D54-110BBFC7DAB5}"/>
                  </a:ext>
                </a:extLst>
              </p:cNvPr>
              <p:cNvSpPr txBox="1"/>
              <p:nvPr/>
            </p:nvSpPr>
            <p:spPr>
              <a:xfrm>
                <a:off x="152325" y="1305268"/>
                <a:ext cx="4163209"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oMath>
                  </m:oMathPara>
                </a14:m>
                <a:endParaRPr lang="sv-SE" dirty="0"/>
              </a:p>
            </p:txBody>
          </p:sp>
        </mc:Choice>
        <mc:Fallback xmlns="">
          <p:sp>
            <p:nvSpPr>
              <p:cNvPr id="8" name="TextBox 7">
                <a:extLst>
                  <a:ext uri="{FF2B5EF4-FFF2-40B4-BE49-F238E27FC236}">
                    <a16:creationId xmlns:a16="http://schemas.microsoft.com/office/drawing/2014/main" id="{E31CF5A4-B10F-37CD-B249-B872B966FAC4}"/>
                  </a:ext>
                </a:extLst>
              </p:cNvPr>
              <p:cNvSpPr txBox="1">
                <a:spLocks noRot="1" noChangeAspect="1" noMove="1" noResize="1" noEditPoints="1" noAdjustHandles="1" noChangeArrowheads="1" noChangeShapeType="1" noTextEdit="1"/>
              </p:cNvSpPr>
              <p:nvPr/>
            </p:nvSpPr>
            <p:spPr>
              <a:xfrm>
                <a:off x="152325" y="1305268"/>
                <a:ext cx="4163209" cy="610936"/>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A60D16A-5F39-04F4-8CE5-73B698C1C042}"/>
                  </a:ext>
                </a:extLst>
              </p:cNvPr>
              <p:cNvSpPr txBox="1"/>
              <p:nvPr/>
            </p:nvSpPr>
            <p:spPr>
              <a:xfrm>
                <a:off x="-240199" y="2717895"/>
                <a:ext cx="50736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𝑏𝑐</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0</m:t>
                          </m:r>
                        </m:sub>
                      </m:sSub>
                    </m:oMath>
                  </m:oMathPara>
                </a14:m>
                <a:endParaRPr lang="sv-SE" dirty="0"/>
              </a:p>
            </p:txBody>
          </p:sp>
        </mc:Choice>
        <mc:Fallback xmlns="">
          <p:sp>
            <p:nvSpPr>
              <p:cNvPr id="9" name="TextBox 8">
                <a:extLst>
                  <a:ext uri="{FF2B5EF4-FFF2-40B4-BE49-F238E27FC236}">
                    <a16:creationId xmlns:a16="http://schemas.microsoft.com/office/drawing/2014/main" id="{2CF8BE62-BB99-B0E3-B982-9F3714C410FB}"/>
                  </a:ext>
                </a:extLst>
              </p:cNvPr>
              <p:cNvSpPr txBox="1">
                <a:spLocks noRot="1" noChangeAspect="1" noMove="1" noResize="1" noEditPoints="1" noAdjustHandles="1" noChangeArrowheads="1" noChangeShapeType="1" noTextEdit="1"/>
              </p:cNvSpPr>
              <p:nvPr/>
            </p:nvSpPr>
            <p:spPr>
              <a:xfrm>
                <a:off x="-240199" y="2717895"/>
                <a:ext cx="5073650" cy="369332"/>
              </a:xfrm>
              <a:prstGeom prst="rect">
                <a:avLst/>
              </a:prstGeom>
              <a:blipFill>
                <a:blip r:embed="rId4"/>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E47C35D-6CFE-89B4-2728-9B9A45DADCB1}"/>
                  </a:ext>
                </a:extLst>
              </p:cNvPr>
              <p:cNvSpPr txBox="1"/>
              <p:nvPr/>
            </p:nvSpPr>
            <p:spPr>
              <a:xfrm>
                <a:off x="-240199" y="3288787"/>
                <a:ext cx="50736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𝑏𝑐</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𝑏𝑐</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0</m:t>
                          </m:r>
                        </m:sub>
                      </m:sSub>
                    </m:oMath>
                  </m:oMathPara>
                </a14:m>
                <a:endParaRPr lang="sv-SE" dirty="0"/>
              </a:p>
            </p:txBody>
          </p:sp>
        </mc:Choice>
        <mc:Fallback xmlns="">
          <p:sp>
            <p:nvSpPr>
              <p:cNvPr id="10" name="TextBox 9">
                <a:extLst>
                  <a:ext uri="{FF2B5EF4-FFF2-40B4-BE49-F238E27FC236}">
                    <a16:creationId xmlns:a16="http://schemas.microsoft.com/office/drawing/2014/main" id="{6CC9A329-1ED9-5D44-9AD6-D7739AC66AE8}"/>
                  </a:ext>
                </a:extLst>
              </p:cNvPr>
              <p:cNvSpPr txBox="1">
                <a:spLocks noRot="1" noChangeAspect="1" noMove="1" noResize="1" noEditPoints="1" noAdjustHandles="1" noChangeArrowheads="1" noChangeShapeType="1" noTextEdit="1"/>
              </p:cNvSpPr>
              <p:nvPr/>
            </p:nvSpPr>
            <p:spPr>
              <a:xfrm>
                <a:off x="-240199" y="3288787"/>
                <a:ext cx="5073650" cy="369332"/>
              </a:xfrm>
              <a:prstGeom prst="rect">
                <a:avLst/>
              </a:prstGeom>
              <a:blipFill>
                <a:blip r:embed="rId5"/>
                <a:stretch>
                  <a:fillRect/>
                </a:stretch>
              </a:blipFill>
            </p:spPr>
            <p:txBody>
              <a:bodyPr/>
              <a:lstStyle/>
              <a:p>
                <a:r>
                  <a:rPr lang="sv-SE">
                    <a:noFill/>
                  </a:rPr>
                  <a:t> </a:t>
                </a:r>
              </a:p>
            </p:txBody>
          </p:sp>
        </mc:Fallback>
      </mc:AlternateContent>
      <p:sp>
        <p:nvSpPr>
          <p:cNvPr id="11" name="Right Brace 10">
            <a:extLst>
              <a:ext uri="{FF2B5EF4-FFF2-40B4-BE49-F238E27FC236}">
                <a16:creationId xmlns:a16="http://schemas.microsoft.com/office/drawing/2014/main" id="{E6755268-1DC2-BD7F-1D27-B4E701EE288F}"/>
              </a:ext>
            </a:extLst>
          </p:cNvPr>
          <p:cNvSpPr/>
          <p:nvPr/>
        </p:nvSpPr>
        <p:spPr>
          <a:xfrm rot="5400000">
            <a:off x="2052283" y="2456217"/>
            <a:ext cx="749300" cy="351274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189AEF9-3EF8-05A2-8FA4-EADC3531D3A6}"/>
                  </a:ext>
                </a:extLst>
              </p:cNvPr>
              <p:cNvSpPr txBox="1"/>
              <p:nvPr/>
            </p:nvSpPr>
            <p:spPr>
              <a:xfrm>
                <a:off x="1050364" y="5036015"/>
                <a:ext cx="27241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𝑏𝑐</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min</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r>
                        <a:rPr lang="en-US" b="0" i="1" smtClean="0">
                          <a:latin typeface="Cambria Math" panose="02040503050406030204" pitchFamily="18" charset="0"/>
                        </a:rPr>
                        <m:t>)</m:t>
                      </m:r>
                    </m:oMath>
                  </m:oMathPara>
                </a14:m>
                <a:endParaRPr lang="sv-SE" dirty="0"/>
              </a:p>
            </p:txBody>
          </p:sp>
        </mc:Choice>
        <mc:Fallback xmlns="">
          <p:sp>
            <p:nvSpPr>
              <p:cNvPr id="13" name="TextBox 12">
                <a:extLst>
                  <a:ext uri="{FF2B5EF4-FFF2-40B4-BE49-F238E27FC236}">
                    <a16:creationId xmlns:a16="http://schemas.microsoft.com/office/drawing/2014/main" id="{8DB223C1-ED19-3590-A3C5-9DE453675E33}"/>
                  </a:ext>
                </a:extLst>
              </p:cNvPr>
              <p:cNvSpPr txBox="1">
                <a:spLocks noRot="1" noChangeAspect="1" noMove="1" noResize="1" noEditPoints="1" noAdjustHandles="1" noChangeArrowheads="1" noChangeShapeType="1" noTextEdit="1"/>
              </p:cNvSpPr>
              <p:nvPr/>
            </p:nvSpPr>
            <p:spPr>
              <a:xfrm>
                <a:off x="1050364" y="5036015"/>
                <a:ext cx="2724150" cy="369332"/>
              </a:xfrm>
              <a:prstGeom prst="rect">
                <a:avLst/>
              </a:prstGeom>
              <a:blipFill>
                <a:blip r:embed="rId6"/>
                <a:stretch>
                  <a:fillRect b="-14754"/>
                </a:stretch>
              </a:blipFill>
            </p:spPr>
            <p:txBody>
              <a:bodyPr/>
              <a:lstStyle/>
              <a:p>
                <a:r>
                  <a:rPr lang="sv-SE">
                    <a:noFill/>
                  </a:rPr>
                  <a:t> </a:t>
                </a:r>
              </a:p>
            </p:txBody>
          </p:sp>
        </mc:Fallback>
      </mc:AlternateContent>
      <p:sp>
        <p:nvSpPr>
          <p:cNvPr id="18" name="TextBox 17">
            <a:extLst>
              <a:ext uri="{FF2B5EF4-FFF2-40B4-BE49-F238E27FC236}">
                <a16:creationId xmlns:a16="http://schemas.microsoft.com/office/drawing/2014/main" id="{AD3176D6-6160-3C53-232F-4FBA3529A50A}"/>
              </a:ext>
            </a:extLst>
          </p:cNvPr>
          <p:cNvSpPr txBox="1"/>
          <p:nvPr/>
        </p:nvSpPr>
        <p:spPr>
          <a:xfrm>
            <a:off x="984260" y="5444210"/>
            <a:ext cx="3337635" cy="307777"/>
          </a:xfrm>
          <a:prstGeom prst="rect">
            <a:avLst/>
          </a:prstGeom>
          <a:noFill/>
        </p:spPr>
        <p:txBody>
          <a:bodyPr wrap="square">
            <a:spAutoFit/>
          </a:bodyPr>
          <a:lstStyle/>
          <a:p>
            <a:r>
              <a:rPr lang="en-US" sz="1400" b="0" dirty="0">
                <a:solidFill>
                  <a:srgbClr val="000061"/>
                </a:solidFill>
                <a:latin typeface="Georgia" pitchFamily="34" charset="0"/>
                <a:ea typeface="Georgia" pitchFamily="34" charset="-122"/>
                <a:cs typeface="Georgia" pitchFamily="34" charset="-120"/>
              </a:rPr>
              <a:t>Minimizing opposite pair overlap</a:t>
            </a:r>
            <a:endParaRPr lang="en-US" sz="1400" dirty="0">
              <a:solidFill>
                <a:srgbClr val="000061"/>
              </a:solidFill>
              <a:latin typeface="Georgia" pitchFamily="34" charset="0"/>
              <a:ea typeface="Georgia" pitchFamily="34" charset="-122"/>
              <a:cs typeface="Georgia" pitchFamily="34" charset="-120"/>
            </a:endParaRPr>
          </a:p>
        </p:txBody>
      </p:sp>
      <p:pic>
        <p:nvPicPr>
          <p:cNvPr id="1026" name="Picture 2">
            <a:extLst>
              <a:ext uri="{FF2B5EF4-FFF2-40B4-BE49-F238E27FC236}">
                <a16:creationId xmlns:a16="http://schemas.microsoft.com/office/drawing/2014/main" id="{74AFF594-872D-5C02-4E7A-931C201AA6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725" y="-417937"/>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56" name="TextBox 55">
            <a:extLst>
              <a:ext uri="{FF2B5EF4-FFF2-40B4-BE49-F238E27FC236}">
                <a16:creationId xmlns:a16="http://schemas.microsoft.com/office/drawing/2014/main" id="{D0876076-E083-DEC0-FD20-E5E66E896A56}"/>
              </a:ext>
            </a:extLst>
          </p:cNvPr>
          <p:cNvSpPr txBox="1"/>
          <p:nvPr/>
        </p:nvSpPr>
        <p:spPr>
          <a:xfrm>
            <a:off x="1156260" y="4687659"/>
            <a:ext cx="2432050" cy="307777"/>
          </a:xfrm>
          <a:prstGeom prst="rect">
            <a:avLst/>
          </a:prstGeom>
          <a:noFill/>
        </p:spPr>
        <p:txBody>
          <a:bodyPr wrap="square">
            <a:spAutoFit/>
          </a:bodyPr>
          <a:lstStyle/>
          <a:p>
            <a:r>
              <a:rPr lang="en-US" sz="1400" b="0" dirty="0">
                <a:solidFill>
                  <a:srgbClr val="000061"/>
                </a:solidFill>
                <a:latin typeface="Georgia" pitchFamily="34" charset="0"/>
                <a:ea typeface="Georgia" pitchFamily="34" charset="-122"/>
                <a:cs typeface="Georgia" pitchFamily="34" charset="-120"/>
              </a:rPr>
              <a:t>Maximizing triple-overlap</a:t>
            </a:r>
            <a:endParaRPr lang="en-US" sz="1400" dirty="0">
              <a:solidFill>
                <a:srgbClr val="000061"/>
              </a:solidFill>
              <a:latin typeface="Georgia" pitchFamily="34" charset="0"/>
              <a:ea typeface="Georgia" pitchFamily="34" charset="-122"/>
              <a:cs typeface="Georgia" pitchFamily="34" charset="-120"/>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4C0A0B5-4507-786E-CE0E-4801AA9C5340}"/>
                  </a:ext>
                </a:extLst>
              </p:cNvPr>
              <p:cNvSpPr txBox="1"/>
              <p:nvPr/>
            </p:nvSpPr>
            <p:spPr>
              <a:xfrm>
                <a:off x="1010210" y="5751987"/>
                <a:ext cx="27241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𝑏𝑐</m:t>
                          </m:r>
                        </m:sub>
                      </m:sSub>
                    </m:oMath>
                  </m:oMathPara>
                </a14:m>
                <a:endParaRPr lang="sv-SE" dirty="0"/>
              </a:p>
            </p:txBody>
          </p:sp>
        </mc:Choice>
        <mc:Fallback xmlns="">
          <p:sp>
            <p:nvSpPr>
              <p:cNvPr id="57" name="TextBox 56">
                <a:extLst>
                  <a:ext uri="{FF2B5EF4-FFF2-40B4-BE49-F238E27FC236}">
                    <a16:creationId xmlns:a16="http://schemas.microsoft.com/office/drawing/2014/main" id="{C1467ED0-A6F3-F354-2D53-4AA30848ABE2}"/>
                  </a:ext>
                </a:extLst>
              </p:cNvPr>
              <p:cNvSpPr txBox="1">
                <a:spLocks noRot="1" noChangeAspect="1" noMove="1" noResize="1" noEditPoints="1" noAdjustHandles="1" noChangeArrowheads="1" noChangeShapeType="1" noTextEdit="1"/>
              </p:cNvSpPr>
              <p:nvPr/>
            </p:nvSpPr>
            <p:spPr>
              <a:xfrm>
                <a:off x="1010210" y="5751987"/>
                <a:ext cx="2724150" cy="369332"/>
              </a:xfrm>
              <a:prstGeom prst="rect">
                <a:avLst/>
              </a:prstGeom>
              <a:blipFill>
                <a:blip r:embed="rId8"/>
                <a:stretch>
                  <a:fillRect b="-1667"/>
                </a:stretch>
              </a:blipFill>
            </p:spPr>
            <p:txBody>
              <a:bodyPr/>
              <a:lstStyle/>
              <a:p>
                <a:r>
                  <a:rPr lang="sv-SE">
                    <a:noFill/>
                  </a:rPr>
                  <a:t> </a:t>
                </a:r>
              </a:p>
            </p:txBody>
          </p:sp>
        </mc:Fallback>
      </mc:AlternateContent>
      <p:sp>
        <p:nvSpPr>
          <p:cNvPr id="58" name="Rectangle 57">
            <a:extLst>
              <a:ext uri="{FF2B5EF4-FFF2-40B4-BE49-F238E27FC236}">
                <a16:creationId xmlns:a16="http://schemas.microsoft.com/office/drawing/2014/main" id="{B1A02D87-8616-1347-2773-39042B6696D9}"/>
              </a:ext>
            </a:extLst>
          </p:cNvPr>
          <p:cNvSpPr/>
          <p:nvPr/>
        </p:nvSpPr>
        <p:spPr>
          <a:xfrm>
            <a:off x="4347846" y="1916204"/>
            <a:ext cx="4255846" cy="61093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Case 1 </a:t>
            </a:r>
          </a:p>
          <a:p>
            <a:pPr algn="ctr"/>
            <a:r>
              <a:rPr lang="en-US" sz="1400" dirty="0"/>
              <a:t>DA&gt;DB &gt;DC</a:t>
            </a:r>
            <a:endParaRPr lang="sv-SE" sz="1400" dirty="0"/>
          </a:p>
        </p:txBody>
      </p:sp>
      <p:sp>
        <p:nvSpPr>
          <p:cNvPr id="59" name="Rectangle 58">
            <a:extLst>
              <a:ext uri="{FF2B5EF4-FFF2-40B4-BE49-F238E27FC236}">
                <a16:creationId xmlns:a16="http://schemas.microsoft.com/office/drawing/2014/main" id="{F04F46AF-7A43-688D-58FA-5FB2F2AA17D7}"/>
              </a:ext>
            </a:extLst>
          </p:cNvPr>
          <p:cNvSpPr/>
          <p:nvPr/>
        </p:nvSpPr>
        <p:spPr>
          <a:xfrm>
            <a:off x="4347846" y="2527141"/>
            <a:ext cx="4255846" cy="328963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3E602F6-0EC3-3CC3-4C7E-DF9C7C6DC480}"/>
                  </a:ext>
                </a:extLst>
              </p:cNvPr>
              <p:cNvSpPr txBox="1"/>
              <p:nvPr/>
            </p:nvSpPr>
            <p:spPr>
              <a:xfrm>
                <a:off x="4873604" y="2670867"/>
                <a:ext cx="315087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r>
                            <a:rPr lang="en-US" b="0" i="1" smtClean="0">
                              <a:latin typeface="Cambria Math" panose="02040503050406030204" pitchFamily="18" charset="0"/>
                            </a:rPr>
                            <m:t>𝑏𝑐</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min</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e>
                          </m:d>
                        </m:e>
                      </m:fun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oMath>
                  </m:oMathPara>
                </a14:m>
                <a:endParaRPr lang="sv-SE" dirty="0"/>
              </a:p>
            </p:txBody>
          </p:sp>
        </mc:Choice>
        <mc:Fallback xmlns="">
          <p:sp>
            <p:nvSpPr>
              <p:cNvPr id="61" name="TextBox 60">
                <a:extLst>
                  <a:ext uri="{FF2B5EF4-FFF2-40B4-BE49-F238E27FC236}">
                    <a16:creationId xmlns:a16="http://schemas.microsoft.com/office/drawing/2014/main" id="{1FB88FD3-643A-B547-05BD-9C3F97548FD9}"/>
                  </a:ext>
                </a:extLst>
              </p:cNvPr>
              <p:cNvSpPr txBox="1">
                <a:spLocks noRot="1" noChangeAspect="1" noMove="1" noResize="1" noEditPoints="1" noAdjustHandles="1" noChangeArrowheads="1" noChangeShapeType="1" noTextEdit="1"/>
              </p:cNvSpPr>
              <p:nvPr/>
            </p:nvSpPr>
            <p:spPr>
              <a:xfrm>
                <a:off x="4873604" y="2670867"/>
                <a:ext cx="3150870" cy="369332"/>
              </a:xfrm>
              <a:prstGeom prst="rect">
                <a:avLst/>
              </a:prstGeom>
              <a:blipFill>
                <a:blip r:embed="rId9"/>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901ED5AA-E81E-F068-2F0A-492A55EEC4D5}"/>
                  </a:ext>
                </a:extLst>
              </p:cNvPr>
              <p:cNvSpPr txBox="1"/>
              <p:nvPr/>
            </p:nvSpPr>
            <p:spPr>
              <a:xfrm>
                <a:off x="4352463" y="3248413"/>
                <a:ext cx="4193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𝑐</m:t>
                          </m:r>
                        </m:sub>
                      </m:sSub>
                      <m:r>
                        <a:rPr lang="en-US" b="0" i="1" smtClean="0">
                          <a:latin typeface="Cambria Math" panose="02040503050406030204" pitchFamily="18" charset="0"/>
                        </a:rPr>
                        <m:t>=0 ,</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𝑎𝑐</m:t>
                          </m:r>
                        </m:sub>
                      </m:sSub>
                      <m:r>
                        <a:rPr lang="en-US" b="0" i="1" smtClean="0">
                          <a:latin typeface="Cambria Math" panose="02040503050406030204" pitchFamily="18" charset="0"/>
                        </a:rPr>
                        <m:t>=0,</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m:t>
                          </m:r>
                          <m:r>
                            <a:rPr lang="en-US" i="1">
                              <a:latin typeface="Cambria Math" panose="02040503050406030204" pitchFamily="18" charset="0"/>
                            </a:rPr>
                            <m:t>𝑐</m:t>
                          </m:r>
                        </m:sub>
                      </m:sSub>
                      <m:r>
                        <a:rPr lang="en-US" b="0" i="1" smtClean="0">
                          <a:latin typeface="Cambria Math" panose="02040503050406030204" pitchFamily="18" charset="0"/>
                        </a:rPr>
                        <m:t>=0, </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0</m:t>
                          </m:r>
                        </m:sub>
                      </m:sSub>
                      <m:r>
                        <a:rPr lang="en-US" b="0" i="1" smtClean="0">
                          <a:latin typeface="Cambria Math" panose="02040503050406030204" pitchFamily="18" charset="0"/>
                        </a:rPr>
                        <m:t>=0</m:t>
                      </m:r>
                    </m:oMath>
                  </m:oMathPara>
                </a14:m>
                <a:endParaRPr lang="sv-SE" dirty="0"/>
              </a:p>
            </p:txBody>
          </p:sp>
        </mc:Choice>
        <mc:Fallback xmlns="">
          <p:sp>
            <p:nvSpPr>
              <p:cNvPr id="63" name="TextBox 62">
                <a:extLst>
                  <a:ext uri="{FF2B5EF4-FFF2-40B4-BE49-F238E27FC236}">
                    <a16:creationId xmlns:a16="http://schemas.microsoft.com/office/drawing/2014/main" id="{DF8E3499-A33D-6712-27B6-0A45C8D4452D}"/>
                  </a:ext>
                </a:extLst>
              </p:cNvPr>
              <p:cNvSpPr txBox="1">
                <a:spLocks noRot="1" noChangeAspect="1" noMove="1" noResize="1" noEditPoints="1" noAdjustHandles="1" noChangeArrowheads="1" noChangeShapeType="1" noTextEdit="1"/>
              </p:cNvSpPr>
              <p:nvPr/>
            </p:nvSpPr>
            <p:spPr>
              <a:xfrm>
                <a:off x="4352463" y="3248413"/>
                <a:ext cx="4193152" cy="369332"/>
              </a:xfrm>
              <a:prstGeom prst="rect">
                <a:avLst/>
              </a:prstGeom>
              <a:blipFill>
                <a:blip r:embed="rId10"/>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25" name="TextBox 1024">
                <a:extLst>
                  <a:ext uri="{FF2B5EF4-FFF2-40B4-BE49-F238E27FC236}">
                    <a16:creationId xmlns:a16="http://schemas.microsoft.com/office/drawing/2014/main" id="{316512A8-AB83-9399-C8FC-B95BE0ACB056}"/>
                  </a:ext>
                </a:extLst>
              </p:cNvPr>
              <p:cNvSpPr txBox="1"/>
              <p:nvPr/>
            </p:nvSpPr>
            <p:spPr>
              <a:xfrm>
                <a:off x="1754066" y="6373332"/>
                <a:ext cx="13457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𝑎</m:t>
                          </m:r>
                        </m:sub>
                      </m:sSub>
                    </m:oMath>
                  </m:oMathPara>
                </a14:m>
                <a:endParaRPr lang="sv-SE" dirty="0"/>
              </a:p>
            </p:txBody>
          </p:sp>
        </mc:Choice>
        <mc:Fallback xmlns="">
          <p:sp>
            <p:nvSpPr>
              <p:cNvPr id="1025" name="TextBox 1024">
                <a:extLst>
                  <a:ext uri="{FF2B5EF4-FFF2-40B4-BE49-F238E27FC236}">
                    <a16:creationId xmlns:a16="http://schemas.microsoft.com/office/drawing/2014/main" id="{5EA9AFBD-8299-7EF3-E5E0-EB347A8610E1}"/>
                  </a:ext>
                </a:extLst>
              </p:cNvPr>
              <p:cNvSpPr txBox="1">
                <a:spLocks noRot="1" noChangeAspect="1" noMove="1" noResize="1" noEditPoints="1" noAdjustHandles="1" noChangeArrowheads="1" noChangeShapeType="1" noTextEdit="1"/>
              </p:cNvSpPr>
              <p:nvPr/>
            </p:nvSpPr>
            <p:spPr>
              <a:xfrm>
                <a:off x="1754066" y="6373332"/>
                <a:ext cx="1345734" cy="369332"/>
              </a:xfrm>
              <a:prstGeom prst="rect">
                <a:avLst/>
              </a:prstGeom>
              <a:blipFill>
                <a:blip r:embed="rId11"/>
                <a:stretch>
                  <a:fillRect/>
                </a:stretch>
              </a:blipFill>
            </p:spPr>
            <p:txBody>
              <a:bodyPr/>
              <a:lstStyle/>
              <a:p>
                <a:r>
                  <a:rPr lang="sv-SE">
                    <a:noFill/>
                  </a:rPr>
                  <a:t> </a:t>
                </a:r>
              </a:p>
            </p:txBody>
          </p:sp>
        </mc:Fallback>
      </mc:AlternateContent>
      <p:sp>
        <p:nvSpPr>
          <p:cNvPr id="1027" name="TextBox 1026">
            <a:extLst>
              <a:ext uri="{FF2B5EF4-FFF2-40B4-BE49-F238E27FC236}">
                <a16:creationId xmlns:a16="http://schemas.microsoft.com/office/drawing/2014/main" id="{E4FD3386-5E6D-5E7C-A84A-F56983072B7F}"/>
              </a:ext>
            </a:extLst>
          </p:cNvPr>
          <p:cNvSpPr txBox="1"/>
          <p:nvPr/>
        </p:nvSpPr>
        <p:spPr>
          <a:xfrm>
            <a:off x="1493165" y="6093437"/>
            <a:ext cx="1867536" cy="307777"/>
          </a:xfrm>
          <a:prstGeom prst="rect">
            <a:avLst/>
          </a:prstGeom>
          <a:noFill/>
        </p:spPr>
        <p:txBody>
          <a:bodyPr wrap="square">
            <a:spAutoFit/>
          </a:bodyPr>
          <a:lstStyle/>
          <a:p>
            <a:r>
              <a:rPr lang="en-US" sz="1400" b="0" dirty="0">
                <a:solidFill>
                  <a:srgbClr val="000061"/>
                </a:solidFill>
                <a:latin typeface="Georgia" pitchFamily="34" charset="0"/>
                <a:ea typeface="Georgia" pitchFamily="34" charset="-122"/>
                <a:cs typeface="Georgia" pitchFamily="34" charset="-120"/>
              </a:rPr>
              <a:t>Minimizing lone</a:t>
            </a:r>
            <a:endParaRPr lang="en-US" sz="1400" dirty="0">
              <a:solidFill>
                <a:srgbClr val="000061"/>
              </a:solidFill>
              <a:latin typeface="Georgia" pitchFamily="34" charset="0"/>
              <a:ea typeface="Georgia" pitchFamily="34" charset="-122"/>
              <a:cs typeface="Georgia" pitchFamily="34" charset="-120"/>
            </a:endParaRPr>
          </a:p>
        </p:txBody>
      </p:sp>
      <mc:AlternateContent xmlns:mc="http://schemas.openxmlformats.org/markup-compatibility/2006" xmlns:a14="http://schemas.microsoft.com/office/drawing/2010/main">
        <mc:Choice Requires="a14">
          <p:sp>
            <p:nvSpPr>
              <p:cNvPr id="1029" name="TextBox 1028">
                <a:extLst>
                  <a:ext uri="{FF2B5EF4-FFF2-40B4-BE49-F238E27FC236}">
                    <a16:creationId xmlns:a16="http://schemas.microsoft.com/office/drawing/2014/main" id="{6786FF6F-C38D-BCF2-BA74-1C6D15E423B2}"/>
                  </a:ext>
                </a:extLst>
              </p:cNvPr>
              <p:cNvSpPr txBox="1"/>
              <p:nvPr/>
            </p:nvSpPr>
            <p:spPr>
              <a:xfrm>
                <a:off x="4352463" y="3825959"/>
                <a:ext cx="4193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𝑎𝑏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oMath>
                  </m:oMathPara>
                </a14:m>
                <a:endParaRPr lang="sv-SE" dirty="0"/>
              </a:p>
            </p:txBody>
          </p:sp>
        </mc:Choice>
        <mc:Fallback xmlns="">
          <p:sp>
            <p:nvSpPr>
              <p:cNvPr id="1029" name="TextBox 1028">
                <a:extLst>
                  <a:ext uri="{FF2B5EF4-FFF2-40B4-BE49-F238E27FC236}">
                    <a16:creationId xmlns:a16="http://schemas.microsoft.com/office/drawing/2014/main" id="{B6ABA7DC-E4BD-6F47-2240-B25B1DB271D5}"/>
                  </a:ext>
                </a:extLst>
              </p:cNvPr>
              <p:cNvSpPr txBox="1">
                <a:spLocks noRot="1" noChangeAspect="1" noMove="1" noResize="1" noEditPoints="1" noAdjustHandles="1" noChangeArrowheads="1" noChangeShapeType="1" noTextEdit="1"/>
              </p:cNvSpPr>
              <p:nvPr/>
            </p:nvSpPr>
            <p:spPr>
              <a:xfrm>
                <a:off x="4352463" y="3825959"/>
                <a:ext cx="4193152" cy="369332"/>
              </a:xfrm>
              <a:prstGeom prst="rect">
                <a:avLst/>
              </a:prstGeom>
              <a:blipFill>
                <a:blip r:embed="rId12"/>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30" name="TextBox 1029">
                <a:extLst>
                  <a:ext uri="{FF2B5EF4-FFF2-40B4-BE49-F238E27FC236}">
                    <a16:creationId xmlns:a16="http://schemas.microsoft.com/office/drawing/2014/main" id="{A5407C26-B3F3-E07D-8928-96F983069F11}"/>
                  </a:ext>
                </a:extLst>
              </p:cNvPr>
              <p:cNvSpPr txBox="1"/>
              <p:nvPr/>
            </p:nvSpPr>
            <p:spPr>
              <a:xfrm>
                <a:off x="4352463" y="4345598"/>
                <a:ext cx="4193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𝑎𝑏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𝑐</m:t>
                          </m:r>
                        </m:sub>
                      </m:sSub>
                    </m:oMath>
                  </m:oMathPara>
                </a14:m>
                <a:endParaRPr lang="sv-SE" dirty="0"/>
              </a:p>
            </p:txBody>
          </p:sp>
        </mc:Choice>
        <mc:Fallback xmlns="">
          <p:sp>
            <p:nvSpPr>
              <p:cNvPr id="1030" name="TextBox 1029">
                <a:extLst>
                  <a:ext uri="{FF2B5EF4-FFF2-40B4-BE49-F238E27FC236}">
                    <a16:creationId xmlns:a16="http://schemas.microsoft.com/office/drawing/2014/main" id="{2942FB8A-300D-F9B1-36D3-7971BA7E3C2F}"/>
                  </a:ext>
                </a:extLst>
              </p:cNvPr>
              <p:cNvSpPr txBox="1">
                <a:spLocks noRot="1" noChangeAspect="1" noMove="1" noResize="1" noEditPoints="1" noAdjustHandles="1" noChangeArrowheads="1" noChangeShapeType="1" noTextEdit="1"/>
              </p:cNvSpPr>
              <p:nvPr/>
            </p:nvSpPr>
            <p:spPr>
              <a:xfrm>
                <a:off x="4352463" y="4345598"/>
                <a:ext cx="4193152" cy="369332"/>
              </a:xfrm>
              <a:prstGeom prst="rect">
                <a:avLst/>
              </a:prstGeom>
              <a:blipFill>
                <a:blip r:embed="rId13"/>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31" name="TextBox 1030">
                <a:extLst>
                  <a:ext uri="{FF2B5EF4-FFF2-40B4-BE49-F238E27FC236}">
                    <a16:creationId xmlns:a16="http://schemas.microsoft.com/office/drawing/2014/main" id="{975D6F13-7E79-FFCF-159C-B31375F439F5}"/>
                  </a:ext>
                </a:extLst>
              </p:cNvPr>
              <p:cNvSpPr txBox="1"/>
              <p:nvPr/>
            </p:nvSpPr>
            <p:spPr>
              <a:xfrm>
                <a:off x="4264724" y="4825985"/>
                <a:ext cx="4193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𝑖𝑓</m:t>
                      </m:r>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𝑏</m:t>
                          </m:r>
                        </m:sub>
                      </m:sSub>
                      <m:r>
                        <a:rPr lang="en-US" b="0" i="1" smtClean="0">
                          <a:latin typeface="Cambria Math" panose="02040503050406030204" pitchFamily="18" charset="0"/>
                        </a:rPr>
                        <m:t>=0⇒ </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𝑐</m:t>
                          </m:r>
                        </m:sub>
                      </m:sSub>
                    </m:oMath>
                  </m:oMathPara>
                </a14:m>
                <a:endParaRPr lang="sv-SE" dirty="0"/>
              </a:p>
            </p:txBody>
          </p:sp>
        </mc:Choice>
        <mc:Fallback xmlns="">
          <p:sp>
            <p:nvSpPr>
              <p:cNvPr id="1031" name="TextBox 1030">
                <a:extLst>
                  <a:ext uri="{FF2B5EF4-FFF2-40B4-BE49-F238E27FC236}">
                    <a16:creationId xmlns:a16="http://schemas.microsoft.com/office/drawing/2014/main" id="{B950CCB3-A439-F276-5225-D237EC49B3CC}"/>
                  </a:ext>
                </a:extLst>
              </p:cNvPr>
              <p:cNvSpPr txBox="1">
                <a:spLocks noRot="1" noChangeAspect="1" noMove="1" noResize="1" noEditPoints="1" noAdjustHandles="1" noChangeArrowheads="1" noChangeShapeType="1" noTextEdit="1"/>
              </p:cNvSpPr>
              <p:nvPr/>
            </p:nvSpPr>
            <p:spPr>
              <a:xfrm>
                <a:off x="4264724" y="4825985"/>
                <a:ext cx="4193152" cy="369332"/>
              </a:xfrm>
              <a:prstGeom prst="rect">
                <a:avLst/>
              </a:prstGeom>
              <a:blipFill>
                <a:blip r:embed="rId14"/>
                <a:stretch>
                  <a:fillRect b="-1500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32" name="TextBox 1031">
                <a:extLst>
                  <a:ext uri="{FF2B5EF4-FFF2-40B4-BE49-F238E27FC236}">
                    <a16:creationId xmlns:a16="http://schemas.microsoft.com/office/drawing/2014/main" id="{B6C71581-EE3B-3D5B-B053-C674B968584B}"/>
                  </a:ext>
                </a:extLst>
              </p:cNvPr>
              <p:cNvSpPr txBox="1"/>
              <p:nvPr/>
            </p:nvSpPr>
            <p:spPr>
              <a:xfrm>
                <a:off x="4352463" y="5303712"/>
                <a:ext cx="4193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𝑎</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𝑏</m:t>
                          </m:r>
                        </m:sub>
                      </m:sSub>
                    </m:oMath>
                  </m:oMathPara>
                </a14:m>
                <a:endParaRPr lang="sv-SE" dirty="0"/>
              </a:p>
            </p:txBody>
          </p:sp>
        </mc:Choice>
        <mc:Fallback xmlns="">
          <p:sp>
            <p:nvSpPr>
              <p:cNvPr id="1032" name="TextBox 1031">
                <a:extLst>
                  <a:ext uri="{FF2B5EF4-FFF2-40B4-BE49-F238E27FC236}">
                    <a16:creationId xmlns:a16="http://schemas.microsoft.com/office/drawing/2014/main" id="{5AC97787-BE21-0900-CADD-1E47B658703A}"/>
                  </a:ext>
                </a:extLst>
              </p:cNvPr>
              <p:cNvSpPr txBox="1">
                <a:spLocks noRot="1" noChangeAspect="1" noMove="1" noResize="1" noEditPoints="1" noAdjustHandles="1" noChangeArrowheads="1" noChangeShapeType="1" noTextEdit="1"/>
              </p:cNvSpPr>
              <p:nvPr/>
            </p:nvSpPr>
            <p:spPr>
              <a:xfrm>
                <a:off x="4352463" y="5303712"/>
                <a:ext cx="4193152" cy="369332"/>
              </a:xfrm>
              <a:prstGeom prst="rect">
                <a:avLst/>
              </a:prstGeom>
              <a:blipFill>
                <a:blip r:embed="rId1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graphicFrame>
            <p:nvGraphicFramePr>
              <p:cNvPr id="1033" name="Table 1032">
                <a:extLst>
                  <a:ext uri="{FF2B5EF4-FFF2-40B4-BE49-F238E27FC236}">
                    <a16:creationId xmlns:a16="http://schemas.microsoft.com/office/drawing/2014/main" id="{B2CAB48F-5122-CC7B-CD0E-5E2414FA7096}"/>
                  </a:ext>
                </a:extLst>
              </p:cNvPr>
              <p:cNvGraphicFramePr>
                <a:graphicFrameLocks noGrp="1"/>
              </p:cNvGraphicFramePr>
              <p:nvPr/>
            </p:nvGraphicFramePr>
            <p:xfrm>
              <a:off x="9177024" y="958907"/>
              <a:ext cx="2541830" cy="3423920"/>
            </p:xfrm>
            <a:graphic>
              <a:graphicData uri="http://schemas.openxmlformats.org/drawingml/2006/table">
                <a:tbl>
                  <a:tblPr firstRow="1" bandRow="1">
                    <a:tableStyleId>{5C22544A-7EE6-4342-B048-85BDC9FD1C3A}</a:tableStyleId>
                  </a:tblPr>
                  <a:tblGrid>
                    <a:gridCol w="1069549">
                      <a:extLst>
                        <a:ext uri="{9D8B030D-6E8A-4147-A177-3AD203B41FA5}">
                          <a16:colId xmlns:a16="http://schemas.microsoft.com/office/drawing/2014/main" val="1441831067"/>
                        </a:ext>
                      </a:extLst>
                    </a:gridCol>
                    <a:gridCol w="1472281">
                      <a:extLst>
                        <a:ext uri="{9D8B030D-6E8A-4147-A177-3AD203B41FA5}">
                          <a16:colId xmlns:a16="http://schemas.microsoft.com/office/drawing/2014/main" val="3590361050"/>
                        </a:ext>
                      </a:extLst>
                    </a:gridCol>
                  </a:tblGrid>
                  <a:tr h="370840">
                    <a:tc>
                      <a:txBody>
                        <a:bodyPr/>
                        <a:lstStyle/>
                        <a:p>
                          <a:pPr algn="ctr"/>
                          <a:r>
                            <a:rPr lang="en-US" sz="1200" dirty="0"/>
                            <a:t>Fraction of Time</a:t>
                          </a:r>
                          <a:endParaRPr lang="sv-SE" sz="1200" dirty="0"/>
                        </a:p>
                      </a:txBody>
                      <a:tcPr/>
                    </a:tc>
                    <a:tc>
                      <a:txBody>
                        <a:bodyPr/>
                        <a:lstStyle/>
                        <a:p>
                          <a:pPr algn="ctr"/>
                          <a:r>
                            <a:rPr lang="en-US" sz="1400" dirty="0"/>
                            <a:t>Value</a:t>
                          </a:r>
                          <a:endParaRPr lang="sv-SE" sz="1400" dirty="0"/>
                        </a:p>
                      </a:txBody>
                      <a:tcPr/>
                    </a:tc>
                    <a:extLst>
                      <a:ext uri="{0D108BD9-81ED-4DB2-BD59-A6C34878D82A}">
                        <a16:rowId xmlns:a16="http://schemas.microsoft.com/office/drawing/2014/main" val="166653369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𝑎</m:t>
                                    </m:r>
                                  </m:sub>
                                </m:sSub>
                              </m:oMath>
                            </m:oMathPara>
                          </a14:m>
                          <a:endParaRPr lang="sv-SE" sz="1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𝑎</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𝑏</m:t>
                                    </m:r>
                                  </m:sub>
                                </m:sSub>
                              </m:oMath>
                            </m:oMathPara>
                          </a14:m>
                          <a:endParaRPr lang="sv-SE" sz="1400" dirty="0"/>
                        </a:p>
                      </a:txBody>
                      <a:tcPr/>
                    </a:tc>
                    <a:extLst>
                      <a:ext uri="{0D108BD9-81ED-4DB2-BD59-A6C34878D82A}">
                        <a16:rowId xmlns:a16="http://schemas.microsoft.com/office/drawing/2014/main" val="245402942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𝑏</m:t>
                                    </m:r>
                                  </m:sub>
                                </m:sSub>
                              </m:oMath>
                            </m:oMathPara>
                          </a14:m>
                          <a:endParaRPr lang="sv-SE"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sv-SE" sz="1400" dirty="0"/>
                        </a:p>
                      </a:txBody>
                      <a:tcPr/>
                    </a:tc>
                    <a:extLst>
                      <a:ext uri="{0D108BD9-81ED-4DB2-BD59-A6C34878D82A}">
                        <a16:rowId xmlns:a16="http://schemas.microsoft.com/office/drawing/2014/main" val="776071168"/>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𝑐</m:t>
                                    </m:r>
                                  </m:sub>
                                </m:sSub>
                              </m:oMath>
                            </m:oMathPara>
                          </a14:m>
                          <a:endParaRPr lang="sv-SE"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sv-SE" sz="1400" dirty="0"/>
                        </a:p>
                      </a:txBody>
                      <a:tcPr/>
                    </a:tc>
                    <a:extLst>
                      <a:ext uri="{0D108BD9-81ED-4DB2-BD59-A6C34878D82A}">
                        <a16:rowId xmlns:a16="http://schemas.microsoft.com/office/drawing/2014/main" val="1642477553"/>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𝑎𝑏</m:t>
                                    </m:r>
                                  </m:sub>
                                </m:sSub>
                              </m:oMath>
                            </m:oMathPara>
                          </a14:m>
                          <a:endParaRPr lang="sv-SE"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𝑏</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𝑐</m:t>
                                    </m:r>
                                  </m:sub>
                                </m:sSub>
                              </m:oMath>
                            </m:oMathPara>
                          </a14:m>
                          <a:endParaRPr lang="sv-SE" sz="1400" dirty="0"/>
                        </a:p>
                      </a:txBody>
                      <a:tcPr/>
                    </a:tc>
                    <a:extLst>
                      <a:ext uri="{0D108BD9-81ED-4DB2-BD59-A6C34878D82A}">
                        <a16:rowId xmlns:a16="http://schemas.microsoft.com/office/drawing/2014/main" val="351558489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𝑎𝑐</m:t>
                                    </m:r>
                                  </m:sub>
                                </m:sSub>
                              </m:oMath>
                            </m:oMathPara>
                          </a14:m>
                          <a:endParaRPr lang="sv-SE"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sv-SE" sz="1400" dirty="0"/>
                        </a:p>
                      </a:txBody>
                      <a:tcPr/>
                    </a:tc>
                    <a:extLst>
                      <a:ext uri="{0D108BD9-81ED-4DB2-BD59-A6C34878D82A}">
                        <a16:rowId xmlns:a16="http://schemas.microsoft.com/office/drawing/2014/main" val="3448970999"/>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𝑏𝑐</m:t>
                                    </m:r>
                                  </m:sub>
                                </m:sSub>
                              </m:oMath>
                            </m:oMathPara>
                          </a14:m>
                          <a:endParaRPr lang="sv-SE"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sv-SE" sz="1400" dirty="0"/>
                        </a:p>
                      </a:txBody>
                      <a:tcPr/>
                    </a:tc>
                    <a:extLst>
                      <a:ext uri="{0D108BD9-81ED-4DB2-BD59-A6C34878D82A}">
                        <a16:rowId xmlns:a16="http://schemas.microsoft.com/office/drawing/2014/main" val="42961754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𝑎𝑏𝑐</m:t>
                                    </m:r>
                                  </m:sub>
                                </m:sSub>
                              </m:oMath>
                            </m:oMathPara>
                          </a14:m>
                          <a:endParaRPr lang="sv-SE" sz="1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𝐶</m:t>
                                    </m:r>
                                  </m:sub>
                                </m:sSub>
                              </m:oMath>
                            </m:oMathPara>
                          </a14:m>
                          <a:endParaRPr lang="sv-SE" sz="1400" dirty="0"/>
                        </a:p>
                      </a:txBody>
                      <a:tcPr/>
                    </a:tc>
                    <a:extLst>
                      <a:ext uri="{0D108BD9-81ED-4DB2-BD59-A6C34878D82A}">
                        <a16:rowId xmlns:a16="http://schemas.microsoft.com/office/drawing/2014/main" val="283514384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𝜆</m:t>
                                    </m:r>
                                  </m:e>
                                  <m:sub>
                                    <m:r>
                                      <a:rPr lang="en-US" sz="1400" b="0" i="1" smtClean="0">
                                        <a:latin typeface="Cambria Math" panose="02040503050406030204" pitchFamily="18" charset="0"/>
                                      </a:rPr>
                                      <m:t>0</m:t>
                                    </m:r>
                                  </m:sub>
                                </m:sSub>
                              </m:oMath>
                            </m:oMathPara>
                          </a14:m>
                          <a:endParaRPr lang="sv-SE"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sv-SE" sz="1400" dirty="0"/>
                        </a:p>
                      </a:txBody>
                      <a:tcPr/>
                    </a:tc>
                    <a:extLst>
                      <a:ext uri="{0D108BD9-81ED-4DB2-BD59-A6C34878D82A}">
                        <a16:rowId xmlns:a16="http://schemas.microsoft.com/office/drawing/2014/main" val="1029686120"/>
                      </a:ext>
                    </a:extLst>
                  </a:tr>
                </a:tbl>
              </a:graphicData>
            </a:graphic>
          </p:graphicFrame>
        </mc:Choice>
        <mc:Fallback xmlns="">
          <p:graphicFrame>
            <p:nvGraphicFramePr>
              <p:cNvPr id="1033" name="Table 1032">
                <a:extLst>
                  <a:ext uri="{FF2B5EF4-FFF2-40B4-BE49-F238E27FC236}">
                    <a16:creationId xmlns:a16="http://schemas.microsoft.com/office/drawing/2014/main" id="{E13F7AC0-D063-B42A-3811-7D85024128EE}"/>
                  </a:ext>
                </a:extLst>
              </p:cNvPr>
              <p:cNvGraphicFramePr>
                <a:graphicFrameLocks noGrp="1"/>
              </p:cNvGraphicFramePr>
              <p:nvPr>
                <p:extLst>
                  <p:ext uri="{D42A27DB-BD31-4B8C-83A1-F6EECF244321}">
                    <p14:modId xmlns:p14="http://schemas.microsoft.com/office/powerpoint/2010/main" val="3533294260"/>
                  </p:ext>
                </p:extLst>
              </p:nvPr>
            </p:nvGraphicFramePr>
            <p:xfrm>
              <a:off x="9177024" y="958907"/>
              <a:ext cx="2541830" cy="3423920"/>
            </p:xfrm>
            <a:graphic>
              <a:graphicData uri="http://schemas.openxmlformats.org/drawingml/2006/table">
                <a:tbl>
                  <a:tblPr firstRow="1" bandRow="1">
                    <a:tableStyleId>{5C22544A-7EE6-4342-B048-85BDC9FD1C3A}</a:tableStyleId>
                  </a:tblPr>
                  <a:tblGrid>
                    <a:gridCol w="1069549">
                      <a:extLst>
                        <a:ext uri="{9D8B030D-6E8A-4147-A177-3AD203B41FA5}">
                          <a16:colId xmlns:a16="http://schemas.microsoft.com/office/drawing/2014/main" val="1441831067"/>
                        </a:ext>
                      </a:extLst>
                    </a:gridCol>
                    <a:gridCol w="1472281">
                      <a:extLst>
                        <a:ext uri="{9D8B030D-6E8A-4147-A177-3AD203B41FA5}">
                          <a16:colId xmlns:a16="http://schemas.microsoft.com/office/drawing/2014/main" val="3590361050"/>
                        </a:ext>
                      </a:extLst>
                    </a:gridCol>
                  </a:tblGrid>
                  <a:tr h="457200">
                    <a:tc>
                      <a:txBody>
                        <a:bodyPr/>
                        <a:lstStyle/>
                        <a:p>
                          <a:pPr algn="ctr"/>
                          <a:r>
                            <a:rPr lang="en-US" sz="1200" dirty="0"/>
                            <a:t>Fraction of Time</a:t>
                          </a:r>
                          <a:endParaRPr lang="sv-SE" sz="1200" dirty="0"/>
                        </a:p>
                      </a:txBody>
                      <a:tcPr/>
                    </a:tc>
                    <a:tc>
                      <a:txBody>
                        <a:bodyPr/>
                        <a:lstStyle/>
                        <a:p>
                          <a:pPr algn="ctr"/>
                          <a:r>
                            <a:rPr lang="en-US" sz="1400" dirty="0"/>
                            <a:t>Value</a:t>
                          </a:r>
                          <a:endParaRPr lang="sv-SE" sz="1400" dirty="0"/>
                        </a:p>
                      </a:txBody>
                      <a:tcPr/>
                    </a:tc>
                    <a:extLst>
                      <a:ext uri="{0D108BD9-81ED-4DB2-BD59-A6C34878D82A}">
                        <a16:rowId xmlns:a16="http://schemas.microsoft.com/office/drawing/2014/main" val="1666533691"/>
                      </a:ext>
                    </a:extLst>
                  </a:tr>
                  <a:tr h="370840">
                    <a:tc>
                      <a:txBody>
                        <a:bodyPr/>
                        <a:lstStyle/>
                        <a:p>
                          <a:endParaRPr lang="sv-SE"/>
                        </a:p>
                      </a:txBody>
                      <a:tcPr>
                        <a:blipFill>
                          <a:blip r:embed="rId16"/>
                          <a:stretch>
                            <a:fillRect l="-568" t="-124590" r="-139773" b="-703279"/>
                          </a:stretch>
                        </a:blipFill>
                      </a:tcPr>
                    </a:tc>
                    <a:tc>
                      <a:txBody>
                        <a:bodyPr/>
                        <a:lstStyle/>
                        <a:p>
                          <a:endParaRPr lang="sv-SE"/>
                        </a:p>
                      </a:txBody>
                      <a:tcPr>
                        <a:blipFill>
                          <a:blip r:embed="rId16"/>
                          <a:stretch>
                            <a:fillRect l="-73140" t="-124590" r="-1653" b="-703279"/>
                          </a:stretch>
                        </a:blipFill>
                      </a:tcPr>
                    </a:tc>
                    <a:extLst>
                      <a:ext uri="{0D108BD9-81ED-4DB2-BD59-A6C34878D82A}">
                        <a16:rowId xmlns:a16="http://schemas.microsoft.com/office/drawing/2014/main" val="2454029421"/>
                      </a:ext>
                    </a:extLst>
                  </a:tr>
                  <a:tr h="370840">
                    <a:tc>
                      <a:txBody>
                        <a:bodyPr/>
                        <a:lstStyle/>
                        <a:p>
                          <a:endParaRPr lang="sv-SE"/>
                        </a:p>
                      </a:txBody>
                      <a:tcPr>
                        <a:blipFill>
                          <a:blip r:embed="rId16"/>
                          <a:stretch>
                            <a:fillRect l="-568" t="-224590" r="-139773" b="-603279"/>
                          </a:stretch>
                        </a:blipFill>
                      </a:tcPr>
                    </a:tc>
                    <a:tc>
                      <a:txBody>
                        <a:bodyPr/>
                        <a:lstStyle/>
                        <a:p>
                          <a:endParaRPr lang="sv-SE"/>
                        </a:p>
                      </a:txBody>
                      <a:tcPr>
                        <a:blipFill>
                          <a:blip r:embed="rId16"/>
                          <a:stretch>
                            <a:fillRect l="-73140" t="-224590" r="-1653" b="-603279"/>
                          </a:stretch>
                        </a:blipFill>
                      </a:tcPr>
                    </a:tc>
                    <a:extLst>
                      <a:ext uri="{0D108BD9-81ED-4DB2-BD59-A6C34878D82A}">
                        <a16:rowId xmlns:a16="http://schemas.microsoft.com/office/drawing/2014/main" val="776071168"/>
                      </a:ext>
                    </a:extLst>
                  </a:tr>
                  <a:tr h="370840">
                    <a:tc>
                      <a:txBody>
                        <a:bodyPr/>
                        <a:lstStyle/>
                        <a:p>
                          <a:endParaRPr lang="sv-SE"/>
                        </a:p>
                      </a:txBody>
                      <a:tcPr>
                        <a:blipFill>
                          <a:blip r:embed="rId16"/>
                          <a:stretch>
                            <a:fillRect l="-568" t="-324590" r="-139773" b="-503279"/>
                          </a:stretch>
                        </a:blipFill>
                      </a:tcPr>
                    </a:tc>
                    <a:tc>
                      <a:txBody>
                        <a:bodyPr/>
                        <a:lstStyle/>
                        <a:p>
                          <a:endParaRPr lang="sv-SE"/>
                        </a:p>
                      </a:txBody>
                      <a:tcPr>
                        <a:blipFill>
                          <a:blip r:embed="rId16"/>
                          <a:stretch>
                            <a:fillRect l="-73140" t="-324590" r="-1653" b="-503279"/>
                          </a:stretch>
                        </a:blipFill>
                      </a:tcPr>
                    </a:tc>
                    <a:extLst>
                      <a:ext uri="{0D108BD9-81ED-4DB2-BD59-A6C34878D82A}">
                        <a16:rowId xmlns:a16="http://schemas.microsoft.com/office/drawing/2014/main" val="1642477553"/>
                      </a:ext>
                    </a:extLst>
                  </a:tr>
                  <a:tr h="370840">
                    <a:tc>
                      <a:txBody>
                        <a:bodyPr/>
                        <a:lstStyle/>
                        <a:p>
                          <a:endParaRPr lang="sv-SE"/>
                        </a:p>
                      </a:txBody>
                      <a:tcPr>
                        <a:blipFill>
                          <a:blip r:embed="rId16"/>
                          <a:stretch>
                            <a:fillRect l="-568" t="-424590" r="-139773" b="-403279"/>
                          </a:stretch>
                        </a:blipFill>
                      </a:tcPr>
                    </a:tc>
                    <a:tc>
                      <a:txBody>
                        <a:bodyPr/>
                        <a:lstStyle/>
                        <a:p>
                          <a:endParaRPr lang="sv-SE"/>
                        </a:p>
                      </a:txBody>
                      <a:tcPr>
                        <a:blipFill>
                          <a:blip r:embed="rId16"/>
                          <a:stretch>
                            <a:fillRect l="-73140" t="-424590" r="-1653" b="-403279"/>
                          </a:stretch>
                        </a:blipFill>
                      </a:tcPr>
                    </a:tc>
                    <a:extLst>
                      <a:ext uri="{0D108BD9-81ED-4DB2-BD59-A6C34878D82A}">
                        <a16:rowId xmlns:a16="http://schemas.microsoft.com/office/drawing/2014/main" val="3515584895"/>
                      </a:ext>
                    </a:extLst>
                  </a:tr>
                  <a:tr h="370840">
                    <a:tc>
                      <a:txBody>
                        <a:bodyPr/>
                        <a:lstStyle/>
                        <a:p>
                          <a:endParaRPr lang="sv-SE"/>
                        </a:p>
                      </a:txBody>
                      <a:tcPr>
                        <a:blipFill>
                          <a:blip r:embed="rId16"/>
                          <a:stretch>
                            <a:fillRect l="-568" t="-533333" r="-139773" b="-310000"/>
                          </a:stretch>
                        </a:blipFill>
                      </a:tcPr>
                    </a:tc>
                    <a:tc>
                      <a:txBody>
                        <a:bodyPr/>
                        <a:lstStyle/>
                        <a:p>
                          <a:endParaRPr lang="sv-SE"/>
                        </a:p>
                      </a:txBody>
                      <a:tcPr>
                        <a:blipFill>
                          <a:blip r:embed="rId16"/>
                          <a:stretch>
                            <a:fillRect l="-73140" t="-533333" r="-1653" b="-310000"/>
                          </a:stretch>
                        </a:blipFill>
                      </a:tcPr>
                    </a:tc>
                    <a:extLst>
                      <a:ext uri="{0D108BD9-81ED-4DB2-BD59-A6C34878D82A}">
                        <a16:rowId xmlns:a16="http://schemas.microsoft.com/office/drawing/2014/main" val="3448970999"/>
                      </a:ext>
                    </a:extLst>
                  </a:tr>
                  <a:tr h="370840">
                    <a:tc>
                      <a:txBody>
                        <a:bodyPr/>
                        <a:lstStyle/>
                        <a:p>
                          <a:endParaRPr lang="sv-SE"/>
                        </a:p>
                      </a:txBody>
                      <a:tcPr>
                        <a:blipFill>
                          <a:blip r:embed="rId16"/>
                          <a:stretch>
                            <a:fillRect l="-568" t="-622951" r="-139773" b="-204918"/>
                          </a:stretch>
                        </a:blipFill>
                      </a:tcPr>
                    </a:tc>
                    <a:tc>
                      <a:txBody>
                        <a:bodyPr/>
                        <a:lstStyle/>
                        <a:p>
                          <a:endParaRPr lang="sv-SE"/>
                        </a:p>
                      </a:txBody>
                      <a:tcPr>
                        <a:blipFill>
                          <a:blip r:embed="rId16"/>
                          <a:stretch>
                            <a:fillRect l="-73140" t="-622951" r="-1653" b="-204918"/>
                          </a:stretch>
                        </a:blipFill>
                      </a:tcPr>
                    </a:tc>
                    <a:extLst>
                      <a:ext uri="{0D108BD9-81ED-4DB2-BD59-A6C34878D82A}">
                        <a16:rowId xmlns:a16="http://schemas.microsoft.com/office/drawing/2014/main" val="429617545"/>
                      </a:ext>
                    </a:extLst>
                  </a:tr>
                  <a:tr h="370840">
                    <a:tc>
                      <a:txBody>
                        <a:bodyPr/>
                        <a:lstStyle/>
                        <a:p>
                          <a:endParaRPr lang="sv-SE"/>
                        </a:p>
                      </a:txBody>
                      <a:tcPr>
                        <a:blipFill>
                          <a:blip r:embed="rId16"/>
                          <a:stretch>
                            <a:fillRect l="-568" t="-722951" r="-139773" b="-104918"/>
                          </a:stretch>
                        </a:blipFill>
                      </a:tcPr>
                    </a:tc>
                    <a:tc>
                      <a:txBody>
                        <a:bodyPr/>
                        <a:lstStyle/>
                        <a:p>
                          <a:endParaRPr lang="sv-SE"/>
                        </a:p>
                      </a:txBody>
                      <a:tcPr>
                        <a:blipFill>
                          <a:blip r:embed="rId16"/>
                          <a:stretch>
                            <a:fillRect l="-73140" t="-722951" r="-1653" b="-104918"/>
                          </a:stretch>
                        </a:blipFill>
                      </a:tcPr>
                    </a:tc>
                    <a:extLst>
                      <a:ext uri="{0D108BD9-81ED-4DB2-BD59-A6C34878D82A}">
                        <a16:rowId xmlns:a16="http://schemas.microsoft.com/office/drawing/2014/main" val="2835143844"/>
                      </a:ext>
                    </a:extLst>
                  </a:tr>
                  <a:tr h="370840">
                    <a:tc>
                      <a:txBody>
                        <a:bodyPr/>
                        <a:lstStyle/>
                        <a:p>
                          <a:endParaRPr lang="sv-SE"/>
                        </a:p>
                      </a:txBody>
                      <a:tcPr>
                        <a:blipFill>
                          <a:blip r:embed="rId16"/>
                          <a:stretch>
                            <a:fillRect l="-568" t="-822951" r="-139773" b="-4918"/>
                          </a:stretch>
                        </a:blipFill>
                      </a:tcPr>
                    </a:tc>
                    <a:tc>
                      <a:txBody>
                        <a:bodyPr/>
                        <a:lstStyle/>
                        <a:p>
                          <a:endParaRPr lang="sv-SE"/>
                        </a:p>
                      </a:txBody>
                      <a:tcPr>
                        <a:blipFill>
                          <a:blip r:embed="rId16"/>
                          <a:stretch>
                            <a:fillRect l="-73140" t="-822951" r="-1653" b="-4918"/>
                          </a:stretch>
                        </a:blipFill>
                      </a:tcPr>
                    </a:tc>
                    <a:extLst>
                      <a:ext uri="{0D108BD9-81ED-4DB2-BD59-A6C34878D82A}">
                        <a16:rowId xmlns:a16="http://schemas.microsoft.com/office/drawing/2014/main" val="102968612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34" name="Table 1033">
                <a:extLst>
                  <a:ext uri="{FF2B5EF4-FFF2-40B4-BE49-F238E27FC236}">
                    <a16:creationId xmlns:a16="http://schemas.microsoft.com/office/drawing/2014/main" id="{3BFEB01D-EC12-DCD2-2587-82A9C8BA2254}"/>
                  </a:ext>
                </a:extLst>
              </p:cNvPr>
              <p:cNvGraphicFramePr>
                <a:graphicFrameLocks noGrp="1"/>
              </p:cNvGraphicFramePr>
              <p:nvPr/>
            </p:nvGraphicFramePr>
            <p:xfrm>
              <a:off x="9177024" y="4842906"/>
              <a:ext cx="2541830" cy="1654128"/>
            </p:xfrm>
            <a:graphic>
              <a:graphicData uri="http://schemas.openxmlformats.org/drawingml/2006/table">
                <a:tbl>
                  <a:tblPr firstRow="1" bandRow="1">
                    <a:tableStyleId>{5C22544A-7EE6-4342-B048-85BDC9FD1C3A}</a:tableStyleId>
                  </a:tblPr>
                  <a:tblGrid>
                    <a:gridCol w="1138402">
                      <a:extLst>
                        <a:ext uri="{9D8B030D-6E8A-4147-A177-3AD203B41FA5}">
                          <a16:colId xmlns:a16="http://schemas.microsoft.com/office/drawing/2014/main" val="1441831067"/>
                        </a:ext>
                      </a:extLst>
                    </a:gridCol>
                    <a:gridCol w="1403428">
                      <a:extLst>
                        <a:ext uri="{9D8B030D-6E8A-4147-A177-3AD203B41FA5}">
                          <a16:colId xmlns:a16="http://schemas.microsoft.com/office/drawing/2014/main" val="3590361050"/>
                        </a:ext>
                      </a:extLst>
                    </a:gridCol>
                  </a:tblGrid>
                  <a:tr h="455248">
                    <a:tc>
                      <a:txBody>
                        <a:bodyPr/>
                        <a:lstStyle/>
                        <a:p>
                          <a:pPr algn="ctr"/>
                          <a:r>
                            <a:rPr lang="en-US" sz="1100" dirty="0"/>
                            <a:t>Carrier</a:t>
                          </a:r>
                        </a:p>
                        <a:p>
                          <a:pPr algn="ctr"/>
                          <a:r>
                            <a:rPr lang="en-US" sz="1100" dirty="0"/>
                            <a:t> Phases</a:t>
                          </a:r>
                          <a:endParaRPr lang="sv-SE" sz="1100" dirty="0"/>
                        </a:p>
                      </a:txBody>
                      <a:tcPr/>
                    </a:tc>
                    <a:tc>
                      <a:txBody>
                        <a:bodyPr/>
                        <a:lstStyle/>
                        <a:p>
                          <a:pPr algn="ctr"/>
                          <a:r>
                            <a:rPr lang="en-US" sz="1200" dirty="0"/>
                            <a:t>Value</a:t>
                          </a:r>
                          <a:endParaRPr lang="sv-SE" sz="1200" dirty="0"/>
                        </a:p>
                      </a:txBody>
                      <a:tcPr/>
                    </a:tc>
                    <a:extLst>
                      <a:ext uri="{0D108BD9-81ED-4DB2-BD59-A6C34878D82A}">
                        <a16:rowId xmlns:a16="http://schemas.microsoft.com/office/drawing/2014/main" val="166653369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𝜃</m:t>
                                    </m:r>
                                  </m:e>
                                  <m:sub>
                                    <m:r>
                                      <a:rPr lang="en-US" sz="1200" b="0" i="1" smtClean="0">
                                        <a:latin typeface="Cambria Math" panose="02040503050406030204" pitchFamily="18" charset="0"/>
                                      </a:rPr>
                                      <m:t>𝑐𝐴</m:t>
                                    </m:r>
                                  </m:sub>
                                </m:sSub>
                              </m:oMath>
                            </m:oMathPara>
                          </a14:m>
                          <a:endParaRPr lang="sv-SE" sz="12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180 (</m:t>
                                    </m:r>
                                    <m:r>
                                      <a:rPr lang="en-US" sz="1200" b="0" i="1" smtClean="0">
                                        <a:latin typeface="Cambria Math" panose="02040503050406030204" pitchFamily="18" charset="0"/>
                                      </a:rPr>
                                      <m:t>𝐷</m:t>
                                    </m:r>
                                  </m:e>
                                  <m:sub>
                                    <m:r>
                                      <a:rPr lang="en-US" sz="1200" b="0" i="1" smtClean="0">
                                        <a:latin typeface="Cambria Math" panose="02040503050406030204" pitchFamily="18" charset="0"/>
                                      </a:rPr>
                                      <m:t>𝐴</m:t>
                                    </m:r>
                                  </m:sub>
                                </m:sSub>
                                <m:r>
                                  <a:rPr lang="en-US" sz="1200" b="0" i="1" smtClean="0">
                                    <a:latin typeface="Cambria Math" panose="02040503050406030204" pitchFamily="18" charset="0"/>
                                  </a:rPr>
                                  <m:t>−1)</m:t>
                                </m:r>
                              </m:oMath>
                            </m:oMathPara>
                          </a14:m>
                          <a:endParaRPr lang="sv-SE" sz="1200" dirty="0"/>
                        </a:p>
                      </a:txBody>
                      <a:tcPr/>
                    </a:tc>
                    <a:extLst>
                      <a:ext uri="{0D108BD9-81ED-4DB2-BD59-A6C34878D82A}">
                        <a16:rowId xmlns:a16="http://schemas.microsoft.com/office/drawing/2014/main" val="245402942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𝜃</m:t>
                                    </m:r>
                                  </m:e>
                                  <m:sub>
                                    <m:r>
                                      <a:rPr lang="en-US" sz="1200" b="0" i="1" smtClean="0">
                                        <a:latin typeface="Cambria Math" panose="02040503050406030204" pitchFamily="18" charset="0"/>
                                      </a:rPr>
                                      <m:t>𝑐𝐵</m:t>
                                    </m:r>
                                  </m:sub>
                                </m:sSub>
                              </m:oMath>
                            </m:oMathPara>
                          </a14:m>
                          <a:endParaRPr lang="sv-SE" sz="12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180 (</m:t>
                                    </m:r>
                                    <m:r>
                                      <a:rPr lang="en-US" sz="1200" b="0" i="1" smtClean="0">
                                        <a:latin typeface="Cambria Math" panose="02040503050406030204" pitchFamily="18" charset="0"/>
                                      </a:rPr>
                                      <m:t>𝐷</m:t>
                                    </m:r>
                                  </m:e>
                                  <m:sub>
                                    <m:r>
                                      <a:rPr lang="en-US" sz="1200" b="0" i="1" smtClean="0">
                                        <a:latin typeface="Cambria Math" panose="02040503050406030204" pitchFamily="18" charset="0"/>
                                      </a:rPr>
                                      <m:t>𝐵</m:t>
                                    </m:r>
                                  </m:sub>
                                </m:sSub>
                                <m:r>
                                  <a:rPr lang="en-US" sz="1200" b="0" i="1" smtClean="0">
                                    <a:latin typeface="Cambria Math" panose="02040503050406030204" pitchFamily="18" charset="0"/>
                                  </a:rPr>
                                  <m:t>−1)</m:t>
                                </m:r>
                              </m:oMath>
                            </m:oMathPara>
                          </a14:m>
                          <a:endParaRPr lang="sv-SE" sz="1200" dirty="0"/>
                        </a:p>
                      </a:txBody>
                      <a:tcPr/>
                    </a:tc>
                    <a:extLst>
                      <a:ext uri="{0D108BD9-81ED-4DB2-BD59-A6C34878D82A}">
                        <a16:rowId xmlns:a16="http://schemas.microsoft.com/office/drawing/2014/main" val="776071168"/>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𝜃</m:t>
                                    </m:r>
                                  </m:e>
                                  <m:sub>
                                    <m:r>
                                      <a:rPr lang="en-US" sz="1200" b="0" i="1" smtClean="0">
                                        <a:latin typeface="Cambria Math" panose="02040503050406030204" pitchFamily="18" charset="0"/>
                                      </a:rPr>
                                      <m:t>𝑐𝐶</m:t>
                                    </m:r>
                                  </m:sub>
                                </m:sSub>
                              </m:oMath>
                            </m:oMathPara>
                          </a14:m>
                          <a:endParaRPr lang="sv-SE" sz="1200" dirty="0"/>
                        </a:p>
                      </a:txBody>
                      <a:tcPr/>
                    </a:tc>
                    <a:tc>
                      <a:txBody>
                        <a:bodyPr/>
                        <a:lstStyle/>
                        <a:p>
                          <a:pPr algn="ct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180 (</m:t>
                                  </m:r>
                                  <m:r>
                                    <a:rPr lang="en-US" sz="1200" b="0" i="1" smtClean="0">
                                      <a:latin typeface="Cambria Math" panose="02040503050406030204" pitchFamily="18" charset="0"/>
                                    </a:rPr>
                                    <m:t>𝐷</m:t>
                                  </m:r>
                                </m:e>
                                <m:sub>
                                  <m:r>
                                    <a:rPr lang="en-US" sz="1200" b="0" i="1" smtClean="0">
                                      <a:latin typeface="Cambria Math" panose="02040503050406030204" pitchFamily="18" charset="0"/>
                                    </a:rPr>
                                    <m:t>𝐶</m:t>
                                  </m:r>
                                </m:sub>
                              </m:sSub>
                              <m:r>
                                <a:rPr lang="en-US" sz="1200" b="0" i="1" smtClean="0">
                                  <a:latin typeface="Cambria Math" panose="02040503050406030204" pitchFamily="18" charset="0"/>
                                </a:rPr>
                                <m:t>−1)</m:t>
                              </m:r>
                            </m:oMath>
                          </a14:m>
                          <a:r>
                            <a:rPr lang="sv-SE" sz="1200" dirty="0"/>
                            <a:t>- 360(</a:t>
                          </a:r>
                          <a:r>
                            <a:rPr lang="sv-SE" sz="1200" dirty="0" err="1"/>
                            <a:t>Dc</a:t>
                          </a:r>
                          <a:r>
                            <a:rPr lang="sv-SE" sz="1200"/>
                            <a:t> -</a:t>
                          </a:r>
                          <a:r>
                            <a:rPr lang="sv-SE" sz="1200" dirty="0"/>
                            <a:t>Da)</a:t>
                          </a:r>
                        </a:p>
                      </a:txBody>
                      <a:tcPr/>
                    </a:tc>
                    <a:extLst>
                      <a:ext uri="{0D108BD9-81ED-4DB2-BD59-A6C34878D82A}">
                        <a16:rowId xmlns:a16="http://schemas.microsoft.com/office/drawing/2014/main" val="1642477553"/>
                      </a:ext>
                    </a:extLst>
                  </a:tr>
                </a:tbl>
              </a:graphicData>
            </a:graphic>
          </p:graphicFrame>
        </mc:Choice>
        <mc:Fallback xmlns="">
          <p:graphicFrame>
            <p:nvGraphicFramePr>
              <p:cNvPr id="1034" name="Table 1033">
                <a:extLst>
                  <a:ext uri="{FF2B5EF4-FFF2-40B4-BE49-F238E27FC236}">
                    <a16:creationId xmlns:a16="http://schemas.microsoft.com/office/drawing/2014/main" id="{8A26E369-5A5F-163D-AB26-6FA0F1D1F8EF}"/>
                  </a:ext>
                </a:extLst>
              </p:cNvPr>
              <p:cNvGraphicFramePr>
                <a:graphicFrameLocks noGrp="1"/>
              </p:cNvGraphicFramePr>
              <p:nvPr>
                <p:extLst>
                  <p:ext uri="{D42A27DB-BD31-4B8C-83A1-F6EECF244321}">
                    <p14:modId xmlns:p14="http://schemas.microsoft.com/office/powerpoint/2010/main" val="693299023"/>
                  </p:ext>
                </p:extLst>
              </p:nvPr>
            </p:nvGraphicFramePr>
            <p:xfrm>
              <a:off x="9177024" y="4842906"/>
              <a:ext cx="2541830" cy="1654128"/>
            </p:xfrm>
            <a:graphic>
              <a:graphicData uri="http://schemas.openxmlformats.org/drawingml/2006/table">
                <a:tbl>
                  <a:tblPr firstRow="1" bandRow="1">
                    <a:tableStyleId>{5C22544A-7EE6-4342-B048-85BDC9FD1C3A}</a:tableStyleId>
                  </a:tblPr>
                  <a:tblGrid>
                    <a:gridCol w="1138402">
                      <a:extLst>
                        <a:ext uri="{9D8B030D-6E8A-4147-A177-3AD203B41FA5}">
                          <a16:colId xmlns:a16="http://schemas.microsoft.com/office/drawing/2014/main" val="1441831067"/>
                        </a:ext>
                      </a:extLst>
                    </a:gridCol>
                    <a:gridCol w="1403428">
                      <a:extLst>
                        <a:ext uri="{9D8B030D-6E8A-4147-A177-3AD203B41FA5}">
                          <a16:colId xmlns:a16="http://schemas.microsoft.com/office/drawing/2014/main" val="3590361050"/>
                        </a:ext>
                      </a:extLst>
                    </a:gridCol>
                  </a:tblGrid>
                  <a:tr h="455248">
                    <a:tc>
                      <a:txBody>
                        <a:bodyPr/>
                        <a:lstStyle/>
                        <a:p>
                          <a:pPr algn="ctr"/>
                          <a:r>
                            <a:rPr lang="en-US" sz="1100" dirty="0"/>
                            <a:t>Carrier</a:t>
                          </a:r>
                        </a:p>
                        <a:p>
                          <a:pPr algn="ctr"/>
                          <a:r>
                            <a:rPr lang="en-US" sz="1100" dirty="0"/>
                            <a:t> Phases</a:t>
                          </a:r>
                          <a:endParaRPr lang="sv-SE" sz="1100" dirty="0"/>
                        </a:p>
                      </a:txBody>
                      <a:tcPr/>
                    </a:tc>
                    <a:tc>
                      <a:txBody>
                        <a:bodyPr/>
                        <a:lstStyle/>
                        <a:p>
                          <a:pPr algn="ctr"/>
                          <a:r>
                            <a:rPr lang="en-US" sz="1200" dirty="0"/>
                            <a:t>Value</a:t>
                          </a:r>
                          <a:endParaRPr lang="sv-SE" sz="1200" dirty="0"/>
                        </a:p>
                      </a:txBody>
                      <a:tcPr/>
                    </a:tc>
                    <a:extLst>
                      <a:ext uri="{0D108BD9-81ED-4DB2-BD59-A6C34878D82A}">
                        <a16:rowId xmlns:a16="http://schemas.microsoft.com/office/drawing/2014/main" val="1666533691"/>
                      </a:ext>
                    </a:extLst>
                  </a:tr>
                  <a:tr h="370840">
                    <a:tc>
                      <a:txBody>
                        <a:bodyPr/>
                        <a:lstStyle/>
                        <a:p>
                          <a:endParaRPr lang="sv-SE"/>
                        </a:p>
                      </a:txBody>
                      <a:tcPr>
                        <a:blipFill>
                          <a:blip r:embed="rId17"/>
                          <a:stretch>
                            <a:fillRect l="-535" t="-124590" r="-125668" b="-236066"/>
                          </a:stretch>
                        </a:blipFill>
                      </a:tcPr>
                    </a:tc>
                    <a:tc>
                      <a:txBody>
                        <a:bodyPr/>
                        <a:lstStyle/>
                        <a:p>
                          <a:endParaRPr lang="sv-SE"/>
                        </a:p>
                      </a:txBody>
                      <a:tcPr>
                        <a:blipFill>
                          <a:blip r:embed="rId17"/>
                          <a:stretch>
                            <a:fillRect l="-81385" t="-124590" r="-1732" b="-236066"/>
                          </a:stretch>
                        </a:blipFill>
                      </a:tcPr>
                    </a:tc>
                    <a:extLst>
                      <a:ext uri="{0D108BD9-81ED-4DB2-BD59-A6C34878D82A}">
                        <a16:rowId xmlns:a16="http://schemas.microsoft.com/office/drawing/2014/main" val="2454029421"/>
                      </a:ext>
                    </a:extLst>
                  </a:tr>
                  <a:tr h="370840">
                    <a:tc>
                      <a:txBody>
                        <a:bodyPr/>
                        <a:lstStyle/>
                        <a:p>
                          <a:endParaRPr lang="sv-SE"/>
                        </a:p>
                      </a:txBody>
                      <a:tcPr>
                        <a:blipFill>
                          <a:blip r:embed="rId17"/>
                          <a:stretch>
                            <a:fillRect l="-535" t="-224590" r="-125668" b="-136066"/>
                          </a:stretch>
                        </a:blipFill>
                      </a:tcPr>
                    </a:tc>
                    <a:tc>
                      <a:txBody>
                        <a:bodyPr/>
                        <a:lstStyle/>
                        <a:p>
                          <a:endParaRPr lang="sv-SE"/>
                        </a:p>
                      </a:txBody>
                      <a:tcPr>
                        <a:blipFill>
                          <a:blip r:embed="rId17"/>
                          <a:stretch>
                            <a:fillRect l="-81385" t="-224590" r="-1732" b="-136066"/>
                          </a:stretch>
                        </a:blipFill>
                      </a:tcPr>
                    </a:tc>
                    <a:extLst>
                      <a:ext uri="{0D108BD9-81ED-4DB2-BD59-A6C34878D82A}">
                        <a16:rowId xmlns:a16="http://schemas.microsoft.com/office/drawing/2014/main" val="776071168"/>
                      </a:ext>
                    </a:extLst>
                  </a:tr>
                  <a:tr h="457200">
                    <a:tc>
                      <a:txBody>
                        <a:bodyPr/>
                        <a:lstStyle/>
                        <a:p>
                          <a:endParaRPr lang="sv-SE"/>
                        </a:p>
                      </a:txBody>
                      <a:tcPr>
                        <a:blipFill>
                          <a:blip r:embed="rId17"/>
                          <a:stretch>
                            <a:fillRect l="-535" t="-264000" r="-125668" b="-10667"/>
                          </a:stretch>
                        </a:blipFill>
                      </a:tcPr>
                    </a:tc>
                    <a:tc>
                      <a:txBody>
                        <a:bodyPr/>
                        <a:lstStyle/>
                        <a:p>
                          <a:endParaRPr lang="sv-SE"/>
                        </a:p>
                      </a:txBody>
                      <a:tcPr>
                        <a:blipFill>
                          <a:blip r:embed="rId17"/>
                          <a:stretch>
                            <a:fillRect l="-81385" t="-264000" r="-1732" b="-10667"/>
                          </a:stretch>
                        </a:blipFill>
                      </a:tcPr>
                    </a:tc>
                    <a:extLst>
                      <a:ext uri="{0D108BD9-81ED-4DB2-BD59-A6C34878D82A}">
                        <a16:rowId xmlns:a16="http://schemas.microsoft.com/office/drawing/2014/main" val="1642477553"/>
                      </a:ext>
                    </a:extLst>
                  </a:tr>
                </a:tbl>
              </a:graphicData>
            </a:graphic>
          </p:graphicFrame>
        </mc:Fallback>
      </mc:AlternateContent>
    </p:spTree>
    <p:extLst>
      <p:ext uri="{BB962C8B-B14F-4D97-AF65-F5344CB8AC3E}">
        <p14:creationId xmlns:p14="http://schemas.microsoft.com/office/powerpoint/2010/main" val="1653507246"/>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11402</TotalTime>
  <Words>783</Words>
  <Application>Microsoft Office PowerPoint</Application>
  <PresentationFormat>Widescreen</PresentationFormat>
  <Paragraphs>185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Arial</vt:lpstr>
      <vt:lpstr>Figtree</vt:lpstr>
      <vt:lpstr>Cambria Math</vt:lpstr>
      <vt:lpstr>Georgia</vt:lpstr>
      <vt:lpstr>Office-tema</vt:lpstr>
      <vt:lpstr>DC-Link Capacitor RMS Current Minimization</vt:lpstr>
      <vt:lpstr>PROBLEM     Uncontrolled switching → excessive capacitor stress </vt:lpstr>
      <vt:lpstr>Analytical Foundation    RMS² budget decompositions </vt:lpstr>
      <vt:lpstr>Fraction of Times    </vt:lpstr>
      <vt:lpstr>Algorithm</vt:lpstr>
      <vt:lpstr>Lone = A </vt:lpstr>
      <vt:lpstr>Lone =A - Case 1</vt:lpstr>
      <vt:lpstr>Lone =A - Case 1</vt:lpstr>
      <vt:lpstr>PowerPoint Presentation</vt:lpstr>
      <vt:lpstr>Algorithm</vt:lpstr>
      <vt:lpstr>Lone =A</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192</cp:revision>
  <dcterms:created xsi:type="dcterms:W3CDTF">2024-01-10T13:17:29Z</dcterms:created>
  <dcterms:modified xsi:type="dcterms:W3CDTF">2026-03-06T11:02:51Z</dcterms:modified>
</cp:coreProperties>
</file>