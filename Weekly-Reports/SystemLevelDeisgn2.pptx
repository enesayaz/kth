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63" r:id="rId13"/>
    <p:sldId id="265" r:id="rId14"/>
    <p:sldId id="258" r:id="rId1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2023-11-27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9170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2023-11-27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3317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2023-11-27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1715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2023-11-27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68270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2023-11-27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6257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2023-11-27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34559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2023-11-27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452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2023-11-27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1327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2023-11-27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21201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2023-11-27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92924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52B89-932C-4107-8421-46654889DDF6}" type="datetimeFigureOut">
              <a:rPr lang="sv-SE" smtClean="0"/>
              <a:t>2023-11-27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03579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52B89-932C-4107-8421-46654889DDF6}" type="datetimeFigureOut">
              <a:rPr lang="sv-SE" smtClean="0"/>
              <a:t>2023-11-27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AA261-B686-4CD3-BFBF-26EDD142502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183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88895" y="81003"/>
            <a:ext cx="4934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Torque-Speed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haracteristics in Electric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rucks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1552" y="450335"/>
            <a:ext cx="805454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Motoring Mode: </a:t>
            </a:r>
          </a:p>
          <a:p>
            <a:endParaRPr lang="en-US" b="1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Starting/Initial Acceleration (High Torque, Lower Speed):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nitiate motion from a standstill.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ffective acceleration and overcoming inertia.</a:t>
            </a:r>
          </a:p>
          <a:p>
            <a:pPr lvl="1"/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 Operation (Moderate Torque, Variable Speed):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delivers enough torque to maintain speed and handle typical loads efficiently.</a:t>
            </a:r>
          </a:p>
          <a:p>
            <a:pPr lvl="1">
              <a:buFont typeface="+mj-lt"/>
              <a:buAutoNum type="arabicPeriod"/>
            </a:pPr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Hill Climbing/Heavy Load Conditions (High Torque, Low Speed):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higher torque to counteract gravity or the added weight.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 might decrease as torque increases to maintain power.</a:t>
            </a:r>
          </a:p>
          <a:p>
            <a:pPr lvl="1">
              <a:buFont typeface="+mj-lt"/>
              <a:buAutoNum type="arabicPeriod"/>
            </a:pPr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Cruising/Constant Speed (Balanced Torque and Speed):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steady-state driving on flat roads or at a constant speed,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ptimizing energy efficiency.</a:t>
            </a:r>
          </a:p>
          <a:p>
            <a:pPr lvl="1"/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 Speed Capability (Lower Torque, High Speed):</a:t>
            </a:r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torque to achieve and sustain higher velocities.</a:t>
            </a:r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v-SE" b="1" dirty="0">
              <a:solidFill>
                <a:srgbClr val="002060"/>
              </a:solidFill>
            </a:endParaRPr>
          </a:p>
          <a:p>
            <a:r>
              <a:rPr lang="sv-SE" b="1" dirty="0" smtClean="0">
                <a:solidFill>
                  <a:srgbClr val="002060"/>
                </a:solidFill>
              </a:rPr>
              <a:t>Regenerative </a:t>
            </a:r>
            <a:r>
              <a:rPr lang="sv-SE" b="1" dirty="0" err="1" smtClean="0">
                <a:solidFill>
                  <a:srgbClr val="002060"/>
                </a:solidFill>
              </a:rPr>
              <a:t>Braking</a:t>
            </a:r>
            <a:r>
              <a:rPr lang="sv-SE" b="1" dirty="0" smtClean="0">
                <a:solidFill>
                  <a:srgbClr val="002060"/>
                </a:solidFill>
              </a:rPr>
              <a:t>/</a:t>
            </a:r>
            <a:r>
              <a:rPr lang="sv-SE" b="1" dirty="0" err="1" smtClean="0">
                <a:solidFill>
                  <a:srgbClr val="002060"/>
                </a:solidFill>
              </a:rPr>
              <a:t>Deaceleration</a:t>
            </a:r>
            <a:r>
              <a:rPr lang="sv-SE" b="1" dirty="0" smtClean="0">
                <a:solidFill>
                  <a:srgbClr val="002060"/>
                </a:solidFill>
              </a:rPr>
              <a:t>?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062" y="3419420"/>
            <a:ext cx="4391206" cy="31409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01097" y="645054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*[2]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5" y="604996"/>
            <a:ext cx="3810729" cy="26026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501097" y="305497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*[1]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10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51490" y="161324"/>
            <a:ext cx="2225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Motor Specifications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9843242"/>
                  </p:ext>
                </p:extLst>
              </p:nvPr>
            </p:nvGraphicFramePr>
            <p:xfrm>
              <a:off x="1947562" y="586261"/>
              <a:ext cx="812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Motor Specifications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Active length 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𝑚𝑚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275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Outer diameter 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𝑚𝑚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Base/maximum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speed 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𝑅𝑃𝑀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2000-3000/7000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Continuous/peak (10s)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power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600/720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Continuous/peak (10s)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torque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2500 / </a:t>
                          </a:r>
                          <a:r>
                            <a:rPr lang="sv-SE" sz="1400" b="0" i="0" kern="1200" baseline="0" dirty="0" smtClean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300</a:t>
                          </a:r>
                          <a:r>
                            <a:rPr lang="sv-SE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9843242"/>
                  </p:ext>
                </p:extLst>
              </p:nvPr>
            </p:nvGraphicFramePr>
            <p:xfrm>
              <a:off x="1947562" y="586261"/>
              <a:ext cx="812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Motor Specifications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03279" r="-9334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275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203279" r="-93343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303279" r="-9334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2000-3000/7000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403279" r="-9334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600/720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503279" r="-9334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2500 / </a:t>
                          </a:r>
                          <a:r>
                            <a:rPr lang="sv-SE" sz="1400" b="0" i="0" kern="1200" baseline="0" dirty="0" smtClean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300</a:t>
                          </a:r>
                          <a:r>
                            <a:rPr lang="sv-SE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Straight Arrow Connector 2"/>
          <p:cNvCxnSpPr/>
          <p:nvPr/>
        </p:nvCxnSpPr>
        <p:spPr>
          <a:xfrm flipH="1">
            <a:off x="5928154" y="2866906"/>
            <a:ext cx="345989" cy="2038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88988" y="3126398"/>
            <a:ext cx="9224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did not apply the vehicle dynamics to find them, Scania just gave them !!!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we do not know the gear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ratio (2?),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can we change the torque and speed requirements? 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73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81021" y="85350"/>
            <a:ext cx="42569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Torque Calculatio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via Vehicle Dynamics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2751943"/>
                  </p:ext>
                </p:extLst>
              </p:nvPr>
            </p:nvGraphicFramePr>
            <p:xfrm>
              <a:off x="1964040" y="639348"/>
              <a:ext cx="8128000" cy="5694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 Dynamics</a:t>
                          </a:r>
                          <a:r>
                            <a:rPr lang="en-US" sz="1400" b="1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Coefficients and Parameters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Radius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of wheels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0.25 –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0.40 (0.3?)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front area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value might range from 8 to 12 square meters, based on the vehicle's size and design.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Aerodynamic drag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Depending on the truck's design,</a:t>
                          </a:r>
                          <a:r>
                            <a:rPr lang="en-US" sz="1400" b="0" i="0" kern="1200" baseline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could vary between 0.5 and 0.7.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Rolling resistance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𝑟𝑟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Depends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on tire type and road conditions, but </a:t>
                          </a:r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coefficient might range between 0.01 and 0.015.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mass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𝑘𝑔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Encompasses the weight of the vehicle, payload, and occupants. </a:t>
                          </a:r>
                        </a:p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Tens of thousands of kilograms.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i="0" kern="120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Coefficient</a:t>
                          </a:r>
                          <a:r>
                            <a:rPr lang="en-US" sz="1400" b="0" i="0" kern="1200" baseline="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of inertia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kern="1200" baseline="0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n-US" sz="1400" b="0" noProof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400" b="0" noProof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Includes the inertia of the wheels, drivetrain, and other rotating parts. 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9509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i="0" kern="120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Coefficient</a:t>
                          </a:r>
                          <a:r>
                            <a:rPr lang="en-US" sz="1400" b="0" i="0" kern="1200" baseline="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of friction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kern="1200" baseline="0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US" sz="1400" b="0" noProof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400" b="0" noProof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Represents the friction between the tires and the road surface. This might be around 0.7 to 1.0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04894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i="0" kern="120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Coefficient</a:t>
                          </a:r>
                          <a:r>
                            <a:rPr lang="en-US" sz="1400" b="0" i="0" kern="1200" baseline="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of suspension stiffness 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kern="1200" baseline="0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US" sz="1400" b="0" noProof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400" b="0" noProof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coefficient varies based on the suspension design 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3979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Maximum vehicle speed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𝑘𝑚</m:t>
                              </m:r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 </m:t>
                              </m:r>
                              <m:sSup>
                                <m:sSup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120 ?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7458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Maximum NEDC acceleration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kern="12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m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 </m:t>
                              </m:r>
                              <m:sSup>
                                <m:sSup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r>
                            <a:rPr lang="sv-SE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1.043 ?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2531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gear ratio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Typically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&gt;</a:t>
                          </a:r>
                          <a:r>
                            <a:rPr lang="en-US" sz="1400" b="0" i="0" kern="1200" baseline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4:1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11461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2751943"/>
                  </p:ext>
                </p:extLst>
              </p:nvPr>
            </p:nvGraphicFramePr>
            <p:xfrm>
              <a:off x="1964040" y="639348"/>
              <a:ext cx="8128000" cy="5694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 Dynamics</a:t>
                          </a:r>
                          <a:r>
                            <a:rPr lang="en-US" sz="1400" b="1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Coefficients and Parameters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01639" r="-93343" b="-13377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0.25 –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0.40 (0.3?)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44706" r="-93343" b="-8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value might range from 8 to 12 square meters, based on the vehicle's size and design.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244706" r="-93343" b="-7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Depending on the truck's design,</a:t>
                          </a:r>
                          <a:r>
                            <a:rPr lang="en-US" sz="1400" b="0" i="0" kern="1200" baseline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could vary between 0.5 and 0.7.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344706" r="-93343" b="-6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Depends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on tire type and road conditions, but </a:t>
                          </a:r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coefficient might range between 0.01 and 0.015.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312397" r="-93343" b="-36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Encompasses the weight of the vehicle, payload, and occupants. </a:t>
                          </a:r>
                        </a:p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Tens of thousands of kilograms.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587059" r="-93343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Includes the inertia of the wheels, drivetrain, and other rotating parts. 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950920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687059" r="-93343" b="-3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Represents the friction between the tires and the road surface. This might be around 0.7 to 1.0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048943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787059" r="-93343" b="-2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coefficient varies based on the suspension design 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3979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236066" r="-9334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120 ?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7458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336066" r="-9334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1.043 ?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2531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436066" r="-9334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Typically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&gt;</a:t>
                          </a:r>
                          <a:r>
                            <a:rPr lang="en-US" sz="1400" b="0" i="0" kern="1200" baseline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4:1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11461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5900792" y="6334028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*[2]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24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9324" y="387348"/>
            <a:ext cx="99636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 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Tractive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Force= Rolling 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Aerodynamic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Drag + Gradient Force + Acceleration Force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54959" y="1093573"/>
                <a:ext cx="2912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𝑇𝑇𝐹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959" y="1093573"/>
                <a:ext cx="2912271" cy="276999"/>
              </a:xfrm>
              <a:prstGeom prst="rect">
                <a:avLst/>
              </a:prstGeom>
              <a:blipFill>
                <a:blip r:embed="rId2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29105" y="1730632"/>
                <a:ext cx="18328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1730632"/>
                <a:ext cx="1832874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29105" y="2229022"/>
                <a:ext cx="2432012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2229022"/>
                <a:ext cx="2432012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024789" y="2294219"/>
                <a:ext cx="17808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sv-SE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density</a:t>
                </a:r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air</a:t>
                </a:r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789" y="2294219"/>
                <a:ext cx="1780872" cy="369332"/>
              </a:xfrm>
              <a:prstGeom prst="rect">
                <a:avLst/>
              </a:prstGeom>
              <a:blipFill>
                <a:blip r:embed="rId5"/>
                <a:stretch>
                  <a:fillRect t="-8197" r="-2389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29105" y="3054866"/>
                <a:ext cx="20778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3054866"/>
                <a:ext cx="2077812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269059" y="2923058"/>
                <a:ext cx="36237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sv-SE" b="1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uphill</a:t>
                </a:r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:r>
                  <a:rPr lang="sv-SE" b="1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downhill</a:t>
                </a:r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b="1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slopes</a:t>
                </a:r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angle</a:t>
                </a:r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sv-S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059" y="2923058"/>
                <a:ext cx="3623749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29105" y="3807044"/>
                <a:ext cx="12412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3807044"/>
                <a:ext cx="1241237" cy="369332"/>
              </a:xfrm>
              <a:prstGeom prst="rect">
                <a:avLst/>
              </a:prstGeom>
              <a:blipFill>
                <a:blip r:embed="rId8"/>
                <a:stretch>
                  <a:fillRect r="-1674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785708" y="5616832"/>
                <a:ext cx="1650772" cy="566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𝑇𝑇𝐹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708" y="5616832"/>
                <a:ext cx="1650772" cy="5666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2862" y="1860974"/>
            <a:ext cx="4492196" cy="275711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194767" y="461808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*[3]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96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27311" y="80787"/>
            <a:ext cx="2623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Configurations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6054" y="611660"/>
            <a:ext cx="102066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motor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Coupled with front or rear axle via a differential.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gear ratio, quite high, is used to reduce motor torque, resulting in lower motor size.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electrical motor needs a wide operating speed range.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motor should be capable of producing a higher torque, for a short time, in case of an overtaking or a starting from a high ground slope angle.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have motor specifications for continuous (rated) and temporary (peak) torque.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282513" y="2826099"/>
            <a:ext cx="6179" cy="399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65420" y="3225114"/>
            <a:ext cx="8717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a wide range of speeds, PMSM or EESM is suitable.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PMSM  has higher efficiency and is less complex, but demagnetization risk at the starting torque.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EESM has high torque at starting, but rotor cooling is problematic and efficiency is lower. 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83508" y="5524720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*[2]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581" y="4598891"/>
            <a:ext cx="3105073" cy="222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5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27311" y="80787"/>
            <a:ext cx="2623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Configurations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6054" y="611660"/>
            <a:ext cx="1020668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 motor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*[6]</a:t>
            </a:r>
          </a:p>
          <a:p>
            <a:endParaRPr lang="en-US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is practically impossible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whole torque-speed profile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especially when partial loads and overload conditions are considered in the problem formulation. (with inclusion of drive cycle)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propulsion machines, with complimentary torque-speed characteristics, can be coupled to the same shaft via a torque/speed coupler that could be deployed in the EV powertrain.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potential merit of using two propulsion machines is the improved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powertrain efficiency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effective load power split.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Another advantage of using two complementary propulsion machines, instead of a single large machine, is that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under the hood can be effectively utilized.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418437" y="3812299"/>
            <a:ext cx="6179" cy="399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877329" y="4318843"/>
            <a:ext cx="1037349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400" b="1" i="0" dirty="0" smtClean="0">
                <a:effectLst/>
                <a:latin typeface="Söhne"/>
              </a:rPr>
              <a:t>Permanent Magnet Synchronous Motor (PMSM) for High-Speed Performance:</a:t>
            </a:r>
            <a:endParaRPr lang="en-US" sz="1400" b="0" i="0" dirty="0" smtClean="0">
              <a:effectLst/>
              <a:latin typeface="Söhne"/>
            </a:endParaRPr>
          </a:p>
          <a:p>
            <a:pPr lvl="1"/>
            <a:r>
              <a:rPr lang="en-US" sz="1400" b="1" i="0" dirty="0" smtClean="0">
                <a:effectLst/>
                <a:latin typeface="Söhne"/>
              </a:rPr>
              <a:t>Considerations:</a:t>
            </a:r>
            <a:r>
              <a:rPr lang="en-US" sz="1400" b="0" i="0" dirty="0" smtClean="0">
                <a:effectLst/>
                <a:latin typeface="Söhne"/>
              </a:rPr>
              <a:t> These motors might face demagnetization issues due to high currents at low speeds or during high torque demands. Therefore, using them for high-speed operations where torque requirements are lower can mitigate this issue.</a:t>
            </a:r>
          </a:p>
          <a:p>
            <a:pPr>
              <a:buFont typeface="+mj-lt"/>
              <a:buAutoNum type="arabicPeriod"/>
            </a:pPr>
            <a:r>
              <a:rPr lang="en-US" sz="1400" b="1" i="0" dirty="0" smtClean="0">
                <a:effectLst/>
                <a:latin typeface="Söhne"/>
              </a:rPr>
              <a:t>Induction Motor for High Torque at Low Speeds: </a:t>
            </a:r>
            <a:endParaRPr lang="en-US" sz="1400" b="0" i="0" dirty="0" smtClean="0">
              <a:effectLst/>
              <a:latin typeface="Söhne"/>
            </a:endParaRPr>
          </a:p>
          <a:p>
            <a:pPr lvl="1"/>
            <a:r>
              <a:rPr lang="en-US" sz="1400" b="1" i="0" dirty="0" smtClean="0">
                <a:effectLst/>
                <a:latin typeface="Söhne"/>
              </a:rPr>
              <a:t>Considerations:</a:t>
            </a:r>
            <a:r>
              <a:rPr lang="en-US" sz="1400" b="0" i="0" dirty="0" smtClean="0">
                <a:effectLst/>
                <a:latin typeface="Söhne"/>
              </a:rPr>
              <a:t> While they might lack the high-speed capabilities of PMSM motors, their strong torque output at lower speeds complements the requirements for heavy-duty trucks during start-up, inclines, and low-speed maneuvers.</a:t>
            </a:r>
          </a:p>
          <a:p>
            <a:pPr>
              <a:buFont typeface="+mj-lt"/>
              <a:buAutoNum type="arabicPeriod"/>
            </a:pPr>
            <a:r>
              <a:rPr lang="en-US" sz="1400" b="1" i="0" dirty="0" smtClean="0">
                <a:effectLst/>
                <a:latin typeface="Söhne"/>
              </a:rPr>
              <a:t>Electrically Excited Synchronous Motor (EESMs)  :</a:t>
            </a:r>
          </a:p>
          <a:p>
            <a:pPr lvl="1"/>
            <a:r>
              <a:rPr lang="en-US" sz="1400" b="1" i="0" dirty="0" smtClean="0">
                <a:effectLst/>
                <a:latin typeface="Söhne"/>
              </a:rPr>
              <a:t>Considerations:</a:t>
            </a:r>
            <a:r>
              <a:rPr lang="en-US" sz="1400" b="0" i="0" dirty="0" smtClean="0">
                <a:effectLst/>
                <a:latin typeface="Söhne"/>
              </a:rPr>
              <a:t> T</a:t>
            </a:r>
            <a:r>
              <a:rPr lang="en-US" sz="1400" dirty="0" smtClean="0"/>
              <a:t>hese </a:t>
            </a:r>
            <a:r>
              <a:rPr lang="en-US" sz="1400" dirty="0"/>
              <a:t>motors can provide high torque output, particularly during starting and low-speed operations, making them suitable for heavy-duty applications that demand strong torque at lower speeds.</a:t>
            </a:r>
            <a:endParaRPr lang="en-US" sz="1400" b="0" i="0" dirty="0"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39352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47165" y="291069"/>
            <a:ext cx="6094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Dual-Motor </a:t>
            </a:r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Coupling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 </a:t>
            </a:r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Powertrain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sv-SE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840011" y="29106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*[7]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7860" y="887797"/>
            <a:ext cx="55523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lanetary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gear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speed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motors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haft-fixed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gear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motors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60" y="1844040"/>
            <a:ext cx="4259118" cy="33070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1412208"/>
            <a:ext cx="4564380" cy="39034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7860" y="5949434"/>
            <a:ext cx="106202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engaging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disengaging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clutches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setting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operate in four modes to satisfy the demands of different running conditions, thereby improving the energy utilization efficiency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05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2610" y="290728"/>
            <a:ext cx="9570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of a Dual-Motor Coupled Powertrain Energy Management Strategy for a Battery Electric Bus Based on Dynamic Programming Method</a:t>
            </a:r>
            <a:endParaRPr lang="sv-SE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095531" y="383402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*[8]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3" y="1417320"/>
            <a:ext cx="6583442" cy="34909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186" y="1417320"/>
            <a:ext cx="4509511" cy="3230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9159" y="5287417"/>
            <a:ext cx="101963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motor (M1) and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motor (M2)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coupled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a common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sv-S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1425" y="5835879"/>
            <a:ext cx="45169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M1= T= 2100N.m, base speed = 600RPM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31424" y="6215064"/>
            <a:ext cx="45169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M2= T= 900N.m, base speed = 1200RPM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47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2610" y="290728"/>
            <a:ext cx="957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Split Control Strategy for an EV Powertrain With Two Propulsion Machines</a:t>
            </a:r>
            <a:endParaRPr lang="sv-SE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66931" y="290728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*[6]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" y="934720"/>
            <a:ext cx="5884018" cy="3258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6760" y="4448382"/>
            <a:ext cx="56794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atteries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relatively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Ultra-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(UCs), on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hand,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excellent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instantaneous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charging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discharging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6760" y="5369461"/>
            <a:ext cx="55778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M1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under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M2 operates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implying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complementary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 features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propulsion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142" y="1226820"/>
            <a:ext cx="4280458" cy="537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4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2610" y="290728"/>
            <a:ext cx="957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Novel Dual-Motor Two-Speed Direct Drive Battery Electric Vehicle Drivetrain</a:t>
            </a:r>
            <a:endParaRPr lang="sv-SE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66931" y="290728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*[9]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660060"/>
            <a:ext cx="6727248" cy="3886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3196" y="4546260"/>
            <a:ext cx="479107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dirty="0" err="1"/>
              <a:t>T</a:t>
            </a:r>
            <a:r>
              <a:rPr lang="sv-SE" dirty="0" err="1" smtClean="0"/>
              <a:t>wo</a:t>
            </a:r>
            <a:r>
              <a:rPr lang="sv-SE" dirty="0" smtClean="0"/>
              <a:t> </a:t>
            </a:r>
            <a:r>
              <a:rPr lang="sv-SE" dirty="0" err="1" smtClean="0"/>
              <a:t>smaller</a:t>
            </a:r>
            <a:r>
              <a:rPr lang="sv-SE" dirty="0" smtClean="0"/>
              <a:t> motors </a:t>
            </a:r>
            <a:r>
              <a:rPr lang="sv-SE" dirty="0" err="1" smtClean="0"/>
              <a:t>with</a:t>
            </a:r>
            <a:r>
              <a:rPr lang="sv-SE" dirty="0" smtClean="0"/>
              <a:t> </a:t>
            </a:r>
            <a:r>
              <a:rPr lang="sv-SE" dirty="0" err="1" smtClean="0"/>
              <a:t>approximate</a:t>
            </a:r>
            <a:r>
              <a:rPr lang="sv-SE" dirty="0" smtClean="0"/>
              <a:t> same total output </a:t>
            </a:r>
            <a:r>
              <a:rPr lang="sv-SE" dirty="0" err="1" smtClean="0"/>
              <a:t>power</a:t>
            </a:r>
            <a:r>
              <a:rPr lang="sv-SE" dirty="0" smtClean="0"/>
              <a:t> in </a:t>
            </a:r>
            <a:r>
              <a:rPr lang="sv-SE" dirty="0" err="1" smtClean="0"/>
              <a:t>this</a:t>
            </a:r>
            <a:r>
              <a:rPr lang="sv-SE" dirty="0" smtClean="0"/>
              <a:t> paper to </a:t>
            </a:r>
            <a:r>
              <a:rPr lang="sv-SE" dirty="0" err="1" smtClean="0"/>
              <a:t>improve</a:t>
            </a:r>
            <a:r>
              <a:rPr lang="sv-SE" dirty="0" smtClean="0"/>
              <a:t> overall motor </a:t>
            </a:r>
            <a:r>
              <a:rPr lang="sv-SE" dirty="0" err="1" smtClean="0"/>
              <a:t>efficiency</a:t>
            </a:r>
            <a:r>
              <a:rPr lang="sv-SE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</a:t>
            </a:r>
            <a:r>
              <a:rPr lang="en-US" dirty="0" smtClean="0"/>
              <a:t>ermanently engaged gear pairs, rather than implicating mechanical shifting actuator, i.e. clutch or synchronizer.</a:t>
            </a:r>
            <a:endParaRPr lang="sv-SE" dirty="0" smtClean="0"/>
          </a:p>
          <a:p>
            <a:endParaRPr lang="sv-SE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4076"/>
          <a:stretch/>
        </p:blipFill>
        <p:spPr>
          <a:xfrm>
            <a:off x="6790847" y="718318"/>
            <a:ext cx="4238625" cy="312193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847" y="3589520"/>
            <a:ext cx="3992483" cy="315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2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2610" y="290728"/>
            <a:ext cx="957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Transmotor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Powertrain for High-Performance Electric Vehicle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6931" y="290728"/>
            <a:ext cx="6751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*[10]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3" y="1190624"/>
            <a:ext cx="5848710" cy="340994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38975" y="1190624"/>
            <a:ext cx="436245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determined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port (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located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the inner rotor).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produced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shafts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opposite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(action and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reaction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speed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ports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 different, so the input and output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powers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not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necessarily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85559" y="5152172"/>
            <a:ext cx="89109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maximum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 a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larger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speed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?? Hill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Climbing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6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691549" y="112343"/>
            <a:ext cx="2441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Current Types of EMs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37287" y="481675"/>
            <a:ext cx="11242588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Permanent Magnet Synchronous Motor (PMSM):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Providing high-speed capabilities, especially beneficial for cruising, maintaining higher speeds on highways, and offering good efficiency during constant-speed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Offering excellent controllability, and efficiency at higher speeds.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Facing demagnetization issues due to high currents at low speeds or during high torque demands.</a:t>
            </a:r>
          </a:p>
          <a:p>
            <a:pPr lvl="1"/>
            <a:endParaRPr lang="en-US" sz="16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Induction Motor: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Having strong torque output at lower speeds complements the requirements.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Induction motors have robust torque capabilities at low speeds, making them well-suited for heavy-load scenarios.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They might lack the high-speed capabilities of PMSM motors.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Fixed-speed nature might limit their widespread adoption without additional control systems.</a:t>
            </a:r>
          </a:p>
          <a:p>
            <a:pPr lvl="1"/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Permanent Magnet Assisted Synchronous Reluctance Motors: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designed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high torque even at low speeds, making them suitable for heavy-load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speeds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combined reluctance and permanent magnet design, might mitigate some risks of demagnetization at high currents or low speeds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availability, system complexity, and integration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US" dirty="0" smtClean="0"/>
              <a:t>.</a:t>
            </a:r>
          </a:p>
          <a:p>
            <a:pPr lvl="1"/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Wound Rotor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ynchronous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otors (WRSMs), or Electrically Excited Synchronous Motor (EESMs)  :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Allowing for external control of the rotor winding, enabling variable speed and torque control and high torque output, particularly during starting and low-speed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obustness and ability to handle harsh operating conditions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Needing brushless exciter (with WPT?) and reduced efficiency due to rotor winding (also cooling?).</a:t>
            </a:r>
          </a:p>
        </p:txBody>
      </p:sp>
    </p:spTree>
    <p:extLst>
      <p:ext uri="{BB962C8B-B14F-4D97-AF65-F5344CB8AC3E}">
        <p14:creationId xmlns:p14="http://schemas.microsoft.com/office/powerpoint/2010/main" val="382839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50592" y="217376"/>
            <a:ext cx="2074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 Types of EMs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3330" y="896551"/>
            <a:ext cx="682853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STATOR PM MACHINES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FLUX MEMORY MACHINES AND HYBRID EXCITATION MACHINES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MULTIPHASE MACHINES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GEARED MACHINES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RECONFIGURABLE WINDING MACHINES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87" y="2529833"/>
            <a:ext cx="5015059" cy="30008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930616" y="5455851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*[4]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255" y="2687594"/>
            <a:ext cx="3731506" cy="29213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27925" y="553068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*[5]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70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 smtClean="0"/>
              <a:t>[1] Design Approaches and Control Strategies for Energy-Efficient Electric Machines for Electric Vehicles—A Review</a:t>
            </a:r>
            <a:endParaRPr lang="en-US" sz="1600" dirty="0"/>
          </a:p>
          <a:p>
            <a:r>
              <a:rPr lang="en-US" sz="1600" dirty="0" smtClean="0"/>
              <a:t>[2] Fast Adaptive Evolutionary PM Traction Motor Optimization Based on Electric Vehicle Drive Cycle</a:t>
            </a:r>
            <a:endParaRPr lang="en-US" sz="1600" dirty="0"/>
          </a:p>
          <a:p>
            <a:r>
              <a:rPr lang="en-US" sz="1600" dirty="0" smtClean="0"/>
              <a:t>[3] Hill-start of Distributed Drive Electric Vehicle Based on Pneumatic Electronic Parking Brake System</a:t>
            </a:r>
          </a:p>
          <a:p>
            <a:r>
              <a:rPr lang="en-US" sz="1600" dirty="0" smtClean="0"/>
              <a:t>[4] Design Approaches and Control Strategies for Energy-Efficient Electric Machines for Electric Vehicles—A Review</a:t>
            </a:r>
          </a:p>
          <a:p>
            <a:r>
              <a:rPr lang="en-US" sz="1600" dirty="0" smtClean="0"/>
              <a:t>[5] A Reconfigurable-Winding System for Electric Vehicle Drive Applications</a:t>
            </a:r>
          </a:p>
          <a:p>
            <a:r>
              <a:rPr lang="en-US" sz="1600" dirty="0" smtClean="0"/>
              <a:t>[6] Power Split Control Strategy for an EV Powertrain With Two Propulsion Machines</a:t>
            </a:r>
          </a:p>
          <a:p>
            <a:r>
              <a:rPr lang="en-US" sz="1600" dirty="0" smtClean="0"/>
              <a:t>[7] Efficiency Study of a Dual-Motor Coupling EV Powertrain</a:t>
            </a:r>
          </a:p>
          <a:p>
            <a:r>
              <a:rPr lang="en-US" sz="1600" dirty="0" smtClean="0"/>
              <a:t>[8] Optimization of a Dual-Motor Coupled Powertrain Energy Management Strategy for a Battery Electric Bus Based on Dynamic Programming Method</a:t>
            </a:r>
          </a:p>
          <a:p>
            <a:r>
              <a:rPr lang="en-US" sz="1600" dirty="0" smtClean="0"/>
              <a:t>[9] A Novel Dual-Motor Two-Speed Direct Drive Battery Electric Vehicle Drivetrain</a:t>
            </a:r>
          </a:p>
          <a:p>
            <a:r>
              <a:rPr lang="en-US" sz="1600" dirty="0" smtClean="0"/>
              <a:t>[10] </a:t>
            </a:r>
            <a:r>
              <a:rPr lang="en-US" sz="1600" dirty="0" err="1" smtClean="0"/>
              <a:t>Transmotor</a:t>
            </a:r>
            <a:r>
              <a:rPr lang="en-US" sz="1600" dirty="0" smtClean="0"/>
              <a:t>-Based Powertrain for High-Performance Electric Vehicle</a:t>
            </a:r>
          </a:p>
        </p:txBody>
      </p:sp>
    </p:spTree>
    <p:extLst>
      <p:ext uri="{BB962C8B-B14F-4D97-AF65-F5344CB8AC3E}">
        <p14:creationId xmlns:p14="http://schemas.microsoft.com/office/powerpoint/2010/main" val="208524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1569</TotalTime>
  <Words>1791</Words>
  <Application>Microsoft Office PowerPoint</Application>
  <PresentationFormat>Widescreen</PresentationFormat>
  <Paragraphs>161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Söhne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53</cp:revision>
  <dcterms:created xsi:type="dcterms:W3CDTF">2023-11-22T09:35:40Z</dcterms:created>
  <dcterms:modified xsi:type="dcterms:W3CDTF">2023-11-27T12:17:48Z</dcterms:modified>
</cp:coreProperties>
</file>