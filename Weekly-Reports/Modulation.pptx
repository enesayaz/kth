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6D0DB-28D4-46D9-A6B7-E8F384D6D62D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5710D-9A2F-4FBD-83F5-573A9D051FC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550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WPT system is connected between phase-A and phase B. </a:t>
            </a:r>
          </a:p>
          <a:p>
            <a:endParaRPr lang="en-US" dirty="0"/>
          </a:p>
          <a:p>
            <a:r>
              <a:rPr lang="en-US" dirty="0"/>
              <a:t>By carrier phase shift to phase B, we achieve this contour of the magnitude of the switching frequency.  </a:t>
            </a:r>
          </a:p>
          <a:p>
            <a:endParaRPr lang="en-US" dirty="0"/>
          </a:p>
          <a:p>
            <a:r>
              <a:rPr lang="en-US" dirty="0"/>
              <a:t>We can observe that we can have a constant gain for any modulation. </a:t>
            </a:r>
          </a:p>
          <a:p>
            <a:endParaRPr lang="en-US" dirty="0"/>
          </a:p>
          <a:p>
            <a:r>
              <a:rPr lang="en-US" dirty="0"/>
              <a:t>The constant gain is between 0.25 and 0.45 over a DC-link voltage. </a:t>
            </a:r>
          </a:p>
          <a:p>
            <a:endParaRPr lang="en-US" dirty="0"/>
          </a:p>
          <a:p>
            <a:r>
              <a:rPr lang="en-US" dirty="0"/>
              <a:t>The control diagram is shown.  </a:t>
            </a:r>
          </a:p>
          <a:p>
            <a:endParaRPr lang="en-US" dirty="0"/>
          </a:p>
          <a:p>
            <a:r>
              <a:rPr lang="en-US" dirty="0"/>
              <a:t>We adjust the carrier phase shift according to modulation to control the WPT power.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AAD37-8495-4358-975D-7F228E51A688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402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WPT system is connected between phase-A and phase B. </a:t>
            </a:r>
          </a:p>
          <a:p>
            <a:endParaRPr lang="en-US" dirty="0"/>
          </a:p>
          <a:p>
            <a:r>
              <a:rPr lang="en-US" dirty="0"/>
              <a:t>By carrier phase shift to phase B, we achieve this contour of the magnitude of the switching frequency.  </a:t>
            </a:r>
          </a:p>
          <a:p>
            <a:endParaRPr lang="en-US" dirty="0"/>
          </a:p>
          <a:p>
            <a:r>
              <a:rPr lang="en-US" dirty="0"/>
              <a:t>We can observe that we can have a constant gain for any modulation. </a:t>
            </a:r>
          </a:p>
          <a:p>
            <a:endParaRPr lang="en-US" dirty="0"/>
          </a:p>
          <a:p>
            <a:r>
              <a:rPr lang="en-US" dirty="0"/>
              <a:t>The constant gain is between 0.25 and 0.45 over a DC-link voltage. </a:t>
            </a:r>
          </a:p>
          <a:p>
            <a:endParaRPr lang="en-US" dirty="0"/>
          </a:p>
          <a:p>
            <a:r>
              <a:rPr lang="en-US" dirty="0"/>
              <a:t>The control diagram is shown.  </a:t>
            </a:r>
          </a:p>
          <a:p>
            <a:endParaRPr lang="en-US" dirty="0"/>
          </a:p>
          <a:p>
            <a:r>
              <a:rPr lang="en-US" dirty="0"/>
              <a:t>We adjust the carrier phase shift according to modulation to control the WPT power.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AAD37-8495-4358-975D-7F228E51A688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746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WPT system is connected between phase-A and phase B. </a:t>
            </a:r>
          </a:p>
          <a:p>
            <a:endParaRPr lang="en-US" dirty="0"/>
          </a:p>
          <a:p>
            <a:r>
              <a:rPr lang="en-US" dirty="0"/>
              <a:t>By carrier phase shift to phase B, we achieve this contour of the magnitude of the switching frequency.  </a:t>
            </a:r>
          </a:p>
          <a:p>
            <a:endParaRPr lang="en-US" dirty="0"/>
          </a:p>
          <a:p>
            <a:r>
              <a:rPr lang="en-US" dirty="0"/>
              <a:t>We can observe that we can have a constant gain for any modulation. </a:t>
            </a:r>
          </a:p>
          <a:p>
            <a:endParaRPr lang="en-US" dirty="0"/>
          </a:p>
          <a:p>
            <a:r>
              <a:rPr lang="en-US" dirty="0"/>
              <a:t>The constant gain is between 0.25 and 0.45 over a DC-link voltage. </a:t>
            </a:r>
          </a:p>
          <a:p>
            <a:endParaRPr lang="en-US" dirty="0"/>
          </a:p>
          <a:p>
            <a:r>
              <a:rPr lang="en-US" dirty="0"/>
              <a:t>The control diagram is shown.  </a:t>
            </a:r>
          </a:p>
          <a:p>
            <a:endParaRPr lang="en-US" dirty="0"/>
          </a:p>
          <a:p>
            <a:r>
              <a:rPr lang="en-US" dirty="0"/>
              <a:t>We adjust the carrier phase shift according to modulation to control the WPT power.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03AAD37-8495-4358-975D-7F228E51A688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855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8314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32827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1030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9702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774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44588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903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1944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5997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5424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322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F22E1-7A7B-4BD9-947C-E8A55994FDA9}" type="datetimeFigureOut">
              <a:rPr lang="sv-SE" smtClean="0"/>
              <a:t>2024-04-11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E108-277B-4768-AB84-48BB86D1C2F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42702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1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14.png"/><Relationship Id="rId16" Type="http://schemas.openxmlformats.org/officeDocument/2006/relationships/image" Target="../media/image6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2B21-339D-4DC8-BE47-9101D3A1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350" y="223728"/>
            <a:ext cx="8426154" cy="1143000"/>
          </a:xfrm>
        </p:spPr>
        <p:txBody>
          <a:bodyPr>
            <a:noAutofit/>
          </a:bodyPr>
          <a:lstStyle/>
          <a:p>
            <a:r>
              <a:rPr lang="en-US" sz="3200" dirty="0" err="1">
                <a:solidFill>
                  <a:srgbClr val="C00000"/>
                </a:solidFill>
              </a:rPr>
              <a:t>Multifrequency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>
                <a:solidFill>
                  <a:srgbClr val="C00000"/>
                </a:solidFill>
              </a:rPr>
              <a:t>W</a:t>
            </a:r>
            <a:r>
              <a:rPr lang="en-US" sz="3200" dirty="0" smtClean="0">
                <a:solidFill>
                  <a:srgbClr val="C00000"/>
                </a:solidFill>
              </a:rPr>
              <a:t>PT </a:t>
            </a:r>
            <a:r>
              <a:rPr lang="en-US" sz="3200" dirty="0">
                <a:solidFill>
                  <a:srgbClr val="C00000"/>
                </a:solidFill>
              </a:rPr>
              <a:t>Systems</a:t>
            </a:r>
            <a:r>
              <a:rPr lang="en-US" sz="2400" dirty="0">
                <a:solidFill>
                  <a:srgbClr val="C00000"/>
                </a:solidFill>
              </a:rPr>
              <a:t/>
            </a:r>
            <a:br>
              <a:rPr lang="en-US" sz="2400" dirty="0">
                <a:solidFill>
                  <a:srgbClr val="C00000"/>
                </a:solidFill>
              </a:rPr>
            </a:b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39318E8A-C3EA-49C0-A949-EB9464D67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422555"/>
            <a:ext cx="53848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500" dirty="0"/>
              <a:t>Motivations: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To Increase power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>
                <a:solidFill>
                  <a:srgbClr val="C00000"/>
                </a:solidFill>
              </a:rPr>
              <a:t>To reduce switching components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To increase DC-link utilization rate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>
                <a:solidFill>
                  <a:srgbClr val="004A99"/>
                </a:solidFill>
              </a:rPr>
              <a:t>To provide operation for more than one standards</a:t>
            </a:r>
          </a:p>
          <a:p>
            <a:pPr marL="0" indent="0">
              <a:buNone/>
            </a:pPr>
            <a:r>
              <a:rPr lang="en-US" sz="2500" dirty="0"/>
              <a:t>Some Topologies: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Multi-converter and multi-resonant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/>
              <a:t>Single-converter and multi-resonant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>
                <a:solidFill>
                  <a:srgbClr val="C00000"/>
                </a:solidFill>
              </a:rPr>
              <a:t>Single-converter and multi-load</a:t>
            </a: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24FD0-A810-495E-BCF6-31279D5A492F}"/>
              </a:ext>
            </a:extLst>
          </p:cNvPr>
          <p:cNvSpPr/>
          <p:nvPr/>
        </p:nvSpPr>
        <p:spPr>
          <a:xfrm>
            <a:off x="6635767" y="1060374"/>
            <a:ext cx="404873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4A99"/>
                </a:solidFill>
              </a:rPr>
              <a:t>Standards: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4A99"/>
                </a:solidFill>
              </a:rPr>
              <a:t>Wireless Power Consortium (WPC)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4A99"/>
                </a:solidFill>
              </a:rPr>
              <a:t>Power Matters Alliance (PMA)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4A99"/>
                </a:solidFill>
              </a:rPr>
              <a:t>Alliance for Wireless Power (A4WP)</a:t>
            </a:r>
          </a:p>
          <a:p>
            <a:endParaRPr lang="en-US" dirty="0">
              <a:solidFill>
                <a:srgbClr val="004A99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7594B4-C47B-49E6-B87D-06370CBF70C9}"/>
              </a:ext>
            </a:extLst>
          </p:cNvPr>
          <p:cNvSpPr/>
          <p:nvPr/>
        </p:nvSpPr>
        <p:spPr>
          <a:xfrm>
            <a:off x="6096000" y="231502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100 - 205/300 kHz for magnetic resonant and induction technology for mobile devices; WPT systems for consumer devices, power transfer typically &lt; 200 W; plan to be used worldwide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B1E39C-CEE8-4F25-BC11-DD64140ABE33}"/>
              </a:ext>
            </a:extLst>
          </p:cNvPr>
          <p:cNvSpPr/>
          <p:nvPr/>
        </p:nvSpPr>
        <p:spPr>
          <a:xfrm>
            <a:off x="6096000" y="353434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6765 - 6795 kHz for magnetic resonant technology for mobile devices; WPT systems for consumer devices, power transfer typically &lt; 30 W; plan to be used.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3D7AD5-5C38-44D5-ADC5-8216A28BFF1E}"/>
              </a:ext>
            </a:extLst>
          </p:cNvPr>
          <p:cNvSpPr/>
          <p:nvPr/>
        </p:nvSpPr>
        <p:spPr>
          <a:xfrm>
            <a:off x="6096000" y="450453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300 - 500 kHz: WPT systems for consumer devices, power transfer typically &lt; 5 W; plan to be used for smaller devices.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7F347-4EE6-40EA-9ECB-B6EDE845FB16}"/>
              </a:ext>
            </a:extLst>
          </p:cNvPr>
          <p:cNvSpPr/>
          <p:nvPr/>
        </p:nvSpPr>
        <p:spPr>
          <a:xfrm>
            <a:off x="6096000" y="540136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900 - 1 000 kHz: WPT systems for consumer devices, power transfer typically &lt; 5 W; plan to be used for smaller devices.</a:t>
            </a:r>
          </a:p>
        </p:txBody>
      </p:sp>
    </p:spTree>
    <p:extLst>
      <p:ext uri="{BB962C8B-B14F-4D97-AF65-F5344CB8AC3E}">
        <p14:creationId xmlns:p14="http://schemas.microsoft.com/office/powerpoint/2010/main" val="348258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2B21-339D-4DC8-BE47-9101D3A1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673" y="229900"/>
            <a:ext cx="8426154" cy="11430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Narrowband Concurrent Wireless Power Transfer (For use of single standard range) 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EC11BA-8789-424B-AC2D-04B295252E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74"/>
          <a:stretch/>
        </p:blipFill>
        <p:spPr>
          <a:xfrm>
            <a:off x="418978" y="1654943"/>
            <a:ext cx="4820225" cy="3522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EB00F-9E5A-4A86-B374-55F51496C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890524"/>
            <a:ext cx="5287601" cy="268779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66FFA19-B4E3-46E1-92E3-10158D3FDE8B}"/>
              </a:ext>
            </a:extLst>
          </p:cNvPr>
          <p:cNvSpPr/>
          <p:nvPr/>
        </p:nvSpPr>
        <p:spPr>
          <a:xfrm>
            <a:off x="565870" y="5505442"/>
            <a:ext cx="110602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Dual-Frequency Three-Dimensional WPT System with Directional Power Transfer</a:t>
            </a:r>
          </a:p>
          <a:p>
            <a:r>
              <a:rPr lang="en-US" dirty="0"/>
              <a:t>Capability at Two Separately Regulated Outputs</a:t>
            </a:r>
          </a:p>
        </p:txBody>
      </p:sp>
    </p:spTree>
    <p:extLst>
      <p:ext uri="{BB962C8B-B14F-4D97-AF65-F5344CB8AC3E}">
        <p14:creationId xmlns:p14="http://schemas.microsoft.com/office/powerpoint/2010/main" val="3463960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FF389B-AB7D-48DC-B69B-FA6F0A890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68" y="1951603"/>
            <a:ext cx="7349970" cy="2475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2AABA9-1F45-47C2-A1E1-BFB952444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13" y="1571625"/>
            <a:ext cx="4200530" cy="29633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C96BD5-477D-4225-B405-F9298E85EF25}"/>
              </a:ext>
            </a:extLst>
          </p:cNvPr>
          <p:cNvSpPr/>
          <p:nvPr/>
        </p:nvSpPr>
        <p:spPr>
          <a:xfrm>
            <a:off x="745244" y="5062587"/>
            <a:ext cx="10701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Design and Control of a Decoupled Multichannel Wireless Power Transfer System Based on Multilevel Inverters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867853-4F9D-4764-BEEF-757CA3ED6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673" y="229900"/>
            <a:ext cx="8426154" cy="11430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Narrowband Concurrent Wireless Power Transfer (For use of single standard range)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839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C96BD5-477D-4225-B405-F9298E85EF25}"/>
              </a:ext>
            </a:extLst>
          </p:cNvPr>
          <p:cNvSpPr/>
          <p:nvPr/>
        </p:nvSpPr>
        <p:spPr>
          <a:xfrm>
            <a:off x="745244" y="5161934"/>
            <a:ext cx="10701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Multi-Frequency Multi-Amplitude Superposition Modulation Method With Phase Shift Optimization for Single Inverter of Wireless Power Transfer System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867853-4F9D-4764-BEEF-757CA3ED6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673" y="229900"/>
            <a:ext cx="8426154" cy="11430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Narrowband Concurrent Wireless Power Transfer 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25FA51-0491-4708-90C5-0BFDC5ACB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372900"/>
            <a:ext cx="6715125" cy="3457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B94EB2-F04F-4EF8-BE9E-E02D991E1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864" y="1471740"/>
            <a:ext cx="4164161" cy="328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8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C96BD5-477D-4225-B405-F9298E85EF25}"/>
              </a:ext>
            </a:extLst>
          </p:cNvPr>
          <p:cNvSpPr/>
          <p:nvPr/>
        </p:nvSpPr>
        <p:spPr>
          <a:xfrm>
            <a:off x="745244" y="5161934"/>
            <a:ext cx="10701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Multi-Frequency Multi-Amplitude Superposition Modulation Method With Phase Shift Optimization for Single Inverter of Wireless Power Transfer System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867853-4F9D-4764-BEEF-757CA3ED6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673" y="229900"/>
            <a:ext cx="8426154" cy="11430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Wideband Concurrent Wireless Power Transfer 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B94EB2-F04F-4EF8-BE9E-E02D991E1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864" y="1471740"/>
            <a:ext cx="4164161" cy="32817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7D922A-E55C-4477-AADC-EA4EFE1CA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276636"/>
            <a:ext cx="6638466" cy="198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3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C96BD5-477D-4225-B405-F9298E85EF25}"/>
              </a:ext>
            </a:extLst>
          </p:cNvPr>
          <p:cNvSpPr/>
          <p:nvPr/>
        </p:nvSpPr>
        <p:spPr>
          <a:xfrm>
            <a:off x="575310" y="5808264"/>
            <a:ext cx="10701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GaN</a:t>
            </a:r>
            <a:r>
              <a:rPr lang="en-US" dirty="0"/>
              <a:t>-Based Dual-Mode Wireless Power Transfer Using Multifrequency Programmed Pulse Width Modulation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867853-4F9D-4764-BEEF-757CA3ED6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8673" y="229900"/>
            <a:ext cx="8426154" cy="11430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Narrowband / Wideband Concurrent Wireless Power Transfer 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3B85D-F231-48B0-B5E8-457BA091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292" y="1018490"/>
            <a:ext cx="8170978" cy="2238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0AD800-0AFD-439D-8707-FD82CBCBC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761" y="3305617"/>
            <a:ext cx="7983506" cy="23994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254C58-9E13-4F17-BB2E-D2A07209A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44" y="2126059"/>
            <a:ext cx="37909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57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2B21-339D-4DC8-BE47-9101D3A12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654" y="298604"/>
            <a:ext cx="9056173" cy="11430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Narrowband and Wideband Concurrent Wireless Power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Transfer using a Single Transmitter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014BE4-459B-4927-92EE-F17A44D5C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21" y="2102864"/>
            <a:ext cx="5853113" cy="40644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DCFEEB-3F3D-424E-A37E-18FB9D1350C4}"/>
              </a:ext>
            </a:extLst>
          </p:cNvPr>
          <p:cNvSpPr/>
          <p:nvPr/>
        </p:nvSpPr>
        <p:spPr>
          <a:xfrm>
            <a:off x="3169442" y="1538745"/>
            <a:ext cx="898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SPWM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B55146-3F65-40EA-81A5-F039162FB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2852757"/>
            <a:ext cx="5229225" cy="191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7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7E03D0-7553-4E43-9648-CE1859F72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93" y="837426"/>
            <a:ext cx="3790950" cy="21526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21550F-C30A-4AD2-9602-25DC44AFE6B5}"/>
              </a:ext>
            </a:extLst>
          </p:cNvPr>
          <p:cNvCxnSpPr>
            <a:cxnSpLocks/>
          </p:cNvCxnSpPr>
          <p:nvPr/>
        </p:nvCxnSpPr>
        <p:spPr>
          <a:xfrm flipV="1">
            <a:off x="5124450" y="4664107"/>
            <a:ext cx="5029200" cy="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C6CB4E-30F1-4844-9E9A-7EF7FC24546A}"/>
              </a:ext>
            </a:extLst>
          </p:cNvPr>
          <p:cNvCxnSpPr>
            <a:cxnSpLocks/>
          </p:cNvCxnSpPr>
          <p:nvPr/>
        </p:nvCxnSpPr>
        <p:spPr>
          <a:xfrm flipV="1">
            <a:off x="6038850" y="3883057"/>
            <a:ext cx="0" cy="7810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90E2E5-DB3D-4DB8-B030-A3919AABB29C}"/>
              </a:ext>
            </a:extLst>
          </p:cNvPr>
          <p:cNvCxnSpPr>
            <a:cxnSpLocks/>
          </p:cNvCxnSpPr>
          <p:nvPr/>
        </p:nvCxnSpPr>
        <p:spPr>
          <a:xfrm flipV="1">
            <a:off x="7620000" y="3035332"/>
            <a:ext cx="0" cy="16287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FC9600-2200-4A9D-8B99-32C2841E8DFE}"/>
              </a:ext>
            </a:extLst>
          </p:cNvPr>
          <p:cNvCxnSpPr>
            <a:cxnSpLocks/>
          </p:cNvCxnSpPr>
          <p:nvPr/>
        </p:nvCxnSpPr>
        <p:spPr>
          <a:xfrm flipV="1">
            <a:off x="8105775" y="2544794"/>
            <a:ext cx="0" cy="211931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6654B3-B256-4403-A27E-254BE2F83A07}"/>
              </a:ext>
            </a:extLst>
          </p:cNvPr>
          <p:cNvCxnSpPr>
            <a:cxnSpLocks/>
          </p:cNvCxnSpPr>
          <p:nvPr/>
        </p:nvCxnSpPr>
        <p:spPr>
          <a:xfrm flipV="1">
            <a:off x="8572500" y="3035331"/>
            <a:ext cx="0" cy="16287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B813A1D-1201-41FE-AFF7-914BDC27BEE2}"/>
                  </a:ext>
                </a:extLst>
              </p:cNvPr>
              <p:cNvSpPr/>
              <p:nvPr/>
            </p:nvSpPr>
            <p:spPr>
              <a:xfrm>
                <a:off x="5818693" y="4679468"/>
                <a:ext cx="4403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B813A1D-1201-41FE-AFF7-914BDC27B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693" y="4679468"/>
                <a:ext cx="440313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C79B71A-E328-47BF-B4C7-CE81E974AD20}"/>
                  </a:ext>
                </a:extLst>
              </p:cNvPr>
              <p:cNvSpPr/>
              <p:nvPr/>
            </p:nvSpPr>
            <p:spPr>
              <a:xfrm>
                <a:off x="7375317" y="4679468"/>
                <a:ext cx="4893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C79B71A-E328-47BF-B4C7-CE81E974AD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317" y="4679468"/>
                <a:ext cx="489365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B39E7E3-3E6F-4132-AD1A-086FA24FA70C}"/>
                  </a:ext>
                </a:extLst>
              </p:cNvPr>
              <p:cNvSpPr/>
              <p:nvPr/>
            </p:nvSpPr>
            <p:spPr>
              <a:xfrm>
                <a:off x="7896423" y="4700663"/>
                <a:ext cx="5573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B39E7E3-3E6F-4132-AD1A-086FA24FA7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423" y="4700663"/>
                <a:ext cx="557397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511294F-8D26-40F0-A1BF-785758472A6A}"/>
                  </a:ext>
                </a:extLst>
              </p:cNvPr>
              <p:cNvSpPr/>
              <p:nvPr/>
            </p:nvSpPr>
            <p:spPr>
              <a:xfrm>
                <a:off x="8371050" y="4703753"/>
                <a:ext cx="485973" cy="3662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511294F-8D26-40F0-A1BF-785758472A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050" y="4703753"/>
                <a:ext cx="485973" cy="366242"/>
              </a:xfrm>
              <a:prstGeom prst="rect">
                <a:avLst/>
              </a:prstGeom>
              <a:blipFill>
                <a:blip r:embed="rId6"/>
                <a:stretch>
                  <a:fillRect l="-250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6CC4D9-F527-4FFD-8E97-33C735AAD2B8}"/>
                  </a:ext>
                </a:extLst>
              </p:cNvPr>
              <p:cNvSpPr txBox="1"/>
              <p:nvPr/>
            </p:nvSpPr>
            <p:spPr>
              <a:xfrm>
                <a:off x="7013836" y="5326610"/>
                <a:ext cx="1400175" cy="408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6CC4D9-F527-4FFD-8E97-33C735AAD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836" y="5326610"/>
                <a:ext cx="1400175" cy="408445"/>
              </a:xfrm>
              <a:prstGeom prst="rect">
                <a:avLst/>
              </a:prstGeom>
              <a:blipFill>
                <a:blip r:embed="rId7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CCAAD4AC-3342-4CBB-8DE5-B45DB49E5020}"/>
              </a:ext>
            </a:extLst>
          </p:cNvPr>
          <p:cNvSpPr/>
          <p:nvPr/>
        </p:nvSpPr>
        <p:spPr>
          <a:xfrm>
            <a:off x="4424939" y="324908"/>
            <a:ext cx="4004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Wideband Concurrent Wireless Power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C5C670-B3BF-4177-9EBB-08B1AE543EAA}"/>
                  </a:ext>
                </a:extLst>
              </p:cNvPr>
              <p:cNvSpPr txBox="1"/>
              <p:nvPr/>
            </p:nvSpPr>
            <p:spPr>
              <a:xfrm>
                <a:off x="5226845" y="3431574"/>
                <a:ext cx="17573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C5C670-B3BF-4177-9EBB-08B1AE543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845" y="3431574"/>
                <a:ext cx="1757362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EB4477-1E26-4D6F-8442-35B9455B1D27}"/>
                  </a:ext>
                </a:extLst>
              </p:cNvPr>
              <p:cNvSpPr txBox="1"/>
              <p:nvPr/>
            </p:nvSpPr>
            <p:spPr>
              <a:xfrm>
                <a:off x="5168279" y="2126042"/>
                <a:ext cx="20335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=6780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FEB4477-1E26-4D6F-8442-35B9455B1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279" y="2126042"/>
                <a:ext cx="2033587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4D5BEF4-610A-43A4-9DC0-AB87A687C4EB}"/>
                  </a:ext>
                </a:extLst>
              </p:cNvPr>
              <p:cNvSpPr txBox="1"/>
              <p:nvPr/>
            </p:nvSpPr>
            <p:spPr>
              <a:xfrm>
                <a:off x="5264946" y="1142067"/>
                <a:ext cx="20335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=6980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4D5BEF4-610A-43A4-9DC0-AB87A687C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946" y="1142067"/>
                <a:ext cx="2033587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6BD75C-E548-4FCF-A672-EC0E5DA7BDAB}"/>
                  </a:ext>
                </a:extLst>
              </p:cNvPr>
              <p:cNvSpPr txBox="1"/>
              <p:nvPr/>
            </p:nvSpPr>
            <p:spPr>
              <a:xfrm>
                <a:off x="5264946" y="1446867"/>
                <a:ext cx="20335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=6580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6BD75C-E548-4FCF-A672-EC0E5DA7BD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946" y="1446867"/>
                <a:ext cx="2033587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35E9EA9-4673-4479-AE38-74E69E2B2A28}"/>
              </a:ext>
            </a:extLst>
          </p:cNvPr>
          <p:cNvCxnSpPr/>
          <p:nvPr/>
        </p:nvCxnSpPr>
        <p:spPr>
          <a:xfrm flipH="1">
            <a:off x="5445921" y="1068135"/>
            <a:ext cx="1785937" cy="74806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397D6CE-F330-403C-8CDE-855B30FE20A0}"/>
              </a:ext>
            </a:extLst>
          </p:cNvPr>
          <p:cNvCxnSpPr>
            <a:cxnSpLocks/>
          </p:cNvCxnSpPr>
          <p:nvPr/>
        </p:nvCxnSpPr>
        <p:spPr>
          <a:xfrm flipH="1" flipV="1">
            <a:off x="5598321" y="1125285"/>
            <a:ext cx="1495425" cy="72049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56385A7-F462-4C5D-90B8-74D44E7EBD8C}"/>
                  </a:ext>
                </a:extLst>
              </p:cNvPr>
              <p:cNvSpPr txBox="1"/>
              <p:nvPr/>
            </p:nvSpPr>
            <p:spPr>
              <a:xfrm>
                <a:off x="5816946" y="5767089"/>
                <a:ext cx="4136679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𝑐𝑎𝑟𝑟𝑖𝑒𝑟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56385A7-F462-4C5D-90B8-74D44E7EB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946" y="5767089"/>
                <a:ext cx="4136679" cy="61279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Picture 40">
            <a:extLst>
              <a:ext uri="{FF2B5EF4-FFF2-40B4-BE49-F238E27FC236}">
                <a16:creationId xmlns:a16="http://schemas.microsoft.com/office/drawing/2014/main" id="{655EF646-8B21-4E45-A947-8214A9C408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29" y="2958361"/>
            <a:ext cx="4405314" cy="311512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3B27B14-8D3E-48F5-B33B-BAD2123169A9}"/>
              </a:ext>
            </a:extLst>
          </p:cNvPr>
          <p:cNvSpPr txBox="1"/>
          <p:nvPr/>
        </p:nvSpPr>
        <p:spPr>
          <a:xfrm>
            <a:off x="8073436" y="1218738"/>
            <a:ext cx="2886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parameters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Modulation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Carrier phase shift </a:t>
            </a:r>
          </a:p>
        </p:txBody>
      </p:sp>
    </p:spTree>
    <p:extLst>
      <p:ext uri="{BB962C8B-B14F-4D97-AF65-F5344CB8AC3E}">
        <p14:creationId xmlns:p14="http://schemas.microsoft.com/office/powerpoint/2010/main" val="1004966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21550F-C30A-4AD2-9602-25DC44AFE6B5}"/>
              </a:ext>
            </a:extLst>
          </p:cNvPr>
          <p:cNvCxnSpPr>
            <a:cxnSpLocks/>
          </p:cNvCxnSpPr>
          <p:nvPr/>
        </p:nvCxnSpPr>
        <p:spPr>
          <a:xfrm flipV="1">
            <a:off x="476250" y="3225842"/>
            <a:ext cx="5029200" cy="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C6CB4E-30F1-4844-9E9A-7EF7FC24546A}"/>
              </a:ext>
            </a:extLst>
          </p:cNvPr>
          <p:cNvCxnSpPr>
            <a:cxnSpLocks/>
          </p:cNvCxnSpPr>
          <p:nvPr/>
        </p:nvCxnSpPr>
        <p:spPr>
          <a:xfrm flipV="1">
            <a:off x="578645" y="2460152"/>
            <a:ext cx="0" cy="7810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90E2E5-DB3D-4DB8-B030-A3919AABB29C}"/>
              </a:ext>
            </a:extLst>
          </p:cNvPr>
          <p:cNvCxnSpPr>
            <a:cxnSpLocks/>
          </p:cNvCxnSpPr>
          <p:nvPr/>
        </p:nvCxnSpPr>
        <p:spPr>
          <a:xfrm flipV="1">
            <a:off x="2727117" y="1612427"/>
            <a:ext cx="0" cy="16287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FC9600-2200-4A9D-8B99-32C2841E8DFE}"/>
              </a:ext>
            </a:extLst>
          </p:cNvPr>
          <p:cNvCxnSpPr>
            <a:cxnSpLocks/>
          </p:cNvCxnSpPr>
          <p:nvPr/>
        </p:nvCxnSpPr>
        <p:spPr>
          <a:xfrm flipV="1">
            <a:off x="3457575" y="1106529"/>
            <a:ext cx="0" cy="211931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6654B3-B256-4403-A27E-254BE2F83A07}"/>
              </a:ext>
            </a:extLst>
          </p:cNvPr>
          <p:cNvCxnSpPr>
            <a:cxnSpLocks/>
          </p:cNvCxnSpPr>
          <p:nvPr/>
        </p:nvCxnSpPr>
        <p:spPr>
          <a:xfrm flipV="1">
            <a:off x="4227873" y="1548253"/>
            <a:ext cx="0" cy="16287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B813A1D-1201-41FE-AFF7-914BDC27BEE2}"/>
                  </a:ext>
                </a:extLst>
              </p:cNvPr>
              <p:cNvSpPr/>
              <p:nvPr/>
            </p:nvSpPr>
            <p:spPr>
              <a:xfrm>
                <a:off x="1170493" y="3241203"/>
                <a:ext cx="4403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B813A1D-1201-41FE-AFF7-914BDC27B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93" y="3241203"/>
                <a:ext cx="440313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C79B71A-E328-47BF-B4C7-CE81E974AD20}"/>
                  </a:ext>
                </a:extLst>
              </p:cNvPr>
              <p:cNvSpPr/>
              <p:nvPr/>
            </p:nvSpPr>
            <p:spPr>
              <a:xfrm>
                <a:off x="2501485" y="3283194"/>
                <a:ext cx="4893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C79B71A-E328-47BF-B4C7-CE81E974AD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485" y="3283194"/>
                <a:ext cx="48936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B39E7E3-3E6F-4132-AD1A-086FA24FA70C}"/>
                  </a:ext>
                </a:extLst>
              </p:cNvPr>
              <p:cNvSpPr/>
              <p:nvPr/>
            </p:nvSpPr>
            <p:spPr>
              <a:xfrm>
                <a:off x="3248223" y="3262398"/>
                <a:ext cx="5573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9B39E7E3-3E6F-4132-AD1A-086FA24FA7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8223" y="3262398"/>
                <a:ext cx="557397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511294F-8D26-40F0-A1BF-785758472A6A}"/>
                  </a:ext>
                </a:extLst>
              </p:cNvPr>
              <p:cNvSpPr/>
              <p:nvPr/>
            </p:nvSpPr>
            <p:spPr>
              <a:xfrm>
                <a:off x="3965836" y="3259467"/>
                <a:ext cx="485973" cy="3662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511294F-8D26-40F0-A1BF-785758472A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836" y="3259467"/>
                <a:ext cx="485973" cy="366242"/>
              </a:xfrm>
              <a:prstGeom prst="rect">
                <a:avLst/>
              </a:prstGeom>
              <a:blipFill>
                <a:blip r:embed="rId5"/>
                <a:stretch>
                  <a:fillRect l="-253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CCAAD4AC-3342-4CBB-8DE5-B45DB49E5020}"/>
              </a:ext>
            </a:extLst>
          </p:cNvPr>
          <p:cNvSpPr/>
          <p:nvPr/>
        </p:nvSpPr>
        <p:spPr>
          <a:xfrm>
            <a:off x="4157854" y="324908"/>
            <a:ext cx="4202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Narrowband Concurrent Wireless Power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C5C670-B3BF-4177-9EBB-08B1AE543EAA}"/>
                  </a:ext>
                </a:extLst>
              </p:cNvPr>
              <p:cNvSpPr txBox="1"/>
              <p:nvPr/>
            </p:nvSpPr>
            <p:spPr>
              <a:xfrm>
                <a:off x="1610806" y="1238655"/>
                <a:ext cx="17573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C5C670-B3BF-4177-9EBB-08B1AE543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806" y="1238655"/>
                <a:ext cx="1757362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56385A7-F462-4C5D-90B8-74D44E7EBD8C}"/>
                  </a:ext>
                </a:extLst>
              </p:cNvPr>
              <p:cNvSpPr txBox="1"/>
              <p:nvPr/>
            </p:nvSpPr>
            <p:spPr>
              <a:xfrm>
                <a:off x="6701393" y="3708540"/>
                <a:ext cx="4136679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𝑠𝑤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𝑐𝑎𝑟𝑟𝑖𝑒𝑟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56385A7-F462-4C5D-90B8-74D44E7EB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393" y="3708540"/>
                <a:ext cx="4136679" cy="6127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9D4841-5F85-4B68-AC3D-93C3A12C0BB8}"/>
                  </a:ext>
                </a:extLst>
              </p:cNvPr>
              <p:cNvSpPr txBox="1"/>
              <p:nvPr/>
            </p:nvSpPr>
            <p:spPr>
              <a:xfrm>
                <a:off x="2648240" y="757865"/>
                <a:ext cx="17573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09D4841-5F85-4B68-AC3D-93C3A12C0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240" y="757865"/>
                <a:ext cx="1757362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6BD964-5200-4D65-87BC-1DFD1A9C3A4C}"/>
                  </a:ext>
                </a:extLst>
              </p:cNvPr>
              <p:cNvSpPr txBox="1"/>
              <p:nvPr/>
            </p:nvSpPr>
            <p:spPr>
              <a:xfrm>
                <a:off x="101185" y="2145709"/>
                <a:ext cx="17573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6BD964-5200-4D65-87BC-1DFD1A9C3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5" y="2145709"/>
                <a:ext cx="1757362" cy="369332"/>
              </a:xfrm>
              <a:prstGeom prst="rect">
                <a:avLst/>
              </a:prstGeom>
              <a:blipFill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B17CE07-58A5-4B5F-AEB5-B74744BBB9A8}"/>
                  </a:ext>
                </a:extLst>
              </p:cNvPr>
              <p:cNvSpPr txBox="1"/>
              <p:nvPr/>
            </p:nvSpPr>
            <p:spPr>
              <a:xfrm>
                <a:off x="3498008" y="1198645"/>
                <a:ext cx="17573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=160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B17CE07-58A5-4B5F-AEB5-B74744BBB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008" y="1198645"/>
                <a:ext cx="1757362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3A10A17-E88B-4D0C-98F1-2C9F51F733C0}"/>
                  </a:ext>
                </a:extLst>
              </p:cNvPr>
              <p:cNvSpPr txBox="1"/>
              <p:nvPr/>
            </p:nvSpPr>
            <p:spPr>
              <a:xfrm>
                <a:off x="2514446" y="5357787"/>
                <a:ext cx="20335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3A10A17-E88B-4D0C-98F1-2C9F51F73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446" y="5357787"/>
                <a:ext cx="2033587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2B58F0B-9A9E-4D7A-8A95-49B4C6B215F6}"/>
                  </a:ext>
                </a:extLst>
              </p:cNvPr>
              <p:cNvSpPr txBox="1"/>
              <p:nvPr/>
            </p:nvSpPr>
            <p:spPr>
              <a:xfrm>
                <a:off x="2611113" y="3952004"/>
                <a:ext cx="20335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=160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2B58F0B-9A9E-4D7A-8A95-49B4C6B21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113" y="3952004"/>
                <a:ext cx="2033587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7C105D-43F4-46A4-A07B-448D7BD091F6}"/>
                  </a:ext>
                </a:extLst>
              </p:cNvPr>
              <p:cNvSpPr txBox="1"/>
              <p:nvPr/>
            </p:nvSpPr>
            <p:spPr>
              <a:xfrm>
                <a:off x="2514446" y="4998224"/>
                <a:ext cx="20335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7C105D-43F4-46A4-A07B-448D7BD09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446" y="4998224"/>
                <a:ext cx="2033587" cy="369332"/>
              </a:xfrm>
              <a:prstGeom prst="rect">
                <a:avLst/>
              </a:prstGeom>
              <a:blipFill>
                <a:blip r:embed="rId1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D4940E5-3FA5-4B9E-BE1B-4F041D4E8FBF}"/>
              </a:ext>
            </a:extLst>
          </p:cNvPr>
          <p:cNvCxnSpPr>
            <a:cxnSpLocks/>
          </p:cNvCxnSpPr>
          <p:nvPr/>
        </p:nvCxnSpPr>
        <p:spPr>
          <a:xfrm flipH="1" flipV="1">
            <a:off x="2956186" y="3902731"/>
            <a:ext cx="1201668" cy="63726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6AB15CA-2482-44D3-9207-5EB78CA90726}"/>
              </a:ext>
            </a:extLst>
          </p:cNvPr>
          <p:cNvCxnSpPr>
            <a:cxnSpLocks/>
          </p:cNvCxnSpPr>
          <p:nvPr/>
        </p:nvCxnSpPr>
        <p:spPr>
          <a:xfrm flipH="1">
            <a:off x="2867025" y="3853917"/>
            <a:ext cx="1360848" cy="60571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B5B2187-4F03-4BBE-A9B3-8C1D5871A3D1}"/>
                  </a:ext>
                </a:extLst>
              </p:cNvPr>
              <p:cNvSpPr txBox="1"/>
              <p:nvPr/>
            </p:nvSpPr>
            <p:spPr>
              <a:xfrm>
                <a:off x="315588" y="4006317"/>
                <a:ext cx="20335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B5B2187-4F03-4BBE-A9B3-8C1D5871A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88" y="4006317"/>
                <a:ext cx="2033587" cy="369332"/>
              </a:xfrm>
              <a:prstGeom prst="rect">
                <a:avLst/>
              </a:prstGeom>
              <a:blipFill>
                <a:blip r:embed="rId1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032A534-64EE-4354-B3D9-28845FE67402}"/>
              </a:ext>
            </a:extLst>
          </p:cNvPr>
          <p:cNvCxnSpPr>
            <a:cxnSpLocks/>
          </p:cNvCxnSpPr>
          <p:nvPr/>
        </p:nvCxnSpPr>
        <p:spPr>
          <a:xfrm flipH="1" flipV="1">
            <a:off x="660661" y="3957044"/>
            <a:ext cx="1201668" cy="63726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4FEA2F-4D4C-49C4-9E3A-75B8FE35F0E9}"/>
              </a:ext>
            </a:extLst>
          </p:cNvPr>
          <p:cNvCxnSpPr>
            <a:cxnSpLocks/>
          </p:cNvCxnSpPr>
          <p:nvPr/>
        </p:nvCxnSpPr>
        <p:spPr>
          <a:xfrm flipH="1">
            <a:off x="571500" y="3908230"/>
            <a:ext cx="1360848" cy="60571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1FFE465-DE7F-4227-8F2B-3576239324A8}"/>
                  </a:ext>
                </a:extLst>
              </p:cNvPr>
              <p:cNvSpPr txBox="1"/>
              <p:nvPr/>
            </p:nvSpPr>
            <p:spPr>
              <a:xfrm>
                <a:off x="6203452" y="4527982"/>
                <a:ext cx="5800749" cy="657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𝑠𝑙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𝑐𝑎𝑟𝑟𝑖𝑒𝑟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𝑓𝑢𝑛𝑑𝑎𝑚𝑒𝑛𝑡𝑎𝑙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1FFE465-DE7F-4227-8F2B-357623932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452" y="4527982"/>
                <a:ext cx="5800749" cy="6574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DD3A3926-1552-49B0-B504-C0A64A654A09}"/>
              </a:ext>
            </a:extLst>
          </p:cNvPr>
          <p:cNvSpPr txBox="1"/>
          <p:nvPr/>
        </p:nvSpPr>
        <p:spPr>
          <a:xfrm>
            <a:off x="6378890" y="1226486"/>
            <a:ext cx="4202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parameters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Modulation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Carrier phase shift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Fundamental phase shift</a:t>
            </a:r>
          </a:p>
        </p:txBody>
      </p:sp>
    </p:spTree>
    <p:extLst>
      <p:ext uri="{BB962C8B-B14F-4D97-AF65-F5344CB8AC3E}">
        <p14:creationId xmlns:p14="http://schemas.microsoft.com/office/powerpoint/2010/main" val="1686845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F4BE7AEA-CB83-4B9B-ADAC-F108D536238F}"/>
              </a:ext>
            </a:extLst>
          </p:cNvPr>
          <p:cNvSpPr/>
          <p:nvPr/>
        </p:nvSpPr>
        <p:spPr>
          <a:xfrm>
            <a:off x="5229224" y="4645312"/>
            <a:ext cx="5381621" cy="6155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4A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6CBB0-52F5-45D4-AB63-7003C2D40C8A}"/>
              </a:ext>
            </a:extLst>
          </p:cNvPr>
          <p:cNvSpPr/>
          <p:nvPr/>
        </p:nvSpPr>
        <p:spPr>
          <a:xfrm>
            <a:off x="2322248" y="254106"/>
            <a:ext cx="8629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Additional Narrowband/Wideband Concurrent Wireless Power for HB configuration </a:t>
            </a:r>
            <a:endParaRPr lang="en-US" dirty="0"/>
          </a:p>
        </p:txBody>
      </p:sp>
      <p:pic>
        <p:nvPicPr>
          <p:cNvPr id="2052" name="Picture 4" descr="https://d3i71xaburhd42.cloudfront.net/0ad873058a0d5a69e8680aac6375f0f5045d0ca5/3-Figure4.1-1.png">
            <a:extLst>
              <a:ext uri="{FF2B5EF4-FFF2-40B4-BE49-F238E27FC236}">
                <a16:creationId xmlns:a16="http://schemas.microsoft.com/office/drawing/2014/main" id="{03D79599-DBAA-4106-AF42-F55D437E1C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91"/>
          <a:stretch/>
        </p:blipFill>
        <p:spPr bwMode="auto">
          <a:xfrm>
            <a:off x="428625" y="1238249"/>
            <a:ext cx="4487244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89A2EB-9A5A-4A94-955B-6FF436F2F5B8}"/>
              </a:ext>
            </a:extLst>
          </p:cNvPr>
          <p:cNvCxnSpPr>
            <a:cxnSpLocks/>
          </p:cNvCxnSpPr>
          <p:nvPr/>
        </p:nvCxnSpPr>
        <p:spPr>
          <a:xfrm>
            <a:off x="5229225" y="3262611"/>
            <a:ext cx="6181725" cy="44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237EED-07B4-470E-88D8-22BCC701C8A1}"/>
              </a:ext>
            </a:extLst>
          </p:cNvPr>
          <p:cNvCxnSpPr>
            <a:cxnSpLocks/>
          </p:cNvCxnSpPr>
          <p:nvPr/>
        </p:nvCxnSpPr>
        <p:spPr>
          <a:xfrm flipV="1">
            <a:off x="5886450" y="2481560"/>
            <a:ext cx="0" cy="7810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342CEE-9874-480F-B06E-CEE258A1E528}"/>
              </a:ext>
            </a:extLst>
          </p:cNvPr>
          <p:cNvCxnSpPr>
            <a:cxnSpLocks/>
          </p:cNvCxnSpPr>
          <p:nvPr/>
        </p:nvCxnSpPr>
        <p:spPr>
          <a:xfrm flipV="1">
            <a:off x="8877300" y="1638299"/>
            <a:ext cx="0" cy="16287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5D65E9-70A7-4D7B-A9DB-6E66E505656A}"/>
              </a:ext>
            </a:extLst>
          </p:cNvPr>
          <p:cNvCxnSpPr>
            <a:cxnSpLocks/>
          </p:cNvCxnSpPr>
          <p:nvPr/>
        </p:nvCxnSpPr>
        <p:spPr>
          <a:xfrm flipV="1">
            <a:off x="9829800" y="1638298"/>
            <a:ext cx="0" cy="16287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60CD7B7-386E-4313-BA46-57FB408088EA}"/>
                  </a:ext>
                </a:extLst>
              </p:cNvPr>
              <p:cNvSpPr/>
              <p:nvPr/>
            </p:nvSpPr>
            <p:spPr>
              <a:xfrm>
                <a:off x="5704281" y="3306720"/>
                <a:ext cx="4403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60CD7B7-386E-4313-BA46-57FB408088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281" y="3306720"/>
                <a:ext cx="440313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A4607E8-0845-426D-AA4C-26526F234FA6}"/>
                  </a:ext>
                </a:extLst>
              </p:cNvPr>
              <p:cNvSpPr/>
              <p:nvPr/>
            </p:nvSpPr>
            <p:spPr>
              <a:xfrm>
                <a:off x="8632617" y="3282435"/>
                <a:ext cx="4893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A4607E8-0845-426D-AA4C-26526F234F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2617" y="3282435"/>
                <a:ext cx="489365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18A1A87-41B4-408D-80A0-67B9F631DF89}"/>
                  </a:ext>
                </a:extLst>
              </p:cNvPr>
              <p:cNvSpPr/>
              <p:nvPr/>
            </p:nvSpPr>
            <p:spPr>
              <a:xfrm>
                <a:off x="9153723" y="3303630"/>
                <a:ext cx="5573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18A1A87-41B4-408D-80A0-67B9F631D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723" y="3303630"/>
                <a:ext cx="557397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1260D13-88FB-45BF-B321-800476A47605}"/>
                  </a:ext>
                </a:extLst>
              </p:cNvPr>
              <p:cNvSpPr/>
              <p:nvPr/>
            </p:nvSpPr>
            <p:spPr>
              <a:xfrm>
                <a:off x="9628350" y="3306720"/>
                <a:ext cx="485973" cy="3662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1260D13-88FB-45BF-B321-800476A476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350" y="3306720"/>
                <a:ext cx="485973" cy="366242"/>
              </a:xfrm>
              <a:prstGeom prst="rect">
                <a:avLst/>
              </a:prstGeom>
              <a:blipFill>
                <a:blip r:embed="rId6"/>
                <a:stretch>
                  <a:fillRect l="-2500"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8C954D-17D8-46C8-8C23-C0A85CEB6976}"/>
              </a:ext>
            </a:extLst>
          </p:cNvPr>
          <p:cNvCxnSpPr>
            <a:cxnSpLocks/>
          </p:cNvCxnSpPr>
          <p:nvPr/>
        </p:nvCxnSpPr>
        <p:spPr>
          <a:xfrm flipV="1">
            <a:off x="9363075" y="1038225"/>
            <a:ext cx="0" cy="226218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1BF207C-3158-4348-BCF6-AD5FA7EE8462}"/>
              </a:ext>
            </a:extLst>
          </p:cNvPr>
          <p:cNvCxnSpPr>
            <a:cxnSpLocks/>
          </p:cNvCxnSpPr>
          <p:nvPr/>
        </p:nvCxnSpPr>
        <p:spPr>
          <a:xfrm flipV="1">
            <a:off x="6282802" y="2714625"/>
            <a:ext cx="14192" cy="55245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E0E7CA2-AAC5-406C-8B75-84454E6B56FF}"/>
                  </a:ext>
                </a:extLst>
              </p:cNvPr>
              <p:cNvSpPr/>
              <p:nvPr/>
            </p:nvSpPr>
            <p:spPr>
              <a:xfrm>
                <a:off x="6148729" y="3308866"/>
                <a:ext cx="5685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E0E7CA2-AAC5-406C-8B75-84454E6B56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729" y="3308866"/>
                <a:ext cx="568554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96CC98-AB5F-4FE2-93FA-72B544B49441}"/>
              </a:ext>
            </a:extLst>
          </p:cNvPr>
          <p:cNvCxnSpPr>
            <a:cxnSpLocks/>
          </p:cNvCxnSpPr>
          <p:nvPr/>
        </p:nvCxnSpPr>
        <p:spPr>
          <a:xfrm flipV="1">
            <a:off x="8265319" y="2567908"/>
            <a:ext cx="0" cy="7145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E57DEF-60EE-4140-B9E2-7BC89FA2A072}"/>
              </a:ext>
            </a:extLst>
          </p:cNvPr>
          <p:cNvCxnSpPr>
            <a:cxnSpLocks/>
          </p:cNvCxnSpPr>
          <p:nvPr/>
        </p:nvCxnSpPr>
        <p:spPr>
          <a:xfrm flipV="1">
            <a:off x="10494169" y="2567908"/>
            <a:ext cx="0" cy="7145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F042970-E5B9-4BA3-89F7-F207A83C1339}"/>
              </a:ext>
            </a:extLst>
          </p:cNvPr>
          <p:cNvSpPr txBox="1"/>
          <p:nvPr/>
        </p:nvSpPr>
        <p:spPr>
          <a:xfrm>
            <a:off x="266700" y="4200549"/>
            <a:ext cx="4962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HB: </a:t>
            </a:r>
          </a:p>
          <a:p>
            <a:r>
              <a:rPr lang="en-US" dirty="0"/>
              <a:t>It is not possible to introduce carrier or fundamental  phase shifts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F3F5FE1-65C0-41FF-9F56-F864D22F6A2D}"/>
              </a:ext>
            </a:extLst>
          </p:cNvPr>
          <p:cNvSpPr txBox="1"/>
          <p:nvPr/>
        </p:nvSpPr>
        <p:spPr>
          <a:xfrm>
            <a:off x="384944" y="5195639"/>
            <a:ext cx="4962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 parameters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Fundamental modulation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Harmonic modulation index (3</a:t>
            </a:r>
            <a:r>
              <a:rPr lang="en-US" baseline="30000" dirty="0"/>
              <a:t>rd</a:t>
            </a:r>
            <a:r>
              <a:rPr lang="en-US" dirty="0"/>
              <a:t> , 5</a:t>
            </a:r>
            <a:r>
              <a:rPr lang="en-US" baseline="30000" dirty="0"/>
              <a:t>th</a:t>
            </a:r>
            <a:r>
              <a:rPr lang="en-US" dirty="0"/>
              <a:t> , 7</a:t>
            </a:r>
            <a:r>
              <a:rPr lang="en-US" baseline="30000" dirty="0"/>
              <a:t>th</a:t>
            </a:r>
            <a:r>
              <a:rPr lang="en-US" dirty="0"/>
              <a:t> 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4681C5-5B2B-4916-815D-2373D94F667D}"/>
              </a:ext>
            </a:extLst>
          </p:cNvPr>
          <p:cNvSpPr/>
          <p:nvPr/>
        </p:nvSpPr>
        <p:spPr>
          <a:xfrm>
            <a:off x="8671100" y="819151"/>
            <a:ext cx="1051161" cy="30099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8DBA6F-2DED-4280-B7AE-DC694EED2E95}"/>
                  </a:ext>
                </a:extLst>
              </p:cNvPr>
              <p:cNvSpPr txBox="1"/>
              <p:nvPr/>
            </p:nvSpPr>
            <p:spPr>
              <a:xfrm>
                <a:off x="5538533" y="3957314"/>
                <a:ext cx="74184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</m:oMath>
                  </m:oMathPara>
                </a14:m>
                <a:endParaRPr lang="en-US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98DBA6F-2DED-4280-B7AE-DC694EED2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533" y="3957314"/>
                <a:ext cx="741846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B1877EC-B782-4303-B886-49A658DECBD7}"/>
                  </a:ext>
                </a:extLst>
              </p:cNvPr>
              <p:cNvSpPr txBox="1"/>
              <p:nvPr/>
            </p:nvSpPr>
            <p:spPr>
              <a:xfrm>
                <a:off x="6209145" y="3920453"/>
                <a:ext cx="6316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B1877EC-B782-4303-B886-49A658DEC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145" y="3920453"/>
                <a:ext cx="631681" cy="646331"/>
              </a:xfrm>
              <a:prstGeom prst="rect">
                <a:avLst/>
              </a:prstGeom>
              <a:blipFill>
                <a:blip r:embed="rId9"/>
                <a:stretch>
                  <a:fillRect r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D7BC07E-6EC9-44DF-971C-87ADB7ACCB6C}"/>
                  </a:ext>
                </a:extLst>
              </p:cNvPr>
              <p:cNvSpPr txBox="1"/>
              <p:nvPr/>
            </p:nvSpPr>
            <p:spPr>
              <a:xfrm>
                <a:off x="8398337" y="3910921"/>
                <a:ext cx="7864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0 </m:t>
                      </m:r>
                    </m:oMath>
                  </m:oMathPara>
                </a14:m>
                <a:endParaRPr lang="en-US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D7BC07E-6EC9-44DF-971C-87ADB7ACC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337" y="3910921"/>
                <a:ext cx="786478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EB82908-8E52-4C0C-B7CC-2A6419197009}"/>
                  </a:ext>
                </a:extLst>
              </p:cNvPr>
              <p:cNvSpPr txBox="1"/>
              <p:nvPr/>
            </p:nvSpPr>
            <p:spPr>
              <a:xfrm>
                <a:off x="8956632" y="3920454"/>
                <a:ext cx="83864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EB82908-8E52-4C0C-B7CC-2A6419197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632" y="3920454"/>
                <a:ext cx="838643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D0366C8-E2BC-4C6A-8499-EF6E634C9925}"/>
                  </a:ext>
                </a:extLst>
              </p:cNvPr>
              <p:cNvSpPr txBox="1"/>
              <p:nvPr/>
            </p:nvSpPr>
            <p:spPr>
              <a:xfrm>
                <a:off x="9567092" y="3910921"/>
                <a:ext cx="7864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60 </m:t>
                      </m:r>
                    </m:oMath>
                  </m:oMathPara>
                </a14:m>
                <a:endParaRPr lang="en-US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D0366C8-E2BC-4C6A-8499-EF6E634C9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092" y="3910921"/>
                <a:ext cx="786478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F105C7A-92BA-4C89-9F05-1DD44DD12ADC}"/>
                  </a:ext>
                </a:extLst>
              </p:cNvPr>
              <p:cNvSpPr txBox="1"/>
              <p:nvPr/>
            </p:nvSpPr>
            <p:spPr>
              <a:xfrm>
                <a:off x="5548052" y="4674492"/>
                <a:ext cx="74184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00 </m:t>
                      </m:r>
                    </m:oMath>
                  </m:oMathPara>
                </a14:m>
                <a:endParaRPr lang="en-US" b="0" i="1" dirty="0">
                  <a:solidFill>
                    <a:srgbClr val="004A99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rgbClr val="004A99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F105C7A-92BA-4C89-9F05-1DD44DD12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052" y="4674492"/>
                <a:ext cx="741846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1544CB-70D7-4670-ABE6-68C94A952F5E}"/>
                  </a:ext>
                </a:extLst>
              </p:cNvPr>
              <p:cNvSpPr txBox="1"/>
              <p:nvPr/>
            </p:nvSpPr>
            <p:spPr>
              <a:xfrm>
                <a:off x="6165196" y="4711932"/>
                <a:ext cx="63168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US" b="0" i="1" dirty="0">
                  <a:solidFill>
                    <a:srgbClr val="004A99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rgbClr val="004A99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1544CB-70D7-4670-ABE6-68C94A952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196" y="4711932"/>
                <a:ext cx="631681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EE2324-8A71-41BA-B4A8-039BA514352C}"/>
                  </a:ext>
                </a:extLst>
              </p:cNvPr>
              <p:cNvSpPr txBox="1"/>
              <p:nvPr/>
            </p:nvSpPr>
            <p:spPr>
              <a:xfrm>
                <a:off x="8413007" y="4676751"/>
                <a:ext cx="7864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680 </m:t>
                      </m:r>
                    </m:oMath>
                  </m:oMathPara>
                </a14:m>
                <a:endParaRPr lang="en-US" b="0" i="1" dirty="0">
                  <a:solidFill>
                    <a:srgbClr val="004A99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rgbClr val="004A99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EEE2324-8A71-41BA-B4A8-039BA5143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007" y="4676751"/>
                <a:ext cx="786478" cy="6463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01F48AC-7C99-4F03-9045-97D44AFB4081}"/>
                  </a:ext>
                </a:extLst>
              </p:cNvPr>
              <p:cNvSpPr txBox="1"/>
              <p:nvPr/>
            </p:nvSpPr>
            <p:spPr>
              <a:xfrm>
                <a:off x="8971302" y="4686284"/>
                <a:ext cx="83864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780</m:t>
                      </m:r>
                    </m:oMath>
                  </m:oMathPara>
                </a14:m>
                <a:endParaRPr lang="en-US" b="0" i="1" dirty="0">
                  <a:solidFill>
                    <a:srgbClr val="004A99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rgbClr val="004A99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01F48AC-7C99-4F03-9045-97D44AFB4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302" y="4686284"/>
                <a:ext cx="838643" cy="64633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2E6A985-629B-40D4-B86F-0F4A53E95C30}"/>
                  </a:ext>
                </a:extLst>
              </p:cNvPr>
              <p:cNvSpPr txBox="1"/>
              <p:nvPr/>
            </p:nvSpPr>
            <p:spPr>
              <a:xfrm>
                <a:off x="9581762" y="4676751"/>
                <a:ext cx="7864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880 </m:t>
                      </m:r>
                    </m:oMath>
                  </m:oMathPara>
                </a14:m>
                <a:endParaRPr lang="en-US" b="0" i="1" dirty="0">
                  <a:solidFill>
                    <a:srgbClr val="004A99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4A99"/>
                          </a:solidFill>
                          <a:latin typeface="Cambria Math" panose="02040503050406030204" pitchFamily="18" charset="0"/>
                        </a:rPr>
                        <m:t>𝑘𝐻𝑧</m:t>
                      </m:r>
                    </m:oMath>
                  </m:oMathPara>
                </a14:m>
                <a:endParaRPr lang="en-US" dirty="0">
                  <a:solidFill>
                    <a:srgbClr val="004A99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2E6A985-629B-40D4-B86F-0F4A53E95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1762" y="4676751"/>
                <a:ext cx="786478" cy="6463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>
            <a:extLst>
              <a:ext uri="{FF2B5EF4-FFF2-40B4-BE49-F238E27FC236}">
                <a16:creationId xmlns:a16="http://schemas.microsoft.com/office/drawing/2014/main" id="{0F0A57E1-B5A3-4E0F-AA6C-A7E76FB7976A}"/>
              </a:ext>
            </a:extLst>
          </p:cNvPr>
          <p:cNvSpPr/>
          <p:nvPr/>
        </p:nvSpPr>
        <p:spPr>
          <a:xfrm>
            <a:off x="9142576" y="971551"/>
            <a:ext cx="485774" cy="281987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4A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CF41371-E5CF-467B-B964-6CEEBA47716A}"/>
              </a:ext>
            </a:extLst>
          </p:cNvPr>
          <p:cNvSpPr/>
          <p:nvPr/>
        </p:nvSpPr>
        <p:spPr>
          <a:xfrm>
            <a:off x="5713750" y="971550"/>
            <a:ext cx="421096" cy="281987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004A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E2BB7ED-CB23-40DB-8C6C-A8B223FF367E}"/>
              </a:ext>
            </a:extLst>
          </p:cNvPr>
          <p:cNvSpPr/>
          <p:nvPr/>
        </p:nvSpPr>
        <p:spPr>
          <a:xfrm>
            <a:off x="5229225" y="3920453"/>
            <a:ext cx="5381621" cy="6155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3EB92A-36C4-4356-A506-477AF854EDB2}"/>
              </a:ext>
            </a:extLst>
          </p:cNvPr>
          <p:cNvSpPr txBox="1"/>
          <p:nvPr/>
        </p:nvSpPr>
        <p:spPr>
          <a:xfrm>
            <a:off x="10724998" y="3840823"/>
            <a:ext cx="1274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Narrow Band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CF96F8-82F7-448B-BE65-12C7D93B309C}"/>
              </a:ext>
            </a:extLst>
          </p:cNvPr>
          <p:cNvSpPr txBox="1"/>
          <p:nvPr/>
        </p:nvSpPr>
        <p:spPr>
          <a:xfrm>
            <a:off x="10793382" y="4588163"/>
            <a:ext cx="1274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Wide Band</a:t>
            </a:r>
          </a:p>
        </p:txBody>
      </p:sp>
    </p:spTree>
    <p:extLst>
      <p:ext uri="{BB962C8B-B14F-4D97-AF65-F5344CB8AC3E}">
        <p14:creationId xmlns:p14="http://schemas.microsoft.com/office/powerpoint/2010/main" val="9134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975</Words>
  <Application>Microsoft Office PowerPoint</Application>
  <PresentationFormat>Widescreen</PresentationFormat>
  <Paragraphs>135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Multifrequency WPT Systems </vt:lpstr>
      <vt:lpstr>Narrowband Concurrent Wireless Power Transfer (For use of single standard range) </vt:lpstr>
      <vt:lpstr>Narrowband Concurrent Wireless Power Transfer (For use of single standard range) </vt:lpstr>
      <vt:lpstr>Narrowband Concurrent Wireless Power Transfer </vt:lpstr>
      <vt:lpstr>Wideband Concurrent Wireless Power Transfer </vt:lpstr>
      <vt:lpstr>Narrowband / Wideband Concurrent Wireless Power Transfer </vt:lpstr>
      <vt:lpstr>Narrowband and Wideband Concurrent Wireless Power Transfer using a Single Transmitter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Multifrequency IPT Systems </dc:title>
  <dc:creator>Enes Ayaz</dc:creator>
  <cp:lastModifiedBy>Enes Ayaz</cp:lastModifiedBy>
  <cp:revision>6</cp:revision>
  <dcterms:created xsi:type="dcterms:W3CDTF">2024-04-11T06:07:07Z</dcterms:created>
  <dcterms:modified xsi:type="dcterms:W3CDTF">2024-04-11T09:17:05Z</dcterms:modified>
</cp:coreProperties>
</file>