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1"/>
  </p:notesMasterIdLst>
  <p:sldIdLst>
    <p:sldId id="256" r:id="rId2"/>
    <p:sldId id="293" r:id="rId3"/>
    <p:sldId id="295" r:id="rId4"/>
    <p:sldId id="296" r:id="rId5"/>
    <p:sldId id="298" r:id="rId6"/>
    <p:sldId id="301" r:id="rId7"/>
    <p:sldId id="302" r:id="rId8"/>
    <p:sldId id="294" r:id="rId9"/>
    <p:sldId id="303" r:id="rId10"/>
  </p:sldIdLst>
  <p:sldSz cx="12192000" cy="6858000"/>
  <p:notesSz cx="6858000" cy="9144000"/>
  <p:embeddedFontLst>
    <p:embeddedFont>
      <p:font typeface="Calibri" panose="020F0502020204030204" pitchFamily="34" charset="0"/>
      <p:regular r:id="rId12"/>
      <p:bold r:id="rId13"/>
      <p:italic r:id="rId14"/>
      <p:boldItalic r:id="rId15"/>
    </p:embeddedFont>
    <p:embeddedFont>
      <p:font typeface="Figtree" panose="020B0604020202020204" charset="0"/>
      <p:regular r:id="rId16"/>
      <p:bold r:id="rId17"/>
      <p:italic r:id="rId18"/>
      <p:boldItalic r:id="rId19"/>
    </p:embeddedFont>
    <p:embeddedFont>
      <p:font typeface="Cambria Math" panose="02040503050406030204" pitchFamily="18" charset="0"/>
      <p:regular r:id="rId2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2" autoAdjust="0"/>
    <p:restoredTop sz="96327"/>
  </p:normalViewPr>
  <p:slideViewPr>
    <p:cSldViewPr snapToGrid="0">
      <p:cViewPr>
        <p:scale>
          <a:sx n="125" d="100"/>
          <a:sy n="125" d="100"/>
        </p:scale>
        <p:origin x="12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2025-03-10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2025-03-10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2025-03-10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2025-03-10</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2025-03-10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2025-03-10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2025-03-10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2025-03-10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2025-03-10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2025-03-10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2025-03-10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2025-03-10</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2025-03-10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2025-03-10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2025-03-10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2025-03-10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2025-03-10</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2025-03-10</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2025-03-10</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2025-03-10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2025-03-10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2025-03-10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2025-03-10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2025-03-10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2025-03-10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2025-03-10</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2025-03-10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2025-03-10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2025-03-10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2025-03-10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2025-03-10</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2025-03-10</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2025-03-10</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2025-03-10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2025-03-10</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2025-03-10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2025-03-10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2025-03-10</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2025-03-10</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12.xml"/><Relationship Id="rId4" Type="http://schemas.openxmlformats.org/officeDocument/2006/relationships/image" Target="../media/image33.emf"/></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3-Level Modulation Techniques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Enes Ayaz, KTH</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sv-SE" dirty="0" err="1"/>
              <a:t>Multilevel</a:t>
            </a:r>
            <a:r>
              <a:rPr lang="sv-SE" dirty="0"/>
              <a:t> </a:t>
            </a:r>
            <a:r>
              <a:rPr lang="sv-SE" dirty="0" smtClean="0"/>
              <a:t>Carrier-</a:t>
            </a:r>
            <a:r>
              <a:rPr lang="sv-SE" dirty="0" err="1" smtClean="0"/>
              <a:t>Based</a:t>
            </a:r>
            <a:r>
              <a:rPr lang="sv-SE" dirty="0" smtClean="0"/>
              <a:t> Modulation </a:t>
            </a:r>
            <a:r>
              <a:rPr lang="sv-SE" dirty="0" err="1"/>
              <a:t>M</a:t>
            </a:r>
            <a:r>
              <a:rPr lang="sv-SE" dirty="0" err="1" smtClean="0"/>
              <a:t>ethods</a:t>
            </a:r>
            <a:endParaRPr lang="sv-SE"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6922763" y="1535501"/>
            <a:ext cx="4375368" cy="4405626"/>
          </a:xfrm>
          <a:prstGeom prst="rect">
            <a:avLst/>
          </a:prstGeom>
        </p:spPr>
      </p:pic>
      <mc:AlternateContent xmlns:mc="http://schemas.openxmlformats.org/markup-compatibility/2006">
        <mc:Choice xmlns:a14="http://schemas.microsoft.com/office/drawing/2010/main" Requires="a14">
          <p:sp>
            <p:nvSpPr>
              <p:cNvPr id="3" name="Rectangle 2"/>
              <p:cNvSpPr/>
              <p:nvPr/>
            </p:nvSpPr>
            <p:spPr>
              <a:xfrm>
                <a:off x="378973" y="2090500"/>
                <a:ext cx="6305061" cy="646331"/>
              </a:xfrm>
              <a:prstGeom prst="rect">
                <a:avLst/>
              </a:prstGeom>
            </p:spPr>
            <p:txBody>
              <a:bodyPr wrap="square">
                <a:spAutoFit/>
              </a:bodyPr>
              <a:lstStyle/>
              <a:p>
                <a:r>
                  <a:rPr lang="en-US" dirty="0" smtClean="0"/>
                  <a:t>The multilevel waveform is the sum of N two-level waveforms </a:t>
                </a:r>
                <a14:m>
                  <m:oMath xmlns:m="http://schemas.openxmlformats.org/officeDocument/2006/math">
                    <m:sSub>
                      <m:sSubPr>
                        <m:ctrlPr>
                          <a:rPr lang="sv-SE" b="0" i="1" dirty="0" smtClean="0">
                            <a:latin typeface="Cambria Math" panose="02040503050406030204" pitchFamily="18" charset="0"/>
                          </a:rPr>
                        </m:ctrlPr>
                      </m:sSubPr>
                      <m:e>
                        <m:r>
                          <a:rPr lang="en-US" i="1" dirty="0" smtClean="0">
                            <a:latin typeface="Cambria Math" panose="02040503050406030204" pitchFamily="18" charset="0"/>
                          </a:rPr>
                          <m:t>𝑣</m:t>
                        </m:r>
                      </m:e>
                      <m:sub>
                        <m:r>
                          <a:rPr lang="sv-SE" b="0" i="1" dirty="0" smtClean="0">
                            <a:latin typeface="Cambria Math" panose="02040503050406030204" pitchFamily="18" charset="0"/>
                          </a:rPr>
                          <m:t>𝑘</m:t>
                        </m:r>
                      </m:sub>
                    </m:sSub>
                    <m:r>
                      <a:rPr lang="en-US" i="1" dirty="0" smtClean="0">
                        <a:latin typeface="Cambria Math" panose="02040503050406030204" pitchFamily="18" charset="0"/>
                      </a:rPr>
                      <m:t>( </m:t>
                    </m:r>
                    <m:r>
                      <a:rPr lang="en-US" i="1" dirty="0" smtClean="0">
                        <a:latin typeface="Cambria Math" panose="02040503050406030204" pitchFamily="18" charset="0"/>
                      </a:rPr>
                      <m:t>𝑡</m:t>
                    </m:r>
                    <m:r>
                      <a:rPr lang="en-US" i="1" dirty="0" smtClean="0">
                        <a:latin typeface="Cambria Math" panose="02040503050406030204" pitchFamily="18" charset="0"/>
                      </a:rPr>
                      <m:t>)</m:t>
                    </m:r>
                  </m:oMath>
                </a14:m>
                <a:r>
                  <a:rPr lang="en-US" dirty="0"/>
                  <a:t> each with its own carrier</a:t>
                </a:r>
                <a:r>
                  <a:rPr lang="en-US" dirty="0" smtClean="0"/>
                  <a:t>.</a:t>
                </a:r>
              </a:p>
            </p:txBody>
          </p:sp>
        </mc:Choice>
        <mc:Fallback>
          <p:sp>
            <p:nvSpPr>
              <p:cNvPr id="3" name="Rectangle 2"/>
              <p:cNvSpPr>
                <a:spLocks noRot="1" noChangeAspect="1" noMove="1" noResize="1" noEditPoints="1" noAdjustHandles="1" noChangeArrowheads="1" noChangeShapeType="1" noTextEdit="1"/>
              </p:cNvSpPr>
              <p:nvPr/>
            </p:nvSpPr>
            <p:spPr>
              <a:xfrm>
                <a:off x="378973" y="2090500"/>
                <a:ext cx="6305061" cy="646331"/>
              </a:xfrm>
              <a:prstGeom prst="rect">
                <a:avLst/>
              </a:prstGeom>
              <a:blipFill>
                <a:blip r:embed="rId3"/>
                <a:stretch>
                  <a:fillRect l="-774" t="-5660" b="-14151"/>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459591" y="4015749"/>
                <a:ext cx="6096000" cy="1477328"/>
              </a:xfrm>
              <a:prstGeom prst="rect">
                <a:avLst/>
              </a:prstGeom>
            </p:spPr>
            <p:txBody>
              <a:bodyPr>
                <a:spAutoFit/>
              </a:bodyPr>
              <a:lstStyle/>
              <a:p>
                <a:endParaRPr lang="en-US" dirty="0" smtClean="0"/>
              </a:p>
              <a:p>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 = </m:t>
                    </m:r>
                    <m:sSub>
                      <m:sSubPr>
                        <m:ctrlPr>
                          <a:rPr lang="sv-SE" b="0" i="1" dirty="0" smtClean="0">
                            <a:latin typeface="Cambria Math" panose="02040503050406030204" pitchFamily="18" charset="0"/>
                          </a:rPr>
                        </m:ctrlPr>
                      </m:sSubPr>
                      <m:e>
                        <m:r>
                          <a:rPr lang="en-US" i="1" dirty="0" smtClean="0">
                            <a:latin typeface="Cambria Math" panose="02040503050406030204" pitchFamily="18" charset="0"/>
                          </a:rPr>
                          <m:t>𝑁</m:t>
                        </m:r>
                      </m:e>
                      <m:sub>
                        <m:r>
                          <a:rPr lang="en-US" i="1" dirty="0" smtClean="0">
                            <a:latin typeface="Cambria Math" panose="02040503050406030204" pitchFamily="18" charset="0"/>
                          </a:rPr>
                          <m:t>𝑙𝑒𝑣</m:t>
                        </m:r>
                        <m:r>
                          <a:rPr lang="sv-SE" b="0" i="1" dirty="0" smtClean="0">
                            <a:latin typeface="Cambria Math" panose="02040503050406030204" pitchFamily="18" charset="0"/>
                          </a:rPr>
                          <m:t>𝑒𝑙</m:t>
                        </m:r>
                      </m:sub>
                    </m:sSub>
                    <m:r>
                      <a:rPr lang="en-US" i="1" dirty="0" smtClean="0">
                        <a:latin typeface="Cambria Math" panose="02040503050406030204" pitchFamily="18" charset="0"/>
                      </a:rPr>
                      <m:t>−1 </m:t>
                    </m:r>
                  </m:oMath>
                </a14:m>
                <a:r>
                  <a:rPr lang="en-US" dirty="0"/>
                  <a:t>carriers for </a:t>
                </a:r>
                <a:r>
                  <a:rPr lang="en-US" dirty="0" smtClean="0"/>
                  <a:t>N </a:t>
                </a:r>
                <a:r>
                  <a:rPr lang="en-US" dirty="0"/>
                  <a:t>levels.</a:t>
                </a:r>
              </a:p>
              <a:p>
                <a:endParaRPr lang="en-US" dirty="0"/>
              </a:p>
              <a:p>
                <a:endParaRPr lang="en-US" dirty="0"/>
              </a:p>
              <a:p>
                <a:r>
                  <a:rPr lang="en-US" dirty="0"/>
                  <a:t> Effective switching frequency = Frequency per level × N</a:t>
                </a:r>
                <a:endParaRPr lang="sv-SE" dirty="0"/>
              </a:p>
            </p:txBody>
          </p:sp>
        </mc:Choice>
        <mc:Fallback>
          <p:sp>
            <p:nvSpPr>
              <p:cNvPr id="5" name="Rectangle 4"/>
              <p:cNvSpPr>
                <a:spLocks noRot="1" noChangeAspect="1" noMove="1" noResize="1" noEditPoints="1" noAdjustHandles="1" noChangeArrowheads="1" noChangeShapeType="1" noTextEdit="1"/>
              </p:cNvSpPr>
              <p:nvPr/>
            </p:nvSpPr>
            <p:spPr>
              <a:xfrm>
                <a:off x="459591" y="4015749"/>
                <a:ext cx="6096000" cy="1477328"/>
              </a:xfrm>
              <a:prstGeom prst="rect">
                <a:avLst/>
              </a:prstGeom>
              <a:blipFill>
                <a:blip r:embed="rId4"/>
                <a:stretch>
                  <a:fillRect b="-5785"/>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6" name="Rectangle 5"/>
              <p:cNvSpPr/>
              <p:nvPr/>
            </p:nvSpPr>
            <p:spPr>
              <a:xfrm>
                <a:off x="1689073" y="3037024"/>
                <a:ext cx="2320772" cy="848758"/>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sv-SE" i="1" dirty="0" smtClean="0">
                              <a:latin typeface="Cambria Math" panose="02040503050406030204" pitchFamily="18" charset="0"/>
                            </a:rPr>
                          </m:ctrlPr>
                        </m:sSupPr>
                        <m:e>
                          <m:r>
                            <a:rPr lang="sv-SE" i="1" dirty="0">
                              <a:latin typeface="Cambria Math" panose="02040503050406030204" pitchFamily="18" charset="0"/>
                            </a:rPr>
                            <m:t>𝑣</m:t>
                          </m:r>
                        </m:e>
                        <m:sup>
                          <m:r>
                            <a:rPr lang="sv-SE" i="1" dirty="0">
                              <a:latin typeface="Cambria Math" panose="02040503050406030204" pitchFamily="18" charset="0"/>
                            </a:rPr>
                            <m:t>∑</m:t>
                          </m:r>
                        </m:sup>
                      </m:sSup>
                      <m:r>
                        <a:rPr lang="sv-SE" i="1" dirty="0">
                          <a:latin typeface="Cambria Math" panose="02040503050406030204" pitchFamily="18" charset="0"/>
                        </a:rPr>
                        <m:t>=</m:t>
                      </m:r>
                      <m:nary>
                        <m:naryPr>
                          <m:chr m:val="∑"/>
                          <m:ctrlPr>
                            <a:rPr lang="pt-BR" i="1" dirty="0">
                              <a:latin typeface="Cambria Math" panose="02040503050406030204" pitchFamily="18" charset="0"/>
                            </a:rPr>
                          </m:ctrlPr>
                        </m:naryPr>
                        <m:sub>
                          <m:r>
                            <a:rPr lang="pt-BR" i="1" dirty="0">
                              <a:latin typeface="Cambria Math" panose="02040503050406030204" pitchFamily="18" charset="0"/>
                            </a:rPr>
                            <m:t>𝑘</m:t>
                          </m:r>
                          <m:r>
                            <a:rPr lang="pt-BR" i="1" dirty="0">
                              <a:latin typeface="Cambria Math" panose="02040503050406030204" pitchFamily="18" charset="0"/>
                            </a:rPr>
                            <m:t>=0</m:t>
                          </m:r>
                        </m:sub>
                        <m:sup>
                          <m:r>
                            <a:rPr lang="pt-BR" i="1" dirty="0">
                              <a:latin typeface="Cambria Math" panose="02040503050406030204" pitchFamily="18" charset="0"/>
                            </a:rPr>
                            <m:t>𝑛</m:t>
                          </m:r>
                        </m:sup>
                        <m:e>
                          <m:sSub>
                            <m:sSubPr>
                              <m:ctrlPr>
                                <a:rPr lang="sv-SE" b="0" i="1" dirty="0" smtClean="0">
                                  <a:latin typeface="Cambria Math" panose="02040503050406030204" pitchFamily="18" charset="0"/>
                                </a:rPr>
                              </m:ctrlPr>
                            </m:sSubPr>
                            <m:e>
                              <m:r>
                                <a:rPr lang="sv-SE" b="0" i="1" dirty="0" smtClean="0">
                                  <a:latin typeface="Cambria Math" panose="02040503050406030204" pitchFamily="18" charset="0"/>
                                </a:rPr>
                                <m:t>𝑣</m:t>
                              </m:r>
                            </m:e>
                            <m:sub>
                              <m:r>
                                <a:rPr lang="sv-SE" b="0" i="1" dirty="0" smtClean="0">
                                  <a:latin typeface="Cambria Math" panose="02040503050406030204" pitchFamily="18" charset="0"/>
                                </a:rPr>
                                <m:t>𝑘</m:t>
                              </m:r>
                            </m:sub>
                          </m:sSub>
                          <m:r>
                            <a:rPr lang="sv-SE" b="0" i="1" dirty="0" smtClean="0">
                              <a:latin typeface="Cambria Math" panose="02040503050406030204" pitchFamily="18" charset="0"/>
                            </a:rPr>
                            <m:t>(</m:t>
                          </m:r>
                          <m:r>
                            <a:rPr lang="sv-SE" b="0" i="1" dirty="0" smtClean="0">
                              <a:latin typeface="Cambria Math" panose="02040503050406030204" pitchFamily="18" charset="0"/>
                            </a:rPr>
                            <m:t>𝑡</m:t>
                          </m:r>
                          <m:r>
                            <a:rPr lang="sv-SE" b="0" i="1" dirty="0" smtClean="0">
                              <a:latin typeface="Cambria Math" panose="02040503050406030204" pitchFamily="18" charset="0"/>
                            </a:rPr>
                            <m:t>)</m:t>
                          </m:r>
                        </m:e>
                      </m:nary>
                    </m:oMath>
                  </m:oMathPara>
                </a14:m>
                <a:endParaRPr lang="sv-SE" dirty="0"/>
              </a:p>
            </p:txBody>
          </p:sp>
        </mc:Choice>
        <mc:Fallback>
          <p:sp>
            <p:nvSpPr>
              <p:cNvPr id="6" name="Rectangle 5"/>
              <p:cNvSpPr>
                <a:spLocks noRot="1" noChangeAspect="1" noMove="1" noResize="1" noEditPoints="1" noAdjustHandles="1" noChangeArrowheads="1" noChangeShapeType="1" noTextEdit="1"/>
              </p:cNvSpPr>
              <p:nvPr/>
            </p:nvSpPr>
            <p:spPr>
              <a:xfrm>
                <a:off x="1689073" y="3037024"/>
                <a:ext cx="2320772" cy="848758"/>
              </a:xfrm>
              <a:prstGeom prst="rect">
                <a:avLst/>
              </a:prstGeom>
              <a:blipFill>
                <a:blip r:embed="rId5"/>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2978083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sv-SE" dirty="0" err="1"/>
              <a:t>Multilevel</a:t>
            </a:r>
            <a:r>
              <a:rPr lang="sv-SE" dirty="0"/>
              <a:t> </a:t>
            </a:r>
            <a:r>
              <a:rPr lang="sv-SE" dirty="0" err="1"/>
              <a:t>carrier</a:t>
            </a:r>
            <a:r>
              <a:rPr lang="sv-SE" dirty="0"/>
              <a:t> </a:t>
            </a:r>
            <a:r>
              <a:rPr lang="sv-SE" dirty="0" err="1"/>
              <a:t>based</a:t>
            </a:r>
            <a:r>
              <a:rPr lang="sv-SE" dirty="0"/>
              <a:t> </a:t>
            </a:r>
            <a:r>
              <a:rPr lang="sv-SE" dirty="0" err="1"/>
              <a:t>methods</a:t>
            </a:r>
            <a:endParaRPr lang="sv-SE"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959184" y="1686277"/>
            <a:ext cx="8827429" cy="2934188"/>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2257964" y="4841004"/>
                <a:ext cx="7778151" cy="646331"/>
              </a:xfrm>
              <a:prstGeom prst="rect">
                <a:avLst/>
              </a:prstGeom>
            </p:spPr>
            <p:txBody>
              <a:bodyPr wrap="square">
                <a:spAutoFit/>
              </a:bodyPr>
              <a:lstStyle/>
              <a:p>
                <a:r>
                  <a:rPr lang="en-US" dirty="0" smtClean="0"/>
                  <a:t>All harmonics canceled out expect those around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 = </m:t>
                    </m:r>
                    <m:r>
                      <a:rPr lang="en-US" i="1" dirty="0" smtClean="0">
                        <a:latin typeface="Cambria Math" panose="02040503050406030204" pitchFamily="18" charset="0"/>
                      </a:rPr>
                      <m:t>𝑝</m:t>
                    </m:r>
                    <m:r>
                      <a:rPr lang="en-US" i="1" dirty="0" smtClean="0">
                        <a:latin typeface="Cambria Math" panose="02040503050406030204" pitchFamily="18" charset="0"/>
                      </a:rPr>
                      <m:t> </m:t>
                    </m:r>
                    <m:sSub>
                      <m:sSubPr>
                        <m:ctrlPr>
                          <a:rPr lang="sv-SE" b="0" i="1" dirty="0" smtClean="0">
                            <a:latin typeface="Cambria Math" panose="02040503050406030204" pitchFamily="18" charset="0"/>
                          </a:rPr>
                        </m:ctrlPr>
                      </m:sSubPr>
                      <m:e>
                        <m:r>
                          <a:rPr lang="en-US" i="1" dirty="0" smtClean="0">
                            <a:latin typeface="Cambria Math" panose="02040503050406030204" pitchFamily="18" charset="0"/>
                          </a:rPr>
                          <m:t>𝑓</m:t>
                        </m:r>
                      </m:e>
                      <m:sub>
                        <m:r>
                          <a:rPr lang="en-US" i="1" dirty="0" smtClean="0">
                            <a:latin typeface="Cambria Math" panose="02040503050406030204" pitchFamily="18" charset="0"/>
                          </a:rPr>
                          <m:t>𝑐</m:t>
                        </m:r>
                      </m:sub>
                    </m:sSub>
                    <m:r>
                      <a:rPr lang="en-US" i="1" dirty="0" smtClean="0">
                        <a:latin typeface="Cambria Math" panose="02040503050406030204" pitchFamily="18" charset="0"/>
                      </a:rPr>
                      <m:t> </m:t>
                    </m:r>
                    <m:r>
                      <a:rPr lang="en-US" i="1" dirty="0" smtClean="0">
                        <a:latin typeface="Cambria Math" panose="02040503050406030204" pitchFamily="18" charset="0"/>
                      </a:rPr>
                      <m:t>𝑁</m:t>
                    </m:r>
                    <m:r>
                      <a:rPr lang="en-US" i="1" dirty="0" smtClean="0">
                        <a:latin typeface="Cambria Math" panose="02040503050406030204" pitchFamily="18" charset="0"/>
                      </a:rPr>
                      <m:t> </m:t>
                    </m:r>
                  </m:oMath>
                </a14:m>
                <a:r>
                  <a:rPr lang="en-US" dirty="0"/>
                  <a:t>where </a:t>
                </a:r>
                <a14:m>
                  <m:oMath xmlns:m="http://schemas.openxmlformats.org/officeDocument/2006/math">
                    <m:r>
                      <a:rPr lang="en-US" i="1" dirty="0" smtClean="0">
                        <a:latin typeface="Cambria Math" panose="02040503050406030204" pitchFamily="18" charset="0"/>
                      </a:rPr>
                      <m:t>𝑝</m:t>
                    </m:r>
                  </m:oMath>
                </a14:m>
                <a:r>
                  <a:rPr lang="en-US" dirty="0"/>
                  <a:t> is an </a:t>
                </a:r>
                <a:r>
                  <a:rPr lang="en-US" dirty="0" smtClean="0"/>
                  <a:t>integer, </a:t>
                </a:r>
                <a14:m>
                  <m:oMath xmlns:m="http://schemas.openxmlformats.org/officeDocument/2006/math">
                    <m:sSub>
                      <m:sSubPr>
                        <m:ctrlPr>
                          <a:rPr lang="sv-SE"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𝑐</m:t>
                        </m:r>
                      </m:sub>
                    </m:sSub>
                  </m:oMath>
                </a14:m>
                <a:r>
                  <a:rPr lang="sv-SE" dirty="0" smtClean="0"/>
                  <a:t> is the </a:t>
                </a:r>
                <a:r>
                  <a:rPr lang="sv-SE" dirty="0" err="1" smtClean="0"/>
                  <a:t>switching</a:t>
                </a:r>
                <a:r>
                  <a:rPr lang="sv-SE" dirty="0" smtClean="0"/>
                  <a:t> </a:t>
                </a:r>
                <a:r>
                  <a:rPr lang="sv-SE" dirty="0" err="1" smtClean="0"/>
                  <a:t>frequency</a:t>
                </a:r>
                <a:r>
                  <a:rPr lang="sv-SE" dirty="0" smtClean="0"/>
                  <a:t>, </a:t>
                </a:r>
                <a14:m>
                  <m:oMath xmlns:m="http://schemas.openxmlformats.org/officeDocument/2006/math">
                    <m:r>
                      <a:rPr lang="sv-SE" i="1" dirty="0" smtClean="0">
                        <a:latin typeface="Cambria Math" panose="02040503050406030204" pitchFamily="18" charset="0"/>
                      </a:rPr>
                      <m:t>𝑁</m:t>
                    </m:r>
                  </m:oMath>
                </a14:m>
                <a:r>
                  <a:rPr lang="sv-SE" dirty="0" smtClean="0"/>
                  <a:t> is the </a:t>
                </a:r>
                <a:r>
                  <a:rPr lang="sv-SE" dirty="0" err="1" smtClean="0"/>
                  <a:t>level</a:t>
                </a:r>
                <a:r>
                  <a:rPr lang="sv-SE" dirty="0" smtClean="0"/>
                  <a:t> </a:t>
                </a:r>
                <a:r>
                  <a:rPr lang="sv-SE" dirty="0" err="1" smtClean="0"/>
                  <a:t>number</a:t>
                </a:r>
                <a:r>
                  <a:rPr lang="sv-SE" dirty="0" smtClean="0"/>
                  <a:t>.</a:t>
                </a:r>
                <a:endParaRPr lang="sv-SE" dirty="0"/>
              </a:p>
            </p:txBody>
          </p:sp>
        </mc:Choice>
        <mc:Fallback>
          <p:sp>
            <p:nvSpPr>
              <p:cNvPr id="8" name="Rectangle 7"/>
              <p:cNvSpPr>
                <a:spLocks noRot="1" noChangeAspect="1" noMove="1" noResize="1" noEditPoints="1" noAdjustHandles="1" noChangeArrowheads="1" noChangeShapeType="1" noTextEdit="1"/>
              </p:cNvSpPr>
              <p:nvPr/>
            </p:nvSpPr>
            <p:spPr>
              <a:xfrm>
                <a:off x="2257964" y="4841004"/>
                <a:ext cx="7778151" cy="646331"/>
              </a:xfrm>
              <a:prstGeom prst="rect">
                <a:avLst/>
              </a:prstGeom>
              <a:blipFill>
                <a:blip r:embed="rId3"/>
                <a:stretch>
                  <a:fillRect l="-627" t="-4717" r="-157" b="-14151"/>
                </a:stretch>
              </a:blipFill>
            </p:spPr>
            <p:txBody>
              <a:bodyPr/>
              <a:lstStyle/>
              <a:p>
                <a:r>
                  <a:rPr lang="sv-SE">
                    <a:noFill/>
                  </a:rPr>
                  <a:t> </a:t>
                </a:r>
              </a:p>
            </p:txBody>
          </p:sp>
        </mc:Fallback>
      </mc:AlternateContent>
    </p:spTree>
    <p:extLst>
      <p:ext uri="{BB962C8B-B14F-4D97-AF65-F5344CB8AC3E}">
        <p14:creationId xmlns:p14="http://schemas.microsoft.com/office/powerpoint/2010/main" val="19512810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sv-SE" dirty="0" err="1"/>
              <a:t>Multilevel</a:t>
            </a:r>
            <a:r>
              <a:rPr lang="sv-SE" dirty="0"/>
              <a:t> </a:t>
            </a:r>
            <a:r>
              <a:rPr lang="sv-SE" dirty="0" err="1"/>
              <a:t>carrier</a:t>
            </a:r>
            <a:r>
              <a:rPr lang="sv-SE" dirty="0"/>
              <a:t> </a:t>
            </a:r>
            <a:r>
              <a:rPr lang="sv-SE" dirty="0" err="1"/>
              <a:t>based</a:t>
            </a:r>
            <a:r>
              <a:rPr lang="sv-SE" dirty="0"/>
              <a:t> </a:t>
            </a:r>
            <a:r>
              <a:rPr lang="sv-SE" dirty="0" err="1"/>
              <a:t>methods</a:t>
            </a:r>
            <a:endParaRPr lang="sv-SE"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686034" y="1680508"/>
            <a:ext cx="5274819" cy="3658343"/>
          </a:xfrm>
          <a:prstGeom prst="rect">
            <a:avLst/>
          </a:prstGeom>
        </p:spPr>
      </p:pic>
      <p:pic>
        <p:nvPicPr>
          <p:cNvPr id="11" name="Picture 10"/>
          <p:cNvPicPr>
            <a:picLocks noChangeAspect="1"/>
          </p:cNvPicPr>
          <p:nvPr/>
        </p:nvPicPr>
        <p:blipFill rotWithShape="1">
          <a:blip r:embed="rId2"/>
          <a:srcRect l="46086" b="60262"/>
          <a:stretch/>
        </p:blipFill>
        <p:spPr>
          <a:xfrm>
            <a:off x="7894607" y="2682999"/>
            <a:ext cx="2843841" cy="1453755"/>
          </a:xfrm>
          <a:prstGeom prst="rect">
            <a:avLst/>
          </a:prstGeom>
        </p:spPr>
      </p:pic>
      <p:sp>
        <p:nvSpPr>
          <p:cNvPr id="10" name="Rectangle 9"/>
          <p:cNvSpPr/>
          <p:nvPr/>
        </p:nvSpPr>
        <p:spPr>
          <a:xfrm>
            <a:off x="9099429" y="3518305"/>
            <a:ext cx="1104182" cy="828504"/>
          </a:xfrm>
          <a:prstGeom prst="rect">
            <a:avLst/>
          </a:prstGeom>
          <a:noFill/>
          <a:ln w="28575">
            <a:solidFill>
              <a:srgbClr val="00B05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 name="Rectangle 5"/>
          <p:cNvSpPr/>
          <p:nvPr/>
        </p:nvSpPr>
        <p:spPr>
          <a:xfrm>
            <a:off x="7995247" y="2588129"/>
            <a:ext cx="1104182" cy="905773"/>
          </a:xfrm>
          <a:prstGeom prst="rect">
            <a:avLst/>
          </a:prstGeom>
          <a:noFill/>
          <a:ln w="28575">
            <a:solidFill>
              <a:srgbClr val="FF3399"/>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13" name="Straight Arrow Connector 12"/>
          <p:cNvCxnSpPr>
            <a:stCxn id="6" idx="0"/>
          </p:cNvCxnSpPr>
          <p:nvPr/>
        </p:nvCxnSpPr>
        <p:spPr>
          <a:xfrm flipH="1" flipV="1">
            <a:off x="8540151" y="2044460"/>
            <a:ext cx="7187" cy="543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676070" y="1401214"/>
            <a:ext cx="1742536" cy="646331"/>
          </a:xfrm>
          <a:prstGeom prst="rect">
            <a:avLst/>
          </a:prstGeom>
          <a:noFill/>
        </p:spPr>
        <p:txBody>
          <a:bodyPr wrap="square" rtlCol="0">
            <a:spAutoFit/>
          </a:bodyPr>
          <a:lstStyle/>
          <a:p>
            <a:pPr algn="ctr"/>
            <a:r>
              <a:rPr lang="sv-SE" dirty="0" smtClean="0"/>
              <a:t>T1 T3 </a:t>
            </a:r>
            <a:r>
              <a:rPr lang="sv-SE" dirty="0" err="1" smtClean="0"/>
              <a:t>switching</a:t>
            </a:r>
            <a:r>
              <a:rPr lang="sv-SE" dirty="0" smtClean="0"/>
              <a:t> </a:t>
            </a:r>
            <a:endParaRPr lang="sv-SE" dirty="0"/>
          </a:p>
        </p:txBody>
      </p:sp>
      <p:cxnSp>
        <p:nvCxnSpPr>
          <p:cNvPr id="18" name="Straight Arrow Connector 17"/>
          <p:cNvCxnSpPr/>
          <p:nvPr/>
        </p:nvCxnSpPr>
        <p:spPr>
          <a:xfrm>
            <a:off x="9651520" y="4231624"/>
            <a:ext cx="1" cy="760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780252" y="4972060"/>
            <a:ext cx="1742536" cy="646331"/>
          </a:xfrm>
          <a:prstGeom prst="rect">
            <a:avLst/>
          </a:prstGeom>
          <a:noFill/>
        </p:spPr>
        <p:txBody>
          <a:bodyPr wrap="square" rtlCol="0">
            <a:spAutoFit/>
          </a:bodyPr>
          <a:lstStyle/>
          <a:p>
            <a:pPr algn="ctr"/>
            <a:r>
              <a:rPr lang="sv-SE" dirty="0" smtClean="0"/>
              <a:t>T2 T4 </a:t>
            </a:r>
            <a:r>
              <a:rPr lang="sv-SE" dirty="0" err="1" smtClean="0"/>
              <a:t>switching</a:t>
            </a:r>
            <a:r>
              <a:rPr lang="sv-SE" dirty="0" smtClean="0"/>
              <a:t> </a:t>
            </a:r>
            <a:endParaRPr lang="sv-SE" dirty="0"/>
          </a:p>
        </p:txBody>
      </p:sp>
    </p:spTree>
    <p:extLst>
      <p:ext uri="{BB962C8B-B14F-4D97-AF65-F5344CB8AC3E}">
        <p14:creationId xmlns:p14="http://schemas.microsoft.com/office/powerpoint/2010/main" val="33563079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p:cNvPicPr>
            <a:picLocks noChangeAspect="1"/>
          </p:cNvPicPr>
          <p:nvPr/>
        </p:nvPicPr>
        <p:blipFill>
          <a:blip r:embed="rId2"/>
          <a:stretch>
            <a:fillRect/>
          </a:stretch>
        </p:blipFill>
        <p:spPr>
          <a:xfrm>
            <a:off x="5665588" y="1381125"/>
            <a:ext cx="5987345" cy="3719500"/>
          </a:xfrm>
          <a:prstGeom prst="rect">
            <a:avLst/>
          </a:prstGeom>
        </p:spPr>
      </p:pic>
      <p:sp>
        <p:nvSpPr>
          <p:cNvPr id="4" name="Title 1"/>
          <p:cNvSpPr>
            <a:spLocks noGrp="1"/>
          </p:cNvSpPr>
          <p:nvPr>
            <p:ph type="title"/>
          </p:nvPr>
        </p:nvSpPr>
        <p:spPr>
          <a:xfrm>
            <a:off x="984260" y="283592"/>
            <a:ext cx="10990263" cy="568412"/>
          </a:xfrm>
        </p:spPr>
        <p:txBody>
          <a:bodyPr/>
          <a:lstStyle/>
          <a:p>
            <a:r>
              <a:rPr lang="sv-SE" dirty="0" err="1"/>
              <a:t>Multilevel</a:t>
            </a:r>
            <a:r>
              <a:rPr lang="sv-SE" dirty="0"/>
              <a:t> </a:t>
            </a:r>
            <a:r>
              <a:rPr lang="sv-SE" dirty="0" err="1"/>
              <a:t>carrier</a:t>
            </a:r>
            <a:r>
              <a:rPr lang="sv-SE" dirty="0"/>
              <a:t> </a:t>
            </a:r>
            <a:r>
              <a:rPr lang="sv-SE" dirty="0" err="1"/>
              <a:t>based</a:t>
            </a:r>
            <a:r>
              <a:rPr lang="sv-SE" dirty="0"/>
              <a:t> </a:t>
            </a:r>
            <a:r>
              <a:rPr lang="sv-SE" dirty="0" err="1"/>
              <a:t>methods</a:t>
            </a:r>
            <a:endParaRPr lang="sv-SE"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a:off x="6200775" y="3601616"/>
            <a:ext cx="0" cy="19990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045149" y="5600700"/>
            <a:ext cx="3301851" cy="923330"/>
          </a:xfrm>
          <a:prstGeom prst="rect">
            <a:avLst/>
          </a:prstGeom>
          <a:noFill/>
        </p:spPr>
        <p:txBody>
          <a:bodyPr wrap="square" rtlCol="0">
            <a:spAutoFit/>
          </a:bodyPr>
          <a:lstStyle/>
          <a:p>
            <a:r>
              <a:rPr lang="sv-SE" dirty="0" smtClean="0"/>
              <a:t>The </a:t>
            </a:r>
            <a:r>
              <a:rPr lang="sv-SE" dirty="0" err="1" smtClean="0"/>
              <a:t>carrier</a:t>
            </a:r>
            <a:r>
              <a:rPr lang="sv-SE" dirty="0" smtClean="0"/>
              <a:t> </a:t>
            </a:r>
            <a:r>
              <a:rPr lang="sv-SE" dirty="0" err="1" smtClean="0"/>
              <a:t>frequency</a:t>
            </a:r>
            <a:r>
              <a:rPr lang="sv-SE" dirty="0" smtClean="0"/>
              <a:t> </a:t>
            </a:r>
            <a:r>
              <a:rPr lang="sv-SE" dirty="0" err="1" smtClean="0"/>
              <a:t>should</a:t>
            </a:r>
            <a:r>
              <a:rPr lang="sv-SE" dirty="0" smtClean="0"/>
              <a:t> be double the </a:t>
            </a:r>
            <a:r>
              <a:rPr lang="sv-SE" dirty="0" err="1" smtClean="0"/>
              <a:t>desired</a:t>
            </a:r>
            <a:r>
              <a:rPr lang="sv-SE" dirty="0" smtClean="0"/>
              <a:t> </a:t>
            </a:r>
            <a:r>
              <a:rPr lang="sv-SE" dirty="0" err="1" smtClean="0"/>
              <a:t>switching</a:t>
            </a:r>
            <a:r>
              <a:rPr lang="sv-SE" dirty="0" smtClean="0"/>
              <a:t> </a:t>
            </a:r>
            <a:r>
              <a:rPr lang="sv-SE" dirty="0" err="1" smtClean="0"/>
              <a:t>frequency</a:t>
            </a:r>
            <a:r>
              <a:rPr lang="sv-SE" dirty="0"/>
              <a:t>.</a:t>
            </a:r>
          </a:p>
        </p:txBody>
      </p:sp>
      <p:cxnSp>
        <p:nvCxnSpPr>
          <p:cNvPr id="19" name="Straight Arrow Connector 18"/>
          <p:cNvCxnSpPr/>
          <p:nvPr/>
        </p:nvCxnSpPr>
        <p:spPr>
          <a:xfrm flipH="1">
            <a:off x="6877050" y="4800600"/>
            <a:ext cx="9525" cy="7239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3543300" y="6045548"/>
            <a:ext cx="1190625" cy="168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63624" y="5600700"/>
            <a:ext cx="3301851" cy="1200329"/>
          </a:xfrm>
          <a:prstGeom prst="rect">
            <a:avLst/>
          </a:prstGeom>
          <a:noFill/>
        </p:spPr>
        <p:txBody>
          <a:bodyPr wrap="square" rtlCol="0">
            <a:spAutoFit/>
          </a:bodyPr>
          <a:lstStyle/>
          <a:p>
            <a:r>
              <a:rPr lang="sv-SE" dirty="0" err="1" smtClean="0"/>
              <a:t>Therefore</a:t>
            </a:r>
            <a:r>
              <a:rPr lang="sv-SE" dirty="0" smtClean="0"/>
              <a:t>, the </a:t>
            </a:r>
            <a:r>
              <a:rPr lang="sv-SE" dirty="0" err="1" smtClean="0"/>
              <a:t>average</a:t>
            </a:r>
            <a:r>
              <a:rPr lang="sv-SE" dirty="0" smtClean="0"/>
              <a:t> </a:t>
            </a:r>
            <a:r>
              <a:rPr lang="sv-SE" dirty="0" err="1" smtClean="0"/>
              <a:t>switcing</a:t>
            </a:r>
            <a:r>
              <a:rPr lang="sv-SE" dirty="0" smtClean="0"/>
              <a:t> </a:t>
            </a:r>
            <a:r>
              <a:rPr lang="sv-SE" dirty="0" err="1" smtClean="0"/>
              <a:t>frequency</a:t>
            </a:r>
            <a:r>
              <a:rPr lang="sv-SE" dirty="0"/>
              <a:t> </a:t>
            </a:r>
            <a:r>
              <a:rPr lang="sv-SE" dirty="0" err="1" smtClean="0"/>
              <a:t>would</a:t>
            </a:r>
            <a:r>
              <a:rPr lang="sv-SE" dirty="0" smtClean="0"/>
              <a:t> be the </a:t>
            </a:r>
            <a:r>
              <a:rPr lang="sv-SE" dirty="0" err="1" smtClean="0"/>
              <a:t>half</a:t>
            </a:r>
            <a:r>
              <a:rPr lang="sv-SE" dirty="0" smtClean="0"/>
              <a:t> </a:t>
            </a:r>
            <a:r>
              <a:rPr lang="sv-SE" dirty="0" err="1" smtClean="0"/>
              <a:t>of</a:t>
            </a:r>
            <a:r>
              <a:rPr lang="sv-SE" dirty="0" smtClean="0"/>
              <a:t> the </a:t>
            </a:r>
            <a:r>
              <a:rPr lang="sv-SE" dirty="0" err="1" smtClean="0"/>
              <a:t>carrier</a:t>
            </a:r>
            <a:r>
              <a:rPr lang="sv-SE" dirty="0" smtClean="0"/>
              <a:t> </a:t>
            </a:r>
            <a:r>
              <a:rPr lang="sv-SE" dirty="0" err="1" smtClean="0"/>
              <a:t>frequency</a:t>
            </a:r>
            <a:r>
              <a:rPr lang="sv-SE" dirty="0" smtClean="0"/>
              <a:t>.</a:t>
            </a:r>
            <a:endParaRPr lang="sv-SE" dirty="0"/>
          </a:p>
        </p:txBody>
      </p:sp>
      <p:pic>
        <p:nvPicPr>
          <p:cNvPr id="28" name="Picture 27"/>
          <p:cNvPicPr>
            <a:picLocks noChangeAspect="1"/>
          </p:cNvPicPr>
          <p:nvPr/>
        </p:nvPicPr>
        <p:blipFill>
          <a:blip r:embed="rId3"/>
          <a:stretch>
            <a:fillRect/>
          </a:stretch>
        </p:blipFill>
        <p:spPr>
          <a:xfrm>
            <a:off x="463624" y="1893833"/>
            <a:ext cx="4777970" cy="2968203"/>
          </a:xfrm>
          <a:prstGeom prst="rect">
            <a:avLst/>
          </a:prstGeom>
        </p:spPr>
      </p:pic>
    </p:spTree>
    <p:extLst>
      <p:ext uri="{BB962C8B-B14F-4D97-AF65-F5344CB8AC3E}">
        <p14:creationId xmlns:p14="http://schemas.microsoft.com/office/powerpoint/2010/main" val="5956434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sv-SE" dirty="0" err="1"/>
              <a:t>Multilevel</a:t>
            </a:r>
            <a:r>
              <a:rPr lang="sv-SE" dirty="0"/>
              <a:t> </a:t>
            </a:r>
            <a:r>
              <a:rPr lang="sv-SE" dirty="0" err="1"/>
              <a:t>carrier</a:t>
            </a:r>
            <a:r>
              <a:rPr lang="sv-SE" dirty="0"/>
              <a:t> </a:t>
            </a:r>
            <a:r>
              <a:rPr lang="sv-SE" dirty="0" err="1"/>
              <a:t>based</a:t>
            </a:r>
            <a:r>
              <a:rPr lang="sv-SE" dirty="0"/>
              <a:t> </a:t>
            </a:r>
            <a:r>
              <a:rPr lang="sv-SE" dirty="0" err="1"/>
              <a:t>methods</a:t>
            </a:r>
            <a:endParaRPr lang="sv-SE"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900238" y="1360740"/>
            <a:ext cx="7377112" cy="4582860"/>
          </a:xfrm>
          <a:prstGeom prst="rect">
            <a:avLst/>
          </a:prstGeom>
        </p:spPr>
      </p:pic>
    </p:spTree>
    <p:extLst>
      <p:ext uri="{BB962C8B-B14F-4D97-AF65-F5344CB8AC3E}">
        <p14:creationId xmlns:p14="http://schemas.microsoft.com/office/powerpoint/2010/main" val="38596633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sv-SE" dirty="0" err="1"/>
              <a:t>Multilevel</a:t>
            </a:r>
            <a:r>
              <a:rPr lang="sv-SE" dirty="0"/>
              <a:t> </a:t>
            </a:r>
            <a:r>
              <a:rPr lang="sv-SE" dirty="0" err="1"/>
              <a:t>carrier</a:t>
            </a:r>
            <a:r>
              <a:rPr lang="sv-SE" dirty="0"/>
              <a:t> </a:t>
            </a:r>
            <a:r>
              <a:rPr lang="sv-SE" dirty="0" err="1"/>
              <a:t>based</a:t>
            </a:r>
            <a:r>
              <a:rPr lang="sv-SE" dirty="0"/>
              <a:t> </a:t>
            </a:r>
            <a:r>
              <a:rPr lang="sv-SE" dirty="0" err="1"/>
              <a:t>methods</a:t>
            </a:r>
            <a:endParaRPr lang="sv-SE"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349253" y="1222950"/>
            <a:ext cx="3975097" cy="2981323"/>
          </a:xfrm>
          <a:prstGeom prst="rect">
            <a:avLst/>
          </a:prstGeom>
        </p:spPr>
      </p:pic>
      <p:pic>
        <p:nvPicPr>
          <p:cNvPr id="3" name="Picture 2"/>
          <p:cNvPicPr>
            <a:picLocks noChangeAspect="1"/>
          </p:cNvPicPr>
          <p:nvPr/>
        </p:nvPicPr>
        <p:blipFill>
          <a:blip r:embed="rId3"/>
          <a:stretch>
            <a:fillRect/>
          </a:stretch>
        </p:blipFill>
        <p:spPr>
          <a:xfrm>
            <a:off x="7353301" y="1222950"/>
            <a:ext cx="3829049" cy="2871787"/>
          </a:xfrm>
          <a:prstGeom prst="rect">
            <a:avLst/>
          </a:prstGeom>
        </p:spPr>
      </p:pic>
      <p:pic>
        <p:nvPicPr>
          <p:cNvPr id="5" name="Picture 4"/>
          <p:cNvPicPr>
            <a:picLocks noChangeAspect="1"/>
          </p:cNvPicPr>
          <p:nvPr/>
        </p:nvPicPr>
        <p:blipFill>
          <a:blip r:embed="rId4"/>
          <a:stretch>
            <a:fillRect/>
          </a:stretch>
        </p:blipFill>
        <p:spPr>
          <a:xfrm>
            <a:off x="3704112" y="3619500"/>
            <a:ext cx="4163539" cy="3122655"/>
          </a:xfrm>
          <a:prstGeom prst="rect">
            <a:avLst/>
          </a:prstGeom>
        </p:spPr>
      </p:pic>
    </p:spTree>
    <p:extLst>
      <p:ext uri="{BB962C8B-B14F-4D97-AF65-F5344CB8AC3E}">
        <p14:creationId xmlns:p14="http://schemas.microsoft.com/office/powerpoint/2010/main" val="15120453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sv-SE" dirty="0" err="1"/>
              <a:t>Multilevel</a:t>
            </a:r>
            <a:r>
              <a:rPr lang="sv-SE" dirty="0"/>
              <a:t> </a:t>
            </a:r>
            <a:r>
              <a:rPr lang="sv-SE" dirty="0" smtClean="0"/>
              <a:t>SVM</a:t>
            </a:r>
            <a:endParaRPr lang="sv-SE" dirty="0">
              <a:latin typeface="Times New Roman" panose="02020603050405020304" pitchFamily="18" charset="0"/>
              <a:cs typeface="Times New Roman" panose="02020603050405020304" pitchFamily="18" charset="0"/>
            </a:endParaRPr>
          </a:p>
        </p:txBody>
      </p:sp>
      <p:sp>
        <p:nvSpPr>
          <p:cNvPr id="7" name="Rectangle 6"/>
          <p:cNvSpPr/>
          <p:nvPr/>
        </p:nvSpPr>
        <p:spPr>
          <a:xfrm>
            <a:off x="218536" y="6410076"/>
            <a:ext cx="9874370" cy="369332"/>
          </a:xfrm>
          <a:prstGeom prst="rect">
            <a:avLst/>
          </a:prstGeom>
        </p:spPr>
        <p:txBody>
          <a:bodyPr wrap="square">
            <a:spAutoFit/>
          </a:bodyPr>
          <a:lstStyle/>
          <a:p>
            <a:r>
              <a:rPr lang="sv-SE" dirty="0"/>
              <a:t>https://ieeexplore.ieee.org/stamp/stamp.jsp?tp=&amp;arnumber=8993215</a:t>
            </a:r>
          </a:p>
        </p:txBody>
      </p:sp>
      <p:pic>
        <p:nvPicPr>
          <p:cNvPr id="8" name="Picture 7"/>
          <p:cNvPicPr>
            <a:picLocks noChangeAspect="1"/>
          </p:cNvPicPr>
          <p:nvPr/>
        </p:nvPicPr>
        <p:blipFill>
          <a:blip r:embed="rId2"/>
          <a:stretch>
            <a:fillRect/>
          </a:stretch>
        </p:blipFill>
        <p:spPr>
          <a:xfrm>
            <a:off x="373272" y="1149778"/>
            <a:ext cx="4644640" cy="2481262"/>
          </a:xfrm>
          <a:prstGeom prst="rect">
            <a:avLst/>
          </a:prstGeom>
        </p:spPr>
      </p:pic>
      <p:pic>
        <p:nvPicPr>
          <p:cNvPr id="9" name="Picture 8"/>
          <p:cNvPicPr>
            <a:picLocks noChangeAspect="1"/>
          </p:cNvPicPr>
          <p:nvPr/>
        </p:nvPicPr>
        <p:blipFill>
          <a:blip r:embed="rId3"/>
          <a:stretch>
            <a:fillRect/>
          </a:stretch>
        </p:blipFill>
        <p:spPr>
          <a:xfrm>
            <a:off x="547704" y="4075463"/>
            <a:ext cx="4295775" cy="1714500"/>
          </a:xfrm>
          <a:prstGeom prst="rect">
            <a:avLst/>
          </a:prstGeom>
        </p:spPr>
      </p:pic>
      <p:pic>
        <p:nvPicPr>
          <p:cNvPr id="10" name="Picture 9"/>
          <p:cNvPicPr>
            <a:picLocks noChangeAspect="1"/>
          </p:cNvPicPr>
          <p:nvPr/>
        </p:nvPicPr>
        <p:blipFill>
          <a:blip r:embed="rId4"/>
          <a:stretch>
            <a:fillRect/>
          </a:stretch>
        </p:blipFill>
        <p:spPr>
          <a:xfrm>
            <a:off x="6020967" y="965807"/>
            <a:ext cx="4891447" cy="4677507"/>
          </a:xfrm>
          <a:prstGeom prst="rect">
            <a:avLst/>
          </a:prstGeom>
        </p:spPr>
      </p:pic>
    </p:spTree>
    <p:extLst>
      <p:ext uri="{BB962C8B-B14F-4D97-AF65-F5344CB8AC3E}">
        <p14:creationId xmlns:p14="http://schemas.microsoft.com/office/powerpoint/2010/main" val="35419758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72963" y="786069"/>
            <a:ext cx="2924455" cy="2918042"/>
          </a:xfrm>
          <a:prstGeom prst="rect">
            <a:avLst/>
          </a:prstGeom>
        </p:spPr>
      </p:pic>
      <p:pic>
        <p:nvPicPr>
          <p:cNvPr id="5" name="Picture 4"/>
          <p:cNvPicPr>
            <a:picLocks noChangeAspect="1"/>
          </p:cNvPicPr>
          <p:nvPr/>
        </p:nvPicPr>
        <p:blipFill>
          <a:blip r:embed="rId3"/>
          <a:stretch>
            <a:fillRect/>
          </a:stretch>
        </p:blipFill>
        <p:spPr>
          <a:xfrm>
            <a:off x="1219200" y="3755128"/>
            <a:ext cx="3431983" cy="2582107"/>
          </a:xfrm>
          <a:prstGeom prst="rect">
            <a:avLst/>
          </a:prstGeom>
        </p:spPr>
      </p:pic>
      <p:sp>
        <p:nvSpPr>
          <p:cNvPr id="6" name="Rectangle 5"/>
          <p:cNvSpPr/>
          <p:nvPr/>
        </p:nvSpPr>
        <p:spPr>
          <a:xfrm>
            <a:off x="2390775" y="6421219"/>
            <a:ext cx="7962900" cy="369332"/>
          </a:xfrm>
          <a:prstGeom prst="rect">
            <a:avLst/>
          </a:prstGeom>
        </p:spPr>
        <p:txBody>
          <a:bodyPr wrap="square">
            <a:spAutoFit/>
          </a:bodyPr>
          <a:lstStyle/>
          <a:p>
            <a:r>
              <a:rPr lang="sv-SE" dirty="0"/>
              <a:t>https://ieeexplore.ieee.org/stamp/stamp.jsp?tp=&amp;arnumber=9236106</a:t>
            </a:r>
          </a:p>
        </p:txBody>
      </p:sp>
      <p:pic>
        <p:nvPicPr>
          <p:cNvPr id="7" name="Picture 6"/>
          <p:cNvPicPr>
            <a:picLocks noChangeAspect="1"/>
          </p:cNvPicPr>
          <p:nvPr/>
        </p:nvPicPr>
        <p:blipFill rotWithShape="1">
          <a:blip r:embed="rId4"/>
          <a:srcRect t="-1009" b="10967"/>
          <a:stretch/>
        </p:blipFill>
        <p:spPr>
          <a:xfrm>
            <a:off x="5274945" y="1076324"/>
            <a:ext cx="4016388" cy="4248151"/>
          </a:xfrm>
          <a:prstGeom prst="rect">
            <a:avLst/>
          </a:prstGeom>
        </p:spPr>
      </p:pic>
    </p:spTree>
    <p:extLst>
      <p:ext uri="{BB962C8B-B14F-4D97-AF65-F5344CB8AC3E}">
        <p14:creationId xmlns:p14="http://schemas.microsoft.com/office/powerpoint/2010/main" val="759202319"/>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9181</TotalTime>
  <Words>186</Words>
  <Application>Microsoft Office PowerPoint</Application>
  <PresentationFormat>Widescreen</PresentationFormat>
  <Paragraphs>23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Figtree</vt:lpstr>
      <vt:lpstr>Arial</vt:lpstr>
      <vt:lpstr>Cambria Math</vt:lpstr>
      <vt:lpstr>Times New Roman</vt:lpstr>
      <vt:lpstr>Office-tema</vt:lpstr>
      <vt:lpstr>3-Level Modulation Techniques</vt:lpstr>
      <vt:lpstr>Multilevel Carrier-Based Modulation Methods</vt:lpstr>
      <vt:lpstr>Multilevel carrier based methods</vt:lpstr>
      <vt:lpstr>Multilevel carrier based methods</vt:lpstr>
      <vt:lpstr>Multilevel carrier based methods</vt:lpstr>
      <vt:lpstr>Multilevel carrier based methods</vt:lpstr>
      <vt:lpstr>Multilevel carrier based methods</vt:lpstr>
      <vt:lpstr>Multilevel SVM</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233</cp:revision>
  <dcterms:created xsi:type="dcterms:W3CDTF">2024-01-10T13:17:29Z</dcterms:created>
  <dcterms:modified xsi:type="dcterms:W3CDTF">2025-03-10T15:30:42Z</dcterms:modified>
</cp:coreProperties>
</file>