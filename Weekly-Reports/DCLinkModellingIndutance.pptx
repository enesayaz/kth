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2"/>
  </p:notesMasterIdLst>
  <p:sldIdLst>
    <p:sldId id="256" r:id="rId2"/>
    <p:sldId id="265" r:id="rId3"/>
    <p:sldId id="261" r:id="rId4"/>
    <p:sldId id="268" r:id="rId5"/>
    <p:sldId id="269" r:id="rId6"/>
    <p:sldId id="270" r:id="rId7"/>
    <p:sldId id="271" r:id="rId8"/>
    <p:sldId id="272" r:id="rId9"/>
    <p:sldId id="273" r:id="rId10"/>
    <p:sldId id="274" r:id="rId11"/>
  </p:sldIdLst>
  <p:sldSz cx="12192000" cy="6858000"/>
  <p:notesSz cx="6858000" cy="9144000"/>
  <p:embeddedFontLst>
    <p:embeddedFont>
      <p:font typeface="Calibri" panose="020F0502020204030204" pitchFamily="34" charset="0"/>
      <p:regular r:id="rId13"/>
      <p:bold r:id="rId14"/>
      <p:italic r:id="rId15"/>
      <p:boldItalic r:id="rId16"/>
    </p:embeddedFont>
    <p:embeddedFont>
      <p:font typeface="Cambria Math" panose="02040503050406030204" pitchFamily="18" charset="0"/>
      <p:regular r:id="rId17"/>
    </p:embeddedFont>
    <p:embeddedFont>
      <p:font typeface="Figtree" panose="020B0604020202020204" charset="0"/>
      <p:regular r:id="rId18"/>
      <p:bold r:id="rId19"/>
      <p:italic r:id="rId20"/>
      <p:boldItalic r:id="rId21"/>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74" autoAdjust="0"/>
    <p:restoredTop sz="96327"/>
  </p:normalViewPr>
  <p:slideViewPr>
    <p:cSldViewPr snapToGrid="0">
      <p:cViewPr varScale="1">
        <p:scale>
          <a:sx n="160" d="100"/>
          <a:sy n="160" d="100"/>
        </p:scale>
        <p:origin x="258" y="13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2024-11-14</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2024-11-14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2024-11-14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2024-11-14</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2024-11-14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2024-11-14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2024-11-14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2024-11-14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2024-11-14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2024-11-14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2024-11-14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2024-11-14</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2024-11-14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2024-11-14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2024-11-14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2024-11-14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2024-11-14</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2024-11-14</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2024-11-14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2024-11-14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2024-11-14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2024-11-14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2024-11-14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2024-11-14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2024-11-14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2024-11-14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2024-11-14</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2024-11-14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2024-11-14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2024-11-14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2024-11-14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2024-11-14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2024-11-14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2024-11-14</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2024-11-14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2024-11-14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2024-11-14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2024-11-14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2024-11-14</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2024-11-14</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2024-11-14</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2024-11-14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2024-11-14</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2024-11-14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2024-11-14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2024-11-14</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2024-11-14</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2.xml"/><Relationship Id="rId5" Type="http://schemas.openxmlformats.org/officeDocument/2006/relationships/image" Target="../media/image24.png"/><Relationship Id="rId4" Type="http://schemas.openxmlformats.org/officeDocument/2006/relationships/image" Target="../media/image23.png"/></Relationships>
</file>

<file path=ppt/slides/_rels/slide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5.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a:xfrm>
            <a:off x="1695853" y="3269129"/>
            <a:ext cx="8798701" cy="1956921"/>
          </a:xfrm>
        </p:spPr>
        <p:txBody>
          <a:bodyPr/>
          <a:lstStyle/>
          <a:p>
            <a:r>
              <a:rPr lang="en-US" dirty="0" smtClean="0"/>
              <a:t>Power Loop Inductance Modelling </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r>
              <a:rPr lang="en-US" dirty="0"/>
              <a:t>To Draft </a:t>
            </a:r>
            <a:r>
              <a:rPr lang="en-US" dirty="0" smtClean="0"/>
              <a:t>an </a:t>
            </a:r>
            <a:r>
              <a:rPr lang="en-US" dirty="0"/>
              <a:t>Idea for ECCE-Europe </a:t>
            </a:r>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984260" y="283592"/>
            <a:ext cx="10990263" cy="568412"/>
          </a:xfrm>
        </p:spPr>
        <p:txBody>
          <a:bodyPr/>
          <a:lstStyle/>
          <a:p>
            <a:r>
              <a:rPr lang="en-US" dirty="0" smtClean="0">
                <a:latin typeface="Times New Roman" panose="02020603050405020304" pitchFamily="18" charset="0"/>
                <a:cs typeface="Times New Roman" panose="02020603050405020304" pitchFamily="18" charset="0"/>
              </a:rPr>
              <a:t>Simplified Inverter Model </a:t>
            </a:r>
            <a:endParaRPr lang="sv-SE"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E137606-0038-4161-A922-143AD7681AB4}"/>
              </a:ext>
            </a:extLst>
          </p:cNvPr>
          <p:cNvPicPr>
            <a:picLocks noChangeAspect="1"/>
          </p:cNvPicPr>
          <p:nvPr/>
        </p:nvPicPr>
        <p:blipFill rotWithShape="1">
          <a:blip r:embed="rId2"/>
          <a:srcRect t="9374"/>
          <a:stretch/>
        </p:blipFill>
        <p:spPr>
          <a:xfrm>
            <a:off x="295510" y="1070998"/>
            <a:ext cx="5641253" cy="2397213"/>
          </a:xfrm>
          <a:prstGeom prst="rect">
            <a:avLst/>
          </a:prstGeom>
        </p:spPr>
      </p:pic>
      <p:pic>
        <p:nvPicPr>
          <p:cNvPr id="5" name="Picture 4">
            <a:extLst>
              <a:ext uri="{FF2B5EF4-FFF2-40B4-BE49-F238E27FC236}">
                <a16:creationId xmlns:a16="http://schemas.microsoft.com/office/drawing/2014/main" id="{624A8284-0EA5-4C2D-A8F6-66303CEB5251}"/>
              </a:ext>
            </a:extLst>
          </p:cNvPr>
          <p:cNvPicPr>
            <a:picLocks noChangeAspect="1"/>
          </p:cNvPicPr>
          <p:nvPr/>
        </p:nvPicPr>
        <p:blipFill>
          <a:blip r:embed="rId3"/>
          <a:stretch>
            <a:fillRect/>
          </a:stretch>
        </p:blipFill>
        <p:spPr>
          <a:xfrm>
            <a:off x="6953826" y="1852705"/>
            <a:ext cx="2568580" cy="1253909"/>
          </a:xfrm>
          <a:prstGeom prst="rect">
            <a:avLst/>
          </a:prstGeom>
        </p:spPr>
      </p:pic>
      <p:sp>
        <p:nvSpPr>
          <p:cNvPr id="7" name="TextBox 6"/>
          <p:cNvSpPr txBox="1"/>
          <p:nvPr/>
        </p:nvSpPr>
        <p:spPr>
          <a:xfrm>
            <a:off x="6675664" y="1126000"/>
            <a:ext cx="3704011" cy="646331"/>
          </a:xfrm>
          <a:prstGeom prst="rect">
            <a:avLst/>
          </a:prstGeom>
          <a:noFill/>
        </p:spPr>
        <p:txBody>
          <a:bodyPr wrap="square" rtlCol="0">
            <a:spAutoFit/>
          </a:bodyPr>
          <a:lstStyle/>
          <a:p>
            <a:r>
              <a:rPr lang="sv-SE" dirty="0" smtClean="0">
                <a:latin typeface="Times New Roman" panose="02020603050405020304" pitchFamily="18" charset="0"/>
                <a:cs typeface="Times New Roman" panose="02020603050405020304" pitchFamily="18" charset="0"/>
              </a:rPr>
              <a:t>Do not </a:t>
            </a:r>
            <a:r>
              <a:rPr lang="sv-SE" dirty="0" err="1" smtClean="0">
                <a:latin typeface="Times New Roman" panose="02020603050405020304" pitchFamily="18" charset="0"/>
                <a:cs typeface="Times New Roman" panose="02020603050405020304" pitchFamily="18" charset="0"/>
              </a:rPr>
              <a:t>consider</a:t>
            </a:r>
            <a:r>
              <a:rPr lang="sv-SE" dirty="0" smtClean="0">
                <a:latin typeface="Times New Roman" panose="02020603050405020304" pitchFamily="18" charset="0"/>
                <a:cs typeface="Times New Roman" panose="02020603050405020304" pitchFamily="18" charset="0"/>
              </a:rPr>
              <a:t> output </a:t>
            </a:r>
            <a:r>
              <a:rPr lang="sv-SE" dirty="0" err="1" smtClean="0">
                <a:latin typeface="Times New Roman" panose="02020603050405020304" pitchFamily="18" charset="0"/>
                <a:cs typeface="Times New Roman" panose="02020603050405020304" pitchFamily="18" charset="0"/>
              </a:rPr>
              <a:t>harmonics</a:t>
            </a:r>
            <a:r>
              <a:rPr lang="sv-SE" dirty="0" smtClean="0">
                <a:latin typeface="Times New Roman" panose="02020603050405020304" pitchFamily="18" charset="0"/>
                <a:cs typeface="Times New Roman" panose="02020603050405020304" pitchFamily="18" charset="0"/>
              </a:rPr>
              <a:t> for the </a:t>
            </a:r>
            <a:r>
              <a:rPr lang="sv-SE" dirty="0" err="1" smtClean="0">
                <a:latin typeface="Times New Roman" panose="02020603050405020304" pitchFamily="18" charset="0"/>
                <a:cs typeface="Times New Roman" panose="02020603050405020304" pitchFamily="18" charset="0"/>
              </a:rPr>
              <a:t>phase</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currents</a:t>
            </a:r>
            <a:r>
              <a:rPr lang="sv-SE" dirty="0" smtClean="0">
                <a:latin typeface="Times New Roman" panose="02020603050405020304" pitchFamily="18" charset="0"/>
                <a:cs typeface="Times New Roman" panose="02020603050405020304" pitchFamily="18" charset="0"/>
              </a:rPr>
              <a:t> </a:t>
            </a:r>
            <a:endParaRPr lang="sv-SE"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29651" y="3363919"/>
            <a:ext cx="3704011" cy="369332"/>
          </a:xfrm>
          <a:prstGeom prst="rect">
            <a:avLst/>
          </a:prstGeom>
          <a:noFill/>
        </p:spPr>
        <p:txBody>
          <a:bodyPr wrap="square" rtlCol="0">
            <a:spAutoFit/>
          </a:bodyPr>
          <a:lstStyle/>
          <a:p>
            <a:r>
              <a:rPr lang="sv-SE" dirty="0" err="1" smtClean="0">
                <a:latin typeface="Times New Roman" panose="02020603050405020304" pitchFamily="18" charset="0"/>
                <a:cs typeface="Times New Roman" panose="02020603050405020304" pitchFamily="18" charset="0"/>
              </a:rPr>
              <a:t>Combined</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Inverter</a:t>
            </a:r>
            <a:r>
              <a:rPr lang="sv-SE" dirty="0" smtClean="0">
                <a:latin typeface="Times New Roman" panose="02020603050405020304" pitchFamily="18" charset="0"/>
                <a:cs typeface="Times New Roman" panose="02020603050405020304" pitchFamily="18" charset="0"/>
              </a:rPr>
              <a:t> and </a:t>
            </a:r>
            <a:r>
              <a:rPr lang="sv-SE" dirty="0" err="1" smtClean="0">
                <a:latin typeface="Times New Roman" panose="02020603050405020304" pitchFamily="18" charset="0"/>
                <a:cs typeface="Times New Roman" panose="02020603050405020304" pitchFamily="18" charset="0"/>
              </a:rPr>
              <a:t>battery</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model</a:t>
            </a:r>
            <a:endParaRPr lang="sv-SE"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FCE53E73-1058-4484-9F31-376B4590F2A9}"/>
              </a:ext>
            </a:extLst>
          </p:cNvPr>
          <p:cNvPicPr>
            <a:picLocks noChangeAspect="1"/>
          </p:cNvPicPr>
          <p:nvPr/>
        </p:nvPicPr>
        <p:blipFill rotWithShape="1">
          <a:blip r:embed="rId4"/>
          <a:srcRect l="5820" t="9591"/>
          <a:stretch/>
        </p:blipFill>
        <p:spPr>
          <a:xfrm>
            <a:off x="408136" y="3888777"/>
            <a:ext cx="4480617" cy="1981868"/>
          </a:xfrm>
          <a:prstGeom prst="rect">
            <a:avLst/>
          </a:prstGeom>
        </p:spPr>
      </p:pic>
      <p:sp>
        <p:nvSpPr>
          <p:cNvPr id="10" name="TextBox 9"/>
          <p:cNvSpPr txBox="1"/>
          <p:nvPr/>
        </p:nvSpPr>
        <p:spPr>
          <a:xfrm>
            <a:off x="659014" y="5918595"/>
            <a:ext cx="4229739" cy="646331"/>
          </a:xfrm>
          <a:prstGeom prst="rect">
            <a:avLst/>
          </a:prstGeom>
          <a:noFill/>
        </p:spPr>
        <p:txBody>
          <a:bodyPr wrap="square" rtlCol="0">
            <a:spAutoFit/>
          </a:bodyPr>
          <a:lstStyle/>
          <a:p>
            <a:r>
              <a:rPr lang="sv-SE" dirty="0" smtClean="0">
                <a:latin typeface="Times New Roman" panose="02020603050405020304" pitchFamily="18" charset="0"/>
                <a:cs typeface="Times New Roman" panose="02020603050405020304" pitchFamily="18" charset="0"/>
              </a:rPr>
              <a:t>The </a:t>
            </a:r>
            <a:r>
              <a:rPr lang="sv-SE" dirty="0" err="1" smtClean="0">
                <a:latin typeface="Times New Roman" panose="02020603050405020304" pitchFamily="18" charset="0"/>
                <a:cs typeface="Times New Roman" panose="02020603050405020304" pitchFamily="18" charset="0"/>
              </a:rPr>
              <a:t>inverter</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can</a:t>
            </a:r>
            <a:r>
              <a:rPr lang="sv-SE" dirty="0" smtClean="0">
                <a:latin typeface="Times New Roman" panose="02020603050405020304" pitchFamily="18" charset="0"/>
                <a:cs typeface="Times New Roman" panose="02020603050405020304" pitchFamily="18" charset="0"/>
              </a:rPr>
              <a:t> be </a:t>
            </a:r>
            <a:r>
              <a:rPr lang="sv-SE" dirty="0" err="1" smtClean="0">
                <a:latin typeface="Times New Roman" panose="02020603050405020304" pitchFamily="18" charset="0"/>
                <a:cs typeface="Times New Roman" panose="02020603050405020304" pitchFamily="18" charset="0"/>
              </a:rPr>
              <a:t>modeled</a:t>
            </a:r>
            <a:r>
              <a:rPr lang="sv-SE" dirty="0" smtClean="0">
                <a:latin typeface="Times New Roman" panose="02020603050405020304" pitchFamily="18" charset="0"/>
                <a:cs typeface="Times New Roman" panose="02020603050405020304" pitchFamily="18" charset="0"/>
              </a:rPr>
              <a:t> as </a:t>
            </a:r>
            <a:r>
              <a:rPr lang="sv-SE" dirty="0" err="1" smtClean="0">
                <a:latin typeface="Times New Roman" panose="02020603050405020304" pitchFamily="18" charset="0"/>
                <a:cs typeface="Times New Roman" panose="02020603050405020304" pitchFamily="18" charset="0"/>
              </a:rPr>
              <a:t>current</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sources</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of</a:t>
            </a:r>
            <a:r>
              <a:rPr lang="sv-SE" dirty="0" smtClean="0">
                <a:latin typeface="Times New Roman" panose="02020603050405020304" pitchFamily="18" charset="0"/>
                <a:cs typeface="Times New Roman" panose="02020603050405020304" pitchFamily="18" charset="0"/>
              </a:rPr>
              <a:t> </a:t>
            </a:r>
            <a:r>
              <a:rPr lang="tr-TR" dirty="0" smtClean="0">
                <a:latin typeface="Times New Roman" panose="02020603050405020304" pitchFamily="18" charset="0"/>
                <a:cs typeface="Times New Roman" panose="02020603050405020304" pitchFamily="18" charset="0"/>
              </a:rPr>
              <a:t>harmonic</a:t>
            </a:r>
            <a:r>
              <a:rPr lang="sv-SE" dirty="0" smtClean="0">
                <a:latin typeface="Times New Roman" panose="02020603050405020304" pitchFamily="18" charset="0"/>
                <a:cs typeface="Times New Roman" panose="02020603050405020304" pitchFamily="18" charset="0"/>
              </a:rPr>
              <a:t> </a:t>
            </a:r>
            <a:r>
              <a:rPr lang="sv-SE" dirty="0" err="1" smtClean="0">
                <a:latin typeface="Times New Roman" panose="02020603050405020304" pitchFamily="18" charset="0"/>
                <a:cs typeface="Times New Roman" panose="02020603050405020304" pitchFamily="18" charset="0"/>
              </a:rPr>
              <a:t>components</a:t>
            </a:r>
            <a:r>
              <a:rPr lang="sv-SE" dirty="0" smtClean="0">
                <a:latin typeface="Times New Roman" panose="02020603050405020304" pitchFamily="18" charset="0"/>
                <a:cs typeface="Times New Roman" panose="02020603050405020304" pitchFamily="18" charset="0"/>
              </a:rPr>
              <a:t>.</a:t>
            </a:r>
            <a:endParaRPr lang="sv-SE"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9CFDEA6-CBF2-4265-8180-E6A7970CEDEA}"/>
              </a:ext>
            </a:extLst>
          </p:cNvPr>
          <p:cNvPicPr>
            <a:picLocks noChangeAspect="1"/>
          </p:cNvPicPr>
          <p:nvPr/>
        </p:nvPicPr>
        <p:blipFill>
          <a:blip r:embed="rId5"/>
          <a:stretch>
            <a:fillRect/>
          </a:stretch>
        </p:blipFill>
        <p:spPr>
          <a:xfrm>
            <a:off x="6306074" y="4583496"/>
            <a:ext cx="4276853" cy="592429"/>
          </a:xfrm>
          <a:prstGeom prst="rect">
            <a:avLst/>
          </a:prstGeom>
        </p:spPr>
      </p:pic>
    </p:spTree>
    <p:extLst>
      <p:ext uri="{BB962C8B-B14F-4D97-AF65-F5344CB8AC3E}">
        <p14:creationId xmlns:p14="http://schemas.microsoft.com/office/powerpoint/2010/main" val="34748642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4143" y="276122"/>
            <a:ext cx="10990263" cy="568412"/>
          </a:xfrm>
        </p:spPr>
        <p:txBody>
          <a:bodyPr/>
          <a:lstStyle/>
          <a:p>
            <a:r>
              <a:rPr lang="en-US" dirty="0" smtClean="0">
                <a:latin typeface="Times New Roman" panose="02020603050405020304" pitchFamily="18" charset="0"/>
                <a:cs typeface="Times New Roman" panose="02020603050405020304" pitchFamily="18" charset="0"/>
              </a:rPr>
              <a:t>Current Sources of Harmonics</a:t>
            </a:r>
            <a:endParaRPr lang="sv-SE" dirty="0">
              <a:latin typeface="Times New Roman" panose="02020603050405020304" pitchFamily="18" charset="0"/>
              <a:cs typeface="Times New Roman" panose="02020603050405020304" pitchFamily="18" charset="0"/>
            </a:endParaRPr>
          </a:p>
        </p:txBody>
      </p:sp>
      <p:pic>
        <p:nvPicPr>
          <p:cNvPr id="9" name="Content Placeholder 3">
            <a:extLst>
              <a:ext uri="{FF2B5EF4-FFF2-40B4-BE49-F238E27FC236}">
                <a16:creationId xmlns:a16="http://schemas.microsoft.com/office/drawing/2014/main" id="{2152BF20-F541-4796-9466-8B9519526A7D}"/>
              </a:ext>
            </a:extLst>
          </p:cNvPr>
          <p:cNvPicPr>
            <a:picLocks noGrp="1" noChangeAspect="1"/>
          </p:cNvPicPr>
          <p:nvPr>
            <p:ph idx="1"/>
          </p:nvPr>
        </p:nvPicPr>
        <p:blipFill>
          <a:blip r:embed="rId2"/>
          <a:stretch>
            <a:fillRect/>
          </a:stretch>
        </p:blipFill>
        <p:spPr>
          <a:xfrm>
            <a:off x="3675788" y="1318858"/>
            <a:ext cx="4135459" cy="2713598"/>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416496" y="4594295"/>
                <a:ext cx="1454139"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𝑆</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𝐼</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𝑡</m:t>
                    </m:r>
                    <m:r>
                      <a:rPr lang="en-US" b="0" i="1" smtClean="0">
                        <a:latin typeface="Cambria Math" panose="02040503050406030204" pitchFamily="18" charset="0"/>
                      </a:rPr>
                      <m:t>)</m:t>
                    </m:r>
                  </m:oMath>
                </a14:m>
                <a:r>
                  <a:rPr lang="sv-SE" dirty="0" smtClean="0">
                    <a:latin typeface="Times New Roman" panose="02020603050405020304" pitchFamily="18" charset="0"/>
                    <a:cs typeface="Times New Roman" panose="02020603050405020304" pitchFamily="18" charset="0"/>
                    <a:sym typeface="Wingdings" panose="05000000000000000000" pitchFamily="2" charset="2"/>
                  </a:rPr>
                  <a:t></a:t>
                </a:r>
                <a:endParaRPr lang="sv-SE" dirty="0">
                  <a:latin typeface="Times New Roman" panose="02020603050405020304" pitchFamily="18" charset="0"/>
                  <a:cs typeface="Times New Roman" panose="02020603050405020304" pitchFamily="18" charset="0"/>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416496" y="4594295"/>
                <a:ext cx="1454139" cy="369332"/>
              </a:xfrm>
              <a:prstGeom prst="rect">
                <a:avLst/>
              </a:prstGeom>
              <a:blipFill>
                <a:blip r:embed="rId3"/>
                <a:stretch>
                  <a:fillRect t="-10000" r="-837" b="-26667"/>
                </a:stretch>
              </a:blipFill>
            </p:spPr>
            <p:txBody>
              <a:bodyPr/>
              <a:lstStyle/>
              <a:p>
                <a:r>
                  <a:rPr lang="sv-SE">
                    <a:noFill/>
                  </a:rPr>
                  <a:t> </a:t>
                </a:r>
              </a:p>
            </p:txBody>
          </p:sp>
        </mc:Fallback>
      </mc:AlternateContent>
      <p:sp>
        <p:nvSpPr>
          <p:cNvPr id="4" name="Rectangle 3"/>
          <p:cNvSpPr/>
          <p:nvPr/>
        </p:nvSpPr>
        <p:spPr>
          <a:xfrm>
            <a:off x="1757082" y="4127812"/>
            <a:ext cx="2265082" cy="1477328"/>
          </a:xfrm>
          <a:prstGeom prst="rect">
            <a:avLst/>
          </a:prstGeom>
        </p:spPr>
        <p:txBody>
          <a:bodyPr wrap="square">
            <a:spAutoFit/>
          </a:bodyPr>
          <a:lstStyle/>
          <a:p>
            <a:r>
              <a:rPr lang="sv-SE" dirty="0">
                <a:latin typeface="Times New Roman" panose="02020603050405020304" pitchFamily="18" charset="0"/>
                <a:cs typeface="Times New Roman" panose="02020603050405020304" pitchFamily="18" charset="0"/>
                <a:sym typeface="Wingdings" panose="05000000000000000000" pitchFamily="2" charset="2"/>
              </a:rPr>
              <a:t>Leg </a:t>
            </a:r>
            <a:r>
              <a:rPr lang="sv-SE"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dirty="0">
                <a:latin typeface="Times New Roman" panose="02020603050405020304" pitchFamily="18" charset="0"/>
                <a:cs typeface="Times New Roman" panose="02020603050405020304" pitchFamily="18" charset="0"/>
                <a:sym typeface="Wingdings" panose="05000000000000000000" pitchFamily="2" charset="2"/>
              </a:rPr>
              <a:t> in the  </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time</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domain</a:t>
            </a:r>
            <a:r>
              <a:rPr lang="sv-SE" dirty="0">
                <a:latin typeface="Times New Roman" panose="02020603050405020304" pitchFamily="18" charset="0"/>
                <a:cs typeface="Times New Roman" panose="02020603050405020304" pitchFamily="18" charset="0"/>
                <a:sym typeface="Wingdings" panose="05000000000000000000" pitchFamily="2" charset="2"/>
              </a:rPr>
              <a:t> is the  </a:t>
            </a:r>
            <a:r>
              <a:rPr lang="sv-SE" dirty="0" err="1">
                <a:latin typeface="Times New Roman" panose="02020603050405020304" pitchFamily="18" charset="0"/>
                <a:cs typeface="Times New Roman" panose="02020603050405020304" pitchFamily="18" charset="0"/>
                <a:sym typeface="Wingdings" panose="05000000000000000000" pitchFamily="2" charset="2"/>
              </a:rPr>
              <a:t>multiplication</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of</a:t>
            </a:r>
            <a:r>
              <a:rPr lang="sv-SE" dirty="0">
                <a:latin typeface="Times New Roman" panose="02020603050405020304" pitchFamily="18" charset="0"/>
                <a:cs typeface="Times New Roman" panose="02020603050405020304" pitchFamily="18" charset="0"/>
                <a:sym typeface="Wingdings" panose="05000000000000000000" pitchFamily="2" charset="2"/>
              </a:rPr>
              <a:t> the </a:t>
            </a:r>
            <a:r>
              <a:rPr lang="sv-SE" dirty="0" err="1">
                <a:latin typeface="Times New Roman" panose="02020603050405020304" pitchFamily="18" charset="0"/>
                <a:cs typeface="Times New Roman" panose="02020603050405020304" pitchFamily="18" charset="0"/>
                <a:sym typeface="Wingdings" panose="05000000000000000000" pitchFamily="2" charset="2"/>
              </a:rPr>
              <a:t>phase</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dirty="0">
                <a:latin typeface="Times New Roman" panose="02020603050405020304" pitchFamily="18" charset="0"/>
                <a:cs typeface="Times New Roman" panose="02020603050405020304" pitchFamily="18" charset="0"/>
                <a:sym typeface="Wingdings" panose="05000000000000000000" pitchFamily="2" charset="2"/>
              </a:rPr>
              <a:t> and </a:t>
            </a:r>
            <a:r>
              <a:rPr lang="sv-SE" dirty="0" err="1">
                <a:latin typeface="Times New Roman" panose="02020603050405020304" pitchFamily="18" charset="0"/>
                <a:cs typeface="Times New Roman" panose="02020603050405020304" pitchFamily="18" charset="0"/>
                <a:sym typeface="Wingdings" panose="05000000000000000000" pitchFamily="2" charset="2"/>
              </a:rPr>
              <a:t>switching</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function</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TextBox 15"/>
              <p:cNvSpPr txBox="1"/>
              <p:nvPr/>
            </p:nvSpPr>
            <p:spPr>
              <a:xfrm>
                <a:off x="7191550" y="4506780"/>
                <a:ext cx="2149674" cy="369332"/>
              </a:xfrm>
              <a:prstGeom prst="rect">
                <a:avLst/>
              </a:prstGeom>
              <a:noFill/>
            </p:spPr>
            <p:txBody>
              <a:bodyPr wrap="square" rtlCol="0">
                <a:spAutoFit/>
              </a:bodyPr>
              <a:lstStyle/>
              <a:p>
                <a14:m>
                  <m:oMath xmlns:m="http://schemas.openxmlformats.org/officeDocument/2006/math">
                    <m:sSub>
                      <m:sSubPr>
                        <m:ctrlPr>
                          <a:rPr lang="en-US" b="0" i="1" smtClean="0">
                            <a:latin typeface="Cambria Math" panose="02040503050406030204" pitchFamily="18" charset="0"/>
                          </a:rPr>
                        </m:ctrlPr>
                      </m:sSubPr>
                      <m:e>
                        <m:r>
                          <a:rPr lang="sv-SE" b="0" i="1" smtClean="0">
                            <a:latin typeface="Cambria Math" panose="02040503050406030204" pitchFamily="18" charset="0"/>
                          </a:rPr>
                          <m:t>𝑆</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𝜔</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b="0" i="1" smtClean="0">
                            <a:latin typeface="Cambria Math" panose="02040503050406030204" pitchFamily="18" charset="0"/>
                          </a:rPr>
                          <m:t>𝐼</m:t>
                        </m:r>
                      </m:e>
                      <m:sub>
                        <m:r>
                          <a:rPr lang="en-US" b="0" i="1" smtClean="0">
                            <a:latin typeface="Cambria Math" panose="02040503050406030204" pitchFamily="18" charset="0"/>
                          </a:rPr>
                          <m:t>𝐴</m:t>
                        </m:r>
                      </m:sub>
                    </m:sSub>
                    <m:r>
                      <a:rPr lang="en-US" b="0" i="1" smtClean="0">
                        <a:latin typeface="Cambria Math" panose="02040503050406030204" pitchFamily="18" charset="0"/>
                      </a:rPr>
                      <m:t>(</m:t>
                    </m:r>
                    <m:r>
                      <a:rPr lang="en-US" i="1">
                        <a:latin typeface="Cambria Math" panose="02040503050406030204" pitchFamily="18" charset="0"/>
                      </a:rPr>
                      <m:t>𝜔</m:t>
                    </m:r>
                    <m:r>
                      <a:rPr lang="en-US" b="0" i="1" smtClean="0">
                        <a:latin typeface="Cambria Math" panose="02040503050406030204" pitchFamily="18" charset="0"/>
                      </a:rPr>
                      <m:t>)</m:t>
                    </m:r>
                  </m:oMath>
                </a14:m>
                <a:r>
                  <a:rPr lang="sv-SE" dirty="0" smtClean="0">
                    <a:latin typeface="Times New Roman" panose="02020603050405020304" pitchFamily="18" charset="0"/>
                    <a:cs typeface="Times New Roman" panose="02020603050405020304" pitchFamily="18" charset="0"/>
                    <a:sym typeface="Wingdings" panose="05000000000000000000" pitchFamily="2" charset="2"/>
                  </a:rPr>
                  <a:t></a:t>
                </a:r>
                <a:endParaRPr lang="sv-SE" dirty="0">
                  <a:latin typeface="Times New Roman" panose="02020603050405020304" pitchFamily="18" charset="0"/>
                  <a:cs typeface="Times New Roman" panose="02020603050405020304"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7191550" y="4506780"/>
                <a:ext cx="2149674" cy="369332"/>
              </a:xfrm>
              <a:prstGeom prst="rect">
                <a:avLst/>
              </a:prstGeom>
              <a:blipFill>
                <a:blip r:embed="rId4"/>
                <a:stretch>
                  <a:fillRect t="-8197" b="-24590"/>
                </a:stretch>
              </a:blipFill>
            </p:spPr>
            <p:txBody>
              <a:bodyPr/>
              <a:lstStyle/>
              <a:p>
                <a:r>
                  <a:rPr lang="sv-SE">
                    <a:noFill/>
                  </a:rPr>
                  <a:t> </a:t>
                </a:r>
              </a:p>
            </p:txBody>
          </p:sp>
        </mc:Fallback>
      </mc:AlternateContent>
      <p:sp>
        <p:nvSpPr>
          <p:cNvPr id="18" name="Rectangle 17"/>
          <p:cNvSpPr/>
          <p:nvPr/>
        </p:nvSpPr>
        <p:spPr>
          <a:xfrm>
            <a:off x="9105153" y="4040297"/>
            <a:ext cx="2265082" cy="1477328"/>
          </a:xfrm>
          <a:prstGeom prst="rect">
            <a:avLst/>
          </a:prstGeom>
        </p:spPr>
        <p:txBody>
          <a:bodyPr wrap="square">
            <a:spAutoFit/>
          </a:bodyPr>
          <a:lstStyle/>
          <a:p>
            <a:r>
              <a:rPr lang="sv-SE" dirty="0">
                <a:latin typeface="Times New Roman" panose="02020603050405020304" pitchFamily="18" charset="0"/>
                <a:cs typeface="Times New Roman" panose="02020603050405020304" pitchFamily="18" charset="0"/>
                <a:sym typeface="Wingdings" panose="05000000000000000000" pitchFamily="2" charset="2"/>
              </a:rPr>
              <a:t>Leg </a:t>
            </a:r>
            <a:r>
              <a:rPr lang="sv-SE"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dirty="0">
                <a:latin typeface="Times New Roman" panose="02020603050405020304" pitchFamily="18" charset="0"/>
                <a:cs typeface="Times New Roman" panose="02020603050405020304" pitchFamily="18" charset="0"/>
                <a:sym typeface="Wingdings" panose="05000000000000000000" pitchFamily="2" charset="2"/>
              </a:rPr>
              <a:t> in the  </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frequency</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domain</a:t>
            </a:r>
            <a:r>
              <a:rPr lang="sv-SE" dirty="0">
                <a:latin typeface="Times New Roman" panose="02020603050405020304" pitchFamily="18" charset="0"/>
                <a:cs typeface="Times New Roman" panose="02020603050405020304" pitchFamily="18" charset="0"/>
                <a:sym typeface="Wingdings" panose="05000000000000000000" pitchFamily="2" charset="2"/>
              </a:rPr>
              <a:t> is the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convolution</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of</a:t>
            </a:r>
            <a:r>
              <a:rPr lang="sv-SE" dirty="0">
                <a:latin typeface="Times New Roman" panose="02020603050405020304" pitchFamily="18" charset="0"/>
                <a:cs typeface="Times New Roman" panose="02020603050405020304" pitchFamily="18" charset="0"/>
                <a:sym typeface="Wingdings" panose="05000000000000000000" pitchFamily="2" charset="2"/>
              </a:rPr>
              <a:t> the </a:t>
            </a:r>
            <a:r>
              <a:rPr lang="sv-SE" dirty="0" err="1">
                <a:latin typeface="Times New Roman" panose="02020603050405020304" pitchFamily="18" charset="0"/>
                <a:cs typeface="Times New Roman" panose="02020603050405020304" pitchFamily="18" charset="0"/>
                <a:sym typeface="Wingdings" panose="05000000000000000000" pitchFamily="2" charset="2"/>
              </a:rPr>
              <a:t>phase</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a:latin typeface="Times New Roman" panose="02020603050405020304" pitchFamily="18" charset="0"/>
                <a:cs typeface="Times New Roman" panose="02020603050405020304" pitchFamily="18" charset="0"/>
                <a:sym typeface="Wingdings" panose="05000000000000000000" pitchFamily="2" charset="2"/>
              </a:rPr>
              <a:t>current</a:t>
            </a:r>
            <a:r>
              <a:rPr lang="sv-SE" dirty="0">
                <a:latin typeface="Times New Roman" panose="02020603050405020304" pitchFamily="18" charset="0"/>
                <a:cs typeface="Times New Roman" panose="02020603050405020304" pitchFamily="18" charset="0"/>
                <a:sym typeface="Wingdings" panose="05000000000000000000" pitchFamily="2" charset="2"/>
              </a:rPr>
              <a:t> and </a:t>
            </a:r>
            <a:r>
              <a:rPr lang="sv-SE" dirty="0" err="1">
                <a:latin typeface="Times New Roman" panose="02020603050405020304" pitchFamily="18" charset="0"/>
                <a:cs typeface="Times New Roman" panose="02020603050405020304" pitchFamily="18" charset="0"/>
                <a:sym typeface="Wingdings" panose="05000000000000000000" pitchFamily="2" charset="2"/>
              </a:rPr>
              <a:t>switching</a:t>
            </a:r>
            <a:r>
              <a:rPr lang="sv-SE" dirty="0">
                <a:latin typeface="Times New Roman" panose="02020603050405020304" pitchFamily="18" charset="0"/>
                <a:cs typeface="Times New Roman" panose="02020603050405020304" pitchFamily="18" charset="0"/>
                <a:sym typeface="Wingdings" panose="05000000000000000000" pitchFamily="2" charset="2"/>
              </a:rPr>
              <a:t> </a:t>
            </a:r>
            <a:r>
              <a:rPr lang="sv-SE" dirty="0" err="1" smtClean="0">
                <a:latin typeface="Times New Roman" panose="02020603050405020304" pitchFamily="18" charset="0"/>
                <a:cs typeface="Times New Roman" panose="02020603050405020304" pitchFamily="18" charset="0"/>
                <a:sym typeface="Wingdings" panose="05000000000000000000" pitchFamily="2" charset="2"/>
              </a:rPr>
              <a:t>function</a:t>
            </a:r>
            <a:r>
              <a:rPr lang="sv-SE" dirty="0" smtClean="0">
                <a:latin typeface="Times New Roman" panose="02020603050405020304" pitchFamily="18" charset="0"/>
                <a:cs typeface="Times New Roman" panose="02020603050405020304" pitchFamily="18" charset="0"/>
                <a:sym typeface="Wingdings" panose="05000000000000000000" pitchFamily="2" charset="2"/>
              </a:rPr>
              <a:t> </a:t>
            </a:r>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7732490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t>Impedance Model of an Inverter</a:t>
            </a:r>
            <a:endParaRPr lang="sv-SE" dirty="0"/>
          </a:p>
        </p:txBody>
      </p:sp>
      <p:pic>
        <p:nvPicPr>
          <p:cNvPr id="4" name="Picture 3">
            <a:extLst>
              <a:ext uri="{FF2B5EF4-FFF2-40B4-BE49-F238E27FC236}">
                <a16:creationId xmlns:a16="http://schemas.microsoft.com/office/drawing/2014/main" id="{19403319-733C-4DA3-A9D6-8691AD8FDE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79297" y="1395854"/>
            <a:ext cx="5725220" cy="3119963"/>
          </a:xfrm>
          <a:prstGeom prst="rect">
            <a:avLst/>
          </a:prstGeom>
        </p:spPr>
      </p:pic>
      <p:sp>
        <p:nvSpPr>
          <p:cNvPr id="5" name="TextBox 4"/>
          <p:cNvSpPr txBox="1"/>
          <p:nvPr/>
        </p:nvSpPr>
        <p:spPr>
          <a:xfrm>
            <a:off x="2838825" y="923942"/>
            <a:ext cx="6592046" cy="369332"/>
          </a:xfrm>
          <a:prstGeom prst="rect">
            <a:avLst/>
          </a:prstGeom>
          <a:noFill/>
        </p:spPr>
        <p:txBody>
          <a:bodyPr wrap="square" rtlCol="0">
            <a:spAutoFit/>
          </a:bodyPr>
          <a:lstStyle/>
          <a:p>
            <a:r>
              <a:rPr lang="en-US" dirty="0" smtClean="0"/>
              <a:t>Simplified 3 capacitors and 3 phase Parasitic Model </a:t>
            </a:r>
            <a:endParaRPr lang="sv-SE" dirty="0"/>
          </a:p>
        </p:txBody>
      </p:sp>
      <p:pic>
        <p:nvPicPr>
          <p:cNvPr id="6" name="Picture 5">
            <a:extLst>
              <a:ext uri="{FF2B5EF4-FFF2-40B4-BE49-F238E27FC236}">
                <a16:creationId xmlns:a16="http://schemas.microsoft.com/office/drawing/2014/main" id="{B4BC7DF3-6D61-4EAD-8042-A937582C2F5E}"/>
              </a:ext>
            </a:extLst>
          </p:cNvPr>
          <p:cNvPicPr>
            <a:picLocks noChangeAspect="1"/>
          </p:cNvPicPr>
          <p:nvPr/>
        </p:nvPicPr>
        <p:blipFill>
          <a:blip r:embed="rId3"/>
          <a:stretch>
            <a:fillRect/>
          </a:stretch>
        </p:blipFill>
        <p:spPr>
          <a:xfrm>
            <a:off x="405279" y="4793752"/>
            <a:ext cx="2499524" cy="1460787"/>
          </a:xfrm>
          <a:prstGeom prst="rect">
            <a:avLst/>
          </a:prstGeom>
        </p:spPr>
      </p:pic>
      <p:sp>
        <p:nvSpPr>
          <p:cNvPr id="7" name="TextBox 6"/>
          <p:cNvSpPr txBox="1"/>
          <p:nvPr/>
        </p:nvSpPr>
        <p:spPr>
          <a:xfrm>
            <a:off x="863038" y="6254539"/>
            <a:ext cx="2271059" cy="369332"/>
          </a:xfrm>
          <a:prstGeom prst="rect">
            <a:avLst/>
          </a:prstGeom>
          <a:noFill/>
        </p:spPr>
        <p:txBody>
          <a:bodyPr wrap="square" rtlCol="0">
            <a:spAutoFit/>
          </a:bodyPr>
          <a:lstStyle/>
          <a:p>
            <a:r>
              <a:rPr lang="en-US" dirty="0" smtClean="0"/>
              <a:t>Only Phase A</a:t>
            </a:r>
            <a:endParaRPr lang="sv-SE" dirty="0"/>
          </a:p>
        </p:txBody>
      </p:sp>
      <p:pic>
        <p:nvPicPr>
          <p:cNvPr id="8" name="Picture 7">
            <a:extLst>
              <a:ext uri="{FF2B5EF4-FFF2-40B4-BE49-F238E27FC236}">
                <a16:creationId xmlns:a16="http://schemas.microsoft.com/office/drawing/2014/main" id="{E90F9D6B-9ABD-430E-AB3E-609D3C47CC48}"/>
              </a:ext>
            </a:extLst>
          </p:cNvPr>
          <p:cNvPicPr>
            <a:picLocks noChangeAspect="1"/>
          </p:cNvPicPr>
          <p:nvPr/>
        </p:nvPicPr>
        <p:blipFill>
          <a:blip r:embed="rId4"/>
          <a:stretch>
            <a:fillRect/>
          </a:stretch>
        </p:blipFill>
        <p:spPr>
          <a:xfrm>
            <a:off x="3896659" y="4618397"/>
            <a:ext cx="2980757" cy="1723175"/>
          </a:xfrm>
          <a:prstGeom prst="rect">
            <a:avLst/>
          </a:prstGeom>
        </p:spPr>
      </p:pic>
      <p:pic>
        <p:nvPicPr>
          <p:cNvPr id="9" name="Picture 8">
            <a:extLst>
              <a:ext uri="{FF2B5EF4-FFF2-40B4-BE49-F238E27FC236}">
                <a16:creationId xmlns:a16="http://schemas.microsoft.com/office/drawing/2014/main" id="{2212C732-9EC1-4A4B-B97D-AF19098FB8AB}"/>
              </a:ext>
            </a:extLst>
          </p:cNvPr>
          <p:cNvPicPr>
            <a:picLocks noChangeAspect="1"/>
          </p:cNvPicPr>
          <p:nvPr/>
        </p:nvPicPr>
        <p:blipFill>
          <a:blip r:embed="rId5"/>
          <a:stretch>
            <a:fillRect/>
          </a:stretch>
        </p:blipFill>
        <p:spPr>
          <a:xfrm>
            <a:off x="7843658" y="4595627"/>
            <a:ext cx="3305430" cy="1745945"/>
          </a:xfrm>
          <a:prstGeom prst="rect">
            <a:avLst/>
          </a:prstGeom>
        </p:spPr>
      </p:pic>
      <p:sp>
        <p:nvSpPr>
          <p:cNvPr id="10" name="TextBox 9"/>
          <p:cNvSpPr txBox="1"/>
          <p:nvPr/>
        </p:nvSpPr>
        <p:spPr>
          <a:xfrm>
            <a:off x="4667061" y="6341572"/>
            <a:ext cx="2271059" cy="369332"/>
          </a:xfrm>
          <a:prstGeom prst="rect">
            <a:avLst/>
          </a:prstGeom>
          <a:noFill/>
        </p:spPr>
        <p:txBody>
          <a:bodyPr wrap="square" rtlCol="0">
            <a:spAutoFit/>
          </a:bodyPr>
          <a:lstStyle/>
          <a:p>
            <a:r>
              <a:rPr lang="en-US" dirty="0" smtClean="0"/>
              <a:t>Only Phase B</a:t>
            </a:r>
            <a:endParaRPr lang="sv-SE" dirty="0"/>
          </a:p>
        </p:txBody>
      </p:sp>
      <p:sp>
        <p:nvSpPr>
          <p:cNvPr id="11" name="TextBox 10"/>
          <p:cNvSpPr txBox="1"/>
          <p:nvPr/>
        </p:nvSpPr>
        <p:spPr>
          <a:xfrm>
            <a:off x="8760944" y="6341572"/>
            <a:ext cx="2271059" cy="369332"/>
          </a:xfrm>
          <a:prstGeom prst="rect">
            <a:avLst/>
          </a:prstGeom>
          <a:noFill/>
        </p:spPr>
        <p:txBody>
          <a:bodyPr wrap="square" rtlCol="0">
            <a:spAutoFit/>
          </a:bodyPr>
          <a:lstStyle/>
          <a:p>
            <a:r>
              <a:rPr lang="en-US" dirty="0" smtClean="0"/>
              <a:t>Only Phase C</a:t>
            </a:r>
            <a:endParaRPr lang="sv-SE" dirty="0"/>
          </a:p>
        </p:txBody>
      </p:sp>
    </p:spTree>
    <p:extLst>
      <p:ext uri="{BB962C8B-B14F-4D97-AF65-F5344CB8AC3E}">
        <p14:creationId xmlns:p14="http://schemas.microsoft.com/office/powerpoint/2010/main" val="25589914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t>The Aim of Using Impedance Model</a:t>
            </a:r>
            <a:endParaRPr lang="sv-SE" dirty="0"/>
          </a:p>
        </p:txBody>
      </p:sp>
      <p:sp>
        <p:nvSpPr>
          <p:cNvPr id="20" name="TextBox 19"/>
          <p:cNvSpPr txBox="1"/>
          <p:nvPr/>
        </p:nvSpPr>
        <p:spPr>
          <a:xfrm>
            <a:off x="251011" y="1141471"/>
            <a:ext cx="5354918" cy="5355312"/>
          </a:xfrm>
          <a:prstGeom prst="rect">
            <a:avLst/>
          </a:prstGeom>
          <a:noFill/>
        </p:spPr>
        <p:txBody>
          <a:bodyPr wrap="square" rtlCol="0">
            <a:spAutoFit/>
          </a:bodyPr>
          <a:lstStyle/>
          <a:p>
            <a:pPr marL="342900" indent="-342900" algn="just">
              <a:buFont typeface="+mj-lt"/>
              <a:buAutoNum type="arabicPeriod"/>
            </a:pPr>
            <a:r>
              <a:rPr lang="en-US" dirty="0" smtClean="0"/>
              <a:t>A simplified model does not provide the effective capacitance values for each phase. </a:t>
            </a:r>
          </a:p>
          <a:p>
            <a:pPr marL="342900" indent="-342900" algn="just">
              <a:buFont typeface="+mj-lt"/>
              <a:buAutoNum type="arabicPeriod"/>
            </a:pPr>
            <a:endParaRPr lang="en-US" dirty="0"/>
          </a:p>
          <a:p>
            <a:pPr marL="342900" indent="-342900" algn="just">
              <a:buFont typeface="+mj-lt"/>
              <a:buAutoNum type="arabicPeriod"/>
            </a:pPr>
            <a:r>
              <a:rPr lang="en-US" dirty="0"/>
              <a:t>A simplified model does not provide the current distribution of the capacitors. </a:t>
            </a:r>
            <a:endParaRPr lang="en-US" dirty="0" smtClean="0"/>
          </a:p>
          <a:p>
            <a:pPr marL="342900" indent="-342900" algn="just">
              <a:buFont typeface="+mj-lt"/>
              <a:buAutoNum type="arabicPeriod"/>
            </a:pPr>
            <a:endParaRPr lang="en-US" dirty="0"/>
          </a:p>
          <a:p>
            <a:pPr marL="342900" indent="-342900" algn="just">
              <a:buFont typeface="+mj-lt"/>
              <a:buAutoNum type="arabicPeriod"/>
            </a:pPr>
            <a:r>
              <a:rPr lang="en-US" dirty="0"/>
              <a:t>The uneven current distribution leads to thermal unbalance, which </a:t>
            </a:r>
            <a:r>
              <a:rPr lang="en-US" dirty="0" smtClean="0"/>
              <a:t>affects </a:t>
            </a:r>
            <a:r>
              <a:rPr lang="en-US" dirty="0"/>
              <a:t>the lifetime of the capacitors. </a:t>
            </a:r>
            <a:endParaRPr lang="en-US" dirty="0" smtClean="0"/>
          </a:p>
          <a:p>
            <a:pPr marL="342900" indent="-342900" algn="just">
              <a:buFont typeface="+mj-lt"/>
              <a:buAutoNum type="arabicPeriod"/>
            </a:pPr>
            <a:endParaRPr lang="en-US" dirty="0"/>
          </a:p>
          <a:p>
            <a:pPr marL="342900" indent="-342900" algn="just">
              <a:buFont typeface="+mj-lt"/>
              <a:buAutoNum type="arabicPeriod"/>
            </a:pPr>
            <a:r>
              <a:rPr lang="en-US" dirty="0"/>
              <a:t>The individual capacitance values of the capacitors, but the total capacitance value </a:t>
            </a:r>
            <a:r>
              <a:rPr lang="en-US" dirty="0" smtClean="0"/>
              <a:t>kept </a:t>
            </a:r>
            <a:r>
              <a:rPr lang="en-US" dirty="0"/>
              <a:t>the same, can be re-selected to balance the losses and thermal stress.  </a:t>
            </a:r>
          </a:p>
          <a:p>
            <a:pPr marL="342900" indent="-342900" algn="just">
              <a:buFont typeface="+mj-lt"/>
              <a:buAutoNum type="arabicPeriod"/>
            </a:pPr>
            <a:endParaRPr lang="en-US" dirty="0" smtClean="0"/>
          </a:p>
          <a:p>
            <a:pPr marL="342900" indent="-342900" algn="just">
              <a:buFont typeface="+mj-lt"/>
              <a:buAutoNum type="arabicPeriod"/>
            </a:pPr>
            <a:r>
              <a:rPr lang="en-US" dirty="0"/>
              <a:t>Additionally, </a:t>
            </a:r>
            <a:r>
              <a:rPr lang="en-US" dirty="0" smtClean="0"/>
              <a:t>a resonant structure is created because of the capacitors and stray inductances, which create high impedance for some frequencies. </a:t>
            </a:r>
          </a:p>
        </p:txBody>
      </p:sp>
      <p:pic>
        <p:nvPicPr>
          <p:cNvPr id="22" name="Picture 21"/>
          <p:cNvPicPr>
            <a:picLocks noChangeAspect="1"/>
          </p:cNvPicPr>
          <p:nvPr/>
        </p:nvPicPr>
        <p:blipFill>
          <a:blip r:embed="rId2"/>
          <a:stretch>
            <a:fillRect/>
          </a:stretch>
        </p:blipFill>
        <p:spPr>
          <a:xfrm>
            <a:off x="5947429" y="1807149"/>
            <a:ext cx="5682783" cy="4023955"/>
          </a:xfrm>
          <a:prstGeom prst="rect">
            <a:avLst/>
          </a:prstGeom>
        </p:spPr>
      </p:pic>
      <p:cxnSp>
        <p:nvCxnSpPr>
          <p:cNvPr id="24" name="Straight Arrow Connector 23"/>
          <p:cNvCxnSpPr/>
          <p:nvPr/>
        </p:nvCxnSpPr>
        <p:spPr>
          <a:xfrm flipV="1">
            <a:off x="9418918" y="1141471"/>
            <a:ext cx="561788" cy="167344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flipV="1">
            <a:off x="9705788" y="1141471"/>
            <a:ext cx="400424" cy="1930436"/>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8887013" y="636696"/>
            <a:ext cx="2743199" cy="369332"/>
          </a:xfrm>
          <a:prstGeom prst="rect">
            <a:avLst/>
          </a:prstGeom>
          <a:noFill/>
        </p:spPr>
        <p:txBody>
          <a:bodyPr wrap="square" rtlCol="0">
            <a:spAutoFit/>
          </a:bodyPr>
          <a:lstStyle/>
          <a:p>
            <a:r>
              <a:rPr lang="en-US" dirty="0" smtClean="0"/>
              <a:t>High impedance points</a:t>
            </a:r>
            <a:endParaRPr lang="sv-SE" dirty="0"/>
          </a:p>
        </p:txBody>
      </p:sp>
    </p:spTree>
    <p:extLst>
      <p:ext uri="{BB962C8B-B14F-4D97-AF65-F5344CB8AC3E}">
        <p14:creationId xmlns:p14="http://schemas.microsoft.com/office/powerpoint/2010/main" val="10222071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Impedance Model</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439102026"/>
                  </p:ext>
                </p:extLst>
              </p:nvPr>
            </p:nvGraphicFramePr>
            <p:xfrm>
              <a:off x="1231154" y="1762561"/>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1</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2</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3</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tr-TR" b="0" i="1" smtClean="0">
                                        <a:latin typeface="Cambria Math" panose="02040503050406030204" pitchFamily="18" charset="0"/>
                                      </a:rPr>
                                      <m:t>𝐴</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𝐵</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𝐻</m:t>
                                    </m:r>
                                  </m:e>
                                  <m:sub>
                                    <m:r>
                                      <a:rPr lang="en-US" b="0" i="1" smtClean="0">
                                        <a:latin typeface="Cambria Math" panose="02040503050406030204" pitchFamily="18" charset="0"/>
                                      </a:rPr>
                                      <m:t>4</m:t>
                                    </m:r>
                                    <m:r>
                                      <a:rPr lang="en-US" b="0" i="1" smtClean="0">
                                        <a:latin typeface="Cambria Math" panose="02040503050406030204" pitchFamily="18" charset="0"/>
                                      </a:rPr>
                                      <m:t>𝐶</m:t>
                                    </m:r>
                                  </m:sub>
                                </m:sSub>
                                <m:r>
                                  <a:rPr lang="tr-TR" b="0" i="1" smtClean="0">
                                    <a:latin typeface="Cambria Math" panose="02040503050406030204" pitchFamily="18" charset="0"/>
                                  </a:rPr>
                                  <m:t>(</m:t>
                                </m:r>
                                <m:r>
                                  <a:rPr lang="tr-TR" b="0" i="1" smtClean="0">
                                    <a:latin typeface="Cambria Math" panose="02040503050406030204" pitchFamily="18" charset="0"/>
                                  </a:rPr>
                                  <m:t>𝜔</m:t>
                                </m:r>
                                <m:r>
                                  <a:rPr lang="tr-TR" b="0" i="1" smtClean="0">
                                    <a:latin typeface="Cambria Math" panose="02040503050406030204" pitchFamily="18" charset="0"/>
                                  </a:rPr>
                                  <m:t>)</m:t>
                                </m:r>
                              </m:oMath>
                            </m:oMathPara>
                          </a14:m>
                          <a:endParaRPr lang="en-US" dirty="0"/>
                        </a:p>
                      </a:txBody>
                      <a:tcPr/>
                    </a:tc>
                    <a:extLst>
                      <a:ext uri="{0D108BD9-81ED-4DB2-BD59-A6C34878D82A}">
                        <a16:rowId xmlns:a16="http://schemas.microsoft.com/office/drawing/2014/main" val="170013179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439102026"/>
                  </p:ext>
                </p:extLst>
              </p:nvPr>
            </p:nvGraphicFramePr>
            <p:xfrm>
              <a:off x="1231154" y="1762561"/>
              <a:ext cx="8128000" cy="18491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78631582"/>
                        </a:ext>
                      </a:extLst>
                    </a:gridCol>
                    <a:gridCol w="2032000">
                      <a:extLst>
                        <a:ext uri="{9D8B030D-6E8A-4147-A177-3AD203B41FA5}">
                          <a16:colId xmlns:a16="http://schemas.microsoft.com/office/drawing/2014/main" val="844494951"/>
                        </a:ext>
                      </a:extLst>
                    </a:gridCol>
                    <a:gridCol w="2032000">
                      <a:extLst>
                        <a:ext uri="{9D8B030D-6E8A-4147-A177-3AD203B41FA5}">
                          <a16:colId xmlns:a16="http://schemas.microsoft.com/office/drawing/2014/main" val="3775262176"/>
                        </a:ext>
                      </a:extLst>
                    </a:gridCol>
                    <a:gridCol w="2032000">
                      <a:extLst>
                        <a:ext uri="{9D8B030D-6E8A-4147-A177-3AD203B41FA5}">
                          <a16:colId xmlns:a16="http://schemas.microsoft.com/office/drawing/2014/main" val="3461459550"/>
                        </a:ext>
                      </a:extLst>
                    </a:gridCol>
                  </a:tblGrid>
                  <a:tr h="365760">
                    <a:tc>
                      <a:txBody>
                        <a:bodyPr/>
                        <a:lstStyle/>
                        <a:p>
                          <a:endParaRPr lang="sv-SE" dirty="0"/>
                        </a:p>
                      </a:txBody>
                      <a:tcPr/>
                    </a:tc>
                    <a:tc>
                      <a:txBody>
                        <a:bodyPr/>
                        <a:lstStyle/>
                        <a:p>
                          <a:r>
                            <a:rPr lang="en-US" dirty="0" smtClean="0"/>
                            <a:t>Leg</a:t>
                          </a:r>
                          <a:r>
                            <a:rPr lang="en-US" baseline="0" dirty="0" smtClean="0"/>
                            <a:t> A</a:t>
                          </a:r>
                          <a:endParaRPr lang="sv-SE"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B</a:t>
                          </a:r>
                          <a:endParaRPr lang="sv-SE" dirty="0" smtClean="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Leg</a:t>
                          </a:r>
                          <a:r>
                            <a:rPr lang="en-US" baseline="0" dirty="0" smtClean="0"/>
                            <a:t> C</a:t>
                          </a:r>
                          <a:endParaRPr lang="sv-SE" dirty="0" smtClean="0"/>
                        </a:p>
                      </a:txBody>
                      <a:tcPr/>
                    </a:tc>
                    <a:extLst>
                      <a:ext uri="{0D108BD9-81ED-4DB2-BD59-A6C34878D82A}">
                        <a16:rowId xmlns:a16="http://schemas.microsoft.com/office/drawing/2014/main" val="3784776413"/>
                      </a:ext>
                    </a:extLst>
                  </a:tr>
                  <a:tr h="370840">
                    <a:tc>
                      <a:txBody>
                        <a:bodyPr/>
                        <a:lstStyle/>
                        <a:p>
                          <a:r>
                            <a:rPr lang="en-US" dirty="0" smtClean="0"/>
                            <a:t>Capacitor-1</a:t>
                          </a:r>
                          <a:endParaRPr lang="sv-SE" dirty="0"/>
                        </a:p>
                      </a:txBody>
                      <a:tcPr/>
                    </a:tc>
                    <a:tc>
                      <a:txBody>
                        <a:bodyPr/>
                        <a:lstStyle/>
                        <a:p>
                          <a:endParaRPr lang="sv-SE"/>
                        </a:p>
                      </a:txBody>
                      <a:tcPr>
                        <a:blipFill>
                          <a:blip r:embed="rId2"/>
                          <a:stretch>
                            <a:fillRect l="-100299" t="-106557" r="-200898" b="-324590"/>
                          </a:stretch>
                        </a:blipFill>
                      </a:tcPr>
                    </a:tc>
                    <a:tc>
                      <a:txBody>
                        <a:bodyPr/>
                        <a:lstStyle/>
                        <a:p>
                          <a:endParaRPr lang="sv-SE"/>
                        </a:p>
                      </a:txBody>
                      <a:tcPr>
                        <a:blipFill>
                          <a:blip r:embed="rId2"/>
                          <a:stretch>
                            <a:fillRect l="-200901" t="-106557" r="-101502" b="-324590"/>
                          </a:stretch>
                        </a:blipFill>
                      </a:tcPr>
                    </a:tc>
                    <a:tc>
                      <a:txBody>
                        <a:bodyPr/>
                        <a:lstStyle/>
                        <a:p>
                          <a:endParaRPr lang="sv-SE"/>
                        </a:p>
                      </a:txBody>
                      <a:tcPr>
                        <a:blipFill>
                          <a:blip r:embed="rId2"/>
                          <a:stretch>
                            <a:fillRect l="-300000" t="-106557" r="-1198" b="-324590"/>
                          </a:stretch>
                        </a:blipFill>
                      </a:tcPr>
                    </a:tc>
                    <a:extLst>
                      <a:ext uri="{0D108BD9-81ED-4DB2-BD59-A6C34878D82A}">
                        <a16:rowId xmlns:a16="http://schemas.microsoft.com/office/drawing/2014/main" val="330419332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Capacitor-2</a:t>
                          </a:r>
                          <a:endParaRPr lang="sv-SE" dirty="0" smtClean="0"/>
                        </a:p>
                      </a:txBody>
                      <a:tcPr/>
                    </a:tc>
                    <a:tc>
                      <a:txBody>
                        <a:bodyPr/>
                        <a:lstStyle/>
                        <a:p>
                          <a:endParaRPr lang="sv-SE"/>
                        </a:p>
                      </a:txBody>
                      <a:tcPr>
                        <a:blipFill>
                          <a:blip r:embed="rId2"/>
                          <a:stretch>
                            <a:fillRect l="-100299" t="-206557" r="-200898" b="-224590"/>
                          </a:stretch>
                        </a:blipFill>
                      </a:tcPr>
                    </a:tc>
                    <a:tc>
                      <a:txBody>
                        <a:bodyPr/>
                        <a:lstStyle/>
                        <a:p>
                          <a:endParaRPr lang="sv-SE"/>
                        </a:p>
                      </a:txBody>
                      <a:tcPr>
                        <a:blipFill>
                          <a:blip r:embed="rId2"/>
                          <a:stretch>
                            <a:fillRect l="-200901" t="-206557" r="-101502" b="-224590"/>
                          </a:stretch>
                        </a:blipFill>
                      </a:tcPr>
                    </a:tc>
                    <a:tc>
                      <a:txBody>
                        <a:bodyPr/>
                        <a:lstStyle/>
                        <a:p>
                          <a:endParaRPr lang="sv-SE"/>
                        </a:p>
                      </a:txBody>
                      <a:tcPr>
                        <a:blipFill>
                          <a:blip r:embed="rId2"/>
                          <a:stretch>
                            <a:fillRect l="-300000" t="-206557" r="-1198" b="-224590"/>
                          </a:stretch>
                        </a:blipFill>
                      </a:tcPr>
                    </a:tc>
                    <a:extLst>
                      <a:ext uri="{0D108BD9-81ED-4DB2-BD59-A6C34878D82A}">
                        <a16:rowId xmlns:a16="http://schemas.microsoft.com/office/drawing/2014/main" val="90424896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Capacitor-3</a:t>
                          </a:r>
                          <a:endParaRPr lang="sv-SE" dirty="0" smtClean="0"/>
                        </a:p>
                      </a:txBody>
                      <a:tcPr/>
                    </a:tc>
                    <a:tc>
                      <a:txBody>
                        <a:bodyPr/>
                        <a:lstStyle/>
                        <a:p>
                          <a:endParaRPr lang="sv-SE"/>
                        </a:p>
                      </a:txBody>
                      <a:tcPr>
                        <a:blipFill>
                          <a:blip r:embed="rId2"/>
                          <a:stretch>
                            <a:fillRect l="-100299" t="-306557" r="-200898" b="-124590"/>
                          </a:stretch>
                        </a:blipFill>
                      </a:tcPr>
                    </a:tc>
                    <a:tc>
                      <a:txBody>
                        <a:bodyPr/>
                        <a:lstStyle/>
                        <a:p>
                          <a:endParaRPr lang="sv-SE"/>
                        </a:p>
                      </a:txBody>
                      <a:tcPr>
                        <a:blipFill>
                          <a:blip r:embed="rId2"/>
                          <a:stretch>
                            <a:fillRect l="-200901" t="-306557" r="-101502" b="-124590"/>
                          </a:stretch>
                        </a:blipFill>
                      </a:tcPr>
                    </a:tc>
                    <a:tc>
                      <a:txBody>
                        <a:bodyPr/>
                        <a:lstStyle/>
                        <a:p>
                          <a:endParaRPr lang="sv-SE"/>
                        </a:p>
                      </a:txBody>
                      <a:tcPr>
                        <a:blipFill>
                          <a:blip r:embed="rId2"/>
                          <a:stretch>
                            <a:fillRect l="-300000" t="-306557" r="-1198" b="-124590"/>
                          </a:stretch>
                        </a:blipFill>
                      </a:tcPr>
                    </a:tc>
                    <a:extLst>
                      <a:ext uri="{0D108BD9-81ED-4DB2-BD59-A6C34878D82A}">
                        <a16:rowId xmlns:a16="http://schemas.microsoft.com/office/drawing/2014/main" val="20059962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smtClean="0"/>
                            <a:t>Capacitor-4</a:t>
                          </a:r>
                          <a:endParaRPr lang="sv-SE" dirty="0" smtClean="0"/>
                        </a:p>
                      </a:txBody>
                      <a:tcPr/>
                    </a:tc>
                    <a:tc>
                      <a:txBody>
                        <a:bodyPr/>
                        <a:lstStyle/>
                        <a:p>
                          <a:endParaRPr lang="sv-SE"/>
                        </a:p>
                      </a:txBody>
                      <a:tcPr>
                        <a:blipFill>
                          <a:blip r:embed="rId2"/>
                          <a:stretch>
                            <a:fillRect l="-100299" t="-406557" r="-200898" b="-24590"/>
                          </a:stretch>
                        </a:blipFill>
                      </a:tcPr>
                    </a:tc>
                    <a:tc>
                      <a:txBody>
                        <a:bodyPr/>
                        <a:lstStyle/>
                        <a:p>
                          <a:endParaRPr lang="sv-SE"/>
                        </a:p>
                      </a:txBody>
                      <a:tcPr>
                        <a:blipFill>
                          <a:blip r:embed="rId2"/>
                          <a:stretch>
                            <a:fillRect l="-200901" t="-406557" r="-101502" b="-24590"/>
                          </a:stretch>
                        </a:blipFill>
                      </a:tcPr>
                    </a:tc>
                    <a:tc>
                      <a:txBody>
                        <a:bodyPr/>
                        <a:lstStyle/>
                        <a:p>
                          <a:endParaRPr lang="sv-SE"/>
                        </a:p>
                      </a:txBody>
                      <a:tcPr>
                        <a:blipFill>
                          <a:blip r:embed="rId2"/>
                          <a:stretch>
                            <a:fillRect l="-300000" t="-406557" r="-1198" b="-24590"/>
                          </a:stretch>
                        </a:blipFill>
                      </a:tcPr>
                    </a:tc>
                    <a:extLst>
                      <a:ext uri="{0D108BD9-81ED-4DB2-BD59-A6C34878D82A}">
                        <a16:rowId xmlns:a16="http://schemas.microsoft.com/office/drawing/2014/main" val="1700131790"/>
                      </a:ext>
                    </a:extLst>
                  </a:tr>
                </a:tbl>
              </a:graphicData>
            </a:graphic>
          </p:graphicFrame>
        </mc:Fallback>
      </mc:AlternateContent>
      <p:sp>
        <p:nvSpPr>
          <p:cNvPr id="10" name="Rectangle 9">
            <a:extLst>
              <a:ext uri="{FF2B5EF4-FFF2-40B4-BE49-F238E27FC236}">
                <a16:creationId xmlns:a16="http://schemas.microsoft.com/office/drawing/2014/main" id="{5FD27746-BC71-497E-87F6-231B78DB66C2}"/>
              </a:ext>
            </a:extLst>
          </p:cNvPr>
          <p:cNvSpPr/>
          <p:nvPr/>
        </p:nvSpPr>
        <p:spPr>
          <a:xfrm>
            <a:off x="2766181" y="4087071"/>
            <a:ext cx="6286336" cy="646331"/>
          </a:xfrm>
          <a:prstGeom prst="rect">
            <a:avLst/>
          </a:prstGeom>
        </p:spPr>
        <p:txBody>
          <a:bodyPr wrap="none">
            <a:spAutoFit/>
          </a:bodyPr>
          <a:lstStyle/>
          <a:p>
            <a:r>
              <a:rPr lang="tr-TR" dirty="0" err="1">
                <a:latin typeface="Times New Roman" panose="02020603050405020304" pitchFamily="18" charset="0"/>
                <a:cs typeface="Times New Roman" panose="02020603050405020304" pitchFamily="18" charset="0"/>
              </a:rPr>
              <a:t>The</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response</a:t>
            </a:r>
            <a:r>
              <a:rPr lang="tr-TR" dirty="0">
                <a:latin typeface="Times New Roman" panose="02020603050405020304" pitchFamily="18" charset="0"/>
                <a:cs typeface="Times New Roman" panose="02020603050405020304" pitchFamily="18" charset="0"/>
              </a:rPr>
              <a:t> of </a:t>
            </a:r>
            <a:r>
              <a:rPr lang="tr-TR" dirty="0" err="1">
                <a:latin typeface="Times New Roman" panose="02020603050405020304" pitchFamily="18" charset="0"/>
                <a:cs typeface="Times New Roman" panose="02020603050405020304" pitchFamily="18" charset="0"/>
              </a:rPr>
              <a:t>capacitor</a:t>
            </a:r>
            <a:r>
              <a:rPr lang="tr-TR" dirty="0">
                <a:latin typeface="Times New Roman" panose="02020603050405020304" pitchFamily="18" charset="0"/>
                <a:cs typeface="Times New Roman" panose="02020603050405020304" pitchFamily="18" charset="0"/>
              </a:rPr>
              <a:t> A </a:t>
            </a:r>
            <a:r>
              <a:rPr lang="tr-TR" dirty="0" err="1">
                <a:latin typeface="Times New Roman" panose="02020603050405020304" pitchFamily="18" charset="0"/>
                <a:cs typeface="Times New Roman" panose="02020603050405020304" pitchFamily="18" charset="0"/>
              </a:rPr>
              <a:t>for</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each</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leg</a:t>
            </a:r>
            <a:r>
              <a:rPr lang="tr-TR" dirty="0">
                <a:latin typeface="Times New Roman" panose="02020603050405020304" pitchFamily="18" charset="0"/>
                <a:cs typeface="Times New Roman" panose="02020603050405020304" pitchFamily="18" charset="0"/>
              </a:rPr>
              <a:t> </a:t>
            </a:r>
            <a:r>
              <a:rPr lang="tr-TR" dirty="0" err="1">
                <a:latin typeface="Times New Roman" panose="02020603050405020304" pitchFamily="18" charset="0"/>
                <a:cs typeface="Times New Roman" panose="02020603050405020304" pitchFamily="18" charset="0"/>
              </a:rPr>
              <a:t>should</a:t>
            </a:r>
            <a:r>
              <a:rPr lang="tr-TR" dirty="0">
                <a:latin typeface="Times New Roman" panose="02020603050405020304" pitchFamily="18" charset="0"/>
                <a:cs typeface="Times New Roman" panose="02020603050405020304" pitchFamily="18" charset="0"/>
              </a:rPr>
              <a:t> be </a:t>
            </a:r>
            <a:r>
              <a:rPr lang="tr-TR" dirty="0" err="1">
                <a:latin typeface="Times New Roman" panose="02020603050405020304" pitchFamily="18" charset="0"/>
                <a:cs typeface="Times New Roman" panose="02020603050405020304" pitchFamily="18" charset="0"/>
              </a:rPr>
              <a:t>calculated</a:t>
            </a:r>
            <a:r>
              <a:rPr lang="tr-TR" dirty="0">
                <a:latin typeface="Times New Roman" panose="02020603050405020304" pitchFamily="18" charset="0"/>
                <a:cs typeface="Times New Roman" panose="02020603050405020304" pitchFamily="18" charset="0"/>
              </a:rPr>
              <a:t> as: </a:t>
            </a:r>
          </a:p>
          <a:p>
            <a:endParaRPr lang="en-US"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233270" y="1272209"/>
            <a:ext cx="4733365" cy="369332"/>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Step response of capacitors to each leg</a:t>
            </a:r>
            <a:endParaRPr lang="sv-SE"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EA414EB2-1DD8-401E-96DE-5071FE225EAE}"/>
                  </a:ext>
                </a:extLst>
              </p:cNvPr>
              <p:cNvSpPr/>
              <p:nvPr/>
            </p:nvSpPr>
            <p:spPr>
              <a:xfrm>
                <a:off x="2766181" y="4685244"/>
                <a:ext cx="6323398" cy="390748"/>
              </a:xfrm>
              <a:prstGeom prst="rect">
                <a:avLst/>
              </a:prstGeom>
            </p:spPr>
            <p:txBody>
              <a:bodyPr wrap="none">
                <a:spAutoFit/>
              </a:bodyPr>
              <a:lstStyle/>
              <a:p>
                <a14:m>
                  <m:oMath xmlns:m="http://schemas.openxmlformats.org/officeDocument/2006/math">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𝑐𝑎𝑝𝐴</m:t>
                        </m:r>
                      </m:sub>
                    </m:sSub>
                    <m:r>
                      <a:rPr lang="tr-TR" b="0" i="1" smtClean="0">
                        <a:latin typeface="Cambria Math" panose="02040503050406030204" pitchFamily="18" charset="0"/>
                      </a:rPr>
                      <m:t>= </m:t>
                    </m:r>
                    <m:sSub>
                      <m:sSubPr>
                        <m:ctrlPr>
                          <a:rPr lang="tr-TR" b="0" i="1" smtClean="0">
                            <a:latin typeface="Cambria Math" panose="02040503050406030204" pitchFamily="18" charset="0"/>
                          </a:rPr>
                        </m:ctrlPr>
                      </m:sSubPr>
                      <m:e>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𝑆</m:t>
                            </m:r>
                          </m:e>
                          <m:sub>
                            <m:r>
                              <a:rPr lang="tr-TR" b="0" i="1" smtClean="0">
                                <a:latin typeface="Cambria Math" panose="02040503050406030204" pitchFamily="18" charset="0"/>
                              </a:rPr>
                              <m:t>𝐴</m:t>
                            </m:r>
                          </m:sub>
                        </m:sSub>
                        <m:r>
                          <a:rPr lang="en-US" b="0" i="1" smtClean="0">
                            <a:latin typeface="Cambria Math" panose="02040503050406030204" pitchFamily="18" charset="0"/>
                          </a:rPr>
                          <m:t>∗</m:t>
                        </m:r>
                        <m:sSub>
                          <m:sSubPr>
                            <m:ctrlPr>
                              <a:rPr lang="tr-TR" b="0" i="1" smtClean="0">
                                <a:latin typeface="Cambria Math" panose="02040503050406030204" pitchFamily="18" charset="0"/>
                              </a:rPr>
                            </m:ctrlPr>
                          </m:sSubPr>
                          <m:e>
                            <m:r>
                              <a:rPr lang="tr-TR" b="0" i="1" smtClean="0">
                                <a:latin typeface="Cambria Math" panose="02040503050406030204" pitchFamily="18" charset="0"/>
                              </a:rPr>
                              <m:t>𝐼</m:t>
                            </m:r>
                          </m:e>
                          <m:sub>
                            <m:r>
                              <a:rPr lang="tr-TR" b="0" i="1" smtClean="0">
                                <a:latin typeface="Cambria Math" panose="02040503050406030204" pitchFamily="18" charset="0"/>
                              </a:rPr>
                              <m:t>𝐴</m:t>
                            </m:r>
                          </m:sub>
                        </m:sSub>
                        <m:r>
                          <a:rPr lang="en-US" b="0" i="1" smtClean="0">
                            <a:latin typeface="Cambria Math" panose="02040503050406030204" pitchFamily="18" charset="0"/>
                          </a:rPr>
                          <m:t> )</m:t>
                        </m:r>
                        <m:r>
                          <a:rPr lang="tr-TR" b="0" i="1" smtClean="0">
                            <a:latin typeface="Cambria Math" panose="02040503050406030204" pitchFamily="18" charset="0"/>
                          </a:rPr>
                          <m:t>𝐻</m:t>
                        </m:r>
                      </m:e>
                      <m:sub>
                        <m:r>
                          <a:rPr lang="en-US" b="0" i="1" smtClean="0">
                            <a:latin typeface="Cambria Math" panose="02040503050406030204" pitchFamily="18" charset="0"/>
                          </a:rPr>
                          <m:t>1</m:t>
                        </m:r>
                        <m:r>
                          <a:rPr lang="tr-TR" b="0" i="1" smtClean="0">
                            <a:latin typeface="Cambria Math" panose="02040503050406030204" pitchFamily="18" charset="0"/>
                          </a:rPr>
                          <m:t>𝐴</m:t>
                        </m:r>
                      </m:sub>
                    </m:sSub>
                    <m:d>
                      <m:dPr>
                        <m:ctrlPr>
                          <a:rPr lang="tr-TR" b="0" i="1" smtClean="0">
                            <a:latin typeface="Cambria Math" panose="02040503050406030204" pitchFamily="18" charset="0"/>
                          </a:rPr>
                        </m:ctrlPr>
                      </m:dPr>
                      <m:e>
                        <m:r>
                          <a:rPr lang="tr-TR" b="0" i="1" smtClean="0">
                            <a:latin typeface="Cambria Math" panose="02040503050406030204" pitchFamily="18" charset="0"/>
                          </a:rPr>
                          <m:t>𝜔</m:t>
                        </m:r>
                      </m:e>
                    </m:d>
                    <m:r>
                      <a:rPr lang="tr-TR" b="0" i="0" smtClean="0">
                        <a:latin typeface="Cambria Math" panose="02040503050406030204" pitchFamily="18" charset="0"/>
                      </a:rPr>
                      <m:t>+</m:t>
                    </m:r>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𝐵</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𝐵</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𝐵</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r>
                  <a:rPr lang="en-US" dirty="0" smtClean="0"/>
                  <a:t>+</a:t>
                </a:r>
                <a14:m>
                  <m:oMath xmlns:m="http://schemas.openxmlformats.org/officeDocument/2006/math">
                    <m:sSub>
                      <m:sSubPr>
                        <m:ctrlPr>
                          <a:rPr lang="tr-TR" i="1">
                            <a:latin typeface="Cambria Math" panose="02040503050406030204" pitchFamily="18" charset="0"/>
                          </a:rPr>
                        </m:ctrlPr>
                      </m:sSubPr>
                      <m:e>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𝑆</m:t>
                            </m:r>
                          </m:e>
                          <m:sub>
                            <m:r>
                              <a:rPr lang="en-US" b="0" i="1" smtClean="0">
                                <a:latin typeface="Cambria Math" panose="02040503050406030204" pitchFamily="18" charset="0"/>
                              </a:rPr>
                              <m:t>𝐶</m:t>
                            </m:r>
                          </m:sub>
                        </m:sSub>
                        <m:r>
                          <a:rPr lang="en-US" i="1">
                            <a:latin typeface="Cambria Math" panose="02040503050406030204" pitchFamily="18" charset="0"/>
                          </a:rPr>
                          <m:t>∗</m:t>
                        </m:r>
                        <m:sSub>
                          <m:sSubPr>
                            <m:ctrlPr>
                              <a:rPr lang="tr-TR" i="1">
                                <a:latin typeface="Cambria Math" panose="02040503050406030204" pitchFamily="18" charset="0"/>
                              </a:rPr>
                            </m:ctrlPr>
                          </m:sSubPr>
                          <m:e>
                            <m:r>
                              <a:rPr lang="tr-TR" i="1">
                                <a:latin typeface="Cambria Math" panose="02040503050406030204" pitchFamily="18" charset="0"/>
                              </a:rPr>
                              <m:t>𝐼</m:t>
                            </m:r>
                          </m:e>
                          <m:sub>
                            <m:r>
                              <a:rPr lang="en-US" b="0" i="1" smtClean="0">
                                <a:latin typeface="Cambria Math" panose="02040503050406030204" pitchFamily="18" charset="0"/>
                              </a:rPr>
                              <m:t>𝐶</m:t>
                            </m:r>
                          </m:sub>
                        </m:sSub>
                        <m:r>
                          <a:rPr lang="en-US" i="1">
                            <a:latin typeface="Cambria Math" panose="02040503050406030204" pitchFamily="18" charset="0"/>
                          </a:rPr>
                          <m:t> )</m:t>
                        </m:r>
                        <m:r>
                          <a:rPr lang="tr-TR" i="1">
                            <a:latin typeface="Cambria Math" panose="02040503050406030204" pitchFamily="18" charset="0"/>
                          </a:rPr>
                          <m:t>𝐻</m:t>
                        </m:r>
                      </m:e>
                      <m:sub>
                        <m:r>
                          <a:rPr lang="en-US" i="1">
                            <a:latin typeface="Cambria Math" panose="02040503050406030204" pitchFamily="18" charset="0"/>
                          </a:rPr>
                          <m:t>1</m:t>
                        </m:r>
                        <m:r>
                          <a:rPr lang="en-US" b="0" i="1" smtClean="0">
                            <a:latin typeface="Cambria Math" panose="02040503050406030204" pitchFamily="18" charset="0"/>
                          </a:rPr>
                          <m:t>𝐶</m:t>
                        </m:r>
                      </m:sub>
                    </m:sSub>
                    <m:d>
                      <m:dPr>
                        <m:ctrlPr>
                          <a:rPr lang="tr-TR" i="1">
                            <a:latin typeface="Cambria Math" panose="02040503050406030204" pitchFamily="18" charset="0"/>
                          </a:rPr>
                        </m:ctrlPr>
                      </m:dPr>
                      <m:e>
                        <m:r>
                          <a:rPr lang="tr-TR" i="1">
                            <a:latin typeface="Cambria Math" panose="02040503050406030204" pitchFamily="18" charset="0"/>
                          </a:rPr>
                          <m:t>𝜔</m:t>
                        </m:r>
                      </m:e>
                    </m:d>
                  </m:oMath>
                </a14:m>
                <a:endParaRPr lang="en-US" dirty="0"/>
              </a:p>
            </p:txBody>
          </p:sp>
        </mc:Choice>
        <mc:Fallback xmlns="">
          <p:sp>
            <p:nvSpPr>
              <p:cNvPr id="12" name="Rectangle 11">
                <a:extLst>
                  <a:ext uri="{FF2B5EF4-FFF2-40B4-BE49-F238E27FC236}">
                    <a16:creationId xmlns:a16="http://schemas.microsoft.com/office/drawing/2014/main" id="{EA414EB2-1DD8-401E-96DE-5071FE225EAE}"/>
                  </a:ext>
                </a:extLst>
              </p:cNvPr>
              <p:cNvSpPr>
                <a:spLocks noRot="1" noChangeAspect="1" noMove="1" noResize="1" noEditPoints="1" noAdjustHandles="1" noChangeArrowheads="1" noChangeShapeType="1" noTextEdit="1"/>
              </p:cNvSpPr>
              <p:nvPr/>
            </p:nvSpPr>
            <p:spPr>
              <a:xfrm>
                <a:off x="2766181" y="4685244"/>
                <a:ext cx="6323398" cy="390748"/>
              </a:xfrm>
              <a:prstGeom prst="rect">
                <a:avLst/>
              </a:prstGeom>
              <a:blipFill>
                <a:blip r:embed="rId3"/>
                <a:stretch>
                  <a:fillRect t="-9375" b="-18750"/>
                </a:stretch>
              </a:blipFill>
            </p:spPr>
            <p:txBody>
              <a:bodyPr/>
              <a:lstStyle/>
              <a:p>
                <a:r>
                  <a:rPr lang="sv-SE">
                    <a:noFill/>
                  </a:rPr>
                  <a:t> </a:t>
                </a:r>
              </a:p>
            </p:txBody>
          </p:sp>
        </mc:Fallback>
      </mc:AlternateContent>
    </p:spTree>
    <p:extLst>
      <p:ext uri="{BB962C8B-B14F-4D97-AF65-F5344CB8AC3E}">
        <p14:creationId xmlns:p14="http://schemas.microsoft.com/office/powerpoint/2010/main" val="771164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err="1" smtClean="0">
                <a:latin typeface="Times New Roman" panose="02020603050405020304" pitchFamily="18" charset="0"/>
                <a:cs typeface="Times New Roman" panose="02020603050405020304" pitchFamily="18" charset="0"/>
              </a:rPr>
              <a:t>Busbar</a:t>
            </a:r>
            <a:r>
              <a:rPr lang="en-US" dirty="0" smtClean="0">
                <a:latin typeface="Times New Roman" panose="02020603050405020304" pitchFamily="18" charset="0"/>
                <a:cs typeface="Times New Roman" panose="02020603050405020304" pitchFamily="18" charset="0"/>
              </a:rPr>
              <a:t> Geometry from Shahriar</a:t>
            </a:r>
            <a:endParaRPr lang="sv-SE"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620993" y="1296894"/>
            <a:ext cx="4022495" cy="4678176"/>
          </a:xfrm>
          <a:prstGeom prst="rect">
            <a:avLst/>
          </a:prstGeom>
        </p:spPr>
      </p:pic>
      <p:sp>
        <p:nvSpPr>
          <p:cNvPr id="6" name="Rectangle 5"/>
          <p:cNvSpPr/>
          <p:nvPr/>
        </p:nvSpPr>
        <p:spPr>
          <a:xfrm>
            <a:off x="1326776" y="175110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 name="Rectangle 8"/>
          <p:cNvSpPr/>
          <p:nvPr/>
        </p:nvSpPr>
        <p:spPr>
          <a:xfrm>
            <a:off x="2823882" y="1795929"/>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1326776"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Rectangle 12"/>
          <p:cNvSpPr/>
          <p:nvPr/>
        </p:nvSpPr>
        <p:spPr>
          <a:xfrm>
            <a:off x="2823882"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 name="Rectangle 13"/>
          <p:cNvSpPr/>
          <p:nvPr/>
        </p:nvSpPr>
        <p:spPr>
          <a:xfrm>
            <a:off x="3236819"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5" name="Rectangle 14"/>
          <p:cNvSpPr/>
          <p:nvPr/>
        </p:nvSpPr>
        <p:spPr>
          <a:xfrm>
            <a:off x="2188767"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6" name="Rectangle 15"/>
          <p:cNvSpPr/>
          <p:nvPr/>
        </p:nvSpPr>
        <p:spPr>
          <a:xfrm>
            <a:off x="1140715"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 name="Rectangle 16"/>
          <p:cNvSpPr/>
          <p:nvPr/>
        </p:nvSpPr>
        <p:spPr>
          <a:xfrm>
            <a:off x="5349271" y="1912470"/>
            <a:ext cx="304470" cy="295835"/>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8" name="Rectangle 17"/>
          <p:cNvSpPr/>
          <p:nvPr/>
        </p:nvSpPr>
        <p:spPr>
          <a:xfrm>
            <a:off x="5349271" y="2402541"/>
            <a:ext cx="292286" cy="262965"/>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7" name="TextBox 6"/>
          <p:cNvSpPr txBox="1"/>
          <p:nvPr/>
        </p:nvSpPr>
        <p:spPr>
          <a:xfrm>
            <a:off x="5827059" y="1840753"/>
            <a:ext cx="1679388" cy="369332"/>
          </a:xfrm>
          <a:prstGeom prst="rect">
            <a:avLst/>
          </a:prstGeom>
          <a:noFill/>
        </p:spPr>
        <p:txBody>
          <a:bodyPr wrap="square" rtlCol="0">
            <a:spAutoFit/>
          </a:bodyPr>
          <a:lstStyle/>
          <a:p>
            <a:r>
              <a:rPr lang="en-US" dirty="0" smtClean="0"/>
              <a:t>Capacitor</a:t>
            </a:r>
            <a:endParaRPr lang="sv-SE" dirty="0"/>
          </a:p>
        </p:txBody>
      </p:sp>
      <p:sp>
        <p:nvSpPr>
          <p:cNvPr id="19" name="TextBox 18"/>
          <p:cNvSpPr txBox="1"/>
          <p:nvPr/>
        </p:nvSpPr>
        <p:spPr>
          <a:xfrm>
            <a:off x="5816929" y="2340997"/>
            <a:ext cx="2058895" cy="369332"/>
          </a:xfrm>
          <a:prstGeom prst="rect">
            <a:avLst/>
          </a:prstGeom>
          <a:noFill/>
        </p:spPr>
        <p:txBody>
          <a:bodyPr wrap="square" rtlCol="0">
            <a:spAutoFit/>
          </a:bodyPr>
          <a:lstStyle/>
          <a:p>
            <a:r>
              <a:rPr lang="en-US" dirty="0" smtClean="0"/>
              <a:t>Power Modules</a:t>
            </a:r>
            <a:endParaRPr lang="sv-SE" dirty="0"/>
          </a:p>
        </p:txBody>
      </p:sp>
      <p:sp>
        <p:nvSpPr>
          <p:cNvPr id="8" name="Oval 7"/>
          <p:cNvSpPr/>
          <p:nvPr/>
        </p:nvSpPr>
        <p:spPr>
          <a:xfrm>
            <a:off x="5349271" y="2928471"/>
            <a:ext cx="214823" cy="191247"/>
          </a:xfrm>
          <a:prstGeom prst="ellipse">
            <a:avLst/>
          </a:prstGeom>
          <a:solidFill>
            <a:srgbClr val="0029ED"/>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TextBox 19"/>
          <p:cNvSpPr txBox="1"/>
          <p:nvPr/>
        </p:nvSpPr>
        <p:spPr>
          <a:xfrm>
            <a:off x="5796012" y="2839428"/>
            <a:ext cx="2058895" cy="369332"/>
          </a:xfrm>
          <a:prstGeom prst="rect">
            <a:avLst/>
          </a:prstGeom>
          <a:noFill/>
        </p:spPr>
        <p:txBody>
          <a:bodyPr wrap="square" rtlCol="0">
            <a:spAutoFit/>
          </a:bodyPr>
          <a:lstStyle/>
          <a:p>
            <a:r>
              <a:rPr lang="en-US" dirty="0" smtClean="0"/>
              <a:t>DC- Nodes</a:t>
            </a:r>
            <a:endParaRPr lang="sv-SE" dirty="0"/>
          </a:p>
        </p:txBody>
      </p:sp>
      <p:sp>
        <p:nvSpPr>
          <p:cNvPr id="21" name="Oval 20"/>
          <p:cNvSpPr/>
          <p:nvPr/>
        </p:nvSpPr>
        <p:spPr>
          <a:xfrm>
            <a:off x="5349270" y="3310666"/>
            <a:ext cx="214823" cy="191247"/>
          </a:xfrm>
          <a:prstGeom prst="ellipse">
            <a:avLst/>
          </a:prstGeom>
          <a:solidFill>
            <a:srgbClr val="FF0000"/>
          </a:solidFill>
          <a:ln>
            <a:solidFill>
              <a:schemeClr val="accent6">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3" name="TextBox 22"/>
          <p:cNvSpPr txBox="1"/>
          <p:nvPr/>
        </p:nvSpPr>
        <p:spPr>
          <a:xfrm>
            <a:off x="5796011" y="3241429"/>
            <a:ext cx="2058895" cy="369332"/>
          </a:xfrm>
          <a:prstGeom prst="rect">
            <a:avLst/>
          </a:prstGeom>
          <a:noFill/>
        </p:spPr>
        <p:txBody>
          <a:bodyPr wrap="square" rtlCol="0">
            <a:spAutoFit/>
          </a:bodyPr>
          <a:lstStyle/>
          <a:p>
            <a:r>
              <a:rPr lang="en-US" dirty="0" smtClean="0"/>
              <a:t>DC+ Nodes</a:t>
            </a:r>
            <a:endParaRPr lang="sv-SE" dirty="0"/>
          </a:p>
        </p:txBody>
      </p:sp>
    </p:spTree>
    <p:extLst>
      <p:ext uri="{BB962C8B-B14F-4D97-AF65-F5344CB8AC3E}">
        <p14:creationId xmlns:p14="http://schemas.microsoft.com/office/powerpoint/2010/main" val="3365783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Lumped Circuit Representation</a:t>
            </a:r>
            <a:endParaRPr lang="sv-SE" dirty="0">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2"/>
          <a:stretch>
            <a:fillRect/>
          </a:stretch>
        </p:blipFill>
        <p:spPr>
          <a:xfrm>
            <a:off x="1563687" y="881026"/>
            <a:ext cx="8177213" cy="3660811"/>
          </a:xfrm>
          <a:prstGeom prst="rect">
            <a:avLst/>
          </a:prstGeom>
        </p:spPr>
      </p:pic>
      <p:sp>
        <p:nvSpPr>
          <p:cNvPr id="4" name="TextBox 3"/>
          <p:cNvSpPr txBox="1"/>
          <p:nvPr/>
        </p:nvSpPr>
        <p:spPr>
          <a:xfrm>
            <a:off x="1072216" y="4541837"/>
            <a:ext cx="9290050" cy="1754326"/>
          </a:xfrm>
          <a:prstGeom prst="rect">
            <a:avLst/>
          </a:prstGeom>
          <a:noFill/>
        </p:spPr>
        <p:txBody>
          <a:bodyPr wrap="square" rtlCol="0">
            <a:spAutoFit/>
          </a:bodyPr>
          <a:lstStyle/>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20 inductance values (and mutual inductances between them) are required to model.</a:t>
            </a:r>
          </a:p>
          <a:p>
            <a:pPr marL="285750"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Q3D Extractor can give the equivalent impedance between nodes, but a post-process to achieve individual inductances is required</a:t>
            </a:r>
            <a:r>
              <a:rPr lang="en-US" dirty="0" smtClean="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endParaRPr lang="en-US" dirty="0" smtClean="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smtClean="0">
                <a:latin typeface="Times New Roman" panose="02020603050405020304" pitchFamily="18" charset="0"/>
                <a:cs typeface="Times New Roman" panose="02020603050405020304" pitchFamily="18" charset="0"/>
              </a:rPr>
              <a:t>A simplified model is required. </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90565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72216" y="252950"/>
            <a:ext cx="10990263" cy="568412"/>
          </a:xfrm>
        </p:spPr>
        <p:txBody>
          <a:bodyPr/>
          <a:lstStyle/>
          <a:p>
            <a:r>
              <a:rPr lang="en-US" dirty="0" smtClean="0">
                <a:latin typeface="Times New Roman" panose="02020603050405020304" pitchFamily="18" charset="0"/>
                <a:cs typeface="Times New Roman" panose="02020603050405020304" pitchFamily="18" charset="0"/>
              </a:rPr>
              <a:t>Simplified Lumped Circuit Representation</a:t>
            </a:r>
            <a:endParaRPr lang="sv-SE" dirty="0">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stretch>
            <a:fillRect/>
          </a:stretch>
        </p:blipFill>
        <p:spPr>
          <a:xfrm>
            <a:off x="5046898" y="1434135"/>
            <a:ext cx="6524625" cy="2032472"/>
          </a:xfrm>
          <a:prstGeom prst="rect">
            <a:avLst/>
          </a:prstGeom>
        </p:spPr>
      </p:pic>
      <p:pic>
        <p:nvPicPr>
          <p:cNvPr id="6" name="Picture 5"/>
          <p:cNvPicPr>
            <a:picLocks noChangeAspect="1"/>
          </p:cNvPicPr>
          <p:nvPr/>
        </p:nvPicPr>
        <p:blipFill>
          <a:blip r:embed="rId3"/>
          <a:stretch>
            <a:fillRect/>
          </a:stretch>
        </p:blipFill>
        <p:spPr>
          <a:xfrm>
            <a:off x="620993" y="1296894"/>
            <a:ext cx="4022495" cy="4678176"/>
          </a:xfrm>
          <a:prstGeom prst="rect">
            <a:avLst/>
          </a:prstGeom>
        </p:spPr>
      </p:pic>
      <p:sp>
        <p:nvSpPr>
          <p:cNvPr id="7" name="Rectangle 6"/>
          <p:cNvSpPr/>
          <p:nvPr/>
        </p:nvSpPr>
        <p:spPr>
          <a:xfrm>
            <a:off x="1326776" y="1751106"/>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8" name="Rectangle 7"/>
          <p:cNvSpPr/>
          <p:nvPr/>
        </p:nvSpPr>
        <p:spPr>
          <a:xfrm>
            <a:off x="2823882" y="1795929"/>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9" name="Rectangle 8"/>
          <p:cNvSpPr/>
          <p:nvPr/>
        </p:nvSpPr>
        <p:spPr>
          <a:xfrm>
            <a:off x="1326776"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 name="Rectangle 9"/>
          <p:cNvSpPr/>
          <p:nvPr/>
        </p:nvSpPr>
        <p:spPr>
          <a:xfrm>
            <a:off x="2823882" y="3178782"/>
            <a:ext cx="1093696" cy="914400"/>
          </a:xfrm>
          <a:prstGeom prst="rect">
            <a:avLst/>
          </a:prstGeom>
          <a:noFill/>
          <a:ln w="28575">
            <a:solidFill>
              <a:srgbClr val="4DA06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 name="Rectangle 10"/>
          <p:cNvSpPr/>
          <p:nvPr/>
        </p:nvSpPr>
        <p:spPr>
          <a:xfrm>
            <a:off x="3236819"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2" name="Rectangle 11"/>
          <p:cNvSpPr/>
          <p:nvPr/>
        </p:nvSpPr>
        <p:spPr>
          <a:xfrm>
            <a:off x="2188767"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3" name="Rectangle 12"/>
          <p:cNvSpPr/>
          <p:nvPr/>
        </p:nvSpPr>
        <p:spPr>
          <a:xfrm>
            <a:off x="1140715" y="4939553"/>
            <a:ext cx="886946" cy="914400"/>
          </a:xfrm>
          <a:prstGeom prst="rect">
            <a:avLst/>
          </a:prstGeom>
          <a:noFill/>
          <a:ln w="28575">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4" name="TextBox 13"/>
          <p:cNvSpPr txBox="1"/>
          <p:nvPr/>
        </p:nvSpPr>
        <p:spPr>
          <a:xfrm>
            <a:off x="3900424" y="3281941"/>
            <a:ext cx="901700" cy="369332"/>
          </a:xfrm>
          <a:prstGeom prst="rect">
            <a:avLst/>
          </a:prstGeom>
          <a:noFill/>
        </p:spPr>
        <p:txBody>
          <a:bodyPr wrap="square" rtlCol="0">
            <a:spAutoFit/>
          </a:bodyPr>
          <a:lstStyle/>
          <a:p>
            <a:r>
              <a:rPr lang="en-US" dirty="0" smtClean="0">
                <a:solidFill>
                  <a:srgbClr val="4DA060"/>
                </a:solidFill>
              </a:rPr>
              <a:t>C1</a:t>
            </a:r>
            <a:endParaRPr lang="sv-SE" dirty="0">
              <a:solidFill>
                <a:srgbClr val="4DA060"/>
              </a:solidFill>
            </a:endParaRPr>
          </a:p>
        </p:txBody>
      </p:sp>
      <p:sp>
        <p:nvSpPr>
          <p:cNvPr id="15" name="TextBox 14"/>
          <p:cNvSpPr txBox="1"/>
          <p:nvPr/>
        </p:nvSpPr>
        <p:spPr>
          <a:xfrm>
            <a:off x="890135" y="3306848"/>
            <a:ext cx="901700" cy="369332"/>
          </a:xfrm>
          <a:prstGeom prst="rect">
            <a:avLst/>
          </a:prstGeom>
          <a:noFill/>
        </p:spPr>
        <p:txBody>
          <a:bodyPr wrap="square" rtlCol="0">
            <a:spAutoFit/>
          </a:bodyPr>
          <a:lstStyle/>
          <a:p>
            <a:r>
              <a:rPr lang="en-US" dirty="0" smtClean="0">
                <a:solidFill>
                  <a:srgbClr val="4DA060"/>
                </a:solidFill>
              </a:rPr>
              <a:t>C2</a:t>
            </a:r>
            <a:endParaRPr lang="sv-SE" dirty="0">
              <a:solidFill>
                <a:srgbClr val="4DA060"/>
              </a:solidFill>
            </a:endParaRPr>
          </a:p>
        </p:txBody>
      </p:sp>
      <p:sp>
        <p:nvSpPr>
          <p:cNvPr id="16" name="TextBox 15"/>
          <p:cNvSpPr txBox="1"/>
          <p:nvPr/>
        </p:nvSpPr>
        <p:spPr>
          <a:xfrm>
            <a:off x="3957202" y="2023640"/>
            <a:ext cx="901700" cy="369332"/>
          </a:xfrm>
          <a:prstGeom prst="rect">
            <a:avLst/>
          </a:prstGeom>
          <a:noFill/>
        </p:spPr>
        <p:txBody>
          <a:bodyPr wrap="square" rtlCol="0">
            <a:spAutoFit/>
          </a:bodyPr>
          <a:lstStyle/>
          <a:p>
            <a:r>
              <a:rPr lang="en-US" dirty="0" smtClean="0">
                <a:solidFill>
                  <a:srgbClr val="4DA060"/>
                </a:solidFill>
              </a:rPr>
              <a:t>C4</a:t>
            </a:r>
            <a:endParaRPr lang="sv-SE" dirty="0">
              <a:solidFill>
                <a:srgbClr val="4DA060"/>
              </a:solidFill>
            </a:endParaRPr>
          </a:p>
        </p:txBody>
      </p:sp>
      <p:sp>
        <p:nvSpPr>
          <p:cNvPr id="17" name="TextBox 16"/>
          <p:cNvSpPr txBox="1"/>
          <p:nvPr/>
        </p:nvSpPr>
        <p:spPr>
          <a:xfrm>
            <a:off x="875926" y="1993098"/>
            <a:ext cx="901700" cy="369332"/>
          </a:xfrm>
          <a:prstGeom prst="rect">
            <a:avLst/>
          </a:prstGeom>
          <a:noFill/>
        </p:spPr>
        <p:txBody>
          <a:bodyPr wrap="square" rtlCol="0">
            <a:spAutoFit/>
          </a:bodyPr>
          <a:lstStyle/>
          <a:p>
            <a:r>
              <a:rPr lang="en-US" dirty="0" smtClean="0">
                <a:solidFill>
                  <a:srgbClr val="4DA060"/>
                </a:solidFill>
              </a:rPr>
              <a:t>C3</a:t>
            </a:r>
            <a:endParaRPr lang="sv-SE" dirty="0">
              <a:solidFill>
                <a:srgbClr val="4DA060"/>
              </a:solidFill>
            </a:endParaRPr>
          </a:p>
        </p:txBody>
      </p:sp>
      <p:sp>
        <p:nvSpPr>
          <p:cNvPr id="18" name="TextBox 17"/>
          <p:cNvSpPr txBox="1"/>
          <p:nvPr/>
        </p:nvSpPr>
        <p:spPr>
          <a:xfrm>
            <a:off x="5581885" y="3491514"/>
            <a:ext cx="5454650" cy="646331"/>
          </a:xfrm>
          <a:prstGeom prst="rect">
            <a:avLst/>
          </a:prstGeom>
          <a:noFill/>
        </p:spPr>
        <p:txBody>
          <a:bodyPr wrap="square" rtlCol="0">
            <a:spAutoFit/>
          </a:bodyPr>
          <a:lstStyle/>
          <a:p>
            <a:r>
              <a:rPr lang="en-US" dirty="0" smtClean="0">
                <a:latin typeface="Times New Roman" panose="02020603050405020304" pitchFamily="18" charset="0"/>
                <a:cs typeface="Times New Roman" panose="02020603050405020304" pitchFamily="18" charset="0"/>
              </a:rPr>
              <a:t>Capacitor3 and Capacitor4 are considered isolated thanks to the geometry. </a:t>
            </a:r>
            <a:endParaRPr lang="sv-SE" dirty="0">
              <a:latin typeface="Times New Roman" panose="02020603050405020304" pitchFamily="18" charset="0"/>
              <a:cs typeface="Times New Roman" panose="02020603050405020304" pitchFamily="18" charset="0"/>
            </a:endParaRPr>
          </a:p>
        </p:txBody>
      </p:sp>
      <p:sp>
        <p:nvSpPr>
          <p:cNvPr id="19" name="Rectangle 18"/>
          <p:cNvSpPr/>
          <p:nvPr/>
        </p:nvSpPr>
        <p:spPr>
          <a:xfrm>
            <a:off x="4858902" y="4432985"/>
            <a:ext cx="2171700" cy="2031325"/>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Mutual Inductances:</a:t>
            </a:r>
          </a:p>
          <a:p>
            <a:r>
              <a:rPr lang="en-US" dirty="0" smtClean="0">
                <a:latin typeface="Times New Roman" panose="02020603050405020304" pitchFamily="18" charset="0"/>
                <a:cs typeface="Times New Roman" panose="02020603050405020304" pitchFamily="18" charset="0"/>
              </a:rPr>
              <a:t>L14pos-L14neg </a:t>
            </a:r>
          </a:p>
          <a:p>
            <a:r>
              <a:rPr lang="en-US" dirty="0" smtClean="0">
                <a:latin typeface="Times New Roman" panose="02020603050405020304" pitchFamily="18" charset="0"/>
                <a:cs typeface="Times New Roman" panose="02020603050405020304" pitchFamily="18" charset="0"/>
              </a:rPr>
              <a:t>L1pos-L1neg</a:t>
            </a:r>
          </a:p>
          <a:p>
            <a:r>
              <a:rPr lang="en-US" dirty="0" smtClean="0">
                <a:latin typeface="Times New Roman" panose="02020603050405020304" pitchFamily="18" charset="0"/>
                <a:cs typeface="Times New Roman" panose="02020603050405020304" pitchFamily="18" charset="0"/>
              </a:rPr>
              <a:t>L2pos-L2neg</a:t>
            </a:r>
          </a:p>
          <a:p>
            <a:r>
              <a:rPr lang="en-US" dirty="0" smtClean="0">
                <a:latin typeface="Times New Roman" panose="02020603050405020304" pitchFamily="18" charset="0"/>
                <a:cs typeface="Times New Roman" panose="02020603050405020304" pitchFamily="18" charset="0"/>
              </a:rPr>
              <a:t>L23pos-L23neg</a:t>
            </a:r>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endParaRPr lang="sv-SE" dirty="0">
              <a:latin typeface="Times New Roman" panose="02020603050405020304" pitchFamily="18" charset="0"/>
              <a:cs typeface="Times New Roman" panose="02020603050405020304" pitchFamily="18" charset="0"/>
            </a:endParaRPr>
          </a:p>
        </p:txBody>
      </p:sp>
      <p:sp>
        <p:nvSpPr>
          <p:cNvPr id="20" name="Rectangle 19"/>
          <p:cNvSpPr/>
          <p:nvPr/>
        </p:nvSpPr>
        <p:spPr>
          <a:xfrm>
            <a:off x="7532252" y="4432985"/>
            <a:ext cx="2171700" cy="1477328"/>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Mutual Inductances:</a:t>
            </a:r>
          </a:p>
          <a:p>
            <a:r>
              <a:rPr lang="en-US" dirty="0" smtClean="0">
                <a:latin typeface="Times New Roman" panose="02020603050405020304" pitchFamily="18" charset="0"/>
                <a:cs typeface="Times New Roman" panose="02020603050405020304" pitchFamily="18" charset="0"/>
              </a:rPr>
              <a:t>L1pos-L2pos</a:t>
            </a:r>
          </a:p>
          <a:p>
            <a:r>
              <a:rPr lang="en-US" dirty="0" smtClean="0">
                <a:latin typeface="Times New Roman" panose="02020603050405020304" pitchFamily="18" charset="0"/>
                <a:cs typeface="Times New Roman" panose="02020603050405020304" pitchFamily="18" charset="0"/>
              </a:rPr>
              <a:t>L1neg-L2neg</a:t>
            </a:r>
          </a:p>
          <a:p>
            <a:endParaRPr lang="en-US" dirty="0">
              <a:latin typeface="Times New Roman" panose="02020603050405020304" pitchFamily="18" charset="0"/>
              <a:cs typeface="Times New Roman" panose="02020603050405020304" pitchFamily="18" charset="0"/>
            </a:endParaRPr>
          </a:p>
          <a:p>
            <a:endParaRPr lang="sv-SE" dirty="0">
              <a:latin typeface="Times New Roman" panose="02020603050405020304" pitchFamily="18" charset="0"/>
              <a:cs typeface="Times New Roman" panose="02020603050405020304" pitchFamily="18" charset="0"/>
            </a:endParaRPr>
          </a:p>
        </p:txBody>
      </p:sp>
      <p:sp>
        <p:nvSpPr>
          <p:cNvPr id="21" name="Rectangle 20"/>
          <p:cNvSpPr/>
          <p:nvPr/>
        </p:nvSpPr>
        <p:spPr>
          <a:xfrm>
            <a:off x="9748402" y="4432985"/>
            <a:ext cx="2171700" cy="1477328"/>
          </a:xfrm>
          <a:prstGeom prst="rect">
            <a:avLst/>
          </a:prstGeom>
        </p:spPr>
        <p:txBody>
          <a:bodyPr wrap="square">
            <a:spAutoFit/>
          </a:bodyPr>
          <a:lstStyle/>
          <a:p>
            <a:r>
              <a:rPr lang="en-US" dirty="0" smtClean="0">
                <a:latin typeface="Times New Roman" panose="02020603050405020304" pitchFamily="18" charset="0"/>
                <a:cs typeface="Times New Roman" panose="02020603050405020304" pitchFamily="18" charset="0"/>
              </a:rPr>
              <a:t>Mutual Inductances:</a:t>
            </a:r>
          </a:p>
          <a:p>
            <a:r>
              <a:rPr lang="en-US" dirty="0" smtClean="0">
                <a:latin typeface="Times New Roman" panose="02020603050405020304" pitchFamily="18" charset="0"/>
                <a:cs typeface="Times New Roman" panose="02020603050405020304" pitchFamily="18" charset="0"/>
              </a:rPr>
              <a:t>L1pos-L2neg</a:t>
            </a:r>
          </a:p>
          <a:p>
            <a:r>
              <a:rPr lang="en-US" dirty="0" smtClean="0">
                <a:latin typeface="Times New Roman" panose="02020603050405020304" pitchFamily="18" charset="0"/>
                <a:cs typeface="Times New Roman" panose="02020603050405020304" pitchFamily="18" charset="0"/>
              </a:rPr>
              <a:t>L1neg-L2pos</a:t>
            </a:r>
          </a:p>
          <a:p>
            <a:endParaRPr lang="en-US" dirty="0">
              <a:latin typeface="Times New Roman" panose="02020603050405020304" pitchFamily="18" charset="0"/>
              <a:cs typeface="Times New Roman" panose="02020603050405020304" pitchFamily="18" charset="0"/>
            </a:endParaRPr>
          </a:p>
          <a:p>
            <a:endParaRPr lang="sv-SE"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4487376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5375" y="346332"/>
            <a:ext cx="10990263" cy="568412"/>
          </a:xfrm>
        </p:spPr>
        <p:txBody>
          <a:bodyPr/>
          <a:lstStyle/>
          <a:p>
            <a:r>
              <a:rPr lang="en-US" dirty="0" smtClean="0"/>
              <a:t>Initial Results (</a:t>
            </a:r>
            <a:r>
              <a:rPr lang="en-US" dirty="0">
                <a:latin typeface="Times New Roman" panose="02020603050405020304" pitchFamily="18" charset="0"/>
                <a:cs typeface="Times New Roman" panose="02020603050405020304" pitchFamily="18" charset="0"/>
              </a:rPr>
              <a:t>L14pos-L14neg</a:t>
            </a:r>
            <a:r>
              <a:rPr lang="en-US" dirty="0" smtClean="0"/>
              <a:t>)</a:t>
            </a:r>
            <a:endParaRPr lang="sv-SE" dirty="0"/>
          </a:p>
        </p:txBody>
      </p:sp>
      <p:pic>
        <p:nvPicPr>
          <p:cNvPr id="4" name="Picture 3"/>
          <p:cNvPicPr>
            <a:picLocks noChangeAspect="1"/>
          </p:cNvPicPr>
          <p:nvPr/>
        </p:nvPicPr>
        <p:blipFill>
          <a:blip r:embed="rId2"/>
          <a:stretch>
            <a:fillRect/>
          </a:stretch>
        </p:blipFill>
        <p:spPr>
          <a:xfrm>
            <a:off x="1381579" y="1339304"/>
            <a:ext cx="7698921" cy="2309677"/>
          </a:xfrm>
          <a:prstGeom prst="rect">
            <a:avLst/>
          </a:prstGeom>
        </p:spPr>
      </p:pic>
      <p:cxnSp>
        <p:nvCxnSpPr>
          <p:cNvPr id="6" name="Straight Arrow Connector 5"/>
          <p:cNvCxnSpPr/>
          <p:nvPr/>
        </p:nvCxnSpPr>
        <p:spPr>
          <a:xfrm>
            <a:off x="2578100" y="2768600"/>
            <a:ext cx="6350" cy="1517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2108200" y="4305300"/>
            <a:ext cx="1562100" cy="646331"/>
          </a:xfrm>
          <a:prstGeom prst="rect">
            <a:avLst/>
          </a:prstGeom>
          <a:noFill/>
        </p:spPr>
        <p:txBody>
          <a:bodyPr wrap="square" rtlCol="0">
            <a:spAutoFit/>
          </a:bodyPr>
          <a:lstStyle/>
          <a:p>
            <a:r>
              <a:rPr lang="en-US" dirty="0" smtClean="0"/>
              <a:t>Skin depth effect ? </a:t>
            </a:r>
            <a:endParaRPr lang="sv-SE" dirty="0"/>
          </a:p>
        </p:txBody>
      </p:sp>
      <p:sp>
        <p:nvSpPr>
          <p:cNvPr id="8" name="TextBox 7"/>
          <p:cNvSpPr txBox="1"/>
          <p:nvPr/>
        </p:nvSpPr>
        <p:spPr>
          <a:xfrm>
            <a:off x="4464050" y="4406900"/>
            <a:ext cx="2343150" cy="646331"/>
          </a:xfrm>
          <a:prstGeom prst="rect">
            <a:avLst/>
          </a:prstGeom>
          <a:noFill/>
        </p:spPr>
        <p:txBody>
          <a:bodyPr wrap="square" rtlCol="0">
            <a:spAutoFit/>
          </a:bodyPr>
          <a:lstStyle/>
          <a:p>
            <a:r>
              <a:rPr lang="en-US" dirty="0" smtClean="0"/>
              <a:t>Can we select single frequency?</a:t>
            </a:r>
            <a:endParaRPr lang="sv-SE" dirty="0"/>
          </a:p>
        </p:txBody>
      </p:sp>
    </p:spTree>
    <p:extLst>
      <p:ext uri="{BB962C8B-B14F-4D97-AF65-F5344CB8AC3E}">
        <p14:creationId xmlns:p14="http://schemas.microsoft.com/office/powerpoint/2010/main" val="3057555056"/>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8026</TotalTime>
  <Words>560</Words>
  <Application>Microsoft Office PowerPoint</Application>
  <PresentationFormat>Widescreen</PresentationFormat>
  <Paragraphs>81</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Calibri</vt:lpstr>
      <vt:lpstr>Wingdings</vt:lpstr>
      <vt:lpstr>Arial</vt:lpstr>
      <vt:lpstr>Cambria Math</vt:lpstr>
      <vt:lpstr>Times New Roman</vt:lpstr>
      <vt:lpstr>Figtree</vt:lpstr>
      <vt:lpstr>Office-tema</vt:lpstr>
      <vt:lpstr>Power Loop Inductance Modelling </vt:lpstr>
      <vt:lpstr>Simplified Inverter Model </vt:lpstr>
      <vt:lpstr>Current Sources of Harmonics</vt:lpstr>
      <vt:lpstr>Impedance Model of an Inverter</vt:lpstr>
      <vt:lpstr>The Aim of Using Impedance Model</vt:lpstr>
      <vt:lpstr>Impedance Model</vt:lpstr>
      <vt:lpstr>Busbar Geometry from Shahriar</vt:lpstr>
      <vt:lpstr>Lumped Circuit Representation</vt:lpstr>
      <vt:lpstr>Simplified Lumped Circuit Representation</vt:lpstr>
      <vt:lpstr>Initial Results (L14pos-L14neg)</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135</cp:revision>
  <dcterms:created xsi:type="dcterms:W3CDTF">2024-01-10T13:17:29Z</dcterms:created>
  <dcterms:modified xsi:type="dcterms:W3CDTF">2024-11-14T15:55:31Z</dcterms:modified>
</cp:coreProperties>
</file>