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7" r:id="rId2"/>
    <p:sldId id="256" r:id="rId3"/>
    <p:sldId id="258" r:id="rId4"/>
    <p:sldId id="261" r:id="rId5"/>
    <p:sldId id="260" r:id="rId6"/>
    <p:sldId id="262" r:id="rId7"/>
    <p:sldId id="263" r:id="rId8"/>
    <p:sldId id="264" r:id="rId9"/>
    <p:sldId id="265" r:id="rId10"/>
    <p:sldId id="259" r:id="rId11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498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77C74D-6D38-4504-A67E-1062786AF51D}" type="datetimeFigureOut">
              <a:rPr lang="sv-SE" smtClean="0"/>
              <a:t>2023-09-07</a:t>
            </a:fld>
            <a:endParaRPr lang="sv-S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sv-S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FD70FEA-AEDF-45F2-BFDB-621906BBFA0F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794198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sv-S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FD70FEA-AEDF-45F2-BFDB-621906BBFA0F}" type="slidenum">
              <a:rPr lang="sv-SE" smtClean="0"/>
              <a:t>1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718895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FAC8-55CD-46A4-9683-3735656EBD65}" type="datetimeFigureOut">
              <a:rPr lang="sv-SE" smtClean="0"/>
              <a:t>2023-09-07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E1D27-6E22-4AB2-8E5C-4B6658760F5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954167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FAC8-55CD-46A4-9683-3735656EBD65}" type="datetimeFigureOut">
              <a:rPr lang="sv-SE" smtClean="0"/>
              <a:t>2023-09-07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E1D27-6E22-4AB2-8E5C-4B6658760F5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8983009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FAC8-55CD-46A4-9683-3735656EBD65}" type="datetimeFigureOut">
              <a:rPr lang="sv-SE" smtClean="0"/>
              <a:t>2023-09-07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E1D27-6E22-4AB2-8E5C-4B6658760F5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4003563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FAC8-55CD-46A4-9683-3735656EBD65}" type="datetimeFigureOut">
              <a:rPr lang="sv-SE" smtClean="0"/>
              <a:t>2023-09-07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E1D27-6E22-4AB2-8E5C-4B6658760F5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63801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FAC8-55CD-46A4-9683-3735656EBD65}" type="datetimeFigureOut">
              <a:rPr lang="sv-SE" smtClean="0"/>
              <a:t>2023-09-07</a:t>
            </a:fld>
            <a:endParaRPr lang="sv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E1D27-6E22-4AB2-8E5C-4B6658760F5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231624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FAC8-55CD-46A4-9683-3735656EBD65}" type="datetimeFigureOut">
              <a:rPr lang="sv-SE" smtClean="0"/>
              <a:t>2023-09-07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E1D27-6E22-4AB2-8E5C-4B6658760F5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918410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FAC8-55CD-46A4-9683-3735656EBD65}" type="datetimeFigureOut">
              <a:rPr lang="sv-SE" smtClean="0"/>
              <a:t>2023-09-07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E1D27-6E22-4AB2-8E5C-4B6658760F5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350345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FAC8-55CD-46A4-9683-3735656EBD65}" type="datetimeFigureOut">
              <a:rPr lang="sv-SE" smtClean="0"/>
              <a:t>2023-09-07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E1D27-6E22-4AB2-8E5C-4B6658760F5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330386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FAC8-55CD-46A4-9683-3735656EBD65}" type="datetimeFigureOut">
              <a:rPr lang="sv-SE" smtClean="0"/>
              <a:t>2023-09-07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E1D27-6E22-4AB2-8E5C-4B6658760F5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045648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FAC8-55CD-46A4-9683-3735656EBD65}" type="datetimeFigureOut">
              <a:rPr lang="sv-SE" smtClean="0"/>
              <a:t>2023-09-07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E1D27-6E22-4AB2-8E5C-4B6658760F5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31366481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BFFAC8-55CD-46A4-9683-3735656EBD65}" type="datetimeFigureOut">
              <a:rPr lang="sv-SE" smtClean="0"/>
              <a:t>2023-09-07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87E1D27-6E22-4AB2-8E5C-4B6658760F5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2494414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sv-SE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sv-SE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FFAC8-55CD-46A4-9683-3735656EBD65}" type="datetimeFigureOut">
              <a:rPr lang="sv-SE" smtClean="0"/>
              <a:t>2023-09-07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7E1D27-6E22-4AB2-8E5C-4B6658760F53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995494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emf"/><Relationship Id="rId4" Type="http://schemas.openxmlformats.org/officeDocument/2006/relationships/image" Target="../media/image9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emf"/><Relationship Id="rId4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6.emf"/><Relationship Id="rId7" Type="http://schemas.openxmlformats.org/officeDocument/2006/relationships/image" Target="../media/image20.emf"/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emf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3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66" y="1534019"/>
            <a:ext cx="5216928" cy="4613814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558113" y="357659"/>
                <a:ext cx="11248767" cy="65851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dirty="0"/>
                  <a:t>The intersection of </a:t>
                </a:r>
                <a:r>
                  <a:rPr lang="en-US" dirty="0"/>
                  <a:t>the total losses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+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 err="1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𝑠𝑤</m:t>
                        </m:r>
                      </m:sub>
                    </m:sSub>
                  </m:oMath>
                </a14:m>
                <a:r>
                  <a:rPr lang="en-US" dirty="0"/>
                  <a:t> with </a:t>
                </a:r>
                <a:r>
                  <a:rPr lang="en-US" dirty="0"/>
                  <a:t>the maximum </a:t>
                </a:r>
                <a:r>
                  <a:rPr lang="en-US" dirty="0"/>
                  <a:t>heat </a:t>
                </a:r>
                <a:r>
                  <a:rPr lang="en-US" dirty="0"/>
                  <a:t>dissipation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𝑑𝑖𝑠𝑠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𝑚𝑎𝑥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where both the cumulative chip area </a:t>
                </a:r>
                <a:r>
                  <a:rPr lang="en-US" dirty="0"/>
                  <a:t>and </a:t>
                </a:r>
                <a:r>
                  <a:rPr lang="en-US" dirty="0"/>
                  <a:t>the losses are minimal, marks the design point of the </a:t>
                </a:r>
                <a:r>
                  <a:rPr lang="en-US" dirty="0"/>
                  <a:t>semiconductor </a:t>
                </a:r>
                <a:r>
                  <a:rPr lang="en-US" dirty="0"/>
                  <a:t>under </a:t>
                </a:r>
                <a:r>
                  <a:rPr lang="en-US" dirty="0"/>
                  <a:t>consideration.</a:t>
                </a:r>
                <a:endParaRPr lang="sv-SE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8113" y="357659"/>
                <a:ext cx="11248767" cy="658514"/>
              </a:xfrm>
              <a:prstGeom prst="rect">
                <a:avLst/>
              </a:prstGeom>
              <a:blipFill>
                <a:blip r:embed="rId4"/>
                <a:stretch>
                  <a:fillRect l="-488" t="-4630" b="-1388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6485088" y="2649237"/>
                <a:ext cx="3942105" cy="69871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𝑠𝑤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sv-SE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𝑑𝑖𝑒</m:t>
                          </m:r>
                        </m:sub>
                      </m:sSub>
                      <m:f>
                        <m:f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sv-S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𝑑𝑖𝑒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sv-S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𝑠𝑤</m:t>
                          </m:r>
                        </m:sub>
                      </m:sSub>
                      <m:r>
                        <a:rPr lang="sv-SE" i="1" dirty="0">
                          <a:latin typeface="Cambria Math" panose="02040503050406030204" pitchFamily="18" charset="0"/>
                        </a:rPr>
                        <m:t>(</m:t>
                      </m:r>
                      <m:f>
                        <m:f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𝑖</m:t>
                          </m:r>
                        </m:num>
                        <m:den>
                          <m:sSub>
                            <m:sSubPr>
                              <m:ctrlPr>
                                <a:rPr lang="sv-S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𝑑𝑖𝑒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sv-SE" dirty="0"/>
                        <m:t> </m:t>
                      </m:r>
                      <m:f>
                        <m:f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sv-S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𝑟𝑒𝑓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sv-S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𝑑𝑖𝑒</m:t>
                              </m:r>
                            </m:sub>
                          </m:sSub>
                        </m:den>
                      </m:f>
                      <m:r>
                        <m:rPr>
                          <m:nor/>
                        </m:rPr>
                        <a:rPr lang="sv-SE" dirty="0"/>
                        <m:t>)</m:t>
                      </m:r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85088" y="2649237"/>
                <a:ext cx="3942105" cy="698717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6972642" y="1235868"/>
                <a:ext cx="2225289" cy="68076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𝑑𝑠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𝑜𝑛</m:t>
                          </m:r>
                        </m:sub>
                      </m:sSub>
                      <m:r>
                        <a:rPr lang="sv-SE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sv-S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𝑑𝑖𝑒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sv-S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𝑑𝑠</m:t>
                              </m:r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𝑜𝑛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sv-S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𝑑𝑖𝑒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72642" y="1235868"/>
                <a:ext cx="2225289" cy="6807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6590499" y="4463173"/>
                <a:ext cx="3348224" cy="691023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i="1" dirty="0">
                              <a:latin typeface="Cambria Math" panose="02040503050406030204" pitchFamily="18" charset="0"/>
                            </a:rPr>
                            <m:t>𝑑𝑖𝑠𝑠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m:rPr>
                              <m:sty m:val="p"/>
                            </m:rPr>
                            <a:rPr lang="en-US" i="1" dirty="0">
                              <a:latin typeface="Cambria Math" panose="02040503050406030204" pitchFamily="18" charset="0"/>
                            </a:rPr>
                            <m:t>max</m:t>
                          </m:r>
                        </m:sub>
                      </m:sSub>
                      <m:r>
                        <a:rPr lang="sv-SE" i="1" dirty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𝑑𝑖𝑒</m:t>
                          </m:r>
                        </m:sub>
                      </m:sSub>
                      <m:f>
                        <m:fPr>
                          <m:ctrlPr>
                            <a:rPr lang="sv-SE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sv-S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𝑚𝑎𝑥</m:t>
                              </m:r>
                            </m:sub>
                          </m:s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sv-S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𝑓𝑙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sv-S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𝑡h</m:t>
                              </m:r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US" i="1" dirty="0">
                                  <a:latin typeface="Cambria Math" panose="02040503050406030204" pitchFamily="18" charset="0"/>
                                </a:rPr>
                                <m:t>𝑑𝑖𝑒</m:t>
                              </m:r>
                            </m:sub>
                          </m:s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sv-SE" i="1" dirty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sub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𝑎𝑐</m:t>
                              </m:r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sv-SE" i="1" dirty="0">
                                  <a:latin typeface="Cambria Math" panose="02040503050406030204" pitchFamily="18" charset="0"/>
                                </a:rPr>
                                <m:t>𝑑𝑖𝑒</m:t>
                              </m:r>
                            </m:sub>
                          </m:s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90499" y="4463173"/>
                <a:ext cx="3348224" cy="69102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5466994" y="2001717"/>
                <a:ext cx="4351191" cy="38151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sv-SE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𝑣</m:t>
                        </m:r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sv-SE" i="1" dirty="0">
                            <a:latin typeface="Cambria Math" panose="02040503050406030204" pitchFamily="18" charset="0"/>
                          </a:rPr>
                          <m:t>𝑐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and decreases with increasing chip area.</a:t>
                </a:r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66994" y="2001717"/>
                <a:ext cx="4351191" cy="381515"/>
              </a:xfrm>
              <a:prstGeom prst="rect">
                <a:avLst/>
              </a:prstGeom>
              <a:blipFill>
                <a:blip r:embed="rId8"/>
                <a:stretch>
                  <a:fillRect t="-6349" r="-280" b="-22222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5375189" y="3613960"/>
            <a:ext cx="652436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The </a:t>
            </a:r>
            <a:r>
              <a:rPr lang="en-US" dirty="0"/>
              <a:t>switching energy occurs in each die and grows with increasing chip areas</a:t>
            </a:r>
            <a:endParaRPr lang="sv-SE" dirty="0"/>
          </a:p>
        </p:txBody>
      </p:sp>
      <p:sp>
        <p:nvSpPr>
          <p:cNvPr id="13" name="Rectangle 12"/>
          <p:cNvSpPr/>
          <p:nvPr/>
        </p:nvSpPr>
        <p:spPr>
          <a:xfrm>
            <a:off x="5531708" y="524355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dirty="0"/>
              <a:t>The thermal resistance is decreasing with increasing chip areas leading to a growth in the total maximum heat dissipation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2647621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839" y="3488537"/>
            <a:ext cx="4065373" cy="304903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1" y="111537"/>
            <a:ext cx="4151436" cy="311357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4876" y="3488537"/>
            <a:ext cx="4176707" cy="31325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43450" y="111537"/>
            <a:ext cx="4124975" cy="3093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95332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1217" y="3434406"/>
            <a:ext cx="4108621" cy="3081466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649" y="3478427"/>
            <a:ext cx="3991232" cy="2993424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4687" y="210065"/>
            <a:ext cx="4059194" cy="3044396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63594" y="202341"/>
            <a:ext cx="4069493" cy="3052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06158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493" y="199249"/>
            <a:ext cx="3923270" cy="294245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5375" y="202672"/>
            <a:ext cx="3966517" cy="2974888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936115" y="3228873"/>
                <a:ext cx="2173094" cy="65768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? 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𝑠𝑤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sv-SE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𝑑𝑐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𝑈</m:t>
                              </m:r>
                            </m:e>
                            <m:sub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𝑑𝑐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  <m:t>𝑡𝑒𝑠𝑡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6115" y="3228873"/>
                <a:ext cx="2173094" cy="65768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2282910" y="4584357"/>
                <a:ext cx="739551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We have two datasheet values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𝑑𝑐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=900 </m:t>
                    </m:r>
                  </m:oMath>
                </a14:m>
                <a:r>
                  <a:rPr lang="sv-SE" dirty="0" smtClean="0"/>
                  <a:t> and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𝑑𝑐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00</m:t>
                    </m:r>
                  </m:oMath>
                </a14:m>
                <a:endParaRPr lang="sv-SE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82910" y="4584357"/>
                <a:ext cx="7395518" cy="369332"/>
              </a:xfrm>
              <a:prstGeom prst="rect">
                <a:avLst/>
              </a:prstGeom>
              <a:blipFill>
                <a:blip r:embed="rId5"/>
                <a:stretch>
                  <a:fillRect l="-659" t="-8197" b="-245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/>
              <p:cNvSpPr/>
              <p:nvPr/>
            </p:nvSpPr>
            <p:spPr>
              <a:xfrm>
                <a:off x="4804450" y="3228873"/>
                <a:ext cx="2352439" cy="76937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𝑠𝑤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sv-SE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𝑑𝑐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𝑑𝑐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𝑡𝑒𝑠𝑡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1.2</m:t>
                          </m:r>
                        </m:sup>
                      </m:sSup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8" name="Rectangle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04450" y="3228873"/>
                <a:ext cx="2352439" cy="769378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31892" y="220873"/>
            <a:ext cx="3894438" cy="292082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8871833" y="3177560"/>
                <a:ext cx="2352439" cy="7688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𝑠𝑤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sv-SE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𝑑𝑐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𝑑𝑐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𝑡𝑒𝑠𝑡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1.4</m:t>
                          </m:r>
                        </m:sup>
                      </m:sSup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71833" y="3177560"/>
                <a:ext cx="2352439" cy="768800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Arrow Connector 2"/>
          <p:cNvCxnSpPr/>
          <p:nvPr/>
        </p:nvCxnSpPr>
        <p:spPr>
          <a:xfrm flipV="1">
            <a:off x="10305535" y="3946360"/>
            <a:ext cx="6179" cy="17377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978876" y="5735580"/>
            <a:ext cx="775386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</a:t>
            </a:r>
            <a:r>
              <a:rPr lang="en-US" dirty="0" smtClean="0"/>
              <a:t>hich also means that we have local loss minimal for higher switching frequencies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0365425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4166067" y="129323"/>
                <a:ext cx="44713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 smtClean="0"/>
                  <a:t>While o</a:t>
                </a:r>
                <a:r>
                  <a:rPr lang="en-US" b="0" dirty="0" smtClean="0"/>
                  <a:t>nly using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𝑑𝑐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𝑡𝑒𝑠𝑡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00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sv-SE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6067" y="129323"/>
                <a:ext cx="4471306" cy="369332"/>
              </a:xfrm>
              <a:prstGeom prst="rect">
                <a:avLst/>
              </a:prstGeom>
              <a:blipFill>
                <a:blip r:embed="rId2"/>
                <a:stretch>
                  <a:fillRect l="-1090" t="-8197" b="-2459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4367" y="755308"/>
            <a:ext cx="5334000" cy="4000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8015147" y="4904271"/>
                <a:ext cx="2352439" cy="77328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𝑠𝑤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sv-SE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𝑑𝑐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𝑑𝑐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𝑡𝑒𝑠𝑡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1.5</m:t>
                          </m:r>
                        </m:sup>
                      </m:sSup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15147" y="4904271"/>
                <a:ext cx="2352439" cy="773289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048" y="775473"/>
            <a:ext cx="5334000" cy="40005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Rectangle 13"/>
              <p:cNvSpPr/>
              <p:nvPr/>
            </p:nvSpPr>
            <p:spPr>
              <a:xfrm>
                <a:off x="2094200" y="4904271"/>
                <a:ext cx="2254656" cy="76880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sv-SE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𝑠𝑤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sv-SE" i="1" dirty="0">
                              <a:latin typeface="Cambria Math" panose="02040503050406030204" pitchFamily="18" charset="0"/>
                            </a:rPr>
                            <m:t>𝐴</m:t>
                          </m:r>
                        </m:sub>
                      </m:sSub>
                      <m:r>
                        <a:rPr lang="sv-SE" i="1" dirty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b="0" i="1" dirty="0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US" b="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𝑑𝑐</m:t>
                                      </m:r>
                                    </m:sub>
                                  </m:sSub>
                                </m:num>
                                <m:den>
                                  <m:sSub>
                                    <m:sSubPr>
                                      <m:ctrlP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𝑈</m:t>
                                      </m:r>
                                    </m:e>
                                    <m:sub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𝑑𝑐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b="0" i="1" dirty="0" smtClean="0">
                                          <a:latin typeface="Cambria Math" panose="02040503050406030204" pitchFamily="18" charset="0"/>
                                        </a:rPr>
                                        <m:t>𝑡𝑒𝑠𝑡</m:t>
                                      </m:r>
                                    </m:sub>
                                  </m:sSub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p>
                      </m:sSup>
                    </m:oMath>
                  </m:oMathPara>
                </a14:m>
                <a:endParaRPr lang="sv-SE" dirty="0"/>
              </a:p>
            </p:txBody>
          </p:sp>
        </mc:Choice>
        <mc:Fallback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4200" y="4904271"/>
                <a:ext cx="2254656" cy="7688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5166424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49" y="53151"/>
            <a:ext cx="10515600" cy="1325563"/>
          </a:xfrm>
        </p:spPr>
        <p:txBody>
          <a:bodyPr/>
          <a:lstStyle/>
          <a:p>
            <a:r>
              <a:rPr lang="en-US" dirty="0" smtClean="0">
                <a:solidFill>
                  <a:srgbClr val="C00000"/>
                </a:solidFill>
              </a:rPr>
              <a:t>Switching Losses</a:t>
            </a:r>
            <a:endParaRPr lang="sv-SE" dirty="0">
              <a:solidFill>
                <a:srgbClr val="C0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461962" y="1138396"/>
                <a:ext cx="10826750" cy="668645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sv-SE" dirty="0" smtClean="0"/>
                  <a:t>For </a:t>
                </a:r>
                <a:r>
                  <a:rPr lang="sv-SE" dirty="0" err="1"/>
                  <a:t>examining</a:t>
                </a:r>
                <a:r>
                  <a:rPr lang="sv-SE" dirty="0"/>
                  <a:t> the </a:t>
                </a:r>
                <a:r>
                  <a:rPr lang="sv-SE" dirty="0" err="1"/>
                  <a:t>SiC</a:t>
                </a:r>
                <a:r>
                  <a:rPr lang="sv-SE" dirty="0"/>
                  <a:t> MOSFET </a:t>
                </a:r>
                <a:r>
                  <a:rPr lang="sv-SE" dirty="0" err="1"/>
                  <a:t>switching</a:t>
                </a:r>
                <a:r>
                  <a:rPr lang="sv-SE" dirty="0"/>
                  <a:t> </a:t>
                </a:r>
                <a:r>
                  <a:rPr lang="sv-SE" dirty="0" err="1"/>
                  <a:t>losses</a:t>
                </a:r>
                <a:r>
                  <a:rPr lang="sv-SE" dirty="0"/>
                  <a:t>, the </a:t>
                </a:r>
                <a:r>
                  <a:rPr lang="sv-SE" dirty="0" smtClean="0"/>
                  <a:t>parameters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𝑠𝑤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𝑑𝑠𝑠</m:t>
                        </m:r>
                      </m:sub>
                    </m:sSub>
                  </m:oMath>
                </a14:m>
                <a:r>
                  <a:rPr lang="sv-SE" dirty="0" smtClean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𝐼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𝐿</m:t>
                        </m:r>
                      </m:sub>
                    </m:sSub>
                  </m:oMath>
                </a14:m>
                <a:r>
                  <a:rPr lang="sv-SE" dirty="0"/>
                  <a:t>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sv-SE" dirty="0" smtClean="0"/>
                  <a:t>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b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𝑑𝑠𝑠</m:t>
                        </m:r>
                      </m:sub>
                    </m:sSub>
                  </m:oMath>
                </a14:m>
                <a:r>
                  <a:rPr lang="sv-SE" dirty="0" smtClean="0"/>
                  <a:t> </a:t>
                </a:r>
                <a:r>
                  <a:rPr lang="sv-SE" dirty="0" err="1"/>
                  <a:t>are</a:t>
                </a:r>
                <a:r>
                  <a:rPr lang="sv-SE" dirty="0"/>
                  <a:t> </a:t>
                </a:r>
                <a:r>
                  <a:rPr lang="sv-SE" dirty="0" err="1"/>
                  <a:t>analyzed</a:t>
                </a:r>
                <a:r>
                  <a:rPr lang="sv-SE" dirty="0"/>
                  <a:t> </a:t>
                </a:r>
                <a:r>
                  <a:rPr lang="sv-SE" dirty="0" err="1"/>
                  <a:t>individually</a:t>
                </a:r>
                <a:r>
                  <a:rPr lang="sv-SE" dirty="0"/>
                  <a:t>, </a:t>
                </a:r>
                <a:r>
                  <a:rPr lang="sv-SE" dirty="0" err="1" smtClean="0"/>
                  <a:t>while</a:t>
                </a:r>
                <a:r>
                  <a:rPr lang="sv-SE" dirty="0" smtClean="0"/>
                  <a:t> </a:t>
                </a:r>
                <a:r>
                  <a:rPr lang="sv-SE" dirty="0"/>
                  <a:t>the </a:t>
                </a:r>
                <a:r>
                  <a:rPr lang="sv-SE" dirty="0" err="1"/>
                  <a:t>others</a:t>
                </a:r>
                <a:r>
                  <a:rPr lang="sv-SE" dirty="0"/>
                  <a:t> </a:t>
                </a:r>
                <a:r>
                  <a:rPr lang="sv-SE" dirty="0" err="1"/>
                  <a:t>are</a:t>
                </a:r>
                <a:r>
                  <a:rPr lang="sv-SE" dirty="0"/>
                  <a:t> </a:t>
                </a:r>
                <a:r>
                  <a:rPr lang="sv-SE" dirty="0" err="1"/>
                  <a:t>assumed</a:t>
                </a:r>
                <a:r>
                  <a:rPr lang="sv-SE" dirty="0"/>
                  <a:t> to be </a:t>
                </a:r>
                <a:r>
                  <a:rPr lang="sv-SE" dirty="0" err="1"/>
                  <a:t>constant</a:t>
                </a:r>
                <a:r>
                  <a:rPr lang="sv-SE" dirty="0"/>
                  <a:t>.</a:t>
                </a:r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1962" y="1138396"/>
                <a:ext cx="10826750" cy="668645"/>
              </a:xfrm>
              <a:prstGeom prst="rect">
                <a:avLst/>
              </a:prstGeom>
              <a:blipFill>
                <a:blip r:embed="rId2"/>
                <a:stretch>
                  <a:fillRect l="-507" t="-4587" b="-14679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7" name="Picture 1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280" y="2163593"/>
            <a:ext cx="3233738" cy="630973"/>
          </a:xfrm>
          <a:prstGeom prst="rect">
            <a:avLst/>
          </a:prstGeom>
        </p:spPr>
      </p:pic>
      <p:sp>
        <p:nvSpPr>
          <p:cNvPr id="18" name="Rectangle 17"/>
          <p:cNvSpPr/>
          <p:nvPr/>
        </p:nvSpPr>
        <p:spPr>
          <a:xfrm>
            <a:off x="400050" y="2792263"/>
            <a:ext cx="117919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/>
              <a:t>2. The </a:t>
            </a:r>
            <a:r>
              <a:rPr lang="sv-SE" dirty="0" err="1"/>
              <a:t>switching</a:t>
            </a:r>
            <a:r>
              <a:rPr lang="sv-SE" dirty="0"/>
              <a:t> </a:t>
            </a:r>
            <a:r>
              <a:rPr lang="sv-SE" dirty="0" err="1"/>
              <a:t>energy</a:t>
            </a:r>
            <a:r>
              <a:rPr lang="sv-SE" dirty="0"/>
              <a:t> is </a:t>
            </a:r>
            <a:r>
              <a:rPr lang="sv-SE" dirty="0" err="1"/>
              <a:t>supposed</a:t>
            </a:r>
            <a:r>
              <a:rPr lang="sv-SE" dirty="0"/>
              <a:t> to be </a:t>
            </a:r>
            <a:r>
              <a:rPr lang="sv-SE" dirty="0" smtClean="0"/>
              <a:t>proportional </a:t>
            </a:r>
            <a:r>
              <a:rPr lang="sv-SE" dirty="0"/>
              <a:t>to the </a:t>
            </a:r>
            <a:r>
              <a:rPr lang="sv-SE" dirty="0" err="1"/>
              <a:t>load</a:t>
            </a:r>
            <a:r>
              <a:rPr lang="sv-SE" dirty="0"/>
              <a:t> </a:t>
            </a:r>
            <a:r>
              <a:rPr lang="sv-SE" dirty="0" err="1"/>
              <a:t>current</a:t>
            </a:r>
            <a:r>
              <a:rPr lang="sv-SE" dirty="0" smtClean="0"/>
              <a:t>. </a:t>
            </a:r>
            <a:r>
              <a:rPr lang="en-US" dirty="0"/>
              <a:t>Since fast switching is </a:t>
            </a:r>
            <a:r>
              <a:rPr lang="en-US" dirty="0" smtClean="0"/>
              <a:t>assumed</a:t>
            </a:r>
            <a:r>
              <a:rPr lang="en-US" dirty="0"/>
              <a:t>, f2(IL) is fit with a second-degree polynomial instead </a:t>
            </a:r>
            <a:r>
              <a:rPr lang="en-US" dirty="0" smtClean="0"/>
              <a:t>which </a:t>
            </a:r>
            <a:r>
              <a:rPr lang="en-US" dirty="0"/>
              <a:t>is in good agreement with the measured data</a:t>
            </a:r>
            <a:endParaRPr lang="sv-SE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400050" y="1777398"/>
                <a:ext cx="4528804" cy="37241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sv-SE" dirty="0" smtClean="0"/>
                  <a:t>1. The </a:t>
                </a:r>
                <a:r>
                  <a:rPr lang="sv-SE" dirty="0" err="1"/>
                  <a:t>switching</a:t>
                </a:r>
                <a:r>
                  <a:rPr lang="sv-SE" dirty="0"/>
                  <a:t> </a:t>
                </a:r>
                <a:r>
                  <a:rPr lang="sv-SE" dirty="0" err="1"/>
                  <a:t>energy</a:t>
                </a:r>
                <a:r>
                  <a:rPr lang="sv-SE" dirty="0"/>
                  <a:t> is proportional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sv-SE" i="1" dirty="0" smtClean="0">
                            <a:latin typeface="Cambria Math" panose="02040503050406030204" pitchFamily="18" charset="0"/>
                          </a:rPr>
                          <m:t>𝑈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1.5</m:t>
                        </m:r>
                      </m:sup>
                    </m:sSup>
                  </m:oMath>
                </a14:m>
                <a:endParaRPr lang="sv-SE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0050" y="1777398"/>
                <a:ext cx="4528804" cy="372410"/>
              </a:xfrm>
              <a:prstGeom prst="rect">
                <a:avLst/>
              </a:prstGeom>
              <a:blipFill>
                <a:blip r:embed="rId4"/>
                <a:stretch>
                  <a:fillRect l="-1211" t="-8197" b="-26230"/>
                </a:stretch>
              </a:blipFill>
            </p:spPr>
            <p:txBody>
              <a:bodyPr/>
              <a:lstStyle/>
              <a:p>
                <a:r>
                  <a:rPr lang="sv-S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" name="Picture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49625" y="3438594"/>
            <a:ext cx="4695825" cy="495300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488950" y="3921114"/>
            <a:ext cx="7332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sv-SE" dirty="0" smtClean="0"/>
              <a:t>3. The </a:t>
            </a:r>
            <a:r>
              <a:rPr lang="sv-SE" dirty="0" err="1" smtClean="0"/>
              <a:t>function</a:t>
            </a:r>
            <a:r>
              <a:rPr lang="sv-SE" dirty="0" smtClean="0"/>
              <a:t> for the </a:t>
            </a:r>
            <a:r>
              <a:rPr lang="sv-SE" dirty="0" err="1" smtClean="0"/>
              <a:t>temperature</a:t>
            </a:r>
            <a:r>
              <a:rPr lang="sv-SE" dirty="0" smtClean="0"/>
              <a:t> </a:t>
            </a:r>
            <a:r>
              <a:rPr lang="sv-SE" dirty="0" err="1" smtClean="0"/>
              <a:t>effect</a:t>
            </a:r>
            <a:r>
              <a:rPr lang="sv-SE" dirty="0" smtClean="0"/>
              <a:t> fits </a:t>
            </a:r>
            <a:r>
              <a:rPr lang="sv-SE" dirty="0" err="1"/>
              <a:t>with</a:t>
            </a:r>
            <a:r>
              <a:rPr lang="sv-SE" dirty="0"/>
              <a:t> a </a:t>
            </a:r>
            <a:r>
              <a:rPr lang="sv-SE" dirty="0" err="1"/>
              <a:t>first-degree</a:t>
            </a:r>
            <a:r>
              <a:rPr lang="sv-SE" dirty="0"/>
              <a:t> </a:t>
            </a:r>
            <a:r>
              <a:rPr lang="sv-SE" dirty="0" err="1" smtClean="0"/>
              <a:t>polynomial</a:t>
            </a:r>
            <a:endParaRPr lang="sv-SE" dirty="0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6"/>
          <a:srcRect t="3636" b="-3636"/>
          <a:stretch/>
        </p:blipFill>
        <p:spPr>
          <a:xfrm>
            <a:off x="3509962" y="4351460"/>
            <a:ext cx="3762375" cy="523875"/>
          </a:xfrm>
          <a:prstGeom prst="rect">
            <a:avLst/>
          </a:prstGeom>
        </p:spPr>
      </p:pic>
      <p:sp>
        <p:nvSpPr>
          <p:cNvPr id="23" name="Rectangle 22"/>
          <p:cNvSpPr/>
          <p:nvPr/>
        </p:nvSpPr>
        <p:spPr>
          <a:xfrm>
            <a:off x="461962" y="4875335"/>
            <a:ext cx="11539538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/>
              <a:t>4. If </a:t>
            </a:r>
            <a:r>
              <a:rPr lang="sv-SE" dirty="0"/>
              <a:t>the </a:t>
            </a:r>
            <a:r>
              <a:rPr lang="sv-SE" dirty="0" err="1"/>
              <a:t>voltage</a:t>
            </a:r>
            <a:r>
              <a:rPr lang="sv-SE" dirty="0"/>
              <a:t> </a:t>
            </a:r>
            <a:r>
              <a:rPr lang="sv-SE" dirty="0" err="1"/>
              <a:t>slew</a:t>
            </a:r>
            <a:r>
              <a:rPr lang="sv-SE" dirty="0"/>
              <a:t> rate is not </a:t>
            </a:r>
            <a:r>
              <a:rPr lang="sv-SE" dirty="0" err="1"/>
              <a:t>limited</a:t>
            </a:r>
            <a:r>
              <a:rPr lang="sv-SE" dirty="0"/>
              <a:t> and the </a:t>
            </a:r>
            <a:r>
              <a:rPr lang="sv-SE" dirty="0" err="1"/>
              <a:t>voltage</a:t>
            </a:r>
            <a:r>
              <a:rPr lang="sv-SE" dirty="0"/>
              <a:t> </a:t>
            </a:r>
            <a:r>
              <a:rPr lang="sv-SE" dirty="0" err="1"/>
              <a:t>utilization</a:t>
            </a:r>
            <a:r>
              <a:rPr lang="sv-SE" dirty="0"/>
              <a:t> </a:t>
            </a:r>
            <a:r>
              <a:rPr lang="sv-SE" dirty="0" err="1" smtClean="0"/>
              <a:t>factor</a:t>
            </a:r>
            <a:r>
              <a:rPr lang="sv-SE" dirty="0" smtClean="0"/>
              <a:t> </a:t>
            </a:r>
            <a:r>
              <a:rPr lang="sv-SE" dirty="0"/>
              <a:t>is </a:t>
            </a:r>
            <a:r>
              <a:rPr lang="sv-SE" dirty="0" err="1"/>
              <a:t>constant</a:t>
            </a:r>
            <a:r>
              <a:rPr lang="sv-SE" dirty="0"/>
              <a:t> (</a:t>
            </a:r>
            <a:r>
              <a:rPr lang="sv-SE" dirty="0" err="1"/>
              <a:t>ksw,dss</a:t>
            </a:r>
            <a:r>
              <a:rPr lang="sv-SE" dirty="0"/>
              <a:t> = (</a:t>
            </a:r>
            <a:r>
              <a:rPr lang="sv-SE" dirty="0" err="1"/>
              <a:t>Usw</a:t>
            </a:r>
            <a:r>
              <a:rPr lang="sv-SE" dirty="0"/>
              <a:t>/</a:t>
            </a:r>
            <a:r>
              <a:rPr lang="sv-SE" dirty="0" err="1"/>
              <a:t>Udss</a:t>
            </a:r>
            <a:r>
              <a:rPr lang="sv-SE" dirty="0"/>
              <a:t>) = </a:t>
            </a:r>
            <a:r>
              <a:rPr lang="sv-SE" dirty="0" err="1"/>
              <a:t>const</a:t>
            </a:r>
            <a:r>
              <a:rPr lang="sv-SE" dirty="0"/>
              <a:t>.), </a:t>
            </a:r>
            <a:r>
              <a:rPr lang="sv-SE" dirty="0" smtClean="0"/>
              <a:t>the </a:t>
            </a:r>
            <a:r>
              <a:rPr lang="sv-SE" dirty="0"/>
              <a:t>charge </a:t>
            </a:r>
            <a:r>
              <a:rPr lang="sv-SE" dirty="0" err="1"/>
              <a:t>Qoss</a:t>
            </a:r>
            <a:r>
              <a:rPr lang="sv-SE" dirty="0"/>
              <a:t> and </a:t>
            </a:r>
            <a:r>
              <a:rPr lang="sv-SE" dirty="0" err="1"/>
              <a:t>consequently</a:t>
            </a:r>
            <a:r>
              <a:rPr lang="sv-SE" dirty="0"/>
              <a:t> the </a:t>
            </a:r>
            <a:r>
              <a:rPr lang="sv-SE" dirty="0" err="1"/>
              <a:t>switching</a:t>
            </a:r>
            <a:r>
              <a:rPr lang="sv-SE" dirty="0"/>
              <a:t> </a:t>
            </a:r>
            <a:r>
              <a:rPr lang="sv-SE" dirty="0" err="1"/>
              <a:t>time</a:t>
            </a:r>
            <a:r>
              <a:rPr lang="sv-SE" dirty="0"/>
              <a:t> </a:t>
            </a:r>
            <a:r>
              <a:rPr lang="sv-SE" dirty="0" err="1" smtClean="0"/>
              <a:t>tsw</a:t>
            </a:r>
            <a:r>
              <a:rPr lang="sv-SE" dirty="0" smtClean="0"/>
              <a:t> </a:t>
            </a:r>
            <a:r>
              <a:rPr lang="sv-SE" dirty="0" err="1"/>
              <a:t>are</a:t>
            </a:r>
            <a:r>
              <a:rPr lang="sv-SE" dirty="0"/>
              <a:t> </a:t>
            </a:r>
            <a:r>
              <a:rPr lang="sv-SE" dirty="0" err="1"/>
              <a:t>constant</a:t>
            </a:r>
            <a:r>
              <a:rPr lang="sv-SE" dirty="0"/>
              <a:t>. </a:t>
            </a:r>
            <a:r>
              <a:rPr lang="en-US" dirty="0"/>
              <a:t>Therefore, the switching energy is </a:t>
            </a:r>
            <a:r>
              <a:rPr lang="en-US" dirty="0" smtClean="0"/>
              <a:t>proportional </a:t>
            </a:r>
            <a:r>
              <a:rPr lang="en-US" dirty="0"/>
              <a:t>to the rated </a:t>
            </a:r>
            <a:r>
              <a:rPr lang="en-US" dirty="0" smtClean="0"/>
              <a:t>voltage.</a:t>
            </a:r>
            <a:endParaRPr lang="sv-SE" dirty="0"/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181474" y="5727187"/>
            <a:ext cx="2419350" cy="838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0562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30659" y="467667"/>
            <a:ext cx="1092749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/>
              <a:t>1. A </a:t>
            </a:r>
            <a:r>
              <a:rPr lang="sv-SE" dirty="0" err="1" smtClean="0"/>
              <a:t>Low</a:t>
            </a:r>
            <a:r>
              <a:rPr lang="sv-SE" dirty="0" smtClean="0"/>
              <a:t> </a:t>
            </a:r>
            <a:r>
              <a:rPr lang="sv-SE" dirty="0" err="1" smtClean="0"/>
              <a:t>Inductance</a:t>
            </a:r>
            <a:r>
              <a:rPr lang="sv-SE" dirty="0" smtClean="0"/>
              <a:t>, </a:t>
            </a:r>
            <a:r>
              <a:rPr lang="sv-SE" dirty="0" err="1" smtClean="0"/>
              <a:t>High</a:t>
            </a:r>
            <a:r>
              <a:rPr lang="sv-SE" dirty="0" smtClean="0"/>
              <a:t> Power </a:t>
            </a:r>
            <a:r>
              <a:rPr lang="sv-SE" dirty="0" err="1" smtClean="0"/>
              <a:t>Density</a:t>
            </a:r>
            <a:r>
              <a:rPr lang="sv-SE" dirty="0" smtClean="0"/>
              <a:t> 3L-TNPC Power </a:t>
            </a:r>
            <a:r>
              <a:rPr lang="sv-SE" dirty="0" err="1" smtClean="0"/>
              <a:t>Module</a:t>
            </a:r>
            <a:r>
              <a:rPr lang="sv-SE" dirty="0" smtClean="0"/>
              <a:t> for </a:t>
            </a:r>
            <a:r>
              <a:rPr lang="sv-SE" dirty="0" err="1" smtClean="0"/>
              <a:t>More</a:t>
            </a:r>
            <a:r>
              <a:rPr lang="sv-SE" dirty="0" smtClean="0"/>
              <a:t>-Electric Aircraft </a:t>
            </a:r>
            <a:r>
              <a:rPr lang="sv-SE" dirty="0" err="1" smtClean="0"/>
              <a:t>Applications</a:t>
            </a:r>
            <a:endParaRPr lang="sv-SE" dirty="0" smtClean="0"/>
          </a:p>
          <a:p>
            <a:r>
              <a:rPr lang="en-US" dirty="0" smtClean="0"/>
              <a:t>2. Double Pulse Testing: The How, What and Why</a:t>
            </a:r>
            <a:endParaRPr lang="sv-SE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54" y="1447800"/>
            <a:ext cx="3960164" cy="266463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b="51843"/>
          <a:stretch/>
        </p:blipFill>
        <p:spPr>
          <a:xfrm>
            <a:off x="4294269" y="1295400"/>
            <a:ext cx="3727695" cy="449393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25410" y="1447800"/>
            <a:ext cx="3851792" cy="2152650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36267" y="3787139"/>
            <a:ext cx="3597593" cy="2688433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56955" y="4171579"/>
            <a:ext cx="2245042" cy="2303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9795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1786" y="295996"/>
            <a:ext cx="3886113" cy="175245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7513" y="1118286"/>
            <a:ext cx="3215543" cy="4001658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096" y="2048453"/>
            <a:ext cx="4115905" cy="4462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9046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35690" y="793574"/>
            <a:ext cx="1132908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sv-SE" dirty="0" smtClean="0"/>
              <a:t>3L NPC </a:t>
            </a:r>
            <a:r>
              <a:rPr lang="sv-SE" dirty="0" err="1" smtClean="0"/>
              <a:t>topology</a:t>
            </a:r>
            <a:r>
              <a:rPr lang="sv-SE" dirty="0" smtClean="0"/>
              <a:t> </a:t>
            </a:r>
            <a:r>
              <a:rPr lang="sv-SE" dirty="0" err="1" smtClean="0"/>
              <a:t>including</a:t>
            </a:r>
            <a:r>
              <a:rPr lang="sv-SE" dirty="0" smtClean="0"/>
              <a:t> </a:t>
            </a:r>
            <a:r>
              <a:rPr lang="sv-SE" dirty="0" err="1" smtClean="0"/>
              <a:t>two</a:t>
            </a:r>
            <a:r>
              <a:rPr lang="sv-SE" dirty="0" smtClean="0"/>
              <a:t> hard-</a:t>
            </a:r>
            <a:r>
              <a:rPr lang="sv-SE" dirty="0" err="1" smtClean="0"/>
              <a:t>switches</a:t>
            </a:r>
            <a:r>
              <a:rPr lang="sv-SE" dirty="0" smtClean="0"/>
              <a:t> in a </a:t>
            </a:r>
            <a:r>
              <a:rPr lang="sv-SE" dirty="0" err="1" smtClean="0"/>
              <a:t>complete</a:t>
            </a:r>
            <a:r>
              <a:rPr lang="sv-SE" dirty="0" smtClean="0"/>
              <a:t> </a:t>
            </a:r>
            <a:r>
              <a:rPr lang="sv-SE" dirty="0" err="1" smtClean="0"/>
              <a:t>switching</a:t>
            </a:r>
            <a:r>
              <a:rPr lang="sv-SE" dirty="0" smtClean="0"/>
              <a:t> period, and the </a:t>
            </a:r>
            <a:r>
              <a:rPr lang="sv-SE" dirty="0" err="1" smtClean="0"/>
              <a:t>voltage</a:t>
            </a:r>
            <a:r>
              <a:rPr lang="sv-SE" dirty="0" smtClean="0"/>
              <a:t> stress on </a:t>
            </a:r>
            <a:r>
              <a:rPr lang="sv-SE" dirty="0" err="1" smtClean="0"/>
              <a:t>each</a:t>
            </a:r>
            <a:r>
              <a:rPr lang="sv-SE" dirty="0" smtClean="0"/>
              <a:t> </a:t>
            </a:r>
            <a:r>
              <a:rPr lang="sv-SE" dirty="0" err="1" smtClean="0"/>
              <a:t>device</a:t>
            </a:r>
            <a:r>
              <a:rPr lang="sv-SE" dirty="0" smtClean="0"/>
              <a:t> has </a:t>
            </a:r>
            <a:r>
              <a:rPr lang="sv-SE" dirty="0" err="1" smtClean="0"/>
              <a:t>been</a:t>
            </a:r>
            <a:r>
              <a:rPr lang="sv-SE" dirty="0" smtClean="0"/>
              <a:t> </a:t>
            </a:r>
            <a:r>
              <a:rPr lang="sv-SE" dirty="0" err="1" smtClean="0"/>
              <a:t>halved</a:t>
            </a:r>
            <a:r>
              <a:rPr lang="sv-SE" dirty="0" smtClean="0"/>
              <a:t>. </a:t>
            </a:r>
            <a:r>
              <a:rPr lang="sv-SE" dirty="0" err="1" smtClean="0"/>
              <a:t>Compared</a:t>
            </a:r>
            <a:r>
              <a:rPr lang="sv-SE" dirty="0" smtClean="0"/>
              <a:t> </a:t>
            </a:r>
            <a:r>
              <a:rPr lang="sv-SE" dirty="0" err="1" smtClean="0"/>
              <a:t>with</a:t>
            </a:r>
            <a:r>
              <a:rPr lang="sv-SE" dirty="0" smtClean="0"/>
              <a:t> </a:t>
            </a:r>
            <a:r>
              <a:rPr lang="sv-SE" dirty="0" err="1" smtClean="0"/>
              <a:t>its</a:t>
            </a:r>
            <a:r>
              <a:rPr lang="sv-SE" dirty="0" smtClean="0"/>
              <a:t> 2L </a:t>
            </a:r>
            <a:r>
              <a:rPr lang="sv-SE" dirty="0" err="1" smtClean="0"/>
              <a:t>counterpart</a:t>
            </a:r>
            <a:r>
              <a:rPr lang="sv-SE" dirty="0" smtClean="0"/>
              <a:t>, </a:t>
            </a:r>
            <a:r>
              <a:rPr lang="sv-SE" dirty="0" err="1" smtClean="0"/>
              <a:t>there</a:t>
            </a:r>
            <a:r>
              <a:rPr lang="sv-SE" dirty="0" smtClean="0"/>
              <a:t> is a </a:t>
            </a:r>
            <a:r>
              <a:rPr lang="sv-SE" dirty="0" err="1" smtClean="0"/>
              <a:t>nearly</a:t>
            </a:r>
            <a:r>
              <a:rPr lang="sv-SE" dirty="0" smtClean="0"/>
              <a:t> 50% </a:t>
            </a:r>
            <a:r>
              <a:rPr lang="sv-SE" dirty="0" err="1" smtClean="0"/>
              <a:t>reduction</a:t>
            </a:r>
            <a:r>
              <a:rPr lang="sv-SE" dirty="0" smtClean="0"/>
              <a:t> </a:t>
            </a:r>
            <a:r>
              <a:rPr lang="sv-SE" dirty="0" err="1" smtClean="0"/>
              <a:t>of</a:t>
            </a:r>
            <a:r>
              <a:rPr lang="sv-SE" dirty="0" smtClean="0"/>
              <a:t> the total </a:t>
            </a:r>
            <a:r>
              <a:rPr lang="sv-SE" dirty="0" err="1" smtClean="0"/>
              <a:t>switching</a:t>
            </a:r>
            <a:r>
              <a:rPr lang="sv-SE" dirty="0" smtClean="0"/>
              <a:t> loss </a:t>
            </a:r>
            <a:r>
              <a:rPr lang="sv-SE" dirty="0" err="1" smtClean="0"/>
              <a:t>can</a:t>
            </a:r>
            <a:r>
              <a:rPr lang="sv-SE" dirty="0" smtClean="0"/>
              <a:t> be </a:t>
            </a:r>
            <a:r>
              <a:rPr lang="sv-SE" dirty="0" err="1" smtClean="0"/>
              <a:t>achieved</a:t>
            </a:r>
            <a:r>
              <a:rPr lang="sv-SE" dirty="0" smtClean="0"/>
              <a:t> </a:t>
            </a:r>
            <a:r>
              <a:rPr lang="sv-SE" dirty="0" err="1" smtClean="0"/>
              <a:t>with</a:t>
            </a:r>
            <a:r>
              <a:rPr lang="sv-SE" dirty="0" smtClean="0"/>
              <a:t> the 3L </a:t>
            </a:r>
            <a:r>
              <a:rPr lang="sv-SE" dirty="0" err="1" smtClean="0"/>
              <a:t>module</a:t>
            </a:r>
            <a:endParaRPr lang="sv-SE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76" y="1964726"/>
            <a:ext cx="4048769" cy="32390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9210" y="1794588"/>
            <a:ext cx="6041682" cy="34091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8593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366" y="846255"/>
            <a:ext cx="2424252" cy="165915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023" y="846255"/>
            <a:ext cx="2716556" cy="1437042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0017" y="3558745"/>
            <a:ext cx="3491746" cy="249606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127157" y="172995"/>
            <a:ext cx="2452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Bare Die Datasheet</a:t>
            </a:r>
            <a:endParaRPr lang="sv-SE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09768" y="3493131"/>
            <a:ext cx="3715910" cy="2528785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106" y="3495133"/>
            <a:ext cx="3633144" cy="252678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52255" y="2901690"/>
            <a:ext cx="10389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Only we have conduction loss parameters changing with different switch current and  junction temperature.</a:t>
            </a:r>
            <a:endParaRPr lang="sv-SE" dirty="0"/>
          </a:p>
        </p:txBody>
      </p:sp>
    </p:spTree>
    <p:extLst>
      <p:ext uri="{BB962C8B-B14F-4D97-AF65-F5344CB8AC3E}">
        <p14:creationId xmlns:p14="http://schemas.microsoft.com/office/powerpoint/2010/main" val="3647195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706</Words>
  <Application>Microsoft Office PowerPoint</Application>
  <PresentationFormat>Widescreen</PresentationFormat>
  <Paragraphs>27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Switching Losses</vt:lpstr>
      <vt:lpstr>PowerPoint Presentation</vt:lpstr>
      <vt:lpstr>PowerPoint Presentation</vt:lpstr>
      <vt:lpstr>PowerPoint Presentation</vt:lpstr>
      <vt:lpstr>PowerPoint Presentation</vt:lpstr>
    </vt:vector>
  </TitlesOfParts>
  <Company>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Enes Ayaz</dc:creator>
  <cp:lastModifiedBy>Enes Ayaz</cp:lastModifiedBy>
  <cp:revision>22</cp:revision>
  <dcterms:created xsi:type="dcterms:W3CDTF">2023-09-07T06:47:16Z</dcterms:created>
  <dcterms:modified xsi:type="dcterms:W3CDTF">2023-09-07T09:33:57Z</dcterms:modified>
</cp:coreProperties>
</file>