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0" r:id="rId3"/>
    <p:sldId id="261" r:id="rId4"/>
    <p:sldId id="262" r:id="rId5"/>
    <p:sldId id="263" r:id="rId6"/>
    <p:sldId id="256" r:id="rId7"/>
    <p:sldId id="258" r:id="rId8"/>
    <p:sldId id="259" r:id="rId9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94995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66689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61296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78211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708539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500314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62000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929082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58988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14258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84516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E3668-0D0C-452D-9D7A-5571454930D1}" type="datetimeFigureOut">
              <a:rPr lang="sv-SE" smtClean="0"/>
              <a:t>2024-01-29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4BC886-3B07-4993-A6FE-EF1A6D71E7FE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6899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14.svg"/><Relationship Id="rId1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8584" b="546"/>
          <a:stretch/>
        </p:blipFill>
        <p:spPr>
          <a:xfrm>
            <a:off x="710984" y="0"/>
            <a:ext cx="10140123" cy="3284719"/>
          </a:xfrm>
          <a:prstGeom prst="rect">
            <a:avLst/>
          </a:prstGeom>
        </p:spPr>
      </p:pic>
      <p:cxnSp>
        <p:nvCxnSpPr>
          <p:cNvPr id="7" name="Straight Arrow Connector 6"/>
          <p:cNvCxnSpPr>
            <a:endCxn id="11" idx="0"/>
          </p:cNvCxnSpPr>
          <p:nvPr/>
        </p:nvCxnSpPr>
        <p:spPr>
          <a:xfrm>
            <a:off x="4078071" y="2610032"/>
            <a:ext cx="1257300" cy="10731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11" idx="0"/>
          </p:cNvCxnSpPr>
          <p:nvPr/>
        </p:nvCxnSpPr>
        <p:spPr>
          <a:xfrm>
            <a:off x="4135221" y="419282"/>
            <a:ext cx="1200150" cy="32639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192371" y="3683182"/>
            <a:ext cx="2286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Package dependent</a:t>
            </a:r>
            <a:endParaRPr lang="sv-SE" dirty="0"/>
          </a:p>
        </p:txBody>
      </p:sp>
      <p:cxnSp>
        <p:nvCxnSpPr>
          <p:cNvPr id="12" name="Straight Arrow Connector 11"/>
          <p:cNvCxnSpPr>
            <a:endCxn id="11" idx="0"/>
          </p:cNvCxnSpPr>
          <p:nvPr/>
        </p:nvCxnSpPr>
        <p:spPr>
          <a:xfrm flipH="1">
            <a:off x="5335371" y="489132"/>
            <a:ext cx="3702050" cy="3194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endCxn id="11" idx="0"/>
          </p:cNvCxnSpPr>
          <p:nvPr/>
        </p:nvCxnSpPr>
        <p:spPr>
          <a:xfrm flipH="1">
            <a:off x="5335371" y="2438582"/>
            <a:ext cx="3803650" cy="12446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1314906" y="4231097"/>
            <a:ext cx="2296645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Single Bare </a:t>
            </a:r>
            <a:r>
              <a:rPr lang="en-US" b="1" dirty="0" smtClean="0"/>
              <a:t>Die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Double Dies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 smtClean="0"/>
              <a:t>Triple Dies</a:t>
            </a:r>
          </a:p>
          <a:p>
            <a:pPr marL="342900" indent="-342900">
              <a:buFont typeface="+mj-lt"/>
              <a:buAutoNum type="arabicPeriod"/>
            </a:pPr>
            <a:endParaRPr lang="sv-SE" dirty="0"/>
          </a:p>
        </p:txBody>
      </p:sp>
      <p:sp>
        <p:nvSpPr>
          <p:cNvPr id="24" name="Right Brace 23"/>
          <p:cNvSpPr/>
          <p:nvPr/>
        </p:nvSpPr>
        <p:spPr>
          <a:xfrm>
            <a:off x="3317443" y="4283724"/>
            <a:ext cx="868350" cy="86717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26" name="TextBox 25"/>
          <p:cNvSpPr txBox="1"/>
          <p:nvPr/>
        </p:nvSpPr>
        <p:spPr>
          <a:xfrm>
            <a:off x="4249656" y="4394146"/>
            <a:ext cx="70257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To investigate the conduction and switching losses vs die area</a:t>
            </a:r>
          </a:p>
          <a:p>
            <a:r>
              <a:rPr lang="en-US" dirty="0" smtClean="0"/>
              <a:t>To </a:t>
            </a:r>
            <a:r>
              <a:rPr lang="en-US" dirty="0"/>
              <a:t>investigate the </a:t>
            </a:r>
            <a:r>
              <a:rPr lang="en-US" dirty="0" smtClean="0"/>
              <a:t>distortive effect of the package on the losses</a:t>
            </a:r>
          </a:p>
          <a:p>
            <a:r>
              <a:rPr lang="en-US" dirty="0" smtClean="0"/>
              <a:t>Hefner  Saber </a:t>
            </a:r>
            <a:r>
              <a:rPr lang="en-US" dirty="0" err="1" smtClean="0"/>
              <a:t>medici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35242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0" y="400050"/>
            <a:ext cx="8401643" cy="4643437"/>
          </a:xfrm>
          <a:prstGeom prst="rect">
            <a:avLst/>
          </a:prstGeom>
        </p:spPr>
      </p:pic>
      <p:cxnSp>
        <p:nvCxnSpPr>
          <p:cNvPr id="6" name="Straight Arrow Connector 5"/>
          <p:cNvCxnSpPr/>
          <p:nvPr/>
        </p:nvCxnSpPr>
        <p:spPr>
          <a:xfrm flipH="1" flipV="1">
            <a:off x="5867400" y="1642507"/>
            <a:ext cx="1552575" cy="47204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581525" y="1273175"/>
            <a:ext cx="2266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Check this linearity.  </a:t>
            </a:r>
            <a:endParaRPr lang="sv-SE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2025" y="5210175"/>
            <a:ext cx="8943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Since the input capacitance increases, we might change the outer gate resistance ?  </a:t>
            </a:r>
            <a:endParaRPr lang="sv-SE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51" y="584200"/>
            <a:ext cx="3544204" cy="4245886"/>
          </a:xfrm>
          <a:prstGeom prst="rect">
            <a:avLst/>
          </a:prstGeom>
        </p:spPr>
      </p:pic>
      <p:cxnSp>
        <p:nvCxnSpPr>
          <p:cNvPr id="13" name="Straight Arrow Connector 12"/>
          <p:cNvCxnSpPr/>
          <p:nvPr/>
        </p:nvCxnSpPr>
        <p:spPr>
          <a:xfrm flipH="1">
            <a:off x="10469880" y="4830086"/>
            <a:ext cx="7620" cy="6334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557655" y="5463540"/>
            <a:ext cx="21793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Estimate package inductances and resistances. 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9872767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5062"/>
          <a:stretch/>
        </p:blipFill>
        <p:spPr>
          <a:xfrm>
            <a:off x="1539189" y="510250"/>
            <a:ext cx="3743324" cy="12528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5636" y="510250"/>
            <a:ext cx="2947988" cy="105575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4"/>
          <a:srcRect t="-804"/>
          <a:stretch/>
        </p:blipFill>
        <p:spPr>
          <a:xfrm>
            <a:off x="318958" y="2577402"/>
            <a:ext cx="5335266" cy="387294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7113" y="2686947"/>
            <a:ext cx="5045033" cy="3376852"/>
          </a:xfrm>
          <a:prstGeom prst="rect">
            <a:avLst/>
          </a:prstGeom>
        </p:spPr>
      </p:pic>
      <p:cxnSp>
        <p:nvCxnSpPr>
          <p:cNvPr id="10" name="Straight Arrow Connector 9"/>
          <p:cNvCxnSpPr/>
          <p:nvPr/>
        </p:nvCxnSpPr>
        <p:spPr>
          <a:xfrm>
            <a:off x="6073346" y="1396314"/>
            <a:ext cx="0" cy="5251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21924" y="2050920"/>
            <a:ext cx="70618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Update the possible dv/</a:t>
            </a:r>
            <a:r>
              <a:rPr lang="en-US" dirty="0" err="1" smtClean="0"/>
              <a:t>dt</a:t>
            </a:r>
            <a:r>
              <a:rPr lang="en-US" dirty="0" smtClean="0"/>
              <a:t> by considering gate oscillation due to the resonance between input capacitance and stray inductance.</a:t>
            </a:r>
            <a:endParaRPr lang="sv-SE" dirty="0"/>
          </a:p>
        </p:txBody>
      </p:sp>
      <p:sp>
        <p:nvSpPr>
          <p:cNvPr id="12" name="Rectangle 11"/>
          <p:cNvSpPr/>
          <p:nvPr/>
        </p:nvSpPr>
        <p:spPr>
          <a:xfrm>
            <a:off x="3665979" y="6330494"/>
            <a:ext cx="52384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/>
              <a:t>* </a:t>
            </a:r>
            <a:r>
              <a:rPr lang="sv-SE" dirty="0" err="1" smtClean="0"/>
              <a:t>External</a:t>
            </a:r>
            <a:r>
              <a:rPr lang="sv-SE" dirty="0" smtClean="0"/>
              <a:t> </a:t>
            </a:r>
            <a:r>
              <a:rPr lang="sv-SE" dirty="0"/>
              <a:t>Gate Resistor Design Guide for Gate Drivers</a:t>
            </a:r>
          </a:p>
        </p:txBody>
      </p:sp>
    </p:spTree>
    <p:extLst>
      <p:ext uri="{BB962C8B-B14F-4D97-AF65-F5344CB8AC3E}">
        <p14:creationId xmlns:p14="http://schemas.microsoft.com/office/powerpoint/2010/main" val="801985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82" y="368377"/>
            <a:ext cx="7460715" cy="237289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6601" y="5306802"/>
            <a:ext cx="5344299" cy="12057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68" y="3051032"/>
            <a:ext cx="3972183" cy="671556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9329351" y="3706170"/>
            <a:ext cx="2150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same by </a:t>
            </a:r>
            <a:r>
              <a:rPr lang="en-US" dirty="0"/>
              <a:t>the number of dies in </a:t>
            </a:r>
            <a:r>
              <a:rPr lang="en-US" dirty="0" smtClean="0"/>
              <a:t>parallel?</a:t>
            </a:r>
            <a:endParaRPr lang="sv-SE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229" y="3091520"/>
            <a:ext cx="3539439" cy="70951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597608" y="3801039"/>
            <a:ext cx="2150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Linearly increasing by the number of dies in parallel</a:t>
            </a:r>
            <a:endParaRPr lang="sv-SE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7105" y="3091520"/>
            <a:ext cx="2894189" cy="643939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71235" y="2625810"/>
            <a:ext cx="1542789" cy="42522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15533" y="3874988"/>
            <a:ext cx="21500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same by </a:t>
            </a:r>
            <a:r>
              <a:rPr lang="en-US" dirty="0"/>
              <a:t>the number of dies in </a:t>
            </a:r>
            <a:r>
              <a:rPr lang="en-US" dirty="0" smtClean="0"/>
              <a:t>parallel?</a:t>
            </a:r>
            <a:endParaRPr lang="sv-SE" dirty="0"/>
          </a:p>
        </p:txBody>
      </p:sp>
      <p:sp>
        <p:nvSpPr>
          <p:cNvPr id="29" name="TextBox 28"/>
          <p:cNvSpPr txBox="1"/>
          <p:nvPr/>
        </p:nvSpPr>
        <p:spPr>
          <a:xfrm>
            <a:off x="7393457" y="5724999"/>
            <a:ext cx="3591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Depends on dv/</a:t>
            </a:r>
            <a:r>
              <a:rPr lang="en-US" dirty="0" err="1" smtClean="0"/>
              <a:t>dt</a:t>
            </a:r>
            <a:r>
              <a:rPr lang="en-US" dirty="0" smtClean="0"/>
              <a:t> and di/</a:t>
            </a:r>
            <a:r>
              <a:rPr lang="en-US" dirty="0" err="1" smtClean="0"/>
              <a:t>dt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91521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enesa\AppData\Local\Temp\ConnectorClipboard9001578144035710531\image1699518325394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038" y="714467"/>
            <a:ext cx="5095037" cy="1201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4" descr="C:\Users\enesa\AppData\Local\Temp\ConnectorClipboard9001578144035710531\image1699518328787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7531" y="746092"/>
            <a:ext cx="5207000" cy="1170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0236820"/>
                  </p:ext>
                </p:extLst>
              </p:nvPr>
            </p:nvGraphicFramePr>
            <p:xfrm>
              <a:off x="1219199" y="2949883"/>
              <a:ext cx="8267700" cy="257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356134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𝐿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𝑚𝑖𝑙𝑙𝑒𝑟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𝑡h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𝑜𝑛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𝑓𝑠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𝑉</m:t>
                                    </m:r>
                                  </m:e>
                                  <m:sub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𝑑𝑟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𝑜𝑓𝑓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98648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𝑒𝑥𝑡</m:t>
                                  </m:r>
                                </m:sub>
                              </m:s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𝑖𝑛𝑡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dirty="0" smtClean="0"/>
                            <a:t>? </a:t>
                          </a:r>
                          <a:endParaRPr lang="sv-SE" dirty="0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oMath>
                          </a14:m>
                          <a:r>
                            <a:rPr lang="sv-SE" b="0" dirty="0" smtClean="0">
                              <a:solidFill>
                                <a:schemeClr val="tx1"/>
                              </a:solidFill>
                            </a:rPr>
                            <a:t> ?</a:t>
                          </a:r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Table 8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0236820"/>
                  </p:ext>
                </p:extLst>
              </p:nvPr>
            </p:nvGraphicFramePr>
            <p:xfrm>
              <a:off x="1219199" y="2949883"/>
              <a:ext cx="8267700" cy="257358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55900">
                      <a:extLst>
                        <a:ext uri="{9D8B030D-6E8A-4147-A177-3AD203B41FA5}">
                          <a16:colId xmlns:a16="http://schemas.microsoft.com/office/drawing/2014/main" val="786361794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3781079998"/>
                        </a:ext>
                      </a:extLst>
                    </a:gridCol>
                    <a:gridCol w="2755900">
                      <a:extLst>
                        <a:ext uri="{9D8B030D-6E8A-4147-A177-3AD203B41FA5}">
                          <a16:colId xmlns:a16="http://schemas.microsoft.com/office/drawing/2014/main" val="1361092490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Die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 Area Dependent Parameters</a:t>
                          </a:r>
                          <a:endParaRPr lang="sv-SE" b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Package 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smtClean="0">
                              <a:solidFill>
                                <a:schemeClr val="tx1"/>
                              </a:solidFill>
                            </a:rPr>
                            <a:t> In</a:t>
                          </a:r>
                          <a:r>
                            <a:rPr lang="en-US" b="1" baseline="0" dirty="0" smtClean="0">
                              <a:solidFill>
                                <a:schemeClr val="tx1"/>
                              </a:solidFill>
                            </a:rPr>
                            <a:t>dependent Parameters</a:t>
                          </a:r>
                          <a:endParaRPr lang="sv-SE" b="1" dirty="0" smtClean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548598808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171875" r="-200221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171875" r="-100664" b="-4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71875" r="-442" b="-4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46813850"/>
                      </a:ext>
                    </a:extLst>
                  </a:tr>
                  <a:tr h="388112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271875" r="-200221" b="-3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271875" r="-442" b="-3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7364644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390164" r="-200221" b="-2311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390164" r="-442" b="-23114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45400517"/>
                      </a:ext>
                    </a:extLst>
                  </a:tr>
                  <a:tr h="387795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467188" r="-200221" b="-1203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467188" r="-442" b="-12031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99025845"/>
                      </a:ext>
                    </a:extLst>
                  </a:tr>
                  <a:tr h="398648"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21" t="-550000" r="-200221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442" t="-550000" r="-100664" b="-1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sv-SE"/>
                        </a:p>
                      </a:txBody>
                      <a:tcPr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550000" r="-442" b="-16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9956922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26469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4865" y="180975"/>
            <a:ext cx="10520789" cy="344328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5325" y="3569136"/>
            <a:ext cx="6616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Just we need static parameters without DPT. 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00" y="4131191"/>
            <a:ext cx="3538538" cy="248737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0013" y="4131191"/>
            <a:ext cx="3484087" cy="272617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5"/>
          <a:srcRect t="2216"/>
          <a:stretch/>
        </p:blipFill>
        <p:spPr>
          <a:xfrm>
            <a:off x="7658975" y="4190999"/>
            <a:ext cx="4231396" cy="26383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1160" y="3569136"/>
            <a:ext cx="2641165" cy="51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715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t="612"/>
          <a:stretch/>
        </p:blipFill>
        <p:spPr>
          <a:xfrm>
            <a:off x="212579" y="1508511"/>
            <a:ext cx="4295775" cy="3710940"/>
          </a:xfrm>
          <a:prstGeom prst="rect">
            <a:avLst/>
          </a:prstGeom>
        </p:spPr>
      </p:pic>
      <p:sp>
        <p:nvSpPr>
          <p:cNvPr id="5" name="Metin kutusu 24">
            <a:extLst>
              <a:ext uri="{FF2B5EF4-FFF2-40B4-BE49-F238E27FC236}">
                <a16:creationId xmlns:a16="http://schemas.microsoft.com/office/drawing/2014/main" id="{883F3FED-20E5-4352-A135-FDCDF6C773AD}"/>
              </a:ext>
            </a:extLst>
          </p:cNvPr>
          <p:cNvSpPr txBox="1"/>
          <p:nvPr/>
        </p:nvSpPr>
        <p:spPr>
          <a:xfrm>
            <a:off x="5842354" y="1754038"/>
            <a:ext cx="51007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Voltage Excitation Model 						</a:t>
            </a:r>
            <a:endParaRPr lang="en-GB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Resim 15">
            <a:extLst>
              <a:ext uri="{FF2B5EF4-FFF2-40B4-BE49-F238E27FC236}">
                <a16:creationId xmlns:a16="http://schemas.microsoft.com/office/drawing/2014/main" id="{88642379-2414-463B-BB45-E9543694D3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3056" y="2402552"/>
            <a:ext cx="6711544" cy="1519871"/>
          </a:xfrm>
          <a:prstGeom prst="rect">
            <a:avLst/>
          </a:prstGeom>
        </p:spPr>
      </p:pic>
      <p:pic>
        <p:nvPicPr>
          <p:cNvPr id="7" name="Resim 17">
            <a:extLst>
              <a:ext uri="{FF2B5EF4-FFF2-40B4-BE49-F238E27FC236}">
                <a16:creationId xmlns:a16="http://schemas.microsoft.com/office/drawing/2014/main" id="{1D8FD822-03D7-4197-91A3-28B7196299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9860" y="5219451"/>
            <a:ext cx="6845728" cy="146721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952172" y="4370882"/>
            <a:ext cx="387798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Excitation Model	</a:t>
            </a:r>
            <a:endParaRPr lang="sv-SE" sz="2000" dirty="0"/>
          </a:p>
        </p:txBody>
      </p:sp>
      <p:sp>
        <p:nvSpPr>
          <p:cNvPr id="12" name="Rectangle 11"/>
          <p:cNvSpPr/>
          <p:nvPr/>
        </p:nvSpPr>
        <p:spPr>
          <a:xfrm>
            <a:off x="4969860" y="194238"/>
            <a:ext cx="2795958" cy="4770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 Space </a:t>
            </a:r>
            <a:r>
              <a:rPr lang="en-GB" sz="25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endParaRPr lang="tr-TR" sz="2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Resim 20">
            <a:extLst>
              <a:ext uri="{FF2B5EF4-FFF2-40B4-BE49-F238E27FC236}">
                <a16:creationId xmlns:a16="http://schemas.microsoft.com/office/drawing/2014/main" id="{E73D3ADB-6AEA-45E0-8F1F-D333F106A1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9059" y="757022"/>
            <a:ext cx="2796541" cy="587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38500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6">
            <a:extLst>
              <a:ext uri="{FF2B5EF4-FFF2-40B4-BE49-F238E27FC236}">
                <a16:creationId xmlns:a16="http://schemas.microsoft.com/office/drawing/2014/main" id="{90EBE729-C7B9-4BE1-95BA-206F50DD15D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2841577" y="3354784"/>
            <a:ext cx="6684712" cy="3352800"/>
          </a:xfrm>
          <a:prstGeom prst="rect">
            <a:avLst/>
          </a:prstGeom>
        </p:spPr>
      </p:pic>
      <p:pic>
        <p:nvPicPr>
          <p:cNvPr id="5" name="Grafik 11">
            <a:extLst>
              <a:ext uri="{FF2B5EF4-FFF2-40B4-BE49-F238E27FC236}">
                <a16:creationId xmlns:a16="http://schemas.microsoft.com/office/drawing/2014/main" id="{B81FB7AA-8859-4C65-A1E0-CA6026398061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62451" y="210388"/>
            <a:ext cx="6269199" cy="3144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644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</TotalTime>
  <Words>239</Words>
  <Application>Microsoft Office PowerPoint</Application>
  <PresentationFormat>Widescreen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Calibri Light</vt:lpstr>
      <vt:lpstr>Cambria Math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24</cp:revision>
  <dcterms:created xsi:type="dcterms:W3CDTF">2023-11-23T09:05:55Z</dcterms:created>
  <dcterms:modified xsi:type="dcterms:W3CDTF">2024-01-29T13:32:20Z</dcterms:modified>
</cp:coreProperties>
</file>