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4" r:id="rId3"/>
    <p:sldId id="280" r:id="rId4"/>
    <p:sldId id="279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61" r:id="rId1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7924251-0D1C-482F-9C00-375F743874E9}">
          <p14:sldIdLst>
            <p14:sldId id="256"/>
            <p14:sldId id="274"/>
            <p14:sldId id="280"/>
            <p14:sldId id="279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0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1A71A-9BFD-4E2F-8CB1-3FF418E5A8DE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E4D78-AB85-481E-A603-2784DADE5AA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237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935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51407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1989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274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8817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3103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40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67984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9253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4457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424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9651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771525"/>
            <a:ext cx="10991850" cy="31242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/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/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 smtClean="0">
                <a:solidFill>
                  <a:srgbClr val="C00000"/>
                </a:solidFill>
              </a:rPr>
              <a:t>Preliminary Investigation on </a:t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Bearing Currents In EV Drives:</a:t>
            </a:r>
            <a:r>
              <a:rPr lang="en-US" dirty="0" smtClean="0">
                <a:solidFill>
                  <a:srgbClr val="C00000"/>
                </a:solidFill>
              </a:rPr>
              <a:t/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 smtClean="0">
                <a:solidFill>
                  <a:srgbClr val="C00000"/>
                </a:solidFill>
              </a:rPr>
              <a:t>Sources, Modelling and Mitigations</a:t>
            </a:r>
            <a:br>
              <a:rPr lang="en-US" dirty="0" smtClean="0">
                <a:solidFill>
                  <a:srgbClr val="C00000"/>
                </a:solidFill>
              </a:rPr>
            </a:b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1150" y="5087938"/>
            <a:ext cx="9144000" cy="1655762"/>
          </a:xfrm>
        </p:spPr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Enes Ayaz</a:t>
            </a:r>
          </a:p>
        </p:txBody>
      </p:sp>
    </p:spTree>
    <p:extLst>
      <p:ext uri="{BB962C8B-B14F-4D97-AF65-F5344CB8AC3E}">
        <p14:creationId xmlns:p14="http://schemas.microsoft.com/office/powerpoint/2010/main" val="1267826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36512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Sources  and </a:t>
            </a:r>
            <a:r>
              <a:rPr lang="en-US" dirty="0" smtClean="0">
                <a:solidFill>
                  <a:srgbClr val="C00000"/>
                </a:solidFill>
              </a:rPr>
              <a:t>Consequences of </a:t>
            </a:r>
            <a:r>
              <a:rPr lang="en-US" dirty="0">
                <a:solidFill>
                  <a:srgbClr val="C00000"/>
                </a:solidFill>
              </a:rPr>
              <a:t>Bearing </a:t>
            </a:r>
            <a:r>
              <a:rPr lang="en-US" dirty="0" smtClean="0">
                <a:solidFill>
                  <a:srgbClr val="C00000"/>
                </a:solidFill>
              </a:rPr>
              <a:t>Current [</a:t>
            </a:r>
            <a:r>
              <a:rPr lang="en-US" dirty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] [2]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850" y="1050925"/>
            <a:ext cx="10515600" cy="59785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00000"/>
                </a:solidFill>
              </a:rPr>
              <a:t>Sources </a:t>
            </a:r>
            <a:endParaRPr lang="en-US" sz="1800" dirty="0" smtClean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b="1" dirty="0" smtClean="0"/>
              <a:t>Low frequency</a:t>
            </a:r>
            <a:r>
              <a:rPr lang="en-US" sz="1800" dirty="0" smtClean="0"/>
              <a:t> bearing currents:</a:t>
            </a:r>
          </a:p>
          <a:p>
            <a:pPr lvl="1"/>
            <a:r>
              <a:rPr lang="en-US" sz="1800" dirty="0" smtClean="0"/>
              <a:t>Magnetic field asymmetry, generating `</a:t>
            </a:r>
            <a:r>
              <a:rPr lang="en-US" sz="1800" b="1" dirty="0" smtClean="0"/>
              <a:t>shaft voltage</a:t>
            </a:r>
            <a:r>
              <a:rPr lang="en-US" sz="1800" dirty="0" smtClean="0"/>
              <a:t>` </a:t>
            </a:r>
          </a:p>
          <a:p>
            <a:pPr lvl="2"/>
            <a:r>
              <a:rPr lang="en-US" sz="1800" dirty="0" smtClean="0"/>
              <a:t>Inability </a:t>
            </a:r>
            <a:r>
              <a:rPr lang="en-US" sz="1800" dirty="0"/>
              <a:t>to manufacture a motor to perfect accuracy</a:t>
            </a:r>
            <a:r>
              <a:rPr lang="en-US" sz="1800" dirty="0" smtClean="0"/>
              <a:t>. </a:t>
            </a:r>
          </a:p>
          <a:p>
            <a:pPr lvl="2"/>
            <a:r>
              <a:rPr lang="en-US" sz="1800" dirty="0" smtClean="0"/>
              <a:t>Unbalanced </a:t>
            </a:r>
            <a:r>
              <a:rPr lang="en-US" sz="1800" dirty="0"/>
              <a:t>voltage signal generated by the inverter</a:t>
            </a:r>
            <a:r>
              <a:rPr lang="en-US" sz="1800" dirty="0" smtClean="0"/>
              <a:t>. [2]</a:t>
            </a:r>
          </a:p>
          <a:p>
            <a:pPr lvl="1"/>
            <a:r>
              <a:rPr lang="en-US" sz="1800" dirty="0" smtClean="0"/>
              <a:t>Anisotropy of magnet`s </a:t>
            </a:r>
            <a:r>
              <a:rPr lang="en-US" sz="1800" dirty="0" err="1" smtClean="0"/>
              <a:t>remanence</a:t>
            </a:r>
            <a:r>
              <a:rPr lang="en-US" sz="1800" dirty="0" smtClean="0"/>
              <a:t> and permeability of iron core material</a:t>
            </a:r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1800" b="1" dirty="0" smtClean="0"/>
              <a:t>High frequency </a:t>
            </a:r>
            <a:r>
              <a:rPr lang="en-US" sz="1800" dirty="0" smtClean="0"/>
              <a:t>bearing current:</a:t>
            </a:r>
          </a:p>
          <a:p>
            <a:pPr lvl="1"/>
            <a:r>
              <a:rPr lang="en-US" sz="1800" dirty="0" smtClean="0"/>
              <a:t>High frequency </a:t>
            </a:r>
            <a:r>
              <a:rPr lang="en-US" sz="1800" b="1" dirty="0" smtClean="0"/>
              <a:t>common mode voltage (CMV), </a:t>
            </a:r>
            <a:r>
              <a:rPr lang="en-US" sz="1800" dirty="0" smtClean="0"/>
              <a:t>resulting `shaft voltage` in variable frequency drives (VFDs)</a:t>
            </a:r>
          </a:p>
          <a:p>
            <a:pPr lvl="2"/>
            <a:r>
              <a:rPr lang="en-US" sz="1800" dirty="0" smtClean="0"/>
              <a:t>capacitive path</a:t>
            </a:r>
          </a:p>
          <a:p>
            <a:pPr lvl="2"/>
            <a:r>
              <a:rPr lang="en-US" sz="1800" dirty="0" smtClean="0"/>
              <a:t>inductive path</a:t>
            </a:r>
          </a:p>
          <a:p>
            <a:pPr lvl="1"/>
            <a:r>
              <a:rPr lang="en-US" sz="1800" dirty="0" err="1"/>
              <a:t>SiC</a:t>
            </a:r>
            <a:r>
              <a:rPr lang="en-US" sz="1800" dirty="0"/>
              <a:t> and </a:t>
            </a:r>
            <a:r>
              <a:rPr lang="en-US" sz="1800" dirty="0" err="1" smtClean="0"/>
              <a:t>GaN</a:t>
            </a:r>
            <a:r>
              <a:rPr lang="en-US" sz="1800" dirty="0" smtClean="0"/>
              <a:t> (WBG) </a:t>
            </a:r>
            <a:r>
              <a:rPr lang="en-US" sz="1800" dirty="0"/>
              <a:t>has </a:t>
            </a:r>
            <a:r>
              <a:rPr lang="en-US" sz="1800" dirty="0" smtClean="0"/>
              <a:t>given </a:t>
            </a:r>
            <a:r>
              <a:rPr lang="en-US" sz="1800" dirty="0"/>
              <a:t>rise to dramatic increases in</a:t>
            </a:r>
            <a:r>
              <a:rPr lang="en-US" sz="1800" b="1" dirty="0"/>
              <a:t> </a:t>
            </a:r>
            <a:r>
              <a:rPr lang="en-US" sz="1800" b="1" dirty="0" smtClean="0"/>
              <a:t>dv/</a:t>
            </a:r>
            <a:r>
              <a:rPr lang="en-US" sz="1800" b="1" dirty="0" err="1" smtClean="0"/>
              <a:t>dt</a:t>
            </a:r>
            <a:r>
              <a:rPr lang="en-US" sz="1800" dirty="0" err="1" smtClean="0"/>
              <a:t>.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>
                <a:solidFill>
                  <a:srgbClr val="C00000"/>
                </a:solidFill>
              </a:rPr>
              <a:t>Consequences </a:t>
            </a:r>
            <a:endParaRPr lang="en-US" sz="1800" dirty="0" smtClean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Once the bearing current density exceeds a </a:t>
            </a:r>
            <a:r>
              <a:rPr lang="en-US" sz="1800" b="1" dirty="0" smtClean="0"/>
              <a:t>particular threshold</a:t>
            </a:r>
            <a:r>
              <a:rPr lang="en-US" sz="1800" dirty="0" smtClean="0"/>
              <a:t>, the metallic structure and lubricants of the bearings could be progressively damaged, hence significantly curtailing </a:t>
            </a:r>
            <a:r>
              <a:rPr lang="en-US" sz="1800" b="1" dirty="0" smtClean="0"/>
              <a:t>bearing life </a:t>
            </a:r>
            <a:r>
              <a:rPr lang="en-US" sz="1800" dirty="0" smtClean="0"/>
              <a:t>[1].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2.</a:t>
            </a:r>
            <a:r>
              <a:rPr lang="en-US" sz="1800" b="1" dirty="0" smtClean="0"/>
              <a:t>Nine </a:t>
            </a:r>
            <a:r>
              <a:rPr lang="en-US" sz="1800" b="1" dirty="0"/>
              <a:t>percent </a:t>
            </a:r>
            <a:r>
              <a:rPr lang="en-US" sz="1800" dirty="0"/>
              <a:t>of all </a:t>
            </a:r>
            <a:r>
              <a:rPr lang="en-US" sz="1800" b="1" dirty="0"/>
              <a:t>bearing failures </a:t>
            </a:r>
            <a:r>
              <a:rPr lang="en-US" sz="1800" dirty="0"/>
              <a:t>are caused by bearing currents [2].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77491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36512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PHYSICS </a:t>
            </a:r>
            <a:r>
              <a:rPr lang="en-US" dirty="0">
                <a:solidFill>
                  <a:srgbClr val="C00000"/>
                </a:solidFill>
              </a:rPr>
              <a:t>OF BEARING </a:t>
            </a:r>
            <a:r>
              <a:rPr lang="en-US" dirty="0" smtClean="0">
                <a:solidFill>
                  <a:srgbClr val="C00000"/>
                </a:solidFill>
              </a:rPr>
              <a:t>CURRENTS [1]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5350" y="1171575"/>
            <a:ext cx="10515600" cy="5394325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800" b="1" dirty="0"/>
              <a:t>COMMON MODE </a:t>
            </a:r>
            <a:r>
              <a:rPr lang="en-US" sz="1800" b="1" dirty="0" smtClean="0"/>
              <a:t>VOLTAGE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dirty="0" smtClean="0"/>
              <a:t>he </a:t>
            </a:r>
            <a:r>
              <a:rPr lang="en-US" sz="1800" dirty="0"/>
              <a:t>neutral to ground voltage is the zero-sequence voltage, </a:t>
            </a:r>
            <a:r>
              <a:rPr lang="en-US" sz="1800" dirty="0" smtClean="0"/>
              <a:t>expressed below</a:t>
            </a:r>
            <a:endParaRPr lang="en-US" sz="1800" dirty="0"/>
          </a:p>
          <a:p>
            <a:pPr marL="514350" indent="-514350">
              <a:buFont typeface="+mj-lt"/>
              <a:buAutoNum type="arabicPeriod"/>
            </a:pP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The frequency of the common mode voltage is 3 times the switching frequency and the switching action produces very high </a:t>
            </a:r>
            <a:r>
              <a:rPr lang="en-US" sz="1800" dirty="0" smtClean="0"/>
              <a:t>dv/</a:t>
            </a:r>
            <a:r>
              <a:rPr lang="en-US" sz="1800" dirty="0" err="1" smtClean="0"/>
              <a:t>dt.</a:t>
            </a: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sv-SE" sz="1800" dirty="0" smtClean="0"/>
              <a:t>					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The </a:t>
            </a:r>
            <a:r>
              <a:rPr lang="en-US" sz="1800" dirty="0"/>
              <a:t>RMS value of common mode voltage increases </a:t>
            </a:r>
            <a:r>
              <a:rPr lang="en-US" sz="1800" dirty="0" smtClean="0"/>
              <a:t>with an </a:t>
            </a:r>
            <a:r>
              <a:rPr lang="en-US" sz="1800" dirty="0"/>
              <a:t>increase of switching frequency and a decrease </a:t>
            </a:r>
            <a:r>
              <a:rPr lang="en-US" sz="1800" dirty="0" smtClean="0"/>
              <a:t>of motor </a:t>
            </a:r>
            <a:r>
              <a:rPr lang="en-US" sz="1800" dirty="0"/>
              <a:t>speed. the peak magnitude is affected by </a:t>
            </a:r>
            <a:r>
              <a:rPr lang="en-US" sz="1800" dirty="0" smtClean="0"/>
              <a:t>switching </a:t>
            </a:r>
            <a:r>
              <a:rPr lang="en-US" sz="1800" dirty="0"/>
              <a:t>frequency only.</a:t>
            </a:r>
            <a:endParaRPr lang="sv-SE" sz="1800" dirty="0"/>
          </a:p>
          <a:p>
            <a:pPr marL="0" indent="0">
              <a:buNone/>
            </a:pPr>
            <a:r>
              <a:rPr lang="en-US" sz="2000" dirty="0" smtClean="0"/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85" y="1899199"/>
            <a:ext cx="1733778" cy="6834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259" y="3460750"/>
            <a:ext cx="3119142" cy="22732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263" y="3317213"/>
            <a:ext cx="2954191" cy="241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90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0" y="1444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FOUR TYPES OF BEARING CURRENT </a:t>
            </a:r>
            <a:r>
              <a:rPr lang="en-US" sz="2000" b="1" dirty="0" smtClean="0"/>
              <a:t>MECHANISMS</a:t>
            </a:r>
            <a:endParaRPr lang="sv-SE" sz="2000" b="1" dirty="0"/>
          </a:p>
          <a:p>
            <a:pPr marL="0" indent="0">
              <a:buNone/>
            </a:pPr>
            <a:r>
              <a:rPr lang="en-US" sz="2000" dirty="0" smtClean="0"/>
              <a:t>The stray </a:t>
            </a:r>
            <a:r>
              <a:rPr lang="en-US" sz="2000" dirty="0"/>
              <a:t>capacitances or parasitic capacitances in the machine provide a path for the bearing </a:t>
            </a:r>
            <a:r>
              <a:rPr lang="en-US" sz="2000" dirty="0" smtClean="0"/>
              <a:t>current.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 smtClean="0"/>
              <a:t>1. CAPACITIVE </a:t>
            </a:r>
            <a:r>
              <a:rPr lang="en-US" sz="2000" b="1" dirty="0"/>
              <a:t>BEARING </a:t>
            </a:r>
            <a:r>
              <a:rPr lang="en-US" sz="2000" b="1" dirty="0" smtClean="0"/>
              <a:t>CURRENTS</a:t>
            </a:r>
            <a:endParaRPr lang="en-US" sz="2000" b="1" dirty="0"/>
          </a:p>
          <a:p>
            <a:pPr marL="0" indent="0">
              <a:buNone/>
            </a:pPr>
            <a:r>
              <a:rPr lang="en-US" sz="2000" dirty="0" smtClean="0"/>
              <a:t>The main </a:t>
            </a:r>
            <a:r>
              <a:rPr lang="en-US" sz="2000" dirty="0"/>
              <a:t>parasitic </a:t>
            </a:r>
            <a:r>
              <a:rPr lang="en-US" sz="2000" dirty="0" smtClean="0"/>
              <a:t>capacitances in </a:t>
            </a:r>
            <a:r>
              <a:rPr lang="en-US" sz="2000" dirty="0"/>
              <a:t>the machine have been identified </a:t>
            </a:r>
            <a:r>
              <a:rPr lang="en-US" sz="2000" dirty="0" smtClean="0"/>
              <a:t>as :</a:t>
            </a:r>
          </a:p>
          <a:p>
            <a:pPr lvl="1"/>
            <a:r>
              <a:rPr lang="en-US" sz="2000" dirty="0"/>
              <a:t>W</a:t>
            </a:r>
            <a:r>
              <a:rPr lang="en-US" sz="2000" dirty="0" smtClean="0"/>
              <a:t>inding-stator </a:t>
            </a:r>
            <a:r>
              <a:rPr lang="en-US" sz="2000" dirty="0"/>
              <a:t>frame capacitor </a:t>
            </a:r>
            <a:r>
              <a:rPr lang="en-US" sz="2000" dirty="0" err="1" smtClean="0"/>
              <a:t>Cwf</a:t>
            </a:r>
            <a:r>
              <a:rPr lang="en-US" sz="2000" dirty="0" smtClean="0"/>
              <a:t>. </a:t>
            </a:r>
          </a:p>
          <a:p>
            <a:pPr lvl="1"/>
            <a:r>
              <a:rPr lang="en-US" sz="2000" dirty="0"/>
              <a:t>W</a:t>
            </a:r>
            <a:r>
              <a:rPr lang="en-US" sz="2000" dirty="0" smtClean="0"/>
              <a:t>inding-rotor </a:t>
            </a:r>
            <a:r>
              <a:rPr lang="en-US" sz="2000" dirty="0"/>
              <a:t>capacitor </a:t>
            </a:r>
            <a:r>
              <a:rPr lang="en-US" sz="2000" dirty="0" err="1" smtClean="0"/>
              <a:t>Cwr</a:t>
            </a:r>
            <a:r>
              <a:rPr lang="en-US" sz="2000" dirty="0" smtClean="0"/>
              <a:t>. </a:t>
            </a:r>
          </a:p>
          <a:p>
            <a:pPr lvl="1"/>
            <a:r>
              <a:rPr lang="en-US" sz="2000" dirty="0"/>
              <a:t>S</a:t>
            </a:r>
            <a:r>
              <a:rPr lang="en-US" sz="2000" dirty="0" smtClean="0"/>
              <a:t>tator-rotor </a:t>
            </a:r>
            <a:r>
              <a:rPr lang="en-US" sz="2000" dirty="0"/>
              <a:t>capacitor </a:t>
            </a:r>
            <a:r>
              <a:rPr lang="en-US" sz="2000" dirty="0" err="1" smtClean="0"/>
              <a:t>Crf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dirty="0"/>
              <a:t>bearings act as capacitors, Cb1 and Cb2</a:t>
            </a:r>
            <a:r>
              <a:rPr lang="en-US" sz="2000" dirty="0" smtClean="0"/>
              <a:t>.</a:t>
            </a:r>
            <a:endParaRPr lang="sv-SE" sz="2000" dirty="0"/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1800" dirty="0"/>
              <a:t>If the speed is low (&lt; 100rpm), the bearing </a:t>
            </a:r>
            <a:r>
              <a:rPr lang="en-US" sz="1800" dirty="0" smtClean="0"/>
              <a:t>ball may </a:t>
            </a:r>
            <a:r>
              <a:rPr lang="en-US" sz="1800" dirty="0"/>
              <a:t>contact the </a:t>
            </a:r>
            <a:r>
              <a:rPr lang="en-US" sz="1800" dirty="0" smtClean="0"/>
              <a:t>races </a:t>
            </a:r>
          </a:p>
          <a:p>
            <a:pPr marL="0" indent="0">
              <a:buNone/>
            </a:pPr>
            <a:r>
              <a:rPr lang="en-US" sz="1800" dirty="0" smtClean="0"/>
              <a:t>and </a:t>
            </a:r>
            <a:r>
              <a:rPr lang="en-US" sz="1800" dirty="0"/>
              <a:t>hence the bearing is  </a:t>
            </a:r>
            <a:r>
              <a:rPr lang="en-US" sz="1800" dirty="0" smtClean="0"/>
              <a:t>equivalent </a:t>
            </a:r>
            <a:r>
              <a:rPr lang="en-US" sz="1800" dirty="0"/>
              <a:t>to a resistor.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The </a:t>
            </a:r>
            <a:r>
              <a:rPr lang="en-US" sz="1800" dirty="0"/>
              <a:t>amplitude of this bearing current is </a:t>
            </a:r>
            <a:r>
              <a:rPr lang="en-US" sz="1800" dirty="0" smtClean="0"/>
              <a:t>typically </a:t>
            </a:r>
            <a:r>
              <a:rPr lang="en-US" sz="1800" dirty="0"/>
              <a:t>≤ 200mA.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72" y="5650346"/>
            <a:ext cx="1431925" cy="8479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480" y="5925921"/>
            <a:ext cx="4492692" cy="5304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385" y="3193625"/>
            <a:ext cx="4264025" cy="25143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476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PHYSICS OF BEARING CURRENTS</a:t>
            </a:r>
            <a:endParaRPr lang="sv-SE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049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0" y="1444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/>
              <a:t>2. ELECTRIC </a:t>
            </a:r>
            <a:r>
              <a:rPr lang="en-US" sz="2000" b="1" dirty="0"/>
              <a:t>DISCHARGE MACHINING (EDM) </a:t>
            </a:r>
            <a:r>
              <a:rPr lang="en-US" sz="2000" b="1" dirty="0" smtClean="0"/>
              <a:t>CURRENTS-</a:t>
            </a:r>
            <a:r>
              <a:rPr lang="en-US" sz="2000" b="1" dirty="0" err="1" smtClean="0"/>
              <a:t>i</a:t>
            </a:r>
            <a:r>
              <a:rPr lang="en-US" sz="1400" b="1" dirty="0" err="1" smtClean="0"/>
              <a:t>EDM</a:t>
            </a:r>
            <a:endParaRPr lang="en-US" sz="1400" b="1" dirty="0" smtClean="0"/>
          </a:p>
          <a:p>
            <a:pPr marL="0" indent="0">
              <a:buNone/>
            </a:pPr>
            <a:r>
              <a:rPr lang="en-US" sz="1800" dirty="0" smtClean="0"/>
              <a:t>Causes:</a:t>
            </a:r>
          </a:p>
          <a:p>
            <a:pPr lvl="1"/>
            <a:r>
              <a:rPr lang="en-US" sz="1800" dirty="0" smtClean="0"/>
              <a:t>If </a:t>
            </a:r>
            <a:r>
              <a:rPr lang="en-US" sz="1800" dirty="0"/>
              <a:t>the </a:t>
            </a:r>
            <a:r>
              <a:rPr lang="en-US" sz="1800" dirty="0" smtClean="0"/>
              <a:t>`</a:t>
            </a:r>
            <a:r>
              <a:rPr lang="en-US" sz="1800" dirty="0" err="1" smtClean="0"/>
              <a:t>Vb</a:t>
            </a:r>
            <a:r>
              <a:rPr lang="en-US" sz="1800" dirty="0" smtClean="0"/>
              <a:t>` </a:t>
            </a:r>
            <a:r>
              <a:rPr lang="en-US" sz="1800" dirty="0"/>
              <a:t>is high enough to cause electrical breakdown of the lubricant film, the energy stored in the rotor-frame capacitance discharges and generates an impulse current. </a:t>
            </a:r>
            <a:endParaRPr lang="en-US" sz="1800" dirty="0" smtClean="0"/>
          </a:p>
          <a:p>
            <a:pPr lvl="1"/>
            <a:r>
              <a:rPr lang="en-US" sz="1800" dirty="0" smtClean="0"/>
              <a:t>The </a:t>
            </a:r>
            <a:r>
              <a:rPr lang="en-US" sz="1800" dirty="0"/>
              <a:t>dielectric lubricant can flow into the channel and form a new insulation film, and thus the bearing capacitance charges again</a:t>
            </a:r>
            <a:r>
              <a:rPr lang="en-US" sz="1800" dirty="0" smtClean="0"/>
              <a:t>.</a:t>
            </a:r>
          </a:p>
          <a:p>
            <a:pPr lvl="1"/>
            <a:r>
              <a:rPr lang="en-US" sz="1800" dirty="0"/>
              <a:t>This breakdown-recovery-breakdown process repeatedly continues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r>
              <a:rPr lang="en-US" sz="1800" dirty="0" smtClean="0"/>
              <a:t>Consequences:</a:t>
            </a:r>
            <a:endParaRPr lang="en-US" sz="1800" dirty="0"/>
          </a:p>
          <a:p>
            <a:pPr lvl="1"/>
            <a:r>
              <a:rPr lang="en-US" sz="1800" dirty="0"/>
              <a:t>The so called EDM current damages the bearing with each impulse as the discharged energy damages the metal </a:t>
            </a:r>
            <a:r>
              <a:rPr lang="en-US" sz="1800" dirty="0" smtClean="0"/>
              <a:t>surface.</a:t>
            </a:r>
          </a:p>
          <a:p>
            <a:pPr lvl="1"/>
            <a:r>
              <a:rPr lang="en-US" sz="1800" dirty="0"/>
              <a:t>This process progressively increases the presence of metallic particles in the lubricant, which exacerbates on-going electrical breakdown</a:t>
            </a:r>
            <a:r>
              <a:rPr lang="en-US" sz="1800" dirty="0" smtClean="0"/>
              <a:t>.</a:t>
            </a:r>
          </a:p>
          <a:p>
            <a:pPr lvl="1"/>
            <a:r>
              <a:rPr lang="en-US" sz="1800" dirty="0"/>
              <a:t>The vicious circle accelerates bearing failure.</a:t>
            </a:r>
            <a:endParaRPr lang="en-US" sz="18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476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PHYSICS OF BEARING CURRENTS</a:t>
            </a:r>
            <a:endParaRPr lang="sv-SE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634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0" y="1444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/>
              <a:t>3. CIRCULATING BEARING </a:t>
            </a:r>
            <a:r>
              <a:rPr lang="en-US" sz="2200" b="1" dirty="0" smtClean="0"/>
              <a:t>CURRENTS-</a:t>
            </a:r>
            <a:r>
              <a:rPr lang="en-US" sz="2200" b="1" dirty="0" err="1" smtClean="0"/>
              <a:t>i</a:t>
            </a:r>
            <a:r>
              <a:rPr lang="en-US" sz="1700" b="1" dirty="0" err="1" smtClean="0"/>
              <a:t>CB</a:t>
            </a:r>
            <a:endParaRPr lang="en-US" sz="1700" b="1" dirty="0" smtClean="0"/>
          </a:p>
          <a:p>
            <a:pPr marL="0" indent="0">
              <a:buNone/>
            </a:pPr>
            <a:r>
              <a:rPr lang="en-US" sz="2200" dirty="0" smtClean="0"/>
              <a:t>Causes:</a:t>
            </a:r>
          </a:p>
          <a:p>
            <a:pPr lvl="1"/>
            <a:r>
              <a:rPr lang="en-US" sz="2200" dirty="0" smtClean="0"/>
              <a:t>The </a:t>
            </a:r>
            <a:r>
              <a:rPr lang="en-US" sz="2200" dirty="0"/>
              <a:t>common mode voltage generates a high frequency common mode current which flows in the </a:t>
            </a:r>
            <a:r>
              <a:rPr lang="en-US" sz="2200" dirty="0" err="1"/>
              <a:t>winding→stator→ground</a:t>
            </a:r>
            <a:r>
              <a:rPr lang="en-US" sz="2200" dirty="0"/>
              <a:t> path</a:t>
            </a:r>
            <a:r>
              <a:rPr lang="en-US" sz="2200" dirty="0" smtClean="0"/>
              <a:t>.</a:t>
            </a:r>
          </a:p>
          <a:p>
            <a:pPr lvl="1"/>
            <a:r>
              <a:rPr lang="en-US" sz="2200" dirty="0"/>
              <a:t>This high frequency current induces a common mode flux which further generates a high frequency voltage along the </a:t>
            </a:r>
            <a:r>
              <a:rPr lang="en-US" sz="2200" dirty="0" smtClean="0"/>
              <a:t>shaft.</a:t>
            </a:r>
          </a:p>
          <a:p>
            <a:pPr lvl="1"/>
            <a:r>
              <a:rPr lang="en-US" sz="2200" dirty="0" smtClean="0"/>
              <a:t>The </a:t>
            </a:r>
            <a:r>
              <a:rPr lang="en-US" sz="2200" dirty="0"/>
              <a:t>shaft voltage causes the circulating bearing currents in the loop: shaft → driving end </a:t>
            </a:r>
            <a:r>
              <a:rPr lang="en-US" sz="2200" dirty="0" err="1"/>
              <a:t>bearing→stator</a:t>
            </a:r>
            <a:r>
              <a:rPr lang="en-US" sz="2200" dirty="0"/>
              <a:t> </a:t>
            </a:r>
            <a:r>
              <a:rPr lang="en-US" sz="2200" dirty="0" err="1"/>
              <a:t>frame→non</a:t>
            </a:r>
            <a:r>
              <a:rPr lang="en-US" sz="2200" dirty="0"/>
              <a:t> driving end </a:t>
            </a:r>
            <a:r>
              <a:rPr lang="en-US" sz="2200" dirty="0" err="1"/>
              <a:t>bearing→shaft</a:t>
            </a:r>
            <a:r>
              <a:rPr lang="en-US" sz="2200" dirty="0" smtClean="0"/>
              <a:t>.</a:t>
            </a:r>
          </a:p>
          <a:p>
            <a:pPr lvl="1"/>
            <a:endParaRPr lang="en-US" sz="2200" dirty="0"/>
          </a:p>
          <a:p>
            <a:pPr marL="0" indent="0">
              <a:buNone/>
            </a:pPr>
            <a:r>
              <a:rPr lang="en-US" sz="2200" b="1" dirty="0" smtClean="0"/>
              <a:t>4</a:t>
            </a:r>
            <a:r>
              <a:rPr lang="en-US" sz="2200" b="1" dirty="0"/>
              <a:t>. ROTOR GROUND </a:t>
            </a:r>
            <a:r>
              <a:rPr lang="en-US" sz="2200" b="1" dirty="0" smtClean="0"/>
              <a:t>CURRENTS-</a:t>
            </a:r>
            <a:r>
              <a:rPr lang="en-US" sz="2200" b="1" dirty="0" err="1" smtClean="0"/>
              <a:t>i</a:t>
            </a:r>
            <a:r>
              <a:rPr lang="en-US" sz="1900" b="1" dirty="0" err="1" smtClean="0"/>
              <a:t>RG</a:t>
            </a:r>
            <a:endParaRPr lang="en-US" sz="1900" b="1" dirty="0" smtClean="0"/>
          </a:p>
          <a:p>
            <a:pPr marL="0" indent="0">
              <a:buNone/>
            </a:pPr>
            <a:r>
              <a:rPr lang="en-US" sz="2200" dirty="0" smtClean="0"/>
              <a:t>Causes:</a:t>
            </a:r>
          </a:p>
          <a:p>
            <a:pPr lvl="1"/>
            <a:r>
              <a:rPr lang="en-US" sz="2200" dirty="0"/>
              <a:t>The rotor can be grounded via load in some cases.</a:t>
            </a:r>
          </a:p>
          <a:p>
            <a:pPr lvl="1"/>
            <a:r>
              <a:rPr lang="en-US" sz="2200" dirty="0" smtClean="0"/>
              <a:t>If </a:t>
            </a:r>
            <a:r>
              <a:rPr lang="en-US" sz="2200" dirty="0"/>
              <a:t>the impedance of rotor to ground is much lower than the stator to ground impedance, a proportion of the ground current will flow from the rotor through the bearing, since the current flows predominantly in the path with the lowest impedance</a:t>
            </a:r>
            <a:r>
              <a:rPr lang="en-US" sz="2200" dirty="0" smtClean="0"/>
              <a:t>.</a:t>
            </a:r>
            <a:r>
              <a:rPr lang="en-US" sz="1900" dirty="0" smtClean="0"/>
              <a:t/>
            </a:r>
            <a:br>
              <a:rPr lang="en-US" sz="1900" dirty="0" smtClean="0"/>
            </a:br>
            <a:endParaRPr lang="en-US" sz="1900" dirty="0" smtClean="0"/>
          </a:p>
          <a:p>
            <a:pPr lvl="1"/>
            <a:endParaRPr lang="en-US" sz="18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476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PHYSICS OF BEARING CURRENTS</a:t>
            </a:r>
            <a:endParaRPr lang="sv-SE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632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0" y="1444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900" dirty="0"/>
              <a:t>Since the capacitive bearing currents are usually too small to be harmful to the bearings, in some literature only the last 3 types of bearing currents are </a:t>
            </a:r>
            <a:r>
              <a:rPr lang="en-US" sz="1900" dirty="0" smtClean="0"/>
              <a:t>recognized.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The rotor ground current should be investigated on a </a:t>
            </a:r>
            <a:r>
              <a:rPr lang="en-US" sz="1900" dirty="0" err="1"/>
              <a:t>caseby</a:t>
            </a:r>
            <a:r>
              <a:rPr lang="en-US" sz="1900" dirty="0"/>
              <a:t>-case basis as it is only present if the rotor is grounded, meaning it depends on the configuration of the </a:t>
            </a:r>
            <a:r>
              <a:rPr lang="en-US" sz="1900" dirty="0" smtClean="0"/>
              <a:t>load.</a:t>
            </a: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Hence, the main interest in published studies has been on the modelling and prediction of the EDM and circulating currents.</a:t>
            </a:r>
            <a:r>
              <a:rPr lang="en-US" sz="1900" dirty="0" smtClean="0"/>
              <a:t/>
            </a:r>
            <a:br>
              <a:rPr lang="en-US" sz="1900" dirty="0" smtClean="0"/>
            </a:br>
            <a:endParaRPr lang="en-US" sz="1900" dirty="0" smtClean="0"/>
          </a:p>
          <a:p>
            <a:pPr lvl="1"/>
            <a:endParaRPr lang="en-US" sz="18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476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PHYSICS OF BEARING CURRENTS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100" y="3842544"/>
            <a:ext cx="5541855" cy="207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43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0" y="1444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 smtClean="0"/>
              <a:t/>
            </a:r>
            <a:br>
              <a:rPr lang="en-US" sz="1900" dirty="0" smtClean="0"/>
            </a:br>
            <a:endParaRPr lang="en-US" sz="1900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47625"/>
            <a:ext cx="10858500" cy="1325563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CAPACITIVE EDM BEARING CURRENT MODEL [3,4]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1" y="879476"/>
            <a:ext cx="4495799" cy="430847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46800" y="2890687"/>
            <a:ext cx="39433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dirty="0"/>
              <a:t>Capacitive bearing current  </a:t>
            </a:r>
            <a:r>
              <a:rPr lang="en-US" dirty="0" smtClean="0"/>
              <a:t>model </a:t>
            </a:r>
            <a:r>
              <a:rPr lang="en-US" dirty="0"/>
              <a:t>including phase 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437187"/>
            <a:ext cx="10693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dirty="0" smtClean="0"/>
              <a:t>Parameters can be </a:t>
            </a:r>
            <a:r>
              <a:rPr lang="en-US" b="1" dirty="0" smtClean="0"/>
              <a:t>measured</a:t>
            </a:r>
            <a:r>
              <a:rPr lang="en-US" dirty="0" smtClean="0"/>
              <a:t> by impedance analyzer </a:t>
            </a:r>
            <a:r>
              <a:rPr lang="en-US" dirty="0"/>
              <a:t>and fitting </a:t>
            </a:r>
            <a:r>
              <a:rPr lang="en-US" dirty="0" smtClean="0"/>
              <a:t>afterward [4].</a:t>
            </a:r>
          </a:p>
          <a:p>
            <a:pPr lvl="1"/>
            <a:r>
              <a:rPr lang="en-US" dirty="0"/>
              <a:t>They can be </a:t>
            </a:r>
            <a:r>
              <a:rPr lang="en-US" b="1" dirty="0"/>
              <a:t>analytically</a:t>
            </a:r>
            <a:r>
              <a:rPr lang="en-US" dirty="0"/>
              <a:t> </a:t>
            </a:r>
            <a:r>
              <a:rPr lang="en-US" dirty="0" smtClean="0"/>
              <a:t>calculated </a:t>
            </a:r>
            <a:r>
              <a:rPr lang="en-US" dirty="0"/>
              <a:t>by simplifying the machine </a:t>
            </a:r>
            <a:r>
              <a:rPr lang="en-US" dirty="0" smtClean="0"/>
              <a:t>for </a:t>
            </a:r>
            <a:r>
              <a:rPr lang="en-US" dirty="0"/>
              <a:t>the capacitive </a:t>
            </a:r>
            <a:r>
              <a:rPr lang="en-US" dirty="0" smtClean="0"/>
              <a:t>configuration.</a:t>
            </a:r>
          </a:p>
          <a:p>
            <a:pPr lvl="1"/>
            <a:r>
              <a:rPr lang="en-US" b="1" dirty="0" smtClean="0"/>
              <a:t>2D-FEM</a:t>
            </a:r>
            <a:r>
              <a:rPr lang="en-US" dirty="0" smtClean="0"/>
              <a:t> can be used to calculate the capacitance values. (Turn-to-turn and turn-to-core </a:t>
            </a:r>
            <a:r>
              <a:rPr lang="en-US" dirty="0"/>
              <a:t>capacitances</a:t>
            </a:r>
            <a:r>
              <a:rPr lang="en-US" dirty="0" smtClean="0"/>
              <a:t>)</a:t>
            </a:r>
          </a:p>
          <a:p>
            <a:pPr lvl="1"/>
            <a:r>
              <a:rPr lang="en-US" b="1" dirty="0" smtClean="0"/>
              <a:t>3D-FEM </a:t>
            </a:r>
            <a:r>
              <a:rPr lang="en-US" dirty="0" smtClean="0"/>
              <a:t>can be used to account the end-winding effect</a:t>
            </a:r>
            <a:r>
              <a:rPr lang="en-US" dirty="0"/>
              <a:t>.  </a:t>
            </a:r>
            <a:r>
              <a:rPr lang="en-US" dirty="0" smtClean="0"/>
              <a:t>(Rotor-to-plate </a:t>
            </a:r>
            <a:r>
              <a:rPr lang="en-US" dirty="0"/>
              <a:t>capacitance)</a:t>
            </a: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105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23" y="609600"/>
            <a:ext cx="10264879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059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0" y="1444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 smtClean="0"/>
              <a:t/>
            </a:r>
            <a:br>
              <a:rPr lang="en-US" sz="1900" dirty="0" smtClean="0"/>
            </a:br>
            <a:endParaRPr lang="en-US" sz="1900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64075"/>
            <a:ext cx="11442700" cy="1325563"/>
          </a:xfrm>
        </p:spPr>
        <p:txBody>
          <a:bodyPr/>
          <a:lstStyle/>
          <a:p>
            <a:r>
              <a:rPr lang="en-US" sz="4000" dirty="0">
                <a:solidFill>
                  <a:srgbClr val="C00000"/>
                </a:solidFill>
              </a:rPr>
              <a:t>INDUCTIVE CIRCULATING BEARING CURRENT[3,4</a:t>
            </a:r>
            <a:r>
              <a:rPr lang="en-US" dirty="0" smtClean="0">
                <a:solidFill>
                  <a:srgbClr val="C00000"/>
                </a:solidFill>
              </a:rPr>
              <a:t>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7850" y="5000734"/>
            <a:ext cx="107315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smtClean="0"/>
              <a:t>The </a:t>
            </a:r>
            <a:r>
              <a:rPr lang="sv-SE" dirty="0" err="1" smtClean="0"/>
              <a:t>current</a:t>
            </a:r>
            <a:r>
              <a:rPr lang="sv-SE" dirty="0" smtClean="0"/>
              <a:t> is </a:t>
            </a:r>
            <a:r>
              <a:rPr lang="sv-SE" dirty="0" err="1" smtClean="0"/>
              <a:t>generated</a:t>
            </a:r>
            <a:r>
              <a:rPr lang="sv-SE" dirty="0" smtClean="0"/>
              <a:t> by the </a:t>
            </a:r>
            <a:r>
              <a:rPr lang="sv-SE" dirty="0" err="1" smtClean="0"/>
              <a:t>induced</a:t>
            </a:r>
            <a:r>
              <a:rPr lang="sv-SE" dirty="0" smtClean="0"/>
              <a:t> </a:t>
            </a:r>
            <a:r>
              <a:rPr lang="sv-SE" dirty="0" err="1" smtClean="0"/>
              <a:t>shaft</a:t>
            </a:r>
            <a:r>
              <a:rPr lang="sv-SE" dirty="0" smtClean="0"/>
              <a:t> </a:t>
            </a:r>
            <a:r>
              <a:rPr lang="sv-SE" dirty="0" err="1" smtClean="0"/>
              <a:t>voltage</a:t>
            </a:r>
            <a:r>
              <a:rPr lang="sv-SE" dirty="0" smtClean="0"/>
              <a:t> </a:t>
            </a:r>
            <a:r>
              <a:rPr lang="sv-SE" dirty="0" err="1"/>
              <a:t>which</a:t>
            </a:r>
            <a:r>
              <a:rPr lang="sv-SE" dirty="0"/>
              <a:t> </a:t>
            </a:r>
            <a:r>
              <a:rPr lang="sv-SE" dirty="0" err="1"/>
              <a:t>results</a:t>
            </a:r>
            <a:r>
              <a:rPr lang="sv-SE" dirty="0"/>
              <a:t> from the common mode </a:t>
            </a:r>
            <a:r>
              <a:rPr lang="sv-SE" dirty="0" err="1"/>
              <a:t>current</a:t>
            </a:r>
            <a:r>
              <a:rPr lang="sv-SE" dirty="0"/>
              <a:t> </a:t>
            </a:r>
            <a:r>
              <a:rPr lang="sv-SE" dirty="0" err="1"/>
              <a:t>i</a:t>
            </a:r>
            <a:r>
              <a:rPr lang="sv-SE" sz="1400" dirty="0" err="1"/>
              <a:t>com</a:t>
            </a:r>
            <a:r>
              <a:rPr lang="sv-SE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circulating bearing current and the common mode current are coupled via the common mode flux.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mechanism can be considered as a transformer with the primary side having common mode current and the secondary side with circulating bearing current.</a:t>
            </a:r>
            <a:endParaRPr lang="sv-SE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171" y="1620382"/>
            <a:ext cx="3622807" cy="297525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518911" y="266916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dirty="0" err="1"/>
              <a:t>Equivalent</a:t>
            </a:r>
            <a:r>
              <a:rPr lang="sv-SE" dirty="0"/>
              <a:t> </a:t>
            </a:r>
            <a:r>
              <a:rPr lang="sv-SE" dirty="0" err="1"/>
              <a:t>circuit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circulating</a:t>
            </a:r>
            <a:r>
              <a:rPr lang="sv-SE" dirty="0"/>
              <a:t> </a:t>
            </a:r>
            <a:r>
              <a:rPr lang="sv-SE" dirty="0" err="1"/>
              <a:t>bearing</a:t>
            </a:r>
            <a:r>
              <a:rPr lang="sv-SE" dirty="0"/>
              <a:t> </a:t>
            </a:r>
            <a:r>
              <a:rPr lang="sv-SE" dirty="0" err="1"/>
              <a:t>current</a:t>
            </a:r>
            <a:r>
              <a:rPr lang="sv-SE" dirty="0"/>
              <a:t> </a:t>
            </a:r>
            <a:endParaRPr lang="sv-SE" dirty="0" smtClean="0"/>
          </a:p>
          <a:p>
            <a:r>
              <a:rPr lang="sv-SE" dirty="0" smtClean="0"/>
              <a:t>(</a:t>
            </a:r>
            <a:r>
              <a:rPr lang="sv-SE" dirty="0"/>
              <a:t>a)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mutual</a:t>
            </a:r>
            <a:r>
              <a:rPr lang="sv-SE" dirty="0"/>
              <a:t> </a:t>
            </a:r>
            <a:r>
              <a:rPr lang="sv-SE" dirty="0" err="1"/>
              <a:t>inductance</a:t>
            </a:r>
            <a:r>
              <a:rPr lang="sv-SE" dirty="0"/>
              <a:t>; (b) </a:t>
            </a:r>
            <a:r>
              <a:rPr lang="sv-SE" dirty="0" err="1"/>
              <a:t>with</a:t>
            </a:r>
            <a:r>
              <a:rPr lang="sv-SE" dirty="0"/>
              <a:t> EMF source.</a:t>
            </a:r>
          </a:p>
        </p:txBody>
      </p:sp>
    </p:spTree>
    <p:extLst>
      <p:ext uri="{BB962C8B-B14F-4D97-AF65-F5344CB8AC3E}">
        <p14:creationId xmlns:p14="http://schemas.microsoft.com/office/powerpoint/2010/main" val="4042755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1006475"/>
            <a:ext cx="10515600" cy="4351338"/>
          </a:xfrm>
        </p:spPr>
        <p:txBody>
          <a:bodyPr>
            <a:normAutofit/>
          </a:bodyPr>
          <a:lstStyle/>
          <a:p>
            <a:r>
              <a:rPr lang="en-US" sz="1900" dirty="0" smtClean="0"/>
              <a:t>The </a:t>
            </a:r>
            <a:r>
              <a:rPr lang="en-US" sz="1900" dirty="0"/>
              <a:t>common mode voltage generates the common mode current which flows via the winding-to-stator capacitor into the stator laminations</a:t>
            </a:r>
            <a:r>
              <a:rPr lang="en-US" sz="1900" dirty="0" smtClean="0"/>
              <a:t>.</a:t>
            </a:r>
          </a:p>
          <a:p>
            <a:r>
              <a:rPr lang="en-US" sz="1900" dirty="0" smtClean="0"/>
              <a:t>The </a:t>
            </a:r>
            <a:r>
              <a:rPr lang="en-US" sz="1900" dirty="0"/>
              <a:t>impedance of the stator core is strongly frequency-dependent due to the skin effect. The skin and proximity effects are taken into account by modeling the resistances and inductances by ladder circuits</a:t>
            </a:r>
            <a:endParaRPr lang="en-US" sz="1900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 smtClean="0"/>
              <a:t>The </a:t>
            </a:r>
            <a:r>
              <a:rPr lang="en-US" sz="1900" dirty="0"/>
              <a:t>common mode circumferential flux, an analytical calculation of the mutual inductance and the resulting circulating current path </a:t>
            </a:r>
            <a:r>
              <a:rPr lang="en-US" sz="1900" dirty="0" smtClean="0"/>
              <a:t>impedance can be found analytically.</a:t>
            </a:r>
            <a:endParaRPr lang="en-US" sz="1900" dirty="0"/>
          </a:p>
          <a:p>
            <a:pPr marL="0" indent="0">
              <a:buNone/>
            </a:pPr>
            <a:endParaRPr lang="en-US" sz="19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300" y="0"/>
            <a:ext cx="11442700" cy="1325563"/>
          </a:xfrm>
        </p:spPr>
        <p:txBody>
          <a:bodyPr/>
          <a:lstStyle/>
          <a:p>
            <a:r>
              <a:rPr lang="en-US" sz="4000" dirty="0">
                <a:solidFill>
                  <a:srgbClr val="C00000"/>
                </a:solidFill>
              </a:rPr>
              <a:t>INDUCTIVE CIRCULATING BEARING </a:t>
            </a:r>
            <a:r>
              <a:rPr lang="en-US" sz="4000" dirty="0" smtClean="0">
                <a:solidFill>
                  <a:srgbClr val="C00000"/>
                </a:solidFill>
              </a:rPr>
              <a:t>CURRENT[3,4</a:t>
            </a:r>
            <a:r>
              <a:rPr lang="en-US" dirty="0" smtClean="0">
                <a:solidFill>
                  <a:srgbClr val="C00000"/>
                </a:solidFill>
              </a:rPr>
              <a:t>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20064"/>
          <a:stretch/>
        </p:blipFill>
        <p:spPr>
          <a:xfrm>
            <a:off x="5060950" y="2489952"/>
            <a:ext cx="2108200" cy="168834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50" y="5151203"/>
            <a:ext cx="4013200" cy="118621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257800" y="5205699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600" dirty="0" err="1"/>
              <a:t>N</a:t>
            </a:r>
            <a:r>
              <a:rPr lang="sv-SE" sz="1200" dirty="0" err="1"/>
              <a:t>Fe</a:t>
            </a:r>
            <a:r>
              <a:rPr lang="sv-SE" sz="1600" dirty="0"/>
              <a:t> is the </a:t>
            </a:r>
            <a:r>
              <a:rPr lang="sv-SE" sz="1600" dirty="0" err="1"/>
              <a:t>number</a:t>
            </a:r>
            <a:r>
              <a:rPr lang="sv-SE" sz="1600" dirty="0"/>
              <a:t> </a:t>
            </a:r>
            <a:r>
              <a:rPr lang="sv-SE" sz="1600" dirty="0" err="1"/>
              <a:t>of</a:t>
            </a:r>
            <a:r>
              <a:rPr lang="sv-SE" sz="1600" dirty="0"/>
              <a:t> </a:t>
            </a:r>
            <a:r>
              <a:rPr lang="sv-SE" sz="1600" dirty="0" err="1"/>
              <a:t>sheets</a:t>
            </a:r>
            <a:r>
              <a:rPr lang="sv-SE" sz="1600" dirty="0"/>
              <a:t> </a:t>
            </a:r>
            <a:r>
              <a:rPr lang="sv-SE" sz="1600" dirty="0" err="1"/>
              <a:t>of</a:t>
            </a:r>
            <a:r>
              <a:rPr lang="sv-SE" sz="1600" dirty="0"/>
              <a:t> stator </a:t>
            </a:r>
            <a:r>
              <a:rPr lang="sv-SE" sz="1600" dirty="0" err="1"/>
              <a:t>core</a:t>
            </a:r>
            <a:r>
              <a:rPr lang="sv-SE" sz="1600" dirty="0"/>
              <a:t>, </a:t>
            </a:r>
            <a:r>
              <a:rPr lang="sv-SE" sz="1600" dirty="0" err="1"/>
              <a:t>d</a:t>
            </a:r>
            <a:r>
              <a:rPr lang="sv-SE" sz="1200" dirty="0" err="1"/>
              <a:t>se</a:t>
            </a:r>
            <a:r>
              <a:rPr lang="sv-SE" sz="1600" dirty="0"/>
              <a:t> is the </a:t>
            </a:r>
            <a:r>
              <a:rPr lang="sv-SE" sz="1600" dirty="0" err="1"/>
              <a:t>outer</a:t>
            </a:r>
            <a:r>
              <a:rPr lang="sv-SE" sz="1600" dirty="0"/>
              <a:t> diameters </a:t>
            </a:r>
            <a:r>
              <a:rPr lang="sv-SE" sz="1600" dirty="0" err="1"/>
              <a:t>of</a:t>
            </a:r>
            <a:r>
              <a:rPr lang="sv-SE" sz="1600" dirty="0"/>
              <a:t> stator </a:t>
            </a:r>
            <a:r>
              <a:rPr lang="sv-SE" sz="1600" dirty="0" err="1"/>
              <a:t>lamination</a:t>
            </a:r>
            <a:r>
              <a:rPr lang="sv-SE" sz="1600" dirty="0"/>
              <a:t>, </a:t>
            </a:r>
            <a:r>
              <a:rPr lang="sv-SE" sz="1600" dirty="0" err="1"/>
              <a:t>d</a:t>
            </a:r>
            <a:r>
              <a:rPr lang="sv-SE" sz="1200" dirty="0" err="1"/>
              <a:t>si</a:t>
            </a:r>
            <a:r>
              <a:rPr lang="sv-SE" sz="1600" dirty="0"/>
              <a:t> is the inner diameters </a:t>
            </a:r>
            <a:r>
              <a:rPr lang="sv-SE" sz="1600" dirty="0" err="1"/>
              <a:t>of</a:t>
            </a:r>
            <a:r>
              <a:rPr lang="sv-SE" sz="1600" dirty="0"/>
              <a:t> stator </a:t>
            </a:r>
            <a:r>
              <a:rPr lang="sv-SE" sz="1600" dirty="0" err="1"/>
              <a:t>lamination</a:t>
            </a:r>
            <a:r>
              <a:rPr lang="sv-SE" sz="1600" dirty="0"/>
              <a:t>, h</a:t>
            </a:r>
            <a:r>
              <a:rPr lang="sv-SE" sz="1100" dirty="0"/>
              <a:t>s </a:t>
            </a:r>
            <a:r>
              <a:rPr lang="sv-SE" sz="1600" dirty="0"/>
              <a:t>is the </a:t>
            </a:r>
            <a:r>
              <a:rPr lang="sv-SE" sz="1600" dirty="0" err="1"/>
              <a:t>height</a:t>
            </a:r>
            <a:r>
              <a:rPr lang="sv-SE" sz="1600" dirty="0"/>
              <a:t> </a:t>
            </a:r>
            <a:r>
              <a:rPr lang="sv-SE" sz="1600" dirty="0" err="1"/>
              <a:t>of</a:t>
            </a:r>
            <a:r>
              <a:rPr lang="sv-SE" sz="1600" dirty="0"/>
              <a:t> stator </a:t>
            </a:r>
            <a:r>
              <a:rPr lang="sv-SE" sz="1600" dirty="0" err="1"/>
              <a:t>slot</a:t>
            </a:r>
            <a:r>
              <a:rPr lang="sv-SE" sz="1600" dirty="0"/>
              <a:t>, </a:t>
            </a:r>
            <a:r>
              <a:rPr lang="sv-SE" sz="1600" dirty="0" err="1"/>
              <a:t>δ</a:t>
            </a:r>
            <a:r>
              <a:rPr lang="sv-SE" sz="1200" dirty="0" err="1"/>
              <a:t>s</a:t>
            </a:r>
            <a:r>
              <a:rPr lang="sv-SE" sz="1600" dirty="0"/>
              <a:t> is the skin </a:t>
            </a:r>
            <a:r>
              <a:rPr lang="sv-SE" sz="1600" dirty="0" err="1"/>
              <a:t>depth</a:t>
            </a:r>
            <a:r>
              <a:rPr lang="sv-SE" sz="1600" dirty="0"/>
              <a:t> and f is the </a:t>
            </a:r>
            <a:r>
              <a:rPr lang="sv-SE" sz="1600" dirty="0" err="1"/>
              <a:t>frequency</a:t>
            </a:r>
            <a:r>
              <a:rPr lang="sv-SE" sz="1600" dirty="0"/>
              <a:t> </a:t>
            </a:r>
            <a:r>
              <a:rPr lang="sv-SE" sz="1600" dirty="0" err="1"/>
              <a:t>of</a:t>
            </a:r>
            <a:r>
              <a:rPr lang="sv-SE" sz="1600" dirty="0"/>
              <a:t> common mode </a:t>
            </a:r>
            <a:r>
              <a:rPr lang="sv-SE" sz="1600" dirty="0" err="1"/>
              <a:t>current</a:t>
            </a:r>
            <a:r>
              <a:rPr lang="sv-SE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2597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241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150" y="247870"/>
            <a:ext cx="93472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COMBINED EDM AND CIRCULATING CURRENT </a:t>
            </a:r>
            <a:r>
              <a:rPr lang="en-US" sz="4000" dirty="0" smtClean="0">
                <a:solidFill>
                  <a:srgbClr val="C00000"/>
                </a:solidFill>
              </a:rPr>
              <a:t>MODELING</a:t>
            </a:r>
            <a:r>
              <a:rPr lang="en-US" sz="4000" dirty="0">
                <a:solidFill>
                  <a:srgbClr val="C00000"/>
                </a:solidFill>
              </a:rPr>
              <a:t> </a:t>
            </a:r>
            <a:r>
              <a:rPr lang="en-US" sz="4000" dirty="0" smtClean="0">
                <a:solidFill>
                  <a:srgbClr val="C00000"/>
                </a:solidFill>
              </a:rPr>
              <a:t>[3,4,5]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22" y="1439863"/>
            <a:ext cx="6166267" cy="390048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747974" y="5340350"/>
            <a:ext cx="31054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err="1"/>
              <a:t>Complete</a:t>
            </a:r>
            <a:r>
              <a:rPr lang="sv-SE" dirty="0"/>
              <a:t> </a:t>
            </a:r>
            <a:r>
              <a:rPr lang="sv-SE" dirty="0" err="1"/>
              <a:t>model</a:t>
            </a:r>
            <a:r>
              <a:rPr lang="sv-SE" dirty="0"/>
              <a:t> for </a:t>
            </a:r>
            <a:r>
              <a:rPr lang="sv-SE" dirty="0" err="1"/>
              <a:t>capacitive</a:t>
            </a:r>
            <a:r>
              <a:rPr lang="sv-SE" dirty="0"/>
              <a:t> </a:t>
            </a:r>
            <a:endParaRPr lang="sv-SE" dirty="0" smtClean="0"/>
          </a:p>
          <a:p>
            <a:r>
              <a:rPr lang="sv-SE" dirty="0" smtClean="0"/>
              <a:t>and </a:t>
            </a:r>
            <a:r>
              <a:rPr lang="sv-SE" dirty="0" err="1"/>
              <a:t>inductive</a:t>
            </a:r>
            <a:r>
              <a:rPr lang="sv-SE" dirty="0"/>
              <a:t> </a:t>
            </a:r>
            <a:r>
              <a:rPr lang="sv-SE" dirty="0" err="1"/>
              <a:t>bearing</a:t>
            </a:r>
            <a:r>
              <a:rPr lang="sv-SE" dirty="0"/>
              <a:t> </a:t>
            </a:r>
            <a:r>
              <a:rPr lang="sv-SE" dirty="0" err="1"/>
              <a:t>current</a:t>
            </a:r>
            <a:r>
              <a:rPr lang="sv-SE" dirty="0"/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298" y="2277489"/>
            <a:ext cx="4214813" cy="25617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251298" y="5376218"/>
            <a:ext cx="41122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err="1"/>
              <a:t>Equivalent</a:t>
            </a:r>
            <a:r>
              <a:rPr lang="sv-SE" dirty="0"/>
              <a:t> </a:t>
            </a:r>
            <a:r>
              <a:rPr lang="sv-SE" dirty="0" err="1"/>
              <a:t>lumped</a:t>
            </a:r>
            <a:r>
              <a:rPr lang="sv-SE" dirty="0"/>
              <a:t> parameter </a:t>
            </a:r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smtClean="0"/>
              <a:t>[6</a:t>
            </a:r>
            <a:r>
              <a:rPr lang="sv-SE" dirty="0"/>
              <a:t>].</a:t>
            </a:r>
          </a:p>
        </p:txBody>
      </p:sp>
    </p:spTree>
    <p:extLst>
      <p:ext uri="{BB962C8B-B14F-4D97-AF65-F5344CB8AC3E}">
        <p14:creationId xmlns:p14="http://schemas.microsoft.com/office/powerpoint/2010/main" val="2142005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157" y="1581150"/>
            <a:ext cx="6487693" cy="34528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47625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MITIGATION METHODS- Inverter Side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05887" y="1282184"/>
            <a:ext cx="4362213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Inverter </a:t>
            </a:r>
            <a:r>
              <a:rPr lang="en-US" dirty="0"/>
              <a:t>side mitigation methods act directly on the source so that they are effective for all four bearing current mechanisms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smtClean="0"/>
              <a:t>New modulations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Selective harmonic eliminations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Space vector modulation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Utilizing </a:t>
            </a:r>
            <a:r>
              <a:rPr lang="en-US" dirty="0"/>
              <a:t>degree of </a:t>
            </a:r>
            <a:r>
              <a:rPr lang="en-US" dirty="0" smtClean="0"/>
              <a:t>freedom</a:t>
            </a:r>
            <a:endParaRPr lang="en-US" dirty="0"/>
          </a:p>
          <a:p>
            <a:pPr lvl="1"/>
            <a:endParaRPr lang="sv-S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New topologies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Additional 4</a:t>
            </a:r>
            <a:r>
              <a:rPr lang="en-US" baseline="30000" dirty="0" smtClean="0"/>
              <a:t>th</a:t>
            </a:r>
            <a:r>
              <a:rPr lang="en-US" dirty="0" smtClean="0"/>
              <a:t> leg with LC filter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Cascaded inverters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Dual bridge inverter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3-level is better than 2-level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Multi-level is better than 3-level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Achieving high </a:t>
            </a:r>
            <a:r>
              <a:rPr lang="en-US" dirty="0"/>
              <a:t>degree of freedom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lvl="1"/>
            <a:r>
              <a:rPr lang="en-US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82670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180"/>
          <a:stretch/>
        </p:blipFill>
        <p:spPr>
          <a:xfrm>
            <a:off x="3325812" y="0"/>
            <a:ext cx="5754687" cy="68877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58925" y="3009384"/>
            <a:ext cx="495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[1]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06159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References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[1</a:t>
            </a:r>
            <a:r>
              <a:rPr lang="en-US" dirty="0"/>
              <a:t>] A Review of Modeling and Mitigation Techniques for Bearing Currents in Electrical Machines With Variable-Frequency </a:t>
            </a:r>
            <a:r>
              <a:rPr lang="en-US" dirty="0" smtClean="0"/>
              <a:t>Drives</a:t>
            </a:r>
          </a:p>
          <a:p>
            <a:r>
              <a:rPr lang="en-US" dirty="0"/>
              <a:t>[2] A Review of Shaft Voltages and Bearing Currents in EV and HEV </a:t>
            </a:r>
            <a:r>
              <a:rPr lang="en-US" dirty="0" smtClean="0"/>
              <a:t>Motors</a:t>
            </a:r>
          </a:p>
          <a:p>
            <a:r>
              <a:rPr lang="en-US" dirty="0"/>
              <a:t>[3] Modeling and Measurement of Capacitive and Inductive Bearing Current in Electrical </a:t>
            </a:r>
            <a:r>
              <a:rPr lang="en-US" dirty="0" smtClean="0"/>
              <a:t>Machines</a:t>
            </a:r>
          </a:p>
          <a:p>
            <a:r>
              <a:rPr lang="en-US" dirty="0"/>
              <a:t>[4] A Universal High-Frequency Three-Phase Electric-Motor Model Suitable for the </a:t>
            </a:r>
            <a:r>
              <a:rPr lang="en-US" dirty="0" smtClean="0"/>
              <a:t>Delta and </a:t>
            </a:r>
            <a:r>
              <a:rPr lang="en-US" dirty="0"/>
              <a:t>Star-Winding </a:t>
            </a:r>
            <a:r>
              <a:rPr lang="en-US" dirty="0" smtClean="0"/>
              <a:t>Connections\</a:t>
            </a:r>
          </a:p>
          <a:p>
            <a:r>
              <a:rPr lang="en-US" dirty="0"/>
              <a:t>[5] Induction Motor Model for the Analysis of Capacitive and Induced Shaft </a:t>
            </a:r>
            <a:r>
              <a:rPr lang="en-US" dirty="0" smtClean="0"/>
              <a:t>Voltages</a:t>
            </a:r>
          </a:p>
          <a:p>
            <a:r>
              <a:rPr lang="en-US" dirty="0"/>
              <a:t>[6] An Improved Model for Circulating Bearing Currents in Inverter-Fed AC Machines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59806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13356</TotalTime>
  <Words>1194</Words>
  <Application>Microsoft Office PowerPoint</Application>
  <PresentationFormat>Widescreen</PresentationFormat>
  <Paragraphs>139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  Preliminary Investigation on  Bearing Currents In EV Drives: Sources, Modelling and Mitigations </vt:lpstr>
      <vt:lpstr>Sources  and Consequences of Bearing Current [1] [2]</vt:lpstr>
      <vt:lpstr>PHYSICS OF BEARING CURRENTS [1]</vt:lpstr>
      <vt:lpstr>PHYSICS OF BEARING CURRENTS</vt:lpstr>
      <vt:lpstr>PHYSICS OF BEARING CURRENTS</vt:lpstr>
      <vt:lpstr>PHYSICS OF BEARING CURRENTS</vt:lpstr>
      <vt:lpstr>PHYSICS OF BEARING CURRENTS</vt:lpstr>
      <vt:lpstr>CAPACITIVE EDM BEARING CURRENT MODEL [3,4]</vt:lpstr>
      <vt:lpstr>PowerPoint Presentation</vt:lpstr>
      <vt:lpstr>INDUCTIVE CIRCULATING BEARING CURRENT[3,4]</vt:lpstr>
      <vt:lpstr>INDUCTIVE CIRCULATING BEARING CURRENT[3,4]</vt:lpstr>
      <vt:lpstr>COMBINED EDM AND CIRCULATING CURRENT MODELING [3,4,5]</vt:lpstr>
      <vt:lpstr>MITIGATION METHODS- Inverter Side</vt:lpstr>
      <vt:lpstr>PowerPoint Presentation</vt:lpstr>
      <vt:lpstr>References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91</cp:revision>
  <dcterms:created xsi:type="dcterms:W3CDTF">2023-05-19T13:17:21Z</dcterms:created>
  <dcterms:modified xsi:type="dcterms:W3CDTF">2023-05-30T15:21:23Z</dcterms:modified>
</cp:coreProperties>
</file>