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0" r:id="rId5"/>
    <p:sldId id="261" r:id="rId6"/>
    <p:sldId id="264" r:id="rId7"/>
    <p:sldId id="272" r:id="rId8"/>
    <p:sldId id="266" r:id="rId9"/>
    <p:sldId id="268" r:id="rId10"/>
    <p:sldId id="283" r:id="rId11"/>
    <p:sldId id="282" r:id="rId12"/>
    <p:sldId id="270" r:id="rId13"/>
    <p:sldId id="265" r:id="rId14"/>
    <p:sldId id="284" r:id="rId15"/>
    <p:sldId id="285" r:id="rId16"/>
    <p:sldId id="275" r:id="rId17"/>
    <p:sldId id="287" r:id="rId18"/>
    <p:sldId id="286" r:id="rId19"/>
    <p:sldId id="288" r:id="rId20"/>
    <p:sldId id="276" r:id="rId21"/>
    <p:sldId id="290" r:id="rId22"/>
    <p:sldId id="291" r:id="rId23"/>
    <p:sldId id="262" r:id="rId24"/>
  </p:sldIdLst>
  <p:sldSz cx="12192000" cy="6858000"/>
  <p:notesSz cx="7104063" cy="10234613"/>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7459" autoAdjust="0"/>
  </p:normalViewPr>
  <p:slideViewPr>
    <p:cSldViewPr snapToGrid="0">
      <p:cViewPr varScale="1">
        <p:scale>
          <a:sx n="115" d="100"/>
          <a:sy n="115" d="100"/>
        </p:scale>
        <p:origin x="31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sv-SE"/>
          </a:p>
        </p:txBody>
      </p:sp>
      <p:sp>
        <p:nvSpPr>
          <p:cNvPr id="3" name="Platshållare för datum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71BACA97-DCC5-D741-8303-D68B06D997A0}" type="datetimeFigureOut">
              <a:rPr lang="sv-SE" smtClean="0"/>
              <a:t>2023-10-18</a:t>
            </a:fld>
            <a:endParaRPr lang="sv-SE"/>
          </a:p>
        </p:txBody>
      </p:sp>
      <p:sp>
        <p:nvSpPr>
          <p:cNvPr id="4" name="Platshållare för bildobjekt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sv-SE"/>
          </a:p>
        </p:txBody>
      </p:sp>
      <p:sp>
        <p:nvSpPr>
          <p:cNvPr id="5" name="Platshållare för anteckningar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sv-SE"/>
          </a:p>
        </p:txBody>
      </p:sp>
      <p:sp>
        <p:nvSpPr>
          <p:cNvPr id="7" name="Platshållare för bildnumm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5.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a:extLs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smtClean="0"/>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smtClean="0"/>
              <a:t>Subtitle</a:t>
            </a:r>
            <a:r>
              <a:rPr lang="sv-SE" dirty="0" smtClean="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2023-10-18</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a:extLs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2023-10-18</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2023-10-18</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image">
    <p:bg>
      <p:bgPr>
        <a:solidFill>
          <a:schemeClr val="accent4"/>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rgbClr val="00479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2023-10-18</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rgbClr val="00479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004791"/>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004791"/>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rgbClr val="00479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1"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2"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4"/>
              </a:ext>
            </a:extLst>
          </a:blip>
          <a:stretch>
            <a:fillRect/>
          </a:stretch>
        </p:blipFill>
        <p:spPr>
          <a:xfrm>
            <a:off x="-795" y="0"/>
            <a:ext cx="12192000" cy="6858000"/>
          </a:xfrm>
          <a:prstGeom prst="rect">
            <a:avLst/>
          </a:prstGeom>
        </p:spPr>
      </p:pic>
      <p:sp>
        <p:nvSpPr>
          <p:cNvPr id="13" name="Text Placeholder 8"/>
          <p:cNvSpPr>
            <a:spLocks noGrp="1"/>
          </p:cNvSpPr>
          <p:nvPr>
            <p:ph type="body" sz="quarter" idx="14" hasCustomPrompt="1"/>
          </p:nvPr>
        </p:nvSpPr>
        <p:spPr>
          <a:xfrm>
            <a:off x="596322" y="3333750"/>
            <a:ext cx="7218363" cy="1742546"/>
          </a:xfrm>
        </p:spPr>
        <p:txBody>
          <a:bodyPr anchor="b"/>
          <a:lstStyle>
            <a:lvl1pPr marL="0" indent="0">
              <a:buNone/>
              <a:defRPr sz="6000" b="1">
                <a:solidFill>
                  <a:srgbClr val="000061"/>
                </a:solidFill>
              </a:defRPr>
            </a:lvl1pPr>
          </a:lstStyle>
          <a:p>
            <a:r>
              <a:rPr lang="en-US" dirty="0" smtClean="0"/>
              <a:t>Click to edit Master title style</a:t>
            </a:r>
            <a:endParaRPr lang="sv-SE" dirty="0"/>
          </a:p>
        </p:txBody>
      </p:sp>
      <p:pic>
        <p:nvPicPr>
          <p:cNvPr id="14"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77330" y="226116"/>
            <a:ext cx="960463" cy="1076212"/>
          </a:xfrm>
          <a:prstGeom prst="rect">
            <a:avLst/>
          </a:prstGeom>
        </p:spPr>
      </p:pic>
    </p:spTree>
    <p:extLst>
      <p:ext uri="{BB962C8B-B14F-4D97-AF65-F5344CB8AC3E}">
        <p14:creationId xmlns:p14="http://schemas.microsoft.com/office/powerpoint/2010/main" val="3281607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Title, image">
    <p:bg>
      <p:bgPr>
        <a:solidFill>
          <a:schemeClr val="accent4"/>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rgbClr val="00479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2023-10-18</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rgbClr val="00479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004791"/>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004791"/>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rgbClr val="00479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3"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5205"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15"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1"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330" y="226116"/>
            <a:ext cx="960463" cy="1076212"/>
          </a:xfrm>
          <a:prstGeom prst="rect">
            <a:avLst/>
          </a:prstGeom>
        </p:spPr>
      </p:pic>
    </p:spTree>
    <p:extLst>
      <p:ext uri="{BB962C8B-B14F-4D97-AF65-F5344CB8AC3E}">
        <p14:creationId xmlns:p14="http://schemas.microsoft.com/office/powerpoint/2010/main" val="1598055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_Title, image">
    <p:bg>
      <p:bgPr>
        <a:solidFill>
          <a:srgbClr val="EBE5E0"/>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rgbClr val="00479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2023-10-18</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rgbClr val="00479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004791"/>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004791"/>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rgbClr val="00479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pic>
        <p:nvPicPr>
          <p:cNvPr id="12"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13"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14"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1"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7330" y="226116"/>
            <a:ext cx="960463" cy="1076212"/>
          </a:xfrm>
          <a:prstGeom prst="rect">
            <a:avLst/>
          </a:prstGeom>
        </p:spPr>
      </p:pic>
    </p:spTree>
    <p:extLst>
      <p:ext uri="{BB962C8B-B14F-4D97-AF65-F5344CB8AC3E}">
        <p14:creationId xmlns:p14="http://schemas.microsoft.com/office/powerpoint/2010/main" val="3057597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Title, image">
    <p:bg>
      <p:bgPr>
        <a:solidFill>
          <a:srgbClr val="EBE5E0"/>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rgbClr val="00479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2023-10-18</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rgbClr val="00479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004791"/>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004791"/>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rgbClr val="00479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3"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5205"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15"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0"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330" y="226116"/>
            <a:ext cx="960463" cy="1076212"/>
          </a:xfrm>
          <a:prstGeom prst="rect">
            <a:avLst/>
          </a:prstGeom>
        </p:spPr>
      </p:pic>
    </p:spTree>
    <p:extLst>
      <p:ext uri="{BB962C8B-B14F-4D97-AF65-F5344CB8AC3E}">
        <p14:creationId xmlns:p14="http://schemas.microsoft.com/office/powerpoint/2010/main" val="2902983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7_Title, image">
    <p:bg>
      <p:bgPr>
        <a:solidFill>
          <a:srgbClr val="00479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2023-10-18</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FFFFFF"/>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FFFFFF"/>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1"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2"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795" y="0"/>
            <a:ext cx="12192000" cy="6858000"/>
          </a:xfrm>
          <a:prstGeom prst="rect">
            <a:avLst/>
          </a:prstGeom>
        </p:spPr>
      </p:pic>
      <p:sp>
        <p:nvSpPr>
          <p:cNvPr id="15" name="Text Placeholder 8"/>
          <p:cNvSpPr>
            <a:spLocks noGrp="1"/>
          </p:cNvSpPr>
          <p:nvPr>
            <p:ph type="body" sz="quarter" idx="14" hasCustomPrompt="1"/>
          </p:nvPr>
        </p:nvSpPr>
        <p:spPr>
          <a:xfrm>
            <a:off x="596322" y="3248025"/>
            <a:ext cx="7218363" cy="1828273"/>
          </a:xfrm>
        </p:spPr>
        <p:txBody>
          <a:bodyPr anchor="b"/>
          <a:lstStyle>
            <a:lvl1pPr marL="0" indent="0">
              <a:buNone/>
              <a:defRPr sz="6000" b="1">
                <a:solidFill>
                  <a:schemeClr val="bg1"/>
                </a:solidFill>
              </a:defRPr>
            </a:lvl1pPr>
          </a:lstStyle>
          <a:p>
            <a:r>
              <a:rPr lang="en-US" dirty="0" smtClean="0"/>
              <a:t>Click to edit Master title style</a:t>
            </a:r>
            <a:endParaRPr lang="sv-SE" dirty="0"/>
          </a:p>
        </p:txBody>
      </p:sp>
      <p:pic>
        <p:nvPicPr>
          <p:cNvPr id="10"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7330" y="226116"/>
            <a:ext cx="960462" cy="1076212"/>
          </a:xfrm>
          <a:prstGeom prst="rect">
            <a:avLst/>
          </a:prstGeom>
        </p:spPr>
      </p:pic>
    </p:spTree>
    <p:extLst>
      <p:ext uri="{BB962C8B-B14F-4D97-AF65-F5344CB8AC3E}">
        <p14:creationId xmlns:p14="http://schemas.microsoft.com/office/powerpoint/2010/main" val="3131368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8_Title, image">
    <p:bg>
      <p:bgPr>
        <a:solidFill>
          <a:srgbClr val="00479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2023-10-18</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FFFFFF"/>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FFFFFF"/>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3"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5205"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15"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0"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330" y="226116"/>
            <a:ext cx="960462" cy="1076212"/>
          </a:xfrm>
          <a:prstGeom prst="rect">
            <a:avLst/>
          </a:prstGeom>
        </p:spPr>
      </p:pic>
    </p:spTree>
    <p:extLst>
      <p:ext uri="{BB962C8B-B14F-4D97-AF65-F5344CB8AC3E}">
        <p14:creationId xmlns:p14="http://schemas.microsoft.com/office/powerpoint/2010/main" val="1149291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0_Title, image">
    <p:bg>
      <p:bgPr>
        <a:solidFill>
          <a:srgbClr val="00006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2023-10-18</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FFFFFF"/>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FFFFFF"/>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1"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2"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a:noFill/>
        </p:spPr>
      </p:pic>
      <p:sp>
        <p:nvSpPr>
          <p:cNvPr id="15" name="Text Placeholder 8"/>
          <p:cNvSpPr>
            <a:spLocks noGrp="1"/>
          </p:cNvSpPr>
          <p:nvPr>
            <p:ph type="body" sz="quarter" idx="14" hasCustomPrompt="1"/>
          </p:nvPr>
        </p:nvSpPr>
        <p:spPr>
          <a:xfrm>
            <a:off x="596322" y="3257550"/>
            <a:ext cx="7218363" cy="1818747"/>
          </a:xfrm>
        </p:spPr>
        <p:txBody>
          <a:bodyPr anchor="b"/>
          <a:lstStyle>
            <a:lvl1pPr marL="0" indent="0">
              <a:buNone/>
              <a:defRPr sz="6000" b="1">
                <a:solidFill>
                  <a:schemeClr val="bg1"/>
                </a:solidFill>
              </a:defRPr>
            </a:lvl1pPr>
          </a:lstStyle>
          <a:p>
            <a:r>
              <a:rPr lang="en-US" dirty="0" smtClean="0"/>
              <a:t>Click to edit Master title style</a:t>
            </a:r>
            <a:endParaRPr lang="sv-SE" dirty="0"/>
          </a:p>
        </p:txBody>
      </p:sp>
      <p:pic>
        <p:nvPicPr>
          <p:cNvPr id="13"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7330" y="226116"/>
            <a:ext cx="960462" cy="1076212"/>
          </a:xfrm>
          <a:prstGeom prst="rect">
            <a:avLst/>
          </a:prstGeom>
        </p:spPr>
      </p:pic>
    </p:spTree>
    <p:extLst>
      <p:ext uri="{BB962C8B-B14F-4D97-AF65-F5344CB8AC3E}">
        <p14:creationId xmlns:p14="http://schemas.microsoft.com/office/powerpoint/2010/main" val="1231361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9_Title, image">
    <p:bg>
      <p:bgPr>
        <a:solidFill>
          <a:srgbClr val="00006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2023-10-18</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FFFFFF"/>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FFFFFF"/>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3"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5205"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15"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0"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330" y="226116"/>
            <a:ext cx="960462" cy="1076212"/>
          </a:xfrm>
          <a:prstGeom prst="rect">
            <a:avLst/>
          </a:prstGeom>
        </p:spPr>
      </p:pic>
    </p:spTree>
    <p:extLst>
      <p:ext uri="{BB962C8B-B14F-4D97-AF65-F5344CB8AC3E}">
        <p14:creationId xmlns:p14="http://schemas.microsoft.com/office/powerpoint/2010/main" val="2646691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2023-10-18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600075" y="1095632"/>
            <a:ext cx="8830253" cy="568412"/>
          </a:xfrm>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30252" cy="4530302"/>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2023-10-18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600076" y="1095632"/>
            <a:ext cx="8922616" cy="568412"/>
          </a:xfrm>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30252" cy="4530302"/>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2023-10-18</a:t>
            </a:fld>
            <a:endParaRPr lang="sv-SE" dirty="0"/>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600075" y="1095632"/>
            <a:ext cx="8821017" cy="568412"/>
          </a:xfrm>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21016" cy="4530302"/>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2023-10-18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600075" y="1095632"/>
            <a:ext cx="8848725" cy="568412"/>
          </a:xfrm>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48725" cy="4530302"/>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2023-10-18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2023-10-18</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2023-10-18</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2023-10-18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2023-10-18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2023-10-18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2023-10-18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2023-10-18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2023-10-18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2023-10-18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2023-10-18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2023-10-18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2023-10-18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2023-10-18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2023-10-18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2023-10-18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2023-10-18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2023-10-18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2023-10-18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2023-10-18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2023-10-18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2023-10-18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2023-10-18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2023-10-18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2023-10-18</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2023-10-18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2023-10-18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2023-10-18</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a:extLs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2023-10-18</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a:extLs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2023-10-18</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2023-10-18</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a:t>
            </a:r>
            <a:r>
              <a:rPr lang="en-US" sz="1600" b="1" baseline="0" noProof="0" dirty="0" smtClean="0">
                <a:solidFill>
                  <a:schemeClr val="tx2"/>
                </a:solidFill>
                <a:latin typeface="+mj-lt"/>
              </a:rPr>
              <a: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2023-10-18</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2023-10-18</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a:extLst>
              <a:ext uri="{96DAC541-7B7A-43D3-8B79-37D633B846F1}">
                <asvg:svgBlip xmlns:asvg="http://schemas.microsoft.com/office/drawing/2016/SVG/main" xmlns="" r:embed="rId50"/>
              </a:ext>
            </a:extLst>
          </a:blip>
          <a:stretch>
            <a:fillRect/>
          </a:stretch>
        </p:blipFill>
        <p:spPr>
          <a:xfrm>
            <a:off x="182680"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8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emf"/><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24.emf"/></Relationships>
</file>

<file path=ppt/slides/_rels/slide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image" Target="../media/image31.png"/><Relationship Id="rId1" Type="http://schemas.openxmlformats.org/officeDocument/2006/relationships/slideLayout" Target="../slideLayouts/slideLayout12.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0.png"/><Relationship Id="rId1" Type="http://schemas.openxmlformats.org/officeDocument/2006/relationships/slideLayout" Target="../slideLayouts/slideLayout1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Layout" Target="../slideLayouts/slideLayout1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2.xml"/><Relationship Id="rId4" Type="http://schemas.openxmlformats.org/officeDocument/2006/relationships/image" Target="../media/image61.png"/></Relationships>
</file>

<file path=ppt/slides/_rels/slide1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2.xml"/><Relationship Id="rId4" Type="http://schemas.openxmlformats.org/officeDocument/2006/relationships/image" Target="../media/image65.png"/></Relationships>
</file>

<file path=ppt/slides/_rels/slide1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47849" y="2945081"/>
            <a:ext cx="9253583" cy="2280969"/>
          </a:xfrm>
        </p:spPr>
        <p:txBody>
          <a:bodyPr/>
          <a:lstStyle/>
          <a:p>
            <a:r>
              <a:rPr lang="en-US" sz="4000" dirty="0" smtClean="0"/>
              <a:t>Investigation </a:t>
            </a:r>
            <a:r>
              <a:rPr lang="en-US" sz="4000" dirty="0"/>
              <a:t>of </a:t>
            </a:r>
            <a:r>
              <a:rPr lang="en-US" sz="4000" dirty="0" smtClean="0"/>
              <a:t>Conduction and Turn-off Losses Dynamics </a:t>
            </a:r>
            <a:r>
              <a:rPr lang="en-US" sz="4000" dirty="0"/>
              <a:t>for Si and </a:t>
            </a:r>
            <a:r>
              <a:rPr lang="en-US" sz="4000" dirty="0" err="1"/>
              <a:t>SiC</a:t>
            </a:r>
            <a:r>
              <a:rPr lang="en-US" sz="4000" dirty="0"/>
              <a:t>-based Power </a:t>
            </a:r>
            <a:r>
              <a:rPr lang="en-US" sz="4000" dirty="0" smtClean="0"/>
              <a:t>Semiconductors</a:t>
            </a:r>
            <a:endParaRPr lang="sv-SE" sz="4000" dirty="0"/>
          </a:p>
        </p:txBody>
      </p:sp>
      <p:sp>
        <p:nvSpPr>
          <p:cNvPr id="3" name="Subtitle 2"/>
          <p:cNvSpPr>
            <a:spLocks noGrp="1"/>
          </p:cNvSpPr>
          <p:nvPr>
            <p:ph type="subTitle" idx="1"/>
          </p:nvPr>
        </p:nvSpPr>
        <p:spPr/>
        <p:txBody>
          <a:bodyPr/>
          <a:lstStyle/>
          <a:p>
            <a:r>
              <a:rPr lang="en-US" dirty="0" smtClean="0"/>
              <a:t>Enes Ayaz </a:t>
            </a:r>
            <a:endParaRPr lang="sv-SE" dirty="0"/>
          </a:p>
        </p:txBody>
      </p:sp>
    </p:spTree>
    <p:extLst>
      <p:ext uri="{BB962C8B-B14F-4D97-AF65-F5344CB8AC3E}">
        <p14:creationId xmlns:p14="http://schemas.microsoft.com/office/powerpoint/2010/main" val="40819311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82675" y="384432"/>
            <a:ext cx="10990263" cy="568412"/>
          </a:xfrm>
        </p:spPr>
        <p:txBody>
          <a:bodyPr/>
          <a:lstStyle/>
          <a:p>
            <a:r>
              <a:rPr lang="en-US" dirty="0" smtClean="0"/>
              <a:t>AGENDA</a:t>
            </a:r>
            <a:endParaRPr lang="sv-SE" dirty="0"/>
          </a:p>
        </p:txBody>
      </p:sp>
      <p:sp>
        <p:nvSpPr>
          <p:cNvPr id="5" name="Content Placeholder 4"/>
          <p:cNvSpPr>
            <a:spLocks noGrp="1"/>
          </p:cNvSpPr>
          <p:nvPr>
            <p:ph idx="1"/>
          </p:nvPr>
        </p:nvSpPr>
        <p:spPr>
          <a:xfrm>
            <a:off x="1082675" y="1427550"/>
            <a:ext cx="10990263" cy="4530302"/>
          </a:xfrm>
        </p:spPr>
        <p:txBody>
          <a:bodyPr/>
          <a:lstStyle/>
          <a:p>
            <a:pPr marL="457200" indent="-457200">
              <a:buFont typeface="+mj-lt"/>
              <a:buAutoNum type="arabicPeriod"/>
            </a:pPr>
            <a:r>
              <a:rPr lang="en-US" sz="2000" dirty="0" smtClean="0"/>
              <a:t>Introduction</a:t>
            </a:r>
            <a:r>
              <a:rPr lang="sv-SE" sz="2000" dirty="0"/>
              <a:t> </a:t>
            </a:r>
            <a:endParaRPr lang="sv-SE" sz="2000" dirty="0" smtClean="0"/>
          </a:p>
          <a:p>
            <a:pPr marL="457200" indent="-457200">
              <a:buFont typeface="+mj-lt"/>
              <a:buAutoNum type="arabicPeriod"/>
            </a:pPr>
            <a:endParaRPr lang="sv-SE" sz="2000" dirty="0" smtClean="0"/>
          </a:p>
          <a:p>
            <a:pPr marL="457200" indent="-457200">
              <a:buFont typeface="+mj-lt"/>
              <a:buAutoNum type="arabicPeriod"/>
            </a:pPr>
            <a:r>
              <a:rPr lang="en-US" sz="2000" dirty="0" smtClean="0"/>
              <a:t>MOSFET </a:t>
            </a:r>
            <a:r>
              <a:rPr lang="en-US" sz="2000" dirty="0"/>
              <a:t>Physical </a:t>
            </a:r>
            <a:r>
              <a:rPr lang="en-US" sz="2000" dirty="0" smtClean="0"/>
              <a:t>Structure</a:t>
            </a:r>
          </a:p>
          <a:p>
            <a:pPr marL="457200" indent="-457200">
              <a:buFont typeface="+mj-lt"/>
              <a:buAutoNum type="arabicPeriod"/>
            </a:pPr>
            <a:endParaRPr lang="sv-SE" sz="2000" dirty="0" smtClean="0"/>
          </a:p>
          <a:p>
            <a:pPr marL="457200" indent="-457200">
              <a:buFont typeface="+mj-lt"/>
              <a:buAutoNum type="arabicPeriod"/>
            </a:pPr>
            <a:r>
              <a:rPr lang="en-US" sz="2000" dirty="0" smtClean="0"/>
              <a:t>MOSFET Lumped Circuit </a:t>
            </a:r>
            <a:r>
              <a:rPr lang="en-US" sz="2000" dirty="0"/>
              <a:t>M</a:t>
            </a:r>
            <a:r>
              <a:rPr lang="en-US" sz="2000" dirty="0" smtClean="0"/>
              <a:t>odel with Parasitic Elements</a:t>
            </a:r>
          </a:p>
          <a:p>
            <a:pPr marL="457200" indent="-457200">
              <a:buFont typeface="+mj-lt"/>
              <a:buAutoNum type="arabicPeriod"/>
            </a:pPr>
            <a:endParaRPr lang="en-US" sz="2000" dirty="0" smtClean="0"/>
          </a:p>
          <a:p>
            <a:pPr marL="457200" indent="-457200">
              <a:buFont typeface="+mj-lt"/>
              <a:buAutoNum type="arabicPeriod"/>
            </a:pPr>
            <a:r>
              <a:rPr lang="en-US" sz="2000" dirty="0" smtClean="0"/>
              <a:t>Theory: Conduction </a:t>
            </a:r>
            <a:r>
              <a:rPr lang="en-US" sz="2000" dirty="0"/>
              <a:t>and Turn-off </a:t>
            </a:r>
            <a:r>
              <a:rPr lang="en-US" sz="2000" dirty="0" smtClean="0"/>
              <a:t>Losses</a:t>
            </a:r>
          </a:p>
          <a:p>
            <a:pPr marL="457200" indent="-457200">
              <a:buFont typeface="+mj-lt"/>
              <a:buAutoNum type="arabicPeriod"/>
            </a:pPr>
            <a:endParaRPr lang="en-US" sz="2000" dirty="0" smtClean="0"/>
          </a:p>
          <a:p>
            <a:pPr marL="457200" indent="-457200">
              <a:buFont typeface="+mj-lt"/>
              <a:buAutoNum type="arabicPeriod"/>
            </a:pPr>
            <a:r>
              <a:rPr lang="en-US" sz="2000" dirty="0" smtClean="0"/>
              <a:t>Comparison of Si and </a:t>
            </a:r>
            <a:r>
              <a:rPr lang="en-US" sz="2000" dirty="0" err="1" smtClean="0"/>
              <a:t>SiC</a:t>
            </a:r>
            <a:r>
              <a:rPr lang="en-US" sz="2000" dirty="0" smtClean="0"/>
              <a:t> devices</a:t>
            </a:r>
          </a:p>
          <a:p>
            <a:pPr marL="457200" indent="-457200">
              <a:buFont typeface="+mj-lt"/>
              <a:buAutoNum type="arabicPeriod"/>
            </a:pPr>
            <a:endParaRPr lang="en-US" sz="2000" dirty="0" smtClean="0"/>
          </a:p>
          <a:p>
            <a:pPr marL="457200" indent="-457200">
              <a:buFont typeface="+mj-lt"/>
              <a:buAutoNum type="arabicPeriod"/>
            </a:pPr>
            <a:r>
              <a:rPr lang="en-US" sz="2000" dirty="0" smtClean="0"/>
              <a:t>Conclusion</a:t>
            </a:r>
          </a:p>
        </p:txBody>
      </p:sp>
    </p:spTree>
    <p:extLst>
      <p:ext uri="{BB962C8B-B14F-4D97-AF65-F5344CB8AC3E}">
        <p14:creationId xmlns:p14="http://schemas.microsoft.com/office/powerpoint/2010/main" val="4213902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17987" y="287584"/>
            <a:ext cx="10990263" cy="568412"/>
          </a:xfrm>
        </p:spPr>
        <p:txBody>
          <a:bodyPr/>
          <a:lstStyle/>
          <a:p>
            <a:pPr algn="ctr"/>
            <a:r>
              <a:rPr lang="en-US" dirty="0" smtClean="0"/>
              <a:t>Introduction-Power Converters</a:t>
            </a:r>
            <a:br>
              <a:rPr lang="en-US" dirty="0" smtClean="0"/>
            </a:br>
            <a:r>
              <a:rPr lang="en-US" dirty="0" smtClean="0"/>
              <a:t/>
            </a:r>
            <a:br>
              <a:rPr lang="en-US" dirty="0" smtClean="0"/>
            </a:br>
            <a:endParaRPr lang="sv-SE" dirty="0"/>
          </a:p>
        </p:txBody>
      </p:sp>
      <p:sp>
        <p:nvSpPr>
          <p:cNvPr id="13" name="TextBox 12"/>
          <p:cNvSpPr txBox="1"/>
          <p:nvPr/>
        </p:nvSpPr>
        <p:spPr>
          <a:xfrm>
            <a:off x="1178455" y="3413800"/>
            <a:ext cx="4352307" cy="2862322"/>
          </a:xfrm>
          <a:prstGeom prst="rect">
            <a:avLst/>
          </a:prstGeom>
          <a:noFill/>
        </p:spPr>
        <p:txBody>
          <a:bodyPr wrap="square" rtlCol="0">
            <a:spAutoFit/>
          </a:bodyPr>
          <a:lstStyle/>
          <a:p>
            <a:pPr marL="342900" indent="-342900">
              <a:buFont typeface="+mj-lt"/>
              <a:buAutoNum type="arabicPeriod"/>
            </a:pPr>
            <a:r>
              <a:rPr lang="en-US" dirty="0" smtClean="0"/>
              <a:t>Utilized as step-down for DC to DC</a:t>
            </a:r>
          </a:p>
          <a:p>
            <a:pPr marL="342900" indent="-342900">
              <a:buFont typeface="+mj-lt"/>
              <a:buAutoNum type="arabicPeriod"/>
            </a:pPr>
            <a:r>
              <a:rPr lang="en-US" dirty="0" smtClean="0"/>
              <a:t>Required active components: </a:t>
            </a:r>
          </a:p>
          <a:p>
            <a:pPr marL="800100" lvl="1" indent="-342900">
              <a:buFont typeface="Arial" panose="020B0604020202020204" pitchFamily="34" charset="0"/>
              <a:buChar char="•"/>
            </a:pPr>
            <a:r>
              <a:rPr lang="en-US" dirty="0" smtClean="0"/>
              <a:t>Power switches</a:t>
            </a:r>
          </a:p>
          <a:p>
            <a:pPr marL="800100" lvl="1" indent="-342900">
              <a:buFont typeface="Arial" panose="020B0604020202020204" pitchFamily="34" charset="0"/>
              <a:buChar char="•"/>
            </a:pPr>
            <a:r>
              <a:rPr lang="en-US" dirty="0" smtClean="0"/>
              <a:t>Power rectifier</a:t>
            </a:r>
          </a:p>
          <a:p>
            <a:pPr marL="342900" indent="-342900">
              <a:buFont typeface="+mj-lt"/>
              <a:buAutoNum type="arabicPeriod"/>
            </a:pPr>
            <a:r>
              <a:rPr lang="en-US" dirty="0"/>
              <a:t>Required</a:t>
            </a:r>
            <a:r>
              <a:rPr lang="en-US" dirty="0" smtClean="0"/>
              <a:t> passive components:</a:t>
            </a:r>
          </a:p>
          <a:p>
            <a:pPr marL="742950" lvl="1" indent="-285750">
              <a:buFont typeface="Arial" panose="020B0604020202020204" pitchFamily="34" charset="0"/>
              <a:buChar char="•"/>
            </a:pPr>
            <a:r>
              <a:rPr lang="en-US" dirty="0" smtClean="0"/>
              <a:t>Filter inductance </a:t>
            </a:r>
          </a:p>
          <a:p>
            <a:pPr marL="742950" lvl="1" indent="-285750">
              <a:buFont typeface="Arial" panose="020B0604020202020204" pitchFamily="34" charset="0"/>
              <a:buChar char="•"/>
            </a:pPr>
            <a:r>
              <a:rPr lang="en-US" dirty="0" smtClean="0"/>
              <a:t>Filter capacitance</a:t>
            </a:r>
          </a:p>
          <a:p>
            <a:pPr marL="342900" indent="-342900">
              <a:buFont typeface="+mj-lt"/>
              <a:buAutoNum type="arabicPeriod"/>
            </a:pPr>
            <a:r>
              <a:rPr lang="en-US" dirty="0" smtClean="0"/>
              <a:t>Required control unit: Analog or digital controllers</a:t>
            </a:r>
          </a:p>
          <a:p>
            <a:endParaRPr lang="sv-SE" dirty="0"/>
          </a:p>
        </p:txBody>
      </p:sp>
      <p:sp>
        <p:nvSpPr>
          <p:cNvPr id="15" name="Content Placeholder 4"/>
          <p:cNvSpPr txBox="1">
            <a:spLocks/>
          </p:cNvSpPr>
          <p:nvPr/>
        </p:nvSpPr>
        <p:spPr>
          <a:xfrm>
            <a:off x="6710371" y="1220613"/>
            <a:ext cx="4323471" cy="24805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u="sng" dirty="0" smtClean="0"/>
              <a:t>Ideal Switch</a:t>
            </a:r>
          </a:p>
          <a:p>
            <a:pPr marL="342900" indent="-342900">
              <a:buFont typeface="Arial" panose="020B0604020202020204" pitchFamily="34" charset="0"/>
              <a:buAutoNum type="arabicPeriod"/>
            </a:pPr>
            <a:r>
              <a:rPr lang="en-US" dirty="0" smtClean="0"/>
              <a:t>Zero on-state voltage drop. </a:t>
            </a:r>
          </a:p>
          <a:p>
            <a:pPr marL="342900" indent="-342900">
              <a:buFont typeface="Arial" panose="020B0604020202020204" pitchFamily="34" charset="0"/>
              <a:buAutoNum type="arabicPeriod"/>
            </a:pPr>
            <a:r>
              <a:rPr lang="en-US" dirty="0" smtClean="0"/>
              <a:t>Infinite off-state resistance (Zero leakage current)</a:t>
            </a:r>
          </a:p>
          <a:p>
            <a:pPr marL="342900" indent="-342900">
              <a:buFont typeface="Arial" panose="020B0604020202020204" pitchFamily="34" charset="0"/>
              <a:buAutoNum type="arabicPeriod"/>
            </a:pPr>
            <a:r>
              <a:rPr lang="en-US" dirty="0" smtClean="0"/>
              <a:t>Zero rise and fall time. </a:t>
            </a:r>
          </a:p>
          <a:p>
            <a:pPr marL="342900" indent="-342900">
              <a:buFont typeface="Arial" panose="020B0604020202020204" pitchFamily="34" charset="0"/>
              <a:buAutoNum type="arabicPeriod"/>
            </a:pPr>
            <a:r>
              <a:rPr lang="en-US" dirty="0" smtClean="0"/>
              <a:t>Zero dissipating power.</a:t>
            </a:r>
          </a:p>
          <a:p>
            <a:pPr marL="342900" indent="-342900">
              <a:buFont typeface="Arial" panose="020B0604020202020204" pitchFamily="34" charset="0"/>
              <a:buAutoNum type="arabicPeriod"/>
            </a:pPr>
            <a:r>
              <a:rPr lang="en-US" dirty="0" smtClean="0"/>
              <a:t>No limit on voltage and current. </a:t>
            </a:r>
          </a:p>
          <a:p>
            <a:endParaRPr lang="sv-SE" dirty="0"/>
          </a:p>
        </p:txBody>
      </p:sp>
      <p:pic>
        <p:nvPicPr>
          <p:cNvPr id="20" name="Picture 19"/>
          <p:cNvPicPr>
            <a:picLocks noChangeAspect="1"/>
          </p:cNvPicPr>
          <p:nvPr/>
        </p:nvPicPr>
        <p:blipFill>
          <a:blip r:embed="rId2"/>
          <a:stretch>
            <a:fillRect/>
          </a:stretch>
        </p:blipFill>
        <p:spPr>
          <a:xfrm>
            <a:off x="1472091" y="1336265"/>
            <a:ext cx="3449411" cy="2013677"/>
          </a:xfrm>
          <a:prstGeom prst="rect">
            <a:avLst/>
          </a:prstGeom>
        </p:spPr>
      </p:pic>
      <p:pic>
        <p:nvPicPr>
          <p:cNvPr id="27" name="Picture 26"/>
          <p:cNvPicPr>
            <a:picLocks noChangeAspect="1"/>
          </p:cNvPicPr>
          <p:nvPr/>
        </p:nvPicPr>
        <p:blipFill rotWithShape="1">
          <a:blip r:embed="rId3"/>
          <a:srcRect t="54292" b="14807"/>
          <a:stretch/>
        </p:blipFill>
        <p:spPr>
          <a:xfrm>
            <a:off x="7689125" y="4188257"/>
            <a:ext cx="1014734" cy="290513"/>
          </a:xfrm>
          <a:prstGeom prst="rect">
            <a:avLst/>
          </a:prstGeom>
        </p:spPr>
      </p:pic>
      <p:pic>
        <p:nvPicPr>
          <p:cNvPr id="28" name="Picture 27"/>
          <p:cNvPicPr>
            <a:picLocks noChangeAspect="1"/>
          </p:cNvPicPr>
          <p:nvPr/>
        </p:nvPicPr>
        <p:blipFill rotWithShape="1">
          <a:blip r:embed="rId3"/>
          <a:srcRect t="6510" b="62589"/>
          <a:stretch/>
        </p:blipFill>
        <p:spPr>
          <a:xfrm>
            <a:off x="8755338" y="4188256"/>
            <a:ext cx="1014734" cy="290513"/>
          </a:xfrm>
          <a:prstGeom prst="rect">
            <a:avLst/>
          </a:prstGeom>
        </p:spPr>
      </p:pic>
      <p:cxnSp>
        <p:nvCxnSpPr>
          <p:cNvPr id="30" name="Straight Connector 29"/>
          <p:cNvCxnSpPr/>
          <p:nvPr/>
        </p:nvCxnSpPr>
        <p:spPr>
          <a:xfrm flipH="1">
            <a:off x="8651570" y="4629741"/>
            <a:ext cx="2" cy="1359579"/>
          </a:xfrm>
          <a:prstGeom prst="line">
            <a:avLst/>
          </a:prstGeom>
          <a:ln/>
        </p:spPr>
        <p:style>
          <a:lnRef idx="2">
            <a:schemeClr val="dk1"/>
          </a:lnRef>
          <a:fillRef idx="0">
            <a:schemeClr val="dk1"/>
          </a:fillRef>
          <a:effectRef idx="1">
            <a:schemeClr val="dk1"/>
          </a:effectRef>
          <a:fontRef idx="minor">
            <a:schemeClr val="tx1"/>
          </a:fontRef>
        </p:style>
      </p:cxnSp>
      <p:cxnSp>
        <p:nvCxnSpPr>
          <p:cNvPr id="31" name="Straight Connector 30"/>
          <p:cNvCxnSpPr/>
          <p:nvPr/>
        </p:nvCxnSpPr>
        <p:spPr>
          <a:xfrm flipV="1">
            <a:off x="7743108" y="5369824"/>
            <a:ext cx="1698171" cy="1980"/>
          </a:xfrm>
          <a:prstGeom prst="line">
            <a:avLst/>
          </a:prstGeom>
          <a:ln/>
        </p:spPr>
        <p:style>
          <a:lnRef idx="2">
            <a:schemeClr val="dk1"/>
          </a:lnRef>
          <a:fillRef idx="0">
            <a:schemeClr val="dk1"/>
          </a:fillRef>
          <a:effectRef idx="1">
            <a:schemeClr val="dk1"/>
          </a:effectRef>
          <a:fontRef idx="minor">
            <a:schemeClr val="tx1"/>
          </a:fontRef>
        </p:style>
      </p:cxnSp>
      <p:cxnSp>
        <p:nvCxnSpPr>
          <p:cNvPr id="35" name="Straight Connector 34"/>
          <p:cNvCxnSpPr/>
          <p:nvPr/>
        </p:nvCxnSpPr>
        <p:spPr>
          <a:xfrm>
            <a:off x="8651570" y="4890852"/>
            <a:ext cx="0" cy="480951"/>
          </a:xfrm>
          <a:prstGeom prst="line">
            <a:avLst/>
          </a:prstGeom>
          <a:ln/>
        </p:spPr>
        <p:style>
          <a:lnRef idx="3">
            <a:schemeClr val="accent6"/>
          </a:lnRef>
          <a:fillRef idx="0">
            <a:schemeClr val="accent6"/>
          </a:fillRef>
          <a:effectRef idx="2">
            <a:schemeClr val="accent6"/>
          </a:effectRef>
          <a:fontRef idx="minor">
            <a:schemeClr val="tx1"/>
          </a:fontRef>
        </p:style>
      </p:cxnSp>
      <p:cxnSp>
        <p:nvCxnSpPr>
          <p:cNvPr id="38" name="Straight Connector 37"/>
          <p:cNvCxnSpPr/>
          <p:nvPr/>
        </p:nvCxnSpPr>
        <p:spPr>
          <a:xfrm flipV="1">
            <a:off x="8196492" y="5369825"/>
            <a:ext cx="455221" cy="1978"/>
          </a:xfrm>
          <a:prstGeom prst="line">
            <a:avLst/>
          </a:prstGeom>
          <a:ln/>
        </p:spPr>
        <p:style>
          <a:lnRef idx="3">
            <a:schemeClr val="accent6"/>
          </a:lnRef>
          <a:fillRef idx="0">
            <a:schemeClr val="accent6"/>
          </a:fillRef>
          <a:effectRef idx="2">
            <a:schemeClr val="accent6"/>
          </a:effectRef>
          <a:fontRef idx="minor">
            <a:schemeClr val="tx1"/>
          </a:fontRef>
        </p:style>
      </p:cxnSp>
      <p:sp>
        <p:nvSpPr>
          <p:cNvPr id="46" name="Rectangle 45"/>
          <p:cNvSpPr/>
          <p:nvPr/>
        </p:nvSpPr>
        <p:spPr>
          <a:xfrm>
            <a:off x="7950155" y="4726575"/>
            <a:ext cx="247184" cy="369332"/>
          </a:xfrm>
          <a:prstGeom prst="rect">
            <a:avLst/>
          </a:prstGeom>
        </p:spPr>
        <p:txBody>
          <a:bodyPr wrap="none">
            <a:spAutoFit/>
          </a:bodyPr>
          <a:lstStyle/>
          <a:p>
            <a:r>
              <a:rPr lang="en-US" dirty="0" smtClean="0"/>
              <a:t>I</a:t>
            </a:r>
            <a:endParaRPr lang="sv-SE" dirty="0"/>
          </a:p>
        </p:txBody>
      </p:sp>
      <p:cxnSp>
        <p:nvCxnSpPr>
          <p:cNvPr id="47" name="Straight Connector 46"/>
          <p:cNvCxnSpPr/>
          <p:nvPr/>
        </p:nvCxnSpPr>
        <p:spPr>
          <a:xfrm flipV="1">
            <a:off x="8196492" y="4629742"/>
            <a:ext cx="0" cy="466165"/>
          </a:xfrm>
          <a:prstGeom prst="line">
            <a:avLst/>
          </a:prstGeom>
          <a:ln>
            <a:solidFill>
              <a:srgbClr val="FF0000"/>
            </a:solidFill>
            <a:tailEnd type="triangle"/>
          </a:ln>
        </p:spPr>
        <p:style>
          <a:lnRef idx="3">
            <a:schemeClr val="accent6"/>
          </a:lnRef>
          <a:fillRef idx="0">
            <a:schemeClr val="accent6"/>
          </a:fillRef>
          <a:effectRef idx="2">
            <a:schemeClr val="accent6"/>
          </a:effectRef>
          <a:fontRef idx="minor">
            <a:schemeClr val="tx1"/>
          </a:fontRef>
        </p:style>
      </p:cxnSp>
      <p:sp>
        <p:nvSpPr>
          <p:cNvPr id="49" name="Rectangle 48"/>
          <p:cNvSpPr/>
          <p:nvPr/>
        </p:nvSpPr>
        <p:spPr>
          <a:xfrm>
            <a:off x="8853970" y="5369824"/>
            <a:ext cx="344966" cy="369332"/>
          </a:xfrm>
          <a:prstGeom prst="rect">
            <a:avLst/>
          </a:prstGeom>
        </p:spPr>
        <p:txBody>
          <a:bodyPr wrap="none">
            <a:spAutoFit/>
          </a:bodyPr>
          <a:lstStyle/>
          <a:p>
            <a:r>
              <a:rPr lang="en-US" dirty="0"/>
              <a:t>V</a:t>
            </a:r>
            <a:endParaRPr lang="sv-SE" dirty="0"/>
          </a:p>
        </p:txBody>
      </p:sp>
      <p:cxnSp>
        <p:nvCxnSpPr>
          <p:cNvPr id="50" name="Straight Connector 49"/>
          <p:cNvCxnSpPr/>
          <p:nvPr/>
        </p:nvCxnSpPr>
        <p:spPr>
          <a:xfrm>
            <a:off x="8755338" y="5706491"/>
            <a:ext cx="507367" cy="1842"/>
          </a:xfrm>
          <a:prstGeom prst="line">
            <a:avLst/>
          </a:prstGeom>
          <a:ln>
            <a:solidFill>
              <a:srgbClr val="FF0000"/>
            </a:solidFill>
            <a:tailEnd type="triangle"/>
          </a:ln>
        </p:spPr>
        <p:style>
          <a:lnRef idx="3">
            <a:schemeClr val="accent6"/>
          </a:lnRef>
          <a:fillRef idx="0">
            <a:schemeClr val="accent6"/>
          </a:fillRef>
          <a:effectRef idx="2">
            <a:schemeClr val="accent6"/>
          </a:effectRef>
          <a:fontRef idx="minor">
            <a:schemeClr val="tx1"/>
          </a:fontRef>
        </p:style>
      </p:cxnSp>
      <p:sp>
        <p:nvSpPr>
          <p:cNvPr id="56" name="Rectangle 55"/>
          <p:cNvSpPr/>
          <p:nvPr/>
        </p:nvSpPr>
        <p:spPr>
          <a:xfrm>
            <a:off x="8650724" y="4784339"/>
            <a:ext cx="1072730" cy="430887"/>
          </a:xfrm>
          <a:prstGeom prst="rect">
            <a:avLst/>
          </a:prstGeom>
        </p:spPr>
        <p:txBody>
          <a:bodyPr wrap="none">
            <a:spAutoFit/>
          </a:bodyPr>
          <a:lstStyle/>
          <a:p>
            <a:pPr algn="ctr"/>
            <a:r>
              <a:rPr lang="en-US" sz="1100" dirty="0" smtClean="0"/>
              <a:t>Zero Forward </a:t>
            </a:r>
          </a:p>
          <a:p>
            <a:pPr algn="ctr"/>
            <a:r>
              <a:rPr lang="en-US" sz="1100" dirty="0" smtClean="0"/>
              <a:t>Voltage</a:t>
            </a:r>
            <a:endParaRPr lang="sv-SE" sz="1100" dirty="0"/>
          </a:p>
        </p:txBody>
      </p:sp>
      <p:sp>
        <p:nvSpPr>
          <p:cNvPr id="57" name="Rectangle 56"/>
          <p:cNvSpPr/>
          <p:nvPr/>
        </p:nvSpPr>
        <p:spPr>
          <a:xfrm>
            <a:off x="7633121" y="5465117"/>
            <a:ext cx="1023036" cy="430887"/>
          </a:xfrm>
          <a:prstGeom prst="rect">
            <a:avLst/>
          </a:prstGeom>
        </p:spPr>
        <p:txBody>
          <a:bodyPr wrap="none">
            <a:spAutoFit/>
          </a:bodyPr>
          <a:lstStyle/>
          <a:p>
            <a:pPr algn="ctr"/>
            <a:r>
              <a:rPr lang="en-US" sz="1100" dirty="0" smtClean="0"/>
              <a:t>Zero Reverse</a:t>
            </a:r>
          </a:p>
          <a:p>
            <a:pPr algn="ctr"/>
            <a:r>
              <a:rPr lang="en-US" sz="1100" dirty="0" smtClean="0"/>
              <a:t>Current</a:t>
            </a:r>
            <a:endParaRPr lang="sv-SE" sz="1100" dirty="0"/>
          </a:p>
        </p:txBody>
      </p:sp>
      <p:pic>
        <p:nvPicPr>
          <p:cNvPr id="62" name="Picture 61"/>
          <p:cNvPicPr>
            <a:picLocks noChangeAspect="1"/>
          </p:cNvPicPr>
          <p:nvPr/>
        </p:nvPicPr>
        <p:blipFill>
          <a:blip r:embed="rId4"/>
          <a:stretch>
            <a:fillRect/>
          </a:stretch>
        </p:blipFill>
        <p:spPr>
          <a:xfrm>
            <a:off x="2296662" y="2770514"/>
            <a:ext cx="786668" cy="157999"/>
          </a:xfrm>
          <a:prstGeom prst="rect">
            <a:avLst/>
          </a:prstGeom>
        </p:spPr>
      </p:pic>
      <p:pic>
        <p:nvPicPr>
          <p:cNvPr id="66" name="Picture 65"/>
          <p:cNvPicPr>
            <a:picLocks noChangeAspect="1"/>
          </p:cNvPicPr>
          <p:nvPr/>
        </p:nvPicPr>
        <p:blipFill>
          <a:blip r:embed="rId5"/>
          <a:stretch>
            <a:fillRect/>
          </a:stretch>
        </p:blipFill>
        <p:spPr>
          <a:xfrm>
            <a:off x="3440429" y="2104417"/>
            <a:ext cx="908165" cy="131445"/>
          </a:xfrm>
          <a:prstGeom prst="rect">
            <a:avLst/>
          </a:prstGeom>
        </p:spPr>
      </p:pic>
    </p:spTree>
    <p:extLst>
      <p:ext uri="{BB962C8B-B14F-4D97-AF65-F5344CB8AC3E}">
        <p14:creationId xmlns:p14="http://schemas.microsoft.com/office/powerpoint/2010/main" val="12025327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1326" y="261940"/>
            <a:ext cx="10990263" cy="568412"/>
          </a:xfrm>
        </p:spPr>
        <p:txBody>
          <a:bodyPr/>
          <a:lstStyle/>
          <a:p>
            <a:pPr algn="ctr"/>
            <a:r>
              <a:rPr lang="en-US" dirty="0" smtClean="0"/>
              <a:t>Background on Power Semiconductors</a:t>
            </a:r>
            <a:br>
              <a:rPr lang="en-US" dirty="0" smtClean="0"/>
            </a:br>
            <a:r>
              <a:rPr lang="en-US" dirty="0" smtClean="0">
                <a:solidFill>
                  <a:srgbClr val="FF0000"/>
                </a:solidFill>
              </a:rPr>
              <a:t/>
            </a:r>
            <a:br>
              <a:rPr lang="en-US" dirty="0" smtClean="0">
                <a:solidFill>
                  <a:srgbClr val="FF0000"/>
                </a:solidFill>
              </a:rPr>
            </a:br>
            <a:r>
              <a:rPr lang="en-US" dirty="0" smtClean="0"/>
              <a:t/>
            </a:r>
            <a:br>
              <a:rPr lang="en-US" dirty="0" smtClean="0"/>
            </a:br>
            <a:endParaRPr lang="sv-SE" dirty="0"/>
          </a:p>
        </p:txBody>
      </p:sp>
      <p:sp>
        <p:nvSpPr>
          <p:cNvPr id="9" name="Rectangle 8"/>
          <p:cNvSpPr/>
          <p:nvPr/>
        </p:nvSpPr>
        <p:spPr>
          <a:xfrm>
            <a:off x="355096" y="1577294"/>
            <a:ext cx="2751323" cy="2308324"/>
          </a:xfrm>
          <a:prstGeom prst="rect">
            <a:avLst/>
          </a:prstGeom>
        </p:spPr>
        <p:txBody>
          <a:bodyPr wrap="square">
            <a:spAutoFit/>
          </a:bodyPr>
          <a:lstStyle/>
          <a:p>
            <a:r>
              <a:rPr lang="en-US" u="sng" dirty="0" smtClean="0"/>
              <a:t>Power switches</a:t>
            </a:r>
            <a:r>
              <a:rPr lang="en-US" dirty="0" smtClean="0"/>
              <a:t>: </a:t>
            </a:r>
          </a:p>
          <a:p>
            <a:pPr marL="285750" indent="-285750">
              <a:buFont typeface="Arial" panose="020B0604020202020204" pitchFamily="34" charset="0"/>
              <a:buChar char="•"/>
            </a:pPr>
            <a:r>
              <a:rPr lang="en-US" b="1" dirty="0"/>
              <a:t>MOSFET</a:t>
            </a:r>
            <a:endParaRPr lang="en-US" dirty="0" smtClean="0"/>
          </a:p>
          <a:p>
            <a:pPr marL="285750" indent="-285750">
              <a:buFont typeface="Arial" panose="020B0604020202020204" pitchFamily="34" charset="0"/>
              <a:buChar char="•"/>
            </a:pPr>
            <a:r>
              <a:rPr lang="en-US" dirty="0" smtClean="0"/>
              <a:t>BJT</a:t>
            </a:r>
          </a:p>
          <a:p>
            <a:pPr marL="285750" indent="-285750">
              <a:buFont typeface="Arial" panose="020B0604020202020204" pitchFamily="34" charset="0"/>
              <a:buChar char="•"/>
            </a:pPr>
            <a:r>
              <a:rPr lang="en-US" dirty="0" smtClean="0"/>
              <a:t>IGBT</a:t>
            </a:r>
          </a:p>
          <a:p>
            <a:endParaRPr lang="en-US" u="sng" dirty="0"/>
          </a:p>
          <a:p>
            <a:r>
              <a:rPr lang="en-US" u="sng" dirty="0" smtClean="0"/>
              <a:t>Power rectifier </a:t>
            </a:r>
            <a:r>
              <a:rPr lang="en-US" dirty="0" smtClean="0"/>
              <a:t>: </a:t>
            </a:r>
          </a:p>
          <a:p>
            <a:pPr marL="342900" indent="-342900">
              <a:buFont typeface="+mj-lt"/>
              <a:buAutoNum type="arabicPeriod"/>
            </a:pPr>
            <a:r>
              <a:rPr lang="en-US" dirty="0" err="1" smtClean="0"/>
              <a:t>Shottky</a:t>
            </a:r>
            <a:r>
              <a:rPr lang="en-US" dirty="0" smtClean="0"/>
              <a:t> Diodes</a:t>
            </a:r>
          </a:p>
          <a:p>
            <a:pPr marL="342900" indent="-342900">
              <a:buFont typeface="+mj-lt"/>
              <a:buAutoNum type="arabicPeriod"/>
            </a:pPr>
            <a:r>
              <a:rPr lang="en-US" dirty="0" smtClean="0"/>
              <a:t>Pin Diodes</a:t>
            </a:r>
          </a:p>
        </p:txBody>
      </p:sp>
      <p:sp>
        <p:nvSpPr>
          <p:cNvPr id="10" name="Rectangle 9"/>
          <p:cNvSpPr/>
          <p:nvPr/>
        </p:nvSpPr>
        <p:spPr>
          <a:xfrm>
            <a:off x="8381009" y="1577294"/>
            <a:ext cx="3635731" cy="1477328"/>
          </a:xfrm>
          <a:prstGeom prst="rect">
            <a:avLst/>
          </a:prstGeom>
        </p:spPr>
        <p:txBody>
          <a:bodyPr wrap="square">
            <a:spAutoFit/>
          </a:bodyPr>
          <a:lstStyle/>
          <a:p>
            <a:r>
              <a:rPr lang="en-US" u="sng" dirty="0" smtClean="0"/>
              <a:t>WHY MOSFETS? </a:t>
            </a:r>
          </a:p>
          <a:p>
            <a:pPr marL="342900" indent="-342900">
              <a:buFont typeface="+mj-lt"/>
              <a:buAutoNum type="arabicPeriod"/>
            </a:pPr>
            <a:r>
              <a:rPr lang="en-US" dirty="0" smtClean="0"/>
              <a:t>Lower</a:t>
            </a:r>
            <a:r>
              <a:rPr lang="sv-SE" dirty="0" smtClean="0"/>
              <a:t> </a:t>
            </a:r>
            <a:r>
              <a:rPr lang="en-US" dirty="0" smtClean="0"/>
              <a:t>on-state</a:t>
            </a:r>
            <a:r>
              <a:rPr lang="sv-SE" dirty="0" smtClean="0"/>
              <a:t> </a:t>
            </a:r>
            <a:r>
              <a:rPr lang="en-US" dirty="0" smtClean="0"/>
              <a:t>resistance</a:t>
            </a:r>
          </a:p>
          <a:p>
            <a:pPr marL="342900" indent="-342900">
              <a:buFont typeface="+mj-lt"/>
              <a:buAutoNum type="arabicPeriod"/>
            </a:pPr>
            <a:r>
              <a:rPr lang="sv-SE" dirty="0" smtClean="0"/>
              <a:t>Fast </a:t>
            </a:r>
            <a:r>
              <a:rPr lang="en-US" dirty="0" smtClean="0"/>
              <a:t>switching</a:t>
            </a:r>
            <a:r>
              <a:rPr lang="sv-SE" dirty="0" smtClean="0"/>
              <a:t> </a:t>
            </a:r>
            <a:r>
              <a:rPr lang="sv-SE" dirty="0"/>
              <a:t>speeds </a:t>
            </a:r>
            <a:r>
              <a:rPr lang="sv-SE" dirty="0" smtClean="0"/>
              <a:t> </a:t>
            </a:r>
          </a:p>
          <a:p>
            <a:pPr marL="342900" indent="-342900">
              <a:buFont typeface="+mj-lt"/>
              <a:buAutoNum type="arabicPeriod"/>
            </a:pPr>
            <a:r>
              <a:rPr lang="en-US" dirty="0" smtClean="0"/>
              <a:t>Simple </a:t>
            </a:r>
            <a:r>
              <a:rPr lang="en-US" dirty="0"/>
              <a:t>driver circuitry.</a:t>
            </a:r>
            <a:endParaRPr lang="en-US" u="sng" dirty="0"/>
          </a:p>
          <a:p>
            <a:pPr marL="342900" indent="-342900">
              <a:buFont typeface="+mj-lt"/>
              <a:buAutoNum type="arabicPeriod"/>
            </a:pPr>
            <a:r>
              <a:rPr lang="en-US" dirty="0" smtClean="0"/>
              <a:t>Operate</a:t>
            </a:r>
            <a:r>
              <a:rPr lang="sv-SE" dirty="0" smtClean="0"/>
              <a:t> </a:t>
            </a:r>
            <a:r>
              <a:rPr lang="sv-SE" dirty="0"/>
              <a:t>at </a:t>
            </a:r>
            <a:r>
              <a:rPr lang="en-US" dirty="0" smtClean="0"/>
              <a:t>high</a:t>
            </a:r>
            <a:r>
              <a:rPr lang="sv-SE" dirty="0" smtClean="0"/>
              <a:t> </a:t>
            </a:r>
            <a:r>
              <a:rPr lang="en-US" dirty="0" smtClean="0"/>
              <a:t>temperatures</a:t>
            </a:r>
          </a:p>
        </p:txBody>
      </p:sp>
      <p:pic>
        <p:nvPicPr>
          <p:cNvPr id="3" name="Picture 2"/>
          <p:cNvPicPr>
            <a:picLocks noChangeAspect="1"/>
          </p:cNvPicPr>
          <p:nvPr/>
        </p:nvPicPr>
        <p:blipFill rotWithShape="1">
          <a:blip r:embed="rId2"/>
          <a:srcRect t="2131" r="7888"/>
          <a:stretch/>
        </p:blipFill>
        <p:spPr>
          <a:xfrm>
            <a:off x="2961387" y="1577294"/>
            <a:ext cx="5313933" cy="2945766"/>
          </a:xfrm>
          <a:prstGeom prst="rect">
            <a:avLst/>
          </a:prstGeom>
        </p:spPr>
      </p:pic>
      <p:sp>
        <p:nvSpPr>
          <p:cNvPr id="5" name="Rectangle 4"/>
          <p:cNvSpPr/>
          <p:nvPr/>
        </p:nvSpPr>
        <p:spPr>
          <a:xfrm>
            <a:off x="3672622" y="4523060"/>
            <a:ext cx="4835272" cy="369332"/>
          </a:xfrm>
          <a:prstGeom prst="rect">
            <a:avLst/>
          </a:prstGeom>
        </p:spPr>
        <p:txBody>
          <a:bodyPr wrap="square">
            <a:spAutoFit/>
          </a:bodyPr>
          <a:lstStyle/>
          <a:p>
            <a:r>
              <a:rPr lang="en-US" dirty="0"/>
              <a:t>Rated voltage and current of HV </a:t>
            </a:r>
            <a:r>
              <a:rPr lang="en-US" dirty="0" smtClean="0"/>
              <a:t>dies [1].</a:t>
            </a:r>
            <a:endParaRPr lang="sv-SE" dirty="0"/>
          </a:p>
        </p:txBody>
      </p:sp>
      <p:sp>
        <p:nvSpPr>
          <p:cNvPr id="6" name="Rectangle 5"/>
          <p:cNvSpPr/>
          <p:nvPr/>
        </p:nvSpPr>
        <p:spPr>
          <a:xfrm>
            <a:off x="289470" y="6176164"/>
            <a:ext cx="10995660" cy="369332"/>
          </a:xfrm>
          <a:prstGeom prst="rect">
            <a:avLst/>
          </a:prstGeom>
        </p:spPr>
        <p:txBody>
          <a:bodyPr wrap="square">
            <a:spAutoFit/>
          </a:bodyPr>
          <a:lstStyle/>
          <a:p>
            <a:r>
              <a:rPr lang="en-US" dirty="0" smtClean="0"/>
              <a:t>[1] Overview </a:t>
            </a:r>
            <a:r>
              <a:rPr lang="en-US" dirty="0"/>
              <a:t>of High Voltage </a:t>
            </a:r>
            <a:r>
              <a:rPr lang="en-US" dirty="0" err="1"/>
              <a:t>SiC</a:t>
            </a:r>
            <a:r>
              <a:rPr lang="en-US" dirty="0"/>
              <a:t> Power Semiconductor Devices: Development and Application</a:t>
            </a:r>
            <a:endParaRPr lang="sv-SE" dirty="0"/>
          </a:p>
        </p:txBody>
      </p:sp>
    </p:spTree>
    <p:extLst>
      <p:ext uri="{BB962C8B-B14F-4D97-AF65-F5344CB8AC3E}">
        <p14:creationId xmlns:p14="http://schemas.microsoft.com/office/powerpoint/2010/main" val="16932649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82252" y="302057"/>
            <a:ext cx="10990263" cy="568412"/>
          </a:xfrm>
        </p:spPr>
        <p:txBody>
          <a:bodyPr/>
          <a:lstStyle/>
          <a:p>
            <a:pPr algn="ctr"/>
            <a:r>
              <a:rPr lang="en-US" dirty="0"/>
              <a:t>MOSFET </a:t>
            </a:r>
            <a:r>
              <a:rPr lang="en-US" dirty="0" smtClean="0"/>
              <a:t>(Metal </a:t>
            </a:r>
            <a:r>
              <a:rPr lang="en-US" dirty="0"/>
              <a:t>Oxide Semiconductor Field Effect </a:t>
            </a:r>
            <a:r>
              <a:rPr lang="en-US" dirty="0" smtClean="0"/>
              <a:t>Transistor) </a:t>
            </a:r>
            <a:r>
              <a:rPr lang="en-US" dirty="0"/>
              <a:t>Physical Structure</a:t>
            </a:r>
            <a:r>
              <a:rPr lang="sv-SE" dirty="0"/>
              <a:t/>
            </a:r>
            <a:br>
              <a:rPr lang="sv-SE" dirty="0"/>
            </a:br>
            <a:endParaRPr lang="sv-SE" dirty="0"/>
          </a:p>
        </p:txBody>
      </p:sp>
      <p:sp>
        <p:nvSpPr>
          <p:cNvPr id="5" name="TextBox 4"/>
          <p:cNvSpPr txBox="1"/>
          <p:nvPr/>
        </p:nvSpPr>
        <p:spPr>
          <a:xfrm>
            <a:off x="3157196" y="1614500"/>
            <a:ext cx="5399367" cy="646331"/>
          </a:xfrm>
          <a:prstGeom prst="rect">
            <a:avLst/>
          </a:prstGeom>
          <a:noFill/>
        </p:spPr>
        <p:txBody>
          <a:bodyPr wrap="square" rtlCol="0">
            <a:spAutoFit/>
          </a:bodyPr>
          <a:lstStyle/>
          <a:p>
            <a:r>
              <a:rPr lang="en-US" dirty="0" smtClean="0"/>
              <a:t>Metal- oxide-semiconductor (MOS) building block </a:t>
            </a:r>
          </a:p>
          <a:p>
            <a:endParaRPr lang="sv-SE" dirty="0"/>
          </a:p>
        </p:txBody>
      </p:sp>
      <p:cxnSp>
        <p:nvCxnSpPr>
          <p:cNvPr id="18" name="Straight Connector 17"/>
          <p:cNvCxnSpPr/>
          <p:nvPr/>
        </p:nvCxnSpPr>
        <p:spPr>
          <a:xfrm flipH="1">
            <a:off x="4136715" y="2922643"/>
            <a:ext cx="2" cy="1825645"/>
          </a:xfrm>
          <a:prstGeom prst="line">
            <a:avLst/>
          </a:prstGeom>
          <a:ln/>
        </p:spPr>
        <p:style>
          <a:lnRef idx="2">
            <a:schemeClr val="dk1"/>
          </a:lnRef>
          <a:fillRef idx="0">
            <a:schemeClr val="dk1"/>
          </a:fillRef>
          <a:effectRef idx="1">
            <a:schemeClr val="dk1"/>
          </a:effectRef>
          <a:fontRef idx="minor">
            <a:schemeClr val="tx1"/>
          </a:fontRef>
        </p:style>
      </p:cxnSp>
      <p:cxnSp>
        <p:nvCxnSpPr>
          <p:cNvPr id="19" name="Straight Connector 18"/>
          <p:cNvCxnSpPr/>
          <p:nvPr/>
        </p:nvCxnSpPr>
        <p:spPr>
          <a:xfrm flipH="1">
            <a:off x="4736302" y="3137861"/>
            <a:ext cx="2" cy="1689802"/>
          </a:xfrm>
          <a:prstGeom prst="line">
            <a:avLst/>
          </a:prstGeom>
          <a:ln/>
        </p:spPr>
        <p:style>
          <a:lnRef idx="2">
            <a:schemeClr val="dk1"/>
          </a:lnRef>
          <a:fillRef idx="0">
            <a:schemeClr val="dk1"/>
          </a:fillRef>
          <a:effectRef idx="1">
            <a:schemeClr val="dk1"/>
          </a:effectRef>
          <a:fontRef idx="minor">
            <a:schemeClr val="tx1"/>
          </a:fontRef>
        </p:style>
      </p:cxnSp>
      <p:cxnSp>
        <p:nvCxnSpPr>
          <p:cNvPr id="20" name="Straight Connector 19"/>
          <p:cNvCxnSpPr/>
          <p:nvPr/>
        </p:nvCxnSpPr>
        <p:spPr>
          <a:xfrm>
            <a:off x="4136715" y="2928891"/>
            <a:ext cx="599589" cy="208970"/>
          </a:xfrm>
          <a:prstGeom prst="line">
            <a:avLst/>
          </a:prstGeom>
          <a:ln/>
        </p:spPr>
        <p:style>
          <a:lnRef idx="2">
            <a:schemeClr val="dk1"/>
          </a:lnRef>
          <a:fillRef idx="0">
            <a:schemeClr val="dk1"/>
          </a:fillRef>
          <a:effectRef idx="1">
            <a:schemeClr val="dk1"/>
          </a:effectRef>
          <a:fontRef idx="minor">
            <a:schemeClr val="tx1"/>
          </a:fontRef>
        </p:style>
      </p:cxnSp>
      <p:sp>
        <p:nvSpPr>
          <p:cNvPr id="31" name="Freeform 30"/>
          <p:cNvSpPr/>
          <p:nvPr/>
        </p:nvSpPr>
        <p:spPr>
          <a:xfrm>
            <a:off x="4734199" y="3420164"/>
            <a:ext cx="936625" cy="323850"/>
          </a:xfrm>
          <a:custGeom>
            <a:avLst/>
            <a:gdLst>
              <a:gd name="connsiteX0" fmla="*/ 0 w 936625"/>
              <a:gd name="connsiteY0" fmla="*/ 0 h 323850"/>
              <a:gd name="connsiteX1" fmla="*/ 190500 w 936625"/>
              <a:gd name="connsiteY1" fmla="*/ 260350 h 323850"/>
              <a:gd name="connsiteX2" fmla="*/ 936625 w 936625"/>
              <a:gd name="connsiteY2" fmla="*/ 323850 h 323850"/>
            </a:gdLst>
            <a:ahLst/>
            <a:cxnLst>
              <a:cxn ang="0">
                <a:pos x="connsiteX0" y="connsiteY0"/>
              </a:cxn>
              <a:cxn ang="0">
                <a:pos x="connsiteX1" y="connsiteY1"/>
              </a:cxn>
              <a:cxn ang="0">
                <a:pos x="connsiteX2" y="connsiteY2"/>
              </a:cxn>
            </a:cxnLst>
            <a:rect l="l" t="t" r="r" b="b"/>
            <a:pathLst>
              <a:path w="936625" h="323850">
                <a:moveTo>
                  <a:pt x="0" y="0"/>
                </a:moveTo>
                <a:cubicBezTo>
                  <a:pt x="17198" y="103187"/>
                  <a:pt x="34396" y="206375"/>
                  <a:pt x="190500" y="260350"/>
                </a:cubicBezTo>
                <a:cubicBezTo>
                  <a:pt x="346604" y="314325"/>
                  <a:pt x="641614" y="319087"/>
                  <a:pt x="936625" y="32385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2" name="Freeform 31"/>
          <p:cNvSpPr/>
          <p:nvPr/>
        </p:nvSpPr>
        <p:spPr>
          <a:xfrm>
            <a:off x="4734198" y="3736296"/>
            <a:ext cx="936625" cy="323850"/>
          </a:xfrm>
          <a:custGeom>
            <a:avLst/>
            <a:gdLst>
              <a:gd name="connsiteX0" fmla="*/ 0 w 936625"/>
              <a:gd name="connsiteY0" fmla="*/ 0 h 323850"/>
              <a:gd name="connsiteX1" fmla="*/ 190500 w 936625"/>
              <a:gd name="connsiteY1" fmla="*/ 260350 h 323850"/>
              <a:gd name="connsiteX2" fmla="*/ 936625 w 936625"/>
              <a:gd name="connsiteY2" fmla="*/ 323850 h 323850"/>
            </a:gdLst>
            <a:ahLst/>
            <a:cxnLst>
              <a:cxn ang="0">
                <a:pos x="connsiteX0" y="connsiteY0"/>
              </a:cxn>
              <a:cxn ang="0">
                <a:pos x="connsiteX1" y="connsiteY1"/>
              </a:cxn>
              <a:cxn ang="0">
                <a:pos x="connsiteX2" y="connsiteY2"/>
              </a:cxn>
            </a:cxnLst>
            <a:rect l="l" t="t" r="r" b="b"/>
            <a:pathLst>
              <a:path w="936625" h="323850">
                <a:moveTo>
                  <a:pt x="0" y="0"/>
                </a:moveTo>
                <a:cubicBezTo>
                  <a:pt x="17198" y="103187"/>
                  <a:pt x="34396" y="206375"/>
                  <a:pt x="190500" y="260350"/>
                </a:cubicBezTo>
                <a:cubicBezTo>
                  <a:pt x="346604" y="314325"/>
                  <a:pt x="641614" y="319087"/>
                  <a:pt x="936625" y="32385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3" name="Freeform 32"/>
          <p:cNvSpPr/>
          <p:nvPr/>
        </p:nvSpPr>
        <p:spPr>
          <a:xfrm>
            <a:off x="4734199" y="4092036"/>
            <a:ext cx="936625" cy="323850"/>
          </a:xfrm>
          <a:custGeom>
            <a:avLst/>
            <a:gdLst>
              <a:gd name="connsiteX0" fmla="*/ 0 w 936625"/>
              <a:gd name="connsiteY0" fmla="*/ 0 h 323850"/>
              <a:gd name="connsiteX1" fmla="*/ 190500 w 936625"/>
              <a:gd name="connsiteY1" fmla="*/ 260350 h 323850"/>
              <a:gd name="connsiteX2" fmla="*/ 936625 w 936625"/>
              <a:gd name="connsiteY2" fmla="*/ 323850 h 323850"/>
            </a:gdLst>
            <a:ahLst/>
            <a:cxnLst>
              <a:cxn ang="0">
                <a:pos x="connsiteX0" y="connsiteY0"/>
              </a:cxn>
              <a:cxn ang="0">
                <a:pos x="connsiteX1" y="connsiteY1"/>
              </a:cxn>
              <a:cxn ang="0">
                <a:pos x="connsiteX2" y="connsiteY2"/>
              </a:cxn>
            </a:cxnLst>
            <a:rect l="l" t="t" r="r" b="b"/>
            <a:pathLst>
              <a:path w="936625" h="323850">
                <a:moveTo>
                  <a:pt x="0" y="0"/>
                </a:moveTo>
                <a:cubicBezTo>
                  <a:pt x="17198" y="103187"/>
                  <a:pt x="34396" y="206375"/>
                  <a:pt x="190500" y="260350"/>
                </a:cubicBezTo>
                <a:cubicBezTo>
                  <a:pt x="346604" y="314325"/>
                  <a:pt x="641614" y="319087"/>
                  <a:pt x="936625" y="32385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4" name="Oval 33"/>
          <p:cNvSpPr/>
          <p:nvPr/>
        </p:nvSpPr>
        <p:spPr>
          <a:xfrm>
            <a:off x="5409954" y="359735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6" name="Oval 35"/>
          <p:cNvSpPr/>
          <p:nvPr/>
        </p:nvSpPr>
        <p:spPr>
          <a:xfrm>
            <a:off x="4767795" y="432063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t>
            </a:r>
            <a:endParaRPr lang="sv-SE" sz="1600" dirty="0"/>
          </a:p>
        </p:txBody>
      </p:sp>
      <p:sp>
        <p:nvSpPr>
          <p:cNvPr id="37" name="Oval 36"/>
          <p:cNvSpPr/>
          <p:nvPr/>
        </p:nvSpPr>
        <p:spPr>
          <a:xfrm>
            <a:off x="5503132" y="3604059"/>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8" name="Oval 37"/>
          <p:cNvSpPr/>
          <p:nvPr/>
        </p:nvSpPr>
        <p:spPr>
          <a:xfrm>
            <a:off x="5219743" y="3597083"/>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9" name="Oval 38"/>
          <p:cNvSpPr/>
          <p:nvPr/>
        </p:nvSpPr>
        <p:spPr>
          <a:xfrm>
            <a:off x="5316776" y="359735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0" name="Oval 39"/>
          <p:cNvSpPr/>
          <p:nvPr/>
        </p:nvSpPr>
        <p:spPr>
          <a:xfrm>
            <a:off x="4767795" y="444571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t>
            </a:r>
            <a:endParaRPr lang="sv-SE" sz="1600" dirty="0"/>
          </a:p>
        </p:txBody>
      </p:sp>
      <p:sp>
        <p:nvSpPr>
          <p:cNvPr id="41" name="Oval 40"/>
          <p:cNvSpPr/>
          <p:nvPr/>
        </p:nvSpPr>
        <p:spPr>
          <a:xfrm>
            <a:off x="4871757" y="439809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t>
            </a:r>
            <a:endParaRPr lang="sv-SE" sz="1600" dirty="0"/>
          </a:p>
        </p:txBody>
      </p:sp>
      <p:sp>
        <p:nvSpPr>
          <p:cNvPr id="42" name="Oval 41"/>
          <p:cNvSpPr/>
          <p:nvPr/>
        </p:nvSpPr>
        <p:spPr>
          <a:xfrm>
            <a:off x="4987403" y="441573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t>
            </a:r>
            <a:endParaRPr lang="sv-SE" sz="1600" dirty="0"/>
          </a:p>
        </p:txBody>
      </p:sp>
      <p:sp>
        <p:nvSpPr>
          <p:cNvPr id="43" name="Oval 42"/>
          <p:cNvSpPr/>
          <p:nvPr/>
        </p:nvSpPr>
        <p:spPr>
          <a:xfrm>
            <a:off x="5109505" y="44279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t>
            </a:r>
            <a:endParaRPr lang="sv-SE" sz="1600" dirty="0"/>
          </a:p>
        </p:txBody>
      </p:sp>
      <p:sp>
        <p:nvSpPr>
          <p:cNvPr id="44" name="Oval 43"/>
          <p:cNvSpPr/>
          <p:nvPr/>
        </p:nvSpPr>
        <p:spPr>
          <a:xfrm>
            <a:off x="5231607" y="44279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t>
            </a:r>
            <a:endParaRPr lang="sv-SE" sz="1600" dirty="0"/>
          </a:p>
        </p:txBody>
      </p:sp>
      <p:sp>
        <p:nvSpPr>
          <p:cNvPr id="45" name="Oval 44"/>
          <p:cNvSpPr/>
          <p:nvPr/>
        </p:nvSpPr>
        <p:spPr>
          <a:xfrm>
            <a:off x="5359135" y="44279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t>
            </a:r>
            <a:endParaRPr lang="sv-SE" sz="1600" dirty="0"/>
          </a:p>
        </p:txBody>
      </p:sp>
      <p:sp>
        <p:nvSpPr>
          <p:cNvPr id="46" name="Oval 45"/>
          <p:cNvSpPr/>
          <p:nvPr/>
        </p:nvSpPr>
        <p:spPr>
          <a:xfrm>
            <a:off x="5483950" y="44315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t>
            </a:r>
            <a:endParaRPr lang="sv-SE" sz="1600" dirty="0"/>
          </a:p>
        </p:txBody>
      </p:sp>
      <p:cxnSp>
        <p:nvCxnSpPr>
          <p:cNvPr id="48" name="Straight Connector 47"/>
          <p:cNvCxnSpPr/>
          <p:nvPr/>
        </p:nvCxnSpPr>
        <p:spPr>
          <a:xfrm flipH="1" flipV="1">
            <a:off x="4737630" y="4064476"/>
            <a:ext cx="1126870" cy="25503"/>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Straight Connector 50"/>
          <p:cNvCxnSpPr/>
          <p:nvPr/>
        </p:nvCxnSpPr>
        <p:spPr>
          <a:xfrm flipH="1" flipV="1">
            <a:off x="3432450" y="4060146"/>
            <a:ext cx="687228" cy="1"/>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3" name="Straight Connector 52"/>
          <p:cNvCxnSpPr/>
          <p:nvPr/>
        </p:nvCxnSpPr>
        <p:spPr>
          <a:xfrm flipH="1" flipV="1">
            <a:off x="3407050" y="3544329"/>
            <a:ext cx="722878" cy="1"/>
          </a:xfrm>
          <a:prstGeom prst="line">
            <a:avLst/>
          </a:prstGeom>
          <a:ln w="9525"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5" name="Rectangle 54"/>
          <p:cNvSpPr/>
          <p:nvPr/>
        </p:nvSpPr>
        <p:spPr>
          <a:xfrm>
            <a:off x="3426729" y="3256555"/>
            <a:ext cx="341760" cy="307777"/>
          </a:xfrm>
          <a:prstGeom prst="rect">
            <a:avLst/>
          </a:prstGeom>
        </p:spPr>
        <p:txBody>
          <a:bodyPr wrap="none">
            <a:spAutoFit/>
          </a:bodyPr>
          <a:lstStyle/>
          <a:p>
            <a:r>
              <a:rPr lang="en-US" sz="1400" dirty="0" err="1" smtClean="0"/>
              <a:t>E</a:t>
            </a:r>
            <a:r>
              <a:rPr lang="en-US" sz="1100" dirty="0" err="1" smtClean="0"/>
              <a:t>f</a:t>
            </a:r>
            <a:endParaRPr lang="sv-SE" sz="1100" dirty="0"/>
          </a:p>
        </p:txBody>
      </p:sp>
      <p:sp>
        <p:nvSpPr>
          <p:cNvPr id="56" name="Rectangle 55"/>
          <p:cNvSpPr/>
          <p:nvPr/>
        </p:nvSpPr>
        <p:spPr>
          <a:xfrm>
            <a:off x="3293311" y="3683740"/>
            <a:ext cx="487634" cy="276999"/>
          </a:xfrm>
          <a:prstGeom prst="rect">
            <a:avLst/>
          </a:prstGeom>
        </p:spPr>
        <p:txBody>
          <a:bodyPr wrap="none">
            <a:spAutoFit/>
          </a:bodyPr>
          <a:lstStyle/>
          <a:p>
            <a:r>
              <a:rPr lang="en-US" sz="1200" dirty="0" smtClean="0"/>
              <a:t>V&lt;0</a:t>
            </a:r>
            <a:endParaRPr lang="sv-SE" sz="1050" dirty="0"/>
          </a:p>
        </p:txBody>
      </p:sp>
      <p:cxnSp>
        <p:nvCxnSpPr>
          <p:cNvPr id="57" name="Straight Connector 56"/>
          <p:cNvCxnSpPr/>
          <p:nvPr/>
        </p:nvCxnSpPr>
        <p:spPr>
          <a:xfrm flipV="1">
            <a:off x="3915844" y="3554828"/>
            <a:ext cx="3831" cy="467108"/>
          </a:xfrm>
          <a:prstGeom prst="line">
            <a:avLst/>
          </a:prstGeom>
          <a:ln>
            <a:tailEnd type="triangle"/>
          </a:ln>
        </p:spPr>
        <p:style>
          <a:lnRef idx="2">
            <a:schemeClr val="dk1"/>
          </a:lnRef>
          <a:fillRef idx="0">
            <a:schemeClr val="dk1"/>
          </a:fillRef>
          <a:effectRef idx="1">
            <a:schemeClr val="dk1"/>
          </a:effectRef>
          <a:fontRef idx="minor">
            <a:schemeClr val="tx1"/>
          </a:fontRef>
        </p:style>
      </p:cxnSp>
      <p:cxnSp>
        <p:nvCxnSpPr>
          <p:cNvPr id="63" name="Straight Connector 62"/>
          <p:cNvCxnSpPr/>
          <p:nvPr/>
        </p:nvCxnSpPr>
        <p:spPr>
          <a:xfrm>
            <a:off x="1431528" y="3121652"/>
            <a:ext cx="5984" cy="1616054"/>
          </a:xfrm>
          <a:prstGeom prst="line">
            <a:avLst/>
          </a:prstGeom>
          <a:ln/>
        </p:spPr>
        <p:style>
          <a:lnRef idx="2">
            <a:schemeClr val="dk1"/>
          </a:lnRef>
          <a:fillRef idx="0">
            <a:schemeClr val="dk1"/>
          </a:fillRef>
          <a:effectRef idx="1">
            <a:schemeClr val="dk1"/>
          </a:effectRef>
          <a:fontRef idx="minor">
            <a:schemeClr val="tx1"/>
          </a:fontRef>
        </p:style>
      </p:cxnSp>
      <p:cxnSp>
        <p:nvCxnSpPr>
          <p:cNvPr id="64" name="Straight Connector 63"/>
          <p:cNvCxnSpPr/>
          <p:nvPr/>
        </p:nvCxnSpPr>
        <p:spPr>
          <a:xfrm flipH="1">
            <a:off x="2037099" y="3127279"/>
            <a:ext cx="2" cy="1689802"/>
          </a:xfrm>
          <a:prstGeom prst="line">
            <a:avLst/>
          </a:prstGeom>
          <a:ln/>
        </p:spPr>
        <p:style>
          <a:lnRef idx="2">
            <a:schemeClr val="dk1"/>
          </a:lnRef>
          <a:fillRef idx="0">
            <a:schemeClr val="dk1"/>
          </a:fillRef>
          <a:effectRef idx="1">
            <a:schemeClr val="dk1"/>
          </a:effectRef>
          <a:fontRef idx="minor">
            <a:schemeClr val="tx1"/>
          </a:fontRef>
        </p:style>
      </p:cxnSp>
      <p:cxnSp>
        <p:nvCxnSpPr>
          <p:cNvPr id="65" name="Straight Connector 64"/>
          <p:cNvCxnSpPr/>
          <p:nvPr/>
        </p:nvCxnSpPr>
        <p:spPr>
          <a:xfrm>
            <a:off x="1437512" y="3121652"/>
            <a:ext cx="599589" cy="5627"/>
          </a:xfrm>
          <a:prstGeom prst="line">
            <a:avLst/>
          </a:prstGeom>
          <a:ln/>
        </p:spPr>
        <p:style>
          <a:lnRef idx="2">
            <a:schemeClr val="dk1"/>
          </a:lnRef>
          <a:fillRef idx="0">
            <a:schemeClr val="dk1"/>
          </a:fillRef>
          <a:effectRef idx="1">
            <a:schemeClr val="dk1"/>
          </a:effectRef>
          <a:fontRef idx="minor">
            <a:schemeClr val="tx1"/>
          </a:fontRef>
        </p:style>
      </p:cxnSp>
      <p:sp>
        <p:nvSpPr>
          <p:cNvPr id="69" name="Oval 68"/>
          <p:cNvSpPr/>
          <p:nvPr/>
        </p:nvSpPr>
        <p:spPr>
          <a:xfrm>
            <a:off x="2508990" y="350119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2" name="Oval 71"/>
          <p:cNvSpPr/>
          <p:nvPr/>
        </p:nvSpPr>
        <p:spPr>
          <a:xfrm>
            <a:off x="2318779" y="3500919"/>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3" name="Oval 72"/>
          <p:cNvSpPr/>
          <p:nvPr/>
        </p:nvSpPr>
        <p:spPr>
          <a:xfrm>
            <a:off x="2415812" y="350119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6" name="Oval 75"/>
          <p:cNvSpPr/>
          <p:nvPr/>
        </p:nvSpPr>
        <p:spPr>
          <a:xfrm>
            <a:off x="2155178" y="440017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t>
            </a:r>
            <a:endParaRPr lang="sv-SE" sz="1600" dirty="0"/>
          </a:p>
        </p:txBody>
      </p:sp>
      <p:sp>
        <p:nvSpPr>
          <p:cNvPr id="77" name="Oval 76"/>
          <p:cNvSpPr/>
          <p:nvPr/>
        </p:nvSpPr>
        <p:spPr>
          <a:xfrm>
            <a:off x="2277280" y="441241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t>
            </a:r>
            <a:endParaRPr lang="sv-SE" sz="1600" dirty="0"/>
          </a:p>
        </p:txBody>
      </p:sp>
      <p:sp>
        <p:nvSpPr>
          <p:cNvPr id="78" name="Oval 77"/>
          <p:cNvSpPr/>
          <p:nvPr/>
        </p:nvSpPr>
        <p:spPr>
          <a:xfrm>
            <a:off x="2399382" y="441241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t>
            </a:r>
            <a:endParaRPr lang="sv-SE" sz="1600" dirty="0"/>
          </a:p>
        </p:txBody>
      </p:sp>
      <p:sp>
        <p:nvSpPr>
          <p:cNvPr id="79" name="Oval 78"/>
          <p:cNvSpPr/>
          <p:nvPr/>
        </p:nvSpPr>
        <p:spPr>
          <a:xfrm>
            <a:off x="2526910" y="441241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t>
            </a:r>
            <a:endParaRPr lang="sv-SE" sz="1600" dirty="0"/>
          </a:p>
        </p:txBody>
      </p:sp>
      <p:sp>
        <p:nvSpPr>
          <p:cNvPr id="80" name="Oval 79"/>
          <p:cNvSpPr/>
          <p:nvPr/>
        </p:nvSpPr>
        <p:spPr>
          <a:xfrm>
            <a:off x="2651725" y="441594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t>
            </a:r>
            <a:endParaRPr lang="sv-SE" sz="1600" dirty="0"/>
          </a:p>
        </p:txBody>
      </p:sp>
      <p:cxnSp>
        <p:nvCxnSpPr>
          <p:cNvPr id="81" name="Straight Connector 80"/>
          <p:cNvCxnSpPr/>
          <p:nvPr/>
        </p:nvCxnSpPr>
        <p:spPr>
          <a:xfrm flipH="1" flipV="1">
            <a:off x="2038427" y="4053895"/>
            <a:ext cx="1088266" cy="6995"/>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3" name="Straight Connector 82"/>
          <p:cNvCxnSpPr/>
          <p:nvPr/>
        </p:nvCxnSpPr>
        <p:spPr>
          <a:xfrm flipH="1" flipV="1">
            <a:off x="706116" y="4046068"/>
            <a:ext cx="722878" cy="1"/>
          </a:xfrm>
          <a:prstGeom prst="line">
            <a:avLst/>
          </a:prstGeom>
          <a:ln w="9525"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4" name="Rectangle 83"/>
          <p:cNvSpPr/>
          <p:nvPr/>
        </p:nvSpPr>
        <p:spPr>
          <a:xfrm>
            <a:off x="415618" y="3870488"/>
            <a:ext cx="341760" cy="307777"/>
          </a:xfrm>
          <a:prstGeom prst="rect">
            <a:avLst/>
          </a:prstGeom>
        </p:spPr>
        <p:txBody>
          <a:bodyPr wrap="none">
            <a:spAutoFit/>
          </a:bodyPr>
          <a:lstStyle/>
          <a:p>
            <a:r>
              <a:rPr lang="en-US" sz="1400" dirty="0" err="1" smtClean="0"/>
              <a:t>E</a:t>
            </a:r>
            <a:r>
              <a:rPr lang="en-US" sz="1100" dirty="0" err="1" smtClean="0"/>
              <a:t>f</a:t>
            </a:r>
            <a:endParaRPr lang="sv-SE" sz="1100" dirty="0"/>
          </a:p>
        </p:txBody>
      </p:sp>
      <p:cxnSp>
        <p:nvCxnSpPr>
          <p:cNvPr id="86" name="Straight Connector 85"/>
          <p:cNvCxnSpPr/>
          <p:nvPr/>
        </p:nvCxnSpPr>
        <p:spPr>
          <a:xfrm flipV="1">
            <a:off x="1216641" y="2834905"/>
            <a:ext cx="6081" cy="1176449"/>
          </a:xfrm>
          <a:prstGeom prst="line">
            <a:avLst/>
          </a:prstGeom>
          <a:ln>
            <a:tailEnd type="triangle"/>
          </a:ln>
        </p:spPr>
        <p:style>
          <a:lnRef idx="2">
            <a:schemeClr val="dk1"/>
          </a:lnRef>
          <a:fillRef idx="0">
            <a:schemeClr val="dk1"/>
          </a:fillRef>
          <a:effectRef idx="1">
            <a:schemeClr val="dk1"/>
          </a:effectRef>
          <a:fontRef idx="minor">
            <a:schemeClr val="tx1"/>
          </a:fontRef>
        </p:style>
      </p:cxnSp>
      <p:cxnSp>
        <p:nvCxnSpPr>
          <p:cNvPr id="89" name="Straight Connector 88"/>
          <p:cNvCxnSpPr/>
          <p:nvPr/>
        </p:nvCxnSpPr>
        <p:spPr>
          <a:xfrm>
            <a:off x="2045442" y="3654979"/>
            <a:ext cx="599589" cy="5627"/>
          </a:xfrm>
          <a:prstGeom prst="line">
            <a:avLst/>
          </a:prstGeom>
          <a:ln/>
        </p:spPr>
        <p:style>
          <a:lnRef idx="2">
            <a:schemeClr val="dk1"/>
          </a:lnRef>
          <a:fillRef idx="0">
            <a:schemeClr val="dk1"/>
          </a:fillRef>
          <a:effectRef idx="1">
            <a:schemeClr val="dk1"/>
          </a:effectRef>
          <a:fontRef idx="minor">
            <a:schemeClr val="tx1"/>
          </a:fontRef>
        </p:style>
      </p:cxnSp>
      <p:cxnSp>
        <p:nvCxnSpPr>
          <p:cNvPr id="91" name="Straight Connector 90"/>
          <p:cNvCxnSpPr/>
          <p:nvPr/>
        </p:nvCxnSpPr>
        <p:spPr>
          <a:xfrm>
            <a:off x="2043888" y="4325586"/>
            <a:ext cx="599589" cy="5627"/>
          </a:xfrm>
          <a:prstGeom prst="line">
            <a:avLst/>
          </a:prstGeom>
          <a:ln/>
        </p:spPr>
        <p:style>
          <a:lnRef idx="2">
            <a:schemeClr val="dk1"/>
          </a:lnRef>
          <a:fillRef idx="0">
            <a:schemeClr val="dk1"/>
          </a:fillRef>
          <a:effectRef idx="1">
            <a:schemeClr val="dk1"/>
          </a:effectRef>
          <a:fontRef idx="minor">
            <a:schemeClr val="tx1"/>
          </a:fontRef>
        </p:style>
      </p:cxnSp>
      <p:cxnSp>
        <p:nvCxnSpPr>
          <p:cNvPr id="92" name="Straight Connector 91"/>
          <p:cNvCxnSpPr/>
          <p:nvPr/>
        </p:nvCxnSpPr>
        <p:spPr>
          <a:xfrm>
            <a:off x="2043888" y="3944012"/>
            <a:ext cx="599589" cy="5627"/>
          </a:xfrm>
          <a:prstGeom prst="line">
            <a:avLst/>
          </a:prstGeom>
          <a:ln/>
        </p:spPr>
        <p:style>
          <a:lnRef idx="2">
            <a:schemeClr val="dk1"/>
          </a:lnRef>
          <a:fillRef idx="0">
            <a:schemeClr val="dk1"/>
          </a:fillRef>
          <a:effectRef idx="1">
            <a:schemeClr val="dk1"/>
          </a:effectRef>
          <a:fontRef idx="minor">
            <a:schemeClr val="tx1"/>
          </a:fontRef>
        </p:style>
      </p:cxnSp>
      <p:sp>
        <p:nvSpPr>
          <p:cNvPr id="93" name="Rectangle 92"/>
          <p:cNvSpPr/>
          <p:nvPr/>
        </p:nvSpPr>
        <p:spPr>
          <a:xfrm>
            <a:off x="2562702" y="3484322"/>
            <a:ext cx="367408" cy="307777"/>
          </a:xfrm>
          <a:prstGeom prst="rect">
            <a:avLst/>
          </a:prstGeom>
        </p:spPr>
        <p:txBody>
          <a:bodyPr wrap="none">
            <a:spAutoFit/>
          </a:bodyPr>
          <a:lstStyle/>
          <a:p>
            <a:r>
              <a:rPr lang="en-US" sz="1400" dirty="0" err="1" smtClean="0"/>
              <a:t>E</a:t>
            </a:r>
            <a:r>
              <a:rPr lang="en-US" sz="1100" dirty="0" err="1" smtClean="0"/>
              <a:t>c</a:t>
            </a:r>
            <a:endParaRPr lang="sv-SE" sz="1100" dirty="0"/>
          </a:p>
        </p:txBody>
      </p:sp>
      <p:sp>
        <p:nvSpPr>
          <p:cNvPr id="94" name="Rectangle 93"/>
          <p:cNvSpPr/>
          <p:nvPr/>
        </p:nvSpPr>
        <p:spPr>
          <a:xfrm>
            <a:off x="2596198" y="3767097"/>
            <a:ext cx="322524" cy="307777"/>
          </a:xfrm>
          <a:prstGeom prst="rect">
            <a:avLst/>
          </a:prstGeom>
        </p:spPr>
        <p:txBody>
          <a:bodyPr wrap="none">
            <a:spAutoFit/>
          </a:bodyPr>
          <a:lstStyle/>
          <a:p>
            <a:r>
              <a:rPr lang="en-US" sz="1400" dirty="0" err="1" smtClean="0"/>
              <a:t>E</a:t>
            </a:r>
            <a:r>
              <a:rPr lang="en-US" sz="1100" dirty="0" err="1" smtClean="0"/>
              <a:t>i</a:t>
            </a:r>
            <a:endParaRPr lang="sv-SE" sz="1100" dirty="0"/>
          </a:p>
        </p:txBody>
      </p:sp>
      <p:sp>
        <p:nvSpPr>
          <p:cNvPr id="95" name="Rectangle 94"/>
          <p:cNvSpPr/>
          <p:nvPr/>
        </p:nvSpPr>
        <p:spPr>
          <a:xfrm>
            <a:off x="2607586" y="4167287"/>
            <a:ext cx="341760" cy="307777"/>
          </a:xfrm>
          <a:prstGeom prst="rect">
            <a:avLst/>
          </a:prstGeom>
        </p:spPr>
        <p:txBody>
          <a:bodyPr wrap="none">
            <a:spAutoFit/>
          </a:bodyPr>
          <a:lstStyle/>
          <a:p>
            <a:r>
              <a:rPr lang="en-US" sz="1400" dirty="0" err="1" smtClean="0"/>
              <a:t>E</a:t>
            </a:r>
            <a:r>
              <a:rPr lang="en-US" sz="1100" dirty="0" err="1"/>
              <a:t>f</a:t>
            </a:r>
            <a:endParaRPr lang="sv-SE" sz="1100" dirty="0"/>
          </a:p>
        </p:txBody>
      </p:sp>
      <p:cxnSp>
        <p:nvCxnSpPr>
          <p:cNvPr id="96" name="Straight Connector 95"/>
          <p:cNvCxnSpPr/>
          <p:nvPr/>
        </p:nvCxnSpPr>
        <p:spPr>
          <a:xfrm>
            <a:off x="468776" y="2805003"/>
            <a:ext cx="2138810" cy="18811"/>
          </a:xfrm>
          <a:prstGeom prst="line">
            <a:avLst/>
          </a:prstGeom>
          <a:ln/>
        </p:spPr>
        <p:style>
          <a:lnRef idx="2">
            <a:schemeClr val="dk1"/>
          </a:lnRef>
          <a:fillRef idx="0">
            <a:schemeClr val="dk1"/>
          </a:fillRef>
          <a:effectRef idx="1">
            <a:schemeClr val="dk1"/>
          </a:effectRef>
          <a:fontRef idx="minor">
            <a:schemeClr val="tx1"/>
          </a:fontRef>
        </p:style>
      </p:cxnSp>
      <p:sp>
        <p:nvSpPr>
          <p:cNvPr id="102" name="Rectangle 101"/>
          <p:cNvSpPr/>
          <p:nvPr/>
        </p:nvSpPr>
        <p:spPr>
          <a:xfrm>
            <a:off x="721616" y="3212385"/>
            <a:ext cx="566181" cy="338554"/>
          </a:xfrm>
          <a:prstGeom prst="rect">
            <a:avLst/>
          </a:prstGeom>
        </p:spPr>
        <p:txBody>
          <a:bodyPr wrap="none">
            <a:spAutoFit/>
          </a:bodyPr>
          <a:lstStyle/>
          <a:p>
            <a:r>
              <a:rPr lang="en-US" sz="1600" dirty="0" smtClean="0"/>
              <a:t>q</a:t>
            </a:r>
            <a:r>
              <a:rPr lang="el-GR" sz="1600" dirty="0" smtClean="0"/>
              <a:t>φ</a:t>
            </a:r>
            <a:r>
              <a:rPr lang="en-US" sz="1000" dirty="0" smtClean="0"/>
              <a:t>m</a:t>
            </a:r>
            <a:endParaRPr lang="sv-SE" sz="800" dirty="0"/>
          </a:p>
        </p:txBody>
      </p:sp>
      <p:cxnSp>
        <p:nvCxnSpPr>
          <p:cNvPr id="103" name="Straight Connector 102"/>
          <p:cNvCxnSpPr/>
          <p:nvPr/>
        </p:nvCxnSpPr>
        <p:spPr>
          <a:xfrm flipH="1">
            <a:off x="6954730" y="2916395"/>
            <a:ext cx="2" cy="1825645"/>
          </a:xfrm>
          <a:prstGeom prst="line">
            <a:avLst/>
          </a:prstGeom>
          <a:ln/>
        </p:spPr>
        <p:style>
          <a:lnRef idx="2">
            <a:schemeClr val="dk1"/>
          </a:lnRef>
          <a:fillRef idx="0">
            <a:schemeClr val="dk1"/>
          </a:fillRef>
          <a:effectRef idx="1">
            <a:schemeClr val="dk1"/>
          </a:effectRef>
          <a:fontRef idx="minor">
            <a:schemeClr val="tx1"/>
          </a:fontRef>
        </p:style>
      </p:cxnSp>
      <p:cxnSp>
        <p:nvCxnSpPr>
          <p:cNvPr id="104" name="Straight Connector 103"/>
          <p:cNvCxnSpPr/>
          <p:nvPr/>
        </p:nvCxnSpPr>
        <p:spPr>
          <a:xfrm>
            <a:off x="7537278" y="2778287"/>
            <a:ext cx="17039" cy="2043128"/>
          </a:xfrm>
          <a:prstGeom prst="line">
            <a:avLst/>
          </a:prstGeom>
          <a:ln/>
        </p:spPr>
        <p:style>
          <a:lnRef idx="2">
            <a:schemeClr val="dk1"/>
          </a:lnRef>
          <a:fillRef idx="0">
            <a:schemeClr val="dk1"/>
          </a:fillRef>
          <a:effectRef idx="1">
            <a:schemeClr val="dk1"/>
          </a:effectRef>
          <a:fontRef idx="minor">
            <a:schemeClr val="tx1"/>
          </a:fontRef>
        </p:style>
      </p:cxnSp>
      <p:cxnSp>
        <p:nvCxnSpPr>
          <p:cNvPr id="105" name="Straight Connector 104"/>
          <p:cNvCxnSpPr/>
          <p:nvPr/>
        </p:nvCxnSpPr>
        <p:spPr>
          <a:xfrm flipV="1">
            <a:off x="6954730" y="2790786"/>
            <a:ext cx="576318" cy="131857"/>
          </a:xfrm>
          <a:prstGeom prst="line">
            <a:avLst/>
          </a:prstGeom>
          <a:ln/>
        </p:spPr>
        <p:style>
          <a:lnRef idx="2">
            <a:schemeClr val="dk1"/>
          </a:lnRef>
          <a:fillRef idx="0">
            <a:schemeClr val="dk1"/>
          </a:fillRef>
          <a:effectRef idx="1">
            <a:schemeClr val="dk1"/>
          </a:effectRef>
          <a:fontRef idx="minor">
            <a:schemeClr val="tx1"/>
          </a:fontRef>
        </p:style>
      </p:cxnSp>
      <p:sp>
        <p:nvSpPr>
          <p:cNvPr id="109" name="Oval 108"/>
          <p:cNvSpPr/>
          <p:nvPr/>
        </p:nvSpPr>
        <p:spPr>
          <a:xfrm>
            <a:off x="7766520" y="3280996"/>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111" name="Oval 110"/>
          <p:cNvSpPr/>
          <p:nvPr/>
        </p:nvSpPr>
        <p:spPr>
          <a:xfrm>
            <a:off x="7859698" y="3287701"/>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112" name="Oval 111"/>
          <p:cNvSpPr/>
          <p:nvPr/>
        </p:nvSpPr>
        <p:spPr>
          <a:xfrm>
            <a:off x="7571204" y="333431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113" name="Oval 112"/>
          <p:cNvSpPr/>
          <p:nvPr/>
        </p:nvSpPr>
        <p:spPr>
          <a:xfrm>
            <a:off x="7673342" y="3280996"/>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116" name="Oval 115"/>
          <p:cNvSpPr/>
          <p:nvPr/>
        </p:nvSpPr>
        <p:spPr>
          <a:xfrm>
            <a:off x="7813926" y="4196995"/>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17" name="Oval 116"/>
          <p:cNvSpPr/>
          <p:nvPr/>
        </p:nvSpPr>
        <p:spPr>
          <a:xfrm>
            <a:off x="7936028" y="4209231"/>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18" name="Oval 117"/>
          <p:cNvSpPr/>
          <p:nvPr/>
        </p:nvSpPr>
        <p:spPr>
          <a:xfrm>
            <a:off x="8058130" y="4209231"/>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19" name="Oval 118"/>
          <p:cNvSpPr/>
          <p:nvPr/>
        </p:nvSpPr>
        <p:spPr>
          <a:xfrm>
            <a:off x="8185658" y="4209231"/>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20" name="Oval 119"/>
          <p:cNvSpPr/>
          <p:nvPr/>
        </p:nvSpPr>
        <p:spPr>
          <a:xfrm>
            <a:off x="8310473" y="4212765"/>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cxnSp>
        <p:nvCxnSpPr>
          <p:cNvPr id="121" name="Straight Connector 120"/>
          <p:cNvCxnSpPr/>
          <p:nvPr/>
        </p:nvCxnSpPr>
        <p:spPr>
          <a:xfrm flipH="1" flipV="1">
            <a:off x="7555645" y="4058228"/>
            <a:ext cx="1126870" cy="25503"/>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2" name="Straight Connector 121"/>
          <p:cNvCxnSpPr/>
          <p:nvPr/>
        </p:nvCxnSpPr>
        <p:spPr>
          <a:xfrm flipH="1" flipV="1">
            <a:off x="6250465" y="4053898"/>
            <a:ext cx="687228" cy="1"/>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3" name="Straight Connector 122"/>
          <p:cNvCxnSpPr/>
          <p:nvPr/>
        </p:nvCxnSpPr>
        <p:spPr>
          <a:xfrm flipH="1" flipV="1">
            <a:off x="6169156" y="4628401"/>
            <a:ext cx="722878" cy="1"/>
          </a:xfrm>
          <a:prstGeom prst="line">
            <a:avLst/>
          </a:prstGeom>
          <a:ln w="9525"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4" name="Rectangle 123"/>
          <p:cNvSpPr/>
          <p:nvPr/>
        </p:nvSpPr>
        <p:spPr>
          <a:xfrm>
            <a:off x="6130739" y="4318994"/>
            <a:ext cx="324128" cy="276999"/>
          </a:xfrm>
          <a:prstGeom prst="rect">
            <a:avLst/>
          </a:prstGeom>
        </p:spPr>
        <p:txBody>
          <a:bodyPr wrap="none">
            <a:spAutoFit/>
          </a:bodyPr>
          <a:lstStyle/>
          <a:p>
            <a:r>
              <a:rPr lang="en-US" sz="1200" dirty="0" err="1" smtClean="0"/>
              <a:t>E</a:t>
            </a:r>
            <a:r>
              <a:rPr lang="en-US" sz="1050" dirty="0" err="1" smtClean="0"/>
              <a:t>f</a:t>
            </a:r>
            <a:endParaRPr lang="sv-SE" sz="1050" dirty="0"/>
          </a:p>
        </p:txBody>
      </p:sp>
      <p:sp>
        <p:nvSpPr>
          <p:cNvPr id="125" name="Rectangle 124"/>
          <p:cNvSpPr/>
          <p:nvPr/>
        </p:nvSpPr>
        <p:spPr>
          <a:xfrm>
            <a:off x="6272715" y="4156793"/>
            <a:ext cx="487634" cy="276999"/>
          </a:xfrm>
          <a:prstGeom prst="rect">
            <a:avLst/>
          </a:prstGeom>
        </p:spPr>
        <p:txBody>
          <a:bodyPr wrap="none">
            <a:spAutoFit/>
          </a:bodyPr>
          <a:lstStyle/>
          <a:p>
            <a:r>
              <a:rPr lang="en-US" sz="1200" dirty="0" smtClean="0"/>
              <a:t>V&gt;0</a:t>
            </a:r>
            <a:endParaRPr lang="sv-SE" sz="1050" dirty="0"/>
          </a:p>
        </p:txBody>
      </p:sp>
      <p:cxnSp>
        <p:nvCxnSpPr>
          <p:cNvPr id="126" name="Straight Connector 125"/>
          <p:cNvCxnSpPr/>
          <p:nvPr/>
        </p:nvCxnSpPr>
        <p:spPr>
          <a:xfrm>
            <a:off x="6733521" y="4061575"/>
            <a:ext cx="1601" cy="473146"/>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129" name="Freeform 128"/>
          <p:cNvSpPr/>
          <p:nvPr/>
        </p:nvSpPr>
        <p:spPr>
          <a:xfrm>
            <a:off x="7538832" y="3406660"/>
            <a:ext cx="898917" cy="298252"/>
          </a:xfrm>
          <a:custGeom>
            <a:avLst/>
            <a:gdLst>
              <a:gd name="connsiteX0" fmla="*/ 3567 w 898917"/>
              <a:gd name="connsiteY0" fmla="*/ 298252 h 298252"/>
              <a:gd name="connsiteX1" fmla="*/ 136917 w 898917"/>
              <a:gd name="connsiteY1" fmla="*/ 26790 h 298252"/>
              <a:gd name="connsiteX2" fmla="*/ 898917 w 898917"/>
              <a:gd name="connsiteY2" fmla="*/ 2977 h 298252"/>
            </a:gdLst>
            <a:ahLst/>
            <a:cxnLst>
              <a:cxn ang="0">
                <a:pos x="connsiteX0" y="connsiteY0"/>
              </a:cxn>
              <a:cxn ang="0">
                <a:pos x="connsiteX1" y="connsiteY1"/>
              </a:cxn>
              <a:cxn ang="0">
                <a:pos x="connsiteX2" y="connsiteY2"/>
              </a:cxn>
            </a:cxnLst>
            <a:rect l="l" t="t" r="r" b="b"/>
            <a:pathLst>
              <a:path w="898917" h="298252">
                <a:moveTo>
                  <a:pt x="3567" y="298252"/>
                </a:moveTo>
                <a:cubicBezTo>
                  <a:pt x="-4371" y="187127"/>
                  <a:pt x="-12308" y="76002"/>
                  <a:pt x="136917" y="26790"/>
                </a:cubicBezTo>
                <a:cubicBezTo>
                  <a:pt x="286142" y="-22423"/>
                  <a:pt x="740167" y="13296"/>
                  <a:pt x="898917" y="2977"/>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0" name="Freeform 129"/>
          <p:cNvSpPr/>
          <p:nvPr/>
        </p:nvSpPr>
        <p:spPr>
          <a:xfrm>
            <a:off x="7554317" y="3840690"/>
            <a:ext cx="898917" cy="298252"/>
          </a:xfrm>
          <a:custGeom>
            <a:avLst/>
            <a:gdLst>
              <a:gd name="connsiteX0" fmla="*/ 3567 w 898917"/>
              <a:gd name="connsiteY0" fmla="*/ 298252 h 298252"/>
              <a:gd name="connsiteX1" fmla="*/ 136917 w 898917"/>
              <a:gd name="connsiteY1" fmla="*/ 26790 h 298252"/>
              <a:gd name="connsiteX2" fmla="*/ 898917 w 898917"/>
              <a:gd name="connsiteY2" fmla="*/ 2977 h 298252"/>
            </a:gdLst>
            <a:ahLst/>
            <a:cxnLst>
              <a:cxn ang="0">
                <a:pos x="connsiteX0" y="connsiteY0"/>
              </a:cxn>
              <a:cxn ang="0">
                <a:pos x="connsiteX1" y="connsiteY1"/>
              </a:cxn>
              <a:cxn ang="0">
                <a:pos x="connsiteX2" y="connsiteY2"/>
              </a:cxn>
            </a:cxnLst>
            <a:rect l="l" t="t" r="r" b="b"/>
            <a:pathLst>
              <a:path w="898917" h="298252">
                <a:moveTo>
                  <a:pt x="3567" y="298252"/>
                </a:moveTo>
                <a:cubicBezTo>
                  <a:pt x="-4371" y="187127"/>
                  <a:pt x="-12308" y="76002"/>
                  <a:pt x="136917" y="26790"/>
                </a:cubicBezTo>
                <a:cubicBezTo>
                  <a:pt x="286142" y="-22423"/>
                  <a:pt x="740167" y="13296"/>
                  <a:pt x="898917" y="2977"/>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5" name="Freeform 134"/>
          <p:cNvSpPr/>
          <p:nvPr/>
        </p:nvSpPr>
        <p:spPr>
          <a:xfrm>
            <a:off x="7561675" y="4138942"/>
            <a:ext cx="898917" cy="298252"/>
          </a:xfrm>
          <a:custGeom>
            <a:avLst/>
            <a:gdLst>
              <a:gd name="connsiteX0" fmla="*/ 3567 w 898917"/>
              <a:gd name="connsiteY0" fmla="*/ 298252 h 298252"/>
              <a:gd name="connsiteX1" fmla="*/ 136917 w 898917"/>
              <a:gd name="connsiteY1" fmla="*/ 26790 h 298252"/>
              <a:gd name="connsiteX2" fmla="*/ 898917 w 898917"/>
              <a:gd name="connsiteY2" fmla="*/ 2977 h 298252"/>
            </a:gdLst>
            <a:ahLst/>
            <a:cxnLst>
              <a:cxn ang="0">
                <a:pos x="connsiteX0" y="connsiteY0"/>
              </a:cxn>
              <a:cxn ang="0">
                <a:pos x="connsiteX1" y="connsiteY1"/>
              </a:cxn>
              <a:cxn ang="0">
                <a:pos x="connsiteX2" y="connsiteY2"/>
              </a:cxn>
            </a:cxnLst>
            <a:rect l="l" t="t" r="r" b="b"/>
            <a:pathLst>
              <a:path w="898917" h="298252">
                <a:moveTo>
                  <a:pt x="3567" y="298252"/>
                </a:moveTo>
                <a:cubicBezTo>
                  <a:pt x="-4371" y="187127"/>
                  <a:pt x="-12308" y="76002"/>
                  <a:pt x="136917" y="26790"/>
                </a:cubicBezTo>
                <a:cubicBezTo>
                  <a:pt x="286142" y="-22423"/>
                  <a:pt x="740167" y="13296"/>
                  <a:pt x="898917" y="2977"/>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36" name="Straight Connector 135"/>
          <p:cNvCxnSpPr/>
          <p:nvPr/>
        </p:nvCxnSpPr>
        <p:spPr>
          <a:xfrm>
            <a:off x="9785922" y="2828657"/>
            <a:ext cx="17888" cy="2073062"/>
          </a:xfrm>
          <a:prstGeom prst="line">
            <a:avLst/>
          </a:prstGeom>
          <a:ln/>
        </p:spPr>
        <p:style>
          <a:lnRef idx="2">
            <a:schemeClr val="dk1"/>
          </a:lnRef>
          <a:fillRef idx="0">
            <a:schemeClr val="dk1"/>
          </a:fillRef>
          <a:effectRef idx="1">
            <a:schemeClr val="dk1"/>
          </a:effectRef>
          <a:fontRef idx="minor">
            <a:schemeClr val="tx1"/>
          </a:fontRef>
        </p:style>
      </p:cxnSp>
      <p:cxnSp>
        <p:nvCxnSpPr>
          <p:cNvPr id="137" name="Straight Connector 136"/>
          <p:cNvCxnSpPr/>
          <p:nvPr/>
        </p:nvCxnSpPr>
        <p:spPr>
          <a:xfrm>
            <a:off x="10372484" y="2591827"/>
            <a:ext cx="489" cy="2309892"/>
          </a:xfrm>
          <a:prstGeom prst="line">
            <a:avLst/>
          </a:prstGeom>
          <a:ln/>
        </p:spPr>
        <p:style>
          <a:lnRef idx="2">
            <a:schemeClr val="dk1"/>
          </a:lnRef>
          <a:fillRef idx="0">
            <a:schemeClr val="dk1"/>
          </a:fillRef>
          <a:effectRef idx="1">
            <a:schemeClr val="dk1"/>
          </a:effectRef>
          <a:fontRef idx="minor">
            <a:schemeClr val="tx1"/>
          </a:fontRef>
        </p:style>
      </p:cxnSp>
      <p:cxnSp>
        <p:nvCxnSpPr>
          <p:cNvPr id="138" name="Straight Connector 137"/>
          <p:cNvCxnSpPr/>
          <p:nvPr/>
        </p:nvCxnSpPr>
        <p:spPr>
          <a:xfrm flipV="1">
            <a:off x="9785920" y="2591827"/>
            <a:ext cx="600915" cy="243080"/>
          </a:xfrm>
          <a:prstGeom prst="line">
            <a:avLst/>
          </a:prstGeom>
          <a:ln/>
        </p:spPr>
        <p:style>
          <a:lnRef idx="2">
            <a:schemeClr val="dk1"/>
          </a:lnRef>
          <a:fillRef idx="0">
            <a:schemeClr val="dk1"/>
          </a:fillRef>
          <a:effectRef idx="1">
            <a:schemeClr val="dk1"/>
          </a:effectRef>
          <a:fontRef idx="minor">
            <a:schemeClr val="tx1"/>
          </a:fontRef>
        </p:style>
      </p:cxnSp>
      <p:sp>
        <p:nvSpPr>
          <p:cNvPr id="139" name="Oval 138"/>
          <p:cNvSpPr/>
          <p:nvPr/>
        </p:nvSpPr>
        <p:spPr>
          <a:xfrm>
            <a:off x="10595903" y="33249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140" name="Oval 139"/>
          <p:cNvSpPr/>
          <p:nvPr/>
        </p:nvSpPr>
        <p:spPr>
          <a:xfrm>
            <a:off x="10703074" y="3306739"/>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141" name="Oval 140"/>
          <p:cNvSpPr/>
          <p:nvPr/>
        </p:nvSpPr>
        <p:spPr>
          <a:xfrm>
            <a:off x="10400587" y="3378228"/>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142" name="Oval 141"/>
          <p:cNvSpPr/>
          <p:nvPr/>
        </p:nvSpPr>
        <p:spPr>
          <a:xfrm>
            <a:off x="10496151" y="3357981"/>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145" name="Oval 144"/>
          <p:cNvSpPr/>
          <p:nvPr/>
        </p:nvSpPr>
        <p:spPr>
          <a:xfrm>
            <a:off x="11044178" y="423086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46" name="Oval 145"/>
          <p:cNvSpPr/>
          <p:nvPr/>
        </p:nvSpPr>
        <p:spPr>
          <a:xfrm>
            <a:off x="11171706" y="423086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47" name="Oval 146"/>
          <p:cNvSpPr/>
          <p:nvPr/>
        </p:nvSpPr>
        <p:spPr>
          <a:xfrm>
            <a:off x="11296521" y="4234403"/>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cxnSp>
        <p:nvCxnSpPr>
          <p:cNvPr id="148" name="Straight Connector 147"/>
          <p:cNvCxnSpPr/>
          <p:nvPr/>
        </p:nvCxnSpPr>
        <p:spPr>
          <a:xfrm flipH="1" flipV="1">
            <a:off x="10386835" y="3972180"/>
            <a:ext cx="1126870" cy="23814"/>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9" name="Straight Connector 148"/>
          <p:cNvCxnSpPr/>
          <p:nvPr/>
        </p:nvCxnSpPr>
        <p:spPr>
          <a:xfrm flipH="1" flipV="1">
            <a:off x="9081655" y="3966160"/>
            <a:ext cx="687228" cy="1"/>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0" name="Straight Connector 149"/>
          <p:cNvCxnSpPr/>
          <p:nvPr/>
        </p:nvCxnSpPr>
        <p:spPr>
          <a:xfrm flipH="1" flipV="1">
            <a:off x="8986283" y="4861411"/>
            <a:ext cx="722878" cy="1"/>
          </a:xfrm>
          <a:prstGeom prst="line">
            <a:avLst/>
          </a:prstGeom>
          <a:ln w="9525"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1" name="Rectangle 150"/>
          <p:cNvSpPr/>
          <p:nvPr/>
        </p:nvSpPr>
        <p:spPr>
          <a:xfrm>
            <a:off x="8940962" y="4506494"/>
            <a:ext cx="324128" cy="276999"/>
          </a:xfrm>
          <a:prstGeom prst="rect">
            <a:avLst/>
          </a:prstGeom>
        </p:spPr>
        <p:txBody>
          <a:bodyPr wrap="none">
            <a:spAutoFit/>
          </a:bodyPr>
          <a:lstStyle/>
          <a:p>
            <a:r>
              <a:rPr lang="en-US" sz="1200" dirty="0" err="1" smtClean="0"/>
              <a:t>E</a:t>
            </a:r>
            <a:r>
              <a:rPr lang="en-US" sz="1050" dirty="0" err="1" smtClean="0"/>
              <a:t>f</a:t>
            </a:r>
            <a:endParaRPr lang="sv-SE" sz="1050" dirty="0"/>
          </a:p>
        </p:txBody>
      </p:sp>
      <p:sp>
        <p:nvSpPr>
          <p:cNvPr id="152" name="Rectangle 151"/>
          <p:cNvSpPr/>
          <p:nvPr/>
        </p:nvSpPr>
        <p:spPr>
          <a:xfrm>
            <a:off x="9103905" y="4069055"/>
            <a:ext cx="487634" cy="276999"/>
          </a:xfrm>
          <a:prstGeom prst="rect">
            <a:avLst/>
          </a:prstGeom>
        </p:spPr>
        <p:txBody>
          <a:bodyPr wrap="none">
            <a:spAutoFit/>
          </a:bodyPr>
          <a:lstStyle/>
          <a:p>
            <a:r>
              <a:rPr lang="en-US" sz="1200" dirty="0" smtClean="0"/>
              <a:t>V&gt;0</a:t>
            </a:r>
            <a:endParaRPr lang="sv-SE" sz="1050" dirty="0"/>
          </a:p>
        </p:txBody>
      </p:sp>
      <p:cxnSp>
        <p:nvCxnSpPr>
          <p:cNvPr id="153" name="Straight Connector 152"/>
          <p:cNvCxnSpPr/>
          <p:nvPr/>
        </p:nvCxnSpPr>
        <p:spPr>
          <a:xfrm>
            <a:off x="9564711" y="3973837"/>
            <a:ext cx="27698" cy="887574"/>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165" name="Freeform 164"/>
          <p:cNvSpPr/>
          <p:nvPr/>
        </p:nvSpPr>
        <p:spPr>
          <a:xfrm>
            <a:off x="10373064" y="3445996"/>
            <a:ext cx="1140642" cy="450418"/>
          </a:xfrm>
          <a:custGeom>
            <a:avLst/>
            <a:gdLst>
              <a:gd name="connsiteX0" fmla="*/ 0 w 1476375"/>
              <a:gd name="connsiteY0" fmla="*/ 450418 h 450418"/>
              <a:gd name="connsiteX1" fmla="*/ 257175 w 1476375"/>
              <a:gd name="connsiteY1" fmla="*/ 36081 h 450418"/>
              <a:gd name="connsiteX2" fmla="*/ 1476375 w 1476375"/>
              <a:gd name="connsiteY2" fmla="*/ 12268 h 450418"/>
            </a:gdLst>
            <a:ahLst/>
            <a:cxnLst>
              <a:cxn ang="0">
                <a:pos x="connsiteX0" y="connsiteY0"/>
              </a:cxn>
              <a:cxn ang="0">
                <a:pos x="connsiteX1" y="connsiteY1"/>
              </a:cxn>
              <a:cxn ang="0">
                <a:pos x="connsiteX2" y="connsiteY2"/>
              </a:cxn>
            </a:cxnLst>
            <a:rect l="l" t="t" r="r" b="b"/>
            <a:pathLst>
              <a:path w="1476375" h="450418">
                <a:moveTo>
                  <a:pt x="0" y="450418"/>
                </a:moveTo>
                <a:cubicBezTo>
                  <a:pt x="5556" y="279762"/>
                  <a:pt x="11113" y="109106"/>
                  <a:pt x="257175" y="36081"/>
                </a:cubicBezTo>
                <a:cubicBezTo>
                  <a:pt x="503237" y="-36944"/>
                  <a:pt x="1273175" y="25762"/>
                  <a:pt x="1476375" y="12268"/>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6" name="Oval 165"/>
          <p:cNvSpPr/>
          <p:nvPr/>
        </p:nvSpPr>
        <p:spPr>
          <a:xfrm>
            <a:off x="10891850" y="3310356"/>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167" name="Oval 166"/>
          <p:cNvSpPr/>
          <p:nvPr/>
        </p:nvSpPr>
        <p:spPr>
          <a:xfrm>
            <a:off x="10985028" y="3317061"/>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168" name="Oval 167"/>
          <p:cNvSpPr/>
          <p:nvPr/>
        </p:nvSpPr>
        <p:spPr>
          <a:xfrm>
            <a:off x="10798672" y="3310356"/>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172" name="Oval 171"/>
          <p:cNvSpPr/>
          <p:nvPr/>
        </p:nvSpPr>
        <p:spPr>
          <a:xfrm>
            <a:off x="10380002" y="3477529"/>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173" name="Freeform 172"/>
          <p:cNvSpPr/>
          <p:nvPr/>
        </p:nvSpPr>
        <p:spPr>
          <a:xfrm>
            <a:off x="10373063" y="3820859"/>
            <a:ext cx="1140642" cy="450418"/>
          </a:xfrm>
          <a:custGeom>
            <a:avLst/>
            <a:gdLst>
              <a:gd name="connsiteX0" fmla="*/ 0 w 1476375"/>
              <a:gd name="connsiteY0" fmla="*/ 450418 h 450418"/>
              <a:gd name="connsiteX1" fmla="*/ 257175 w 1476375"/>
              <a:gd name="connsiteY1" fmla="*/ 36081 h 450418"/>
              <a:gd name="connsiteX2" fmla="*/ 1476375 w 1476375"/>
              <a:gd name="connsiteY2" fmla="*/ 12268 h 450418"/>
            </a:gdLst>
            <a:ahLst/>
            <a:cxnLst>
              <a:cxn ang="0">
                <a:pos x="connsiteX0" y="connsiteY0"/>
              </a:cxn>
              <a:cxn ang="0">
                <a:pos x="connsiteX1" y="connsiteY1"/>
              </a:cxn>
              <a:cxn ang="0">
                <a:pos x="connsiteX2" y="connsiteY2"/>
              </a:cxn>
            </a:cxnLst>
            <a:rect l="l" t="t" r="r" b="b"/>
            <a:pathLst>
              <a:path w="1476375" h="450418">
                <a:moveTo>
                  <a:pt x="0" y="450418"/>
                </a:moveTo>
                <a:cubicBezTo>
                  <a:pt x="5556" y="279762"/>
                  <a:pt x="11113" y="109106"/>
                  <a:pt x="257175" y="36081"/>
                </a:cubicBezTo>
                <a:cubicBezTo>
                  <a:pt x="503237" y="-36944"/>
                  <a:pt x="1273175" y="25762"/>
                  <a:pt x="1476375" y="12268"/>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5" name="Freeform 174"/>
          <p:cNvSpPr/>
          <p:nvPr/>
        </p:nvSpPr>
        <p:spPr>
          <a:xfrm>
            <a:off x="10373063" y="4188487"/>
            <a:ext cx="1140642" cy="450418"/>
          </a:xfrm>
          <a:custGeom>
            <a:avLst/>
            <a:gdLst>
              <a:gd name="connsiteX0" fmla="*/ 0 w 1476375"/>
              <a:gd name="connsiteY0" fmla="*/ 450418 h 450418"/>
              <a:gd name="connsiteX1" fmla="*/ 257175 w 1476375"/>
              <a:gd name="connsiteY1" fmla="*/ 36081 h 450418"/>
              <a:gd name="connsiteX2" fmla="*/ 1476375 w 1476375"/>
              <a:gd name="connsiteY2" fmla="*/ 12268 h 450418"/>
            </a:gdLst>
            <a:ahLst/>
            <a:cxnLst>
              <a:cxn ang="0">
                <a:pos x="connsiteX0" y="connsiteY0"/>
              </a:cxn>
              <a:cxn ang="0">
                <a:pos x="connsiteX1" y="connsiteY1"/>
              </a:cxn>
              <a:cxn ang="0">
                <a:pos x="connsiteX2" y="connsiteY2"/>
              </a:cxn>
            </a:cxnLst>
            <a:rect l="l" t="t" r="r" b="b"/>
            <a:pathLst>
              <a:path w="1476375" h="450418">
                <a:moveTo>
                  <a:pt x="0" y="450418"/>
                </a:moveTo>
                <a:cubicBezTo>
                  <a:pt x="5556" y="279762"/>
                  <a:pt x="11113" y="109106"/>
                  <a:pt x="257175" y="36081"/>
                </a:cubicBezTo>
                <a:cubicBezTo>
                  <a:pt x="503237" y="-36944"/>
                  <a:pt x="1273175" y="25762"/>
                  <a:pt x="1476375" y="12268"/>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6" name="Rectangle 175"/>
          <p:cNvSpPr/>
          <p:nvPr/>
        </p:nvSpPr>
        <p:spPr>
          <a:xfrm>
            <a:off x="1318747" y="1538224"/>
            <a:ext cx="153055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metal</a:t>
            </a:r>
            <a:endParaRPr lang="sv-SE" dirty="0"/>
          </a:p>
        </p:txBody>
      </p:sp>
      <p:sp>
        <p:nvSpPr>
          <p:cNvPr id="177" name="Rectangle 176"/>
          <p:cNvSpPr/>
          <p:nvPr/>
        </p:nvSpPr>
        <p:spPr>
          <a:xfrm>
            <a:off x="1318747" y="1756052"/>
            <a:ext cx="1530552" cy="224626"/>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oxide</a:t>
            </a:r>
            <a:endParaRPr lang="sv-SE" dirty="0"/>
          </a:p>
        </p:txBody>
      </p:sp>
      <p:sp>
        <p:nvSpPr>
          <p:cNvPr id="178" name="Rectangle 177"/>
          <p:cNvSpPr/>
          <p:nvPr/>
        </p:nvSpPr>
        <p:spPr>
          <a:xfrm>
            <a:off x="1318747" y="1984789"/>
            <a:ext cx="1530552" cy="224626"/>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181" name="TextBox 180"/>
          <p:cNvSpPr txBox="1"/>
          <p:nvPr/>
        </p:nvSpPr>
        <p:spPr>
          <a:xfrm>
            <a:off x="706116" y="5014240"/>
            <a:ext cx="2759385" cy="584775"/>
          </a:xfrm>
          <a:prstGeom prst="rect">
            <a:avLst/>
          </a:prstGeom>
          <a:noFill/>
        </p:spPr>
        <p:txBody>
          <a:bodyPr wrap="square" rtlCol="0">
            <a:spAutoFit/>
          </a:bodyPr>
          <a:lstStyle/>
          <a:p>
            <a:r>
              <a:rPr lang="en-US" sz="1600" dirty="0" smtClean="0"/>
              <a:t>All bands flat</a:t>
            </a:r>
            <a:r>
              <a:rPr lang="sv-SE" sz="1600" dirty="0" smtClean="0"/>
              <a:t> </a:t>
            </a:r>
          </a:p>
          <a:p>
            <a:r>
              <a:rPr lang="sv-SE" sz="1600" dirty="0" smtClean="0"/>
              <a:t>in </a:t>
            </a:r>
            <a:r>
              <a:rPr lang="en-US" sz="1600" dirty="0" smtClean="0"/>
              <a:t>thermal</a:t>
            </a:r>
            <a:r>
              <a:rPr lang="sv-SE" sz="1600" dirty="0" smtClean="0"/>
              <a:t> </a:t>
            </a:r>
            <a:r>
              <a:rPr lang="en-US" sz="1600" dirty="0" smtClean="0"/>
              <a:t>equilibrium</a:t>
            </a:r>
            <a:r>
              <a:rPr lang="sv-SE" sz="1600" dirty="0" smtClean="0"/>
              <a:t> </a:t>
            </a:r>
            <a:endParaRPr lang="en-US" sz="1600" dirty="0" smtClean="0"/>
          </a:p>
        </p:txBody>
      </p:sp>
      <p:sp>
        <p:nvSpPr>
          <p:cNvPr id="188" name="TextBox 187"/>
          <p:cNvSpPr txBox="1"/>
          <p:nvPr/>
        </p:nvSpPr>
        <p:spPr>
          <a:xfrm>
            <a:off x="3468355" y="4834686"/>
            <a:ext cx="2942153"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smtClean="0"/>
              <a:t>Conduction bens down toward the fermi level</a:t>
            </a:r>
          </a:p>
          <a:p>
            <a:pPr marL="285750" indent="-285750">
              <a:buFont typeface="Arial" panose="020B0604020202020204" pitchFamily="34" charset="0"/>
              <a:buChar char="•"/>
            </a:pPr>
            <a:r>
              <a:rPr lang="en-US" sz="1600" dirty="0" smtClean="0"/>
              <a:t>Accumulation of majority carrier.</a:t>
            </a:r>
          </a:p>
        </p:txBody>
      </p:sp>
      <p:cxnSp>
        <p:nvCxnSpPr>
          <p:cNvPr id="185" name="Straight Connector 184"/>
          <p:cNvCxnSpPr>
            <a:stCxn id="176" idx="0"/>
          </p:cNvCxnSpPr>
          <p:nvPr/>
        </p:nvCxnSpPr>
        <p:spPr>
          <a:xfrm flipV="1">
            <a:off x="2084023" y="1420396"/>
            <a:ext cx="0" cy="117828"/>
          </a:xfrm>
          <a:prstGeom prst="line">
            <a:avLst/>
          </a:prstGeom>
        </p:spPr>
        <p:style>
          <a:lnRef idx="3">
            <a:schemeClr val="dk1"/>
          </a:lnRef>
          <a:fillRef idx="0">
            <a:schemeClr val="dk1"/>
          </a:fillRef>
          <a:effectRef idx="2">
            <a:schemeClr val="dk1"/>
          </a:effectRef>
          <a:fontRef idx="minor">
            <a:schemeClr val="tx1"/>
          </a:fontRef>
        </p:style>
      </p:cxnSp>
      <p:sp>
        <p:nvSpPr>
          <p:cNvPr id="186" name="Rectangle 185"/>
          <p:cNvSpPr/>
          <p:nvPr/>
        </p:nvSpPr>
        <p:spPr>
          <a:xfrm>
            <a:off x="580625" y="1671214"/>
            <a:ext cx="306398" cy="369332"/>
          </a:xfrm>
          <a:prstGeom prst="rect">
            <a:avLst/>
          </a:prstGeom>
        </p:spPr>
        <p:txBody>
          <a:bodyPr wrap="square">
            <a:spAutoFit/>
          </a:bodyPr>
          <a:lstStyle/>
          <a:p>
            <a:r>
              <a:rPr lang="en-US" dirty="0"/>
              <a:t>V</a:t>
            </a:r>
            <a:endParaRPr lang="sv-SE" dirty="0"/>
          </a:p>
        </p:txBody>
      </p:sp>
      <p:sp>
        <p:nvSpPr>
          <p:cNvPr id="189" name="Isosceles Triangle 188"/>
          <p:cNvSpPr/>
          <p:nvPr/>
        </p:nvSpPr>
        <p:spPr>
          <a:xfrm rot="10800000">
            <a:off x="2005497" y="2322057"/>
            <a:ext cx="150048" cy="157127"/>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sv-SE" dirty="0"/>
          </a:p>
        </p:txBody>
      </p:sp>
      <p:cxnSp>
        <p:nvCxnSpPr>
          <p:cNvPr id="202" name="Straight Connector 201"/>
          <p:cNvCxnSpPr/>
          <p:nvPr/>
        </p:nvCxnSpPr>
        <p:spPr>
          <a:xfrm flipV="1">
            <a:off x="2084023" y="2201917"/>
            <a:ext cx="0" cy="117828"/>
          </a:xfrm>
          <a:prstGeom prst="line">
            <a:avLst/>
          </a:prstGeom>
        </p:spPr>
        <p:style>
          <a:lnRef idx="3">
            <a:schemeClr val="dk1"/>
          </a:lnRef>
          <a:fillRef idx="0">
            <a:schemeClr val="dk1"/>
          </a:fillRef>
          <a:effectRef idx="2">
            <a:schemeClr val="dk1"/>
          </a:effectRef>
          <a:fontRef idx="minor">
            <a:schemeClr val="tx1"/>
          </a:fontRef>
        </p:style>
      </p:cxnSp>
      <p:sp>
        <p:nvSpPr>
          <p:cNvPr id="7177" name="Freeform 7176"/>
          <p:cNvSpPr/>
          <p:nvPr/>
        </p:nvSpPr>
        <p:spPr>
          <a:xfrm>
            <a:off x="742258" y="1180015"/>
            <a:ext cx="1338263" cy="562875"/>
          </a:xfrm>
          <a:custGeom>
            <a:avLst/>
            <a:gdLst>
              <a:gd name="connsiteX0" fmla="*/ 1338263 w 1338263"/>
              <a:gd name="connsiteY0" fmla="*/ 243788 h 562875"/>
              <a:gd name="connsiteX1" fmla="*/ 1062038 w 1338263"/>
              <a:gd name="connsiteY1" fmla="*/ 900 h 562875"/>
              <a:gd name="connsiteX2" fmla="*/ 433388 w 1338263"/>
              <a:gd name="connsiteY2" fmla="*/ 177113 h 562875"/>
              <a:gd name="connsiteX3" fmla="*/ 0 w 1338263"/>
              <a:gd name="connsiteY3" fmla="*/ 562875 h 562875"/>
            </a:gdLst>
            <a:ahLst/>
            <a:cxnLst>
              <a:cxn ang="0">
                <a:pos x="connsiteX0" y="connsiteY0"/>
              </a:cxn>
              <a:cxn ang="0">
                <a:pos x="connsiteX1" y="connsiteY1"/>
              </a:cxn>
              <a:cxn ang="0">
                <a:pos x="connsiteX2" y="connsiteY2"/>
              </a:cxn>
              <a:cxn ang="0">
                <a:pos x="connsiteX3" y="connsiteY3"/>
              </a:cxn>
            </a:cxnLst>
            <a:rect l="l" t="t" r="r" b="b"/>
            <a:pathLst>
              <a:path w="1338263" h="562875">
                <a:moveTo>
                  <a:pt x="1338263" y="243788"/>
                </a:moveTo>
                <a:cubicBezTo>
                  <a:pt x="1275557" y="127900"/>
                  <a:pt x="1212851" y="12013"/>
                  <a:pt x="1062038" y="900"/>
                </a:cubicBezTo>
                <a:cubicBezTo>
                  <a:pt x="911225" y="-10213"/>
                  <a:pt x="610394" y="83451"/>
                  <a:pt x="433388" y="177113"/>
                </a:cubicBezTo>
                <a:cubicBezTo>
                  <a:pt x="256382" y="270775"/>
                  <a:pt x="62706" y="500169"/>
                  <a:pt x="0" y="562875"/>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180" name="Freeform 7179"/>
          <p:cNvSpPr/>
          <p:nvPr/>
        </p:nvSpPr>
        <p:spPr>
          <a:xfrm>
            <a:off x="732580" y="2010970"/>
            <a:ext cx="1358564" cy="391520"/>
          </a:xfrm>
          <a:custGeom>
            <a:avLst/>
            <a:gdLst>
              <a:gd name="connsiteX0" fmla="*/ 1358564 w 1358564"/>
              <a:gd name="connsiteY0" fmla="*/ 260125 h 391520"/>
              <a:gd name="connsiteX1" fmla="*/ 977564 w 1358564"/>
              <a:gd name="connsiteY1" fmla="*/ 379188 h 391520"/>
              <a:gd name="connsiteX2" fmla="*/ 377489 w 1358564"/>
              <a:gd name="connsiteY2" fmla="*/ 350613 h 391520"/>
              <a:gd name="connsiteX3" fmla="*/ 34589 w 1358564"/>
              <a:gd name="connsiteY3" fmla="*/ 50575 h 391520"/>
              <a:gd name="connsiteX4" fmla="*/ 29827 w 1358564"/>
              <a:gd name="connsiteY4" fmla="*/ 2950 h 391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8564" h="391520">
                <a:moveTo>
                  <a:pt x="1358564" y="260125"/>
                </a:moveTo>
                <a:cubicBezTo>
                  <a:pt x="1249820" y="312116"/>
                  <a:pt x="1141076" y="364107"/>
                  <a:pt x="977564" y="379188"/>
                </a:cubicBezTo>
                <a:cubicBezTo>
                  <a:pt x="814052" y="394269"/>
                  <a:pt x="534651" y="405382"/>
                  <a:pt x="377489" y="350613"/>
                </a:cubicBezTo>
                <a:cubicBezTo>
                  <a:pt x="220326" y="295844"/>
                  <a:pt x="92533" y="108519"/>
                  <a:pt x="34589" y="50575"/>
                </a:cubicBezTo>
                <a:cubicBezTo>
                  <a:pt x="-23355" y="-7369"/>
                  <a:pt x="3236" y="-2210"/>
                  <a:pt x="29827" y="295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7" name="TextBox 206"/>
          <p:cNvSpPr txBox="1"/>
          <p:nvPr/>
        </p:nvSpPr>
        <p:spPr>
          <a:xfrm>
            <a:off x="6410599" y="4863258"/>
            <a:ext cx="239614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smtClean="0"/>
              <a:t>The intrinsic energy gets closer Fermi level.</a:t>
            </a:r>
          </a:p>
        </p:txBody>
      </p:sp>
      <p:sp>
        <p:nvSpPr>
          <p:cNvPr id="208" name="TextBox 207"/>
          <p:cNvSpPr txBox="1"/>
          <p:nvPr/>
        </p:nvSpPr>
        <p:spPr>
          <a:xfrm>
            <a:off x="9408949" y="4930953"/>
            <a:ext cx="2699231"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smtClean="0"/>
              <a:t>The intrinsic energy crosses the Fermi level. </a:t>
            </a:r>
          </a:p>
          <a:p>
            <a:pPr marL="285750" indent="-285750">
              <a:buFont typeface="Arial" panose="020B0604020202020204" pitchFamily="34" charset="0"/>
              <a:buChar char="•"/>
            </a:pPr>
            <a:r>
              <a:rPr lang="en-US" sz="1600" dirty="0" smtClean="0"/>
              <a:t>Inversion of minority carrier. </a:t>
            </a:r>
          </a:p>
        </p:txBody>
      </p:sp>
      <p:sp>
        <p:nvSpPr>
          <p:cNvPr id="7181" name="Rectangle 7180"/>
          <p:cNvSpPr/>
          <p:nvPr/>
        </p:nvSpPr>
        <p:spPr>
          <a:xfrm>
            <a:off x="226651" y="6451502"/>
            <a:ext cx="8999854" cy="338554"/>
          </a:xfrm>
          <a:prstGeom prst="rect">
            <a:avLst/>
          </a:prstGeom>
        </p:spPr>
        <p:txBody>
          <a:bodyPr wrap="square">
            <a:spAutoFit/>
          </a:bodyPr>
          <a:lstStyle/>
          <a:p>
            <a:r>
              <a:rPr lang="sv-SE" sz="1600" dirty="0" smtClean="0"/>
              <a:t>[1] </a:t>
            </a:r>
            <a:r>
              <a:rPr lang="en-US" sz="1600" dirty="0" err="1" smtClean="0"/>
              <a:t>Retrived</a:t>
            </a:r>
            <a:r>
              <a:rPr lang="sv-SE" sz="1600" dirty="0" smtClean="0"/>
              <a:t> </a:t>
            </a:r>
            <a:r>
              <a:rPr lang="en-US" sz="1600" dirty="0" err="1" smtClean="0"/>
              <a:t>from”https</a:t>
            </a:r>
            <a:r>
              <a:rPr lang="sv-SE" sz="1600" dirty="0" smtClean="0"/>
              <a:t>://www.iue.tuwien.ac.at/</a:t>
            </a:r>
            <a:r>
              <a:rPr lang="sv-SE" sz="1600" dirty="0" err="1" smtClean="0"/>
              <a:t>phd</a:t>
            </a:r>
            <a:r>
              <a:rPr lang="sv-SE" sz="1600" dirty="0" smtClean="0"/>
              <a:t>/</a:t>
            </a:r>
            <a:r>
              <a:rPr lang="sv-SE" sz="1600" dirty="0" err="1" smtClean="0"/>
              <a:t>hehenberger</a:t>
            </a:r>
            <a:r>
              <a:rPr lang="sv-SE" sz="1600" dirty="0" smtClean="0"/>
              <a:t>/dissap2.html”</a:t>
            </a:r>
            <a:endParaRPr lang="sv-SE" sz="1600" dirty="0"/>
          </a:p>
        </p:txBody>
      </p:sp>
    </p:spTree>
    <p:extLst>
      <p:ext uri="{BB962C8B-B14F-4D97-AF65-F5344CB8AC3E}">
        <p14:creationId xmlns:p14="http://schemas.microsoft.com/office/powerpoint/2010/main" val="18095293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5760708" y="571835"/>
            <a:ext cx="6096000" cy="3570208"/>
          </a:xfrm>
          <a:prstGeom prst="rect">
            <a:avLst/>
          </a:prstGeom>
        </p:spPr>
        <p:txBody>
          <a:bodyPr>
            <a:spAutoFit/>
          </a:bodyPr>
          <a:lstStyle/>
          <a:p>
            <a:pPr marL="342900" indent="-342900" algn="just">
              <a:buFont typeface="+mj-lt"/>
              <a:buAutoNum type="arabicPeriod"/>
            </a:pPr>
            <a:r>
              <a:rPr lang="en-US" sz="1600" dirty="0" smtClean="0"/>
              <a:t>Usually</a:t>
            </a:r>
            <a:r>
              <a:rPr lang="sv-SE" sz="1600" dirty="0" smtClean="0"/>
              <a:t>, </a:t>
            </a:r>
            <a:r>
              <a:rPr lang="sv-SE" sz="1600" dirty="0" err="1"/>
              <a:t>MOSFETs</a:t>
            </a:r>
            <a:r>
              <a:rPr lang="sv-SE" sz="1600" dirty="0"/>
              <a:t> </a:t>
            </a:r>
            <a:r>
              <a:rPr lang="sv-SE" sz="1600" dirty="0" err="1"/>
              <a:t>of</a:t>
            </a:r>
            <a:r>
              <a:rPr lang="sv-SE" sz="1600" dirty="0"/>
              <a:t> the </a:t>
            </a:r>
            <a:r>
              <a:rPr lang="sv-SE" sz="1600" dirty="0" err="1"/>
              <a:t>enhancement</a:t>
            </a:r>
            <a:r>
              <a:rPr lang="sv-SE" sz="1600" dirty="0"/>
              <a:t> </a:t>
            </a:r>
            <a:r>
              <a:rPr lang="sv-SE" sz="1600" dirty="0" err="1" smtClean="0"/>
              <a:t>type</a:t>
            </a:r>
            <a:r>
              <a:rPr lang="sv-SE" sz="1600" dirty="0" smtClean="0"/>
              <a:t> (</a:t>
            </a:r>
            <a:r>
              <a:rPr lang="sv-SE" sz="1600" dirty="0"/>
              <a:t>. An n-</a:t>
            </a:r>
            <a:r>
              <a:rPr lang="sv-SE" sz="1600" dirty="0" err="1"/>
              <a:t>channel</a:t>
            </a:r>
            <a:r>
              <a:rPr lang="sv-SE" sz="1600" dirty="0"/>
              <a:t> </a:t>
            </a:r>
            <a:r>
              <a:rPr lang="sv-SE" sz="1600" dirty="0" err="1"/>
              <a:t>only</a:t>
            </a:r>
            <a:r>
              <a:rPr lang="sv-SE" sz="1600" dirty="0"/>
              <a:t> </a:t>
            </a:r>
            <a:r>
              <a:rPr lang="sv-SE" sz="1600" dirty="0" err="1"/>
              <a:t>develops</a:t>
            </a:r>
            <a:r>
              <a:rPr lang="sv-SE" sz="1600" dirty="0"/>
              <a:t> </a:t>
            </a:r>
            <a:r>
              <a:rPr lang="sv-SE" sz="1600" dirty="0" err="1"/>
              <a:t>when</a:t>
            </a:r>
            <a:r>
              <a:rPr lang="sv-SE" sz="1600" dirty="0"/>
              <a:t> VG &gt; VT (</a:t>
            </a:r>
            <a:r>
              <a:rPr lang="sv-SE" sz="1600" dirty="0" err="1"/>
              <a:t>normally</a:t>
            </a:r>
            <a:r>
              <a:rPr lang="sv-SE" sz="1600" dirty="0"/>
              <a:t> off </a:t>
            </a:r>
            <a:r>
              <a:rPr lang="sv-SE" sz="1600" dirty="0" err="1"/>
              <a:t>device</a:t>
            </a:r>
            <a:r>
              <a:rPr lang="sv-SE" sz="1600" dirty="0" smtClean="0"/>
              <a:t>)) </a:t>
            </a:r>
            <a:r>
              <a:rPr lang="sv-SE" sz="1600" dirty="0" err="1"/>
              <a:t>are</a:t>
            </a:r>
            <a:r>
              <a:rPr lang="sv-SE" sz="1600" dirty="0"/>
              <a:t> </a:t>
            </a:r>
            <a:r>
              <a:rPr lang="sv-SE" sz="1600" dirty="0" err="1"/>
              <a:t>used</a:t>
            </a:r>
            <a:r>
              <a:rPr lang="sv-SE" sz="1600" dirty="0"/>
              <a:t> in </a:t>
            </a:r>
            <a:r>
              <a:rPr lang="sv-SE" sz="1600" dirty="0" err="1"/>
              <a:t>power</a:t>
            </a:r>
            <a:r>
              <a:rPr lang="sv-SE" sz="1600" dirty="0"/>
              <a:t> </a:t>
            </a:r>
            <a:r>
              <a:rPr lang="sv-SE" sz="1600" dirty="0" err="1" smtClean="0"/>
              <a:t>electronics</a:t>
            </a:r>
            <a:r>
              <a:rPr lang="sv-SE" sz="1600" dirty="0" smtClean="0"/>
              <a:t>, </a:t>
            </a:r>
            <a:r>
              <a:rPr lang="sv-SE" sz="1600" dirty="0" err="1" smtClean="0"/>
              <a:t>because</a:t>
            </a:r>
            <a:r>
              <a:rPr lang="sv-SE" sz="1600" dirty="0" smtClean="0"/>
              <a:t> </a:t>
            </a:r>
            <a:r>
              <a:rPr lang="sv-SE" sz="1600" dirty="0" err="1"/>
              <a:t>of</a:t>
            </a:r>
            <a:r>
              <a:rPr lang="sv-SE" sz="1600" dirty="0"/>
              <a:t> the </a:t>
            </a:r>
            <a:r>
              <a:rPr lang="sv-SE" sz="1600" dirty="0" err="1"/>
              <a:t>normally</a:t>
            </a:r>
            <a:r>
              <a:rPr lang="sv-SE" sz="1600" dirty="0"/>
              <a:t>-off feature </a:t>
            </a:r>
            <a:r>
              <a:rPr lang="sv-SE" sz="1600" dirty="0" err="1"/>
              <a:t>that</a:t>
            </a:r>
            <a:r>
              <a:rPr lang="sv-SE" sz="1600" dirty="0"/>
              <a:t> is </a:t>
            </a:r>
            <a:r>
              <a:rPr lang="sv-SE" sz="1600" dirty="0" err="1"/>
              <a:t>required</a:t>
            </a:r>
            <a:r>
              <a:rPr lang="sv-SE" sz="1600" dirty="0"/>
              <a:t> in </a:t>
            </a:r>
            <a:r>
              <a:rPr lang="sv-SE" sz="1600" dirty="0" err="1"/>
              <a:t>voltage</a:t>
            </a:r>
            <a:r>
              <a:rPr lang="sv-SE" sz="1600" dirty="0"/>
              <a:t> source </a:t>
            </a:r>
            <a:r>
              <a:rPr lang="sv-SE" sz="1600" dirty="0" err="1" smtClean="0"/>
              <a:t>converters</a:t>
            </a:r>
            <a:r>
              <a:rPr lang="sv-SE" sz="1600" dirty="0" smtClean="0"/>
              <a:t>. </a:t>
            </a:r>
          </a:p>
          <a:p>
            <a:pPr marL="342900" indent="-342900" algn="just">
              <a:buFont typeface="+mj-lt"/>
              <a:buAutoNum type="arabicPeriod"/>
            </a:pPr>
            <a:endParaRPr lang="en-US" sz="1600" dirty="0" smtClean="0"/>
          </a:p>
          <a:p>
            <a:pPr marL="342900" indent="-342900" algn="just">
              <a:buFont typeface="+mj-lt"/>
              <a:buAutoNum type="arabicPeriod"/>
            </a:pPr>
            <a:r>
              <a:rPr lang="sv-SE" sz="1600" dirty="0" err="1"/>
              <a:t>Almost</a:t>
            </a:r>
            <a:r>
              <a:rPr lang="sv-SE" sz="1600" dirty="0"/>
              <a:t> </a:t>
            </a:r>
            <a:r>
              <a:rPr lang="sv-SE" sz="1600" dirty="0" err="1"/>
              <a:t>always</a:t>
            </a:r>
            <a:r>
              <a:rPr lang="sv-SE" sz="1600" dirty="0"/>
              <a:t> n-</a:t>
            </a:r>
            <a:r>
              <a:rPr lang="sv-SE" sz="1600" dirty="0" err="1"/>
              <a:t>channel</a:t>
            </a:r>
            <a:r>
              <a:rPr lang="sv-SE" sz="1600" dirty="0"/>
              <a:t> </a:t>
            </a:r>
            <a:r>
              <a:rPr lang="sv-SE" sz="1600" dirty="0" err="1"/>
              <a:t>MOSFETs</a:t>
            </a:r>
            <a:r>
              <a:rPr lang="sv-SE" sz="1600" dirty="0"/>
              <a:t> </a:t>
            </a:r>
            <a:r>
              <a:rPr lang="sv-SE" sz="1600" dirty="0" err="1"/>
              <a:t>are</a:t>
            </a:r>
            <a:r>
              <a:rPr lang="sv-SE" sz="1600" dirty="0"/>
              <a:t> </a:t>
            </a:r>
            <a:r>
              <a:rPr lang="sv-SE" sz="1600" dirty="0" err="1"/>
              <a:t>used</a:t>
            </a:r>
            <a:r>
              <a:rPr lang="sv-SE" sz="1600" dirty="0"/>
              <a:t>, </a:t>
            </a:r>
            <a:r>
              <a:rPr lang="sv-SE" sz="1600" dirty="0" err="1"/>
              <a:t>being</a:t>
            </a:r>
            <a:r>
              <a:rPr lang="sv-SE" sz="1600" dirty="0"/>
              <a:t> </a:t>
            </a:r>
            <a:r>
              <a:rPr lang="sv-SE" sz="1600" dirty="0" err="1"/>
              <a:t>more</a:t>
            </a:r>
            <a:r>
              <a:rPr lang="sv-SE" sz="1600" dirty="0"/>
              <a:t> </a:t>
            </a:r>
            <a:r>
              <a:rPr lang="sv-SE" sz="1600" dirty="0" err="1"/>
              <a:t>advantageous</a:t>
            </a:r>
            <a:r>
              <a:rPr lang="sv-SE" sz="1600" dirty="0"/>
              <a:t> </a:t>
            </a:r>
            <a:r>
              <a:rPr lang="sv-SE" sz="1600" dirty="0" err="1"/>
              <a:t>since</a:t>
            </a:r>
            <a:r>
              <a:rPr lang="sv-SE" sz="1600" dirty="0"/>
              <a:t> the </a:t>
            </a:r>
            <a:r>
              <a:rPr lang="sv-SE" sz="1600" dirty="0" err="1"/>
              <a:t>mobility</a:t>
            </a:r>
            <a:r>
              <a:rPr lang="sv-SE" sz="1600" dirty="0"/>
              <a:t> </a:t>
            </a:r>
            <a:r>
              <a:rPr lang="sv-SE" sz="1600" dirty="0" err="1"/>
              <a:t>of</a:t>
            </a:r>
            <a:r>
              <a:rPr lang="sv-SE" sz="1600" dirty="0"/>
              <a:t> the </a:t>
            </a:r>
            <a:r>
              <a:rPr lang="sv-SE" sz="1600" dirty="0" err="1"/>
              <a:t>electrons</a:t>
            </a:r>
            <a:r>
              <a:rPr lang="sv-SE" sz="1600" dirty="0"/>
              <a:t> is </a:t>
            </a:r>
            <a:r>
              <a:rPr lang="sv-SE" sz="1600" dirty="0" err="1"/>
              <a:t>much</a:t>
            </a:r>
            <a:r>
              <a:rPr lang="sv-SE" sz="1600" dirty="0"/>
              <a:t> </a:t>
            </a:r>
            <a:r>
              <a:rPr lang="sv-SE" sz="1600" dirty="0" err="1"/>
              <a:t>higher</a:t>
            </a:r>
            <a:r>
              <a:rPr lang="sv-SE" sz="1600" dirty="0"/>
              <a:t> </a:t>
            </a:r>
            <a:r>
              <a:rPr lang="sv-SE" sz="1600" dirty="0" err="1"/>
              <a:t>than</a:t>
            </a:r>
            <a:r>
              <a:rPr lang="sv-SE" sz="1600" dirty="0"/>
              <a:t> </a:t>
            </a:r>
            <a:r>
              <a:rPr lang="sv-SE" sz="1600" dirty="0" err="1"/>
              <a:t>that</a:t>
            </a:r>
            <a:r>
              <a:rPr lang="sv-SE" sz="1600" dirty="0"/>
              <a:t> </a:t>
            </a:r>
            <a:r>
              <a:rPr lang="sv-SE" sz="1600" dirty="0" err="1"/>
              <a:t>of</a:t>
            </a:r>
            <a:r>
              <a:rPr lang="sv-SE" sz="1600" dirty="0"/>
              <a:t> the </a:t>
            </a:r>
            <a:r>
              <a:rPr lang="sv-SE" sz="1600" dirty="0" err="1" smtClean="0"/>
              <a:t>holes</a:t>
            </a:r>
            <a:r>
              <a:rPr lang="sv-SE" sz="1600" dirty="0" smtClean="0"/>
              <a:t>.</a:t>
            </a:r>
          </a:p>
          <a:p>
            <a:pPr marL="342900" indent="-342900" algn="just">
              <a:buFont typeface="+mj-lt"/>
              <a:buAutoNum type="arabicPeriod"/>
            </a:pPr>
            <a:endParaRPr lang="en-US" sz="1600" dirty="0"/>
          </a:p>
          <a:p>
            <a:pPr marL="342900" indent="-342900" algn="just">
              <a:buFont typeface="+mj-lt"/>
              <a:buAutoNum type="arabicPeriod"/>
            </a:pPr>
            <a:r>
              <a:rPr lang="en-US" sz="1600" dirty="0" smtClean="0"/>
              <a:t>The vertical MOSFET structure enables shorter channel length and higher blocking voltage.   Therefore, </a:t>
            </a:r>
            <a:r>
              <a:rPr lang="sv-SE" sz="1600" dirty="0" smtClean="0"/>
              <a:t>If </a:t>
            </a:r>
            <a:r>
              <a:rPr lang="sv-SE" sz="1600" dirty="0"/>
              <a:t>real “</a:t>
            </a:r>
            <a:r>
              <a:rPr lang="sv-SE" sz="1600" dirty="0" err="1"/>
              <a:t>power</a:t>
            </a:r>
            <a:r>
              <a:rPr lang="sv-SE" sz="1600" dirty="0"/>
              <a:t>” has to be </a:t>
            </a:r>
            <a:r>
              <a:rPr lang="sv-SE" sz="1600" dirty="0" err="1"/>
              <a:t>controlled</a:t>
            </a:r>
            <a:r>
              <a:rPr lang="sv-SE" sz="1600" dirty="0"/>
              <a:t>, </a:t>
            </a:r>
            <a:r>
              <a:rPr lang="en-US" sz="1600" dirty="0" smtClean="0"/>
              <a:t>vertical </a:t>
            </a:r>
            <a:r>
              <a:rPr lang="en-US" sz="1600" dirty="0"/>
              <a:t>MOSFET is realized by arranging the area for the space charge </a:t>
            </a:r>
            <a:r>
              <a:rPr lang="en-US" sz="1600" dirty="0" smtClean="0"/>
              <a:t>vertically.</a:t>
            </a:r>
          </a:p>
          <a:p>
            <a:endParaRPr lang="en-US" dirty="0" smtClean="0"/>
          </a:p>
        </p:txBody>
      </p:sp>
      <p:sp>
        <p:nvSpPr>
          <p:cNvPr id="18" name="Rectangle 17"/>
          <p:cNvSpPr/>
          <p:nvPr/>
        </p:nvSpPr>
        <p:spPr>
          <a:xfrm>
            <a:off x="2515369" y="368556"/>
            <a:ext cx="153055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metal</a:t>
            </a:r>
            <a:endParaRPr lang="sv-SE" dirty="0"/>
          </a:p>
        </p:txBody>
      </p:sp>
      <p:sp>
        <p:nvSpPr>
          <p:cNvPr id="19" name="Rectangle 18"/>
          <p:cNvSpPr/>
          <p:nvPr/>
        </p:nvSpPr>
        <p:spPr>
          <a:xfrm>
            <a:off x="2205072" y="586384"/>
            <a:ext cx="2134545" cy="224626"/>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oxide</a:t>
            </a:r>
            <a:endParaRPr lang="sv-SE" dirty="0"/>
          </a:p>
        </p:txBody>
      </p:sp>
      <p:sp>
        <p:nvSpPr>
          <p:cNvPr id="20" name="Rectangle 19"/>
          <p:cNvSpPr/>
          <p:nvPr/>
        </p:nvSpPr>
        <p:spPr>
          <a:xfrm>
            <a:off x="2515369" y="815121"/>
            <a:ext cx="1530552" cy="1210934"/>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21" name="Rectangle 20"/>
          <p:cNvSpPr/>
          <p:nvPr/>
        </p:nvSpPr>
        <p:spPr>
          <a:xfrm>
            <a:off x="1042896" y="821684"/>
            <a:ext cx="1472473"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22" name="Rectangle 21"/>
          <p:cNvSpPr/>
          <p:nvPr/>
        </p:nvSpPr>
        <p:spPr>
          <a:xfrm>
            <a:off x="1042896" y="1283618"/>
            <a:ext cx="1530552" cy="742438"/>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3" name="Rectangle 22"/>
          <p:cNvSpPr/>
          <p:nvPr/>
        </p:nvSpPr>
        <p:spPr>
          <a:xfrm>
            <a:off x="4045921" y="823913"/>
            <a:ext cx="1530552"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24" name="Rectangle 23"/>
          <p:cNvSpPr/>
          <p:nvPr/>
        </p:nvSpPr>
        <p:spPr>
          <a:xfrm>
            <a:off x="4045921" y="1283617"/>
            <a:ext cx="1530552" cy="742438"/>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ctangle 24"/>
          <p:cNvSpPr/>
          <p:nvPr/>
        </p:nvSpPr>
        <p:spPr>
          <a:xfrm>
            <a:off x="1411271" y="604270"/>
            <a:ext cx="79380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ctangle 25"/>
          <p:cNvSpPr/>
          <p:nvPr/>
        </p:nvSpPr>
        <p:spPr>
          <a:xfrm>
            <a:off x="4339617" y="580042"/>
            <a:ext cx="793802" cy="23975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ctangle 26"/>
          <p:cNvSpPr/>
          <p:nvPr/>
        </p:nvSpPr>
        <p:spPr>
          <a:xfrm>
            <a:off x="3119145" y="27395"/>
            <a:ext cx="306398" cy="369332"/>
          </a:xfrm>
          <a:prstGeom prst="rect">
            <a:avLst/>
          </a:prstGeom>
        </p:spPr>
        <p:txBody>
          <a:bodyPr wrap="square">
            <a:spAutoFit/>
          </a:bodyPr>
          <a:lstStyle/>
          <a:p>
            <a:r>
              <a:rPr lang="en-US" dirty="0" smtClean="0"/>
              <a:t>G</a:t>
            </a:r>
            <a:endParaRPr lang="sv-SE" dirty="0"/>
          </a:p>
        </p:txBody>
      </p:sp>
      <p:sp>
        <p:nvSpPr>
          <p:cNvPr id="28" name="Rectangle 27"/>
          <p:cNvSpPr/>
          <p:nvPr/>
        </p:nvSpPr>
        <p:spPr>
          <a:xfrm>
            <a:off x="1660858" y="279018"/>
            <a:ext cx="306398" cy="369332"/>
          </a:xfrm>
          <a:prstGeom prst="rect">
            <a:avLst/>
          </a:prstGeom>
        </p:spPr>
        <p:txBody>
          <a:bodyPr wrap="square">
            <a:spAutoFit/>
          </a:bodyPr>
          <a:lstStyle/>
          <a:p>
            <a:r>
              <a:rPr lang="en-US" dirty="0"/>
              <a:t>S</a:t>
            </a:r>
            <a:endParaRPr lang="sv-SE" dirty="0"/>
          </a:p>
        </p:txBody>
      </p:sp>
      <p:sp>
        <p:nvSpPr>
          <p:cNvPr id="29" name="Rectangle 28"/>
          <p:cNvSpPr/>
          <p:nvPr/>
        </p:nvSpPr>
        <p:spPr>
          <a:xfrm>
            <a:off x="4583319" y="279018"/>
            <a:ext cx="306398" cy="369332"/>
          </a:xfrm>
          <a:prstGeom prst="rect">
            <a:avLst/>
          </a:prstGeom>
        </p:spPr>
        <p:txBody>
          <a:bodyPr wrap="square">
            <a:spAutoFit/>
          </a:bodyPr>
          <a:lstStyle/>
          <a:p>
            <a:r>
              <a:rPr lang="en-US" dirty="0" smtClean="0"/>
              <a:t>D</a:t>
            </a:r>
            <a:endParaRPr lang="sv-SE" dirty="0"/>
          </a:p>
        </p:txBody>
      </p:sp>
      <p:sp>
        <p:nvSpPr>
          <p:cNvPr id="31" name="Rectangle 30"/>
          <p:cNvSpPr/>
          <p:nvPr/>
        </p:nvSpPr>
        <p:spPr>
          <a:xfrm>
            <a:off x="1892405" y="2080144"/>
            <a:ext cx="3376398" cy="369332"/>
          </a:xfrm>
          <a:prstGeom prst="rect">
            <a:avLst/>
          </a:prstGeom>
        </p:spPr>
        <p:txBody>
          <a:bodyPr wrap="square">
            <a:spAutoFit/>
          </a:bodyPr>
          <a:lstStyle/>
          <a:p>
            <a:r>
              <a:rPr lang="en-US" dirty="0" smtClean="0"/>
              <a:t>Basic lateral n-type MOSFET</a:t>
            </a:r>
            <a:endParaRPr lang="sv-SE" dirty="0"/>
          </a:p>
        </p:txBody>
      </p:sp>
      <p:sp>
        <p:nvSpPr>
          <p:cNvPr id="32" name="Rectangle 31"/>
          <p:cNvSpPr/>
          <p:nvPr/>
        </p:nvSpPr>
        <p:spPr>
          <a:xfrm>
            <a:off x="3280645" y="2826920"/>
            <a:ext cx="153055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metal</a:t>
            </a:r>
            <a:endParaRPr lang="sv-SE" dirty="0"/>
          </a:p>
        </p:txBody>
      </p:sp>
      <p:sp>
        <p:nvSpPr>
          <p:cNvPr id="33" name="Rectangle 32"/>
          <p:cNvSpPr/>
          <p:nvPr/>
        </p:nvSpPr>
        <p:spPr>
          <a:xfrm>
            <a:off x="2970348" y="3058108"/>
            <a:ext cx="1840849" cy="21126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oxide</a:t>
            </a:r>
            <a:endParaRPr lang="sv-SE" dirty="0"/>
          </a:p>
        </p:txBody>
      </p:sp>
      <p:sp>
        <p:nvSpPr>
          <p:cNvPr id="34" name="Rectangle 33"/>
          <p:cNvSpPr/>
          <p:nvPr/>
        </p:nvSpPr>
        <p:spPr>
          <a:xfrm>
            <a:off x="3143892" y="3273485"/>
            <a:ext cx="1667305" cy="714913"/>
          </a:xfrm>
          <a:prstGeom prst="rect">
            <a:avLst/>
          </a:prstGeom>
          <a:solidFill>
            <a:srgbClr val="E86A5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35" name="Rectangle 34"/>
          <p:cNvSpPr/>
          <p:nvPr/>
        </p:nvSpPr>
        <p:spPr>
          <a:xfrm>
            <a:off x="1808172" y="3280048"/>
            <a:ext cx="971745"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36" name="Rectangle 35"/>
          <p:cNvSpPr/>
          <p:nvPr/>
        </p:nvSpPr>
        <p:spPr>
          <a:xfrm>
            <a:off x="1808172" y="3741982"/>
            <a:ext cx="1335720" cy="246416"/>
          </a:xfrm>
          <a:prstGeom prst="rect">
            <a:avLst/>
          </a:prstGeom>
          <a:solidFill>
            <a:srgbClr val="E86A5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9" name="Rectangle 38"/>
          <p:cNvSpPr/>
          <p:nvPr/>
        </p:nvSpPr>
        <p:spPr>
          <a:xfrm>
            <a:off x="2176547" y="3062634"/>
            <a:ext cx="79380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0" name="Rectangle 39"/>
          <p:cNvSpPr/>
          <p:nvPr/>
        </p:nvSpPr>
        <p:spPr>
          <a:xfrm>
            <a:off x="2986846" y="4830192"/>
            <a:ext cx="793802" cy="23975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1" name="Rectangle 40"/>
          <p:cNvSpPr/>
          <p:nvPr/>
        </p:nvSpPr>
        <p:spPr>
          <a:xfrm>
            <a:off x="3884421" y="2485759"/>
            <a:ext cx="306398" cy="369332"/>
          </a:xfrm>
          <a:prstGeom prst="rect">
            <a:avLst/>
          </a:prstGeom>
        </p:spPr>
        <p:txBody>
          <a:bodyPr wrap="square">
            <a:spAutoFit/>
          </a:bodyPr>
          <a:lstStyle/>
          <a:p>
            <a:r>
              <a:rPr lang="en-US" dirty="0" smtClean="0"/>
              <a:t>G</a:t>
            </a:r>
            <a:endParaRPr lang="sv-SE" dirty="0"/>
          </a:p>
        </p:txBody>
      </p:sp>
      <p:sp>
        <p:nvSpPr>
          <p:cNvPr id="42" name="Rectangle 41"/>
          <p:cNvSpPr/>
          <p:nvPr/>
        </p:nvSpPr>
        <p:spPr>
          <a:xfrm>
            <a:off x="2426134" y="2737382"/>
            <a:ext cx="306398" cy="369332"/>
          </a:xfrm>
          <a:prstGeom prst="rect">
            <a:avLst/>
          </a:prstGeom>
        </p:spPr>
        <p:txBody>
          <a:bodyPr wrap="square">
            <a:spAutoFit/>
          </a:bodyPr>
          <a:lstStyle/>
          <a:p>
            <a:r>
              <a:rPr lang="en-US" dirty="0"/>
              <a:t>S</a:t>
            </a:r>
            <a:endParaRPr lang="sv-SE" dirty="0"/>
          </a:p>
        </p:txBody>
      </p:sp>
      <p:sp>
        <p:nvSpPr>
          <p:cNvPr id="43" name="Rectangle 42"/>
          <p:cNvSpPr/>
          <p:nvPr/>
        </p:nvSpPr>
        <p:spPr>
          <a:xfrm>
            <a:off x="3215366" y="5015308"/>
            <a:ext cx="255280" cy="369332"/>
          </a:xfrm>
          <a:prstGeom prst="rect">
            <a:avLst/>
          </a:prstGeom>
        </p:spPr>
        <p:txBody>
          <a:bodyPr wrap="square">
            <a:spAutoFit/>
          </a:bodyPr>
          <a:lstStyle/>
          <a:p>
            <a:r>
              <a:rPr lang="en-US" dirty="0" smtClean="0"/>
              <a:t>D</a:t>
            </a:r>
            <a:endParaRPr lang="sv-SE" dirty="0"/>
          </a:p>
        </p:txBody>
      </p:sp>
      <p:sp>
        <p:nvSpPr>
          <p:cNvPr id="44" name="Rectangle 43"/>
          <p:cNvSpPr/>
          <p:nvPr/>
        </p:nvSpPr>
        <p:spPr>
          <a:xfrm>
            <a:off x="1808171" y="5283204"/>
            <a:ext cx="3376398" cy="369332"/>
          </a:xfrm>
          <a:prstGeom prst="rect">
            <a:avLst/>
          </a:prstGeom>
        </p:spPr>
        <p:txBody>
          <a:bodyPr wrap="square">
            <a:spAutoFit/>
          </a:bodyPr>
          <a:lstStyle/>
          <a:p>
            <a:r>
              <a:rPr lang="en-US" dirty="0" smtClean="0"/>
              <a:t>Basic vertical n-type MOSFET</a:t>
            </a:r>
            <a:endParaRPr lang="sv-SE" dirty="0"/>
          </a:p>
        </p:txBody>
      </p:sp>
      <p:sp>
        <p:nvSpPr>
          <p:cNvPr id="45" name="Rectangle 44"/>
          <p:cNvSpPr/>
          <p:nvPr/>
        </p:nvSpPr>
        <p:spPr>
          <a:xfrm>
            <a:off x="1808171" y="3970340"/>
            <a:ext cx="3019523" cy="461933"/>
          </a:xfrm>
          <a:prstGeom prst="rect">
            <a:avLst/>
          </a:prstGeom>
          <a:solidFill>
            <a:srgbClr val="6298D2">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smtClean="0"/>
              <a:t>-</a:t>
            </a:r>
            <a:endParaRPr lang="sv-SE" dirty="0"/>
          </a:p>
        </p:txBody>
      </p:sp>
      <p:sp>
        <p:nvSpPr>
          <p:cNvPr id="46" name="Rectangle 45"/>
          <p:cNvSpPr/>
          <p:nvPr/>
        </p:nvSpPr>
        <p:spPr>
          <a:xfrm>
            <a:off x="1808171" y="4421091"/>
            <a:ext cx="3019523"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smtClean="0"/>
              <a:t>+</a:t>
            </a:r>
            <a:endParaRPr lang="sv-SE" dirty="0"/>
          </a:p>
        </p:txBody>
      </p:sp>
      <p:sp>
        <p:nvSpPr>
          <p:cNvPr id="48" name="Rectangle 47"/>
          <p:cNvSpPr/>
          <p:nvPr/>
        </p:nvSpPr>
        <p:spPr>
          <a:xfrm>
            <a:off x="2779919" y="3277879"/>
            <a:ext cx="500726" cy="477877"/>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pic>
        <p:nvPicPr>
          <p:cNvPr id="50" name="Picture 49"/>
          <p:cNvPicPr>
            <a:picLocks noChangeAspect="1"/>
          </p:cNvPicPr>
          <p:nvPr/>
        </p:nvPicPr>
        <p:blipFill>
          <a:blip r:embed="rId2"/>
          <a:stretch>
            <a:fillRect/>
          </a:stretch>
        </p:blipFill>
        <p:spPr>
          <a:xfrm>
            <a:off x="7051971" y="3783977"/>
            <a:ext cx="3217877" cy="2198094"/>
          </a:xfrm>
          <a:prstGeom prst="rect">
            <a:avLst/>
          </a:prstGeom>
        </p:spPr>
      </p:pic>
      <p:sp>
        <p:nvSpPr>
          <p:cNvPr id="2" name="Rectangle 1"/>
          <p:cNvSpPr/>
          <p:nvPr/>
        </p:nvSpPr>
        <p:spPr>
          <a:xfrm>
            <a:off x="527003" y="6296849"/>
            <a:ext cx="8112632" cy="369332"/>
          </a:xfrm>
          <a:prstGeom prst="rect">
            <a:avLst/>
          </a:prstGeom>
        </p:spPr>
        <p:txBody>
          <a:bodyPr wrap="square">
            <a:spAutoFit/>
          </a:bodyPr>
          <a:lstStyle/>
          <a:p>
            <a:r>
              <a:rPr lang="sv-SE" dirty="0" smtClean="0"/>
              <a:t>[1] </a:t>
            </a:r>
            <a:r>
              <a:rPr lang="sv-SE" dirty="0" err="1" smtClean="0"/>
              <a:t>Semiconductor</a:t>
            </a:r>
            <a:r>
              <a:rPr lang="sv-SE" dirty="0" smtClean="0"/>
              <a:t> </a:t>
            </a:r>
            <a:r>
              <a:rPr lang="sv-SE" dirty="0"/>
              <a:t>Power </a:t>
            </a:r>
            <a:r>
              <a:rPr lang="sv-SE" dirty="0" err="1" smtClean="0"/>
              <a:t>Devices</a:t>
            </a:r>
            <a:r>
              <a:rPr lang="sv-SE" dirty="0" smtClean="0"/>
              <a:t> </a:t>
            </a:r>
            <a:r>
              <a:rPr lang="sv-SE" dirty="0" err="1" smtClean="0"/>
              <a:t>Physics</a:t>
            </a:r>
            <a:r>
              <a:rPr lang="sv-SE" dirty="0"/>
              <a:t>, </a:t>
            </a:r>
            <a:r>
              <a:rPr lang="sv-SE" dirty="0" err="1"/>
              <a:t>Characteristics</a:t>
            </a:r>
            <a:r>
              <a:rPr lang="sv-SE" dirty="0"/>
              <a:t>, </a:t>
            </a:r>
            <a:r>
              <a:rPr lang="sv-SE" dirty="0" err="1"/>
              <a:t>Reliability</a:t>
            </a:r>
            <a:endParaRPr lang="sv-SE" dirty="0"/>
          </a:p>
        </p:txBody>
      </p:sp>
    </p:spTree>
    <p:extLst>
      <p:ext uri="{BB962C8B-B14F-4D97-AF65-F5344CB8AC3E}">
        <p14:creationId xmlns:p14="http://schemas.microsoft.com/office/powerpoint/2010/main" val="25635294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5995984" y="902015"/>
            <a:ext cx="153055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metal</a:t>
            </a:r>
            <a:endParaRPr lang="sv-SE" dirty="0"/>
          </a:p>
        </p:txBody>
      </p:sp>
      <p:sp>
        <p:nvSpPr>
          <p:cNvPr id="19" name="Rectangle 18"/>
          <p:cNvSpPr/>
          <p:nvPr/>
        </p:nvSpPr>
        <p:spPr>
          <a:xfrm>
            <a:off x="5685687" y="1119843"/>
            <a:ext cx="2134545" cy="224626"/>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oxide</a:t>
            </a:r>
            <a:endParaRPr lang="sv-SE" dirty="0"/>
          </a:p>
        </p:txBody>
      </p:sp>
      <p:sp>
        <p:nvSpPr>
          <p:cNvPr id="20" name="Rectangle 19"/>
          <p:cNvSpPr/>
          <p:nvPr/>
        </p:nvSpPr>
        <p:spPr>
          <a:xfrm>
            <a:off x="5995984" y="1348580"/>
            <a:ext cx="1530552" cy="1210934"/>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21" name="Rectangle 20"/>
          <p:cNvSpPr/>
          <p:nvPr/>
        </p:nvSpPr>
        <p:spPr>
          <a:xfrm>
            <a:off x="4523511" y="1355143"/>
            <a:ext cx="1472473"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22" name="Rectangle 21"/>
          <p:cNvSpPr/>
          <p:nvPr/>
        </p:nvSpPr>
        <p:spPr>
          <a:xfrm>
            <a:off x="4523511" y="1817077"/>
            <a:ext cx="1530552" cy="742438"/>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3" name="Rectangle 22"/>
          <p:cNvSpPr/>
          <p:nvPr/>
        </p:nvSpPr>
        <p:spPr>
          <a:xfrm>
            <a:off x="7528917" y="1357372"/>
            <a:ext cx="1530552"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24" name="Rectangle 23"/>
          <p:cNvSpPr/>
          <p:nvPr/>
        </p:nvSpPr>
        <p:spPr>
          <a:xfrm>
            <a:off x="7526536" y="1817076"/>
            <a:ext cx="1530552" cy="742438"/>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ctangle 24"/>
          <p:cNvSpPr/>
          <p:nvPr/>
        </p:nvSpPr>
        <p:spPr>
          <a:xfrm>
            <a:off x="4022377" y="1137729"/>
            <a:ext cx="1663311"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ctangle 25"/>
          <p:cNvSpPr/>
          <p:nvPr/>
        </p:nvSpPr>
        <p:spPr>
          <a:xfrm>
            <a:off x="7820232" y="1113501"/>
            <a:ext cx="793802" cy="23975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ctangle 26"/>
          <p:cNvSpPr/>
          <p:nvPr/>
        </p:nvSpPr>
        <p:spPr>
          <a:xfrm>
            <a:off x="6599760" y="560854"/>
            <a:ext cx="306398" cy="369332"/>
          </a:xfrm>
          <a:prstGeom prst="rect">
            <a:avLst/>
          </a:prstGeom>
        </p:spPr>
        <p:txBody>
          <a:bodyPr wrap="square">
            <a:spAutoFit/>
          </a:bodyPr>
          <a:lstStyle/>
          <a:p>
            <a:r>
              <a:rPr lang="en-US" dirty="0" smtClean="0"/>
              <a:t>G</a:t>
            </a:r>
            <a:endParaRPr lang="sv-SE" dirty="0"/>
          </a:p>
        </p:txBody>
      </p:sp>
      <p:sp>
        <p:nvSpPr>
          <p:cNvPr id="28" name="Rectangle 27"/>
          <p:cNvSpPr/>
          <p:nvPr/>
        </p:nvSpPr>
        <p:spPr>
          <a:xfrm>
            <a:off x="5141473" y="812477"/>
            <a:ext cx="306398" cy="369332"/>
          </a:xfrm>
          <a:prstGeom prst="rect">
            <a:avLst/>
          </a:prstGeom>
        </p:spPr>
        <p:txBody>
          <a:bodyPr wrap="square">
            <a:spAutoFit/>
          </a:bodyPr>
          <a:lstStyle/>
          <a:p>
            <a:r>
              <a:rPr lang="en-US" dirty="0"/>
              <a:t>S</a:t>
            </a:r>
            <a:endParaRPr lang="sv-SE" dirty="0"/>
          </a:p>
        </p:txBody>
      </p:sp>
      <p:sp>
        <p:nvSpPr>
          <p:cNvPr id="29" name="Rectangle 28"/>
          <p:cNvSpPr/>
          <p:nvPr/>
        </p:nvSpPr>
        <p:spPr>
          <a:xfrm>
            <a:off x="8063934" y="812477"/>
            <a:ext cx="306398" cy="369332"/>
          </a:xfrm>
          <a:prstGeom prst="rect">
            <a:avLst/>
          </a:prstGeom>
        </p:spPr>
        <p:txBody>
          <a:bodyPr wrap="square">
            <a:spAutoFit/>
          </a:bodyPr>
          <a:lstStyle/>
          <a:p>
            <a:r>
              <a:rPr lang="en-US" dirty="0" smtClean="0"/>
              <a:t>D</a:t>
            </a:r>
            <a:endParaRPr lang="sv-SE" dirty="0"/>
          </a:p>
        </p:txBody>
      </p:sp>
      <p:sp>
        <p:nvSpPr>
          <p:cNvPr id="30" name="Rectangle 29"/>
          <p:cNvSpPr/>
          <p:nvPr/>
        </p:nvSpPr>
        <p:spPr>
          <a:xfrm>
            <a:off x="5979384" y="1353075"/>
            <a:ext cx="1547152" cy="219751"/>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Channe</a:t>
            </a:r>
            <a:r>
              <a:rPr lang="en-US" dirty="0"/>
              <a:t>l</a:t>
            </a:r>
            <a:endParaRPr lang="sv-SE" dirty="0"/>
          </a:p>
        </p:txBody>
      </p:sp>
      <p:sp>
        <p:nvSpPr>
          <p:cNvPr id="31" name="Rectangle 30"/>
          <p:cNvSpPr/>
          <p:nvPr/>
        </p:nvSpPr>
        <p:spPr>
          <a:xfrm>
            <a:off x="5373020" y="2613603"/>
            <a:ext cx="3376398" cy="369332"/>
          </a:xfrm>
          <a:prstGeom prst="rect">
            <a:avLst/>
          </a:prstGeom>
        </p:spPr>
        <p:txBody>
          <a:bodyPr wrap="square">
            <a:spAutoFit/>
          </a:bodyPr>
          <a:lstStyle/>
          <a:p>
            <a:r>
              <a:rPr lang="en-US" dirty="0" smtClean="0"/>
              <a:t>Basic lateral n-type MOSFET</a:t>
            </a:r>
            <a:endParaRPr lang="sv-SE" dirty="0"/>
          </a:p>
        </p:txBody>
      </p:sp>
      <p:sp>
        <p:nvSpPr>
          <p:cNvPr id="32" name="Rectangle 31"/>
          <p:cNvSpPr/>
          <p:nvPr/>
        </p:nvSpPr>
        <p:spPr>
          <a:xfrm>
            <a:off x="6736513" y="3680681"/>
            <a:ext cx="153055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metal</a:t>
            </a:r>
            <a:endParaRPr lang="sv-SE" dirty="0"/>
          </a:p>
        </p:txBody>
      </p:sp>
      <p:sp>
        <p:nvSpPr>
          <p:cNvPr id="33" name="Rectangle 32"/>
          <p:cNvSpPr/>
          <p:nvPr/>
        </p:nvSpPr>
        <p:spPr>
          <a:xfrm>
            <a:off x="6426216" y="3911869"/>
            <a:ext cx="1840849" cy="21126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oxide</a:t>
            </a:r>
            <a:endParaRPr lang="sv-SE" dirty="0"/>
          </a:p>
        </p:txBody>
      </p:sp>
      <p:sp>
        <p:nvSpPr>
          <p:cNvPr id="34" name="Rectangle 33"/>
          <p:cNvSpPr/>
          <p:nvPr/>
        </p:nvSpPr>
        <p:spPr>
          <a:xfrm>
            <a:off x="6599760" y="4127246"/>
            <a:ext cx="1667305" cy="714913"/>
          </a:xfrm>
          <a:prstGeom prst="rect">
            <a:avLst/>
          </a:prstGeom>
          <a:solidFill>
            <a:srgbClr val="E86A5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35" name="Rectangle 34"/>
          <p:cNvSpPr/>
          <p:nvPr/>
        </p:nvSpPr>
        <p:spPr>
          <a:xfrm>
            <a:off x="5264040" y="4133809"/>
            <a:ext cx="971745"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36" name="Rectangle 35"/>
          <p:cNvSpPr/>
          <p:nvPr/>
        </p:nvSpPr>
        <p:spPr>
          <a:xfrm>
            <a:off x="4811492" y="4595743"/>
            <a:ext cx="1788268" cy="246416"/>
          </a:xfrm>
          <a:prstGeom prst="rect">
            <a:avLst/>
          </a:prstGeom>
          <a:solidFill>
            <a:srgbClr val="E86A5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9" name="Rectangle 38"/>
          <p:cNvSpPr/>
          <p:nvPr/>
        </p:nvSpPr>
        <p:spPr>
          <a:xfrm>
            <a:off x="5259747" y="3916395"/>
            <a:ext cx="1166470"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0" name="Rectangle 39"/>
          <p:cNvSpPr/>
          <p:nvPr/>
        </p:nvSpPr>
        <p:spPr>
          <a:xfrm>
            <a:off x="6442714" y="5683953"/>
            <a:ext cx="793802" cy="23975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1" name="Rectangle 40"/>
          <p:cNvSpPr/>
          <p:nvPr/>
        </p:nvSpPr>
        <p:spPr>
          <a:xfrm>
            <a:off x="7340289" y="3339520"/>
            <a:ext cx="306398" cy="369332"/>
          </a:xfrm>
          <a:prstGeom prst="rect">
            <a:avLst/>
          </a:prstGeom>
        </p:spPr>
        <p:txBody>
          <a:bodyPr wrap="square">
            <a:spAutoFit/>
          </a:bodyPr>
          <a:lstStyle/>
          <a:p>
            <a:r>
              <a:rPr lang="en-US" dirty="0" smtClean="0"/>
              <a:t>G</a:t>
            </a:r>
            <a:endParaRPr lang="sv-SE" dirty="0"/>
          </a:p>
        </p:txBody>
      </p:sp>
      <p:sp>
        <p:nvSpPr>
          <p:cNvPr id="42" name="Rectangle 41"/>
          <p:cNvSpPr/>
          <p:nvPr/>
        </p:nvSpPr>
        <p:spPr>
          <a:xfrm>
            <a:off x="5882002" y="3591143"/>
            <a:ext cx="306398" cy="369332"/>
          </a:xfrm>
          <a:prstGeom prst="rect">
            <a:avLst/>
          </a:prstGeom>
        </p:spPr>
        <p:txBody>
          <a:bodyPr wrap="square">
            <a:spAutoFit/>
          </a:bodyPr>
          <a:lstStyle/>
          <a:p>
            <a:r>
              <a:rPr lang="en-US" dirty="0"/>
              <a:t>S</a:t>
            </a:r>
            <a:endParaRPr lang="sv-SE" dirty="0"/>
          </a:p>
        </p:txBody>
      </p:sp>
      <p:sp>
        <p:nvSpPr>
          <p:cNvPr id="43" name="Rectangle 42"/>
          <p:cNvSpPr/>
          <p:nvPr/>
        </p:nvSpPr>
        <p:spPr>
          <a:xfrm>
            <a:off x="5929389" y="5923712"/>
            <a:ext cx="306398" cy="369332"/>
          </a:xfrm>
          <a:prstGeom prst="rect">
            <a:avLst/>
          </a:prstGeom>
        </p:spPr>
        <p:txBody>
          <a:bodyPr wrap="square">
            <a:spAutoFit/>
          </a:bodyPr>
          <a:lstStyle/>
          <a:p>
            <a:r>
              <a:rPr lang="en-US" dirty="0" smtClean="0"/>
              <a:t>D</a:t>
            </a:r>
            <a:endParaRPr lang="sv-SE" dirty="0"/>
          </a:p>
        </p:txBody>
      </p:sp>
      <p:sp>
        <p:nvSpPr>
          <p:cNvPr id="44" name="Rectangle 43"/>
          <p:cNvSpPr/>
          <p:nvPr/>
        </p:nvSpPr>
        <p:spPr>
          <a:xfrm>
            <a:off x="5122576" y="6185063"/>
            <a:ext cx="3376398" cy="369332"/>
          </a:xfrm>
          <a:prstGeom prst="rect">
            <a:avLst/>
          </a:prstGeom>
        </p:spPr>
        <p:txBody>
          <a:bodyPr wrap="square">
            <a:spAutoFit/>
          </a:bodyPr>
          <a:lstStyle/>
          <a:p>
            <a:r>
              <a:rPr lang="en-US" dirty="0" smtClean="0"/>
              <a:t>Basic vertical n-type MOSFET</a:t>
            </a:r>
            <a:endParaRPr lang="sv-SE" dirty="0"/>
          </a:p>
        </p:txBody>
      </p:sp>
      <p:sp>
        <p:nvSpPr>
          <p:cNvPr id="45" name="Rectangle 44"/>
          <p:cNvSpPr/>
          <p:nvPr/>
        </p:nvSpPr>
        <p:spPr>
          <a:xfrm>
            <a:off x="5264039" y="4824101"/>
            <a:ext cx="3019523" cy="461933"/>
          </a:xfrm>
          <a:prstGeom prst="rect">
            <a:avLst/>
          </a:prstGeom>
          <a:solidFill>
            <a:srgbClr val="6298D2">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smtClean="0"/>
              <a:t>-</a:t>
            </a:r>
            <a:endParaRPr lang="sv-SE" dirty="0"/>
          </a:p>
        </p:txBody>
      </p:sp>
      <p:sp>
        <p:nvSpPr>
          <p:cNvPr id="46" name="Rectangle 45"/>
          <p:cNvSpPr/>
          <p:nvPr/>
        </p:nvSpPr>
        <p:spPr>
          <a:xfrm>
            <a:off x="5264039" y="5274852"/>
            <a:ext cx="3019523"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a:t>
            </a:r>
            <a:r>
              <a:rPr lang="en-US" dirty="0" smtClean="0"/>
              <a:t>+</a:t>
            </a:r>
            <a:endParaRPr lang="sv-SE" dirty="0"/>
          </a:p>
        </p:txBody>
      </p:sp>
      <p:sp>
        <p:nvSpPr>
          <p:cNvPr id="48" name="Rectangle 47"/>
          <p:cNvSpPr/>
          <p:nvPr/>
        </p:nvSpPr>
        <p:spPr>
          <a:xfrm>
            <a:off x="6235787" y="4131640"/>
            <a:ext cx="500726" cy="477877"/>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49" name="Rectangle 48"/>
          <p:cNvSpPr/>
          <p:nvPr/>
        </p:nvSpPr>
        <p:spPr>
          <a:xfrm>
            <a:off x="6222513" y="4119891"/>
            <a:ext cx="510812" cy="9467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 name="Freeform 1"/>
          <p:cNvSpPr/>
          <p:nvPr/>
        </p:nvSpPr>
        <p:spPr>
          <a:xfrm>
            <a:off x="5405351" y="230678"/>
            <a:ext cx="1086557" cy="662940"/>
          </a:xfrm>
          <a:custGeom>
            <a:avLst/>
            <a:gdLst>
              <a:gd name="connsiteX0" fmla="*/ 1074420 w 1086557"/>
              <a:gd name="connsiteY0" fmla="*/ 662940 h 662940"/>
              <a:gd name="connsiteX1" fmla="*/ 960120 w 1086557"/>
              <a:gd name="connsiteY1" fmla="*/ 198120 h 662940"/>
              <a:gd name="connsiteX2" fmla="*/ 167640 w 1086557"/>
              <a:gd name="connsiteY2" fmla="*/ 68580 h 662940"/>
              <a:gd name="connsiteX3" fmla="*/ 0 w 1086557"/>
              <a:gd name="connsiteY3" fmla="*/ 0 h 662940"/>
            </a:gdLst>
            <a:ahLst/>
            <a:cxnLst>
              <a:cxn ang="0">
                <a:pos x="connsiteX0" y="connsiteY0"/>
              </a:cxn>
              <a:cxn ang="0">
                <a:pos x="connsiteX1" y="connsiteY1"/>
              </a:cxn>
              <a:cxn ang="0">
                <a:pos x="connsiteX2" y="connsiteY2"/>
              </a:cxn>
              <a:cxn ang="0">
                <a:pos x="connsiteX3" y="connsiteY3"/>
              </a:cxn>
            </a:cxnLst>
            <a:rect l="l" t="t" r="r" b="b"/>
            <a:pathLst>
              <a:path w="1086557" h="662940">
                <a:moveTo>
                  <a:pt x="1074420" y="662940"/>
                </a:moveTo>
                <a:cubicBezTo>
                  <a:pt x="1092835" y="480060"/>
                  <a:pt x="1111250" y="297180"/>
                  <a:pt x="960120" y="198120"/>
                </a:cubicBezTo>
                <a:cubicBezTo>
                  <a:pt x="808990" y="99060"/>
                  <a:pt x="327660" y="101600"/>
                  <a:pt x="167640" y="68580"/>
                </a:cubicBezTo>
                <a:cubicBezTo>
                  <a:pt x="7620" y="35560"/>
                  <a:pt x="19050" y="12700"/>
                  <a:pt x="0" y="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Freeform 3"/>
          <p:cNvSpPr/>
          <p:nvPr/>
        </p:nvSpPr>
        <p:spPr>
          <a:xfrm>
            <a:off x="5021243" y="309972"/>
            <a:ext cx="238504" cy="845820"/>
          </a:xfrm>
          <a:custGeom>
            <a:avLst/>
            <a:gdLst>
              <a:gd name="connsiteX0" fmla="*/ 0 w 238504"/>
              <a:gd name="connsiteY0" fmla="*/ 845820 h 845820"/>
              <a:gd name="connsiteX1" fmla="*/ 45720 w 238504"/>
              <a:gd name="connsiteY1" fmla="*/ 350520 h 845820"/>
              <a:gd name="connsiteX2" fmla="*/ 236220 w 238504"/>
              <a:gd name="connsiteY2" fmla="*/ 68580 h 845820"/>
              <a:gd name="connsiteX3" fmla="*/ 160020 w 238504"/>
              <a:gd name="connsiteY3" fmla="*/ 0 h 845820"/>
            </a:gdLst>
            <a:ahLst/>
            <a:cxnLst>
              <a:cxn ang="0">
                <a:pos x="connsiteX0" y="connsiteY0"/>
              </a:cxn>
              <a:cxn ang="0">
                <a:pos x="connsiteX1" y="connsiteY1"/>
              </a:cxn>
              <a:cxn ang="0">
                <a:pos x="connsiteX2" y="connsiteY2"/>
              </a:cxn>
              <a:cxn ang="0">
                <a:pos x="connsiteX3" y="connsiteY3"/>
              </a:cxn>
            </a:cxnLst>
            <a:rect l="l" t="t" r="r" b="b"/>
            <a:pathLst>
              <a:path w="238504" h="845820">
                <a:moveTo>
                  <a:pt x="0" y="845820"/>
                </a:moveTo>
                <a:cubicBezTo>
                  <a:pt x="3175" y="662940"/>
                  <a:pt x="6350" y="480060"/>
                  <a:pt x="45720" y="350520"/>
                </a:cubicBezTo>
                <a:cubicBezTo>
                  <a:pt x="85090" y="220980"/>
                  <a:pt x="217170" y="127000"/>
                  <a:pt x="236220" y="68580"/>
                </a:cubicBezTo>
                <a:cubicBezTo>
                  <a:pt x="255270" y="10160"/>
                  <a:pt x="148590" y="21590"/>
                  <a:pt x="160020" y="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7" name="Rectangle 46"/>
          <p:cNvSpPr/>
          <p:nvPr/>
        </p:nvSpPr>
        <p:spPr>
          <a:xfrm>
            <a:off x="4931572" y="10452"/>
            <a:ext cx="714429" cy="369332"/>
          </a:xfrm>
          <a:prstGeom prst="rect">
            <a:avLst/>
          </a:prstGeom>
        </p:spPr>
        <p:txBody>
          <a:bodyPr wrap="square">
            <a:spAutoFit/>
          </a:bodyPr>
          <a:lstStyle/>
          <a:p>
            <a:r>
              <a:rPr lang="en-US" dirty="0" smtClean="0"/>
              <a:t>V&gt; 0</a:t>
            </a:r>
            <a:endParaRPr lang="sv-SE" dirty="0"/>
          </a:p>
        </p:txBody>
      </p:sp>
      <p:sp>
        <p:nvSpPr>
          <p:cNvPr id="51" name="Freeform 50"/>
          <p:cNvSpPr/>
          <p:nvPr/>
        </p:nvSpPr>
        <p:spPr>
          <a:xfrm>
            <a:off x="5948629" y="3267960"/>
            <a:ext cx="957529" cy="444133"/>
          </a:xfrm>
          <a:custGeom>
            <a:avLst/>
            <a:gdLst>
              <a:gd name="connsiteX0" fmla="*/ 1074420 w 1086557"/>
              <a:gd name="connsiteY0" fmla="*/ 662940 h 662940"/>
              <a:gd name="connsiteX1" fmla="*/ 960120 w 1086557"/>
              <a:gd name="connsiteY1" fmla="*/ 198120 h 662940"/>
              <a:gd name="connsiteX2" fmla="*/ 167640 w 1086557"/>
              <a:gd name="connsiteY2" fmla="*/ 68580 h 662940"/>
              <a:gd name="connsiteX3" fmla="*/ 0 w 1086557"/>
              <a:gd name="connsiteY3" fmla="*/ 0 h 662940"/>
            </a:gdLst>
            <a:ahLst/>
            <a:cxnLst>
              <a:cxn ang="0">
                <a:pos x="connsiteX0" y="connsiteY0"/>
              </a:cxn>
              <a:cxn ang="0">
                <a:pos x="connsiteX1" y="connsiteY1"/>
              </a:cxn>
              <a:cxn ang="0">
                <a:pos x="connsiteX2" y="connsiteY2"/>
              </a:cxn>
              <a:cxn ang="0">
                <a:pos x="connsiteX3" y="connsiteY3"/>
              </a:cxn>
            </a:cxnLst>
            <a:rect l="l" t="t" r="r" b="b"/>
            <a:pathLst>
              <a:path w="1086557" h="662940">
                <a:moveTo>
                  <a:pt x="1074420" y="662940"/>
                </a:moveTo>
                <a:cubicBezTo>
                  <a:pt x="1092835" y="480060"/>
                  <a:pt x="1111250" y="297180"/>
                  <a:pt x="960120" y="198120"/>
                </a:cubicBezTo>
                <a:cubicBezTo>
                  <a:pt x="808990" y="99060"/>
                  <a:pt x="327660" y="101600"/>
                  <a:pt x="167640" y="68580"/>
                </a:cubicBezTo>
                <a:cubicBezTo>
                  <a:pt x="7620" y="35560"/>
                  <a:pt x="19050" y="12700"/>
                  <a:pt x="0" y="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2" name="Freeform 51"/>
          <p:cNvSpPr/>
          <p:nvPr/>
        </p:nvSpPr>
        <p:spPr>
          <a:xfrm>
            <a:off x="5718174" y="3339519"/>
            <a:ext cx="238504" cy="680313"/>
          </a:xfrm>
          <a:custGeom>
            <a:avLst/>
            <a:gdLst>
              <a:gd name="connsiteX0" fmla="*/ 0 w 238504"/>
              <a:gd name="connsiteY0" fmla="*/ 845820 h 845820"/>
              <a:gd name="connsiteX1" fmla="*/ 45720 w 238504"/>
              <a:gd name="connsiteY1" fmla="*/ 350520 h 845820"/>
              <a:gd name="connsiteX2" fmla="*/ 236220 w 238504"/>
              <a:gd name="connsiteY2" fmla="*/ 68580 h 845820"/>
              <a:gd name="connsiteX3" fmla="*/ 160020 w 238504"/>
              <a:gd name="connsiteY3" fmla="*/ 0 h 845820"/>
            </a:gdLst>
            <a:ahLst/>
            <a:cxnLst>
              <a:cxn ang="0">
                <a:pos x="connsiteX0" y="connsiteY0"/>
              </a:cxn>
              <a:cxn ang="0">
                <a:pos x="connsiteX1" y="connsiteY1"/>
              </a:cxn>
              <a:cxn ang="0">
                <a:pos x="connsiteX2" y="connsiteY2"/>
              </a:cxn>
              <a:cxn ang="0">
                <a:pos x="connsiteX3" y="connsiteY3"/>
              </a:cxn>
            </a:cxnLst>
            <a:rect l="l" t="t" r="r" b="b"/>
            <a:pathLst>
              <a:path w="238504" h="845820">
                <a:moveTo>
                  <a:pt x="0" y="845820"/>
                </a:moveTo>
                <a:cubicBezTo>
                  <a:pt x="3175" y="662940"/>
                  <a:pt x="6350" y="480060"/>
                  <a:pt x="45720" y="350520"/>
                </a:cubicBezTo>
                <a:cubicBezTo>
                  <a:pt x="85090" y="220980"/>
                  <a:pt x="217170" y="127000"/>
                  <a:pt x="236220" y="68580"/>
                </a:cubicBezTo>
                <a:cubicBezTo>
                  <a:pt x="255270" y="10160"/>
                  <a:pt x="148590" y="21590"/>
                  <a:pt x="160020" y="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3" name="Rectangle 52"/>
          <p:cNvSpPr/>
          <p:nvPr/>
        </p:nvSpPr>
        <p:spPr>
          <a:xfrm>
            <a:off x="5566124" y="2987000"/>
            <a:ext cx="714429" cy="369332"/>
          </a:xfrm>
          <a:prstGeom prst="rect">
            <a:avLst/>
          </a:prstGeom>
        </p:spPr>
        <p:txBody>
          <a:bodyPr wrap="square">
            <a:spAutoFit/>
          </a:bodyPr>
          <a:lstStyle/>
          <a:p>
            <a:r>
              <a:rPr lang="en-US" dirty="0" smtClean="0"/>
              <a:t>V&gt; 0</a:t>
            </a:r>
            <a:endParaRPr lang="sv-SE" dirty="0"/>
          </a:p>
        </p:txBody>
      </p:sp>
      <p:sp>
        <p:nvSpPr>
          <p:cNvPr id="58" name="Rectangle 57"/>
          <p:cNvSpPr/>
          <p:nvPr/>
        </p:nvSpPr>
        <p:spPr>
          <a:xfrm>
            <a:off x="4811491" y="3911869"/>
            <a:ext cx="452547" cy="683873"/>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59" name="Rectangle 58"/>
          <p:cNvSpPr/>
          <p:nvPr/>
        </p:nvSpPr>
        <p:spPr>
          <a:xfrm>
            <a:off x="4022378" y="1352504"/>
            <a:ext cx="501134" cy="1207010"/>
          </a:xfrm>
          <a:prstGeom prst="rect">
            <a:avLst/>
          </a:prstGeom>
          <a:solidFill>
            <a:srgbClr val="E86A5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r>
              <a:rPr lang="en-US" dirty="0" smtClean="0"/>
              <a:t>+</a:t>
            </a:r>
            <a:endParaRPr lang="sv-SE" dirty="0"/>
          </a:p>
        </p:txBody>
      </p:sp>
      <p:sp>
        <p:nvSpPr>
          <p:cNvPr id="5" name="Freeform 4"/>
          <p:cNvSpPr/>
          <p:nvPr/>
        </p:nvSpPr>
        <p:spPr>
          <a:xfrm>
            <a:off x="4142175" y="1190798"/>
            <a:ext cx="4433096" cy="1139166"/>
          </a:xfrm>
          <a:custGeom>
            <a:avLst/>
            <a:gdLst>
              <a:gd name="connsiteX0" fmla="*/ 120176 w 4433096"/>
              <a:gd name="connsiteY0" fmla="*/ 0 h 1139166"/>
              <a:gd name="connsiteX1" fmla="*/ 447836 w 4433096"/>
              <a:gd name="connsiteY1" fmla="*/ 1036320 h 1139166"/>
              <a:gd name="connsiteX2" fmla="*/ 3754916 w 4433096"/>
              <a:gd name="connsiteY2" fmla="*/ 1043940 h 1139166"/>
              <a:gd name="connsiteX3" fmla="*/ 4433096 w 4433096"/>
              <a:gd name="connsiteY3" fmla="*/ 525780 h 1139166"/>
            </a:gdLst>
            <a:ahLst/>
            <a:cxnLst>
              <a:cxn ang="0">
                <a:pos x="connsiteX0" y="connsiteY0"/>
              </a:cxn>
              <a:cxn ang="0">
                <a:pos x="connsiteX1" y="connsiteY1"/>
              </a:cxn>
              <a:cxn ang="0">
                <a:pos x="connsiteX2" y="connsiteY2"/>
              </a:cxn>
              <a:cxn ang="0">
                <a:pos x="connsiteX3" y="connsiteY3"/>
              </a:cxn>
            </a:cxnLst>
            <a:rect l="l" t="t" r="r" b="b"/>
            <a:pathLst>
              <a:path w="4433096" h="1139166">
                <a:moveTo>
                  <a:pt x="120176" y="0"/>
                </a:moveTo>
                <a:cubicBezTo>
                  <a:pt x="-18889" y="431165"/>
                  <a:pt x="-157954" y="862330"/>
                  <a:pt x="447836" y="1036320"/>
                </a:cubicBezTo>
                <a:cubicBezTo>
                  <a:pt x="1053626" y="1210310"/>
                  <a:pt x="3090706" y="1129030"/>
                  <a:pt x="3754916" y="1043940"/>
                </a:cubicBezTo>
                <a:cubicBezTo>
                  <a:pt x="4419126" y="958850"/>
                  <a:pt x="4426111" y="742315"/>
                  <a:pt x="4433096" y="52578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Isosceles Triangle 9"/>
          <p:cNvSpPr/>
          <p:nvPr/>
        </p:nvSpPr>
        <p:spPr>
          <a:xfrm>
            <a:off x="8469543" y="1560564"/>
            <a:ext cx="200025" cy="153014"/>
          </a:xfrm>
          <a:prstGeom prst="triangl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sv-SE" dirty="0"/>
          </a:p>
        </p:txBody>
      </p:sp>
      <p:cxnSp>
        <p:nvCxnSpPr>
          <p:cNvPr id="12" name="Straight Connector 11"/>
          <p:cNvCxnSpPr/>
          <p:nvPr/>
        </p:nvCxnSpPr>
        <p:spPr>
          <a:xfrm>
            <a:off x="8459455" y="1560564"/>
            <a:ext cx="200589" cy="0"/>
          </a:xfrm>
          <a:prstGeom prst="line">
            <a:avLst/>
          </a:prstGeom>
        </p:spPr>
        <p:style>
          <a:lnRef idx="2">
            <a:schemeClr val="dk1"/>
          </a:lnRef>
          <a:fillRef idx="0">
            <a:schemeClr val="dk1"/>
          </a:fillRef>
          <a:effectRef idx="1">
            <a:schemeClr val="dk1"/>
          </a:effectRef>
          <a:fontRef idx="minor">
            <a:schemeClr val="tx1"/>
          </a:fontRef>
        </p:style>
      </p:cxnSp>
      <p:cxnSp>
        <p:nvCxnSpPr>
          <p:cNvPr id="60" name="Straight Connector 59"/>
          <p:cNvCxnSpPr/>
          <p:nvPr/>
        </p:nvCxnSpPr>
        <p:spPr>
          <a:xfrm>
            <a:off x="8562574" y="1360388"/>
            <a:ext cx="10276" cy="366093"/>
          </a:xfrm>
          <a:prstGeom prst="line">
            <a:avLst/>
          </a:prstGeom>
        </p:spPr>
        <p:style>
          <a:lnRef idx="2">
            <a:schemeClr val="dk1"/>
          </a:lnRef>
          <a:fillRef idx="0">
            <a:schemeClr val="dk1"/>
          </a:fillRef>
          <a:effectRef idx="1">
            <a:schemeClr val="dk1"/>
          </a:effectRef>
          <a:fontRef idx="minor">
            <a:schemeClr val="tx1"/>
          </a:fontRef>
        </p:style>
      </p:cxnSp>
      <p:sp>
        <p:nvSpPr>
          <p:cNvPr id="68" name="Isosceles Triangle 67"/>
          <p:cNvSpPr/>
          <p:nvPr/>
        </p:nvSpPr>
        <p:spPr>
          <a:xfrm rot="10800000">
            <a:off x="5429650" y="4753604"/>
            <a:ext cx="200025" cy="153014"/>
          </a:xfrm>
          <a:prstGeom prst="triangl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sv-SE" dirty="0"/>
          </a:p>
        </p:txBody>
      </p:sp>
      <p:cxnSp>
        <p:nvCxnSpPr>
          <p:cNvPr id="69" name="Straight Connector 68"/>
          <p:cNvCxnSpPr/>
          <p:nvPr/>
        </p:nvCxnSpPr>
        <p:spPr>
          <a:xfrm>
            <a:off x="5427240" y="4906618"/>
            <a:ext cx="200589" cy="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p:cNvCxnSpPr/>
          <p:nvPr/>
        </p:nvCxnSpPr>
        <p:spPr>
          <a:xfrm>
            <a:off x="5527535" y="4618421"/>
            <a:ext cx="10276" cy="366093"/>
          </a:xfrm>
          <a:prstGeom prst="line">
            <a:avLst/>
          </a:prstGeom>
        </p:spPr>
        <p:style>
          <a:lnRef idx="2">
            <a:schemeClr val="dk1"/>
          </a:lnRef>
          <a:fillRef idx="0">
            <a:schemeClr val="dk1"/>
          </a:fillRef>
          <a:effectRef idx="1">
            <a:schemeClr val="dk1"/>
          </a:effectRef>
          <a:fontRef idx="minor">
            <a:schemeClr val="tx1"/>
          </a:fontRef>
        </p:style>
      </p:cxnSp>
      <p:sp>
        <p:nvSpPr>
          <p:cNvPr id="73" name="Freeform 72"/>
          <p:cNvSpPr/>
          <p:nvPr/>
        </p:nvSpPr>
        <p:spPr>
          <a:xfrm>
            <a:off x="4887263" y="3946698"/>
            <a:ext cx="643818" cy="743794"/>
          </a:xfrm>
          <a:custGeom>
            <a:avLst/>
            <a:gdLst>
              <a:gd name="connsiteX0" fmla="*/ 389818 w 643818"/>
              <a:gd name="connsiteY0" fmla="*/ 0 h 743794"/>
              <a:gd name="connsiteX1" fmla="*/ 78668 w 643818"/>
              <a:gd name="connsiteY1" fmla="*/ 279400 h 743794"/>
              <a:gd name="connsiteX2" fmla="*/ 21518 w 643818"/>
              <a:gd name="connsiteY2" fmla="*/ 457200 h 743794"/>
              <a:gd name="connsiteX3" fmla="*/ 59618 w 643818"/>
              <a:gd name="connsiteY3" fmla="*/ 730250 h 743794"/>
              <a:gd name="connsiteX4" fmla="*/ 643818 w 643818"/>
              <a:gd name="connsiteY4" fmla="*/ 692150 h 743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818" h="743794">
                <a:moveTo>
                  <a:pt x="389818" y="0"/>
                </a:moveTo>
                <a:cubicBezTo>
                  <a:pt x="264934" y="101600"/>
                  <a:pt x="140051" y="203200"/>
                  <a:pt x="78668" y="279400"/>
                </a:cubicBezTo>
                <a:cubicBezTo>
                  <a:pt x="17285" y="355600"/>
                  <a:pt x="24693" y="382058"/>
                  <a:pt x="21518" y="457200"/>
                </a:cubicBezTo>
                <a:cubicBezTo>
                  <a:pt x="18343" y="532342"/>
                  <a:pt x="-44099" y="691092"/>
                  <a:pt x="59618" y="730250"/>
                </a:cubicBezTo>
                <a:cubicBezTo>
                  <a:pt x="163335" y="769408"/>
                  <a:pt x="489301" y="713317"/>
                  <a:pt x="643818" y="692150"/>
                </a:cubicBezTo>
              </a:path>
            </a:pathLst>
          </a:custGeom>
          <a:noFill/>
          <a:ln>
            <a:solidFill>
              <a:schemeClr val="dk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4" name="Freeform 73"/>
          <p:cNvSpPr/>
          <p:nvPr/>
        </p:nvSpPr>
        <p:spPr>
          <a:xfrm>
            <a:off x="5530135" y="4956348"/>
            <a:ext cx="1232846" cy="787400"/>
          </a:xfrm>
          <a:custGeom>
            <a:avLst/>
            <a:gdLst>
              <a:gd name="connsiteX0" fmla="*/ 946 w 1232846"/>
              <a:gd name="connsiteY0" fmla="*/ 0 h 787400"/>
              <a:gd name="connsiteX1" fmla="*/ 134296 w 1232846"/>
              <a:gd name="connsiteY1" fmla="*/ 342900 h 787400"/>
              <a:gd name="connsiteX2" fmla="*/ 839146 w 1232846"/>
              <a:gd name="connsiteY2" fmla="*/ 692150 h 787400"/>
              <a:gd name="connsiteX3" fmla="*/ 1232846 w 1232846"/>
              <a:gd name="connsiteY3" fmla="*/ 787400 h 787400"/>
            </a:gdLst>
            <a:ahLst/>
            <a:cxnLst>
              <a:cxn ang="0">
                <a:pos x="connsiteX0" y="connsiteY0"/>
              </a:cxn>
              <a:cxn ang="0">
                <a:pos x="connsiteX1" y="connsiteY1"/>
              </a:cxn>
              <a:cxn ang="0">
                <a:pos x="connsiteX2" y="connsiteY2"/>
              </a:cxn>
              <a:cxn ang="0">
                <a:pos x="connsiteX3" y="connsiteY3"/>
              </a:cxn>
            </a:cxnLst>
            <a:rect l="l" t="t" r="r" b="b"/>
            <a:pathLst>
              <a:path w="1232846" h="787400">
                <a:moveTo>
                  <a:pt x="946" y="0"/>
                </a:moveTo>
                <a:cubicBezTo>
                  <a:pt x="-2229" y="113771"/>
                  <a:pt x="-5404" y="227542"/>
                  <a:pt x="134296" y="342900"/>
                </a:cubicBezTo>
                <a:cubicBezTo>
                  <a:pt x="273996" y="458258"/>
                  <a:pt x="656054" y="618067"/>
                  <a:pt x="839146" y="692150"/>
                </a:cubicBezTo>
                <a:cubicBezTo>
                  <a:pt x="1022238" y="766233"/>
                  <a:pt x="1194746" y="741892"/>
                  <a:pt x="1232846" y="787400"/>
                </a:cubicBezTo>
              </a:path>
            </a:pathLst>
          </a:custGeom>
          <a:noFill/>
          <a:ln>
            <a:solidFill>
              <a:schemeClr val="dk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21760612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97083" y="6420901"/>
            <a:ext cx="5833905" cy="369332"/>
          </a:xfrm>
          <a:prstGeom prst="rect">
            <a:avLst/>
          </a:prstGeom>
        </p:spPr>
        <p:txBody>
          <a:bodyPr wrap="none">
            <a:spAutoFit/>
          </a:bodyPr>
          <a:lstStyle/>
          <a:p>
            <a:r>
              <a:rPr lang="sv-SE" dirty="0" smtClean="0"/>
              <a:t>[1] </a:t>
            </a:r>
            <a:r>
              <a:rPr lang="sv-SE" dirty="0" err="1" smtClean="0"/>
              <a:t>Retrieved</a:t>
            </a:r>
            <a:r>
              <a:rPr lang="sv-SE" dirty="0" smtClean="0"/>
              <a:t> from ”https</a:t>
            </a:r>
            <a:r>
              <a:rPr lang="sv-SE" dirty="0"/>
              <a:t>://</a:t>
            </a:r>
            <a:r>
              <a:rPr lang="sv-SE" dirty="0" smtClean="0"/>
              <a:t>www.mks.com/n/mosfet-physics”</a:t>
            </a:r>
            <a:endParaRPr lang="sv-SE" dirty="0"/>
          </a:p>
        </p:txBody>
      </p:sp>
      <p:sp>
        <p:nvSpPr>
          <p:cNvPr id="11" name="Rectangle 10"/>
          <p:cNvSpPr/>
          <p:nvPr/>
        </p:nvSpPr>
        <p:spPr>
          <a:xfrm>
            <a:off x="1612978" y="1628870"/>
            <a:ext cx="153055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metal</a:t>
            </a:r>
            <a:endParaRPr lang="sv-SE" dirty="0"/>
          </a:p>
        </p:txBody>
      </p:sp>
      <p:sp>
        <p:nvSpPr>
          <p:cNvPr id="12" name="Rectangle 11"/>
          <p:cNvSpPr/>
          <p:nvPr/>
        </p:nvSpPr>
        <p:spPr>
          <a:xfrm>
            <a:off x="1302681" y="1846698"/>
            <a:ext cx="2134545" cy="224626"/>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oxide</a:t>
            </a:r>
            <a:endParaRPr lang="sv-SE" dirty="0"/>
          </a:p>
        </p:txBody>
      </p:sp>
      <p:sp>
        <p:nvSpPr>
          <p:cNvPr id="13" name="Rectangle 12"/>
          <p:cNvSpPr/>
          <p:nvPr/>
        </p:nvSpPr>
        <p:spPr>
          <a:xfrm>
            <a:off x="1612978" y="2075435"/>
            <a:ext cx="1530552" cy="748998"/>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14" name="Rectangle 13"/>
          <p:cNvSpPr/>
          <p:nvPr/>
        </p:nvSpPr>
        <p:spPr>
          <a:xfrm>
            <a:off x="158750" y="2081998"/>
            <a:ext cx="1454228"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15" name="Rectangle 14"/>
          <p:cNvSpPr/>
          <p:nvPr/>
        </p:nvSpPr>
        <p:spPr>
          <a:xfrm>
            <a:off x="140505" y="2543932"/>
            <a:ext cx="1530552" cy="289107"/>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 name="Rectangle 15"/>
          <p:cNvSpPr/>
          <p:nvPr/>
        </p:nvSpPr>
        <p:spPr>
          <a:xfrm>
            <a:off x="3143530" y="2084227"/>
            <a:ext cx="1530552"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17" name="Rectangle 16"/>
          <p:cNvSpPr/>
          <p:nvPr/>
        </p:nvSpPr>
        <p:spPr>
          <a:xfrm>
            <a:off x="3143530" y="2543931"/>
            <a:ext cx="1530552" cy="289108"/>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8" name="Rectangle 17"/>
          <p:cNvSpPr/>
          <p:nvPr/>
        </p:nvSpPr>
        <p:spPr>
          <a:xfrm>
            <a:off x="508880" y="1864584"/>
            <a:ext cx="79380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ctangle 18"/>
          <p:cNvSpPr/>
          <p:nvPr/>
        </p:nvSpPr>
        <p:spPr>
          <a:xfrm>
            <a:off x="3437226" y="1840356"/>
            <a:ext cx="793802" cy="23975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ctangle 19"/>
          <p:cNvSpPr/>
          <p:nvPr/>
        </p:nvSpPr>
        <p:spPr>
          <a:xfrm>
            <a:off x="2216754" y="1287709"/>
            <a:ext cx="306398" cy="369332"/>
          </a:xfrm>
          <a:prstGeom prst="rect">
            <a:avLst/>
          </a:prstGeom>
        </p:spPr>
        <p:txBody>
          <a:bodyPr wrap="square">
            <a:spAutoFit/>
          </a:bodyPr>
          <a:lstStyle/>
          <a:p>
            <a:r>
              <a:rPr lang="en-US" dirty="0" smtClean="0"/>
              <a:t>G</a:t>
            </a:r>
            <a:endParaRPr lang="sv-SE" dirty="0"/>
          </a:p>
        </p:txBody>
      </p:sp>
      <p:sp>
        <p:nvSpPr>
          <p:cNvPr id="21" name="Rectangle 20"/>
          <p:cNvSpPr/>
          <p:nvPr/>
        </p:nvSpPr>
        <p:spPr>
          <a:xfrm>
            <a:off x="758467" y="1539332"/>
            <a:ext cx="306398" cy="369332"/>
          </a:xfrm>
          <a:prstGeom prst="rect">
            <a:avLst/>
          </a:prstGeom>
        </p:spPr>
        <p:txBody>
          <a:bodyPr wrap="square">
            <a:spAutoFit/>
          </a:bodyPr>
          <a:lstStyle/>
          <a:p>
            <a:r>
              <a:rPr lang="en-US" dirty="0"/>
              <a:t>S</a:t>
            </a:r>
            <a:endParaRPr lang="sv-SE" dirty="0"/>
          </a:p>
        </p:txBody>
      </p:sp>
      <p:sp>
        <p:nvSpPr>
          <p:cNvPr id="22" name="Rectangle 21"/>
          <p:cNvSpPr/>
          <p:nvPr/>
        </p:nvSpPr>
        <p:spPr>
          <a:xfrm>
            <a:off x="3680928" y="1539332"/>
            <a:ext cx="306398" cy="369332"/>
          </a:xfrm>
          <a:prstGeom prst="rect">
            <a:avLst/>
          </a:prstGeom>
        </p:spPr>
        <p:txBody>
          <a:bodyPr wrap="square">
            <a:spAutoFit/>
          </a:bodyPr>
          <a:lstStyle/>
          <a:p>
            <a:r>
              <a:rPr lang="en-US" dirty="0" smtClean="0"/>
              <a:t>D</a:t>
            </a:r>
            <a:endParaRPr lang="sv-SE" dirty="0"/>
          </a:p>
        </p:txBody>
      </p:sp>
      <p:sp>
        <p:nvSpPr>
          <p:cNvPr id="47" name="Oval 46"/>
          <p:cNvSpPr/>
          <p:nvPr/>
        </p:nvSpPr>
        <p:spPr>
          <a:xfrm>
            <a:off x="1411290" y="213719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8" name="Oval 47"/>
          <p:cNvSpPr/>
          <p:nvPr/>
        </p:nvSpPr>
        <p:spPr>
          <a:xfrm>
            <a:off x="1313968" y="213719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9" name="Oval 48"/>
          <p:cNvSpPr/>
          <p:nvPr/>
        </p:nvSpPr>
        <p:spPr>
          <a:xfrm>
            <a:off x="1411290" y="226967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0" name="Oval 49"/>
          <p:cNvSpPr/>
          <p:nvPr/>
        </p:nvSpPr>
        <p:spPr>
          <a:xfrm>
            <a:off x="1313968" y="226967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1" name="Oval 50"/>
          <p:cNvSpPr/>
          <p:nvPr/>
        </p:nvSpPr>
        <p:spPr>
          <a:xfrm>
            <a:off x="1216646" y="213719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2" name="Oval 51"/>
          <p:cNvSpPr/>
          <p:nvPr/>
        </p:nvSpPr>
        <p:spPr>
          <a:xfrm>
            <a:off x="1119324" y="213719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3" name="Oval 52"/>
          <p:cNvSpPr/>
          <p:nvPr/>
        </p:nvSpPr>
        <p:spPr>
          <a:xfrm>
            <a:off x="1216646" y="226967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4" name="Oval 53"/>
          <p:cNvSpPr/>
          <p:nvPr/>
        </p:nvSpPr>
        <p:spPr>
          <a:xfrm>
            <a:off x="1119324" y="226967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5" name="Oval 54"/>
          <p:cNvSpPr/>
          <p:nvPr/>
        </p:nvSpPr>
        <p:spPr>
          <a:xfrm>
            <a:off x="3573262" y="2109048"/>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6" name="Oval 55"/>
          <p:cNvSpPr/>
          <p:nvPr/>
        </p:nvSpPr>
        <p:spPr>
          <a:xfrm>
            <a:off x="3475940" y="2109048"/>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7" name="Oval 56"/>
          <p:cNvSpPr/>
          <p:nvPr/>
        </p:nvSpPr>
        <p:spPr>
          <a:xfrm>
            <a:off x="3573262" y="2241527"/>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8" name="Oval 57"/>
          <p:cNvSpPr/>
          <p:nvPr/>
        </p:nvSpPr>
        <p:spPr>
          <a:xfrm>
            <a:off x="3475940" y="2241527"/>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9" name="Oval 58"/>
          <p:cNvSpPr/>
          <p:nvPr/>
        </p:nvSpPr>
        <p:spPr>
          <a:xfrm>
            <a:off x="3378618" y="2109048"/>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60" name="Oval 59"/>
          <p:cNvSpPr/>
          <p:nvPr/>
        </p:nvSpPr>
        <p:spPr>
          <a:xfrm>
            <a:off x="3281296" y="2109048"/>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61" name="Oval 60"/>
          <p:cNvSpPr/>
          <p:nvPr/>
        </p:nvSpPr>
        <p:spPr>
          <a:xfrm>
            <a:off x="3378618" y="2241527"/>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62" name="Oval 61"/>
          <p:cNvSpPr/>
          <p:nvPr/>
        </p:nvSpPr>
        <p:spPr>
          <a:xfrm>
            <a:off x="3281296" y="2241527"/>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69" name="Oval 68"/>
          <p:cNvSpPr/>
          <p:nvPr/>
        </p:nvSpPr>
        <p:spPr>
          <a:xfrm>
            <a:off x="1711328" y="2144263"/>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0" name="Oval 69"/>
          <p:cNvSpPr/>
          <p:nvPr/>
        </p:nvSpPr>
        <p:spPr>
          <a:xfrm>
            <a:off x="1836143" y="2147797"/>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1" name="Oval 70"/>
          <p:cNvSpPr/>
          <p:nvPr/>
        </p:nvSpPr>
        <p:spPr>
          <a:xfrm>
            <a:off x="1960958" y="214072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2" name="Oval 71"/>
          <p:cNvSpPr/>
          <p:nvPr/>
        </p:nvSpPr>
        <p:spPr>
          <a:xfrm>
            <a:off x="2085773" y="2144263"/>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3" name="Oval 72"/>
          <p:cNvSpPr/>
          <p:nvPr/>
        </p:nvSpPr>
        <p:spPr>
          <a:xfrm>
            <a:off x="1711328" y="227320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4" name="Oval 73"/>
          <p:cNvSpPr/>
          <p:nvPr/>
        </p:nvSpPr>
        <p:spPr>
          <a:xfrm>
            <a:off x="1836143" y="227674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5" name="Oval 74"/>
          <p:cNvSpPr/>
          <p:nvPr/>
        </p:nvSpPr>
        <p:spPr>
          <a:xfrm>
            <a:off x="1960958" y="226967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6" name="Oval 75"/>
          <p:cNvSpPr/>
          <p:nvPr/>
        </p:nvSpPr>
        <p:spPr>
          <a:xfrm>
            <a:off x="2085773" y="227320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7" name="Oval 76"/>
          <p:cNvSpPr/>
          <p:nvPr/>
        </p:nvSpPr>
        <p:spPr>
          <a:xfrm>
            <a:off x="2361156" y="2136695"/>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8" name="Oval 77"/>
          <p:cNvSpPr/>
          <p:nvPr/>
        </p:nvSpPr>
        <p:spPr>
          <a:xfrm>
            <a:off x="2485971" y="214022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9" name="Oval 78"/>
          <p:cNvSpPr/>
          <p:nvPr/>
        </p:nvSpPr>
        <p:spPr>
          <a:xfrm>
            <a:off x="2610786" y="2133161"/>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0" name="Oval 79"/>
          <p:cNvSpPr/>
          <p:nvPr/>
        </p:nvSpPr>
        <p:spPr>
          <a:xfrm>
            <a:off x="2735601" y="2136695"/>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1" name="Oval 80"/>
          <p:cNvSpPr/>
          <p:nvPr/>
        </p:nvSpPr>
        <p:spPr>
          <a:xfrm>
            <a:off x="2361156" y="2265640"/>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2" name="Oval 81"/>
          <p:cNvSpPr/>
          <p:nvPr/>
        </p:nvSpPr>
        <p:spPr>
          <a:xfrm>
            <a:off x="2485971" y="226917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3" name="Oval 82"/>
          <p:cNvSpPr/>
          <p:nvPr/>
        </p:nvSpPr>
        <p:spPr>
          <a:xfrm>
            <a:off x="2610786" y="22621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4" name="Oval 83"/>
          <p:cNvSpPr/>
          <p:nvPr/>
        </p:nvSpPr>
        <p:spPr>
          <a:xfrm>
            <a:off x="2735601" y="2265640"/>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nvGrpSpPr>
          <p:cNvPr id="4" name="Group 3"/>
          <p:cNvGrpSpPr/>
          <p:nvPr/>
        </p:nvGrpSpPr>
        <p:grpSpPr>
          <a:xfrm>
            <a:off x="1714119" y="2475513"/>
            <a:ext cx="460170" cy="231263"/>
            <a:chOff x="7192219" y="2137505"/>
            <a:chExt cx="460170" cy="231263"/>
          </a:xfrm>
        </p:grpSpPr>
        <p:sp>
          <p:nvSpPr>
            <p:cNvPr id="101" name="Oval 100"/>
            <p:cNvSpPr/>
            <p:nvPr/>
          </p:nvSpPr>
          <p:spPr>
            <a:xfrm>
              <a:off x="7192219"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02" name="Oval 101"/>
            <p:cNvSpPr/>
            <p:nvPr/>
          </p:nvSpPr>
          <p:spPr>
            <a:xfrm>
              <a:off x="7317034" y="2144573"/>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03" name="Oval 102"/>
            <p:cNvSpPr/>
            <p:nvPr/>
          </p:nvSpPr>
          <p:spPr>
            <a:xfrm>
              <a:off x="7441849" y="2137505"/>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04" name="Oval 103"/>
            <p:cNvSpPr/>
            <p:nvPr/>
          </p:nvSpPr>
          <p:spPr>
            <a:xfrm>
              <a:off x="7566664"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05" name="Oval 104"/>
            <p:cNvSpPr/>
            <p:nvPr/>
          </p:nvSpPr>
          <p:spPr>
            <a:xfrm>
              <a:off x="7192219"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06" name="Oval 105"/>
            <p:cNvSpPr/>
            <p:nvPr/>
          </p:nvSpPr>
          <p:spPr>
            <a:xfrm>
              <a:off x="7317034" y="227351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07" name="Oval 106"/>
            <p:cNvSpPr/>
            <p:nvPr/>
          </p:nvSpPr>
          <p:spPr>
            <a:xfrm>
              <a:off x="7441849" y="2266450"/>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08" name="Oval 107"/>
            <p:cNvSpPr/>
            <p:nvPr/>
          </p:nvSpPr>
          <p:spPr>
            <a:xfrm>
              <a:off x="7566664"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109" name="Group 108"/>
          <p:cNvGrpSpPr/>
          <p:nvPr/>
        </p:nvGrpSpPr>
        <p:grpSpPr>
          <a:xfrm>
            <a:off x="2541791" y="2471729"/>
            <a:ext cx="460170" cy="231263"/>
            <a:chOff x="7192219" y="2137505"/>
            <a:chExt cx="460170" cy="231263"/>
          </a:xfrm>
        </p:grpSpPr>
        <p:sp>
          <p:nvSpPr>
            <p:cNvPr id="110" name="Oval 109"/>
            <p:cNvSpPr/>
            <p:nvPr/>
          </p:nvSpPr>
          <p:spPr>
            <a:xfrm>
              <a:off x="7192219"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11" name="Oval 110"/>
            <p:cNvSpPr/>
            <p:nvPr/>
          </p:nvSpPr>
          <p:spPr>
            <a:xfrm>
              <a:off x="7317034" y="2144573"/>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12" name="Oval 111"/>
            <p:cNvSpPr/>
            <p:nvPr/>
          </p:nvSpPr>
          <p:spPr>
            <a:xfrm>
              <a:off x="7441849" y="2137505"/>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13" name="Oval 112"/>
            <p:cNvSpPr/>
            <p:nvPr/>
          </p:nvSpPr>
          <p:spPr>
            <a:xfrm>
              <a:off x="7566664"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14" name="Oval 113"/>
            <p:cNvSpPr/>
            <p:nvPr/>
          </p:nvSpPr>
          <p:spPr>
            <a:xfrm>
              <a:off x="7192219"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15" name="Oval 114"/>
            <p:cNvSpPr/>
            <p:nvPr/>
          </p:nvSpPr>
          <p:spPr>
            <a:xfrm>
              <a:off x="7317034" y="227351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16" name="Oval 115"/>
            <p:cNvSpPr/>
            <p:nvPr/>
          </p:nvSpPr>
          <p:spPr>
            <a:xfrm>
              <a:off x="7441849" y="2266450"/>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17" name="Oval 116"/>
            <p:cNvSpPr/>
            <p:nvPr/>
          </p:nvSpPr>
          <p:spPr>
            <a:xfrm>
              <a:off x="7566664"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127" name="Group 126"/>
          <p:cNvGrpSpPr/>
          <p:nvPr/>
        </p:nvGrpSpPr>
        <p:grpSpPr>
          <a:xfrm>
            <a:off x="702838" y="2568263"/>
            <a:ext cx="460170" cy="231263"/>
            <a:chOff x="7192219" y="2137505"/>
            <a:chExt cx="460170" cy="231263"/>
          </a:xfrm>
        </p:grpSpPr>
        <p:sp>
          <p:nvSpPr>
            <p:cNvPr id="128" name="Oval 127"/>
            <p:cNvSpPr/>
            <p:nvPr/>
          </p:nvSpPr>
          <p:spPr>
            <a:xfrm>
              <a:off x="7192219"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29" name="Oval 128"/>
            <p:cNvSpPr/>
            <p:nvPr/>
          </p:nvSpPr>
          <p:spPr>
            <a:xfrm>
              <a:off x="7317034" y="2144573"/>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30" name="Oval 129"/>
            <p:cNvSpPr/>
            <p:nvPr/>
          </p:nvSpPr>
          <p:spPr>
            <a:xfrm>
              <a:off x="7441849" y="2137505"/>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31" name="Oval 130"/>
            <p:cNvSpPr/>
            <p:nvPr/>
          </p:nvSpPr>
          <p:spPr>
            <a:xfrm>
              <a:off x="7566664"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32" name="Oval 131"/>
            <p:cNvSpPr/>
            <p:nvPr/>
          </p:nvSpPr>
          <p:spPr>
            <a:xfrm>
              <a:off x="7192219"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33" name="Oval 132"/>
            <p:cNvSpPr/>
            <p:nvPr/>
          </p:nvSpPr>
          <p:spPr>
            <a:xfrm>
              <a:off x="7317034" y="227351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34" name="Oval 133"/>
            <p:cNvSpPr/>
            <p:nvPr/>
          </p:nvSpPr>
          <p:spPr>
            <a:xfrm>
              <a:off x="7441849" y="2266450"/>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35" name="Oval 134"/>
            <p:cNvSpPr/>
            <p:nvPr/>
          </p:nvSpPr>
          <p:spPr>
            <a:xfrm>
              <a:off x="7566664"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136" name="Group 135"/>
          <p:cNvGrpSpPr/>
          <p:nvPr/>
        </p:nvGrpSpPr>
        <p:grpSpPr>
          <a:xfrm>
            <a:off x="3651887" y="2561195"/>
            <a:ext cx="460170" cy="231263"/>
            <a:chOff x="7192219" y="2137505"/>
            <a:chExt cx="460170" cy="231263"/>
          </a:xfrm>
        </p:grpSpPr>
        <p:sp>
          <p:nvSpPr>
            <p:cNvPr id="137" name="Oval 136"/>
            <p:cNvSpPr/>
            <p:nvPr/>
          </p:nvSpPr>
          <p:spPr>
            <a:xfrm>
              <a:off x="7192219"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38" name="Oval 137"/>
            <p:cNvSpPr/>
            <p:nvPr/>
          </p:nvSpPr>
          <p:spPr>
            <a:xfrm>
              <a:off x="7317034" y="2144573"/>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39" name="Oval 138"/>
            <p:cNvSpPr/>
            <p:nvPr/>
          </p:nvSpPr>
          <p:spPr>
            <a:xfrm>
              <a:off x="7441849" y="2137505"/>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40" name="Oval 139"/>
            <p:cNvSpPr/>
            <p:nvPr/>
          </p:nvSpPr>
          <p:spPr>
            <a:xfrm>
              <a:off x="7566664"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41" name="Oval 140"/>
            <p:cNvSpPr/>
            <p:nvPr/>
          </p:nvSpPr>
          <p:spPr>
            <a:xfrm>
              <a:off x="7192219"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42" name="Oval 141"/>
            <p:cNvSpPr/>
            <p:nvPr/>
          </p:nvSpPr>
          <p:spPr>
            <a:xfrm>
              <a:off x="7317034" y="227351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43" name="Oval 142"/>
            <p:cNvSpPr/>
            <p:nvPr/>
          </p:nvSpPr>
          <p:spPr>
            <a:xfrm>
              <a:off x="7441849" y="2266450"/>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44" name="Oval 143"/>
            <p:cNvSpPr/>
            <p:nvPr/>
          </p:nvSpPr>
          <p:spPr>
            <a:xfrm>
              <a:off x="7566664"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sp>
        <p:nvSpPr>
          <p:cNvPr id="5" name="Rectangle 4"/>
          <p:cNvSpPr/>
          <p:nvPr/>
        </p:nvSpPr>
        <p:spPr>
          <a:xfrm>
            <a:off x="2001388" y="1037323"/>
            <a:ext cx="753732" cy="369332"/>
          </a:xfrm>
          <a:prstGeom prst="rect">
            <a:avLst/>
          </a:prstGeom>
        </p:spPr>
        <p:txBody>
          <a:bodyPr wrap="none">
            <a:spAutoFit/>
          </a:bodyPr>
          <a:lstStyle/>
          <a:p>
            <a:r>
              <a:rPr lang="en-US" smtClean="0"/>
              <a:t>V</a:t>
            </a:r>
            <a:r>
              <a:rPr lang="en-US" sz="1200" smtClean="0"/>
              <a:t>G</a:t>
            </a:r>
            <a:r>
              <a:rPr lang="en-US" smtClean="0"/>
              <a:t>=0</a:t>
            </a:r>
            <a:endParaRPr lang="sv-SE" sz="1400" dirty="0"/>
          </a:p>
        </p:txBody>
      </p:sp>
      <p:sp>
        <p:nvSpPr>
          <p:cNvPr id="145" name="Rectangle 144"/>
          <p:cNvSpPr/>
          <p:nvPr/>
        </p:nvSpPr>
        <p:spPr>
          <a:xfrm>
            <a:off x="557358" y="1289419"/>
            <a:ext cx="708848" cy="369332"/>
          </a:xfrm>
          <a:prstGeom prst="rect">
            <a:avLst/>
          </a:prstGeom>
        </p:spPr>
        <p:txBody>
          <a:bodyPr wrap="none">
            <a:spAutoFit/>
          </a:bodyPr>
          <a:lstStyle/>
          <a:p>
            <a:r>
              <a:rPr lang="en-US" dirty="0" smtClean="0"/>
              <a:t>V</a:t>
            </a:r>
            <a:r>
              <a:rPr lang="en-US" sz="1200" dirty="0" smtClean="0"/>
              <a:t>s</a:t>
            </a:r>
            <a:r>
              <a:rPr lang="en-US" dirty="0" smtClean="0"/>
              <a:t>=0</a:t>
            </a:r>
            <a:endParaRPr lang="sv-SE" sz="1400" dirty="0"/>
          </a:p>
        </p:txBody>
      </p:sp>
      <p:sp>
        <p:nvSpPr>
          <p:cNvPr id="146" name="Rectangle 145"/>
          <p:cNvSpPr/>
          <p:nvPr/>
        </p:nvSpPr>
        <p:spPr>
          <a:xfrm>
            <a:off x="3547093" y="1261059"/>
            <a:ext cx="742511" cy="369332"/>
          </a:xfrm>
          <a:prstGeom prst="rect">
            <a:avLst/>
          </a:prstGeom>
        </p:spPr>
        <p:txBody>
          <a:bodyPr wrap="none">
            <a:spAutoFit/>
          </a:bodyPr>
          <a:lstStyle/>
          <a:p>
            <a:r>
              <a:rPr lang="en-US" dirty="0" smtClean="0"/>
              <a:t>V</a:t>
            </a:r>
            <a:r>
              <a:rPr lang="en-US" sz="1200" dirty="0" smtClean="0"/>
              <a:t>D</a:t>
            </a:r>
            <a:r>
              <a:rPr lang="en-US" dirty="0" smtClean="0"/>
              <a:t>=0</a:t>
            </a:r>
            <a:endParaRPr lang="sv-SE" sz="1400" dirty="0"/>
          </a:p>
        </p:txBody>
      </p:sp>
      <p:sp>
        <p:nvSpPr>
          <p:cNvPr id="147" name="Rectangle 146"/>
          <p:cNvSpPr/>
          <p:nvPr/>
        </p:nvSpPr>
        <p:spPr>
          <a:xfrm>
            <a:off x="4333967" y="1287709"/>
            <a:ext cx="644728" cy="369332"/>
          </a:xfrm>
          <a:prstGeom prst="rect">
            <a:avLst/>
          </a:prstGeom>
        </p:spPr>
        <p:txBody>
          <a:bodyPr wrap="none">
            <a:spAutoFit/>
          </a:bodyPr>
          <a:lstStyle/>
          <a:p>
            <a:r>
              <a:rPr lang="en-US" dirty="0" smtClean="0"/>
              <a:t>I</a:t>
            </a:r>
            <a:r>
              <a:rPr lang="en-US" sz="1200" dirty="0" smtClean="0"/>
              <a:t>D</a:t>
            </a:r>
            <a:r>
              <a:rPr lang="en-US" dirty="0" smtClean="0"/>
              <a:t>=0</a:t>
            </a:r>
            <a:endParaRPr lang="sv-SE" sz="1400" dirty="0"/>
          </a:p>
        </p:txBody>
      </p:sp>
      <p:sp>
        <p:nvSpPr>
          <p:cNvPr id="156" name="Rectangle 155"/>
          <p:cNvSpPr/>
          <p:nvPr/>
        </p:nvSpPr>
        <p:spPr>
          <a:xfrm>
            <a:off x="1657911" y="4751087"/>
            <a:ext cx="153055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metal</a:t>
            </a:r>
            <a:endParaRPr lang="sv-SE" dirty="0"/>
          </a:p>
        </p:txBody>
      </p:sp>
      <p:sp>
        <p:nvSpPr>
          <p:cNvPr id="157" name="Rectangle 156"/>
          <p:cNvSpPr/>
          <p:nvPr/>
        </p:nvSpPr>
        <p:spPr>
          <a:xfrm>
            <a:off x="1347614" y="4968915"/>
            <a:ext cx="2134545" cy="224626"/>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oxide</a:t>
            </a:r>
            <a:endParaRPr lang="sv-SE" dirty="0"/>
          </a:p>
        </p:txBody>
      </p:sp>
      <p:sp>
        <p:nvSpPr>
          <p:cNvPr id="158" name="Rectangle 157"/>
          <p:cNvSpPr/>
          <p:nvPr/>
        </p:nvSpPr>
        <p:spPr>
          <a:xfrm>
            <a:off x="1657911" y="5197652"/>
            <a:ext cx="1530552" cy="865936"/>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159" name="Rectangle 158"/>
          <p:cNvSpPr/>
          <p:nvPr/>
        </p:nvSpPr>
        <p:spPr>
          <a:xfrm>
            <a:off x="185439" y="5204215"/>
            <a:ext cx="1460826"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160" name="Rectangle 159"/>
          <p:cNvSpPr/>
          <p:nvPr/>
        </p:nvSpPr>
        <p:spPr>
          <a:xfrm>
            <a:off x="185438" y="5666149"/>
            <a:ext cx="1530552" cy="397439"/>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1" name="Rectangle 160"/>
          <p:cNvSpPr/>
          <p:nvPr/>
        </p:nvSpPr>
        <p:spPr>
          <a:xfrm>
            <a:off x="3188463" y="5206444"/>
            <a:ext cx="1530552"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162" name="Rectangle 161"/>
          <p:cNvSpPr/>
          <p:nvPr/>
        </p:nvSpPr>
        <p:spPr>
          <a:xfrm>
            <a:off x="3188463" y="5666148"/>
            <a:ext cx="1530552" cy="397440"/>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3" name="Rectangle 162"/>
          <p:cNvSpPr/>
          <p:nvPr/>
        </p:nvSpPr>
        <p:spPr>
          <a:xfrm>
            <a:off x="553813" y="4986801"/>
            <a:ext cx="79380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4" name="Rectangle 163"/>
          <p:cNvSpPr/>
          <p:nvPr/>
        </p:nvSpPr>
        <p:spPr>
          <a:xfrm>
            <a:off x="3482159" y="4962573"/>
            <a:ext cx="793802" cy="23975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5" name="Rectangle 164"/>
          <p:cNvSpPr/>
          <p:nvPr/>
        </p:nvSpPr>
        <p:spPr>
          <a:xfrm>
            <a:off x="2261687" y="4409926"/>
            <a:ext cx="306398" cy="369332"/>
          </a:xfrm>
          <a:prstGeom prst="rect">
            <a:avLst/>
          </a:prstGeom>
        </p:spPr>
        <p:txBody>
          <a:bodyPr wrap="square">
            <a:spAutoFit/>
          </a:bodyPr>
          <a:lstStyle/>
          <a:p>
            <a:r>
              <a:rPr lang="en-US" dirty="0" smtClean="0"/>
              <a:t>G</a:t>
            </a:r>
            <a:endParaRPr lang="sv-SE" dirty="0"/>
          </a:p>
        </p:txBody>
      </p:sp>
      <p:sp>
        <p:nvSpPr>
          <p:cNvPr id="166" name="Rectangle 165"/>
          <p:cNvSpPr/>
          <p:nvPr/>
        </p:nvSpPr>
        <p:spPr>
          <a:xfrm>
            <a:off x="803400" y="4661549"/>
            <a:ext cx="306398" cy="369332"/>
          </a:xfrm>
          <a:prstGeom prst="rect">
            <a:avLst/>
          </a:prstGeom>
        </p:spPr>
        <p:txBody>
          <a:bodyPr wrap="square">
            <a:spAutoFit/>
          </a:bodyPr>
          <a:lstStyle/>
          <a:p>
            <a:r>
              <a:rPr lang="en-US" dirty="0"/>
              <a:t>S</a:t>
            </a:r>
            <a:endParaRPr lang="sv-SE" dirty="0"/>
          </a:p>
        </p:txBody>
      </p:sp>
      <p:sp>
        <p:nvSpPr>
          <p:cNvPr id="167" name="Rectangle 166"/>
          <p:cNvSpPr/>
          <p:nvPr/>
        </p:nvSpPr>
        <p:spPr>
          <a:xfrm>
            <a:off x="3725861" y="4661549"/>
            <a:ext cx="306398" cy="369332"/>
          </a:xfrm>
          <a:prstGeom prst="rect">
            <a:avLst/>
          </a:prstGeom>
        </p:spPr>
        <p:txBody>
          <a:bodyPr wrap="square">
            <a:spAutoFit/>
          </a:bodyPr>
          <a:lstStyle/>
          <a:p>
            <a:r>
              <a:rPr lang="en-US" dirty="0" smtClean="0"/>
              <a:t>D</a:t>
            </a:r>
            <a:endParaRPr lang="sv-SE" dirty="0"/>
          </a:p>
        </p:txBody>
      </p:sp>
      <p:sp>
        <p:nvSpPr>
          <p:cNvPr id="236" name="Rectangle 235"/>
          <p:cNvSpPr/>
          <p:nvPr/>
        </p:nvSpPr>
        <p:spPr>
          <a:xfrm>
            <a:off x="2004064" y="4105858"/>
            <a:ext cx="872355" cy="369332"/>
          </a:xfrm>
          <a:prstGeom prst="rect">
            <a:avLst/>
          </a:prstGeom>
        </p:spPr>
        <p:txBody>
          <a:bodyPr wrap="none">
            <a:spAutoFit/>
          </a:bodyPr>
          <a:lstStyle/>
          <a:p>
            <a:r>
              <a:rPr lang="en-US" dirty="0" smtClean="0"/>
              <a:t>V</a:t>
            </a:r>
            <a:r>
              <a:rPr lang="en-US" sz="1200" dirty="0" smtClean="0"/>
              <a:t>G</a:t>
            </a:r>
            <a:r>
              <a:rPr lang="en-US" dirty="0" smtClean="0"/>
              <a:t>&gt;</a:t>
            </a:r>
            <a:r>
              <a:rPr lang="en-US" sz="1400" dirty="0"/>
              <a:t> </a:t>
            </a:r>
            <a:r>
              <a:rPr lang="en-US" sz="1600" dirty="0" smtClean="0"/>
              <a:t>V</a:t>
            </a:r>
            <a:r>
              <a:rPr lang="en-US" sz="1100" dirty="0" smtClean="0"/>
              <a:t>T</a:t>
            </a:r>
            <a:endParaRPr lang="sv-SE" sz="1600" dirty="0"/>
          </a:p>
        </p:txBody>
      </p:sp>
      <p:sp>
        <p:nvSpPr>
          <p:cNvPr id="237" name="Rectangle 236"/>
          <p:cNvSpPr/>
          <p:nvPr/>
        </p:nvSpPr>
        <p:spPr>
          <a:xfrm>
            <a:off x="602291" y="4411636"/>
            <a:ext cx="708848" cy="369332"/>
          </a:xfrm>
          <a:prstGeom prst="rect">
            <a:avLst/>
          </a:prstGeom>
        </p:spPr>
        <p:txBody>
          <a:bodyPr wrap="none">
            <a:spAutoFit/>
          </a:bodyPr>
          <a:lstStyle/>
          <a:p>
            <a:r>
              <a:rPr lang="en-US" dirty="0" smtClean="0"/>
              <a:t>V</a:t>
            </a:r>
            <a:r>
              <a:rPr lang="en-US" sz="1200" dirty="0" smtClean="0"/>
              <a:t>s</a:t>
            </a:r>
            <a:r>
              <a:rPr lang="en-US" dirty="0" smtClean="0"/>
              <a:t>=0</a:t>
            </a:r>
            <a:endParaRPr lang="sv-SE" sz="1400" dirty="0"/>
          </a:p>
        </p:txBody>
      </p:sp>
      <p:sp>
        <p:nvSpPr>
          <p:cNvPr id="238" name="Rectangle 237"/>
          <p:cNvSpPr/>
          <p:nvPr/>
        </p:nvSpPr>
        <p:spPr>
          <a:xfrm>
            <a:off x="9438274" y="1321802"/>
            <a:ext cx="1162498" cy="584775"/>
          </a:xfrm>
          <a:prstGeom prst="rect">
            <a:avLst/>
          </a:prstGeom>
        </p:spPr>
        <p:txBody>
          <a:bodyPr wrap="none">
            <a:spAutoFit/>
          </a:bodyPr>
          <a:lstStyle/>
          <a:p>
            <a:r>
              <a:rPr lang="en-US" dirty="0" smtClean="0"/>
              <a:t>V</a:t>
            </a:r>
            <a:r>
              <a:rPr lang="en-US" sz="1200" dirty="0" smtClean="0"/>
              <a:t>D = </a:t>
            </a:r>
            <a:r>
              <a:rPr lang="en-US" dirty="0" smtClean="0"/>
              <a:t>V</a:t>
            </a:r>
            <a:r>
              <a:rPr lang="en-US" sz="1200" dirty="0" smtClean="0"/>
              <a:t>D-sat</a:t>
            </a:r>
            <a:endParaRPr lang="sv-SE" sz="1400" dirty="0"/>
          </a:p>
          <a:p>
            <a:endParaRPr lang="sv-SE" sz="1400" dirty="0"/>
          </a:p>
        </p:txBody>
      </p:sp>
      <p:sp>
        <p:nvSpPr>
          <p:cNvPr id="239" name="Rectangle 238"/>
          <p:cNvSpPr/>
          <p:nvPr/>
        </p:nvSpPr>
        <p:spPr>
          <a:xfrm>
            <a:off x="4734449" y="4397972"/>
            <a:ext cx="679994" cy="369332"/>
          </a:xfrm>
          <a:prstGeom prst="rect">
            <a:avLst/>
          </a:prstGeom>
        </p:spPr>
        <p:txBody>
          <a:bodyPr wrap="none">
            <a:spAutoFit/>
          </a:bodyPr>
          <a:lstStyle/>
          <a:p>
            <a:r>
              <a:rPr lang="en-US" dirty="0" smtClean="0"/>
              <a:t>I</a:t>
            </a:r>
            <a:r>
              <a:rPr lang="en-US" sz="1200" dirty="0" smtClean="0"/>
              <a:t>D </a:t>
            </a:r>
            <a:r>
              <a:rPr lang="en-US" dirty="0" smtClean="0"/>
              <a:t>&gt;&gt;</a:t>
            </a:r>
            <a:endParaRPr lang="sv-SE" sz="2000" dirty="0"/>
          </a:p>
        </p:txBody>
      </p:sp>
      <p:sp>
        <p:nvSpPr>
          <p:cNvPr id="240" name="Rectangle 239"/>
          <p:cNvSpPr/>
          <p:nvPr/>
        </p:nvSpPr>
        <p:spPr>
          <a:xfrm>
            <a:off x="185437" y="5666148"/>
            <a:ext cx="1472473" cy="167447"/>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smtClean="0"/>
              <a:t>depletion</a:t>
            </a:r>
            <a:endParaRPr lang="sv-SE" sz="1400" dirty="0"/>
          </a:p>
        </p:txBody>
      </p:sp>
      <p:sp>
        <p:nvSpPr>
          <p:cNvPr id="241" name="Rectangle 240"/>
          <p:cNvSpPr/>
          <p:nvPr/>
        </p:nvSpPr>
        <p:spPr>
          <a:xfrm>
            <a:off x="1657910" y="5451216"/>
            <a:ext cx="116038" cy="37492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242" name="Rectangle 241"/>
          <p:cNvSpPr/>
          <p:nvPr/>
        </p:nvSpPr>
        <p:spPr>
          <a:xfrm rot="5400000">
            <a:off x="2334509" y="4664017"/>
            <a:ext cx="177353" cy="153055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243" name="Rectangle 242"/>
          <p:cNvSpPr/>
          <p:nvPr/>
        </p:nvSpPr>
        <p:spPr>
          <a:xfrm>
            <a:off x="3072362" y="5451215"/>
            <a:ext cx="116038" cy="37492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244" name="Rectangle 243"/>
          <p:cNvSpPr/>
          <p:nvPr/>
        </p:nvSpPr>
        <p:spPr>
          <a:xfrm>
            <a:off x="3188811" y="5656168"/>
            <a:ext cx="1530141" cy="167447"/>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smtClean="0"/>
              <a:t>depletion</a:t>
            </a:r>
            <a:endParaRPr lang="sv-SE" sz="1400" dirty="0"/>
          </a:p>
        </p:txBody>
      </p:sp>
      <p:sp>
        <p:nvSpPr>
          <p:cNvPr id="246" name="Rectangle 245"/>
          <p:cNvSpPr/>
          <p:nvPr/>
        </p:nvSpPr>
        <p:spPr>
          <a:xfrm>
            <a:off x="1649610" y="5195609"/>
            <a:ext cx="1547152" cy="23862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3" name="Oval 32"/>
          <p:cNvSpPr/>
          <p:nvPr/>
        </p:nvSpPr>
        <p:spPr>
          <a:xfrm>
            <a:off x="1954401" y="521847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4" name="Oval 33"/>
          <p:cNvSpPr/>
          <p:nvPr/>
        </p:nvSpPr>
        <p:spPr>
          <a:xfrm>
            <a:off x="1857079" y="521847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7" name="Oval 36"/>
          <p:cNvSpPr/>
          <p:nvPr/>
        </p:nvSpPr>
        <p:spPr>
          <a:xfrm>
            <a:off x="1759757" y="521847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8" name="Oval 37"/>
          <p:cNvSpPr/>
          <p:nvPr/>
        </p:nvSpPr>
        <p:spPr>
          <a:xfrm>
            <a:off x="1662435" y="521847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cxnSp>
        <p:nvCxnSpPr>
          <p:cNvPr id="256" name="Straight Connector 255"/>
          <p:cNvCxnSpPr/>
          <p:nvPr/>
        </p:nvCxnSpPr>
        <p:spPr>
          <a:xfrm>
            <a:off x="3580990" y="1203863"/>
            <a:ext cx="835017" cy="4515"/>
          </a:xfrm>
          <a:prstGeom prst="line">
            <a:avLst/>
          </a:prstGeom>
          <a:ln/>
        </p:spPr>
        <p:style>
          <a:lnRef idx="2">
            <a:schemeClr val="dk1"/>
          </a:lnRef>
          <a:fillRef idx="0">
            <a:schemeClr val="dk1"/>
          </a:fillRef>
          <a:effectRef idx="1">
            <a:schemeClr val="dk1"/>
          </a:effectRef>
          <a:fontRef idx="minor">
            <a:schemeClr val="tx1"/>
          </a:fontRef>
        </p:style>
      </p:cxnSp>
      <p:sp>
        <p:nvSpPr>
          <p:cNvPr id="266" name="Oval 265"/>
          <p:cNvSpPr/>
          <p:nvPr/>
        </p:nvSpPr>
        <p:spPr>
          <a:xfrm>
            <a:off x="2738100" y="521847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67" name="Oval 266"/>
          <p:cNvSpPr/>
          <p:nvPr/>
        </p:nvSpPr>
        <p:spPr>
          <a:xfrm>
            <a:off x="2640778" y="521847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68" name="Oval 267"/>
          <p:cNvSpPr/>
          <p:nvPr/>
        </p:nvSpPr>
        <p:spPr>
          <a:xfrm>
            <a:off x="2543456" y="521847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69" name="Oval 268"/>
          <p:cNvSpPr/>
          <p:nvPr/>
        </p:nvSpPr>
        <p:spPr>
          <a:xfrm>
            <a:off x="2446134" y="521847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71" name="Oval 270"/>
          <p:cNvSpPr/>
          <p:nvPr/>
        </p:nvSpPr>
        <p:spPr>
          <a:xfrm>
            <a:off x="2350380" y="521922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72" name="Oval 271"/>
          <p:cNvSpPr/>
          <p:nvPr/>
        </p:nvSpPr>
        <p:spPr>
          <a:xfrm>
            <a:off x="2253058" y="521922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73" name="Oval 272"/>
          <p:cNvSpPr/>
          <p:nvPr/>
        </p:nvSpPr>
        <p:spPr>
          <a:xfrm>
            <a:off x="2155736" y="521922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74" name="Oval 273"/>
          <p:cNvSpPr/>
          <p:nvPr/>
        </p:nvSpPr>
        <p:spPr>
          <a:xfrm>
            <a:off x="2058414" y="521922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75" name="Oval 274"/>
          <p:cNvSpPr/>
          <p:nvPr/>
        </p:nvSpPr>
        <p:spPr>
          <a:xfrm>
            <a:off x="3114383" y="521686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76" name="Oval 275"/>
          <p:cNvSpPr/>
          <p:nvPr/>
        </p:nvSpPr>
        <p:spPr>
          <a:xfrm>
            <a:off x="3017061" y="521686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77" name="Oval 276"/>
          <p:cNvSpPr/>
          <p:nvPr/>
        </p:nvSpPr>
        <p:spPr>
          <a:xfrm>
            <a:off x="2919739" y="521686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78" name="Oval 277"/>
          <p:cNvSpPr/>
          <p:nvPr/>
        </p:nvSpPr>
        <p:spPr>
          <a:xfrm>
            <a:off x="2822417" y="521686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nvGrpSpPr>
          <p:cNvPr id="279" name="Group 278"/>
          <p:cNvGrpSpPr/>
          <p:nvPr/>
        </p:nvGrpSpPr>
        <p:grpSpPr>
          <a:xfrm>
            <a:off x="1193152" y="5227732"/>
            <a:ext cx="377691" cy="227729"/>
            <a:chOff x="5121064" y="3573935"/>
            <a:chExt cx="377691" cy="227729"/>
          </a:xfrm>
        </p:grpSpPr>
        <p:sp>
          <p:nvSpPr>
            <p:cNvPr id="280" name="Oval 279"/>
            <p:cNvSpPr/>
            <p:nvPr/>
          </p:nvSpPr>
          <p:spPr>
            <a:xfrm>
              <a:off x="5413030"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81" name="Oval 280"/>
            <p:cNvSpPr/>
            <p:nvPr/>
          </p:nvSpPr>
          <p:spPr>
            <a:xfrm>
              <a:off x="5315708"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82" name="Oval 281"/>
            <p:cNvSpPr/>
            <p:nvPr/>
          </p:nvSpPr>
          <p:spPr>
            <a:xfrm>
              <a:off x="5413030"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83" name="Oval 282"/>
            <p:cNvSpPr/>
            <p:nvPr/>
          </p:nvSpPr>
          <p:spPr>
            <a:xfrm>
              <a:off x="5315708"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84" name="Oval 283"/>
            <p:cNvSpPr/>
            <p:nvPr/>
          </p:nvSpPr>
          <p:spPr>
            <a:xfrm>
              <a:off x="5218386"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85" name="Oval 284"/>
            <p:cNvSpPr/>
            <p:nvPr/>
          </p:nvSpPr>
          <p:spPr>
            <a:xfrm>
              <a:off x="5121064"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86" name="Oval 285"/>
            <p:cNvSpPr/>
            <p:nvPr/>
          </p:nvSpPr>
          <p:spPr>
            <a:xfrm>
              <a:off x="5218386"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87" name="Oval 286"/>
            <p:cNvSpPr/>
            <p:nvPr/>
          </p:nvSpPr>
          <p:spPr>
            <a:xfrm>
              <a:off x="5121064"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grpSp>
        <p:nvGrpSpPr>
          <p:cNvPr id="288" name="Group 287"/>
          <p:cNvGrpSpPr/>
          <p:nvPr/>
        </p:nvGrpSpPr>
        <p:grpSpPr>
          <a:xfrm>
            <a:off x="3246595" y="5203605"/>
            <a:ext cx="377691" cy="227729"/>
            <a:chOff x="5121064" y="3573935"/>
            <a:chExt cx="377691" cy="227729"/>
          </a:xfrm>
        </p:grpSpPr>
        <p:sp>
          <p:nvSpPr>
            <p:cNvPr id="289" name="Oval 288"/>
            <p:cNvSpPr/>
            <p:nvPr/>
          </p:nvSpPr>
          <p:spPr>
            <a:xfrm>
              <a:off x="5413030"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90" name="Oval 289"/>
            <p:cNvSpPr/>
            <p:nvPr/>
          </p:nvSpPr>
          <p:spPr>
            <a:xfrm>
              <a:off x="5315708"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91" name="Oval 290"/>
            <p:cNvSpPr/>
            <p:nvPr/>
          </p:nvSpPr>
          <p:spPr>
            <a:xfrm>
              <a:off x="5413030"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92" name="Oval 291"/>
            <p:cNvSpPr/>
            <p:nvPr/>
          </p:nvSpPr>
          <p:spPr>
            <a:xfrm>
              <a:off x="5315708"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93" name="Oval 292"/>
            <p:cNvSpPr/>
            <p:nvPr/>
          </p:nvSpPr>
          <p:spPr>
            <a:xfrm>
              <a:off x="5218386"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94" name="Oval 293"/>
            <p:cNvSpPr/>
            <p:nvPr/>
          </p:nvSpPr>
          <p:spPr>
            <a:xfrm>
              <a:off x="5121064"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95" name="Oval 294"/>
            <p:cNvSpPr/>
            <p:nvPr/>
          </p:nvSpPr>
          <p:spPr>
            <a:xfrm>
              <a:off x="5218386"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96" name="Oval 295"/>
            <p:cNvSpPr/>
            <p:nvPr/>
          </p:nvSpPr>
          <p:spPr>
            <a:xfrm>
              <a:off x="5121064"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grpSp>
        <p:nvGrpSpPr>
          <p:cNvPr id="305" name="Group 304"/>
          <p:cNvGrpSpPr/>
          <p:nvPr/>
        </p:nvGrpSpPr>
        <p:grpSpPr>
          <a:xfrm>
            <a:off x="226753" y="5833595"/>
            <a:ext cx="460170" cy="102318"/>
            <a:chOff x="4091663" y="4933338"/>
            <a:chExt cx="460170" cy="102318"/>
          </a:xfrm>
        </p:grpSpPr>
        <p:sp>
          <p:nvSpPr>
            <p:cNvPr id="306" name="Oval 305"/>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07" name="Oval 306"/>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08" name="Oval 307"/>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09" name="Oval 308"/>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10" name="Group 309"/>
          <p:cNvGrpSpPr/>
          <p:nvPr/>
        </p:nvGrpSpPr>
        <p:grpSpPr>
          <a:xfrm>
            <a:off x="734265" y="5846273"/>
            <a:ext cx="460170" cy="102318"/>
            <a:chOff x="4091663" y="4933338"/>
            <a:chExt cx="460170" cy="102318"/>
          </a:xfrm>
        </p:grpSpPr>
        <p:sp>
          <p:nvSpPr>
            <p:cNvPr id="311" name="Oval 310"/>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12" name="Oval 311"/>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13" name="Oval 312"/>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14" name="Oval 313"/>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15" name="Group 314"/>
          <p:cNvGrpSpPr/>
          <p:nvPr/>
        </p:nvGrpSpPr>
        <p:grpSpPr>
          <a:xfrm>
            <a:off x="1259287" y="5846273"/>
            <a:ext cx="460170" cy="102318"/>
            <a:chOff x="4091663" y="4933338"/>
            <a:chExt cx="460170" cy="102318"/>
          </a:xfrm>
        </p:grpSpPr>
        <p:sp>
          <p:nvSpPr>
            <p:cNvPr id="316" name="Oval 315"/>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17" name="Oval 316"/>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18" name="Oval 317"/>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19" name="Oval 318"/>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20" name="Group 319"/>
          <p:cNvGrpSpPr/>
          <p:nvPr/>
        </p:nvGrpSpPr>
        <p:grpSpPr>
          <a:xfrm rot="16200000">
            <a:off x="1617492" y="5739620"/>
            <a:ext cx="460170" cy="102318"/>
            <a:chOff x="4091663" y="4933338"/>
            <a:chExt cx="460170" cy="102318"/>
          </a:xfrm>
        </p:grpSpPr>
        <p:sp>
          <p:nvSpPr>
            <p:cNvPr id="321" name="Oval 320"/>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22" name="Oval 321"/>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23" name="Oval 322"/>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24" name="Oval 323"/>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25" name="Group 324"/>
          <p:cNvGrpSpPr/>
          <p:nvPr/>
        </p:nvGrpSpPr>
        <p:grpSpPr>
          <a:xfrm>
            <a:off x="1933072" y="5536358"/>
            <a:ext cx="460170" cy="102318"/>
            <a:chOff x="4091663" y="4933338"/>
            <a:chExt cx="460170" cy="102318"/>
          </a:xfrm>
        </p:grpSpPr>
        <p:sp>
          <p:nvSpPr>
            <p:cNvPr id="326" name="Oval 325"/>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27" name="Oval 326"/>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28" name="Oval 327"/>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29" name="Oval 328"/>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30" name="Group 329"/>
          <p:cNvGrpSpPr/>
          <p:nvPr/>
        </p:nvGrpSpPr>
        <p:grpSpPr>
          <a:xfrm>
            <a:off x="2509502" y="5537882"/>
            <a:ext cx="460170" cy="102318"/>
            <a:chOff x="4091663" y="4933338"/>
            <a:chExt cx="460170" cy="102318"/>
          </a:xfrm>
        </p:grpSpPr>
        <p:sp>
          <p:nvSpPr>
            <p:cNvPr id="331" name="Oval 330"/>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32" name="Oval 331"/>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33" name="Oval 332"/>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34" name="Oval 333"/>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35" name="Group 334"/>
          <p:cNvGrpSpPr/>
          <p:nvPr/>
        </p:nvGrpSpPr>
        <p:grpSpPr>
          <a:xfrm>
            <a:off x="4239913" y="5851999"/>
            <a:ext cx="460170" cy="102318"/>
            <a:chOff x="4091663" y="4933338"/>
            <a:chExt cx="460170" cy="102318"/>
          </a:xfrm>
        </p:grpSpPr>
        <p:sp>
          <p:nvSpPr>
            <p:cNvPr id="336" name="Oval 335"/>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37" name="Oval 336"/>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38" name="Oval 337"/>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39" name="Oval 338"/>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40" name="Group 339"/>
          <p:cNvGrpSpPr/>
          <p:nvPr/>
        </p:nvGrpSpPr>
        <p:grpSpPr>
          <a:xfrm>
            <a:off x="3726627" y="5858928"/>
            <a:ext cx="460170" cy="102318"/>
            <a:chOff x="4091663" y="4933338"/>
            <a:chExt cx="460170" cy="102318"/>
          </a:xfrm>
        </p:grpSpPr>
        <p:sp>
          <p:nvSpPr>
            <p:cNvPr id="341" name="Oval 340"/>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42" name="Oval 341"/>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43" name="Oval 342"/>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44" name="Oval 343"/>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45" name="Group 344"/>
          <p:cNvGrpSpPr/>
          <p:nvPr/>
        </p:nvGrpSpPr>
        <p:grpSpPr>
          <a:xfrm>
            <a:off x="3197037" y="5858928"/>
            <a:ext cx="460170" cy="102318"/>
            <a:chOff x="4091663" y="4933338"/>
            <a:chExt cx="460170" cy="102318"/>
          </a:xfrm>
        </p:grpSpPr>
        <p:sp>
          <p:nvSpPr>
            <p:cNvPr id="346" name="Oval 345"/>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47" name="Oval 346"/>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48" name="Oval 347"/>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49" name="Oval 348"/>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50" name="Group 349"/>
          <p:cNvGrpSpPr/>
          <p:nvPr/>
        </p:nvGrpSpPr>
        <p:grpSpPr>
          <a:xfrm rot="5400000">
            <a:off x="2797022" y="5720076"/>
            <a:ext cx="460170" cy="102318"/>
            <a:chOff x="4091663" y="4933338"/>
            <a:chExt cx="460170" cy="102318"/>
          </a:xfrm>
        </p:grpSpPr>
        <p:sp>
          <p:nvSpPr>
            <p:cNvPr id="351" name="Oval 350"/>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52" name="Oval 351"/>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53" name="Oval 352"/>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54" name="Oval 353"/>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sp>
        <p:nvSpPr>
          <p:cNvPr id="8" name="Rectangle 7"/>
          <p:cNvSpPr/>
          <p:nvPr/>
        </p:nvSpPr>
        <p:spPr>
          <a:xfrm>
            <a:off x="4377208" y="1034963"/>
            <a:ext cx="450764" cy="369332"/>
          </a:xfrm>
          <a:prstGeom prst="rect">
            <a:avLst/>
          </a:prstGeom>
        </p:spPr>
        <p:txBody>
          <a:bodyPr wrap="none">
            <a:spAutoFit/>
          </a:bodyPr>
          <a:lstStyle/>
          <a:p>
            <a:r>
              <a:rPr lang="en-US" dirty="0"/>
              <a:t>V</a:t>
            </a:r>
            <a:r>
              <a:rPr lang="en-US" sz="1200" dirty="0"/>
              <a:t>D</a:t>
            </a:r>
            <a:endParaRPr lang="sv-SE" dirty="0"/>
          </a:p>
        </p:txBody>
      </p:sp>
      <p:sp>
        <p:nvSpPr>
          <p:cNvPr id="9" name="Rectangle 8"/>
          <p:cNvSpPr/>
          <p:nvPr/>
        </p:nvSpPr>
        <p:spPr>
          <a:xfrm>
            <a:off x="3404499" y="35106"/>
            <a:ext cx="352982" cy="369332"/>
          </a:xfrm>
          <a:prstGeom prst="rect">
            <a:avLst/>
          </a:prstGeom>
        </p:spPr>
        <p:txBody>
          <a:bodyPr wrap="none">
            <a:spAutoFit/>
          </a:bodyPr>
          <a:lstStyle/>
          <a:p>
            <a:r>
              <a:rPr lang="en-US" dirty="0"/>
              <a:t>I</a:t>
            </a:r>
            <a:r>
              <a:rPr lang="en-US" sz="1200" dirty="0"/>
              <a:t>D</a:t>
            </a:r>
            <a:endParaRPr lang="sv-SE" dirty="0"/>
          </a:p>
        </p:txBody>
      </p:sp>
      <p:cxnSp>
        <p:nvCxnSpPr>
          <p:cNvPr id="356" name="Straight Connector 355"/>
          <p:cNvCxnSpPr>
            <a:stCxn id="9" idx="2"/>
          </p:cNvCxnSpPr>
          <p:nvPr/>
        </p:nvCxnSpPr>
        <p:spPr>
          <a:xfrm flipH="1">
            <a:off x="3565534" y="404438"/>
            <a:ext cx="15456" cy="803940"/>
          </a:xfrm>
          <a:prstGeom prst="line">
            <a:avLst/>
          </a:prstGeom>
          <a:ln/>
        </p:spPr>
        <p:style>
          <a:lnRef idx="2">
            <a:schemeClr val="dk1"/>
          </a:lnRef>
          <a:fillRef idx="0">
            <a:schemeClr val="dk1"/>
          </a:fillRef>
          <a:effectRef idx="1">
            <a:schemeClr val="dk1"/>
          </a:effectRef>
          <a:fontRef idx="minor">
            <a:schemeClr val="tx1"/>
          </a:fontRef>
        </p:style>
      </p:cxnSp>
      <p:cxnSp>
        <p:nvCxnSpPr>
          <p:cNvPr id="360" name="Straight Connector 359"/>
          <p:cNvCxnSpPr/>
          <p:nvPr/>
        </p:nvCxnSpPr>
        <p:spPr>
          <a:xfrm>
            <a:off x="3849158" y="4205134"/>
            <a:ext cx="835017" cy="4515"/>
          </a:xfrm>
          <a:prstGeom prst="line">
            <a:avLst/>
          </a:prstGeom>
          <a:ln/>
        </p:spPr>
        <p:style>
          <a:lnRef idx="2">
            <a:schemeClr val="dk1"/>
          </a:lnRef>
          <a:fillRef idx="0">
            <a:schemeClr val="dk1"/>
          </a:fillRef>
          <a:effectRef idx="1">
            <a:schemeClr val="dk1"/>
          </a:effectRef>
          <a:fontRef idx="minor">
            <a:schemeClr val="tx1"/>
          </a:fontRef>
        </p:style>
      </p:cxnSp>
      <p:sp>
        <p:nvSpPr>
          <p:cNvPr id="361" name="Rectangle 360"/>
          <p:cNvSpPr/>
          <p:nvPr/>
        </p:nvSpPr>
        <p:spPr>
          <a:xfrm>
            <a:off x="4645376" y="4036234"/>
            <a:ext cx="450764" cy="369332"/>
          </a:xfrm>
          <a:prstGeom prst="rect">
            <a:avLst/>
          </a:prstGeom>
        </p:spPr>
        <p:txBody>
          <a:bodyPr wrap="none">
            <a:spAutoFit/>
          </a:bodyPr>
          <a:lstStyle/>
          <a:p>
            <a:r>
              <a:rPr lang="en-US" dirty="0"/>
              <a:t>V</a:t>
            </a:r>
            <a:r>
              <a:rPr lang="en-US" sz="1200" dirty="0"/>
              <a:t>D</a:t>
            </a:r>
            <a:endParaRPr lang="sv-SE" dirty="0"/>
          </a:p>
        </p:txBody>
      </p:sp>
      <p:sp>
        <p:nvSpPr>
          <p:cNvPr id="362" name="Rectangle 361"/>
          <p:cNvSpPr/>
          <p:nvPr/>
        </p:nvSpPr>
        <p:spPr>
          <a:xfrm>
            <a:off x="3672667" y="3036377"/>
            <a:ext cx="352982" cy="369332"/>
          </a:xfrm>
          <a:prstGeom prst="rect">
            <a:avLst/>
          </a:prstGeom>
        </p:spPr>
        <p:txBody>
          <a:bodyPr wrap="none">
            <a:spAutoFit/>
          </a:bodyPr>
          <a:lstStyle/>
          <a:p>
            <a:r>
              <a:rPr lang="en-US" dirty="0"/>
              <a:t>I</a:t>
            </a:r>
            <a:r>
              <a:rPr lang="en-US" sz="1200" dirty="0"/>
              <a:t>D</a:t>
            </a:r>
            <a:endParaRPr lang="sv-SE" dirty="0"/>
          </a:p>
        </p:txBody>
      </p:sp>
      <p:cxnSp>
        <p:nvCxnSpPr>
          <p:cNvPr id="363" name="Straight Connector 362"/>
          <p:cNvCxnSpPr>
            <a:stCxn id="362" idx="2"/>
          </p:cNvCxnSpPr>
          <p:nvPr/>
        </p:nvCxnSpPr>
        <p:spPr>
          <a:xfrm flipH="1">
            <a:off x="3833702" y="3405709"/>
            <a:ext cx="15456" cy="803940"/>
          </a:xfrm>
          <a:prstGeom prst="line">
            <a:avLst/>
          </a:prstGeom>
          <a:ln/>
        </p:spPr>
        <p:style>
          <a:lnRef idx="2">
            <a:schemeClr val="dk1"/>
          </a:lnRef>
          <a:fillRef idx="0">
            <a:schemeClr val="dk1"/>
          </a:fillRef>
          <a:effectRef idx="1">
            <a:schemeClr val="dk1"/>
          </a:effectRef>
          <a:fontRef idx="minor">
            <a:schemeClr val="tx1"/>
          </a:fontRef>
        </p:style>
      </p:cxnSp>
      <p:cxnSp>
        <p:nvCxnSpPr>
          <p:cNvPr id="364" name="Straight Connector 363"/>
          <p:cNvCxnSpPr/>
          <p:nvPr/>
        </p:nvCxnSpPr>
        <p:spPr>
          <a:xfrm flipH="1">
            <a:off x="3840246" y="3721435"/>
            <a:ext cx="167948" cy="472115"/>
          </a:xfrm>
          <a:prstGeom prst="line">
            <a:avLst/>
          </a:prstGeom>
          <a:ln/>
        </p:spPr>
        <p:style>
          <a:lnRef idx="3">
            <a:schemeClr val="accent6"/>
          </a:lnRef>
          <a:fillRef idx="0">
            <a:schemeClr val="accent6"/>
          </a:fillRef>
          <a:effectRef idx="2">
            <a:schemeClr val="accent6"/>
          </a:effectRef>
          <a:fontRef idx="minor">
            <a:schemeClr val="tx1"/>
          </a:fontRef>
        </p:style>
      </p:cxnSp>
      <p:sp>
        <p:nvSpPr>
          <p:cNvPr id="367" name="Rectangle 366"/>
          <p:cNvSpPr/>
          <p:nvPr/>
        </p:nvSpPr>
        <p:spPr>
          <a:xfrm>
            <a:off x="7670295" y="1683415"/>
            <a:ext cx="153055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metal</a:t>
            </a:r>
            <a:endParaRPr lang="sv-SE" dirty="0"/>
          </a:p>
        </p:txBody>
      </p:sp>
      <p:sp>
        <p:nvSpPr>
          <p:cNvPr id="368" name="Rectangle 367"/>
          <p:cNvSpPr/>
          <p:nvPr/>
        </p:nvSpPr>
        <p:spPr>
          <a:xfrm>
            <a:off x="7359998" y="1901243"/>
            <a:ext cx="2134545" cy="224626"/>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oxide</a:t>
            </a:r>
            <a:endParaRPr lang="sv-SE" dirty="0"/>
          </a:p>
        </p:txBody>
      </p:sp>
      <p:sp>
        <p:nvSpPr>
          <p:cNvPr id="369" name="Rectangle 368"/>
          <p:cNvSpPr/>
          <p:nvPr/>
        </p:nvSpPr>
        <p:spPr>
          <a:xfrm>
            <a:off x="7670295" y="2255310"/>
            <a:ext cx="1530552" cy="740606"/>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370" name="Rectangle 369"/>
          <p:cNvSpPr/>
          <p:nvPr/>
        </p:nvSpPr>
        <p:spPr>
          <a:xfrm>
            <a:off x="6197823" y="2136543"/>
            <a:ext cx="1460826"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371" name="Rectangle 370"/>
          <p:cNvSpPr/>
          <p:nvPr/>
        </p:nvSpPr>
        <p:spPr>
          <a:xfrm>
            <a:off x="6197822" y="2598477"/>
            <a:ext cx="1530552" cy="397439"/>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72" name="Rectangle 371"/>
          <p:cNvSpPr/>
          <p:nvPr/>
        </p:nvSpPr>
        <p:spPr>
          <a:xfrm>
            <a:off x="9200847" y="2138772"/>
            <a:ext cx="1530552"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373" name="Rectangle 372"/>
          <p:cNvSpPr/>
          <p:nvPr/>
        </p:nvSpPr>
        <p:spPr>
          <a:xfrm>
            <a:off x="9200847" y="2598476"/>
            <a:ext cx="1530552" cy="397440"/>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74" name="Rectangle 373"/>
          <p:cNvSpPr/>
          <p:nvPr/>
        </p:nvSpPr>
        <p:spPr>
          <a:xfrm>
            <a:off x="6566197" y="1919129"/>
            <a:ext cx="79380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75" name="Rectangle 374"/>
          <p:cNvSpPr/>
          <p:nvPr/>
        </p:nvSpPr>
        <p:spPr>
          <a:xfrm>
            <a:off x="9494543" y="1894901"/>
            <a:ext cx="793802" cy="23975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76" name="Rectangle 375"/>
          <p:cNvSpPr/>
          <p:nvPr/>
        </p:nvSpPr>
        <p:spPr>
          <a:xfrm>
            <a:off x="8274071" y="1342254"/>
            <a:ext cx="306398" cy="369332"/>
          </a:xfrm>
          <a:prstGeom prst="rect">
            <a:avLst/>
          </a:prstGeom>
        </p:spPr>
        <p:txBody>
          <a:bodyPr wrap="square">
            <a:spAutoFit/>
          </a:bodyPr>
          <a:lstStyle/>
          <a:p>
            <a:r>
              <a:rPr lang="en-US" dirty="0" smtClean="0"/>
              <a:t>G</a:t>
            </a:r>
            <a:endParaRPr lang="sv-SE" dirty="0"/>
          </a:p>
        </p:txBody>
      </p:sp>
      <p:sp>
        <p:nvSpPr>
          <p:cNvPr id="377" name="Rectangle 376"/>
          <p:cNvSpPr/>
          <p:nvPr/>
        </p:nvSpPr>
        <p:spPr>
          <a:xfrm>
            <a:off x="6815784" y="1593877"/>
            <a:ext cx="306398" cy="369332"/>
          </a:xfrm>
          <a:prstGeom prst="rect">
            <a:avLst/>
          </a:prstGeom>
        </p:spPr>
        <p:txBody>
          <a:bodyPr wrap="square">
            <a:spAutoFit/>
          </a:bodyPr>
          <a:lstStyle/>
          <a:p>
            <a:r>
              <a:rPr lang="en-US" dirty="0"/>
              <a:t>S</a:t>
            </a:r>
            <a:endParaRPr lang="sv-SE" dirty="0"/>
          </a:p>
        </p:txBody>
      </p:sp>
      <p:sp>
        <p:nvSpPr>
          <p:cNvPr id="378" name="Rectangle 377"/>
          <p:cNvSpPr/>
          <p:nvPr/>
        </p:nvSpPr>
        <p:spPr>
          <a:xfrm>
            <a:off x="9738245" y="1593877"/>
            <a:ext cx="306398" cy="369332"/>
          </a:xfrm>
          <a:prstGeom prst="rect">
            <a:avLst/>
          </a:prstGeom>
        </p:spPr>
        <p:txBody>
          <a:bodyPr wrap="square">
            <a:spAutoFit/>
          </a:bodyPr>
          <a:lstStyle/>
          <a:p>
            <a:r>
              <a:rPr lang="en-US" dirty="0" smtClean="0"/>
              <a:t>D</a:t>
            </a:r>
            <a:endParaRPr lang="sv-SE" dirty="0"/>
          </a:p>
        </p:txBody>
      </p:sp>
      <p:sp>
        <p:nvSpPr>
          <p:cNvPr id="379" name="Rectangle 378"/>
          <p:cNvSpPr/>
          <p:nvPr/>
        </p:nvSpPr>
        <p:spPr>
          <a:xfrm>
            <a:off x="7991092" y="1119017"/>
            <a:ext cx="872355" cy="369332"/>
          </a:xfrm>
          <a:prstGeom prst="rect">
            <a:avLst/>
          </a:prstGeom>
        </p:spPr>
        <p:txBody>
          <a:bodyPr wrap="none">
            <a:spAutoFit/>
          </a:bodyPr>
          <a:lstStyle/>
          <a:p>
            <a:r>
              <a:rPr lang="en-US" dirty="0" smtClean="0"/>
              <a:t>V</a:t>
            </a:r>
            <a:r>
              <a:rPr lang="en-US" sz="1200" dirty="0" smtClean="0"/>
              <a:t>G</a:t>
            </a:r>
            <a:r>
              <a:rPr lang="en-US" dirty="0" smtClean="0"/>
              <a:t>&gt;</a:t>
            </a:r>
            <a:r>
              <a:rPr lang="en-US" sz="1400" dirty="0"/>
              <a:t> </a:t>
            </a:r>
            <a:r>
              <a:rPr lang="en-US" sz="1600" dirty="0" smtClean="0"/>
              <a:t>V</a:t>
            </a:r>
            <a:r>
              <a:rPr lang="en-US" sz="1100" dirty="0" smtClean="0"/>
              <a:t>T</a:t>
            </a:r>
            <a:endParaRPr lang="sv-SE" sz="1600" dirty="0"/>
          </a:p>
        </p:txBody>
      </p:sp>
      <p:sp>
        <p:nvSpPr>
          <p:cNvPr id="380" name="Rectangle 379"/>
          <p:cNvSpPr/>
          <p:nvPr/>
        </p:nvSpPr>
        <p:spPr>
          <a:xfrm>
            <a:off x="6614675" y="1343964"/>
            <a:ext cx="708848" cy="369332"/>
          </a:xfrm>
          <a:prstGeom prst="rect">
            <a:avLst/>
          </a:prstGeom>
        </p:spPr>
        <p:txBody>
          <a:bodyPr wrap="none">
            <a:spAutoFit/>
          </a:bodyPr>
          <a:lstStyle/>
          <a:p>
            <a:r>
              <a:rPr lang="en-US" dirty="0" smtClean="0"/>
              <a:t>V</a:t>
            </a:r>
            <a:r>
              <a:rPr lang="en-US" sz="1200" dirty="0" smtClean="0"/>
              <a:t>s</a:t>
            </a:r>
            <a:r>
              <a:rPr lang="en-US" dirty="0" smtClean="0"/>
              <a:t>=0</a:t>
            </a:r>
            <a:endParaRPr lang="sv-SE" sz="1400" dirty="0"/>
          </a:p>
        </p:txBody>
      </p:sp>
      <p:sp>
        <p:nvSpPr>
          <p:cNvPr id="381" name="Rectangle 380"/>
          <p:cNvSpPr/>
          <p:nvPr/>
        </p:nvSpPr>
        <p:spPr>
          <a:xfrm>
            <a:off x="3668870" y="4389800"/>
            <a:ext cx="1132041" cy="369332"/>
          </a:xfrm>
          <a:prstGeom prst="rect">
            <a:avLst/>
          </a:prstGeom>
        </p:spPr>
        <p:txBody>
          <a:bodyPr wrap="none">
            <a:spAutoFit/>
          </a:bodyPr>
          <a:lstStyle/>
          <a:p>
            <a:r>
              <a:rPr lang="en-US" dirty="0" smtClean="0"/>
              <a:t>V</a:t>
            </a:r>
            <a:r>
              <a:rPr lang="en-US" sz="1200" dirty="0" smtClean="0"/>
              <a:t>D</a:t>
            </a:r>
            <a:r>
              <a:rPr lang="en-US" dirty="0" smtClean="0"/>
              <a:t>=small</a:t>
            </a:r>
            <a:endParaRPr lang="sv-SE" sz="1400" dirty="0"/>
          </a:p>
        </p:txBody>
      </p:sp>
      <p:sp>
        <p:nvSpPr>
          <p:cNvPr id="382" name="Rectangle 381"/>
          <p:cNvSpPr/>
          <p:nvPr/>
        </p:nvSpPr>
        <p:spPr>
          <a:xfrm>
            <a:off x="10745565" y="1355255"/>
            <a:ext cx="1091966" cy="369332"/>
          </a:xfrm>
          <a:prstGeom prst="rect">
            <a:avLst/>
          </a:prstGeom>
        </p:spPr>
        <p:txBody>
          <a:bodyPr wrap="none">
            <a:spAutoFit/>
          </a:bodyPr>
          <a:lstStyle/>
          <a:p>
            <a:r>
              <a:rPr lang="en-US" dirty="0" smtClean="0"/>
              <a:t>I</a:t>
            </a:r>
            <a:r>
              <a:rPr lang="en-US" sz="1200" dirty="0" smtClean="0"/>
              <a:t>D </a:t>
            </a:r>
            <a:r>
              <a:rPr lang="en-US" dirty="0" smtClean="0"/>
              <a:t>=</a:t>
            </a:r>
            <a:r>
              <a:rPr lang="en-US" dirty="0"/>
              <a:t> </a:t>
            </a:r>
            <a:r>
              <a:rPr lang="en-US" dirty="0" smtClean="0"/>
              <a:t>I</a:t>
            </a:r>
            <a:r>
              <a:rPr lang="en-US" sz="1200" dirty="0" smtClean="0"/>
              <a:t>D-sat</a:t>
            </a:r>
            <a:r>
              <a:rPr lang="en-US" dirty="0" smtClean="0"/>
              <a:t> </a:t>
            </a:r>
            <a:endParaRPr lang="sv-SE" sz="2000" dirty="0"/>
          </a:p>
        </p:txBody>
      </p:sp>
      <p:sp>
        <p:nvSpPr>
          <p:cNvPr id="383" name="Rectangle 382"/>
          <p:cNvSpPr/>
          <p:nvPr/>
        </p:nvSpPr>
        <p:spPr>
          <a:xfrm>
            <a:off x="6197821" y="2598476"/>
            <a:ext cx="1472473" cy="167447"/>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smtClean="0"/>
              <a:t>depletion</a:t>
            </a:r>
            <a:endParaRPr lang="sv-SE" sz="1400" dirty="0"/>
          </a:p>
        </p:txBody>
      </p:sp>
      <p:sp>
        <p:nvSpPr>
          <p:cNvPr id="384" name="Rectangle 383"/>
          <p:cNvSpPr/>
          <p:nvPr/>
        </p:nvSpPr>
        <p:spPr>
          <a:xfrm>
            <a:off x="7670294" y="2383544"/>
            <a:ext cx="116038" cy="37492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385" name="Rectangle 384"/>
          <p:cNvSpPr/>
          <p:nvPr/>
        </p:nvSpPr>
        <p:spPr>
          <a:xfrm rot="5400000">
            <a:off x="8297115" y="1480624"/>
            <a:ext cx="258483" cy="154897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386" name="Rectangle 385"/>
          <p:cNvSpPr/>
          <p:nvPr/>
        </p:nvSpPr>
        <p:spPr>
          <a:xfrm>
            <a:off x="8557522" y="2383543"/>
            <a:ext cx="643262" cy="37492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387" name="Rectangle 386"/>
          <p:cNvSpPr/>
          <p:nvPr/>
        </p:nvSpPr>
        <p:spPr>
          <a:xfrm>
            <a:off x="9201195" y="2588496"/>
            <a:ext cx="1530141" cy="167447"/>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smtClean="0"/>
              <a:t>depletion</a:t>
            </a:r>
            <a:endParaRPr lang="sv-SE" sz="1400" dirty="0"/>
          </a:p>
        </p:txBody>
      </p:sp>
      <p:grpSp>
        <p:nvGrpSpPr>
          <p:cNvPr id="405" name="Group 404"/>
          <p:cNvGrpSpPr/>
          <p:nvPr/>
        </p:nvGrpSpPr>
        <p:grpSpPr>
          <a:xfrm>
            <a:off x="7205536" y="2160060"/>
            <a:ext cx="377691" cy="227729"/>
            <a:chOff x="5121064" y="3573935"/>
            <a:chExt cx="377691" cy="227729"/>
          </a:xfrm>
        </p:grpSpPr>
        <p:sp>
          <p:nvSpPr>
            <p:cNvPr id="406" name="Oval 405"/>
            <p:cNvSpPr/>
            <p:nvPr/>
          </p:nvSpPr>
          <p:spPr>
            <a:xfrm>
              <a:off x="5413030"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07" name="Oval 406"/>
            <p:cNvSpPr/>
            <p:nvPr/>
          </p:nvSpPr>
          <p:spPr>
            <a:xfrm>
              <a:off x="5315708"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08" name="Oval 407"/>
            <p:cNvSpPr/>
            <p:nvPr/>
          </p:nvSpPr>
          <p:spPr>
            <a:xfrm>
              <a:off x="5413030"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09" name="Oval 408"/>
            <p:cNvSpPr/>
            <p:nvPr/>
          </p:nvSpPr>
          <p:spPr>
            <a:xfrm>
              <a:off x="5315708"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10" name="Oval 409"/>
            <p:cNvSpPr/>
            <p:nvPr/>
          </p:nvSpPr>
          <p:spPr>
            <a:xfrm>
              <a:off x="5218386"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11" name="Oval 410"/>
            <p:cNvSpPr/>
            <p:nvPr/>
          </p:nvSpPr>
          <p:spPr>
            <a:xfrm>
              <a:off x="5121064"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12" name="Oval 411"/>
            <p:cNvSpPr/>
            <p:nvPr/>
          </p:nvSpPr>
          <p:spPr>
            <a:xfrm>
              <a:off x="5218386"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13" name="Oval 412"/>
            <p:cNvSpPr/>
            <p:nvPr/>
          </p:nvSpPr>
          <p:spPr>
            <a:xfrm>
              <a:off x="5121064"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grpSp>
        <p:nvGrpSpPr>
          <p:cNvPr id="414" name="Group 413"/>
          <p:cNvGrpSpPr/>
          <p:nvPr/>
        </p:nvGrpSpPr>
        <p:grpSpPr>
          <a:xfrm>
            <a:off x="9258979" y="2135933"/>
            <a:ext cx="377691" cy="227729"/>
            <a:chOff x="5121064" y="3573935"/>
            <a:chExt cx="377691" cy="227729"/>
          </a:xfrm>
        </p:grpSpPr>
        <p:sp>
          <p:nvSpPr>
            <p:cNvPr id="415" name="Oval 414"/>
            <p:cNvSpPr/>
            <p:nvPr/>
          </p:nvSpPr>
          <p:spPr>
            <a:xfrm>
              <a:off x="5413030"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16" name="Oval 415"/>
            <p:cNvSpPr/>
            <p:nvPr/>
          </p:nvSpPr>
          <p:spPr>
            <a:xfrm>
              <a:off x="5315708"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17" name="Oval 416"/>
            <p:cNvSpPr/>
            <p:nvPr/>
          </p:nvSpPr>
          <p:spPr>
            <a:xfrm>
              <a:off x="5413030"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18" name="Oval 417"/>
            <p:cNvSpPr/>
            <p:nvPr/>
          </p:nvSpPr>
          <p:spPr>
            <a:xfrm>
              <a:off x="5315708"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19" name="Oval 418"/>
            <p:cNvSpPr/>
            <p:nvPr/>
          </p:nvSpPr>
          <p:spPr>
            <a:xfrm>
              <a:off x="5218386"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20" name="Oval 419"/>
            <p:cNvSpPr/>
            <p:nvPr/>
          </p:nvSpPr>
          <p:spPr>
            <a:xfrm>
              <a:off x="5121064"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21" name="Oval 420"/>
            <p:cNvSpPr/>
            <p:nvPr/>
          </p:nvSpPr>
          <p:spPr>
            <a:xfrm>
              <a:off x="5218386"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22" name="Oval 421"/>
            <p:cNvSpPr/>
            <p:nvPr/>
          </p:nvSpPr>
          <p:spPr>
            <a:xfrm>
              <a:off x="5121064"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grpSp>
        <p:nvGrpSpPr>
          <p:cNvPr id="423" name="Group 422"/>
          <p:cNvGrpSpPr/>
          <p:nvPr/>
        </p:nvGrpSpPr>
        <p:grpSpPr>
          <a:xfrm>
            <a:off x="6239137" y="2765923"/>
            <a:ext cx="460170" cy="102318"/>
            <a:chOff x="4091663" y="4933338"/>
            <a:chExt cx="460170" cy="102318"/>
          </a:xfrm>
        </p:grpSpPr>
        <p:sp>
          <p:nvSpPr>
            <p:cNvPr id="424" name="Oval 423"/>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25" name="Oval 424"/>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26" name="Oval 425"/>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27" name="Oval 426"/>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428" name="Group 427"/>
          <p:cNvGrpSpPr/>
          <p:nvPr/>
        </p:nvGrpSpPr>
        <p:grpSpPr>
          <a:xfrm>
            <a:off x="6746649" y="2778601"/>
            <a:ext cx="460170" cy="102318"/>
            <a:chOff x="4091663" y="4933338"/>
            <a:chExt cx="460170" cy="102318"/>
          </a:xfrm>
        </p:grpSpPr>
        <p:sp>
          <p:nvSpPr>
            <p:cNvPr id="429" name="Oval 428"/>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30" name="Oval 429"/>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31" name="Oval 430"/>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32" name="Oval 431"/>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433" name="Group 432"/>
          <p:cNvGrpSpPr/>
          <p:nvPr/>
        </p:nvGrpSpPr>
        <p:grpSpPr>
          <a:xfrm>
            <a:off x="7271671" y="2778601"/>
            <a:ext cx="460170" cy="102318"/>
            <a:chOff x="4091663" y="4933338"/>
            <a:chExt cx="460170" cy="102318"/>
          </a:xfrm>
        </p:grpSpPr>
        <p:sp>
          <p:nvSpPr>
            <p:cNvPr id="434" name="Oval 433"/>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35" name="Oval 434"/>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36" name="Oval 435"/>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37" name="Oval 436"/>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438" name="Group 437"/>
          <p:cNvGrpSpPr/>
          <p:nvPr/>
        </p:nvGrpSpPr>
        <p:grpSpPr>
          <a:xfrm rot="16200000">
            <a:off x="7629876" y="2671948"/>
            <a:ext cx="460170" cy="102318"/>
            <a:chOff x="4091663" y="4933338"/>
            <a:chExt cx="460170" cy="102318"/>
          </a:xfrm>
        </p:grpSpPr>
        <p:sp>
          <p:nvSpPr>
            <p:cNvPr id="439" name="Oval 438"/>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40" name="Oval 439"/>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41" name="Oval 440"/>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42" name="Oval 441"/>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443" name="Group 442"/>
          <p:cNvGrpSpPr/>
          <p:nvPr/>
        </p:nvGrpSpPr>
        <p:grpSpPr>
          <a:xfrm>
            <a:off x="7945456" y="2468686"/>
            <a:ext cx="460170" cy="102318"/>
            <a:chOff x="4091663" y="4933338"/>
            <a:chExt cx="460170" cy="102318"/>
          </a:xfrm>
        </p:grpSpPr>
        <p:sp>
          <p:nvSpPr>
            <p:cNvPr id="444" name="Oval 443"/>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45" name="Oval 444"/>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46" name="Oval 445"/>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47" name="Oval 446"/>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453" name="Group 452"/>
          <p:cNvGrpSpPr/>
          <p:nvPr/>
        </p:nvGrpSpPr>
        <p:grpSpPr>
          <a:xfrm>
            <a:off x="10252297" y="2784327"/>
            <a:ext cx="460170" cy="102318"/>
            <a:chOff x="4091663" y="4933338"/>
            <a:chExt cx="460170" cy="102318"/>
          </a:xfrm>
        </p:grpSpPr>
        <p:sp>
          <p:nvSpPr>
            <p:cNvPr id="454" name="Oval 453"/>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55" name="Oval 454"/>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56" name="Oval 455"/>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57" name="Oval 456"/>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458" name="Group 457"/>
          <p:cNvGrpSpPr/>
          <p:nvPr/>
        </p:nvGrpSpPr>
        <p:grpSpPr>
          <a:xfrm>
            <a:off x="9739011" y="2791256"/>
            <a:ext cx="460170" cy="102318"/>
            <a:chOff x="4091663" y="4933338"/>
            <a:chExt cx="460170" cy="102318"/>
          </a:xfrm>
        </p:grpSpPr>
        <p:sp>
          <p:nvSpPr>
            <p:cNvPr id="459" name="Oval 458"/>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60" name="Oval 459"/>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61" name="Oval 460"/>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62" name="Oval 461"/>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463" name="Group 462"/>
          <p:cNvGrpSpPr/>
          <p:nvPr/>
        </p:nvGrpSpPr>
        <p:grpSpPr>
          <a:xfrm>
            <a:off x="9209421" y="2791256"/>
            <a:ext cx="460170" cy="102318"/>
            <a:chOff x="4091663" y="4933338"/>
            <a:chExt cx="460170" cy="102318"/>
          </a:xfrm>
        </p:grpSpPr>
        <p:sp>
          <p:nvSpPr>
            <p:cNvPr id="464" name="Oval 463"/>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65" name="Oval 464"/>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66" name="Oval 465"/>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67" name="Oval 466"/>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cxnSp>
        <p:nvCxnSpPr>
          <p:cNvPr id="473" name="Straight Connector 472"/>
          <p:cNvCxnSpPr/>
          <p:nvPr/>
        </p:nvCxnSpPr>
        <p:spPr>
          <a:xfrm>
            <a:off x="9828638" y="1213556"/>
            <a:ext cx="835017" cy="4515"/>
          </a:xfrm>
          <a:prstGeom prst="line">
            <a:avLst/>
          </a:prstGeom>
          <a:ln/>
        </p:spPr>
        <p:style>
          <a:lnRef idx="2">
            <a:schemeClr val="dk1"/>
          </a:lnRef>
          <a:fillRef idx="0">
            <a:schemeClr val="dk1"/>
          </a:fillRef>
          <a:effectRef idx="1">
            <a:schemeClr val="dk1"/>
          </a:effectRef>
          <a:fontRef idx="minor">
            <a:schemeClr val="tx1"/>
          </a:fontRef>
        </p:style>
      </p:cxnSp>
      <p:sp>
        <p:nvSpPr>
          <p:cNvPr id="474" name="Rectangle 473"/>
          <p:cNvSpPr/>
          <p:nvPr/>
        </p:nvSpPr>
        <p:spPr>
          <a:xfrm>
            <a:off x="10624856" y="1044656"/>
            <a:ext cx="450764" cy="369332"/>
          </a:xfrm>
          <a:prstGeom prst="rect">
            <a:avLst/>
          </a:prstGeom>
        </p:spPr>
        <p:txBody>
          <a:bodyPr wrap="none">
            <a:spAutoFit/>
          </a:bodyPr>
          <a:lstStyle/>
          <a:p>
            <a:r>
              <a:rPr lang="en-US" dirty="0"/>
              <a:t>V</a:t>
            </a:r>
            <a:r>
              <a:rPr lang="en-US" sz="1200" dirty="0"/>
              <a:t>D</a:t>
            </a:r>
            <a:endParaRPr lang="sv-SE" dirty="0"/>
          </a:p>
        </p:txBody>
      </p:sp>
      <p:sp>
        <p:nvSpPr>
          <p:cNvPr id="475" name="Rectangle 474"/>
          <p:cNvSpPr/>
          <p:nvPr/>
        </p:nvSpPr>
        <p:spPr>
          <a:xfrm>
            <a:off x="9652147" y="44799"/>
            <a:ext cx="352982" cy="369332"/>
          </a:xfrm>
          <a:prstGeom prst="rect">
            <a:avLst/>
          </a:prstGeom>
        </p:spPr>
        <p:txBody>
          <a:bodyPr wrap="none">
            <a:spAutoFit/>
          </a:bodyPr>
          <a:lstStyle/>
          <a:p>
            <a:r>
              <a:rPr lang="en-US" dirty="0"/>
              <a:t>I</a:t>
            </a:r>
            <a:r>
              <a:rPr lang="en-US" sz="1200" dirty="0"/>
              <a:t>D</a:t>
            </a:r>
            <a:endParaRPr lang="sv-SE" dirty="0"/>
          </a:p>
        </p:txBody>
      </p:sp>
      <p:cxnSp>
        <p:nvCxnSpPr>
          <p:cNvPr id="476" name="Straight Connector 475"/>
          <p:cNvCxnSpPr>
            <a:stCxn id="475" idx="2"/>
          </p:cNvCxnSpPr>
          <p:nvPr/>
        </p:nvCxnSpPr>
        <p:spPr>
          <a:xfrm flipH="1">
            <a:off x="9813182" y="414131"/>
            <a:ext cx="15456" cy="803940"/>
          </a:xfrm>
          <a:prstGeom prst="line">
            <a:avLst/>
          </a:prstGeom>
          <a:ln/>
        </p:spPr>
        <p:style>
          <a:lnRef idx="2">
            <a:schemeClr val="dk1"/>
          </a:lnRef>
          <a:fillRef idx="0">
            <a:schemeClr val="dk1"/>
          </a:fillRef>
          <a:effectRef idx="1">
            <a:schemeClr val="dk1"/>
          </a:effectRef>
          <a:fontRef idx="minor">
            <a:schemeClr val="tx1"/>
          </a:fontRef>
        </p:style>
      </p:cxnSp>
      <p:sp>
        <p:nvSpPr>
          <p:cNvPr id="479" name="Right Triangle 478"/>
          <p:cNvSpPr/>
          <p:nvPr/>
        </p:nvSpPr>
        <p:spPr>
          <a:xfrm rot="10800000" flipH="1">
            <a:off x="7642794" y="2129475"/>
            <a:ext cx="1526814" cy="146690"/>
          </a:xfrm>
          <a:prstGeom prst="rtTriangl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i="1" dirty="0"/>
          </a:p>
        </p:txBody>
      </p:sp>
      <p:sp>
        <p:nvSpPr>
          <p:cNvPr id="591" name="Oval 590"/>
          <p:cNvSpPr/>
          <p:nvPr/>
        </p:nvSpPr>
        <p:spPr>
          <a:xfrm>
            <a:off x="7991876" y="214609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92" name="Oval 591"/>
          <p:cNvSpPr/>
          <p:nvPr/>
        </p:nvSpPr>
        <p:spPr>
          <a:xfrm>
            <a:off x="7894554" y="214609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93" name="Oval 592"/>
          <p:cNvSpPr/>
          <p:nvPr/>
        </p:nvSpPr>
        <p:spPr>
          <a:xfrm>
            <a:off x="7797232" y="214609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94" name="Oval 593"/>
          <p:cNvSpPr/>
          <p:nvPr/>
        </p:nvSpPr>
        <p:spPr>
          <a:xfrm>
            <a:off x="7699910" y="214609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96" name="Freeform 595"/>
          <p:cNvSpPr/>
          <p:nvPr/>
        </p:nvSpPr>
        <p:spPr>
          <a:xfrm>
            <a:off x="9823423" y="540723"/>
            <a:ext cx="321026" cy="655244"/>
          </a:xfrm>
          <a:custGeom>
            <a:avLst/>
            <a:gdLst>
              <a:gd name="connsiteX0" fmla="*/ 0 w 393700"/>
              <a:gd name="connsiteY0" fmla="*/ 725163 h 725163"/>
              <a:gd name="connsiteX1" fmla="*/ 260350 w 393700"/>
              <a:gd name="connsiteY1" fmla="*/ 64763 h 725163"/>
              <a:gd name="connsiteX2" fmla="*/ 393700 w 393700"/>
              <a:gd name="connsiteY2" fmla="*/ 13963 h 725163"/>
            </a:gdLst>
            <a:ahLst/>
            <a:cxnLst>
              <a:cxn ang="0">
                <a:pos x="connsiteX0" y="connsiteY0"/>
              </a:cxn>
              <a:cxn ang="0">
                <a:pos x="connsiteX1" y="connsiteY1"/>
              </a:cxn>
              <a:cxn ang="0">
                <a:pos x="connsiteX2" y="connsiteY2"/>
              </a:cxn>
            </a:cxnLst>
            <a:rect l="l" t="t" r="r" b="b"/>
            <a:pathLst>
              <a:path w="393700" h="725163">
                <a:moveTo>
                  <a:pt x="0" y="725163"/>
                </a:moveTo>
                <a:cubicBezTo>
                  <a:pt x="97366" y="454229"/>
                  <a:pt x="194733" y="183296"/>
                  <a:pt x="260350" y="64763"/>
                </a:cubicBezTo>
                <a:cubicBezTo>
                  <a:pt x="325967" y="-53770"/>
                  <a:pt x="338667" y="29838"/>
                  <a:pt x="393700" y="13963"/>
                </a:cubicBezTo>
              </a:path>
            </a:pathLst>
          </a:cu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597" name="Straight Connector 596"/>
          <p:cNvCxnSpPr/>
          <p:nvPr/>
        </p:nvCxnSpPr>
        <p:spPr>
          <a:xfrm flipH="1">
            <a:off x="9786680" y="540723"/>
            <a:ext cx="931234" cy="1"/>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601" name="Rectangle 600"/>
          <p:cNvSpPr/>
          <p:nvPr/>
        </p:nvSpPr>
        <p:spPr>
          <a:xfrm>
            <a:off x="10702458" y="339769"/>
            <a:ext cx="625492" cy="369332"/>
          </a:xfrm>
          <a:prstGeom prst="rect">
            <a:avLst/>
          </a:prstGeom>
        </p:spPr>
        <p:txBody>
          <a:bodyPr wrap="none">
            <a:spAutoFit/>
          </a:bodyPr>
          <a:lstStyle/>
          <a:p>
            <a:r>
              <a:rPr lang="en-US" dirty="0" smtClean="0"/>
              <a:t>I</a:t>
            </a:r>
            <a:r>
              <a:rPr lang="en-US" sz="1200" dirty="0" smtClean="0"/>
              <a:t>D-sat</a:t>
            </a:r>
            <a:endParaRPr lang="sv-SE" dirty="0"/>
          </a:p>
        </p:txBody>
      </p:sp>
      <p:grpSp>
        <p:nvGrpSpPr>
          <p:cNvPr id="602" name="Group 601"/>
          <p:cNvGrpSpPr/>
          <p:nvPr/>
        </p:nvGrpSpPr>
        <p:grpSpPr>
          <a:xfrm>
            <a:off x="8653591" y="2787722"/>
            <a:ext cx="460170" cy="102318"/>
            <a:chOff x="4091663" y="4933338"/>
            <a:chExt cx="460170" cy="102318"/>
          </a:xfrm>
        </p:grpSpPr>
        <p:sp>
          <p:nvSpPr>
            <p:cNvPr id="603" name="Oval 602"/>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604" name="Oval 603"/>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605" name="Oval 604"/>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606" name="Oval 605"/>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607" name="Group 606"/>
          <p:cNvGrpSpPr/>
          <p:nvPr/>
        </p:nvGrpSpPr>
        <p:grpSpPr>
          <a:xfrm rot="5400000">
            <a:off x="8296734" y="2635499"/>
            <a:ext cx="460170" cy="102318"/>
            <a:chOff x="4091663" y="4933338"/>
            <a:chExt cx="460170" cy="102318"/>
          </a:xfrm>
        </p:grpSpPr>
        <p:sp>
          <p:nvSpPr>
            <p:cNvPr id="608" name="Oval 607"/>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609" name="Oval 608"/>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610" name="Oval 609"/>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611" name="Oval 610"/>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cxnSp>
        <p:nvCxnSpPr>
          <p:cNvPr id="613" name="Straight Arrow Connector 612"/>
          <p:cNvCxnSpPr/>
          <p:nvPr/>
        </p:nvCxnSpPr>
        <p:spPr>
          <a:xfrm flipH="1">
            <a:off x="8653591" y="2134660"/>
            <a:ext cx="516017" cy="1109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4" name="TextBox 613"/>
          <p:cNvSpPr txBox="1"/>
          <p:nvPr/>
        </p:nvSpPr>
        <p:spPr>
          <a:xfrm>
            <a:off x="8123602" y="3150924"/>
            <a:ext cx="1221102" cy="369332"/>
          </a:xfrm>
          <a:prstGeom prst="rect">
            <a:avLst/>
          </a:prstGeom>
          <a:noFill/>
        </p:spPr>
        <p:txBody>
          <a:bodyPr wrap="square" rtlCol="0">
            <a:spAutoFit/>
          </a:bodyPr>
          <a:lstStyle/>
          <a:p>
            <a:r>
              <a:rPr lang="en-US" dirty="0" smtClean="0"/>
              <a:t>Pinch-off</a:t>
            </a:r>
            <a:endParaRPr lang="sv-SE" dirty="0"/>
          </a:p>
        </p:txBody>
      </p:sp>
      <p:sp>
        <p:nvSpPr>
          <p:cNvPr id="718" name="Rectangle 717"/>
          <p:cNvSpPr/>
          <p:nvPr/>
        </p:nvSpPr>
        <p:spPr>
          <a:xfrm>
            <a:off x="7800226" y="4993844"/>
            <a:ext cx="153055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metal</a:t>
            </a:r>
            <a:endParaRPr lang="sv-SE" dirty="0"/>
          </a:p>
        </p:txBody>
      </p:sp>
      <p:sp>
        <p:nvSpPr>
          <p:cNvPr id="719" name="Rectangle 718"/>
          <p:cNvSpPr/>
          <p:nvPr/>
        </p:nvSpPr>
        <p:spPr>
          <a:xfrm>
            <a:off x="7489929" y="5211672"/>
            <a:ext cx="2134545" cy="224626"/>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oxide</a:t>
            </a:r>
            <a:endParaRPr lang="sv-SE" dirty="0"/>
          </a:p>
        </p:txBody>
      </p:sp>
      <p:sp>
        <p:nvSpPr>
          <p:cNvPr id="720" name="Rectangle 719"/>
          <p:cNvSpPr/>
          <p:nvPr/>
        </p:nvSpPr>
        <p:spPr>
          <a:xfrm>
            <a:off x="7800226" y="5565739"/>
            <a:ext cx="1530552" cy="740606"/>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721" name="Rectangle 720"/>
          <p:cNvSpPr/>
          <p:nvPr/>
        </p:nvSpPr>
        <p:spPr>
          <a:xfrm>
            <a:off x="6327754" y="5446972"/>
            <a:ext cx="1460826"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722" name="Rectangle 721"/>
          <p:cNvSpPr/>
          <p:nvPr/>
        </p:nvSpPr>
        <p:spPr>
          <a:xfrm>
            <a:off x="6327753" y="5908906"/>
            <a:ext cx="1530552" cy="397439"/>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723" name="Rectangle 722"/>
          <p:cNvSpPr/>
          <p:nvPr/>
        </p:nvSpPr>
        <p:spPr>
          <a:xfrm>
            <a:off x="9330778" y="5449201"/>
            <a:ext cx="1530552"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724" name="Rectangle 723"/>
          <p:cNvSpPr/>
          <p:nvPr/>
        </p:nvSpPr>
        <p:spPr>
          <a:xfrm>
            <a:off x="9330778" y="5908905"/>
            <a:ext cx="1530552" cy="397440"/>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725" name="Rectangle 724"/>
          <p:cNvSpPr/>
          <p:nvPr/>
        </p:nvSpPr>
        <p:spPr>
          <a:xfrm>
            <a:off x="6696128" y="5229558"/>
            <a:ext cx="79380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726" name="Rectangle 725"/>
          <p:cNvSpPr/>
          <p:nvPr/>
        </p:nvSpPr>
        <p:spPr>
          <a:xfrm>
            <a:off x="9624474" y="5205330"/>
            <a:ext cx="793802" cy="23975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727" name="Rectangle 726"/>
          <p:cNvSpPr/>
          <p:nvPr/>
        </p:nvSpPr>
        <p:spPr>
          <a:xfrm>
            <a:off x="8404002" y="4652683"/>
            <a:ext cx="306398" cy="369332"/>
          </a:xfrm>
          <a:prstGeom prst="rect">
            <a:avLst/>
          </a:prstGeom>
        </p:spPr>
        <p:txBody>
          <a:bodyPr wrap="square">
            <a:spAutoFit/>
          </a:bodyPr>
          <a:lstStyle/>
          <a:p>
            <a:r>
              <a:rPr lang="en-US" dirty="0" smtClean="0"/>
              <a:t>G</a:t>
            </a:r>
            <a:endParaRPr lang="sv-SE" dirty="0"/>
          </a:p>
        </p:txBody>
      </p:sp>
      <p:sp>
        <p:nvSpPr>
          <p:cNvPr id="728" name="Rectangle 727"/>
          <p:cNvSpPr/>
          <p:nvPr/>
        </p:nvSpPr>
        <p:spPr>
          <a:xfrm>
            <a:off x="6945715" y="4904306"/>
            <a:ext cx="306398" cy="369332"/>
          </a:xfrm>
          <a:prstGeom prst="rect">
            <a:avLst/>
          </a:prstGeom>
        </p:spPr>
        <p:txBody>
          <a:bodyPr wrap="square">
            <a:spAutoFit/>
          </a:bodyPr>
          <a:lstStyle/>
          <a:p>
            <a:r>
              <a:rPr lang="en-US" dirty="0"/>
              <a:t>S</a:t>
            </a:r>
            <a:endParaRPr lang="sv-SE" dirty="0"/>
          </a:p>
        </p:txBody>
      </p:sp>
      <p:sp>
        <p:nvSpPr>
          <p:cNvPr id="729" name="Rectangle 728"/>
          <p:cNvSpPr/>
          <p:nvPr/>
        </p:nvSpPr>
        <p:spPr>
          <a:xfrm>
            <a:off x="9868176" y="4904306"/>
            <a:ext cx="306398" cy="369332"/>
          </a:xfrm>
          <a:prstGeom prst="rect">
            <a:avLst/>
          </a:prstGeom>
        </p:spPr>
        <p:txBody>
          <a:bodyPr wrap="square">
            <a:spAutoFit/>
          </a:bodyPr>
          <a:lstStyle/>
          <a:p>
            <a:r>
              <a:rPr lang="en-US" dirty="0" smtClean="0"/>
              <a:t>D</a:t>
            </a:r>
            <a:endParaRPr lang="sv-SE" dirty="0"/>
          </a:p>
        </p:txBody>
      </p:sp>
      <p:sp>
        <p:nvSpPr>
          <p:cNvPr id="730" name="Rectangle 729"/>
          <p:cNvSpPr/>
          <p:nvPr/>
        </p:nvSpPr>
        <p:spPr>
          <a:xfrm>
            <a:off x="8121023" y="4429446"/>
            <a:ext cx="872355" cy="369332"/>
          </a:xfrm>
          <a:prstGeom prst="rect">
            <a:avLst/>
          </a:prstGeom>
        </p:spPr>
        <p:txBody>
          <a:bodyPr wrap="none">
            <a:spAutoFit/>
          </a:bodyPr>
          <a:lstStyle/>
          <a:p>
            <a:r>
              <a:rPr lang="en-US" dirty="0" smtClean="0"/>
              <a:t>V</a:t>
            </a:r>
            <a:r>
              <a:rPr lang="en-US" sz="1200" dirty="0" smtClean="0"/>
              <a:t>G</a:t>
            </a:r>
            <a:r>
              <a:rPr lang="en-US" dirty="0" smtClean="0"/>
              <a:t>&gt;</a:t>
            </a:r>
            <a:r>
              <a:rPr lang="en-US" sz="1400" dirty="0"/>
              <a:t> </a:t>
            </a:r>
            <a:r>
              <a:rPr lang="en-US" sz="1600" dirty="0" smtClean="0"/>
              <a:t>V</a:t>
            </a:r>
            <a:r>
              <a:rPr lang="en-US" sz="1100" dirty="0" smtClean="0"/>
              <a:t>T</a:t>
            </a:r>
            <a:endParaRPr lang="sv-SE" sz="1600" dirty="0"/>
          </a:p>
        </p:txBody>
      </p:sp>
      <p:sp>
        <p:nvSpPr>
          <p:cNvPr id="731" name="Rectangle 730"/>
          <p:cNvSpPr/>
          <p:nvPr/>
        </p:nvSpPr>
        <p:spPr>
          <a:xfrm>
            <a:off x="6744606" y="4654393"/>
            <a:ext cx="708848" cy="369332"/>
          </a:xfrm>
          <a:prstGeom prst="rect">
            <a:avLst/>
          </a:prstGeom>
        </p:spPr>
        <p:txBody>
          <a:bodyPr wrap="none">
            <a:spAutoFit/>
          </a:bodyPr>
          <a:lstStyle/>
          <a:p>
            <a:r>
              <a:rPr lang="en-US" dirty="0" smtClean="0"/>
              <a:t>V</a:t>
            </a:r>
            <a:r>
              <a:rPr lang="en-US" sz="1200" dirty="0" smtClean="0"/>
              <a:t>s</a:t>
            </a:r>
            <a:r>
              <a:rPr lang="en-US" dirty="0" smtClean="0"/>
              <a:t>=0</a:t>
            </a:r>
            <a:endParaRPr lang="sv-SE" sz="1400" dirty="0"/>
          </a:p>
        </p:txBody>
      </p:sp>
      <p:sp>
        <p:nvSpPr>
          <p:cNvPr id="733" name="Rectangle 732"/>
          <p:cNvSpPr/>
          <p:nvPr/>
        </p:nvSpPr>
        <p:spPr>
          <a:xfrm>
            <a:off x="10876764" y="4640729"/>
            <a:ext cx="1091966" cy="369332"/>
          </a:xfrm>
          <a:prstGeom prst="rect">
            <a:avLst/>
          </a:prstGeom>
        </p:spPr>
        <p:txBody>
          <a:bodyPr wrap="none">
            <a:spAutoFit/>
          </a:bodyPr>
          <a:lstStyle/>
          <a:p>
            <a:r>
              <a:rPr lang="en-US" dirty="0" smtClean="0"/>
              <a:t>I</a:t>
            </a:r>
            <a:r>
              <a:rPr lang="en-US" sz="1200" dirty="0" smtClean="0"/>
              <a:t>D </a:t>
            </a:r>
            <a:r>
              <a:rPr lang="en-US" dirty="0" smtClean="0"/>
              <a:t>=</a:t>
            </a:r>
            <a:r>
              <a:rPr lang="en-US" dirty="0"/>
              <a:t> </a:t>
            </a:r>
            <a:r>
              <a:rPr lang="en-US" dirty="0" smtClean="0"/>
              <a:t>I</a:t>
            </a:r>
            <a:r>
              <a:rPr lang="en-US" sz="1200" dirty="0" smtClean="0"/>
              <a:t>D-sat</a:t>
            </a:r>
            <a:r>
              <a:rPr lang="en-US" dirty="0" smtClean="0"/>
              <a:t> </a:t>
            </a:r>
            <a:endParaRPr lang="sv-SE" sz="2000" dirty="0"/>
          </a:p>
        </p:txBody>
      </p:sp>
      <p:sp>
        <p:nvSpPr>
          <p:cNvPr id="734" name="Rectangle 733"/>
          <p:cNvSpPr/>
          <p:nvPr/>
        </p:nvSpPr>
        <p:spPr>
          <a:xfrm>
            <a:off x="6327752" y="5908905"/>
            <a:ext cx="1472473" cy="167447"/>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smtClean="0"/>
              <a:t>depletion</a:t>
            </a:r>
            <a:endParaRPr lang="sv-SE" sz="1400" dirty="0"/>
          </a:p>
        </p:txBody>
      </p:sp>
      <p:sp>
        <p:nvSpPr>
          <p:cNvPr id="735" name="Rectangle 734"/>
          <p:cNvSpPr/>
          <p:nvPr/>
        </p:nvSpPr>
        <p:spPr>
          <a:xfrm>
            <a:off x="7800225" y="5693973"/>
            <a:ext cx="116038" cy="37492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736" name="Rectangle 735"/>
          <p:cNvSpPr/>
          <p:nvPr/>
        </p:nvSpPr>
        <p:spPr>
          <a:xfrm rot="5400000">
            <a:off x="8427046" y="4791053"/>
            <a:ext cx="258483" cy="154897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737" name="Rectangle 736"/>
          <p:cNvSpPr/>
          <p:nvPr/>
        </p:nvSpPr>
        <p:spPr>
          <a:xfrm>
            <a:off x="8171204" y="5693972"/>
            <a:ext cx="1159511" cy="37492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738" name="Rectangle 737"/>
          <p:cNvSpPr/>
          <p:nvPr/>
        </p:nvSpPr>
        <p:spPr>
          <a:xfrm>
            <a:off x="9331126" y="5898925"/>
            <a:ext cx="1530141" cy="167447"/>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smtClean="0"/>
              <a:t>depletion</a:t>
            </a:r>
            <a:endParaRPr lang="sv-SE" sz="1400" dirty="0"/>
          </a:p>
        </p:txBody>
      </p:sp>
      <p:grpSp>
        <p:nvGrpSpPr>
          <p:cNvPr id="739" name="Group 738"/>
          <p:cNvGrpSpPr/>
          <p:nvPr/>
        </p:nvGrpSpPr>
        <p:grpSpPr>
          <a:xfrm>
            <a:off x="7335467" y="5470489"/>
            <a:ext cx="377691" cy="227729"/>
            <a:chOff x="5121064" y="3573935"/>
            <a:chExt cx="377691" cy="227729"/>
          </a:xfrm>
        </p:grpSpPr>
        <p:sp>
          <p:nvSpPr>
            <p:cNvPr id="740" name="Oval 739"/>
            <p:cNvSpPr/>
            <p:nvPr/>
          </p:nvSpPr>
          <p:spPr>
            <a:xfrm>
              <a:off x="5413030"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41" name="Oval 740"/>
            <p:cNvSpPr/>
            <p:nvPr/>
          </p:nvSpPr>
          <p:spPr>
            <a:xfrm>
              <a:off x="5315708"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42" name="Oval 741"/>
            <p:cNvSpPr/>
            <p:nvPr/>
          </p:nvSpPr>
          <p:spPr>
            <a:xfrm>
              <a:off x="5413030"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43" name="Oval 742"/>
            <p:cNvSpPr/>
            <p:nvPr/>
          </p:nvSpPr>
          <p:spPr>
            <a:xfrm>
              <a:off x="5315708"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44" name="Oval 743"/>
            <p:cNvSpPr/>
            <p:nvPr/>
          </p:nvSpPr>
          <p:spPr>
            <a:xfrm>
              <a:off x="5218386"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45" name="Oval 744"/>
            <p:cNvSpPr/>
            <p:nvPr/>
          </p:nvSpPr>
          <p:spPr>
            <a:xfrm>
              <a:off x="5121064"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46" name="Oval 745"/>
            <p:cNvSpPr/>
            <p:nvPr/>
          </p:nvSpPr>
          <p:spPr>
            <a:xfrm>
              <a:off x="5218386"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47" name="Oval 746"/>
            <p:cNvSpPr/>
            <p:nvPr/>
          </p:nvSpPr>
          <p:spPr>
            <a:xfrm>
              <a:off x="5121064"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grpSp>
        <p:nvGrpSpPr>
          <p:cNvPr id="748" name="Group 747"/>
          <p:cNvGrpSpPr/>
          <p:nvPr/>
        </p:nvGrpSpPr>
        <p:grpSpPr>
          <a:xfrm>
            <a:off x="9388910" y="5446362"/>
            <a:ext cx="377691" cy="227729"/>
            <a:chOff x="5121064" y="3573935"/>
            <a:chExt cx="377691" cy="227729"/>
          </a:xfrm>
        </p:grpSpPr>
        <p:sp>
          <p:nvSpPr>
            <p:cNvPr id="749" name="Oval 748"/>
            <p:cNvSpPr/>
            <p:nvPr/>
          </p:nvSpPr>
          <p:spPr>
            <a:xfrm>
              <a:off x="5413030"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50" name="Oval 749"/>
            <p:cNvSpPr/>
            <p:nvPr/>
          </p:nvSpPr>
          <p:spPr>
            <a:xfrm>
              <a:off x="5315708"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51" name="Oval 750"/>
            <p:cNvSpPr/>
            <p:nvPr/>
          </p:nvSpPr>
          <p:spPr>
            <a:xfrm>
              <a:off x="5413030"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52" name="Oval 751"/>
            <p:cNvSpPr/>
            <p:nvPr/>
          </p:nvSpPr>
          <p:spPr>
            <a:xfrm>
              <a:off x="5315708"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53" name="Oval 752"/>
            <p:cNvSpPr/>
            <p:nvPr/>
          </p:nvSpPr>
          <p:spPr>
            <a:xfrm>
              <a:off x="5218386"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54" name="Oval 753"/>
            <p:cNvSpPr/>
            <p:nvPr/>
          </p:nvSpPr>
          <p:spPr>
            <a:xfrm>
              <a:off x="5121064"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55" name="Oval 754"/>
            <p:cNvSpPr/>
            <p:nvPr/>
          </p:nvSpPr>
          <p:spPr>
            <a:xfrm>
              <a:off x="5218386"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756" name="Oval 755"/>
            <p:cNvSpPr/>
            <p:nvPr/>
          </p:nvSpPr>
          <p:spPr>
            <a:xfrm>
              <a:off x="5121064"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grpSp>
        <p:nvGrpSpPr>
          <p:cNvPr id="757" name="Group 756"/>
          <p:cNvGrpSpPr/>
          <p:nvPr/>
        </p:nvGrpSpPr>
        <p:grpSpPr>
          <a:xfrm>
            <a:off x="6369068" y="6076352"/>
            <a:ext cx="460170" cy="102318"/>
            <a:chOff x="4091663" y="4933338"/>
            <a:chExt cx="460170" cy="102318"/>
          </a:xfrm>
        </p:grpSpPr>
        <p:sp>
          <p:nvSpPr>
            <p:cNvPr id="758" name="Oval 757"/>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59" name="Oval 758"/>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60" name="Oval 759"/>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61" name="Oval 760"/>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762" name="Group 761"/>
          <p:cNvGrpSpPr/>
          <p:nvPr/>
        </p:nvGrpSpPr>
        <p:grpSpPr>
          <a:xfrm>
            <a:off x="6876580" y="6089030"/>
            <a:ext cx="460170" cy="102318"/>
            <a:chOff x="4091663" y="4933338"/>
            <a:chExt cx="460170" cy="102318"/>
          </a:xfrm>
        </p:grpSpPr>
        <p:sp>
          <p:nvSpPr>
            <p:cNvPr id="763" name="Oval 762"/>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64" name="Oval 763"/>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65" name="Oval 764"/>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66" name="Oval 765"/>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767" name="Group 766"/>
          <p:cNvGrpSpPr/>
          <p:nvPr/>
        </p:nvGrpSpPr>
        <p:grpSpPr>
          <a:xfrm>
            <a:off x="7401602" y="6089030"/>
            <a:ext cx="460170" cy="102318"/>
            <a:chOff x="4091663" y="4933338"/>
            <a:chExt cx="460170" cy="102318"/>
          </a:xfrm>
        </p:grpSpPr>
        <p:sp>
          <p:nvSpPr>
            <p:cNvPr id="768" name="Oval 767"/>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69" name="Oval 768"/>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70" name="Oval 769"/>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71" name="Oval 770"/>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772" name="Group 771"/>
          <p:cNvGrpSpPr/>
          <p:nvPr/>
        </p:nvGrpSpPr>
        <p:grpSpPr>
          <a:xfrm rot="16200000">
            <a:off x="7759807" y="5982377"/>
            <a:ext cx="460170" cy="102318"/>
            <a:chOff x="4091663" y="4933338"/>
            <a:chExt cx="460170" cy="102318"/>
          </a:xfrm>
        </p:grpSpPr>
        <p:sp>
          <p:nvSpPr>
            <p:cNvPr id="773" name="Oval 772"/>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74" name="Oval 773"/>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75" name="Oval 774"/>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76" name="Oval 775"/>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782" name="Group 781"/>
          <p:cNvGrpSpPr/>
          <p:nvPr/>
        </p:nvGrpSpPr>
        <p:grpSpPr>
          <a:xfrm>
            <a:off x="10382228" y="6094756"/>
            <a:ext cx="460170" cy="102318"/>
            <a:chOff x="4091663" y="4933338"/>
            <a:chExt cx="460170" cy="102318"/>
          </a:xfrm>
        </p:grpSpPr>
        <p:sp>
          <p:nvSpPr>
            <p:cNvPr id="783" name="Oval 782"/>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84" name="Oval 783"/>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85" name="Oval 784"/>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86" name="Oval 785"/>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787" name="Group 786"/>
          <p:cNvGrpSpPr/>
          <p:nvPr/>
        </p:nvGrpSpPr>
        <p:grpSpPr>
          <a:xfrm>
            <a:off x="9868942" y="6101685"/>
            <a:ext cx="460170" cy="102318"/>
            <a:chOff x="4091663" y="4933338"/>
            <a:chExt cx="460170" cy="102318"/>
          </a:xfrm>
        </p:grpSpPr>
        <p:sp>
          <p:nvSpPr>
            <p:cNvPr id="788" name="Oval 787"/>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89" name="Oval 788"/>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90" name="Oval 789"/>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91" name="Oval 790"/>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792" name="Group 791"/>
          <p:cNvGrpSpPr/>
          <p:nvPr/>
        </p:nvGrpSpPr>
        <p:grpSpPr>
          <a:xfrm>
            <a:off x="9339352" y="6101685"/>
            <a:ext cx="460170" cy="102318"/>
            <a:chOff x="4091663" y="4933338"/>
            <a:chExt cx="460170" cy="102318"/>
          </a:xfrm>
        </p:grpSpPr>
        <p:sp>
          <p:nvSpPr>
            <p:cNvPr id="793" name="Oval 792"/>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94" name="Oval 793"/>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95" name="Oval 794"/>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96" name="Oval 795"/>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cxnSp>
        <p:nvCxnSpPr>
          <p:cNvPr id="797" name="Straight Connector 796"/>
          <p:cNvCxnSpPr/>
          <p:nvPr/>
        </p:nvCxnSpPr>
        <p:spPr>
          <a:xfrm>
            <a:off x="9958569" y="4523985"/>
            <a:ext cx="835017" cy="4515"/>
          </a:xfrm>
          <a:prstGeom prst="line">
            <a:avLst/>
          </a:prstGeom>
          <a:ln/>
        </p:spPr>
        <p:style>
          <a:lnRef idx="2">
            <a:schemeClr val="dk1"/>
          </a:lnRef>
          <a:fillRef idx="0">
            <a:schemeClr val="dk1"/>
          </a:fillRef>
          <a:effectRef idx="1">
            <a:schemeClr val="dk1"/>
          </a:effectRef>
          <a:fontRef idx="minor">
            <a:schemeClr val="tx1"/>
          </a:fontRef>
        </p:style>
      </p:cxnSp>
      <p:sp>
        <p:nvSpPr>
          <p:cNvPr id="798" name="Rectangle 797"/>
          <p:cNvSpPr/>
          <p:nvPr/>
        </p:nvSpPr>
        <p:spPr>
          <a:xfrm>
            <a:off x="10754787" y="4355085"/>
            <a:ext cx="450764" cy="369332"/>
          </a:xfrm>
          <a:prstGeom prst="rect">
            <a:avLst/>
          </a:prstGeom>
        </p:spPr>
        <p:txBody>
          <a:bodyPr wrap="none">
            <a:spAutoFit/>
          </a:bodyPr>
          <a:lstStyle/>
          <a:p>
            <a:r>
              <a:rPr lang="en-US" dirty="0"/>
              <a:t>V</a:t>
            </a:r>
            <a:r>
              <a:rPr lang="en-US" sz="1200" dirty="0"/>
              <a:t>D</a:t>
            </a:r>
            <a:endParaRPr lang="sv-SE" dirty="0"/>
          </a:p>
        </p:txBody>
      </p:sp>
      <p:sp>
        <p:nvSpPr>
          <p:cNvPr id="799" name="Rectangle 798"/>
          <p:cNvSpPr/>
          <p:nvPr/>
        </p:nvSpPr>
        <p:spPr>
          <a:xfrm>
            <a:off x="9793763" y="3406865"/>
            <a:ext cx="352982" cy="369332"/>
          </a:xfrm>
          <a:prstGeom prst="rect">
            <a:avLst/>
          </a:prstGeom>
        </p:spPr>
        <p:txBody>
          <a:bodyPr wrap="none">
            <a:spAutoFit/>
          </a:bodyPr>
          <a:lstStyle/>
          <a:p>
            <a:r>
              <a:rPr lang="en-US" dirty="0"/>
              <a:t>I</a:t>
            </a:r>
            <a:r>
              <a:rPr lang="en-US" sz="1200" dirty="0"/>
              <a:t>D</a:t>
            </a:r>
            <a:endParaRPr lang="sv-SE" dirty="0"/>
          </a:p>
        </p:txBody>
      </p:sp>
      <p:cxnSp>
        <p:nvCxnSpPr>
          <p:cNvPr id="800" name="Straight Connector 799"/>
          <p:cNvCxnSpPr/>
          <p:nvPr/>
        </p:nvCxnSpPr>
        <p:spPr>
          <a:xfrm flipH="1">
            <a:off x="9943113" y="3724560"/>
            <a:ext cx="15456" cy="803940"/>
          </a:xfrm>
          <a:prstGeom prst="line">
            <a:avLst/>
          </a:prstGeom>
          <a:ln/>
        </p:spPr>
        <p:style>
          <a:lnRef idx="2">
            <a:schemeClr val="dk1"/>
          </a:lnRef>
          <a:fillRef idx="0">
            <a:schemeClr val="dk1"/>
          </a:fillRef>
          <a:effectRef idx="1">
            <a:schemeClr val="dk1"/>
          </a:effectRef>
          <a:fontRef idx="minor">
            <a:schemeClr val="tx1"/>
          </a:fontRef>
        </p:style>
      </p:cxnSp>
      <p:sp>
        <p:nvSpPr>
          <p:cNvPr id="801" name="Right Triangle 800"/>
          <p:cNvSpPr/>
          <p:nvPr/>
        </p:nvSpPr>
        <p:spPr>
          <a:xfrm rot="10800000" flipH="1">
            <a:off x="7772726" y="5439904"/>
            <a:ext cx="716100" cy="146690"/>
          </a:xfrm>
          <a:prstGeom prst="rtTriangl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i="1" dirty="0"/>
          </a:p>
        </p:txBody>
      </p:sp>
      <p:sp>
        <p:nvSpPr>
          <p:cNvPr id="802" name="Oval 801"/>
          <p:cNvSpPr/>
          <p:nvPr/>
        </p:nvSpPr>
        <p:spPr>
          <a:xfrm>
            <a:off x="8121807" y="545652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803" name="Oval 802"/>
          <p:cNvSpPr/>
          <p:nvPr/>
        </p:nvSpPr>
        <p:spPr>
          <a:xfrm>
            <a:off x="8024485" y="545652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804" name="Oval 803"/>
          <p:cNvSpPr/>
          <p:nvPr/>
        </p:nvSpPr>
        <p:spPr>
          <a:xfrm>
            <a:off x="7927163" y="545652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805" name="Oval 804"/>
          <p:cNvSpPr/>
          <p:nvPr/>
        </p:nvSpPr>
        <p:spPr>
          <a:xfrm>
            <a:off x="7829841" y="545652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cxnSp>
        <p:nvCxnSpPr>
          <p:cNvPr id="807" name="Straight Connector 806"/>
          <p:cNvCxnSpPr/>
          <p:nvPr/>
        </p:nvCxnSpPr>
        <p:spPr>
          <a:xfrm flipH="1">
            <a:off x="9916611" y="3851152"/>
            <a:ext cx="931234" cy="1"/>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808" name="Rectangle 807"/>
          <p:cNvSpPr/>
          <p:nvPr/>
        </p:nvSpPr>
        <p:spPr>
          <a:xfrm>
            <a:off x="10832389" y="3650198"/>
            <a:ext cx="625492" cy="369332"/>
          </a:xfrm>
          <a:prstGeom prst="rect">
            <a:avLst/>
          </a:prstGeom>
        </p:spPr>
        <p:txBody>
          <a:bodyPr wrap="none">
            <a:spAutoFit/>
          </a:bodyPr>
          <a:lstStyle/>
          <a:p>
            <a:r>
              <a:rPr lang="en-US" dirty="0" smtClean="0"/>
              <a:t>I</a:t>
            </a:r>
            <a:r>
              <a:rPr lang="en-US" sz="1200" dirty="0" smtClean="0"/>
              <a:t>D-sat</a:t>
            </a:r>
            <a:endParaRPr lang="sv-SE" dirty="0"/>
          </a:p>
        </p:txBody>
      </p:sp>
      <p:grpSp>
        <p:nvGrpSpPr>
          <p:cNvPr id="809" name="Group 808"/>
          <p:cNvGrpSpPr/>
          <p:nvPr/>
        </p:nvGrpSpPr>
        <p:grpSpPr>
          <a:xfrm>
            <a:off x="8783522" y="6098151"/>
            <a:ext cx="460170" cy="102318"/>
            <a:chOff x="4091663" y="4933338"/>
            <a:chExt cx="460170" cy="102318"/>
          </a:xfrm>
        </p:grpSpPr>
        <p:sp>
          <p:nvSpPr>
            <p:cNvPr id="810" name="Oval 809"/>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11" name="Oval 810"/>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12" name="Oval 811"/>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13" name="Oval 812"/>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cxnSp>
        <p:nvCxnSpPr>
          <p:cNvPr id="819" name="Straight Arrow Connector 818"/>
          <p:cNvCxnSpPr/>
          <p:nvPr/>
        </p:nvCxnSpPr>
        <p:spPr>
          <a:xfrm flipH="1" flipV="1">
            <a:off x="7375499" y="4539752"/>
            <a:ext cx="1035243" cy="93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0" name="TextBox 819"/>
          <p:cNvSpPr txBox="1"/>
          <p:nvPr/>
        </p:nvSpPr>
        <p:spPr>
          <a:xfrm>
            <a:off x="6766834" y="4091324"/>
            <a:ext cx="1221102" cy="369332"/>
          </a:xfrm>
          <a:prstGeom prst="rect">
            <a:avLst/>
          </a:prstGeom>
          <a:noFill/>
        </p:spPr>
        <p:txBody>
          <a:bodyPr wrap="square" rtlCol="0">
            <a:spAutoFit/>
          </a:bodyPr>
          <a:lstStyle/>
          <a:p>
            <a:r>
              <a:rPr lang="en-US" dirty="0" smtClean="0"/>
              <a:t>Pinch-off</a:t>
            </a:r>
            <a:endParaRPr lang="sv-SE" dirty="0"/>
          </a:p>
        </p:txBody>
      </p:sp>
      <p:sp>
        <p:nvSpPr>
          <p:cNvPr id="823" name="Rectangle 822"/>
          <p:cNvSpPr/>
          <p:nvPr/>
        </p:nvSpPr>
        <p:spPr>
          <a:xfrm>
            <a:off x="9655713" y="4656863"/>
            <a:ext cx="1162498" cy="584775"/>
          </a:xfrm>
          <a:prstGeom prst="rect">
            <a:avLst/>
          </a:prstGeom>
        </p:spPr>
        <p:txBody>
          <a:bodyPr wrap="none">
            <a:spAutoFit/>
          </a:bodyPr>
          <a:lstStyle/>
          <a:p>
            <a:r>
              <a:rPr lang="en-US" dirty="0" smtClean="0"/>
              <a:t>V</a:t>
            </a:r>
            <a:r>
              <a:rPr lang="en-US" sz="1200" dirty="0" smtClean="0"/>
              <a:t>D &gt; </a:t>
            </a:r>
            <a:r>
              <a:rPr lang="en-US" dirty="0" smtClean="0"/>
              <a:t>V</a:t>
            </a:r>
            <a:r>
              <a:rPr lang="en-US" sz="1200" dirty="0" smtClean="0"/>
              <a:t>D-sat</a:t>
            </a:r>
            <a:endParaRPr lang="sv-SE" sz="1400" dirty="0"/>
          </a:p>
          <a:p>
            <a:endParaRPr lang="sv-SE" sz="1400" dirty="0"/>
          </a:p>
        </p:txBody>
      </p:sp>
      <p:sp>
        <p:nvSpPr>
          <p:cNvPr id="824" name="Freeform 823"/>
          <p:cNvSpPr/>
          <p:nvPr/>
        </p:nvSpPr>
        <p:spPr>
          <a:xfrm>
            <a:off x="9949277" y="3860647"/>
            <a:ext cx="844309" cy="667317"/>
          </a:xfrm>
          <a:custGeom>
            <a:avLst/>
            <a:gdLst>
              <a:gd name="connsiteX0" fmla="*/ 0 w 967740"/>
              <a:gd name="connsiteY0" fmla="*/ 780832 h 780832"/>
              <a:gd name="connsiteX1" fmla="*/ 274320 w 967740"/>
              <a:gd name="connsiteY1" fmla="*/ 117892 h 780832"/>
              <a:gd name="connsiteX2" fmla="*/ 967740 w 967740"/>
              <a:gd name="connsiteY2" fmla="*/ 3592 h 780832"/>
            </a:gdLst>
            <a:ahLst/>
            <a:cxnLst>
              <a:cxn ang="0">
                <a:pos x="connsiteX0" y="connsiteY0"/>
              </a:cxn>
              <a:cxn ang="0">
                <a:pos x="connsiteX1" y="connsiteY1"/>
              </a:cxn>
              <a:cxn ang="0">
                <a:pos x="connsiteX2" y="connsiteY2"/>
              </a:cxn>
            </a:cxnLst>
            <a:rect l="l" t="t" r="r" b="b"/>
            <a:pathLst>
              <a:path w="967740" h="780832">
                <a:moveTo>
                  <a:pt x="0" y="780832"/>
                </a:moveTo>
                <a:cubicBezTo>
                  <a:pt x="56515" y="514132"/>
                  <a:pt x="113030" y="247432"/>
                  <a:pt x="274320" y="117892"/>
                </a:cubicBezTo>
                <a:cubicBezTo>
                  <a:pt x="435610" y="-11648"/>
                  <a:pt x="701675" y="-4028"/>
                  <a:pt x="967740" y="3592"/>
                </a:cubicBezTo>
              </a:path>
            </a:pathLst>
          </a:cu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825" name="Straight Connector 824"/>
          <p:cNvCxnSpPr/>
          <p:nvPr/>
        </p:nvCxnSpPr>
        <p:spPr>
          <a:xfrm flipH="1">
            <a:off x="3558435" y="1151182"/>
            <a:ext cx="22555" cy="33065"/>
          </a:xfrm>
          <a:prstGeom prst="line">
            <a:avLst/>
          </a:prstGeom>
          <a:ln/>
        </p:spPr>
        <p:style>
          <a:lnRef idx="3">
            <a:schemeClr val="accent6"/>
          </a:lnRef>
          <a:fillRef idx="0">
            <a:schemeClr val="accent6"/>
          </a:fillRef>
          <a:effectRef idx="2">
            <a:schemeClr val="accent6"/>
          </a:effectRef>
          <a:fontRef idx="minor">
            <a:schemeClr val="tx1"/>
          </a:fontRef>
        </p:style>
      </p:cxnSp>
      <p:grpSp>
        <p:nvGrpSpPr>
          <p:cNvPr id="828" name="Group 827"/>
          <p:cNvGrpSpPr/>
          <p:nvPr/>
        </p:nvGrpSpPr>
        <p:grpSpPr>
          <a:xfrm>
            <a:off x="8289333" y="6082860"/>
            <a:ext cx="460170" cy="102318"/>
            <a:chOff x="4091663" y="4933338"/>
            <a:chExt cx="460170" cy="102318"/>
          </a:xfrm>
        </p:grpSpPr>
        <p:sp>
          <p:nvSpPr>
            <p:cNvPr id="829" name="Oval 828"/>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30" name="Oval 829"/>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31" name="Oval 830"/>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32" name="Oval 831"/>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spTree>
    <p:extLst>
      <p:ext uri="{BB962C8B-B14F-4D97-AF65-F5344CB8AC3E}">
        <p14:creationId xmlns:p14="http://schemas.microsoft.com/office/powerpoint/2010/main" val="17023357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438672" y="3154282"/>
            <a:ext cx="3820715" cy="3033931"/>
          </a:xfrm>
          <a:prstGeom prst="rect">
            <a:avLst/>
          </a:prstGeom>
        </p:spPr>
      </p:pic>
      <p:graphicFrame>
        <p:nvGraphicFramePr>
          <p:cNvPr id="26" name="Table 25"/>
          <p:cNvGraphicFramePr>
            <a:graphicFrameLocks noGrp="1"/>
          </p:cNvGraphicFramePr>
          <p:nvPr>
            <p:extLst>
              <p:ext uri="{D42A27DB-BD31-4B8C-83A1-F6EECF244321}">
                <p14:modId xmlns:p14="http://schemas.microsoft.com/office/powerpoint/2010/main" val="431295157"/>
              </p:ext>
            </p:extLst>
          </p:nvPr>
        </p:nvGraphicFramePr>
        <p:xfrm>
          <a:off x="1881726" y="788389"/>
          <a:ext cx="8724580" cy="2219960"/>
        </p:xfrm>
        <a:graphic>
          <a:graphicData uri="http://schemas.openxmlformats.org/drawingml/2006/table">
            <a:tbl>
              <a:tblPr firstRow="1" bandRow="1">
                <a:tableStyleId>{5C22544A-7EE6-4342-B048-85BDC9FD1C3A}</a:tableStyleId>
              </a:tblPr>
              <a:tblGrid>
                <a:gridCol w="2181145">
                  <a:extLst>
                    <a:ext uri="{9D8B030D-6E8A-4147-A177-3AD203B41FA5}">
                      <a16:colId xmlns:a16="http://schemas.microsoft.com/office/drawing/2014/main" val="3628906374"/>
                    </a:ext>
                  </a:extLst>
                </a:gridCol>
                <a:gridCol w="2181145">
                  <a:extLst>
                    <a:ext uri="{9D8B030D-6E8A-4147-A177-3AD203B41FA5}">
                      <a16:colId xmlns:a16="http://schemas.microsoft.com/office/drawing/2014/main" val="1793832899"/>
                    </a:ext>
                  </a:extLst>
                </a:gridCol>
                <a:gridCol w="2181145">
                  <a:extLst>
                    <a:ext uri="{9D8B030D-6E8A-4147-A177-3AD203B41FA5}">
                      <a16:colId xmlns:a16="http://schemas.microsoft.com/office/drawing/2014/main" val="528850190"/>
                    </a:ext>
                  </a:extLst>
                </a:gridCol>
                <a:gridCol w="2181145">
                  <a:extLst>
                    <a:ext uri="{9D8B030D-6E8A-4147-A177-3AD203B41FA5}">
                      <a16:colId xmlns:a16="http://schemas.microsoft.com/office/drawing/2014/main" val="393597336"/>
                    </a:ext>
                  </a:extLst>
                </a:gridCol>
              </a:tblGrid>
              <a:tr h="286031">
                <a:tc>
                  <a:txBody>
                    <a:bodyPr/>
                    <a:lstStyle/>
                    <a:p>
                      <a:r>
                        <a:rPr lang="en-US" dirty="0" smtClean="0"/>
                        <a:t>Region</a:t>
                      </a:r>
                      <a:endParaRPr lang="sv-SE" dirty="0"/>
                    </a:p>
                  </a:txBody>
                  <a:tcPr/>
                </a:tc>
                <a:tc>
                  <a:txBody>
                    <a:bodyPr/>
                    <a:lstStyle/>
                    <a:p>
                      <a:r>
                        <a:rPr lang="en-US" dirty="0" smtClean="0"/>
                        <a:t>VGS</a:t>
                      </a:r>
                      <a:endParaRPr lang="sv-SE" dirty="0"/>
                    </a:p>
                  </a:txBody>
                  <a:tcPr/>
                </a:tc>
                <a:tc>
                  <a:txBody>
                    <a:bodyPr/>
                    <a:lstStyle/>
                    <a:p>
                      <a:r>
                        <a:rPr lang="en-US" dirty="0" smtClean="0"/>
                        <a:t>VDS</a:t>
                      </a:r>
                      <a:endParaRPr lang="sv-SE" dirty="0"/>
                    </a:p>
                  </a:txBody>
                  <a:tcPr/>
                </a:tc>
                <a:tc>
                  <a:txBody>
                    <a:bodyPr/>
                    <a:lstStyle/>
                    <a:p>
                      <a:r>
                        <a:rPr lang="en-US" dirty="0" smtClean="0"/>
                        <a:t>ID</a:t>
                      </a:r>
                      <a:endParaRPr lang="sv-SE" dirty="0"/>
                    </a:p>
                  </a:txBody>
                  <a:tcPr/>
                </a:tc>
                <a:extLst>
                  <a:ext uri="{0D108BD9-81ED-4DB2-BD59-A6C34878D82A}">
                    <a16:rowId xmlns:a16="http://schemas.microsoft.com/office/drawing/2014/main" val="217412958"/>
                  </a:ext>
                </a:extLst>
              </a:tr>
              <a:tr h="370840">
                <a:tc>
                  <a:txBody>
                    <a:bodyPr/>
                    <a:lstStyle/>
                    <a:p>
                      <a:r>
                        <a:rPr lang="en-US" dirty="0" smtClean="0"/>
                        <a:t>Cut-off</a:t>
                      </a:r>
                      <a:endParaRPr lang="sv-SE" dirty="0"/>
                    </a:p>
                  </a:txBody>
                  <a:tcPr/>
                </a:tc>
                <a:tc>
                  <a:txBody>
                    <a:bodyPr/>
                    <a:lstStyle/>
                    <a:p>
                      <a:r>
                        <a:rPr lang="en-US" dirty="0" smtClean="0"/>
                        <a:t>0</a:t>
                      </a:r>
                      <a:endParaRPr lang="sv-SE" dirty="0"/>
                    </a:p>
                  </a:txBody>
                  <a:tcPr/>
                </a:tc>
                <a:tc>
                  <a:txBody>
                    <a:bodyPr/>
                    <a:lstStyle/>
                    <a:p>
                      <a:r>
                        <a:rPr lang="en-US" dirty="0" smtClean="0"/>
                        <a:t>0</a:t>
                      </a:r>
                      <a:endParaRPr lang="sv-SE" dirty="0"/>
                    </a:p>
                  </a:txBody>
                  <a:tcPr/>
                </a:tc>
                <a:tc>
                  <a:txBody>
                    <a:bodyPr/>
                    <a:lstStyle/>
                    <a:p>
                      <a:r>
                        <a:rPr lang="en-US" dirty="0" smtClean="0"/>
                        <a:t>0</a:t>
                      </a:r>
                      <a:endParaRPr lang="sv-SE" dirty="0"/>
                    </a:p>
                  </a:txBody>
                  <a:tcPr/>
                </a:tc>
                <a:extLst>
                  <a:ext uri="{0D108BD9-81ED-4DB2-BD59-A6C34878D82A}">
                    <a16:rowId xmlns:a16="http://schemas.microsoft.com/office/drawing/2014/main" val="2422115723"/>
                  </a:ext>
                </a:extLst>
              </a:tr>
              <a:tr h="370840">
                <a:tc>
                  <a:txBody>
                    <a:bodyPr/>
                    <a:lstStyle/>
                    <a:p>
                      <a:r>
                        <a:rPr lang="en-US" dirty="0" err="1" smtClean="0"/>
                        <a:t>Ohmic</a:t>
                      </a:r>
                      <a:r>
                        <a:rPr lang="en-US" dirty="0" smtClean="0"/>
                        <a:t> </a:t>
                      </a:r>
                      <a:endParaRPr lang="sv-SE" dirty="0"/>
                    </a:p>
                  </a:txBody>
                  <a:tcPr/>
                </a:tc>
                <a:tc>
                  <a:txBody>
                    <a:bodyPr/>
                    <a:lstStyle/>
                    <a:p>
                      <a:r>
                        <a:rPr lang="en-US" dirty="0" smtClean="0"/>
                        <a:t>&gt;</a:t>
                      </a:r>
                      <a:r>
                        <a:rPr lang="en-US" baseline="0" dirty="0" smtClean="0"/>
                        <a:t> VT</a:t>
                      </a:r>
                      <a:endParaRPr lang="sv-SE" dirty="0"/>
                    </a:p>
                  </a:txBody>
                  <a:tcPr/>
                </a:tc>
                <a:tc>
                  <a:txBody>
                    <a:bodyPr/>
                    <a:lstStyle/>
                    <a:p>
                      <a:r>
                        <a:rPr lang="en-US" dirty="0" smtClean="0"/>
                        <a:t>&lt;&lt;</a:t>
                      </a:r>
                      <a:r>
                        <a:rPr lang="en-US" baseline="0" dirty="0" smtClean="0"/>
                        <a:t> VGS-VT</a:t>
                      </a:r>
                      <a:endParaRPr lang="sv-SE" dirty="0"/>
                    </a:p>
                  </a:txBody>
                  <a:tcPr/>
                </a:tc>
                <a:tc>
                  <a:txBody>
                    <a:bodyPr/>
                    <a:lstStyle/>
                    <a:p>
                      <a:r>
                        <a:rPr lang="en-US" dirty="0" smtClean="0"/>
                        <a:t>&lt;</a:t>
                      </a:r>
                      <a:r>
                        <a:rPr lang="en-US" baseline="0" dirty="0" smtClean="0"/>
                        <a:t> ID-sat</a:t>
                      </a:r>
                      <a:endParaRPr lang="sv-SE" dirty="0"/>
                    </a:p>
                  </a:txBody>
                  <a:tcPr/>
                </a:tc>
                <a:extLst>
                  <a:ext uri="{0D108BD9-81ED-4DB2-BD59-A6C34878D82A}">
                    <a16:rowId xmlns:a16="http://schemas.microsoft.com/office/drawing/2014/main" val="893032393"/>
                  </a:ext>
                </a:extLst>
              </a:tr>
              <a:tr h="370840">
                <a:tc>
                  <a:txBody>
                    <a:bodyPr/>
                    <a:lstStyle/>
                    <a:p>
                      <a:r>
                        <a:rPr lang="en-US" dirty="0" smtClean="0"/>
                        <a:t>Quasi-saturation</a:t>
                      </a:r>
                      <a:endParaRPr lang="sv-SE" dirty="0"/>
                    </a:p>
                  </a:txBody>
                  <a:tcPr/>
                </a:tc>
                <a:tc>
                  <a:txBody>
                    <a:bodyPr/>
                    <a:lstStyle/>
                    <a:p>
                      <a:r>
                        <a:rPr lang="en-US" dirty="0" smtClean="0"/>
                        <a:t>&gt;</a:t>
                      </a:r>
                      <a:r>
                        <a:rPr lang="en-US" baseline="0" dirty="0" smtClean="0"/>
                        <a:t> VT</a:t>
                      </a:r>
                      <a:endParaRPr lang="sv-SE" dirty="0"/>
                    </a:p>
                  </a:txBody>
                  <a:tcPr/>
                </a:tc>
                <a:tc>
                  <a:txBody>
                    <a:bodyPr/>
                    <a:lstStyle/>
                    <a:p>
                      <a:r>
                        <a:rPr lang="en-US" baseline="0" dirty="0" smtClean="0"/>
                        <a:t>=VGS-VT</a:t>
                      </a:r>
                      <a:endParaRPr lang="sv-SE" dirty="0"/>
                    </a:p>
                  </a:txBody>
                  <a:tcPr/>
                </a:tc>
                <a:tc>
                  <a:txBody>
                    <a:bodyPr/>
                    <a:lstStyle/>
                    <a:p>
                      <a:r>
                        <a:rPr lang="en-US" baseline="0" dirty="0" smtClean="0"/>
                        <a:t>= ID-sat</a:t>
                      </a:r>
                      <a:endParaRPr lang="sv-SE" dirty="0"/>
                    </a:p>
                  </a:txBody>
                  <a:tcPr/>
                </a:tc>
                <a:extLst>
                  <a:ext uri="{0D108BD9-81ED-4DB2-BD59-A6C34878D82A}">
                    <a16:rowId xmlns:a16="http://schemas.microsoft.com/office/drawing/2014/main" val="419297736"/>
                  </a:ext>
                </a:extLst>
              </a:tr>
              <a:tr h="370840">
                <a:tc>
                  <a:txBody>
                    <a:bodyPr/>
                    <a:lstStyle/>
                    <a:p>
                      <a:r>
                        <a:rPr lang="en-US" dirty="0" smtClean="0"/>
                        <a:t>Saturation</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&gt;</a:t>
                      </a:r>
                      <a:r>
                        <a:rPr lang="en-US" baseline="0" dirty="0" smtClean="0"/>
                        <a:t> VT</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&gt;&gt; VGS-VT</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 ID-sat</a:t>
                      </a:r>
                      <a:endParaRPr lang="sv-SE" dirty="0" smtClean="0"/>
                    </a:p>
                  </a:txBody>
                  <a:tcPr/>
                </a:tc>
                <a:extLst>
                  <a:ext uri="{0D108BD9-81ED-4DB2-BD59-A6C34878D82A}">
                    <a16:rowId xmlns:a16="http://schemas.microsoft.com/office/drawing/2014/main" val="1904904447"/>
                  </a:ext>
                </a:extLst>
              </a:tr>
              <a:tr h="370840">
                <a:tc>
                  <a:txBody>
                    <a:bodyPr/>
                    <a:lstStyle/>
                    <a:p>
                      <a:r>
                        <a:rPr lang="en-US" dirty="0" smtClean="0"/>
                        <a:t>Reverse Conduction</a:t>
                      </a:r>
                      <a:endParaRPr lang="sv-SE" dirty="0"/>
                    </a:p>
                  </a:txBody>
                  <a:tcPr/>
                </a:tc>
                <a:tc>
                  <a:txBody>
                    <a:bodyPr/>
                    <a:lstStyle/>
                    <a:p>
                      <a:r>
                        <a:rPr lang="en-US" dirty="0" smtClean="0"/>
                        <a:t>0</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~VT</a:t>
                      </a:r>
                      <a:endParaRPr lang="sv-SE" dirty="0" smtClean="0"/>
                    </a:p>
                  </a:txBody>
                  <a:tcPr/>
                </a:tc>
                <a:tc>
                  <a:txBody>
                    <a:bodyPr/>
                    <a:lstStyle/>
                    <a:p>
                      <a:r>
                        <a:rPr lang="en-US" dirty="0" smtClean="0"/>
                        <a:t>= -ID</a:t>
                      </a:r>
                      <a:endParaRPr lang="sv-SE" dirty="0"/>
                    </a:p>
                  </a:txBody>
                  <a:tcPr/>
                </a:tc>
                <a:extLst>
                  <a:ext uri="{0D108BD9-81ED-4DB2-BD59-A6C34878D82A}">
                    <a16:rowId xmlns:a16="http://schemas.microsoft.com/office/drawing/2014/main" val="1038835640"/>
                  </a:ext>
                </a:extLst>
              </a:tr>
            </a:tbl>
          </a:graphicData>
        </a:graphic>
      </p:graphicFrame>
      <p:sp>
        <p:nvSpPr>
          <p:cNvPr id="4" name="Rectangle 3"/>
          <p:cNvSpPr/>
          <p:nvPr/>
        </p:nvSpPr>
        <p:spPr>
          <a:xfrm>
            <a:off x="527003" y="6342307"/>
            <a:ext cx="8112632" cy="369332"/>
          </a:xfrm>
          <a:prstGeom prst="rect">
            <a:avLst/>
          </a:prstGeom>
        </p:spPr>
        <p:txBody>
          <a:bodyPr wrap="square">
            <a:spAutoFit/>
          </a:bodyPr>
          <a:lstStyle/>
          <a:p>
            <a:r>
              <a:rPr lang="sv-SE" dirty="0" smtClean="0"/>
              <a:t>[1] </a:t>
            </a:r>
            <a:r>
              <a:rPr lang="sv-SE" dirty="0" err="1" smtClean="0"/>
              <a:t>Semiconductor</a:t>
            </a:r>
            <a:r>
              <a:rPr lang="sv-SE" dirty="0" smtClean="0"/>
              <a:t> </a:t>
            </a:r>
            <a:r>
              <a:rPr lang="sv-SE" dirty="0"/>
              <a:t>Power </a:t>
            </a:r>
            <a:r>
              <a:rPr lang="sv-SE" dirty="0" err="1" smtClean="0"/>
              <a:t>Devices</a:t>
            </a:r>
            <a:r>
              <a:rPr lang="sv-SE" dirty="0" smtClean="0"/>
              <a:t> </a:t>
            </a:r>
            <a:r>
              <a:rPr lang="sv-SE" dirty="0" err="1" smtClean="0"/>
              <a:t>Physics</a:t>
            </a:r>
            <a:r>
              <a:rPr lang="sv-SE" dirty="0"/>
              <a:t>, </a:t>
            </a:r>
            <a:r>
              <a:rPr lang="sv-SE" dirty="0" err="1"/>
              <a:t>Characteristics</a:t>
            </a:r>
            <a:r>
              <a:rPr lang="sv-SE" dirty="0"/>
              <a:t>, </a:t>
            </a:r>
            <a:r>
              <a:rPr lang="sv-SE" dirty="0" err="1"/>
              <a:t>Reliability</a:t>
            </a:r>
            <a:endParaRPr lang="sv-SE" dirty="0"/>
          </a:p>
        </p:txBody>
      </p:sp>
    </p:spTree>
    <p:extLst>
      <p:ext uri="{BB962C8B-B14F-4D97-AF65-F5344CB8AC3E}">
        <p14:creationId xmlns:p14="http://schemas.microsoft.com/office/powerpoint/2010/main" val="15200701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15315" y="357950"/>
            <a:ext cx="10990263" cy="568412"/>
          </a:xfrm>
        </p:spPr>
        <p:txBody>
          <a:bodyPr/>
          <a:lstStyle/>
          <a:p>
            <a:pPr algn="ctr"/>
            <a:r>
              <a:rPr lang="en-US" dirty="0"/>
              <a:t>MOSFET Lumped Circuit Model with </a:t>
            </a:r>
            <a:r>
              <a:rPr lang="en-US" dirty="0" smtClean="0"/>
              <a:t>Parasitic Elements</a:t>
            </a:r>
            <a:r>
              <a:rPr lang="en-US" dirty="0"/>
              <a:t/>
            </a:r>
            <a:br>
              <a:rPr lang="en-US" dirty="0"/>
            </a:br>
            <a:r>
              <a:rPr lang="en-US" dirty="0" smtClean="0"/>
              <a:t/>
            </a:r>
            <a:br>
              <a:rPr lang="en-US" dirty="0" smtClean="0"/>
            </a:br>
            <a:r>
              <a:rPr lang="en-US" dirty="0" smtClean="0"/>
              <a:t/>
            </a:r>
            <a:br>
              <a:rPr lang="en-US" dirty="0" smtClean="0"/>
            </a:br>
            <a:endParaRPr lang="sv-SE" dirty="0"/>
          </a:p>
        </p:txBody>
      </p:sp>
      <p:sp>
        <p:nvSpPr>
          <p:cNvPr id="3" name="AutoShape 2" descr="a) MOSFET structure schematic with a simplified model of MOSFET...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v-SE"/>
          </a:p>
        </p:txBody>
      </p:sp>
      <p:pic>
        <p:nvPicPr>
          <p:cNvPr id="7" name="Picture 6"/>
          <p:cNvPicPr>
            <a:picLocks noChangeAspect="1"/>
          </p:cNvPicPr>
          <p:nvPr/>
        </p:nvPicPr>
        <p:blipFill>
          <a:blip r:embed="rId2"/>
          <a:stretch>
            <a:fillRect/>
          </a:stretch>
        </p:blipFill>
        <p:spPr>
          <a:xfrm>
            <a:off x="307975" y="1702506"/>
            <a:ext cx="6137275" cy="3071602"/>
          </a:xfrm>
          <a:prstGeom prst="rect">
            <a:avLst/>
          </a:prstGeom>
        </p:spPr>
      </p:pic>
      <p:sp>
        <p:nvSpPr>
          <p:cNvPr id="8" name="Rectangle 7"/>
          <p:cNvSpPr/>
          <p:nvPr/>
        </p:nvSpPr>
        <p:spPr>
          <a:xfrm>
            <a:off x="216996" y="6000196"/>
            <a:ext cx="9459019" cy="646331"/>
          </a:xfrm>
          <a:prstGeom prst="rect">
            <a:avLst/>
          </a:prstGeom>
        </p:spPr>
        <p:txBody>
          <a:bodyPr wrap="square">
            <a:spAutoFit/>
          </a:bodyPr>
          <a:lstStyle/>
          <a:p>
            <a:r>
              <a:rPr lang="sv-SE" dirty="0" smtClean="0"/>
              <a:t>[1] </a:t>
            </a:r>
            <a:r>
              <a:rPr lang="en-US" dirty="0"/>
              <a:t>Accuracy of Three </a:t>
            </a:r>
            <a:r>
              <a:rPr lang="en-US" dirty="0" err="1"/>
              <a:t>Interterminal</a:t>
            </a:r>
            <a:r>
              <a:rPr lang="en-US" dirty="0"/>
              <a:t> Capacitance Models for </a:t>
            </a:r>
            <a:r>
              <a:rPr lang="en-US" dirty="0" err="1"/>
              <a:t>SiC</a:t>
            </a:r>
            <a:r>
              <a:rPr lang="en-US" dirty="0"/>
              <a:t> Power MOSFETs Under Fast </a:t>
            </a:r>
            <a:r>
              <a:rPr lang="en-US" dirty="0" smtClean="0"/>
              <a:t>Switching</a:t>
            </a:r>
          </a:p>
          <a:p>
            <a:r>
              <a:rPr lang="en-US" dirty="0"/>
              <a:t>[2] A Review of Switching Slew Rate Control for Silicon Carbide Devices Using Active Gate Drivers</a:t>
            </a:r>
            <a:endParaRPr lang="sv-SE" dirty="0"/>
          </a:p>
        </p:txBody>
      </p:sp>
      <p:sp>
        <p:nvSpPr>
          <p:cNvPr id="15" name="TextBox 14"/>
          <p:cNvSpPr txBox="1"/>
          <p:nvPr/>
        </p:nvSpPr>
        <p:spPr>
          <a:xfrm>
            <a:off x="1172787" y="4903921"/>
            <a:ext cx="4139738" cy="646331"/>
          </a:xfrm>
          <a:prstGeom prst="rect">
            <a:avLst/>
          </a:prstGeom>
          <a:noFill/>
        </p:spPr>
        <p:txBody>
          <a:bodyPr wrap="square" rtlCol="0">
            <a:spAutoFit/>
          </a:bodyPr>
          <a:lstStyle/>
          <a:p>
            <a:r>
              <a:rPr lang="sv-SE" b="1" dirty="0" err="1" smtClean="0"/>
              <a:t>Capacitances</a:t>
            </a:r>
            <a:r>
              <a:rPr lang="sv-SE" dirty="0" smtClean="0"/>
              <a:t> : </a:t>
            </a:r>
            <a:r>
              <a:rPr lang="sv-SE" dirty="0" err="1" smtClean="0"/>
              <a:t>Dynamic</a:t>
            </a:r>
            <a:r>
              <a:rPr lang="sv-SE" dirty="0" smtClean="0"/>
              <a:t> </a:t>
            </a:r>
            <a:r>
              <a:rPr lang="sv-SE" dirty="0" err="1" smtClean="0"/>
              <a:t>Losses</a:t>
            </a:r>
            <a:endParaRPr lang="sv-SE" dirty="0" smtClean="0"/>
          </a:p>
          <a:p>
            <a:r>
              <a:rPr lang="sv-SE" b="1" dirty="0" err="1" smtClean="0"/>
              <a:t>Resistances</a:t>
            </a:r>
            <a:r>
              <a:rPr lang="sv-SE" dirty="0" smtClean="0"/>
              <a:t> : </a:t>
            </a:r>
            <a:r>
              <a:rPr lang="sv-SE" dirty="0" err="1" smtClean="0"/>
              <a:t>Conduction</a:t>
            </a:r>
            <a:r>
              <a:rPr lang="sv-SE" dirty="0" smtClean="0"/>
              <a:t> </a:t>
            </a:r>
            <a:r>
              <a:rPr lang="sv-SE" dirty="0" err="1" smtClean="0"/>
              <a:t>Losses</a:t>
            </a:r>
            <a:r>
              <a:rPr lang="sv-SE" dirty="0" smtClean="0"/>
              <a:t> </a:t>
            </a:r>
            <a:endParaRPr lang="sv-SE" dirty="0"/>
          </a:p>
        </p:txBody>
      </p:sp>
      <p:pic>
        <p:nvPicPr>
          <p:cNvPr id="16" name="Picture 15"/>
          <p:cNvPicPr>
            <a:picLocks noChangeAspect="1"/>
          </p:cNvPicPr>
          <p:nvPr/>
        </p:nvPicPr>
        <p:blipFill rotWithShape="1">
          <a:blip r:embed="rId3"/>
          <a:srcRect l="8293" r="1834"/>
          <a:stretch/>
        </p:blipFill>
        <p:spPr>
          <a:xfrm>
            <a:off x="6598920" y="1359606"/>
            <a:ext cx="4869180" cy="4049112"/>
          </a:xfrm>
          <a:prstGeom prst="rect">
            <a:avLst/>
          </a:prstGeom>
        </p:spPr>
      </p:pic>
    </p:spTree>
    <p:extLst>
      <p:ext uri="{BB962C8B-B14F-4D97-AF65-F5344CB8AC3E}">
        <p14:creationId xmlns:p14="http://schemas.microsoft.com/office/powerpoint/2010/main" val="40245028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29430" y="270132"/>
            <a:ext cx="10990263" cy="568412"/>
          </a:xfrm>
        </p:spPr>
        <p:txBody>
          <a:bodyPr/>
          <a:lstStyle/>
          <a:p>
            <a:pPr algn="ctr"/>
            <a:r>
              <a:rPr lang="en-US" dirty="0" smtClean="0"/>
              <a:t>Theory : Conduction Losses</a:t>
            </a:r>
            <a:br>
              <a:rPr lang="en-US" dirty="0" smtClean="0"/>
            </a:br>
            <a:r>
              <a:rPr lang="en-US" dirty="0" smtClean="0"/>
              <a:t/>
            </a:r>
            <a:br>
              <a:rPr lang="en-US" dirty="0" smtClean="0"/>
            </a:br>
            <a:endParaRPr lang="sv-SE" dirty="0"/>
          </a:p>
        </p:txBody>
      </p:sp>
      <p:sp>
        <p:nvSpPr>
          <p:cNvPr id="7" name="Rectangle 6"/>
          <p:cNvSpPr/>
          <p:nvPr/>
        </p:nvSpPr>
        <p:spPr>
          <a:xfrm>
            <a:off x="345411" y="6377190"/>
            <a:ext cx="12133424" cy="369332"/>
          </a:xfrm>
          <a:prstGeom prst="rect">
            <a:avLst/>
          </a:prstGeom>
        </p:spPr>
        <p:txBody>
          <a:bodyPr wrap="square">
            <a:spAutoFit/>
          </a:bodyPr>
          <a:lstStyle/>
          <a:p>
            <a:r>
              <a:rPr lang="sv-SE" dirty="0" smtClean="0"/>
              <a:t>[1] </a:t>
            </a:r>
            <a:r>
              <a:rPr lang="en-US" dirty="0"/>
              <a:t>Influence of temperature and dimension in a 4HSiC vertical power MOSFET</a:t>
            </a:r>
            <a:endParaRPr lang="sv-SE" dirty="0"/>
          </a:p>
        </p:txBody>
      </p:sp>
      <p:pic>
        <p:nvPicPr>
          <p:cNvPr id="2" name="Picture 1"/>
          <p:cNvPicPr>
            <a:picLocks noChangeAspect="1"/>
          </p:cNvPicPr>
          <p:nvPr/>
        </p:nvPicPr>
        <p:blipFill>
          <a:blip r:embed="rId2"/>
          <a:stretch>
            <a:fillRect/>
          </a:stretch>
        </p:blipFill>
        <p:spPr>
          <a:xfrm>
            <a:off x="158669" y="3521418"/>
            <a:ext cx="4506913" cy="2923980"/>
          </a:xfrm>
          <a:prstGeom prst="rect">
            <a:avLst/>
          </a:prstGeom>
        </p:spPr>
      </p:pic>
      <p:sp>
        <p:nvSpPr>
          <p:cNvPr id="3" name="Rectangle 2"/>
          <p:cNvSpPr/>
          <p:nvPr/>
        </p:nvSpPr>
        <p:spPr>
          <a:xfrm>
            <a:off x="4902200" y="1280353"/>
            <a:ext cx="6096000" cy="646331"/>
          </a:xfrm>
          <a:prstGeom prst="rect">
            <a:avLst/>
          </a:prstGeom>
        </p:spPr>
        <p:txBody>
          <a:bodyPr>
            <a:spAutoFit/>
          </a:bodyPr>
          <a:lstStyle/>
          <a:p>
            <a:pPr marL="285750" indent="-285750">
              <a:buFont typeface="Arial" panose="020B0604020202020204" pitchFamily="34" charset="0"/>
              <a:buChar char="•"/>
            </a:pPr>
            <a:r>
              <a:rPr lang="en-US" dirty="0" smtClean="0"/>
              <a:t>The </a:t>
            </a:r>
            <a:r>
              <a:rPr lang="en-US" dirty="0"/>
              <a:t>on-resistance comprises the algebraic sum of all the relevant resistances as depicted in </a:t>
            </a:r>
            <a:r>
              <a:rPr lang="en-US" dirty="0" smtClean="0"/>
              <a:t>the figure.</a:t>
            </a:r>
            <a:endParaRPr lang="sv-SE" dirty="0"/>
          </a:p>
        </p:txBody>
      </p:sp>
      <p:pic>
        <p:nvPicPr>
          <p:cNvPr id="8" name="Picture 7"/>
          <p:cNvPicPr>
            <a:picLocks noChangeAspect="1"/>
          </p:cNvPicPr>
          <p:nvPr/>
        </p:nvPicPr>
        <p:blipFill>
          <a:blip r:embed="rId3"/>
          <a:stretch>
            <a:fillRect/>
          </a:stretch>
        </p:blipFill>
        <p:spPr>
          <a:xfrm>
            <a:off x="5325745" y="1986268"/>
            <a:ext cx="5248910" cy="488271"/>
          </a:xfrm>
          <a:prstGeom prst="rect">
            <a:avLst/>
          </a:prstGeom>
        </p:spPr>
      </p:pic>
      <mc:AlternateContent xmlns:mc="http://schemas.openxmlformats.org/markup-compatibility/2006" xmlns:a14="http://schemas.microsoft.com/office/drawing/2010/main">
        <mc:Choice Requires="a14">
          <p:sp>
            <p:nvSpPr>
              <p:cNvPr id="9" name="Rectangle 8"/>
              <p:cNvSpPr/>
              <p:nvPr/>
            </p:nvSpPr>
            <p:spPr>
              <a:xfrm>
                <a:off x="4957079" y="2603844"/>
                <a:ext cx="6096000" cy="1200329"/>
              </a:xfrm>
              <a:prstGeom prst="rect">
                <a:avLst/>
              </a:prstGeom>
            </p:spPr>
            <p:txBody>
              <a:bodyPr>
                <a:spAutoFit/>
              </a:bodyPr>
              <a:lstStyle/>
              <a:p>
                <a:pPr marL="285750" indent="-285750">
                  <a:buFont typeface="Arial" panose="020B0604020202020204" pitchFamily="34" charset="0"/>
                  <a:buChar char="•"/>
                </a:pP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b="0" i="1" dirty="0" smtClean="0">
                            <a:latin typeface="Cambria Math" panose="02040503050406030204" pitchFamily="18" charset="0"/>
                          </a:rPr>
                          <m:t>𝑆</m:t>
                        </m:r>
                      </m:sub>
                    </m:sSub>
                  </m:oMath>
                </a14:m>
                <a:r>
                  <a:rPr lang="en-US" dirty="0" smtClean="0"/>
                  <a:t> </a:t>
                </a:r>
                <a:r>
                  <a:rPr lang="en-US" dirty="0"/>
                  <a:t>is a source resistance,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b="0" i="1" dirty="0" smtClean="0">
                            <a:latin typeface="Cambria Math" panose="02040503050406030204" pitchFamily="18" charset="0"/>
                          </a:rPr>
                          <m:t>𝑁</m:t>
                        </m:r>
                      </m:sub>
                    </m:sSub>
                  </m:oMath>
                </a14:m>
                <a:r>
                  <a:rPr lang="en-US" dirty="0"/>
                  <a:t> is a source </a:t>
                </a:r>
                <a14:m>
                  <m:oMath xmlns:m="http://schemas.openxmlformats.org/officeDocument/2006/math">
                    <m:r>
                      <a:rPr lang="en-US" i="1" dirty="0" smtClean="0">
                        <a:latin typeface="Cambria Math" panose="02040503050406030204" pitchFamily="18" charset="0"/>
                      </a:rPr>
                      <m:t>𝑁</m:t>
                    </m:r>
                  </m:oMath>
                </a14:m>
                <a:r>
                  <a:rPr lang="en-US" dirty="0"/>
                  <a:t> insulating resistance and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b="0" i="1" dirty="0" smtClean="0">
                            <a:latin typeface="Cambria Math" panose="02040503050406030204" pitchFamily="18" charset="0"/>
                          </a:rPr>
                          <m:t>𝐷</m:t>
                        </m:r>
                      </m:sub>
                    </m:sSub>
                  </m:oMath>
                </a14:m>
                <a:r>
                  <a:rPr lang="en-US" dirty="0"/>
                  <a:t> is a drain resistance. These resistances have a small effect on the total on-resistance</a:t>
                </a:r>
                <a:endParaRPr lang="sv-SE" dirty="0"/>
              </a:p>
            </p:txBody>
          </p:sp>
        </mc:Choice>
        <mc:Fallback xmlns="">
          <p:sp>
            <p:nvSpPr>
              <p:cNvPr id="9" name="Rectangle 8"/>
              <p:cNvSpPr>
                <a:spLocks noRot="1" noChangeAspect="1" noMove="1" noResize="1" noEditPoints="1" noAdjustHandles="1" noChangeArrowheads="1" noChangeShapeType="1" noTextEdit="1"/>
              </p:cNvSpPr>
              <p:nvPr/>
            </p:nvSpPr>
            <p:spPr>
              <a:xfrm>
                <a:off x="4957079" y="2603844"/>
                <a:ext cx="6096000" cy="1200329"/>
              </a:xfrm>
              <a:prstGeom prst="rect">
                <a:avLst/>
              </a:prstGeom>
              <a:blipFill>
                <a:blip r:embed="rId4"/>
                <a:stretch>
                  <a:fillRect l="-600" t="-2538" b="-710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4957079" y="3921691"/>
                <a:ext cx="6096000" cy="945259"/>
              </a:xfrm>
              <a:prstGeom prst="rect">
                <a:avLst/>
              </a:prstGeom>
            </p:spPr>
            <p:txBody>
              <a:bodyPr>
                <a:spAutoFit/>
              </a:bodyPr>
              <a:lstStyle/>
              <a:p>
                <a:pPr marL="285750" indent="-285750">
                  <a:buFont typeface="Arial" panose="020B0604020202020204" pitchFamily="34" charset="0"/>
                  <a:buChar char="•"/>
                </a:pPr>
                <a:r>
                  <a:rPr lang="en-US" dirty="0" smtClean="0"/>
                  <a:t>We focus </a:t>
                </a:r>
                <a:r>
                  <a:rPr lang="en-US" dirty="0"/>
                  <a:t>on channel </a:t>
                </a:r>
                <a:r>
                  <a:rPr lang="en-US" dirty="0" smtClean="0"/>
                  <a:t>resistance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b="0" i="1" dirty="0" smtClean="0">
                            <a:latin typeface="Cambria Math" panose="02040503050406030204" pitchFamily="18" charset="0"/>
                          </a:rPr>
                          <m:t>𝑐h</m:t>
                        </m:r>
                      </m:sub>
                    </m:sSub>
                  </m:oMath>
                </a14:m>
                <a:r>
                  <a:rPr lang="en-US" dirty="0" smtClean="0"/>
                  <a:t>, </a:t>
                </a:r>
                <a:r>
                  <a:rPr lang="en-US" dirty="0"/>
                  <a:t>accumulation resistance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b="0" i="1" dirty="0" smtClean="0">
                            <a:latin typeface="Cambria Math" panose="02040503050406030204" pitchFamily="18" charset="0"/>
                          </a:rPr>
                          <m:t>𝑎𝑐𝑐𝑢</m:t>
                        </m:r>
                      </m:sub>
                    </m:sSub>
                  </m:oMath>
                </a14:m>
                <a:r>
                  <a:rPr lang="en-US" dirty="0"/>
                  <a:t>, JFET region resistance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b="0" i="1" dirty="0" smtClean="0">
                            <a:latin typeface="Cambria Math" panose="02040503050406030204" pitchFamily="18" charset="0"/>
                          </a:rPr>
                          <m:t>𝐽𝐹𝐸𝑇</m:t>
                        </m:r>
                      </m:sub>
                    </m:sSub>
                  </m:oMath>
                </a14:m>
                <a:r>
                  <a:rPr lang="en-US" dirty="0"/>
                  <a:t>, drift region resistance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b="0" i="1" dirty="0" smtClean="0">
                            <a:latin typeface="Cambria Math" panose="02040503050406030204" pitchFamily="18" charset="0"/>
                          </a:rPr>
                          <m:t>𝐷𝑟𝑖</m:t>
                        </m:r>
                      </m:sub>
                    </m:sSub>
                  </m:oMath>
                </a14:m>
                <a:r>
                  <a:rPr lang="en-US" dirty="0"/>
                  <a:t> and substrate resistance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1" dirty="0">
                            <a:latin typeface="Cambria Math" panose="02040503050406030204" pitchFamily="18" charset="0"/>
                          </a:rPr>
                          <m:t>𝑆</m:t>
                        </m:r>
                        <m:r>
                          <a:rPr lang="en-US" b="0" i="1" dirty="0" smtClean="0">
                            <a:latin typeface="Cambria Math" panose="02040503050406030204" pitchFamily="18" charset="0"/>
                          </a:rPr>
                          <m:t>𝑈𝐵</m:t>
                        </m:r>
                      </m:sub>
                    </m:sSub>
                  </m:oMath>
                </a14:m>
                <a:r>
                  <a:rPr lang="sv-SE" dirty="0" smtClean="0"/>
                  <a:t>.</a:t>
                </a:r>
                <a:endParaRPr lang="sv-SE" dirty="0"/>
              </a:p>
            </p:txBody>
          </p:sp>
        </mc:Choice>
        <mc:Fallback xmlns="">
          <p:sp>
            <p:nvSpPr>
              <p:cNvPr id="10" name="Rectangle 9"/>
              <p:cNvSpPr>
                <a:spLocks noRot="1" noChangeAspect="1" noMove="1" noResize="1" noEditPoints="1" noAdjustHandles="1" noChangeArrowheads="1" noChangeShapeType="1" noTextEdit="1"/>
              </p:cNvSpPr>
              <p:nvPr/>
            </p:nvSpPr>
            <p:spPr>
              <a:xfrm>
                <a:off x="4957079" y="3921691"/>
                <a:ext cx="6096000" cy="945259"/>
              </a:xfrm>
              <a:prstGeom prst="rect">
                <a:avLst/>
              </a:prstGeom>
              <a:blipFill>
                <a:blip r:embed="rId5"/>
                <a:stretch>
                  <a:fillRect l="-600" t="-3226" b="-9032"/>
                </a:stretch>
              </a:blipFill>
            </p:spPr>
            <p:txBody>
              <a:bodyPr/>
              <a:lstStyle/>
              <a:p>
                <a:r>
                  <a:rPr lang="sv-SE">
                    <a:noFill/>
                  </a:rPr>
                  <a:t> </a:t>
                </a:r>
              </a:p>
            </p:txBody>
          </p:sp>
        </mc:Fallback>
      </mc:AlternateContent>
      <p:pic>
        <p:nvPicPr>
          <p:cNvPr id="11" name="Picture 10"/>
          <p:cNvPicPr>
            <a:picLocks noChangeAspect="1"/>
          </p:cNvPicPr>
          <p:nvPr/>
        </p:nvPicPr>
        <p:blipFill>
          <a:blip r:embed="rId6"/>
          <a:stretch>
            <a:fillRect/>
          </a:stretch>
        </p:blipFill>
        <p:spPr>
          <a:xfrm>
            <a:off x="6506710" y="4983408"/>
            <a:ext cx="2996737" cy="749184"/>
          </a:xfrm>
          <a:prstGeom prst="rect">
            <a:avLst/>
          </a:prstGeom>
        </p:spPr>
      </p:pic>
      <mc:AlternateContent xmlns:mc="http://schemas.openxmlformats.org/markup-compatibility/2006" xmlns:a14="http://schemas.microsoft.com/office/drawing/2010/main">
        <mc:Choice Requires="a14">
          <p:sp>
            <p:nvSpPr>
              <p:cNvPr id="12" name="Rectangle 11"/>
              <p:cNvSpPr/>
              <p:nvPr/>
            </p:nvSpPr>
            <p:spPr>
              <a:xfrm>
                <a:off x="5179929" y="5822012"/>
                <a:ext cx="5319533" cy="369332"/>
              </a:xfrm>
              <a:prstGeom prst="rect">
                <a:avLst/>
              </a:prstGeom>
            </p:spPr>
            <p:txBody>
              <a:bodyPr wrap="none">
                <a:spAutoFit/>
              </a:bodyPr>
              <a:lstStyle/>
              <a:p>
                <a:pPr marL="285750" indent="-285750">
                  <a:buFont typeface="Arial" panose="020B0604020202020204" pitchFamily="34" charset="0"/>
                  <a:buChar char="•"/>
                </a:pP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𝐿</m:t>
                        </m:r>
                      </m:e>
                      <m:sub>
                        <m:r>
                          <a:rPr lang="en-US" i="1" dirty="0" smtClean="0">
                            <a:latin typeface="Cambria Math" panose="02040503050406030204" pitchFamily="18" charset="0"/>
                          </a:rPr>
                          <m:t>𝑐h</m:t>
                        </m:r>
                      </m:sub>
                    </m:sSub>
                  </m:oMath>
                </a14:m>
                <a:r>
                  <a:rPr lang="en-US" dirty="0"/>
                  <a:t> is a channel length and </a:t>
                </a:r>
                <a14:m>
                  <m:oMath xmlns:m="http://schemas.openxmlformats.org/officeDocument/2006/math">
                    <m:r>
                      <a:rPr lang="en-US" i="1" dirty="0" smtClean="0">
                        <a:latin typeface="Cambria Math" panose="02040503050406030204" pitchFamily="18" charset="0"/>
                      </a:rPr>
                      <m:t>𝑊</m:t>
                    </m:r>
                  </m:oMath>
                </a14:m>
                <a:r>
                  <a:rPr lang="en-US" dirty="0"/>
                  <a:t> is a device </a:t>
                </a:r>
                <a:r>
                  <a:rPr lang="en-US" dirty="0" smtClean="0"/>
                  <a:t>width.</a:t>
                </a:r>
                <a:endParaRPr lang="sv-SE" dirty="0"/>
              </a:p>
            </p:txBody>
          </p:sp>
        </mc:Choice>
        <mc:Fallback xmlns="">
          <p:sp>
            <p:nvSpPr>
              <p:cNvPr id="12" name="Rectangle 11"/>
              <p:cNvSpPr>
                <a:spLocks noRot="1" noChangeAspect="1" noMove="1" noResize="1" noEditPoints="1" noAdjustHandles="1" noChangeArrowheads="1" noChangeShapeType="1" noTextEdit="1"/>
              </p:cNvSpPr>
              <p:nvPr/>
            </p:nvSpPr>
            <p:spPr>
              <a:xfrm>
                <a:off x="5179929" y="5822012"/>
                <a:ext cx="5319533" cy="369332"/>
              </a:xfrm>
              <a:prstGeom prst="rect">
                <a:avLst/>
              </a:prstGeom>
              <a:blipFill>
                <a:blip r:embed="rId7"/>
                <a:stretch>
                  <a:fillRect l="-803" t="-8197" r="-229" b="-24590"/>
                </a:stretch>
              </a:blipFill>
            </p:spPr>
            <p:txBody>
              <a:bodyPr/>
              <a:lstStyle/>
              <a:p>
                <a:r>
                  <a:rPr lang="sv-SE">
                    <a:noFill/>
                  </a:rPr>
                  <a:t> </a:t>
                </a:r>
              </a:p>
            </p:txBody>
          </p:sp>
        </mc:Fallback>
      </mc:AlternateContent>
      <p:pic>
        <p:nvPicPr>
          <p:cNvPr id="13" name="Picture 12"/>
          <p:cNvPicPr>
            <a:picLocks noChangeAspect="1"/>
          </p:cNvPicPr>
          <p:nvPr/>
        </p:nvPicPr>
        <p:blipFill rotWithShape="1">
          <a:blip r:embed="rId8"/>
          <a:srcRect l="8293" r="1834"/>
          <a:stretch/>
        </p:blipFill>
        <p:spPr>
          <a:xfrm>
            <a:off x="792884" y="860722"/>
            <a:ext cx="3238485" cy="2693059"/>
          </a:xfrm>
          <a:prstGeom prst="rect">
            <a:avLst/>
          </a:prstGeom>
        </p:spPr>
      </p:pic>
    </p:spTree>
    <p:extLst>
      <p:ext uri="{BB962C8B-B14F-4D97-AF65-F5344CB8AC3E}">
        <p14:creationId xmlns:p14="http://schemas.microsoft.com/office/powerpoint/2010/main" val="18919439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46548" y="605711"/>
            <a:ext cx="3547829" cy="2301749"/>
          </a:xfrm>
          <a:prstGeom prst="rect">
            <a:avLst/>
          </a:prstGeom>
        </p:spPr>
      </p:pic>
      <p:pic>
        <p:nvPicPr>
          <p:cNvPr id="5" name="Picture 4"/>
          <p:cNvPicPr>
            <a:picLocks noChangeAspect="1"/>
          </p:cNvPicPr>
          <p:nvPr/>
        </p:nvPicPr>
        <p:blipFill>
          <a:blip r:embed="rId3"/>
          <a:stretch>
            <a:fillRect/>
          </a:stretch>
        </p:blipFill>
        <p:spPr>
          <a:xfrm>
            <a:off x="6313696" y="325066"/>
            <a:ext cx="3059369" cy="805097"/>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5310227" y="1110255"/>
                <a:ext cx="6330018" cy="646331"/>
              </a:xfrm>
              <a:prstGeom prst="rect">
                <a:avLst/>
              </a:prstGeom>
            </p:spPr>
            <p:txBody>
              <a:bodyPr wrap="square">
                <a:spAutoFit/>
              </a:bodyPr>
              <a:lstStyle/>
              <a:p>
                <a:pPr marL="285750" indent="-285750">
                  <a:buFont typeface="Arial" panose="020B0604020202020204" pitchFamily="34" charset="0"/>
                  <a:buChar char="•"/>
                </a:pP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𝐿</m:t>
                        </m:r>
                      </m:e>
                      <m:sub>
                        <m:r>
                          <a:rPr lang="en-US" b="0" i="1" dirty="0" smtClean="0">
                            <a:latin typeface="Cambria Math" panose="02040503050406030204" pitchFamily="18" charset="0"/>
                          </a:rPr>
                          <m:t>𝑎𝑐𝑐𝑢</m:t>
                        </m:r>
                      </m:sub>
                    </m:sSub>
                  </m:oMath>
                </a14:m>
                <a:r>
                  <a:rPr lang="en-US" dirty="0"/>
                  <a:t> is the distance from the P-base region to the </a:t>
                </a:r>
                <a:r>
                  <a:rPr lang="en-US" dirty="0" smtClean="0"/>
                  <a:t>center </a:t>
                </a:r>
                <a:r>
                  <a:rPr lang="en-US" dirty="0"/>
                  <a:t>of the </a:t>
                </a:r>
                <a:r>
                  <a:rPr lang="en-US" dirty="0" smtClean="0"/>
                  <a:t>gate.</a:t>
                </a:r>
                <a:endParaRPr lang="sv-SE" dirty="0"/>
              </a:p>
            </p:txBody>
          </p:sp>
        </mc:Choice>
        <mc:Fallback xmlns="">
          <p:sp>
            <p:nvSpPr>
              <p:cNvPr id="6" name="Rectangle 5"/>
              <p:cNvSpPr>
                <a:spLocks noRot="1" noChangeAspect="1" noMove="1" noResize="1" noEditPoints="1" noAdjustHandles="1" noChangeArrowheads="1" noChangeShapeType="1" noTextEdit="1"/>
              </p:cNvSpPr>
              <p:nvPr/>
            </p:nvSpPr>
            <p:spPr>
              <a:xfrm>
                <a:off x="5310227" y="1110255"/>
                <a:ext cx="6330018" cy="646331"/>
              </a:xfrm>
              <a:prstGeom prst="rect">
                <a:avLst/>
              </a:prstGeom>
              <a:blipFill>
                <a:blip r:embed="rId4"/>
                <a:stretch>
                  <a:fillRect l="-578" t="-4717" b="-14151"/>
                </a:stretch>
              </a:blipFill>
            </p:spPr>
            <p:txBody>
              <a:bodyPr/>
              <a:lstStyle/>
              <a:p>
                <a:r>
                  <a:rPr lang="sv-SE">
                    <a:noFill/>
                  </a:rPr>
                  <a:t> </a:t>
                </a:r>
              </a:p>
            </p:txBody>
          </p:sp>
        </mc:Fallback>
      </mc:AlternateContent>
      <p:pic>
        <p:nvPicPr>
          <p:cNvPr id="13" name="Picture 12"/>
          <p:cNvPicPr>
            <a:picLocks noChangeAspect="1"/>
          </p:cNvPicPr>
          <p:nvPr/>
        </p:nvPicPr>
        <p:blipFill rotWithShape="1">
          <a:blip r:embed="rId5"/>
          <a:srcRect t="19757"/>
          <a:stretch/>
        </p:blipFill>
        <p:spPr>
          <a:xfrm>
            <a:off x="6545240" y="1764402"/>
            <a:ext cx="3171372" cy="674263"/>
          </a:xfrm>
          <a:prstGeom prst="rect">
            <a:avLst/>
          </a:prstGeom>
        </p:spPr>
      </p:pic>
      <mc:AlternateContent xmlns:mc="http://schemas.openxmlformats.org/markup-compatibility/2006" xmlns:a14="http://schemas.microsoft.com/office/drawing/2010/main">
        <mc:Choice Requires="a14">
          <p:sp>
            <p:nvSpPr>
              <p:cNvPr id="14" name="Rectangle 13"/>
              <p:cNvSpPr/>
              <p:nvPr/>
            </p:nvSpPr>
            <p:spPr>
              <a:xfrm>
                <a:off x="5310227" y="2534936"/>
                <a:ext cx="6096000" cy="968214"/>
              </a:xfrm>
              <a:prstGeom prst="rect">
                <a:avLst/>
              </a:prstGeom>
            </p:spPr>
            <p:txBody>
              <a:bodyPr>
                <a:spAutoFit/>
              </a:bodyPr>
              <a:lstStyle/>
              <a:p>
                <a:pPr marL="285750" indent="-285750">
                  <a:buFont typeface="Arial" panose="020B0604020202020204" pitchFamily="34" charset="0"/>
                  <a:buChar char="•"/>
                </a:pP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𝜌</m:t>
                        </m:r>
                      </m:e>
                      <m:sub>
                        <m:r>
                          <a:rPr lang="en-US" i="1" dirty="0" smtClean="0">
                            <a:latin typeface="Cambria Math" panose="02040503050406030204" pitchFamily="18" charset="0"/>
                          </a:rPr>
                          <m:t>𝐽𝐹𝐸𝑇</m:t>
                        </m:r>
                      </m:sub>
                    </m:sSub>
                  </m:oMath>
                </a14:m>
                <a:r>
                  <a:rPr lang="en-US" dirty="0" smtClean="0"/>
                  <a:t> </a:t>
                </a:r>
                <a:r>
                  <a:rPr lang="en-US" dirty="0"/>
                  <a:t>is the JFET region resistivity;</a:t>
                </a:r>
                <a14:m>
                  <m:oMath xmlns:m="http://schemas.openxmlformats.org/officeDocument/2006/math">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i="1" dirty="0" err="1">
                            <a:latin typeface="Cambria Math" panose="02040503050406030204" pitchFamily="18" charset="0"/>
                          </a:rPr>
                          <m:t>𝐻</m:t>
                        </m:r>
                      </m:e>
                      <m:sub>
                        <m:r>
                          <a:rPr lang="en-US" i="1" dirty="0" err="1">
                            <a:latin typeface="Cambria Math" panose="02040503050406030204" pitchFamily="18" charset="0"/>
                          </a:rPr>
                          <m:t>𝑗𝑢𝑛</m:t>
                        </m:r>
                      </m:sub>
                    </m:sSub>
                    <m:r>
                      <a:rPr lang="en-US" i="1" dirty="0">
                        <a:latin typeface="Cambria Math" panose="02040503050406030204" pitchFamily="18" charset="0"/>
                      </a:rPr>
                      <m:t> </m:t>
                    </m:r>
                  </m:oMath>
                </a14:m>
                <a:r>
                  <a:rPr lang="en-US" dirty="0"/>
                  <a:t>is the P-Base junction depth;</a:t>
                </a:r>
                <a14:m>
                  <m:oMath xmlns:m="http://schemas.openxmlformats.org/officeDocument/2006/math">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i="1" dirty="0" err="1">
                            <a:latin typeface="Cambria Math" panose="02040503050406030204" pitchFamily="18" charset="0"/>
                          </a:rPr>
                          <m:t>𝐿</m:t>
                        </m:r>
                      </m:e>
                      <m:sub>
                        <m:r>
                          <a:rPr lang="en-US" i="1" dirty="0" err="1">
                            <a:latin typeface="Cambria Math" panose="02040503050406030204" pitchFamily="18" charset="0"/>
                          </a:rPr>
                          <m:t>𝑔𝑎𝑡𝑒</m:t>
                        </m:r>
                      </m:sub>
                    </m:sSub>
                    <m:r>
                      <a:rPr lang="en-US" i="1" dirty="0">
                        <a:latin typeface="Cambria Math" panose="02040503050406030204" pitchFamily="18" charset="0"/>
                      </a:rPr>
                      <m:t> </m:t>
                    </m:r>
                  </m:oMath>
                </a14:m>
                <a:r>
                  <a:rPr lang="en-US" dirty="0"/>
                  <a:t>is the gate length and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𝑊</m:t>
                        </m:r>
                      </m:e>
                      <m:sub>
                        <m:r>
                          <a:rPr lang="en-US" i="1" dirty="0" smtClean="0">
                            <a:latin typeface="Cambria Math" panose="02040503050406030204" pitchFamily="18" charset="0"/>
                          </a:rPr>
                          <m:t>0</m:t>
                        </m:r>
                      </m:sub>
                    </m:sSub>
                  </m:oMath>
                </a14:m>
                <a:r>
                  <a:rPr lang="en-US" dirty="0"/>
                  <a:t> is the zero-bias depletion width in the JFET region. </a:t>
                </a:r>
                <a:endParaRPr lang="sv-SE" dirty="0"/>
              </a:p>
            </p:txBody>
          </p:sp>
        </mc:Choice>
        <mc:Fallback xmlns="">
          <p:sp>
            <p:nvSpPr>
              <p:cNvPr id="14" name="Rectangle 13"/>
              <p:cNvSpPr>
                <a:spLocks noRot="1" noChangeAspect="1" noMove="1" noResize="1" noEditPoints="1" noAdjustHandles="1" noChangeArrowheads="1" noChangeShapeType="1" noTextEdit="1"/>
              </p:cNvSpPr>
              <p:nvPr/>
            </p:nvSpPr>
            <p:spPr>
              <a:xfrm>
                <a:off x="5310227" y="2534936"/>
                <a:ext cx="6096000" cy="968214"/>
              </a:xfrm>
              <a:prstGeom prst="rect">
                <a:avLst/>
              </a:prstGeom>
              <a:blipFill>
                <a:blip r:embed="rId6"/>
                <a:stretch>
                  <a:fillRect l="-600" t="-3774" b="-8805"/>
                </a:stretch>
              </a:blipFill>
            </p:spPr>
            <p:txBody>
              <a:bodyPr/>
              <a:lstStyle/>
              <a:p>
                <a:r>
                  <a:rPr lang="sv-SE">
                    <a:noFill/>
                  </a:rPr>
                  <a:t> </a:t>
                </a:r>
              </a:p>
            </p:txBody>
          </p:sp>
        </mc:Fallback>
      </mc:AlternateContent>
      <p:pic>
        <p:nvPicPr>
          <p:cNvPr id="15" name="Picture 14"/>
          <p:cNvPicPr>
            <a:picLocks noChangeAspect="1"/>
          </p:cNvPicPr>
          <p:nvPr/>
        </p:nvPicPr>
        <p:blipFill>
          <a:blip r:embed="rId7"/>
          <a:stretch>
            <a:fillRect/>
          </a:stretch>
        </p:blipFill>
        <p:spPr>
          <a:xfrm>
            <a:off x="6690315" y="3414347"/>
            <a:ext cx="2881222" cy="885993"/>
          </a:xfrm>
          <a:prstGeom prst="rect">
            <a:avLst/>
          </a:prstGeom>
        </p:spPr>
      </p:pic>
      <mc:AlternateContent xmlns:mc="http://schemas.openxmlformats.org/markup-compatibility/2006" xmlns:a14="http://schemas.microsoft.com/office/drawing/2010/main">
        <mc:Choice Requires="a14">
          <p:sp>
            <p:nvSpPr>
              <p:cNvPr id="17" name="Rectangle 16"/>
              <p:cNvSpPr/>
              <p:nvPr/>
            </p:nvSpPr>
            <p:spPr>
              <a:xfrm>
                <a:off x="5373840" y="4281500"/>
                <a:ext cx="6096000" cy="945580"/>
              </a:xfrm>
              <a:prstGeom prst="rect">
                <a:avLst/>
              </a:prstGeom>
            </p:spPr>
            <p:txBody>
              <a:bodyPr>
                <a:spAutoFit/>
              </a:bodyPr>
              <a:lstStyle/>
              <a:p>
                <a:pPr marL="285750" indent="-285750">
                  <a:buFont typeface="Arial" panose="020B0604020202020204" pitchFamily="34" charset="0"/>
                  <a:buChar char="•"/>
                </a:pP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𝜌</m:t>
                        </m:r>
                      </m:e>
                      <m:sub>
                        <m:r>
                          <a:rPr lang="en-US" i="1" dirty="0" smtClean="0">
                            <a:latin typeface="Cambria Math" panose="02040503050406030204" pitchFamily="18" charset="0"/>
                          </a:rPr>
                          <m:t>𝐷𝑟𝑖</m:t>
                        </m:r>
                      </m:sub>
                    </m:sSub>
                  </m:oMath>
                </a14:m>
                <a:r>
                  <a:rPr lang="en-US" dirty="0" smtClean="0"/>
                  <a:t> is the drift region resistivity;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𝐻</m:t>
                        </m:r>
                      </m:e>
                      <m:sub>
                        <m:r>
                          <a:rPr lang="en-US" i="1" dirty="0" smtClean="0">
                            <a:latin typeface="Cambria Math" panose="02040503050406030204" pitchFamily="18" charset="0"/>
                          </a:rPr>
                          <m:t>𝑑𝑟𝑖𝑓𝑡</m:t>
                        </m:r>
                      </m:sub>
                    </m:sSub>
                  </m:oMath>
                </a14:m>
                <a:r>
                  <a:rPr lang="en-US" dirty="0" smtClean="0"/>
                  <a:t> is the N-drift region depth and </a:t>
                </a:r>
                <a14:m>
                  <m:oMath xmlns:m="http://schemas.openxmlformats.org/officeDocument/2006/math">
                    <m:r>
                      <a:rPr lang="en-US" i="1" dirty="0" smtClean="0">
                        <a:latin typeface="Cambria Math" panose="02040503050406030204" pitchFamily="18" charset="0"/>
                      </a:rPr>
                      <m:t>𝑎</m:t>
                    </m:r>
                  </m:oMath>
                </a14:m>
                <a:r>
                  <a:rPr lang="en-US" dirty="0" smtClean="0"/>
                  <a:t> is the width where the current flow in the drift region from the JFET region. </a:t>
                </a:r>
                <a:endParaRPr lang="sv-SE" dirty="0"/>
              </a:p>
            </p:txBody>
          </p:sp>
        </mc:Choice>
        <mc:Fallback xmlns="">
          <p:sp>
            <p:nvSpPr>
              <p:cNvPr id="17" name="Rectangle 16"/>
              <p:cNvSpPr>
                <a:spLocks noRot="1" noChangeAspect="1" noMove="1" noResize="1" noEditPoints="1" noAdjustHandles="1" noChangeArrowheads="1" noChangeShapeType="1" noTextEdit="1"/>
              </p:cNvSpPr>
              <p:nvPr/>
            </p:nvSpPr>
            <p:spPr>
              <a:xfrm>
                <a:off x="5373840" y="4281500"/>
                <a:ext cx="6096000" cy="945580"/>
              </a:xfrm>
              <a:prstGeom prst="rect">
                <a:avLst/>
              </a:prstGeom>
              <a:blipFill>
                <a:blip r:embed="rId8"/>
                <a:stretch>
                  <a:fillRect l="-700" t="-3226" r="-1000" b="-9032"/>
                </a:stretch>
              </a:blipFill>
            </p:spPr>
            <p:txBody>
              <a:bodyPr/>
              <a:lstStyle/>
              <a:p>
                <a:r>
                  <a:rPr lang="sv-SE">
                    <a:noFill/>
                  </a:rPr>
                  <a:t> </a:t>
                </a:r>
              </a:p>
            </p:txBody>
          </p:sp>
        </mc:Fallback>
      </mc:AlternateContent>
      <p:pic>
        <p:nvPicPr>
          <p:cNvPr id="18" name="Picture 17"/>
          <p:cNvPicPr>
            <a:picLocks noChangeAspect="1"/>
          </p:cNvPicPr>
          <p:nvPr/>
        </p:nvPicPr>
        <p:blipFill>
          <a:blip r:embed="rId9"/>
          <a:stretch>
            <a:fillRect/>
          </a:stretch>
        </p:blipFill>
        <p:spPr>
          <a:xfrm>
            <a:off x="7357995" y="5317123"/>
            <a:ext cx="2165929" cy="463491"/>
          </a:xfrm>
          <a:prstGeom prst="rect">
            <a:avLst/>
          </a:prstGeom>
        </p:spPr>
      </p:pic>
      <mc:AlternateContent xmlns:mc="http://schemas.openxmlformats.org/markup-compatibility/2006" xmlns:a14="http://schemas.microsoft.com/office/drawing/2010/main">
        <mc:Choice Requires="a14">
          <p:sp>
            <p:nvSpPr>
              <p:cNvPr id="19" name="Rectangle 18"/>
              <p:cNvSpPr/>
              <p:nvPr/>
            </p:nvSpPr>
            <p:spPr>
              <a:xfrm>
                <a:off x="5544245" y="6005430"/>
                <a:ext cx="6096000" cy="646331"/>
              </a:xfrm>
              <a:prstGeom prst="rect">
                <a:avLst/>
              </a:prstGeom>
            </p:spPr>
            <p:txBody>
              <a:bodyPr>
                <a:spAutoFit/>
              </a:bodyPr>
              <a:lstStyle/>
              <a:p>
                <a:pPr marL="285750" indent="-285750">
                  <a:buFont typeface="Arial" panose="020B0604020202020204" pitchFamily="34" charset="0"/>
                  <a:buChar char="•"/>
                </a:pP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𝜌</m:t>
                        </m:r>
                      </m:e>
                      <m:sub>
                        <m:r>
                          <a:rPr lang="en-US" i="1" dirty="0" smtClean="0">
                            <a:latin typeface="Cambria Math" panose="02040503050406030204" pitchFamily="18" charset="0"/>
                          </a:rPr>
                          <m:t>𝑆𝑢𝑏</m:t>
                        </m:r>
                      </m:sub>
                    </m:sSub>
                    <m:r>
                      <a:rPr lang="en-US" i="1" dirty="0">
                        <a:latin typeface="Cambria Math" panose="02040503050406030204" pitchFamily="18" charset="0"/>
                      </a:rPr>
                      <m:t> </m:t>
                    </m:r>
                  </m:oMath>
                </a14:m>
                <a:r>
                  <a:rPr lang="en-US" dirty="0"/>
                  <a:t>is the substrate resistivity and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𝐻</m:t>
                        </m:r>
                      </m:e>
                      <m:sub>
                        <m:r>
                          <a:rPr lang="en-US" i="1" dirty="0" smtClean="0">
                            <a:latin typeface="Cambria Math" panose="02040503050406030204" pitchFamily="18" charset="0"/>
                          </a:rPr>
                          <m:t>𝑠𝑢𝑏</m:t>
                        </m:r>
                      </m:sub>
                    </m:sSub>
                  </m:oMath>
                </a14:m>
                <a:r>
                  <a:rPr lang="en-US" dirty="0"/>
                  <a:t> is the substrate </a:t>
                </a:r>
                <a:r>
                  <a:rPr lang="en-US" dirty="0" smtClean="0"/>
                  <a:t>depth.</a:t>
                </a:r>
                <a:endParaRPr lang="sv-SE" dirty="0"/>
              </a:p>
            </p:txBody>
          </p:sp>
        </mc:Choice>
        <mc:Fallback xmlns="">
          <p:sp>
            <p:nvSpPr>
              <p:cNvPr id="19" name="Rectangle 18"/>
              <p:cNvSpPr>
                <a:spLocks noRot="1" noChangeAspect="1" noMove="1" noResize="1" noEditPoints="1" noAdjustHandles="1" noChangeArrowheads="1" noChangeShapeType="1" noTextEdit="1"/>
              </p:cNvSpPr>
              <p:nvPr/>
            </p:nvSpPr>
            <p:spPr>
              <a:xfrm>
                <a:off x="5544245" y="6005430"/>
                <a:ext cx="6096000" cy="646331"/>
              </a:xfrm>
              <a:prstGeom prst="rect">
                <a:avLst/>
              </a:prstGeom>
              <a:blipFill>
                <a:blip r:embed="rId10"/>
                <a:stretch>
                  <a:fillRect l="-600" t="-4717" b="-1415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480154" y="3208716"/>
                <a:ext cx="3986873" cy="1219757"/>
              </a:xfrm>
              <a:prstGeom prst="rect">
                <a:avLst/>
              </a:prstGeom>
            </p:spPr>
            <p:txBody>
              <a:bodyPr wrap="square">
                <a:spAutoFit/>
              </a:bodyPr>
              <a:lstStyle/>
              <a:p>
                <a:pPr marL="285750" indent="-285750">
                  <a:buFont typeface="Arial" panose="020B0604020202020204" pitchFamily="34" charset="0"/>
                  <a:buChar char="•"/>
                </a:pPr>
                <a:r>
                  <a:rPr lang="en-US" dirty="0" smtClean="0"/>
                  <a:t>The vertical scaling mainly affects the JFET region resistance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i="1" dirty="0" smtClean="0">
                            <a:latin typeface="Cambria Math" panose="02040503050406030204" pitchFamily="18" charset="0"/>
                          </a:rPr>
                          <m:t>𝐽𝐹𝐸𝑇</m:t>
                        </m:r>
                      </m:sub>
                    </m:sSub>
                  </m:oMath>
                </a14:m>
                <a:r>
                  <a:rPr lang="en-US" dirty="0"/>
                  <a:t>, drift region resistance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i="1" dirty="0" smtClean="0">
                            <a:latin typeface="Cambria Math" panose="02040503050406030204" pitchFamily="18" charset="0"/>
                          </a:rPr>
                          <m:t>𝐷𝑟</m:t>
                        </m:r>
                        <m:r>
                          <a:rPr lang="en-US" b="0" i="1" dirty="0" smtClean="0">
                            <a:latin typeface="Cambria Math" panose="02040503050406030204" pitchFamily="18" charset="0"/>
                          </a:rPr>
                          <m:t>𝑖</m:t>
                        </m:r>
                      </m:sub>
                    </m:sSub>
                  </m:oMath>
                </a14:m>
                <a:r>
                  <a:rPr lang="en-US" dirty="0" smtClean="0"/>
                  <a:t> </a:t>
                </a:r>
                <a:r>
                  <a:rPr lang="en-US" dirty="0"/>
                  <a:t> and the substrate resistance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i="1" dirty="0" smtClean="0">
                            <a:latin typeface="Cambria Math" panose="02040503050406030204" pitchFamily="18" charset="0"/>
                          </a:rPr>
                          <m:t>𝑆𝑢𝑏</m:t>
                        </m:r>
                      </m:sub>
                    </m:sSub>
                  </m:oMath>
                </a14:m>
                <a:r>
                  <a:rPr lang="sv-SE" dirty="0" smtClean="0"/>
                  <a:t>.</a:t>
                </a:r>
                <a:endParaRPr lang="sv-SE" dirty="0"/>
              </a:p>
            </p:txBody>
          </p:sp>
        </mc:Choice>
        <mc:Fallback xmlns="">
          <p:sp>
            <p:nvSpPr>
              <p:cNvPr id="20" name="Rectangle 19"/>
              <p:cNvSpPr>
                <a:spLocks noRot="1" noChangeAspect="1" noMove="1" noResize="1" noEditPoints="1" noAdjustHandles="1" noChangeArrowheads="1" noChangeShapeType="1" noTextEdit="1"/>
              </p:cNvSpPr>
              <p:nvPr/>
            </p:nvSpPr>
            <p:spPr>
              <a:xfrm>
                <a:off x="480154" y="3208716"/>
                <a:ext cx="3986873" cy="1219757"/>
              </a:xfrm>
              <a:prstGeom prst="rect">
                <a:avLst/>
              </a:prstGeom>
              <a:blipFill>
                <a:blip r:embed="rId11"/>
                <a:stretch>
                  <a:fillRect l="-1070" t="-2500" r="-1376" b="-700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441215" y="4530888"/>
                <a:ext cx="4170832" cy="1496756"/>
              </a:xfrm>
              <a:prstGeom prst="rect">
                <a:avLst/>
              </a:prstGeom>
            </p:spPr>
            <p:txBody>
              <a:bodyPr wrap="square">
                <a:spAutoFit/>
              </a:bodyPr>
              <a:lstStyle/>
              <a:p>
                <a:pPr marL="285750" indent="-285750">
                  <a:buFont typeface="Arial" panose="020B0604020202020204" pitchFamily="34" charset="0"/>
                  <a:buChar char="•"/>
                </a:pPr>
                <a:r>
                  <a:rPr lang="en-US" dirty="0" smtClean="0"/>
                  <a:t>The lateral scaling mainly affects the channel resistance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i="1" dirty="0" smtClean="0">
                            <a:latin typeface="Cambria Math" panose="02040503050406030204" pitchFamily="18" charset="0"/>
                          </a:rPr>
                          <m:t>𝑐h</m:t>
                        </m:r>
                      </m:sub>
                    </m:sSub>
                  </m:oMath>
                </a14:m>
                <a:r>
                  <a:rPr lang="en-US" dirty="0"/>
                  <a:t>, the accumulation resistance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i="1" dirty="0" smtClean="0">
                            <a:latin typeface="Cambria Math" panose="02040503050406030204" pitchFamily="18" charset="0"/>
                          </a:rPr>
                          <m:t>𝑎𝑐𝑐𝑢</m:t>
                        </m:r>
                      </m:sub>
                    </m:sSub>
                  </m:oMath>
                </a14:m>
                <a:r>
                  <a:rPr lang="en-US" dirty="0"/>
                  <a:t>, the JFET region resistance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i="1" dirty="0" smtClean="0">
                            <a:latin typeface="Cambria Math" panose="02040503050406030204" pitchFamily="18" charset="0"/>
                          </a:rPr>
                          <m:t>𝐽𝐹𝐸𝑇</m:t>
                        </m:r>
                      </m:sub>
                    </m:sSub>
                  </m:oMath>
                </a14:m>
                <a:r>
                  <a:rPr lang="en-US" dirty="0"/>
                  <a:t> and the drift region resistance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i="1" dirty="0" smtClean="0">
                            <a:latin typeface="Cambria Math" panose="02040503050406030204" pitchFamily="18" charset="0"/>
                          </a:rPr>
                          <m:t>𝐷𝑟𝑖</m:t>
                        </m:r>
                      </m:sub>
                    </m:sSub>
                  </m:oMath>
                </a14:m>
                <a:r>
                  <a:rPr lang="en-US" dirty="0"/>
                  <a:t>. </a:t>
                </a:r>
                <a:endParaRPr lang="sv-SE" dirty="0"/>
              </a:p>
            </p:txBody>
          </p:sp>
        </mc:Choice>
        <mc:Fallback xmlns="">
          <p:sp>
            <p:nvSpPr>
              <p:cNvPr id="21" name="Rectangle 20"/>
              <p:cNvSpPr>
                <a:spLocks noRot="1" noChangeAspect="1" noMove="1" noResize="1" noEditPoints="1" noAdjustHandles="1" noChangeArrowheads="1" noChangeShapeType="1" noTextEdit="1"/>
              </p:cNvSpPr>
              <p:nvPr/>
            </p:nvSpPr>
            <p:spPr>
              <a:xfrm>
                <a:off x="441215" y="4530888"/>
                <a:ext cx="4170832" cy="1496756"/>
              </a:xfrm>
              <a:prstGeom prst="rect">
                <a:avLst/>
              </a:prstGeom>
              <a:blipFill>
                <a:blip r:embed="rId12"/>
                <a:stretch>
                  <a:fillRect l="-876" t="-2033" b="-5285"/>
                </a:stretch>
              </a:blipFill>
            </p:spPr>
            <p:txBody>
              <a:bodyPr/>
              <a:lstStyle/>
              <a:p>
                <a:r>
                  <a:rPr lang="sv-SE">
                    <a:noFill/>
                  </a:rPr>
                  <a:t> </a:t>
                </a:r>
              </a:p>
            </p:txBody>
          </p:sp>
        </mc:Fallback>
      </mc:AlternateContent>
    </p:spTree>
    <p:extLst>
      <p:ext uri="{BB962C8B-B14F-4D97-AF65-F5344CB8AC3E}">
        <p14:creationId xmlns:p14="http://schemas.microsoft.com/office/powerpoint/2010/main" val="11875590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2488" y="267094"/>
            <a:ext cx="10990263" cy="568412"/>
          </a:xfrm>
        </p:spPr>
        <p:txBody>
          <a:bodyPr/>
          <a:lstStyle/>
          <a:p>
            <a:pPr algn="ctr"/>
            <a:r>
              <a:rPr lang="en-US" dirty="0" smtClean="0"/>
              <a:t>Theory : Turn-off Losses</a:t>
            </a:r>
            <a:br>
              <a:rPr lang="en-US" dirty="0" smtClean="0"/>
            </a:br>
            <a:r>
              <a:rPr lang="en-US" dirty="0" smtClean="0"/>
              <a:t/>
            </a:r>
            <a:br>
              <a:rPr lang="en-US" dirty="0" smtClean="0"/>
            </a:br>
            <a:endParaRPr lang="sv-SE" dirty="0"/>
          </a:p>
        </p:txBody>
      </p:sp>
      <p:sp>
        <p:nvSpPr>
          <p:cNvPr id="3" name="Rectangle 2"/>
          <p:cNvSpPr/>
          <p:nvPr/>
        </p:nvSpPr>
        <p:spPr>
          <a:xfrm>
            <a:off x="345541" y="6247554"/>
            <a:ext cx="11052998" cy="369332"/>
          </a:xfrm>
          <a:prstGeom prst="rect">
            <a:avLst/>
          </a:prstGeom>
        </p:spPr>
        <p:txBody>
          <a:bodyPr wrap="square">
            <a:spAutoFit/>
          </a:bodyPr>
          <a:lstStyle/>
          <a:p>
            <a:r>
              <a:rPr lang="en-US" dirty="0" smtClean="0"/>
              <a:t>[</a:t>
            </a:r>
            <a:r>
              <a:rPr lang="en-US" dirty="0"/>
              <a:t>1</a:t>
            </a:r>
            <a:r>
              <a:rPr lang="en-US" dirty="0" smtClean="0"/>
              <a:t>] </a:t>
            </a:r>
            <a:r>
              <a:rPr lang="sv-SE" dirty="0"/>
              <a:t>A Review </a:t>
            </a:r>
            <a:r>
              <a:rPr lang="sv-SE" dirty="0" err="1"/>
              <a:t>of</a:t>
            </a:r>
            <a:r>
              <a:rPr lang="sv-SE" dirty="0"/>
              <a:t> </a:t>
            </a:r>
            <a:r>
              <a:rPr lang="sv-SE" dirty="0" err="1"/>
              <a:t>Switching</a:t>
            </a:r>
            <a:r>
              <a:rPr lang="sv-SE" dirty="0"/>
              <a:t> </a:t>
            </a:r>
            <a:r>
              <a:rPr lang="sv-SE" dirty="0" err="1"/>
              <a:t>Slew</a:t>
            </a:r>
            <a:r>
              <a:rPr lang="sv-SE" dirty="0"/>
              <a:t> Rate Control for Silicon Carbide </a:t>
            </a:r>
            <a:r>
              <a:rPr lang="sv-SE" dirty="0" err="1"/>
              <a:t>Devices</a:t>
            </a:r>
            <a:r>
              <a:rPr lang="sv-SE" dirty="0"/>
              <a:t> </a:t>
            </a:r>
            <a:r>
              <a:rPr lang="sv-SE" dirty="0" err="1"/>
              <a:t>Using</a:t>
            </a:r>
            <a:r>
              <a:rPr lang="sv-SE" dirty="0"/>
              <a:t> Active Gate </a:t>
            </a:r>
            <a:r>
              <a:rPr lang="sv-SE" dirty="0" smtClean="0"/>
              <a:t>Drivers</a:t>
            </a:r>
            <a:endParaRPr lang="sv-SE" dirty="0"/>
          </a:p>
        </p:txBody>
      </p:sp>
      <p:pic>
        <p:nvPicPr>
          <p:cNvPr id="9" name="Picture 8"/>
          <p:cNvPicPr>
            <a:picLocks noChangeAspect="1"/>
          </p:cNvPicPr>
          <p:nvPr/>
        </p:nvPicPr>
        <p:blipFill rotWithShape="1">
          <a:blip r:embed="rId2"/>
          <a:srcRect l="8293" r="1834"/>
          <a:stretch/>
        </p:blipFill>
        <p:spPr>
          <a:xfrm>
            <a:off x="5657619" y="1374876"/>
            <a:ext cx="5096996" cy="4238559"/>
          </a:xfrm>
          <a:prstGeom prst="rect">
            <a:avLst/>
          </a:prstGeom>
        </p:spPr>
      </p:pic>
      <p:pic>
        <p:nvPicPr>
          <p:cNvPr id="10" name="Picture 9"/>
          <p:cNvPicPr>
            <a:picLocks noChangeAspect="1"/>
          </p:cNvPicPr>
          <p:nvPr/>
        </p:nvPicPr>
        <p:blipFill rotWithShape="1">
          <a:blip r:embed="rId3"/>
          <a:srcRect l="1976" r="9173"/>
          <a:stretch/>
        </p:blipFill>
        <p:spPr>
          <a:xfrm>
            <a:off x="1402714" y="2076524"/>
            <a:ext cx="3426523" cy="3114678"/>
          </a:xfrm>
          <a:prstGeom prst="rect">
            <a:avLst/>
          </a:prstGeom>
        </p:spPr>
      </p:pic>
    </p:spTree>
    <p:extLst>
      <p:ext uri="{BB962C8B-B14F-4D97-AF65-F5344CB8AC3E}">
        <p14:creationId xmlns:p14="http://schemas.microsoft.com/office/powerpoint/2010/main" val="19289239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4939" y="694907"/>
            <a:ext cx="153055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metal</a:t>
            </a:r>
            <a:endParaRPr lang="sv-SE" dirty="0"/>
          </a:p>
        </p:txBody>
      </p:sp>
      <p:sp>
        <p:nvSpPr>
          <p:cNvPr id="5" name="Rectangle 4"/>
          <p:cNvSpPr/>
          <p:nvPr/>
        </p:nvSpPr>
        <p:spPr>
          <a:xfrm>
            <a:off x="2204642" y="912735"/>
            <a:ext cx="2134545" cy="224626"/>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oxide</a:t>
            </a:r>
            <a:endParaRPr lang="sv-SE" dirty="0"/>
          </a:p>
        </p:txBody>
      </p:sp>
      <p:sp>
        <p:nvSpPr>
          <p:cNvPr id="6" name="Rectangle 5"/>
          <p:cNvSpPr/>
          <p:nvPr/>
        </p:nvSpPr>
        <p:spPr>
          <a:xfrm>
            <a:off x="2514939" y="1141472"/>
            <a:ext cx="1530552" cy="865936"/>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7" name="Rectangle 6"/>
          <p:cNvSpPr/>
          <p:nvPr/>
        </p:nvSpPr>
        <p:spPr>
          <a:xfrm>
            <a:off x="1042467" y="1148035"/>
            <a:ext cx="1460826"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8" name="Rectangle 7"/>
          <p:cNvSpPr/>
          <p:nvPr/>
        </p:nvSpPr>
        <p:spPr>
          <a:xfrm>
            <a:off x="1042466" y="1609969"/>
            <a:ext cx="1530552" cy="397439"/>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9" name="Rectangle 8"/>
          <p:cNvSpPr/>
          <p:nvPr/>
        </p:nvSpPr>
        <p:spPr>
          <a:xfrm>
            <a:off x="4045491" y="1150264"/>
            <a:ext cx="1530552"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10" name="Rectangle 9"/>
          <p:cNvSpPr/>
          <p:nvPr/>
        </p:nvSpPr>
        <p:spPr>
          <a:xfrm>
            <a:off x="4045491" y="1609968"/>
            <a:ext cx="1530552" cy="397440"/>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Rectangle 10"/>
          <p:cNvSpPr/>
          <p:nvPr/>
        </p:nvSpPr>
        <p:spPr>
          <a:xfrm>
            <a:off x="1410841" y="930621"/>
            <a:ext cx="79380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2" name="Rectangle 11"/>
          <p:cNvSpPr/>
          <p:nvPr/>
        </p:nvSpPr>
        <p:spPr>
          <a:xfrm>
            <a:off x="4339187" y="906393"/>
            <a:ext cx="793802" cy="23975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3" name="Rectangle 12"/>
          <p:cNvSpPr/>
          <p:nvPr/>
        </p:nvSpPr>
        <p:spPr>
          <a:xfrm>
            <a:off x="3118715" y="353746"/>
            <a:ext cx="306398" cy="369332"/>
          </a:xfrm>
          <a:prstGeom prst="rect">
            <a:avLst/>
          </a:prstGeom>
        </p:spPr>
        <p:txBody>
          <a:bodyPr wrap="square">
            <a:spAutoFit/>
          </a:bodyPr>
          <a:lstStyle/>
          <a:p>
            <a:r>
              <a:rPr lang="en-US" dirty="0" smtClean="0"/>
              <a:t>G</a:t>
            </a:r>
            <a:endParaRPr lang="sv-SE" dirty="0"/>
          </a:p>
        </p:txBody>
      </p:sp>
      <p:sp>
        <p:nvSpPr>
          <p:cNvPr id="14" name="Rectangle 13"/>
          <p:cNvSpPr/>
          <p:nvPr/>
        </p:nvSpPr>
        <p:spPr>
          <a:xfrm>
            <a:off x="1660428" y="605369"/>
            <a:ext cx="306398" cy="369332"/>
          </a:xfrm>
          <a:prstGeom prst="rect">
            <a:avLst/>
          </a:prstGeom>
        </p:spPr>
        <p:txBody>
          <a:bodyPr wrap="square">
            <a:spAutoFit/>
          </a:bodyPr>
          <a:lstStyle/>
          <a:p>
            <a:r>
              <a:rPr lang="en-US" dirty="0"/>
              <a:t>S</a:t>
            </a:r>
            <a:endParaRPr lang="sv-SE" dirty="0"/>
          </a:p>
        </p:txBody>
      </p:sp>
      <p:sp>
        <p:nvSpPr>
          <p:cNvPr id="15" name="Rectangle 14"/>
          <p:cNvSpPr/>
          <p:nvPr/>
        </p:nvSpPr>
        <p:spPr>
          <a:xfrm>
            <a:off x="4582889" y="605369"/>
            <a:ext cx="306398" cy="369332"/>
          </a:xfrm>
          <a:prstGeom prst="rect">
            <a:avLst/>
          </a:prstGeom>
        </p:spPr>
        <p:txBody>
          <a:bodyPr wrap="square">
            <a:spAutoFit/>
          </a:bodyPr>
          <a:lstStyle/>
          <a:p>
            <a:r>
              <a:rPr lang="en-US" dirty="0" smtClean="0"/>
              <a:t>D</a:t>
            </a:r>
            <a:endParaRPr lang="sv-SE" dirty="0"/>
          </a:p>
        </p:txBody>
      </p:sp>
      <p:sp>
        <p:nvSpPr>
          <p:cNvPr id="19" name="Rectangle 18"/>
          <p:cNvSpPr/>
          <p:nvPr/>
        </p:nvSpPr>
        <p:spPr>
          <a:xfrm>
            <a:off x="1042465" y="1609968"/>
            <a:ext cx="1472473" cy="167447"/>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smtClean="0"/>
              <a:t>depletion</a:t>
            </a:r>
            <a:endParaRPr lang="sv-SE" sz="1400" dirty="0"/>
          </a:p>
        </p:txBody>
      </p:sp>
      <p:sp>
        <p:nvSpPr>
          <p:cNvPr id="20" name="Rectangle 19"/>
          <p:cNvSpPr/>
          <p:nvPr/>
        </p:nvSpPr>
        <p:spPr>
          <a:xfrm>
            <a:off x="2514938" y="1395036"/>
            <a:ext cx="116038" cy="37492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21" name="Rectangle 20"/>
          <p:cNvSpPr/>
          <p:nvPr/>
        </p:nvSpPr>
        <p:spPr>
          <a:xfrm rot="5400000">
            <a:off x="3191537" y="607837"/>
            <a:ext cx="177353" cy="153055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22" name="Rectangle 21"/>
          <p:cNvSpPr/>
          <p:nvPr/>
        </p:nvSpPr>
        <p:spPr>
          <a:xfrm>
            <a:off x="3929390" y="1395035"/>
            <a:ext cx="116038" cy="37492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23" name="Rectangle 22"/>
          <p:cNvSpPr/>
          <p:nvPr/>
        </p:nvSpPr>
        <p:spPr>
          <a:xfrm>
            <a:off x="4045839" y="1599988"/>
            <a:ext cx="1530141" cy="167447"/>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smtClean="0"/>
              <a:t>depletion</a:t>
            </a:r>
            <a:endParaRPr lang="sv-SE" sz="1400" dirty="0"/>
          </a:p>
        </p:txBody>
      </p:sp>
      <p:sp>
        <p:nvSpPr>
          <p:cNvPr id="24" name="Rectangle 23"/>
          <p:cNvSpPr/>
          <p:nvPr/>
        </p:nvSpPr>
        <p:spPr>
          <a:xfrm>
            <a:off x="2506638" y="1139429"/>
            <a:ext cx="1547152" cy="23862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Oval 24"/>
          <p:cNvSpPr/>
          <p:nvPr/>
        </p:nvSpPr>
        <p:spPr>
          <a:xfrm>
            <a:off x="2811429" y="116229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6" name="Oval 25"/>
          <p:cNvSpPr/>
          <p:nvPr/>
        </p:nvSpPr>
        <p:spPr>
          <a:xfrm>
            <a:off x="2714107" y="116229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7" name="Oval 26"/>
          <p:cNvSpPr/>
          <p:nvPr/>
        </p:nvSpPr>
        <p:spPr>
          <a:xfrm>
            <a:off x="2616785" y="116229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8" name="Oval 27"/>
          <p:cNvSpPr/>
          <p:nvPr/>
        </p:nvSpPr>
        <p:spPr>
          <a:xfrm>
            <a:off x="2519463" y="116229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9" name="Oval 28"/>
          <p:cNvSpPr/>
          <p:nvPr/>
        </p:nvSpPr>
        <p:spPr>
          <a:xfrm>
            <a:off x="3595128" y="116229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0" name="Oval 29"/>
          <p:cNvSpPr/>
          <p:nvPr/>
        </p:nvSpPr>
        <p:spPr>
          <a:xfrm>
            <a:off x="3497806" y="116229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1" name="Oval 30"/>
          <p:cNvSpPr/>
          <p:nvPr/>
        </p:nvSpPr>
        <p:spPr>
          <a:xfrm>
            <a:off x="3400484" y="116229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2" name="Oval 31"/>
          <p:cNvSpPr/>
          <p:nvPr/>
        </p:nvSpPr>
        <p:spPr>
          <a:xfrm>
            <a:off x="3303162" y="1162290"/>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3" name="Oval 32"/>
          <p:cNvSpPr/>
          <p:nvPr/>
        </p:nvSpPr>
        <p:spPr>
          <a:xfrm>
            <a:off x="3207408" y="116304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4" name="Oval 33"/>
          <p:cNvSpPr/>
          <p:nvPr/>
        </p:nvSpPr>
        <p:spPr>
          <a:xfrm>
            <a:off x="3110086" y="116304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5" name="Oval 34"/>
          <p:cNvSpPr/>
          <p:nvPr/>
        </p:nvSpPr>
        <p:spPr>
          <a:xfrm>
            <a:off x="3012764" y="116304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6" name="Oval 35"/>
          <p:cNvSpPr/>
          <p:nvPr/>
        </p:nvSpPr>
        <p:spPr>
          <a:xfrm>
            <a:off x="2915442" y="116304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7" name="Oval 36"/>
          <p:cNvSpPr/>
          <p:nvPr/>
        </p:nvSpPr>
        <p:spPr>
          <a:xfrm>
            <a:off x="3971411" y="116068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8" name="Oval 37"/>
          <p:cNvSpPr/>
          <p:nvPr/>
        </p:nvSpPr>
        <p:spPr>
          <a:xfrm>
            <a:off x="3874089" y="116068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9" name="Oval 38"/>
          <p:cNvSpPr/>
          <p:nvPr/>
        </p:nvSpPr>
        <p:spPr>
          <a:xfrm>
            <a:off x="3776767" y="116068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0" name="Oval 39"/>
          <p:cNvSpPr/>
          <p:nvPr/>
        </p:nvSpPr>
        <p:spPr>
          <a:xfrm>
            <a:off x="3679445" y="116068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nvGrpSpPr>
          <p:cNvPr id="41" name="Group 40"/>
          <p:cNvGrpSpPr/>
          <p:nvPr/>
        </p:nvGrpSpPr>
        <p:grpSpPr>
          <a:xfrm>
            <a:off x="2050180" y="1171552"/>
            <a:ext cx="377691" cy="227729"/>
            <a:chOff x="5121064" y="3573935"/>
            <a:chExt cx="377691" cy="227729"/>
          </a:xfrm>
        </p:grpSpPr>
        <p:sp>
          <p:nvSpPr>
            <p:cNvPr id="42" name="Oval 41"/>
            <p:cNvSpPr/>
            <p:nvPr/>
          </p:nvSpPr>
          <p:spPr>
            <a:xfrm>
              <a:off x="5413030"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3" name="Oval 42"/>
            <p:cNvSpPr/>
            <p:nvPr/>
          </p:nvSpPr>
          <p:spPr>
            <a:xfrm>
              <a:off x="5315708"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4" name="Oval 43"/>
            <p:cNvSpPr/>
            <p:nvPr/>
          </p:nvSpPr>
          <p:spPr>
            <a:xfrm>
              <a:off x="5413030"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5" name="Oval 44"/>
            <p:cNvSpPr/>
            <p:nvPr/>
          </p:nvSpPr>
          <p:spPr>
            <a:xfrm>
              <a:off x="5315708"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6" name="Oval 45"/>
            <p:cNvSpPr/>
            <p:nvPr/>
          </p:nvSpPr>
          <p:spPr>
            <a:xfrm>
              <a:off x="5218386"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7" name="Oval 46"/>
            <p:cNvSpPr/>
            <p:nvPr/>
          </p:nvSpPr>
          <p:spPr>
            <a:xfrm>
              <a:off x="5121064"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8" name="Oval 47"/>
            <p:cNvSpPr/>
            <p:nvPr/>
          </p:nvSpPr>
          <p:spPr>
            <a:xfrm>
              <a:off x="5218386"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9" name="Oval 48"/>
            <p:cNvSpPr/>
            <p:nvPr/>
          </p:nvSpPr>
          <p:spPr>
            <a:xfrm>
              <a:off x="5121064"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grpSp>
        <p:nvGrpSpPr>
          <p:cNvPr id="50" name="Group 49"/>
          <p:cNvGrpSpPr/>
          <p:nvPr/>
        </p:nvGrpSpPr>
        <p:grpSpPr>
          <a:xfrm>
            <a:off x="4103623" y="1147425"/>
            <a:ext cx="377691" cy="227729"/>
            <a:chOff x="5121064" y="3573935"/>
            <a:chExt cx="377691" cy="227729"/>
          </a:xfrm>
        </p:grpSpPr>
        <p:sp>
          <p:nvSpPr>
            <p:cNvPr id="51" name="Oval 50"/>
            <p:cNvSpPr/>
            <p:nvPr/>
          </p:nvSpPr>
          <p:spPr>
            <a:xfrm>
              <a:off x="5413030"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2" name="Oval 51"/>
            <p:cNvSpPr/>
            <p:nvPr/>
          </p:nvSpPr>
          <p:spPr>
            <a:xfrm>
              <a:off x="5315708"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3" name="Oval 52"/>
            <p:cNvSpPr/>
            <p:nvPr/>
          </p:nvSpPr>
          <p:spPr>
            <a:xfrm>
              <a:off x="5413030"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4" name="Oval 53"/>
            <p:cNvSpPr/>
            <p:nvPr/>
          </p:nvSpPr>
          <p:spPr>
            <a:xfrm>
              <a:off x="5315708"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5" name="Oval 54"/>
            <p:cNvSpPr/>
            <p:nvPr/>
          </p:nvSpPr>
          <p:spPr>
            <a:xfrm>
              <a:off x="5218386"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6" name="Oval 55"/>
            <p:cNvSpPr/>
            <p:nvPr/>
          </p:nvSpPr>
          <p:spPr>
            <a:xfrm>
              <a:off x="5121064"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7" name="Oval 56"/>
            <p:cNvSpPr/>
            <p:nvPr/>
          </p:nvSpPr>
          <p:spPr>
            <a:xfrm>
              <a:off x="5218386"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58" name="Oval 57"/>
            <p:cNvSpPr/>
            <p:nvPr/>
          </p:nvSpPr>
          <p:spPr>
            <a:xfrm>
              <a:off x="5121064"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grpSp>
        <p:nvGrpSpPr>
          <p:cNvPr id="59" name="Group 58"/>
          <p:cNvGrpSpPr/>
          <p:nvPr/>
        </p:nvGrpSpPr>
        <p:grpSpPr>
          <a:xfrm>
            <a:off x="1083781" y="1777415"/>
            <a:ext cx="460170" cy="102318"/>
            <a:chOff x="4091663" y="4933338"/>
            <a:chExt cx="460170" cy="102318"/>
          </a:xfrm>
        </p:grpSpPr>
        <p:sp>
          <p:nvSpPr>
            <p:cNvPr id="60" name="Oval 59"/>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61" name="Oval 60"/>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62" name="Oval 61"/>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63" name="Oval 62"/>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64" name="Group 63"/>
          <p:cNvGrpSpPr/>
          <p:nvPr/>
        </p:nvGrpSpPr>
        <p:grpSpPr>
          <a:xfrm>
            <a:off x="1591293" y="1790093"/>
            <a:ext cx="460170" cy="102318"/>
            <a:chOff x="4091663" y="4933338"/>
            <a:chExt cx="460170" cy="102318"/>
          </a:xfrm>
        </p:grpSpPr>
        <p:sp>
          <p:nvSpPr>
            <p:cNvPr id="65" name="Oval 64"/>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66" name="Oval 65"/>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67" name="Oval 66"/>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68" name="Oval 67"/>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69" name="Group 68"/>
          <p:cNvGrpSpPr/>
          <p:nvPr/>
        </p:nvGrpSpPr>
        <p:grpSpPr>
          <a:xfrm>
            <a:off x="2116315" y="1790093"/>
            <a:ext cx="460170" cy="102318"/>
            <a:chOff x="4091663" y="4933338"/>
            <a:chExt cx="460170" cy="102318"/>
          </a:xfrm>
        </p:grpSpPr>
        <p:sp>
          <p:nvSpPr>
            <p:cNvPr id="70" name="Oval 69"/>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1" name="Oval 70"/>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2" name="Oval 71"/>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3" name="Oval 72"/>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74" name="Group 73"/>
          <p:cNvGrpSpPr/>
          <p:nvPr/>
        </p:nvGrpSpPr>
        <p:grpSpPr>
          <a:xfrm rot="16200000">
            <a:off x="2474520" y="1683440"/>
            <a:ext cx="460170" cy="102318"/>
            <a:chOff x="4091663" y="4933338"/>
            <a:chExt cx="460170" cy="102318"/>
          </a:xfrm>
        </p:grpSpPr>
        <p:sp>
          <p:nvSpPr>
            <p:cNvPr id="75" name="Oval 74"/>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6" name="Oval 75"/>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7" name="Oval 76"/>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78" name="Oval 77"/>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79" name="Group 78"/>
          <p:cNvGrpSpPr/>
          <p:nvPr/>
        </p:nvGrpSpPr>
        <p:grpSpPr>
          <a:xfrm>
            <a:off x="2790100" y="1480178"/>
            <a:ext cx="460170" cy="102318"/>
            <a:chOff x="4091663" y="4933338"/>
            <a:chExt cx="460170" cy="102318"/>
          </a:xfrm>
        </p:grpSpPr>
        <p:sp>
          <p:nvSpPr>
            <p:cNvPr id="80" name="Oval 79"/>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1" name="Oval 80"/>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2" name="Oval 81"/>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3" name="Oval 82"/>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84" name="Group 83"/>
          <p:cNvGrpSpPr/>
          <p:nvPr/>
        </p:nvGrpSpPr>
        <p:grpSpPr>
          <a:xfrm>
            <a:off x="3366530" y="1481702"/>
            <a:ext cx="460170" cy="102318"/>
            <a:chOff x="4091663" y="4933338"/>
            <a:chExt cx="460170" cy="102318"/>
          </a:xfrm>
        </p:grpSpPr>
        <p:sp>
          <p:nvSpPr>
            <p:cNvPr id="85" name="Oval 84"/>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6" name="Oval 85"/>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7" name="Oval 86"/>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88" name="Oval 87"/>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89" name="Group 88"/>
          <p:cNvGrpSpPr/>
          <p:nvPr/>
        </p:nvGrpSpPr>
        <p:grpSpPr>
          <a:xfrm>
            <a:off x="5096941" y="1795819"/>
            <a:ext cx="460170" cy="102318"/>
            <a:chOff x="4091663" y="4933338"/>
            <a:chExt cx="460170" cy="102318"/>
          </a:xfrm>
        </p:grpSpPr>
        <p:sp>
          <p:nvSpPr>
            <p:cNvPr id="90" name="Oval 89"/>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91" name="Oval 90"/>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92" name="Oval 91"/>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93" name="Oval 92"/>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94" name="Group 93"/>
          <p:cNvGrpSpPr/>
          <p:nvPr/>
        </p:nvGrpSpPr>
        <p:grpSpPr>
          <a:xfrm>
            <a:off x="4583655" y="1802748"/>
            <a:ext cx="460170" cy="102318"/>
            <a:chOff x="4091663" y="4933338"/>
            <a:chExt cx="460170" cy="102318"/>
          </a:xfrm>
        </p:grpSpPr>
        <p:sp>
          <p:nvSpPr>
            <p:cNvPr id="95" name="Oval 94"/>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96" name="Oval 95"/>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97" name="Oval 96"/>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98" name="Oval 97"/>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99" name="Group 98"/>
          <p:cNvGrpSpPr/>
          <p:nvPr/>
        </p:nvGrpSpPr>
        <p:grpSpPr>
          <a:xfrm>
            <a:off x="4054065" y="1802748"/>
            <a:ext cx="460170" cy="102318"/>
            <a:chOff x="4091663" y="4933338"/>
            <a:chExt cx="460170" cy="102318"/>
          </a:xfrm>
        </p:grpSpPr>
        <p:sp>
          <p:nvSpPr>
            <p:cNvPr id="100" name="Oval 99"/>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01" name="Oval 100"/>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02" name="Oval 101"/>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03" name="Oval 102"/>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104" name="Group 103"/>
          <p:cNvGrpSpPr/>
          <p:nvPr/>
        </p:nvGrpSpPr>
        <p:grpSpPr>
          <a:xfrm rot="5400000">
            <a:off x="3654050" y="1663896"/>
            <a:ext cx="460170" cy="102318"/>
            <a:chOff x="4091663" y="4933338"/>
            <a:chExt cx="460170" cy="102318"/>
          </a:xfrm>
        </p:grpSpPr>
        <p:sp>
          <p:nvSpPr>
            <p:cNvPr id="105" name="Oval 104"/>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06" name="Oval 105"/>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07" name="Oval 106"/>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108" name="Oval 107"/>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sp>
        <p:nvSpPr>
          <p:cNvPr id="222" name="Rectangle 221"/>
          <p:cNvSpPr/>
          <p:nvPr/>
        </p:nvSpPr>
        <p:spPr>
          <a:xfrm>
            <a:off x="8005605" y="716195"/>
            <a:ext cx="153055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metal</a:t>
            </a:r>
            <a:endParaRPr lang="sv-SE" dirty="0"/>
          </a:p>
        </p:txBody>
      </p:sp>
      <p:sp>
        <p:nvSpPr>
          <p:cNvPr id="223" name="Rectangle 222"/>
          <p:cNvSpPr/>
          <p:nvPr/>
        </p:nvSpPr>
        <p:spPr>
          <a:xfrm>
            <a:off x="7695308" y="934023"/>
            <a:ext cx="2134545" cy="224626"/>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oxide</a:t>
            </a:r>
            <a:endParaRPr lang="sv-SE" dirty="0"/>
          </a:p>
        </p:txBody>
      </p:sp>
      <p:sp>
        <p:nvSpPr>
          <p:cNvPr id="224" name="Rectangle 223"/>
          <p:cNvSpPr/>
          <p:nvPr/>
        </p:nvSpPr>
        <p:spPr>
          <a:xfrm>
            <a:off x="8005605" y="1288090"/>
            <a:ext cx="1530552" cy="740606"/>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225" name="Rectangle 224"/>
          <p:cNvSpPr/>
          <p:nvPr/>
        </p:nvSpPr>
        <p:spPr>
          <a:xfrm>
            <a:off x="6533133" y="1169323"/>
            <a:ext cx="1460826"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226" name="Rectangle 225"/>
          <p:cNvSpPr/>
          <p:nvPr/>
        </p:nvSpPr>
        <p:spPr>
          <a:xfrm>
            <a:off x="6533132" y="1631257"/>
            <a:ext cx="1530552" cy="397439"/>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7" name="Rectangle 226"/>
          <p:cNvSpPr/>
          <p:nvPr/>
        </p:nvSpPr>
        <p:spPr>
          <a:xfrm>
            <a:off x="9536157" y="1171552"/>
            <a:ext cx="1530552"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228" name="Rectangle 227"/>
          <p:cNvSpPr/>
          <p:nvPr/>
        </p:nvSpPr>
        <p:spPr>
          <a:xfrm>
            <a:off x="9536157" y="1631256"/>
            <a:ext cx="1530552" cy="397440"/>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9" name="Rectangle 228"/>
          <p:cNvSpPr/>
          <p:nvPr/>
        </p:nvSpPr>
        <p:spPr>
          <a:xfrm>
            <a:off x="6901507" y="951909"/>
            <a:ext cx="79380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30" name="Rectangle 229"/>
          <p:cNvSpPr/>
          <p:nvPr/>
        </p:nvSpPr>
        <p:spPr>
          <a:xfrm>
            <a:off x="9829853" y="927681"/>
            <a:ext cx="793802" cy="23975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31" name="Rectangle 230"/>
          <p:cNvSpPr/>
          <p:nvPr/>
        </p:nvSpPr>
        <p:spPr>
          <a:xfrm>
            <a:off x="8609381" y="375034"/>
            <a:ext cx="306398" cy="369332"/>
          </a:xfrm>
          <a:prstGeom prst="rect">
            <a:avLst/>
          </a:prstGeom>
        </p:spPr>
        <p:txBody>
          <a:bodyPr wrap="square">
            <a:spAutoFit/>
          </a:bodyPr>
          <a:lstStyle/>
          <a:p>
            <a:r>
              <a:rPr lang="en-US" dirty="0" smtClean="0"/>
              <a:t>G</a:t>
            </a:r>
            <a:endParaRPr lang="sv-SE" dirty="0"/>
          </a:p>
        </p:txBody>
      </p:sp>
      <p:sp>
        <p:nvSpPr>
          <p:cNvPr id="232" name="Rectangle 231"/>
          <p:cNvSpPr/>
          <p:nvPr/>
        </p:nvSpPr>
        <p:spPr>
          <a:xfrm>
            <a:off x="7151094" y="626657"/>
            <a:ext cx="306398" cy="369332"/>
          </a:xfrm>
          <a:prstGeom prst="rect">
            <a:avLst/>
          </a:prstGeom>
        </p:spPr>
        <p:txBody>
          <a:bodyPr wrap="square">
            <a:spAutoFit/>
          </a:bodyPr>
          <a:lstStyle/>
          <a:p>
            <a:r>
              <a:rPr lang="en-US" dirty="0"/>
              <a:t>S</a:t>
            </a:r>
            <a:endParaRPr lang="sv-SE" dirty="0"/>
          </a:p>
        </p:txBody>
      </p:sp>
      <p:sp>
        <p:nvSpPr>
          <p:cNvPr id="233" name="Rectangle 232"/>
          <p:cNvSpPr/>
          <p:nvPr/>
        </p:nvSpPr>
        <p:spPr>
          <a:xfrm>
            <a:off x="10073555" y="626657"/>
            <a:ext cx="306398" cy="369332"/>
          </a:xfrm>
          <a:prstGeom prst="rect">
            <a:avLst/>
          </a:prstGeom>
        </p:spPr>
        <p:txBody>
          <a:bodyPr wrap="square">
            <a:spAutoFit/>
          </a:bodyPr>
          <a:lstStyle/>
          <a:p>
            <a:r>
              <a:rPr lang="en-US" dirty="0" smtClean="0"/>
              <a:t>D</a:t>
            </a:r>
            <a:endParaRPr lang="sv-SE" dirty="0"/>
          </a:p>
        </p:txBody>
      </p:sp>
      <p:sp>
        <p:nvSpPr>
          <p:cNvPr id="236" name="Rectangle 235"/>
          <p:cNvSpPr/>
          <p:nvPr/>
        </p:nvSpPr>
        <p:spPr>
          <a:xfrm>
            <a:off x="6533131" y="1631256"/>
            <a:ext cx="1472473" cy="167447"/>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smtClean="0"/>
              <a:t>depletion</a:t>
            </a:r>
            <a:endParaRPr lang="sv-SE" sz="1400" dirty="0"/>
          </a:p>
        </p:txBody>
      </p:sp>
      <p:sp>
        <p:nvSpPr>
          <p:cNvPr id="237" name="Rectangle 236"/>
          <p:cNvSpPr/>
          <p:nvPr/>
        </p:nvSpPr>
        <p:spPr>
          <a:xfrm>
            <a:off x="8005604" y="1416324"/>
            <a:ext cx="116038" cy="37492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238" name="Rectangle 237"/>
          <p:cNvSpPr/>
          <p:nvPr/>
        </p:nvSpPr>
        <p:spPr>
          <a:xfrm rot="5400000">
            <a:off x="8632425" y="513404"/>
            <a:ext cx="258483" cy="154897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239" name="Rectangle 238"/>
          <p:cNvSpPr/>
          <p:nvPr/>
        </p:nvSpPr>
        <p:spPr>
          <a:xfrm>
            <a:off x="8892832" y="1416323"/>
            <a:ext cx="643262" cy="37492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240" name="Rectangle 239"/>
          <p:cNvSpPr/>
          <p:nvPr/>
        </p:nvSpPr>
        <p:spPr>
          <a:xfrm>
            <a:off x="9536505" y="1621276"/>
            <a:ext cx="1530141" cy="167447"/>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smtClean="0"/>
              <a:t>depletion</a:t>
            </a:r>
            <a:endParaRPr lang="sv-SE" sz="1400" dirty="0"/>
          </a:p>
        </p:txBody>
      </p:sp>
      <p:grpSp>
        <p:nvGrpSpPr>
          <p:cNvPr id="241" name="Group 240"/>
          <p:cNvGrpSpPr/>
          <p:nvPr/>
        </p:nvGrpSpPr>
        <p:grpSpPr>
          <a:xfrm>
            <a:off x="7540846" y="1192840"/>
            <a:ext cx="377691" cy="227729"/>
            <a:chOff x="5121064" y="3573935"/>
            <a:chExt cx="377691" cy="227729"/>
          </a:xfrm>
        </p:grpSpPr>
        <p:sp>
          <p:nvSpPr>
            <p:cNvPr id="242" name="Oval 241"/>
            <p:cNvSpPr/>
            <p:nvPr/>
          </p:nvSpPr>
          <p:spPr>
            <a:xfrm>
              <a:off x="5413030"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43" name="Oval 242"/>
            <p:cNvSpPr/>
            <p:nvPr/>
          </p:nvSpPr>
          <p:spPr>
            <a:xfrm>
              <a:off x="5315708"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44" name="Oval 243"/>
            <p:cNvSpPr/>
            <p:nvPr/>
          </p:nvSpPr>
          <p:spPr>
            <a:xfrm>
              <a:off x="5413030"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45" name="Oval 244"/>
            <p:cNvSpPr/>
            <p:nvPr/>
          </p:nvSpPr>
          <p:spPr>
            <a:xfrm>
              <a:off x="5315708"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46" name="Oval 245"/>
            <p:cNvSpPr/>
            <p:nvPr/>
          </p:nvSpPr>
          <p:spPr>
            <a:xfrm>
              <a:off x="5218386"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47" name="Oval 246"/>
            <p:cNvSpPr/>
            <p:nvPr/>
          </p:nvSpPr>
          <p:spPr>
            <a:xfrm>
              <a:off x="5121064"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48" name="Oval 247"/>
            <p:cNvSpPr/>
            <p:nvPr/>
          </p:nvSpPr>
          <p:spPr>
            <a:xfrm>
              <a:off x="5218386"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49" name="Oval 248"/>
            <p:cNvSpPr/>
            <p:nvPr/>
          </p:nvSpPr>
          <p:spPr>
            <a:xfrm>
              <a:off x="5121064"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grpSp>
        <p:nvGrpSpPr>
          <p:cNvPr id="250" name="Group 249"/>
          <p:cNvGrpSpPr/>
          <p:nvPr/>
        </p:nvGrpSpPr>
        <p:grpSpPr>
          <a:xfrm>
            <a:off x="9594289" y="1168713"/>
            <a:ext cx="377691" cy="227729"/>
            <a:chOff x="5121064" y="3573935"/>
            <a:chExt cx="377691" cy="227729"/>
          </a:xfrm>
        </p:grpSpPr>
        <p:sp>
          <p:nvSpPr>
            <p:cNvPr id="251" name="Oval 250"/>
            <p:cNvSpPr/>
            <p:nvPr/>
          </p:nvSpPr>
          <p:spPr>
            <a:xfrm>
              <a:off x="5413030"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52" name="Oval 251"/>
            <p:cNvSpPr/>
            <p:nvPr/>
          </p:nvSpPr>
          <p:spPr>
            <a:xfrm>
              <a:off x="5315708"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53" name="Oval 252"/>
            <p:cNvSpPr/>
            <p:nvPr/>
          </p:nvSpPr>
          <p:spPr>
            <a:xfrm>
              <a:off x="5413030"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54" name="Oval 253"/>
            <p:cNvSpPr/>
            <p:nvPr/>
          </p:nvSpPr>
          <p:spPr>
            <a:xfrm>
              <a:off x="5315708"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55" name="Oval 254"/>
            <p:cNvSpPr/>
            <p:nvPr/>
          </p:nvSpPr>
          <p:spPr>
            <a:xfrm>
              <a:off x="5218386"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56" name="Oval 255"/>
            <p:cNvSpPr/>
            <p:nvPr/>
          </p:nvSpPr>
          <p:spPr>
            <a:xfrm>
              <a:off x="5121064"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57" name="Oval 256"/>
            <p:cNvSpPr/>
            <p:nvPr/>
          </p:nvSpPr>
          <p:spPr>
            <a:xfrm>
              <a:off x="5218386"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258" name="Oval 257"/>
            <p:cNvSpPr/>
            <p:nvPr/>
          </p:nvSpPr>
          <p:spPr>
            <a:xfrm>
              <a:off x="5121064"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grpSp>
        <p:nvGrpSpPr>
          <p:cNvPr id="259" name="Group 258"/>
          <p:cNvGrpSpPr/>
          <p:nvPr/>
        </p:nvGrpSpPr>
        <p:grpSpPr>
          <a:xfrm>
            <a:off x="6574447" y="1798703"/>
            <a:ext cx="460170" cy="102318"/>
            <a:chOff x="4091663" y="4933338"/>
            <a:chExt cx="460170" cy="102318"/>
          </a:xfrm>
        </p:grpSpPr>
        <p:sp>
          <p:nvSpPr>
            <p:cNvPr id="260" name="Oval 259"/>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61" name="Oval 260"/>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62" name="Oval 261"/>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63" name="Oval 262"/>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264" name="Group 263"/>
          <p:cNvGrpSpPr/>
          <p:nvPr/>
        </p:nvGrpSpPr>
        <p:grpSpPr>
          <a:xfrm>
            <a:off x="7081959" y="1811381"/>
            <a:ext cx="460170" cy="102318"/>
            <a:chOff x="4091663" y="4933338"/>
            <a:chExt cx="460170" cy="102318"/>
          </a:xfrm>
        </p:grpSpPr>
        <p:sp>
          <p:nvSpPr>
            <p:cNvPr id="265" name="Oval 264"/>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66" name="Oval 265"/>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67" name="Oval 266"/>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68" name="Oval 267"/>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269" name="Group 268"/>
          <p:cNvGrpSpPr/>
          <p:nvPr/>
        </p:nvGrpSpPr>
        <p:grpSpPr>
          <a:xfrm>
            <a:off x="7606981" y="1811381"/>
            <a:ext cx="460170" cy="102318"/>
            <a:chOff x="4091663" y="4933338"/>
            <a:chExt cx="460170" cy="102318"/>
          </a:xfrm>
        </p:grpSpPr>
        <p:sp>
          <p:nvSpPr>
            <p:cNvPr id="270" name="Oval 269"/>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71" name="Oval 270"/>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72" name="Oval 271"/>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73" name="Oval 272"/>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274" name="Group 273"/>
          <p:cNvGrpSpPr/>
          <p:nvPr/>
        </p:nvGrpSpPr>
        <p:grpSpPr>
          <a:xfrm rot="16200000">
            <a:off x="7965186" y="1704728"/>
            <a:ext cx="460170" cy="102318"/>
            <a:chOff x="4091663" y="4933338"/>
            <a:chExt cx="460170" cy="102318"/>
          </a:xfrm>
        </p:grpSpPr>
        <p:sp>
          <p:nvSpPr>
            <p:cNvPr id="275" name="Oval 274"/>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76" name="Oval 275"/>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77" name="Oval 276"/>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78" name="Oval 277"/>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279" name="Group 278"/>
          <p:cNvGrpSpPr/>
          <p:nvPr/>
        </p:nvGrpSpPr>
        <p:grpSpPr>
          <a:xfrm>
            <a:off x="8280766" y="1501466"/>
            <a:ext cx="460170" cy="102318"/>
            <a:chOff x="4091663" y="4933338"/>
            <a:chExt cx="460170" cy="102318"/>
          </a:xfrm>
        </p:grpSpPr>
        <p:sp>
          <p:nvSpPr>
            <p:cNvPr id="280" name="Oval 279"/>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81" name="Oval 280"/>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82" name="Oval 281"/>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83" name="Oval 282"/>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284" name="Group 283"/>
          <p:cNvGrpSpPr/>
          <p:nvPr/>
        </p:nvGrpSpPr>
        <p:grpSpPr>
          <a:xfrm>
            <a:off x="10587607" y="1817107"/>
            <a:ext cx="460170" cy="102318"/>
            <a:chOff x="4091663" y="4933338"/>
            <a:chExt cx="460170" cy="102318"/>
          </a:xfrm>
        </p:grpSpPr>
        <p:sp>
          <p:nvSpPr>
            <p:cNvPr id="285" name="Oval 284"/>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86" name="Oval 285"/>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87" name="Oval 286"/>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88" name="Oval 287"/>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289" name="Group 288"/>
          <p:cNvGrpSpPr/>
          <p:nvPr/>
        </p:nvGrpSpPr>
        <p:grpSpPr>
          <a:xfrm>
            <a:off x="10074321" y="1824036"/>
            <a:ext cx="460170" cy="102318"/>
            <a:chOff x="4091663" y="4933338"/>
            <a:chExt cx="460170" cy="102318"/>
          </a:xfrm>
        </p:grpSpPr>
        <p:sp>
          <p:nvSpPr>
            <p:cNvPr id="290" name="Oval 289"/>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91" name="Oval 290"/>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92" name="Oval 291"/>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93" name="Oval 292"/>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294" name="Group 293"/>
          <p:cNvGrpSpPr/>
          <p:nvPr/>
        </p:nvGrpSpPr>
        <p:grpSpPr>
          <a:xfrm>
            <a:off x="9544731" y="1824036"/>
            <a:ext cx="460170" cy="102318"/>
            <a:chOff x="4091663" y="4933338"/>
            <a:chExt cx="460170" cy="102318"/>
          </a:xfrm>
        </p:grpSpPr>
        <p:sp>
          <p:nvSpPr>
            <p:cNvPr id="295" name="Oval 294"/>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96" name="Oval 295"/>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97" name="Oval 296"/>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298" name="Oval 297"/>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sp>
        <p:nvSpPr>
          <p:cNvPr id="300" name="Right Triangle 299"/>
          <p:cNvSpPr/>
          <p:nvPr/>
        </p:nvSpPr>
        <p:spPr>
          <a:xfrm rot="10800000" flipH="1">
            <a:off x="7978104" y="1162255"/>
            <a:ext cx="1526814" cy="146690"/>
          </a:xfrm>
          <a:prstGeom prst="rtTriangl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i="1" dirty="0"/>
          </a:p>
        </p:txBody>
      </p:sp>
      <p:sp>
        <p:nvSpPr>
          <p:cNvPr id="301" name="Oval 300"/>
          <p:cNvSpPr/>
          <p:nvPr/>
        </p:nvSpPr>
        <p:spPr>
          <a:xfrm>
            <a:off x="8327186" y="117887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02" name="Oval 301"/>
          <p:cNvSpPr/>
          <p:nvPr/>
        </p:nvSpPr>
        <p:spPr>
          <a:xfrm>
            <a:off x="8229864" y="117887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03" name="Oval 302"/>
          <p:cNvSpPr/>
          <p:nvPr/>
        </p:nvSpPr>
        <p:spPr>
          <a:xfrm>
            <a:off x="8132542" y="117887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04" name="Oval 303"/>
          <p:cNvSpPr/>
          <p:nvPr/>
        </p:nvSpPr>
        <p:spPr>
          <a:xfrm>
            <a:off x="8035220" y="117887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nvGrpSpPr>
          <p:cNvPr id="305" name="Group 304"/>
          <p:cNvGrpSpPr/>
          <p:nvPr/>
        </p:nvGrpSpPr>
        <p:grpSpPr>
          <a:xfrm>
            <a:off x="8988901" y="1820502"/>
            <a:ext cx="460170" cy="102318"/>
            <a:chOff x="4091663" y="4933338"/>
            <a:chExt cx="460170" cy="102318"/>
          </a:xfrm>
        </p:grpSpPr>
        <p:sp>
          <p:nvSpPr>
            <p:cNvPr id="306" name="Oval 305"/>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07" name="Oval 306"/>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08" name="Oval 307"/>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09" name="Oval 308"/>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10" name="Group 309"/>
          <p:cNvGrpSpPr/>
          <p:nvPr/>
        </p:nvGrpSpPr>
        <p:grpSpPr>
          <a:xfrm rot="5400000">
            <a:off x="8632044" y="1668279"/>
            <a:ext cx="460170" cy="102318"/>
            <a:chOff x="4091663" y="4933338"/>
            <a:chExt cx="460170" cy="102318"/>
          </a:xfrm>
        </p:grpSpPr>
        <p:sp>
          <p:nvSpPr>
            <p:cNvPr id="311" name="Oval 310"/>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12" name="Oval 311"/>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13" name="Oval 312"/>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14" name="Oval 313"/>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pic>
        <p:nvPicPr>
          <p:cNvPr id="316" name="Picture 315"/>
          <p:cNvPicPr>
            <a:picLocks noChangeAspect="1"/>
          </p:cNvPicPr>
          <p:nvPr/>
        </p:nvPicPr>
        <p:blipFill rotWithShape="1">
          <a:blip r:embed="rId2"/>
          <a:srcRect l="48574" t="58189" r="1834"/>
          <a:stretch/>
        </p:blipFill>
        <p:spPr>
          <a:xfrm>
            <a:off x="4876147" y="5154601"/>
            <a:ext cx="2451419" cy="1544638"/>
          </a:xfrm>
          <a:prstGeom prst="rect">
            <a:avLst/>
          </a:prstGeom>
        </p:spPr>
      </p:pic>
      <mc:AlternateContent xmlns:mc="http://schemas.openxmlformats.org/markup-compatibility/2006" xmlns:a14="http://schemas.microsoft.com/office/drawing/2010/main">
        <mc:Choice Requires="a14">
          <p:sp>
            <p:nvSpPr>
              <p:cNvPr id="318" name="Rectangle 317"/>
              <p:cNvSpPr/>
              <p:nvPr/>
            </p:nvSpPr>
            <p:spPr>
              <a:xfrm>
                <a:off x="2928213" y="101138"/>
                <a:ext cx="9087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7</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8</m:t>
                          </m:r>
                        </m:sub>
                      </m:sSub>
                    </m:oMath>
                  </m:oMathPara>
                </a14:m>
                <a:endParaRPr lang="sv-SE" dirty="0"/>
              </a:p>
            </p:txBody>
          </p:sp>
        </mc:Choice>
        <mc:Fallback xmlns="">
          <p:sp>
            <p:nvSpPr>
              <p:cNvPr id="318" name="Rectangle 317"/>
              <p:cNvSpPr>
                <a:spLocks noRot="1" noChangeAspect="1" noMove="1" noResize="1" noEditPoints="1" noAdjustHandles="1" noChangeArrowheads="1" noChangeShapeType="1" noTextEdit="1"/>
              </p:cNvSpPr>
              <p:nvPr/>
            </p:nvSpPr>
            <p:spPr>
              <a:xfrm>
                <a:off x="2928213" y="101138"/>
                <a:ext cx="908710" cy="369332"/>
              </a:xfrm>
              <a:prstGeom prst="rect">
                <a:avLst/>
              </a:prstGeom>
              <a:blipFill>
                <a:blip r:embed="rId3"/>
                <a:stretch>
                  <a:fillRect b="-1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319" name="Rectangle 318"/>
              <p:cNvSpPr/>
              <p:nvPr/>
            </p:nvSpPr>
            <p:spPr>
              <a:xfrm>
                <a:off x="8404236" y="59398"/>
                <a:ext cx="90390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8</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9</m:t>
                          </m:r>
                        </m:sub>
                      </m:sSub>
                    </m:oMath>
                  </m:oMathPara>
                </a14:m>
                <a:endParaRPr lang="sv-SE" dirty="0"/>
              </a:p>
            </p:txBody>
          </p:sp>
        </mc:Choice>
        <mc:Fallback xmlns="">
          <p:sp>
            <p:nvSpPr>
              <p:cNvPr id="319" name="Rectangle 318"/>
              <p:cNvSpPr>
                <a:spLocks noRot="1" noChangeAspect="1" noMove="1" noResize="1" noEditPoints="1" noAdjustHandles="1" noChangeArrowheads="1" noChangeShapeType="1" noTextEdit="1"/>
              </p:cNvSpPr>
              <p:nvPr/>
            </p:nvSpPr>
            <p:spPr>
              <a:xfrm>
                <a:off x="8404236" y="59398"/>
                <a:ext cx="903901" cy="369332"/>
              </a:xfrm>
              <a:prstGeom prst="rect">
                <a:avLst/>
              </a:prstGeom>
              <a:blipFill>
                <a:blip r:embed="rId4"/>
                <a:stretch>
                  <a:fillRect b="-1667"/>
                </a:stretch>
              </a:blipFill>
            </p:spPr>
            <p:txBody>
              <a:bodyPr/>
              <a:lstStyle/>
              <a:p>
                <a:r>
                  <a:rPr lang="sv-SE">
                    <a:noFill/>
                  </a:rPr>
                  <a:t> </a:t>
                </a:r>
              </a:p>
            </p:txBody>
          </p:sp>
        </mc:Fallback>
      </mc:AlternateContent>
      <p:sp>
        <p:nvSpPr>
          <p:cNvPr id="320" name="Rectangle 319"/>
          <p:cNvSpPr/>
          <p:nvPr/>
        </p:nvSpPr>
        <p:spPr>
          <a:xfrm>
            <a:off x="2451670" y="3207588"/>
            <a:ext cx="153055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metal</a:t>
            </a:r>
            <a:endParaRPr lang="sv-SE" dirty="0"/>
          </a:p>
        </p:txBody>
      </p:sp>
      <p:sp>
        <p:nvSpPr>
          <p:cNvPr id="321" name="Rectangle 320"/>
          <p:cNvSpPr/>
          <p:nvPr/>
        </p:nvSpPr>
        <p:spPr>
          <a:xfrm>
            <a:off x="2141373" y="3425416"/>
            <a:ext cx="2134545" cy="224626"/>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oxide</a:t>
            </a:r>
            <a:endParaRPr lang="sv-SE" dirty="0"/>
          </a:p>
        </p:txBody>
      </p:sp>
      <p:sp>
        <p:nvSpPr>
          <p:cNvPr id="322" name="Rectangle 321"/>
          <p:cNvSpPr/>
          <p:nvPr/>
        </p:nvSpPr>
        <p:spPr>
          <a:xfrm>
            <a:off x="2451670" y="3779483"/>
            <a:ext cx="1530552" cy="740606"/>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323" name="Rectangle 322"/>
          <p:cNvSpPr/>
          <p:nvPr/>
        </p:nvSpPr>
        <p:spPr>
          <a:xfrm>
            <a:off x="979198" y="3660716"/>
            <a:ext cx="1460826"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324" name="Rectangle 323"/>
          <p:cNvSpPr/>
          <p:nvPr/>
        </p:nvSpPr>
        <p:spPr>
          <a:xfrm>
            <a:off x="979197" y="4122650"/>
            <a:ext cx="1530552" cy="397439"/>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25" name="Rectangle 324"/>
          <p:cNvSpPr/>
          <p:nvPr/>
        </p:nvSpPr>
        <p:spPr>
          <a:xfrm>
            <a:off x="3982222" y="3662945"/>
            <a:ext cx="1530552"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326" name="Rectangle 325"/>
          <p:cNvSpPr/>
          <p:nvPr/>
        </p:nvSpPr>
        <p:spPr>
          <a:xfrm>
            <a:off x="3982222" y="4122649"/>
            <a:ext cx="1530552" cy="397440"/>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27" name="Rectangle 326"/>
          <p:cNvSpPr/>
          <p:nvPr/>
        </p:nvSpPr>
        <p:spPr>
          <a:xfrm>
            <a:off x="1347572" y="3443302"/>
            <a:ext cx="79380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28" name="Rectangle 327"/>
          <p:cNvSpPr/>
          <p:nvPr/>
        </p:nvSpPr>
        <p:spPr>
          <a:xfrm>
            <a:off x="4275918" y="3419074"/>
            <a:ext cx="793802" cy="23975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29" name="Rectangle 328"/>
          <p:cNvSpPr/>
          <p:nvPr/>
        </p:nvSpPr>
        <p:spPr>
          <a:xfrm>
            <a:off x="3055446" y="2866427"/>
            <a:ext cx="306398" cy="369332"/>
          </a:xfrm>
          <a:prstGeom prst="rect">
            <a:avLst/>
          </a:prstGeom>
        </p:spPr>
        <p:txBody>
          <a:bodyPr wrap="square">
            <a:spAutoFit/>
          </a:bodyPr>
          <a:lstStyle/>
          <a:p>
            <a:r>
              <a:rPr lang="en-US" dirty="0" smtClean="0"/>
              <a:t>G</a:t>
            </a:r>
            <a:endParaRPr lang="sv-SE" dirty="0"/>
          </a:p>
        </p:txBody>
      </p:sp>
      <p:sp>
        <p:nvSpPr>
          <p:cNvPr id="330" name="Rectangle 329"/>
          <p:cNvSpPr/>
          <p:nvPr/>
        </p:nvSpPr>
        <p:spPr>
          <a:xfrm>
            <a:off x="1597159" y="3118050"/>
            <a:ext cx="306398" cy="369332"/>
          </a:xfrm>
          <a:prstGeom prst="rect">
            <a:avLst/>
          </a:prstGeom>
        </p:spPr>
        <p:txBody>
          <a:bodyPr wrap="square">
            <a:spAutoFit/>
          </a:bodyPr>
          <a:lstStyle/>
          <a:p>
            <a:r>
              <a:rPr lang="en-US" dirty="0"/>
              <a:t>S</a:t>
            </a:r>
            <a:endParaRPr lang="sv-SE" dirty="0"/>
          </a:p>
        </p:txBody>
      </p:sp>
      <p:sp>
        <p:nvSpPr>
          <p:cNvPr id="331" name="Rectangle 330"/>
          <p:cNvSpPr/>
          <p:nvPr/>
        </p:nvSpPr>
        <p:spPr>
          <a:xfrm>
            <a:off x="4519620" y="3118050"/>
            <a:ext cx="306398" cy="369332"/>
          </a:xfrm>
          <a:prstGeom prst="rect">
            <a:avLst/>
          </a:prstGeom>
        </p:spPr>
        <p:txBody>
          <a:bodyPr wrap="square">
            <a:spAutoFit/>
          </a:bodyPr>
          <a:lstStyle/>
          <a:p>
            <a:r>
              <a:rPr lang="en-US" dirty="0" smtClean="0"/>
              <a:t>D</a:t>
            </a:r>
            <a:endParaRPr lang="sv-SE" dirty="0"/>
          </a:p>
        </p:txBody>
      </p:sp>
      <p:sp>
        <p:nvSpPr>
          <p:cNvPr id="334" name="Rectangle 333"/>
          <p:cNvSpPr/>
          <p:nvPr/>
        </p:nvSpPr>
        <p:spPr>
          <a:xfrm>
            <a:off x="979196" y="4122649"/>
            <a:ext cx="1472473" cy="167447"/>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smtClean="0"/>
              <a:t>depletion</a:t>
            </a:r>
            <a:endParaRPr lang="sv-SE" sz="1400" dirty="0"/>
          </a:p>
        </p:txBody>
      </p:sp>
      <p:sp>
        <p:nvSpPr>
          <p:cNvPr id="335" name="Rectangle 334"/>
          <p:cNvSpPr/>
          <p:nvPr/>
        </p:nvSpPr>
        <p:spPr>
          <a:xfrm>
            <a:off x="2451669" y="3907717"/>
            <a:ext cx="116038" cy="37492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336" name="Rectangle 335"/>
          <p:cNvSpPr/>
          <p:nvPr/>
        </p:nvSpPr>
        <p:spPr>
          <a:xfrm rot="5400000">
            <a:off x="3078490" y="3004797"/>
            <a:ext cx="258483" cy="154897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337" name="Rectangle 336"/>
          <p:cNvSpPr/>
          <p:nvPr/>
        </p:nvSpPr>
        <p:spPr>
          <a:xfrm>
            <a:off x="2822648" y="3907716"/>
            <a:ext cx="1159511" cy="374923"/>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338" name="Rectangle 337"/>
          <p:cNvSpPr/>
          <p:nvPr/>
        </p:nvSpPr>
        <p:spPr>
          <a:xfrm>
            <a:off x="3982570" y="4112669"/>
            <a:ext cx="1530141" cy="167447"/>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smtClean="0"/>
              <a:t>depletion</a:t>
            </a:r>
            <a:endParaRPr lang="sv-SE" sz="1400" dirty="0"/>
          </a:p>
        </p:txBody>
      </p:sp>
      <p:grpSp>
        <p:nvGrpSpPr>
          <p:cNvPr id="339" name="Group 338"/>
          <p:cNvGrpSpPr/>
          <p:nvPr/>
        </p:nvGrpSpPr>
        <p:grpSpPr>
          <a:xfrm>
            <a:off x="1986911" y="3684233"/>
            <a:ext cx="377691" cy="227729"/>
            <a:chOff x="5121064" y="3573935"/>
            <a:chExt cx="377691" cy="227729"/>
          </a:xfrm>
        </p:grpSpPr>
        <p:sp>
          <p:nvSpPr>
            <p:cNvPr id="340" name="Oval 339"/>
            <p:cNvSpPr/>
            <p:nvPr/>
          </p:nvSpPr>
          <p:spPr>
            <a:xfrm>
              <a:off x="5413030"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41" name="Oval 340"/>
            <p:cNvSpPr/>
            <p:nvPr/>
          </p:nvSpPr>
          <p:spPr>
            <a:xfrm>
              <a:off x="5315708"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42" name="Oval 341"/>
            <p:cNvSpPr/>
            <p:nvPr/>
          </p:nvSpPr>
          <p:spPr>
            <a:xfrm>
              <a:off x="5413030"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43" name="Oval 342"/>
            <p:cNvSpPr/>
            <p:nvPr/>
          </p:nvSpPr>
          <p:spPr>
            <a:xfrm>
              <a:off x="5315708"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44" name="Oval 343"/>
            <p:cNvSpPr/>
            <p:nvPr/>
          </p:nvSpPr>
          <p:spPr>
            <a:xfrm>
              <a:off x="5218386"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45" name="Oval 344"/>
            <p:cNvSpPr/>
            <p:nvPr/>
          </p:nvSpPr>
          <p:spPr>
            <a:xfrm>
              <a:off x="5121064"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46" name="Oval 345"/>
            <p:cNvSpPr/>
            <p:nvPr/>
          </p:nvSpPr>
          <p:spPr>
            <a:xfrm>
              <a:off x="5218386"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47" name="Oval 346"/>
            <p:cNvSpPr/>
            <p:nvPr/>
          </p:nvSpPr>
          <p:spPr>
            <a:xfrm>
              <a:off x="5121064"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grpSp>
        <p:nvGrpSpPr>
          <p:cNvPr id="348" name="Group 347"/>
          <p:cNvGrpSpPr/>
          <p:nvPr/>
        </p:nvGrpSpPr>
        <p:grpSpPr>
          <a:xfrm>
            <a:off x="4040354" y="3660106"/>
            <a:ext cx="377691" cy="227729"/>
            <a:chOff x="5121064" y="3573935"/>
            <a:chExt cx="377691" cy="227729"/>
          </a:xfrm>
        </p:grpSpPr>
        <p:sp>
          <p:nvSpPr>
            <p:cNvPr id="349" name="Oval 348"/>
            <p:cNvSpPr/>
            <p:nvPr/>
          </p:nvSpPr>
          <p:spPr>
            <a:xfrm>
              <a:off x="5413030"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50" name="Oval 349"/>
            <p:cNvSpPr/>
            <p:nvPr/>
          </p:nvSpPr>
          <p:spPr>
            <a:xfrm>
              <a:off x="5315708"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51" name="Oval 350"/>
            <p:cNvSpPr/>
            <p:nvPr/>
          </p:nvSpPr>
          <p:spPr>
            <a:xfrm>
              <a:off x="5413030"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52" name="Oval 351"/>
            <p:cNvSpPr/>
            <p:nvPr/>
          </p:nvSpPr>
          <p:spPr>
            <a:xfrm>
              <a:off x="5315708"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53" name="Oval 352"/>
            <p:cNvSpPr/>
            <p:nvPr/>
          </p:nvSpPr>
          <p:spPr>
            <a:xfrm>
              <a:off x="5218386"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54" name="Oval 353"/>
            <p:cNvSpPr/>
            <p:nvPr/>
          </p:nvSpPr>
          <p:spPr>
            <a:xfrm>
              <a:off x="5121064" y="357393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55" name="Oval 354"/>
            <p:cNvSpPr/>
            <p:nvPr/>
          </p:nvSpPr>
          <p:spPr>
            <a:xfrm>
              <a:off x="5218386"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56" name="Oval 355"/>
            <p:cNvSpPr/>
            <p:nvPr/>
          </p:nvSpPr>
          <p:spPr>
            <a:xfrm>
              <a:off x="5121064" y="370641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grpSp>
        <p:nvGrpSpPr>
          <p:cNvPr id="357" name="Group 356"/>
          <p:cNvGrpSpPr/>
          <p:nvPr/>
        </p:nvGrpSpPr>
        <p:grpSpPr>
          <a:xfrm>
            <a:off x="1020512" y="4290096"/>
            <a:ext cx="460170" cy="102318"/>
            <a:chOff x="4091663" y="4933338"/>
            <a:chExt cx="460170" cy="102318"/>
          </a:xfrm>
        </p:grpSpPr>
        <p:sp>
          <p:nvSpPr>
            <p:cNvPr id="358" name="Oval 357"/>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59" name="Oval 358"/>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60" name="Oval 359"/>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61" name="Oval 360"/>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62" name="Group 361"/>
          <p:cNvGrpSpPr/>
          <p:nvPr/>
        </p:nvGrpSpPr>
        <p:grpSpPr>
          <a:xfrm>
            <a:off x="1528024" y="4302774"/>
            <a:ext cx="460170" cy="102318"/>
            <a:chOff x="4091663" y="4933338"/>
            <a:chExt cx="460170" cy="102318"/>
          </a:xfrm>
        </p:grpSpPr>
        <p:sp>
          <p:nvSpPr>
            <p:cNvPr id="363" name="Oval 362"/>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64" name="Oval 363"/>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65" name="Oval 364"/>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66" name="Oval 365"/>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67" name="Group 366"/>
          <p:cNvGrpSpPr/>
          <p:nvPr/>
        </p:nvGrpSpPr>
        <p:grpSpPr>
          <a:xfrm>
            <a:off x="2053046" y="4302774"/>
            <a:ext cx="460170" cy="102318"/>
            <a:chOff x="4091663" y="4933338"/>
            <a:chExt cx="460170" cy="102318"/>
          </a:xfrm>
        </p:grpSpPr>
        <p:sp>
          <p:nvSpPr>
            <p:cNvPr id="368" name="Oval 367"/>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69" name="Oval 368"/>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70" name="Oval 369"/>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71" name="Oval 370"/>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72" name="Group 371"/>
          <p:cNvGrpSpPr/>
          <p:nvPr/>
        </p:nvGrpSpPr>
        <p:grpSpPr>
          <a:xfrm rot="16200000">
            <a:off x="2411251" y="4196121"/>
            <a:ext cx="460170" cy="102318"/>
            <a:chOff x="4091663" y="4933338"/>
            <a:chExt cx="460170" cy="102318"/>
          </a:xfrm>
        </p:grpSpPr>
        <p:sp>
          <p:nvSpPr>
            <p:cNvPr id="373" name="Oval 372"/>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74" name="Oval 373"/>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75" name="Oval 374"/>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76" name="Oval 375"/>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77" name="Group 376"/>
          <p:cNvGrpSpPr/>
          <p:nvPr/>
        </p:nvGrpSpPr>
        <p:grpSpPr>
          <a:xfrm>
            <a:off x="5033672" y="4308500"/>
            <a:ext cx="460170" cy="102318"/>
            <a:chOff x="4091663" y="4933338"/>
            <a:chExt cx="460170" cy="102318"/>
          </a:xfrm>
        </p:grpSpPr>
        <p:sp>
          <p:nvSpPr>
            <p:cNvPr id="378" name="Oval 377"/>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79" name="Oval 378"/>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80" name="Oval 379"/>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81" name="Oval 380"/>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82" name="Group 381"/>
          <p:cNvGrpSpPr/>
          <p:nvPr/>
        </p:nvGrpSpPr>
        <p:grpSpPr>
          <a:xfrm>
            <a:off x="4520386" y="4315429"/>
            <a:ext cx="460170" cy="102318"/>
            <a:chOff x="4091663" y="4933338"/>
            <a:chExt cx="460170" cy="102318"/>
          </a:xfrm>
        </p:grpSpPr>
        <p:sp>
          <p:nvSpPr>
            <p:cNvPr id="383" name="Oval 382"/>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84" name="Oval 383"/>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85" name="Oval 384"/>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86" name="Oval 385"/>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387" name="Group 386"/>
          <p:cNvGrpSpPr/>
          <p:nvPr/>
        </p:nvGrpSpPr>
        <p:grpSpPr>
          <a:xfrm>
            <a:off x="3990796" y="4315429"/>
            <a:ext cx="460170" cy="102318"/>
            <a:chOff x="4091663" y="4933338"/>
            <a:chExt cx="460170" cy="102318"/>
          </a:xfrm>
        </p:grpSpPr>
        <p:sp>
          <p:nvSpPr>
            <p:cNvPr id="388" name="Oval 387"/>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89" name="Oval 388"/>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90" name="Oval 389"/>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391" name="Oval 390"/>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sp>
        <p:nvSpPr>
          <p:cNvPr id="394" name="Right Triangle 393"/>
          <p:cNvSpPr/>
          <p:nvPr/>
        </p:nvSpPr>
        <p:spPr>
          <a:xfrm rot="10800000" flipH="1">
            <a:off x="2424170" y="3653648"/>
            <a:ext cx="716100" cy="146690"/>
          </a:xfrm>
          <a:prstGeom prst="rtTriangl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i="1" dirty="0"/>
          </a:p>
        </p:txBody>
      </p:sp>
      <p:sp>
        <p:nvSpPr>
          <p:cNvPr id="395" name="Oval 394"/>
          <p:cNvSpPr/>
          <p:nvPr/>
        </p:nvSpPr>
        <p:spPr>
          <a:xfrm>
            <a:off x="2773251" y="3670268"/>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96" name="Oval 395"/>
          <p:cNvSpPr/>
          <p:nvPr/>
        </p:nvSpPr>
        <p:spPr>
          <a:xfrm>
            <a:off x="2675929" y="3670268"/>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97" name="Oval 396"/>
          <p:cNvSpPr/>
          <p:nvPr/>
        </p:nvSpPr>
        <p:spPr>
          <a:xfrm>
            <a:off x="2578607" y="3670268"/>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398" name="Oval 397"/>
          <p:cNvSpPr/>
          <p:nvPr/>
        </p:nvSpPr>
        <p:spPr>
          <a:xfrm>
            <a:off x="2481285" y="3670268"/>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grpSp>
        <p:nvGrpSpPr>
          <p:cNvPr id="400" name="Group 399"/>
          <p:cNvGrpSpPr/>
          <p:nvPr/>
        </p:nvGrpSpPr>
        <p:grpSpPr>
          <a:xfrm>
            <a:off x="3434966" y="4311895"/>
            <a:ext cx="460170" cy="102318"/>
            <a:chOff x="4091663" y="4933338"/>
            <a:chExt cx="460170" cy="102318"/>
          </a:xfrm>
        </p:grpSpPr>
        <p:sp>
          <p:nvSpPr>
            <p:cNvPr id="401" name="Oval 400"/>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02" name="Oval 401"/>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03" name="Oval 402"/>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04" name="Oval 403"/>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409" name="Group 408"/>
          <p:cNvGrpSpPr/>
          <p:nvPr/>
        </p:nvGrpSpPr>
        <p:grpSpPr>
          <a:xfrm>
            <a:off x="2940777" y="4296604"/>
            <a:ext cx="460170" cy="102318"/>
            <a:chOff x="4091663" y="4933338"/>
            <a:chExt cx="460170" cy="102318"/>
          </a:xfrm>
        </p:grpSpPr>
        <p:sp>
          <p:nvSpPr>
            <p:cNvPr id="410" name="Oval 409"/>
            <p:cNvSpPr/>
            <p:nvPr/>
          </p:nvSpPr>
          <p:spPr>
            <a:xfrm>
              <a:off x="4091663"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11" name="Oval 410"/>
            <p:cNvSpPr/>
            <p:nvPr/>
          </p:nvSpPr>
          <p:spPr>
            <a:xfrm>
              <a:off x="4216478" y="49404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12" name="Oval 411"/>
            <p:cNvSpPr/>
            <p:nvPr/>
          </p:nvSpPr>
          <p:spPr>
            <a:xfrm>
              <a:off x="4341293" y="493333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13" name="Oval 412"/>
            <p:cNvSpPr/>
            <p:nvPr/>
          </p:nvSpPr>
          <p:spPr>
            <a:xfrm>
              <a:off x="4466108" y="493687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mc:AlternateContent xmlns:mc="http://schemas.openxmlformats.org/markup-compatibility/2006" xmlns:a14="http://schemas.microsoft.com/office/drawing/2010/main">
        <mc:Choice Requires="a14">
          <p:sp>
            <p:nvSpPr>
              <p:cNvPr id="414" name="Rectangle 413"/>
              <p:cNvSpPr/>
              <p:nvPr/>
            </p:nvSpPr>
            <p:spPr>
              <a:xfrm>
                <a:off x="2773732" y="2535145"/>
                <a:ext cx="99636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9</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11</m:t>
                          </m:r>
                        </m:sub>
                      </m:sSub>
                    </m:oMath>
                  </m:oMathPara>
                </a14:m>
                <a:endParaRPr lang="sv-SE" dirty="0"/>
              </a:p>
            </p:txBody>
          </p:sp>
        </mc:Choice>
        <mc:Fallback xmlns="">
          <p:sp>
            <p:nvSpPr>
              <p:cNvPr id="414" name="Rectangle 413"/>
              <p:cNvSpPr>
                <a:spLocks noRot="1" noChangeAspect="1" noMove="1" noResize="1" noEditPoints="1" noAdjustHandles="1" noChangeArrowheads="1" noChangeShapeType="1" noTextEdit="1"/>
              </p:cNvSpPr>
              <p:nvPr/>
            </p:nvSpPr>
            <p:spPr>
              <a:xfrm>
                <a:off x="2773732" y="2535145"/>
                <a:ext cx="996363" cy="369332"/>
              </a:xfrm>
              <a:prstGeom prst="rect">
                <a:avLst/>
              </a:prstGeom>
              <a:blipFill>
                <a:blip r:embed="rId5"/>
                <a:stretch>
                  <a:fillRect b="-1667"/>
                </a:stretch>
              </a:blipFill>
            </p:spPr>
            <p:txBody>
              <a:bodyPr/>
              <a:lstStyle/>
              <a:p>
                <a:r>
                  <a:rPr lang="sv-SE">
                    <a:noFill/>
                  </a:rPr>
                  <a:t> </a:t>
                </a:r>
              </a:p>
            </p:txBody>
          </p:sp>
        </mc:Fallback>
      </mc:AlternateContent>
      <p:sp>
        <p:nvSpPr>
          <p:cNvPr id="415" name="Rectangle 414"/>
          <p:cNvSpPr/>
          <p:nvPr/>
        </p:nvSpPr>
        <p:spPr>
          <a:xfrm>
            <a:off x="8118402" y="3330870"/>
            <a:ext cx="153055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metal</a:t>
            </a:r>
            <a:endParaRPr lang="sv-SE" dirty="0"/>
          </a:p>
        </p:txBody>
      </p:sp>
      <p:sp>
        <p:nvSpPr>
          <p:cNvPr id="416" name="Rectangle 415"/>
          <p:cNvSpPr/>
          <p:nvPr/>
        </p:nvSpPr>
        <p:spPr>
          <a:xfrm>
            <a:off x="7808105" y="3548698"/>
            <a:ext cx="2134545" cy="224626"/>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oxide</a:t>
            </a:r>
            <a:endParaRPr lang="sv-SE" dirty="0"/>
          </a:p>
        </p:txBody>
      </p:sp>
      <p:sp>
        <p:nvSpPr>
          <p:cNvPr id="417" name="Rectangle 416"/>
          <p:cNvSpPr/>
          <p:nvPr/>
        </p:nvSpPr>
        <p:spPr>
          <a:xfrm>
            <a:off x="8118402" y="3777435"/>
            <a:ext cx="1530552" cy="748998"/>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p</a:t>
            </a:r>
            <a:endParaRPr lang="sv-SE" dirty="0"/>
          </a:p>
        </p:txBody>
      </p:sp>
      <p:sp>
        <p:nvSpPr>
          <p:cNvPr id="418" name="Rectangle 417"/>
          <p:cNvSpPr/>
          <p:nvPr/>
        </p:nvSpPr>
        <p:spPr>
          <a:xfrm>
            <a:off x="6664174" y="3783998"/>
            <a:ext cx="1454228"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419" name="Rectangle 418"/>
          <p:cNvSpPr/>
          <p:nvPr/>
        </p:nvSpPr>
        <p:spPr>
          <a:xfrm>
            <a:off x="6670107" y="4245932"/>
            <a:ext cx="1506374" cy="289107"/>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20" name="Rectangle 419"/>
          <p:cNvSpPr/>
          <p:nvPr/>
        </p:nvSpPr>
        <p:spPr>
          <a:xfrm>
            <a:off x="9648954" y="3786227"/>
            <a:ext cx="1530552" cy="461933"/>
          </a:xfrm>
          <a:prstGeom prst="rect">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n</a:t>
            </a:r>
            <a:endParaRPr lang="sv-SE" dirty="0"/>
          </a:p>
        </p:txBody>
      </p:sp>
      <p:sp>
        <p:nvSpPr>
          <p:cNvPr id="421" name="Rectangle 420"/>
          <p:cNvSpPr/>
          <p:nvPr/>
        </p:nvSpPr>
        <p:spPr>
          <a:xfrm>
            <a:off x="9648954" y="4245931"/>
            <a:ext cx="1530552" cy="289108"/>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22" name="Rectangle 421"/>
          <p:cNvSpPr/>
          <p:nvPr/>
        </p:nvSpPr>
        <p:spPr>
          <a:xfrm>
            <a:off x="7014304" y="3566584"/>
            <a:ext cx="793802" cy="22462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23" name="Rectangle 422"/>
          <p:cNvSpPr/>
          <p:nvPr/>
        </p:nvSpPr>
        <p:spPr>
          <a:xfrm>
            <a:off x="9942650" y="3542356"/>
            <a:ext cx="793802" cy="23975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24" name="Rectangle 423"/>
          <p:cNvSpPr/>
          <p:nvPr/>
        </p:nvSpPr>
        <p:spPr>
          <a:xfrm>
            <a:off x="8722178" y="2989709"/>
            <a:ext cx="306398" cy="369332"/>
          </a:xfrm>
          <a:prstGeom prst="rect">
            <a:avLst/>
          </a:prstGeom>
        </p:spPr>
        <p:txBody>
          <a:bodyPr wrap="square">
            <a:spAutoFit/>
          </a:bodyPr>
          <a:lstStyle/>
          <a:p>
            <a:r>
              <a:rPr lang="en-US" dirty="0" smtClean="0"/>
              <a:t>G</a:t>
            </a:r>
            <a:endParaRPr lang="sv-SE" dirty="0"/>
          </a:p>
        </p:txBody>
      </p:sp>
      <p:sp>
        <p:nvSpPr>
          <p:cNvPr id="425" name="Rectangle 424"/>
          <p:cNvSpPr/>
          <p:nvPr/>
        </p:nvSpPr>
        <p:spPr>
          <a:xfrm>
            <a:off x="7263891" y="3241332"/>
            <a:ext cx="306398" cy="369332"/>
          </a:xfrm>
          <a:prstGeom prst="rect">
            <a:avLst/>
          </a:prstGeom>
        </p:spPr>
        <p:txBody>
          <a:bodyPr wrap="square">
            <a:spAutoFit/>
          </a:bodyPr>
          <a:lstStyle/>
          <a:p>
            <a:r>
              <a:rPr lang="en-US" dirty="0"/>
              <a:t>S</a:t>
            </a:r>
            <a:endParaRPr lang="sv-SE" dirty="0"/>
          </a:p>
        </p:txBody>
      </p:sp>
      <p:sp>
        <p:nvSpPr>
          <p:cNvPr id="426" name="Rectangle 425"/>
          <p:cNvSpPr/>
          <p:nvPr/>
        </p:nvSpPr>
        <p:spPr>
          <a:xfrm>
            <a:off x="10186352" y="3241332"/>
            <a:ext cx="306398" cy="369332"/>
          </a:xfrm>
          <a:prstGeom prst="rect">
            <a:avLst/>
          </a:prstGeom>
        </p:spPr>
        <p:txBody>
          <a:bodyPr wrap="square">
            <a:spAutoFit/>
          </a:bodyPr>
          <a:lstStyle/>
          <a:p>
            <a:r>
              <a:rPr lang="en-US" dirty="0" smtClean="0"/>
              <a:t>D</a:t>
            </a:r>
            <a:endParaRPr lang="sv-SE" dirty="0"/>
          </a:p>
        </p:txBody>
      </p:sp>
      <p:sp>
        <p:nvSpPr>
          <p:cNvPr id="427" name="Oval 426"/>
          <p:cNvSpPr/>
          <p:nvPr/>
        </p:nvSpPr>
        <p:spPr>
          <a:xfrm>
            <a:off x="7916714" y="383919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28" name="Oval 427"/>
          <p:cNvSpPr/>
          <p:nvPr/>
        </p:nvSpPr>
        <p:spPr>
          <a:xfrm>
            <a:off x="7819392" y="383919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29" name="Oval 428"/>
          <p:cNvSpPr/>
          <p:nvPr/>
        </p:nvSpPr>
        <p:spPr>
          <a:xfrm>
            <a:off x="7916714" y="397167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30" name="Oval 429"/>
          <p:cNvSpPr/>
          <p:nvPr/>
        </p:nvSpPr>
        <p:spPr>
          <a:xfrm>
            <a:off x="7819392" y="397167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31" name="Oval 430"/>
          <p:cNvSpPr/>
          <p:nvPr/>
        </p:nvSpPr>
        <p:spPr>
          <a:xfrm>
            <a:off x="7722070" y="383919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32" name="Oval 431"/>
          <p:cNvSpPr/>
          <p:nvPr/>
        </p:nvSpPr>
        <p:spPr>
          <a:xfrm>
            <a:off x="7624748" y="3839195"/>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33" name="Oval 432"/>
          <p:cNvSpPr/>
          <p:nvPr/>
        </p:nvSpPr>
        <p:spPr>
          <a:xfrm>
            <a:off x="7722070" y="397167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34" name="Oval 433"/>
          <p:cNvSpPr/>
          <p:nvPr/>
        </p:nvSpPr>
        <p:spPr>
          <a:xfrm>
            <a:off x="7624748" y="3971674"/>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35" name="Oval 434"/>
          <p:cNvSpPr/>
          <p:nvPr/>
        </p:nvSpPr>
        <p:spPr>
          <a:xfrm>
            <a:off x="10078686" y="3811048"/>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36" name="Oval 435"/>
          <p:cNvSpPr/>
          <p:nvPr/>
        </p:nvSpPr>
        <p:spPr>
          <a:xfrm>
            <a:off x="9981364" y="3811048"/>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37" name="Oval 436"/>
          <p:cNvSpPr/>
          <p:nvPr/>
        </p:nvSpPr>
        <p:spPr>
          <a:xfrm>
            <a:off x="10078686" y="3943527"/>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38" name="Oval 437"/>
          <p:cNvSpPr/>
          <p:nvPr/>
        </p:nvSpPr>
        <p:spPr>
          <a:xfrm>
            <a:off x="9981364" y="3943527"/>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39" name="Oval 438"/>
          <p:cNvSpPr/>
          <p:nvPr/>
        </p:nvSpPr>
        <p:spPr>
          <a:xfrm>
            <a:off x="9884042" y="3811048"/>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40" name="Oval 439"/>
          <p:cNvSpPr/>
          <p:nvPr/>
        </p:nvSpPr>
        <p:spPr>
          <a:xfrm>
            <a:off x="9786720" y="3811048"/>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41" name="Oval 440"/>
          <p:cNvSpPr/>
          <p:nvPr/>
        </p:nvSpPr>
        <p:spPr>
          <a:xfrm>
            <a:off x="9884042" y="3943527"/>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42" name="Oval 441"/>
          <p:cNvSpPr/>
          <p:nvPr/>
        </p:nvSpPr>
        <p:spPr>
          <a:xfrm>
            <a:off x="9786720" y="3943527"/>
            <a:ext cx="85725" cy="95250"/>
          </a:xfrm>
          <a:prstGeom prst="ellipse">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sv-SE" dirty="0"/>
          </a:p>
        </p:txBody>
      </p:sp>
      <p:sp>
        <p:nvSpPr>
          <p:cNvPr id="443" name="Oval 442"/>
          <p:cNvSpPr/>
          <p:nvPr/>
        </p:nvSpPr>
        <p:spPr>
          <a:xfrm>
            <a:off x="8216752" y="3846263"/>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44" name="Oval 443"/>
          <p:cNvSpPr/>
          <p:nvPr/>
        </p:nvSpPr>
        <p:spPr>
          <a:xfrm>
            <a:off x="8341567" y="3849797"/>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45" name="Oval 444"/>
          <p:cNvSpPr/>
          <p:nvPr/>
        </p:nvSpPr>
        <p:spPr>
          <a:xfrm>
            <a:off x="8466382" y="384272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46" name="Oval 445"/>
          <p:cNvSpPr/>
          <p:nvPr/>
        </p:nvSpPr>
        <p:spPr>
          <a:xfrm>
            <a:off x="8591197" y="3846263"/>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47" name="Oval 446"/>
          <p:cNvSpPr/>
          <p:nvPr/>
        </p:nvSpPr>
        <p:spPr>
          <a:xfrm>
            <a:off x="8216752" y="397520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48" name="Oval 447"/>
          <p:cNvSpPr/>
          <p:nvPr/>
        </p:nvSpPr>
        <p:spPr>
          <a:xfrm>
            <a:off x="8341567" y="3978742"/>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49" name="Oval 448"/>
          <p:cNvSpPr/>
          <p:nvPr/>
        </p:nvSpPr>
        <p:spPr>
          <a:xfrm>
            <a:off x="8466382" y="397167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50" name="Oval 449"/>
          <p:cNvSpPr/>
          <p:nvPr/>
        </p:nvSpPr>
        <p:spPr>
          <a:xfrm>
            <a:off x="8591197" y="397520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51" name="Oval 450"/>
          <p:cNvSpPr/>
          <p:nvPr/>
        </p:nvSpPr>
        <p:spPr>
          <a:xfrm>
            <a:off x="8866580" y="3838695"/>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52" name="Oval 451"/>
          <p:cNvSpPr/>
          <p:nvPr/>
        </p:nvSpPr>
        <p:spPr>
          <a:xfrm>
            <a:off x="8991395" y="384222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53" name="Oval 452"/>
          <p:cNvSpPr/>
          <p:nvPr/>
        </p:nvSpPr>
        <p:spPr>
          <a:xfrm>
            <a:off x="9116210" y="3835161"/>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54" name="Oval 453"/>
          <p:cNvSpPr/>
          <p:nvPr/>
        </p:nvSpPr>
        <p:spPr>
          <a:xfrm>
            <a:off x="9241025" y="3838695"/>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55" name="Oval 454"/>
          <p:cNvSpPr/>
          <p:nvPr/>
        </p:nvSpPr>
        <p:spPr>
          <a:xfrm>
            <a:off x="8866580" y="3967640"/>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56" name="Oval 455"/>
          <p:cNvSpPr/>
          <p:nvPr/>
        </p:nvSpPr>
        <p:spPr>
          <a:xfrm>
            <a:off x="8991395" y="397117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57" name="Oval 456"/>
          <p:cNvSpPr/>
          <p:nvPr/>
        </p:nvSpPr>
        <p:spPr>
          <a:xfrm>
            <a:off x="9116210" y="3964106"/>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58" name="Oval 457"/>
          <p:cNvSpPr/>
          <p:nvPr/>
        </p:nvSpPr>
        <p:spPr>
          <a:xfrm>
            <a:off x="9241025" y="3967640"/>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nvGrpSpPr>
          <p:cNvPr id="459" name="Group 458"/>
          <p:cNvGrpSpPr/>
          <p:nvPr/>
        </p:nvGrpSpPr>
        <p:grpSpPr>
          <a:xfrm>
            <a:off x="8219543" y="4177513"/>
            <a:ext cx="460170" cy="231263"/>
            <a:chOff x="7192219" y="2137505"/>
            <a:chExt cx="460170" cy="231263"/>
          </a:xfrm>
        </p:grpSpPr>
        <p:sp>
          <p:nvSpPr>
            <p:cNvPr id="460" name="Oval 459"/>
            <p:cNvSpPr/>
            <p:nvPr/>
          </p:nvSpPr>
          <p:spPr>
            <a:xfrm>
              <a:off x="7192219"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61" name="Oval 460"/>
            <p:cNvSpPr/>
            <p:nvPr/>
          </p:nvSpPr>
          <p:spPr>
            <a:xfrm>
              <a:off x="7317034" y="2144573"/>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62" name="Oval 461"/>
            <p:cNvSpPr/>
            <p:nvPr/>
          </p:nvSpPr>
          <p:spPr>
            <a:xfrm>
              <a:off x="7441849" y="2137505"/>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63" name="Oval 462"/>
            <p:cNvSpPr/>
            <p:nvPr/>
          </p:nvSpPr>
          <p:spPr>
            <a:xfrm>
              <a:off x="7566664"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64" name="Oval 463"/>
            <p:cNvSpPr/>
            <p:nvPr/>
          </p:nvSpPr>
          <p:spPr>
            <a:xfrm>
              <a:off x="7192219"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65" name="Oval 464"/>
            <p:cNvSpPr/>
            <p:nvPr/>
          </p:nvSpPr>
          <p:spPr>
            <a:xfrm>
              <a:off x="7317034" y="227351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66" name="Oval 465"/>
            <p:cNvSpPr/>
            <p:nvPr/>
          </p:nvSpPr>
          <p:spPr>
            <a:xfrm>
              <a:off x="7441849" y="2266450"/>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67" name="Oval 466"/>
            <p:cNvSpPr/>
            <p:nvPr/>
          </p:nvSpPr>
          <p:spPr>
            <a:xfrm>
              <a:off x="7566664"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468" name="Group 467"/>
          <p:cNvGrpSpPr/>
          <p:nvPr/>
        </p:nvGrpSpPr>
        <p:grpSpPr>
          <a:xfrm>
            <a:off x="9047215" y="4173729"/>
            <a:ext cx="460170" cy="231263"/>
            <a:chOff x="7192219" y="2137505"/>
            <a:chExt cx="460170" cy="231263"/>
          </a:xfrm>
        </p:grpSpPr>
        <p:sp>
          <p:nvSpPr>
            <p:cNvPr id="469" name="Oval 468"/>
            <p:cNvSpPr/>
            <p:nvPr/>
          </p:nvSpPr>
          <p:spPr>
            <a:xfrm>
              <a:off x="7192219"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70" name="Oval 469"/>
            <p:cNvSpPr/>
            <p:nvPr/>
          </p:nvSpPr>
          <p:spPr>
            <a:xfrm>
              <a:off x="7317034" y="2144573"/>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71" name="Oval 470"/>
            <p:cNvSpPr/>
            <p:nvPr/>
          </p:nvSpPr>
          <p:spPr>
            <a:xfrm>
              <a:off x="7441849" y="2137505"/>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72" name="Oval 471"/>
            <p:cNvSpPr/>
            <p:nvPr/>
          </p:nvSpPr>
          <p:spPr>
            <a:xfrm>
              <a:off x="7566664"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73" name="Oval 472"/>
            <p:cNvSpPr/>
            <p:nvPr/>
          </p:nvSpPr>
          <p:spPr>
            <a:xfrm>
              <a:off x="7192219"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74" name="Oval 473"/>
            <p:cNvSpPr/>
            <p:nvPr/>
          </p:nvSpPr>
          <p:spPr>
            <a:xfrm>
              <a:off x="7317034" y="227351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75" name="Oval 474"/>
            <p:cNvSpPr/>
            <p:nvPr/>
          </p:nvSpPr>
          <p:spPr>
            <a:xfrm>
              <a:off x="7441849" y="2266450"/>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76" name="Oval 475"/>
            <p:cNvSpPr/>
            <p:nvPr/>
          </p:nvSpPr>
          <p:spPr>
            <a:xfrm>
              <a:off x="7566664"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477" name="Group 476"/>
          <p:cNvGrpSpPr/>
          <p:nvPr/>
        </p:nvGrpSpPr>
        <p:grpSpPr>
          <a:xfrm>
            <a:off x="7208262" y="4270263"/>
            <a:ext cx="460170" cy="231263"/>
            <a:chOff x="7192219" y="2137505"/>
            <a:chExt cx="460170" cy="231263"/>
          </a:xfrm>
        </p:grpSpPr>
        <p:sp>
          <p:nvSpPr>
            <p:cNvPr id="478" name="Oval 477"/>
            <p:cNvSpPr/>
            <p:nvPr/>
          </p:nvSpPr>
          <p:spPr>
            <a:xfrm>
              <a:off x="7192219"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79" name="Oval 478"/>
            <p:cNvSpPr/>
            <p:nvPr/>
          </p:nvSpPr>
          <p:spPr>
            <a:xfrm>
              <a:off x="7317034" y="2144573"/>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80" name="Oval 479"/>
            <p:cNvSpPr/>
            <p:nvPr/>
          </p:nvSpPr>
          <p:spPr>
            <a:xfrm>
              <a:off x="7441849" y="2137505"/>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81" name="Oval 480"/>
            <p:cNvSpPr/>
            <p:nvPr/>
          </p:nvSpPr>
          <p:spPr>
            <a:xfrm>
              <a:off x="7566664"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82" name="Oval 481"/>
            <p:cNvSpPr/>
            <p:nvPr/>
          </p:nvSpPr>
          <p:spPr>
            <a:xfrm>
              <a:off x="7192219"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83" name="Oval 482"/>
            <p:cNvSpPr/>
            <p:nvPr/>
          </p:nvSpPr>
          <p:spPr>
            <a:xfrm>
              <a:off x="7317034" y="227351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84" name="Oval 483"/>
            <p:cNvSpPr/>
            <p:nvPr/>
          </p:nvSpPr>
          <p:spPr>
            <a:xfrm>
              <a:off x="7441849" y="2266450"/>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85" name="Oval 484"/>
            <p:cNvSpPr/>
            <p:nvPr/>
          </p:nvSpPr>
          <p:spPr>
            <a:xfrm>
              <a:off x="7566664"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p:grpSp>
        <p:nvGrpSpPr>
          <p:cNvPr id="486" name="Group 485"/>
          <p:cNvGrpSpPr/>
          <p:nvPr/>
        </p:nvGrpSpPr>
        <p:grpSpPr>
          <a:xfrm>
            <a:off x="10157311" y="4263195"/>
            <a:ext cx="460170" cy="231263"/>
            <a:chOff x="7192219" y="2137505"/>
            <a:chExt cx="460170" cy="231263"/>
          </a:xfrm>
        </p:grpSpPr>
        <p:sp>
          <p:nvSpPr>
            <p:cNvPr id="487" name="Oval 486"/>
            <p:cNvSpPr/>
            <p:nvPr/>
          </p:nvSpPr>
          <p:spPr>
            <a:xfrm>
              <a:off x="7192219"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88" name="Oval 487"/>
            <p:cNvSpPr/>
            <p:nvPr/>
          </p:nvSpPr>
          <p:spPr>
            <a:xfrm>
              <a:off x="7317034" y="2144573"/>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89" name="Oval 488"/>
            <p:cNvSpPr/>
            <p:nvPr/>
          </p:nvSpPr>
          <p:spPr>
            <a:xfrm>
              <a:off x="7441849" y="2137505"/>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90" name="Oval 489"/>
            <p:cNvSpPr/>
            <p:nvPr/>
          </p:nvSpPr>
          <p:spPr>
            <a:xfrm>
              <a:off x="7566664" y="2141039"/>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91" name="Oval 490"/>
            <p:cNvSpPr/>
            <p:nvPr/>
          </p:nvSpPr>
          <p:spPr>
            <a:xfrm>
              <a:off x="7192219"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92" name="Oval 491"/>
            <p:cNvSpPr/>
            <p:nvPr/>
          </p:nvSpPr>
          <p:spPr>
            <a:xfrm>
              <a:off x="7317034" y="2273518"/>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93" name="Oval 492"/>
            <p:cNvSpPr/>
            <p:nvPr/>
          </p:nvSpPr>
          <p:spPr>
            <a:xfrm>
              <a:off x="7441849" y="2266450"/>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sp>
          <p:nvSpPr>
            <p:cNvPr id="494" name="Oval 493"/>
            <p:cNvSpPr/>
            <p:nvPr/>
          </p:nvSpPr>
          <p:spPr>
            <a:xfrm>
              <a:off x="7566664" y="2269984"/>
              <a:ext cx="85725" cy="95250"/>
            </a:xfrm>
            <a:prstGeom prst="ellipse">
              <a:avLst/>
            </a:prstGeom>
            <a:solidFill>
              <a:srgbClr val="6298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sv-SE" dirty="0"/>
            </a:p>
          </p:txBody>
        </p:sp>
      </p:grpSp>
      <mc:AlternateContent xmlns:mc="http://schemas.openxmlformats.org/markup-compatibility/2006" xmlns:a14="http://schemas.microsoft.com/office/drawing/2010/main">
        <mc:Choice Requires="a14">
          <p:sp>
            <p:nvSpPr>
              <p:cNvPr id="502" name="Rectangle 501"/>
              <p:cNvSpPr/>
              <p:nvPr/>
            </p:nvSpPr>
            <p:spPr>
              <a:xfrm>
                <a:off x="8553929" y="2612959"/>
                <a:ext cx="109363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12</m:t>
                          </m:r>
                        </m:sub>
                      </m:sSub>
                    </m:oMath>
                  </m:oMathPara>
                </a14:m>
                <a:endParaRPr lang="sv-SE" dirty="0"/>
              </a:p>
            </p:txBody>
          </p:sp>
        </mc:Choice>
        <mc:Fallback xmlns="">
          <p:sp>
            <p:nvSpPr>
              <p:cNvPr id="502" name="Rectangle 501"/>
              <p:cNvSpPr>
                <a:spLocks noRot="1" noChangeAspect="1" noMove="1" noResize="1" noEditPoints="1" noAdjustHandles="1" noChangeArrowheads="1" noChangeShapeType="1" noTextEdit="1"/>
              </p:cNvSpPr>
              <p:nvPr/>
            </p:nvSpPr>
            <p:spPr>
              <a:xfrm>
                <a:off x="8553929" y="2612959"/>
                <a:ext cx="1093633" cy="369332"/>
              </a:xfrm>
              <a:prstGeom prst="rect">
                <a:avLst/>
              </a:prstGeom>
              <a:blipFill>
                <a:blip r:embed="rId6"/>
                <a:stretch>
                  <a:fillRect b="-1667"/>
                </a:stretch>
              </a:blipFill>
            </p:spPr>
            <p:txBody>
              <a:bodyPr/>
              <a:lstStyle/>
              <a:p>
                <a:r>
                  <a:rPr lang="sv-SE">
                    <a:noFill/>
                  </a:rPr>
                  <a:t> </a:t>
                </a:r>
              </a:p>
            </p:txBody>
          </p:sp>
        </mc:Fallback>
      </mc:AlternateContent>
      <p:sp>
        <p:nvSpPr>
          <p:cNvPr id="503" name="Rectangle 502"/>
          <p:cNvSpPr/>
          <p:nvPr/>
        </p:nvSpPr>
        <p:spPr>
          <a:xfrm>
            <a:off x="2523262" y="2017729"/>
            <a:ext cx="1595309" cy="369332"/>
          </a:xfrm>
          <a:prstGeom prst="rect">
            <a:avLst/>
          </a:prstGeom>
        </p:spPr>
        <p:txBody>
          <a:bodyPr wrap="none">
            <a:spAutoFit/>
          </a:bodyPr>
          <a:lstStyle/>
          <a:p>
            <a:r>
              <a:rPr lang="en-US" dirty="0" err="1" smtClean="0"/>
              <a:t>Ohmic</a:t>
            </a:r>
            <a:r>
              <a:rPr lang="en-US" dirty="0" smtClean="0"/>
              <a:t> region</a:t>
            </a:r>
            <a:endParaRPr lang="sv-SE" dirty="0"/>
          </a:p>
        </p:txBody>
      </p:sp>
      <p:sp>
        <p:nvSpPr>
          <p:cNvPr id="504" name="Rectangle 503"/>
          <p:cNvSpPr/>
          <p:nvPr/>
        </p:nvSpPr>
        <p:spPr>
          <a:xfrm>
            <a:off x="7675878" y="2081557"/>
            <a:ext cx="2618024" cy="369332"/>
          </a:xfrm>
          <a:prstGeom prst="rect">
            <a:avLst/>
          </a:prstGeom>
        </p:spPr>
        <p:txBody>
          <a:bodyPr wrap="none">
            <a:spAutoFit/>
          </a:bodyPr>
          <a:lstStyle/>
          <a:p>
            <a:r>
              <a:rPr lang="en-US" dirty="0" smtClean="0"/>
              <a:t>Quasi-saturation region</a:t>
            </a:r>
            <a:endParaRPr lang="sv-SE" dirty="0"/>
          </a:p>
        </p:txBody>
      </p:sp>
      <p:sp>
        <p:nvSpPr>
          <p:cNvPr id="505" name="Rectangle 504"/>
          <p:cNvSpPr/>
          <p:nvPr/>
        </p:nvSpPr>
        <p:spPr>
          <a:xfrm>
            <a:off x="2429475" y="4578117"/>
            <a:ext cx="1970411" cy="369332"/>
          </a:xfrm>
          <a:prstGeom prst="rect">
            <a:avLst/>
          </a:prstGeom>
        </p:spPr>
        <p:txBody>
          <a:bodyPr wrap="none">
            <a:spAutoFit/>
          </a:bodyPr>
          <a:lstStyle/>
          <a:p>
            <a:r>
              <a:rPr lang="en-US" dirty="0" smtClean="0"/>
              <a:t>Saturation region</a:t>
            </a:r>
            <a:endParaRPr lang="sv-SE" dirty="0"/>
          </a:p>
        </p:txBody>
      </p:sp>
      <p:sp>
        <p:nvSpPr>
          <p:cNvPr id="506" name="Rectangle 505"/>
          <p:cNvSpPr/>
          <p:nvPr/>
        </p:nvSpPr>
        <p:spPr>
          <a:xfrm>
            <a:off x="8147734" y="4578117"/>
            <a:ext cx="1681871" cy="369332"/>
          </a:xfrm>
          <a:prstGeom prst="rect">
            <a:avLst/>
          </a:prstGeom>
        </p:spPr>
        <p:txBody>
          <a:bodyPr wrap="none">
            <a:spAutoFit/>
          </a:bodyPr>
          <a:lstStyle/>
          <a:p>
            <a:r>
              <a:rPr lang="en-US" dirty="0" smtClean="0"/>
              <a:t>Cut-off region</a:t>
            </a:r>
            <a:endParaRPr lang="sv-SE" dirty="0"/>
          </a:p>
        </p:txBody>
      </p:sp>
    </p:spTree>
    <p:extLst>
      <p:ext uri="{BB962C8B-B14F-4D97-AF65-F5344CB8AC3E}">
        <p14:creationId xmlns:p14="http://schemas.microsoft.com/office/powerpoint/2010/main" val="42280558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Straight Connector 27"/>
          <p:cNvCxnSpPr/>
          <p:nvPr/>
        </p:nvCxnSpPr>
        <p:spPr>
          <a:xfrm flipH="1">
            <a:off x="1618749" y="1212962"/>
            <a:ext cx="9964" cy="2456941"/>
          </a:xfrm>
          <a:prstGeom prst="line">
            <a:avLst/>
          </a:prstGeom>
          <a:ln>
            <a:headEnd type="triangle"/>
          </a:ln>
        </p:spPr>
        <p:style>
          <a:lnRef idx="2">
            <a:schemeClr val="dk1"/>
          </a:lnRef>
          <a:fillRef idx="0">
            <a:schemeClr val="dk1"/>
          </a:fillRef>
          <a:effectRef idx="1">
            <a:schemeClr val="dk1"/>
          </a:effectRef>
          <a:fontRef idx="minor">
            <a:schemeClr val="tx1"/>
          </a:fontRef>
        </p:style>
      </p:cxnSp>
      <p:cxnSp>
        <p:nvCxnSpPr>
          <p:cNvPr id="29" name="Straight Connector 28"/>
          <p:cNvCxnSpPr/>
          <p:nvPr/>
        </p:nvCxnSpPr>
        <p:spPr>
          <a:xfrm flipV="1">
            <a:off x="680547" y="2536058"/>
            <a:ext cx="2854300" cy="9517"/>
          </a:xfrm>
          <a:prstGeom prst="line">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Connector 30"/>
          <p:cNvCxnSpPr/>
          <p:nvPr/>
        </p:nvCxnSpPr>
        <p:spPr>
          <a:xfrm>
            <a:off x="1628713" y="1890517"/>
            <a:ext cx="834586" cy="0"/>
          </a:xfrm>
          <a:prstGeom prst="line">
            <a:avLst/>
          </a:prstGeom>
          <a:ln w="25400">
            <a:solidFill>
              <a:srgbClr val="0029ED"/>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463299" y="1890517"/>
            <a:ext cx="311150" cy="645541"/>
          </a:xfrm>
          <a:prstGeom prst="line">
            <a:avLst/>
          </a:prstGeom>
          <a:ln w="25400">
            <a:solidFill>
              <a:srgbClr val="0029ED"/>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774449" y="2536058"/>
            <a:ext cx="560204" cy="0"/>
          </a:xfrm>
          <a:prstGeom prst="line">
            <a:avLst/>
          </a:prstGeom>
          <a:ln w="25400">
            <a:solidFill>
              <a:srgbClr val="0029ED"/>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1633256" y="2488211"/>
            <a:ext cx="556199" cy="339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2486505" y="1780979"/>
            <a:ext cx="810232" cy="1061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2189455" y="1780980"/>
            <a:ext cx="297050" cy="70723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H="1">
            <a:off x="2201152" y="1212961"/>
            <a:ext cx="9964" cy="2456941"/>
          </a:xfrm>
          <a:prstGeom prst="line">
            <a:avLst/>
          </a:prstGeom>
          <a:ln>
            <a:prstDash val="sysDash"/>
            <a:headEnd type="none"/>
          </a:ln>
        </p:spPr>
        <p:style>
          <a:lnRef idx="2">
            <a:schemeClr val="dk1"/>
          </a:lnRef>
          <a:fillRef idx="0">
            <a:schemeClr val="dk1"/>
          </a:fillRef>
          <a:effectRef idx="1">
            <a:schemeClr val="dk1"/>
          </a:effectRef>
          <a:fontRef idx="minor">
            <a:schemeClr val="tx1"/>
          </a:fontRef>
        </p:style>
      </p:cxnSp>
      <p:cxnSp>
        <p:nvCxnSpPr>
          <p:cNvPr id="51" name="Straight Connector 50"/>
          <p:cNvCxnSpPr/>
          <p:nvPr/>
        </p:nvCxnSpPr>
        <p:spPr>
          <a:xfrm flipH="1">
            <a:off x="2469920" y="1212959"/>
            <a:ext cx="9964" cy="2456941"/>
          </a:xfrm>
          <a:prstGeom prst="line">
            <a:avLst/>
          </a:prstGeom>
          <a:ln>
            <a:prstDash val="sysDash"/>
            <a:headEnd type="none"/>
          </a:ln>
        </p:spPr>
        <p:style>
          <a:lnRef idx="2">
            <a:schemeClr val="dk1"/>
          </a:lnRef>
          <a:fillRef idx="0">
            <a:schemeClr val="dk1"/>
          </a:fillRef>
          <a:effectRef idx="1">
            <a:schemeClr val="dk1"/>
          </a:effectRef>
          <a:fontRef idx="minor">
            <a:schemeClr val="tx1"/>
          </a:fontRef>
        </p:style>
      </p:cxnSp>
      <p:cxnSp>
        <p:nvCxnSpPr>
          <p:cNvPr id="53" name="Straight Connector 52"/>
          <p:cNvCxnSpPr/>
          <p:nvPr/>
        </p:nvCxnSpPr>
        <p:spPr>
          <a:xfrm flipH="1">
            <a:off x="2773591" y="1212960"/>
            <a:ext cx="9964" cy="2456941"/>
          </a:xfrm>
          <a:prstGeom prst="line">
            <a:avLst/>
          </a:prstGeom>
          <a:ln>
            <a:prstDash val="sysDash"/>
            <a:headEnd type="none"/>
          </a:ln>
        </p:spPr>
        <p:style>
          <a:lnRef idx="2">
            <a:schemeClr val="dk1"/>
          </a:lnRef>
          <a:fillRef idx="0">
            <a:schemeClr val="dk1"/>
          </a:fillRef>
          <a:effectRef idx="1">
            <a:schemeClr val="dk1"/>
          </a:effectRef>
          <a:fontRef idx="minor">
            <a:schemeClr val="tx1"/>
          </a:fontRef>
        </p:style>
      </p:cxnSp>
      <p:sp>
        <p:nvSpPr>
          <p:cNvPr id="54" name="Rectangle 53"/>
          <p:cNvSpPr/>
          <p:nvPr/>
        </p:nvSpPr>
        <p:spPr>
          <a:xfrm>
            <a:off x="3040781" y="2176243"/>
            <a:ext cx="381836" cy="369332"/>
          </a:xfrm>
          <a:prstGeom prst="rect">
            <a:avLst/>
          </a:prstGeom>
        </p:spPr>
        <p:txBody>
          <a:bodyPr wrap="none">
            <a:spAutoFit/>
          </a:bodyPr>
          <a:lstStyle/>
          <a:p>
            <a:r>
              <a:rPr lang="en-US" dirty="0" smtClean="0"/>
              <a:t>Id</a:t>
            </a:r>
            <a:endParaRPr lang="sv-SE" dirty="0"/>
          </a:p>
        </p:txBody>
      </p:sp>
      <p:sp>
        <p:nvSpPr>
          <p:cNvPr id="56" name="Rectangle 55"/>
          <p:cNvSpPr/>
          <p:nvPr/>
        </p:nvSpPr>
        <p:spPr>
          <a:xfrm>
            <a:off x="3040781" y="1422264"/>
            <a:ext cx="587020" cy="369332"/>
          </a:xfrm>
          <a:prstGeom prst="rect">
            <a:avLst/>
          </a:prstGeom>
        </p:spPr>
        <p:txBody>
          <a:bodyPr wrap="none">
            <a:spAutoFit/>
          </a:bodyPr>
          <a:lstStyle/>
          <a:p>
            <a:r>
              <a:rPr lang="en-US" dirty="0" err="1" smtClean="0"/>
              <a:t>Vds</a:t>
            </a:r>
            <a:endParaRPr lang="sv-SE" dirty="0"/>
          </a:p>
        </p:txBody>
      </p:sp>
      <mc:AlternateContent xmlns:mc="http://schemas.openxmlformats.org/markup-compatibility/2006" xmlns:a14="http://schemas.microsoft.com/office/drawing/2010/main">
        <mc:Choice Requires="a14">
          <p:sp>
            <p:nvSpPr>
              <p:cNvPr id="57" name="TextBox 56"/>
              <p:cNvSpPr txBox="1"/>
              <p:nvPr/>
            </p:nvSpPr>
            <p:spPr>
              <a:xfrm>
                <a:off x="1515002" y="4595694"/>
                <a:ext cx="2024592" cy="7937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𝑏𝑢𝑠</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𝐼</m:t>
                              </m:r>
                            </m:e>
                            <m:sub>
                              <m:r>
                                <a:rPr lang="en-US" b="0" i="1" smtClean="0">
                                  <a:latin typeface="Cambria Math" panose="02040503050406030204" pitchFamily="18" charset="0"/>
                                </a:rPr>
                                <m:t>𝑑</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f>
                            <m:fPr>
                              <m:ctrlPr>
                                <a:rPr lang="en-US" b="0" i="1" smtClean="0">
                                  <a:latin typeface="Cambria Math" panose="02040503050406030204" pitchFamily="18" charset="0"/>
                                </a:rPr>
                              </m:ctrlPr>
                            </m:fPr>
                            <m:num>
                              <m:r>
                                <a:rPr lang="en-US" b="0" i="1" smtClean="0">
                                  <a:latin typeface="Cambria Math" panose="02040503050406030204" pitchFamily="18" charset="0"/>
                                </a:rPr>
                                <m:t>𝑑𝑖</m:t>
                              </m:r>
                            </m:num>
                            <m:den>
                              <m:r>
                                <a:rPr lang="en-US" b="0" i="1" smtClean="0">
                                  <a:latin typeface="Cambria Math" panose="02040503050406030204" pitchFamily="18" charset="0"/>
                                </a:rPr>
                                <m:t>𝑑𝑡</m:t>
                              </m:r>
                            </m:den>
                          </m:f>
                        </m:den>
                      </m:f>
                      <m:r>
                        <a:rPr lang="en-US" b="0" i="1" smtClean="0">
                          <a:latin typeface="Cambria Math" panose="02040503050406030204" pitchFamily="18" charset="0"/>
                        </a:rPr>
                        <m:t>+</m:t>
                      </m:r>
                      <m:f>
                        <m:fPr>
                          <m:ctrlPr>
                            <a:rPr lang="en-US" i="1">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i="1">
                                  <a:latin typeface="Cambria Math" panose="02040503050406030204" pitchFamily="18" charset="0"/>
                                </a:rPr>
                                <m:t>𝑉</m:t>
                              </m:r>
                            </m:e>
                            <m:sub>
                              <m:r>
                                <a:rPr lang="en-US" i="1">
                                  <a:latin typeface="Cambria Math" panose="02040503050406030204" pitchFamily="18" charset="0"/>
                                </a:rPr>
                                <m:t>𝑏𝑢𝑠</m:t>
                              </m:r>
                            </m:sub>
                            <m:sup>
                              <m:r>
                                <a:rPr lang="en-US" b="0" i="1" smtClean="0">
                                  <a:latin typeface="Cambria Math" panose="02040503050406030204" pitchFamily="18" charset="0"/>
                                </a:rPr>
                                <m:t>2</m:t>
                              </m:r>
                            </m:sup>
                          </m:sSubSup>
                          <m:sSub>
                            <m:sSubPr>
                              <m:ctrlPr>
                                <a:rPr lang="en-US" b="0" i="1" smtClean="0">
                                  <a:latin typeface="Cambria Math" panose="02040503050406030204" pitchFamily="18" charset="0"/>
                                </a:rPr>
                              </m:ctrlPr>
                            </m:sSubPr>
                            <m:e>
                              <m:r>
                                <a:rPr lang="en-US" i="1" smtClean="0">
                                  <a:latin typeface="Cambria Math" panose="02040503050406030204" pitchFamily="18" charset="0"/>
                                </a:rPr>
                                <m:t>𝐼</m:t>
                              </m:r>
                            </m:e>
                            <m:sub>
                              <m:r>
                                <a:rPr lang="en-US" b="0" i="1" smtClean="0">
                                  <a:latin typeface="Cambria Math" panose="02040503050406030204" pitchFamily="18" charset="0"/>
                                </a:rPr>
                                <m:t>𝑑</m:t>
                              </m:r>
                            </m:sub>
                          </m:sSub>
                        </m:num>
                        <m:den>
                          <m:r>
                            <a:rPr lang="en-US" i="1">
                              <a:latin typeface="Cambria Math" panose="02040503050406030204" pitchFamily="18" charset="0"/>
                            </a:rPr>
                            <m:t>2</m:t>
                          </m:r>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𝑣</m:t>
                              </m:r>
                            </m:num>
                            <m:den>
                              <m:r>
                                <a:rPr lang="en-US" i="1">
                                  <a:latin typeface="Cambria Math" panose="02040503050406030204" pitchFamily="18" charset="0"/>
                                </a:rPr>
                                <m:t>𝑑𝑡</m:t>
                              </m:r>
                            </m:den>
                          </m:f>
                        </m:den>
                      </m:f>
                    </m:oMath>
                  </m:oMathPara>
                </a14:m>
                <a:endParaRPr lang="sv-SE" dirty="0"/>
              </a:p>
            </p:txBody>
          </p:sp>
        </mc:Choice>
        <mc:Fallback xmlns="">
          <p:sp>
            <p:nvSpPr>
              <p:cNvPr id="57" name="TextBox 56"/>
              <p:cNvSpPr txBox="1">
                <a:spLocks noRot="1" noChangeAspect="1" noMove="1" noResize="1" noEditPoints="1" noAdjustHandles="1" noChangeArrowheads="1" noChangeShapeType="1" noTextEdit="1"/>
              </p:cNvSpPr>
              <p:nvPr/>
            </p:nvSpPr>
            <p:spPr>
              <a:xfrm>
                <a:off x="1515002" y="4595694"/>
                <a:ext cx="2024592" cy="793743"/>
              </a:xfrm>
              <a:prstGeom prst="rect">
                <a:avLst/>
              </a:prstGeom>
              <a:blipFill>
                <a:blip r:embed="rId2"/>
                <a:stretch>
                  <a:fillRect/>
                </a:stretch>
              </a:blipFill>
            </p:spPr>
            <p:txBody>
              <a:bodyPr/>
              <a:lstStyle/>
              <a:p>
                <a:r>
                  <a:rPr lang="sv-SE">
                    <a:noFill/>
                  </a:rPr>
                  <a:t> </a:t>
                </a:r>
              </a:p>
            </p:txBody>
          </p:sp>
        </mc:Fallback>
      </mc:AlternateContent>
      <p:sp>
        <p:nvSpPr>
          <p:cNvPr id="60" name="Rectangle 59"/>
          <p:cNvSpPr/>
          <p:nvPr/>
        </p:nvSpPr>
        <p:spPr>
          <a:xfrm>
            <a:off x="1552451" y="3648816"/>
            <a:ext cx="771365" cy="523220"/>
          </a:xfrm>
          <a:prstGeom prst="rect">
            <a:avLst/>
          </a:prstGeom>
        </p:spPr>
        <p:txBody>
          <a:bodyPr wrap="none">
            <a:spAutoFit/>
          </a:bodyPr>
          <a:lstStyle/>
          <a:p>
            <a:r>
              <a:rPr lang="en-US" sz="1400" dirty="0" err="1" smtClean="0"/>
              <a:t>Ohmic</a:t>
            </a:r>
            <a:r>
              <a:rPr lang="en-US" sz="1400" dirty="0" smtClean="0"/>
              <a:t> </a:t>
            </a:r>
          </a:p>
          <a:p>
            <a:r>
              <a:rPr lang="en-US" sz="1400" dirty="0" smtClean="0"/>
              <a:t>Region</a:t>
            </a:r>
            <a:endParaRPr lang="sv-SE" sz="1400" dirty="0"/>
          </a:p>
        </p:txBody>
      </p:sp>
      <p:sp>
        <p:nvSpPr>
          <p:cNvPr id="61" name="Rectangle 60"/>
          <p:cNvSpPr/>
          <p:nvPr/>
        </p:nvSpPr>
        <p:spPr>
          <a:xfrm>
            <a:off x="1642170" y="508752"/>
            <a:ext cx="1566454" cy="523220"/>
          </a:xfrm>
          <a:prstGeom prst="rect">
            <a:avLst/>
          </a:prstGeom>
        </p:spPr>
        <p:txBody>
          <a:bodyPr wrap="none">
            <a:spAutoFit/>
          </a:bodyPr>
          <a:lstStyle/>
          <a:p>
            <a:r>
              <a:rPr lang="en-US" sz="1400" dirty="0" smtClean="0"/>
              <a:t>Saturation and</a:t>
            </a:r>
          </a:p>
          <a:p>
            <a:r>
              <a:rPr lang="en-US" sz="1400" dirty="0" smtClean="0"/>
              <a:t> Quasi-saturation</a:t>
            </a:r>
            <a:endParaRPr lang="sv-SE" sz="1400" dirty="0"/>
          </a:p>
        </p:txBody>
      </p:sp>
      <p:cxnSp>
        <p:nvCxnSpPr>
          <p:cNvPr id="62" name="Straight Connector 61"/>
          <p:cNvCxnSpPr>
            <a:stCxn id="61" idx="2"/>
          </p:cNvCxnSpPr>
          <p:nvPr/>
        </p:nvCxnSpPr>
        <p:spPr>
          <a:xfrm flipH="1">
            <a:off x="2317854" y="1031972"/>
            <a:ext cx="107543" cy="427597"/>
          </a:xfrm>
          <a:prstGeom prst="line">
            <a:avLst/>
          </a:prstGeom>
          <a:ln>
            <a:headEnd type="triangle"/>
          </a:ln>
        </p:spPr>
        <p:style>
          <a:lnRef idx="2">
            <a:schemeClr val="dk1"/>
          </a:lnRef>
          <a:fillRef idx="0">
            <a:schemeClr val="dk1"/>
          </a:fillRef>
          <a:effectRef idx="1">
            <a:schemeClr val="dk1"/>
          </a:effectRef>
          <a:fontRef idx="minor">
            <a:schemeClr val="tx1"/>
          </a:fontRef>
        </p:style>
      </p:cxnSp>
      <p:cxnSp>
        <p:nvCxnSpPr>
          <p:cNvPr id="63" name="Straight Connector 62"/>
          <p:cNvCxnSpPr>
            <a:stCxn id="60" idx="0"/>
          </p:cNvCxnSpPr>
          <p:nvPr/>
        </p:nvCxnSpPr>
        <p:spPr>
          <a:xfrm flipH="1" flipV="1">
            <a:off x="1831532" y="3280520"/>
            <a:ext cx="106602" cy="368296"/>
          </a:xfrm>
          <a:prstGeom prst="line">
            <a:avLst/>
          </a:prstGeom>
          <a:ln>
            <a:headEnd type="triangle"/>
          </a:ln>
        </p:spPr>
        <p:style>
          <a:lnRef idx="2">
            <a:schemeClr val="dk1"/>
          </a:lnRef>
          <a:fillRef idx="0">
            <a:schemeClr val="dk1"/>
          </a:fillRef>
          <a:effectRef idx="1">
            <a:schemeClr val="dk1"/>
          </a:effectRef>
          <a:fontRef idx="minor">
            <a:schemeClr val="tx1"/>
          </a:fontRef>
        </p:style>
      </p:cxnSp>
      <p:cxnSp>
        <p:nvCxnSpPr>
          <p:cNvPr id="64" name="Straight Connector 63"/>
          <p:cNvCxnSpPr/>
          <p:nvPr/>
        </p:nvCxnSpPr>
        <p:spPr>
          <a:xfrm>
            <a:off x="2527298" y="1024533"/>
            <a:ext cx="155325" cy="416749"/>
          </a:xfrm>
          <a:prstGeom prst="line">
            <a:avLst/>
          </a:prstGeom>
          <a:ln>
            <a:headEnd type="triangle"/>
          </a:ln>
        </p:spPr>
        <p:style>
          <a:lnRef idx="2">
            <a:schemeClr val="dk1"/>
          </a:lnRef>
          <a:fillRef idx="0">
            <a:schemeClr val="dk1"/>
          </a:fillRef>
          <a:effectRef idx="1">
            <a:schemeClr val="dk1"/>
          </a:effectRef>
          <a:fontRef idx="minor">
            <a:schemeClr val="tx1"/>
          </a:fontRef>
        </p:style>
      </p:cxnSp>
      <p:sp>
        <p:nvSpPr>
          <p:cNvPr id="65" name="Rectangle 64"/>
          <p:cNvSpPr/>
          <p:nvPr/>
        </p:nvSpPr>
        <p:spPr>
          <a:xfrm>
            <a:off x="2948608" y="3596952"/>
            <a:ext cx="837089" cy="523220"/>
          </a:xfrm>
          <a:prstGeom prst="rect">
            <a:avLst/>
          </a:prstGeom>
        </p:spPr>
        <p:txBody>
          <a:bodyPr wrap="none">
            <a:spAutoFit/>
          </a:bodyPr>
          <a:lstStyle/>
          <a:p>
            <a:r>
              <a:rPr lang="en-US" sz="1400" dirty="0" smtClean="0"/>
              <a:t>Cut-off </a:t>
            </a:r>
          </a:p>
          <a:p>
            <a:r>
              <a:rPr lang="en-US" sz="1400" dirty="0" smtClean="0"/>
              <a:t>region</a:t>
            </a:r>
            <a:endParaRPr lang="sv-SE" sz="1400" dirty="0"/>
          </a:p>
        </p:txBody>
      </p:sp>
      <p:cxnSp>
        <p:nvCxnSpPr>
          <p:cNvPr id="66" name="Straight Connector 65"/>
          <p:cNvCxnSpPr/>
          <p:nvPr/>
        </p:nvCxnSpPr>
        <p:spPr>
          <a:xfrm flipH="1" flipV="1">
            <a:off x="3155323" y="3217632"/>
            <a:ext cx="106602" cy="368296"/>
          </a:xfrm>
          <a:prstGeom prst="line">
            <a:avLst/>
          </a:prstGeom>
          <a:ln>
            <a:head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 name="Rectangle 4"/>
              <p:cNvSpPr/>
              <p:nvPr/>
            </p:nvSpPr>
            <p:spPr>
              <a:xfrm>
                <a:off x="2101761" y="2633334"/>
                <a:ext cx="472437" cy="6182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𝑑𝑖</m:t>
                          </m:r>
                        </m:num>
                        <m:den>
                          <m:r>
                            <a:rPr lang="en-US" i="1">
                              <a:latin typeface="Cambria Math" panose="02040503050406030204" pitchFamily="18" charset="0"/>
                            </a:rPr>
                            <m:t>𝑑𝑡</m:t>
                          </m:r>
                        </m:den>
                      </m:f>
                    </m:oMath>
                  </m:oMathPara>
                </a14:m>
                <a:endParaRPr lang="sv-SE" dirty="0"/>
              </a:p>
            </p:txBody>
          </p:sp>
        </mc:Choice>
        <mc:Fallback xmlns="">
          <p:sp>
            <p:nvSpPr>
              <p:cNvPr id="5" name="Rectangle 4"/>
              <p:cNvSpPr>
                <a:spLocks noRot="1" noChangeAspect="1" noMove="1" noResize="1" noEditPoints="1" noAdjustHandles="1" noChangeArrowheads="1" noChangeShapeType="1" noTextEdit="1"/>
              </p:cNvSpPr>
              <p:nvPr/>
            </p:nvSpPr>
            <p:spPr>
              <a:xfrm>
                <a:off x="2101761" y="2633334"/>
                <a:ext cx="472437" cy="618246"/>
              </a:xfrm>
              <a:prstGeom prst="rect">
                <a:avLst/>
              </a:prstGeom>
              <a:blipFill>
                <a:blip r:embed="rId3"/>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384431" y="2633334"/>
                <a:ext cx="507190" cy="6182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𝑑𝑣</m:t>
                          </m:r>
                        </m:num>
                        <m:den>
                          <m:r>
                            <a:rPr lang="en-US" i="1">
                              <a:latin typeface="Cambria Math" panose="02040503050406030204" pitchFamily="18" charset="0"/>
                            </a:rPr>
                            <m:t>𝑑𝑡</m:t>
                          </m:r>
                        </m:den>
                      </m:f>
                    </m:oMath>
                  </m:oMathPara>
                </a14:m>
                <a:endParaRPr lang="sv-SE" dirty="0"/>
              </a:p>
            </p:txBody>
          </p:sp>
        </mc:Choice>
        <mc:Fallback xmlns="">
          <p:sp>
            <p:nvSpPr>
              <p:cNvPr id="6" name="Rectangle 5"/>
              <p:cNvSpPr>
                <a:spLocks noRot="1" noChangeAspect="1" noMove="1" noResize="1" noEditPoints="1" noAdjustHandles="1" noChangeArrowheads="1" noChangeShapeType="1" noTextEdit="1"/>
              </p:cNvSpPr>
              <p:nvPr/>
            </p:nvSpPr>
            <p:spPr>
              <a:xfrm>
                <a:off x="2384431" y="2633334"/>
                <a:ext cx="507190" cy="618246"/>
              </a:xfrm>
              <a:prstGeom prst="rect">
                <a:avLst/>
              </a:prstGeom>
              <a:blipFill>
                <a:blip r:embed="rId4"/>
                <a:stretch>
                  <a:fillRect/>
                </a:stretch>
              </a:blipFill>
            </p:spPr>
            <p:txBody>
              <a:bodyPr/>
              <a:lstStyle/>
              <a:p>
                <a:r>
                  <a:rPr lang="sv-SE">
                    <a:noFill/>
                  </a:rPr>
                  <a:t> </a:t>
                </a:r>
              </a:p>
            </p:txBody>
          </p:sp>
        </mc:Fallback>
      </mc:AlternateContent>
      <p:pic>
        <p:nvPicPr>
          <p:cNvPr id="7" name="Picture 6"/>
          <p:cNvPicPr>
            <a:picLocks noChangeAspect="1"/>
          </p:cNvPicPr>
          <p:nvPr/>
        </p:nvPicPr>
        <p:blipFill rotWithShape="1">
          <a:blip r:embed="rId5"/>
          <a:srcRect r="86373"/>
          <a:stretch/>
        </p:blipFill>
        <p:spPr>
          <a:xfrm>
            <a:off x="4815716" y="874082"/>
            <a:ext cx="882967" cy="858545"/>
          </a:xfrm>
          <a:prstGeom prst="rect">
            <a:avLst/>
          </a:prstGeom>
        </p:spPr>
      </p:pic>
      <p:pic>
        <p:nvPicPr>
          <p:cNvPr id="8" name="Picture 7"/>
          <p:cNvPicPr>
            <a:picLocks noChangeAspect="1"/>
          </p:cNvPicPr>
          <p:nvPr/>
        </p:nvPicPr>
        <p:blipFill rotWithShape="1">
          <a:blip r:embed="rId6"/>
          <a:srcRect r="87697"/>
          <a:stretch/>
        </p:blipFill>
        <p:spPr>
          <a:xfrm>
            <a:off x="4936381" y="2173977"/>
            <a:ext cx="699135" cy="817845"/>
          </a:xfrm>
          <a:prstGeom prst="rect">
            <a:avLst/>
          </a:prstGeom>
        </p:spPr>
      </p:pic>
      <mc:AlternateContent xmlns:mc="http://schemas.openxmlformats.org/markup-compatibility/2006" xmlns:a14="http://schemas.microsoft.com/office/drawing/2010/main">
        <mc:Choice Requires="a14">
          <p:sp>
            <p:nvSpPr>
              <p:cNvPr id="11" name="Rectangle 10"/>
              <p:cNvSpPr/>
              <p:nvPr/>
            </p:nvSpPr>
            <p:spPr>
              <a:xfrm>
                <a:off x="4618673" y="3393790"/>
                <a:ext cx="6495737" cy="668581"/>
              </a:xfrm>
              <a:prstGeom prst="rect">
                <a:avLst/>
              </a:prstGeom>
            </p:spPr>
            <p:txBody>
              <a:bodyPr wrap="square">
                <a:spAutoFit/>
              </a:bodyPr>
              <a:lstStyle/>
              <a:p>
                <a:pPr marL="285750" indent="-285750">
                  <a:buFont typeface="Arial" panose="020B0604020202020204" pitchFamily="34" charset="0"/>
                  <a:buChar char="•"/>
                </a:pPr>
                <a14:m>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𝑉</m:t>
                        </m:r>
                      </m:e>
                      <m:sub>
                        <m:r>
                          <a:rPr lang="sv-SE" i="1" dirty="0" smtClean="0">
                            <a:latin typeface="Cambria Math" panose="02040503050406030204" pitchFamily="18" charset="0"/>
                          </a:rPr>
                          <m:t>𝑚𝑖𝑙𝑙𝑒𝑟</m:t>
                        </m:r>
                      </m:sub>
                    </m:sSub>
                  </m:oMath>
                </a14:m>
                <a:r>
                  <a:rPr lang="sv-SE" dirty="0" smtClean="0"/>
                  <a:t> </a:t>
                </a:r>
                <a:r>
                  <a:rPr lang="sv-SE" dirty="0"/>
                  <a:t>is the Miller </a:t>
                </a:r>
                <a:r>
                  <a:rPr lang="sv-SE" dirty="0" err="1"/>
                  <a:t>plateau</a:t>
                </a:r>
                <a:r>
                  <a:rPr lang="sv-SE" dirty="0"/>
                  <a:t> </a:t>
                </a:r>
                <a:r>
                  <a:rPr lang="sv-SE" dirty="0" err="1"/>
                  <a:t>voltage</a:t>
                </a:r>
                <a:r>
                  <a:rPr lang="sv-SE" dirty="0"/>
                  <a:t>, </a:t>
                </a:r>
                <a:r>
                  <a:rPr lang="sv-SE" dirty="0" err="1"/>
                  <a:t>which</a:t>
                </a:r>
                <a:r>
                  <a:rPr lang="sv-SE" dirty="0"/>
                  <a:t> is </a:t>
                </a:r>
                <a:r>
                  <a:rPr lang="sv-SE" dirty="0" err="1"/>
                  <a:t>calculated</a:t>
                </a:r>
                <a:r>
                  <a:rPr lang="sv-SE" dirty="0"/>
                  <a:t> is </a:t>
                </a:r>
                <a:r>
                  <a:rPr lang="sv-SE" dirty="0" smtClean="0"/>
                  <a:t>as </a:t>
                </a:r>
                <a14:m>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𝑉</m:t>
                        </m:r>
                      </m:e>
                      <m:sub>
                        <m:r>
                          <a:rPr lang="sv-SE" i="1" dirty="0" smtClean="0">
                            <a:latin typeface="Cambria Math" panose="02040503050406030204" pitchFamily="18" charset="0"/>
                          </a:rPr>
                          <m:t>𝑚𝑖𝑙𝑙𝑒𝑟</m:t>
                        </m:r>
                      </m:sub>
                    </m:sSub>
                    <m:r>
                      <a:rPr lang="sv-SE" i="1" dirty="0">
                        <a:latin typeface="Cambria Math" panose="02040503050406030204" pitchFamily="18" charset="0"/>
                      </a:rPr>
                      <m:t> = </m:t>
                    </m:r>
                    <m:sSub>
                      <m:sSubPr>
                        <m:ctrlPr>
                          <a:rPr lang="en-US" b="0" i="1" dirty="0" smtClean="0">
                            <a:latin typeface="Cambria Math" panose="02040503050406030204" pitchFamily="18" charset="0"/>
                          </a:rPr>
                        </m:ctrlPr>
                      </m:sSubPr>
                      <m:e>
                        <m:r>
                          <a:rPr lang="sv-SE" i="1" dirty="0" err="1">
                            <a:latin typeface="Cambria Math" panose="02040503050406030204" pitchFamily="18" charset="0"/>
                          </a:rPr>
                          <m:t>𝑉</m:t>
                        </m:r>
                      </m:e>
                      <m:sub>
                        <m:r>
                          <a:rPr lang="sv-SE" i="1" dirty="0" err="1">
                            <a:latin typeface="Cambria Math" panose="02040503050406030204" pitchFamily="18" charset="0"/>
                          </a:rPr>
                          <m:t>𝑡h</m:t>
                        </m:r>
                      </m:sub>
                    </m:sSub>
                    <m:r>
                      <a:rPr lang="sv-SE" i="1" dirty="0" err="1">
                        <a:latin typeface="Cambria Math" panose="02040503050406030204" pitchFamily="18" charset="0"/>
                      </a:rPr>
                      <m:t>+</m:t>
                    </m:r>
                    <m:sSub>
                      <m:sSubPr>
                        <m:ctrlPr>
                          <a:rPr lang="en-US" b="0" i="1" dirty="0" smtClean="0">
                            <a:latin typeface="Cambria Math" panose="02040503050406030204" pitchFamily="18" charset="0"/>
                          </a:rPr>
                        </m:ctrlPr>
                      </m:sSubPr>
                      <m:e>
                        <m:r>
                          <a:rPr lang="sv-SE" i="1" dirty="0" err="1">
                            <a:latin typeface="Cambria Math" panose="02040503050406030204" pitchFamily="18" charset="0"/>
                          </a:rPr>
                          <m:t>𝐼</m:t>
                        </m:r>
                      </m:e>
                      <m:sub>
                        <m:r>
                          <a:rPr lang="sv-SE" i="1" dirty="0" err="1">
                            <a:latin typeface="Cambria Math" panose="02040503050406030204" pitchFamily="18" charset="0"/>
                          </a:rPr>
                          <m:t>𝑂</m:t>
                        </m:r>
                      </m:sub>
                    </m:sSub>
                    <m:r>
                      <a:rPr lang="sv-SE" i="1" dirty="0">
                        <a:latin typeface="Cambria Math" panose="02040503050406030204" pitchFamily="18" charset="0"/>
                      </a:rPr>
                      <m:t>/</m:t>
                    </m:r>
                    <m:sSub>
                      <m:sSubPr>
                        <m:ctrlPr>
                          <a:rPr lang="en-US" b="0" i="1" dirty="0" smtClean="0">
                            <a:latin typeface="Cambria Math" panose="02040503050406030204" pitchFamily="18" charset="0"/>
                          </a:rPr>
                        </m:ctrlPr>
                      </m:sSubPr>
                      <m:e>
                        <m:r>
                          <a:rPr lang="sv-SE" i="1" dirty="0" err="1">
                            <a:latin typeface="Cambria Math" panose="02040503050406030204" pitchFamily="18" charset="0"/>
                          </a:rPr>
                          <m:t>𝑔</m:t>
                        </m:r>
                      </m:e>
                      <m:sub>
                        <m:r>
                          <a:rPr lang="sv-SE" i="1" dirty="0" err="1">
                            <a:latin typeface="Cambria Math" panose="02040503050406030204" pitchFamily="18" charset="0"/>
                          </a:rPr>
                          <m:t>𝑓𝑠</m:t>
                        </m:r>
                      </m:sub>
                    </m:sSub>
                    <m:r>
                      <a:rPr lang="sv-SE" i="1" dirty="0">
                        <a:latin typeface="Cambria Math" panose="02040503050406030204" pitchFamily="18" charset="0"/>
                      </a:rPr>
                      <m:t> </m:t>
                    </m:r>
                  </m:oMath>
                </a14:m>
                <a:r>
                  <a:rPr lang="sv-SE" dirty="0"/>
                  <a:t>and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𝑔</m:t>
                        </m:r>
                      </m:e>
                      <m:sub>
                        <m:r>
                          <a:rPr lang="en-US" b="0" i="1" dirty="0" smtClean="0">
                            <a:latin typeface="Cambria Math" panose="02040503050406030204" pitchFamily="18" charset="0"/>
                          </a:rPr>
                          <m:t>𝑓𝑠</m:t>
                        </m:r>
                      </m:sub>
                    </m:sSub>
                  </m:oMath>
                </a14:m>
                <a:r>
                  <a:rPr lang="sv-SE" dirty="0"/>
                  <a:t> is the </a:t>
                </a:r>
                <a:r>
                  <a:rPr lang="sv-SE" dirty="0" err="1" smtClean="0"/>
                  <a:t>transconductance</a:t>
                </a:r>
                <a:r>
                  <a:rPr lang="sv-SE" dirty="0" smtClean="0"/>
                  <a:t>. </a:t>
                </a:r>
                <a:endParaRPr lang="sv-SE" dirty="0"/>
              </a:p>
            </p:txBody>
          </p:sp>
        </mc:Choice>
        <mc:Fallback xmlns="">
          <p:sp>
            <p:nvSpPr>
              <p:cNvPr id="11" name="Rectangle 10"/>
              <p:cNvSpPr>
                <a:spLocks noRot="1" noChangeAspect="1" noMove="1" noResize="1" noEditPoints="1" noAdjustHandles="1" noChangeArrowheads="1" noChangeShapeType="1" noTextEdit="1"/>
              </p:cNvSpPr>
              <p:nvPr/>
            </p:nvSpPr>
            <p:spPr>
              <a:xfrm>
                <a:off x="4618673" y="3393790"/>
                <a:ext cx="6495737" cy="668581"/>
              </a:xfrm>
              <a:prstGeom prst="rect">
                <a:avLst/>
              </a:prstGeom>
              <a:blipFill>
                <a:blip r:embed="rId7"/>
                <a:stretch>
                  <a:fillRect l="-657" t="-5505" r="-188" b="-11009"/>
                </a:stretch>
              </a:blipFill>
            </p:spPr>
            <p:txBody>
              <a:bodyPr/>
              <a:lstStyle/>
              <a:p>
                <a:r>
                  <a:rPr lang="sv-SE">
                    <a:noFill/>
                  </a:rPr>
                  <a:t> </a:t>
                </a:r>
              </a:p>
            </p:txBody>
          </p:sp>
        </mc:Fallback>
      </mc:AlternateContent>
      <p:pic>
        <p:nvPicPr>
          <p:cNvPr id="67" name="Picture 66"/>
          <p:cNvPicPr>
            <a:picLocks noChangeAspect="1"/>
          </p:cNvPicPr>
          <p:nvPr/>
        </p:nvPicPr>
        <p:blipFill rotWithShape="1">
          <a:blip r:embed="rId5"/>
          <a:srcRect l="32208"/>
          <a:stretch/>
        </p:blipFill>
        <p:spPr>
          <a:xfrm>
            <a:off x="5635516" y="882037"/>
            <a:ext cx="4392519" cy="858545"/>
          </a:xfrm>
          <a:prstGeom prst="rect">
            <a:avLst/>
          </a:prstGeom>
        </p:spPr>
      </p:pic>
      <p:pic>
        <p:nvPicPr>
          <p:cNvPr id="68" name="Picture 67"/>
          <p:cNvPicPr>
            <a:picLocks noChangeAspect="1"/>
          </p:cNvPicPr>
          <p:nvPr/>
        </p:nvPicPr>
        <p:blipFill rotWithShape="1">
          <a:blip r:embed="rId6"/>
          <a:srcRect l="40328"/>
          <a:stretch/>
        </p:blipFill>
        <p:spPr>
          <a:xfrm>
            <a:off x="5755838" y="2173414"/>
            <a:ext cx="3390900" cy="817845"/>
          </a:xfrm>
          <a:prstGeom prst="rect">
            <a:avLst/>
          </a:prstGeom>
        </p:spPr>
      </p:pic>
      <mc:AlternateContent xmlns:mc="http://schemas.openxmlformats.org/markup-compatibility/2006" xmlns:a14="http://schemas.microsoft.com/office/drawing/2010/main">
        <mc:Choice Requires="a14">
          <p:sp>
            <p:nvSpPr>
              <p:cNvPr id="70" name="Rectangle 69"/>
              <p:cNvSpPr/>
              <p:nvPr/>
            </p:nvSpPr>
            <p:spPr>
              <a:xfrm>
                <a:off x="4690586" y="4340177"/>
                <a:ext cx="6495737" cy="1222899"/>
              </a:xfrm>
              <a:prstGeom prst="rect">
                <a:avLst/>
              </a:prstGeom>
            </p:spPr>
            <p:txBody>
              <a:bodyPr wrap="square">
                <a:spAutoFit/>
              </a:bodyPr>
              <a:lstStyle/>
              <a:p>
                <a:pPr marL="285750" indent="-285750">
                  <a:buFont typeface="Arial" panose="020B0604020202020204" pitchFamily="34" charset="0"/>
                  <a:buChar char="•"/>
                </a:pP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𝑔</m:t>
                        </m:r>
                      </m:sub>
                    </m:sSub>
                  </m:oMath>
                </a14:m>
                <a:r>
                  <a:rPr lang="sv-SE" dirty="0" smtClean="0"/>
                  <a:t> is the gate </a:t>
                </a:r>
                <a:r>
                  <a:rPr lang="sv-SE" dirty="0" err="1" smtClean="0"/>
                  <a:t>resistance</a:t>
                </a:r>
                <a:r>
                  <a:rPr lang="sv-SE" dirty="0" smtClean="0"/>
                  <a:t>, </a:t>
                </a:r>
                <a:r>
                  <a:rPr lang="sv-SE" dirty="0" err="1" smtClean="0"/>
                  <a:t>both</a:t>
                </a:r>
                <a:r>
                  <a:rPr lang="sv-SE" dirty="0" smtClean="0"/>
                  <a:t> </a:t>
                </a:r>
                <a:r>
                  <a:rPr lang="sv-SE" dirty="0" err="1" smtClean="0"/>
                  <a:t>related</a:t>
                </a:r>
                <a:r>
                  <a:rPr lang="sv-SE" dirty="0" smtClean="0"/>
                  <a:t> to </a:t>
                </a:r>
                <a:r>
                  <a:rPr lang="sv-SE" dirty="0" err="1" smtClean="0"/>
                  <a:t>internal</a:t>
                </a:r>
                <a:r>
                  <a:rPr lang="sv-SE" dirty="0" smtClean="0"/>
                  <a:t> gate </a:t>
                </a:r>
                <a:r>
                  <a:rPr lang="sv-SE" dirty="0" err="1" smtClean="0"/>
                  <a:t>resistance</a:t>
                </a:r>
                <a:r>
                  <a:rPr lang="sv-SE" dirty="0" smtClean="0"/>
                  <a:t> </a:t>
                </a:r>
                <a:r>
                  <a:rPr lang="sv-SE" dirty="0" err="1" smtClean="0"/>
                  <a:t>due</a:t>
                </a:r>
                <a:r>
                  <a:rPr lang="sv-SE" dirty="0" smtClean="0"/>
                  <a:t> to bonding and </a:t>
                </a:r>
                <a:r>
                  <a:rPr lang="sv-SE" dirty="0" err="1" smtClean="0"/>
                  <a:t>also</a:t>
                </a:r>
                <a:r>
                  <a:rPr lang="sv-SE" dirty="0" smtClean="0"/>
                  <a:t> </a:t>
                </a:r>
                <a:r>
                  <a:rPr lang="sv-SE" dirty="0" err="1" smtClean="0"/>
                  <a:t>external</a:t>
                </a:r>
                <a:r>
                  <a:rPr lang="sv-SE" dirty="0" smtClean="0"/>
                  <a:t>  gate drive </a:t>
                </a:r>
                <a:r>
                  <a:rPr lang="sv-SE" dirty="0" err="1" smtClean="0"/>
                  <a:t>resistance</a:t>
                </a:r>
                <a:r>
                  <a:rPr lang="sv-SE" dirty="0" smtClean="0"/>
                  <a:t>.</a:t>
                </a:r>
              </a:p>
              <a:p>
                <a:pPr marL="285750" indent="-285750">
                  <a:buFont typeface="Arial" panose="020B0604020202020204" pitchFamily="34" charset="0"/>
                  <a:buChar char="•"/>
                </a:pP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𝐿</m:t>
                        </m:r>
                      </m:e>
                      <m:sub>
                        <m:r>
                          <a:rPr lang="en-US" b="0" i="1" dirty="0" smtClean="0">
                            <a:latin typeface="Cambria Math" panose="02040503050406030204" pitchFamily="18" charset="0"/>
                          </a:rPr>
                          <m:t>𝑠</m:t>
                        </m:r>
                      </m:sub>
                    </m:sSub>
                    <m:r>
                      <a:rPr lang="en-US" b="0" i="1" dirty="0" smtClean="0">
                        <a:latin typeface="Cambria Math" panose="02040503050406030204" pitchFamily="18" charset="0"/>
                      </a:rPr>
                      <m:t> </m:t>
                    </m:r>
                  </m:oMath>
                </a14:m>
                <a:r>
                  <a:rPr lang="sv-SE" dirty="0" smtClean="0"/>
                  <a:t>is the </a:t>
                </a:r>
                <a:r>
                  <a:rPr lang="sv-SE" dirty="0" err="1" smtClean="0"/>
                  <a:t>parasitic</a:t>
                </a:r>
                <a:r>
                  <a:rPr lang="sv-SE" dirty="0" smtClean="0"/>
                  <a:t> </a:t>
                </a:r>
                <a:r>
                  <a:rPr lang="sv-SE" dirty="0" err="1" smtClean="0"/>
                  <a:t>inductance</a:t>
                </a:r>
                <a:r>
                  <a:rPr lang="sv-SE" dirty="0" smtClean="0"/>
                  <a:t> </a:t>
                </a:r>
                <a:r>
                  <a:rPr lang="sv-SE" dirty="0" err="1" smtClean="0"/>
                  <a:t>due</a:t>
                </a:r>
                <a:r>
                  <a:rPr lang="sv-SE" dirty="0" smtClean="0"/>
                  <a:t> to layout.</a:t>
                </a:r>
                <a:endParaRPr lang="sv-SE" dirty="0"/>
              </a:p>
            </p:txBody>
          </p:sp>
        </mc:Choice>
        <mc:Fallback xmlns="">
          <p:sp>
            <p:nvSpPr>
              <p:cNvPr id="70" name="Rectangle 69"/>
              <p:cNvSpPr>
                <a:spLocks noRot="1" noChangeAspect="1" noMove="1" noResize="1" noEditPoints="1" noAdjustHandles="1" noChangeArrowheads="1" noChangeShapeType="1" noTextEdit="1"/>
              </p:cNvSpPr>
              <p:nvPr/>
            </p:nvSpPr>
            <p:spPr>
              <a:xfrm>
                <a:off x="4690586" y="4340177"/>
                <a:ext cx="6495737" cy="1222899"/>
              </a:xfrm>
              <a:prstGeom prst="rect">
                <a:avLst/>
              </a:prstGeom>
              <a:blipFill>
                <a:blip r:embed="rId8"/>
                <a:stretch>
                  <a:fillRect l="-563" t="-2985" b="-6468"/>
                </a:stretch>
              </a:blipFill>
            </p:spPr>
            <p:txBody>
              <a:bodyPr/>
              <a:lstStyle/>
              <a:p>
                <a:r>
                  <a:rPr lang="sv-SE">
                    <a:noFill/>
                  </a:rPr>
                  <a:t> </a:t>
                </a:r>
              </a:p>
            </p:txBody>
          </p:sp>
        </mc:Fallback>
      </mc:AlternateContent>
      <p:sp>
        <p:nvSpPr>
          <p:cNvPr id="35" name="Rectangle 34"/>
          <p:cNvSpPr/>
          <p:nvPr/>
        </p:nvSpPr>
        <p:spPr>
          <a:xfrm>
            <a:off x="312290" y="6109054"/>
            <a:ext cx="11052998" cy="646331"/>
          </a:xfrm>
          <a:prstGeom prst="rect">
            <a:avLst/>
          </a:prstGeom>
        </p:spPr>
        <p:txBody>
          <a:bodyPr wrap="square">
            <a:spAutoFit/>
          </a:bodyPr>
          <a:lstStyle/>
          <a:p>
            <a:r>
              <a:rPr lang="sv-SE" dirty="0" smtClean="0"/>
              <a:t>[1] </a:t>
            </a:r>
            <a:r>
              <a:rPr lang="en-US" dirty="0"/>
              <a:t>Analytical prediction of switching losses in MOSFETs for variable drain-source voltage and current </a:t>
            </a:r>
            <a:r>
              <a:rPr lang="en-US" dirty="0" smtClean="0"/>
              <a:t>applications</a:t>
            </a:r>
          </a:p>
          <a:p>
            <a:r>
              <a:rPr lang="en-US" dirty="0" smtClean="0"/>
              <a:t>[2] </a:t>
            </a:r>
            <a:r>
              <a:rPr lang="sv-SE" dirty="0"/>
              <a:t>A Review </a:t>
            </a:r>
            <a:r>
              <a:rPr lang="sv-SE" dirty="0" err="1"/>
              <a:t>of</a:t>
            </a:r>
            <a:r>
              <a:rPr lang="sv-SE" dirty="0"/>
              <a:t> </a:t>
            </a:r>
            <a:r>
              <a:rPr lang="sv-SE" dirty="0" err="1"/>
              <a:t>Switching</a:t>
            </a:r>
            <a:r>
              <a:rPr lang="sv-SE" dirty="0"/>
              <a:t> </a:t>
            </a:r>
            <a:r>
              <a:rPr lang="sv-SE" dirty="0" err="1"/>
              <a:t>Slew</a:t>
            </a:r>
            <a:r>
              <a:rPr lang="sv-SE" dirty="0"/>
              <a:t> Rate Control for Silicon Carbide </a:t>
            </a:r>
            <a:r>
              <a:rPr lang="sv-SE" dirty="0" err="1"/>
              <a:t>Devices</a:t>
            </a:r>
            <a:r>
              <a:rPr lang="sv-SE" dirty="0"/>
              <a:t> </a:t>
            </a:r>
            <a:r>
              <a:rPr lang="sv-SE" dirty="0" err="1"/>
              <a:t>Using</a:t>
            </a:r>
            <a:r>
              <a:rPr lang="sv-SE" dirty="0"/>
              <a:t> Active Gate </a:t>
            </a:r>
            <a:r>
              <a:rPr lang="sv-SE" dirty="0" smtClean="0"/>
              <a:t>Drivers</a:t>
            </a:r>
            <a:endParaRPr lang="sv-SE" dirty="0"/>
          </a:p>
        </p:txBody>
      </p:sp>
    </p:spTree>
    <p:extLst>
      <p:ext uri="{BB962C8B-B14F-4D97-AF65-F5344CB8AC3E}">
        <p14:creationId xmlns:p14="http://schemas.microsoft.com/office/powerpoint/2010/main" val="6471660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711" y="1188188"/>
            <a:ext cx="6303189" cy="4801314"/>
          </a:xfrm>
          <a:prstGeom prst="rect">
            <a:avLst/>
          </a:prstGeom>
        </p:spPr>
        <p:txBody>
          <a:bodyPr wrap="square">
            <a:spAutoFit/>
          </a:bodyPr>
          <a:lstStyle/>
          <a:p>
            <a:pPr>
              <a:buFont typeface="+mj-lt"/>
              <a:buAutoNum type="arabicPeriod"/>
            </a:pPr>
            <a:r>
              <a:rPr lang="en-US" b="1" dirty="0">
                <a:solidFill>
                  <a:srgbClr val="374151"/>
                </a:solidFill>
                <a:latin typeface="Söhne"/>
              </a:rPr>
              <a:t>Gate-Source Capacitance (</a:t>
            </a:r>
            <a:r>
              <a:rPr lang="en-US" b="1" dirty="0" err="1">
                <a:solidFill>
                  <a:srgbClr val="374151"/>
                </a:solidFill>
                <a:latin typeface="Söhne"/>
              </a:rPr>
              <a:t>Cgs</a:t>
            </a:r>
            <a:r>
              <a:rPr lang="en-US" b="1" dirty="0">
                <a:solidFill>
                  <a:srgbClr val="374151"/>
                </a:solidFill>
                <a:latin typeface="Söhne"/>
              </a:rPr>
              <a:t>):</a:t>
            </a:r>
            <a:endParaRPr lang="en-US" dirty="0">
              <a:solidFill>
                <a:srgbClr val="374151"/>
              </a:solidFill>
              <a:latin typeface="Söhne"/>
            </a:endParaRPr>
          </a:p>
          <a:p>
            <a:pPr lvl="1"/>
            <a:r>
              <a:rPr lang="en-US" dirty="0" err="1" smtClean="0">
                <a:solidFill>
                  <a:srgbClr val="374151"/>
                </a:solidFill>
                <a:latin typeface="Söhne"/>
              </a:rPr>
              <a:t>Cgs</a:t>
            </a:r>
            <a:r>
              <a:rPr lang="en-US" dirty="0" smtClean="0">
                <a:solidFill>
                  <a:srgbClr val="374151"/>
                </a:solidFill>
                <a:latin typeface="Söhne"/>
              </a:rPr>
              <a:t> </a:t>
            </a:r>
            <a:r>
              <a:rPr lang="en-US" dirty="0">
                <a:solidFill>
                  <a:srgbClr val="374151"/>
                </a:solidFill>
                <a:latin typeface="Söhne"/>
              </a:rPr>
              <a:t>is primarily influenced by </a:t>
            </a:r>
            <a:r>
              <a:rPr lang="en-US" dirty="0" err="1" smtClean="0">
                <a:solidFill>
                  <a:srgbClr val="374151"/>
                </a:solidFill>
                <a:latin typeface="Söhne"/>
              </a:rPr>
              <a:t>Vgs</a:t>
            </a:r>
            <a:r>
              <a:rPr lang="en-US" dirty="0" smtClean="0">
                <a:solidFill>
                  <a:srgbClr val="374151"/>
                </a:solidFill>
                <a:latin typeface="Söhne"/>
              </a:rPr>
              <a:t>, but also be </a:t>
            </a:r>
            <a:r>
              <a:rPr lang="en-US" dirty="0" err="1" smtClean="0">
                <a:solidFill>
                  <a:srgbClr val="374151"/>
                </a:solidFill>
                <a:latin typeface="Söhne"/>
              </a:rPr>
              <a:t>minorly</a:t>
            </a:r>
            <a:r>
              <a:rPr lang="en-US" dirty="0" smtClean="0">
                <a:solidFill>
                  <a:srgbClr val="374151"/>
                </a:solidFill>
                <a:latin typeface="Söhne"/>
              </a:rPr>
              <a:t> effected by </a:t>
            </a:r>
            <a:r>
              <a:rPr lang="en-US" dirty="0" err="1" smtClean="0">
                <a:solidFill>
                  <a:srgbClr val="374151"/>
                </a:solidFill>
                <a:latin typeface="Söhne"/>
              </a:rPr>
              <a:t>Vds</a:t>
            </a:r>
            <a:r>
              <a:rPr lang="en-US" dirty="0" smtClean="0">
                <a:solidFill>
                  <a:srgbClr val="374151"/>
                </a:solidFill>
                <a:latin typeface="Söhne"/>
              </a:rPr>
              <a:t>.</a:t>
            </a:r>
          </a:p>
          <a:p>
            <a:pPr lvl="1"/>
            <a:endParaRPr lang="en-US" dirty="0" smtClean="0">
              <a:solidFill>
                <a:srgbClr val="374151"/>
              </a:solidFill>
              <a:latin typeface="Söhne"/>
            </a:endParaRPr>
          </a:p>
          <a:p>
            <a:pPr marL="285750" indent="-285750">
              <a:buFont typeface="+mj-lt"/>
              <a:buAutoNum type="arabicPeriod"/>
            </a:pPr>
            <a:r>
              <a:rPr lang="en-US" b="1" dirty="0" smtClean="0">
                <a:solidFill>
                  <a:srgbClr val="374151"/>
                </a:solidFill>
                <a:latin typeface="Söhne"/>
              </a:rPr>
              <a:t>Gate-Drain Capacitance (</a:t>
            </a:r>
            <a:r>
              <a:rPr lang="en-US" b="1" dirty="0" err="1" smtClean="0">
                <a:solidFill>
                  <a:srgbClr val="374151"/>
                </a:solidFill>
                <a:latin typeface="Söhne"/>
              </a:rPr>
              <a:t>Cgd</a:t>
            </a:r>
            <a:r>
              <a:rPr lang="en-US" b="1" dirty="0" smtClean="0">
                <a:solidFill>
                  <a:srgbClr val="374151"/>
                </a:solidFill>
                <a:latin typeface="Söhne"/>
              </a:rPr>
              <a:t>):</a:t>
            </a:r>
            <a:endParaRPr lang="en-US" dirty="0" smtClean="0">
              <a:solidFill>
                <a:srgbClr val="374151"/>
              </a:solidFill>
              <a:latin typeface="Söhne"/>
            </a:endParaRPr>
          </a:p>
          <a:p>
            <a:pPr lvl="1"/>
            <a:r>
              <a:rPr lang="en-US" dirty="0" err="1" smtClean="0">
                <a:solidFill>
                  <a:srgbClr val="374151"/>
                </a:solidFill>
                <a:latin typeface="Söhne"/>
              </a:rPr>
              <a:t>Cgd</a:t>
            </a:r>
            <a:r>
              <a:rPr lang="en-US" dirty="0" smtClean="0">
                <a:solidFill>
                  <a:srgbClr val="374151"/>
                </a:solidFill>
                <a:latin typeface="Söhne"/>
              </a:rPr>
              <a:t> </a:t>
            </a:r>
            <a:r>
              <a:rPr lang="en-US" dirty="0">
                <a:solidFill>
                  <a:srgbClr val="374151"/>
                </a:solidFill>
                <a:latin typeface="Söhne"/>
              </a:rPr>
              <a:t>is predominantly dependent on the gate-source voltage (</a:t>
            </a:r>
            <a:r>
              <a:rPr lang="en-US" dirty="0" err="1">
                <a:solidFill>
                  <a:srgbClr val="374151"/>
                </a:solidFill>
                <a:latin typeface="Söhne"/>
              </a:rPr>
              <a:t>Vgs</a:t>
            </a:r>
            <a:r>
              <a:rPr lang="en-US" dirty="0">
                <a:solidFill>
                  <a:srgbClr val="374151"/>
                </a:solidFill>
                <a:latin typeface="Söhne"/>
              </a:rPr>
              <a:t>). </a:t>
            </a:r>
            <a:endParaRPr lang="en-US" dirty="0" smtClean="0">
              <a:solidFill>
                <a:srgbClr val="374151"/>
              </a:solidFill>
              <a:latin typeface="Söhne"/>
            </a:endParaRPr>
          </a:p>
          <a:p>
            <a:pPr lvl="1"/>
            <a:r>
              <a:rPr lang="en-US" dirty="0" smtClean="0">
                <a:solidFill>
                  <a:srgbClr val="374151"/>
                </a:solidFill>
                <a:latin typeface="Söhne"/>
              </a:rPr>
              <a:t>However</a:t>
            </a:r>
            <a:r>
              <a:rPr lang="en-US" dirty="0">
                <a:solidFill>
                  <a:srgbClr val="374151"/>
                </a:solidFill>
                <a:latin typeface="Söhne"/>
              </a:rPr>
              <a:t>, at higher </a:t>
            </a:r>
            <a:r>
              <a:rPr lang="en-US" dirty="0" err="1">
                <a:solidFill>
                  <a:srgbClr val="374151"/>
                </a:solidFill>
                <a:latin typeface="Söhne"/>
              </a:rPr>
              <a:t>Vds</a:t>
            </a:r>
            <a:r>
              <a:rPr lang="en-US" dirty="0">
                <a:solidFill>
                  <a:srgbClr val="374151"/>
                </a:solidFill>
                <a:latin typeface="Söhne"/>
              </a:rPr>
              <a:t>, the effective </a:t>
            </a:r>
            <a:r>
              <a:rPr lang="en-US" dirty="0" err="1">
                <a:solidFill>
                  <a:srgbClr val="374151"/>
                </a:solidFill>
                <a:latin typeface="Söhne"/>
              </a:rPr>
              <a:t>Cgd</a:t>
            </a:r>
            <a:r>
              <a:rPr lang="en-US" dirty="0">
                <a:solidFill>
                  <a:srgbClr val="374151"/>
                </a:solidFill>
                <a:latin typeface="Söhne"/>
              </a:rPr>
              <a:t> can increase due to the reverse-biased </a:t>
            </a:r>
            <a:r>
              <a:rPr lang="en-US" dirty="0" err="1">
                <a:solidFill>
                  <a:srgbClr val="374151"/>
                </a:solidFill>
                <a:latin typeface="Söhne"/>
              </a:rPr>
              <a:t>pn</a:t>
            </a:r>
            <a:r>
              <a:rPr lang="en-US" dirty="0">
                <a:solidFill>
                  <a:srgbClr val="374151"/>
                </a:solidFill>
                <a:latin typeface="Söhne"/>
              </a:rPr>
              <a:t>-junction formed between the gate and drain regions. </a:t>
            </a:r>
            <a:endParaRPr lang="en-US" dirty="0" smtClean="0">
              <a:solidFill>
                <a:srgbClr val="374151"/>
              </a:solidFill>
              <a:latin typeface="Söhne"/>
            </a:endParaRPr>
          </a:p>
          <a:p>
            <a:pPr lvl="1"/>
            <a:r>
              <a:rPr lang="en-US" dirty="0" smtClean="0">
                <a:solidFill>
                  <a:srgbClr val="374151"/>
                </a:solidFill>
                <a:latin typeface="Söhne"/>
              </a:rPr>
              <a:t>This </a:t>
            </a:r>
            <a:r>
              <a:rPr lang="en-US" dirty="0">
                <a:solidFill>
                  <a:srgbClr val="374151"/>
                </a:solidFill>
                <a:latin typeface="Söhne"/>
              </a:rPr>
              <a:t>increase in </a:t>
            </a:r>
            <a:r>
              <a:rPr lang="en-US" dirty="0" err="1">
                <a:solidFill>
                  <a:srgbClr val="374151"/>
                </a:solidFill>
                <a:latin typeface="Söhne"/>
              </a:rPr>
              <a:t>Cgd</a:t>
            </a:r>
            <a:r>
              <a:rPr lang="en-US" dirty="0">
                <a:solidFill>
                  <a:srgbClr val="374151"/>
                </a:solidFill>
                <a:latin typeface="Söhne"/>
              </a:rPr>
              <a:t> with </a:t>
            </a:r>
            <a:r>
              <a:rPr lang="en-US" dirty="0" err="1">
                <a:solidFill>
                  <a:srgbClr val="374151"/>
                </a:solidFill>
                <a:latin typeface="Söhne"/>
              </a:rPr>
              <a:t>Vds</a:t>
            </a:r>
            <a:r>
              <a:rPr lang="en-US" dirty="0">
                <a:solidFill>
                  <a:srgbClr val="374151"/>
                </a:solidFill>
                <a:latin typeface="Söhne"/>
              </a:rPr>
              <a:t> is often referred to as "Miller effect</a:t>
            </a:r>
            <a:r>
              <a:rPr lang="en-US" dirty="0" smtClean="0">
                <a:solidFill>
                  <a:srgbClr val="374151"/>
                </a:solidFill>
                <a:latin typeface="Söhne"/>
              </a:rPr>
              <a:t>.“</a:t>
            </a:r>
          </a:p>
          <a:p>
            <a:pPr lvl="1"/>
            <a:endParaRPr lang="en-US" dirty="0">
              <a:solidFill>
                <a:srgbClr val="374151"/>
              </a:solidFill>
              <a:latin typeface="Söhne"/>
            </a:endParaRPr>
          </a:p>
          <a:p>
            <a:pPr>
              <a:buFont typeface="+mj-lt"/>
              <a:buAutoNum type="arabicPeriod"/>
            </a:pPr>
            <a:r>
              <a:rPr lang="en-US" b="1" dirty="0" smtClean="0">
                <a:solidFill>
                  <a:srgbClr val="374151"/>
                </a:solidFill>
                <a:latin typeface="Söhne"/>
              </a:rPr>
              <a:t>Drain-Source </a:t>
            </a:r>
            <a:r>
              <a:rPr lang="en-US" b="1" dirty="0">
                <a:solidFill>
                  <a:srgbClr val="374151"/>
                </a:solidFill>
                <a:latin typeface="Söhne"/>
              </a:rPr>
              <a:t>Capacitance (</a:t>
            </a:r>
            <a:r>
              <a:rPr lang="en-US" b="1" dirty="0" err="1">
                <a:solidFill>
                  <a:srgbClr val="374151"/>
                </a:solidFill>
                <a:latin typeface="Söhne"/>
              </a:rPr>
              <a:t>Cds</a:t>
            </a:r>
            <a:r>
              <a:rPr lang="en-US" b="1" dirty="0">
                <a:solidFill>
                  <a:srgbClr val="374151"/>
                </a:solidFill>
                <a:latin typeface="Söhne"/>
              </a:rPr>
              <a:t>):</a:t>
            </a:r>
            <a:endParaRPr lang="en-US" dirty="0">
              <a:solidFill>
                <a:srgbClr val="374151"/>
              </a:solidFill>
              <a:latin typeface="Söhne"/>
            </a:endParaRPr>
          </a:p>
          <a:p>
            <a:pPr lvl="1"/>
            <a:r>
              <a:rPr lang="en-US" dirty="0" smtClean="0">
                <a:solidFill>
                  <a:srgbClr val="374151"/>
                </a:solidFill>
                <a:latin typeface="Söhne"/>
              </a:rPr>
              <a:t>The </a:t>
            </a:r>
            <a:r>
              <a:rPr lang="en-US" dirty="0">
                <a:solidFill>
                  <a:srgbClr val="374151"/>
                </a:solidFill>
                <a:latin typeface="Söhne"/>
              </a:rPr>
              <a:t>voltage-dependent capacitance arises due to the changing depletion region in the channel as a function of </a:t>
            </a:r>
            <a:r>
              <a:rPr lang="en-US" dirty="0" err="1">
                <a:solidFill>
                  <a:srgbClr val="374151"/>
                </a:solidFill>
                <a:latin typeface="Söhne"/>
              </a:rPr>
              <a:t>Vgs</a:t>
            </a:r>
            <a:r>
              <a:rPr lang="en-US" dirty="0">
                <a:solidFill>
                  <a:srgbClr val="374151"/>
                </a:solidFill>
                <a:latin typeface="Söhne"/>
              </a:rPr>
              <a:t> and </a:t>
            </a:r>
            <a:r>
              <a:rPr lang="en-US" dirty="0" err="1">
                <a:solidFill>
                  <a:srgbClr val="374151"/>
                </a:solidFill>
                <a:latin typeface="Söhne"/>
              </a:rPr>
              <a:t>Vds</a:t>
            </a:r>
            <a:r>
              <a:rPr lang="en-US" dirty="0" smtClean="0">
                <a:solidFill>
                  <a:srgbClr val="374151"/>
                </a:solidFill>
                <a:latin typeface="Söhne"/>
              </a:rPr>
              <a:t>.</a:t>
            </a:r>
            <a:endParaRPr lang="en-US" dirty="0">
              <a:solidFill>
                <a:srgbClr val="374151"/>
              </a:solidFill>
              <a:latin typeface="Söhne"/>
            </a:endParaRPr>
          </a:p>
        </p:txBody>
      </p:sp>
      <p:sp>
        <p:nvSpPr>
          <p:cNvPr id="6" name="Rectangle 5"/>
          <p:cNvSpPr/>
          <p:nvPr/>
        </p:nvSpPr>
        <p:spPr>
          <a:xfrm>
            <a:off x="342900" y="6185380"/>
            <a:ext cx="7680960" cy="369332"/>
          </a:xfrm>
          <a:prstGeom prst="rect">
            <a:avLst/>
          </a:prstGeom>
        </p:spPr>
        <p:txBody>
          <a:bodyPr wrap="square">
            <a:spAutoFit/>
          </a:bodyPr>
          <a:lstStyle/>
          <a:p>
            <a:r>
              <a:rPr lang="sv-SE" dirty="0"/>
              <a:t>[1] AN11158 </a:t>
            </a:r>
            <a:r>
              <a:rPr lang="sv-SE" dirty="0" err="1"/>
              <a:t>Understanding</a:t>
            </a:r>
            <a:r>
              <a:rPr lang="sv-SE" dirty="0"/>
              <a:t> </a:t>
            </a:r>
            <a:r>
              <a:rPr lang="sv-SE" dirty="0" err="1"/>
              <a:t>power</a:t>
            </a:r>
            <a:r>
              <a:rPr lang="sv-SE" dirty="0"/>
              <a:t> MOSFET data </a:t>
            </a:r>
            <a:r>
              <a:rPr lang="sv-SE" dirty="0" err="1"/>
              <a:t>sheet</a:t>
            </a:r>
            <a:r>
              <a:rPr lang="sv-SE" dirty="0"/>
              <a:t> parameters</a:t>
            </a:r>
          </a:p>
        </p:txBody>
      </p:sp>
      <p:pic>
        <p:nvPicPr>
          <p:cNvPr id="7" name="Picture 6"/>
          <p:cNvPicPr>
            <a:picLocks noChangeAspect="1"/>
          </p:cNvPicPr>
          <p:nvPr/>
        </p:nvPicPr>
        <p:blipFill>
          <a:blip r:embed="rId2"/>
          <a:stretch>
            <a:fillRect/>
          </a:stretch>
        </p:blipFill>
        <p:spPr>
          <a:xfrm>
            <a:off x="6294120" y="622978"/>
            <a:ext cx="3937635" cy="3724487"/>
          </a:xfrm>
          <a:prstGeom prst="rect">
            <a:avLst/>
          </a:prstGeom>
        </p:spPr>
      </p:pic>
      <p:pic>
        <p:nvPicPr>
          <p:cNvPr id="8" name="Picture 7"/>
          <p:cNvPicPr>
            <a:picLocks noChangeAspect="1"/>
          </p:cNvPicPr>
          <p:nvPr/>
        </p:nvPicPr>
        <p:blipFill>
          <a:blip r:embed="rId3"/>
          <a:stretch>
            <a:fillRect/>
          </a:stretch>
        </p:blipFill>
        <p:spPr>
          <a:xfrm>
            <a:off x="10231755" y="1345500"/>
            <a:ext cx="1580157" cy="844776"/>
          </a:xfrm>
          <a:prstGeom prst="rect">
            <a:avLst/>
          </a:prstGeom>
        </p:spPr>
      </p:pic>
      <p:sp>
        <p:nvSpPr>
          <p:cNvPr id="9" name="Rectangle 8"/>
          <p:cNvSpPr/>
          <p:nvPr/>
        </p:nvSpPr>
        <p:spPr>
          <a:xfrm>
            <a:off x="342900" y="6443660"/>
            <a:ext cx="10678933" cy="369332"/>
          </a:xfrm>
          <a:prstGeom prst="rect">
            <a:avLst/>
          </a:prstGeom>
        </p:spPr>
        <p:txBody>
          <a:bodyPr wrap="square">
            <a:spAutoFit/>
          </a:bodyPr>
          <a:lstStyle/>
          <a:p>
            <a:r>
              <a:rPr lang="sv-SE" dirty="0" smtClean="0"/>
              <a:t>[2] </a:t>
            </a:r>
            <a:r>
              <a:rPr lang="sv-SE" dirty="0" err="1" smtClean="0"/>
              <a:t>Retrieved</a:t>
            </a:r>
            <a:r>
              <a:rPr lang="sv-SE" dirty="0" smtClean="0"/>
              <a:t> from ”https</a:t>
            </a:r>
            <a:r>
              <a:rPr lang="sv-SE" dirty="0"/>
              <a:t>://rahsoft.com/2021/04/21/parasitic-capacitances-in-mos-transistor</a:t>
            </a:r>
            <a:r>
              <a:rPr lang="sv-SE" dirty="0" smtClean="0"/>
              <a:t>/”</a:t>
            </a:r>
            <a:endParaRPr lang="sv-SE" dirty="0"/>
          </a:p>
        </p:txBody>
      </p:sp>
      <p:pic>
        <p:nvPicPr>
          <p:cNvPr id="10" name="Picture 9"/>
          <p:cNvPicPr>
            <a:picLocks noChangeAspect="1"/>
          </p:cNvPicPr>
          <p:nvPr/>
        </p:nvPicPr>
        <p:blipFill rotWithShape="1">
          <a:blip r:embed="rId4"/>
          <a:srcRect t="6979"/>
          <a:stretch/>
        </p:blipFill>
        <p:spPr>
          <a:xfrm>
            <a:off x="7244218" y="4372939"/>
            <a:ext cx="3777615" cy="1742589"/>
          </a:xfrm>
          <a:prstGeom prst="rect">
            <a:avLst/>
          </a:prstGeom>
        </p:spPr>
      </p:pic>
    </p:spTree>
    <p:extLst>
      <p:ext uri="{BB962C8B-B14F-4D97-AF65-F5344CB8AC3E}">
        <p14:creationId xmlns:p14="http://schemas.microsoft.com/office/powerpoint/2010/main" val="23680742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01955" y="242192"/>
            <a:ext cx="10990263" cy="568412"/>
          </a:xfrm>
        </p:spPr>
        <p:txBody>
          <a:bodyPr/>
          <a:lstStyle/>
          <a:p>
            <a:pPr algn="ctr"/>
            <a:r>
              <a:rPr lang="en-US" dirty="0" smtClean="0"/>
              <a:t>Si and </a:t>
            </a:r>
            <a:r>
              <a:rPr lang="en-US" dirty="0" err="1" smtClean="0"/>
              <a:t>SiC</a:t>
            </a:r>
            <a:r>
              <a:rPr lang="en-US" dirty="0" smtClean="0"/>
              <a:t> comparison</a:t>
            </a:r>
            <a:br>
              <a:rPr lang="en-US" dirty="0" smtClean="0"/>
            </a:br>
            <a:r>
              <a:rPr lang="en-US" dirty="0" smtClean="0"/>
              <a:t/>
            </a:r>
            <a:br>
              <a:rPr lang="en-US" dirty="0" smtClean="0"/>
            </a:br>
            <a:r>
              <a:rPr lang="en-US" dirty="0" smtClean="0"/>
              <a:t/>
            </a:r>
            <a:br>
              <a:rPr lang="en-US" dirty="0" smtClean="0"/>
            </a:br>
            <a:endParaRPr lang="sv-SE" dirty="0"/>
          </a:p>
        </p:txBody>
      </p:sp>
      <p:sp>
        <p:nvSpPr>
          <p:cNvPr id="5" name="Rectangle 4"/>
          <p:cNvSpPr/>
          <p:nvPr/>
        </p:nvSpPr>
        <p:spPr>
          <a:xfrm>
            <a:off x="99060" y="5647075"/>
            <a:ext cx="7812405" cy="646331"/>
          </a:xfrm>
          <a:prstGeom prst="rect">
            <a:avLst/>
          </a:prstGeom>
        </p:spPr>
        <p:txBody>
          <a:bodyPr wrap="square">
            <a:spAutoFit/>
          </a:bodyPr>
          <a:lstStyle/>
          <a:p>
            <a:r>
              <a:rPr lang="sv-SE" dirty="0" smtClean="0"/>
              <a:t>[1] </a:t>
            </a:r>
            <a:r>
              <a:rPr lang="en-US" dirty="0"/>
              <a:t>SIC power devices in power electronics: An overview</a:t>
            </a:r>
          </a:p>
          <a:p>
            <a:endParaRPr lang="sv-SE" dirty="0"/>
          </a:p>
        </p:txBody>
      </p:sp>
      <p:pic>
        <p:nvPicPr>
          <p:cNvPr id="6" name="Picture 5"/>
          <p:cNvPicPr>
            <a:picLocks noChangeAspect="1"/>
          </p:cNvPicPr>
          <p:nvPr/>
        </p:nvPicPr>
        <p:blipFill>
          <a:blip r:embed="rId2"/>
          <a:stretch>
            <a:fillRect/>
          </a:stretch>
        </p:blipFill>
        <p:spPr>
          <a:xfrm>
            <a:off x="621030" y="1462474"/>
            <a:ext cx="4526959" cy="3352800"/>
          </a:xfrm>
          <a:prstGeom prst="rect">
            <a:avLst/>
          </a:prstGeom>
        </p:spPr>
      </p:pic>
      <p:sp>
        <p:nvSpPr>
          <p:cNvPr id="7" name="Rectangle 6"/>
          <p:cNvSpPr/>
          <p:nvPr/>
        </p:nvSpPr>
        <p:spPr>
          <a:xfrm>
            <a:off x="99060" y="5984647"/>
            <a:ext cx="11881273" cy="646331"/>
          </a:xfrm>
          <a:prstGeom prst="rect">
            <a:avLst/>
          </a:prstGeom>
        </p:spPr>
        <p:txBody>
          <a:bodyPr wrap="square">
            <a:spAutoFit/>
          </a:bodyPr>
          <a:lstStyle/>
          <a:p>
            <a:r>
              <a:rPr lang="sv-SE" dirty="0" smtClean="0"/>
              <a:t>[2] </a:t>
            </a:r>
            <a:r>
              <a:rPr lang="sv-SE" dirty="0" err="1" smtClean="0"/>
              <a:t>Retrieved</a:t>
            </a:r>
            <a:r>
              <a:rPr lang="sv-SE" dirty="0" smtClean="0"/>
              <a:t> from ”https</a:t>
            </a:r>
            <a:r>
              <a:rPr lang="sv-SE" dirty="0"/>
              <a:t>://efficiencywins.nexperia.com/efficient-products/8-reasons-why-silicon-carbide-diodes-outperform-their-silicon-peers#:~:text=SiC%20diodes%20take%20up%20less,resistivity%20and%20better%20conduction%20performance</a:t>
            </a:r>
            <a:r>
              <a:rPr lang="sv-SE" dirty="0" smtClean="0"/>
              <a:t>.”</a:t>
            </a:r>
            <a:endParaRPr lang="sv-SE" dirty="0"/>
          </a:p>
        </p:txBody>
      </p:sp>
      <p:sp>
        <p:nvSpPr>
          <p:cNvPr id="10" name="Rectangle 9"/>
          <p:cNvSpPr/>
          <p:nvPr/>
        </p:nvSpPr>
        <p:spPr>
          <a:xfrm>
            <a:off x="5737860" y="1153715"/>
            <a:ext cx="6096000" cy="3970318"/>
          </a:xfrm>
          <a:prstGeom prst="rect">
            <a:avLst/>
          </a:prstGeom>
        </p:spPr>
        <p:txBody>
          <a:bodyPr>
            <a:spAutoFit/>
          </a:bodyPr>
          <a:lstStyle/>
          <a:p>
            <a:r>
              <a:rPr lang="en-US" b="1" dirty="0" err="1">
                <a:solidFill>
                  <a:srgbClr val="404448"/>
                </a:solidFill>
                <a:latin typeface="ubuntu-v14-latin-500"/>
              </a:rPr>
              <a:t>SiC</a:t>
            </a:r>
            <a:r>
              <a:rPr lang="en-US" b="1" dirty="0">
                <a:solidFill>
                  <a:srgbClr val="404448"/>
                </a:solidFill>
                <a:latin typeface="ubuntu-v14-latin-500"/>
              </a:rPr>
              <a:t> diodes take up less space than Si for the same voltage rating</a:t>
            </a:r>
          </a:p>
          <a:p>
            <a:pPr marL="285750" indent="-285750">
              <a:buFont typeface="Arial" panose="020B0604020202020204" pitchFamily="34" charset="0"/>
              <a:buChar char="•"/>
            </a:pPr>
            <a:r>
              <a:rPr lang="en-US" dirty="0" err="1">
                <a:solidFill>
                  <a:srgbClr val="404448"/>
                </a:solidFill>
                <a:latin typeface="ubuntu-v14-latin-regular"/>
              </a:rPr>
              <a:t>SiC</a:t>
            </a:r>
            <a:r>
              <a:rPr lang="en-US" dirty="0">
                <a:solidFill>
                  <a:srgbClr val="404448"/>
                </a:solidFill>
                <a:latin typeface="ubuntu-v14-latin-regular"/>
              </a:rPr>
              <a:t> has ~10x better dielectric breakdown field strength and, for a given blocking voltage, a thinner and a higher doped drift layer than silicon, giving it lower resistivity and better conduction performance. </a:t>
            </a:r>
            <a:endParaRPr lang="en-US" dirty="0" smtClean="0">
              <a:solidFill>
                <a:srgbClr val="404448"/>
              </a:solidFill>
              <a:latin typeface="ubuntu-v14-latin-regular"/>
            </a:endParaRPr>
          </a:p>
          <a:p>
            <a:pPr marL="285750" indent="-285750">
              <a:buFont typeface="Arial" panose="020B0604020202020204" pitchFamily="34" charset="0"/>
              <a:buChar char="•"/>
            </a:pPr>
            <a:r>
              <a:rPr lang="en-US" dirty="0" smtClean="0">
                <a:solidFill>
                  <a:srgbClr val="404448"/>
                </a:solidFill>
                <a:latin typeface="ubuntu-v14-latin-regular"/>
              </a:rPr>
              <a:t>This </a:t>
            </a:r>
            <a:r>
              <a:rPr lang="en-US" dirty="0">
                <a:solidFill>
                  <a:srgbClr val="404448"/>
                </a:solidFill>
                <a:latin typeface="ubuntu-v14-latin-regular"/>
              </a:rPr>
              <a:t>means a </a:t>
            </a:r>
            <a:r>
              <a:rPr lang="en-US" dirty="0" err="1">
                <a:solidFill>
                  <a:srgbClr val="404448"/>
                </a:solidFill>
                <a:latin typeface="ubuntu-v14-latin-regular"/>
              </a:rPr>
              <a:t>SiC</a:t>
            </a:r>
            <a:r>
              <a:rPr lang="en-US" dirty="0">
                <a:solidFill>
                  <a:srgbClr val="404448"/>
                </a:solidFill>
                <a:latin typeface="ubuntu-v14-latin-regular"/>
              </a:rPr>
              <a:t> die can be smaller than its silicon equivalent for the same voltage rating. </a:t>
            </a:r>
            <a:endParaRPr lang="en-US" dirty="0" smtClean="0">
              <a:solidFill>
                <a:srgbClr val="404448"/>
              </a:solidFill>
              <a:latin typeface="ubuntu-v14-latin-regular"/>
            </a:endParaRPr>
          </a:p>
          <a:p>
            <a:pPr marL="285750" indent="-285750">
              <a:buFont typeface="Arial" panose="020B0604020202020204" pitchFamily="34" charset="0"/>
              <a:buChar char="•"/>
            </a:pPr>
            <a:r>
              <a:rPr lang="en-US" dirty="0" smtClean="0">
                <a:solidFill>
                  <a:srgbClr val="404448"/>
                </a:solidFill>
                <a:latin typeface="ubuntu-v14-latin-regular"/>
              </a:rPr>
              <a:t>An </a:t>
            </a:r>
            <a:r>
              <a:rPr lang="en-US" dirty="0">
                <a:solidFill>
                  <a:srgbClr val="404448"/>
                </a:solidFill>
                <a:latin typeface="ubuntu-v14-latin-regular"/>
              </a:rPr>
              <a:t>extra benefit of having a smaller die size is lower device self-capacitance and lower associated charge for a given current and voltage rating. </a:t>
            </a:r>
            <a:endParaRPr lang="en-US" dirty="0" smtClean="0">
              <a:solidFill>
                <a:srgbClr val="404448"/>
              </a:solidFill>
              <a:latin typeface="ubuntu-v14-latin-regular"/>
            </a:endParaRPr>
          </a:p>
          <a:p>
            <a:pPr marL="285750" indent="-285750">
              <a:buFont typeface="Arial" panose="020B0604020202020204" pitchFamily="34" charset="0"/>
              <a:buChar char="•"/>
            </a:pPr>
            <a:r>
              <a:rPr lang="en-US" dirty="0" smtClean="0">
                <a:solidFill>
                  <a:srgbClr val="404448"/>
                </a:solidFill>
                <a:latin typeface="ubuntu-v14-latin-regular"/>
              </a:rPr>
              <a:t>This</a:t>
            </a:r>
            <a:r>
              <a:rPr lang="en-US" dirty="0">
                <a:solidFill>
                  <a:srgbClr val="404448"/>
                </a:solidFill>
                <a:latin typeface="ubuntu-v14-latin-regular"/>
              </a:rPr>
              <a:t>, combined with the higher electron saturation velocity of </a:t>
            </a:r>
            <a:r>
              <a:rPr lang="en-US" dirty="0" err="1">
                <a:solidFill>
                  <a:srgbClr val="404448"/>
                </a:solidFill>
                <a:latin typeface="ubuntu-v14-latin-regular"/>
              </a:rPr>
              <a:t>SiC</a:t>
            </a:r>
            <a:r>
              <a:rPr lang="en-US" dirty="0">
                <a:solidFill>
                  <a:srgbClr val="404448"/>
                </a:solidFill>
                <a:latin typeface="ubuntu-v14-latin-regular"/>
              </a:rPr>
              <a:t>, enables faster switching speeds with lower losses than Si.</a:t>
            </a:r>
          </a:p>
        </p:txBody>
      </p:sp>
    </p:spTree>
    <p:extLst>
      <p:ext uri="{BB962C8B-B14F-4D97-AF65-F5344CB8AC3E}">
        <p14:creationId xmlns:p14="http://schemas.microsoft.com/office/powerpoint/2010/main" val="37861794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5395" y="335477"/>
            <a:ext cx="10990263" cy="568412"/>
          </a:xfrm>
        </p:spPr>
        <p:txBody>
          <a:bodyPr/>
          <a:lstStyle/>
          <a:p>
            <a:r>
              <a:rPr lang="sv-SE" dirty="0"/>
              <a:t>On-</a:t>
            </a:r>
            <a:r>
              <a:rPr lang="sv-SE" dirty="0" err="1"/>
              <a:t>resistance</a:t>
            </a:r>
            <a:r>
              <a:rPr lang="sv-SE" dirty="0"/>
              <a:t> </a:t>
            </a:r>
            <a:r>
              <a:rPr lang="sv-SE" dirty="0" err="1"/>
              <a:t>comparison</a:t>
            </a:r>
            <a:endParaRPr lang="sv-SE" dirty="0"/>
          </a:p>
        </p:txBody>
      </p:sp>
      <p:sp>
        <p:nvSpPr>
          <p:cNvPr id="4" name="Rectangle 3"/>
          <p:cNvSpPr/>
          <p:nvPr/>
        </p:nvSpPr>
        <p:spPr>
          <a:xfrm>
            <a:off x="427566" y="6275565"/>
            <a:ext cx="6870701" cy="369332"/>
          </a:xfrm>
          <a:prstGeom prst="rect">
            <a:avLst/>
          </a:prstGeom>
        </p:spPr>
        <p:txBody>
          <a:bodyPr wrap="square">
            <a:spAutoFit/>
          </a:bodyPr>
          <a:lstStyle/>
          <a:p>
            <a:r>
              <a:rPr lang="sv-SE" dirty="0" smtClean="0"/>
              <a:t>[1] </a:t>
            </a:r>
            <a:r>
              <a:rPr lang="en-US" dirty="0"/>
              <a:t>A Comparison between Si and </a:t>
            </a:r>
            <a:r>
              <a:rPr lang="en-US" dirty="0" err="1"/>
              <a:t>SiC</a:t>
            </a:r>
            <a:r>
              <a:rPr lang="en-US" dirty="0"/>
              <a:t> MOSFETs</a:t>
            </a:r>
            <a:endParaRPr lang="sv-SE" dirty="0"/>
          </a:p>
        </p:txBody>
      </p:sp>
      <p:sp>
        <p:nvSpPr>
          <p:cNvPr id="5" name="Rectangle 4"/>
          <p:cNvSpPr/>
          <p:nvPr/>
        </p:nvSpPr>
        <p:spPr>
          <a:xfrm>
            <a:off x="521969" y="1318974"/>
            <a:ext cx="9850755" cy="369332"/>
          </a:xfrm>
          <a:prstGeom prst="rect">
            <a:avLst/>
          </a:prstGeom>
        </p:spPr>
        <p:txBody>
          <a:bodyPr wrap="square">
            <a:spAutoFit/>
          </a:bodyPr>
          <a:lstStyle/>
          <a:p>
            <a:r>
              <a:rPr lang="en-US" dirty="0" smtClean="0"/>
              <a:t>The drift </a:t>
            </a:r>
            <a:r>
              <a:rPr lang="en-US" dirty="0"/>
              <a:t>region resistance is called ideal </a:t>
            </a:r>
            <a:r>
              <a:rPr lang="en-US" dirty="0" smtClean="0"/>
              <a:t>on-resistance as can be calculated like below. </a:t>
            </a:r>
            <a:endParaRPr lang="sv-SE" dirty="0"/>
          </a:p>
        </p:txBody>
      </p:sp>
      <mc:AlternateContent xmlns:mc="http://schemas.openxmlformats.org/markup-compatibility/2006" xmlns:a14="http://schemas.microsoft.com/office/drawing/2010/main">
        <mc:Choice Requires="a14">
          <p:sp>
            <p:nvSpPr>
              <p:cNvPr id="6" name="Rectangle 5"/>
              <p:cNvSpPr/>
              <p:nvPr/>
            </p:nvSpPr>
            <p:spPr>
              <a:xfrm>
                <a:off x="521969" y="2888636"/>
                <a:ext cx="11159491" cy="646331"/>
              </a:xfrm>
              <a:prstGeom prst="rect">
                <a:avLst/>
              </a:prstGeom>
            </p:spPr>
            <p:txBody>
              <a:bodyPr wrap="square">
                <a:spAutoFit/>
              </a:bodyPr>
              <a:lstStyle/>
              <a:p>
                <a:r>
                  <a:rPr lang="en-US" dirty="0"/>
                  <a:t>w</a:t>
                </a:r>
                <a:r>
                  <a:rPr lang="en-US" dirty="0" smtClean="0"/>
                  <a:t>here</a:t>
                </a:r>
                <a14:m>
                  <m:oMath xmlns:m="http://schemas.openxmlformats.org/officeDocument/2006/math">
                    <m:r>
                      <a:rPr lang="en-US" i="1" dirty="0" smtClean="0">
                        <a:latin typeface="Cambria Math" panose="02040503050406030204" pitchFamily="18" charset="0"/>
                      </a:rPr>
                      <m:t> </m:t>
                    </m:r>
                    <m:r>
                      <a:rPr lang="en-US" i="1" dirty="0" err="1">
                        <a:latin typeface="Cambria Math" panose="02040503050406030204" pitchFamily="18" charset="0"/>
                      </a:rPr>
                      <m:t>𝐵</m:t>
                    </m:r>
                    <m:sSub>
                      <m:sSubPr>
                        <m:ctrlPr>
                          <a:rPr lang="en-US" b="0" i="1" dirty="0" smtClean="0">
                            <a:latin typeface="Cambria Math" panose="02040503050406030204" pitchFamily="18" charset="0"/>
                          </a:rPr>
                        </m:ctrlPr>
                      </m:sSubPr>
                      <m:e>
                        <m:r>
                          <a:rPr lang="en-US" i="1" dirty="0" err="1">
                            <a:latin typeface="Cambria Math" panose="02040503050406030204" pitchFamily="18" charset="0"/>
                          </a:rPr>
                          <m:t>𝑉</m:t>
                        </m:r>
                      </m:e>
                      <m:sub>
                        <m:r>
                          <a:rPr lang="en-US" b="0" i="1" dirty="0" smtClean="0">
                            <a:latin typeface="Cambria Math" panose="02040503050406030204" pitchFamily="18" charset="0"/>
                          </a:rPr>
                          <m:t>𝑃𝑃</m:t>
                        </m:r>
                      </m:sub>
                    </m:sSub>
                    <m:r>
                      <a:rPr lang="en-US" i="1" dirty="0">
                        <a:latin typeface="Cambria Math" panose="02040503050406030204" pitchFamily="18" charset="0"/>
                      </a:rPr>
                      <m:t> </m:t>
                    </m:r>
                  </m:oMath>
                </a14:m>
                <a:r>
                  <a:rPr lang="en-US" dirty="0"/>
                  <a:t>is the parallel-plane breakdown voltage,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𝜀</m:t>
                        </m:r>
                      </m:e>
                      <m:sub>
                        <m:r>
                          <a:rPr lang="en-US" i="1" dirty="0" smtClean="0">
                            <a:latin typeface="Cambria Math" panose="02040503050406030204" pitchFamily="18" charset="0"/>
                          </a:rPr>
                          <m:t>𝑆</m:t>
                        </m:r>
                      </m:sub>
                    </m:sSub>
                  </m:oMath>
                </a14:m>
                <a:r>
                  <a:rPr lang="en-US" dirty="0"/>
                  <a:t> is the dielectric constant for the semiconductor, </a:t>
                </a:r>
                <a14:m>
                  <m:oMath xmlns:m="http://schemas.openxmlformats.org/officeDocument/2006/math">
                    <m:r>
                      <a:rPr lang="en-US" i="1" dirty="0" smtClean="0">
                        <a:latin typeface="Cambria Math" panose="02040503050406030204" pitchFamily="18" charset="0"/>
                      </a:rPr>
                      <m:t>𝜇</m:t>
                    </m:r>
                  </m:oMath>
                </a14:m>
                <a:r>
                  <a:rPr lang="en-US" dirty="0"/>
                  <a:t> is the mobility, and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𝐸</m:t>
                        </m:r>
                      </m:e>
                      <m:sub>
                        <m:r>
                          <a:rPr lang="en-US" i="1" dirty="0" smtClean="0">
                            <a:latin typeface="Cambria Math" panose="02040503050406030204" pitchFamily="18" charset="0"/>
                          </a:rPr>
                          <m:t>𝑐</m:t>
                        </m:r>
                      </m:sub>
                    </m:sSub>
                  </m:oMath>
                </a14:m>
                <a:r>
                  <a:rPr lang="en-US" dirty="0"/>
                  <a:t> is the critical electric field for </a:t>
                </a:r>
                <a:r>
                  <a:rPr lang="en-US" dirty="0" smtClean="0"/>
                  <a:t>breakdown.</a:t>
                </a:r>
                <a:endParaRPr lang="sv-SE" dirty="0"/>
              </a:p>
            </p:txBody>
          </p:sp>
        </mc:Choice>
        <mc:Fallback xmlns="">
          <p:sp>
            <p:nvSpPr>
              <p:cNvPr id="6" name="Rectangle 5"/>
              <p:cNvSpPr>
                <a:spLocks noRot="1" noChangeAspect="1" noMove="1" noResize="1" noEditPoints="1" noAdjustHandles="1" noChangeArrowheads="1" noChangeShapeType="1" noTextEdit="1"/>
              </p:cNvSpPr>
              <p:nvPr/>
            </p:nvSpPr>
            <p:spPr>
              <a:xfrm>
                <a:off x="521969" y="2888636"/>
                <a:ext cx="11159491" cy="646331"/>
              </a:xfrm>
              <a:prstGeom prst="rect">
                <a:avLst/>
              </a:prstGeom>
              <a:blipFill>
                <a:blip r:embed="rId2"/>
                <a:stretch>
                  <a:fillRect l="-492" t="-5660" r="-710" b="-14151"/>
                </a:stretch>
              </a:blipFill>
            </p:spPr>
            <p:txBody>
              <a:bodyPr/>
              <a:lstStyle/>
              <a:p>
                <a:r>
                  <a:rPr lang="sv-SE">
                    <a:noFill/>
                  </a:rPr>
                  <a:t> </a:t>
                </a:r>
              </a:p>
            </p:txBody>
          </p:sp>
        </mc:Fallback>
      </mc:AlternateContent>
      <p:pic>
        <p:nvPicPr>
          <p:cNvPr id="7" name="Picture 6"/>
          <p:cNvPicPr>
            <a:picLocks noChangeAspect="1"/>
          </p:cNvPicPr>
          <p:nvPr/>
        </p:nvPicPr>
        <p:blipFill rotWithShape="1">
          <a:blip r:embed="rId3"/>
          <a:srcRect b="9972"/>
          <a:stretch/>
        </p:blipFill>
        <p:spPr>
          <a:xfrm>
            <a:off x="4435475" y="1729700"/>
            <a:ext cx="2659592" cy="747382"/>
          </a:xfrm>
          <a:prstGeom prst="rect">
            <a:avLst/>
          </a:prstGeom>
        </p:spPr>
      </p:pic>
      <p:pic>
        <p:nvPicPr>
          <p:cNvPr id="9" name="Picture 8"/>
          <p:cNvPicPr>
            <a:picLocks noChangeAspect="1"/>
          </p:cNvPicPr>
          <p:nvPr/>
        </p:nvPicPr>
        <p:blipFill>
          <a:blip r:embed="rId4"/>
          <a:stretch>
            <a:fillRect/>
          </a:stretch>
        </p:blipFill>
        <p:spPr>
          <a:xfrm>
            <a:off x="3484243" y="3521892"/>
            <a:ext cx="3926205" cy="2753673"/>
          </a:xfrm>
          <a:prstGeom prst="rect">
            <a:avLst/>
          </a:prstGeom>
        </p:spPr>
      </p:pic>
    </p:spTree>
    <p:extLst>
      <p:ext uri="{BB962C8B-B14F-4D97-AF65-F5344CB8AC3E}">
        <p14:creationId xmlns:p14="http://schemas.microsoft.com/office/powerpoint/2010/main" val="38573588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924" y="348872"/>
            <a:ext cx="10990263" cy="568412"/>
          </a:xfrm>
        </p:spPr>
        <p:txBody>
          <a:bodyPr/>
          <a:lstStyle/>
          <a:p>
            <a:r>
              <a:rPr lang="sv-SE" dirty="0" err="1" smtClean="0"/>
              <a:t>Switching</a:t>
            </a:r>
            <a:r>
              <a:rPr lang="sv-SE" dirty="0" smtClean="0"/>
              <a:t> Speed </a:t>
            </a:r>
            <a:r>
              <a:rPr lang="sv-SE" dirty="0" err="1" smtClean="0"/>
              <a:t>Comparison</a:t>
            </a:r>
            <a:endParaRPr lang="sv-SE" dirty="0"/>
          </a:p>
        </p:txBody>
      </p:sp>
      <p:sp>
        <p:nvSpPr>
          <p:cNvPr id="3" name="Rectangle 2"/>
          <p:cNvSpPr/>
          <p:nvPr/>
        </p:nvSpPr>
        <p:spPr>
          <a:xfrm>
            <a:off x="98108" y="6128178"/>
            <a:ext cx="11962079" cy="646331"/>
          </a:xfrm>
          <a:prstGeom prst="rect">
            <a:avLst/>
          </a:prstGeom>
        </p:spPr>
        <p:txBody>
          <a:bodyPr wrap="square">
            <a:spAutoFit/>
          </a:bodyPr>
          <a:lstStyle/>
          <a:p>
            <a:r>
              <a:rPr lang="sv-SE" dirty="0" smtClean="0">
                <a:latin typeface="+mj-lt"/>
              </a:rPr>
              <a:t>[1] </a:t>
            </a:r>
            <a:r>
              <a:rPr lang="sv-SE" dirty="0" err="1" smtClean="0">
                <a:latin typeface="+mj-lt"/>
              </a:rPr>
              <a:t>Retrieved</a:t>
            </a:r>
            <a:r>
              <a:rPr lang="sv-SE" dirty="0" smtClean="0">
                <a:latin typeface="+mj-lt"/>
              </a:rPr>
              <a:t> from ”https://www.infineon.com/dgdl/InfineonSilicon_Carbide_when_does_it_make_sense_to_switch_out_Si_for _SiC-Article-v01_00-EN.pdf?fileId=5546d462719b59230171a6dfb4a30ce0”</a:t>
            </a:r>
            <a:endParaRPr lang="sv-SE" dirty="0">
              <a:latin typeface="+mj-lt"/>
            </a:endParaRPr>
          </a:p>
        </p:txBody>
      </p:sp>
      <p:pic>
        <p:nvPicPr>
          <p:cNvPr id="8" name="Picture 7"/>
          <p:cNvPicPr>
            <a:picLocks noChangeAspect="1"/>
          </p:cNvPicPr>
          <p:nvPr/>
        </p:nvPicPr>
        <p:blipFill rotWithShape="1">
          <a:blip r:embed="rId2"/>
          <a:srcRect l="7058"/>
          <a:stretch/>
        </p:blipFill>
        <p:spPr>
          <a:xfrm>
            <a:off x="98108" y="2229200"/>
            <a:ext cx="5017166" cy="2910227"/>
          </a:xfrm>
          <a:prstGeom prst="rect">
            <a:avLst/>
          </a:prstGeom>
        </p:spPr>
      </p:pic>
      <p:sp>
        <p:nvSpPr>
          <p:cNvPr id="11" name="Rectangle 2"/>
          <p:cNvSpPr>
            <a:spLocks noChangeArrowheads="1"/>
          </p:cNvSpPr>
          <p:nvPr/>
        </p:nvSpPr>
        <p:spPr bwMode="auto">
          <a:xfrm>
            <a:off x="5222906" y="1283657"/>
            <a:ext cx="6085174"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sv-SE" altLang="sv-SE" sz="1800" b="0" i="0" u="none" strike="noStrike" cap="none" normalizeH="0" baseline="0" dirty="0" smtClean="0">
                <a:ln>
                  <a:noFill/>
                </a:ln>
                <a:solidFill>
                  <a:srgbClr val="000000"/>
                </a:solidFill>
                <a:effectLst/>
                <a:latin typeface="+mj-lt"/>
              </a:rPr>
              <a:t>Silicon Carbide (</a:t>
            </a:r>
            <a:r>
              <a:rPr kumimoji="0" lang="sv-SE" altLang="sv-SE" sz="1800" b="0" i="0" u="none" strike="noStrike" cap="none" normalizeH="0" baseline="0" dirty="0" err="1" smtClean="0">
                <a:ln>
                  <a:noFill/>
                </a:ln>
                <a:solidFill>
                  <a:srgbClr val="000000"/>
                </a:solidFill>
                <a:effectLst/>
                <a:latin typeface="+mj-lt"/>
              </a:rPr>
              <a:t>SiC</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devices</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often</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have</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reduced</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parasitic</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capacitance</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because</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of</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their</a:t>
            </a:r>
            <a:r>
              <a:rPr kumimoji="0" lang="sv-SE" altLang="sv-SE" sz="1800" b="0" i="0" u="none" strike="noStrike" cap="none" normalizeH="0" baseline="0" dirty="0" smtClean="0">
                <a:ln>
                  <a:noFill/>
                </a:ln>
                <a:solidFill>
                  <a:srgbClr val="000000"/>
                </a:solidFill>
                <a:effectLst/>
                <a:latin typeface="+mj-lt"/>
              </a:rPr>
              <a:t> inherent material </a:t>
            </a:r>
            <a:r>
              <a:rPr kumimoji="0" lang="sv-SE" altLang="sv-SE" sz="1800" b="0" i="0" u="none" strike="noStrike" cap="none" normalizeH="0" baseline="0" dirty="0" err="1" smtClean="0">
                <a:ln>
                  <a:noFill/>
                </a:ln>
                <a:solidFill>
                  <a:srgbClr val="000000"/>
                </a:solidFill>
                <a:effectLst/>
                <a:latin typeface="+mj-lt"/>
              </a:rPr>
              <a:t>properties</a:t>
            </a:r>
            <a:r>
              <a:rPr kumimoji="0" lang="sv-SE" altLang="sv-SE" sz="1800" b="0" i="0" u="none" strike="noStrike" cap="none" normalizeH="0" baseline="0" dirty="0" smtClean="0">
                <a:ln>
                  <a:noFill/>
                </a:ln>
                <a:solidFill>
                  <a:srgbClr val="000000"/>
                </a:solidFill>
                <a:effectLst/>
                <a:latin typeface="+mj-lt"/>
              </a:rPr>
              <a:t>.</a:t>
            </a:r>
          </a:p>
          <a:p>
            <a:pPr marR="0" lvl="0" algn="l" defTabSz="914400" rtl="0" eaLnBrk="0" fontAlgn="base" latinLnBrk="0" hangingPunct="0">
              <a:lnSpc>
                <a:spcPct val="100000"/>
              </a:lnSpc>
              <a:spcBef>
                <a:spcPct val="0"/>
              </a:spcBef>
              <a:spcAft>
                <a:spcPct val="0"/>
              </a:spcAft>
              <a:buClrTx/>
              <a:buSzTx/>
              <a:tabLst/>
            </a:pPr>
            <a:endParaRPr kumimoji="0" lang="sv-SE" altLang="sv-SE" sz="1800" b="0" i="0" u="none" strike="noStrike" cap="none" normalizeH="0" baseline="0" dirty="0" smtClean="0">
              <a:ln>
                <a:noFill/>
              </a:ln>
              <a:solidFill>
                <a:srgbClr val="000000"/>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sv-SE" altLang="sv-SE" sz="1800" b="0" i="0" u="none" strike="noStrike" cap="none" normalizeH="0" baseline="0" dirty="0" err="1" smtClean="0">
                <a:ln>
                  <a:noFill/>
                </a:ln>
                <a:solidFill>
                  <a:srgbClr val="000000"/>
                </a:solidFill>
                <a:effectLst/>
                <a:latin typeface="+mj-lt"/>
              </a:rPr>
              <a:t>SiC</a:t>
            </a:r>
            <a:r>
              <a:rPr kumimoji="0" lang="sv-SE" altLang="sv-SE" sz="1800" b="0" i="0" u="none" strike="noStrike" cap="none" normalizeH="0" baseline="0" dirty="0" smtClean="0">
                <a:ln>
                  <a:noFill/>
                </a:ln>
                <a:solidFill>
                  <a:srgbClr val="000000"/>
                </a:solidFill>
                <a:effectLst/>
                <a:latin typeface="+mj-lt"/>
              </a:rPr>
              <a:t> has a </a:t>
            </a:r>
            <a:r>
              <a:rPr kumimoji="0" lang="sv-SE" altLang="sv-SE" sz="1800" b="0" i="0" u="none" strike="noStrike" cap="none" normalizeH="0" baseline="0" dirty="0" err="1" smtClean="0">
                <a:ln>
                  <a:noFill/>
                </a:ln>
                <a:solidFill>
                  <a:srgbClr val="000000"/>
                </a:solidFill>
                <a:effectLst/>
                <a:latin typeface="+mj-lt"/>
              </a:rPr>
              <a:t>wider</a:t>
            </a:r>
            <a:r>
              <a:rPr kumimoji="0" lang="sv-SE" altLang="sv-SE" sz="1800" b="0" i="0" u="none" strike="noStrike" cap="none" normalizeH="0" baseline="0" dirty="0" smtClean="0">
                <a:ln>
                  <a:noFill/>
                </a:ln>
                <a:solidFill>
                  <a:srgbClr val="000000"/>
                </a:solidFill>
                <a:effectLst/>
                <a:latin typeface="+mj-lt"/>
              </a:rPr>
              <a:t> bandgap and </a:t>
            </a:r>
            <a:r>
              <a:rPr kumimoji="0" lang="sv-SE" altLang="sv-SE" sz="1800" b="0" i="0" u="none" strike="noStrike" cap="none" normalizeH="0" baseline="0" dirty="0" err="1" smtClean="0">
                <a:ln>
                  <a:noFill/>
                </a:ln>
                <a:solidFill>
                  <a:srgbClr val="000000"/>
                </a:solidFill>
                <a:effectLst/>
                <a:latin typeface="+mj-lt"/>
              </a:rPr>
              <a:t>higher</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electron</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mobility</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compared</a:t>
            </a:r>
            <a:r>
              <a:rPr kumimoji="0" lang="sv-SE" altLang="sv-SE" sz="1800" b="0" i="0" u="none" strike="noStrike" cap="none" normalizeH="0" baseline="0" dirty="0" smtClean="0">
                <a:ln>
                  <a:noFill/>
                </a:ln>
                <a:solidFill>
                  <a:srgbClr val="000000"/>
                </a:solidFill>
                <a:effectLst/>
                <a:latin typeface="+mj-lt"/>
              </a:rPr>
              <a:t> to </a:t>
            </a:r>
            <a:r>
              <a:rPr kumimoji="0" lang="sv-SE" altLang="sv-SE" sz="1800" b="0" i="0" u="none" strike="noStrike" cap="none" normalizeH="0" baseline="0" dirty="0" err="1" smtClean="0">
                <a:ln>
                  <a:noFill/>
                </a:ln>
                <a:solidFill>
                  <a:srgbClr val="000000"/>
                </a:solidFill>
                <a:effectLst/>
                <a:latin typeface="+mj-lt"/>
              </a:rPr>
              <a:t>silicon</a:t>
            </a:r>
            <a:r>
              <a:rPr kumimoji="0" lang="sv-SE" altLang="sv-SE" sz="1800" b="0" i="0" u="none" strike="noStrike" cap="none" normalizeH="0" baseline="0" dirty="0" smtClean="0">
                <a:ln>
                  <a:noFill/>
                </a:ln>
                <a:solidFill>
                  <a:srgbClr val="000000"/>
                </a:solidFill>
                <a:effectLst/>
                <a:latin typeface="+mj-lt"/>
              </a:rPr>
              <a:t> (Si).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sv-SE" altLang="sv-SE" sz="1800" b="0" i="0" u="none" strike="noStrike" cap="none" normalizeH="0" baseline="0" dirty="0" smtClean="0">
              <a:ln>
                <a:noFill/>
              </a:ln>
              <a:solidFill>
                <a:srgbClr val="000000"/>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sv-SE" altLang="sv-SE" sz="1800" b="0" i="0" u="none" strike="noStrike" cap="none" normalizeH="0" baseline="0" dirty="0" err="1" smtClean="0">
                <a:ln>
                  <a:noFill/>
                </a:ln>
                <a:solidFill>
                  <a:srgbClr val="000000"/>
                </a:solidFill>
                <a:effectLst/>
                <a:latin typeface="+mj-lt"/>
              </a:rPr>
              <a:t>These</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properties</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result</a:t>
            </a:r>
            <a:r>
              <a:rPr kumimoji="0" lang="sv-SE" altLang="sv-SE" sz="1800" b="0" i="0" u="none" strike="noStrike" cap="none" normalizeH="0" baseline="0" dirty="0" smtClean="0">
                <a:ln>
                  <a:noFill/>
                </a:ln>
                <a:solidFill>
                  <a:srgbClr val="000000"/>
                </a:solidFill>
                <a:effectLst/>
                <a:latin typeface="+mj-lt"/>
              </a:rPr>
              <a:t> in a </a:t>
            </a:r>
            <a:r>
              <a:rPr kumimoji="0" lang="sv-SE" altLang="sv-SE" sz="1800" b="0" i="0" u="none" strike="noStrike" cap="none" normalizeH="0" baseline="0" dirty="0" err="1" smtClean="0">
                <a:ln>
                  <a:noFill/>
                </a:ln>
                <a:solidFill>
                  <a:srgbClr val="000000"/>
                </a:solidFill>
                <a:effectLst/>
                <a:latin typeface="+mj-lt"/>
              </a:rPr>
              <a:t>lower</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intrinsic</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capacitance</a:t>
            </a:r>
            <a:r>
              <a:rPr kumimoji="0" lang="sv-SE" altLang="sv-SE" sz="1800" b="0" i="0" u="none" strike="noStrike" cap="none" normalizeH="0" baseline="0" dirty="0" smtClean="0">
                <a:ln>
                  <a:noFill/>
                </a:ln>
                <a:solidFill>
                  <a:srgbClr val="000000"/>
                </a:solidFill>
                <a:effectLst/>
                <a:latin typeface="+mj-lt"/>
              </a:rPr>
              <a:t> in </a:t>
            </a:r>
            <a:r>
              <a:rPr kumimoji="0" lang="sv-SE" altLang="sv-SE" sz="1800" b="0" i="0" u="none" strike="noStrike" cap="none" normalizeH="0" baseline="0" dirty="0" err="1" smtClean="0">
                <a:ln>
                  <a:noFill/>
                </a:ln>
                <a:solidFill>
                  <a:srgbClr val="000000"/>
                </a:solidFill>
                <a:effectLst/>
                <a:latin typeface="+mj-lt"/>
              </a:rPr>
              <a:t>SiC</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devices</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which</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reduces</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both</a:t>
            </a:r>
            <a:r>
              <a:rPr kumimoji="0" lang="sv-SE" altLang="sv-SE" sz="1800" b="0" i="0" u="none" strike="noStrike" cap="none" normalizeH="0" baseline="0" dirty="0" smtClean="0">
                <a:ln>
                  <a:noFill/>
                </a:ln>
                <a:solidFill>
                  <a:srgbClr val="000000"/>
                </a:solidFill>
                <a:effectLst/>
                <a:latin typeface="+mj-lt"/>
              </a:rPr>
              <a:t> gate-source and </a:t>
            </a:r>
            <a:r>
              <a:rPr kumimoji="0" lang="sv-SE" altLang="sv-SE" sz="1800" b="0" i="0" u="none" strike="noStrike" cap="none" normalizeH="0" baseline="0" dirty="0" err="1" smtClean="0">
                <a:ln>
                  <a:noFill/>
                </a:ln>
                <a:solidFill>
                  <a:srgbClr val="000000"/>
                </a:solidFill>
                <a:effectLst/>
                <a:latin typeface="+mj-lt"/>
              </a:rPr>
              <a:t>drain</a:t>
            </a:r>
            <a:r>
              <a:rPr kumimoji="0" lang="sv-SE" altLang="sv-SE" sz="1800" b="0" i="0" u="none" strike="noStrike" cap="none" normalizeH="0" baseline="0" dirty="0" smtClean="0">
                <a:ln>
                  <a:noFill/>
                </a:ln>
                <a:solidFill>
                  <a:srgbClr val="000000"/>
                </a:solidFill>
                <a:effectLst/>
                <a:latin typeface="+mj-lt"/>
              </a:rPr>
              <a:t>-source </a:t>
            </a:r>
            <a:r>
              <a:rPr kumimoji="0" lang="sv-SE" altLang="sv-SE" sz="1800" b="0" i="0" u="none" strike="noStrike" cap="none" normalizeH="0" baseline="0" dirty="0" err="1" smtClean="0">
                <a:ln>
                  <a:noFill/>
                </a:ln>
                <a:solidFill>
                  <a:srgbClr val="000000"/>
                </a:solidFill>
                <a:effectLst/>
                <a:latin typeface="+mj-lt"/>
              </a:rPr>
              <a:t>capacitance</a:t>
            </a:r>
            <a:r>
              <a:rPr kumimoji="0" lang="sv-SE" altLang="sv-SE" sz="1800" b="0" i="0" u="none" strike="noStrike" cap="none" normalizeH="0" baseline="0" dirty="0" smtClean="0">
                <a:ln>
                  <a:noFill/>
                </a:ln>
                <a:solidFill>
                  <a:srgbClr val="000000"/>
                </a:solidFill>
                <a:effectLst/>
                <a:latin typeface="+mj-lt"/>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sv-SE" altLang="sv-SE" sz="1800" b="0" i="0" u="none" strike="noStrike" cap="none" normalizeH="0" baseline="0" dirty="0" smtClean="0">
              <a:ln>
                <a:noFill/>
              </a:ln>
              <a:solidFill>
                <a:srgbClr val="000000"/>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sv-SE" altLang="sv-SE" sz="1800" b="0" i="0" u="none" strike="noStrike" cap="none" normalizeH="0" baseline="0" dirty="0" err="1" smtClean="0">
                <a:ln>
                  <a:noFill/>
                </a:ln>
                <a:solidFill>
                  <a:srgbClr val="000000"/>
                </a:solidFill>
                <a:effectLst/>
                <a:latin typeface="+mj-lt"/>
              </a:rPr>
              <a:t>Lower</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capacitance</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leads</a:t>
            </a:r>
            <a:r>
              <a:rPr kumimoji="0" lang="sv-SE" altLang="sv-SE" sz="1800" b="0" i="0" u="none" strike="noStrike" cap="none" normalizeH="0" baseline="0" dirty="0" smtClean="0">
                <a:ln>
                  <a:noFill/>
                </a:ln>
                <a:solidFill>
                  <a:srgbClr val="000000"/>
                </a:solidFill>
                <a:effectLst/>
                <a:latin typeface="+mj-lt"/>
              </a:rPr>
              <a:t> to faster </a:t>
            </a:r>
            <a:r>
              <a:rPr kumimoji="0" lang="sv-SE" altLang="sv-SE" sz="1800" b="0" i="0" u="none" strike="noStrike" cap="none" normalizeH="0" baseline="0" dirty="0" err="1" smtClean="0">
                <a:ln>
                  <a:noFill/>
                </a:ln>
                <a:solidFill>
                  <a:srgbClr val="000000"/>
                </a:solidFill>
                <a:effectLst/>
                <a:latin typeface="+mj-lt"/>
              </a:rPr>
              <a:t>switching</a:t>
            </a:r>
            <a:r>
              <a:rPr kumimoji="0" lang="sv-SE" altLang="sv-SE" sz="1800" b="0" i="0" u="none" strike="noStrike" cap="none" normalizeH="0" baseline="0" dirty="0" smtClean="0">
                <a:ln>
                  <a:noFill/>
                </a:ln>
                <a:solidFill>
                  <a:srgbClr val="000000"/>
                </a:solidFill>
                <a:effectLst/>
                <a:latin typeface="+mj-lt"/>
              </a:rPr>
              <a:t> speeds and </a:t>
            </a:r>
            <a:r>
              <a:rPr kumimoji="0" lang="sv-SE" altLang="sv-SE" sz="1800" b="0" i="0" u="none" strike="noStrike" cap="none" normalizeH="0" baseline="0" dirty="0" err="1" smtClean="0">
                <a:ln>
                  <a:noFill/>
                </a:ln>
                <a:solidFill>
                  <a:srgbClr val="000000"/>
                </a:solidFill>
                <a:effectLst/>
                <a:latin typeface="+mj-lt"/>
              </a:rPr>
              <a:t>reduced</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capacitive</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switching</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losses</a:t>
            </a:r>
            <a:r>
              <a:rPr kumimoji="0" lang="sv-SE" altLang="sv-SE" sz="1800" b="0" i="0" u="none" strike="noStrike" cap="none" normalizeH="0" baseline="0" dirty="0" smtClean="0">
                <a:ln>
                  <a:noFill/>
                </a:ln>
                <a:solidFill>
                  <a:srgbClr val="000000"/>
                </a:solidFill>
                <a:effectLst/>
                <a:latin typeface="+mj-lt"/>
              </a:rPr>
              <a:t>,</a:t>
            </a:r>
            <a:r>
              <a:rPr kumimoji="0" lang="sv-SE" altLang="sv-SE" sz="1800" b="0" i="0" u="none" strike="noStrike" cap="none" normalizeH="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making</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SiC</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devices</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more</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suitable</a:t>
            </a:r>
            <a:r>
              <a:rPr kumimoji="0" lang="sv-SE" altLang="sv-SE" sz="1800" b="0" i="0" u="none" strike="noStrike" cap="none" normalizeH="0" baseline="0" dirty="0" smtClean="0">
                <a:ln>
                  <a:noFill/>
                </a:ln>
                <a:solidFill>
                  <a:srgbClr val="000000"/>
                </a:solidFill>
                <a:effectLst/>
                <a:latin typeface="+mj-lt"/>
              </a:rPr>
              <a:t> for </a:t>
            </a:r>
            <a:r>
              <a:rPr kumimoji="0" lang="sv-SE" altLang="sv-SE" sz="1800" b="0" i="0" u="none" strike="noStrike" cap="none" normalizeH="0" baseline="0" dirty="0" err="1" smtClean="0">
                <a:ln>
                  <a:noFill/>
                </a:ln>
                <a:solidFill>
                  <a:srgbClr val="000000"/>
                </a:solidFill>
                <a:effectLst/>
                <a:latin typeface="+mj-lt"/>
              </a:rPr>
              <a:t>high-frequency</a:t>
            </a:r>
            <a:r>
              <a:rPr kumimoji="0" lang="sv-SE" altLang="sv-SE" sz="1800" b="0" i="0" u="none" strike="noStrike" cap="none" normalizeH="0" baseline="0" dirty="0" smtClean="0">
                <a:ln>
                  <a:noFill/>
                </a:ln>
                <a:solidFill>
                  <a:srgbClr val="000000"/>
                </a:solidFill>
                <a:effectLst/>
                <a:latin typeface="+mj-lt"/>
              </a:rPr>
              <a:t> and </a:t>
            </a:r>
            <a:r>
              <a:rPr kumimoji="0" lang="sv-SE" altLang="sv-SE" sz="1800" b="0" i="0" u="none" strike="noStrike" cap="none" normalizeH="0" baseline="0" dirty="0" err="1" smtClean="0">
                <a:ln>
                  <a:noFill/>
                </a:ln>
                <a:solidFill>
                  <a:srgbClr val="000000"/>
                </a:solidFill>
                <a:effectLst/>
                <a:latin typeface="+mj-lt"/>
              </a:rPr>
              <a:t>high-power</a:t>
            </a:r>
            <a:r>
              <a:rPr kumimoji="0" lang="sv-SE" altLang="sv-SE" sz="1800" b="0" i="0" u="none" strike="noStrike" cap="none" normalizeH="0" baseline="0" dirty="0" smtClean="0">
                <a:ln>
                  <a:noFill/>
                </a:ln>
                <a:solidFill>
                  <a:srgbClr val="000000"/>
                </a:solidFill>
                <a:effectLst/>
                <a:latin typeface="+mj-lt"/>
              </a:rPr>
              <a:t> </a:t>
            </a:r>
            <a:r>
              <a:rPr kumimoji="0" lang="sv-SE" altLang="sv-SE" sz="1800" b="0" i="0" u="none" strike="noStrike" cap="none" normalizeH="0" baseline="0" dirty="0" err="1" smtClean="0">
                <a:ln>
                  <a:noFill/>
                </a:ln>
                <a:solidFill>
                  <a:srgbClr val="000000"/>
                </a:solidFill>
                <a:effectLst/>
                <a:latin typeface="+mj-lt"/>
              </a:rPr>
              <a:t>applications</a:t>
            </a:r>
            <a:r>
              <a:rPr kumimoji="0" lang="sv-SE" altLang="sv-SE" sz="1800" b="0" i="0" u="none" strike="noStrike" cap="none" normalizeH="0" baseline="0" dirty="0" smtClean="0">
                <a:ln>
                  <a:noFill/>
                </a:ln>
                <a:solidFill>
                  <a:srgbClr val="000000"/>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sv-SE" sz="1800" b="0" i="0" u="none" strike="noStrike" cap="none" normalizeH="0" baseline="0" dirty="0" smtClean="0">
                <a:ln>
                  <a:noFill/>
                </a:ln>
                <a:solidFill>
                  <a:srgbClr val="000000"/>
                </a:solidFill>
                <a:effectLst/>
                <a:latin typeface="+mj-lt"/>
              </a:rPr>
              <a:t/>
            </a:r>
            <a:br>
              <a:rPr kumimoji="0" lang="sv-SE" altLang="sv-SE" sz="1800" b="0" i="0" u="none" strike="noStrike" cap="none" normalizeH="0" baseline="0" dirty="0" smtClean="0">
                <a:ln>
                  <a:noFill/>
                </a:ln>
                <a:solidFill>
                  <a:srgbClr val="000000"/>
                </a:solidFill>
                <a:effectLst/>
                <a:latin typeface="+mj-lt"/>
              </a:rPr>
            </a:br>
            <a:endParaRPr kumimoji="0" lang="sv-SE" altLang="sv-SE" sz="1800" b="0" i="0" u="none" strike="noStrike" cap="none" normalizeH="0" baseline="0" dirty="0" smtClean="0">
              <a:ln>
                <a:noFill/>
              </a:ln>
              <a:solidFill>
                <a:schemeClr val="tx1"/>
              </a:solidFill>
              <a:effectLst/>
              <a:latin typeface="+mj-lt"/>
            </a:endParaRPr>
          </a:p>
        </p:txBody>
      </p:sp>
      <p:sp>
        <p:nvSpPr>
          <p:cNvPr id="4" name="Rectangle 3"/>
          <p:cNvSpPr/>
          <p:nvPr/>
        </p:nvSpPr>
        <p:spPr>
          <a:xfrm>
            <a:off x="184347" y="5161641"/>
            <a:ext cx="5038559" cy="369332"/>
          </a:xfrm>
          <a:prstGeom prst="rect">
            <a:avLst/>
          </a:prstGeom>
        </p:spPr>
        <p:txBody>
          <a:bodyPr wrap="none">
            <a:spAutoFit/>
          </a:bodyPr>
          <a:lstStyle/>
          <a:p>
            <a:r>
              <a:rPr lang="sv-SE" dirty="0" err="1"/>
              <a:t>Specific</a:t>
            </a:r>
            <a:r>
              <a:rPr lang="sv-SE" dirty="0"/>
              <a:t> charge-</a:t>
            </a:r>
            <a:r>
              <a:rPr lang="sv-SE" dirty="0" err="1"/>
              <a:t>equivalent</a:t>
            </a:r>
            <a:r>
              <a:rPr lang="sv-SE" dirty="0"/>
              <a:t> output </a:t>
            </a:r>
            <a:r>
              <a:rPr lang="sv-SE" dirty="0" err="1"/>
              <a:t>capacitance</a:t>
            </a:r>
            <a:endParaRPr lang="sv-SE" dirty="0"/>
          </a:p>
        </p:txBody>
      </p:sp>
      <p:pic>
        <p:nvPicPr>
          <p:cNvPr id="7" name="Picture 6"/>
          <p:cNvPicPr>
            <a:picLocks noChangeAspect="1"/>
          </p:cNvPicPr>
          <p:nvPr/>
        </p:nvPicPr>
        <p:blipFill rotWithShape="1">
          <a:blip r:embed="rId2"/>
          <a:srcRect l="7058"/>
          <a:stretch/>
        </p:blipFill>
        <p:spPr>
          <a:xfrm>
            <a:off x="98108" y="1919086"/>
            <a:ext cx="5017166" cy="2910227"/>
          </a:xfrm>
          <a:prstGeom prst="rect">
            <a:avLst/>
          </a:prstGeom>
        </p:spPr>
      </p:pic>
    </p:spTree>
    <p:extLst>
      <p:ext uri="{BB962C8B-B14F-4D97-AF65-F5344CB8AC3E}">
        <p14:creationId xmlns:p14="http://schemas.microsoft.com/office/powerpoint/2010/main" val="174394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721995" y="1377572"/>
            <a:ext cx="10990263" cy="3224908"/>
          </a:xfrm>
        </p:spPr>
        <p:txBody>
          <a:bodyPr/>
          <a:lstStyle/>
          <a:p>
            <a:pPr algn="ctr"/>
            <a:r>
              <a:rPr lang="en-US" dirty="0" smtClean="0"/>
              <a:t>Thank you!</a:t>
            </a:r>
            <a:br>
              <a:rPr lang="en-US" dirty="0" smtClean="0"/>
            </a:br>
            <a:r>
              <a:rPr lang="en-US" dirty="0" smtClean="0"/>
              <a:t/>
            </a:r>
            <a:br>
              <a:rPr lang="en-US" dirty="0" smtClean="0"/>
            </a:br>
            <a:r>
              <a:rPr lang="en-US" dirty="0"/>
              <a:t/>
            </a:r>
            <a:br>
              <a:rPr lang="en-US" dirty="0"/>
            </a:br>
            <a:r>
              <a:rPr lang="en-US" dirty="0" smtClean="0"/>
              <a:t>Question?</a:t>
            </a:r>
            <a:endParaRPr lang="sv-SE" dirty="0"/>
          </a:p>
        </p:txBody>
      </p:sp>
    </p:spTree>
    <p:extLst>
      <p:ext uri="{BB962C8B-B14F-4D97-AF65-F5344CB8AC3E}">
        <p14:creationId xmlns:p14="http://schemas.microsoft.com/office/powerpoint/2010/main" val="339860445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resentation25" id="{BADAB07B-2E68-4F48-911A-FC2225F93204}" vid="{784CDC78-43E6-457A-AA90-645E7526676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0F4D0C94E7891C408A70A4AFCBFC4B57" ma:contentTypeVersion="14" ma:contentTypeDescription="Skapa ett nytt dokument." ma:contentTypeScope="" ma:versionID="1c15329974e5927d0c588b03fa07fcbc">
  <xsd:schema xmlns:xsd="http://www.w3.org/2001/XMLSchema" xmlns:xs="http://www.w3.org/2001/XMLSchema" xmlns:p="http://schemas.microsoft.com/office/2006/metadata/properties" xmlns:ns3="a2de62b2-e783-4e30-aa1b-992e53552b81" xmlns:ns4="002d5c55-512d-4532-a45a-a18556eb1389" targetNamespace="http://schemas.microsoft.com/office/2006/metadata/properties" ma:root="true" ma:fieldsID="854722f8476c5e2ca5530bc10c6e1131" ns3:_="" ns4:_="">
    <xsd:import namespace="a2de62b2-e783-4e30-aa1b-992e53552b81"/>
    <xsd:import namespace="002d5c55-512d-4532-a45a-a18556eb1389"/>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GenerationTime" minOccurs="0"/>
                <xsd:element ref="ns3:MediaServiceEventHashCode" minOccurs="0"/>
                <xsd:element ref="ns3:MediaServiceAutoTags" minOccurs="0"/>
                <xsd:element ref="ns3:MediaServiceOCR" minOccurs="0"/>
                <xsd:element ref="ns3:MediaServiceDateTaken"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de62b2-e783-4e30-aa1b-992e53552b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Tags" ma:index="18"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02d5c55-512d-4532-a45a-a18556eb1389" elementFormDefault="qualified">
    <xsd:import namespace="http://schemas.microsoft.com/office/2006/documentManagement/types"/>
    <xsd:import namespace="http://schemas.microsoft.com/office/infopath/2007/PartnerControls"/>
    <xsd:element name="SharedWithUsers" ma:index="13" nillable="true" ma:displayName="Dela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Delat med information" ma:internalName="SharedWithDetails" ma:readOnly="true">
      <xsd:simpleType>
        <xsd:restriction base="dms:Note">
          <xsd:maxLength value="255"/>
        </xsd:restriction>
      </xsd:simpleType>
    </xsd:element>
    <xsd:element name="SharingHintHash" ma:index="15" nillable="true" ma:displayName="Delar tips,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a2de62b2-e783-4e30-aa1b-992e53552b81" xsi:nil="true"/>
  </documentManagement>
</p:properties>
</file>

<file path=customXml/itemProps1.xml><?xml version="1.0" encoding="utf-8"?>
<ds:datastoreItem xmlns:ds="http://schemas.openxmlformats.org/officeDocument/2006/customXml" ds:itemID="{52E6EA5F-FA21-4E5F-BF5E-DA2341512D37}">
  <ds:schemaRefs>
    <ds:schemaRef ds:uri="http://schemas.microsoft.com/sharepoint/v3/contenttype/forms"/>
  </ds:schemaRefs>
</ds:datastoreItem>
</file>

<file path=customXml/itemProps2.xml><?xml version="1.0" encoding="utf-8"?>
<ds:datastoreItem xmlns:ds="http://schemas.openxmlformats.org/officeDocument/2006/customXml" ds:itemID="{1D0FEA76-A6AF-4308-B016-F3D561AD81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2de62b2-e783-4e30-aa1b-992e53552b81"/>
    <ds:schemaRef ds:uri="002d5c55-512d-4532-a45a-a18556eb13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D6DB84-CF30-47E3-8F07-2C9AFCB98FAD}">
  <ds:schemaRefs>
    <ds:schemaRef ds:uri="http://schemas.openxmlformats.org/package/2006/metadata/core-properties"/>
    <ds:schemaRef ds:uri="http://purl.org/dc/dcmitype/"/>
    <ds:schemaRef ds:uri="http://schemas.microsoft.com/office/infopath/2007/PartnerControls"/>
    <ds:schemaRef ds:uri="a2de62b2-e783-4e30-aa1b-992e53552b81"/>
    <ds:schemaRef ds:uri="http://purl.org/dc/elements/1.1/"/>
    <ds:schemaRef ds:uri="http://schemas.microsoft.com/office/2006/metadata/properties"/>
    <ds:schemaRef ds:uri="http://schemas.microsoft.com/office/2006/documentManagement/types"/>
    <ds:schemaRef ds:uri="002d5c55-512d-4532-a45a-a18556eb1389"/>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KTH_presentation_template_Figtree_(231005)</Template>
  <TotalTime>1960</TotalTime>
  <Words>2297</Words>
  <Application>Microsoft Office PowerPoint</Application>
  <PresentationFormat>Widescreen</PresentationFormat>
  <Paragraphs>880</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Cambria Math</vt:lpstr>
      <vt:lpstr>Figtree</vt:lpstr>
      <vt:lpstr>Söhne</vt:lpstr>
      <vt:lpstr>ubuntu-v14-latin-500</vt:lpstr>
      <vt:lpstr>ubuntu-v14-latin-regular</vt:lpstr>
      <vt:lpstr>Office-tema</vt:lpstr>
      <vt:lpstr>Investigation of Conduction and Turn-off Losses Dynamics for Si and SiC-based Power Semiconductors</vt:lpstr>
      <vt:lpstr>AGENDA</vt:lpstr>
      <vt:lpstr>Introduction-Power Converters  </vt:lpstr>
      <vt:lpstr>Background on Power Semiconductors   </vt:lpstr>
      <vt:lpstr>MOSFET (Metal Oxide Semiconductor Field Effect Transistor) Physical Structure </vt:lpstr>
      <vt:lpstr>PowerPoint Presentation</vt:lpstr>
      <vt:lpstr>PowerPoint Presentation</vt:lpstr>
      <vt:lpstr>PowerPoint Presentation</vt:lpstr>
      <vt:lpstr>PowerPoint Presentation</vt:lpstr>
      <vt:lpstr>MOSFET Lumped Circuit Model with Parasitic Elements   </vt:lpstr>
      <vt:lpstr>Theory : Conduction Losses  </vt:lpstr>
      <vt:lpstr>PowerPoint Presentation</vt:lpstr>
      <vt:lpstr>Theory : Turn-off Losses  </vt:lpstr>
      <vt:lpstr>PowerPoint Presentation</vt:lpstr>
      <vt:lpstr>PowerPoint Presentation</vt:lpstr>
      <vt:lpstr>PowerPoint Presentation</vt:lpstr>
      <vt:lpstr>Si and SiC comparison   </vt:lpstr>
      <vt:lpstr>On-resistance comparison</vt:lpstr>
      <vt:lpstr>Switching Speed Comparison</vt:lpstr>
      <vt:lpstr>Thank you!   Question?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108</cp:revision>
  <cp:lastPrinted>2023-10-17T13:46:00Z</cp:lastPrinted>
  <dcterms:created xsi:type="dcterms:W3CDTF">2023-10-16T13:59:07Z</dcterms:created>
  <dcterms:modified xsi:type="dcterms:W3CDTF">2023-10-18T17:08:44Z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0x0101000F4D0C94E7891C408A70A4AFCBFC4B57</vt:lpwstr>
  </property>
</Properties>
</file>