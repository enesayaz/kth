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6" r:id="rId2"/>
    <p:sldId id="262" r:id="rId3"/>
    <p:sldId id="261" r:id="rId4"/>
    <p:sldId id="263" r:id="rId5"/>
    <p:sldId id="264" r:id="rId6"/>
    <p:sldId id="265" r:id="rId7"/>
    <p:sldId id="266" r:id="rId8"/>
    <p:sldId id="267" r:id="rId9"/>
    <p:sldId id="268" r:id="rId10"/>
    <p:sldId id="269" r:id="rId11"/>
  </p:sldIdLst>
  <p:sldSz cx="12192000" cy="6858000"/>
  <p:notesSz cx="6858000" cy="9144000"/>
  <p:embeddedFontLst>
    <p:embeddedFont>
      <p:font typeface="Figtree" panose="020B0604020202020204" charset="0"/>
      <p:regular r:id="rId13"/>
      <p:bold r:id="rId14"/>
      <p:italic r:id="rId15"/>
      <p:boldItalic r:id="rId16"/>
    </p:embeddedFont>
    <p:embeddedFont>
      <p:font typeface="Cambria Math" panose="02040503050406030204" pitchFamily="18" charset="0"/>
      <p:regular r:id="rId17"/>
    </p:embeddedFont>
    <p:embeddedFont>
      <p:font typeface="Calibri" panose="020F0502020204030204" pitchFamily="34" charset="0"/>
      <p:regular r:id="rId18"/>
      <p:bold r:id="rId19"/>
      <p:italic r:id="rId20"/>
      <p:boldItalic r:id="rId21"/>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6327"/>
  </p:normalViewPr>
  <p:slideViewPr>
    <p:cSldViewPr snapToGrid="0">
      <p:cViewPr varScale="1">
        <p:scale>
          <a:sx n="155" d="100"/>
          <a:sy n="155" d="100"/>
        </p:scale>
        <p:origin x="15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2024-11-06</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2024-11-06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2024-11-06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2024-11-06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2024-11-06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2024-11-06</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2024-11-06</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2024-11-06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2024-11-06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2024-11-06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2024-11-06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2024-11-06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2024-11-06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2024-11-06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2024-11-06</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2024-11-06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2024-11-06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2024-11-06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2024-11-06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2024-11-06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2024-11-06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2024-11-06</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12.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2.xml"/><Relationship Id="rId4" Type="http://schemas.openxmlformats.org/officeDocument/2006/relationships/image" Target="../media/image35.emf"/></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emf"/><Relationship Id="rId7" Type="http://schemas.openxmlformats.org/officeDocument/2006/relationships/image" Target="../media/image41.png"/><Relationship Id="rId2" Type="http://schemas.openxmlformats.org/officeDocument/2006/relationships/image" Target="../media/image36.emf"/><Relationship Id="rId1" Type="http://schemas.openxmlformats.org/officeDocument/2006/relationships/slideLayout" Target="../slideLayouts/slideLayout12.xml"/><Relationship Id="rId6" Type="http://schemas.openxmlformats.org/officeDocument/2006/relationships/image" Target="../media/image40.emf"/><Relationship Id="rId11" Type="http://schemas.openxmlformats.org/officeDocument/2006/relationships/image" Target="../media/image45.png"/><Relationship Id="rId5" Type="http://schemas.openxmlformats.org/officeDocument/2006/relationships/image" Target="../media/image39.emf"/><Relationship Id="rId10" Type="http://schemas.openxmlformats.org/officeDocument/2006/relationships/image" Target="../media/image44.png"/><Relationship Id="rId4" Type="http://schemas.openxmlformats.org/officeDocument/2006/relationships/image" Target="../media/image38.emf"/><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en-US" dirty="0" smtClean="0"/>
              <a:t>PWM Losses on Motor Side</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Enes </a:t>
            </a:r>
            <a:r>
              <a:rPr lang="en-US" smtClean="0"/>
              <a:t>Ayaz, KTH</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0778" y="304800"/>
            <a:ext cx="10990263" cy="568412"/>
          </a:xfrm>
        </p:spPr>
        <p:txBody>
          <a:bodyPr/>
          <a:lstStyle/>
          <a:p>
            <a:r>
              <a:rPr lang="en-US" dirty="0" smtClean="0"/>
              <a:t>Given Parameters </a:t>
            </a:r>
            <a:endParaRPr lang="sv-SE" dirty="0"/>
          </a:p>
        </p:txBody>
      </p:sp>
      <p:sp>
        <p:nvSpPr>
          <p:cNvPr id="9" name="Rectangle 8"/>
          <p:cNvSpPr/>
          <p:nvPr/>
        </p:nvSpPr>
        <p:spPr>
          <a:xfrm>
            <a:off x="230659" y="1991660"/>
            <a:ext cx="5410200" cy="2862322"/>
          </a:xfrm>
          <a:prstGeom prst="rect">
            <a:avLst/>
          </a:prstGeom>
        </p:spPr>
        <p:txBody>
          <a:bodyPr wrap="square">
            <a:spAutoFit/>
          </a:bodyPr>
          <a:lstStyle/>
          <a:p>
            <a:r>
              <a:rPr lang="sv-SE" dirty="0" smtClean="0">
                <a:solidFill>
                  <a:srgbClr val="008013"/>
                </a:solidFill>
                <a:latin typeface="Menlo"/>
              </a:rPr>
              <a:t>% Given parameters- For operating </a:t>
            </a:r>
            <a:r>
              <a:rPr lang="sv-SE" dirty="0" err="1" smtClean="0">
                <a:solidFill>
                  <a:srgbClr val="008013"/>
                </a:solidFill>
                <a:latin typeface="Menlo"/>
              </a:rPr>
              <a:t>point</a:t>
            </a:r>
            <a:r>
              <a:rPr lang="sv-SE" dirty="0" smtClean="0">
                <a:solidFill>
                  <a:srgbClr val="008013"/>
                </a:solidFill>
                <a:latin typeface="Menlo"/>
              </a:rPr>
              <a:t> 1</a:t>
            </a:r>
            <a:endParaRPr lang="sv-SE" dirty="0" smtClean="0">
              <a:latin typeface="Menlo"/>
            </a:endParaRPr>
          </a:p>
          <a:p>
            <a:r>
              <a:rPr lang="sv-SE" dirty="0" smtClean="0">
                <a:latin typeface="Menlo"/>
              </a:rPr>
              <a:t>id = -224.33; </a:t>
            </a:r>
            <a:r>
              <a:rPr lang="sv-SE" dirty="0" smtClean="0">
                <a:solidFill>
                  <a:srgbClr val="008013"/>
                </a:solidFill>
                <a:latin typeface="Menlo"/>
              </a:rPr>
              <a:t>% d-</a:t>
            </a:r>
            <a:r>
              <a:rPr lang="sv-SE" dirty="0" err="1" smtClean="0">
                <a:solidFill>
                  <a:srgbClr val="008013"/>
                </a:solidFill>
                <a:latin typeface="Menlo"/>
              </a:rPr>
              <a:t>axis</a:t>
            </a:r>
            <a:r>
              <a:rPr lang="sv-SE" dirty="0" smtClean="0">
                <a:solidFill>
                  <a:srgbClr val="008013"/>
                </a:solidFill>
                <a:latin typeface="Menlo"/>
              </a:rPr>
              <a:t> </a:t>
            </a:r>
            <a:r>
              <a:rPr lang="sv-SE" dirty="0" err="1" smtClean="0">
                <a:solidFill>
                  <a:srgbClr val="008013"/>
                </a:solidFill>
                <a:latin typeface="Menlo"/>
              </a:rPr>
              <a:t>current</a:t>
            </a:r>
            <a:r>
              <a:rPr lang="sv-SE" dirty="0" smtClean="0">
                <a:solidFill>
                  <a:srgbClr val="008013"/>
                </a:solidFill>
                <a:latin typeface="Menlo"/>
              </a:rPr>
              <a:t> </a:t>
            </a:r>
            <a:r>
              <a:rPr lang="sv-SE" dirty="0" err="1" smtClean="0">
                <a:solidFill>
                  <a:srgbClr val="008013"/>
                </a:solidFill>
                <a:latin typeface="Menlo"/>
              </a:rPr>
              <a:t>value</a:t>
            </a:r>
            <a:r>
              <a:rPr lang="sv-SE" dirty="0" smtClean="0">
                <a:solidFill>
                  <a:srgbClr val="008013"/>
                </a:solidFill>
                <a:latin typeface="Menlo"/>
              </a:rPr>
              <a:t> in A</a:t>
            </a:r>
            <a:endParaRPr lang="sv-SE" dirty="0" smtClean="0">
              <a:latin typeface="Menlo"/>
            </a:endParaRPr>
          </a:p>
          <a:p>
            <a:r>
              <a:rPr lang="sv-SE" dirty="0" err="1" smtClean="0">
                <a:latin typeface="Menlo"/>
              </a:rPr>
              <a:t>iq</a:t>
            </a:r>
            <a:r>
              <a:rPr lang="sv-SE" dirty="0" smtClean="0">
                <a:latin typeface="Menlo"/>
              </a:rPr>
              <a:t> = 325.97; </a:t>
            </a:r>
            <a:r>
              <a:rPr lang="sv-SE" dirty="0" smtClean="0">
                <a:solidFill>
                  <a:srgbClr val="008013"/>
                </a:solidFill>
                <a:latin typeface="Menlo"/>
              </a:rPr>
              <a:t>% q-</a:t>
            </a:r>
            <a:r>
              <a:rPr lang="sv-SE" dirty="0" err="1" smtClean="0">
                <a:solidFill>
                  <a:srgbClr val="008013"/>
                </a:solidFill>
                <a:latin typeface="Menlo"/>
              </a:rPr>
              <a:t>axis</a:t>
            </a:r>
            <a:r>
              <a:rPr lang="sv-SE" dirty="0" smtClean="0">
                <a:solidFill>
                  <a:srgbClr val="008013"/>
                </a:solidFill>
                <a:latin typeface="Menlo"/>
              </a:rPr>
              <a:t> </a:t>
            </a:r>
            <a:r>
              <a:rPr lang="sv-SE" dirty="0" err="1" smtClean="0">
                <a:solidFill>
                  <a:srgbClr val="008013"/>
                </a:solidFill>
                <a:latin typeface="Menlo"/>
              </a:rPr>
              <a:t>current</a:t>
            </a:r>
            <a:r>
              <a:rPr lang="sv-SE" dirty="0" smtClean="0">
                <a:solidFill>
                  <a:srgbClr val="008013"/>
                </a:solidFill>
                <a:latin typeface="Menlo"/>
              </a:rPr>
              <a:t> </a:t>
            </a:r>
            <a:r>
              <a:rPr lang="sv-SE" dirty="0" err="1" smtClean="0">
                <a:solidFill>
                  <a:srgbClr val="008013"/>
                </a:solidFill>
                <a:latin typeface="Menlo"/>
              </a:rPr>
              <a:t>value</a:t>
            </a:r>
            <a:r>
              <a:rPr lang="sv-SE" dirty="0" smtClean="0">
                <a:solidFill>
                  <a:srgbClr val="008013"/>
                </a:solidFill>
                <a:latin typeface="Menlo"/>
              </a:rPr>
              <a:t> in A</a:t>
            </a:r>
            <a:endParaRPr lang="sv-SE" dirty="0" smtClean="0">
              <a:latin typeface="Menlo"/>
            </a:endParaRPr>
          </a:p>
          <a:p>
            <a:r>
              <a:rPr lang="sv-SE" dirty="0" smtClean="0">
                <a:latin typeface="Menlo"/>
              </a:rPr>
              <a:t>vd = -138.8; </a:t>
            </a:r>
            <a:r>
              <a:rPr lang="sv-SE" dirty="0" smtClean="0">
                <a:solidFill>
                  <a:srgbClr val="008013"/>
                </a:solidFill>
                <a:latin typeface="Menlo"/>
              </a:rPr>
              <a:t>% d-</a:t>
            </a:r>
            <a:r>
              <a:rPr lang="sv-SE" dirty="0" err="1" smtClean="0">
                <a:solidFill>
                  <a:srgbClr val="008013"/>
                </a:solidFill>
                <a:latin typeface="Menlo"/>
              </a:rPr>
              <a:t>axis</a:t>
            </a:r>
            <a:r>
              <a:rPr lang="sv-SE" dirty="0" smtClean="0">
                <a:solidFill>
                  <a:srgbClr val="008013"/>
                </a:solidFill>
                <a:latin typeface="Menlo"/>
              </a:rPr>
              <a:t> </a:t>
            </a:r>
            <a:r>
              <a:rPr lang="sv-SE" dirty="0" err="1" smtClean="0">
                <a:solidFill>
                  <a:srgbClr val="008013"/>
                </a:solidFill>
                <a:latin typeface="Menlo"/>
              </a:rPr>
              <a:t>voltage</a:t>
            </a:r>
            <a:r>
              <a:rPr lang="sv-SE" dirty="0" smtClean="0">
                <a:solidFill>
                  <a:srgbClr val="008013"/>
                </a:solidFill>
                <a:latin typeface="Menlo"/>
              </a:rPr>
              <a:t> </a:t>
            </a:r>
            <a:r>
              <a:rPr lang="sv-SE" dirty="0" err="1" smtClean="0">
                <a:solidFill>
                  <a:srgbClr val="008013"/>
                </a:solidFill>
                <a:latin typeface="Menlo"/>
              </a:rPr>
              <a:t>value</a:t>
            </a:r>
            <a:r>
              <a:rPr lang="sv-SE" dirty="0" smtClean="0">
                <a:solidFill>
                  <a:srgbClr val="008013"/>
                </a:solidFill>
                <a:latin typeface="Menlo"/>
              </a:rPr>
              <a:t> in V</a:t>
            </a:r>
            <a:endParaRPr lang="sv-SE" dirty="0" smtClean="0">
              <a:latin typeface="Menlo"/>
            </a:endParaRPr>
          </a:p>
          <a:p>
            <a:r>
              <a:rPr lang="sv-SE" dirty="0" err="1" smtClean="0">
                <a:latin typeface="Menlo"/>
              </a:rPr>
              <a:t>vq</a:t>
            </a:r>
            <a:r>
              <a:rPr lang="sv-SE" dirty="0" smtClean="0">
                <a:latin typeface="Menlo"/>
              </a:rPr>
              <a:t> = 94.9; </a:t>
            </a:r>
            <a:r>
              <a:rPr lang="sv-SE" dirty="0" smtClean="0">
                <a:solidFill>
                  <a:srgbClr val="008013"/>
                </a:solidFill>
                <a:latin typeface="Menlo"/>
              </a:rPr>
              <a:t>% q-</a:t>
            </a:r>
            <a:r>
              <a:rPr lang="sv-SE" dirty="0" err="1" smtClean="0">
                <a:solidFill>
                  <a:srgbClr val="008013"/>
                </a:solidFill>
                <a:latin typeface="Menlo"/>
              </a:rPr>
              <a:t>axis</a:t>
            </a:r>
            <a:r>
              <a:rPr lang="sv-SE" dirty="0" smtClean="0">
                <a:solidFill>
                  <a:srgbClr val="008013"/>
                </a:solidFill>
                <a:latin typeface="Menlo"/>
              </a:rPr>
              <a:t> </a:t>
            </a:r>
            <a:r>
              <a:rPr lang="sv-SE" dirty="0" err="1" smtClean="0">
                <a:solidFill>
                  <a:srgbClr val="008013"/>
                </a:solidFill>
                <a:latin typeface="Menlo"/>
              </a:rPr>
              <a:t>voltage</a:t>
            </a:r>
            <a:r>
              <a:rPr lang="sv-SE" dirty="0" smtClean="0">
                <a:solidFill>
                  <a:srgbClr val="008013"/>
                </a:solidFill>
                <a:latin typeface="Menlo"/>
              </a:rPr>
              <a:t> </a:t>
            </a:r>
            <a:r>
              <a:rPr lang="sv-SE" dirty="0" err="1" smtClean="0">
                <a:solidFill>
                  <a:srgbClr val="008013"/>
                </a:solidFill>
                <a:latin typeface="Menlo"/>
              </a:rPr>
              <a:t>value</a:t>
            </a:r>
            <a:r>
              <a:rPr lang="sv-SE" dirty="0" smtClean="0">
                <a:solidFill>
                  <a:srgbClr val="008013"/>
                </a:solidFill>
                <a:latin typeface="Menlo"/>
              </a:rPr>
              <a:t> in V</a:t>
            </a:r>
            <a:endParaRPr lang="sv-SE" dirty="0" smtClean="0">
              <a:latin typeface="Menlo"/>
            </a:endParaRPr>
          </a:p>
          <a:p>
            <a:r>
              <a:rPr lang="sv-SE" dirty="0" err="1" smtClean="0">
                <a:latin typeface="Menlo"/>
              </a:rPr>
              <a:t>Vdc</a:t>
            </a:r>
            <a:r>
              <a:rPr lang="sv-SE" dirty="0" smtClean="0">
                <a:latin typeface="Menlo"/>
              </a:rPr>
              <a:t>= 625; </a:t>
            </a:r>
            <a:r>
              <a:rPr lang="sv-SE" dirty="0" smtClean="0">
                <a:solidFill>
                  <a:srgbClr val="008013"/>
                </a:solidFill>
                <a:latin typeface="Menlo"/>
              </a:rPr>
              <a:t>% DC </a:t>
            </a:r>
            <a:r>
              <a:rPr lang="sv-SE" dirty="0" err="1" smtClean="0">
                <a:solidFill>
                  <a:srgbClr val="008013"/>
                </a:solidFill>
                <a:latin typeface="Menlo"/>
              </a:rPr>
              <a:t>link</a:t>
            </a:r>
            <a:r>
              <a:rPr lang="sv-SE" dirty="0" smtClean="0">
                <a:solidFill>
                  <a:srgbClr val="008013"/>
                </a:solidFill>
                <a:latin typeface="Menlo"/>
              </a:rPr>
              <a:t> </a:t>
            </a:r>
            <a:r>
              <a:rPr lang="sv-SE" dirty="0" err="1" smtClean="0">
                <a:solidFill>
                  <a:srgbClr val="008013"/>
                </a:solidFill>
                <a:latin typeface="Menlo"/>
              </a:rPr>
              <a:t>voltage</a:t>
            </a:r>
            <a:r>
              <a:rPr lang="sv-SE" dirty="0" smtClean="0">
                <a:solidFill>
                  <a:srgbClr val="008013"/>
                </a:solidFill>
                <a:latin typeface="Menlo"/>
              </a:rPr>
              <a:t> in V</a:t>
            </a:r>
            <a:endParaRPr lang="sv-SE" dirty="0" smtClean="0">
              <a:latin typeface="Menlo"/>
            </a:endParaRPr>
          </a:p>
          <a:p>
            <a:r>
              <a:rPr lang="sv-SE" dirty="0" smtClean="0">
                <a:latin typeface="Menlo"/>
              </a:rPr>
              <a:t>Ld= 62.1e-6; </a:t>
            </a:r>
            <a:r>
              <a:rPr lang="sv-SE" dirty="0" smtClean="0">
                <a:solidFill>
                  <a:srgbClr val="008013"/>
                </a:solidFill>
                <a:latin typeface="Menlo"/>
              </a:rPr>
              <a:t>% d-</a:t>
            </a:r>
            <a:r>
              <a:rPr lang="sv-SE" dirty="0" err="1" smtClean="0">
                <a:solidFill>
                  <a:srgbClr val="008013"/>
                </a:solidFill>
                <a:latin typeface="Menlo"/>
              </a:rPr>
              <a:t>axis</a:t>
            </a:r>
            <a:r>
              <a:rPr lang="sv-SE" dirty="0" smtClean="0">
                <a:solidFill>
                  <a:srgbClr val="008013"/>
                </a:solidFill>
                <a:latin typeface="Menlo"/>
              </a:rPr>
              <a:t> </a:t>
            </a:r>
            <a:r>
              <a:rPr lang="sv-SE" dirty="0" err="1" smtClean="0">
                <a:solidFill>
                  <a:srgbClr val="008013"/>
                </a:solidFill>
                <a:latin typeface="Menlo"/>
              </a:rPr>
              <a:t>inductance</a:t>
            </a:r>
            <a:r>
              <a:rPr lang="sv-SE" dirty="0" smtClean="0">
                <a:solidFill>
                  <a:srgbClr val="008013"/>
                </a:solidFill>
                <a:latin typeface="Menlo"/>
              </a:rPr>
              <a:t> </a:t>
            </a:r>
            <a:r>
              <a:rPr lang="sv-SE" dirty="0" err="1" smtClean="0">
                <a:solidFill>
                  <a:srgbClr val="008013"/>
                </a:solidFill>
                <a:latin typeface="Menlo"/>
              </a:rPr>
              <a:t>value</a:t>
            </a:r>
            <a:r>
              <a:rPr lang="sv-SE" dirty="0" smtClean="0">
                <a:solidFill>
                  <a:srgbClr val="008013"/>
                </a:solidFill>
                <a:latin typeface="Menlo"/>
              </a:rPr>
              <a:t> in H</a:t>
            </a:r>
            <a:endParaRPr lang="sv-SE" dirty="0" smtClean="0">
              <a:latin typeface="Menlo"/>
            </a:endParaRPr>
          </a:p>
          <a:p>
            <a:r>
              <a:rPr lang="sv-SE" dirty="0" err="1" smtClean="0">
                <a:latin typeface="Menlo"/>
              </a:rPr>
              <a:t>Lq</a:t>
            </a:r>
            <a:r>
              <a:rPr lang="sv-SE" dirty="0" smtClean="0">
                <a:latin typeface="Menlo"/>
              </a:rPr>
              <a:t>=101e-6; </a:t>
            </a:r>
            <a:r>
              <a:rPr lang="sv-SE" dirty="0" smtClean="0">
                <a:solidFill>
                  <a:srgbClr val="008013"/>
                </a:solidFill>
                <a:latin typeface="Menlo"/>
              </a:rPr>
              <a:t>% q-</a:t>
            </a:r>
            <a:r>
              <a:rPr lang="sv-SE" dirty="0" err="1" smtClean="0">
                <a:solidFill>
                  <a:srgbClr val="008013"/>
                </a:solidFill>
                <a:latin typeface="Menlo"/>
              </a:rPr>
              <a:t>axis</a:t>
            </a:r>
            <a:r>
              <a:rPr lang="sv-SE" dirty="0" smtClean="0">
                <a:solidFill>
                  <a:srgbClr val="008013"/>
                </a:solidFill>
                <a:latin typeface="Menlo"/>
              </a:rPr>
              <a:t> </a:t>
            </a:r>
            <a:r>
              <a:rPr lang="sv-SE" dirty="0" err="1" smtClean="0">
                <a:solidFill>
                  <a:srgbClr val="008013"/>
                </a:solidFill>
                <a:latin typeface="Menlo"/>
              </a:rPr>
              <a:t>inductance</a:t>
            </a:r>
            <a:r>
              <a:rPr lang="sv-SE" dirty="0" smtClean="0">
                <a:solidFill>
                  <a:srgbClr val="008013"/>
                </a:solidFill>
                <a:latin typeface="Menlo"/>
              </a:rPr>
              <a:t> </a:t>
            </a:r>
            <a:r>
              <a:rPr lang="sv-SE" dirty="0" err="1" smtClean="0">
                <a:solidFill>
                  <a:srgbClr val="008013"/>
                </a:solidFill>
                <a:latin typeface="Menlo"/>
              </a:rPr>
              <a:t>value</a:t>
            </a:r>
            <a:r>
              <a:rPr lang="sv-SE" dirty="0" smtClean="0">
                <a:solidFill>
                  <a:srgbClr val="008013"/>
                </a:solidFill>
                <a:latin typeface="Menlo"/>
              </a:rPr>
              <a:t> in H</a:t>
            </a:r>
            <a:endParaRPr lang="sv-SE" dirty="0" smtClean="0">
              <a:latin typeface="Menlo"/>
            </a:endParaRPr>
          </a:p>
          <a:p>
            <a:r>
              <a:rPr lang="sv-SE" dirty="0" err="1" smtClean="0">
                <a:latin typeface="Menlo"/>
              </a:rPr>
              <a:t>Torque</a:t>
            </a:r>
            <a:r>
              <a:rPr lang="sv-SE" dirty="0" smtClean="0">
                <a:latin typeface="Menlo"/>
              </a:rPr>
              <a:t>= 600; </a:t>
            </a:r>
            <a:r>
              <a:rPr lang="sv-SE" dirty="0" smtClean="0">
                <a:solidFill>
                  <a:srgbClr val="008013"/>
                </a:solidFill>
                <a:latin typeface="Menlo"/>
              </a:rPr>
              <a:t>% </a:t>
            </a:r>
            <a:r>
              <a:rPr lang="sv-SE" dirty="0" err="1" smtClean="0">
                <a:solidFill>
                  <a:srgbClr val="008013"/>
                </a:solidFill>
                <a:latin typeface="Menlo"/>
              </a:rPr>
              <a:t>Torque</a:t>
            </a:r>
            <a:r>
              <a:rPr lang="sv-SE" dirty="0" smtClean="0">
                <a:solidFill>
                  <a:srgbClr val="008013"/>
                </a:solidFill>
                <a:latin typeface="Menlo"/>
              </a:rPr>
              <a:t> </a:t>
            </a:r>
            <a:r>
              <a:rPr lang="sv-SE" dirty="0" err="1" smtClean="0">
                <a:solidFill>
                  <a:srgbClr val="008013"/>
                </a:solidFill>
                <a:latin typeface="Menlo"/>
              </a:rPr>
              <a:t>of</a:t>
            </a:r>
            <a:r>
              <a:rPr lang="sv-SE" dirty="0" smtClean="0">
                <a:solidFill>
                  <a:srgbClr val="008013"/>
                </a:solidFill>
                <a:latin typeface="Menlo"/>
              </a:rPr>
              <a:t> the motor in </a:t>
            </a:r>
            <a:r>
              <a:rPr lang="sv-SE" dirty="0" err="1" smtClean="0">
                <a:solidFill>
                  <a:srgbClr val="008013"/>
                </a:solidFill>
                <a:latin typeface="Menlo"/>
              </a:rPr>
              <a:t>N.m</a:t>
            </a:r>
            <a:endParaRPr lang="sv-SE" dirty="0" smtClean="0">
              <a:latin typeface="Menlo"/>
            </a:endParaRPr>
          </a:p>
          <a:p>
            <a:r>
              <a:rPr lang="sv-SE" dirty="0" smtClean="0">
                <a:latin typeface="Menlo"/>
              </a:rPr>
              <a:t>RPM = 3000; </a:t>
            </a:r>
            <a:r>
              <a:rPr lang="sv-SE" dirty="0" smtClean="0">
                <a:solidFill>
                  <a:srgbClr val="008013"/>
                </a:solidFill>
                <a:latin typeface="Menlo"/>
              </a:rPr>
              <a:t>% </a:t>
            </a:r>
            <a:r>
              <a:rPr lang="sv-SE" dirty="0" err="1" smtClean="0">
                <a:solidFill>
                  <a:srgbClr val="008013"/>
                </a:solidFill>
                <a:latin typeface="Menlo"/>
              </a:rPr>
              <a:t>Rotational</a:t>
            </a:r>
            <a:r>
              <a:rPr lang="sv-SE" dirty="0" smtClean="0">
                <a:solidFill>
                  <a:srgbClr val="008013"/>
                </a:solidFill>
                <a:latin typeface="Menlo"/>
              </a:rPr>
              <a:t> speed in RPM</a:t>
            </a:r>
            <a:endParaRPr lang="sv-SE" dirty="0">
              <a:latin typeface="Menlo"/>
            </a:endParaRPr>
          </a:p>
        </p:txBody>
      </p:sp>
      <p:sp>
        <p:nvSpPr>
          <p:cNvPr id="10" name="Rectangle 9"/>
          <p:cNvSpPr/>
          <p:nvPr/>
        </p:nvSpPr>
        <p:spPr>
          <a:xfrm>
            <a:off x="6137190" y="1991660"/>
            <a:ext cx="5360773" cy="2862322"/>
          </a:xfrm>
          <a:prstGeom prst="rect">
            <a:avLst/>
          </a:prstGeom>
        </p:spPr>
        <p:txBody>
          <a:bodyPr wrap="square">
            <a:spAutoFit/>
          </a:bodyPr>
          <a:lstStyle/>
          <a:p>
            <a:r>
              <a:rPr lang="sv-SE" dirty="0">
                <a:solidFill>
                  <a:srgbClr val="008013"/>
                </a:solidFill>
                <a:latin typeface="Menlo"/>
              </a:rPr>
              <a:t>% Given parameters- For operating </a:t>
            </a:r>
            <a:r>
              <a:rPr lang="sv-SE" dirty="0" err="1">
                <a:solidFill>
                  <a:srgbClr val="008013"/>
                </a:solidFill>
                <a:latin typeface="Menlo"/>
              </a:rPr>
              <a:t>point</a:t>
            </a:r>
            <a:r>
              <a:rPr lang="sv-SE" dirty="0">
                <a:solidFill>
                  <a:srgbClr val="008013"/>
                </a:solidFill>
                <a:latin typeface="Menlo"/>
              </a:rPr>
              <a:t> </a:t>
            </a:r>
            <a:r>
              <a:rPr lang="sv-SE" dirty="0" smtClean="0">
                <a:solidFill>
                  <a:srgbClr val="008013"/>
                </a:solidFill>
                <a:latin typeface="Menlo"/>
              </a:rPr>
              <a:t>2</a:t>
            </a:r>
            <a:endParaRPr lang="sv-SE" dirty="0">
              <a:latin typeface="Menlo"/>
            </a:endParaRPr>
          </a:p>
          <a:p>
            <a:r>
              <a:rPr lang="sv-SE" dirty="0" smtClean="0">
                <a:latin typeface="Menlo"/>
              </a:rPr>
              <a:t>id </a:t>
            </a:r>
            <a:r>
              <a:rPr lang="sv-SE" dirty="0">
                <a:latin typeface="Menlo"/>
              </a:rPr>
              <a:t>= -118.36; </a:t>
            </a:r>
            <a:r>
              <a:rPr lang="sv-SE" dirty="0">
                <a:solidFill>
                  <a:srgbClr val="008013"/>
                </a:solidFill>
                <a:latin typeface="Menlo"/>
              </a:rPr>
              <a:t>% d-</a:t>
            </a:r>
            <a:r>
              <a:rPr lang="sv-SE" dirty="0" err="1">
                <a:solidFill>
                  <a:srgbClr val="008013"/>
                </a:solidFill>
                <a:latin typeface="Menlo"/>
              </a:rPr>
              <a:t>axis</a:t>
            </a:r>
            <a:r>
              <a:rPr lang="sv-SE" dirty="0">
                <a:solidFill>
                  <a:srgbClr val="008013"/>
                </a:solidFill>
                <a:latin typeface="Menlo"/>
              </a:rPr>
              <a:t> </a:t>
            </a:r>
            <a:r>
              <a:rPr lang="sv-SE" dirty="0" err="1">
                <a:solidFill>
                  <a:srgbClr val="008013"/>
                </a:solidFill>
                <a:latin typeface="Menlo"/>
              </a:rPr>
              <a:t>current</a:t>
            </a:r>
            <a:r>
              <a:rPr lang="sv-SE" dirty="0">
                <a:solidFill>
                  <a:srgbClr val="008013"/>
                </a:solidFill>
                <a:latin typeface="Menlo"/>
              </a:rPr>
              <a:t> </a:t>
            </a:r>
            <a:r>
              <a:rPr lang="sv-SE" dirty="0" err="1">
                <a:solidFill>
                  <a:srgbClr val="008013"/>
                </a:solidFill>
                <a:latin typeface="Menlo"/>
              </a:rPr>
              <a:t>value</a:t>
            </a:r>
            <a:r>
              <a:rPr lang="sv-SE" dirty="0">
                <a:solidFill>
                  <a:srgbClr val="008013"/>
                </a:solidFill>
                <a:latin typeface="Menlo"/>
              </a:rPr>
              <a:t> in A</a:t>
            </a:r>
            <a:endParaRPr lang="sv-SE" dirty="0">
              <a:latin typeface="Menlo"/>
            </a:endParaRPr>
          </a:p>
          <a:p>
            <a:r>
              <a:rPr lang="sv-SE" dirty="0" err="1">
                <a:latin typeface="Menlo"/>
              </a:rPr>
              <a:t>iq</a:t>
            </a:r>
            <a:r>
              <a:rPr lang="sv-SE" dirty="0">
                <a:latin typeface="Menlo"/>
              </a:rPr>
              <a:t> = 222.25; </a:t>
            </a:r>
            <a:r>
              <a:rPr lang="sv-SE" dirty="0">
                <a:solidFill>
                  <a:srgbClr val="008013"/>
                </a:solidFill>
                <a:latin typeface="Menlo"/>
              </a:rPr>
              <a:t>% q-</a:t>
            </a:r>
            <a:r>
              <a:rPr lang="sv-SE" dirty="0" err="1">
                <a:solidFill>
                  <a:srgbClr val="008013"/>
                </a:solidFill>
                <a:latin typeface="Menlo"/>
              </a:rPr>
              <a:t>axis</a:t>
            </a:r>
            <a:r>
              <a:rPr lang="sv-SE" dirty="0">
                <a:solidFill>
                  <a:srgbClr val="008013"/>
                </a:solidFill>
                <a:latin typeface="Menlo"/>
              </a:rPr>
              <a:t> </a:t>
            </a:r>
            <a:r>
              <a:rPr lang="sv-SE" dirty="0" err="1">
                <a:solidFill>
                  <a:srgbClr val="008013"/>
                </a:solidFill>
                <a:latin typeface="Menlo"/>
              </a:rPr>
              <a:t>current</a:t>
            </a:r>
            <a:r>
              <a:rPr lang="sv-SE" dirty="0">
                <a:solidFill>
                  <a:srgbClr val="008013"/>
                </a:solidFill>
                <a:latin typeface="Menlo"/>
              </a:rPr>
              <a:t> </a:t>
            </a:r>
            <a:r>
              <a:rPr lang="sv-SE" dirty="0" err="1">
                <a:solidFill>
                  <a:srgbClr val="008013"/>
                </a:solidFill>
                <a:latin typeface="Menlo"/>
              </a:rPr>
              <a:t>value</a:t>
            </a:r>
            <a:r>
              <a:rPr lang="sv-SE" dirty="0">
                <a:solidFill>
                  <a:srgbClr val="008013"/>
                </a:solidFill>
                <a:latin typeface="Menlo"/>
              </a:rPr>
              <a:t> in A</a:t>
            </a:r>
            <a:endParaRPr lang="sv-SE" dirty="0">
              <a:latin typeface="Menlo"/>
            </a:endParaRPr>
          </a:p>
          <a:p>
            <a:r>
              <a:rPr lang="sv-SE" dirty="0">
                <a:latin typeface="Menlo"/>
              </a:rPr>
              <a:t>vd = -198.3; </a:t>
            </a:r>
            <a:r>
              <a:rPr lang="sv-SE" dirty="0">
                <a:solidFill>
                  <a:srgbClr val="008013"/>
                </a:solidFill>
                <a:latin typeface="Menlo"/>
              </a:rPr>
              <a:t>% d-</a:t>
            </a:r>
            <a:r>
              <a:rPr lang="sv-SE" dirty="0" err="1">
                <a:solidFill>
                  <a:srgbClr val="008013"/>
                </a:solidFill>
                <a:latin typeface="Menlo"/>
              </a:rPr>
              <a:t>axis</a:t>
            </a:r>
            <a:r>
              <a:rPr lang="sv-SE" dirty="0">
                <a:solidFill>
                  <a:srgbClr val="008013"/>
                </a:solidFill>
                <a:latin typeface="Menlo"/>
              </a:rPr>
              <a:t> </a:t>
            </a:r>
            <a:r>
              <a:rPr lang="sv-SE" dirty="0" err="1">
                <a:solidFill>
                  <a:srgbClr val="008013"/>
                </a:solidFill>
                <a:latin typeface="Menlo"/>
              </a:rPr>
              <a:t>voltage</a:t>
            </a:r>
            <a:r>
              <a:rPr lang="sv-SE" dirty="0">
                <a:solidFill>
                  <a:srgbClr val="008013"/>
                </a:solidFill>
                <a:latin typeface="Menlo"/>
              </a:rPr>
              <a:t> </a:t>
            </a:r>
            <a:r>
              <a:rPr lang="sv-SE" dirty="0" err="1">
                <a:solidFill>
                  <a:srgbClr val="008013"/>
                </a:solidFill>
                <a:latin typeface="Menlo"/>
              </a:rPr>
              <a:t>value</a:t>
            </a:r>
            <a:r>
              <a:rPr lang="sv-SE" dirty="0">
                <a:solidFill>
                  <a:srgbClr val="008013"/>
                </a:solidFill>
                <a:latin typeface="Menlo"/>
              </a:rPr>
              <a:t> in V</a:t>
            </a:r>
            <a:endParaRPr lang="sv-SE" dirty="0">
              <a:latin typeface="Menlo"/>
            </a:endParaRPr>
          </a:p>
          <a:p>
            <a:r>
              <a:rPr lang="sv-SE" dirty="0" err="1">
                <a:latin typeface="Menlo"/>
              </a:rPr>
              <a:t>vq</a:t>
            </a:r>
            <a:r>
              <a:rPr lang="sv-SE" dirty="0">
                <a:latin typeface="Menlo"/>
              </a:rPr>
              <a:t> = 175.4; </a:t>
            </a:r>
            <a:r>
              <a:rPr lang="sv-SE" dirty="0">
                <a:solidFill>
                  <a:srgbClr val="008013"/>
                </a:solidFill>
                <a:latin typeface="Menlo"/>
              </a:rPr>
              <a:t>% q-</a:t>
            </a:r>
            <a:r>
              <a:rPr lang="sv-SE" dirty="0" err="1">
                <a:solidFill>
                  <a:srgbClr val="008013"/>
                </a:solidFill>
                <a:latin typeface="Menlo"/>
              </a:rPr>
              <a:t>axis</a:t>
            </a:r>
            <a:r>
              <a:rPr lang="sv-SE" dirty="0">
                <a:solidFill>
                  <a:srgbClr val="008013"/>
                </a:solidFill>
                <a:latin typeface="Menlo"/>
              </a:rPr>
              <a:t> </a:t>
            </a:r>
            <a:r>
              <a:rPr lang="sv-SE" dirty="0" err="1">
                <a:solidFill>
                  <a:srgbClr val="008013"/>
                </a:solidFill>
                <a:latin typeface="Menlo"/>
              </a:rPr>
              <a:t>voltage</a:t>
            </a:r>
            <a:r>
              <a:rPr lang="sv-SE" dirty="0">
                <a:solidFill>
                  <a:srgbClr val="008013"/>
                </a:solidFill>
                <a:latin typeface="Menlo"/>
              </a:rPr>
              <a:t> </a:t>
            </a:r>
            <a:r>
              <a:rPr lang="sv-SE" dirty="0" err="1">
                <a:solidFill>
                  <a:srgbClr val="008013"/>
                </a:solidFill>
                <a:latin typeface="Menlo"/>
              </a:rPr>
              <a:t>value</a:t>
            </a:r>
            <a:r>
              <a:rPr lang="sv-SE" dirty="0">
                <a:solidFill>
                  <a:srgbClr val="008013"/>
                </a:solidFill>
                <a:latin typeface="Menlo"/>
              </a:rPr>
              <a:t> in V</a:t>
            </a:r>
            <a:endParaRPr lang="sv-SE" dirty="0">
              <a:latin typeface="Menlo"/>
            </a:endParaRPr>
          </a:p>
          <a:p>
            <a:r>
              <a:rPr lang="sv-SE" dirty="0" err="1">
                <a:latin typeface="Menlo"/>
              </a:rPr>
              <a:t>Vdc</a:t>
            </a:r>
            <a:r>
              <a:rPr lang="sv-SE" dirty="0">
                <a:latin typeface="Menlo"/>
              </a:rPr>
              <a:t>= 625; </a:t>
            </a:r>
            <a:r>
              <a:rPr lang="sv-SE" dirty="0">
                <a:solidFill>
                  <a:srgbClr val="008013"/>
                </a:solidFill>
                <a:latin typeface="Menlo"/>
              </a:rPr>
              <a:t>% DC </a:t>
            </a:r>
            <a:r>
              <a:rPr lang="sv-SE" dirty="0" err="1">
                <a:solidFill>
                  <a:srgbClr val="008013"/>
                </a:solidFill>
                <a:latin typeface="Menlo"/>
              </a:rPr>
              <a:t>link</a:t>
            </a:r>
            <a:r>
              <a:rPr lang="sv-SE" dirty="0">
                <a:solidFill>
                  <a:srgbClr val="008013"/>
                </a:solidFill>
                <a:latin typeface="Menlo"/>
              </a:rPr>
              <a:t> </a:t>
            </a:r>
            <a:r>
              <a:rPr lang="sv-SE" dirty="0" err="1">
                <a:solidFill>
                  <a:srgbClr val="008013"/>
                </a:solidFill>
                <a:latin typeface="Menlo"/>
              </a:rPr>
              <a:t>voltage</a:t>
            </a:r>
            <a:r>
              <a:rPr lang="sv-SE" dirty="0">
                <a:solidFill>
                  <a:srgbClr val="008013"/>
                </a:solidFill>
                <a:latin typeface="Menlo"/>
              </a:rPr>
              <a:t> in V</a:t>
            </a:r>
            <a:endParaRPr lang="sv-SE" dirty="0">
              <a:latin typeface="Menlo"/>
            </a:endParaRPr>
          </a:p>
          <a:p>
            <a:r>
              <a:rPr lang="sv-SE" dirty="0">
                <a:latin typeface="Menlo"/>
              </a:rPr>
              <a:t>Ld= 66e-6; </a:t>
            </a:r>
            <a:r>
              <a:rPr lang="sv-SE" dirty="0">
                <a:solidFill>
                  <a:srgbClr val="008013"/>
                </a:solidFill>
                <a:latin typeface="Menlo"/>
              </a:rPr>
              <a:t>% d-</a:t>
            </a:r>
            <a:r>
              <a:rPr lang="sv-SE" dirty="0" err="1">
                <a:solidFill>
                  <a:srgbClr val="008013"/>
                </a:solidFill>
                <a:latin typeface="Menlo"/>
              </a:rPr>
              <a:t>axis</a:t>
            </a:r>
            <a:r>
              <a:rPr lang="sv-SE" dirty="0">
                <a:solidFill>
                  <a:srgbClr val="008013"/>
                </a:solidFill>
                <a:latin typeface="Menlo"/>
              </a:rPr>
              <a:t> </a:t>
            </a:r>
            <a:r>
              <a:rPr lang="sv-SE" dirty="0" err="1">
                <a:solidFill>
                  <a:srgbClr val="008013"/>
                </a:solidFill>
                <a:latin typeface="Menlo"/>
              </a:rPr>
              <a:t>inductance</a:t>
            </a:r>
            <a:r>
              <a:rPr lang="sv-SE" dirty="0">
                <a:solidFill>
                  <a:srgbClr val="008013"/>
                </a:solidFill>
                <a:latin typeface="Menlo"/>
              </a:rPr>
              <a:t> </a:t>
            </a:r>
            <a:r>
              <a:rPr lang="sv-SE" dirty="0" err="1">
                <a:solidFill>
                  <a:srgbClr val="008013"/>
                </a:solidFill>
                <a:latin typeface="Menlo"/>
              </a:rPr>
              <a:t>value</a:t>
            </a:r>
            <a:r>
              <a:rPr lang="sv-SE" dirty="0">
                <a:solidFill>
                  <a:srgbClr val="008013"/>
                </a:solidFill>
                <a:latin typeface="Menlo"/>
              </a:rPr>
              <a:t> in H</a:t>
            </a:r>
            <a:endParaRPr lang="sv-SE" dirty="0">
              <a:latin typeface="Menlo"/>
            </a:endParaRPr>
          </a:p>
          <a:p>
            <a:r>
              <a:rPr lang="sv-SE" dirty="0" err="1">
                <a:latin typeface="Menlo"/>
              </a:rPr>
              <a:t>Lq</a:t>
            </a:r>
            <a:r>
              <a:rPr lang="sv-SE" dirty="0">
                <a:latin typeface="Menlo"/>
              </a:rPr>
              <a:t>=146e-6; </a:t>
            </a:r>
            <a:r>
              <a:rPr lang="sv-SE" dirty="0">
                <a:solidFill>
                  <a:srgbClr val="008013"/>
                </a:solidFill>
                <a:latin typeface="Menlo"/>
              </a:rPr>
              <a:t>% q-</a:t>
            </a:r>
            <a:r>
              <a:rPr lang="sv-SE" dirty="0" err="1">
                <a:solidFill>
                  <a:srgbClr val="008013"/>
                </a:solidFill>
                <a:latin typeface="Menlo"/>
              </a:rPr>
              <a:t>axis</a:t>
            </a:r>
            <a:r>
              <a:rPr lang="sv-SE" dirty="0">
                <a:solidFill>
                  <a:srgbClr val="008013"/>
                </a:solidFill>
                <a:latin typeface="Menlo"/>
              </a:rPr>
              <a:t> </a:t>
            </a:r>
            <a:r>
              <a:rPr lang="sv-SE" dirty="0" err="1">
                <a:solidFill>
                  <a:srgbClr val="008013"/>
                </a:solidFill>
                <a:latin typeface="Menlo"/>
              </a:rPr>
              <a:t>inductance</a:t>
            </a:r>
            <a:r>
              <a:rPr lang="sv-SE" dirty="0">
                <a:solidFill>
                  <a:srgbClr val="008013"/>
                </a:solidFill>
                <a:latin typeface="Menlo"/>
              </a:rPr>
              <a:t> </a:t>
            </a:r>
            <a:r>
              <a:rPr lang="sv-SE" dirty="0" err="1">
                <a:solidFill>
                  <a:srgbClr val="008013"/>
                </a:solidFill>
                <a:latin typeface="Menlo"/>
              </a:rPr>
              <a:t>value</a:t>
            </a:r>
            <a:r>
              <a:rPr lang="sv-SE" dirty="0">
                <a:solidFill>
                  <a:srgbClr val="008013"/>
                </a:solidFill>
                <a:latin typeface="Menlo"/>
              </a:rPr>
              <a:t> in H</a:t>
            </a:r>
            <a:endParaRPr lang="sv-SE" dirty="0">
              <a:latin typeface="Menlo"/>
            </a:endParaRPr>
          </a:p>
          <a:p>
            <a:r>
              <a:rPr lang="sv-SE" dirty="0" err="1">
                <a:latin typeface="Menlo"/>
              </a:rPr>
              <a:t>Torque</a:t>
            </a:r>
            <a:r>
              <a:rPr lang="sv-SE" dirty="0">
                <a:latin typeface="Menlo"/>
              </a:rPr>
              <a:t>= 370; </a:t>
            </a:r>
            <a:r>
              <a:rPr lang="sv-SE" dirty="0">
                <a:solidFill>
                  <a:srgbClr val="008013"/>
                </a:solidFill>
                <a:latin typeface="Menlo"/>
              </a:rPr>
              <a:t>% </a:t>
            </a:r>
            <a:r>
              <a:rPr lang="sv-SE" dirty="0" err="1">
                <a:solidFill>
                  <a:srgbClr val="008013"/>
                </a:solidFill>
                <a:latin typeface="Menlo"/>
              </a:rPr>
              <a:t>Torque</a:t>
            </a:r>
            <a:r>
              <a:rPr lang="sv-SE" dirty="0">
                <a:solidFill>
                  <a:srgbClr val="008013"/>
                </a:solidFill>
                <a:latin typeface="Menlo"/>
              </a:rPr>
              <a:t> </a:t>
            </a:r>
            <a:r>
              <a:rPr lang="sv-SE" dirty="0" err="1">
                <a:solidFill>
                  <a:srgbClr val="008013"/>
                </a:solidFill>
                <a:latin typeface="Menlo"/>
              </a:rPr>
              <a:t>of</a:t>
            </a:r>
            <a:r>
              <a:rPr lang="sv-SE" dirty="0">
                <a:solidFill>
                  <a:srgbClr val="008013"/>
                </a:solidFill>
                <a:latin typeface="Menlo"/>
              </a:rPr>
              <a:t> the motor in </a:t>
            </a:r>
            <a:r>
              <a:rPr lang="sv-SE" dirty="0" err="1">
                <a:solidFill>
                  <a:srgbClr val="008013"/>
                </a:solidFill>
                <a:latin typeface="Menlo"/>
              </a:rPr>
              <a:t>N.m</a:t>
            </a:r>
            <a:endParaRPr lang="sv-SE" dirty="0">
              <a:latin typeface="Menlo"/>
            </a:endParaRPr>
          </a:p>
          <a:p>
            <a:r>
              <a:rPr lang="sv-SE" dirty="0">
                <a:latin typeface="Menlo"/>
              </a:rPr>
              <a:t>RPM = 5000; </a:t>
            </a:r>
            <a:r>
              <a:rPr lang="sv-SE" dirty="0">
                <a:solidFill>
                  <a:srgbClr val="008013"/>
                </a:solidFill>
                <a:latin typeface="Menlo"/>
              </a:rPr>
              <a:t>% </a:t>
            </a:r>
            <a:r>
              <a:rPr lang="sv-SE" dirty="0" err="1">
                <a:solidFill>
                  <a:srgbClr val="008013"/>
                </a:solidFill>
                <a:latin typeface="Menlo"/>
              </a:rPr>
              <a:t>Rotational</a:t>
            </a:r>
            <a:r>
              <a:rPr lang="sv-SE" dirty="0">
                <a:solidFill>
                  <a:srgbClr val="008013"/>
                </a:solidFill>
                <a:latin typeface="Menlo"/>
              </a:rPr>
              <a:t> speed in RPM</a:t>
            </a:r>
            <a:endParaRPr lang="sv-SE" dirty="0">
              <a:latin typeface="Menlo"/>
            </a:endParaRPr>
          </a:p>
        </p:txBody>
      </p:sp>
    </p:spTree>
    <p:extLst>
      <p:ext uri="{BB962C8B-B14F-4D97-AF65-F5344CB8AC3E}">
        <p14:creationId xmlns:p14="http://schemas.microsoft.com/office/powerpoint/2010/main" val="812900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0778" y="304800"/>
            <a:ext cx="10990263" cy="568412"/>
          </a:xfrm>
        </p:spPr>
        <p:txBody>
          <a:bodyPr/>
          <a:lstStyle/>
          <a:p>
            <a:r>
              <a:rPr lang="en-US" dirty="0" smtClean="0"/>
              <a:t>Modulation Parameter Calculation </a:t>
            </a:r>
            <a:endParaRPr lang="sv-SE" dirty="0"/>
          </a:p>
        </p:txBody>
      </p:sp>
      <p:pic>
        <p:nvPicPr>
          <p:cNvPr id="11" name="Picture 10"/>
          <p:cNvPicPr>
            <a:picLocks noChangeAspect="1"/>
          </p:cNvPicPr>
          <p:nvPr/>
        </p:nvPicPr>
        <p:blipFill>
          <a:blip r:embed="rId2"/>
          <a:stretch>
            <a:fillRect/>
          </a:stretch>
        </p:blipFill>
        <p:spPr>
          <a:xfrm>
            <a:off x="580767" y="3778135"/>
            <a:ext cx="3622589" cy="2716942"/>
          </a:xfrm>
          <a:prstGeom prst="rect">
            <a:avLst/>
          </a:prstGeom>
        </p:spPr>
      </p:pic>
      <p:sp>
        <p:nvSpPr>
          <p:cNvPr id="12" name="TextBox 11"/>
          <p:cNvSpPr txBox="1"/>
          <p:nvPr/>
        </p:nvSpPr>
        <p:spPr>
          <a:xfrm>
            <a:off x="2020330" y="6356577"/>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Angle (rad)</a:t>
            </a:r>
            <a:endParaRPr lang="sv-SE" sz="1200" dirty="0">
              <a:latin typeface="Times New Roman" panose="02020603050405020304" pitchFamily="18" charset="0"/>
              <a:cs typeface="Times New Roman" panose="02020603050405020304" pitchFamily="18" charset="0"/>
            </a:endParaRPr>
          </a:p>
        </p:txBody>
      </p:sp>
      <p:sp>
        <p:nvSpPr>
          <p:cNvPr id="13" name="TextBox 12"/>
          <p:cNvSpPr txBox="1"/>
          <p:nvPr/>
        </p:nvSpPr>
        <p:spPr>
          <a:xfrm rot="16200000">
            <a:off x="102974" y="4998106"/>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Current (A)</a:t>
            </a:r>
            <a:endParaRPr lang="sv-SE" sz="1200"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7117492" y="3724587"/>
            <a:ext cx="3509319" cy="2631990"/>
          </a:xfrm>
          <a:prstGeom prst="rect">
            <a:avLst/>
          </a:prstGeom>
        </p:spPr>
      </p:pic>
      <p:sp>
        <p:nvSpPr>
          <p:cNvPr id="15" name="TextBox 14"/>
          <p:cNvSpPr txBox="1"/>
          <p:nvPr/>
        </p:nvSpPr>
        <p:spPr>
          <a:xfrm>
            <a:off x="8493212" y="6218077"/>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Angle (rad)</a:t>
            </a:r>
            <a:endParaRPr lang="sv-SE" sz="1200" dirty="0">
              <a:latin typeface="Times New Roman" panose="02020603050405020304" pitchFamily="18" charset="0"/>
              <a:cs typeface="Times New Roman" panose="02020603050405020304" pitchFamily="18" charset="0"/>
            </a:endParaRPr>
          </a:p>
        </p:txBody>
      </p:sp>
      <p:sp>
        <p:nvSpPr>
          <p:cNvPr id="16" name="TextBox 15"/>
          <p:cNvSpPr txBox="1"/>
          <p:nvPr/>
        </p:nvSpPr>
        <p:spPr>
          <a:xfrm rot="16200000">
            <a:off x="6674710" y="4738613"/>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Voltage  (V)</a:t>
            </a:r>
            <a:endParaRPr lang="sv-SE" sz="12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7865075" y="1470454"/>
            <a:ext cx="2267465" cy="646331"/>
          </a:xfrm>
          <a:prstGeom prst="rect">
            <a:avLst/>
          </a:prstGeom>
          <a:noFill/>
        </p:spPr>
        <p:txBody>
          <a:bodyPr wrap="square" rtlCol="0">
            <a:spAutoFit/>
          </a:bodyPr>
          <a:lstStyle/>
          <a:p>
            <a:pPr algn="ctr"/>
            <a:r>
              <a:rPr lang="en-US" dirty="0" smtClean="0"/>
              <a:t>d-q axis voltage waveforms</a:t>
            </a:r>
            <a:endParaRPr lang="sv-SE" dirty="0"/>
          </a:p>
        </p:txBody>
      </p:sp>
      <p:sp>
        <p:nvSpPr>
          <p:cNvPr id="18" name="TextBox 17"/>
          <p:cNvSpPr txBox="1"/>
          <p:nvPr/>
        </p:nvSpPr>
        <p:spPr>
          <a:xfrm>
            <a:off x="1258328" y="1519418"/>
            <a:ext cx="2267465" cy="646331"/>
          </a:xfrm>
          <a:prstGeom prst="rect">
            <a:avLst/>
          </a:prstGeom>
          <a:noFill/>
        </p:spPr>
        <p:txBody>
          <a:bodyPr wrap="square" rtlCol="0">
            <a:spAutoFit/>
          </a:bodyPr>
          <a:lstStyle/>
          <a:p>
            <a:pPr algn="ctr"/>
            <a:r>
              <a:rPr lang="en-US" dirty="0" smtClean="0"/>
              <a:t>d-q axis voltage waveforms</a:t>
            </a:r>
            <a:endParaRPr lang="sv-SE" dirty="0"/>
          </a:p>
        </p:txBody>
      </p:sp>
      <p:cxnSp>
        <p:nvCxnSpPr>
          <p:cNvPr id="20" name="Straight Arrow Connector 19"/>
          <p:cNvCxnSpPr/>
          <p:nvPr/>
        </p:nvCxnSpPr>
        <p:spPr>
          <a:xfrm>
            <a:off x="2347784" y="2304535"/>
            <a:ext cx="0" cy="1353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441487" y="2485598"/>
            <a:ext cx="2168611" cy="923330"/>
          </a:xfrm>
          <a:prstGeom prst="rect">
            <a:avLst/>
          </a:prstGeom>
          <a:noFill/>
        </p:spPr>
        <p:txBody>
          <a:bodyPr wrap="square" rtlCol="0">
            <a:spAutoFit/>
          </a:bodyPr>
          <a:lstStyle/>
          <a:p>
            <a:r>
              <a:rPr lang="en-US" dirty="0" smtClean="0"/>
              <a:t>Reverse Park and Clarke Transformation</a:t>
            </a:r>
            <a:endParaRPr lang="sv-SE" dirty="0"/>
          </a:p>
        </p:txBody>
      </p:sp>
      <p:cxnSp>
        <p:nvCxnSpPr>
          <p:cNvPr id="22" name="Straight Arrow Connector 21"/>
          <p:cNvCxnSpPr/>
          <p:nvPr/>
        </p:nvCxnSpPr>
        <p:spPr>
          <a:xfrm>
            <a:off x="8954531" y="2262309"/>
            <a:ext cx="0" cy="1353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048234" y="2443372"/>
            <a:ext cx="2168611" cy="923330"/>
          </a:xfrm>
          <a:prstGeom prst="rect">
            <a:avLst/>
          </a:prstGeom>
          <a:noFill/>
        </p:spPr>
        <p:txBody>
          <a:bodyPr wrap="square" rtlCol="0">
            <a:spAutoFit/>
          </a:bodyPr>
          <a:lstStyle/>
          <a:p>
            <a:r>
              <a:rPr lang="en-US" dirty="0" smtClean="0"/>
              <a:t>Reverse Park and Clarke Transformation</a:t>
            </a:r>
            <a:endParaRPr lang="sv-SE" dirty="0"/>
          </a:p>
        </p:txBody>
      </p:sp>
    </p:spTree>
    <p:extLst>
      <p:ext uri="{BB962C8B-B14F-4D97-AF65-F5344CB8AC3E}">
        <p14:creationId xmlns:p14="http://schemas.microsoft.com/office/powerpoint/2010/main" val="14773249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0778" y="304800"/>
            <a:ext cx="10990263" cy="568412"/>
          </a:xfrm>
        </p:spPr>
        <p:txBody>
          <a:bodyPr/>
          <a:lstStyle/>
          <a:p>
            <a:r>
              <a:rPr lang="en-US" dirty="0" smtClean="0"/>
              <a:t>Modulation Parameter Calculation </a:t>
            </a:r>
            <a:endParaRPr lang="sv-SE" dirty="0"/>
          </a:p>
        </p:txBody>
      </p:sp>
      <p:sp>
        <p:nvSpPr>
          <p:cNvPr id="19" name="TextBox 18"/>
          <p:cNvSpPr txBox="1"/>
          <p:nvPr/>
        </p:nvSpPr>
        <p:spPr>
          <a:xfrm rot="16200000">
            <a:off x="1254899" y="2085685"/>
            <a:ext cx="1068859" cy="276999"/>
          </a:xfrm>
          <a:prstGeom prst="rect">
            <a:avLst/>
          </a:prstGeom>
          <a:noFill/>
        </p:spPr>
        <p:txBody>
          <a:bodyPr wrap="square" rtlCol="0">
            <a:spAutoFit/>
          </a:bodyPr>
          <a:lstStyle/>
          <a:p>
            <a:r>
              <a:rPr lang="en-US" sz="1200" dirty="0" smtClean="0">
                <a:solidFill>
                  <a:srgbClr val="E86A58"/>
                </a:solidFill>
                <a:latin typeface="Times New Roman" panose="02020603050405020304" pitchFamily="18" charset="0"/>
                <a:cs typeface="Times New Roman" panose="02020603050405020304" pitchFamily="18" charset="0"/>
              </a:rPr>
              <a:t>Voltage  (V)</a:t>
            </a:r>
            <a:endParaRPr lang="sv-SE" sz="1200" dirty="0">
              <a:solidFill>
                <a:srgbClr val="E86A58"/>
              </a:solidFill>
              <a:latin typeface="Times New Roman" panose="02020603050405020304" pitchFamily="18" charset="0"/>
              <a:cs typeface="Times New Roman" panose="02020603050405020304" pitchFamily="18" charset="0"/>
            </a:endParaRPr>
          </a:p>
        </p:txBody>
      </p:sp>
      <p:sp>
        <p:nvSpPr>
          <p:cNvPr id="24" name="TextBox 23"/>
          <p:cNvSpPr txBox="1"/>
          <p:nvPr/>
        </p:nvSpPr>
        <p:spPr>
          <a:xfrm rot="16200000">
            <a:off x="1007504" y="2085685"/>
            <a:ext cx="1068859" cy="276999"/>
          </a:xfrm>
          <a:prstGeom prst="rect">
            <a:avLst/>
          </a:prstGeom>
          <a:noFill/>
        </p:spPr>
        <p:txBody>
          <a:bodyPr wrap="square" rtlCol="0">
            <a:spAutoFit/>
          </a:bodyPr>
          <a:lstStyle/>
          <a:p>
            <a:r>
              <a:rPr lang="en-US" sz="1200" dirty="0" smtClean="0">
                <a:solidFill>
                  <a:schemeClr val="accent1">
                    <a:lumMod val="60000"/>
                    <a:lumOff val="40000"/>
                  </a:schemeClr>
                </a:solidFill>
                <a:latin typeface="Times New Roman" panose="02020603050405020304" pitchFamily="18" charset="0"/>
                <a:cs typeface="Times New Roman" panose="02020603050405020304" pitchFamily="18" charset="0"/>
              </a:rPr>
              <a:t>Current (A)</a:t>
            </a:r>
            <a:endParaRPr lang="sv-SE" sz="1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2926575" y="3478597"/>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flipV="1">
            <a:off x="5207000" y="2246527"/>
            <a:ext cx="1822622" cy="123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7189809" y="1477484"/>
            <a:ext cx="3427391" cy="1754326"/>
          </a:xfrm>
          <a:prstGeom prst="rect">
            <a:avLst/>
          </a:prstGeom>
        </p:spPr>
        <p:txBody>
          <a:bodyPr wrap="square">
            <a:spAutoFit/>
          </a:bodyPr>
          <a:lstStyle/>
          <a:p>
            <a:r>
              <a:rPr lang="sv-SE" dirty="0" smtClean="0">
                <a:solidFill>
                  <a:srgbClr val="008013"/>
                </a:solidFill>
                <a:latin typeface="Times New Roman" panose="02020603050405020304" pitchFamily="18" charset="0"/>
                <a:cs typeface="Times New Roman" panose="02020603050405020304" pitchFamily="18" charset="0"/>
              </a:rPr>
              <a:t>For </a:t>
            </a:r>
            <a:r>
              <a:rPr lang="sv-SE" dirty="0">
                <a:solidFill>
                  <a:srgbClr val="008013"/>
                </a:solidFill>
                <a:latin typeface="Times New Roman" panose="02020603050405020304" pitchFamily="18" charset="0"/>
                <a:cs typeface="Times New Roman" panose="02020603050405020304" pitchFamily="18" charset="0"/>
              </a:rPr>
              <a:t>operating </a:t>
            </a:r>
            <a:r>
              <a:rPr lang="sv-SE" dirty="0" err="1">
                <a:solidFill>
                  <a:srgbClr val="008013"/>
                </a:solidFill>
                <a:latin typeface="Times New Roman" panose="02020603050405020304" pitchFamily="18" charset="0"/>
                <a:cs typeface="Times New Roman" panose="02020603050405020304" pitchFamily="18" charset="0"/>
              </a:rPr>
              <a:t>point</a:t>
            </a:r>
            <a:r>
              <a:rPr lang="sv-SE" dirty="0">
                <a:solidFill>
                  <a:srgbClr val="008013"/>
                </a:solidFill>
                <a:latin typeface="Times New Roman" panose="02020603050405020304" pitchFamily="18" charset="0"/>
                <a:cs typeface="Times New Roman" panose="02020603050405020304" pitchFamily="18" charset="0"/>
              </a:rPr>
              <a:t> </a:t>
            </a:r>
            <a:r>
              <a:rPr lang="sv-SE" dirty="0" smtClean="0">
                <a:solidFill>
                  <a:srgbClr val="008013"/>
                </a:solidFill>
                <a:latin typeface="Times New Roman" panose="02020603050405020304" pitchFamily="18" charset="0"/>
                <a:cs typeface="Times New Roman" panose="02020603050405020304" pitchFamily="18" charset="0"/>
              </a:rPr>
              <a:t>1</a:t>
            </a:r>
            <a:endParaRPr lang="sv-SE" dirty="0" smtClean="0">
              <a:latin typeface="Times New Roman" panose="02020603050405020304" pitchFamily="18" charset="0"/>
              <a:cs typeface="Times New Roman" panose="02020603050405020304" pitchFamily="18" charset="0"/>
            </a:endParaRPr>
          </a:p>
          <a:p>
            <a:r>
              <a:rPr lang="sv-SE" dirty="0">
                <a:latin typeface="Times New Roman" panose="02020603050405020304" pitchFamily="18" charset="0"/>
                <a:cs typeface="Times New Roman" panose="02020603050405020304" pitchFamily="18" charset="0"/>
              </a:rPr>
              <a:t>M</a:t>
            </a:r>
            <a:r>
              <a:rPr lang="sv-SE" dirty="0" smtClean="0">
                <a:latin typeface="Times New Roman" panose="02020603050405020304" pitchFamily="18" charset="0"/>
                <a:cs typeface="Times New Roman" panose="02020603050405020304" pitchFamily="18" charset="0"/>
              </a:rPr>
              <a:t>odulation </a:t>
            </a:r>
            <a:r>
              <a:rPr lang="sv-SE" dirty="0">
                <a:latin typeface="Times New Roman" panose="02020603050405020304" pitchFamily="18" charset="0"/>
                <a:cs typeface="Times New Roman" panose="02020603050405020304" pitchFamily="18" charset="0"/>
              </a:rPr>
              <a:t>index: 0.5381</a:t>
            </a:r>
          </a:p>
          <a:p>
            <a:r>
              <a:rPr lang="sv-SE" dirty="0">
                <a:latin typeface="Times New Roman" panose="02020603050405020304" pitchFamily="18" charset="0"/>
                <a:cs typeface="Times New Roman" panose="02020603050405020304" pitchFamily="18" charset="0"/>
              </a:rPr>
              <a:t>Power </a:t>
            </a:r>
            <a:r>
              <a:rPr lang="sv-SE" dirty="0" err="1">
                <a:latin typeface="Times New Roman" panose="02020603050405020304" pitchFamily="18" charset="0"/>
                <a:cs typeface="Times New Roman" panose="02020603050405020304" pitchFamily="18" charset="0"/>
              </a:rPr>
              <a:t>factor</a:t>
            </a:r>
            <a:r>
              <a:rPr lang="sv-SE" dirty="0">
                <a:latin typeface="Times New Roman" panose="02020603050405020304" pitchFamily="18" charset="0"/>
                <a:cs typeface="Times New Roman" panose="02020603050405020304" pitchFamily="18" charset="0"/>
              </a:rPr>
              <a:t>: </a:t>
            </a:r>
            <a:r>
              <a:rPr lang="sv-SE" dirty="0" smtClean="0">
                <a:latin typeface="Times New Roman" panose="02020603050405020304" pitchFamily="18" charset="0"/>
                <a:cs typeface="Times New Roman" panose="02020603050405020304" pitchFamily="18" charset="0"/>
              </a:rPr>
              <a:t>0.9329 </a:t>
            </a:r>
            <a:endParaRPr lang="sv-SE" dirty="0">
              <a:latin typeface="Times New Roman" panose="02020603050405020304" pitchFamily="18" charset="0"/>
              <a:cs typeface="Times New Roman" panose="02020603050405020304" pitchFamily="18" charset="0"/>
            </a:endParaRPr>
          </a:p>
          <a:p>
            <a:r>
              <a:rPr lang="sv-SE" dirty="0" err="1">
                <a:latin typeface="Times New Roman" panose="02020603050405020304" pitchFamily="18" charset="0"/>
                <a:cs typeface="Times New Roman" panose="02020603050405020304" pitchFamily="18" charset="0"/>
              </a:rPr>
              <a:t>Electrical</a:t>
            </a:r>
            <a:r>
              <a:rPr lang="sv-SE" dirty="0">
                <a:latin typeface="Times New Roman" panose="02020603050405020304" pitchFamily="18" charset="0"/>
                <a:cs typeface="Times New Roman" panose="02020603050405020304" pitchFamily="18" charset="0"/>
              </a:rPr>
              <a:t> </a:t>
            </a:r>
            <a:r>
              <a:rPr lang="sv-SE" dirty="0" err="1">
                <a:latin typeface="Times New Roman" panose="02020603050405020304" pitchFamily="18" charset="0"/>
                <a:cs typeface="Times New Roman" panose="02020603050405020304" pitchFamily="18" charset="0"/>
              </a:rPr>
              <a:t>Frequency</a:t>
            </a:r>
            <a:r>
              <a:rPr lang="sv-SE" dirty="0">
                <a:latin typeface="Times New Roman" panose="02020603050405020304" pitchFamily="18" charset="0"/>
                <a:cs typeface="Times New Roman" panose="02020603050405020304" pitchFamily="18" charset="0"/>
              </a:rPr>
              <a:t>: 300.00 Hz</a:t>
            </a:r>
          </a:p>
          <a:p>
            <a:r>
              <a:rPr lang="sv-SE" dirty="0">
                <a:latin typeface="Times New Roman" panose="02020603050405020304" pitchFamily="18" charset="0"/>
                <a:cs typeface="Times New Roman" panose="02020603050405020304" pitchFamily="18" charset="0"/>
              </a:rPr>
              <a:t>DC-</a:t>
            </a:r>
            <a:r>
              <a:rPr lang="sv-SE" dirty="0" err="1">
                <a:latin typeface="Times New Roman" panose="02020603050405020304" pitchFamily="18" charset="0"/>
                <a:cs typeface="Times New Roman" panose="02020603050405020304" pitchFamily="18" charset="0"/>
              </a:rPr>
              <a:t>link</a:t>
            </a:r>
            <a:r>
              <a:rPr lang="sv-SE" dirty="0">
                <a:latin typeface="Times New Roman" panose="02020603050405020304" pitchFamily="18" charset="0"/>
                <a:cs typeface="Times New Roman" panose="02020603050405020304" pitchFamily="18" charset="0"/>
              </a:rPr>
              <a:t> </a:t>
            </a:r>
            <a:r>
              <a:rPr lang="sv-SE" dirty="0" err="1">
                <a:latin typeface="Times New Roman" panose="02020603050405020304" pitchFamily="18" charset="0"/>
                <a:cs typeface="Times New Roman" panose="02020603050405020304" pitchFamily="18" charset="0"/>
              </a:rPr>
              <a:t>Voltage</a:t>
            </a:r>
            <a:r>
              <a:rPr lang="sv-SE" dirty="0">
                <a:latin typeface="Times New Roman" panose="02020603050405020304" pitchFamily="18" charset="0"/>
                <a:cs typeface="Times New Roman" panose="02020603050405020304" pitchFamily="18" charset="0"/>
              </a:rPr>
              <a:t>: 625.00 V</a:t>
            </a:r>
          </a:p>
          <a:p>
            <a:r>
              <a:rPr lang="sv-SE" dirty="0">
                <a:latin typeface="Times New Roman" panose="02020603050405020304" pitchFamily="18" charset="0"/>
                <a:cs typeface="Times New Roman" panose="02020603050405020304" pitchFamily="18" charset="0"/>
              </a:rPr>
              <a:t>Peak </a:t>
            </a:r>
            <a:r>
              <a:rPr lang="sv-SE" dirty="0" err="1">
                <a:latin typeface="Times New Roman" panose="02020603050405020304" pitchFamily="18" charset="0"/>
                <a:cs typeface="Times New Roman" panose="02020603050405020304" pitchFamily="18" charset="0"/>
              </a:rPr>
              <a:t>phase</a:t>
            </a:r>
            <a:r>
              <a:rPr lang="sv-SE" dirty="0">
                <a:latin typeface="Times New Roman" panose="02020603050405020304" pitchFamily="18" charset="0"/>
                <a:cs typeface="Times New Roman" panose="02020603050405020304" pitchFamily="18" charset="0"/>
              </a:rPr>
              <a:t> </a:t>
            </a:r>
            <a:r>
              <a:rPr lang="sv-SE" dirty="0" err="1">
                <a:latin typeface="Times New Roman" panose="02020603050405020304" pitchFamily="18" charset="0"/>
                <a:cs typeface="Times New Roman" panose="02020603050405020304" pitchFamily="18" charset="0"/>
              </a:rPr>
              <a:t>current</a:t>
            </a:r>
            <a:r>
              <a:rPr lang="sv-SE" dirty="0">
                <a:latin typeface="Times New Roman" panose="02020603050405020304" pitchFamily="18" charset="0"/>
                <a:cs typeface="Times New Roman" panose="02020603050405020304" pitchFamily="18" charset="0"/>
              </a:rPr>
              <a:t>: 395.70 A</a:t>
            </a:r>
          </a:p>
        </p:txBody>
      </p:sp>
      <p:pic>
        <p:nvPicPr>
          <p:cNvPr id="9" name="Picture 8"/>
          <p:cNvPicPr>
            <a:picLocks noChangeAspect="1"/>
          </p:cNvPicPr>
          <p:nvPr/>
        </p:nvPicPr>
        <p:blipFill>
          <a:blip r:embed="rId2"/>
          <a:stretch>
            <a:fillRect/>
          </a:stretch>
        </p:blipFill>
        <p:spPr>
          <a:xfrm>
            <a:off x="1962405" y="1230697"/>
            <a:ext cx="2997200" cy="2247900"/>
          </a:xfrm>
          <a:prstGeom prst="rect">
            <a:avLst/>
          </a:prstGeom>
        </p:spPr>
      </p:pic>
      <mc:AlternateContent xmlns:mc="http://schemas.openxmlformats.org/markup-compatibility/2006">
        <mc:Choice xmlns:a14="http://schemas.microsoft.com/office/drawing/2010/main" Requires="a14">
          <p:sp>
            <p:nvSpPr>
              <p:cNvPr id="10" name="TextBox 9"/>
              <p:cNvSpPr txBox="1"/>
              <p:nvPr/>
            </p:nvSpPr>
            <p:spPr>
              <a:xfrm>
                <a:off x="4660900" y="4030534"/>
                <a:ext cx="349250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Load calculation: 0.4143 </a:t>
                </a:r>
                <a14:m>
                  <m:oMath xmlns:m="http://schemas.openxmlformats.org/officeDocument/2006/math">
                    <m:r>
                      <m:rPr>
                        <m:sty m:val="p"/>
                      </m:rPr>
                      <a:rPr lang="en-US" b="0" i="0" smtClean="0">
                        <a:latin typeface="Cambria Math" panose="02040503050406030204" pitchFamily="18" charset="0"/>
                      </a:rPr>
                      <m:t>Ω</m:t>
                    </m:r>
                  </m:oMath>
                </a14:m>
                <a:endParaRPr lang="sv-SE" dirty="0">
                  <a:latin typeface="Times New Roman" panose="02020603050405020304" pitchFamily="18" charset="0"/>
                  <a:cs typeface="Times New Roman" panose="02020603050405020304" pitchFamily="18" charset="0"/>
                </a:endParaRPr>
              </a:p>
            </p:txBody>
          </p:sp>
        </mc:Choice>
        <mc:Fallback>
          <p:sp>
            <p:nvSpPr>
              <p:cNvPr id="10" name="TextBox 9"/>
              <p:cNvSpPr txBox="1">
                <a:spLocks noRot="1" noChangeAspect="1" noMove="1" noResize="1" noEditPoints="1" noAdjustHandles="1" noChangeArrowheads="1" noChangeShapeType="1" noTextEdit="1"/>
              </p:cNvSpPr>
              <p:nvPr/>
            </p:nvSpPr>
            <p:spPr>
              <a:xfrm>
                <a:off x="4660900" y="4030534"/>
                <a:ext cx="3492500" cy="369332"/>
              </a:xfrm>
              <a:prstGeom prst="rect">
                <a:avLst/>
              </a:prstGeom>
              <a:blipFill>
                <a:blip r:embed="rId3"/>
                <a:stretch>
                  <a:fillRect l="-1571" t="-8197" b="-24590"/>
                </a:stretch>
              </a:blipFill>
            </p:spPr>
            <p:txBody>
              <a:bodyPr/>
              <a:lstStyle/>
              <a:p>
                <a:r>
                  <a:rPr lang="sv-SE">
                    <a:noFill/>
                  </a:rPr>
                  <a:t> </a:t>
                </a:r>
              </a:p>
            </p:txBody>
          </p:sp>
        </mc:Fallback>
      </mc:AlternateContent>
    </p:spTree>
    <p:extLst>
      <p:ext uri="{BB962C8B-B14F-4D97-AF65-F5344CB8AC3E}">
        <p14:creationId xmlns:p14="http://schemas.microsoft.com/office/powerpoint/2010/main" val="20036621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0778" y="304800"/>
            <a:ext cx="10990263" cy="568412"/>
          </a:xfrm>
        </p:spPr>
        <p:txBody>
          <a:bodyPr/>
          <a:lstStyle/>
          <a:p>
            <a:r>
              <a:rPr lang="en-US" dirty="0" smtClean="0"/>
              <a:t>Modulated Waveform</a:t>
            </a:r>
            <a:endParaRPr lang="sv-SE" dirty="0"/>
          </a:p>
        </p:txBody>
      </p:sp>
      <p:sp>
        <p:nvSpPr>
          <p:cNvPr id="19" name="TextBox 18"/>
          <p:cNvSpPr txBox="1"/>
          <p:nvPr/>
        </p:nvSpPr>
        <p:spPr>
          <a:xfrm rot="16200000">
            <a:off x="113293" y="2126904"/>
            <a:ext cx="1406064" cy="461665"/>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Reference Signal (</a:t>
            </a:r>
            <a:r>
              <a:rPr lang="en-US" sz="1200" dirty="0" err="1" smtClean="0">
                <a:latin typeface="Times New Roman" panose="02020603050405020304" pitchFamily="18" charset="0"/>
                <a:cs typeface="Times New Roman" panose="02020603050405020304" pitchFamily="18" charset="0"/>
              </a:rPr>
              <a:t>p.u</a:t>
            </a:r>
            <a:r>
              <a:rPr lang="en-US"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1967725" y="3581793"/>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816324" y="1262159"/>
            <a:ext cx="3208867" cy="2406650"/>
          </a:xfrm>
          <a:prstGeom prst="rect">
            <a:avLst/>
          </a:prstGeom>
        </p:spPr>
      </p:pic>
      <p:pic>
        <p:nvPicPr>
          <p:cNvPr id="3" name="Picture 2"/>
          <p:cNvPicPr>
            <a:picLocks noChangeAspect="1"/>
          </p:cNvPicPr>
          <p:nvPr/>
        </p:nvPicPr>
        <p:blipFill>
          <a:blip r:embed="rId3"/>
          <a:stretch>
            <a:fillRect/>
          </a:stretch>
        </p:blipFill>
        <p:spPr>
          <a:xfrm>
            <a:off x="4201697" y="1330422"/>
            <a:ext cx="3117850" cy="2338387"/>
          </a:xfrm>
          <a:prstGeom prst="rect">
            <a:avLst/>
          </a:prstGeom>
        </p:spPr>
      </p:pic>
      <p:sp>
        <p:nvSpPr>
          <p:cNvPr id="12" name="TextBox 11"/>
          <p:cNvSpPr txBox="1"/>
          <p:nvPr/>
        </p:nvSpPr>
        <p:spPr>
          <a:xfrm rot="16200000">
            <a:off x="3552991" y="2167184"/>
            <a:ext cx="1406064" cy="461665"/>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Reference Signal (</a:t>
            </a:r>
            <a:r>
              <a:rPr lang="en-US" sz="1200" dirty="0" err="1" smtClean="0">
                <a:latin typeface="Times New Roman" panose="02020603050405020304" pitchFamily="18" charset="0"/>
                <a:cs typeface="Times New Roman" panose="02020603050405020304" pitchFamily="18" charset="0"/>
              </a:rPr>
              <a:t>p.u</a:t>
            </a:r>
            <a:r>
              <a:rPr lang="en-US"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407423" y="3622073"/>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528847" y="1053549"/>
            <a:ext cx="1060450" cy="369332"/>
          </a:xfrm>
          <a:prstGeom prst="rect">
            <a:avLst/>
          </a:prstGeom>
          <a:noFill/>
        </p:spPr>
        <p:txBody>
          <a:bodyPr wrap="square" rtlCol="0">
            <a:spAutoFit/>
          </a:bodyPr>
          <a:lstStyle/>
          <a:p>
            <a:r>
              <a:rPr lang="en-US" dirty="0" smtClean="0"/>
              <a:t>SPWM</a:t>
            </a:r>
            <a:endParaRPr lang="sv-SE" dirty="0"/>
          </a:p>
        </p:txBody>
      </p:sp>
      <p:sp>
        <p:nvSpPr>
          <p:cNvPr id="15" name="TextBox 14"/>
          <p:cNvSpPr txBox="1"/>
          <p:nvPr/>
        </p:nvSpPr>
        <p:spPr>
          <a:xfrm>
            <a:off x="2057400" y="1003876"/>
            <a:ext cx="1060450" cy="369332"/>
          </a:xfrm>
          <a:prstGeom prst="rect">
            <a:avLst/>
          </a:prstGeom>
          <a:noFill/>
        </p:spPr>
        <p:txBody>
          <a:bodyPr wrap="square" rtlCol="0">
            <a:spAutoFit/>
          </a:bodyPr>
          <a:lstStyle/>
          <a:p>
            <a:r>
              <a:rPr lang="en-US" dirty="0" smtClean="0"/>
              <a:t>THPWM</a:t>
            </a:r>
            <a:endParaRPr lang="sv-SE" dirty="0"/>
          </a:p>
        </p:txBody>
      </p:sp>
      <p:pic>
        <p:nvPicPr>
          <p:cNvPr id="7" name="Picture 6"/>
          <p:cNvPicPr>
            <a:picLocks noChangeAspect="1"/>
          </p:cNvPicPr>
          <p:nvPr/>
        </p:nvPicPr>
        <p:blipFill>
          <a:blip r:embed="rId4"/>
          <a:stretch>
            <a:fillRect/>
          </a:stretch>
        </p:blipFill>
        <p:spPr>
          <a:xfrm>
            <a:off x="7916447" y="1275508"/>
            <a:ext cx="3191068" cy="2393301"/>
          </a:xfrm>
          <a:prstGeom prst="rect">
            <a:avLst/>
          </a:prstGeom>
        </p:spPr>
      </p:pic>
      <p:sp>
        <p:nvSpPr>
          <p:cNvPr id="17" name="TextBox 16"/>
          <p:cNvSpPr txBox="1"/>
          <p:nvPr/>
        </p:nvSpPr>
        <p:spPr>
          <a:xfrm rot="16200000">
            <a:off x="7213415" y="2221391"/>
            <a:ext cx="1406064" cy="276999"/>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Current (A)</a:t>
            </a:r>
            <a:endParaRPr lang="sv-SE" sz="12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9329801" y="3595142"/>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5"/>
          <a:stretch>
            <a:fillRect/>
          </a:stretch>
        </p:blipFill>
        <p:spPr>
          <a:xfrm>
            <a:off x="4403649" y="4189725"/>
            <a:ext cx="3135818" cy="2351864"/>
          </a:xfrm>
          <a:prstGeom prst="rect">
            <a:avLst/>
          </a:prstGeom>
        </p:spPr>
      </p:pic>
      <p:sp>
        <p:nvSpPr>
          <p:cNvPr id="21" name="TextBox 20"/>
          <p:cNvSpPr txBox="1"/>
          <p:nvPr/>
        </p:nvSpPr>
        <p:spPr>
          <a:xfrm>
            <a:off x="5528847" y="6454173"/>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6"/>
          <a:stretch>
            <a:fillRect/>
          </a:stretch>
        </p:blipFill>
        <p:spPr>
          <a:xfrm>
            <a:off x="746474" y="4189725"/>
            <a:ext cx="3175142" cy="2381356"/>
          </a:xfrm>
          <a:prstGeom prst="rect">
            <a:avLst/>
          </a:prstGeom>
        </p:spPr>
      </p:pic>
      <p:sp>
        <p:nvSpPr>
          <p:cNvPr id="23" name="TextBox 22"/>
          <p:cNvSpPr txBox="1"/>
          <p:nvPr/>
        </p:nvSpPr>
        <p:spPr>
          <a:xfrm>
            <a:off x="2003095" y="6523911"/>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sp>
        <p:nvSpPr>
          <p:cNvPr id="26" name="TextBox 25"/>
          <p:cNvSpPr txBox="1"/>
          <p:nvPr/>
        </p:nvSpPr>
        <p:spPr>
          <a:xfrm rot="16200000">
            <a:off x="36913" y="4997105"/>
            <a:ext cx="1406064" cy="461665"/>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Pulsated Phase Voltage (V)</a:t>
            </a:r>
            <a:endParaRPr lang="sv-SE" sz="1200" dirty="0">
              <a:latin typeface="Times New Roman" panose="02020603050405020304" pitchFamily="18" charset="0"/>
              <a:cs typeface="Times New Roman" panose="02020603050405020304" pitchFamily="18" charset="0"/>
            </a:endParaRPr>
          </a:p>
        </p:txBody>
      </p:sp>
      <p:sp>
        <p:nvSpPr>
          <p:cNvPr id="27" name="TextBox 26"/>
          <p:cNvSpPr txBox="1"/>
          <p:nvPr/>
        </p:nvSpPr>
        <p:spPr>
          <a:xfrm rot="16200000">
            <a:off x="3686780" y="5149571"/>
            <a:ext cx="1406064" cy="461665"/>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Pulsated Phase Voltage (V)</a:t>
            </a:r>
            <a:endParaRPr lang="sv-SE"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9700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675" y="327282"/>
            <a:ext cx="10990263" cy="568412"/>
          </a:xfrm>
        </p:spPr>
        <p:txBody>
          <a:bodyPr/>
          <a:lstStyle/>
          <a:p>
            <a:r>
              <a:rPr lang="en-US" dirty="0" smtClean="0"/>
              <a:t>Time Domain Inductance Calculation</a:t>
            </a:r>
            <a:endParaRPr lang="sv-SE" dirty="0"/>
          </a:p>
        </p:txBody>
      </p:sp>
      <p:sp>
        <p:nvSpPr>
          <p:cNvPr id="6" name="Rectangle 5"/>
          <p:cNvSpPr/>
          <p:nvPr/>
        </p:nvSpPr>
        <p:spPr>
          <a:xfrm>
            <a:off x="584200" y="1205637"/>
            <a:ext cx="10941050" cy="923330"/>
          </a:xfrm>
          <a:prstGeom prst="rect">
            <a:avLst/>
          </a:prstGeom>
        </p:spPr>
        <p:txBody>
          <a:bodyPr wrap="square">
            <a:spAutoFit/>
          </a:bodyPr>
          <a:lstStyle/>
          <a:p>
            <a:r>
              <a:rPr lang="sv-SE" dirty="0" smtClean="0">
                <a:latin typeface="Menlo"/>
              </a:rPr>
              <a:t>La </a:t>
            </a:r>
            <a:r>
              <a:rPr lang="sv-SE" dirty="0">
                <a:latin typeface="Menlo"/>
              </a:rPr>
              <a:t>= Ld * </a:t>
            </a:r>
            <a:r>
              <a:rPr lang="sv-SE" dirty="0" smtClean="0">
                <a:latin typeface="Menlo"/>
              </a:rPr>
              <a:t>sin(</a:t>
            </a:r>
            <a:r>
              <a:rPr lang="sv-SE" dirty="0" err="1" smtClean="0">
                <a:latin typeface="Menlo"/>
              </a:rPr>
              <a:t>theta</a:t>
            </a:r>
            <a:r>
              <a:rPr lang="sv-SE" dirty="0" smtClean="0">
                <a:latin typeface="Menlo"/>
              </a:rPr>
              <a:t>).^</a:t>
            </a:r>
            <a:r>
              <a:rPr lang="sv-SE" dirty="0">
                <a:latin typeface="Menlo"/>
              </a:rPr>
              <a:t>2 + </a:t>
            </a:r>
            <a:r>
              <a:rPr lang="sv-SE" dirty="0" err="1">
                <a:latin typeface="Menlo"/>
              </a:rPr>
              <a:t>Lq</a:t>
            </a:r>
            <a:r>
              <a:rPr lang="sv-SE" dirty="0">
                <a:latin typeface="Menlo"/>
              </a:rPr>
              <a:t> *</a:t>
            </a:r>
            <a:r>
              <a:rPr lang="sv-SE" dirty="0" smtClean="0">
                <a:latin typeface="Menlo"/>
              </a:rPr>
              <a:t>cos(</a:t>
            </a:r>
            <a:r>
              <a:rPr lang="sv-SE" dirty="0" err="1" smtClean="0">
                <a:latin typeface="Menlo"/>
              </a:rPr>
              <a:t>theta</a:t>
            </a:r>
            <a:r>
              <a:rPr lang="sv-SE" dirty="0" smtClean="0">
                <a:latin typeface="Menlo"/>
              </a:rPr>
              <a:t>).^</a:t>
            </a:r>
            <a:r>
              <a:rPr lang="sv-SE" dirty="0">
                <a:latin typeface="Menlo"/>
              </a:rPr>
              <a:t>2;</a:t>
            </a:r>
          </a:p>
          <a:p>
            <a:r>
              <a:rPr lang="sv-SE" dirty="0" err="1" smtClean="0">
                <a:latin typeface="Menlo"/>
              </a:rPr>
              <a:t>Lb</a:t>
            </a:r>
            <a:r>
              <a:rPr lang="sv-SE" dirty="0" smtClean="0">
                <a:latin typeface="Menlo"/>
              </a:rPr>
              <a:t> </a:t>
            </a:r>
            <a:r>
              <a:rPr lang="sv-SE" dirty="0">
                <a:latin typeface="Menlo"/>
              </a:rPr>
              <a:t>= Ld * </a:t>
            </a:r>
            <a:r>
              <a:rPr lang="sv-SE" dirty="0" smtClean="0">
                <a:latin typeface="Menlo"/>
              </a:rPr>
              <a:t>sin(theta-2*pi/3</a:t>
            </a:r>
            <a:r>
              <a:rPr lang="sv-SE" dirty="0">
                <a:latin typeface="Menlo"/>
              </a:rPr>
              <a:t>).^2 + </a:t>
            </a:r>
            <a:r>
              <a:rPr lang="sv-SE" dirty="0" err="1">
                <a:latin typeface="Menlo"/>
              </a:rPr>
              <a:t>Lq</a:t>
            </a:r>
            <a:r>
              <a:rPr lang="sv-SE" dirty="0">
                <a:latin typeface="Menlo"/>
              </a:rPr>
              <a:t> *</a:t>
            </a:r>
            <a:r>
              <a:rPr lang="sv-SE" dirty="0" smtClean="0">
                <a:latin typeface="Menlo"/>
              </a:rPr>
              <a:t>cos(theta-2*pi/3</a:t>
            </a:r>
            <a:r>
              <a:rPr lang="sv-SE" dirty="0">
                <a:latin typeface="Menlo"/>
              </a:rPr>
              <a:t>).^2;</a:t>
            </a:r>
          </a:p>
          <a:p>
            <a:r>
              <a:rPr lang="sv-SE" dirty="0" err="1" smtClean="0">
                <a:latin typeface="Menlo"/>
              </a:rPr>
              <a:t>Lc</a:t>
            </a:r>
            <a:r>
              <a:rPr lang="sv-SE" dirty="0" smtClean="0">
                <a:latin typeface="Menlo"/>
              </a:rPr>
              <a:t> </a:t>
            </a:r>
            <a:r>
              <a:rPr lang="sv-SE" dirty="0">
                <a:latin typeface="Menlo"/>
              </a:rPr>
              <a:t>= Ld * </a:t>
            </a:r>
            <a:r>
              <a:rPr lang="sv-SE" dirty="0" smtClean="0">
                <a:latin typeface="Menlo"/>
              </a:rPr>
              <a:t>sin(theta+2*pi/3</a:t>
            </a:r>
            <a:r>
              <a:rPr lang="sv-SE" dirty="0">
                <a:latin typeface="Menlo"/>
              </a:rPr>
              <a:t>).^2 + </a:t>
            </a:r>
            <a:r>
              <a:rPr lang="sv-SE" dirty="0" err="1">
                <a:latin typeface="Menlo"/>
              </a:rPr>
              <a:t>Lq</a:t>
            </a:r>
            <a:r>
              <a:rPr lang="sv-SE" dirty="0">
                <a:latin typeface="Menlo"/>
              </a:rPr>
              <a:t> *</a:t>
            </a:r>
            <a:r>
              <a:rPr lang="sv-SE" dirty="0" smtClean="0">
                <a:latin typeface="Menlo"/>
              </a:rPr>
              <a:t>cos(theta+2*pi/3</a:t>
            </a:r>
            <a:r>
              <a:rPr lang="sv-SE" dirty="0">
                <a:latin typeface="Menlo"/>
              </a:rPr>
              <a:t>).^2;</a:t>
            </a:r>
          </a:p>
        </p:txBody>
      </p:sp>
      <p:pic>
        <p:nvPicPr>
          <p:cNvPr id="7" name="Picture 6"/>
          <p:cNvPicPr>
            <a:picLocks noChangeAspect="1"/>
          </p:cNvPicPr>
          <p:nvPr/>
        </p:nvPicPr>
        <p:blipFill>
          <a:blip r:embed="rId2"/>
          <a:stretch>
            <a:fillRect/>
          </a:stretch>
        </p:blipFill>
        <p:spPr>
          <a:xfrm>
            <a:off x="3905250" y="2338517"/>
            <a:ext cx="4013200" cy="3009900"/>
          </a:xfrm>
          <a:prstGeom prst="rect">
            <a:avLst/>
          </a:prstGeom>
        </p:spPr>
      </p:pic>
      <p:sp>
        <p:nvSpPr>
          <p:cNvPr id="8" name="TextBox 7"/>
          <p:cNvSpPr txBox="1"/>
          <p:nvPr/>
        </p:nvSpPr>
        <p:spPr>
          <a:xfrm>
            <a:off x="5520295" y="5209917"/>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TextBox 10"/>
              <p:cNvSpPr txBox="1"/>
              <p:nvPr/>
            </p:nvSpPr>
            <p:spPr>
              <a:xfrm rot="16200000">
                <a:off x="3212093" y="3504856"/>
                <a:ext cx="1406064" cy="461665"/>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Phase Inductance (</a:t>
                </a:r>
                <a14:m>
                  <m:oMath xmlns:m="http://schemas.openxmlformats.org/officeDocument/2006/math">
                    <m:r>
                      <a:rPr lang="en-US" sz="1200" b="0" i="1" smtClean="0">
                        <a:latin typeface="Cambria Math" panose="02040503050406030204" pitchFamily="18" charset="0"/>
                        <a:cs typeface="Times New Roman" panose="02020603050405020304" pitchFamily="18" charset="0"/>
                      </a:rPr>
                      <m:t>𝜇</m:t>
                    </m:r>
                    <m:r>
                      <a:rPr lang="en-US" sz="1200" b="0" i="1" smtClean="0">
                        <a:latin typeface="Cambria Math" panose="02040503050406030204" pitchFamily="18" charset="0"/>
                        <a:cs typeface="Times New Roman" panose="02020603050405020304" pitchFamily="18" charset="0"/>
                      </a:rPr>
                      <m:t>𝐻</m:t>
                    </m:r>
                  </m:oMath>
                </a14:m>
                <a:r>
                  <a:rPr lang="en-US"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mc:Choice>
        <mc:Fallback>
          <p:sp>
            <p:nvSpPr>
              <p:cNvPr id="11" name="TextBox 10"/>
              <p:cNvSpPr txBox="1">
                <a:spLocks noRot="1" noChangeAspect="1" noMove="1" noResize="1" noEditPoints="1" noAdjustHandles="1" noChangeArrowheads="1" noChangeShapeType="1" noTextEdit="1"/>
              </p:cNvSpPr>
              <p:nvPr/>
            </p:nvSpPr>
            <p:spPr>
              <a:xfrm rot="16200000">
                <a:off x="3212093" y="3504856"/>
                <a:ext cx="1406064" cy="461665"/>
              </a:xfrm>
              <a:prstGeom prst="rect">
                <a:avLst/>
              </a:prstGeom>
              <a:blipFill>
                <a:blip r:embed="rId3"/>
                <a:stretch>
                  <a:fillRect r="-9211"/>
                </a:stretch>
              </a:blipFill>
            </p:spPr>
            <p:txBody>
              <a:bodyPr/>
              <a:lstStyle/>
              <a:p>
                <a:r>
                  <a:rPr lang="sv-SE">
                    <a:noFill/>
                  </a:rPr>
                  <a:t> </a:t>
                </a:r>
              </a:p>
            </p:txBody>
          </p:sp>
        </mc:Fallback>
      </mc:AlternateContent>
    </p:spTree>
    <p:extLst>
      <p:ext uri="{BB962C8B-B14F-4D97-AF65-F5344CB8AC3E}">
        <p14:creationId xmlns:p14="http://schemas.microsoft.com/office/powerpoint/2010/main" val="950201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675" y="327282"/>
            <a:ext cx="10990263" cy="568412"/>
          </a:xfrm>
        </p:spPr>
        <p:txBody>
          <a:bodyPr/>
          <a:lstStyle/>
          <a:p>
            <a:r>
              <a:rPr lang="en-US" dirty="0" smtClean="0"/>
              <a:t>Phase Current Calculations- State Space</a:t>
            </a:r>
            <a:endParaRPr lang="sv-SE" dirty="0"/>
          </a:p>
        </p:txBody>
      </p:sp>
      <p:sp>
        <p:nvSpPr>
          <p:cNvPr id="3" name="Rectangle 2"/>
          <p:cNvSpPr/>
          <p:nvPr/>
        </p:nvSpPr>
        <p:spPr>
          <a:xfrm>
            <a:off x="798071" y="2070444"/>
            <a:ext cx="5695950" cy="3785652"/>
          </a:xfrm>
          <a:prstGeom prst="rect">
            <a:avLst/>
          </a:prstGeom>
        </p:spPr>
        <p:txBody>
          <a:bodyPr wrap="square">
            <a:spAutoFit/>
          </a:bodyPr>
          <a:lstStyle/>
          <a:p>
            <a:r>
              <a:rPr lang="sv-SE" sz="1200" dirty="0" err="1">
                <a:latin typeface="Times New Roman" panose="02020603050405020304" pitchFamily="18" charset="0"/>
                <a:cs typeface="Times New Roman" panose="02020603050405020304" pitchFamily="18" charset="0"/>
              </a:rPr>
              <a:t>i_a</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zeros</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size</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v_phase_a</a:t>
            </a:r>
            <a:r>
              <a:rPr lang="sv-SE" sz="1200" dirty="0" smtClean="0">
                <a:latin typeface="Times New Roman" panose="02020603050405020304" pitchFamily="18" charset="0"/>
                <a:cs typeface="Times New Roman" panose="02020603050405020304" pitchFamily="18" charset="0"/>
              </a:rPr>
              <a:t>));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phase</a:t>
            </a:r>
            <a:r>
              <a:rPr lang="sv-SE" sz="1200" dirty="0" smtClean="0">
                <a:solidFill>
                  <a:srgbClr val="008013"/>
                </a:solidFill>
                <a:latin typeface="Times New Roman" panose="02020603050405020304" pitchFamily="18" charset="0"/>
                <a:cs typeface="Times New Roman" panose="02020603050405020304" pitchFamily="18" charset="0"/>
              </a:rPr>
              <a:t>-A </a:t>
            </a:r>
            <a:r>
              <a:rPr lang="sv-SE" sz="1200" dirty="0" err="1" smtClean="0">
                <a:solidFill>
                  <a:srgbClr val="008013"/>
                </a:solidFill>
                <a:latin typeface="Times New Roman" panose="02020603050405020304" pitchFamily="18" charset="0"/>
                <a:cs typeface="Times New Roman" panose="02020603050405020304" pitchFamily="18" charset="0"/>
              </a:rPr>
              <a:t>time</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domain</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current</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vector</a:t>
            </a:r>
            <a:r>
              <a:rPr lang="sv-SE" sz="1200" dirty="0" smtClean="0">
                <a:solidFill>
                  <a:srgbClr val="008013"/>
                </a:solidFill>
                <a:latin typeface="Times New Roman" panose="02020603050405020304" pitchFamily="18" charset="0"/>
                <a:cs typeface="Times New Roman" panose="02020603050405020304" pitchFamily="18" charset="0"/>
              </a:rPr>
              <a:t> </a:t>
            </a:r>
            <a:endParaRPr lang="sv-SE" sz="1200" dirty="0">
              <a:latin typeface="Times New Roman" panose="02020603050405020304" pitchFamily="18" charset="0"/>
              <a:cs typeface="Times New Roman" panose="02020603050405020304" pitchFamily="18" charset="0"/>
            </a:endParaRPr>
          </a:p>
          <a:p>
            <a:r>
              <a:rPr lang="sv-SE" sz="1200" dirty="0" err="1" smtClean="0">
                <a:latin typeface="Times New Roman" panose="02020603050405020304" pitchFamily="18" charset="0"/>
                <a:cs typeface="Times New Roman" panose="02020603050405020304" pitchFamily="18" charset="0"/>
              </a:rPr>
              <a:t>i_b</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zeros</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size</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v_phase_b</a:t>
            </a:r>
            <a:r>
              <a:rPr lang="sv-SE" sz="1200" dirty="0" smtClean="0">
                <a:latin typeface="Times New Roman" panose="02020603050405020304" pitchFamily="18" charset="0"/>
                <a:cs typeface="Times New Roman" panose="02020603050405020304" pitchFamily="18" charset="0"/>
              </a:rPr>
              <a:t>));</a:t>
            </a:r>
            <a:r>
              <a:rPr lang="sv-SE" sz="1200" dirty="0">
                <a:solidFill>
                  <a:srgbClr val="008013"/>
                </a:solidFill>
                <a:latin typeface="Times New Roman" panose="02020603050405020304" pitchFamily="18" charset="0"/>
                <a:cs typeface="Times New Roman" panose="02020603050405020304" pitchFamily="18" charset="0"/>
              </a:rPr>
              <a:t> % </a:t>
            </a:r>
            <a:r>
              <a:rPr lang="sv-SE" sz="1200" dirty="0" err="1" smtClean="0">
                <a:solidFill>
                  <a:srgbClr val="008013"/>
                </a:solidFill>
                <a:latin typeface="Times New Roman" panose="02020603050405020304" pitchFamily="18" charset="0"/>
                <a:cs typeface="Times New Roman" panose="02020603050405020304" pitchFamily="18" charset="0"/>
              </a:rPr>
              <a:t>phase</a:t>
            </a:r>
            <a:r>
              <a:rPr lang="sv-SE" sz="1200" dirty="0" smtClean="0">
                <a:solidFill>
                  <a:srgbClr val="008013"/>
                </a:solidFill>
                <a:latin typeface="Times New Roman" panose="02020603050405020304" pitchFamily="18" charset="0"/>
                <a:cs typeface="Times New Roman" panose="02020603050405020304" pitchFamily="18" charset="0"/>
              </a:rPr>
              <a:t>-B </a:t>
            </a:r>
            <a:r>
              <a:rPr lang="sv-SE" sz="1200" dirty="0" err="1">
                <a:solidFill>
                  <a:srgbClr val="008013"/>
                </a:solidFill>
                <a:latin typeface="Times New Roman" panose="02020603050405020304" pitchFamily="18" charset="0"/>
                <a:cs typeface="Times New Roman" panose="02020603050405020304" pitchFamily="18" charset="0"/>
              </a:rPr>
              <a:t>time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domain</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current</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vector</a:t>
            </a:r>
            <a:r>
              <a:rPr lang="sv-SE" sz="1200" dirty="0">
                <a:solidFill>
                  <a:srgbClr val="008013"/>
                </a:solidFill>
                <a:latin typeface="Times New Roman" panose="02020603050405020304" pitchFamily="18" charset="0"/>
                <a:cs typeface="Times New Roman" panose="02020603050405020304" pitchFamily="18" charset="0"/>
              </a:rPr>
              <a:t> </a:t>
            </a: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i_c</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zeros</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size</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v_phase_c</a:t>
            </a:r>
            <a:r>
              <a:rPr lang="sv-SE" sz="1200" dirty="0" smtClean="0">
                <a:latin typeface="Times New Roman" panose="02020603050405020304" pitchFamily="18" charset="0"/>
                <a:cs typeface="Times New Roman" panose="02020603050405020304" pitchFamily="18" charset="0"/>
              </a:rPr>
              <a:t>));</a:t>
            </a:r>
            <a:r>
              <a:rPr lang="sv-SE" sz="1200" dirty="0">
                <a:solidFill>
                  <a:srgbClr val="008013"/>
                </a:solidFill>
                <a:latin typeface="Times New Roman" panose="02020603050405020304" pitchFamily="18" charset="0"/>
                <a:cs typeface="Times New Roman" panose="02020603050405020304" pitchFamily="18" charset="0"/>
              </a:rPr>
              <a:t> % </a:t>
            </a:r>
            <a:r>
              <a:rPr lang="sv-SE" sz="1200" dirty="0" err="1" smtClean="0">
                <a:solidFill>
                  <a:srgbClr val="008013"/>
                </a:solidFill>
                <a:latin typeface="Times New Roman" panose="02020603050405020304" pitchFamily="18" charset="0"/>
                <a:cs typeface="Times New Roman" panose="02020603050405020304" pitchFamily="18" charset="0"/>
              </a:rPr>
              <a:t>phase</a:t>
            </a:r>
            <a:r>
              <a:rPr lang="sv-SE" sz="1200" dirty="0" smtClean="0">
                <a:solidFill>
                  <a:srgbClr val="008013"/>
                </a:solidFill>
                <a:latin typeface="Times New Roman" panose="02020603050405020304" pitchFamily="18" charset="0"/>
                <a:cs typeface="Times New Roman" panose="02020603050405020304" pitchFamily="18" charset="0"/>
              </a:rPr>
              <a:t>-C </a:t>
            </a:r>
            <a:r>
              <a:rPr lang="sv-SE" sz="1200" dirty="0" err="1">
                <a:solidFill>
                  <a:srgbClr val="008013"/>
                </a:solidFill>
                <a:latin typeface="Times New Roman" panose="02020603050405020304" pitchFamily="18" charset="0"/>
                <a:cs typeface="Times New Roman" panose="02020603050405020304" pitchFamily="18" charset="0"/>
              </a:rPr>
              <a:t>time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domain</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current</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vector</a:t>
            </a:r>
            <a:r>
              <a:rPr lang="sv-SE" sz="1200" dirty="0">
                <a:solidFill>
                  <a:srgbClr val="008013"/>
                </a:solidFill>
                <a:latin typeface="Times New Roman" panose="02020603050405020304" pitchFamily="18" charset="0"/>
                <a:cs typeface="Times New Roman" panose="02020603050405020304" pitchFamily="18" charset="0"/>
              </a:rPr>
              <a:t> </a:t>
            </a: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time</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wt</a:t>
            </a:r>
            <a:r>
              <a:rPr lang="sv-SE" sz="1200" dirty="0">
                <a:latin typeface="Times New Roman" panose="02020603050405020304" pitchFamily="18" charset="0"/>
                <a:cs typeface="Times New Roman" panose="02020603050405020304" pitchFamily="18" charset="0"/>
              </a:rPr>
              <a:t>/2/pi/f1;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angle</a:t>
            </a:r>
            <a:r>
              <a:rPr lang="sv-SE" sz="1200" dirty="0">
                <a:solidFill>
                  <a:srgbClr val="008013"/>
                </a:solidFill>
                <a:latin typeface="Times New Roman" panose="02020603050405020304" pitchFamily="18" charset="0"/>
                <a:cs typeface="Times New Roman" panose="02020603050405020304" pitchFamily="18" charset="0"/>
              </a:rPr>
              <a:t>-to-</a:t>
            </a:r>
            <a:r>
              <a:rPr lang="sv-SE" sz="1200" dirty="0" err="1">
                <a:solidFill>
                  <a:srgbClr val="008013"/>
                </a:solidFill>
                <a:latin typeface="Times New Roman" panose="02020603050405020304" pitchFamily="18" charset="0"/>
                <a:cs typeface="Times New Roman" panose="02020603050405020304" pitchFamily="18" charset="0"/>
              </a:rPr>
              <a:t>time</a:t>
            </a: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sample_time</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time</a:t>
            </a:r>
            <a:r>
              <a:rPr lang="sv-SE" sz="1200" dirty="0">
                <a:latin typeface="Times New Roman" panose="02020603050405020304" pitchFamily="18" charset="0"/>
                <a:cs typeface="Times New Roman" panose="02020603050405020304" pitchFamily="18" charset="0"/>
              </a:rPr>
              <a:t>(2)-</a:t>
            </a:r>
            <a:r>
              <a:rPr lang="sv-SE" sz="1200" dirty="0" err="1">
                <a:latin typeface="Times New Roman" panose="02020603050405020304" pitchFamily="18" charset="0"/>
                <a:cs typeface="Times New Roman" panose="02020603050405020304" pitchFamily="18" charset="0"/>
              </a:rPr>
              <a:t>time</a:t>
            </a:r>
            <a:r>
              <a:rPr lang="sv-SE" sz="1200" dirty="0">
                <a:latin typeface="Times New Roman" panose="02020603050405020304" pitchFamily="18" charset="0"/>
                <a:cs typeface="Times New Roman" panose="02020603050405020304" pitchFamily="18" charset="0"/>
              </a:rPr>
              <a:t>(1);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sample_time</a:t>
            </a:r>
            <a:endParaRPr lang="sv-SE" sz="1200" dirty="0">
              <a:latin typeface="Times New Roman" panose="02020603050405020304" pitchFamily="18" charset="0"/>
              <a:cs typeface="Times New Roman" panose="02020603050405020304" pitchFamily="18" charset="0"/>
            </a:endParaRPr>
          </a:p>
          <a:p>
            <a:endParaRPr lang="sv-SE" sz="1200" dirty="0">
              <a:latin typeface="Times New Roman" panose="02020603050405020304" pitchFamily="18" charset="0"/>
              <a:cs typeface="Times New Roman" panose="02020603050405020304" pitchFamily="18" charset="0"/>
            </a:endParaRPr>
          </a:p>
          <a:p>
            <a:r>
              <a:rPr lang="sv-SE" sz="1200" dirty="0">
                <a:solidFill>
                  <a:srgbClr val="0E00FF"/>
                </a:solidFill>
                <a:latin typeface="Times New Roman" panose="02020603050405020304" pitchFamily="18" charset="0"/>
                <a:cs typeface="Times New Roman" panose="02020603050405020304" pitchFamily="18" charset="0"/>
              </a:rPr>
              <a:t>for </a:t>
            </a:r>
            <a:r>
              <a:rPr lang="sv-SE" sz="1200" dirty="0">
                <a:latin typeface="Times New Roman" panose="02020603050405020304" pitchFamily="18" charset="0"/>
                <a:cs typeface="Times New Roman" panose="02020603050405020304" pitchFamily="18" charset="0"/>
              </a:rPr>
              <a:t>t=2:length(</a:t>
            </a:r>
            <a:r>
              <a:rPr lang="sv-SE" sz="1200" dirty="0" err="1">
                <a:latin typeface="Times New Roman" panose="02020603050405020304" pitchFamily="18" charset="0"/>
                <a:cs typeface="Times New Roman" panose="02020603050405020304" pitchFamily="18" charset="0"/>
              </a:rPr>
              <a:t>time</a:t>
            </a:r>
            <a:r>
              <a:rPr lang="sv-SE" sz="1200" dirty="0" smtClean="0">
                <a:latin typeface="Times New Roman" panose="02020603050405020304" pitchFamily="18" charset="0"/>
                <a:cs typeface="Times New Roman" panose="02020603050405020304" pitchFamily="18" charset="0"/>
              </a:rPr>
              <a:t>)</a:t>
            </a:r>
            <a:r>
              <a:rPr lang="sv-SE" sz="1200" dirty="0">
                <a:latin typeface="Times New Roman" panose="02020603050405020304" pitchFamily="18" charset="0"/>
                <a:cs typeface="Times New Roman" panose="02020603050405020304" pitchFamily="18" charset="0"/>
              </a:rPr>
              <a:t/>
            </a:r>
            <a:br>
              <a:rPr lang="sv-SE" sz="1200" dirty="0">
                <a:latin typeface="Times New Roman" panose="02020603050405020304" pitchFamily="18" charset="0"/>
                <a:cs typeface="Times New Roman" panose="02020603050405020304" pitchFamily="18" charset="0"/>
              </a:rPr>
            </a:b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dL_dt</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L_a</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L_a</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sample_time</a:t>
            </a:r>
            <a:r>
              <a:rPr lang="sv-SE" sz="1200" dirty="0" smtClean="0">
                <a:latin typeface="Times New Roman" panose="02020603050405020304" pitchFamily="18" charset="0"/>
                <a:cs typeface="Times New Roman" panose="02020603050405020304" pitchFamily="18" charset="0"/>
              </a:rPr>
              <a:t>;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Inductance</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change</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within</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sample</a:t>
            </a:r>
            <a:r>
              <a:rPr lang="sv-SE" sz="1200" dirty="0" smtClean="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time</a:t>
            </a: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i_a</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i_a</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sample_time</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v_phase_a</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rs</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i_a</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dL_dt</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i_a</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L_a</a:t>
            </a:r>
            <a:r>
              <a:rPr lang="sv-SE" sz="1200" dirty="0">
                <a:latin typeface="Times New Roman" panose="02020603050405020304" pitchFamily="18" charset="0"/>
                <a:cs typeface="Times New Roman" panose="02020603050405020304" pitchFamily="18" charset="0"/>
              </a:rPr>
              <a:t>(t</a:t>
            </a:r>
            <a:r>
              <a:rPr lang="sv-SE" sz="1200" dirty="0" smtClean="0">
                <a:latin typeface="Times New Roman" panose="02020603050405020304" pitchFamily="18" charset="0"/>
                <a:cs typeface="Times New Roman" panose="02020603050405020304" pitchFamily="18" charset="0"/>
              </a:rPr>
              <a:t>));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smtClean="0">
                <a:solidFill>
                  <a:srgbClr val="008013"/>
                </a:solidFill>
                <a:latin typeface="Times New Roman" panose="02020603050405020304" pitchFamily="18" charset="0"/>
                <a:cs typeface="Times New Roman" panose="02020603050405020304" pitchFamily="18" charset="0"/>
              </a:rPr>
              <a:t>State-Space</a:t>
            </a:r>
            <a:r>
              <a:rPr lang="sv-SE" sz="1200" dirty="0">
                <a:latin typeface="Times New Roman" panose="02020603050405020304" pitchFamily="18" charset="0"/>
                <a:cs typeface="Times New Roman" panose="02020603050405020304" pitchFamily="18" charset="0"/>
              </a:rPr>
              <a:t/>
            </a:r>
            <a:br>
              <a:rPr lang="sv-SE" sz="1200" dirty="0">
                <a:latin typeface="Times New Roman" panose="02020603050405020304" pitchFamily="18" charset="0"/>
                <a:cs typeface="Times New Roman" panose="02020603050405020304" pitchFamily="18" charset="0"/>
              </a:rPr>
            </a:b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dL_dt</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L_b</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L_b</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sample_time</a:t>
            </a:r>
            <a:r>
              <a:rPr lang="sv-SE" sz="1200" dirty="0" smtClean="0">
                <a:latin typeface="Times New Roman" panose="02020603050405020304" pitchFamily="18" charset="0"/>
                <a:cs typeface="Times New Roman" panose="02020603050405020304" pitchFamily="18" charset="0"/>
              </a:rPr>
              <a:t>;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Inductance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change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within</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sample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time</a:t>
            </a: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i_b</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i_b</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sample_time</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v_phase_b</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rs</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i_b</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dL_dt</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i_b</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L_b</a:t>
            </a:r>
            <a:r>
              <a:rPr lang="sv-SE" sz="1200" dirty="0">
                <a:latin typeface="Times New Roman" panose="02020603050405020304" pitchFamily="18" charset="0"/>
                <a:cs typeface="Times New Roman" panose="02020603050405020304" pitchFamily="18" charset="0"/>
              </a:rPr>
              <a:t>(t</a:t>
            </a:r>
            <a:r>
              <a:rPr lang="sv-SE" sz="1200" dirty="0" smtClean="0">
                <a:latin typeface="Times New Roman" panose="02020603050405020304" pitchFamily="18" charset="0"/>
                <a:cs typeface="Times New Roman" panose="02020603050405020304" pitchFamily="18" charset="0"/>
              </a:rPr>
              <a:t>));</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smtClean="0">
                <a:solidFill>
                  <a:srgbClr val="008013"/>
                </a:solidFill>
                <a:latin typeface="Times New Roman" panose="02020603050405020304" pitchFamily="18" charset="0"/>
                <a:cs typeface="Times New Roman" panose="02020603050405020304" pitchFamily="18" charset="0"/>
              </a:rPr>
              <a:t> % </a:t>
            </a:r>
            <a:r>
              <a:rPr lang="sv-SE" sz="1200" dirty="0">
                <a:solidFill>
                  <a:srgbClr val="008013"/>
                </a:solidFill>
                <a:latin typeface="Times New Roman" panose="02020603050405020304" pitchFamily="18" charset="0"/>
                <a:cs typeface="Times New Roman" panose="02020603050405020304" pitchFamily="18" charset="0"/>
              </a:rPr>
              <a:t>State-Space</a:t>
            </a:r>
            <a:endParaRPr lang="sv-SE" sz="1200" dirty="0">
              <a:latin typeface="Times New Roman" panose="02020603050405020304" pitchFamily="18" charset="0"/>
              <a:cs typeface="Times New Roman" panose="02020603050405020304" pitchFamily="18" charset="0"/>
            </a:endParaRPr>
          </a:p>
          <a:p>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dL_dt</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L_c</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L_c</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sample_time</a:t>
            </a:r>
            <a:r>
              <a:rPr lang="sv-SE" sz="1200" dirty="0" smtClean="0">
                <a:latin typeface="Times New Roman" panose="02020603050405020304" pitchFamily="18" charset="0"/>
                <a:cs typeface="Times New Roman" panose="02020603050405020304" pitchFamily="18" charset="0"/>
              </a:rPr>
              <a:t>; </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Inductance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change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within</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a:solidFill>
                  <a:srgbClr val="008013"/>
                </a:solidFill>
                <a:latin typeface="Times New Roman" panose="02020603050405020304" pitchFamily="18" charset="0"/>
                <a:cs typeface="Times New Roman" panose="02020603050405020304" pitchFamily="18" charset="0"/>
              </a:rPr>
              <a:t>sample</a:t>
            </a:r>
            <a:r>
              <a:rPr lang="sv-SE" sz="1200" dirty="0">
                <a:solidFill>
                  <a:srgbClr val="008013"/>
                </a:solidFill>
                <a:latin typeface="Times New Roman" panose="02020603050405020304" pitchFamily="18" charset="0"/>
                <a:cs typeface="Times New Roman" panose="02020603050405020304" pitchFamily="18" charset="0"/>
              </a:rPr>
              <a:t> </a:t>
            </a:r>
            <a:r>
              <a:rPr lang="sv-SE" sz="1200" dirty="0" err="1" smtClean="0">
                <a:solidFill>
                  <a:srgbClr val="008013"/>
                </a:solidFill>
                <a:latin typeface="Times New Roman" panose="02020603050405020304" pitchFamily="18" charset="0"/>
                <a:cs typeface="Times New Roman" panose="02020603050405020304" pitchFamily="18" charset="0"/>
              </a:rPr>
              <a:t>time</a:t>
            </a:r>
            <a:endParaRPr lang="sv-SE" sz="1200" dirty="0">
              <a:latin typeface="Times New Roman" panose="02020603050405020304" pitchFamily="18" charset="0"/>
              <a:cs typeface="Times New Roman" panose="02020603050405020304" pitchFamily="18" charset="0"/>
            </a:endParaRPr>
          </a:p>
          <a:p>
            <a:r>
              <a:rPr lang="sv-SE" sz="1200" dirty="0" err="1">
                <a:latin typeface="Times New Roman" panose="02020603050405020304" pitchFamily="18" charset="0"/>
                <a:cs typeface="Times New Roman" panose="02020603050405020304" pitchFamily="18" charset="0"/>
              </a:rPr>
              <a:t>i_c</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i_c</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sample_time</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v_phase_c</a:t>
            </a:r>
            <a:r>
              <a:rPr lang="sv-SE" sz="1200" dirty="0">
                <a:latin typeface="Times New Roman" panose="02020603050405020304" pitchFamily="18" charset="0"/>
                <a:cs typeface="Times New Roman" panose="02020603050405020304" pitchFamily="18" charset="0"/>
              </a:rPr>
              <a:t>(t) - </a:t>
            </a:r>
            <a:r>
              <a:rPr lang="sv-SE" sz="1200" dirty="0" err="1">
                <a:latin typeface="Times New Roman" panose="02020603050405020304" pitchFamily="18" charset="0"/>
                <a:cs typeface="Times New Roman" panose="02020603050405020304" pitchFamily="18" charset="0"/>
              </a:rPr>
              <a:t>rs</a:t>
            </a:r>
            <a:r>
              <a:rPr lang="sv-SE" sz="1200" dirty="0">
                <a:latin typeface="Times New Roman" panose="02020603050405020304" pitchFamily="18" charset="0"/>
                <a:cs typeface="Times New Roman" panose="02020603050405020304" pitchFamily="18" charset="0"/>
              </a:rPr>
              <a:t>*</a:t>
            </a:r>
            <a:r>
              <a:rPr lang="sv-SE" sz="1200" dirty="0" err="1">
                <a:latin typeface="Times New Roman" panose="02020603050405020304" pitchFamily="18" charset="0"/>
                <a:cs typeface="Times New Roman" panose="02020603050405020304" pitchFamily="18" charset="0"/>
              </a:rPr>
              <a:t>i_c</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dL_dt</a:t>
            </a:r>
            <a:r>
              <a:rPr lang="sv-SE" sz="1200" dirty="0">
                <a:latin typeface="Times New Roman" panose="02020603050405020304" pitchFamily="18" charset="0"/>
                <a:cs typeface="Times New Roman" panose="02020603050405020304" pitchFamily="18" charset="0"/>
              </a:rPr>
              <a:t> * </a:t>
            </a:r>
            <a:r>
              <a:rPr lang="sv-SE" sz="1200" dirty="0" err="1">
                <a:latin typeface="Times New Roman" panose="02020603050405020304" pitchFamily="18" charset="0"/>
                <a:cs typeface="Times New Roman" panose="02020603050405020304" pitchFamily="18" charset="0"/>
              </a:rPr>
              <a:t>i_c</a:t>
            </a:r>
            <a:r>
              <a:rPr lang="sv-SE" sz="1200" dirty="0">
                <a:latin typeface="Times New Roman" panose="02020603050405020304" pitchFamily="18" charset="0"/>
                <a:cs typeface="Times New Roman" panose="02020603050405020304" pitchFamily="18" charset="0"/>
              </a:rPr>
              <a:t>(t-1)) / </a:t>
            </a:r>
            <a:r>
              <a:rPr lang="sv-SE" sz="1200" dirty="0" err="1">
                <a:latin typeface="Times New Roman" panose="02020603050405020304" pitchFamily="18" charset="0"/>
                <a:cs typeface="Times New Roman" panose="02020603050405020304" pitchFamily="18" charset="0"/>
              </a:rPr>
              <a:t>L_c</a:t>
            </a:r>
            <a:r>
              <a:rPr lang="sv-SE" sz="1200" dirty="0">
                <a:latin typeface="Times New Roman" panose="02020603050405020304" pitchFamily="18" charset="0"/>
                <a:cs typeface="Times New Roman" panose="02020603050405020304" pitchFamily="18" charset="0"/>
              </a:rPr>
              <a:t>(t</a:t>
            </a:r>
            <a:r>
              <a:rPr lang="sv-SE" sz="1200" dirty="0" smtClean="0">
                <a:latin typeface="Times New Roman" panose="02020603050405020304" pitchFamily="18" charset="0"/>
                <a:cs typeface="Times New Roman" panose="02020603050405020304" pitchFamily="18" charset="0"/>
              </a:rPr>
              <a:t>));</a:t>
            </a:r>
            <a:r>
              <a:rPr lang="sv-SE" sz="1200" dirty="0">
                <a:solidFill>
                  <a:srgbClr val="008013"/>
                </a:solidFill>
                <a:latin typeface="Times New Roman" panose="02020603050405020304" pitchFamily="18" charset="0"/>
                <a:cs typeface="Times New Roman" panose="02020603050405020304" pitchFamily="18" charset="0"/>
              </a:rPr>
              <a:t> % </a:t>
            </a:r>
            <a:r>
              <a:rPr lang="sv-SE" sz="1200" dirty="0" smtClean="0">
                <a:solidFill>
                  <a:srgbClr val="008013"/>
                </a:solidFill>
                <a:latin typeface="Times New Roman" panose="02020603050405020304" pitchFamily="18" charset="0"/>
                <a:cs typeface="Times New Roman" panose="02020603050405020304" pitchFamily="18" charset="0"/>
              </a:rPr>
              <a:t>State-Space</a:t>
            </a:r>
            <a:endParaRPr lang="sv-SE" sz="1200" dirty="0">
              <a:latin typeface="Times New Roman" panose="02020603050405020304" pitchFamily="18" charset="0"/>
              <a:cs typeface="Times New Roman" panose="02020603050405020304" pitchFamily="18" charset="0"/>
            </a:endParaRPr>
          </a:p>
          <a:p>
            <a:r>
              <a:rPr lang="sv-SE" sz="1200" dirty="0">
                <a:solidFill>
                  <a:srgbClr val="0E00FF"/>
                </a:solidFill>
                <a:latin typeface="Times New Roman" panose="02020603050405020304" pitchFamily="18" charset="0"/>
                <a:cs typeface="Times New Roman" panose="02020603050405020304" pitchFamily="18" charset="0"/>
              </a:rPr>
              <a:t>end</a:t>
            </a:r>
            <a:endParaRPr lang="sv-SE" sz="1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269948" y="1663771"/>
            <a:ext cx="3651250" cy="2738438"/>
          </a:xfrm>
          <a:prstGeom prst="rect">
            <a:avLst/>
          </a:prstGeom>
        </p:spPr>
      </p:pic>
      <p:sp>
        <p:nvSpPr>
          <p:cNvPr id="9" name="TextBox 8"/>
          <p:cNvSpPr txBox="1"/>
          <p:nvPr/>
        </p:nvSpPr>
        <p:spPr>
          <a:xfrm rot="16200000">
            <a:off x="6705416" y="2894491"/>
            <a:ext cx="1406064" cy="276999"/>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Current (A)</a:t>
            </a:r>
            <a:endParaRPr lang="sv-SE" sz="12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821802" y="4268242"/>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a:off x="9150350" y="4699000"/>
            <a:ext cx="0" cy="635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727950" y="5334000"/>
            <a:ext cx="3136900" cy="923330"/>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Including common mode current since it is solved in a single phase equivalent circuit</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9750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675" y="327282"/>
            <a:ext cx="10990263" cy="568412"/>
          </a:xfrm>
        </p:spPr>
        <p:txBody>
          <a:bodyPr/>
          <a:lstStyle/>
          <a:p>
            <a:pPr algn="ctr"/>
            <a:r>
              <a:rPr lang="en-US" dirty="0" smtClean="0"/>
              <a:t>Differential mode current and reconstructing </a:t>
            </a:r>
            <a:r>
              <a:rPr lang="en-US" dirty="0" err="1" smtClean="0"/>
              <a:t>dq</a:t>
            </a:r>
            <a:r>
              <a:rPr lang="en-US" dirty="0" smtClean="0"/>
              <a:t> axis current </a:t>
            </a:r>
            <a:endParaRPr lang="sv-SE" dirty="0"/>
          </a:p>
        </p:txBody>
      </p:sp>
      <p:pic>
        <p:nvPicPr>
          <p:cNvPr id="6" name="Picture 5"/>
          <p:cNvPicPr>
            <a:picLocks noChangeAspect="1"/>
          </p:cNvPicPr>
          <p:nvPr/>
        </p:nvPicPr>
        <p:blipFill>
          <a:blip r:embed="rId2"/>
          <a:stretch>
            <a:fillRect/>
          </a:stretch>
        </p:blipFill>
        <p:spPr>
          <a:xfrm>
            <a:off x="1094174" y="1670050"/>
            <a:ext cx="3242733" cy="2432050"/>
          </a:xfrm>
          <a:prstGeom prst="rect">
            <a:avLst/>
          </a:prstGeom>
        </p:spPr>
      </p:pic>
      <p:sp>
        <p:nvSpPr>
          <p:cNvPr id="11" name="TextBox 10"/>
          <p:cNvSpPr txBox="1"/>
          <p:nvPr/>
        </p:nvSpPr>
        <p:spPr>
          <a:xfrm rot="16200000">
            <a:off x="391143" y="2747575"/>
            <a:ext cx="1406064" cy="276999"/>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Current (A)</a:t>
            </a:r>
            <a:endParaRPr lang="sv-SE" sz="12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2123352" y="4067423"/>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(sec)</a:t>
            </a:r>
            <a:endParaRPr lang="sv-SE" sz="12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955675" y="4443978"/>
            <a:ext cx="3218696" cy="2414022"/>
          </a:xfrm>
          <a:prstGeom prst="rect">
            <a:avLst/>
          </a:prstGeom>
        </p:spPr>
      </p:pic>
      <p:cxnSp>
        <p:nvCxnSpPr>
          <p:cNvPr id="15" name="Straight Arrow Connector 14"/>
          <p:cNvCxnSpPr/>
          <p:nvPr/>
        </p:nvCxnSpPr>
        <p:spPr>
          <a:xfrm>
            <a:off x="4174371" y="2768600"/>
            <a:ext cx="2012117" cy="3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437749" y="1994244"/>
            <a:ext cx="2168611"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Park and Clarke Transformation</a:t>
            </a:r>
            <a:endParaRPr lang="sv-SE" dirty="0">
              <a:latin typeface="Times New Roman" panose="02020603050405020304" pitchFamily="18" charset="0"/>
              <a:cs typeface="Times New Roman" panose="02020603050405020304" pitchFamily="18" charset="0"/>
            </a:endParaRPr>
          </a:p>
        </p:txBody>
      </p:sp>
      <p:pic>
        <p:nvPicPr>
          <p:cNvPr id="20" name="Picture 19"/>
          <p:cNvPicPr>
            <a:picLocks noChangeAspect="1"/>
          </p:cNvPicPr>
          <p:nvPr/>
        </p:nvPicPr>
        <p:blipFill>
          <a:blip r:embed="rId4"/>
          <a:stretch>
            <a:fillRect/>
          </a:stretch>
        </p:blipFill>
        <p:spPr>
          <a:xfrm>
            <a:off x="7026232" y="1612213"/>
            <a:ext cx="3469492" cy="2602119"/>
          </a:xfrm>
          <a:prstGeom prst="rect">
            <a:avLst/>
          </a:prstGeom>
        </p:spPr>
      </p:pic>
      <p:sp>
        <p:nvSpPr>
          <p:cNvPr id="21" name="TextBox 20"/>
          <p:cNvSpPr txBox="1"/>
          <p:nvPr/>
        </p:nvSpPr>
        <p:spPr>
          <a:xfrm rot="16200000">
            <a:off x="6461700" y="2747576"/>
            <a:ext cx="1406064" cy="276999"/>
          </a:xfrm>
          <a:prstGeom prst="rect">
            <a:avLst/>
          </a:prstGeom>
          <a:noFill/>
        </p:spPr>
        <p:txBody>
          <a:bodyPr wrap="square" rtlCol="0">
            <a:spAutoFit/>
          </a:bodyPr>
          <a:lstStyle/>
          <a:p>
            <a:pPr algn="ctr"/>
            <a:r>
              <a:rPr lang="en-US" sz="1200" dirty="0" smtClean="0">
                <a:latin typeface="Times New Roman" panose="02020603050405020304" pitchFamily="18" charset="0"/>
                <a:cs typeface="Times New Roman" panose="02020603050405020304" pitchFamily="18" charset="0"/>
              </a:rPr>
              <a:t>Current (A)</a:t>
            </a:r>
            <a:endParaRPr lang="sv-SE" sz="12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8318207" y="4102100"/>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Time (</a:t>
            </a:r>
            <a:r>
              <a:rPr lang="en-US" sz="1200" dirty="0" err="1" smtClean="0">
                <a:latin typeface="Times New Roman" panose="02020603050405020304" pitchFamily="18" charset="0"/>
                <a:cs typeface="Times New Roman" panose="02020603050405020304" pitchFamily="18" charset="0"/>
              </a:rPr>
              <a:t>msec</a:t>
            </a:r>
            <a:r>
              <a:rPr lang="en-US"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8923698" y="2178909"/>
            <a:ext cx="1068859"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q-axis current</a:t>
            </a:r>
            <a:endParaRPr lang="sv-SE" sz="120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8983422" y="3247081"/>
            <a:ext cx="1068859"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d</a:t>
            </a:r>
            <a:r>
              <a:rPr lang="en-US" sz="1200" dirty="0" smtClean="0">
                <a:latin typeface="Times New Roman" panose="02020603050405020304" pitchFamily="18" charset="0"/>
                <a:cs typeface="Times New Roman" panose="02020603050405020304" pitchFamily="18" charset="0"/>
              </a:rPr>
              <a:t>-axis current</a:t>
            </a:r>
            <a:endParaRPr lang="sv-SE"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0347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956" y="366584"/>
            <a:ext cx="10990263" cy="568412"/>
          </a:xfrm>
        </p:spPr>
        <p:txBody>
          <a:bodyPr/>
          <a:lstStyle/>
          <a:p>
            <a:r>
              <a:rPr lang="en-US" dirty="0" smtClean="0"/>
              <a:t>Different Switching Frequencies </a:t>
            </a:r>
            <a:endParaRPr lang="sv-SE" dirty="0"/>
          </a:p>
        </p:txBody>
      </p:sp>
      <p:pic>
        <p:nvPicPr>
          <p:cNvPr id="4" name="Picture 3"/>
          <p:cNvPicPr>
            <a:picLocks noChangeAspect="1"/>
          </p:cNvPicPr>
          <p:nvPr/>
        </p:nvPicPr>
        <p:blipFill>
          <a:blip r:embed="rId2"/>
          <a:stretch>
            <a:fillRect/>
          </a:stretch>
        </p:blipFill>
        <p:spPr>
          <a:xfrm>
            <a:off x="916235" y="1089971"/>
            <a:ext cx="3515497" cy="2636623"/>
          </a:xfrm>
          <a:prstGeom prst="rect">
            <a:avLst/>
          </a:prstGeom>
        </p:spPr>
      </p:pic>
      <p:pic>
        <p:nvPicPr>
          <p:cNvPr id="5" name="Picture 4"/>
          <p:cNvPicPr>
            <a:picLocks noChangeAspect="1"/>
          </p:cNvPicPr>
          <p:nvPr/>
        </p:nvPicPr>
        <p:blipFill>
          <a:blip r:embed="rId3"/>
          <a:stretch>
            <a:fillRect/>
          </a:stretch>
        </p:blipFill>
        <p:spPr>
          <a:xfrm>
            <a:off x="4431732" y="1025094"/>
            <a:ext cx="3598564" cy="2698923"/>
          </a:xfrm>
          <a:prstGeom prst="rect">
            <a:avLst/>
          </a:prstGeom>
        </p:spPr>
      </p:pic>
      <p:pic>
        <p:nvPicPr>
          <p:cNvPr id="6" name="Picture 5"/>
          <p:cNvPicPr>
            <a:picLocks noChangeAspect="1"/>
          </p:cNvPicPr>
          <p:nvPr/>
        </p:nvPicPr>
        <p:blipFill>
          <a:blip r:embed="rId4"/>
          <a:stretch>
            <a:fillRect/>
          </a:stretch>
        </p:blipFill>
        <p:spPr>
          <a:xfrm>
            <a:off x="8155458" y="1041055"/>
            <a:ext cx="3577282" cy="2682962"/>
          </a:xfrm>
          <a:prstGeom prst="rect">
            <a:avLst/>
          </a:prstGeom>
        </p:spPr>
      </p:pic>
      <p:pic>
        <p:nvPicPr>
          <p:cNvPr id="7" name="Picture 6"/>
          <p:cNvPicPr>
            <a:picLocks noChangeAspect="1"/>
          </p:cNvPicPr>
          <p:nvPr/>
        </p:nvPicPr>
        <p:blipFill>
          <a:blip r:embed="rId5"/>
          <a:stretch>
            <a:fillRect/>
          </a:stretch>
        </p:blipFill>
        <p:spPr>
          <a:xfrm>
            <a:off x="2633423" y="3908683"/>
            <a:ext cx="3448561" cy="2586421"/>
          </a:xfrm>
          <a:prstGeom prst="rect">
            <a:avLst/>
          </a:prstGeom>
        </p:spPr>
      </p:pic>
      <p:pic>
        <p:nvPicPr>
          <p:cNvPr id="8" name="Picture 7"/>
          <p:cNvPicPr>
            <a:picLocks noChangeAspect="1"/>
          </p:cNvPicPr>
          <p:nvPr/>
        </p:nvPicPr>
        <p:blipFill>
          <a:blip r:embed="rId6"/>
          <a:stretch>
            <a:fillRect/>
          </a:stretch>
        </p:blipFill>
        <p:spPr>
          <a:xfrm>
            <a:off x="6048036" y="3814115"/>
            <a:ext cx="3628784" cy="2721588"/>
          </a:xfrm>
          <a:prstGeom prst="rect">
            <a:avLst/>
          </a:prstGeom>
        </p:spPr>
      </p:pic>
      <mc:AlternateContent xmlns:mc="http://schemas.openxmlformats.org/markup-compatibility/2006">
        <mc:Choice xmlns:a14="http://schemas.microsoft.com/office/drawing/2010/main" Requires="a14">
          <p:sp>
            <p:nvSpPr>
              <p:cNvPr id="10" name="TextBox 9"/>
              <p:cNvSpPr txBox="1"/>
              <p:nvPr/>
            </p:nvSpPr>
            <p:spPr>
              <a:xfrm>
                <a:off x="1719262" y="3604390"/>
                <a:ext cx="2168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Times New Roman" panose="02020603050405020304" pitchFamily="18" charset="0"/>
                        </a:rPr>
                        <m:t>30 </m:t>
                      </m:r>
                      <m:r>
                        <a:rPr lang="en-US" b="0" i="1" dirty="0" smtClean="0">
                          <a:latin typeface="Cambria Math" panose="02040503050406030204" pitchFamily="18" charset="0"/>
                          <a:cs typeface="Times New Roman" panose="02020603050405020304" pitchFamily="18" charset="0"/>
                        </a:rPr>
                        <m:t>𝑘𝐻𝑧</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0" name="TextBox 9"/>
              <p:cNvSpPr txBox="1">
                <a:spLocks noRot="1" noChangeAspect="1" noMove="1" noResize="1" noEditPoints="1" noAdjustHandles="1" noChangeArrowheads="1" noChangeShapeType="1" noTextEdit="1"/>
              </p:cNvSpPr>
              <p:nvPr/>
            </p:nvSpPr>
            <p:spPr>
              <a:xfrm>
                <a:off x="1719262" y="3604390"/>
                <a:ext cx="2168611"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5209289" y="3579420"/>
                <a:ext cx="2168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cs typeface="Times New Roman" panose="02020603050405020304" pitchFamily="18" charset="0"/>
                        </a:rPr>
                        <m:t>2</m:t>
                      </m:r>
                      <m:r>
                        <a:rPr lang="en-US" b="0" i="1" dirty="0" smtClean="0">
                          <a:latin typeface="Cambria Math" panose="02040503050406030204" pitchFamily="18" charset="0"/>
                          <a:cs typeface="Times New Roman" panose="02020603050405020304" pitchFamily="18" charset="0"/>
                        </a:rPr>
                        <m:t>5 </m:t>
                      </m:r>
                      <m:r>
                        <a:rPr lang="en-US" b="0" i="1" dirty="0" smtClean="0">
                          <a:latin typeface="Cambria Math" panose="02040503050406030204" pitchFamily="18" charset="0"/>
                          <a:cs typeface="Times New Roman" panose="02020603050405020304" pitchFamily="18" charset="0"/>
                        </a:rPr>
                        <m:t>𝑘𝐻𝑧</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1" name="TextBox 10"/>
              <p:cNvSpPr txBox="1">
                <a:spLocks noRot="1" noChangeAspect="1" noMove="1" noResize="1" noEditPoints="1" noAdjustHandles="1" noChangeArrowheads="1" noChangeShapeType="1" noTextEdit="1"/>
              </p:cNvSpPr>
              <p:nvPr/>
            </p:nvSpPr>
            <p:spPr>
              <a:xfrm>
                <a:off x="5209289" y="3579420"/>
                <a:ext cx="2168611"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9081072" y="3539351"/>
                <a:ext cx="2168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cs typeface="Times New Roman" panose="02020603050405020304" pitchFamily="18" charset="0"/>
                        </a:rPr>
                        <m:t>2</m:t>
                      </m:r>
                      <m:r>
                        <a:rPr lang="en-US" b="0" i="1" dirty="0" smtClean="0">
                          <a:latin typeface="Cambria Math" panose="02040503050406030204" pitchFamily="18" charset="0"/>
                          <a:cs typeface="Times New Roman" panose="02020603050405020304" pitchFamily="18" charset="0"/>
                        </a:rPr>
                        <m:t>0 </m:t>
                      </m:r>
                      <m:r>
                        <a:rPr lang="en-US" b="0" i="1" dirty="0" smtClean="0">
                          <a:latin typeface="Cambria Math" panose="02040503050406030204" pitchFamily="18" charset="0"/>
                          <a:cs typeface="Times New Roman" panose="02020603050405020304" pitchFamily="18" charset="0"/>
                        </a:rPr>
                        <m:t>𝑘𝐻𝑧</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2" name="TextBox 11"/>
              <p:cNvSpPr txBox="1">
                <a:spLocks noRot="1" noChangeAspect="1" noMove="1" noResize="1" noEditPoints="1" noAdjustHandles="1" noChangeArrowheads="1" noChangeShapeType="1" noTextEdit="1"/>
              </p:cNvSpPr>
              <p:nvPr/>
            </p:nvSpPr>
            <p:spPr>
              <a:xfrm>
                <a:off x="9081072" y="3539351"/>
                <a:ext cx="2168611" cy="369332"/>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3419618" y="6488141"/>
                <a:ext cx="2168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cs typeface="Times New Roman" panose="02020603050405020304" pitchFamily="18" charset="0"/>
                        </a:rPr>
                        <m:t>1</m:t>
                      </m:r>
                      <m:r>
                        <a:rPr lang="en-US" b="0" i="1" dirty="0" smtClean="0">
                          <a:latin typeface="Cambria Math" panose="02040503050406030204" pitchFamily="18" charset="0"/>
                          <a:cs typeface="Times New Roman" panose="02020603050405020304" pitchFamily="18" charset="0"/>
                        </a:rPr>
                        <m:t>5 </m:t>
                      </m:r>
                      <m:r>
                        <a:rPr lang="en-US" b="0" i="1" dirty="0" smtClean="0">
                          <a:latin typeface="Cambria Math" panose="02040503050406030204" pitchFamily="18" charset="0"/>
                          <a:cs typeface="Times New Roman" panose="02020603050405020304" pitchFamily="18" charset="0"/>
                        </a:rPr>
                        <m:t>𝑘𝐻𝑧</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3" name="TextBox 12"/>
              <p:cNvSpPr txBox="1">
                <a:spLocks noRot="1" noChangeAspect="1" noMove="1" noResize="1" noEditPoints="1" noAdjustHandles="1" noChangeArrowheads="1" noChangeShapeType="1" noTextEdit="1"/>
              </p:cNvSpPr>
              <p:nvPr/>
            </p:nvSpPr>
            <p:spPr>
              <a:xfrm>
                <a:off x="3419618" y="6488141"/>
                <a:ext cx="2168611" cy="369332"/>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6868179" y="6418470"/>
                <a:ext cx="2168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cs typeface="Times New Roman" panose="02020603050405020304" pitchFamily="18" charset="0"/>
                        </a:rPr>
                        <m:t>1</m:t>
                      </m:r>
                      <m:r>
                        <a:rPr lang="en-US" b="0" i="1" dirty="0" smtClean="0">
                          <a:latin typeface="Cambria Math" panose="02040503050406030204" pitchFamily="18" charset="0"/>
                          <a:cs typeface="Times New Roman" panose="02020603050405020304" pitchFamily="18" charset="0"/>
                        </a:rPr>
                        <m:t>0 </m:t>
                      </m:r>
                      <m:r>
                        <a:rPr lang="en-US" b="0" i="1" dirty="0" smtClean="0">
                          <a:latin typeface="Cambria Math" panose="02040503050406030204" pitchFamily="18" charset="0"/>
                          <a:cs typeface="Times New Roman" panose="02020603050405020304" pitchFamily="18" charset="0"/>
                        </a:rPr>
                        <m:t>𝑘𝐻𝑧</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6868179" y="6418470"/>
                <a:ext cx="2168611" cy="369332"/>
              </a:xfrm>
              <a:prstGeom prst="rect">
                <a:avLst/>
              </a:prstGeom>
              <a:blipFill>
                <a:blip r:embed="rId11"/>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386959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956" y="366584"/>
            <a:ext cx="10990263" cy="568412"/>
          </a:xfrm>
        </p:spPr>
        <p:txBody>
          <a:bodyPr/>
          <a:lstStyle/>
          <a:p>
            <a:r>
              <a:rPr lang="en-US" dirty="0" smtClean="0"/>
              <a:t>Inverter Losses</a:t>
            </a:r>
            <a:endParaRPr lang="sv-SE"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977" y="4023919"/>
            <a:ext cx="3259790" cy="2444843"/>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1032" y="1236754"/>
            <a:ext cx="7228703" cy="2398308"/>
          </a:xfrm>
          <a:prstGeom prst="rect">
            <a:avLst/>
          </a:prstGeom>
        </p:spPr>
      </p:pic>
    </p:spTree>
    <p:extLst>
      <p:ext uri="{BB962C8B-B14F-4D97-AF65-F5344CB8AC3E}">
        <p14:creationId xmlns:p14="http://schemas.microsoft.com/office/powerpoint/2010/main" val="806932602"/>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7602</TotalTime>
  <Words>638</Words>
  <Application>Microsoft Office PowerPoint</Application>
  <PresentationFormat>Widescreen</PresentationFormat>
  <Paragraphs>96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Figtree</vt:lpstr>
      <vt:lpstr>Menlo</vt:lpstr>
      <vt:lpstr>Arial</vt:lpstr>
      <vt:lpstr>Cambria Math</vt:lpstr>
      <vt:lpstr>Times New Roman</vt:lpstr>
      <vt:lpstr>Calibri</vt:lpstr>
      <vt:lpstr>Office-tema</vt:lpstr>
      <vt:lpstr>PWM Losses on Motor Side</vt:lpstr>
      <vt:lpstr>Given Parameters </vt:lpstr>
      <vt:lpstr>Modulation Parameter Calculation </vt:lpstr>
      <vt:lpstr>Modulation Parameter Calculation </vt:lpstr>
      <vt:lpstr>Modulated Waveform</vt:lpstr>
      <vt:lpstr>Time Domain Inductance Calculation</vt:lpstr>
      <vt:lpstr>Phase Current Calculations- State Space</vt:lpstr>
      <vt:lpstr>Differential mode current and reconstructing dq axis current </vt:lpstr>
      <vt:lpstr>Different Switching Frequencies </vt:lpstr>
      <vt:lpstr>Inverter Losses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117</cp:revision>
  <dcterms:created xsi:type="dcterms:W3CDTF">2024-01-10T13:17:29Z</dcterms:created>
  <dcterms:modified xsi:type="dcterms:W3CDTF">2024-11-06T16:21:08Z</dcterms:modified>
</cp:coreProperties>
</file>