
<file path=[Content_Types].xml><?xml version="1.0" encoding="utf-8"?>
<Types xmlns="http://schemas.openxmlformats.org/package/2006/content-types">
  <Default Extension="png" ContentType="image/png"/>
  <Default Extension="svg" ContentType="image/svg+xml"/>
  <Default Extension="emf" ContentType="image/x-emf"/>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9"/>
  </p:notesMasterIdLst>
  <p:sldIdLst>
    <p:sldId id="296" r:id="rId2"/>
    <p:sldId id="300" r:id="rId3"/>
    <p:sldId id="301" r:id="rId4"/>
    <p:sldId id="302" r:id="rId5"/>
    <p:sldId id="304" r:id="rId6"/>
    <p:sldId id="305" r:id="rId7"/>
    <p:sldId id="303" r:id="rId8"/>
  </p:sldIdLst>
  <p:sldSz cx="12192000" cy="6858000"/>
  <p:notesSz cx="6858000" cy="9144000"/>
  <p:embeddedFontLst>
    <p:embeddedFont>
      <p:font typeface="Calibri" panose="020F0502020204030204" pitchFamily="34" charset="0"/>
      <p:regular r:id="rId10"/>
      <p:bold r:id="rId11"/>
      <p:italic r:id="rId12"/>
      <p:boldItalic r:id="rId13"/>
    </p:embeddedFont>
    <p:embeddedFont>
      <p:font typeface="Figtree" panose="020B0604020202020204" charset="0"/>
      <p:regular r:id="rId14"/>
      <p:bold r:id="rId15"/>
      <p:italic r:id="rId16"/>
      <p:boldItalic r:id="rId17"/>
    </p:embeddedFont>
    <p:embeddedFont>
      <p:font typeface="Cambria Math" panose="02040503050406030204" pitchFamily="18" charset="0"/>
      <p:regular r:id="rId18"/>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942" autoAdjust="0"/>
    <p:restoredTop sz="96327"/>
  </p:normalViewPr>
  <p:slideViewPr>
    <p:cSldViewPr snapToGrid="0">
      <p:cViewPr varScale="1">
        <p:scale>
          <a:sx n="160" d="100"/>
          <a:sy n="160" d="100"/>
        </p:scale>
        <p:origin x="498" y="1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10" Type="http://schemas.openxmlformats.org/officeDocument/2006/relationships/font" Target="fonts/font1.fntdata"/><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2025-04-03</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2.sv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0.svg"/><Relationship Id="rId4"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2025-04-03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2025-04-03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2025-04-03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2025-04-03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2025-04-03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2025-04-03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2025-04-03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 xmlns:asvg="http://schemas.microsoft.com/office/drawing/2016/SVG/main"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2025-04-03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2025-04-03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2025-04-03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2025-04-03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2025-04-03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2025-04-03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2025-04-03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2025-04-03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2025-04-03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2025-04-03</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2025-04-03</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2025-04-03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2025-04-03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2025-04-03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2025-04-03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2025-04-03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2025-04-03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2025-04-03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2025-04-03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2025-04-03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2025-04-03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2025-04-03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2025-04-03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2025-04-03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2025-04-03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2025-04-03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2025-04-03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2025-04-03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2025-04-03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2025-04-03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2025-04-03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2025-04-03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2025-04-03</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2025-04-03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2025-04-03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2025-04-03</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2025-04-03</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2025-04-03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2025-04-03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2025-04-03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2025-04-03</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cstate="print">
            <a:extLst>
              <a:ext uri="{28A0092B-C50C-407E-A947-70E740481C1C}">
                <a14:useLocalDpi xmlns:a14="http://schemas.microsoft.com/office/drawing/2010/main"/>
              </a:ext>
              <a:ext uri="{96DAC541-7B7A-43D3-8B79-37D633B846F1}">
                <asvg:svgBlip xmlns="" xmlns:asvg="http://schemas.microsoft.com/office/drawing/2016/SVG/main" r:embed="rId50"/>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timing>
    <p:tnLst>
      <p:par>
        <p:cTn id="1" dur="indefinite" restart="never" nodeType="tmRoot"/>
      </p:par>
    </p:tnLst>
  </p:timing>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22.png"/><Relationship Id="rId7" Type="http://schemas.openxmlformats.org/officeDocument/2006/relationships/image" Target="../media/image56.png"/><Relationship Id="rId2" Type="http://schemas.openxmlformats.org/officeDocument/2006/relationships/image" Target="../media/image21.png"/><Relationship Id="rId1" Type="http://schemas.openxmlformats.org/officeDocument/2006/relationships/slideLayout" Target="../slideLayouts/slideLayout12.xml"/><Relationship Id="rId6" Type="http://schemas.openxmlformats.org/officeDocument/2006/relationships/image" Target="../media/image55.png"/><Relationship Id="rId5" Type="http://schemas.openxmlformats.org/officeDocument/2006/relationships/image" Target="../media/image54.png"/><Relationship Id="rId10" Type="http://schemas.openxmlformats.org/officeDocument/2006/relationships/image" Target="../media/image23.png"/><Relationship Id="rId4" Type="http://schemas.openxmlformats.org/officeDocument/2006/relationships/image" Target="../media/image53.png"/><Relationship Id="rId9" Type="http://schemas.openxmlformats.org/officeDocument/2006/relationships/image" Target="../media/image58.png"/></Relationships>
</file>

<file path=ppt/slides/_rels/slide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3.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1.png"/><Relationship Id="rId1" Type="http://schemas.openxmlformats.org/officeDocument/2006/relationships/slideLayout" Target="../slideLayouts/slideLayout12.xml"/><Relationship Id="rId4" Type="http://schemas.openxmlformats.org/officeDocument/2006/relationships/image" Target="../media/image28.emf"/></Relationships>
</file>

<file path=ppt/slides/_rels/slide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emf"/><Relationship Id="rId1" Type="http://schemas.openxmlformats.org/officeDocument/2006/relationships/slideLayout" Target="../slideLayouts/slideLayout12.xml"/><Relationship Id="rId5" Type="http://schemas.openxmlformats.org/officeDocument/2006/relationships/image" Target="../media/image32.emf"/><Relationship Id="rId4" Type="http://schemas.openxmlformats.org/officeDocument/2006/relationships/image" Target="../media/image31.emf"/></Relationships>
</file>

<file path=ppt/slides/_rels/slide5.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slideLayout" Target="../slideLayouts/slideLayout12.xml"/><Relationship Id="rId5" Type="http://schemas.openxmlformats.org/officeDocument/2006/relationships/image" Target="../media/image36.png"/><Relationship Id="rId4" Type="http://schemas.openxmlformats.org/officeDocument/2006/relationships/image" Target="../media/image35.emf"/></Relationships>
</file>

<file path=ppt/slides/_rels/slide6.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image" Target="../media/image37.png"/><Relationship Id="rId1" Type="http://schemas.openxmlformats.org/officeDocument/2006/relationships/slideLayout" Target="../slideLayouts/slideLayout12.xml"/><Relationship Id="rId5" Type="http://schemas.openxmlformats.org/officeDocument/2006/relationships/image" Target="../media/image40.emf"/><Relationship Id="rId4" Type="http://schemas.openxmlformats.org/officeDocument/2006/relationships/image" Target="../media/image39.emf"/></Relationships>
</file>

<file path=ppt/slides/_rels/slide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2.xml"/><Relationship Id="rId4"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984260" y="283592"/>
            <a:ext cx="10990263" cy="568412"/>
          </a:xfrm>
        </p:spPr>
        <p:txBody>
          <a:bodyPr/>
          <a:lstStyle/>
          <a:p>
            <a:r>
              <a:rPr lang="en-US" dirty="0" smtClean="0">
                <a:latin typeface="Times New Roman" panose="02020603050405020304" pitchFamily="18" charset="0"/>
                <a:cs typeface="Times New Roman" panose="02020603050405020304" pitchFamily="18" charset="0"/>
              </a:rPr>
              <a:t>Back-to-Back Inverter</a:t>
            </a:r>
            <a:endParaRPr lang="sv-SE"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24284" y="965463"/>
            <a:ext cx="6907114" cy="2749193"/>
          </a:xfrm>
          <a:prstGeom prst="rect">
            <a:avLst/>
          </a:prstGeom>
        </p:spPr>
      </p:pic>
      <p:pic>
        <p:nvPicPr>
          <p:cNvPr id="1026" name="Picture 2" descr="2. Introduction to the Grid Connected Inverter — Lab assignment"/>
          <p:cNvPicPr>
            <a:picLocks noChangeAspect="1" noChangeArrowheads="1"/>
          </p:cNvPicPr>
          <p:nvPr/>
        </p:nvPicPr>
        <p:blipFill rotWithShape="1">
          <a:blip r:embed="rId3">
            <a:extLst>
              <a:ext uri="{28A0092B-C50C-407E-A947-70E740481C1C}">
                <a14:useLocalDpi xmlns:a14="http://schemas.microsoft.com/office/drawing/2010/main" val="0"/>
              </a:ext>
            </a:extLst>
          </a:blip>
          <a:srcRect l="11557" t="20458" r="11099"/>
          <a:stretch/>
        </p:blipFill>
        <p:spPr bwMode="auto">
          <a:xfrm>
            <a:off x="2142576" y="3970648"/>
            <a:ext cx="2342777" cy="1204642"/>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3392494" y="3677349"/>
            <a:ext cx="672860" cy="353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dirty="0" err="1" smtClean="0">
                <a:solidFill>
                  <a:schemeClr val="tx1"/>
                </a:solidFill>
                <a:latin typeface="Times New Roman" panose="02020603050405020304" pitchFamily="18" charset="0"/>
                <a:cs typeface="Times New Roman" panose="02020603050405020304" pitchFamily="18" charset="0"/>
              </a:rPr>
              <a:t>I</a:t>
            </a:r>
            <a:r>
              <a:rPr lang="sv-SE" sz="1200" dirty="0" err="1" smtClean="0">
                <a:solidFill>
                  <a:schemeClr val="tx1"/>
                </a:solidFill>
                <a:latin typeface="Times New Roman" panose="02020603050405020304" pitchFamily="18" charset="0"/>
                <a:cs typeface="Times New Roman" panose="02020603050405020304" pitchFamily="18" charset="0"/>
              </a:rPr>
              <a:t>ph</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8" name="Rectangle 7"/>
          <p:cNvSpPr/>
          <p:nvPr/>
        </p:nvSpPr>
        <p:spPr>
          <a:xfrm>
            <a:off x="1447239" y="4256218"/>
            <a:ext cx="533803" cy="353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solidFill>
                <a:schemeClr val="tx1"/>
              </a:solidFill>
              <a:latin typeface="Times New Roman" panose="02020603050405020304" pitchFamily="18" charset="0"/>
              <a:cs typeface="Times New Roman" panose="02020603050405020304" pitchFamily="18" charset="0"/>
            </a:endParaRPr>
          </a:p>
        </p:txBody>
      </p:sp>
      <p:sp>
        <p:nvSpPr>
          <p:cNvPr id="9" name="Rectangle 8"/>
          <p:cNvSpPr/>
          <p:nvPr/>
        </p:nvSpPr>
        <p:spPr>
          <a:xfrm>
            <a:off x="1591622" y="4369677"/>
            <a:ext cx="590226" cy="338554"/>
          </a:xfrm>
          <a:prstGeom prst="rect">
            <a:avLst/>
          </a:prstGeom>
        </p:spPr>
        <p:txBody>
          <a:bodyPr wrap="none">
            <a:spAutoFit/>
          </a:bodyPr>
          <a:lstStyle/>
          <a:p>
            <a:pPr algn="ctr"/>
            <a:r>
              <a:rPr lang="sv-SE" sz="1600" dirty="0" smtClean="0">
                <a:latin typeface="Times New Roman" panose="02020603050405020304" pitchFamily="18" charset="0"/>
                <a:cs typeface="Times New Roman" panose="02020603050405020304" pitchFamily="18" charset="0"/>
              </a:rPr>
              <a:t>V</a:t>
            </a:r>
            <a:r>
              <a:rPr lang="sv-SE" sz="1200" dirty="0" smtClean="0">
                <a:latin typeface="Times New Roman" panose="02020603050405020304" pitchFamily="18" charset="0"/>
                <a:cs typeface="Times New Roman" panose="02020603050405020304" pitchFamily="18" charset="0"/>
              </a:rPr>
              <a:t>ph</a:t>
            </a:r>
            <a:r>
              <a:rPr lang="sv-SE" sz="1600" dirty="0">
                <a:latin typeface="Times New Roman" panose="02020603050405020304" pitchFamily="18" charset="0"/>
                <a:cs typeface="Times New Roman" panose="02020603050405020304" pitchFamily="18" charset="0"/>
              </a:rPr>
              <a:t>1</a:t>
            </a:r>
            <a:endParaRPr lang="sv-SE" dirty="0">
              <a:latin typeface="Times New Roman" panose="02020603050405020304" pitchFamily="18" charset="0"/>
              <a:cs typeface="Times New Roman" panose="02020603050405020304" pitchFamily="18" charset="0"/>
            </a:endParaRPr>
          </a:p>
        </p:txBody>
      </p:sp>
      <p:sp>
        <p:nvSpPr>
          <p:cNvPr id="12" name="Rectangle 11"/>
          <p:cNvSpPr/>
          <p:nvPr/>
        </p:nvSpPr>
        <p:spPr>
          <a:xfrm>
            <a:off x="4352575" y="4325380"/>
            <a:ext cx="588623" cy="338554"/>
          </a:xfrm>
          <a:prstGeom prst="rect">
            <a:avLst/>
          </a:prstGeom>
        </p:spPr>
        <p:txBody>
          <a:bodyPr wrap="none">
            <a:spAutoFit/>
          </a:bodyPr>
          <a:lstStyle/>
          <a:p>
            <a:pPr algn="ctr"/>
            <a:r>
              <a:rPr lang="sv-SE" sz="1600" dirty="0" smtClean="0">
                <a:latin typeface="Times New Roman" panose="02020603050405020304" pitchFamily="18" charset="0"/>
                <a:cs typeface="Times New Roman" panose="02020603050405020304" pitchFamily="18" charset="0"/>
              </a:rPr>
              <a:t>V</a:t>
            </a:r>
            <a:r>
              <a:rPr lang="sv-SE" sz="1200" dirty="0" smtClean="0">
                <a:latin typeface="Times New Roman" panose="02020603050405020304" pitchFamily="18" charset="0"/>
                <a:cs typeface="Times New Roman" panose="02020603050405020304" pitchFamily="18" charset="0"/>
              </a:rPr>
              <a:t>ph</a:t>
            </a:r>
            <a:r>
              <a:rPr lang="sv-SE" sz="1600" dirty="0" smtClean="0">
                <a:latin typeface="Times New Roman" panose="02020603050405020304" pitchFamily="18" charset="0"/>
                <a:cs typeface="Times New Roman" panose="02020603050405020304" pitchFamily="18" charset="0"/>
              </a:rPr>
              <a:t>2</a:t>
            </a:r>
            <a:endParaRPr lang="sv-SE" dirty="0">
              <a:latin typeface="Times New Roman" panose="02020603050405020304" pitchFamily="18" charset="0"/>
              <a:cs typeface="Times New Roman" panose="02020603050405020304" pitchFamily="18" charset="0"/>
            </a:endParaRPr>
          </a:p>
        </p:txBody>
      </p:sp>
      <p:sp>
        <p:nvSpPr>
          <p:cNvPr id="11" name="Rectangle 10"/>
          <p:cNvSpPr/>
          <p:nvPr/>
        </p:nvSpPr>
        <p:spPr>
          <a:xfrm>
            <a:off x="490679" y="5134711"/>
            <a:ext cx="5372239" cy="954107"/>
          </a:xfrm>
          <a:prstGeom prst="rect">
            <a:avLst/>
          </a:prstGeom>
        </p:spPr>
        <p:txBody>
          <a:bodyPr wrap="square">
            <a:spAutoFit/>
          </a:bodyPr>
          <a:lstStyle/>
          <a:p>
            <a:pPr algn="just"/>
            <a:r>
              <a:rPr lang="en-US" sz="1400" dirty="0">
                <a:solidFill>
                  <a:srgbClr val="404040"/>
                </a:solidFill>
                <a:latin typeface="Times New Roman" panose="02020603050405020304" pitchFamily="18" charset="0"/>
                <a:cs typeface="Times New Roman" panose="02020603050405020304" pitchFamily="18" charset="0"/>
              </a:rPr>
              <a:t>When two AC voltage sources are connected through an inductance, the power flow between them depends on the phase difference between the voltages of the two sources and the reactance of the connecting inductance.</a:t>
            </a:r>
            <a:endParaRPr lang="sv-SE" sz="1400" dirty="0">
              <a:latin typeface="Times New Roman" panose="02020603050405020304" pitchFamily="18" charset="0"/>
              <a:cs typeface="Times New Roman" panose="02020603050405020304" pitchFamily="18" charset="0"/>
            </a:endParaRPr>
          </a:p>
        </p:txBody>
      </p:sp>
      <p:sp>
        <p:nvSpPr>
          <p:cNvPr id="2" name="Rectangle 1"/>
          <p:cNvSpPr/>
          <p:nvPr/>
        </p:nvSpPr>
        <p:spPr>
          <a:xfrm>
            <a:off x="350563" y="6366687"/>
            <a:ext cx="11261678" cy="369332"/>
          </a:xfrm>
          <a:prstGeom prst="rect">
            <a:avLst/>
          </a:prstGeom>
        </p:spPr>
        <p:txBody>
          <a:bodyPr wrap="square">
            <a:spAutoFit/>
          </a:bodyPr>
          <a:lstStyle/>
          <a:p>
            <a:r>
              <a:rPr lang="sv-SE" sz="1400" dirty="0">
                <a:latin typeface="Times New Roman" panose="02020603050405020304" pitchFamily="18" charset="0"/>
                <a:cs typeface="Times New Roman" panose="02020603050405020304" pitchFamily="18" charset="0"/>
              </a:rPr>
              <a:t>Y. </a:t>
            </a:r>
            <a:r>
              <a:rPr lang="sv-SE" sz="1400" dirty="0" err="1" smtClean="0">
                <a:latin typeface="Times New Roman" panose="02020603050405020304" pitchFamily="18" charset="0"/>
                <a:cs typeface="Times New Roman" panose="02020603050405020304" pitchFamily="18" charset="0"/>
              </a:rPr>
              <a:t>Luo</a:t>
            </a:r>
            <a:r>
              <a:rPr lang="sv-SE" sz="1400" dirty="0" smtClean="0">
                <a:latin typeface="Times New Roman" panose="02020603050405020304" pitchFamily="18" charset="0"/>
                <a:cs typeface="Times New Roman" panose="02020603050405020304" pitchFamily="18" charset="0"/>
              </a:rPr>
              <a:t>, </a:t>
            </a:r>
            <a:r>
              <a:rPr lang="sv-SE" sz="1400" dirty="0">
                <a:latin typeface="Times New Roman" panose="02020603050405020304" pitchFamily="18" charset="0"/>
                <a:cs typeface="Times New Roman" panose="02020603050405020304" pitchFamily="18" charset="0"/>
              </a:rPr>
              <a:t>"A </a:t>
            </a:r>
            <a:r>
              <a:rPr lang="sv-SE" sz="1400" dirty="0" err="1">
                <a:latin typeface="Times New Roman" panose="02020603050405020304" pitchFamily="18" charset="0"/>
                <a:cs typeface="Times New Roman" panose="02020603050405020304" pitchFamily="18" charset="0"/>
              </a:rPr>
              <a:t>Variable</a:t>
            </a:r>
            <a:r>
              <a:rPr lang="sv-SE" sz="1400" dirty="0">
                <a:latin typeface="Times New Roman" panose="02020603050405020304" pitchFamily="18" charset="0"/>
                <a:cs typeface="Times New Roman" panose="02020603050405020304" pitchFamily="18" charset="0"/>
              </a:rPr>
              <a:t> Power </a:t>
            </a:r>
            <a:r>
              <a:rPr lang="sv-SE" sz="1400" dirty="0" err="1">
                <a:latin typeface="Times New Roman" panose="02020603050405020304" pitchFamily="18" charset="0"/>
                <a:cs typeface="Times New Roman" panose="02020603050405020304" pitchFamily="18" charset="0"/>
              </a:rPr>
              <a:t>Factor</a:t>
            </a:r>
            <a:r>
              <a:rPr lang="sv-SE" sz="1400" dirty="0">
                <a:latin typeface="Times New Roman" panose="02020603050405020304" pitchFamily="18" charset="0"/>
                <a:cs typeface="Times New Roman" panose="02020603050405020304" pitchFamily="18" charset="0"/>
              </a:rPr>
              <a:t> </a:t>
            </a:r>
            <a:r>
              <a:rPr lang="sv-SE" sz="1400" dirty="0" err="1">
                <a:latin typeface="Times New Roman" panose="02020603050405020304" pitchFamily="18" charset="0"/>
                <a:cs typeface="Times New Roman" panose="02020603050405020304" pitchFamily="18" charset="0"/>
              </a:rPr>
              <a:t>High</a:t>
            </a:r>
            <a:r>
              <a:rPr lang="sv-SE" sz="1400" dirty="0">
                <a:latin typeface="Times New Roman" panose="02020603050405020304" pitchFamily="18" charset="0"/>
                <a:cs typeface="Times New Roman" panose="02020603050405020304" pitchFamily="18" charset="0"/>
              </a:rPr>
              <a:t> Power </a:t>
            </a:r>
            <a:r>
              <a:rPr lang="sv-SE" sz="1400" dirty="0" err="1">
                <a:latin typeface="Times New Roman" panose="02020603050405020304" pitchFamily="18" charset="0"/>
                <a:cs typeface="Times New Roman" panose="02020603050405020304" pitchFamily="18" charset="0"/>
              </a:rPr>
              <a:t>Testbed</a:t>
            </a:r>
            <a:r>
              <a:rPr lang="sv-SE" sz="1400" dirty="0">
                <a:latin typeface="Times New Roman" panose="02020603050405020304" pitchFamily="18" charset="0"/>
                <a:cs typeface="Times New Roman" panose="02020603050405020304" pitchFamily="18" charset="0"/>
              </a:rPr>
              <a:t> for </a:t>
            </a:r>
            <a:r>
              <a:rPr lang="sv-SE" sz="1400" dirty="0" err="1">
                <a:latin typeface="Times New Roman" panose="02020603050405020304" pitchFamily="18" charset="0"/>
                <a:cs typeface="Times New Roman" panose="02020603050405020304" pitchFamily="18" charset="0"/>
              </a:rPr>
              <a:t>Traction</a:t>
            </a:r>
            <a:r>
              <a:rPr lang="sv-SE" sz="1400" dirty="0">
                <a:latin typeface="Times New Roman" panose="02020603050405020304" pitchFamily="18" charset="0"/>
                <a:cs typeface="Times New Roman" panose="02020603050405020304" pitchFamily="18" charset="0"/>
              </a:rPr>
              <a:t> </a:t>
            </a:r>
            <a:r>
              <a:rPr lang="sv-SE" sz="1400" dirty="0" err="1">
                <a:latin typeface="Times New Roman" panose="02020603050405020304" pitchFamily="18" charset="0"/>
                <a:cs typeface="Times New Roman" panose="02020603050405020304" pitchFamily="18" charset="0"/>
              </a:rPr>
              <a:t>Inverter</a:t>
            </a:r>
            <a:r>
              <a:rPr lang="sv-SE" sz="1400" dirty="0">
                <a:latin typeface="Times New Roman" panose="02020603050405020304" pitchFamily="18" charset="0"/>
                <a:cs typeface="Times New Roman" panose="02020603050405020304" pitchFamily="18" charset="0"/>
              </a:rPr>
              <a:t> </a:t>
            </a:r>
            <a:r>
              <a:rPr lang="sv-SE" sz="1400" dirty="0" err="1">
                <a:latin typeface="Times New Roman" panose="02020603050405020304" pitchFamily="18" charset="0"/>
                <a:cs typeface="Times New Roman" panose="02020603050405020304" pitchFamily="18" charset="0"/>
              </a:rPr>
              <a:t>Using</a:t>
            </a:r>
            <a:r>
              <a:rPr lang="sv-SE" sz="1400" dirty="0">
                <a:latin typeface="Times New Roman" panose="02020603050405020304" pitchFamily="18" charset="0"/>
                <a:cs typeface="Times New Roman" panose="02020603050405020304" pitchFamily="18" charset="0"/>
              </a:rPr>
              <a:t> Back-to-Back Connection</a:t>
            </a:r>
            <a:r>
              <a:rPr lang="sv-SE" dirty="0" smtClean="0">
                <a:latin typeface="Times New Roman" panose="02020603050405020304" pitchFamily="18" charset="0"/>
                <a:cs typeface="Times New Roman" panose="02020603050405020304" pitchFamily="18" charset="0"/>
              </a:rPr>
              <a:t>,"</a:t>
            </a:r>
            <a:endParaRPr lang="sv-SE"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 name="TextBox 13"/>
              <p:cNvSpPr txBox="1"/>
              <p:nvPr/>
            </p:nvSpPr>
            <p:spPr>
              <a:xfrm>
                <a:off x="6752168" y="1155845"/>
                <a:ext cx="2023566" cy="5931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sv-SE" b="0" i="1" smtClean="0">
                          <a:latin typeface="Cambria Math" panose="02040503050406030204" pitchFamily="18" charset="0"/>
                        </a:rPr>
                        <m:t>𝑃</m:t>
                      </m:r>
                      <m:r>
                        <a:rPr lang="sv-SE" b="0" i="1" smtClean="0">
                          <a:latin typeface="Cambria Math" panose="02040503050406030204" pitchFamily="18" charset="0"/>
                        </a:rPr>
                        <m:t>=</m:t>
                      </m:r>
                      <m:f>
                        <m:fPr>
                          <m:ctrlPr>
                            <a:rPr lang="sv-SE" b="0" i="1" smtClean="0">
                              <a:latin typeface="Cambria Math" panose="02040503050406030204" pitchFamily="18" charset="0"/>
                            </a:rPr>
                          </m:ctrlPr>
                        </m:fPr>
                        <m:num>
                          <m:sSub>
                            <m:sSubPr>
                              <m:ctrlPr>
                                <a:rPr lang="sv-SE" b="0" i="1" smtClean="0">
                                  <a:latin typeface="Cambria Math" panose="02040503050406030204" pitchFamily="18" charset="0"/>
                                </a:rPr>
                              </m:ctrlPr>
                            </m:sSubPr>
                            <m:e>
                              <m:r>
                                <a:rPr lang="sv-SE" b="0" i="1" smtClean="0">
                                  <a:latin typeface="Cambria Math" panose="02040503050406030204" pitchFamily="18" charset="0"/>
                                </a:rPr>
                                <m:t>𝑉</m:t>
                              </m:r>
                            </m:e>
                            <m:sub>
                              <m:r>
                                <a:rPr lang="sv-SE" b="0" i="1" smtClean="0">
                                  <a:latin typeface="Cambria Math" panose="02040503050406030204" pitchFamily="18" charset="0"/>
                                </a:rPr>
                                <m:t>𝑝h</m:t>
                              </m:r>
                              <m:r>
                                <a:rPr lang="sv-SE" b="0" i="1" smtClean="0">
                                  <a:latin typeface="Cambria Math" panose="02040503050406030204" pitchFamily="18" charset="0"/>
                                </a:rPr>
                                <m:t>1</m:t>
                              </m:r>
                            </m:sub>
                          </m:sSub>
                          <m:sSub>
                            <m:sSubPr>
                              <m:ctrlPr>
                                <a:rPr lang="sv-SE" b="0" i="1" smtClean="0">
                                  <a:latin typeface="Cambria Math" panose="02040503050406030204" pitchFamily="18" charset="0"/>
                                </a:rPr>
                              </m:ctrlPr>
                            </m:sSubPr>
                            <m:e>
                              <m:r>
                                <a:rPr lang="sv-SE" b="0" i="1" smtClean="0">
                                  <a:latin typeface="Cambria Math" panose="02040503050406030204" pitchFamily="18" charset="0"/>
                                </a:rPr>
                                <m:t>𝑉</m:t>
                              </m:r>
                            </m:e>
                            <m:sub>
                              <m:r>
                                <a:rPr lang="sv-SE" b="0" i="1" smtClean="0">
                                  <a:latin typeface="Cambria Math" panose="02040503050406030204" pitchFamily="18" charset="0"/>
                                </a:rPr>
                                <m:t>𝑝h</m:t>
                              </m:r>
                              <m:r>
                                <a:rPr lang="sv-SE" b="0" i="1" smtClean="0">
                                  <a:latin typeface="Cambria Math" panose="02040503050406030204" pitchFamily="18" charset="0"/>
                                </a:rPr>
                                <m:t>2</m:t>
                              </m:r>
                            </m:sub>
                          </m:sSub>
                          <m:func>
                            <m:funcPr>
                              <m:ctrlPr>
                                <a:rPr lang="sv-SE" b="0" i="1" smtClean="0">
                                  <a:latin typeface="Cambria Math" panose="02040503050406030204" pitchFamily="18" charset="0"/>
                                </a:rPr>
                              </m:ctrlPr>
                            </m:funcPr>
                            <m:fName>
                              <m:r>
                                <m:rPr>
                                  <m:sty m:val="p"/>
                                </m:rPr>
                                <a:rPr lang="sv-SE" b="0" i="0" smtClean="0">
                                  <a:latin typeface="Cambria Math" panose="02040503050406030204" pitchFamily="18" charset="0"/>
                                </a:rPr>
                                <m:t>sin</m:t>
                              </m:r>
                            </m:fName>
                            <m:e>
                              <m:d>
                                <m:dPr>
                                  <m:ctrlPr>
                                    <a:rPr lang="sv-SE" b="0" i="1" smtClean="0">
                                      <a:latin typeface="Cambria Math" panose="02040503050406030204" pitchFamily="18" charset="0"/>
                                    </a:rPr>
                                  </m:ctrlPr>
                                </m:dPr>
                                <m:e>
                                  <m:r>
                                    <a:rPr lang="sv-SE" b="0" i="1" smtClean="0">
                                      <a:latin typeface="Cambria Math" panose="02040503050406030204" pitchFamily="18" charset="0"/>
                                    </a:rPr>
                                    <m:t>𝛿</m:t>
                                  </m:r>
                                </m:e>
                              </m:d>
                            </m:e>
                          </m:func>
                        </m:num>
                        <m:den>
                          <m:r>
                            <a:rPr lang="sv-SE" b="0" i="1" smtClean="0">
                              <a:latin typeface="Cambria Math" panose="02040503050406030204" pitchFamily="18" charset="0"/>
                            </a:rPr>
                            <m:t>𝑗</m:t>
                          </m:r>
                          <m:r>
                            <a:rPr lang="sv-SE" b="0" i="1" smtClean="0">
                              <a:latin typeface="Cambria Math" panose="02040503050406030204" pitchFamily="18" charset="0"/>
                            </a:rPr>
                            <m:t>𝜔</m:t>
                          </m:r>
                          <m:r>
                            <a:rPr lang="sv-SE" b="0" i="1" smtClean="0">
                              <a:latin typeface="Cambria Math" panose="02040503050406030204" pitchFamily="18" charset="0"/>
                            </a:rPr>
                            <m:t>𝐿</m:t>
                          </m:r>
                        </m:den>
                      </m:f>
                    </m:oMath>
                  </m:oMathPara>
                </a14:m>
                <a:endParaRPr lang="sv-SE" dirty="0">
                  <a:latin typeface="Times New Roman" panose="02020603050405020304" pitchFamily="18" charset="0"/>
                  <a:cs typeface="Times New Roman" panose="02020603050405020304" pitchFamily="18" charset="0"/>
                </a:endParaRPr>
              </a:p>
            </p:txBody>
          </p:sp>
        </mc:Choice>
        <mc:Fallback xmlns="">
          <p:sp>
            <p:nvSpPr>
              <p:cNvPr id="14" name="TextBox 13"/>
              <p:cNvSpPr txBox="1">
                <a:spLocks noRot="1" noChangeAspect="1" noMove="1" noResize="1" noEditPoints="1" noAdjustHandles="1" noChangeArrowheads="1" noChangeShapeType="1" noTextEdit="1"/>
              </p:cNvSpPr>
              <p:nvPr/>
            </p:nvSpPr>
            <p:spPr>
              <a:xfrm>
                <a:off x="6752168" y="1155845"/>
                <a:ext cx="2023566" cy="593111"/>
              </a:xfrm>
              <a:prstGeom prst="rect">
                <a:avLst/>
              </a:prstGeom>
              <a:blipFill>
                <a:blip r:embed="rId4"/>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9263936" y="1155845"/>
                <a:ext cx="2300438" cy="505779"/>
              </a:xfrm>
              <a:prstGeom prst="rect">
                <a:avLst/>
              </a:prstGeom>
              <a:noFill/>
            </p:spPr>
            <p:txBody>
              <a:bodyPr wrap="none" lIns="0" tIns="0" rIns="0" bIns="0" rtlCol="0">
                <a:spAutoFit/>
              </a:bodyPr>
              <a:lstStyle/>
              <a:p>
                <a:r>
                  <a:rPr lang="sv-SE" b="0" dirty="0" smtClean="0">
                    <a:latin typeface="Times New Roman" panose="02020603050405020304" pitchFamily="18" charset="0"/>
                    <a:cs typeface="Times New Roman" panose="02020603050405020304" pitchFamily="18" charset="0"/>
                  </a:rPr>
                  <a:t>Q</a:t>
                </a:r>
                <a14:m>
                  <m:oMath xmlns:m="http://schemas.openxmlformats.org/officeDocument/2006/math">
                    <m:r>
                      <a:rPr lang="sv-SE" b="0" i="1" smtClean="0">
                        <a:latin typeface="Cambria Math" panose="02040503050406030204" pitchFamily="18" charset="0"/>
                      </a:rPr>
                      <m:t>=</m:t>
                    </m:r>
                    <m:f>
                      <m:fPr>
                        <m:ctrlPr>
                          <a:rPr lang="sv-SE" b="0" i="1" smtClean="0">
                            <a:latin typeface="Cambria Math" panose="02040503050406030204" pitchFamily="18" charset="0"/>
                          </a:rPr>
                        </m:ctrlPr>
                      </m:fPr>
                      <m:num>
                        <m:sSubSup>
                          <m:sSubSupPr>
                            <m:ctrlPr>
                              <a:rPr lang="sv-SE" b="0" i="1" smtClean="0">
                                <a:latin typeface="Cambria Math" panose="02040503050406030204" pitchFamily="18" charset="0"/>
                              </a:rPr>
                            </m:ctrlPr>
                          </m:sSubSupPr>
                          <m:e>
                            <m:r>
                              <a:rPr lang="sv-SE" b="0" i="1" smtClean="0">
                                <a:latin typeface="Cambria Math" panose="02040503050406030204" pitchFamily="18" charset="0"/>
                              </a:rPr>
                              <m:t>𝑉</m:t>
                            </m:r>
                          </m:e>
                          <m:sub>
                            <m:r>
                              <a:rPr lang="sv-SE" b="0" i="1" smtClean="0">
                                <a:latin typeface="Cambria Math" panose="02040503050406030204" pitchFamily="18" charset="0"/>
                              </a:rPr>
                              <m:t>𝑝h</m:t>
                            </m:r>
                            <m:r>
                              <a:rPr lang="sv-SE" b="0" i="1" smtClean="0">
                                <a:latin typeface="Cambria Math" panose="02040503050406030204" pitchFamily="18" charset="0"/>
                              </a:rPr>
                              <m:t>1</m:t>
                            </m:r>
                          </m:sub>
                          <m:sup>
                            <m:r>
                              <a:rPr lang="sv-SE" b="0" i="1" smtClean="0">
                                <a:latin typeface="Cambria Math" panose="02040503050406030204" pitchFamily="18" charset="0"/>
                              </a:rPr>
                              <m:t>2</m:t>
                            </m:r>
                          </m:sup>
                        </m:sSubSup>
                        <m:r>
                          <a:rPr lang="sv-SE" b="0" i="1" smtClean="0">
                            <a:latin typeface="Cambria Math" panose="02040503050406030204" pitchFamily="18" charset="0"/>
                          </a:rPr>
                          <m:t> − </m:t>
                        </m:r>
                        <m:sSub>
                          <m:sSubPr>
                            <m:ctrlPr>
                              <a:rPr lang="sv-SE" b="0" i="1" smtClean="0">
                                <a:latin typeface="Cambria Math" panose="02040503050406030204" pitchFamily="18" charset="0"/>
                              </a:rPr>
                            </m:ctrlPr>
                          </m:sSubPr>
                          <m:e>
                            <m:r>
                              <a:rPr lang="sv-SE" b="0" i="1" smtClean="0">
                                <a:latin typeface="Cambria Math" panose="02040503050406030204" pitchFamily="18" charset="0"/>
                              </a:rPr>
                              <m:t>𝑉</m:t>
                            </m:r>
                          </m:e>
                          <m:sub>
                            <m:r>
                              <a:rPr lang="sv-SE" b="0" i="1" smtClean="0">
                                <a:latin typeface="Cambria Math" panose="02040503050406030204" pitchFamily="18" charset="0"/>
                              </a:rPr>
                              <m:t>𝑝h</m:t>
                            </m:r>
                            <m:r>
                              <a:rPr lang="sv-SE" b="0" i="1" smtClean="0">
                                <a:latin typeface="Cambria Math" panose="02040503050406030204" pitchFamily="18" charset="0"/>
                              </a:rPr>
                              <m:t>1</m:t>
                            </m:r>
                          </m:sub>
                        </m:sSub>
                        <m:sSub>
                          <m:sSubPr>
                            <m:ctrlPr>
                              <a:rPr lang="sv-SE" b="0" i="1" smtClean="0">
                                <a:latin typeface="Cambria Math" panose="02040503050406030204" pitchFamily="18" charset="0"/>
                              </a:rPr>
                            </m:ctrlPr>
                          </m:sSubPr>
                          <m:e>
                            <m:r>
                              <a:rPr lang="sv-SE" b="0" i="1" smtClean="0">
                                <a:latin typeface="Cambria Math" panose="02040503050406030204" pitchFamily="18" charset="0"/>
                              </a:rPr>
                              <m:t>𝑉</m:t>
                            </m:r>
                          </m:e>
                          <m:sub>
                            <m:r>
                              <a:rPr lang="sv-SE" b="0" i="1" smtClean="0">
                                <a:latin typeface="Cambria Math" panose="02040503050406030204" pitchFamily="18" charset="0"/>
                              </a:rPr>
                              <m:t>𝑝h</m:t>
                            </m:r>
                            <m:r>
                              <a:rPr lang="sv-SE" b="0" i="1" smtClean="0">
                                <a:latin typeface="Cambria Math" panose="02040503050406030204" pitchFamily="18" charset="0"/>
                              </a:rPr>
                              <m:t>2</m:t>
                            </m:r>
                          </m:sub>
                        </m:sSub>
                        <m:func>
                          <m:funcPr>
                            <m:ctrlPr>
                              <a:rPr lang="sv-SE" b="0" i="1" smtClean="0">
                                <a:latin typeface="Cambria Math" panose="02040503050406030204" pitchFamily="18" charset="0"/>
                              </a:rPr>
                            </m:ctrlPr>
                          </m:funcPr>
                          <m:fName>
                            <m:r>
                              <m:rPr>
                                <m:sty m:val="p"/>
                              </m:rPr>
                              <a:rPr lang="sv-SE" b="0" i="0" smtClean="0">
                                <a:latin typeface="Cambria Math" panose="02040503050406030204" pitchFamily="18" charset="0"/>
                              </a:rPr>
                              <m:t>cos</m:t>
                            </m:r>
                          </m:fName>
                          <m:e>
                            <m:d>
                              <m:dPr>
                                <m:ctrlPr>
                                  <a:rPr lang="sv-SE" b="0" i="1" smtClean="0">
                                    <a:latin typeface="Cambria Math" panose="02040503050406030204" pitchFamily="18" charset="0"/>
                                  </a:rPr>
                                </m:ctrlPr>
                              </m:dPr>
                              <m:e>
                                <m:r>
                                  <a:rPr lang="sv-SE" b="0" i="1" smtClean="0">
                                    <a:latin typeface="Cambria Math" panose="02040503050406030204" pitchFamily="18" charset="0"/>
                                  </a:rPr>
                                  <m:t>𝛿</m:t>
                                </m:r>
                              </m:e>
                            </m:d>
                          </m:e>
                        </m:func>
                      </m:num>
                      <m:den>
                        <m:r>
                          <a:rPr lang="sv-SE" b="0" i="1" smtClean="0">
                            <a:latin typeface="Cambria Math" panose="02040503050406030204" pitchFamily="18" charset="0"/>
                          </a:rPr>
                          <m:t>𝑗</m:t>
                        </m:r>
                        <m:r>
                          <a:rPr lang="sv-SE" b="0" i="1" smtClean="0">
                            <a:latin typeface="Cambria Math" panose="02040503050406030204" pitchFamily="18" charset="0"/>
                          </a:rPr>
                          <m:t>𝜔</m:t>
                        </m:r>
                        <m:r>
                          <a:rPr lang="sv-SE" b="0" i="1" smtClean="0">
                            <a:latin typeface="Cambria Math" panose="02040503050406030204" pitchFamily="18" charset="0"/>
                          </a:rPr>
                          <m:t>𝐿</m:t>
                        </m:r>
                      </m:den>
                    </m:f>
                  </m:oMath>
                </a14:m>
                <a:endParaRPr lang="sv-SE" dirty="0">
                  <a:latin typeface="Times New Roman" panose="02020603050405020304" pitchFamily="18" charset="0"/>
                  <a:cs typeface="Times New Roman" panose="02020603050405020304" pitchFamily="18" charset="0"/>
                </a:endParaRPr>
              </a:p>
            </p:txBody>
          </p:sp>
        </mc:Choice>
        <mc:Fallback xmlns="">
          <p:sp>
            <p:nvSpPr>
              <p:cNvPr id="16" name="TextBox 15"/>
              <p:cNvSpPr txBox="1">
                <a:spLocks noRot="1" noChangeAspect="1" noMove="1" noResize="1" noEditPoints="1" noAdjustHandles="1" noChangeArrowheads="1" noChangeShapeType="1" noTextEdit="1"/>
              </p:cNvSpPr>
              <p:nvPr/>
            </p:nvSpPr>
            <p:spPr>
              <a:xfrm>
                <a:off x="9263936" y="1155845"/>
                <a:ext cx="2300438" cy="505779"/>
              </a:xfrm>
              <a:prstGeom prst="rect">
                <a:avLst/>
              </a:prstGeom>
              <a:blipFill>
                <a:blip r:embed="rId5"/>
                <a:stretch>
                  <a:fillRect l="-6366" b="-8434"/>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6899771" y="2064129"/>
                <a:ext cx="1875963" cy="501099"/>
              </a:xfrm>
              <a:prstGeom prst="rect">
                <a:avLst/>
              </a:prstGeom>
            </p:spPr>
            <p:txBody>
              <a:bodyPr wrap="none">
                <a:spAutoFit/>
              </a:bodyPr>
              <a:lstStyle/>
              <a:p>
                <a14:m>
                  <m:oMath xmlns:m="http://schemas.openxmlformats.org/officeDocument/2006/math">
                    <m:sSub>
                      <m:sSubPr>
                        <m:ctrlPr>
                          <a:rPr lang="sv-SE" i="1" smtClean="0">
                            <a:latin typeface="Cambria Math" panose="02040503050406030204" pitchFamily="18" charset="0"/>
                          </a:rPr>
                        </m:ctrlPr>
                      </m:sSubPr>
                      <m:e>
                        <m:r>
                          <a:rPr lang="sv-SE" i="1">
                            <a:latin typeface="Cambria Math" panose="02040503050406030204" pitchFamily="18" charset="0"/>
                          </a:rPr>
                          <m:t>𝑉</m:t>
                        </m:r>
                      </m:e>
                      <m:sub>
                        <m:r>
                          <a:rPr lang="sv-SE" i="1">
                            <a:latin typeface="Cambria Math" panose="02040503050406030204" pitchFamily="18" charset="0"/>
                          </a:rPr>
                          <m:t>𝑝h</m:t>
                        </m:r>
                        <m:r>
                          <a:rPr lang="sv-SE" i="1">
                            <a:latin typeface="Cambria Math" panose="02040503050406030204" pitchFamily="18" charset="0"/>
                          </a:rPr>
                          <m:t>1</m:t>
                        </m:r>
                      </m:sub>
                    </m:sSub>
                    <m:r>
                      <a:rPr lang="en-US" b="0" i="0" smtClean="0">
                        <a:latin typeface="Cambria Math" panose="02040503050406030204" pitchFamily="18" charset="0"/>
                      </a:rPr>
                      <m:t>=</m:t>
                    </m:r>
                    <m:f>
                      <m:fPr>
                        <m:ctrlPr>
                          <a:rPr lang="en-US" i="1">
                            <a:latin typeface="Cambria Math" panose="02040503050406030204" pitchFamily="18" charset="0"/>
                          </a:rPr>
                        </m:ctrlPr>
                      </m:fPr>
                      <m:num>
                        <m:r>
                          <a:rPr lang="en-US">
                            <a:latin typeface="Cambria Math" panose="02040503050406030204" pitchFamily="18" charset="0"/>
                          </a:rPr>
                          <m:t>1</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2</m:t>
                            </m:r>
                          </m:e>
                        </m:rad>
                      </m:den>
                    </m:f>
                    <m:sSub>
                      <m:sSubPr>
                        <m:ctrlPr>
                          <a:rPr lang="en-US" i="1">
                            <a:latin typeface="Cambria Math" panose="02040503050406030204" pitchFamily="18" charset="0"/>
                          </a:rPr>
                        </m:ctrlPr>
                      </m:sSubPr>
                      <m:e>
                        <m:r>
                          <a:rPr lang="en-US" i="1">
                            <a:latin typeface="Cambria Math" panose="02040503050406030204" pitchFamily="18" charset="0"/>
                          </a:rPr>
                          <m:t>𝑈</m:t>
                        </m:r>
                      </m:e>
                      <m:sub>
                        <m:r>
                          <a:rPr lang="en-US" i="1">
                            <a:latin typeface="Cambria Math" panose="02040503050406030204" pitchFamily="18" charset="0"/>
                          </a:rPr>
                          <m:t>𝑑𝑐</m:t>
                        </m:r>
                      </m:sub>
                    </m:sSub>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 </m:t>
                            </m:r>
                            <m:r>
                              <a:rPr lang="en-US" b="0" i="1" smtClean="0">
                                <a:latin typeface="Cambria Math" panose="02040503050406030204" pitchFamily="18" charset="0"/>
                              </a:rPr>
                              <m:t>𝑀</m:t>
                            </m:r>
                          </m:e>
                          <m:sub>
                            <m:r>
                              <a:rPr lang="en-US" b="0" i="1" smtClean="0">
                                <a:latin typeface="Cambria Math" panose="02040503050406030204" pitchFamily="18" charset="0"/>
                              </a:rPr>
                              <m:t>1</m:t>
                            </m:r>
                          </m:sub>
                        </m:sSub>
                      </m:num>
                      <m:den>
                        <m:r>
                          <a:rPr lang="en-US" b="0" i="1" smtClean="0">
                            <a:latin typeface="Cambria Math" panose="02040503050406030204" pitchFamily="18" charset="0"/>
                          </a:rPr>
                          <m:t>2</m:t>
                        </m:r>
                      </m:den>
                    </m:f>
                  </m:oMath>
                </a14:m>
                <a:r>
                  <a:rPr lang="sv-SE" dirty="0" smtClean="0">
                    <a:latin typeface="Times New Roman" panose="02020603050405020304" pitchFamily="18" charset="0"/>
                    <a:cs typeface="Times New Roman" panose="02020603050405020304" pitchFamily="18" charset="0"/>
                  </a:rPr>
                  <a:t> </a:t>
                </a:r>
                <a:endParaRPr lang="sv-SE" dirty="0">
                  <a:latin typeface="Times New Roman" panose="02020603050405020304" pitchFamily="18" charset="0"/>
                  <a:cs typeface="Times New Roman" panose="02020603050405020304" pitchFamily="18" charset="0"/>
                </a:endParaRPr>
              </a:p>
            </p:txBody>
          </p:sp>
        </mc:Choice>
        <mc:Fallback xmlns="">
          <p:sp>
            <p:nvSpPr>
              <p:cNvPr id="17" name="Rectangle 16"/>
              <p:cNvSpPr>
                <a:spLocks noRot="1" noChangeAspect="1" noMove="1" noResize="1" noEditPoints="1" noAdjustHandles="1" noChangeArrowheads="1" noChangeShapeType="1" noTextEdit="1"/>
              </p:cNvSpPr>
              <p:nvPr/>
            </p:nvSpPr>
            <p:spPr>
              <a:xfrm>
                <a:off x="6899771" y="2064129"/>
                <a:ext cx="1875963" cy="501099"/>
              </a:xfrm>
              <a:prstGeom prst="rect">
                <a:avLst/>
              </a:prstGeom>
              <a:blipFill>
                <a:blip r:embed="rId6"/>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8" name="Rectangle 17"/>
              <p:cNvSpPr/>
              <p:nvPr/>
            </p:nvSpPr>
            <p:spPr>
              <a:xfrm>
                <a:off x="8982572" y="2064128"/>
                <a:ext cx="1929887" cy="501099"/>
              </a:xfrm>
              <a:prstGeom prst="rect">
                <a:avLst/>
              </a:prstGeom>
            </p:spPr>
            <p:txBody>
              <a:bodyPr wrap="none">
                <a:spAutoFit/>
              </a:bodyPr>
              <a:lstStyle/>
              <a:p>
                <a14:m>
                  <m:oMath xmlns:m="http://schemas.openxmlformats.org/officeDocument/2006/math">
                    <m:sSub>
                      <m:sSubPr>
                        <m:ctrlPr>
                          <a:rPr lang="sv-SE" i="1" smtClean="0">
                            <a:latin typeface="Cambria Math" panose="02040503050406030204" pitchFamily="18" charset="0"/>
                          </a:rPr>
                        </m:ctrlPr>
                      </m:sSubPr>
                      <m:e>
                        <m:r>
                          <a:rPr lang="sv-SE" i="1">
                            <a:latin typeface="Cambria Math" panose="02040503050406030204" pitchFamily="18" charset="0"/>
                          </a:rPr>
                          <m:t>𝑉</m:t>
                        </m:r>
                      </m:e>
                      <m:sub>
                        <m:r>
                          <a:rPr lang="sv-SE" i="1">
                            <a:latin typeface="Cambria Math" panose="02040503050406030204" pitchFamily="18" charset="0"/>
                          </a:rPr>
                          <m:t>𝑝h</m:t>
                        </m:r>
                        <m:r>
                          <a:rPr lang="en-US" b="0" i="1" smtClean="0">
                            <a:latin typeface="Cambria Math" panose="02040503050406030204" pitchFamily="18" charset="0"/>
                          </a:rPr>
                          <m:t>2</m:t>
                        </m:r>
                      </m:sub>
                    </m:sSub>
                    <m:r>
                      <a:rPr lang="en-US" b="0" i="0" smtClean="0">
                        <a:latin typeface="Cambria Math" panose="02040503050406030204" pitchFamily="18" charset="0"/>
                      </a:rPr>
                      <m:t>=</m:t>
                    </m:r>
                    <m:f>
                      <m:fPr>
                        <m:ctrlPr>
                          <a:rPr lang="en-US" i="1">
                            <a:latin typeface="Cambria Math" panose="02040503050406030204" pitchFamily="18" charset="0"/>
                          </a:rPr>
                        </m:ctrlPr>
                      </m:fPr>
                      <m:num>
                        <m:r>
                          <a:rPr lang="en-US">
                            <a:latin typeface="Cambria Math" panose="02040503050406030204" pitchFamily="18" charset="0"/>
                          </a:rPr>
                          <m:t>1</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2</m:t>
                            </m:r>
                          </m:e>
                        </m:rad>
                      </m:den>
                    </m:f>
                    <m:sSub>
                      <m:sSubPr>
                        <m:ctrlPr>
                          <a:rPr lang="en-US" i="1">
                            <a:latin typeface="Cambria Math" panose="02040503050406030204" pitchFamily="18" charset="0"/>
                          </a:rPr>
                        </m:ctrlPr>
                      </m:sSubPr>
                      <m:e>
                        <m:r>
                          <a:rPr lang="en-US" i="1">
                            <a:latin typeface="Cambria Math" panose="02040503050406030204" pitchFamily="18" charset="0"/>
                          </a:rPr>
                          <m:t>𝑈</m:t>
                        </m:r>
                      </m:e>
                      <m:sub>
                        <m:r>
                          <a:rPr lang="en-US" i="1">
                            <a:latin typeface="Cambria Math" panose="02040503050406030204" pitchFamily="18" charset="0"/>
                          </a:rPr>
                          <m:t>𝑑𝑐</m:t>
                        </m:r>
                      </m:sub>
                    </m:sSub>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 </m:t>
                            </m:r>
                            <m:r>
                              <a:rPr lang="en-US" b="0" i="1" smtClean="0">
                                <a:latin typeface="Cambria Math" panose="02040503050406030204" pitchFamily="18" charset="0"/>
                              </a:rPr>
                              <m:t>𝑀</m:t>
                            </m:r>
                          </m:e>
                          <m:sub>
                            <m:r>
                              <a:rPr lang="en-US" b="0" i="1" smtClean="0">
                                <a:latin typeface="Cambria Math" panose="02040503050406030204" pitchFamily="18" charset="0"/>
                              </a:rPr>
                              <m:t>2</m:t>
                            </m:r>
                          </m:sub>
                        </m:sSub>
                      </m:num>
                      <m:den>
                        <m:r>
                          <a:rPr lang="en-US" b="0" i="1" smtClean="0">
                            <a:latin typeface="Cambria Math" panose="02040503050406030204" pitchFamily="18" charset="0"/>
                          </a:rPr>
                          <m:t>2</m:t>
                        </m:r>
                      </m:den>
                    </m:f>
                  </m:oMath>
                </a14:m>
                <a:r>
                  <a:rPr lang="sv-SE" dirty="0" smtClean="0">
                    <a:latin typeface="Times New Roman" panose="02020603050405020304" pitchFamily="18" charset="0"/>
                    <a:cs typeface="Times New Roman" panose="02020603050405020304" pitchFamily="18" charset="0"/>
                  </a:rPr>
                  <a:t> </a:t>
                </a:r>
                <a:endParaRPr lang="sv-SE" dirty="0">
                  <a:latin typeface="Times New Roman" panose="02020603050405020304" pitchFamily="18" charset="0"/>
                  <a:cs typeface="Times New Roman" panose="02020603050405020304" pitchFamily="18" charset="0"/>
                </a:endParaRPr>
              </a:p>
            </p:txBody>
          </p:sp>
        </mc:Choice>
        <mc:Fallback xmlns="">
          <p:sp>
            <p:nvSpPr>
              <p:cNvPr id="18" name="Rectangle 17"/>
              <p:cNvSpPr>
                <a:spLocks noRot="1" noChangeAspect="1" noMove="1" noResize="1" noEditPoints="1" noAdjustHandles="1" noChangeArrowheads="1" noChangeShapeType="1" noTextEdit="1"/>
              </p:cNvSpPr>
              <p:nvPr/>
            </p:nvSpPr>
            <p:spPr>
              <a:xfrm>
                <a:off x="8982572" y="2064128"/>
                <a:ext cx="1929887" cy="501099"/>
              </a:xfrm>
              <a:prstGeom prst="rect">
                <a:avLst/>
              </a:prstGeom>
              <a:blipFill>
                <a:blip r:embed="rId7"/>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7168036" y="2938264"/>
                <a:ext cx="3494290" cy="671081"/>
              </a:xfrm>
              <a:prstGeom prst="rect">
                <a:avLst/>
              </a:prstGeom>
              <a:noFill/>
            </p:spPr>
            <p:txBody>
              <a:bodyPr wrap="none" lIns="0" tIns="0" rIns="0" bIns="0" rtlCol="0">
                <a:spAutoFit/>
              </a:bodyPr>
              <a:lstStyle/>
              <a:p>
                <a14:m>
                  <m:oMath xmlns:m="http://schemas.openxmlformats.org/officeDocument/2006/math">
                    <m:r>
                      <a:rPr lang="sv-SE" b="0" i="1" smtClean="0">
                        <a:latin typeface="Cambria Math" panose="02040503050406030204" pitchFamily="18" charset="0"/>
                      </a:rPr>
                      <m:t>𝑆</m:t>
                    </m:r>
                    <m:r>
                      <a:rPr lang="sv-SE" b="0" i="1" smtClean="0">
                        <a:latin typeface="Cambria Math" panose="02040503050406030204" pitchFamily="18" charset="0"/>
                      </a:rPr>
                      <m:t>=</m:t>
                    </m:r>
                    <m:f>
                      <m:fPr>
                        <m:ctrlPr>
                          <a:rPr lang="sv-SE" i="1">
                            <a:latin typeface="Cambria Math" panose="02040503050406030204" pitchFamily="18" charset="0"/>
                          </a:rPr>
                        </m:ctrlPr>
                      </m:fPr>
                      <m:num>
                        <m:r>
                          <a:rPr lang="sv-SE" i="1">
                            <a:latin typeface="Cambria Math" panose="02040503050406030204" pitchFamily="18" charset="0"/>
                          </a:rPr>
                          <m:t>3</m:t>
                        </m:r>
                      </m:num>
                      <m:den>
                        <m:r>
                          <a:rPr lang="sv-SE" i="1">
                            <a:latin typeface="Cambria Math" panose="02040503050406030204" pitchFamily="18" charset="0"/>
                          </a:rPr>
                          <m:t>2</m:t>
                        </m:r>
                      </m:den>
                    </m:f>
                    <m:sSub>
                      <m:sSubPr>
                        <m:ctrlPr>
                          <a:rPr lang="sv-SE" i="1">
                            <a:latin typeface="Cambria Math" panose="02040503050406030204" pitchFamily="18" charset="0"/>
                          </a:rPr>
                        </m:ctrlPr>
                      </m:sSubPr>
                      <m:e>
                        <m:r>
                          <a:rPr lang="sv-SE" i="1">
                            <a:latin typeface="Cambria Math" panose="02040503050406030204" pitchFamily="18" charset="0"/>
                          </a:rPr>
                          <m:t>𝑀</m:t>
                        </m:r>
                      </m:e>
                      <m:sub>
                        <m:r>
                          <a:rPr lang="sv-SE" i="1">
                            <a:latin typeface="Cambria Math" panose="02040503050406030204" pitchFamily="18" charset="0"/>
                          </a:rPr>
                          <m:t>1</m:t>
                        </m:r>
                      </m:sub>
                    </m:sSub>
                    <m:d>
                      <m:dPr>
                        <m:ctrlPr>
                          <a:rPr lang="sv-SE" i="1">
                            <a:latin typeface="Cambria Math" panose="02040503050406030204" pitchFamily="18" charset="0"/>
                          </a:rPr>
                        </m:ctrlPr>
                      </m:dPr>
                      <m:e>
                        <m:f>
                          <m:fPr>
                            <m:ctrlPr>
                              <a:rPr lang="sv-SE" i="1">
                                <a:latin typeface="Cambria Math" panose="02040503050406030204" pitchFamily="18" charset="0"/>
                              </a:rPr>
                            </m:ctrlPr>
                          </m:fPr>
                          <m:num>
                            <m:sSubSup>
                              <m:sSubSupPr>
                                <m:ctrlPr>
                                  <a:rPr lang="sv-SE" i="1">
                                    <a:latin typeface="Cambria Math" panose="02040503050406030204" pitchFamily="18" charset="0"/>
                                  </a:rPr>
                                </m:ctrlPr>
                              </m:sSubSupPr>
                              <m:e>
                                <m:r>
                                  <a:rPr lang="sv-SE" i="1">
                                    <a:latin typeface="Cambria Math" panose="02040503050406030204" pitchFamily="18" charset="0"/>
                                  </a:rPr>
                                  <m:t>𝑈</m:t>
                                </m:r>
                              </m:e>
                              <m:sub>
                                <m:r>
                                  <a:rPr lang="sv-SE" i="1">
                                    <a:latin typeface="Cambria Math" panose="02040503050406030204" pitchFamily="18" charset="0"/>
                                  </a:rPr>
                                  <m:t>𝑑𝑐</m:t>
                                </m:r>
                              </m:sub>
                              <m:sup>
                                <m:r>
                                  <a:rPr lang="sv-SE" i="1">
                                    <a:latin typeface="Cambria Math" panose="02040503050406030204" pitchFamily="18" charset="0"/>
                                  </a:rPr>
                                  <m:t>2</m:t>
                                </m:r>
                              </m:sup>
                            </m:sSubSup>
                          </m:num>
                          <m:den>
                            <m:r>
                              <a:rPr lang="sv-SE" i="1">
                                <a:latin typeface="Cambria Math" panose="02040503050406030204" pitchFamily="18" charset="0"/>
                              </a:rPr>
                              <m:t>2</m:t>
                            </m:r>
                          </m:den>
                        </m:f>
                      </m:e>
                    </m:d>
                    <m:f>
                      <m:fPr>
                        <m:ctrlPr>
                          <a:rPr lang="sv-SE" b="0" i="1" smtClean="0">
                            <a:latin typeface="Cambria Math" panose="02040503050406030204" pitchFamily="18" charset="0"/>
                          </a:rPr>
                        </m:ctrlPr>
                      </m:fPr>
                      <m:num>
                        <m:rad>
                          <m:radPr>
                            <m:degHide m:val="on"/>
                            <m:ctrlPr>
                              <a:rPr lang="sv-SE" b="0" i="1" smtClean="0">
                                <a:latin typeface="Cambria Math" panose="02040503050406030204" pitchFamily="18" charset="0"/>
                              </a:rPr>
                            </m:ctrlPr>
                          </m:radPr>
                          <m:deg/>
                          <m:e>
                            <m:sSubSup>
                              <m:sSubSupPr>
                                <m:ctrlPr>
                                  <a:rPr lang="sv-SE" b="0" i="1" smtClean="0">
                                    <a:latin typeface="Cambria Math" panose="02040503050406030204" pitchFamily="18" charset="0"/>
                                  </a:rPr>
                                </m:ctrlPr>
                              </m:sSubSupPr>
                              <m:e>
                                <m:r>
                                  <a:rPr lang="sv-SE" b="0" i="1" smtClean="0">
                                    <a:latin typeface="Cambria Math" panose="02040503050406030204" pitchFamily="18" charset="0"/>
                                  </a:rPr>
                                  <m:t>𝑀</m:t>
                                </m:r>
                              </m:e>
                              <m:sub>
                                <m:r>
                                  <a:rPr lang="sv-SE" b="0" i="1" smtClean="0">
                                    <a:latin typeface="Cambria Math" panose="02040503050406030204" pitchFamily="18" charset="0"/>
                                  </a:rPr>
                                  <m:t>1</m:t>
                                </m:r>
                              </m:sub>
                              <m:sup>
                                <m:r>
                                  <a:rPr lang="sv-SE" b="0" i="1" smtClean="0">
                                    <a:latin typeface="Cambria Math" panose="02040503050406030204" pitchFamily="18" charset="0"/>
                                  </a:rPr>
                                  <m:t>2</m:t>
                                </m:r>
                              </m:sup>
                            </m:sSubSup>
                            <m:r>
                              <a:rPr lang="sv-SE" b="0" i="1" smtClean="0">
                                <a:latin typeface="Cambria Math" panose="02040503050406030204" pitchFamily="18" charset="0"/>
                              </a:rPr>
                              <m:t>+</m:t>
                            </m:r>
                            <m:sSubSup>
                              <m:sSubSupPr>
                                <m:ctrlPr>
                                  <a:rPr lang="sv-SE" b="0" i="1" smtClean="0">
                                    <a:latin typeface="Cambria Math" panose="02040503050406030204" pitchFamily="18" charset="0"/>
                                  </a:rPr>
                                </m:ctrlPr>
                              </m:sSubSupPr>
                              <m:e>
                                <m:r>
                                  <a:rPr lang="sv-SE" b="0" i="1" smtClean="0">
                                    <a:latin typeface="Cambria Math" panose="02040503050406030204" pitchFamily="18" charset="0"/>
                                  </a:rPr>
                                  <m:t>𝑀</m:t>
                                </m:r>
                              </m:e>
                              <m:sub>
                                <m:r>
                                  <a:rPr lang="sv-SE" b="0" i="1" smtClean="0">
                                    <a:latin typeface="Cambria Math" panose="02040503050406030204" pitchFamily="18" charset="0"/>
                                  </a:rPr>
                                  <m:t>2</m:t>
                                </m:r>
                              </m:sub>
                              <m:sup>
                                <m:r>
                                  <a:rPr lang="sv-SE" b="0" i="1" smtClean="0">
                                    <a:latin typeface="Cambria Math" panose="02040503050406030204" pitchFamily="18" charset="0"/>
                                  </a:rPr>
                                  <m:t>2</m:t>
                                </m:r>
                              </m:sup>
                            </m:sSubSup>
                            <m:r>
                              <a:rPr lang="sv-SE" b="0" i="1" smtClean="0">
                                <a:latin typeface="Cambria Math" panose="02040503050406030204" pitchFamily="18" charset="0"/>
                              </a:rPr>
                              <m:t>−2</m:t>
                            </m:r>
                            <m:sSub>
                              <m:sSubPr>
                                <m:ctrlPr>
                                  <a:rPr lang="sv-SE" b="0" i="1" smtClean="0">
                                    <a:latin typeface="Cambria Math" panose="02040503050406030204" pitchFamily="18" charset="0"/>
                                  </a:rPr>
                                </m:ctrlPr>
                              </m:sSubPr>
                              <m:e>
                                <m:r>
                                  <a:rPr lang="sv-SE" b="0" i="1" smtClean="0">
                                    <a:latin typeface="Cambria Math" panose="02040503050406030204" pitchFamily="18" charset="0"/>
                                  </a:rPr>
                                  <m:t>𝑀</m:t>
                                </m:r>
                              </m:e>
                              <m:sub>
                                <m:r>
                                  <a:rPr lang="sv-SE" b="0" i="1" smtClean="0">
                                    <a:latin typeface="Cambria Math" panose="02040503050406030204" pitchFamily="18" charset="0"/>
                                  </a:rPr>
                                  <m:t>1</m:t>
                                </m:r>
                              </m:sub>
                            </m:sSub>
                            <m:sSub>
                              <m:sSubPr>
                                <m:ctrlPr>
                                  <a:rPr lang="sv-SE" b="0" i="1" smtClean="0">
                                    <a:latin typeface="Cambria Math" panose="02040503050406030204" pitchFamily="18" charset="0"/>
                                  </a:rPr>
                                </m:ctrlPr>
                              </m:sSubPr>
                              <m:e>
                                <m:r>
                                  <a:rPr lang="sv-SE" b="0" i="1" smtClean="0">
                                    <a:latin typeface="Cambria Math" panose="02040503050406030204" pitchFamily="18" charset="0"/>
                                  </a:rPr>
                                  <m:t>𝑀</m:t>
                                </m:r>
                              </m:e>
                              <m:sub>
                                <m:r>
                                  <a:rPr lang="sv-SE" b="0" i="1" smtClean="0">
                                    <a:latin typeface="Cambria Math" panose="02040503050406030204" pitchFamily="18" charset="0"/>
                                  </a:rPr>
                                  <m:t>2</m:t>
                                </m:r>
                              </m:sub>
                            </m:sSub>
                            <m:func>
                              <m:funcPr>
                                <m:ctrlPr>
                                  <a:rPr lang="sv-SE" b="0" i="1" smtClean="0">
                                    <a:latin typeface="Cambria Math" panose="02040503050406030204" pitchFamily="18" charset="0"/>
                                  </a:rPr>
                                </m:ctrlPr>
                              </m:funcPr>
                              <m:fName>
                                <m:r>
                                  <m:rPr>
                                    <m:sty m:val="p"/>
                                  </m:rPr>
                                  <a:rPr lang="sv-SE" b="0" i="0" smtClean="0">
                                    <a:latin typeface="Cambria Math" panose="02040503050406030204" pitchFamily="18" charset="0"/>
                                  </a:rPr>
                                  <m:t>cos</m:t>
                                </m:r>
                              </m:fName>
                              <m:e>
                                <m:d>
                                  <m:dPr>
                                    <m:ctrlPr>
                                      <a:rPr lang="sv-SE" b="0" i="1" smtClean="0">
                                        <a:latin typeface="Cambria Math" panose="02040503050406030204" pitchFamily="18" charset="0"/>
                                      </a:rPr>
                                    </m:ctrlPr>
                                  </m:dPr>
                                  <m:e>
                                    <m:r>
                                      <a:rPr lang="sv-SE" b="0" i="1" smtClean="0">
                                        <a:latin typeface="Cambria Math" panose="02040503050406030204" pitchFamily="18" charset="0"/>
                                      </a:rPr>
                                      <m:t>𝛿</m:t>
                                    </m:r>
                                  </m:e>
                                </m:d>
                              </m:e>
                            </m:func>
                          </m:e>
                        </m:rad>
                        <m:r>
                          <m:rPr>
                            <m:lit/>
                          </m:rPr>
                          <a:rPr lang="sv-SE" b="0" i="1" smtClean="0">
                            <a:latin typeface="Cambria Math" panose="02040503050406030204" pitchFamily="18" charset="0"/>
                          </a:rPr>
                          <m:t> </m:t>
                        </m:r>
                      </m:num>
                      <m:den>
                        <m:r>
                          <a:rPr lang="sv-SE" b="0" i="1" smtClean="0">
                            <a:latin typeface="Cambria Math" panose="02040503050406030204" pitchFamily="18" charset="0"/>
                          </a:rPr>
                          <m:t>𝑗</m:t>
                        </m:r>
                        <m:r>
                          <a:rPr lang="sv-SE" b="0" i="1" smtClean="0">
                            <a:latin typeface="Cambria Math" panose="02040503050406030204" pitchFamily="18" charset="0"/>
                          </a:rPr>
                          <m:t>𝜔</m:t>
                        </m:r>
                        <m:r>
                          <a:rPr lang="sv-SE" b="0" i="1" smtClean="0">
                            <a:latin typeface="Cambria Math" panose="02040503050406030204" pitchFamily="18" charset="0"/>
                          </a:rPr>
                          <m:t>𝐿</m:t>
                        </m:r>
                      </m:den>
                    </m:f>
                  </m:oMath>
                </a14:m>
                <a:r>
                  <a:rPr lang="sv-SE" dirty="0" smtClean="0">
                    <a:latin typeface="Times New Roman" panose="02020603050405020304" pitchFamily="18" charset="0"/>
                    <a:cs typeface="Times New Roman" panose="02020603050405020304" pitchFamily="18" charset="0"/>
                  </a:rPr>
                  <a:t> </a:t>
                </a:r>
                <a:endParaRPr lang="sv-SE" dirty="0">
                  <a:latin typeface="Times New Roman" panose="02020603050405020304" pitchFamily="18" charset="0"/>
                  <a:cs typeface="Times New Roman" panose="02020603050405020304" pitchFamily="18" charset="0"/>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7168036" y="2938264"/>
                <a:ext cx="3494290" cy="671081"/>
              </a:xfrm>
              <a:prstGeom prst="rect">
                <a:avLst/>
              </a:prstGeom>
              <a:blipFill>
                <a:blip r:embed="rId8"/>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20" name="Rectangle 19"/>
              <p:cNvSpPr/>
              <p:nvPr/>
            </p:nvSpPr>
            <p:spPr>
              <a:xfrm>
                <a:off x="6987328" y="4017372"/>
                <a:ext cx="3576812" cy="89716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v-SE" b="0" i="1" smtClean="0">
                          <a:latin typeface="Cambria Math" panose="02040503050406030204" pitchFamily="18" charset="0"/>
                        </a:rPr>
                        <m:t>𝑝</m:t>
                      </m:r>
                      <m:r>
                        <a:rPr lang="sv-SE" b="0" i="1" smtClean="0">
                          <a:latin typeface="Cambria Math" panose="02040503050406030204" pitchFamily="18" charset="0"/>
                        </a:rPr>
                        <m:t>.</m:t>
                      </m:r>
                      <m:r>
                        <a:rPr lang="sv-SE" b="0" i="1" smtClean="0">
                          <a:latin typeface="Cambria Math" panose="02040503050406030204" pitchFamily="18" charset="0"/>
                        </a:rPr>
                        <m:t>𝑓</m:t>
                      </m:r>
                      <m:r>
                        <a:rPr lang="sv-SE" b="0" i="1" smtClean="0">
                          <a:latin typeface="Cambria Math" panose="02040503050406030204" pitchFamily="18" charset="0"/>
                        </a:rPr>
                        <m:t>.=−</m:t>
                      </m:r>
                      <m:r>
                        <m:rPr>
                          <m:sty m:val="p"/>
                        </m:rPr>
                        <a:rPr lang="sv-SE" b="0" i="0" smtClean="0">
                          <a:latin typeface="Cambria Math" panose="02040503050406030204" pitchFamily="18" charset="0"/>
                        </a:rPr>
                        <m:t>sin</m:t>
                      </m:r>
                      <m:r>
                        <a:rPr lang="sv-SE" b="0" i="1" smtClean="0">
                          <a:latin typeface="Cambria Math" panose="02040503050406030204" pitchFamily="18" charset="0"/>
                        </a:rPr>
                        <m:t>⁡[</m:t>
                      </m:r>
                      <m:r>
                        <m:rPr>
                          <m:sty m:val="p"/>
                        </m:rPr>
                        <a:rPr lang="sv-SE" b="0" i="0" smtClean="0">
                          <a:latin typeface="Cambria Math" panose="02040503050406030204" pitchFamily="18" charset="0"/>
                        </a:rPr>
                        <m:t>arctan</m:t>
                      </m:r>
                      <m:r>
                        <a:rPr lang="sv-SE" b="0" i="1" smtClean="0">
                          <a:latin typeface="Cambria Math" panose="02040503050406030204" pitchFamily="18" charset="0"/>
                        </a:rPr>
                        <m:t>⁡(</m:t>
                      </m:r>
                      <m:f>
                        <m:fPr>
                          <m:ctrlPr>
                            <a:rPr lang="sv-SE" b="0" i="1" smtClean="0">
                              <a:latin typeface="Cambria Math" panose="02040503050406030204" pitchFamily="18" charset="0"/>
                            </a:rPr>
                          </m:ctrlPr>
                        </m:fPr>
                        <m:num>
                          <m:func>
                            <m:funcPr>
                              <m:ctrlPr>
                                <a:rPr lang="sv-SE" b="0" i="1" smtClean="0">
                                  <a:latin typeface="Cambria Math" panose="02040503050406030204" pitchFamily="18" charset="0"/>
                                </a:rPr>
                              </m:ctrlPr>
                            </m:funcPr>
                            <m:fName>
                              <m:r>
                                <m:rPr>
                                  <m:sty m:val="p"/>
                                </m:rPr>
                                <a:rPr lang="sv-SE" b="0" i="0" smtClean="0">
                                  <a:latin typeface="Cambria Math" panose="02040503050406030204" pitchFamily="18" charset="0"/>
                                </a:rPr>
                                <m:t>sin</m:t>
                              </m:r>
                            </m:fName>
                            <m:e>
                              <m:d>
                                <m:dPr>
                                  <m:ctrlPr>
                                    <a:rPr lang="sv-SE" b="0" i="1" smtClean="0">
                                      <a:latin typeface="Cambria Math" panose="02040503050406030204" pitchFamily="18" charset="0"/>
                                    </a:rPr>
                                  </m:ctrlPr>
                                </m:dPr>
                                <m:e>
                                  <m:r>
                                    <a:rPr lang="sv-SE" b="0" i="1" smtClean="0">
                                      <a:latin typeface="Cambria Math" panose="02040503050406030204" pitchFamily="18" charset="0"/>
                                    </a:rPr>
                                    <m:t>𝛿</m:t>
                                  </m:r>
                                </m:e>
                              </m:d>
                            </m:e>
                          </m:func>
                        </m:num>
                        <m:den>
                          <m:f>
                            <m:fPr>
                              <m:ctrlPr>
                                <a:rPr lang="sv-SE" b="0" i="1" smtClean="0">
                                  <a:latin typeface="Cambria Math" panose="02040503050406030204" pitchFamily="18" charset="0"/>
                                </a:rPr>
                              </m:ctrlPr>
                            </m:fPr>
                            <m:num>
                              <m:sSub>
                                <m:sSubPr>
                                  <m:ctrlPr>
                                    <a:rPr lang="sv-SE" b="0" i="1" smtClean="0">
                                      <a:latin typeface="Cambria Math" panose="02040503050406030204" pitchFamily="18" charset="0"/>
                                    </a:rPr>
                                  </m:ctrlPr>
                                </m:sSubPr>
                                <m:e>
                                  <m:r>
                                    <a:rPr lang="sv-SE" b="0" i="1" smtClean="0">
                                      <a:latin typeface="Cambria Math" panose="02040503050406030204" pitchFamily="18" charset="0"/>
                                    </a:rPr>
                                    <m:t>𝑀</m:t>
                                  </m:r>
                                </m:e>
                                <m:sub>
                                  <m:r>
                                    <a:rPr lang="sv-SE" b="0" i="1" smtClean="0">
                                      <a:latin typeface="Cambria Math" panose="02040503050406030204" pitchFamily="18" charset="0"/>
                                    </a:rPr>
                                    <m:t>1</m:t>
                                  </m:r>
                                </m:sub>
                              </m:sSub>
                            </m:num>
                            <m:den>
                              <m:sSub>
                                <m:sSubPr>
                                  <m:ctrlPr>
                                    <a:rPr lang="sv-SE" b="0" i="1" smtClean="0">
                                      <a:latin typeface="Cambria Math" panose="02040503050406030204" pitchFamily="18" charset="0"/>
                                    </a:rPr>
                                  </m:ctrlPr>
                                </m:sSubPr>
                                <m:e>
                                  <m:r>
                                    <a:rPr lang="sv-SE" b="0" i="1" smtClean="0">
                                      <a:latin typeface="Cambria Math" panose="02040503050406030204" pitchFamily="18" charset="0"/>
                                    </a:rPr>
                                    <m:t>𝑀</m:t>
                                  </m:r>
                                </m:e>
                                <m:sub>
                                  <m:r>
                                    <a:rPr lang="sv-SE" b="0" i="1" smtClean="0">
                                      <a:latin typeface="Cambria Math" panose="02040503050406030204" pitchFamily="18" charset="0"/>
                                    </a:rPr>
                                    <m:t>2</m:t>
                                  </m:r>
                                </m:sub>
                              </m:sSub>
                            </m:den>
                          </m:f>
                          <m:r>
                            <a:rPr lang="sv-SE" b="0" i="1" smtClean="0">
                              <a:latin typeface="Cambria Math" panose="02040503050406030204" pitchFamily="18" charset="0"/>
                            </a:rPr>
                            <m:t>−</m:t>
                          </m:r>
                          <m:r>
                            <m:rPr>
                              <m:sty m:val="p"/>
                            </m:rPr>
                            <a:rPr lang="sv-SE" b="0" i="0" smtClean="0">
                              <a:latin typeface="Cambria Math" panose="02040503050406030204" pitchFamily="18" charset="0"/>
                            </a:rPr>
                            <m:t>cos</m:t>
                          </m:r>
                          <m:r>
                            <a:rPr lang="sv-SE" b="0" i="1" smtClean="0">
                              <a:latin typeface="Cambria Math" panose="02040503050406030204" pitchFamily="18" charset="0"/>
                            </a:rPr>
                            <m:t>⁡(</m:t>
                          </m:r>
                          <m:r>
                            <a:rPr lang="sv-SE" b="0" i="1" smtClean="0">
                              <a:latin typeface="Cambria Math" panose="02040503050406030204" pitchFamily="18" charset="0"/>
                            </a:rPr>
                            <m:t>𝛿</m:t>
                          </m:r>
                          <m:r>
                            <a:rPr lang="sv-SE" b="0" i="1" smtClean="0">
                              <a:latin typeface="Cambria Math" panose="02040503050406030204" pitchFamily="18" charset="0"/>
                            </a:rPr>
                            <m:t>)</m:t>
                          </m:r>
                        </m:den>
                      </m:f>
                      <m:r>
                        <a:rPr lang="sv-SE" b="0" i="1" smtClean="0">
                          <a:latin typeface="Cambria Math" panose="02040503050406030204" pitchFamily="18" charset="0"/>
                        </a:rPr>
                        <m:t>)]</m:t>
                      </m:r>
                    </m:oMath>
                  </m:oMathPara>
                </a14:m>
                <a:endParaRPr lang="sv-SE" dirty="0">
                  <a:latin typeface="Times New Roman" panose="02020603050405020304" pitchFamily="18" charset="0"/>
                  <a:cs typeface="Times New Roman" panose="02020603050405020304" pitchFamily="18" charset="0"/>
                </a:endParaRPr>
              </a:p>
            </p:txBody>
          </p:sp>
        </mc:Choice>
        <mc:Fallback xmlns="">
          <p:sp>
            <p:nvSpPr>
              <p:cNvPr id="20" name="Rectangle 19"/>
              <p:cNvSpPr>
                <a:spLocks noRot="1" noChangeAspect="1" noMove="1" noResize="1" noEditPoints="1" noAdjustHandles="1" noChangeArrowheads="1" noChangeShapeType="1" noTextEdit="1"/>
              </p:cNvSpPr>
              <p:nvPr/>
            </p:nvSpPr>
            <p:spPr>
              <a:xfrm>
                <a:off x="6987328" y="4017372"/>
                <a:ext cx="3576812" cy="897169"/>
              </a:xfrm>
              <a:prstGeom prst="rect">
                <a:avLst/>
              </a:prstGeom>
              <a:blipFill>
                <a:blip r:embed="rId9"/>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21" name="Rectangle 20"/>
              <p:cNvSpPr/>
              <p:nvPr/>
            </p:nvSpPr>
            <p:spPr>
              <a:xfrm>
                <a:off x="6711052" y="5322568"/>
                <a:ext cx="4350037" cy="74712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𝑑𝑐</m:t>
                              </m:r>
                            </m:sub>
                          </m:sSub>
                        </m:num>
                        <m:den>
                          <m:r>
                            <a:rPr lang="sv-SE" b="0" i="1" smtClean="0">
                              <a:latin typeface="Cambria Math" panose="02040503050406030204" pitchFamily="18" charset="0"/>
                            </a:rPr>
                            <m:t>2</m:t>
                          </m:r>
                        </m:den>
                      </m:f>
                      <m:f>
                        <m:fPr>
                          <m:ctrlPr>
                            <a:rPr lang="sv-SE" i="1">
                              <a:latin typeface="Cambria Math" panose="02040503050406030204" pitchFamily="18" charset="0"/>
                            </a:rPr>
                          </m:ctrlPr>
                        </m:fPr>
                        <m:num>
                          <m:rad>
                            <m:radPr>
                              <m:degHide m:val="on"/>
                              <m:ctrlPr>
                                <a:rPr lang="sv-SE" i="1">
                                  <a:latin typeface="Cambria Math" panose="02040503050406030204" pitchFamily="18" charset="0"/>
                                </a:rPr>
                              </m:ctrlPr>
                            </m:radPr>
                            <m:deg/>
                            <m:e>
                              <m:sSubSup>
                                <m:sSubSupPr>
                                  <m:ctrlPr>
                                    <a:rPr lang="sv-SE" i="1">
                                      <a:latin typeface="Cambria Math" panose="02040503050406030204" pitchFamily="18" charset="0"/>
                                    </a:rPr>
                                  </m:ctrlPr>
                                </m:sSubSupPr>
                                <m:e>
                                  <m:r>
                                    <a:rPr lang="sv-SE" i="1">
                                      <a:latin typeface="Cambria Math" panose="02040503050406030204" pitchFamily="18" charset="0"/>
                                    </a:rPr>
                                    <m:t>𝑀</m:t>
                                  </m:r>
                                </m:e>
                                <m:sub>
                                  <m:r>
                                    <a:rPr lang="sv-SE" i="1">
                                      <a:latin typeface="Cambria Math" panose="02040503050406030204" pitchFamily="18" charset="0"/>
                                    </a:rPr>
                                    <m:t>1</m:t>
                                  </m:r>
                                </m:sub>
                                <m:sup>
                                  <m:r>
                                    <a:rPr lang="sv-SE" i="1">
                                      <a:latin typeface="Cambria Math" panose="02040503050406030204" pitchFamily="18" charset="0"/>
                                    </a:rPr>
                                    <m:t>2</m:t>
                                  </m:r>
                                </m:sup>
                              </m:sSubSup>
                              <m:r>
                                <a:rPr lang="sv-SE" i="1">
                                  <a:latin typeface="Cambria Math" panose="02040503050406030204" pitchFamily="18" charset="0"/>
                                </a:rPr>
                                <m:t>+</m:t>
                              </m:r>
                              <m:sSubSup>
                                <m:sSubSupPr>
                                  <m:ctrlPr>
                                    <a:rPr lang="sv-SE" i="1">
                                      <a:latin typeface="Cambria Math" panose="02040503050406030204" pitchFamily="18" charset="0"/>
                                    </a:rPr>
                                  </m:ctrlPr>
                                </m:sSubSupPr>
                                <m:e>
                                  <m:r>
                                    <a:rPr lang="sv-SE" i="1">
                                      <a:latin typeface="Cambria Math" panose="02040503050406030204" pitchFamily="18" charset="0"/>
                                    </a:rPr>
                                    <m:t>𝑀</m:t>
                                  </m:r>
                                </m:e>
                                <m:sub>
                                  <m:r>
                                    <a:rPr lang="sv-SE" i="1">
                                      <a:latin typeface="Cambria Math" panose="02040503050406030204" pitchFamily="18" charset="0"/>
                                    </a:rPr>
                                    <m:t>2</m:t>
                                  </m:r>
                                </m:sub>
                                <m:sup>
                                  <m:r>
                                    <a:rPr lang="sv-SE" i="1">
                                      <a:latin typeface="Cambria Math" panose="02040503050406030204" pitchFamily="18" charset="0"/>
                                    </a:rPr>
                                    <m:t>2</m:t>
                                  </m:r>
                                </m:sup>
                              </m:sSubSup>
                              <m:r>
                                <a:rPr lang="sv-SE" i="1">
                                  <a:latin typeface="Cambria Math" panose="02040503050406030204" pitchFamily="18" charset="0"/>
                                </a:rPr>
                                <m:t>−2</m:t>
                              </m:r>
                              <m:sSub>
                                <m:sSubPr>
                                  <m:ctrlPr>
                                    <a:rPr lang="sv-SE" i="1">
                                      <a:latin typeface="Cambria Math" panose="02040503050406030204" pitchFamily="18" charset="0"/>
                                    </a:rPr>
                                  </m:ctrlPr>
                                </m:sSubPr>
                                <m:e>
                                  <m:r>
                                    <a:rPr lang="sv-SE" i="1">
                                      <a:latin typeface="Cambria Math" panose="02040503050406030204" pitchFamily="18" charset="0"/>
                                    </a:rPr>
                                    <m:t>𝑀</m:t>
                                  </m:r>
                                </m:e>
                                <m:sub>
                                  <m:r>
                                    <a:rPr lang="sv-SE" i="1">
                                      <a:latin typeface="Cambria Math" panose="02040503050406030204" pitchFamily="18" charset="0"/>
                                    </a:rPr>
                                    <m:t>1</m:t>
                                  </m:r>
                                </m:sub>
                              </m:sSub>
                              <m:sSub>
                                <m:sSubPr>
                                  <m:ctrlPr>
                                    <a:rPr lang="sv-SE" i="1">
                                      <a:latin typeface="Cambria Math" panose="02040503050406030204" pitchFamily="18" charset="0"/>
                                    </a:rPr>
                                  </m:ctrlPr>
                                </m:sSubPr>
                                <m:e>
                                  <m:r>
                                    <a:rPr lang="sv-SE" i="1">
                                      <a:latin typeface="Cambria Math" panose="02040503050406030204" pitchFamily="18" charset="0"/>
                                    </a:rPr>
                                    <m:t>𝑀</m:t>
                                  </m:r>
                                </m:e>
                                <m:sub>
                                  <m:r>
                                    <a:rPr lang="sv-SE" i="1">
                                      <a:latin typeface="Cambria Math" panose="02040503050406030204" pitchFamily="18" charset="0"/>
                                    </a:rPr>
                                    <m:t>2</m:t>
                                  </m:r>
                                </m:sub>
                              </m:sSub>
                              <m:func>
                                <m:funcPr>
                                  <m:ctrlPr>
                                    <a:rPr lang="sv-SE" i="1">
                                      <a:latin typeface="Cambria Math" panose="02040503050406030204" pitchFamily="18" charset="0"/>
                                    </a:rPr>
                                  </m:ctrlPr>
                                </m:funcPr>
                                <m:fName>
                                  <m:r>
                                    <m:rPr>
                                      <m:sty m:val="p"/>
                                    </m:rPr>
                                    <a:rPr lang="sv-SE">
                                      <a:latin typeface="Cambria Math" panose="02040503050406030204" pitchFamily="18" charset="0"/>
                                    </a:rPr>
                                    <m:t>cos</m:t>
                                  </m:r>
                                </m:fName>
                                <m:e>
                                  <m:d>
                                    <m:dPr>
                                      <m:ctrlPr>
                                        <a:rPr lang="sv-SE" i="1">
                                          <a:latin typeface="Cambria Math" panose="02040503050406030204" pitchFamily="18" charset="0"/>
                                        </a:rPr>
                                      </m:ctrlPr>
                                    </m:dPr>
                                    <m:e>
                                      <m:r>
                                        <a:rPr lang="sv-SE" i="1">
                                          <a:latin typeface="Cambria Math" panose="02040503050406030204" pitchFamily="18" charset="0"/>
                                        </a:rPr>
                                        <m:t>𝛿</m:t>
                                      </m:r>
                                    </m:e>
                                  </m:d>
                                </m:e>
                              </m:func>
                            </m:e>
                          </m:rad>
                          <m:r>
                            <m:rPr>
                              <m:lit/>
                            </m:rPr>
                            <a:rPr lang="sv-SE" i="1">
                              <a:latin typeface="Cambria Math" panose="02040503050406030204" pitchFamily="18" charset="0"/>
                            </a:rPr>
                            <m:t> </m:t>
                          </m:r>
                        </m:num>
                        <m:den>
                          <m:r>
                            <a:rPr lang="sv-SE" i="1">
                              <a:latin typeface="Cambria Math" panose="02040503050406030204" pitchFamily="18" charset="0"/>
                            </a:rPr>
                            <m:t>𝑗</m:t>
                          </m:r>
                          <m:r>
                            <a:rPr lang="sv-SE" i="1">
                              <a:latin typeface="Cambria Math" panose="02040503050406030204" pitchFamily="18" charset="0"/>
                            </a:rPr>
                            <m:t>𝜔</m:t>
                          </m:r>
                          <m:r>
                            <a:rPr lang="sv-SE" i="1">
                              <a:latin typeface="Cambria Math" panose="02040503050406030204" pitchFamily="18" charset="0"/>
                            </a:rPr>
                            <m:t>𝐿</m:t>
                          </m:r>
                        </m:den>
                      </m:f>
                      <m:r>
                        <a:rPr lang="sv-SE" b="0" i="1" smtClean="0">
                          <a:latin typeface="Cambria Math" panose="02040503050406030204" pitchFamily="18" charset="0"/>
                        </a:rPr>
                        <m:t>&lt;</m:t>
                      </m:r>
                      <m:sSub>
                        <m:sSubPr>
                          <m:ctrlPr>
                            <a:rPr lang="sv-SE" b="0" i="1" smtClean="0">
                              <a:latin typeface="Cambria Math" panose="02040503050406030204" pitchFamily="18" charset="0"/>
                            </a:rPr>
                          </m:ctrlPr>
                        </m:sSubPr>
                        <m:e>
                          <m:r>
                            <a:rPr lang="sv-SE" b="0" i="1" smtClean="0">
                              <a:latin typeface="Cambria Math" panose="02040503050406030204" pitchFamily="18" charset="0"/>
                            </a:rPr>
                            <m:t>𝐼</m:t>
                          </m:r>
                        </m:e>
                        <m:sub>
                          <m:r>
                            <a:rPr lang="sv-SE" b="0" i="1" smtClean="0">
                              <a:latin typeface="Cambria Math" panose="02040503050406030204" pitchFamily="18" charset="0"/>
                            </a:rPr>
                            <m:t>𝑚𝑎𝑥</m:t>
                          </m:r>
                        </m:sub>
                      </m:sSub>
                    </m:oMath>
                  </m:oMathPara>
                </a14:m>
                <a:endParaRPr lang="sv-SE" dirty="0">
                  <a:latin typeface="Times New Roman" panose="02020603050405020304" pitchFamily="18" charset="0"/>
                  <a:cs typeface="Times New Roman" panose="02020603050405020304" pitchFamily="18" charset="0"/>
                </a:endParaRPr>
              </a:p>
            </p:txBody>
          </p:sp>
        </mc:Choice>
        <mc:Fallback xmlns="">
          <p:sp>
            <p:nvSpPr>
              <p:cNvPr id="21" name="Rectangle 20"/>
              <p:cNvSpPr>
                <a:spLocks noRot="1" noChangeAspect="1" noMove="1" noResize="1" noEditPoints="1" noAdjustHandles="1" noChangeArrowheads="1" noChangeShapeType="1" noTextEdit="1"/>
              </p:cNvSpPr>
              <p:nvPr/>
            </p:nvSpPr>
            <p:spPr>
              <a:xfrm>
                <a:off x="6711052" y="5322568"/>
                <a:ext cx="4350037" cy="747128"/>
              </a:xfrm>
              <a:prstGeom prst="rect">
                <a:avLst/>
              </a:prstGeom>
              <a:blipFill>
                <a:blip r:embed="rId10"/>
                <a:stretch>
                  <a:fillRect/>
                </a:stretch>
              </a:blipFill>
            </p:spPr>
            <p:txBody>
              <a:bodyPr/>
              <a:lstStyle/>
              <a:p>
                <a:r>
                  <a:rPr lang="sv-SE">
                    <a:noFill/>
                  </a:rPr>
                  <a:t> </a:t>
                </a:r>
              </a:p>
            </p:txBody>
          </p:sp>
        </mc:Fallback>
      </mc:AlternateContent>
    </p:spTree>
    <p:extLst>
      <p:ext uri="{BB962C8B-B14F-4D97-AF65-F5344CB8AC3E}">
        <p14:creationId xmlns:p14="http://schemas.microsoft.com/office/powerpoint/2010/main" val="171702871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9795" y="417824"/>
            <a:ext cx="10990263" cy="568412"/>
          </a:xfrm>
        </p:spPr>
        <p:txBody>
          <a:bodyPr/>
          <a:lstStyle/>
          <a:p>
            <a:r>
              <a:rPr lang="en-US" dirty="0" smtClean="0">
                <a:latin typeface="Times New Roman" panose="02020603050405020304" pitchFamily="18" charset="0"/>
                <a:cs typeface="Times New Roman" panose="02020603050405020304" pitchFamily="18" charset="0"/>
              </a:rPr>
              <a:t>Inverter Losses</a:t>
            </a:r>
            <a:endParaRPr lang="sv-SE" dirty="0">
              <a:latin typeface="Times New Roman" panose="02020603050405020304" pitchFamily="18" charset="0"/>
              <a:cs typeface="Times New Roman" panose="02020603050405020304" pitchFamily="18" charset="0"/>
            </a:endParaRPr>
          </a:p>
        </p:txBody>
      </p:sp>
      <p:sp>
        <p:nvSpPr>
          <p:cNvPr id="7" name="TextBox 6"/>
          <p:cNvSpPr txBox="1"/>
          <p:nvPr/>
        </p:nvSpPr>
        <p:spPr>
          <a:xfrm>
            <a:off x="439137" y="4385982"/>
            <a:ext cx="4653211" cy="2031325"/>
          </a:xfrm>
          <a:prstGeom prst="rect">
            <a:avLst/>
          </a:prstGeom>
          <a:noFill/>
        </p:spPr>
        <p:txBody>
          <a:bodyPr wrap="square" rtlCol="0">
            <a:spAutoFit/>
          </a:bodyPr>
          <a:lstStyle/>
          <a:p>
            <a:pPr marL="285750" indent="-285750"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In a two-level inverter, we can assume the losses do not depend on the power factor. </a:t>
            </a: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We can control the modulation index and the current, then we can estimate the power loss for the desired operating points. </a:t>
            </a: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The efficiency can be estimated then using the power loss and operating point power.</a:t>
            </a:r>
            <a:endParaRPr lang="sv-SE" dirty="0">
              <a:latin typeface="Times New Roman" panose="02020603050405020304" pitchFamily="18" charset="0"/>
              <a:cs typeface="Times New Roman" panose="02020603050405020304" pitchFamily="18" charset="0"/>
            </a:endParaRPr>
          </a:p>
        </p:txBody>
      </p:sp>
      <p:grpSp>
        <p:nvGrpSpPr>
          <p:cNvPr id="44" name="Group 43"/>
          <p:cNvGrpSpPr/>
          <p:nvPr/>
        </p:nvGrpSpPr>
        <p:grpSpPr>
          <a:xfrm>
            <a:off x="6326627" y="1490250"/>
            <a:ext cx="5086120" cy="4218538"/>
            <a:chOff x="1579131" y="781538"/>
            <a:chExt cx="6174982" cy="5233927"/>
          </a:xfrm>
        </p:grpSpPr>
        <p:sp>
          <p:nvSpPr>
            <p:cNvPr id="8" name="Frihandsfigur: Form 10">
              <a:extLst>
                <a:ext uri="{FF2B5EF4-FFF2-40B4-BE49-F238E27FC236}">
                  <a16:creationId xmlns:a16="http://schemas.microsoft.com/office/drawing/2014/main" id="{F95688FF-9EF5-49FE-AEEF-3405B59A2059}"/>
                </a:ext>
              </a:extLst>
            </p:cNvPr>
            <p:cNvSpPr/>
            <p:nvPr/>
          </p:nvSpPr>
          <p:spPr>
            <a:xfrm>
              <a:off x="2229581" y="2264691"/>
              <a:ext cx="4633083" cy="2930290"/>
            </a:xfrm>
            <a:custGeom>
              <a:avLst/>
              <a:gdLst>
                <a:gd name="connsiteX0" fmla="*/ 0 w 4387850"/>
                <a:gd name="connsiteY0" fmla="*/ 3054350 h 3054350"/>
                <a:gd name="connsiteX1" fmla="*/ 1301750 w 4387850"/>
                <a:gd name="connsiteY1" fmla="*/ 19050 h 3054350"/>
                <a:gd name="connsiteX2" fmla="*/ 3028950 w 4387850"/>
                <a:gd name="connsiteY2" fmla="*/ 0 h 3054350"/>
                <a:gd name="connsiteX3" fmla="*/ 4387850 w 4387850"/>
                <a:gd name="connsiteY3" fmla="*/ 933450 h 3054350"/>
              </a:gdLst>
              <a:ahLst/>
              <a:cxnLst>
                <a:cxn ang="0">
                  <a:pos x="connsiteX0" y="connsiteY0"/>
                </a:cxn>
                <a:cxn ang="0">
                  <a:pos x="connsiteX1" y="connsiteY1"/>
                </a:cxn>
                <a:cxn ang="0">
                  <a:pos x="connsiteX2" y="connsiteY2"/>
                </a:cxn>
                <a:cxn ang="0">
                  <a:pos x="connsiteX3" y="connsiteY3"/>
                </a:cxn>
              </a:cxnLst>
              <a:rect l="l" t="t" r="r" b="b"/>
              <a:pathLst>
                <a:path w="4387850" h="3054350">
                  <a:moveTo>
                    <a:pt x="0" y="3054350"/>
                  </a:moveTo>
                  <a:lnTo>
                    <a:pt x="1301750" y="19050"/>
                  </a:lnTo>
                  <a:lnTo>
                    <a:pt x="3028950" y="0"/>
                  </a:lnTo>
                  <a:lnTo>
                    <a:pt x="4387850" y="933450"/>
                  </a:lnTo>
                </a:path>
              </a:pathLst>
            </a:cu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Times New Roman" panose="02020603050405020304" pitchFamily="18" charset="0"/>
                <a:cs typeface="Times New Roman" panose="02020603050405020304" pitchFamily="18" charset="0"/>
              </a:endParaRPr>
            </a:p>
          </p:txBody>
        </p:sp>
        <p:cxnSp>
          <p:nvCxnSpPr>
            <p:cNvPr id="9" name="Straight Connector 8">
              <a:extLst>
                <a:ext uri="{FF2B5EF4-FFF2-40B4-BE49-F238E27FC236}">
                  <a16:creationId xmlns:a16="http://schemas.microsoft.com/office/drawing/2014/main" id="{D69C8319-7602-477A-BEFE-B8862F6F2634}"/>
                </a:ext>
              </a:extLst>
            </p:cNvPr>
            <p:cNvCxnSpPr>
              <a:cxnSpLocks/>
            </p:cNvCxnSpPr>
            <p:nvPr/>
          </p:nvCxnSpPr>
          <p:spPr>
            <a:xfrm flipV="1">
              <a:off x="2229583" y="781538"/>
              <a:ext cx="0" cy="4400062"/>
            </a:xfrm>
            <a:prstGeom prst="line">
              <a:avLst/>
            </a:prstGeom>
            <a:ln>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10" name="Rak koppling 27">
              <a:extLst>
                <a:ext uri="{FF2B5EF4-FFF2-40B4-BE49-F238E27FC236}">
                  <a16:creationId xmlns:a16="http://schemas.microsoft.com/office/drawing/2014/main" id="{ED68C74F-DE92-49DC-B4D2-DE6CF466B324}"/>
                </a:ext>
              </a:extLst>
            </p:cNvPr>
            <p:cNvCxnSpPr>
              <a:cxnSpLocks/>
            </p:cNvCxnSpPr>
            <p:nvPr/>
          </p:nvCxnSpPr>
          <p:spPr>
            <a:xfrm>
              <a:off x="3607221" y="2264690"/>
              <a:ext cx="0" cy="2917917"/>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1" name="Rak koppling 27">
              <a:extLst>
                <a:ext uri="{FF2B5EF4-FFF2-40B4-BE49-F238E27FC236}">
                  <a16:creationId xmlns:a16="http://schemas.microsoft.com/office/drawing/2014/main" id="{5E91D034-25A0-4741-846A-A82849369CAD}"/>
                </a:ext>
              </a:extLst>
            </p:cNvPr>
            <p:cNvCxnSpPr>
              <a:cxnSpLocks/>
              <a:stCxn id="8" idx="2"/>
            </p:cNvCxnSpPr>
            <p:nvPr/>
          </p:nvCxnSpPr>
          <p:spPr>
            <a:xfrm>
              <a:off x="5427816" y="2264691"/>
              <a:ext cx="0" cy="2896498"/>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2" name="Rak koppling 14">
              <a:extLst>
                <a:ext uri="{FF2B5EF4-FFF2-40B4-BE49-F238E27FC236}">
                  <a16:creationId xmlns:a16="http://schemas.microsoft.com/office/drawing/2014/main" id="{9114E305-1F62-45B8-95E8-00EEA3F90B71}"/>
                </a:ext>
              </a:extLst>
            </p:cNvPr>
            <p:cNvCxnSpPr>
              <a:cxnSpLocks/>
            </p:cNvCxnSpPr>
            <p:nvPr/>
          </p:nvCxnSpPr>
          <p:spPr>
            <a:xfrm>
              <a:off x="2229583" y="1486273"/>
              <a:ext cx="1109800" cy="0"/>
            </a:xfrm>
            <a:prstGeom prst="line">
              <a:avLst/>
            </a:prstGeom>
            <a:ln w="28575">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3" name="Frihandsfigur: Form 15">
              <a:extLst>
                <a:ext uri="{FF2B5EF4-FFF2-40B4-BE49-F238E27FC236}">
                  <a16:creationId xmlns:a16="http://schemas.microsoft.com/office/drawing/2014/main" id="{17A6718E-55A8-408B-92D9-0811AB48855B}"/>
                </a:ext>
              </a:extLst>
            </p:cNvPr>
            <p:cNvSpPr/>
            <p:nvPr/>
          </p:nvSpPr>
          <p:spPr>
            <a:xfrm>
              <a:off x="3339382" y="1499655"/>
              <a:ext cx="3550627" cy="2315690"/>
            </a:xfrm>
            <a:custGeom>
              <a:avLst/>
              <a:gdLst>
                <a:gd name="connsiteX0" fmla="*/ 23177 w 2690177"/>
                <a:gd name="connsiteY0" fmla="*/ 0 h 1371600"/>
                <a:gd name="connsiteX1" fmla="*/ 206057 w 2690177"/>
                <a:gd name="connsiteY1" fmla="*/ 601980 h 1371600"/>
                <a:gd name="connsiteX2" fmla="*/ 1524317 w 2690177"/>
                <a:gd name="connsiteY2" fmla="*/ 1165860 h 1371600"/>
                <a:gd name="connsiteX3" fmla="*/ 2690177 w 2690177"/>
                <a:gd name="connsiteY3" fmla="*/ 1371600 h 1371600"/>
                <a:gd name="connsiteX0" fmla="*/ 0 w 2667000"/>
                <a:gd name="connsiteY0" fmla="*/ 0 h 1371600"/>
                <a:gd name="connsiteX1" fmla="*/ 182880 w 2667000"/>
                <a:gd name="connsiteY1" fmla="*/ 601980 h 1371600"/>
                <a:gd name="connsiteX2" fmla="*/ 1501140 w 2667000"/>
                <a:gd name="connsiteY2" fmla="*/ 1165860 h 1371600"/>
                <a:gd name="connsiteX3" fmla="*/ 2667000 w 2667000"/>
                <a:gd name="connsiteY3" fmla="*/ 1371600 h 1371600"/>
                <a:gd name="connsiteX0" fmla="*/ 0 w 2667000"/>
                <a:gd name="connsiteY0" fmla="*/ 0 h 1371600"/>
                <a:gd name="connsiteX1" fmla="*/ 182880 w 2667000"/>
                <a:gd name="connsiteY1" fmla="*/ 601980 h 1371600"/>
                <a:gd name="connsiteX2" fmla="*/ 1501140 w 2667000"/>
                <a:gd name="connsiteY2" fmla="*/ 1165860 h 1371600"/>
                <a:gd name="connsiteX3" fmla="*/ 2667000 w 2667000"/>
                <a:gd name="connsiteY3" fmla="*/ 1371600 h 1371600"/>
                <a:gd name="connsiteX0" fmla="*/ 0 w 2667000"/>
                <a:gd name="connsiteY0" fmla="*/ 0 h 1371600"/>
                <a:gd name="connsiteX1" fmla="*/ 182880 w 2667000"/>
                <a:gd name="connsiteY1" fmla="*/ 601980 h 1371600"/>
                <a:gd name="connsiteX2" fmla="*/ 1501140 w 2667000"/>
                <a:gd name="connsiteY2" fmla="*/ 1165860 h 1371600"/>
                <a:gd name="connsiteX3" fmla="*/ 2667000 w 2667000"/>
                <a:gd name="connsiteY3" fmla="*/ 1371600 h 1371600"/>
                <a:gd name="connsiteX0" fmla="*/ 0 w 2667000"/>
                <a:gd name="connsiteY0" fmla="*/ 0 h 1371600"/>
                <a:gd name="connsiteX1" fmla="*/ 182880 w 2667000"/>
                <a:gd name="connsiteY1" fmla="*/ 601980 h 1371600"/>
                <a:gd name="connsiteX2" fmla="*/ 1501140 w 2667000"/>
                <a:gd name="connsiteY2" fmla="*/ 1165860 h 1371600"/>
                <a:gd name="connsiteX3" fmla="*/ 2667000 w 2667000"/>
                <a:gd name="connsiteY3" fmla="*/ 1371600 h 1371600"/>
                <a:gd name="connsiteX0" fmla="*/ 0 w 2667000"/>
                <a:gd name="connsiteY0" fmla="*/ 0 h 1371600"/>
                <a:gd name="connsiteX1" fmla="*/ 268605 w 2667000"/>
                <a:gd name="connsiteY1" fmla="*/ 599599 h 1371600"/>
                <a:gd name="connsiteX2" fmla="*/ 1501140 w 2667000"/>
                <a:gd name="connsiteY2" fmla="*/ 1165860 h 1371600"/>
                <a:gd name="connsiteX3" fmla="*/ 2667000 w 2667000"/>
                <a:gd name="connsiteY3" fmla="*/ 1371600 h 1371600"/>
                <a:gd name="connsiteX0" fmla="*/ 0 w 2667000"/>
                <a:gd name="connsiteY0" fmla="*/ 0 h 1371600"/>
                <a:gd name="connsiteX1" fmla="*/ 268605 w 2667000"/>
                <a:gd name="connsiteY1" fmla="*/ 599599 h 1371600"/>
                <a:gd name="connsiteX2" fmla="*/ 1501140 w 2667000"/>
                <a:gd name="connsiteY2" fmla="*/ 1165860 h 1371600"/>
                <a:gd name="connsiteX3" fmla="*/ 2667000 w 2667000"/>
                <a:gd name="connsiteY3" fmla="*/ 1371600 h 1371600"/>
                <a:gd name="connsiteX0" fmla="*/ 0 w 2667000"/>
                <a:gd name="connsiteY0" fmla="*/ 0 h 1371600"/>
                <a:gd name="connsiteX1" fmla="*/ 268605 w 2667000"/>
                <a:gd name="connsiteY1" fmla="*/ 599599 h 1371600"/>
                <a:gd name="connsiteX2" fmla="*/ 1501140 w 2667000"/>
                <a:gd name="connsiteY2" fmla="*/ 1165860 h 1371600"/>
                <a:gd name="connsiteX3" fmla="*/ 2667000 w 2667000"/>
                <a:gd name="connsiteY3" fmla="*/ 1371600 h 1371600"/>
                <a:gd name="connsiteX0" fmla="*/ 0 w 2667000"/>
                <a:gd name="connsiteY0" fmla="*/ 0 h 1371600"/>
                <a:gd name="connsiteX1" fmla="*/ 268605 w 2667000"/>
                <a:gd name="connsiteY1" fmla="*/ 599599 h 1371600"/>
                <a:gd name="connsiteX2" fmla="*/ 1501140 w 2667000"/>
                <a:gd name="connsiteY2" fmla="*/ 1165860 h 1371600"/>
                <a:gd name="connsiteX3" fmla="*/ 2667000 w 2667000"/>
                <a:gd name="connsiteY3" fmla="*/ 1371600 h 1371600"/>
                <a:gd name="connsiteX0" fmla="*/ 0 w 2667000"/>
                <a:gd name="connsiteY0" fmla="*/ 0 h 1371600"/>
                <a:gd name="connsiteX1" fmla="*/ 401955 w 2667000"/>
                <a:gd name="connsiteY1" fmla="*/ 688499 h 1371600"/>
                <a:gd name="connsiteX2" fmla="*/ 1501140 w 2667000"/>
                <a:gd name="connsiteY2" fmla="*/ 1165860 h 1371600"/>
                <a:gd name="connsiteX3" fmla="*/ 2667000 w 2667000"/>
                <a:gd name="connsiteY3" fmla="*/ 1371600 h 1371600"/>
                <a:gd name="connsiteX0" fmla="*/ 0 w 2667000"/>
                <a:gd name="connsiteY0" fmla="*/ 0 h 1371600"/>
                <a:gd name="connsiteX1" fmla="*/ 435126 w 2667000"/>
                <a:gd name="connsiteY1" fmla="*/ 669449 h 1371600"/>
                <a:gd name="connsiteX2" fmla="*/ 1501140 w 2667000"/>
                <a:gd name="connsiteY2" fmla="*/ 1165860 h 1371600"/>
                <a:gd name="connsiteX3" fmla="*/ 2667000 w 2667000"/>
                <a:gd name="connsiteY3" fmla="*/ 1371600 h 1371600"/>
                <a:gd name="connsiteX0" fmla="*/ 0 w 2667000"/>
                <a:gd name="connsiteY0" fmla="*/ 0 h 1371600"/>
                <a:gd name="connsiteX1" fmla="*/ 435126 w 2667000"/>
                <a:gd name="connsiteY1" fmla="*/ 669449 h 1371600"/>
                <a:gd name="connsiteX2" fmla="*/ 1501140 w 2667000"/>
                <a:gd name="connsiteY2" fmla="*/ 1134110 h 1371600"/>
                <a:gd name="connsiteX3" fmla="*/ 2667000 w 2667000"/>
                <a:gd name="connsiteY3" fmla="*/ 1371600 h 1371600"/>
                <a:gd name="connsiteX0" fmla="*/ 0 w 2680269"/>
                <a:gd name="connsiteY0" fmla="*/ 0 h 1346200"/>
                <a:gd name="connsiteX1" fmla="*/ 435126 w 2680269"/>
                <a:gd name="connsiteY1" fmla="*/ 669449 h 1346200"/>
                <a:gd name="connsiteX2" fmla="*/ 1501140 w 2680269"/>
                <a:gd name="connsiteY2" fmla="*/ 1134110 h 1346200"/>
                <a:gd name="connsiteX3" fmla="*/ 2680269 w 2680269"/>
                <a:gd name="connsiteY3" fmla="*/ 1346200 h 1346200"/>
                <a:gd name="connsiteX0" fmla="*/ 0 w 2680269"/>
                <a:gd name="connsiteY0" fmla="*/ 0 h 1346200"/>
                <a:gd name="connsiteX1" fmla="*/ 435126 w 2680269"/>
                <a:gd name="connsiteY1" fmla="*/ 669449 h 1346200"/>
                <a:gd name="connsiteX2" fmla="*/ 1501140 w 2680269"/>
                <a:gd name="connsiteY2" fmla="*/ 1134110 h 1346200"/>
                <a:gd name="connsiteX3" fmla="*/ 2680269 w 2680269"/>
                <a:gd name="connsiteY3" fmla="*/ 1346200 h 1346200"/>
              </a:gdLst>
              <a:ahLst/>
              <a:cxnLst>
                <a:cxn ang="0">
                  <a:pos x="connsiteX0" y="connsiteY0"/>
                </a:cxn>
                <a:cxn ang="0">
                  <a:pos x="connsiteX1" y="connsiteY1"/>
                </a:cxn>
                <a:cxn ang="0">
                  <a:pos x="connsiteX2" y="connsiteY2"/>
                </a:cxn>
                <a:cxn ang="0">
                  <a:pos x="connsiteX3" y="connsiteY3"/>
                </a:cxn>
              </a:cxnLst>
              <a:rect l="l" t="t" r="r" b="b"/>
              <a:pathLst>
                <a:path w="2680269" h="1346200">
                  <a:moveTo>
                    <a:pt x="0" y="0"/>
                  </a:moveTo>
                  <a:cubicBezTo>
                    <a:pt x="85408" y="291941"/>
                    <a:pt x="184936" y="480431"/>
                    <a:pt x="435126" y="669449"/>
                  </a:cubicBezTo>
                  <a:cubicBezTo>
                    <a:pt x="685316" y="858467"/>
                    <a:pt x="1087120" y="1005840"/>
                    <a:pt x="1501140" y="1134110"/>
                  </a:cubicBezTo>
                  <a:cubicBezTo>
                    <a:pt x="1934210" y="1250474"/>
                    <a:pt x="2252980" y="1322546"/>
                    <a:pt x="2680269" y="1346200"/>
                  </a:cubicBezTo>
                </a:path>
              </a:pathLst>
            </a:custGeom>
            <a:noFill/>
            <a:ln w="28575">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Times New Roman" panose="02020603050405020304" pitchFamily="18" charset="0"/>
                <a:cs typeface="Times New Roman" panose="02020603050405020304" pitchFamily="18" charset="0"/>
              </a:endParaRPr>
            </a:p>
          </p:txBody>
        </p:sp>
        <p:sp>
          <p:nvSpPr>
            <p:cNvPr id="14" name="Ellips 34">
              <a:extLst>
                <a:ext uri="{FF2B5EF4-FFF2-40B4-BE49-F238E27FC236}">
                  <a16:creationId xmlns:a16="http://schemas.microsoft.com/office/drawing/2014/main" id="{68F6B4D0-9109-4501-958A-725AF79D5F34}"/>
                </a:ext>
              </a:extLst>
            </p:cNvPr>
            <p:cNvSpPr/>
            <p:nvPr/>
          </p:nvSpPr>
          <p:spPr>
            <a:xfrm>
              <a:off x="2358853" y="1456931"/>
              <a:ext cx="101592" cy="9890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200"/>
                </a:spcBef>
              </a:pPr>
              <a:endParaRPr lang="en-GB" sz="1600" err="1">
                <a:latin typeface="Times New Roman" panose="02020603050405020304" pitchFamily="18" charset="0"/>
                <a:cs typeface="Times New Roman" panose="02020603050405020304" pitchFamily="18" charset="0"/>
              </a:endParaRPr>
            </a:p>
          </p:txBody>
        </p:sp>
        <p:sp>
          <p:nvSpPr>
            <p:cNvPr id="15" name="Ellips 33">
              <a:extLst>
                <a:ext uri="{FF2B5EF4-FFF2-40B4-BE49-F238E27FC236}">
                  <a16:creationId xmlns:a16="http://schemas.microsoft.com/office/drawing/2014/main" id="{FD9E4E18-5EB1-4E7C-9A2B-B962CBE29CB9}"/>
                </a:ext>
              </a:extLst>
            </p:cNvPr>
            <p:cNvSpPr/>
            <p:nvPr/>
          </p:nvSpPr>
          <p:spPr>
            <a:xfrm>
              <a:off x="3596606" y="4445341"/>
              <a:ext cx="101592" cy="9890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200"/>
                </a:spcBef>
              </a:pPr>
              <a:endParaRPr lang="en-GB" sz="1600" err="1">
                <a:latin typeface="Times New Roman" panose="02020603050405020304" pitchFamily="18" charset="0"/>
                <a:cs typeface="Times New Roman" panose="02020603050405020304" pitchFamily="18" charset="0"/>
              </a:endParaRPr>
            </a:p>
          </p:txBody>
        </p:sp>
        <p:sp>
          <p:nvSpPr>
            <p:cNvPr id="16" name="Ellips 20">
              <a:extLst>
                <a:ext uri="{FF2B5EF4-FFF2-40B4-BE49-F238E27FC236}">
                  <a16:creationId xmlns:a16="http://schemas.microsoft.com/office/drawing/2014/main" id="{F7758134-56B0-41CF-B7EB-9809A17FABAE}"/>
                </a:ext>
              </a:extLst>
            </p:cNvPr>
            <p:cNvSpPr/>
            <p:nvPr/>
          </p:nvSpPr>
          <p:spPr>
            <a:xfrm>
              <a:off x="3574177" y="2263684"/>
              <a:ext cx="101592" cy="9890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200"/>
                </a:spcBef>
              </a:pPr>
              <a:endParaRPr lang="en-GB" sz="1600" err="1">
                <a:latin typeface="Times New Roman" panose="02020603050405020304" pitchFamily="18" charset="0"/>
                <a:cs typeface="Times New Roman" panose="02020603050405020304" pitchFamily="18" charset="0"/>
              </a:endParaRPr>
            </a:p>
          </p:txBody>
        </p:sp>
        <p:sp>
          <p:nvSpPr>
            <p:cNvPr id="17" name="Ellips 21">
              <a:extLst>
                <a:ext uri="{FF2B5EF4-FFF2-40B4-BE49-F238E27FC236}">
                  <a16:creationId xmlns:a16="http://schemas.microsoft.com/office/drawing/2014/main" id="{D76009EC-4A77-46EA-8FB7-21B5D2A9BC41}"/>
                </a:ext>
              </a:extLst>
            </p:cNvPr>
            <p:cNvSpPr/>
            <p:nvPr/>
          </p:nvSpPr>
          <p:spPr>
            <a:xfrm>
              <a:off x="3556425" y="3633767"/>
              <a:ext cx="101592" cy="9890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200"/>
                </a:spcBef>
              </a:pPr>
              <a:endParaRPr lang="en-GB" sz="1600" err="1">
                <a:latin typeface="Times New Roman" panose="02020603050405020304" pitchFamily="18" charset="0"/>
                <a:cs typeface="Times New Roman" panose="02020603050405020304" pitchFamily="18" charset="0"/>
              </a:endParaRPr>
            </a:p>
          </p:txBody>
        </p:sp>
        <p:sp>
          <p:nvSpPr>
            <p:cNvPr id="18" name="textruta 25">
              <a:extLst>
                <a:ext uri="{FF2B5EF4-FFF2-40B4-BE49-F238E27FC236}">
                  <a16:creationId xmlns:a16="http://schemas.microsoft.com/office/drawing/2014/main" id="{4820FDC1-A94B-4571-8C94-67E257355A17}"/>
                </a:ext>
              </a:extLst>
            </p:cNvPr>
            <p:cNvSpPr txBox="1"/>
            <p:nvPr/>
          </p:nvSpPr>
          <p:spPr>
            <a:xfrm>
              <a:off x="3615118" y="3591085"/>
              <a:ext cx="1317136" cy="602052"/>
            </a:xfrm>
            <a:prstGeom prst="rect">
              <a:avLst/>
            </a:prstGeom>
            <a:noFill/>
          </p:spPr>
          <p:txBody>
            <a:bodyPr wrap="square" rtlCol="0">
              <a:spAutoFit/>
            </a:bodyPr>
            <a:lstStyle/>
            <a:p>
              <a:pPr>
                <a:lnSpc>
                  <a:spcPct val="90000"/>
                </a:lnSpc>
                <a:spcBef>
                  <a:spcPts val="1200"/>
                </a:spcBef>
              </a:pPr>
              <a:r>
                <a:rPr lang="en-GB" sz="500" dirty="0">
                  <a:solidFill>
                    <a:schemeClr val="accent1"/>
                  </a:solidFill>
                  <a:latin typeface="Times New Roman" panose="02020603050405020304" pitchFamily="18" charset="0"/>
                  <a:cs typeface="Times New Roman" panose="02020603050405020304" pitchFamily="18" charset="0"/>
                </a:rPr>
                <a:t>50% of power</a:t>
              </a:r>
            </a:p>
          </p:txBody>
        </p:sp>
        <p:cxnSp>
          <p:nvCxnSpPr>
            <p:cNvPr id="19" name="Straight Connector 18">
              <a:extLst>
                <a:ext uri="{FF2B5EF4-FFF2-40B4-BE49-F238E27FC236}">
                  <a16:creationId xmlns:a16="http://schemas.microsoft.com/office/drawing/2014/main" id="{A59AFAE5-8D97-40E8-8647-B091F5A1C786}"/>
                </a:ext>
              </a:extLst>
            </p:cNvPr>
            <p:cNvCxnSpPr>
              <a:cxnSpLocks/>
            </p:cNvCxnSpPr>
            <p:nvPr/>
          </p:nvCxnSpPr>
          <p:spPr>
            <a:xfrm flipV="1">
              <a:off x="6879412" y="781538"/>
              <a:ext cx="10597" cy="4400064"/>
            </a:xfrm>
            <a:prstGeom prst="line">
              <a:avLst/>
            </a:prstGeom>
            <a:ln w="15875" cap="flat" cmpd="sng" algn="ctr">
              <a:solidFill>
                <a:srgbClr val="0070C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 name="Straight Connector 19">
              <a:extLst>
                <a:ext uri="{FF2B5EF4-FFF2-40B4-BE49-F238E27FC236}">
                  <a16:creationId xmlns:a16="http://schemas.microsoft.com/office/drawing/2014/main" id="{E17970C9-0287-4EE9-B410-6350F077910E}"/>
                </a:ext>
              </a:extLst>
            </p:cNvPr>
            <p:cNvCxnSpPr>
              <a:cxnSpLocks/>
            </p:cNvCxnSpPr>
            <p:nvPr/>
          </p:nvCxnSpPr>
          <p:spPr>
            <a:xfrm>
              <a:off x="2229583" y="5181600"/>
              <a:ext cx="4649829"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1" name="textruta 24">
              <a:extLst>
                <a:ext uri="{FF2B5EF4-FFF2-40B4-BE49-F238E27FC236}">
                  <a16:creationId xmlns:a16="http://schemas.microsoft.com/office/drawing/2014/main" id="{9FF17B5D-4686-4A65-A133-67B17E21A08D}"/>
                </a:ext>
              </a:extLst>
            </p:cNvPr>
            <p:cNvSpPr txBox="1"/>
            <p:nvPr/>
          </p:nvSpPr>
          <p:spPr>
            <a:xfrm>
              <a:off x="3559547" y="2056747"/>
              <a:ext cx="1368985" cy="602052"/>
            </a:xfrm>
            <a:prstGeom prst="rect">
              <a:avLst/>
            </a:prstGeom>
            <a:noFill/>
          </p:spPr>
          <p:txBody>
            <a:bodyPr wrap="square" rtlCol="0">
              <a:spAutoFit/>
            </a:bodyPr>
            <a:lstStyle/>
            <a:p>
              <a:pPr>
                <a:lnSpc>
                  <a:spcPct val="90000"/>
                </a:lnSpc>
                <a:spcBef>
                  <a:spcPts val="1200"/>
                </a:spcBef>
              </a:pPr>
              <a:r>
                <a:rPr lang="en-GB" sz="500" dirty="0">
                  <a:solidFill>
                    <a:schemeClr val="accent1"/>
                  </a:solidFill>
                  <a:latin typeface="Times New Roman" panose="02020603050405020304" pitchFamily="18" charset="0"/>
                  <a:cs typeface="Times New Roman" panose="02020603050405020304" pitchFamily="18" charset="0"/>
                </a:rPr>
                <a:t>100% of power</a:t>
              </a:r>
            </a:p>
          </p:txBody>
        </p:sp>
        <p:sp>
          <p:nvSpPr>
            <p:cNvPr id="22" name="textruta 23">
              <a:extLst>
                <a:ext uri="{FF2B5EF4-FFF2-40B4-BE49-F238E27FC236}">
                  <a16:creationId xmlns:a16="http://schemas.microsoft.com/office/drawing/2014/main" id="{E7C69A9B-3E5A-437E-A102-834ED849E34B}"/>
                </a:ext>
              </a:extLst>
            </p:cNvPr>
            <p:cNvSpPr txBox="1"/>
            <p:nvPr/>
          </p:nvSpPr>
          <p:spPr>
            <a:xfrm>
              <a:off x="3731591" y="4384230"/>
              <a:ext cx="1196941" cy="602052"/>
            </a:xfrm>
            <a:prstGeom prst="rect">
              <a:avLst/>
            </a:prstGeom>
            <a:noFill/>
          </p:spPr>
          <p:txBody>
            <a:bodyPr wrap="square" rtlCol="0">
              <a:spAutoFit/>
            </a:bodyPr>
            <a:lstStyle/>
            <a:p>
              <a:pPr>
                <a:lnSpc>
                  <a:spcPct val="90000"/>
                </a:lnSpc>
                <a:spcBef>
                  <a:spcPts val="1200"/>
                </a:spcBef>
              </a:pPr>
              <a:r>
                <a:rPr lang="en-GB" sz="500" dirty="0">
                  <a:solidFill>
                    <a:schemeClr val="accent1"/>
                  </a:solidFill>
                  <a:latin typeface="Times New Roman" panose="02020603050405020304" pitchFamily="18" charset="0"/>
                  <a:cs typeface="Times New Roman" panose="02020603050405020304" pitchFamily="18" charset="0"/>
                </a:rPr>
                <a:t>25% of power</a:t>
              </a:r>
            </a:p>
          </p:txBody>
        </p:sp>
        <p:cxnSp>
          <p:nvCxnSpPr>
            <p:cNvPr id="23" name="Straight Connector 22">
              <a:extLst>
                <a:ext uri="{FF2B5EF4-FFF2-40B4-BE49-F238E27FC236}">
                  <a16:creationId xmlns:a16="http://schemas.microsoft.com/office/drawing/2014/main" id="{1214A003-6BCE-450C-BC7E-A85BBB258775}"/>
                </a:ext>
              </a:extLst>
            </p:cNvPr>
            <p:cNvCxnSpPr>
              <a:cxnSpLocks/>
            </p:cNvCxnSpPr>
            <p:nvPr/>
          </p:nvCxnSpPr>
          <p:spPr>
            <a:xfrm flipV="1">
              <a:off x="5427816" y="2242804"/>
              <a:ext cx="1451596" cy="4811"/>
            </a:xfrm>
            <a:prstGeom prst="line">
              <a:avLst/>
            </a:prstGeom>
            <a:ln w="9525" cap="flat" cmpd="sng" algn="ctr">
              <a:solidFill>
                <a:srgbClr val="0070C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4" name="TextBox 23">
              <a:extLst>
                <a:ext uri="{FF2B5EF4-FFF2-40B4-BE49-F238E27FC236}">
                  <a16:creationId xmlns:a16="http://schemas.microsoft.com/office/drawing/2014/main" id="{AA28F72E-65C6-4B48-9D2E-0F7E5238F750}"/>
                </a:ext>
              </a:extLst>
            </p:cNvPr>
            <p:cNvSpPr txBox="1"/>
            <p:nvPr/>
          </p:nvSpPr>
          <p:spPr>
            <a:xfrm>
              <a:off x="3362302" y="5215502"/>
              <a:ext cx="995005" cy="529808"/>
            </a:xfrm>
            <a:prstGeom prst="rect">
              <a:avLst/>
            </a:prstGeom>
            <a:noFill/>
          </p:spPr>
          <p:txBody>
            <a:bodyPr wrap="none" rtlCol="0">
              <a:spAutoFit/>
            </a:bodyPr>
            <a:lstStyle/>
            <a:p>
              <a:pPr>
                <a:lnSpc>
                  <a:spcPct val="90000"/>
                </a:lnSpc>
                <a:spcBef>
                  <a:spcPts val="1200"/>
                </a:spcBef>
              </a:pPr>
              <a:r>
                <a:rPr lang="sv-SE" sz="800" dirty="0">
                  <a:solidFill>
                    <a:schemeClr val="accent1"/>
                  </a:solidFill>
                  <a:latin typeface="Times New Roman" panose="02020603050405020304" pitchFamily="18" charset="0"/>
                  <a:cs typeface="Times New Roman" panose="02020603050405020304" pitchFamily="18" charset="0"/>
                </a:rPr>
                <a:t>2000</a:t>
              </a:r>
            </a:p>
          </p:txBody>
        </p:sp>
        <p:sp>
          <p:nvSpPr>
            <p:cNvPr id="25" name="TextBox 24">
              <a:extLst>
                <a:ext uri="{FF2B5EF4-FFF2-40B4-BE49-F238E27FC236}">
                  <a16:creationId xmlns:a16="http://schemas.microsoft.com/office/drawing/2014/main" id="{B998C7C4-9364-4106-8DFF-0B2B7D439622}"/>
                </a:ext>
              </a:extLst>
            </p:cNvPr>
            <p:cNvSpPr txBox="1"/>
            <p:nvPr/>
          </p:nvSpPr>
          <p:spPr>
            <a:xfrm>
              <a:off x="5098241" y="5228728"/>
              <a:ext cx="995005" cy="529808"/>
            </a:xfrm>
            <a:prstGeom prst="rect">
              <a:avLst/>
            </a:prstGeom>
            <a:noFill/>
          </p:spPr>
          <p:txBody>
            <a:bodyPr wrap="none" rtlCol="0">
              <a:spAutoFit/>
            </a:bodyPr>
            <a:lstStyle/>
            <a:p>
              <a:pPr>
                <a:lnSpc>
                  <a:spcPct val="90000"/>
                </a:lnSpc>
                <a:spcBef>
                  <a:spcPts val="1200"/>
                </a:spcBef>
              </a:pPr>
              <a:r>
                <a:rPr lang="sv-SE" sz="800" dirty="0">
                  <a:solidFill>
                    <a:schemeClr val="accent1"/>
                  </a:solidFill>
                  <a:latin typeface="Times New Roman" panose="02020603050405020304" pitchFamily="18" charset="0"/>
                  <a:cs typeface="Times New Roman" panose="02020603050405020304" pitchFamily="18" charset="0"/>
                </a:rPr>
                <a:t>4500</a:t>
              </a:r>
            </a:p>
          </p:txBody>
        </p:sp>
        <p:sp>
          <p:nvSpPr>
            <p:cNvPr id="26" name="TextBox 25">
              <a:extLst>
                <a:ext uri="{FF2B5EF4-FFF2-40B4-BE49-F238E27FC236}">
                  <a16:creationId xmlns:a16="http://schemas.microsoft.com/office/drawing/2014/main" id="{34FB8E8A-710C-4C9D-9685-2971DDA008EE}"/>
                </a:ext>
              </a:extLst>
            </p:cNvPr>
            <p:cNvSpPr txBox="1"/>
            <p:nvPr/>
          </p:nvSpPr>
          <p:spPr>
            <a:xfrm>
              <a:off x="1579131" y="1384042"/>
              <a:ext cx="995005" cy="529808"/>
            </a:xfrm>
            <a:prstGeom prst="rect">
              <a:avLst/>
            </a:prstGeom>
            <a:noFill/>
          </p:spPr>
          <p:txBody>
            <a:bodyPr wrap="none" rtlCol="0">
              <a:spAutoFit/>
            </a:bodyPr>
            <a:lstStyle/>
            <a:p>
              <a:pPr>
                <a:lnSpc>
                  <a:spcPct val="90000"/>
                </a:lnSpc>
                <a:spcBef>
                  <a:spcPts val="1200"/>
                </a:spcBef>
              </a:pPr>
              <a:r>
                <a:rPr lang="sv-SE" sz="800" dirty="0">
                  <a:solidFill>
                    <a:schemeClr val="accent1"/>
                  </a:solidFill>
                  <a:latin typeface="Times New Roman" panose="02020603050405020304" pitchFamily="18" charset="0"/>
                  <a:cs typeface="Times New Roman" panose="02020603050405020304" pitchFamily="18" charset="0"/>
                </a:rPr>
                <a:t>2500</a:t>
              </a:r>
            </a:p>
          </p:txBody>
        </p:sp>
        <p:sp>
          <p:nvSpPr>
            <p:cNvPr id="27" name="TextBox 26">
              <a:extLst>
                <a:ext uri="{FF2B5EF4-FFF2-40B4-BE49-F238E27FC236}">
                  <a16:creationId xmlns:a16="http://schemas.microsoft.com/office/drawing/2014/main" id="{861070D9-D996-41AE-B78B-F6DF1BFF2159}"/>
                </a:ext>
              </a:extLst>
            </p:cNvPr>
            <p:cNvSpPr txBox="1"/>
            <p:nvPr/>
          </p:nvSpPr>
          <p:spPr>
            <a:xfrm rot="16200000">
              <a:off x="1065888" y="2653139"/>
              <a:ext cx="1894794" cy="518452"/>
            </a:xfrm>
            <a:prstGeom prst="rect">
              <a:avLst/>
            </a:prstGeom>
            <a:noFill/>
          </p:spPr>
          <p:txBody>
            <a:bodyPr wrap="none" rtlCol="0">
              <a:spAutoFit/>
            </a:bodyPr>
            <a:lstStyle/>
            <a:p>
              <a:pPr>
                <a:lnSpc>
                  <a:spcPct val="90000"/>
                </a:lnSpc>
                <a:spcBef>
                  <a:spcPts val="1200"/>
                </a:spcBef>
              </a:pPr>
              <a:r>
                <a:rPr lang="sv-SE" sz="800" dirty="0" err="1">
                  <a:solidFill>
                    <a:schemeClr val="accent1"/>
                  </a:solidFill>
                  <a:latin typeface="Times New Roman" panose="02020603050405020304" pitchFamily="18" charset="0"/>
                  <a:cs typeface="Times New Roman" panose="02020603050405020304" pitchFamily="18" charset="0"/>
                </a:rPr>
                <a:t>Torque</a:t>
              </a:r>
              <a:r>
                <a:rPr lang="sv-SE" sz="800" dirty="0">
                  <a:solidFill>
                    <a:schemeClr val="accent1"/>
                  </a:solidFill>
                  <a:latin typeface="Times New Roman" panose="02020603050405020304" pitchFamily="18" charset="0"/>
                  <a:cs typeface="Times New Roman" panose="02020603050405020304" pitchFamily="18" charset="0"/>
                </a:rPr>
                <a:t> [Nm]</a:t>
              </a:r>
            </a:p>
          </p:txBody>
        </p:sp>
        <p:sp>
          <p:nvSpPr>
            <p:cNvPr id="28" name="TextBox 27">
              <a:extLst>
                <a:ext uri="{FF2B5EF4-FFF2-40B4-BE49-F238E27FC236}">
                  <a16:creationId xmlns:a16="http://schemas.microsoft.com/office/drawing/2014/main" id="{7DD1E063-126C-4B74-ACDE-399D3E43EC9A}"/>
                </a:ext>
              </a:extLst>
            </p:cNvPr>
            <p:cNvSpPr txBox="1"/>
            <p:nvPr/>
          </p:nvSpPr>
          <p:spPr>
            <a:xfrm rot="16200000">
              <a:off x="6298367" y="3007259"/>
              <a:ext cx="1790271" cy="518452"/>
            </a:xfrm>
            <a:prstGeom prst="rect">
              <a:avLst/>
            </a:prstGeom>
            <a:noFill/>
            <a:ln>
              <a:noFill/>
            </a:ln>
          </p:spPr>
          <p:txBody>
            <a:bodyPr wrap="none" rtlCol="0">
              <a:spAutoFit/>
            </a:bodyPr>
            <a:lstStyle/>
            <a:p>
              <a:pPr>
                <a:lnSpc>
                  <a:spcPct val="90000"/>
                </a:lnSpc>
                <a:spcBef>
                  <a:spcPts val="1200"/>
                </a:spcBef>
              </a:pPr>
              <a:r>
                <a:rPr lang="sv-SE" sz="800" dirty="0">
                  <a:solidFill>
                    <a:schemeClr val="accent1">
                      <a:lumMod val="75000"/>
                      <a:lumOff val="25000"/>
                    </a:schemeClr>
                  </a:solidFill>
                  <a:latin typeface="Times New Roman" panose="02020603050405020304" pitchFamily="18" charset="0"/>
                  <a:cs typeface="Times New Roman" panose="02020603050405020304" pitchFamily="18" charset="0"/>
                </a:rPr>
                <a:t>Power [kW]</a:t>
              </a:r>
            </a:p>
          </p:txBody>
        </p:sp>
        <p:sp>
          <p:nvSpPr>
            <p:cNvPr id="29" name="TextBox 28">
              <a:extLst>
                <a:ext uri="{FF2B5EF4-FFF2-40B4-BE49-F238E27FC236}">
                  <a16:creationId xmlns:a16="http://schemas.microsoft.com/office/drawing/2014/main" id="{C946DA04-A823-4488-9B8D-F8F2AD2E0864}"/>
                </a:ext>
              </a:extLst>
            </p:cNvPr>
            <p:cNvSpPr txBox="1"/>
            <p:nvPr/>
          </p:nvSpPr>
          <p:spPr>
            <a:xfrm>
              <a:off x="6890029" y="2117901"/>
              <a:ext cx="864084" cy="529808"/>
            </a:xfrm>
            <a:prstGeom prst="rect">
              <a:avLst/>
            </a:prstGeom>
            <a:noFill/>
          </p:spPr>
          <p:txBody>
            <a:bodyPr wrap="none" rtlCol="0">
              <a:spAutoFit/>
            </a:bodyPr>
            <a:lstStyle/>
            <a:p>
              <a:pPr>
                <a:lnSpc>
                  <a:spcPct val="90000"/>
                </a:lnSpc>
                <a:spcBef>
                  <a:spcPts val="1200"/>
                </a:spcBef>
              </a:pPr>
              <a:r>
                <a:rPr lang="sv-SE" sz="800" dirty="0">
                  <a:solidFill>
                    <a:schemeClr val="accent1"/>
                  </a:solidFill>
                  <a:latin typeface="Times New Roman" panose="02020603050405020304" pitchFamily="18" charset="0"/>
                  <a:cs typeface="Times New Roman" panose="02020603050405020304" pitchFamily="18" charset="0"/>
                </a:rPr>
                <a:t>600</a:t>
              </a:r>
            </a:p>
          </p:txBody>
        </p:sp>
        <p:sp>
          <p:nvSpPr>
            <p:cNvPr id="30" name="TextBox 29">
              <a:extLst>
                <a:ext uri="{FF2B5EF4-FFF2-40B4-BE49-F238E27FC236}">
                  <a16:creationId xmlns:a16="http://schemas.microsoft.com/office/drawing/2014/main" id="{B7B96961-C5A2-449B-B047-032BC9230B8C}"/>
                </a:ext>
              </a:extLst>
            </p:cNvPr>
            <p:cNvSpPr txBox="1"/>
            <p:nvPr/>
          </p:nvSpPr>
          <p:spPr>
            <a:xfrm>
              <a:off x="4278611" y="5413413"/>
              <a:ext cx="2050563" cy="602052"/>
            </a:xfrm>
            <a:prstGeom prst="rect">
              <a:avLst/>
            </a:prstGeom>
            <a:noFill/>
          </p:spPr>
          <p:txBody>
            <a:bodyPr wrap="none" rtlCol="0">
              <a:spAutoFit/>
            </a:bodyPr>
            <a:lstStyle/>
            <a:p>
              <a:pPr>
                <a:lnSpc>
                  <a:spcPct val="90000"/>
                </a:lnSpc>
                <a:spcBef>
                  <a:spcPts val="1200"/>
                </a:spcBef>
              </a:pPr>
              <a:r>
                <a:rPr lang="sv-SE" sz="1000" dirty="0">
                  <a:solidFill>
                    <a:schemeClr val="accent1"/>
                  </a:solidFill>
                  <a:latin typeface="Times New Roman" panose="02020603050405020304" pitchFamily="18" charset="0"/>
                  <a:cs typeface="Times New Roman" panose="02020603050405020304" pitchFamily="18" charset="0"/>
                </a:rPr>
                <a:t>speed [rpm]</a:t>
              </a:r>
            </a:p>
          </p:txBody>
        </p:sp>
        <p:sp>
          <p:nvSpPr>
            <p:cNvPr id="31" name="TextBox 30">
              <a:extLst>
                <a:ext uri="{FF2B5EF4-FFF2-40B4-BE49-F238E27FC236}">
                  <a16:creationId xmlns:a16="http://schemas.microsoft.com/office/drawing/2014/main" id="{F42F694C-2652-4498-8284-0EBB53E8A4CB}"/>
                </a:ext>
              </a:extLst>
            </p:cNvPr>
            <p:cNvSpPr txBox="1"/>
            <p:nvPr/>
          </p:nvSpPr>
          <p:spPr>
            <a:xfrm>
              <a:off x="6565101" y="5222427"/>
              <a:ext cx="995005" cy="529808"/>
            </a:xfrm>
            <a:prstGeom prst="rect">
              <a:avLst/>
            </a:prstGeom>
            <a:noFill/>
          </p:spPr>
          <p:txBody>
            <a:bodyPr wrap="none" rtlCol="0">
              <a:spAutoFit/>
            </a:bodyPr>
            <a:lstStyle/>
            <a:p>
              <a:pPr>
                <a:lnSpc>
                  <a:spcPct val="90000"/>
                </a:lnSpc>
                <a:spcBef>
                  <a:spcPts val="1200"/>
                </a:spcBef>
              </a:pPr>
              <a:r>
                <a:rPr lang="sv-SE" sz="800" dirty="0">
                  <a:solidFill>
                    <a:schemeClr val="accent1"/>
                  </a:solidFill>
                  <a:latin typeface="Times New Roman" panose="02020603050405020304" pitchFamily="18" charset="0"/>
                  <a:cs typeface="Times New Roman" panose="02020603050405020304" pitchFamily="18" charset="0"/>
                </a:rPr>
                <a:t>6000</a:t>
              </a:r>
            </a:p>
          </p:txBody>
        </p:sp>
        <p:sp>
          <p:nvSpPr>
            <p:cNvPr id="32" name="Ellips 32">
              <a:extLst>
                <a:ext uri="{FF2B5EF4-FFF2-40B4-BE49-F238E27FC236}">
                  <a16:creationId xmlns:a16="http://schemas.microsoft.com/office/drawing/2014/main" id="{36D60676-47A5-4BEA-9B8F-EA6782096899}"/>
                </a:ext>
              </a:extLst>
            </p:cNvPr>
            <p:cNvSpPr/>
            <p:nvPr/>
          </p:nvSpPr>
          <p:spPr>
            <a:xfrm>
              <a:off x="5376519" y="3462959"/>
              <a:ext cx="101592" cy="9890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200"/>
                </a:spcBef>
              </a:pPr>
              <a:endParaRPr lang="en-GB" sz="1600" err="1">
                <a:latin typeface="Times New Roman" panose="02020603050405020304" pitchFamily="18" charset="0"/>
                <a:cs typeface="Times New Roman" panose="02020603050405020304" pitchFamily="18" charset="0"/>
              </a:endParaRPr>
            </a:p>
          </p:txBody>
        </p:sp>
        <p:sp>
          <p:nvSpPr>
            <p:cNvPr id="33" name="textruta 44">
              <a:extLst>
                <a:ext uri="{FF2B5EF4-FFF2-40B4-BE49-F238E27FC236}">
                  <a16:creationId xmlns:a16="http://schemas.microsoft.com/office/drawing/2014/main" id="{0987F06F-8059-4FFB-98F6-309396899C94}"/>
                </a:ext>
              </a:extLst>
            </p:cNvPr>
            <p:cNvSpPr txBox="1"/>
            <p:nvPr/>
          </p:nvSpPr>
          <p:spPr>
            <a:xfrm>
              <a:off x="5460958" y="3361935"/>
              <a:ext cx="1718907" cy="421438"/>
            </a:xfrm>
            <a:prstGeom prst="rect">
              <a:avLst/>
            </a:prstGeom>
            <a:noFill/>
          </p:spPr>
          <p:txBody>
            <a:bodyPr wrap="square" rtlCol="0">
              <a:spAutoFit/>
            </a:bodyPr>
            <a:lstStyle/>
            <a:p>
              <a:pPr>
                <a:lnSpc>
                  <a:spcPct val="90000"/>
                </a:lnSpc>
                <a:spcBef>
                  <a:spcPts val="1200"/>
                </a:spcBef>
              </a:pPr>
              <a:r>
                <a:rPr lang="en-GB" sz="500" dirty="0">
                  <a:solidFill>
                    <a:schemeClr val="accent1"/>
                  </a:solidFill>
                  <a:latin typeface="Times New Roman" panose="02020603050405020304" pitchFamily="18" charset="0"/>
                  <a:cs typeface="Times New Roman" panose="02020603050405020304" pitchFamily="18" charset="0"/>
                </a:rPr>
                <a:t>100% of power</a:t>
              </a:r>
            </a:p>
          </p:txBody>
        </p:sp>
        <p:sp>
          <p:nvSpPr>
            <p:cNvPr id="34" name="textruta 9">
              <a:extLst>
                <a:ext uri="{FF2B5EF4-FFF2-40B4-BE49-F238E27FC236}">
                  <a16:creationId xmlns:a16="http://schemas.microsoft.com/office/drawing/2014/main" id="{298F7C81-319F-4A1E-86B1-14BEFE595E2F}"/>
                </a:ext>
              </a:extLst>
            </p:cNvPr>
            <p:cNvSpPr txBox="1"/>
            <p:nvPr/>
          </p:nvSpPr>
          <p:spPr>
            <a:xfrm>
              <a:off x="2338844" y="1603002"/>
              <a:ext cx="565924" cy="370239"/>
            </a:xfrm>
            <a:prstGeom prst="rect">
              <a:avLst/>
            </a:prstGeom>
            <a:noFill/>
          </p:spPr>
          <p:txBody>
            <a:bodyPr wrap="square" lIns="36000" tIns="36000" rIns="36000" bIns="36000" rtlCol="0">
              <a:spAutoFit/>
            </a:bodyPr>
            <a:lstStyle/>
            <a:p>
              <a:pPr>
                <a:lnSpc>
                  <a:spcPct val="90000"/>
                </a:lnSpc>
                <a:spcBef>
                  <a:spcPts val="1200"/>
                </a:spcBef>
              </a:pPr>
              <a:r>
                <a:rPr lang="en-GB" sz="500" dirty="0">
                  <a:solidFill>
                    <a:schemeClr val="accent1"/>
                  </a:solidFill>
                  <a:latin typeface="Times New Roman" panose="02020603050405020304" pitchFamily="18" charset="0"/>
                  <a:cs typeface="Times New Roman" panose="02020603050405020304" pitchFamily="18" charset="0"/>
                </a:rPr>
                <a:t>Dp1</a:t>
              </a:r>
            </a:p>
          </p:txBody>
        </p:sp>
        <p:sp>
          <p:nvSpPr>
            <p:cNvPr id="35" name="textruta 9">
              <a:extLst>
                <a:ext uri="{FF2B5EF4-FFF2-40B4-BE49-F238E27FC236}">
                  <a16:creationId xmlns:a16="http://schemas.microsoft.com/office/drawing/2014/main" id="{7A1B2665-5556-4E7E-9E36-AD7C7A44A463}"/>
                </a:ext>
              </a:extLst>
            </p:cNvPr>
            <p:cNvSpPr txBox="1"/>
            <p:nvPr/>
          </p:nvSpPr>
          <p:spPr>
            <a:xfrm>
              <a:off x="3066761" y="2242804"/>
              <a:ext cx="500981" cy="370239"/>
            </a:xfrm>
            <a:prstGeom prst="rect">
              <a:avLst/>
            </a:prstGeom>
            <a:noFill/>
          </p:spPr>
          <p:txBody>
            <a:bodyPr wrap="square" lIns="36000" tIns="36000" rIns="36000" bIns="36000" rtlCol="0">
              <a:spAutoFit/>
            </a:bodyPr>
            <a:lstStyle/>
            <a:p>
              <a:pPr>
                <a:lnSpc>
                  <a:spcPct val="90000"/>
                </a:lnSpc>
                <a:spcBef>
                  <a:spcPts val="1200"/>
                </a:spcBef>
              </a:pPr>
              <a:r>
                <a:rPr lang="en-GB" sz="500" dirty="0">
                  <a:solidFill>
                    <a:schemeClr val="accent1"/>
                  </a:solidFill>
                  <a:latin typeface="Times New Roman" panose="02020603050405020304" pitchFamily="18" charset="0"/>
                  <a:cs typeface="Times New Roman" panose="02020603050405020304" pitchFamily="18" charset="0"/>
                </a:rPr>
                <a:t>Dp2</a:t>
              </a:r>
            </a:p>
          </p:txBody>
        </p:sp>
        <p:sp>
          <p:nvSpPr>
            <p:cNvPr id="36" name="textruta 9">
              <a:extLst>
                <a:ext uri="{FF2B5EF4-FFF2-40B4-BE49-F238E27FC236}">
                  <a16:creationId xmlns:a16="http://schemas.microsoft.com/office/drawing/2014/main" id="{5059F606-FA45-4218-BC0D-D1C6E90A5425}"/>
                </a:ext>
              </a:extLst>
            </p:cNvPr>
            <p:cNvSpPr txBox="1"/>
            <p:nvPr/>
          </p:nvSpPr>
          <p:spPr>
            <a:xfrm>
              <a:off x="3023835" y="3591085"/>
              <a:ext cx="496977" cy="370239"/>
            </a:xfrm>
            <a:prstGeom prst="rect">
              <a:avLst/>
            </a:prstGeom>
            <a:noFill/>
          </p:spPr>
          <p:txBody>
            <a:bodyPr wrap="square" lIns="36000" tIns="36000" rIns="36000" bIns="36000" rtlCol="0">
              <a:spAutoFit/>
            </a:bodyPr>
            <a:lstStyle/>
            <a:p>
              <a:pPr>
                <a:lnSpc>
                  <a:spcPct val="90000"/>
                </a:lnSpc>
                <a:spcBef>
                  <a:spcPts val="1200"/>
                </a:spcBef>
              </a:pPr>
              <a:r>
                <a:rPr lang="en-GB" sz="500" dirty="0">
                  <a:solidFill>
                    <a:schemeClr val="accent1"/>
                  </a:solidFill>
                  <a:latin typeface="Times New Roman" panose="02020603050405020304" pitchFamily="18" charset="0"/>
                  <a:cs typeface="Times New Roman" panose="02020603050405020304" pitchFamily="18" charset="0"/>
                </a:rPr>
                <a:t>Dp3</a:t>
              </a:r>
            </a:p>
          </p:txBody>
        </p:sp>
        <p:sp>
          <p:nvSpPr>
            <p:cNvPr id="37" name="textruta 9">
              <a:extLst>
                <a:ext uri="{FF2B5EF4-FFF2-40B4-BE49-F238E27FC236}">
                  <a16:creationId xmlns:a16="http://schemas.microsoft.com/office/drawing/2014/main" id="{6E0009A9-A9D3-4593-84A9-B431BB55BB4B}"/>
                </a:ext>
              </a:extLst>
            </p:cNvPr>
            <p:cNvSpPr txBox="1"/>
            <p:nvPr/>
          </p:nvSpPr>
          <p:spPr>
            <a:xfrm>
              <a:off x="2868649" y="4399055"/>
              <a:ext cx="647599" cy="370239"/>
            </a:xfrm>
            <a:prstGeom prst="rect">
              <a:avLst/>
            </a:prstGeom>
            <a:noFill/>
          </p:spPr>
          <p:txBody>
            <a:bodyPr wrap="square" lIns="36000" tIns="36000" rIns="36000" bIns="36000" rtlCol="0">
              <a:spAutoFit/>
            </a:bodyPr>
            <a:lstStyle/>
            <a:p>
              <a:pPr>
                <a:lnSpc>
                  <a:spcPct val="90000"/>
                </a:lnSpc>
                <a:spcBef>
                  <a:spcPts val="1200"/>
                </a:spcBef>
              </a:pPr>
              <a:r>
                <a:rPr lang="en-GB" sz="500" dirty="0">
                  <a:solidFill>
                    <a:schemeClr val="accent1"/>
                  </a:solidFill>
                  <a:latin typeface="Times New Roman" panose="02020603050405020304" pitchFamily="18" charset="0"/>
                  <a:cs typeface="Times New Roman" panose="02020603050405020304" pitchFamily="18" charset="0"/>
                </a:rPr>
                <a:t>Dp4</a:t>
              </a:r>
            </a:p>
          </p:txBody>
        </p:sp>
        <p:sp>
          <p:nvSpPr>
            <p:cNvPr id="38" name="textruta 9">
              <a:extLst>
                <a:ext uri="{FF2B5EF4-FFF2-40B4-BE49-F238E27FC236}">
                  <a16:creationId xmlns:a16="http://schemas.microsoft.com/office/drawing/2014/main" id="{358F15F1-D2CA-40E8-BD85-18F400F5756F}"/>
                </a:ext>
              </a:extLst>
            </p:cNvPr>
            <p:cNvSpPr txBox="1"/>
            <p:nvPr/>
          </p:nvSpPr>
          <p:spPr>
            <a:xfrm>
              <a:off x="4817108" y="3450553"/>
              <a:ext cx="574755" cy="370239"/>
            </a:xfrm>
            <a:prstGeom prst="rect">
              <a:avLst/>
            </a:prstGeom>
            <a:noFill/>
          </p:spPr>
          <p:txBody>
            <a:bodyPr wrap="square" lIns="36000" tIns="36000" rIns="36000" bIns="36000" rtlCol="0">
              <a:spAutoFit/>
            </a:bodyPr>
            <a:lstStyle/>
            <a:p>
              <a:pPr>
                <a:lnSpc>
                  <a:spcPct val="90000"/>
                </a:lnSpc>
                <a:spcBef>
                  <a:spcPts val="1200"/>
                </a:spcBef>
              </a:pPr>
              <a:r>
                <a:rPr lang="en-GB" sz="500" dirty="0">
                  <a:solidFill>
                    <a:schemeClr val="accent1"/>
                  </a:solidFill>
                  <a:latin typeface="Times New Roman" panose="02020603050405020304" pitchFamily="18" charset="0"/>
                  <a:cs typeface="Times New Roman" panose="02020603050405020304" pitchFamily="18" charset="0"/>
                </a:rPr>
                <a:t>Dp5</a:t>
              </a:r>
            </a:p>
          </p:txBody>
        </p:sp>
        <p:sp>
          <p:nvSpPr>
            <p:cNvPr id="39" name="textruta 9">
              <a:extLst>
                <a:ext uri="{FF2B5EF4-FFF2-40B4-BE49-F238E27FC236}">
                  <a16:creationId xmlns:a16="http://schemas.microsoft.com/office/drawing/2014/main" id="{71DEA210-55E3-49B7-B09D-487AAD658FBB}"/>
                </a:ext>
              </a:extLst>
            </p:cNvPr>
            <p:cNvSpPr txBox="1"/>
            <p:nvPr/>
          </p:nvSpPr>
          <p:spPr>
            <a:xfrm>
              <a:off x="4726132" y="4213013"/>
              <a:ext cx="658464" cy="370239"/>
            </a:xfrm>
            <a:prstGeom prst="rect">
              <a:avLst/>
            </a:prstGeom>
            <a:noFill/>
          </p:spPr>
          <p:txBody>
            <a:bodyPr wrap="square" lIns="36000" tIns="36000" rIns="36000" bIns="36000" rtlCol="0">
              <a:spAutoFit/>
            </a:bodyPr>
            <a:lstStyle/>
            <a:p>
              <a:pPr>
                <a:lnSpc>
                  <a:spcPct val="90000"/>
                </a:lnSpc>
                <a:spcBef>
                  <a:spcPts val="1200"/>
                </a:spcBef>
              </a:pPr>
              <a:r>
                <a:rPr lang="en-GB" sz="500" dirty="0">
                  <a:solidFill>
                    <a:schemeClr val="accent1"/>
                  </a:solidFill>
                  <a:latin typeface="Times New Roman" panose="02020603050405020304" pitchFamily="18" charset="0"/>
                  <a:cs typeface="Times New Roman" panose="02020603050405020304" pitchFamily="18" charset="0"/>
                </a:rPr>
                <a:t>Dp6</a:t>
              </a:r>
            </a:p>
          </p:txBody>
        </p:sp>
        <p:sp>
          <p:nvSpPr>
            <p:cNvPr id="40" name="Ellips 21">
              <a:extLst>
                <a:ext uri="{FF2B5EF4-FFF2-40B4-BE49-F238E27FC236}">
                  <a16:creationId xmlns:a16="http://schemas.microsoft.com/office/drawing/2014/main" id="{D52DE2CC-2CBC-4D6C-814F-CE9E9E9FBB9F}"/>
                </a:ext>
              </a:extLst>
            </p:cNvPr>
            <p:cNvSpPr/>
            <p:nvPr/>
          </p:nvSpPr>
          <p:spPr>
            <a:xfrm>
              <a:off x="5369482" y="4295851"/>
              <a:ext cx="101592" cy="9890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200"/>
                </a:spcBef>
              </a:pPr>
              <a:endParaRPr lang="en-GB" sz="1600" err="1">
                <a:latin typeface="Times New Roman" panose="02020603050405020304" pitchFamily="18" charset="0"/>
                <a:cs typeface="Times New Roman" panose="02020603050405020304" pitchFamily="18" charset="0"/>
              </a:endParaRPr>
            </a:p>
          </p:txBody>
        </p:sp>
        <p:sp>
          <p:nvSpPr>
            <p:cNvPr id="41" name="textruta 44">
              <a:extLst>
                <a:ext uri="{FF2B5EF4-FFF2-40B4-BE49-F238E27FC236}">
                  <a16:creationId xmlns:a16="http://schemas.microsoft.com/office/drawing/2014/main" id="{12C0AAA3-3364-4260-8214-EC6E13E4FA38}"/>
                </a:ext>
              </a:extLst>
            </p:cNvPr>
            <p:cNvSpPr txBox="1"/>
            <p:nvPr/>
          </p:nvSpPr>
          <p:spPr>
            <a:xfrm>
              <a:off x="5514295" y="4264074"/>
              <a:ext cx="1718907" cy="421438"/>
            </a:xfrm>
            <a:prstGeom prst="rect">
              <a:avLst/>
            </a:prstGeom>
            <a:noFill/>
          </p:spPr>
          <p:txBody>
            <a:bodyPr wrap="square" rtlCol="0">
              <a:spAutoFit/>
            </a:bodyPr>
            <a:lstStyle/>
            <a:p>
              <a:pPr>
                <a:lnSpc>
                  <a:spcPct val="90000"/>
                </a:lnSpc>
                <a:spcBef>
                  <a:spcPts val="1200"/>
                </a:spcBef>
              </a:pPr>
              <a:r>
                <a:rPr lang="en-GB" sz="500" dirty="0">
                  <a:solidFill>
                    <a:schemeClr val="accent1"/>
                  </a:solidFill>
                  <a:latin typeface="Times New Roman" panose="02020603050405020304" pitchFamily="18" charset="0"/>
                  <a:cs typeface="Times New Roman" panose="02020603050405020304" pitchFamily="18" charset="0"/>
                </a:rPr>
                <a:t>50% of power</a:t>
              </a:r>
            </a:p>
          </p:txBody>
        </p:sp>
        <p:sp>
          <p:nvSpPr>
            <p:cNvPr id="42" name="TextBox 41">
              <a:extLst>
                <a:ext uri="{FF2B5EF4-FFF2-40B4-BE49-F238E27FC236}">
                  <a16:creationId xmlns:a16="http://schemas.microsoft.com/office/drawing/2014/main" id="{7852862A-D063-437D-981B-0B7758A47758}"/>
                </a:ext>
              </a:extLst>
            </p:cNvPr>
            <p:cNvSpPr txBox="1"/>
            <p:nvPr/>
          </p:nvSpPr>
          <p:spPr>
            <a:xfrm>
              <a:off x="1758273" y="5109250"/>
              <a:ext cx="602240" cy="529808"/>
            </a:xfrm>
            <a:prstGeom prst="rect">
              <a:avLst/>
            </a:prstGeom>
            <a:noFill/>
          </p:spPr>
          <p:txBody>
            <a:bodyPr wrap="none" rtlCol="0">
              <a:spAutoFit/>
            </a:bodyPr>
            <a:lstStyle/>
            <a:p>
              <a:pPr>
                <a:lnSpc>
                  <a:spcPct val="90000"/>
                </a:lnSpc>
                <a:spcBef>
                  <a:spcPts val="1200"/>
                </a:spcBef>
              </a:pPr>
              <a:r>
                <a:rPr lang="sv-SE" sz="800" dirty="0">
                  <a:solidFill>
                    <a:schemeClr val="accent1"/>
                  </a:solidFill>
                  <a:latin typeface="Times New Roman" panose="02020603050405020304" pitchFamily="18" charset="0"/>
                  <a:cs typeface="Times New Roman" panose="02020603050405020304" pitchFamily="18" charset="0"/>
                </a:rPr>
                <a:t>0</a:t>
              </a:r>
            </a:p>
          </p:txBody>
        </p:sp>
      </p:grpSp>
      <p:pic>
        <p:nvPicPr>
          <p:cNvPr id="51" name="Picture 50"/>
          <p:cNvPicPr>
            <a:picLocks noChangeAspect="1"/>
          </p:cNvPicPr>
          <p:nvPr/>
        </p:nvPicPr>
        <p:blipFill>
          <a:blip r:embed="rId2"/>
          <a:stretch>
            <a:fillRect/>
          </a:stretch>
        </p:blipFill>
        <p:spPr>
          <a:xfrm>
            <a:off x="1159194" y="1104112"/>
            <a:ext cx="3467556" cy="781421"/>
          </a:xfrm>
          <a:prstGeom prst="rect">
            <a:avLst/>
          </a:prstGeom>
        </p:spPr>
      </p:pic>
      <p:pic>
        <p:nvPicPr>
          <p:cNvPr id="52" name="Picture 51"/>
          <p:cNvPicPr>
            <a:picLocks noChangeAspect="1"/>
          </p:cNvPicPr>
          <p:nvPr/>
        </p:nvPicPr>
        <p:blipFill>
          <a:blip r:embed="rId3"/>
          <a:stretch>
            <a:fillRect/>
          </a:stretch>
        </p:blipFill>
        <p:spPr>
          <a:xfrm>
            <a:off x="594680" y="1992317"/>
            <a:ext cx="5168393" cy="661631"/>
          </a:xfrm>
          <a:prstGeom prst="rect">
            <a:avLst/>
          </a:prstGeom>
        </p:spPr>
      </p:pic>
      <p:pic>
        <p:nvPicPr>
          <p:cNvPr id="53" name="Picture 52"/>
          <p:cNvPicPr>
            <a:picLocks noChangeAspect="1"/>
          </p:cNvPicPr>
          <p:nvPr/>
        </p:nvPicPr>
        <p:blipFill rotWithShape="1">
          <a:blip r:embed="rId4"/>
          <a:srcRect t="9022"/>
          <a:stretch/>
        </p:blipFill>
        <p:spPr>
          <a:xfrm>
            <a:off x="274125" y="3108618"/>
            <a:ext cx="5552749" cy="1037118"/>
          </a:xfrm>
          <a:prstGeom prst="rect">
            <a:avLst/>
          </a:prstGeom>
        </p:spPr>
      </p:pic>
    </p:spTree>
    <p:extLst>
      <p:ext uri="{BB962C8B-B14F-4D97-AF65-F5344CB8AC3E}">
        <p14:creationId xmlns:p14="http://schemas.microsoft.com/office/powerpoint/2010/main" val="41230891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984260" y="283592"/>
            <a:ext cx="10990263" cy="568412"/>
          </a:xfrm>
        </p:spPr>
        <p:txBody>
          <a:bodyPr/>
          <a:lstStyle/>
          <a:p>
            <a:r>
              <a:rPr lang="en-US" dirty="0" smtClean="0">
                <a:latin typeface="Times New Roman" panose="02020603050405020304" pitchFamily="18" charset="0"/>
                <a:cs typeface="Times New Roman" panose="02020603050405020304" pitchFamily="18" charset="0"/>
              </a:rPr>
              <a:t>Third Harmonic Injection or SVM</a:t>
            </a:r>
            <a:endParaRPr lang="sv-SE"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3830927" y="869514"/>
            <a:ext cx="4683346" cy="1864081"/>
          </a:xfrm>
          <a:prstGeom prst="rect">
            <a:avLst/>
          </a:prstGeom>
        </p:spPr>
      </p:pic>
      <p:pic>
        <p:nvPicPr>
          <p:cNvPr id="5" name="Picture 4"/>
          <p:cNvPicPr>
            <a:picLocks noChangeAspect="1"/>
          </p:cNvPicPr>
          <p:nvPr/>
        </p:nvPicPr>
        <p:blipFill>
          <a:blip r:embed="rId3"/>
          <a:stretch>
            <a:fillRect/>
          </a:stretch>
        </p:blipFill>
        <p:spPr>
          <a:xfrm>
            <a:off x="984260" y="2751105"/>
            <a:ext cx="4697083" cy="3522812"/>
          </a:xfrm>
          <a:prstGeom prst="rect">
            <a:avLst/>
          </a:prstGeom>
        </p:spPr>
      </p:pic>
      <p:pic>
        <p:nvPicPr>
          <p:cNvPr id="7" name="Picture 6"/>
          <p:cNvPicPr>
            <a:picLocks noChangeAspect="1"/>
          </p:cNvPicPr>
          <p:nvPr/>
        </p:nvPicPr>
        <p:blipFill>
          <a:blip r:embed="rId4"/>
          <a:stretch>
            <a:fillRect/>
          </a:stretch>
        </p:blipFill>
        <p:spPr>
          <a:xfrm>
            <a:off x="6479391" y="2828742"/>
            <a:ext cx="4490049" cy="3367537"/>
          </a:xfrm>
          <a:prstGeom prst="rect">
            <a:avLst/>
          </a:prstGeom>
        </p:spPr>
      </p:pic>
      <p:sp>
        <p:nvSpPr>
          <p:cNvPr id="8" name="TextBox 7"/>
          <p:cNvSpPr txBox="1"/>
          <p:nvPr/>
        </p:nvSpPr>
        <p:spPr>
          <a:xfrm>
            <a:off x="4991258" y="6207418"/>
            <a:ext cx="2362684" cy="369332"/>
          </a:xfrm>
          <a:prstGeom prst="rect">
            <a:avLst/>
          </a:prstGeom>
          <a:noFill/>
        </p:spPr>
        <p:txBody>
          <a:bodyPr wrap="square" rtlCol="0">
            <a:spAutoFit/>
          </a:bodyPr>
          <a:lstStyle/>
          <a:p>
            <a:r>
              <a:rPr lang="sv-SE" dirty="0" err="1" smtClean="0"/>
              <a:t>Worst</a:t>
            </a:r>
            <a:r>
              <a:rPr lang="sv-SE" dirty="0" smtClean="0"/>
              <a:t> </a:t>
            </a:r>
            <a:r>
              <a:rPr lang="sv-SE" dirty="0" err="1" smtClean="0"/>
              <a:t>case</a:t>
            </a:r>
            <a:r>
              <a:rPr lang="sv-SE" dirty="0" smtClean="0"/>
              <a:t> scenario</a:t>
            </a:r>
            <a:endParaRPr lang="sv-SE" dirty="0"/>
          </a:p>
        </p:txBody>
      </p:sp>
    </p:spTree>
    <p:extLst>
      <p:ext uri="{BB962C8B-B14F-4D97-AF65-F5344CB8AC3E}">
        <p14:creationId xmlns:p14="http://schemas.microsoft.com/office/powerpoint/2010/main" val="187827608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984260" y="283592"/>
            <a:ext cx="10990263" cy="568412"/>
          </a:xfrm>
        </p:spPr>
        <p:txBody>
          <a:bodyPr/>
          <a:lstStyle/>
          <a:p>
            <a:r>
              <a:rPr lang="en-US" dirty="0" smtClean="0">
                <a:latin typeface="Times New Roman" panose="02020603050405020304" pitchFamily="18" charset="0"/>
                <a:cs typeface="Times New Roman" panose="02020603050405020304" pitchFamily="18" charset="0"/>
              </a:rPr>
              <a:t>Limitations-500uH</a:t>
            </a:r>
            <a:endParaRPr lang="sv-SE"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6318027" y="1113117"/>
            <a:ext cx="3644749" cy="2733562"/>
          </a:xfrm>
          <a:prstGeom prst="rect">
            <a:avLst/>
          </a:prstGeom>
        </p:spPr>
      </p:pic>
      <p:pic>
        <p:nvPicPr>
          <p:cNvPr id="3" name="Picture 2"/>
          <p:cNvPicPr>
            <a:picLocks noChangeAspect="1"/>
          </p:cNvPicPr>
          <p:nvPr/>
        </p:nvPicPr>
        <p:blipFill>
          <a:blip r:embed="rId3"/>
          <a:stretch>
            <a:fillRect/>
          </a:stretch>
        </p:blipFill>
        <p:spPr>
          <a:xfrm>
            <a:off x="2215776" y="1029446"/>
            <a:ext cx="3671048" cy="2753286"/>
          </a:xfrm>
          <a:prstGeom prst="rect">
            <a:avLst/>
          </a:prstGeom>
        </p:spPr>
      </p:pic>
      <p:pic>
        <p:nvPicPr>
          <p:cNvPr id="5" name="Picture 4"/>
          <p:cNvPicPr>
            <a:picLocks noChangeAspect="1"/>
          </p:cNvPicPr>
          <p:nvPr/>
        </p:nvPicPr>
        <p:blipFill>
          <a:blip r:embed="rId4"/>
          <a:stretch>
            <a:fillRect/>
          </a:stretch>
        </p:blipFill>
        <p:spPr>
          <a:xfrm>
            <a:off x="6264238" y="4094644"/>
            <a:ext cx="3420034" cy="2565026"/>
          </a:xfrm>
          <a:prstGeom prst="rect">
            <a:avLst/>
          </a:prstGeom>
        </p:spPr>
      </p:pic>
      <p:pic>
        <p:nvPicPr>
          <p:cNvPr id="9" name="Picture 8"/>
          <p:cNvPicPr>
            <a:picLocks noChangeAspect="1"/>
          </p:cNvPicPr>
          <p:nvPr/>
        </p:nvPicPr>
        <p:blipFill>
          <a:blip r:embed="rId5"/>
          <a:stretch>
            <a:fillRect/>
          </a:stretch>
        </p:blipFill>
        <p:spPr>
          <a:xfrm>
            <a:off x="2072341" y="4094644"/>
            <a:ext cx="3503706" cy="2627780"/>
          </a:xfrm>
          <a:prstGeom prst="rect">
            <a:avLst/>
          </a:prstGeom>
        </p:spPr>
      </p:pic>
    </p:spTree>
    <p:extLst>
      <p:ext uri="{BB962C8B-B14F-4D97-AF65-F5344CB8AC3E}">
        <p14:creationId xmlns:p14="http://schemas.microsoft.com/office/powerpoint/2010/main" val="144851773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984260" y="283592"/>
            <a:ext cx="10990263" cy="568412"/>
          </a:xfrm>
        </p:spPr>
        <p:txBody>
          <a:bodyPr/>
          <a:lstStyle/>
          <a:p>
            <a:r>
              <a:rPr lang="en-US" dirty="0" smtClean="0">
                <a:latin typeface="Times New Roman" panose="02020603050405020304" pitchFamily="18" charset="0"/>
                <a:cs typeface="Times New Roman" panose="02020603050405020304" pitchFamily="18" charset="0"/>
              </a:rPr>
              <a:t>Limitations: 500u</a:t>
            </a:r>
            <a:endParaRPr lang="sv-SE"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6889376" y="1417916"/>
            <a:ext cx="3420036" cy="2565027"/>
          </a:xfrm>
          <a:prstGeom prst="rect">
            <a:avLst/>
          </a:prstGeom>
        </p:spPr>
      </p:pic>
      <p:pic>
        <p:nvPicPr>
          <p:cNvPr id="7" name="Picture 6"/>
          <p:cNvPicPr>
            <a:picLocks noChangeAspect="1"/>
          </p:cNvPicPr>
          <p:nvPr/>
        </p:nvPicPr>
        <p:blipFill>
          <a:blip r:embed="rId3"/>
          <a:stretch>
            <a:fillRect/>
          </a:stretch>
        </p:blipFill>
        <p:spPr>
          <a:xfrm>
            <a:off x="6542740" y="4132355"/>
            <a:ext cx="3515659" cy="2636744"/>
          </a:xfrm>
          <a:prstGeom prst="rect">
            <a:avLst/>
          </a:prstGeom>
        </p:spPr>
      </p:pic>
      <p:pic>
        <p:nvPicPr>
          <p:cNvPr id="8" name="Picture 7"/>
          <p:cNvPicPr>
            <a:picLocks noChangeAspect="1"/>
          </p:cNvPicPr>
          <p:nvPr/>
        </p:nvPicPr>
        <p:blipFill>
          <a:blip r:embed="rId4"/>
          <a:stretch>
            <a:fillRect/>
          </a:stretch>
        </p:blipFill>
        <p:spPr>
          <a:xfrm>
            <a:off x="2371165" y="4221256"/>
            <a:ext cx="3278591" cy="2458943"/>
          </a:xfrm>
          <a:prstGeom prst="rect">
            <a:avLst/>
          </a:prstGeom>
        </p:spPr>
      </p:pic>
      <p:pic>
        <p:nvPicPr>
          <p:cNvPr id="10" name="Picture 9"/>
          <p:cNvPicPr>
            <a:picLocks noChangeAspect="1"/>
          </p:cNvPicPr>
          <p:nvPr/>
        </p:nvPicPr>
        <p:blipFill>
          <a:blip r:embed="rId5"/>
          <a:stretch>
            <a:fillRect/>
          </a:stretch>
        </p:blipFill>
        <p:spPr>
          <a:xfrm>
            <a:off x="2371165" y="1481222"/>
            <a:ext cx="3204882" cy="2403662"/>
          </a:xfrm>
          <a:prstGeom prst="rect">
            <a:avLst/>
          </a:prstGeom>
        </p:spPr>
      </p:pic>
    </p:spTree>
    <p:extLst>
      <p:ext uri="{BB962C8B-B14F-4D97-AF65-F5344CB8AC3E}">
        <p14:creationId xmlns:p14="http://schemas.microsoft.com/office/powerpoint/2010/main" val="220671988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984260" y="283592"/>
            <a:ext cx="10990263" cy="568412"/>
          </a:xfrm>
        </p:spPr>
        <p:txBody>
          <a:bodyPr/>
          <a:lstStyle/>
          <a:p>
            <a:r>
              <a:rPr lang="en-US" dirty="0" smtClean="0">
                <a:latin typeface="Times New Roman" panose="02020603050405020304" pitchFamily="18" charset="0"/>
                <a:cs typeface="Times New Roman" panose="02020603050405020304" pitchFamily="18" charset="0"/>
              </a:rPr>
              <a:t>Limitations: </a:t>
            </a:r>
            <a:r>
              <a:rPr lang="tr-TR" dirty="0" smtClean="0">
                <a:latin typeface="Times New Roman" panose="02020603050405020304" pitchFamily="18" charset="0"/>
                <a:cs typeface="Times New Roman" panose="02020603050405020304" pitchFamily="18" charset="0"/>
              </a:rPr>
              <a:t>2</a:t>
            </a:r>
            <a:r>
              <a:rPr lang="en-US" dirty="0" smtClean="0">
                <a:latin typeface="Times New Roman" panose="02020603050405020304" pitchFamily="18" charset="0"/>
                <a:cs typeface="Times New Roman" panose="02020603050405020304" pitchFamily="18" charset="0"/>
              </a:rPr>
              <a:t>00u</a:t>
            </a:r>
            <a:endParaRPr lang="sv-SE"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2077954" y="1183341"/>
            <a:ext cx="3334373" cy="2500780"/>
          </a:xfrm>
          <a:prstGeom prst="rect">
            <a:avLst/>
          </a:prstGeom>
        </p:spPr>
      </p:pic>
      <p:pic>
        <p:nvPicPr>
          <p:cNvPr id="3" name="Picture 2"/>
          <p:cNvPicPr>
            <a:picLocks noChangeAspect="1"/>
          </p:cNvPicPr>
          <p:nvPr/>
        </p:nvPicPr>
        <p:blipFill>
          <a:blip r:embed="rId3"/>
          <a:stretch>
            <a:fillRect/>
          </a:stretch>
        </p:blipFill>
        <p:spPr>
          <a:xfrm>
            <a:off x="6028764" y="1183341"/>
            <a:ext cx="3551518" cy="2663638"/>
          </a:xfrm>
          <a:prstGeom prst="rect">
            <a:avLst/>
          </a:prstGeom>
        </p:spPr>
      </p:pic>
      <p:pic>
        <p:nvPicPr>
          <p:cNvPr id="5" name="Picture 4"/>
          <p:cNvPicPr>
            <a:picLocks noChangeAspect="1"/>
          </p:cNvPicPr>
          <p:nvPr/>
        </p:nvPicPr>
        <p:blipFill>
          <a:blip r:embed="rId4"/>
          <a:stretch>
            <a:fillRect/>
          </a:stretch>
        </p:blipFill>
        <p:spPr>
          <a:xfrm>
            <a:off x="1986316" y="3985763"/>
            <a:ext cx="3426011" cy="2569508"/>
          </a:xfrm>
          <a:prstGeom prst="rect">
            <a:avLst/>
          </a:prstGeom>
        </p:spPr>
      </p:pic>
      <p:pic>
        <p:nvPicPr>
          <p:cNvPr id="9" name="Picture 8"/>
          <p:cNvPicPr>
            <a:picLocks noChangeAspect="1"/>
          </p:cNvPicPr>
          <p:nvPr/>
        </p:nvPicPr>
        <p:blipFill>
          <a:blip r:embed="rId5"/>
          <a:stretch>
            <a:fillRect/>
          </a:stretch>
        </p:blipFill>
        <p:spPr>
          <a:xfrm>
            <a:off x="6185646" y="4015458"/>
            <a:ext cx="3346824" cy="2510118"/>
          </a:xfrm>
          <a:prstGeom prst="rect">
            <a:avLst/>
          </a:prstGeom>
        </p:spPr>
      </p:pic>
    </p:spTree>
    <p:extLst>
      <p:ext uri="{BB962C8B-B14F-4D97-AF65-F5344CB8AC3E}">
        <p14:creationId xmlns:p14="http://schemas.microsoft.com/office/powerpoint/2010/main" val="292831271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011" y="353761"/>
            <a:ext cx="10990263" cy="568412"/>
          </a:xfrm>
        </p:spPr>
        <p:txBody>
          <a:bodyPr/>
          <a:lstStyle/>
          <a:p>
            <a:r>
              <a:rPr lang="sv-SE" dirty="0" smtClean="0"/>
              <a:t>Air </a:t>
            </a:r>
            <a:r>
              <a:rPr lang="sv-SE" dirty="0" err="1" smtClean="0"/>
              <a:t>Core</a:t>
            </a:r>
            <a:r>
              <a:rPr lang="sv-SE" dirty="0" smtClean="0"/>
              <a:t> </a:t>
            </a:r>
            <a:r>
              <a:rPr lang="sv-SE" dirty="0" err="1" smtClean="0"/>
              <a:t>Inductance</a:t>
            </a:r>
            <a:r>
              <a:rPr lang="sv-SE" dirty="0" smtClean="0"/>
              <a:t> </a:t>
            </a:r>
            <a:r>
              <a:rPr lang="sv-SE" dirty="0" err="1" smtClean="0"/>
              <a:t>Calculation</a:t>
            </a:r>
            <a:r>
              <a:rPr lang="sv-SE" dirty="0" smtClean="0"/>
              <a:t/>
            </a:r>
            <a:br>
              <a:rPr lang="sv-SE" dirty="0" smtClean="0"/>
            </a:br>
            <a:endParaRPr lang="sv-SE" dirty="0"/>
          </a:p>
        </p:txBody>
      </p:sp>
      <p:sp>
        <p:nvSpPr>
          <p:cNvPr id="4" name="Rectangle 3"/>
          <p:cNvSpPr/>
          <p:nvPr/>
        </p:nvSpPr>
        <p:spPr>
          <a:xfrm>
            <a:off x="370142" y="1196219"/>
            <a:ext cx="4112211" cy="1569660"/>
          </a:xfrm>
          <a:prstGeom prst="rect">
            <a:avLst/>
          </a:prstGeom>
        </p:spPr>
        <p:txBody>
          <a:bodyPr wrap="square">
            <a:spAutoFit/>
          </a:bodyPr>
          <a:lstStyle/>
          <a:p>
            <a:r>
              <a:rPr lang="en-US" sz="2400" dirty="0" smtClean="0">
                <a:solidFill>
                  <a:schemeClr val="tx2">
                    <a:lumMod val="75000"/>
                    <a:lumOff val="25000"/>
                  </a:schemeClr>
                </a:solidFill>
                <a:latin typeface="Menlo"/>
              </a:rPr>
              <a:t>Design </a:t>
            </a:r>
            <a:r>
              <a:rPr lang="en-US" sz="2400" dirty="0">
                <a:solidFill>
                  <a:schemeClr val="tx2">
                    <a:lumMod val="75000"/>
                    <a:lumOff val="25000"/>
                  </a:schemeClr>
                </a:solidFill>
                <a:latin typeface="Menlo"/>
              </a:rPr>
              <a:t>Specifications</a:t>
            </a:r>
          </a:p>
          <a:p>
            <a:r>
              <a:rPr lang="en-US" dirty="0" smtClean="0">
                <a:latin typeface="Menlo"/>
              </a:rPr>
              <a:t>Required inductance:  500 µH</a:t>
            </a:r>
          </a:p>
          <a:p>
            <a:r>
              <a:rPr lang="en-US" dirty="0" smtClean="0">
                <a:latin typeface="Menlo"/>
              </a:rPr>
              <a:t>Peak voltage: 1200 V</a:t>
            </a:r>
            <a:endParaRPr lang="en-US" dirty="0">
              <a:latin typeface="Menlo"/>
            </a:endParaRPr>
          </a:p>
          <a:p>
            <a:r>
              <a:rPr lang="en-US" dirty="0" smtClean="0">
                <a:latin typeface="Menlo"/>
              </a:rPr>
              <a:t>Peak current: 350 A</a:t>
            </a:r>
            <a:endParaRPr lang="en-US" dirty="0">
              <a:latin typeface="Menlo"/>
            </a:endParaRPr>
          </a:p>
          <a:p>
            <a:r>
              <a:rPr lang="en-US" dirty="0" smtClean="0">
                <a:latin typeface="Menlo"/>
              </a:rPr>
              <a:t>Fundamental frequency: 500 Hz</a:t>
            </a:r>
            <a:endParaRPr lang="en-US" dirty="0">
              <a:latin typeface="Menlo"/>
            </a:endParaRPr>
          </a:p>
        </p:txBody>
      </p:sp>
      <p:pic>
        <p:nvPicPr>
          <p:cNvPr id="5" name="Picture 4"/>
          <p:cNvPicPr>
            <a:picLocks noChangeAspect="1"/>
          </p:cNvPicPr>
          <p:nvPr/>
        </p:nvPicPr>
        <p:blipFill>
          <a:blip r:embed="rId2"/>
          <a:stretch>
            <a:fillRect/>
          </a:stretch>
        </p:blipFill>
        <p:spPr>
          <a:xfrm>
            <a:off x="3478105" y="4000722"/>
            <a:ext cx="3729517" cy="2797138"/>
          </a:xfrm>
          <a:prstGeom prst="rect">
            <a:avLst/>
          </a:prstGeom>
        </p:spPr>
      </p:pic>
      <mc:AlternateContent xmlns:mc="http://schemas.openxmlformats.org/markup-compatibility/2006">
        <mc:Choice xmlns:a14="http://schemas.microsoft.com/office/drawing/2010/main" Requires="a14">
          <p:sp>
            <p:nvSpPr>
              <p:cNvPr id="6" name="Rectangle 5"/>
              <p:cNvSpPr/>
              <p:nvPr/>
            </p:nvSpPr>
            <p:spPr>
              <a:xfrm>
                <a:off x="198788" y="3458278"/>
                <a:ext cx="3809504"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pt-BR" i="1" dirty="0" smtClean="0">
                          <a:solidFill>
                            <a:schemeClr val="tx1"/>
                          </a:solidFill>
                          <a:latin typeface="Cambria Math" panose="02040503050406030204" pitchFamily="18" charset="0"/>
                        </a:rPr>
                        <m:t>𝐿</m:t>
                      </m:r>
                      <m:r>
                        <a:rPr lang="pt-BR" i="1" dirty="0" smtClean="0">
                          <a:solidFill>
                            <a:schemeClr val="tx1"/>
                          </a:solidFill>
                          <a:latin typeface="Cambria Math" panose="02040503050406030204" pitchFamily="18" charset="0"/>
                        </a:rPr>
                        <m:t> </m:t>
                      </m:r>
                      <m:d>
                        <m:dPr>
                          <m:ctrlPr>
                            <a:rPr lang="pt-BR" i="1" dirty="0">
                              <a:solidFill>
                                <a:schemeClr val="tx1"/>
                              </a:solidFill>
                              <a:latin typeface="Cambria Math" panose="02040503050406030204" pitchFamily="18" charset="0"/>
                            </a:rPr>
                          </m:ctrlPr>
                        </m:dPr>
                        <m:e>
                          <m:r>
                            <a:rPr lang="pt-BR" i="1" dirty="0">
                              <a:solidFill>
                                <a:schemeClr val="tx1"/>
                              </a:solidFill>
                              <a:latin typeface="Cambria Math" panose="02040503050406030204" pitchFamily="18" charset="0"/>
                            </a:rPr>
                            <m:t>µ</m:t>
                          </m:r>
                          <m:r>
                            <a:rPr lang="pt-BR" i="1" dirty="0">
                              <a:solidFill>
                                <a:schemeClr val="tx1"/>
                              </a:solidFill>
                              <a:latin typeface="Cambria Math" panose="02040503050406030204" pitchFamily="18" charset="0"/>
                            </a:rPr>
                            <m:t>𝐻</m:t>
                          </m:r>
                        </m:e>
                      </m:d>
                      <m:r>
                        <a:rPr lang="pt-BR" i="1" dirty="0">
                          <a:solidFill>
                            <a:schemeClr val="tx1"/>
                          </a:solidFill>
                          <a:latin typeface="Cambria Math" panose="02040503050406030204" pitchFamily="18" charset="0"/>
                        </a:rPr>
                        <m:t> = (</m:t>
                      </m:r>
                      <m:r>
                        <a:rPr lang="pt-BR" i="1" dirty="0">
                          <a:solidFill>
                            <a:schemeClr val="tx1"/>
                          </a:solidFill>
                          <a:latin typeface="Cambria Math" panose="02040503050406030204" pitchFamily="18" charset="0"/>
                        </a:rPr>
                        <m:t>𝑑</m:t>
                      </m:r>
                      <m:r>
                        <a:rPr lang="pt-BR" i="1" dirty="0">
                          <a:solidFill>
                            <a:schemeClr val="tx1"/>
                          </a:solidFill>
                          <a:latin typeface="Cambria Math" panose="02040503050406030204" pitchFamily="18" charset="0"/>
                        </a:rPr>
                        <m:t>² ∗ </m:t>
                      </m:r>
                      <m:r>
                        <a:rPr lang="pt-BR" i="1" dirty="0">
                          <a:solidFill>
                            <a:schemeClr val="tx1"/>
                          </a:solidFill>
                          <a:latin typeface="Cambria Math" panose="02040503050406030204" pitchFamily="18" charset="0"/>
                        </a:rPr>
                        <m:t>𝑛</m:t>
                      </m:r>
                      <m:r>
                        <a:rPr lang="pt-BR" i="1" dirty="0">
                          <a:solidFill>
                            <a:schemeClr val="tx1"/>
                          </a:solidFill>
                          <a:latin typeface="Cambria Math" panose="02040503050406030204" pitchFamily="18" charset="0"/>
                        </a:rPr>
                        <m:t>²) / (18</m:t>
                      </m:r>
                      <m:r>
                        <a:rPr lang="pt-BR" i="1" dirty="0">
                          <a:solidFill>
                            <a:schemeClr val="tx1"/>
                          </a:solidFill>
                          <a:latin typeface="Cambria Math" panose="02040503050406030204" pitchFamily="18" charset="0"/>
                        </a:rPr>
                        <m:t>𝑑</m:t>
                      </m:r>
                      <m:r>
                        <a:rPr lang="pt-BR" i="1" dirty="0">
                          <a:solidFill>
                            <a:schemeClr val="tx1"/>
                          </a:solidFill>
                          <a:latin typeface="Cambria Math" panose="02040503050406030204" pitchFamily="18" charset="0"/>
                        </a:rPr>
                        <m:t> + 40</m:t>
                      </m:r>
                      <m:r>
                        <a:rPr lang="pt-BR" i="1" dirty="0">
                          <a:solidFill>
                            <a:schemeClr val="tx1"/>
                          </a:solidFill>
                          <a:latin typeface="Cambria Math" panose="02040503050406030204" pitchFamily="18" charset="0"/>
                        </a:rPr>
                        <m:t>𝑙</m:t>
                      </m:r>
                      <m:r>
                        <a:rPr lang="pt-BR" i="1" dirty="0">
                          <a:solidFill>
                            <a:schemeClr val="tx1"/>
                          </a:solidFill>
                          <a:latin typeface="Cambria Math" panose="02040503050406030204" pitchFamily="18" charset="0"/>
                        </a:rPr>
                        <m:t>)</m:t>
                      </m:r>
                    </m:oMath>
                  </m:oMathPara>
                </a14:m>
                <a:endParaRPr lang="pt-BR" dirty="0">
                  <a:solidFill>
                    <a:schemeClr val="tx1"/>
                  </a:solidFill>
                  <a:latin typeface="Menlo"/>
                </a:endParaRPr>
              </a:p>
            </p:txBody>
          </p:sp>
        </mc:Choice>
        <mc:Fallback>
          <p:sp>
            <p:nvSpPr>
              <p:cNvPr id="6" name="Rectangle 5"/>
              <p:cNvSpPr>
                <a:spLocks noRot="1" noChangeAspect="1" noMove="1" noResize="1" noEditPoints="1" noAdjustHandles="1" noChangeArrowheads="1" noChangeShapeType="1" noTextEdit="1"/>
              </p:cNvSpPr>
              <p:nvPr/>
            </p:nvSpPr>
            <p:spPr>
              <a:xfrm>
                <a:off x="198788" y="3458278"/>
                <a:ext cx="3809504" cy="369332"/>
              </a:xfrm>
              <a:prstGeom prst="rect">
                <a:avLst/>
              </a:prstGeom>
              <a:blipFill>
                <a:blip r:embed="rId3"/>
                <a:stretch>
                  <a:fillRect b="-14754"/>
                </a:stretch>
              </a:blipFill>
            </p:spPr>
            <p:txBody>
              <a:bodyPr/>
              <a:lstStyle/>
              <a:p>
                <a:r>
                  <a:rPr lang="sv-SE">
                    <a:noFill/>
                  </a:rPr>
                  <a:t> </a:t>
                </a:r>
              </a:p>
            </p:txBody>
          </p:sp>
        </mc:Fallback>
      </mc:AlternateContent>
      <p:sp>
        <p:nvSpPr>
          <p:cNvPr id="7" name="Rectangle 6"/>
          <p:cNvSpPr/>
          <p:nvPr/>
        </p:nvSpPr>
        <p:spPr>
          <a:xfrm>
            <a:off x="1039275" y="3088946"/>
            <a:ext cx="2232342" cy="369332"/>
          </a:xfrm>
          <a:prstGeom prst="rect">
            <a:avLst/>
          </a:prstGeom>
        </p:spPr>
        <p:txBody>
          <a:bodyPr wrap="none">
            <a:spAutoFit/>
          </a:bodyPr>
          <a:lstStyle/>
          <a:p>
            <a:r>
              <a:rPr lang="en-US" dirty="0" err="1" smtClean="0">
                <a:latin typeface="Menlo"/>
              </a:rPr>
              <a:t>Wheelers’s</a:t>
            </a:r>
            <a:r>
              <a:rPr lang="en-US" dirty="0" smtClean="0">
                <a:latin typeface="Menlo"/>
              </a:rPr>
              <a:t> Formula</a:t>
            </a:r>
            <a:endParaRPr lang="en-US" dirty="0">
              <a:latin typeface="Menlo"/>
            </a:endParaRPr>
          </a:p>
        </p:txBody>
      </p:sp>
      <p:pic>
        <p:nvPicPr>
          <p:cNvPr id="9" name="Picture 8"/>
          <p:cNvPicPr>
            <a:picLocks noChangeAspect="1"/>
          </p:cNvPicPr>
          <p:nvPr/>
        </p:nvPicPr>
        <p:blipFill>
          <a:blip r:embed="rId4"/>
          <a:stretch>
            <a:fillRect/>
          </a:stretch>
        </p:blipFill>
        <p:spPr>
          <a:xfrm>
            <a:off x="7753537" y="1315944"/>
            <a:ext cx="3486150" cy="3162300"/>
          </a:xfrm>
          <a:prstGeom prst="rect">
            <a:avLst/>
          </a:prstGeom>
        </p:spPr>
      </p:pic>
      <p:cxnSp>
        <p:nvCxnSpPr>
          <p:cNvPr id="11" name="Straight Arrow Connector 10"/>
          <p:cNvCxnSpPr/>
          <p:nvPr/>
        </p:nvCxnSpPr>
        <p:spPr>
          <a:xfrm>
            <a:off x="7006478" y="5516281"/>
            <a:ext cx="1432298" cy="1195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8552330" y="5205068"/>
            <a:ext cx="2420470" cy="646331"/>
          </a:xfrm>
          <a:prstGeom prst="rect">
            <a:avLst/>
          </a:prstGeom>
          <a:noFill/>
        </p:spPr>
        <p:txBody>
          <a:bodyPr wrap="square" rtlCol="0">
            <a:spAutoFit/>
          </a:bodyPr>
          <a:lstStyle/>
          <a:p>
            <a:r>
              <a:rPr lang="en-US" dirty="0" smtClean="0"/>
              <a:t>It needs to be confirmed by FEA.</a:t>
            </a:r>
            <a:endParaRPr lang="sv-SE" dirty="0"/>
          </a:p>
        </p:txBody>
      </p:sp>
    </p:spTree>
    <p:extLst>
      <p:ext uri="{BB962C8B-B14F-4D97-AF65-F5344CB8AC3E}">
        <p14:creationId xmlns:p14="http://schemas.microsoft.com/office/powerpoint/2010/main" val="237574994"/>
      </p:ext>
    </p:extLst>
  </p:cSld>
  <p:clrMapOvr>
    <a:masterClrMapping/>
  </p:clrMapOvr>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KTH_presentation_template_Figtree" id="{E6011EE6-5294-D344-AE93-F618069F8922}" vid="{45727F30-E711-A740-91D8-A34DFFD32AAE}"/>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KTH_presentation_template_Figtree (2)</Template>
  <TotalTime>9058</TotalTime>
  <Words>526</Words>
  <Application>Microsoft Office PowerPoint</Application>
  <PresentationFormat>Widescreen</PresentationFormat>
  <Paragraphs>51</Paragraphs>
  <Slides>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Menlo</vt:lpstr>
      <vt:lpstr>Calibri</vt:lpstr>
      <vt:lpstr>Wingdings</vt:lpstr>
      <vt:lpstr>Figtree</vt:lpstr>
      <vt:lpstr>Times New Roman</vt:lpstr>
      <vt:lpstr>Arial</vt:lpstr>
      <vt:lpstr>Cambria Math</vt:lpstr>
      <vt:lpstr>Office-tema</vt:lpstr>
      <vt:lpstr>Back-to-Back Inverter</vt:lpstr>
      <vt:lpstr>Inverter Losses</vt:lpstr>
      <vt:lpstr>Third Harmonic Injection or SVM</vt:lpstr>
      <vt:lpstr>Limitations-500uH</vt:lpstr>
      <vt:lpstr>Limitations: 500u</vt:lpstr>
      <vt:lpstr>Limitations: 200u</vt:lpstr>
      <vt:lpstr>Air Core Inductance Calculation </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Tove Guldbrand</dc:creator>
  <cp:lastModifiedBy>Enes Ayaz</cp:lastModifiedBy>
  <cp:revision>211</cp:revision>
  <dcterms:created xsi:type="dcterms:W3CDTF">2024-01-10T13:17:29Z</dcterms:created>
  <dcterms:modified xsi:type="dcterms:W3CDTF">2025-04-03T07:29:24Z</dcterms:modified>
</cp:coreProperties>
</file>