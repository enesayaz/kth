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3" r:id="rId3"/>
    <p:sldId id="276" r:id="rId4"/>
    <p:sldId id="283" r:id="rId5"/>
  </p:sldIdLst>
  <p:sldSz cx="12192000" cy="6858000"/>
  <p:notesSz cx="12192000" cy="6858000"/>
  <p:defaultTextStyle>
    <a:defPPr>
      <a:defRPr lang="en-US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62" autoAdjust="0"/>
    <p:restoredTop sz="94668"/>
  </p:normalViewPr>
  <p:slideViewPr>
    <p:cSldViewPr>
      <p:cViewPr varScale="1">
        <p:scale>
          <a:sx n="151" d="100"/>
          <a:sy n="151" d="100"/>
        </p:scale>
        <p:origin x="396" y="1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1_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>
            <a:spLocks noGrp="1"/>
          </p:cNvSpPr>
          <p:nvPr>
            <p:ph type="subTitle" idx="1" hasCustomPrompt="1"/>
          </p:nvPr>
        </p:nvSpPr>
        <p:spPr bwMode="auto">
          <a:xfrm>
            <a:off x="123881" y="5700591"/>
            <a:ext cx="11872534" cy="897926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Name Surname, Organization</a:t>
            </a:r>
            <a:endParaRPr/>
          </a:p>
          <a:p>
            <a:pPr>
              <a:defRPr/>
            </a:pPr>
            <a:r>
              <a:rPr lang="en-US"/>
              <a:t>Location, Date</a:t>
            </a:r>
            <a:endParaRPr lang="en-GB"/>
          </a:p>
        </p:txBody>
      </p:sp>
      <p:sp>
        <p:nvSpPr>
          <p:cNvPr id="5" name="Title 22"/>
          <p:cNvSpPr>
            <a:spLocks noGrp="1"/>
          </p:cNvSpPr>
          <p:nvPr>
            <p:ph type="title" hasCustomPrompt="1"/>
          </p:nvPr>
        </p:nvSpPr>
        <p:spPr bwMode="auto">
          <a:xfrm>
            <a:off x="126806" y="4325837"/>
            <a:ext cx="11872534" cy="1325562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pPr>
              <a:defRPr/>
            </a:pPr>
            <a:r>
              <a:rPr lang="en-US"/>
              <a:t>WP/UC/CDT Title</a:t>
            </a:r>
            <a:endParaRPr lang="en-GB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172AE90-7AB7-EC44-8968-AAC91A54025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693812" y="6271257"/>
            <a:ext cx="5305354" cy="44610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2B1B1F9-C09D-08A0-11F5-32176951F62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-27384"/>
            <a:ext cx="12203458" cy="3667451"/>
          </a:xfrm>
          <a:prstGeom prst="rect">
            <a:avLst/>
          </a:prstGeom>
        </p:spPr>
      </p:pic>
      <p:pic>
        <p:nvPicPr>
          <p:cNvPr id="13" name="Picture 12" descr="A black and white logo&#10;&#10;Description automatically generated">
            <a:extLst>
              <a:ext uri="{FF2B5EF4-FFF2-40B4-BE49-F238E27FC236}">
                <a16:creationId xmlns:a16="http://schemas.microsoft.com/office/drawing/2014/main" id="{BFCDF323-1508-A57C-A42D-D408F2E664D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136565" y="299450"/>
            <a:ext cx="2922219" cy="42386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idx="1"/>
          </p:nvPr>
        </p:nvSpPr>
        <p:spPr bwMode="auto">
          <a:xfrm>
            <a:off x="2135558" y="1464815"/>
            <a:ext cx="9870172" cy="4826255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cxnSp>
        <p:nvCxnSpPr>
          <p:cNvPr id="6" name="Straight Connector 8"/>
          <p:cNvCxnSpPr>
            <a:cxnSpLocks/>
          </p:cNvCxnSpPr>
          <p:nvPr userDrawn="1"/>
        </p:nvCxnSpPr>
        <p:spPr bwMode="auto">
          <a:xfrm>
            <a:off x="2135558" y="1362454"/>
            <a:ext cx="9864353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" name="Title 13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8" name="Date Placeholder 20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54700CD-D7B0-A393-93D2-C8DA27E4FD9F}" type="datetime1">
              <a:rPr lang="en-US"/>
              <a:t>10/16/2024</a:t>
            </a:fld>
            <a:endParaRPr lang="en-US"/>
          </a:p>
        </p:txBody>
      </p:sp>
      <p:sp>
        <p:nvSpPr>
          <p:cNvPr id="9" name="Footer Placeholder 21"/>
          <p:cNvSpPr>
            <a:spLocks noGrp="1"/>
          </p:cNvSpPr>
          <p:nvPr>
            <p:ph type="ftr" sz="quarter" idx="11"/>
          </p:nvPr>
        </p:nvSpPr>
        <p:spPr bwMode="auto">
          <a:xfrm>
            <a:off x="4038599" y="6492812"/>
            <a:ext cx="4114800" cy="365124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" name="Slide Number Placeholder 22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r>
              <a:rPr lang="lt-LT"/>
              <a:t> </a:t>
            </a:r>
            <a:fld id="{0F17F21F-F198-4E80-B0D3-7A329178080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preserve="1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 bwMode="auto">
          <a:xfrm>
            <a:off x="2135559" y="80964"/>
            <a:ext cx="9864351" cy="1187449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2135559" y="1484313"/>
            <a:ext cx="9864351" cy="4716461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95FD64F4-2B24-88A5-B409-D033D0BA4DD3}" type="datetime1">
              <a:rPr lang="en-US"/>
              <a:t>10/16/2024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038599" y="6492812"/>
            <a:ext cx="4114800" cy="365124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F17F21F-F198-4E80-B0D3-7A329178080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5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2135560" y="1484312"/>
            <a:ext cx="4823790" cy="4692649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6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7176120" y="1484312"/>
            <a:ext cx="4823791" cy="4692649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2F9CA8C-92AC-7C4E-2D53-8AC04329D778}" type="datetime1">
              <a:rPr lang="en-US"/>
              <a:t>10/16/2024</a:t>
            </a:fld>
            <a:endParaRPr lang="en-US"/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11"/>
          </p:nvPr>
        </p:nvSpPr>
        <p:spPr bwMode="auto">
          <a:xfrm>
            <a:off x="4038599" y="6492812"/>
            <a:ext cx="4114800" cy="365124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F17F21F-F198-4E80-B0D3-7A329178080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 bwMode="auto">
          <a:xfrm>
            <a:off x="1991544" y="80964"/>
            <a:ext cx="10014186" cy="1187449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991544" y="1484312"/>
            <a:ext cx="4967806" cy="1020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6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1991544" y="2505073"/>
            <a:ext cx="4967806" cy="3684587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7176120" y="1484312"/>
            <a:ext cx="4823792" cy="1020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8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7176120" y="2505073"/>
            <a:ext cx="4823792" cy="3684587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9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3D232E02-87E1-E078-9F1F-28DBDB255520}" type="datetime1">
              <a:rPr lang="en-US"/>
              <a:t>10/16/2024</a:t>
            </a:fld>
            <a:endParaRPr lang="en-US"/>
          </a:p>
        </p:txBody>
      </p:sp>
      <p:sp>
        <p:nvSpPr>
          <p:cNvPr id="10" name="Footer Placeholder 7"/>
          <p:cNvSpPr>
            <a:spLocks noGrp="1"/>
          </p:cNvSpPr>
          <p:nvPr>
            <p:ph type="ftr" sz="quarter" idx="11"/>
          </p:nvPr>
        </p:nvSpPr>
        <p:spPr bwMode="auto">
          <a:xfrm>
            <a:off x="4038599" y="6492812"/>
            <a:ext cx="4114800" cy="365124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F17F21F-F198-4E80-B0D3-7A329178080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5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557B784-B48C-F434-0F54-596A3E3ECC49}" type="datetime1">
              <a:rPr lang="en-US"/>
              <a:t>10/16/2024</a:t>
            </a:fld>
            <a:endParaRPr lang="en-US"/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1"/>
          </p:nvPr>
        </p:nvSpPr>
        <p:spPr bwMode="auto">
          <a:xfrm>
            <a:off x="4038599" y="6492812"/>
            <a:ext cx="4114800" cy="365124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F17F21F-F198-4E80-B0D3-7A329178080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Only" preserve="1" userDrawn="1">
  <p:cSld name="1_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 bwMode="auto">
          <a:xfrm>
            <a:off x="838199" y="110065"/>
            <a:ext cx="11167533" cy="573514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5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3879C8C1-573C-E3A3-CC3E-26C33A961769}" type="datetime1">
              <a:rPr lang="en-US"/>
              <a:t>10/16/2024</a:t>
            </a:fld>
            <a:endParaRPr lang="en-US"/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1"/>
          </p:nvPr>
        </p:nvSpPr>
        <p:spPr bwMode="auto">
          <a:xfrm>
            <a:off x="4038599" y="6492812"/>
            <a:ext cx="4114800" cy="365124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F17F21F-F198-4E80-B0D3-7A329178080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blank" preserve="1" userDrawn="1">
  <p:cSld name="2_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43BEADA-4E99-AC10-39F1-82C3E2D217D7}" type="datetime1">
              <a:rPr lang="en-US"/>
              <a:t>10/16/2024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 bwMode="auto">
          <a:xfrm>
            <a:off x="4038599" y="6492812"/>
            <a:ext cx="4114800" cy="365124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F17F21F-F198-4E80-B0D3-7A3291780809}" type="slidenum">
              <a:rPr lang="en-US"/>
              <a:t>‹#›</a:t>
            </a:fld>
            <a:endParaRPr lang="en-US"/>
          </a:p>
        </p:txBody>
      </p:sp>
      <p:pic>
        <p:nvPicPr>
          <p:cNvPr id="7" name="Picture 4" descr="Logo&#10;&#10;Description automatically generated"/>
          <p:cNvPicPr>
            <a:picLocks noChangeAspect="1"/>
          </p:cNvPicPr>
          <p:nvPr userDrawn="1"/>
        </p:nvPicPr>
        <p:blipFill>
          <a:blip r:embed="rId2"/>
          <a:srcRect t="30588" b="31079"/>
          <a:stretch/>
        </p:blipFill>
        <p:spPr bwMode="auto">
          <a:xfrm>
            <a:off x="899281" y="6518021"/>
            <a:ext cx="1701982" cy="31470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4977635-2CAF-E955-6D0E-DF431A6D1180}" type="datetime1">
              <a:rPr lang="en-US"/>
              <a:t>10/16/2024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 bwMode="auto">
          <a:xfrm>
            <a:off x="4038599" y="6492812"/>
            <a:ext cx="4114800" cy="365124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F17F21F-F198-4E80-B0D3-7A329178080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 bwMode="auto">
          <a:xfrm>
            <a:off x="2133312" y="897533"/>
            <a:ext cx="3932236" cy="1600200"/>
          </a:xfrm>
        </p:spPr>
        <p:txBody>
          <a:bodyPr anchor="b"/>
          <a:lstStyle>
            <a:lvl1pPr>
              <a:defRPr sz="3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 bwMode="auto">
          <a:xfrm>
            <a:off x="6312024" y="897533"/>
            <a:ext cx="5083942" cy="540861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6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2133312" y="2497733"/>
            <a:ext cx="3932236" cy="3811587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50056E7-A6ED-60E3-7FC0-3BE233C014D2}" type="datetime1">
              <a:rPr lang="en-US"/>
              <a:t>10/16/2024</a:t>
            </a:fld>
            <a:endParaRPr lang="en-US"/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11"/>
          </p:nvPr>
        </p:nvSpPr>
        <p:spPr bwMode="auto">
          <a:xfrm>
            <a:off x="4038599" y="6492812"/>
            <a:ext cx="4114800" cy="365124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F17F21F-F198-4E80-B0D3-7A329178080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 bwMode="auto">
          <a:xfrm>
            <a:off x="2150763" y="969541"/>
            <a:ext cx="3932236" cy="1600200"/>
          </a:xfrm>
        </p:spPr>
        <p:txBody>
          <a:bodyPr anchor="b"/>
          <a:lstStyle>
            <a:lvl1pPr>
              <a:defRPr sz="3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5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6384031" y="964286"/>
            <a:ext cx="5615879" cy="5403849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6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2150763" y="2569741"/>
            <a:ext cx="3932236" cy="3811587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B3365B9-3FA8-3848-F3F9-7F1E1ECAB414}" type="datetime1">
              <a:rPr lang="en-US"/>
              <a:t>10/16/2024</a:t>
            </a:fld>
            <a:endParaRPr lang="en-US"/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11"/>
          </p:nvPr>
        </p:nvSpPr>
        <p:spPr bwMode="auto">
          <a:xfrm>
            <a:off x="4038599" y="6492812"/>
            <a:ext cx="4114800" cy="365124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F17F21F-F198-4E80-B0D3-7A329178080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x" preserve="1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5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9E85C1B4-DFDE-56A5-0DCA-78AD1963DB1E}" type="datetime1">
              <a:rPr lang="en-US"/>
              <a:t>10/16/2024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038599" y="6492812"/>
            <a:ext cx="4114800" cy="365124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F17F21F-F198-4E80-B0D3-7A329178080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itleAndTx" preserve="1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4"/>
            <a:ext cx="2628900" cy="5811837"/>
          </a:xfrm>
        </p:spPr>
        <p:txBody>
          <a:bodyPr vert="eaVert"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5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2135560" y="365124"/>
            <a:ext cx="6436939" cy="5811837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6FA078F8-02D1-6CA3-4963-C2D6348272EE}" type="datetime1">
              <a:rPr lang="en-US"/>
              <a:t>10/16/2024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038599" y="6492812"/>
            <a:ext cx="4114800" cy="365124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F17F21F-F198-4E80-B0D3-7A329178080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blank" preserve="1" userDrawn="1">
  <p:cSld name="1_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B10C04C-0B46-1724-FBF6-EBA5B32B5CC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824984" y="1071009"/>
            <a:ext cx="8542031" cy="3819905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B27626AD-CA46-1E91-F4C7-2805A7A19F30}"/>
              </a:ext>
            </a:extLst>
          </p:cNvPr>
          <p:cNvGrpSpPr/>
          <p:nvPr userDrawn="1"/>
        </p:nvGrpSpPr>
        <p:grpSpPr>
          <a:xfrm>
            <a:off x="1667874" y="6090082"/>
            <a:ext cx="8860579" cy="452481"/>
            <a:chOff x="2190084" y="6047453"/>
            <a:chExt cx="8860579" cy="452481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E1071548-9CE3-2AA6-20C5-993934A7BE5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745309" y="6047453"/>
              <a:ext cx="5305354" cy="446102"/>
            </a:xfrm>
            <a:prstGeom prst="rect">
              <a:avLst/>
            </a:prstGeom>
          </p:spPr>
        </p:pic>
        <p:pic>
          <p:nvPicPr>
            <p:cNvPr id="10" name="Picture 9" descr="A black and green logo&#10;&#10;Description automatically generated">
              <a:extLst>
                <a:ext uri="{FF2B5EF4-FFF2-40B4-BE49-F238E27FC236}">
                  <a16:creationId xmlns:a16="http://schemas.microsoft.com/office/drawing/2014/main" id="{9745D8B2-389A-9380-0BAA-D2E49F9F43A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190084" y="6049087"/>
              <a:ext cx="3159903" cy="450847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itle Placeholder 1"/>
          <p:cNvSpPr>
            <a:spLocks noGrp="1"/>
          </p:cNvSpPr>
          <p:nvPr>
            <p:ph type="title"/>
          </p:nvPr>
        </p:nvSpPr>
        <p:spPr bwMode="auto">
          <a:xfrm>
            <a:off x="2135560" y="110065"/>
            <a:ext cx="9870172" cy="114194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2135560" y="1464817"/>
            <a:ext cx="9870169" cy="47121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10173810" y="6492813"/>
            <a:ext cx="117185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08EDF50-AD2E-49FD-8ACD-C0D8EDECF5A7}" type="datetime1">
              <a:rPr lang="en-US"/>
              <a:t>10/16/2024</a:t>
            </a:fld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11416684" y="6492814"/>
            <a:ext cx="589048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lt-LT"/>
              <a:t>   </a:t>
            </a:r>
            <a:fld id="{0F17F21F-F198-4E80-B0D3-7A3291780809}" type="slidenum">
              <a:rPr lang="en-US"/>
              <a:t>‹#›</a:t>
            </a:fld>
            <a:endParaRPr lang="en-US"/>
          </a:p>
        </p:txBody>
      </p:sp>
      <p:sp>
        <p:nvSpPr>
          <p:cNvPr id="10" name="Footer Placeholder 7"/>
          <p:cNvSpPr>
            <a:spLocks noGrp="1"/>
          </p:cNvSpPr>
          <p:nvPr>
            <p:ph type="ftr" sz="quarter" idx="3"/>
          </p:nvPr>
        </p:nvSpPr>
        <p:spPr bwMode="auto">
          <a:xfrm>
            <a:off x="4038599" y="6356349"/>
            <a:ext cx="41148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pic>
        <p:nvPicPr>
          <p:cNvPr id="2" name="Picture 1" descr="A black and green logo&#10;&#10;Description automatically generated">
            <a:extLst>
              <a:ext uri="{FF2B5EF4-FFF2-40B4-BE49-F238E27FC236}">
                <a16:creationId xmlns:a16="http://schemas.microsoft.com/office/drawing/2014/main" id="{B5708FEB-0337-2299-855E-72A32F80401B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9500419" y="302330"/>
            <a:ext cx="2556388" cy="366277"/>
          </a:xfrm>
          <a:prstGeom prst="rect">
            <a:avLst/>
          </a:prstGeom>
        </p:spPr>
      </p:pic>
      <p:pic>
        <p:nvPicPr>
          <p:cNvPr id="3" name="Picture 2" descr="A road surrounded by trees&#10;&#10;Description automatically generated">
            <a:extLst>
              <a:ext uri="{FF2B5EF4-FFF2-40B4-BE49-F238E27FC236}">
                <a16:creationId xmlns:a16="http://schemas.microsoft.com/office/drawing/2014/main" id="{9FE5AFA2-5842-3F4F-1CD2-56D18D088295}"/>
              </a:ext>
            </a:extLst>
          </p:cNvPr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-874" y="1229"/>
            <a:ext cx="1894456" cy="686783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hdr="0" ftr="0"/>
  <p:txStyles>
    <p:titleStyle>
      <a:lvl1pPr algn="l" defTabSz="719121">
        <a:lnSpc>
          <a:spcPct val="90000"/>
        </a:lnSpc>
        <a:spcBef>
          <a:spcPts val="0"/>
        </a:spcBef>
        <a:buNone/>
        <a:defRPr sz="3600">
          <a:solidFill>
            <a:schemeClr val="tx1">
              <a:lumMod val="50000"/>
              <a:lumOff val="50000"/>
            </a:schemeClr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>
        <a:lnSpc>
          <a:spcPct val="90000"/>
        </a:lnSpc>
        <a:spcBef>
          <a:spcPts val="1000"/>
        </a:spcBef>
        <a:buFont typeface="Arial"/>
        <a:buChar char="•"/>
        <a:defRPr sz="24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1pPr>
      <a:lvl2pPr marL="355591" indent="-177796" algn="l" defTabSz="914377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2pPr>
      <a:lvl3pPr marL="630223" indent="-185734" algn="l" defTabSz="896915">
        <a:lnSpc>
          <a:spcPct val="90000"/>
        </a:lnSpc>
        <a:spcBef>
          <a:spcPts val="500"/>
        </a:spcBef>
        <a:buFont typeface="Arial"/>
        <a:buChar char="•"/>
        <a:tabLst>
          <a:tab pos="2689158" algn="l"/>
        </a:tabLst>
        <a:defRPr sz="18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3pPr>
      <a:lvl4pPr marL="896915" indent="-177796" algn="l" defTabSz="914377">
        <a:lnSpc>
          <a:spcPct val="90000"/>
        </a:lnSpc>
        <a:spcBef>
          <a:spcPts val="500"/>
        </a:spcBef>
        <a:buFont typeface="Arial"/>
        <a:buChar char="•"/>
        <a:defRPr sz="16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4pPr>
      <a:lvl5pPr marL="1074712" indent="-177796" algn="l" defTabSz="914377">
        <a:lnSpc>
          <a:spcPct val="90000"/>
        </a:lnSpc>
        <a:spcBef>
          <a:spcPts val="500"/>
        </a:spcBef>
        <a:buFont typeface="Arial"/>
        <a:buChar char="•"/>
        <a:defRPr sz="14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5pPr>
      <a:lvl6pPr marL="2514536" indent="-228594" algn="l" defTabSz="914377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emf"/><Relationship Id="rId5" Type="http://schemas.openxmlformats.org/officeDocument/2006/relationships/image" Target="../media/image11.emf"/><Relationship Id="rId4" Type="http://schemas.openxmlformats.org/officeDocument/2006/relationships/image" Target="../media/image10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Subtitle 1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2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ctr">
              <a:defRPr/>
            </a:pP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EA636A4-9E20-38F9-76A0-9C636473ED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35560" y="1447612"/>
            <a:ext cx="9870172" cy="4826255"/>
          </a:xfrm>
        </p:spPr>
        <p:txBody>
          <a:bodyPr>
            <a:normAutofit/>
          </a:bodyPr>
          <a:lstStyle/>
          <a:p>
            <a:pPr marL="800100" lvl="1" indent="-457200">
              <a:buFont typeface="+mj-lt"/>
              <a:buAutoNum type="arabicPeriod"/>
            </a:pPr>
            <a:endParaRPr lang="en-US" sz="1850" b="1" dirty="0"/>
          </a:p>
          <a:p>
            <a:endParaRPr lang="en-GR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94F321F-4907-0AAC-4F60-484CD9A1FF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Datasheet-Driven Loss </a:t>
            </a:r>
            <a:r>
              <a:rPr lang="en-US" sz="2400" dirty="0" smtClean="0"/>
              <a:t>Estimation</a:t>
            </a:r>
            <a:endParaRPr lang="en-GR" sz="2400" dirty="0"/>
          </a:p>
        </p:txBody>
      </p:sp>
      <p:sp>
        <p:nvSpPr>
          <p:cNvPr id="7" name="Content Placeholder 3"/>
          <p:cNvSpPr txBox="1">
            <a:spLocks/>
          </p:cNvSpPr>
          <p:nvPr/>
        </p:nvSpPr>
        <p:spPr bwMode="auto">
          <a:xfrm>
            <a:off x="2073001" y="1492248"/>
            <a:ext cx="4470251" cy="369332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marL="228594" indent="-228594" algn="l" defTabSz="914377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55591" indent="-177796" algn="l" defTabSz="914377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30223" indent="-185734" algn="l" defTabSz="896915">
              <a:lnSpc>
                <a:spcPct val="90000"/>
              </a:lnSpc>
              <a:spcBef>
                <a:spcPts val="500"/>
              </a:spcBef>
              <a:buFont typeface="Arial"/>
              <a:buChar char="•"/>
              <a:tabLst>
                <a:tab pos="2689158" algn="l"/>
              </a:tabLst>
              <a:defRPr sz="18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96915" indent="-177796" algn="l" defTabSz="914377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74712" indent="-177796" algn="l" defTabSz="914377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36" indent="-228594" algn="l" defTabSz="914377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sv-SE" sz="2000" dirty="0" err="1" smtClean="0">
                <a:solidFill>
                  <a:schemeClr val="tx1"/>
                </a:solidFill>
              </a:rPr>
              <a:t>Voltage</a:t>
            </a:r>
            <a:r>
              <a:rPr lang="sv-SE" sz="2000" dirty="0" smtClean="0">
                <a:solidFill>
                  <a:schemeClr val="tx1"/>
                </a:solidFill>
              </a:rPr>
              <a:t> rating: 2kV  </a:t>
            </a:r>
            <a:r>
              <a:rPr lang="sv-SE" sz="2000" dirty="0" err="1" smtClean="0">
                <a:solidFill>
                  <a:schemeClr val="tx1"/>
                </a:solidFill>
              </a:rPr>
              <a:t>Current</a:t>
            </a:r>
            <a:r>
              <a:rPr lang="sv-SE" sz="2000" dirty="0" smtClean="0">
                <a:solidFill>
                  <a:schemeClr val="tx1"/>
                </a:solidFill>
              </a:rPr>
              <a:t> rating: 400A</a:t>
            </a:r>
          </a:p>
        </p:txBody>
      </p:sp>
      <p:sp>
        <p:nvSpPr>
          <p:cNvPr id="8" name="Rectangle 7"/>
          <p:cNvSpPr/>
          <p:nvPr/>
        </p:nvSpPr>
        <p:spPr>
          <a:xfrm>
            <a:off x="6765005" y="1430688"/>
            <a:ext cx="525496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/>
              <a:t>FF3MR20KM1H  </a:t>
            </a:r>
            <a:r>
              <a:rPr lang="en-US" sz="2400" dirty="0" smtClean="0">
                <a:latin typeface="Calibri" panose="020F0502020204030204" pitchFamily="34" charset="0"/>
                <a:ea typeface="Calibri" panose="020F0502020204030204" pitchFamily="34" charset="0"/>
              </a:rPr>
              <a:t>using 10 dies in parallel </a:t>
            </a:r>
            <a:endParaRPr lang="sv-SE" sz="2400" dirty="0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120" y="4697302"/>
            <a:ext cx="3045847" cy="2121485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7320" y="2346107"/>
            <a:ext cx="2773453" cy="181724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057256" y="2017577"/>
            <a:ext cx="30335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Switching energies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36219" y="4491877"/>
            <a:ext cx="30335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On-state resistance</a:t>
            </a:r>
            <a:endParaRPr lang="sv-SE" dirty="0"/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8831" y="4673079"/>
            <a:ext cx="3199433" cy="2160390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15400" y="2287365"/>
            <a:ext cx="3360572" cy="2317635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33650" y="2309091"/>
            <a:ext cx="3003559" cy="2252669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822185" y="1950580"/>
            <a:ext cx="61394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Switching Losses for sinusoidal current with 5kHz switching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91755" y="4515834"/>
            <a:ext cx="61394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Conduction Loss</a:t>
            </a:r>
          </a:p>
        </p:txBody>
      </p:sp>
    </p:spTree>
    <p:extLst>
      <p:ext uri="{BB962C8B-B14F-4D97-AF65-F5344CB8AC3E}">
        <p14:creationId xmlns:p14="http://schemas.microsoft.com/office/powerpoint/2010/main" val="13782716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EA636A4-9E20-38F9-76A0-9C636473ED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800100" lvl="1" indent="-457200">
              <a:buFont typeface="+mj-lt"/>
              <a:buAutoNum type="arabicPeriod"/>
            </a:pPr>
            <a:endParaRPr lang="en-US" sz="1850" b="1" dirty="0"/>
          </a:p>
          <a:p>
            <a:endParaRPr lang="en-GR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94F321F-4907-0AAC-4F60-484CD9A1FF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Die Area Optimization Regarding Inverter Losses</a:t>
            </a:r>
            <a:endParaRPr lang="en-GR" sz="2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F80689-A4D8-0B4A-C5F9-F2D1C59C850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101802" y="5920225"/>
            <a:ext cx="1171850" cy="365124"/>
          </a:xfrm>
        </p:spPr>
        <p:txBody>
          <a:bodyPr/>
          <a:lstStyle/>
          <a:p>
            <a:pPr>
              <a:defRPr/>
            </a:pPr>
            <a:fld id="{754700CD-D7B0-A393-93D2-C8DA27E4FD9F}" type="datetime1">
              <a:rPr lang="en-US" smtClean="0"/>
              <a:t>10/16/2024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19452E-8BB0-5C36-F95C-07D4EA619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44676" y="5920226"/>
            <a:ext cx="589048" cy="365124"/>
          </a:xfrm>
        </p:spPr>
        <p:txBody>
          <a:bodyPr/>
          <a:lstStyle/>
          <a:p>
            <a:pPr>
              <a:defRPr/>
            </a:pPr>
            <a:r>
              <a:rPr lang="lt-LT"/>
              <a:t> </a:t>
            </a:r>
            <a:fld id="{0F17F21F-F198-4E80-B0D3-7A3291780809}" type="slidenum">
              <a:rPr lang="en-US" smtClean="0"/>
              <a:t>3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3876" y="1747832"/>
            <a:ext cx="3936438" cy="295232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1624" y="1823658"/>
            <a:ext cx="3744416" cy="280831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2963652" y="5326910"/>
                <a:ext cx="8424936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285750" indent="-285750" algn="l">
                  <a:buFont typeface="Arial" panose="020B0604020202020204" pitchFamily="34" charset="0"/>
                  <a:buChar char="•"/>
                </a:pPr>
                <a:r>
                  <a:rPr lang="en-US" sz="1600" dirty="0" smtClean="0"/>
                  <a:t>Number of Dies area selected as minimized the losses regarding the switching frequency.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600" dirty="0" smtClean="0"/>
                  <a:t>Junction temperature is taken at </a:t>
                </a:r>
                <a14:m>
                  <m:oMath xmlns:m="http://schemas.openxmlformats.org/officeDocument/2006/math">
                    <m:r>
                      <a:rPr lang="sv-SE" sz="1600" i="1" dirty="0">
                        <a:latin typeface="Cambria Math" panose="02040503050406030204" pitchFamily="18" charset="0"/>
                      </a:rPr>
                      <m:t>75 </m:t>
                    </m:r>
                    <m:sSup>
                      <m:sSupPr>
                        <m:ctrlPr>
                          <a:rPr lang="sv-SE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sv-SE" sz="16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sv-SE" sz="1600" i="1">
                            <a:latin typeface="Cambria Math" panose="02040503050406030204" pitchFamily="18" charset="0"/>
                          </a:rPr>
                          <m:t>𝑜</m:t>
                        </m:r>
                      </m:sup>
                    </m:sSup>
                  </m:oMath>
                </a14:m>
                <a:r>
                  <a:rPr lang="sv-SE" sz="1600" dirty="0" smtClean="0"/>
                  <a:t>.</a:t>
                </a:r>
                <a:endParaRPr lang="sv-SE" sz="1600" dirty="0" err="1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3652" y="5326910"/>
                <a:ext cx="8424936" cy="492443"/>
              </a:xfrm>
              <a:prstGeom prst="rect">
                <a:avLst/>
              </a:prstGeom>
              <a:blipFill>
                <a:blip r:embed="rId4"/>
                <a:stretch>
                  <a:fillRect l="-1375" t="-13580" b="-23457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251326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EA636A4-9E20-38F9-76A0-9C636473ED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800100" lvl="1" indent="-457200">
              <a:buFont typeface="+mj-lt"/>
              <a:buAutoNum type="arabicPeriod"/>
            </a:pPr>
            <a:endParaRPr lang="en-US" sz="1850" b="1" dirty="0"/>
          </a:p>
          <a:p>
            <a:endParaRPr lang="en-GR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94F321F-4907-0AAC-4F60-484CD9A1FF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5558" y="210122"/>
            <a:ext cx="9870172" cy="1141941"/>
          </a:xfrm>
        </p:spPr>
        <p:txBody>
          <a:bodyPr>
            <a:normAutofit/>
          </a:bodyPr>
          <a:lstStyle/>
          <a:p>
            <a:r>
              <a:rPr lang="en-US" sz="2400" dirty="0" smtClean="0"/>
              <a:t>Die Area Optimization </a:t>
            </a:r>
            <a:r>
              <a:rPr lang="en-US" sz="2400" dirty="0"/>
              <a:t>Regarding Inverter </a:t>
            </a:r>
            <a:r>
              <a:rPr lang="en-US" sz="2400" dirty="0" smtClean="0"/>
              <a:t>and Motor Harmonic Losses</a:t>
            </a:r>
            <a:endParaRPr lang="en-GR" sz="24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9470" y="2019346"/>
            <a:ext cx="4144104" cy="3108078"/>
          </a:xfrm>
          <a:prstGeom prst="rect">
            <a:avLst/>
          </a:prstGeom>
        </p:spPr>
      </p:pic>
      <p:cxnSp>
        <p:nvCxnSpPr>
          <p:cNvPr id="8" name="Straight Arrow Connector 7"/>
          <p:cNvCxnSpPr/>
          <p:nvPr/>
        </p:nvCxnSpPr>
        <p:spPr>
          <a:xfrm flipV="1">
            <a:off x="3863752" y="1928810"/>
            <a:ext cx="864096" cy="112671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356513" y="1534541"/>
            <a:ext cx="3146910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2000" dirty="0" smtClean="0"/>
              <a:t>Optimum switching frequency</a:t>
            </a:r>
            <a:endParaRPr lang="sv-SE" sz="2000" dirty="0" err="1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8168" y="2016297"/>
            <a:ext cx="4004470" cy="3003353"/>
          </a:xfrm>
          <a:prstGeom prst="rect">
            <a:avLst/>
          </a:prstGeom>
        </p:spPr>
      </p:pic>
      <p:sp>
        <p:nvSpPr>
          <p:cNvPr id="11" name="Content Placeholder 3"/>
          <p:cNvSpPr txBox="1">
            <a:spLocks/>
          </p:cNvSpPr>
          <p:nvPr/>
        </p:nvSpPr>
        <p:spPr bwMode="auto">
          <a:xfrm>
            <a:off x="3489052" y="5713453"/>
            <a:ext cx="1977850" cy="608372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marL="228594" indent="-228594" algn="l" defTabSz="914377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55591" indent="-177796" algn="l" defTabSz="914377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30223" indent="-185734" algn="l" defTabSz="896915">
              <a:lnSpc>
                <a:spcPct val="90000"/>
              </a:lnSpc>
              <a:spcBef>
                <a:spcPts val="500"/>
              </a:spcBef>
              <a:buFont typeface="Arial"/>
              <a:buChar char="•"/>
              <a:tabLst>
                <a:tab pos="2689158" algn="l"/>
              </a:tabLst>
              <a:defRPr sz="18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96915" indent="-177796" algn="l" defTabSz="914377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74712" indent="-177796" algn="l" defTabSz="914377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36" indent="-228594" algn="l" defTabSz="914377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sv-SE" sz="1400" dirty="0" err="1" smtClean="0"/>
              <a:t>Voltage</a:t>
            </a:r>
            <a:r>
              <a:rPr lang="sv-SE" sz="1400" dirty="0" smtClean="0"/>
              <a:t> rating: 2kV </a:t>
            </a:r>
          </a:p>
          <a:p>
            <a:pPr marL="0" indent="0">
              <a:buFont typeface="Arial"/>
              <a:buNone/>
            </a:pPr>
            <a:r>
              <a:rPr lang="sv-SE" sz="1400" dirty="0" err="1" smtClean="0"/>
              <a:t>Current</a:t>
            </a:r>
            <a:r>
              <a:rPr lang="sv-SE" sz="1400" dirty="0" smtClean="0"/>
              <a:t> rating: 440A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37753" y="5798399"/>
            <a:ext cx="332975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 smtClean="0">
                <a:latin typeface="Calibri" panose="020F0502020204030204" pitchFamily="34" charset="0"/>
                <a:ea typeface="Calibri" panose="020F0502020204030204" pitchFamily="34" charset="0"/>
              </a:rPr>
              <a:t>11 dies in parallel and </a:t>
            </a:r>
            <a:r>
              <a:rPr lang="sv-SE" sz="1200" dirty="0"/>
              <a:t>14 </a:t>
            </a:r>
            <a:r>
              <a:rPr lang="sv-SE" sz="1200" dirty="0" smtClean="0"/>
              <a:t>kHz </a:t>
            </a:r>
            <a:r>
              <a:rPr lang="sv-SE" sz="1200" dirty="0" err="1" smtClean="0"/>
              <a:t>switching</a:t>
            </a:r>
            <a:r>
              <a:rPr lang="sv-SE" sz="1200" dirty="0" smtClean="0"/>
              <a:t> </a:t>
            </a:r>
            <a:r>
              <a:rPr lang="sv-SE" sz="1200" dirty="0" err="1" smtClean="0"/>
              <a:t>frequency</a:t>
            </a:r>
            <a:r>
              <a:rPr lang="en-US" sz="1200" dirty="0" smtClean="0"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endParaRPr lang="sv-SE" sz="1200" dirty="0"/>
          </a:p>
        </p:txBody>
      </p:sp>
    </p:spTree>
    <p:extLst>
      <p:ext uri="{BB962C8B-B14F-4D97-AF65-F5344CB8AC3E}">
        <p14:creationId xmlns:p14="http://schemas.microsoft.com/office/powerpoint/2010/main" val="36048812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PowerizeD">
      <a:dk1>
        <a:sysClr val="windowText" lastClr="000000"/>
      </a:dk1>
      <a:lt1>
        <a:sysClr val="window" lastClr="FFFFFF"/>
      </a:lt1>
      <a:dk2>
        <a:srgbClr val="2EB066"/>
      </a:dk2>
      <a:lt2>
        <a:srgbClr val="6BB58B"/>
      </a:lt2>
      <a:accent1>
        <a:srgbClr val="838383"/>
      </a:accent1>
      <a:accent2>
        <a:srgbClr val="098D45"/>
      </a:accent2>
      <a:accent3>
        <a:srgbClr val="A5A5A5"/>
      </a:accent3>
      <a:accent4>
        <a:srgbClr val="489E6E"/>
      </a:accent4>
      <a:accent5>
        <a:srgbClr val="D5D5D7"/>
      </a:accent5>
      <a:accent6>
        <a:srgbClr val="91CFAA"/>
      </a:accent6>
      <a:hlink>
        <a:srgbClr val="0563C1"/>
      </a:hlink>
      <a:folHlink>
        <a:srgbClr val="0563C1"/>
      </a:folHlink>
    </a:clrScheme>
    <a:fontScheme name="Custom 1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1090</TotalTime>
  <Words>95</Words>
  <Application>Microsoft Office PowerPoint</Application>
  <DocSecurity>0</DocSecurity>
  <PresentationFormat>Widescreen</PresentationFormat>
  <Paragraphs>17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 Math</vt:lpstr>
      <vt:lpstr>Office Theme</vt:lpstr>
      <vt:lpstr>PowerPoint Presentation</vt:lpstr>
      <vt:lpstr>Datasheet-Driven Loss Estimation</vt:lpstr>
      <vt:lpstr>Die Area Optimization Regarding Inverter Losses</vt:lpstr>
      <vt:lpstr>Die Area Optimization Regarding Inverter and Motor Harmonic Losses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Gabriele Keraite</dc:creator>
  <cp:keywords/>
  <dc:description/>
  <cp:lastModifiedBy>Enes Ayaz</cp:lastModifiedBy>
  <cp:revision>30</cp:revision>
  <dcterms:created xsi:type="dcterms:W3CDTF">2023-03-16T08:44:38Z</dcterms:created>
  <dcterms:modified xsi:type="dcterms:W3CDTF">2024-10-16T07:11:56Z</dcterms:modified>
  <cp:category/>
  <dc:identifier/>
  <cp:contentStatus/>
  <dc:language/>
  <cp:version/>
</cp:coreProperties>
</file>