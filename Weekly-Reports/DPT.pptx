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7" r:id="rId2"/>
    <p:sldId id="258" r:id="rId3"/>
    <p:sldId id="259" r:id="rId4"/>
    <p:sldId id="260" r:id="rId5"/>
    <p:sldId id="261" r:id="rId6"/>
    <p:sldId id="262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574" y="1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748320-CD47-4052-ADDD-D819C92E4C86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7216CD-4008-44B2-8691-C150C71C924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31898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7216CD-4008-44B2-8691-C150C71C924D}" type="slidenum">
              <a:rPr lang="sv-SE" smtClean="0"/>
              <a:t>4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505534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7216CD-4008-44B2-8691-C150C71C924D}" type="slidenum">
              <a:rPr lang="sv-SE" smtClean="0"/>
              <a:t>6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465369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7216CD-4008-44B2-8691-C150C71C924D}" type="slidenum">
              <a:rPr lang="sv-SE" smtClean="0"/>
              <a:t>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94370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7216CD-4008-44B2-8691-C150C71C924D}" type="slidenum">
              <a:rPr lang="sv-SE" smtClean="0"/>
              <a:t>10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368016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31263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95866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79135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79890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53267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05043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2608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9522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19827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22094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6879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1E336-1465-4761-8EE1-9A745EC7FE3E}" type="datetimeFigureOut">
              <a:rPr lang="sv-SE" smtClean="0"/>
              <a:t>2023-10-04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49030-8722-4F99-AB7E-48D3D9D3B7A8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02089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47" y="454024"/>
            <a:ext cx="11994627" cy="608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5767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60" y="476730"/>
            <a:ext cx="11303000" cy="264746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460" y="3517899"/>
            <a:ext cx="11386387" cy="2667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545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29" y="1336774"/>
            <a:ext cx="11019971" cy="2581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657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9450" y="157694"/>
            <a:ext cx="5918200" cy="785383"/>
          </a:xfrm>
        </p:spPr>
        <p:txBody>
          <a:bodyPr/>
          <a:lstStyle/>
          <a:p>
            <a:r>
              <a:rPr lang="en-US" dirty="0" smtClean="0"/>
              <a:t>Effect of dv/</a:t>
            </a:r>
            <a:r>
              <a:rPr lang="en-US" dirty="0" err="1" smtClean="0"/>
              <a:t>dt</a:t>
            </a:r>
            <a:endParaRPr lang="sv-S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48" y="943077"/>
            <a:ext cx="3144141" cy="216749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5971273"/>
                  </p:ext>
                </p:extLst>
              </p:nvPr>
            </p:nvGraphicFramePr>
            <p:xfrm>
              <a:off x="968471" y="3336829"/>
              <a:ext cx="10445752" cy="31755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97293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407858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790648">
                      <a:extLst>
                        <a:ext uri="{9D8B030D-6E8A-4147-A177-3AD203B41FA5}">
                          <a16:colId xmlns:a16="http://schemas.microsoft.com/office/drawing/2014/main" val="1049471291"/>
                        </a:ext>
                      </a:extLst>
                    </a:gridCol>
                    <a:gridCol w="1279452">
                      <a:extLst>
                        <a:ext uri="{9D8B030D-6E8A-4147-A177-3AD203B41FA5}">
                          <a16:colId xmlns:a16="http://schemas.microsoft.com/office/drawing/2014/main" val="3933410167"/>
                        </a:ext>
                      </a:extLst>
                    </a:gridCol>
                    <a:gridCol w="12382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416050">
                      <a:extLst>
                        <a:ext uri="{9D8B030D-6E8A-4147-A177-3AD203B41FA5}">
                          <a16:colId xmlns:a16="http://schemas.microsoft.com/office/drawing/2014/main" val="1978550322"/>
                        </a:ext>
                      </a:extLst>
                    </a:gridCol>
                    <a:gridCol w="1377950">
                      <a:extLst>
                        <a:ext uri="{9D8B030D-6E8A-4147-A177-3AD203B41FA5}">
                          <a16:colId xmlns:a16="http://schemas.microsoft.com/office/drawing/2014/main" val="3843558292"/>
                        </a:ext>
                      </a:extLst>
                    </a:gridCol>
                    <a:gridCol w="1238251">
                      <a:extLst>
                        <a:ext uri="{9D8B030D-6E8A-4147-A177-3AD203B41FA5}">
                          <a16:colId xmlns:a16="http://schemas.microsoft.com/office/drawing/2014/main" val="4197363272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Gate Resistance (Ext)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Ω</m:t>
                              </m:r>
                            </m:oMath>
                          </a14:m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Source current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Eon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Eoff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l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(on) (A/ns)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dv/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(on) (V/ns)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l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(off)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(A/ns)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dv/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(off)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(V/ns)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  <a:tr h="40693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60064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1.75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1799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Changes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X3.5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/2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/1.66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/1.5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/1.7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20679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Change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x2.15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29783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5971273"/>
                  </p:ext>
                </p:extLst>
              </p:nvPr>
            </p:nvGraphicFramePr>
            <p:xfrm>
              <a:off x="968471" y="3336829"/>
              <a:ext cx="10445752" cy="31755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97293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407858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790648">
                      <a:extLst>
                        <a:ext uri="{9D8B030D-6E8A-4147-A177-3AD203B41FA5}">
                          <a16:colId xmlns:a16="http://schemas.microsoft.com/office/drawing/2014/main" val="1049471291"/>
                        </a:ext>
                      </a:extLst>
                    </a:gridCol>
                    <a:gridCol w="1279452">
                      <a:extLst>
                        <a:ext uri="{9D8B030D-6E8A-4147-A177-3AD203B41FA5}">
                          <a16:colId xmlns:a16="http://schemas.microsoft.com/office/drawing/2014/main" val="3933410167"/>
                        </a:ext>
                      </a:extLst>
                    </a:gridCol>
                    <a:gridCol w="12382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416050">
                      <a:extLst>
                        <a:ext uri="{9D8B030D-6E8A-4147-A177-3AD203B41FA5}">
                          <a16:colId xmlns:a16="http://schemas.microsoft.com/office/drawing/2014/main" val="1978550322"/>
                        </a:ext>
                      </a:extLst>
                    </a:gridCol>
                    <a:gridCol w="1377950">
                      <a:extLst>
                        <a:ext uri="{9D8B030D-6E8A-4147-A177-3AD203B41FA5}">
                          <a16:colId xmlns:a16="http://schemas.microsoft.com/office/drawing/2014/main" val="3843558292"/>
                        </a:ext>
                      </a:extLst>
                    </a:gridCol>
                    <a:gridCol w="1238251">
                      <a:extLst>
                        <a:ext uri="{9D8B030D-6E8A-4147-A177-3AD203B41FA5}">
                          <a16:colId xmlns:a16="http://schemas.microsoft.com/office/drawing/2014/main" val="4197363272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58" t="-3333" r="-515412" b="-257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Source current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Eon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Eoff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l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(on) (A/ns)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dv/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(on) (V/ns)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l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di/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(off) </a:t>
                          </a:r>
                        </a:p>
                        <a:p>
                          <a:pPr algn="l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(A/ns)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dv/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dt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(off)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(V/ns)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  <a:tr h="40693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60064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1.75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17999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Changes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X3.5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/2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/1.66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/1.5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/1.7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20679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Change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x2.15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29783007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2426" y="965621"/>
            <a:ext cx="3047206" cy="21674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7097" y="892764"/>
            <a:ext cx="3184903" cy="231321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8897" y="954349"/>
            <a:ext cx="3068964" cy="216749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343400" y="21743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sv-SE" dirty="0" smtClean="0"/>
              <a:t>https://eu.mouser.com/datasheet/2/90/CAB006A12GM3-2886938.pdf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794026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8725" y="256378"/>
            <a:ext cx="4111625" cy="885820"/>
          </a:xfrm>
        </p:spPr>
        <p:txBody>
          <a:bodyPr/>
          <a:lstStyle/>
          <a:p>
            <a:r>
              <a:rPr lang="sv-SE" dirty="0" smtClean="0"/>
              <a:t>CAB500M17HM3</a:t>
            </a:r>
            <a:endParaRPr lang="sv-S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054" y="157157"/>
            <a:ext cx="3185371" cy="10842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78902664"/>
                  </p:ext>
                </p:extLst>
              </p:nvPr>
            </p:nvGraphicFramePr>
            <p:xfrm>
              <a:off x="2050204" y="1585910"/>
              <a:ext cx="7404100" cy="31394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8713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643222">
                      <a:extLst>
                        <a:ext uri="{9D8B030D-6E8A-4147-A177-3AD203B41FA5}">
                          <a16:colId xmlns:a16="http://schemas.microsoft.com/office/drawing/2014/main" val="1049471291"/>
                        </a:ext>
                      </a:extLst>
                    </a:gridCol>
                    <a:gridCol w="1048598">
                      <a:extLst>
                        <a:ext uri="{9D8B030D-6E8A-4147-A177-3AD203B41FA5}">
                          <a16:colId xmlns:a16="http://schemas.microsoft.com/office/drawing/2014/main" val="3933410167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Source 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Eon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Eoff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Esw</a:t>
                          </a:r>
                          <a:endParaRPr lang="en-US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Rds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𝐦</m:t>
                              </m:r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𝛀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3.6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2865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748857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167247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278120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78902664"/>
                  </p:ext>
                </p:extLst>
              </p:nvPr>
            </p:nvGraphicFramePr>
            <p:xfrm>
              <a:off x="2050204" y="1585910"/>
              <a:ext cx="7404100" cy="31394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8713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643222">
                      <a:extLst>
                        <a:ext uri="{9D8B030D-6E8A-4147-A177-3AD203B41FA5}">
                          <a16:colId xmlns:a16="http://schemas.microsoft.com/office/drawing/2014/main" val="1049471291"/>
                        </a:ext>
                      </a:extLst>
                    </a:gridCol>
                    <a:gridCol w="1048598">
                      <a:extLst>
                        <a:ext uri="{9D8B030D-6E8A-4147-A177-3AD203B41FA5}">
                          <a16:colId xmlns:a16="http://schemas.microsoft.com/office/drawing/2014/main" val="3933410167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39" t="-3333" r="-433772" b="-25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Source 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Eon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Eoff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Esw</a:t>
                          </a:r>
                          <a:endParaRPr lang="en-US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632530" t="-3333" r="-1205" b="-25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3.6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2865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748857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167247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42.5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2278120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12365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100" y="104395"/>
            <a:ext cx="10515600" cy="863600"/>
          </a:xfrm>
        </p:spPr>
        <p:txBody>
          <a:bodyPr/>
          <a:lstStyle/>
          <a:p>
            <a:r>
              <a:rPr lang="en-US" b="1" dirty="0" smtClean="0"/>
              <a:t>Basic Calculations </a:t>
            </a:r>
            <a:endParaRPr lang="sv-SE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0496400"/>
                  </p:ext>
                </p:extLst>
              </p:nvPr>
            </p:nvGraphicFramePr>
            <p:xfrm>
              <a:off x="140106" y="1109165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774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99.61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20.7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954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0496400"/>
                  </p:ext>
                </p:extLst>
              </p:nvPr>
            </p:nvGraphicFramePr>
            <p:xfrm>
              <a:off x="140106" y="1109165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667" t="-3311" r="-1214000" b="-90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774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99.61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20.7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954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Rectangle 4"/>
          <p:cNvSpPr/>
          <p:nvPr/>
        </p:nvSpPr>
        <p:spPr>
          <a:xfrm>
            <a:off x="140106" y="739833"/>
            <a:ext cx="17350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m=1 and </a:t>
            </a:r>
            <a:r>
              <a:rPr lang="en-US" b="1" dirty="0" err="1" smtClean="0"/>
              <a:t>p.f</a:t>
            </a:r>
            <a:r>
              <a:rPr lang="en-US" b="1" dirty="0" smtClean="0"/>
              <a:t>=0.9</a:t>
            </a:r>
            <a:endParaRPr lang="sv-SE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8252231"/>
                  </p:ext>
                </p:extLst>
              </p:nvPr>
            </p:nvGraphicFramePr>
            <p:xfrm>
              <a:off x="140104" y="3165874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939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99.69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1362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8252231"/>
                  </p:ext>
                </p:extLst>
              </p:nvPr>
            </p:nvGraphicFramePr>
            <p:xfrm>
              <a:off x="140104" y="3165874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67" t="-3311" r="-1214000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939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99.69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1362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Rectangle 6"/>
          <p:cNvSpPr/>
          <p:nvPr/>
        </p:nvSpPr>
        <p:spPr>
          <a:xfrm>
            <a:off x="140105" y="2781320"/>
            <a:ext cx="2030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m=1.27 and </a:t>
            </a:r>
            <a:r>
              <a:rPr lang="en-US" b="1" dirty="0" err="1" smtClean="0"/>
              <a:t>p.f</a:t>
            </a:r>
            <a:r>
              <a:rPr lang="en-US" b="1" dirty="0" smtClean="0"/>
              <a:t>=0.9</a:t>
            </a:r>
            <a:endParaRPr lang="sv-SE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8240657"/>
                  </p:ext>
                </p:extLst>
              </p:nvPr>
            </p:nvGraphicFramePr>
            <p:xfrm>
              <a:off x="140105" y="5056922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440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99.46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484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2088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8240657"/>
                  </p:ext>
                </p:extLst>
              </p:nvPr>
            </p:nvGraphicFramePr>
            <p:xfrm>
              <a:off x="140105" y="5056922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667" t="-3311" r="-1214000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440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99.46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484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2088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114299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8725" y="256378"/>
            <a:ext cx="4111625" cy="885820"/>
          </a:xfrm>
        </p:spPr>
        <p:txBody>
          <a:bodyPr/>
          <a:lstStyle/>
          <a:p>
            <a:r>
              <a:rPr lang="sv-SE" dirty="0" smtClean="0"/>
              <a:t>CAS380M17HM3</a:t>
            </a:r>
            <a:endParaRPr lang="sv-SE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2157692"/>
                  </p:ext>
                </p:extLst>
              </p:nvPr>
            </p:nvGraphicFramePr>
            <p:xfrm>
              <a:off x="2221654" y="1243010"/>
              <a:ext cx="7404100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8713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643222">
                      <a:extLst>
                        <a:ext uri="{9D8B030D-6E8A-4147-A177-3AD203B41FA5}">
                          <a16:colId xmlns:a16="http://schemas.microsoft.com/office/drawing/2014/main" val="1049471291"/>
                        </a:ext>
                      </a:extLst>
                    </a:gridCol>
                    <a:gridCol w="1048598">
                      <a:extLst>
                        <a:ext uri="{9D8B030D-6E8A-4147-A177-3AD203B41FA5}">
                          <a16:colId xmlns:a16="http://schemas.microsoft.com/office/drawing/2014/main" val="3933410167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Source 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Eon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Eoff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Esw</a:t>
                          </a:r>
                          <a:endParaRPr lang="en-US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Rds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𝐦</m:t>
                              </m:r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𝛀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28651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2157692"/>
                  </p:ext>
                </p:extLst>
              </p:nvPr>
            </p:nvGraphicFramePr>
            <p:xfrm>
              <a:off x="2221654" y="1243010"/>
              <a:ext cx="7404100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8713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643222">
                      <a:extLst>
                        <a:ext uri="{9D8B030D-6E8A-4147-A177-3AD203B41FA5}">
                          <a16:colId xmlns:a16="http://schemas.microsoft.com/office/drawing/2014/main" val="1049471291"/>
                        </a:ext>
                      </a:extLst>
                    </a:gridCol>
                    <a:gridCol w="1048598">
                      <a:extLst>
                        <a:ext uri="{9D8B030D-6E8A-4147-A177-3AD203B41FA5}">
                          <a16:colId xmlns:a16="http://schemas.microsoft.com/office/drawing/2014/main" val="3933410167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9" t="-3311" r="-434211" b="-90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Source 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Eon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Eoff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Esw</a:t>
                          </a:r>
                          <a:endParaRPr lang="en-US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33133" t="-3311" r="-1205" b="-907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286510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604" y="151598"/>
            <a:ext cx="2476500" cy="9906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4" y="3111243"/>
            <a:ext cx="4336105" cy="311088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624" y="3177918"/>
            <a:ext cx="4469659" cy="3110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428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100" y="104395"/>
            <a:ext cx="10515600" cy="863600"/>
          </a:xfrm>
        </p:spPr>
        <p:txBody>
          <a:bodyPr/>
          <a:lstStyle/>
          <a:p>
            <a:r>
              <a:rPr lang="en-US" b="1" dirty="0" smtClean="0"/>
              <a:t>Basic Calculations </a:t>
            </a:r>
            <a:endParaRPr lang="sv-SE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7840067"/>
                  </p:ext>
                </p:extLst>
              </p:nvPr>
            </p:nvGraphicFramePr>
            <p:xfrm>
              <a:off x="104779" y="1227924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687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99.77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969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99.68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7840067"/>
                  </p:ext>
                </p:extLst>
              </p:nvPr>
            </p:nvGraphicFramePr>
            <p:xfrm>
              <a:off x="104779" y="1227924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667" t="-3311" r="-1213333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687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99.77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969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99.68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Rectangle 6"/>
          <p:cNvSpPr/>
          <p:nvPr/>
        </p:nvSpPr>
        <p:spPr>
          <a:xfrm>
            <a:off x="104777" y="858592"/>
            <a:ext cx="2030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m=1.27 and </a:t>
            </a:r>
            <a:r>
              <a:rPr lang="en-US" b="1" dirty="0" err="1" smtClean="0"/>
              <a:t>p.f</a:t>
            </a:r>
            <a:r>
              <a:rPr lang="en-US" b="1" dirty="0" smtClean="0"/>
              <a:t>=0.9</a:t>
            </a:r>
            <a:endParaRPr lang="sv-SE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2060570"/>
                  </p:ext>
                </p:extLst>
              </p:nvPr>
            </p:nvGraphicFramePr>
            <p:xfrm>
              <a:off x="104778" y="3143933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99.67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1305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2060570"/>
                  </p:ext>
                </p:extLst>
              </p:nvPr>
            </p:nvGraphicFramePr>
            <p:xfrm>
              <a:off x="104778" y="3143933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67" t="-3311" r="-1213333" b="-90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99.67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1305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4091428"/>
                  </p:ext>
                </p:extLst>
              </p:nvPr>
            </p:nvGraphicFramePr>
            <p:xfrm>
              <a:off x="104777" y="5059942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1299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336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1641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99.45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4091428"/>
                  </p:ext>
                </p:extLst>
              </p:nvPr>
            </p:nvGraphicFramePr>
            <p:xfrm>
              <a:off x="104777" y="5059942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667" t="-3333" r="-1213333" b="-91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1299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336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1641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99.45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39159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8725" y="256378"/>
            <a:ext cx="4111625" cy="885820"/>
          </a:xfrm>
        </p:spPr>
        <p:txBody>
          <a:bodyPr>
            <a:normAutofit fontScale="90000"/>
          </a:bodyPr>
          <a:lstStyle/>
          <a:p>
            <a:r>
              <a:rPr lang="sv-SE" dirty="0" smtClean="0"/>
              <a:t>WAS310M17BM3</a:t>
            </a:r>
            <a:endParaRPr lang="sv-SE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42854285"/>
                  </p:ext>
                </p:extLst>
              </p:nvPr>
            </p:nvGraphicFramePr>
            <p:xfrm>
              <a:off x="2050204" y="1595435"/>
              <a:ext cx="7404100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8713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643222">
                      <a:extLst>
                        <a:ext uri="{9D8B030D-6E8A-4147-A177-3AD203B41FA5}">
                          <a16:colId xmlns:a16="http://schemas.microsoft.com/office/drawing/2014/main" val="1049471291"/>
                        </a:ext>
                      </a:extLst>
                    </a:gridCol>
                    <a:gridCol w="1048598">
                      <a:extLst>
                        <a:ext uri="{9D8B030D-6E8A-4147-A177-3AD203B41FA5}">
                          <a16:colId xmlns:a16="http://schemas.microsoft.com/office/drawing/2014/main" val="3933410167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Source 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Eon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Eoff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Esw</a:t>
                          </a:r>
                          <a:endParaRPr lang="en-US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Rds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𝐦</m:t>
                              </m:r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𝛀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28651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42854285"/>
                  </p:ext>
                </p:extLst>
              </p:nvPr>
            </p:nvGraphicFramePr>
            <p:xfrm>
              <a:off x="2050204" y="1595435"/>
              <a:ext cx="7404100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8713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150593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643222">
                      <a:extLst>
                        <a:ext uri="{9D8B030D-6E8A-4147-A177-3AD203B41FA5}">
                          <a16:colId xmlns:a16="http://schemas.microsoft.com/office/drawing/2014/main" val="1049471291"/>
                        </a:ext>
                      </a:extLst>
                    </a:gridCol>
                    <a:gridCol w="1048598">
                      <a:extLst>
                        <a:ext uri="{9D8B030D-6E8A-4147-A177-3AD203B41FA5}">
                          <a16:colId xmlns:a16="http://schemas.microsoft.com/office/drawing/2014/main" val="3933410167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011978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9" t="-3311" r="-433772" b="-90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Source 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Eon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Eoff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Esw</a:t>
                          </a:r>
                          <a:endParaRPr lang="en-US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32530" t="-3311" r="-1205" b="-907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4.5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286510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604" y="0"/>
            <a:ext cx="2552700" cy="11525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9095" y="3534318"/>
            <a:ext cx="3924809" cy="27908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0713" y="3495128"/>
            <a:ext cx="4100512" cy="2830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521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100" y="104395"/>
            <a:ext cx="10515600" cy="863600"/>
          </a:xfrm>
        </p:spPr>
        <p:txBody>
          <a:bodyPr/>
          <a:lstStyle/>
          <a:p>
            <a:r>
              <a:rPr lang="en-US" b="1" dirty="0" smtClean="0"/>
              <a:t>Basic Calculations </a:t>
            </a:r>
            <a:endParaRPr lang="sv-SE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2669081"/>
                  </p:ext>
                </p:extLst>
              </p:nvPr>
            </p:nvGraphicFramePr>
            <p:xfrm>
              <a:off x="104779" y="1227924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99.69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1368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2669081"/>
                  </p:ext>
                </p:extLst>
              </p:nvPr>
            </p:nvGraphicFramePr>
            <p:xfrm>
              <a:off x="104779" y="1227924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667" t="-3311" r="-1213333" b="-90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915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99.69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1368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Rectangle 6"/>
          <p:cNvSpPr/>
          <p:nvPr/>
        </p:nvSpPr>
        <p:spPr>
          <a:xfrm>
            <a:off x="200029" y="858592"/>
            <a:ext cx="2030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m=1.27 and </a:t>
            </a:r>
            <a:r>
              <a:rPr lang="en-US" b="1" dirty="0" err="1" smtClean="0"/>
              <a:t>p.f</a:t>
            </a:r>
            <a:r>
              <a:rPr lang="en-US" b="1" dirty="0" smtClean="0"/>
              <a:t>=0.9</a:t>
            </a:r>
            <a:endParaRPr lang="sv-SE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74404974"/>
                  </p:ext>
                </p:extLst>
              </p:nvPr>
            </p:nvGraphicFramePr>
            <p:xfrm>
              <a:off x="104779" y="3058208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232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1716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99.43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74404974"/>
                  </p:ext>
                </p:extLst>
              </p:nvPr>
            </p:nvGraphicFramePr>
            <p:xfrm>
              <a:off x="104779" y="3058208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67" t="-3311" r="-1213333" b="-90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228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99.58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232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1716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99.43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0740827"/>
                  </p:ext>
                </p:extLst>
              </p:nvPr>
            </p:nvGraphicFramePr>
            <p:xfrm>
              <a:off x="104779" y="4888492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087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Temp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1599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99.47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99.31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0740827"/>
                  </p:ext>
                </p:extLst>
              </p:nvPr>
            </p:nvGraphicFramePr>
            <p:xfrm>
              <a:off x="104779" y="4888492"/>
              <a:ext cx="11991971" cy="1656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398">
                      <a:extLst>
                        <a:ext uri="{9D8B030D-6E8A-4147-A177-3AD203B41FA5}">
                          <a16:colId xmlns:a16="http://schemas.microsoft.com/office/drawing/2014/main" val="76525445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val="1853295923"/>
                        </a:ext>
                      </a:extLst>
                    </a:gridCol>
                    <a:gridCol w="1200150">
                      <a:extLst>
                        <a:ext uri="{9D8B030D-6E8A-4147-A177-3AD203B41FA5}">
                          <a16:colId xmlns:a16="http://schemas.microsoft.com/office/drawing/2014/main" val="1851522375"/>
                        </a:ext>
                      </a:extLst>
                    </a:gridCol>
                    <a:gridCol w="1285875">
                      <a:extLst>
                        <a:ext uri="{9D8B030D-6E8A-4147-A177-3AD203B41FA5}">
                          <a16:colId xmlns:a16="http://schemas.microsoft.com/office/drawing/2014/main" val="1802202697"/>
                        </a:ext>
                      </a:extLst>
                    </a:gridCol>
                    <a:gridCol w="1257300">
                      <a:extLst>
                        <a:ext uri="{9D8B030D-6E8A-4147-A177-3AD203B41FA5}">
                          <a16:colId xmlns:a16="http://schemas.microsoft.com/office/drawing/2014/main" val="446967681"/>
                        </a:ext>
                      </a:extLst>
                    </a:gridCol>
                    <a:gridCol w="1266825">
                      <a:extLst>
                        <a:ext uri="{9D8B030D-6E8A-4147-A177-3AD203B41FA5}">
                          <a16:colId xmlns:a16="http://schemas.microsoft.com/office/drawing/2014/main" val="1669111888"/>
                        </a:ext>
                      </a:extLst>
                    </a:gridCol>
                    <a:gridCol w="1428750">
                      <a:extLst>
                        <a:ext uri="{9D8B030D-6E8A-4147-A177-3AD203B41FA5}">
                          <a16:colId xmlns:a16="http://schemas.microsoft.com/office/drawing/2014/main" val="2752168892"/>
                        </a:ext>
                      </a:extLst>
                    </a:gridCol>
                    <a:gridCol w="1209675">
                      <a:extLst>
                        <a:ext uri="{9D8B030D-6E8A-4147-A177-3AD203B41FA5}">
                          <a16:colId xmlns:a16="http://schemas.microsoft.com/office/drawing/2014/main" val="3919383537"/>
                        </a:ext>
                      </a:extLst>
                    </a:gridCol>
                    <a:gridCol w="952500">
                      <a:extLst>
                        <a:ext uri="{9D8B030D-6E8A-4147-A177-3AD203B41FA5}">
                          <a16:colId xmlns:a16="http://schemas.microsoft.com/office/drawing/2014/main" val="934952341"/>
                        </a:ext>
                      </a:extLst>
                    </a:gridCol>
                    <a:gridCol w="1257298">
                      <a:extLst>
                        <a:ext uri="{9D8B030D-6E8A-4147-A177-3AD203B41FA5}">
                          <a16:colId xmlns:a16="http://schemas.microsoft.com/office/drawing/2014/main" val="2158682573"/>
                        </a:ext>
                      </a:extLst>
                    </a:gridCol>
                  </a:tblGrid>
                  <a:tr h="91440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667" t="-3311" r="-1213333" b="-90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Current 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(A </a:t>
                          </a:r>
                          <a:r>
                            <a:rPr lang="en-US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rms</a:t>
                          </a: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DC-link voltage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(V)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Frequency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(kHz)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Energy (</a:t>
                          </a:r>
                          <a:r>
                            <a:rPr lang="en-US" baseline="0" dirty="0" err="1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mJ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-mean)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Switching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Conduction</a:t>
                          </a:r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Loss </a:t>
                          </a:r>
                        </a:p>
                        <a:p>
                          <a:pPr algn="ctr"/>
                          <a:r>
                            <a:rPr lang="en-US" baseline="0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Total Loss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Power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(kW)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Efficiency</a:t>
                          </a:r>
                        </a:p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(%)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0662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342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191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1599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99.47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2573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125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11.6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348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340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2064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300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99.31</a:t>
                          </a:r>
                          <a:endParaRPr lang="sv-SE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89650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57968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930</Words>
  <Application>Microsoft Office PowerPoint</Application>
  <PresentationFormat>Widescreen</PresentationFormat>
  <Paragraphs>530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Effect of dv/dt</vt:lpstr>
      <vt:lpstr>CAB500M17HM3</vt:lpstr>
      <vt:lpstr>Basic Calculations </vt:lpstr>
      <vt:lpstr>CAS380M17HM3</vt:lpstr>
      <vt:lpstr>Basic Calculations </vt:lpstr>
      <vt:lpstr>WAS310M17BM3</vt:lpstr>
      <vt:lpstr>Basic Calculations 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44</cp:revision>
  <dcterms:created xsi:type="dcterms:W3CDTF">2023-10-04T08:35:24Z</dcterms:created>
  <dcterms:modified xsi:type="dcterms:W3CDTF">2023-10-04T15:43:23Z</dcterms:modified>
</cp:coreProperties>
</file>