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1" r:id="rId5"/>
    <p:sldId id="268" r:id="rId6"/>
    <p:sldId id="262" r:id="rId7"/>
    <p:sldId id="264" r:id="rId8"/>
    <p:sldId id="265" r:id="rId9"/>
    <p:sldId id="266" r:id="rId10"/>
    <p:sldId id="267" r:id="rId11"/>
    <p:sldId id="260" r:id="rId1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48320-CD47-4052-ADDD-D819C92E4C86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216CD-4008-44B2-8691-C150C71C924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3189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216CD-4008-44B2-8691-C150C71C924D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833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216CD-4008-44B2-8691-C150C71C924D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6536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216CD-4008-44B2-8691-C150C71C924D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4370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216CD-4008-44B2-8691-C150C71C924D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6801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216CD-4008-44B2-8691-C150C71C924D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0553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3126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586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79135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989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326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504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60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522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982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209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687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1E336-1465-4761-8EE1-9A745EC7FE3E}" type="datetimeFigureOut">
              <a:rPr lang="sv-SE" smtClean="0"/>
              <a:t>2023-10-11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208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47" y="454024"/>
            <a:ext cx="11994627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7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" y="476730"/>
            <a:ext cx="11303000" cy="26474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60" y="3517899"/>
            <a:ext cx="11386387" cy="26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4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9" y="1336774"/>
            <a:ext cx="11019971" cy="258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5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8725" y="256378"/>
            <a:ext cx="4111625" cy="885820"/>
          </a:xfrm>
        </p:spPr>
        <p:txBody>
          <a:bodyPr/>
          <a:lstStyle/>
          <a:p>
            <a:r>
              <a:rPr lang="sv-SE" dirty="0" smtClean="0"/>
              <a:t>CAB500M17HM3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50" y="157157"/>
            <a:ext cx="3185371" cy="10842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6824146"/>
                  </p:ext>
                </p:extLst>
              </p:nvPr>
            </p:nvGraphicFramePr>
            <p:xfrm>
              <a:off x="2050204" y="1585910"/>
              <a:ext cx="7404100" cy="3139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13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643737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048083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Esw</a:t>
                          </a:r>
                          <a:endParaRPr lang="en-US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Rds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2865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74885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67247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27812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6824146"/>
                  </p:ext>
                </p:extLst>
              </p:nvPr>
            </p:nvGraphicFramePr>
            <p:xfrm>
              <a:off x="2050204" y="1585910"/>
              <a:ext cx="7404100" cy="3139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13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643737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048083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9" t="-3333" r="-433772" b="-2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Esw</a:t>
                          </a:r>
                          <a:endParaRPr lang="en-US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32530" t="-3333" r="-1205" b="-2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2865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74885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67247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27812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1236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04395"/>
            <a:ext cx="10515600" cy="863600"/>
          </a:xfrm>
        </p:spPr>
        <p:txBody>
          <a:bodyPr/>
          <a:lstStyle/>
          <a:p>
            <a:r>
              <a:rPr lang="en-US" b="1" dirty="0" smtClean="0"/>
              <a:t>Basic Calculations </a:t>
            </a:r>
            <a:endParaRPr lang="sv-S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1684997"/>
                  </p:ext>
                </p:extLst>
              </p:nvPr>
            </p:nvGraphicFramePr>
            <p:xfrm>
              <a:off x="121569" y="1232041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1362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1684997"/>
                  </p:ext>
                </p:extLst>
              </p:nvPr>
            </p:nvGraphicFramePr>
            <p:xfrm>
              <a:off x="121569" y="1232041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67" t="-3333" r="-1214000" b="-9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1362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121570" y="847487"/>
            <a:ext cx="2030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m=1.27 and </a:t>
            </a:r>
            <a:r>
              <a:rPr lang="en-US" b="1" dirty="0" err="1" smtClean="0"/>
              <a:t>p.f</a:t>
            </a:r>
            <a:r>
              <a:rPr lang="en-US" b="1" dirty="0" smtClean="0"/>
              <a:t>=0.9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4943367"/>
                  </p:ext>
                </p:extLst>
              </p:nvPr>
            </p:nvGraphicFramePr>
            <p:xfrm>
              <a:off x="121568" y="3296084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2088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4943367"/>
                  </p:ext>
                </p:extLst>
              </p:nvPr>
            </p:nvGraphicFramePr>
            <p:xfrm>
              <a:off x="121568" y="3296084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67" t="-3311" r="-1214000" b="-907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2088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378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04395"/>
            <a:ext cx="10515600" cy="863600"/>
          </a:xfrm>
        </p:spPr>
        <p:txBody>
          <a:bodyPr/>
          <a:lstStyle/>
          <a:p>
            <a:r>
              <a:rPr lang="en-US" b="1" dirty="0" smtClean="0"/>
              <a:t>Basic Calculations </a:t>
            </a:r>
            <a:endParaRPr lang="sv-S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496400"/>
                  </p:ext>
                </p:extLst>
              </p:nvPr>
            </p:nvGraphicFramePr>
            <p:xfrm>
              <a:off x="140106" y="1109165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774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496400"/>
                  </p:ext>
                </p:extLst>
              </p:nvPr>
            </p:nvGraphicFramePr>
            <p:xfrm>
              <a:off x="140106" y="1109165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67" t="-3311" r="-1214000" b="-907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774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140106" y="739833"/>
            <a:ext cx="17350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m=1 and </a:t>
            </a:r>
            <a:r>
              <a:rPr lang="en-US" b="1" dirty="0" err="1" smtClean="0"/>
              <a:t>p.f</a:t>
            </a:r>
            <a:r>
              <a:rPr lang="en-US" b="1" dirty="0" smtClean="0"/>
              <a:t>=0.9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252231"/>
                  </p:ext>
                </p:extLst>
              </p:nvPr>
            </p:nvGraphicFramePr>
            <p:xfrm>
              <a:off x="140104" y="3165874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1362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252231"/>
                  </p:ext>
                </p:extLst>
              </p:nvPr>
            </p:nvGraphicFramePr>
            <p:xfrm>
              <a:off x="140104" y="3165874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67" t="-3311" r="-1214000" b="-900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1362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140105" y="2781320"/>
            <a:ext cx="2030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m=1.27 and </a:t>
            </a:r>
            <a:r>
              <a:rPr lang="en-US" b="1" dirty="0" err="1" smtClean="0"/>
              <a:t>p.f</a:t>
            </a:r>
            <a:r>
              <a:rPr lang="en-US" b="1" dirty="0" smtClean="0"/>
              <a:t>=0.9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240657"/>
                  </p:ext>
                </p:extLst>
              </p:nvPr>
            </p:nvGraphicFramePr>
            <p:xfrm>
              <a:off x="140105" y="5056922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2088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240657"/>
                  </p:ext>
                </p:extLst>
              </p:nvPr>
            </p:nvGraphicFramePr>
            <p:xfrm>
              <a:off x="140105" y="5056922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67" t="-3311" r="-1214000" b="-900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484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2088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142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8725" y="256378"/>
            <a:ext cx="4111625" cy="885820"/>
          </a:xfrm>
        </p:spPr>
        <p:txBody>
          <a:bodyPr/>
          <a:lstStyle/>
          <a:p>
            <a:r>
              <a:rPr lang="sv-SE" dirty="0" smtClean="0"/>
              <a:t>CAS380M17HM3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157692"/>
                  </p:ext>
                </p:extLst>
              </p:nvPr>
            </p:nvGraphicFramePr>
            <p:xfrm>
              <a:off x="2221654" y="1243010"/>
              <a:ext cx="7404100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13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643222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048598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Esw</a:t>
                          </a:r>
                          <a:endParaRPr lang="en-US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Rds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28651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157692"/>
                  </p:ext>
                </p:extLst>
              </p:nvPr>
            </p:nvGraphicFramePr>
            <p:xfrm>
              <a:off x="2221654" y="1243010"/>
              <a:ext cx="7404100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13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643222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048598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9" t="-3311" r="-434211" b="-907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Esw</a:t>
                          </a:r>
                          <a:endParaRPr lang="en-US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33133" t="-3311" r="-1205" b="-907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28651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604" y="151598"/>
            <a:ext cx="2476500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4" y="3111243"/>
            <a:ext cx="4336105" cy="31108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624" y="3177918"/>
            <a:ext cx="4469659" cy="311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2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04395"/>
            <a:ext cx="10515600" cy="863600"/>
          </a:xfrm>
        </p:spPr>
        <p:txBody>
          <a:bodyPr/>
          <a:lstStyle/>
          <a:p>
            <a:r>
              <a:rPr lang="en-US" b="1" dirty="0" smtClean="0"/>
              <a:t>Basic Calculations </a:t>
            </a:r>
            <a:endParaRPr lang="sv-S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840067"/>
                  </p:ext>
                </p:extLst>
              </p:nvPr>
            </p:nvGraphicFramePr>
            <p:xfrm>
              <a:off x="104779" y="1227924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99.77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840067"/>
                  </p:ext>
                </p:extLst>
              </p:nvPr>
            </p:nvGraphicFramePr>
            <p:xfrm>
              <a:off x="104779" y="1227924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67" t="-3311" r="-1213333" b="-900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99.77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104777" y="858592"/>
            <a:ext cx="2030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m=1.27 and </a:t>
            </a:r>
            <a:r>
              <a:rPr lang="en-US" b="1" dirty="0" err="1" smtClean="0"/>
              <a:t>p.f</a:t>
            </a:r>
            <a:r>
              <a:rPr lang="en-US" b="1" dirty="0" smtClean="0"/>
              <a:t>=0.9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060570"/>
                  </p:ext>
                </p:extLst>
              </p:nvPr>
            </p:nvGraphicFramePr>
            <p:xfrm>
              <a:off x="104778" y="3143933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1305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060570"/>
                  </p:ext>
                </p:extLst>
              </p:nvPr>
            </p:nvGraphicFramePr>
            <p:xfrm>
              <a:off x="104778" y="3143933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67" t="-3311" r="-1213333" b="-907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1305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4091428"/>
                  </p:ext>
                </p:extLst>
              </p:nvPr>
            </p:nvGraphicFramePr>
            <p:xfrm>
              <a:off x="104777" y="5059942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1299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1641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4091428"/>
                  </p:ext>
                </p:extLst>
              </p:nvPr>
            </p:nvGraphicFramePr>
            <p:xfrm>
              <a:off x="104777" y="5059942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67" t="-3333" r="-1213333" b="-9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1299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1641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915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8725" y="256378"/>
            <a:ext cx="4111625" cy="885820"/>
          </a:xfrm>
        </p:spPr>
        <p:txBody>
          <a:bodyPr>
            <a:normAutofit fontScale="90000"/>
          </a:bodyPr>
          <a:lstStyle/>
          <a:p>
            <a:r>
              <a:rPr lang="sv-SE" dirty="0" smtClean="0"/>
              <a:t>WAS310M17BM3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2854285"/>
                  </p:ext>
                </p:extLst>
              </p:nvPr>
            </p:nvGraphicFramePr>
            <p:xfrm>
              <a:off x="2050204" y="1595435"/>
              <a:ext cx="7404100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13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643222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048598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Esw</a:t>
                          </a:r>
                          <a:endParaRPr lang="en-US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Rds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28651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2854285"/>
                  </p:ext>
                </p:extLst>
              </p:nvPr>
            </p:nvGraphicFramePr>
            <p:xfrm>
              <a:off x="2050204" y="1595435"/>
              <a:ext cx="7404100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13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150593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643222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048598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011978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9" t="-3311" r="-433772" b="-907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Esw</a:t>
                          </a:r>
                          <a:endParaRPr lang="en-US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32530" t="-3311" r="-1205" b="-907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28651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604" y="0"/>
            <a:ext cx="2552700" cy="1152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095" y="3534318"/>
            <a:ext cx="3924809" cy="2790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713" y="3495128"/>
            <a:ext cx="4100512" cy="283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2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04395"/>
            <a:ext cx="10515600" cy="863600"/>
          </a:xfrm>
        </p:spPr>
        <p:txBody>
          <a:bodyPr/>
          <a:lstStyle/>
          <a:p>
            <a:r>
              <a:rPr lang="en-US" b="1" dirty="0" smtClean="0"/>
              <a:t>Basic Calculations </a:t>
            </a:r>
            <a:endParaRPr lang="sv-S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669081"/>
                  </p:ext>
                </p:extLst>
              </p:nvPr>
            </p:nvGraphicFramePr>
            <p:xfrm>
              <a:off x="104779" y="1227924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1368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669081"/>
                  </p:ext>
                </p:extLst>
              </p:nvPr>
            </p:nvGraphicFramePr>
            <p:xfrm>
              <a:off x="104779" y="1227924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67" t="-3311" r="-1213333" b="-900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99.69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1368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200029" y="858592"/>
            <a:ext cx="2030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m=1.27 and </a:t>
            </a:r>
            <a:r>
              <a:rPr lang="en-US" b="1" dirty="0" err="1" smtClean="0"/>
              <a:t>p.f</a:t>
            </a:r>
            <a:r>
              <a:rPr lang="en-US" b="1" dirty="0" smtClean="0"/>
              <a:t>=0.9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404974"/>
                  </p:ext>
                </p:extLst>
              </p:nvPr>
            </p:nvGraphicFramePr>
            <p:xfrm>
              <a:off x="104779" y="3058208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1716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404974"/>
                  </p:ext>
                </p:extLst>
              </p:nvPr>
            </p:nvGraphicFramePr>
            <p:xfrm>
              <a:off x="104779" y="3058208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67" t="-3311" r="-1213333" b="-907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99.58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1716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0740827"/>
                  </p:ext>
                </p:extLst>
              </p:nvPr>
            </p:nvGraphicFramePr>
            <p:xfrm>
              <a:off x="104779" y="4888492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1599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99.31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0740827"/>
                  </p:ext>
                </p:extLst>
              </p:nvPr>
            </p:nvGraphicFramePr>
            <p:xfrm>
              <a:off x="104779" y="4888492"/>
              <a:ext cx="11991971" cy="165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398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1200150">
                      <a:extLst>
                        <a:ext uri="{9D8B030D-6E8A-4147-A177-3AD203B41FA5}">
                          <a16:colId xmlns:a16="http://schemas.microsoft.com/office/drawing/2014/main" val="1851522375"/>
                        </a:ext>
                      </a:extLst>
                    </a:gridCol>
                    <a:gridCol w="1285875">
                      <a:extLst>
                        <a:ext uri="{9D8B030D-6E8A-4147-A177-3AD203B41FA5}">
                          <a16:colId xmlns:a16="http://schemas.microsoft.com/office/drawing/2014/main" val="1802202697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446967681"/>
                        </a:ext>
                      </a:extLst>
                    </a:gridCol>
                    <a:gridCol w="1266825">
                      <a:extLst>
                        <a:ext uri="{9D8B030D-6E8A-4147-A177-3AD203B41FA5}">
                          <a16:colId xmlns:a16="http://schemas.microsoft.com/office/drawing/2014/main" val="1669111888"/>
                        </a:ext>
                      </a:extLst>
                    </a:gridCol>
                    <a:gridCol w="14287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209675">
                      <a:extLst>
                        <a:ext uri="{9D8B030D-6E8A-4147-A177-3AD203B41FA5}">
                          <a16:colId xmlns:a16="http://schemas.microsoft.com/office/drawing/2014/main" val="3919383537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934952341"/>
                        </a:ext>
                      </a:extLst>
                    </a:gridCol>
                    <a:gridCol w="1257298">
                      <a:extLst>
                        <a:ext uri="{9D8B030D-6E8A-4147-A177-3AD203B41FA5}">
                          <a16:colId xmlns:a16="http://schemas.microsoft.com/office/drawing/2014/main" val="21586825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67" t="-3311" r="-1213333" b="-907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 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DC-link voltage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(V)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Frequency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(kHz)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 (</a:t>
                          </a:r>
                          <a:r>
                            <a:rPr lang="en-US" baseline="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-mean)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Switching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Conduction</a:t>
                          </a:r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Loss </a:t>
                          </a:r>
                        </a:p>
                        <a:p>
                          <a:pPr algn="ctr"/>
                          <a:r>
                            <a:rPr lang="en-US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Loss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Power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(kW)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Efficiency</a:t>
                          </a:r>
                        </a:p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1599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99.47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2064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99.31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796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450" y="157694"/>
            <a:ext cx="5918200" cy="785383"/>
          </a:xfrm>
        </p:spPr>
        <p:txBody>
          <a:bodyPr/>
          <a:lstStyle/>
          <a:p>
            <a:r>
              <a:rPr lang="en-US" dirty="0" smtClean="0"/>
              <a:t>Effect of dv/</a:t>
            </a:r>
            <a:r>
              <a:rPr lang="en-US" dirty="0" err="1" smtClean="0"/>
              <a:t>dt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8" y="943077"/>
            <a:ext cx="3144141" cy="2167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5971273"/>
                  </p:ext>
                </p:extLst>
              </p:nvPr>
            </p:nvGraphicFramePr>
            <p:xfrm>
              <a:off x="968471" y="3336829"/>
              <a:ext cx="10445752" cy="3175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293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407858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790648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279452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2382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416050">
                      <a:extLst>
                        <a:ext uri="{9D8B030D-6E8A-4147-A177-3AD203B41FA5}">
                          <a16:colId xmlns:a16="http://schemas.microsoft.com/office/drawing/2014/main" val="1978550322"/>
                        </a:ext>
                      </a:extLst>
                    </a:gridCol>
                    <a:gridCol w="1377950">
                      <a:extLst>
                        <a:ext uri="{9D8B030D-6E8A-4147-A177-3AD203B41FA5}">
                          <a16:colId xmlns:a16="http://schemas.microsoft.com/office/drawing/2014/main" val="3843558292"/>
                        </a:ext>
                      </a:extLst>
                    </a:gridCol>
                    <a:gridCol w="1238251">
                      <a:extLst>
                        <a:ext uri="{9D8B030D-6E8A-4147-A177-3AD203B41FA5}">
                          <a16:colId xmlns:a16="http://schemas.microsoft.com/office/drawing/2014/main" val="4197363272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Gate Resistance (Ext)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oMath>
                          </a14:m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4069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006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799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Changes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X3.5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/1.66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067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Change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x2.15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9783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5971273"/>
                  </p:ext>
                </p:extLst>
              </p:nvPr>
            </p:nvGraphicFramePr>
            <p:xfrm>
              <a:off x="968471" y="3336829"/>
              <a:ext cx="10445752" cy="3175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293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407858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790648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279452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2382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416050">
                      <a:extLst>
                        <a:ext uri="{9D8B030D-6E8A-4147-A177-3AD203B41FA5}">
                          <a16:colId xmlns:a16="http://schemas.microsoft.com/office/drawing/2014/main" val="1978550322"/>
                        </a:ext>
                      </a:extLst>
                    </a:gridCol>
                    <a:gridCol w="1377950">
                      <a:extLst>
                        <a:ext uri="{9D8B030D-6E8A-4147-A177-3AD203B41FA5}">
                          <a16:colId xmlns:a16="http://schemas.microsoft.com/office/drawing/2014/main" val="3843558292"/>
                        </a:ext>
                      </a:extLst>
                    </a:gridCol>
                    <a:gridCol w="1238251">
                      <a:extLst>
                        <a:ext uri="{9D8B030D-6E8A-4147-A177-3AD203B41FA5}">
                          <a16:colId xmlns:a16="http://schemas.microsoft.com/office/drawing/2014/main" val="419736327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8" t="-3333" r="-515412" b="-25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4069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006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799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Changes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X3.5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/1.66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067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Change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x2.15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97830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426" y="965621"/>
            <a:ext cx="3047206" cy="21674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097" y="892764"/>
            <a:ext cx="3184903" cy="23132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8897" y="954349"/>
            <a:ext cx="3068964" cy="216749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43400" y="21743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 smtClean="0"/>
              <a:t>https://eu.mouser.com/datasheet/2/90/CAB006A12GM3-2886938.pdf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9402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1076</Words>
  <Application>Microsoft Office PowerPoint</Application>
  <PresentationFormat>Widescreen</PresentationFormat>
  <Paragraphs>611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CAB500M17HM3</vt:lpstr>
      <vt:lpstr>Basic Calculations </vt:lpstr>
      <vt:lpstr>Basic Calculations </vt:lpstr>
      <vt:lpstr>CAS380M17HM3</vt:lpstr>
      <vt:lpstr>Basic Calculations </vt:lpstr>
      <vt:lpstr>WAS310M17BM3</vt:lpstr>
      <vt:lpstr>Basic Calculations </vt:lpstr>
      <vt:lpstr>Effect of dv/dt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49</cp:revision>
  <dcterms:created xsi:type="dcterms:W3CDTF">2023-10-04T08:35:24Z</dcterms:created>
  <dcterms:modified xsi:type="dcterms:W3CDTF">2023-10-12T07:35:41Z</dcterms:modified>
</cp:coreProperties>
</file>