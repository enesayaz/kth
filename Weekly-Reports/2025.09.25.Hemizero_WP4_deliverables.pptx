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12"/>
  </p:notesMasterIdLst>
  <p:sldIdLst>
    <p:sldId id="272" r:id="rId5"/>
    <p:sldId id="273" r:id="rId6"/>
    <p:sldId id="275" r:id="rId7"/>
    <p:sldId id="277" r:id="rId8"/>
    <p:sldId id="278" r:id="rId9"/>
    <p:sldId id="279" r:id="rId10"/>
    <p:sldId id="280" r:id="rId11"/>
  </p:sldIdLst>
  <p:sldSz cx="12192000" cy="6858000"/>
  <p:notesSz cx="6858000" cy="9144000"/>
  <p:embeddedFontLst>
    <p:embeddedFont>
      <p:font typeface="Calibri" panose="020F0502020204030204" pitchFamily="34" charset="0"/>
      <p:regular r:id="rId13"/>
      <p:bold r:id="rId14"/>
      <p:italic r:id="rId15"/>
      <p:boldItalic r:id="rId16"/>
    </p:embeddedFont>
    <p:embeddedFont>
      <p:font typeface="Cambria Math" panose="02040503050406030204" pitchFamily="18" charset="0"/>
      <p:regular r:id="rId17"/>
    </p:embeddedFont>
    <p:embeddedFont>
      <p:font typeface="Figtree" panose="020B0604020202020204" charset="0"/>
      <p:regular r:id="rId18"/>
      <p:bold r:id="rId19"/>
      <p:italic r:id="rId20"/>
      <p:boldItalic r:id="rId21"/>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492678-4A8E-F663-92EB-D51D9808D16C}" v="172" dt="2025-09-25T12:21:37.9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27"/>
  </p:normalViewPr>
  <p:slideViewPr>
    <p:cSldViewPr snapToGrid="0">
      <p:cViewPr>
        <p:scale>
          <a:sx n="125" d="100"/>
          <a:sy n="125" d="100"/>
        </p:scale>
        <p:origin x="858" y="8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1.fntdata"/><Relationship Id="rId18" Type="http://schemas.openxmlformats.org/officeDocument/2006/relationships/font" Target="fonts/font6.fntdata"/><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font" Target="fonts/font9.fntdata"/><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2.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2025-09-25</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2025-09-25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2025-09-25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2025-09-25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2025-09-25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2025-09-25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2025-09-25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2025-09-25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2025-09-25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2025-09-25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2025-09-25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2025-09-25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2025-09-25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2025-09-25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2025-09-25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2025-09-25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2025-09-25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2025-09-25</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2025-09-25</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2025-09-25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2025-09-25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2025-09-25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2025-09-25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2025-09-25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2025-09-25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2025-09-25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2025-09-25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2025-09-25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2025-09-25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2025-09-25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2025-09-25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2025-09-25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2025-09-25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2025-09-25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2025-09-25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2025-09-25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2025-09-25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2025-09-25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2025-09-25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2025-09-25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2025-09-25</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2025-09-25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2025-09-25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2025-09-25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2025-09-25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2025-09-25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2025-09-25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2025-09-25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2025-09-25</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1.xml"/><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emf"/><Relationship Id="rId7" Type="http://schemas.openxmlformats.org/officeDocument/2006/relationships/image" Target="../media/image29.emf"/><Relationship Id="rId2" Type="http://schemas.openxmlformats.org/officeDocument/2006/relationships/image" Target="../media/image24.png"/><Relationship Id="rId1" Type="http://schemas.openxmlformats.org/officeDocument/2006/relationships/slideLayout" Target="../slideLayouts/slideLayout12.xml"/><Relationship Id="rId6" Type="http://schemas.openxmlformats.org/officeDocument/2006/relationships/image" Target="../media/image28.emf"/><Relationship Id="rId5" Type="http://schemas.openxmlformats.org/officeDocument/2006/relationships/image" Target="../media/image27.emf"/><Relationship Id="rId4" Type="http://schemas.openxmlformats.org/officeDocument/2006/relationships/image" Target="../media/image26.png"/><Relationship Id="rId9" Type="http://schemas.openxmlformats.org/officeDocument/2006/relationships/image" Target="../media/image31.png"/></Relationships>
</file>

<file path=ppt/slides/_rels/slide4.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1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12ED6-312C-15E2-4D7E-147A4B1B461D}"/>
              </a:ext>
            </a:extLst>
          </p:cNvPr>
          <p:cNvSpPr>
            <a:spLocks noGrp="1"/>
          </p:cNvSpPr>
          <p:nvPr>
            <p:ph type="title"/>
          </p:nvPr>
        </p:nvSpPr>
        <p:spPr/>
        <p:txBody>
          <a:bodyPr/>
          <a:lstStyle/>
          <a:p>
            <a:r>
              <a:rPr lang="en-US" dirty="0"/>
              <a:t>WP4: Progress Update</a:t>
            </a:r>
          </a:p>
        </p:txBody>
      </p:sp>
      <p:sp>
        <p:nvSpPr>
          <p:cNvPr id="3" name="Content Placeholder 2">
            <a:extLst>
              <a:ext uri="{FF2B5EF4-FFF2-40B4-BE49-F238E27FC236}">
                <a16:creationId xmlns:a16="http://schemas.microsoft.com/office/drawing/2014/main" id="{861ABEC9-FE54-DF3E-DB62-CEF0D78D785D}"/>
              </a:ext>
            </a:extLst>
          </p:cNvPr>
          <p:cNvSpPr>
            <a:spLocks noGrp="1"/>
          </p:cNvSpPr>
          <p:nvPr>
            <p:ph idx="1"/>
          </p:nvPr>
        </p:nvSpPr>
        <p:spPr/>
        <p:txBody>
          <a:bodyPr/>
          <a:lstStyle/>
          <a:p>
            <a:pPr marL="0" indent="0">
              <a:buNone/>
            </a:pPr>
            <a:r>
              <a:rPr lang="en-US" b="1" dirty="0"/>
              <a:t>Objective: </a:t>
            </a:r>
            <a:r>
              <a:rPr lang="en-US" dirty="0"/>
              <a:t>Main development</a:t>
            </a:r>
            <a:r>
              <a:rPr lang="en-US" b="1" dirty="0"/>
              <a:t> </a:t>
            </a:r>
            <a:r>
              <a:rPr lang="en-US" dirty="0"/>
              <a:t>inverter for high voltage system. </a:t>
            </a:r>
          </a:p>
        </p:txBody>
      </p:sp>
      <p:graphicFrame>
        <p:nvGraphicFramePr>
          <p:cNvPr id="4" name="Content Placeholder 3">
            <a:extLst>
              <a:ext uri="{FF2B5EF4-FFF2-40B4-BE49-F238E27FC236}">
                <a16:creationId xmlns:a16="http://schemas.microsoft.com/office/drawing/2014/main" id="{C4343F10-989D-6577-246D-1538BAB73305}"/>
              </a:ext>
            </a:extLst>
          </p:cNvPr>
          <p:cNvGraphicFramePr>
            <a:graphicFrameLocks/>
          </p:cNvGraphicFramePr>
          <p:nvPr/>
        </p:nvGraphicFramePr>
        <p:xfrm>
          <a:off x="600075" y="1853907"/>
          <a:ext cx="10097691" cy="2225040"/>
        </p:xfrm>
        <a:graphic>
          <a:graphicData uri="http://schemas.openxmlformats.org/drawingml/2006/table">
            <a:tbl>
              <a:tblPr firstRow="1" bandRow="1">
                <a:tableStyleId>{5C22544A-7EE6-4342-B048-85BDC9FD1C3A}</a:tableStyleId>
              </a:tblPr>
              <a:tblGrid>
                <a:gridCol w="4118978">
                  <a:extLst>
                    <a:ext uri="{9D8B030D-6E8A-4147-A177-3AD203B41FA5}">
                      <a16:colId xmlns:a16="http://schemas.microsoft.com/office/drawing/2014/main" val="1715558184"/>
                    </a:ext>
                  </a:extLst>
                </a:gridCol>
                <a:gridCol w="305109">
                  <a:extLst>
                    <a:ext uri="{9D8B030D-6E8A-4147-A177-3AD203B41FA5}">
                      <a16:colId xmlns:a16="http://schemas.microsoft.com/office/drawing/2014/main" val="2483269492"/>
                    </a:ext>
                  </a:extLst>
                </a:gridCol>
                <a:gridCol w="363347">
                  <a:extLst>
                    <a:ext uri="{9D8B030D-6E8A-4147-A177-3AD203B41FA5}">
                      <a16:colId xmlns:a16="http://schemas.microsoft.com/office/drawing/2014/main" val="1945346401"/>
                    </a:ext>
                  </a:extLst>
                </a:gridCol>
                <a:gridCol w="354877">
                  <a:extLst>
                    <a:ext uri="{9D8B030D-6E8A-4147-A177-3AD203B41FA5}">
                      <a16:colId xmlns:a16="http://schemas.microsoft.com/office/drawing/2014/main" val="1956685442"/>
                    </a:ext>
                  </a:extLst>
                </a:gridCol>
                <a:gridCol w="354877">
                  <a:extLst>
                    <a:ext uri="{9D8B030D-6E8A-4147-A177-3AD203B41FA5}">
                      <a16:colId xmlns:a16="http://schemas.microsoft.com/office/drawing/2014/main" val="1873674011"/>
                    </a:ext>
                  </a:extLst>
                </a:gridCol>
                <a:gridCol w="374234">
                  <a:extLst>
                    <a:ext uri="{9D8B030D-6E8A-4147-A177-3AD203B41FA5}">
                      <a16:colId xmlns:a16="http://schemas.microsoft.com/office/drawing/2014/main" val="406173214"/>
                    </a:ext>
                  </a:extLst>
                </a:gridCol>
                <a:gridCol w="400044">
                  <a:extLst>
                    <a:ext uri="{9D8B030D-6E8A-4147-A177-3AD203B41FA5}">
                      <a16:colId xmlns:a16="http://schemas.microsoft.com/office/drawing/2014/main" val="2980513574"/>
                    </a:ext>
                  </a:extLst>
                </a:gridCol>
                <a:gridCol w="374234">
                  <a:extLst>
                    <a:ext uri="{9D8B030D-6E8A-4147-A177-3AD203B41FA5}">
                      <a16:colId xmlns:a16="http://schemas.microsoft.com/office/drawing/2014/main" val="4238306596"/>
                    </a:ext>
                  </a:extLst>
                </a:gridCol>
                <a:gridCol w="423836">
                  <a:extLst>
                    <a:ext uri="{9D8B030D-6E8A-4147-A177-3AD203B41FA5}">
                      <a16:colId xmlns:a16="http://schemas.microsoft.com/office/drawing/2014/main" val="3028314082"/>
                    </a:ext>
                  </a:extLst>
                </a:gridCol>
                <a:gridCol w="421418">
                  <a:extLst>
                    <a:ext uri="{9D8B030D-6E8A-4147-A177-3AD203B41FA5}">
                      <a16:colId xmlns:a16="http://schemas.microsoft.com/office/drawing/2014/main" val="507415313"/>
                    </a:ext>
                  </a:extLst>
                </a:gridCol>
                <a:gridCol w="380687">
                  <a:extLst>
                    <a:ext uri="{9D8B030D-6E8A-4147-A177-3AD203B41FA5}">
                      <a16:colId xmlns:a16="http://schemas.microsoft.com/office/drawing/2014/main" val="3913904068"/>
                    </a:ext>
                  </a:extLst>
                </a:gridCol>
                <a:gridCol w="361330">
                  <a:extLst>
                    <a:ext uri="{9D8B030D-6E8A-4147-A177-3AD203B41FA5}">
                      <a16:colId xmlns:a16="http://schemas.microsoft.com/office/drawing/2014/main" val="2032044853"/>
                    </a:ext>
                  </a:extLst>
                </a:gridCol>
                <a:gridCol w="354877">
                  <a:extLst>
                    <a:ext uri="{9D8B030D-6E8A-4147-A177-3AD203B41FA5}">
                      <a16:colId xmlns:a16="http://schemas.microsoft.com/office/drawing/2014/main" val="2366692508"/>
                    </a:ext>
                  </a:extLst>
                </a:gridCol>
                <a:gridCol w="316164">
                  <a:extLst>
                    <a:ext uri="{9D8B030D-6E8A-4147-A177-3AD203B41FA5}">
                      <a16:colId xmlns:a16="http://schemas.microsoft.com/office/drawing/2014/main" val="3832782621"/>
                    </a:ext>
                  </a:extLst>
                </a:gridCol>
                <a:gridCol w="387139">
                  <a:extLst>
                    <a:ext uri="{9D8B030D-6E8A-4147-A177-3AD203B41FA5}">
                      <a16:colId xmlns:a16="http://schemas.microsoft.com/office/drawing/2014/main" val="1730476488"/>
                    </a:ext>
                  </a:extLst>
                </a:gridCol>
                <a:gridCol w="406496">
                  <a:extLst>
                    <a:ext uri="{9D8B030D-6E8A-4147-A177-3AD203B41FA5}">
                      <a16:colId xmlns:a16="http://schemas.microsoft.com/office/drawing/2014/main" val="4154092806"/>
                    </a:ext>
                  </a:extLst>
                </a:gridCol>
                <a:gridCol w="400044">
                  <a:extLst>
                    <a:ext uri="{9D8B030D-6E8A-4147-A177-3AD203B41FA5}">
                      <a16:colId xmlns:a16="http://schemas.microsoft.com/office/drawing/2014/main" val="4282158076"/>
                    </a:ext>
                  </a:extLst>
                </a:gridCol>
              </a:tblGrid>
              <a:tr h="370840">
                <a:tc>
                  <a:txBody>
                    <a:bodyPr/>
                    <a:lstStyle/>
                    <a:p>
                      <a:endParaRPr lang="sv-SE" sz="1800" dirty="0"/>
                    </a:p>
                  </a:txBody>
                  <a:tcPr/>
                </a:tc>
                <a:tc gridSpan="4">
                  <a:txBody>
                    <a:bodyPr/>
                    <a:lstStyle/>
                    <a:p>
                      <a:r>
                        <a:rPr lang="en-US" sz="1800" dirty="0"/>
                        <a:t>2023</a:t>
                      </a:r>
                      <a:endParaRPr lang="sv-SE" sz="1800" dirty="0"/>
                    </a:p>
                  </a:txBody>
                  <a:tcPr/>
                </a:tc>
                <a:tc hMerge="1">
                  <a:txBody>
                    <a:bodyPr/>
                    <a:lstStyle/>
                    <a:p>
                      <a:endParaRPr lang="sv-SE" dirty="0"/>
                    </a:p>
                  </a:txBody>
                  <a:tcPr/>
                </a:tc>
                <a:tc hMerge="1">
                  <a:txBody>
                    <a:bodyPr/>
                    <a:lstStyle/>
                    <a:p>
                      <a:endParaRPr lang="sv-SE" dirty="0"/>
                    </a:p>
                  </a:txBody>
                  <a:tcPr/>
                </a:tc>
                <a:tc hMerge="1">
                  <a:txBody>
                    <a:bodyPr/>
                    <a:lstStyle/>
                    <a:p>
                      <a:endParaRPr lang="sv-SE" dirty="0"/>
                    </a:p>
                  </a:txBody>
                  <a:tcPr/>
                </a:tc>
                <a:tc gridSpan="4">
                  <a:txBody>
                    <a:bodyPr/>
                    <a:lstStyle/>
                    <a:p>
                      <a:r>
                        <a:rPr lang="en-US" sz="1800" dirty="0"/>
                        <a:t>2024</a:t>
                      </a:r>
                      <a:endParaRPr lang="sv-SE" sz="1800" dirty="0"/>
                    </a:p>
                  </a:txBody>
                  <a:tcPr/>
                </a:tc>
                <a:tc hMerge="1">
                  <a:txBody>
                    <a:bodyPr/>
                    <a:lstStyle/>
                    <a:p>
                      <a:endParaRPr lang="sv-SE" dirty="0"/>
                    </a:p>
                  </a:txBody>
                  <a:tcPr/>
                </a:tc>
                <a:tc hMerge="1">
                  <a:txBody>
                    <a:bodyPr/>
                    <a:lstStyle/>
                    <a:p>
                      <a:endParaRPr lang="sv-SE" dirty="0"/>
                    </a:p>
                  </a:txBody>
                  <a:tcPr/>
                </a:tc>
                <a:tc hMerge="1">
                  <a:txBody>
                    <a:bodyPr/>
                    <a:lstStyle/>
                    <a:p>
                      <a:endParaRPr lang="sv-SE" dirty="0"/>
                    </a:p>
                  </a:txBody>
                  <a:tcPr/>
                </a:tc>
                <a:tc gridSpan="4">
                  <a:txBody>
                    <a:bodyPr/>
                    <a:lstStyle/>
                    <a:p>
                      <a:r>
                        <a:rPr lang="en-US" sz="1800" dirty="0"/>
                        <a:t>2025</a:t>
                      </a:r>
                      <a:endParaRPr lang="sv-SE" sz="1800" dirty="0"/>
                    </a:p>
                  </a:txBody>
                  <a:tcPr/>
                </a:tc>
                <a:tc hMerge="1">
                  <a:txBody>
                    <a:bodyPr/>
                    <a:lstStyle/>
                    <a:p>
                      <a:endParaRPr lang="sv-SE" dirty="0"/>
                    </a:p>
                  </a:txBody>
                  <a:tcPr/>
                </a:tc>
                <a:tc hMerge="1">
                  <a:txBody>
                    <a:bodyPr/>
                    <a:lstStyle/>
                    <a:p>
                      <a:endParaRPr lang="sv-SE" dirty="0"/>
                    </a:p>
                  </a:txBody>
                  <a:tcPr/>
                </a:tc>
                <a:tc hMerge="1">
                  <a:txBody>
                    <a:bodyPr/>
                    <a:lstStyle/>
                    <a:p>
                      <a:endParaRPr lang="sv-SE" dirty="0"/>
                    </a:p>
                  </a:txBody>
                  <a:tcPr/>
                </a:tc>
                <a:tc gridSpan="4">
                  <a:txBody>
                    <a:bodyPr/>
                    <a:lstStyle/>
                    <a:p>
                      <a:r>
                        <a:rPr lang="en-US" sz="1800" dirty="0"/>
                        <a:t>2026</a:t>
                      </a:r>
                      <a:endParaRPr lang="sv-SE" sz="1800" dirty="0"/>
                    </a:p>
                  </a:txBody>
                  <a:tcPr/>
                </a:tc>
                <a:tc hMerge="1">
                  <a:txBody>
                    <a:bodyPr/>
                    <a:lstStyle/>
                    <a:p>
                      <a:endParaRPr lang="sv-SE" dirty="0"/>
                    </a:p>
                  </a:txBody>
                  <a:tcPr/>
                </a:tc>
                <a:tc hMerge="1">
                  <a:txBody>
                    <a:bodyPr/>
                    <a:lstStyle/>
                    <a:p>
                      <a:endParaRPr lang="sv-SE" dirty="0"/>
                    </a:p>
                  </a:txBody>
                  <a:tcPr/>
                </a:tc>
                <a:tc hMerge="1">
                  <a:txBody>
                    <a:bodyPr/>
                    <a:lstStyle/>
                    <a:p>
                      <a:endParaRPr lang="sv-SE" dirty="0"/>
                    </a:p>
                  </a:txBody>
                  <a:tcPr/>
                </a:tc>
                <a:extLst>
                  <a:ext uri="{0D108BD9-81ED-4DB2-BD59-A6C34878D82A}">
                    <a16:rowId xmlns:a16="http://schemas.microsoft.com/office/drawing/2014/main" val="3566106526"/>
                  </a:ext>
                </a:extLst>
              </a:tr>
              <a:tr h="370840">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2020973612"/>
                  </a:ext>
                </a:extLst>
              </a:tr>
              <a:tr h="370840">
                <a:tc>
                  <a:txBody>
                    <a:bodyPr/>
                    <a:lstStyle/>
                    <a:p>
                      <a:r>
                        <a:rPr lang="sv-SE" sz="1800" b="0" i="0" u="none" strike="noStrike" kern="1200" baseline="0" dirty="0">
                          <a:solidFill>
                            <a:schemeClr val="dk1"/>
                          </a:solidFill>
                          <a:latin typeface="+mn-lt"/>
                          <a:ea typeface="+mn-ea"/>
                          <a:cs typeface="+mn-cs"/>
                        </a:rPr>
                        <a:t>4.1 </a:t>
                      </a:r>
                      <a:r>
                        <a:rPr lang="en-US" sz="1800" b="0" i="0" u="none" strike="noStrike" kern="1200" baseline="0" dirty="0">
                          <a:solidFill>
                            <a:schemeClr val="dk1"/>
                          </a:solidFill>
                          <a:latin typeface="+mn-lt"/>
                          <a:ea typeface="+mn-ea"/>
                          <a:cs typeface="+mn-cs"/>
                        </a:rPr>
                        <a:t>Inverter topology and construction</a:t>
                      </a:r>
                      <a:endParaRPr lang="sv-SE" sz="1800" dirty="0"/>
                    </a:p>
                  </a:txBody>
                  <a:tcPr/>
                </a:tc>
                <a:tc>
                  <a:txBody>
                    <a:bodyPr/>
                    <a:lstStyle/>
                    <a:p>
                      <a:endParaRPr lang="sv-SE" sz="1800" dirty="0"/>
                    </a:p>
                  </a:txBody>
                  <a:tcPr/>
                </a:tc>
                <a:tc>
                  <a:txBody>
                    <a:bodyPr/>
                    <a:lstStyle/>
                    <a:p>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sv-SE" sz="1800" dirty="0"/>
                        <a:t>x</a:t>
                      </a:r>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1354220234"/>
                  </a:ext>
                </a:extLst>
              </a:tr>
              <a:tr h="370840">
                <a:tc>
                  <a:txBody>
                    <a:bodyPr/>
                    <a:lstStyle/>
                    <a:p>
                      <a:r>
                        <a:rPr lang="en-US" sz="1800" b="0" i="0" u="none" strike="noStrike" kern="1200" baseline="0" dirty="0">
                          <a:solidFill>
                            <a:schemeClr val="dk1"/>
                          </a:solidFill>
                          <a:latin typeface="+mn-lt"/>
                          <a:ea typeface="+mn-ea"/>
                          <a:cs typeface="+mn-cs"/>
                        </a:rPr>
                        <a:t>4.2 Intelligent gate driver</a:t>
                      </a:r>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sv-SE" sz="1800" dirty="0"/>
                        <a:t>x</a:t>
                      </a:r>
                    </a:p>
                  </a:txBody>
                  <a:tcPr/>
                </a:tc>
                <a:tc>
                  <a:txBody>
                    <a:bodyPr/>
                    <a:lstStyle/>
                    <a:p>
                      <a:r>
                        <a:rPr lang="sv-SE" sz="1800" dirty="0"/>
                        <a:t>x</a:t>
                      </a:r>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67718572"/>
                  </a:ext>
                </a:extLst>
              </a:tr>
              <a:tr h="370840">
                <a:tc>
                  <a:txBody>
                    <a:bodyPr/>
                    <a:lstStyle/>
                    <a:p>
                      <a:r>
                        <a:rPr lang="en-US" sz="1800" b="0" i="0" u="none" strike="noStrike" kern="1200" baseline="0" noProof="0" dirty="0">
                          <a:solidFill>
                            <a:schemeClr val="dk1"/>
                          </a:solidFill>
                          <a:latin typeface="+mn-lt"/>
                          <a:ea typeface="+mn-ea"/>
                          <a:cs typeface="+mn-cs"/>
                        </a:rPr>
                        <a:t>4.3 Cooling of DC link capacitors</a:t>
                      </a:r>
                      <a:endParaRPr lang="en-US" sz="1800" noProof="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r>
                        <a:rPr lang="sv-SE" sz="1800" dirty="0"/>
                        <a:t>x</a:t>
                      </a:r>
                    </a:p>
                  </a:txBody>
                  <a:tcPr/>
                </a:tc>
                <a:tc>
                  <a:txBody>
                    <a:bodyPr/>
                    <a:lstStyle/>
                    <a:p>
                      <a:r>
                        <a:rPr lang="sv-SE" sz="1800" dirty="0"/>
                        <a:t>x</a:t>
                      </a:r>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192608565"/>
                  </a:ext>
                </a:extLst>
              </a:tr>
              <a:tr h="370840">
                <a:tc>
                  <a:txBody>
                    <a:bodyPr/>
                    <a:lstStyle/>
                    <a:p>
                      <a:r>
                        <a:rPr lang="en-US" sz="1800" noProof="0" dirty="0"/>
                        <a:t>4.4 High bandwidth current meas.</a:t>
                      </a:r>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r>
                        <a:rPr lang="sv-SE" sz="1800" dirty="0"/>
                        <a:t>x</a:t>
                      </a:r>
                    </a:p>
                  </a:txBody>
                  <a:tcPr/>
                </a:tc>
                <a:tc>
                  <a:txBody>
                    <a:bodyPr/>
                    <a:lstStyle/>
                    <a:p>
                      <a:r>
                        <a:rPr lang="sv-SE" sz="1800" dirty="0"/>
                        <a:t>x</a:t>
                      </a:r>
                    </a:p>
                  </a:txBody>
                  <a:tcPr/>
                </a:tc>
                <a:tc>
                  <a:txBody>
                    <a:bodyPr/>
                    <a:lstStyle/>
                    <a:p>
                      <a:r>
                        <a:rPr lang="sv-SE" sz="1800" dirty="0"/>
                        <a:t>x</a:t>
                      </a:r>
                    </a:p>
                  </a:txBody>
                  <a:tcPr/>
                </a:tc>
                <a:tc>
                  <a:txBody>
                    <a:bodyPr/>
                    <a:lstStyle/>
                    <a:p>
                      <a:r>
                        <a:rPr lang="sv-SE" sz="1800" dirty="0"/>
                        <a:t>x</a:t>
                      </a:r>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718620526"/>
                  </a:ext>
                </a:extLst>
              </a:tr>
            </a:tbl>
          </a:graphicData>
        </a:graphic>
      </p:graphicFrame>
      <p:sp>
        <p:nvSpPr>
          <p:cNvPr id="10" name="TextBox 9">
            <a:extLst>
              <a:ext uri="{FF2B5EF4-FFF2-40B4-BE49-F238E27FC236}">
                <a16:creationId xmlns:a16="http://schemas.microsoft.com/office/drawing/2014/main" id="{C8158871-40C3-D5CB-9FD7-C49A537E03F4}"/>
              </a:ext>
            </a:extLst>
          </p:cNvPr>
          <p:cNvSpPr txBox="1"/>
          <p:nvPr/>
        </p:nvSpPr>
        <p:spPr>
          <a:xfrm>
            <a:off x="600074" y="4281329"/>
            <a:ext cx="10097691" cy="2123658"/>
          </a:xfrm>
          <a:prstGeom prst="rect">
            <a:avLst/>
          </a:prstGeom>
          <a:noFill/>
        </p:spPr>
        <p:txBody>
          <a:bodyPr wrap="square" lIns="91440" tIns="45720" rIns="91440" bIns="45720" anchor="t">
            <a:spAutoFit/>
          </a:bodyPr>
          <a:lstStyle/>
          <a:p>
            <a:pPr algn="just"/>
            <a:r>
              <a:rPr lang="en-US" sz="1200" dirty="0">
                <a:solidFill>
                  <a:schemeClr val="tx1">
                    <a:lumMod val="65000"/>
                    <a:lumOff val="35000"/>
                  </a:schemeClr>
                </a:solidFill>
              </a:rPr>
              <a:t>4.1: The high-voltage inverter can be designed as a two-level, three-level, or multi-level inverter, requiring theoretical evaluation and comparison of various topologies and modular configurations to optimize efficiency, compactness, and cost. ==&gt;</a:t>
            </a:r>
            <a:r>
              <a:rPr lang="en-US" sz="1200" dirty="0">
                <a:solidFill>
                  <a:srgbClr val="FF0000"/>
                </a:solidFill>
              </a:rPr>
              <a:t> Loss Calculation, volume, capacitor, busbar</a:t>
            </a:r>
          </a:p>
          <a:p>
            <a:pPr algn="just"/>
            <a:endParaRPr lang="en-US" sz="1200" dirty="0">
              <a:solidFill>
                <a:schemeClr val="tx1">
                  <a:lumMod val="65000"/>
                  <a:lumOff val="35000"/>
                </a:schemeClr>
              </a:solidFill>
            </a:endParaRPr>
          </a:p>
          <a:p>
            <a:pPr algn="just"/>
            <a:r>
              <a:rPr lang="en-US" sz="1200" dirty="0">
                <a:solidFill>
                  <a:schemeClr val="tx1">
                    <a:lumMod val="65000"/>
                    <a:lumOff val="35000"/>
                  </a:schemeClr>
                </a:solidFill>
              </a:rPr>
              <a:t>4.2: The gate driver controls the inverter’s semiconductor components and can optimize motor stresses and perform state estimation by monitoring parameters like gate threshold voltage and leakage current, requiring comparison of different designs for performance and reliability.</a:t>
            </a:r>
          </a:p>
          <a:p>
            <a:pPr algn="just"/>
            <a:endParaRPr lang="en-US" sz="1200" dirty="0">
              <a:solidFill>
                <a:schemeClr val="tx1">
                  <a:lumMod val="65000"/>
                  <a:lumOff val="35000"/>
                </a:schemeClr>
              </a:solidFill>
            </a:endParaRPr>
          </a:p>
          <a:p>
            <a:pPr algn="just"/>
            <a:r>
              <a:rPr lang="en-US" sz="1200" dirty="0">
                <a:solidFill>
                  <a:schemeClr val="tx1">
                    <a:lumMod val="65000"/>
                    <a:lumOff val="35000"/>
                  </a:schemeClr>
                </a:solidFill>
              </a:rPr>
              <a:t>4.3: DC link capacitors’ size and reliability depend heavily on temperature, making it essential to evaluate various cooling methods, both theoretically and experimentally. ==&gt; </a:t>
            </a:r>
            <a:r>
              <a:rPr lang="en-US" sz="1200" dirty="0">
                <a:solidFill>
                  <a:srgbClr val="FF0000"/>
                </a:solidFill>
              </a:rPr>
              <a:t>DC-link capacitor calculation, sizing, ripple minimization</a:t>
            </a:r>
          </a:p>
          <a:p>
            <a:pPr algn="just"/>
            <a:endParaRPr lang="en-US" sz="1200" dirty="0">
              <a:solidFill>
                <a:schemeClr val="tx1">
                  <a:lumMod val="65000"/>
                  <a:lumOff val="35000"/>
                </a:schemeClr>
              </a:solidFill>
            </a:endParaRPr>
          </a:p>
          <a:p>
            <a:pPr algn="just"/>
            <a:r>
              <a:rPr lang="en-US" sz="1200" dirty="0">
                <a:solidFill>
                  <a:schemeClr val="tx1">
                    <a:lumMod val="65000"/>
                    <a:lumOff val="35000"/>
                  </a:schemeClr>
                </a:solidFill>
              </a:rPr>
              <a:t>4.4: Current measurement methods need evaluation, as higher bandwidth offers advantages like improved state estimation of the motor's stator winding. ==&gt; </a:t>
            </a:r>
            <a:r>
              <a:rPr lang="en-US" sz="1200" dirty="0" err="1">
                <a:solidFill>
                  <a:srgbClr val="FF0000"/>
                </a:solidFill>
              </a:rPr>
              <a:t>Melexis</a:t>
            </a:r>
            <a:r>
              <a:rPr lang="en-US" sz="1200" dirty="0">
                <a:solidFill>
                  <a:srgbClr val="FF0000"/>
                </a:solidFill>
              </a:rPr>
              <a:t> vs LEM current sensors</a:t>
            </a:r>
          </a:p>
        </p:txBody>
      </p:sp>
      <p:cxnSp>
        <p:nvCxnSpPr>
          <p:cNvPr id="5" name="Straight Connector 4">
            <a:extLst>
              <a:ext uri="{FF2B5EF4-FFF2-40B4-BE49-F238E27FC236}">
                <a16:creationId xmlns:a16="http://schemas.microsoft.com/office/drawing/2014/main" id="{6F76486B-7750-F701-5291-DB2C393BB549}"/>
              </a:ext>
            </a:extLst>
          </p:cNvPr>
          <p:cNvCxnSpPr>
            <a:cxnSpLocks/>
          </p:cNvCxnSpPr>
          <p:nvPr/>
        </p:nvCxnSpPr>
        <p:spPr>
          <a:xfrm>
            <a:off x="8827927" y="1816526"/>
            <a:ext cx="0" cy="2262421"/>
          </a:xfrm>
          <a:prstGeom prst="line">
            <a:avLst/>
          </a:prstGeom>
          <a:ln w="28575">
            <a:solidFill>
              <a:srgbClr val="E86A5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2693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12ED6-312C-15E2-4D7E-147A4B1B461D}"/>
              </a:ext>
            </a:extLst>
          </p:cNvPr>
          <p:cNvSpPr>
            <a:spLocks noGrp="1"/>
          </p:cNvSpPr>
          <p:nvPr>
            <p:ph type="title"/>
          </p:nvPr>
        </p:nvSpPr>
        <p:spPr/>
        <p:txBody>
          <a:bodyPr/>
          <a:lstStyle/>
          <a:p>
            <a:r>
              <a:rPr lang="en-US" dirty="0" smtClean="0"/>
              <a:t>WP4.1 </a:t>
            </a:r>
            <a:r>
              <a:rPr lang="en-US" dirty="0"/>
              <a:t>Inverter topology and </a:t>
            </a:r>
            <a:r>
              <a:rPr lang="en-US" dirty="0" smtClean="0"/>
              <a:t>construction</a:t>
            </a:r>
            <a:endParaRPr lang="en-US" dirty="0"/>
          </a:p>
        </p:txBody>
      </p:sp>
      <p:pic>
        <p:nvPicPr>
          <p:cNvPr id="8" name="Picture 7"/>
          <p:cNvPicPr>
            <a:picLocks noChangeAspect="1"/>
          </p:cNvPicPr>
          <p:nvPr/>
        </p:nvPicPr>
        <p:blipFill>
          <a:blip r:embed="rId2"/>
          <a:stretch>
            <a:fillRect/>
          </a:stretch>
        </p:blipFill>
        <p:spPr>
          <a:xfrm>
            <a:off x="370265" y="1896079"/>
            <a:ext cx="2666333" cy="2662382"/>
          </a:xfrm>
          <a:prstGeom prst="rect">
            <a:avLst/>
          </a:prstGeom>
        </p:spPr>
      </p:pic>
      <mc:AlternateContent xmlns:mc="http://schemas.openxmlformats.org/markup-compatibility/2006">
        <mc:Choice xmlns:a14="http://schemas.microsoft.com/office/drawing/2010/main" Requires="a14">
          <p:sp>
            <p:nvSpPr>
              <p:cNvPr id="9" name="Rectangle 8"/>
              <p:cNvSpPr/>
              <p:nvPr/>
            </p:nvSpPr>
            <p:spPr>
              <a:xfrm>
                <a:off x="3817219" y="1548233"/>
                <a:ext cx="4425454" cy="3434273"/>
              </a:xfrm>
              <a:prstGeom prst="rect">
                <a:avLst/>
              </a:prstGeom>
            </p:spPr>
            <p:txBody>
              <a:bodyPr wrap="square">
                <a:spAutoFit/>
              </a:bodyPr>
              <a:lstStyle/>
              <a:p>
                <a:r>
                  <a:rPr lang="en-US" b="1" dirty="0"/>
                  <a:t>2-Level Inverter Power </a:t>
                </a:r>
                <a:r>
                  <a:rPr lang="en-US" b="1" dirty="0" smtClean="0"/>
                  <a:t>Ratings</a:t>
                </a:r>
              </a:p>
              <a:p>
                <a:endParaRPr lang="en-US" b="1" i="1" dirty="0" smtClean="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r>
                      <a:rPr lang="en-US" i="1">
                        <a:latin typeface="Cambria Math" panose="02040503050406030204" pitchFamily="18" charset="0"/>
                      </a:rPr>
                      <m:t>=300 </m:t>
                    </m:r>
                    <m:r>
                      <a:rPr lang="en-US" i="1">
                        <a:latin typeface="Cambria Math" panose="02040503050406030204" pitchFamily="18" charset="0"/>
                      </a:rPr>
                      <m:t>𝑘𝑊</m:t>
                    </m:r>
                    <m:r>
                      <a:rPr lang="en-US" i="1">
                        <a:latin typeface="Cambria Math" panose="02040503050406030204" pitchFamily="18" charset="0"/>
                      </a:rPr>
                      <m:t> </m:t>
                    </m:r>
                  </m:oMath>
                </a14:m>
                <a:endParaRPr lang="en-US" i="1" dirty="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sv-SE" i="1">
                            <a:latin typeface="Cambria Math" panose="02040503050406030204" pitchFamily="18" charset="0"/>
                          </a:rPr>
                          <m:t>𝐷𝐶</m:t>
                        </m:r>
                      </m:sub>
                    </m:sSub>
                    <m:r>
                      <a:rPr lang="en-US" i="1">
                        <a:latin typeface="Cambria Math" panose="02040503050406030204" pitchFamily="18" charset="0"/>
                      </a:rPr>
                      <m:t>=1</m:t>
                    </m:r>
                    <m:r>
                      <a:rPr lang="sv-SE" i="1">
                        <a:latin typeface="Cambria Math" panose="02040503050406030204" pitchFamily="18" charset="0"/>
                      </a:rPr>
                      <m:t>05</m:t>
                    </m:r>
                    <m:r>
                      <a:rPr lang="en-US" i="1">
                        <a:latin typeface="Cambria Math" panose="02040503050406030204" pitchFamily="18" charset="0"/>
                      </a:rPr>
                      <m:t>0 </m:t>
                    </m:r>
                    <m:r>
                      <a:rPr lang="en-US" i="1">
                        <a:latin typeface="Cambria Math" panose="02040503050406030204" pitchFamily="18" charset="0"/>
                      </a:rPr>
                      <m:t>𝑉</m:t>
                    </m:r>
                  </m:oMath>
                </a14:m>
                <a:r>
                  <a:rPr lang="sv-SE" dirty="0"/>
                  <a:t>   </a:t>
                </a: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𝑖𝑛</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num>
                      <m:den>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den>
                    </m:f>
                    <m:r>
                      <a:rPr lang="en-US" i="1">
                        <a:latin typeface="Cambria Math" panose="02040503050406030204" pitchFamily="18" charset="0"/>
                      </a:rPr>
                      <m:t>=2</m:t>
                    </m:r>
                    <m:r>
                      <a:rPr lang="sv-SE" i="1">
                        <a:latin typeface="Cambria Math" panose="02040503050406030204" pitchFamily="18" charset="0"/>
                      </a:rPr>
                      <m:t>85</m:t>
                    </m:r>
                    <m:r>
                      <a:rPr lang="en-US" i="1">
                        <a:latin typeface="Cambria Math" panose="02040503050406030204" pitchFamily="18" charset="0"/>
                      </a:rPr>
                      <m:t> </m:t>
                    </m:r>
                    <m:r>
                      <a:rPr lang="en-US" i="1">
                        <a:latin typeface="Cambria Math" panose="02040503050406030204" pitchFamily="18" charset="0"/>
                      </a:rPr>
                      <m:t>𝐴</m:t>
                    </m:r>
                  </m:oMath>
                </a14:m>
                <a:endParaRPr lang="en-US" i="1" dirty="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num>
                      <m:den>
                        <m:r>
                          <a:rPr lang="en-US" i="1">
                            <a:latin typeface="Cambria Math" panose="02040503050406030204" pitchFamily="18" charset="0"/>
                          </a:rPr>
                          <m:t>2</m:t>
                        </m:r>
                      </m:den>
                    </m:f>
                    <m:r>
                      <a:rPr lang="en-US" i="1">
                        <a:latin typeface="Cambria Math" panose="02040503050406030204" pitchFamily="18" charset="0"/>
                      </a:rPr>
                      <m:t>=</m:t>
                    </m:r>
                    <m:r>
                      <a:rPr lang="sv-SE" i="1">
                        <a:latin typeface="Cambria Math" panose="02040503050406030204" pitchFamily="18" charset="0"/>
                      </a:rPr>
                      <m:t>525</m:t>
                    </m:r>
                    <m:r>
                      <a:rPr lang="en-US" i="1">
                        <a:latin typeface="Cambria Math" panose="02040503050406030204" pitchFamily="18" charset="0"/>
                      </a:rPr>
                      <m:t> </m:t>
                    </m:r>
                    <m:r>
                      <a:rPr lang="en-US" i="1">
                        <a:latin typeface="Cambria Math" panose="02040503050406030204" pitchFamily="18" charset="0"/>
                      </a:rPr>
                      <m:t>𝑉</m:t>
                    </m:r>
                    <m:r>
                      <a:rPr lang="en-US" i="1">
                        <a:latin typeface="Cambria Math" panose="02040503050406030204" pitchFamily="18" charset="0"/>
                      </a:rPr>
                      <m:t> </m:t>
                    </m:r>
                    <m:r>
                      <a:rPr lang="en-US" i="1">
                        <a:latin typeface="Cambria Math" panose="02040503050406030204" pitchFamily="18" charset="0"/>
                      </a:rPr>
                      <m:t>𝑜𝑟</m:t>
                    </m:r>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d>
                          <m:dPr>
                            <m:ctrlPr>
                              <a:rPr lang="en-US" i="1">
                                <a:latin typeface="Cambria Math" panose="02040503050406030204" pitchFamily="18" charset="0"/>
                              </a:rPr>
                            </m:ctrlPr>
                          </m:dPr>
                          <m:e>
                            <m:r>
                              <a:rPr lang="en-US" i="1">
                                <a:latin typeface="Cambria Math" panose="02040503050406030204" pitchFamily="18" charset="0"/>
                              </a:rPr>
                              <m:t>1+</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6</m:t>
                                </m:r>
                              </m:den>
                            </m:f>
                          </m:e>
                        </m:d>
                      </m:num>
                      <m:den>
                        <m:r>
                          <a:rPr lang="en-US" i="1">
                            <a:latin typeface="Cambria Math" panose="02040503050406030204" pitchFamily="18" charset="0"/>
                          </a:rPr>
                          <m:t>2</m:t>
                        </m:r>
                      </m:den>
                    </m:f>
                    <m:r>
                      <a:rPr lang="en-US" i="1">
                        <a:latin typeface="Cambria Math" panose="02040503050406030204" pitchFamily="18" charset="0"/>
                      </a:rPr>
                      <m:t>=</m:t>
                    </m:r>
                    <m:r>
                      <a:rPr lang="sv-SE" i="1">
                        <a:latin typeface="Cambria Math" panose="02040503050406030204" pitchFamily="18" charset="0"/>
                      </a:rPr>
                      <m:t>612.5</m:t>
                    </m:r>
                    <m:r>
                      <a:rPr lang="en-US" i="1">
                        <a:latin typeface="Cambria Math" panose="02040503050406030204" pitchFamily="18" charset="0"/>
                      </a:rPr>
                      <m:t> </m:t>
                    </m:r>
                    <m:r>
                      <a:rPr lang="en-US" i="1">
                        <a:latin typeface="Cambria Math" panose="02040503050406030204" pitchFamily="18" charset="0"/>
                      </a:rPr>
                      <m:t>𝑉</m:t>
                    </m:r>
                  </m:oMath>
                </a14:m>
                <a:endParaRPr lang="sv-SE" dirty="0"/>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𝐼</m:t>
                            </m:r>
                          </m:e>
                        </m:acc>
                      </m:e>
                      <m:sub>
                        <m:r>
                          <a:rPr lang="en-US" i="1">
                            <a:latin typeface="Cambria Math" panose="02040503050406030204" pitchFamily="18" charset="0"/>
                          </a:rPr>
                          <m:t>𝑙</m:t>
                        </m:r>
                      </m:sub>
                    </m:sSub>
                    <m:r>
                      <a:rPr lang="en-US" i="1">
                        <a:latin typeface="Cambria Math" panose="02040503050406030204" pitchFamily="18" charset="0"/>
                      </a:rPr>
                      <m:t>=2</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num>
                      <m:den>
                        <m:sSub>
                          <m:sSubPr>
                            <m:ctrlPr>
                              <a:rPr lang="en-US" i="1">
                                <a:latin typeface="Cambria Math" panose="02040503050406030204" pitchFamily="18" charset="0"/>
                              </a:rPr>
                            </m:ctrlPr>
                          </m:sSubPr>
                          <m:e>
                            <m:r>
                              <a:rPr lang="en-US" i="1">
                                <a:latin typeface="Cambria Math" panose="02040503050406030204" pitchFamily="18" charset="0"/>
                              </a:rPr>
                              <m:t>3</m:t>
                            </m:r>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den>
                    </m:f>
                    <m:r>
                      <a:rPr lang="en-US" i="1">
                        <a:latin typeface="Cambria Math" panose="02040503050406030204" pitchFamily="18" charset="0"/>
                      </a:rPr>
                      <m:t>=32</m:t>
                    </m:r>
                    <m:r>
                      <a:rPr lang="sv-SE" i="1">
                        <a:latin typeface="Cambria Math" panose="02040503050406030204" pitchFamily="18" charset="0"/>
                      </a:rPr>
                      <m:t>6 </m:t>
                    </m:r>
                    <m:r>
                      <a:rPr lang="sv-SE" i="1">
                        <a:latin typeface="Cambria Math" panose="02040503050406030204" pitchFamily="18" charset="0"/>
                      </a:rPr>
                      <m:t>𝐴</m:t>
                    </m:r>
                  </m:oMath>
                </a14:m>
                <a:endParaRPr lang="sv-SE" i="1" dirty="0">
                  <a:latin typeface="Cambria Math" panose="02040503050406030204" pitchFamily="18" charset="0"/>
                </a:endParaRPr>
              </a:p>
              <a:p>
                <a:pPr>
                  <a:buFont typeface="Wingdings" panose="05000000000000000000" pitchFamily="2" charset="2"/>
                  <a:buChar char="§"/>
                </a:pPr>
                <a14:m>
                  <m:oMath xmlns:m="http://schemas.openxmlformats.org/officeDocument/2006/math">
                    <m:r>
                      <a:rPr lang="en-US" i="1" dirty="0">
                        <a:latin typeface="Cambria Math" panose="02040503050406030204" pitchFamily="18" charset="0"/>
                      </a:rPr>
                      <m:t>𝑝𝑓</m:t>
                    </m:r>
                    <m:r>
                      <a:rPr lang="en-US" i="1" dirty="0">
                        <a:latin typeface="Cambria Math" panose="02040503050406030204" pitchFamily="18" charset="0"/>
                      </a:rPr>
                      <m:t>= 0.9</m:t>
                    </m:r>
                  </m:oMath>
                </a14:m>
                <a:endParaRPr lang="sv-SE" dirty="0"/>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𝐼</m:t>
                            </m:r>
                          </m:e>
                        </m:acc>
                      </m:e>
                      <m:sub>
                        <m:r>
                          <a:rPr lang="en-US" i="1">
                            <a:latin typeface="Cambria Math" panose="02040503050406030204" pitchFamily="18" charset="0"/>
                          </a:rPr>
                          <m:t>𝑙</m:t>
                        </m:r>
                      </m:sub>
                    </m:sSub>
                    <m:r>
                      <a:rPr lang="en-US" i="1">
                        <a:latin typeface="Cambria Math" panose="02040503050406030204" pitchFamily="18" charset="0"/>
                      </a:rPr>
                      <m:t>=</m:t>
                    </m:r>
                    <m:r>
                      <a:rPr lang="en-US" i="1">
                        <a:latin typeface="Cambria Math" panose="02040503050406030204" pitchFamily="18" charset="0"/>
                      </a:rPr>
                      <m:t>2</m:t>
                    </m:r>
                    <m:f>
                      <m:fPr>
                        <m:ctrlPr>
                          <a:rPr lang="en-US" i="1">
                            <a:latin typeface="Cambria Math" panose="02040503050406030204" pitchFamily="18" charset="0"/>
                          </a:rPr>
                        </m:ctrlPr>
                      </m:fPr>
                      <m:num>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num>
                          <m:den>
                            <m:r>
                              <a:rPr lang="en-US" i="1">
                                <a:latin typeface="Cambria Math" panose="02040503050406030204" pitchFamily="18" charset="0"/>
                              </a:rPr>
                              <m:t>𝑝𝑓</m:t>
                            </m:r>
                          </m:den>
                        </m:f>
                      </m:num>
                      <m:den>
                        <m:sSub>
                          <m:sSubPr>
                            <m:ctrlPr>
                              <a:rPr lang="en-US" i="1">
                                <a:latin typeface="Cambria Math" panose="02040503050406030204" pitchFamily="18" charset="0"/>
                              </a:rPr>
                            </m:ctrlPr>
                          </m:sSubPr>
                          <m:e>
                            <m:r>
                              <a:rPr lang="en-US" i="1">
                                <a:latin typeface="Cambria Math" panose="02040503050406030204" pitchFamily="18" charset="0"/>
                              </a:rPr>
                              <m:t>3</m:t>
                            </m:r>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den>
                    </m:f>
                    <m:r>
                      <a:rPr lang="en-US" i="1">
                        <a:latin typeface="Cambria Math" panose="02040503050406030204" pitchFamily="18" charset="0"/>
                      </a:rPr>
                      <m:t>=</m:t>
                    </m:r>
                    <m:r>
                      <a:rPr lang="sv-SE" i="1">
                        <a:latin typeface="Cambria Math" panose="02040503050406030204" pitchFamily="18" charset="0"/>
                      </a:rPr>
                      <m:t>360</m:t>
                    </m:r>
                    <m:r>
                      <a:rPr lang="sv-SE" i="1">
                        <a:latin typeface="Cambria Math" panose="02040503050406030204" pitchFamily="18" charset="0"/>
                      </a:rPr>
                      <m:t>𝐴</m:t>
                    </m:r>
                  </m:oMath>
                </a14:m>
                <a:endParaRPr lang="en-US" b="1" dirty="0"/>
              </a:p>
            </p:txBody>
          </p:sp>
        </mc:Choice>
        <mc:Fallback>
          <p:sp>
            <p:nvSpPr>
              <p:cNvPr id="9" name="Rectangle 8"/>
              <p:cNvSpPr>
                <a:spLocks noRot="1" noChangeAspect="1" noMove="1" noResize="1" noEditPoints="1" noAdjustHandles="1" noChangeArrowheads="1" noChangeShapeType="1" noTextEdit="1"/>
              </p:cNvSpPr>
              <p:nvPr/>
            </p:nvSpPr>
            <p:spPr>
              <a:xfrm>
                <a:off x="3817219" y="1548233"/>
                <a:ext cx="4425454" cy="3434273"/>
              </a:xfrm>
              <a:prstGeom prst="rect">
                <a:avLst/>
              </a:prstGeom>
              <a:blipFill>
                <a:blip r:embed="rId3"/>
                <a:stretch>
                  <a:fillRect l="-1102" t="-1066"/>
                </a:stretch>
              </a:blipFill>
            </p:spPr>
            <p:txBody>
              <a:bodyPr/>
              <a:lstStyle/>
              <a:p>
                <a:r>
                  <a:rPr lang="sv-SE">
                    <a:noFill/>
                  </a:rPr>
                  <a:t> </a:t>
                </a:r>
              </a:p>
            </p:txBody>
          </p:sp>
        </mc:Fallback>
      </mc:AlternateContent>
      <p:pic>
        <p:nvPicPr>
          <p:cNvPr id="11" name="Picture 10"/>
          <p:cNvPicPr>
            <a:picLocks noChangeAspect="1"/>
          </p:cNvPicPr>
          <p:nvPr/>
        </p:nvPicPr>
        <p:blipFill rotWithShape="1">
          <a:blip r:embed="rId4"/>
          <a:srcRect l="4779" r="80577" b="10137"/>
          <a:stretch/>
        </p:blipFill>
        <p:spPr>
          <a:xfrm>
            <a:off x="9241832" y="1952467"/>
            <a:ext cx="1464277" cy="2625804"/>
          </a:xfrm>
          <a:prstGeom prst="rect">
            <a:avLst/>
          </a:prstGeom>
        </p:spPr>
      </p:pic>
    </p:spTree>
    <p:extLst>
      <p:ext uri="{BB962C8B-B14F-4D97-AF65-F5344CB8AC3E}">
        <p14:creationId xmlns:p14="http://schemas.microsoft.com/office/powerpoint/2010/main" val="2128955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2490" y="287931"/>
            <a:ext cx="10990263" cy="568412"/>
          </a:xfrm>
        </p:spPr>
        <p:txBody>
          <a:bodyPr/>
          <a:lstStyle/>
          <a:p>
            <a:r>
              <a:rPr lang="en-US" dirty="0"/>
              <a:t>Datasheet-driven Loss </a:t>
            </a:r>
            <a:r>
              <a:rPr lang="en-US" dirty="0" smtClean="0"/>
              <a:t>Calculation</a:t>
            </a:r>
            <a:endParaRPr lang="sv-SE" dirty="0"/>
          </a:p>
        </p:txBody>
      </p:sp>
      <mc:AlternateContent xmlns:mc="http://schemas.openxmlformats.org/markup-compatibility/2006">
        <mc:Choice xmlns:a14="http://schemas.microsoft.com/office/drawing/2010/main" Requires="a14">
          <p:graphicFrame>
            <p:nvGraphicFramePr>
              <p:cNvPr id="3" name="Table 2"/>
              <p:cNvGraphicFramePr>
                <a:graphicFrameLocks noGrp="1"/>
              </p:cNvGraphicFramePr>
              <p:nvPr>
                <p:extLst>
                  <p:ext uri="{D42A27DB-BD31-4B8C-83A1-F6EECF244321}">
                    <p14:modId xmlns:p14="http://schemas.microsoft.com/office/powerpoint/2010/main" val="3167282509"/>
                  </p:ext>
                </p:extLst>
              </p:nvPr>
            </p:nvGraphicFramePr>
            <p:xfrm>
              <a:off x="1423329" y="3964806"/>
              <a:ext cx="6682395" cy="758698"/>
            </p:xfrm>
            <a:graphic>
              <a:graphicData uri="http://schemas.openxmlformats.org/drawingml/2006/table">
                <a:tbl>
                  <a:tblPr firstRow="1" bandRow="1">
                    <a:tableStyleId>{5C22544A-7EE6-4342-B048-85BDC9FD1C3A}</a:tableStyleId>
                  </a:tblPr>
                  <a:tblGrid>
                    <a:gridCol w="1336479">
                      <a:extLst>
                        <a:ext uri="{9D8B030D-6E8A-4147-A177-3AD203B41FA5}">
                          <a16:colId xmlns:a16="http://schemas.microsoft.com/office/drawing/2014/main" val="701188241"/>
                        </a:ext>
                      </a:extLst>
                    </a:gridCol>
                    <a:gridCol w="1336479">
                      <a:extLst>
                        <a:ext uri="{9D8B030D-6E8A-4147-A177-3AD203B41FA5}">
                          <a16:colId xmlns:a16="http://schemas.microsoft.com/office/drawing/2014/main" val="2487507754"/>
                        </a:ext>
                      </a:extLst>
                    </a:gridCol>
                    <a:gridCol w="1336479">
                      <a:extLst>
                        <a:ext uri="{9D8B030D-6E8A-4147-A177-3AD203B41FA5}">
                          <a16:colId xmlns:a16="http://schemas.microsoft.com/office/drawing/2014/main" val="267292927"/>
                        </a:ext>
                      </a:extLst>
                    </a:gridCol>
                    <a:gridCol w="1336479">
                      <a:extLst>
                        <a:ext uri="{9D8B030D-6E8A-4147-A177-3AD203B41FA5}">
                          <a16:colId xmlns:a16="http://schemas.microsoft.com/office/drawing/2014/main" val="482194914"/>
                        </a:ext>
                      </a:extLst>
                    </a:gridCol>
                    <a:gridCol w="1336479">
                      <a:extLst>
                        <a:ext uri="{9D8B030D-6E8A-4147-A177-3AD203B41FA5}">
                          <a16:colId xmlns:a16="http://schemas.microsoft.com/office/drawing/2014/main" val="2386295402"/>
                        </a:ext>
                      </a:extLst>
                    </a:gridCol>
                  </a:tblGrid>
                  <a:tr h="370840">
                    <a:tc>
                      <a:txBody>
                        <a:bodyPr/>
                        <a:lstStyle/>
                        <a:p>
                          <a:pPr algn="ctr"/>
                          <a14:m>
                            <m:oMath xmlns:m="http://schemas.openxmlformats.org/officeDocument/2006/math">
                              <m:sSub>
                                <m:sSubPr>
                                  <m:ctrlPr>
                                    <a:rPr lang="sv-SE" b="0" i="1" dirty="0" smtClean="0">
                                      <a:latin typeface="Cambria Math" panose="02040503050406030204" pitchFamily="18" charset="0"/>
                                    </a:rPr>
                                  </m:ctrlPr>
                                </m:sSubPr>
                                <m:e>
                                  <m:r>
                                    <a:rPr lang="sv-SE" i="1" dirty="0" smtClean="0">
                                      <a:latin typeface="Cambria Math" panose="02040503050406030204" pitchFamily="18" charset="0"/>
                                    </a:rPr>
                                    <m:t>𝑇</m:t>
                                  </m:r>
                                </m:e>
                                <m:sub>
                                  <m:r>
                                    <a:rPr lang="sv-SE" i="1" dirty="0" smtClean="0">
                                      <a:latin typeface="Cambria Math" panose="02040503050406030204" pitchFamily="18" charset="0"/>
                                    </a:rPr>
                                    <m:t>𝑗</m:t>
                                  </m:r>
                                </m:sub>
                              </m:sSub>
                            </m:oMath>
                          </a14:m>
                          <a:r>
                            <a:rPr lang="sv-SE" dirty="0" smtClean="0"/>
                            <a:t> ( </a:t>
                          </a:r>
                          <a14:m>
                            <m:oMath xmlns:m="http://schemas.openxmlformats.org/officeDocument/2006/math">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a14:m>
                          <a:r>
                            <a:rPr lang="sv-SE" dirty="0" smtClean="0"/>
                            <a:t>)</a:t>
                          </a:r>
                          <a:endParaRPr lang="sv-SE" dirty="0"/>
                        </a:p>
                      </a:txBody>
                      <a:tcPr/>
                    </a:tc>
                    <a:tc>
                      <a:txBody>
                        <a:bodyPr/>
                        <a:lstStyle/>
                        <a:p>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2</m:t>
                                </m:r>
                                <m:r>
                                  <a:rPr lang="sv-SE" b="0" i="1" dirty="0" smtClean="0">
                                    <a:latin typeface="Cambria Math" panose="02040503050406030204" pitchFamily="18" charset="0"/>
                                  </a:rPr>
                                  <m:t>5</m:t>
                                </m:r>
                                <m:r>
                                  <a:rPr lang="sv-SE" i="1" dirty="0" smtClean="0">
                                    <a:latin typeface="Cambria Math" panose="02040503050406030204" pitchFamily="18" charset="0"/>
                                  </a:rPr>
                                  <m:t> </m:t>
                                </m:r>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m:oMathPara>
                          </a14:m>
                          <a:endParaRPr lang="sv-SE" dirty="0"/>
                        </a:p>
                      </a:txBody>
                      <a:tcPr/>
                    </a:tc>
                    <a:tc>
                      <a:txBody>
                        <a:bodyPr/>
                        <a:lstStyle/>
                        <a:p>
                          <a:pPr algn="ctr"/>
                          <a14:m>
                            <m:oMathPara xmlns:m="http://schemas.openxmlformats.org/officeDocument/2006/math">
                              <m:oMathParaPr>
                                <m:jc m:val="centerGroup"/>
                              </m:oMathParaPr>
                              <m:oMath xmlns:m="http://schemas.openxmlformats.org/officeDocument/2006/math">
                                <m:r>
                                  <a:rPr lang="sv-SE" i="1" dirty="0" smtClean="0">
                                    <a:latin typeface="Cambria Math" panose="02040503050406030204" pitchFamily="18" charset="0"/>
                                  </a:rPr>
                                  <m:t>7</m:t>
                                </m:r>
                                <m:r>
                                  <a:rPr lang="sv-SE" b="0" i="1" dirty="0" smtClean="0">
                                    <a:latin typeface="Cambria Math" panose="02040503050406030204" pitchFamily="18" charset="0"/>
                                  </a:rPr>
                                  <m:t>5</m:t>
                                </m:r>
                                <m:r>
                                  <a:rPr lang="sv-SE" i="1" dirty="0" smtClean="0">
                                    <a:latin typeface="Cambria Math" panose="02040503050406030204" pitchFamily="18" charset="0"/>
                                  </a:rPr>
                                  <m:t> </m:t>
                                </m:r>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m:oMathPara>
                          </a14:m>
                          <a:endParaRPr lang="sv-SE" dirty="0"/>
                        </a:p>
                      </a:txBody>
                      <a:tcPr/>
                    </a:tc>
                    <a:tc>
                      <a:txBody>
                        <a:bodyPr/>
                        <a:lstStyle/>
                        <a:p>
                          <a:pPr algn="ctr"/>
                          <a14:m>
                            <m:oMathPara xmlns:m="http://schemas.openxmlformats.org/officeDocument/2006/math">
                              <m:oMathParaPr>
                                <m:jc m:val="centerGroup"/>
                              </m:oMathParaPr>
                              <m:oMath xmlns:m="http://schemas.openxmlformats.org/officeDocument/2006/math">
                                <m:r>
                                  <a:rPr lang="sv-SE" i="1" dirty="0" smtClean="0">
                                    <a:latin typeface="Cambria Math" panose="02040503050406030204" pitchFamily="18" charset="0"/>
                                  </a:rPr>
                                  <m:t>1</m:t>
                                </m:r>
                                <m:r>
                                  <a:rPr lang="sv-SE" b="0" i="1" dirty="0" smtClean="0">
                                    <a:latin typeface="Cambria Math" panose="02040503050406030204" pitchFamily="18" charset="0"/>
                                  </a:rPr>
                                  <m:t>25</m:t>
                                </m:r>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m:oMathPara>
                          </a14:m>
                          <a:endParaRPr lang="sv-SE" dirty="0"/>
                        </a:p>
                      </a:txBody>
                      <a:tcPr/>
                    </a:tc>
                    <a:tc>
                      <a:txBody>
                        <a:bodyPr/>
                        <a:lstStyle/>
                        <a:p>
                          <a:pPr algn="ctr"/>
                          <a14:m>
                            <m:oMathPara xmlns:m="http://schemas.openxmlformats.org/officeDocument/2006/math">
                              <m:oMathParaPr>
                                <m:jc m:val="centerGroup"/>
                              </m:oMathParaPr>
                              <m:oMath xmlns:m="http://schemas.openxmlformats.org/officeDocument/2006/math">
                                <m:r>
                                  <a:rPr lang="sv-SE" i="1" dirty="0" smtClean="0">
                                    <a:latin typeface="Cambria Math" panose="02040503050406030204" pitchFamily="18" charset="0"/>
                                  </a:rPr>
                                  <m:t>150 </m:t>
                                </m:r>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m:oMathPara>
                          </a14:m>
                          <a:endParaRPr lang="sv-SE" dirty="0"/>
                        </a:p>
                      </a:txBody>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Loss</a:t>
                          </a:r>
                          <a:r>
                            <a:rPr lang="sv-SE" baseline="0" dirty="0" smtClean="0"/>
                            <a:t> (W)</a:t>
                          </a:r>
                          <a:endParaRPr lang="sv-SE"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301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394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solidFill>
                                <a:srgbClr val="FF0000"/>
                              </a:solidFill>
                            </a:rPr>
                            <a:t>440</a:t>
                          </a:r>
                          <a:r>
                            <a:rPr lang="sv-SE" dirty="0" smtClean="0"/>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552</a:t>
                          </a:r>
                        </a:p>
                      </a:txBody>
                      <a:tcPr/>
                    </a:tc>
                    <a:extLst>
                      <a:ext uri="{0D108BD9-81ED-4DB2-BD59-A6C34878D82A}">
                        <a16:rowId xmlns:a16="http://schemas.microsoft.com/office/drawing/2014/main" val="1224150159"/>
                      </a:ext>
                    </a:extLst>
                  </a:tr>
                </a:tbl>
              </a:graphicData>
            </a:graphic>
          </p:graphicFrame>
        </mc:Choice>
        <mc:Fallback>
          <p:graphicFrame>
            <p:nvGraphicFramePr>
              <p:cNvPr id="3" name="Table 2"/>
              <p:cNvGraphicFramePr>
                <a:graphicFrameLocks noGrp="1"/>
              </p:cNvGraphicFramePr>
              <p:nvPr>
                <p:extLst>
                  <p:ext uri="{D42A27DB-BD31-4B8C-83A1-F6EECF244321}">
                    <p14:modId xmlns:p14="http://schemas.microsoft.com/office/powerpoint/2010/main" val="3167282509"/>
                  </p:ext>
                </p:extLst>
              </p:nvPr>
            </p:nvGraphicFramePr>
            <p:xfrm>
              <a:off x="1423329" y="3964806"/>
              <a:ext cx="6682395" cy="758698"/>
            </p:xfrm>
            <a:graphic>
              <a:graphicData uri="http://schemas.openxmlformats.org/drawingml/2006/table">
                <a:tbl>
                  <a:tblPr firstRow="1" bandRow="1">
                    <a:tableStyleId>{5C22544A-7EE6-4342-B048-85BDC9FD1C3A}</a:tableStyleId>
                  </a:tblPr>
                  <a:tblGrid>
                    <a:gridCol w="1336479">
                      <a:extLst>
                        <a:ext uri="{9D8B030D-6E8A-4147-A177-3AD203B41FA5}">
                          <a16:colId xmlns:a16="http://schemas.microsoft.com/office/drawing/2014/main" val="701188241"/>
                        </a:ext>
                      </a:extLst>
                    </a:gridCol>
                    <a:gridCol w="1336479">
                      <a:extLst>
                        <a:ext uri="{9D8B030D-6E8A-4147-A177-3AD203B41FA5}">
                          <a16:colId xmlns:a16="http://schemas.microsoft.com/office/drawing/2014/main" val="2487507754"/>
                        </a:ext>
                      </a:extLst>
                    </a:gridCol>
                    <a:gridCol w="1336479">
                      <a:extLst>
                        <a:ext uri="{9D8B030D-6E8A-4147-A177-3AD203B41FA5}">
                          <a16:colId xmlns:a16="http://schemas.microsoft.com/office/drawing/2014/main" val="267292927"/>
                        </a:ext>
                      </a:extLst>
                    </a:gridCol>
                    <a:gridCol w="1336479">
                      <a:extLst>
                        <a:ext uri="{9D8B030D-6E8A-4147-A177-3AD203B41FA5}">
                          <a16:colId xmlns:a16="http://schemas.microsoft.com/office/drawing/2014/main" val="482194914"/>
                        </a:ext>
                      </a:extLst>
                    </a:gridCol>
                    <a:gridCol w="1336479">
                      <a:extLst>
                        <a:ext uri="{9D8B030D-6E8A-4147-A177-3AD203B41FA5}">
                          <a16:colId xmlns:a16="http://schemas.microsoft.com/office/drawing/2014/main" val="2386295402"/>
                        </a:ext>
                      </a:extLst>
                    </a:gridCol>
                  </a:tblGrid>
                  <a:tr h="387858">
                    <a:tc>
                      <a:txBody>
                        <a:bodyPr/>
                        <a:lstStyle/>
                        <a:p>
                          <a:endParaRPr lang="sv-SE"/>
                        </a:p>
                      </a:txBody>
                      <a:tcPr>
                        <a:blipFill>
                          <a:blip r:embed="rId2"/>
                          <a:stretch>
                            <a:fillRect l="-457" t="-7813" r="-402740" b="-118750"/>
                          </a:stretch>
                        </a:blipFill>
                      </a:tcPr>
                    </a:tc>
                    <a:tc>
                      <a:txBody>
                        <a:bodyPr/>
                        <a:lstStyle/>
                        <a:p>
                          <a:endParaRPr lang="sv-SE"/>
                        </a:p>
                      </a:txBody>
                      <a:tcPr>
                        <a:blipFill>
                          <a:blip r:embed="rId2"/>
                          <a:stretch>
                            <a:fillRect l="-100000" t="-7813" r="-300909" b="-118750"/>
                          </a:stretch>
                        </a:blipFill>
                      </a:tcPr>
                    </a:tc>
                    <a:tc>
                      <a:txBody>
                        <a:bodyPr/>
                        <a:lstStyle/>
                        <a:p>
                          <a:endParaRPr lang="sv-SE"/>
                        </a:p>
                      </a:txBody>
                      <a:tcPr>
                        <a:blipFill>
                          <a:blip r:embed="rId2"/>
                          <a:stretch>
                            <a:fillRect l="-200913" t="-7813" r="-202283" b="-118750"/>
                          </a:stretch>
                        </a:blipFill>
                      </a:tcPr>
                    </a:tc>
                    <a:tc>
                      <a:txBody>
                        <a:bodyPr/>
                        <a:lstStyle/>
                        <a:p>
                          <a:endParaRPr lang="sv-SE"/>
                        </a:p>
                      </a:txBody>
                      <a:tcPr>
                        <a:blipFill>
                          <a:blip r:embed="rId2"/>
                          <a:stretch>
                            <a:fillRect l="-299545" t="-7813" r="-101364" b="-118750"/>
                          </a:stretch>
                        </a:blipFill>
                      </a:tcPr>
                    </a:tc>
                    <a:tc>
                      <a:txBody>
                        <a:bodyPr/>
                        <a:lstStyle/>
                        <a:p>
                          <a:endParaRPr lang="sv-SE"/>
                        </a:p>
                      </a:txBody>
                      <a:tcPr>
                        <a:blipFill>
                          <a:blip r:embed="rId2"/>
                          <a:stretch>
                            <a:fillRect l="-401370" t="-7813" r="-1826" b="-118750"/>
                          </a:stretch>
                        </a:blipFill>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Loss</a:t>
                          </a:r>
                          <a:r>
                            <a:rPr lang="sv-SE" baseline="0" dirty="0" smtClean="0"/>
                            <a:t> (W)</a:t>
                          </a:r>
                          <a:endParaRPr lang="sv-SE"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301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394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solidFill>
                                <a:srgbClr val="FF0000"/>
                              </a:solidFill>
                            </a:rPr>
                            <a:t>440</a:t>
                          </a:r>
                          <a:r>
                            <a:rPr lang="sv-SE" dirty="0" smtClean="0"/>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552</a:t>
                          </a:r>
                        </a:p>
                      </a:txBody>
                      <a:tcPr/>
                    </a:tc>
                    <a:extLst>
                      <a:ext uri="{0D108BD9-81ED-4DB2-BD59-A6C34878D82A}">
                        <a16:rowId xmlns:a16="http://schemas.microsoft.com/office/drawing/2014/main" val="1224150159"/>
                      </a:ext>
                    </a:extLst>
                  </a:tr>
                </a:tbl>
              </a:graphicData>
            </a:graphic>
          </p:graphicFrame>
        </mc:Fallback>
      </mc:AlternateContent>
      <p:pic>
        <p:nvPicPr>
          <p:cNvPr id="15" name="Picture 14"/>
          <p:cNvPicPr>
            <a:picLocks noChangeAspect="1"/>
          </p:cNvPicPr>
          <p:nvPr/>
        </p:nvPicPr>
        <p:blipFill>
          <a:blip r:embed="rId3"/>
          <a:stretch>
            <a:fillRect/>
          </a:stretch>
        </p:blipFill>
        <p:spPr>
          <a:xfrm>
            <a:off x="228598" y="997673"/>
            <a:ext cx="2881140" cy="2160856"/>
          </a:xfrm>
          <a:prstGeom prst="rect">
            <a:avLst/>
          </a:prstGeom>
        </p:spPr>
      </p:pic>
      <mc:AlternateContent xmlns:mc="http://schemas.openxmlformats.org/markup-compatibility/2006">
        <mc:Choice xmlns:a14="http://schemas.microsoft.com/office/drawing/2010/main" Requires="a14">
          <p:graphicFrame>
            <p:nvGraphicFramePr>
              <p:cNvPr id="6" name="Table 5"/>
              <p:cNvGraphicFramePr>
                <a:graphicFrameLocks noGrp="1"/>
              </p:cNvGraphicFramePr>
              <p:nvPr>
                <p:extLst>
                  <p:ext uri="{D42A27DB-BD31-4B8C-83A1-F6EECF244321}">
                    <p14:modId xmlns:p14="http://schemas.microsoft.com/office/powerpoint/2010/main" val="2239402445"/>
                  </p:ext>
                </p:extLst>
              </p:nvPr>
            </p:nvGraphicFramePr>
            <p:xfrm>
              <a:off x="562516" y="5022214"/>
              <a:ext cx="8376249" cy="873126"/>
            </p:xfrm>
            <a:graphic>
              <a:graphicData uri="http://schemas.openxmlformats.org/drawingml/2006/table">
                <a:tbl>
                  <a:tblPr firstRow="1" bandRow="1">
                    <a:tableStyleId>{5C22544A-7EE6-4342-B048-85BDC9FD1C3A}</a:tableStyleId>
                  </a:tblPr>
                  <a:tblGrid>
                    <a:gridCol w="1196607">
                      <a:extLst>
                        <a:ext uri="{9D8B030D-6E8A-4147-A177-3AD203B41FA5}">
                          <a16:colId xmlns:a16="http://schemas.microsoft.com/office/drawing/2014/main" val="701188241"/>
                        </a:ext>
                      </a:extLst>
                    </a:gridCol>
                    <a:gridCol w="1196607">
                      <a:extLst>
                        <a:ext uri="{9D8B030D-6E8A-4147-A177-3AD203B41FA5}">
                          <a16:colId xmlns:a16="http://schemas.microsoft.com/office/drawing/2014/main" val="2487507754"/>
                        </a:ext>
                      </a:extLst>
                    </a:gridCol>
                    <a:gridCol w="1196607">
                      <a:extLst>
                        <a:ext uri="{9D8B030D-6E8A-4147-A177-3AD203B41FA5}">
                          <a16:colId xmlns:a16="http://schemas.microsoft.com/office/drawing/2014/main" val="267292927"/>
                        </a:ext>
                      </a:extLst>
                    </a:gridCol>
                    <a:gridCol w="1196607">
                      <a:extLst>
                        <a:ext uri="{9D8B030D-6E8A-4147-A177-3AD203B41FA5}">
                          <a16:colId xmlns:a16="http://schemas.microsoft.com/office/drawing/2014/main" val="482194914"/>
                        </a:ext>
                      </a:extLst>
                    </a:gridCol>
                    <a:gridCol w="1196607">
                      <a:extLst>
                        <a:ext uri="{9D8B030D-6E8A-4147-A177-3AD203B41FA5}">
                          <a16:colId xmlns:a16="http://schemas.microsoft.com/office/drawing/2014/main" val="1173395562"/>
                        </a:ext>
                      </a:extLst>
                    </a:gridCol>
                    <a:gridCol w="1196607">
                      <a:extLst>
                        <a:ext uri="{9D8B030D-6E8A-4147-A177-3AD203B41FA5}">
                          <a16:colId xmlns:a16="http://schemas.microsoft.com/office/drawing/2014/main" val="2166802620"/>
                        </a:ext>
                      </a:extLst>
                    </a:gridCol>
                    <a:gridCol w="1196607">
                      <a:extLst>
                        <a:ext uri="{9D8B030D-6E8A-4147-A177-3AD203B41FA5}">
                          <a16:colId xmlns:a16="http://schemas.microsoft.com/office/drawing/2014/main" val="2974429694"/>
                        </a:ext>
                      </a:extLst>
                    </a:gridCol>
                  </a:tblGrid>
                  <a:tr h="502286">
                    <a:tc>
                      <a:txBody>
                        <a:bodyPr/>
                        <a:lstStyle/>
                        <a:p>
                          <a:pPr algn="ctr"/>
                          <a14:m>
                            <m:oMath xmlns:m="http://schemas.openxmlformats.org/officeDocument/2006/math">
                              <m:sSub>
                                <m:sSubPr>
                                  <m:ctrlPr>
                                    <a:rPr lang="sv-SE" b="0" i="1" dirty="0" smtClean="0">
                                      <a:latin typeface="Cambria Math" panose="02040503050406030204" pitchFamily="18" charset="0"/>
                                    </a:rPr>
                                  </m:ctrlPr>
                                </m:sSubPr>
                                <m:e>
                                  <m:r>
                                    <a:rPr lang="sv-SE" b="1" i="1" dirty="0" smtClean="0">
                                      <a:latin typeface="Cambria Math" panose="02040503050406030204" pitchFamily="18" charset="0"/>
                                    </a:rPr>
                                    <m:t>𝒇</m:t>
                                  </m:r>
                                </m:e>
                                <m:sub>
                                  <m:r>
                                    <a:rPr lang="sv-SE" b="1" i="1" dirty="0" smtClean="0">
                                      <a:latin typeface="Cambria Math" panose="02040503050406030204" pitchFamily="18" charset="0"/>
                                    </a:rPr>
                                    <m:t>𝒔𝒘</m:t>
                                  </m:r>
                                </m:sub>
                              </m:sSub>
                            </m:oMath>
                          </a14:m>
                          <a:r>
                            <a:rPr lang="sv-SE" dirty="0" smtClean="0"/>
                            <a:t> ( </a:t>
                          </a:r>
                          <a14:m>
                            <m:oMath xmlns:m="http://schemas.openxmlformats.org/officeDocument/2006/math">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a14:m>
                          <a:r>
                            <a:rPr lang="sv-SE" dirty="0" smtClean="0"/>
                            <a:t>)</a:t>
                          </a:r>
                          <a:endParaRPr lang="sv-SE" dirty="0"/>
                        </a:p>
                      </a:txBody>
                      <a:tcPr/>
                    </a:tc>
                    <a:tc>
                      <a:txBody>
                        <a:bodyPr/>
                        <a:lstStyle/>
                        <a:p>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𝟏𝟎</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𝟏𝟐</m:t>
                                </m:r>
                                <m:r>
                                  <a:rPr lang="sv-SE" b="1" i="1" dirty="0" smtClean="0">
                                    <a:latin typeface="Cambria Math" panose="02040503050406030204" pitchFamily="18" charset="0"/>
                                  </a:rPr>
                                  <m:t>.</m:t>
                                </m:r>
                                <m:r>
                                  <a:rPr lang="sv-SE" b="1" i="1" dirty="0" smtClean="0">
                                    <a:latin typeface="Cambria Math" panose="02040503050406030204" pitchFamily="18" charset="0"/>
                                  </a:rPr>
                                  <m:t>𝟓</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𝟏𝟓</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𝟏𝟕</m:t>
                                </m:r>
                                <m:r>
                                  <a:rPr lang="sv-SE" b="1" i="1" dirty="0" smtClean="0">
                                    <a:latin typeface="Cambria Math" panose="02040503050406030204" pitchFamily="18" charset="0"/>
                                  </a:rPr>
                                  <m:t>.</m:t>
                                </m:r>
                                <m:r>
                                  <a:rPr lang="sv-SE" b="1" i="1" dirty="0" smtClean="0">
                                    <a:latin typeface="Cambria Math" panose="02040503050406030204" pitchFamily="18" charset="0"/>
                                  </a:rPr>
                                  <m:t>𝟓</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𝟐𝟎</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𝟐𝟐</m:t>
                                </m:r>
                                <m:r>
                                  <a:rPr lang="sv-SE" b="1" i="1" dirty="0" smtClean="0">
                                    <a:latin typeface="Cambria Math" panose="02040503050406030204" pitchFamily="18" charset="0"/>
                                  </a:rPr>
                                  <m:t>.</m:t>
                                </m:r>
                                <m:r>
                                  <a:rPr lang="sv-SE" b="1" i="1" dirty="0" smtClean="0">
                                    <a:latin typeface="Cambria Math" panose="02040503050406030204" pitchFamily="18" charset="0"/>
                                  </a:rPr>
                                  <m:t>𝟓</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txBody>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Loss</a:t>
                          </a:r>
                          <a:r>
                            <a:rPr lang="sv-SE" baseline="0" dirty="0" smtClean="0"/>
                            <a:t> (W)</a:t>
                          </a:r>
                          <a:endParaRPr lang="sv-SE" dirty="0" smtClean="0"/>
                        </a:p>
                      </a:txBody>
                      <a:tcPr/>
                    </a:tc>
                    <a:tc>
                      <a:txBody>
                        <a:bodyPr/>
                        <a:lstStyle/>
                        <a:p>
                          <a:pPr algn="ctr"/>
                          <a:r>
                            <a:rPr lang="sv-SE" dirty="0" smtClean="0"/>
                            <a:t>491</a:t>
                          </a:r>
                          <a:endParaRPr lang="sv-SE" dirty="0"/>
                        </a:p>
                      </a:txBody>
                      <a:tcPr/>
                    </a:tc>
                    <a:tc>
                      <a:txBody>
                        <a:bodyPr/>
                        <a:lstStyle/>
                        <a:p>
                          <a:pPr algn="ctr"/>
                          <a:r>
                            <a:rPr lang="sv-SE" dirty="0" smtClean="0"/>
                            <a:t>614</a:t>
                          </a:r>
                          <a:endParaRPr lang="sv-SE" dirty="0"/>
                        </a:p>
                      </a:txBody>
                      <a:tcPr/>
                    </a:tc>
                    <a:tc>
                      <a:txBody>
                        <a:bodyPr/>
                        <a:lstStyle/>
                        <a:p>
                          <a:pPr algn="ctr"/>
                          <a:r>
                            <a:rPr lang="sv-SE" dirty="0" smtClean="0"/>
                            <a:t>740</a:t>
                          </a:r>
                          <a:endParaRPr lang="sv-SE" dirty="0"/>
                        </a:p>
                      </a:txBody>
                      <a:tcPr/>
                    </a:tc>
                    <a:tc>
                      <a:txBody>
                        <a:bodyPr/>
                        <a:lstStyle/>
                        <a:p>
                          <a:pPr algn="ctr"/>
                          <a:r>
                            <a:rPr lang="sv-SE" dirty="0" smtClean="0"/>
                            <a:t>863</a:t>
                          </a:r>
                          <a:endParaRPr lang="sv-SE" dirty="0"/>
                        </a:p>
                      </a:txBody>
                      <a:tcPr/>
                    </a:tc>
                    <a:tc>
                      <a:txBody>
                        <a:bodyPr/>
                        <a:lstStyle/>
                        <a:p>
                          <a:pPr algn="ctr"/>
                          <a:r>
                            <a:rPr lang="sv-SE" dirty="0" smtClean="0"/>
                            <a:t>920</a:t>
                          </a:r>
                          <a:endParaRPr lang="sv-SE" dirty="0"/>
                        </a:p>
                      </a:txBody>
                      <a:tcPr/>
                    </a:tc>
                    <a:tc>
                      <a:txBody>
                        <a:bodyPr/>
                        <a:lstStyle/>
                        <a:p>
                          <a:pPr algn="ctr"/>
                          <a:r>
                            <a:rPr lang="sv-SE" dirty="0" smtClean="0">
                              <a:solidFill>
                                <a:srgbClr val="FF0000"/>
                              </a:solidFill>
                            </a:rPr>
                            <a:t>1046</a:t>
                          </a:r>
                          <a:endParaRPr lang="sv-SE" dirty="0">
                            <a:solidFill>
                              <a:srgbClr val="FF0000"/>
                            </a:solidFill>
                          </a:endParaRPr>
                        </a:p>
                      </a:txBody>
                      <a:tcPr/>
                    </a:tc>
                    <a:extLst>
                      <a:ext uri="{0D108BD9-81ED-4DB2-BD59-A6C34878D82A}">
                        <a16:rowId xmlns:a16="http://schemas.microsoft.com/office/drawing/2014/main" val="1224150159"/>
                      </a:ext>
                    </a:extLst>
                  </a:tr>
                </a:tbl>
              </a:graphicData>
            </a:graphic>
          </p:graphicFrame>
        </mc:Choice>
        <mc:Fallback>
          <p:graphicFrame>
            <p:nvGraphicFramePr>
              <p:cNvPr id="6" name="Table 5"/>
              <p:cNvGraphicFramePr>
                <a:graphicFrameLocks noGrp="1"/>
              </p:cNvGraphicFramePr>
              <p:nvPr>
                <p:extLst>
                  <p:ext uri="{D42A27DB-BD31-4B8C-83A1-F6EECF244321}">
                    <p14:modId xmlns:p14="http://schemas.microsoft.com/office/powerpoint/2010/main" val="2239402445"/>
                  </p:ext>
                </p:extLst>
              </p:nvPr>
            </p:nvGraphicFramePr>
            <p:xfrm>
              <a:off x="562516" y="5022214"/>
              <a:ext cx="8376249" cy="873126"/>
            </p:xfrm>
            <a:graphic>
              <a:graphicData uri="http://schemas.openxmlformats.org/drawingml/2006/table">
                <a:tbl>
                  <a:tblPr firstRow="1" bandRow="1">
                    <a:tableStyleId>{5C22544A-7EE6-4342-B048-85BDC9FD1C3A}</a:tableStyleId>
                  </a:tblPr>
                  <a:tblGrid>
                    <a:gridCol w="1196607">
                      <a:extLst>
                        <a:ext uri="{9D8B030D-6E8A-4147-A177-3AD203B41FA5}">
                          <a16:colId xmlns:a16="http://schemas.microsoft.com/office/drawing/2014/main" val="701188241"/>
                        </a:ext>
                      </a:extLst>
                    </a:gridCol>
                    <a:gridCol w="1196607">
                      <a:extLst>
                        <a:ext uri="{9D8B030D-6E8A-4147-A177-3AD203B41FA5}">
                          <a16:colId xmlns:a16="http://schemas.microsoft.com/office/drawing/2014/main" val="2487507754"/>
                        </a:ext>
                      </a:extLst>
                    </a:gridCol>
                    <a:gridCol w="1196607">
                      <a:extLst>
                        <a:ext uri="{9D8B030D-6E8A-4147-A177-3AD203B41FA5}">
                          <a16:colId xmlns:a16="http://schemas.microsoft.com/office/drawing/2014/main" val="267292927"/>
                        </a:ext>
                      </a:extLst>
                    </a:gridCol>
                    <a:gridCol w="1196607">
                      <a:extLst>
                        <a:ext uri="{9D8B030D-6E8A-4147-A177-3AD203B41FA5}">
                          <a16:colId xmlns:a16="http://schemas.microsoft.com/office/drawing/2014/main" val="482194914"/>
                        </a:ext>
                      </a:extLst>
                    </a:gridCol>
                    <a:gridCol w="1196607">
                      <a:extLst>
                        <a:ext uri="{9D8B030D-6E8A-4147-A177-3AD203B41FA5}">
                          <a16:colId xmlns:a16="http://schemas.microsoft.com/office/drawing/2014/main" val="1173395562"/>
                        </a:ext>
                      </a:extLst>
                    </a:gridCol>
                    <a:gridCol w="1196607">
                      <a:extLst>
                        <a:ext uri="{9D8B030D-6E8A-4147-A177-3AD203B41FA5}">
                          <a16:colId xmlns:a16="http://schemas.microsoft.com/office/drawing/2014/main" val="2166802620"/>
                        </a:ext>
                      </a:extLst>
                    </a:gridCol>
                    <a:gridCol w="1196607">
                      <a:extLst>
                        <a:ext uri="{9D8B030D-6E8A-4147-A177-3AD203B41FA5}">
                          <a16:colId xmlns:a16="http://schemas.microsoft.com/office/drawing/2014/main" val="2974429694"/>
                        </a:ext>
                      </a:extLst>
                    </a:gridCol>
                  </a:tblGrid>
                  <a:tr h="502286">
                    <a:tc>
                      <a:txBody>
                        <a:bodyPr/>
                        <a:lstStyle/>
                        <a:p>
                          <a:endParaRPr lang="sv-SE"/>
                        </a:p>
                      </a:txBody>
                      <a:tcPr>
                        <a:blipFill>
                          <a:blip r:embed="rId4"/>
                          <a:stretch>
                            <a:fillRect l="-510" t="-6024" r="-603571" b="-91566"/>
                          </a:stretch>
                        </a:blipFill>
                      </a:tcPr>
                    </a:tc>
                    <a:tc>
                      <a:txBody>
                        <a:bodyPr/>
                        <a:lstStyle/>
                        <a:p>
                          <a:endParaRPr lang="sv-SE"/>
                        </a:p>
                      </a:txBody>
                      <a:tcPr>
                        <a:blipFill>
                          <a:blip r:embed="rId4"/>
                          <a:stretch>
                            <a:fillRect l="-100000" t="-6024" r="-500508" b="-91566"/>
                          </a:stretch>
                        </a:blipFill>
                      </a:tcPr>
                    </a:tc>
                    <a:tc>
                      <a:txBody>
                        <a:bodyPr/>
                        <a:lstStyle/>
                        <a:p>
                          <a:endParaRPr lang="sv-SE"/>
                        </a:p>
                      </a:txBody>
                      <a:tcPr>
                        <a:blipFill>
                          <a:blip r:embed="rId4"/>
                          <a:stretch>
                            <a:fillRect l="-201020" t="-6024" r="-403061" b="-91566"/>
                          </a:stretch>
                        </a:blipFill>
                      </a:tcPr>
                    </a:tc>
                    <a:tc>
                      <a:txBody>
                        <a:bodyPr/>
                        <a:lstStyle/>
                        <a:p>
                          <a:endParaRPr lang="sv-SE"/>
                        </a:p>
                      </a:txBody>
                      <a:tcPr>
                        <a:blipFill>
                          <a:blip r:embed="rId4"/>
                          <a:stretch>
                            <a:fillRect l="-299492" t="-6024" r="-301015" b="-91566"/>
                          </a:stretch>
                        </a:blipFill>
                      </a:tcPr>
                    </a:tc>
                    <a:tc>
                      <a:txBody>
                        <a:bodyPr/>
                        <a:lstStyle/>
                        <a:p>
                          <a:endParaRPr lang="sv-SE"/>
                        </a:p>
                      </a:txBody>
                      <a:tcPr>
                        <a:blipFill>
                          <a:blip r:embed="rId4"/>
                          <a:stretch>
                            <a:fillRect l="-401531" t="-6024" r="-202551" b="-91566"/>
                          </a:stretch>
                        </a:blipFill>
                      </a:tcPr>
                    </a:tc>
                    <a:tc>
                      <a:txBody>
                        <a:bodyPr/>
                        <a:lstStyle/>
                        <a:p>
                          <a:endParaRPr lang="sv-SE"/>
                        </a:p>
                      </a:txBody>
                      <a:tcPr>
                        <a:blipFill>
                          <a:blip r:embed="rId4"/>
                          <a:stretch>
                            <a:fillRect l="-498985" t="-6024" r="-101523" b="-91566"/>
                          </a:stretch>
                        </a:blipFill>
                      </a:tcPr>
                    </a:tc>
                    <a:tc>
                      <a:txBody>
                        <a:bodyPr/>
                        <a:lstStyle/>
                        <a:p>
                          <a:endParaRPr lang="sv-SE"/>
                        </a:p>
                      </a:txBody>
                      <a:tcPr>
                        <a:blipFill>
                          <a:blip r:embed="rId4"/>
                          <a:stretch>
                            <a:fillRect l="-602041" t="-6024" r="-2041" b="-91566"/>
                          </a:stretch>
                        </a:blipFill>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Loss</a:t>
                          </a:r>
                          <a:r>
                            <a:rPr lang="sv-SE" baseline="0" dirty="0" smtClean="0"/>
                            <a:t> (W)</a:t>
                          </a:r>
                          <a:endParaRPr lang="sv-SE" dirty="0" smtClean="0"/>
                        </a:p>
                      </a:txBody>
                      <a:tcPr/>
                    </a:tc>
                    <a:tc>
                      <a:txBody>
                        <a:bodyPr/>
                        <a:lstStyle/>
                        <a:p>
                          <a:pPr algn="ctr"/>
                          <a:r>
                            <a:rPr lang="sv-SE" dirty="0" smtClean="0"/>
                            <a:t>491</a:t>
                          </a:r>
                          <a:endParaRPr lang="sv-SE" dirty="0"/>
                        </a:p>
                      </a:txBody>
                      <a:tcPr/>
                    </a:tc>
                    <a:tc>
                      <a:txBody>
                        <a:bodyPr/>
                        <a:lstStyle/>
                        <a:p>
                          <a:pPr algn="ctr"/>
                          <a:r>
                            <a:rPr lang="sv-SE" dirty="0" smtClean="0"/>
                            <a:t>614</a:t>
                          </a:r>
                          <a:endParaRPr lang="sv-SE" dirty="0"/>
                        </a:p>
                      </a:txBody>
                      <a:tcPr/>
                    </a:tc>
                    <a:tc>
                      <a:txBody>
                        <a:bodyPr/>
                        <a:lstStyle/>
                        <a:p>
                          <a:pPr algn="ctr"/>
                          <a:r>
                            <a:rPr lang="sv-SE" dirty="0" smtClean="0"/>
                            <a:t>740</a:t>
                          </a:r>
                          <a:endParaRPr lang="sv-SE" dirty="0"/>
                        </a:p>
                      </a:txBody>
                      <a:tcPr/>
                    </a:tc>
                    <a:tc>
                      <a:txBody>
                        <a:bodyPr/>
                        <a:lstStyle/>
                        <a:p>
                          <a:pPr algn="ctr"/>
                          <a:r>
                            <a:rPr lang="sv-SE" dirty="0" smtClean="0"/>
                            <a:t>863</a:t>
                          </a:r>
                          <a:endParaRPr lang="sv-SE" dirty="0"/>
                        </a:p>
                      </a:txBody>
                      <a:tcPr/>
                    </a:tc>
                    <a:tc>
                      <a:txBody>
                        <a:bodyPr/>
                        <a:lstStyle/>
                        <a:p>
                          <a:pPr algn="ctr"/>
                          <a:r>
                            <a:rPr lang="sv-SE" dirty="0" smtClean="0"/>
                            <a:t>920</a:t>
                          </a:r>
                          <a:endParaRPr lang="sv-SE" dirty="0"/>
                        </a:p>
                      </a:txBody>
                      <a:tcPr/>
                    </a:tc>
                    <a:tc>
                      <a:txBody>
                        <a:bodyPr/>
                        <a:lstStyle/>
                        <a:p>
                          <a:pPr algn="ctr"/>
                          <a:r>
                            <a:rPr lang="sv-SE" dirty="0" smtClean="0">
                              <a:solidFill>
                                <a:srgbClr val="FF0000"/>
                              </a:solidFill>
                            </a:rPr>
                            <a:t>1046</a:t>
                          </a:r>
                          <a:endParaRPr lang="sv-SE" dirty="0">
                            <a:solidFill>
                              <a:srgbClr val="FF0000"/>
                            </a:solidFill>
                          </a:endParaRPr>
                        </a:p>
                      </a:txBody>
                      <a:tcPr/>
                    </a:tc>
                    <a:extLst>
                      <a:ext uri="{0D108BD9-81ED-4DB2-BD59-A6C34878D82A}">
                        <a16:rowId xmlns:a16="http://schemas.microsoft.com/office/drawing/2014/main" val="1224150159"/>
                      </a:ext>
                    </a:extLst>
                  </a:tr>
                </a:tbl>
              </a:graphicData>
            </a:graphic>
          </p:graphicFrame>
        </mc:Fallback>
      </mc:AlternateContent>
      <p:pic>
        <p:nvPicPr>
          <p:cNvPr id="7" name="Picture 6"/>
          <p:cNvPicPr>
            <a:picLocks noChangeAspect="1"/>
          </p:cNvPicPr>
          <p:nvPr/>
        </p:nvPicPr>
        <p:blipFill>
          <a:blip r:embed="rId5"/>
          <a:stretch>
            <a:fillRect/>
          </a:stretch>
        </p:blipFill>
        <p:spPr>
          <a:xfrm>
            <a:off x="3168348" y="1057991"/>
            <a:ext cx="2800718" cy="2100538"/>
          </a:xfrm>
          <a:prstGeom prst="rect">
            <a:avLst/>
          </a:prstGeom>
        </p:spPr>
      </p:pic>
      <p:pic>
        <p:nvPicPr>
          <p:cNvPr id="8" name="Picture 7"/>
          <p:cNvPicPr>
            <a:picLocks noChangeAspect="1"/>
          </p:cNvPicPr>
          <p:nvPr/>
        </p:nvPicPr>
        <p:blipFill>
          <a:blip r:embed="rId6"/>
          <a:stretch>
            <a:fillRect/>
          </a:stretch>
        </p:blipFill>
        <p:spPr>
          <a:xfrm>
            <a:off x="9021910" y="1155053"/>
            <a:ext cx="2803331" cy="2102497"/>
          </a:xfrm>
          <a:prstGeom prst="rect">
            <a:avLst/>
          </a:prstGeom>
        </p:spPr>
      </p:pic>
      <p:pic>
        <p:nvPicPr>
          <p:cNvPr id="9" name="Picture 8"/>
          <p:cNvPicPr>
            <a:picLocks noChangeAspect="1"/>
          </p:cNvPicPr>
          <p:nvPr/>
        </p:nvPicPr>
        <p:blipFill>
          <a:blip r:embed="rId7"/>
          <a:stretch>
            <a:fillRect/>
          </a:stretch>
        </p:blipFill>
        <p:spPr>
          <a:xfrm>
            <a:off x="5969066" y="1067394"/>
            <a:ext cx="2839009" cy="2129257"/>
          </a:xfrm>
          <a:prstGeom prst="rect">
            <a:avLst/>
          </a:prstGeom>
        </p:spPr>
      </p:pic>
      <mc:AlternateContent xmlns:mc="http://schemas.openxmlformats.org/markup-compatibility/2006">
        <mc:Choice xmlns:a14="http://schemas.microsoft.com/office/drawing/2010/main" Requires="a14">
          <p:sp>
            <p:nvSpPr>
              <p:cNvPr id="11" name="Rectangle 10"/>
              <p:cNvSpPr/>
              <p:nvPr/>
            </p:nvSpPr>
            <p:spPr>
              <a:xfrm>
                <a:off x="6483220" y="1976204"/>
                <a:ext cx="101021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v-SE" b="1" i="1" dirty="0">
                          <a:latin typeface="Cambria Math" panose="02040503050406030204" pitchFamily="18" charset="0"/>
                        </a:rPr>
                        <m:t>𝟏𝟎</m:t>
                      </m:r>
                      <m:r>
                        <a:rPr lang="sv-SE" b="1" i="1" dirty="0">
                          <a:latin typeface="Cambria Math" panose="02040503050406030204" pitchFamily="18" charset="0"/>
                        </a:rPr>
                        <m:t> </m:t>
                      </m:r>
                      <m:r>
                        <a:rPr lang="sv-SE" b="1" i="1" dirty="0">
                          <a:latin typeface="Cambria Math" panose="02040503050406030204" pitchFamily="18" charset="0"/>
                        </a:rPr>
                        <m:t>𝒌𝑯𝒛</m:t>
                      </m:r>
                    </m:oMath>
                  </m:oMathPara>
                </a14:m>
                <a:endParaRPr lang="sv-SE" dirty="0"/>
              </a:p>
            </p:txBody>
          </p:sp>
        </mc:Choice>
        <mc:Fallback>
          <p:sp>
            <p:nvSpPr>
              <p:cNvPr id="11" name="Rectangle 10"/>
              <p:cNvSpPr>
                <a:spLocks noRot="1" noChangeAspect="1" noMove="1" noResize="1" noEditPoints="1" noAdjustHandles="1" noChangeArrowheads="1" noChangeShapeType="1" noTextEdit="1"/>
              </p:cNvSpPr>
              <p:nvPr/>
            </p:nvSpPr>
            <p:spPr>
              <a:xfrm>
                <a:off x="6483220" y="1976204"/>
                <a:ext cx="1010213" cy="369332"/>
              </a:xfrm>
              <a:prstGeom prst="rect">
                <a:avLst/>
              </a:prstGeom>
              <a:blipFill>
                <a:blip r:embed="rId8"/>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2" name="Rectangle 11"/>
              <p:cNvSpPr/>
              <p:nvPr/>
            </p:nvSpPr>
            <p:spPr>
              <a:xfrm>
                <a:off x="9959531" y="1947357"/>
                <a:ext cx="101021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v-SE" b="1" i="1" dirty="0">
                          <a:latin typeface="Cambria Math" panose="02040503050406030204" pitchFamily="18" charset="0"/>
                        </a:rPr>
                        <m:t>𝟏𝟎</m:t>
                      </m:r>
                      <m:r>
                        <a:rPr lang="sv-SE" b="1" i="1" dirty="0">
                          <a:latin typeface="Cambria Math" panose="02040503050406030204" pitchFamily="18" charset="0"/>
                        </a:rPr>
                        <m:t> </m:t>
                      </m:r>
                      <m:r>
                        <a:rPr lang="sv-SE" b="1" i="1" dirty="0">
                          <a:latin typeface="Cambria Math" panose="02040503050406030204" pitchFamily="18" charset="0"/>
                        </a:rPr>
                        <m:t>𝒌𝑯𝒛</m:t>
                      </m:r>
                    </m:oMath>
                  </m:oMathPara>
                </a14:m>
                <a:endParaRPr lang="sv-SE" dirty="0"/>
              </a:p>
            </p:txBody>
          </p:sp>
        </mc:Choice>
        <mc:Fallback>
          <p:sp>
            <p:nvSpPr>
              <p:cNvPr id="12" name="Rectangle 11"/>
              <p:cNvSpPr>
                <a:spLocks noRot="1" noChangeAspect="1" noMove="1" noResize="1" noEditPoints="1" noAdjustHandles="1" noChangeArrowheads="1" noChangeShapeType="1" noTextEdit="1"/>
              </p:cNvSpPr>
              <p:nvPr/>
            </p:nvSpPr>
            <p:spPr>
              <a:xfrm>
                <a:off x="9959531" y="1947357"/>
                <a:ext cx="1010213" cy="369332"/>
              </a:xfrm>
              <a:prstGeom prst="rect">
                <a:avLst/>
              </a:prstGeom>
              <a:blipFill>
                <a:blip r:embed="rId9"/>
                <a:stretch>
                  <a:fillRect/>
                </a:stretch>
              </a:blipFill>
            </p:spPr>
            <p:txBody>
              <a:bodyPr/>
              <a:lstStyle/>
              <a:p>
                <a:r>
                  <a:rPr lang="sv-SE">
                    <a:noFill/>
                  </a:rPr>
                  <a:t> </a:t>
                </a:r>
              </a:p>
            </p:txBody>
          </p:sp>
        </mc:Fallback>
      </mc:AlternateContent>
      <p:cxnSp>
        <p:nvCxnSpPr>
          <p:cNvPr id="13" name="Straight Arrow Connector 12"/>
          <p:cNvCxnSpPr/>
          <p:nvPr/>
        </p:nvCxnSpPr>
        <p:spPr>
          <a:xfrm>
            <a:off x="8372475" y="4457700"/>
            <a:ext cx="435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021910" y="4273034"/>
            <a:ext cx="2152650" cy="369332"/>
          </a:xfrm>
          <a:prstGeom prst="rect">
            <a:avLst/>
          </a:prstGeom>
          <a:noFill/>
        </p:spPr>
        <p:txBody>
          <a:bodyPr wrap="square" rtlCol="0">
            <a:spAutoFit/>
          </a:bodyPr>
          <a:lstStyle/>
          <a:p>
            <a:r>
              <a:rPr lang="en-US" dirty="0" smtClean="0"/>
              <a:t>Conduction Loss</a:t>
            </a:r>
            <a:endParaRPr lang="sv-SE" dirty="0"/>
          </a:p>
        </p:txBody>
      </p:sp>
      <p:cxnSp>
        <p:nvCxnSpPr>
          <p:cNvPr id="17" name="Straight Arrow Connector 16"/>
          <p:cNvCxnSpPr/>
          <p:nvPr/>
        </p:nvCxnSpPr>
        <p:spPr>
          <a:xfrm>
            <a:off x="9021910" y="5463659"/>
            <a:ext cx="435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9671345" y="5278993"/>
            <a:ext cx="2152650" cy="369332"/>
          </a:xfrm>
          <a:prstGeom prst="rect">
            <a:avLst/>
          </a:prstGeom>
          <a:noFill/>
        </p:spPr>
        <p:txBody>
          <a:bodyPr wrap="square" rtlCol="0">
            <a:spAutoFit/>
          </a:bodyPr>
          <a:lstStyle/>
          <a:p>
            <a:r>
              <a:rPr lang="en-US" dirty="0" smtClean="0"/>
              <a:t>Switching Loss</a:t>
            </a:r>
            <a:endParaRPr lang="sv-SE" dirty="0"/>
          </a:p>
        </p:txBody>
      </p:sp>
    </p:spTree>
    <p:extLst>
      <p:ext uri="{BB962C8B-B14F-4D97-AF65-F5344CB8AC3E}">
        <p14:creationId xmlns:p14="http://schemas.microsoft.com/office/powerpoint/2010/main" val="24054563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2490" y="287931"/>
            <a:ext cx="10990263" cy="568412"/>
          </a:xfrm>
        </p:spPr>
        <p:txBody>
          <a:bodyPr/>
          <a:lstStyle/>
          <a:p>
            <a:r>
              <a:rPr lang="en-US" dirty="0" smtClean="0"/>
              <a:t>DC-link Capacitor Current Ripple</a:t>
            </a:r>
            <a:endParaRPr lang="sv-SE" dirty="0"/>
          </a:p>
        </p:txBody>
      </p:sp>
      <p:pic>
        <p:nvPicPr>
          <p:cNvPr id="5" name="Picture 4"/>
          <p:cNvPicPr>
            <a:picLocks noChangeAspect="1"/>
          </p:cNvPicPr>
          <p:nvPr/>
        </p:nvPicPr>
        <p:blipFill>
          <a:blip r:embed="rId2"/>
          <a:stretch>
            <a:fillRect/>
          </a:stretch>
        </p:blipFill>
        <p:spPr>
          <a:xfrm>
            <a:off x="228496" y="1749900"/>
            <a:ext cx="3779624" cy="2834718"/>
          </a:xfrm>
          <a:prstGeom prst="rect">
            <a:avLst/>
          </a:prstGeom>
        </p:spPr>
      </p:pic>
      <p:pic>
        <p:nvPicPr>
          <p:cNvPr id="10" name="Picture 9"/>
          <p:cNvPicPr>
            <a:picLocks noChangeAspect="1"/>
          </p:cNvPicPr>
          <p:nvPr/>
        </p:nvPicPr>
        <p:blipFill>
          <a:blip r:embed="rId3"/>
          <a:stretch>
            <a:fillRect/>
          </a:stretch>
        </p:blipFill>
        <p:spPr>
          <a:xfrm>
            <a:off x="4105954" y="1934287"/>
            <a:ext cx="3533775" cy="2650331"/>
          </a:xfrm>
          <a:prstGeom prst="rect">
            <a:avLst/>
          </a:prstGeom>
        </p:spPr>
      </p:pic>
      <p:sp>
        <p:nvSpPr>
          <p:cNvPr id="25" name="TextBox 24"/>
          <p:cNvSpPr txBox="1"/>
          <p:nvPr/>
        </p:nvSpPr>
        <p:spPr>
          <a:xfrm>
            <a:off x="1238919" y="1212746"/>
            <a:ext cx="1933832" cy="369332"/>
          </a:xfrm>
          <a:prstGeom prst="rect">
            <a:avLst/>
          </a:prstGeom>
          <a:noFill/>
        </p:spPr>
        <p:txBody>
          <a:bodyPr wrap="square" rtlCol="0">
            <a:spAutoFit/>
          </a:bodyPr>
          <a:lstStyle/>
          <a:p>
            <a:r>
              <a:rPr lang="en-US" dirty="0" smtClean="0"/>
              <a:t>1070 V 415 A</a:t>
            </a:r>
            <a:endParaRPr lang="sv-SE" dirty="0"/>
          </a:p>
        </p:txBody>
      </p:sp>
      <p:sp>
        <p:nvSpPr>
          <p:cNvPr id="26" name="Rectangle 25"/>
          <p:cNvSpPr/>
          <p:nvPr/>
        </p:nvSpPr>
        <p:spPr>
          <a:xfrm>
            <a:off x="6578850" y="2101138"/>
            <a:ext cx="420130" cy="2316627"/>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mc:AlternateContent xmlns:mc="http://schemas.openxmlformats.org/markup-compatibility/2006">
        <mc:Choice xmlns:a14="http://schemas.microsoft.com/office/drawing/2010/main" Requires="a14">
          <p:sp>
            <p:nvSpPr>
              <p:cNvPr id="28" name="TextBox 27"/>
              <p:cNvSpPr txBox="1"/>
              <p:nvPr/>
            </p:nvSpPr>
            <p:spPr>
              <a:xfrm>
                <a:off x="6207375" y="4536592"/>
                <a:ext cx="134688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&gt;270</m:t>
                      </m:r>
                      <m:r>
                        <a:rPr lang="en-US" b="0" i="1" smtClean="0">
                          <a:latin typeface="Cambria Math" panose="02040503050406030204" pitchFamily="18" charset="0"/>
                        </a:rPr>
                        <m:t> </m:t>
                      </m:r>
                      <m:r>
                        <a:rPr lang="en-US" b="0" i="1" smtClean="0">
                          <a:latin typeface="Cambria Math" panose="02040503050406030204" pitchFamily="18" charset="0"/>
                        </a:rPr>
                        <m:t>𝜇</m:t>
                      </m:r>
                      <m:r>
                        <a:rPr lang="en-US" b="0" i="1" smtClean="0">
                          <a:latin typeface="Cambria Math" panose="02040503050406030204" pitchFamily="18" charset="0"/>
                        </a:rPr>
                        <m:t>𝐹</m:t>
                      </m:r>
                    </m:oMath>
                  </m:oMathPara>
                </a14:m>
                <a:endParaRPr lang="sv-SE" dirty="0"/>
              </a:p>
            </p:txBody>
          </p:sp>
        </mc:Choice>
        <mc:Fallback>
          <p:sp>
            <p:nvSpPr>
              <p:cNvPr id="28" name="TextBox 27"/>
              <p:cNvSpPr txBox="1">
                <a:spLocks noRot="1" noChangeAspect="1" noMove="1" noResize="1" noEditPoints="1" noAdjustHandles="1" noChangeArrowheads="1" noChangeShapeType="1" noTextEdit="1"/>
              </p:cNvSpPr>
              <p:nvPr/>
            </p:nvSpPr>
            <p:spPr>
              <a:xfrm>
                <a:off x="6207375" y="4536592"/>
                <a:ext cx="1346887" cy="369332"/>
              </a:xfrm>
              <a:prstGeom prst="rect">
                <a:avLst/>
              </a:prstGeom>
              <a:blipFill>
                <a:blip r:embed="rId4"/>
                <a:stretch>
                  <a:fillRect b="-11475"/>
                </a:stretch>
              </a:blipFill>
            </p:spPr>
            <p:txBody>
              <a:bodyPr/>
              <a:lstStyle/>
              <a:p>
                <a:r>
                  <a:rPr lang="sv-SE">
                    <a:noFill/>
                  </a:rPr>
                  <a:t> </a:t>
                </a:r>
              </a:p>
            </p:txBody>
          </p:sp>
        </mc:Fallback>
      </mc:AlternateContent>
      <p:sp>
        <p:nvSpPr>
          <p:cNvPr id="29" name="Rectangle 28"/>
          <p:cNvSpPr/>
          <p:nvPr/>
        </p:nvSpPr>
        <p:spPr>
          <a:xfrm>
            <a:off x="8831310" y="1485745"/>
            <a:ext cx="1816523" cy="369332"/>
          </a:xfrm>
          <a:prstGeom prst="rect">
            <a:avLst/>
          </a:prstGeom>
        </p:spPr>
        <p:txBody>
          <a:bodyPr wrap="none">
            <a:spAutoFit/>
          </a:bodyPr>
          <a:lstStyle/>
          <a:p>
            <a:r>
              <a:rPr lang="en-US" dirty="0" smtClean="0"/>
              <a:t>KEMET C44U-T</a:t>
            </a:r>
            <a:endParaRPr lang="sv-SE" dirty="0"/>
          </a:p>
        </p:txBody>
      </p:sp>
      <p:pic>
        <p:nvPicPr>
          <p:cNvPr id="30" name="Picture 29"/>
          <p:cNvPicPr>
            <a:picLocks noChangeAspect="1"/>
          </p:cNvPicPr>
          <p:nvPr/>
        </p:nvPicPr>
        <p:blipFill>
          <a:blip r:embed="rId5"/>
          <a:stretch>
            <a:fillRect/>
          </a:stretch>
        </p:blipFill>
        <p:spPr>
          <a:xfrm>
            <a:off x="8565208" y="2043742"/>
            <a:ext cx="1273776" cy="2374023"/>
          </a:xfrm>
          <a:prstGeom prst="rect">
            <a:avLst/>
          </a:prstGeom>
        </p:spPr>
      </p:pic>
      <p:pic>
        <p:nvPicPr>
          <p:cNvPr id="31" name="Picture 30"/>
          <p:cNvPicPr>
            <a:picLocks noChangeAspect="1"/>
          </p:cNvPicPr>
          <p:nvPr/>
        </p:nvPicPr>
        <p:blipFill>
          <a:blip r:embed="rId5"/>
          <a:stretch>
            <a:fillRect/>
          </a:stretch>
        </p:blipFill>
        <p:spPr>
          <a:xfrm>
            <a:off x="9838984" y="2043742"/>
            <a:ext cx="1273776" cy="2374023"/>
          </a:xfrm>
          <a:prstGeom prst="rect">
            <a:avLst/>
          </a:prstGeom>
        </p:spPr>
      </p:pic>
      <mc:AlternateContent xmlns:mc="http://schemas.openxmlformats.org/markup-compatibility/2006">
        <mc:Choice xmlns:a14="http://schemas.microsoft.com/office/drawing/2010/main" Requires="a14">
          <p:sp>
            <p:nvSpPr>
              <p:cNvPr id="32" name="TextBox 31"/>
              <p:cNvSpPr txBox="1"/>
              <p:nvPr/>
            </p:nvSpPr>
            <p:spPr>
              <a:xfrm>
                <a:off x="9300946" y="4530230"/>
                <a:ext cx="1346887" cy="369332"/>
              </a:xfrm>
              <a:prstGeom prst="rect">
                <a:avLst/>
              </a:prstGeom>
              <a:noFill/>
            </p:spPr>
            <p:txBody>
              <a:bodyPr wrap="square" rtlCol="0">
                <a:spAutoFit/>
              </a:bodyPr>
              <a:lstStyle/>
              <a:p>
                <a:pPr/>
                <a:r>
                  <a:rPr lang="en-US" b="0" dirty="0" smtClean="0"/>
                  <a:t>2x </a:t>
                </a:r>
                <a14:m>
                  <m:oMath xmlns:m="http://schemas.openxmlformats.org/officeDocument/2006/math">
                    <m:r>
                      <a:rPr lang="en-US" i="1">
                        <a:latin typeface="Cambria Math" panose="02040503050406030204" pitchFamily="18" charset="0"/>
                      </a:rPr>
                      <m:t>1</m:t>
                    </m:r>
                    <m:r>
                      <a:rPr lang="en-US" b="0" i="1" smtClean="0">
                        <a:latin typeface="Cambria Math" panose="02040503050406030204" pitchFamily="18" charset="0"/>
                      </a:rPr>
                      <m:t>35</m:t>
                    </m:r>
                    <m:r>
                      <a:rPr lang="en-US" b="0" i="1" smtClean="0">
                        <a:latin typeface="Cambria Math" panose="02040503050406030204" pitchFamily="18" charset="0"/>
                      </a:rPr>
                      <m:t> </m:t>
                    </m:r>
                    <m:r>
                      <a:rPr lang="en-US" b="0" i="1" smtClean="0">
                        <a:latin typeface="Cambria Math" panose="02040503050406030204" pitchFamily="18" charset="0"/>
                      </a:rPr>
                      <m:t>𝜇</m:t>
                    </m:r>
                    <m:r>
                      <a:rPr lang="en-US" b="0" i="1" smtClean="0">
                        <a:latin typeface="Cambria Math" panose="02040503050406030204" pitchFamily="18" charset="0"/>
                      </a:rPr>
                      <m:t>𝐹</m:t>
                    </m:r>
                  </m:oMath>
                </a14:m>
                <a:endParaRPr lang="sv-SE" dirty="0"/>
              </a:p>
            </p:txBody>
          </p:sp>
        </mc:Choice>
        <mc:Fallback>
          <p:sp>
            <p:nvSpPr>
              <p:cNvPr id="32" name="TextBox 31"/>
              <p:cNvSpPr txBox="1">
                <a:spLocks noRot="1" noChangeAspect="1" noMove="1" noResize="1" noEditPoints="1" noAdjustHandles="1" noChangeArrowheads="1" noChangeShapeType="1" noTextEdit="1"/>
              </p:cNvSpPr>
              <p:nvPr/>
            </p:nvSpPr>
            <p:spPr>
              <a:xfrm>
                <a:off x="9300946" y="4530230"/>
                <a:ext cx="1346887" cy="369332"/>
              </a:xfrm>
              <a:prstGeom prst="rect">
                <a:avLst/>
              </a:prstGeom>
              <a:blipFill>
                <a:blip r:embed="rId6"/>
                <a:stretch>
                  <a:fillRect l="-4072" t="-8197" b="-24590"/>
                </a:stretch>
              </a:blipFill>
            </p:spPr>
            <p:txBody>
              <a:bodyPr/>
              <a:lstStyle/>
              <a:p>
                <a:r>
                  <a:rPr lang="sv-SE">
                    <a:noFill/>
                  </a:rPr>
                  <a:t> </a:t>
                </a:r>
              </a:p>
            </p:txBody>
          </p:sp>
        </mc:Fallback>
      </mc:AlternateContent>
    </p:spTree>
    <p:extLst>
      <p:ext uri="{BB962C8B-B14F-4D97-AF65-F5344CB8AC3E}">
        <p14:creationId xmlns:p14="http://schemas.microsoft.com/office/powerpoint/2010/main" val="23125555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2490" y="287931"/>
            <a:ext cx="10990263" cy="568412"/>
          </a:xfrm>
        </p:spPr>
        <p:txBody>
          <a:bodyPr/>
          <a:lstStyle/>
          <a:p>
            <a:r>
              <a:rPr lang="en-US" dirty="0" err="1" smtClean="0"/>
              <a:t>Busbar</a:t>
            </a:r>
            <a:r>
              <a:rPr lang="en-US" dirty="0" smtClean="0"/>
              <a:t> and Mounting</a:t>
            </a:r>
            <a:endParaRPr lang="sv-SE" dirty="0"/>
          </a:p>
        </p:txBody>
      </p:sp>
    </p:spTree>
    <p:extLst>
      <p:ext uri="{BB962C8B-B14F-4D97-AF65-F5344CB8AC3E}">
        <p14:creationId xmlns:p14="http://schemas.microsoft.com/office/powerpoint/2010/main" val="36299055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12ED6-312C-15E2-4D7E-147A4B1B461D}"/>
              </a:ext>
            </a:extLst>
          </p:cNvPr>
          <p:cNvSpPr>
            <a:spLocks noGrp="1"/>
          </p:cNvSpPr>
          <p:nvPr>
            <p:ph type="title"/>
          </p:nvPr>
        </p:nvSpPr>
        <p:spPr/>
        <p:txBody>
          <a:bodyPr/>
          <a:lstStyle/>
          <a:p>
            <a:r>
              <a:rPr lang="en-US" dirty="0" smtClean="0"/>
              <a:t>WP4.3 </a:t>
            </a:r>
            <a:r>
              <a:rPr lang="en-US" dirty="0"/>
              <a:t>Cooling of DC link </a:t>
            </a:r>
            <a:r>
              <a:rPr lang="en-US" dirty="0" smtClean="0"/>
              <a:t>capacitors </a:t>
            </a:r>
            <a:endParaRPr lang="en-US" dirty="0"/>
          </a:p>
        </p:txBody>
      </p:sp>
      <p:pic>
        <p:nvPicPr>
          <p:cNvPr id="3" name="Picture 2"/>
          <p:cNvPicPr>
            <a:picLocks noChangeAspect="1"/>
          </p:cNvPicPr>
          <p:nvPr/>
        </p:nvPicPr>
        <p:blipFill>
          <a:blip r:embed="rId2"/>
          <a:stretch>
            <a:fillRect/>
          </a:stretch>
        </p:blipFill>
        <p:spPr>
          <a:xfrm>
            <a:off x="1026753" y="3676152"/>
            <a:ext cx="3228051" cy="1879443"/>
          </a:xfrm>
          <a:prstGeom prst="rect">
            <a:avLst/>
          </a:prstGeom>
        </p:spPr>
      </p:pic>
      <p:pic>
        <p:nvPicPr>
          <p:cNvPr id="4" name="Picture 3"/>
          <p:cNvPicPr>
            <a:picLocks noChangeAspect="1"/>
          </p:cNvPicPr>
          <p:nvPr/>
        </p:nvPicPr>
        <p:blipFill>
          <a:blip r:embed="rId3"/>
          <a:stretch>
            <a:fillRect/>
          </a:stretch>
        </p:blipFill>
        <p:spPr>
          <a:xfrm>
            <a:off x="743411" y="1652305"/>
            <a:ext cx="3880485" cy="1872296"/>
          </a:xfrm>
          <a:prstGeom prst="rect">
            <a:avLst/>
          </a:prstGeom>
        </p:spPr>
      </p:pic>
      <p:pic>
        <p:nvPicPr>
          <p:cNvPr id="5" name="Picture 4"/>
          <p:cNvPicPr>
            <a:picLocks noChangeAspect="1"/>
          </p:cNvPicPr>
          <p:nvPr/>
        </p:nvPicPr>
        <p:blipFill>
          <a:blip r:embed="rId4"/>
          <a:stretch>
            <a:fillRect/>
          </a:stretch>
        </p:blipFill>
        <p:spPr>
          <a:xfrm>
            <a:off x="361943" y="5707146"/>
            <a:ext cx="4962525" cy="869995"/>
          </a:xfrm>
          <a:prstGeom prst="rect">
            <a:avLst/>
          </a:prstGeom>
        </p:spPr>
      </p:pic>
      <p:pic>
        <p:nvPicPr>
          <p:cNvPr id="6" name="Picture 5"/>
          <p:cNvPicPr>
            <a:picLocks noChangeAspect="1"/>
          </p:cNvPicPr>
          <p:nvPr/>
        </p:nvPicPr>
        <p:blipFill>
          <a:blip r:embed="rId5"/>
          <a:stretch>
            <a:fillRect/>
          </a:stretch>
        </p:blipFill>
        <p:spPr>
          <a:xfrm>
            <a:off x="7285673" y="1769779"/>
            <a:ext cx="4510087" cy="4807362"/>
          </a:xfrm>
          <a:prstGeom prst="rect">
            <a:avLst/>
          </a:prstGeom>
        </p:spPr>
      </p:pic>
      <p:sp>
        <p:nvSpPr>
          <p:cNvPr id="7" name="Rectangle 6"/>
          <p:cNvSpPr/>
          <p:nvPr/>
        </p:nvSpPr>
        <p:spPr>
          <a:xfrm>
            <a:off x="1006764" y="943547"/>
            <a:ext cx="9472465" cy="923330"/>
          </a:xfrm>
          <a:prstGeom prst="rect">
            <a:avLst/>
          </a:prstGeom>
        </p:spPr>
        <p:txBody>
          <a:bodyPr wrap="none">
            <a:spAutoFit/>
          </a:bodyPr>
          <a:lstStyle/>
          <a:p>
            <a:r>
              <a:rPr lang="en-US" dirty="0"/>
              <a:t>DC-link Current Ripple </a:t>
            </a:r>
            <a:r>
              <a:rPr lang="en-US" dirty="0" smtClean="0"/>
              <a:t>Minimization : </a:t>
            </a:r>
            <a:r>
              <a:rPr lang="en-US" dirty="0"/>
              <a:t>DC-link current harmonics influence </a:t>
            </a:r>
            <a:r>
              <a:rPr lang="en-US" b="1" dirty="0"/>
              <a:t>thermal stress</a:t>
            </a:r>
            <a:r>
              <a:rPr lang="en-US" dirty="0"/>
              <a:t>, </a:t>
            </a:r>
            <a:endParaRPr lang="en-US" dirty="0" smtClean="0"/>
          </a:p>
          <a:p>
            <a:r>
              <a:rPr lang="en-US" dirty="0"/>
              <a:t>	</a:t>
            </a:r>
            <a:r>
              <a:rPr lang="en-US" dirty="0" smtClean="0"/>
              <a:t>			   affecting </a:t>
            </a:r>
            <a:r>
              <a:rPr lang="en-US" dirty="0"/>
              <a:t>capacitor lifespan. </a:t>
            </a:r>
            <a:endParaRPr lang="sv-SE" dirty="0"/>
          </a:p>
          <a:p>
            <a:endParaRPr lang="sv-SE" dirty="0"/>
          </a:p>
        </p:txBody>
      </p:sp>
      <p:pic>
        <p:nvPicPr>
          <p:cNvPr id="10" name="Picture 9"/>
          <p:cNvPicPr>
            <a:picLocks noChangeAspect="1"/>
          </p:cNvPicPr>
          <p:nvPr/>
        </p:nvPicPr>
        <p:blipFill>
          <a:blip r:embed="rId6"/>
          <a:stretch>
            <a:fillRect/>
          </a:stretch>
        </p:blipFill>
        <p:spPr>
          <a:xfrm>
            <a:off x="4254804" y="3292997"/>
            <a:ext cx="2832735" cy="1512850"/>
          </a:xfrm>
          <a:prstGeom prst="rect">
            <a:avLst/>
          </a:prstGeom>
        </p:spPr>
      </p:pic>
    </p:spTree>
    <p:extLst>
      <p:ext uri="{BB962C8B-B14F-4D97-AF65-F5344CB8AC3E}">
        <p14:creationId xmlns:p14="http://schemas.microsoft.com/office/powerpoint/2010/main" val="3121125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12ED6-312C-15E2-4D7E-147A4B1B461D}"/>
              </a:ext>
            </a:extLst>
          </p:cNvPr>
          <p:cNvSpPr>
            <a:spLocks noGrp="1"/>
          </p:cNvSpPr>
          <p:nvPr>
            <p:ph type="title"/>
          </p:nvPr>
        </p:nvSpPr>
        <p:spPr/>
        <p:txBody>
          <a:bodyPr/>
          <a:lstStyle/>
          <a:p>
            <a:r>
              <a:rPr lang="en-US" dirty="0" smtClean="0"/>
              <a:t>WP4.4 High-bandwidth Current </a:t>
            </a:r>
            <a:r>
              <a:rPr lang="en-US" dirty="0"/>
              <a:t>M</a:t>
            </a:r>
            <a:r>
              <a:rPr lang="en-US" dirty="0" smtClean="0"/>
              <a:t>easurement</a:t>
            </a:r>
            <a:endParaRPr lang="en-US" dirty="0"/>
          </a:p>
        </p:txBody>
      </p:sp>
      <p:pic>
        <p:nvPicPr>
          <p:cNvPr id="11" name="Picture 10"/>
          <p:cNvPicPr>
            <a:picLocks noChangeAspect="1"/>
          </p:cNvPicPr>
          <p:nvPr/>
        </p:nvPicPr>
        <p:blipFill>
          <a:blip r:embed="rId2"/>
          <a:stretch>
            <a:fillRect/>
          </a:stretch>
        </p:blipFill>
        <p:spPr>
          <a:xfrm>
            <a:off x="5063574" y="4141318"/>
            <a:ext cx="1974047" cy="2078662"/>
          </a:xfrm>
          <a:prstGeom prst="rect">
            <a:avLst/>
          </a:prstGeom>
        </p:spPr>
      </p:pic>
      <p:pic>
        <p:nvPicPr>
          <p:cNvPr id="9" name="Picture 8"/>
          <p:cNvPicPr>
            <a:picLocks noChangeAspect="1"/>
          </p:cNvPicPr>
          <p:nvPr/>
        </p:nvPicPr>
        <p:blipFill>
          <a:blip r:embed="rId3"/>
          <a:stretch>
            <a:fillRect/>
          </a:stretch>
        </p:blipFill>
        <p:spPr>
          <a:xfrm>
            <a:off x="8212861" y="3995662"/>
            <a:ext cx="3217457" cy="1836574"/>
          </a:xfrm>
          <a:prstGeom prst="rect">
            <a:avLst/>
          </a:prstGeom>
        </p:spPr>
      </p:pic>
      <p:graphicFrame>
        <p:nvGraphicFramePr>
          <p:cNvPr id="12" name="Table 11"/>
          <p:cNvGraphicFramePr>
            <a:graphicFrameLocks noGrp="1"/>
          </p:cNvGraphicFramePr>
          <p:nvPr>
            <p:extLst>
              <p:ext uri="{D42A27DB-BD31-4B8C-83A1-F6EECF244321}">
                <p14:modId xmlns:p14="http://schemas.microsoft.com/office/powerpoint/2010/main" val="4043437081"/>
              </p:ext>
            </p:extLst>
          </p:nvPr>
        </p:nvGraphicFramePr>
        <p:xfrm>
          <a:off x="510858" y="1147883"/>
          <a:ext cx="11079480" cy="2763520"/>
        </p:xfrm>
        <a:graphic>
          <a:graphicData uri="http://schemas.openxmlformats.org/drawingml/2006/table">
            <a:tbl>
              <a:tblPr firstRow="1" bandRow="1">
                <a:tableStyleId>{5C22544A-7EE6-4342-B048-85BDC9FD1C3A}</a:tableStyleId>
              </a:tblPr>
              <a:tblGrid>
                <a:gridCol w="3693160">
                  <a:extLst>
                    <a:ext uri="{9D8B030D-6E8A-4147-A177-3AD203B41FA5}">
                      <a16:colId xmlns:a16="http://schemas.microsoft.com/office/drawing/2014/main" val="2729427610"/>
                    </a:ext>
                  </a:extLst>
                </a:gridCol>
                <a:gridCol w="3693160">
                  <a:extLst>
                    <a:ext uri="{9D8B030D-6E8A-4147-A177-3AD203B41FA5}">
                      <a16:colId xmlns:a16="http://schemas.microsoft.com/office/drawing/2014/main" val="1126820802"/>
                    </a:ext>
                  </a:extLst>
                </a:gridCol>
                <a:gridCol w="3693160">
                  <a:extLst>
                    <a:ext uri="{9D8B030D-6E8A-4147-A177-3AD203B41FA5}">
                      <a16:colId xmlns:a16="http://schemas.microsoft.com/office/drawing/2014/main" val="3015140122"/>
                    </a:ext>
                  </a:extLst>
                </a:gridCol>
              </a:tblGrid>
              <a:tr h="370840">
                <a:tc>
                  <a:txBody>
                    <a:bodyPr/>
                    <a:lstStyle/>
                    <a:p>
                      <a:r>
                        <a:rPr lang="sv-SE" dirty="0"/>
                        <a:t>Feature</a:t>
                      </a:r>
                    </a:p>
                  </a:txBody>
                  <a:tcPr anchor="ctr"/>
                </a:tc>
                <a:tc>
                  <a:txBody>
                    <a:bodyPr/>
                    <a:lstStyle/>
                    <a:p>
                      <a:r>
                        <a:rPr lang="sv-SE" b="1"/>
                        <a:t>LEM LF 310-S</a:t>
                      </a:r>
                      <a:endParaRPr lang="sv-SE"/>
                    </a:p>
                  </a:txBody>
                  <a:tcPr anchor="ctr"/>
                </a:tc>
                <a:tc>
                  <a:txBody>
                    <a:bodyPr/>
                    <a:lstStyle/>
                    <a:p>
                      <a:r>
                        <a:rPr lang="sv-SE" b="1" dirty="0" err="1"/>
                        <a:t>Melexis</a:t>
                      </a:r>
                      <a:r>
                        <a:rPr lang="sv-SE" b="1" dirty="0"/>
                        <a:t> MLX91235</a:t>
                      </a:r>
                      <a:endParaRPr lang="sv-SE" dirty="0"/>
                    </a:p>
                  </a:txBody>
                  <a:tcPr anchor="ctr"/>
                </a:tc>
                <a:extLst>
                  <a:ext uri="{0D108BD9-81ED-4DB2-BD59-A6C34878D82A}">
                    <a16:rowId xmlns:a16="http://schemas.microsoft.com/office/drawing/2014/main" val="3088726025"/>
                  </a:ext>
                </a:extLst>
              </a:tr>
              <a:tr h="370840">
                <a:tc>
                  <a:txBody>
                    <a:bodyPr/>
                    <a:lstStyle/>
                    <a:p>
                      <a:r>
                        <a:rPr lang="sv-SE" dirty="0" err="1"/>
                        <a:t>Type</a:t>
                      </a:r>
                      <a:endParaRPr lang="sv-SE" dirty="0"/>
                    </a:p>
                  </a:txBody>
                  <a:tcPr anchor="ctr"/>
                </a:tc>
                <a:tc>
                  <a:txBody>
                    <a:bodyPr/>
                    <a:lstStyle/>
                    <a:p>
                      <a:r>
                        <a:rPr lang="sv-SE" dirty="0" err="1"/>
                        <a:t>Closed</a:t>
                      </a:r>
                      <a:r>
                        <a:rPr lang="sv-SE" dirty="0"/>
                        <a:t>-loop Hall </a:t>
                      </a:r>
                      <a:r>
                        <a:rPr lang="sv-SE" dirty="0" err="1"/>
                        <a:t>transducer</a:t>
                      </a:r>
                      <a:r>
                        <a:rPr lang="sv-SE" dirty="0"/>
                        <a:t> (</a:t>
                      </a:r>
                      <a:r>
                        <a:rPr lang="sv-SE" dirty="0" err="1"/>
                        <a:t>module</a:t>
                      </a:r>
                      <a:r>
                        <a:rPr lang="sv-SE" dirty="0"/>
                        <a:t>)</a:t>
                      </a:r>
                    </a:p>
                  </a:txBody>
                  <a:tcPr anchor="ctr"/>
                </a:tc>
                <a:tc>
                  <a:txBody>
                    <a:bodyPr/>
                    <a:lstStyle/>
                    <a:p>
                      <a:r>
                        <a:rPr lang="en-US" dirty="0"/>
                        <a:t>Coreless Hall IC (external primary)</a:t>
                      </a:r>
                    </a:p>
                  </a:txBody>
                  <a:tcPr anchor="ctr"/>
                </a:tc>
                <a:extLst>
                  <a:ext uri="{0D108BD9-81ED-4DB2-BD59-A6C34878D82A}">
                    <a16:rowId xmlns:a16="http://schemas.microsoft.com/office/drawing/2014/main" val="3680394787"/>
                  </a:ext>
                </a:extLst>
              </a:tr>
              <a:tr h="370840">
                <a:tc>
                  <a:txBody>
                    <a:bodyPr/>
                    <a:lstStyle/>
                    <a:p>
                      <a:r>
                        <a:rPr lang="sv-SE" dirty="0" err="1"/>
                        <a:t>Bandwidth</a:t>
                      </a:r>
                      <a:endParaRPr lang="sv-SE" dirty="0"/>
                    </a:p>
                  </a:txBody>
                  <a:tcPr anchor="ctr"/>
                </a:tc>
                <a:tc>
                  <a:txBody>
                    <a:bodyPr/>
                    <a:lstStyle/>
                    <a:p>
                      <a:r>
                        <a:rPr lang="sv-SE" dirty="0"/>
                        <a:t>~100 kHz</a:t>
                      </a:r>
                    </a:p>
                  </a:txBody>
                  <a:tcPr anchor="ctr"/>
                </a:tc>
                <a:tc>
                  <a:txBody>
                    <a:bodyPr/>
                    <a:lstStyle/>
                    <a:p>
                      <a:r>
                        <a:rPr lang="sv-SE" dirty="0"/>
                        <a:t>~500 kHz</a:t>
                      </a:r>
                    </a:p>
                  </a:txBody>
                  <a:tcPr anchor="ctr"/>
                </a:tc>
                <a:extLst>
                  <a:ext uri="{0D108BD9-81ED-4DB2-BD59-A6C34878D82A}">
                    <a16:rowId xmlns:a16="http://schemas.microsoft.com/office/drawing/2014/main" val="4266888425"/>
                  </a:ext>
                </a:extLst>
              </a:tr>
              <a:tr h="370840">
                <a:tc>
                  <a:txBody>
                    <a:bodyPr/>
                    <a:lstStyle/>
                    <a:p>
                      <a:r>
                        <a:rPr lang="sv-SE" dirty="0"/>
                        <a:t>Isolation</a:t>
                      </a:r>
                    </a:p>
                  </a:txBody>
                  <a:tcPr anchor="ctr"/>
                </a:tc>
                <a:tc>
                  <a:txBody>
                    <a:bodyPr/>
                    <a:lstStyle/>
                    <a:p>
                      <a:r>
                        <a:rPr lang="sv-SE" dirty="0" err="1"/>
                        <a:t>Built</a:t>
                      </a:r>
                      <a:r>
                        <a:rPr lang="sv-SE" dirty="0"/>
                        <a:t>-in, robust</a:t>
                      </a:r>
                    </a:p>
                  </a:txBody>
                  <a:tcPr anchor="ctr"/>
                </a:tc>
                <a:tc>
                  <a:txBody>
                    <a:bodyPr/>
                    <a:lstStyle/>
                    <a:p>
                      <a:r>
                        <a:rPr lang="sv-SE" dirty="0" err="1"/>
                        <a:t>Needs</a:t>
                      </a:r>
                      <a:r>
                        <a:rPr lang="sv-SE" dirty="0"/>
                        <a:t> system-</a:t>
                      </a:r>
                      <a:r>
                        <a:rPr lang="sv-SE" dirty="0" err="1"/>
                        <a:t>level</a:t>
                      </a:r>
                      <a:r>
                        <a:rPr lang="sv-SE" dirty="0"/>
                        <a:t> design</a:t>
                      </a:r>
                    </a:p>
                  </a:txBody>
                  <a:tcPr anchor="ctr"/>
                </a:tc>
                <a:extLst>
                  <a:ext uri="{0D108BD9-81ED-4DB2-BD59-A6C34878D82A}">
                    <a16:rowId xmlns:a16="http://schemas.microsoft.com/office/drawing/2014/main" val="539719827"/>
                  </a:ext>
                </a:extLst>
              </a:tr>
              <a:tr h="370840">
                <a:tc>
                  <a:txBody>
                    <a:bodyPr/>
                    <a:lstStyle/>
                    <a:p>
                      <a:r>
                        <a:rPr lang="sv-SE"/>
                        <a:t>Integration</a:t>
                      </a:r>
                    </a:p>
                  </a:txBody>
                  <a:tcPr anchor="ctr"/>
                </a:tc>
                <a:tc>
                  <a:txBody>
                    <a:bodyPr/>
                    <a:lstStyle/>
                    <a:p>
                      <a:r>
                        <a:rPr lang="sv-SE" dirty="0" err="1"/>
                        <a:t>Plug</a:t>
                      </a:r>
                      <a:r>
                        <a:rPr lang="sv-SE" dirty="0"/>
                        <a:t>-and-play </a:t>
                      </a:r>
                      <a:r>
                        <a:rPr lang="sv-SE" dirty="0" err="1"/>
                        <a:t>module</a:t>
                      </a:r>
                      <a:endParaRPr lang="sv-SE" dirty="0"/>
                    </a:p>
                  </a:txBody>
                  <a:tcPr anchor="ctr"/>
                </a:tc>
                <a:tc>
                  <a:txBody>
                    <a:bodyPr/>
                    <a:lstStyle/>
                    <a:p>
                      <a:r>
                        <a:rPr lang="sv-SE" dirty="0"/>
                        <a:t>PCB integration, </a:t>
                      </a:r>
                      <a:r>
                        <a:rPr lang="sv-SE" dirty="0" err="1"/>
                        <a:t>calibration</a:t>
                      </a:r>
                      <a:endParaRPr lang="sv-SE" dirty="0"/>
                    </a:p>
                  </a:txBody>
                  <a:tcPr anchor="ctr"/>
                </a:tc>
                <a:extLst>
                  <a:ext uri="{0D108BD9-81ED-4DB2-BD59-A6C34878D82A}">
                    <a16:rowId xmlns:a16="http://schemas.microsoft.com/office/drawing/2014/main" val="2017641936"/>
                  </a:ext>
                </a:extLst>
              </a:tr>
              <a:tr h="370840">
                <a:tc>
                  <a:txBody>
                    <a:bodyPr/>
                    <a:lstStyle/>
                    <a:p>
                      <a:r>
                        <a:rPr lang="sv-SE" dirty="0"/>
                        <a:t>Best </a:t>
                      </a:r>
                      <a:r>
                        <a:rPr lang="sv-SE" dirty="0" err="1"/>
                        <a:t>use</a:t>
                      </a:r>
                      <a:endParaRPr lang="sv-SE" dirty="0"/>
                    </a:p>
                  </a:txBody>
                  <a:tcPr anchor="ctr"/>
                </a:tc>
                <a:tc>
                  <a:txBody>
                    <a:bodyPr/>
                    <a:lstStyle/>
                    <a:p>
                      <a:r>
                        <a:rPr lang="en-US" dirty="0" smtClean="0"/>
                        <a:t>Differential</a:t>
                      </a:r>
                      <a:r>
                        <a:rPr lang="en-US" baseline="0" dirty="0" smtClean="0"/>
                        <a:t> </a:t>
                      </a:r>
                      <a:r>
                        <a:rPr lang="en-US" dirty="0" smtClean="0"/>
                        <a:t>phase </a:t>
                      </a:r>
                      <a:r>
                        <a:rPr lang="en-US" dirty="0"/>
                        <a:t>current sensing for inverter control</a:t>
                      </a:r>
                    </a:p>
                  </a:txBody>
                  <a:tcPr anchor="ctr"/>
                </a:tc>
                <a:tc>
                  <a:txBody>
                    <a:bodyPr/>
                    <a:lstStyle/>
                    <a:p>
                      <a:r>
                        <a:rPr lang="en-US" dirty="0"/>
                        <a:t>High-speed </a:t>
                      </a:r>
                      <a:r>
                        <a:rPr lang="en-US" b="1" dirty="0"/>
                        <a:t>di/</a:t>
                      </a:r>
                      <a:r>
                        <a:rPr lang="en-US" b="1" dirty="0" err="1"/>
                        <a:t>dt</a:t>
                      </a:r>
                      <a:r>
                        <a:rPr lang="en-US" dirty="0"/>
                        <a:t> or ripple/harmonic measurement</a:t>
                      </a:r>
                    </a:p>
                  </a:txBody>
                  <a:tcPr anchor="ctr"/>
                </a:tc>
                <a:extLst>
                  <a:ext uri="{0D108BD9-81ED-4DB2-BD59-A6C34878D82A}">
                    <a16:rowId xmlns:a16="http://schemas.microsoft.com/office/drawing/2014/main" val="1072923105"/>
                  </a:ext>
                </a:extLst>
              </a:tr>
            </a:tbl>
          </a:graphicData>
        </a:graphic>
      </p:graphicFrame>
    </p:spTree>
    <p:extLst>
      <p:ext uri="{BB962C8B-B14F-4D97-AF65-F5344CB8AC3E}">
        <p14:creationId xmlns:p14="http://schemas.microsoft.com/office/powerpoint/2010/main" val="3109791591"/>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26D191D-1F41-4900-984B-7C96B01E2C19}" vid="{8D379FE5-4B72-4EDF-9880-68D6B465F573}"/>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B20BB3486EFA5541A2E04CA99A49BE09" ma:contentTypeVersion="11" ma:contentTypeDescription="Skapa ett nytt dokument." ma:contentTypeScope="" ma:versionID="7b8f50895d0b097d5901a8e3ae86e8e8">
  <xsd:schema xmlns:xsd="http://www.w3.org/2001/XMLSchema" xmlns:xs="http://www.w3.org/2001/XMLSchema" xmlns:p="http://schemas.microsoft.com/office/2006/metadata/properties" xmlns:ns2="00d6ba7f-1ce2-4dc9-96eb-61ac436a9560" xmlns:ns3="45de8d17-5c55-401f-a5f7-109864601df2" targetNamespace="http://schemas.microsoft.com/office/2006/metadata/properties" ma:root="true" ma:fieldsID="539360f445bb192641a404c28e8bed2e" ns2:_="" ns3:_="">
    <xsd:import namespace="00d6ba7f-1ce2-4dc9-96eb-61ac436a9560"/>
    <xsd:import namespace="45de8d17-5c55-401f-a5f7-109864601df2"/>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SearchProperties" minOccurs="0"/>
                <xsd:element ref="ns2:_Flow_SignoffStatu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d6ba7f-1ce2-4dc9-96eb-61ac436a95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ildmarkeringar" ma:readOnly="false" ma:fieldId="{5cf76f15-5ced-4ddc-b409-7134ff3c332f}" ma:taxonomyMulti="true" ma:sspId="93a65192-9734-4a36-9c54-dd0325533d75"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_Flow_SignoffStatus" ma:index="17" nillable="true" ma:displayName="Godkännandestatus" ma:internalName="Godk_x00e4_nnandestatus">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de8d17-5c55-401f-a5f7-109864601df2"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086e6fb9-802f-4bde-b45c-a536e0468bac}" ma:internalName="TaxCatchAll" ma:showField="CatchAllData" ma:web="45de8d17-5c55-401f-a5f7-109864601d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ehållstyp"/>
        <xsd:element ref="dc:title" minOccurs="0" maxOccurs="1" ma:index="4"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0d6ba7f-1ce2-4dc9-96eb-61ac436a9560">
      <Terms xmlns="http://schemas.microsoft.com/office/infopath/2007/PartnerControls"/>
    </lcf76f155ced4ddcb4097134ff3c332f>
    <_Flow_SignoffStatus xmlns="00d6ba7f-1ce2-4dc9-96eb-61ac436a9560" xsi:nil="true"/>
    <TaxCatchAll xmlns="45de8d17-5c55-401f-a5f7-109864601df2" xsi:nil="true"/>
  </documentManagement>
</p:properties>
</file>

<file path=customXml/itemProps1.xml><?xml version="1.0" encoding="utf-8"?>
<ds:datastoreItem xmlns:ds="http://schemas.openxmlformats.org/officeDocument/2006/customXml" ds:itemID="{0855E8CF-26DF-4595-BEB9-70D0EC1935AB}">
  <ds:schemaRefs>
    <ds:schemaRef ds:uri="http://schemas.microsoft.com/sharepoint/v3/contenttype/forms"/>
  </ds:schemaRefs>
</ds:datastoreItem>
</file>

<file path=customXml/itemProps2.xml><?xml version="1.0" encoding="utf-8"?>
<ds:datastoreItem xmlns:ds="http://schemas.openxmlformats.org/officeDocument/2006/customXml" ds:itemID="{EB8D9694-BA04-424E-B8AA-65782A31A6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d6ba7f-1ce2-4dc9-96eb-61ac436a9560"/>
    <ds:schemaRef ds:uri="45de8d17-5c55-401f-a5f7-109864601d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C3910EE-3003-43A5-84D6-7F3C9E61144E}">
  <ds:schemaRefs>
    <ds:schemaRef ds:uri="http://purl.org/dc/dcmitype/"/>
    <ds:schemaRef ds:uri="http://schemas.openxmlformats.org/package/2006/metadata/core-properties"/>
    <ds:schemaRef ds:uri="http://schemas.microsoft.com/office/2006/documentManagement/types"/>
    <ds:schemaRef ds:uri="http://purl.org/dc/elements/1.1/"/>
    <ds:schemaRef ds:uri="http://www.w3.org/XML/1998/namespace"/>
    <ds:schemaRef ds:uri="http://purl.org/dc/terms/"/>
    <ds:schemaRef ds:uri="00d6ba7f-1ce2-4dc9-96eb-61ac436a9560"/>
    <ds:schemaRef ds:uri="http://schemas.microsoft.com/office/2006/metadata/properties"/>
    <ds:schemaRef ds:uri="http://schemas.microsoft.com/office/infopath/2007/PartnerControls"/>
    <ds:schemaRef ds:uri="45de8d17-5c55-401f-a5f7-109864601df2"/>
  </ds:schemaRefs>
</ds:datastoreItem>
</file>

<file path=docProps/app.xml><?xml version="1.0" encoding="utf-8"?>
<Properties xmlns="http://schemas.openxmlformats.org/officeDocument/2006/extended-properties" xmlns:vt="http://schemas.openxmlformats.org/officeDocument/2006/docPropsVTypes">
  <Template>KTH</Template>
  <TotalTime>45</TotalTime>
  <Words>578</Words>
  <Application>Microsoft Office PowerPoint</Application>
  <PresentationFormat>Widescreen</PresentationFormat>
  <Paragraphs>106</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Calibri</vt:lpstr>
      <vt:lpstr>Wingdings</vt:lpstr>
      <vt:lpstr>Cambria Math</vt:lpstr>
      <vt:lpstr>Figtree</vt:lpstr>
      <vt:lpstr>Arial</vt:lpstr>
      <vt:lpstr>Office-tema</vt:lpstr>
      <vt:lpstr>WP4: Progress Update</vt:lpstr>
      <vt:lpstr>WP4.1 Inverter topology and construction</vt:lpstr>
      <vt:lpstr>Datasheet-driven Loss Calculation</vt:lpstr>
      <vt:lpstr>DC-link Capacitor Current Ripple</vt:lpstr>
      <vt:lpstr>Busbar and Mounting</vt:lpstr>
      <vt:lpstr>WP4.3 Cooling of DC link capacitors </vt:lpstr>
      <vt:lpstr>WP4.4 High-bandwidth Current Measurement</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WP4: Progress Update</dc:title>
  <dc:creator>Lukas Böcker</dc:creator>
  <cp:lastModifiedBy>Enes Ayaz</cp:lastModifiedBy>
  <cp:revision>28</cp:revision>
  <dcterms:created xsi:type="dcterms:W3CDTF">2025-09-25T11:52:04Z</dcterms:created>
  <dcterms:modified xsi:type="dcterms:W3CDTF">2025-09-25T13:21:09Z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0x010100B20BB3486EFA5541A2E04CA99A49BE09</vt:lpwstr>
  </property>
  <property fmtid="{D5CDD505-2E9C-101B-9397-08002B2CF9AE}" pid="3" name="_dlc_DocIdItemGuid">
    <vt:lpwstr>727452b2-8c07-49fa-9c22-9c1873a3a1f2</vt:lpwstr>
  </property>
  <property fmtid="{D5CDD505-2E9C-101B-9397-08002B2CF9AE}" pid="4" name="MediaServiceImageTags">
    <vt:lpwstr/>
  </property>
</Properties>
</file>