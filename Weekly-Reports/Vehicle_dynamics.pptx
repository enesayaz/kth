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07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30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30653-264A-4E12-B8AE-D254F55BA627}" type="datetimeFigureOut">
              <a:rPr lang="sv-SE" smtClean="0"/>
              <a:t>2023-11-30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AEA7E-415D-427A-8675-B99CA14829F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3857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30653-264A-4E12-B8AE-D254F55BA627}" type="datetimeFigureOut">
              <a:rPr lang="sv-SE" smtClean="0"/>
              <a:t>2023-11-30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AEA7E-415D-427A-8675-B99CA14829F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00327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30653-264A-4E12-B8AE-D254F55BA627}" type="datetimeFigureOut">
              <a:rPr lang="sv-SE" smtClean="0"/>
              <a:t>2023-11-30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AEA7E-415D-427A-8675-B99CA14829F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76925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30653-264A-4E12-B8AE-D254F55BA627}" type="datetimeFigureOut">
              <a:rPr lang="sv-SE" smtClean="0"/>
              <a:t>2023-11-30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AEA7E-415D-427A-8675-B99CA14829F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84556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30653-264A-4E12-B8AE-D254F55BA627}" type="datetimeFigureOut">
              <a:rPr lang="sv-SE" smtClean="0"/>
              <a:t>2023-11-30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AEA7E-415D-427A-8675-B99CA14829F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42360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30653-264A-4E12-B8AE-D254F55BA627}" type="datetimeFigureOut">
              <a:rPr lang="sv-SE" smtClean="0"/>
              <a:t>2023-11-30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AEA7E-415D-427A-8675-B99CA14829F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70301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30653-264A-4E12-B8AE-D254F55BA627}" type="datetimeFigureOut">
              <a:rPr lang="sv-SE" smtClean="0"/>
              <a:t>2023-11-30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AEA7E-415D-427A-8675-B99CA14829F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10023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30653-264A-4E12-B8AE-D254F55BA627}" type="datetimeFigureOut">
              <a:rPr lang="sv-SE" smtClean="0"/>
              <a:t>2023-11-30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AEA7E-415D-427A-8675-B99CA14829F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46688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30653-264A-4E12-B8AE-D254F55BA627}" type="datetimeFigureOut">
              <a:rPr lang="sv-SE" smtClean="0"/>
              <a:t>2023-11-30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AEA7E-415D-427A-8675-B99CA14829F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35747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30653-264A-4E12-B8AE-D254F55BA627}" type="datetimeFigureOut">
              <a:rPr lang="sv-SE" smtClean="0"/>
              <a:t>2023-11-30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AEA7E-415D-427A-8675-B99CA14829F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76672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30653-264A-4E12-B8AE-D254F55BA627}" type="datetimeFigureOut">
              <a:rPr lang="sv-SE" smtClean="0"/>
              <a:t>2023-11-30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AEA7E-415D-427A-8675-B99CA14829F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84953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730653-264A-4E12-B8AE-D254F55BA627}" type="datetimeFigureOut">
              <a:rPr lang="sv-SE" smtClean="0"/>
              <a:t>2023-11-30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7AEA7E-415D-427A-8675-B99CA14829F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43185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6160340"/>
                  </p:ext>
                </p:extLst>
              </p:nvPr>
            </p:nvGraphicFramePr>
            <p:xfrm>
              <a:off x="286888" y="298073"/>
              <a:ext cx="8128000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8162">
                      <a:extLst>
                        <a:ext uri="{9D8B030D-6E8A-4147-A177-3AD203B41FA5}">
                          <a16:colId xmlns:a16="http://schemas.microsoft.com/office/drawing/2014/main" val="4288452530"/>
                        </a:ext>
                      </a:extLst>
                    </a:gridCol>
                    <a:gridCol w="3919838">
                      <a:extLst>
                        <a:ext uri="{9D8B030D-6E8A-4147-A177-3AD203B41FA5}">
                          <a16:colId xmlns:a16="http://schemas.microsoft.com/office/drawing/2014/main" val="1103111073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Vehicle Dynamics</a:t>
                          </a:r>
                          <a:r>
                            <a:rPr lang="en-US" sz="1400" b="1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Coefficients and Parameters</a:t>
                          </a:r>
                          <a:endParaRPr lang="sv-SE" sz="14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sv-SE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74813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Radius</a:t>
                          </a:r>
                          <a:r>
                            <a:rPr lang="en-US" sz="1400" b="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of wheels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4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 b="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in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oMath>
                          </a14:m>
                          <a:r>
                            <a:rPr lang="en-US" sz="1400" b="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0.52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804956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Vehicle</a:t>
                          </a:r>
                          <a:r>
                            <a:rPr lang="en-US" sz="1400" b="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front area (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sz="1400" b="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in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4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sz="14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400" b="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kern="120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10.5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300007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Aerodynamic drag coefficient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4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kern="120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0.7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47790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Rolling resistance coefficient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4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𝑟𝑟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059162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Vehicle</a:t>
                          </a:r>
                          <a:r>
                            <a:rPr lang="en-US" sz="1400" b="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mass </a:t>
                          </a:r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𝑀</m:t>
                              </m:r>
                            </m:oMath>
                          </a14:m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in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𝑘𝑔</m:t>
                              </m:r>
                            </m:oMath>
                          </a14:m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kern="120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40000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282693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i="0" kern="1200" noProof="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Coefficient</a:t>
                          </a:r>
                          <a:r>
                            <a:rPr lang="en-US" sz="1400" b="0" i="0" kern="1200" baseline="0" noProof="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of inertia (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kern="1200" baseline="0" noProof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oMath>
                          </a14:m>
                          <a:r>
                            <a:rPr lang="en-US" sz="1400" b="0" noProof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en-US" sz="1400" b="0" noProof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kern="120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- Mass</a:t>
                          </a:r>
                          <a:r>
                            <a:rPr lang="en-US" sz="1400" b="0" i="0" kern="1200" baseline="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increase 1.05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795092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i="0" kern="1200" noProof="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Coefficient</a:t>
                          </a:r>
                          <a:r>
                            <a:rPr lang="en-US" sz="1400" b="0" i="0" kern="1200" baseline="0" noProof="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of friction (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kern="1200" baseline="0" noProof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𝜇</m:t>
                              </m:r>
                            </m:oMath>
                          </a14:m>
                          <a:r>
                            <a:rPr lang="en-US" sz="1400" b="0" noProof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en-US" sz="1400" b="0" noProof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kern="120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0.8 (at initial)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204894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Differential</a:t>
                          </a:r>
                          <a:r>
                            <a:rPr lang="en-US" sz="1400" b="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gear ratio (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oMath>
                          </a14:m>
                          <a:r>
                            <a:rPr lang="en-US" sz="1400" b="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311461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6160340"/>
                  </p:ext>
                </p:extLst>
              </p:nvPr>
            </p:nvGraphicFramePr>
            <p:xfrm>
              <a:off x="286888" y="298073"/>
              <a:ext cx="8128000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8162">
                      <a:extLst>
                        <a:ext uri="{9D8B030D-6E8A-4147-A177-3AD203B41FA5}">
                          <a16:colId xmlns:a16="http://schemas.microsoft.com/office/drawing/2014/main" val="4288452530"/>
                        </a:ext>
                      </a:extLst>
                    </a:gridCol>
                    <a:gridCol w="3919838">
                      <a:extLst>
                        <a:ext uri="{9D8B030D-6E8A-4147-A177-3AD203B41FA5}">
                          <a16:colId xmlns:a16="http://schemas.microsoft.com/office/drawing/2014/main" val="1103111073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Vehicle Dynamics</a:t>
                          </a:r>
                          <a:r>
                            <a:rPr lang="en-US" sz="1400" b="1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Coefficients and Parameters</a:t>
                          </a:r>
                          <a:endParaRPr lang="sv-SE" sz="14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sv-SE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74813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101639" r="-93343" b="-7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0.52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804956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201639" r="-93343" b="-6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kern="120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10.5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300007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301639" r="-93343" b="-5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kern="120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0.7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47790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401639" r="-93343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059162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501639" r="-93343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kern="120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40000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282693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601639" r="-93343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kern="120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- Mass</a:t>
                          </a:r>
                          <a:r>
                            <a:rPr lang="en-US" sz="1400" b="0" i="0" kern="1200" baseline="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increase 1.05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795092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701639" r="-93343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kern="120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0.8 (at initial)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204894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801639" r="-93343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3114612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9727641"/>
                  </p:ext>
                </p:extLst>
              </p:nvPr>
            </p:nvGraphicFramePr>
            <p:xfrm>
              <a:off x="286888" y="4723090"/>
              <a:ext cx="8128000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8162">
                      <a:extLst>
                        <a:ext uri="{9D8B030D-6E8A-4147-A177-3AD203B41FA5}">
                          <a16:colId xmlns:a16="http://schemas.microsoft.com/office/drawing/2014/main" val="4288452530"/>
                        </a:ext>
                      </a:extLst>
                    </a:gridCol>
                    <a:gridCol w="3919838">
                      <a:extLst>
                        <a:ext uri="{9D8B030D-6E8A-4147-A177-3AD203B41FA5}">
                          <a16:colId xmlns:a16="http://schemas.microsoft.com/office/drawing/2014/main" val="1103111073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Motor Specifications</a:t>
                          </a:r>
                          <a:endParaRPr lang="sv-SE" sz="14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sv-SE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74813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Base </a:t>
                          </a:r>
                          <a:r>
                            <a:rPr lang="en-US" sz="1400" b="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speed  </a:t>
                          </a:r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(in</a:t>
                          </a:r>
                          <a:r>
                            <a:rPr lang="en-US" sz="1400" b="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m/s</a:t>
                          </a:r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52 m/s , 187 km/h</a:t>
                          </a:r>
                          <a:endParaRPr lang="sv-SE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47790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Continuous</a:t>
                          </a:r>
                          <a:r>
                            <a:rPr lang="en-US" sz="1400" b="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power </a:t>
                          </a:r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(in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k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𝑊</m:t>
                              </m:r>
                            </m:oMath>
                          </a14:m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 kW</a:t>
                          </a:r>
                          <a:endParaRPr lang="sv-SE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059162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Continuous</a:t>
                          </a:r>
                          <a:r>
                            <a:rPr lang="en-US" sz="1400" b="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torque </a:t>
                          </a:r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(in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oMath>
                          </a14:m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aseline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3000 </a:t>
                          </a:r>
                          <a:r>
                            <a:rPr lang="en-US" sz="1400" baseline="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N.m</a:t>
                          </a:r>
                          <a:endParaRPr lang="sv-SE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282693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9727641"/>
                  </p:ext>
                </p:extLst>
              </p:nvPr>
            </p:nvGraphicFramePr>
            <p:xfrm>
              <a:off x="286888" y="4723090"/>
              <a:ext cx="8128000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8162">
                      <a:extLst>
                        <a:ext uri="{9D8B030D-6E8A-4147-A177-3AD203B41FA5}">
                          <a16:colId xmlns:a16="http://schemas.microsoft.com/office/drawing/2014/main" val="4288452530"/>
                        </a:ext>
                      </a:extLst>
                    </a:gridCol>
                    <a:gridCol w="3919838">
                      <a:extLst>
                        <a:ext uri="{9D8B030D-6E8A-4147-A177-3AD203B41FA5}">
                          <a16:colId xmlns:a16="http://schemas.microsoft.com/office/drawing/2014/main" val="1103111073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Motor Specifications</a:t>
                          </a:r>
                          <a:endParaRPr lang="sv-SE" sz="14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sv-SE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74813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Base </a:t>
                          </a:r>
                          <a:r>
                            <a:rPr lang="en-US" sz="1400" b="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400" b="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speed  </a:t>
                          </a:r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</a:t>
                          </a:r>
                          <a:r>
                            <a:rPr lang="en-US" sz="1400" b="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m/s</a:t>
                          </a:r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52 m/s , 187 km/h</a:t>
                          </a:r>
                          <a:endParaRPr lang="sv-SE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47790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5" t="-203279" r="-93343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 kW</a:t>
                          </a:r>
                          <a:endParaRPr lang="sv-SE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059162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5" t="-303279" r="-93343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aseline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3000 </a:t>
                          </a:r>
                          <a:r>
                            <a:rPr lang="en-US" sz="1400" baseline="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N.m</a:t>
                          </a:r>
                          <a:endParaRPr lang="sv-SE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2826935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9128" y="3058509"/>
            <a:ext cx="3232345" cy="2044835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>
            <a:off x="10050134" y="2184571"/>
            <a:ext cx="145042" cy="8008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345799" y="1261241"/>
            <a:ext cx="19233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From the data that Luca has sent before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743176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70" y="896822"/>
            <a:ext cx="9848134" cy="2880373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H="1" flipV="1">
            <a:off x="1587843" y="617838"/>
            <a:ext cx="704335" cy="8896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8170" y="248506"/>
            <a:ext cx="1501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90 km/h</a:t>
            </a:r>
            <a:endParaRPr lang="sv-S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06339" y="4056179"/>
            <a:ext cx="3215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Need altitude information?</a:t>
            </a:r>
            <a:r>
              <a:rPr lang="en-US" dirty="0" smtClean="0"/>
              <a:t>   </a:t>
            </a:r>
            <a:endParaRPr lang="sv-SE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490" y="4546976"/>
            <a:ext cx="2850705" cy="2138029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 flipH="1" flipV="1">
            <a:off x="3836773" y="679622"/>
            <a:ext cx="16477" cy="6620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089189" y="266487"/>
            <a:ext cx="1711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Cruise-high way</a:t>
            </a:r>
            <a:endParaRPr lang="sv-SE" dirty="0"/>
          </a:p>
        </p:txBody>
      </p:sp>
      <p:sp>
        <p:nvSpPr>
          <p:cNvPr id="12" name="TextBox 11"/>
          <p:cNvSpPr txBox="1"/>
          <p:nvPr/>
        </p:nvSpPr>
        <p:spPr>
          <a:xfrm>
            <a:off x="7529384" y="266487"/>
            <a:ext cx="1711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Hill climbing</a:t>
            </a:r>
            <a:endParaRPr lang="sv-SE" dirty="0"/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6221627" y="679622"/>
            <a:ext cx="1760838" cy="11738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2071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69324" y="387348"/>
            <a:ext cx="996366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b="0" i="0" dirty="0" smtClean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 </a:t>
            </a:r>
            <a:r>
              <a:rPr lang="sv-SE" b="0" i="0" dirty="0" err="1" smtClean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Tractive</a:t>
            </a:r>
            <a:r>
              <a:rPr lang="sv-SE" b="0" i="0" dirty="0" smtClean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Force= Rolling </a:t>
            </a:r>
            <a:r>
              <a:rPr lang="sv-SE" b="0" i="0" dirty="0" err="1" smtClean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Resistance</a:t>
            </a:r>
            <a:r>
              <a:rPr lang="sv-SE" b="0" i="0" dirty="0" smtClean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sv-SE" b="0" i="0" dirty="0" err="1" smtClean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Aerodynamic</a:t>
            </a:r>
            <a:r>
              <a:rPr lang="sv-SE" b="0" i="0" dirty="0" smtClean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Drag + Gradient Force + Acceleration Force</a:t>
            </a:r>
            <a:endParaRPr lang="sv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154959" y="1093573"/>
                <a:ext cx="29122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𝑇𝑇𝐹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𝑅𝑅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𝐴𝐷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4959" y="1093573"/>
                <a:ext cx="2912271" cy="276999"/>
              </a:xfrm>
              <a:prstGeom prst="rect">
                <a:avLst/>
              </a:prstGeom>
              <a:blipFill>
                <a:blip r:embed="rId2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529105" y="1730632"/>
                <a:ext cx="25705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𝑅𝑅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05" y="1730632"/>
                <a:ext cx="2570575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529105" y="2229022"/>
                <a:ext cx="2432012" cy="6109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𝐴𝐷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05" y="2229022"/>
                <a:ext cx="2432012" cy="6109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9024789" y="2294219"/>
                <a:ext cx="178087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sv-SE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sv-SE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density</a:t>
                </a:r>
                <a:r>
                  <a:rPr lang="sv-SE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sv-SE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</a:t>
                </a:r>
                <a:r>
                  <a:rPr lang="sv-SE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air</a:t>
                </a:r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4789" y="2294219"/>
                <a:ext cx="1780872" cy="369332"/>
              </a:xfrm>
              <a:prstGeom prst="rect">
                <a:avLst/>
              </a:prstGeom>
              <a:blipFill>
                <a:blip r:embed="rId5"/>
                <a:stretch>
                  <a:fillRect t="-8197" r="-2389" b="-2459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529105" y="3054866"/>
                <a:ext cx="207781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05" y="3054866"/>
                <a:ext cx="2077812" cy="369332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8269059" y="2923058"/>
                <a:ext cx="362374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sv-SE" b="1" i="0" dirty="0" smtClean="0">
                    <a:solidFill>
                      <a:srgbClr val="0F0F0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sv-SE" b="1" i="0" dirty="0" err="1" smtClean="0">
                    <a:solidFill>
                      <a:srgbClr val="0F0F0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uphill</a:t>
                </a:r>
                <a:r>
                  <a:rPr lang="sv-SE" b="1" i="0" dirty="0" smtClean="0">
                    <a:solidFill>
                      <a:srgbClr val="0F0F0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or </a:t>
                </a:r>
                <a:r>
                  <a:rPr lang="sv-SE" b="1" i="0" dirty="0" err="1" smtClean="0">
                    <a:solidFill>
                      <a:srgbClr val="0F0F0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downhill</a:t>
                </a:r>
                <a:r>
                  <a:rPr lang="sv-SE" b="1" i="0" dirty="0" smtClean="0">
                    <a:solidFill>
                      <a:srgbClr val="0F0F0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sv-SE" b="1" i="0" dirty="0" err="1" smtClean="0">
                    <a:solidFill>
                      <a:srgbClr val="0F0F0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slopes</a:t>
                </a:r>
                <a:r>
                  <a:rPr lang="sv-SE" b="1" i="0" dirty="0" smtClean="0">
                    <a:solidFill>
                      <a:srgbClr val="0F0F0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sv-SE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angle</a:t>
                </a:r>
                <a:r>
                  <a:rPr lang="sv-SE" b="1" i="0" dirty="0" smtClean="0">
                    <a:solidFill>
                      <a:srgbClr val="0F0F0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sv-SE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9059" y="2923058"/>
                <a:ext cx="3623749" cy="369332"/>
              </a:xfrm>
              <a:prstGeom prst="rect">
                <a:avLst/>
              </a:prstGeom>
              <a:blipFill>
                <a:blip r:embed="rId7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529105" y="3807044"/>
                <a:ext cx="124123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</m:acc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05" y="3807044"/>
                <a:ext cx="1241237" cy="369332"/>
              </a:xfrm>
              <a:prstGeom prst="rect">
                <a:avLst/>
              </a:prstGeom>
              <a:blipFill>
                <a:blip r:embed="rId8"/>
                <a:stretch>
                  <a:fillRect r="-16749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4785708" y="5616832"/>
                <a:ext cx="1650772" cy="5666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𝐸𝑀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𝑇𝑇𝐹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den>
                      </m:f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708" y="5616832"/>
                <a:ext cx="1650772" cy="56669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32862" y="1860974"/>
            <a:ext cx="4492196" cy="2757115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5194767" y="4618089"/>
            <a:ext cx="558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*[3]</a:t>
            </a:r>
            <a:endParaRPr lang="sv-S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3627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71138" y="148108"/>
            <a:ext cx="8800172" cy="351004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56042" y="3790126"/>
            <a:ext cx="9265920" cy="2811913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 flipH="1" flipV="1">
            <a:off x="8773296" y="5313405"/>
            <a:ext cx="562235" cy="61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510250" y="4851740"/>
            <a:ext cx="14845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Regenerative brake efficiency? </a:t>
            </a:r>
            <a:endParaRPr lang="sv-SE" dirty="0"/>
          </a:p>
        </p:txBody>
      </p:sp>
      <p:sp>
        <p:nvSpPr>
          <p:cNvPr id="9" name="Rectangle 8"/>
          <p:cNvSpPr/>
          <p:nvPr/>
        </p:nvSpPr>
        <p:spPr>
          <a:xfrm>
            <a:off x="8349458" y="578698"/>
            <a:ext cx="3806119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err="1" smtClean="0">
                <a:latin typeface="Arial" panose="020B0604020202020204" pitchFamily="34" charset="0"/>
              </a:rPr>
              <a:t>Powerized</a:t>
            </a:r>
            <a:r>
              <a:rPr lang="en-US" sz="1400" b="1" dirty="0" smtClean="0">
                <a:latin typeface="Arial" panose="020B0604020202020204" pitchFamily="34" charset="0"/>
              </a:rPr>
              <a:t> KPI</a:t>
            </a:r>
          </a:p>
          <a:p>
            <a:endParaRPr lang="en-US" sz="1400" b="1" dirty="0" smtClean="0">
              <a:latin typeface="Arial" panose="020B0604020202020204" pitchFamily="34" charset="0"/>
            </a:endParaRPr>
          </a:p>
          <a:p>
            <a:r>
              <a:rPr lang="en-US" sz="1400" dirty="0" smtClean="0">
                <a:latin typeface="Arial" panose="020B0604020202020204" pitchFamily="34" charset="0"/>
              </a:rPr>
              <a:t>1.Reduce </a:t>
            </a:r>
            <a:r>
              <a:rPr lang="en-US" sz="1400" dirty="0">
                <a:latin typeface="Arial" panose="020B0604020202020204" pitchFamily="34" charset="0"/>
              </a:rPr>
              <a:t>the nominal power losses of 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>
                <a:latin typeface="Arial" panose="020B0604020202020204" pitchFamily="34" charset="0"/>
              </a:rPr>
              <a:t>the traction inverter from 1% to 0.6</a:t>
            </a:r>
            <a:r>
              <a:rPr lang="en-US" sz="1400" dirty="0" smtClean="0">
                <a:latin typeface="Arial" panose="020B0604020202020204" pitchFamily="34" charset="0"/>
              </a:rPr>
              <a:t>%.</a:t>
            </a:r>
          </a:p>
          <a:p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>
                <a:latin typeface="Arial" panose="020B0604020202020204" pitchFamily="34" charset="0"/>
              </a:rPr>
              <a:t>2. </a:t>
            </a:r>
            <a:r>
              <a:rPr lang="en-US" sz="1400" b="1" dirty="0">
                <a:latin typeface="Arial" panose="020B0604020202020204" pitchFamily="34" charset="0"/>
              </a:rPr>
              <a:t>Reduce losses over the VECTO long-</a:t>
            </a:r>
            <a:r>
              <a:rPr lang="en-US" sz="1400" b="1" dirty="0"/>
              <a:t/>
            </a:r>
            <a:br>
              <a:rPr lang="en-US" sz="1400" b="1" dirty="0"/>
            </a:br>
            <a:r>
              <a:rPr lang="en-US" sz="1400" b="1" dirty="0">
                <a:latin typeface="Arial" panose="020B0604020202020204" pitchFamily="34" charset="0"/>
              </a:rPr>
              <a:t>haul drive cycle from 1.2% to 0.7</a:t>
            </a:r>
            <a:r>
              <a:rPr lang="en-US" sz="1400" b="1" dirty="0" smtClean="0">
                <a:latin typeface="Arial" panose="020B0604020202020204" pitchFamily="34" charset="0"/>
              </a:rPr>
              <a:t>%</a:t>
            </a:r>
          </a:p>
          <a:p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>
                <a:latin typeface="Arial" panose="020B0604020202020204" pitchFamily="34" charset="0"/>
              </a:rPr>
              <a:t>3. Increase the input voltage of the 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 smtClean="0">
                <a:latin typeface="Arial" panose="020B0604020202020204" pitchFamily="34" charset="0"/>
              </a:rPr>
              <a:t>designed </a:t>
            </a:r>
            <a:r>
              <a:rPr lang="en-US" sz="1400" dirty="0">
                <a:latin typeface="Arial" panose="020B0604020202020204" pitchFamily="34" charset="0"/>
              </a:rPr>
              <a:t>converter from 800V to </a:t>
            </a:r>
            <a:r>
              <a:rPr lang="en-US" sz="1400" dirty="0" smtClean="0">
                <a:latin typeface="Arial" panose="020B0604020202020204" pitchFamily="34" charset="0"/>
              </a:rPr>
              <a:t>1250V</a:t>
            </a:r>
          </a:p>
          <a:p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>
                <a:latin typeface="Arial" panose="020B0604020202020204" pitchFamily="34" charset="0"/>
              </a:rPr>
              <a:t>4. Increase the power density of the 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>
                <a:latin typeface="Arial" panose="020B0604020202020204" pitchFamily="34" charset="0"/>
              </a:rPr>
              <a:t>traction inverter from 30 kW/l to 50 kW/l</a:t>
            </a:r>
            <a:endParaRPr lang="sv-SE" sz="1400" dirty="0"/>
          </a:p>
        </p:txBody>
      </p:sp>
    </p:spTree>
    <p:extLst>
      <p:ext uri="{BB962C8B-B14F-4D97-AF65-F5344CB8AC3E}">
        <p14:creationId xmlns:p14="http://schemas.microsoft.com/office/powerpoint/2010/main" val="471282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397" y="290512"/>
            <a:ext cx="10372725" cy="635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358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099" y="209548"/>
            <a:ext cx="4759961" cy="356997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48614"/>
            <a:ext cx="4381500" cy="32861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9520" y="3634739"/>
            <a:ext cx="4221480" cy="3166110"/>
          </a:xfrm>
          <a:prstGeom prst="rect">
            <a:avLst/>
          </a:prstGeom>
        </p:spPr>
      </p:pic>
      <p:cxnSp>
        <p:nvCxnSpPr>
          <p:cNvPr id="3" name="Straight Arrow Connector 2"/>
          <p:cNvCxnSpPr/>
          <p:nvPr/>
        </p:nvCxnSpPr>
        <p:spPr>
          <a:xfrm>
            <a:off x="5301049" y="4028303"/>
            <a:ext cx="4170405" cy="10132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619734" y="4441392"/>
            <a:ext cx="19091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High torque requires acceleration from 0-100km/h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584541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382</Words>
  <Application>Microsoft Office PowerPoint</Application>
  <PresentationFormat>Widescreen</PresentationFormat>
  <Paragraphs>47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17</cp:revision>
  <dcterms:created xsi:type="dcterms:W3CDTF">2023-11-29T15:24:44Z</dcterms:created>
  <dcterms:modified xsi:type="dcterms:W3CDTF">2023-11-30T09:38:29Z</dcterms:modified>
</cp:coreProperties>
</file>