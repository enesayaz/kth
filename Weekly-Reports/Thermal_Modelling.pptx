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18000663" cy="10801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6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5" y="1767722"/>
            <a:ext cx="13500497" cy="3760470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5" y="5673211"/>
            <a:ext cx="13500497" cy="2607825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A5D5A-9BEE-45C1-9242-15776981FD19}" type="datetimeFigureOut">
              <a:rPr lang="sv-SE" smtClean="0"/>
              <a:t>2023-10-17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9243-0F56-49C6-AB4B-6BC91F0B98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46142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A5D5A-9BEE-45C1-9242-15776981FD19}" type="datetimeFigureOut">
              <a:rPr lang="sv-SE" smtClean="0"/>
              <a:t>2023-10-17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9243-0F56-49C6-AB4B-6BC91F0B98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35852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838"/>
            <a:ext cx="15525572" cy="449306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8406"/>
            <a:ext cx="15525572" cy="2362795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A5D5A-9BEE-45C1-9242-15776981FD19}" type="datetimeFigureOut">
              <a:rPr lang="sv-SE" smtClean="0"/>
              <a:t>2023-10-17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9243-0F56-49C6-AB4B-6BC91F0B98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21224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5361"/>
            <a:ext cx="7650282" cy="68533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5361"/>
            <a:ext cx="7650282" cy="68533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A5D5A-9BEE-45C1-9242-15776981FD19}" type="datetimeFigureOut">
              <a:rPr lang="sv-SE" smtClean="0"/>
              <a:t>2023-10-17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9243-0F56-49C6-AB4B-6BC91F0B98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54659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5074"/>
            <a:ext cx="15525572" cy="2087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3" y="2647833"/>
            <a:ext cx="7615123" cy="129766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3" y="3945493"/>
            <a:ext cx="7615123" cy="580322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833"/>
            <a:ext cx="7652626" cy="129766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5493"/>
            <a:ext cx="7652626" cy="580322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A5D5A-9BEE-45C1-9242-15776981FD19}" type="datetimeFigureOut">
              <a:rPr lang="sv-SE" smtClean="0"/>
              <a:t>2023-10-17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9243-0F56-49C6-AB4B-6BC91F0B98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7929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A5D5A-9BEE-45C1-9242-15776981FD19}" type="datetimeFigureOut">
              <a:rPr lang="sv-SE" smtClean="0"/>
              <a:t>2023-10-17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9243-0F56-49C6-AB4B-6BC91F0B98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1474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A5D5A-9BEE-45C1-9242-15776981FD19}" type="datetimeFigureOut">
              <a:rPr lang="sv-SE" smtClean="0"/>
              <a:t>2023-10-17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9243-0F56-49C6-AB4B-6BC91F0B98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76609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20091"/>
            <a:ext cx="5805682" cy="252031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5196"/>
            <a:ext cx="9112836" cy="7675959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40405"/>
            <a:ext cx="5805682" cy="6003251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A5D5A-9BEE-45C1-9242-15776981FD19}" type="datetimeFigureOut">
              <a:rPr lang="sv-SE" smtClean="0"/>
              <a:t>2023-10-17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9243-0F56-49C6-AB4B-6BC91F0B98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15107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20091"/>
            <a:ext cx="5805682" cy="252031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5196"/>
            <a:ext cx="9112836" cy="7675959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40405"/>
            <a:ext cx="5805682" cy="6003251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A5D5A-9BEE-45C1-9242-15776981FD19}" type="datetimeFigureOut">
              <a:rPr lang="sv-SE" smtClean="0"/>
              <a:t>2023-10-17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9243-0F56-49C6-AB4B-6BC91F0B98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97768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A5D5A-9BEE-45C1-9242-15776981FD19}" type="datetimeFigureOut">
              <a:rPr lang="sv-SE" smtClean="0"/>
              <a:t>2023-10-17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9243-0F56-49C6-AB4B-6BC91F0B98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0683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6" y="575072"/>
            <a:ext cx="3881393" cy="915364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7" y="575072"/>
            <a:ext cx="11419171" cy="915364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A5D5A-9BEE-45C1-9242-15776981FD19}" type="datetimeFigureOut">
              <a:rPr lang="sv-SE" smtClean="0"/>
              <a:t>2023-10-17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9243-0F56-49C6-AB4B-6BC91F0B98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74636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5074"/>
            <a:ext cx="15525572" cy="2087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5361"/>
            <a:ext cx="15525572" cy="6853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8" y="10011253"/>
            <a:ext cx="4050149" cy="57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A5D5A-9BEE-45C1-9242-15776981FD19}" type="datetimeFigureOut">
              <a:rPr lang="sv-SE" smtClean="0"/>
              <a:t>2023-10-17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11253"/>
            <a:ext cx="6075224" cy="57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70" y="10011253"/>
            <a:ext cx="4050149" cy="57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B9243-0F56-49C6-AB4B-6BC91F0B98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75766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7930992" y="-2800929"/>
            <a:ext cx="3314812" cy="60217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dirty="0" err="1">
                <a:solidFill>
                  <a:schemeClr val="tx1"/>
                </a:solidFill>
              </a:rPr>
              <a:t>Topology</a:t>
            </a:r>
            <a:r>
              <a:rPr lang="sv-SE" sz="2660" dirty="0">
                <a:solidFill>
                  <a:schemeClr val="tx1"/>
                </a:solidFill>
              </a:rPr>
              <a:t> </a:t>
            </a:r>
            <a:r>
              <a:rPr lang="sv-SE" sz="2660" dirty="0" err="1">
                <a:solidFill>
                  <a:schemeClr val="tx1"/>
                </a:solidFill>
              </a:rPr>
              <a:t>Selection</a:t>
            </a:r>
            <a:r>
              <a:rPr lang="sv-SE" sz="266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12" name="Straight Arrow Connector 11"/>
          <p:cNvCxnSpPr>
            <a:stCxn id="88" idx="1"/>
            <a:endCxn id="10" idx="3"/>
          </p:cNvCxnSpPr>
          <p:nvPr/>
        </p:nvCxnSpPr>
        <p:spPr>
          <a:xfrm flipH="1" flipV="1">
            <a:off x="11245804" y="-2499842"/>
            <a:ext cx="2497108" cy="1322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2"/>
            <a:endCxn id="48" idx="0"/>
          </p:cNvCxnSpPr>
          <p:nvPr/>
        </p:nvCxnSpPr>
        <p:spPr>
          <a:xfrm>
            <a:off x="9588395" y="-2198757"/>
            <a:ext cx="0" cy="136842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930992" y="1440843"/>
            <a:ext cx="3314812" cy="45287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dirty="0">
                <a:solidFill>
                  <a:schemeClr val="tx1"/>
                </a:solidFill>
              </a:rPr>
              <a:t>Drive </a:t>
            </a:r>
            <a:r>
              <a:rPr lang="sv-SE" sz="2660" dirty="0" err="1">
                <a:solidFill>
                  <a:schemeClr val="tx1"/>
                </a:solidFill>
              </a:rPr>
              <a:t>Cycle</a:t>
            </a:r>
            <a:endParaRPr lang="sv-SE" sz="2660" dirty="0">
              <a:solidFill>
                <a:schemeClr val="tx1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607415" y="-830337"/>
            <a:ext cx="3961962" cy="1158388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dirty="0" err="1">
                <a:solidFill>
                  <a:schemeClr val="tx1"/>
                </a:solidFill>
              </a:rPr>
              <a:t>Semiconductor</a:t>
            </a:r>
            <a:r>
              <a:rPr lang="sv-SE" sz="2660" dirty="0">
                <a:solidFill>
                  <a:schemeClr val="tx1"/>
                </a:solidFill>
              </a:rPr>
              <a:t> and </a:t>
            </a:r>
            <a:r>
              <a:rPr lang="sv-SE" sz="2660" dirty="0" err="1">
                <a:solidFill>
                  <a:schemeClr val="tx1"/>
                </a:solidFill>
              </a:rPr>
              <a:t>CapacitorSelection</a:t>
            </a:r>
            <a:endParaRPr lang="sv-SE" sz="2660" dirty="0">
              <a:solidFill>
                <a:schemeClr val="tx1"/>
              </a:solidFill>
            </a:endParaRPr>
          </a:p>
          <a:p>
            <a:pPr algn="ctr"/>
            <a:endParaRPr lang="sv-SE" sz="266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stCxn id="48" idx="2"/>
            <a:endCxn id="23" idx="0"/>
          </p:cNvCxnSpPr>
          <p:nvPr/>
        </p:nvCxnSpPr>
        <p:spPr>
          <a:xfrm>
            <a:off x="9588395" y="328053"/>
            <a:ext cx="0" cy="11127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7607415" y="2577355"/>
            <a:ext cx="3961962" cy="55498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dirty="0">
                <a:solidFill>
                  <a:schemeClr val="tx1"/>
                </a:solidFill>
              </a:rPr>
              <a:t>Operating Points </a:t>
            </a:r>
          </a:p>
        </p:txBody>
      </p:sp>
      <p:cxnSp>
        <p:nvCxnSpPr>
          <p:cNvPr id="58" name="Straight Arrow Connector 57"/>
          <p:cNvCxnSpPr>
            <a:stCxn id="23" idx="2"/>
            <a:endCxn id="57" idx="0"/>
          </p:cNvCxnSpPr>
          <p:nvPr/>
        </p:nvCxnSpPr>
        <p:spPr>
          <a:xfrm>
            <a:off x="9588395" y="1893721"/>
            <a:ext cx="0" cy="68363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Picture 86"/>
          <p:cNvPicPr>
            <a:picLocks noChangeAspect="1"/>
          </p:cNvPicPr>
          <p:nvPr/>
        </p:nvPicPr>
        <p:blipFill rotWithShape="1">
          <a:blip r:embed="rId2"/>
          <a:srcRect l="3829" t="5639" r="80271" b="10136"/>
          <a:stretch/>
        </p:blipFill>
        <p:spPr>
          <a:xfrm>
            <a:off x="13742914" y="-3524746"/>
            <a:ext cx="1844606" cy="2170313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13742910" y="-3706815"/>
            <a:ext cx="2073861" cy="244039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/>
          </a:p>
        </p:txBody>
      </p:sp>
      <p:sp>
        <p:nvSpPr>
          <p:cNvPr id="95" name="Rounded Rectangle 94"/>
          <p:cNvSpPr/>
          <p:nvPr/>
        </p:nvSpPr>
        <p:spPr>
          <a:xfrm>
            <a:off x="13265106" y="817731"/>
            <a:ext cx="2997109" cy="1709848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dirty="0"/>
          </a:p>
        </p:txBody>
      </p:sp>
      <p:pic>
        <p:nvPicPr>
          <p:cNvPr id="96" name="Picture 9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5936" y="877228"/>
            <a:ext cx="2335444" cy="1590850"/>
          </a:xfrm>
          <a:prstGeom prst="rect">
            <a:avLst/>
          </a:prstGeom>
        </p:spPr>
      </p:pic>
      <p:cxnSp>
        <p:nvCxnSpPr>
          <p:cNvPr id="101" name="Straight Arrow Connector 100"/>
          <p:cNvCxnSpPr>
            <a:stCxn id="95" idx="1"/>
            <a:endCxn id="23" idx="3"/>
          </p:cNvCxnSpPr>
          <p:nvPr/>
        </p:nvCxnSpPr>
        <p:spPr>
          <a:xfrm flipH="1" flipV="1">
            <a:off x="11245801" y="1667279"/>
            <a:ext cx="2019302" cy="53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Power - Infineon Technologi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030" y="-1063510"/>
            <a:ext cx="2169743" cy="1561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" name="Rounded Rectangle 121"/>
          <p:cNvSpPr/>
          <p:nvPr/>
        </p:nvSpPr>
        <p:spPr>
          <a:xfrm>
            <a:off x="13742912" y="-1129995"/>
            <a:ext cx="2073861" cy="173688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/>
          </a:p>
        </p:txBody>
      </p:sp>
      <p:cxnSp>
        <p:nvCxnSpPr>
          <p:cNvPr id="130" name="Straight Arrow Connector 129"/>
          <p:cNvCxnSpPr>
            <a:stCxn id="122" idx="1"/>
            <a:endCxn id="48" idx="3"/>
          </p:cNvCxnSpPr>
          <p:nvPr/>
        </p:nvCxnSpPr>
        <p:spPr>
          <a:xfrm flipH="1">
            <a:off x="11569378" y="-261553"/>
            <a:ext cx="2173535" cy="104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Rectangle 1032"/>
          <p:cNvSpPr/>
          <p:nvPr/>
        </p:nvSpPr>
        <p:spPr>
          <a:xfrm>
            <a:off x="9654210" y="-1631261"/>
            <a:ext cx="1667508" cy="5016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sz="2660" dirty="0"/>
              <a:t>V/I Ratings</a:t>
            </a:r>
            <a:endParaRPr lang="sv-SE" sz="2660" dirty="0"/>
          </a:p>
        </p:txBody>
      </p:sp>
      <p:cxnSp>
        <p:nvCxnSpPr>
          <p:cNvPr id="161" name="Straight Arrow Connector 160"/>
          <p:cNvCxnSpPr>
            <a:stCxn id="57" idx="2"/>
            <a:endCxn id="274" idx="0"/>
          </p:cNvCxnSpPr>
          <p:nvPr/>
        </p:nvCxnSpPr>
        <p:spPr>
          <a:xfrm flipH="1">
            <a:off x="6123130" y="3132337"/>
            <a:ext cx="3465270" cy="8747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ounded Rectangle 165"/>
          <p:cNvSpPr/>
          <p:nvPr/>
        </p:nvSpPr>
        <p:spPr>
          <a:xfrm>
            <a:off x="10971560" y="4037039"/>
            <a:ext cx="4006311" cy="86716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dirty="0" err="1">
                <a:solidFill>
                  <a:schemeClr val="tx1"/>
                </a:solidFill>
              </a:rPr>
              <a:t>Semiconductor</a:t>
            </a:r>
            <a:r>
              <a:rPr lang="sv-SE" sz="2660" dirty="0">
                <a:solidFill>
                  <a:schemeClr val="tx1"/>
                </a:solidFill>
              </a:rPr>
              <a:t> Loss </a:t>
            </a:r>
            <a:r>
              <a:rPr lang="sv-SE" sz="2660" dirty="0" err="1">
                <a:solidFill>
                  <a:schemeClr val="tx1"/>
                </a:solidFill>
              </a:rPr>
              <a:t>Calculation</a:t>
            </a:r>
            <a:endParaRPr lang="sv-SE" sz="2660" dirty="0">
              <a:solidFill>
                <a:schemeClr val="tx1"/>
              </a:solidFill>
            </a:endParaRPr>
          </a:p>
        </p:txBody>
      </p:sp>
      <p:sp>
        <p:nvSpPr>
          <p:cNvPr id="175" name="Rounded Rectangle 174"/>
          <p:cNvSpPr/>
          <p:nvPr/>
        </p:nvSpPr>
        <p:spPr>
          <a:xfrm>
            <a:off x="10971560" y="6342598"/>
            <a:ext cx="4006311" cy="86716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dirty="0" err="1">
                <a:solidFill>
                  <a:schemeClr val="tx1"/>
                </a:solidFill>
              </a:rPr>
              <a:t>Thermal</a:t>
            </a:r>
            <a:r>
              <a:rPr lang="sv-SE" sz="2660" dirty="0">
                <a:solidFill>
                  <a:schemeClr val="tx1"/>
                </a:solidFill>
              </a:rPr>
              <a:t> </a:t>
            </a:r>
            <a:r>
              <a:rPr lang="sv-SE" sz="2660" dirty="0" err="1">
                <a:solidFill>
                  <a:schemeClr val="tx1"/>
                </a:solidFill>
              </a:rPr>
              <a:t>Model</a:t>
            </a:r>
            <a:endParaRPr lang="sv-SE" sz="2660" dirty="0">
              <a:solidFill>
                <a:schemeClr val="tx1"/>
              </a:solidFill>
            </a:endParaRPr>
          </a:p>
        </p:txBody>
      </p:sp>
      <p:cxnSp>
        <p:nvCxnSpPr>
          <p:cNvPr id="176" name="Straight Arrow Connector 175"/>
          <p:cNvCxnSpPr>
            <a:stCxn id="166" idx="2"/>
            <a:endCxn id="175" idx="0"/>
          </p:cNvCxnSpPr>
          <p:nvPr/>
        </p:nvCxnSpPr>
        <p:spPr>
          <a:xfrm>
            <a:off x="12974712" y="4904205"/>
            <a:ext cx="0" cy="14383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/>
          <p:cNvCxnSpPr>
            <a:endCxn id="166" idx="1"/>
          </p:cNvCxnSpPr>
          <p:nvPr/>
        </p:nvCxnSpPr>
        <p:spPr>
          <a:xfrm>
            <a:off x="10083426" y="4470621"/>
            <a:ext cx="88813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9146847" y="3282704"/>
            <a:ext cx="978153" cy="5016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660" dirty="0"/>
              <a:t>V/I (t)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3043798" y="4874276"/>
            <a:ext cx="487634" cy="5016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660" dirty="0"/>
              <a:t>W</a:t>
            </a:r>
          </a:p>
        </p:txBody>
      </p:sp>
      <p:cxnSp>
        <p:nvCxnSpPr>
          <p:cNvPr id="188" name="Straight Arrow Connector 187"/>
          <p:cNvCxnSpPr/>
          <p:nvPr/>
        </p:nvCxnSpPr>
        <p:spPr>
          <a:xfrm flipH="1">
            <a:off x="10001477" y="4470624"/>
            <a:ext cx="81952" cy="426313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/>
          <p:cNvCxnSpPr>
            <a:stCxn id="175" idx="2"/>
            <a:endCxn id="194" idx="0"/>
          </p:cNvCxnSpPr>
          <p:nvPr/>
        </p:nvCxnSpPr>
        <p:spPr>
          <a:xfrm>
            <a:off x="12974716" y="7209767"/>
            <a:ext cx="91" cy="9249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5" name="Picture 154"/>
          <p:cNvPicPr>
            <a:picLocks noChangeAspect="1"/>
          </p:cNvPicPr>
          <p:nvPr/>
        </p:nvPicPr>
        <p:blipFill rotWithShape="1">
          <a:blip r:embed="rId5"/>
          <a:srcRect t="4044"/>
          <a:stretch/>
        </p:blipFill>
        <p:spPr>
          <a:xfrm>
            <a:off x="16168678" y="3675433"/>
            <a:ext cx="4244114" cy="1622372"/>
          </a:xfrm>
          <a:prstGeom prst="rect">
            <a:avLst/>
          </a:prstGeom>
        </p:spPr>
      </p:pic>
      <p:sp>
        <p:nvSpPr>
          <p:cNvPr id="206" name="Rounded Rectangle 205"/>
          <p:cNvSpPr/>
          <p:nvPr/>
        </p:nvSpPr>
        <p:spPr>
          <a:xfrm>
            <a:off x="15714615" y="3521540"/>
            <a:ext cx="4846989" cy="190366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dirty="0"/>
          </a:p>
        </p:txBody>
      </p:sp>
      <p:cxnSp>
        <p:nvCxnSpPr>
          <p:cNvPr id="207" name="Straight Arrow Connector 206"/>
          <p:cNvCxnSpPr>
            <a:stCxn id="206" idx="1"/>
            <a:endCxn id="166" idx="3"/>
          </p:cNvCxnSpPr>
          <p:nvPr/>
        </p:nvCxnSpPr>
        <p:spPr>
          <a:xfrm flipH="1" flipV="1">
            <a:off x="14977870" y="4470624"/>
            <a:ext cx="736741" cy="27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Diamond 193"/>
          <p:cNvSpPr/>
          <p:nvPr/>
        </p:nvSpPr>
        <p:spPr>
          <a:xfrm>
            <a:off x="11152554" y="8134694"/>
            <a:ext cx="3644505" cy="1242521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/>
          </a:p>
        </p:txBody>
      </p:sp>
      <p:sp>
        <p:nvSpPr>
          <p:cNvPr id="237" name="Rectangle 236"/>
          <p:cNvSpPr/>
          <p:nvPr/>
        </p:nvSpPr>
        <p:spPr>
          <a:xfrm>
            <a:off x="13233550" y="7465395"/>
            <a:ext cx="648767" cy="50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660" dirty="0" err="1"/>
              <a:t>Tj</a:t>
            </a:r>
            <a:r>
              <a:rPr lang="sv-SE" sz="2660" dirty="0"/>
              <a:t> 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1636908" y="8415221"/>
            <a:ext cx="2813782" cy="50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660" dirty="0"/>
              <a:t>|</a:t>
            </a:r>
            <a:r>
              <a:rPr lang="sv-SE" sz="2660" dirty="0" err="1"/>
              <a:t>Tj</a:t>
            </a:r>
            <a:r>
              <a:rPr lang="sv-SE" sz="2660" dirty="0"/>
              <a:t> (k)-</a:t>
            </a:r>
            <a:r>
              <a:rPr lang="sv-SE" sz="2660" dirty="0" err="1"/>
              <a:t>Tj</a:t>
            </a:r>
            <a:r>
              <a:rPr lang="sv-SE" sz="2660" dirty="0"/>
              <a:t>(k-1)|&lt; </a:t>
            </a:r>
            <a:r>
              <a:rPr lang="el-GR" sz="2660" dirty="0"/>
              <a:t>ϵ</a:t>
            </a:r>
            <a:r>
              <a:rPr lang="sv-SE" sz="2660" dirty="0"/>
              <a:t> </a:t>
            </a:r>
          </a:p>
        </p:txBody>
      </p:sp>
      <p:cxnSp>
        <p:nvCxnSpPr>
          <p:cNvPr id="247" name="Straight Arrow Connector 246"/>
          <p:cNvCxnSpPr>
            <a:stCxn id="194" idx="1"/>
          </p:cNvCxnSpPr>
          <p:nvPr/>
        </p:nvCxnSpPr>
        <p:spPr>
          <a:xfrm flipH="1" flipV="1">
            <a:off x="10001475" y="8752080"/>
            <a:ext cx="1151083" cy="3875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Rectangle 250"/>
          <p:cNvSpPr/>
          <p:nvPr/>
        </p:nvSpPr>
        <p:spPr>
          <a:xfrm>
            <a:off x="10448113" y="8170737"/>
            <a:ext cx="1046897" cy="50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660" dirty="0"/>
              <a:t>No</a:t>
            </a:r>
          </a:p>
        </p:txBody>
      </p:sp>
      <p:cxnSp>
        <p:nvCxnSpPr>
          <p:cNvPr id="252" name="Straight Arrow Connector 251"/>
          <p:cNvCxnSpPr/>
          <p:nvPr/>
        </p:nvCxnSpPr>
        <p:spPr>
          <a:xfrm>
            <a:off x="12964273" y="9400303"/>
            <a:ext cx="93" cy="7010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Rectangle 252"/>
          <p:cNvSpPr/>
          <p:nvPr/>
        </p:nvSpPr>
        <p:spPr>
          <a:xfrm>
            <a:off x="13014090" y="9377213"/>
            <a:ext cx="1046897" cy="50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660" dirty="0" err="1"/>
              <a:t>Yes</a:t>
            </a:r>
            <a:endParaRPr lang="sv-SE" sz="2660" dirty="0"/>
          </a:p>
        </p:txBody>
      </p:sp>
      <p:sp>
        <p:nvSpPr>
          <p:cNvPr id="254" name="Rectangle 253"/>
          <p:cNvSpPr/>
          <p:nvPr/>
        </p:nvSpPr>
        <p:spPr>
          <a:xfrm>
            <a:off x="12679227" y="10024909"/>
            <a:ext cx="1535919" cy="50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660" dirty="0" err="1"/>
              <a:t>Tj</a:t>
            </a:r>
            <a:r>
              <a:rPr lang="sv-SE" sz="2660" dirty="0"/>
              <a:t> (t) 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0242451" y="3941320"/>
            <a:ext cx="570089" cy="50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660" dirty="0" err="1"/>
              <a:t>Tj</a:t>
            </a:r>
            <a:r>
              <a:rPr lang="sv-SE" sz="2660" dirty="0"/>
              <a:t> </a:t>
            </a:r>
          </a:p>
        </p:txBody>
      </p:sp>
      <p:pic>
        <p:nvPicPr>
          <p:cNvPr id="262" name="Picture 261"/>
          <p:cNvPicPr>
            <a:picLocks noChangeAspect="1"/>
          </p:cNvPicPr>
          <p:nvPr/>
        </p:nvPicPr>
        <p:blipFill rotWithShape="1">
          <a:blip r:embed="rId6"/>
          <a:srcRect b="17226"/>
          <a:stretch/>
        </p:blipFill>
        <p:spPr>
          <a:xfrm>
            <a:off x="16422481" y="6047598"/>
            <a:ext cx="3203877" cy="1477225"/>
          </a:xfrm>
          <a:prstGeom prst="rect">
            <a:avLst/>
          </a:prstGeom>
        </p:spPr>
      </p:pic>
      <p:sp>
        <p:nvSpPr>
          <p:cNvPr id="263" name="Rounded Rectangle 262"/>
          <p:cNvSpPr/>
          <p:nvPr/>
        </p:nvSpPr>
        <p:spPr>
          <a:xfrm>
            <a:off x="16126684" y="5834380"/>
            <a:ext cx="3928153" cy="190366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dirty="0"/>
          </a:p>
        </p:txBody>
      </p:sp>
      <p:cxnSp>
        <p:nvCxnSpPr>
          <p:cNvPr id="264" name="Straight Arrow Connector 263"/>
          <p:cNvCxnSpPr>
            <a:stCxn id="263" idx="1"/>
            <a:endCxn id="175" idx="3"/>
          </p:cNvCxnSpPr>
          <p:nvPr/>
        </p:nvCxnSpPr>
        <p:spPr>
          <a:xfrm flipH="1" flipV="1">
            <a:off x="14977868" y="6776180"/>
            <a:ext cx="1148812" cy="100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Rounded Rectangle 273"/>
          <p:cNvSpPr/>
          <p:nvPr/>
        </p:nvSpPr>
        <p:spPr>
          <a:xfrm>
            <a:off x="4119973" y="4007110"/>
            <a:ext cx="4006311" cy="86716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dirty="0" err="1">
                <a:solidFill>
                  <a:schemeClr val="tx1"/>
                </a:solidFill>
              </a:rPr>
              <a:t>Capacitor</a:t>
            </a:r>
            <a:r>
              <a:rPr lang="sv-SE" sz="2660" dirty="0">
                <a:solidFill>
                  <a:schemeClr val="tx1"/>
                </a:solidFill>
              </a:rPr>
              <a:t> Loss </a:t>
            </a:r>
            <a:r>
              <a:rPr lang="sv-SE" sz="2660" dirty="0" err="1">
                <a:solidFill>
                  <a:schemeClr val="tx1"/>
                </a:solidFill>
              </a:rPr>
              <a:t>Calulation</a:t>
            </a:r>
            <a:endParaRPr lang="sv-SE" sz="2660" dirty="0">
              <a:solidFill>
                <a:schemeClr val="tx1"/>
              </a:solidFill>
            </a:endParaRPr>
          </a:p>
        </p:txBody>
      </p:sp>
      <p:sp>
        <p:nvSpPr>
          <p:cNvPr id="276" name="Rounded Rectangle 275"/>
          <p:cNvSpPr/>
          <p:nvPr/>
        </p:nvSpPr>
        <p:spPr>
          <a:xfrm>
            <a:off x="4230854" y="6312668"/>
            <a:ext cx="4006311" cy="86716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sy="23000" kx="-12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sv-SE" sz="2660" dirty="0" err="1">
                <a:solidFill>
                  <a:schemeClr val="tx1"/>
                </a:solidFill>
              </a:rPr>
              <a:t>Thermal</a:t>
            </a:r>
            <a:r>
              <a:rPr lang="sv-SE" sz="2660" dirty="0">
                <a:solidFill>
                  <a:schemeClr val="tx1"/>
                </a:solidFill>
              </a:rPr>
              <a:t> </a:t>
            </a:r>
            <a:r>
              <a:rPr lang="sv-SE" sz="2660" dirty="0" err="1">
                <a:solidFill>
                  <a:schemeClr val="tx1"/>
                </a:solidFill>
              </a:rPr>
              <a:t>Model</a:t>
            </a:r>
            <a:endParaRPr lang="sv-SE" sz="2660" dirty="0">
              <a:solidFill>
                <a:schemeClr val="tx1"/>
              </a:solidFill>
            </a:endParaRPr>
          </a:p>
        </p:txBody>
      </p:sp>
      <p:cxnSp>
        <p:nvCxnSpPr>
          <p:cNvPr id="277" name="Straight Arrow Connector 276"/>
          <p:cNvCxnSpPr>
            <a:endCxn id="276" idx="0"/>
          </p:cNvCxnSpPr>
          <p:nvPr/>
        </p:nvCxnSpPr>
        <p:spPr>
          <a:xfrm>
            <a:off x="6234005" y="4874277"/>
            <a:ext cx="0" cy="14383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/>
          <p:cNvCxnSpPr>
            <a:stCxn id="294" idx="2"/>
            <a:endCxn id="274" idx="3"/>
          </p:cNvCxnSpPr>
          <p:nvPr/>
        </p:nvCxnSpPr>
        <p:spPr>
          <a:xfrm flipH="1">
            <a:off x="8126284" y="4372948"/>
            <a:ext cx="1007317" cy="6774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Rectangle 278"/>
          <p:cNvSpPr/>
          <p:nvPr/>
        </p:nvSpPr>
        <p:spPr>
          <a:xfrm>
            <a:off x="6303092" y="4844344"/>
            <a:ext cx="487634" cy="5016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660" dirty="0"/>
              <a:t>W</a:t>
            </a:r>
          </a:p>
        </p:txBody>
      </p:sp>
      <p:cxnSp>
        <p:nvCxnSpPr>
          <p:cNvPr id="280" name="Straight Arrow Connector 279"/>
          <p:cNvCxnSpPr>
            <a:stCxn id="294" idx="2"/>
          </p:cNvCxnSpPr>
          <p:nvPr/>
        </p:nvCxnSpPr>
        <p:spPr>
          <a:xfrm flipH="1">
            <a:off x="9073473" y="4372950"/>
            <a:ext cx="60126" cy="4379129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Arrow Connector 280"/>
          <p:cNvCxnSpPr>
            <a:stCxn id="276" idx="2"/>
            <a:endCxn id="283" idx="0"/>
          </p:cNvCxnSpPr>
          <p:nvPr/>
        </p:nvCxnSpPr>
        <p:spPr>
          <a:xfrm>
            <a:off x="6234009" y="7179837"/>
            <a:ext cx="91" cy="9249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Diamond 282"/>
          <p:cNvSpPr/>
          <p:nvPr/>
        </p:nvSpPr>
        <p:spPr>
          <a:xfrm>
            <a:off x="4411847" y="8104762"/>
            <a:ext cx="3644505" cy="1242521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/>
          </a:p>
        </p:txBody>
      </p:sp>
      <p:sp>
        <p:nvSpPr>
          <p:cNvPr id="284" name="Rectangle 283"/>
          <p:cNvSpPr/>
          <p:nvPr/>
        </p:nvSpPr>
        <p:spPr>
          <a:xfrm>
            <a:off x="6492841" y="7435467"/>
            <a:ext cx="648767" cy="50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660" dirty="0" err="1"/>
              <a:t>Tc</a:t>
            </a:r>
            <a:r>
              <a:rPr lang="sv-SE" sz="2660" dirty="0"/>
              <a:t> 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4896201" y="8385289"/>
            <a:ext cx="2813782" cy="50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660" dirty="0"/>
              <a:t>|</a:t>
            </a:r>
            <a:r>
              <a:rPr lang="sv-SE" sz="2660" dirty="0" err="1"/>
              <a:t>Tc</a:t>
            </a:r>
            <a:r>
              <a:rPr lang="sv-SE" sz="2660" dirty="0"/>
              <a:t> (k)-</a:t>
            </a:r>
            <a:r>
              <a:rPr lang="sv-SE" sz="2660" dirty="0" err="1"/>
              <a:t>Tc</a:t>
            </a:r>
            <a:r>
              <a:rPr lang="sv-SE" sz="2660" dirty="0"/>
              <a:t>(k-1)|&lt; </a:t>
            </a:r>
            <a:r>
              <a:rPr lang="el-GR" sz="2660" dirty="0"/>
              <a:t>ϵ</a:t>
            </a:r>
            <a:r>
              <a:rPr lang="sv-SE" sz="2660" dirty="0"/>
              <a:t> </a:t>
            </a:r>
          </a:p>
        </p:txBody>
      </p:sp>
      <p:cxnSp>
        <p:nvCxnSpPr>
          <p:cNvPr id="286" name="Straight Arrow Connector 285"/>
          <p:cNvCxnSpPr/>
          <p:nvPr/>
        </p:nvCxnSpPr>
        <p:spPr>
          <a:xfrm flipH="1">
            <a:off x="8071616" y="8752082"/>
            <a:ext cx="1001852" cy="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Rectangle 286"/>
          <p:cNvSpPr/>
          <p:nvPr/>
        </p:nvSpPr>
        <p:spPr>
          <a:xfrm>
            <a:off x="3707403" y="8140805"/>
            <a:ext cx="1046897" cy="50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660" dirty="0"/>
              <a:t>No</a:t>
            </a:r>
          </a:p>
        </p:txBody>
      </p:sp>
      <p:cxnSp>
        <p:nvCxnSpPr>
          <p:cNvPr id="288" name="Straight Arrow Connector 287"/>
          <p:cNvCxnSpPr/>
          <p:nvPr/>
        </p:nvCxnSpPr>
        <p:spPr>
          <a:xfrm>
            <a:off x="6223563" y="9370372"/>
            <a:ext cx="93" cy="7010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Rectangle 288"/>
          <p:cNvSpPr/>
          <p:nvPr/>
        </p:nvSpPr>
        <p:spPr>
          <a:xfrm>
            <a:off x="6404650" y="9366734"/>
            <a:ext cx="1046897" cy="50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660" dirty="0" err="1"/>
              <a:t>Yes</a:t>
            </a:r>
            <a:endParaRPr lang="sv-SE" sz="2660" dirty="0"/>
          </a:p>
        </p:txBody>
      </p:sp>
      <p:sp>
        <p:nvSpPr>
          <p:cNvPr id="290" name="Rectangle 289"/>
          <p:cNvSpPr/>
          <p:nvPr/>
        </p:nvSpPr>
        <p:spPr>
          <a:xfrm>
            <a:off x="5817172" y="9892576"/>
            <a:ext cx="1535919" cy="50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660" dirty="0" err="1"/>
              <a:t>Tc</a:t>
            </a:r>
            <a:r>
              <a:rPr lang="sv-SE" sz="2660" dirty="0"/>
              <a:t> (t) 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8365641" y="3871272"/>
            <a:ext cx="1535919" cy="50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660" dirty="0" err="1"/>
              <a:t>Tc</a:t>
            </a:r>
            <a:r>
              <a:rPr lang="sv-SE" sz="2660" dirty="0"/>
              <a:t> </a:t>
            </a:r>
          </a:p>
        </p:txBody>
      </p:sp>
      <p:pic>
        <p:nvPicPr>
          <p:cNvPr id="233" name="Picture 2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238647" y="3683306"/>
            <a:ext cx="4535071" cy="1514771"/>
          </a:xfrm>
          <a:prstGeom prst="rect">
            <a:avLst/>
          </a:prstGeom>
        </p:spPr>
      </p:pic>
      <p:sp>
        <p:nvSpPr>
          <p:cNvPr id="297" name="Rounded Rectangle 296"/>
          <p:cNvSpPr/>
          <p:nvPr/>
        </p:nvSpPr>
        <p:spPr>
          <a:xfrm>
            <a:off x="-1342881" y="3488862"/>
            <a:ext cx="4846989" cy="190366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dirty="0"/>
          </a:p>
        </p:txBody>
      </p:sp>
      <p:cxnSp>
        <p:nvCxnSpPr>
          <p:cNvPr id="298" name="Straight Arrow Connector 297"/>
          <p:cNvCxnSpPr>
            <a:stCxn id="297" idx="3"/>
            <a:endCxn id="274" idx="1"/>
          </p:cNvCxnSpPr>
          <p:nvPr/>
        </p:nvCxnSpPr>
        <p:spPr>
          <a:xfrm flipV="1">
            <a:off x="3504106" y="4440697"/>
            <a:ext cx="615864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Arrow Connector 307"/>
          <p:cNvCxnSpPr>
            <a:stCxn id="312" idx="3"/>
            <a:endCxn id="48" idx="1"/>
          </p:cNvCxnSpPr>
          <p:nvPr/>
        </p:nvCxnSpPr>
        <p:spPr>
          <a:xfrm flipV="1">
            <a:off x="5562845" y="-251141"/>
            <a:ext cx="2044571" cy="2490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Rounded Rectangle 311"/>
          <p:cNvSpPr/>
          <p:nvPr/>
        </p:nvSpPr>
        <p:spPr>
          <a:xfrm>
            <a:off x="3488985" y="-950465"/>
            <a:ext cx="2073861" cy="144845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/>
          </a:p>
        </p:txBody>
      </p:sp>
      <p:pic>
        <p:nvPicPr>
          <p:cNvPr id="250" name="Picture 8" descr="DC-LINK Capacitors / Intermediate Circuit Capacitors - WIMA – Competence in  Capacitor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570" y="-830335"/>
            <a:ext cx="1759570" cy="116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Picture 25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9599" y="5987443"/>
            <a:ext cx="2278209" cy="1392238"/>
          </a:xfrm>
          <a:prstGeom prst="rect">
            <a:avLst/>
          </a:prstGeom>
        </p:spPr>
      </p:pic>
      <p:sp>
        <p:nvSpPr>
          <p:cNvPr id="319" name="Rounded Rectangle 318"/>
          <p:cNvSpPr/>
          <p:nvPr/>
        </p:nvSpPr>
        <p:spPr>
          <a:xfrm>
            <a:off x="-310570" y="5768562"/>
            <a:ext cx="2958264" cy="190366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5" tIns="67504" rIns="135005" bIns="675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 sz="2660" dirty="0"/>
          </a:p>
        </p:txBody>
      </p:sp>
      <p:cxnSp>
        <p:nvCxnSpPr>
          <p:cNvPr id="320" name="Straight Arrow Connector 319"/>
          <p:cNvCxnSpPr>
            <a:stCxn id="319" idx="3"/>
            <a:endCxn id="276" idx="1"/>
          </p:cNvCxnSpPr>
          <p:nvPr/>
        </p:nvCxnSpPr>
        <p:spPr>
          <a:xfrm>
            <a:off x="2647696" y="6720394"/>
            <a:ext cx="1583159" cy="258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Arrow Connector 334"/>
          <p:cNvCxnSpPr>
            <a:stCxn id="57" idx="2"/>
            <a:endCxn id="166" idx="0"/>
          </p:cNvCxnSpPr>
          <p:nvPr/>
        </p:nvCxnSpPr>
        <p:spPr>
          <a:xfrm>
            <a:off x="9588397" y="3132340"/>
            <a:ext cx="3386318" cy="9046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  <a:effectLst>
            <a:innerShdw blurRad="63500" dist="50800" dir="13500000">
              <a:prstClr val="black">
                <a:alpha val="50000"/>
              </a:prstClr>
            </a:innerShdw>
            <a:reflection endPos="2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24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</TotalTime>
  <Words>59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8</cp:revision>
  <dcterms:created xsi:type="dcterms:W3CDTF">2023-10-17T18:26:50Z</dcterms:created>
  <dcterms:modified xsi:type="dcterms:W3CDTF">2023-10-17T19:33:52Z</dcterms:modified>
</cp:coreProperties>
</file>