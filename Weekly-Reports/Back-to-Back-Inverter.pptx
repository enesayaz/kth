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9"/>
  </p:notesMasterIdLst>
  <p:sldIdLst>
    <p:sldId id="256" r:id="rId2"/>
    <p:sldId id="286" r:id="rId3"/>
    <p:sldId id="281" r:id="rId4"/>
    <p:sldId id="282" r:id="rId5"/>
    <p:sldId id="283" r:id="rId6"/>
    <p:sldId id="284" r:id="rId7"/>
    <p:sldId id="285" r:id="rId8"/>
  </p:sldIdLst>
  <p:sldSz cx="12192000" cy="6858000"/>
  <p:notesSz cx="6858000" cy="9144000"/>
  <p:embeddedFontLst>
    <p:embeddedFont>
      <p:font typeface="Figtree" panose="020B0604020202020204" charset="0"/>
      <p:regular r:id="rId10"/>
      <p:bold r:id="rId11"/>
      <p:italic r:id="rId12"/>
      <p:boldItalic r:id="rId13"/>
    </p:embeddedFont>
    <p:embeddedFont>
      <p:font typeface="Calibri" panose="020F0502020204030204" pitchFamily="34" charset="0"/>
      <p:regular r:id="rId14"/>
      <p:bold r:id="rId15"/>
      <p:italic r:id="rId16"/>
      <p:boldItalic r:id="rId17"/>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942" autoAdjust="0"/>
    <p:restoredTop sz="96327"/>
  </p:normalViewPr>
  <p:slideViewPr>
    <p:cSldViewPr snapToGrid="0">
      <p:cViewPr varScale="1">
        <p:scale>
          <a:sx n="160" d="100"/>
          <a:sy n="160" d="100"/>
        </p:scale>
        <p:origin x="498"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2025-02-05</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2025-02-05</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2025-02-05</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xmlns=""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2025-02-05</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2025-02-05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2025-02-05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2025-02-05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2025-02-05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2025-02-05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2025-02-05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2025-02-05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2025-02-05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2025-02-05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2025-02-05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2025-02-05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2025-02-05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2025-02-05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2025-02-05</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2025-02-05</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2025-02-05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2025-02-05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2025-02-05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2025-02-05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2025-02-05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2025-02-05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2025-02-05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2025-02-05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2025-02-05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2025-02-05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2025-02-05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2025-02-05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2025-02-05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2025-02-05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2025-02-05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2025-02-05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2025-02-05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2025-02-05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2025-02-05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2025-02-05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2025-02-05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2025-02-05</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2025-02-05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2025-02-05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2025-02-05</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2025-02-05</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2025-02-05</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2025-02-05</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2025-02-05</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2025-02-05</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xmlns=""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timing>
    <p:tnLst>
      <p:par>
        <p:cTn id="1" dur="indefinite" restart="never" nodeType="tmRoot"/>
      </p:par>
    </p:tnLst>
  </p:timing>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a:xfrm>
            <a:off x="1695853" y="3269129"/>
            <a:ext cx="8798701" cy="1956921"/>
          </a:xfrm>
        </p:spPr>
        <p:txBody>
          <a:bodyPr/>
          <a:lstStyle/>
          <a:p>
            <a:r>
              <a:rPr lang="en-US" dirty="0" smtClean="0"/>
              <a:t>Back-to-back Inverter</a:t>
            </a:r>
            <a:endParaRPr lang="sv-SE" dirty="0"/>
          </a:p>
        </p:txBody>
      </p:sp>
      <p:sp>
        <p:nvSpPr>
          <p:cNvPr id="5" name="Underrubrik 4">
            <a:extLst>
              <a:ext uri="{FF2B5EF4-FFF2-40B4-BE49-F238E27FC236}">
                <a16:creationId xmlns:a16="http://schemas.microsoft.com/office/drawing/2014/main" id="{92A29924-00C9-C549-25FA-02CDD1D96ADA}"/>
              </a:ext>
            </a:extLst>
          </p:cNvPr>
          <p:cNvSpPr>
            <a:spLocks noGrp="1"/>
          </p:cNvSpPr>
          <p:nvPr>
            <p:ph type="subTitle" idx="1"/>
          </p:nvPr>
        </p:nvSpPr>
        <p:spPr/>
        <p:txBody>
          <a:bodyPr/>
          <a:lstStyle/>
          <a:p>
            <a:endParaRPr lang="sv-SE" dirty="0"/>
          </a:p>
        </p:txBody>
      </p:sp>
    </p:spTree>
    <p:extLst>
      <p:ext uri="{BB962C8B-B14F-4D97-AF65-F5344CB8AC3E}">
        <p14:creationId xmlns:p14="http://schemas.microsoft.com/office/powerpoint/2010/main" val="2081227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en-US" dirty="0" smtClean="0">
                <a:latin typeface="Times New Roman" panose="02020603050405020304" pitchFamily="18" charset="0"/>
                <a:cs typeface="Times New Roman" panose="02020603050405020304" pitchFamily="18" charset="0"/>
              </a:rPr>
              <a:t>Basic Diagram </a:t>
            </a:r>
            <a:endParaRPr lang="sv-SE" dirty="0">
              <a:latin typeface="Times New Roman" panose="02020603050405020304" pitchFamily="18" charset="0"/>
              <a:cs typeface="Times New Roman" panose="02020603050405020304" pitchFamily="18" charset="0"/>
            </a:endParaRPr>
          </a:p>
        </p:txBody>
      </p:sp>
      <p:sp>
        <p:nvSpPr>
          <p:cNvPr id="2" name="Rectangle 1"/>
          <p:cNvSpPr/>
          <p:nvPr/>
        </p:nvSpPr>
        <p:spPr>
          <a:xfrm>
            <a:off x="594896" y="1373699"/>
            <a:ext cx="6093335" cy="923330"/>
          </a:xfrm>
          <a:prstGeom prst="rect">
            <a:avLst/>
          </a:prstGeom>
        </p:spPr>
        <p:txBody>
          <a:bodyPr wrap="none">
            <a:spAutoFit/>
          </a:bodyPr>
          <a:lstStyle/>
          <a:p>
            <a:r>
              <a:rPr lang="sv-SE" dirty="0" err="1"/>
              <a:t>C</a:t>
            </a:r>
            <a:r>
              <a:rPr lang="sv-SE" dirty="0" err="1" smtClean="0"/>
              <a:t>irculating</a:t>
            </a:r>
            <a:r>
              <a:rPr lang="sv-SE" dirty="0" smtClean="0"/>
              <a:t> </a:t>
            </a:r>
            <a:r>
              <a:rPr lang="sv-SE" dirty="0" err="1" smtClean="0"/>
              <a:t>power</a:t>
            </a:r>
            <a:r>
              <a:rPr lang="sv-SE" dirty="0" smtClean="0"/>
              <a:t>, so </a:t>
            </a:r>
            <a:r>
              <a:rPr lang="sv-SE" dirty="0" err="1" smtClean="0"/>
              <a:t>we</a:t>
            </a:r>
            <a:r>
              <a:rPr lang="sv-SE" dirty="0" smtClean="0"/>
              <a:t> do not </a:t>
            </a:r>
            <a:r>
              <a:rPr lang="sv-SE" dirty="0" err="1" smtClean="0"/>
              <a:t>need</a:t>
            </a:r>
            <a:r>
              <a:rPr lang="sv-SE" dirty="0" smtClean="0"/>
              <a:t> </a:t>
            </a:r>
            <a:r>
              <a:rPr lang="sv-SE" dirty="0" err="1" smtClean="0"/>
              <a:t>high-power</a:t>
            </a:r>
            <a:r>
              <a:rPr lang="sv-SE" dirty="0" smtClean="0"/>
              <a:t> </a:t>
            </a:r>
            <a:r>
              <a:rPr lang="sv-SE" dirty="0" err="1" smtClean="0"/>
              <a:t>supply</a:t>
            </a:r>
            <a:r>
              <a:rPr lang="sv-SE" dirty="0" smtClean="0"/>
              <a:t>.</a:t>
            </a:r>
          </a:p>
          <a:p>
            <a:endParaRPr lang="sv-SE" dirty="0"/>
          </a:p>
          <a:p>
            <a:r>
              <a:rPr lang="sv-SE" dirty="0" err="1" smtClean="0"/>
              <a:t>Direct</a:t>
            </a:r>
            <a:r>
              <a:rPr lang="sv-SE" dirty="0" smtClean="0"/>
              <a:t> Loss </a:t>
            </a:r>
            <a:r>
              <a:rPr lang="sv-SE" dirty="0" err="1" smtClean="0"/>
              <a:t>measurement</a:t>
            </a:r>
            <a:r>
              <a:rPr lang="sv-SE" dirty="0" smtClean="0"/>
              <a:t> : </a:t>
            </a:r>
            <a:r>
              <a:rPr lang="sv-SE" dirty="0" err="1" smtClean="0"/>
              <a:t>High</a:t>
            </a:r>
            <a:r>
              <a:rPr lang="sv-SE" dirty="0" smtClean="0"/>
              <a:t> </a:t>
            </a:r>
            <a:r>
              <a:rPr lang="sv-SE" dirty="0" err="1" smtClean="0"/>
              <a:t>efficiency</a:t>
            </a:r>
            <a:r>
              <a:rPr lang="sv-SE" dirty="0" smtClean="0"/>
              <a:t> </a:t>
            </a:r>
            <a:endParaRPr lang="sv-SE" dirty="0"/>
          </a:p>
        </p:txBody>
      </p:sp>
    </p:spTree>
    <p:extLst>
      <p:ext uri="{BB962C8B-B14F-4D97-AF65-F5344CB8AC3E}">
        <p14:creationId xmlns:p14="http://schemas.microsoft.com/office/powerpoint/2010/main" val="265398433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en-US" dirty="0" smtClean="0">
                <a:latin typeface="Times New Roman" panose="02020603050405020304" pitchFamily="18" charset="0"/>
                <a:cs typeface="Times New Roman" panose="02020603050405020304" pitchFamily="18" charset="0"/>
              </a:rPr>
              <a:t>The Aim</a:t>
            </a:r>
            <a:endParaRPr lang="sv-SE" dirty="0">
              <a:latin typeface="Times New Roman" panose="02020603050405020304" pitchFamily="18" charset="0"/>
              <a:cs typeface="Times New Roman" panose="02020603050405020304" pitchFamily="18" charset="0"/>
            </a:endParaRPr>
          </a:p>
        </p:txBody>
      </p:sp>
      <p:sp>
        <p:nvSpPr>
          <p:cNvPr id="2" name="Rectangle 1"/>
          <p:cNvSpPr/>
          <p:nvPr/>
        </p:nvSpPr>
        <p:spPr>
          <a:xfrm>
            <a:off x="594896" y="1373699"/>
            <a:ext cx="6093335" cy="923330"/>
          </a:xfrm>
          <a:prstGeom prst="rect">
            <a:avLst/>
          </a:prstGeom>
        </p:spPr>
        <p:txBody>
          <a:bodyPr wrap="none">
            <a:spAutoFit/>
          </a:bodyPr>
          <a:lstStyle/>
          <a:p>
            <a:r>
              <a:rPr lang="sv-SE" dirty="0" err="1"/>
              <a:t>C</a:t>
            </a:r>
            <a:r>
              <a:rPr lang="sv-SE" dirty="0" err="1" smtClean="0"/>
              <a:t>irculating</a:t>
            </a:r>
            <a:r>
              <a:rPr lang="sv-SE" dirty="0" smtClean="0"/>
              <a:t> </a:t>
            </a:r>
            <a:r>
              <a:rPr lang="sv-SE" dirty="0" err="1" smtClean="0"/>
              <a:t>power</a:t>
            </a:r>
            <a:r>
              <a:rPr lang="sv-SE" dirty="0" smtClean="0"/>
              <a:t>, so </a:t>
            </a:r>
            <a:r>
              <a:rPr lang="sv-SE" dirty="0" err="1" smtClean="0"/>
              <a:t>we</a:t>
            </a:r>
            <a:r>
              <a:rPr lang="sv-SE" dirty="0" smtClean="0"/>
              <a:t> do not </a:t>
            </a:r>
            <a:r>
              <a:rPr lang="sv-SE" dirty="0" err="1" smtClean="0"/>
              <a:t>need</a:t>
            </a:r>
            <a:r>
              <a:rPr lang="sv-SE" dirty="0" smtClean="0"/>
              <a:t> </a:t>
            </a:r>
            <a:r>
              <a:rPr lang="sv-SE" dirty="0" err="1" smtClean="0"/>
              <a:t>high-power</a:t>
            </a:r>
            <a:r>
              <a:rPr lang="sv-SE" dirty="0" smtClean="0"/>
              <a:t> </a:t>
            </a:r>
            <a:r>
              <a:rPr lang="sv-SE" dirty="0" err="1" smtClean="0"/>
              <a:t>supply</a:t>
            </a:r>
            <a:r>
              <a:rPr lang="sv-SE" dirty="0" smtClean="0"/>
              <a:t>.</a:t>
            </a:r>
          </a:p>
          <a:p>
            <a:endParaRPr lang="sv-SE" dirty="0"/>
          </a:p>
          <a:p>
            <a:r>
              <a:rPr lang="sv-SE" dirty="0" err="1" smtClean="0"/>
              <a:t>Direct</a:t>
            </a:r>
            <a:r>
              <a:rPr lang="sv-SE" dirty="0" smtClean="0"/>
              <a:t> Loss </a:t>
            </a:r>
            <a:r>
              <a:rPr lang="sv-SE" dirty="0" err="1" smtClean="0"/>
              <a:t>measurement</a:t>
            </a:r>
            <a:r>
              <a:rPr lang="sv-SE" dirty="0" smtClean="0"/>
              <a:t> : </a:t>
            </a:r>
            <a:r>
              <a:rPr lang="sv-SE" dirty="0" err="1" smtClean="0"/>
              <a:t>High</a:t>
            </a:r>
            <a:r>
              <a:rPr lang="sv-SE" dirty="0" smtClean="0"/>
              <a:t> </a:t>
            </a:r>
            <a:r>
              <a:rPr lang="sv-SE" dirty="0" err="1" smtClean="0"/>
              <a:t>efficiency</a:t>
            </a:r>
            <a:r>
              <a:rPr lang="sv-SE" dirty="0" smtClean="0"/>
              <a:t> </a:t>
            </a:r>
            <a:endParaRPr lang="sv-SE" dirty="0"/>
          </a:p>
        </p:txBody>
      </p:sp>
    </p:spTree>
    <p:extLst>
      <p:ext uri="{BB962C8B-B14F-4D97-AF65-F5344CB8AC3E}">
        <p14:creationId xmlns:p14="http://schemas.microsoft.com/office/powerpoint/2010/main" val="190505261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6358" y="264903"/>
            <a:ext cx="10990263" cy="568412"/>
          </a:xfrm>
        </p:spPr>
        <p:txBody>
          <a:bodyPr/>
          <a:lstStyle/>
          <a:p>
            <a:r>
              <a:rPr lang="en-US" dirty="0" smtClean="0"/>
              <a:t>Inductor Requirements </a:t>
            </a:r>
            <a:r>
              <a:rPr lang="en-US" dirty="0"/>
              <a:t/>
            </a:r>
            <a:br>
              <a:rPr lang="en-US" dirty="0"/>
            </a:br>
            <a:endParaRPr lang="sv-SE" dirty="0"/>
          </a:p>
        </p:txBody>
      </p:sp>
      <p:sp>
        <p:nvSpPr>
          <p:cNvPr id="3" name="Content Placeholder 2"/>
          <p:cNvSpPr>
            <a:spLocks noGrp="1"/>
          </p:cNvSpPr>
          <p:nvPr>
            <p:ph idx="1"/>
          </p:nvPr>
        </p:nvSpPr>
        <p:spPr>
          <a:xfrm>
            <a:off x="600075" y="1141506"/>
            <a:ext cx="10990263" cy="5184646"/>
          </a:xfrm>
        </p:spPr>
        <p:txBody>
          <a:bodyPr/>
          <a:lstStyle/>
          <a:p>
            <a:endParaRPr lang="sv-SE" dirty="0"/>
          </a:p>
        </p:txBody>
      </p:sp>
    </p:spTree>
    <p:extLst>
      <p:ext uri="{BB962C8B-B14F-4D97-AF65-F5344CB8AC3E}">
        <p14:creationId xmlns:p14="http://schemas.microsoft.com/office/powerpoint/2010/main" val="1325074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6358" y="264903"/>
            <a:ext cx="10990263" cy="568412"/>
          </a:xfrm>
        </p:spPr>
        <p:txBody>
          <a:bodyPr/>
          <a:lstStyle/>
          <a:p>
            <a:r>
              <a:rPr lang="en-US" dirty="0" smtClean="0"/>
              <a:t>Power factor and Power Calculations</a:t>
            </a:r>
            <a:endParaRPr lang="sv-SE" dirty="0"/>
          </a:p>
        </p:txBody>
      </p:sp>
      <p:sp>
        <p:nvSpPr>
          <p:cNvPr id="3" name="Content Placeholder 2"/>
          <p:cNvSpPr>
            <a:spLocks noGrp="1"/>
          </p:cNvSpPr>
          <p:nvPr>
            <p:ph idx="1"/>
          </p:nvPr>
        </p:nvSpPr>
        <p:spPr>
          <a:xfrm>
            <a:off x="600075" y="1141506"/>
            <a:ext cx="10990263" cy="5184646"/>
          </a:xfrm>
        </p:spPr>
        <p:txBody>
          <a:bodyPr/>
          <a:lstStyle/>
          <a:p>
            <a:endParaRPr lang="sv-SE" dirty="0"/>
          </a:p>
        </p:txBody>
      </p:sp>
    </p:spTree>
    <p:extLst>
      <p:ext uri="{BB962C8B-B14F-4D97-AF65-F5344CB8AC3E}">
        <p14:creationId xmlns:p14="http://schemas.microsoft.com/office/powerpoint/2010/main" val="3568356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6358" y="264903"/>
            <a:ext cx="10990263" cy="568412"/>
          </a:xfrm>
        </p:spPr>
        <p:txBody>
          <a:bodyPr/>
          <a:lstStyle/>
          <a:p>
            <a:r>
              <a:rPr lang="en-US" dirty="0" smtClean="0"/>
              <a:t>Inverter Loss Estimation for Driving Cycle </a:t>
            </a:r>
            <a:endParaRPr lang="sv-SE" dirty="0"/>
          </a:p>
        </p:txBody>
      </p:sp>
      <p:sp>
        <p:nvSpPr>
          <p:cNvPr id="3" name="Content Placeholder 2"/>
          <p:cNvSpPr>
            <a:spLocks noGrp="1"/>
          </p:cNvSpPr>
          <p:nvPr>
            <p:ph idx="1"/>
          </p:nvPr>
        </p:nvSpPr>
        <p:spPr>
          <a:xfrm>
            <a:off x="600075" y="1141506"/>
            <a:ext cx="10990263" cy="5184646"/>
          </a:xfrm>
        </p:spPr>
        <p:txBody>
          <a:bodyPr/>
          <a:lstStyle/>
          <a:p>
            <a:endParaRPr lang="sv-SE" dirty="0"/>
          </a:p>
        </p:txBody>
      </p:sp>
    </p:spTree>
    <p:extLst>
      <p:ext uri="{BB962C8B-B14F-4D97-AF65-F5344CB8AC3E}">
        <p14:creationId xmlns:p14="http://schemas.microsoft.com/office/powerpoint/2010/main" val="3164078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6358" y="264903"/>
            <a:ext cx="10990263" cy="568412"/>
          </a:xfrm>
        </p:spPr>
        <p:txBody>
          <a:bodyPr/>
          <a:lstStyle/>
          <a:p>
            <a:r>
              <a:rPr lang="en-US" dirty="0" smtClean="0"/>
              <a:t>Inverter Loss Estimation for Driving Cycle </a:t>
            </a:r>
            <a:endParaRPr lang="sv-SE" dirty="0"/>
          </a:p>
        </p:txBody>
      </p:sp>
      <p:sp>
        <p:nvSpPr>
          <p:cNvPr id="3" name="Content Placeholder 2"/>
          <p:cNvSpPr>
            <a:spLocks noGrp="1"/>
          </p:cNvSpPr>
          <p:nvPr>
            <p:ph idx="1"/>
          </p:nvPr>
        </p:nvSpPr>
        <p:spPr>
          <a:xfrm>
            <a:off x="600075" y="1141506"/>
            <a:ext cx="10990263" cy="5184646"/>
          </a:xfrm>
        </p:spPr>
        <p:txBody>
          <a:bodyPr/>
          <a:lstStyle/>
          <a:p>
            <a:endParaRPr lang="sv-SE" dirty="0"/>
          </a:p>
        </p:txBody>
      </p:sp>
    </p:spTree>
    <p:extLst>
      <p:ext uri="{BB962C8B-B14F-4D97-AF65-F5344CB8AC3E}">
        <p14:creationId xmlns:p14="http://schemas.microsoft.com/office/powerpoint/2010/main" val="3953183423"/>
      </p:ext>
    </p:extLst>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_presentation_template_Figtree" id="{E6011EE6-5294-D344-AE93-F618069F8922}" vid="{45727F30-E711-A740-91D8-A34DFFD32AAE}"/>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KTH_presentation_template_Figtree (2)</Template>
  <TotalTime>8592</TotalTime>
  <Words>60</Words>
  <Application>Microsoft Office PowerPoint</Application>
  <PresentationFormat>Widescreen</PresentationFormat>
  <Paragraphs>13</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Figtree</vt:lpstr>
      <vt:lpstr>Calibri</vt:lpstr>
      <vt:lpstr>Arial</vt:lpstr>
      <vt:lpstr>Times New Roman</vt:lpstr>
      <vt:lpstr>Office-tema</vt:lpstr>
      <vt:lpstr>Back-to-back Inverter</vt:lpstr>
      <vt:lpstr>Basic Diagram </vt:lpstr>
      <vt:lpstr>The Aim</vt:lpstr>
      <vt:lpstr>Inductor Requirements  </vt:lpstr>
      <vt:lpstr>Power factor and Power Calculations</vt:lpstr>
      <vt:lpstr>Inverter Loss Estimation for Driving Cycle </vt:lpstr>
      <vt:lpstr>Inverter Loss Estimation for Driving Cycle </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Tove Guldbrand</dc:creator>
  <cp:lastModifiedBy>Enes Ayaz</cp:lastModifiedBy>
  <cp:revision>169</cp:revision>
  <dcterms:created xsi:type="dcterms:W3CDTF">2024-01-10T13:17:29Z</dcterms:created>
  <dcterms:modified xsi:type="dcterms:W3CDTF">2025-02-05T10:23:52Z</dcterms:modified>
</cp:coreProperties>
</file>