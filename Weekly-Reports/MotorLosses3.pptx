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CDBD-B8AA-44FB-85FF-442843C07CD2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1362-FFB3-49DB-B3E2-969D986ED1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0330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CDBD-B8AA-44FB-85FF-442843C07CD2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1362-FFB3-49DB-B3E2-969D986ED1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1465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CDBD-B8AA-44FB-85FF-442843C07CD2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1362-FFB3-49DB-B3E2-969D986ED1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8513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CDBD-B8AA-44FB-85FF-442843C07CD2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1362-FFB3-49DB-B3E2-969D986ED1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6344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CDBD-B8AA-44FB-85FF-442843C07CD2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1362-FFB3-49DB-B3E2-969D986ED1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86919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CDBD-B8AA-44FB-85FF-442843C07CD2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1362-FFB3-49DB-B3E2-969D986ED1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78257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CDBD-B8AA-44FB-85FF-442843C07CD2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1362-FFB3-49DB-B3E2-969D986ED1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55320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CDBD-B8AA-44FB-85FF-442843C07CD2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1362-FFB3-49DB-B3E2-969D986ED1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61480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CDBD-B8AA-44FB-85FF-442843C07CD2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1362-FFB3-49DB-B3E2-969D986ED1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6510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CDBD-B8AA-44FB-85FF-442843C07CD2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1362-FFB3-49DB-B3E2-969D986ED1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66722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CDBD-B8AA-44FB-85FF-442843C07CD2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1362-FFB3-49DB-B3E2-969D986ED1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6555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ECDBD-B8AA-44FB-85FF-442843C07CD2}" type="datetimeFigureOut">
              <a:rPr lang="sv-SE" smtClean="0"/>
              <a:t>2024-04-18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11362-FFB3-49DB-B3E2-969D986ED1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6624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45" y="959194"/>
            <a:ext cx="53340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19880" y="664001"/>
            <a:ext cx="394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Impedance Model of the Motor</a:t>
            </a:r>
            <a:endParaRPr lang="sv-SE" dirty="0"/>
          </a:p>
        </p:txBody>
      </p:sp>
      <p:cxnSp>
        <p:nvCxnSpPr>
          <p:cNvPr id="8" name="Straight Arrow Connector 7"/>
          <p:cNvCxnSpPr>
            <a:stCxn id="5" idx="3"/>
          </p:cNvCxnSpPr>
          <p:nvPr/>
        </p:nvCxnSpPr>
        <p:spPr>
          <a:xfrm>
            <a:off x="5844745" y="2959444"/>
            <a:ext cx="11059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454" y="1221003"/>
            <a:ext cx="4635843" cy="347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017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1" y="789364"/>
            <a:ext cx="4149811" cy="31123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9347" y="604698"/>
            <a:ext cx="1581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Fsw</a:t>
            </a:r>
            <a:r>
              <a:rPr lang="en-US" dirty="0" smtClean="0"/>
              <a:t>= 10kHz</a:t>
            </a:r>
            <a:endParaRPr lang="sv-S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021" y="419124"/>
            <a:ext cx="4826699" cy="3620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35357" y="149846"/>
            <a:ext cx="1581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m= 1</a:t>
            </a:r>
            <a:endParaRPr lang="sv-SE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73678"/>
              </p:ext>
            </p:extLst>
          </p:nvPr>
        </p:nvGraphicFramePr>
        <p:xfrm>
          <a:off x="1526193" y="4308426"/>
          <a:ext cx="928872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745">
                  <a:extLst>
                    <a:ext uri="{9D8B030D-6E8A-4147-A177-3AD203B41FA5}">
                      <a16:colId xmlns:a16="http://schemas.microsoft.com/office/drawing/2014/main" val="85816453"/>
                    </a:ext>
                  </a:extLst>
                </a:gridCol>
                <a:gridCol w="1857745">
                  <a:extLst>
                    <a:ext uri="{9D8B030D-6E8A-4147-A177-3AD203B41FA5}">
                      <a16:colId xmlns:a16="http://schemas.microsoft.com/office/drawing/2014/main" val="3171411958"/>
                    </a:ext>
                  </a:extLst>
                </a:gridCol>
                <a:gridCol w="1857745">
                  <a:extLst>
                    <a:ext uri="{9D8B030D-6E8A-4147-A177-3AD203B41FA5}">
                      <a16:colId xmlns:a16="http://schemas.microsoft.com/office/drawing/2014/main" val="1492171574"/>
                    </a:ext>
                  </a:extLst>
                </a:gridCol>
                <a:gridCol w="1857745">
                  <a:extLst>
                    <a:ext uri="{9D8B030D-6E8A-4147-A177-3AD203B41FA5}">
                      <a16:colId xmlns:a16="http://schemas.microsoft.com/office/drawing/2014/main" val="1559625799"/>
                    </a:ext>
                  </a:extLst>
                </a:gridCol>
                <a:gridCol w="1857745">
                  <a:extLst>
                    <a:ext uri="{9D8B030D-6E8A-4147-A177-3AD203B41FA5}">
                      <a16:colId xmlns:a16="http://schemas.microsoft.com/office/drawing/2014/main" val="1490281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Fsw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(kHz)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10 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535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Loss (W)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960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468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333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270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24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v-SE" b="0" dirty="0" err="1" smtClean="0">
                          <a:solidFill>
                            <a:schemeClr val="tx1"/>
                          </a:solidFill>
                        </a:rPr>
                        <a:t>Decrease</a:t>
                      </a:r>
                      <a:r>
                        <a:rPr lang="sv-SE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sv-SE" b="0" dirty="0" err="1" smtClean="0">
                          <a:solidFill>
                            <a:schemeClr val="tx1"/>
                          </a:solidFill>
                        </a:rPr>
                        <a:t>factor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2.06 (2)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043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1.40 (1.5)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135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1.23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(1.33)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65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191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46" y="172271"/>
            <a:ext cx="5334000" cy="400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950" y="77685"/>
            <a:ext cx="5334000" cy="40005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9861048" y="2172521"/>
            <a:ext cx="26313" cy="2577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97951" y="4710147"/>
            <a:ext cx="1901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Anti-resonance</a:t>
            </a:r>
            <a:endParaRPr lang="sv-SE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t="3666"/>
          <a:stretch/>
        </p:blipFill>
        <p:spPr>
          <a:xfrm>
            <a:off x="0" y="4802244"/>
            <a:ext cx="5026400" cy="195817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17554" y="562127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 err="1" smtClean="0"/>
              <a:t>Impact</a:t>
            </a:r>
            <a:r>
              <a:rPr lang="sv-SE" dirty="0" smtClean="0"/>
              <a:t> </a:t>
            </a:r>
            <a:r>
              <a:rPr lang="sv-SE" dirty="0" err="1" smtClean="0"/>
              <a:t>of</a:t>
            </a:r>
            <a:r>
              <a:rPr lang="sv-SE" dirty="0" smtClean="0"/>
              <a:t> </a:t>
            </a:r>
            <a:r>
              <a:rPr lang="sv-SE" dirty="0" err="1" smtClean="0"/>
              <a:t>High</a:t>
            </a:r>
            <a:r>
              <a:rPr lang="sv-SE" dirty="0" smtClean="0"/>
              <a:t> </a:t>
            </a:r>
            <a:r>
              <a:rPr lang="sv-SE" dirty="0" err="1" smtClean="0"/>
              <a:t>Switching</a:t>
            </a:r>
            <a:r>
              <a:rPr lang="sv-SE" dirty="0" smtClean="0"/>
              <a:t> Speed and </a:t>
            </a:r>
            <a:r>
              <a:rPr lang="sv-SE" dirty="0" err="1" smtClean="0"/>
              <a:t>High</a:t>
            </a:r>
            <a:r>
              <a:rPr lang="sv-SE" dirty="0" smtClean="0"/>
              <a:t> </a:t>
            </a:r>
            <a:r>
              <a:rPr lang="sv-SE" dirty="0" err="1" smtClean="0"/>
              <a:t>Switching</a:t>
            </a:r>
            <a:r>
              <a:rPr lang="sv-SE" dirty="0" smtClean="0"/>
              <a:t> </a:t>
            </a:r>
            <a:r>
              <a:rPr lang="sv-SE" dirty="0" err="1" smtClean="0"/>
              <a:t>Frequency</a:t>
            </a:r>
            <a:r>
              <a:rPr lang="sv-SE" dirty="0" smtClean="0"/>
              <a:t> </a:t>
            </a:r>
            <a:r>
              <a:rPr lang="sv-SE" dirty="0" err="1" smtClean="0"/>
              <a:t>of</a:t>
            </a:r>
            <a:r>
              <a:rPr lang="sv-SE" dirty="0" smtClean="0"/>
              <a:t> Wide-Bandgap Motor Drives on Electric Machines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14459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00342" y="268722"/>
            <a:ext cx="3444633" cy="616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dirty="0" smtClean="0"/>
              <a:t>CAS380M17HM3-3ph</a:t>
            </a:r>
            <a:endParaRPr lang="sv-S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507" y="190330"/>
            <a:ext cx="1661628" cy="664651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156967"/>
              </p:ext>
            </p:extLst>
          </p:nvPr>
        </p:nvGraphicFramePr>
        <p:xfrm>
          <a:off x="749942" y="4551827"/>
          <a:ext cx="1035442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885">
                  <a:extLst>
                    <a:ext uri="{9D8B030D-6E8A-4147-A177-3AD203B41FA5}">
                      <a16:colId xmlns:a16="http://schemas.microsoft.com/office/drawing/2014/main" val="85816453"/>
                    </a:ext>
                  </a:extLst>
                </a:gridCol>
                <a:gridCol w="2070885">
                  <a:extLst>
                    <a:ext uri="{9D8B030D-6E8A-4147-A177-3AD203B41FA5}">
                      <a16:colId xmlns:a16="http://schemas.microsoft.com/office/drawing/2014/main" val="3171411958"/>
                    </a:ext>
                  </a:extLst>
                </a:gridCol>
                <a:gridCol w="2070885">
                  <a:extLst>
                    <a:ext uri="{9D8B030D-6E8A-4147-A177-3AD203B41FA5}">
                      <a16:colId xmlns:a16="http://schemas.microsoft.com/office/drawing/2014/main" val="1492171574"/>
                    </a:ext>
                  </a:extLst>
                </a:gridCol>
                <a:gridCol w="2070885">
                  <a:extLst>
                    <a:ext uri="{9D8B030D-6E8A-4147-A177-3AD203B41FA5}">
                      <a16:colId xmlns:a16="http://schemas.microsoft.com/office/drawing/2014/main" val="1559625799"/>
                    </a:ext>
                  </a:extLst>
                </a:gridCol>
                <a:gridCol w="2070885">
                  <a:extLst>
                    <a:ext uri="{9D8B030D-6E8A-4147-A177-3AD203B41FA5}">
                      <a16:colId xmlns:a16="http://schemas.microsoft.com/office/drawing/2014/main" val="1490281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Fsw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(kHz)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535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Harmonic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Loss (W)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960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618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468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385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24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Inverter Loss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(W)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967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1131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1301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1471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251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Total Loss (W)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1927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1749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1769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1856</a:t>
                      </a:r>
                      <a:endParaRPr lang="sv-S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510424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154" y="1051193"/>
            <a:ext cx="4405894" cy="330442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22" y="885325"/>
            <a:ext cx="4442573" cy="3331930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>
            <a:off x="4122658" y="6183712"/>
            <a:ext cx="719057" cy="243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6869507" y="6229761"/>
            <a:ext cx="721987" cy="19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8953226" y="6183712"/>
            <a:ext cx="736783" cy="243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038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275" y="1382701"/>
            <a:ext cx="5334000" cy="400050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604273" y="597642"/>
            <a:ext cx="3444633" cy="616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dirty="0" smtClean="0"/>
              <a:t>CAS380M17HM3-3ph</a:t>
            </a:r>
            <a:endParaRPr lang="sv-S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438" y="519250"/>
            <a:ext cx="1661628" cy="66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501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95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11</cp:revision>
  <dcterms:created xsi:type="dcterms:W3CDTF">2024-04-18T06:32:18Z</dcterms:created>
  <dcterms:modified xsi:type="dcterms:W3CDTF">2024-04-18T07:56:40Z</dcterms:modified>
</cp:coreProperties>
</file>