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
  </p:notesMasterIdLst>
  <p:sldIdLst>
    <p:sldId id="289" r:id="rId2"/>
    <p:sldId id="291" r:id="rId3"/>
    <p:sldId id="290" r:id="rId4"/>
  </p:sldIdLst>
  <p:sldSz cx="12192000" cy="6858000"/>
  <p:notesSz cx="6858000" cy="9144000"/>
  <p:embeddedFontLst>
    <p:embeddedFont>
      <p:font typeface="Figtree" panose="020B0604020202020204" charset="0"/>
      <p:regular r:id="rId6"/>
      <p:bold r:id="rId7"/>
      <p:italic r:id="rId8"/>
      <p:boldItalic r:id="rId9"/>
    </p:embeddedFont>
    <p:embeddedFont>
      <p:font typeface="Calibri" panose="020F0502020204030204" pitchFamily="34" charset="0"/>
      <p:regular r:id="rId10"/>
      <p:bold r:id="rId11"/>
      <p:italic r:id="rId12"/>
      <p:boldItalic r:id="rId13"/>
    </p:embeddedFont>
    <p:embeddedFont>
      <p:font typeface="Cambria Math" panose="02040503050406030204" pitchFamily="18" charset="0"/>
      <p:regular r:id="rId1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p:scale>
          <a:sx n="100" d="100"/>
          <a:sy n="100" d="100"/>
        </p:scale>
        <p:origin x="2232" y="14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presProps" Target="presProp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2024-10-15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2024-10-15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2024-10-15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2024-10-15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2024-10-15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2024-10-15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2024-10-15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2024-10-15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2024-10-15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2024-10-15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2024-10-15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2024-10-15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2024-10-15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2024-10-15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2024-10-15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2024-10-15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2024-10-15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2024-10-15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2024-10-15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2024-10-15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2024-10-15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2024-10-15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2024-10-15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2024-10-15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2024-10-15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2024-10-15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2024-10-15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2024-10-15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2024-10-15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2024-10-15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2024-10-15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2024-10-15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12.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slides/_rels/slide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12.xml"/><Relationship Id="rId5" Type="http://schemas.openxmlformats.org/officeDocument/2006/relationships/image" Target="../media/image25.emf"/><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Estimation</a:t>
            </a:r>
            <a:endParaRPr lang="sv-SE" dirty="0"/>
          </a:p>
        </p:txBody>
      </p:sp>
      <p:pic>
        <p:nvPicPr>
          <p:cNvPr id="9" name="Picture 8"/>
          <p:cNvPicPr>
            <a:picLocks noChangeAspect="1"/>
          </p:cNvPicPr>
          <p:nvPr/>
        </p:nvPicPr>
        <p:blipFill>
          <a:blip r:embed="rId2"/>
          <a:stretch>
            <a:fillRect/>
          </a:stretch>
        </p:blipFill>
        <p:spPr>
          <a:xfrm>
            <a:off x="957620" y="4126915"/>
            <a:ext cx="3398207" cy="2366910"/>
          </a:xfrm>
          <a:prstGeom prst="rect">
            <a:avLst/>
          </a:prstGeom>
        </p:spPr>
      </p:pic>
      <p:pic>
        <p:nvPicPr>
          <p:cNvPr id="12" name="Picture 11"/>
          <p:cNvPicPr>
            <a:picLocks noChangeAspect="1"/>
          </p:cNvPicPr>
          <p:nvPr/>
        </p:nvPicPr>
        <p:blipFill>
          <a:blip r:embed="rId3"/>
          <a:stretch>
            <a:fillRect/>
          </a:stretch>
        </p:blipFill>
        <p:spPr>
          <a:xfrm>
            <a:off x="923781" y="1425529"/>
            <a:ext cx="3432046" cy="2248768"/>
          </a:xfrm>
          <a:prstGeom prst="rect">
            <a:avLst/>
          </a:prstGeom>
        </p:spPr>
      </p:pic>
      <p:sp>
        <p:nvSpPr>
          <p:cNvPr id="5" name="TextBox 4"/>
          <p:cNvSpPr txBox="1"/>
          <p:nvPr/>
        </p:nvSpPr>
        <p:spPr>
          <a:xfrm>
            <a:off x="977003" y="885820"/>
            <a:ext cx="3033583" cy="646331"/>
          </a:xfrm>
          <a:prstGeom prst="rect">
            <a:avLst/>
          </a:prstGeom>
          <a:noFill/>
        </p:spPr>
        <p:txBody>
          <a:bodyPr wrap="square" rtlCol="0">
            <a:spAutoFit/>
          </a:bodyPr>
          <a:lstStyle/>
          <a:p>
            <a:pPr algn="ctr"/>
            <a:r>
              <a:rPr lang="en-US" dirty="0" smtClean="0"/>
              <a:t>Switching energies </a:t>
            </a:r>
          </a:p>
          <a:p>
            <a:pPr algn="ctr"/>
            <a:r>
              <a:rPr lang="en-US" dirty="0" smtClean="0"/>
              <a:t>(unknown dv/</a:t>
            </a:r>
            <a:r>
              <a:rPr lang="en-US" dirty="0" err="1" smtClean="0"/>
              <a:t>dt</a:t>
            </a:r>
            <a:r>
              <a:rPr lang="en-US" dirty="0" smtClean="0"/>
              <a:t>)</a:t>
            </a:r>
            <a:endParaRPr lang="sv-SE" dirty="0"/>
          </a:p>
        </p:txBody>
      </p:sp>
      <p:sp>
        <p:nvSpPr>
          <p:cNvPr id="17" name="TextBox 16"/>
          <p:cNvSpPr txBox="1"/>
          <p:nvPr/>
        </p:nvSpPr>
        <p:spPr>
          <a:xfrm>
            <a:off x="1054407" y="3827135"/>
            <a:ext cx="3033583" cy="369332"/>
          </a:xfrm>
          <a:prstGeom prst="rect">
            <a:avLst/>
          </a:prstGeom>
          <a:noFill/>
        </p:spPr>
        <p:txBody>
          <a:bodyPr wrap="square" rtlCol="0">
            <a:spAutoFit/>
          </a:bodyPr>
          <a:lstStyle/>
          <a:p>
            <a:pPr algn="ctr"/>
            <a:r>
              <a:rPr lang="en-US" dirty="0" smtClean="0"/>
              <a:t>On-state resistance</a:t>
            </a:r>
            <a:endParaRPr lang="sv-SE" dirty="0"/>
          </a:p>
        </p:txBody>
      </p:sp>
      <p:pic>
        <p:nvPicPr>
          <p:cNvPr id="18" name="Picture 17"/>
          <p:cNvPicPr>
            <a:picLocks noChangeAspect="1"/>
          </p:cNvPicPr>
          <p:nvPr/>
        </p:nvPicPr>
        <p:blipFill>
          <a:blip r:embed="rId4"/>
          <a:stretch>
            <a:fillRect/>
          </a:stretch>
        </p:blipFill>
        <p:spPr>
          <a:xfrm>
            <a:off x="6804418" y="4155508"/>
            <a:ext cx="3462935" cy="2338317"/>
          </a:xfrm>
          <a:prstGeom prst="rect">
            <a:avLst/>
          </a:prstGeom>
        </p:spPr>
      </p:pic>
      <p:pic>
        <p:nvPicPr>
          <p:cNvPr id="19" name="Picture 18"/>
          <p:cNvPicPr>
            <a:picLocks noChangeAspect="1"/>
          </p:cNvPicPr>
          <p:nvPr/>
        </p:nvPicPr>
        <p:blipFill>
          <a:blip r:embed="rId5"/>
          <a:stretch>
            <a:fillRect/>
          </a:stretch>
        </p:blipFill>
        <p:spPr>
          <a:xfrm>
            <a:off x="8214052" y="1495960"/>
            <a:ext cx="3133725" cy="2161189"/>
          </a:xfrm>
          <a:prstGeom prst="rect">
            <a:avLst/>
          </a:prstGeom>
        </p:spPr>
      </p:pic>
      <p:pic>
        <p:nvPicPr>
          <p:cNvPr id="22" name="Picture 21"/>
          <p:cNvPicPr>
            <a:picLocks noChangeAspect="1"/>
          </p:cNvPicPr>
          <p:nvPr/>
        </p:nvPicPr>
        <p:blipFill>
          <a:blip r:embed="rId6"/>
          <a:stretch>
            <a:fillRect/>
          </a:stretch>
        </p:blipFill>
        <p:spPr>
          <a:xfrm>
            <a:off x="5115841" y="1450221"/>
            <a:ext cx="3003559" cy="2252669"/>
          </a:xfrm>
          <a:prstGeom prst="rect">
            <a:avLst/>
          </a:prstGeom>
        </p:spPr>
      </p:pic>
      <p:sp>
        <p:nvSpPr>
          <p:cNvPr id="36" name="TextBox 35"/>
          <p:cNvSpPr txBox="1"/>
          <p:nvPr/>
        </p:nvSpPr>
        <p:spPr>
          <a:xfrm>
            <a:off x="5096996" y="924988"/>
            <a:ext cx="6139461" cy="646331"/>
          </a:xfrm>
          <a:prstGeom prst="rect">
            <a:avLst/>
          </a:prstGeom>
          <a:noFill/>
        </p:spPr>
        <p:txBody>
          <a:bodyPr wrap="square" rtlCol="0">
            <a:spAutoFit/>
          </a:bodyPr>
          <a:lstStyle/>
          <a:p>
            <a:pPr algn="ctr"/>
            <a:r>
              <a:rPr lang="en-US" dirty="0" smtClean="0"/>
              <a:t>Switching Losses for sinusoidal current with 5kHz switching </a:t>
            </a:r>
          </a:p>
        </p:txBody>
      </p:sp>
      <p:sp>
        <p:nvSpPr>
          <p:cNvPr id="37" name="TextBox 36"/>
          <p:cNvSpPr txBox="1"/>
          <p:nvPr/>
        </p:nvSpPr>
        <p:spPr>
          <a:xfrm>
            <a:off x="5208316" y="3818027"/>
            <a:ext cx="6139461" cy="369332"/>
          </a:xfrm>
          <a:prstGeom prst="rect">
            <a:avLst/>
          </a:prstGeom>
          <a:noFill/>
        </p:spPr>
        <p:txBody>
          <a:bodyPr wrap="square" rtlCol="0">
            <a:spAutoFit/>
          </a:bodyPr>
          <a:lstStyle/>
          <a:p>
            <a:pPr algn="ctr"/>
            <a:r>
              <a:rPr lang="en-US" dirty="0" smtClean="0"/>
              <a:t>Conduction Loss</a:t>
            </a:r>
          </a:p>
        </p:txBody>
      </p:sp>
    </p:spTree>
    <p:extLst>
      <p:ext uri="{BB962C8B-B14F-4D97-AF65-F5344CB8AC3E}">
        <p14:creationId xmlns:p14="http://schemas.microsoft.com/office/powerpoint/2010/main" val="12745988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25605" y="3253785"/>
            <a:ext cx="2738468" cy="1849127"/>
          </a:xfrm>
          <a:prstGeom prst="rect">
            <a:avLst/>
          </a:prstGeom>
        </p:spPr>
      </p:pic>
      <p:pic>
        <p:nvPicPr>
          <p:cNvPr id="5" name="Picture 4"/>
          <p:cNvPicPr>
            <a:picLocks noChangeAspect="1"/>
          </p:cNvPicPr>
          <p:nvPr/>
        </p:nvPicPr>
        <p:blipFill>
          <a:blip r:embed="rId3"/>
          <a:stretch>
            <a:fillRect/>
          </a:stretch>
        </p:blipFill>
        <p:spPr>
          <a:xfrm>
            <a:off x="234366" y="2049157"/>
            <a:ext cx="2732997" cy="1884825"/>
          </a:xfrm>
          <a:prstGeom prst="rect">
            <a:avLst/>
          </a:prstGeom>
        </p:spPr>
      </p:pic>
      <p:sp>
        <p:nvSpPr>
          <p:cNvPr id="6" name="Rectangle 5"/>
          <p:cNvSpPr/>
          <p:nvPr/>
        </p:nvSpPr>
        <p:spPr>
          <a:xfrm>
            <a:off x="527382" y="1421111"/>
            <a:ext cx="9985109" cy="400110"/>
          </a:xfrm>
          <a:prstGeom prst="rect">
            <a:avLst/>
          </a:prstGeom>
        </p:spPr>
        <p:txBody>
          <a:bodyPr wrap="square">
            <a:spAutoFit/>
          </a:bodyPr>
          <a:lstStyle/>
          <a:p>
            <a:r>
              <a:rPr lang="sv-SE" sz="2000" dirty="0" err="1">
                <a:latin typeface="Calibri" panose="020F0502020204030204" pitchFamily="34" charset="0"/>
              </a:rPr>
              <a:t>Switching</a:t>
            </a:r>
            <a:r>
              <a:rPr lang="sv-SE" sz="2000" dirty="0">
                <a:latin typeface="Calibri" panose="020F0502020204030204" pitchFamily="34" charset="0"/>
              </a:rPr>
              <a:t> </a:t>
            </a:r>
            <a:r>
              <a:rPr lang="sv-SE" sz="2000" dirty="0" err="1">
                <a:latin typeface="Calibri" panose="020F0502020204030204" pitchFamily="34" charset="0"/>
              </a:rPr>
              <a:t>frequency</a:t>
            </a:r>
            <a:r>
              <a:rPr lang="sv-SE" sz="2000" dirty="0">
                <a:latin typeface="Calibri" panose="020F0502020204030204" pitchFamily="34" charset="0"/>
              </a:rPr>
              <a:t> = </a:t>
            </a:r>
            <a:r>
              <a:rPr lang="sv-SE" sz="2000" b="1" dirty="0">
                <a:latin typeface="Calibri" panose="020F0502020204030204" pitchFamily="34" charset="0"/>
              </a:rPr>
              <a:t>5kHz</a:t>
            </a:r>
            <a:r>
              <a:rPr lang="sv-SE" sz="2000" dirty="0">
                <a:latin typeface="Calibri" panose="020F0502020204030204" pitchFamily="34" charset="0"/>
              </a:rPr>
              <a:t>, </a:t>
            </a:r>
            <a:r>
              <a:rPr lang="sv-SE" sz="2000" dirty="0" err="1">
                <a:latin typeface="Calibri" panose="020F0502020204030204" pitchFamily="34" charset="0"/>
              </a:rPr>
              <a:t>ma</a:t>
            </a:r>
            <a:r>
              <a:rPr lang="sv-SE" sz="2000" dirty="0">
                <a:latin typeface="Calibri" panose="020F0502020204030204" pitchFamily="34" charset="0"/>
              </a:rPr>
              <a:t>=1.15, </a:t>
            </a:r>
            <a:r>
              <a:rPr lang="sv-SE" sz="2000" dirty="0" err="1">
                <a:latin typeface="Calibri" panose="020F0502020204030204" pitchFamily="34" charset="0"/>
              </a:rPr>
              <a:t>pf</a:t>
            </a:r>
            <a:r>
              <a:rPr lang="sv-SE" sz="2000" dirty="0">
                <a:latin typeface="Calibri" panose="020F0502020204030204" pitchFamily="34" charset="0"/>
              </a:rPr>
              <a:t>=0.9 2-level 3-phase, P=300kW</a:t>
            </a:r>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nvPr>
            </p:nvGraphicFramePr>
            <p:xfrm>
              <a:off x="5456925" y="3742173"/>
              <a:ext cx="6682396" cy="1112520"/>
            </p:xfrm>
            <a:graphic>
              <a:graphicData uri="http://schemas.openxmlformats.org/drawingml/2006/table">
                <a:tbl>
                  <a:tblPr firstRow="1" bandRow="1">
                    <a:tableStyleId>{5C22544A-7EE6-4342-B048-85BDC9FD1C3A}</a:tableStyleId>
                  </a:tblPr>
                  <a:tblGrid>
                    <a:gridCol w="1670599">
                      <a:extLst>
                        <a:ext uri="{9D8B030D-6E8A-4147-A177-3AD203B41FA5}">
                          <a16:colId xmlns:a16="http://schemas.microsoft.com/office/drawing/2014/main" val="701188241"/>
                        </a:ext>
                      </a:extLst>
                    </a:gridCol>
                    <a:gridCol w="1670599">
                      <a:extLst>
                        <a:ext uri="{9D8B030D-6E8A-4147-A177-3AD203B41FA5}">
                          <a16:colId xmlns:a16="http://schemas.microsoft.com/office/drawing/2014/main" val="2487507754"/>
                        </a:ext>
                      </a:extLst>
                    </a:gridCol>
                    <a:gridCol w="1670599">
                      <a:extLst>
                        <a:ext uri="{9D8B030D-6E8A-4147-A177-3AD203B41FA5}">
                          <a16:colId xmlns:a16="http://schemas.microsoft.com/office/drawing/2014/main" val="267292927"/>
                        </a:ext>
                      </a:extLst>
                    </a:gridCol>
                    <a:gridCol w="1670599">
                      <a:extLst>
                        <a:ext uri="{9D8B030D-6E8A-4147-A177-3AD203B41FA5}">
                          <a16:colId xmlns:a16="http://schemas.microsoft.com/office/drawing/2014/main" val="482194914"/>
                        </a:ext>
                      </a:extLst>
                    </a:gridCol>
                  </a:tblGrid>
                  <a:tr h="370840">
                    <a:tc>
                      <a:txBody>
                        <a:bodyPr/>
                        <a:lstStyle/>
                        <a:p>
                          <a:pPr algn="ctr"/>
                          <a14:m>
                            <m:oMath xmlns:m="http://schemas.openxmlformats.org/officeDocument/2006/math">
                              <m:sSub>
                                <m:sSubPr>
                                  <m:ctrlPr>
                                    <a:rPr lang="sv-SE" sz="1300" b="0" i="1" dirty="0" smtClean="0">
                                      <a:latin typeface="Cambria Math" panose="02040503050406030204" pitchFamily="18" charset="0"/>
                                    </a:rPr>
                                  </m:ctrlPr>
                                </m:sSubPr>
                                <m:e>
                                  <m:r>
                                    <a:rPr lang="sv-SE" sz="1300" i="1" dirty="0" smtClean="0">
                                      <a:latin typeface="Cambria Math" panose="02040503050406030204" pitchFamily="18" charset="0"/>
                                    </a:rPr>
                                    <m:t>𝑇</m:t>
                                  </m:r>
                                </m:e>
                                <m:sub>
                                  <m:r>
                                    <a:rPr lang="sv-SE" sz="1300" i="1" dirty="0" smtClean="0">
                                      <a:latin typeface="Cambria Math" panose="02040503050406030204" pitchFamily="18" charset="0"/>
                                    </a:rPr>
                                    <m:t>𝑗</m:t>
                                  </m:r>
                                </m:sub>
                              </m:sSub>
                            </m:oMath>
                          </a14:m>
                          <a:r>
                            <a:rPr lang="sv-SE" sz="1300" dirty="0" smtClean="0"/>
                            <a:t> ( </a:t>
                          </a:r>
                          <a14:m>
                            <m:oMath xmlns:m="http://schemas.openxmlformats.org/officeDocument/2006/math">
                              <m:sSup>
                                <m:sSupPr>
                                  <m:ctrlPr>
                                    <a:rPr lang="sv-SE" sz="1300" b="0" i="1" smtClean="0">
                                      <a:latin typeface="Cambria Math" panose="02040503050406030204" pitchFamily="18" charset="0"/>
                                    </a:rPr>
                                  </m:ctrlPr>
                                </m:sSupPr>
                                <m:e>
                                  <m:r>
                                    <a:rPr lang="sv-SE" sz="1300" b="0" i="1" smtClean="0">
                                      <a:latin typeface="Cambria Math" panose="02040503050406030204" pitchFamily="18" charset="0"/>
                                    </a:rPr>
                                    <m:t>𝐶</m:t>
                                  </m:r>
                                </m:e>
                                <m:sup>
                                  <m:r>
                                    <a:rPr lang="sv-SE" sz="1300" b="0" i="1" smtClean="0">
                                      <a:latin typeface="Cambria Math" panose="02040503050406030204" pitchFamily="18" charset="0"/>
                                    </a:rPr>
                                    <m:t>𝑜</m:t>
                                  </m:r>
                                </m:sup>
                              </m:sSup>
                            </m:oMath>
                          </a14:m>
                          <a:r>
                            <a:rPr lang="sv-SE" sz="1300" dirty="0" smtClean="0"/>
                            <a:t>)</a:t>
                          </a:r>
                          <a:endParaRPr lang="sv-SE" sz="1300" dirty="0"/>
                        </a:p>
                      </a:txBody>
                      <a:tcPr/>
                    </a:tc>
                    <a:tc>
                      <a:txBody>
                        <a:bodyPr/>
                        <a:lstStyle/>
                        <a:p>
                          <a:pPr algn="ctr"/>
                          <a14:m>
                            <m:oMathPara xmlns:m="http://schemas.openxmlformats.org/officeDocument/2006/math">
                              <m:oMathParaPr>
                                <m:jc m:val="centerGroup"/>
                              </m:oMathParaPr>
                              <m:oMath xmlns:m="http://schemas.openxmlformats.org/officeDocument/2006/math">
                                <m:r>
                                  <a:rPr lang="sv-SE" sz="1300" i="1" dirty="0" smtClean="0">
                                    <a:latin typeface="Cambria Math" panose="02040503050406030204" pitchFamily="18" charset="0"/>
                                  </a:rPr>
                                  <m:t>7</m:t>
                                </m:r>
                                <m:r>
                                  <a:rPr lang="sv-SE" sz="1300" b="0" i="1" dirty="0" smtClean="0">
                                    <a:latin typeface="Cambria Math" panose="02040503050406030204" pitchFamily="18" charset="0"/>
                                  </a:rPr>
                                  <m:t>5</m:t>
                                </m:r>
                                <m:r>
                                  <a:rPr lang="sv-SE" sz="1300" i="1" dirty="0" smtClean="0">
                                    <a:latin typeface="Cambria Math" panose="02040503050406030204" pitchFamily="18" charset="0"/>
                                  </a:rPr>
                                  <m:t> </m:t>
                                </m:r>
                                <m:sSup>
                                  <m:sSupPr>
                                    <m:ctrlPr>
                                      <a:rPr lang="sv-SE" sz="1300" b="0" i="1" smtClean="0">
                                        <a:latin typeface="Cambria Math" panose="02040503050406030204" pitchFamily="18" charset="0"/>
                                      </a:rPr>
                                    </m:ctrlPr>
                                  </m:sSupPr>
                                  <m:e>
                                    <m:r>
                                      <a:rPr lang="sv-SE" sz="1300" b="0" i="1" smtClean="0">
                                        <a:latin typeface="Cambria Math" panose="02040503050406030204" pitchFamily="18" charset="0"/>
                                      </a:rPr>
                                      <m:t>𝐶</m:t>
                                    </m:r>
                                  </m:e>
                                  <m:sup>
                                    <m:r>
                                      <a:rPr lang="sv-SE" sz="1300" b="0" i="1" smtClean="0">
                                        <a:latin typeface="Cambria Math" panose="02040503050406030204" pitchFamily="18" charset="0"/>
                                      </a:rPr>
                                      <m:t>𝑜</m:t>
                                    </m:r>
                                  </m:sup>
                                </m:sSup>
                              </m:oMath>
                            </m:oMathPara>
                          </a14:m>
                          <a:endParaRPr lang="sv-SE" sz="1300" dirty="0"/>
                        </a:p>
                      </a:txBody>
                      <a:tcPr/>
                    </a:tc>
                    <a:tc>
                      <a:txBody>
                        <a:bodyPr/>
                        <a:lstStyle/>
                        <a:p>
                          <a:pPr algn="ctr"/>
                          <a14:m>
                            <m:oMathPara xmlns:m="http://schemas.openxmlformats.org/officeDocument/2006/math">
                              <m:oMathParaPr>
                                <m:jc m:val="centerGroup"/>
                              </m:oMathParaPr>
                              <m:oMath xmlns:m="http://schemas.openxmlformats.org/officeDocument/2006/math">
                                <m:r>
                                  <a:rPr lang="sv-SE" sz="1300" i="1" dirty="0" smtClean="0">
                                    <a:latin typeface="Cambria Math" panose="02040503050406030204" pitchFamily="18" charset="0"/>
                                  </a:rPr>
                                  <m:t>1</m:t>
                                </m:r>
                                <m:r>
                                  <a:rPr lang="sv-SE" sz="1300" b="0" i="1" dirty="0" smtClean="0">
                                    <a:latin typeface="Cambria Math" panose="02040503050406030204" pitchFamily="18" charset="0"/>
                                  </a:rPr>
                                  <m:t>25</m:t>
                                </m:r>
                                <m:sSup>
                                  <m:sSupPr>
                                    <m:ctrlPr>
                                      <a:rPr lang="sv-SE" sz="1300" b="0" i="1" smtClean="0">
                                        <a:latin typeface="Cambria Math" panose="02040503050406030204" pitchFamily="18" charset="0"/>
                                      </a:rPr>
                                    </m:ctrlPr>
                                  </m:sSupPr>
                                  <m:e>
                                    <m:r>
                                      <a:rPr lang="sv-SE" sz="1300" b="0" i="1" smtClean="0">
                                        <a:latin typeface="Cambria Math" panose="02040503050406030204" pitchFamily="18" charset="0"/>
                                      </a:rPr>
                                      <m:t>𝐶</m:t>
                                    </m:r>
                                  </m:e>
                                  <m:sup>
                                    <m:r>
                                      <a:rPr lang="sv-SE" sz="1300" b="0" i="1" smtClean="0">
                                        <a:latin typeface="Cambria Math" panose="02040503050406030204" pitchFamily="18" charset="0"/>
                                      </a:rPr>
                                      <m:t>𝑜</m:t>
                                    </m:r>
                                  </m:sup>
                                </m:sSup>
                              </m:oMath>
                            </m:oMathPara>
                          </a14:m>
                          <a:endParaRPr lang="sv-SE" sz="1300" dirty="0"/>
                        </a:p>
                      </a:txBody>
                      <a:tcPr/>
                    </a:tc>
                    <a:tc>
                      <a:txBody>
                        <a:bodyPr/>
                        <a:lstStyle/>
                        <a:p>
                          <a:pPr algn="ctr"/>
                          <a14:m>
                            <m:oMathPara xmlns:m="http://schemas.openxmlformats.org/officeDocument/2006/math">
                              <m:oMathParaPr>
                                <m:jc m:val="centerGroup"/>
                              </m:oMathParaPr>
                              <m:oMath xmlns:m="http://schemas.openxmlformats.org/officeDocument/2006/math">
                                <m:r>
                                  <a:rPr lang="sv-SE" sz="1300" i="1" dirty="0" smtClean="0">
                                    <a:latin typeface="Cambria Math" panose="02040503050406030204" pitchFamily="18" charset="0"/>
                                  </a:rPr>
                                  <m:t>150 </m:t>
                                </m:r>
                                <m:sSup>
                                  <m:sSupPr>
                                    <m:ctrlPr>
                                      <a:rPr lang="sv-SE" sz="1300" b="0" i="1" smtClean="0">
                                        <a:latin typeface="Cambria Math" panose="02040503050406030204" pitchFamily="18" charset="0"/>
                                      </a:rPr>
                                    </m:ctrlPr>
                                  </m:sSupPr>
                                  <m:e>
                                    <m:r>
                                      <a:rPr lang="sv-SE" sz="1300" b="0" i="1" smtClean="0">
                                        <a:latin typeface="Cambria Math" panose="02040503050406030204" pitchFamily="18" charset="0"/>
                                      </a:rPr>
                                      <m:t>𝐶</m:t>
                                    </m:r>
                                  </m:e>
                                  <m:sup>
                                    <m:r>
                                      <a:rPr lang="sv-SE" sz="1300" b="0" i="1" smtClean="0">
                                        <a:latin typeface="Cambria Math" panose="02040503050406030204" pitchFamily="18" charset="0"/>
                                      </a:rPr>
                                      <m:t>𝑜</m:t>
                                    </m:r>
                                  </m:sup>
                                </m:sSup>
                              </m:oMath>
                            </m:oMathPara>
                          </a14:m>
                          <a:endParaRPr lang="sv-SE" sz="1300" dirty="0"/>
                        </a:p>
                      </a:txBody>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Loss</a:t>
                          </a:r>
                          <a:r>
                            <a:rPr lang="sv-SE" sz="1300" baseline="0" dirty="0" smtClean="0"/>
                            <a:t> (W)</a:t>
                          </a:r>
                          <a:endParaRPr lang="sv-SE" sz="1300"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1366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1590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1770 </a:t>
                          </a:r>
                        </a:p>
                      </a:txBody>
                      <a:tcPr/>
                    </a:tc>
                    <a:extLst>
                      <a:ext uri="{0D108BD9-81ED-4DB2-BD59-A6C34878D82A}">
                        <a16:rowId xmlns:a16="http://schemas.microsoft.com/office/drawing/2014/main" val="12241501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err="1" smtClean="0"/>
                            <a:t>Efficiency</a:t>
                          </a:r>
                          <a:r>
                            <a:rPr lang="sv-SE" sz="1300"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99.55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99.47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99.41 </a:t>
                          </a:r>
                        </a:p>
                      </a:txBody>
                      <a:tcPr/>
                    </a:tc>
                    <a:extLst>
                      <a:ext uri="{0D108BD9-81ED-4DB2-BD59-A6C34878D82A}">
                        <a16:rowId xmlns:a16="http://schemas.microsoft.com/office/drawing/2014/main" val="1281971270"/>
                      </a:ext>
                    </a:extLst>
                  </a:tr>
                </a:tbl>
              </a:graphicData>
            </a:graphic>
          </p:graphicFrame>
        </mc:Choice>
        <mc:Fallback>
          <p:graphicFrame>
            <p:nvGraphicFramePr>
              <p:cNvPr id="3" name="Table 2"/>
              <p:cNvGraphicFramePr>
                <a:graphicFrameLocks noGrp="1"/>
              </p:cNvGraphicFramePr>
              <p:nvPr>
                <p:extLst/>
              </p:nvPr>
            </p:nvGraphicFramePr>
            <p:xfrm>
              <a:off x="5456925" y="3742173"/>
              <a:ext cx="6682396" cy="1112520"/>
            </p:xfrm>
            <a:graphic>
              <a:graphicData uri="http://schemas.openxmlformats.org/drawingml/2006/table">
                <a:tbl>
                  <a:tblPr firstRow="1" bandRow="1">
                    <a:tableStyleId>{5C22544A-7EE6-4342-B048-85BDC9FD1C3A}</a:tableStyleId>
                  </a:tblPr>
                  <a:tblGrid>
                    <a:gridCol w="1670599">
                      <a:extLst>
                        <a:ext uri="{9D8B030D-6E8A-4147-A177-3AD203B41FA5}">
                          <a16:colId xmlns:a16="http://schemas.microsoft.com/office/drawing/2014/main" val="701188241"/>
                        </a:ext>
                      </a:extLst>
                    </a:gridCol>
                    <a:gridCol w="1670599">
                      <a:extLst>
                        <a:ext uri="{9D8B030D-6E8A-4147-A177-3AD203B41FA5}">
                          <a16:colId xmlns:a16="http://schemas.microsoft.com/office/drawing/2014/main" val="2487507754"/>
                        </a:ext>
                      </a:extLst>
                    </a:gridCol>
                    <a:gridCol w="1670599">
                      <a:extLst>
                        <a:ext uri="{9D8B030D-6E8A-4147-A177-3AD203B41FA5}">
                          <a16:colId xmlns:a16="http://schemas.microsoft.com/office/drawing/2014/main" val="267292927"/>
                        </a:ext>
                      </a:extLst>
                    </a:gridCol>
                    <a:gridCol w="1670599">
                      <a:extLst>
                        <a:ext uri="{9D8B030D-6E8A-4147-A177-3AD203B41FA5}">
                          <a16:colId xmlns:a16="http://schemas.microsoft.com/office/drawing/2014/main" val="482194914"/>
                        </a:ext>
                      </a:extLst>
                    </a:gridCol>
                  </a:tblGrid>
                  <a:tr h="370840">
                    <a:tc>
                      <a:txBody>
                        <a:bodyPr/>
                        <a:lstStyle/>
                        <a:p>
                          <a:endParaRPr lang="sv-SE"/>
                        </a:p>
                      </a:txBody>
                      <a:tcPr>
                        <a:blipFill>
                          <a:blip r:embed="rId4"/>
                          <a:stretch>
                            <a:fillRect l="-365" t="-1639" r="-301825" b="-204918"/>
                          </a:stretch>
                        </a:blipFill>
                      </a:tcPr>
                    </a:tc>
                    <a:tc>
                      <a:txBody>
                        <a:bodyPr/>
                        <a:lstStyle/>
                        <a:p>
                          <a:endParaRPr lang="sv-SE"/>
                        </a:p>
                      </a:txBody>
                      <a:tcPr>
                        <a:blipFill>
                          <a:blip r:embed="rId4"/>
                          <a:stretch>
                            <a:fillRect l="-100000" t="-1639" r="-200727" b="-204918"/>
                          </a:stretch>
                        </a:blipFill>
                      </a:tcPr>
                    </a:tc>
                    <a:tc>
                      <a:txBody>
                        <a:bodyPr/>
                        <a:lstStyle/>
                        <a:p>
                          <a:endParaRPr lang="sv-SE"/>
                        </a:p>
                      </a:txBody>
                      <a:tcPr>
                        <a:blipFill>
                          <a:blip r:embed="rId4"/>
                          <a:stretch>
                            <a:fillRect l="-200730" t="-1639" r="-101460" b="-204918"/>
                          </a:stretch>
                        </a:blipFill>
                      </a:tcPr>
                    </a:tc>
                    <a:tc>
                      <a:txBody>
                        <a:bodyPr/>
                        <a:lstStyle/>
                        <a:p>
                          <a:endParaRPr lang="sv-SE"/>
                        </a:p>
                      </a:txBody>
                      <a:tcPr>
                        <a:blipFill>
                          <a:blip r:embed="rId4"/>
                          <a:stretch>
                            <a:fillRect l="-300730" t="-1639" r="-1460" b="-204918"/>
                          </a:stretch>
                        </a:blipFill>
                      </a:tcPr>
                    </a:tc>
                    <a:extLst>
                      <a:ext uri="{0D108BD9-81ED-4DB2-BD59-A6C34878D82A}">
                        <a16:rowId xmlns:a16="http://schemas.microsoft.com/office/drawing/2014/main" val="379032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Loss</a:t>
                          </a:r>
                          <a:r>
                            <a:rPr lang="sv-SE" sz="1300" baseline="0" dirty="0" smtClean="0"/>
                            <a:t> (W)</a:t>
                          </a:r>
                          <a:endParaRPr lang="sv-SE" sz="1300" dirty="0" smtClean="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1366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1590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1770 </a:t>
                          </a:r>
                        </a:p>
                      </a:txBody>
                      <a:tcPr/>
                    </a:tc>
                    <a:extLst>
                      <a:ext uri="{0D108BD9-81ED-4DB2-BD59-A6C34878D82A}">
                        <a16:rowId xmlns:a16="http://schemas.microsoft.com/office/drawing/2014/main" val="12241501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err="1" smtClean="0"/>
                            <a:t>Efficiency</a:t>
                          </a:r>
                          <a:r>
                            <a:rPr lang="sv-SE" sz="1300" dirty="0" smtClean="0"/>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99.55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99.47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300" dirty="0" smtClean="0"/>
                            <a:t>99.41 </a:t>
                          </a:r>
                        </a:p>
                      </a:txBody>
                      <a:tcPr/>
                    </a:tc>
                    <a:extLst>
                      <a:ext uri="{0D108BD9-81ED-4DB2-BD59-A6C34878D82A}">
                        <a16:rowId xmlns:a16="http://schemas.microsoft.com/office/drawing/2014/main" val="1281971270"/>
                      </a:ext>
                    </a:extLst>
                  </a:tr>
                </a:tbl>
              </a:graphicData>
            </a:graphic>
          </p:graphicFrame>
        </mc:Fallback>
      </mc:AlternateContent>
      <p:sp>
        <p:nvSpPr>
          <p:cNvPr id="11" name="TextBox 10"/>
          <p:cNvSpPr txBox="1"/>
          <p:nvPr/>
        </p:nvSpPr>
        <p:spPr>
          <a:xfrm>
            <a:off x="47329" y="5772894"/>
            <a:ext cx="12437553" cy="707886"/>
          </a:xfrm>
          <a:prstGeom prst="rect">
            <a:avLst/>
          </a:prstGeom>
          <a:noFill/>
        </p:spPr>
        <p:txBody>
          <a:bodyPr wrap="square" rtlCol="0">
            <a:spAutoFit/>
          </a:bodyPr>
          <a:lstStyle/>
          <a:p>
            <a:pPr marL="285744" indent="-285744">
              <a:buFont typeface="Arial" panose="020B0604020202020204" pitchFamily="34" charset="0"/>
              <a:buChar char="•"/>
            </a:pPr>
            <a:r>
              <a:rPr lang="en-US" sz="2000" dirty="0"/>
              <a:t>Assume only conduction loss is changed with temperature. </a:t>
            </a:r>
          </a:p>
          <a:p>
            <a:pPr marL="285744" indent="-285744">
              <a:buFont typeface="Arial" panose="020B0604020202020204" pitchFamily="34" charset="0"/>
              <a:buChar char="•"/>
            </a:pPr>
            <a:r>
              <a:rPr lang="en-US" sz="2000" dirty="0"/>
              <a:t>We do not use a thermal model here; we just find the losses for different junction temperatures.</a:t>
            </a:r>
            <a:endParaRPr lang="sv-SE" sz="2000" dirty="0"/>
          </a:p>
        </p:txBody>
      </p:sp>
      <p:pic>
        <p:nvPicPr>
          <p:cNvPr id="13" name="Picture 12"/>
          <p:cNvPicPr>
            <a:picLocks noChangeAspect="1"/>
          </p:cNvPicPr>
          <p:nvPr/>
        </p:nvPicPr>
        <p:blipFill>
          <a:blip r:embed="rId5"/>
          <a:stretch>
            <a:fillRect/>
          </a:stretch>
        </p:blipFill>
        <p:spPr>
          <a:xfrm>
            <a:off x="233927" y="3827326"/>
            <a:ext cx="2731760" cy="2048820"/>
          </a:xfrm>
          <a:prstGeom prst="rect">
            <a:avLst/>
          </a:prstGeom>
        </p:spPr>
      </p:pic>
      <p:cxnSp>
        <p:nvCxnSpPr>
          <p:cNvPr id="8" name="Straight Arrow Connector 7"/>
          <p:cNvCxnSpPr/>
          <p:nvPr/>
        </p:nvCxnSpPr>
        <p:spPr>
          <a:xfrm flipV="1">
            <a:off x="1619298" y="2769753"/>
            <a:ext cx="1980425" cy="630657"/>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657601" y="2448981"/>
            <a:ext cx="2840047" cy="707886"/>
          </a:xfrm>
          <a:prstGeom prst="rect">
            <a:avLst/>
          </a:prstGeom>
          <a:noFill/>
        </p:spPr>
        <p:txBody>
          <a:bodyPr wrap="square" rtlCol="0">
            <a:spAutoFit/>
          </a:bodyPr>
          <a:lstStyle/>
          <a:p>
            <a:r>
              <a:rPr lang="en-US" sz="2000" dirty="0"/>
              <a:t>The current is sinusoidal. </a:t>
            </a:r>
            <a:endParaRPr lang="sv-SE" sz="2000" dirty="0"/>
          </a:p>
        </p:txBody>
      </p:sp>
      <p:cxnSp>
        <p:nvCxnSpPr>
          <p:cNvPr id="12" name="Straight Arrow Connector 11"/>
          <p:cNvCxnSpPr/>
          <p:nvPr/>
        </p:nvCxnSpPr>
        <p:spPr>
          <a:xfrm>
            <a:off x="3215680" y="1799491"/>
            <a:ext cx="3995888" cy="7843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187883" y="2180951"/>
            <a:ext cx="4705413" cy="1323439"/>
          </a:xfrm>
          <a:prstGeom prst="rect">
            <a:avLst/>
          </a:prstGeom>
          <a:noFill/>
        </p:spPr>
        <p:txBody>
          <a:bodyPr wrap="square" rtlCol="0">
            <a:spAutoFit/>
          </a:bodyPr>
          <a:lstStyle/>
          <a:p>
            <a:r>
              <a:rPr lang="en-US" sz="2000" dirty="0"/>
              <a:t>The maximum switching frequency is 5kHz since we have </a:t>
            </a:r>
            <a:r>
              <a:rPr lang="en-US" sz="2000" b="1" dirty="0"/>
              <a:t>slow switching </a:t>
            </a:r>
            <a:r>
              <a:rPr lang="en-US" sz="2000" b="1" dirty="0"/>
              <a:t>speed (dv/</a:t>
            </a:r>
            <a:r>
              <a:rPr lang="en-US" sz="2000" b="1" dirty="0" err="1"/>
              <a:t>dt</a:t>
            </a:r>
            <a:r>
              <a:rPr lang="en-US" sz="2000" b="1" dirty="0"/>
              <a:t>) </a:t>
            </a:r>
            <a:r>
              <a:rPr lang="en-US" sz="2000" b="1" dirty="0"/>
              <a:t>test data </a:t>
            </a:r>
            <a:r>
              <a:rPr lang="en-US" sz="2000" dirty="0"/>
              <a:t>in </a:t>
            </a:r>
            <a:r>
              <a:rPr lang="en-US" sz="2000" dirty="0"/>
              <a:t>the datasheet.</a:t>
            </a:r>
            <a:endParaRPr lang="sv-SE" sz="2000" dirty="0"/>
          </a:p>
        </p:txBody>
      </p:sp>
    </p:spTree>
    <p:extLst>
      <p:ext uri="{BB962C8B-B14F-4D97-AF65-F5344CB8AC3E}">
        <p14:creationId xmlns:p14="http://schemas.microsoft.com/office/powerpoint/2010/main" val="12932090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2490" y="287931"/>
            <a:ext cx="10990263" cy="568412"/>
          </a:xfrm>
        </p:spPr>
        <p:txBody>
          <a:bodyPr/>
          <a:lstStyle/>
          <a:p>
            <a:r>
              <a:rPr lang="en-US" dirty="0"/>
              <a:t>Datasheet-driven Loss </a:t>
            </a:r>
            <a:r>
              <a:rPr lang="en-US" dirty="0" smtClean="0"/>
              <a:t>Calculation (Switching) </a:t>
            </a:r>
            <a:endParaRPr lang="sv-SE" dirty="0"/>
          </a:p>
        </p:txBody>
      </p:sp>
    </p:spTree>
    <p:extLst>
      <p:ext uri="{BB962C8B-B14F-4D97-AF65-F5344CB8AC3E}">
        <p14:creationId xmlns:p14="http://schemas.microsoft.com/office/powerpoint/2010/main" val="34321129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7452</TotalTime>
  <Words>136</Words>
  <Application>Microsoft Office PowerPoint</Application>
  <PresentationFormat>Widescreen</PresentationFormat>
  <Paragraphs>24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Figtree</vt:lpstr>
      <vt:lpstr>Calibri</vt:lpstr>
      <vt:lpstr>Cambria Math</vt:lpstr>
      <vt:lpstr>Arial</vt:lpstr>
      <vt:lpstr>Office-tema</vt:lpstr>
      <vt:lpstr>Datasheet-driven Loss Estimation</vt:lpstr>
      <vt:lpstr>PowerPoint Presentation</vt:lpstr>
      <vt:lpstr>Datasheet-driven Loss Calculation (Switching)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103</cp:revision>
  <dcterms:created xsi:type="dcterms:W3CDTF">2024-01-10T13:17:29Z</dcterms:created>
  <dcterms:modified xsi:type="dcterms:W3CDTF">2024-10-15T15:49:07Z</dcterms:modified>
</cp:coreProperties>
</file>