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62" r:id="rId5"/>
    <p:sldId id="263" r:id="rId6"/>
    <p:sldId id="256" r:id="rId7"/>
    <p:sldId id="258" r:id="rId8"/>
    <p:sldId id="259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3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94995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66689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61296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78211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0853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0314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20004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29082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58988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1425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45164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5E3668-0D0C-452D-9D7A-5571454930D1}" type="datetimeFigureOut">
              <a:rPr lang="sv-SE" smtClean="0"/>
              <a:t>2024-01-18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BC886-3B07-4993-A6FE-EF1A6D71E7F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0689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14.svg"/><Relationship Id="rId1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8584" b="546"/>
          <a:stretch/>
        </p:blipFill>
        <p:spPr>
          <a:xfrm>
            <a:off x="710984" y="0"/>
            <a:ext cx="10140123" cy="3284719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11" idx="0"/>
          </p:cNvCxnSpPr>
          <p:nvPr/>
        </p:nvCxnSpPr>
        <p:spPr>
          <a:xfrm>
            <a:off x="4078071" y="2610032"/>
            <a:ext cx="1257300" cy="1073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11" idx="0"/>
          </p:cNvCxnSpPr>
          <p:nvPr/>
        </p:nvCxnSpPr>
        <p:spPr>
          <a:xfrm>
            <a:off x="4135221" y="419282"/>
            <a:ext cx="1200150" cy="32639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92371" y="3683182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Package dependent</a:t>
            </a:r>
            <a:endParaRPr lang="sv-SE" dirty="0"/>
          </a:p>
        </p:txBody>
      </p:sp>
      <p:cxnSp>
        <p:nvCxnSpPr>
          <p:cNvPr id="12" name="Straight Arrow Connector 11"/>
          <p:cNvCxnSpPr>
            <a:endCxn id="11" idx="0"/>
          </p:cNvCxnSpPr>
          <p:nvPr/>
        </p:nvCxnSpPr>
        <p:spPr>
          <a:xfrm flipH="1">
            <a:off x="5335371" y="489132"/>
            <a:ext cx="3702050" cy="31940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endCxn id="11" idx="0"/>
          </p:cNvCxnSpPr>
          <p:nvPr/>
        </p:nvCxnSpPr>
        <p:spPr>
          <a:xfrm flipH="1">
            <a:off x="5335371" y="2438582"/>
            <a:ext cx="3803650" cy="1244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314906" y="4231097"/>
            <a:ext cx="229664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Single Bare </a:t>
            </a:r>
            <a:r>
              <a:rPr lang="en-US" b="1" dirty="0" smtClean="0"/>
              <a:t>Die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Double Dies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Triple Dies</a:t>
            </a:r>
          </a:p>
          <a:p>
            <a:pPr marL="342900" indent="-342900">
              <a:buFont typeface="+mj-lt"/>
              <a:buAutoNum type="arabicPeriod"/>
            </a:pPr>
            <a:endParaRPr lang="sv-SE" dirty="0"/>
          </a:p>
        </p:txBody>
      </p:sp>
      <p:sp>
        <p:nvSpPr>
          <p:cNvPr id="24" name="Right Brace 23"/>
          <p:cNvSpPr/>
          <p:nvPr/>
        </p:nvSpPr>
        <p:spPr>
          <a:xfrm>
            <a:off x="3324021" y="4231097"/>
            <a:ext cx="868350" cy="867176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TextBox 25"/>
          <p:cNvSpPr txBox="1"/>
          <p:nvPr/>
        </p:nvSpPr>
        <p:spPr>
          <a:xfrm>
            <a:off x="4222060" y="4231097"/>
            <a:ext cx="70257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To investigate the conduction and switching losses vs die area</a:t>
            </a:r>
          </a:p>
          <a:p>
            <a:r>
              <a:rPr lang="en-US" dirty="0" smtClean="0"/>
              <a:t>To </a:t>
            </a:r>
            <a:r>
              <a:rPr lang="en-US" dirty="0"/>
              <a:t>investigate the </a:t>
            </a:r>
            <a:r>
              <a:rPr lang="en-US" dirty="0" smtClean="0"/>
              <a:t>distortive effect of the package on the losses</a:t>
            </a:r>
          </a:p>
          <a:p>
            <a:r>
              <a:rPr lang="en-US" dirty="0" smtClean="0"/>
              <a:t>Hefner  Saber </a:t>
            </a:r>
            <a:r>
              <a:rPr lang="en-US" dirty="0" err="1" smtClean="0"/>
              <a:t>medici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35242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" y="400050"/>
            <a:ext cx="8401643" cy="4643437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H="1" flipV="1">
            <a:off x="5867400" y="1642507"/>
            <a:ext cx="1552575" cy="4720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81525" y="1273175"/>
            <a:ext cx="2266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Check this linearity.  </a:t>
            </a:r>
            <a:endParaRPr lang="sv-SE" dirty="0">
              <a:solidFill>
                <a:srgbClr val="FF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2025" y="5210175"/>
            <a:ext cx="8943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Since the input capacitance increases, we might change the outer gate resistance ?  </a:t>
            </a:r>
            <a:endParaRPr lang="sv-SE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551" y="584200"/>
            <a:ext cx="3544204" cy="4245886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 flipH="1">
            <a:off x="10469880" y="4830086"/>
            <a:ext cx="7620" cy="6334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557655" y="5463540"/>
            <a:ext cx="2179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Estimate package inductances and resistances.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87276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5062"/>
          <a:stretch/>
        </p:blipFill>
        <p:spPr>
          <a:xfrm>
            <a:off x="1539189" y="510250"/>
            <a:ext cx="3743324" cy="125286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636" y="510250"/>
            <a:ext cx="2947988" cy="10557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t="-804"/>
          <a:stretch/>
        </p:blipFill>
        <p:spPr>
          <a:xfrm>
            <a:off x="318958" y="2577402"/>
            <a:ext cx="5335266" cy="387294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7113" y="2686947"/>
            <a:ext cx="5045033" cy="3376852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6116595" y="1417722"/>
            <a:ext cx="0" cy="5251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21924" y="2050920"/>
            <a:ext cx="7061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Update the possible dv/</a:t>
            </a:r>
            <a:r>
              <a:rPr lang="en-US" dirty="0" err="1" smtClean="0"/>
              <a:t>dt</a:t>
            </a:r>
            <a:r>
              <a:rPr lang="en-US" dirty="0" smtClean="0"/>
              <a:t> by considering gate oscillation due to the resonance between input capacitance and stray inductance.</a:t>
            </a:r>
            <a:endParaRPr lang="sv-SE" dirty="0"/>
          </a:p>
        </p:txBody>
      </p:sp>
      <p:sp>
        <p:nvSpPr>
          <p:cNvPr id="12" name="Rectangle 11"/>
          <p:cNvSpPr/>
          <p:nvPr/>
        </p:nvSpPr>
        <p:spPr>
          <a:xfrm>
            <a:off x="3665979" y="6330494"/>
            <a:ext cx="52384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smtClean="0"/>
              <a:t>* </a:t>
            </a:r>
            <a:r>
              <a:rPr lang="sv-SE" dirty="0" err="1" smtClean="0"/>
              <a:t>External</a:t>
            </a:r>
            <a:r>
              <a:rPr lang="sv-SE" dirty="0" smtClean="0"/>
              <a:t> </a:t>
            </a:r>
            <a:r>
              <a:rPr lang="sv-SE" dirty="0"/>
              <a:t>Gate Resistor Design Guide for Gate Drivers</a:t>
            </a:r>
          </a:p>
        </p:txBody>
      </p:sp>
    </p:spTree>
    <p:extLst>
      <p:ext uri="{BB962C8B-B14F-4D97-AF65-F5344CB8AC3E}">
        <p14:creationId xmlns:p14="http://schemas.microsoft.com/office/powerpoint/2010/main" val="801985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82" y="368377"/>
            <a:ext cx="7460715" cy="237289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601" y="5306802"/>
            <a:ext cx="5344299" cy="120572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68" y="3051032"/>
            <a:ext cx="3972183" cy="671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29351" y="3706170"/>
            <a:ext cx="2150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same by </a:t>
            </a:r>
            <a:r>
              <a:rPr lang="en-US" dirty="0"/>
              <a:t>the number of dies in </a:t>
            </a:r>
            <a:r>
              <a:rPr lang="en-US" dirty="0" smtClean="0"/>
              <a:t>parallel?</a:t>
            </a:r>
            <a:endParaRPr lang="sv-SE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229" y="3091520"/>
            <a:ext cx="3539439" cy="709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97608" y="3801039"/>
            <a:ext cx="2150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Linearly increasing by the number of dies in parallel</a:t>
            </a:r>
            <a:endParaRPr lang="sv-SE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7105" y="3091520"/>
            <a:ext cx="2894189" cy="643939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1235" y="2625810"/>
            <a:ext cx="1542789" cy="42522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15533" y="3874988"/>
            <a:ext cx="2150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same by </a:t>
            </a:r>
            <a:r>
              <a:rPr lang="en-US" dirty="0"/>
              <a:t>the number of dies in </a:t>
            </a:r>
            <a:r>
              <a:rPr lang="en-US" dirty="0" smtClean="0"/>
              <a:t>parallel?</a:t>
            </a:r>
            <a:endParaRPr lang="sv-SE" dirty="0"/>
          </a:p>
        </p:txBody>
      </p:sp>
      <p:sp>
        <p:nvSpPr>
          <p:cNvPr id="29" name="TextBox 28"/>
          <p:cNvSpPr txBox="1"/>
          <p:nvPr/>
        </p:nvSpPr>
        <p:spPr>
          <a:xfrm>
            <a:off x="7393457" y="5724999"/>
            <a:ext cx="359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Depends on dv/</a:t>
            </a:r>
            <a:r>
              <a:rPr lang="en-US" dirty="0" err="1" smtClean="0"/>
              <a:t>dt</a:t>
            </a:r>
            <a:r>
              <a:rPr lang="en-US" dirty="0" smtClean="0"/>
              <a:t> and di/</a:t>
            </a:r>
            <a:r>
              <a:rPr lang="en-US" dirty="0" err="1" smtClean="0"/>
              <a:t>dt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9152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C:\Users\enesa\AppData\Local\Temp\ConnectorClipboard9001578144035710531\image1699518325394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038" y="714467"/>
            <a:ext cx="5095037" cy="120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:\Users\enesa\AppData\Local\Temp\ConnectorClipboard9001578144035710531\image1699518328787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531" y="746092"/>
            <a:ext cx="5207000" cy="1170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0236820"/>
                  </p:ext>
                </p:extLst>
              </p:nvPr>
            </p:nvGraphicFramePr>
            <p:xfrm>
              <a:off x="1219199" y="2949883"/>
              <a:ext cx="8267700" cy="25735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55900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3781079998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1361092490"/>
                        </a:ext>
                      </a:extLst>
                    </a:gridCol>
                  </a:tblGrid>
                  <a:tr h="3561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Die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Area Dependent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Package 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 In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𝑔𝑑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𝑚𝑖𝑙𝑙𝑒𝑟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𝑡h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𝑜𝑛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𝑓𝑠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𝑜𝑓𝑓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99025845"/>
                      </a:ext>
                    </a:extLst>
                  </a:tr>
                  <a:tr h="398648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𝑒𝑥𝑡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𝑖𝑛𝑡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dirty="0" smtClean="0"/>
                            <a:t>? </a:t>
                          </a:r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?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?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5692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0236820"/>
                  </p:ext>
                </p:extLst>
              </p:nvPr>
            </p:nvGraphicFramePr>
            <p:xfrm>
              <a:off x="1219199" y="2949883"/>
              <a:ext cx="8267700" cy="25735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55900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3781079998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136109249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Die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Area Dependent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Package 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 In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171875" r="-200221" b="-4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442" t="-171875" r="-100664" b="-4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171875" r="-442" b="-4156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271875" r="-200221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271875" r="-442" b="-3156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390164" r="-200221" b="-231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390164" r="-442" b="-231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467188" r="-200221" b="-1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467188" r="-442" b="-1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9025845"/>
                      </a:ext>
                    </a:extLst>
                  </a:tr>
                  <a:tr h="398648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550000" r="-20022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442" t="-550000" r="-100664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550000" r="-442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956922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26469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65" y="180975"/>
            <a:ext cx="10520789" cy="34432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" y="3569136"/>
            <a:ext cx="661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Just we need static parameters without DPT. </a:t>
            </a:r>
            <a:endParaRPr lang="sv-S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00" y="4131191"/>
            <a:ext cx="3538538" cy="248737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013" y="4131191"/>
            <a:ext cx="3484087" cy="27261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t="2216"/>
          <a:stretch/>
        </p:blipFill>
        <p:spPr>
          <a:xfrm>
            <a:off x="7658975" y="4190999"/>
            <a:ext cx="4231396" cy="263838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1160" y="3569136"/>
            <a:ext cx="2641165" cy="51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715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612"/>
          <a:stretch/>
        </p:blipFill>
        <p:spPr>
          <a:xfrm>
            <a:off x="212579" y="1508511"/>
            <a:ext cx="4295775" cy="3710940"/>
          </a:xfrm>
          <a:prstGeom prst="rect">
            <a:avLst/>
          </a:prstGeom>
        </p:spPr>
      </p:pic>
      <p:sp>
        <p:nvSpPr>
          <p:cNvPr id="5" name="Metin kutusu 24">
            <a:extLst>
              <a:ext uri="{FF2B5EF4-FFF2-40B4-BE49-F238E27FC236}">
                <a16:creationId xmlns:a16="http://schemas.microsoft.com/office/drawing/2014/main" id="{883F3FED-20E5-4352-A135-FDCDF6C773AD}"/>
              </a:ext>
            </a:extLst>
          </p:cNvPr>
          <p:cNvSpPr txBox="1"/>
          <p:nvPr/>
        </p:nvSpPr>
        <p:spPr>
          <a:xfrm>
            <a:off x="5842354" y="1754038"/>
            <a:ext cx="5100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 Excitation Model 						</a:t>
            </a:r>
            <a:endParaRPr lang="en-GB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Resim 15">
            <a:extLst>
              <a:ext uri="{FF2B5EF4-FFF2-40B4-BE49-F238E27FC236}">
                <a16:creationId xmlns:a16="http://schemas.microsoft.com/office/drawing/2014/main" id="{88642379-2414-463B-BB45-E9543694D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056" y="2402552"/>
            <a:ext cx="6711544" cy="1519871"/>
          </a:xfrm>
          <a:prstGeom prst="rect">
            <a:avLst/>
          </a:prstGeom>
        </p:spPr>
      </p:pic>
      <p:pic>
        <p:nvPicPr>
          <p:cNvPr id="7" name="Resim 17">
            <a:extLst>
              <a:ext uri="{FF2B5EF4-FFF2-40B4-BE49-F238E27FC236}">
                <a16:creationId xmlns:a16="http://schemas.microsoft.com/office/drawing/2014/main" id="{1D8FD822-03D7-4197-91A3-28B71962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860" y="5219451"/>
            <a:ext cx="6845728" cy="14672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52172" y="4370882"/>
            <a:ext cx="38779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tr-T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Excitation Model	</a:t>
            </a:r>
            <a:endParaRPr lang="sv-SE" sz="2000" dirty="0"/>
          </a:p>
        </p:txBody>
      </p:sp>
      <p:sp>
        <p:nvSpPr>
          <p:cNvPr id="12" name="Rectangle 11"/>
          <p:cNvSpPr/>
          <p:nvPr/>
        </p:nvSpPr>
        <p:spPr>
          <a:xfrm>
            <a:off x="4969860" y="194238"/>
            <a:ext cx="2795958" cy="477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 Space </a:t>
            </a:r>
            <a:r>
              <a:rPr lang="en-GB" sz="25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endParaRPr lang="tr-TR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Resim 20">
            <a:extLst>
              <a:ext uri="{FF2B5EF4-FFF2-40B4-BE49-F238E27FC236}">
                <a16:creationId xmlns:a16="http://schemas.microsoft.com/office/drawing/2014/main" id="{E73D3ADB-6AEA-45E0-8F1F-D333F106A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9059" y="757022"/>
            <a:ext cx="2796541" cy="58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50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6">
            <a:extLst>
              <a:ext uri="{FF2B5EF4-FFF2-40B4-BE49-F238E27FC236}">
                <a16:creationId xmlns:a16="http://schemas.microsoft.com/office/drawing/2014/main" id="{90EBE729-C7B9-4BE1-95BA-206F50DD15D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2841577" y="3354784"/>
            <a:ext cx="6684712" cy="3352800"/>
          </a:xfrm>
          <a:prstGeom prst="rect">
            <a:avLst/>
          </a:prstGeom>
        </p:spPr>
      </p:pic>
      <p:pic>
        <p:nvPicPr>
          <p:cNvPr id="5" name="Grafik 11">
            <a:extLst>
              <a:ext uri="{FF2B5EF4-FFF2-40B4-BE49-F238E27FC236}">
                <a16:creationId xmlns:a16="http://schemas.microsoft.com/office/drawing/2014/main" id="{B81FB7AA-8859-4C65-A1E0-CA6026398061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5"/>
              </a:ext>
            </a:extLst>
          </a:blip>
          <a:stretch>
            <a:fillRect/>
          </a:stretch>
        </p:blipFill>
        <p:spPr>
          <a:xfrm>
            <a:off x="2962451" y="210388"/>
            <a:ext cx="6269199" cy="314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644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3021</TotalTime>
  <Words>239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27</cp:revision>
  <dcterms:created xsi:type="dcterms:W3CDTF">2023-11-23T09:05:55Z</dcterms:created>
  <dcterms:modified xsi:type="dcterms:W3CDTF">2024-01-18T07:34:05Z</dcterms:modified>
</cp:coreProperties>
</file>