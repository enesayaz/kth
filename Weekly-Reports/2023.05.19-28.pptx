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66" r:id="rId12"/>
    <p:sldId id="267" r:id="rId13"/>
    <p:sldId id="257" r:id="rId14"/>
    <p:sldId id="268" r:id="rId15"/>
    <p:sldId id="259" r:id="rId16"/>
    <p:sldId id="260" r:id="rId17"/>
    <p:sldId id="263" r:id="rId18"/>
    <p:sldId id="262" r:id="rId19"/>
    <p:sldId id="264" r:id="rId20"/>
    <p:sldId id="269" r:id="rId21"/>
    <p:sldId id="270" r:id="rId22"/>
    <p:sldId id="271" r:id="rId23"/>
    <p:sldId id="272" r:id="rId24"/>
    <p:sldId id="282" r:id="rId25"/>
    <p:sldId id="261" r:id="rId2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66"/>
            <p14:sldId id="267"/>
            <p14:sldId id="257"/>
            <p14:sldId id="268"/>
            <p14:sldId id="259"/>
            <p14:sldId id="260"/>
            <p14:sldId id="263"/>
            <p14:sldId id="262"/>
            <p14:sldId id="264"/>
            <p14:sldId id="269"/>
            <p14:sldId id="270"/>
            <p14:sldId id="271"/>
            <p14:sldId id="272"/>
            <p14:sldId id="282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2023-05-22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E4D78-AB85-481E-A603-2784DADE5AA2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353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2023-05-19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79550" y="608013"/>
                <a:ext cx="9144000" cy="238760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>
                    <a:solidFill>
                      <a:srgbClr val="C00000"/>
                    </a:solidFill>
                  </a:rPr>
                  <a:t>Topology Selection of 3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>
                    <a:solidFill>
                      <a:srgbClr val="C00000"/>
                    </a:solidFill>
                  </a:rPr>
                  <a:t> Traction Motor Drives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79550" y="608013"/>
                <a:ext cx="9144000" cy="2387600"/>
              </a:xfrm>
              <a:blipFill>
                <a:blip r:embed="rId2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2023.05.19-2023.05.28</a:t>
            </a:r>
            <a:endParaRPr lang="sv-SE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450" y="384174"/>
            <a:ext cx="10515600" cy="6257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Aims</a:t>
            </a:r>
          </a:p>
          <a:p>
            <a:pPr lvl="1"/>
            <a:r>
              <a:rPr lang="en-US" sz="2000" dirty="0" smtClean="0"/>
              <a:t>Reducing power losses</a:t>
            </a:r>
          </a:p>
          <a:p>
            <a:pPr lvl="1"/>
            <a:r>
              <a:rPr lang="en-US" sz="2000" dirty="0" smtClean="0"/>
              <a:t>Better thermal design </a:t>
            </a:r>
          </a:p>
          <a:p>
            <a:pPr lvl="1"/>
            <a:r>
              <a:rPr lang="en-US" sz="2000" dirty="0" smtClean="0"/>
              <a:t>Integration of the drive system (also called e-axle)</a:t>
            </a:r>
          </a:p>
          <a:p>
            <a:pPr lvl="1"/>
            <a:r>
              <a:rPr lang="en-US" sz="2000" dirty="0" smtClean="0"/>
              <a:t>Which in turn enables using larger battery pack, providing longer mileage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Higher voltage level</a:t>
            </a:r>
          </a:p>
          <a:p>
            <a:pPr lvl="1"/>
            <a:r>
              <a:rPr lang="en-US" sz="2000" dirty="0" smtClean="0"/>
              <a:t>Enable faster charging </a:t>
            </a:r>
          </a:p>
          <a:p>
            <a:pPr lvl="1"/>
            <a:r>
              <a:rPr lang="en-US" sz="2000" dirty="0" smtClean="0"/>
              <a:t>Decreased power losses and demands for conductor material (by decreasing current requirements for the same power level)</a:t>
            </a:r>
          </a:p>
          <a:p>
            <a:pPr lvl="1"/>
            <a:r>
              <a:rPr lang="en-US" sz="2000" dirty="0" smtClean="0"/>
              <a:t>New standard : Megawatt Charging System (MCS) (up to 1250 V and 3000 A)</a:t>
            </a:r>
          </a:p>
          <a:p>
            <a:pPr lvl="1"/>
            <a:r>
              <a:rPr lang="en-US" sz="2000" dirty="0" smtClean="0"/>
              <a:t>But it should be consider reliability and physical stress, such chip cracks, bond-wires failures</a:t>
            </a:r>
          </a:p>
          <a:p>
            <a:pPr marL="0" indent="0">
              <a:buNone/>
            </a:pPr>
            <a:r>
              <a:rPr lang="en-US" sz="2000" dirty="0" smtClean="0"/>
              <a:t>Semiconductors </a:t>
            </a:r>
            <a:r>
              <a:rPr lang="en-US" sz="2000" dirty="0" err="1" smtClean="0"/>
              <a:t>SiC</a:t>
            </a:r>
            <a:r>
              <a:rPr lang="en-US" sz="2000" dirty="0" smtClean="0"/>
              <a:t> MOSFETs</a:t>
            </a:r>
          </a:p>
          <a:p>
            <a:pPr lvl="1"/>
            <a:r>
              <a:rPr lang="en-US" sz="2000" dirty="0" smtClean="0"/>
              <a:t>Higher temperature </a:t>
            </a:r>
          </a:p>
          <a:p>
            <a:pPr lvl="1"/>
            <a:r>
              <a:rPr lang="en-US" sz="2000" dirty="0" smtClean="0"/>
              <a:t>Better efficiency</a:t>
            </a:r>
          </a:p>
          <a:p>
            <a:pPr lvl="1"/>
            <a:r>
              <a:rPr lang="en-US" sz="2000" dirty="0" smtClean="0"/>
              <a:t>But, new kind of failure mechanism </a:t>
            </a:r>
          </a:p>
          <a:p>
            <a:pPr lvl="1"/>
            <a:r>
              <a:rPr lang="en-US" sz="2000" dirty="0" smtClean="0"/>
              <a:t>Should perform lifetime analysis, considering economic lifetime of the inverter</a:t>
            </a:r>
            <a:endParaRPr lang="en-US" sz="1800" dirty="0"/>
          </a:p>
          <a:p>
            <a:pPr marL="0" indent="0">
              <a:buNone/>
            </a:pPr>
            <a:endParaRPr lang="en-US" sz="2200" dirty="0" smtClean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endParaRPr lang="en-US" sz="2200" dirty="0" smtClean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805766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HemizeroD</a:t>
            </a:r>
            <a:r>
              <a:rPr lang="en-US" dirty="0" smtClean="0">
                <a:solidFill>
                  <a:srgbClr val="C00000"/>
                </a:solidFill>
              </a:rPr>
              <a:t>-Objectives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50" y="1825625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precisely </a:t>
            </a:r>
            <a:r>
              <a:rPr lang="en-US" sz="2000" dirty="0"/>
              <a:t>define the </a:t>
            </a:r>
            <a:r>
              <a:rPr lang="en-US" sz="2000" b="1" dirty="0"/>
              <a:t>specifications</a:t>
            </a:r>
            <a:r>
              <a:rPr lang="en-US" sz="2000" dirty="0"/>
              <a:t>, requirements and possibilities </a:t>
            </a:r>
            <a:r>
              <a:rPr lang="en-US" sz="2000" dirty="0" smtClean="0"/>
              <a:t>for </a:t>
            </a:r>
            <a:r>
              <a:rPr lang="en-US" sz="2000" dirty="0"/>
              <a:t>the design of BEHDV </a:t>
            </a:r>
            <a:r>
              <a:rPr lang="en-US" sz="2000" dirty="0" smtClean="0"/>
              <a:t>powertrains with </a:t>
            </a:r>
            <a:r>
              <a:rPr lang="en-US" sz="2000" dirty="0"/>
              <a:t>a nominal battery </a:t>
            </a:r>
            <a:r>
              <a:rPr lang="en-US" sz="2000" dirty="0" smtClean="0"/>
              <a:t>voltage </a:t>
            </a:r>
            <a:r>
              <a:rPr lang="en-US" sz="2000" dirty="0"/>
              <a:t>of 1250 V compatible with the new </a:t>
            </a:r>
            <a:r>
              <a:rPr lang="en-US" sz="2000" b="1" dirty="0"/>
              <a:t>MCS</a:t>
            </a:r>
            <a:r>
              <a:rPr lang="en-US" sz="2000" dirty="0"/>
              <a:t> charging </a:t>
            </a:r>
            <a:r>
              <a:rPr lang="en-US" sz="2000" dirty="0" smtClean="0"/>
              <a:t>standard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develop and build a power electronic converter </a:t>
            </a:r>
            <a:r>
              <a:rPr lang="en-US" sz="2000" b="1" dirty="0"/>
              <a:t>optimized</a:t>
            </a:r>
            <a:r>
              <a:rPr lang="en-US" sz="2000" dirty="0"/>
              <a:t> for 1250V with </a:t>
            </a:r>
            <a:r>
              <a:rPr lang="en-US" sz="2000" dirty="0" smtClean="0"/>
              <a:t>min </a:t>
            </a:r>
            <a:r>
              <a:rPr lang="en-US" sz="2000" b="1" dirty="0"/>
              <a:t>99.5% </a:t>
            </a:r>
            <a:r>
              <a:rPr lang="en-US" sz="2000" dirty="0"/>
              <a:t>efficiency in the</a:t>
            </a:r>
            <a:r>
              <a:rPr lang="en-US" sz="2000" b="1" dirty="0"/>
              <a:t> best point </a:t>
            </a:r>
            <a:r>
              <a:rPr lang="en-US" sz="2000" dirty="0"/>
              <a:t>and understand the </a:t>
            </a:r>
            <a:r>
              <a:rPr lang="en-US" sz="2000" dirty="0" smtClean="0"/>
              <a:t>challenges.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develop and build an electric machine optimized for 1250V with at least 98% efficiency </a:t>
            </a:r>
            <a:r>
              <a:rPr lang="en-US" sz="2000" dirty="0" smtClean="0"/>
              <a:t>in </a:t>
            </a:r>
            <a:r>
              <a:rPr lang="en-US" sz="2000" dirty="0"/>
              <a:t>best working point and understand the </a:t>
            </a:r>
            <a:r>
              <a:rPr lang="en-US" sz="2000" dirty="0" smtClean="0"/>
              <a:t>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investigate and understand </a:t>
            </a:r>
            <a:r>
              <a:rPr lang="en-US" sz="2000" b="1" dirty="0" smtClean="0"/>
              <a:t>aging phenomena </a:t>
            </a:r>
            <a:r>
              <a:rPr lang="en-US" sz="2000" dirty="0" smtClean="0"/>
              <a:t>on constituent components of converters and electric machine that occurs at an elevated voltage level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develop methods for </a:t>
            </a:r>
            <a:r>
              <a:rPr lang="en-US" sz="2000" b="1" dirty="0"/>
              <a:t>diagnostics and prognostics </a:t>
            </a:r>
            <a:r>
              <a:rPr lang="en-US" sz="2000" dirty="0"/>
              <a:t>with the aim of </a:t>
            </a:r>
            <a:r>
              <a:rPr lang="en-US" sz="2000" dirty="0" smtClean="0"/>
              <a:t>reducing </a:t>
            </a:r>
            <a:r>
              <a:rPr lang="sv-SE" sz="2000" dirty="0" err="1"/>
              <a:t>maintenance</a:t>
            </a:r>
            <a:r>
              <a:rPr lang="sv-SE" sz="2000" dirty="0"/>
              <a:t> </a:t>
            </a:r>
            <a:r>
              <a:rPr lang="sv-SE" sz="2000" dirty="0" err="1"/>
              <a:t>costs</a:t>
            </a:r>
            <a:r>
              <a:rPr lang="sv-SE" sz="2000" dirty="0" smtClean="0"/>
              <a:t>.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000" dirty="0" smtClean="0"/>
              <a:t>To </a:t>
            </a:r>
            <a:r>
              <a:rPr lang="en-US" sz="2000" dirty="0" smtClean="0"/>
              <a:t>achieve </a:t>
            </a:r>
            <a:r>
              <a:rPr lang="en-US" sz="2000" dirty="0"/>
              <a:t>a total efficiency in the drive system in the best operating point of 97.5%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57749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HemizeroD</a:t>
            </a:r>
            <a:r>
              <a:rPr lang="en-US" dirty="0" smtClean="0">
                <a:solidFill>
                  <a:srgbClr val="C00000"/>
                </a:solidFill>
              </a:rPr>
              <a:t>-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50" y="1546225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holistic life cycle cost optimization at the system </a:t>
            </a:r>
            <a:r>
              <a:rPr lang="en-US" sz="2000" dirty="0" smtClean="0"/>
              <a:t>level </a:t>
            </a:r>
            <a:r>
              <a:rPr lang="en-US" sz="2000" dirty="0"/>
              <a:t>provides the opportunity to achieve </a:t>
            </a:r>
            <a:r>
              <a:rPr lang="en-US" sz="2000" i="1" dirty="0"/>
              <a:t>cost reduction in balance with climate benefit that </a:t>
            </a:r>
            <a:r>
              <a:rPr lang="en-US" sz="2000" i="1" dirty="0" smtClean="0"/>
              <a:t>enables </a:t>
            </a:r>
            <a:r>
              <a:rPr lang="sv-SE" sz="2000" i="1" dirty="0" smtClean="0"/>
              <a:t>implementation.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Scania has, for example, launched </a:t>
            </a:r>
            <a:r>
              <a:rPr lang="en-US" sz="2000" dirty="0" smtClean="0"/>
              <a:t>the concept </a:t>
            </a:r>
            <a:r>
              <a:rPr lang="en-US" sz="2000" dirty="0"/>
              <a:t>of TOE (Total Operating Economy) to better understand how the vehicle system's costs </a:t>
            </a:r>
            <a:r>
              <a:rPr lang="en-US" sz="2000" dirty="0" smtClean="0"/>
              <a:t>and </a:t>
            </a:r>
            <a:r>
              <a:rPr lang="sv-SE" sz="2000" dirty="0" err="1" smtClean="0"/>
              <a:t>performance</a:t>
            </a:r>
            <a:r>
              <a:rPr lang="sv-SE" sz="2000" dirty="0" smtClean="0"/>
              <a:t> </a:t>
            </a:r>
            <a:r>
              <a:rPr lang="sv-SE" sz="2000" dirty="0" err="1"/>
              <a:t>affect</a:t>
            </a:r>
            <a:r>
              <a:rPr lang="sv-SE" sz="2000" dirty="0"/>
              <a:t> </a:t>
            </a:r>
            <a:r>
              <a:rPr lang="sv-SE" sz="2000" dirty="0" err="1"/>
              <a:t>hauliers</a:t>
            </a:r>
            <a:r>
              <a:rPr lang="sv-SE" sz="2000" dirty="0"/>
              <a:t>' </a:t>
            </a:r>
            <a:r>
              <a:rPr lang="sv-SE" sz="2000" dirty="0" err="1"/>
              <a:t>finances</a:t>
            </a:r>
            <a:r>
              <a:rPr lang="sv-SE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project will develop methods and software to be able to optimize the life cycle cost of </a:t>
            </a:r>
            <a:r>
              <a:rPr lang="en-US" sz="2000" dirty="0" smtClean="0"/>
              <a:t>drive systems </a:t>
            </a:r>
            <a:r>
              <a:rPr lang="en-US" sz="2000" dirty="0"/>
              <a:t>in electrified cargo vehicles. The optimization concerns design parameters as well </a:t>
            </a:r>
            <a:r>
              <a:rPr lang="en-US" sz="2000" dirty="0" smtClean="0"/>
              <a:t>as those </a:t>
            </a:r>
            <a:r>
              <a:rPr lang="en-US" sz="2000" dirty="0"/>
              <a:t>in the control software, such as e.g. the switching </a:t>
            </a:r>
            <a:r>
              <a:rPr lang="en-US" sz="2000" dirty="0" smtClean="0"/>
              <a:t>frequency.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dirty="0"/>
              <a:t>The </a:t>
            </a:r>
            <a:r>
              <a:rPr lang="sv-SE" sz="2000" dirty="0" err="1"/>
              <a:t>project</a:t>
            </a:r>
            <a:r>
              <a:rPr lang="sv-SE" sz="2000" dirty="0"/>
              <a:t> is </a:t>
            </a:r>
            <a:r>
              <a:rPr lang="sv-SE" sz="2000" dirty="0" smtClean="0"/>
              <a:t>coming </a:t>
            </a:r>
            <a:r>
              <a:rPr lang="en-US" sz="2000" dirty="0"/>
              <a:t>thus contributing to </a:t>
            </a:r>
            <a:r>
              <a:rPr lang="en-US" sz="2000" i="1" dirty="0"/>
              <a:t>hardware and software optimization and electrical architecture in vehicles and </a:t>
            </a:r>
            <a:r>
              <a:rPr lang="en-US" sz="2000" i="1" dirty="0" smtClean="0"/>
              <a:t>charging </a:t>
            </a:r>
            <a:r>
              <a:rPr lang="sv-SE" sz="2000" i="1" dirty="0" smtClean="0"/>
              <a:t>and </a:t>
            </a:r>
            <a:r>
              <a:rPr lang="sv-SE" sz="2000" i="1" dirty="0"/>
              <a:t>tank </a:t>
            </a:r>
            <a:r>
              <a:rPr lang="sv-SE" sz="2000" i="1" dirty="0" err="1"/>
              <a:t>infrastructure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This applies to the possibility of holistically optimizing drive systems across subsystem boundaries. </a:t>
            </a:r>
            <a:r>
              <a:rPr lang="en-US" sz="2000" dirty="0" smtClean="0"/>
              <a:t>The possibility </a:t>
            </a:r>
            <a:r>
              <a:rPr lang="en-US" sz="2000" dirty="0"/>
              <a:t>of using time simulations and FEM simulations as part of calculating constraint conditions </a:t>
            </a:r>
            <a:r>
              <a:rPr lang="en-US" sz="2000" dirty="0" smtClean="0"/>
              <a:t>and objective </a:t>
            </a:r>
            <a:r>
              <a:rPr lang="en-US" sz="2000" dirty="0"/>
              <a:t>function will be tested.</a:t>
            </a:r>
            <a:endParaRPr lang="en-US" sz="2000" dirty="0" smtClean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9414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0797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HemizeroD</a:t>
            </a:r>
            <a:r>
              <a:rPr lang="en-US" dirty="0" smtClean="0">
                <a:solidFill>
                  <a:srgbClr val="C00000"/>
                </a:solidFill>
              </a:rPr>
              <a:t>- State-of-Art </a:t>
            </a:r>
            <a:r>
              <a:rPr lang="en-US" sz="4000" dirty="0" smtClean="0">
                <a:solidFill>
                  <a:srgbClr val="C00000"/>
                </a:solidFill>
              </a:rPr>
              <a:t>T</a:t>
            </a:r>
            <a:r>
              <a:rPr lang="sv-SE" dirty="0" err="1" smtClean="0">
                <a:solidFill>
                  <a:srgbClr val="C00000"/>
                </a:solidFill>
              </a:rPr>
              <a:t>raction</a:t>
            </a:r>
            <a:r>
              <a:rPr lang="sv-SE" dirty="0" smtClean="0">
                <a:solidFill>
                  <a:srgbClr val="C00000"/>
                </a:solidFill>
              </a:rPr>
              <a:t> </a:t>
            </a:r>
            <a:r>
              <a:rPr lang="sv-SE" dirty="0" err="1" smtClean="0">
                <a:solidFill>
                  <a:srgbClr val="C00000"/>
                </a:solidFill>
              </a:rPr>
              <a:t>inverters</a:t>
            </a:r>
            <a:r>
              <a:rPr lang="sv-SE" dirty="0" smtClean="0">
                <a:solidFill>
                  <a:srgbClr val="C00000"/>
                </a:solidFill>
              </a:rPr>
              <a:t>:</a:t>
            </a:r>
            <a:r>
              <a:rPr lang="sv-SE" dirty="0" smtClean="0"/>
              <a:t>	</a:t>
            </a:r>
            <a:br>
              <a:rPr lang="sv-SE" dirty="0" smtClean="0"/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016000"/>
            <a:ext cx="10515600" cy="5095081"/>
          </a:xfrm>
        </p:spPr>
        <p:txBody>
          <a:bodyPr>
            <a:no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2L topology: 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Simple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Reliable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Not suitable for battery packs having a nominal voltage above 800V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Not suitable for MCS Standard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Multi-level modular topologies: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Reliable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Lower Cost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Fault tolerant</a:t>
            </a:r>
          </a:p>
          <a:p>
            <a:pPr lvl="2"/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3L topologies: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Better dv/</a:t>
            </a:r>
            <a:r>
              <a:rPr lang="en-US" dirty="0" err="1" smtClean="0"/>
              <a:t>dt</a:t>
            </a:r>
            <a:r>
              <a:rPr lang="en-US" dirty="0" smtClean="0"/>
              <a:t>,  affecting the motor winding insulations and stress on the bearings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Better efficiency for higher switching frequency</a:t>
            </a:r>
          </a:p>
          <a:p>
            <a:pPr lvl="2"/>
            <a:r>
              <a:rPr lang="en-US" dirty="0"/>
              <a:t>	</a:t>
            </a:r>
            <a:r>
              <a:rPr lang="en-US" dirty="0" smtClean="0"/>
              <a:t>Splitting the blocking voltage</a:t>
            </a:r>
            <a:endParaRPr lang="en-US" sz="2000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84342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0797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HemizeroD</a:t>
            </a:r>
            <a:r>
              <a:rPr lang="en-US" dirty="0" smtClean="0">
                <a:solidFill>
                  <a:srgbClr val="C00000"/>
                </a:solidFill>
              </a:rPr>
              <a:t>- State-of-Art </a:t>
            </a:r>
            <a:r>
              <a:rPr lang="en-US" sz="4000" dirty="0" smtClean="0">
                <a:solidFill>
                  <a:srgbClr val="C00000"/>
                </a:solidFill>
              </a:rPr>
              <a:t>Semiconductors</a:t>
            </a:r>
            <a:r>
              <a:rPr lang="sv-SE" dirty="0" smtClean="0">
                <a:solidFill>
                  <a:srgbClr val="C00000"/>
                </a:solidFill>
              </a:rPr>
              <a:t>:</a:t>
            </a:r>
            <a:r>
              <a:rPr lang="sv-SE" dirty="0" smtClean="0"/>
              <a:t>	</a:t>
            </a:r>
            <a:br>
              <a:rPr lang="sv-SE" dirty="0" smtClean="0"/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016000"/>
            <a:ext cx="10515600" cy="5095081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200" dirty="0" smtClean="0"/>
              <a:t>Efficiency, temperature, compactness, and cost</a:t>
            </a:r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Silicon carbide (</a:t>
            </a:r>
            <a:r>
              <a:rPr lang="en-US" sz="2200" dirty="0" err="1" smtClean="0"/>
              <a:t>SiC</a:t>
            </a:r>
            <a:r>
              <a:rPr lang="en-US" sz="2200" dirty="0" smtClean="0"/>
              <a:t>):</a:t>
            </a:r>
          </a:p>
          <a:p>
            <a:pPr lvl="2"/>
            <a:r>
              <a:rPr lang="en-US" dirty="0" smtClean="0"/>
              <a:t>Higher </a:t>
            </a:r>
            <a:r>
              <a:rPr lang="en-US" dirty="0"/>
              <a:t>temperature </a:t>
            </a:r>
          </a:p>
          <a:p>
            <a:pPr lvl="2"/>
            <a:r>
              <a:rPr lang="en-US" dirty="0"/>
              <a:t>Better </a:t>
            </a:r>
            <a:r>
              <a:rPr lang="en-US" dirty="0" smtClean="0"/>
              <a:t>efficiency</a:t>
            </a:r>
          </a:p>
          <a:p>
            <a:pPr lvl="2"/>
            <a:r>
              <a:rPr lang="en-US" dirty="0" smtClean="0"/>
              <a:t>High blocking voltage</a:t>
            </a:r>
            <a:endParaRPr lang="en-US" dirty="0"/>
          </a:p>
          <a:p>
            <a:pPr lvl="2"/>
            <a:r>
              <a:rPr lang="en-US" dirty="0"/>
              <a:t>But, new kind of failure </a:t>
            </a:r>
            <a:r>
              <a:rPr lang="en-US" dirty="0" smtClean="0"/>
              <a:t>mechanism</a:t>
            </a:r>
          </a:p>
          <a:p>
            <a:pPr lvl="2"/>
            <a:endParaRPr lang="en-US" dirty="0" smtClean="0"/>
          </a:p>
          <a:p>
            <a:pPr marL="457200" lvl="1" indent="0">
              <a:buNone/>
            </a:pPr>
            <a:r>
              <a:rPr lang="en-US" sz="2000" dirty="0" smtClean="0"/>
              <a:t>Gallium Nitride (</a:t>
            </a:r>
            <a:r>
              <a:rPr lang="en-US" sz="2000" dirty="0" err="1" smtClean="0"/>
              <a:t>GaN</a:t>
            </a:r>
            <a:r>
              <a:rPr lang="en-US" sz="2000" dirty="0" smtClean="0"/>
              <a:t>)</a:t>
            </a:r>
            <a:endParaRPr lang="en-US" sz="2200" dirty="0" smtClean="0"/>
          </a:p>
          <a:p>
            <a:pPr lvl="2"/>
            <a:r>
              <a:rPr lang="en-US" dirty="0" smtClean="0"/>
              <a:t>Better efficiency</a:t>
            </a:r>
          </a:p>
          <a:p>
            <a:pPr lvl="2"/>
            <a:r>
              <a:rPr lang="en-US" dirty="0" smtClean="0"/>
              <a:t>Lower blocking voltage</a:t>
            </a:r>
          </a:p>
          <a:p>
            <a:pPr lvl="2"/>
            <a:r>
              <a:rPr lang="en-US" dirty="0" smtClean="0"/>
              <a:t>Higher switching frequency</a:t>
            </a:r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870456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0797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HemizeroD</a:t>
            </a:r>
            <a:r>
              <a:rPr lang="en-US" dirty="0" smtClean="0">
                <a:solidFill>
                  <a:srgbClr val="C00000"/>
                </a:solidFill>
              </a:rPr>
              <a:t>- State-of-Art </a:t>
            </a:r>
            <a:r>
              <a:rPr lang="sv-SE" dirty="0" smtClean="0">
                <a:solidFill>
                  <a:srgbClr val="C00000"/>
                </a:solidFill>
              </a:rPr>
              <a:t>:</a:t>
            </a:r>
            <a:r>
              <a:rPr lang="sv-SE" dirty="0" smtClean="0"/>
              <a:t>	</a:t>
            </a:r>
            <a:br>
              <a:rPr lang="sv-SE" dirty="0" smtClean="0"/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016000"/>
            <a:ext cx="10515600" cy="5095081"/>
          </a:xfrm>
        </p:spPr>
        <p:txBody>
          <a:bodyPr>
            <a:noAutofit/>
          </a:bodyPr>
          <a:lstStyle/>
          <a:p>
            <a:r>
              <a:rPr lang="en-US" sz="2000" dirty="0"/>
              <a:t>Especially considering that the project aims at a </a:t>
            </a:r>
            <a:r>
              <a:rPr lang="en-US" sz="2000" b="1" dirty="0"/>
              <a:t>high voltage system</a:t>
            </a:r>
            <a:r>
              <a:rPr lang="en-US" sz="2000" dirty="0"/>
              <a:t>, modularity at </a:t>
            </a:r>
            <a:r>
              <a:rPr lang="en-US" sz="2000" dirty="0" smtClean="0"/>
              <a:t>the component</a:t>
            </a:r>
            <a:r>
              <a:rPr lang="en-US" sz="2000" dirty="0"/>
              <a:t>, phase, converter or motor level can be used to achieve </a:t>
            </a:r>
            <a:r>
              <a:rPr lang="en-US" sz="2000" b="1" dirty="0"/>
              <a:t>high efficiency</a:t>
            </a:r>
            <a:r>
              <a:rPr lang="en-US" sz="2000" dirty="0"/>
              <a:t>, </a:t>
            </a:r>
            <a:r>
              <a:rPr lang="en-US" sz="2000" b="1" dirty="0"/>
              <a:t>high </a:t>
            </a:r>
            <a:r>
              <a:rPr lang="en-US" sz="2000" b="1" dirty="0" smtClean="0"/>
              <a:t>compactness</a:t>
            </a:r>
            <a:r>
              <a:rPr lang="en-US" sz="2000" dirty="0" smtClean="0"/>
              <a:t>, </a:t>
            </a:r>
            <a:r>
              <a:rPr lang="en-US" sz="2000" b="1" dirty="0" smtClean="0"/>
              <a:t>low </a:t>
            </a:r>
            <a:r>
              <a:rPr lang="en-US" sz="2000" b="1" dirty="0"/>
              <a:t>cost </a:t>
            </a:r>
            <a:r>
              <a:rPr lang="en-US" sz="2000" dirty="0"/>
              <a:t>and </a:t>
            </a:r>
            <a:r>
              <a:rPr lang="en-US" sz="2000" b="1" dirty="0"/>
              <a:t>high reliability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/>
              <a:t>To achieve this, a </a:t>
            </a:r>
            <a:r>
              <a:rPr lang="en-US" sz="2000" b="1" dirty="0"/>
              <a:t>holistic optimization of the entire drive </a:t>
            </a:r>
            <a:r>
              <a:rPr lang="en-US" sz="2000" b="1" dirty="0" smtClean="0"/>
              <a:t>system </a:t>
            </a:r>
            <a:r>
              <a:rPr lang="en-US" sz="2000" dirty="0" smtClean="0"/>
              <a:t>including </a:t>
            </a:r>
            <a:r>
              <a:rPr lang="en-US" sz="2000" b="1" dirty="0"/>
              <a:t>motor, inverter, control, and individual components such as intermediate link capacitors </a:t>
            </a:r>
            <a:r>
              <a:rPr lang="en-US" sz="2000" dirty="0" smtClean="0"/>
              <a:t>is required</a:t>
            </a:r>
            <a:r>
              <a:rPr lang="en-US" sz="2000" dirty="0"/>
              <a:t>. In doing so, it is also important to consider methods for </a:t>
            </a:r>
            <a:r>
              <a:rPr lang="en-US" sz="2000" b="1" dirty="0"/>
              <a:t>cooling</a:t>
            </a:r>
            <a:r>
              <a:rPr lang="en-US" sz="2000" dirty="0"/>
              <a:t> the motor, inverter, </a:t>
            </a:r>
            <a:r>
              <a:rPr lang="en-US" sz="2000" dirty="0" smtClean="0"/>
              <a:t>and components </a:t>
            </a:r>
            <a:r>
              <a:rPr lang="en-US" sz="2000" dirty="0"/>
              <a:t>such as intermediate link capacitors</a:t>
            </a:r>
            <a:endParaRPr lang="en-US" sz="2000" dirty="0" smtClean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89249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0797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PowerizeD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sv-SE" dirty="0" smtClean="0">
                <a:solidFill>
                  <a:srgbClr val="C00000"/>
                </a:solidFill>
              </a:rPr>
              <a:t>:</a:t>
            </a:r>
            <a:r>
              <a:rPr lang="sv-SE" dirty="0" smtClean="0"/>
              <a:t>	</a:t>
            </a:r>
            <a:br>
              <a:rPr lang="sv-SE" dirty="0" smtClean="0"/>
            </a:b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016000"/>
            <a:ext cx="10515600" cy="59055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Page 513, Page 537, Page 542, Page 554, Page 639  </a:t>
            </a:r>
            <a:endParaRPr lang="en-US" sz="2000" dirty="0"/>
          </a:p>
          <a:p>
            <a:r>
              <a:rPr lang="en-US" sz="2000" dirty="0"/>
              <a:t>H</a:t>
            </a:r>
            <a:r>
              <a:rPr lang="en-US" sz="2000" dirty="0" smtClean="0"/>
              <a:t>olistic </a:t>
            </a:r>
            <a:r>
              <a:rPr lang="en-US" sz="2000" dirty="0"/>
              <a:t>approach, combining mission profiles, power modules and converter advanced models, and digital twins, to provide optimized traction systems in terms of efficiency, size and </a:t>
            </a:r>
            <a:r>
              <a:rPr lang="en-US" sz="2000" dirty="0" smtClean="0"/>
              <a:t>reliability. 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/>
              <a:t>A shift to </a:t>
            </a:r>
            <a:r>
              <a:rPr lang="en-US" sz="2000" dirty="0" err="1"/>
              <a:t>SiC</a:t>
            </a:r>
            <a:r>
              <a:rPr lang="en-US" sz="2000" dirty="0"/>
              <a:t> metal-oxide semiconductor field-effect transistors (MOSFETs) would enable significant loss reductions, particularly at part load operation, and enable higher switching frequencies, whereby smaller dc-link capacitors can be used. This could result in significant cost and size reductions along with efficiency improvements. 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Condition-monitoring-based </a:t>
            </a:r>
            <a:r>
              <a:rPr lang="en-US" sz="2000" dirty="0"/>
              <a:t>operation concept will prevent over-dimensioned design, unnecessary material use, replacement of components before end of life, reduced volume and weight, and reduced costs. The concept, however, comes with a challenge to develop lifetime models based of physics of failure and machine learning methods, using data from a multitude of vehicles operating daily and being connected to a cloud-based data collection </a:t>
            </a:r>
            <a:r>
              <a:rPr lang="en-US" sz="2000" dirty="0" err="1" smtClean="0"/>
              <a:t>centre</a:t>
            </a:r>
            <a:r>
              <a:rPr lang="en-US" sz="2000" dirty="0" smtClean="0"/>
              <a:t>. </a:t>
            </a:r>
            <a:endParaRPr lang="en-US" sz="2000" dirty="0"/>
          </a:p>
          <a:p>
            <a:pPr marL="457200" lvl="1" indent="0">
              <a:buNone/>
            </a:pPr>
            <a:endParaRPr lang="en-US" sz="22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5236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PowerizeD</a:t>
            </a:r>
            <a:r>
              <a:rPr lang="en-US" dirty="0" smtClean="0">
                <a:solidFill>
                  <a:srgbClr val="C00000"/>
                </a:solidFill>
              </a:rPr>
              <a:t>-Objectives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67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sv-SE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 accurately define the </a:t>
            </a:r>
            <a:r>
              <a:rPr lang="en-US" sz="2000" b="1" dirty="0"/>
              <a:t>specifications</a:t>
            </a:r>
            <a:r>
              <a:rPr lang="en-US" sz="2000" dirty="0"/>
              <a:t>, requirements, and opportunities for the design of BEHDV drivetrains with a 1250 V nominal battery voltage </a:t>
            </a:r>
            <a:r>
              <a:rPr lang="en-US" sz="2000" b="1" dirty="0"/>
              <a:t>compatible</a:t>
            </a:r>
            <a:r>
              <a:rPr lang="en-US" sz="2000" dirty="0"/>
              <a:t> with the new MCS charging standard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identify </a:t>
            </a:r>
            <a:r>
              <a:rPr lang="en-US" sz="2000" b="1" dirty="0"/>
              <a:t>suitable circuit topologies </a:t>
            </a:r>
            <a:r>
              <a:rPr lang="en-US" sz="2000" dirty="0"/>
              <a:t>and other basic design choices to meet the requirements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design (through </a:t>
            </a:r>
            <a:r>
              <a:rPr lang="en-US" sz="2000" b="1" dirty="0"/>
              <a:t>holistic design optimizatio</a:t>
            </a:r>
            <a:r>
              <a:rPr lang="en-US" sz="2000" dirty="0"/>
              <a:t>n) a competitive and highly efficient 1250 V </a:t>
            </a:r>
            <a:r>
              <a:rPr lang="en-US" sz="2000" dirty="0" err="1"/>
              <a:t>SiC</a:t>
            </a:r>
            <a:r>
              <a:rPr lang="en-US" sz="2000" dirty="0"/>
              <a:t>-based BEHDV traction inverter </a:t>
            </a:r>
            <a:r>
              <a:rPr lang="en-US" sz="2000" b="1" dirty="0"/>
              <a:t>for e-axle integration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design a </a:t>
            </a:r>
            <a:r>
              <a:rPr lang="en-US" sz="2000" b="1" dirty="0"/>
              <a:t>gate drive unit </a:t>
            </a:r>
            <a:r>
              <a:rPr lang="en-US" sz="2000" dirty="0"/>
              <a:t>with condition </a:t>
            </a:r>
            <a:r>
              <a:rPr lang="en-US" sz="2000" b="1" dirty="0"/>
              <a:t>monitoring</a:t>
            </a:r>
            <a:r>
              <a:rPr lang="en-US" sz="2000" dirty="0"/>
              <a:t> of the </a:t>
            </a:r>
            <a:r>
              <a:rPr lang="en-US" sz="2000" dirty="0" err="1"/>
              <a:t>SiC</a:t>
            </a:r>
            <a:r>
              <a:rPr lang="en-US" sz="2000" dirty="0"/>
              <a:t> MOSFETs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To verify the designed traction inverter design through realistic laboratory tests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 </a:t>
            </a:r>
            <a:r>
              <a:rPr lang="en-US" sz="2000" dirty="0"/>
              <a:t>drive </a:t>
            </a:r>
            <a:r>
              <a:rPr lang="en-US" sz="2000" b="1" dirty="0"/>
              <a:t>reliability</a:t>
            </a:r>
            <a:r>
              <a:rPr lang="en-US" sz="2000" dirty="0"/>
              <a:t> improvements, prediction of reliability, and investigate methods for condition monitoring in the entire drive </a:t>
            </a:r>
            <a:r>
              <a:rPr lang="en-US" sz="2000" dirty="0" smtClean="0"/>
              <a:t>system. </a:t>
            </a:r>
            <a:endParaRPr lang="en-US" sz="2000" dirty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193596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PowerizeD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675"/>
            <a:ext cx="10515600" cy="4351338"/>
          </a:xfrm>
        </p:spPr>
        <p:txBody>
          <a:bodyPr>
            <a:noAutofit/>
          </a:bodyPr>
          <a:lstStyle/>
          <a:p>
            <a:pPr lvl="1"/>
            <a:r>
              <a:rPr lang="sv-SE" sz="2000" dirty="0" smtClean="0"/>
              <a:t>A </a:t>
            </a:r>
            <a:r>
              <a:rPr lang="en-US" sz="2000" dirty="0" smtClean="0"/>
              <a:t>multi-physics </a:t>
            </a:r>
            <a:r>
              <a:rPr lang="en-US" sz="2000" dirty="0"/>
              <a:t>optimization of the traction inverter is performed such that the specified target function is minimized. </a:t>
            </a:r>
            <a:endParaRPr lang="en-US" sz="2000" dirty="0" smtClean="0"/>
          </a:p>
          <a:p>
            <a:pPr lvl="2"/>
            <a:r>
              <a:rPr lang="en-US" dirty="0"/>
              <a:t>Lifetime models of all critical components are developed through a combination of review of existing literature, analytical considerations, numerical simulations, and experiments. </a:t>
            </a:r>
            <a:endParaRPr lang="en-US" sz="1600" dirty="0" smtClean="0"/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Nominal power losses of the traction inverter of 0.6% (compared to state-of-the-art 1.0%)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Losses </a:t>
            </a:r>
            <a:r>
              <a:rPr lang="en-US" sz="2000" dirty="0"/>
              <a:t>over the VECTO long-haul drive cycle of 0.7% (compared to state-of-the-art 1.2%) </a:t>
            </a:r>
            <a:endParaRPr lang="sv-SE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Nominal </a:t>
            </a:r>
            <a:r>
              <a:rPr lang="en-US" sz="2000" dirty="0"/>
              <a:t>input voltage of the designed converters of 1250 V (state-of-the-art 800 V)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Power </a:t>
            </a:r>
            <a:r>
              <a:rPr lang="en-US" sz="2000" dirty="0"/>
              <a:t>density of the traction inverter </a:t>
            </a:r>
            <a:r>
              <a:rPr lang="en-US" sz="2000" b="1" dirty="0"/>
              <a:t>of 50 kW/l </a:t>
            </a:r>
            <a:r>
              <a:rPr lang="en-US" sz="2000" dirty="0"/>
              <a:t>(compared to state-of-the-art 30 kW/l) 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200" dirty="0" smtClean="0"/>
              <a:t>	</a:t>
            </a:r>
            <a:r>
              <a:rPr lang="en-US" sz="2200" dirty="0"/>
              <a:t>	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51238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Key Technologies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3487"/>
            <a:ext cx="10515600" cy="5240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1) power converter </a:t>
            </a:r>
            <a:r>
              <a:rPr lang="en-US" sz="2400" b="1" dirty="0" smtClean="0"/>
              <a:t>topology</a:t>
            </a:r>
            <a:r>
              <a:rPr lang="en-US" sz="2400" dirty="0" smtClean="0"/>
              <a:t>—The arrangement of the semiconductor devices and passive components;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2) power semiconductor </a:t>
            </a:r>
            <a:r>
              <a:rPr lang="en-US" sz="2400" b="1" dirty="0" smtClean="0"/>
              <a:t>material</a:t>
            </a:r>
            <a:r>
              <a:rPr lang="en-US" sz="2400" dirty="0" smtClean="0"/>
              <a:t> (commonly silicon or </a:t>
            </a:r>
            <a:r>
              <a:rPr lang="en-US" sz="2400" b="1" dirty="0" smtClean="0"/>
              <a:t>silicon carbide</a:t>
            </a:r>
            <a:r>
              <a:rPr lang="en-US" sz="2400" dirty="0" smtClean="0"/>
              <a:t>);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3) </a:t>
            </a:r>
            <a:r>
              <a:rPr lang="en-US" sz="2400" b="1" dirty="0" smtClean="0"/>
              <a:t>passive component </a:t>
            </a:r>
            <a:r>
              <a:rPr lang="en-US" sz="2400" dirty="0" smtClean="0"/>
              <a:t>requirements;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4) </a:t>
            </a:r>
            <a:r>
              <a:rPr lang="en-US" sz="2400" b="1" dirty="0" smtClean="0"/>
              <a:t>modulation and control techniques </a:t>
            </a:r>
            <a:r>
              <a:rPr lang="en-US" sz="2400" dirty="0" smtClean="0"/>
              <a:t>that are optimized for the application requirements;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5) </a:t>
            </a:r>
            <a:r>
              <a:rPr lang="en-US" sz="2400" b="1" dirty="0" smtClean="0"/>
              <a:t>packaging</a:t>
            </a:r>
            <a:r>
              <a:rPr lang="en-US" sz="2400" dirty="0" smtClean="0"/>
              <a:t>, housing, and </a:t>
            </a:r>
            <a:r>
              <a:rPr lang="en-US" sz="2400" b="1" dirty="0" smtClean="0"/>
              <a:t>integration</a:t>
            </a:r>
            <a:r>
              <a:rPr lang="en-US" sz="2400" dirty="0" smtClean="0"/>
              <a:t>, including </a:t>
            </a:r>
            <a:r>
              <a:rPr lang="en-US" sz="2400" b="1" dirty="0" smtClean="0"/>
              <a:t>thermal interfaces</a:t>
            </a:r>
            <a:r>
              <a:rPr lang="en-US" sz="2400" dirty="0" smtClean="0"/>
              <a:t> and </a:t>
            </a:r>
            <a:r>
              <a:rPr lang="en-US" sz="2400" b="1" dirty="0" smtClean="0"/>
              <a:t>EMI shielding.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8516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Parameters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0112"/>
            <a:ext cx="10515600" cy="5240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1) </a:t>
            </a:r>
            <a:r>
              <a:rPr lang="en-US" b="1" dirty="0" smtClean="0"/>
              <a:t>weight/volume </a:t>
            </a:r>
            <a:r>
              <a:rPr lang="en-US" dirty="0" smtClean="0"/>
              <a:t>implications at the system level;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2) </a:t>
            </a:r>
            <a:r>
              <a:rPr lang="en-US" b="1" dirty="0" smtClean="0"/>
              <a:t>thermal</a:t>
            </a:r>
            <a:r>
              <a:rPr lang="en-US" dirty="0" smtClean="0"/>
              <a:t> design and </a:t>
            </a:r>
            <a:r>
              <a:rPr lang="en-US" b="1" dirty="0" smtClean="0"/>
              <a:t>cooling</a:t>
            </a:r>
            <a:r>
              <a:rPr lang="en-US" dirty="0" smtClean="0"/>
              <a:t> requirements;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3) power converter </a:t>
            </a:r>
            <a:r>
              <a:rPr lang="en-US" b="1" dirty="0" smtClean="0"/>
              <a:t>efficiency</a:t>
            </a:r>
            <a:r>
              <a:rPr lang="en-US" dirty="0" smtClean="0"/>
              <a:t> and </a:t>
            </a:r>
            <a:r>
              <a:rPr lang="en-US" b="1" dirty="0" smtClean="0"/>
              <a:t>power quality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4) </a:t>
            </a:r>
            <a:r>
              <a:rPr lang="en-US" b="1" dirty="0" smtClean="0"/>
              <a:t>packing</a:t>
            </a:r>
            <a:r>
              <a:rPr lang="en-US" dirty="0" smtClean="0"/>
              <a:t>, </a:t>
            </a:r>
            <a:r>
              <a:rPr lang="en-US" b="1" dirty="0" smtClean="0"/>
              <a:t>reliability</a:t>
            </a:r>
            <a:r>
              <a:rPr lang="en-US" dirty="0" smtClean="0"/>
              <a:t>, and availability.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27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Common Topologies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58762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Two-level converter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Three-level T-type converter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Three-level neutral point clamped converter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587625"/>
              </a:xfrm>
              <a:blipFill>
                <a:blip r:embed="rId2"/>
                <a:stretch>
                  <a:fillRect l="-1217" t="-4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02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Comparison of 2LC and Corresponding 3L Competitors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1152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3LCs offer an increased efficiency at higher switching frequencies.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3LCs decrease the electromagnetic interference (EMI).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3LCs decreases the output harmonics, so output load losses.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However,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3LCs increases the complexity of both integration and control.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3LCs have higher initial costs.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47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11" y="31249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Trade-offs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0" y="1287391"/>
            <a:ext cx="5667854" cy="4234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Shifting toward lower switching frequency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+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Usage larger conductor diameters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+</a:t>
            </a:r>
            <a:endParaRPr lang="en-US" sz="2500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Paralleling switching device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= 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Higher efficiency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= </a:t>
            </a: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002060"/>
                </a:solidFill>
              </a:rPr>
              <a:t>But bulky system</a:t>
            </a:r>
            <a:endParaRPr lang="en-US" sz="2500" dirty="0">
              <a:solidFill>
                <a:srgbClr val="002060"/>
              </a:solidFill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5971011" y="1287391"/>
            <a:ext cx="5791200" cy="600420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Shifting toward higher switching frequency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7030A0"/>
                </a:solidFill>
              </a:rPr>
              <a:t>=</a:t>
            </a:r>
            <a:endParaRPr lang="en-US" sz="2500" dirty="0" smtClean="0">
              <a:solidFill>
                <a:srgbClr val="7030A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Fulfilling control performance</a:t>
            </a:r>
            <a:endParaRPr lang="en-US" sz="2500" dirty="0">
              <a:solidFill>
                <a:srgbClr val="7030A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+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Reducing acoustic noise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>
                <a:solidFill>
                  <a:srgbClr val="7030A0"/>
                </a:solidFill>
              </a:rPr>
              <a:t>+</a:t>
            </a:r>
            <a:r>
              <a:rPr lang="en-US" sz="2500" dirty="0" smtClean="0">
                <a:solidFill>
                  <a:srgbClr val="7030A0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Reducing the volume and weight</a:t>
            </a:r>
            <a:r>
              <a:rPr lang="en-US" sz="2500" dirty="0">
                <a:solidFill>
                  <a:srgbClr val="7030A0"/>
                </a:solidFill>
              </a:rPr>
              <a:t> </a:t>
            </a:r>
            <a:r>
              <a:rPr lang="en-US" sz="2500" dirty="0" smtClean="0">
                <a:solidFill>
                  <a:srgbClr val="7030A0"/>
                </a:solidFill>
              </a:rPr>
              <a:t>of passive components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+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High power density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sv-SE" sz="2500" dirty="0">
                <a:solidFill>
                  <a:srgbClr val="7030A0"/>
                </a:solidFill>
              </a:rPr>
              <a:t>+</a:t>
            </a:r>
            <a:endParaRPr lang="en-US" sz="2500" dirty="0" smtClean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2500" dirty="0" smtClean="0">
                <a:solidFill>
                  <a:srgbClr val="7030A0"/>
                </a:solidFill>
              </a:rPr>
              <a:t>But lower efficiency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500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92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5614" y="2375243"/>
            <a:ext cx="4127867" cy="194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62033" y="1794297"/>
            <a:ext cx="71776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Suitable for low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Simple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</a:t>
            </a:r>
            <a:r>
              <a:rPr lang="en-US" sz="2800" dirty="0" smtClean="0"/>
              <a:t>nexpensive</a:t>
            </a:r>
          </a:p>
          <a:p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Bad efficiency for higher switching frequency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overvoltage due to long cables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</a:t>
            </a:r>
            <a:r>
              <a:rPr lang="en-US" sz="2800" dirty="0"/>
              <a:t>m</a:t>
            </a:r>
            <a:r>
              <a:rPr lang="en-US" sz="2800" dirty="0" smtClean="0"/>
              <a:t>achine isolation stress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268199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 smtClean="0">
                    <a:solidFill>
                      <a:srgbClr val="C00000"/>
                    </a:solidFill>
                  </a:rPr>
                  <a:t> 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99000" y="1374924"/>
            <a:ext cx="71776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Medium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Reduced switching losses.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Split blocking voltage </a:t>
            </a:r>
          </a:p>
          <a:p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The conduction losses can increase for bipolar devices if two devices with half of the blocking voltage are connected in series compared to one device providing the full blocking voltage.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semiconductors (2 diodes and four MOSFETs per bridge leg)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isolated gate drive voltage supplies (6 addition ones per inverter 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2685797"/>
            <a:ext cx="3903775" cy="2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8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Switches having different voltage ratings. (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 or 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/2)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Reduced conduction and switching losses.  (</a:t>
                </a:r>
                <a:r>
                  <a:rPr lang="en-US" sz="2200" dirty="0" smtClean="0"/>
                  <a:t>It is better for medium switching frequency</a:t>
                </a:r>
                <a:r>
                  <a:rPr lang="en-US" sz="2200" dirty="0" smtClean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Combines the positive affect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sz="2200" dirty="0" smtClean="0"/>
                  <a:t> such as low conduction losses, and small part count, and a simple operation principle with advantages of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 smtClean="0"/>
                  <a:t> such as low switching losses and superior output voltage</a:t>
                </a:r>
                <a:r>
                  <a:rPr lang="en-US" sz="2200" dirty="0" smtClean="0"/>
                  <a:t>.</a:t>
                </a:r>
                <a:endParaRPr lang="en-US" sz="2200" dirty="0"/>
              </a:p>
              <a:p>
                <a:endParaRPr lang="en-US" sz="2200" dirty="0" smtClean="0"/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semiconductors (4 MOSFETs per bridge leg)</a:t>
                </a:r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isolated gate drive voltage supplies (3 addition ones per inverter) if midpoint is configured in common collector.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blipFill>
                <a:blip r:embed="rId3"/>
                <a:stretch>
                  <a:fillRect l="-1104" t="-1085" r="-934" b="-19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" y="2311976"/>
            <a:ext cx="4068252" cy="22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98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5043" y="49020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solidFill>
                      <a:srgbClr val="C00000"/>
                    </a:solidFill>
                  </a:rPr>
                  <a:t>Other Topologies, which will be considered afterward :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Alternatively,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 smtClean="0"/>
                  <a:t> can be implemented with series connected IGBTs replacing the single switches T1 and T4 if it is used for medium-voltage applications. There, the topology is also known as</a:t>
                </a:r>
                <a:r>
                  <a:rPr lang="en-US" b="1" dirty="0" smtClean="0"/>
                  <a:t> neutral-point-piloted converter or transistor clamped converter.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dirty="0" smtClean="0"/>
                  <a:t>Split </a:t>
                </a:r>
                <a:r>
                  <a:rPr lang="sv-SE" dirty="0" err="1" smtClean="0"/>
                  <a:t>inductor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converter</a:t>
                </a:r>
                <a:endParaRPr lang="sv-SE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b="1" dirty="0" smtClean="0"/>
                  <a:t>Active </a:t>
                </a:r>
                <a:r>
                  <a:rPr lang="sv-SE" b="1" dirty="0" err="1" smtClean="0"/>
                  <a:t>clamped</a:t>
                </a:r>
                <a:r>
                  <a:rPr lang="sv-SE" b="1" dirty="0" smtClean="0"/>
                  <a:t> </a:t>
                </a:r>
                <a:r>
                  <a:rPr lang="sv-SE" b="1" dirty="0" err="1" smtClean="0"/>
                  <a:t>three-level</a:t>
                </a:r>
                <a:r>
                  <a:rPr lang="sv-SE" b="1" dirty="0" smtClean="0"/>
                  <a:t> </a:t>
                </a:r>
                <a:r>
                  <a:rPr lang="sv-SE" b="1" dirty="0" err="1" smtClean="0"/>
                  <a:t>topologies</a:t>
                </a:r>
                <a:endParaRPr lang="sv-SE" b="1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sv-SE" dirty="0"/>
                  <a:t>T</a:t>
                </a:r>
                <a:r>
                  <a:rPr lang="sv-SE" dirty="0" smtClean="0"/>
                  <a:t>hree-</a:t>
                </a:r>
                <a:r>
                  <a:rPr lang="sv-SE" dirty="0" err="1" smtClean="0"/>
                  <a:t>level</a:t>
                </a:r>
                <a:r>
                  <a:rPr lang="sv-SE" dirty="0" smtClean="0"/>
                  <a:t> matrix </a:t>
                </a:r>
                <a:r>
                  <a:rPr lang="sv-SE" dirty="0" err="1" smtClean="0"/>
                  <a:t>converters</a:t>
                </a:r>
                <a:endParaRPr lang="sv-SE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T</a:t>
                </a:r>
                <a:r>
                  <a:rPr lang="en-US" b="1" dirty="0" smtClean="0"/>
                  <a:t>hree-level flying capacitor converter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𝑳𝑭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sv-SE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5043" y="490206"/>
                <a:ext cx="10515600" cy="4351338"/>
              </a:xfrm>
              <a:blipFill>
                <a:blip r:embed="rId2"/>
                <a:stretch>
                  <a:fillRect l="-1159" t="-224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93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Semiconductor Losses and Chip Area Optimization 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6915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Semiconductor losses:</a:t>
                </a:r>
              </a:p>
              <a:p>
                <a:pPr lvl="1"/>
                <a:r>
                  <a:rPr lang="en-US" u="sng" dirty="0" smtClean="0"/>
                  <a:t>Conduction losses</a:t>
                </a:r>
              </a:p>
              <a:p>
                <a:pPr lvl="1"/>
                <a:r>
                  <a:rPr lang="en-US" u="sng" dirty="0" smtClean="0"/>
                  <a:t>Switching losses</a:t>
                </a:r>
              </a:p>
              <a:p>
                <a:pPr lvl="1"/>
                <a:r>
                  <a:rPr lang="en-US" strike="sngStrike" dirty="0" smtClean="0"/>
                  <a:t>Driving losses</a:t>
                </a:r>
              </a:p>
              <a:p>
                <a:pPr lvl="1"/>
                <a:r>
                  <a:rPr lang="en-US" strike="sngStrike" dirty="0" smtClean="0"/>
                  <a:t>Leakage Losses</a:t>
                </a:r>
              </a:p>
              <a:p>
                <a:pPr marL="457200" lvl="1" indent="0">
                  <a:buNone/>
                </a:pPr>
                <a:endParaRPr lang="en-US" strike="sngStrike" dirty="0"/>
              </a:p>
              <a:p>
                <a:pPr marL="0" indent="0">
                  <a:buNone/>
                </a:pPr>
                <a:r>
                  <a:rPr lang="en-US" dirty="0" smtClean="0"/>
                  <a:t>The chip areas of the semiconductors should be scaled to optimize efficiency and inverter.</a:t>
                </a:r>
              </a:p>
              <a:p>
                <a:pPr marL="0" indent="0">
                  <a:buNone/>
                </a:pPr>
                <a:r>
                  <a:rPr lang="en-US" dirty="0" smtClean="0"/>
                  <a:t>The semiconductor losses and the maximum heat dissipation depend on the chip area and the number of parallel dies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𝑑𝑖𝑒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691554"/>
              </a:xfrm>
              <a:blipFill>
                <a:blip r:embed="rId2"/>
                <a:stretch>
                  <a:fillRect l="-1217" t="-2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259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5636"/>
                <a:ext cx="10515600" cy="5761327"/>
              </a:xfrm>
            </p:spPr>
            <p:txBody>
              <a:bodyPr/>
              <a:lstStyle/>
              <a:p>
                <a:r>
                  <a:rPr lang="en-US" dirty="0" smtClean="0"/>
                  <a:t>The ON-resistance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en-US" dirty="0" smtClean="0"/>
                  <a:t> with the area specific ON-resistance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𝑑𝑠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en-US" dirty="0" smtClean="0"/>
                  <a:t> is responsible for the conduction losses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decreases with increasing chip area.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sv-SE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sv-SE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r>
                  <a:rPr lang="en-US" dirty="0" smtClean="0"/>
                  <a:t>Regarding the switching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𝑠𝑤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 smtClean="0"/>
                  <a:t>, the total current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is reduced per die with a growing number of dies and chip areas. </a:t>
                </a:r>
                <a:r>
                  <a:rPr lang="en-US" dirty="0"/>
                  <a:t>T</a:t>
                </a:r>
                <a:r>
                  <a:rPr lang="en-US" dirty="0" smtClean="0"/>
                  <a:t>he switching energy occurs in each die and grows with increasing chip areas.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𝑠𝑤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𝑑𝑖𝑒</m:t>
                        </m:r>
                      </m:sub>
                    </m:sSub>
                    <m:f>
                      <m:f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𝑑𝑖𝑒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𝑑𝑖𝑒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sv-SE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v-SE" b="0" i="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v-SE" b="0" i="1" dirty="0" smtClean="0">
                                <a:latin typeface="Cambria Math" panose="02040503050406030204" pitchFamily="18" charset="0"/>
                              </a:rPr>
                              <m:t>𝑑𝑖𝑒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sv-SE" dirty="0" smtClean="0"/>
                  <a:t>)</a:t>
                </a:r>
              </a:p>
              <a:p>
                <a:pPr marL="0" indent="0" algn="ctr">
                  <a:buNone/>
                </a:pPr>
                <a:endParaRPr lang="sv-SE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5636"/>
                <a:ext cx="10515600" cy="5761327"/>
              </a:xfrm>
              <a:blipFill>
                <a:blip r:embed="rId2"/>
                <a:stretch>
                  <a:fillRect l="-1043" t="-158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91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5636"/>
                <a:ext cx="10515600" cy="5761327"/>
              </a:xfrm>
            </p:spPr>
            <p:txBody>
              <a:bodyPr/>
              <a:lstStyle/>
              <a:p>
                <a:r>
                  <a:rPr lang="en-US" dirty="0" smtClean="0"/>
                  <a:t>The maximum heat dissipation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𝑑𝑖𝑠𝑠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 smtClean="0"/>
                  <a:t> is defined by the maximum junction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 smtClean="0"/>
                  <a:t>, the cooling fluid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𝑓𝑙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 smtClean="0"/>
                  <a:t>and the thermal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𝑑𝑖𝑒</m:t>
                        </m:r>
                      </m:sub>
                    </m:sSub>
                  </m:oMath>
                </a14:m>
                <a:r>
                  <a:rPr lang="en-US" dirty="0" smtClean="0"/>
                  <a:t> from the junction to the cooling fluid per die.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𝑑𝑖𝑠𝑠</m:t>
                          </m:r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𝑑𝑖𝑒</m:t>
                          </m:r>
                        </m:sub>
                      </m:sSub>
                      <m:f>
                        <m:fPr>
                          <m:ctrlPr>
                            <a:rPr lang="sv-SE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dirty="0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v-SE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dirty="0" smtClean="0"/>
                  <a:t>he thermal resistance is decreasing with increasing chip areas leading to a growth in the total maximum heat dissipation.</a:t>
                </a:r>
                <a:endParaRPr lang="sv-SE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5636"/>
                <a:ext cx="10515600" cy="5761327"/>
              </a:xfrm>
              <a:blipFill>
                <a:blip r:embed="rId2"/>
                <a:stretch>
                  <a:fillRect l="-1217" t="-1587" r="-2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065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22" y="414597"/>
            <a:ext cx="6591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29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88" y="481325"/>
            <a:ext cx="4316412" cy="6016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762" y="291150"/>
            <a:ext cx="3349853" cy="60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13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[1] Comparative Evaluation of Advanced Three-Phase Three-Level Inverter/Converter Topologies Against Two-Level Systems</a:t>
            </a:r>
            <a:endParaRPr lang="en-US" dirty="0"/>
          </a:p>
          <a:p>
            <a:r>
              <a:rPr lang="en-US" dirty="0" smtClean="0"/>
              <a:t>[2] Potentials and Comparison of Inverter Topologies for Future All-Electric Aircraft Propulsion</a:t>
            </a:r>
            <a:endParaRPr lang="en-US" dirty="0"/>
          </a:p>
          <a:p>
            <a:r>
              <a:rPr lang="sv-SE" dirty="0" smtClean="0"/>
              <a:t>[3] Electric/Hybrid-Electric Aircraft </a:t>
            </a:r>
            <a:r>
              <a:rPr lang="sv-SE" dirty="0" err="1" smtClean="0"/>
              <a:t>Propulsion</a:t>
            </a:r>
            <a:r>
              <a:rPr lang="sv-SE" dirty="0" smtClean="0"/>
              <a:t> Systems</a:t>
            </a:r>
          </a:p>
          <a:p>
            <a:r>
              <a:rPr lang="en-US" dirty="0" smtClean="0"/>
              <a:t>[4] Multi-objective optimization design of electric vehicle converters based on ε-γ-σ</a:t>
            </a:r>
          </a:p>
          <a:p>
            <a:r>
              <a:rPr lang="en-US" dirty="0" smtClean="0"/>
              <a:t>[5] Comparative Life Cycle Cost Analysis of Si and </a:t>
            </a:r>
            <a:r>
              <a:rPr lang="en-US" dirty="0" err="1" smtClean="0"/>
              <a:t>SiC</a:t>
            </a:r>
            <a:r>
              <a:rPr lang="en-US" dirty="0" smtClean="0"/>
              <a:t> PV Converter Systems Based on Advanced η-ρ-σ </a:t>
            </a:r>
            <a:r>
              <a:rPr lang="en-US" dirty="0" err="1" smtClean="0"/>
              <a:t>Multiobjective</a:t>
            </a:r>
            <a:r>
              <a:rPr lang="en-US" dirty="0" smtClean="0"/>
              <a:t> Optimization Techniques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980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7257</TotalTime>
  <Words>2024</Words>
  <Application>Microsoft Office PowerPoint</Application>
  <PresentationFormat>Widescreen</PresentationFormat>
  <Paragraphs>221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Topology Selection of 3ϕ Traction Motor Drives</vt:lpstr>
      <vt:lpstr>PowerPoint Presentation</vt:lpstr>
      <vt:lpstr>HemizeroD-Objectives</vt:lpstr>
      <vt:lpstr>HemizeroD-</vt:lpstr>
      <vt:lpstr>HemizeroD- State-of-Art Traction inverters:  </vt:lpstr>
      <vt:lpstr>HemizeroD- State-of-Art Semiconductors:  </vt:lpstr>
      <vt:lpstr>HemizeroD- State-of-Art :  </vt:lpstr>
      <vt:lpstr>PowerizeD :  </vt:lpstr>
      <vt:lpstr>PowerizeD-Objectives</vt:lpstr>
      <vt:lpstr>PowerizeD</vt:lpstr>
      <vt:lpstr>Key Technologies</vt:lpstr>
      <vt:lpstr>Parameters</vt:lpstr>
      <vt:lpstr>Common Topologies</vt:lpstr>
      <vt:lpstr>Comparison of 2LC and Corresponding 3L Competitors</vt:lpstr>
      <vt:lpstr>Trade-offs</vt:lpstr>
      <vt:lpstr>2LC</vt:lpstr>
      <vt:lpstr>3LNPC^2 </vt:lpstr>
      <vt:lpstr>3LT^2 C</vt:lpstr>
      <vt:lpstr>PowerPoint Presentation</vt:lpstr>
      <vt:lpstr>Semiconductor Losses and Chip Area Optimization 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47</cp:revision>
  <dcterms:created xsi:type="dcterms:W3CDTF">2023-05-19T13:17:21Z</dcterms:created>
  <dcterms:modified xsi:type="dcterms:W3CDTF">2023-05-24T14:14:46Z</dcterms:modified>
</cp:coreProperties>
</file>