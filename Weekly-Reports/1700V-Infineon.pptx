
<file path=[Content_Types].xml><?xml version="1.0" encoding="utf-8"?>
<Types xmlns="http://schemas.openxmlformats.org/package/2006/content-types">
  <Default Extension="png" ContentType="image/png"/>
  <Default Extension="svg" ContentType="image/svg+xml"/>
  <Default Extension="emf" ContentType="image/x-emf"/>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0"/>
  </p:notesMasterIdLst>
  <p:sldIdLst>
    <p:sldId id="256" r:id="rId2"/>
    <p:sldId id="261" r:id="rId3"/>
    <p:sldId id="273" r:id="rId4"/>
    <p:sldId id="272" r:id="rId5"/>
    <p:sldId id="288" r:id="rId6"/>
    <p:sldId id="275" r:id="rId7"/>
    <p:sldId id="289" r:id="rId8"/>
    <p:sldId id="290" r:id="rId9"/>
  </p:sldIdLst>
  <p:sldSz cx="12192000" cy="6858000"/>
  <p:notesSz cx="6858000" cy="9144000"/>
  <p:embeddedFontLst>
    <p:embeddedFont>
      <p:font typeface="Cambria Math" panose="02040503050406030204" pitchFamily="18" charset="0"/>
      <p:regular r:id="rId11"/>
    </p:embeddedFont>
    <p:embeddedFont>
      <p:font typeface="Figtree" panose="020B0604020202020204" charset="0"/>
      <p:regular r:id="rId12"/>
      <p:bold r:id="rId13"/>
      <p:italic r:id="rId14"/>
      <p:boldItalic r:id="rId15"/>
    </p:embeddedFont>
    <p:embeddedFont>
      <p:font typeface="Calibri" panose="020F0502020204030204" pitchFamily="34" charset="0"/>
      <p:regular r:id="rId16"/>
      <p:bold r:id="rId17"/>
      <p:italic r:id="rId18"/>
      <p:boldItalic r:id="rId19"/>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13" autoAdjust="0"/>
    <p:restoredTop sz="96327"/>
  </p:normalViewPr>
  <p:slideViewPr>
    <p:cSldViewPr snapToGrid="0">
      <p:cViewPr varScale="1">
        <p:scale>
          <a:sx n="155" d="100"/>
          <a:sy n="155" d="100"/>
        </p:scale>
        <p:origin x="156" y="2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23" Type="http://schemas.openxmlformats.org/officeDocument/2006/relationships/tableStyles" Target="tableStyles.xml"/><Relationship Id="rId10" Type="http://schemas.openxmlformats.org/officeDocument/2006/relationships/notesMaster" Target="notesMasters/notesMaster1.xml"/><Relationship Id="rId19"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2024-10-25</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2.sv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10.svg"/><Relationship Id="rId4" Type="http://schemas.openxmlformats.org/officeDocument/2006/relationships/image" Target="../media/image5.pn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369C0258-E083-684F-B81E-2491FB4EFBD1}" type="datetime1">
              <a:rPr lang="sv-SE" smtClean="0"/>
              <a:t>2024-10-25</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D7F93862-881E-DF46-AD81-FDB1501BAD48}" type="datetime1">
              <a:rPr lang="sv-SE" smtClean="0"/>
              <a:t>2024-10-25</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xmlns=""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1A0D637-CC39-0F47-97F1-76AAE59A5700}" type="datetime1">
              <a:rPr lang="sv-SE" smtClean="0"/>
              <a:t>2024-10-25</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FC84D86F-77A2-B649-9DAB-4D28280CD96F}" type="datetime1">
              <a:rPr lang="sv-SE" smtClean="0"/>
              <a:t>2024-10-25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75DBF22-A5DA-3B43-92C3-F6BCD51A4216}" type="datetime1">
              <a:rPr lang="sv-SE" smtClean="0"/>
              <a:t>2024-10-25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0F5ACA-7455-4642-BFE0-35A3360E2D3F}" type="datetime1">
              <a:rPr lang="sv-SE" smtClean="0"/>
              <a:t>2024-10-25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7029E1-9B44-DE43-98B9-EBAFD8B9E3F1}" type="datetime1">
              <a:rPr lang="sv-SE" smtClean="0"/>
              <a:t>2024-10-25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r:embed="rId4">
            <a:extLst>
              <a:ext uri="{96DAC541-7B7A-43D3-8B79-37D633B846F1}">
                <asvg:svgBlip xmlns:asvg="http://schemas.microsoft.com/office/drawing/2016/SVG/main" xmlns="" r:embed="rId5"/>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EECCBBAF-5C49-D145-9814-61A8103632A9}" type="datetime1">
              <a:rPr lang="sv-SE" smtClean="0"/>
              <a:t>2024-10-25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823D8581-A4D9-BE4A-AEA5-9282CF05EB42}" type="datetime1">
              <a:rPr lang="sv-SE" smtClean="0"/>
              <a:t>2024-10-25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8C894E9-0885-714C-A367-BDC2DC59BB91}" type="datetime1">
              <a:rPr lang="sv-SE" smtClean="0"/>
              <a:t>2024-10-25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E926FF3D-704F-D246-9E92-4739AF4BF32C}" type="datetime1">
              <a:rPr lang="sv-SE" smtClean="0"/>
              <a:t>2024-10-25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2024-10-25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E2AD36EE-D7EC-624A-BB6C-F8DADCB0E6B6}" type="datetime1">
              <a:rPr lang="sv-SE" smtClean="0"/>
              <a:t>2024-10-25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CEEB1428-F34F-9743-B7C9-0212F6B23615}" type="datetime1">
              <a:rPr lang="sv-SE" smtClean="0"/>
              <a:t>2024-10-25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117AD585-73D1-4C4C-9D7C-030D27625895}" type="datetime1">
              <a:rPr lang="sv-SE" smtClean="0"/>
              <a:t>2024-10-25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07E8514D-D455-9E46-BC18-4265F6A85EC5}" type="datetime1">
              <a:rPr lang="sv-SE" smtClean="0"/>
              <a:t>2024-10-25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A67A58AE-A0B6-FF4E-B30B-64917FEAC316}" type="datetime1">
              <a:rPr lang="sv-SE" smtClean="0"/>
              <a:t>2024-10-25</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3626A2DA-BD88-784C-A132-57FFB928491A}" type="datetime1">
              <a:rPr lang="sv-SE" smtClean="0"/>
              <a:t>2024-10-25</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AC15C714-122B-4048-9D2D-1F5A3BEA504A}" type="datetime1">
              <a:rPr lang="sv-SE" smtClean="0"/>
              <a:t>2024-10-25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EE5E874D-60F8-8B45-B36B-3029A6FA7FCB}" type="datetime1">
              <a:rPr lang="sv-SE" smtClean="0"/>
              <a:t>2024-10-25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FE3A002-8AA0-194E-81B1-1ADE5B52840E}" type="datetime1">
              <a:rPr lang="sv-SE" smtClean="0"/>
              <a:t>2024-10-25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003E109-5503-A446-83DE-4F0349794E27}" type="datetime1">
              <a:rPr lang="sv-SE" smtClean="0"/>
              <a:t>2024-10-25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1F9706F9-3770-3C47-9C0E-E405B1F87DBD}" type="datetime1">
              <a:rPr lang="sv-SE" smtClean="0"/>
              <a:t>2024-10-25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E503FC7-D8F6-4243-8CCB-9A739180F56A}" type="datetime1">
              <a:rPr lang="sv-SE" smtClean="0"/>
              <a:t>2024-10-25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719EDF7-C24A-7E4C-9EBB-98C778ECC35A}" type="datetime1">
              <a:rPr lang="sv-SE" smtClean="0"/>
              <a:t>2024-10-25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DB96772-CADE-B345-804B-3DF93A11AE0A}" type="datetime1">
              <a:rPr lang="sv-SE" smtClean="0"/>
              <a:t>2024-10-25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69F8B43-28B6-0949-93DC-6B291391CFD4}" type="datetime1">
              <a:rPr lang="sv-SE" smtClean="0"/>
              <a:t>2024-10-25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450A6BD-1EFB-BD42-9DC0-F0A6BEB4C27D}" type="datetime1">
              <a:rPr lang="sv-SE" smtClean="0"/>
              <a:t>2024-10-25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ADBDFCF2-2839-8D4F-B5E5-9B488CE2E4EE}" type="datetime1">
              <a:rPr lang="sv-SE" smtClean="0"/>
              <a:t>2024-10-25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7A9746E-62D8-944D-99B0-D98695592DCF}" type="datetime1">
              <a:rPr lang="sv-SE" smtClean="0"/>
              <a:t>2024-10-25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C42A3C6-0141-7544-8502-44E44E5AD51F}" type="datetime1">
              <a:rPr lang="sv-SE" smtClean="0"/>
              <a:t>2024-10-25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5A8E03F6-2D99-9C4F-8DF5-D169CFDD1A0C}" type="datetime1">
              <a:rPr lang="sv-SE" smtClean="0"/>
              <a:t>2024-10-25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8AF63115-71BE-3E46-BB5A-A4600F1506C7}" type="datetime1">
              <a:rPr lang="sv-SE" smtClean="0"/>
              <a:t>2024-10-25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09FED66-59CE-6445-BA05-B37954B8CE47}" type="datetime1">
              <a:rPr lang="sv-SE" smtClean="0"/>
              <a:t>2024-10-25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C332B6B-9A86-944B-B689-8453757791DF}" type="datetime1">
              <a:rPr lang="sv-SE" smtClean="0"/>
              <a:t>2024-10-25</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957E16A-1246-F744-BDA8-D5896FB385F8}" type="datetime1">
              <a:rPr lang="sv-SE" smtClean="0"/>
              <a:t>2024-10-25</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8888E78-A3E8-2E47-A37C-B0DACC4AC38C}" type="datetime1">
              <a:rPr lang="sv-SE" smtClean="0"/>
              <a:t>2024-10-25</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1801B8-2ABD-E645-B0F3-2F4D3FFFF5AE}" type="datetime1">
              <a:rPr lang="sv-SE" smtClean="0"/>
              <a:t>2024-10-25</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64FA935-6078-184F-946C-D8B2130A7BC4}" type="datetime1">
              <a:rPr lang="sv-SE" smtClean="0"/>
              <a:t>2024-10-25</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878DDE6C-6786-8C48-9317-AF0776715ACF}" type="datetime1">
              <a:rPr lang="sv-SE" smtClean="0"/>
              <a:t>2024-10-25</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2024-10-25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2024-10-25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A3328FD-6257-AC43-9CE4-2903A4D2BB9D}" type="datetime1">
              <a:rPr lang="sv-SE" smtClean="0"/>
              <a:t>2024-10-25</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2BABC24-2A82-014C-9256-A51302708EE4}" type="datetime1">
              <a:rPr lang="sv-SE" smtClean="0"/>
              <a:t>2024-10-25</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77AA192B-9140-F746-B429-ACF197DC5439}" type="datetime1">
              <a:rPr lang="sv-SE" smtClean="0"/>
              <a:t>2024-10-25</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120FD48D-1F42-B341-AF85-AE480DB64991}" type="datetime1">
              <a:rPr lang="sv-SE" smtClean="0"/>
              <a:t>2024-10-25</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45830D3C-297D-AF4B-BF84-42155CB091D6}" type="datetime1">
              <a:rPr lang="sv-SE" smtClean="0"/>
              <a:t>2024-10-25</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2.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888E4D63-BE2C-4D4B-BBD2-256262659A9F}" type="datetime1">
              <a:rPr lang="sv-SE" smtClean="0"/>
              <a:t>2024-10-25</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r:embed="rId49" cstate="print">
            <a:extLst>
              <a:ext uri="{28A0092B-C50C-407E-A947-70E740481C1C}">
                <a14:useLocalDpi xmlns:a14="http://schemas.microsoft.com/office/drawing/2010/main"/>
              </a:ext>
              <a:ext uri="{96DAC541-7B7A-43D3-8B79-37D633B846F1}">
                <asvg:svgBlip xmlns:asvg="http://schemas.microsoft.com/office/drawing/2016/SVG/main" xmlns="" r:embed="rId50"/>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timing>
    <p:tnLst>
      <p:par>
        <p:cTn id="1" dur="indefinite" restart="never" nodeType="tmRoot"/>
      </p:par>
    </p:tnLst>
  </p:timing>
  <p:hf sldNum="0"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2.xml"/><Relationship Id="rId5" Type="http://schemas.openxmlformats.org/officeDocument/2006/relationships/image" Target="../media/image24.png"/><Relationship Id="rId4" Type="http://schemas.openxmlformats.org/officeDocument/2006/relationships/image" Target="../media/image23.png"/></Relationships>
</file>

<file path=ppt/slides/_rels/slide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2.xml"/><Relationship Id="rId5" Type="http://schemas.openxmlformats.org/officeDocument/2006/relationships/image" Target="../media/image30.png"/><Relationship Id="rId4" Type="http://schemas.openxmlformats.org/officeDocument/2006/relationships/image" Target="../media/image29.png"/></Relationships>
</file>

<file path=ppt/slides/_rels/slide5.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31.emf"/><Relationship Id="rId1" Type="http://schemas.openxmlformats.org/officeDocument/2006/relationships/slideLayout" Target="../slideLayouts/slideLayout12.xml"/><Relationship Id="rId4" Type="http://schemas.openxmlformats.org/officeDocument/2006/relationships/image" Target="../media/image33.emf"/></Relationships>
</file>

<file path=ppt/slides/_rels/slide6.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4.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35.emf"/><Relationship Id="rId7" Type="http://schemas.openxmlformats.org/officeDocument/2006/relationships/image" Target="../media/image40.png"/><Relationship Id="rId2" Type="http://schemas.openxmlformats.org/officeDocument/2006/relationships/image" Target="../media/image31.emf"/><Relationship Id="rId1" Type="http://schemas.openxmlformats.org/officeDocument/2006/relationships/slideLayout" Target="../slideLayouts/slideLayout1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6.emf"/></Relationships>
</file>

<file path=ppt/slides/_rels/slide8.xml.rels><?xml version="1.0" encoding="UTF-8" standalone="yes"?>
<Relationships xmlns="http://schemas.openxmlformats.org/package/2006/relationships"><Relationship Id="rId3" Type="http://schemas.openxmlformats.org/officeDocument/2006/relationships/image" Target="../media/image37.emf"/><Relationship Id="rId7" Type="http://schemas.openxmlformats.org/officeDocument/2006/relationships/image" Target="../media/image46.png"/><Relationship Id="rId2" Type="http://schemas.openxmlformats.org/officeDocument/2006/relationships/image" Target="../media/image41.png"/><Relationship Id="rId1" Type="http://schemas.openxmlformats.org/officeDocument/2006/relationships/slideLayout" Target="../slideLayouts/slideLayout12.xml"/><Relationship Id="rId6" Type="http://schemas.openxmlformats.org/officeDocument/2006/relationships/image" Target="../media/image45.png"/><Relationship Id="rId5" Type="http://schemas.openxmlformats.org/officeDocument/2006/relationships/image" Target="../media/image39.emf"/><Relationship Id="rId4" Type="http://schemas.openxmlformats.org/officeDocument/2006/relationships/image" Target="../media/image38.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ubrik 3">
            <a:extLst>
              <a:ext uri="{FF2B5EF4-FFF2-40B4-BE49-F238E27FC236}">
                <a16:creationId xmlns:a16="http://schemas.microsoft.com/office/drawing/2014/main" id="{35B07F06-6EA7-7E2D-1EF1-26B024DA7650}"/>
              </a:ext>
            </a:extLst>
          </p:cNvPr>
          <p:cNvSpPr>
            <a:spLocks noGrp="1"/>
          </p:cNvSpPr>
          <p:nvPr>
            <p:ph type="ctrTitle"/>
          </p:nvPr>
        </p:nvSpPr>
        <p:spPr/>
        <p:txBody>
          <a:bodyPr/>
          <a:lstStyle/>
          <a:p>
            <a:r>
              <a:rPr lang="en-US" dirty="0" smtClean="0"/>
              <a:t>2-Level </a:t>
            </a:r>
            <a:r>
              <a:rPr lang="en-US" dirty="0" smtClean="0"/>
              <a:t>Inverter Loss Analysis: 1700 V </a:t>
            </a:r>
            <a:r>
              <a:rPr lang="en-US" dirty="0" err="1" smtClean="0"/>
              <a:t>SiC</a:t>
            </a:r>
            <a:r>
              <a:rPr lang="en-US" dirty="0" smtClean="0"/>
              <a:t> Module</a:t>
            </a:r>
            <a:endParaRPr lang="sv-SE" dirty="0"/>
          </a:p>
        </p:txBody>
      </p:sp>
      <p:sp>
        <p:nvSpPr>
          <p:cNvPr id="5" name="Underrubrik 4">
            <a:extLst>
              <a:ext uri="{FF2B5EF4-FFF2-40B4-BE49-F238E27FC236}">
                <a16:creationId xmlns:a16="http://schemas.microsoft.com/office/drawing/2014/main" id="{92A29924-00C9-C549-25FA-02CDD1D96ADA}"/>
              </a:ext>
            </a:extLst>
          </p:cNvPr>
          <p:cNvSpPr>
            <a:spLocks noGrp="1"/>
          </p:cNvSpPr>
          <p:nvPr>
            <p:ph type="subTitle" idx="1"/>
          </p:nvPr>
        </p:nvSpPr>
        <p:spPr/>
        <p:txBody>
          <a:bodyPr/>
          <a:lstStyle/>
          <a:p>
            <a:r>
              <a:rPr lang="en-US" dirty="0" smtClean="0"/>
              <a:t>Enes </a:t>
            </a:r>
            <a:r>
              <a:rPr lang="en-US" smtClean="0"/>
              <a:t>Ayaz, KTH</a:t>
            </a:r>
            <a:endParaRPr lang="sv-SE" dirty="0"/>
          </a:p>
        </p:txBody>
      </p:sp>
    </p:spTree>
    <p:extLst>
      <p:ext uri="{BB962C8B-B14F-4D97-AF65-F5344CB8AC3E}">
        <p14:creationId xmlns:p14="http://schemas.microsoft.com/office/powerpoint/2010/main" val="20812274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4143" y="276122"/>
            <a:ext cx="10990263" cy="568412"/>
          </a:xfrm>
        </p:spPr>
        <p:txBody>
          <a:bodyPr/>
          <a:lstStyle/>
          <a:p>
            <a:r>
              <a:rPr lang="en-US" dirty="0" smtClean="0"/>
              <a:t>2-Level Inverter Power Ratings</a:t>
            </a:r>
            <a:endParaRPr lang="sv-SE"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65352" y="1403559"/>
                <a:ext cx="4985179" cy="4453808"/>
              </a:xfrm>
            </p:spPr>
            <p:txBody>
              <a:bodyPr/>
              <a:lstStyle/>
              <a:p>
                <a:pPr>
                  <a:buFont typeface="Wingdings" panose="05000000000000000000" pitchFamily="2" charset="2"/>
                  <a:buChar char="§"/>
                </a:pPr>
                <a:endParaRPr lang="en-US" i="1" dirty="0" smtClean="0">
                  <a:latin typeface="Cambria Math" panose="02040503050406030204" pitchFamily="18" charset="0"/>
                </a:endParaRPr>
              </a:p>
              <a:p>
                <a:pPr>
                  <a:buFont typeface="Wingdings" panose="05000000000000000000" pitchFamily="2" charset="2"/>
                  <a:buChar char="§"/>
                </a:pPr>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𝑜𝑢𝑡</m:t>
                        </m:r>
                      </m:sub>
                    </m:sSub>
                    <m:r>
                      <a:rPr lang="en-US" i="1">
                        <a:latin typeface="Cambria Math" panose="02040503050406030204" pitchFamily="18" charset="0"/>
                      </a:rPr>
                      <m:t>=300 </m:t>
                    </m:r>
                    <m:r>
                      <a:rPr lang="en-US" i="1">
                        <a:latin typeface="Cambria Math" panose="02040503050406030204" pitchFamily="18" charset="0"/>
                      </a:rPr>
                      <m:t>𝑘𝑊</m:t>
                    </m:r>
                    <m:r>
                      <a:rPr lang="en-US" i="1">
                        <a:latin typeface="Cambria Math" panose="02040503050406030204" pitchFamily="18" charset="0"/>
                      </a:rPr>
                      <m:t> </m:t>
                    </m:r>
                  </m:oMath>
                </a14:m>
                <a:endParaRPr lang="en-US" i="1" dirty="0">
                  <a:latin typeface="Cambria Math" panose="02040503050406030204" pitchFamily="18" charset="0"/>
                </a:endParaRPr>
              </a:p>
              <a:p>
                <a:pPr>
                  <a:buFont typeface="Wingdings" panose="05000000000000000000" pitchFamily="2" charset="2"/>
                  <a:buChar cha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𝑉</m:t>
                        </m:r>
                      </m:e>
                      <m:sub>
                        <m:r>
                          <a:rPr lang="sv-SE" b="0" i="1" smtClean="0">
                            <a:latin typeface="Cambria Math" panose="02040503050406030204" pitchFamily="18" charset="0"/>
                          </a:rPr>
                          <m:t>𝐷𝐶</m:t>
                        </m:r>
                      </m:sub>
                    </m:sSub>
                    <m:r>
                      <a:rPr lang="en-US" i="1">
                        <a:latin typeface="Cambria Math" panose="02040503050406030204" pitchFamily="18" charset="0"/>
                      </a:rPr>
                      <m:t>=1</m:t>
                    </m:r>
                    <m:r>
                      <a:rPr lang="sv-SE" b="0" i="1" smtClean="0">
                        <a:latin typeface="Cambria Math" panose="02040503050406030204" pitchFamily="18" charset="0"/>
                      </a:rPr>
                      <m:t>05</m:t>
                    </m:r>
                    <m:r>
                      <a:rPr lang="en-US" i="1">
                        <a:latin typeface="Cambria Math" panose="02040503050406030204" pitchFamily="18" charset="0"/>
                      </a:rPr>
                      <m:t>0 </m:t>
                    </m:r>
                    <m:r>
                      <a:rPr lang="en-US" i="1" smtClean="0">
                        <a:latin typeface="Cambria Math" panose="02040503050406030204" pitchFamily="18" charset="0"/>
                      </a:rPr>
                      <m:t>𝑉</m:t>
                    </m:r>
                  </m:oMath>
                </a14:m>
                <a:r>
                  <a:rPr lang="sv-SE" dirty="0"/>
                  <a:t>   </a:t>
                </a:r>
              </a:p>
              <a:p>
                <a:pPr>
                  <a:buFont typeface="Wingdings" panose="05000000000000000000" pitchFamily="2" charset="2"/>
                  <a:buChar cha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𝑖𝑛</m:t>
                        </m:r>
                      </m:sub>
                    </m:sSub>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𝑜𝑢𝑡</m:t>
                            </m:r>
                          </m:sub>
                        </m:sSub>
                      </m:num>
                      <m:den>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𝑖𝑛</m:t>
                            </m:r>
                          </m:sub>
                        </m:sSub>
                      </m:den>
                    </m:f>
                    <m:r>
                      <a:rPr lang="en-US" i="1">
                        <a:latin typeface="Cambria Math" panose="02040503050406030204" pitchFamily="18" charset="0"/>
                      </a:rPr>
                      <m:t>=2</m:t>
                    </m:r>
                    <m:r>
                      <a:rPr lang="sv-SE" b="0" i="1" smtClean="0">
                        <a:latin typeface="Cambria Math" panose="02040503050406030204" pitchFamily="18" charset="0"/>
                      </a:rPr>
                      <m:t>85</m:t>
                    </m:r>
                    <m:r>
                      <a:rPr lang="en-US" i="1">
                        <a:latin typeface="Cambria Math" panose="02040503050406030204" pitchFamily="18" charset="0"/>
                      </a:rPr>
                      <m:t> </m:t>
                    </m:r>
                    <m:r>
                      <a:rPr lang="en-US" i="1">
                        <a:latin typeface="Cambria Math" panose="02040503050406030204" pitchFamily="18" charset="0"/>
                      </a:rPr>
                      <m:t>𝐴</m:t>
                    </m:r>
                  </m:oMath>
                </a14:m>
                <a:endParaRPr lang="en-US" i="1" dirty="0">
                  <a:latin typeface="Cambria Math" panose="02040503050406030204" pitchFamily="18" charset="0"/>
                </a:endParaRPr>
              </a:p>
              <a:p>
                <a:pPr>
                  <a:buFont typeface="Wingdings" panose="05000000000000000000" pitchFamily="2" charset="2"/>
                  <a:buChar char="§"/>
                </a:pPr>
                <a14:m>
                  <m:oMath xmlns:m="http://schemas.openxmlformats.org/officeDocument/2006/math">
                    <m:sSub>
                      <m:sSubPr>
                        <m:ctrlPr>
                          <a:rPr lang="en-US" i="1" smtClean="0">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𝑉</m:t>
                            </m:r>
                          </m:e>
                        </m:acc>
                      </m:e>
                      <m:sub>
                        <m:r>
                          <a:rPr lang="en-US" i="1">
                            <a:latin typeface="Cambria Math" panose="02040503050406030204" pitchFamily="18" charset="0"/>
                          </a:rPr>
                          <m:t>𝑙</m:t>
                        </m:r>
                        <m:r>
                          <a:rPr lang="en-US" i="1">
                            <a:latin typeface="Cambria Math" panose="02040503050406030204" pitchFamily="18" charset="0"/>
                          </a:rPr>
                          <m:t>−</m:t>
                        </m:r>
                        <m:r>
                          <a:rPr lang="en-US" i="1">
                            <a:latin typeface="Cambria Math" panose="02040503050406030204" pitchFamily="18" charset="0"/>
                          </a:rPr>
                          <m:t>𝑛</m:t>
                        </m:r>
                      </m:sub>
                    </m:sSub>
                    <m:r>
                      <a:rPr lang="en-US" i="1">
                        <a:latin typeface="Cambria Math" panose="02040503050406030204" pitchFamily="18" charset="0"/>
                      </a:rPr>
                      <m:t>= </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𝑖𝑛</m:t>
                            </m:r>
                          </m:sub>
                        </m:sSub>
                      </m:num>
                      <m:den>
                        <m:r>
                          <a:rPr lang="en-US" i="1">
                            <a:latin typeface="Cambria Math" panose="02040503050406030204" pitchFamily="18" charset="0"/>
                          </a:rPr>
                          <m:t>2</m:t>
                        </m:r>
                      </m:den>
                    </m:f>
                    <m:r>
                      <a:rPr lang="en-US" i="1">
                        <a:latin typeface="Cambria Math" panose="02040503050406030204" pitchFamily="18" charset="0"/>
                      </a:rPr>
                      <m:t>=</m:t>
                    </m:r>
                    <m:r>
                      <a:rPr lang="sv-SE" b="0" i="1" smtClean="0">
                        <a:latin typeface="Cambria Math" panose="02040503050406030204" pitchFamily="18" charset="0"/>
                      </a:rPr>
                      <m:t>525</m:t>
                    </m:r>
                    <m:r>
                      <a:rPr lang="en-US" b="0" i="1" smtClean="0">
                        <a:latin typeface="Cambria Math" panose="02040503050406030204" pitchFamily="18" charset="0"/>
                      </a:rPr>
                      <m:t> </m:t>
                    </m:r>
                    <m:r>
                      <a:rPr lang="en-US" b="0" i="1" smtClean="0">
                        <a:latin typeface="Cambria Math" panose="02040503050406030204" pitchFamily="18" charset="0"/>
                      </a:rPr>
                      <m:t>𝑉</m:t>
                    </m:r>
                    <m:r>
                      <a:rPr lang="en-US" b="0" i="1" smtClean="0">
                        <a:latin typeface="Cambria Math" panose="02040503050406030204" pitchFamily="18" charset="0"/>
                      </a:rPr>
                      <m:t> </m:t>
                    </m:r>
                    <m:r>
                      <a:rPr lang="en-US" b="0" i="1" smtClean="0">
                        <a:latin typeface="Cambria Math" panose="02040503050406030204" pitchFamily="18" charset="0"/>
                      </a:rPr>
                      <m:t>𝑜𝑟</m:t>
                    </m:r>
                    <m:r>
                      <a:rPr lang="en-US" b="0" i="1" smtClean="0">
                        <a:latin typeface="Cambria Math" panose="02040503050406030204" pitchFamily="18" charset="0"/>
                      </a:rPr>
                      <m:t> </m:t>
                    </m:r>
                    <m:f>
                      <m:fPr>
                        <m:ctrlPr>
                          <a:rPr lang="en-US" b="0" i="1" smtClean="0">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𝑖𝑛</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1+</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6</m:t>
                                </m:r>
                              </m:den>
                            </m:f>
                          </m:e>
                        </m:d>
                      </m:num>
                      <m:den>
                        <m:r>
                          <a:rPr lang="en-US" b="0" i="1" smtClean="0">
                            <a:latin typeface="Cambria Math" panose="02040503050406030204" pitchFamily="18" charset="0"/>
                          </a:rPr>
                          <m:t>2</m:t>
                        </m:r>
                      </m:den>
                    </m:f>
                    <m:r>
                      <a:rPr lang="en-US" i="1">
                        <a:latin typeface="Cambria Math" panose="02040503050406030204" pitchFamily="18" charset="0"/>
                      </a:rPr>
                      <m:t>=</m:t>
                    </m:r>
                    <m:r>
                      <a:rPr lang="sv-SE" b="0" i="1" smtClean="0">
                        <a:latin typeface="Cambria Math" panose="02040503050406030204" pitchFamily="18" charset="0"/>
                      </a:rPr>
                      <m:t>612.5</m:t>
                    </m:r>
                    <m:r>
                      <a:rPr lang="en-US" i="1">
                        <a:latin typeface="Cambria Math" panose="02040503050406030204" pitchFamily="18" charset="0"/>
                      </a:rPr>
                      <m:t> </m:t>
                    </m:r>
                    <m:r>
                      <a:rPr lang="en-US" i="1">
                        <a:latin typeface="Cambria Math" panose="02040503050406030204" pitchFamily="18" charset="0"/>
                      </a:rPr>
                      <m:t>𝑉</m:t>
                    </m:r>
                  </m:oMath>
                </a14:m>
                <a:endParaRPr lang="sv-SE" dirty="0" smtClean="0"/>
              </a:p>
              <a:p>
                <a:pPr>
                  <a:buFont typeface="Wingdings" panose="05000000000000000000" pitchFamily="2" charset="2"/>
                  <a:buChar char="§"/>
                </a:pP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𝐼</m:t>
                            </m:r>
                          </m:e>
                        </m:acc>
                      </m:e>
                      <m:sub>
                        <m:r>
                          <a:rPr lang="en-US" i="1">
                            <a:latin typeface="Cambria Math" panose="02040503050406030204" pitchFamily="18" charset="0"/>
                          </a:rPr>
                          <m:t>𝑙</m:t>
                        </m:r>
                      </m:sub>
                    </m:sSub>
                    <m:r>
                      <a:rPr lang="en-US" i="1">
                        <a:latin typeface="Cambria Math" panose="02040503050406030204" pitchFamily="18" charset="0"/>
                      </a:rPr>
                      <m:t>=2</m:t>
                    </m:r>
                    <m:f>
                      <m:fPr>
                        <m:ctrlPr>
                          <a:rPr lang="en-US" i="1">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𝑜𝑢𝑡</m:t>
                            </m:r>
                          </m:sub>
                        </m:sSub>
                      </m:num>
                      <m:den>
                        <m:sSub>
                          <m:sSubPr>
                            <m:ctrlPr>
                              <a:rPr lang="en-US" i="1">
                                <a:latin typeface="Cambria Math" panose="02040503050406030204" pitchFamily="18" charset="0"/>
                              </a:rPr>
                            </m:ctrlPr>
                          </m:sSubPr>
                          <m:e>
                            <m:r>
                              <a:rPr lang="en-US" i="1">
                                <a:latin typeface="Cambria Math" panose="02040503050406030204" pitchFamily="18" charset="0"/>
                              </a:rPr>
                              <m:t>3</m:t>
                            </m:r>
                            <m:acc>
                              <m:accPr>
                                <m:chr m:val="̂"/>
                                <m:ctrlPr>
                                  <a:rPr lang="en-US" i="1">
                                    <a:latin typeface="Cambria Math" panose="02040503050406030204" pitchFamily="18" charset="0"/>
                                  </a:rPr>
                                </m:ctrlPr>
                              </m:accPr>
                              <m:e>
                                <m:r>
                                  <a:rPr lang="en-US" i="1">
                                    <a:latin typeface="Cambria Math" panose="02040503050406030204" pitchFamily="18" charset="0"/>
                                  </a:rPr>
                                  <m:t>𝑉</m:t>
                                </m:r>
                              </m:e>
                            </m:acc>
                          </m:e>
                          <m:sub>
                            <m:r>
                              <a:rPr lang="en-US" i="1">
                                <a:latin typeface="Cambria Math" panose="02040503050406030204" pitchFamily="18" charset="0"/>
                              </a:rPr>
                              <m:t>𝑙</m:t>
                            </m:r>
                            <m:r>
                              <a:rPr lang="en-US" i="1">
                                <a:latin typeface="Cambria Math" panose="02040503050406030204" pitchFamily="18" charset="0"/>
                              </a:rPr>
                              <m:t>−</m:t>
                            </m:r>
                            <m:r>
                              <a:rPr lang="en-US" i="1">
                                <a:latin typeface="Cambria Math" panose="02040503050406030204" pitchFamily="18" charset="0"/>
                              </a:rPr>
                              <m:t>𝑛</m:t>
                            </m:r>
                          </m:sub>
                        </m:sSub>
                      </m:den>
                    </m:f>
                    <m:r>
                      <a:rPr lang="en-US" i="1">
                        <a:latin typeface="Cambria Math" panose="02040503050406030204" pitchFamily="18" charset="0"/>
                      </a:rPr>
                      <m:t>=32</m:t>
                    </m:r>
                    <m:r>
                      <a:rPr lang="sv-SE" b="0" i="1" smtClean="0">
                        <a:latin typeface="Cambria Math" panose="02040503050406030204" pitchFamily="18" charset="0"/>
                      </a:rPr>
                      <m:t>6 </m:t>
                    </m:r>
                    <m:r>
                      <a:rPr lang="sv-SE" b="0" i="1" smtClean="0">
                        <a:latin typeface="Cambria Math" panose="02040503050406030204" pitchFamily="18" charset="0"/>
                      </a:rPr>
                      <m:t>𝐴</m:t>
                    </m:r>
                  </m:oMath>
                </a14:m>
                <a:endParaRPr lang="sv-SE" b="0" i="1" dirty="0" smtClean="0">
                  <a:latin typeface="Cambria Math" panose="02040503050406030204" pitchFamily="18" charset="0"/>
                </a:endParaRPr>
              </a:p>
              <a:p>
                <a:pPr>
                  <a:buFont typeface="Wingdings" panose="05000000000000000000" pitchFamily="2" charset="2"/>
                  <a:buChar char="§"/>
                </a:pPr>
                <a14:m>
                  <m:oMath xmlns:m="http://schemas.openxmlformats.org/officeDocument/2006/math">
                    <m:r>
                      <a:rPr lang="en-US" i="1" dirty="0">
                        <a:latin typeface="Cambria Math" panose="02040503050406030204" pitchFamily="18" charset="0"/>
                      </a:rPr>
                      <m:t>𝑝𝑓</m:t>
                    </m:r>
                    <m:r>
                      <a:rPr lang="en-US" i="1" dirty="0">
                        <a:latin typeface="Cambria Math" panose="02040503050406030204" pitchFamily="18" charset="0"/>
                      </a:rPr>
                      <m:t>= 0.9</m:t>
                    </m:r>
                  </m:oMath>
                </a14:m>
                <a:endParaRPr lang="sv-SE" dirty="0"/>
              </a:p>
              <a:p>
                <a:pPr>
                  <a:buFont typeface="Wingdings" panose="05000000000000000000" pitchFamily="2" charset="2"/>
                  <a:buChar char="§"/>
                </a:pP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𝐼</m:t>
                            </m:r>
                          </m:e>
                        </m:acc>
                      </m:e>
                      <m:sub>
                        <m:r>
                          <a:rPr lang="en-US" i="1">
                            <a:latin typeface="Cambria Math" panose="02040503050406030204" pitchFamily="18" charset="0"/>
                          </a:rPr>
                          <m:t>𝑙</m:t>
                        </m:r>
                      </m:sub>
                    </m:sSub>
                    <m:r>
                      <a:rPr lang="en-US" i="1">
                        <a:latin typeface="Cambria Math" panose="02040503050406030204" pitchFamily="18" charset="0"/>
                      </a:rPr>
                      <m:t>=</m:t>
                    </m:r>
                    <m:r>
                      <a:rPr lang="en-US" b="0" i="1" smtClean="0">
                        <a:latin typeface="Cambria Math" panose="02040503050406030204" pitchFamily="18" charset="0"/>
                      </a:rPr>
                      <m:t>2</m:t>
                    </m:r>
                    <m:f>
                      <m:fPr>
                        <m:ctrlPr>
                          <a:rPr lang="en-US" b="0" i="1" smtClean="0">
                            <a:latin typeface="Cambria Math" panose="02040503050406030204" pitchFamily="18" charset="0"/>
                          </a:rPr>
                        </m:ctrlPr>
                      </m:fPr>
                      <m:num>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𝑜𝑢𝑡</m:t>
                                </m:r>
                              </m:sub>
                            </m:sSub>
                          </m:num>
                          <m:den>
                            <m:r>
                              <a:rPr lang="en-US" b="0" i="1" smtClean="0">
                                <a:latin typeface="Cambria Math" panose="02040503050406030204" pitchFamily="18" charset="0"/>
                              </a:rPr>
                              <m:t>𝑝𝑓</m:t>
                            </m:r>
                          </m:den>
                        </m:f>
                      </m:num>
                      <m:den>
                        <m:sSub>
                          <m:sSubPr>
                            <m:ctrlPr>
                              <a:rPr lang="en-US" i="1">
                                <a:latin typeface="Cambria Math" panose="02040503050406030204" pitchFamily="18" charset="0"/>
                              </a:rPr>
                            </m:ctrlPr>
                          </m:sSubPr>
                          <m:e>
                            <m:r>
                              <a:rPr lang="en-US" b="0" i="1" smtClean="0">
                                <a:latin typeface="Cambria Math" panose="02040503050406030204" pitchFamily="18" charset="0"/>
                              </a:rPr>
                              <m:t>3</m:t>
                            </m:r>
                            <m:acc>
                              <m:accPr>
                                <m:chr m:val="̂"/>
                                <m:ctrlPr>
                                  <a:rPr lang="en-US" i="1">
                                    <a:latin typeface="Cambria Math" panose="02040503050406030204" pitchFamily="18" charset="0"/>
                                  </a:rPr>
                                </m:ctrlPr>
                              </m:accPr>
                              <m:e>
                                <m:r>
                                  <a:rPr lang="en-US" i="1">
                                    <a:latin typeface="Cambria Math" panose="02040503050406030204" pitchFamily="18" charset="0"/>
                                  </a:rPr>
                                  <m:t>𝑉</m:t>
                                </m:r>
                              </m:e>
                            </m:acc>
                          </m:e>
                          <m:sub>
                            <m:r>
                              <a:rPr lang="en-US" i="1">
                                <a:latin typeface="Cambria Math" panose="02040503050406030204" pitchFamily="18" charset="0"/>
                              </a:rPr>
                              <m:t>𝑙</m:t>
                            </m:r>
                            <m:r>
                              <a:rPr lang="en-US" i="1">
                                <a:latin typeface="Cambria Math" panose="02040503050406030204" pitchFamily="18" charset="0"/>
                              </a:rPr>
                              <m:t>−</m:t>
                            </m:r>
                            <m:r>
                              <a:rPr lang="en-US" i="1">
                                <a:latin typeface="Cambria Math" panose="02040503050406030204" pitchFamily="18" charset="0"/>
                              </a:rPr>
                              <m:t>𝑛</m:t>
                            </m:r>
                          </m:sub>
                        </m:sSub>
                      </m:den>
                    </m:f>
                    <m:r>
                      <a:rPr lang="en-US" i="1">
                        <a:latin typeface="Cambria Math" panose="02040503050406030204" pitchFamily="18" charset="0"/>
                      </a:rPr>
                      <m:t>=</m:t>
                    </m:r>
                    <m:r>
                      <a:rPr lang="sv-SE" b="0" i="1" smtClean="0">
                        <a:latin typeface="Cambria Math" panose="02040503050406030204" pitchFamily="18" charset="0"/>
                      </a:rPr>
                      <m:t>360</m:t>
                    </m:r>
                    <m:r>
                      <a:rPr lang="sv-SE" b="0" i="1" smtClean="0">
                        <a:latin typeface="Cambria Math" panose="02040503050406030204" pitchFamily="18" charset="0"/>
                      </a:rPr>
                      <m:t>𝐴</m:t>
                    </m:r>
                  </m:oMath>
                </a14:m>
                <a:endParaRPr lang="en-US" b="1" dirty="0"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65352" y="1403559"/>
                <a:ext cx="4985179" cy="4453808"/>
              </a:xfrm>
              <a:blipFill>
                <a:blip r:embed="rId2"/>
                <a:stretch>
                  <a:fillRect l="-1100"/>
                </a:stretch>
              </a:blipFill>
            </p:spPr>
            <p:txBody>
              <a:bodyPr/>
              <a:lstStyle/>
              <a:p>
                <a:r>
                  <a:rPr lang="sv-SE">
                    <a:noFill/>
                  </a:rPr>
                  <a:t> </a:t>
                </a:r>
              </a:p>
            </p:txBody>
          </p:sp>
        </mc:Fallback>
      </mc:AlternateContent>
      <p:pic>
        <p:nvPicPr>
          <p:cNvPr id="4" name="Picture 3"/>
          <p:cNvPicPr>
            <a:picLocks noChangeAspect="1"/>
          </p:cNvPicPr>
          <p:nvPr/>
        </p:nvPicPr>
        <p:blipFill rotWithShape="1">
          <a:blip r:embed="rId3"/>
          <a:srcRect l="4779" r="80577" b="10137"/>
          <a:stretch/>
        </p:blipFill>
        <p:spPr>
          <a:xfrm>
            <a:off x="9598440" y="1668422"/>
            <a:ext cx="1464277" cy="2625804"/>
          </a:xfrm>
          <a:prstGeom prst="rect">
            <a:avLst/>
          </a:prstGeom>
        </p:spPr>
      </p:pic>
      <mc:AlternateContent xmlns:mc="http://schemas.openxmlformats.org/markup-compatibility/2006" xmlns:a14="http://schemas.microsoft.com/office/drawing/2010/main">
        <mc:Choice Requires="a14">
          <p:sp>
            <p:nvSpPr>
              <p:cNvPr id="6" name="Rectangle 5"/>
              <p:cNvSpPr/>
              <p:nvPr/>
            </p:nvSpPr>
            <p:spPr>
              <a:xfrm>
                <a:off x="5917950" y="5211036"/>
                <a:ext cx="5583936" cy="646331"/>
              </a:xfrm>
              <a:prstGeom prst="rect">
                <a:avLst/>
              </a:prstGeom>
            </p:spPr>
            <p:txBody>
              <a:bodyPr wrap="square">
                <a:spAutoFit/>
              </a:bodyPr>
              <a:lstStyle/>
              <a:p>
                <a:pPr algn="ctr"/>
                <a:r>
                  <a:rPr lang="en-US" dirty="0" smtClean="0"/>
                  <a:t>Efficiency </a:t>
                </a:r>
                <a:r>
                  <a:rPr lang="en-US" dirty="0"/>
                  <a:t>(99.5%) </a:t>
                </a:r>
                <a:endParaRPr lang="en-US" dirty="0" smtClean="0"/>
              </a:p>
              <a:p>
                <a:pPr algn="ctr"/>
                <a:r>
                  <a:rPr lang="en-US" dirty="0" smtClean="0">
                    <a:sym typeface="Wingdings" panose="05000000000000000000" pitchFamily="2" charset="2"/>
                  </a:rPr>
                  <a:t>Semiconductor Losses (6 switches): </a:t>
                </a:r>
                <a:r>
                  <a:rPr lang="en-US" b="1" dirty="0">
                    <a:sym typeface="Wingdings" panose="05000000000000000000" pitchFamily="2" charset="2"/>
                  </a:rPr>
                  <a:t>1500 </a:t>
                </a:r>
                <a14:m>
                  <m:oMath xmlns:m="http://schemas.openxmlformats.org/officeDocument/2006/math">
                    <m:r>
                      <a:rPr lang="en-US" b="1" i="1">
                        <a:latin typeface="Cambria Math" panose="02040503050406030204" pitchFamily="18" charset="0"/>
                      </a:rPr>
                      <m:t>𝑾</m:t>
                    </m:r>
                  </m:oMath>
                </a14:m>
                <a:endParaRPr lang="sv-SE" b="1" dirty="0"/>
              </a:p>
            </p:txBody>
          </p:sp>
        </mc:Choice>
        <mc:Fallback xmlns="">
          <p:sp>
            <p:nvSpPr>
              <p:cNvPr id="6" name="Rectangle 5"/>
              <p:cNvSpPr>
                <a:spLocks noRot="1" noChangeAspect="1" noMove="1" noResize="1" noEditPoints="1" noAdjustHandles="1" noChangeArrowheads="1" noChangeShapeType="1" noTextEdit="1"/>
              </p:cNvSpPr>
              <p:nvPr/>
            </p:nvSpPr>
            <p:spPr>
              <a:xfrm>
                <a:off x="5917950" y="5211036"/>
                <a:ext cx="5583936" cy="646331"/>
              </a:xfrm>
              <a:prstGeom prst="rect">
                <a:avLst/>
              </a:prstGeom>
              <a:blipFill>
                <a:blip r:embed="rId4"/>
                <a:stretch>
                  <a:fillRect t="-5660" b="-14151"/>
                </a:stretch>
              </a:blipFill>
            </p:spPr>
            <p:txBody>
              <a:bodyPr/>
              <a:lstStyle/>
              <a:p>
                <a:r>
                  <a:rPr lang="sv-SE">
                    <a:noFill/>
                  </a:rPr>
                  <a:t> </a:t>
                </a:r>
              </a:p>
            </p:txBody>
          </p:sp>
        </mc:Fallback>
      </mc:AlternateContent>
      <p:pic>
        <p:nvPicPr>
          <p:cNvPr id="5" name="Picture 4"/>
          <p:cNvPicPr>
            <a:picLocks noChangeAspect="1"/>
          </p:cNvPicPr>
          <p:nvPr/>
        </p:nvPicPr>
        <p:blipFill>
          <a:blip r:embed="rId5"/>
          <a:stretch>
            <a:fillRect/>
          </a:stretch>
        </p:blipFill>
        <p:spPr>
          <a:xfrm>
            <a:off x="5796349" y="1668422"/>
            <a:ext cx="3103351" cy="3098753"/>
          </a:xfrm>
          <a:prstGeom prst="rect">
            <a:avLst/>
          </a:prstGeom>
        </p:spPr>
      </p:pic>
    </p:spTree>
    <p:extLst>
      <p:ext uri="{BB962C8B-B14F-4D97-AF65-F5344CB8AC3E}">
        <p14:creationId xmlns:p14="http://schemas.microsoft.com/office/powerpoint/2010/main" val="147732490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1561" y="360012"/>
            <a:ext cx="10990263" cy="568412"/>
          </a:xfrm>
        </p:spPr>
        <p:txBody>
          <a:bodyPr/>
          <a:lstStyle/>
          <a:p>
            <a:r>
              <a:rPr lang="en-US" dirty="0" smtClean="0"/>
              <a:t>Given Parameters from Infineon</a:t>
            </a:r>
            <a:endParaRPr lang="sv-SE"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0073" y="1423770"/>
                <a:ext cx="10990263" cy="4839352"/>
              </a:xfrm>
            </p:spPr>
            <p:txBody>
              <a:bodyPr/>
              <a:lstStyle/>
              <a:p>
                <a:pPr marL="0" indent="0">
                  <a:buNone/>
                </a:pPr>
                <a:r>
                  <a:rPr lang="en-US" b="1" dirty="0" smtClean="0"/>
                  <a:t>A. Basic Parameters:</a:t>
                </a:r>
                <a:endParaRPr lang="sv-SE" dirty="0"/>
              </a:p>
              <a:p>
                <a:pPr lvl="0"/>
                <a:r>
                  <a:rPr lang="en-US" dirty="0"/>
                  <a:t>Current rating @25°C (in Amperes) </a:t>
                </a:r>
                <a14:m>
                  <m:oMath xmlns:m="http://schemas.openxmlformats.org/officeDocument/2006/math">
                    <m:r>
                      <a:rPr lang="en-US" i="1" dirty="0">
                        <a:solidFill>
                          <a:srgbClr val="FF0000"/>
                        </a:solidFill>
                        <a:latin typeface="Cambria Math" panose="02040503050406030204" pitchFamily="18" charset="0"/>
                      </a:rPr>
                      <m:t>7</m:t>
                    </m:r>
                    <m:r>
                      <a:rPr lang="sv-SE" b="0" i="1" dirty="0" smtClean="0">
                        <a:solidFill>
                          <a:srgbClr val="FF0000"/>
                        </a:solidFill>
                        <a:latin typeface="Cambria Math" panose="02040503050406030204" pitchFamily="18" charset="0"/>
                      </a:rPr>
                      <m:t>00</m:t>
                    </m:r>
                    <m:r>
                      <a:rPr lang="en-US" i="1" dirty="0" smtClean="0">
                        <a:solidFill>
                          <a:srgbClr val="FF0000"/>
                        </a:solidFill>
                        <a:latin typeface="Cambria Math" panose="02040503050406030204" pitchFamily="18" charset="0"/>
                      </a:rPr>
                      <m:t> </m:t>
                    </m:r>
                    <m:r>
                      <a:rPr lang="en-US" i="1" dirty="0" smtClean="0">
                        <a:solidFill>
                          <a:srgbClr val="FF0000"/>
                        </a:solidFill>
                        <a:latin typeface="Cambria Math" panose="02040503050406030204" pitchFamily="18" charset="0"/>
                      </a:rPr>
                      <m:t>𝐴</m:t>
                    </m:r>
                  </m:oMath>
                </a14:m>
                <a:endParaRPr lang="sv-SE" dirty="0" smtClean="0">
                  <a:solidFill>
                    <a:srgbClr val="FF0000"/>
                  </a:solidFill>
                </a:endParaRPr>
              </a:p>
              <a:p>
                <a:pPr lvl="0"/>
                <a:endParaRPr lang="sv-SE" dirty="0">
                  <a:solidFill>
                    <a:srgbClr val="FF0000"/>
                  </a:solidFill>
                </a:endParaRPr>
              </a:p>
              <a:p>
                <a:pPr lvl="0"/>
                <a:r>
                  <a:rPr lang="en-US" dirty="0"/>
                  <a:t>On-state resistance @25°C (in Ohms</a:t>
                </a:r>
                <a:r>
                  <a:rPr lang="en-US" dirty="0" smtClean="0"/>
                  <a:t>)</a:t>
                </a:r>
              </a:p>
              <a:p>
                <a:pPr marL="0" lvl="0" indent="0">
                  <a:buNone/>
                </a:pPr>
                <a:endParaRPr lang="en-US" dirty="0" smtClean="0"/>
              </a:p>
              <a:p>
                <a:pPr lvl="0"/>
                <a:r>
                  <a:rPr lang="en-US" dirty="0" smtClean="0"/>
                  <a:t>Internal </a:t>
                </a:r>
                <a:r>
                  <a:rPr lang="en-US" dirty="0"/>
                  <a:t>gate resistance (in Ohms) ~ </a:t>
                </a:r>
                <a14:m>
                  <m:oMath xmlns:m="http://schemas.openxmlformats.org/officeDocument/2006/math">
                    <m:r>
                      <a:rPr lang="en-US" i="1" dirty="0">
                        <a:solidFill>
                          <a:srgbClr val="FF0000"/>
                        </a:solidFill>
                        <a:latin typeface="Cambria Math" panose="02040503050406030204" pitchFamily="18" charset="0"/>
                      </a:rPr>
                      <m:t>2</m:t>
                    </m:r>
                    <m:r>
                      <a:rPr lang="en-US" i="1" dirty="0" smtClean="0">
                        <a:solidFill>
                          <a:srgbClr val="FF0000"/>
                        </a:solidFill>
                        <a:latin typeface="Cambria Math" panose="02040503050406030204" pitchFamily="18" charset="0"/>
                      </a:rPr>
                      <m:t>,</m:t>
                    </m:r>
                    <m:r>
                      <a:rPr lang="sv-SE" b="0" i="1" dirty="0" smtClean="0">
                        <a:solidFill>
                          <a:srgbClr val="FF0000"/>
                        </a:solidFill>
                        <a:latin typeface="Cambria Math" panose="02040503050406030204" pitchFamily="18" charset="0"/>
                      </a:rPr>
                      <m:t>1 </m:t>
                    </m:r>
                    <m:r>
                      <m:rPr>
                        <m:sty m:val="p"/>
                      </m:rPr>
                      <a:rPr lang="sv-SE" b="0" i="0" dirty="0" smtClean="0">
                        <a:solidFill>
                          <a:srgbClr val="FF0000"/>
                        </a:solidFill>
                        <a:latin typeface="Cambria Math" panose="02040503050406030204" pitchFamily="18" charset="0"/>
                      </a:rPr>
                      <m:t>Ω</m:t>
                    </m:r>
                    <m:r>
                      <a:rPr lang="sv-SE" b="0" i="1" dirty="0" smtClean="0">
                        <a:solidFill>
                          <a:srgbClr val="FF0000"/>
                        </a:solidFill>
                        <a:latin typeface="Cambria Math" panose="02040503050406030204" pitchFamily="18" charset="0"/>
                      </a:rPr>
                      <m:t> </m:t>
                    </m:r>
                  </m:oMath>
                </a14:m>
                <a:endParaRPr lang="sv-SE" dirty="0" smtClean="0">
                  <a:solidFill>
                    <a:srgbClr val="FF0000"/>
                  </a:solidFill>
                </a:endParaRPr>
              </a:p>
              <a:p>
                <a:pPr marL="0" lvl="0" indent="0">
                  <a:buNone/>
                </a:pPr>
                <a:endParaRPr lang="sv-SE" dirty="0">
                  <a:solidFill>
                    <a:srgbClr val="FF0000"/>
                  </a:solidFill>
                </a:endParaRPr>
              </a:p>
              <a:p>
                <a:pPr lvl="0"/>
                <a:r>
                  <a:rPr lang="de-DE" dirty="0"/>
                  <a:t>Die Size (</a:t>
                </a:r>
                <a:r>
                  <a:rPr lang="de-DE" dirty="0" smtClean="0"/>
                  <a:t>mm) </a:t>
                </a:r>
                <a14:m>
                  <m:oMath xmlns:m="http://schemas.openxmlformats.org/officeDocument/2006/math">
                    <m:r>
                      <a:rPr lang="sv-SE" b="0" i="1" smtClean="0">
                        <a:solidFill>
                          <a:srgbClr val="FF0000"/>
                        </a:solidFill>
                        <a:latin typeface="Cambria Math" panose="02040503050406030204" pitchFamily="18" charset="0"/>
                      </a:rPr>
                      <m:t>20</m:t>
                    </m:r>
                    <m:r>
                      <a:rPr lang="sv-SE" b="0" i="1" smtClean="0">
                        <a:solidFill>
                          <a:srgbClr val="FF0000"/>
                        </a:solidFill>
                        <a:latin typeface="Cambria Math" panose="02040503050406030204" pitchFamily="18" charset="0"/>
                      </a:rPr>
                      <m:t>𝑚</m:t>
                    </m:r>
                    <m:sSup>
                      <m:sSupPr>
                        <m:ctrlPr>
                          <a:rPr lang="sv-SE" b="0" i="1" smtClean="0">
                            <a:solidFill>
                              <a:srgbClr val="FF0000"/>
                            </a:solidFill>
                            <a:latin typeface="Cambria Math" panose="02040503050406030204" pitchFamily="18" charset="0"/>
                          </a:rPr>
                        </m:ctrlPr>
                      </m:sSupPr>
                      <m:e>
                        <m:r>
                          <a:rPr lang="sv-SE" b="0" i="1" smtClean="0">
                            <a:solidFill>
                              <a:srgbClr val="FF0000"/>
                            </a:solidFill>
                            <a:latin typeface="Cambria Math" panose="02040503050406030204" pitchFamily="18" charset="0"/>
                          </a:rPr>
                          <m:t>𝑚</m:t>
                        </m:r>
                      </m:e>
                      <m:sup>
                        <m:r>
                          <a:rPr lang="sv-SE" b="0" i="1" smtClean="0">
                            <a:solidFill>
                              <a:srgbClr val="FF0000"/>
                            </a:solidFill>
                            <a:latin typeface="Cambria Math" panose="02040503050406030204" pitchFamily="18" charset="0"/>
                          </a:rPr>
                          <m:t>2</m:t>
                        </m:r>
                      </m:sup>
                    </m:sSup>
                  </m:oMath>
                </a14:m>
                <a:r>
                  <a:rPr lang="sv-SE" dirty="0" smtClean="0">
                    <a:solidFill>
                      <a:srgbClr val="FF0000"/>
                    </a:solidFill>
                  </a:rPr>
                  <a:t>   (12 chips)</a:t>
                </a:r>
              </a:p>
              <a:p>
                <a:pPr lvl="0"/>
                <a:endParaRPr lang="sv-SE" dirty="0">
                  <a:solidFill>
                    <a:srgbClr val="FF0000"/>
                  </a:solidFill>
                </a:endParaRPr>
              </a:p>
              <a:p>
                <a:r>
                  <a:rPr lang="en-US" dirty="0"/>
                  <a:t>Thermal resistance (Junction </a:t>
                </a:r>
                <a:r>
                  <a:rPr lang="en-US" dirty="0" smtClean="0"/>
                  <a:t>to Fluid)  </a:t>
                </a:r>
                <a14:m>
                  <m:oMath xmlns:m="http://schemas.openxmlformats.org/officeDocument/2006/math">
                    <m:r>
                      <a:rPr lang="sv-SE" i="1" dirty="0" smtClean="0">
                        <a:solidFill>
                          <a:srgbClr val="FF0000"/>
                        </a:solidFill>
                        <a:latin typeface="Cambria Math" panose="02040503050406030204" pitchFamily="18" charset="0"/>
                      </a:rPr>
                      <m:t>56</m:t>
                    </m:r>
                    <m:r>
                      <m:rPr>
                        <m:nor/>
                      </m:rPr>
                      <a:rPr lang="en-US" dirty="0">
                        <a:solidFill>
                          <a:srgbClr val="FF0000"/>
                        </a:solidFill>
                      </a:rPr>
                      <m:t>°</m:t>
                    </m:r>
                    <m:r>
                      <m:rPr>
                        <m:nor/>
                      </m:rPr>
                      <a:rPr lang="en-US" dirty="0">
                        <a:solidFill>
                          <a:srgbClr val="FF0000"/>
                        </a:solidFill>
                      </a:rPr>
                      <m:t>C</m:t>
                    </m:r>
                    <m:r>
                      <m:rPr>
                        <m:nor/>
                      </m:rPr>
                      <a:rPr lang="sv-SE" b="0" i="0" dirty="0" smtClean="0">
                        <a:solidFill>
                          <a:srgbClr val="FF0000"/>
                        </a:solidFill>
                      </a:rPr>
                      <m:t>/</m:t>
                    </m:r>
                    <m:r>
                      <m:rPr>
                        <m:nor/>
                      </m:rPr>
                      <a:rPr lang="en-US" dirty="0">
                        <a:solidFill>
                          <a:srgbClr val="FF0000"/>
                        </a:solidFill>
                      </a:rPr>
                      <m:t>kW</m:t>
                    </m:r>
                    <m:r>
                      <m:rPr>
                        <m:nor/>
                      </m:rPr>
                      <a:rPr lang="sv-SE" b="0" i="0" dirty="0" smtClean="0">
                        <a:solidFill>
                          <a:srgbClr val="FF0000"/>
                        </a:solidFill>
                      </a:rPr>
                      <m:t> </m:t>
                    </m:r>
                  </m:oMath>
                </a14:m>
                <a:r>
                  <a:rPr lang="sv-SE" dirty="0" smtClean="0">
                    <a:solidFill>
                      <a:srgbClr val="FF0000"/>
                    </a:solidFill>
                  </a:rPr>
                  <a:t> </a:t>
                </a:r>
                <a:endParaRPr lang="sv-SE" dirty="0">
                  <a:solidFill>
                    <a:srgbClr val="FF0000"/>
                  </a:solidFill>
                </a:endParaRPr>
              </a:p>
              <a:p>
                <a:pPr marL="0" lvl="0" indent="0">
                  <a:buNone/>
                </a:pPr>
                <a:r>
                  <a:rPr lang="sv-SE" dirty="0"/>
                  <a:t>	</a:t>
                </a:r>
                <a:r>
                  <a:rPr lang="sv-SE" dirty="0" smtClean="0"/>
                  <a:t>					</a:t>
                </a:r>
                <a:endParaRPr lang="sv-SE"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0073" y="1423770"/>
                <a:ext cx="10990263" cy="4839352"/>
              </a:xfrm>
              <a:blipFill>
                <a:blip r:embed="rId2"/>
                <a:stretch>
                  <a:fillRect l="-555" t="-1261"/>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1086328586"/>
                  </p:ext>
                </p:extLst>
              </p:nvPr>
            </p:nvGraphicFramePr>
            <p:xfrm>
              <a:off x="7029091" y="2041584"/>
              <a:ext cx="1752600" cy="1524000"/>
            </p:xfrm>
            <a:graphic>
              <a:graphicData uri="http://schemas.openxmlformats.org/drawingml/2006/table">
                <a:tbl>
                  <a:tblPr>
                    <a:tableStyleId>{5C22544A-7EE6-4342-B048-85BDC9FD1C3A}</a:tableStyleId>
                  </a:tblPr>
                  <a:tblGrid>
                    <a:gridCol w="876300">
                      <a:extLst>
                        <a:ext uri="{9D8B030D-6E8A-4147-A177-3AD203B41FA5}">
                          <a16:colId xmlns:a16="http://schemas.microsoft.com/office/drawing/2014/main" val="3214802722"/>
                        </a:ext>
                      </a:extLst>
                    </a:gridCol>
                    <a:gridCol w="876300">
                      <a:extLst>
                        <a:ext uri="{9D8B030D-6E8A-4147-A177-3AD203B41FA5}">
                          <a16:colId xmlns:a16="http://schemas.microsoft.com/office/drawing/2014/main" val="3090613650"/>
                        </a:ext>
                      </a:extLst>
                    </a:gridCol>
                  </a:tblGrid>
                  <a:tr h="381000">
                    <a:tc>
                      <a:txBody>
                        <a:bodyPr/>
                        <a:lstStyle/>
                        <a:p>
                          <a:pPr algn="l" fontAlgn="t"/>
                          <a:r>
                            <a:rPr lang="sv-SE" sz="1100" u="none" strike="noStrike" dirty="0">
                              <a:effectLst/>
                            </a:rPr>
                            <a:t>V</a:t>
                          </a:r>
                          <a:r>
                            <a:rPr lang="sv-SE" sz="850" u="none" strike="noStrike" dirty="0">
                              <a:effectLst/>
                            </a:rPr>
                            <a:t>GS </a:t>
                          </a:r>
                          <a:r>
                            <a:rPr lang="sv-SE" sz="1200" u="none" strike="noStrike" dirty="0">
                              <a:effectLst/>
                            </a:rPr>
                            <a:t>= 18 V,</a:t>
                          </a:r>
                          <a:br>
                            <a:rPr lang="sv-SE" sz="1200" u="none" strike="noStrike" dirty="0">
                              <a:effectLst/>
                            </a:rPr>
                          </a:br>
                          <a:r>
                            <a:rPr lang="sv-SE" sz="1100" u="none" strike="noStrike" dirty="0" err="1">
                              <a:effectLst/>
                            </a:rPr>
                            <a:t>T</a:t>
                          </a:r>
                          <a:r>
                            <a:rPr lang="sv-SE" sz="850" u="none" strike="noStrike" dirty="0" err="1">
                              <a:effectLst/>
                            </a:rPr>
                            <a:t>vj</a:t>
                          </a:r>
                          <a:r>
                            <a:rPr lang="sv-SE" sz="850" u="none" strike="noStrike" dirty="0">
                              <a:effectLst/>
                            </a:rPr>
                            <a:t> </a:t>
                          </a:r>
                          <a:r>
                            <a:rPr lang="sv-SE" sz="1200" u="none" strike="noStrike" dirty="0">
                              <a:effectLst/>
                            </a:rPr>
                            <a:t>= 25 °C</a:t>
                          </a:r>
                          <a:endParaRPr lang="sv-SE" sz="1100" b="0" i="1" u="none" strike="noStrike" dirty="0">
                            <a:solidFill>
                              <a:srgbClr val="000000"/>
                            </a:solidFill>
                            <a:effectLst/>
                            <a:latin typeface="Source Sans Pro"/>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t"/>
                          <a:r>
                            <a:rPr lang="sv-SE" sz="1200" u="none" strike="noStrike" dirty="0" smtClean="0">
                              <a:solidFill>
                                <a:srgbClr val="FF0000"/>
                              </a:solidFill>
                              <a:effectLst/>
                            </a:rPr>
                            <a:t>2,1 </a:t>
                          </a:r>
                          <a14:m>
                            <m:oMath xmlns:m="http://schemas.openxmlformats.org/officeDocument/2006/math">
                              <m:r>
                                <m:rPr>
                                  <m:sty m:val="p"/>
                                </m:rPr>
                                <a:rPr lang="sv-SE" sz="1200" b="0" i="0" u="none" strike="noStrike" smtClean="0">
                                  <a:solidFill>
                                    <a:srgbClr val="FF0000"/>
                                  </a:solidFill>
                                  <a:effectLst/>
                                  <a:latin typeface="Cambria Math" panose="02040503050406030204" pitchFamily="18" charset="0"/>
                                </a:rPr>
                                <m:t>Ω</m:t>
                              </m:r>
                            </m:oMath>
                          </a14:m>
                          <a:endParaRPr lang="sv-SE" sz="1200" b="0" i="0" u="none" strike="noStrike" dirty="0">
                            <a:solidFill>
                              <a:srgbClr val="FF0000"/>
                            </a:solidFill>
                            <a:effectLst/>
                            <a:latin typeface="Source Sans Pro"/>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25359964"/>
                      </a:ext>
                    </a:extLst>
                  </a:tr>
                  <a:tr h="381000">
                    <a:tc>
                      <a:txBody>
                        <a:bodyPr/>
                        <a:lstStyle/>
                        <a:p>
                          <a:pPr algn="l" fontAlgn="t"/>
                          <a:r>
                            <a:rPr lang="sv-SE" sz="1100" u="none" strike="noStrike" dirty="0">
                              <a:effectLst/>
                            </a:rPr>
                            <a:t>V</a:t>
                          </a:r>
                          <a:r>
                            <a:rPr lang="sv-SE" sz="850" u="none" strike="noStrike" dirty="0">
                              <a:effectLst/>
                            </a:rPr>
                            <a:t>GS </a:t>
                          </a:r>
                          <a:r>
                            <a:rPr lang="sv-SE" sz="1200" u="none" strike="noStrike" dirty="0">
                              <a:effectLst/>
                            </a:rPr>
                            <a:t>= 18 V,</a:t>
                          </a:r>
                          <a:br>
                            <a:rPr lang="sv-SE" sz="1200" u="none" strike="noStrike" dirty="0">
                              <a:effectLst/>
                            </a:rPr>
                          </a:br>
                          <a:r>
                            <a:rPr lang="sv-SE" sz="1100" u="none" strike="noStrike" dirty="0" err="1">
                              <a:effectLst/>
                            </a:rPr>
                            <a:t>T</a:t>
                          </a:r>
                          <a:r>
                            <a:rPr lang="sv-SE" sz="850" u="none" strike="noStrike" dirty="0" err="1">
                              <a:effectLst/>
                            </a:rPr>
                            <a:t>vj</a:t>
                          </a:r>
                          <a:r>
                            <a:rPr lang="sv-SE" sz="850" u="none" strike="noStrike" dirty="0">
                              <a:effectLst/>
                            </a:rPr>
                            <a:t> </a:t>
                          </a:r>
                          <a:r>
                            <a:rPr lang="sv-SE" sz="1200" u="none" strike="noStrike" dirty="0">
                              <a:effectLst/>
                            </a:rPr>
                            <a:t>= 125 °C</a:t>
                          </a:r>
                          <a:endParaRPr lang="sv-SE" sz="1100" b="0" i="1" u="none" strike="noStrike" dirty="0">
                            <a:solidFill>
                              <a:srgbClr val="000000"/>
                            </a:solidFill>
                            <a:effectLst/>
                            <a:latin typeface="Source Sans Pro"/>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t"/>
                          <a:r>
                            <a:rPr lang="sv-SE" sz="1200" u="none" strike="noStrike" dirty="0" smtClean="0">
                              <a:solidFill>
                                <a:srgbClr val="FF0000"/>
                              </a:solidFill>
                              <a:effectLst/>
                            </a:rPr>
                            <a:t>3,4</a:t>
                          </a:r>
                          <a14:m>
                            <m:oMath xmlns:m="http://schemas.openxmlformats.org/officeDocument/2006/math">
                              <m:r>
                                <m:rPr>
                                  <m:sty m:val="p"/>
                                </m:rPr>
                                <a:rPr lang="sv-SE" sz="1200" b="0" i="0" u="none" strike="noStrike" smtClean="0">
                                  <a:solidFill>
                                    <a:srgbClr val="FF0000"/>
                                  </a:solidFill>
                                  <a:effectLst/>
                                  <a:latin typeface="Cambria Math" panose="02040503050406030204" pitchFamily="18" charset="0"/>
                                </a:rPr>
                                <m:t>Ω</m:t>
                              </m:r>
                            </m:oMath>
                          </a14:m>
                          <a:endParaRPr lang="sv-SE" sz="1200" b="0" i="0" u="none" strike="noStrike" dirty="0">
                            <a:solidFill>
                              <a:srgbClr val="FF0000"/>
                            </a:solidFill>
                            <a:effectLst/>
                            <a:latin typeface="Source Sans Pro"/>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61443675"/>
                      </a:ext>
                    </a:extLst>
                  </a:tr>
                  <a:tr h="381000">
                    <a:tc>
                      <a:txBody>
                        <a:bodyPr/>
                        <a:lstStyle/>
                        <a:p>
                          <a:pPr algn="l" fontAlgn="t"/>
                          <a:r>
                            <a:rPr lang="sv-SE" sz="1100" u="none" strike="noStrike">
                              <a:effectLst/>
                            </a:rPr>
                            <a:t>V</a:t>
                          </a:r>
                          <a:r>
                            <a:rPr lang="sv-SE" sz="850" u="none" strike="noStrike">
                              <a:effectLst/>
                            </a:rPr>
                            <a:t>GS </a:t>
                          </a:r>
                          <a:r>
                            <a:rPr lang="sv-SE" sz="1200" u="none" strike="noStrike">
                              <a:effectLst/>
                            </a:rPr>
                            <a:t>= 18 V,</a:t>
                          </a:r>
                          <a:br>
                            <a:rPr lang="sv-SE" sz="1200" u="none" strike="noStrike">
                              <a:effectLst/>
                            </a:rPr>
                          </a:br>
                          <a:r>
                            <a:rPr lang="sv-SE" sz="1100" u="none" strike="noStrike">
                              <a:effectLst/>
                            </a:rPr>
                            <a:t>T</a:t>
                          </a:r>
                          <a:r>
                            <a:rPr lang="sv-SE" sz="850" u="none" strike="noStrike">
                              <a:effectLst/>
                            </a:rPr>
                            <a:t>vj </a:t>
                          </a:r>
                          <a:r>
                            <a:rPr lang="sv-SE" sz="1200" u="none" strike="noStrike">
                              <a:effectLst/>
                            </a:rPr>
                            <a:t>= 175 °C</a:t>
                          </a:r>
                          <a:endParaRPr lang="sv-SE" sz="1100" b="0" i="1" u="none" strike="noStrike">
                            <a:solidFill>
                              <a:srgbClr val="000000"/>
                            </a:solidFill>
                            <a:effectLst/>
                            <a:latin typeface="Source Sans Pro"/>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t"/>
                          <a:r>
                            <a:rPr lang="sv-SE" sz="1200" u="none" strike="noStrike" dirty="0" smtClean="0">
                              <a:solidFill>
                                <a:srgbClr val="FF0000"/>
                              </a:solidFill>
                              <a:effectLst/>
                            </a:rPr>
                            <a:t>4,3</a:t>
                          </a:r>
                          <a14:m>
                            <m:oMath xmlns:m="http://schemas.openxmlformats.org/officeDocument/2006/math">
                              <m:r>
                                <m:rPr>
                                  <m:sty m:val="p"/>
                                </m:rPr>
                                <a:rPr lang="sv-SE" sz="1200" b="0" i="0" u="none" strike="noStrike" smtClean="0">
                                  <a:solidFill>
                                    <a:srgbClr val="FF0000"/>
                                  </a:solidFill>
                                  <a:effectLst/>
                                  <a:latin typeface="Cambria Math" panose="02040503050406030204" pitchFamily="18" charset="0"/>
                                </a:rPr>
                                <m:t>Ω</m:t>
                              </m:r>
                            </m:oMath>
                          </a14:m>
                          <a:endParaRPr lang="sv-SE" sz="1200" b="0" i="0" u="none" strike="noStrike" dirty="0">
                            <a:solidFill>
                              <a:srgbClr val="FF0000"/>
                            </a:solidFill>
                            <a:effectLst/>
                            <a:latin typeface="Source Sans Pro"/>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93678389"/>
                      </a:ext>
                    </a:extLst>
                  </a:tr>
                  <a:tr h="381000">
                    <a:tc>
                      <a:txBody>
                        <a:bodyPr/>
                        <a:lstStyle/>
                        <a:p>
                          <a:pPr algn="l" fontAlgn="t"/>
                          <a:r>
                            <a:rPr lang="sv-SE" sz="1100" u="none" strike="noStrike" dirty="0">
                              <a:effectLst/>
                            </a:rPr>
                            <a:t>V</a:t>
                          </a:r>
                          <a:r>
                            <a:rPr lang="sv-SE" sz="850" u="none" strike="noStrike" dirty="0">
                              <a:effectLst/>
                            </a:rPr>
                            <a:t>GS </a:t>
                          </a:r>
                          <a:r>
                            <a:rPr lang="sv-SE" sz="1200" u="none" strike="noStrike" dirty="0">
                              <a:effectLst/>
                            </a:rPr>
                            <a:t>= 15 V,</a:t>
                          </a:r>
                          <a:br>
                            <a:rPr lang="sv-SE" sz="1200" u="none" strike="noStrike" dirty="0">
                              <a:effectLst/>
                            </a:rPr>
                          </a:br>
                          <a:r>
                            <a:rPr lang="sv-SE" sz="1100" u="none" strike="noStrike" dirty="0" err="1">
                              <a:effectLst/>
                            </a:rPr>
                            <a:t>T</a:t>
                          </a:r>
                          <a:r>
                            <a:rPr lang="sv-SE" sz="850" u="none" strike="noStrike" dirty="0" err="1">
                              <a:effectLst/>
                            </a:rPr>
                            <a:t>vj</a:t>
                          </a:r>
                          <a:r>
                            <a:rPr lang="sv-SE" sz="850" u="none" strike="noStrike" dirty="0">
                              <a:effectLst/>
                            </a:rPr>
                            <a:t> </a:t>
                          </a:r>
                          <a:r>
                            <a:rPr lang="sv-SE" sz="1200" u="none" strike="noStrike" dirty="0">
                              <a:effectLst/>
                            </a:rPr>
                            <a:t>= 25 °C</a:t>
                          </a:r>
                          <a:endParaRPr lang="sv-SE" sz="1100" b="0" i="1" u="none" strike="noStrike" dirty="0">
                            <a:solidFill>
                              <a:srgbClr val="000000"/>
                            </a:solidFill>
                            <a:effectLst/>
                            <a:latin typeface="Source Sans Pro"/>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t"/>
                          <a:r>
                            <a:rPr lang="sv-SE" sz="1200" u="none" strike="noStrike" dirty="0" smtClean="0">
                              <a:solidFill>
                                <a:srgbClr val="FF0000"/>
                              </a:solidFill>
                              <a:effectLst/>
                            </a:rPr>
                            <a:t>2,4</a:t>
                          </a:r>
                          <a14:m>
                            <m:oMath xmlns:m="http://schemas.openxmlformats.org/officeDocument/2006/math">
                              <m:r>
                                <m:rPr>
                                  <m:sty m:val="p"/>
                                </m:rPr>
                                <a:rPr lang="sv-SE" sz="1200" b="0" i="0" u="none" strike="noStrike" smtClean="0">
                                  <a:solidFill>
                                    <a:srgbClr val="FF0000"/>
                                  </a:solidFill>
                                  <a:effectLst/>
                                  <a:latin typeface="Cambria Math" panose="02040503050406030204" pitchFamily="18" charset="0"/>
                                </a:rPr>
                                <m:t>Ω</m:t>
                              </m:r>
                            </m:oMath>
                          </a14:m>
                          <a:endParaRPr lang="sv-SE" sz="1200" b="0" i="0" u="none" strike="noStrike" dirty="0">
                            <a:solidFill>
                              <a:srgbClr val="FF0000"/>
                            </a:solidFill>
                            <a:effectLst/>
                            <a:latin typeface="Source Sans Pro"/>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27315180"/>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1086328586"/>
                  </p:ext>
                </p:extLst>
              </p:nvPr>
            </p:nvGraphicFramePr>
            <p:xfrm>
              <a:off x="7029091" y="2041584"/>
              <a:ext cx="1752600" cy="1524000"/>
            </p:xfrm>
            <a:graphic>
              <a:graphicData uri="http://schemas.openxmlformats.org/drawingml/2006/table">
                <a:tbl>
                  <a:tblPr>
                    <a:tableStyleId>{5C22544A-7EE6-4342-B048-85BDC9FD1C3A}</a:tableStyleId>
                  </a:tblPr>
                  <a:tblGrid>
                    <a:gridCol w="876300">
                      <a:extLst>
                        <a:ext uri="{9D8B030D-6E8A-4147-A177-3AD203B41FA5}">
                          <a16:colId xmlns:a16="http://schemas.microsoft.com/office/drawing/2014/main" val="3214802722"/>
                        </a:ext>
                      </a:extLst>
                    </a:gridCol>
                    <a:gridCol w="876300">
                      <a:extLst>
                        <a:ext uri="{9D8B030D-6E8A-4147-A177-3AD203B41FA5}">
                          <a16:colId xmlns:a16="http://schemas.microsoft.com/office/drawing/2014/main" val="3090613650"/>
                        </a:ext>
                      </a:extLst>
                    </a:gridCol>
                  </a:tblGrid>
                  <a:tr h="381000">
                    <a:tc>
                      <a:txBody>
                        <a:bodyPr/>
                        <a:lstStyle/>
                        <a:p>
                          <a:pPr algn="l" fontAlgn="t"/>
                          <a:r>
                            <a:rPr lang="sv-SE" sz="1100" u="none" strike="noStrike" dirty="0">
                              <a:effectLst/>
                            </a:rPr>
                            <a:t>V</a:t>
                          </a:r>
                          <a:r>
                            <a:rPr lang="sv-SE" sz="850" u="none" strike="noStrike" dirty="0">
                              <a:effectLst/>
                            </a:rPr>
                            <a:t>GS </a:t>
                          </a:r>
                          <a:r>
                            <a:rPr lang="sv-SE" sz="1200" u="none" strike="noStrike" dirty="0">
                              <a:effectLst/>
                            </a:rPr>
                            <a:t>= 18 V,</a:t>
                          </a:r>
                          <a:br>
                            <a:rPr lang="sv-SE" sz="1200" u="none" strike="noStrike" dirty="0">
                              <a:effectLst/>
                            </a:rPr>
                          </a:br>
                          <a:r>
                            <a:rPr lang="sv-SE" sz="1100" u="none" strike="noStrike" dirty="0" err="1">
                              <a:effectLst/>
                            </a:rPr>
                            <a:t>T</a:t>
                          </a:r>
                          <a:r>
                            <a:rPr lang="sv-SE" sz="850" u="none" strike="noStrike" dirty="0" err="1">
                              <a:effectLst/>
                            </a:rPr>
                            <a:t>vj</a:t>
                          </a:r>
                          <a:r>
                            <a:rPr lang="sv-SE" sz="850" u="none" strike="noStrike" dirty="0">
                              <a:effectLst/>
                            </a:rPr>
                            <a:t> </a:t>
                          </a:r>
                          <a:r>
                            <a:rPr lang="sv-SE" sz="1200" u="none" strike="noStrike" dirty="0">
                              <a:effectLst/>
                            </a:rPr>
                            <a:t>= 25 °C</a:t>
                          </a:r>
                          <a:endParaRPr lang="sv-SE" sz="1100" b="0" i="1" u="none" strike="noStrike" dirty="0">
                            <a:solidFill>
                              <a:srgbClr val="000000"/>
                            </a:solidFill>
                            <a:effectLst/>
                            <a:latin typeface="Source Sans Pro"/>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sv-SE"/>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694" t="-9524" r="-1389" b="-320635"/>
                          </a:stretch>
                        </a:blipFill>
                      </a:tcPr>
                    </a:tc>
                    <a:extLst>
                      <a:ext uri="{0D108BD9-81ED-4DB2-BD59-A6C34878D82A}">
                        <a16:rowId xmlns:a16="http://schemas.microsoft.com/office/drawing/2014/main" val="3125359964"/>
                      </a:ext>
                    </a:extLst>
                  </a:tr>
                  <a:tr h="381000">
                    <a:tc>
                      <a:txBody>
                        <a:bodyPr/>
                        <a:lstStyle/>
                        <a:p>
                          <a:pPr algn="l" fontAlgn="t"/>
                          <a:r>
                            <a:rPr lang="sv-SE" sz="1100" u="none" strike="noStrike" dirty="0">
                              <a:effectLst/>
                            </a:rPr>
                            <a:t>V</a:t>
                          </a:r>
                          <a:r>
                            <a:rPr lang="sv-SE" sz="850" u="none" strike="noStrike" dirty="0">
                              <a:effectLst/>
                            </a:rPr>
                            <a:t>GS </a:t>
                          </a:r>
                          <a:r>
                            <a:rPr lang="sv-SE" sz="1200" u="none" strike="noStrike" dirty="0">
                              <a:effectLst/>
                            </a:rPr>
                            <a:t>= 18 V,</a:t>
                          </a:r>
                          <a:br>
                            <a:rPr lang="sv-SE" sz="1200" u="none" strike="noStrike" dirty="0">
                              <a:effectLst/>
                            </a:rPr>
                          </a:br>
                          <a:r>
                            <a:rPr lang="sv-SE" sz="1100" u="none" strike="noStrike" dirty="0" err="1">
                              <a:effectLst/>
                            </a:rPr>
                            <a:t>T</a:t>
                          </a:r>
                          <a:r>
                            <a:rPr lang="sv-SE" sz="850" u="none" strike="noStrike" dirty="0" err="1">
                              <a:effectLst/>
                            </a:rPr>
                            <a:t>vj</a:t>
                          </a:r>
                          <a:r>
                            <a:rPr lang="sv-SE" sz="850" u="none" strike="noStrike" dirty="0">
                              <a:effectLst/>
                            </a:rPr>
                            <a:t> </a:t>
                          </a:r>
                          <a:r>
                            <a:rPr lang="sv-SE" sz="1200" u="none" strike="noStrike" dirty="0">
                              <a:effectLst/>
                            </a:rPr>
                            <a:t>= 125 °C</a:t>
                          </a:r>
                          <a:endParaRPr lang="sv-SE" sz="1100" b="0" i="1" u="none" strike="noStrike" dirty="0">
                            <a:solidFill>
                              <a:srgbClr val="000000"/>
                            </a:solidFill>
                            <a:effectLst/>
                            <a:latin typeface="Source Sans Pro"/>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sv-SE"/>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694" t="-109524" r="-1389" b="-220635"/>
                          </a:stretch>
                        </a:blipFill>
                      </a:tcPr>
                    </a:tc>
                    <a:extLst>
                      <a:ext uri="{0D108BD9-81ED-4DB2-BD59-A6C34878D82A}">
                        <a16:rowId xmlns:a16="http://schemas.microsoft.com/office/drawing/2014/main" val="3661443675"/>
                      </a:ext>
                    </a:extLst>
                  </a:tr>
                  <a:tr h="381000">
                    <a:tc>
                      <a:txBody>
                        <a:bodyPr/>
                        <a:lstStyle/>
                        <a:p>
                          <a:pPr algn="l" fontAlgn="t"/>
                          <a:r>
                            <a:rPr lang="sv-SE" sz="1100" u="none" strike="noStrike">
                              <a:effectLst/>
                            </a:rPr>
                            <a:t>V</a:t>
                          </a:r>
                          <a:r>
                            <a:rPr lang="sv-SE" sz="850" u="none" strike="noStrike">
                              <a:effectLst/>
                            </a:rPr>
                            <a:t>GS </a:t>
                          </a:r>
                          <a:r>
                            <a:rPr lang="sv-SE" sz="1200" u="none" strike="noStrike">
                              <a:effectLst/>
                            </a:rPr>
                            <a:t>= 18 V,</a:t>
                          </a:r>
                          <a:br>
                            <a:rPr lang="sv-SE" sz="1200" u="none" strike="noStrike">
                              <a:effectLst/>
                            </a:rPr>
                          </a:br>
                          <a:r>
                            <a:rPr lang="sv-SE" sz="1100" u="none" strike="noStrike">
                              <a:effectLst/>
                            </a:rPr>
                            <a:t>T</a:t>
                          </a:r>
                          <a:r>
                            <a:rPr lang="sv-SE" sz="850" u="none" strike="noStrike">
                              <a:effectLst/>
                            </a:rPr>
                            <a:t>vj </a:t>
                          </a:r>
                          <a:r>
                            <a:rPr lang="sv-SE" sz="1200" u="none" strike="noStrike">
                              <a:effectLst/>
                            </a:rPr>
                            <a:t>= 175 °C</a:t>
                          </a:r>
                          <a:endParaRPr lang="sv-SE" sz="1100" b="0" i="1" u="none" strike="noStrike">
                            <a:solidFill>
                              <a:srgbClr val="000000"/>
                            </a:solidFill>
                            <a:effectLst/>
                            <a:latin typeface="Source Sans Pro"/>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sv-SE"/>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694" t="-212903" r="-1389" b="-124194"/>
                          </a:stretch>
                        </a:blipFill>
                      </a:tcPr>
                    </a:tc>
                    <a:extLst>
                      <a:ext uri="{0D108BD9-81ED-4DB2-BD59-A6C34878D82A}">
                        <a16:rowId xmlns:a16="http://schemas.microsoft.com/office/drawing/2014/main" val="2793678389"/>
                      </a:ext>
                    </a:extLst>
                  </a:tr>
                  <a:tr h="381000">
                    <a:tc>
                      <a:txBody>
                        <a:bodyPr/>
                        <a:lstStyle/>
                        <a:p>
                          <a:pPr algn="l" fontAlgn="t"/>
                          <a:r>
                            <a:rPr lang="sv-SE" sz="1100" u="none" strike="noStrike" dirty="0">
                              <a:effectLst/>
                            </a:rPr>
                            <a:t>V</a:t>
                          </a:r>
                          <a:r>
                            <a:rPr lang="sv-SE" sz="850" u="none" strike="noStrike" dirty="0">
                              <a:effectLst/>
                            </a:rPr>
                            <a:t>GS </a:t>
                          </a:r>
                          <a:r>
                            <a:rPr lang="sv-SE" sz="1200" u="none" strike="noStrike" dirty="0">
                              <a:effectLst/>
                            </a:rPr>
                            <a:t>= 15 V,</a:t>
                          </a:r>
                          <a:br>
                            <a:rPr lang="sv-SE" sz="1200" u="none" strike="noStrike" dirty="0">
                              <a:effectLst/>
                            </a:rPr>
                          </a:br>
                          <a:r>
                            <a:rPr lang="sv-SE" sz="1100" u="none" strike="noStrike" dirty="0" err="1">
                              <a:effectLst/>
                            </a:rPr>
                            <a:t>T</a:t>
                          </a:r>
                          <a:r>
                            <a:rPr lang="sv-SE" sz="850" u="none" strike="noStrike" dirty="0" err="1">
                              <a:effectLst/>
                            </a:rPr>
                            <a:t>vj</a:t>
                          </a:r>
                          <a:r>
                            <a:rPr lang="sv-SE" sz="850" u="none" strike="noStrike" dirty="0">
                              <a:effectLst/>
                            </a:rPr>
                            <a:t> </a:t>
                          </a:r>
                          <a:r>
                            <a:rPr lang="sv-SE" sz="1200" u="none" strike="noStrike" dirty="0">
                              <a:effectLst/>
                            </a:rPr>
                            <a:t>= 25 °C</a:t>
                          </a:r>
                          <a:endParaRPr lang="sv-SE" sz="1100" b="0" i="1" u="none" strike="noStrike" dirty="0">
                            <a:solidFill>
                              <a:srgbClr val="000000"/>
                            </a:solidFill>
                            <a:effectLst/>
                            <a:latin typeface="Source Sans Pro"/>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sv-SE"/>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694" t="-307937" r="-1389" b="-22222"/>
                          </a:stretch>
                        </a:blipFill>
                      </a:tcPr>
                    </a:tc>
                    <a:extLst>
                      <a:ext uri="{0D108BD9-81ED-4DB2-BD59-A6C34878D82A}">
                        <a16:rowId xmlns:a16="http://schemas.microsoft.com/office/drawing/2014/main" val="2327315180"/>
                      </a:ext>
                    </a:extLst>
                  </a:tr>
                </a:tbl>
              </a:graphicData>
            </a:graphic>
          </p:graphicFrame>
        </mc:Fallback>
      </mc:AlternateContent>
      <p:cxnSp>
        <p:nvCxnSpPr>
          <p:cNvPr id="9" name="Straight Arrow Connector 8"/>
          <p:cNvCxnSpPr/>
          <p:nvPr/>
        </p:nvCxnSpPr>
        <p:spPr>
          <a:xfrm flipV="1">
            <a:off x="5317446" y="2803584"/>
            <a:ext cx="1555515" cy="15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endCxn id="16" idx="0"/>
          </p:cNvCxnSpPr>
          <p:nvPr/>
        </p:nvCxnSpPr>
        <p:spPr>
          <a:xfrm>
            <a:off x="6499654" y="5226908"/>
            <a:ext cx="2724170" cy="44616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6175824" y="5673068"/>
            <a:ext cx="6096000" cy="923330"/>
          </a:xfrm>
          <a:prstGeom prst="rect">
            <a:avLst/>
          </a:prstGeom>
        </p:spPr>
        <p:txBody>
          <a:bodyPr>
            <a:spAutoFit/>
          </a:bodyPr>
          <a:lstStyle/>
          <a:p>
            <a:pPr lvl="0"/>
            <a:r>
              <a:rPr lang="en-US" dirty="0"/>
              <a:t>per MOSFET, </a:t>
            </a:r>
            <a:r>
              <a:rPr lang="en-US" dirty="0" err="1"/>
              <a:t>Tf</a:t>
            </a:r>
            <a:r>
              <a:rPr lang="en-US" dirty="0"/>
              <a:t> = 60 °C, ΔV/</a:t>
            </a:r>
            <a:r>
              <a:rPr lang="en-US" dirty="0" err="1"/>
              <a:t>Δt</a:t>
            </a:r>
            <a:r>
              <a:rPr lang="en-US" dirty="0"/>
              <a:t> = 10 dm³/min,</a:t>
            </a:r>
            <a:br>
              <a:rPr lang="en-US" dirty="0"/>
            </a:br>
            <a:r>
              <a:rPr lang="en-US" dirty="0"/>
              <a:t>						50% water / 50% </a:t>
            </a:r>
            <a:r>
              <a:rPr lang="en-US" dirty="0" err="1"/>
              <a:t>ethylenglycol</a:t>
            </a:r>
            <a:r>
              <a:rPr lang="en-US" dirty="0"/>
              <a:t>   56 </a:t>
            </a:r>
            <a:endParaRPr lang="sv-SE" dirty="0"/>
          </a:p>
        </p:txBody>
      </p:sp>
    </p:spTree>
    <p:extLst>
      <p:ext uri="{BB962C8B-B14F-4D97-AF65-F5344CB8AC3E}">
        <p14:creationId xmlns:p14="http://schemas.microsoft.com/office/powerpoint/2010/main" val="361429375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8649" y="276123"/>
            <a:ext cx="10990263" cy="568412"/>
          </a:xfrm>
        </p:spPr>
        <p:txBody>
          <a:bodyPr/>
          <a:lstStyle/>
          <a:p>
            <a:r>
              <a:rPr lang="en-US" dirty="0" smtClean="0"/>
              <a:t>Datasheet-driven Loss </a:t>
            </a:r>
            <a:r>
              <a:rPr lang="en-US" dirty="0"/>
              <a:t>Calculation </a:t>
            </a:r>
            <a:endParaRPr lang="sv-SE" dirty="0"/>
          </a:p>
        </p:txBody>
      </p:sp>
      <p:sp>
        <p:nvSpPr>
          <p:cNvPr id="4" name="Content Placeholder 3"/>
          <p:cNvSpPr txBox="1">
            <a:spLocks noGrp="1"/>
          </p:cNvSpPr>
          <p:nvPr>
            <p:ph idx="1"/>
          </p:nvPr>
        </p:nvSpPr>
        <p:spPr>
          <a:xfrm>
            <a:off x="444800" y="1164978"/>
            <a:ext cx="3301365" cy="774571"/>
          </a:xfrm>
          <a:prstGeom prst="rect">
            <a:avLst/>
          </a:prstGeom>
          <a:noFill/>
        </p:spPr>
        <p:txBody>
          <a:bodyPr wrap="square" rtlCol="0">
            <a:spAutoFit/>
          </a:bodyPr>
          <a:lstStyle/>
          <a:p>
            <a:pPr marL="0" indent="0">
              <a:buNone/>
            </a:pPr>
            <a:r>
              <a:rPr lang="sv-SE" dirty="0" err="1" smtClean="0"/>
              <a:t>Voltage</a:t>
            </a:r>
            <a:r>
              <a:rPr lang="sv-SE" dirty="0" smtClean="0"/>
              <a:t> rating: 1700V </a:t>
            </a:r>
          </a:p>
          <a:p>
            <a:pPr marL="0" indent="0">
              <a:buNone/>
            </a:pPr>
            <a:r>
              <a:rPr lang="sv-SE" dirty="0" err="1" smtClean="0"/>
              <a:t>Current</a:t>
            </a:r>
            <a:r>
              <a:rPr lang="sv-SE" dirty="0" smtClean="0"/>
              <a:t> rating: 700A</a:t>
            </a:r>
          </a:p>
        </p:txBody>
      </p:sp>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3584560473"/>
                  </p:ext>
                </p:extLst>
              </p:nvPr>
            </p:nvGraphicFramePr>
            <p:xfrm>
              <a:off x="5294432" y="1095967"/>
              <a:ext cx="5895022" cy="1103820"/>
            </p:xfrm>
            <a:graphic>
              <a:graphicData uri="http://schemas.openxmlformats.org/drawingml/2006/table">
                <a:tbl>
                  <a:tblPr>
                    <a:tableStyleId>{5C22544A-7EE6-4342-B048-85BDC9FD1C3A}</a:tableStyleId>
                  </a:tblPr>
                  <a:tblGrid>
                    <a:gridCol w="826741">
                      <a:extLst>
                        <a:ext uri="{9D8B030D-6E8A-4147-A177-3AD203B41FA5}">
                          <a16:colId xmlns:a16="http://schemas.microsoft.com/office/drawing/2014/main" val="3449397765"/>
                        </a:ext>
                      </a:extLst>
                    </a:gridCol>
                    <a:gridCol w="3414799">
                      <a:extLst>
                        <a:ext uri="{9D8B030D-6E8A-4147-A177-3AD203B41FA5}">
                          <a16:colId xmlns:a16="http://schemas.microsoft.com/office/drawing/2014/main" val="1481575902"/>
                        </a:ext>
                      </a:extLst>
                    </a:gridCol>
                    <a:gridCol w="826741">
                      <a:extLst>
                        <a:ext uri="{9D8B030D-6E8A-4147-A177-3AD203B41FA5}">
                          <a16:colId xmlns:a16="http://schemas.microsoft.com/office/drawing/2014/main" val="2726582199"/>
                        </a:ext>
                      </a:extLst>
                    </a:gridCol>
                    <a:gridCol w="826741">
                      <a:extLst>
                        <a:ext uri="{9D8B030D-6E8A-4147-A177-3AD203B41FA5}">
                          <a16:colId xmlns:a16="http://schemas.microsoft.com/office/drawing/2014/main" val="961435461"/>
                        </a:ext>
                      </a:extLst>
                    </a:gridCol>
                  </a:tblGrid>
                  <a:tr h="188764">
                    <a:tc rowSpan="3">
                      <a:txBody>
                        <a:bodyPr/>
                        <a:lstStyle/>
                        <a:p>
                          <a:pPr algn="ctr" fontAlgn="t"/>
                          <a:r>
                            <a:rPr lang="sv-SE" sz="1000" u="none" strike="noStrike" dirty="0">
                              <a:effectLst/>
                            </a:rPr>
                            <a:t>E</a:t>
                          </a:r>
                          <a:r>
                            <a:rPr lang="sv-SE" sz="800" u="none" strike="noStrike" dirty="0">
                              <a:effectLst/>
                            </a:rPr>
                            <a:t>on</a:t>
                          </a:r>
                          <a:endParaRPr lang="sv-SE" sz="1000" b="0" i="1" u="none" strike="noStrike" dirty="0">
                            <a:solidFill>
                              <a:srgbClr val="000000"/>
                            </a:solidFill>
                            <a:effectLst/>
                            <a:latin typeface="Source Sans Pro"/>
                          </a:endParaRPr>
                        </a:p>
                      </a:txBody>
                      <a:tcPr marL="8989" marR="8989" marT="898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algn="l" fontAlgn="t"/>
                          <a:r>
                            <a:rPr lang="sv-SE" sz="1000" u="none" strike="noStrike" dirty="0">
                              <a:effectLst/>
                            </a:rPr>
                            <a:t>I</a:t>
                          </a:r>
                          <a:r>
                            <a:rPr lang="sv-SE" sz="800" u="none" strike="noStrike" dirty="0">
                              <a:effectLst/>
                            </a:rPr>
                            <a:t>D </a:t>
                          </a:r>
                          <a:r>
                            <a:rPr lang="sv-SE" sz="1100" u="none" strike="noStrike" dirty="0">
                              <a:effectLst/>
                            </a:rPr>
                            <a:t>= 700 A, </a:t>
                          </a:r>
                          <a:r>
                            <a:rPr lang="sv-SE" sz="1000" u="none" strike="noStrike" dirty="0">
                              <a:effectLst/>
                            </a:rPr>
                            <a:t>V</a:t>
                          </a:r>
                          <a:r>
                            <a:rPr lang="sv-SE" sz="800" u="none" strike="noStrike" dirty="0">
                              <a:effectLst/>
                            </a:rPr>
                            <a:t>DS </a:t>
                          </a:r>
                          <a:r>
                            <a:rPr lang="sv-SE" sz="1100" u="none" strike="noStrike" dirty="0">
                              <a:effectLst/>
                            </a:rPr>
                            <a:t>= 1200 V</a:t>
                          </a:r>
                          <a:r>
                            <a:rPr lang="sv-SE" sz="1000" u="none" strike="noStrike" dirty="0">
                              <a:effectLst/>
                            </a:rPr>
                            <a:t>, L</a:t>
                          </a:r>
                          <a:r>
                            <a:rPr lang="el-GR" sz="1000" u="none" strike="noStrike" dirty="0">
                              <a:effectLst/>
                            </a:rPr>
                            <a:t>σ = 12 </a:t>
                          </a:r>
                          <a:r>
                            <a:rPr lang="sv-SE" sz="1000" u="none" strike="noStrike" dirty="0" err="1">
                              <a:effectLst/>
                            </a:rPr>
                            <a:t>nH</a:t>
                          </a:r>
                          <a:r>
                            <a:rPr lang="sv-SE" sz="1000" u="none" strike="noStrike" dirty="0">
                              <a:effectLst/>
                            </a:rPr>
                            <a:t>, VGS = 18/-5 V, </a:t>
                          </a:r>
                          <a:r>
                            <a:rPr lang="sv-SE" sz="1000" u="none" strike="noStrike" dirty="0" err="1">
                              <a:effectLst/>
                            </a:rPr>
                            <a:t>RGon</a:t>
                          </a:r>
                          <a:r>
                            <a:rPr lang="sv-SE" sz="1000" u="none" strike="noStrike" dirty="0">
                              <a:effectLst/>
                            </a:rPr>
                            <a:t> = 0.51 </a:t>
                          </a:r>
                          <a:r>
                            <a:rPr lang="el-GR" sz="1000" u="none" strike="noStrike" dirty="0">
                              <a:effectLst/>
                            </a:rPr>
                            <a:t>Ω, </a:t>
                          </a:r>
                          <a:r>
                            <a:rPr lang="sv-SE" sz="1000" u="none" strike="noStrike" dirty="0">
                              <a:effectLst/>
                            </a:rPr>
                            <a:t>di/dt = 9 </a:t>
                          </a:r>
                          <a:r>
                            <a:rPr lang="sv-SE" sz="1000" u="none" strike="noStrike" dirty="0" err="1">
                              <a:effectLst/>
                            </a:rPr>
                            <a:t>kA</a:t>
                          </a:r>
                          <a:r>
                            <a:rPr lang="sv-SE" sz="1000" u="none" strike="noStrike" dirty="0">
                              <a:effectLst/>
                            </a:rPr>
                            <a:t>/µs (</a:t>
                          </a:r>
                          <a:r>
                            <a:rPr lang="sv-SE" sz="1000" u="none" strike="noStrike" dirty="0" err="1">
                              <a:effectLst/>
                            </a:rPr>
                            <a:t>Tvj</a:t>
                          </a:r>
                          <a:r>
                            <a:rPr lang="sv-SE" sz="1000" u="none" strike="noStrike" dirty="0">
                              <a:effectLst/>
                            </a:rPr>
                            <a:t> = 175 °C)</a:t>
                          </a:r>
                          <a:endParaRPr lang="sv-SE" sz="1000" b="0" i="0" u="none" strike="noStrike" dirty="0">
                            <a:solidFill>
                              <a:srgbClr val="000000"/>
                            </a:solidFill>
                            <a:effectLst/>
                            <a:latin typeface="Source Sans Pro"/>
                          </a:endParaRPr>
                        </a:p>
                      </a:txBody>
                      <a:tcPr marL="8989" marR="8989" marT="898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sv-SE" sz="1000" u="none" strike="noStrike">
                              <a:effectLst/>
                            </a:rPr>
                            <a:t>T</a:t>
                          </a:r>
                          <a:r>
                            <a:rPr lang="sv-SE" sz="800" u="none" strike="noStrike">
                              <a:effectLst/>
                            </a:rPr>
                            <a:t>vj </a:t>
                          </a:r>
                          <a:r>
                            <a:rPr lang="sv-SE" sz="1100" u="none" strike="noStrike">
                              <a:effectLst/>
                            </a:rPr>
                            <a:t>= 25 °C</a:t>
                          </a:r>
                          <a:endParaRPr lang="sv-SE" sz="1000" b="0" i="1" u="none" strike="noStrike">
                            <a:solidFill>
                              <a:srgbClr val="000000"/>
                            </a:solidFill>
                            <a:effectLst/>
                            <a:latin typeface="Source Sans Pro"/>
                          </a:endParaRPr>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14:m>
                            <m:oMathPara xmlns:m="http://schemas.openxmlformats.org/officeDocument/2006/math">
                              <m:oMathParaPr>
                                <m:jc m:val="centerGroup"/>
                              </m:oMathParaPr>
                              <m:oMath xmlns:m="http://schemas.openxmlformats.org/officeDocument/2006/math">
                                <m:r>
                                  <a:rPr lang="sv-SE" sz="1100" i="1" u="none" strike="noStrike" dirty="0" smtClean="0">
                                    <a:solidFill>
                                      <a:srgbClr val="FF0000"/>
                                    </a:solidFill>
                                    <a:effectLst/>
                                    <a:latin typeface="Cambria Math" panose="02040503050406030204" pitchFamily="18" charset="0"/>
                                  </a:rPr>
                                  <m:t>64,0 </m:t>
                                </m:r>
                                <m:r>
                                  <a:rPr lang="sv-SE" sz="1100" i="1" u="none" strike="noStrike" dirty="0" err="1" smtClean="0">
                                    <a:solidFill>
                                      <a:srgbClr val="FF0000"/>
                                    </a:solidFill>
                                    <a:effectLst/>
                                    <a:latin typeface="Cambria Math" panose="02040503050406030204" pitchFamily="18" charset="0"/>
                                  </a:rPr>
                                  <m:t>𝑚𝐽</m:t>
                                </m:r>
                              </m:oMath>
                            </m:oMathPara>
                          </a14:m>
                          <a:endParaRPr lang="sv-SE" sz="1100" b="0" i="0" u="none" strike="noStrike" dirty="0">
                            <a:solidFill>
                              <a:srgbClr val="FF0000"/>
                            </a:solidFill>
                            <a:effectLst/>
                            <a:latin typeface="Source Sans Pro"/>
                          </a:endParaRPr>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52689815"/>
                      </a:ext>
                    </a:extLst>
                  </a:tr>
                  <a:tr h="181573">
                    <a:tc vMerge="1">
                      <a:txBody>
                        <a:bodyPr/>
                        <a:lstStyle/>
                        <a:p>
                          <a:endParaRPr lang="sv-SE"/>
                        </a:p>
                      </a:txBody>
                      <a:tcPr/>
                    </a:tc>
                    <a:tc vMerge="1">
                      <a:txBody>
                        <a:bodyPr/>
                        <a:lstStyle/>
                        <a:p>
                          <a:endParaRPr lang="sv-SE"/>
                        </a:p>
                      </a:txBody>
                      <a:tcPr/>
                    </a:tc>
                    <a:tc>
                      <a:txBody>
                        <a:bodyPr/>
                        <a:lstStyle/>
                        <a:p>
                          <a:pPr algn="l" fontAlgn="ctr"/>
                          <a:r>
                            <a:rPr lang="sv-SE" sz="1000" u="none" strike="noStrike" dirty="0" err="1">
                              <a:effectLst/>
                            </a:rPr>
                            <a:t>T</a:t>
                          </a:r>
                          <a:r>
                            <a:rPr lang="sv-SE" sz="800" u="none" strike="noStrike" dirty="0" err="1">
                              <a:effectLst/>
                            </a:rPr>
                            <a:t>vj</a:t>
                          </a:r>
                          <a:r>
                            <a:rPr lang="sv-SE" sz="800" u="none" strike="noStrike" dirty="0">
                              <a:effectLst/>
                            </a:rPr>
                            <a:t> </a:t>
                          </a:r>
                          <a:r>
                            <a:rPr lang="sv-SE" sz="1100" u="none" strike="noStrike" dirty="0">
                              <a:effectLst/>
                            </a:rPr>
                            <a:t>= 125 °C</a:t>
                          </a:r>
                          <a:endParaRPr lang="sv-SE" sz="1000" b="0" i="1" u="none" strike="noStrike" dirty="0">
                            <a:solidFill>
                              <a:srgbClr val="000000"/>
                            </a:solidFill>
                            <a:effectLst/>
                            <a:latin typeface="Source Sans Pro"/>
                          </a:endParaRPr>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14:m>
                            <m:oMathPara xmlns:m="http://schemas.openxmlformats.org/officeDocument/2006/math">
                              <m:oMathParaPr>
                                <m:jc m:val="centerGroup"/>
                              </m:oMathParaPr>
                              <m:oMath xmlns:m="http://schemas.openxmlformats.org/officeDocument/2006/math">
                                <m:r>
                                  <a:rPr lang="sv-SE" sz="1100" i="1" u="none" strike="noStrike" dirty="0" smtClean="0">
                                    <a:solidFill>
                                      <a:srgbClr val="FF0000"/>
                                    </a:solidFill>
                                    <a:effectLst/>
                                    <a:latin typeface="Cambria Math" panose="02040503050406030204" pitchFamily="18" charset="0"/>
                                  </a:rPr>
                                  <m:t>70,0 </m:t>
                                </m:r>
                                <m:r>
                                  <a:rPr lang="sv-SE" sz="1100" i="1" u="none" strike="noStrike" dirty="0" err="1" smtClean="0">
                                    <a:solidFill>
                                      <a:srgbClr val="FF0000"/>
                                    </a:solidFill>
                                    <a:effectLst/>
                                    <a:latin typeface="Cambria Math" panose="02040503050406030204" pitchFamily="18" charset="0"/>
                                  </a:rPr>
                                  <m:t>𝑚𝐽</m:t>
                                </m:r>
                              </m:oMath>
                            </m:oMathPara>
                          </a14:m>
                          <a:endParaRPr lang="sv-SE" sz="1100" b="0" i="0" u="none" strike="noStrike" dirty="0">
                            <a:solidFill>
                              <a:srgbClr val="FF0000"/>
                            </a:solidFill>
                            <a:effectLst/>
                            <a:latin typeface="Source Sans Pro"/>
                          </a:endParaRPr>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63103614"/>
                      </a:ext>
                    </a:extLst>
                  </a:tr>
                  <a:tr h="181573">
                    <a:tc vMerge="1">
                      <a:txBody>
                        <a:bodyPr/>
                        <a:lstStyle/>
                        <a:p>
                          <a:endParaRPr lang="sv-SE"/>
                        </a:p>
                      </a:txBody>
                      <a:tcPr/>
                    </a:tc>
                    <a:tc vMerge="1">
                      <a:txBody>
                        <a:bodyPr/>
                        <a:lstStyle/>
                        <a:p>
                          <a:endParaRPr lang="sv-SE"/>
                        </a:p>
                      </a:txBody>
                      <a:tcPr/>
                    </a:tc>
                    <a:tc>
                      <a:txBody>
                        <a:bodyPr/>
                        <a:lstStyle/>
                        <a:p>
                          <a:pPr algn="l" fontAlgn="ctr"/>
                          <a:r>
                            <a:rPr lang="sv-SE" sz="1000" u="none" strike="noStrike">
                              <a:effectLst/>
                            </a:rPr>
                            <a:t>T</a:t>
                          </a:r>
                          <a:r>
                            <a:rPr lang="sv-SE" sz="800" u="none" strike="noStrike">
                              <a:effectLst/>
                            </a:rPr>
                            <a:t>vj </a:t>
                          </a:r>
                          <a:r>
                            <a:rPr lang="sv-SE" sz="1100" u="none" strike="noStrike">
                              <a:effectLst/>
                            </a:rPr>
                            <a:t>= 175 °C</a:t>
                          </a:r>
                          <a:endParaRPr lang="sv-SE" sz="1000" b="0" i="1" u="none" strike="noStrike">
                            <a:solidFill>
                              <a:srgbClr val="000000"/>
                            </a:solidFill>
                            <a:effectLst/>
                            <a:latin typeface="Source Sans Pro"/>
                          </a:endParaRPr>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14:m>
                            <m:oMathPara xmlns:m="http://schemas.openxmlformats.org/officeDocument/2006/math">
                              <m:oMathParaPr>
                                <m:jc m:val="centerGroup"/>
                              </m:oMathParaPr>
                              <m:oMath xmlns:m="http://schemas.openxmlformats.org/officeDocument/2006/math">
                                <m:r>
                                  <a:rPr lang="sv-SE" sz="1100" i="1" u="none" strike="noStrike" dirty="0" smtClean="0">
                                    <a:solidFill>
                                      <a:srgbClr val="FF0000"/>
                                    </a:solidFill>
                                    <a:effectLst/>
                                    <a:latin typeface="Cambria Math" panose="02040503050406030204" pitchFamily="18" charset="0"/>
                                  </a:rPr>
                                  <m:t>86,0 </m:t>
                                </m:r>
                                <m:r>
                                  <a:rPr lang="sv-SE" sz="1100" i="1" u="none" strike="noStrike" dirty="0" err="1" smtClean="0">
                                    <a:solidFill>
                                      <a:srgbClr val="FF0000"/>
                                    </a:solidFill>
                                    <a:effectLst/>
                                    <a:latin typeface="Cambria Math" panose="02040503050406030204" pitchFamily="18" charset="0"/>
                                  </a:rPr>
                                  <m:t>𝑚𝐽</m:t>
                                </m:r>
                              </m:oMath>
                            </m:oMathPara>
                          </a14:m>
                          <a:endParaRPr lang="sv-SE" sz="1100" b="0" i="0" u="none" strike="noStrike" dirty="0">
                            <a:solidFill>
                              <a:srgbClr val="FF0000"/>
                            </a:solidFill>
                            <a:effectLst/>
                            <a:latin typeface="Source Sans Pro"/>
                          </a:endParaRPr>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82571821"/>
                      </a:ext>
                    </a:extLst>
                  </a:tr>
                  <a:tr h="188764">
                    <a:tc rowSpan="3">
                      <a:txBody>
                        <a:bodyPr/>
                        <a:lstStyle/>
                        <a:p>
                          <a:pPr algn="ctr" fontAlgn="t"/>
                          <a:r>
                            <a:rPr lang="sv-SE" sz="1000" u="none" strike="noStrike">
                              <a:effectLst/>
                            </a:rPr>
                            <a:t>E</a:t>
                          </a:r>
                          <a:r>
                            <a:rPr lang="sv-SE" sz="800" u="none" strike="noStrike">
                              <a:effectLst/>
                            </a:rPr>
                            <a:t>off</a:t>
                          </a:r>
                          <a:endParaRPr lang="sv-SE" sz="1000" b="0" i="1" u="none" strike="noStrike">
                            <a:solidFill>
                              <a:srgbClr val="000000"/>
                            </a:solidFill>
                            <a:effectLst/>
                            <a:latin typeface="Source Sans Pro"/>
                          </a:endParaRPr>
                        </a:p>
                      </a:txBody>
                      <a:tcPr marL="8989" marR="8989" marT="898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algn="l" fontAlgn="t"/>
                          <a:r>
                            <a:rPr lang="sv-SE" sz="1000" u="none" strike="noStrike" dirty="0">
                              <a:effectLst/>
                            </a:rPr>
                            <a:t>I</a:t>
                          </a:r>
                          <a:r>
                            <a:rPr lang="sv-SE" sz="800" u="none" strike="noStrike" dirty="0">
                              <a:effectLst/>
                            </a:rPr>
                            <a:t>D </a:t>
                          </a:r>
                          <a:r>
                            <a:rPr lang="sv-SE" sz="1100" u="none" strike="noStrike" dirty="0">
                              <a:effectLst/>
                            </a:rPr>
                            <a:t>= 700 A, </a:t>
                          </a:r>
                          <a:r>
                            <a:rPr lang="sv-SE" sz="1000" u="none" strike="noStrike" dirty="0">
                              <a:effectLst/>
                            </a:rPr>
                            <a:t>V</a:t>
                          </a:r>
                          <a:r>
                            <a:rPr lang="sv-SE" sz="800" u="none" strike="noStrike" dirty="0">
                              <a:effectLst/>
                            </a:rPr>
                            <a:t>DS </a:t>
                          </a:r>
                          <a:r>
                            <a:rPr lang="sv-SE" sz="1100" u="none" strike="noStrike" dirty="0">
                              <a:effectLst/>
                            </a:rPr>
                            <a:t>= 1200 V</a:t>
                          </a:r>
                          <a:r>
                            <a:rPr lang="sv-SE" sz="1000" u="none" strike="noStrike" dirty="0">
                              <a:effectLst/>
                            </a:rPr>
                            <a:t>, L</a:t>
                          </a:r>
                          <a:r>
                            <a:rPr lang="el-GR" sz="1000" u="none" strike="noStrike" dirty="0">
                              <a:effectLst/>
                            </a:rPr>
                            <a:t>σ = 12 </a:t>
                          </a:r>
                          <a:r>
                            <a:rPr lang="sv-SE" sz="1000" u="none" strike="noStrike" dirty="0" err="1">
                              <a:effectLst/>
                            </a:rPr>
                            <a:t>nH</a:t>
                          </a:r>
                          <a:r>
                            <a:rPr lang="sv-SE" sz="1000" u="none" strike="noStrike" dirty="0">
                              <a:effectLst/>
                            </a:rPr>
                            <a:t>, VGS = 18/-5 V, </a:t>
                          </a:r>
                          <a:r>
                            <a:rPr lang="sv-SE" sz="1000" u="none" strike="noStrike" dirty="0" err="1">
                              <a:effectLst/>
                            </a:rPr>
                            <a:t>RGoff</a:t>
                          </a:r>
                          <a:r>
                            <a:rPr lang="sv-SE" sz="1000" u="none" strike="noStrike" dirty="0">
                              <a:effectLst/>
                            </a:rPr>
                            <a:t> = 0.56 </a:t>
                          </a:r>
                          <a:r>
                            <a:rPr lang="el-GR" sz="1000" u="none" strike="noStrike" dirty="0">
                              <a:effectLst/>
                            </a:rPr>
                            <a:t>Ω, </a:t>
                          </a:r>
                          <a:r>
                            <a:rPr lang="sv-SE" sz="1000" u="none" strike="noStrike" dirty="0">
                              <a:effectLst/>
                            </a:rPr>
                            <a:t>du/dt = 18 kV/µs (</a:t>
                          </a:r>
                          <a:r>
                            <a:rPr lang="sv-SE" sz="1000" u="none" strike="noStrike" dirty="0" err="1">
                              <a:effectLst/>
                            </a:rPr>
                            <a:t>Tvj</a:t>
                          </a:r>
                          <a:r>
                            <a:rPr lang="sv-SE" sz="1000" u="none" strike="noStrike" dirty="0">
                              <a:effectLst/>
                            </a:rPr>
                            <a:t> = 175 °C)</a:t>
                          </a:r>
                          <a:endParaRPr lang="sv-SE" sz="1000" b="0" i="0" u="none" strike="noStrike" dirty="0">
                            <a:solidFill>
                              <a:srgbClr val="000000"/>
                            </a:solidFill>
                            <a:effectLst/>
                            <a:latin typeface="Source Sans Pro"/>
                          </a:endParaRPr>
                        </a:p>
                      </a:txBody>
                      <a:tcPr marL="8989" marR="8989" marT="898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sv-SE" sz="1000" u="none" strike="noStrike" dirty="0" err="1">
                              <a:effectLst/>
                            </a:rPr>
                            <a:t>T</a:t>
                          </a:r>
                          <a:r>
                            <a:rPr lang="sv-SE" sz="800" u="none" strike="noStrike" dirty="0" err="1">
                              <a:effectLst/>
                            </a:rPr>
                            <a:t>vj</a:t>
                          </a:r>
                          <a:r>
                            <a:rPr lang="sv-SE" sz="800" u="none" strike="noStrike" dirty="0">
                              <a:effectLst/>
                            </a:rPr>
                            <a:t> </a:t>
                          </a:r>
                          <a:r>
                            <a:rPr lang="sv-SE" sz="1100" u="none" strike="noStrike" dirty="0">
                              <a:effectLst/>
                            </a:rPr>
                            <a:t>= 25 °C</a:t>
                          </a:r>
                          <a:endParaRPr lang="sv-SE" sz="1000" b="0" i="1" u="none" strike="noStrike" dirty="0">
                            <a:solidFill>
                              <a:srgbClr val="000000"/>
                            </a:solidFill>
                            <a:effectLst/>
                            <a:latin typeface="Source Sans Pro"/>
                          </a:endParaRPr>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14:m>
                            <m:oMathPara xmlns:m="http://schemas.openxmlformats.org/officeDocument/2006/math">
                              <m:oMathParaPr>
                                <m:jc m:val="centerGroup"/>
                              </m:oMathParaPr>
                              <m:oMath xmlns:m="http://schemas.openxmlformats.org/officeDocument/2006/math">
                                <m:r>
                                  <a:rPr lang="sv-SE" sz="1100" i="1" u="none" strike="noStrike" dirty="0" smtClean="0">
                                    <a:solidFill>
                                      <a:srgbClr val="FF0000"/>
                                    </a:solidFill>
                                    <a:effectLst/>
                                    <a:latin typeface="Cambria Math" panose="02040503050406030204" pitchFamily="18" charset="0"/>
                                  </a:rPr>
                                  <m:t>43,0 </m:t>
                                </m:r>
                                <m:r>
                                  <a:rPr lang="sv-SE" sz="1100" i="1" u="none" strike="noStrike" dirty="0" err="1" smtClean="0">
                                    <a:solidFill>
                                      <a:srgbClr val="FF0000"/>
                                    </a:solidFill>
                                    <a:effectLst/>
                                    <a:latin typeface="Cambria Math" panose="02040503050406030204" pitchFamily="18" charset="0"/>
                                  </a:rPr>
                                  <m:t>𝑚𝐽</m:t>
                                </m:r>
                              </m:oMath>
                            </m:oMathPara>
                          </a14:m>
                          <a:endParaRPr lang="sv-SE" sz="1100" b="0" i="0" u="none" strike="noStrike" dirty="0">
                            <a:solidFill>
                              <a:srgbClr val="FF0000"/>
                            </a:solidFill>
                            <a:effectLst/>
                            <a:latin typeface="Source Sans Pro"/>
                          </a:endParaRPr>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3986964"/>
                      </a:ext>
                    </a:extLst>
                  </a:tr>
                  <a:tr h="181573">
                    <a:tc vMerge="1">
                      <a:txBody>
                        <a:bodyPr/>
                        <a:lstStyle/>
                        <a:p>
                          <a:endParaRPr lang="sv-SE"/>
                        </a:p>
                      </a:txBody>
                      <a:tcPr/>
                    </a:tc>
                    <a:tc vMerge="1">
                      <a:txBody>
                        <a:bodyPr/>
                        <a:lstStyle/>
                        <a:p>
                          <a:endParaRPr lang="sv-SE"/>
                        </a:p>
                      </a:txBody>
                      <a:tcPr/>
                    </a:tc>
                    <a:tc>
                      <a:txBody>
                        <a:bodyPr/>
                        <a:lstStyle/>
                        <a:p>
                          <a:pPr algn="l" fontAlgn="ctr"/>
                          <a:r>
                            <a:rPr lang="sv-SE" sz="1000" u="none" strike="noStrike">
                              <a:effectLst/>
                            </a:rPr>
                            <a:t>T</a:t>
                          </a:r>
                          <a:r>
                            <a:rPr lang="sv-SE" sz="800" u="none" strike="noStrike">
                              <a:effectLst/>
                            </a:rPr>
                            <a:t>vj </a:t>
                          </a:r>
                          <a:r>
                            <a:rPr lang="sv-SE" sz="1100" u="none" strike="noStrike">
                              <a:effectLst/>
                            </a:rPr>
                            <a:t>= 125 °C</a:t>
                          </a:r>
                          <a:endParaRPr lang="sv-SE" sz="1000" b="0" i="1" u="none" strike="noStrike">
                            <a:solidFill>
                              <a:srgbClr val="000000"/>
                            </a:solidFill>
                            <a:effectLst/>
                            <a:latin typeface="Source Sans Pro"/>
                          </a:endParaRPr>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14:m>
                            <m:oMathPara xmlns:m="http://schemas.openxmlformats.org/officeDocument/2006/math">
                              <m:oMathParaPr>
                                <m:jc m:val="centerGroup"/>
                              </m:oMathParaPr>
                              <m:oMath xmlns:m="http://schemas.openxmlformats.org/officeDocument/2006/math">
                                <m:r>
                                  <a:rPr lang="sv-SE" sz="1100" i="1" u="none" strike="noStrike" dirty="0" smtClean="0">
                                    <a:solidFill>
                                      <a:srgbClr val="FF0000"/>
                                    </a:solidFill>
                                    <a:effectLst/>
                                    <a:latin typeface="Cambria Math" panose="02040503050406030204" pitchFamily="18" charset="0"/>
                                  </a:rPr>
                                  <m:t>45,0 </m:t>
                                </m:r>
                                <m:r>
                                  <a:rPr lang="sv-SE" sz="1100" i="1" u="none" strike="noStrike" dirty="0" err="1" smtClean="0">
                                    <a:solidFill>
                                      <a:srgbClr val="FF0000"/>
                                    </a:solidFill>
                                    <a:effectLst/>
                                    <a:latin typeface="Cambria Math" panose="02040503050406030204" pitchFamily="18" charset="0"/>
                                  </a:rPr>
                                  <m:t>𝑚𝐽</m:t>
                                </m:r>
                              </m:oMath>
                            </m:oMathPara>
                          </a14:m>
                          <a:endParaRPr lang="sv-SE" sz="1100" b="0" i="0" u="none" strike="noStrike" dirty="0">
                            <a:solidFill>
                              <a:srgbClr val="FF0000"/>
                            </a:solidFill>
                            <a:effectLst/>
                            <a:latin typeface="Source Sans Pro"/>
                          </a:endParaRPr>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99260178"/>
                      </a:ext>
                    </a:extLst>
                  </a:tr>
                  <a:tr h="181573">
                    <a:tc vMerge="1">
                      <a:txBody>
                        <a:bodyPr/>
                        <a:lstStyle/>
                        <a:p>
                          <a:endParaRPr lang="sv-SE"/>
                        </a:p>
                      </a:txBody>
                      <a:tcPr/>
                    </a:tc>
                    <a:tc vMerge="1">
                      <a:txBody>
                        <a:bodyPr/>
                        <a:lstStyle/>
                        <a:p>
                          <a:endParaRPr lang="sv-SE"/>
                        </a:p>
                      </a:txBody>
                      <a:tcPr/>
                    </a:tc>
                    <a:tc>
                      <a:txBody>
                        <a:bodyPr/>
                        <a:lstStyle/>
                        <a:p>
                          <a:pPr algn="l" fontAlgn="ctr"/>
                          <a:r>
                            <a:rPr lang="sv-SE" sz="1000" u="none" strike="noStrike" dirty="0" err="1">
                              <a:effectLst/>
                            </a:rPr>
                            <a:t>T</a:t>
                          </a:r>
                          <a:r>
                            <a:rPr lang="sv-SE" sz="800" u="none" strike="noStrike" dirty="0" err="1">
                              <a:effectLst/>
                            </a:rPr>
                            <a:t>vj</a:t>
                          </a:r>
                          <a:r>
                            <a:rPr lang="sv-SE" sz="800" u="none" strike="noStrike" dirty="0">
                              <a:effectLst/>
                            </a:rPr>
                            <a:t> </a:t>
                          </a:r>
                          <a:r>
                            <a:rPr lang="sv-SE" sz="1100" u="none" strike="noStrike" dirty="0">
                              <a:effectLst/>
                            </a:rPr>
                            <a:t>= 175 °C</a:t>
                          </a:r>
                          <a:endParaRPr lang="sv-SE" sz="1000" b="0" i="1" u="none" strike="noStrike" dirty="0">
                            <a:solidFill>
                              <a:srgbClr val="000000"/>
                            </a:solidFill>
                            <a:effectLst/>
                            <a:latin typeface="Source Sans Pro"/>
                          </a:endParaRPr>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14:m>
                            <m:oMathPara xmlns:m="http://schemas.openxmlformats.org/officeDocument/2006/math">
                              <m:oMathParaPr>
                                <m:jc m:val="centerGroup"/>
                              </m:oMathParaPr>
                              <m:oMath xmlns:m="http://schemas.openxmlformats.org/officeDocument/2006/math">
                                <m:r>
                                  <a:rPr lang="sv-SE" sz="1100" i="1" u="none" strike="noStrike" dirty="0" smtClean="0">
                                    <a:solidFill>
                                      <a:srgbClr val="FF0000"/>
                                    </a:solidFill>
                                    <a:effectLst/>
                                    <a:latin typeface="Cambria Math" panose="02040503050406030204" pitchFamily="18" charset="0"/>
                                  </a:rPr>
                                  <m:t>47,0 </m:t>
                                </m:r>
                                <m:r>
                                  <a:rPr lang="sv-SE" sz="1100" i="1" u="none" strike="noStrike" dirty="0" err="1" smtClean="0">
                                    <a:solidFill>
                                      <a:srgbClr val="FF0000"/>
                                    </a:solidFill>
                                    <a:effectLst/>
                                    <a:latin typeface="Cambria Math" panose="02040503050406030204" pitchFamily="18" charset="0"/>
                                  </a:rPr>
                                  <m:t>𝑚𝐽</m:t>
                                </m:r>
                              </m:oMath>
                            </m:oMathPara>
                          </a14:m>
                          <a:endParaRPr lang="sv-SE" sz="1100" b="0" i="0" u="none" strike="noStrike" dirty="0">
                            <a:solidFill>
                              <a:srgbClr val="FF0000"/>
                            </a:solidFill>
                            <a:effectLst/>
                            <a:latin typeface="Source Sans Pro"/>
                          </a:endParaRPr>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23730722"/>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3584560473"/>
                  </p:ext>
                </p:extLst>
              </p:nvPr>
            </p:nvGraphicFramePr>
            <p:xfrm>
              <a:off x="5294432" y="1095967"/>
              <a:ext cx="5895022" cy="1103820"/>
            </p:xfrm>
            <a:graphic>
              <a:graphicData uri="http://schemas.openxmlformats.org/drawingml/2006/table">
                <a:tbl>
                  <a:tblPr>
                    <a:tableStyleId>{5C22544A-7EE6-4342-B048-85BDC9FD1C3A}</a:tableStyleId>
                  </a:tblPr>
                  <a:tblGrid>
                    <a:gridCol w="826741">
                      <a:extLst>
                        <a:ext uri="{9D8B030D-6E8A-4147-A177-3AD203B41FA5}">
                          <a16:colId xmlns:a16="http://schemas.microsoft.com/office/drawing/2014/main" val="3449397765"/>
                        </a:ext>
                      </a:extLst>
                    </a:gridCol>
                    <a:gridCol w="3414799">
                      <a:extLst>
                        <a:ext uri="{9D8B030D-6E8A-4147-A177-3AD203B41FA5}">
                          <a16:colId xmlns:a16="http://schemas.microsoft.com/office/drawing/2014/main" val="1481575902"/>
                        </a:ext>
                      </a:extLst>
                    </a:gridCol>
                    <a:gridCol w="826741">
                      <a:extLst>
                        <a:ext uri="{9D8B030D-6E8A-4147-A177-3AD203B41FA5}">
                          <a16:colId xmlns:a16="http://schemas.microsoft.com/office/drawing/2014/main" val="2726582199"/>
                        </a:ext>
                      </a:extLst>
                    </a:gridCol>
                    <a:gridCol w="826741">
                      <a:extLst>
                        <a:ext uri="{9D8B030D-6E8A-4147-A177-3AD203B41FA5}">
                          <a16:colId xmlns:a16="http://schemas.microsoft.com/office/drawing/2014/main" val="961435461"/>
                        </a:ext>
                      </a:extLst>
                    </a:gridCol>
                  </a:tblGrid>
                  <a:tr h="188764">
                    <a:tc rowSpan="3">
                      <a:txBody>
                        <a:bodyPr/>
                        <a:lstStyle/>
                        <a:p>
                          <a:pPr algn="ctr" fontAlgn="t"/>
                          <a:r>
                            <a:rPr lang="sv-SE" sz="1000" u="none" strike="noStrike" dirty="0">
                              <a:effectLst/>
                            </a:rPr>
                            <a:t>E</a:t>
                          </a:r>
                          <a:r>
                            <a:rPr lang="sv-SE" sz="800" u="none" strike="noStrike" dirty="0">
                              <a:effectLst/>
                            </a:rPr>
                            <a:t>on</a:t>
                          </a:r>
                          <a:endParaRPr lang="sv-SE" sz="1000" b="0" i="1" u="none" strike="noStrike" dirty="0">
                            <a:solidFill>
                              <a:srgbClr val="000000"/>
                            </a:solidFill>
                            <a:effectLst/>
                            <a:latin typeface="Source Sans Pro"/>
                          </a:endParaRPr>
                        </a:p>
                      </a:txBody>
                      <a:tcPr marL="8989" marR="8989" marT="898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algn="l" fontAlgn="t"/>
                          <a:r>
                            <a:rPr lang="sv-SE" sz="1000" u="none" strike="noStrike" dirty="0">
                              <a:effectLst/>
                            </a:rPr>
                            <a:t>I</a:t>
                          </a:r>
                          <a:r>
                            <a:rPr lang="sv-SE" sz="800" u="none" strike="noStrike" dirty="0">
                              <a:effectLst/>
                            </a:rPr>
                            <a:t>D </a:t>
                          </a:r>
                          <a:r>
                            <a:rPr lang="sv-SE" sz="1100" u="none" strike="noStrike" dirty="0">
                              <a:effectLst/>
                            </a:rPr>
                            <a:t>= 700 A, </a:t>
                          </a:r>
                          <a:r>
                            <a:rPr lang="sv-SE" sz="1000" u="none" strike="noStrike" dirty="0">
                              <a:effectLst/>
                            </a:rPr>
                            <a:t>V</a:t>
                          </a:r>
                          <a:r>
                            <a:rPr lang="sv-SE" sz="800" u="none" strike="noStrike" dirty="0">
                              <a:effectLst/>
                            </a:rPr>
                            <a:t>DS </a:t>
                          </a:r>
                          <a:r>
                            <a:rPr lang="sv-SE" sz="1100" u="none" strike="noStrike" dirty="0">
                              <a:effectLst/>
                            </a:rPr>
                            <a:t>= 1200 V</a:t>
                          </a:r>
                          <a:r>
                            <a:rPr lang="sv-SE" sz="1000" u="none" strike="noStrike" dirty="0">
                              <a:effectLst/>
                            </a:rPr>
                            <a:t>, L</a:t>
                          </a:r>
                          <a:r>
                            <a:rPr lang="el-GR" sz="1000" u="none" strike="noStrike" dirty="0">
                              <a:effectLst/>
                            </a:rPr>
                            <a:t>σ = 12 </a:t>
                          </a:r>
                          <a:r>
                            <a:rPr lang="sv-SE" sz="1000" u="none" strike="noStrike" dirty="0" err="1">
                              <a:effectLst/>
                            </a:rPr>
                            <a:t>nH</a:t>
                          </a:r>
                          <a:r>
                            <a:rPr lang="sv-SE" sz="1000" u="none" strike="noStrike" dirty="0">
                              <a:effectLst/>
                            </a:rPr>
                            <a:t>, VGS = 18/-5 V, </a:t>
                          </a:r>
                          <a:r>
                            <a:rPr lang="sv-SE" sz="1000" u="none" strike="noStrike" dirty="0" err="1">
                              <a:effectLst/>
                            </a:rPr>
                            <a:t>RGon</a:t>
                          </a:r>
                          <a:r>
                            <a:rPr lang="sv-SE" sz="1000" u="none" strike="noStrike" dirty="0">
                              <a:effectLst/>
                            </a:rPr>
                            <a:t> = 0.51 </a:t>
                          </a:r>
                          <a:r>
                            <a:rPr lang="el-GR" sz="1000" u="none" strike="noStrike" dirty="0">
                              <a:effectLst/>
                            </a:rPr>
                            <a:t>Ω, </a:t>
                          </a:r>
                          <a:r>
                            <a:rPr lang="sv-SE" sz="1000" u="none" strike="noStrike" dirty="0">
                              <a:effectLst/>
                            </a:rPr>
                            <a:t>di/dt = 9 </a:t>
                          </a:r>
                          <a:r>
                            <a:rPr lang="sv-SE" sz="1000" u="none" strike="noStrike" dirty="0" err="1">
                              <a:effectLst/>
                            </a:rPr>
                            <a:t>kA</a:t>
                          </a:r>
                          <a:r>
                            <a:rPr lang="sv-SE" sz="1000" u="none" strike="noStrike" dirty="0">
                              <a:effectLst/>
                            </a:rPr>
                            <a:t>/µs (</a:t>
                          </a:r>
                          <a:r>
                            <a:rPr lang="sv-SE" sz="1000" u="none" strike="noStrike" dirty="0" err="1">
                              <a:effectLst/>
                            </a:rPr>
                            <a:t>Tvj</a:t>
                          </a:r>
                          <a:r>
                            <a:rPr lang="sv-SE" sz="1000" u="none" strike="noStrike" dirty="0">
                              <a:effectLst/>
                            </a:rPr>
                            <a:t> = 175 °C)</a:t>
                          </a:r>
                          <a:endParaRPr lang="sv-SE" sz="1000" b="0" i="0" u="none" strike="noStrike" dirty="0">
                            <a:solidFill>
                              <a:srgbClr val="000000"/>
                            </a:solidFill>
                            <a:effectLst/>
                            <a:latin typeface="Source Sans Pro"/>
                          </a:endParaRPr>
                        </a:p>
                      </a:txBody>
                      <a:tcPr marL="8989" marR="8989" marT="898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sv-SE" sz="1000" u="none" strike="noStrike">
                              <a:effectLst/>
                            </a:rPr>
                            <a:t>T</a:t>
                          </a:r>
                          <a:r>
                            <a:rPr lang="sv-SE" sz="800" u="none" strike="noStrike">
                              <a:effectLst/>
                            </a:rPr>
                            <a:t>vj </a:t>
                          </a:r>
                          <a:r>
                            <a:rPr lang="sv-SE" sz="1100" u="none" strike="noStrike">
                              <a:effectLst/>
                            </a:rPr>
                            <a:t>= 25 °C</a:t>
                          </a:r>
                          <a:endParaRPr lang="sv-SE" sz="1000" b="0" i="1" u="none" strike="noStrike">
                            <a:solidFill>
                              <a:srgbClr val="000000"/>
                            </a:solidFill>
                            <a:effectLst/>
                            <a:latin typeface="Source Sans Pro"/>
                          </a:endParaRPr>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sv-SE"/>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612500" t="-16129" r="-1471" b="-532258"/>
                          </a:stretch>
                        </a:blipFill>
                      </a:tcPr>
                    </a:tc>
                    <a:extLst>
                      <a:ext uri="{0D108BD9-81ED-4DB2-BD59-A6C34878D82A}">
                        <a16:rowId xmlns:a16="http://schemas.microsoft.com/office/drawing/2014/main" val="1752689815"/>
                      </a:ext>
                    </a:extLst>
                  </a:tr>
                  <a:tr h="181573">
                    <a:tc vMerge="1">
                      <a:txBody>
                        <a:bodyPr/>
                        <a:lstStyle/>
                        <a:p>
                          <a:endParaRPr lang="sv-SE"/>
                        </a:p>
                      </a:txBody>
                      <a:tcPr/>
                    </a:tc>
                    <a:tc vMerge="1">
                      <a:txBody>
                        <a:bodyPr/>
                        <a:lstStyle/>
                        <a:p>
                          <a:endParaRPr lang="sv-SE"/>
                        </a:p>
                      </a:txBody>
                      <a:tcPr/>
                    </a:tc>
                    <a:tc>
                      <a:txBody>
                        <a:bodyPr/>
                        <a:lstStyle/>
                        <a:p>
                          <a:pPr algn="l" fontAlgn="ctr"/>
                          <a:r>
                            <a:rPr lang="sv-SE" sz="1000" u="none" strike="noStrike" dirty="0" err="1">
                              <a:effectLst/>
                            </a:rPr>
                            <a:t>T</a:t>
                          </a:r>
                          <a:r>
                            <a:rPr lang="sv-SE" sz="800" u="none" strike="noStrike" dirty="0" err="1">
                              <a:effectLst/>
                            </a:rPr>
                            <a:t>vj</a:t>
                          </a:r>
                          <a:r>
                            <a:rPr lang="sv-SE" sz="800" u="none" strike="noStrike" dirty="0">
                              <a:effectLst/>
                            </a:rPr>
                            <a:t> </a:t>
                          </a:r>
                          <a:r>
                            <a:rPr lang="sv-SE" sz="1100" u="none" strike="noStrike" dirty="0">
                              <a:effectLst/>
                            </a:rPr>
                            <a:t>= 125 °C</a:t>
                          </a:r>
                          <a:endParaRPr lang="sv-SE" sz="1000" b="0" i="1" u="none" strike="noStrike" dirty="0">
                            <a:solidFill>
                              <a:srgbClr val="000000"/>
                            </a:solidFill>
                            <a:effectLst/>
                            <a:latin typeface="Source Sans Pro"/>
                          </a:endParaRPr>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sv-SE"/>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612500" t="-120000" r="-1471" b="-450000"/>
                          </a:stretch>
                        </a:blipFill>
                      </a:tcPr>
                    </a:tc>
                    <a:extLst>
                      <a:ext uri="{0D108BD9-81ED-4DB2-BD59-A6C34878D82A}">
                        <a16:rowId xmlns:a16="http://schemas.microsoft.com/office/drawing/2014/main" val="663103614"/>
                      </a:ext>
                    </a:extLst>
                  </a:tr>
                  <a:tr h="181573">
                    <a:tc vMerge="1">
                      <a:txBody>
                        <a:bodyPr/>
                        <a:lstStyle/>
                        <a:p>
                          <a:endParaRPr lang="sv-SE"/>
                        </a:p>
                      </a:txBody>
                      <a:tcPr/>
                    </a:tc>
                    <a:tc vMerge="1">
                      <a:txBody>
                        <a:bodyPr/>
                        <a:lstStyle/>
                        <a:p>
                          <a:endParaRPr lang="sv-SE"/>
                        </a:p>
                      </a:txBody>
                      <a:tcPr/>
                    </a:tc>
                    <a:tc>
                      <a:txBody>
                        <a:bodyPr/>
                        <a:lstStyle/>
                        <a:p>
                          <a:pPr algn="l" fontAlgn="ctr"/>
                          <a:r>
                            <a:rPr lang="sv-SE" sz="1000" u="none" strike="noStrike">
                              <a:effectLst/>
                            </a:rPr>
                            <a:t>T</a:t>
                          </a:r>
                          <a:r>
                            <a:rPr lang="sv-SE" sz="800" u="none" strike="noStrike">
                              <a:effectLst/>
                            </a:rPr>
                            <a:t>vj </a:t>
                          </a:r>
                          <a:r>
                            <a:rPr lang="sv-SE" sz="1100" u="none" strike="noStrike">
                              <a:effectLst/>
                            </a:rPr>
                            <a:t>= 175 °C</a:t>
                          </a:r>
                          <a:endParaRPr lang="sv-SE" sz="1000" b="0" i="1" u="none" strike="noStrike">
                            <a:solidFill>
                              <a:srgbClr val="000000"/>
                            </a:solidFill>
                            <a:effectLst/>
                            <a:latin typeface="Source Sans Pro"/>
                          </a:endParaRPr>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sv-SE"/>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612500" t="-220000" r="-1471" b="-350000"/>
                          </a:stretch>
                        </a:blipFill>
                      </a:tcPr>
                    </a:tc>
                    <a:extLst>
                      <a:ext uri="{0D108BD9-81ED-4DB2-BD59-A6C34878D82A}">
                        <a16:rowId xmlns:a16="http://schemas.microsoft.com/office/drawing/2014/main" val="1582571821"/>
                      </a:ext>
                    </a:extLst>
                  </a:tr>
                  <a:tr h="188764">
                    <a:tc rowSpan="3">
                      <a:txBody>
                        <a:bodyPr/>
                        <a:lstStyle/>
                        <a:p>
                          <a:pPr algn="ctr" fontAlgn="t"/>
                          <a:r>
                            <a:rPr lang="sv-SE" sz="1000" u="none" strike="noStrike">
                              <a:effectLst/>
                            </a:rPr>
                            <a:t>E</a:t>
                          </a:r>
                          <a:r>
                            <a:rPr lang="sv-SE" sz="800" u="none" strike="noStrike">
                              <a:effectLst/>
                            </a:rPr>
                            <a:t>off</a:t>
                          </a:r>
                          <a:endParaRPr lang="sv-SE" sz="1000" b="0" i="1" u="none" strike="noStrike">
                            <a:solidFill>
                              <a:srgbClr val="000000"/>
                            </a:solidFill>
                            <a:effectLst/>
                            <a:latin typeface="Source Sans Pro"/>
                          </a:endParaRPr>
                        </a:p>
                      </a:txBody>
                      <a:tcPr marL="8989" marR="8989" marT="898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algn="l" fontAlgn="t"/>
                          <a:r>
                            <a:rPr lang="sv-SE" sz="1000" u="none" strike="noStrike" dirty="0">
                              <a:effectLst/>
                            </a:rPr>
                            <a:t>I</a:t>
                          </a:r>
                          <a:r>
                            <a:rPr lang="sv-SE" sz="800" u="none" strike="noStrike" dirty="0">
                              <a:effectLst/>
                            </a:rPr>
                            <a:t>D </a:t>
                          </a:r>
                          <a:r>
                            <a:rPr lang="sv-SE" sz="1100" u="none" strike="noStrike" dirty="0">
                              <a:effectLst/>
                            </a:rPr>
                            <a:t>= 700 A, </a:t>
                          </a:r>
                          <a:r>
                            <a:rPr lang="sv-SE" sz="1000" u="none" strike="noStrike" dirty="0">
                              <a:effectLst/>
                            </a:rPr>
                            <a:t>V</a:t>
                          </a:r>
                          <a:r>
                            <a:rPr lang="sv-SE" sz="800" u="none" strike="noStrike" dirty="0">
                              <a:effectLst/>
                            </a:rPr>
                            <a:t>DS </a:t>
                          </a:r>
                          <a:r>
                            <a:rPr lang="sv-SE" sz="1100" u="none" strike="noStrike" dirty="0">
                              <a:effectLst/>
                            </a:rPr>
                            <a:t>= 1200 V</a:t>
                          </a:r>
                          <a:r>
                            <a:rPr lang="sv-SE" sz="1000" u="none" strike="noStrike" dirty="0">
                              <a:effectLst/>
                            </a:rPr>
                            <a:t>, L</a:t>
                          </a:r>
                          <a:r>
                            <a:rPr lang="el-GR" sz="1000" u="none" strike="noStrike" dirty="0">
                              <a:effectLst/>
                            </a:rPr>
                            <a:t>σ = 12 </a:t>
                          </a:r>
                          <a:r>
                            <a:rPr lang="sv-SE" sz="1000" u="none" strike="noStrike" dirty="0" err="1">
                              <a:effectLst/>
                            </a:rPr>
                            <a:t>nH</a:t>
                          </a:r>
                          <a:r>
                            <a:rPr lang="sv-SE" sz="1000" u="none" strike="noStrike" dirty="0">
                              <a:effectLst/>
                            </a:rPr>
                            <a:t>, VGS = 18/-5 V, </a:t>
                          </a:r>
                          <a:r>
                            <a:rPr lang="sv-SE" sz="1000" u="none" strike="noStrike" dirty="0" err="1">
                              <a:effectLst/>
                            </a:rPr>
                            <a:t>RGoff</a:t>
                          </a:r>
                          <a:r>
                            <a:rPr lang="sv-SE" sz="1000" u="none" strike="noStrike" dirty="0">
                              <a:effectLst/>
                            </a:rPr>
                            <a:t> = 0.56 </a:t>
                          </a:r>
                          <a:r>
                            <a:rPr lang="el-GR" sz="1000" u="none" strike="noStrike" dirty="0">
                              <a:effectLst/>
                            </a:rPr>
                            <a:t>Ω, </a:t>
                          </a:r>
                          <a:r>
                            <a:rPr lang="sv-SE" sz="1000" u="none" strike="noStrike" dirty="0">
                              <a:effectLst/>
                            </a:rPr>
                            <a:t>du/dt = 18 kV/µs (</a:t>
                          </a:r>
                          <a:r>
                            <a:rPr lang="sv-SE" sz="1000" u="none" strike="noStrike" dirty="0" err="1">
                              <a:effectLst/>
                            </a:rPr>
                            <a:t>Tvj</a:t>
                          </a:r>
                          <a:r>
                            <a:rPr lang="sv-SE" sz="1000" u="none" strike="noStrike" dirty="0">
                              <a:effectLst/>
                            </a:rPr>
                            <a:t> = 175 °C)</a:t>
                          </a:r>
                          <a:endParaRPr lang="sv-SE" sz="1000" b="0" i="0" u="none" strike="noStrike" dirty="0">
                            <a:solidFill>
                              <a:srgbClr val="000000"/>
                            </a:solidFill>
                            <a:effectLst/>
                            <a:latin typeface="Source Sans Pro"/>
                          </a:endParaRPr>
                        </a:p>
                      </a:txBody>
                      <a:tcPr marL="8989" marR="8989" marT="898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sv-SE" sz="1000" u="none" strike="noStrike" dirty="0" err="1">
                              <a:effectLst/>
                            </a:rPr>
                            <a:t>T</a:t>
                          </a:r>
                          <a:r>
                            <a:rPr lang="sv-SE" sz="800" u="none" strike="noStrike" dirty="0" err="1">
                              <a:effectLst/>
                            </a:rPr>
                            <a:t>vj</a:t>
                          </a:r>
                          <a:r>
                            <a:rPr lang="sv-SE" sz="800" u="none" strike="noStrike" dirty="0">
                              <a:effectLst/>
                            </a:rPr>
                            <a:t> </a:t>
                          </a:r>
                          <a:r>
                            <a:rPr lang="sv-SE" sz="1100" u="none" strike="noStrike" dirty="0">
                              <a:effectLst/>
                            </a:rPr>
                            <a:t>= 25 °C</a:t>
                          </a:r>
                          <a:endParaRPr lang="sv-SE" sz="1000" b="0" i="1" u="none" strike="noStrike" dirty="0">
                            <a:solidFill>
                              <a:srgbClr val="000000"/>
                            </a:solidFill>
                            <a:effectLst/>
                            <a:latin typeface="Source Sans Pro"/>
                          </a:endParaRPr>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sv-SE"/>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612500" t="-309677" r="-1471" b="-238710"/>
                          </a:stretch>
                        </a:blipFill>
                      </a:tcPr>
                    </a:tc>
                    <a:extLst>
                      <a:ext uri="{0D108BD9-81ED-4DB2-BD59-A6C34878D82A}">
                        <a16:rowId xmlns:a16="http://schemas.microsoft.com/office/drawing/2014/main" val="1723986964"/>
                      </a:ext>
                    </a:extLst>
                  </a:tr>
                  <a:tr h="181573">
                    <a:tc vMerge="1">
                      <a:txBody>
                        <a:bodyPr/>
                        <a:lstStyle/>
                        <a:p>
                          <a:endParaRPr lang="sv-SE"/>
                        </a:p>
                      </a:txBody>
                      <a:tcPr/>
                    </a:tc>
                    <a:tc vMerge="1">
                      <a:txBody>
                        <a:bodyPr/>
                        <a:lstStyle/>
                        <a:p>
                          <a:endParaRPr lang="sv-SE"/>
                        </a:p>
                      </a:txBody>
                      <a:tcPr/>
                    </a:tc>
                    <a:tc>
                      <a:txBody>
                        <a:bodyPr/>
                        <a:lstStyle/>
                        <a:p>
                          <a:pPr algn="l" fontAlgn="ctr"/>
                          <a:r>
                            <a:rPr lang="sv-SE" sz="1000" u="none" strike="noStrike">
                              <a:effectLst/>
                            </a:rPr>
                            <a:t>T</a:t>
                          </a:r>
                          <a:r>
                            <a:rPr lang="sv-SE" sz="800" u="none" strike="noStrike">
                              <a:effectLst/>
                            </a:rPr>
                            <a:t>vj </a:t>
                          </a:r>
                          <a:r>
                            <a:rPr lang="sv-SE" sz="1100" u="none" strike="noStrike">
                              <a:effectLst/>
                            </a:rPr>
                            <a:t>= 125 °C</a:t>
                          </a:r>
                          <a:endParaRPr lang="sv-SE" sz="1000" b="0" i="1" u="none" strike="noStrike">
                            <a:solidFill>
                              <a:srgbClr val="000000"/>
                            </a:solidFill>
                            <a:effectLst/>
                            <a:latin typeface="Source Sans Pro"/>
                          </a:endParaRPr>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sv-SE"/>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612500" t="-423333" r="-1471" b="-146667"/>
                          </a:stretch>
                        </a:blipFill>
                      </a:tcPr>
                    </a:tc>
                    <a:extLst>
                      <a:ext uri="{0D108BD9-81ED-4DB2-BD59-A6C34878D82A}">
                        <a16:rowId xmlns:a16="http://schemas.microsoft.com/office/drawing/2014/main" val="3099260178"/>
                      </a:ext>
                    </a:extLst>
                  </a:tr>
                  <a:tr h="181573">
                    <a:tc vMerge="1">
                      <a:txBody>
                        <a:bodyPr/>
                        <a:lstStyle/>
                        <a:p>
                          <a:endParaRPr lang="sv-SE"/>
                        </a:p>
                      </a:txBody>
                      <a:tcPr/>
                    </a:tc>
                    <a:tc vMerge="1">
                      <a:txBody>
                        <a:bodyPr/>
                        <a:lstStyle/>
                        <a:p>
                          <a:endParaRPr lang="sv-SE"/>
                        </a:p>
                      </a:txBody>
                      <a:tcPr/>
                    </a:tc>
                    <a:tc>
                      <a:txBody>
                        <a:bodyPr/>
                        <a:lstStyle/>
                        <a:p>
                          <a:pPr algn="l" fontAlgn="ctr"/>
                          <a:r>
                            <a:rPr lang="sv-SE" sz="1000" u="none" strike="noStrike" dirty="0" err="1">
                              <a:effectLst/>
                            </a:rPr>
                            <a:t>T</a:t>
                          </a:r>
                          <a:r>
                            <a:rPr lang="sv-SE" sz="800" u="none" strike="noStrike" dirty="0" err="1">
                              <a:effectLst/>
                            </a:rPr>
                            <a:t>vj</a:t>
                          </a:r>
                          <a:r>
                            <a:rPr lang="sv-SE" sz="800" u="none" strike="noStrike" dirty="0">
                              <a:effectLst/>
                            </a:rPr>
                            <a:t> </a:t>
                          </a:r>
                          <a:r>
                            <a:rPr lang="sv-SE" sz="1100" u="none" strike="noStrike" dirty="0">
                              <a:effectLst/>
                            </a:rPr>
                            <a:t>= 175 °C</a:t>
                          </a:r>
                          <a:endParaRPr lang="sv-SE" sz="1000" b="0" i="1" u="none" strike="noStrike" dirty="0">
                            <a:solidFill>
                              <a:srgbClr val="000000"/>
                            </a:solidFill>
                            <a:effectLst/>
                            <a:latin typeface="Source Sans Pro"/>
                          </a:endParaRPr>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sv-SE"/>
                        </a:p>
                      </a:txBody>
                      <a:tcPr marL="8989" marR="8989" marT="89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612500" t="-523333" r="-1471" b="-46667"/>
                          </a:stretch>
                        </a:blipFill>
                      </a:tcPr>
                    </a:tc>
                    <a:extLst>
                      <a:ext uri="{0D108BD9-81ED-4DB2-BD59-A6C34878D82A}">
                        <a16:rowId xmlns:a16="http://schemas.microsoft.com/office/drawing/2014/main" val="3623730722"/>
                      </a:ext>
                    </a:extLst>
                  </a:tr>
                </a:tbl>
              </a:graphicData>
            </a:graphic>
          </p:graphicFrame>
        </mc:Fallback>
      </mc:AlternateContent>
      <p:cxnSp>
        <p:nvCxnSpPr>
          <p:cNvPr id="7" name="Straight Arrow Connector 6"/>
          <p:cNvCxnSpPr/>
          <p:nvPr/>
        </p:nvCxnSpPr>
        <p:spPr>
          <a:xfrm flipH="1">
            <a:off x="7306573" y="1975449"/>
            <a:ext cx="336430" cy="56071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6349039" y="2536166"/>
            <a:ext cx="2432649" cy="369332"/>
          </a:xfrm>
          <a:prstGeom prst="rect">
            <a:avLst/>
          </a:prstGeom>
          <a:noFill/>
        </p:spPr>
        <p:txBody>
          <a:bodyPr wrap="square" rtlCol="0">
            <a:spAutoFit/>
          </a:bodyPr>
          <a:lstStyle/>
          <a:p>
            <a:r>
              <a:rPr lang="sv-SE" dirty="0" smtClean="0"/>
              <a:t>Fast </a:t>
            </a:r>
            <a:r>
              <a:rPr lang="sv-SE" dirty="0" err="1" smtClean="0"/>
              <a:t>Switching</a:t>
            </a:r>
            <a:endParaRPr lang="sv-SE" dirty="0"/>
          </a:p>
        </p:txBody>
      </p:sp>
      <p:pic>
        <p:nvPicPr>
          <p:cNvPr id="20" name="Picture 19"/>
          <p:cNvPicPr>
            <a:picLocks noChangeAspect="1"/>
          </p:cNvPicPr>
          <p:nvPr/>
        </p:nvPicPr>
        <p:blipFill>
          <a:blip r:embed="rId3"/>
          <a:stretch>
            <a:fillRect/>
          </a:stretch>
        </p:blipFill>
        <p:spPr>
          <a:xfrm>
            <a:off x="283821" y="2674589"/>
            <a:ext cx="2532226" cy="3339770"/>
          </a:xfrm>
          <a:prstGeom prst="rect">
            <a:avLst/>
          </a:prstGeom>
        </p:spPr>
      </p:pic>
      <mc:AlternateContent xmlns:mc="http://schemas.openxmlformats.org/markup-compatibility/2006" xmlns:a14="http://schemas.microsoft.com/office/drawing/2010/main">
        <mc:Choice Requires="a14">
          <p:sp>
            <p:nvSpPr>
              <p:cNvPr id="21" name="Rectangle 20"/>
              <p:cNvSpPr/>
              <p:nvPr/>
            </p:nvSpPr>
            <p:spPr>
              <a:xfrm>
                <a:off x="3049987" y="3605810"/>
                <a:ext cx="8699189" cy="1477328"/>
              </a:xfrm>
              <a:prstGeom prst="rect">
                <a:avLst/>
              </a:prstGeom>
            </p:spPr>
            <p:txBody>
              <a:bodyPr wrap="square">
                <a:spAutoFit/>
              </a:bodyPr>
              <a:lstStyle/>
              <a:p>
                <a:r>
                  <a:rPr lang="sv-SE" dirty="0"/>
                  <a:t>T</a:t>
                </a:r>
                <a:r>
                  <a:rPr lang="sv-SE" dirty="0" smtClean="0"/>
                  <a:t>he </a:t>
                </a:r>
                <a:r>
                  <a:rPr lang="sv-SE" dirty="0" err="1"/>
                  <a:t>switching</a:t>
                </a:r>
                <a:r>
                  <a:rPr lang="sv-SE" dirty="0"/>
                  <a:t> </a:t>
                </a:r>
                <a:r>
                  <a:rPr lang="sv-SE" dirty="0" err="1"/>
                  <a:t>energy</a:t>
                </a:r>
                <a:r>
                  <a:rPr lang="sv-SE" dirty="0"/>
                  <a:t> is </a:t>
                </a:r>
                <a:r>
                  <a:rPr lang="sv-SE" dirty="0" err="1"/>
                  <a:t>supposed</a:t>
                </a:r>
                <a:r>
                  <a:rPr lang="sv-SE" dirty="0"/>
                  <a:t> to be </a:t>
                </a:r>
                <a:r>
                  <a:rPr lang="sv-SE" dirty="0" smtClean="0"/>
                  <a:t>proportional </a:t>
                </a:r>
                <a:r>
                  <a:rPr lang="sv-SE" dirty="0"/>
                  <a:t>to the </a:t>
                </a:r>
                <a:r>
                  <a:rPr lang="sv-SE" dirty="0" err="1"/>
                  <a:t>load</a:t>
                </a:r>
                <a:r>
                  <a:rPr lang="sv-SE" dirty="0"/>
                  <a:t> </a:t>
                </a:r>
                <a:r>
                  <a:rPr lang="sv-SE" dirty="0" err="1"/>
                  <a:t>current</a:t>
                </a:r>
                <a:r>
                  <a:rPr lang="sv-SE" dirty="0"/>
                  <a:t>. </a:t>
                </a:r>
                <a:endParaRPr lang="sv-SE" dirty="0" smtClean="0"/>
              </a:p>
              <a:p>
                <a:r>
                  <a:rPr lang="sv-SE" dirty="0" err="1" smtClean="0"/>
                  <a:t>However</a:t>
                </a:r>
                <a:r>
                  <a:rPr lang="sv-SE" dirty="0"/>
                  <a:t>, </a:t>
                </a:r>
                <a:r>
                  <a:rPr lang="sv-SE" dirty="0" err="1" smtClean="0"/>
                  <a:t>Figure</a:t>
                </a:r>
                <a:r>
                  <a:rPr lang="sv-SE" dirty="0" smtClean="0"/>
                  <a:t> </a:t>
                </a:r>
                <a:r>
                  <a:rPr lang="sv-SE" dirty="0" err="1" smtClean="0"/>
                  <a:t>demonstrates</a:t>
                </a:r>
                <a:r>
                  <a:rPr lang="sv-SE" dirty="0" smtClean="0"/>
                  <a:t> </a:t>
                </a:r>
                <a:r>
                  <a:rPr lang="sv-SE" dirty="0" err="1"/>
                  <a:t>that</a:t>
                </a:r>
                <a:r>
                  <a:rPr lang="sv-SE" dirty="0"/>
                  <a:t> the relationship is </a:t>
                </a:r>
                <a:r>
                  <a:rPr lang="sv-SE" dirty="0" err="1"/>
                  <a:t>true</a:t>
                </a:r>
                <a:r>
                  <a:rPr lang="sv-SE" dirty="0"/>
                  <a:t> for a gate </a:t>
                </a:r>
                <a:r>
                  <a:rPr lang="sv-SE" dirty="0" err="1"/>
                  <a:t>resistance</a:t>
                </a:r>
                <a:r>
                  <a:rPr lang="sv-SE" dirty="0"/>
                  <a:t> </a:t>
                </a:r>
                <a14:m>
                  <m:oMath xmlns:m="http://schemas.openxmlformats.org/officeDocument/2006/math">
                    <m:r>
                      <a:rPr lang="sv-SE" i="1" dirty="0" smtClean="0">
                        <a:latin typeface="Cambria Math" panose="02040503050406030204" pitchFamily="18" charset="0"/>
                      </a:rPr>
                      <m:t>𝑅𝑔</m:t>
                    </m:r>
                    <m:r>
                      <a:rPr lang="sv-SE" i="1" dirty="0" smtClean="0">
                        <a:latin typeface="Cambria Math" panose="02040503050406030204" pitchFamily="18" charset="0"/>
                      </a:rPr>
                      <m:t> = 10 </m:t>
                    </m:r>
                    <m:r>
                      <m:rPr>
                        <m:sty m:val="p"/>
                      </m:rPr>
                      <a:rPr lang="sv-SE" b="0" i="0" dirty="0" smtClean="0">
                        <a:latin typeface="Cambria Math" panose="02040503050406030204" pitchFamily="18" charset="0"/>
                      </a:rPr>
                      <m:t>Ω</m:t>
                    </m:r>
                    <m:r>
                      <a:rPr lang="sv-SE" i="1" dirty="0" smtClean="0">
                        <a:latin typeface="Cambria Math" panose="02040503050406030204" pitchFamily="18" charset="0"/>
                      </a:rPr>
                      <m:t> </m:t>
                    </m:r>
                  </m:oMath>
                </a14:m>
                <a:r>
                  <a:rPr lang="sv-SE" dirty="0" smtClean="0"/>
                  <a:t>,  </a:t>
                </a:r>
                <a:r>
                  <a:rPr lang="sv-SE" dirty="0" err="1"/>
                  <a:t>but</a:t>
                </a:r>
                <a:r>
                  <a:rPr lang="sv-SE" dirty="0"/>
                  <a:t> not for </a:t>
                </a:r>
                <a14:m>
                  <m:oMath xmlns:m="http://schemas.openxmlformats.org/officeDocument/2006/math">
                    <m:r>
                      <a:rPr lang="sv-SE" i="1" dirty="0">
                        <a:latin typeface="Cambria Math" panose="02040503050406030204" pitchFamily="18" charset="0"/>
                      </a:rPr>
                      <m:t>𝑅𝑔</m:t>
                    </m:r>
                    <m:r>
                      <a:rPr lang="sv-SE" i="1" dirty="0">
                        <a:latin typeface="Cambria Math" panose="02040503050406030204" pitchFamily="18" charset="0"/>
                      </a:rPr>
                      <m:t> = 1 </m:t>
                    </m:r>
                    <m:r>
                      <m:rPr>
                        <m:sty m:val="p"/>
                      </m:rPr>
                      <a:rPr lang="sv-SE" dirty="0">
                        <a:latin typeface="Cambria Math" panose="02040503050406030204" pitchFamily="18" charset="0"/>
                      </a:rPr>
                      <m:t>Ω</m:t>
                    </m:r>
                    <m:r>
                      <a:rPr lang="sv-SE" i="1" dirty="0">
                        <a:latin typeface="Cambria Math" panose="02040503050406030204" pitchFamily="18" charset="0"/>
                      </a:rPr>
                      <m:t> </m:t>
                    </m:r>
                  </m:oMath>
                </a14:m>
                <a:r>
                  <a:rPr lang="sv-SE" dirty="0" smtClean="0"/>
                  <a:t>.</a:t>
                </a:r>
              </a:p>
              <a:p>
                <a:r>
                  <a:rPr lang="sv-SE" dirty="0" smtClean="0"/>
                  <a:t> </a:t>
                </a:r>
                <a:r>
                  <a:rPr lang="sv-SE" dirty="0" err="1"/>
                  <a:t>Since</a:t>
                </a:r>
                <a:r>
                  <a:rPr lang="sv-SE" dirty="0"/>
                  <a:t> fast </a:t>
                </a:r>
                <a:r>
                  <a:rPr lang="sv-SE" dirty="0" err="1"/>
                  <a:t>switching</a:t>
                </a:r>
                <a:r>
                  <a:rPr lang="sv-SE" dirty="0"/>
                  <a:t> is </a:t>
                </a:r>
                <a:r>
                  <a:rPr lang="sv-SE" dirty="0" err="1" smtClean="0"/>
                  <a:t>assumed</a:t>
                </a:r>
                <a:r>
                  <a:rPr lang="sv-SE" dirty="0"/>
                  <a:t>, f2(IL) is fit </a:t>
                </a:r>
                <a:r>
                  <a:rPr lang="sv-SE" dirty="0" err="1"/>
                  <a:t>with</a:t>
                </a:r>
                <a:r>
                  <a:rPr lang="sv-SE" dirty="0"/>
                  <a:t> a second-</a:t>
                </a:r>
                <a:r>
                  <a:rPr lang="sv-SE" dirty="0" err="1"/>
                  <a:t>degree</a:t>
                </a:r>
                <a:r>
                  <a:rPr lang="sv-SE" dirty="0"/>
                  <a:t> </a:t>
                </a:r>
                <a:r>
                  <a:rPr lang="sv-SE" dirty="0" err="1"/>
                  <a:t>polynomial</a:t>
                </a:r>
                <a:r>
                  <a:rPr lang="sv-SE" dirty="0"/>
                  <a:t> </a:t>
                </a:r>
                <a:r>
                  <a:rPr lang="sv-SE" dirty="0" err="1"/>
                  <a:t>instead</a:t>
                </a:r>
                <a:r>
                  <a:rPr lang="sv-SE" dirty="0"/>
                  <a:t> </a:t>
                </a:r>
                <a:r>
                  <a:rPr lang="sv-SE" dirty="0" err="1" smtClean="0"/>
                  <a:t>which</a:t>
                </a:r>
                <a:r>
                  <a:rPr lang="sv-SE" dirty="0" smtClean="0"/>
                  <a:t> </a:t>
                </a:r>
                <a:r>
                  <a:rPr lang="sv-SE" dirty="0"/>
                  <a:t>is in </a:t>
                </a:r>
                <a:r>
                  <a:rPr lang="sv-SE" dirty="0" err="1"/>
                  <a:t>good</a:t>
                </a:r>
                <a:r>
                  <a:rPr lang="sv-SE" dirty="0"/>
                  <a:t> </a:t>
                </a:r>
                <a:r>
                  <a:rPr lang="sv-SE" dirty="0" err="1"/>
                  <a:t>agreement</a:t>
                </a:r>
                <a:r>
                  <a:rPr lang="sv-SE" dirty="0"/>
                  <a:t> </a:t>
                </a:r>
                <a:r>
                  <a:rPr lang="sv-SE" dirty="0" err="1"/>
                  <a:t>with</a:t>
                </a:r>
                <a:r>
                  <a:rPr lang="sv-SE" dirty="0"/>
                  <a:t> the </a:t>
                </a:r>
                <a:r>
                  <a:rPr lang="sv-SE" dirty="0" err="1"/>
                  <a:t>measured</a:t>
                </a:r>
                <a:r>
                  <a:rPr lang="sv-SE" dirty="0"/>
                  <a:t> </a:t>
                </a:r>
                <a:r>
                  <a:rPr lang="sv-SE" dirty="0" smtClean="0"/>
                  <a:t>data.</a:t>
                </a:r>
                <a:endParaRPr lang="sv-SE" dirty="0"/>
              </a:p>
            </p:txBody>
          </p:sp>
        </mc:Choice>
        <mc:Fallback xmlns="">
          <p:sp>
            <p:nvSpPr>
              <p:cNvPr id="21" name="Rectangle 20"/>
              <p:cNvSpPr>
                <a:spLocks noRot="1" noChangeAspect="1" noMove="1" noResize="1" noEditPoints="1" noAdjustHandles="1" noChangeArrowheads="1" noChangeShapeType="1" noTextEdit="1"/>
              </p:cNvSpPr>
              <p:nvPr/>
            </p:nvSpPr>
            <p:spPr>
              <a:xfrm>
                <a:off x="3049987" y="3605810"/>
                <a:ext cx="8699189" cy="1477328"/>
              </a:xfrm>
              <a:prstGeom prst="rect">
                <a:avLst/>
              </a:prstGeom>
              <a:blipFill>
                <a:blip r:embed="rId4"/>
                <a:stretch>
                  <a:fillRect l="-561" t="-2479" b="-5785"/>
                </a:stretch>
              </a:blipFill>
            </p:spPr>
            <p:txBody>
              <a:bodyPr/>
              <a:lstStyle/>
              <a:p>
                <a:r>
                  <a:rPr lang="sv-SE">
                    <a:noFill/>
                  </a:rPr>
                  <a:t> </a:t>
                </a:r>
              </a:p>
            </p:txBody>
          </p:sp>
        </mc:Fallback>
      </mc:AlternateContent>
      <p:pic>
        <p:nvPicPr>
          <p:cNvPr id="22" name="Picture 21"/>
          <p:cNvPicPr>
            <a:picLocks noChangeAspect="1"/>
          </p:cNvPicPr>
          <p:nvPr/>
        </p:nvPicPr>
        <p:blipFill>
          <a:blip r:embed="rId5"/>
          <a:stretch>
            <a:fillRect/>
          </a:stretch>
        </p:blipFill>
        <p:spPr>
          <a:xfrm>
            <a:off x="4347264" y="5362232"/>
            <a:ext cx="4167008" cy="609082"/>
          </a:xfrm>
          <a:prstGeom prst="rect">
            <a:avLst/>
          </a:prstGeom>
        </p:spPr>
      </p:pic>
      <p:sp>
        <p:nvSpPr>
          <p:cNvPr id="23" name="Rectangle 22"/>
          <p:cNvSpPr/>
          <p:nvPr/>
        </p:nvSpPr>
        <p:spPr>
          <a:xfrm>
            <a:off x="444800" y="6219645"/>
            <a:ext cx="11218114" cy="369332"/>
          </a:xfrm>
          <a:prstGeom prst="rect">
            <a:avLst/>
          </a:prstGeom>
        </p:spPr>
        <p:txBody>
          <a:bodyPr wrap="square">
            <a:spAutoFit/>
          </a:bodyPr>
          <a:lstStyle/>
          <a:p>
            <a:r>
              <a:rPr lang="sv-SE" dirty="0" err="1" smtClean="0"/>
              <a:t>Retrieved</a:t>
            </a:r>
            <a:r>
              <a:rPr lang="sv-SE" dirty="0" smtClean="0"/>
              <a:t> from Potentials </a:t>
            </a:r>
            <a:r>
              <a:rPr lang="sv-SE" dirty="0"/>
              <a:t>and </a:t>
            </a:r>
            <a:r>
              <a:rPr lang="sv-SE" dirty="0" err="1"/>
              <a:t>Comparison</a:t>
            </a:r>
            <a:r>
              <a:rPr lang="sv-SE" dirty="0"/>
              <a:t> </a:t>
            </a:r>
            <a:r>
              <a:rPr lang="sv-SE" dirty="0" err="1"/>
              <a:t>of</a:t>
            </a:r>
            <a:r>
              <a:rPr lang="sv-SE" dirty="0"/>
              <a:t> </a:t>
            </a:r>
            <a:r>
              <a:rPr lang="sv-SE" dirty="0" err="1"/>
              <a:t>Inverter</a:t>
            </a:r>
            <a:r>
              <a:rPr lang="sv-SE" dirty="0"/>
              <a:t> </a:t>
            </a:r>
            <a:r>
              <a:rPr lang="sv-SE" dirty="0" err="1"/>
              <a:t>Topologies</a:t>
            </a:r>
            <a:r>
              <a:rPr lang="sv-SE" dirty="0"/>
              <a:t> for </a:t>
            </a:r>
            <a:r>
              <a:rPr lang="sv-SE" dirty="0" err="1"/>
              <a:t>Future</a:t>
            </a:r>
            <a:r>
              <a:rPr lang="sv-SE" dirty="0"/>
              <a:t> All-Electric Aircraft </a:t>
            </a:r>
            <a:r>
              <a:rPr lang="sv-SE" dirty="0" err="1"/>
              <a:t>Propulsion</a:t>
            </a:r>
            <a:endParaRPr lang="sv-SE" dirty="0"/>
          </a:p>
        </p:txBody>
      </p:sp>
    </p:spTree>
    <p:extLst>
      <p:ext uri="{BB962C8B-B14F-4D97-AF65-F5344CB8AC3E}">
        <p14:creationId xmlns:p14="http://schemas.microsoft.com/office/powerpoint/2010/main" val="239493275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8649" y="276123"/>
            <a:ext cx="10990263" cy="568412"/>
          </a:xfrm>
        </p:spPr>
        <p:txBody>
          <a:bodyPr/>
          <a:lstStyle/>
          <a:p>
            <a:r>
              <a:rPr lang="en-US" dirty="0" smtClean="0"/>
              <a:t>Datasheet-driven Loss </a:t>
            </a:r>
            <a:r>
              <a:rPr lang="en-US" dirty="0"/>
              <a:t>Calculation </a:t>
            </a:r>
            <a:endParaRPr lang="sv-SE" dirty="0"/>
          </a:p>
        </p:txBody>
      </p:sp>
      <p:pic>
        <p:nvPicPr>
          <p:cNvPr id="6" name="Picture 5"/>
          <p:cNvPicPr>
            <a:picLocks noChangeAspect="1"/>
          </p:cNvPicPr>
          <p:nvPr/>
        </p:nvPicPr>
        <p:blipFill>
          <a:blip r:embed="rId2"/>
          <a:stretch>
            <a:fillRect/>
          </a:stretch>
        </p:blipFill>
        <p:spPr>
          <a:xfrm>
            <a:off x="73323" y="844535"/>
            <a:ext cx="3558396" cy="2668797"/>
          </a:xfrm>
          <a:prstGeom prst="rect">
            <a:avLst/>
          </a:prstGeom>
        </p:spPr>
      </p:pic>
      <p:sp>
        <p:nvSpPr>
          <p:cNvPr id="12" name="TextBox 11"/>
          <p:cNvSpPr txBox="1"/>
          <p:nvPr/>
        </p:nvSpPr>
        <p:spPr>
          <a:xfrm>
            <a:off x="794272" y="3513332"/>
            <a:ext cx="2294626" cy="369332"/>
          </a:xfrm>
          <a:prstGeom prst="rect">
            <a:avLst/>
          </a:prstGeom>
          <a:noFill/>
        </p:spPr>
        <p:txBody>
          <a:bodyPr wrap="square" rtlCol="0">
            <a:spAutoFit/>
          </a:bodyPr>
          <a:lstStyle/>
          <a:p>
            <a:r>
              <a:rPr lang="sv-SE" dirty="0" err="1" smtClean="0"/>
              <a:t>Linear</a:t>
            </a:r>
            <a:r>
              <a:rPr lang="sv-SE" dirty="0" smtClean="0"/>
              <a:t> </a:t>
            </a:r>
            <a:r>
              <a:rPr lang="sv-SE" dirty="0" err="1" smtClean="0"/>
              <a:t>assumption</a:t>
            </a:r>
            <a:endParaRPr lang="sv-SE" dirty="0"/>
          </a:p>
        </p:txBody>
      </p:sp>
      <p:sp>
        <p:nvSpPr>
          <p:cNvPr id="18" name="TextBox 17"/>
          <p:cNvSpPr txBox="1"/>
          <p:nvPr/>
        </p:nvSpPr>
        <p:spPr>
          <a:xfrm>
            <a:off x="4210332" y="3584912"/>
            <a:ext cx="3286665" cy="369332"/>
          </a:xfrm>
          <a:prstGeom prst="rect">
            <a:avLst/>
          </a:prstGeom>
          <a:noFill/>
        </p:spPr>
        <p:txBody>
          <a:bodyPr wrap="square" rtlCol="0">
            <a:spAutoFit/>
          </a:bodyPr>
          <a:lstStyle/>
          <a:p>
            <a:r>
              <a:rPr lang="sv-SE" dirty="0" err="1" smtClean="0"/>
              <a:t>Polynomial</a:t>
            </a:r>
            <a:r>
              <a:rPr lang="sv-SE" dirty="0" smtClean="0"/>
              <a:t> </a:t>
            </a:r>
            <a:r>
              <a:rPr lang="sv-SE" dirty="0" err="1" smtClean="0"/>
              <a:t>assumption</a:t>
            </a:r>
            <a:r>
              <a:rPr lang="sv-SE" dirty="0" smtClean="0"/>
              <a:t> 1</a:t>
            </a:r>
          </a:p>
        </p:txBody>
      </p:sp>
      <p:sp>
        <p:nvSpPr>
          <p:cNvPr id="14" name="TextBox 13"/>
          <p:cNvSpPr txBox="1"/>
          <p:nvPr/>
        </p:nvSpPr>
        <p:spPr>
          <a:xfrm>
            <a:off x="2869734" y="5671344"/>
            <a:ext cx="7697623" cy="369332"/>
          </a:xfrm>
          <a:prstGeom prst="rect">
            <a:avLst/>
          </a:prstGeom>
          <a:noFill/>
        </p:spPr>
        <p:txBody>
          <a:bodyPr wrap="square" rtlCol="0">
            <a:spAutoFit/>
          </a:bodyPr>
          <a:lstStyle/>
          <a:p>
            <a:r>
              <a:rPr lang="sv-SE" dirty="0" err="1" smtClean="0"/>
              <a:t>Linear</a:t>
            </a:r>
            <a:r>
              <a:rPr lang="sv-SE" dirty="0" smtClean="0"/>
              <a:t> </a:t>
            </a:r>
            <a:r>
              <a:rPr lang="sv-SE" dirty="0" err="1" smtClean="0"/>
              <a:t>assumption</a:t>
            </a:r>
            <a:r>
              <a:rPr lang="sv-SE" dirty="0" smtClean="0"/>
              <a:t> </a:t>
            </a:r>
            <a:r>
              <a:rPr lang="sv-SE" dirty="0" err="1" smtClean="0"/>
              <a:t>might</a:t>
            </a:r>
            <a:r>
              <a:rPr lang="sv-SE" dirty="0" smtClean="0"/>
              <a:t> be the </a:t>
            </a:r>
            <a:r>
              <a:rPr lang="sv-SE" dirty="0" err="1" smtClean="0"/>
              <a:t>worst-case</a:t>
            </a:r>
            <a:r>
              <a:rPr lang="sv-SE" dirty="0" smtClean="0"/>
              <a:t> scenario.</a:t>
            </a:r>
            <a:endParaRPr lang="sv-SE" dirty="0"/>
          </a:p>
        </p:txBody>
      </p:sp>
      <p:sp>
        <p:nvSpPr>
          <p:cNvPr id="17" name="Rectangle 16"/>
          <p:cNvSpPr/>
          <p:nvPr/>
        </p:nvSpPr>
        <p:spPr>
          <a:xfrm>
            <a:off x="4046919" y="4067293"/>
            <a:ext cx="3898824" cy="369332"/>
          </a:xfrm>
          <a:prstGeom prst="rect">
            <a:avLst/>
          </a:prstGeom>
        </p:spPr>
        <p:txBody>
          <a:bodyPr wrap="none">
            <a:spAutoFit/>
          </a:bodyPr>
          <a:lstStyle/>
          <a:p>
            <a:r>
              <a:rPr lang="sv-SE" dirty="0" smtClean="0"/>
              <a:t>Eon </a:t>
            </a:r>
            <a:r>
              <a:rPr lang="sv-SE" dirty="0" smtClean="0">
                <a:sym typeface="Wingdings" panose="05000000000000000000" pitchFamily="2" charset="2"/>
              </a:rPr>
              <a:t> </a:t>
            </a:r>
            <a:r>
              <a:rPr lang="sv-SE" dirty="0" smtClean="0"/>
              <a:t>p1,1=0.007  </a:t>
            </a:r>
            <a:r>
              <a:rPr lang="sv-SE" dirty="0"/>
              <a:t>p1,2=0.5 p1,3=0 </a:t>
            </a:r>
          </a:p>
        </p:txBody>
      </p:sp>
      <p:sp>
        <p:nvSpPr>
          <p:cNvPr id="24" name="Rectangle 23"/>
          <p:cNvSpPr/>
          <p:nvPr/>
        </p:nvSpPr>
        <p:spPr>
          <a:xfrm>
            <a:off x="4046919" y="4528958"/>
            <a:ext cx="3858749" cy="369332"/>
          </a:xfrm>
          <a:prstGeom prst="rect">
            <a:avLst/>
          </a:prstGeom>
        </p:spPr>
        <p:txBody>
          <a:bodyPr wrap="none">
            <a:spAutoFit/>
          </a:bodyPr>
          <a:lstStyle/>
          <a:p>
            <a:r>
              <a:rPr lang="sv-SE" dirty="0" err="1" smtClean="0"/>
              <a:t>Eoff</a:t>
            </a:r>
            <a:r>
              <a:rPr lang="sv-SE" dirty="0" smtClean="0"/>
              <a:t> </a:t>
            </a:r>
            <a:r>
              <a:rPr lang="sv-SE" dirty="0" smtClean="0">
                <a:sym typeface="Wingdings" panose="05000000000000000000" pitchFamily="2" charset="2"/>
              </a:rPr>
              <a:t> </a:t>
            </a:r>
            <a:r>
              <a:rPr lang="sv-SE" dirty="0" smtClean="0"/>
              <a:t>p1,1=0.011  </a:t>
            </a:r>
            <a:r>
              <a:rPr lang="sv-SE" dirty="0"/>
              <a:t>p1,2=0.5 p1,3=0 </a:t>
            </a:r>
          </a:p>
        </p:txBody>
      </p:sp>
      <p:sp>
        <p:nvSpPr>
          <p:cNvPr id="25" name="TextBox 24"/>
          <p:cNvSpPr txBox="1"/>
          <p:nvPr/>
        </p:nvSpPr>
        <p:spPr>
          <a:xfrm>
            <a:off x="8229452" y="3513332"/>
            <a:ext cx="3286665" cy="369332"/>
          </a:xfrm>
          <a:prstGeom prst="rect">
            <a:avLst/>
          </a:prstGeom>
          <a:noFill/>
        </p:spPr>
        <p:txBody>
          <a:bodyPr wrap="square" rtlCol="0">
            <a:spAutoFit/>
          </a:bodyPr>
          <a:lstStyle/>
          <a:p>
            <a:r>
              <a:rPr lang="sv-SE" dirty="0" err="1"/>
              <a:t>Polynomial</a:t>
            </a:r>
            <a:r>
              <a:rPr lang="sv-SE" dirty="0"/>
              <a:t> </a:t>
            </a:r>
            <a:r>
              <a:rPr lang="sv-SE" dirty="0" err="1" smtClean="0"/>
              <a:t>assumption</a:t>
            </a:r>
            <a:r>
              <a:rPr lang="sv-SE" dirty="0" smtClean="0"/>
              <a:t> 2</a:t>
            </a:r>
          </a:p>
        </p:txBody>
      </p:sp>
      <p:sp>
        <p:nvSpPr>
          <p:cNvPr id="27" name="Rectangle 26"/>
          <p:cNvSpPr/>
          <p:nvPr/>
        </p:nvSpPr>
        <p:spPr>
          <a:xfrm>
            <a:off x="8066039" y="3995713"/>
            <a:ext cx="4121641" cy="369332"/>
          </a:xfrm>
          <a:prstGeom prst="rect">
            <a:avLst/>
          </a:prstGeom>
        </p:spPr>
        <p:txBody>
          <a:bodyPr wrap="none">
            <a:spAutoFit/>
          </a:bodyPr>
          <a:lstStyle/>
          <a:p>
            <a:r>
              <a:rPr lang="sv-SE" dirty="0" smtClean="0"/>
              <a:t>Eon </a:t>
            </a:r>
            <a:r>
              <a:rPr lang="sv-SE" dirty="0" smtClean="0">
                <a:sym typeface="Wingdings" panose="05000000000000000000" pitchFamily="2" charset="2"/>
              </a:rPr>
              <a:t> </a:t>
            </a:r>
            <a:r>
              <a:rPr lang="sv-SE" dirty="0" smtClean="0"/>
              <a:t>p1,1=0.0107  p1,2=0.25 </a:t>
            </a:r>
            <a:r>
              <a:rPr lang="sv-SE" dirty="0"/>
              <a:t>p1,3=0 </a:t>
            </a:r>
          </a:p>
        </p:txBody>
      </p:sp>
      <p:sp>
        <p:nvSpPr>
          <p:cNvPr id="28" name="Rectangle 27"/>
          <p:cNvSpPr/>
          <p:nvPr/>
        </p:nvSpPr>
        <p:spPr>
          <a:xfrm>
            <a:off x="8066039" y="4457378"/>
            <a:ext cx="4156907" cy="369332"/>
          </a:xfrm>
          <a:prstGeom prst="rect">
            <a:avLst/>
          </a:prstGeom>
        </p:spPr>
        <p:txBody>
          <a:bodyPr wrap="none">
            <a:spAutoFit/>
          </a:bodyPr>
          <a:lstStyle/>
          <a:p>
            <a:r>
              <a:rPr lang="sv-SE" dirty="0" err="1" smtClean="0"/>
              <a:t>Eoff</a:t>
            </a:r>
            <a:r>
              <a:rPr lang="sv-SE" dirty="0" smtClean="0"/>
              <a:t> </a:t>
            </a:r>
            <a:r>
              <a:rPr lang="sv-SE" dirty="0" smtClean="0">
                <a:sym typeface="Wingdings" panose="05000000000000000000" pitchFamily="2" charset="2"/>
              </a:rPr>
              <a:t> </a:t>
            </a:r>
            <a:r>
              <a:rPr lang="sv-SE" dirty="0" smtClean="0"/>
              <a:t>p1,1=0.0165  p1,2=0.25 </a:t>
            </a:r>
            <a:r>
              <a:rPr lang="sv-SE" dirty="0"/>
              <a:t>p1,3=0 </a:t>
            </a:r>
          </a:p>
        </p:txBody>
      </p:sp>
      <p:pic>
        <p:nvPicPr>
          <p:cNvPr id="19" name="Picture 18"/>
          <p:cNvPicPr>
            <a:picLocks noChangeAspect="1"/>
          </p:cNvPicPr>
          <p:nvPr/>
        </p:nvPicPr>
        <p:blipFill>
          <a:blip r:embed="rId3"/>
          <a:stretch>
            <a:fillRect/>
          </a:stretch>
        </p:blipFill>
        <p:spPr>
          <a:xfrm>
            <a:off x="4046919" y="857204"/>
            <a:ext cx="3561578" cy="2671183"/>
          </a:xfrm>
          <a:prstGeom prst="rect">
            <a:avLst/>
          </a:prstGeom>
        </p:spPr>
      </p:pic>
      <p:pic>
        <p:nvPicPr>
          <p:cNvPr id="29" name="Picture 28"/>
          <p:cNvPicPr>
            <a:picLocks noChangeAspect="1"/>
          </p:cNvPicPr>
          <p:nvPr/>
        </p:nvPicPr>
        <p:blipFill>
          <a:blip r:embed="rId4"/>
          <a:stretch>
            <a:fillRect/>
          </a:stretch>
        </p:blipFill>
        <p:spPr>
          <a:xfrm>
            <a:off x="7828031" y="856553"/>
            <a:ext cx="3492559" cy="2619419"/>
          </a:xfrm>
          <a:prstGeom prst="rect">
            <a:avLst/>
          </a:prstGeom>
        </p:spPr>
      </p:pic>
    </p:spTree>
    <p:extLst>
      <p:ext uri="{BB962C8B-B14F-4D97-AF65-F5344CB8AC3E}">
        <p14:creationId xmlns:p14="http://schemas.microsoft.com/office/powerpoint/2010/main" val="131198675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2490" y="287931"/>
            <a:ext cx="10990263" cy="568412"/>
          </a:xfrm>
        </p:spPr>
        <p:txBody>
          <a:bodyPr/>
          <a:lstStyle/>
          <a:p>
            <a:r>
              <a:rPr lang="en-US" dirty="0"/>
              <a:t>Datasheet-driven Loss </a:t>
            </a:r>
            <a:r>
              <a:rPr lang="en-US" dirty="0" smtClean="0"/>
              <a:t>Calculation (Conduction) </a:t>
            </a:r>
            <a:endParaRPr lang="sv-SE" dirty="0"/>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3320896809"/>
                  </p:ext>
                </p:extLst>
              </p:nvPr>
            </p:nvGraphicFramePr>
            <p:xfrm>
              <a:off x="2247210" y="4970174"/>
              <a:ext cx="6682395" cy="758698"/>
            </p:xfrm>
            <a:graphic>
              <a:graphicData uri="http://schemas.openxmlformats.org/drawingml/2006/table">
                <a:tbl>
                  <a:tblPr firstRow="1" bandRow="1">
                    <a:tableStyleId>{5C22544A-7EE6-4342-B048-85BDC9FD1C3A}</a:tableStyleId>
                  </a:tblPr>
                  <a:tblGrid>
                    <a:gridCol w="1336479">
                      <a:extLst>
                        <a:ext uri="{9D8B030D-6E8A-4147-A177-3AD203B41FA5}">
                          <a16:colId xmlns:a16="http://schemas.microsoft.com/office/drawing/2014/main" val="701188241"/>
                        </a:ext>
                      </a:extLst>
                    </a:gridCol>
                    <a:gridCol w="1336479">
                      <a:extLst>
                        <a:ext uri="{9D8B030D-6E8A-4147-A177-3AD203B41FA5}">
                          <a16:colId xmlns:a16="http://schemas.microsoft.com/office/drawing/2014/main" val="2487507754"/>
                        </a:ext>
                      </a:extLst>
                    </a:gridCol>
                    <a:gridCol w="1336479">
                      <a:extLst>
                        <a:ext uri="{9D8B030D-6E8A-4147-A177-3AD203B41FA5}">
                          <a16:colId xmlns:a16="http://schemas.microsoft.com/office/drawing/2014/main" val="267292927"/>
                        </a:ext>
                      </a:extLst>
                    </a:gridCol>
                    <a:gridCol w="1336479">
                      <a:extLst>
                        <a:ext uri="{9D8B030D-6E8A-4147-A177-3AD203B41FA5}">
                          <a16:colId xmlns:a16="http://schemas.microsoft.com/office/drawing/2014/main" val="482194914"/>
                        </a:ext>
                      </a:extLst>
                    </a:gridCol>
                    <a:gridCol w="1336479">
                      <a:extLst>
                        <a:ext uri="{9D8B030D-6E8A-4147-A177-3AD203B41FA5}">
                          <a16:colId xmlns:a16="http://schemas.microsoft.com/office/drawing/2014/main" val="2386295402"/>
                        </a:ext>
                      </a:extLst>
                    </a:gridCol>
                  </a:tblGrid>
                  <a:tr h="370840">
                    <a:tc>
                      <a:txBody>
                        <a:bodyPr/>
                        <a:lstStyle/>
                        <a:p>
                          <a:pPr algn="ctr"/>
                          <a14:m>
                            <m:oMath xmlns:m="http://schemas.openxmlformats.org/officeDocument/2006/math">
                              <m:sSub>
                                <m:sSubPr>
                                  <m:ctrlPr>
                                    <a:rPr lang="sv-SE" b="0" i="1" dirty="0" smtClean="0">
                                      <a:latin typeface="Cambria Math" panose="02040503050406030204" pitchFamily="18" charset="0"/>
                                    </a:rPr>
                                  </m:ctrlPr>
                                </m:sSubPr>
                                <m:e>
                                  <m:r>
                                    <a:rPr lang="sv-SE" i="1" dirty="0" smtClean="0">
                                      <a:latin typeface="Cambria Math" panose="02040503050406030204" pitchFamily="18" charset="0"/>
                                    </a:rPr>
                                    <m:t>𝑇</m:t>
                                  </m:r>
                                </m:e>
                                <m:sub>
                                  <m:r>
                                    <a:rPr lang="sv-SE" i="1" dirty="0" smtClean="0">
                                      <a:latin typeface="Cambria Math" panose="02040503050406030204" pitchFamily="18" charset="0"/>
                                    </a:rPr>
                                    <m:t>𝑗</m:t>
                                  </m:r>
                                </m:sub>
                              </m:sSub>
                            </m:oMath>
                          </a14:m>
                          <a:r>
                            <a:rPr lang="sv-SE" dirty="0" smtClean="0"/>
                            <a:t> ( </a:t>
                          </a:r>
                          <a14:m>
                            <m:oMath xmlns:m="http://schemas.openxmlformats.org/officeDocument/2006/math">
                              <m:sSup>
                                <m:sSupPr>
                                  <m:ctrlPr>
                                    <a:rPr lang="sv-SE" b="0" i="1" smtClean="0">
                                      <a:latin typeface="Cambria Math" panose="02040503050406030204" pitchFamily="18" charset="0"/>
                                    </a:rPr>
                                  </m:ctrlPr>
                                </m:sSupPr>
                                <m:e>
                                  <m:r>
                                    <a:rPr lang="sv-SE" b="0" i="1" smtClean="0">
                                      <a:latin typeface="Cambria Math" panose="02040503050406030204" pitchFamily="18" charset="0"/>
                                    </a:rPr>
                                    <m:t>𝐶</m:t>
                                  </m:r>
                                </m:e>
                                <m:sup>
                                  <m:r>
                                    <a:rPr lang="sv-SE" b="0" i="1" smtClean="0">
                                      <a:latin typeface="Cambria Math" panose="02040503050406030204" pitchFamily="18" charset="0"/>
                                    </a:rPr>
                                    <m:t>𝑜</m:t>
                                  </m:r>
                                </m:sup>
                              </m:sSup>
                            </m:oMath>
                          </a14:m>
                          <a:r>
                            <a:rPr lang="sv-SE" dirty="0" smtClean="0"/>
                            <a:t>)</a:t>
                          </a:r>
                          <a:endParaRPr lang="sv-SE" dirty="0"/>
                        </a:p>
                      </a:txBody>
                      <a:tcPr/>
                    </a:tc>
                    <a:tc>
                      <a:txBody>
                        <a:bodyPr/>
                        <a:lstStyle/>
                        <a:p>
                          <a:pPr/>
                          <a14:m>
                            <m:oMathPara xmlns:m="http://schemas.openxmlformats.org/officeDocument/2006/math">
                              <m:oMathParaPr>
                                <m:jc m:val="centerGroup"/>
                              </m:oMathParaPr>
                              <m:oMath xmlns:m="http://schemas.openxmlformats.org/officeDocument/2006/math">
                                <m:r>
                                  <a:rPr lang="sv-SE" b="1" i="1" dirty="0" smtClean="0">
                                    <a:latin typeface="Cambria Math" panose="02040503050406030204" pitchFamily="18" charset="0"/>
                                  </a:rPr>
                                  <m:t>2</m:t>
                                </m:r>
                                <m:r>
                                  <a:rPr lang="sv-SE" b="0" i="1" dirty="0" smtClean="0">
                                    <a:latin typeface="Cambria Math" panose="02040503050406030204" pitchFamily="18" charset="0"/>
                                  </a:rPr>
                                  <m:t>5</m:t>
                                </m:r>
                                <m:r>
                                  <a:rPr lang="sv-SE" i="1" dirty="0" smtClean="0">
                                    <a:latin typeface="Cambria Math" panose="02040503050406030204" pitchFamily="18" charset="0"/>
                                  </a:rPr>
                                  <m:t> </m:t>
                                </m:r>
                                <m:sSup>
                                  <m:sSupPr>
                                    <m:ctrlPr>
                                      <a:rPr lang="sv-SE" b="0" i="1" smtClean="0">
                                        <a:latin typeface="Cambria Math" panose="02040503050406030204" pitchFamily="18" charset="0"/>
                                      </a:rPr>
                                    </m:ctrlPr>
                                  </m:sSupPr>
                                  <m:e>
                                    <m:r>
                                      <a:rPr lang="sv-SE" b="0" i="1" smtClean="0">
                                        <a:latin typeface="Cambria Math" panose="02040503050406030204" pitchFamily="18" charset="0"/>
                                      </a:rPr>
                                      <m:t>𝐶</m:t>
                                    </m:r>
                                  </m:e>
                                  <m:sup>
                                    <m:r>
                                      <a:rPr lang="sv-SE" b="0" i="1" smtClean="0">
                                        <a:latin typeface="Cambria Math" panose="02040503050406030204" pitchFamily="18" charset="0"/>
                                      </a:rPr>
                                      <m:t>𝑜</m:t>
                                    </m:r>
                                  </m:sup>
                                </m:sSup>
                              </m:oMath>
                            </m:oMathPara>
                          </a14:m>
                          <a:endParaRPr lang="sv-SE" dirty="0"/>
                        </a:p>
                      </a:txBody>
                      <a:tcPr/>
                    </a:tc>
                    <a:tc>
                      <a:txBody>
                        <a:bodyPr/>
                        <a:lstStyle/>
                        <a:p>
                          <a:pPr algn="ctr"/>
                          <a14:m>
                            <m:oMathPara xmlns:m="http://schemas.openxmlformats.org/officeDocument/2006/math">
                              <m:oMathParaPr>
                                <m:jc m:val="centerGroup"/>
                              </m:oMathParaPr>
                              <m:oMath xmlns:m="http://schemas.openxmlformats.org/officeDocument/2006/math">
                                <m:r>
                                  <a:rPr lang="sv-SE" i="1" dirty="0" smtClean="0">
                                    <a:latin typeface="Cambria Math" panose="02040503050406030204" pitchFamily="18" charset="0"/>
                                  </a:rPr>
                                  <m:t>7</m:t>
                                </m:r>
                                <m:r>
                                  <a:rPr lang="sv-SE" b="0" i="1" dirty="0" smtClean="0">
                                    <a:latin typeface="Cambria Math" panose="02040503050406030204" pitchFamily="18" charset="0"/>
                                  </a:rPr>
                                  <m:t>5</m:t>
                                </m:r>
                                <m:r>
                                  <a:rPr lang="sv-SE" i="1" dirty="0" smtClean="0">
                                    <a:latin typeface="Cambria Math" panose="02040503050406030204" pitchFamily="18" charset="0"/>
                                  </a:rPr>
                                  <m:t> </m:t>
                                </m:r>
                                <m:sSup>
                                  <m:sSupPr>
                                    <m:ctrlPr>
                                      <a:rPr lang="sv-SE" b="0" i="1" smtClean="0">
                                        <a:latin typeface="Cambria Math" panose="02040503050406030204" pitchFamily="18" charset="0"/>
                                      </a:rPr>
                                    </m:ctrlPr>
                                  </m:sSupPr>
                                  <m:e>
                                    <m:r>
                                      <a:rPr lang="sv-SE" b="0" i="1" smtClean="0">
                                        <a:latin typeface="Cambria Math" panose="02040503050406030204" pitchFamily="18" charset="0"/>
                                      </a:rPr>
                                      <m:t>𝐶</m:t>
                                    </m:r>
                                  </m:e>
                                  <m:sup>
                                    <m:r>
                                      <a:rPr lang="sv-SE" b="0" i="1" smtClean="0">
                                        <a:latin typeface="Cambria Math" panose="02040503050406030204" pitchFamily="18" charset="0"/>
                                      </a:rPr>
                                      <m:t>𝑜</m:t>
                                    </m:r>
                                  </m:sup>
                                </m:sSup>
                              </m:oMath>
                            </m:oMathPara>
                          </a14:m>
                          <a:endParaRPr lang="sv-SE" dirty="0"/>
                        </a:p>
                      </a:txBody>
                      <a:tcPr/>
                    </a:tc>
                    <a:tc>
                      <a:txBody>
                        <a:bodyPr/>
                        <a:lstStyle/>
                        <a:p>
                          <a:pPr algn="ctr"/>
                          <a14:m>
                            <m:oMathPara xmlns:m="http://schemas.openxmlformats.org/officeDocument/2006/math">
                              <m:oMathParaPr>
                                <m:jc m:val="centerGroup"/>
                              </m:oMathParaPr>
                              <m:oMath xmlns:m="http://schemas.openxmlformats.org/officeDocument/2006/math">
                                <m:r>
                                  <a:rPr lang="sv-SE" i="1" dirty="0" smtClean="0">
                                    <a:latin typeface="Cambria Math" panose="02040503050406030204" pitchFamily="18" charset="0"/>
                                  </a:rPr>
                                  <m:t>1</m:t>
                                </m:r>
                                <m:r>
                                  <a:rPr lang="sv-SE" b="0" i="1" dirty="0" smtClean="0">
                                    <a:latin typeface="Cambria Math" panose="02040503050406030204" pitchFamily="18" charset="0"/>
                                  </a:rPr>
                                  <m:t>25</m:t>
                                </m:r>
                                <m:sSup>
                                  <m:sSupPr>
                                    <m:ctrlPr>
                                      <a:rPr lang="sv-SE" b="0" i="1" smtClean="0">
                                        <a:latin typeface="Cambria Math" panose="02040503050406030204" pitchFamily="18" charset="0"/>
                                      </a:rPr>
                                    </m:ctrlPr>
                                  </m:sSupPr>
                                  <m:e>
                                    <m:r>
                                      <a:rPr lang="sv-SE" b="0" i="1" smtClean="0">
                                        <a:latin typeface="Cambria Math" panose="02040503050406030204" pitchFamily="18" charset="0"/>
                                      </a:rPr>
                                      <m:t>𝐶</m:t>
                                    </m:r>
                                  </m:e>
                                  <m:sup>
                                    <m:r>
                                      <a:rPr lang="sv-SE" b="0" i="1" smtClean="0">
                                        <a:latin typeface="Cambria Math" panose="02040503050406030204" pitchFamily="18" charset="0"/>
                                      </a:rPr>
                                      <m:t>𝑜</m:t>
                                    </m:r>
                                  </m:sup>
                                </m:sSup>
                              </m:oMath>
                            </m:oMathPara>
                          </a14:m>
                          <a:endParaRPr lang="sv-SE" dirty="0"/>
                        </a:p>
                      </a:txBody>
                      <a:tcPr/>
                    </a:tc>
                    <a:tc>
                      <a:txBody>
                        <a:bodyPr/>
                        <a:lstStyle/>
                        <a:p>
                          <a:pPr algn="ctr"/>
                          <a14:m>
                            <m:oMathPara xmlns:m="http://schemas.openxmlformats.org/officeDocument/2006/math">
                              <m:oMathParaPr>
                                <m:jc m:val="centerGroup"/>
                              </m:oMathParaPr>
                              <m:oMath xmlns:m="http://schemas.openxmlformats.org/officeDocument/2006/math">
                                <m:r>
                                  <a:rPr lang="sv-SE" i="1" dirty="0" smtClean="0">
                                    <a:latin typeface="Cambria Math" panose="02040503050406030204" pitchFamily="18" charset="0"/>
                                  </a:rPr>
                                  <m:t>150 </m:t>
                                </m:r>
                                <m:sSup>
                                  <m:sSupPr>
                                    <m:ctrlPr>
                                      <a:rPr lang="sv-SE" b="0" i="1" smtClean="0">
                                        <a:latin typeface="Cambria Math" panose="02040503050406030204" pitchFamily="18" charset="0"/>
                                      </a:rPr>
                                    </m:ctrlPr>
                                  </m:sSupPr>
                                  <m:e>
                                    <m:r>
                                      <a:rPr lang="sv-SE" b="0" i="1" smtClean="0">
                                        <a:latin typeface="Cambria Math" panose="02040503050406030204" pitchFamily="18" charset="0"/>
                                      </a:rPr>
                                      <m:t>𝐶</m:t>
                                    </m:r>
                                  </m:e>
                                  <m:sup>
                                    <m:r>
                                      <a:rPr lang="sv-SE" b="0" i="1" smtClean="0">
                                        <a:latin typeface="Cambria Math" panose="02040503050406030204" pitchFamily="18" charset="0"/>
                                      </a:rPr>
                                      <m:t>𝑜</m:t>
                                    </m:r>
                                  </m:sup>
                                </m:sSup>
                              </m:oMath>
                            </m:oMathPara>
                          </a14:m>
                          <a:endParaRPr lang="sv-SE" dirty="0"/>
                        </a:p>
                      </a:txBody>
                      <a:tcPr/>
                    </a:tc>
                    <a:extLst>
                      <a:ext uri="{0D108BD9-81ED-4DB2-BD59-A6C34878D82A}">
                        <a16:rowId xmlns:a16="http://schemas.microsoft.com/office/drawing/2014/main" val="379032225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dirty="0" smtClean="0"/>
                            <a:t>Loss</a:t>
                          </a:r>
                          <a:r>
                            <a:rPr lang="sv-SE" baseline="0" dirty="0" smtClean="0"/>
                            <a:t> (W)</a:t>
                          </a:r>
                          <a:endParaRPr lang="sv-SE" dirty="0" smtClean="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dirty="0" smtClean="0"/>
                            <a:t>301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dirty="0" smtClean="0"/>
                            <a:t>394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dirty="0" smtClean="0">
                              <a:solidFill>
                                <a:srgbClr val="FF0000"/>
                              </a:solidFill>
                            </a:rPr>
                            <a:t>440</a:t>
                          </a:r>
                          <a:r>
                            <a:rPr lang="sv-SE" dirty="0" smtClean="0"/>
                            <a:t>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dirty="0" smtClean="0"/>
                            <a:t>552</a:t>
                          </a:r>
                        </a:p>
                      </a:txBody>
                      <a:tcPr/>
                    </a:tc>
                    <a:extLst>
                      <a:ext uri="{0D108BD9-81ED-4DB2-BD59-A6C34878D82A}">
                        <a16:rowId xmlns:a16="http://schemas.microsoft.com/office/drawing/2014/main" val="1224150159"/>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3320896809"/>
                  </p:ext>
                </p:extLst>
              </p:nvPr>
            </p:nvGraphicFramePr>
            <p:xfrm>
              <a:off x="2247210" y="4970174"/>
              <a:ext cx="6682395" cy="758698"/>
            </p:xfrm>
            <a:graphic>
              <a:graphicData uri="http://schemas.openxmlformats.org/drawingml/2006/table">
                <a:tbl>
                  <a:tblPr firstRow="1" bandRow="1">
                    <a:tableStyleId>{5C22544A-7EE6-4342-B048-85BDC9FD1C3A}</a:tableStyleId>
                  </a:tblPr>
                  <a:tblGrid>
                    <a:gridCol w="1336479">
                      <a:extLst>
                        <a:ext uri="{9D8B030D-6E8A-4147-A177-3AD203B41FA5}">
                          <a16:colId xmlns:a16="http://schemas.microsoft.com/office/drawing/2014/main" val="701188241"/>
                        </a:ext>
                      </a:extLst>
                    </a:gridCol>
                    <a:gridCol w="1336479">
                      <a:extLst>
                        <a:ext uri="{9D8B030D-6E8A-4147-A177-3AD203B41FA5}">
                          <a16:colId xmlns:a16="http://schemas.microsoft.com/office/drawing/2014/main" val="2487507754"/>
                        </a:ext>
                      </a:extLst>
                    </a:gridCol>
                    <a:gridCol w="1336479">
                      <a:extLst>
                        <a:ext uri="{9D8B030D-6E8A-4147-A177-3AD203B41FA5}">
                          <a16:colId xmlns:a16="http://schemas.microsoft.com/office/drawing/2014/main" val="267292927"/>
                        </a:ext>
                      </a:extLst>
                    </a:gridCol>
                    <a:gridCol w="1336479">
                      <a:extLst>
                        <a:ext uri="{9D8B030D-6E8A-4147-A177-3AD203B41FA5}">
                          <a16:colId xmlns:a16="http://schemas.microsoft.com/office/drawing/2014/main" val="482194914"/>
                        </a:ext>
                      </a:extLst>
                    </a:gridCol>
                    <a:gridCol w="1336479">
                      <a:extLst>
                        <a:ext uri="{9D8B030D-6E8A-4147-A177-3AD203B41FA5}">
                          <a16:colId xmlns:a16="http://schemas.microsoft.com/office/drawing/2014/main" val="2386295402"/>
                        </a:ext>
                      </a:extLst>
                    </a:gridCol>
                  </a:tblGrid>
                  <a:tr h="387858">
                    <a:tc>
                      <a:txBody>
                        <a:bodyPr/>
                        <a:lstStyle/>
                        <a:p>
                          <a:endParaRPr lang="sv-SE"/>
                        </a:p>
                      </a:txBody>
                      <a:tcPr>
                        <a:blipFill>
                          <a:blip r:embed="rId2"/>
                          <a:stretch>
                            <a:fillRect l="-457" t="-7813" r="-402740" b="-118750"/>
                          </a:stretch>
                        </a:blipFill>
                      </a:tcPr>
                    </a:tc>
                    <a:tc>
                      <a:txBody>
                        <a:bodyPr/>
                        <a:lstStyle/>
                        <a:p>
                          <a:endParaRPr lang="sv-SE"/>
                        </a:p>
                      </a:txBody>
                      <a:tcPr>
                        <a:blipFill>
                          <a:blip r:embed="rId2"/>
                          <a:stretch>
                            <a:fillRect l="-100000" t="-7813" r="-300909" b="-118750"/>
                          </a:stretch>
                        </a:blipFill>
                      </a:tcPr>
                    </a:tc>
                    <a:tc>
                      <a:txBody>
                        <a:bodyPr/>
                        <a:lstStyle/>
                        <a:p>
                          <a:endParaRPr lang="sv-SE"/>
                        </a:p>
                      </a:txBody>
                      <a:tcPr>
                        <a:blipFill>
                          <a:blip r:embed="rId2"/>
                          <a:stretch>
                            <a:fillRect l="-200913" t="-7813" r="-202283" b="-118750"/>
                          </a:stretch>
                        </a:blipFill>
                      </a:tcPr>
                    </a:tc>
                    <a:tc>
                      <a:txBody>
                        <a:bodyPr/>
                        <a:lstStyle/>
                        <a:p>
                          <a:endParaRPr lang="sv-SE"/>
                        </a:p>
                      </a:txBody>
                      <a:tcPr>
                        <a:blipFill>
                          <a:blip r:embed="rId2"/>
                          <a:stretch>
                            <a:fillRect l="-299545" t="-7813" r="-101364" b="-118750"/>
                          </a:stretch>
                        </a:blipFill>
                      </a:tcPr>
                    </a:tc>
                    <a:tc>
                      <a:txBody>
                        <a:bodyPr/>
                        <a:lstStyle/>
                        <a:p>
                          <a:endParaRPr lang="sv-SE"/>
                        </a:p>
                      </a:txBody>
                      <a:tcPr>
                        <a:blipFill>
                          <a:blip r:embed="rId2"/>
                          <a:stretch>
                            <a:fillRect l="-401370" t="-7813" r="-1826" b="-118750"/>
                          </a:stretch>
                        </a:blipFill>
                      </a:tcPr>
                    </a:tc>
                    <a:extLst>
                      <a:ext uri="{0D108BD9-81ED-4DB2-BD59-A6C34878D82A}">
                        <a16:rowId xmlns:a16="http://schemas.microsoft.com/office/drawing/2014/main" val="379032225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dirty="0" smtClean="0"/>
                            <a:t>Loss</a:t>
                          </a:r>
                          <a:r>
                            <a:rPr lang="sv-SE" baseline="0" dirty="0" smtClean="0"/>
                            <a:t> (W)</a:t>
                          </a:r>
                          <a:endParaRPr lang="sv-SE" dirty="0" smtClean="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dirty="0" smtClean="0"/>
                            <a:t>301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dirty="0" smtClean="0"/>
                            <a:t>394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dirty="0" smtClean="0">
                              <a:solidFill>
                                <a:srgbClr val="FF0000"/>
                              </a:solidFill>
                            </a:rPr>
                            <a:t>440</a:t>
                          </a:r>
                          <a:r>
                            <a:rPr lang="sv-SE" dirty="0" smtClean="0"/>
                            <a:t>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dirty="0" smtClean="0"/>
                            <a:t>552</a:t>
                          </a:r>
                        </a:p>
                      </a:txBody>
                      <a:tcPr/>
                    </a:tc>
                    <a:extLst>
                      <a:ext uri="{0D108BD9-81ED-4DB2-BD59-A6C34878D82A}">
                        <a16:rowId xmlns:a16="http://schemas.microsoft.com/office/drawing/2014/main" val="1224150159"/>
                      </a:ext>
                    </a:extLst>
                  </a:tr>
                </a:tbl>
              </a:graphicData>
            </a:graphic>
          </p:graphicFrame>
        </mc:Fallback>
      </mc:AlternateContent>
      <p:pic>
        <p:nvPicPr>
          <p:cNvPr id="15" name="Picture 14"/>
          <p:cNvPicPr>
            <a:picLocks noChangeAspect="1"/>
          </p:cNvPicPr>
          <p:nvPr/>
        </p:nvPicPr>
        <p:blipFill>
          <a:blip r:embed="rId3"/>
          <a:stretch>
            <a:fillRect/>
          </a:stretch>
        </p:blipFill>
        <p:spPr>
          <a:xfrm>
            <a:off x="3256471" y="1035169"/>
            <a:ext cx="4800601" cy="3600451"/>
          </a:xfrm>
          <a:prstGeom prst="rect">
            <a:avLst/>
          </a:prstGeom>
        </p:spPr>
      </p:pic>
      <p:sp>
        <p:nvSpPr>
          <p:cNvPr id="4" name="TextBox 3"/>
          <p:cNvSpPr txBox="1"/>
          <p:nvPr/>
        </p:nvSpPr>
        <p:spPr>
          <a:xfrm>
            <a:off x="3021228" y="6063426"/>
            <a:ext cx="5504935" cy="369332"/>
          </a:xfrm>
          <a:prstGeom prst="rect">
            <a:avLst/>
          </a:prstGeom>
          <a:noFill/>
        </p:spPr>
        <p:txBody>
          <a:bodyPr wrap="square" rtlCol="0">
            <a:spAutoFit/>
          </a:bodyPr>
          <a:lstStyle/>
          <a:p>
            <a:pPr algn="ctr"/>
            <a:r>
              <a:rPr lang="en-US" dirty="0" smtClean="0"/>
              <a:t>Switching energies should be lower than </a:t>
            </a:r>
            <a:r>
              <a:rPr lang="en-US" dirty="0" smtClean="0">
                <a:solidFill>
                  <a:srgbClr val="FF0000"/>
                </a:solidFill>
              </a:rPr>
              <a:t>1060 W</a:t>
            </a:r>
            <a:r>
              <a:rPr lang="en-US" dirty="0" smtClean="0"/>
              <a:t>.</a:t>
            </a:r>
            <a:endParaRPr lang="sv-SE" dirty="0"/>
          </a:p>
        </p:txBody>
      </p:sp>
    </p:spTree>
    <p:extLst>
      <p:ext uri="{BB962C8B-B14F-4D97-AF65-F5344CB8AC3E}">
        <p14:creationId xmlns:p14="http://schemas.microsoft.com/office/powerpoint/2010/main" val="19535298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2490" y="287931"/>
            <a:ext cx="10990263" cy="568412"/>
          </a:xfrm>
        </p:spPr>
        <p:txBody>
          <a:bodyPr/>
          <a:lstStyle/>
          <a:p>
            <a:r>
              <a:rPr lang="en-US" dirty="0"/>
              <a:t>Datasheet-driven Loss </a:t>
            </a:r>
            <a:r>
              <a:rPr lang="en-US" dirty="0" smtClean="0"/>
              <a:t>Calculation (Switching) </a:t>
            </a:r>
            <a:endParaRPr lang="sv-SE" dirty="0"/>
          </a:p>
        </p:txBody>
      </p:sp>
      <p:pic>
        <p:nvPicPr>
          <p:cNvPr id="7" name="Picture 6"/>
          <p:cNvPicPr>
            <a:picLocks noChangeAspect="1"/>
          </p:cNvPicPr>
          <p:nvPr/>
        </p:nvPicPr>
        <p:blipFill>
          <a:blip r:embed="rId2"/>
          <a:stretch>
            <a:fillRect/>
          </a:stretch>
        </p:blipFill>
        <p:spPr>
          <a:xfrm>
            <a:off x="234073" y="1616630"/>
            <a:ext cx="3181937" cy="2386453"/>
          </a:xfrm>
          <a:prstGeom prst="rect">
            <a:avLst/>
          </a:prstGeom>
        </p:spPr>
      </p:pic>
      <p:pic>
        <p:nvPicPr>
          <p:cNvPr id="6" name="Picture 5"/>
          <p:cNvPicPr>
            <a:picLocks noChangeAspect="1"/>
          </p:cNvPicPr>
          <p:nvPr/>
        </p:nvPicPr>
        <p:blipFill>
          <a:blip r:embed="rId3"/>
          <a:stretch>
            <a:fillRect/>
          </a:stretch>
        </p:blipFill>
        <p:spPr>
          <a:xfrm>
            <a:off x="3416010" y="1250001"/>
            <a:ext cx="4261011" cy="3195759"/>
          </a:xfrm>
          <a:prstGeom prst="rect">
            <a:avLst/>
          </a:prstGeom>
        </p:spPr>
      </p:pic>
      <p:pic>
        <p:nvPicPr>
          <p:cNvPr id="8" name="Picture 7"/>
          <p:cNvPicPr>
            <a:picLocks noChangeAspect="1"/>
          </p:cNvPicPr>
          <p:nvPr/>
        </p:nvPicPr>
        <p:blipFill>
          <a:blip r:embed="rId4"/>
          <a:stretch>
            <a:fillRect/>
          </a:stretch>
        </p:blipFill>
        <p:spPr>
          <a:xfrm>
            <a:off x="7771911" y="1313543"/>
            <a:ext cx="4176289" cy="3132217"/>
          </a:xfrm>
          <a:prstGeom prst="rect">
            <a:avLst/>
          </a:prstGeom>
        </p:spPr>
      </p:pic>
      <mc:AlternateContent xmlns:mc="http://schemas.openxmlformats.org/markup-compatibility/2006" xmlns:a14="http://schemas.microsoft.com/office/drawing/2010/main">
        <mc:Choice Requires="a14">
          <p:graphicFrame>
            <p:nvGraphicFramePr>
              <p:cNvPr id="10" name="Table 9"/>
              <p:cNvGraphicFramePr>
                <a:graphicFrameLocks noGrp="1"/>
              </p:cNvGraphicFramePr>
              <p:nvPr>
                <p:extLst>
                  <p:ext uri="{D42A27DB-BD31-4B8C-83A1-F6EECF244321}">
                    <p14:modId xmlns:p14="http://schemas.microsoft.com/office/powerpoint/2010/main" val="1001233670"/>
                  </p:ext>
                </p:extLst>
              </p:nvPr>
            </p:nvGraphicFramePr>
            <p:xfrm>
              <a:off x="3416010" y="4869836"/>
              <a:ext cx="5345916" cy="741680"/>
            </p:xfrm>
            <a:graphic>
              <a:graphicData uri="http://schemas.openxmlformats.org/drawingml/2006/table">
                <a:tbl>
                  <a:tblPr firstRow="1" bandRow="1">
                    <a:tableStyleId>{5C22544A-7EE6-4342-B048-85BDC9FD1C3A}</a:tableStyleId>
                  </a:tblPr>
                  <a:tblGrid>
                    <a:gridCol w="1336479">
                      <a:extLst>
                        <a:ext uri="{9D8B030D-6E8A-4147-A177-3AD203B41FA5}">
                          <a16:colId xmlns:a16="http://schemas.microsoft.com/office/drawing/2014/main" val="701188241"/>
                        </a:ext>
                      </a:extLst>
                    </a:gridCol>
                    <a:gridCol w="1336479">
                      <a:extLst>
                        <a:ext uri="{9D8B030D-6E8A-4147-A177-3AD203B41FA5}">
                          <a16:colId xmlns:a16="http://schemas.microsoft.com/office/drawing/2014/main" val="2487507754"/>
                        </a:ext>
                      </a:extLst>
                    </a:gridCol>
                    <a:gridCol w="1336479">
                      <a:extLst>
                        <a:ext uri="{9D8B030D-6E8A-4147-A177-3AD203B41FA5}">
                          <a16:colId xmlns:a16="http://schemas.microsoft.com/office/drawing/2014/main" val="267292927"/>
                        </a:ext>
                      </a:extLst>
                    </a:gridCol>
                    <a:gridCol w="1336479">
                      <a:extLst>
                        <a:ext uri="{9D8B030D-6E8A-4147-A177-3AD203B41FA5}">
                          <a16:colId xmlns:a16="http://schemas.microsoft.com/office/drawing/2014/main" val="482194914"/>
                        </a:ext>
                      </a:extLst>
                    </a:gridCol>
                  </a:tblGrid>
                  <a:tr h="370840">
                    <a:tc>
                      <a:txBody>
                        <a:bodyPr/>
                        <a:lstStyle/>
                        <a:p>
                          <a:pPr algn="ctr"/>
                          <a14:m>
                            <m:oMath xmlns:m="http://schemas.openxmlformats.org/officeDocument/2006/math">
                              <m:sSub>
                                <m:sSubPr>
                                  <m:ctrlPr>
                                    <a:rPr lang="sv-SE" b="0" i="1" dirty="0" smtClean="0">
                                      <a:latin typeface="Cambria Math" panose="02040503050406030204" pitchFamily="18" charset="0"/>
                                    </a:rPr>
                                  </m:ctrlPr>
                                </m:sSubPr>
                                <m:e>
                                  <m:r>
                                    <a:rPr lang="sv-SE" b="1" i="1" dirty="0" smtClean="0">
                                      <a:latin typeface="Cambria Math" panose="02040503050406030204" pitchFamily="18" charset="0"/>
                                    </a:rPr>
                                    <m:t>𝒇</m:t>
                                  </m:r>
                                </m:e>
                                <m:sub>
                                  <m:r>
                                    <a:rPr lang="sv-SE" b="1" i="1" dirty="0" smtClean="0">
                                      <a:latin typeface="Cambria Math" panose="02040503050406030204" pitchFamily="18" charset="0"/>
                                    </a:rPr>
                                    <m:t>𝒔𝒘</m:t>
                                  </m:r>
                                </m:sub>
                              </m:sSub>
                            </m:oMath>
                          </a14:m>
                          <a:r>
                            <a:rPr lang="sv-SE" dirty="0" smtClean="0"/>
                            <a:t> ( </a:t>
                          </a:r>
                          <a14:m>
                            <m:oMath xmlns:m="http://schemas.openxmlformats.org/officeDocument/2006/math">
                              <m:sSup>
                                <m:sSupPr>
                                  <m:ctrlPr>
                                    <a:rPr lang="sv-SE" b="0" i="1" smtClean="0">
                                      <a:latin typeface="Cambria Math" panose="02040503050406030204" pitchFamily="18" charset="0"/>
                                    </a:rPr>
                                  </m:ctrlPr>
                                </m:sSupPr>
                                <m:e>
                                  <m:r>
                                    <a:rPr lang="sv-SE" b="0" i="1" smtClean="0">
                                      <a:latin typeface="Cambria Math" panose="02040503050406030204" pitchFamily="18" charset="0"/>
                                    </a:rPr>
                                    <m:t>𝐶</m:t>
                                  </m:r>
                                </m:e>
                                <m:sup>
                                  <m:r>
                                    <a:rPr lang="sv-SE" b="0" i="1" smtClean="0">
                                      <a:latin typeface="Cambria Math" panose="02040503050406030204" pitchFamily="18" charset="0"/>
                                    </a:rPr>
                                    <m:t>𝑜</m:t>
                                  </m:r>
                                </m:sup>
                              </m:sSup>
                            </m:oMath>
                          </a14:m>
                          <a:r>
                            <a:rPr lang="sv-SE" dirty="0" smtClean="0"/>
                            <a:t>)</a:t>
                          </a:r>
                          <a:endParaRPr lang="sv-SE" dirty="0"/>
                        </a:p>
                      </a:txBody>
                      <a:tcPr/>
                    </a:tc>
                    <a:tc>
                      <a:txBody>
                        <a:bodyPr/>
                        <a:lstStyle/>
                        <a:p>
                          <a:pPr/>
                          <a14:m>
                            <m:oMathPara xmlns:m="http://schemas.openxmlformats.org/officeDocument/2006/math">
                              <m:oMathParaPr>
                                <m:jc m:val="centerGroup"/>
                              </m:oMathParaPr>
                              <m:oMath xmlns:m="http://schemas.openxmlformats.org/officeDocument/2006/math">
                                <m:r>
                                  <a:rPr lang="sv-SE" b="1" i="1" dirty="0" smtClean="0">
                                    <a:latin typeface="Cambria Math" panose="02040503050406030204" pitchFamily="18" charset="0"/>
                                  </a:rPr>
                                  <m:t>𝟏𝟎</m:t>
                                </m:r>
                                <m:r>
                                  <a:rPr lang="sv-SE" b="1" i="1" dirty="0" smtClean="0">
                                    <a:latin typeface="Cambria Math" panose="02040503050406030204" pitchFamily="18" charset="0"/>
                                  </a:rPr>
                                  <m:t>𝒌𝑯𝒛</m:t>
                                </m:r>
                              </m:oMath>
                            </m:oMathPara>
                          </a14:m>
                          <a:endParaRPr lang="sv-SE"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sv-SE" b="1" i="1" dirty="0" smtClean="0">
                                    <a:latin typeface="Cambria Math" panose="02040503050406030204" pitchFamily="18" charset="0"/>
                                  </a:rPr>
                                  <m:t>𝟏𝟐</m:t>
                                </m:r>
                                <m:r>
                                  <a:rPr lang="sv-SE" b="1" i="1" dirty="0" smtClean="0">
                                    <a:latin typeface="Cambria Math" panose="02040503050406030204" pitchFamily="18" charset="0"/>
                                  </a:rPr>
                                  <m:t>.</m:t>
                                </m:r>
                                <m:r>
                                  <a:rPr lang="sv-SE" b="1" i="1" dirty="0" smtClean="0">
                                    <a:latin typeface="Cambria Math" panose="02040503050406030204" pitchFamily="18" charset="0"/>
                                  </a:rPr>
                                  <m:t>𝟓</m:t>
                                </m:r>
                                <m:r>
                                  <a:rPr lang="sv-SE" b="1" i="1" dirty="0" smtClean="0">
                                    <a:latin typeface="Cambria Math" panose="02040503050406030204" pitchFamily="18" charset="0"/>
                                  </a:rPr>
                                  <m:t>𝒌𝑯𝒛</m:t>
                                </m:r>
                              </m:oMath>
                            </m:oMathPara>
                          </a14:m>
                          <a:endParaRPr lang="sv-SE"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sv-SE" b="1" i="1" dirty="0" smtClean="0">
                                    <a:latin typeface="Cambria Math" panose="02040503050406030204" pitchFamily="18" charset="0"/>
                                  </a:rPr>
                                  <m:t>𝟏𝟓</m:t>
                                </m:r>
                                <m:r>
                                  <a:rPr lang="sv-SE" b="1" i="1" dirty="0" smtClean="0">
                                    <a:latin typeface="Cambria Math" panose="02040503050406030204" pitchFamily="18" charset="0"/>
                                  </a:rPr>
                                  <m:t>𝒌𝑯𝒛</m:t>
                                </m:r>
                              </m:oMath>
                            </m:oMathPara>
                          </a14:m>
                          <a:endParaRPr lang="sv-SE" dirty="0"/>
                        </a:p>
                      </a:txBody>
                      <a:tcPr/>
                    </a:tc>
                    <a:extLst>
                      <a:ext uri="{0D108BD9-81ED-4DB2-BD59-A6C34878D82A}">
                        <a16:rowId xmlns:a16="http://schemas.microsoft.com/office/drawing/2014/main" val="379032225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dirty="0" smtClean="0"/>
                            <a:t>Loss</a:t>
                          </a:r>
                          <a:r>
                            <a:rPr lang="sv-SE" baseline="0" dirty="0" smtClean="0"/>
                            <a:t> (W)</a:t>
                          </a:r>
                          <a:endParaRPr lang="sv-SE" dirty="0" smtClean="0"/>
                        </a:p>
                      </a:txBody>
                      <a:tcPr/>
                    </a:tc>
                    <a:tc>
                      <a:txBody>
                        <a:bodyPr/>
                        <a:lstStyle/>
                        <a:p>
                          <a:pPr algn="ctr"/>
                          <a:r>
                            <a:rPr lang="sv-SE" dirty="0" smtClean="0"/>
                            <a:t>962</a:t>
                          </a:r>
                          <a:endParaRPr lang="sv-SE" dirty="0"/>
                        </a:p>
                      </a:txBody>
                      <a:tcPr/>
                    </a:tc>
                    <a:tc>
                      <a:txBody>
                        <a:bodyPr/>
                        <a:lstStyle/>
                        <a:p>
                          <a:pPr algn="ctr"/>
                          <a:r>
                            <a:rPr lang="sv-SE" dirty="0" smtClean="0"/>
                            <a:t>1200</a:t>
                          </a:r>
                          <a:endParaRPr lang="sv-SE" dirty="0"/>
                        </a:p>
                      </a:txBody>
                      <a:tcPr/>
                    </a:tc>
                    <a:tc>
                      <a:txBody>
                        <a:bodyPr/>
                        <a:lstStyle/>
                        <a:p>
                          <a:pPr algn="ctr"/>
                          <a:r>
                            <a:rPr lang="sv-SE" dirty="0" smtClean="0"/>
                            <a:t>1448</a:t>
                          </a:r>
                          <a:endParaRPr lang="sv-SE" dirty="0"/>
                        </a:p>
                      </a:txBody>
                      <a:tcPr/>
                    </a:tc>
                    <a:extLst>
                      <a:ext uri="{0D108BD9-81ED-4DB2-BD59-A6C34878D82A}">
                        <a16:rowId xmlns:a16="http://schemas.microsoft.com/office/drawing/2014/main" val="1224150159"/>
                      </a:ext>
                    </a:extLst>
                  </a:tr>
                </a:tbl>
              </a:graphicData>
            </a:graphic>
          </p:graphicFrame>
        </mc:Choice>
        <mc:Fallback xmlns="">
          <p:graphicFrame>
            <p:nvGraphicFramePr>
              <p:cNvPr id="10" name="Table 9"/>
              <p:cNvGraphicFramePr>
                <a:graphicFrameLocks noGrp="1"/>
              </p:cNvGraphicFramePr>
              <p:nvPr>
                <p:extLst>
                  <p:ext uri="{D42A27DB-BD31-4B8C-83A1-F6EECF244321}">
                    <p14:modId xmlns:p14="http://schemas.microsoft.com/office/powerpoint/2010/main" val="1001233670"/>
                  </p:ext>
                </p:extLst>
              </p:nvPr>
            </p:nvGraphicFramePr>
            <p:xfrm>
              <a:off x="3416010" y="4869836"/>
              <a:ext cx="5345916" cy="741680"/>
            </p:xfrm>
            <a:graphic>
              <a:graphicData uri="http://schemas.openxmlformats.org/drawingml/2006/table">
                <a:tbl>
                  <a:tblPr firstRow="1" bandRow="1">
                    <a:tableStyleId>{5C22544A-7EE6-4342-B048-85BDC9FD1C3A}</a:tableStyleId>
                  </a:tblPr>
                  <a:tblGrid>
                    <a:gridCol w="1336479">
                      <a:extLst>
                        <a:ext uri="{9D8B030D-6E8A-4147-A177-3AD203B41FA5}">
                          <a16:colId xmlns:a16="http://schemas.microsoft.com/office/drawing/2014/main" val="701188241"/>
                        </a:ext>
                      </a:extLst>
                    </a:gridCol>
                    <a:gridCol w="1336479">
                      <a:extLst>
                        <a:ext uri="{9D8B030D-6E8A-4147-A177-3AD203B41FA5}">
                          <a16:colId xmlns:a16="http://schemas.microsoft.com/office/drawing/2014/main" val="2487507754"/>
                        </a:ext>
                      </a:extLst>
                    </a:gridCol>
                    <a:gridCol w="1336479">
                      <a:extLst>
                        <a:ext uri="{9D8B030D-6E8A-4147-A177-3AD203B41FA5}">
                          <a16:colId xmlns:a16="http://schemas.microsoft.com/office/drawing/2014/main" val="267292927"/>
                        </a:ext>
                      </a:extLst>
                    </a:gridCol>
                    <a:gridCol w="1336479">
                      <a:extLst>
                        <a:ext uri="{9D8B030D-6E8A-4147-A177-3AD203B41FA5}">
                          <a16:colId xmlns:a16="http://schemas.microsoft.com/office/drawing/2014/main" val="482194914"/>
                        </a:ext>
                      </a:extLst>
                    </a:gridCol>
                  </a:tblGrid>
                  <a:tr h="370840">
                    <a:tc>
                      <a:txBody>
                        <a:bodyPr/>
                        <a:lstStyle/>
                        <a:p>
                          <a:endParaRPr lang="sv-SE"/>
                        </a:p>
                      </a:txBody>
                      <a:tcPr>
                        <a:blipFill>
                          <a:blip r:embed="rId5"/>
                          <a:stretch>
                            <a:fillRect l="-455" t="-8065" r="-300909" b="-122581"/>
                          </a:stretch>
                        </a:blipFill>
                      </a:tcPr>
                    </a:tc>
                    <a:tc>
                      <a:txBody>
                        <a:bodyPr/>
                        <a:lstStyle/>
                        <a:p>
                          <a:endParaRPr lang="sv-SE"/>
                        </a:p>
                      </a:txBody>
                      <a:tcPr>
                        <a:blipFill>
                          <a:blip r:embed="rId5"/>
                          <a:stretch>
                            <a:fillRect l="-100913" t="-8065" r="-202283" b="-122581"/>
                          </a:stretch>
                        </a:blipFill>
                      </a:tcPr>
                    </a:tc>
                    <a:tc>
                      <a:txBody>
                        <a:bodyPr/>
                        <a:lstStyle/>
                        <a:p>
                          <a:endParaRPr lang="sv-SE"/>
                        </a:p>
                      </a:txBody>
                      <a:tcPr>
                        <a:blipFill>
                          <a:blip r:embed="rId5"/>
                          <a:stretch>
                            <a:fillRect l="-200000" t="-8065" r="-101364" b="-122581"/>
                          </a:stretch>
                        </a:blipFill>
                      </a:tcPr>
                    </a:tc>
                    <a:tc>
                      <a:txBody>
                        <a:bodyPr/>
                        <a:lstStyle/>
                        <a:p>
                          <a:endParaRPr lang="sv-SE"/>
                        </a:p>
                      </a:txBody>
                      <a:tcPr>
                        <a:blipFill>
                          <a:blip r:embed="rId5"/>
                          <a:stretch>
                            <a:fillRect l="-301370" t="-8065" r="-1826" b="-122581"/>
                          </a:stretch>
                        </a:blipFill>
                      </a:tcPr>
                    </a:tc>
                    <a:extLst>
                      <a:ext uri="{0D108BD9-81ED-4DB2-BD59-A6C34878D82A}">
                        <a16:rowId xmlns:a16="http://schemas.microsoft.com/office/drawing/2014/main" val="379032225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dirty="0" smtClean="0"/>
                            <a:t>Loss</a:t>
                          </a:r>
                          <a:r>
                            <a:rPr lang="sv-SE" baseline="0" dirty="0" smtClean="0"/>
                            <a:t> (W)</a:t>
                          </a:r>
                          <a:endParaRPr lang="sv-SE" dirty="0" smtClean="0"/>
                        </a:p>
                      </a:txBody>
                      <a:tcPr/>
                    </a:tc>
                    <a:tc>
                      <a:txBody>
                        <a:bodyPr/>
                        <a:lstStyle/>
                        <a:p>
                          <a:pPr algn="ctr"/>
                          <a:r>
                            <a:rPr lang="sv-SE" dirty="0" smtClean="0"/>
                            <a:t>962</a:t>
                          </a:r>
                          <a:endParaRPr lang="sv-SE" dirty="0"/>
                        </a:p>
                      </a:txBody>
                      <a:tcPr/>
                    </a:tc>
                    <a:tc>
                      <a:txBody>
                        <a:bodyPr/>
                        <a:lstStyle/>
                        <a:p>
                          <a:pPr algn="ctr"/>
                          <a:r>
                            <a:rPr lang="sv-SE" dirty="0" smtClean="0"/>
                            <a:t>1200</a:t>
                          </a:r>
                          <a:endParaRPr lang="sv-SE" dirty="0"/>
                        </a:p>
                      </a:txBody>
                      <a:tcPr/>
                    </a:tc>
                    <a:tc>
                      <a:txBody>
                        <a:bodyPr/>
                        <a:lstStyle/>
                        <a:p>
                          <a:pPr algn="ctr"/>
                          <a:r>
                            <a:rPr lang="sv-SE" dirty="0" smtClean="0"/>
                            <a:t>1448</a:t>
                          </a:r>
                          <a:endParaRPr lang="sv-SE" dirty="0"/>
                        </a:p>
                      </a:txBody>
                      <a:tcPr/>
                    </a:tc>
                    <a:extLst>
                      <a:ext uri="{0D108BD9-81ED-4DB2-BD59-A6C34878D82A}">
                        <a16:rowId xmlns:a16="http://schemas.microsoft.com/office/drawing/2014/main" val="1224150159"/>
                      </a:ext>
                    </a:extLst>
                  </a:tr>
                </a:tbl>
              </a:graphicData>
            </a:graphic>
          </p:graphicFrame>
        </mc:Fallback>
      </mc:AlternateContent>
      <mc:AlternateContent xmlns:mc="http://schemas.openxmlformats.org/markup-compatibility/2006" xmlns:a14="http://schemas.microsoft.com/office/drawing/2010/main">
        <mc:Choice Requires="a14">
          <p:sp>
            <p:nvSpPr>
              <p:cNvPr id="3" name="Rectangle 2"/>
              <p:cNvSpPr/>
              <p:nvPr/>
            </p:nvSpPr>
            <p:spPr>
              <a:xfrm>
                <a:off x="5184055" y="2663214"/>
                <a:ext cx="95891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v-SE" b="1" i="1" dirty="0">
                          <a:latin typeface="Cambria Math" panose="02040503050406030204" pitchFamily="18" charset="0"/>
                        </a:rPr>
                        <m:t>𝟏𝟎</m:t>
                      </m:r>
                      <m:r>
                        <a:rPr lang="sv-SE" b="1" i="1" dirty="0">
                          <a:latin typeface="Cambria Math" panose="02040503050406030204" pitchFamily="18" charset="0"/>
                        </a:rPr>
                        <m:t>𝒌𝑯𝒛</m:t>
                      </m:r>
                    </m:oMath>
                  </m:oMathPara>
                </a14:m>
                <a:endParaRPr lang="sv-SE" dirty="0"/>
              </a:p>
            </p:txBody>
          </p:sp>
        </mc:Choice>
        <mc:Fallback xmlns="">
          <p:sp>
            <p:nvSpPr>
              <p:cNvPr id="3" name="Rectangle 2"/>
              <p:cNvSpPr>
                <a:spLocks noRot="1" noChangeAspect="1" noMove="1" noResize="1" noEditPoints="1" noAdjustHandles="1" noChangeArrowheads="1" noChangeShapeType="1" noTextEdit="1"/>
              </p:cNvSpPr>
              <p:nvPr/>
            </p:nvSpPr>
            <p:spPr>
              <a:xfrm>
                <a:off x="5184055" y="2663214"/>
                <a:ext cx="958917" cy="369332"/>
              </a:xfrm>
              <a:prstGeom prst="rect">
                <a:avLst/>
              </a:prstGeom>
              <a:blipFill>
                <a:blip r:embed="rId6"/>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8965607" y="2663214"/>
                <a:ext cx="95891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v-SE" b="1" i="1" dirty="0">
                          <a:latin typeface="Cambria Math" panose="02040503050406030204" pitchFamily="18" charset="0"/>
                        </a:rPr>
                        <m:t>𝟏𝟎</m:t>
                      </m:r>
                      <m:r>
                        <a:rPr lang="sv-SE" b="1" i="1" dirty="0">
                          <a:latin typeface="Cambria Math" panose="02040503050406030204" pitchFamily="18" charset="0"/>
                        </a:rPr>
                        <m:t>𝒌𝑯𝒛</m:t>
                      </m:r>
                    </m:oMath>
                  </m:oMathPara>
                </a14:m>
                <a:endParaRPr lang="sv-SE" dirty="0"/>
              </a:p>
            </p:txBody>
          </p:sp>
        </mc:Choice>
        <mc:Fallback xmlns="">
          <p:sp>
            <p:nvSpPr>
              <p:cNvPr id="4" name="Rectangle 3"/>
              <p:cNvSpPr>
                <a:spLocks noRot="1" noChangeAspect="1" noMove="1" noResize="1" noEditPoints="1" noAdjustHandles="1" noChangeArrowheads="1" noChangeShapeType="1" noTextEdit="1"/>
              </p:cNvSpPr>
              <p:nvPr/>
            </p:nvSpPr>
            <p:spPr>
              <a:xfrm>
                <a:off x="8965607" y="2663214"/>
                <a:ext cx="958917" cy="369332"/>
              </a:xfrm>
              <a:prstGeom prst="rect">
                <a:avLst/>
              </a:prstGeom>
              <a:blipFill>
                <a:blip r:embed="rId7"/>
                <a:stretch>
                  <a:fillRect/>
                </a:stretch>
              </a:blipFill>
            </p:spPr>
            <p:txBody>
              <a:bodyPr/>
              <a:lstStyle/>
              <a:p>
                <a:r>
                  <a:rPr lang="sv-SE">
                    <a:noFill/>
                  </a:rPr>
                  <a:t> </a:t>
                </a:r>
              </a:p>
            </p:txBody>
          </p:sp>
        </mc:Fallback>
      </mc:AlternateContent>
    </p:spTree>
    <p:extLst>
      <p:ext uri="{BB962C8B-B14F-4D97-AF65-F5344CB8AC3E}">
        <p14:creationId xmlns:p14="http://schemas.microsoft.com/office/powerpoint/2010/main" val="127459880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2490" y="287931"/>
            <a:ext cx="10990263" cy="568412"/>
          </a:xfrm>
        </p:spPr>
        <p:txBody>
          <a:bodyPr/>
          <a:lstStyle/>
          <a:p>
            <a:r>
              <a:rPr lang="en-US" dirty="0"/>
              <a:t>Datasheet-driven Loss </a:t>
            </a:r>
            <a:r>
              <a:rPr lang="en-US" dirty="0" smtClean="0"/>
              <a:t>Calculation (Switching) </a:t>
            </a:r>
            <a:endParaRPr lang="sv-SE" dirty="0"/>
          </a:p>
        </p:txBody>
      </p:sp>
      <mc:AlternateContent xmlns:mc="http://schemas.openxmlformats.org/markup-compatibility/2006" xmlns:a14="http://schemas.microsoft.com/office/drawing/2010/main">
        <mc:Choice Requires="a14">
          <p:graphicFrame>
            <p:nvGraphicFramePr>
              <p:cNvPr id="10" name="Table 9"/>
              <p:cNvGraphicFramePr>
                <a:graphicFrameLocks noGrp="1"/>
              </p:cNvGraphicFramePr>
              <p:nvPr>
                <p:extLst>
                  <p:ext uri="{D42A27DB-BD31-4B8C-83A1-F6EECF244321}">
                    <p14:modId xmlns:p14="http://schemas.microsoft.com/office/powerpoint/2010/main" val="3891608963"/>
                  </p:ext>
                </p:extLst>
              </p:nvPr>
            </p:nvGraphicFramePr>
            <p:xfrm>
              <a:off x="2001327" y="4932544"/>
              <a:ext cx="8376249" cy="1010920"/>
            </p:xfrm>
            <a:graphic>
              <a:graphicData uri="http://schemas.openxmlformats.org/drawingml/2006/table">
                <a:tbl>
                  <a:tblPr firstRow="1" bandRow="1">
                    <a:tableStyleId>{5C22544A-7EE6-4342-B048-85BDC9FD1C3A}</a:tableStyleId>
                  </a:tblPr>
                  <a:tblGrid>
                    <a:gridCol w="1196607">
                      <a:extLst>
                        <a:ext uri="{9D8B030D-6E8A-4147-A177-3AD203B41FA5}">
                          <a16:colId xmlns:a16="http://schemas.microsoft.com/office/drawing/2014/main" val="701188241"/>
                        </a:ext>
                      </a:extLst>
                    </a:gridCol>
                    <a:gridCol w="1196607">
                      <a:extLst>
                        <a:ext uri="{9D8B030D-6E8A-4147-A177-3AD203B41FA5}">
                          <a16:colId xmlns:a16="http://schemas.microsoft.com/office/drawing/2014/main" val="2487507754"/>
                        </a:ext>
                      </a:extLst>
                    </a:gridCol>
                    <a:gridCol w="1196607">
                      <a:extLst>
                        <a:ext uri="{9D8B030D-6E8A-4147-A177-3AD203B41FA5}">
                          <a16:colId xmlns:a16="http://schemas.microsoft.com/office/drawing/2014/main" val="267292927"/>
                        </a:ext>
                      </a:extLst>
                    </a:gridCol>
                    <a:gridCol w="1196607">
                      <a:extLst>
                        <a:ext uri="{9D8B030D-6E8A-4147-A177-3AD203B41FA5}">
                          <a16:colId xmlns:a16="http://schemas.microsoft.com/office/drawing/2014/main" val="482194914"/>
                        </a:ext>
                      </a:extLst>
                    </a:gridCol>
                    <a:gridCol w="1196607">
                      <a:extLst>
                        <a:ext uri="{9D8B030D-6E8A-4147-A177-3AD203B41FA5}">
                          <a16:colId xmlns:a16="http://schemas.microsoft.com/office/drawing/2014/main" val="1173395562"/>
                        </a:ext>
                      </a:extLst>
                    </a:gridCol>
                    <a:gridCol w="1196607">
                      <a:extLst>
                        <a:ext uri="{9D8B030D-6E8A-4147-A177-3AD203B41FA5}">
                          <a16:colId xmlns:a16="http://schemas.microsoft.com/office/drawing/2014/main" val="2166802620"/>
                        </a:ext>
                      </a:extLst>
                    </a:gridCol>
                    <a:gridCol w="1196607">
                      <a:extLst>
                        <a:ext uri="{9D8B030D-6E8A-4147-A177-3AD203B41FA5}">
                          <a16:colId xmlns:a16="http://schemas.microsoft.com/office/drawing/2014/main" val="2974429694"/>
                        </a:ext>
                      </a:extLst>
                    </a:gridCol>
                  </a:tblGrid>
                  <a:tr h="370840">
                    <a:tc>
                      <a:txBody>
                        <a:bodyPr/>
                        <a:lstStyle/>
                        <a:p>
                          <a:pPr algn="ctr"/>
                          <a14:m>
                            <m:oMath xmlns:m="http://schemas.openxmlformats.org/officeDocument/2006/math">
                              <m:sSub>
                                <m:sSubPr>
                                  <m:ctrlPr>
                                    <a:rPr lang="sv-SE" b="0" i="1" dirty="0" smtClean="0">
                                      <a:latin typeface="Cambria Math" panose="02040503050406030204" pitchFamily="18" charset="0"/>
                                    </a:rPr>
                                  </m:ctrlPr>
                                </m:sSubPr>
                                <m:e>
                                  <m:r>
                                    <a:rPr lang="sv-SE" b="1" i="1" dirty="0" smtClean="0">
                                      <a:latin typeface="Cambria Math" panose="02040503050406030204" pitchFamily="18" charset="0"/>
                                    </a:rPr>
                                    <m:t>𝒇</m:t>
                                  </m:r>
                                </m:e>
                                <m:sub>
                                  <m:r>
                                    <a:rPr lang="sv-SE" b="1" i="1" dirty="0" smtClean="0">
                                      <a:latin typeface="Cambria Math" panose="02040503050406030204" pitchFamily="18" charset="0"/>
                                    </a:rPr>
                                    <m:t>𝒔𝒘</m:t>
                                  </m:r>
                                </m:sub>
                              </m:sSub>
                            </m:oMath>
                          </a14:m>
                          <a:r>
                            <a:rPr lang="sv-SE" dirty="0" smtClean="0"/>
                            <a:t> ( </a:t>
                          </a:r>
                          <a14:m>
                            <m:oMath xmlns:m="http://schemas.openxmlformats.org/officeDocument/2006/math">
                              <m:sSup>
                                <m:sSupPr>
                                  <m:ctrlPr>
                                    <a:rPr lang="sv-SE" b="0" i="1" smtClean="0">
                                      <a:latin typeface="Cambria Math" panose="02040503050406030204" pitchFamily="18" charset="0"/>
                                    </a:rPr>
                                  </m:ctrlPr>
                                </m:sSupPr>
                                <m:e>
                                  <m:r>
                                    <a:rPr lang="sv-SE" b="0" i="1" smtClean="0">
                                      <a:latin typeface="Cambria Math" panose="02040503050406030204" pitchFamily="18" charset="0"/>
                                    </a:rPr>
                                    <m:t>𝐶</m:t>
                                  </m:r>
                                </m:e>
                                <m:sup>
                                  <m:r>
                                    <a:rPr lang="sv-SE" b="0" i="1" smtClean="0">
                                      <a:latin typeface="Cambria Math" panose="02040503050406030204" pitchFamily="18" charset="0"/>
                                    </a:rPr>
                                    <m:t>𝑜</m:t>
                                  </m:r>
                                </m:sup>
                              </m:sSup>
                            </m:oMath>
                          </a14:m>
                          <a:r>
                            <a:rPr lang="sv-SE" dirty="0" smtClean="0"/>
                            <a:t>)</a:t>
                          </a:r>
                          <a:endParaRPr lang="sv-SE" dirty="0"/>
                        </a:p>
                      </a:txBody>
                      <a:tcPr/>
                    </a:tc>
                    <a:tc>
                      <a:txBody>
                        <a:bodyPr/>
                        <a:lstStyle/>
                        <a:p>
                          <a:pPr/>
                          <a14:m>
                            <m:oMathPara xmlns:m="http://schemas.openxmlformats.org/officeDocument/2006/math">
                              <m:oMathParaPr>
                                <m:jc m:val="centerGroup"/>
                              </m:oMathParaPr>
                              <m:oMath xmlns:m="http://schemas.openxmlformats.org/officeDocument/2006/math">
                                <m:r>
                                  <a:rPr lang="sv-SE" b="1" i="1" dirty="0" smtClean="0">
                                    <a:latin typeface="Cambria Math" panose="02040503050406030204" pitchFamily="18" charset="0"/>
                                  </a:rPr>
                                  <m:t>𝟏𝟎</m:t>
                                </m:r>
                                <m:r>
                                  <a:rPr lang="sv-SE" b="1" i="1" dirty="0" smtClean="0">
                                    <a:latin typeface="Cambria Math" panose="02040503050406030204" pitchFamily="18" charset="0"/>
                                  </a:rPr>
                                  <m:t> </m:t>
                                </m:r>
                                <m:r>
                                  <a:rPr lang="sv-SE" b="1" i="1" dirty="0" smtClean="0">
                                    <a:latin typeface="Cambria Math" panose="02040503050406030204" pitchFamily="18" charset="0"/>
                                  </a:rPr>
                                  <m:t>𝒌𝑯𝒛</m:t>
                                </m:r>
                              </m:oMath>
                            </m:oMathPara>
                          </a14:m>
                          <a:endParaRPr lang="sv-SE"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sv-SE" b="1" i="1" dirty="0" smtClean="0">
                                    <a:latin typeface="Cambria Math" panose="02040503050406030204" pitchFamily="18" charset="0"/>
                                  </a:rPr>
                                  <m:t>𝟏𝟐</m:t>
                                </m:r>
                                <m:r>
                                  <a:rPr lang="sv-SE" b="1" i="1" dirty="0" smtClean="0">
                                    <a:latin typeface="Cambria Math" panose="02040503050406030204" pitchFamily="18" charset="0"/>
                                  </a:rPr>
                                  <m:t>.</m:t>
                                </m:r>
                                <m:r>
                                  <a:rPr lang="sv-SE" b="1" i="1" dirty="0" smtClean="0">
                                    <a:latin typeface="Cambria Math" panose="02040503050406030204" pitchFamily="18" charset="0"/>
                                  </a:rPr>
                                  <m:t>𝟓</m:t>
                                </m:r>
                                <m:r>
                                  <a:rPr lang="sv-SE" b="1" i="1" dirty="0" smtClean="0">
                                    <a:latin typeface="Cambria Math" panose="02040503050406030204" pitchFamily="18" charset="0"/>
                                  </a:rPr>
                                  <m:t> </m:t>
                                </m:r>
                                <m:r>
                                  <a:rPr lang="sv-SE" b="1" i="1" dirty="0" smtClean="0">
                                    <a:latin typeface="Cambria Math" panose="02040503050406030204" pitchFamily="18" charset="0"/>
                                  </a:rPr>
                                  <m:t>𝒌𝑯𝒛</m:t>
                                </m:r>
                              </m:oMath>
                            </m:oMathPara>
                          </a14:m>
                          <a:endParaRPr lang="sv-SE"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sv-SE" b="1" i="1" dirty="0" smtClean="0">
                                    <a:latin typeface="Cambria Math" panose="02040503050406030204" pitchFamily="18" charset="0"/>
                                  </a:rPr>
                                  <m:t>𝟏𝟓</m:t>
                                </m:r>
                                <m:r>
                                  <a:rPr lang="sv-SE" b="1" i="1" dirty="0" smtClean="0">
                                    <a:latin typeface="Cambria Math" panose="02040503050406030204" pitchFamily="18" charset="0"/>
                                  </a:rPr>
                                  <m:t> </m:t>
                                </m:r>
                                <m:r>
                                  <a:rPr lang="sv-SE" b="1" i="1" dirty="0" smtClean="0">
                                    <a:latin typeface="Cambria Math" panose="02040503050406030204" pitchFamily="18" charset="0"/>
                                  </a:rPr>
                                  <m:t>𝒌𝑯𝒛</m:t>
                                </m:r>
                              </m:oMath>
                            </m:oMathPara>
                          </a14:m>
                          <a:endParaRPr lang="sv-SE"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sv-SE" b="1" i="1" dirty="0" smtClean="0">
                                    <a:latin typeface="Cambria Math" panose="02040503050406030204" pitchFamily="18" charset="0"/>
                                  </a:rPr>
                                  <m:t>𝟏𝟕</m:t>
                                </m:r>
                                <m:r>
                                  <a:rPr lang="sv-SE" b="1" i="1" dirty="0" smtClean="0">
                                    <a:latin typeface="Cambria Math" panose="02040503050406030204" pitchFamily="18" charset="0"/>
                                  </a:rPr>
                                  <m:t>.</m:t>
                                </m:r>
                                <m:r>
                                  <a:rPr lang="sv-SE" b="1" i="1" dirty="0" smtClean="0">
                                    <a:latin typeface="Cambria Math" panose="02040503050406030204" pitchFamily="18" charset="0"/>
                                  </a:rPr>
                                  <m:t>𝟓</m:t>
                                </m:r>
                                <m:r>
                                  <a:rPr lang="sv-SE" b="1" i="1" dirty="0" smtClean="0">
                                    <a:latin typeface="Cambria Math" panose="02040503050406030204" pitchFamily="18" charset="0"/>
                                  </a:rPr>
                                  <m:t> </m:t>
                                </m:r>
                                <m:r>
                                  <a:rPr lang="sv-SE" b="1" i="1" dirty="0" smtClean="0">
                                    <a:latin typeface="Cambria Math" panose="02040503050406030204" pitchFamily="18" charset="0"/>
                                  </a:rPr>
                                  <m:t>𝒌𝑯𝒛</m:t>
                                </m:r>
                              </m:oMath>
                            </m:oMathPara>
                          </a14:m>
                          <a:endParaRPr lang="sv-SE" dirty="0"/>
                        </a:p>
                        <a:p>
                          <a:pPr marL="0" marR="0" lvl="0" indent="0" algn="ctr" defTabSz="914400" rtl="0" eaLnBrk="1" fontAlgn="auto" latinLnBrk="0" hangingPunct="1">
                            <a:lnSpc>
                              <a:spcPct val="100000"/>
                            </a:lnSpc>
                            <a:spcBef>
                              <a:spcPts val="0"/>
                            </a:spcBef>
                            <a:spcAft>
                              <a:spcPts val="0"/>
                            </a:spcAft>
                            <a:buClrTx/>
                            <a:buSzTx/>
                            <a:buFontTx/>
                            <a:buNone/>
                            <a:tabLst/>
                            <a:defRPr/>
                          </a:pPr>
                          <a:endParaRPr lang="sv-SE"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sv-SE" b="1" i="1" dirty="0" smtClean="0">
                                    <a:latin typeface="Cambria Math" panose="02040503050406030204" pitchFamily="18" charset="0"/>
                                  </a:rPr>
                                  <m:t>𝟐𝟎</m:t>
                                </m:r>
                                <m:r>
                                  <a:rPr lang="sv-SE" b="1" i="1" dirty="0" smtClean="0">
                                    <a:latin typeface="Cambria Math" panose="02040503050406030204" pitchFamily="18" charset="0"/>
                                  </a:rPr>
                                  <m:t> </m:t>
                                </m:r>
                                <m:r>
                                  <a:rPr lang="sv-SE" b="1" i="1" dirty="0" smtClean="0">
                                    <a:latin typeface="Cambria Math" panose="02040503050406030204" pitchFamily="18" charset="0"/>
                                  </a:rPr>
                                  <m:t>𝒌𝑯𝒛</m:t>
                                </m:r>
                              </m:oMath>
                            </m:oMathPara>
                          </a14:m>
                          <a:endParaRPr lang="sv-SE" dirty="0"/>
                        </a:p>
                        <a:p>
                          <a:pPr marL="0" marR="0" lvl="0" indent="0" algn="ctr" defTabSz="914400" rtl="0" eaLnBrk="1" fontAlgn="auto" latinLnBrk="0" hangingPunct="1">
                            <a:lnSpc>
                              <a:spcPct val="100000"/>
                            </a:lnSpc>
                            <a:spcBef>
                              <a:spcPts val="0"/>
                            </a:spcBef>
                            <a:spcAft>
                              <a:spcPts val="0"/>
                            </a:spcAft>
                            <a:buClrTx/>
                            <a:buSzTx/>
                            <a:buFontTx/>
                            <a:buNone/>
                            <a:tabLst/>
                            <a:defRPr/>
                          </a:pPr>
                          <a:endParaRPr lang="sv-SE"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sv-SE" b="1" i="1" dirty="0" smtClean="0">
                                    <a:latin typeface="Cambria Math" panose="02040503050406030204" pitchFamily="18" charset="0"/>
                                  </a:rPr>
                                  <m:t>𝟐𝟐</m:t>
                                </m:r>
                                <m:r>
                                  <a:rPr lang="sv-SE" b="1" i="1" dirty="0" smtClean="0">
                                    <a:latin typeface="Cambria Math" panose="02040503050406030204" pitchFamily="18" charset="0"/>
                                  </a:rPr>
                                  <m:t>.</m:t>
                                </m:r>
                                <m:r>
                                  <a:rPr lang="sv-SE" b="1" i="1" dirty="0" smtClean="0">
                                    <a:latin typeface="Cambria Math" panose="02040503050406030204" pitchFamily="18" charset="0"/>
                                  </a:rPr>
                                  <m:t>𝟓</m:t>
                                </m:r>
                                <m:r>
                                  <a:rPr lang="sv-SE" b="1" i="1" dirty="0" smtClean="0">
                                    <a:latin typeface="Cambria Math" panose="02040503050406030204" pitchFamily="18" charset="0"/>
                                  </a:rPr>
                                  <m:t> </m:t>
                                </m:r>
                                <m:r>
                                  <a:rPr lang="sv-SE" b="1" i="1" dirty="0" smtClean="0">
                                    <a:latin typeface="Cambria Math" panose="02040503050406030204" pitchFamily="18" charset="0"/>
                                  </a:rPr>
                                  <m:t>𝒌𝑯𝒛</m:t>
                                </m:r>
                              </m:oMath>
                            </m:oMathPara>
                          </a14:m>
                          <a:endParaRPr lang="sv-SE" dirty="0"/>
                        </a:p>
                        <a:p>
                          <a:pPr marL="0" marR="0" lvl="0" indent="0" algn="ctr" defTabSz="914400" rtl="0" eaLnBrk="1" fontAlgn="auto" latinLnBrk="0" hangingPunct="1">
                            <a:lnSpc>
                              <a:spcPct val="100000"/>
                            </a:lnSpc>
                            <a:spcBef>
                              <a:spcPts val="0"/>
                            </a:spcBef>
                            <a:spcAft>
                              <a:spcPts val="0"/>
                            </a:spcAft>
                            <a:buClrTx/>
                            <a:buSzTx/>
                            <a:buFontTx/>
                            <a:buNone/>
                            <a:tabLst/>
                            <a:defRPr/>
                          </a:pPr>
                          <a:endParaRPr lang="sv-SE" dirty="0"/>
                        </a:p>
                      </a:txBody>
                      <a:tcPr/>
                    </a:tc>
                    <a:extLst>
                      <a:ext uri="{0D108BD9-81ED-4DB2-BD59-A6C34878D82A}">
                        <a16:rowId xmlns:a16="http://schemas.microsoft.com/office/drawing/2014/main" val="379032225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dirty="0" smtClean="0"/>
                            <a:t>Loss</a:t>
                          </a:r>
                          <a:r>
                            <a:rPr lang="sv-SE" baseline="0" dirty="0" smtClean="0"/>
                            <a:t> (W)</a:t>
                          </a:r>
                          <a:endParaRPr lang="sv-SE" dirty="0" smtClean="0"/>
                        </a:p>
                      </a:txBody>
                      <a:tcPr/>
                    </a:tc>
                    <a:tc>
                      <a:txBody>
                        <a:bodyPr/>
                        <a:lstStyle/>
                        <a:p>
                          <a:pPr algn="ctr"/>
                          <a:r>
                            <a:rPr lang="sv-SE" dirty="0" smtClean="0"/>
                            <a:t>491</a:t>
                          </a:r>
                          <a:endParaRPr lang="sv-SE" dirty="0"/>
                        </a:p>
                      </a:txBody>
                      <a:tcPr/>
                    </a:tc>
                    <a:tc>
                      <a:txBody>
                        <a:bodyPr/>
                        <a:lstStyle/>
                        <a:p>
                          <a:pPr algn="ctr"/>
                          <a:r>
                            <a:rPr lang="sv-SE" dirty="0" smtClean="0"/>
                            <a:t>614</a:t>
                          </a:r>
                          <a:endParaRPr lang="sv-SE" dirty="0"/>
                        </a:p>
                      </a:txBody>
                      <a:tcPr/>
                    </a:tc>
                    <a:tc>
                      <a:txBody>
                        <a:bodyPr/>
                        <a:lstStyle/>
                        <a:p>
                          <a:pPr algn="ctr"/>
                          <a:r>
                            <a:rPr lang="sv-SE" dirty="0" smtClean="0"/>
                            <a:t>740</a:t>
                          </a:r>
                          <a:endParaRPr lang="sv-SE" dirty="0"/>
                        </a:p>
                      </a:txBody>
                      <a:tcPr/>
                    </a:tc>
                    <a:tc>
                      <a:txBody>
                        <a:bodyPr/>
                        <a:lstStyle/>
                        <a:p>
                          <a:pPr algn="ctr"/>
                          <a:r>
                            <a:rPr lang="sv-SE" dirty="0" smtClean="0"/>
                            <a:t>863</a:t>
                          </a:r>
                          <a:endParaRPr lang="sv-SE" dirty="0"/>
                        </a:p>
                      </a:txBody>
                      <a:tcPr/>
                    </a:tc>
                    <a:tc>
                      <a:txBody>
                        <a:bodyPr/>
                        <a:lstStyle/>
                        <a:p>
                          <a:pPr algn="ctr"/>
                          <a:r>
                            <a:rPr lang="sv-SE" dirty="0" smtClean="0"/>
                            <a:t>920</a:t>
                          </a:r>
                          <a:endParaRPr lang="sv-SE" dirty="0"/>
                        </a:p>
                      </a:txBody>
                      <a:tcPr/>
                    </a:tc>
                    <a:tc>
                      <a:txBody>
                        <a:bodyPr/>
                        <a:lstStyle/>
                        <a:p>
                          <a:pPr algn="ctr"/>
                          <a:r>
                            <a:rPr lang="sv-SE" dirty="0" smtClean="0">
                              <a:solidFill>
                                <a:srgbClr val="FF0000"/>
                              </a:solidFill>
                            </a:rPr>
                            <a:t>1046</a:t>
                          </a:r>
                          <a:endParaRPr lang="sv-SE" dirty="0">
                            <a:solidFill>
                              <a:srgbClr val="FF0000"/>
                            </a:solidFill>
                          </a:endParaRPr>
                        </a:p>
                      </a:txBody>
                      <a:tcPr/>
                    </a:tc>
                    <a:extLst>
                      <a:ext uri="{0D108BD9-81ED-4DB2-BD59-A6C34878D82A}">
                        <a16:rowId xmlns:a16="http://schemas.microsoft.com/office/drawing/2014/main" val="1224150159"/>
                      </a:ext>
                    </a:extLst>
                  </a:tr>
                </a:tbl>
              </a:graphicData>
            </a:graphic>
          </p:graphicFrame>
        </mc:Choice>
        <mc:Fallback xmlns="">
          <p:graphicFrame>
            <p:nvGraphicFramePr>
              <p:cNvPr id="10" name="Table 9"/>
              <p:cNvGraphicFramePr>
                <a:graphicFrameLocks noGrp="1"/>
              </p:cNvGraphicFramePr>
              <p:nvPr>
                <p:extLst>
                  <p:ext uri="{D42A27DB-BD31-4B8C-83A1-F6EECF244321}">
                    <p14:modId xmlns:p14="http://schemas.microsoft.com/office/powerpoint/2010/main" val="3891608963"/>
                  </p:ext>
                </p:extLst>
              </p:nvPr>
            </p:nvGraphicFramePr>
            <p:xfrm>
              <a:off x="2001327" y="4932544"/>
              <a:ext cx="8376249" cy="1010920"/>
            </p:xfrm>
            <a:graphic>
              <a:graphicData uri="http://schemas.openxmlformats.org/drawingml/2006/table">
                <a:tbl>
                  <a:tblPr firstRow="1" bandRow="1">
                    <a:tableStyleId>{5C22544A-7EE6-4342-B048-85BDC9FD1C3A}</a:tableStyleId>
                  </a:tblPr>
                  <a:tblGrid>
                    <a:gridCol w="1196607">
                      <a:extLst>
                        <a:ext uri="{9D8B030D-6E8A-4147-A177-3AD203B41FA5}">
                          <a16:colId xmlns:a16="http://schemas.microsoft.com/office/drawing/2014/main" val="701188241"/>
                        </a:ext>
                      </a:extLst>
                    </a:gridCol>
                    <a:gridCol w="1196607">
                      <a:extLst>
                        <a:ext uri="{9D8B030D-6E8A-4147-A177-3AD203B41FA5}">
                          <a16:colId xmlns:a16="http://schemas.microsoft.com/office/drawing/2014/main" val="2487507754"/>
                        </a:ext>
                      </a:extLst>
                    </a:gridCol>
                    <a:gridCol w="1196607">
                      <a:extLst>
                        <a:ext uri="{9D8B030D-6E8A-4147-A177-3AD203B41FA5}">
                          <a16:colId xmlns:a16="http://schemas.microsoft.com/office/drawing/2014/main" val="267292927"/>
                        </a:ext>
                      </a:extLst>
                    </a:gridCol>
                    <a:gridCol w="1196607">
                      <a:extLst>
                        <a:ext uri="{9D8B030D-6E8A-4147-A177-3AD203B41FA5}">
                          <a16:colId xmlns:a16="http://schemas.microsoft.com/office/drawing/2014/main" val="482194914"/>
                        </a:ext>
                      </a:extLst>
                    </a:gridCol>
                    <a:gridCol w="1196607">
                      <a:extLst>
                        <a:ext uri="{9D8B030D-6E8A-4147-A177-3AD203B41FA5}">
                          <a16:colId xmlns:a16="http://schemas.microsoft.com/office/drawing/2014/main" val="1173395562"/>
                        </a:ext>
                      </a:extLst>
                    </a:gridCol>
                    <a:gridCol w="1196607">
                      <a:extLst>
                        <a:ext uri="{9D8B030D-6E8A-4147-A177-3AD203B41FA5}">
                          <a16:colId xmlns:a16="http://schemas.microsoft.com/office/drawing/2014/main" val="2166802620"/>
                        </a:ext>
                      </a:extLst>
                    </a:gridCol>
                    <a:gridCol w="1196607">
                      <a:extLst>
                        <a:ext uri="{9D8B030D-6E8A-4147-A177-3AD203B41FA5}">
                          <a16:colId xmlns:a16="http://schemas.microsoft.com/office/drawing/2014/main" val="2974429694"/>
                        </a:ext>
                      </a:extLst>
                    </a:gridCol>
                  </a:tblGrid>
                  <a:tr h="640080">
                    <a:tc>
                      <a:txBody>
                        <a:bodyPr/>
                        <a:lstStyle/>
                        <a:p>
                          <a:endParaRPr lang="sv-SE"/>
                        </a:p>
                      </a:txBody>
                      <a:tcPr>
                        <a:blipFill>
                          <a:blip r:embed="rId2"/>
                          <a:stretch>
                            <a:fillRect l="-510" t="-4762" r="-603571" b="-72381"/>
                          </a:stretch>
                        </a:blipFill>
                      </a:tcPr>
                    </a:tc>
                    <a:tc>
                      <a:txBody>
                        <a:bodyPr/>
                        <a:lstStyle/>
                        <a:p>
                          <a:endParaRPr lang="sv-SE"/>
                        </a:p>
                      </a:txBody>
                      <a:tcPr>
                        <a:blipFill>
                          <a:blip r:embed="rId2"/>
                          <a:stretch>
                            <a:fillRect l="-100000" t="-4762" r="-500508" b="-72381"/>
                          </a:stretch>
                        </a:blipFill>
                      </a:tcPr>
                    </a:tc>
                    <a:tc>
                      <a:txBody>
                        <a:bodyPr/>
                        <a:lstStyle/>
                        <a:p>
                          <a:endParaRPr lang="sv-SE"/>
                        </a:p>
                      </a:txBody>
                      <a:tcPr>
                        <a:blipFill>
                          <a:blip r:embed="rId2"/>
                          <a:stretch>
                            <a:fillRect l="-201020" t="-4762" r="-403061" b="-72381"/>
                          </a:stretch>
                        </a:blipFill>
                      </a:tcPr>
                    </a:tc>
                    <a:tc>
                      <a:txBody>
                        <a:bodyPr/>
                        <a:lstStyle/>
                        <a:p>
                          <a:endParaRPr lang="sv-SE"/>
                        </a:p>
                      </a:txBody>
                      <a:tcPr>
                        <a:blipFill>
                          <a:blip r:embed="rId2"/>
                          <a:stretch>
                            <a:fillRect l="-299492" t="-4762" r="-301015" b="-72381"/>
                          </a:stretch>
                        </a:blipFill>
                      </a:tcPr>
                    </a:tc>
                    <a:tc>
                      <a:txBody>
                        <a:bodyPr/>
                        <a:lstStyle/>
                        <a:p>
                          <a:endParaRPr lang="sv-SE"/>
                        </a:p>
                      </a:txBody>
                      <a:tcPr>
                        <a:blipFill>
                          <a:blip r:embed="rId2"/>
                          <a:stretch>
                            <a:fillRect l="-401531" t="-4762" r="-202551" b="-72381"/>
                          </a:stretch>
                        </a:blipFill>
                      </a:tcPr>
                    </a:tc>
                    <a:tc>
                      <a:txBody>
                        <a:bodyPr/>
                        <a:lstStyle/>
                        <a:p>
                          <a:endParaRPr lang="sv-SE"/>
                        </a:p>
                      </a:txBody>
                      <a:tcPr>
                        <a:blipFill>
                          <a:blip r:embed="rId2"/>
                          <a:stretch>
                            <a:fillRect l="-498985" t="-4762" r="-101523" b="-72381"/>
                          </a:stretch>
                        </a:blipFill>
                      </a:tcPr>
                    </a:tc>
                    <a:tc>
                      <a:txBody>
                        <a:bodyPr/>
                        <a:lstStyle/>
                        <a:p>
                          <a:endParaRPr lang="sv-SE"/>
                        </a:p>
                      </a:txBody>
                      <a:tcPr>
                        <a:blipFill>
                          <a:blip r:embed="rId2"/>
                          <a:stretch>
                            <a:fillRect l="-602041" t="-4762" r="-2041" b="-72381"/>
                          </a:stretch>
                        </a:blipFill>
                      </a:tcPr>
                    </a:tc>
                    <a:extLst>
                      <a:ext uri="{0D108BD9-81ED-4DB2-BD59-A6C34878D82A}">
                        <a16:rowId xmlns:a16="http://schemas.microsoft.com/office/drawing/2014/main" val="379032225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dirty="0" smtClean="0"/>
                            <a:t>Loss</a:t>
                          </a:r>
                          <a:r>
                            <a:rPr lang="sv-SE" baseline="0" dirty="0" smtClean="0"/>
                            <a:t> (W)</a:t>
                          </a:r>
                          <a:endParaRPr lang="sv-SE" dirty="0" smtClean="0"/>
                        </a:p>
                      </a:txBody>
                      <a:tcPr/>
                    </a:tc>
                    <a:tc>
                      <a:txBody>
                        <a:bodyPr/>
                        <a:lstStyle/>
                        <a:p>
                          <a:pPr algn="ctr"/>
                          <a:r>
                            <a:rPr lang="sv-SE" dirty="0" smtClean="0"/>
                            <a:t>491</a:t>
                          </a:r>
                          <a:endParaRPr lang="sv-SE" dirty="0"/>
                        </a:p>
                      </a:txBody>
                      <a:tcPr/>
                    </a:tc>
                    <a:tc>
                      <a:txBody>
                        <a:bodyPr/>
                        <a:lstStyle/>
                        <a:p>
                          <a:pPr algn="ctr"/>
                          <a:r>
                            <a:rPr lang="sv-SE" dirty="0" smtClean="0"/>
                            <a:t>614</a:t>
                          </a:r>
                          <a:endParaRPr lang="sv-SE" dirty="0"/>
                        </a:p>
                      </a:txBody>
                      <a:tcPr/>
                    </a:tc>
                    <a:tc>
                      <a:txBody>
                        <a:bodyPr/>
                        <a:lstStyle/>
                        <a:p>
                          <a:pPr algn="ctr"/>
                          <a:r>
                            <a:rPr lang="sv-SE" dirty="0" smtClean="0"/>
                            <a:t>740</a:t>
                          </a:r>
                          <a:endParaRPr lang="sv-SE" dirty="0"/>
                        </a:p>
                      </a:txBody>
                      <a:tcPr/>
                    </a:tc>
                    <a:tc>
                      <a:txBody>
                        <a:bodyPr/>
                        <a:lstStyle/>
                        <a:p>
                          <a:pPr algn="ctr"/>
                          <a:r>
                            <a:rPr lang="sv-SE" dirty="0" smtClean="0"/>
                            <a:t>863</a:t>
                          </a:r>
                          <a:endParaRPr lang="sv-SE" dirty="0"/>
                        </a:p>
                      </a:txBody>
                      <a:tcPr/>
                    </a:tc>
                    <a:tc>
                      <a:txBody>
                        <a:bodyPr/>
                        <a:lstStyle/>
                        <a:p>
                          <a:pPr algn="ctr"/>
                          <a:r>
                            <a:rPr lang="sv-SE" dirty="0" smtClean="0"/>
                            <a:t>920</a:t>
                          </a:r>
                          <a:endParaRPr lang="sv-SE" dirty="0"/>
                        </a:p>
                      </a:txBody>
                      <a:tcPr/>
                    </a:tc>
                    <a:tc>
                      <a:txBody>
                        <a:bodyPr/>
                        <a:lstStyle/>
                        <a:p>
                          <a:pPr algn="ctr"/>
                          <a:r>
                            <a:rPr lang="sv-SE" dirty="0" smtClean="0">
                              <a:solidFill>
                                <a:srgbClr val="FF0000"/>
                              </a:solidFill>
                            </a:rPr>
                            <a:t>1046</a:t>
                          </a:r>
                          <a:endParaRPr lang="sv-SE" dirty="0">
                            <a:solidFill>
                              <a:srgbClr val="FF0000"/>
                            </a:solidFill>
                          </a:endParaRPr>
                        </a:p>
                      </a:txBody>
                      <a:tcPr/>
                    </a:tc>
                    <a:extLst>
                      <a:ext uri="{0D108BD9-81ED-4DB2-BD59-A6C34878D82A}">
                        <a16:rowId xmlns:a16="http://schemas.microsoft.com/office/drawing/2014/main" val="1224150159"/>
                      </a:ext>
                    </a:extLst>
                  </a:tr>
                </a:tbl>
              </a:graphicData>
            </a:graphic>
          </p:graphicFrame>
        </mc:Fallback>
      </mc:AlternateContent>
      <p:pic>
        <p:nvPicPr>
          <p:cNvPr id="3" name="Picture 2"/>
          <p:cNvPicPr>
            <a:picLocks noChangeAspect="1"/>
          </p:cNvPicPr>
          <p:nvPr/>
        </p:nvPicPr>
        <p:blipFill>
          <a:blip r:embed="rId3"/>
          <a:stretch>
            <a:fillRect/>
          </a:stretch>
        </p:blipFill>
        <p:spPr>
          <a:xfrm>
            <a:off x="65409" y="1414970"/>
            <a:ext cx="3452819" cy="2589614"/>
          </a:xfrm>
          <a:prstGeom prst="rect">
            <a:avLst/>
          </a:prstGeom>
        </p:spPr>
      </p:pic>
      <p:pic>
        <p:nvPicPr>
          <p:cNvPr id="4" name="Picture 3"/>
          <p:cNvPicPr>
            <a:picLocks noChangeAspect="1"/>
          </p:cNvPicPr>
          <p:nvPr/>
        </p:nvPicPr>
        <p:blipFill>
          <a:blip r:embed="rId4"/>
          <a:stretch>
            <a:fillRect/>
          </a:stretch>
        </p:blipFill>
        <p:spPr>
          <a:xfrm>
            <a:off x="7981217" y="1280419"/>
            <a:ext cx="4131536" cy="3098652"/>
          </a:xfrm>
          <a:prstGeom prst="rect">
            <a:avLst/>
          </a:prstGeom>
        </p:spPr>
      </p:pic>
      <p:pic>
        <p:nvPicPr>
          <p:cNvPr id="5" name="Picture 4"/>
          <p:cNvPicPr>
            <a:picLocks noChangeAspect="1"/>
          </p:cNvPicPr>
          <p:nvPr/>
        </p:nvPicPr>
        <p:blipFill>
          <a:blip r:embed="rId5"/>
          <a:stretch>
            <a:fillRect/>
          </a:stretch>
        </p:blipFill>
        <p:spPr>
          <a:xfrm>
            <a:off x="3860044" y="1302440"/>
            <a:ext cx="4121173" cy="3090880"/>
          </a:xfrm>
          <a:prstGeom prst="rect">
            <a:avLst/>
          </a:prstGeom>
        </p:spPr>
      </p:pic>
      <p:sp>
        <p:nvSpPr>
          <p:cNvPr id="6" name="Rectangle 5"/>
          <p:cNvSpPr/>
          <p:nvPr/>
        </p:nvSpPr>
        <p:spPr>
          <a:xfrm>
            <a:off x="508880" y="4101810"/>
            <a:ext cx="2771913" cy="369332"/>
          </a:xfrm>
          <a:prstGeom prst="rect">
            <a:avLst/>
          </a:prstGeom>
        </p:spPr>
        <p:txBody>
          <a:bodyPr wrap="none">
            <a:spAutoFit/>
          </a:bodyPr>
          <a:lstStyle/>
          <a:p>
            <a:r>
              <a:rPr lang="sv-SE" dirty="0" err="1"/>
              <a:t>Polynomial</a:t>
            </a:r>
            <a:r>
              <a:rPr lang="sv-SE" dirty="0"/>
              <a:t> </a:t>
            </a:r>
            <a:r>
              <a:rPr lang="sv-SE" dirty="0" err="1"/>
              <a:t>assumption</a:t>
            </a:r>
            <a:r>
              <a:rPr lang="sv-SE" dirty="0"/>
              <a:t> 2</a:t>
            </a:r>
          </a:p>
        </p:txBody>
      </p:sp>
      <mc:AlternateContent xmlns:mc="http://schemas.openxmlformats.org/markup-compatibility/2006" xmlns:a14="http://schemas.microsoft.com/office/drawing/2010/main">
        <mc:Choice Requires="a14">
          <p:sp>
            <p:nvSpPr>
              <p:cNvPr id="7" name="Rectangle 6"/>
              <p:cNvSpPr/>
              <p:nvPr/>
            </p:nvSpPr>
            <p:spPr>
              <a:xfrm>
                <a:off x="5415523" y="2709777"/>
                <a:ext cx="101021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v-SE" b="1" i="1" dirty="0">
                          <a:latin typeface="Cambria Math" panose="02040503050406030204" pitchFamily="18" charset="0"/>
                        </a:rPr>
                        <m:t>𝟏𝟎</m:t>
                      </m:r>
                      <m:r>
                        <a:rPr lang="sv-SE" b="1" i="1" dirty="0">
                          <a:latin typeface="Cambria Math" panose="02040503050406030204" pitchFamily="18" charset="0"/>
                        </a:rPr>
                        <m:t> </m:t>
                      </m:r>
                      <m:r>
                        <a:rPr lang="sv-SE" b="1" i="1" dirty="0">
                          <a:latin typeface="Cambria Math" panose="02040503050406030204" pitchFamily="18" charset="0"/>
                        </a:rPr>
                        <m:t>𝒌𝑯𝒛</m:t>
                      </m:r>
                    </m:oMath>
                  </m:oMathPara>
                </a14:m>
                <a:endParaRPr lang="sv-SE" dirty="0"/>
              </a:p>
            </p:txBody>
          </p:sp>
        </mc:Choice>
        <mc:Fallback xmlns="">
          <p:sp>
            <p:nvSpPr>
              <p:cNvPr id="7" name="Rectangle 6"/>
              <p:cNvSpPr>
                <a:spLocks noRot="1" noChangeAspect="1" noMove="1" noResize="1" noEditPoints="1" noAdjustHandles="1" noChangeArrowheads="1" noChangeShapeType="1" noTextEdit="1"/>
              </p:cNvSpPr>
              <p:nvPr/>
            </p:nvSpPr>
            <p:spPr>
              <a:xfrm>
                <a:off x="5415523" y="2709777"/>
                <a:ext cx="1010213" cy="369332"/>
              </a:xfrm>
              <a:prstGeom prst="rect">
                <a:avLst/>
              </a:prstGeom>
              <a:blipFill>
                <a:blip r:embed="rId6"/>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9205245" y="2645079"/>
                <a:ext cx="101021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v-SE" b="1" i="1" dirty="0">
                          <a:latin typeface="Cambria Math" panose="02040503050406030204" pitchFamily="18" charset="0"/>
                        </a:rPr>
                        <m:t>𝟏𝟎</m:t>
                      </m:r>
                      <m:r>
                        <a:rPr lang="sv-SE" b="1" i="1" dirty="0">
                          <a:latin typeface="Cambria Math" panose="02040503050406030204" pitchFamily="18" charset="0"/>
                        </a:rPr>
                        <m:t> </m:t>
                      </m:r>
                      <m:r>
                        <a:rPr lang="sv-SE" b="1" i="1" dirty="0">
                          <a:latin typeface="Cambria Math" panose="02040503050406030204" pitchFamily="18" charset="0"/>
                        </a:rPr>
                        <m:t>𝒌𝑯𝒛</m:t>
                      </m:r>
                    </m:oMath>
                  </m:oMathPara>
                </a14:m>
                <a:endParaRPr lang="sv-SE" dirty="0"/>
              </a:p>
            </p:txBody>
          </p:sp>
        </mc:Choice>
        <mc:Fallback xmlns="">
          <p:sp>
            <p:nvSpPr>
              <p:cNvPr id="8" name="Rectangle 7"/>
              <p:cNvSpPr>
                <a:spLocks noRot="1" noChangeAspect="1" noMove="1" noResize="1" noEditPoints="1" noAdjustHandles="1" noChangeArrowheads="1" noChangeShapeType="1" noTextEdit="1"/>
              </p:cNvSpPr>
              <p:nvPr/>
            </p:nvSpPr>
            <p:spPr>
              <a:xfrm>
                <a:off x="9205245" y="2645079"/>
                <a:ext cx="1010213" cy="369332"/>
              </a:xfrm>
              <a:prstGeom prst="rect">
                <a:avLst/>
              </a:prstGeom>
              <a:blipFill>
                <a:blip r:embed="rId7"/>
                <a:stretch>
                  <a:fillRect/>
                </a:stretch>
              </a:blipFill>
            </p:spPr>
            <p:txBody>
              <a:bodyPr/>
              <a:lstStyle/>
              <a:p>
                <a:r>
                  <a:rPr lang="sv-SE">
                    <a:noFill/>
                  </a:rPr>
                  <a:t> </a:t>
                </a:r>
              </a:p>
            </p:txBody>
          </p:sp>
        </mc:Fallback>
      </mc:AlternateContent>
    </p:spTree>
    <p:extLst>
      <p:ext uri="{BB962C8B-B14F-4D97-AF65-F5344CB8AC3E}">
        <p14:creationId xmlns:p14="http://schemas.microsoft.com/office/powerpoint/2010/main" val="343211294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KTH_presentation_template_Figtree" id="{E6011EE6-5294-D344-AE93-F618069F8922}" vid="{45727F30-E711-A740-91D8-A34DFFD32AAE}"/>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KTH_presentation_template_Figtree (2)</Template>
  <TotalTime>7550</TotalTime>
  <Words>736</Words>
  <Application>Microsoft Office PowerPoint</Application>
  <PresentationFormat>Widescreen</PresentationFormat>
  <Paragraphs>108</Paragraphs>
  <Slides>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Arial</vt:lpstr>
      <vt:lpstr>Cambria Math</vt:lpstr>
      <vt:lpstr>Figtree</vt:lpstr>
      <vt:lpstr>Source Sans Pro</vt:lpstr>
      <vt:lpstr>Calibri</vt:lpstr>
      <vt:lpstr>Wingdings</vt:lpstr>
      <vt:lpstr>Office-tema</vt:lpstr>
      <vt:lpstr>2-Level Inverter Loss Analysis: 1700 V SiC Module</vt:lpstr>
      <vt:lpstr>2-Level Inverter Power Ratings</vt:lpstr>
      <vt:lpstr>Given Parameters from Infineon</vt:lpstr>
      <vt:lpstr>Datasheet-driven Loss Calculation </vt:lpstr>
      <vt:lpstr>Datasheet-driven Loss Calculation </vt:lpstr>
      <vt:lpstr>Datasheet-driven Loss Calculation (Conduction) </vt:lpstr>
      <vt:lpstr>Datasheet-driven Loss Calculation (Switching) </vt:lpstr>
      <vt:lpstr>Datasheet-driven Loss Calculation (Switching) </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Tove Guldbrand</dc:creator>
  <cp:lastModifiedBy>Enes Ayaz</cp:lastModifiedBy>
  <cp:revision>107</cp:revision>
  <dcterms:created xsi:type="dcterms:W3CDTF">2024-01-10T13:17:29Z</dcterms:created>
  <dcterms:modified xsi:type="dcterms:W3CDTF">2024-10-25T13:41:43Z</dcterms:modified>
</cp:coreProperties>
</file>