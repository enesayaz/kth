
<file path=[Content_Types].xml><?xml version="1.0" encoding="utf-8"?>
<Types xmlns="http://schemas.openxmlformats.org/package/2006/content-types">
  <Default Extension="png" ContentType="image/png"/>
  <Default Extension="svg" ContentType="image/svg+xml"/>
  <Default Extension="emf" ContentType="image/x-emf"/>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0"/>
  </p:notesMasterIdLst>
  <p:sldIdLst>
    <p:sldId id="256" r:id="rId2"/>
    <p:sldId id="270" r:id="rId3"/>
    <p:sldId id="277" r:id="rId4"/>
    <p:sldId id="279" r:id="rId5"/>
    <p:sldId id="280" r:id="rId6"/>
    <p:sldId id="275" r:id="rId7"/>
    <p:sldId id="278" r:id="rId8"/>
    <p:sldId id="276" r:id="rId9"/>
  </p:sldIdLst>
  <p:sldSz cx="12192000" cy="6858000"/>
  <p:notesSz cx="6858000" cy="9144000"/>
  <p:embeddedFontLst>
    <p:embeddedFont>
      <p:font typeface="Figtree" panose="020B0604020202020204" charset="0"/>
      <p:regular r:id="rId11"/>
      <p:bold r:id="rId12"/>
      <p:italic r:id="rId13"/>
      <p:boldItalic r:id="rId14"/>
    </p:embeddedFont>
    <p:embeddedFont>
      <p:font typeface="Calibri" panose="020F0502020204030204" pitchFamily="34" charset="0"/>
      <p:regular r:id="rId15"/>
      <p:bold r:id="rId16"/>
      <p:italic r:id="rId17"/>
      <p:boldItalic r:id="rId18"/>
    </p:embeddedFont>
    <p:embeddedFont>
      <p:font typeface="Cambria Math" panose="02040503050406030204" pitchFamily="18" charset="0"/>
      <p:regular r:id="rId19"/>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74" autoAdjust="0"/>
    <p:restoredTop sz="96327"/>
  </p:normalViewPr>
  <p:slideViewPr>
    <p:cSldViewPr snapToGrid="0">
      <p:cViewPr varScale="1">
        <p:scale>
          <a:sx n="160" d="100"/>
          <a:sy n="160" d="100"/>
        </p:scale>
        <p:origin x="168"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tableStyles" Target="tableStyles.xml"/><Relationship Id="rId10" Type="http://schemas.openxmlformats.org/officeDocument/2006/relationships/notesMaster" Target="notesMasters/notesMaster1.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2024-11-28</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2.sv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0.svg"/><Relationship Id="rId4"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2024-11-28</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2024-11-28</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2024-11-28</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2024-11-28</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2024-11-28</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2024-11-28</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2024-11-28</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 xmlns:asvg="http://schemas.microsoft.com/office/drawing/2016/SVG/main"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2024-11-28</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2024-11-28</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2024-11-28</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2024-11-28</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2024-11-28</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2024-11-28</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2024-11-28</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2024-11-28</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2024-11-28</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2024-11-28</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2024-11-28</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2024-11-28</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2024-11-28</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2024-11-28</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2024-11-28</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2024-11-28</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2024-11-28</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2024-11-28</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2024-11-28</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2024-11-28</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2024-11-28</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2024-11-28</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2024-11-28</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2024-11-28</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2024-11-28</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2024-11-28</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2024-11-28</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2024-11-28</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2024-11-28</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2024-11-28</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2024-11-28</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2024-11-28</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2024-11-28</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2024-11-28</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2024-11-28</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2024-11-28</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2024-11-28</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2024-11-28</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2024-11-28</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2024-11-28</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2024-11-28</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cstate="print">
            <a:extLst>
              <a:ext uri="{28A0092B-C50C-407E-A947-70E740481C1C}">
                <a14:useLocalDpi xmlns:a14="http://schemas.microsoft.com/office/drawing/2010/main"/>
              </a:ext>
              <a:ext uri="{96DAC541-7B7A-43D3-8B79-37D633B846F1}">
                <asvg:svgBlip xmlns="" xmlns:asvg="http://schemas.microsoft.com/office/drawing/2016/SVG/main"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timing>
    <p:tnLst>
      <p:par>
        <p:cTn id="1" dur="indefinite" restart="never" nodeType="tmRoot"/>
      </p:par>
    </p:tnLst>
  </p:timing>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slideLayout" Target="../slideLayouts/slideLayout12.xml"/><Relationship Id="rId4" Type="http://schemas.openxmlformats.org/officeDocument/2006/relationships/image" Target="../media/image23.emf"/></Relationships>
</file>

<file path=ppt/slides/_rels/slide4.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emf"/><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emf"/><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emf"/><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0.emf"/><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emf"/><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a:extLst>
              <a:ext uri="{FF2B5EF4-FFF2-40B4-BE49-F238E27FC236}">
                <a16:creationId xmlns:a16="http://schemas.microsoft.com/office/drawing/2014/main" id="{35B07F06-6EA7-7E2D-1EF1-26B024DA7650}"/>
              </a:ext>
            </a:extLst>
          </p:cNvPr>
          <p:cNvSpPr>
            <a:spLocks noGrp="1"/>
          </p:cNvSpPr>
          <p:nvPr>
            <p:ph type="ctrTitle"/>
          </p:nvPr>
        </p:nvSpPr>
        <p:spPr>
          <a:xfrm>
            <a:off x="1695853" y="3269129"/>
            <a:ext cx="8798701" cy="1956921"/>
          </a:xfrm>
        </p:spPr>
        <p:txBody>
          <a:bodyPr/>
          <a:lstStyle/>
          <a:p>
            <a:r>
              <a:rPr lang="en-US" dirty="0" smtClean="0"/>
              <a:t>Harmonic Modelling of the Inverter</a:t>
            </a:r>
            <a:endParaRPr lang="sv-SE" dirty="0"/>
          </a:p>
        </p:txBody>
      </p:sp>
      <p:sp>
        <p:nvSpPr>
          <p:cNvPr id="5" name="Underrubrik 4">
            <a:extLst>
              <a:ext uri="{FF2B5EF4-FFF2-40B4-BE49-F238E27FC236}">
                <a16:creationId xmlns:a16="http://schemas.microsoft.com/office/drawing/2014/main" id="{92A29924-00C9-C549-25FA-02CDD1D96ADA}"/>
              </a:ext>
            </a:extLst>
          </p:cNvPr>
          <p:cNvSpPr>
            <a:spLocks noGrp="1"/>
          </p:cNvSpPr>
          <p:nvPr>
            <p:ph type="subTitle" idx="1"/>
          </p:nvPr>
        </p:nvSpPr>
        <p:spPr/>
        <p:txBody>
          <a:bodyPr/>
          <a:lstStyle/>
          <a:p>
            <a:r>
              <a:rPr lang="en-US" dirty="0"/>
              <a:t>To Draft </a:t>
            </a:r>
            <a:r>
              <a:rPr lang="en-US" dirty="0" smtClean="0"/>
              <a:t>an </a:t>
            </a:r>
            <a:r>
              <a:rPr lang="en-US" dirty="0"/>
              <a:t>Idea for ECCE-Europe </a:t>
            </a:r>
            <a:endParaRPr lang="sv-SE" dirty="0"/>
          </a:p>
        </p:txBody>
      </p:sp>
    </p:spTree>
    <p:extLst>
      <p:ext uri="{BB962C8B-B14F-4D97-AF65-F5344CB8AC3E}">
        <p14:creationId xmlns:p14="http://schemas.microsoft.com/office/powerpoint/2010/main" val="2081227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2216" y="252950"/>
            <a:ext cx="10990263" cy="568412"/>
          </a:xfrm>
        </p:spPr>
        <p:txBody>
          <a:bodyPr/>
          <a:lstStyle/>
          <a:p>
            <a:r>
              <a:rPr lang="en-US" dirty="0" smtClean="0">
                <a:latin typeface="Times New Roman" panose="02020603050405020304" pitchFamily="18" charset="0"/>
                <a:cs typeface="Times New Roman" panose="02020603050405020304" pitchFamily="18" charset="0"/>
              </a:rPr>
              <a:t>Impedance Model</a:t>
            </a:r>
            <a:endParaRPr lang="sv-SE"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1439102026"/>
                  </p:ext>
                </p:extLst>
              </p:nvPr>
            </p:nvGraphicFramePr>
            <p:xfrm>
              <a:off x="1231154" y="1762561"/>
              <a:ext cx="8128000" cy="184912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78631582"/>
                        </a:ext>
                      </a:extLst>
                    </a:gridCol>
                    <a:gridCol w="2032000">
                      <a:extLst>
                        <a:ext uri="{9D8B030D-6E8A-4147-A177-3AD203B41FA5}">
                          <a16:colId xmlns:a16="http://schemas.microsoft.com/office/drawing/2014/main" val="844494951"/>
                        </a:ext>
                      </a:extLst>
                    </a:gridCol>
                    <a:gridCol w="2032000">
                      <a:extLst>
                        <a:ext uri="{9D8B030D-6E8A-4147-A177-3AD203B41FA5}">
                          <a16:colId xmlns:a16="http://schemas.microsoft.com/office/drawing/2014/main" val="3775262176"/>
                        </a:ext>
                      </a:extLst>
                    </a:gridCol>
                    <a:gridCol w="2032000">
                      <a:extLst>
                        <a:ext uri="{9D8B030D-6E8A-4147-A177-3AD203B41FA5}">
                          <a16:colId xmlns:a16="http://schemas.microsoft.com/office/drawing/2014/main" val="3461459550"/>
                        </a:ext>
                      </a:extLst>
                    </a:gridCol>
                  </a:tblGrid>
                  <a:tr h="0">
                    <a:tc>
                      <a:txBody>
                        <a:bodyPr/>
                        <a:lstStyle/>
                        <a:p>
                          <a:endParaRPr lang="sv-SE" dirty="0"/>
                        </a:p>
                      </a:txBody>
                      <a:tcPr/>
                    </a:tc>
                    <a:tc>
                      <a:txBody>
                        <a:bodyPr/>
                        <a:lstStyle/>
                        <a:p>
                          <a:r>
                            <a:rPr lang="en-US" dirty="0" smtClean="0"/>
                            <a:t>Leg</a:t>
                          </a:r>
                          <a:r>
                            <a:rPr lang="en-US" baseline="0" dirty="0" smtClean="0"/>
                            <a:t> A</a:t>
                          </a:r>
                          <a:endParaRPr lang="sv-S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Leg</a:t>
                          </a:r>
                          <a:r>
                            <a:rPr lang="en-US" baseline="0" dirty="0" smtClean="0"/>
                            <a:t> B</a:t>
                          </a:r>
                          <a:endParaRPr lang="sv-SE"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Leg</a:t>
                          </a:r>
                          <a:r>
                            <a:rPr lang="en-US" baseline="0" dirty="0" smtClean="0"/>
                            <a:t> C</a:t>
                          </a:r>
                          <a:endParaRPr lang="sv-SE" dirty="0" smtClean="0"/>
                        </a:p>
                      </a:txBody>
                      <a:tcPr/>
                    </a:tc>
                    <a:extLst>
                      <a:ext uri="{0D108BD9-81ED-4DB2-BD59-A6C34878D82A}">
                        <a16:rowId xmlns:a16="http://schemas.microsoft.com/office/drawing/2014/main" val="3784776413"/>
                      </a:ext>
                    </a:extLst>
                  </a:tr>
                  <a:tr h="370840">
                    <a:tc>
                      <a:txBody>
                        <a:bodyPr/>
                        <a:lstStyle/>
                        <a:p>
                          <a:r>
                            <a:rPr lang="en-US" dirty="0" smtClean="0"/>
                            <a:t>Capacitor-1</a:t>
                          </a:r>
                          <a:endParaRPr lang="sv-S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1</m:t>
                                    </m:r>
                                    <m:r>
                                      <a:rPr lang="en-US" b="0" i="1" smtClean="0">
                                        <a:latin typeface="Cambria Math" panose="02040503050406030204" pitchFamily="18" charset="0"/>
                                      </a:rPr>
                                      <m:t>𝐴</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1</m:t>
                                    </m:r>
                                    <m:r>
                                      <a:rPr lang="en-US" b="0" i="1" smtClean="0">
                                        <a:latin typeface="Cambria Math" panose="02040503050406030204" pitchFamily="18" charset="0"/>
                                      </a:rPr>
                                      <m:t>𝐵</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1</m:t>
                                    </m:r>
                                    <m:r>
                                      <a:rPr lang="en-US" b="0" i="1" smtClean="0">
                                        <a:latin typeface="Cambria Math" panose="02040503050406030204" pitchFamily="18" charset="0"/>
                                      </a:rPr>
                                      <m:t>𝐶</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extLst>
                      <a:ext uri="{0D108BD9-81ED-4DB2-BD59-A6C34878D82A}">
                        <a16:rowId xmlns:a16="http://schemas.microsoft.com/office/drawing/2014/main" val="330419332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Capacitor-2</a:t>
                          </a:r>
                          <a:endParaRPr lang="sv-SE"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2</m:t>
                                    </m:r>
                                    <m:r>
                                      <a:rPr lang="en-US" b="0" i="1" smtClean="0">
                                        <a:latin typeface="Cambria Math" panose="02040503050406030204" pitchFamily="18" charset="0"/>
                                      </a:rPr>
                                      <m:t>𝐴</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2</m:t>
                                    </m:r>
                                    <m:r>
                                      <a:rPr lang="en-US" b="0" i="1" smtClean="0">
                                        <a:latin typeface="Cambria Math" panose="02040503050406030204" pitchFamily="18" charset="0"/>
                                      </a:rPr>
                                      <m:t>𝐵</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2</m:t>
                                    </m:r>
                                    <m:r>
                                      <a:rPr lang="en-US" b="0" i="1" smtClean="0">
                                        <a:latin typeface="Cambria Math" panose="02040503050406030204" pitchFamily="18" charset="0"/>
                                      </a:rPr>
                                      <m:t>𝐶</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extLst>
                      <a:ext uri="{0D108BD9-81ED-4DB2-BD59-A6C34878D82A}">
                        <a16:rowId xmlns:a16="http://schemas.microsoft.com/office/drawing/2014/main" val="90424896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Capacitor-3</a:t>
                          </a:r>
                          <a:endParaRPr lang="sv-SE"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3</m:t>
                                    </m:r>
                                    <m:r>
                                      <a:rPr lang="en-US" b="0" i="1" smtClean="0">
                                        <a:latin typeface="Cambria Math" panose="02040503050406030204" pitchFamily="18" charset="0"/>
                                      </a:rPr>
                                      <m:t>𝐴</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3</m:t>
                                    </m:r>
                                    <m:r>
                                      <a:rPr lang="en-US" b="0" i="1" smtClean="0">
                                        <a:latin typeface="Cambria Math" panose="02040503050406030204" pitchFamily="18" charset="0"/>
                                      </a:rPr>
                                      <m:t>𝐵</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3</m:t>
                                    </m:r>
                                    <m:r>
                                      <a:rPr lang="en-US" b="0" i="1" smtClean="0">
                                        <a:latin typeface="Cambria Math" panose="02040503050406030204" pitchFamily="18" charset="0"/>
                                      </a:rPr>
                                      <m:t>𝐶</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extLst>
                      <a:ext uri="{0D108BD9-81ED-4DB2-BD59-A6C34878D82A}">
                        <a16:rowId xmlns:a16="http://schemas.microsoft.com/office/drawing/2014/main" val="200599621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Capacitor-4</a:t>
                          </a:r>
                          <a:endParaRPr lang="sv-SE"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4</m:t>
                                    </m:r>
                                    <m:r>
                                      <a:rPr lang="tr-TR" b="0" i="1" smtClean="0">
                                        <a:latin typeface="Cambria Math" panose="02040503050406030204" pitchFamily="18" charset="0"/>
                                      </a:rPr>
                                      <m:t>𝐴</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4</m:t>
                                    </m:r>
                                    <m:r>
                                      <a:rPr lang="en-US" b="0" i="1" smtClean="0">
                                        <a:latin typeface="Cambria Math" panose="02040503050406030204" pitchFamily="18" charset="0"/>
                                      </a:rPr>
                                      <m:t>𝐵</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4</m:t>
                                    </m:r>
                                    <m:r>
                                      <a:rPr lang="en-US" b="0" i="1" smtClean="0">
                                        <a:latin typeface="Cambria Math" panose="02040503050406030204" pitchFamily="18" charset="0"/>
                                      </a:rPr>
                                      <m:t>𝐶</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extLst>
                      <a:ext uri="{0D108BD9-81ED-4DB2-BD59-A6C34878D82A}">
                        <a16:rowId xmlns:a16="http://schemas.microsoft.com/office/drawing/2014/main" val="1700131790"/>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1439102026"/>
                  </p:ext>
                </p:extLst>
              </p:nvPr>
            </p:nvGraphicFramePr>
            <p:xfrm>
              <a:off x="1231154" y="1762561"/>
              <a:ext cx="8128000" cy="184912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78631582"/>
                        </a:ext>
                      </a:extLst>
                    </a:gridCol>
                    <a:gridCol w="2032000">
                      <a:extLst>
                        <a:ext uri="{9D8B030D-6E8A-4147-A177-3AD203B41FA5}">
                          <a16:colId xmlns:a16="http://schemas.microsoft.com/office/drawing/2014/main" val="844494951"/>
                        </a:ext>
                      </a:extLst>
                    </a:gridCol>
                    <a:gridCol w="2032000">
                      <a:extLst>
                        <a:ext uri="{9D8B030D-6E8A-4147-A177-3AD203B41FA5}">
                          <a16:colId xmlns:a16="http://schemas.microsoft.com/office/drawing/2014/main" val="3775262176"/>
                        </a:ext>
                      </a:extLst>
                    </a:gridCol>
                    <a:gridCol w="2032000">
                      <a:extLst>
                        <a:ext uri="{9D8B030D-6E8A-4147-A177-3AD203B41FA5}">
                          <a16:colId xmlns:a16="http://schemas.microsoft.com/office/drawing/2014/main" val="3461459550"/>
                        </a:ext>
                      </a:extLst>
                    </a:gridCol>
                  </a:tblGrid>
                  <a:tr h="365760">
                    <a:tc>
                      <a:txBody>
                        <a:bodyPr/>
                        <a:lstStyle/>
                        <a:p>
                          <a:endParaRPr lang="sv-SE" dirty="0"/>
                        </a:p>
                      </a:txBody>
                      <a:tcPr/>
                    </a:tc>
                    <a:tc>
                      <a:txBody>
                        <a:bodyPr/>
                        <a:lstStyle/>
                        <a:p>
                          <a:r>
                            <a:rPr lang="en-US" dirty="0" smtClean="0"/>
                            <a:t>Leg</a:t>
                          </a:r>
                          <a:r>
                            <a:rPr lang="en-US" baseline="0" dirty="0" smtClean="0"/>
                            <a:t> A</a:t>
                          </a:r>
                          <a:endParaRPr lang="sv-S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Leg</a:t>
                          </a:r>
                          <a:r>
                            <a:rPr lang="en-US" baseline="0" dirty="0" smtClean="0"/>
                            <a:t> B</a:t>
                          </a:r>
                          <a:endParaRPr lang="sv-SE"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Leg</a:t>
                          </a:r>
                          <a:r>
                            <a:rPr lang="en-US" baseline="0" dirty="0" smtClean="0"/>
                            <a:t> C</a:t>
                          </a:r>
                          <a:endParaRPr lang="sv-SE" dirty="0" smtClean="0"/>
                        </a:p>
                      </a:txBody>
                      <a:tcPr/>
                    </a:tc>
                    <a:extLst>
                      <a:ext uri="{0D108BD9-81ED-4DB2-BD59-A6C34878D82A}">
                        <a16:rowId xmlns:a16="http://schemas.microsoft.com/office/drawing/2014/main" val="3784776413"/>
                      </a:ext>
                    </a:extLst>
                  </a:tr>
                  <a:tr h="370840">
                    <a:tc>
                      <a:txBody>
                        <a:bodyPr/>
                        <a:lstStyle/>
                        <a:p>
                          <a:r>
                            <a:rPr lang="en-US" dirty="0" smtClean="0"/>
                            <a:t>Capacitor-1</a:t>
                          </a:r>
                          <a:endParaRPr lang="sv-SE" dirty="0"/>
                        </a:p>
                      </a:txBody>
                      <a:tcPr/>
                    </a:tc>
                    <a:tc>
                      <a:txBody>
                        <a:bodyPr/>
                        <a:lstStyle/>
                        <a:p>
                          <a:endParaRPr lang="sv-SE"/>
                        </a:p>
                      </a:txBody>
                      <a:tcPr>
                        <a:blipFill>
                          <a:blip r:embed="rId2"/>
                          <a:stretch>
                            <a:fillRect l="-100299" t="-106557" r="-200898" b="-324590"/>
                          </a:stretch>
                        </a:blipFill>
                      </a:tcPr>
                    </a:tc>
                    <a:tc>
                      <a:txBody>
                        <a:bodyPr/>
                        <a:lstStyle/>
                        <a:p>
                          <a:endParaRPr lang="sv-SE"/>
                        </a:p>
                      </a:txBody>
                      <a:tcPr>
                        <a:blipFill>
                          <a:blip r:embed="rId2"/>
                          <a:stretch>
                            <a:fillRect l="-200901" t="-106557" r="-101502" b="-324590"/>
                          </a:stretch>
                        </a:blipFill>
                      </a:tcPr>
                    </a:tc>
                    <a:tc>
                      <a:txBody>
                        <a:bodyPr/>
                        <a:lstStyle/>
                        <a:p>
                          <a:endParaRPr lang="sv-SE"/>
                        </a:p>
                      </a:txBody>
                      <a:tcPr>
                        <a:blipFill>
                          <a:blip r:embed="rId2"/>
                          <a:stretch>
                            <a:fillRect l="-300000" t="-106557" r="-1198" b="-324590"/>
                          </a:stretch>
                        </a:blipFill>
                      </a:tcPr>
                    </a:tc>
                    <a:extLst>
                      <a:ext uri="{0D108BD9-81ED-4DB2-BD59-A6C34878D82A}">
                        <a16:rowId xmlns:a16="http://schemas.microsoft.com/office/drawing/2014/main" val="330419332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Capacitor-2</a:t>
                          </a:r>
                          <a:endParaRPr lang="sv-SE" dirty="0" smtClean="0"/>
                        </a:p>
                      </a:txBody>
                      <a:tcPr/>
                    </a:tc>
                    <a:tc>
                      <a:txBody>
                        <a:bodyPr/>
                        <a:lstStyle/>
                        <a:p>
                          <a:endParaRPr lang="sv-SE"/>
                        </a:p>
                      </a:txBody>
                      <a:tcPr>
                        <a:blipFill>
                          <a:blip r:embed="rId2"/>
                          <a:stretch>
                            <a:fillRect l="-100299" t="-206557" r="-200898" b="-224590"/>
                          </a:stretch>
                        </a:blipFill>
                      </a:tcPr>
                    </a:tc>
                    <a:tc>
                      <a:txBody>
                        <a:bodyPr/>
                        <a:lstStyle/>
                        <a:p>
                          <a:endParaRPr lang="sv-SE"/>
                        </a:p>
                      </a:txBody>
                      <a:tcPr>
                        <a:blipFill>
                          <a:blip r:embed="rId2"/>
                          <a:stretch>
                            <a:fillRect l="-200901" t="-206557" r="-101502" b="-224590"/>
                          </a:stretch>
                        </a:blipFill>
                      </a:tcPr>
                    </a:tc>
                    <a:tc>
                      <a:txBody>
                        <a:bodyPr/>
                        <a:lstStyle/>
                        <a:p>
                          <a:endParaRPr lang="sv-SE"/>
                        </a:p>
                      </a:txBody>
                      <a:tcPr>
                        <a:blipFill>
                          <a:blip r:embed="rId2"/>
                          <a:stretch>
                            <a:fillRect l="-300000" t="-206557" r="-1198" b="-224590"/>
                          </a:stretch>
                        </a:blipFill>
                      </a:tcPr>
                    </a:tc>
                    <a:extLst>
                      <a:ext uri="{0D108BD9-81ED-4DB2-BD59-A6C34878D82A}">
                        <a16:rowId xmlns:a16="http://schemas.microsoft.com/office/drawing/2014/main" val="90424896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Capacitor-3</a:t>
                          </a:r>
                          <a:endParaRPr lang="sv-SE" dirty="0" smtClean="0"/>
                        </a:p>
                      </a:txBody>
                      <a:tcPr/>
                    </a:tc>
                    <a:tc>
                      <a:txBody>
                        <a:bodyPr/>
                        <a:lstStyle/>
                        <a:p>
                          <a:endParaRPr lang="sv-SE"/>
                        </a:p>
                      </a:txBody>
                      <a:tcPr>
                        <a:blipFill>
                          <a:blip r:embed="rId2"/>
                          <a:stretch>
                            <a:fillRect l="-100299" t="-306557" r="-200898" b="-124590"/>
                          </a:stretch>
                        </a:blipFill>
                      </a:tcPr>
                    </a:tc>
                    <a:tc>
                      <a:txBody>
                        <a:bodyPr/>
                        <a:lstStyle/>
                        <a:p>
                          <a:endParaRPr lang="sv-SE"/>
                        </a:p>
                      </a:txBody>
                      <a:tcPr>
                        <a:blipFill>
                          <a:blip r:embed="rId2"/>
                          <a:stretch>
                            <a:fillRect l="-200901" t="-306557" r="-101502" b="-124590"/>
                          </a:stretch>
                        </a:blipFill>
                      </a:tcPr>
                    </a:tc>
                    <a:tc>
                      <a:txBody>
                        <a:bodyPr/>
                        <a:lstStyle/>
                        <a:p>
                          <a:endParaRPr lang="sv-SE"/>
                        </a:p>
                      </a:txBody>
                      <a:tcPr>
                        <a:blipFill>
                          <a:blip r:embed="rId2"/>
                          <a:stretch>
                            <a:fillRect l="-300000" t="-306557" r="-1198" b="-124590"/>
                          </a:stretch>
                        </a:blipFill>
                      </a:tcPr>
                    </a:tc>
                    <a:extLst>
                      <a:ext uri="{0D108BD9-81ED-4DB2-BD59-A6C34878D82A}">
                        <a16:rowId xmlns:a16="http://schemas.microsoft.com/office/drawing/2014/main" val="200599621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Capacitor-4</a:t>
                          </a:r>
                          <a:endParaRPr lang="sv-SE" dirty="0" smtClean="0"/>
                        </a:p>
                      </a:txBody>
                      <a:tcPr/>
                    </a:tc>
                    <a:tc>
                      <a:txBody>
                        <a:bodyPr/>
                        <a:lstStyle/>
                        <a:p>
                          <a:endParaRPr lang="sv-SE"/>
                        </a:p>
                      </a:txBody>
                      <a:tcPr>
                        <a:blipFill>
                          <a:blip r:embed="rId2"/>
                          <a:stretch>
                            <a:fillRect l="-100299" t="-406557" r="-200898" b="-24590"/>
                          </a:stretch>
                        </a:blipFill>
                      </a:tcPr>
                    </a:tc>
                    <a:tc>
                      <a:txBody>
                        <a:bodyPr/>
                        <a:lstStyle/>
                        <a:p>
                          <a:endParaRPr lang="sv-SE"/>
                        </a:p>
                      </a:txBody>
                      <a:tcPr>
                        <a:blipFill>
                          <a:blip r:embed="rId2"/>
                          <a:stretch>
                            <a:fillRect l="-200901" t="-406557" r="-101502" b="-24590"/>
                          </a:stretch>
                        </a:blipFill>
                      </a:tcPr>
                    </a:tc>
                    <a:tc>
                      <a:txBody>
                        <a:bodyPr/>
                        <a:lstStyle/>
                        <a:p>
                          <a:endParaRPr lang="sv-SE"/>
                        </a:p>
                      </a:txBody>
                      <a:tcPr>
                        <a:blipFill>
                          <a:blip r:embed="rId2"/>
                          <a:stretch>
                            <a:fillRect l="-300000" t="-406557" r="-1198" b="-24590"/>
                          </a:stretch>
                        </a:blipFill>
                      </a:tcPr>
                    </a:tc>
                    <a:extLst>
                      <a:ext uri="{0D108BD9-81ED-4DB2-BD59-A6C34878D82A}">
                        <a16:rowId xmlns:a16="http://schemas.microsoft.com/office/drawing/2014/main" val="1700131790"/>
                      </a:ext>
                    </a:extLst>
                  </a:tr>
                </a:tbl>
              </a:graphicData>
            </a:graphic>
          </p:graphicFrame>
        </mc:Fallback>
      </mc:AlternateContent>
      <p:sp>
        <p:nvSpPr>
          <p:cNvPr id="10" name="Rectangle 9">
            <a:extLst>
              <a:ext uri="{FF2B5EF4-FFF2-40B4-BE49-F238E27FC236}">
                <a16:creationId xmlns:a16="http://schemas.microsoft.com/office/drawing/2014/main" id="{5FD27746-BC71-497E-87F6-231B78DB66C2}"/>
              </a:ext>
            </a:extLst>
          </p:cNvPr>
          <p:cNvSpPr/>
          <p:nvPr/>
        </p:nvSpPr>
        <p:spPr>
          <a:xfrm>
            <a:off x="2784712" y="4229714"/>
            <a:ext cx="6286336" cy="646331"/>
          </a:xfrm>
          <a:prstGeom prst="rect">
            <a:avLst/>
          </a:prstGeom>
        </p:spPr>
        <p:txBody>
          <a:bodyPr wrap="none">
            <a:spAutoFit/>
          </a:bodyPr>
          <a:lstStyle/>
          <a:p>
            <a:r>
              <a:rPr lang="tr-TR" dirty="0" err="1">
                <a:latin typeface="Times New Roman" panose="02020603050405020304" pitchFamily="18" charset="0"/>
                <a:cs typeface="Times New Roman" panose="02020603050405020304" pitchFamily="18" charset="0"/>
              </a:rPr>
              <a:t>The</a:t>
            </a:r>
            <a:r>
              <a:rPr lang="tr-TR" dirty="0">
                <a:latin typeface="Times New Roman" panose="02020603050405020304" pitchFamily="18" charset="0"/>
                <a:cs typeface="Times New Roman" panose="02020603050405020304" pitchFamily="18" charset="0"/>
              </a:rPr>
              <a:t> </a:t>
            </a:r>
            <a:r>
              <a:rPr lang="tr-TR" dirty="0" err="1">
                <a:latin typeface="Times New Roman" panose="02020603050405020304" pitchFamily="18" charset="0"/>
                <a:cs typeface="Times New Roman" panose="02020603050405020304" pitchFamily="18" charset="0"/>
              </a:rPr>
              <a:t>response</a:t>
            </a:r>
            <a:r>
              <a:rPr lang="tr-TR" dirty="0">
                <a:latin typeface="Times New Roman" panose="02020603050405020304" pitchFamily="18" charset="0"/>
                <a:cs typeface="Times New Roman" panose="02020603050405020304" pitchFamily="18" charset="0"/>
              </a:rPr>
              <a:t> of </a:t>
            </a:r>
            <a:r>
              <a:rPr lang="tr-TR" dirty="0" err="1">
                <a:latin typeface="Times New Roman" panose="02020603050405020304" pitchFamily="18" charset="0"/>
                <a:cs typeface="Times New Roman" panose="02020603050405020304" pitchFamily="18" charset="0"/>
              </a:rPr>
              <a:t>capacitor</a:t>
            </a:r>
            <a:r>
              <a:rPr lang="tr-TR" dirty="0">
                <a:latin typeface="Times New Roman" panose="02020603050405020304" pitchFamily="18" charset="0"/>
                <a:cs typeface="Times New Roman" panose="02020603050405020304" pitchFamily="18" charset="0"/>
              </a:rPr>
              <a:t> A </a:t>
            </a:r>
            <a:r>
              <a:rPr lang="tr-TR" dirty="0" err="1">
                <a:latin typeface="Times New Roman" panose="02020603050405020304" pitchFamily="18" charset="0"/>
                <a:cs typeface="Times New Roman" panose="02020603050405020304" pitchFamily="18" charset="0"/>
              </a:rPr>
              <a:t>for</a:t>
            </a:r>
            <a:r>
              <a:rPr lang="tr-TR" dirty="0">
                <a:latin typeface="Times New Roman" panose="02020603050405020304" pitchFamily="18" charset="0"/>
                <a:cs typeface="Times New Roman" panose="02020603050405020304" pitchFamily="18" charset="0"/>
              </a:rPr>
              <a:t> </a:t>
            </a:r>
            <a:r>
              <a:rPr lang="tr-TR" dirty="0" err="1">
                <a:latin typeface="Times New Roman" panose="02020603050405020304" pitchFamily="18" charset="0"/>
                <a:cs typeface="Times New Roman" panose="02020603050405020304" pitchFamily="18" charset="0"/>
              </a:rPr>
              <a:t>each</a:t>
            </a:r>
            <a:r>
              <a:rPr lang="tr-TR" dirty="0">
                <a:latin typeface="Times New Roman" panose="02020603050405020304" pitchFamily="18" charset="0"/>
                <a:cs typeface="Times New Roman" panose="02020603050405020304" pitchFamily="18" charset="0"/>
              </a:rPr>
              <a:t> </a:t>
            </a:r>
            <a:r>
              <a:rPr lang="tr-TR" dirty="0" err="1">
                <a:latin typeface="Times New Roman" panose="02020603050405020304" pitchFamily="18" charset="0"/>
                <a:cs typeface="Times New Roman" panose="02020603050405020304" pitchFamily="18" charset="0"/>
              </a:rPr>
              <a:t>leg</a:t>
            </a:r>
            <a:r>
              <a:rPr lang="tr-TR" dirty="0">
                <a:latin typeface="Times New Roman" panose="02020603050405020304" pitchFamily="18" charset="0"/>
                <a:cs typeface="Times New Roman" panose="02020603050405020304" pitchFamily="18" charset="0"/>
              </a:rPr>
              <a:t> </a:t>
            </a:r>
            <a:r>
              <a:rPr lang="tr-TR" dirty="0" err="1">
                <a:latin typeface="Times New Roman" panose="02020603050405020304" pitchFamily="18" charset="0"/>
                <a:cs typeface="Times New Roman" panose="02020603050405020304" pitchFamily="18" charset="0"/>
              </a:rPr>
              <a:t>should</a:t>
            </a:r>
            <a:r>
              <a:rPr lang="tr-TR" dirty="0">
                <a:latin typeface="Times New Roman" panose="02020603050405020304" pitchFamily="18" charset="0"/>
                <a:cs typeface="Times New Roman" panose="02020603050405020304" pitchFamily="18" charset="0"/>
              </a:rPr>
              <a:t> be </a:t>
            </a:r>
            <a:r>
              <a:rPr lang="tr-TR" dirty="0" err="1">
                <a:latin typeface="Times New Roman" panose="02020603050405020304" pitchFamily="18" charset="0"/>
                <a:cs typeface="Times New Roman" panose="02020603050405020304" pitchFamily="18" charset="0"/>
              </a:rPr>
              <a:t>calculated</a:t>
            </a:r>
            <a:r>
              <a:rPr lang="tr-TR" dirty="0">
                <a:latin typeface="Times New Roman" panose="02020603050405020304" pitchFamily="18" charset="0"/>
                <a:cs typeface="Times New Roman" panose="02020603050405020304" pitchFamily="18" charset="0"/>
              </a:rPr>
              <a:t> as: </a:t>
            </a:r>
          </a:p>
          <a:p>
            <a:endParaRPr lang="en-US" dirty="0">
              <a:latin typeface="Times New Roman" panose="02020603050405020304" pitchFamily="18" charset="0"/>
              <a:cs typeface="Times New Roman" panose="02020603050405020304" pitchFamily="18" charset="0"/>
            </a:endParaRPr>
          </a:p>
        </p:txBody>
      </p:sp>
      <p:sp>
        <p:nvSpPr>
          <p:cNvPr id="4" name="TextBox 3"/>
          <p:cNvSpPr txBox="1"/>
          <p:nvPr/>
        </p:nvSpPr>
        <p:spPr>
          <a:xfrm>
            <a:off x="3645646" y="1340200"/>
            <a:ext cx="4733365" cy="369332"/>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Step response of capacitors to each leg</a:t>
            </a:r>
            <a:endParaRPr lang="sv-SE"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EA414EB2-1DD8-401E-96DE-5071FE225EAE}"/>
                  </a:ext>
                </a:extLst>
              </p:cNvPr>
              <p:cNvSpPr/>
              <p:nvPr/>
            </p:nvSpPr>
            <p:spPr>
              <a:xfrm>
                <a:off x="2766181" y="4685244"/>
                <a:ext cx="6323398" cy="390748"/>
              </a:xfrm>
              <a:prstGeom prst="rect">
                <a:avLst/>
              </a:prstGeom>
            </p:spPr>
            <p:txBody>
              <a:bodyPr wrap="none">
                <a:spAutoFit/>
              </a:bodyPr>
              <a:lstStyle/>
              <a:p>
                <a14:m>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𝐼</m:t>
                        </m:r>
                      </m:e>
                      <m:sub>
                        <m:r>
                          <a:rPr lang="tr-TR" b="0" i="1" smtClean="0">
                            <a:latin typeface="Cambria Math" panose="02040503050406030204" pitchFamily="18" charset="0"/>
                          </a:rPr>
                          <m:t>𝑐𝑎𝑝𝐴</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en-US"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𝑆</m:t>
                            </m:r>
                          </m:e>
                          <m:sub>
                            <m:r>
                              <a:rPr lang="tr-TR" b="0" i="1" smtClean="0">
                                <a:latin typeface="Cambria Math" panose="02040503050406030204" pitchFamily="18" charset="0"/>
                              </a:rPr>
                              <m:t>𝐴</m:t>
                            </m:r>
                          </m:sub>
                        </m:sSub>
                        <m:r>
                          <a:rPr lang="en-US"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𝐼</m:t>
                            </m:r>
                          </m:e>
                          <m:sub>
                            <m:r>
                              <a:rPr lang="tr-TR" b="0" i="1" smtClean="0">
                                <a:latin typeface="Cambria Math" panose="02040503050406030204" pitchFamily="18" charset="0"/>
                              </a:rPr>
                              <m:t>𝐴</m:t>
                            </m:r>
                          </m:sub>
                        </m:sSub>
                        <m:r>
                          <a:rPr lang="en-US" b="0" i="1" smtClean="0">
                            <a:latin typeface="Cambria Math" panose="02040503050406030204" pitchFamily="18" charset="0"/>
                          </a:rPr>
                          <m:t> )</m:t>
                        </m:r>
                        <m:r>
                          <a:rPr lang="tr-TR" b="0" i="1" smtClean="0">
                            <a:latin typeface="Cambria Math" panose="02040503050406030204" pitchFamily="18" charset="0"/>
                          </a:rPr>
                          <m:t>𝐻</m:t>
                        </m:r>
                      </m:e>
                      <m:sub>
                        <m:r>
                          <a:rPr lang="en-US" b="0" i="1" smtClean="0">
                            <a:latin typeface="Cambria Math" panose="02040503050406030204" pitchFamily="18" charset="0"/>
                          </a:rPr>
                          <m:t>1</m:t>
                        </m:r>
                        <m:r>
                          <a:rPr lang="tr-TR" b="0" i="1" smtClean="0">
                            <a:latin typeface="Cambria Math" panose="02040503050406030204" pitchFamily="18" charset="0"/>
                          </a:rPr>
                          <m:t>𝐴</m:t>
                        </m:r>
                      </m:sub>
                    </m:sSub>
                    <m:d>
                      <m:dPr>
                        <m:ctrlPr>
                          <a:rPr lang="tr-TR" b="0" i="1" smtClean="0">
                            <a:latin typeface="Cambria Math" panose="02040503050406030204" pitchFamily="18" charset="0"/>
                          </a:rPr>
                        </m:ctrlPr>
                      </m:dPr>
                      <m:e>
                        <m:r>
                          <a:rPr lang="tr-TR" b="0" i="1" smtClean="0">
                            <a:latin typeface="Cambria Math" panose="02040503050406030204" pitchFamily="18" charset="0"/>
                          </a:rPr>
                          <m:t>𝜔</m:t>
                        </m:r>
                      </m:e>
                    </m:d>
                    <m:r>
                      <a:rPr lang="tr-TR" b="0" i="0" smtClean="0">
                        <a:latin typeface="Cambria Math" panose="02040503050406030204" pitchFamily="18" charset="0"/>
                      </a:rPr>
                      <m:t>+</m:t>
                    </m:r>
                    <m:sSub>
                      <m:sSubPr>
                        <m:ctrlPr>
                          <a:rPr lang="tr-TR" i="1">
                            <a:latin typeface="Cambria Math" panose="02040503050406030204" pitchFamily="18" charset="0"/>
                          </a:rPr>
                        </m:ctrlPr>
                      </m:sSubPr>
                      <m:e>
                        <m:r>
                          <a:rPr lang="en-US"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𝑆</m:t>
                            </m:r>
                          </m:e>
                          <m:sub>
                            <m:r>
                              <a:rPr lang="en-US" b="0" i="1" smtClean="0">
                                <a:latin typeface="Cambria Math" panose="02040503050406030204" pitchFamily="18" charset="0"/>
                              </a:rPr>
                              <m:t>𝐵</m:t>
                            </m:r>
                          </m:sub>
                        </m:sSub>
                        <m:r>
                          <a:rPr lang="en-US"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𝐼</m:t>
                            </m:r>
                          </m:e>
                          <m:sub>
                            <m:r>
                              <a:rPr lang="en-US" b="0" i="1" smtClean="0">
                                <a:latin typeface="Cambria Math" panose="02040503050406030204" pitchFamily="18" charset="0"/>
                              </a:rPr>
                              <m:t>𝐵</m:t>
                            </m:r>
                          </m:sub>
                        </m:sSub>
                        <m:r>
                          <a:rPr lang="en-US" i="1">
                            <a:latin typeface="Cambria Math" panose="02040503050406030204" pitchFamily="18" charset="0"/>
                          </a:rPr>
                          <m:t> )</m:t>
                        </m:r>
                        <m:r>
                          <a:rPr lang="tr-TR" i="1">
                            <a:latin typeface="Cambria Math" panose="02040503050406030204" pitchFamily="18" charset="0"/>
                          </a:rPr>
                          <m:t>𝐻</m:t>
                        </m:r>
                      </m:e>
                      <m:sub>
                        <m:r>
                          <a:rPr lang="en-US" i="1">
                            <a:latin typeface="Cambria Math" panose="02040503050406030204" pitchFamily="18" charset="0"/>
                          </a:rPr>
                          <m:t>1</m:t>
                        </m:r>
                        <m:r>
                          <a:rPr lang="en-US" b="0" i="1" smtClean="0">
                            <a:latin typeface="Cambria Math" panose="02040503050406030204" pitchFamily="18" charset="0"/>
                          </a:rPr>
                          <m:t>𝐵</m:t>
                        </m:r>
                      </m:sub>
                    </m:sSub>
                    <m:d>
                      <m:dPr>
                        <m:ctrlPr>
                          <a:rPr lang="tr-TR" i="1">
                            <a:latin typeface="Cambria Math" panose="02040503050406030204" pitchFamily="18" charset="0"/>
                          </a:rPr>
                        </m:ctrlPr>
                      </m:dPr>
                      <m:e>
                        <m:r>
                          <a:rPr lang="tr-TR" i="1">
                            <a:latin typeface="Cambria Math" panose="02040503050406030204" pitchFamily="18" charset="0"/>
                          </a:rPr>
                          <m:t>𝜔</m:t>
                        </m:r>
                      </m:e>
                    </m:d>
                  </m:oMath>
                </a14:m>
                <a:r>
                  <a:rPr lang="en-US" dirty="0" smtClean="0"/>
                  <a:t>+</a:t>
                </a:r>
                <a14:m>
                  <m:oMath xmlns:m="http://schemas.openxmlformats.org/officeDocument/2006/math">
                    <m:sSub>
                      <m:sSubPr>
                        <m:ctrlPr>
                          <a:rPr lang="tr-TR" i="1">
                            <a:latin typeface="Cambria Math" panose="02040503050406030204" pitchFamily="18" charset="0"/>
                          </a:rPr>
                        </m:ctrlPr>
                      </m:sSubPr>
                      <m:e>
                        <m:r>
                          <a:rPr lang="en-US"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𝑆</m:t>
                            </m:r>
                          </m:e>
                          <m:sub>
                            <m:r>
                              <a:rPr lang="en-US" b="0" i="1" smtClean="0">
                                <a:latin typeface="Cambria Math" panose="02040503050406030204" pitchFamily="18" charset="0"/>
                              </a:rPr>
                              <m:t>𝐶</m:t>
                            </m:r>
                          </m:sub>
                        </m:sSub>
                        <m:r>
                          <a:rPr lang="en-US"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𝐼</m:t>
                            </m:r>
                          </m:e>
                          <m:sub>
                            <m:r>
                              <a:rPr lang="en-US" b="0" i="1" smtClean="0">
                                <a:latin typeface="Cambria Math" panose="02040503050406030204" pitchFamily="18" charset="0"/>
                              </a:rPr>
                              <m:t>𝐶</m:t>
                            </m:r>
                          </m:sub>
                        </m:sSub>
                        <m:r>
                          <a:rPr lang="en-US" i="1">
                            <a:latin typeface="Cambria Math" panose="02040503050406030204" pitchFamily="18" charset="0"/>
                          </a:rPr>
                          <m:t> )</m:t>
                        </m:r>
                        <m:r>
                          <a:rPr lang="tr-TR" i="1">
                            <a:latin typeface="Cambria Math" panose="02040503050406030204" pitchFamily="18" charset="0"/>
                          </a:rPr>
                          <m:t>𝐻</m:t>
                        </m:r>
                      </m:e>
                      <m:sub>
                        <m:r>
                          <a:rPr lang="en-US" i="1">
                            <a:latin typeface="Cambria Math" panose="02040503050406030204" pitchFamily="18" charset="0"/>
                          </a:rPr>
                          <m:t>1</m:t>
                        </m:r>
                        <m:r>
                          <a:rPr lang="en-US" b="0" i="1" smtClean="0">
                            <a:latin typeface="Cambria Math" panose="02040503050406030204" pitchFamily="18" charset="0"/>
                          </a:rPr>
                          <m:t>𝐶</m:t>
                        </m:r>
                      </m:sub>
                    </m:sSub>
                    <m:d>
                      <m:dPr>
                        <m:ctrlPr>
                          <a:rPr lang="tr-TR" i="1">
                            <a:latin typeface="Cambria Math" panose="02040503050406030204" pitchFamily="18" charset="0"/>
                          </a:rPr>
                        </m:ctrlPr>
                      </m:dPr>
                      <m:e>
                        <m:r>
                          <a:rPr lang="tr-TR" i="1">
                            <a:latin typeface="Cambria Math" panose="02040503050406030204" pitchFamily="18" charset="0"/>
                          </a:rPr>
                          <m:t>𝜔</m:t>
                        </m:r>
                      </m:e>
                    </m:d>
                  </m:oMath>
                </a14:m>
                <a:endParaRPr lang="en-US" dirty="0"/>
              </a:p>
            </p:txBody>
          </p:sp>
        </mc:Choice>
        <mc:Fallback xmlns="">
          <p:sp>
            <p:nvSpPr>
              <p:cNvPr id="12" name="Rectangle 11">
                <a:extLst>
                  <a:ext uri="{FF2B5EF4-FFF2-40B4-BE49-F238E27FC236}">
                    <a16:creationId xmlns:a16="http://schemas.microsoft.com/office/drawing/2014/main" id="{EA414EB2-1DD8-401E-96DE-5071FE225EAE}"/>
                  </a:ext>
                </a:extLst>
              </p:cNvPr>
              <p:cNvSpPr>
                <a:spLocks noRot="1" noChangeAspect="1" noMove="1" noResize="1" noEditPoints="1" noAdjustHandles="1" noChangeArrowheads="1" noChangeShapeType="1" noTextEdit="1"/>
              </p:cNvSpPr>
              <p:nvPr/>
            </p:nvSpPr>
            <p:spPr>
              <a:xfrm>
                <a:off x="2766181" y="4685244"/>
                <a:ext cx="6323398" cy="390748"/>
              </a:xfrm>
              <a:prstGeom prst="rect">
                <a:avLst/>
              </a:prstGeom>
              <a:blipFill>
                <a:blip r:embed="rId3"/>
                <a:stretch>
                  <a:fillRect t="-9375" b="-18750"/>
                </a:stretch>
              </a:blipFill>
            </p:spPr>
            <p:txBody>
              <a:bodyPr/>
              <a:lstStyle/>
              <a:p>
                <a:r>
                  <a:rPr lang="sv-SE">
                    <a:noFill/>
                  </a:rPr>
                  <a:t> </a:t>
                </a:r>
              </a:p>
            </p:txBody>
          </p:sp>
        </mc:Fallback>
      </mc:AlternateContent>
    </p:spTree>
    <p:extLst>
      <p:ext uri="{BB962C8B-B14F-4D97-AF65-F5344CB8AC3E}">
        <p14:creationId xmlns:p14="http://schemas.microsoft.com/office/powerpoint/2010/main" val="7711643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257175" y="832247"/>
            <a:ext cx="4264025" cy="3198019"/>
          </a:xfrm>
          <a:prstGeom prst="rect">
            <a:avLst/>
          </a:prstGeom>
        </p:spPr>
      </p:pic>
      <p:pic>
        <p:nvPicPr>
          <p:cNvPr id="10" name="Picture 9"/>
          <p:cNvPicPr>
            <a:picLocks noChangeAspect="1"/>
          </p:cNvPicPr>
          <p:nvPr/>
        </p:nvPicPr>
        <p:blipFill>
          <a:blip r:embed="rId3"/>
          <a:stretch>
            <a:fillRect/>
          </a:stretch>
        </p:blipFill>
        <p:spPr>
          <a:xfrm>
            <a:off x="8070850" y="990600"/>
            <a:ext cx="3896783" cy="2922587"/>
          </a:xfrm>
          <a:prstGeom prst="rect">
            <a:avLst/>
          </a:prstGeom>
        </p:spPr>
      </p:pic>
      <p:pic>
        <p:nvPicPr>
          <p:cNvPr id="11" name="Picture 10"/>
          <p:cNvPicPr>
            <a:picLocks noChangeAspect="1"/>
          </p:cNvPicPr>
          <p:nvPr/>
        </p:nvPicPr>
        <p:blipFill>
          <a:blip r:embed="rId4"/>
          <a:stretch>
            <a:fillRect/>
          </a:stretch>
        </p:blipFill>
        <p:spPr>
          <a:xfrm>
            <a:off x="4327525" y="3421530"/>
            <a:ext cx="3937000" cy="2952750"/>
          </a:xfrm>
          <a:prstGeom prst="rect">
            <a:avLst/>
          </a:prstGeom>
        </p:spPr>
      </p:pic>
      <p:sp>
        <p:nvSpPr>
          <p:cNvPr id="13" name="Title 1"/>
          <p:cNvSpPr>
            <a:spLocks noGrp="1"/>
          </p:cNvSpPr>
          <p:nvPr>
            <p:ph type="title"/>
          </p:nvPr>
        </p:nvSpPr>
        <p:spPr>
          <a:xfrm>
            <a:off x="1072216" y="252950"/>
            <a:ext cx="10990263" cy="568412"/>
          </a:xfrm>
        </p:spPr>
        <p:txBody>
          <a:bodyPr/>
          <a:lstStyle/>
          <a:p>
            <a:r>
              <a:rPr lang="en-US" dirty="0" smtClean="0">
                <a:latin typeface="Times New Roman" panose="02020603050405020304" pitchFamily="18" charset="0"/>
                <a:cs typeface="Times New Roman" panose="02020603050405020304" pitchFamily="18" charset="0"/>
              </a:rPr>
              <a:t>DC Link Current (Positive/Negative/Zero Sequences)</a:t>
            </a:r>
            <a:endParaRPr lang="sv-SE" dirty="0">
              <a:latin typeface="Times New Roman" panose="02020603050405020304" pitchFamily="18" charset="0"/>
              <a:cs typeface="Times New Roman" panose="02020603050405020304" pitchFamily="18" charset="0"/>
            </a:endParaRPr>
          </a:p>
        </p:txBody>
      </p:sp>
      <p:sp>
        <p:nvSpPr>
          <p:cNvPr id="2" name="TextBox 1"/>
          <p:cNvSpPr txBox="1"/>
          <p:nvPr/>
        </p:nvSpPr>
        <p:spPr>
          <a:xfrm>
            <a:off x="5931273" y="6479797"/>
            <a:ext cx="2862730" cy="369332"/>
          </a:xfrm>
          <a:prstGeom prst="rect">
            <a:avLst/>
          </a:prstGeom>
          <a:noFill/>
        </p:spPr>
        <p:txBody>
          <a:bodyPr wrap="square" rtlCol="0">
            <a:spAutoFit/>
          </a:bodyPr>
          <a:lstStyle/>
          <a:p>
            <a:r>
              <a:rPr lang="en-US" dirty="0" smtClean="0"/>
              <a:t>6</a:t>
            </a:r>
            <a:r>
              <a:rPr lang="en-US" baseline="30000" dirty="0" smtClean="0"/>
              <a:t>th</a:t>
            </a:r>
            <a:r>
              <a:rPr lang="en-US" dirty="0" smtClean="0"/>
              <a:t> 12</a:t>
            </a:r>
            <a:r>
              <a:rPr lang="en-US" baseline="30000" dirty="0" smtClean="0"/>
              <a:t>th</a:t>
            </a:r>
            <a:r>
              <a:rPr lang="en-US" dirty="0" smtClean="0">
                <a:sym typeface="Wingdings" panose="05000000000000000000" pitchFamily="2" charset="2"/>
              </a:rPr>
              <a:t>  </a:t>
            </a:r>
            <a:endParaRPr lang="sv-SE" dirty="0"/>
          </a:p>
        </p:txBody>
      </p:sp>
    </p:spTree>
    <p:extLst>
      <p:ext uri="{BB962C8B-B14F-4D97-AF65-F5344CB8AC3E}">
        <p14:creationId xmlns:p14="http://schemas.microsoft.com/office/powerpoint/2010/main" val="22914261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240" y="300762"/>
            <a:ext cx="10990263" cy="568412"/>
          </a:xfrm>
        </p:spPr>
        <p:txBody>
          <a:bodyPr/>
          <a:lstStyle/>
          <a:p>
            <a:r>
              <a:rPr lang="en-US" dirty="0" smtClean="0"/>
              <a:t>Without Battery Model</a:t>
            </a:r>
            <a:endParaRPr lang="sv-SE" dirty="0"/>
          </a:p>
        </p:txBody>
      </p:sp>
      <p:pic>
        <p:nvPicPr>
          <p:cNvPr id="5" name="Picture 4"/>
          <p:cNvPicPr>
            <a:picLocks noChangeAspect="1"/>
          </p:cNvPicPr>
          <p:nvPr/>
        </p:nvPicPr>
        <p:blipFill>
          <a:blip r:embed="rId2"/>
          <a:stretch>
            <a:fillRect/>
          </a:stretch>
        </p:blipFill>
        <p:spPr>
          <a:xfrm>
            <a:off x="685800" y="1799292"/>
            <a:ext cx="5334000" cy="4000500"/>
          </a:xfrm>
          <a:prstGeom prst="rect">
            <a:avLst/>
          </a:prstGeom>
        </p:spPr>
      </p:pic>
      <p:sp>
        <p:nvSpPr>
          <p:cNvPr id="6" name="TextBox 5"/>
          <p:cNvSpPr txBox="1"/>
          <p:nvPr/>
        </p:nvSpPr>
        <p:spPr>
          <a:xfrm>
            <a:off x="1710036" y="1543836"/>
            <a:ext cx="3583232" cy="369332"/>
          </a:xfrm>
          <a:prstGeom prst="rect">
            <a:avLst/>
          </a:prstGeom>
          <a:noFill/>
        </p:spPr>
        <p:txBody>
          <a:bodyPr wrap="square" rtlCol="0">
            <a:spAutoFit/>
          </a:bodyPr>
          <a:lstStyle/>
          <a:p>
            <a:r>
              <a:rPr lang="en-US" dirty="0" smtClean="0"/>
              <a:t>Capacitor Responses to Phase-A</a:t>
            </a:r>
            <a:endParaRPr lang="sv-SE" dirty="0"/>
          </a:p>
        </p:txBody>
      </p:sp>
      <p:pic>
        <p:nvPicPr>
          <p:cNvPr id="7" name="Picture 6"/>
          <p:cNvPicPr>
            <a:picLocks noChangeAspect="1"/>
          </p:cNvPicPr>
          <p:nvPr/>
        </p:nvPicPr>
        <p:blipFill>
          <a:blip r:embed="rId3"/>
          <a:stretch>
            <a:fillRect/>
          </a:stretch>
        </p:blipFill>
        <p:spPr>
          <a:xfrm>
            <a:off x="6453094" y="1799292"/>
            <a:ext cx="5334000" cy="4000500"/>
          </a:xfrm>
          <a:prstGeom prst="rect">
            <a:avLst/>
          </a:prstGeom>
        </p:spPr>
      </p:pic>
      <p:sp>
        <p:nvSpPr>
          <p:cNvPr id="8" name="TextBox 7"/>
          <p:cNvSpPr txBox="1"/>
          <p:nvPr/>
        </p:nvSpPr>
        <p:spPr>
          <a:xfrm>
            <a:off x="7203692" y="1543836"/>
            <a:ext cx="4695621" cy="369332"/>
          </a:xfrm>
          <a:prstGeom prst="rect">
            <a:avLst/>
          </a:prstGeom>
          <a:noFill/>
        </p:spPr>
        <p:txBody>
          <a:bodyPr wrap="square" rtlCol="0">
            <a:spAutoFit/>
          </a:bodyPr>
          <a:lstStyle/>
          <a:p>
            <a:r>
              <a:rPr lang="en-US" dirty="0" smtClean="0"/>
              <a:t>Capacitor-1 Response to all phases</a:t>
            </a:r>
            <a:endParaRPr lang="sv-SE" dirty="0"/>
          </a:p>
        </p:txBody>
      </p:sp>
    </p:spTree>
    <p:extLst>
      <p:ext uri="{BB962C8B-B14F-4D97-AF65-F5344CB8AC3E}">
        <p14:creationId xmlns:p14="http://schemas.microsoft.com/office/powerpoint/2010/main" val="32228544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2"/>
          <a:stretch>
            <a:fillRect/>
          </a:stretch>
        </p:blipFill>
        <p:spPr>
          <a:xfrm>
            <a:off x="3757706" y="2444071"/>
            <a:ext cx="5334000" cy="4000500"/>
          </a:xfrm>
          <a:prstGeom prst="rect">
            <a:avLst/>
          </a:prstGeom>
        </p:spPr>
      </p:pic>
      <p:sp>
        <p:nvSpPr>
          <p:cNvPr id="7" name="TextBox 6"/>
          <p:cNvSpPr txBox="1"/>
          <p:nvPr/>
        </p:nvSpPr>
        <p:spPr>
          <a:xfrm>
            <a:off x="4226129" y="2444071"/>
            <a:ext cx="2277374" cy="307777"/>
          </a:xfrm>
          <a:prstGeom prst="rect">
            <a:avLst/>
          </a:prstGeom>
          <a:noFill/>
        </p:spPr>
        <p:txBody>
          <a:bodyPr wrap="square" rtlCol="0">
            <a:spAutoFit/>
          </a:bodyPr>
          <a:lstStyle/>
          <a:p>
            <a:pPr algn="ctr"/>
            <a:r>
              <a:rPr lang="sv-SE" sz="1400" dirty="0" err="1" smtClean="0">
                <a:latin typeface="Times New Roman" panose="02020603050405020304" pitchFamily="18" charset="0"/>
                <a:cs typeface="Times New Roman" panose="02020603050405020304" pitchFamily="18" charset="0"/>
              </a:rPr>
              <a:t>Low</a:t>
            </a:r>
            <a:r>
              <a:rPr lang="sv-SE" sz="1400" dirty="0" smtClean="0">
                <a:latin typeface="Times New Roman" panose="02020603050405020304" pitchFamily="18" charset="0"/>
                <a:cs typeface="Times New Roman" panose="02020603050405020304" pitchFamily="18" charset="0"/>
              </a:rPr>
              <a:t> </a:t>
            </a:r>
            <a:r>
              <a:rPr lang="sv-SE" sz="1400" dirty="0" err="1" smtClean="0">
                <a:latin typeface="Times New Roman" panose="02020603050405020304" pitchFamily="18" charset="0"/>
                <a:cs typeface="Times New Roman" panose="02020603050405020304" pitchFamily="18" charset="0"/>
              </a:rPr>
              <a:t>frequency</a:t>
            </a:r>
            <a:r>
              <a:rPr lang="sv-SE" sz="1400" dirty="0" smtClean="0">
                <a:latin typeface="Times New Roman" panose="02020603050405020304" pitchFamily="18" charset="0"/>
                <a:cs typeface="Times New Roman" panose="02020603050405020304" pitchFamily="18" charset="0"/>
              </a:rPr>
              <a:t> </a:t>
            </a:r>
            <a:r>
              <a:rPr lang="sv-SE" sz="1400" dirty="0" err="1" smtClean="0">
                <a:latin typeface="Times New Roman" panose="02020603050405020304" pitchFamily="18" charset="0"/>
                <a:cs typeface="Times New Roman" panose="02020603050405020304" pitchFamily="18" charset="0"/>
              </a:rPr>
              <a:t>resonance</a:t>
            </a:r>
            <a:endParaRPr lang="sv-SE" sz="1400" dirty="0">
              <a:latin typeface="Times New Roman" panose="02020603050405020304" pitchFamily="18" charset="0"/>
              <a:cs typeface="Times New Roman" panose="02020603050405020304" pitchFamily="18" charset="0"/>
            </a:endParaRPr>
          </a:p>
        </p:txBody>
      </p:sp>
      <p:sp>
        <p:nvSpPr>
          <p:cNvPr id="8" name="TextBox 7"/>
          <p:cNvSpPr txBox="1"/>
          <p:nvPr/>
        </p:nvSpPr>
        <p:spPr>
          <a:xfrm>
            <a:off x="6711670" y="2121248"/>
            <a:ext cx="2277374" cy="523220"/>
          </a:xfrm>
          <a:prstGeom prst="rect">
            <a:avLst/>
          </a:prstGeom>
          <a:noFill/>
        </p:spPr>
        <p:txBody>
          <a:bodyPr wrap="square" rtlCol="0">
            <a:spAutoFit/>
          </a:bodyPr>
          <a:lstStyle/>
          <a:p>
            <a:pPr algn="ctr"/>
            <a:r>
              <a:rPr lang="sv-SE" sz="1400" dirty="0" err="1" smtClean="0">
                <a:latin typeface="Times New Roman" panose="02020603050405020304" pitchFamily="18" charset="0"/>
                <a:cs typeface="Times New Roman" panose="02020603050405020304" pitchFamily="18" charset="0"/>
              </a:rPr>
              <a:t>High</a:t>
            </a:r>
            <a:r>
              <a:rPr lang="sv-SE" sz="1400" dirty="0" smtClean="0">
                <a:latin typeface="Times New Roman" panose="02020603050405020304" pitchFamily="18" charset="0"/>
                <a:cs typeface="Times New Roman" panose="02020603050405020304" pitchFamily="18" charset="0"/>
              </a:rPr>
              <a:t> </a:t>
            </a:r>
            <a:r>
              <a:rPr lang="sv-SE" sz="1400" dirty="0" err="1" smtClean="0">
                <a:latin typeface="Times New Roman" panose="02020603050405020304" pitchFamily="18" charset="0"/>
                <a:cs typeface="Times New Roman" panose="02020603050405020304" pitchFamily="18" charset="0"/>
              </a:rPr>
              <a:t>frequency</a:t>
            </a:r>
            <a:endParaRPr lang="sv-SE" sz="1400" dirty="0" smtClean="0">
              <a:latin typeface="Times New Roman" panose="02020603050405020304" pitchFamily="18" charset="0"/>
              <a:cs typeface="Times New Roman" panose="02020603050405020304" pitchFamily="18" charset="0"/>
            </a:endParaRPr>
          </a:p>
          <a:p>
            <a:pPr algn="ctr"/>
            <a:r>
              <a:rPr lang="sv-SE" sz="1400" dirty="0" smtClean="0">
                <a:latin typeface="Times New Roman" panose="02020603050405020304" pitchFamily="18" charset="0"/>
                <a:cs typeface="Times New Roman" panose="02020603050405020304" pitchFamily="18" charset="0"/>
              </a:rPr>
              <a:t> </a:t>
            </a:r>
            <a:r>
              <a:rPr lang="sv-SE" sz="1400" dirty="0" err="1" smtClean="0">
                <a:latin typeface="Times New Roman" panose="02020603050405020304" pitchFamily="18" charset="0"/>
                <a:cs typeface="Times New Roman" panose="02020603050405020304" pitchFamily="18" charset="0"/>
              </a:rPr>
              <a:t>resonance</a:t>
            </a:r>
            <a:endParaRPr lang="sv-SE" sz="1400" dirty="0">
              <a:latin typeface="Times New Roman" panose="02020603050405020304" pitchFamily="18" charset="0"/>
              <a:cs typeface="Times New Roman" panose="02020603050405020304" pitchFamily="18" charset="0"/>
            </a:endParaRPr>
          </a:p>
        </p:txBody>
      </p:sp>
      <p:cxnSp>
        <p:nvCxnSpPr>
          <p:cNvPr id="4" name="Straight Arrow Connector 3"/>
          <p:cNvCxnSpPr/>
          <p:nvPr/>
        </p:nvCxnSpPr>
        <p:spPr>
          <a:xfrm>
            <a:off x="5404971" y="2767106"/>
            <a:ext cx="887281" cy="50202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16" idx="2"/>
          </p:cNvCxnSpPr>
          <p:nvPr/>
        </p:nvCxnSpPr>
        <p:spPr>
          <a:xfrm>
            <a:off x="7933540" y="3823526"/>
            <a:ext cx="68954" cy="12082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itle 1"/>
          <p:cNvSpPr>
            <a:spLocks noGrp="1"/>
          </p:cNvSpPr>
          <p:nvPr>
            <p:ph type="title"/>
          </p:nvPr>
        </p:nvSpPr>
        <p:spPr>
          <a:xfrm>
            <a:off x="1072216" y="252950"/>
            <a:ext cx="10990263" cy="568412"/>
          </a:xfrm>
        </p:spPr>
        <p:txBody>
          <a:bodyPr/>
          <a:lstStyle/>
          <a:p>
            <a:r>
              <a:rPr lang="en-US" dirty="0" smtClean="0">
                <a:latin typeface="Times New Roman" panose="02020603050405020304" pitchFamily="18" charset="0"/>
                <a:cs typeface="Times New Roman" panose="02020603050405020304" pitchFamily="18" charset="0"/>
              </a:rPr>
              <a:t>The Effect of the Battery Connection and </a:t>
            </a:r>
            <a:r>
              <a:rPr lang="en-US" dirty="0" err="1" smtClean="0">
                <a:latin typeface="Times New Roman" panose="02020603050405020304" pitchFamily="18" charset="0"/>
                <a:cs typeface="Times New Roman" panose="02020603050405020304" pitchFamily="18" charset="0"/>
              </a:rPr>
              <a:t>Parasitics</a:t>
            </a:r>
            <a:endParaRPr lang="sv-SE" dirty="0">
              <a:latin typeface="Times New Roman" panose="02020603050405020304" pitchFamily="18" charset="0"/>
              <a:cs typeface="Times New Roman" panose="02020603050405020304" pitchFamily="18" charset="0"/>
            </a:endParaRPr>
          </a:p>
        </p:txBody>
      </p:sp>
      <p:sp>
        <p:nvSpPr>
          <p:cNvPr id="3" name="TextBox 2"/>
          <p:cNvSpPr txBox="1"/>
          <p:nvPr/>
        </p:nvSpPr>
        <p:spPr>
          <a:xfrm>
            <a:off x="4771269" y="1614856"/>
            <a:ext cx="4695621" cy="369332"/>
          </a:xfrm>
          <a:prstGeom prst="rect">
            <a:avLst/>
          </a:prstGeom>
          <a:noFill/>
        </p:spPr>
        <p:txBody>
          <a:bodyPr wrap="square" rtlCol="0">
            <a:spAutoFit/>
          </a:bodyPr>
          <a:lstStyle/>
          <a:p>
            <a:r>
              <a:rPr lang="en-US" dirty="0" smtClean="0"/>
              <a:t>Capacitor-1 Response to all phases</a:t>
            </a:r>
            <a:endParaRPr lang="sv-SE" dirty="0"/>
          </a:p>
        </p:txBody>
      </p:sp>
      <p:pic>
        <p:nvPicPr>
          <p:cNvPr id="16" name="Picture 15"/>
          <p:cNvPicPr>
            <a:picLocks noChangeAspect="1"/>
          </p:cNvPicPr>
          <p:nvPr/>
        </p:nvPicPr>
        <p:blipFill>
          <a:blip r:embed="rId3"/>
          <a:stretch>
            <a:fillRect/>
          </a:stretch>
        </p:blipFill>
        <p:spPr>
          <a:xfrm>
            <a:off x="7219087" y="2751848"/>
            <a:ext cx="1428905" cy="1071678"/>
          </a:xfrm>
          <a:prstGeom prst="rect">
            <a:avLst/>
          </a:prstGeom>
        </p:spPr>
      </p:pic>
    </p:spTree>
    <p:extLst>
      <p:ext uri="{BB962C8B-B14F-4D97-AF65-F5344CB8AC3E}">
        <p14:creationId xmlns:p14="http://schemas.microsoft.com/office/powerpoint/2010/main" val="11821011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625252" y="1984562"/>
            <a:ext cx="5334000" cy="4000500"/>
          </a:xfrm>
          <a:prstGeom prst="rect">
            <a:avLst/>
          </a:prstGeom>
        </p:spPr>
      </p:pic>
      <p:pic>
        <p:nvPicPr>
          <p:cNvPr id="6" name="Picture 5"/>
          <p:cNvPicPr>
            <a:picLocks noChangeAspect="1"/>
          </p:cNvPicPr>
          <p:nvPr/>
        </p:nvPicPr>
        <p:blipFill>
          <a:blip r:embed="rId3"/>
          <a:stretch>
            <a:fillRect/>
          </a:stretch>
        </p:blipFill>
        <p:spPr>
          <a:xfrm>
            <a:off x="7104380" y="2292019"/>
            <a:ext cx="1406406" cy="1054805"/>
          </a:xfrm>
          <a:prstGeom prst="rect">
            <a:avLst/>
          </a:prstGeom>
        </p:spPr>
      </p:pic>
      <p:sp>
        <p:nvSpPr>
          <p:cNvPr id="7" name="TextBox 6"/>
          <p:cNvSpPr txBox="1"/>
          <p:nvPr/>
        </p:nvSpPr>
        <p:spPr>
          <a:xfrm>
            <a:off x="4226129" y="2444071"/>
            <a:ext cx="2277374" cy="307777"/>
          </a:xfrm>
          <a:prstGeom prst="rect">
            <a:avLst/>
          </a:prstGeom>
          <a:noFill/>
        </p:spPr>
        <p:txBody>
          <a:bodyPr wrap="square" rtlCol="0">
            <a:spAutoFit/>
          </a:bodyPr>
          <a:lstStyle/>
          <a:p>
            <a:pPr algn="ctr"/>
            <a:r>
              <a:rPr lang="sv-SE" sz="1400" dirty="0" err="1" smtClean="0">
                <a:latin typeface="Times New Roman" panose="02020603050405020304" pitchFamily="18" charset="0"/>
                <a:cs typeface="Times New Roman" panose="02020603050405020304" pitchFamily="18" charset="0"/>
              </a:rPr>
              <a:t>Low</a:t>
            </a:r>
            <a:r>
              <a:rPr lang="sv-SE" sz="1400" dirty="0" smtClean="0">
                <a:latin typeface="Times New Roman" panose="02020603050405020304" pitchFamily="18" charset="0"/>
                <a:cs typeface="Times New Roman" panose="02020603050405020304" pitchFamily="18" charset="0"/>
              </a:rPr>
              <a:t> </a:t>
            </a:r>
            <a:r>
              <a:rPr lang="sv-SE" sz="1400" dirty="0" err="1" smtClean="0">
                <a:latin typeface="Times New Roman" panose="02020603050405020304" pitchFamily="18" charset="0"/>
                <a:cs typeface="Times New Roman" panose="02020603050405020304" pitchFamily="18" charset="0"/>
              </a:rPr>
              <a:t>frequency</a:t>
            </a:r>
            <a:r>
              <a:rPr lang="sv-SE" sz="1400" dirty="0" smtClean="0">
                <a:latin typeface="Times New Roman" panose="02020603050405020304" pitchFamily="18" charset="0"/>
                <a:cs typeface="Times New Roman" panose="02020603050405020304" pitchFamily="18" charset="0"/>
              </a:rPr>
              <a:t> </a:t>
            </a:r>
            <a:r>
              <a:rPr lang="sv-SE" sz="1400" dirty="0" err="1" smtClean="0">
                <a:latin typeface="Times New Roman" panose="02020603050405020304" pitchFamily="18" charset="0"/>
                <a:cs typeface="Times New Roman" panose="02020603050405020304" pitchFamily="18" charset="0"/>
              </a:rPr>
              <a:t>resonance</a:t>
            </a:r>
            <a:endParaRPr lang="sv-SE" sz="1400" dirty="0">
              <a:latin typeface="Times New Roman" panose="02020603050405020304" pitchFamily="18" charset="0"/>
              <a:cs typeface="Times New Roman" panose="02020603050405020304" pitchFamily="18" charset="0"/>
            </a:endParaRPr>
          </a:p>
        </p:txBody>
      </p:sp>
      <p:sp>
        <p:nvSpPr>
          <p:cNvPr id="8" name="TextBox 7"/>
          <p:cNvSpPr txBox="1"/>
          <p:nvPr/>
        </p:nvSpPr>
        <p:spPr>
          <a:xfrm>
            <a:off x="6716637" y="1722952"/>
            <a:ext cx="2277374" cy="523220"/>
          </a:xfrm>
          <a:prstGeom prst="rect">
            <a:avLst/>
          </a:prstGeom>
          <a:noFill/>
        </p:spPr>
        <p:txBody>
          <a:bodyPr wrap="square" rtlCol="0">
            <a:spAutoFit/>
          </a:bodyPr>
          <a:lstStyle/>
          <a:p>
            <a:pPr algn="ctr"/>
            <a:r>
              <a:rPr lang="sv-SE" sz="1400" dirty="0" err="1" smtClean="0">
                <a:latin typeface="Times New Roman" panose="02020603050405020304" pitchFamily="18" charset="0"/>
                <a:cs typeface="Times New Roman" panose="02020603050405020304" pitchFamily="18" charset="0"/>
              </a:rPr>
              <a:t>High</a:t>
            </a:r>
            <a:r>
              <a:rPr lang="sv-SE" sz="1400" dirty="0" smtClean="0">
                <a:latin typeface="Times New Roman" panose="02020603050405020304" pitchFamily="18" charset="0"/>
                <a:cs typeface="Times New Roman" panose="02020603050405020304" pitchFamily="18" charset="0"/>
              </a:rPr>
              <a:t> </a:t>
            </a:r>
            <a:r>
              <a:rPr lang="sv-SE" sz="1400" dirty="0" err="1" smtClean="0">
                <a:latin typeface="Times New Roman" panose="02020603050405020304" pitchFamily="18" charset="0"/>
                <a:cs typeface="Times New Roman" panose="02020603050405020304" pitchFamily="18" charset="0"/>
              </a:rPr>
              <a:t>frequency</a:t>
            </a:r>
            <a:endParaRPr lang="sv-SE" sz="1400" dirty="0" smtClean="0">
              <a:latin typeface="Times New Roman" panose="02020603050405020304" pitchFamily="18" charset="0"/>
              <a:cs typeface="Times New Roman" panose="02020603050405020304" pitchFamily="18" charset="0"/>
            </a:endParaRPr>
          </a:p>
          <a:p>
            <a:pPr algn="ctr"/>
            <a:r>
              <a:rPr lang="sv-SE" sz="1400" dirty="0" smtClean="0">
                <a:latin typeface="Times New Roman" panose="02020603050405020304" pitchFamily="18" charset="0"/>
                <a:cs typeface="Times New Roman" panose="02020603050405020304" pitchFamily="18" charset="0"/>
              </a:rPr>
              <a:t> </a:t>
            </a:r>
            <a:r>
              <a:rPr lang="sv-SE" sz="1400" dirty="0" err="1" smtClean="0">
                <a:latin typeface="Times New Roman" panose="02020603050405020304" pitchFamily="18" charset="0"/>
                <a:cs typeface="Times New Roman" panose="02020603050405020304" pitchFamily="18" charset="0"/>
              </a:rPr>
              <a:t>resonance</a:t>
            </a:r>
            <a:endParaRPr lang="sv-SE" sz="1400" dirty="0">
              <a:latin typeface="Times New Roman" panose="02020603050405020304" pitchFamily="18" charset="0"/>
              <a:cs typeface="Times New Roman" panose="02020603050405020304" pitchFamily="18" charset="0"/>
            </a:endParaRPr>
          </a:p>
        </p:txBody>
      </p:sp>
      <p:cxnSp>
        <p:nvCxnSpPr>
          <p:cNvPr id="4" name="Straight Arrow Connector 3"/>
          <p:cNvCxnSpPr/>
          <p:nvPr/>
        </p:nvCxnSpPr>
        <p:spPr>
          <a:xfrm>
            <a:off x="5404971" y="2767106"/>
            <a:ext cx="887281" cy="50202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H="1">
            <a:off x="7845390" y="3346824"/>
            <a:ext cx="9934" cy="49513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itle 1"/>
          <p:cNvSpPr>
            <a:spLocks noGrp="1"/>
          </p:cNvSpPr>
          <p:nvPr>
            <p:ph type="title"/>
          </p:nvPr>
        </p:nvSpPr>
        <p:spPr>
          <a:xfrm>
            <a:off x="1072216" y="252950"/>
            <a:ext cx="10990263" cy="568412"/>
          </a:xfrm>
        </p:spPr>
        <p:txBody>
          <a:bodyPr/>
          <a:lstStyle/>
          <a:p>
            <a:r>
              <a:rPr lang="en-US" dirty="0" smtClean="0">
                <a:latin typeface="Times New Roman" panose="02020603050405020304" pitchFamily="18" charset="0"/>
                <a:cs typeface="Times New Roman" panose="02020603050405020304" pitchFamily="18" charset="0"/>
              </a:rPr>
              <a:t>The Effect of the Battery Connection and </a:t>
            </a:r>
            <a:r>
              <a:rPr lang="en-US" dirty="0" err="1" smtClean="0">
                <a:latin typeface="Times New Roman" panose="02020603050405020304" pitchFamily="18" charset="0"/>
                <a:cs typeface="Times New Roman" panose="02020603050405020304" pitchFamily="18" charset="0"/>
              </a:rPr>
              <a:t>Parasitics</a:t>
            </a:r>
            <a:endParaRPr lang="sv-SE" dirty="0">
              <a:latin typeface="Times New Roman" panose="02020603050405020304" pitchFamily="18" charset="0"/>
              <a:cs typeface="Times New Roman" panose="02020603050405020304" pitchFamily="18" charset="0"/>
            </a:endParaRPr>
          </a:p>
        </p:txBody>
      </p:sp>
      <p:sp>
        <p:nvSpPr>
          <p:cNvPr id="3" name="TextBox 2"/>
          <p:cNvSpPr txBox="1"/>
          <p:nvPr/>
        </p:nvSpPr>
        <p:spPr>
          <a:xfrm>
            <a:off x="4644483" y="1280871"/>
            <a:ext cx="3583232" cy="369332"/>
          </a:xfrm>
          <a:prstGeom prst="rect">
            <a:avLst/>
          </a:prstGeom>
          <a:noFill/>
        </p:spPr>
        <p:txBody>
          <a:bodyPr wrap="square" rtlCol="0">
            <a:spAutoFit/>
          </a:bodyPr>
          <a:lstStyle/>
          <a:p>
            <a:r>
              <a:rPr lang="en-US" dirty="0" smtClean="0"/>
              <a:t>Capacitor Responses to Phase-A</a:t>
            </a:r>
            <a:endParaRPr lang="sv-SE" dirty="0"/>
          </a:p>
        </p:txBody>
      </p:sp>
    </p:spTree>
    <p:extLst>
      <p:ext uri="{BB962C8B-B14F-4D97-AF65-F5344CB8AC3E}">
        <p14:creationId xmlns:p14="http://schemas.microsoft.com/office/powerpoint/2010/main" val="13072394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51100" y="1321140"/>
            <a:ext cx="3092450" cy="646331"/>
          </a:xfrm>
          <a:prstGeom prst="rect">
            <a:avLst/>
          </a:prstGeom>
          <a:noFill/>
        </p:spPr>
        <p:txBody>
          <a:bodyPr wrap="square" rtlCol="0">
            <a:spAutoFit/>
          </a:bodyPr>
          <a:lstStyle/>
          <a:p>
            <a:r>
              <a:rPr lang="en-US" dirty="0" smtClean="0"/>
              <a:t>14 kHz  </a:t>
            </a:r>
            <a:r>
              <a:rPr lang="en-US" dirty="0"/>
              <a:t>Switching</a:t>
            </a:r>
            <a:endParaRPr lang="sv-SE" dirty="0"/>
          </a:p>
          <a:p>
            <a:endParaRPr lang="sv-SE" dirty="0"/>
          </a:p>
        </p:txBody>
      </p:sp>
      <p:sp>
        <p:nvSpPr>
          <p:cNvPr id="6" name="TextBox 5"/>
          <p:cNvSpPr txBox="1"/>
          <p:nvPr/>
        </p:nvSpPr>
        <p:spPr>
          <a:xfrm>
            <a:off x="8412162" y="1290572"/>
            <a:ext cx="2871787" cy="369332"/>
          </a:xfrm>
          <a:prstGeom prst="rect">
            <a:avLst/>
          </a:prstGeom>
          <a:noFill/>
        </p:spPr>
        <p:txBody>
          <a:bodyPr wrap="square" rtlCol="0">
            <a:spAutoFit/>
          </a:bodyPr>
          <a:lstStyle/>
          <a:p>
            <a:r>
              <a:rPr lang="en-US" dirty="0" smtClean="0"/>
              <a:t>24kHz Switching</a:t>
            </a:r>
            <a:endParaRPr lang="sv-SE" dirty="0"/>
          </a:p>
        </p:txBody>
      </p:sp>
      <p:pic>
        <p:nvPicPr>
          <p:cNvPr id="7" name="Picture 6"/>
          <p:cNvPicPr>
            <a:picLocks noChangeAspect="1"/>
          </p:cNvPicPr>
          <p:nvPr/>
        </p:nvPicPr>
        <p:blipFill>
          <a:blip r:embed="rId2"/>
          <a:stretch>
            <a:fillRect/>
          </a:stretch>
        </p:blipFill>
        <p:spPr>
          <a:xfrm>
            <a:off x="6623050" y="1475238"/>
            <a:ext cx="5334000" cy="4000500"/>
          </a:xfrm>
          <a:prstGeom prst="rect">
            <a:avLst/>
          </a:prstGeom>
        </p:spPr>
      </p:pic>
      <p:pic>
        <p:nvPicPr>
          <p:cNvPr id="8" name="Picture 7"/>
          <p:cNvPicPr>
            <a:picLocks noChangeAspect="1"/>
          </p:cNvPicPr>
          <p:nvPr/>
        </p:nvPicPr>
        <p:blipFill>
          <a:blip r:embed="rId3"/>
          <a:stretch>
            <a:fillRect/>
          </a:stretch>
        </p:blipFill>
        <p:spPr>
          <a:xfrm>
            <a:off x="869950" y="1644306"/>
            <a:ext cx="4883150" cy="3662363"/>
          </a:xfrm>
          <a:prstGeom prst="rect">
            <a:avLst/>
          </a:prstGeom>
        </p:spPr>
      </p:pic>
      <p:sp>
        <p:nvSpPr>
          <p:cNvPr id="10" name="Title 1"/>
          <p:cNvSpPr>
            <a:spLocks noGrp="1"/>
          </p:cNvSpPr>
          <p:nvPr>
            <p:ph type="title"/>
          </p:nvPr>
        </p:nvSpPr>
        <p:spPr>
          <a:xfrm>
            <a:off x="1072216" y="252950"/>
            <a:ext cx="10990263" cy="568412"/>
          </a:xfrm>
        </p:spPr>
        <p:txBody>
          <a:bodyPr/>
          <a:lstStyle/>
          <a:p>
            <a:r>
              <a:rPr lang="en-US" dirty="0" smtClean="0">
                <a:latin typeface="Times New Roman" panose="02020603050405020304" pitchFamily="18" charset="0"/>
                <a:cs typeface="Times New Roman" panose="02020603050405020304" pitchFamily="18" charset="0"/>
              </a:rPr>
              <a:t>High Frequency Resonance</a:t>
            </a:r>
            <a:endParaRPr lang="sv-SE" dirty="0">
              <a:latin typeface="Times New Roman" panose="02020603050405020304" pitchFamily="18" charset="0"/>
              <a:cs typeface="Times New Roman" panose="02020603050405020304" pitchFamily="18" charset="0"/>
            </a:endParaRPr>
          </a:p>
        </p:txBody>
      </p:sp>
      <p:sp>
        <p:nvSpPr>
          <p:cNvPr id="3" name="Rectangle 2"/>
          <p:cNvSpPr/>
          <p:nvPr/>
        </p:nvSpPr>
        <p:spPr>
          <a:xfrm>
            <a:off x="2671483" y="5062071"/>
            <a:ext cx="1667435" cy="3107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 name="TextBox 3"/>
          <p:cNvSpPr txBox="1"/>
          <p:nvPr/>
        </p:nvSpPr>
        <p:spPr>
          <a:xfrm>
            <a:off x="2578799" y="5062071"/>
            <a:ext cx="2336334"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Harmonic number</a:t>
            </a:r>
            <a:endParaRPr lang="sv-SE" sz="1400" dirty="0">
              <a:latin typeface="Times New Roman" panose="02020603050405020304" pitchFamily="18" charset="0"/>
              <a:cs typeface="Times New Roman" panose="02020603050405020304" pitchFamily="18" charset="0"/>
            </a:endParaRPr>
          </a:p>
        </p:txBody>
      </p:sp>
      <p:sp>
        <p:nvSpPr>
          <p:cNvPr id="9" name="Rectangle 8"/>
          <p:cNvSpPr/>
          <p:nvPr/>
        </p:nvSpPr>
        <p:spPr>
          <a:xfrm>
            <a:off x="8609107" y="5215959"/>
            <a:ext cx="1667435" cy="3107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 name="TextBox 10"/>
          <p:cNvSpPr txBox="1"/>
          <p:nvPr/>
        </p:nvSpPr>
        <p:spPr>
          <a:xfrm>
            <a:off x="8516423" y="5215959"/>
            <a:ext cx="2336334"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Harmonic number</a:t>
            </a:r>
            <a:endParaRPr lang="sv-SE"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9411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69862" y="1319852"/>
            <a:ext cx="5719763" cy="5296847"/>
          </a:xfrm>
          <a:prstGeom prst="rect">
            <a:avLst/>
          </a:prstGeom>
        </p:spPr>
      </p:pic>
      <p:pic>
        <p:nvPicPr>
          <p:cNvPr id="5" name="Picture 4"/>
          <p:cNvPicPr>
            <a:picLocks noChangeAspect="1"/>
          </p:cNvPicPr>
          <p:nvPr/>
        </p:nvPicPr>
        <p:blipFill>
          <a:blip r:embed="rId3"/>
          <a:stretch>
            <a:fillRect/>
          </a:stretch>
        </p:blipFill>
        <p:spPr>
          <a:xfrm>
            <a:off x="5481705" y="1528439"/>
            <a:ext cx="6944751" cy="5042957"/>
          </a:xfrm>
          <a:prstGeom prst="rect">
            <a:avLst/>
          </a:prstGeom>
        </p:spPr>
      </p:pic>
      <p:sp>
        <p:nvSpPr>
          <p:cNvPr id="2" name="TextBox 1"/>
          <p:cNvSpPr txBox="1"/>
          <p:nvPr/>
        </p:nvSpPr>
        <p:spPr>
          <a:xfrm>
            <a:off x="1835150" y="1159107"/>
            <a:ext cx="3092450" cy="369332"/>
          </a:xfrm>
          <a:prstGeom prst="rect">
            <a:avLst/>
          </a:prstGeom>
          <a:noFill/>
        </p:spPr>
        <p:txBody>
          <a:bodyPr wrap="square" rtlCol="0">
            <a:spAutoFit/>
          </a:bodyPr>
          <a:lstStyle/>
          <a:p>
            <a:r>
              <a:rPr lang="en-US" dirty="0" smtClean="0"/>
              <a:t>700 Hz Fundamental</a:t>
            </a:r>
            <a:endParaRPr lang="sv-SE" dirty="0"/>
          </a:p>
        </p:txBody>
      </p:sp>
      <p:sp>
        <p:nvSpPr>
          <p:cNvPr id="6" name="TextBox 5"/>
          <p:cNvSpPr txBox="1"/>
          <p:nvPr/>
        </p:nvSpPr>
        <p:spPr>
          <a:xfrm>
            <a:off x="8202612" y="1159107"/>
            <a:ext cx="2871787" cy="369332"/>
          </a:xfrm>
          <a:prstGeom prst="rect">
            <a:avLst/>
          </a:prstGeom>
          <a:noFill/>
        </p:spPr>
        <p:txBody>
          <a:bodyPr wrap="square" rtlCol="0">
            <a:spAutoFit/>
          </a:bodyPr>
          <a:lstStyle/>
          <a:p>
            <a:r>
              <a:rPr lang="en-US" dirty="0" smtClean="0"/>
              <a:t>200 Hz Fundamental</a:t>
            </a:r>
            <a:endParaRPr lang="sv-SE" dirty="0"/>
          </a:p>
        </p:txBody>
      </p:sp>
      <p:sp>
        <p:nvSpPr>
          <p:cNvPr id="7" name="Title 1"/>
          <p:cNvSpPr>
            <a:spLocks noGrp="1"/>
          </p:cNvSpPr>
          <p:nvPr>
            <p:ph type="title"/>
          </p:nvPr>
        </p:nvSpPr>
        <p:spPr>
          <a:xfrm>
            <a:off x="1072216" y="252950"/>
            <a:ext cx="10990263" cy="568412"/>
          </a:xfrm>
        </p:spPr>
        <p:txBody>
          <a:bodyPr/>
          <a:lstStyle/>
          <a:p>
            <a:r>
              <a:rPr lang="en-US" dirty="0" smtClean="0">
                <a:latin typeface="Times New Roman" panose="02020603050405020304" pitchFamily="18" charset="0"/>
                <a:cs typeface="Times New Roman" panose="02020603050405020304" pitchFamily="18" charset="0"/>
              </a:rPr>
              <a:t>Low Frequency Resonance</a:t>
            </a:r>
            <a:endParaRPr lang="sv-S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3563075"/>
      </p:ext>
    </p:extLst>
  </p:cSld>
  <p:clrMapOvr>
    <a:masterClrMapping/>
  </p:clrMapOvr>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KTH_presentation_template_Figtree" id="{E6011EE6-5294-D344-AE93-F618069F8922}" vid="{45727F30-E711-A740-91D8-A34DFFD32AAE}"/>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KTH_presentation_template_Figtree (2)</Template>
  <TotalTime>8381</TotalTime>
  <Words>309</Words>
  <Application>Microsoft Office PowerPoint</Application>
  <PresentationFormat>Widescreen</PresentationFormat>
  <Paragraphs>48</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Figtree</vt:lpstr>
      <vt:lpstr>Calibri</vt:lpstr>
      <vt:lpstr>Wingdings</vt:lpstr>
      <vt:lpstr>Arial</vt:lpstr>
      <vt:lpstr>Cambria Math</vt:lpstr>
      <vt:lpstr>Times New Roman</vt:lpstr>
      <vt:lpstr>Office-tema</vt:lpstr>
      <vt:lpstr>Harmonic Modelling of the Inverter</vt:lpstr>
      <vt:lpstr>Impedance Model</vt:lpstr>
      <vt:lpstr>DC Link Current (Positive/Negative/Zero Sequences)</vt:lpstr>
      <vt:lpstr>Without Battery Model</vt:lpstr>
      <vt:lpstr>The Effect of the Battery Connection and Parasitics</vt:lpstr>
      <vt:lpstr>The Effect of the Battery Connection and Parasitics</vt:lpstr>
      <vt:lpstr>High Frequency Resonance</vt:lpstr>
      <vt:lpstr>Low Frequency Resonance</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Tove Guldbrand</dc:creator>
  <cp:lastModifiedBy>Enes Ayaz</cp:lastModifiedBy>
  <cp:revision>151</cp:revision>
  <dcterms:created xsi:type="dcterms:W3CDTF">2024-01-10T13:17:29Z</dcterms:created>
  <dcterms:modified xsi:type="dcterms:W3CDTF">2024-11-28T08:56:59Z</dcterms:modified>
</cp:coreProperties>
</file>