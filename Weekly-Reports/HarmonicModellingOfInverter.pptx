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8"/>
  </p:notesMasterIdLst>
  <p:sldIdLst>
    <p:sldId id="256" r:id="rId2"/>
    <p:sldId id="270" r:id="rId3"/>
    <p:sldId id="277" r:id="rId4"/>
    <p:sldId id="275" r:id="rId5"/>
    <p:sldId id="278" r:id="rId6"/>
    <p:sldId id="276" r:id="rId7"/>
  </p:sldIdLst>
  <p:sldSz cx="12192000" cy="6858000"/>
  <p:notesSz cx="6858000" cy="9144000"/>
  <p:embeddedFontLst>
    <p:embeddedFont>
      <p:font typeface="Cambria Math" panose="02040503050406030204" pitchFamily="18" charset="0"/>
      <p:regular r:id="rId9"/>
    </p:embeddedFont>
    <p:embeddedFont>
      <p:font typeface="Figtree" panose="020B0604020202020204" charset="0"/>
      <p:regular r:id="rId10"/>
      <p:bold r:id="rId11"/>
      <p:italic r:id="rId12"/>
      <p:boldItalic r:id="rId13"/>
    </p:embeddedFont>
    <p:embeddedFont>
      <p:font typeface="Calibri" panose="020F0502020204030204" pitchFamily="34" charset="0"/>
      <p:regular r:id="rId14"/>
      <p:bold r:id="rId15"/>
      <p:italic r:id="rId16"/>
      <p:boldItalic r:id="rId17"/>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74" autoAdjust="0"/>
    <p:restoredTop sz="96327"/>
  </p:normalViewPr>
  <p:slideViewPr>
    <p:cSldViewPr snapToGrid="0">
      <p:cViewPr>
        <p:scale>
          <a:sx n="150" d="100"/>
          <a:sy n="150" d="100"/>
        </p:scale>
        <p:origin x="618" y="3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font" Target="fonts/font5.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4.fntdata"/><Relationship Id="rId17"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font" Target="fonts/font8.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font" Target="fonts/font7.fntdata"/><Relationship Id="rId10" Type="http://schemas.openxmlformats.org/officeDocument/2006/relationships/font" Target="fonts/font2.fntdata"/><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font" Target="fonts/font1.fntdata"/><Relationship Id="rId14"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2024-11-26</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2024-11-26</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2024-11-26</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2024-11-26</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2024-11-26</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2024-11-26</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2024-11-26</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2024-11-26</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2024-11-26</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2024-11-26</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2024-11-26</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2024-11-26</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2024-11-26</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2024-11-26</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2024-11-26</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2024-11-26</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2024-11-26</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2024-11-26</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2024-11-26</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2024-11-26</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2024-11-26</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2024-11-26</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2024-11-26</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2024-11-26</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2024-11-26</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2024-11-26</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2024-11-26</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2024-11-26</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2024-11-26</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2024-11-26</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2024-11-26</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2024-11-26</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2024-11-26</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2024-11-26</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2024-11-26</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2024-11-26</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2024-11-26</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2024-11-26</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2024-11-26</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2024-11-26</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2024-11-26</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2024-11-26</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2024-11-26</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2024-11-26</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2024-11-26</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2024-11-26</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2024-11-26</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2024-11-26</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2024-11-26</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12.xml"/><Relationship Id="rId4" Type="http://schemas.openxmlformats.org/officeDocument/2006/relationships/image" Target="../media/image23.emf"/></Relationships>
</file>

<file path=ppt/slides/_rels/slide4.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image" Target="../media/image24.emf"/><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image" Target="../media/image26.emf"/><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image" Target="../media/image28.emf"/><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269129"/>
            <a:ext cx="8798701" cy="1956921"/>
          </a:xfrm>
        </p:spPr>
        <p:txBody>
          <a:bodyPr/>
          <a:lstStyle/>
          <a:p>
            <a:r>
              <a:rPr lang="en-US" dirty="0" smtClean="0"/>
              <a:t>Harmonic Modelling of the Inverter</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a:t>To Draft </a:t>
            </a:r>
            <a:r>
              <a:rPr lang="en-US" dirty="0" smtClean="0"/>
              <a:t>an </a:t>
            </a:r>
            <a:r>
              <a:rPr lang="en-US" dirty="0"/>
              <a:t>Idea for ECCE-Europe </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Impedance Model</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1439102026"/>
                  </p:ext>
                </p:extLst>
              </p:nvPr>
            </p:nvGraphicFramePr>
            <p:xfrm>
              <a:off x="1231154" y="1762561"/>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tr-TR"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1700131790"/>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1439102026"/>
                  </p:ext>
                </p:extLst>
              </p:nvPr>
            </p:nvGraphicFramePr>
            <p:xfrm>
              <a:off x="1231154" y="1762561"/>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36576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endParaRPr lang="sv-SE"/>
                        </a:p>
                      </a:txBody>
                      <a:tcPr>
                        <a:blipFill>
                          <a:blip r:embed="rId2"/>
                          <a:stretch>
                            <a:fillRect l="-100299" t="-106557" r="-200898" b="-324590"/>
                          </a:stretch>
                        </a:blipFill>
                      </a:tcPr>
                    </a:tc>
                    <a:tc>
                      <a:txBody>
                        <a:bodyPr/>
                        <a:lstStyle/>
                        <a:p>
                          <a:endParaRPr lang="sv-SE"/>
                        </a:p>
                      </a:txBody>
                      <a:tcPr>
                        <a:blipFill>
                          <a:blip r:embed="rId2"/>
                          <a:stretch>
                            <a:fillRect l="-200901" t="-106557" r="-101502" b="-324590"/>
                          </a:stretch>
                        </a:blipFill>
                      </a:tcPr>
                    </a:tc>
                    <a:tc>
                      <a:txBody>
                        <a:bodyPr/>
                        <a:lstStyle/>
                        <a:p>
                          <a:endParaRPr lang="sv-SE"/>
                        </a:p>
                      </a:txBody>
                      <a:tcPr>
                        <a:blipFill>
                          <a:blip r:embed="rId2"/>
                          <a:stretch>
                            <a:fillRect l="-300000" t="-106557" r="-1198" b="-324590"/>
                          </a:stretch>
                        </a:blipFill>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endParaRPr lang="sv-SE"/>
                        </a:p>
                      </a:txBody>
                      <a:tcPr>
                        <a:blipFill>
                          <a:blip r:embed="rId2"/>
                          <a:stretch>
                            <a:fillRect l="-100299" t="-206557" r="-200898" b="-224590"/>
                          </a:stretch>
                        </a:blipFill>
                      </a:tcPr>
                    </a:tc>
                    <a:tc>
                      <a:txBody>
                        <a:bodyPr/>
                        <a:lstStyle/>
                        <a:p>
                          <a:endParaRPr lang="sv-SE"/>
                        </a:p>
                      </a:txBody>
                      <a:tcPr>
                        <a:blipFill>
                          <a:blip r:embed="rId2"/>
                          <a:stretch>
                            <a:fillRect l="-200901" t="-206557" r="-101502" b="-224590"/>
                          </a:stretch>
                        </a:blipFill>
                      </a:tcPr>
                    </a:tc>
                    <a:tc>
                      <a:txBody>
                        <a:bodyPr/>
                        <a:lstStyle/>
                        <a:p>
                          <a:endParaRPr lang="sv-SE"/>
                        </a:p>
                      </a:txBody>
                      <a:tcPr>
                        <a:blipFill>
                          <a:blip r:embed="rId2"/>
                          <a:stretch>
                            <a:fillRect l="-300000" t="-206557" r="-1198" b="-224590"/>
                          </a:stretch>
                        </a:blipFill>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endParaRPr lang="sv-SE"/>
                        </a:p>
                      </a:txBody>
                      <a:tcPr>
                        <a:blipFill>
                          <a:blip r:embed="rId2"/>
                          <a:stretch>
                            <a:fillRect l="-100299" t="-306557" r="-200898" b="-124590"/>
                          </a:stretch>
                        </a:blipFill>
                      </a:tcPr>
                    </a:tc>
                    <a:tc>
                      <a:txBody>
                        <a:bodyPr/>
                        <a:lstStyle/>
                        <a:p>
                          <a:endParaRPr lang="sv-SE"/>
                        </a:p>
                      </a:txBody>
                      <a:tcPr>
                        <a:blipFill>
                          <a:blip r:embed="rId2"/>
                          <a:stretch>
                            <a:fillRect l="-200901" t="-306557" r="-101502" b="-124590"/>
                          </a:stretch>
                        </a:blipFill>
                      </a:tcPr>
                    </a:tc>
                    <a:tc>
                      <a:txBody>
                        <a:bodyPr/>
                        <a:lstStyle/>
                        <a:p>
                          <a:endParaRPr lang="sv-SE"/>
                        </a:p>
                      </a:txBody>
                      <a:tcPr>
                        <a:blipFill>
                          <a:blip r:embed="rId2"/>
                          <a:stretch>
                            <a:fillRect l="-300000" t="-306557" r="-1198" b="-124590"/>
                          </a:stretch>
                        </a:blipFill>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endParaRPr lang="sv-SE"/>
                        </a:p>
                      </a:txBody>
                      <a:tcPr>
                        <a:blipFill>
                          <a:blip r:embed="rId2"/>
                          <a:stretch>
                            <a:fillRect l="-100299" t="-406557" r="-200898" b="-24590"/>
                          </a:stretch>
                        </a:blipFill>
                      </a:tcPr>
                    </a:tc>
                    <a:tc>
                      <a:txBody>
                        <a:bodyPr/>
                        <a:lstStyle/>
                        <a:p>
                          <a:endParaRPr lang="sv-SE"/>
                        </a:p>
                      </a:txBody>
                      <a:tcPr>
                        <a:blipFill>
                          <a:blip r:embed="rId2"/>
                          <a:stretch>
                            <a:fillRect l="-200901" t="-406557" r="-101502" b="-24590"/>
                          </a:stretch>
                        </a:blipFill>
                      </a:tcPr>
                    </a:tc>
                    <a:tc>
                      <a:txBody>
                        <a:bodyPr/>
                        <a:lstStyle/>
                        <a:p>
                          <a:endParaRPr lang="sv-SE"/>
                        </a:p>
                      </a:txBody>
                      <a:tcPr>
                        <a:blipFill>
                          <a:blip r:embed="rId2"/>
                          <a:stretch>
                            <a:fillRect l="-300000" t="-406557" r="-1198" b="-24590"/>
                          </a:stretch>
                        </a:blipFill>
                      </a:tcPr>
                    </a:tc>
                    <a:extLst>
                      <a:ext uri="{0D108BD9-81ED-4DB2-BD59-A6C34878D82A}">
                        <a16:rowId xmlns:a16="http://schemas.microsoft.com/office/drawing/2014/main" val="1700131790"/>
                      </a:ext>
                    </a:extLst>
                  </a:tr>
                </a:tbl>
              </a:graphicData>
            </a:graphic>
          </p:graphicFrame>
        </mc:Fallback>
      </mc:AlternateContent>
      <p:sp>
        <p:nvSpPr>
          <p:cNvPr id="10" name="Rectangle 9">
            <a:extLst>
              <a:ext uri="{FF2B5EF4-FFF2-40B4-BE49-F238E27FC236}">
                <a16:creationId xmlns:a16="http://schemas.microsoft.com/office/drawing/2014/main" id="{5FD27746-BC71-497E-87F6-231B78DB66C2}"/>
              </a:ext>
            </a:extLst>
          </p:cNvPr>
          <p:cNvSpPr/>
          <p:nvPr/>
        </p:nvSpPr>
        <p:spPr>
          <a:xfrm>
            <a:off x="2766181" y="4087071"/>
            <a:ext cx="6286336" cy="646331"/>
          </a:xfrm>
          <a:prstGeom prst="rect">
            <a:avLst/>
          </a:prstGeom>
        </p:spPr>
        <p:txBody>
          <a:bodyPr wrap="none">
            <a:spAutoFit/>
          </a:bodyPr>
          <a:lstStyle/>
          <a:p>
            <a:r>
              <a:rPr lang="tr-TR" dirty="0" err="1">
                <a:latin typeface="Times New Roman" panose="02020603050405020304" pitchFamily="18" charset="0"/>
                <a:cs typeface="Times New Roman" panose="02020603050405020304" pitchFamily="18" charset="0"/>
              </a:rPr>
              <a:t>The</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response</a:t>
            </a:r>
            <a:r>
              <a:rPr lang="tr-TR" dirty="0">
                <a:latin typeface="Times New Roman" panose="02020603050405020304" pitchFamily="18" charset="0"/>
                <a:cs typeface="Times New Roman" panose="02020603050405020304" pitchFamily="18" charset="0"/>
              </a:rPr>
              <a:t> of </a:t>
            </a:r>
            <a:r>
              <a:rPr lang="tr-TR" dirty="0" err="1">
                <a:latin typeface="Times New Roman" panose="02020603050405020304" pitchFamily="18" charset="0"/>
                <a:cs typeface="Times New Roman" panose="02020603050405020304" pitchFamily="18" charset="0"/>
              </a:rPr>
              <a:t>capacitor</a:t>
            </a:r>
            <a:r>
              <a:rPr lang="tr-TR" dirty="0">
                <a:latin typeface="Times New Roman" panose="02020603050405020304" pitchFamily="18" charset="0"/>
                <a:cs typeface="Times New Roman" panose="02020603050405020304" pitchFamily="18" charset="0"/>
              </a:rPr>
              <a:t> A </a:t>
            </a:r>
            <a:r>
              <a:rPr lang="tr-TR" dirty="0" err="1">
                <a:latin typeface="Times New Roman" panose="02020603050405020304" pitchFamily="18" charset="0"/>
                <a:cs typeface="Times New Roman" panose="02020603050405020304" pitchFamily="18" charset="0"/>
              </a:rPr>
              <a:t>for</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each</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leg</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should</a:t>
            </a:r>
            <a:r>
              <a:rPr lang="tr-TR" dirty="0">
                <a:latin typeface="Times New Roman" panose="02020603050405020304" pitchFamily="18" charset="0"/>
                <a:cs typeface="Times New Roman" panose="02020603050405020304" pitchFamily="18" charset="0"/>
              </a:rPr>
              <a:t> be </a:t>
            </a:r>
            <a:r>
              <a:rPr lang="tr-TR" dirty="0" err="1">
                <a:latin typeface="Times New Roman" panose="02020603050405020304" pitchFamily="18" charset="0"/>
                <a:cs typeface="Times New Roman" panose="02020603050405020304" pitchFamily="18" charset="0"/>
              </a:rPr>
              <a:t>calculated</a:t>
            </a:r>
            <a:r>
              <a:rPr lang="tr-TR" dirty="0">
                <a:latin typeface="Times New Roman" panose="02020603050405020304" pitchFamily="18" charset="0"/>
                <a:cs typeface="Times New Roman" panose="02020603050405020304" pitchFamily="18" charset="0"/>
              </a:rPr>
              <a:t> as: </a:t>
            </a:r>
          </a:p>
          <a:p>
            <a:endParaRPr lang="en-US" dirty="0">
              <a:latin typeface="Times New Roman" panose="02020603050405020304" pitchFamily="18" charset="0"/>
              <a:cs typeface="Times New Roman" panose="02020603050405020304" pitchFamily="18" charset="0"/>
            </a:endParaRPr>
          </a:p>
        </p:txBody>
      </p:sp>
      <p:sp>
        <p:nvSpPr>
          <p:cNvPr id="4" name="TextBox 3"/>
          <p:cNvSpPr txBox="1"/>
          <p:nvPr/>
        </p:nvSpPr>
        <p:spPr>
          <a:xfrm>
            <a:off x="3233270" y="1272209"/>
            <a:ext cx="4733365"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Step response of capacitors to each leg</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EA414EB2-1DD8-401E-96DE-5071FE225EAE}"/>
                  </a:ext>
                </a:extLst>
              </p:cNvPr>
              <p:cNvSpPr/>
              <p:nvPr/>
            </p:nvSpPr>
            <p:spPr>
              <a:xfrm>
                <a:off x="2766181" y="4685244"/>
                <a:ext cx="6323398" cy="390748"/>
              </a:xfrm>
              <a:prstGeom prst="rect">
                <a:avLst/>
              </a:prstGeom>
            </p:spPr>
            <p:txBody>
              <a:bodyPr wrap="none">
                <a:spAutoFit/>
              </a:bodyPr>
              <a:lstStyle/>
              <a:p>
                <a14:m>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𝑐𝑎𝑝𝐴</m:t>
                        </m:r>
                      </m:sub>
                    </m:sSub>
                    <m:r>
                      <a:rPr lang="tr-TR" b="0" i="1" smtClean="0">
                        <a:latin typeface="Cambria Math" panose="02040503050406030204" pitchFamily="18" charset="0"/>
                      </a:rPr>
                      <m:t>= </m:t>
                    </m:r>
                    <m:sSub>
                      <m:sSubPr>
                        <m:ctrlPr>
                          <a:rPr lang="tr-TR" b="0" i="1" smtClean="0">
                            <a:latin typeface="Cambria Math" panose="02040503050406030204" pitchFamily="18" charset="0"/>
                          </a:rPr>
                        </m:ctrlPr>
                      </m:sSubPr>
                      <m:e>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𝑆</m:t>
                            </m:r>
                          </m:e>
                          <m:sub>
                            <m:r>
                              <a:rPr lang="tr-TR" b="0" i="1" smtClean="0">
                                <a:latin typeface="Cambria Math" panose="02040503050406030204" pitchFamily="18" charset="0"/>
                              </a:rPr>
                              <m:t>𝐴</m:t>
                            </m:r>
                          </m:sub>
                        </m:sSub>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𝐴</m:t>
                            </m:r>
                          </m:sub>
                        </m:sSub>
                        <m:r>
                          <a:rPr lang="en-US" b="0" i="1" smtClean="0">
                            <a:latin typeface="Cambria Math" panose="02040503050406030204" pitchFamily="18" charset="0"/>
                          </a:rPr>
                          <m:t> )</m:t>
                        </m:r>
                        <m:r>
                          <a:rPr lang="tr-TR" b="0" i="1" smtClean="0">
                            <a:latin typeface="Cambria Math" panose="02040503050406030204" pitchFamily="18" charset="0"/>
                          </a:rPr>
                          <m:t>𝐻</m:t>
                        </m:r>
                      </m:e>
                      <m:sub>
                        <m:r>
                          <a:rPr lang="en-US" b="0" i="1" smtClean="0">
                            <a:latin typeface="Cambria Math" panose="02040503050406030204" pitchFamily="18" charset="0"/>
                          </a:rPr>
                          <m:t>1</m:t>
                        </m:r>
                        <m:r>
                          <a:rPr lang="tr-TR" b="0" i="1" smtClean="0">
                            <a:latin typeface="Cambria Math" panose="02040503050406030204" pitchFamily="18" charset="0"/>
                          </a:rPr>
                          <m:t>𝐴</m:t>
                        </m:r>
                      </m:sub>
                    </m:sSub>
                    <m:d>
                      <m:dPr>
                        <m:ctrlPr>
                          <a:rPr lang="tr-TR" b="0" i="1" smtClean="0">
                            <a:latin typeface="Cambria Math" panose="02040503050406030204" pitchFamily="18" charset="0"/>
                          </a:rPr>
                        </m:ctrlPr>
                      </m:dPr>
                      <m:e>
                        <m:r>
                          <a:rPr lang="tr-TR" b="0" i="1" smtClean="0">
                            <a:latin typeface="Cambria Math" panose="02040503050406030204" pitchFamily="18" charset="0"/>
                          </a:rPr>
                          <m:t>𝜔</m:t>
                        </m:r>
                      </m:e>
                    </m:d>
                    <m:r>
                      <a:rPr lang="tr-TR" b="0" i="0" smtClean="0">
                        <a:latin typeface="Cambria Math" panose="02040503050406030204" pitchFamily="18" charset="0"/>
                      </a:rPr>
                      <m:t>+</m:t>
                    </m:r>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𝐵</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𝐵</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r>
                  <a:rPr lang="en-US" dirty="0" smtClean="0"/>
                  <a:t>+</a:t>
                </a:r>
                <a14:m>
                  <m:oMath xmlns:m="http://schemas.openxmlformats.org/officeDocument/2006/math">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𝐶</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𝐶</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𝐶</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endParaRPr lang="en-US" dirty="0"/>
              </a:p>
            </p:txBody>
          </p:sp>
        </mc:Choice>
        <mc:Fallback xmlns="">
          <p:sp>
            <p:nvSpPr>
              <p:cNvPr id="12" name="Rectangle 11">
                <a:extLst>
                  <a:ext uri="{FF2B5EF4-FFF2-40B4-BE49-F238E27FC236}">
                    <a16:creationId xmlns:a16="http://schemas.microsoft.com/office/drawing/2014/main" id="{EA414EB2-1DD8-401E-96DE-5071FE225EAE}"/>
                  </a:ext>
                </a:extLst>
              </p:cNvPr>
              <p:cNvSpPr>
                <a:spLocks noRot="1" noChangeAspect="1" noMove="1" noResize="1" noEditPoints="1" noAdjustHandles="1" noChangeArrowheads="1" noChangeShapeType="1" noTextEdit="1"/>
              </p:cNvSpPr>
              <p:nvPr/>
            </p:nvSpPr>
            <p:spPr>
              <a:xfrm>
                <a:off x="2766181" y="4685244"/>
                <a:ext cx="6323398" cy="390748"/>
              </a:xfrm>
              <a:prstGeom prst="rect">
                <a:avLst/>
              </a:prstGeom>
              <a:blipFill>
                <a:blip r:embed="rId3"/>
                <a:stretch>
                  <a:fillRect t="-9375" b="-18750"/>
                </a:stretch>
              </a:blipFill>
            </p:spPr>
            <p:txBody>
              <a:bodyPr/>
              <a:lstStyle/>
              <a:p>
                <a:r>
                  <a:rPr lang="sv-SE">
                    <a:noFill/>
                  </a:rPr>
                  <a:t> </a:t>
                </a:r>
              </a:p>
            </p:txBody>
          </p:sp>
        </mc:Fallback>
      </mc:AlternateContent>
    </p:spTree>
    <p:extLst>
      <p:ext uri="{BB962C8B-B14F-4D97-AF65-F5344CB8AC3E}">
        <p14:creationId xmlns:p14="http://schemas.microsoft.com/office/powerpoint/2010/main" val="7711643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257175" y="832247"/>
            <a:ext cx="4264025" cy="3198019"/>
          </a:xfrm>
          <a:prstGeom prst="rect">
            <a:avLst/>
          </a:prstGeom>
        </p:spPr>
      </p:pic>
      <p:pic>
        <p:nvPicPr>
          <p:cNvPr id="10" name="Picture 9"/>
          <p:cNvPicPr>
            <a:picLocks noChangeAspect="1"/>
          </p:cNvPicPr>
          <p:nvPr/>
        </p:nvPicPr>
        <p:blipFill>
          <a:blip r:embed="rId3"/>
          <a:stretch>
            <a:fillRect/>
          </a:stretch>
        </p:blipFill>
        <p:spPr>
          <a:xfrm>
            <a:off x="8070850" y="990600"/>
            <a:ext cx="3896783" cy="2922587"/>
          </a:xfrm>
          <a:prstGeom prst="rect">
            <a:avLst/>
          </a:prstGeom>
        </p:spPr>
      </p:pic>
      <p:pic>
        <p:nvPicPr>
          <p:cNvPr id="11" name="Picture 10"/>
          <p:cNvPicPr>
            <a:picLocks noChangeAspect="1"/>
          </p:cNvPicPr>
          <p:nvPr/>
        </p:nvPicPr>
        <p:blipFill>
          <a:blip r:embed="rId4"/>
          <a:stretch>
            <a:fillRect/>
          </a:stretch>
        </p:blipFill>
        <p:spPr>
          <a:xfrm>
            <a:off x="4397376" y="3810000"/>
            <a:ext cx="3937000" cy="2952750"/>
          </a:xfrm>
          <a:prstGeom prst="rect">
            <a:avLst/>
          </a:prstGeom>
        </p:spPr>
      </p:pic>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DC Link Current (Positive/Negativ</a:t>
            </a:r>
            <a:r>
              <a:rPr lang="en-US" dirty="0" smtClean="0">
                <a:latin typeface="Times New Roman" panose="02020603050405020304" pitchFamily="18" charset="0"/>
                <a:cs typeface="Times New Roman" panose="02020603050405020304" pitchFamily="18" charset="0"/>
              </a:rPr>
              <a:t>e/Zero</a:t>
            </a:r>
            <a:r>
              <a:rPr lang="en-US" dirty="0" smtClean="0">
                <a:latin typeface="Times New Roman" panose="02020603050405020304" pitchFamily="18" charset="0"/>
                <a:cs typeface="Times New Roman" panose="02020603050405020304" pitchFamily="18" charset="0"/>
              </a:rPr>
              <a:t> Sequences)</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14261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625252" y="1984562"/>
            <a:ext cx="5334000" cy="4000500"/>
          </a:xfrm>
          <a:prstGeom prst="rect">
            <a:avLst/>
          </a:prstGeom>
        </p:spPr>
      </p:pic>
      <p:pic>
        <p:nvPicPr>
          <p:cNvPr id="6" name="Picture 5"/>
          <p:cNvPicPr>
            <a:picLocks noChangeAspect="1"/>
          </p:cNvPicPr>
          <p:nvPr/>
        </p:nvPicPr>
        <p:blipFill>
          <a:blip r:embed="rId3"/>
          <a:stretch>
            <a:fillRect/>
          </a:stretch>
        </p:blipFill>
        <p:spPr>
          <a:xfrm>
            <a:off x="7104380" y="2292019"/>
            <a:ext cx="1406406" cy="1054805"/>
          </a:xfrm>
          <a:prstGeom prst="rect">
            <a:avLst/>
          </a:prstGeom>
        </p:spPr>
      </p:pic>
      <p:sp>
        <p:nvSpPr>
          <p:cNvPr id="7" name="TextBox 6"/>
          <p:cNvSpPr txBox="1"/>
          <p:nvPr/>
        </p:nvSpPr>
        <p:spPr>
          <a:xfrm>
            <a:off x="4226129" y="2444071"/>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6716637" y="1722952"/>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a:off x="5404971" y="2767106"/>
            <a:ext cx="887281" cy="50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845390" y="3346824"/>
            <a:ext cx="9934" cy="4951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The Effect of th</a:t>
            </a:r>
            <a:r>
              <a:rPr lang="en-US" dirty="0" smtClean="0">
                <a:latin typeface="Times New Roman" panose="02020603050405020304" pitchFamily="18" charset="0"/>
                <a:cs typeface="Times New Roman" panose="02020603050405020304" pitchFamily="18" charset="0"/>
              </a:rPr>
              <a:t>e Battery Connection and </a:t>
            </a:r>
            <a:r>
              <a:rPr lang="en-US" dirty="0" err="1" smtClean="0">
                <a:latin typeface="Times New Roman" panose="02020603050405020304" pitchFamily="18" charset="0"/>
                <a:cs typeface="Times New Roman" panose="02020603050405020304" pitchFamily="18" charset="0"/>
              </a:rPr>
              <a:t>Parasitics</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072394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451100" y="1321140"/>
            <a:ext cx="3092450" cy="646331"/>
          </a:xfrm>
          <a:prstGeom prst="rect">
            <a:avLst/>
          </a:prstGeom>
          <a:noFill/>
        </p:spPr>
        <p:txBody>
          <a:bodyPr wrap="square" rtlCol="0">
            <a:spAutoFit/>
          </a:bodyPr>
          <a:lstStyle/>
          <a:p>
            <a:r>
              <a:rPr lang="en-US" dirty="0" smtClean="0"/>
              <a:t>14 kHz  </a:t>
            </a:r>
            <a:r>
              <a:rPr lang="en-US" dirty="0"/>
              <a:t>Switching</a:t>
            </a:r>
            <a:endParaRPr lang="sv-SE" dirty="0"/>
          </a:p>
          <a:p>
            <a:endParaRPr lang="sv-SE" dirty="0"/>
          </a:p>
        </p:txBody>
      </p:sp>
      <p:sp>
        <p:nvSpPr>
          <p:cNvPr id="6" name="TextBox 5"/>
          <p:cNvSpPr txBox="1"/>
          <p:nvPr/>
        </p:nvSpPr>
        <p:spPr>
          <a:xfrm>
            <a:off x="8412162" y="1290572"/>
            <a:ext cx="2871787" cy="369332"/>
          </a:xfrm>
          <a:prstGeom prst="rect">
            <a:avLst/>
          </a:prstGeom>
          <a:noFill/>
        </p:spPr>
        <p:txBody>
          <a:bodyPr wrap="square" rtlCol="0">
            <a:spAutoFit/>
          </a:bodyPr>
          <a:lstStyle/>
          <a:p>
            <a:r>
              <a:rPr lang="en-US" dirty="0" smtClean="0"/>
              <a:t>24kHz Switching</a:t>
            </a:r>
            <a:endParaRPr lang="sv-SE" dirty="0"/>
          </a:p>
        </p:txBody>
      </p:sp>
      <p:pic>
        <p:nvPicPr>
          <p:cNvPr id="7" name="Picture 6"/>
          <p:cNvPicPr>
            <a:picLocks noChangeAspect="1"/>
          </p:cNvPicPr>
          <p:nvPr/>
        </p:nvPicPr>
        <p:blipFill>
          <a:blip r:embed="rId2"/>
          <a:stretch>
            <a:fillRect/>
          </a:stretch>
        </p:blipFill>
        <p:spPr>
          <a:xfrm>
            <a:off x="6623050" y="1475238"/>
            <a:ext cx="5334000" cy="4000500"/>
          </a:xfrm>
          <a:prstGeom prst="rect">
            <a:avLst/>
          </a:prstGeom>
        </p:spPr>
      </p:pic>
      <p:pic>
        <p:nvPicPr>
          <p:cNvPr id="8" name="Picture 7"/>
          <p:cNvPicPr>
            <a:picLocks noChangeAspect="1"/>
          </p:cNvPicPr>
          <p:nvPr/>
        </p:nvPicPr>
        <p:blipFill>
          <a:blip r:embed="rId3"/>
          <a:stretch>
            <a:fillRect/>
          </a:stretch>
        </p:blipFill>
        <p:spPr>
          <a:xfrm>
            <a:off x="869950" y="1644306"/>
            <a:ext cx="4883150" cy="3662363"/>
          </a:xfrm>
          <a:prstGeom prst="rect">
            <a:avLst/>
          </a:prstGeom>
        </p:spPr>
      </p:pic>
      <p:sp>
        <p:nvSpPr>
          <p:cNvPr id="10"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High Frequency Resonance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99411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69862" y="1319852"/>
            <a:ext cx="5719763" cy="5296847"/>
          </a:xfrm>
          <a:prstGeom prst="rect">
            <a:avLst/>
          </a:prstGeom>
        </p:spPr>
      </p:pic>
      <p:pic>
        <p:nvPicPr>
          <p:cNvPr id="5" name="Picture 4"/>
          <p:cNvPicPr>
            <a:picLocks noChangeAspect="1"/>
          </p:cNvPicPr>
          <p:nvPr/>
        </p:nvPicPr>
        <p:blipFill>
          <a:blip r:embed="rId3"/>
          <a:stretch>
            <a:fillRect/>
          </a:stretch>
        </p:blipFill>
        <p:spPr>
          <a:xfrm>
            <a:off x="5491161" y="1528439"/>
            <a:ext cx="6893459" cy="5005711"/>
          </a:xfrm>
          <a:prstGeom prst="rect">
            <a:avLst/>
          </a:prstGeom>
        </p:spPr>
      </p:pic>
      <p:sp>
        <p:nvSpPr>
          <p:cNvPr id="2" name="TextBox 1"/>
          <p:cNvSpPr txBox="1"/>
          <p:nvPr/>
        </p:nvSpPr>
        <p:spPr>
          <a:xfrm>
            <a:off x="1835150" y="1159107"/>
            <a:ext cx="3092450" cy="369332"/>
          </a:xfrm>
          <a:prstGeom prst="rect">
            <a:avLst/>
          </a:prstGeom>
          <a:noFill/>
        </p:spPr>
        <p:txBody>
          <a:bodyPr wrap="square" rtlCol="0">
            <a:spAutoFit/>
          </a:bodyPr>
          <a:lstStyle/>
          <a:p>
            <a:r>
              <a:rPr lang="en-US" dirty="0" smtClean="0"/>
              <a:t>700 Hz Fundamental</a:t>
            </a:r>
            <a:endParaRPr lang="sv-SE" dirty="0"/>
          </a:p>
        </p:txBody>
      </p:sp>
      <p:sp>
        <p:nvSpPr>
          <p:cNvPr id="6" name="TextBox 5"/>
          <p:cNvSpPr txBox="1"/>
          <p:nvPr/>
        </p:nvSpPr>
        <p:spPr>
          <a:xfrm>
            <a:off x="8202612" y="1159107"/>
            <a:ext cx="2871787" cy="369332"/>
          </a:xfrm>
          <a:prstGeom prst="rect">
            <a:avLst/>
          </a:prstGeom>
          <a:noFill/>
        </p:spPr>
        <p:txBody>
          <a:bodyPr wrap="square" rtlCol="0">
            <a:spAutoFit/>
          </a:bodyPr>
          <a:lstStyle/>
          <a:p>
            <a:r>
              <a:rPr lang="en-US" dirty="0" smtClean="0"/>
              <a:t>200 Hz Fundamental</a:t>
            </a:r>
            <a:endParaRPr lang="sv-SE" dirty="0"/>
          </a:p>
        </p:txBody>
      </p:sp>
      <p:sp>
        <p:nvSpPr>
          <p:cNvPr id="7"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Low Frequency Resonance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83563075"/>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8357</TotalTime>
  <Words>267</Words>
  <Application>Microsoft Office PowerPoint</Application>
  <PresentationFormat>Widescreen</PresentationFormat>
  <Paragraphs>36</Paragraphs>
  <Slides>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Arial</vt:lpstr>
      <vt:lpstr>Cambria Math</vt:lpstr>
      <vt:lpstr>Times New Roman</vt:lpstr>
      <vt:lpstr>Figtree</vt:lpstr>
      <vt:lpstr>Calibri</vt:lpstr>
      <vt:lpstr>Office-tema</vt:lpstr>
      <vt:lpstr>Harmonic Modelling of the Inverter</vt:lpstr>
      <vt:lpstr>Impedance Model</vt:lpstr>
      <vt:lpstr>DC Link Current (Positive/Negative/Zero Sequences)</vt:lpstr>
      <vt:lpstr>The Effect of the Battery Connection and Parasitics</vt:lpstr>
      <vt:lpstr>High Frequency Resonance</vt:lpstr>
      <vt:lpstr>Low Frequency Resonance</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146</cp:revision>
  <dcterms:created xsi:type="dcterms:W3CDTF">2024-01-10T13:17:29Z</dcterms:created>
  <dcterms:modified xsi:type="dcterms:W3CDTF">2024-11-26T15:22:48Z</dcterms:modified>
</cp:coreProperties>
</file>