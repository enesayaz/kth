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57" r:id="rId9"/>
    <p:sldId id="265" r:id="rId10"/>
    <p:sldId id="266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536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4105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90610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57116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71972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1803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29868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00921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40526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127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6863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0138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55210-FA09-4373-AFCC-33C76A1B3FFC}" type="datetimeFigureOut">
              <a:rPr lang="sv-SE" smtClean="0"/>
              <a:t>2026-02-06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881E-EE2A-4D6D-A1FC-0E45A7B7D9BF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2626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b="1" dirty="0" smtClean="0"/>
              <a:t>The </a:t>
            </a:r>
            <a:r>
              <a:rPr lang="sv-SE" b="1" dirty="0" err="1" smtClean="0"/>
              <a:t>Traditional</a:t>
            </a:r>
            <a:r>
              <a:rPr lang="sv-SE" b="1" dirty="0" smtClean="0"/>
              <a:t> EV </a:t>
            </a:r>
            <a:r>
              <a:rPr lang="sv-SE" b="1" dirty="0" err="1" smtClean="0"/>
              <a:t>Architecture</a:t>
            </a:r>
            <a:endParaRPr lang="sv-SE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9450" y="1690688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smtClean="0"/>
              <a:t>Modern electric vehicles rely on a </a:t>
            </a:r>
            <a:r>
              <a:rPr lang="en-US" b="1" dirty="0" smtClean="0"/>
              <a:t>high-power traction inverter</a:t>
            </a:r>
            <a:r>
              <a:rPr lang="en-US" dirty="0" smtClean="0"/>
              <a:t>—often hundreds of kilowatts—to drive the electric machine.</a:t>
            </a:r>
          </a:p>
          <a:p>
            <a:pPr marL="0" indent="0">
              <a:buNone/>
            </a:pP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Alongside this inverter, however, a </a:t>
            </a:r>
            <a:r>
              <a:rPr lang="en-US" b="1" dirty="0" smtClean="0"/>
              <a:t>separate auxiliary power supply</a:t>
            </a:r>
            <a:r>
              <a:rPr lang="en-US" dirty="0" smtClean="0"/>
              <a:t> is almost always present:</a:t>
            </a:r>
          </a:p>
          <a:p>
            <a:pPr lvl="1"/>
            <a:r>
              <a:rPr lang="en-US" dirty="0" smtClean="0"/>
              <a:t>HV → LV DC/DC converters (for 12 V / 24 V buses)</a:t>
            </a:r>
          </a:p>
          <a:p>
            <a:pPr lvl="1"/>
            <a:r>
              <a:rPr lang="en-US" dirty="0" smtClean="0"/>
              <a:t>Dedicated auxiliary inverters or converters</a:t>
            </a:r>
          </a:p>
          <a:p>
            <a:pPr lvl="1"/>
            <a:r>
              <a:rPr lang="en-US" dirty="0" smtClean="0"/>
              <a:t>Extra semiconductors, magnetics, cooling, isolation, and protection</a:t>
            </a:r>
          </a:p>
          <a:p>
            <a:pPr lvl="1"/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Although the </a:t>
            </a:r>
            <a:r>
              <a:rPr lang="en-US" b="1" dirty="0" smtClean="0"/>
              <a:t>auxiliary power demand is tiny</a:t>
            </a:r>
            <a:r>
              <a:rPr lang="en-US" dirty="0" smtClean="0"/>
              <a:t> (typically several kilowatts), it is served by a </a:t>
            </a:r>
            <a:r>
              <a:rPr lang="en-US" b="1" dirty="0" smtClean="0"/>
              <a:t>fully independent power module</a:t>
            </a:r>
            <a:r>
              <a:rPr lang="en-US" dirty="0" smtClean="0"/>
              <a:t>, designed, qualified, and cooled as if it were a major energy path.</a:t>
            </a:r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This creates a </a:t>
            </a:r>
            <a:r>
              <a:rPr lang="en-US" b="1" dirty="0" smtClean="0"/>
              <a:t>structural inefficiency</a:t>
            </a:r>
            <a:r>
              <a:rPr lang="en-US" dirty="0" smtClean="0"/>
              <a:t>: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84554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The Overlooked Resource: Harmonic Energy in the Traction Inverter</a:t>
            </a:r>
            <a:endParaRPr lang="sv-SE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/>
              <a:t>The traction inverter already:</a:t>
            </a:r>
          </a:p>
          <a:p>
            <a:pPr lvl="1"/>
            <a:r>
              <a:rPr lang="en-US" dirty="0" smtClean="0"/>
              <a:t>Switches at high frequency</a:t>
            </a:r>
          </a:p>
          <a:p>
            <a:pPr lvl="1"/>
            <a:r>
              <a:rPr lang="en-US" dirty="0" smtClean="0"/>
              <a:t>Generates rich spectral content around the switching frequency</a:t>
            </a:r>
          </a:p>
          <a:p>
            <a:pPr lvl="1"/>
            <a:r>
              <a:rPr lang="en-US" dirty="0" smtClean="0"/>
              <a:t>Handles voltages and currents far beyond auxiliary needs</a:t>
            </a:r>
          </a:p>
          <a:p>
            <a:pPr marL="0" indent="0">
              <a:buNone/>
            </a:pPr>
            <a:r>
              <a:rPr lang="en-US" dirty="0" smtClean="0"/>
              <a:t>Traditionally, </a:t>
            </a:r>
            <a:r>
              <a:rPr lang="en-US" b="1" dirty="0" smtClean="0"/>
              <a:t>harmonics are treated as a problem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Filtered</a:t>
            </a:r>
          </a:p>
          <a:p>
            <a:pPr lvl="1"/>
            <a:r>
              <a:rPr lang="en-US" dirty="0" smtClean="0"/>
              <a:t>Suppressed</a:t>
            </a:r>
          </a:p>
          <a:p>
            <a:pPr lvl="1"/>
            <a:r>
              <a:rPr lang="en-US" dirty="0" smtClean="0"/>
              <a:t>Minimized</a:t>
            </a:r>
          </a:p>
          <a:p>
            <a:pPr marL="0" indent="0">
              <a:buNone/>
            </a:pPr>
            <a:r>
              <a:rPr lang="en-US" dirty="0" smtClean="0"/>
              <a:t>But fundamentally, these harmonics are </a:t>
            </a:r>
            <a:r>
              <a:rPr lang="en-US" b="1" dirty="0" smtClean="0"/>
              <a:t>real electrical energy</a:t>
            </a:r>
            <a:r>
              <a:rPr lang="en-US" dirty="0" smtClean="0"/>
              <a:t>, generated continuously during normal operation.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8077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Open-End Winding: Enabling Control</a:t>
            </a:r>
            <a:endParaRPr lang="sv-S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789" y="2482849"/>
            <a:ext cx="4407362" cy="2860779"/>
          </a:xfrm>
        </p:spPr>
      </p:pic>
      <p:sp>
        <p:nvSpPr>
          <p:cNvPr id="5" name="Rectangle 4"/>
          <p:cNvSpPr/>
          <p:nvPr/>
        </p:nvSpPr>
        <p:spPr>
          <a:xfrm>
            <a:off x="5162550" y="1436688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smtClean="0"/>
              <a:t>The open-end winding (OEW) machine topology introduces </a:t>
            </a:r>
            <a:r>
              <a:rPr lang="en-US" b="1" dirty="0" smtClean="0"/>
              <a:t>two independent inverter terminals per phase</a:t>
            </a:r>
            <a:r>
              <a:rPr lang="en-US" dirty="0" smtClean="0"/>
              <a:t>.</a:t>
            </a:r>
            <a:br>
              <a:rPr lang="en-US" dirty="0" smtClean="0"/>
            </a:br>
            <a:r>
              <a:rPr lang="en-US" dirty="0" smtClean="0"/>
              <a:t>This does not just double hardware—it </a:t>
            </a:r>
            <a:r>
              <a:rPr lang="en-US" b="1" dirty="0" smtClean="0"/>
              <a:t>introduces modulation redundancy</a:t>
            </a:r>
            <a:r>
              <a:rPr lang="en-US" dirty="0" smtClean="0"/>
              <a:t>.</a:t>
            </a:r>
            <a:endParaRPr lang="sv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210175" y="2610683"/>
                <a:ext cx="6096000" cy="424731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sv-SE" dirty="0" smtClean="0"/>
                  <a:t>For a given </a:t>
                </a:r>
                <a:r>
                  <a:rPr lang="sv-SE" dirty="0" err="1" smtClean="0"/>
                  <a:t>phase</a:t>
                </a:r>
                <a:r>
                  <a:rPr lang="sv-SE" dirty="0" smtClean="0"/>
                  <a:t> (</a:t>
                </a:r>
                <a:r>
                  <a:rPr lang="sv-SE" dirty="0" err="1" smtClean="0"/>
                  <a:t>e.g</a:t>
                </a:r>
                <a:r>
                  <a:rPr lang="sv-SE" dirty="0" smtClean="0"/>
                  <a:t>., </a:t>
                </a:r>
                <a:r>
                  <a:rPr lang="sv-SE" dirty="0" err="1" smtClean="0"/>
                  <a:t>phase</a:t>
                </a:r>
                <a:r>
                  <a:rPr lang="sv-SE" dirty="0" smtClean="0"/>
                  <a:t> A):</a:t>
                </a:r>
              </a:p>
              <a:p>
                <a:endParaRPr lang="sv-SE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𝐴𝐴</m:t>
                          </m:r>
                        </m:sub>
                      </m:sSub>
                      <m:d>
                        <m:dPr>
                          <m:ctrlPr>
                            <a:rPr lang="sv-SE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 err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sv-SE" i="1" dirty="0" err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)−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 dirty="0" err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sv-SE" i="1" dirty="0" err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sv-SE" dirty="0" smtClean="0"/>
              </a:p>
              <a:p>
                <a:endParaRPr lang="sv-SE" dirty="0" smtClean="0"/>
              </a:p>
              <a:p>
                <a:r>
                  <a:rPr lang="sv-SE" dirty="0" err="1" smtClean="0"/>
                  <a:t>This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voltage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naturally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contains</a:t>
                </a:r>
                <a:r>
                  <a:rPr lang="sv-SE" dirty="0" smtClean="0"/>
                  <a:t>: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v-SE" dirty="0" smtClean="0"/>
                  <a:t>A </a:t>
                </a:r>
                <a:r>
                  <a:rPr lang="sv-SE" b="1" dirty="0" smtClean="0"/>
                  <a:t>fundamental </a:t>
                </a:r>
                <a:r>
                  <a:rPr lang="sv-SE" b="1" dirty="0" err="1" smtClean="0"/>
                  <a:t>component</a:t>
                </a:r>
                <a:r>
                  <a:rPr lang="sv-SE" dirty="0" smtClean="0"/>
                  <a:t> → </a:t>
                </a:r>
                <a:r>
                  <a:rPr lang="sv-SE" dirty="0" err="1" smtClean="0"/>
                  <a:t>torque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production</a:t>
                </a:r>
                <a:endParaRPr lang="sv-SE" dirty="0" smtClean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v-SE" dirty="0" smtClean="0"/>
                  <a:t>A </a:t>
                </a:r>
                <a:r>
                  <a:rPr lang="sv-SE" b="1" dirty="0" err="1" smtClean="0"/>
                  <a:t>harmonic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component</a:t>
                </a:r>
                <a:r>
                  <a:rPr lang="sv-SE" dirty="0" smtClean="0"/>
                  <a:t> → </a:t>
                </a:r>
                <a:r>
                  <a:rPr lang="sv-SE" dirty="0" err="1" smtClean="0"/>
                  <a:t>normally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unused</a:t>
                </a:r>
                <a:endParaRPr lang="sv-SE" dirty="0" smtClean="0"/>
              </a:p>
              <a:p>
                <a:r>
                  <a:rPr lang="sv-SE" dirty="0" err="1" smtClean="0"/>
                  <a:t>Crucially</a:t>
                </a:r>
                <a:r>
                  <a:rPr lang="sv-SE" dirty="0" smtClean="0"/>
                  <a:t>, OEW </a:t>
                </a:r>
                <a:r>
                  <a:rPr lang="sv-SE" dirty="0" err="1" smtClean="0"/>
                  <a:t>allows</a:t>
                </a:r>
                <a:r>
                  <a:rPr lang="sv-SE" dirty="0" smtClean="0"/>
                  <a:t> </a:t>
                </a:r>
                <a:r>
                  <a:rPr lang="sv-SE" b="1" dirty="0" smtClean="0"/>
                  <a:t>independent </a:t>
                </a:r>
                <a:r>
                  <a:rPr lang="sv-SE" b="1" dirty="0" err="1" smtClean="0"/>
                  <a:t>shaping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of</a:t>
                </a:r>
                <a:r>
                  <a:rPr lang="sv-SE" b="1" dirty="0" smtClean="0"/>
                  <a:t> the </a:t>
                </a:r>
                <a:r>
                  <a:rPr lang="sv-SE" b="1" dirty="0" err="1" smtClean="0"/>
                  <a:t>switching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component</a:t>
                </a:r>
                <a:r>
                  <a:rPr lang="sv-SE" dirty="0" smtClean="0"/>
                  <a:t>—for </a:t>
                </a:r>
                <a:r>
                  <a:rPr lang="sv-SE" dirty="0" err="1" smtClean="0"/>
                  <a:t>example</a:t>
                </a:r>
                <a:r>
                  <a:rPr lang="sv-SE" dirty="0" smtClean="0"/>
                  <a:t> by: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v-SE" dirty="0" smtClean="0"/>
                  <a:t>Carrier </a:t>
                </a:r>
                <a:r>
                  <a:rPr lang="sv-SE" dirty="0" err="1" smtClean="0"/>
                  <a:t>phase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shifting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between</a:t>
                </a:r>
                <a:r>
                  <a:rPr lang="sv-SE" dirty="0" smtClean="0"/>
                  <a:t> the </a:t>
                </a:r>
                <a:r>
                  <a:rPr lang="sv-SE" dirty="0" err="1" smtClean="0"/>
                  <a:t>two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inverters</a:t>
                </a:r>
                <a:endParaRPr lang="sv-SE" dirty="0" smtClean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v-SE" dirty="0" err="1" smtClean="0"/>
                  <a:t>Asymmetric</a:t>
                </a:r>
                <a:r>
                  <a:rPr lang="sv-SE" dirty="0" smtClean="0"/>
                  <a:t> PWM </a:t>
                </a:r>
                <a:r>
                  <a:rPr lang="sv-SE" dirty="0" err="1" smtClean="0"/>
                  <a:t>sequencing</a:t>
                </a:r>
                <a:endParaRPr lang="sv-SE" dirty="0" smtClean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v-SE" dirty="0" err="1" smtClean="0"/>
                  <a:t>Controlled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zero-sequence</a:t>
                </a:r>
                <a:r>
                  <a:rPr lang="sv-SE" dirty="0" smtClean="0"/>
                  <a:t> </a:t>
                </a:r>
                <a:r>
                  <a:rPr lang="sv-SE" dirty="0" err="1" smtClean="0"/>
                  <a:t>differences</a:t>
                </a:r>
                <a:endParaRPr lang="sv-SE" dirty="0" smtClean="0"/>
              </a:p>
              <a:p>
                <a:r>
                  <a:rPr lang="sv-SE" dirty="0" smtClean="0"/>
                  <a:t>The </a:t>
                </a:r>
                <a:r>
                  <a:rPr lang="sv-SE" b="1" dirty="0" smtClean="0"/>
                  <a:t>fundamental </a:t>
                </a:r>
                <a:r>
                  <a:rPr lang="sv-SE" b="1" dirty="0" err="1" smtClean="0"/>
                  <a:t>torque-producing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voltage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remains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unchanged</a:t>
                </a:r>
                <a:r>
                  <a:rPr lang="sv-SE" dirty="0" smtClean="0"/>
                  <a:t>, </a:t>
                </a:r>
                <a:r>
                  <a:rPr lang="sv-SE" dirty="0" err="1" smtClean="0"/>
                  <a:t>while</a:t>
                </a:r>
                <a:r>
                  <a:rPr lang="sv-SE" dirty="0" smtClean="0"/>
                  <a:t> the </a:t>
                </a:r>
                <a:r>
                  <a:rPr lang="sv-SE" b="1" dirty="0" err="1" smtClean="0"/>
                  <a:t>high-frequency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voltage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across</a:t>
                </a:r>
                <a:r>
                  <a:rPr lang="sv-SE" b="1" dirty="0" smtClean="0"/>
                  <a:t> the </a:t>
                </a:r>
                <a:r>
                  <a:rPr lang="sv-SE" b="1" dirty="0" err="1" smtClean="0"/>
                  <a:t>phase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can</a:t>
                </a:r>
                <a:r>
                  <a:rPr lang="sv-SE" b="1" dirty="0" smtClean="0"/>
                  <a:t> be </a:t>
                </a:r>
                <a:r>
                  <a:rPr lang="sv-SE" b="1" dirty="0" err="1" smtClean="0"/>
                  <a:t>actively</a:t>
                </a:r>
                <a:r>
                  <a:rPr lang="sv-SE" b="1" dirty="0" smtClean="0"/>
                  <a:t> </a:t>
                </a:r>
                <a:r>
                  <a:rPr lang="sv-SE" b="1" dirty="0" err="1" smtClean="0"/>
                  <a:t>controlled</a:t>
                </a:r>
                <a:r>
                  <a:rPr lang="sv-SE" dirty="0" smtClean="0"/>
                  <a:t>.</a:t>
                </a:r>
                <a:endParaRPr lang="sv-SE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0175" y="2610683"/>
                <a:ext cx="6096000" cy="4247317"/>
              </a:xfrm>
              <a:prstGeom prst="rect">
                <a:avLst/>
              </a:prstGeom>
              <a:blipFill>
                <a:blip r:embed="rId3"/>
                <a:stretch>
                  <a:fillRect l="-900" t="-717" r="-100" b="-129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0004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Parallel Resonant Extraction: Using What Is Already There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06575"/>
            <a:ext cx="614045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 smtClean="0"/>
              <a:t>By connecting a </a:t>
            </a:r>
            <a:r>
              <a:rPr lang="en-US" b="1" dirty="0" smtClean="0"/>
              <a:t>high-frequency resonant branch</a:t>
            </a:r>
            <a:r>
              <a:rPr lang="en-US" dirty="0" smtClean="0"/>
              <a:t> (e.g., LC or LCL) </a:t>
            </a:r>
            <a:r>
              <a:rPr lang="en-US" b="1" dirty="0" smtClean="0"/>
              <a:t>in parallel with the phase terminals</a:t>
            </a:r>
            <a:r>
              <a:rPr lang="en-US" dirty="0" smtClean="0"/>
              <a:t>, tuned near the switching frequency:</a:t>
            </a:r>
          </a:p>
          <a:p>
            <a:pPr lvl="1"/>
            <a:r>
              <a:rPr lang="en-US" dirty="0" smtClean="0"/>
              <a:t>The resonant branch presents </a:t>
            </a:r>
            <a:r>
              <a:rPr lang="en-US" b="1" dirty="0" smtClean="0"/>
              <a:t>high impedance at fundamental frequency</a:t>
            </a:r>
            <a:endParaRPr lang="en-US" dirty="0" smtClean="0"/>
          </a:p>
          <a:p>
            <a:pPr lvl="1"/>
            <a:r>
              <a:rPr lang="en-US" dirty="0" smtClean="0"/>
              <a:t>And </a:t>
            </a:r>
            <a:r>
              <a:rPr lang="en-US" b="1" dirty="0" smtClean="0"/>
              <a:t>low impedance at switching frequency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As a result:</a:t>
            </a:r>
          </a:p>
          <a:p>
            <a:pPr lvl="1"/>
            <a:r>
              <a:rPr lang="en-US" dirty="0" smtClean="0"/>
              <a:t>The motor current and torque are essentially unaffected</a:t>
            </a:r>
          </a:p>
          <a:p>
            <a:pPr lvl="1"/>
            <a:r>
              <a:rPr lang="en-US" dirty="0" smtClean="0"/>
              <a:t>Only the switching-frequency voltage excites the resonant branch</a:t>
            </a:r>
          </a:p>
          <a:p>
            <a:pPr lvl="1"/>
            <a:r>
              <a:rPr lang="en-US" dirty="0" smtClean="0"/>
              <a:t>Auxiliary power is extracted without disturbing main operation</a:t>
            </a:r>
          </a:p>
          <a:p>
            <a:pPr marL="0" indent="0">
              <a:buNone/>
            </a:pPr>
            <a:r>
              <a:rPr lang="en-US" dirty="0" smtClean="0"/>
              <a:t>The auxiliary power level is then </a:t>
            </a:r>
            <a:r>
              <a:rPr lang="en-US" b="1" dirty="0" smtClean="0"/>
              <a:t>modulated electrically</a:t>
            </a:r>
            <a:r>
              <a:rPr lang="en-US" dirty="0" smtClean="0"/>
              <a:t>, not structurally—by adjusting:</a:t>
            </a:r>
          </a:p>
          <a:p>
            <a:pPr lvl="1"/>
            <a:r>
              <a:rPr lang="en-US" dirty="0" smtClean="0"/>
              <a:t>Carrier phase shift</a:t>
            </a:r>
          </a:p>
          <a:p>
            <a:pPr lvl="1"/>
            <a:r>
              <a:rPr lang="en-US" dirty="0" smtClean="0"/>
              <a:t>PWM timing</a:t>
            </a:r>
          </a:p>
          <a:p>
            <a:pPr lvl="1"/>
            <a:r>
              <a:rPr lang="en-US" dirty="0" smtClean="0"/>
              <a:t>Switching alignment</a:t>
            </a:r>
          </a:p>
          <a:p>
            <a:endParaRPr lang="sv-S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855" y="1981200"/>
            <a:ext cx="5354395" cy="356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098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the Main Inverter Barely Notices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This is the most important system-level conclusion:</a:t>
            </a:r>
          </a:p>
          <a:p>
            <a:pPr lvl="1"/>
            <a:r>
              <a:rPr lang="en-US" dirty="0" smtClean="0"/>
              <a:t>Auxiliary power demand: </a:t>
            </a:r>
            <a:r>
              <a:rPr lang="en-US" b="1" dirty="0" smtClean="0"/>
              <a:t>several kilowatts</a:t>
            </a:r>
            <a:endParaRPr lang="en-US" dirty="0" smtClean="0"/>
          </a:p>
          <a:p>
            <a:pPr lvl="1"/>
            <a:r>
              <a:rPr lang="en-US" dirty="0" smtClean="0"/>
              <a:t>Traction inverter rating: </a:t>
            </a:r>
            <a:r>
              <a:rPr lang="en-US" b="1" dirty="0" smtClean="0"/>
              <a:t>hundreds of kilowatts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Even if the auxiliary system draws power through switching harmonics:</a:t>
            </a:r>
          </a:p>
          <a:p>
            <a:pPr lvl="1"/>
            <a:r>
              <a:rPr lang="en-US" dirty="0" smtClean="0"/>
              <a:t>The </a:t>
            </a:r>
            <a:r>
              <a:rPr lang="en-US" b="1" dirty="0" smtClean="0"/>
              <a:t>additional current is small</a:t>
            </a:r>
            <a:endParaRPr lang="en-US" dirty="0" smtClean="0"/>
          </a:p>
          <a:p>
            <a:pPr lvl="1"/>
            <a:r>
              <a:rPr lang="en-US" dirty="0" smtClean="0"/>
              <a:t>The </a:t>
            </a:r>
            <a:r>
              <a:rPr lang="en-US" b="1" dirty="0" smtClean="0"/>
              <a:t>extra switching loss is marginal</a:t>
            </a:r>
            <a:endParaRPr lang="en-US" dirty="0" smtClean="0"/>
          </a:p>
          <a:p>
            <a:pPr lvl="1"/>
            <a:r>
              <a:rPr lang="en-US" dirty="0" smtClean="0"/>
              <a:t>Thermal impact is negligible compared to traction load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98980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Eliminated (and Why It Matters)</a:t>
            </a:r>
            <a:endParaRPr lang="sv-S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562" y="2254250"/>
            <a:ext cx="749617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075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Shift in Design Philosophy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/>
              <a:t>The classical EV approach separates:</a:t>
            </a:r>
          </a:p>
          <a:p>
            <a:pPr lvl="1"/>
            <a:r>
              <a:rPr lang="en-US" dirty="0" smtClean="0"/>
              <a:t>Main power conversion</a:t>
            </a:r>
          </a:p>
          <a:p>
            <a:pPr lvl="1"/>
            <a:r>
              <a:rPr lang="en-US" dirty="0" smtClean="0"/>
              <a:t>Auxiliary power conversion</a:t>
            </a:r>
          </a:p>
          <a:p>
            <a:pPr marL="0" indent="0">
              <a:buNone/>
            </a:pPr>
            <a:r>
              <a:rPr lang="en-US" dirty="0" smtClean="0"/>
              <a:t>The OEW + modulation-controlled resonant extraction approach unifies them.</a:t>
            </a:r>
          </a:p>
          <a:p>
            <a:pPr marL="0" indent="0">
              <a:buNone/>
            </a:pPr>
            <a:r>
              <a:rPr lang="en-US" dirty="0" smtClean="0"/>
              <a:t>This aligns naturally with:</a:t>
            </a:r>
          </a:p>
          <a:p>
            <a:pPr lvl="1"/>
            <a:r>
              <a:rPr lang="en-US" dirty="0" smtClean="0"/>
              <a:t>High-voltage EV platforms (800–1200 V)</a:t>
            </a:r>
          </a:p>
          <a:p>
            <a:pPr lvl="1"/>
            <a:r>
              <a:rPr lang="en-US" dirty="0" smtClean="0"/>
              <a:t>Power-density-driven designs</a:t>
            </a:r>
          </a:p>
          <a:p>
            <a:pPr lvl="1"/>
            <a:r>
              <a:rPr lang="en-US" dirty="0" smtClean="0"/>
              <a:t>Life-cycle and sustainability optimization</a:t>
            </a:r>
          </a:p>
          <a:p>
            <a:pPr lvl="1"/>
            <a:r>
              <a:rPr lang="en-US" dirty="0" smtClean="0"/>
              <a:t>Advanced modulation </a:t>
            </a:r>
            <a:r>
              <a:rPr lang="en-US" dirty="0" err="1" smtClean="0"/>
              <a:t>tecniques</a:t>
            </a:r>
            <a:endParaRPr lang="en-US" dirty="0" smtClean="0"/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445267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</p:spTree>
    <p:extLst>
      <p:ext uri="{BB962C8B-B14F-4D97-AF65-F5344CB8AC3E}">
        <p14:creationId xmlns:p14="http://schemas.microsoft.com/office/powerpoint/2010/main" val="951112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705" y="1663700"/>
            <a:ext cx="5354395" cy="35695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203450" y="2438400"/>
            <a:ext cx="609600" cy="279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sp>
        <p:nvSpPr>
          <p:cNvPr id="6" name="Rectangle 5"/>
          <p:cNvSpPr/>
          <p:nvPr/>
        </p:nvSpPr>
        <p:spPr>
          <a:xfrm>
            <a:off x="6419850" y="2438400"/>
            <a:ext cx="609600" cy="279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sp>
        <p:nvSpPr>
          <p:cNvPr id="7" name="Rectangle 6"/>
          <p:cNvSpPr/>
          <p:nvPr/>
        </p:nvSpPr>
        <p:spPr>
          <a:xfrm>
            <a:off x="2813050" y="3933824"/>
            <a:ext cx="475456" cy="1428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sp>
        <p:nvSpPr>
          <p:cNvPr id="8" name="Rectangle 7"/>
          <p:cNvSpPr/>
          <p:nvPr/>
        </p:nvSpPr>
        <p:spPr>
          <a:xfrm>
            <a:off x="2813050" y="4076699"/>
            <a:ext cx="325438" cy="581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7232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0660" y="1938020"/>
            <a:ext cx="48768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799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518</Words>
  <Application>Microsoft Office PowerPoint</Application>
  <PresentationFormat>Widescreen</PresentationFormat>
  <Paragraphs>65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The Traditional EV Architecture</vt:lpstr>
      <vt:lpstr>The Overlooked Resource: Harmonic Energy in the Traction Inverter</vt:lpstr>
      <vt:lpstr>Open-End Winding: Enabling Control</vt:lpstr>
      <vt:lpstr>Parallel Resonant Extraction: Using What Is Already There</vt:lpstr>
      <vt:lpstr>Why the Main Inverter Barely Notices</vt:lpstr>
      <vt:lpstr>What Is Eliminated (and Why It Matters)</vt:lpstr>
      <vt:lpstr>A Shift in Design Philosophy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9</cp:revision>
  <dcterms:created xsi:type="dcterms:W3CDTF">2026-02-05T08:13:11Z</dcterms:created>
  <dcterms:modified xsi:type="dcterms:W3CDTF">2026-02-06T10:20:40Z</dcterms:modified>
</cp:coreProperties>
</file>