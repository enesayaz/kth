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57" r:id="rId9"/>
    <p:sldId id="265" r:id="rId10"/>
    <p:sldId id="266" r:id="rId11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5210-FA09-4373-AFCC-33C76A1B3FFC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881E-EE2A-4D6D-A1FC-0E45A7B7D9B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4105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5210-FA09-4373-AFCC-33C76A1B3FFC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881E-EE2A-4D6D-A1FC-0E45A7B7D9B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0610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5210-FA09-4373-AFCC-33C76A1B3FFC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881E-EE2A-4D6D-A1FC-0E45A7B7D9B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5711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5210-FA09-4373-AFCC-33C76A1B3FFC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881E-EE2A-4D6D-A1FC-0E45A7B7D9B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71972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5210-FA09-4373-AFCC-33C76A1B3FFC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881E-EE2A-4D6D-A1FC-0E45A7B7D9B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1803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5210-FA09-4373-AFCC-33C76A1B3FFC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881E-EE2A-4D6D-A1FC-0E45A7B7D9B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29868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5210-FA09-4373-AFCC-33C76A1B3FFC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881E-EE2A-4D6D-A1FC-0E45A7B7D9B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0092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5210-FA09-4373-AFCC-33C76A1B3FFC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881E-EE2A-4D6D-A1FC-0E45A7B7D9B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40526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5210-FA09-4373-AFCC-33C76A1B3FFC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881E-EE2A-4D6D-A1FC-0E45A7B7D9B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3127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5210-FA09-4373-AFCC-33C76A1B3FFC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881E-EE2A-4D6D-A1FC-0E45A7B7D9B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6863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5210-FA09-4373-AFCC-33C76A1B3FFC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881E-EE2A-4D6D-A1FC-0E45A7B7D9B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013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55210-FA09-4373-AFCC-33C76A1B3FFC}" type="datetimeFigureOut">
              <a:rPr lang="sv-SE" smtClean="0"/>
              <a:t>2026-03-05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881E-EE2A-4D6D-A1FC-0E45A7B7D9B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26267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/>
              <a:t>The </a:t>
            </a:r>
            <a:r>
              <a:rPr lang="sv-SE" b="1" dirty="0" err="1"/>
              <a:t>Traditional</a:t>
            </a:r>
            <a:r>
              <a:rPr lang="sv-SE" b="1" dirty="0"/>
              <a:t> EV </a:t>
            </a:r>
            <a:r>
              <a:rPr lang="sv-SE" b="1" dirty="0" err="1"/>
              <a:t>Architecture</a:t>
            </a:r>
            <a:endParaRPr lang="sv-SE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450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Modern electric vehicles rely on a </a:t>
            </a:r>
            <a:r>
              <a:rPr lang="en-US" b="1" dirty="0"/>
              <a:t>high-power traction inverter</a:t>
            </a:r>
            <a:r>
              <a:rPr lang="en-US" dirty="0"/>
              <a:t>—often hundreds of kilowatts—to drive the electric machine.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Alongside this inverter, however, a </a:t>
            </a:r>
            <a:r>
              <a:rPr lang="en-US" b="1" dirty="0"/>
              <a:t>separate auxiliary power supply</a:t>
            </a:r>
            <a:r>
              <a:rPr lang="en-US" dirty="0"/>
              <a:t> is almost always present:</a:t>
            </a:r>
          </a:p>
          <a:p>
            <a:pPr lvl="1"/>
            <a:r>
              <a:rPr lang="en-US" dirty="0"/>
              <a:t>HV → LV DC/DC converters (for 12 V / 24 V buses)</a:t>
            </a:r>
          </a:p>
          <a:p>
            <a:pPr lvl="1"/>
            <a:r>
              <a:rPr lang="en-US" dirty="0"/>
              <a:t>Dedicated auxiliary inverters or converters</a:t>
            </a:r>
          </a:p>
          <a:p>
            <a:pPr lvl="1"/>
            <a:r>
              <a:rPr lang="en-US" dirty="0"/>
              <a:t>Extra semiconductors, magnetics, cooling, isolation, and protection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Although the </a:t>
            </a:r>
            <a:r>
              <a:rPr lang="en-US" b="1" dirty="0"/>
              <a:t>auxiliary power demand is tiny</a:t>
            </a:r>
            <a:r>
              <a:rPr lang="en-US" dirty="0"/>
              <a:t> (typically several kilowatts), it is served by a </a:t>
            </a:r>
            <a:r>
              <a:rPr lang="en-US" b="1" dirty="0"/>
              <a:t>fully independent power module</a:t>
            </a:r>
            <a:r>
              <a:rPr lang="en-US" dirty="0"/>
              <a:t>, designed, qualified, and cooled as if it were a major energy path.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creates a </a:t>
            </a:r>
            <a:r>
              <a:rPr lang="en-US" b="1" dirty="0"/>
              <a:t>structural inefficiency</a:t>
            </a:r>
            <a:r>
              <a:rPr lang="en-US" dirty="0"/>
              <a:t>: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45547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Overlooked Resource: Harmonic Energy in the Traction Inverter</a:t>
            </a:r>
            <a:endParaRPr lang="sv-SE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traction inverter already:</a:t>
            </a:r>
          </a:p>
          <a:p>
            <a:pPr lvl="1"/>
            <a:r>
              <a:rPr lang="en-US" dirty="0"/>
              <a:t>Switches at high frequency</a:t>
            </a:r>
          </a:p>
          <a:p>
            <a:pPr lvl="1"/>
            <a:r>
              <a:rPr lang="en-US" dirty="0"/>
              <a:t>Generates rich spectral content around the switching frequency</a:t>
            </a:r>
          </a:p>
          <a:p>
            <a:pPr lvl="1"/>
            <a:r>
              <a:rPr lang="en-US" dirty="0"/>
              <a:t>Handles voltages and currents far beyond auxiliary needs</a:t>
            </a:r>
          </a:p>
          <a:p>
            <a:pPr marL="0" indent="0">
              <a:buNone/>
            </a:pPr>
            <a:r>
              <a:rPr lang="en-US" dirty="0"/>
              <a:t>Traditionally, </a:t>
            </a:r>
            <a:r>
              <a:rPr lang="en-US" b="1" dirty="0"/>
              <a:t>harmonics are treated as a problem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Filtered</a:t>
            </a:r>
          </a:p>
          <a:p>
            <a:pPr lvl="1"/>
            <a:r>
              <a:rPr lang="en-US" dirty="0"/>
              <a:t>Suppressed</a:t>
            </a:r>
          </a:p>
          <a:p>
            <a:pPr lvl="1"/>
            <a:r>
              <a:rPr lang="en-US" dirty="0"/>
              <a:t>Minimized</a:t>
            </a:r>
          </a:p>
          <a:p>
            <a:pPr marL="0" indent="0">
              <a:buNone/>
            </a:pPr>
            <a:r>
              <a:rPr lang="en-US" dirty="0"/>
              <a:t>But fundamentally, these harmonics are </a:t>
            </a:r>
            <a:r>
              <a:rPr lang="en-US" b="1" dirty="0"/>
              <a:t>real electrical energy</a:t>
            </a:r>
            <a:r>
              <a:rPr lang="en-US" dirty="0"/>
              <a:t>, generated continuously during normal operation.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8077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Open-End Winding: Enabling Control</a:t>
            </a:r>
            <a:endParaRPr lang="sv-SE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89" y="2482849"/>
            <a:ext cx="4407362" cy="2860779"/>
          </a:xfrm>
        </p:spPr>
      </p:pic>
      <p:sp>
        <p:nvSpPr>
          <p:cNvPr id="5" name="Rectangle 4"/>
          <p:cNvSpPr/>
          <p:nvPr/>
        </p:nvSpPr>
        <p:spPr>
          <a:xfrm>
            <a:off x="5162550" y="143668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open-end winding (OEW) machine topology introduces </a:t>
            </a:r>
            <a:r>
              <a:rPr lang="en-US" b="1" dirty="0"/>
              <a:t>two independent inverter terminals per phase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does not just double hardware—it </a:t>
            </a:r>
            <a:r>
              <a:rPr lang="en-US" b="1" dirty="0"/>
              <a:t>introduces modulation redundancy</a:t>
            </a:r>
            <a:r>
              <a:rPr lang="en-US" dirty="0"/>
              <a:t>.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210175" y="2610683"/>
                <a:ext cx="6096000" cy="424731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sv-SE" dirty="0"/>
                  <a:t>For a given </a:t>
                </a:r>
                <a:r>
                  <a:rPr lang="sv-SE" dirty="0" err="1"/>
                  <a:t>phase</a:t>
                </a:r>
                <a:r>
                  <a:rPr lang="sv-SE" dirty="0"/>
                  <a:t> (</a:t>
                </a:r>
                <a:r>
                  <a:rPr lang="sv-SE" dirty="0" err="1"/>
                  <a:t>e.g</a:t>
                </a:r>
                <a:r>
                  <a:rPr lang="sv-SE" dirty="0"/>
                  <a:t>., </a:t>
                </a:r>
                <a:r>
                  <a:rPr lang="sv-SE" dirty="0" err="1"/>
                  <a:t>phase</a:t>
                </a:r>
                <a:r>
                  <a:rPr lang="sv-SE" dirty="0"/>
                  <a:t> A):</a:t>
                </a:r>
              </a:p>
              <a:p>
                <a:endParaRPr lang="sv-S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sv-SE" i="1" dirty="0" smtClean="0">
                              <a:latin typeface="Cambria Math" panose="02040503050406030204" pitchFamily="18" charset="0"/>
                            </a:rPr>
                            <m:t>𝐴𝐴</m:t>
                          </m:r>
                        </m:sub>
                      </m:sSub>
                      <m:d>
                        <m:dPr>
                          <m:ctrlPr>
                            <a:rPr lang="sv-S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sv-SE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 err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sv-SE" i="1" dirty="0" err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sv-SE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v-SE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sv-SE" i="1" dirty="0" smtClean="0"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 err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sv-SE" i="1" dirty="0" err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sv-SE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v-SE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sv-SE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v-SE" dirty="0"/>
              </a:p>
              <a:p>
                <a:endParaRPr lang="sv-SE" dirty="0"/>
              </a:p>
              <a:p>
                <a:r>
                  <a:rPr lang="sv-SE" dirty="0" err="1"/>
                  <a:t>This</a:t>
                </a:r>
                <a:r>
                  <a:rPr lang="sv-SE" dirty="0"/>
                  <a:t> </a:t>
                </a:r>
                <a:r>
                  <a:rPr lang="sv-SE" dirty="0" err="1"/>
                  <a:t>voltage</a:t>
                </a:r>
                <a:r>
                  <a:rPr lang="sv-SE" dirty="0"/>
                  <a:t> </a:t>
                </a:r>
                <a:r>
                  <a:rPr lang="sv-SE" dirty="0" err="1"/>
                  <a:t>naturally</a:t>
                </a:r>
                <a:r>
                  <a:rPr lang="sv-SE" dirty="0"/>
                  <a:t> </a:t>
                </a:r>
                <a:r>
                  <a:rPr lang="sv-SE" dirty="0" err="1"/>
                  <a:t>contains</a:t>
                </a:r>
                <a:r>
                  <a:rPr lang="sv-SE" dirty="0"/>
                  <a:t>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sv-SE" dirty="0"/>
                  <a:t>A </a:t>
                </a:r>
                <a:r>
                  <a:rPr lang="sv-SE" b="1" dirty="0"/>
                  <a:t>fundamental </a:t>
                </a:r>
                <a:r>
                  <a:rPr lang="sv-SE" b="1" dirty="0" err="1"/>
                  <a:t>component</a:t>
                </a:r>
                <a:r>
                  <a:rPr lang="sv-SE" dirty="0"/>
                  <a:t> → </a:t>
                </a:r>
                <a:r>
                  <a:rPr lang="sv-SE" dirty="0" err="1"/>
                  <a:t>torque</a:t>
                </a:r>
                <a:r>
                  <a:rPr lang="sv-SE" dirty="0"/>
                  <a:t> </a:t>
                </a:r>
                <a:r>
                  <a:rPr lang="sv-SE" dirty="0" err="1"/>
                  <a:t>production</a:t>
                </a:r>
                <a:endParaRPr lang="sv-SE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sv-SE" dirty="0"/>
                  <a:t>A </a:t>
                </a:r>
                <a:r>
                  <a:rPr lang="sv-SE" b="1" dirty="0" err="1"/>
                  <a:t>harmonic</a:t>
                </a:r>
                <a:r>
                  <a:rPr lang="sv-SE" b="1" dirty="0"/>
                  <a:t> </a:t>
                </a:r>
                <a:r>
                  <a:rPr lang="sv-SE" b="1" dirty="0" err="1"/>
                  <a:t>component</a:t>
                </a:r>
                <a:r>
                  <a:rPr lang="sv-SE" dirty="0"/>
                  <a:t> → </a:t>
                </a:r>
                <a:r>
                  <a:rPr lang="sv-SE" dirty="0" err="1"/>
                  <a:t>normally</a:t>
                </a:r>
                <a:r>
                  <a:rPr lang="sv-SE" dirty="0"/>
                  <a:t> </a:t>
                </a:r>
                <a:r>
                  <a:rPr lang="sv-SE" dirty="0" err="1"/>
                  <a:t>unused</a:t>
                </a:r>
                <a:endParaRPr lang="sv-SE" dirty="0"/>
              </a:p>
              <a:p>
                <a:r>
                  <a:rPr lang="sv-SE" dirty="0" err="1"/>
                  <a:t>Crucially</a:t>
                </a:r>
                <a:r>
                  <a:rPr lang="sv-SE" dirty="0"/>
                  <a:t>, OEW </a:t>
                </a:r>
                <a:r>
                  <a:rPr lang="sv-SE" dirty="0" err="1"/>
                  <a:t>allows</a:t>
                </a:r>
                <a:r>
                  <a:rPr lang="sv-SE" dirty="0"/>
                  <a:t> </a:t>
                </a:r>
                <a:r>
                  <a:rPr lang="sv-SE" b="1" dirty="0"/>
                  <a:t>independent </a:t>
                </a:r>
                <a:r>
                  <a:rPr lang="sv-SE" b="1" dirty="0" err="1"/>
                  <a:t>shaping</a:t>
                </a:r>
                <a:r>
                  <a:rPr lang="sv-SE" b="1" dirty="0"/>
                  <a:t> </a:t>
                </a:r>
                <a:r>
                  <a:rPr lang="sv-SE" b="1" dirty="0" err="1"/>
                  <a:t>of</a:t>
                </a:r>
                <a:r>
                  <a:rPr lang="sv-SE" b="1" dirty="0"/>
                  <a:t> the </a:t>
                </a:r>
                <a:r>
                  <a:rPr lang="sv-SE" b="1" dirty="0" err="1"/>
                  <a:t>switching</a:t>
                </a:r>
                <a:r>
                  <a:rPr lang="sv-SE" b="1" dirty="0"/>
                  <a:t> </a:t>
                </a:r>
                <a:r>
                  <a:rPr lang="sv-SE" b="1" dirty="0" err="1"/>
                  <a:t>component</a:t>
                </a:r>
                <a:r>
                  <a:rPr lang="sv-SE" dirty="0"/>
                  <a:t>—for </a:t>
                </a:r>
                <a:r>
                  <a:rPr lang="sv-SE" dirty="0" err="1"/>
                  <a:t>example</a:t>
                </a:r>
                <a:r>
                  <a:rPr lang="sv-SE" dirty="0"/>
                  <a:t> by: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sv-SE" dirty="0"/>
                  <a:t>Carrier </a:t>
                </a:r>
                <a:r>
                  <a:rPr lang="sv-SE" dirty="0" err="1"/>
                  <a:t>phase</a:t>
                </a:r>
                <a:r>
                  <a:rPr lang="sv-SE" dirty="0"/>
                  <a:t> </a:t>
                </a:r>
                <a:r>
                  <a:rPr lang="sv-SE" dirty="0" err="1"/>
                  <a:t>shifting</a:t>
                </a:r>
                <a:r>
                  <a:rPr lang="sv-SE" dirty="0"/>
                  <a:t> </a:t>
                </a:r>
                <a:r>
                  <a:rPr lang="sv-SE" dirty="0" err="1"/>
                  <a:t>between</a:t>
                </a:r>
                <a:r>
                  <a:rPr lang="sv-SE" dirty="0"/>
                  <a:t> the </a:t>
                </a:r>
                <a:r>
                  <a:rPr lang="sv-SE" dirty="0" err="1"/>
                  <a:t>two</a:t>
                </a:r>
                <a:r>
                  <a:rPr lang="sv-SE" dirty="0"/>
                  <a:t> </a:t>
                </a:r>
                <a:r>
                  <a:rPr lang="sv-SE" dirty="0" err="1"/>
                  <a:t>inverters</a:t>
                </a:r>
                <a:endParaRPr lang="sv-SE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sv-SE" dirty="0" err="1"/>
                  <a:t>Asymmetric</a:t>
                </a:r>
                <a:r>
                  <a:rPr lang="sv-SE" dirty="0"/>
                  <a:t> PWM </a:t>
                </a:r>
                <a:r>
                  <a:rPr lang="sv-SE" dirty="0" err="1"/>
                  <a:t>sequencing</a:t>
                </a:r>
                <a:endParaRPr lang="sv-SE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sv-SE" dirty="0" err="1"/>
                  <a:t>Controlled</a:t>
                </a:r>
                <a:r>
                  <a:rPr lang="sv-SE" dirty="0"/>
                  <a:t> </a:t>
                </a:r>
                <a:r>
                  <a:rPr lang="sv-SE" dirty="0" err="1"/>
                  <a:t>zero-sequence</a:t>
                </a:r>
                <a:r>
                  <a:rPr lang="sv-SE" dirty="0"/>
                  <a:t> </a:t>
                </a:r>
                <a:r>
                  <a:rPr lang="sv-SE" dirty="0" err="1"/>
                  <a:t>differences</a:t>
                </a:r>
                <a:endParaRPr lang="sv-SE" dirty="0"/>
              </a:p>
              <a:p>
                <a:r>
                  <a:rPr lang="sv-SE" dirty="0"/>
                  <a:t>The </a:t>
                </a:r>
                <a:r>
                  <a:rPr lang="sv-SE" b="1" dirty="0"/>
                  <a:t>fundamental </a:t>
                </a:r>
                <a:r>
                  <a:rPr lang="sv-SE" b="1" dirty="0" err="1"/>
                  <a:t>torque-producing</a:t>
                </a:r>
                <a:r>
                  <a:rPr lang="sv-SE" b="1" dirty="0"/>
                  <a:t> </a:t>
                </a:r>
                <a:r>
                  <a:rPr lang="sv-SE" b="1" dirty="0" err="1"/>
                  <a:t>voltage</a:t>
                </a:r>
                <a:r>
                  <a:rPr lang="sv-SE" b="1" dirty="0"/>
                  <a:t> </a:t>
                </a:r>
                <a:r>
                  <a:rPr lang="sv-SE" b="1" dirty="0" err="1"/>
                  <a:t>remains</a:t>
                </a:r>
                <a:r>
                  <a:rPr lang="sv-SE" b="1" dirty="0"/>
                  <a:t> </a:t>
                </a:r>
                <a:r>
                  <a:rPr lang="sv-SE" b="1" dirty="0" err="1"/>
                  <a:t>unchanged</a:t>
                </a:r>
                <a:r>
                  <a:rPr lang="sv-SE" dirty="0"/>
                  <a:t>, </a:t>
                </a:r>
                <a:r>
                  <a:rPr lang="sv-SE" dirty="0" err="1"/>
                  <a:t>while</a:t>
                </a:r>
                <a:r>
                  <a:rPr lang="sv-SE" dirty="0"/>
                  <a:t> the </a:t>
                </a:r>
                <a:r>
                  <a:rPr lang="sv-SE" b="1" dirty="0" err="1"/>
                  <a:t>high-frequency</a:t>
                </a:r>
                <a:r>
                  <a:rPr lang="sv-SE" b="1" dirty="0"/>
                  <a:t> </a:t>
                </a:r>
                <a:r>
                  <a:rPr lang="sv-SE" b="1" dirty="0" err="1"/>
                  <a:t>voltage</a:t>
                </a:r>
                <a:r>
                  <a:rPr lang="sv-SE" b="1" dirty="0"/>
                  <a:t> </a:t>
                </a:r>
                <a:r>
                  <a:rPr lang="sv-SE" b="1" dirty="0" err="1"/>
                  <a:t>across</a:t>
                </a:r>
                <a:r>
                  <a:rPr lang="sv-SE" b="1" dirty="0"/>
                  <a:t> the </a:t>
                </a:r>
                <a:r>
                  <a:rPr lang="sv-SE" b="1" dirty="0" err="1"/>
                  <a:t>phase</a:t>
                </a:r>
                <a:r>
                  <a:rPr lang="sv-SE" b="1" dirty="0"/>
                  <a:t> </a:t>
                </a:r>
                <a:r>
                  <a:rPr lang="sv-SE" b="1" dirty="0" err="1"/>
                  <a:t>can</a:t>
                </a:r>
                <a:r>
                  <a:rPr lang="sv-SE" b="1" dirty="0"/>
                  <a:t> be </a:t>
                </a:r>
                <a:r>
                  <a:rPr lang="sv-SE" b="1" dirty="0" err="1"/>
                  <a:t>actively</a:t>
                </a:r>
                <a:r>
                  <a:rPr lang="sv-SE" b="1" dirty="0"/>
                  <a:t> </a:t>
                </a:r>
                <a:r>
                  <a:rPr lang="sv-SE" b="1" dirty="0" err="1"/>
                  <a:t>controlled</a:t>
                </a:r>
                <a:r>
                  <a:rPr lang="sv-SE" dirty="0"/>
                  <a:t>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175" y="2610683"/>
                <a:ext cx="6096000" cy="4247317"/>
              </a:xfrm>
              <a:prstGeom prst="rect">
                <a:avLst/>
              </a:prstGeom>
              <a:blipFill>
                <a:blip r:embed="rId3"/>
                <a:stretch>
                  <a:fillRect l="-900" t="-717" r="-100" b="-129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004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Resonant Extraction: Using What Is Already There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06575"/>
            <a:ext cx="614045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By connecting a </a:t>
            </a:r>
            <a:r>
              <a:rPr lang="en-US" b="1" dirty="0"/>
              <a:t>high-frequency resonant branch</a:t>
            </a:r>
            <a:r>
              <a:rPr lang="en-US" dirty="0"/>
              <a:t> (e.g., LC or LCL) </a:t>
            </a:r>
            <a:r>
              <a:rPr lang="en-US" b="1" dirty="0"/>
              <a:t>in parallel with the phase terminals</a:t>
            </a:r>
            <a:r>
              <a:rPr lang="en-US" dirty="0"/>
              <a:t>, tuned near the switching frequency:</a:t>
            </a:r>
          </a:p>
          <a:p>
            <a:pPr lvl="1"/>
            <a:r>
              <a:rPr lang="en-US" dirty="0"/>
              <a:t>The resonant branch presents </a:t>
            </a:r>
            <a:r>
              <a:rPr lang="en-US" b="1" dirty="0"/>
              <a:t>high impedance at fundamental frequency</a:t>
            </a:r>
            <a:endParaRPr lang="en-US" dirty="0"/>
          </a:p>
          <a:p>
            <a:pPr lvl="1"/>
            <a:r>
              <a:rPr lang="en-US" dirty="0"/>
              <a:t>And </a:t>
            </a:r>
            <a:r>
              <a:rPr lang="en-US" b="1" dirty="0"/>
              <a:t>low impedance at switching frequency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As a result:</a:t>
            </a:r>
          </a:p>
          <a:p>
            <a:pPr lvl="1"/>
            <a:r>
              <a:rPr lang="en-US" dirty="0"/>
              <a:t>The motor current and torque are essentially unaffected</a:t>
            </a:r>
          </a:p>
          <a:p>
            <a:pPr lvl="1"/>
            <a:r>
              <a:rPr lang="en-US" dirty="0"/>
              <a:t>Only the switching-frequency voltage excites the resonant branch</a:t>
            </a:r>
          </a:p>
          <a:p>
            <a:pPr lvl="1"/>
            <a:r>
              <a:rPr lang="en-US" dirty="0"/>
              <a:t>Auxiliary power is extracted without disturbing main operation</a:t>
            </a:r>
          </a:p>
          <a:p>
            <a:pPr marL="0" indent="0">
              <a:buNone/>
            </a:pPr>
            <a:r>
              <a:rPr lang="en-US" dirty="0"/>
              <a:t>The auxiliary power level is then </a:t>
            </a:r>
            <a:r>
              <a:rPr lang="en-US" b="1" dirty="0"/>
              <a:t>modulated electrically</a:t>
            </a:r>
            <a:r>
              <a:rPr lang="en-US" dirty="0"/>
              <a:t>, not structurally—by adjusting:</a:t>
            </a:r>
          </a:p>
          <a:p>
            <a:pPr lvl="1"/>
            <a:r>
              <a:rPr lang="en-US" dirty="0"/>
              <a:t>Carrier phase shift</a:t>
            </a:r>
          </a:p>
          <a:p>
            <a:pPr lvl="1"/>
            <a:r>
              <a:rPr lang="en-US" dirty="0"/>
              <a:t>PWM timing</a:t>
            </a:r>
          </a:p>
          <a:p>
            <a:pPr lvl="1"/>
            <a:r>
              <a:rPr lang="en-US" dirty="0"/>
              <a:t>Switching alignment</a:t>
            </a:r>
          </a:p>
          <a:p>
            <a:endParaRPr lang="sv-S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855" y="1981200"/>
            <a:ext cx="5354395" cy="35695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AD7F45-2D3B-A2A1-FF61-B7925FE32E48}"/>
              </a:ext>
            </a:extLst>
          </p:cNvPr>
          <p:cNvSpPr txBox="1"/>
          <p:nvPr/>
        </p:nvSpPr>
        <p:spPr>
          <a:xfrm>
            <a:off x="7767686" y="5550796"/>
            <a:ext cx="247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Back-up power supply.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68098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Main Inverter Barely Notices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the most important system-level conclusion:</a:t>
            </a:r>
          </a:p>
          <a:p>
            <a:pPr lvl="1"/>
            <a:r>
              <a:rPr lang="en-US" dirty="0"/>
              <a:t>Auxiliary power demand: </a:t>
            </a:r>
            <a:r>
              <a:rPr lang="en-US" b="1" dirty="0"/>
              <a:t>several kilowatts</a:t>
            </a:r>
            <a:endParaRPr lang="en-US" dirty="0"/>
          </a:p>
          <a:p>
            <a:pPr lvl="1"/>
            <a:r>
              <a:rPr lang="en-US" dirty="0"/>
              <a:t>Traction inverter rating: </a:t>
            </a:r>
            <a:r>
              <a:rPr lang="en-US" b="1" dirty="0"/>
              <a:t>hundreds of kilowatts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Even if the auxiliary system draws power through switching harmonics: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additional current is small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b="1" dirty="0"/>
              <a:t>extra switching loss is marginal</a:t>
            </a:r>
            <a:endParaRPr lang="en-US" dirty="0"/>
          </a:p>
          <a:p>
            <a:pPr lvl="1"/>
            <a:r>
              <a:rPr lang="en-US" dirty="0"/>
              <a:t>Thermal impact is negligible compared to traction load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98980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Eliminated (and Why It Matters)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2254250"/>
            <a:ext cx="749617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75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Shift in Design Philosophy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classical EV approach separates:</a:t>
            </a:r>
          </a:p>
          <a:p>
            <a:pPr lvl="1"/>
            <a:r>
              <a:rPr lang="en-US" dirty="0"/>
              <a:t>Main power conversion</a:t>
            </a:r>
          </a:p>
          <a:p>
            <a:pPr lvl="1"/>
            <a:r>
              <a:rPr lang="en-US" dirty="0"/>
              <a:t>Auxiliary power conversion</a:t>
            </a:r>
          </a:p>
          <a:p>
            <a:pPr marL="0" indent="0">
              <a:buNone/>
            </a:pPr>
            <a:r>
              <a:rPr lang="en-US" dirty="0"/>
              <a:t>The OEW + modulation-controlled resonant extraction approach unifies them.</a:t>
            </a:r>
          </a:p>
          <a:p>
            <a:pPr marL="0" indent="0">
              <a:buNone/>
            </a:pPr>
            <a:r>
              <a:rPr lang="en-US" dirty="0"/>
              <a:t>This aligns naturally with:</a:t>
            </a:r>
          </a:p>
          <a:p>
            <a:pPr lvl="1"/>
            <a:r>
              <a:rPr lang="en-US" dirty="0"/>
              <a:t>High-voltage EV platforms (800–1200 V)</a:t>
            </a:r>
          </a:p>
          <a:p>
            <a:pPr lvl="1"/>
            <a:r>
              <a:rPr lang="en-US" dirty="0"/>
              <a:t>Power-density-driven designs</a:t>
            </a:r>
          </a:p>
          <a:p>
            <a:pPr lvl="1"/>
            <a:r>
              <a:rPr lang="en-US" dirty="0"/>
              <a:t>Life-cycle and sustainability optimization</a:t>
            </a:r>
          </a:p>
          <a:p>
            <a:pPr lvl="1"/>
            <a:r>
              <a:rPr lang="en-US" dirty="0"/>
              <a:t>Advanced modulation </a:t>
            </a:r>
            <a:r>
              <a:rPr lang="en-US" dirty="0" err="1"/>
              <a:t>tecniques</a:t>
            </a:r>
            <a:endParaRPr lang="en-US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45267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951112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705" y="1663700"/>
            <a:ext cx="5354395" cy="35695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03450" y="2438400"/>
            <a:ext cx="6096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" name="Rectangle 5"/>
          <p:cNvSpPr/>
          <p:nvPr/>
        </p:nvSpPr>
        <p:spPr>
          <a:xfrm>
            <a:off x="6419850" y="2438400"/>
            <a:ext cx="6096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2813050" y="3933824"/>
            <a:ext cx="475456" cy="142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8" name="Rectangle 7"/>
          <p:cNvSpPr/>
          <p:nvPr/>
        </p:nvSpPr>
        <p:spPr>
          <a:xfrm>
            <a:off x="2813050" y="4076699"/>
            <a:ext cx="325438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7232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660" y="1938020"/>
            <a:ext cx="48768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99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522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The Traditional EV Architecture</vt:lpstr>
      <vt:lpstr>The Overlooked Resource: Harmonic Energy in the Traction Inverter</vt:lpstr>
      <vt:lpstr>Open-End Winding: Enabling Control</vt:lpstr>
      <vt:lpstr>Parallel Resonant Extraction: Using What Is Already There</vt:lpstr>
      <vt:lpstr>Why the Main Inverter Barely Notices</vt:lpstr>
      <vt:lpstr>What Is Eliminated (and Why It Matters)</vt:lpstr>
      <vt:lpstr>A Shift in Design Philosophy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10</cp:revision>
  <dcterms:created xsi:type="dcterms:W3CDTF">2026-02-05T08:13:11Z</dcterms:created>
  <dcterms:modified xsi:type="dcterms:W3CDTF">2026-03-05T08:57:56Z</dcterms:modified>
</cp:coreProperties>
</file>