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5"/>
  </p:sldMasterIdLst>
  <p:notesMasterIdLst>
    <p:notesMasterId r:id="rId7"/>
  </p:notesMasterIdLst>
  <p:sldIdLst>
    <p:sldId id="260" r:id="rId6"/>
  </p:sldIdLst>
  <p:sldSz cx="12192000" cy="6858000"/>
  <p:notesSz cx="6858000" cy="9144000"/>
  <p:embeddedFontLst>
    <p:embeddedFont>
      <p:font typeface="Figtree" pitchFamily="2" charset="0"/>
      <p:regular r:id="rId8"/>
      <p:bold r:id="rId9"/>
      <p:italic r:id="rId10"/>
      <p:boldItalic r:id="rId11"/>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D0F315-6B1A-48DB-8680-C0B8ECC0DFD3}" v="2" dt="2025-10-14T07:48:56.0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7"/>
  </p:normalViewPr>
  <p:slideViewPr>
    <p:cSldViewPr snapToGrid="0">
      <p:cViewPr varScale="1">
        <p:scale>
          <a:sx n="112" d="100"/>
          <a:sy n="112" d="100"/>
        </p:scale>
        <p:origin x="5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4.fntdata"/><Relationship Id="rId5" Type="http://schemas.openxmlformats.org/officeDocument/2006/relationships/slideMaster" Target="slideMasters/slideMaster1.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customXml" Target="../customXml/item4.xml"/><Relationship Id="rId9" Type="http://schemas.openxmlformats.org/officeDocument/2006/relationships/font" Target="fonts/font2.fntdata"/><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 Peretti" userId="6c7208be-bc84-4004-b207-2e384f3ab165" providerId="ADAL" clId="{4A822A33-DE9B-47E6-84B8-6EDB44A76EC8}"/>
    <pc:docChg chg="modSld">
      <pc:chgData name="Luca Peretti" userId="6c7208be-bc84-4004-b207-2e384f3ab165" providerId="ADAL" clId="{4A822A33-DE9B-47E6-84B8-6EDB44A76EC8}" dt="2025-10-14T07:52:33.792" v="10" actId="20577"/>
      <pc:docMkLst>
        <pc:docMk/>
      </pc:docMkLst>
      <pc:sldChg chg="modSp mod">
        <pc:chgData name="Luca Peretti" userId="6c7208be-bc84-4004-b207-2e384f3ab165" providerId="ADAL" clId="{4A822A33-DE9B-47E6-84B8-6EDB44A76EC8}" dt="2025-10-14T07:52:33.792" v="10" actId="20577"/>
        <pc:sldMkLst>
          <pc:docMk/>
          <pc:sldMk cId="214614124" sldId="260"/>
        </pc:sldMkLst>
        <pc:spChg chg="mod">
          <ac:chgData name="Luca Peretti" userId="6c7208be-bc84-4004-b207-2e384f3ab165" providerId="ADAL" clId="{4A822A33-DE9B-47E6-84B8-6EDB44A76EC8}" dt="2025-10-14T07:52:33.792" v="10" actId="20577"/>
          <ac:spMkLst>
            <pc:docMk/>
            <pc:sldMk cId="214614124" sldId="260"/>
            <ac:spMk id="2" creationId="{00000000-0000-0000-0000-000000000000}"/>
          </ac:spMkLst>
        </pc:spChg>
        <pc:spChg chg="mod">
          <ac:chgData name="Luca Peretti" userId="6c7208be-bc84-4004-b207-2e384f3ab165" providerId="ADAL" clId="{4A822A33-DE9B-47E6-84B8-6EDB44A76EC8}" dt="2025-10-14T07:49:18.035" v="2" actId="207"/>
          <ac:spMkLst>
            <pc:docMk/>
            <pc:sldMk cId="214614124" sldId="26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2025-10-14</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2025-10-14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2025-10-14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2025-10-14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2025-10-14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2025-10-14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2025-10-14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2025-10-14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2025-10-14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2025-10-14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2025-10-14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2025-10-14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2025-10-14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2025-10-14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2025-10-14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2025-10-14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2025-10-14</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2025-10-14</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2025-10-14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2025-10-14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2025-10-14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2025-10-14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2025-10-14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2025-10-14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2025-10-14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2025-10-14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2025-10-14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2025-10-14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2025-10-14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2025-10-14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2025-10-14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2025-10-14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2025-10-14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2025-10-14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2025-10-14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2025-10-14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2025-10-14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2025-10-14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2025-10-14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2025-10-14</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2025-10-14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2025-10-14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2025-10-14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2025-10-14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2025-10-14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2025-10-14</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hyperlink" Target="https://lnkd.in/dGS_dVVg" TargetMode="External"/><Relationship Id="rId13" Type="http://schemas.openxmlformats.org/officeDocument/2006/relationships/hyperlink" Target="https://www.thedrive.com/news/heres-how-koenigseggs-dark-matter-electric-motor-makes-800-hp" TargetMode="External"/><Relationship Id="rId18" Type="http://schemas.openxmlformats.org/officeDocument/2006/relationships/hyperlink" Target="https://www.danatm4.com/products/systems/sumo-hd/" TargetMode="External"/><Relationship Id="rId3" Type="http://schemas.openxmlformats.org/officeDocument/2006/relationships/hyperlink" Target="https://www.carexpert.com.au/car-news/bmw-reveals-its-fastest-electric-vehicle-yet" TargetMode="External"/><Relationship Id="rId21" Type="http://schemas.openxmlformats.org/officeDocument/2006/relationships/hyperlink" Target="https://www.automotivepowertraintechnologyinternational.com/news/transmissions-technologies/ricardo-presents-novel-transverse-dct-concept.html" TargetMode="External"/><Relationship Id="rId7" Type="http://schemas.openxmlformats.org/officeDocument/2006/relationships/hyperlink" Target="https://www.automotivepowertraintechnologyinternational.com/news/electric-powertrain-technologies/audi-shows-off-lightweight-formula-e-motor-inverter.html" TargetMode="External"/><Relationship Id="rId12" Type="http://schemas.openxmlformats.org/officeDocument/2006/relationships/hyperlink" Target="https://porschecarshistory.com/wp-content/old/lib/magazines/RE/2020/RE2020-10.pdf" TargetMode="External"/><Relationship Id="rId17" Type="http://schemas.openxmlformats.org/officeDocument/2006/relationships/hyperlink" Target="https://www.gemmotors.si/gem-motors-developed-a-new-motor-for-lev-market/" TargetMode="External"/><Relationship Id="rId2" Type="http://schemas.openxmlformats.org/officeDocument/2006/relationships/hyperlink" Target="https://www.motortrend.com/news/2023-bmw-ix-m60-xdrive50-edrive-electric-motors-explained/" TargetMode="External"/><Relationship Id="rId16" Type="http://schemas.openxmlformats.org/officeDocument/2006/relationships/hyperlink" Target="https://www.theengineer.co.uk/content/in-depth/c2i-2019-uk-developed-magnet-free-electric-motor-ready-for-the-road/" TargetMode="External"/><Relationship Id="rId20" Type="http://schemas.openxmlformats.org/officeDocument/2006/relationships/hyperlink" Target="https://www.youtube.com/watch?v=V91Ja2ZnOgI&amp;t=886s&amp;ab_channel=OutofSpecRenew" TargetMode="External"/><Relationship Id="rId1" Type="http://schemas.openxmlformats.org/officeDocument/2006/relationships/slideLayout" Target="../slideLayouts/slideLayout12.xml"/><Relationship Id="rId6" Type="http://schemas.openxmlformats.org/officeDocument/2006/relationships/hyperlink" Target="https://www.caranddriver.com/news/a61547194/nascar-electric-prototype-details/" TargetMode="External"/><Relationship Id="rId11" Type="http://schemas.openxmlformats.org/officeDocument/2006/relationships/hyperlink" Target="https://www.motorindiaonline.in/skoda-group-debuts-at-busworld-2023-with-cutting-edge-urban-mobility-solutions/" TargetMode="External"/><Relationship Id="rId5" Type="http://schemas.openxmlformats.org/officeDocument/2006/relationships/hyperlink" Target="https://lnkd.in/dhSGEP9v" TargetMode="External"/><Relationship Id="rId15" Type="http://schemas.openxmlformats.org/officeDocument/2006/relationships/hyperlink" Target="https://carbuzz.com/news/872-hp-electric-motor-revealed-for-mystery-hypercar/" TargetMode="External"/><Relationship Id="rId10" Type="http://schemas.openxmlformats.org/officeDocument/2006/relationships/hyperlink" Target="https://www.driving.co.uk/news/motor-sport/wild-electric-ford-supervan-4-2-is-ready-to-tackle-pikes-peak-with-1400bhp/" TargetMode="External"/><Relationship Id="rId19" Type="http://schemas.openxmlformats.org/officeDocument/2006/relationships/hyperlink" Target="https://www.busnews.com.au/bus-stop-unveils-new-high-floor-electric-coach-model/" TargetMode="External"/><Relationship Id="rId4" Type="http://schemas.openxmlformats.org/officeDocument/2006/relationships/hyperlink" Target="https://www.greencarcongress.com/2021/04/20210404-eqs.html" TargetMode="External"/><Relationship Id="rId9" Type="http://schemas.openxmlformats.org/officeDocument/2006/relationships/hyperlink" Target="https://www.carsales.com.au/editorial/details/motorsport-f-150-lightning-set-for-pikes-peak-146419/" TargetMode="External"/><Relationship Id="rId14" Type="http://schemas.openxmlformats.org/officeDocument/2006/relationships/hyperlink" Target="https://www.motivtrucks.com/news/motiv-power-systems-launches-next-generation-all-electric-trucks-for-medium-duty-flee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sz="2000" dirty="0"/>
              <a:t>(</a:t>
            </a:r>
            <a:r>
              <a:rPr lang="sv-SE" sz="2000" dirty="0" err="1"/>
              <a:t>Incomplete</a:t>
            </a:r>
            <a:r>
              <a:rPr lang="sv-SE" sz="2000" dirty="0"/>
              <a:t>) list of </a:t>
            </a:r>
            <a:r>
              <a:rPr lang="en-US" sz="2000" dirty="0"/>
              <a:t>of multiphase products we found in the electromobility sector</a:t>
            </a:r>
          </a:p>
        </p:txBody>
      </p:sp>
      <p:sp>
        <p:nvSpPr>
          <p:cNvPr id="3" name="Content Placeholder 2"/>
          <p:cNvSpPr>
            <a:spLocks noGrp="1"/>
          </p:cNvSpPr>
          <p:nvPr>
            <p:ph idx="1"/>
          </p:nvPr>
        </p:nvSpPr>
        <p:spPr/>
        <p:txBody>
          <a:bodyPr/>
          <a:lstStyle/>
          <a:p>
            <a:pPr marL="171450" indent="-171450">
              <a:lnSpc>
                <a:spcPct val="100000"/>
              </a:lnSpc>
              <a:spcBef>
                <a:spcPts val="600"/>
              </a:spcBef>
            </a:pPr>
            <a:r>
              <a:rPr lang="en-US" sz="900" dirty="0"/>
              <a:t>BMW Group ix M60: “It does this by adding a second full set of three-phase windings” </a:t>
            </a:r>
            <a:r>
              <a:rPr lang="en-US" sz="900" dirty="0">
                <a:hlinkClick r:id="rId2"/>
              </a:rPr>
              <a:t>How the BMW </a:t>
            </a:r>
            <a:r>
              <a:rPr lang="en-US" sz="900" dirty="0" err="1">
                <a:hlinkClick r:id="rId2"/>
              </a:rPr>
              <a:t>iX</a:t>
            </a:r>
            <a:r>
              <a:rPr lang="en-US" sz="900" dirty="0">
                <a:hlinkClick r:id="rId2"/>
              </a:rPr>
              <a:t> M60 Soups Up Its Most Powerful </a:t>
            </a:r>
            <a:r>
              <a:rPr lang="en-US" sz="900" dirty="0" err="1">
                <a:hlinkClick r:id="rId2"/>
              </a:rPr>
              <a:t>eDrive</a:t>
            </a:r>
            <a:r>
              <a:rPr lang="en-US" sz="900" dirty="0">
                <a:hlinkClick r:id="rId2"/>
              </a:rPr>
              <a:t> Powertrain</a:t>
            </a:r>
            <a:endParaRPr lang="en-US" sz="900" dirty="0"/>
          </a:p>
          <a:p>
            <a:pPr marL="171450" indent="-171450">
              <a:lnSpc>
                <a:spcPct val="100000"/>
              </a:lnSpc>
              <a:spcBef>
                <a:spcPts val="600"/>
              </a:spcBef>
            </a:pPr>
            <a:r>
              <a:rPr lang="en-US" sz="900" dirty="0"/>
              <a:t>BMW i7 M70: “it uses a six-phase design with a dual inverter, offering a density of 2.41kW/kg” </a:t>
            </a:r>
            <a:r>
              <a:rPr lang="en-US" sz="900" dirty="0">
                <a:hlinkClick r:id="rId3"/>
              </a:rPr>
              <a:t>BMW reveals its fastest electric vehicle yet | </a:t>
            </a:r>
            <a:r>
              <a:rPr lang="en-US" sz="900" dirty="0" err="1">
                <a:hlinkClick r:id="rId3"/>
              </a:rPr>
              <a:t>CarExpert</a:t>
            </a:r>
            <a:endParaRPr lang="en-US" sz="900" dirty="0"/>
          </a:p>
          <a:p>
            <a:pPr marL="171450" indent="-171450">
              <a:lnSpc>
                <a:spcPct val="100000"/>
              </a:lnSpc>
              <a:spcBef>
                <a:spcPts val="600"/>
              </a:spcBef>
            </a:pPr>
            <a:r>
              <a:rPr lang="en-US" sz="900" dirty="0"/>
              <a:t>Mercedes-Benz AG EQS: “The motor on the rear axle is particularly powerful due to six-phase operation: two windings with three phases each.” </a:t>
            </a:r>
            <a:r>
              <a:rPr lang="en-US" sz="900" dirty="0">
                <a:hlinkClick r:id="rId4"/>
              </a:rPr>
              <a:t>More details on the Mercedes-Benz EQS - Green Car Congress</a:t>
            </a:r>
            <a:endParaRPr lang="en-US" sz="900" dirty="0"/>
          </a:p>
          <a:p>
            <a:pPr marL="171450" indent="-171450">
              <a:lnSpc>
                <a:spcPct val="100000"/>
              </a:lnSpc>
              <a:spcBef>
                <a:spcPts val="600"/>
              </a:spcBef>
            </a:pPr>
            <a:r>
              <a:rPr lang="en-US" sz="900" dirty="0"/>
              <a:t>KIA Motors EV6 GT: “In the EV6 GT, the rear-mounted electric motor uses two inverters. Each delivers its three-phase current to only half of the hairpin windings.” </a:t>
            </a:r>
            <a:r>
              <a:rPr lang="en-US" sz="900" dirty="0">
                <a:hlinkClick r:id="rId5"/>
              </a:rPr>
              <a:t>https://lnkd.in/dhSGEP9v</a:t>
            </a:r>
            <a:r>
              <a:rPr lang="en-US" sz="900" dirty="0"/>
              <a:t> </a:t>
            </a:r>
          </a:p>
          <a:p>
            <a:pPr marL="171450" indent="-171450">
              <a:lnSpc>
                <a:spcPct val="100000"/>
              </a:lnSpc>
              <a:spcBef>
                <a:spcPts val="600"/>
              </a:spcBef>
            </a:pPr>
            <a:r>
              <a:rPr lang="en-US" sz="900" dirty="0"/>
              <a:t>NASCAR: “three six-phase electric motors, with one mounted up front and the other two in the rear.” </a:t>
            </a:r>
            <a:r>
              <a:rPr lang="en-US" sz="900" dirty="0">
                <a:hlinkClick r:id="rId6"/>
              </a:rPr>
              <a:t>NASCAR Creates Electric Race Car with over 1300 HP</a:t>
            </a:r>
            <a:endParaRPr lang="en-US" sz="900" dirty="0"/>
          </a:p>
          <a:p>
            <a:pPr marL="171450" indent="-171450">
              <a:lnSpc>
                <a:spcPct val="100000"/>
              </a:lnSpc>
              <a:spcBef>
                <a:spcPts val="600"/>
              </a:spcBef>
            </a:pPr>
            <a:r>
              <a:rPr lang="en-US" sz="900" dirty="0"/>
              <a:t>AUDI AG e-tron FE07: “a six-phase, motor-based, single-speed drivetrain” </a:t>
            </a:r>
            <a:r>
              <a:rPr lang="en-US" sz="900" dirty="0">
                <a:hlinkClick r:id="rId7"/>
              </a:rPr>
              <a:t>Audi shows off lightweight Formula E motor-inverter | Automotive Powertrain Technology International</a:t>
            </a:r>
            <a:endParaRPr lang="en-US" sz="900" dirty="0"/>
          </a:p>
          <a:p>
            <a:pPr marL="171450" indent="-171450">
              <a:lnSpc>
                <a:spcPct val="100000"/>
              </a:lnSpc>
              <a:spcBef>
                <a:spcPts val="600"/>
              </a:spcBef>
            </a:pPr>
            <a:r>
              <a:rPr lang="en-US" sz="900" dirty="0"/>
              <a:t>Porsche AG 919 LMP1: “2x3 phase 800 Volt for the traction motor” </a:t>
            </a:r>
            <a:r>
              <a:rPr lang="en-US" sz="900" dirty="0">
                <a:hlinkClick r:id="rId8"/>
              </a:rPr>
              <a:t>https://lnkd.in/dGS_dVVg</a:t>
            </a:r>
            <a:r>
              <a:rPr lang="en-US" sz="900" dirty="0"/>
              <a:t> </a:t>
            </a:r>
          </a:p>
          <a:p>
            <a:pPr marL="171450" indent="-171450">
              <a:lnSpc>
                <a:spcPct val="100000"/>
              </a:lnSpc>
              <a:spcBef>
                <a:spcPts val="600"/>
              </a:spcBef>
            </a:pPr>
            <a:r>
              <a:rPr lang="en-US" sz="900" dirty="0"/>
              <a:t>Ford Motor Company F-150 Lightning: “three STARD UHP six-phase electric motors” </a:t>
            </a:r>
            <a:r>
              <a:rPr lang="en-US" sz="900" dirty="0">
                <a:hlinkClick r:id="rId9"/>
              </a:rPr>
              <a:t>MOTORSPORT: F-150 Lightning set for Pikes Peak - carsales.com.au</a:t>
            </a:r>
            <a:endParaRPr lang="en-US" sz="900" dirty="0"/>
          </a:p>
          <a:p>
            <a:pPr marL="171450" indent="-171450">
              <a:lnSpc>
                <a:spcPct val="100000"/>
              </a:lnSpc>
              <a:spcBef>
                <a:spcPts val="600"/>
              </a:spcBef>
            </a:pPr>
            <a:r>
              <a:rPr lang="en-US" sz="900" dirty="0"/>
              <a:t>Ford &amp; STARD </a:t>
            </a:r>
            <a:r>
              <a:rPr lang="en-US" sz="900" dirty="0" err="1"/>
              <a:t>SuperVan</a:t>
            </a:r>
            <a:r>
              <a:rPr lang="en-US" sz="900" dirty="0"/>
              <a:t> 4.2: “three high-power, six-phase electric motors” </a:t>
            </a:r>
            <a:r>
              <a:rPr lang="en-US" sz="900" dirty="0">
                <a:hlinkClick r:id="rId10"/>
              </a:rPr>
              <a:t>Wild electric Ford </a:t>
            </a:r>
            <a:r>
              <a:rPr lang="en-US" sz="900" dirty="0" err="1">
                <a:hlinkClick r:id="rId10"/>
              </a:rPr>
              <a:t>SuperVan</a:t>
            </a:r>
            <a:r>
              <a:rPr lang="en-US" sz="900" dirty="0">
                <a:hlinkClick r:id="rId10"/>
              </a:rPr>
              <a:t> 4.2 is ready to tackle Pikes Peak with 1,400bhp</a:t>
            </a:r>
            <a:endParaRPr lang="en-US" sz="900" dirty="0"/>
          </a:p>
          <a:p>
            <a:pPr marL="171450" indent="-171450">
              <a:lnSpc>
                <a:spcPct val="100000"/>
              </a:lnSpc>
              <a:spcBef>
                <a:spcPts val="600"/>
              </a:spcBef>
            </a:pPr>
            <a:r>
              <a:rPr lang="en-US" sz="900" dirty="0"/>
              <a:t>Škoda Auto: “The design of the five-phase IPMSM to achieve maximum performance all within the limited” </a:t>
            </a:r>
            <a:r>
              <a:rPr lang="en-US" sz="900" dirty="0">
                <a:hlinkClick r:id="rId11"/>
              </a:rPr>
              <a:t>Škoda Group debuts at Busworld 2023 with cutting-edge urban mobility solutions – </a:t>
            </a:r>
            <a:r>
              <a:rPr lang="en-US" sz="900" dirty="0" err="1">
                <a:hlinkClick r:id="rId11"/>
              </a:rPr>
              <a:t>Motorindia</a:t>
            </a:r>
            <a:endParaRPr lang="en-US" sz="900" dirty="0"/>
          </a:p>
          <a:p>
            <a:pPr marL="171450" indent="-171450">
              <a:lnSpc>
                <a:spcPct val="100000"/>
              </a:lnSpc>
              <a:spcBef>
                <a:spcPts val="600"/>
              </a:spcBef>
            </a:pPr>
            <a:r>
              <a:rPr lang="en-US" sz="900" dirty="0"/>
              <a:t>McLaren Applied: “if a customer wants good power density, they would go for a six-phase motor and inverter” </a:t>
            </a:r>
            <a:r>
              <a:rPr lang="en-US" sz="900" dirty="0">
                <a:hlinkClick r:id="rId12"/>
              </a:rPr>
              <a:t>RE2020-10.pdf</a:t>
            </a:r>
            <a:endParaRPr lang="en-US" sz="900" dirty="0"/>
          </a:p>
          <a:p>
            <a:pPr marL="171450" indent="-171450">
              <a:lnSpc>
                <a:spcPct val="100000"/>
              </a:lnSpc>
              <a:spcBef>
                <a:spcPts val="600"/>
              </a:spcBef>
            </a:pPr>
            <a:r>
              <a:rPr lang="en-US" sz="900" dirty="0"/>
              <a:t>Koenigsegg Automotive AB </a:t>
            </a:r>
            <a:r>
              <a:rPr lang="en-US" sz="900" dirty="0" err="1"/>
              <a:t>Gemera</a:t>
            </a:r>
            <a:r>
              <a:rPr lang="en-US" sz="900" dirty="0"/>
              <a:t> </a:t>
            </a:r>
            <a:r>
              <a:rPr lang="en-US" sz="900" dirty="0" err="1"/>
              <a:t>hypercar</a:t>
            </a:r>
            <a:r>
              <a:rPr lang="en-US" sz="900" dirty="0"/>
              <a:t>: “A six-phase motor allows for higher current to be distributed more effectively.” </a:t>
            </a:r>
            <a:r>
              <a:rPr lang="en-US" sz="900" dirty="0">
                <a:hlinkClick r:id="rId13"/>
              </a:rPr>
              <a:t>Here’s How Koenigsegg’s ‘Dark Matter’ Electric Motor Makes 800 HP</a:t>
            </a:r>
            <a:endParaRPr lang="en-US" sz="900" dirty="0"/>
          </a:p>
          <a:p>
            <a:pPr marL="171450" indent="-171450">
              <a:lnSpc>
                <a:spcPct val="100000"/>
              </a:lnSpc>
              <a:spcBef>
                <a:spcPts val="600"/>
              </a:spcBef>
            </a:pPr>
            <a:r>
              <a:rPr lang="en-US" sz="900" dirty="0"/>
              <a:t>Motiv Electric Trucks &amp; Nidec Motor Corporation: “A six-phase motor and motor” </a:t>
            </a:r>
            <a:r>
              <a:rPr lang="en-US" sz="900" dirty="0">
                <a:hlinkClick r:id="rId14"/>
              </a:rPr>
              <a:t>Motiv Power Systems Launches Next-Generation All-Electric Trucks for Medium-Duty Fleets - Motiv Electric Trucks</a:t>
            </a:r>
            <a:endParaRPr lang="en-US" sz="900" dirty="0"/>
          </a:p>
          <a:p>
            <a:pPr marL="171450" indent="-171450">
              <a:lnSpc>
                <a:spcPct val="100000"/>
              </a:lnSpc>
              <a:spcBef>
                <a:spcPts val="600"/>
              </a:spcBef>
            </a:pPr>
            <a:r>
              <a:rPr lang="en-US" sz="900" dirty="0"/>
              <a:t>Helix: “It's a 2x three-phase motor, so its current is shared across two inverters to meet the phase current demands” </a:t>
            </a:r>
            <a:r>
              <a:rPr lang="en-US" sz="900" dirty="0">
                <a:hlinkClick r:id="rId15"/>
              </a:rPr>
              <a:t>872-HP Electric Motor Revealed For Mystery </a:t>
            </a:r>
            <a:r>
              <a:rPr lang="en-US" sz="900" dirty="0" err="1">
                <a:hlinkClick r:id="rId15"/>
              </a:rPr>
              <a:t>Hypercar</a:t>
            </a:r>
            <a:endParaRPr lang="en-US" sz="900" dirty="0"/>
          </a:p>
          <a:p>
            <a:pPr marL="171450" indent="-171450">
              <a:lnSpc>
                <a:spcPct val="100000"/>
              </a:lnSpc>
              <a:spcBef>
                <a:spcPts val="600"/>
              </a:spcBef>
            </a:pPr>
            <a:r>
              <a:rPr lang="en-US" sz="900" dirty="0"/>
              <a:t>Advanced Electric Machines (AEM) &amp; TEVVA MOTORS LIMITED “a six-phase design, which solves the torque ripple and noise problems” </a:t>
            </a:r>
            <a:r>
              <a:rPr lang="en-US" sz="900" dirty="0">
                <a:hlinkClick r:id="rId16"/>
              </a:rPr>
              <a:t>C2I 2019: UK developed magnet-free electric motor ready for the road</a:t>
            </a:r>
            <a:endParaRPr lang="en-US" sz="900" dirty="0"/>
          </a:p>
          <a:p>
            <a:pPr marL="171450" indent="-171450">
              <a:lnSpc>
                <a:spcPct val="100000"/>
              </a:lnSpc>
              <a:spcBef>
                <a:spcPts val="600"/>
              </a:spcBef>
            </a:pPr>
            <a:r>
              <a:rPr lang="en-US" sz="900" dirty="0"/>
              <a:t>GEM motors d.o.o.: “in-wheel electric drive with patented modular multiphase technology” </a:t>
            </a:r>
            <a:r>
              <a:rPr lang="en-US" sz="900" dirty="0">
                <a:hlinkClick r:id="rId17"/>
              </a:rPr>
              <a:t>GEM motors developed a new motor for LEV market – GEM Motors | In-wheel motors and electric drive solutions</a:t>
            </a:r>
            <a:endParaRPr lang="en-US" sz="900" dirty="0"/>
          </a:p>
          <a:p>
            <a:pPr marL="171450" indent="-171450">
              <a:lnSpc>
                <a:spcPct val="100000"/>
              </a:lnSpc>
              <a:spcBef>
                <a:spcPts val="600"/>
              </a:spcBef>
            </a:pPr>
            <a:r>
              <a:rPr lang="en-US" sz="900" dirty="0"/>
              <a:t>Dana TM4 SUMO HP: “the CO200 six-phase inverter has been upgraded with higher power and current output” </a:t>
            </a:r>
            <a:r>
              <a:rPr lang="en-US" sz="900" dirty="0">
                <a:solidFill>
                  <a:schemeClr val="accent2">
                    <a:lumMod val="75000"/>
                  </a:schemeClr>
                </a:solidFill>
                <a:hlinkClick r:id="rId18">
                  <a:extLst>
                    <a:ext uri="{A12FA001-AC4F-418D-AE19-62706E023703}">
                      <ahyp:hlinkClr xmlns:ahyp="http://schemas.microsoft.com/office/drawing/2018/hyperlinkcolor" val="tx"/>
                    </a:ext>
                  </a:extLst>
                </a:hlinkClick>
              </a:rPr>
              <a:t>TM4 Sumo™ HD - DanaTM4</a:t>
            </a:r>
            <a:endParaRPr lang="en-US" sz="900" dirty="0">
              <a:solidFill>
                <a:schemeClr val="accent2">
                  <a:lumMod val="75000"/>
                </a:schemeClr>
              </a:solidFill>
            </a:endParaRPr>
          </a:p>
          <a:p>
            <a:pPr marL="171450" indent="-171450">
              <a:lnSpc>
                <a:spcPct val="100000"/>
              </a:lnSpc>
              <a:spcBef>
                <a:spcPts val="600"/>
              </a:spcBef>
            </a:pPr>
            <a:r>
              <a:rPr lang="en-US" sz="900" dirty="0"/>
              <a:t>Bus Stop Sales &amp; Service: “up to 422kW of power and a nine-phase Sumo DANA drive motor.” </a:t>
            </a:r>
            <a:r>
              <a:rPr lang="en-US" sz="900" dirty="0">
                <a:hlinkClick r:id="rId19"/>
              </a:rPr>
              <a:t>Bus Stop unveils new high floor electric coach model | News</a:t>
            </a:r>
            <a:endParaRPr lang="en-US" sz="900" dirty="0"/>
          </a:p>
          <a:p>
            <a:pPr marL="171450" indent="-171450">
              <a:lnSpc>
                <a:spcPct val="100000"/>
              </a:lnSpc>
              <a:spcBef>
                <a:spcPts val="600"/>
              </a:spcBef>
            </a:pPr>
            <a:r>
              <a:rPr lang="en-US" sz="900" dirty="0"/>
              <a:t>Janus Electric: “Sumo DANA drive motor, A dc motor but with the six phases” </a:t>
            </a:r>
            <a:r>
              <a:rPr lang="en-US" sz="900" dirty="0">
                <a:hlinkClick r:id="rId20"/>
              </a:rPr>
              <a:t>Engineering Deep Dive Into Swappable-Battery Electric Truck Conversions</a:t>
            </a:r>
            <a:endParaRPr lang="en-US" sz="900" dirty="0"/>
          </a:p>
          <a:p>
            <a:pPr marL="171450" indent="-171450">
              <a:lnSpc>
                <a:spcPct val="100000"/>
              </a:lnSpc>
              <a:spcBef>
                <a:spcPts val="600"/>
              </a:spcBef>
            </a:pPr>
            <a:r>
              <a:rPr lang="en-US" sz="900" dirty="0"/>
              <a:t>Ricardo Group: “six-phase, frameless, permanent magnet motor” </a:t>
            </a:r>
            <a:r>
              <a:rPr lang="en-US" sz="900" dirty="0">
                <a:hlinkClick r:id="rId21"/>
              </a:rPr>
              <a:t>Ricardo presents novel transverse DCT concept | Automotive Powertrain Technology International</a:t>
            </a:r>
            <a:endParaRPr lang="en-US" dirty="0"/>
          </a:p>
        </p:txBody>
      </p:sp>
    </p:spTree>
    <p:extLst>
      <p:ext uri="{BB962C8B-B14F-4D97-AF65-F5344CB8AC3E}">
        <p14:creationId xmlns:p14="http://schemas.microsoft.com/office/powerpoint/2010/main" val="214614124"/>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26D191D-1F41-4900-984B-7C96B01E2C19}" vid="{8D379FE5-4B72-4EDF-9880-68D6B465F573}"/>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4115e1da-3f65-45a4-b4c2-0bec33cf021f">3NPU4AMNSMUR-960428013-26</_dlc_DocId>
    <_dlc_DocIdUrl xmlns="4115e1da-3f65-45a4-b4c2-0bec33cf021f">
      <Url>https://kth.sharepoint.com/sites/kth_assets/_layouts/15/DocIdRedir.aspx?ID=3NPU4AMNSMUR-960428013-26</Url>
      <Description>3NPU4AMNSMUR-960428013-26</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454789026152694A8ADBFB64A3DEF8D3" ma:contentTypeVersion="4" ma:contentTypeDescription="Create a new document." ma:contentTypeScope="" ma:versionID="e45950dd19971d727dee08e9afd59660">
  <xsd:schema xmlns:xsd="http://www.w3.org/2001/XMLSchema" xmlns:xs="http://www.w3.org/2001/XMLSchema" xmlns:p="http://schemas.microsoft.com/office/2006/metadata/properties" xmlns:ns2="4115e1da-3f65-45a4-b4c2-0bec33cf021f" xmlns:ns3="5cba28c0-a866-4240-81c2-3ce50963478d" targetNamespace="http://schemas.microsoft.com/office/2006/metadata/properties" ma:root="true" ma:fieldsID="dad8702d5b487cf2ae11e63f994c67b2" ns2:_="" ns3:_="">
    <xsd:import namespace="4115e1da-3f65-45a4-b4c2-0bec33cf021f"/>
    <xsd:import namespace="5cba28c0-a866-4240-81c2-3ce50963478d"/>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15e1da-3f65-45a4-b4c2-0bec33cf021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cba28c0-a866-4240-81c2-3ce50963478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3910EE-3003-43A5-84D6-7F3C9E61144E}">
  <ds:schemaRefs>
    <ds:schemaRef ds:uri="http://schemas.microsoft.com/office/2006/metadata/properties"/>
    <ds:schemaRef ds:uri="http://schemas.microsoft.com/office/infopath/2007/PartnerControls"/>
    <ds:schemaRef ds:uri="4115e1da-3f65-45a4-b4c2-0bec33cf021f"/>
  </ds:schemaRefs>
</ds:datastoreItem>
</file>

<file path=customXml/itemProps2.xml><?xml version="1.0" encoding="utf-8"?>
<ds:datastoreItem xmlns:ds="http://schemas.openxmlformats.org/officeDocument/2006/customXml" ds:itemID="{0855E8CF-26DF-4595-BEB9-70D0EC1935AB}">
  <ds:schemaRefs>
    <ds:schemaRef ds:uri="http://schemas.microsoft.com/sharepoint/v3/contenttype/forms"/>
  </ds:schemaRefs>
</ds:datastoreItem>
</file>

<file path=customXml/itemProps3.xml><?xml version="1.0" encoding="utf-8"?>
<ds:datastoreItem xmlns:ds="http://schemas.openxmlformats.org/officeDocument/2006/customXml" ds:itemID="{C1B69481-68CA-4555-A5F4-24D7A94B0B08}">
  <ds:schemaRefs>
    <ds:schemaRef ds:uri="http://schemas.microsoft.com/sharepoint/events"/>
  </ds:schemaRefs>
</ds:datastoreItem>
</file>

<file path=customXml/itemProps4.xml><?xml version="1.0" encoding="utf-8"?>
<ds:datastoreItem xmlns:ds="http://schemas.openxmlformats.org/officeDocument/2006/customXml" ds:itemID="{7506411C-19B5-4A2A-A6F2-5B5CC45A52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115e1da-3f65-45a4-b4c2-0bec33cf021f"/>
    <ds:schemaRef ds:uri="5cba28c0-a866-4240-81c2-3ce5096347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KTH</Template>
  <TotalTime>3</TotalTime>
  <Words>615</Words>
  <Application>Microsoft Office PowerPoint</Application>
  <PresentationFormat>Widescreen</PresentationFormat>
  <Paragraphs>21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Figtree</vt:lpstr>
      <vt:lpstr>Office-tema</vt:lpstr>
      <vt:lpstr>(Incomplete) list of of multiphase products we found in the electromobility sector</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Luca Peretti</dc:creator>
  <cp:lastModifiedBy>Luca Peretti</cp:lastModifiedBy>
  <cp:revision>1</cp:revision>
  <dcterms:created xsi:type="dcterms:W3CDTF">2025-10-14T07:45:12Z</dcterms:created>
  <dcterms:modified xsi:type="dcterms:W3CDTF">2025-10-14T07:52:38Z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0x010100454789026152694A8ADBFB64A3DEF8D3</vt:lpwstr>
  </property>
  <property fmtid="{D5CDD505-2E9C-101B-9397-08002B2CF9AE}" pid="3" name="_dlc_DocIdItemGuid">
    <vt:lpwstr>727452b2-8c07-49fa-9c22-9c1873a3a1f2</vt:lpwstr>
  </property>
</Properties>
</file>