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9" r:id="rId3"/>
    <p:sldId id="260" r:id="rId4"/>
    <p:sldId id="261" r:id="rId5"/>
  </p:sldIdLst>
  <p:sldSz cx="25199975" cy="5039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C000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4" autoAdjust="0"/>
    <p:restoredTop sz="94660"/>
  </p:normalViewPr>
  <p:slideViewPr>
    <p:cSldViewPr snapToGrid="0">
      <p:cViewPr>
        <p:scale>
          <a:sx n="50" d="100"/>
          <a:sy n="50" d="100"/>
        </p:scale>
        <p:origin x="1044" y="-7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8248329"/>
            <a:ext cx="21419979" cy="17546649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26471644"/>
            <a:ext cx="18899981" cy="12168318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349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050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12565002"/>
            <a:ext cx="21734978" cy="20964976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33728315"/>
            <a:ext cx="21734978" cy="1102498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191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13416653"/>
            <a:ext cx="10709989" cy="319783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13416653"/>
            <a:ext cx="10709989" cy="319783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4471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2683342"/>
            <a:ext cx="21734978" cy="97416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12354992"/>
            <a:ext cx="10660769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8409982"/>
            <a:ext cx="10660769" cy="2707831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12354992"/>
            <a:ext cx="10713272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8409982"/>
            <a:ext cx="10713272" cy="2707831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216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48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333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7256671"/>
            <a:ext cx="12757487" cy="35816631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096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7256671"/>
            <a:ext cx="12757487" cy="35816631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968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13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2683331"/>
            <a:ext cx="5433745" cy="427116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2683331"/>
            <a:ext cx="15986234" cy="4271162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313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2683342"/>
            <a:ext cx="21734978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13416653"/>
            <a:ext cx="21734978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4017F-B419-455D-B9E9-48696CA0BF31}" type="datetimeFigureOut">
              <a:rPr lang="sv-SE" smtClean="0"/>
              <a:t>2024-10-10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46713298"/>
            <a:ext cx="8504992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3328-FEBA-48CB-A5B6-5D53FA35D77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914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793617" y="7804890"/>
                <a:ext cx="3517901" cy="7316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372" dirty="0">
                    <a:solidFill>
                      <a:schemeClr val="tx1"/>
                    </a:solidFill>
                  </a:rPr>
                  <a:t>Specifications</a:t>
                </a:r>
              </a:p>
              <a:p>
                <a:pPr algn="ctr"/>
                <a:r>
                  <a:rPr lang="en-US" sz="2372" dirty="0">
                    <a:solidFill>
                      <a:schemeClr val="tx1"/>
                    </a:solidFill>
                  </a:rPr>
                  <a:t>P, V, 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72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ΔV</m:t>
                    </m:r>
                  </m:oMath>
                </a14:m>
                <a:r>
                  <a:rPr lang="sv-SE" sz="2372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72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ΔI</m:t>
                    </m:r>
                  </m:oMath>
                </a14:m>
                <a:endParaRPr lang="sv-SE" sz="2372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3617" y="7804890"/>
                <a:ext cx="3517901" cy="731696"/>
              </a:xfrm>
              <a:prstGeom prst="rect">
                <a:avLst/>
              </a:prstGeom>
              <a:blipFill>
                <a:blip r:embed="rId2"/>
                <a:stretch>
                  <a:fillRect t="-10656" b="-237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4" idx="2"/>
            <a:endCxn id="10" idx="0"/>
          </p:cNvCxnSpPr>
          <p:nvPr/>
        </p:nvCxnSpPr>
        <p:spPr>
          <a:xfrm>
            <a:off x="13552565" y="8536587"/>
            <a:ext cx="0" cy="4582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793617" y="8994885"/>
            <a:ext cx="3517901" cy="625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26" indent="-285726" algn="ctr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Converter Topology</a:t>
            </a:r>
          </a:p>
          <a:p>
            <a:pPr marL="285726" indent="-285726" algn="ctr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Modulation Scheme</a:t>
            </a:r>
            <a:endParaRPr lang="sv-SE" sz="2372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0" idx="2"/>
            <a:endCxn id="13" idx="0"/>
          </p:cNvCxnSpPr>
          <p:nvPr/>
        </p:nvCxnSpPr>
        <p:spPr>
          <a:xfrm>
            <a:off x="13552568" y="9620650"/>
            <a:ext cx="12699" cy="380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507615" y="10001214"/>
            <a:ext cx="8115298" cy="984757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Generating Voltage and Current Waveforms for Leg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Time Domain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Frequency Domain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18804" y="11469486"/>
            <a:ext cx="5480222" cy="47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Power Circuit Model </a:t>
            </a:r>
          </a:p>
        </p:txBody>
      </p:sp>
      <p:cxnSp>
        <p:nvCxnSpPr>
          <p:cNvPr id="15" name="Straight Arrow Connector 14"/>
          <p:cNvCxnSpPr>
            <a:stCxn id="13" idx="2"/>
            <a:endCxn id="14" idx="0"/>
          </p:cNvCxnSpPr>
          <p:nvPr/>
        </p:nvCxnSpPr>
        <p:spPr>
          <a:xfrm flipH="1">
            <a:off x="13558916" y="10985971"/>
            <a:ext cx="6350" cy="483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1150617" y="1834669"/>
            <a:ext cx="10515600" cy="4839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Development of models and tools:</a:t>
            </a:r>
          </a:p>
          <a:p>
            <a:r>
              <a:rPr lang="en-US" sz="2400" dirty="0"/>
              <a:t>Models regarding </a:t>
            </a:r>
            <a:r>
              <a:rPr lang="en-US" sz="2400" u="sng" dirty="0"/>
              <a:t>dimensioning</a:t>
            </a:r>
            <a:r>
              <a:rPr lang="en-US" sz="2400" dirty="0"/>
              <a:t>, </a:t>
            </a:r>
            <a:r>
              <a:rPr lang="en-US" sz="2400" u="sng" dirty="0"/>
              <a:t>power losses</a:t>
            </a:r>
            <a:r>
              <a:rPr lang="en-US" sz="2400" dirty="0"/>
              <a:t>, and </a:t>
            </a:r>
            <a:r>
              <a:rPr lang="en-US" sz="2400" u="sng" dirty="0"/>
              <a:t>cooling</a:t>
            </a:r>
            <a:r>
              <a:rPr lang="en-US" sz="2400" dirty="0"/>
              <a:t> are compiled and integrated into </a:t>
            </a:r>
            <a:r>
              <a:rPr lang="en-US" sz="2400" u="sng" dirty="0"/>
              <a:t>software</a:t>
            </a:r>
            <a:r>
              <a:rPr lang="en-US" sz="2400" dirty="0"/>
              <a:t>.</a:t>
            </a:r>
          </a:p>
          <a:p>
            <a:r>
              <a:rPr lang="en-US" sz="2400" dirty="0"/>
              <a:t>To carry out comprehensive calculations regarding </a:t>
            </a:r>
            <a:r>
              <a:rPr lang="en-US" sz="2400" u="sng" dirty="0"/>
              <a:t>total power losses </a:t>
            </a:r>
            <a:r>
              <a:rPr lang="en-US" sz="2400" dirty="0"/>
              <a:t>as well as </a:t>
            </a:r>
            <a:r>
              <a:rPr lang="en-US" sz="2400" u="sng" dirty="0"/>
              <a:t>life cycle costs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sv-SE" sz="2400" b="1" dirty="0"/>
              <a:t>Project </a:t>
            </a:r>
            <a:r>
              <a:rPr lang="sv-SE" sz="2400" b="1" dirty="0" err="1"/>
              <a:t>deliverable</a:t>
            </a:r>
            <a:r>
              <a:rPr lang="sv-SE" sz="2400" b="1" dirty="0"/>
              <a:t>:</a:t>
            </a:r>
          </a:p>
          <a:p>
            <a:r>
              <a:rPr lang="en-US" sz="2400" dirty="0"/>
              <a:t>Lev. 6.2. </a:t>
            </a:r>
            <a:r>
              <a:rPr lang="en-US" sz="2400" u="sng" dirty="0"/>
              <a:t>Software</a:t>
            </a:r>
            <a:r>
              <a:rPr lang="en-US" sz="2400" dirty="0"/>
              <a:t> and documentation for </a:t>
            </a:r>
            <a:r>
              <a:rPr lang="en-US" sz="2400" u="sng" dirty="0"/>
              <a:t>holistic life cycle cost optimization</a:t>
            </a:r>
            <a:r>
              <a:rPr lang="en-US" sz="2400" dirty="0"/>
              <a:t>.</a:t>
            </a:r>
            <a:endParaRPr lang="sv-SE" sz="2400" dirty="0"/>
          </a:p>
        </p:txBody>
      </p:sp>
      <p:sp>
        <p:nvSpPr>
          <p:cNvPr id="41" name="Title 1"/>
          <p:cNvSpPr txBox="1">
            <a:spLocks/>
          </p:cNvSpPr>
          <p:nvPr/>
        </p:nvSpPr>
        <p:spPr>
          <a:xfrm>
            <a:off x="1460388" y="369310"/>
            <a:ext cx="10515600" cy="1482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Holistic Life Cycle Cost Optimization - W.P.6 </a:t>
            </a:r>
            <a:endParaRPr lang="sv-SE" sz="4000" b="1" dirty="0">
              <a:solidFill>
                <a:srgbClr val="C00000"/>
              </a:solidFill>
            </a:endParaRP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1565212" y="6688696"/>
            <a:ext cx="10055288" cy="970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>
                <a:solidFill>
                  <a:srgbClr val="C00000"/>
                </a:solidFill>
              </a:rPr>
              <a:t>Sofware</a:t>
            </a:r>
            <a:r>
              <a:rPr lang="en-US" sz="4000" b="1" dirty="0">
                <a:solidFill>
                  <a:srgbClr val="C00000"/>
                </a:solidFill>
              </a:rPr>
              <a:t>-Flow </a:t>
            </a:r>
            <a:r>
              <a:rPr lang="en-US" sz="4000" b="1" dirty="0" smtClean="0">
                <a:solidFill>
                  <a:srgbClr val="C00000"/>
                </a:solidFill>
              </a:rPr>
              <a:t>Chart - </a:t>
            </a:r>
            <a:r>
              <a:rPr lang="sv-SE" sz="4000" b="1" dirty="0" err="1" smtClean="0"/>
              <a:t>Virtual</a:t>
            </a:r>
            <a:r>
              <a:rPr lang="sv-SE" sz="4000" b="1" dirty="0" smtClean="0"/>
              <a:t> </a:t>
            </a:r>
            <a:r>
              <a:rPr lang="sv-SE" sz="4000" b="1" dirty="0" err="1"/>
              <a:t>prototyping</a:t>
            </a:r>
            <a:r>
              <a:rPr lang="sv-SE" sz="4000" b="1" dirty="0"/>
              <a:t> </a:t>
            </a:r>
            <a:r>
              <a:rPr lang="sv-SE" sz="4000" b="1" dirty="0" err="1"/>
              <a:t>routine</a:t>
            </a:r>
            <a:endParaRPr lang="sv-SE" sz="4000" b="1" dirty="0"/>
          </a:p>
          <a:p>
            <a:endParaRPr lang="sv-SE" sz="4000" b="1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>
            <a:stCxn id="48" idx="1"/>
            <a:endCxn id="14" idx="3"/>
          </p:cNvCxnSpPr>
          <p:nvPr/>
        </p:nvCxnSpPr>
        <p:spPr>
          <a:xfrm flipH="1" flipV="1">
            <a:off x="16299027" y="11706922"/>
            <a:ext cx="1323888" cy="43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7622918" y="11465076"/>
            <a:ext cx="4914901" cy="492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Switching frequency increase</a:t>
            </a:r>
          </a:p>
        </p:txBody>
      </p:sp>
      <p:cxnSp>
        <p:nvCxnSpPr>
          <p:cNvPr id="50" name="Straight Arrow Connector 49"/>
          <p:cNvCxnSpPr>
            <a:endCxn id="292" idx="0"/>
          </p:cNvCxnSpPr>
          <p:nvPr/>
        </p:nvCxnSpPr>
        <p:spPr>
          <a:xfrm>
            <a:off x="3945151" y="12363180"/>
            <a:ext cx="1" cy="468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926317" y="12371504"/>
            <a:ext cx="15908955" cy="28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3573722" y="11759650"/>
            <a:ext cx="2656" cy="6041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8133164" y="12807963"/>
            <a:ext cx="2191385" cy="10652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Capacitor: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 Type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Value </a:t>
            </a:r>
          </a:p>
        </p:txBody>
      </p:sp>
      <p:cxnSp>
        <p:nvCxnSpPr>
          <p:cNvPr id="66" name="Straight Arrow Connector 65"/>
          <p:cNvCxnSpPr>
            <a:stCxn id="64" idx="2"/>
            <a:endCxn id="67" idx="0"/>
          </p:cNvCxnSpPr>
          <p:nvPr/>
        </p:nvCxnSpPr>
        <p:spPr>
          <a:xfrm>
            <a:off x="9228852" y="13873219"/>
            <a:ext cx="176" cy="4123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8091384" y="14285583"/>
            <a:ext cx="2275288" cy="1323828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Estimation:</a:t>
            </a:r>
          </a:p>
          <a:p>
            <a:pPr marL="342873" indent="-34287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Sizing </a:t>
            </a:r>
          </a:p>
          <a:p>
            <a:pPr marL="342873" indent="-34287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Cost</a:t>
            </a:r>
          </a:p>
          <a:p>
            <a:pPr marL="342873" indent="-34287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Loss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8181799" y="15609411"/>
            <a:ext cx="56060" cy="59366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9035603" y="15591640"/>
            <a:ext cx="49196" cy="59544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9938135" y="15609411"/>
            <a:ext cx="24595" cy="59366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04423" y="16098276"/>
            <a:ext cx="145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Capacitor</a:t>
            </a:r>
          </a:p>
          <a:p>
            <a:r>
              <a:rPr lang="en-US" sz="2000" dirty="0"/>
              <a:t> Volume</a:t>
            </a:r>
            <a:endParaRPr lang="sv-SE" sz="2000" dirty="0"/>
          </a:p>
        </p:txBody>
      </p:sp>
      <p:sp>
        <p:nvSpPr>
          <p:cNvPr id="75" name="TextBox 74"/>
          <p:cNvSpPr txBox="1"/>
          <p:nvPr/>
        </p:nvSpPr>
        <p:spPr>
          <a:xfrm>
            <a:off x="8426131" y="17122792"/>
            <a:ext cx="145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Capacitor</a:t>
            </a:r>
          </a:p>
          <a:p>
            <a:r>
              <a:rPr lang="en-US" sz="2000" dirty="0"/>
              <a:t> Cost</a:t>
            </a:r>
            <a:endParaRPr lang="sv-SE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9451270" y="18335453"/>
            <a:ext cx="145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Capacitor</a:t>
            </a:r>
          </a:p>
          <a:p>
            <a:r>
              <a:rPr lang="en-US" sz="2000" dirty="0"/>
              <a:t> Loss</a:t>
            </a:r>
            <a:endParaRPr lang="sv-SE" sz="2000" dirty="0"/>
          </a:p>
        </p:txBody>
      </p:sp>
      <p:sp>
        <p:nvSpPr>
          <p:cNvPr id="77" name="Rectangle 76"/>
          <p:cNvSpPr/>
          <p:nvPr/>
        </p:nvSpPr>
        <p:spPr>
          <a:xfrm>
            <a:off x="6539299" y="21561273"/>
            <a:ext cx="14679177" cy="544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Volume/Cost/Loss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13579118" y="12363798"/>
            <a:ext cx="0" cy="4441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2290161" y="12790946"/>
            <a:ext cx="2550210" cy="1242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Semiconductor: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Type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Voltage Rating </a:t>
            </a:r>
          </a:p>
        </p:txBody>
      </p:sp>
      <p:cxnSp>
        <p:nvCxnSpPr>
          <p:cNvPr id="80" name="Straight Arrow Connector 79"/>
          <p:cNvCxnSpPr>
            <a:stCxn id="79" idx="2"/>
            <a:endCxn id="81" idx="0"/>
          </p:cNvCxnSpPr>
          <p:nvPr/>
        </p:nvCxnSpPr>
        <p:spPr>
          <a:xfrm>
            <a:off x="13565264" y="14033309"/>
            <a:ext cx="0" cy="5889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2290161" y="14622312"/>
            <a:ext cx="2550210" cy="561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Die Area Selection 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 flipV="1">
            <a:off x="11452956" y="14875810"/>
            <a:ext cx="882983" cy="4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11452952" y="14880153"/>
            <a:ext cx="0" cy="13428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360865" y="14547820"/>
            <a:ext cx="100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</a:t>
            </a:r>
            <a:endParaRPr lang="sv-SE" sz="1400" dirty="0"/>
          </a:p>
        </p:txBody>
      </p:sp>
      <p:sp>
        <p:nvSpPr>
          <p:cNvPr id="90" name="Rectangle 89"/>
          <p:cNvSpPr/>
          <p:nvPr/>
        </p:nvSpPr>
        <p:spPr>
          <a:xfrm>
            <a:off x="12432110" y="15584493"/>
            <a:ext cx="2260282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Loss Model</a:t>
            </a:r>
          </a:p>
        </p:txBody>
      </p:sp>
      <p:cxnSp>
        <p:nvCxnSpPr>
          <p:cNvPr id="94" name="Straight Arrow Connector 93"/>
          <p:cNvCxnSpPr>
            <a:stCxn id="81" idx="2"/>
            <a:endCxn id="90" idx="0"/>
          </p:cNvCxnSpPr>
          <p:nvPr/>
        </p:nvCxnSpPr>
        <p:spPr>
          <a:xfrm flipH="1">
            <a:off x="13562248" y="15183581"/>
            <a:ext cx="3016" cy="4009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90" idx="2"/>
            <a:endCxn id="103" idx="0"/>
          </p:cNvCxnSpPr>
          <p:nvPr/>
        </p:nvCxnSpPr>
        <p:spPr>
          <a:xfrm flipH="1">
            <a:off x="13559217" y="16018684"/>
            <a:ext cx="3032" cy="334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12426046" y="16353651"/>
            <a:ext cx="2266346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Thermal Model</a:t>
            </a:r>
          </a:p>
        </p:txBody>
      </p:sp>
      <p:cxnSp>
        <p:nvCxnSpPr>
          <p:cNvPr id="104" name="Straight Connector 103"/>
          <p:cNvCxnSpPr/>
          <p:nvPr/>
        </p:nvCxnSpPr>
        <p:spPr>
          <a:xfrm>
            <a:off x="12078813" y="16570741"/>
            <a:ext cx="3577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endCxn id="90" idx="1"/>
          </p:cNvCxnSpPr>
          <p:nvPr/>
        </p:nvCxnSpPr>
        <p:spPr>
          <a:xfrm>
            <a:off x="12068308" y="15801585"/>
            <a:ext cx="3638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068304" y="15801590"/>
            <a:ext cx="0" cy="7691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1530289" y="15153173"/>
            <a:ext cx="105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Junction Temp</a:t>
            </a:r>
            <a:endParaRPr lang="sv-SE" dirty="0"/>
          </a:p>
        </p:txBody>
      </p:sp>
      <p:cxnSp>
        <p:nvCxnSpPr>
          <p:cNvPr id="119" name="Straight Connector 118"/>
          <p:cNvCxnSpPr/>
          <p:nvPr/>
        </p:nvCxnSpPr>
        <p:spPr>
          <a:xfrm flipH="1">
            <a:off x="11452957" y="16221253"/>
            <a:ext cx="2068783" cy="2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03" idx="2"/>
            <a:endCxn id="124" idx="0"/>
          </p:cNvCxnSpPr>
          <p:nvPr/>
        </p:nvCxnSpPr>
        <p:spPr>
          <a:xfrm>
            <a:off x="13559217" y="16787841"/>
            <a:ext cx="6048" cy="5662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11934413" y="17354073"/>
            <a:ext cx="3261706" cy="249307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Estimation: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Heatsink size/cost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Power module size/cost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Aux size (e.g. gate driver) size/cost</a:t>
            </a:r>
          </a:p>
          <a:p>
            <a:pPr algn="ctr"/>
            <a:endParaRPr lang="en-US" sz="2372" dirty="0">
              <a:solidFill>
                <a:schemeClr val="tx1"/>
              </a:solidFill>
            </a:endParaRPr>
          </a:p>
        </p:txBody>
      </p:sp>
      <p:cxnSp>
        <p:nvCxnSpPr>
          <p:cNvPr id="125" name="Straight Connector 124"/>
          <p:cNvCxnSpPr/>
          <p:nvPr/>
        </p:nvCxnSpPr>
        <p:spPr>
          <a:xfrm flipH="1" flipV="1">
            <a:off x="13515677" y="16211956"/>
            <a:ext cx="2202445" cy="49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15718118" y="16221256"/>
            <a:ext cx="4634" cy="53248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12113130" y="19854859"/>
            <a:ext cx="8496" cy="16912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>
            <a:off x="14817298" y="19826013"/>
            <a:ext cx="23075" cy="17200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0614450" y="20072828"/>
            <a:ext cx="1575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Size 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/>
              <a:t>Heatsink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/>
              <a:t>Module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/>
              <a:t>Aux</a:t>
            </a:r>
            <a:endParaRPr lang="sv-SE" sz="2000" dirty="0"/>
          </a:p>
        </p:txBody>
      </p:sp>
      <p:sp>
        <p:nvSpPr>
          <p:cNvPr id="135" name="TextBox 134"/>
          <p:cNvSpPr txBox="1"/>
          <p:nvPr/>
        </p:nvSpPr>
        <p:spPr>
          <a:xfrm>
            <a:off x="13379228" y="19985784"/>
            <a:ext cx="1437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Cost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/>
              <a:t>Heatsink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/>
              <a:t>Module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/>
              <a:t>Aux</a:t>
            </a:r>
            <a:endParaRPr lang="sv-SE" sz="2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15723707" y="17922481"/>
            <a:ext cx="2151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Semiconductor Loss</a:t>
            </a:r>
            <a:endParaRPr lang="sv-SE" sz="2000" dirty="0"/>
          </a:p>
        </p:txBody>
      </p:sp>
      <p:sp>
        <p:nvSpPr>
          <p:cNvPr id="143" name="Rectangle 142"/>
          <p:cNvSpPr/>
          <p:nvPr/>
        </p:nvSpPr>
        <p:spPr>
          <a:xfrm>
            <a:off x="15903237" y="12855586"/>
            <a:ext cx="2191385" cy="873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dv/</a:t>
            </a:r>
            <a:r>
              <a:rPr lang="en-US" sz="2372" dirty="0" err="1">
                <a:solidFill>
                  <a:schemeClr val="tx1"/>
                </a:solidFill>
              </a:rPr>
              <a:t>dt</a:t>
            </a:r>
            <a:r>
              <a:rPr lang="en-US" sz="2372" dirty="0">
                <a:solidFill>
                  <a:schemeClr val="tx1"/>
                </a:solidFill>
              </a:rPr>
              <a:t> limitations</a:t>
            </a:r>
          </a:p>
        </p:txBody>
      </p:sp>
      <p:cxnSp>
        <p:nvCxnSpPr>
          <p:cNvPr id="145" name="Straight Arrow Connector 144"/>
          <p:cNvCxnSpPr/>
          <p:nvPr/>
        </p:nvCxnSpPr>
        <p:spPr>
          <a:xfrm flipH="1">
            <a:off x="14692392" y="15799504"/>
            <a:ext cx="23065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>
            <a:endCxn id="143" idx="0"/>
          </p:cNvCxnSpPr>
          <p:nvPr/>
        </p:nvCxnSpPr>
        <p:spPr>
          <a:xfrm flipH="1">
            <a:off x="16998926" y="12413709"/>
            <a:ext cx="7178" cy="4418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43" idx="2"/>
          </p:cNvCxnSpPr>
          <p:nvPr/>
        </p:nvCxnSpPr>
        <p:spPr>
          <a:xfrm flipH="1">
            <a:off x="16998926" y="13729123"/>
            <a:ext cx="4" cy="2122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>
            <a:off x="19840311" y="12413336"/>
            <a:ext cx="2" cy="4739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18645437" y="12874706"/>
            <a:ext cx="2191385" cy="43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Motor Losses</a:t>
            </a:r>
          </a:p>
        </p:txBody>
      </p:sp>
      <p:cxnSp>
        <p:nvCxnSpPr>
          <p:cNvPr id="174" name="Straight Arrow Connector 173"/>
          <p:cNvCxnSpPr/>
          <p:nvPr/>
        </p:nvCxnSpPr>
        <p:spPr>
          <a:xfrm>
            <a:off x="19840311" y="13296329"/>
            <a:ext cx="2" cy="4739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18703220" y="13780534"/>
            <a:ext cx="2191385" cy="643548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Harmonic Loss Modelling</a:t>
            </a:r>
          </a:p>
        </p:txBody>
      </p:sp>
      <p:cxnSp>
        <p:nvCxnSpPr>
          <p:cNvPr id="176" name="Straight Arrow Connector 175"/>
          <p:cNvCxnSpPr/>
          <p:nvPr/>
        </p:nvCxnSpPr>
        <p:spPr>
          <a:xfrm flipH="1">
            <a:off x="19798909" y="14423880"/>
            <a:ext cx="36364" cy="716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19870189" y="17276153"/>
            <a:ext cx="15513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Motor Harmonic Loss</a:t>
            </a:r>
            <a:endParaRPr lang="sv-SE" sz="2000" dirty="0"/>
          </a:p>
        </p:txBody>
      </p:sp>
      <p:cxnSp>
        <p:nvCxnSpPr>
          <p:cNvPr id="271" name="Straight Arrow Connector 270"/>
          <p:cNvCxnSpPr>
            <a:endCxn id="48" idx="3"/>
          </p:cNvCxnSpPr>
          <p:nvPr/>
        </p:nvCxnSpPr>
        <p:spPr>
          <a:xfrm flipH="1">
            <a:off x="22537819" y="11700350"/>
            <a:ext cx="1291652" cy="109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/>
          <p:nvPr/>
        </p:nvCxnSpPr>
        <p:spPr>
          <a:xfrm>
            <a:off x="23829470" y="11695970"/>
            <a:ext cx="0" cy="101356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>
            <a:off x="21218476" y="21831577"/>
            <a:ext cx="2610997" cy="17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Rectangle 280"/>
          <p:cNvSpPr/>
          <p:nvPr/>
        </p:nvSpPr>
        <p:spPr>
          <a:xfrm>
            <a:off x="12121626" y="22572394"/>
            <a:ext cx="3517901" cy="1747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Total Converter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Loss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Volume 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</a:rPr>
              <a:t>Cost</a:t>
            </a:r>
            <a:endParaRPr lang="sv-SE" sz="2372" dirty="0">
              <a:solidFill>
                <a:schemeClr val="tx1"/>
              </a:solidFill>
            </a:endParaRPr>
          </a:p>
        </p:txBody>
      </p:sp>
      <p:cxnSp>
        <p:nvCxnSpPr>
          <p:cNvPr id="282" name="Straight Arrow Connector 281"/>
          <p:cNvCxnSpPr>
            <a:stCxn id="77" idx="2"/>
            <a:endCxn id="281" idx="0"/>
          </p:cNvCxnSpPr>
          <p:nvPr/>
        </p:nvCxnSpPr>
        <p:spPr>
          <a:xfrm>
            <a:off x="13878888" y="22105465"/>
            <a:ext cx="1689" cy="4669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Content Placeholder 2"/>
          <p:cNvSpPr txBox="1">
            <a:spLocks/>
          </p:cNvSpPr>
          <p:nvPr/>
        </p:nvSpPr>
        <p:spPr>
          <a:xfrm>
            <a:off x="13552568" y="1540626"/>
            <a:ext cx="10515600" cy="4839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629999" indent="-629999" algn="l" defTabSz="2519995" rtl="0" eaLnBrk="1" latinLnBrk="0" hangingPunct="1">
              <a:lnSpc>
                <a:spcPct val="90000"/>
              </a:lnSpc>
              <a:spcBef>
                <a:spcPts val="2756"/>
              </a:spcBef>
              <a:buFont typeface="Arial" panose="020B0604020202020204" pitchFamily="34" charset="0"/>
              <a:buChar char="•"/>
              <a:defRPr sz="77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89996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66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49994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5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09991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4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669989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4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929986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4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189984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4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449981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4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709979" indent="-629999" algn="l" defTabSz="2519995" rtl="0" eaLnBrk="1" latinLnBrk="0" hangingPunct="1">
              <a:lnSpc>
                <a:spcPct val="90000"/>
              </a:lnSpc>
              <a:spcBef>
                <a:spcPts val="1378"/>
              </a:spcBef>
              <a:buFont typeface="Arial" panose="020B0604020202020204" pitchFamily="34" charset="0"/>
              <a:buChar char="•"/>
              <a:defRPr sz="4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Performance </a:t>
            </a:r>
            <a:r>
              <a:rPr lang="en-US" sz="2400" b="1" dirty="0" smtClean="0"/>
              <a:t>Indices: </a:t>
            </a:r>
          </a:p>
          <a:p>
            <a:pPr marL="0" indent="0">
              <a:buNone/>
            </a:pPr>
            <a:r>
              <a:rPr lang="en-US" sz="2400" dirty="0"/>
              <a:t>─ Power Density [</a:t>
            </a:r>
            <a:r>
              <a:rPr lang="en-US" sz="2400" dirty="0" smtClean="0"/>
              <a:t>kW/L]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─ Power per Unit Weight [kW/kg</a:t>
            </a:r>
            <a:r>
              <a:rPr lang="en-US" sz="2400" dirty="0" smtClean="0"/>
              <a:t>]</a:t>
            </a:r>
          </a:p>
          <a:p>
            <a:pPr marL="0" indent="0">
              <a:buNone/>
            </a:pPr>
            <a:r>
              <a:rPr lang="en-US" sz="2400" dirty="0" smtClean="0"/>
              <a:t> ─ </a:t>
            </a:r>
            <a:r>
              <a:rPr lang="en-US" sz="2400" dirty="0"/>
              <a:t>Relative Costs [kW/$]</a:t>
            </a:r>
          </a:p>
          <a:p>
            <a:pPr marL="0" indent="0">
              <a:buNone/>
            </a:pPr>
            <a:r>
              <a:rPr lang="en-US" sz="2400" dirty="0"/>
              <a:t>─ Relative Losses [%]</a:t>
            </a:r>
          </a:p>
          <a:p>
            <a:pPr marL="0" indent="0">
              <a:buNone/>
            </a:pPr>
            <a:r>
              <a:rPr lang="en-US" sz="2400" dirty="0"/>
              <a:t>─ Failure </a:t>
            </a:r>
            <a:r>
              <a:rPr lang="en-US" sz="2400" dirty="0" smtClean="0"/>
              <a:t>Rate</a:t>
            </a:r>
            <a:r>
              <a:rPr lang="sv-SE" sz="2400" dirty="0" smtClean="0"/>
              <a:t> [h-1]</a:t>
            </a:r>
            <a:endParaRPr lang="en-US" sz="2400" dirty="0"/>
          </a:p>
        </p:txBody>
      </p:sp>
      <p:sp>
        <p:nvSpPr>
          <p:cNvPr id="292" name="Rectangle 291"/>
          <p:cNvSpPr/>
          <p:nvPr/>
        </p:nvSpPr>
        <p:spPr>
          <a:xfrm>
            <a:off x="2849459" y="12831994"/>
            <a:ext cx="2191385" cy="873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</a:rPr>
              <a:t>Reliability </a:t>
            </a:r>
            <a:endParaRPr lang="en-US" sz="2372" dirty="0">
              <a:solidFill>
                <a:schemeClr val="tx1"/>
              </a:solidFill>
            </a:endParaRPr>
          </a:p>
        </p:txBody>
      </p:sp>
      <p:cxnSp>
        <p:nvCxnSpPr>
          <p:cNvPr id="293" name="Straight Arrow Connector 292"/>
          <p:cNvCxnSpPr>
            <a:stCxn id="407" idx="2"/>
            <a:endCxn id="389" idx="0"/>
          </p:cNvCxnSpPr>
          <p:nvPr/>
        </p:nvCxnSpPr>
        <p:spPr>
          <a:xfrm flipH="1">
            <a:off x="3919642" y="15417422"/>
            <a:ext cx="25510" cy="10182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Rectangle 294"/>
          <p:cNvSpPr/>
          <p:nvPr/>
        </p:nvSpPr>
        <p:spPr>
          <a:xfrm>
            <a:off x="2850021" y="18266057"/>
            <a:ext cx="2191385" cy="873537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</a:rPr>
              <a:t>Failure rate model </a:t>
            </a:r>
            <a:endParaRPr lang="en-US" sz="2372" dirty="0">
              <a:solidFill>
                <a:schemeClr val="tx1"/>
              </a:solidFill>
            </a:endParaRPr>
          </a:p>
        </p:txBody>
      </p:sp>
      <p:cxnSp>
        <p:nvCxnSpPr>
          <p:cNvPr id="316" name="Straight Arrow Connector 315"/>
          <p:cNvCxnSpPr>
            <a:stCxn id="295" idx="2"/>
            <a:endCxn id="319" idx="0"/>
          </p:cNvCxnSpPr>
          <p:nvPr/>
        </p:nvCxnSpPr>
        <p:spPr>
          <a:xfrm>
            <a:off x="3945714" y="19139594"/>
            <a:ext cx="24949" cy="24064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Rectangle 318"/>
          <p:cNvSpPr/>
          <p:nvPr/>
        </p:nvSpPr>
        <p:spPr>
          <a:xfrm>
            <a:off x="2066265" y="21546063"/>
            <a:ext cx="3808796" cy="544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</a:rPr>
              <a:t>Failure in rate</a:t>
            </a:r>
            <a:endParaRPr lang="en-US" sz="2372" dirty="0">
              <a:solidFill>
                <a:schemeClr val="tx1"/>
              </a:solidFill>
            </a:endParaRPr>
          </a:p>
        </p:txBody>
      </p:sp>
      <p:cxnSp>
        <p:nvCxnSpPr>
          <p:cNvPr id="340" name="Straight Arrow Connector 339"/>
          <p:cNvCxnSpPr>
            <a:stCxn id="391" idx="2"/>
          </p:cNvCxnSpPr>
          <p:nvPr/>
        </p:nvCxnSpPr>
        <p:spPr>
          <a:xfrm>
            <a:off x="3916610" y="17638996"/>
            <a:ext cx="9707" cy="6673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/>
          <p:cNvCxnSpPr>
            <a:stCxn id="281" idx="1"/>
          </p:cNvCxnSpPr>
          <p:nvPr/>
        </p:nvCxnSpPr>
        <p:spPr>
          <a:xfrm flipH="1">
            <a:off x="1395643" y="23446169"/>
            <a:ext cx="10725983" cy="36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/>
          <p:cNvCxnSpPr>
            <a:endCxn id="292" idx="1"/>
          </p:cNvCxnSpPr>
          <p:nvPr/>
        </p:nvCxnSpPr>
        <p:spPr>
          <a:xfrm flipV="1">
            <a:off x="1439120" y="13268763"/>
            <a:ext cx="1410339" cy="229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/>
          <p:cNvCxnSpPr/>
          <p:nvPr/>
        </p:nvCxnSpPr>
        <p:spPr>
          <a:xfrm flipV="1">
            <a:off x="1395643" y="13281393"/>
            <a:ext cx="97750" cy="101907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/>
          <p:cNvSpPr/>
          <p:nvPr/>
        </p:nvSpPr>
        <p:spPr>
          <a:xfrm>
            <a:off x="2789501" y="16435647"/>
            <a:ext cx="2260282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Loss Model</a:t>
            </a:r>
          </a:p>
        </p:txBody>
      </p:sp>
      <p:cxnSp>
        <p:nvCxnSpPr>
          <p:cNvPr id="390" name="Straight Arrow Connector 389"/>
          <p:cNvCxnSpPr>
            <a:stCxn id="389" idx="2"/>
            <a:endCxn id="391" idx="0"/>
          </p:cNvCxnSpPr>
          <p:nvPr/>
        </p:nvCxnSpPr>
        <p:spPr>
          <a:xfrm flipH="1">
            <a:off x="3916608" y="16869838"/>
            <a:ext cx="3032" cy="334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Rectangle 390"/>
          <p:cNvSpPr/>
          <p:nvPr/>
        </p:nvSpPr>
        <p:spPr>
          <a:xfrm>
            <a:off x="2783437" y="17204805"/>
            <a:ext cx="2266346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</a:rPr>
              <a:t>Thermal Model</a:t>
            </a:r>
          </a:p>
        </p:txBody>
      </p:sp>
      <p:cxnSp>
        <p:nvCxnSpPr>
          <p:cNvPr id="392" name="Straight Connector 391"/>
          <p:cNvCxnSpPr/>
          <p:nvPr/>
        </p:nvCxnSpPr>
        <p:spPr>
          <a:xfrm>
            <a:off x="2436204" y="17421895"/>
            <a:ext cx="3577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/>
          <p:cNvCxnSpPr>
            <a:endCxn id="389" idx="1"/>
          </p:cNvCxnSpPr>
          <p:nvPr/>
        </p:nvCxnSpPr>
        <p:spPr>
          <a:xfrm>
            <a:off x="2425699" y="16652739"/>
            <a:ext cx="3638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/>
          <p:cNvCxnSpPr/>
          <p:nvPr/>
        </p:nvCxnSpPr>
        <p:spPr>
          <a:xfrm>
            <a:off x="2425695" y="16652744"/>
            <a:ext cx="0" cy="7691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TextBox 397"/>
          <p:cNvSpPr txBox="1"/>
          <p:nvPr/>
        </p:nvSpPr>
        <p:spPr>
          <a:xfrm>
            <a:off x="1565212" y="16704530"/>
            <a:ext cx="105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Junction Temp</a:t>
            </a:r>
            <a:endParaRPr lang="sv-SE" dirty="0"/>
          </a:p>
        </p:txBody>
      </p:sp>
      <p:sp>
        <p:nvSpPr>
          <p:cNvPr id="407" name="Rectangle 406"/>
          <p:cNvSpPr/>
          <p:nvPr/>
        </p:nvSpPr>
        <p:spPr>
          <a:xfrm>
            <a:off x="2849459" y="14543885"/>
            <a:ext cx="2191385" cy="87353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</a:rPr>
              <a:t>Drive Cycle </a:t>
            </a:r>
          </a:p>
          <a:p>
            <a:pPr algn="ctr"/>
            <a:r>
              <a:rPr lang="en-US" sz="2372" dirty="0" smtClean="0">
                <a:solidFill>
                  <a:schemeClr val="tx1"/>
                </a:solidFill>
              </a:rPr>
              <a:t>Model</a:t>
            </a:r>
            <a:endParaRPr lang="en-US" sz="2372" dirty="0">
              <a:solidFill>
                <a:schemeClr val="tx1"/>
              </a:solidFill>
            </a:endParaRPr>
          </a:p>
        </p:txBody>
      </p:sp>
      <p:cxnSp>
        <p:nvCxnSpPr>
          <p:cNvPr id="410" name="Straight Arrow Connector 409"/>
          <p:cNvCxnSpPr>
            <a:stCxn id="292" idx="2"/>
            <a:endCxn id="407" idx="0"/>
          </p:cNvCxnSpPr>
          <p:nvPr/>
        </p:nvCxnSpPr>
        <p:spPr>
          <a:xfrm>
            <a:off x="3945152" y="13705531"/>
            <a:ext cx="0" cy="838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5" name="Picture 4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027" y="1023406"/>
            <a:ext cx="4950472" cy="2710973"/>
          </a:xfrm>
          <a:prstGeom prst="rect">
            <a:avLst/>
          </a:prstGeom>
        </p:spPr>
      </p:pic>
      <p:pic>
        <p:nvPicPr>
          <p:cNvPr id="416" name="Picture 4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5631" y="3580071"/>
            <a:ext cx="2711891" cy="2530709"/>
          </a:xfrm>
          <a:prstGeom prst="rect">
            <a:avLst/>
          </a:prstGeom>
        </p:spPr>
      </p:pic>
      <p:pic>
        <p:nvPicPr>
          <p:cNvPr id="417" name="Picture 4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1709" y="3860656"/>
            <a:ext cx="2544840" cy="2149774"/>
          </a:xfrm>
          <a:prstGeom prst="rect">
            <a:avLst/>
          </a:prstGeom>
        </p:spPr>
      </p:pic>
      <p:sp>
        <p:nvSpPr>
          <p:cNvPr id="419" name="Title 1"/>
          <p:cNvSpPr txBox="1">
            <a:spLocks/>
          </p:cNvSpPr>
          <p:nvPr/>
        </p:nvSpPr>
        <p:spPr>
          <a:xfrm>
            <a:off x="1444001" y="24715248"/>
            <a:ext cx="16322902" cy="1482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rgbClr val="C00000"/>
                </a:solidFill>
              </a:rPr>
              <a:t>Trade-off of Performance (Cost/Volume/Loss)  and Life-cycle-cost analysis</a:t>
            </a:r>
            <a:endParaRPr lang="sv-SE" sz="4000" b="1" dirty="0">
              <a:solidFill>
                <a:srgbClr val="C00000"/>
              </a:solidFill>
            </a:endParaRPr>
          </a:p>
        </p:txBody>
      </p:sp>
      <p:pic>
        <p:nvPicPr>
          <p:cNvPr id="425" name="Picture 4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07" y="26559793"/>
            <a:ext cx="15735300" cy="3924300"/>
          </a:xfrm>
          <a:prstGeom prst="rect">
            <a:avLst/>
          </a:prstGeom>
        </p:spPr>
      </p:pic>
      <p:sp>
        <p:nvSpPr>
          <p:cNvPr id="426" name="Rectangle 425"/>
          <p:cNvSpPr/>
          <p:nvPr/>
        </p:nvSpPr>
        <p:spPr>
          <a:xfrm>
            <a:off x="1757102" y="31472488"/>
            <a:ext cx="11450897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sv-SE" sz="2400" b="1" dirty="0"/>
              <a:t>System-</a:t>
            </a:r>
            <a:r>
              <a:rPr lang="sv-SE" sz="2400" b="1" dirty="0" err="1"/>
              <a:t>Level</a:t>
            </a:r>
            <a:r>
              <a:rPr lang="sv-SE" sz="2400" b="1" dirty="0"/>
              <a:t> Loop </a:t>
            </a:r>
            <a:r>
              <a:rPr lang="sv-SE" sz="2400" b="1" dirty="0" err="1" smtClean="0"/>
              <a:t>Models</a:t>
            </a:r>
            <a:r>
              <a:rPr lang="sv-SE" sz="2400" b="1" dirty="0"/>
              <a:t> </a:t>
            </a:r>
            <a:r>
              <a:rPr lang="sv-SE" sz="2400" dirty="0" smtClean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400" dirty="0" err="1"/>
              <a:t>T</a:t>
            </a:r>
            <a:r>
              <a:rPr lang="sv-SE" sz="2400" dirty="0" err="1" smtClean="0"/>
              <a:t>opology</a:t>
            </a:r>
            <a:endParaRPr lang="sv-SE" sz="24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400" dirty="0"/>
              <a:t>M</a:t>
            </a:r>
            <a:r>
              <a:rPr lang="sv-SE" sz="2400" dirty="0" smtClean="0"/>
              <a:t>odulation,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400" dirty="0" err="1" smtClean="0"/>
              <a:t>Waveform</a:t>
            </a:r>
            <a:endParaRPr lang="sv-SE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sv-SE" sz="2400" b="1" dirty="0" smtClean="0"/>
              <a:t> </a:t>
            </a:r>
            <a:r>
              <a:rPr lang="sv-SE" sz="2400" b="1" dirty="0" err="1" smtClean="0"/>
              <a:t>Semiconductor</a:t>
            </a:r>
            <a:r>
              <a:rPr lang="sv-SE" sz="2400" b="1" dirty="0" smtClean="0"/>
              <a:t> Loss: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Conduction Loss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Switching Loss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Motor Harmonic Loss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400" b="1" dirty="0"/>
              <a:t> </a:t>
            </a:r>
            <a:r>
              <a:rPr lang="sv-SE" sz="2400" b="1" dirty="0" err="1" smtClean="0"/>
              <a:t>Cooling</a:t>
            </a:r>
            <a:r>
              <a:rPr lang="sv-SE" sz="2400" b="1" dirty="0" smtClean="0"/>
              <a:t> System:</a:t>
            </a:r>
            <a:endParaRPr lang="sv-SE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400" dirty="0" err="1"/>
              <a:t>Cooling</a:t>
            </a:r>
            <a:r>
              <a:rPr lang="sv-SE" sz="2400" dirty="0"/>
              <a:t> system </a:t>
            </a:r>
            <a:r>
              <a:rPr lang="sv-SE" sz="2400" dirty="0" err="1"/>
              <a:t>performance</a:t>
            </a:r>
            <a:r>
              <a:rPr lang="sv-SE" sz="2400" dirty="0"/>
              <a:t> index (CSPI</a:t>
            </a:r>
            <a:r>
              <a:rPr lang="sv-SE" sz="2400" dirty="0" smtClean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</a:t>
            </a:r>
            <a:r>
              <a:rPr lang="en-US" sz="2400" dirty="0" smtClean="0"/>
              <a:t>hermal </a:t>
            </a:r>
            <a:r>
              <a:rPr lang="en-US" sz="2400" dirty="0"/>
              <a:t>resistance </a:t>
            </a:r>
            <a:r>
              <a:rPr lang="en-US" sz="2400" dirty="0" smtClean="0"/>
              <a:t>network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400" b="1" dirty="0" err="1" smtClean="0"/>
              <a:t>Capacitors</a:t>
            </a:r>
            <a:r>
              <a:rPr lang="sv-SE" sz="2400" b="1" dirty="0" smtClean="0"/>
              <a:t>:</a:t>
            </a:r>
            <a:endParaRPr lang="sv-SE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Size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Cost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400" b="1" dirty="0" smtClean="0"/>
              <a:t>Aux PCB: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Size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Cost</a:t>
            </a:r>
            <a:endParaRPr lang="sv-SE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sv-SE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sv-SE" sz="2400" dirty="0" smtClean="0"/>
          </a:p>
        </p:txBody>
      </p:sp>
      <p:pic>
        <p:nvPicPr>
          <p:cNvPr id="427" name="Picture 4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9742" y="31881877"/>
            <a:ext cx="14164387" cy="5157153"/>
          </a:xfrm>
          <a:prstGeom prst="rect">
            <a:avLst/>
          </a:prstGeom>
        </p:spPr>
      </p:pic>
      <p:pic>
        <p:nvPicPr>
          <p:cNvPr id="428" name="Picture 4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89077" y="27988543"/>
            <a:ext cx="6819900" cy="1066800"/>
          </a:xfrm>
          <a:prstGeom prst="rect">
            <a:avLst/>
          </a:prstGeom>
        </p:spPr>
      </p:pic>
      <p:pic>
        <p:nvPicPr>
          <p:cNvPr id="430" name="Picture 4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7995" y="36634093"/>
            <a:ext cx="7122163" cy="11648599"/>
          </a:xfrm>
          <a:prstGeom prst="rect">
            <a:avLst/>
          </a:prstGeom>
        </p:spPr>
      </p:pic>
      <p:cxnSp>
        <p:nvCxnSpPr>
          <p:cNvPr id="436" name="Straight Arrow Connector 435"/>
          <p:cNvCxnSpPr/>
          <p:nvPr/>
        </p:nvCxnSpPr>
        <p:spPr>
          <a:xfrm flipV="1">
            <a:off x="3869407" y="22937425"/>
            <a:ext cx="8273571" cy="189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/>
          <p:cNvCxnSpPr/>
          <p:nvPr/>
        </p:nvCxnSpPr>
        <p:spPr>
          <a:xfrm flipH="1">
            <a:off x="3878014" y="22095945"/>
            <a:ext cx="24987" cy="871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Picture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54" y="48282692"/>
            <a:ext cx="1026105" cy="1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5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895" y="3009901"/>
            <a:ext cx="1026105" cy="1678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73192"/>
            <a:ext cx="1026105" cy="16782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008" y="1010782"/>
            <a:ext cx="10022859" cy="12362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0525" y="1010782"/>
            <a:ext cx="11114340" cy="12362317"/>
          </a:xfrm>
          <a:prstGeom prst="rect">
            <a:avLst/>
          </a:prstGeom>
        </p:spPr>
      </p:pic>
      <p:sp>
        <p:nvSpPr>
          <p:cNvPr id="8" name="AutoShape 2" descr="data:image/png;base64,iVBORw0KGgoAAAANSUhEUgAABKwAAAD6CAYAAACMP9+wAAAgAElEQVR4nOydZZQUR9uGr3FbwV0Xd3d3d3cIBCeEEDSQhBACAQKBYIGgwd3d3YK7u9vauHw/ZreZYWeNIJvvresczmFnqrura6qrq+56ROZyuVwIBAKBQCAQCAQCgUAgEAgECQT5566AQCAQCAQCgUAgEAgEAoFA4IkQrAQCgUAgEAgEAoFAIBAIBAkKIVgJBAKBQCAQCAQCgUAgEAgSFEKwEggEAoFAIBAIBAKBQCAQJCiEYCUQCAQCgUAgEAgEAoFAIEhQCMFKIBAIBAKBQCAQCAQCgUCQoBCClUAgEAgEAoFAIBAIBAKBIEEhBCuBQCAQCAQCgUAgEAgEAkGCQghWAoFAIBAIBAKBQCAQCASCBIUQrAQCgUAgEAgEAoFAIBAIBAkKIVgJBAKBQCAQCAQCgUAgEAgSFEKwEggEAoFAIBAIBAKBQCAQJCiEYCUQCAQCgUAgEAgEAoFAIEhQKD/UieYu28LKTfs+1OkEAoFAIBAIBIL/HKMGdiFL5jS07PHT566KQCAQCAT/CWaPH0iqFEmifP7BBKvrtx+wfd+JD3U6gUAgEAgEAoHgP0f/rs3JaE8p5sUCgUAgEMQRk9ni83PhEigQCAQCgUAgEAgEAoFAIEhQCMFKIBAIBAKBQCAQCAQCgUCQoBCClUAgEAgEAoFAIBAIBAKBIEEhBCuBQCAQCAQCgUAgEAgEAkGCQghWAoFAIBAIBAKBQCAQCASCBIUQrAQCgUAgEAgEAoFAIBAIBAkKIVgJBAKBQCAQCAQCgUAgEAgSFEKwEggEAoFAIBAIBAKBQCAQJCiEYCUQCAQCgUAgEAgEAoFAIEhQKD93Bd4lS8Y0FMmfg3y5gkgUYMBud/DwyQvOX7nNmYvXefr89eeu4gdhzV8jKVeyAEqFgukL1jJk9KzPWp/RQ76kR/uG2B0ODhw9S6Muwz9rfWIif64g9q6chNliRSGXU7R2N+4/ehbn43VaDX4GXazlbHY7wSHhuFyuf1Pd/yxZMqbh6Mbp2Gx21CoVZRr24urN+5+7WnEiX84gBvZsRdVyhdHrtMjlch48fk6uCu0/d9USBBqNigA/AwDhRjNGk/m9jzeazIQb43d8bPTv1oLv+7XHZLZy8+5DyjTo/UHP/79OxnQpqVS6ENmzpMeg12G1WLl9/wn7jpzh4rU7n7t6/wlqVCzOsuk/YDSZsdps5KnU8YM/B4L/XZIlCUQmk8VYxul0Em40Y7ZYP1GtEh4LJg2lTtVSyGUyFq/dRa+hEz93lQQCgUDwgUkwglW9aqUZPaQr6dMkx2534GfQIZe7DcBsNhtGkwWNRs2ZizcY8stMDp44/5lr/O8oWyI/gf7uBV/FUgU/c23cdTDotYC7bgmZnFkzolAoSJ40EUaTmUzpUsZLsHp+fh0ywOF0xlhOJpPhcrk4e/EG0/9ez5K1u/6nxKssmdKiUipJFOCH0WQmW+Z0/wnBqlKZQqz562d0WrU0hgBkzZT2M9YqYbFv1WSK5MuOyWxBpVKSLG/9eC22bx5aTKJAfzRqFRarDb9sNT9o/coWz4dep0Wv05Ikkf8HPff/KgqFnB7tGzC4dxv8DXqcTqeXcG8yW3A4nDidTmb8vZ5f/lgoBJgYKJg7C1qNGoNei93uIHGgv2gvwQehc6vazBjTH5PZEmtZpVLBk2ev2LzrKL9OWxKvudD/ByqUKkCAnx6AiqUKfObaCAQCgeBj8NkFK4VCzsyx39KkdnkMet9WLyqVikCVCoCShXOzccEYJs5awYgJ86I9b69OjcieOR0Af6/awcmzVz585d+haIGctGtSDYBrtx8wde6aaMtarTbp/3aH46PUx8+g4/t+HdCoVVhtdkb+voCQ0HCfZT3r4Fm3hEpkfa02+3sdr1ar4ly2ZJE85M0ZxKCerajW6luevfj/YeUXF2x2d/vaomnn+PSxT4FcLmfp1O8l8dXlchESZsTlcpEowO+z1SuhsXrzfnJny4hOqyE0zEiDGmVZvGZnnI4tWTg3ep0WjVqFw+Fk6bpdH7x+Tg8x2RLNeFSqSB5aNqgMwKVrd/hz4YYPXo//LwRlSM36eb+QNlXyaK1LdVqN9P/enRrTsUUtmn45nCP/XPpU1fwP4t7AsFj/f1q4dG5Vh/y5ggBYuWkfB46d+8w1+t8gRdLEOJ1Or2cyJtKnScEXLWvTrml1+v04lTlLN3/kGiYcPOeAdrvvuXSTOuUpX8ItZu08+A8bth/+JHUTCAQCwYfhswtWk0b0oWmdCuh17gVmaJgRtVrFoycvCA03olYpyZA2JXa7A71Oi1KpwKDX0u/LptjtdkZNXujzvL//+NaFJHGgP+37/vLR76Vv5ybSAgqIUbBSq1UYTWaUSgVO58ex2ilVJA99OzdBLpfjcDrZe/gMm3Yd8VnW6XRhtdmw2x3xEnP+64QbTdiimeTIAH8/PXK5HD+DjmyZ03FswzSK1u7Gy9chn7aiCZT49LFPQdni+VCqFADY7XYuXL3DqMl/ExwazpNnrz5bvRIai9fsZHhft3ukv5+eL1vXjbNg1a5pdfQ690LKaDIzb9nWj1bPmBjQoyX1qpWW/haClW9SJk/M/tV/kDxpoGRxGPmeffLsFcGhYeh1WjKkSYHZYiXA34Bep0Gv07D577FUaPIV5y7f+sx3IfgczBjzjfT/bJnTCcHqM2A0mXE4nNFahKtVKvQ6DSqVEpVKycQfe6FUKpgpxkOJiT/0JnXKpABUr1BMCFYCgUDwH+OzClZZM6WNWPy4xSqjycx3v/7FojU7vaw05HI5xQvmZOKI3uTOlhG9TotBr2Ngz1bMW76Vh09eRDm3w+FEoXBPzj+VG5fndWKzmirf+CuyB6UH4NT5ax+tTiFhRhIF+BEWZoyxXNs+oyicLzsA124lfLevD4XJbKVR52FRPpfJIFGgPw1rlKVF/UrotO4JYYpkiZk8si9teo/8DLVNmMS1j30KCufNhlYTIaaYLfQcMpETn8C68r/Gg8fPuXLzHgXzZAWgWIEcJEkUwKs3MQuxMpmM5vUqoVC4RUGL1fbZ3LM9rbD+l2O4xIRWo2bXsokkSeSPXC7HZrNjNJkZ+PMMVm89wJvgMK+y1coXZdJPfUiaOBC9zh3rb8fS3yhU/UsePY36nhX8/yYs3CRZ5MXmQi/4ODgcTkZMmMex05ejfKdSKiiQJxtd29QlQ9oUGPQ69Dot44Z1Z+ueY9x7+L/lHhgdnu+H/4IHgUAgEAi8+ayCVdO6FVBE7PiGhZsYPm420xesi1LO6XRy9NQlyjXqw8nNf5InR2YAZMhoWqcik2av/KT1/hBcvn6Xy9fvfu5qSNx/9Ox/LvYBwKOnLzh6KnqXly27jzF22hKOb5pBgL8BtVpF/WqlSZk88f+bBAD/n/Az6FAp3WKKWqni1r1Hn7lGCZeZCzcwbnh3DHoddoeDJrXLM2vxxhiPKV+yAHK5OxCwzWZn4artn6Kqgvekb5empE+THJVKidPp5OXrEIrW7upz7DJbrGzYcZjt+0+we/lECuTOikbtDq4/8cdetOgx4jPcgUDwv40jYv7rS7ACOHD8PFPmrmb6mG9o3bAKep0WlUrJN12b8/UPUz5xbQUCgUAg+PB8VsGqWIGcaDRqwL1TtGh1zC4pdruDr4ZPZsuicahVSnQ6DY1qlZMEq4Y1y5I/VxYAyboKoHblknzfr4P09/wVW7n74GmU85ctlo+mdStQu3JJ0qZKhlwhx253cPPOQ5at38Oqzfu4duuB1zFBGVLTtkl1AGpVKiF9rlQovK55+sJ1Nux4a4Zcv3oZybph14F/OHTyQpT6KJUKmtapQNc29ciTIzM6rRqXy4XJbOXy9bvMW76F5Rv2egXmVCjk9O3cBD+DnrLF8iGPyDIjk8no3705RfK7rajCjSYmzV4l+fyXLZaPymUL+6zru+TLGcQXLWtRt2pp0qRKhlwu401wGCfPXmHeim2s3rw/Vqu2/LmCaFG/MvWqlyZz+tSolErsDgePnrxgxca9rNq8j1Pnr8d4jk/FzbuPmDBzBYN6tUKn1WC126lYqiDL1u/xWT5LxjR80bI29aqVJihjGhQKOVarjVPnrzN7ySbWbT9EaCzWSOnTpKBL6zq0bFCZZIkDUatV2Gx2QsKMbNt7nHnLt0QbW6ZF/UrkyJIBgI07D0fbjhqNiq87N0WjUWO325k8ZzVh4aZY2+N9+1gkObNmoFvb+jSsUYbAQD9USiUWq403wWGs2XqAecu2xCtTWcrkienaph4ymYyOzWtKmZW0WjVDv2pLcIjbWvPO/ScsWLkNgCSJAujVsSEymYxnL14z4+/1GPRa6lYtRb1qZUieNJDQMCPf/fpXlEDzGo2Kto2r0bROBYoXzIVer8XpcHLv0TM27TrCvGVbuXD1drT1zZsjM41rlwfc1pXHTl9mWN921KtWmtQpkuJ0Orl66z7zV2xl+oL10o5wwTxZGdy7DZVKFyLAX4/NZufMxRtMnLWC9dsP4XDEzwJi5aZ9TPixFwAGvY4v29SNVbDq2KwGfhGxBq02GwtW+hasdFoN7ZtWp0mdChQtkAOdVoPT4eTOgyds2nWU2Us2vVcA/+xB6WjZoAoAVcoWkT7XatRe4+3Jc1fZvOtolOPz5shMywaVqVe9DEEZ3o47j5++ZNXmfazcuI+T567GWo+UyRPTvV19GtUsR7bM6ZDJZZjMFk6evcrEWSvYuuc4nVvVJm2q5DidTv6Yu1rqh+/iZ9DRsXktmtQuR6G82dBo1DgcTu49fMr8FVtZum63z/dVbKjVKgb2aClZMFusNqq2/CZWod1isVG73SAu711A8qSJUCoV1KpcgozpUnL3wVP0OrdLfqSV3frthzhz8Ua058uUPhXtmlRHJpMhl8uZPHuVT0u+EoVy0b5pDWpWKk7qFEmRyWQYTWb2HD7NvOVb2bbvRLSx9N59pjbuPEKqFEloWKMs1SsUw6DX8vDJC74aPtlrjEsU6EfHZjXp2Lwm6VInjxgLHRhNZg6eOM+85VvZuud4nKy0FQo5XdvWo1OLWuTOlhG1WoXFYuPg8XNMW7COrXuOe1kFRkehvNno0KwGtSqXIF3qFMjlMsKNZo7+c5EVG/eyaM3OaGP1eKJUKmjTqCpN61akVOHcGAw6nE4XDx8/Z8ueY8xbvpXTF6K+G2pVLkGxAjkBvOKdlS9RwOsZW7Z+938iCcf/CoNG/Unrhu6xUaVUUrtyyWgFK4VCTqsGVWhWtyKli+bFz0+H0+nkxctglq7fzaLVO2J1A5bL5TSsWZaubepRME9W9BHxtkwWCzduP2Te8q0sWbfL55wiXerkdGpRC5lMxsvXwUydtzba61QpW4QyxfICcOjEBXYd/CdO7eE5p82cIbX0ee7smbz68eZdR+M05gsEAoHg8yFzfSB/uaFjZjFu+tJ4HbPizxE0rFkWcGcoKlitM7fuPY7xGIVCzsI/hpE6RRJUKiWrNu1jwswVABhvbEOlil2D+2nifEb+vkD6299Pz9+Tv6NCqQLotRqvzGKRWCxWHE4XY6YuYvQfi6TPfxn8JQN6tIz1mkaTmcCcdaS/g69sluLAnDx7hVL1e3mVzx6Ujk0LfiVpkgD8DXqf5wwLN2Gx2mje/Uf2Hz0LuBe1Jzb/GWt9AErU7S6JGcc3zaBQ3mzSeRPnrhulvEIhZ8KPvejYrCYatdpLFIwkNNzI0+evqdNukM/fUqlUMOmnPrRtXA21SoUywhrGE5vdjtVqZ9n63fQYMjHKJL95vUpMH/MNAX563oSE0bjzMA4cj7tbUtj1rWgi4nSdu3yTIjW7xnpMqSK5WT9vtBS4e9yMpQwdPcurjEwmY9SgLvTu1AiVUunz3kLDjNgdDpp1+5F9R874vFaPDg0YM6QbCoVcqqcnTqcTo9nC4RMXaN17ZJSFsO3u2yDYm3YdpeEX3/m8TsXSBdm+eDwymQyn00mLHiNYu/Wg9H31CsVYNGUYiQL8CA4Jo2O/MWzceeS9+5hMJuOXwV3o2aFhtL+93e7AarOxYuNeen33OxZL7Ob7vTs14rfve/p8bt9FldE9oe/YvCZ//tpfOqZO+8HM/30IGrUK/4iMQ06nk+/HzeHXaUuk48sWy8fSGT/gp9dJgd09cTqdmC02Fq7aTt8f/vC5sFwwaSitIhYWAG+Cw9DrNFFix4UbzTx59ooyDXvRrmkNRvTviE6riZLqPDTcyM07j6jS4pt4B7zfufQ3KkRkKTWbLeQo3z5a1y+FQs6L8+ulRezdB0/JWqZ1lHKVyxZm8ZRhaDUan23kcDiw2uz8tXgT346c7nMRv2rWT9SvXsZdL4sV/+y1APh9RG96dWwU6329fhNKigINveo+4YdedGxeM8a+Z7FaWbV5P10Hjo9WAGzTuBpTR/VFpVT6jPcXFm7ixp2H0oaE0+mk0ze/+owRVqdKKeb9Phi1SikJS56YLRZcLhj9xyJGT1kU5fuYaFCjLHMmDCLAT4/d7mDBym10G/RbnI/v0qoO44b3wM+gw2qzM276En78bR7Jkybi0alVUrlzl25SpFb0Y+jyGT/SqFY56e/8Vb/wsi72M+iYO2EQ1coXi5LZM5KQMCMvXwVTu90gbtx5GOV7z2cqLNxIr+8mMe2XfshkSO1qs9mp1W6QNO7WqFicxVOGoVQqfLY9uMfr+4+e0eCL77hz/4nXd4N6tmLEt51QKBTYHQ5evQnFoNP4TB4TGmbkys171GwzMNpnVKtRM33MNzSuVQ6txnc7hIWbeBMSRvNuP8bo6lysQE5WzPyRQH8/n0H23eOUldWb99NjyEQvl6knZ9aQNHFAtOeOZPqCdXw1fHKs5f5X2bZoHIXyZSNF/oaxF36HIb3b8GP/jsjlct6EhFG3/eBoLaw8Ob39L/JGeCA4nU40matFKVMobzZWzhxBkkQBPvuGzW7HZrOzessBug4c71MkzpA2BZsWjCFt6uTRzk/DjWYcDgdtvxrFlt3HvL4b3Ks1Pw34QnqXZSrRwmdoD4AbhxeTMW1KAO4+fErW0t7vnOuHFpEpXSrAnXyjQLXOAJzYPIOCebL5PKcnOw/8Q622A2MtJxAIBIKPz7UDC702GSKJfYX3ETl+5jKWiImSQi7nr/EDSZk8cYzHOBxOWvX8iYpNv6ZMg96SWOX5vcPh8FoERX7mcDh87pRumPcLVcsVxk+vQy53W8MEh4QRHBpOcGiY+8WvUaPXaRjUs7WXQOVyuXC5XBHnf3tNp/PtNR0OJ+9e1mh6m/763XhXyZMm4uDaKWRIm0JKPx4cGk5ImJGQ0HBCQsNxuVz4GXQkTRzA+nm/SDuikfcXeW3vtnF4fe5ZJ89JiWfdPJkzYRAdm9VEr9OiUMix2+28CQnjTUiYZOXlb9ATlCE1Jzb/SZ7smaKcY+qor2nbuLoUQN9ud/Amoq3fhIThcDhQKZUY9Fpa1K/MrHHf+qzLp+bdxavCx2Jixphv6NmhITqtBqVSgcvlku4rNNxtUeXvpydxoD/r546idpWSUc7RpXUdRg/uil6nQaNWYbZYCA4NJzTMSHBEO8vlcvz0OiqUKsjeFb9HWdh4Lj5csezoB0csnkLjYFklnfM9+9iYoV3p0b6h9NsbTWZ3f464N4vVJi0em9erxLLpP7xHfaJ7BqMKR0YPy8QN834hWZJASazyRaki7gylKZMlloSYyAXkm5Aw7HYHcrkcvU5D2ybVWTrNd/3fHYMCAwwolQr3mBMShtnirpdBryV92uQ8ObOGEf07otdp3X0q4nqRY6e/QU+ubBnZNH90XJrLi1mLN0rWfi6gZcPK0ZatWq6oNK6aLVbmLIuaiapi6YKs+WskSRMHRmmj4JCwiNiCCnRaDZ1b1WbuxEHxrnNs463T6eTdUf73EX3o2Lymz3EnOGLccSf00NG0TgXmThjs89rN6lZk2i9fY9DrJLEqJMwo9QGHw4GfQUfubBmlY8KNvsfTulVLsXiqWxCOFEyktop472g1GnRaDYN6tWLKz33j1U7liufDT/82PuS85VvidfzS9bule1SrlFQp47ZWeP7yjZcbdfYs6UmdIqnPc6jVKmpULC79ffveYy+xSq1WsW3xOGpVKoFBr0Uul0u/zZuQMOldFOCnJ2O6lBzdMI1cHm0biecz5WfQM310Pwx6rZcQ5RmDqUzRvCyb/kNEgHktVpuN4JCIcTY0nHCjezz099OTI0sGjqyfRuJA/2jbSqlQkCTQH4NeR7jRJD2jkeOOv5+e/LmysG3R2CiCM7itVdbNHUXT2u4ENO52ePt+jayPn0FHutTJ2b5kPAVyZ/FZl0J5s7F96XivjJDhRrOPcUpLkzoVWDvn53feIS7pefKcR3k+Y58qLqggfniOib76Wb6cQexaPoEMaVNKfcNo8u4bKqVbPG9SuzzbFo2LsjHp76fn0NqpZMuc7p35abg0P3U6nRj0WgL8DSyd9r1k6eRJZLKh6MbHSCwe8xlLPGIVulz47Mee6wF3HURfFggEgoTOZ3UJXLftIMMiMlWp1SqKF8rFtQML2XfkLOt3HOLAsXPxMjlv0vV78ud0p2D+eVAX6fM3IWFMnLlc+nvh6h1vj6lTISJWh9s1MdxoZsLMZew+eJqQsHDSpk5Oi3qVaFSrXESwdy1Derdh8pxVWCw2/ly4Xtox7de1ubQzKZfLGfbrX9J1zly6Gef7GNSzFYYI8SzMaOLg8fNMm7+Wm3ceolIqyZ09E1990Zh8uYIw6HUYdFrmTBhEviqdOH/lNn2//wN/g47yJQtQonBuAv0NhISGc/LsVXYfOgVAmNHE2XjUqWeHhtSvXkZaAJjNVlZs3MuSdbuwWG0UyZedPl80JlmSQHRaDf5+etbN/YWcFdpJViaF82WjZYMqkmWZyWxh9pLNrN9xiJevgkmaJJB61UrTuWVtqa2b163E9+PmRLv79qnIkimtNKk3W6w8fOxdn25t69GifiVpkW4yW9i44whL1u0iOCSMjOlS0bVtPfLlDJIWUgsmDSWoVCup/ygUcsZ+1106h9FkZvSURew6cIo3IWEkTRxAqaJ5+K5PW/z99GjUKjKlT03nlrVjdeX6kLxPH0uWJJCe7Rui1bqfs+CQMH74bS6HTlzAaDKTMlliqpQrSr8vm6LXadFpNVQsVZDKZQuz++CpGOuzdN1uDDotMpmMzq3rkDm9W5mXy+WMnb6EkAgLtNvvWEh44nS6kMvdgoHVZic4JAy1WsXRiF3t5EkTsXH+GOm3CTeaePT0JRNmLufarQfotBpa1KtE07oV0KjdWZuqlivM8K/be1lz+sJoMnPw+HkmzV5FaJiRmhWL069rM/Q6LWqVCqvVhl6nJdxoZt/RM/wxZzXhRhN1q5amd6fGkriZN2dmyhTN69O9ODrWbz/MrHEDALcbX5dWdZjw53KfZTs1r0mAvwFwCwSLPMZRgLSpkrHmr5+lMSLcaOLew2dMnLWCm3cfoddpaN2wKg1rlkWn1aDXaWlQvQz9ujZj4jsbD9ExafYqHj99CcCAnq0IjKjPu+PtyXNvE1nkzxVEe6/kHhbmr9jK2m0HefHyDUkSB1C3Sim+bFMXvc79bDasWVZygYskKENqZo0b4HF/Zq7dus+Emcu5dfcR/n4GmtQuT+tGVaUxLjqyZU7Hwj+GeZ3r0vU7zFiwnjv3HxPgb6BF/coRY67baqdtk+qs3LyPvYd9W2a+S7kS+aUxS6fVcPpC9G57vggLN/HsxWvSpU4OQL5cQdJ3M/5eR57smfD30+N0umhWryKTZ6+Kco7q5Ytit9sBDSazhZmLvDOXzRjzDflyBkmueGaLlQUrt7Fx5xEsVhv5cwXRq2MjUqdIikGvJTDAj0VThlG4xpcx1l2v0+JwOLBYbYSEGjGazbhccOO226V/8s9feY3Vfy3ZxJrN+3ny/DV+Bh1F8mfnu6/akTRxADqtO/j8qEFd6Dl0YrTXtDscPHzynLHTl3L24g0MBh2tGlSheb1K0jOaI2sGqpYrwo79J72OHTusGyUK5UarVeN0OrFYbSxbv5sVG/dhtljJmTUD/bs2J2XyxBj0OvwMOrYtHk/2cm29LLYC/A1sXTRWctsNN5p4/jKY32Yu59K1O2jUKhrXKk/rRlXQqNXotBpKFs7Dr991Y8DI6QC07v0zxfLnALznUSazxcu6fMXGvTH+BoJPi0wmk55VcAvpnhj0WrYvGS9ZRIUbzTx9/oop89Zw9tJNNGoVdauWol2T6ui07r5ROF92+nRqzO9/vY0T26tjQxIF+KFQKAg3mjh1/jq//7WSqzfvIZfLyZUtI13b1KNk4dzSXGfuhEFkKtHykwqdfYZNomKE9bBnP1YovN8VW/ce/2R1EggEAsH78VkFq2u3HjB+xlL6d2uOQa+LcH9SUatyCcqXzI/L5UImk3Pu8k227zvB3sNnOPzPxWjjQGzZfUwyPR7x7RfSztC2vce93Ho8+aFfB2mnKdK9bvu+E9L35y7fYsvuY1y7dZ9BvVqjj1gYN6tTkYWrd3Dv4TPp3HlyZJbcEuwOR7TXjI0GNcqijnBtfPkqmHodhnh9f/HaHVZs3MvelZMk3/6cWTMQECEaTJvvjgdw6sJ1Fk8dDrgXmJPnrGbTriPxro9areKnAV94TILNlG/cxyvGwf6jZ5m+YB0H1vxB/lxByOVykiTyp06VUqzb5nYz+7pLM2khZzZbGTpmFlPmrvG61p5Dpzl84gIzx36Lv58emVxGj/YNGDZ2drzr/aFQKOQM7t2aAA9XMc921GhUjBr8peQKEm40U7PNAO9g7sfO8feq7fTu1IifB3bBoNeiUakYNagzfYa53SqK5s+B0xW562hi+Lg5/DFntXSK67fh6KlLbNxxhPO75wLuHfdmdSt+UsHK6XTGu49VKVsYq92OFjXBoeG0/3q0V4yha7cecOD4efYeOc2Wv8dK1i41KxaPVWCoA6YAACAASURBVLB6+TqEsRHuyH4GHYN7twHcz/PYaUuijR0USeQk+uadR/T8bqLP6w3/ur3knhluNDNv+dYo8UG27T3O6CmLOLphGgH+Bgx6Hd92b8GUuWt4HRzq89p2u4MdB/6hWde31lhHT13i2JnLLJ4yHD+D25LHZrezZc8xWvX8SSp35J9LnLpwnVkRz4pep+WLlrXjJViZzBa27ztBgxpu1+y0qZKTNVPaKG5XarWKWpXfWgTevPsoSlylkQM6e7SRianz1vKdx8IAYOue4+TJnomDa6fgZ9Bh0Ov4/usOzFy4IdaddnBb6ESOq8UK5pTqbbZYox1v+3zRBJ327bgzYsLcKJa5ew+f4cDx88ydMAh/Pz0KuZxeHRsx8OcZUpkfv+2ERq2U7m/a/HUMHePtFrzr4D9MmbuaQ+unSuOlL8YO64ZW87atxkxdzJgpi73KbNx5hEJ5s7F7+cSIttLy17iB5CjfNk7xyrJmSiv9PyQ0/L0yKd6481BaBMvlclKlSMKTZ69Ys+Ug00d/A4Bep+GLlrV9ClYdPUROmUzG4jVv3ZWzZkpLk9oVpN/m1ZsQStTtwYPHz6Uy+4+eZeq8tcz5bSCNapXHoNeSOX1q2jWpzt/RBPx3x3m0cPjkRfqPmMqld5Kb+PvpyZk1g/T3io17+ebHqV5lTl+4zvINe7l9ZAk6rQatRk2LBpVjFKyePn9F/qqdvSyUdx88xd7Dp5ky6mv8DDr8DXp6dmjoJVilTpGUrm3qSe0QHBJOiXo9uO3hUr//6FlmLtzAn7/2p0X9yhFCgIYB3VsyfNzbd+OA7i2l8xhNZlZtPkDn/r961XPH/pOMmbqI45tmkCRRAAa9lq5t6jHhz+U8fvaS3QdPSWPg4N5tpPnRgePn33tOI/j4NKldXpo3ulyuKO/hr79s5pWRe9OuI7T76hev+fSO/ScZM2UxRzdMI02qZBj0Wn7s35FFa3by/OWbiOtUkDaeTGYr1Vr19xqPLl+/y+rN+1kz+2fqVCmJTCYjTcpkZEib4r1i8b0vx05fltwoO7eqI7mYXLp2R/RjgUAg+I/xWV0CAUb+voCeQ37n5etgr0DU7l1EPQa9llJF8jCkTxvWzR3F49OrGP51e5InTfRBrn/01CWu3brP+cu3WLFxr5dY5cnspZul3Wo/g45sQek+yPV9oYuYDEDM5tJfDZ/E2q0HWbftIIvX7Iw2IO2/pU6VkkQal5stFsZMXeQzIKfZYqVTvzGS64W/n56eHRpI31+6fodbdx9x7vJN9h87y58LN0Q5B8CqzfulWGSRliOfA7lcTvkS+dm7cpIUIwHgzoMn3Lz7Nvtcg+plpcDjZouFKXNXR5t5cMrcNdy86xYDtFo1HZvXktxudDqNJJ44Xa5ohZbrtx8w7NfZrNt2kE27jrJk/S6f5RISep0Whfyti0JYNEHn9x4+w5S5q6V72xtNnK8PiUwmw2qzU61Vf59ilVwud8dti0gQ8SYkjH7vLHAjuX77Af1+nOo1lrVsEL2bXbjJHEW0Bbf47rmQMJmtTPaRDXXNlgOSMC+Xy6lSrkiUMrHx15JNb6385DLaNK4apUytSiUiLGXcY9LMd55dtVpFs3oVpef2yfPXUcSqSC5eu8PQMbO8gvE2rVMh3vWOK1dv3uP2vcecu3yTQyfPM3W+7wC/67YdlNpSrVZJsWDALVo3rlkOpdJ9f8Gh4VHEqkguXb/LrIUbok2fnijQj6rlikpByx8+eRFFrIrk9IXrjJ+xDJPJ7SaaOJE/lUoXisNdu2MiRWKLQ5BuX3i64NjtDgweC15P0SUoQ2rSp0nhdaxGo6J6hWLS3xeu3PKKj9atbT1pgR0abqTn0N+9xKpIXC6XVyxDtygdNXZaJDKZjFdvQqjfaWgUsQrc7RK5wHY6nbwODvN5npDQcHoMnci6bQfZuOMwU+au9lkO3O3x25/LfbrTL1qz08sdsXyJ/F7fd2xeE7lMLl2z59CJXmKVJz2HTpTc73VaDd3b1/f6vkf7+pJgZTJb6TZovM/z3H3wlB5DJno893LaN6sR7f0JEi5pUiZjQI+WzP5toOTSHm4yM2eptwtw746NpA1Dp9PFlwPG+9z8ffzsJT2H/i69wxQKBe0iEgsB0hgA7k2h6MTzASOns2brAdZtO8jyDXuk8AMCgUAgEMSXz2phFcnitTtZun439aqVpmX9SpQvWYAAPz1Wmx0/g9s1Tq1SoVa5F/YDerTkm67N6fTNGK8g0e9D14G+J3TvEhJq9IpbFF2Q1g/B+Su3SJk8CQAZ06Vi68KxzFqyiUMnzvPk2Sup3LnLt2jWLW5xfv4NFUoW8AhE7WLlxn3Rlr1w9Tbrth2kaP6c6HUart1669I5ZkpUKwJfuFwuLBartOCKnIB/DPLnysLz8+uifC4DtFoNFosVg14nLWTDjWba9RnlVbZSmUJS+6hVKuav2CZZFfjir8WbGDW4C/4GPRarjZKFcrH/2DkuX78rWaj4G/RMHtmH7EHp2LrnOCfPXfWykBg/I34JDj435y/fkuJZ+Rt0rJo1knEzlrL74CnOXLrhFZx8gIdVy6fiwLGz3H/0zOd3eXNkkuLM2Wx2Fq/ZGaNrw9ptB5k2+mvAPU5UL1+U6Qui9jEAP72OI/9c9PndqfPXqBghThh0Wo6djhpk2el0cvHqHYoVdMew07/Hs7Jj/0kp3olG4xZRR0yY71Xmi5a1pD6tUMijuAMVzpsNi9WGVqPGYrEyf/nWGK+5ctM+xg7rDrgFiKrlijJ/xbZ41z0ujJ+xjPEzlsWprMlslcZ2z42DPNkzYbHZ0WjU2Gz2WDPart12kC9a1vYZlL14wVzS+BYWbmLGgvUxjheL1+7kh2/cWa389FpqVirOzgNxy5T1ofGMizNz0UYqlioo1b15vUr89ufbdq5RoTg2mx2dVkNYuJEZf6/3OleVckWk4PdymZx9R8/E2A5rth6gbeNqyOVyMqZLRaJAP974EJssFiuTZq+OdgPn5esQLBYruogEK13b1MVPr2PV5n0cPXXJS2xevn4Py6PJBuuJw+GMUVw/+s9FKZaX9p1ntHqFYmg0kbHCVGzcGb0VtMPhZPnGvXRrUxeFQoFKqSRT+lTcuf+EzBlSS4Kqw+Fk5aa9MWYT3LTriDSn0mhU1KhQjF+nxv5+FnxaVEoFB9dO4U1I1L6ukMtRKZU4XU4vl+cN2w97JXVJkzKZ5ALrdDpZvWU/SqUi2uft4Ilz0gatVqOmYc2yTIgIq3Hq/DUp+3GiAD/2rZrE9AXrOHj8vJfgfOPOQ1p0H/FhGkEgEAgE/9MkCMEK3C/RddsOSu5jqVMkpVTRPJQvkZ+q5YqQKX1qLBYrAf4GScCY//sQ6nf6Ltpsa/EhU/pU1KtWmrpVS5E/Vxa0GrWXQCVXyH1mxfsYjJm6hFJF8mLQu+M4VSlXhGIFc6JWKTGarZw6f40d+0+y5/Bpn2mpPzSli+aVFip2u8NnliZPWvUcGeP3KZIlpkH1MtSuXIJihXKh12lQyr2zduliiQHzIYnM/OeLSAHJYrVhMlto3WtkFOuyUkXySP+Xy+Wc3u7bssTznMYIiwmFXE6m9KnZf+wcT5+/ZueBf6hWvihajRqDXke/rs3o3r4Beq2Ge4+ecfD4efYcPsWW3cd9poZPqJw8d5U795+QM2sGlEoFiQL9GP51ewb2bIVOo+bm3UfsO3qGPYfPsG3v8Ti5h30oLBYrO2NwOyyUNxvyCOuwcJOZnbGk1Q4JDefug6dkD0oPQJECOaItK5MRrSWOZyB8m90erSt0ZEB/QKpnfHA4nKzavI92TWq4FyGBfhTInUWKP6bXab2sek6dv8aLV8Fe5yicL7tkLWO2WNl75HSM13z+8g3PX76RrHJKFMoV73rHl2RJAmlQowx1qpSieMGc6PXaOI87eXJklqxMjSYzh2Nxuww3mt0/rg+K5s8huQ8r5O7Mq6OHxpypNHL8lcvl5MoaNei4L6w2uySYve+7yzPrrkIhl8YtwMvCSqfV8EXLWl6CVYdmNaQFsVKpZPWWA17nzpElvfR/g17Lg5NRLQg90ahV2Gx25HI5ZouVDGlS+BSszFYbx075FoHBPdeYNHsVA3q0lOLldWhWg6Z1KqDTqXn+Mpij/1xk18FTbNt3nHsPfQvZnsjlMi+h6108xQb5O/3CMzbYlZt3Y3Xd3Ln/JG0aVSXQ34DD6aBwvuzcuf+EwvmyS0Hew4wmduyPeZyyWGxcun6HwvmyA+5Yb4KER+RYEdM8JZJwo5kte47R+duxXp8XzpcNq9WGTqvB7nDQvmkNWtSP3vIX8MpQHJmlD+C3mcupV720FGe0dNG85M0ZhEqhwGqzcfriDXYe+Ic9h05x/Ez0mSwFAoFAIIgrCUawepfHz16yevN+Vm/eD7jdy2pWLM7473tIWZX0Oi3f92tPlX8pWH33VTsG9myJTCb7qNY8cWXfkTN8NXwSf/zcF5fLhUGvkyb+Wq2GquWKUK5EPmz29jx68pLh42ZL7fQxCAx4uwv3PnFQPGnXtDqTR36FDJnPlPefGovFKsWN8kSpUHgt1tZtO0ifYZN9ikSB7+xSanxYVbxLpGm+QiGXrAwA2n01iuUzfqRMsXxo1Covy8IsGdOQJWMaGtcqh2qMks27jjJw1IxPGhfi31Cz7QA2zBtN1sxpMei0aDVqyYouV7aM5MyagdaNqqJUKFi6bjdDRs/6JKKcyWLlzMXohd9EAX5efSE8DhkVPQU3X6nD48KnDFA7b9lWmtSugL+fHq1aTfumNej/0zQA6lUrhc3uQAeEhhmjBM4GSBRgeOuCJpMRFh674OjpPhUQQ3bGD0GrhlWZ9svXyGTvN+5EWuOAO6fUvxkHkyYJkJ75SIEsLmNGJHEte/fhE/Jkd7s1Bkb04fi6jUcmMAC3aObp0ud0Olm2YQ+dmtdCqVSQPk0KgjKk5ta9x2g0KqqVLyqV3X3olJego1Ipo2Rajct9RT6HCrn3uOmJQa/lzMWYE4qMmryQ5MkS0al5LeRyORq1SnrPpU2VjCZ1KlCzcgl+k/Xk5NmrDBg5nX/OX4vxnDESw6PsGaA/LA5jS5jRJI0NSrmCxIFuISNRgAFlhJupy+WK27k8yugTwPtYEBW73YHN7vu5jZyv2mx2VColrXr9JMVx9SQySDrw1qouPmOOh3vx6QvX6dhvDHN+GwQyt5Vw5Pit07mTpZQukodBvVrx6nUIIybO5++VvuPNCQQCgUAQFz6bYKVSKRnRv5M0SVy5cR97Dke/Kx8aZmTFxr1s3HmEawcWSubPxQvmImniAF6+fr+F7Vedm0g7reBeiFitNjQatddOqFwuw+5wxusl/29YsHI767Yfol2T6nRpXZdsmdNiMltRq5TotBo0ajUaNWQPSsec3wZRMHcWvh8/96PUxXPd7CtVclypWak4f4zsKy0YbTY7RrMZrVqNXCH3mtQrlIooO9EfA4VCwbc/Tonyedc29ciVLQNKpRKjyczzl2+iFU/eFRbiYx1k0Gu57uE2GW40U6f9YPLnCqJ3p8bUrVoKfz+366BfhGtipPthgxplqVKuCOUb9fEZqyWh8fT5a4rX6U7ZYvno/UVjqpQtjFqlxG53SK6/AX7u8aBtk+rUqlyC4nW6e7nBfizCYxBYXC5wOd/+xnGxYvJME+95bELl0MkLWKw2/AGlUkGbxtUkwapLqzrSgkSlUvp0w3Y6XRFJMiItgeLQRrK3beRLNP5QVClbhOmj+70z7ljQqlVevxO4793XGGexWnG63BZuMpCyyr4PTo/+YLXaUKtVcR4zDHotp+JoVXvo+AVJsDKbLeTLmZlT5+NukavRqLyyjl29cS9KmblLt9CqQWX8lHpkMhktGlRm9B+LqFmxhOQOGBIazsyF3kkhPPtKJPEZNzVqFU+evfb5nUIul+I8RYfL5aLv8D+Y8OdyurWtT8sGlUmZLDEmswW9TotKpZRi9ZQrkZ/dKybSoscItu758BnFPN8f7/ZHX3g+Ny5cUn9yOl24iO849bbMpxTIBXHHZLawest+Tp696vV56pRJ+bpLU6m/hoSF888536Kqi7d9w2S2oNNq4vy8adQqLl274/XZmi0H2L7vBK0bVqVb23rkypYRs8WKSqlEp9OgVqtQq1X4G/T8MfIrShTMRe9hk97j7gUCgUAg+IyClb9Bz4AeLaW/8+fKQrlGfWI9zmS2sHD1dr7t7j7WYrWRJmWy9xKs1GoVw/q280pvPXXeGlZu3Mf1Ow+94j/odZpYXRY+NMEh4UyZu4Ypc9egVqsomDsLRQvkpErZwpQvWQClQiFlj+rXtTnTFqz7KIv7h0+ekyVjGsBt6aZQyGPMUpU9KB05srizMD14/FxyWxz7XXeprY0mMys27mPu0s1cvH4Hq9V7B/HhPyvf2zIlPly6fidKbBVwZ+g6v3sufkolep2WTi1qsXTdbp/B1B89eSG5NoUbzSTKVedf1+vc5VtSfLUUyRJTtEAOShbOTY0KxcidPRMymcxtFeBvYPz3PandbpDP88hiWLTEZXH0MTh44jwHT5wHIH2aFBQtkIPSRfNSo0IxMqVPhUqpRK1SkixJIIN7tY6Sje9DI4No3e0AHjx5jiVCxJbJZKRIliTWcyZLEij9PzK7UkJn4art9OrYCJXK3f5liublwrXblPRwed196JTPhc7DJy8wmizuZ9bl7rOxkSRxgPT/J88/nig5bpj3uLNmywH+WryJC9duRxl37h1fRqAP15sr1+9JC3qdVkOxgjlizLiq90ig8C53HzzBbLGg1WgwWaxUafFNtEka/g0Hjp+jVcMq+Pvp0WjUNKtbKV6CVb2qpd2LUJUSh8PB3qNno5Q5cfYKIWFG/Ax6tBo1HZvVZPQfi7yzA8plbNvnLfTY7Q7CjWZJfD99/jrF63b/F3f7lvgIL3cfPGXomFkMHTOLAH8DRfJnp0ShXFQvX4yiBXLgcrkka+4ZY/qTqUSLD1JHT16+CiF1yqRA3J6blMkTS9ZpdruDh0/cVm8Pn7yQ5iwKhYKUcTiX5/VevfadyVTweXE4ncxatFHKeOdJutTJaVa3opTJcu6EQdRpPzhKuQePX+CUEg246DFkAn8t3vSv6hVuNDNr8UZmLd6ISqUkX87MFCuQk8plC1OhZEE0apWUCbZ9sxpMmr2K67cf+DhTVPHak881TxEIBAJBwuGzvQnehIR5uScUyJ2FxIH+cTpWqXirs8lAitvgSVx2GksVySO9DC1WG9MXrGPI6Fn8c/4aIaHhGE1m6Z87G0rMmZa8LJF4P+sgP4OOX4d2Y9JPffh9RG8ypXdnp7NabRw/c4Vp89fS5MvvSZG/IWOnL5HcLFwuF41rlX+nPt4T9/c1WNp7+Iw0EbZabZQpli/G8kc3TGf+pCEsmfY9mxaMAdwTq8h7AbfbY5dvx3Lo5AXeBId5tbXRZPb6/T4HDx4/Z+DIGYQZ3S4Tep2WxVOHS8FxPdl9+LTUN5xOJ2VjaZ92TatzZf8CLu9bwN3jyyVXqrLF8zF55FdM+qkPA3u1kso/e/GazbuO8v24OZSo24MspVtzyyNLYYVSBbwygnmKickSvxVO3iVlssRR3HLiS1z7WIMaZaR769L6raB3/9Ez1mw5wICR08lf9QsKVuvM6xD3wkmlVNK6UdSMdZ+aE2euSMGMA/0NNKsbc0a7oAypJTcdcKeD/y8wf8U2rBFjsl6npUPzmjSsUVbKDhgSGs6sRRt9Hnvi7NtYJf5+OhrXLu+zXCT5cgZJz5LL5XqvOIRx0SVSJk/sldH1yMmLdOw3hoMnzkcz7vjm7OWbaCOsqtRqFW0bV4+mpJsGNcpF615+4swVLBFCmV6roVGtcjGeK1vmdJzZMZvL+xbw5MyaKFnmomPDjsNS7CqNWkWP9vVJmTx2EQPc9/jL4C8lQclitTFv2RafZecs3SxlE0yVIgkFcmehStnCQETw7437fAb/PnPxhvT/XNkzxvr+//W7blzZv4Cbh5ewe/nEON2HL7JmSsukn/ow6ac+jBrURfqdQkLD2XPoNGOmLKZy836kKtiY3YdOS/OUAH89BfNkfe/rRsexM2+FiHSpk5MqRcyCePN6laTfRavVcCIiTtCJM1ekgO7+Bl2sMYpSpUhCBo/YREdPRxVNveZRn8DiWRA/+n7/h+TWqVapKFMsLy3qV4pS7p9zVyX3Y4NeS+uGMb9X/f30HFo7hcv7FvD07Bo6t3K/s9VqFSMHdpaen1zZ3PH0bDY7p85f58+FG2jRfQSpCjZiyJhZUnxFpVLhVS+7wyHNHRwOJ0kSRf/sJ4njuiAmPPvxv/ESEAgEAsHn4bMJVk6nk027jnpZNgz/un2sxykUclo3qiL9rVareOzDqshzguw5KfPET//Wgsdqs3H+nWDanlQuUxhzNMGRIzGZ31oe2B0OknpYEMSVdKmT80235vTs0JCeHRryTdfmPsu5XC7mLN0sxSWItLbxxDMluUqlJG2qZPGuD8Dug6cwWdwuFga9lt6dGkVbtnm9SshkMvwNelRKBbsigln7GXReAmVMbi35cgahkPuOT/IpmbV4Ixcu35L6UtLEAYweHDU48o59JyQXlEhrt+gI8DcwflgPsmRMS9ZMaUmTMimWiH7VskEVerRvQM8ODRk1sIs0GXyXZy9es3zDHq8Jn6c1WrjxbVyS/LmzRBvrpWWDytLC532Jax/r362FdG/TR38TbXaiW/ces+/IW0uOj5mNM67cf/SMYI+gyXWrlo7REqJnx4aSSB4aZozREichceHqbV68cluDKRRymtapQLd29fEz6KXPtu717RJ15cY9qR/L5XKa160YowDRq1Mj1BEiYGi4iS3v4Wrl6fYll8t89ik/vfe4c9pDJHmXnFkzoFH5dvm22x1s3Xtcel8lTRLgZSHsSfagdHRrWy9a9/FTF65L/UOlUtKpea0Yn8Oxw7qTM0sGsmZKS9LEAZjMcYufFW40M3PRRswR5dUqFTuXTojTM7V4ynBJ3HI6nZw4c4WL77gFRbJg5XbJLU0hlzNnwmAp5o7RZGbO0s0+j1uz9YAUx8zhcNC1bb1o65MrW0Z6dWxEloxpyZA2RZyFN1+UL1mA7u3q07NDQ/p1bUbtKiV9ljOazMxfsRVjRD9zOJwxZjF8X9ZvOySJDk6nkx7tG0RbNm2qZFQu8zYBwr2HT3kd7Bb4XweHcu/h23iGFUsVlCx/fdGtbT1pcyMs3MT6bYeilPF8dtKmfr/5g+DjERZuon3fX6TnyKDXMe2XfiRPmihKueu33lo3FSuYU7Ka90W/L5uSL1cQWTOljRib3M934kA/BvdqLc1Pv+8X/Zx99pJNUtZalVLpNR9+HRyKxeZ+X6hVKikb7rsUzJPVZ6bV+OJpSftu2wgEAoEg4fNZbW3Hz1gqZR1yZxmqzZRRfaNd9KZLnZztS8ZLwUEdDidb9xyXJmye3H3wRPp/4bzZKZA7S5Qyr94ES7uGBp2WL1rW9ml+nD0oHVNG9Y01MPCZizekiYPNZqfPF43jnZ3p9v3H0uRVJpPRoVmNaHd161QpJVn2GM0WHj976fX9lZv3JcsbvU5Lt7b142zF5smhkxd4/NR9boVCQfXyxRjcu02UeyuSLzvTfukniSdmi40xUxYB8OpNqNfEo03jaj4XTimTJ2bBpKGfLFZYbLTp87O0ENfrtHRuVZviBXN6lTlw/DwPHrvdMuRyOVXKFmb0kK5eVk8ASRIFsHb2z1L/DTea+WXyQkl4OvLPBWlH0m53MOXnvj4tupRKBY1qlfPKHOaZhWrTrqPSQsThcDK4d+so56hTpRQVS/meJMaHuPaxPYdPSwKDyWzh9xG9fe50+hl0lC9ZQPo7oWRC/Hny35K1nVqlZOfS3wjKkNqrjFKpoE+nRnzZui5ajXuiHmY0sX774U9e3/dl9pLNmCPEaaVSQbEC7r7udDpZu/WgT0uZSMZOXyK5C2o0anYsHU+GtN4LZpVKyYAeLWnVoLI0Hrx+E8L2fSfiXddT569JfcpisdGzQ4Mo4/fr4DCvcadlg8o+g64nT5qIvyd/h1odvZf88LGzpWDrfnodw/q2Y9OCMVQpW4SgDKkplDcbvwz+kmMbZ3gF0n4Xm83O1HlrpbrrdBq2LBxL6hRJvcrJZDJG9O9EpdKFUCjkuFwuLl697WXNFhujJv9NcGg4LpcLlUpJxnQpOb9rDpXLFvb5/OXPFcShtVOoWq6wND4bTZYY48/cvveYW/cfA+7fPX+uICkWXbjJHK2747zlW6VxyqDXMbRPGzo0qxGlXtmD0rFx/mhUEcJ7uNHEoFF/xrkN3uX0heuS6KdSKhn7XbdoN5ea1qmAThthWadS8uSdd+yHYNmGPVhtb98xX3dpRre29aO8X7NmSsvOZRNQRQi9YeEmRv6+wKvMyN8XSPMHpVLBrmUTyO5hYQju90XnlrX5pmtz6Vmw2mws37gnSt08RY6sGdNSqkjuf3m3gg/NzgP/sG7bIWnc1mrUzPltYJRyP3n0DbVKya7lE8jtY1OsdcOqfNu9pWR5GB5uYsXGfQA8e+Edy7NOlVKUKZrXZ73qVi0lze8tFiv3Hr3Ntrlj/0lp7q3VqhnQo6WXGz24rbz+/LX/B5kLnrv8NgmDXqehfvUy//qcAoFAIPh0fNYsgcdOX+bMxRsUzZ8DrVaNQa+lXZPqtG9ag8dPX3Ll5j3MZisGg478uYJIEuiPXCGXJmwWq5WfJs73ee6Vm/YxsEcrdzwWtZL9qydjsdpQKRW0++oXNu48wtFTlwkJDcffT49cLqdwvmzcPb6MrXuOceP2Q7RaDTUrFidvzsyoVUqcTmeM/vRb9x5n7DB3HA4/g46vOjfhm67NsVhsHDh+jsZdhsfaJhaLjanz1tC3S1O0GjV6nZb9qydz7PRltu45Rli4iSSJBDcxpAAAIABJREFUAqharghFC+SQFhUul4sVG/d6nev5yzfcf/SMbJndE9asmdNy/8RyQsKMOJ1OCtfsyrMXvgPXvkvXAePZvPBXKZXxwJ4t6du5Ceu2HSLcZKJCiQLkyJpBEi+sNjtb9xyTduWfvXjNybNXKFvc7c6SMlli7h5bxo4DJzl78QZKpYKKpQtRslBu5ArZe7svfmjuPXzG0DGz+GVwFwx6HXqdliXTvidXxQ5YPSzuvvjmV3Yu+01qn+7t6tO9XX127D/Ji9fBZMuczn1vcpm0gH71JoSfJ/8tnWPZ+j389n0vMLgXG0UL5ODusWWs335YigOWM2sGGtYoK8XZsVptLFi5zUtImL1kE83qVsTPoMPPoOPbbi1p27g6a7bsx253ULdqaYIypkGv08Tap2Mjrn1s8uxVfN2lGeAWpxvXKkflMoVZu/UAV27cQ6GQUyB3VhrUKPN2omw0M3Hmiveu24dk9pJNdG1Tz22Fo1aRNVNazuyYzdlLN7l49TYGvY6alYqjUMg9FvpmOvX7Ncb4WAmNxWt3MqRPG8C98InMPhVuNDMnGpewSKbMXUOn5rXIkjENGrWKnFkzcmH3PE6dv8aVG/ekTK9y+bttNOa96rplzzFG9O8EuBc3A3u2YmiftlisNnbsP0nrXiN59SaEQyfOU6l0IWQyGUkTB0SMO/9w9uIN5HIZFUsXinAPl8XoLnLp+l0G/DxDisWn12mpXqEYJQrnRiGX4XS60GrUqNUq7HYHLpzRutyOmbKI1g2rkDZVMrQaNQVyZ+Hqgb85ceYK1249IElifyqULIhWo/KIsWilbZ9R8WqjN8FhVGnRj8PrpxHgp0en1ZAhbUpWzhyBXCbj5LmrvHwVgp9BR9H8OdBo1eg0amlMMJrMNOn6PVd8BFz3ZMbf6xkzpCsGvVYaUyxWG3Nj6DOhYUa+/uEPJkck4tDrtEz8sTdjhnZj+74TGE0WCufLRu7smVCrlMjlcmx2O4dOXGDjzve3Wjx94TqXrt2hWMTGQ6oUSbhxaDHb953gwPFz2O0OMqRNQd2qpUmfNoWUVe3Stbtcu+UrBs+/w2q10XXgeOZPGopBp0Wv0zB66JeMHPAF2/adwGgyky9nEHlzZkapUKBUKjBbrJy7fJMla3d5nWvJ2l30aN+AQnmzodWoSZ8mOSe3zOTStbucu3wDrUZD9QrFUKuUXs9g14HjsViiWpAv37iX/LmzuBO9aNRsWTgOu92OQiGn97DJLFq944O3hyD+9B42ieoViqHVuAOelyuRn6Z1KrBy0z6pzOrN++nZoSElCuVCq1GTKnkSjmyYxrVbDzh94RoatZryJQuQONBPegeHhZvoMWQiIaHhgHueOWbKYn7s3xG9TotOq2HzwrGcuXidTbuOEhwSRmCAH5VKF6J00TxSH3M4XSxYsU2qy72Hz7h68760GZskkT83Dy9xJ1W6dZ+smdJQv3oZ5HJ5vDd9fbF6ywFqVSqBv58evU7L/N+H4MKFDPh12hLGTFn8r68hEAgEgo/HZxWsAOq0H8z2JePJmyOzNGkFCMqYhqAYTJaNJjMDfp7B+Su+3fj+WryJ3p0aExgx0Y0MnApQKG82Nu48gsvlYuCoP5k17tsIocEdILJj81o4HE6vBUy40RxrOvQ795+w5/BpKpUuhE6rwT/ClUan1XhZjcTG+D+X0bJBZVKnSIparUKnjUgVXDQPDocTlVLp5eYVbjTz3a+zfQZD/mH8XGaNG4BBr5UmIck1akxmC+lSJ4uzYHXo5AV6fTeJqaP6otdp8Tfo8TdA51a1o5Q1mS3cffCU7oMneH0++JeZbFs8XqqLTquhWd2KNK5V3qutzRYrclXCCbQ5bf5a2jWpTqG82VAo5CRLEsioQV0YMHK6VObE2Su07TOKhX98h16nlazMfMWncTgchBnNNPnyey+XC7vdQc8hE5k7cZDUX/U6LR2b16TV/7F33vE1X+8Df9+RPY1E7BHEiBl7k1ilqPbbpbulqopWS6sbpaVodSg6lVZRexQhsTchCUJCYiQhQ5K79++PexMZ92YJwu+8Xy9/yD33c8/nOc95zjnPec5zhvfDgtWJkCsnk8mEQqVhxoKCu+xHTp1jx55jDOrbKc+BFli/Vt5FBbmYzZYKSWhaGh3LuJXD9AW/8/GkF/Fwv93X3nhhODq9AYlEUiAiTac3kJaZZTch/v3AZDLT/+nJHN36EwF+VXF1ccbJSU6X9i3o0r5o1IFKrWXiJwvZtf/Efaht+Um6doOExGSCmzVEIpHg5GQdIgxGI/uOnCn2u3q9gX5Pvs2xrYupXsU77yr07h1b2c17p9Zoee3dueXO8RWXcJXDp87SLSQYV1fnAva2T9e2eeWmzV7KrlULCtidJ4b05rFBPctsd5Ys34SnuyufvvMSLs7OyGTSIkexFUo1Xp7uqDVah8fvVGotvR+fyLGtP+Ht6ZGn+726tLE7Vqg1WqZ99TMxcZdLLyAbcQlXeeS5KWz47Qs83N1wdbktq95d2tr9jtFoQqvT89q7c9htO9ZdHKs2RjDXtlmTa1NMJnOBRao9lq3ZQYO6NfOifbw83fECu7nrtDo9N9IyeWXyVyXWpyTe/PAbdq+aj4e7G85OTjg7OTHykV4MCe2C2WLB2cmpwEI5tz/fLTZsP8DHc35hxnuvWuVga5+nhxfNQ6XW6Lhy/Ybd5NoAjzw/lUMbf6R+7Rq4ubkgl8sJad2UkNZNi5RVqbV8NOdnNtg5Dgjw17pwpr01ChfbjZr550Cd2zUXDqtKQo5CxUtvz2blj5/mja8/fTWZyENRpGdm55Ub9tI0Dmz4nsD6tXBzdcHdTUbblo3tRvEr1RpWb44s4PQCq3P6lacH06BuTdumqgvdOgTTsU0zjCYTcpksb9wAa0TkvMWrilyMNO6DBexcOQ8Pd1dbH4QnH+1ToIzRaKqQOcqW8ENk3MrBzdUFuVxWIIVC7y5thcNKIBAIKjn33Sug1mjpNXICX/+0kpSbGag1WodXUucoVOj0BqLPXyLsqcksWb7J4XOvpaTRe+QETkZfQKvTk5WjJFuhwmQyFXj+qk0RPD9hFreyFeQoVPlu2ZEikUjy6rPcNjHLTXKeP09Qfv73+mf8vX4XKrWWHIWKbIUKlVqbd5QkF+uzdRiNpiI5SbKylXR8ZCw79h5HpzeQo7Tubjk7OeUNuEajiWyFihylitHvzWXRH+vt1mf15kje+uhbkm+ko1JryLbJwc3VpcDvanR6a100OodRBsv/3cETYz7lRlomOTZZ5kehVKPV6Vm7bS+dhowtclTzyKlzDH7uPa6lpKFQqvOO2uXKWqvTodZoCd93guTUdHQ6PSaTOS+sPBeVWou3pztZOUp8vT1RaUp/HTpY830plGoMBmNeHUri2fEzMBqNtqN3Eia99kSBK9/BmuQ47KnJXLh0FYVKXaTNVWqrLh05dY72A1/Li5rKz9ptexn28oekpmWiVGnQ6qzt4WpbaEskElRqa4Lo46fj6PjI60WOgubWd8XacLQ6fd4x1Vy0Oh0arY4lK6z9JytHiY+XRxGHp1qtxdfb0/p5MXIurY7NW7yK0e/NzdNbvd6AVCrNu+EIbuvQzr3H6fjI6yVeT1+Y3HfIylHi4uyEwWD/CJtKrcXT3S3v3dSl+J1b2QraDxzN3+t3odHq8vplLnpbX026doNhL0/jDweLdaVag8ViITtHWexkXK3RYTabUSjVRY6XFi5nMplRqbV5Oe3uhEV/bsBoNJGVoyQrR4neYGD52p2lun0tLSOLtgNe5d+te9FodXn2MhedTo9CqSYhKZnBz00pEhWa/51K8+7DX/6Q1VsiUWu0ZNvsbeEx5ET0BQY8M5kr12/Y7I5VJ2/bHWsf2XMoiqRrN9DpDRhNpiJ2J5f5S1bTYfDr/LH6P1JuZmA0mtAbjJjNZg6diOXZ8TMIffLtvAT2FoulQDRmLtdS0mgd9ipbdx9Bo9XlHdfJRa83oFCpSU3L5PHRn/DDb+scyqEkjpw6R1Cv5/ntn23odHqy8411uZjNZrJtY+zm8IO0Cn2Zf7fuLdXzM7NyOHQiFq3WOtaqNVqSrqUSn3i9xO9OX/AHL7/zJWkZWeQoVHn5r3LJsY0VG7bvp93A0dxIK7rJUto+lcupmIt0Gz6ecxeTUGu0BY6yurm6IJNJ0ep0KFVqEq+l0u/JSRyNKngUU6Wx9resHCUe7m7FjiUqjRaLxUKOQuUwp+B3v67lqTc+J/lGOjlKFQZDweflKFRotDp++2crnYaMLaIvebJQaeg0ZCy/rd5mtVOKQnbKYCBHoSL5RjpPjv2M74vRq/TMbHqMeIujUeetemOz7bm3PAruDiq1Nu+ov6+3p0NblJ//Io6ydfdhNFpd3pg++4OCOTfVGi1dHx3H0hWb7eqGyWQiR6FCqVLz7vRFeTcV50ej1dF12Jus/2+fdX6a78ixm6tL3q2i1rmvhnc+/6HI0VWwbvINGvWetd/bIrJzybX9CUnXORp1DpPJbLXLdo6km01mdDo9eoMhz+YWRqvT0+Ox8UQcPFVAj/V6Q5ExSiAQCASVD4mlLHdAF8O0L5cyd9HKO35O4wa1eSS0C907BOPp4YazsxNqjZbrqens3HucyINRdnNWFUf1qj50aBOEq4szSpWGfUfPFAl/l8tldGnXgv69O9C8SX2cneSkZ2Zz5OQ5tu85ypXrN6lby5+atht8Tp9LsBtCX/h51ar6YDSaOHMugav5zvDX9K9G3VpWh8eFy9fIylbafU5VX2/6dm/HwN4dqR1QHRdnJzRaHadi49kReYzDp84Wm1cmP82b1KdRvVo4Ocm4npJeIBdKFR8vmjSsDcCV5Juk2klkn//denRqxaA+nWjdPBCZTErGrRy27DrEpp2HikyCCiORSGgX3Jiwnh0IadUUV1dnsnNUHI06x679Jzl3MQn/6lVoUMeaLP98wtUiz2zfqglymQyNVu8wys4R+dsxPjG51HmS8n9Ppzdw+myCw7JtWzamX/f2dG7XHBcXJ3IUavYdOcOWXYdJvpFeqt8LDmpIaM8QenZqlZeU+Va2gvB9J9i1/ySXr6SU+IzqVX3439A+DOjVAS9Pd7IVKiIPRrEp/CCJV1Np1rge3p7uGIwmuw60Ni0CrY4fB58Xpjgdy0UikRDSqin9e3Wgc7vmeLi7YjSZScvIYvueo+zaf7JY/SsOJyc57Wy7xRm3ckjId5tiYTq0DkIqtToAHSWUdoR/9Sr07daW0B4h+FfzRW80cjL6Arv2neT4mbhinTvubq4EBzUA4Eb6LZKu3bBbztPDLS/HSMrNzAL2Iz/eXh40C6wLWK8vL61+FUdu/wLrbXynYi+W2s7kEuBflX7d29OvezuqV/VBrzdy7PR5du0/wcno4nWptO+ei5OTnC7tmlO1itXeRsVe5HpqUTm0C25iPU5tO4aeo1Bz9NQ5dh84SeyFRPyq+dLQdptp3KWrZOfctjs7/v6ahvVqYjKZiYq5yNPjpgPg4uKEXCYrsIB/e8z/+Oydl3F3cyFboeJ/r39KxIFTDutfp6Yf/bq3p0+3tlT19UKr1RMTd5nN4YcK3KZXEbi4ONE1pCVhPTrQpkUj3Fxd0OkNxCdeZ/ueY+w7cqZci7j8bQZw8fL1Mo3VcrmMru1bENozhJZNGyKXy0jPzGbn3uNs33O0QFsUprR9yh4N6gYQ2qM9oT1CqOLjhVwmJUepZt/RaML3HncY1SaTSWkf3BSJxOogL+64YP76paZlcuW6Y32WSqV0bteM0B4htG4RiJNczo20TML3nSDi4KkikSrFUa2KN327tSOsZwg1/KpiNJo4fTae8H0nOBp1vkzHlav4eNGxbTPc3VxQqbUcOBZTZDNEcJvtK+bSrlUT/FuPKPN38+uWWqMrdWSlXC6jXcsmeSkVipvfVPX1pk+3toT1DKGmfzUMRiOXr6SweedBDhyPLZVu+Hh70KdrOwb16US92v64ODuh1Vlt13+RRzl4PNausz4/EomEXl3a8OyIUOrVroFUKiH6/CV27T/JfxFH8fJ0zxvfLl1JKRAxBhSYKyYkJZfYPzw93OjcrgVenm5odXoOnzzrcP4tEAgEgnvLhX3LaVgoRzBUQoeVQCAQCASVjdSodXnJuXU6Pa++O4d/NhZNVB3gX5UT25bk3SSpUKmp0eaxAsd/BQLBw82dOKwEAoFAIPj/iCOH1X3PYSUQCAQCQWXnk7m/8NWHY/H0cMPFxZklc97jf0P7snW3NWrS2cmJXl1a8+ITg/D0sOb6MRqNrFi7UzirBAKBQCAQCASCciAcVgKBQCAQlMCSFZsZbbspMjfZ8PCB3Qnt0R6jyYREIsHT3TUvj5jRaCQtM5uZ3/5ZwpMFAoFAIBAIBAKBPe570nWBQCAQCB4Eej8+kX+37kGt0ebl7/H0cMPX2xMfLw9kMhk6vQGVWkPshUS6DB1nN0m4QCAQCAQCgUAgKBkRYSUQCAQCQSlQa7S8NOlLZtRfRmiPEAb17URwUENcXJwxGo3cylKwbvt+Nvy3v9SJkgUCgUAgEAgEAoF9hMNKIBAIBIIykJCUTEJSMktWbLrfVREIBAKBQCAQCB5axJFAgUAgEAgEAoFAIBAIBAJBpUI4rAQCgUAgEAgEAoFAIBAIBJUK4bASCAQCgUAgEAgEAoFAIBBUKoTDSiAQCAQCgUAgEAgEAoFAUKmosKTrIa2DePmpwRX1OIFAIBAIBAKB4IGjZo1qODs5iXmxQCAQCASlxMvTze7fJRaLxXKP6yIQCAQCgUAgEAgEAoFAIBA4RBwJFAgEAoFAIBAIBAKBQCAQVCqEw0ogEAgEAoFAIBAIBAKBQFCpEA4rgUAgEAgEAoFAIBAIBAJBpaLCkq6rVCo0Gm1FPU4gEAgEAoFAIHjg8Pb2Ri6XkZl5635XRSAQCASCB4IqVXyRyWRF/l5hDqtbt7JJvXGzoh4nEAgEAoFAIBA8cDRtEoi7uxuJSVfvd1UEAoFAIHgg8PLytOuwEkcCBQKBQCAQCAQCgUAgEAgElQrhsBIIBAKBQCAQCAQCgUAgEFQqhMNKIBAIBAKBQCAQCAQCgUBQqRAOK4FAIBAIBAKBQCAQCAQCQaVCOKwEAoFAIBAIBAKBQCAQCASVCuGwEggEAoFAIBAIBAKBQCAQVCqEw0ogEAgEAoFAIBAIBAKBQFCpkN/vCggEZUEbu4FfdydiknjTesQL9K4ju99VenAxK0g8eYAT566QrtCDS206DR9Ou+rCjy0Q3Dt0XNj2GzvidUj9OjPu6S52S5kViZw8eIxzV9NR6MG1VmdeGdH+HtdVICgtZhSJJzh4/CxX0xXocaV25xEMb1f9fldMIBAIBALBA0SldFiZroXzy/LDpJut/5cF9OaVl3riJ9bR/+/RX9zJ8j8OYJDW5InOo4TDqpyYUyOYP+Vz1pzNxpT7R1lDdJ2HCoeVQHAPMSX+w7zZizmp9qDD5BF2SphJjfyaqTNWcTY7r7cia6ATDitB5cScSuT8d5m5OpbbKiujgb6zcFjdKWYTRosEuez/wzhtwmiUIJdX0Lv+v5KdQCAQPDxUQoeVkcv//cqva87dXki7JFJ3YDeerS2cEw8l5hyuX0pBZZYg961DI3/3+12jhxvzTbZ+PZ1VZ7OxADLPmjRqUANP1zrU8ZCU5UHkXE8gVWVGIq9C7Ub+iJYTPMyYc65zKVWJWSLHt3Ygd26qFOz/fTlRapDVGcqrI+oX/c20zcybuZKz2RZAjmfNRtSv4Ylr7Tp3+uMCuzwgdq3Sjptm0rbOYeY/sVhV1pOaDRvg7+lK7doe97tyDx6mTM7vWsva7fs4GZvA9QwVRosUJ89q1GrYkpBeg3l8ZBhNfe7cCaO/Gs4ffx0hzexCyxETGd7cqXwPUpxi1ZKtxOssAEicmzFs4hO0LPFxJjJitrB6zTYOnDzP5RtZ6EzWd63TuA1dQkfw5GPdqeNaynrcQ9kJBAKB4O5R+RxWxgR27b6ICZBV98MnM41M3Rl27brGUy/UR7isHkI0kcx7/lP2GaT4P/Yd6z7shrODojLfugQ1a45R6keAe1mcK4JczBmRbDuchQVwaf4qP/wwjjbe5Zmwadjz9Sim7zMg9R/JN+s/pqujhhMIHgI0e+bwwud7MUj9eezbTUy7Q4U3XdvI3+FpmHGl3RPP0s6tcAkzGXu2cSjLArjS/OVFfP9GW8rVXQWl5AGxa2UYN+8p5nT2bDtkdVa5tuDl7xcxtq23SJhaDnSJ2/j2s7msjbl1ewMXADMGZRpJ0ZEkRUey4Z8Qnp02g3G9apZzUm8m58wyPpr6A4fSjIAnyo5vls9hZc5kzzcfM3/D9dt1du1L2/ElOKyMyUR8+z5frIrOF5VnrZtBmcblqHAuR4WzbnV/Jsz6lP81K975ee9kJxAIBIK7TaWzz8a4HURcMgIutB01mabrPuTvKwbO7tpJ0qjXaCQ8Vv+v8egzld/63O9aPNgYL57nsh7AmTbDnqKVWP0KBPcBIxc3byRKCxKvLgwbXMfOhoyRi+cTMAA4t+HRp1oLZ5WgcmO8SNwlPQDOrYfxZGvhrCoPxsS1fPjGLPakmQA5VZr1Y+jg7rRqUAMvuY5byRc4GbGJbYeuoEo/wZ8fvIVh3q9M7uJd1l8iJeJr3vt8FXFKyx3W2kzqf7P5atN1TMiQyUyYTCV/C3MG++a+yUf/JqIHZNWDGTBsCN1bNaKas4aMq+c4Gr6J7ceT0V7ZydcTNUh+ms8TDe17wO6d7AQCgUBwL6hkDisDZ3fuJtEIuLamb1gfmmXUZtXyKxjjdhF+6SXGNKlkVRYIHjDM2VnkmAGJB37+YjEhENwXDGfZEZ6ACQk+XQbRu5q9nmgiO0uBtbv64+8lequgkmPOJkthBiR4+NdAqGw5MF3in1nzbQ4XVxo/MZsF7/YhoMD0txf9HxvFU1u+YPLMLVzRJbD6618IW/E2bVxK+0Nq4lZ9xHvzI0gx3nm1jUlrmDV/F2lmcG02iieqrWL5AW0J3zKTsXs+X65LRI8Ez+AX+PLrt+hcPZ/7vnNvBo58lpF/TWPywgNkZOzn+1l/0X7RizQqvCS4Z7ITCAQCwb2icnl/9NGE77mKCXBtHUrvGi5U69eHOn8vI8kYz+6dF3ilSYt7Wml9RgLR0XFcS1dgkLtTpUYgLds0I8D9bs7CNKTHnyU2/hoZORqMMjd8/OvRNLglDauULehffyuJi/FXSFeZcPatTWBQIP5u5am7noyEM8RcuEq6woDMvQo1AlvRJiiAconCnM7ZA6dI1gH682RYACzoUs8QEa6yRRpI8GrUmc6NvMrxA7mYUCRFcSz6EukaGd41m9K2QzABhXMgmNVcjznK6YQbqCzuVK3bnHZtGlO1LOLWZ5AQfYYLV9NRGGV4+AbQKLgtQQHuFewUyt8WeiRuVajRsAVtmtfBsxQRiCajCTOAxAln57IeqzSTfnY/p5N1WNATZ204LPpUoiN2orL9vsSrEaGdA8v47HuHMesSp0/GkJShQeJWlVpN2tAmyJ/SpsYoH3fWbkUwZnE56gSxSelopO5UqdmUNm2D8KvIl7hnOl2aqlSgLS6D7MzpsRyISkYH6OMyrH3Hoif1zG7Cbys8jTp1olEZVufGuEgOXDWBxJOQ3l2xb+XMGG0hChInJ8rcXctAfvnqpW741mhI8zYtqFMe5TQpSDp9lOhL6WhkXtRs2p4OLQOK9C+z+joxx6JIuKnE4laNus3a06Zx1Yo52qZLJz46mgtXb6LQgZOHL351m9CyRSM7dr1i7Jo2PZ6zsRe4lqFAa5Th6uNPvabBtGhYQe90j8bNO9IFk9EWVSPByckZcXC/7GgOL+fvKBUALsGv8Pk7hR0uubjRYMg0pkafYcKaq5iubGPjsbG06VHkbHFRzOkc+vFdPv7jNNkWcGs4lHG9U/n29+OUy3elj2P5jO84nGVB4tmB1z97jeqLV5X8PcNZ/vl5BzfNIPHuxviZhZxVuUi9afnsTD5OeoHJ666iilrOb5EjmBHmU6DYPZGdQCAQCO4plcphpTu9nT3Xrbsibfr1xV8K0ub96FV3BX8mGkncvYPzo1sQXDgKWHeM+c+/w8YbFiS1nmDBskm0dXhW3sTVFW/y8tIYjHjR+6N/+DysaBiwOmE7vy1ayrr9CWQXGr0lrrUIGfoK4994jJZ2kzUq2DJlGHOPGJAHv8EfC0dR49YJ1v/xN/8dOWudzFoCeX7xz7yaP2LMlEn0+sX8tHwrJ64qKRJJLfelcc8neX3CK/SpW9w2kJnMM/+y9Kfl/HfiCsp8D5K4+tMqbBRvvPkM9Y/MYNKyWEyuXVm57F0Hz1KTsOMXFv3yL/sTsgvVSYJrrQ4MfWkCY0cEU6a8lYZz/PvFVDam5w9Bt5B9aDEfHcp7YYJeW07nsUF5JRSb3+WxuYcxSgIYMf9vJrXP39AF5f77rDYcnPspi3ZcQmm+XUpWpSVD3/yYt0cE4QEoz63m65nf819cToH3c/Jry/A3pzFhaBOKncKoE9jx6/f8um4/CUWVhVohw3hx/DhGBPvc4SK/+LZw8W/NgFFv8sZTHfEr1LP1h2fzzPtbrAsck856xMicxqb3+rEjd24obcAzP/zO6y2KMwsG4v6dwQcb0inQclkHWfrhwbz/y4LGELrijbz/a3dOY/gXe9FRjcGzVzPVYVIYDeEfD2PmXg2SKo/wxappdMtfVLGJqY99xRGDnJZjV7DwmRrcOrmWZSu3ceTcVTIUOiyNXuCnJaOxdq1CfXF+X+KXzmDeyiOkaPO/gQyvxv14/u13eaGzfwXnyit/u+W9dq7ey1vx+rJv6H1xCbPm/cXRFG2BdpB5NabPC5OZ/EIX/O7kJcqt0zqOz3+W9zbcwCKpzchvljPBsTHGdHU5E15eTKwBPHt/wl/T+1PYGt+ZLb44jnUGAAAgAElEQVRz2RnOr+GLD9bbnAM2LFkcWvoBt01VEK8tW87rpXZYmbh+/ARJJsC5BSHtPfN9pufIV//j/a0ZWACjzgCAOW0jU/pvz9NNaf1R7F52u48VfM/veaZGJifX/84//x3m3NUMFDoLjZ5byuLXmhYY+IuXrz+t+j/PG+OepoND5czfJ5czq9V+5k7/gZ2XlNw2u3KqtHyUNz+czPCmHoCCc2vm8sWPW4nLKWB18Wv7GG++P4khjcu5cFTF89/PC/ll/SESFUWX3jKvBnQe8iJjRg/LpzPls2tWTGRGr+PnRX+yrdB4m/vuPo178b+xE3mpTz3sjdylbrvnb5Rr3Cwt5dYF/SHmPD2FrdYBBq11gCFt02QG3B5gqP/MIv4Y27LM9fr/hZ4zew+RZgYkPvR45kmaFuvtdKdtjxCqrL1KuvkWcTFXMfZoWvzk3pTMjpnjmL4pCR1y/LqO5YsZLxMYOYGF5aqzmtNLP+fnKCUWaTV6vf0pzzSWs7MU39SdWM/WS0ZARv3ho3m0uJufpb50ffU5OmyfzRF1Ons3hpPW7/F8N4jfA9ndRXTpF4mJucCVtBz0Fmfcff2o26QCHd4CgUDwgFKJHFYaTu7YQ6oZcGtPv97VrQshpxb07VWPvxIvY7oawY7YNwkuvAByaU2P9l78syYF86Xd7IoeR9v2Dsy76ToRESfJVhqQ+HSjW8fCyyMTqZFzePfT1cSpbJNCuQfVqlfB1awgPT0bnTaZ42tm8vqx03z07ScMqlNYjBYMWhUqlQGZ1oAu4R+mTvqavTfzzQDlavT5J7ama2z77E1mbruC3vYnmUc1/Ku4I9FlkZ6uQG/MIj5iCVNPn2Hid/N5NsjehF5HwrqPmTx3J9f1t/8qc3JGYtJj1N7kzOYFjD92kpd7ZpJw6RImt4YOZJVK5NeT+GxNHLmikHlUw6+KK2ZFBunZWrTJx1gzazTHznzMNx89QhFROEIix8XdAw8P2wRXpcUESOSuuLvkTlhkuDoXnLxYjFrUKhUGqRqdqXC+hXxyV11j8ye/8NuBW+DqS41qbhiz08hQGjHdimXDrHGk6ZfyZfvDTH3ra45mWZC6VqFGNVeMWWlkqIwY0qJYM30MiVk/8c1zQXYXGqbUCOZN/pg1cSrbQkeORzU/fF1NKDPSydZqST6+itljj3Dmo+/5aFCd8nU6e23hXpXqVVwxKzPJzNaiu3maTQvGcfjIW8yd/QIt8+UktRj1qFSqvO/mysuoVd3eTZWp0ZlLymEhQe7sjoeHh20xrUJnBCRyXN1d8hbTMrdCfdSoRaVUoZO4oi/SboWLKlGptEhcdBiLNLEBrUqFyiBHq9eSsPpd3p63h/xdS6bW53MK5dMJdQb757zBtxuuYJC64lOjGp4SNZlpt9CYTCjid/LjpPMkfvYTnwysVTFOqztst7y3yNV7uZqMfV/y1rfruWKQ4uJTg+qeElSZaWRpTJgU8ez6YQJxl6fz46eDqFme4Jg70mkXWvXogNfKVaSYE4gIP8PYtiEOJtsmkiN2cSpLiUHiQ5dunQo5qyrCFt+57CRyZzw8PNDanL0qrRGQIHd157apcsOpTN5oNbEx8dbLRWo1p0WV/F+2YNSrUalUFOyuRrSq24ouU+scvKcGgy6e1VMmMG/vzXx9QY7akM9zb1e+7lStXgVXk5KMzGx02puc2TSP8YcPM37uVzwXbE85b/dJ9bWNfPLrLxy8BS6+AVR3M5KVlo7KaORW7Dpmjb+JbvFc2h+ZwoR5h8mySHH1DaCam4GstAxURgNpUauYPvYyt374jueCyng+R3mKxW9N4JdopVV2Ume8qvnh6wq6nAwysrWYFIkcXPk5Jw6fYfqPH9HPX0q57Romrm37hAkztnI1d7yVe1DNrypuEi3Z6eko9Eay43fz85Qooif+yNejgopEmpW67co5bpbMHeqCxYhOrUJVcIDBYtRyW2VlqPVmBCWhw1y9Fb36NAd5E4Z2KTlSTuLpifUOGgsqlZKSRnGMCRw5eAWdxJPmT33O7In9qO0EOeWscc7hhcz48xw65NR65AM+eLQOMjSl+KaemH2HrQ4meSP6DWhZomNG6h/GgJBvObJPjfr0Pg7nPM6jvrmf3gPZ3QVU8Vv55fufWX/4MkV97HK8GnRmyPNjee3RMm4MCwQCwUNC5XFYaY4Tvj8NM+AeEkqvvHweTjTr15t6Ky5z2XSNvTuiGN+2Y6FBzYW2A/pSa91fXDMls393NG+1t79IMqVEsC/WAEjw7TqA7gWjidGd/YVptkmbxL0R/V+dyGuPdaOht1VU+oxYIlb+yPfLD5KatImZU6oT8PME2jq6Udp4iRWf72DvTTm1OjzCwO6tqe/vhYvcm4a1c9/RxPV1s5jzn9VZJa/Vm9FT3uapbvXxsBXRp0Wz488FfLfyFJmZh/lx5h+E/DaWoEItmHNoPlO/2sl1I+Baj17PjeGFR3sRXNsLmVHBteg9bPpzKSv27uGXfyXFDM46zv421bbQluDecACvThjDiK6NsIpCT8bZ3fyzaCHLD6WQtHk6U6vXZOn4dqW7Aty5K1PW7mMKgGoj74RZbzvye3Rehdx2ZI7fwAqjJx3HLOT953tSxw0wZhK7+VtmzNtIgiaTQz9+wtt1LnNSWZ2uYz9l6nPdqe0KGDKI3jCP6d9sI1GbxfHFX7Gq+1Keb1hoEaCL5bcPbAt7iTsN+4/mrdEj6drQ29qx9Bmcjfibn75bxqHUJLbMmEz1gN8Y71BZHFGwLTwaD+LV8aMZ3rUh3jLr5+kxu1i5aCErjtwg7eBCps6uwa/TB+Jv0x+nZk/w4exu1mNNUX8wfWUsJokvXV+byrDA3JW5Bw3qlrTQcabz1A1ETAVQsentvtbbtPyGMece36ZlvPwn03fu4aa8FiGDB9O9VQP8vVyQezeitp1Jnfnyv/x01kT9oe/z3tgRtA+wLoYNGTHs+GUO81dHk2O4yrav59EpZC5Dqt/pzPDO260Ipkus+ykWU/1HmTJlHMPaB1gdqYYMYrcv5ev5q4jJMXBt2xwWdA7hyyF+ZYvqqwCddmk7gN61/mXlNRMp+3cTMyEEu/sHpmQi98ZiACS+3ejfo6AxrnBbXE7ZOXf5gH8jPwBAtWki/T/fi0Hqx6Nz7+CWQMNl4hOtDien+o2oX8AP4kTQ4x8zu6v1eFrUss/456wRiW83XntvRN7FIxKPBg4ebuTy8k/ZufcmTrU68MjAHgQ3qIGXixzvhrXz9KGAfD0aM+C1Cbw2vBsNrMqJLj2G3St/4Iflh7mRdoDv3/8C/19nMsCxchK/8U8MHp0Y/c2HPN+jDm6A8VYMWxZ+zrxN8WgyD7Lo0wnUSTyBono3Xv94Gs91q43V7J5h44LPWPDfZXRZx1gydyXdF79IYbNbjFCJ/WM2v0crseBGo0cmMmXcMEICcjd2jGRfOsiGJfNZGp6ENnE9Xy3oRNsvBlFVWj67Zrr+L199tc3qrJLXoteY95nwVHfq5w3cN4nZsYxvF/5NVGYmR36czrIOfzCm8MBd2rZzbnZXxs071gWn5jz+4Vd01QH6U/w5/W/OGiX4dB3De8MD844qejSoV84a/n/Ci66j59C1DN8wZmaQbT3nj7evb+lsvnNdQqfO4eMnrJHm5cWcvov5X6whyQjOgU/y0eRQSj10mlKIjr2BGZBWCaZ1YCmWJFIf2rQJRLYvGpPmHNHn9TzaJVfz75Hs8qFXZaHSm5HI3PDydiuy0WXSZHFLZQCc8azqg2uhH1BGLWLCpKVE2xLeS529qOZXBVe05GRkkK01okg8wMoZJzgcPZMfpoU6nh8IBALBQ0qlMXuqIzs4kG4GPAjp25uq+WrmFBRKz3oywEzK3u2csJPD0bnVAPrUkQG2RZK+aBkwkRK5B6u/qhrdwrrhWeDjJP5d+AfRKgs4B/K/r5Yy48VeeQskAOdqLRn45kKWfDqIABnoLqxg3oo4h2f+TRd38N9Fd7pM+oW/fvqccc8/zpCBAwgL7UJg7vER4yW2rD+G0gI4N+elL7/ilR63nVUAzn6tGPrOt0wfWRcZoLuwlS3RhoI/ZohhxcK1JBmx1f9X5o4dQpvaXtZBVO5FnXZDeePr3/jqyUY4WRy7q0xJa1i47AxWUTzFl0tm8ULPXGcVgDPVWgxi3Dc/8+nAmsjQceGvuay4UAGZOysAi1ZP9RGf8+UYm7MKQF6VliM+4cvXQ3AHLMpYTpzXUXfkTGa/ZnNWAThVo9UT05n9SmvrglYTzZZt5wv9gomkf7/hz2gVFpwJfHIui2e+RM/chT2AczVaDBzPgqWfM8CqLPz99Z+UVUT528KlybPM+Wkmz/fIdXoAuFA9+BHGf7OE9/v4IcXEjR3fsuSgIu8Z0uot6RnWn7Cw/vQOqmbt+BJnAlr3I8z297DQbjR+YLbvjMTv3MZF965MWrqKnz4dz/MjhzKwf39COwfaTfRrUSpx6fMB337yVJ6zCsCpWjBD3l3IZ8NqIwMst/az4b/kO65hRbSbnZdA6dqXKQs/43+5DhfrS9By6BQWfD6c2taX4MD6/0guzQ1Nt2tcMTrt3Jr+faw33plS9hFh3xhjSolgr23zoGr3/nTNb4zvgi2+u7IrI6YUktNMgBRfvxqFojelVG/Ri9Cw/oSF9SGomjULkMQ5gFZ9++f119CuTew/23iRnf9dxL3LOyz5eymfvPkiI4cMon9YGJ0Dvax9P798XZry9NylTH++Z56DAsClejCDxy9k0Qd9qS4FU+p2vltyAKXDl7Kg1fsx4rM5jLE5qwDkVYIZ/tEcXg9xBywozx7nvK4uI6fP4TWbswrAqVprHv/sK15pZf2LJmYz2+LKYCyNCezddxkjIGv8LJ9+/FQ+ZxWAHJ9GvXhh5gJGt3UFLGTu385Bxy9U0g9yect6jlkHbpq9NIdZr/S87awCcPYneOi7LJj+OHVkgC6ObZvPYHD4yFK0XUVTEbogrU6Lnjbd7N0Mq8pKcAloTd/c8SUsjK6NfexUQHBHmDPYu/MYCgsgq0Wb9nVLjg6WN+LxOb8y6w6dVZiS2frll2xLMYF7K176ZDwdy5I6zXiZpOu2HH0161G/VM5pGQH16uAhAcyZXEnMKkfFbZRHdgVQsf2jAQzoH8qgVxZzrkjHNpK4YhxDBw1g8ND32JhRKMLQEMOyL3+1OqvcGvHIlKVs2L2XrRs2sHbDdsIjd/HPgomE1XcFtCRumMU3OzMRcYoCgeD/G5Vkdarg0M4DZFoAz4707VmlYMWcmtGvd31kgPnmXsKP2wk1dmpJWN/6xS+STCns2WPd0Zf69aR/54Jb8Yaza1l3Sg1IqTXkbcZ1repAQDJqDnibMT29kaDnwrp/OOroIhS9Dln7V5nyTAvHEwOJO+2e/oBpH37MRzOm8WQzR8cgvGjXt4t198qUQkJCToGBS3d8PVsSrLkA6gx/j/Hdq9mvv7Qq3d8YT5ifo+Y3cHb9v0SpAWkthkwcT9cqDsrKatF/0lh6eEtAH8f6VUco6U6Ye4K8EQNGdCzokARARoOhw+iQ2xjypgwa2d5O28hpNOxR2rsCGLly9mzBjw2xbFh7CquIhjJhXDcciqjmQCa93hNvCegvrGX10dKEyuf90O22kNVh2Dtv0snXwQ851ePRd0fTyQMwpxC+ZifpD/HMRq+T0e6V93m6eSmn3LI6DHpmgP3dSakvXZ951Jb3Ss+FmJg7rN3dajcZdQaNor/9l8C36yiG2PLi6S9GE2vfV+SgyhWl00606B9KfTlgi3gtWg3r5sFZqzGmR/8uBSIz74otvpuyKyPmrHRu6ay/W55d/eLRo5O15+Wpz+Koa9yWr4zawybzRidHdXCi7qPv8ZpVOUkNX0V4MUZF1nAgIzrYWbHKGjLk0U55dlbW5BFGtrNTOXkgw4a2tzrwjEmcPZtdzHsWwqJEqbHWTepXi1qOUqfJ6zN8yhy+mDmLmR8/Rctyx5lLcGv3NO9/+DHTPvqC959qbvfYOIBn+3509pMCJlIT4q23tNql5LaraO6WLgjuBQYSN81i4e50zEjwbPcUI1s7zhmYh6w2LZo7mB+WGiOXV89gwZ50zBIfOo37jJdbljHvnCaDjNzIIm9ffEvpLZL6+OZtSmWl3yzbb+ZRTtlVIMaEPexLNAJyAp+ezkdPdih4IZDch0Y9X2LGvLG0cQUsmezfsb+YTQOBQCB4OKkcDqvs/ew8lIUFCZ4d+tGjauFqyQnq15cGcsCczoEdh1EVeYicoP5hBBazSDKlRrI3Vg9I8e81gA4FxlYjlw8c4aoJkNWh9yOdit95kvrTO7QDHoA5/TD7oh2tbtzp8Mhg6869I2S16Th0JI89NpLhocEOF4kAUi9vPG2f6zSafEf6DMQdOW5d6Mrq029I++KP5nl1oHNLB9eJGS9x8Kj1tkZZ7T4M7lj8zFnq14fQEOskNv3IXhyK4h4icQukaQMHKxHPIJrWtn4m8W5MUF375aQ+TWkcYG04c1Zmgc+Mlw9w9JoJkFG79xCKF5EUv979sYoonSN77S3gHZC/Ler0ZWDb4ieE0oABDOpobXlV1AGOPcwzG/eOPDKoTul3RN2CaBnkeEIqr9eCpjankq5Ae5tI2jybd9+eyDvF/HvvpwO37dJdazc3mrYMwuFbyOvRIsjm8Nfe4lZ26ReUFanT8qAB9GskxxrxuqtoxKsplb17Y9ADUv/e9C9gjO+WLb57sisrFo0mz7Hv5FLxN6m5dxjKIIeDTkH59hnUrvhLJaQ1CRvU0TqeKKM46FA5JbgHNsWh2W3SFKvZleDTuBn2za4Un6aNbfnDLGTfulVczQoiq0fDOtajQcboraw+neUgEkGKT9OeDBg0mIEDutCwrCe0b/8gtTsOY8RjI3lsRBgtix+48bYN3Ba9Bk0xiXKKb7uK5m7pguCuY0rn2M8TGTd7NzdNIK3alTemPEmDe6Q6unO/M3PRYXIsUvz6vcfH/2tU5hwjJpUKta0vSOROpf9+XlkzGnVZNgBzf/j+yi4Xi0qJxnYc0b9WbYdjk7zeCKZ8+SUzZ87ioyeDK1EuF4FAILg3VAK7Z+bWvp0cVVhA4kXH0J5UsVNK3rQvvRr8QUK8kcyD2zmk6EtYoY1ceWB/+jb+lQvnjaTsDyd6QggheUkdTKRGRloXTrJa9O7fvtBuqI74+CvWJKcSFxRn17EmoYSa39TjJgWlOY1LFzOgY007FQ+kdZuy3Q6ny7xE3PnLJGdko9aZMOdzS5nTLqCwOwvXkJiYaq2/ayBNA0vaKXLB19cDKeqik3pdPPFXbEcxXBSc27CK4kVh4abeDSlKzGkJXMw00zHg/vpCJR6eeY69Iki98LStgKUeXnaPj90uZ1tKWgpKSRd/EauIJLgozrJhTXzxFTLfRGdVFtIuXyTT3IlSiShfWzg3bEaTEjcAPWjSuC6yyDhMmstcvGJgcJFrNR8OZI3a0Ma79Hom9fTJdxzPDhIffDwlkA6Y8re3GWXicfbvu1T05s58OBl6ogerc+VutZvUE+/iXwJvb08kpAFmzGXwuVSoTssDCe3XhN8unMOUso9d0ZNof9sYY0qNYI/VGFOzzwDaFTDGd8kW30XZlRWL0ZinS1JJRa+S5DRq0xbHXSOffJ0bEVSycuLRtCl15ZHEGTVcvpgEg1vZKSXB3dPxsTWpl6fN8SjFw6u4cl62JMhgMZXhXKbUnwGjhrHy5CqSlCdYMuZRtrTqStcObQgObkXrVs2p63MXbaEuk8tx57icnEGOWofJbLk9cpvTuOg4rCofJbVdRXO3dEFwN9Fdi2DpzNmsOJ5mPQLr3503v5rNk43u0ZRedZLF03/mjApkdYfzwfuDCSiPGbOY7zjJuamMhvq+yy4fsroNqe0M17VGorf9w+m+o2ljLxJb6kPTHgNpes9rKBAIBJWD+++wMmeyN/woSgtIvDsT2s3Xfjl5EH17NWRZ/EVM2YfYeSCbsEGF8iHIGxIW2pxfzkdjTNnP7jNvE9LBtkgy3WCPLQpAVqcv/VsXSk9qziYr23YA3XiRzQtms7kMr6FRq+1/4FqTOjVKM5IbuXn8bxYvWcmu08moypo/xaQgx3afttTdE69S/KREYn9f35x9i1xRmOI3seDLTWWoiAa16n7cs1IIibQYJ6GEvFcvoZzUrojMZN/KtuUhMRK/eR5flUFZLOrCt/U55nZbSPDw8SpFh5Xi7etljdgwZ5N16+E9suFWsy6l6lq5FNvWAFKk9s/QUqXlAB4bmVasw0reKDDPCX732k3ioI75niQrT7xOReu0nIZhoTT/+RwxxhQO7D7DxJAOtqTQJm7syd08qEOf/m0KJou+W7b4rsmu7EicbkcTmEwVnffPlZp1/B1HHuaTr8TDJ19eQsdIvX1sx6vN5BQT9SSVFBdlJOW22S2uIUrqp47x7vYu382twoLv/mJvgoLrUTtZE7WTNQBSV6rWbUrLNh3p2m8wA7sFVohjyHjzGP8sXsyq8CiSyzxwF6aEtqto7qIuCO4C5hzOrp/PrIWbiFOaATl+nV7mw0/G0D3gHk3nzVkcWPg5f13UgUtTRn0ymZ7FRRcWg8TZJS+qyGIug/PKYrKVleDiXMqrBiqD7Aoh9R/EqEf/4tTqJJQnf+L1EZtp1aUbHdq0omVwa1o1q8fd9LELBALBg8J9d1iZ0yMJP2E9SGPRHmXhc4/wg6PCuizrIGXJ4ejOPWQOGEbB04My6vYPI3hpNFH6ZA5EnGFiB+siyXwjgr22Hf36fQfQ0s4gkJeDXOZBNX/vMty440R1T/tTTKmbB+4ljuVGrm78gHGzwknNW7vIcfOtgrervKDTxKgkLU1RNLGw5PZizGI2Y7ojn9HtnWGZR3X8vcswYsqr40AUDxeWXBnJ8KjuT9lE5FmGBYklb2JGmQ8OWSgmr/4DjhQ3D/d7dKZZRq2+rzO1b1m+8wC2WwXrtKzuAEKDlxATpSdl/y6iJ3awRryab7DHdhxQVr8f/e0Y47thiysTEk/PvCPbep22Yq9Sl7rh4V68DHLlWx73nKVSGxUnavYYy5xuL5B8Zh97Dh3nTMxZzsfFcz1LS2bSGfYlnWHfxt9Z3OxRJnw2hWGNy5h3Jx/Gqxv48I2Z7L49cCNz86WKtxtOBYyTEWVamp0r6wtRiraraB5eXXi4MKQe4LcvZ7FsfzI6ALd69BvzCVOeDaHavfNwkrZrDrPXX8Ek8aTt6Om8bi8XXSmRevlaHTJGsGjUqMzgVopB3aJW247VSvD0dbDJnY/KITt7eNPtnR+ZW2Ue3/29lwTFNaLCVxEVvgoAqWtV6jYJpk2HbvQdPJhujbwrSR4XgUAguLfcZ4eVmZsROzmVewRdn8PNlJxSfVN5fCd7M4cyotD9ubJaYYS2/pGo4zrrscCJHQhxNnNjbyQxOkAeSL/+zYq+uNQLHx85YAS37kxe/RX9HaR4KhNyJ8c5U2yY07fy7Te7rM4qp1p0f/EtRj/el5Z+RVO4Gs9+z3Ov/EJC4YmvtArVqroCSizKDDI14DADLAAWTCaT3YWS1Mu202oE127vsWr2ACpCFA8PUrx8fXACTLjRbfK/zOpf/kVPsb+U1xZm1ApFsRE+Vswoc5TWdpV641Ppbv2zFD5dWbREKddAcnnl3Xp88NrtLui0rDb9wlrzU9RxdCn72GWLeDXfiGRPtA6QE9hvIEGFjfHdssWVCKmXH9XcJZBjJjuzom99klNs18gnX7NagbIUQUFmZY4t0a8Ub98H4KY3qTu12g7kmbYDeQYAPbcSz3Im6hiHIv9j+8FLZJ9fz6x3ZVT78yO6l+Vms1zMafz37XwirAM3tXq8xLjRT9CnpX/RodcYy4/PvcRv8SV5rEpou4rm/4MuPPBoSNzxHdPnrCI6y5pj0Df4cSZ9NIEhje9RZn4bpmsb+HLuf9wwSfDp8gZTn6iHSaPBfhYpHcbcsdxiwai15W6TSHFydkEuBeQ1qeUvgyQTlvRUbpigeimGPvXNm1hTDLoQUKtGMSUrj+wc4lSL7mPm0fW5ZM7sj+DQidPEnD1PXMI1srWZJEXvJSl6LxuXLaLZ0Lf59L3hNH7IxkOBQCAoifvrsDKlsHv3aXSAtHp3Xnyll/0bvPKhP7uW7zfGYVCdIDzyJsOeCCi44yANoE9oO344fhhtyn52ndET0j6dvZHR6ABZk1BCA+29thuNGtVGticBkzaRS1eM0PTeiEd9NJLjORZATrMX5zNnbJDjiAKLxcFuvDNBQQ2Qhcdg0p/nVJSK4X2KGZDNt7ienGP/WW6BBNaWszfBiDYpgbsuinxbuw/Kjq1bo0BqyyNJMGpJSriCsX/Q3elM+dpCl3iRS4bBdqMDb6MhPv6a1UHi0oDA+ndz9SO53XQO9TK3qK2sRYtKU8zy3KxEoaroI1L3gUrdbvapeJ2WEtAnjDbfH+eoNoWDu0+j7xBCxp4I2+ZBU/qGBdr5jftni0vi9inqO4yCk9WhTk0Z5BjJTk1FaYYid43cNfLJV3eZiwkGBpaQ504bH881I4AL9QMb3JNaVizOVGnQlt4N2tJ7xEs8/dd4Xl5wFOW17WzYP4Hug73zlS2lXVMfZc8x6xgqb/Yyc+a8QZDjgbtER32ZqZBx8/+jLjxAGK6z+9upfLEq1nqzpEstur84jfdf7k7AfdivUR/fzaFMq65lH57LM33mlu6Lukimh3VjOoC8Ka/+sYKxQXJwCiSokRskKTGlxBGXbaZliR4rPRfOJ1hPGcgbEBTkYGe2ksmuJKTutWg7YBRtB4yy/kGfSeLZ00QdP0Tk9m0cupzN+Q0zeVdWlT+n9aQ8PnaBQCB4ULmv4Rema+HsOqMDpPj3HsWrTz7JE08U/+/p1x6ltQuAhqjw3aQWmQRK8e/bn/bugNm6SNLe2EOkdYVE89D+NLS79pHTuEsna+JI4w9WDvIAACAASURBVCUiw+Ns+VwckUPEjOGE9e1F6KBJrC1akdJKgaz0TOuNUdIqNA1uWOzxF11KMhl2d0Fl1OnZ07qus2SwZ9UmrhWzW2q4tJlt0Q7eUN6Ezh0DkAGmSxGEXyheEuTsZsZjfejXtzeD31ljp01KQOqGqwuAGbUip+hxx0qIvHEXOliVhYTInZQooojPGRnai379BjD535TSR1Tkb4uk3eyM1RVb3Jwewc5j1iO2rsFd6ehdbPE7RIKrteEwqxXFHneReHpjzV+v5+rlK47bWHeW85cfgrxblbrd7HM3dFrq34+wEHfATMqBXZzRprI3MgYdIG8WSphdY3y/bHHJSF1drfbZrCYn5w4slbwuTRq6IwGMV+K5fE+NXj75mpKIDI+lWO00pxOx8yhqANdWdL4fylkKDNHf80JYL/r17cerP8cVM444UbdLB+rKALSkXk8r9Hnp7JopK51MHYAU36BgGhY/cJOceaf5rQpRIePmw6kLDwXaC6z54DWmrbQ6XFzrD+DdxX8xf0zldLiUDw/adwq2RiTqojl42NHNnvnQx7L/aBpmQFYnhA517Jzpuy+yK2HTrqw4V6VB276MeG0a3/y1jIkdPZFg5PqO9ewv3UEUgUAgeGi4jw4rE1d2hXPWAEhr0COs8K199pEG9KV3K2tJ3ZlwdicXnQRKq/YhrKMnYCZlfzgRuyOJ1gLOrQgNq+cwf5Bzm8cY1twFMJKwagF/xTm+Ljfn+BIWb71CtkKJuVkvupUUGuYQGZ7entYoA3MOydfSHQ/Y+njWrtlPjoNRUd7oMZ7qWQUJFpTHfuDjRUfJtPMwY2okCz75BcdraGfajBhOMxfAGM/qb5YTp3VUNofjPy9i29VsFEozQT17lBglVwRZAAHVra2iiT3KyQfhpmzntowY1hwXwJTwD9+uiMOxiI7x8+ItXM1WoDQH0aN7jTJ0vHxtYUpi3Te/EaNyUNR8k4jvfuKAwgJSP/qMHFj2tigTcgJq+ln7kyaGoycVDks6NW5CAycAI5fCtxBjt2sZubr5HyIzHgKHVaVuNwfcDZ2WVqN3WCc8AXPKPnZF7GZPjBZwJjisv81pYKcq98UWl4wsoCZ+VoUn9tgJym+qXGjVtoU1v+LNWM7YGcfuJrflayJp7Xz+cKycpO3+lqX7FViQUr3P4wy4L8pZMrLataiiVaBQ3CJ26zpOFdM42mvXSLNdJ+/hVThWoXR2TebpZcvXaEZx/RqOzZae+LWrOJhdwdHDFTRuPoy68MBjTmXHzEl8HZmKCTn+PSbx/a+zeSq4bDdOVzTuPSex6OdfWVqqf4t5vYNtVu/cgTGLbH//aToj6uVuVEip3ncAHT0Bi5LD/64rwXlvJiNiJTuumgA5jUIH0qKwA+p+yc5oQG+vxg4TyhqI/nEU/fv2ol/YS/wcV8yLO9WjS0g9a/21qSSn39vxQiAQCO4392/sM15i5+7zGAFpzV6EtimNuwqQBtC7dyurc0sfza6dV4rmh5FWpWdYJ7wkYE7dyXd/nkQHuLTuT2itYjIsypvw9MRnaOoKFuUJFk14iwVbY8jMv72vv8npdTN5672/SDAA7i15dszQ29e5lwOvth2tC1t0nPjlE34ITyCnwEvpSYvZyDcTxvHDcaXjXRypH4Pefod+/jKwKIn5/U2efWUaP/y9id379rEvfAPLv3mPl557j9UXdMjkjistb/wsE59uigsWlCd/YOKEeWyNzSwQ6aBPi2LdrHFM+TseqyieY8yQgLIrlVNjOrb3QwqYUzczc9JMlm3ezYHDR4i55ujGr/uNnMZPv81TVmXh5KI3mbhgC7EFlYW0qLXMGj+ZlfEGwJ0Wo8YypIzKcrstQB2zlLfHf8nG6PR8kyMz6mv7WTbtdT7bkoIJCVV7vMHrfX3vcgd3onHH9tacE+ZUtsycwKw/NhJx4BBHY64VKCn178uAEE8kgClxJZ99spxTaflkZbjJqZWf8M63h1E6uL3yQaPytpvDGt8FnZZStWd/OlqNMeELl3FKC7i2ISy0tuPLB+6TLS4Jp8adaOcnBczc2DKdSbN+Z3PEfo4cjaZspkpK1Q6drBGxxniOH8uo4DxWJZBPvqij+WXSOOZsPEN6vhWXWX2VA8ve543PNpNiAknVnowd2w97t65XBqS+fXikZ1Wrjbmymg8nzWPrucxC0XkaUo+vYPr8baSbAddgunWuVuhJpbRrXu0JaW7bPDuxlM9+2ElCwYEbfVo0m795k7d+OI6yok+7V9S4+RDqwoONmYydC5i/PQUTMvz6fMD3c16kTXnzGuqvczpyNxERu4mIPE6iI39kKZBVC6RN23a0LdW/VtTxso3lUi/qtMr9exAB+dIjSqsPYtRQ60ayLuYP5hazUWJK3sbchbvIsIDEpwdPP144H20Fy64MmLNvkVV4MWLOJu7iNQe2XUbtWlXRKhQosmLYtuFkMRsgWq5dT7PO/SUeeHk9HHMkgUAgKC33LTGIMX4HkfFGQEbNnmG0LvU1UFICevch+PvjnNAZObdrB5eff53Ghd7Et/tAuvhEsDPrFmnpAG60CwulRgnjlnu7ccz64CbvzNrKlYwT/PXJ8/wzx586NavhhoqM68mkqW07IS71GPz+F7zcovR3WNlD1mAkbzy5lUl/XkB76wTL3n+CvzxrULtmVdxlBpRp10nO0GDCmfr9+uK6NwJHmzGyWkP59Fsdsve/ZkeSloyYbfwes61QKRdqh73D49KlfLfjlgMHmDvtxs7hg5sTmL3tChknl/PpiyuZ41+bWlXdQZ3O9eQ0boviEabOeJXyicKNTs+PpvueL9iXYSQj6l++i/oXkBP02nKWjw0qz0PvPu7/x959x1VZ/QEc/9zB3ijIELfiFsW9F25N22Vq5SozVzkapr8y25plwzQzU3OkZu4908yFAgoIKgKyEeUCF7jj98elRNl6FbTv+/X6vV6/5LnnnnvOec7znO9zznla8MpH75A0eQ7br6ZweuW7vLjmY9y9vXC1gcyUGGKTMvMCqlZU6/s2H7zUqAxvPPv3i26ri7SgNXzw0nrmuXnjWckaoyaRmNjrZJt27MbJbyQfvvcYhc2UNzfr1sMZ2eEAHx9OQZ8cyMavA9kIqHzH8NfKV28dqPRkwISx7LkwjxNpucTu/4IxhxdRpao3LlY5XI+NJkGjQ+HQgr5tE9h5IPbBDuDvi4pbb0Vn+T60aeeOBLR14sDuNNKSTMuvbPwC6FZCZ1wefXGJrNswbGRHDn10iBRdMmc3LODsBkDty6jlKxhbhr22VD7d6NLgW4KCtJw7eIDkJ55+oDPrbivftHOse38EG+a5UdWjEtZGDYmxsVzXmq4OSic/Xpo7m4Hl2jhLoHSl58TpHAt9l63RuVwPXMGsYav5pLIXnpXtsTRquZlwjbg0ralvUTjg99IUnqxR8DeVql9T1eDxV55h56TlhGuvc/rnaTy70p4q3l642KrI1SRy7VoKWXqwrN6DrtYHOVDcLIoyM99185FrCw8zQwK7Nx4wBWXs/RjY15PEM3+RWMqPK13q4F+v8r8PPQzpf/LDjI/4WweoGzB25XJGFbqPa3mxocXINxj45xv8Hp3OqW9fY0LqZCaP6E0D17x86m8SeXgVC+f9xJEEPSicaTN2Iv3u7DDNXHZlYcwM5lRwFj1a/hON0xO3ex5LjvzzkDmXnJz8d9tKnDv3p5Prn+xO1XP1txlMtniDKSN60cA137QxbRynNsxj/g7TMkirRh1o/eA2PBRCiAqhnK5auYTt2cclHaDypnOPZmUaxJuWBX7NqZPZ6CP2sTdyJHXufNWUYzsC2ruwZ1uq6WJh50/PrqW5EFlQvf8H/Fi9Od999SNbz8STrUkk6mK+S57CmirN+jL89fE80cy16FkCpeaA/+vfsbDKAuYv20FIcg46TQJRFxNufaVtNTo+/yZTB0Qx+9D+YlOzqfsEH65oSZ/1q9i09y+CL8eTplVg4+iGT8NWdB04lGd6VOXkrB/yEi/iaY1Fdfr/72eq+33D1z9t4Uy8lozEKG4viio06/MS48c9STPXuy8Jlc/jfLjImRU//creE6FEp2SgV9tiZ12RbqwKsqg+gNlLq+P33QKWbj1NglZDYlR4vhskBVZV/OgzYgLjnvDjrouosLpIiiIi3/YrKofadHrmNSa81A2fUk5YvGeqagyZuxjnFUtZs+dvwqJTyDCosbMr+Boby7ov8Pn3jiz4aCGbzyaRq9OQcCUMUytXYFe9Oy/PnEGTfaPY+YCyf99V1HorhvnbtCPtenXAZc9WTPv12tGiZ7dSvA2qPPrikqjwGfIx3zsv56c1uzkZGk1KhgG1rT3WZf1ylQ8BvVuwJOhvtGe2szP6CYZVf5BBgMLKN4mo/I1T7UDtjs/xysSX6VoRGmcJVB69mPmDC3UWfs2qPcEkZevITL5KZHL+o5TYerdi0OgpvDKgHoW+C7OU/Zp9y4l8vbAKC7/8iZ3ByeToNCREhfPvlVthi0/HF5gybQBXZx3kgLl/r9mum49eW3ho6ZNJzFvyZdScYun0Uywtw8ctOv+PPfMGYXt/cndfKF06M+XjySRPns+RxBTOrHyX4Ws+popPVVwstKQlXCPhRk7eDCN7Ggydw+wnaxQcwJRn2elj2DR3Nh6vPUUzJw0Rh1fzyyFbnnqxI4uWHCFLH8GRXUG0b36J37ZkMWT6UOq6BjBh6lFC39tMdO51Ale+y/A1c6ns6UVle0uM2hskxMWRpjU9vlM4NOflSU9TSIxdCCEeaQqjmV7LFhNzjfiE0j7HeFjoSY8+y8nAMKKTNOiU1jhUrkq9Jv40ru54fwZHulQuBZ4mOCKWFE02Rgt7KvnUx69lM6o7mvMbb7JpUi/mHMlG4TqQv3e9X/zh+nSiz50gMCyaJE0uKmsHKlf1pXGLJmbO18NLn36VcycDCY9ORJOrwtqxMlXrNqV5k+qYtYjurAsbZ6rUaIh/y4a4PRTjiGySw05yIugSCWlajNYueNVrTpsWtXGu2PHJe/MQ1tsDa9Ml5+TB98UPgCFtJ+8+9Ra7r6uoMWwJKyeW7eGN+dxZvjY4e9SggX8rGlTUxlkCfXo0IYFBRMQkkqbRoldYYe/qQbV6zWje0Atbs05S0HH9UiCngy9yLUVDtsEC+8o++Pq1oulD1z4fvbZQHurVrY2trQ2BZ4PL9sHcc3z13Mv8cuXu9im6M+hiSFnL6/1LN8Pq5u/j6TPnT3KxJ+DjXcztWWg4t5Sy2DG1OzP3a8G6G+/vmUffgs+xbqOL/4tVC79m5d7zty//BkCJXbV2DBkzmdF9ahceVDJz2ZUsg82Tu/H+EUvc3BSkJGryZoZb4Nb8KSa/N5Eedod5f/gMtsabZlcqbGvSZ8qnvD24Dqbi0JN0ciULF65gb0hS3ozrOyht8W45mNGTx9G/bjFv/xZCiIdck8YNsLIqeK8hAatHSM7JBYyZu5cbBgX2Hd7gu6mdsS/q4PS9vPfkVLanGFE1mcBfP730ILMqhBCCXEK+eZ6RP0VgcO7B7DWf0q+SLPcQ4mF31wGr+yE3kPnPjOJXTR8+2TiHbhU85pGTGsHZ0+eIiElBo1Ni6+xBtfrN8Td7oPle5QWs/nRhyBeL6ZdxlHPxOpzrdaB7+5r/3n/nxp9h977TJCk9adqlG809CwsE6kmPCSYwOIKYhOtosvUoLe1x8aiGbzN/Gnjalu9r3YUQ4gEoKmD1KM9n+M9R16xJpdQYQjRG2LiAhW3qM7Wze8Gnu/pEDn79LXtTjIAFvh07l0NuhRDiv86CBs+NIWDLDHYkHWTZL+foN8mvvDMlhHiE6C4e4fg1I5X796ZtBQ9WAVi61qFVzzq0Ku+MlJYhjfhke/yGPEthvbeFR3P6Pd+8hERUOFRtRqeqze5HDoUQ4qEmAatHiLJSb15+bi0nFoeQlXOJ9dOeI6RrP3q0akA1Nwcs9BqSr57n+O5tHAhNRQ+oqw1m7FO1yzvrQgjxn6R07cGk+QvoEZcDNg/BaFII8RDREXX0KFcMVXgsoGXhe7aJe6Qn5tIVcnHFouSDhRBClJEErB4pVjQaNY+5ue8wd8VJknSphO5ZQeiewo5VYFuzH2988gbtHR90PoUQQpgoqVS/I13rl3c+hBCPHP01/jx2EbyeolcLCVfdH3riws6TZGiBl6zbE0IIs5OA1aNG5U7H8YtZ2/8QWzfv4ujpC0TGJnIzQ0sOltg7u+NdpwmtuwxgyIDWeMkeqkIIIYQQjx5jLt6dxzC+egDNyueNDv8JhvhorunAS8pYCCHMTgJWjyj7mp15ZkJnninvjAghhBBCiAdPXZseI2Tbh/tDjXfzXvSuVJWuzw+npQSrhBDivpCAlRBCCCGEEEKUmhUths+hRXlnQwghHnGy2loIIYQQQgghhBBCVCgSsBJCCCGEEEIIIYQQFYoErIQQQgghhBBCCCFEhSIBKyGEEEIIIYQQQghRoUjASgghhBBCCCGEEEJUKPKWwAKyCPnjR/ZF6VE6NOW1F7uVd4b+u7TB/LF0L1F6JY5NBjOiq8/tfw7ZxNJ9V9ArHGk6eDhdqqrKKaP3StqcuTw6bULcpoS+oFzoo9i//A+CNQZUNQMYNaAhpreaZxO27Sd2R+agdGvD00+3obI8GhJCCCGEEKLMJGBVQC4X9yxn+dFclJ5PS/CgPOWEs/eXZRzNVeL5ZJsCg9Sci7tZ8fOf5Co9ebLN0Ic4OCFtzlwenTYhblNCX1Au9LEcW7eMjYkGLDrVZMS/ASsrvJwS2fXLRuIUu0ir9itvt3co58wKIYQQQgjx8JHnvuIBM3Az9iLh4WFcvJRIZnln56Eh5SYeAoabxEaEER4ezqXEklup4WYsEeFhhF+MpBSHPzQc2r7M8y1sQR/LtqUbuKIv7xwJIYQQQgjx8JGAlXjAsjj4+VCGPv8sL4xfxNmcYg5VuVDVtwH16zegjoftA8thxVSGchOivGQd4IthzzL0+ed4fXEgJTXTrIOfMvz5Zxk6dBxLHqVGrarKgOcDcFNC9rm1rDmVVd45EkIIIYQQ4qEjSwJFxWXXjanLZHmcEOLhY99uML18trAyKo69m47wausAHMs7U0IIIYQQQjxEZIaVEEIIYW4WjendoyYqjKT9uYM/b5R3hoQQQgghhHi4VMgZVobMOC6cOUvEtTSyVbZUqupLs2a+VLYq75zdKZvkiCCCw6+SdDMbo6Udzm4+1G3UiJqulmVIJ4eUyHMEh0eTnJ6LytaFKrWb0MzXA9sKHFLUpV3i7OlgolKyUNi44lW3Gc183bEucKSB5PNHOHstGyM5hKUYATDmxBO0fzcZeftiKxxq0aNN7Qf5E8wsfz3moLBxoUrNhjRrUBX7u9r72zzlpk2O4HxIODEp6Wh1Kqyd3KlWrzENa7pSllZKTipR4RHEJGegs3LGu3Z9arnb3FXUOyclkqCgMGKS08lV2+JSpTaNmtXH4340eF0alwJPcj4qhSylLS6e9Wjm54tbwYZaJLOUYXYyEUFBhEcnkp4NFnbOuPnUpVHDWpSpu7jf6eekEBl0jvDoZNJ1KuycPajV2A9fD9vC69qQzPk/z3AtG8gJxdRMjWTHn2P/ngxMzVSBQ602tKnlgCE5hD8Dr5EN5ISlYAAw5hB/bh97bjVqarVuTS2Hu20PZupTs5MIP3uW8JgUMvWWOHnVpVmLhnjYlCYRNXU6d6TazxFczjjBwWPp9O0jm68LIYQQQghRWuUcsEpn67RBfHY8F3XjV/l5fg+uLv+M+SsOcllz+y61Kqe6dHn2dSa+2Akvi0KS0u5i5qAPOJwNrn0/YfWM9kUOJLV73mHwnINocaXP3N+Y0b6so8UMInb8wDdLNnLsSjoF9tNVO1C99UCGjR3DwEZOxQzoM4nc9SPf/bieI5E37khHgbVXSwa8OIFXBjfG6S7Gbdrdb/PYh4fIphJ9P1rH9HZF/c4s9swcxJxDWShc+vHh2re5vUjuqKd53YhY/AFfrD5OnNaY7zgVDnW6M2zymwxv486tGE0uYes/4K1NyeQ/2ph2lMXvHL31ad8x9Fj5ar6v3cz0IZ9wPFeBx5AvWT3Jv+yFUJjsE8wbNoU/EowovJ5k/vJJ+BXWpgDQE73yNV5aHIwOB7q8u4b/9bxzYU/x9Wjl3pReQ1/j1Wda4VamM+4uyy0v36lBG1ny3S9sP3UVTcFGilOdzjz1ykRe7FqN4mLBhtSzbPzhO1btOMnV/AkprHFvEsBz48bzTPXjfDhxGRf0NrR5/UemdCw8xczInfz03WI2Honkhu72vymsvfAf8DLjXx1Co7tp8AXouHZwEXM/X8XxOO1tf1E51KHr8Dd4Y3hb3IoMJpqpDDMi2LHkK378/RhX0nUF/qxyqEGb/iMYM3rQ3f1uc6WfGcmupQtZuvEIkQUrBy//QYwYP47Bje/o03IvsP7D6fyRfFsr5caxRbx77J//VuM7agVtXvElN/Q3Pnzr97zA1j+Hp3Fs8VvcOtyXUctXMLbMASsz9ak5sRxeNo9vVh8i8ubtZaFyqEXnF97kzedLzo1FXX+aui7nclIG506eI7tPh2LPNSGEEEIIIcQt5Tx/x0iuNoOMjAw0GXHsfX80U77fx2WNAQt7Nzy9Palkb4EC0N+4yL5Fk3l58i9cKPRtUjq0mRoyMjLIzNHfNsAveKiWDI3pe3N0xR5ZiHQCvx/H6JnLOXIlHT1KLB3c8Paphre7E1YqQJdO1NFVzBn7EnP3JZpmENxJH8+BT15m5DtLOZg3sFLZVcKjqjfuTtYoMaK9doLf5o5m5PvbiCk4Di1Z/t+pL/536rSmssvIzKZgkeSrp8wUjnz6Km8t+4u4HCucqnjj7eGCjQpAT3rEbr6dNIr3d17LN1hUoLa0xc7ODjs7O6z+Cdoo1Fjn/ZudnR12NndEjYy5aDMyyMjIJFNrxtdsWTWlYwsHsjIy0Fzax96gYjZ71seyf/9pbmgyyFQ1oX2rO4JVhdWjrStVvL1wc7JGhZHsxLNsnj+OEVOWE5JRlozeZbmhJ2b7e4wa+yHr/s4LtKjtqOTpQ1UvNxwsFYCOGxH7WDLtJd5YGYaWwmVHbuDtl8bw8W/HbwWrVBZYqpVg1JJ4bjMLxg9nxvpgoi5d4lLkJRI0hbV4PfEHPmLMy2+x7EBesEptRyWPqqbzRglG7TVO/jaHsS/PZsddNfj8jKQf/5TXZyzleFwOVk5V8Pb2wNnUUNGnR7D3mwmM+d8O4gptWmYqQ80ZFo1/ifd+OWwKJiktcXDzxsfHdJ6rAH36FY6u/h9jR85hX2KhvUXRzJS+Pn4/n44ewbvLDuQFq9TYVfLE29sdJ2tTXV87uZaPXhnB+ztiuK12FGqsbP9pj9b/BqoVautbbdTOFmvLvLlWastb/279b6NGbZ2vTdvaYFHWq5O5+tTMYJZPGs7UH/blBasUWNhXxsPbk8r2avTpl9j/3UTGzjlEakmXD6uGNKpjARhIDQ3i6r02ayGEEEIIIf5DKsySQH3oWr4L1mFTfzCvThxFf39v09INQyaxp/5g6YJv2RyaTspfX/Hugposnd7xrmYd3avc4J/5ZNk5NEawqdWf8dNfY5C/57/L4HQ3Ijn2+yIWLN5NlPYyf3z8Ba38PqK3a/7MZnP+p+nM/i2MDKMC25q9GDlhDIPb1cJRDZBDyvl9rPnuK1YciyNqy/tMr+zJ4vHNKe935Rkur+f783qqD5jB1FcG08LDNF8gNyWYXT9+yrx1QdzMjWb751/Q2v8z+ldWApa0mb6J/dMBMtg8uRvvH85F6TaIT3+fSZETv+4bK/x6dcNr4ypi9Nc4si+I11v4FzojTx+3n8MhuYAC53a96OCU/6+316NdnT6MHD+ax9rVxFFl+nty8F5Wf/cVK48nkHT0K6Z/VIWl7/fGvVRt9+7KTR+7nk8+2U50DqD2ovOYGUx4pgPV7fK+NCeR4F3LWfDVrwSmpnL82/dZ3vJnxvje0R3cPMqC6R+xN1YHWFOtyzBGDnuMzk28sVfpSI85x6HNy/lx5UEO/bgORTGD9+zzP/L2rHWEZRhR2NYiYORERg1pT01TgycnJYT9q79l4YqjxEdtZs60yngsmYDf3TZ4QzL7VmzGssZApk0bx6AWHqaZLbkphOxczOfz1hJ8M5eY7Z8yv40/H/d3uy16b54yzCXk549YFqTBiA21+k1k2rhB+HvY5P1dx41LR9n0wzwW74lCe+V3PpnfGr8P++BaqvZhpvSzQ/jprZn8FpaBUWFLzYDRvD76cdrVdDRdIHJSOL//V77/ejnH4qPY+sEbVPb4ifH/VI5lO6ZtOMw0gIw/mNJzFodzlbgN/IKN7xSc6WrZ9i3WH3gLgIzNEwn43yFylW4M/Gwzb991Z2CmPtWQxpF5b/Pt36noUeBQ/zFemTiKAfmuRzEnN7H0q2/ZsnMNMSXmy4GaNaugOnYVfXQEl7KhboW56gohhBBCCFGxVZwdknS5WDR4mfmLZvFUK+9b+4wobfFu9SzvfDuPF+pbATqu/vENay6Wx6NqHZGHD3FZB6jr8OzsWTydL1gFoHaqTacRc/l8jB9WgDH1MLuOam5LRR/1G18tP0eGESxrP8PHP8xleKd/BlYAllRq2IdxXy5hVm9PVGQTvuozVoaX/+N5o0aDVde3WPDeM/8GqwAsKjWm/5tfMXuQNyrAeP0Im3ZcK7+MlsCySS+6VlUBeuKO7CO40ElWeuIOHMQUr6pE+57tsc//13z1aFX3eT79fg7DOv4TrAKwonLjfoz/8gdmdHVDiZ6EXQv44Wj6ffxlOi5v/Z0TGiNgSf0XP2Xuy51uBVoALN1pPOBN5r//BFVVQHYY27ecI/e2dHIJWbmAjVd0gCW1n/qMHz4bRz8/77z9uNQ4VG1B/1fnseSTZ6hlYSx6VqM+ivVf/UyQNq2OHQAAIABJREFUqcHz1CeL+WBE53+DVQCWlRrR+7Wv+GFWHzxUkB2+ki9WhnH3LV6H3rk7076azVP/BKsALCrRaMA05v/vMbxNDZU/f9/BNf3tnzVLGeoiOXT4MjpAVed5Zs18Jl8wCUCNU63ODJ8zn9F+1oCR1CM7uaO7KOYnmiN9PVHrv+SXoAyMWFL76c9YNOdFOv0TrAKwrETD3uOZv/h/9DJVDr9+/gsVoDv6l7n61NzQVXy3JRo9YFV/BJ9/O4un77geVW39HO999yUv+JZmEzQV7u6VTP83O57YJDPOFBVCCCGEEOIRV3ECVsoqBIx9iWZ2RfzZsSWjJw42DQ5zw9m2KZBiFnLdJ0YyNJmmgbnCHc9CN9MCUFPtsRl8Mncuc+bM4ulGt8+6OP/7egIzAaUX/SeOp51LEdWg8iJg0it0dFRAThi/rz1e5NKtB0ZVlT7P9Sp8hpDSmXbPDcybQZBDeHDwA85cGVg0ome36qYlU3GH2V9YxEofx8GDIeQCSrdOBLTJPxcjXz2qqjJoymu0di6iHi2qMfDN0bS2Awxx7PltN8llXPlVegpsmj/LjHdm8va7HzLjmQZF7plj36I7bdyUgJ74yAhu5s9T9gk2bYkwBUOqDmbK6x2pVOjPU+La4TVeDXArsjPJPb+BjWcyASVe/Sczrp1rEceq8Ow1mTGdHFGQQ/jGNfx91w1eRdU+QwkovKHi3G4o/fOmuuRcDCLktuo3UxkaNWiyTP+gdPMqfO89AHV1Hpv2KR/Omcucmc/QqLQzcMyRfm4ImzacwdQdDWDCuPYU2R159mbS2E44KiAnfAPr/s4qZUbvN3P1qTkE/rGFCB2g8uGxSWNoced2df9w8Ofl0QG4lXgFVeLs7GRaJmlIIyVZAlZCCCGEEEKUVsUJWNk2oXWLIqJVeWz8+uTNijEQf/ov08DigVLhU9MHCwDdOXasCyStiMCD0smXDr360rtPb9rUzBfo0F3i6N+mJ/gq7670bVX8b1a6daWHvx1gIPn4IYrbbumBsPGlkW+RO5SjrtaQenmBm+y01AeVq7ugxjegJ7XVQN6ywDuLVh9/gEMhOYAS9869aJl/8kr+eqzajd5+NhRH6dGLPq1M7SAj8E9OlHYWTZmp8G41iMFDHmfI4J40KmrgDqB0wNHe9HdjThZZ+aZI5YYd53SyAVBRrccAmhe7NM+Blm0aF/J2SAAdl/88TrSpoOjSrzXFtnilO116tMQOMCT/xeG7bvA21GvkS5EtVV2Nhr4upg5Qe53rN/KfyOYpQ1TVqFnVtMRNF7SNdWfTCt/PDiVO9TrRq09fevdqS83SLoM0Q/q6y3/yd4ze9Ju79Kf47kiJW5cATN1RMscPFTxnyoW5+lRdOH+fScJA3jndrPhz2r5laxqVYgd1pZWFqR0atWi1Zd0zUQghhBBCiP+uCrObhtLeGeeScmNRj3o1LSEqC31MJJe10NC+hM+YlRL3Xi8w6NdTrIvScHrRKAZvbUrbtq1o1qQxjZs2pb6PU9GDZIDsCCL+2XnXKp0Lm9YSWex3GknMsUGJBkNSJBdTDbTyKL84o9LeKd+St0IonHCyV0AyoL9v04jMQl07gG51lhIeqiPuyB6CJvjj/+8WOnriDxwwLRVUedEloMXts2zy1aNlzfrULbbSAeyoW8cH1YEw9FmXuXg1l76NS/zQvctO5XLYBS5fS+FmZjZ6Q76le4YkLt4svI6yrlwmXg9gTa16dYpv04ClszN2SsgskFw2ERFXTRvwK6xIP7+R34pv8BgSc7BRgsaQxKWLKdDKs4RvL4TSHsfiGyqOjvYoSAIMGIprqndZhijd6TV0EKtPryVKc4ofxgxka5N2tGvZjMaNm9C0SQN8nO6hDZgh/eyIi3kbgSuwSj/Ppt8iiv9OQyLZpsoh6fJFUg2tKcfuyMRcfar2MpdjTelY1fKlTomN3gUneyVkldDPKVQoANChq0DLKIUQQgghhKjoKkzACoWyFNO91Dg62aMgC6PuJjduGsD+AY+WHDsweeEXOM9bwOrDkaTHnGHvb2fY+xuAEitXH+o18qNl+x706d2BWo63589w4zo38ja60UdsZv7Hm8vw5VlkZpTzE/oS60mJsrwHsKWlrknPHg34MTQIXdwR9p2bjH/LvIiVPoGDeTNIVFW7EdD09s2gb9WjAjsnh1KcSEocnR1MA1fDDdKu399gni7xBGsWLWLtnkCuZZR1GZKe9Jvppv2jlLbYOxQX+MmjUOQNyu9guEHaPw1ed5Et8z9iSxlykpVZ6CtBS0FRYjtUqgrN8b/urQxNHNu/ydefuTD/61UcikwnNnA3vwXuxtRdWOPqU49GzVrRrntferevjWMZz517S9/Ajes38vbd0hGx5Qs+KUPlGDMzKO/uCMzXpxpupnHT1OixdSzNOa1AWXwTysuUzjTzTWGJWl2aDwghhBBCCCGgIgWsykABGClmk+f7zMKzE2M+68AL185y5OBRTp0N5kJoKJGxaWSnRhF0OIqgw5tY/n0D+k98n6mD6uRbLnUr3yq7yrg7lmGGhbpy3obXwjxU+AT0pPHiIAJzrvHn/nNMbNkSS8CQsJ9DpulVVO/Wi0YFqumfelTk/a8sjBjvY+PVRW/inVfnsC/+1nQOlY0zLo42WNwWsNChSUoivcCsDwVKZd6sEKMBo/7eMmu81eCp5O5Y6NsYC2dB5XJq8Pdehv+wwLPjK3zafjjXzh3m4LGTnAs+T2hYBLFpWlKjznE46hyH/1jGovoDmTB7GoPqFL8UzazpG/9pxyrsKrtTtu7InorRHZmnTzUa7881RZedbQoKKmyws5eAlRBCCCGEEKVVcQJWRmMR+6/kpyP9ZobpOLUDjg6FT0cwGotPyTwDEyW2Xs3p9Vxzej1n+pec61e4cPY0J//az84dR7l84wJ/zJ2MynUVb3d0MH3Kwcn05iodWLefytqPehWx9485GSmhSO5rAKUiU3n1pEfTbwk8mW1aFjixJf6WBhIOHSA4G1DXpntA/QInyq16NJCZnk7J828MaG5qTO1O6YiT032ahmZIYseCeeyP1wEWeHV8kXGjn6RrI/eCG4frQvj2hRf5qcBmcEqcK7liBeiMGpJTsqDIbcdNjHo9hca1lA44OeU1eJsOvLHuEwLuf4O/N2YpwzsobfHy681zfr0xdRc5XL9ynnOBJzh2YAc7j17iRujvzH1TRaVf3qWDQxnzfFfpK3FwNi1h1mND+zfWMzegLMGyisFcfarK0RmHf89pDab3YxbHiKHEflNPcmre3mIKV9wqPyzTT4UQQgghhCh/Febu2aC5TlpJ+3vkRhB+ORsAlUcNatwxKjE9uzaizcwqJvhlICM9oxQBhrKzdKlBs66PM3LG16xcNoVW9grQxbB70+FbB9nUpra3KfyhjYrk6v3c0+SfZVpGLRnF7bNi0JCe8aA2V8m3dOw+zWgoE6UHXXs0xxowxB1h77kcMMRz6EAQ2YCqbg961C4krpuvHrOvXORSbklflEVERIyp3VnVoHb1su5dVMpyy/ybgyduYgTU9V/i00/H0buwQIspoSIDmZa+vtTIe9tjWOAZMorNm4HrMbHcLDRTNtSq5W2aiaO9wqX72uDNxExlWDxLXGr40WXwaGZ8uZqfJrXGXgH6mJ1sOnLzXnJfpvRtatXG1Iy1REVe5Z5rJ98EImMpouCKW4367oPm5upTratT3cM03Sr7UljJ53ROGjc0JVW+noS4JIyAwt6LqpUrxpw0IYQQQgghHgYVJmBFZhAnThe/X0128C4ORusBJZX8WlMv/5hf4YBD3nKL7KuXihm0ZHP+wuVSzOYqRO45vh3Wne7dOhMw8gfCihkYWfi0xd/HNDjJio+99Qd1Xdq08kAF6C/tZ094CaOim/v4YEhXunfrQt8pvxFfhowr7B2xUwDkEH25mMFo9nlCLz+oDdIVWFubhv6GzPRillI9KErcuwXQwhYwxHF031m0CQc5YJpeRYMeAdQsbB5i/nqM2sfukOxiv8WQvJ/dJ0xhH+vG7WjlWNZ8lq7c9GnJpGabfpezb2NqFjdFJDuOa6mFh25VVbvQsa4aMJJ6YA1bY4oJ8eZGsm1HEIW3ZDV12rbGQwXoLnFgT1gRx/3jJvs/eIye3TrTo88kNpSlwZuJucowN2ghw3t2pnu37oxcElZMMMgCn7YtMXUXWuJjk0qVT3Okr67TlpamyiHywG5K7I72/4/He3Sme/devLE+rmA/qrTB1EwNZKbfLDEAprS2Ns1iMmRy8+Zddgbm6lMt6tHSzxUloI8+wK4SzmnNqeOUcAgYUrh0JRkDoKxWtxQvZxBCCCGEEEL8o+IErAwJ7Fr8M8FFxawyg1i2YANX9YC6Br0Htbp9xoNFHerWMI0G9Jf3sD04q9BkdNF/sO5A8t0FrFRV8XLNIj09nbTgrWw6k170sdoYYpNM36K0y7++x5Jmgx+jvhWgi2DdlysI0xaVyE1OLvmO7dE3SNcY8O3UEfcy1JhFnbqYikTHpT1bKbxIdERvWcOBlAcVGFDj4elmmnGTFczfp4spwwdE6dqVnq3sAQNxR/awf98BgrSAZRN69KxWxD49+epRH8XGL38iuKhpSIZE9n/9PX+mG0HpRtfHe5epHk1KV24qe4e8PXkMpMfGUHS15hCxYS1HbxQxrUVdi8HPdsZFAUbN33z37recSC0kMV0cB+e9y0/BRY/cLZsNYVADK0BH5Nr5rAor/NwEuHnyBxZtu8qNdA2G+p1pX/aCumfmKkOVtxcu2nTS068Tsm0jZzRFf6c2JgZTd6HAzqF06wHNkr6lH4MHNcAK0EeuYcHKMIrujk6wZNFWom+kozH40rFDlYIXEJUHHnmziLJC/uZ0MXkyHe6Jm6lRE3LiFCUcXgRz9ak2tBrQBx81oI/i9y9/IqSo61FGIMsX784r02JkBRN8UQ+o8G7qRxWZYCWEEEIIIUSpVZyAFZAV8iNTJnzG1vOp+Z7M67geupV5EyaxNDgLUFGl16sMbXzHtAdlFboGtMReAegus3b2u6w6k5hvNkcuSWd+ZfbkLzmuKeKNZiVROtO5X2dcFYD+Kuvfnsj8bedJveOBvjb+JKve/4IdyQbAmkYd2t72d3Wd55n4bD2sMKI5/Q0TJ3zBtpDU22ae5CQFsnHuOKb9GkEuYNvoBcb09yhThSndu9HL3x4FoL+ymtnvreBMUr5vyU3kzOr3mLLgLzSKB7UZsAV1WrWgshIwxLN1zgTm/vwH+/88xt/BMQ8oD3dQutKpZ2scFGCI383Xv5wmG7BqGkAPr6JHmLfqETKDFzN5/Mf8EZRMzr9HGMiMOcLyt8cye2scehS4dnyVsd2c7+LEK2W5ObTAv4EplJt9ajGzv9lN5M3bZwDlJAWx5cvXeP2bk2iKXIalpHKfN5jYwx0VRjTBS5nw/AhmLlzJ1n2H+PPwbv5YMY/pI55n+rpwstXqon+Tui7PTnyOetZg1JziuwmvM39b8O3nTU4iZzfO4fWpq4g0NXieHzMAj/LoocxUhkrnrvTr5Go6/66u451JX7DtQuodM8yyiD+5kvfnbcfUXTSmfZtKpcqmedJXU+fZyTxjqhxOf/caE+dvJeT2yiEpcANzx7/B6ohcwJaGQ1+hf2GVY1GHVi3cMDXTLcyZNIflW/bx51/HCY4pGP2xqNOa5m5KwEDC1veZNHcZW/Yf4fjfQRRyeJHM1adaNh3G2J7uKIGs4MVMmfAF20Jvvx6lhvzBZ+Mn83NokVGxf2WfO85ZjRGUrjRv1QCZYCWEEEIIIUTpVZhN15WufrT1iOBY4CpmD1/L51V88HKxICctjpj49LwBgwKHZiP54M3uVCowVlLiMXAio/ec58sTaeTG7GP+6EMsruKDt4sl2ddjiU7QoFc40LxvWxJ3HiC2zJOKlLj2nMSbx0KZteUqudfPsOq9oaz52A0vr8rYWxjQ3kzkWtx1svNmMzj4jWTSkzXuSMeW5q98yluJE/ho+1VSTq9g1ojVfOrujZerLWQmE3sticy8UZJVtX5M/2AkDUv/erW87HoyYMJY9lyYx4m0XGL3f8GYw4uoUtUbF6scrsdGk6DRoXBoQd+2Cew8EHt3M8/KyLr1cEZ2OMDHh1PQJwey8etANgIq3zH8tfLVB5CDgpw79Kat0352p10nKRnAhuY9e1Cl2IDJ7fWYFrSGD15azzw3bzwrWWPUJBITe51s007rOPmN5MP3HqPqXc6yKFW5qWrw+CvPsHPScsK11zn98zSeXWlPFW8vXGxV5GoSuXYthSw9WFbvQVfrgxwoam2ryov+s74mWzWN+Tuj0CYHs2NZMDvuOMyqagCvP6FkyVc7SSsieGPbfBxz30pkytxtXE05xar3hrHmU3eqelbChgxSYq+RdKvB03fGh7xU5gZvJuYqQ6UrPSdO51jou2yNzuV64ApmDVvNJ5W98Kxsj6VRy82Ea8SlafM25XbA76UpPFmjlA3EXOnbtuCVj94hafIctl9N4fTKd3lxzce4e3vhagOZKTHEJmXm7ftnRbW+b/PBS42K2JDchtbDRtPh4IccTtGRErierwPXA2p8R61gxSu+tx9u3YZhIzty6KNDpOiSObthAWc3AGpfRi1fwdh6pb1EmalPVbrRY+qHRMRM5qdgDamBK5j1wmo+9/DB09mCnOvXTNcRFDg0HUy7rC3suljUUsZsAg8cJckASreOdPMv/sUFQgghhBBCiNtVnBlWVvUYOv87pj/WCFe1Dk3CZcJDw7mSF6xSWHvR+vk5LF74Ks0di8i2ZT2e/+IHZj7RDLe8pXCahMuEhYZxJUGDwa463V5fwNwh3nf/OnaVJwEzF/PVpAE0drMyzW7ITCI64gIXLoRxOdYUrFLaetP62f+xaMEoGhX24i2L6vT/3898/9aTtPCwRoGOjMQoLoZe4OJV08BKYV0Fv8Ez+GbJ+/TzubvYomXdF/j8+9k83szN9HRfpyHhShihYZdJ0Oixq96d8fM/ZnAxM4nMTlWNIXMX8/HYAfjXdsfeUoVCbYWdXTm+Ps6xHQHtXW7NvLPzp2fXyiWfIIXVY1IUEaFhRMaYglUqh9p0HfU5P30zjpbO93DKlbLc7FtO5OuFUxnYuLIpqKDTkBAVTuiFC0RGp5BlsMWn4xg++XoizW1L+E6bejz+4a+smD+ZJ7s2pVpleyzVaqzsXfFu0JHBr37G8pWfMtjHIm8jeAWFT1+0oHr/D/hx0Ts83sIDKwXoNYlEXbxA6MWrpmCVwpoqfkOY+u1PzOpXrVyj6eYqQ5VHL2b+8A0T+zfBzUoB6MhMvkpk6HkuhF0iNk2LASW23m14dtYSvhzZmLK8p89c6VtUH8DspYt56wl/qlgrQKchMSqc0NBwriZlokeBVZXmPDbtexbP7k9x3ZHK53E+XPQZY/q3pLa7PZYqBSorW+ysC/uQCp8hH/P9J6/Qr2Vt3O0tUSnUWNnaY13WLslMfarSqSWvfvsTs59rjae1qUzT4/OuRwka9OrKNB78Lt/MH0ad4mJQmqNsP5iAARVePfrRsqK/HVMIIYQQQogKRmEszaucSiEm5hrxCYll/NRNfp/Qkw+P5qL0fJqF69+ilSVoE0M4eSKYS/E3yFXZUamqL36tm1PDsfQjmOzkME6dOMflhDS0RmtcvOrh18afWs5mHAbr04kJOUNwRDSJ1zVoDUqs7F3x8PGlaYuGeNqWMjihTyf63AkCw6JJ0uSisnagclVfGrdoQvUy/ObiZZMcdpITQZdISNNitHbBq15z2rSojTmL5D/tznq0caZKjYb4t2yIW7lMrtBx/VIgp4Mvci1FQ7bBAvvKPvj6taJpdce7D9oW4uam1+n3wRGyFa4M+GIbszoX94P1pEef5WRgGNFJGnRKaxwqV6VeE38amzlf9858ZahPjyYkMIiImETSNFr0CivsXT2oVq8ZzRt6Udru4n6nr0+/yrmTgYRHJ6LJVWHtWJmqdZvSvEl1zNYd3W9m6lP1Ny4TeOIM4TGpZBgscPKoRZPWralfuaQT2kD8xok8N/cIGnVDxv7yM6PqSEcrxH9Fvbq1sbW1IfBscHlnRQghhHgoNGncACurgvfYFTJgJYQoZzkn+HrMHPalGVHad2DS99PpZF/UwensmzmEGdtTMKqbMn7NUkZUf1giG0LcBzlBLBz2Mj9H6nHp+SGr5/bFteLMZxZC3GcSsBJCCCHKpqiAldxCCyEKUteiZqVUYmOiuRq6gYULD5KkL+xAPYkHFvD93hSMgIVvJzp6S7BK/JfpidvyAxsu6cC6Mc+OCpBglRBCCCGEEHdB1igIIQpSViLgpaGs+3sR57NyuPTbm7wQ3I0+PVtTv5obDhZ6MpKvcv74LnYcuECqDlBXY9DYp6ktvYr4T9NjrP0E7336OAqXurSRpYBCCCGEEELcFbmTFkIUyqrxaD77KIf3PvyFU0k6UkN3syp0d6HHKmxr0ffNT5nc3vEB51KIisYSr2Zd8SrvbAghhBBCCPGQK+eAlR3dpq+kYYYBhYUL3rJ/lRAViAr3jhP4ft0ADm/5gz1HTxN6KYbEGxlk5YKVnTNuVevSuFVX+j8+kFZe5bKzvBBCCCGEEEKIR1A5B6xUOHnXxal8MyGEKI59LTo9O4lOz5Z3RoQQQgghhBBC/FfIVrBCCCGEEEIIIYQQokKRgJUQQgghhBBCCCGEqFAkYCWEEEIIIYQQQgghKhQJWAkhhBBCCCGEEEKICkUCVkIIIYQQQgghhBCiQpGAlRBCCCGEEEIIIYSoUBRGo9FojoS0Wi3Z2TnmSEoIIYQQQoiHkp2dLUqlkvR0TXlnRQghhHgoODjYo1QWnE9ltoCVwWAwRzJCCCGEEEI8tBQKBQBmusUWQgghHnkKheLf62d+anN9QUZGJhkZmeZKTgghhBBCiIeOi4szFhZqEhOTyzsrQgghxEOhcuVKqNWqAv8ue1gJIYQQQgghhBBCiApFAlZCCCGEEEIIIYQQokKRgJUQQgghhBBCCCGEqFAkYCWEEEIIIYQQQgghKhQJWAkhhBBCCCGEEEKICkUCVkIIIYQQQgghhBCiQpGAlRBCCCGEEEIIIYSoUCRgJYQQQgghhBBCCCEqFAlYCSGEEEIIIYQQQogKRV3eGbhfMk8t57Pfw9EpnWg1bAqD6qju0xed5JfPfidcp8Sp1XAmD6rDffom8V93R1t7c1Cd8s5RmekjN/Pl8uOkGdTUGTSVEa3syjtLZqW/HsrB3Yc4ezmem1oFttW6MfWljuWdrbJ7BNpahZMZyOov1xOiVeLZdRzjulcp7xzdP9og1sxbS3CWkipdxvBqT2+5LgpRwRhyMtBowcrODitznKCGbDI02Shs7bFVm+F5uLnTu68yCVw9nw0hWpSe3Zg9rnt5Z0iUB50WTaYOta091hVuhG0gO0NDtsIWe1v1vc9YeajOzwpI7pPKpJxPJz1Rmz9lwZ449Eo3uo5/myG1S1Nd+T6nqkL3CTN4rMbtn8sJ3c7SJfvIUXqi7Trh/gWsckLZsXQx+3KUeGq78boErMT9ckdbexiDCLq4I6xesowYgwVd6rzGsFZ2j8g0Tz0xW99h5Bs/c+6G4d9/VdXSPZwBq0egrVUsesJ+msk7X/9NlmMXPhxZ+ba/3bqeedJz0jQGVivlVUQfzdZ589gVo0fl3o157wy5q9zpQlfzwaKjpBlUuHebwIzBNctwHTOQvHcBczdfRo8VTYb+j1GtauKZvos3ll3BuP0G9XZ/SS+Xu8qaEMJsMojcs5Kf12zhwIkQLido0AGo7XCr1oAWHQN4fNgI+jd2KfX5nxP3F2t/XMaG3ccIupSARmcEpTUuVX3x7zyA50a9SD9fx1Ln8K7T011gzQeLOJpmQOXejddnDKFmGW7GDcl7+WruH1zWg1WTF5g9qhW2pf84+rClzHrnK/7OcqTLhyPL8EnxcNOReHoDPy/fwJ6jgYTHXkdrAJRWOHvVpVn73gwZ/iJP+LsXO+DWR2/hi/m7iNWX4atV9XjyvfF0ci7mmJw4/lq7hJ837OavoEgSNDqMKLF28cHXvzP9nxvFiH71Ke0Zes/nu/4Kmz9bwJ644n+oQqnCyq4SXnX96NizO/7exZ2N+e6hik8VpcoSW1dP6jTtQM8ebfAp6pl5gXyW/d5IF76Oud8dJuWfIYHKh75T36CPZ96ox1ruk8qi3ANWKYFbWbv2InpVDZyemV7qgNWtz9Wm0nNTCwSsxL0ykBoZyJU0A1hWpnajGjg9GpGFR5ohNZKzV65jwIrKtRtRXSrtgTDEr2Pm1GWcu2EELHCu3oC6Xg5Y+9Qs76zdP4ZUIs9extRF1KFRdadHJPh4H6Tt4JslJ8lERa2nJ/FM9fzXq/zXM1/ch71R+oCVMY3g7WtZe0GHqpbLXQes1J62JO5ey+8pRtShXjw+YCoNSnt3YEhk+49f8ev+TLDpRLM3rQElHca9QsffZnAwdiMLfnmFHhPqy8McIcqJIelPvpoyiQV7rqK984+6DJIunWTnpZPsXLWEViM/4Zt3++NTbB+Qw5XNM3ll6nLO5ntIY/oyLdevnmXPirPsWfcLvaZ/y4KxrXAu9gJxj+mpvbBN3MW631Mwqi/g9fhA3ix9J0bi9sV8/et+MrGhY7OpWJfykyZp7PxmMSczQVXrGSY8U6NMnxYPhtnvjzMvsGbm68xeE0TanZESQzZpMcEcXBvMwfVLWTbsE76d/Rg1rQpPSndxP7+uWUO8ofC/F8qiA02njqNTESdWzpU/mPXKmyw/e4PbkzWgvR7F2T2/cHbPWn7pNYNvF7xCy2JPUDOd7/oUAretYe3FMkTmLN3xf2oqc959Ab/CE711D1X6VHmvUlOGTJrLey+3ovKdyRaST3WYD08OnIJvqW5kdIRv+p7Fq4NNDwUA1E3xGT35VsAKe7mwOTgLAAAgAElEQVRPKoMKN2HRXNRuvvi3vEmu0p0azoryzs5DSMu+OYN5fUc2CvfnWX58Pj3LdgUX5qZ2o55/S27mKnGr4VToIdp9HzDk9e1kK9x5bvkJ5kmlPQAGknZu4OB1I2CD38R1/DqtpJvzR4B2L3OGjGdHtgL351ZwfF7PMt7k/1foubx6MVviDWDTgRGj2pTpyf0D4dSVAV0rs2l9Errz29kSOpkGjUt3e2BI2MG245kA2LYeQF8vU8NX+TzN6Me+5vDKWAJ/+ZFDoz6jW4X74UI8+gzXDzNn6HC+CzKdpzZV2zPoqf50alYXLycLctJiuRh4iC3r/uD4tSROLBrL09e/5bf5g/Au9DpmIHHHDIaOX8mlHEDtht+AZ3kioCX1PJ1R3LxK0JHN/LpmNxHpV9n1wXBGK39jxdhGFD5eN0d6TnQZ0I1Km34jWXeeHVtCmdSgcekGOYYEdm47TiaAbWv69/Uq08MX/eVfWbIlHgO2tB8xijbSz1VIZr0/zglj2ZineXdvInrAwq05A559gh4t6+HlaIE29SoXju1g7bqdhN24TuCy1xiaY8mmz/riVkjj0iYmkGYAlG407dYKb8tS5EHdgOrWhbdUQ+J23hr6GqtMJxRufgN55okAWtbzwklxg6tBR9jy62r2RKQTvet9RoxWsm7FKzQs9AQ19/luorCrRdtO9SlsiG7IyeD6tXBCwuPIyEnk1MppPHUukkWrZtG9QHTptkSp1bYzvoWO+w3kZKQSF3mB8Nh0dCnnWDfzac5e/Ja1H/WlSpHJKgAjupCdbIuYiG9pIla6i+zYE2oKVpk+Xii5Tyq9RzZgZd9rNht6lXcuhDAj+97M2tC7vHMhCsgl7HwE2QCWLXhyhP+jH6wSpacLZs3aE2ShwLnrczzuUxGfnznSdWB33DasIVEXxvYtIUxu3KwUNwgG4nZswxSvsqPdgPw3fXZ0Gvo4ddZ8TXjsFn7d9TbdBst8dyEerJsc+OgNfgjKBKyoNeQjlnw2lAZ3LIXp0ucpRo0bw7IpLzNz61WurJvOW639+GlotQJP/A2Jm5n11q+mwatdU8YsWs7MHp75+ou2dOr9NC8OW8WkF6ayOTqVI5+8ybcdNjG5ccGRuLnSc+w6kO5u61mbqCNs+2ZCJjemWSlGOYa4W0F3u3YD6Vv0yLUQOoLXrOVEFiicu/Ls4wXLSzxq9IQtmcqcvGCVTaOR/LDiA3p65K/59nTr9ywjR//BO8MmsDI8i8trZvHFY535uPOd69D0xMcnmYIbdu147YfFDLqXoIUhkS2zZrDadELRdMxils3sgWe+c6Ftpz48/eJwfp00lGmbr5J65BPe/LYjv09uzJ1nqLnP938o3XoybdEHtC3yEAOaiB189+7bfHUwDk3QD0x5pxk7v3u86OCS0o0e037g/aITBTK4vPs7Zr79JXtjMgn/5U1mNG/Mj8/6FBqoVtVsQv3kIELSg9m1LYIJvr4lnuP6SzvZfV4HChcaNrIjLDimiNlfcp9UWjKsEkKIe6InNTUNA6Cw9cTTRbpVcUtO4Ea2hptuXLoO6V1w6nkFYddpID2qKAEdF7dvIUhX4kfAcI1d2/8mC8ChA/17u912U2HZZAgD6qvBeJ2Df+wm+b7kXAhRFEP0b3z/WxR6wKrpeL6ZVzBY9S/HJrz41UJG1VODMZW9Xy7kSOadB+Vwdsl804xRhQvd313Me7cNXm+xrfc88758mbpqIOsMS77cRFKBJU9mTM+uEwN7VEEJ6C5uZ2vpOjGu7drGCVMnRvv+vQudAVOknDNs2hqGDgUuXYfQu6J28MJ8MvazaMkJMgBsWjLxq9l3BKtusao2iPc/f5F6KkB/lc2/7uVmgaN0JMYnYwBUlT2pco9TSXLOLmb+lngMKHDp/h6L3rs9WPUv23o8N+9LXqqrBjIJXDKPPwqcoOY+38tCiX2dfkxduoI3WtoCBhK2fc1P50pzXhfHjpoBb/LjL2/Rzh4wJrN74Y+cyin8aIVde/p0dEKBjuBd24gocd2hniu7dhOiA4VrZ3q3LH4mn9wnlc4jO8OqbAxkxl3gbMgVEjV6rCv5UL9pE6o73W3x5JB04RhHz0SSmKnAzrUqDVq1p5lP2TaY1iaEcPJEMJcSb5CrtMe1aj38WzenmmPpn99kxgVx8mQIlxLSyDZaYu/iQY2G/jRvWKWQZSkG4k9u5chlLUZyOR2fd1Zqo/jr93Vcz/tapXNDnghoVIZfUpD+ejjHDp8gPCETpZM3jdp2wb/aneVjQBN1kkN/nedauhHbStVo0q4dTTxK++jBQGbseU4HnudKYhqZOjW2Lh7UatySFvXdy7Z8yZBBXOg5Qi4noDFYU6lqfZo2qcHdN5EkQo8f40xEAhnY4urTgFbt/PCxK/vNjiH+BFuPXEFrBN3pfzYd1BL110bWXc/LoNKJht170ugBBFMyYwP562QIUYka9Fau+DRoRTv/GjjezVdrEzh/8gRBlxK4mavC3tWbev5t8KvmaOanmFoSzp/gRNAlEm9mo7B1xbtuc1q1qI1LKepYp887VywtCzydKlf5yy9bga2rN3X9WtOitsvddf6GeE5uPcxlLaA7xa0u4hi/r7ueVycKnBv2IKBREU+JDBnEnj9N4PkrJN7IRKe2xcWjFo39/anvXpaz0pz9dv76z0Vp70rVev609qtOGbrbQuQQvGMvl/WgcGpPr86l33z4gbPtwMCeHqxZcQ1d5Ha2nJtK8xbFt2bDtZ1sPZkFKHDsOJCASnec5Gpf+vSsx1fB57n553YOpj3NE8VtECvEf1xO4PdMX66hw/NDGdDS856XWacd3svJLABL/J8eStOSErRtydAnmrHko1PoYjfz65536DIo3xYEmX+yan0YOkBV53mmPFej2GuxfdvxvNptNW/svknqvl/ZFPs4o/LPMjVrena0HxiAx5pfuKaLYMeWs7zZ3L/4a7LhGru2niALUDh2YkBA5TLdp+cE72CvqYOnfa8uJW5eXbZ78qKZY3yQl5D57rHMeF9buLLf09+P++PsU7s4mGAAFLj+n73zjKrq2ALwdwsgRRAErCiIvfdYYy8gYI1GY0nRmGaqGrtGTYyJGqNJ7JqYWGKNilJsMbEjIhZArEhREKRI55b341wQhAsXvVhe5lvLtd7jnsyZMzN7z549e/b0GseYhsXPkxZNe9Kx6irCIzUkX7nA9WwvCk6tOcTGPUADKB0rU+WpbI50TmzeQbgkUAz/fDjFpni2as+H73fnzy/8SXlwhC17ohg4Nl+UoLHl/UmwaMzb43qxOnAPiapwDh+8ysTmjZ7agWFW/03Gua3g9Pb7qG8fwf/KDNq0KKJUmSWd3DuxztebpMu++Fz/uPhjgepI/A5eJAcZdp370s78CsuKq4iwkwzi/9ZhlfTnW7SbepRseRWGb/ibrzsXdZJWzf0zv7Jw4Qp2n4kkPb8n2NSRZv3GMnnqezQ5M5GhSwPJMe3ENO/vcC9mVsmJ2M/CL2aw4URMwcSW8vLU7j2e2fM+o2f14ps9NWQHSxYsZfPf10h+3JFcriqvDPqIaVPfom0xOzkpIdtZMn8Jm/+5ycNC3mAF5Z07MPDdyUwc3RaHPLnL5vLmaXy8Ja7AcVttygl+/uxE3v9X1v+0VA6rvL4wac7E/etp9/cUPl24l2up+d6isKXx4Cl8N/dNWtgAKcH8Ov1Tvt0dQnL++ivtaT5kMgu+GkNzvZaBmvsBG1n07Qp2nY4gtZCHX4lNne6MmjSLzzzrFG8kqOM489tCFq7YxZmodAoOkWb0e2cKU8c35szkoSwNzMa043S8F/YrUGaB7z+wGY+ri/hi1jqORxdMfSovX5ve737FvE97UuQQSdrK2+2m8He2nCrDf+XE168CkH15MzM+3kxcwU7j5M+fcjLvkxvwyb7ujybk9L94r81n+GeAw2vr+Gdhd71nzTN9P6H9h3tI1lrj+fNZfnQr2uLNuu3Dj199w7qD4aQUGHNyyrv2Ytycr/nAUOs79Qo7lyzgx81HuVZYCKj6ymA+nDaNN9uWzrgs4kWE7FzMgh838fe1ZB5/k5ljC/qN/ZKp47tRvYCBkcXRKZ0Zu02SFXW21JfauG2803B33oSucBnLtcMzSqhDJidm9mDMpmg08hqM+eMgs9vpP/mvjljF632+JTAbrHst4siqwdgV+qzi2s8Mx+YejJ08jfHdqpfOwZZ9mc0zJrCl4GAj5eRPfPZosFH/k/2FHVbqOAI2LuLblTs5fSeVwmJpQ51uo5k083M86xR/I4zx9Hbx/V+u6isM+nAGU99s+2SRUeo7nDh1U4puaNyBduWfoIxnhgXtvXpTdfOvRKlv4rsvmC9btilmfGiI9t1PYAYgs6GzR68i2khJ3Q5tqLQshOiH5zgekM7gXiJBg0Cgl4xITm1by9YtP/JV4x4MHDaCN4b0pN4TnTNXEXE7ihwAuS01nQ2ZLxVUdXHCgkBStImcPHKGTK/eec6ArCB/jt3TAErq9htIs+KS1ADIK+HWvxNzDh4gJeM8h47EM3ZMpbyfjV2eRXsvelfdxK9Ram767iP4y1a0KWaS00T7sF9SYth09qBXqRS9mjsnTnFTDZg1oX0xCv7JbPLCGGN9IBX0dDaW0exag3hym/6J7OMSyNJWpq27ByqZCfWGdqFE34LCivIWckCDNi2V1MfzGaljuRcnhfeUc6iC/dP4d7LOc/DYPcn5VdeDASULFJXc+tNpjj8HUjIIOnSE+LffzDtyZ2z5fFIs69WnhmIPiSoVd67fIJund1hBORrUq4mC+6jUkdy4mQVFOayQUb5rPzrZ7Mc76Qp+vjeYUK+uXsedOtqXQ8HZILOlU99XsQheXEI9hJ1kCP+/sauqTDIyMsjIyCC7yOjBTMI2jsV96DQ2ncpd9MhQmltgrpRBdhzBu79htOcY1gXe5MaNG9y4cZeHxYQ3apOPMX34eFaciCHHwp7qLrWo4WglCZXmIdd9F/H2wPfZFqEvnlBNpPdkvLw+YsUh3WRkYk3lmrWoVd0BSyWQGcOZzdMY6vE+W68XHb+YfOpbXh84gVVHpYlRYV6R6rVqU7uWE/aWSkDNw9v/snHaYLw+3sGdvOrIMLWwoYKNDTY2NliY5P7ZFEvd32xsbLCxLkljPUZuX6Snc2f7R4yetYdrGebYO9XCpaqNtCBSJ3J52xTeGLuS0NRQ1r47nOk7QkjGAvsatXCuYi09p4rnwtYvGTZyMYGFQtUBVNze/iGeQ6aw8aQ0sclMbajs7IqrSzXszKUjL8nX/PnpPS9GLj9PkcUAZIay8V13hk7/g1O5ziqZEnMLc6QhEszuBSPxfGsdgTevS2Pk7sPCC/G8788g/tA0Xn/vZ45H52BR0QmXWjVxtJIUpObhdXwXv8nAD7ZR9BBRkaUb0xnZjx6QmVpgU0HXN486DVPLfH1mUx4zk4JlZWek55WlJx+g7tHsfLJUtACkBi1npMc7/OCrc1bJzbGtUpNazlWxLafl4Q0/lrw1kE+84wq3z2OoI7350suTCSsO6gwpE6wr16RW3vjNJObMJqYPdeeDrdfRE8VbMupIvL/0xGvCLxzSOStMrStTo5YL1e0tUQJZcUHs+mYk7m8sJSA5/3+sRZ2d8ahd8rpDRXbGo79nZOYYUJFytO77KhWzMshIu47v/vNSPqyiK02UzwECktPJyDShde9uhZxVhdvPVGo/l+q69ssi7sJOvhndlzd+DCC5iLfoRWaChU0F3Ziy4JGKsMw31mywLjjYQHWb7R95MGTab5y8k4oGGaY2lXF2dcWlmh2SWCZz7eBy3hvwBsuD0vRUwIh6u4j+N7GuTM1atfL6PzPmDJunD8Hjgy3oUbfFkxrE+TAVoMCpaVMeD0B60SjXtj+9nRSAmgi/vZwv7pvVkfgcCCQTkNl2wbN70RF1Zo1bSIlctQ8IPn+jkFNQIBA8Ql6xLk1rlkdBNvGXfVgzcxTd27Rj8Cffsz0guvANf8WiQaNSPZrfi53oi0JLYkgwt/KEVk1kYDB3NYDcnhat6xq0aLRu21Z362gml88H5fvF2OUB5V7Bs7cTCkAd4cu+4pUYUT4HOC8pMV717EHpssekEnQ+VIo+cWpKUz0K/slt8oJ1Ncb6AIxkYxnNri2Jp7Ppn8w+Lh7rLp+zYs061qxeycQeBowY1X3iEqWPl9vaU/FxT4c6lnvxWkCBfeWij9sZijoykGBJoLBv0Ya6hgkUbXQ3amZeDuRCXoeXgXw+KaamefZmjsoQu9oQZChNTJHSs6vIztY/QGXW3XHvZIOMHK74HeCG3kc1xPj7E5QFMptO9O1ijSHXvgk7qWRecPO57Eg6OodxMw4QlQ0yy9q4f7GS/QE3iLh5i5sRNzjrvYqJ/epgFneUH387R8nioSHedw077tfh9YX7OBdyhYCTpzgTfJXggyt4t60dciAnah9zZv5JdBELqPSgJYz/9DdC07TILOsxYOYmjl8OI+j0KU4EXCYs+AhrPu9NDTPIiviLKe/M58Tjh6Gzg1gx/SeCUrRg0YCh3+4jICSEgBMn+PfEOS5dDeX41rkMrmeJjGxu757B7B33dE4EM16df5yQsHDCwi6wsIfkmJI5DGHlhXDCwqR/l/d8/mSNrg5n25pjKF+dxKZToVw6e4qTgaEEH/6JUU2skKEl8fh3fDLqYxb+k4RjV91zZ05x6nwYF/x/ZEQjS2RoSQn4kekrrhQSavWdP5g64y8isgHTmrjN2MqpkDCCTp3k+MnzXAkLxvfnD+lQSQGaB5xaNJHlQUVNx0kc/WosMw5Eko0My9rufLHiAAHXI7l54zYR187hvXIS/eqYEXd0Kb+dM0CBqm+yeck27tcZzsI95wm5fI6TJ84SHHqJg7+Mp62dHMghynsWM7dFl+jYycXs1a/5J0Tqm/MLe0qRUjIHBq+8mNdnYZf38Vmjsgmo1Dw4yJwPvuV4ghpktjQf+R27zlwh5PxZTpwKIuTKOXYtHE1zq2j2/3aAmOI+LP08P4z/mI2haWhlltQdMJvfj4cQEnSWEyfOcSnsEofXfEEvSQjYM+Vtvi4kBIaQTtAP7/LpxhDStDLKNxjC7E2nuRQSzJkTpwm4FEbQoTV83qMGpqi4f3wh736xjci8ScqUZm8tZd269axbt5r3WklTqaxCF75YvV739/WsWfC6QbUxazOAvs6SoyDykDfn9Xms1JH4+AWRBcjsutG/52PuqgLtV54Gg+ew6eQVqf1OBnIp5AKHVn9BDydTUN3n+Hdj+WJbpOFXAZt1Yf4/YdKYOv8dkoqQ4TB4NRdyx1pYCHs+yx+BqebOH18yY08Ekli6M2PzaUJCgjl1/CQnz4USdsGfnz/oiCSWJ1k0aTlFiaXx9HbB/resO5CZv5/kckgwp0+cIuBSOMGH1/F5r5qYkUXEni955+vjReSeKJ7s6yFczwIwwblunRfruGhRmLXGq09NabF3x49954pxnUb54Cut9LDr6kU3fdvMlnWoXU0BqIgIC0OfK1IgEICy7hhW/3uB49sW8cmgtlS3kKNJjeDktkV87PUKrXuOYdZaf64mGWIhKKlUxVEy9DVJREYmGmBXqIm5dSdv0a+Ovs3tPEMrhxs3pHxYyJ1wdTXMppA7uFDTRroqK/nWjXy/GLs8ADNae/Wlpi5nkP++c/o3gNSR+PjqnO523fDUq8T0kH2NUEnBY+Jcl9pFKfinsskfYZT1ARjfxiojuzav+Ke06Z+3fQwa4g/u5u94LSCnSpsO1H78VapYYuPVgAyHKpVRRZ7g9wUTGOHWnhYNXHCu4UStuo1o08WD0Z9/x5bTUXrHdM6N6zrHoBwnV1fDnF9yR1xqVpAus0u+xY3cXA9lIp9Phjo2lngtgJyKjg5GSgmiIi72vi4YwRZHh2KCMeQV6ObeGRsZ5Fz2w1efx0pzl0P+58lERvkOfelqqEoRdlKJ/DcdVtkXWPX1H1zPAcwa8vaav1gzcSAtq+tyKMktcWo1gC9W7+O38Y0wN3BXSqW2w33BHywe3ZbKeeNeiV3jQXz128+MdFYAWhL/3sSum48NdvU1Ns5bQVAaUK4B76z7i58/6IlrvvPoSrtGeEz6lV3LX6OGErLC1zPz5/MFdj9U1w5y+FoOoKTu20v4fkxbquQ/hqWwxrXLeH7c8CXtLZCSvO3xJ+GpEuMZiDaDbIcRLFk1ke5OuZVSUKHhayxYPY1O1jIgjUunL5JRcyRLH3vOtsnrfLfqSylJHllc3vXnY0nyVFzbsYnjKVrAjKYT1rHiw27UzH9+3tSRZoNmsfGXt6ilALJD2bHtTCHln31hJV9vuk4OYNbgHdbsXsfEAa2obiGVJbd0olX/iazes5HxjcwN27jUpvCwnBsLNi5hdNvKj47gKe1oPHAuvy0fJZ011yby96adPD5EXkyyubR2AdtuqwALmk3YyNbvx9C+er6srhbVaT/6e7Zv/JTmxZ+/5NrGuayUhID676xn988f0NM1Xy4FpR0NPSazYdfPvFZDCVlX2TDzpyKdG8W+6dpvzFt5njSgXKPxrN+xnPe6u+TLV2SKfSMvJv26k8WeVZCj4Z7P1yzyT9T9LsehSQ/c3Pvh7t6LRrlZWk2r0bxXP9zdpX9urzYwrEKmLfDqW0tyFEQeZH9g0eaIOtoX/6AsQIZ9t/50synwa4H2a/TuBnYse5/uLvnaz9SBRp6T+XXnEjyryEFzD58F35H3WWWBKpwdW44jiWVTJqxZyYfdnCkglg7NGDTzd355U2qD7NAdbDv7WBsYUW8X6P/6Y1m3+xc+6Omar/+V2DX0YNKG3Sx/rSZKsgjfMJOfSznQVFGRUp4vuS2VK5mX6r99PpjSwrMvLtJA5OC+s3oiOtREHjggOVZl9nT36Ko/d4uyClUdpc7Ojongrtg6FAiKR26Fc+dRTPl5H6cDj/H7Nx/g2bwy5WQ5JFzxlaKuWrdj0Cffs+1scVFXciq3aUMtJUAWgTu2SrltiiP9PJt3XczbDNSmJpKY94J04uJSJHtHboOtnYHLRrkdtjaSDtDGx+Z/mZHLkzBt4UkfF90G0MG9BOhpIHXkAXzO6+bT7h50LW2KQVUUUZKCx7ZyZYrS8EaxyY20PigTG6tM7Vrj2fTPi+zrfzJlzl/c04CsfHveeat9ofQb6vi73M8CkJNxdh5u3Qczedk2jl64yb2kdLJyssl4GE9UeAAHtyzm80Gv0uv9DQSnFn5felwcD3WOHWtbOwMdO3Jsba0lO0obT2xsbieVjXyWnnSCfI9IG8Yya1q80lRvCpNSkXUZnyO3JIecVQteaV58mF2Fbu50tpFBziV8fW8WudGriTuE/7kMkJWnY9/uhkdsCjupRF4ch5U6lv0zhzBwYH8D/g1h6p5ow6MCHiPz1Ca2heYAClzemMe0bg5FN4Tclk5fTGVAVcOaSeE8kLFe1Youq0IXxr7eVPJ254QQdCGjwM/ZQZvZdDYNkOM0dDZfdrHT0zkKqvWbxeS+FZGRQ9iW9RzOp7Q0qamkawFkVKpWXa93XVHzdb5Zv47Vq9ew7P12mD2TkaCkdv8RvGpT+BeF82Be71xeFzqppMGgMXQswnhQuA5lWCcpT4A68iIXYvPP6jIs27/Hoh+W8sPSFSx8u5FepWbZuh9dq0lnymPDw3hQwGGXyanNfyINERfemDeNbnryAchtO/PFlIEYNkQUOA94F69qRT9cocs4Xm8i9VhOaBCPDZEXk6yzbN0RitRUI5j1SVuK6F4ArNp8xBcDqupXOtnn2bLpLGmA3GkYs77sip2ehxXV+jFzcl8qyiAnbDMbDhcxc+slm6Atf3A2DVDU5PU5k+mk70XKGgyaO4ke1jLQ3MN7454ioyOfHlOaefWTbldRR3Fof2ARBpeaaB9fyUkgr0TP/l2wyv9zvvZT1BzOnMmd9baf0mkwcyf2RPosbzbuLf3Op8HIrGg/fjE//LCUpb98z9uN9Eolrd27IYnlPcLDHhSok/H0dr7+l9dg6KwpdNE/0Og3czJ9K8ogJ5QtGw5h+EjT8CA2QepHeQUq2r4cl52bNvfCzVUJaIg+tI8zRS321Hc44CtF+skr9cSzi1URD+mQ22JXQXc8JCGOuJfCES8QvBgoKtSl51uzWe0TSMChDcwZ60YTB1M0aRGc2raIT/q/QuseY5i5xo+rSYWFS9lkKMPbSBtIGed/5IOpe6RLM4oi9Qq/f/oha6/mWy1ps8nK0mli9UNSc5MGykwwMTgoRZn3rDb94aM/G7u8XExb4OlWGyWgiT7IvqKVGHcO+BCkm097eD42nxqA5kEs8TpHg01F2yKdA8awyY21PigbG6ss7Vpj2fTPAzWxxxcx+rWJ7I9Rg9yerlMW8FbdwqNEfS+W+1qAbC77eROeZkHNDkN4f9pClq1ez/o1K1n6zVTeG9SO6uYy0KZx7a9pvPHuOq5mF3xnampurl0ZJoYLFCYmOmeNNp2HuUm2yko+S0UWd/bNYPJv11EDSufBjO5thIzk2ZH4zP6CdWEqQE41j5G4lZT3rUJ33DpLxwIv+/kU4XzVEH/YX7px1KoDfUoTsSnspBJ5gZKuZxBz+QwxZf6ebC4fO0GsBlDUpt+QdsUn3bbqQJdWVmyJKfkwiHmD5jTWe+ZDQY3mTXCUBxGjyeZB/APImx5VhB89xm01oKiJ26COxU+cckd6eXbCZv8ekhL+4eDpdNx6Sl+hdKmDsxncTFdxYfevnPX4gnZFZfCT21Cviwf1SvwqY2JO3Ub6zkBb0bCBM4r9F1HJrKnfWF8oa3kaNqyB0vcKKm0iDxI04JSrZBQ4tR/MsPYGVEVuQwVrXRLEzAydQaEj+xLHTsZKV8y6ejDkFX13QOtq3r4Lraw2U/IQMadB88b6jwUpatC8iSPyCzFoshOIT9SA1YvjUy4KVeg/nLqrARS49B1A652ihAoAACAASURBVGKFyZL2nVpiuTmGoqYwVfhR/pGEgJpug+lYvBDg0MuLjjb72ZuUwD8HT5Hu1suwW3ZU4Rz95zZqQOHszuC2xfevvLIHAzrP4eD+FNIDjnI86U2GFcpy/vQoG3nRr8FPhF1SEXXYm8BZHeiQ3zpTR+PrJ+W3klfpTf8OBeudv/2c3QfTttjGkFO53wA6f+XP/pR0Ao4eJ2nMsMLJ242Bwon2g17HMLGsIN0mqdGSmZGeL3LRiHo7f//XdGNQ8QMNuUNvPDvasH9vEgn/HOR0ujs9DRpoWtLSc7/BFFNzQzIZGBH1DbZOnc2+6OIsHxMav7mMqb3yGVbKJni612VFeAiqGH/2nZxDl+4FP1h9ez8+F7IBOZV6eNGxhLFmamaKjAy0mekFda1AIDAQJfYN3Rk/z53xM+II8vuTP7ftYN+xMBJCfFk7y5f1C2vwiseHzP72TZrlBafXZszcz/EbMp9TyemE/jGe3ic24TmgF+0bu1CpvJKspLtcDz6O7+79nI3JQGbVkMb2V7l8Ww0yJSYmuXaIFs1TOgK0moIXdhi3vFyUNPF0p+6Kq4SoYji47ySzu3QvOGeob3PA5wLZ6JzuHYu3A4p8d1o6GbrXm5mWKzJXzdPb5MZbH5SNjVWWdq2RbPpnTeYtDiz6gumrTnBPBSir0H3qWla8Xa/IdlLFxhKvm6blFTvw8Y/L+axHERfivPUpX974i5nvfsYfIekkHF3A9I1d+XOsa56zVPP0AoVWm9t4ZSWfut+yYgk9cwJNEeKgzUkjITKUMwd3svPQVZI1gHl9xnw9kQ7F2RvaLGJDT3OyqELRokp/QFTYWQ7t2oF/aKLkBKs5lK++7FHiDZ9QgW5unbHx3kfSJT98b31Indr53qNJ4IjfadIAq3Z96aHPG1wkwk4qiRfHYSWzofnA12nnaEgHa0k4u40d5x+UPock6Vy/povOMq9L43olNYESO7vyyEkpIQJBjpVNhWIbVGFjS3lJnz6mVDIJC70lhWDLypEYuJF1l4uvlSYuDXMZJGkSuBoaAz1rS7Vw7M97b6zm5JpwHp5dzOB222jxalc6tmlFi5ataN2sLvZPe0/ykyK3pHx5fS0kp7yNLsJKZkV5G32LOzk25XXPadWoitGmmvR7XL14kWt34khMy0Kt0T4aL5r7XMy3BVNgHKVf55pukWderzElDxE77MrLIaUEzS63wsam2BGCja01cmLQoEGjfvE1Vnp4OHdUAOWo27hhiTl6lBUrYi2nyCTYmWGhuuSuMswSz/H7ukvFF6aJI00SAhKuhhKj7kVtQ4JYMkMJ1WWRNavXhAYlJhayolFDF5T7g1FlhhN6PRvalkE2ImV9PN2bsOxSEDmRh9gfOJsO+TxWmhhf/KTtYKr3GUC7xybtR+1nRj0D+gKrRjR0UbI/WEXmtRDK6rMKoiH9XhgXL13jTlwiaVlqNNpH41xz/2K+ndH849+Iejtf/8vMHhD4+1qKV7ca4tLMkZGEJuEqoTFqeho00LSoVbnOIjnyZ+yvQp3MjTNHOBJevMMqu+fjsXxKGni60+CnEC6pYjnsfYL07vkXKmpu+fgQnA3Iq9Lbq0OJjmKFQnc8IEdFznPf+RYIXnLMHGnhNYEWXhOYFXWG3T/P4euN50lMu8Op3b5cmpXPYQWUa/wBazeomDBhCUeis0i9dYwtPxxjSxFFm1btysdLZ1Hhxz7MuK0GpQWWuWXJzChnqlNkWk0ponI15JozMrN8uzDGLi8fygaeuDVYTsglFbGH93EyvXuBjQb1rQP4SEqMqr29il8E60GrVuWd9JDJ9UThP7VNbrz1QZnYWM/Qrn1im/6ZoSExaCNzJn7N9hDpKJ1J5Vf5aPFSPu9eTe/6UO7aj89nNkGNkmodh9O/mX7XSTnXASz4JZpr7nM5k/6Q0xs3cWH0LFqZAsgwK2emc5xq0RTjLCpUc3VuJJUZ5cxkj/53GckngObuHqYN3WNQiSaO7Xl30U9M6aYvujCvUPZOe429BpUqx7rxcL7+5Rv6VTLMuSQdC/RmX1Iwfj63+GBC7UeRlQ+O4ncmFbDklb499EYv6kPYScXz4jis5La0GTWD2e0MWTFlc37eYXadf1D6Y4HqZBJTpMWK3Mqa8gasO2Qyw0adrKQViUJetKBpHpCQqEsPrApl+7zpbDfojRLpafnTs1nTedZW1tvNZv5qH0ISIwn0+Z1An9+lOpraUqNBc9p06Ibb4MH0aWRvpOR1hiArdtGmyP1RJkMu0/9gSe2cHfU3a75fxAbvQKLTSy/16pREpCEix6q8tQHtI6OY6hZ4ruQh8mJHVBVEQ/KDRMmQklthY22AOpHL9NyYoSEx4YEuSbaKsO1zmVE6ISDNwLlZk5iAJG4yytvYGKAEZdja6m760CSRUGYJ3xTU9vSg2Q9BnMuO5ND+c8zq0FEXAq8h2tdXus1I4Yxb/zaPhcbnaz9ZecP6QmaHbXmpNzRJ8WWcxy6bqGOr+X7xerwDoym1WBpRbz/qf1CFbWde6QYaaYYONGSYmubmRFCjMshQ11AKGxNQo9X3vMKBVgPf4s3Y4mZJJXUaFI4sUNbzxK3xUi5dUBF3xJvjab3onfuY+iYHfILJAeTVe+P5Skk7IBpUOdJNpDIT02d0/Fwg+D8n6x5BvtvYsm073v+Ek6jTqQorG6wK6Uc5du0/ZdPf7vhv+oOd/scJunqLuw/SUaHEvEIlatZvSac+rzHqjT7ULRfK4vmSYlE4VKFy7nQit8bO1gTIAW06aQ81YGGAQGvTSNOFDMgrVMxXLSOXlx9lfTzdGvPjpQuo4g7jfTyNno+UGDcP+HAxB5A70cuzHU+yjyszNc2zHwrcxliAp7TJjbY+KCsbq+zt2qe16Z8J2Xc49ONkpv58lKgsAAtquU/k+wXv0cGxeIOlXENPxjc0/FXKOkMZ2mERZw6lo751mpN31LSqrQDk2NhVQJIoLelpqWiwNCD3j5a0NF00uLwCdrm5qspSPg1FWRO3SbOZPMaN+jbGMB7kmFlXxqXxK/QYMIa3hranWmkSYumOBXrvS+Kinw+3PpiQ58RNPObDyYeAxSv06WFfypxLwk4qiRfHYfWskClQKHT+Z7WaFyWIJS8EU2GFYxXbUtwmpaCy9WOJ4pTV6PbpWrq9G8W5w34cOXGWoOCLXLp6m4SMRCKCjxIRfJQdqxZRf8B0li58k2alPbz/gqK6von3hk3GJyY3B4MMpaUd9jbmKAvMqjk8jLtHchGJJGVyBdIQ0aJW6zNCBKBFq9Uar33yylJg5ViVCqWI9lFWti6FzGh1i3yZ7p8h5D6n1e8gMAIKZw88Wn3PuVOZRB3yJnBWR+lYoCYaP91tRgpXd7yaF/G1ue33ZJ9VhuNcxfXN4xn25QEeiaUSSzt7bMxNCk7qqhTi7iUXvkbbqHr7UR8qrBypUqEU1oqyEtYGDzQZ1uUtddGgmWRm6jO05chNlHnPpZcmFlyTTmrumRTlY9O5wom+n35NX8NLy/ff1sHDrRk/XAgkJ+4w3v+k0ttNmiTUN7zxuSTlEqvZpz+tS2w+LZmZUo/Krcq/6KecBYIXGBXxl/3YsWUbO/Ye4Up8rqY0o1KzngwaNpIRg7tSW1+AhlVdeo+fS+/xuX/QoKGIjdT0W9zWRZmbONfh0eVgJjjVqIqC66g194iKVkElAxRiRgwxuugXk6o18/1g7PLyo6C2hztNf7jA+Zw4jngfI7W3u3ScTn2D/T4XpdybNfvgVbISKxKZtTWWOlsxMzNTfwTKU9rkRlsfPDMby3gYw6Yva9Kv7WL+J9PZGCQFUSgqtmTUrMVMH9qw1HnRDEJuQ23XyigO3UStiSEyWkWu10TpVIOqCriu1hAbFYWKSgb0WwYxMbqcoSbVqFE9V+DLUj5B4TyWbYdn07qQJyKZY9P78fYfEahUsURnVqaGoc4qhTPvbDvCrNZFJVCXI1coUT5VlEa+Y4EXffG9/QEfuSqAJI75neShFszb9qGXQ2kNHWEnlcR/z2Elt6WSfTkgB+3D+8SlQ0lbK9k5+i9HN06dKmBXwRRQgUUP5h1bjdcThCcXwqI6rT3fobXnO9L/z04i4vJZTv57BJ9duzgSnkzYrmm8o3TE/wf3UocvvnBoYtk5fy6+MSrAjJq9JzD989H0alapcBerrvC9W2+WXC58FYPcrpIUop2j5WF8HCUPkRxyXuIbHbTa4nesNFqNHieNAhs7G0wAlSaVlIdSu5dQmB7HiBwbO1upLCzoPu8fVhlFCIp4k01FKkiVJjUl2YAoTS2JSY9uSrErS0FR1KCfRxsWnvqXjKjDeJ/LokNHMzTRfviczwSU1HMfQNNCNkO+9tOkkpJiQF9oE0l6qNsFs7ErM/nXxO5g/jwfyVllVpPeH83g81G9aVapsFSprnyHW9/FFBJLI+rtR/0PFt3nc2xVf8Nyn5UaOdaVKmEpgyRNIvHx+uRMhq21dJEEmgTuRmdQYt/lkhlNjC75hay8ERKR5qGglmc/mi8OJCA7niPef5Pi5oE1aq7v9+VyDqBwpq9ny5Jrqr7P/UTdEUz7ylR6OXLPCwQvDOrEMI7u3sqf23dzKPgembn+C+tadOg3lBGjRuDewpCF6eMUHfWfHRpAcJIWUFKrZet8c4MpdRvXw4LrPFRHcuVSEpqWjiVGEmSFXCI8C6m8xo3z/WLs8gqiqOVFv+aLOB+QTfwRb/5OccfDGtTXvfGTlBjOfb1o+YRXjsmtHakkKXgS4+NLPjL1JDa50dYHz87GMhpGsunLDhWRPl/x7udruZCkAcpRo+cEvl3wMd2ql617T6nInUi1qPMZsaZ1m1DPAq4/VBN55RJJmlaUmGkn6wqXJIFCWasxjfOCrstWPkGOXGmKaaGmcqDHl3MZ8vfbbI3K5OLKafzSey8TmxsmqHK5CaaFCzUaj44FXsTP9zbvf+iKIuUf/E4ko8WcNr17ldzmjyPspBJ52V0UT0A5GjXRJf7OusTZsyXc+aRJJOJOUtndoAWABXXr1ZDqlHGNsJtlpHBNK1CzZW+Gf/ItGw/6Ma+rDTLURHtvwreIKzVkuefcjBlFU5ak/oPf8STp3HizCaxfMwnPoiY2ADTo9dOYNaZJHcmXm3XpDCUPkQjuJL0gYcoyWd759eIjgR49l5GWXuz4zkpJ0Xtttnnt2lRXAGQSfjmscGTMY+QkxEvJE4vAom49akhCwPWwm5SZ2WFRl3rSi8i8doWwEnfkMggL1V1ha1qb+rXL0s8vp6q7J+0sAU0kh/cHkIWGaH8fgjIBZUPc+zcocqfhUftlcu1KyX1BRiihumtOTF3rU/rPenQUtjinZ+q/fhxP0gImNPtoA2smehXprAJAo9UzFo2ot/P1f8b1MMpK3QIonZ1xUgDaZGKi9OVBVFCpljNS2r5MrpwPLuaa+oJkXTrP5QwAGdbOtYxS57xa1ehHv1ZmgJYHf+/jWDKgCme/72VUgMLVDY9mBhiFqiii7moAGVY1XKgiDDGBoGQ0Kdz4ZyPffOBBu9ZdGTV9Bd4X7pGpNaNSMw/eX7CVY4En2LbkMwY8kbNKH9lc3O8v3YClcKFrz4IX5Vh1eJWW5gCZBB05bMBR8mwuHTom3a6rqE77TnUK/Grs8gqgqEG/fq0wA7QPjuItKTGu7feRNkUUrvT1aPbkbad0xllS8CTHRJeYxrQQBtnkxlsfPDMby1gYy6bPxWD72BAyCds4jkHjV0vOKos6DPhmN76/TSyds0odjf+P05k6dQpTZ67kuEHXG2qIj9fZN3J7KlfON6ladaSTJFBkBh3hiAG5HrIvHeIfSaCo3r4zdfIJfJnKZzHI7XszbfZAqsiBjAusmPELlwtfnf18yLstMJuLfr7cUUt27r+JWjBvTZ9eVUrvXBF2Uon8Bx1WClx696KxCaC9j8+6LdwoJsRCdW07u88Zunx4UpQ06NpJWvirwjmw92IJi81k/Ca2p2H9ujRoNoINd3I/IJvAb3vTuH5d6jfuV/xOg2kNXu2gSxaXHUPk3ce1kJxy5tKtJ9q05OcSZlta1A/i8q4YtmvYAtfi5oysSCL15XZRuNC7VxOkIeLDuq03ionCUXFtx07KfIgYiLycOeWkTiO5uE6T22Cjy1+UdTOcG3qHSiYXg6/qNWxMG3WmraMcUHPTb4/kVNFLKqf+PU+6nl+VDbrRSRICwg/s4VIJYy7Z7ws6NqxL/QZNGLkhwvB8dsoGdO1UHQWgvnGAPeeL7zzNfR/2/PsQLWDeoiudbMtWbcod3fDsUB7QEHVoP+fSYzjoE0gGYNLUA686RXuWHrWfmhs+eyj+szTc99nDvw+1gDktunai1J8lN8dcGmykJRdxjA8ANQ/i7iOJpR0Nm9cudnGQFXWHosXSiHo7X/+rwg+wt8SB5svEjvWpX78ezUau504pEicqnRtSp7wMUHHrahj6YnVNW3eitRWAhhj/nfydZEjpyRzb4SsZhljSsmMbwytmCIoauLu3phygTTzGvqNJqK554xeiApTUcfMqItKvMJrEq4RL1ztSq0EDQ2PHBIL/JJqkS+xa9DGDO7bk1WGTWL47gKh0LQrrWrw6YiorDpzjrO86Zr3ZDVcDzo2oI9YzunVTmjVrSsv+3xNUwqJPE7WTn/6UbB6zZq8x9DGntNzRjf6dpJyOKcd+44+rxbs9NPF+bNglbfgoXfsxsFXZllcQBU7u/WglKTH+2XeEJFU43n4hqABlHXc8DVFi+lC60KCOdAmQ6lYoVwspeGPY5MZaHzxDG8tIGM2m12GwfVwiGqL3fMHo6QeIygFllZ7M/HMfP7/VsvR2lMKMhMDN/PrrBn5dt4R1Bw2I1Es/y9HTCWgBuWNL2tbKZxPKHXHr3xlrGZDyN7/9EVa8Y1ITj9+GnZKDWumK+8BWBWy0spXP4pDj4D6LWZ6VkQPpgcuZviak5I3YZ0IFurl3xkYG2cE++NxJ4bj/MR5ooVyLPvSqWvo1grCTSuY/6LACRZ03GNfXARlaHp5YyEdf/01cEXpOdfcgX01YQkBG2dfJrM0bvN60HKAi/NfZ/HIhTe+zySd/YOGOmyQmp6Bp1Jue1XNdsUpqOtmTnpxMckIQOzedIFlvKZncuhWjU4xWWBe6lU9JteqVpckz8zz/ntRf0ouCwtoG6RJCDckRt4nTq/WzuLppPf4P9GYrps6IcfS1l4H2ISe++5Cvj8UVMVmruHtoDhN+COAZDBGDUFarrgslzSTo32L637Q+jWpLE4kqfB87A4seb+o721m7P0b/BFquI68PrI0SUN/4nbk/nUffyE0NWM6iv+7qL8usDW+83oxygCp8A3N+uaDXuUXySZYu3M7NxGRSNI3o1dOpFJcHmNHmjeE0LQeob/LHV0sJSNHzqOYeB+Z/x8EkLcgc6DVqANXLeudD7kgvT8ng0EQfwtvHG5/z0jGxlh79qaXv/fnaT33zd776MQD9n3WA+d/7I31Wb0YNKE376VBWo7oubjkz6F+KVhEKrG3KS7vDmmQiIuL093/WVTat90efWBpPb+frf9VVfp3zMxf0DzROLl3IjpuJJKdoaNSrV+n6v1xr2jQ1AzTcCw4kQo89Lbfvywh3aVdOc2833y75Ny+Jsj6STi7h212SbMoruzPCzbEUFTMEOdXcPGlrDmiT+MfbnwBvPyR/VX3cPRsZlFMg41wgoTmAogat2z7BOBMI/kOoQrfy3dI/OXn7IRrMqNTcgw++/ZN/A0/w5+JPGdDCsVQRQYrqXehQ4yFxcbHcDVjFVyuD9c+r6ZdY9fk8yTZSODHwk1HUKXQrXCX6vzcUFyWQdYFfJi7hnL6AV81d9s+dx95YDchs6DL2LQqlXzR2eY8XX80dj7YWgJakf/bhH+CNv87pXt/di0ZPFTBdjtZtmmIGaO4FE1hIwRvHJjfO+oBnaGMZB+PZ9BIG28cloLm/l3mzdhGpAnllNxZsXc8HrW2fcEFtR0+PrlSQAdpkDi//niN60wcApHB22ddsu6MBlNQZ9DrtCoScyanU/z1ekwSK4F8m8oN+geLu/jnM3xuLBhk2Xcbx5uMCVcbyWSzySnjNnIGbgxxII2DZNNaW4DB7VlTo2o/OkscK39078TmWgBYzWvTuzRP4q4SdZAD/SYcVckf6z5yDZzUlaB9yYcUbdO/3LnNXbGavjx8+e/7g59lv49bzTdZeykD5dBnaDEPZkLGzxtLIHLQPz/L9yKFM2xLAvfxBApnRnPl9Eq+/vZLQLMC8KWMnvY5TXi/KsevzGr3sZYCamxvfZ+SMrZyPfWxLLf0Ox1d9wqxdkvPArHF3ulV9/BuV1O/UjsrSCoqdk0fwxbLN7PM/xJGzN8qmDZ4Wm/Z0bCpp7sxTS5gwfzeX4wsqt6x759g2dwSvz/uXlGLmNrnjAGbO8UIaIkGsGNmNfuO/YsWWPfj4H2DPpp+YPbYPPd9aw6WMp03iZzyU9TvRXuo07u2cxMgvfmTLPj8OHTnLjfzeC3lV+gzoKO3CqK6x4eOPWHEymkcjJYu7p9byyahZHE7Ud7MfgBkt35vCwOoKIJ3zP4xixMxtBN3Ptw+SHUfg1ikMG7OMi8V69pQ0GDubdyQh4Oz3Ixg2bTMBBYWA6DMbmfz6m6wKzQIsaDp2MsOcSqfKlA3GMeudRpgD6ReWMnrYJDaejs53FEtNyvWD/DR+EB9vu4MKGRW7T2KKp8MzUZr2vbzoUkEGmij2zf+FMxmAeWs8PGoUM5Hlaz/SufDjSIZN/o3T0fnaT53C9UPLGT/kI7ZFqkBWke4Tp+Jp/wRfpaxPp/a5TpYdTB75Ocu27MX/0BHO5htsNu06S84hMjn1w4fM/+syBcUyi3uB25j7xlDmHU/Rf/zYiHr7Uf9reXj2O0YOm8qWgHsUVLdn+H3yUN5eFYKkbscxaZhT6fpfbk+nTo2lvCFhJzhxT58hakOPidPpV1kBZHN17VsMnvAzfmEPCu2OqhLDOPjLhwx5axWh2YCiMu7TJtPbmCmscqtfxQ2P9paAlpRjK5i1SxeZ0NAdz3qGrPQyCTx+hiQtyB3a0bnJ80jbKxC8TMhQWLvS5Y1prPQ5x1mfdcwc0xWXJ83Cq3Bl9JRxNDEHtA858/0bDJ+5lcACdmEm0ad/48shQ5n/bwJaTHEd/jXTehZ9hbxFu8+YM8wFJVpSz//AqCET+e1UZD7nh4aU6/4sGzeIT7ZHoEJGhQ5fMHN40frT2OUVQF4FN492WALalGOsnLVT53RviJtnvadM5CvHvlNnGkkKnhMn7j22IWMkm9wo6wN4ljaWUTCiTQ+lsI+LRUPMno34xmlAZk2bIf2pHHmcw4cPG/bv6AWiC4QJyXEYMJEJr0hRTDk3fmf8oHEs9b7M/QLDRE3K9cOsmNCfkcskR6NJrTeY8UGLwtE4Fu35dM7ruChBmxrI0lGDmPTbKSLzeSc1Kdc5uOwdhnyynTsqkFXoyOczR1BUN5epfJaAvNogZk/tRUUZaB+e5sdp6wh/EXxWFbrhrjsWeH71Qmk8mDanV9/qT+BsEnaSIfz3kq7rUDgN4YffM1G8O5Pd19NJCN7DiuA9jz1lhpPbDMZareSr7Y9PRMbHst2XrFp4j9GTd3Az4RwbPvdg4wwHnKo7YEEacZFRxGfodnDMnBmw4Bc+aVHwNLfc3ouZXx/h0oRt3MpO4Ny6T+j361QqVq2Go40p2owk7kXFkJQlaXaZdWs+mjuO+kWMhHId3ueznvuZ5H8f9f1zbF5wjs2Asv6nRB6dWsat8QQoXBn55TvsHvUzl9MTOLPiPXqtmUil6tWwt1KQnRxHVHQ8GRowreWOm5U/Phf1aT4FToOX8numgndn7uJ6RjzBe38heO9jj5nVwG36WKxWzWG73sXoM6RcR977rBf7J/lxX32fc5u/4dxmQNmAT/YdYkrzvPupqT5sFhO9g5nzTwLZdw4wd7A/SyrXoLqdGdkPIrlzLxWVzJo2g/uSsPsAN/VFhzj0Y+7yz4h4azFnk+I5u3YC7r9Oo3KNatiaZPMg+g6xqSqQWdNieA9ytu8unFQ7F8t2TF71PfdGT2TnzQTObfgMr43TcXBywsEC0uIiiYpP10W7meE84Ft++qTlE1xJbUm7yWtYeG8kk3feJOnCRr4cuImvHKpT3d4CzcN7REYnIomJnAqtJ7Bi6ShcnpVjskIPvLpVxHtXPAn3YgGwaOuFW7USpv8C7ZfEhd8nM3DzHByqV8feXMPD2EiiE7Pyri9u/dFKlo50ecLdnHJ0eO8zeu6fiP99NffPbWLBuU2Akvqf7OfolOYAKFxH8uXbOxn1y2XSE86w4v0erJlUiepV7bFSZpMcG0V0QgYaTKnl7o6V/wH0iaXx9HbB/k84t57PvX5jhoMT1R0sIO0+kVH3eaRuB7Lgp09pUeqBpsClb1+afneOwMxAfP3vMuatakUacYrqr/HDxoeox83hQMRDQnfN5c1dX2NhX53qlawpJ9eQmRJHdPR90nLbx6wm7rPXsfS1MtqRkzvSp18H5h45SGpqCJdTAUxo4u6JnpOpBckMwOdwDBrkVO7mTocXPMevQPC8UTb5mL8C5uJgaTwHgUXbyaxeHMeYiVsIT7/P2bWf4LFhKg5ONXCw0JIWF0lkfG4uy3LUGvQdG+b3Qe9FV3J7es1dy+zYkXx16C5Jwb8zZdBm5tpXo5pDeWSpMURE5c6fMso3Gcuyn8eh18dt7PIKFo5jHw/azz3CodRUQiUlhkmTfngYpMSKR+HiRt+mCwkMzCTQ15+7Y94i/zRtLJvcGOsDXUHPyMYyAka16SmFfVwcKuLuxkkbSdoUzvz0Hmd+KsU3mXZlYeCfjLbP/7dGvLdyBfHvfMSqwETSr3mzcJw335vbUbWqIzblIONBDJF3U/LSCpjV9GT++rn0LPIMohz7XnNZPTuW0V8dRSF49AAAIABJREFU5G5SMH9MGcCWuQ5UreaAtSyVmIhIEnPHXPkmvLPsF8bqE6gylc+SUOA0dC6Tvc8y5UgiKacWM3NjTza/7fqco5Aq0NVdd1tgciIpgGnzPvR9kiMYwk4yiP9mhJUOiwYj+cXvCL/Peou+rWrhWN4MpbIc1vY1adZjBJNX+3Fo/dvUzu/sNPS6+CfCFNfXlrNv53eMbl8Ncxmo0+9zOzyEkPAIaTKSmVOlzQjm/bmPn4YVlQ9GQXWvpezaPJvXWlaWzmur00mIvEbo5SuE3YiWJkaZBU4d32bJzi1MbKPn4lWFMyNW7GbNxNfoWL8K1mYKZAozLK3Ny7IRngrrDjPYsvUbXm9ZSdp1UKUSe/sqVy6HcC0yngytJc49PmPNlq/oaFVSZ1rQ4I0V+B3+g1lvutGqliPlzZQoy1ljX7MZPYZ/yWrfw6x/q06+figuGulZoKDmiBXsXDOJ1zo2oIq1GQqZAjPL8pg/PlhMGzBuw05+eLMtlaXGIvXeTcJCQrl5LxW1ZS3cpv7G6tHOJSqKCu0mseWvnxjXyQlzGaB6yL2bYYRevUlsqgoTh5YM/3Ybf0xoQkmjx9T1NZbt28XC0e2pJgkB929fJSTkKhHx6aiRYV6lDcPnbWfvT8MKymdpMHXltWX72blwDO2rmSNDTfr9CMJDQ7mum3wV1nXp8+lavP+cRucniUJ6Yqzp5tUDh7zBZEV7L3cpAWUJFNl+EeGEhl0nKjELLQqs6/bl09UH+HPqqzzNZylqvsGKnWuZ+Fon6lexxkwhQ2FmibV5/iuFrekw/U+2fj2clpWkvUBVaiy3w69wOeQakQkZaC2d6fHpWrbM6UhJYmk0vV1k/98mPCSE8AjJWSUzr0Kb4fP5c+/PDHvCgaZw6c/AVyyAdM7s/otbxaTZsGzyNmv8DvDTR+40cTAF1KTHRxB+5RIXL10hPELnrDJzpGm/j/l5/0HWvNUES/1FPiVy7Ht70sk6359Mm9HPwzBjMfXYdnxiNKBwwn1I5zK6jVEg+P9BbuVoVGeVhBLngUvZt+8XPuhVBxslunk1LG9e1SDHquarvL14D97Lh1GnpCQqFo0Zu8GHTTMG0yxPV93hWugVwiOl+VNu5ULX8cvZs2s+vSqV8E3GLi8fcvveeBRUYjTr54mrMVa8Chf6D2yHOZBxZid7Cil4Y9nkxlgf6Ep6VjaWETCuTV8K+7gYtE+fsb0Q8ko9mbXzIJtnjaC9k6UUuZ7xgKgbYVy5EsZNnbNKblmTTm9+z64DqxlZrzg3oiWNx/7K/k0zGdTMAVOk8RJ5LYQr4XckZ5XcCpeu77Fsz1/M61WpeDu/DOWzRBTOvDF3knQET5vMv99P5/fbzzqjWmHyjgUCYEKTXn2o8QQ6RdhJhiHTGknyHj5MJS1N72nol5hUdr7TlI8OpIH1AFYHrcLzmYwmNcm3Ajhx9gq3Y5PJkplTwdGZhq3a0aq2rYGhcWqSI4IICAzl1t14UjJUyMtZY1/VlUZt2tHcyer/2GOpIj78LGfOhxARl0KmxhTrSs40atOJtrUrGNczn7qDd5p/yIE0sO6/lqCVni+dwsmMvcKpEwFcjX5AhtYcuxqNaNepA/XsS7tFoibx2mmOn71CxP2HqE1tqVq3FZ07NaPyE2zRqZNvEXDiDCG3Y0nOkmFeoRLODVvxSqva2BozPlSdzK2A45wNiSA2OROZuR1V6zSnQ/vmVHnZOjMfhdrPrip1mnWkffMqz2eMquIJP3uG86ERxKVkoDG1plLNxrTp1JbaFYwplaXU24X63xZH54a0eqUVtZ96oGl4sOc9Xn1/DwmKOry/+zCzWhuQUlOdTMSFAILCbhETn0KGWoG5tT1VnRvQom1zalq/IOeQ9aG5y6bRrzLpcAomTSfis38SDf+zMd2C/xq2thUwMVESFxf/vKtSiPR7lwk4E0R4ZDwPcxRY2FbBtWlb2jevyROdPMy6z9WAUwSG3SEuJQu5eUWquDamXYeWOD1JgcYur4zRPPiL9199j70JCuq8/xcHZ7XRkzTZWDa5MdYHupKelY311DxDm/55o0nnXmgg5y5fJ+p+EunZYGpVkWquTWnbvjnVSm28ZRF/9SynAsO4E5dCltwcuyquNGnXkRZPsg58yeTzhUbYSYWwt69YZEqP/6TDKuvk1wyetJcEjRzrbnPY9k0fbPQ9nHqQz18dzZa7GpRNJ+K/fxIN/uOD6f+fLE5+M4hJ++LRyK3pNnsH3/TWO0JIPfQZr47ZzF2NkqZfHGT/xIb/3bO2AkEZ8VLr7ezzLOjjybIwNXbuyzm65jUc/8/tuqzz8+nTfzlX1RXpt+xvVg9x/D/eIBEICvIiO6wExiaboAW98VoWitrOnWVH1zHk/13BCwSCp0bYSYXR57D6T7aLSd06OCZEcPv2TS5uns9837tFX9eqjuXQgm/46650G0P9nm6G5e0QvOSYULe2IwkRt7l98yKbv56H792iw0/VsYdY8M1upCFSn5596wpnlUBQBrzUetu0OeM+709luZYH/stYee7l2Nx5YjSRbF+ykXAVlGv2Dp95CSNMIBD8v2JKs3Ff4FVZjvaBP8tXnnveFRIIBC86wk4qFf/JCCvIJGjRAIYsDpJuOVDa09RtCB6dmlCrsg2mqofE3rrIv/t24BN8nxxAWXMEa70X0+eZ5rERPDcyg1g0cBCLdffdKys2xW2IJ52auFLZxgTVw1huXfyXfTsPEHw/B1BSc/g6vBf1faqcQAKBQB8vud7WxHHp6Dkis8DSpR1dGtg97xqVHVl3CPj7MvfVMuwadKGdy0t8rlYgeAJEhNV/DQ33Lx3lXGQmWLrg1qXh866QQCB4kRF2UpGII4GPo77LoW8/ZNKqE9zLKf5Rc9eBfLVmCaMaiMH0X0J99yDffjSRVSfvUfwQscB1wFesWTwaMUQEgjJE6G2BQPASIBxWAoFAIBCUDuGw0kPKVV+2bt3DkdMXuXo7hsTUDLIxxcq2Ci71W9LRbSijh3XDWax5/qOkcNVvC1v3HOb0pavcjkkkNSMbTK2wreJC/RadcHttDMO6Ob90idYFgpcVobcFAsGLjHBYCQQCgUBQOoTDSiAQCAQCgUAgKGOEw0ogEAgEgtIhkq4LBAKBQCAQCAQCgUAgEAheCoTDSiAQCAQCgUAgEAgEAoFA8EIhHFYCgUAgEAgEAoFAIBAIBIIXCuGwEggEAoFAIBAIBAKBQCAQvFAIh5VAIBAIBAKBQCAQCAQCgeCFQjisBAKBQCAQCAQCgUAgEAgELxRKYxYmk8mMWZxAIBAIBAKBQPBSIuxigUAgEAgMQ9+UKdNqtdpnWxWBQCAQCAQCgUAgEAgEAoFAP0aLsEpLSyMjI9NYxQkEAoFAIBAIBC8d1tbWKJUKHjxIfN5VEQgEAoHgpcDWtgIKhaLQ343msEpMTOZebJyxihMIBAKBQCAQCF466tZxxcLCnNsRkc+7KgKBQCAQvBSUL29VpMNKJF0XCAQCgUAgEAgEAoFAIBC8UAiHlUAgEAgEAoFAIBAIBAKB4IVCOKwEAoFAIBAIBAKBQCAQCAQvFMJhJRAIBAKBQCAQCAQCgUAgeKEQDiuBQCAQCAQCgUAgEAgEAsELhXBYCQQCgUAgEAgEAoFAIBAIXiiEw0ogEAgEAoFAIBAIBAKBQPBCIRxWAoFAIBAIBAKBQCAQCASCFwrhsBIIBAKBQCAQCAQCgUAgELxQKJ93BcqKzCt7WH/kNmqZNU0HjKZLdUUZvegye9cfJkItx7rJAEZ2daKM3iQQ6EUdcYSN+y6RqlXg0vNdPBqYPu8qgTqCoxv3cjlVg8KlF2M9GlJmtXqW7yolz0wXPUP+H7/JEF5IOTOAl7XeAoHgOaJRk6MBE6Wx9LsalUqGUmmsvfIMruxdx5EINfLyTek/qhv/kalIIBAI/lM8Z4eVmqhDq/njbAIauT2vjBpHj2qGzDZqIg+uYlPAAzRyB9qPHku3qgX/u+xrB/njtxPkyKsw5JU3ym5BlR3O4d9/5WSOnCpDXmG4cFgJngPqmBPs2LiLuP+1d59xURx9AMd/V+hVQUTABioW7L0Xir2gqcY0YxJb7Impj4kao7HGnmhiNGo0sfcoCrbYFQUREFARKVKk1yvPi0NB4Y7iQUic7/N5XkTX3dmZm9nZ/8zOqAzoXu/dqvFCqnzAuT9/ZfdDFQbd6/N2hQasKvFaZVRpbVEl+i/eU2n8Y/VMlci5337C74EKmWMv3nuzKzZleOerku2DIAhViir1Nif37eHYmSsERdwn9lEmSjXIjCyxdayPa8vO9BnkjVdLOwxKdUYliYEH+XPHYc5eDeZOXDI5SikG5jY4NWhJJ/dhvOLdFSfj8qY4j9s+m9j0dx7SWq/QYWRZAlYKwg+t4k//NM37x6j3cS/Lc0wVz9lN6zkZrURi3JShE4fTVFez+pxtuCAIwovsHw5YqUgMOMKeXZEoZXUx6/9eKQNWKuKvH2bPriiUMmcsB40uErASnpeK1AfhxGaokMir4ehsh+k/nSRBECqQqPNVlfLeXn768Q8Ccw1oNv41rCvgRUeV+oCI2HRUEjnWji7YicIXhBdEDncOL+brxbsJSlYU+VtlTipxEdeJi7jOqT2b2NBnHF99PpKWVjoaIkU0vj98yrd/BJCiLPwXKvLS47nj78Mdfx92/+nJpHmzeLmxmd7vSjc5NWQP8Nl9jBS1nBBbT3qNcSn1gLPq4Qm2rP+DS9lg0smV90p4m6qMNlwQBOG/6j/7SaDMujaujZugkNbA3lTyTyfnXyiLk4veYPbpPKR2w1m25ys6i0F5QSizf09bVPo6/++5p/+CHG7s2sutXJCYd8Z7cP0KmcWbdfJ73vrmFHlSO7x/2M/nosEXhBeAkuiDX/HR7GPEKQGZJc5d+uHZpSUNHG2xMFSS+SiWOzcvcuKv49yMz+Te8SVMScxm5coxNCtudpQqkdMLJ/DlzrvkAjJbN7yGDKRrc2dsDLNIvH+Liz77+etyNNmRx1g0OQvJ2iW8VL9087b0xbKLJx2tfDiarCDE7xh33nGhQaneilTE+R3nRjaAGW08emOrMwBVOW24IAjCf9V/NmBl1msmG3r906kQBOFF919si/6L91RlpZ5i51/3USLFzn0EHjXE0LwgCHqScoLVy300wSrjhrw09wem96pV5OWgu6c3o0b78+sn01h7+RHp/j/zww4P1oyq90zwRUXiiSXM332XXCSYu73F/EUf0dG20FEde9J3+EiGb/2c6cvPkph4hpXzttJmzds4V+ZbiUUXPLpU49ihJJRhfhyPGEODRqVIgCqWk343yAEwb4d7j+q6d7ASbbggCMJzEa2mIAiCIFRJKmKO7ORUkhrk9Rng3ZnK/nBGEIT/rvRzRzmbqAZk1PH+lMnFBKsek1q24u0v36O1MUA2N3yOc1/5zEF5QWxff5SHKpBYdmHi3GeCVQUno9nIuXw1VLPua4b/Zjb4pejz1krBjI7uXakuARTh+B0PpegHkUUpY3zxvZEDSDBv50G36rpepUQbLgiC8Lz+szOsyir30T1uh0WSkKHE0NoRF1cX7EzKG89TkBzhz5WguyRmSTGrVosGLVvhWsOkbGlKDCcgIISohDTy5KZUq+lCs5aNsTctfbpyEm4TGBhKZHwquWpDTK1rULuhG03rVy9mUWoVCUFnuB6dg5pcQhLVAKhzYwnwPUZGfp9DYuGMe0eXMt3Lc8lNJDzgBqH3E0hTyDCztsfZrRWu9qZliriqMqK5dT2QiJhHZKkNsapZn8Yt3KhrVbZqULhccqUmWNesT5OWTXEyr9hJ3jkJIVy/HkJUYiZKQ2scGrakTZNalOtnqqc8JSee0OvXCY1KJFNpiJVDQ1q2aYp9uetOZV0rl8TwGwSG3ichLQ+ZaTVqujSnpas9ZaheVVAWCWFB3AyLIjE1C4XMBCu7OjRya0b9asV94lVF63wRlVdeeq1nz0sRyt49V8gCjFt5M7SJ9k9mypNuVcJNzvpHkwPkhiSiAlDnEnvjBD4FhY9zhw44W/yrK4Yg/Csobm1h/u4s2g8dRp9mtqVc3Ly8lDyMiiYLQGJJ83bNKGn9c5l9e9rWk3M1WIEqNooHCqhXqOuTc2UPhyIUgIy6Q99nsK6FzKXWdH5vFO3++o4LmQmc2udDfJ8RVOYEJNMOnnS1Pci+eAV3/I4T8n5TmunsEiqJ8fMlMBeQWNDBozvVdB1ehjZcH8rW5xcEQfh3+M8GrNIOzMB74XkUEnuGLfmdKW2Ke0ioSLqxk3VrN3PkSiTphUaKJMZ2NPd4g3ETXqfuhTlM2XQTpXFntm2aofO6img/1s37nt/Px2imCz8ms8Cl99tMnf4OHWvoDmxkhv/FhjXr2H0mnJRnhnskxg60HTSaieO8aaZjwcuMsEP8vHI9e87fIa3IkJEci3odGfjmWMYMdqPgNHmE7JzDZ3sTUBc6Wp38N+u++LvgVlw/wH3LOJ33UNiTspA358NNK3m9ZhJX9/zK9iPnuXU/kbQcNc6j1vHjmEZP/yAzwzn6y0p+2X2G8KIZgUPbIbw9cTzD3Kx0BllUyTfYvWYFGw9dJSZL9fRfGtrStM+rvD/2Tbo5Gem8D93lYkdzzzcZN/412tXQUq3S9jPTewEX8uQ0G7uF5a/X5NHVXWzadpgLt+6TmJaD2vkt1v70Pg0LnSL3wSl+XbaC7afDSH3qujIsnHsyatpMXteZ8qduQi95Su4DTv+6hFXbThH+dKKQWTjTY9QMZowsbaJKoNdrZRJ+9GfW/LyTM+EpPD04LMHYoR2D3pnE2GGF60VhaRz8ZAgLL+QhdxvHxuVvUPPRFfZs/J0jF4KISkwjW+3Cmz+u5738QtTWFuVcXsRbM/YQp5bgMGI5Gye11v5yooxk60dv89PNPCQWvfhi61w8LAv/fRIBe35k7eZDXLmfzrOD3sitadD9FT6cNJpetQv/zstX57W2rzmXWPLmNPbFqZE4vMTSTVNopf2muL9lAu+uC0SBBT2/3M43T90UPH95ld5z1TO937dG1sU/ORimAEk1unkPLHYHrOdJd17wDr79bA+JTxc+59Z9xrnH/y13ZcymzXwoAlaCUOHUWQ+4vPd39u5ah23THvQf4s3Q/p2oa1Yx9c/A4HFDJUFSquUICw6SyA2QP/Vvcgk8fZ54FSB3po9XsxKDJFI7D7za/sCF05lkXj/N+dQRDLYuyx2UTJV8kdVTP2dHRDaYNOLVb5fxYVtLTR/HpB0e3e04sCsW5V1fjgePpZmbjqCSMho/3wByAYlVZzy6Wum8dmnacH0oX59fEATh3+E/G7BSK7LJzMggT5pJjlJdzBE5hO/+iukLj/Egt+BPZQaGSJS5KLIfcuPAUiZeusq73ZMIj4hAaVJf5zVV6edZPHEz+yLzkBpbUdPGHDKSSEjOQqlMI9xnJVOD7zBrzTf0rVXcU0tJrN/3zJj1JyEZ+WmWm2FjWw1jVRoJCSnkZEdzecdcPrx0nS9/+B/9nIoWYbr/GiZNWUdAuuYcUkMLbGpUw5hsUhMTSclWkHb3LNvmXOF8wFxWfe6OnRRAgtzQFDMzM9SAIieDHAUgkWNsavRknQKZSdlGiJ6UhTyLvJww/vxkEotPPSz08iknM+/pQJIy1pfF079iR0hG/ou0HDObGlgbK0lPTCAlO5voy3/w3dgL3PhyJV/2cyr2x5x3bz+zp37Lkcj88KHUCEsbGyxk2TxKSCIzN4GgI6uYfu4Mb3+3hLEdiluLoLhyMaW6bTWMlekkJqWQk/2QG/sXM/H8eSYuXMAot2ImfavzyM7IICNPTnZuNuF/zmDq4pM8LNS5kGXmPvVSnnlzIx9PXcHFpPw/lRhgbmOLlYGClPh40iJOsGbqbcK9XSjuV14ReUpmIJtmTGb1xaT8tEowMLfBxsoARUo8CWkR+K6ZzO2I4biUlKiS6PNaylj8Fk3h6x0hPC5GmZkNNaoZo0pLJCElm+zoS+yY9z6XbnzFsi8HULR6qcnLziAjIw9Zdh454duZOWURpwoXojyT3EKFqK0tMmrenTYWv7MjRkXECR8CxramjZbevTLalxPXksnIk2DVuSvtnwpWRXH46wnMPRzJ46ZMZmaDXTVTJDnJJCSkkatIJsz3J2Zev8HkFUsY6fp4tmf56rzW9tWoBd3aWLB9RwyqiBMcDxhPK6039QBf36ukpOchsepCl/bPBG30Ul6l89z1TJ/3/ZgqkRO7fIhTgczJixE9i77FPW+6JXJDzMzMyFYDyhwyshWABLmxKUYFhY+BeMERhEohsa5Ho1qmxERlkhDkw29BPmxdWYe2HoMZ4q3vWVcyajZuiK30OnGqZC4cPUlCNy+dC4hnBR3hZLjmeWfk0hiXwm2uMoaAm3GoAGk1N1q4lKJBllrRsqULstMBKLNuERCcy+BOepwLlBXE5k9nsikgGbVBHQZ8MZcPHgerADChjWcPau75gxhlJKd8bjLOrZXWPFZGn8DvZi4goVpnTzpb6Lh2KdpwgNyMZDJyVUhkJlhYmhRZkF2ZlcyjjDzAEPPqVhg/Uz7l7/MLgiD8O/xnA1YlST23hJkLjvFAARjXoceoD3hrcA/cHC2QKdKICjjJ/t/WseXUSX7eKSkxGAAqEo7/xgHD+gyaOZMPh7TF3gggj8SbR/h54SJ2BKaSF3WIxUs60XbBoCKdgpygn/k8PygiMXXG873JjPHuQn1LTTHlJt7Ed9tqVm7+m9h7+5n7iS326yfRqvD243mBbJr/i+bBZeLMgI8+Y9yQdtg/nuetSCHi3G7WLfsRn3vZ3N07j2XtWzO3b3WkGNJx5l58ZwJksH9qb82OYTWG8L1edglUcGfzLI6deoiBQzsG9O2GW72aWBjJsazvWNCByLnJhs/yAysSU+p7vs9H7w+nc31LzQ82N5Eg399Zu2IT52LvcXDOdGztNzCx1TP7sGdcYc2n+cEqaTWaj5jI5Hf709JO87KuSA7B9/fl/LDxb+JSrvPr57Ow37CM4bWf7i48VS5mDfAaM4kxQ7tQz1JzXE5CICe2rWLV5vPExZ9l5affYvfLXLx09AgUd35j9rGTPJQ70LZ/f7o2r4edhRFyS2cc8/+ZKvk0S79YqXkZlVjQeMgEJo0eTFtHzWd7qswoLu9bx/K1+zn6x33dWa+vPFUlc2bJ5/kBJAkWjYcydvIYBrV11Hyapcok6vJeflm+mgN/bSdKd6p00+u1cgjaMDM/+CHBtL4X7036gGGdndFUr1wSg06wfc1yNp+L4d6B2cy0rcW6ia0x1XZKRQRbvjnKqYdyHNoNoG/XFtS1s8BIbkl9x1L0Bo1a49nTkd3b7qOMOY1v4GTaFBvkUBLjd5KgPEBiTWfPblgV+rsHu+fx/RFNsEru0JP3P5nKq13q8nhAPjc+gKO/LWXFtmskJZ1n9dyNtN0wFlc5oPc6b0Qrr9447N5KlDKaMycC+KhN22JH2ZUxvpy+mQdIsO7sxdMD1RVQXlrop57p674LHRd5gN3nUlEjp9GgEbR65lsdfaTbsNNn7PT7DICM/ZPx/OYUedIaDF4odgkUhH+C3PkVvt/Vn7vnD7Nv3wH+OhPIw/RILu5ZxcU9j2ddDWdo/456mXVl2OYlvJseYG1gNvF/zWYicUweO4KOTs8sD5CXQOBfG1i+YjuheYDcAa+XPZ7uxyrucO9B/tBSrTrULdVsIhn2dZwwkwSQqkoi8m4ydLJ77vvSpPkee2dNY/XlZNQyO3p9spQvvByKBISMWnrSw2En26OURJ3y4eaEVlpmyCqJOuGb/yy2obN7Z8x1XL6kNlwjg7++9GL26Txk9d5m/e9TeHqCl4K7W8bzxtpbKOXt+Xj/Wl4p/M3kc/X5BUEQ/h1ezPYqL5Aty3dxTwEYuvDygl9YOHYgLR0tNA8yuQVOrQcxbtEGFrzijIG6dNNElEpres1cyVcvPw5WARhg02wwM5bNYbCjDFDz6Oxu/op+5qMd5T12Lt9IQIY6P03rmPN2jyfBKgBDm2b0nbCcn2b1w14GOaFbWLwl5KlFIhXhJzl9VwHIcXltNl++UujBBSC3wrn7O8xZPJaWxoA6iTNHz5BethwsH8Vtjh25jWmnafz0+zr+N+Fthg/sh6eHBx1dLPJ/jEru7VzGbwEZqDHE5ZWF/Dj3Hbo/DqxoMoKmfSeydN03eGkygt8X/UboU9OgFYRtX8Yft3MAE5qOXsaKmcOfBKsA5NaueI5bxsoZ3bCW5H8Gtc6P1MKnKVwuRo14beE6Zr/Z/UmwCsDI1o3+E5ez5jPN1sbK2L9Y8dNZHXmqIOzYYW6bdmbKuj9YO2sibw4fRF9PT9w7uqD58iaP4G0rORClAIxp/NZSVn31Ku0dCzqRUlMnOrz2DWuWvIWrzoUn9JWnkBe8lTUH7qMEjBq/zaLVs3ilvWPBOkJSU5w6vM7/1ixjlO5ElUif11Le28HyTTfQVK9Xmf/TPN7q/jj4AWCITdN+jF+2nll9ayEjh9CtC9nybAYUPuftoxy5bUqnKT+zde03jH9zBAP7euHh3gmXUn0+ZUhzr96aTwTygxy5xR2mjMbvZCCaPnI3PAoP6SoiOLjnEulqwLAJ78xfwOhuBcEqAMMazRk07QdmD9csbpsTeoiDAXmlSF/5GDb3opfmpog5c0Kz1kfRmyLG7yQ38zv+XTy6PNXxr4jyKp7+6pk+7rtALoF7dhOYA5h3wnuIyzOjS/psHwRBqFKkFtTr8gqT5m9i34HtLJo+kl6NbTEkVzPrav54Xh3ozYS5P3P0ZgLP1ZobuPLWnK8Y4mKKRJ1B+JElTBruzoCXRjH2o0lMn/YRE8a8yhDP/rz79VauJSpBbkeXCfOZ0u2Z2aFZiSQ+nuVjaY11KT9/k1pZ8/iRmZzw8HnupoDqIX4LpvD9iTiU0mq0n7jlNLwBAAAgAElEQVSU2d7OxX+iaNgSjx6OyADlg5P43Ci28Qblffz8bpIHSG274dFR1/BISW24flTpPr8gCIKeVJ2AlTKO44vHM3bs+6X4/3iW+iUUXaellHIu7+FguGZRSKehHzOxq03xGSGtTtdxE0u9Ba3MqT8jPe2KPZfUuguvD2qkCYjlhhJw8+kHYl7QLnZfywSkOAycyvjO2kY/ZNTymsoH3S2RkEvo7u1czC74W3VGOpplmiTYOThqndYsrzOMT+bPZ+7ceXz5ilslTbXLJUfWhndnjqSJtm1S8m6yd9c1MgGpwyAmje9CNS3ZL6vVlykfdsdSArmhu/jzYlahS11n775b5ACyOt5MebeFlp1ZDKg37CNedpUDKhJP/8W5Qk/ygnKR4ThkOuM6WGspFwNqD/6YMR3MABWxPn/gk6Aq9kiA3BwZrUd/ymvaMiL3GvsPhqEAZE7DmDymLVo+HMKizXu871FDe2XWV56Si/++A4QpAFlthk75gDZaE9WW0e97Psfiqfq8Vh5Be3bir8kABk6eSGetGeCA55SxdLOUQG4Ie/64QHbxR0JuDrI27/HJ603LveuPQVNPeteVoyvIoYzx41RQHiClRjcvOhTuI0tMaf3aZ3z+xVd8OedzXmmsbR02C1r37qQZDVfGEB6eivZf53MyaIZH77qazn/MaXyLvylOnszv+NfojudTHf8KKq/i6LOePfd9F5J2hl1HIlEipUavEXg+O1tTn+kWBKHKklk3pOfrH7Nw8yH2bvqej17qhou1HGV6JBf3rOSLtwcy5K2PWb7jHPczyteqG9Tux+SvPqCjzePp3dkk3r3JlXOnOXXqDBf9Q4lJzx8MkJji+tLnfPZ68yLBdmVGBpn547sSuUHp+5VPjlWRlZlVwsGloErlypppfL33LrkSc9zeXcj8N5qifdsjA5p59noyeHTax7/YwSPl/eP43VIAUmp09aCdrn2USmrD9aRq9/kFQRD0owr1YbOJCbrMlcul+39wbJleSwrJI+TCZRJUgKwufQa20f0JiUU7OjYr3fC0SSM3GmldXEBOnSau+YGCbJIfFd6+V8Gdsxc02wPLnOg5oIPuF2CpHT3d22EGqBLOczqg4NEqq10fR0PNOQMOb+d6spYOjNSKRt360rdff7w6Opf5M5ryMm03iH6O2ofdFHfOcjFKCchw7DmQ9rozgho9PWmryQgunCqYoaIIP8elWM15avfqi5uu9dTlLgyZMINxY8fxwZudsMt9nGdPl0uvfq11dHgAaS08+rXX5GW6P39f0jGGZdqeAf2cikxNf0xx+wLX4lWADKde/Wip88IWtG3vhrZb1Feeogjl4rV4VIDMqTd9dScK83YdaKZ7HXvt9HktRQR/X9TM1JI59qK/7gxAWqMX7poMIOHCKQK0DLaCKe0G9EfHz7lk8sZ49HF+EuQ4USTIoST25Elu5gLSmnT3bP/0b1DmSPtBw/H2Hs5QdzetgUgAqYUl5vl/n5OVVYrPnMtLjqunh2ZtEy0zx5SxfpzS3BR2Pbye7vhXWHkVpc969tz3/YSK2L92cDJBDfK69BvRtciLoX7TLQhC1WeAbVNP3vp0BdsO7mf9nPEM6VgXc1nBrKuXB3ozYd4+zUBPqWURtvNT3v5wGecTNX0fuWUdmrbvheeAIQwZMpi+vbvQor4NRhJAnUnItum8NX4Nlx89079Uq577uaJUPe9QShYhv8/ks403yVAb0+DleSz8sC2WJbztGDTxpHc9zcBl7GkfruU8e4SSyBO+BCsAaU26ebXTsaNiyW24vlT1Pr8gCII+VJ0gu8SKZv0H0ap6aWJoKhKu7OPorbRyPByzuHs3VjM7y9iFRi4lLV9phLW1GVIyS5iRIMXMylJrAAJAYmWJuQQSAJWy8NlyCAuL1KRJYkRa0G52hOtOlephLiZSSFfFE3E7EdrX0qTCrh9vDN7KtT/vkX51LR8OO0DzTl1o17I5zdxa0LxxHawqdlddHeQ4t2yls+OQE3abSAWABKO0IPbuCNN9StVDcjQZQfyd2ySpOmAvheyIcM36ZBhRv1GDEhYplWHf+VVGdy6SmoJyMXTGtWHJGWfWqBG15X6EKLK4c/se9G9e/BWdW9JSR0Zk34l4kn7nxg1LXGTVsJo15lJ4dhNE0F+ekn2HOw/yF1t1dqVByYnCSluiSqLPa+WEERaZ34M3SuPW3j/QXb3UPMw1QUo6qvhwbiepaG9fTFnJXWjRsoTdFEskx8XDnYa/hhKsiObM8RtMatOu4LMFZSwnT2oCHzKHXni21h12yEmKICT4DtGJKWTmKCn8+qCKDyWtwqZVPU3u4knvBr8QGqwg5owPAZPa0rbgpoj189PMJpM50NOzzdPBlIoqr2Los57Bc973Y4ow9u25RAZg1HwY3k2Lpkrf6RYE4V/EyJ6W/d+nZf/3mfHgMoc2LmP1npukpkdycb8vIdOG0KCUvfv0C8v5dOExohQgsWjKsMkz+WBgC2yLNCoqUsN82LR4EZsvxfPo6jq++NaRXxcM4fEeQhJDoydtkVpVhuCVWpl/rAQjw+dZO09B1IFZzFhxnkcqQFaDlj1a6VxE/gl5Y9x7OfNbeCjKh6c4fnUqHTsXGglQ3uWEn2YJDplDTzxb6XgWl6IN15eq3ecXBEHQj6oTsJJa03rEZCa3LE3LmsfVRSfxuZVW9s8ClWmkpmv+ldTUHItSzI6QlG6vX6SSEp6KElnxL7eqFJJT8lchUNzmwNLvOFCqK2pkZWYW+i9LukxbzcJqi1nx+ynC06Lw9/kDf58/NGk0rk7thm60bNeF3v3708XZshKn2RlTy8lOR1BPRcqjlPz1GBSEHVjMgjJkhDozI383MRWpj1I1a3tJzbAwL+fPvFC5SMysCq2fo53U0ip/JE1F6qNHWo8zqVWbmlozQkVqchnTL5FQ/K9UX3kKqtRkUjWJwtTSohSNhwRp6apOEfq8lirlEY+rlzJsP0vn7y9DSrLIzNDS7TauhZP2Qiw1eX1P+jReR3CggtizxwmY3O5JkEMZ58dJTYQDp15etCi2L6/g4eXf+fGnbRy/Hk1Geb+V1id5fTzcm/BzcACKmDOcuDGVtu2e3BQn82fuyZx64/nMTVVYeRWhz3qW7znu+8kdXNnBwVAFSKzo4j2omBl8FZBuQRD+XfISCDp5gH0HDuBzPpzU/GC01MwUk9JWdlU0Bzfs0aznKq/HS/NXM6OjtkEYKZYNvJi4rC6m40ez5nomSad/YXtgf6bk99ulFtaa4IgC1FmZZKjApBQdTHVmJllqAAnm1sXvpFeKs/DozPcs+u4YsY9nmCnvs2/ZBvr/OkmzfpNOchp49KbBxlBCFPGc8blMVufuT2Y0K+4c52SoZikRh+6eWp7FGiW34fpUlfv8giAI+lF1AlaVRSJBmt9aq1UqlBX3XUyZPFnXXWaGjZ1l8QtDFssAW/NnnoYGDnT9YDGdR0Vz44wv565cJzAomJDwKFKyk7gXcIp7AafYt2kNjQdNZdbHQ2lQGYvySk0wMy3hya1W54+0yTCztcOyDCNDclvzQsEwdcHo3nO8qT0ul/KcQq11sX4pJmamOjoN6vz/6Yme8lSt1mOaSqDfaxWcS2Zmi13ZMoBnq9djUhOzggXgn4esDp4ezVkfeI3c6NOFghwq4k76aT4HlNWll4dbMTNpFNzf9xnj5/kUdNKRY2JdDUtj+dNBPEU68fFplOlrkXKTUdvTA7d1AfjnRnPW9waT22lmjqnifDmVH4Sr29uLZkVuqmLKqyg91zPg+e4bUCXht/MoMSqQOngxondxaxlWRLoFQaj6FDwKPc3hffs4dOwsIYmPl1s3xKZxN/oN8WbYgC7UK+33v5nXuBykWV5D3nw4b7QrxYxhI1deebUrW24cI1X5gKuXIqGli+bv5LVwsJPBPSXqhFjilJRqdlPmw4ekqACMsHeoWcrEP0396DiLv35EUo4Eq7bj+LjjReavuUx62O8s3dyXdWNcS5yJKnf2pHejnwkJUpB41odLWd3pYQKg4O4JP80mNLLa9PRsrv1cpWrD9ayq9vkFQRD05MULWEmrYVPdGEhHnZ5IUhboXtxDjVKprNiXA6kFVlZyQAEmXZn+5wI89fAwkZo60MrrDVp5vaH5g9wk7gZdx//yOfz+Osy5OykE753LDFl1fvu8Oxa6T6cHcuQ6ewxSLKytMACUmNBl+k7meepeu0j7eTQ74ClVGaSnKaAMIcCC0xSUiyozjfRSzFxRpafm774ixdJay371gFxnRsiwtLIoSH96KdKvNcCjrzwFmaU1FnJAoSIzLZ2SU6VGVc6Ko89rSS3yZ8cpwLjLx/zxnZeOtSfKQG5QYge4dGQ49PGg+ZprXMmJ4eyJ/CCHKpZTJwM0Gwe4eODZuGhzrUo4xA/LjmuCVQYOdH37I94f0ZtmNYo2aoqglYwa/TPhlROxQubggXuL1fhfztF8Hje5HW0NVcSd8tPsnCR3oY9n4yIPoQorr6Ip1GM9K3TWct43gPLBQXb/naLZBn3gCNoWW1UrJt2CIFRNytRwzh/Zx/6DhzkTFE9OfmWWmdehjftghnoPpbdbjTL3cpTJCTzKBZBgVssJ21IG+42d6lBDBqkKFcmJSUB+wMrABVdnE7iXjjImhJAUFc1KjFjlEhocrhlIkdfD1bV8q+2ps5NIQoJ58zF8v/A92pj04MGpd1gTmE3Q5kX86bGWkfVKuEFZPdx7N2F9UACKxLOcuJBJj16moIjgxKnbmnUV6/TCo4n2J3/p2vCKUfX6/IIgCPrxAs4MNcTVtV7+bn3BXPPP0H246hEPolMruLNvgrOzZktdsu8SEVlBb5SG1anXqjfDxnzOsq2bmNzeHAkKHhzdw5nUZw8u9AlJJb7smDi74CgHyOZeeGS5Z4MY13POn4adw53b4SVs+6wk+vhq5nz9P76ZvZTDdx9HpgqVS84dboeXvHl0dlgYUflry9R1qVfO1INx3XrY56c/IrSk9ENucjLpWtan0VeeYlyXuppEkRMRQkTJiSJFW6Iq81omLrhoMoDse+FUVPV6HlL7Pri3MgZUxJz14UYuqOJO4heQA8hp1MdTs5j3MzIv+nE5VQ3Iafz2Er4f26/YYBVQinqs5zovtaeXe2uMAVXMGY7fyAVVLKf88oNwDd1xL+6mKrG89FnPnijvfZNH0J493MgGzNrjPbSh1hGlikh3wZfvarRODhUEoXKoMrh/YServ3yXYQNfZsr3mzh+M54ctSG2TdwZNXMl2w7sZvVXY+hbjmAVgMTUFGMJgJrczMxS9w1UmQU70xmbFh5OMKNNh/wNHnIC+Pt8csm70ebe5MzFxxustKWdU3m/n5Ng2vgN5i0eSxtLKRi4MnLa6zQ0AHX6FX75YR8xJQ46yqjt4U5TA0CdxLnj50gHFOHHORmmAOTU7+OJq9Z4Venb8OLpua9dpj6/IAhC1fUCBqxkOHXvTiM5oE7k5B/7idLxEMuLOMDhgJIDFc9HToNOHTQvIIoI/HxCSngBScV3zlA8evfAvd8UdsU+7hLkEbD6DTx796CPxzusD9HR/TCoQ6e2dTQ/gOxYohOezQQJxsaaF19VZhpplfSSL2/QiXaajCDc7xihJWR9qu83DHfvQZ8+XkzfGfOkc2TQqBNt7KSAkki/owQV2fGlEOV9fLZuZN+B/Rw4FkGOxeM3t0LloryHn89NdJ0GVQK+xy6SCWDcnI7ttW00XzKDRu3zNyBQcv/kX9zUeeE0rlwM1Jo2feUpBo1o10ozvV1534+juhNF+pULJaRbB31eS96Qju3tNTvxRfjiU2IGnGCOdy/69O5J/2k7iK2MhaqldvT2aIcpmiDHiRtZxJ30zZ+R04Q+HvWL6fgqSU5IIhtAWo1GbvV1vrTkxESTqLPDru86L8WutydtNDfF3yeukx13Ej/NTdHE3ZP6xfXmK7G89FnPCpTzvtPPsuvQXZRIsOkxAi8dC8dXRLqlxsaa348qk9TUKhjVFYQXgCo1mCM//o+xw/vx0oS5bDjiT2yWGpl5HToMm8DcjQfZ99siJr/clXrmz9eFl1o0pEH+iuk5gee4WKogRi63z18mTgVITKjfsPDAnBTb3l60NwfU6ZzfuZs7OpsSFYm+2zh6XwnIcXbvS3nXJ5dY9WDaoql0LrRxk3GLd5niXQcZalLOrmHl8YQSA2gyB3fcmxsCah6d8+F8Wh7hvn6amclyF3q5N9IehCpDG14sRV6RnWUBVFrXLtFnn18QBKHqegEDViB39ubV7tWQoCb90iq+WnORpGKeYopYP5b+7+fyv3SXgWFLb4Y0MQIUhP+xlK0hWVqPTb38Ez8eiiQlLR1V4x50sXtcjDIcHaqTnZZGWnIgh/dezf88rTjZRD2I14zmSMywsHh2lSY59rVqaGYXZQVy8Wrac91fqRm2YtiQJhgByvDt/LAlRPNCXpzUS6z/8SD3U9JIV7nSrWvNgh+0YWuGDGyg+Wzm3i6W/xZE8TmqJPrwCn4PyAUkWHb0onu1gmpRUC5K7u1awsZAbTPyVMSf+IF1Z9JQI8W21wi87J6jehl3YHDfOpqX9nu7+GFjIJlaDs3w38h6n3jtHTF95SkmtB/Uj9qaTGXPsg3c1J4oNq07Rny5gz36vJYhLYcNpbERoAjjz2WbCdGeAVxev4bD91NIS1fh2r0bz1OMpSelek9P2pkDqhjO+vjim/85oKGbBx61ixt1lmFuaa7pPKtSiY7S0RnPDWPXjjOk6hy+1X+dl1bvhUd7c0BFzBkffE/4EZANGDbH3aOOlg0YKrG89FnPCin7fat4eGwnvvEqkNWh34gSPteogHTL7GtRQ1P43Lx0RcezQxCEiqIM28faX/ZzJSodFYbYNvXgzU9Xsf3gblZ9OYa+zWz19Ck6YNAMzz71kQGqhL9YucyHWJ1xDBWp19ax6M8IlIDUpif9ujzdUklt+/HGIE3blBO4kYU6+hvK6MMsXH6cRDVIrLrx2ojiP5UuDYlpTRyK7DJuQbsPpjDAXgaqeI6vXM3ZlBJOJHOgd58WGAHqlHOcOHOd436a+5U17IO7s7YUlrENL+4MKY9Ifjb/VSmE3I7S0n7rs88vCIJQdb2QASukNeg3dRp97GSgTifw1wmMHP05q37fz4nTpznts5fNyz7mnVEf82doDjJ5JWSTvCGvTX6dRsaa6ctrJn3E0kOBJBWeXJD7kOu75/LRx1sJzwNMmzHyg0EUDOJIse4xkO7VJYCSyB2fMnXpQW4lPTNDITuGK1u/ZukRzUuMUbOudCjyoDegQfs2mgUzVbEcnDuJeRv34Xv2HBcDoyomDwCQ0+C1qbyqyQiurpnA5KUHufl0RhDvv4t5E6ezLSwPMKXpG2MZ+NRolgFNXp/EsDpyIJMb66cwbeUxwlIL9Qayoji3cSYffXeCBBVg4sbIMf2wKXyaQuVCZgA/TxnP9/tukFBoGEyVeZ+zmz5l3NcHiFGCpHp3xo7tg/Vz/WwMaT5qHB52UiCLwPWTmbz0IMGPCo2gKZK4eWABH83YQLDWF3rQX56CYYs3+dDDDimQFbiOaZMWcyg4qdCnBAqSbu5j4cSpbNSdqJJzQI/XkjcYyeTXGmGEmvSrq5g8aTGHbiY9NZMxN96f3fPG88nvYWiq1yg+GGhfaY2ktHoPPNpbIEFFrM8yfruWDRjTwsMDBy1fSVi0aq8J7JDDlZ//xyqfcFKf6vDmEh+4j2WTxrPqcnoJnxtUQJ2XVqe7RwcsJKCKPcaK366SAxi18MRd201RmeWlz3r2HPetiGDfrvOabdDdvBnWvKQPfPSfboMGHWhdQwqoiDs4mynzfuWA7xkuXAwgSls0TBAEPZPkz6aayLebDrJv00ImvdSFumYV8SQyoMkbExnkpFk0MHLfZ4wev4CdFyOLrNmZEx/AkbUzeHfSegIz1CCpTtexH9KjyERyE9q8N53BteWgTuPK6glMWnqQW0mF2iZlKuF+a5kxdjbH45Qgsabjh5MZUAGjQ1Lrnoyb2AcbKSij97N8/WWtwf38f0HNXh6aXQXVqfy9cRFH72g+B2zc26P42bFQjja8KHVmIFcCCw+tKok5toT1Zx4/u/PIzS38FNdnn18QBKHqevEWXc8ncxjErB9ykH26iKP3skkMPMyvgYefOcoIR49pjJCuY8XRRxW+jpNp6/HM++wh0+YdIjLxClv/9ybbv7fDqZYNJmSQ+CCa+Mz8h75RHfp/+i3vNn36oSit7smkj/8m+H/7uZ/3CP8tX/LW9nnY1nLA1twQdXYKcTExJGdrxmskFq0ZPeUViluL0rjDW7zX1Y/5pxNRJvize4U/uwGZ6wec3zKuAjOiDWO/+4L4qXM5HJnI1S1f8s72+dg5OlDdBDITo3gQn4mmP2VEnf6fM+fdZkU/h7LqyuT504mbspjTD+O5/OsnjPzdGgfHmpjLski4H0Vifj5gVIcBn8/j7cZFxy6fKpfkG/w5+212LamBk70Nxup0Hj54wKNsza9DatWKd+d9zeByr8NQQGrrwcezb/Ngxs8Epifhv+VL3ty+AHunWlgZ5pEcfZ+4dAVILGgxtAtZB//itrYZ4frKU2kN3D/+lrCoqWwITCfJfzOzRm1jkX1talkbkPsomvtx6SiRYNFiGJ2zDnBUa6JKygB9XsuU1mO/57OHk/jucCSJVzcz6+1tfG/niEN1U8hM4EF0PAXVawAz57xH0/IsDFJu1nT16oyl31FSkuNJADBpjUcf7UEYWb3hjHvlEFN+CyX70RU2ffoSW81r4lirOqayPNLjHxCdmIUSQ+r26Y3xKV90fTVQEXXeumtfOln5ciz5EfGam6K1hzs1dfaXK6+89FrPynnfOf47OBCqAIklnb0HUacUzYfe023ckTff68ap706RqEjg+q4fuL4LkLsyZtNmPmz0wnYXBKHSyFxH89P+6djoZQvakkmr9WTGos/I+mQhRyOzib+yjflXtrHQvAaO9jaYylVkp8QRHZvCk1iJ3I7OYxfwzbDaxc6SlVbrwbT5U0mYupQzDxO5tuVL3to+n5q1nahmkE1yXDRxKbn5s33MafLGXL5+qV4FvZBIqeE5mQ8OX2T+2RTu7lrMpr6/MtZN++LuUrveuLf+gYvnssgICyEDwKAZfdzrapkVXL42vAhlFHvnfY39hJdpaZVO2Olt/HbKlJff6caP68+QpQzjzNEAurSOYMeBLLxnvkFDPfb5BUEQqqoXOsRu0nAE327expIpr9CzeR1szA2RyY0wr+5Ek27ejFuwhS3zh1PHIP8pLanoKbQG1B04h59//ILhbewxkoAy/SH3bt8i+HakJlglMaZmK28+Xr2BWQPqFPOAl2HvOYsfV0xlgFsNjCSAIpOE+2EE3woi5M4DzYNLaopjh5HM+mkFo920bGMiq4P3vHXM/3AQbV3sMDeUIZEbYWZW8fvhGtQdxNe/rOOzEW2paSwBRToP74USHBxKZHwmSiQY1WzN0E/Wsu7rgZpPx4ph3Og1vv9lBRO8GmMtB3VOMg8iQgi5HakJVkmMsW8zgk9/3MSs/k5aOkzFlUs898I02wY/ylaD3AKXXh+w4Ne1jG1nraeKJcWq3QRWrZ/D6+1r5ZdlGrF3QwkJvUNcugK5bXOGfbGWJaMalrjoqr7yVGrVjnGrN/D16x2oZSwBFKTF3iE0OJS7ceko5ba4DfuSVUvfpEH5NvypmGsZ1GXgNxtZ+9lLtLE3RoKCjIf3uB18i9uRmuCHxLgmrYZ9yqr1sxmgLQMqkGXnvnStVtDOmLX1pKfOXZYsaPvRGlbOGEIzW80vQJEex73bt7gVHMb9xCxUpnXoNmYRyye1wbSkBFREnbfsjGeXagULupu1xaOXbcl1pNLKS7/1rOz3nYzfjqNEK0Fa0wNvd5tSth/6TreM2t7zWbtgLAPauWBnbohMIsfI1Bxj8XIjCJVCamZTacGqx4wbDGfOxl+Z8647jfOfI8r0eCLDggkODuVuTH6wSm5J/a4j+eynrSx9p5XOT95MXEey8JcVfNSvKdUNAEU6cXeCCQ69S2xKLmqkmNXpyqg5v7J2StenZ7brm8yRIVNG09oMyAlm69KthOkK3ktt6eHeDrNCf2To5k4frQOR5W3DC5GYUcPOHEXkUVbMfJ8xYz/h5yAXJiyfz+uvDKOPvRzU6VxZ9S6vTdpMultHahuAXvv8giAIVZRErdbPfkBRUdHExj3Ux6mqmFT2TvFi7pkcJNUHc/Ho7Eq6rpK0+9e57B/C/fh0FFJjLGydaNS8LW51LbWO8hQ5R1Qg/oFhRMU9Ij1HidTQnGr2dXBt2ZYmtUz/FRFLZVokNy77E3r/Iel5MowtbXFq2ILWzetiWYYXqZyEYK5cDuBObDI5GGNu64Rr87Y0q2tZhpG9Z8vFBGv7ejRp254m2nZn0wslKXevcck/hAeJGSgNrbCv35IO7RtjW47L6itPlSl38L90jdCoJDJUBljZO9O8QwcalydRlXktZRr3b1zCP+Q+8el5yIwtsHVyxa1Nc+qWJQOqEkUSEf5XCQx7QGJ6DmoDc2xqN6ZVu5b/3nt6rNLKS7/1rPL8W9MtCP9NjRq6YGpqgv/1wH86KWWjTCP61g0CwyKJe5ROtlKCkak1NRxdaNLSjXrWZV9BKzcpjOtXbxAWlUi6QoqptT11GrembVMHKjk2VwVlsH9qb2afrYb34nUMyPibG7EKrBt1pU+X+pjnH5UXe41jJ64SL61Fi569aV2ruKDTf6PPLwjCi6u5WxOMjIp2XF/IgFXu5R/4YN5xUlQSzLtOZ83HPZ48FIpIO87/XvqYw4lqZM0ncX7Du5WZVEEQBEEQBOFf5F8bsBIqWX7A6rSEzl8cZrl39X86QYIgCP8YbQGrFzLYLq9fH5ukKKKiIgne/QMrTz2k2I1RlA85uUYFiHgAAAIwSURBVGI1xxPVgAGu3XpUckoFQRAEQRAEQfjvUhIVcZe8kg8UBEF44byQq6hKbfoy+vU/uLTuJlm5Eez85HVu9hqAe/sm1KlhgYEynYTIIC4cO4RfcBJKQF5nGB++7PJPJ10QBEEQBEEQhP8MJTEhQcSr2uDwQk4lEARB0O6FDFiBEc3GLGFe3hfM23yZeEUSwT6bCfYp7lgJpvUHMH3BdLoU2b5XEARBEARBEASh/FSx94lWgEOl7k4sCIJQ9b2gAStAZke3iev4Y+ApDu4/yt9XbxH+4CGpGdnkYoi5tR2ODZrToecgvAd1wEEsXCsIgiAIgiAIgl7IcWztRV8bJ3qNfIt2IlglCIJQxAu56LogCIIgCIIgVASx6LogCIIglI1YdF0QBEEQBEEQBEEQBEH4VxABK0EQBEEQBEEQBEEQBKFKEQErQRAEQRAEQRAEQRAEoUoRAStBEARBEARBEARBEAShShEBK0EQBEEQBEEQBEEQBKFKEQErQRAEQRAEQRAEQRAEoUqR6+tEpqam2NpU19fpBEEQBEEQBOFfx8DAAIlEIvrFgiAIglBKUmnxc6kkarVaXclpEQRBEARBEARBEARBEAStxCeBgiAIgiAIgiAIgiAIQpUiAlaCIAiCIAiCIAiCIAhClSICVoIgCIIgCIIgCIIgCEKVIgJWgiAIgiAIgiAIgiAIQpUiAlaCIAiCIAiCIAiCIAhClSICVoIgCIIgCIIgCIIgCEKV8n/DMM9Mkzztk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9" name="AutoShape 4" descr="data:image/png;base64,iVBORw0KGgoAAAANSUhEUgAABKwAAAD6CAYAAACMP9+wAAAgAElEQVR4nOydZZQUR9uGr3FbwV0Xd3d3d3cIBCeEEDSQhBACAQKBYIGgwd3d3YK7u9vauHw/ZreZYWeNIJvvresczmFnqrura6qrq+56ROZyuVwIBAKBQCAQCAQCgUAgEAgECQT5566AQCAQCAQCgUAgEAgEAoFA4IkQrAQCgUAgEAgEAoFAIBAIBAkKIVgJBAKBQCAQCAQCgUAgEAgSFEKwEggEAoFAIBAIBAKBQCAQJCiEYCUQCAQCgUAgEAgEAoFAIEhQCMFKIBAIBAKBQCAQCAQCgUCQoBCClUAgEAgEAoFAIBAIBAKBIEEhBCuBQCAQCAQCgUAgEAgEAkGCQghWAoFAIBAIBAKBQCAQCASCBIUQrAQCgUAgEAgEAoFAIBAIBAkKIVgJBAKBQCAQCAQCgUAgEAgSFEKwEggEAoFAIBAIBAKBQCAQJCiEYCUQCAQCgUAgEAgEAoFAIEhQKD/UieYu28LKTfs+1OkEAoFAIBAIBIL/HKMGdiFL5jS07PHT566KQCAQCAT/CWaPH0iqFEmifP7BBKvrtx+wfd+JD3U6gUAgEAgEAoHgP0f/rs3JaE8p5sUCgUAgEMQRk9ni83PhEigQCAQCgUAgEAgEAoFAIEhQCMFKIBAIBAKBQCAQCAQCgUCQoBCClUAgEAgEAoFAIBAIBAKBIEEhBCuBQCAQCAQCgUAgEAgEAkGCQghWAoFAIBAIBAKBQCAQCASCBIUQrAQCgUAgEAgEAoFAIBAIBAkKIVgJBAKBQCAQCAQCgUAgEAgSFEKwEggEAoFAIBAIBAKBQCAQJCiEYCUQCAQCgUAgEAgEAoFAIEhQKD93Bd4lS8Y0FMmfg3y5gkgUYMBud/DwyQvOX7nNmYvXefr89eeu4gdhzV8jKVeyAEqFgukL1jJk9KzPWp/RQ76kR/uG2B0ODhw9S6Muwz9rfWIif64g9q6chNliRSGXU7R2N+4/ehbn43VaDX4GXazlbHY7wSHhuFyuf1Pd/yxZMqbh6Mbp2Gx21CoVZRr24urN+5+7WnEiX84gBvZsRdVyhdHrtMjlch48fk6uCu0/d9USBBqNigA/AwDhRjNGk/m9jzeazIQb43d8bPTv1oLv+7XHZLZy8+5DyjTo/UHP/79OxnQpqVS6ENmzpMeg12G1WLl9/wn7jpzh4rU7n7t6/wlqVCzOsuk/YDSZsdps5KnU8YM/B4L/XZIlCUQmk8VYxul0Em40Y7ZYP1GtEh4LJg2lTtVSyGUyFq/dRa+hEz93lQQCgUDwgUkwglW9aqUZPaQr6dMkx2534GfQIZe7DcBsNhtGkwWNRs2ZizcY8stMDp44/5lr/O8oWyI/gf7uBV/FUgU/c23cdTDotYC7bgmZnFkzolAoSJ40EUaTmUzpUsZLsHp+fh0ywOF0xlhOJpPhcrk4e/EG0/9ez5K1u/6nxKssmdKiUipJFOCH0WQmW+Z0/wnBqlKZQqz562d0WrU0hgBkzZT2M9YqYbFv1WSK5MuOyWxBpVKSLG/9eC22bx5aTKJAfzRqFRarDb9sNT9o/coWz4dep0Wv05Ikkf8HPff/KgqFnB7tGzC4dxv8DXqcTqeXcG8yW3A4nDidTmb8vZ5f/lgoBJgYKJg7C1qNGoNei93uIHGgv2gvwQehc6vazBjTH5PZEmtZpVLBk2ev2LzrKL9OWxKvudD/ByqUKkCAnx6AiqUKfObaCAQCgeBj8NkFK4VCzsyx39KkdnkMet9WLyqVikCVCoCShXOzccEYJs5awYgJ86I9b69OjcieOR0Af6/awcmzVz585d+haIGctGtSDYBrtx8wde6aaMtarTbp/3aH46PUx8+g4/t+HdCoVVhtdkb+voCQ0HCfZT3r4Fm3hEpkfa02+3sdr1ar4ly2ZJE85M0ZxKCerajW6luevfj/YeUXF2x2d/vaomnn+PSxT4FcLmfp1O8l8dXlchESZsTlcpEowO+z1SuhsXrzfnJny4hOqyE0zEiDGmVZvGZnnI4tWTg3ep0WjVqFw+Fk6bpdH7x+Tg8x2RLNeFSqSB5aNqgMwKVrd/hz4YYPXo//LwRlSM36eb+QNlXyaK1LdVqN9P/enRrTsUUtmn45nCP/XPpU1fwP4t7AsFj/f1q4dG5Vh/y5ggBYuWkfB46d+8w1+t8gRdLEOJ1Or2cyJtKnScEXLWvTrml1+v04lTlLN3/kGiYcPOeAdrvvuXSTOuUpX8ItZu08+A8bth/+JHUTCAQCwYfhswtWk0b0oWmdCuh17gVmaJgRtVrFoycvCA03olYpyZA2JXa7A71Oi1KpwKDX0u/LptjtdkZNXujzvL//+NaFJHGgP+37/vLR76Vv5ybSAgqIUbBSq1UYTWaUSgVO58ex2ilVJA99OzdBLpfjcDrZe/gMm3Yd8VnW6XRhtdmw2x3xEnP+64QbTdiimeTIAH8/PXK5HD+DjmyZ03FswzSK1u7Gy9chn7aiCZT49LFPQdni+VCqFADY7XYuXL3DqMl/ExwazpNnrz5bvRIai9fsZHhft3ukv5+eL1vXjbNg1a5pdfQ690LKaDIzb9nWj1bPmBjQoyX1qpWW/haClW9SJk/M/tV/kDxpoGRxGPmeffLsFcGhYeh1WjKkSYHZYiXA34Bep0Gv07D577FUaPIV5y7f+sx3IfgczBjzjfT/bJnTCcHqM2A0mXE4nNFahKtVKvQ6DSqVEpVKycQfe6FUKpgpxkOJiT/0JnXKpABUr1BMCFYCgUDwH+OzClZZM6WNWPy4xSqjycx3v/7FojU7vaw05HI5xQvmZOKI3uTOlhG9TotBr2Ngz1bMW76Vh09eRDm3w+FEoXBPzj+VG5fndWKzmirf+CuyB6UH4NT5ax+tTiFhRhIF+BEWZoyxXNs+oyicLzsA124lfLevD4XJbKVR52FRPpfJIFGgPw1rlKVF/UrotO4JYYpkiZk8si9teo/8DLVNmMS1j30KCufNhlYTIaaYLfQcMpETn8C68r/Gg8fPuXLzHgXzZAWgWIEcJEkUwKs3MQuxMpmM5vUqoVC4RUGL1fbZ3LM9rbD+l2O4xIRWo2bXsokkSeSPXC7HZrNjNJkZ+PMMVm89wJvgMK+y1coXZdJPfUiaOBC9zh3rb8fS3yhU/UsePY36nhX8/yYs3CRZ5MXmQi/4ODgcTkZMmMex05ejfKdSKiiQJxtd29QlQ9oUGPQ69Dot44Z1Z+ueY9x7+L/lHhgdnu+H/4IHgUAgEAi8+ayCVdO6FVBE7PiGhZsYPm420xesi1LO6XRy9NQlyjXqw8nNf5InR2YAZMhoWqcik2av/KT1/hBcvn6Xy9fvfu5qSNx/9Ox/LvYBwKOnLzh6KnqXly27jzF22hKOb5pBgL8BtVpF/WqlSZk88f+bBAD/n/Az6FAp3WKKWqni1r1Hn7lGCZeZCzcwbnh3DHoddoeDJrXLM2vxxhiPKV+yAHK5OxCwzWZn4artn6Kqgvekb5empE+THJVKidPp5OXrEIrW7upz7DJbrGzYcZjt+0+we/lECuTOikbtDq4/8cdetOgx4jPcgUDwv40jYv7rS7ACOHD8PFPmrmb6mG9o3bAKep0WlUrJN12b8/UPUz5xbQUCgUAg+PB8VsGqWIGcaDRqwL1TtGh1zC4pdruDr4ZPZsuicahVSnQ6DY1qlZMEq4Y1y5I/VxYAyboKoHblknzfr4P09/wVW7n74GmU85ctlo+mdStQu3JJ0qZKhlwhx253cPPOQ5at38Oqzfu4duuB1zFBGVLTtkl1AGpVKiF9rlQovK55+sJ1Nux4a4Zcv3oZybph14F/OHTyQpT6KJUKmtapQNc29ciTIzM6rRqXy4XJbOXy9bvMW76F5Rv2egXmVCjk9O3cBD+DnrLF8iGPyDIjk8no3705RfK7rajCjSYmzV4l+fyXLZaPymUL+6zru+TLGcQXLWtRt2pp0qRKhlwu401wGCfPXmHeim2s3rw/Vqu2/LmCaFG/MvWqlyZz+tSolErsDgePnrxgxca9rNq8j1Pnr8d4jk/FzbuPmDBzBYN6tUKn1WC126lYqiDL1u/xWT5LxjR80bI29aqVJihjGhQKOVarjVPnrzN7ySbWbT9EaCzWSOnTpKBL6zq0bFCZZIkDUatV2Gx2QsKMbNt7nHnLt0QbW6ZF/UrkyJIBgI07D0fbjhqNiq87N0WjUWO325k8ZzVh4aZY2+N9+1gkObNmoFvb+jSsUYbAQD9USiUWq403wWGs2XqAecu2xCtTWcrkienaph4ymYyOzWtKmZW0WjVDv2pLcIjbWvPO/ScsWLkNgCSJAujVsSEymYxnL14z4+/1GPRa6lYtRb1qZUieNJDQMCPf/fpXlEDzGo2Kto2r0bROBYoXzIVer8XpcHLv0TM27TrCvGVbuXD1drT1zZsjM41rlwfc1pXHTl9mWN921KtWmtQpkuJ0Orl66z7zV2xl+oL10o5wwTxZGdy7DZVKFyLAX4/NZufMxRtMnLWC9dsP4XDEzwJi5aZ9TPixFwAGvY4v29SNVbDq2KwGfhGxBq02GwtW+hasdFoN7ZtWp0mdChQtkAOdVoPT4eTOgyds2nWU2Us2vVcA/+xB6WjZoAoAVcoWkT7XatRe4+3Jc1fZvOtolOPz5shMywaVqVe9DEEZ3o47j5++ZNXmfazcuI+T567GWo+UyRPTvV19GtUsR7bM6ZDJZZjMFk6evcrEWSvYuuc4nVvVJm2q5DidTv6Yu1rqh+/iZ9DRsXktmtQuR6G82dBo1DgcTu49fMr8FVtZum63z/dVbKjVKgb2aClZMFusNqq2/CZWod1isVG73SAu711A8qSJUCoV1KpcgozpUnL3wVP0OrdLfqSV3frthzhz8Ua058uUPhXtmlRHJpMhl8uZPHuVT0u+EoVy0b5pDWpWKk7qFEmRyWQYTWb2HD7NvOVb2bbvRLSx9N59pjbuPEKqFEloWKMs1SsUw6DX8vDJC74aPtlrjEsU6EfHZjXp2Lwm6VInjxgLHRhNZg6eOM+85VvZuud4nKy0FQo5XdvWo1OLWuTOlhG1WoXFYuPg8XNMW7COrXuOe1kFRkehvNno0KwGtSqXIF3qFMjlMsKNZo7+c5EVG/eyaM3OaGP1eKJUKmjTqCpN61akVOHcGAw6nE4XDx8/Z8ueY8xbvpXTF6K+G2pVLkGxAjkBvOKdlS9RwOsZW7Z+938iCcf/CoNG/Unrhu6xUaVUUrtyyWgFK4VCTqsGVWhWtyKli+bFz0+H0+nkxctglq7fzaLVO2J1A5bL5TSsWZaubepRME9W9BHxtkwWCzduP2Te8q0sWbfL55wiXerkdGpRC5lMxsvXwUydtzba61QpW4QyxfICcOjEBXYd/CdO7eE5p82cIbX0ee7smbz68eZdR+M05gsEAoHg8yFzfSB/uaFjZjFu+tJ4HbPizxE0rFkWcGcoKlitM7fuPY7xGIVCzsI/hpE6RRJUKiWrNu1jwswVABhvbEOlil2D+2nifEb+vkD6299Pz9+Tv6NCqQLotRqvzGKRWCxWHE4XY6YuYvQfi6TPfxn8JQN6tIz1mkaTmcCcdaS/g69sluLAnDx7hVL1e3mVzx6Ujk0LfiVpkgD8DXqf5wwLN2Gx2mje/Uf2Hz0LuBe1Jzb/GWt9AErU7S6JGcc3zaBQ3mzSeRPnrhulvEIhZ8KPvejYrCYatdpLFIwkNNzI0+evqdNukM/fUqlUMOmnPrRtXA21SoUywhrGE5vdjtVqZ9n63fQYMjHKJL95vUpMH/MNAX563oSE0bjzMA4cj7tbUtj1rWgi4nSdu3yTIjW7xnpMqSK5WT9vtBS4e9yMpQwdPcurjEwmY9SgLvTu1AiVUunz3kLDjNgdDpp1+5F9R874vFaPDg0YM6QbCoVcqqcnTqcTo9nC4RMXaN17ZJSFsO3u2yDYm3YdpeEX3/m8TsXSBdm+eDwymQyn00mLHiNYu/Wg9H31CsVYNGUYiQL8CA4Jo2O/MWzceeS9+5hMJuOXwV3o2aFhtL+93e7AarOxYuNeen33OxZL7Ob7vTs14rfve/p8bt9FldE9oe/YvCZ//tpfOqZO+8HM/30IGrUK/4iMQ06nk+/HzeHXaUuk48sWy8fSGT/gp9dJgd09cTqdmC02Fq7aTt8f/vC5sFwwaSitIhYWAG+Cw9DrNFFix4UbzTx59ooyDXvRrmkNRvTviE6riZLqPDTcyM07j6jS4pt4B7zfufQ3KkRkKTWbLeQo3z5a1y+FQs6L8+ulRezdB0/JWqZ1lHKVyxZm8ZRhaDUan23kcDiw2uz8tXgT346c7nMRv2rWT9SvXsZdL4sV/+y1APh9RG96dWwU6329fhNKigINveo+4YdedGxeM8a+Z7FaWbV5P10Hjo9WAGzTuBpTR/VFpVT6jPcXFm7ixp2H0oaE0+mk0ze/+owRVqdKKeb9Phi1SikJS56YLRZcLhj9xyJGT1kU5fuYaFCjLHMmDCLAT4/d7mDBym10G/RbnI/v0qoO44b3wM+gw2qzM276En78bR7Jkybi0alVUrlzl25SpFb0Y+jyGT/SqFY56e/8Vb/wsi72M+iYO2EQ1coXi5LZM5KQMCMvXwVTu90gbtx5GOV7z2cqLNxIr+8mMe2XfshkSO1qs9mp1W6QNO7WqFicxVOGoVQqfLY9uMfr+4+e0eCL77hz/4nXd4N6tmLEt51QKBTYHQ5evQnFoNP4TB4TGmbkys171GwzMNpnVKtRM33MNzSuVQ6txnc7hIWbeBMSRvNuP8bo6lysQE5WzPyRQH8/n0H23eOUldWb99NjyEQvl6knZ9aQNHFAtOeOZPqCdXw1fHKs5f5X2bZoHIXyZSNF/oaxF36HIb3b8GP/jsjlct6EhFG3/eBoLaw8Ob39L/JGeCA4nU40matFKVMobzZWzhxBkkQBPvuGzW7HZrOzessBug4c71MkzpA2BZsWjCFt6uTRzk/DjWYcDgdtvxrFlt3HvL4b3Ks1Pw34QnqXZSrRwmdoD4AbhxeTMW1KAO4+fErW0t7vnOuHFpEpXSrAnXyjQLXOAJzYPIOCebL5PKcnOw/8Q622A2MtJxAIBIKPz7UDC702GSKJfYX3ETl+5jKWiImSQi7nr/EDSZk8cYzHOBxOWvX8iYpNv6ZMg96SWOX5vcPh8FoERX7mcDh87pRumPcLVcsVxk+vQy53W8MEh4QRHBpOcGiY+8WvUaPXaRjUs7WXQOVyuXC5XBHnf3tNp/PtNR0OJ+9e1mh6m/763XhXyZMm4uDaKWRIm0JKPx4cGk5ImJGQ0HBCQsNxuVz4GXQkTRzA+nm/SDuikfcXeW3vtnF4fe5ZJ89JiWfdPJkzYRAdm9VEr9OiUMix2+28CQnjTUiYZOXlb9ATlCE1Jzb/SZ7smaKcY+qor2nbuLoUQN9ud/Amoq3fhIThcDhQKZUY9Fpa1K/MrHHf+qzLp+bdxavCx2Jixphv6NmhITqtBqVSgcvlku4rNNxtUeXvpydxoD/r546idpWSUc7RpXUdRg/uil6nQaNWYbZYCA4NJzTMSHBEO8vlcvz0OiqUKsjeFb9HWdh4Lj5csezoB0csnkLjYFklnfM9+9iYoV3p0b6h9NsbTWZ3f464N4vVJi0em9erxLLpP7xHfaJ7BqMKR0YPy8QN834hWZJASazyRaki7gylKZMlloSYyAXkm5Aw7HYHcrkcvU5D2ybVWTrNd/3fHYMCAwwolQr3mBMShtnirpdBryV92uQ8ObOGEf07otdp3X0q4nqRY6e/QU+ubBnZNH90XJrLi1mLN0rWfi6gZcPK0ZatWq6oNK6aLVbmLIuaiapi6YKs+WskSRMHRmmj4JCwiNiCCnRaDZ1b1WbuxEHxrnNs463T6eTdUf73EX3o2Lymz3EnOGLccSf00NG0TgXmThjs89rN6lZk2i9fY9DrJLEqJMwo9QGHw4GfQUfubBmlY8KNvsfTulVLsXiqWxCOFEyktop472g1GnRaDYN6tWLKz33j1U7liufDT/82PuS85VvidfzS9bule1SrlFQp47ZWeP7yjZcbdfYs6UmdIqnPc6jVKmpULC79ffveYy+xSq1WsW3xOGpVKoFBr0Uul0u/zZuQMOldFOCnJ2O6lBzdMI1cHm0biecz5WfQM310Pwx6rZcQ5RmDqUzRvCyb/kNEgHktVpuN4JCIcTY0nHCjezz099OTI0sGjqyfRuJA/2jbSqlQkCTQH4NeR7jRJD2jkeOOv5+e/LmysG3R2CiCM7itVdbNHUXT2u4ENO52ePt+jayPn0FHutTJ2b5kPAVyZ/FZl0J5s7F96XivjJDhRrOPcUpLkzoVWDvn53feIS7pefKcR3k+Y58qLqggfniOib76Wb6cQexaPoEMaVNKfcNo8u4bKqVbPG9SuzzbFo2LsjHp76fn0NqpZMuc7p35abg0P3U6nRj0WgL8DSyd9r1k6eRJZLKh6MbHSCwe8xlLPGIVulz47Mee6wF3HURfFggEgoTOZ3UJXLftIMMiMlWp1SqKF8rFtQML2XfkLOt3HOLAsXPxMjlv0vV78ud0p2D+eVAX6fM3IWFMnLlc+nvh6h1vj6lTISJWh9s1MdxoZsLMZew+eJqQsHDSpk5Oi3qVaFSrXESwdy1Derdh8pxVWCw2/ly4Xtox7de1ubQzKZfLGfbrX9J1zly6Gef7GNSzFYYI8SzMaOLg8fNMm7+Wm3ceolIqyZ09E1990Zh8uYIw6HUYdFrmTBhEviqdOH/lNn2//wN/g47yJQtQonBuAv0NhISGc/LsVXYfOgVAmNHE2XjUqWeHhtSvXkZaAJjNVlZs3MuSdbuwWG0UyZedPl80JlmSQHRaDf5+etbN/YWcFdpJViaF82WjZYMqkmWZyWxh9pLNrN9xiJevgkmaJJB61UrTuWVtqa2b163E9+PmRLv79qnIkimtNKk3W6w8fOxdn25t69GifiVpkW4yW9i44whL1u0iOCSMjOlS0bVtPfLlDJIWUgsmDSWoVCup/ygUcsZ+1106h9FkZvSURew6cIo3IWEkTRxAqaJ5+K5PW/z99GjUKjKlT03nlrVjdeX6kLxPH0uWJJCe7Rui1bqfs+CQMH74bS6HTlzAaDKTMlliqpQrSr8vm6LXadFpNVQsVZDKZQuz++CpGOuzdN1uDDotMpmMzq3rkDm9W5mXy+WMnb6EkAgLtNvvWEh44nS6kMvdgoHVZic4JAy1WsXRiF3t5EkTsXH+GOm3CTeaePT0JRNmLufarQfotBpa1KtE07oV0KjdWZuqlivM8K/be1lz+sJoMnPw+HkmzV5FaJiRmhWL069rM/Q6LWqVCqvVhl6nJdxoZt/RM/wxZzXhRhN1q5amd6fGkriZN2dmyhTN69O9ODrWbz/MrHEDALcbX5dWdZjw53KfZTs1r0mAvwFwCwSLPMZRgLSpkrHmr5+lMSLcaOLew2dMnLWCm3cfoddpaN2wKg1rlkWn1aDXaWlQvQz9ujZj4jsbD9ExafYqHj99CcCAnq0IjKjPu+PtyXNvE1nkzxVEe6/kHhbmr9jK2m0HefHyDUkSB1C3Sim+bFMXvc79bDasWVZygYskKENqZo0b4HF/Zq7dus+Emcu5dfcR/n4GmtQuT+tGVaUxLjqyZU7Hwj+GeZ3r0vU7zFiwnjv3HxPgb6BF/coRY67baqdtk+qs3LyPvYd9W2a+S7kS+aUxS6fVcPpC9G57vggLN/HsxWvSpU4OQL5cQdJ3M/5eR57smfD30+N0umhWryKTZ6+Kco7q5Ytit9sBDSazhZmLvDOXzRjzDflyBkmueGaLlQUrt7Fx5xEsVhv5cwXRq2MjUqdIikGvJTDAj0VThlG4xpcx1l2v0+JwOLBYbYSEGjGazbhccOO226V/8s9feY3Vfy3ZxJrN+3ny/DV+Bh1F8mfnu6/akTRxADqtO/j8qEFd6Dl0YrTXtDscPHzynLHTl3L24g0MBh2tGlSheb1K0jOaI2sGqpYrwo79J72OHTusGyUK5UarVeN0OrFYbSxbv5sVG/dhtljJmTUD/bs2J2XyxBj0OvwMOrYtHk/2cm29LLYC/A1sXTRWctsNN5p4/jKY32Yu59K1O2jUKhrXKk/rRlXQqNXotBpKFs7Dr991Y8DI6QC07v0zxfLnALznUSazxcu6fMXGvTH+BoJPi0wmk55VcAvpnhj0WrYvGS9ZRIUbzTx9/oop89Zw9tJNNGoVdauWol2T6ui07r5ROF92+nRqzO9/vY0T26tjQxIF+KFQKAg3mjh1/jq//7WSqzfvIZfLyZUtI13b1KNk4dzSXGfuhEFkKtHykwqdfYZNomKE9bBnP1YovN8VW/ce/2R1EggEAsH78VkFq2u3HjB+xlL6d2uOQa+LcH9SUatyCcqXzI/L5UImk3Pu8k227zvB3sNnOPzPxWjjQGzZfUwyPR7x7RfSztC2vce93Ho8+aFfB2mnKdK9bvu+E9L35y7fYsvuY1y7dZ9BvVqjj1gYN6tTkYWrd3Dv4TPp3HlyZJbcEuwOR7TXjI0GNcqijnBtfPkqmHodhnh9f/HaHVZs3MvelZMk3/6cWTMQECEaTJvvjgdw6sJ1Fk8dDrgXmJPnrGbTriPxro9areKnAV94TILNlG/cxyvGwf6jZ5m+YB0H1vxB/lxByOVykiTyp06VUqzb5nYz+7pLM2khZzZbGTpmFlPmrvG61p5Dpzl84gIzx36Lv58emVxGj/YNGDZ2drzr/aFQKOQM7t2aAA9XMc921GhUjBr8peQKEm40U7PNAO9g7sfO8feq7fTu1IifB3bBoNeiUakYNagzfYa53SqK5s+B0xW562hi+Lg5/DFntXSK67fh6KlLbNxxhPO75wLuHfdmdSt+UsHK6XTGu49VKVsYq92OFjXBoeG0/3q0V4yha7cecOD4efYeOc2Wv8dK1i41KxaPVWCoA6YAACAASURBVLB6+TqEsRHuyH4GHYN7twHcz/PYaUuijR0USeQk+uadR/T8bqLP6w3/ur3knhluNDNv+dYo8UG27T3O6CmLOLphGgH+Bgx6Hd92b8GUuWt4HRzq89p2u4MdB/6hWde31lhHT13i2JnLLJ4yHD+D25LHZrezZc8xWvX8SSp35J9LnLpwnVkRz4pep+WLlrXjJViZzBa27ztBgxpu1+y0qZKTNVPaKG5XarWKWpXfWgTevPsoSlylkQM6e7SRianz1vKdx8IAYOue4+TJnomDa6fgZ9Bh0Ov4/usOzFy4IdaddnBb6ESOq8UK5pTqbbZYox1v+3zRBJ327bgzYsLcKJa5ew+f4cDx88ydMAh/Pz0KuZxeHRsx8OcZUpkfv+2ERq2U7m/a/HUMHePtFrzr4D9MmbuaQ+unSuOlL8YO64ZW87atxkxdzJgpi73KbNx5hEJ5s7F7+cSIttLy17iB5CjfNk7xyrJmSiv9PyQ0/L0yKd6481BaBMvlclKlSMKTZ69Ys+Ug00d/A4Bep+GLlrV9ClYdPUROmUzG4jVv3ZWzZkpLk9oVpN/m1ZsQStTtwYPHz6Uy+4+eZeq8tcz5bSCNapXHoNeSOX1q2jWpzt/RBPx3x3m0cPjkRfqPmMqld5Kb+PvpyZk1g/T3io17+ebHqV5lTl+4zvINe7l9ZAk6rQatRk2LBpVjFKyePn9F/qqdvSyUdx88xd7Dp5ky6mv8DDr8DXp6dmjoJVilTpGUrm3qSe0QHBJOiXo9uO3hUr//6FlmLtzAn7/2p0X9yhFCgIYB3VsyfNzbd+OA7i2l8xhNZlZtPkDn/r961XPH/pOMmbqI45tmkCRRAAa9lq5t6jHhz+U8fvaS3QdPSWPg4N5tpPnRgePn33tOI/j4NKldXpo3ulyuKO/hr79s5pWRe9OuI7T76hev+fSO/ScZM2UxRzdMI02qZBj0Wn7s35FFa3by/OWbiOtUkDaeTGYr1Vr19xqPLl+/y+rN+1kz+2fqVCmJTCYjTcpkZEib4r1i8b0vx05fltwoO7eqI7mYXLp2R/RjgUAg+I/xWV0CAUb+voCeQ37n5etgr0DU7l1EPQa9llJF8jCkTxvWzR3F49OrGP51e5InTfRBrn/01CWu3brP+cu3WLFxr5dY5cnspZul3Wo/g45sQek+yPV9oYuYDEDM5tJfDZ/E2q0HWbftIIvX7Iw2IO2/pU6VkkQal5stFsZMXeQzIKfZYqVTvzGS64W/n56eHRpI31+6fodbdx9x7vJN9h87y58LN0Q5B8CqzfulWGSRliOfA7lcTvkS+dm7cpIUIwHgzoMn3Lz7Nvtcg+plpcDjZouFKXNXR5t5cMrcNdy86xYDtFo1HZvXktxudDqNJJ44Xa5ohZbrtx8w7NfZrNt2kE27jrJk/S6f5RISep0Whfyti0JYNEHn9x4+w5S5q6V72xtNnK8PiUwmw2qzU61Vf59ilVwud8dti0gQ8SYkjH7vLHAjuX77Af1+nOo1lrVsEL2bXbjJHEW0Bbf47rmQMJmtTPaRDXXNlgOSMC+Xy6lSrkiUMrHx15JNb6385DLaNK4apUytSiUiLGXcY9LMd55dtVpFs3oVpef2yfPXUcSqSC5eu8PQMbO8gvE2rVMh3vWOK1dv3uP2vcecu3yTQyfPM3W+7wC/67YdlNpSrVZJsWDALVo3rlkOpdJ9f8Gh4VHEqkguXb/LrIUbok2fnijQj6rlikpByx8+eRFFrIrk9IXrjJ+xDJPJ7SaaOJE/lUoXisNdu2MiRWKLQ5BuX3i64NjtDgweC15P0SUoQ2rSp0nhdaxGo6J6hWLS3xeu3PKKj9atbT1pgR0abqTn0N+9xKpIXC6XVyxDtygdNXZaJDKZjFdvQqjfaWgUsQrc7RK5wHY6nbwODvN5npDQcHoMnci6bQfZuOMwU+au9lkO3O3x25/LfbrTL1qz08sdsXyJ/F7fd2xeE7lMLl2z59CJXmKVJz2HTpTc73VaDd3b1/f6vkf7+pJgZTJb6TZovM/z3H3wlB5DJno893LaN6sR7f0JEi5pUiZjQI+WzP5toOTSHm4yM2eptwtw746NpA1Dp9PFlwPG+9z8ffzsJT2H/i69wxQKBe0iEgsB0hgA7k2h6MTzASOns2brAdZtO8jyDXuk8AMCgUAgEMSXz2phFcnitTtZun439aqVpmX9SpQvWYAAPz1Wmx0/g9s1Tq1SoVa5F/YDerTkm67N6fTNGK8g0e9D14G+J3TvEhJq9IpbFF2Q1g/B+Su3SJk8CQAZ06Vi68KxzFqyiUMnzvPk2Sup3LnLt2jWLW5xfv4NFUoW8AhE7WLlxn3Rlr1w9Tbrth2kaP6c6HUart1669I5ZkpUKwJfuFwuLBartOCKnIB/DPLnysLz8+uifC4DtFoNFosVg14nLWTDjWba9RnlVbZSmUJS+6hVKuav2CZZFfjir8WbGDW4C/4GPRarjZKFcrH/2DkuX78rWaj4G/RMHtmH7EHp2LrnOCfPXfWykBg/I34JDj435y/fkuJZ+Rt0rJo1knEzlrL74CnOXLrhFZx8gIdVy6fiwLGz3H/0zOd3eXNkkuLM2Wx2Fq/ZGaNrw9ptB5k2+mvAPU5UL1+U6Qui9jEAP72OI/9c9PndqfPXqBghThh0Wo6djhpk2el0cvHqHYoVdMew07/Hs7Jj/0kp3olG4xZRR0yY71Xmi5a1pD6tUMijuAMVzpsNi9WGVqPGYrEyf/nWGK+5ctM+xg7rDrgFiKrlijJ/xbZ41z0ujJ+xjPEzlsWprMlslcZ2z42DPNkzYbHZ0WjU2Gz2WDPart12kC9a1vYZlL14wVzS+BYWbmLGgvUxjheL1+7kh2/cWa389FpqVirOzgNxy5T1ofGMizNz0UYqlioo1b15vUr89ufbdq5RoTg2mx2dVkNYuJEZf6/3OleVckWk4PdymZx9R8/E2A5rth6gbeNqyOVyMqZLRaJAP974EJssFiuTZq+OdgPn5esQLBYruogEK13b1MVPr2PV5n0cPXXJS2xevn4Py6PJBuuJw+GMUVw/+s9FKZaX9p1ntHqFYmg0kbHCVGzcGb0VtMPhZPnGvXRrUxeFQoFKqSRT+lTcuf+EzBlSS4Kqw+Fk5aa9MWYT3LTriDSn0mhU1KhQjF+nxv5+FnxaVEoFB9dO4U1I1L6ukMtRKZU4XU4vl+cN2w97JXVJkzKZ5ALrdDpZvWU/SqUi2uft4Ilz0gatVqOmYc2yTIgIq3Hq/DUp+3GiAD/2rZrE9AXrOHj8vJfgfOPOQ1p0H/FhGkEgEAgE/9MkCMEK3C/RddsOSu5jqVMkpVTRPJQvkZ+q5YqQKX1qLBYrAf4GScCY//sQ6nf6Ltpsa/EhU/pU1KtWmrpVS5E/Vxa0GrWXQCVXyH1mxfsYjJm6hFJF8mLQu+M4VSlXhGIFc6JWKTGarZw6f40d+0+y5/Bpn2mpPzSli+aVFip2u8NnliZPWvUcGeP3KZIlpkH1MtSuXIJihXKh12lQyr2zduliiQHzIYnM/OeLSAHJYrVhMlto3WtkFOuyUkXySP+Xy+Wc3u7bssTznMYIiwmFXE6m9KnZf+wcT5+/ZueBf6hWvihajRqDXke/rs3o3r4Beq2Ge4+ecfD4efYcPsWW3cd9poZPqJw8d5U795+QM2sGlEoFiQL9GP51ewb2bIVOo+bm3UfsO3qGPYfPsG3v8Ti5h30oLBYrO2NwOyyUNxvyCOuwcJOZnbGk1Q4JDefug6dkD0oPQJECOaItK5MRrSWOZyB8m90erSt0ZEB/QKpnfHA4nKzavI92TWq4FyGBfhTInUWKP6bXab2sek6dv8aLV8Fe5yicL7tkLWO2WNl75HSM13z+8g3PX76RrHJKFMoV73rHl2RJAmlQowx1qpSieMGc6PXaOI87eXJklqxMjSYzh2Nxuww3mt0/rg+K5s8huQ8r5O7Mq6OHxpypNHL8lcvl5MoaNei4L6w2uySYve+7yzPrrkIhl8YtwMvCSqfV8EXLWl6CVYdmNaQFsVKpZPWWA17nzpElvfR/g17Lg5NRLQg90ahV2Gx25HI5ZouVDGlS+BSszFYbx075FoHBPdeYNHsVA3q0lOLldWhWg6Z1KqDTqXn+Mpij/1xk18FTbNt3nHsPfQvZnsjlMi+h6108xQb5O/3CMzbYlZt3Y3Xd3Ln/JG0aVSXQ34DD6aBwvuzcuf+EwvmyS0Hew4wmduyPeZyyWGxcun6HwvmyA+5Yb4KER+RYEdM8JZJwo5kte47R+duxXp8XzpcNq9WGTqvB7nDQvmkNWtSP3vIX8MpQHJmlD+C3mcupV720FGe0dNG85M0ZhEqhwGqzcfriDXYe+Ic9h05x/Ez0mSwFAoFAIIgrCUawepfHz16yevN+Vm/eD7jdy2pWLM7473tIWZX0Oi3f92tPlX8pWH33VTsG9myJTCb7qNY8cWXfkTN8NXwSf/zcF5fLhUGvkyb+Wq2GquWKUK5EPmz29jx68pLh42ZL7fQxCAx4uwv3PnFQPGnXtDqTR36FDJnPlPefGovFKsWN8kSpUHgt1tZtO0ifYZN9ikSB7+xSanxYVbxLpGm+QiGXrAwA2n01iuUzfqRMsXxo1Covy8IsGdOQJWMaGtcqh2qMks27jjJw1IxPGhfi31Cz7QA2zBtN1sxpMei0aDVqyYouV7aM5MyagdaNqqJUKFi6bjdDRs/6JKKcyWLlzMXohd9EAX5efSE8DhkVPQU3X6nD48KnDFA7b9lWmtSugL+fHq1aTfumNej/0zQA6lUrhc3uQAeEhhmjBM4GSBRgeOuCJpMRFh674OjpPhUQQ3bGD0GrhlWZ9svXyGTvN+5EWuOAO6fUvxkHkyYJkJ75SIEsLmNGJHEte/fhE/Jkd7s1Bkb04fi6jUcmMAC3aObp0ud0Olm2YQ+dmtdCqVSQPk0KgjKk5ta9x2g0KqqVLyqV3X3olJego1Ipo2Rajct9RT6HCrn3uOmJQa/lzMWYE4qMmryQ5MkS0al5LeRyORq1SnrPpU2VjCZ1KlCzcgl+k/Xk5NmrDBg5nX/OX4vxnDESw6PsGaA/LA5jS5jRJI0NSrmCxIFuISNRgAFlhJupy+WK27k8yugTwPtYEBW73YHN7vu5jZyv2mx2VColrXr9JMVx9SQySDrw1qouPmOOh3vx6QvX6dhvDHN+GwQyt5Vw5Pit07mTpZQukodBvVrx6nUIIybO5++VvuPNCQQCgUAQFz6bYKVSKRnRv5M0SVy5cR97Dke/Kx8aZmTFxr1s3HmEawcWSubPxQvmImniAF6+fr+F7Vedm0g7reBeiFitNjQatddOqFwuw+5wxusl/29YsHI767Yfol2T6nRpXZdsmdNiMltRq5TotBo0ajUaNWQPSsec3wZRMHcWvh8/96PUxXPd7CtVclypWak4f4zsKy0YbTY7RrMZrVqNXCH3mtQrlIooO9EfA4VCwbc/Tonyedc29ciVLQNKpRKjyczzl2+iFU/eFRbiYx1k0Gu57uE2GW40U6f9YPLnCqJ3p8bUrVoKfz+366BfhGtipPthgxplqVKuCOUb9fEZqyWh8fT5a4rX6U7ZYvno/UVjqpQtjFqlxG53SK6/AX7u8aBtk+rUqlyC4nW6e7nBfizCYxBYXC5wOd/+xnGxYvJME+95bELl0MkLWKw2/AGlUkGbxtUkwapLqzrSgkSlUvp0w3Y6XRFJMiItgeLQRrK3beRLNP5QVClbhOmj+70z7ljQqlVevxO4793XGGexWnG63BZuMpCyyr4PTo/+YLXaUKtVcR4zDHotp+JoVXvo+AVJsDKbLeTLmZlT5+NukavRqLyyjl29cS9KmblLt9CqQWX8lHpkMhktGlRm9B+LqFmxhOQOGBIazsyF3kkhPPtKJPEZNzVqFU+evfb5nUIul+I8RYfL5aLv8D+Y8OdyurWtT8sGlUmZLDEmswW9TotKpZRi9ZQrkZ/dKybSoscItu758BnFPN8f7/ZHX3g+Ny5cUn9yOl24iO849bbMpxTIBXHHZLawest+Tp696vV56pRJ+bpLU6m/hoSF888536Kqi7d9w2S2oNNq4vy8adQqLl274/XZmi0H2L7vBK0bVqVb23rkypYRs8WKSqlEp9OgVqtQq1X4G/T8MfIrShTMRe9hk97j7gUCgUAg+IyClb9Bz4AeLaW/8+fKQrlGfWI9zmS2sHD1dr7t7j7WYrWRJmWy9xKs1GoVw/q280pvPXXeGlZu3Mf1Ow+94j/odZpYXRY+NMEh4UyZu4Ypc9egVqsomDsLRQvkpErZwpQvWQClQiFlj+rXtTnTFqz7KIv7h0+ekyVjGsBt6aZQyGPMUpU9KB05srizMD14/FxyWxz7XXeprY0mMys27mPu0s1cvH4Hq9V7B/HhPyvf2zIlPly6fidKbBVwZ+g6v3sufkolep2WTi1qsXTdbp/B1B89eSG5NoUbzSTKVedf1+vc5VtSfLUUyRJTtEAOShbOTY0KxcidPRMymcxtFeBvYPz3PandbpDP88hiWLTEZXH0MTh44jwHT5wHIH2aFBQtkIPSRfNSo0IxMqVPhUqpRK1SkixJIIN7tY6Sje9DI4No3e0AHjx5jiVCxJbJZKRIliTWcyZLEij9PzK7UkJn4art9OrYCJXK3f5liublwrXblPRwed196JTPhc7DJy8wmizuZ9bl7rOxkSRxgPT/J88/nig5bpj3uLNmywH+WryJC9duRxl37h1fRqAP15sr1+9JC3qdVkOxgjlizLiq90ig8C53HzzBbLGg1WgwWaxUafFNtEka/g0Hjp+jVcMq+Pvp0WjUNKtbKV6CVb2qpd2LUJUSh8PB3qNno5Q5cfYKIWFG/Ax6tBo1HZvVZPQfi7yzA8plbNvnLfTY7Q7CjWZJfD99/jrF63b/F3f7lvgIL3cfPGXomFkMHTOLAH8DRfJnp0ShXFQvX4yiBXLgcrkka+4ZY/qTqUSLD1JHT16+CiF1yqRA3J6blMkTS9ZpdruDh0/cVm8Pn7yQ5iwKhYKUcTiX5/VevfadyVTweXE4ncxatFHKeOdJutTJaVa3opTJcu6EQdRpPzhKuQePX+CUEg246DFkAn8t3vSv6hVuNDNr8UZmLd6ISqUkX87MFCuQk8plC1OhZEE0apWUCbZ9sxpMmr2K67cf+DhTVPHak881TxEIBAJBwuGzvQnehIR5uScUyJ2FxIH+cTpWqXirs8lAitvgSVx2GksVySO9DC1WG9MXrGPI6Fn8c/4aIaHhGE1m6Z87G0rMmZa8LJF4P+sgP4OOX4d2Y9JPffh9RG8ypXdnp7NabRw/c4Vp89fS5MvvSZG/IWOnL5HcLFwuF41rlX+nPt4T9/c1WNp7+Iw0EbZabZQpli/G8kc3TGf+pCEsmfY9mxaMAdwTq8h7AbfbY5dvx3Lo5AXeBId5tbXRZPb6/T4HDx4/Z+DIGYQZ3S4Tep2WxVOHS8FxPdl9+LTUN5xOJ2VjaZ92TatzZf8CLu9bwN3jyyVXqrLF8zF55FdM+qkPA3u1kso/e/GazbuO8v24OZSo24MspVtzyyNLYYVSBbwygnmKickSvxVO3iVlssRR3HLiS1z7WIMaZaR769L6raB3/9Ez1mw5wICR08lf9QsKVuvM6xD3wkmlVNK6UdSMdZ+aE2euSMGMA/0NNKsbc0a7oAypJTcdcKeD/y8wf8U2rBFjsl6npUPzmjSsUVbKDhgSGs6sRRt9Hnvi7NtYJf5+OhrXLu+zXCT5cgZJz5LL5XqvOIRx0SVSJk/sldH1yMmLdOw3hoMnzkcz7vjm7OWbaCOsqtRqFW0bV4+mpJsGNcpF615+4swVLBFCmV6roVGtcjGeK1vmdJzZMZvL+xbw5MyaKFnmomPDjsNS7CqNWkWP9vVJmTx2EQPc9/jL4C8lQclitTFv2RafZecs3SxlE0yVIgkFcmehStnCQETw7437fAb/PnPxhvT/XNkzxvr+//W7blzZv4Cbh5ewe/nEON2HL7JmSsukn/ow6ac+jBrURfqdQkLD2XPoNGOmLKZy836kKtiY3YdOS/OUAH89BfNkfe/rRsexM2+FiHSpk5MqRcyCePN6laTfRavVcCIiTtCJM1ekgO7+Bl2sMYpSpUhCBo/YREdPRxVNveZRn8DiWRA/+n7/h+TWqVapKFMsLy3qV4pS7p9zVyX3Y4NeS+uGMb9X/f30HFo7hcv7FvD07Bo6t3K/s9VqFSMHdpaen1zZ3PH0bDY7p85f58+FG2jRfQSpCjZiyJhZUnxFpVLhVS+7wyHNHRwOJ0kSRf/sJ4njuiAmPPvxv/ESEAgEAsHn4bMJVk6nk027jnpZNgz/un2sxykUclo3qiL9rVareOzDqshzguw5KfPET//Wgsdqs3H+nWDanlQuUxhzNMGRIzGZ31oe2B0OknpYEMSVdKmT80235vTs0JCeHRryTdfmPsu5XC7mLN0sxSWItLbxxDMluUqlJG2qZPGuD8Dug6cwWdwuFga9lt6dGkVbtnm9SshkMvwNelRKBbsigln7GXReAmVMbi35cgahkPuOT/IpmbV4Ixcu35L6UtLEAYweHDU48o59JyQXlEhrt+gI8DcwflgPsmRMS9ZMaUmTMimWiH7VskEVerRvQM8ODRk1sIs0GXyXZy9es3zDHq8Jn6c1WrjxbVyS/LmzRBvrpWWDytLC532Jax/r362FdG/TR38TbXaiW/ces+/IW0uOj5mNM67cf/SMYI+gyXWrlo7REqJnx4aSSB4aZozREichceHqbV68cluDKRRymtapQLd29fEz6KXPtu717RJ15cY9qR/L5XKa160YowDRq1Mj1BEiYGi4iS3v4Wrl6fYll8t89ik/vfe4c9pDJHmXnFkzoFH5dvm22x1s3Xtcel8lTRLgZSHsSfagdHRrWy9a9/FTF65L/UOlUtKpea0Yn8Oxw7qTM0sGsmZKS9LEAZjMcYufFW40M3PRRswR5dUqFTuXTojTM7V4ynBJ3HI6nZw4c4WL77gFRbJg5XbJLU0hlzNnwmAp5o7RZGbO0s0+j1uz9YAUx8zhcNC1bb1o65MrW0Z6dWxEloxpyZA2RZyFN1+UL1mA7u3q07NDQ/p1bUbtKiV9ljOazMxfsRVjRD9zOJwxZjF8X9ZvOySJDk6nkx7tG0RbNm2qZFQu8zYBwr2HT3kd7Bb4XweHcu/h23iGFUsVlCx/fdGtbT1pcyMs3MT6bYeilPF8dtKmfr/5g+DjERZuon3fX6TnyKDXMe2XfiRPmihKueu33lo3FSuYU7Ka90W/L5uSL1cQWTOljRib3M934kA/BvdqLc1Pv+8X/Zx99pJNUtZalVLpNR9+HRyKxeZ+X6hVKikb7rsUzJPVZ6bV+OJpSftu2wgEAoEg4fNZbW3Hz1gqZR1yZxmqzZRRfaNd9KZLnZztS8ZLwUEdDidb9xyXJmye3H3wRPp/4bzZKZA7S5Qyr94ES7uGBp2WL1rW9ml+nD0oHVNG9Y01MPCZizekiYPNZqfPF43jnZ3p9v3H0uRVJpPRoVmNaHd161QpJVn2GM0WHj976fX9lZv3JcsbvU5Lt7b142zF5smhkxd4/NR9boVCQfXyxRjcu02UeyuSLzvTfukniSdmi40xUxYB8OpNqNfEo03jaj4XTimTJ2bBpKGfLFZYbLTp87O0ENfrtHRuVZviBXN6lTlw/DwPHrvdMuRyOVXKFmb0kK5eVk8ASRIFsHb2z1L/DTea+WXyQkl4OvLPBWlH0m53MOXnvj4tupRKBY1qlfPKHOaZhWrTrqPSQsThcDK4d+so56hTpRQVS/meJMaHuPaxPYdPSwKDyWzh9xG9fe50+hl0lC9ZQPo7oWRC/Hny35K1nVqlZOfS3wjKkNqrjFKpoE+nRnzZui5ajXuiHmY0sX774U9e3/dl9pLNmCPEaaVSQbEC7r7udDpZu/WgT0uZSMZOXyK5C2o0anYsHU+GtN4LZpVKyYAeLWnVoLI0Hrx+E8L2fSfiXddT569JfcpisdGzQ4Mo4/fr4DCvcadlg8o+g64nT5qIvyd/h1odvZf88LGzpWDrfnodw/q2Y9OCMVQpW4SgDKkplDcbvwz+kmMbZ3gF0n4Xm83O1HlrpbrrdBq2LBxL6hRJvcrJZDJG9O9EpdKFUCjkuFwuLl697WXNFhujJv9NcGg4LpcLlUpJxnQpOb9rDpXLFvb5/OXPFcShtVOoWq6wND4bTZYY48/cvveYW/cfA+7fPX+uICkWXbjJHK2747zlW6VxyqDXMbRPGzo0qxGlXtmD0rFx/mhUEcJ7uNHEoFF/xrkN3uX0heuS6KdSKhn7XbdoN5ea1qmAThthWadS8uSdd+yHYNmGPVhtb98xX3dpRre29aO8X7NmSsvOZRNQRQi9YeEmRv6+wKvMyN8XSPMHpVLBrmUTyO5hYQju90XnlrX5pmtz6Vmw2mws37gnSt08RY6sGdNSqkjuf3m3gg/NzgP/sG7bIWnc1mrUzPltYJRyP3n0DbVKya7lE8jtY1OsdcOqfNu9pWR5GB5uYsXGfQA8e+Edy7NOlVKUKZrXZ73qVi0lze8tFiv3Hr3Ntrlj/0lp7q3VqhnQo6WXGz24rbz+/LX/B5kLnrv8NgmDXqehfvUy//qcAoFAIPh0fNYsgcdOX+bMxRsUzZ8DrVaNQa+lXZPqtG9ag8dPX3Ll5j3MZisGg478uYJIEuiPXCGXJmwWq5WfJs73ee6Vm/YxsEcrdzwWtZL9qydjsdpQKRW0++oXNu48wtFTlwkJDcffT49cLqdwvmzcPb6MrXuOceP2Q7RaDTUrFidvzsyoVUqcTmeM/vRb9x5n7DB3HA4/g46vOjfhm67NsVhsHDh+jsZdhsfaJhaLjanz1tC3S1O0GjV6nZb9qydz7PRltu45Rli4iSSJBDcxpAAAIABJREFUAqharghFC+SQFhUul4sVG/d6nev5yzfcf/SMbJndE9asmdNy/8RyQsKMOJ1OCtfsyrMXvgPXvkvXAePZvPBXKZXxwJ4t6du5Ceu2HSLcZKJCiQLkyJpBEi+sNjtb9xyTduWfvXjNybNXKFvc7c6SMlli7h5bxo4DJzl78QZKpYKKpQtRslBu5ArZe7svfmjuPXzG0DGz+GVwFwx6HXqdliXTvidXxQ5YPSzuvvjmV3Yu+01qn+7t6tO9XX127D/Ji9fBZMuczn1vcpm0gH71JoSfJ/8tnWPZ+j389n0vMLgXG0UL5ODusWWs335YigOWM2sGGtYoK8XZsVptLFi5zUtImL1kE83qVsTPoMPPoOPbbi1p27g6a7bsx253ULdqaYIypkGv08Tap2Mjrn1s8uxVfN2lGeAWpxvXKkflMoVZu/UAV27cQ6GQUyB3VhrUKPN2omw0M3Hmiveu24dk9pJNdG1Tz22Fo1aRNVNazuyYzdlLN7l49TYGvY6alYqjUMg9FvpmOvX7Ncb4WAmNxWt3MqRPG8C98InMPhVuNDMnGpewSKbMXUOn5rXIkjENGrWKnFkzcmH3PE6dv8aVG/ekTK9y+bttNOa96rplzzFG9O8EuBc3A3u2YmiftlisNnbsP0nrXiN59SaEQyfOU6l0IWQyGUkTB0SMO/9w9uIN5HIZFUsXinAPl8XoLnLp+l0G/DxDisWn12mpXqEYJQrnRiGX4XS60GrUqNUq7HYHLpzRutyOmbKI1g2rkDZVMrQaNQVyZ+Hqgb85ceYK1249IElifyqULIhWo/KIsWilbZ9R8WqjN8FhVGnRj8PrpxHgp0en1ZAhbUpWzhyBXCbj5LmrvHwVgp9BR9H8OdBo1eg0amlMMJrMNOn6PVd8BFz3ZMbf6xkzpCsGvVYaUyxWG3Nj6DOhYUa+/uEPJkck4tDrtEz8sTdjhnZj+74TGE0WCufLRu7smVCrlMjlcmx2O4dOXGDjzve3Wjx94TqXrt2hWMTGQ6oUSbhxaDHb953gwPFz2O0OMqRNQd2qpUmfNoWUVe3Stbtcu+UrBs+/w2q10XXgeOZPGopBp0Wv0zB66JeMHPAF2/adwGgyky9nEHlzZkapUKBUKjBbrJy7fJMla3d5nWvJ2l30aN+AQnmzodWoSZ8mOSe3zOTStbucu3wDrUZD9QrFUKuUXs9g14HjsViiWpAv37iX/LmzuBO9aNRsWTgOu92OQiGn97DJLFq944O3hyD+9B42ieoViqHVuAOelyuRn6Z1KrBy0z6pzOrN++nZoSElCuVCq1GTKnkSjmyYxrVbDzh94RoatZryJQuQONBPegeHhZvoMWQiIaHhgHueOWbKYn7s3xG9TotOq2HzwrGcuXidTbuOEhwSRmCAH5VKF6J00TxSH3M4XSxYsU2qy72Hz7h68760GZskkT83Dy9xJ1W6dZ+smdJQv3oZ5HJ5vDd9fbF6ywFqVSqBv58evU7L/N+H4MKFDPh12hLGTFn8r68hEAgEgo/HZxWsAOq0H8z2JePJmyOzNGkFCMqYhqAYTJaNJjMDfp7B+Su+3fj+WryJ3p0aExgx0Y0MnApQKG82Nu48gsvlYuCoP5k17tsIocEdILJj81o4HE6vBUy40RxrOvQ795+w5/BpKpUuhE6rwT/ClUan1XhZjcTG+D+X0bJBZVKnSIparUKnjUgVXDQPDocTlVLp5eYVbjTz3a+zfQZD/mH8XGaNG4BBr5UmIck1akxmC+lSJ4uzYHXo5AV6fTeJqaP6otdp8Tfo8TdA51a1o5Q1mS3cffCU7oMneH0++JeZbFs8XqqLTquhWd2KNK5V3qutzRYrclXCCbQ5bf5a2jWpTqG82VAo5CRLEsioQV0YMHK6VObE2Su07TOKhX98h16nlazMfMWncTgchBnNNPnyey+XC7vdQc8hE5k7cZDUX/U6LR2b16TV/7F33vE1X+8Df9+RPY1E7BHEiBl7k1ilqPbbpbulqopWS6sbpaVodSg6lVZRexQhsTchCUJCYiQhQ5K79++PexMZ92YJwu+8Xy9/yD33c8/nOc95zjnPec5zhvfDgtWJkCsnk8mEQqVhxoKCu+xHTp1jx55jDOrbKc+BFli/Vt5FBbmYzZYKSWhaGh3LuJXD9AW/8/GkF/Fwv93X3nhhODq9AYlEUiAiTac3kJaZZTch/v3AZDLT/+nJHN36EwF+VXF1ccbJSU6X9i3o0r5o1IFKrWXiJwvZtf/Efaht+Um6doOExGSCmzVEIpHg5GQdIgxGI/uOnCn2u3q9gX5Pvs2xrYupXsU77yr07h1b2c17p9Zoee3dueXO8RWXcJXDp87SLSQYV1fnAva2T9e2eeWmzV7KrlULCtidJ4b05rFBPctsd5Ys34SnuyufvvMSLs7OyGTSIkexFUo1Xp7uqDVah8fvVGotvR+fyLGtP+Ht6ZGn+726tLE7Vqg1WqZ99TMxcZdLLyAbcQlXeeS5KWz47Qs83N1wdbktq95d2tr9jtFoQqvT89q7c9htO9ZdHKs2RjDXtlmTa1NMJnOBRao9lq3ZQYO6NfOifbw83fECu7nrtDo9N9IyeWXyVyXWpyTe/PAbdq+aj4e7G85OTjg7OTHykV4MCe2C2WLB2cmpwEI5tz/fLTZsP8DHc35hxnuvWuVga5+nhxfNQ6XW6Lhy/Ybd5NoAjzw/lUMbf6R+7Rq4ubkgl8sJad2UkNZNi5RVqbV8NOdnNtg5Dgjw17pwpr01ChfbjZr550Cd2zUXDqtKQo5CxUtvz2blj5/mja8/fTWZyENRpGdm55Ub9tI0Dmz4nsD6tXBzdcHdTUbblo3tRvEr1RpWb44s4PQCq3P6lacH06BuTdumqgvdOgTTsU0zjCYTcpksb9wAa0TkvMWrilyMNO6DBexcOQ8Pd1dbH4QnH+1ToIzRaKqQOcqW8ENk3MrBzdUFuVxWIIVC7y5thcNKIBAIKjn33Sug1mjpNXICX/+0kpSbGag1WodXUucoVOj0BqLPXyLsqcksWb7J4XOvpaTRe+QETkZfQKvTk5WjJFuhwmQyFXj+qk0RPD9hFreyFeQoVPlu2ZEikUjy6rPcNjHLTXKeP09Qfv73+mf8vX4XKrWWHIWKbIUKlVqbd5QkF+uzdRiNpiI5SbKylXR8ZCw79h5HpzeQo7Tubjk7OeUNuEajiWyFihylitHvzWXRH+vt1mf15kje+uhbkm+ko1JryLbJwc3VpcDvanR6a100OodRBsv/3cETYz7lRlomOTZZ5kehVKPV6Vm7bS+dhowtclTzyKlzDH7uPa6lpKFQqvOO2uXKWqvTodZoCd93guTUdHQ6PSaTOS+sPBeVWou3pztZOUp8vT1RaUp/HTpY830plGoMBmNeHUri2fEzMBqNtqN3Eia99kSBK9/BmuQ47KnJXLh0FYVKXaTNVWqrLh05dY72A1/Li5rKz9ptexn28oekpmWiVGnQ6qzt4WpbaEskElRqa4Lo46fj6PjI60WOgubWd8XacLQ6fd4x1Vy0Oh0arY4lK6z9JytHiY+XRxGHp1qtxdfb0/p5MXIurY7NW7yK0e/NzdNbvd6AVCrNu+EIbuvQzr3H6fjI6yVeT1+Y3HfIylHi4uyEwWD/CJtKrcXT3S3v3dSl+J1b2QraDxzN3+t3odHq8vplLnpbX026doNhL0/jDweLdaVag8ViITtHWexkXK3RYTabUSjVRY6XFi5nMplRqbV5Oe3uhEV/bsBoNJGVoyQrR4neYGD52p2lun0tLSOLtgNe5d+te9FodXn2MhedTo9CqSYhKZnBz00pEhWa/51K8+7DX/6Q1VsiUWu0ZNvsbeEx5ET0BQY8M5kr12/Y7I5VJ2/bHWsf2XMoiqRrN9DpDRhNpiJ2J5f5S1bTYfDr/LH6P1JuZmA0mtAbjJjNZg6diOXZ8TMIffLtvAT2FoulQDRmLtdS0mgd9ipbdx9Bo9XlHdfJRa83oFCpSU3L5PHRn/DDb+scyqEkjpw6R1Cv5/ntn23odHqy8411uZjNZrJtY+zm8IO0Cn2Zf7fuLdXzM7NyOHQiFq3WOtaqNVqSrqUSn3i9xO9OX/AHL7/zJWkZWeQoVHn5r3LJsY0VG7bvp93A0dxIK7rJUto+lcupmIt0Gz6ecxeTUGu0BY6yurm6IJNJ0ep0KFVqEq+l0u/JSRyNKngUU6Wx9resHCUe7m7FjiUqjRaLxUKOQuUwp+B3v67lqTc+J/lGOjlKFQZDweflKFRotDp++2crnYaMLaIvebJQaeg0ZCy/rd5mtVOKQnbKYCBHoSL5RjpPjv2M74vRq/TMbHqMeIujUeetemOz7bm3PAruDiq1Nu+ov6+3p0NblJ//Io6ydfdhNFpd3pg++4OCOTfVGi1dHx3H0hWb7eqGyWQiR6FCqVLz7vRFeTcV50ej1dF12Jus/2+fdX6a78ixm6tL3q2i1rmvhnc+/6HI0VWwbvINGvWetd/bIrJzybX9CUnXORp1DpPJbLXLdo6km01mdDo9eoMhz+YWRqvT0+Ox8UQcPFVAj/V6Q5ExSiAQCASVD4mlLHdAF8O0L5cyd9HKO35O4wa1eSS0C907BOPp4YazsxNqjZbrqens3HucyINRdnNWFUf1qj50aBOEq4szSpWGfUfPFAl/l8tldGnXgv69O9C8SX2cneSkZ2Zz5OQ5tu85ypXrN6lby5+atht8Tp9LsBtCX/h51ar6YDSaOHMugav5zvDX9K9G3VpWh8eFy9fIylbafU5VX2/6dm/HwN4dqR1QHRdnJzRaHadi49kReYzDp84Wm1cmP82b1KdRvVo4Ocm4npJeIBdKFR8vmjSsDcCV5Juk2klkn//denRqxaA+nWjdPBCZTErGrRy27DrEpp2HikyCCiORSGgX3Jiwnh0IadUUV1dnsnNUHI06x679Jzl3MQn/6lVoUMeaLP98wtUiz2zfqglymQyNVu8wys4R+dsxPjG51HmS8n9Ppzdw+myCw7JtWzamX/f2dG7XHBcXJ3IUavYdOcOWXYdJvpFeqt8LDmpIaM8QenZqlZeU+Va2gvB9J9i1/ySXr6SU+IzqVX3439A+DOjVAS9Pd7IVKiIPRrEp/CCJV1Np1rge3p7uGIwmuw60Ni0CrY4fB58Xpjgdy0UikRDSqin9e3Wgc7vmeLi7YjSZScvIYvueo+zaf7JY/SsOJyc57Wy7xRm3ckjId5tiYTq0DkIqtToAHSWUdoR/9Sr07daW0B4h+FfzRW80cjL6Arv2neT4mbhinTvubq4EBzUA4Eb6LZKu3bBbztPDLS/HSMrNzAL2Iz/eXh40C6wLWK8vL61+FUdu/wLrbXynYi+W2s7kEuBflX7d29OvezuqV/VBrzdy7PR5du0/wcno4nWptO+ei5OTnC7tmlO1itXeRsVe5HpqUTm0C25iPU5tO4aeo1Bz9NQ5dh84SeyFRPyq+dLQdptp3KWrZOfctjs7/v6ahvVqYjKZiYq5yNPjpgPg4uKEXCYrsIB/e8z/+Oydl3F3cyFboeJ/r39KxIFTDutfp6Yf/bq3p0+3tlT19UKr1RMTd5nN4YcK3KZXEbi4ONE1pCVhPTrQpkUj3Fxd0OkNxCdeZ/ueY+w7cqZci7j8bQZw8fL1Mo3VcrmMru1bENozhJZNGyKXy0jPzGbn3uNs33O0QFsUprR9yh4N6gYQ2qM9oT1CqOLjhVwmJUepZt/RaML3HncY1SaTSWkf3BSJxOogL+64YP76paZlcuW6Y32WSqV0bteM0B4htG4RiJNczo20TML3nSDi4KkikSrFUa2KN327tSOsZwg1/KpiNJo4fTae8H0nOBp1vkzHlav4eNGxbTPc3VxQqbUcOBZTZDNEcJvtK+bSrlUT/FuPKPN38+uWWqMrdWSlXC6jXcsmeSkVipvfVPX1pk+3toT1DKGmfzUMRiOXr6SweedBDhyPLZVu+Hh70KdrOwb16US92v64ODuh1Vlt13+RRzl4PNausz4/EomEXl3a8OyIUOrVroFUKiH6/CV27T/JfxFH8fJ0zxvfLl1JKRAxBhSYKyYkJZfYPzw93OjcrgVenm5odXoOnzzrcP4tEAgEgnvLhX3LaVgoRzBUQoeVQCAQCASVjdSodXnJuXU6Pa++O4d/NhZNVB3gX5UT25bk3SSpUKmp0eaxAsd/BQLBw82dOKwEAoFAIPj/iCOH1X3PYSUQCAQCQWXnk7m/8NWHY/H0cMPFxZklc97jf0P7snW3NWrS2cmJXl1a8+ITg/D0sOb6MRqNrFi7UzirBAKBQCAQCASCciAcVgKBQCAQlMCSFZsZbbspMjfZ8PCB3Qnt0R6jyYREIsHT3TUvj5jRaCQtM5uZ3/5ZwpMFAoFAIBAIBAKBPe570nWBQCAQCB4Eej8+kX+37kGt0ebl7/H0cMPX2xMfLw9kMhk6vQGVWkPshUS6DB1nN0m4QCAQCAQCgUAgKBkRYSUQCAQCQSlQa7S8NOlLZtRfRmiPEAb17URwUENcXJwxGo3cylKwbvt+Nvy3v9SJkgUCgUAgEAgEAoF9hMNKIBAIBIIykJCUTEJSMktWbLrfVREIBAKBQCAQCB5axJFAgUAgEAgEAoFAIBAIBAJBpUI4rAQCgUAgEAgEAoFAIBAIBJUK4bASCAQCgUAgEAgEAoFAIBBUKoTDSiAQCAQCgUAgEAgEAoFAUKmosKTrIa2DePmpwRX1OIFAIBAIBAKB4IGjZo1qODs5iXmxQCAQCASlxMvTze7fJRaLxXKP6yIQCAQCgUAgEAgEAoFAIBA4RBwJFAgEAoFAIBAIBAKBQCAQVCqEw0ogEAgEAoFAIBAIBAKBQFCpEA4rgUAgEAgEAoFAIBAIBAJBpaLCkq6rVCo0Gm1FPU4gEAgEAoFAIHjg8Pb2Ri6XkZl5635XRSAQCASCB4IqVXyRyWRF/l5hDqtbt7JJvXGzoh4nEAgEAoFAIBA8cDRtEoi7uxuJSVfvd1UEAoFAIHgg8PLytOuwEkcCBQKBQCAQCAQCgUAgEAgElQrhsBIIBAKBQCAQCAQCgUAgEFQqhMNKIBAIBAKBQCAQCAQCgUBQqRAOK4FAIBAIBAKBQCAQCAQCQaVCOKwEAoFAIBAIBAKBQCAQCASVCuGwEggEAoFAIBAIBAKBQCAQVCqEw0ogEAgEAoFAIBAIBAKBQFCpkN/vCggEZUEbu4FfdydiknjTesQL9K4ju99VenAxK0g8eYAT566QrtCDS206DR9Ou+rCjy0Q3Dt0XNj2GzvidUj9OjPu6S52S5kViZw8eIxzV9NR6MG1VmdeGdH+HtdVICgtZhSJJzh4/CxX0xXocaV25xEMb1f9fldMIBAIBALBA0SldFiZroXzy/LDpJut/5cF9OaVl3riJ9bR/+/RX9zJ8j8OYJDW5InOo4TDqpyYUyOYP+Vz1pzNxpT7R1lDdJ2HCoeVQHAPMSX+w7zZizmp9qDD5BF2SphJjfyaqTNWcTY7r7cia6ATDitB5cScSuT8d5m5OpbbKiujgb6zcFjdKWYTRosEuez/wzhtwmiUIJdX0Lv+v5KdQCAQPDxUQoeVkcv//cqva87dXki7JFJ3YDeerS2cEw8l5hyuX0pBZZYg961DI3/3+12jhxvzTbZ+PZ1VZ7OxADLPmjRqUANP1zrU8ZCU5UHkXE8gVWVGIq9C7Ub+iJYTPMyYc65zKVWJWSLHt3Ygd26qFOz/fTlRapDVGcqrI+oX/c20zcybuZKz2RZAjmfNRtSv4Ylr7Tp3+uMCuzwgdq3Sjptm0rbOYeY/sVhV1pOaDRvg7+lK7doe97tyDx6mTM7vWsva7fs4GZvA9QwVRosUJ89q1GrYkpBeg3l8ZBhNfe7cCaO/Gs4ffx0hzexCyxETGd7cqXwPUpxi1ZKtxOssAEicmzFs4hO0LPFxJjJitrB6zTYOnDzP5RtZ6EzWd63TuA1dQkfw5GPdqeNaynrcQ9kJBAKB4O5R+RxWxgR27b6ICZBV98MnM41M3Rl27brGUy/UR7isHkI0kcx7/lP2GaT4P/Yd6z7shrODojLfugQ1a45R6keAe1mcK4JczBmRbDuchQVwaf4qP/wwjjbe5Zmwadjz9Sim7zMg9R/JN+s/pqujhhMIHgI0e+bwwud7MUj9eezbTUy7Q4U3XdvI3+FpmHGl3RPP0s6tcAkzGXu2cSjLArjS/OVFfP9GW8rVXQWl5AGxa2UYN+8p5nT2bDtkdVa5tuDl7xcxtq23SJhaDnSJ2/j2s7msjbl1ewMXADMGZRpJ0ZEkRUey4Z8Qnp02g3G9apZzUm8m58wyPpr6A4fSjIAnyo5vls9hZc5kzzcfM3/D9dt1du1L2/ElOKyMyUR8+z5frIrOF5VnrZtBmcblqHAuR4WzbnV/Jsz6lP81K975ee9kJxAIBIK7TaWzz8a4HURcMgIutB01mabrPuTvKwbO7tpJ0qjXaCQ8Vv+v8egzld/63O9aPNgYL57nsh7AmTbDnqKVWP0KBPcBIxc3byRKCxKvLgwbXMfOhoyRi+cTMAA4t+HRp1oLZ5WgcmO8SNwlPQDOrYfxZGvhrCoPxsS1fPjGLPakmQA5VZr1Y+jg7rRqUAMvuY5byRc4GbGJbYeuoEo/wZ8fvIVh3q9M7uJd1l8iJeJr3vt8FXFKyx3W2kzqf7P5atN1TMiQyUyYTCV/C3MG++a+yUf/JqIHZNWDGTBsCN1bNaKas4aMq+c4Gr6J7ceT0V7ZydcTNUh+ms8TDe17wO6d7AQCgUBwL6hkDisDZ3fuJtEIuLamb1gfmmXUZtXyKxjjdhF+6SXGNKlkVRYIHjDM2VnkmAGJB37+YjEhENwXDGfZEZ6ACQk+XQbRu5q9nmgiO0uBtbv64+8lequgkmPOJkthBiR4+NdAqGw5MF3in1nzbQ4XVxo/MZsF7/YhoMD0txf9HxvFU1u+YPLMLVzRJbD6618IW/E2bVxK+0Nq4lZ9xHvzI0gx3nm1jUlrmDV/F2lmcG02iieqrWL5AW0J3zKTsXs+X65LRI8Ez+AX+PLrt+hcPZ/7vnNvBo58lpF/TWPywgNkZOzn+1l/0X7RizQqvCS4Z7ITCAQCwb2icnl/9NGE77mKCXBtHUrvGi5U69eHOn8vI8kYz+6dF3ilSYt7Wml9RgLR0XFcS1dgkLtTpUYgLds0I8D9bs7CNKTHnyU2/hoZORqMMjd8/OvRNLglDauULehffyuJi/FXSFeZcPatTWBQIP5u5am7noyEM8RcuEq6woDMvQo1AlvRJiiAconCnM7ZA6dI1gH682RYACzoUs8QEa6yRRpI8GrUmc6NvMrxA7mYUCRFcSz6EukaGd41m9K2QzABhXMgmNVcjznK6YQbqCzuVK3bnHZtGlO1LOLWZ5AQfYYLV9NRGGV4+AbQKLgtQQHuFewUyt8WeiRuVajRsAVtmtfBsxQRiCajCTOAxAln57IeqzSTfnY/p5N1WNATZ204LPpUoiN2orL9vsSrEaGdA8v47HuHMesSp0/GkJShQeJWlVpN2tAmyJ/SpsYoH3fWbkUwZnE56gSxSelopO5UqdmUNm2D8KvIl7hnOl2aqlSgLS6D7MzpsRyISkYH6OMyrH3Hoif1zG7Cbys8jTp1olEZVufGuEgOXDWBxJOQ3l2xb+XMGG0hChInJ8rcXctAfvnqpW741mhI8zYtqFMe5TQpSDp9lOhL6WhkXtRs2p4OLQOK9C+z+joxx6JIuKnE4laNus3a06Zx1Yo52qZLJz46mgtXb6LQgZOHL351m9CyRSM7dr1i7Jo2PZ6zsRe4lqFAa5Th6uNPvabBtGhYQe90j8bNO9IFk9EWVSPByckZcXC/7GgOL+fvKBUALsGv8Pk7hR0uubjRYMg0pkafYcKaq5iubGPjsbG06VHkbHFRzOkc+vFdPv7jNNkWcGs4lHG9U/n29+OUy3elj2P5jO84nGVB4tmB1z97jeqLV5X8PcNZ/vl5BzfNIPHuxviZhZxVuUi9afnsTD5OeoHJ666iilrOb5EjmBHmU6DYPZGdQCAQCO4plcphpTu9nT3Xrbsibfr1xV8K0ub96FV3BX8mGkncvYPzo1sQXDgKWHeM+c+/w8YbFiS1nmDBskm0dXhW3sTVFW/y8tIYjHjR+6N/+DysaBiwOmE7vy1ayrr9CWQXGr0lrrUIGfoK4994jJZ2kzUq2DJlGHOPGJAHv8EfC0dR49YJ1v/xN/8dOWudzFoCeX7xz7yaP2LMlEn0+sX8tHwrJ64qKRJJLfelcc8neX3CK/SpW9w2kJnMM/+y9Kfl/HfiCsp8D5K4+tMqbBRvvPkM9Y/MYNKyWEyuXVm57F0Hz1KTsOMXFv3yL/sTsgvVSYJrrQ4MfWkCY0cEU6a8lYZz/PvFVDam5w9Bt5B9aDEfHcp7YYJeW07nsUF5JRSb3+WxuYcxSgIYMf9vJrXP39AF5f77rDYcnPspi3ZcQmm+XUpWpSVD3/yYt0cE4QEoz63m65nf819cToH3c/Jry/A3pzFhaBOKncKoE9jx6/f8um4/CUWVhVohw3hx/DhGBPvc4SK/+LZw8W/NgFFv8sZTHfEr1LP1h2fzzPtbrAsck856xMicxqb3+rEjd24obcAzP/zO6y2KMwsG4v6dwQcb0inQclkHWfrhwbz/y4LGELrijbz/a3dOY/gXe9FRjcGzVzPVYVIYDeEfD2PmXg2SKo/wxappdMtfVLGJqY99xRGDnJZjV7DwmRrcOrmWZSu3ceTcVTIUOiyNXuCnJaOxdq1CfXF+X+KXzmDeyiOkaPO/gQyvxv14/u13eaGzfwXnyit/u+W9dq7ey1vx+rJv6H1xCbPm/cXRFG2BdpB5NabPC5OZ/EIX/O7kJcqt0zqOz3+W9zbcwCKpzchvljPBsTHGdHU5E15eTKwBPHt/wl/T+1PYGt+ZLb44jnUGAAAgAElEQVRz2RnOr+GLD9bbnAM2LFkcWvoBt01VEK8tW87rpXZYmbh+/ARJJsC5BSHtPfN9pufIV//j/a0ZWACjzgCAOW0jU/pvz9NNaf1R7F52u48VfM/veaZGJifX/84//x3m3NUMFDoLjZ5byuLXmhYY+IuXrz+t+j/PG+OepoND5czfJ5czq9V+5k7/gZ2XlNw2u3KqtHyUNz+czPCmHoCCc2vm8sWPW4nLKWB18Wv7GG++P4khjcu5cFTF89/PC/ll/SESFUWX3jKvBnQe8iJjRg/LpzPls2tWTGRGr+PnRX+yrdB4m/vuPo178b+xE3mpTz3sjdylbrvnb5Rr3Cwt5dYF/SHmPD2FrdYBBq11gCFt02QG3B5gqP/MIv4Y27LM9fr/hZ4zew+RZgYkPvR45kmaFuvtdKdtjxCqrL1KuvkWcTFXMfZoWvzk3pTMjpnjmL4pCR1y/LqO5YsZLxMYOYGF5aqzmtNLP+fnKCUWaTV6vf0pzzSWs7MU39SdWM/WS0ZARv3ho3m0uJufpb50ffU5OmyfzRF1Ons3hpPW7/F8N4jfA9ndRXTpF4mJucCVtBz0Fmfcff2o26QCHd4CgUDwgFKJHFYaTu7YQ6oZcGtPv97VrQshpxb07VWPvxIvY7oawY7YNwkuvAByaU2P9l78syYF86Xd7IoeR9v2Dsy76ToRESfJVhqQ+HSjW8fCyyMTqZFzePfT1cSpbJNCuQfVqlfB1awgPT0bnTaZ42tm8vqx03z07ScMqlNYjBYMWhUqlQGZ1oAu4R+mTvqavTfzzQDlavT5J7ama2z77E1mbruC3vYnmUc1/Ku4I9FlkZ6uQG/MIj5iCVNPn2Hid/N5NsjehF5HwrqPmTx3J9f1t/8qc3JGYtJj1N7kzOYFjD92kpd7ZpJw6RImt4YOZJVK5NeT+GxNHLmikHlUw6+KK2ZFBunZWrTJx1gzazTHznzMNx89QhFROEIix8XdAw8P2wRXpcUESOSuuLvkTlhkuDoXnLxYjFrUKhUGqRqdqXC+hXxyV11j8ye/8NuBW+DqS41qbhiz08hQGjHdimXDrHGk6ZfyZfvDTH3ra45mWZC6VqFGNVeMWWlkqIwY0qJYM30MiVk/8c1zQXYXGqbUCOZN/pg1cSrbQkeORzU/fF1NKDPSydZqST6+itljj3Dmo+/5aFCd8nU6e23hXpXqVVwxKzPJzNaiu3maTQvGcfjIW8yd/QIt8+UktRj1qFSqvO/mysuoVd3eTZWp0ZlLymEhQe7sjoeHh20xrUJnBCRyXN1d8hbTMrdCfdSoRaVUoZO4oi/SboWLKlGptEhcdBiLNLEBrUqFyiBHq9eSsPpd3p63h/xdS6bW53MK5dMJdQb757zBtxuuYJC64lOjGp4SNZlpt9CYTCjid/LjpPMkfvYTnwysVTFOqztst7y3yNV7uZqMfV/y1rfruWKQ4uJTg+qeElSZaWRpTJgU8ez6YQJxl6fz46eDqFme4Jg70mkXWvXogNfKVaSYE4gIP8PYtiEOJtsmkiN2cSpLiUHiQ5dunQo5qyrCFt+57CRyZzw8PNDanL0qrRGQIHd157apcsOpTN5oNbEx8dbLRWo1p0WV/F+2YNSrUalUFOyuRrSq24ouU+scvKcGgy6e1VMmMG/vzXx9QY7akM9zb1e+7lStXgVXk5KMzGx02puc2TSP8YcPM37uVzwXbE85b/dJ9bWNfPLrLxy8BS6+AVR3M5KVlo7KaORW7Dpmjb+JbvFc2h+ZwoR5h8mySHH1DaCam4GstAxURgNpUauYPvYyt374jueCyng+R3mKxW9N4JdopVV2Ume8qvnh6wq6nAwysrWYFIkcXPk5Jw6fYfqPH9HPX0q57Romrm37hAkztnI1d7yVe1DNrypuEi3Z6eko9Eay43fz85Qooif+yNejgopEmpW67co5bpbMHeqCxYhOrUJVcIDBYtRyW2VlqPVmBCWhw1y9Fb36NAd5E4Z2KTlSTuLpifUOGgsqlZKSRnGMCRw5eAWdxJPmT33O7In9qO0EOeWscc7hhcz48xw65NR65AM+eLQOMjSl+KaemH2HrQ4meSP6DWhZomNG6h/GgJBvObJPjfr0Pg7nPM6jvrmf3gPZ3QVU8Vv55fufWX/4MkV97HK8GnRmyPNjee3RMm4MCwQCwUNC5XFYaY4Tvj8NM+AeEkqvvHweTjTr15t6Ky5z2XSNvTuiGN+2Y6FBzYW2A/pSa91fXDMls393NG+1t79IMqVEsC/WAEjw7TqA7gWjidGd/YVptkmbxL0R/V+dyGuPdaOht1VU+oxYIlb+yPfLD5KatImZU6oT8PME2jq6Udp4iRWf72DvTTm1OjzCwO6tqe/vhYvcm4a1c9/RxPV1s5jzn9VZJa/Vm9FT3uapbvXxsBXRp0Wz488FfLfyFJmZh/lx5h+E/DaWoEItmHNoPlO/2sl1I+Baj17PjeGFR3sRXNsLmVHBteg9bPpzKSv27uGXfyXFDM46zv421bbQluDecACvThjDiK6NsIpCT8bZ3fyzaCHLD6WQtHk6U6vXZOn4dqW7Aty5K1PW7mMKgGoj74RZbzvye3Rehdx2ZI7fwAqjJx3HLOT953tSxw0wZhK7+VtmzNtIgiaTQz9+wtt1LnNSWZ2uYz9l6nPdqe0KGDKI3jCP6d9sI1GbxfHFX7Gq+1Keb1hoEaCL5bcPbAt7iTsN+4/mrdEj6drQ29qx9Bmcjfibn75bxqHUJLbMmEz1gN8Y71BZHFGwLTwaD+LV8aMZ3rUh3jLr5+kxu1i5aCErjtwg7eBCps6uwa/TB+Jv0x+nZk/w4exu1mNNUX8wfWUsJokvXV+byrDA3JW5Bw3qlrTQcabz1A1ETAVQsentvtbbtPyGMece36ZlvPwn03fu4aa8FiGDB9O9VQP8vVyQezeitp1Jnfnyv/x01kT9oe/z3tgRtA+wLoYNGTHs+GUO81dHk2O4yrav59EpZC5Dqt/pzPDO260Ipkus+ykWU/1HmTJlHMPaB1gdqYYMYrcv5ev5q4jJMXBt2xwWdA7hyyF+ZYvqqwCddmk7gN61/mXlNRMp+3cTMyEEu/sHpmQi98ZiACS+3ejfo6AxrnBbXE7ZOXf5gH8jPwBAtWki/T/fi0Hqx6Nz7+CWQMNl4hOtDien+o2oX8AP4kTQ4x8zu6v1eFrUss/456wRiW83XntvRN7FIxKPBg4ebuTy8k/ZufcmTrU68MjAHgQ3qIGXixzvhrXz9KGAfD0aM+C1Cbw2vBsNrMqJLj2G3St/4Iflh7mRdoDv3/8C/19nMsCxchK/8U8MHp0Y/c2HPN+jDm6A8VYMWxZ+zrxN8WgyD7Lo0wnUSTyBono3Xv94Gs91q43V7J5h44LPWPDfZXRZx1gydyXdF79IYbNbjFCJ/WM2v0crseBGo0cmMmXcMEICcjd2jGRfOsiGJfNZGp6ENnE9Xy3oRNsvBlFVWj67Zrr+L199tc3qrJLXoteY95nwVHfq5w3cN4nZsYxvF/5NVGYmR36czrIOfzCm8MBd2rZzbnZXxs071gWn5jz+4Vd01QH6U/w5/W/OGiX4dB3De8MD844qejSoV84a/n/Ci66j59C1DN8wZmaQbT3nj7evb+lsvnNdQqfO4eMnrJHm5cWcvov5X6whyQjOgU/y0eRQSj10mlKIjr2BGZBWCaZ1YCmWJFIf2rQJRLYvGpPmHNHn9TzaJVfz75Hs8qFXZaHSm5HI3PDydiuy0WXSZHFLZQCc8azqg2uhH1BGLWLCpKVE2xLeS529qOZXBVe05GRkkK01okg8wMoZJzgcPZMfpoU6nh8IBALBQ0qlMXuqIzs4kG4GPAjp25uq+WrmFBRKz3oywEzK3u2csJPD0bnVAPrUkQG2RZK+aBkwkRK5B6u/qhrdwrrhWeDjJP5d+AfRKgs4B/K/r5Yy48VeeQskAOdqLRn45kKWfDqIABnoLqxg3oo4h2f+TRd38N9Fd7pM+oW/fvqccc8/zpCBAwgL7UJg7vER4yW2rD+G0gI4N+elL7/ilR63nVUAzn6tGPrOt0wfWRcZoLuwlS3RhoI/ZohhxcK1JBmx1f9X5o4dQpvaXtZBVO5FnXZDeePr3/jqyUY4WRy7q0xJa1i47AxWUTzFl0tm8ULPXGcVgDPVWgxi3Dc/8+nAmsjQceGvuay4UAGZOysAi1ZP9RGf8+UYm7MKQF6VliM+4cvXQ3AHLMpYTpzXUXfkTGa/ZnNWAThVo9UT05n9SmvrglYTzZZt5wv9gomkf7/hz2gVFpwJfHIui2e+RM/chT2AczVaDBzPgqWfM8CqLPz99Z+UVUT528KlybPM+Wkmz/fIdXoAuFA9+BHGf7OE9/v4IcXEjR3fsuSgIu8Z0uot6RnWn7Cw/vQOqmbt+BJnAlr3I8z297DQbjR+YLbvjMTv3MZF965MWrqKnz4dz/MjhzKwf39COwfaTfRrUSpx6fMB337yVJ6zCsCpWjBD3l3IZ8NqIwMst/az4b/kO65hRbSbnZdA6dqXKQs/43+5DhfrS9By6BQWfD6c2taX4MD6/0guzQ1Nt2tcMTrt3Jr+faw33plS9hFh3xhjSolgr23zoGr3/nTNb4zvgi2+u7IrI6YUktNMgBRfvxqFojelVG/Ri9Cw/oSF9SGomjULkMQ5gFZ9++f119CuTew/23iRnf9dxL3LOyz5eymfvPkiI4cMon9YGJ0Dvax9P798XZry9NylTH++Z56DAsClejCDxy9k0Qd9qS4FU+p2vltyAKXDl7Kg1fsx4rM5jLE5qwDkVYIZ/tEcXg9xBywozx7nvK4uI6fP4TWbswrAqVprHv/sK15pZf2LJmYz2+LKYCyNCezddxkjIGv8LJ9+/FQ+ZxWAHJ9GvXhh5gJGt3UFLGTu385Bxy9U0g9yect6jlkHbpq9NIdZr/S87awCcPYneOi7LJj+OHVkgC6ObZvPYHD4yFK0XUVTEbogrU6Lnjbd7N0Mq8pKcAloTd/c8SUsjK6NfexUQHBHmDPYu/MYCgsgq0Wb9nVLjg6WN+LxOb8y6w6dVZiS2frll2xLMYF7K176ZDwdy5I6zXiZpOu2HH0161G/VM5pGQH16uAhAcyZXEnMKkfFbZRHdgVQsf2jAQzoH8qgVxZzrkjHNpK4YhxDBw1g8ND32JhRKMLQEMOyL3+1OqvcGvHIlKVs2L2XrRs2sHbDdsIjd/HPgomE1XcFtCRumMU3OzMRcYoCgeD/G5Vkdarg0M4DZFoAz4707VmlYMWcmtGvd31kgPnmXsKP2wk1dmpJWN/6xS+STCns2WPd0Zf69aR/54Jb8Yaza1l3Sg1IqTXkbcZ1repAQDJqDnibMT29kaDnwrp/OOroIhS9Dln7V5nyTAvHEwOJO+2e/oBpH37MRzOm8WQzR8cgvGjXt4t198qUQkJCToGBS3d8PVsSrLkA6gx/j/Hdq9mvv7Qq3d8YT5ifo+Y3cHb9v0SpAWkthkwcT9cqDsrKatF/0lh6eEtAH8f6VUco6U6Ye4K8EQNGdCzokARARoOhw+iQ2xjypgwa2d5O28hpNOxR2rsCGLly9mzBjw2xbFh7CquIhjJhXDcciqjmQCa93hNvCegvrGX10dKEyuf90O22kNVh2Dtv0snXwQ851ePRd0fTyQMwpxC+ZifpD/HMRq+T0e6V93m6eSmn3LI6DHpmgP3dSakvXZ951Jb3Ss+FmJg7rN3dajcZdQaNor/9l8C36yiG2PLi6S9GE2vfV+SgyhWl00606B9KfTlgi3gtWg3r5sFZqzGmR/8uBSIz74otvpuyKyPmrHRu6ay/W55d/eLRo5O15+Wpz+Koa9yWr4zawybzRidHdXCi7qPv8ZpVOUkNX0V4MUZF1nAgIzrYWbHKGjLk0U55dlbW5BFGtrNTOXkgw4a2tzrwjEmcPZtdzHsWwqJEqbHWTepXi1qOUqfJ6zN8yhy+mDmLmR8/Rctyx5lLcGv3NO9/+DHTPvqC959qbvfYOIBn+3509pMCJlIT4q23tNql5LaraO6WLgjuBQYSN81i4e50zEjwbPcUI1s7zhmYh6w2LZo7mB+WGiOXV89gwZ50zBIfOo37jJdbljHvnCaDjNzIIm9ffEvpLZL6+OZtSmWl3yzbb+ZRTtlVIMaEPexLNAJyAp+ezkdPdih4IZDch0Y9X2LGvLG0cQUsmezfsb+YTQOBQCB4OKkcDqvs/ew8lIUFCZ4d+tGjauFqyQnq15cGcsCczoEdh1EVeYicoP5hBBazSDKlRrI3Vg9I8e81gA4FxlYjlw8c4aoJkNWh9yOdit95kvrTO7QDHoA5/TD7oh2tbtzp8Mhg6869I2S16Th0JI89NpLhocEOF4kAUi9vPG2f6zSafEf6DMQdOW5d6Mrq029I++KP5nl1oHNLB9eJGS9x8Kj1tkZZ7T4M7lj8zFnq14fQEOskNv3IXhyK4h4icQukaQMHKxHPIJrWtn4m8W5MUF375aQ+TWkcYG04c1Zmgc+Mlw9w9JoJkFG79xCKF5EUv979sYoonSN77S3gHZC/Ler0ZWDb4ieE0oABDOpobXlV1AGOPcwzG/eOPDKoTul3RN2CaBnkeEIqr9eCpjankq5Ae5tI2jybd9+eyDvF/HvvpwO37dJdazc3mrYMwuFbyOvRIsjm8Nfe4lZ26ReUFanT8qAB9GskxxrxuqtoxKsplb17Y9ADUv/e9C9gjO+WLb57sisrFo0mz7Hv5FLxN6m5dxjKIIeDTkH59hnUrvhLJaQ1CRvU0TqeKKM46FA5JbgHNsWh2W3SFKvZleDTuBn2za4Un6aNbfnDLGTfulVczQoiq0fDOtajQcboraw+neUgEkGKT9OeDBg0mIEDutCwrCe0b/8gtTsOY8RjI3lsRBgtix+48bYN3Ba9Bk0xiXKKb7uK5m7pguCuY0rn2M8TGTd7NzdNIK3alTemPEmDe6Q6unO/M3PRYXIsUvz6vcfH/2tU5hwjJpUKta0vSOROpf9+XlkzGnVZNgBzf/j+yi4Xi0qJxnYc0b9WbYdjk7zeCKZ8+SUzZ87ioyeDK1EuF4FAILg3VAK7Z+bWvp0cVVhA4kXH0J5UsVNK3rQvvRr8QUK8kcyD2zmk6EtYoY1ceWB/+jb+lQvnjaTsDyd6QggheUkdTKRGRloXTrJa9O7fvtBuqI74+CvWJKcSFxRn17EmoYSa39TjJgWlOY1LFzOgY007FQ+kdZuy3Q6ny7xE3PnLJGdko9aZMOdzS5nTLqCwOwvXkJiYaq2/ayBNA0vaKXLB19cDKeqik3pdPPFXbEcxXBSc27CK4kVh4abeDSlKzGkJXMw00zHg/vpCJR6eeY69Iki98LStgKUeXnaPj90uZ1tKWgpKSRd/EauIJLgozrJhTXzxFTLfRGdVFtIuXyTT3IlSiShfWzg3bEaTEjcAPWjSuC6yyDhMmstcvGJgcJFrNR8OZI3a0Ma79Hom9fTJdxzPDhIffDwlkA6Y8re3GWXicfbvu1T05s58OBl6ogerc+VutZvUE+/iXwJvb08kpAFmzGXwuVSoTssDCe3XhN8unMOUso9d0ZNof9sYY0qNYI/VGFOzzwDaFTDGd8kW30XZlRWL0ZinS1JJRa+S5DRq0xbHXSOffJ0bEVSycuLRtCl15ZHEGTVcvpgEg1vZKSXB3dPxsTWpl6fN8SjFw6u4cl62JMhgMZXhXKbUnwGjhrHy5CqSlCdYMuZRtrTqStcObQgObkXrVs2p63MXbaEuk8tx57icnEGOWofJbLk9cpvTuOg4rCofJbVdRXO3dEFwN9Fdi2DpzNmsOJ5mPQLr3503v5rNk43u0ZRedZLF03/mjApkdYfzwfuDCSiPGbOY7zjJuamMhvq+yy4fsroNqe0M17VGorf9w+m+o2ljLxJb6kPTHgNpes9rKBAIBJWD+++wMmeyN/woSgtIvDsT2s3Xfjl5EH17NWRZ/EVM2YfYeSCbsEGF8iHIGxIW2pxfzkdjTNnP7jNvE9LBtkgy3WCPLQpAVqcv/VsXSk9qziYr23YA3XiRzQtms7kMr6FRq+1/4FqTOjVKM5IbuXn8bxYvWcmu08moypo/xaQgx3afttTdE69S/KREYn9f35x9i1xRmOI3seDLTWWoiAa16n7cs1IIibQYJ6GEvFcvoZzUrojMZN/KtuUhMRK/eR5flUFZLOrCt/U55nZbSPDw8SpFh5Xi7etljdgwZ5N16+E9suFWsy6l6lq5FNvWAFKk9s/QUqXlAB4bmVasw0reKDDPCX732k3ioI75niQrT7xOReu0nIZhoTT/+RwxxhQO7D7DxJAOtqTQJm7syd08qEOf/m0KJou+W7b4rsmu7EicbkcTmEwVnffPlZp1/B1HHuaTr8TDJ19eQsdIvX1sx6vN5BQT9SSVFBdlJOW22S2uIUrqp47x7vYu382twoLv/mJvgoLrUTtZE7WTNQBSV6rWbUrLNh3p2m8wA7sFVohjyHjzGP8sXsyq8CiSyzxwF6aEtqto7qIuCO4C5hzOrp/PrIWbiFOaATl+nV7mw0/G0D3gHk3nzVkcWPg5f13UgUtTRn0ymZ7FRRcWg8TZJS+qyGIug/PKYrKVleDiXMqrBiqD7Aoh9R/EqEf/4tTqJJQnf+L1EZtp1aUbHdq0omVwa1o1q8fd9LELBALBg8J9d1iZ0yMJP2E9SGPRHmXhc4/wg6PCuizrIGXJ4ejOPWQOGEbB04My6vYPI3hpNFH6ZA5EnGFiB+siyXwjgr22Hf36fQfQ0s4gkJeDXOZBNX/vMty440R1T/tTTKmbB+4ljuVGrm78gHGzwknNW7vIcfOtgrervKDTxKgkLU1RNLGw5PZizGI2Y7ojn9HtnWGZR3X8vcswYsqr40AUDxeWXBnJ8KjuT9lE5FmGBYklb2JGmQ8OWSgmr/4DjhQ3D/d7dKZZRq2+rzO1b1m+8wC2WwXrtKzuAEKDlxATpSdl/y6iJ3awRryab7DHdhxQVr8f/e0Y47thiysTEk/PvCPbep22Yq9Sl7rh4V68DHLlWx73nKVSGxUnavYYy5xuL5B8Zh97Dh3nTMxZzsfFcz1LS2bSGfYlnWHfxt9Z3OxRJnw2hWGNy5h3Jx/Gqxv48I2Z7L49cCNz86WKtxtOBYyTEWVamp0r6wtRiraraB5eXXi4MKQe4LcvZ7FsfzI6ALd69BvzCVOeDaHavfNwkrZrDrPXX8Ek8aTt6Om8bi8XXSmRevlaHTJGsGjUqMzgVopB3aJW247VSvD0dbDJnY/KITt7eNPtnR+ZW2Ue3/29lwTFNaLCVxEVvgoAqWtV6jYJpk2HbvQdPJhujbwrSR4XgUAguLfcZ4eVmZsROzmVewRdn8PNlJxSfVN5fCd7M4cyotD9ubJaYYS2/pGo4zrrscCJHQhxNnNjbyQxOkAeSL/+zYq+uNQLHx85YAS37kxe/RX9HaR4KhNyJ8c5U2yY07fy7Te7rM4qp1p0f/EtRj/el5Z+RVO4Gs9+z3Ov/EJC4YmvtArVqroCSizKDDI14DADLAAWTCaT3YWS1Mu202oE127vsWr2ACpCFA8PUrx8fXACTLjRbfK/zOpf/kVPsb+U1xZm1ApFsRE+Vswoc5TWdpV641Ppbv2zFD5dWbREKddAcnnl3Xp88NrtLui0rDb9wlrzU9RxdCn72GWLeDXfiGRPtA6QE9hvIEGFjfHdssWVCKmXH9XcJZBjJjuzom99klNs18gnX7NagbIUQUFmZY4t0a8Ub98H4KY3qTu12g7kmbYDeQYAPbcSz3Im6hiHIv9j+8FLZJ9fz6x3ZVT78yO6l+Vms1zMafz37XwirAM3tXq8xLjRT9CnpX/RodcYy4/PvcRv8SV5rEpou4rm/4MuPPBoSNzxHdPnrCI6y5pj0Df4cSZ9NIEhje9RZn4bpmsb+HLuf9wwSfDp8gZTn6iHSaPBfhYpHcbcsdxiwai15W6TSHFydkEuBeQ1qeUvgyQTlvRUbpigeimGPvXNm1hTDLoQUKtGMSUrj+wc4lSL7mPm0fW5ZM7sj+DQidPEnD1PXMI1srWZJEXvJSl6LxuXLaLZ0Lf59L3hNH7IxkOBQCAoifvrsDKlsHv3aXSAtHp3Xnyll/0bvPKhP7uW7zfGYVCdIDzyJsOeCCi44yANoE9oO344fhhtyn52ndET0j6dvZHR6ABZk1BCA+29thuNGtVGticBkzaRS1eM0PTeiEd9NJLjORZATrMX5zNnbJDjiAKLxcFuvDNBQQ2Qhcdg0p/nVJSK4X2KGZDNt7ienGP/WW6BBNaWszfBiDYpgbsuinxbuw/Kjq1bo0BqyyNJMGpJSriCsX/Q3elM+dpCl3iRS4bBdqMDb6MhPv6a1UHi0oDA+ndz9SO53XQO9TK3qK2sRYtKU8zy3KxEoaroI1L3gUrdbvapeJ2WEtAnjDbfH+eoNoWDu0+j7xBCxp4I2+ZBU/qGBdr5jftni0vi9inqO4yCk9WhTk0Z5BjJTk1FaYYid43cNfLJV3eZiwkGBpaQ504bH881I4AL9QMb3JNaVizOVGnQlt4N2tJ7xEs8/dd4Xl5wFOW17WzYP4Hug73zlS2lXVMfZc8x6xgqb/Yyc+a8QZDjgbtER32ZqZBx8/+jLjxAGK6z+9upfLEq1nqzpEstur84jfdf7k7AfdivUR/fzaFMq65lH57LM33mlu6Lukimh3VjOoC8Ka/+sYKxQXJwCiSokRskKTGlxBGXbaZliR4rPRfOJ1hPGcgbEBTkYGe2ksmuJKTutWg7YBRtB4yy/kGfSeLZ00QdP0Tk9m0cupzN+Q0zeVdWlT+n9aQ8PnaBQCB4ULmv4Rema+HsOqMDpPj3HsWrTz7JE08U/+/p1x6ltQuAhqjw3aQWmQRK8e/bn/bugNm6SNLe2EOkdYVE89D+NLS79pHTuEsna+JI4w9WDvIAACAASURBVCUiw+Ns+VwckUPEjOGE9e1F6KBJrC1akdJKgaz0TOuNUdIqNA1uWOzxF11KMhl2d0Fl1OnZ07qus2SwZ9UmrhWzW2q4tJlt0Q7eUN6Ezh0DkAGmSxGEXyheEuTsZsZjfejXtzeD31ljp01KQOqGqwuAGbUip+hxx0qIvHEXOliVhYTInZQooojPGRnai379BjD535TSR1Tkb4uk3eyM1RVb3Jwewc5j1iO2rsFd6ehdbPE7RIKrteEwqxXFHneReHpjzV+v5+rlK47bWHeW85cfgrxblbrd7HM3dFrq34+wEHfATMqBXZzRprI3MgYdIG8WSphdY3y/bHHJSF1drfbZrCYn5w4slbwuTRq6IwGMV+K5fE+NXj75mpKIDI+lWO00pxOx8yhqANdWdL4fylkKDNHf80JYL/r17cerP8cVM444UbdLB+rKALSkXk8r9Hnp7JopK51MHYAU36BgGhY/cJOceaf5rQpRIePmw6kLDwXaC6z54DWmrbQ6XFzrD+DdxX8xf0zldLiUDw/adwq2RiTqojl42NHNnvnQx7L/aBpmQFYnhA517Jzpuy+yK2HTrqw4V6VB276MeG0a3/y1jIkdPZFg5PqO9ewv3UEUgUAgeGi4jw4rE1d2hXPWAEhr0COs8K199pEG9KV3K2tJ3ZlwdicXnQRKq/YhrKMnYCZlfzgRuyOJ1gLOrQgNq+cwf5Bzm8cY1twFMJKwagF/xTm+Ljfn+BIWb71CtkKJuVkvupUUGuYQGZ7entYoA3MOydfSHQ/Y+njWrtlPjoNRUd7oMZ7qWQUJFpTHfuDjRUfJtPMwY2okCz75BcdraGfajBhOMxfAGM/qb5YTp3VUNofjPy9i29VsFEozQT17lBglVwRZAAHVra2iiT3KyQfhpmzntowY1hwXwJTwD9+uiMOxiI7x8+ItXM1WoDQH0aN7jTJ0vHxtYUpi3Te/EaNyUNR8k4jvfuKAwgJSP/qMHFj2tigTcgJq+ln7kyaGoycVDks6NW5CAycAI5fCtxBjt2sZubr5HyIzHgKHVaVuNwfcDZ2WVqN3WCc8AXPKPnZF7GZPjBZwJjisv81pYKcq98UWl4wsoCZ+VoUn9tgJym+qXGjVtoU1v+LNWM7YGcfuJrflayJp7Xz+cKycpO3+lqX7FViQUr3P4wy4L8pZMrLataiiVaBQ3CJ26zpOFdM42mvXSLNdJ+/hVThWoXR2TebpZcvXaEZx/RqOzZae+LWrOJhdwdHDFTRuPoy68MBjTmXHzEl8HZmKCTn+PSbx/a+zeSq4bDdOVzTuPSex6OdfWVqqf4t5vYNtVu/cgTGLbH//aToj6uVuVEip3ncAHT0Bi5LD/64rwXlvJiNiJTuumgA5jUIH0qKwA+p+yc5oQG+vxg4TyhqI/nEU/fv2ol/YS/wcV8yLO9WjS0g9a/21qSSn39vxQiAQCO4392/sM15i5+7zGAFpzV6EtimNuwqQBtC7dyurc0sfza6dV4rmh5FWpWdYJ7wkYE7dyXd/nkQHuLTuT2itYjIsypvw9MRnaOoKFuUJFk14iwVbY8jMv72vv8npdTN5672/SDAA7i15dszQ29e5lwOvth2tC1t0nPjlE34ITyCnwEvpSYvZyDcTxvHDcaXjXRypH4Pefod+/jKwKIn5/U2efWUaP/y9id379rEvfAPLv3mPl557j9UXdMjkjistb/wsE59uigsWlCd/YOKEeWyNzSwQ6aBPi2LdrHFM+TseqyieY8yQgLIrlVNjOrb3QwqYUzczc9JMlm3ezYHDR4i55ujGr/uNnMZPv81TVmXh5KI3mbhgC7EFlYW0qLXMGj+ZlfEGwJ0Wo8YypIzKcrstQB2zlLfHf8nG6PR8kyMz6mv7WTbtdT7bkoIJCVV7vMHrfX3vcgd3onHH9tacE+ZUtsycwKw/NhJx4BBHY64VKCn178uAEE8kgClxJZ99spxTaflkZbjJqZWf8M63h1E6uL3yQaPytpvDGt8FnZZStWd/OlqNMeELl3FKC7i2ISy0tuPLB+6TLS4Jp8adaOcnBczc2DKdSbN+Z3PEfo4cjaZspkpK1Q6drBGxxniOH8uo4DxWJZBPvqij+WXSOOZsPEN6vhWXWX2VA8ve543PNpNiAknVnowd2w97t65XBqS+fXikZ1Wrjbmymg8nzWPrucxC0XkaUo+vYPr8baSbAddgunWuVuhJpbRrXu0JaW7bPDuxlM9+2ElCwYEbfVo0m795k7d+OI6yok+7V9S4+RDqwoONmYydC5i/PQUTMvz6fMD3c16kTXnzGuqvczpyNxERu4mIPE6iI39kKZBVC6RN23a0LdW/VtTxso3lUi/qtMr9exAB+dIjSqsPYtRQ60ayLuYP5hazUWJK3sbchbvIsIDEpwdPP144H20Fy64MmLNvkVV4MWLOJu7iNQe2XUbtWlXRKhQosmLYtuFkMRsgWq5dT7PO/SUeeHk9HHMkgUAgKC33LTGIMX4HkfFGQEbNnmG0LvU1UFICevch+PvjnNAZObdrB5eff53Ghd7Et/tAuvhEsDPrFmnpAG60CwulRgnjlnu7ccz64CbvzNrKlYwT/PXJ8/wzx586NavhhoqM68mkqW07IS71GPz+F7zcovR3WNlD1mAkbzy5lUl/XkB76wTL3n+CvzxrULtmVdxlBpRp10nO0GDCmfr9+uK6NwJHmzGyWkP59Fsdsve/ZkeSloyYbfwes61QKRdqh73D49KlfLfjlgMHmDvtxs7hg5sTmL3tChknl/PpiyuZ41+bWlXdQZ3O9eQ0boviEabOeJXyicKNTs+PpvueL9iXYSQj6l++i/oXkBP02nKWjw0qz0PvPu7/x959x1VZ/QEc/9zB3ijIELfiFsW9F25N22Vq5SozVzkapr8y25plwzQzU3OkZu4908yFAgoIKgKyEeUCF7jj98elRNl6FbTv+/X6vV6/5LnnnnvOec7znO9zznla8MpH75A0eQ7br6ZweuW7vLjmY9y9vXC1gcyUGGKTMvMCqlZU6/s2H7zUqAxvPPv3i26ri7SgNXzw0nrmuXnjWckaoyaRmNjrZJt27MbJbyQfvvcYhc2UNzfr1sMZ2eEAHx9OQZ8cyMavA9kIqHzH8NfKV28dqPRkwISx7LkwjxNpucTu/4IxhxdRpao3LlY5XI+NJkGjQ+HQgr5tE9h5IPbBDuDvi4pbb0Vn+T60aeeOBLR14sDuNNKSTMuvbPwC6FZCZ1wefXGJrNswbGRHDn10iBRdMmc3LODsBkDty6jlKxhbhr22VD7d6NLgW4KCtJw7eIDkJ55+oDPrbivftHOse38EG+a5UdWjEtZGDYmxsVzXmq4OSic/Xpo7m4Hl2jhLoHSl58TpHAt9l63RuVwPXMGsYav5pLIXnpXtsTRquZlwjbg0ralvUTjg99IUnqxR8DeVql9T1eDxV55h56TlhGuvc/rnaTy70p4q3l642KrI1SRy7VoKWXqwrN6DrtYHOVDcLIoyM99185FrCw8zQwK7Nx4wBWXs/RjY15PEM3+RWMqPK13q4F+v8r8PPQzpf/LDjI/4WweoGzB25XJGFbqPa3mxocXINxj45xv8Hp3OqW9fY0LqZCaP6E0D17x86m8SeXgVC+f9xJEEPSicaTN2Iv3u7DDNXHZlYcwM5lRwFj1a/hON0xO3ex5LjvzzkDmXnJz8d9tKnDv3p5Prn+xO1XP1txlMtniDKSN60cA137QxbRynNsxj/g7TMkirRh1o/eA2PBRCiAqhnK5auYTt2cclHaDypnOPZmUaxJuWBX7NqZPZ6CP2sTdyJHXufNWUYzsC2ruwZ1uq6WJh50/PrqW5EFlQvf8H/Fi9Od999SNbz8STrUkk6mK+S57CmirN+jL89fE80cy16FkCpeaA/+vfsbDKAuYv20FIcg46TQJRFxNufaVtNTo+/yZTB0Qx+9D+YlOzqfsEH65oSZ/1q9i09y+CL8eTplVg4+iGT8NWdB04lGd6VOXkrB/yEi/iaY1Fdfr/72eq+33D1z9t4Uy8lozEKG4viio06/MS48c9STPXuy8Jlc/jfLjImRU//creE6FEp2SgV9tiZ12RbqwKsqg+gNlLq+P33QKWbj1NglZDYlR4vhskBVZV/OgzYgLjnvDjrouosLpIiiIi3/YrKofadHrmNSa81A2fUk5YvGeqagyZuxjnFUtZs+dvwqJTyDCosbMr+Boby7ov8Pn3jiz4aCGbzyaRq9OQcCUMUytXYFe9Oy/PnEGTfaPY+YCyf99V1HorhvnbtCPtenXAZc9WTPv12tGiZ7dSvA2qPPrikqjwGfIx3zsv56c1uzkZGk1KhgG1rT3WZf1ylQ8BvVuwJOhvtGe2szP6CYZVf5BBgMLKN4mo/I1T7UDtjs/xysSX6VoRGmcJVB69mPmDC3UWfs2qPcEkZevITL5KZHL+o5TYerdi0OgpvDKgHoW+C7OU/Zp9y4l8vbAKC7/8iZ3ByeToNCREhfPvlVthi0/HF5gybQBXZx3kgLl/r9mum49eW3ho6ZNJzFvyZdScYun0Uywtw8ctOv+PPfMGYXt/cndfKF06M+XjySRPns+RxBTOrHyX4Ws+popPVVwstKQlXCPhRk7eDCN7Ggydw+wnaxQcwJRn2elj2DR3Nh6vPUUzJw0Rh1fzyyFbnnqxI4uWHCFLH8GRXUG0b36J37ZkMWT6UOq6BjBh6lFC39tMdO51Ale+y/A1c6ns6UVle0uM2hskxMWRpjU9vlM4NOflSU9TSIxdCCEeaQqjmV7LFhNzjfiE0j7HeFjoSY8+y8nAMKKTNOiU1jhUrkq9Jv40ru54fwZHulQuBZ4mOCKWFE02Rgt7KvnUx69lM6o7mvMbb7JpUi/mHMlG4TqQv3e9X/zh+nSiz50gMCyaJE0uKmsHKlf1pXGLJmbO18NLn36VcycDCY9ORJOrwtqxMlXrNqV5k+qYtYjurAsbZ6rUaIh/y4a4PRTjiGySw05yIugSCWlajNYueNVrTpsWtXGu2PHJe/MQ1tsDa9Ml5+TB98UPgCFtJ+8+9Ra7r6uoMWwJKyeW7eGN+dxZvjY4e9SggX8rGlTUxlkCfXo0IYFBRMQkkqbRoldYYe/qQbV6zWje0Atbs05S0HH9UiCngy9yLUVDtsEC+8o++Pq1oulD1z4fvbZQHurVrY2trQ2BZ4PL9sHcc3z13Mv8cuXu9im6M+hiSFnL6/1LN8Pq5u/j6TPnT3KxJ+DjXcztWWg4t5Sy2DG1OzP3a8G6G+/vmUffgs+xbqOL/4tVC79m5d7zty//BkCJXbV2DBkzmdF9ahceVDJz2ZUsg82Tu/H+EUvc3BSkJGryZoZb4Nb8KSa/N5Eedod5f/gMtsabZlcqbGvSZ8qnvD24Dqbi0JN0ciULF65gb0hS3ozrOyht8W45mNGTx9G/bjFv/xZCiIdck8YNsLIqeK8hAatHSM7JBYyZu5cbBgX2Hd7gu6mdsS/q4PS9vPfkVLanGFE1mcBfP730ILMqhBCCXEK+eZ6RP0VgcO7B7DWf0q+SLPcQ4mF31wGr+yE3kPnPjOJXTR8+2TiHbhU85pGTGsHZ0+eIiElBo1Ni6+xBtfrN8Td7oPle5QWs/nRhyBeL6ZdxlHPxOpzrdaB7+5r/3n/nxp9h977TJCk9adqlG809CwsE6kmPCSYwOIKYhOtosvUoLe1x8aiGbzN/Gnjalu9r3YUQ4gEoKmD1KM9n+M9R16xJpdQYQjRG2LiAhW3qM7Wze8Gnu/pEDn79LXtTjIAFvh07l0NuhRDiv86CBs+NIWDLDHYkHWTZL+foN8mvvDMlhHiE6C4e4fg1I5X796ZtBQ9WAVi61qFVzzq0Ku+MlJYhjfhke/yGPEthvbeFR3P6Pd+8hERUOFRtRqeqze5HDoUQ4qEmAatHiLJSb15+bi0nFoeQlXOJ9dOeI6RrP3q0akA1Nwcs9BqSr57n+O5tHAhNRQ+oqw1m7FO1yzvrQgjxn6R07cGk+QvoEZcDNg/BaFII8RDREXX0KFcMVXgsoGXhe7aJe6Qn5tIVcnHFouSDhRBClJEErB4pVjQaNY+5ue8wd8VJknSphO5ZQeiewo5VYFuzH2988gbtHR90PoUQQpgoqVS/I13rl3c+hBCPHP01/jx2EbyeolcLCVfdH3riws6TZGiBl6zbE0IIs5OA1aNG5U7H8YtZ2/8QWzfv4ujpC0TGJnIzQ0sOltg7u+NdpwmtuwxgyIDWeMkeqkIIIYQQjx5jLt6dxzC+egDNyueNDv8JhvhorunAS8pYCCHMTgJWjyj7mp15ZkJnninvjAghhBBCiAdPXZseI2Tbh/tDjXfzXvSuVJWuzw+npQSrhBDivpCAlRBCCCGEEEKUmhUths+hRXlnQwghHnGy2loIIYQQQgghhBBCVCgSsBJCCCGEEEIIIYQQFYoErIQQQgghhBBCCCFEhSIBKyGEEEIIIYQQQghRoUjASgghhBBCCCGEEEJUKPKWwAKyCPnjR/ZF6VE6NOW1F7uVd4b+u7TB/LF0L1F6JY5NBjOiq8/tfw7ZxNJ9V9ArHGk6eDhdqqrKKaP3StqcuTw6bULcpoS+oFzoo9i//A+CNQZUNQMYNaAhpreaZxO27Sd2R+agdGvD00+3obI8GhJCCCGEEKLMJGBVQC4X9yxn+dFclJ5PS/CgPOWEs/eXZRzNVeL5ZJsCg9Sci7tZ8fOf5Co9ebLN0Ic4OCFtzlwenTYhblNCX1Au9LEcW7eMjYkGLDrVZMS/ASsrvJwS2fXLRuIUu0ir9itvt3co58wKIYQQQgjx8JHnvuIBM3Az9iLh4WFcvJRIZnln56Eh5SYeAoabxEaEER4ezqXEklup4WYsEeFhhF+MpBSHPzQc2r7M8y1sQR/LtqUbuKIv7xwJIYQQQgjx8JGAlXjAsjj4+VCGPv8sL4xfxNmcYg5VuVDVtwH16zegjoftA8thxVSGchOivGQd4IthzzL0+ed4fXEgJTXTrIOfMvz5Zxk6dBxLHqVGrarKgOcDcFNC9rm1rDmVVd45EkIIIYQQ4qEjSwJFxWXXjanLZHmcEOLhY99uML18trAyKo69m47wausAHMs7U0IIIYQQQjxEZIaVEEIIYW4WjendoyYqjKT9uYM/b5R3hoQQQgghhHi4VMgZVobMOC6cOUvEtTSyVbZUqupLs2a+VLYq75zdKZvkiCCCw6+SdDMbo6Udzm4+1G3UiJqulmVIJ4eUyHMEh0eTnJ6LytaFKrWb0MzXA9sKHFLUpV3i7OlgolKyUNi44lW3Gc183bEucKSB5PNHOHstGyM5hKUYATDmxBO0fzcZeftiKxxq0aNN7Qf5E8wsfz3moLBxoUrNhjRrUBX7u9r72zzlpk2O4HxIODEp6Wh1Kqyd3KlWrzENa7pSllZKTipR4RHEJGegs3LGu3Z9arnb3FXUOyclkqCgMGKS08lV2+JSpTaNmtXH4340eF0alwJPcj4qhSylLS6e9Wjm54tbwYZaJLOUYXYyEUFBhEcnkp4NFnbOuPnUpVHDWpSpu7jf6eekEBl0jvDoZNJ1KuycPajV2A9fD9vC69qQzPk/z3AtG8gJxdRMjWTHn2P/ngxMzVSBQ602tKnlgCE5hD8Dr5EN5ISlYAAw5hB/bh97bjVqarVuTS2Hu20PZupTs5MIP3uW8JgUMvWWOHnVpVmLhnjYlCYRNXU6d6TazxFczjjBwWPp9O0jm68LIYQQQghRWuUcsEpn67RBfHY8F3XjV/l5fg+uLv+M+SsOcllz+y61Kqe6dHn2dSa+2Akvi0KS0u5i5qAPOJwNrn0/YfWM9kUOJLV73mHwnINocaXP3N+Y0b6so8UMInb8wDdLNnLsSjoF9tNVO1C99UCGjR3DwEZOxQzoM4nc9SPf/bieI5E37khHgbVXSwa8OIFXBjfG6S7Gbdrdb/PYh4fIphJ9P1rH9HZF/c4s9swcxJxDWShc+vHh2re5vUjuqKd53YhY/AFfrD5OnNaY7zgVDnW6M2zymwxv486tGE0uYes/4K1NyeQ/2ph2lMXvHL31ad8x9Fj5ar6v3cz0IZ9wPFeBx5AvWT3Jv+yFUJjsE8wbNoU/EowovJ5k/vJJ+BXWpgDQE73yNV5aHIwOB7q8u4b/9bxzYU/x9Wjl3pReQ1/j1Wda4VamM+4uyy0v36lBG1ny3S9sP3UVTcFGilOdzjz1ykRe7FqN4mLBhtSzbPzhO1btOMnV/AkprHFvEsBz48bzTPXjfDhxGRf0NrR5/UemdCw8xczInfz03WI2Honkhu72vymsvfAf8DLjXx1Co7tp8AXouHZwEXM/X8XxOO1tf1E51KHr8Dd4Y3hb3IoMJpqpDDMi2LHkK378/RhX0nUF/qxyqEGb/iMYM3rQ3f1uc6WfGcmupQtZuvEIkQUrBy//QYwYP47Bje/o03IvsP7D6fyRfFsr5caxRbx77J//VuM7agVtXvElN/Q3Pnzr97zA1j+Hp3Fs8VvcOtyXUctXMLbMASsz9ak5sRxeNo9vVh8i8ubtZaFyqEXnF97kzedLzo1FXX+aui7nclIG506eI7tPh2LPNSGEEEIIIcQt5Tx/x0iuNoOMjAw0GXHsfX80U77fx2WNAQt7Nzy9Palkb4EC0N+4yL5Fk3l58i9cKPRtUjq0mRoyMjLIzNHfNsAveKiWDI3pe3N0xR5ZiHQCvx/H6JnLOXIlHT1KLB3c8Paphre7E1YqQJdO1NFVzBn7EnP3JZpmENxJH8+BT15m5DtLOZg3sFLZVcKjqjfuTtYoMaK9doLf5o5m5PvbiCk4Di1Z/t+pL/536rSmssvIzKZgkeSrp8wUjnz6Km8t+4u4HCucqnjj7eGCjQpAT3rEbr6dNIr3d17LN1hUoLa0xc7ODjs7O6z+Cdoo1Fjn/ZudnR12NndEjYy5aDMyyMjIJFNrxtdsWTWlYwsHsjIy0Fzax96gYjZ71seyf/9pbmgyyFQ1oX2rO4JVhdWjrStVvL1wc7JGhZHsxLNsnj+OEVOWE5JRlozeZbmhJ2b7e4wa+yHr/s4LtKjtqOTpQ1UvNxwsFYCOGxH7WDLtJd5YGYaWwmVHbuDtl8bw8W/HbwWrVBZYqpVg1JJ4bjMLxg9nxvpgoi5d4lLkJRI0hbV4PfEHPmLMy2+x7EBesEptRyWPqqbzRglG7TVO/jaHsS/PZsddNfj8jKQf/5TXZyzleFwOVk5V8Pb2wNnUUNGnR7D3mwmM+d8O4gptWmYqQ80ZFo1/ifd+OWwKJiktcXDzxsfHdJ6rAH36FY6u/h9jR85hX2KhvUXRzJS+Pn4/n44ewbvLDuQFq9TYVfLE29sdJ2tTXV87uZaPXhnB+ztiuK12FGqsbP9pj9b/BqoVautbbdTOFmvLvLlWastb/279b6NGbZ2vTdvaYFHWq5O5+tTMYJZPGs7UH/blBasUWNhXxsPbk8r2avTpl9j/3UTGzjlEakmXD6uGNKpjARhIDQ3i6r02ayGEEEIIIf5DKsySQH3oWr4L1mFTfzCvThxFf39v09INQyaxp/5g6YJv2RyaTspfX/Hugposnd7xrmYd3avc4J/5ZNk5NEawqdWf8dNfY5C/57/L4HQ3Ijn2+yIWLN5NlPYyf3z8Ba38PqK3a/7MZnP+p+nM/i2MDKMC25q9GDlhDIPb1cJRDZBDyvl9rPnuK1YciyNqy/tMr+zJ4vHNKe935Rkur+f783qqD5jB1FcG08LDNF8gNyWYXT9+yrx1QdzMjWb751/Q2v8z+ldWApa0mb6J/dMBMtg8uRvvH85F6TaIT3+fSZETv+4bK/x6dcNr4ypi9Nc4si+I11v4FzojTx+3n8MhuYAC53a96OCU/6+316NdnT6MHD+ax9rVxFFl+nty8F5Wf/cVK48nkHT0K6Z/VIWl7/fGvVRt9+7KTR+7nk8+2U50DqD2ovOYGUx4pgPV7fK+NCeR4F3LWfDVrwSmpnL82/dZ3vJnxvje0R3cPMqC6R+xN1YHWFOtyzBGDnuMzk28sVfpSI85x6HNy/lx5UEO/bgORTGD9+zzP/L2rHWEZRhR2NYiYORERg1pT01TgycnJYT9q79l4YqjxEdtZs60yngsmYDf3TZ4QzL7VmzGssZApk0bx6AWHqaZLbkphOxczOfz1hJ8M5eY7Z8yv40/H/d3uy16b54yzCXk549YFqTBiA21+k1k2rhB+HvY5P1dx41LR9n0wzwW74lCe+V3PpnfGr8P++BaqvZhpvSzQ/jprZn8FpaBUWFLzYDRvD76cdrVdDRdIHJSOL//V77/ejnH4qPY+sEbVPb4ifH/VI5lO6ZtOMw0gIw/mNJzFodzlbgN/IKN7xSc6WrZ9i3WH3gLgIzNEwn43yFylW4M/Gwzb991Z2CmPtWQxpF5b/Pt36noUeBQ/zFemTiKAfmuRzEnN7H0q2/ZsnMNMSXmy4GaNaugOnYVfXQEl7KhboW56gohhBBCCFGxVZwdknS5WDR4mfmLZvFUK+9b+4wobfFu9SzvfDuPF+pbATqu/vENay6Wx6NqHZGHD3FZB6jr8OzsWTydL1gFoHaqTacRc/l8jB9WgDH1MLuOam5LRR/1G18tP0eGESxrP8PHP8xleKd/BlYAllRq2IdxXy5hVm9PVGQTvuozVoaX/+N5o0aDVde3WPDeM/8GqwAsKjWm/5tfMXuQNyrAeP0Im3ZcK7+MlsCySS+6VlUBeuKO7CO40ElWeuIOHMQUr6pE+57tsc//13z1aFX3eT79fg7DOv4TrAKwonLjfoz/8gdmdHVDiZ6EXQv44Wj6ffxlOi5v/Z0TGiNgSf0XP2Xuy51uBVoALN1pPOBN5r//BFVVQHYY27ecI/e2dHIJWbmAjVd0gCW1n/qMHz4bRz8/77z9uNQ4VG1B/1fnseSTZ6hlYSx6VqM+ivVf/UyQNq2OHQAAIABJREFUqcHz1CeL+WBE53+DVQCWlRrR+7Wv+GFWHzxUkB2+ki9WhnH3LV6H3rk7076azVP/BKsALCrRaMA05v/vMbxNDZU/f9/BNf3tnzVLGeoiOXT4MjpAVed5Zs18Jl8wCUCNU63ODJ8zn9F+1oCR1CM7uaO7KOYnmiN9PVHrv+SXoAyMWFL76c9YNOdFOv0TrAKwrETD3uOZv/h/9DJVDr9+/gsVoDv6l7n61NzQVXy3JRo9YFV/BJ9/O4un77geVW39HO999yUv+JZmEzQV7u6VTP83O57YJDPOFBVCCCGEEOIRV3ECVsoqBIx9iWZ2RfzZsSWjJw42DQ5zw9m2KZBiFnLdJ0YyNJmmgbnCHc9CN9MCUFPtsRl8Mncuc+bM4ulGt8+6OP/7egIzAaUX/SeOp51LEdWg8iJg0it0dFRAThi/rz1e5NKtB0ZVlT7P9Sp8hpDSmXbPDcybQZBDeHDwA85cGVg0ome36qYlU3GH2V9YxEofx8GDIeQCSrdOBLTJPxcjXz2qqjJoymu0di6iHi2qMfDN0bS2Awxx7PltN8llXPlVegpsmj/LjHdm8va7HzLjmQZF7plj36I7bdyUgJ74yAhu5s9T9gk2bYkwBUOqDmbK6x2pVOjPU+La4TVeDXArsjPJPb+BjWcyASVe/Sczrp1rEceq8Ow1mTGdHFGQQ/jGNfx91w1eRdU+QwkovKHi3G4o/fOmuuRcDCLktuo3UxkaNWiyTP+gdPMqfO89AHV1Hpv2KR/Omcucmc/QqLQzcMyRfm4ImzacwdQdDWDCuPYU2R159mbS2E44KiAnfAPr/s4qZUbvN3P1qTkE/rGFCB2g8uGxSWNoced2df9w8Ofl0QG4lXgFVeLs7GRaJmlIIyVZAlZCCCGEEEKUVsUJWNk2oXWLIqJVeWz8+uTNijEQf/ov08DigVLhU9MHCwDdOXasCyStiMCD0smXDr360rtPb9rUzBfo0F3i6N+mJ/gq7670bVX8b1a6daWHvx1gIPn4IYrbbumBsPGlkW+RO5SjrtaQenmBm+y01AeVq7ugxjegJ7XVQN6ywDuLVh9/gEMhOYAS9869aJl/8kr+eqzajd5+NhRH6dGLPq1M7SAj8E9OlHYWTZmp8G41iMFDHmfI4J40KmrgDqB0wNHe9HdjThZZ+aZI5YYd53SyAVBRrccAmhe7NM+Blm0aF/J2SAAdl/88TrSpoOjSrzXFtnilO116tMQOMCT/xeG7bvA21GvkS5EtVV2Nhr4upg5Qe53rN/KfyOYpQ1TVqFnVtMRNF7SNdWfTCt/PDiVO9TrRq09fevdqS83SLoM0Q/q6y3/yd4ze9Ju79Kf47kiJW5cATN1RMscPFTxnyoW5+lRdOH+fScJA3jndrPhz2r5laxqVYgd1pZWFqR0atWi1Zd0zUQghhBBCiP+uCrObhtLeGeeScmNRj3o1LSEqC31MJJe10NC+hM+YlRL3Xi8w6NdTrIvScHrRKAZvbUrbtq1o1qQxjZs2pb6PU9GDZIDsCCL+2XnXKp0Lm9YSWex3GknMsUGJBkNSJBdTDbTyKL84o9LeKd+St0IonHCyV0AyoL9v04jMQl07gG51lhIeqiPuyB6CJvjj/+8WOnriDxwwLRVUedEloMXts2zy1aNlzfrULbbSAeyoW8cH1YEw9FmXuXg1l76NS/zQvctO5XLYBS5fS+FmZjZ6Q76le4YkLt4svI6yrlwmXg9gTa16dYpv04ClszN2SsgskFw2ERFXTRvwK6xIP7+R34pv8BgSc7BRgsaQxKWLKdDKs4RvL4TSHsfiGyqOjvYoSAIMGIprqndZhijd6TV0EKtPryVKc4ofxgxka5N2tGvZjMaNm9C0SQN8nO6hDZgh/eyIi3kbgSuwSj/Ppt8iiv9OQyLZpsoh6fJFUg2tKcfuyMRcfar2MpdjTelY1fKlTomN3gUneyVkldDPKVQoANChq0DLKIUQQgghhKjoKkzACoWyFNO91Dg62aMgC6PuJjduGsD+AY+WHDsweeEXOM9bwOrDkaTHnGHvb2fY+xuAEitXH+o18qNl+x706d2BWo63589w4zo38ja60UdsZv7Hm8vw5VlkZpTzE/oS60mJsrwHsKWlrknPHg34MTQIXdwR9p2bjH/LvIiVPoGDeTNIVFW7EdD09s2gb9WjAjsnh1KcSEocnR1MA1fDDdKu399gni7xBGsWLWLtnkCuZZR1GZKe9Jvppv2jlLbYOxQX+MmjUOQNyu9guEHaPw1ed5Et8z9iSxlykpVZ6CtBS0FRYjtUqgrN8b/urQxNHNu/ydefuTD/61UcikwnNnA3vwXuxtRdWOPqU49GzVrRrntferevjWMZz517S9/Ajes38vbd0hGx5Qs+KUPlGDMzKO/uCMzXpxpupnHT1OixdSzNOa1AWXwTysuUzjTzTWGJWl2aDwghhBBCCCGgIgWsykABGClmk+f7zMKzE2M+68AL185y5OBRTp0N5kJoKJGxaWSnRhF0OIqgw5tY/n0D+k98n6mD6uRbLnUr3yq7yrg7lmGGhbpy3obXwjxU+AT0pPHiIAJzrvHn/nNMbNkSS8CQsJ9DpulVVO/Wi0YFqumfelTk/a8sjBjvY+PVRW/inVfnsC/+1nQOlY0zLo42WNwWsNChSUoivcCsDwVKZd6sEKMBo/7eMmu81eCp5O5Y6NsYC2dB5XJq8Pdehv+wwLPjK3zafjjXzh3m4LGTnAs+T2hYBLFpWlKjznE46hyH/1jGovoDmTB7GoPqFL8UzazpG/9pxyrsKrtTtu7InorRHZmnTzUa7881RZedbQoKKmyws5eAlRBCCCGEEKVVcQJWRmMR+6/kpyP9ZobpOLUDjg6FT0cwGotPyTwDEyW2Xs3p9Vxzej1n+pec61e4cPY0J//az84dR7l84wJ/zJ2MynUVb3d0MH3Kwcn05iodWLefytqPehWx9485GSmhSO5rAKUiU3n1pEfTbwk8mW1aFjixJf6WBhIOHSA4G1DXpntA/QInyq16NJCZnk7J828MaG5qTO1O6YiT032ahmZIYseCeeyP1wEWeHV8kXGjn6RrI/eCG4frQvj2hRf5qcBmcEqcK7liBeiMGpJTsqDIbcdNjHo9hca1lA44OeU1eJsOvLHuEwLuf4O/N2YpwzsobfHy681zfr0xdRc5XL9ynnOBJzh2YAc7j17iRujvzH1TRaVf3qWDQxnzfFfpK3FwNi1h1mND+zfWMzegLMGyisFcfarK0RmHf89pDab3YxbHiKHEflNPcmre3mIKV9wqPyzTT4UQQgghhCh/Febu2aC5TlpJ+3vkRhB+ORsAlUcNatwxKjE9uzaizcwqJvhlICM9oxQBhrKzdKlBs66PM3LG16xcNoVW9grQxbB70+FbB9nUpra3KfyhjYrk6v3c0+SfZVpGLRnF7bNi0JCe8aA2V8m3dOw+zWgoE6UHXXs0xxowxB1h77kcMMRz6EAQ2YCqbg961C4krpuvHrOvXORSbklflEVERIyp3VnVoHb1su5dVMpyy/ybgyduYgTU9V/i00/H0buwQIspoSIDmZa+vtTIe9tjWOAZMorNm4HrMbHcLDRTNtSq5W2aiaO9wqX72uDNxExlWDxLXGr40WXwaGZ8uZqfJrXGXgH6mJ1sOnLzXnJfpvRtatXG1Iy1REVe5Z5rJ98EImMpouCKW4367oPm5upTratT3cM03Sr7UljJ53ROGjc0JVW+noS4JIyAwt6LqpUrxpw0IYQQQgghHgYVJmBFZhAnThe/X0128C4ORusBJZX8WlMv/5hf4YBD3nKL7KuXihm0ZHP+wuVSzOYqRO45vh3Wne7dOhMw8gfCihkYWfi0xd/HNDjJio+99Qd1Xdq08kAF6C/tZ094CaOim/v4YEhXunfrQt8pvxFfhowr7B2xUwDkEH25mMFo9nlCLz+oDdIVWFubhv6GzPRillI9KErcuwXQwhYwxHF031m0CQc5YJpeRYMeAdQsbB5i/nqM2sfukOxiv8WQvJ/dJ0xhH+vG7WjlWNZ8lq7c9GnJpGabfpezb2NqFjdFJDuOa6mFh25VVbvQsa4aMJJ6YA1bY4oJ8eZGsm1HEIW3ZDV12rbGQwXoLnFgT1gRx/3jJvs/eIye3TrTo88kNpSlwZuJucowN2ghw3t2pnu37oxcElZMMMgCn7YtMXUXWuJjk0qVT3Okr67TlpamyiHywG5K7I72/4/He3Sme/devLE+rmA/qrTB1EwNZKbfLDEAprS2Ns1iMmRy8+Zddgbm6lMt6tHSzxUloI8+wK4SzmnNqeOUcAgYUrh0JRkDoKxWtxQvZxBCCCGEEEL8o+IErAwJ7Fr8M8FFxawyg1i2YANX9YC6Br0Htbp9xoNFHerWMI0G9Jf3sD04q9BkdNF/sO5A8t0FrFRV8XLNIj09nbTgrWw6k170sdoYYpNM36K0y7++x5Jmgx+jvhWgi2DdlysI0xaVyE1OLvmO7dE3SNcY8O3UEfcy1JhFnbqYikTHpT1bKbxIdERvWcOBlAcVGFDj4elmmnGTFczfp4spwwdE6dqVnq3sAQNxR/awf98BgrSAZRN69KxWxD49+epRH8XGL38iuKhpSIZE9n/9PX+mG0HpRtfHe5epHk1KV24qe4e8PXkMpMfGUHS15hCxYS1HbxQxrUVdi8HPdsZFAUbN33z37recSC0kMV0cB+e9y0/BRY/cLZsNYVADK0BH5Nr5rAor/NwEuHnyBxZtu8qNdA2G+p1pX/aCumfmKkOVtxcu2nTS068Tsm0jZzRFf6c2JgZTd6HAzqF06wHNkr6lH4MHNcAK0EeuYcHKMIrujk6wZNFWom+kozH40rFDlYIXEJUHHnmziLJC/uZ0MXkyHe6Jm6lRE3LiFCUcXgRz9ak2tBrQBx81oI/i9y9/IqSo61FGIMsX784r02JkBRN8UQ+o8G7qRxWZYCWEEEIIIUSpVZyAFZAV8iNTJnzG1vOp+Z7M67geupV5EyaxNDgLUFGl16sMbXzHtAdlFboGtMReAegus3b2u6w6k5hvNkcuSWd+ZfbkLzmuKeKNZiVROtO5X2dcFYD+Kuvfnsj8bedJveOBvjb+JKve/4IdyQbAmkYd2t72d3Wd55n4bD2sMKI5/Q0TJ3zBtpDU22ae5CQFsnHuOKb9GkEuYNvoBcb09yhThSndu9HL3x4FoL+ymtnvreBMUr5vyU3kzOr3mLLgLzSKB7UZsAV1WrWgshIwxLN1zgTm/vwH+/88xt/BMQ8oD3dQutKpZ2scFGCI383Xv5wmG7BqGkAPr6JHmLfqETKDFzN5/Mf8EZRMzr9HGMiMOcLyt8cye2scehS4dnyVsd2c7+LEK2W5ObTAv4EplJt9ajGzv9lN5M3bZwDlJAWx5cvXeP2bk2iKXIalpHKfN5jYwx0VRjTBS5nw/AhmLlzJ1n2H+PPwbv5YMY/pI55n+rpwstXqon+Tui7PTnyOetZg1JziuwmvM39b8O3nTU4iZzfO4fWpq4g0NXieHzMAj/LoocxUhkrnrvTr5Go6/66u451JX7DtQuodM8yyiD+5kvfnbcfUXTSmfZtKpcqmedJXU+fZyTxjqhxOf/caE+dvJeT2yiEpcANzx7/B6ohcwJaGQ1+hf2GVY1GHVi3cMDXTLcyZNIflW/bx51/HCY4pGP2xqNOa5m5KwEDC1veZNHcZW/Yf4fjfQRRyeJHM1adaNh3G2J7uKIGs4MVMmfAF20Jvvx6lhvzBZ+Mn83NokVGxf2WfO85ZjRGUrjRv1QCZYCWEEEIIIUTpVZhN15WufrT1iOBY4CpmD1/L51V88HKxICctjpj49LwBgwKHZiP54M3uVCowVlLiMXAio/ec58sTaeTG7GP+6EMsruKDt4sl2ddjiU7QoFc40LxvWxJ3HiC2zJOKlLj2nMSbx0KZteUqudfPsOq9oaz52A0vr8rYWxjQ3kzkWtx1svNmMzj4jWTSkzXuSMeW5q98yluJE/ho+1VSTq9g1ojVfOrujZerLWQmE3sticy8UZJVtX5M/2AkDUv/erW87HoyYMJY9lyYx4m0XGL3f8GYw4uoUtUbF6scrsdGk6DRoXBoQd+2Cew8EHt3M8/KyLr1cEZ2OMDHh1PQJwey8etANgIq3zH8tfLVB5CDgpw79Kat0352p10nKRnAhuY9e1Cl2IDJ7fWYFrSGD15azzw3bzwrWWPUJBITe51s007rOPmN5MP3HqPqXc6yKFW5qWrw+CvPsHPScsK11zn98zSeXWlPFW8vXGxV5GoSuXYthSw9WFbvQVfrgxwoam2ryov+s74mWzWN+Tuj0CYHs2NZMDvuOMyqagCvP6FkyVc7SSsieGPbfBxz30pkytxtXE05xar3hrHmU3eqelbChgxSYq+RdKvB03fGh7xU5gZvJuYqQ6UrPSdO51jou2yNzuV64ApmDVvNJ5W98Kxsj6VRy82Ea8SlafM25XbA76UpPFmjlA3EXOnbtuCVj94hafIctl9N4fTKd3lxzce4e3vhagOZKTHEJmXm7ftnRbW+b/PBS42K2JDchtbDRtPh4IccTtGRErierwPXA2p8R61gxSu+tx9u3YZhIzty6KNDpOiSObthAWc3AGpfRi1fwdh6pb1EmalPVbrRY+qHRMRM5qdgDamBK5j1wmo+9/DB09mCnOvXTNcRFDg0HUy7rC3suljUUsZsAg8cJckASreOdPMv/sUFQgghhBBCiNtVnBlWVvUYOv87pj/WCFe1Dk3CZcJDw7mSF6xSWHvR+vk5LF74Ks0di8i2ZT2e/+IHZj7RDLe8pXCahMuEhYZxJUGDwa463V5fwNwh3nf/OnaVJwEzF/PVpAE0drMyzW7ITCI64gIXLoRxOdYUrFLaetP62f+xaMEoGhX24i2L6vT/3898/9aTtPCwRoGOjMQoLoZe4OJV08BKYV0Fv8Ez+GbJ+/TzubvYomXdF/j8+9k83szN9HRfpyHhShihYZdJ0Oixq96d8fM/ZnAxM4nMTlWNIXMX8/HYAfjXdsfeUoVCbYWdXTm+Ps6xHQHtXW7NvLPzp2fXyiWfIIXVY1IUEaFhRMaYglUqh9p0HfU5P30zjpbO93DKlbLc7FtO5OuFUxnYuLIpqKDTkBAVTuiFC0RGp5BlsMWn4xg++XoizW1L+E6bejz+4a+smD+ZJ7s2pVpleyzVaqzsXfFu0JHBr37G8pWfMtjHIm8jeAWFT1+0oHr/D/hx0Ts83sIDKwXoNYlEXbxA6MWrpmCVwpoqfkOY+u1PzOpXrVyj6eYqQ5VHL2b+8A0T+zfBzUoB6MhMvkpk6HkuhF0iNk2LASW23m14dtYSvhzZmLK8p89c6VtUH8DspYt56wl/qlgrQKchMSqc0NBwriZlokeBVZXmPDbtexbP7k9x3ZHK53E+XPQZY/q3pLa7PZYqBSorW+ysC/uQCp8hH/P9J6/Qr2Vt3O0tUSnUWNnaY13WLslMfarSqSWvfvsTs59rjae1qUzT4/OuRwka9OrKNB78Lt/MH0ad4mJQmqNsP5iAARVePfrRsqK/HVMIIYQQQogKRmEszaucSiEm5hrxCYll/NRNfp/Qkw+P5qL0fJqF69+ilSVoE0M4eSKYS/E3yFXZUamqL36tm1PDsfQjmOzkME6dOMflhDS0RmtcvOrh18afWs5mHAbr04kJOUNwRDSJ1zVoDUqs7F3x8PGlaYuGeNqWMjihTyf63AkCw6JJ0uSisnagclVfGrdoQvUy/ObiZZMcdpITQZdISNNitHbBq15z2rSojTmL5D/tznq0caZKjYb4t2yIW7lMrtBx/VIgp4Mvci1FQ7bBAvvKPvj6taJpdce7D9oW4uam1+n3wRGyFa4M+GIbszoX94P1pEef5WRgGNFJGnRKaxwqV6VeE38amzlf9858ZahPjyYkMIiImETSNFr0CivsXT2oVq8ZzRt6Udru4n6nr0+/yrmTgYRHJ6LJVWHtWJmqdZvSvEl1zNYd3W9m6lP1Ny4TeOIM4TGpZBgscPKoRZPWralfuaQT2kD8xok8N/cIGnVDxv7yM6PqSEcrxH9Fvbq1sbW1IfBscHlnRQghhHgoNGncACurgvfYFTJgJYQoZzkn+HrMHPalGVHad2DS99PpZF/UwensmzmEGdtTMKqbMn7NUkZUf1giG0LcBzlBLBz2Mj9H6nHp+SGr5/bFteLMZxZC3GcSsBJCCCHKpqiAldxCCyEKUteiZqVUYmOiuRq6gYULD5KkL+xAPYkHFvD93hSMgIVvJzp6S7BK/JfpidvyAxsu6cC6Mc+OCpBglRBCCCGEEHdB1igIIQpSViLgpaGs+3sR57NyuPTbm7wQ3I0+PVtTv5obDhZ6MpKvcv74LnYcuECqDlBXY9DYp6ktvYr4T9NjrP0E7336OAqXurSRpYBCCCGEEELcFbmTFkIUyqrxaD77KIf3PvyFU0k6UkN3syp0d6HHKmxr0ffNT5nc3vEB51KIisYSr2Zd8SrvbAghhBBCCPGQK+eAlR3dpq+kYYYBhYUL3rJ/lRAViAr3jhP4ft0ADm/5gz1HTxN6KYbEGxlk5YKVnTNuVevSuFVX+j8+kFZe5bKzvBBCCCGEEEKIR1A5B6xUOHnXxal8MyGEKI59LTo9O4lOz5Z3RoQQQgghhBBC/FfIVrBCCCGEEEIIIYQQokKRgJUQQgghhBBCCCGEqFAkYCWEEEIIIYQQQgghKhQJWAkhhBBCCCGEEEKICkUCVkIIIYQQQgghhBCiQpGAlRBCCCGEEEIIIYSoUBRGo9FojoS0Wi3Z2TnmSEoIIYQQQoiHkp2dLUqlkvR0TXlnRQghhHgoODjYo1QWnE9ltoCVwWAwRzJCCCGEEEI8tBQKBQBmusUWQgghHnkKheLf62d+anN9QUZGJhkZmeZKTgghhBBCiIeOi4szFhZqEhOTyzsrQgghxEOhcuVKqNWqAv8ue1gJIYQQQgghhBBCiApFAlZCCCGEEEIIIYQQokKRgJUQQgghhBBCCCGEqFAkYCWEEEIIIYQQQgghKhQJWAkhhBBCCCGEEEKICkUCVkIIIYQQQgghhBCiQpGAlRBCCCGEEEIIIYSoUCRgJYQQQgghhBBCCCEqFAlYCSGEEEIIIYQQQogKRV3eGbhfMk8t57Pfw9EpnWg1bAqD6qju0xed5JfPfidcp8Sp1XAmD6rDffom8V93R1t7c1Cd8s5RmekjN/Pl8uOkGdTUGTSVEa3syjtLZqW/HsrB3Yc4ezmem1oFttW6MfWljuWdrbJ7BNpahZMZyOov1xOiVeLZdRzjulcp7xzdP9og1sxbS3CWkipdxvBqT2+5LgpRwRhyMtBowcrODitznKCGbDI02Shs7bFVm+F5uLnTu68yCVw9nw0hWpSe3Zg9rnt5Z0iUB50WTaYOta091hVuhG0gO0NDtsIWe1v1vc9YeajOzwpI7pPKpJxPJz1Rmz9lwZ449Eo3uo5/myG1S1Nd+T6nqkL3CTN4rMbtn8sJ3c7SJfvIUXqi7Trh/gWsckLZsXQx+3KUeGq78boErMT9ckdbexiDCLq4I6xesowYgwVd6rzGsFZ2j8g0Tz0xW99h5Bs/c+6G4d9/VdXSPZwBq0egrVUsesJ+msk7X/9NlmMXPhxZ+ba/3bqeedJz0jQGVivlVUQfzdZ589gVo0fl3o157wy5q9zpQlfzwaKjpBlUuHebwIzBNctwHTOQvHcBczdfRo8VTYb+j1GtauKZvos3ll3BuP0G9XZ/SS+Xu8qaEMJsMojcs5Kf12zhwIkQLido0AGo7XCr1oAWHQN4fNgI+jd2KfX5nxP3F2t/XMaG3ccIupSARmcEpTUuVX3x7zyA50a9SD9fx1Ln8K7T011gzQeLOJpmQOXejddnDKFmGW7GDcl7+WruH1zWg1WTF5g9qhW2pf84+rClzHrnK/7OcqTLhyPL8EnxcNOReHoDPy/fwJ6jgYTHXkdrAJRWOHvVpVn73gwZ/iJP+LsXO+DWR2/hi/m7iNWX4atV9XjyvfF0ci7mmJw4/lq7hJ837OavoEgSNDqMKLF28cHXvzP9nxvFiH71Ke0Zes/nu/4Kmz9bwJ644n+oQqnCyq4SXnX96NizO/7exZ2N+e6hik8VpcoSW1dP6jTtQM8ebfAp6pl5gXyW/d5IF76Oud8dJuWfIYHKh75T36CPZ96ox1ruk8qi3ANWKYFbWbv2InpVDZyemV7qgNWtz9Wm0nNTCwSsxL0ykBoZyJU0A1hWpnajGjg9GpGFR5ohNZKzV65jwIrKtRtRXSrtgTDEr2Pm1GWcu2EELHCu3oC6Xg5Y+9Qs76zdP4ZUIs9extRF1KFRdadHJPh4H6Tt4JslJ8lERa2nJ/FM9fzXq/zXM1/ch71R+oCVMY3g7WtZe0GHqpbLXQes1J62JO5ey+8pRtShXjw+YCoNSnt3YEhk+49f8ev+TLDpRLM3rQElHca9QsffZnAwdiMLfnmFHhPqy8McIcqJIelPvpoyiQV7rqK984+6DJIunWTnpZPsXLWEViM/4Zt3++NTbB+Qw5XNM3ll6nLO5ntIY/oyLdevnmXPirPsWfcLvaZ/y4KxrXAu9gJxj+mpvbBN3MW631Mwqi/g9fhA3ix9J0bi9sV8/et+MrGhY7OpWJfykyZp7PxmMSczQVXrGSY8U6NMnxYPhtnvjzMvsGbm68xeE0TanZESQzZpMcEcXBvMwfVLWTbsE76d/Rg1rQpPSndxP7+uWUO8ofC/F8qiA02njqNTESdWzpU/mPXKmyw/e4PbkzWgvR7F2T2/cHbPWn7pNYNvF7xCy2JPUDOd7/oUAretYe3FMkTmLN3xf2oqc959Ab/CE711D1X6VHmvUlOGTJrLey+3ovKdyRaST3WYD08OnIJvqW5kdIRv+p7Fq4NNDwUA1E3xGT35VsAKe7mwOTgLAAAgAElEQVRPKoMKN2HRXNRuvvi3vEmu0p0azoryzs5DSMu+OYN5fUc2CvfnWX58Pj3LdgUX5qZ2o55/S27mKnGr4VToIdp9HzDk9e1kK9x5bvkJ5kmlPQAGknZu4OB1I2CD38R1/DqtpJvzR4B2L3OGjGdHtgL351ZwfF7PMt7k/1foubx6MVviDWDTgRGj2pTpyf0D4dSVAV0rs2l9Errz29kSOpkGjUt3e2BI2MG245kA2LYeQF8vU8NX+TzN6Me+5vDKWAJ/+ZFDoz6jW4X74UI8+gzXDzNn6HC+CzKdpzZV2zPoqf50alYXLycLctJiuRh4iC3r/uD4tSROLBrL09e/5bf5g/Au9DpmIHHHDIaOX8mlHEDtht+AZ3kioCX1PJ1R3LxK0JHN/LpmNxHpV9n1wXBGK39jxdhGFD5eN0d6TnQZ0I1Km34jWXeeHVtCmdSgcekGOYYEdm47TiaAbWv69/Uq08MX/eVfWbIlHgO2tB8xijbSz1VIZr0/zglj2ZineXdvInrAwq05A559gh4t6+HlaIE29SoXju1g7bqdhN24TuCy1xiaY8mmz/riVkjj0iYmkGYAlG407dYKb8tS5EHdgOrWhbdUQ+J23hr6GqtMJxRufgN55okAWtbzwklxg6tBR9jy62r2RKQTvet9RoxWsm7FKzQs9AQ19/luorCrRdtO9SlsiG7IyeD6tXBCwuPIyEnk1MppPHUukkWrZtG9QHTptkSp1bYzvoWO+w3kZKQSF3mB8Nh0dCnnWDfzac5e/Ja1H/WlSpHJKgAjupCdbIuYiG9pIla6i+zYE2oKVpk+Xii5Tyq9RzZgZd9rNht6lXcuhDAj+97M2tC7vHMhCsgl7HwE2QCWLXhyhP+jH6wSpacLZs3aE2ShwLnrczzuUxGfnznSdWB33DasIVEXxvYtIUxu3KwUNwgG4nZswxSvsqPdgPw3fXZ0Gvo4ddZ8TXjsFn7d9TbdBst8dyEerJsc+OgNfgjKBKyoNeQjlnw2lAZ3LIXp0ucpRo0bw7IpLzNz61WurJvOW639+GlotQJP/A2Jm5n11q+mwatdU8YsWs7MHp75+ou2dOr9NC8OW8WkF6ayOTqVI5+8ybcdNjG5ccGRuLnSc+w6kO5u61mbqCNs+2ZCJjemWSlGOYa4W0F3u3YD6Vv0yLUQOoLXrOVEFiicu/Ls4wXLSzxq9IQtmcqcvGCVTaOR/LDiA3p65K/59nTr9ywjR//BO8MmsDI8i8trZvHFY535uPOd69D0xMcnmYIbdu147YfFDLqXoIUhkS2zZrDadELRdMxils3sgWe+c6Ftpz48/eJwfp00lGmbr5J65BPe/LYjv09uzJ1nqLnP938o3XoybdEHtC3yEAOaiB189+7bfHUwDk3QD0x5pxk7v3u86OCS0o0e037g/aITBTK4vPs7Zr79JXtjMgn/5U1mNG/Mj8/6FBqoVtVsQv3kIELSg9m1LYIJvr4lnuP6SzvZfV4HChcaNrIjLDimiNlfcp9UWjKsEkKIe6InNTUNA6Cw9cTTRbpVcUtO4Ea2hptuXLoO6V1w6nkFYddpID2qKAEdF7dvIUhX4kfAcI1d2/8mC8ChA/17u912U2HZZAgD6qvBeJ2Df+wm+b7kXAhRFEP0b3z/WxR6wKrpeL6ZVzBY9S/HJrz41UJG1VODMZW9Xy7kSOadB+Vwdsl804xRhQvd313Me7cNXm+xrfc88758mbpqIOsMS77cRFKBJU9mTM+uEwN7VEEJ6C5uZ2vpOjGu7drGCVMnRvv+vQudAVOknDNs2hqGDgUuXYfQu6J28MJ8MvazaMkJMgBsWjLxq9l3BKtusao2iPc/f5F6KkB/lc2/7uVmgaN0JMYnYwBUlT2pco9TSXLOLmb+lngMKHDp/h6L3rs9WPUv23o8N+9LXqqrBjIJXDKPPwqcoOY+38tCiX2dfkxduoI3WtoCBhK2fc1P50pzXhfHjpoBb/LjL2/Rzh4wJrN74Y+cyin8aIVde/p0dEKBjuBd24gocd2hniu7dhOiA4VrZ3q3LH4mn9wnlc4jO8OqbAxkxl3gbMgVEjV6rCv5UL9pE6o73W3x5JB04RhHz0SSmKnAzrUqDVq1p5lP2TaY1iaEcPJEMJcSb5CrtMe1aj38WzenmmPpn99kxgVx8mQIlxLSyDZaYu/iQY2G/jRvWKWQZSkG4k9u5chlLUZyOR2fd1Zqo/jr93Vcz/tapXNDnghoVIZfUpD+ejjHDp8gPCETpZM3jdp2wb/aneVjQBN1kkN/nedauhHbStVo0q4dTTxK++jBQGbseU4HnudKYhqZOjW2Lh7UatySFvXdy7Z8yZBBXOg5Qi4noDFYU6lqfZo2qcHdN5EkQo8f40xEAhnY4urTgFbt/PCxK/vNjiH+BFuPXEFrBN3pfzYd1BL110bWXc/LoNKJht170ugBBFMyYwP562QIUYka9Fau+DRoRTv/GjjezVdrEzh/8gRBlxK4mavC3tWbev5t8KvmaOanmFoSzp/gRNAlEm9mo7B1xbtuc1q1qI1LKepYp887VywtCzydKlf5yy9bga2rN3X9WtOitsvddf6GeE5uPcxlLaA7xa0u4hi/r7ueVycKnBv2IKBREU+JDBnEnj9N4PkrJN7IRKe2xcWjFo39/anvXpaz0pz9dv76z0Vp70rVev609qtOGbrbQuQQvGMvl/WgcGpPr86l33z4gbPtwMCeHqxZcQ1d5Ha2nJtK8xbFt2bDtZ1sPZkFKHDsOJCASnec5Gpf+vSsx1fB57n553YOpj3NE8VtECvEf1xO4PdMX66hw/NDGdDS856XWacd3svJLABL/J8eStOSErRtydAnmrHko1PoYjfz65536DIo3xYEmX+yan0YOkBV53mmPFej2GuxfdvxvNptNW/svknqvl/ZFPs4o/LPMjVrena0HxiAx5pfuKaLYMeWs7zZ3L/4a7LhGru2niALUDh2YkBA5TLdp+cE72CvqYOnfa8uJW5eXbZ78qKZY3yQl5D57rHMeF9buLLf09+P++PsU7s4mGAAFLj+n73zjKrq2ALwdwsgRRAErCiIvfdYYy8gYI1GY0nRmGaqGrtGTYyJGqNJ7JqYWGKNilJsMbEjIhZArEhREKRI55b341wQhAsXvVhe5lvLtd7jnsyZMzN7z549e/b0GseYhsXPkxZNe9Kx6irCIzUkX7nA9WwvCk6tOcTGPUADKB0rU+WpbI50TmzeQbgkUAz/fDjFpni2as+H73fnzy/8SXlwhC17ohg4Nl+UoLHl/UmwaMzb43qxOnAPiapwDh+8ysTmjZ7agWFW/03Gua3g9Pb7qG8fwf/KDNq0KKJUmSWd3DuxztebpMu++Fz/uPhjgepI/A5eJAcZdp370s78CsuKq4iwkwzi/9ZhlfTnW7SbepRseRWGb/ibrzsXdZJWzf0zv7Jw4Qp2n4kkPb8n2NSRZv3GMnnqezQ5M5GhSwPJMe3ENO/vcC9mVsmJ2M/CL2aw4URMwcSW8vLU7j2e2fM+o2f14ps9NWQHSxYsZfPf10h+3JFcriqvDPqIaVPfom0xOzkpIdtZMn8Jm/+5ycNC3mAF5Z07MPDdyUwc3RaHPLnL5vLmaXy8Ja7AcVttygl+/uxE3v9X1v+0VA6rvL4wac7E/etp9/cUPl24l2up+d6isKXx4Cl8N/dNWtgAKcH8Ov1Tvt0dQnL++ivtaT5kMgu+GkNzvZaBmvsBG1n07Qp2nY4gtZCHX4lNne6MmjSLzzzrFG8kqOM489tCFq7YxZmodAoOkWb0e2cKU8c35szkoSwNzMa043S8F/YrUGaB7z+wGY+ri/hi1jqORxdMfSovX5ve737FvE97UuQQSdrK2+2m8He2nCrDf+XE168CkH15MzM+3kxcwU7j5M+fcjLvkxvwyb7ujybk9L94r81n+GeAw2vr+Gdhd71nzTN9P6H9h3tI1lrj+fNZfnQr2uLNuu3Dj199w7qD4aQUGHNyyrv2Ytycr/nAUOs79Qo7lyzgx81HuVZYCKj6ymA+nDaNN9uWzrgs4kWE7FzMgh838fe1ZB5/k5ljC/qN/ZKp47tRvYCBkcXRKZ0Zu02SFXW21JfauG2803B33oSucBnLtcMzSqhDJidm9mDMpmg08hqM+eMgs9vpP/mvjljF632+JTAbrHst4siqwdgV+qzi2s8Mx+YejJ08jfHdqpfOwZZ9mc0zJrCl4GAj5eRPfPZosFH/k/2FHVbqOAI2LuLblTs5fSeVwmJpQ51uo5k083M86xR/I4zx9Hbx/V+u6isM+nAGU99s+2SRUeo7nDh1U4puaNyBduWfoIxnhgXtvXpTdfOvRKlv4rsvmC9btilmfGiI9t1PYAYgs6GzR68i2khJ3Q5tqLQshOiH5zgekM7gXiJBg0Cgl4xITm1by9YtP/JV4x4MHDaCN4b0pN4TnTNXEXE7ihwAuS01nQ2ZLxVUdXHCgkBStImcPHKGTK/eec6ArCB/jt3TAErq9htIs+KS1ADIK+HWvxNzDh4gJeM8h47EM3ZMpbyfjV2eRXsvelfdxK9Ram767iP4y1a0KWaS00T7sF9SYth09qBXqRS9mjsnTnFTDZg1oX0xCv7JbPLCGGN9IBX0dDaW0exag3hym/6J7OMSyNJWpq27ByqZCfWGdqFE34LCivIWckCDNi2V1MfzGaljuRcnhfeUc6iC/dP4d7LOc/DYPcn5VdeDASULFJXc+tNpjj8HUjIIOnSE+LffzDtyZ2z5fFIs69WnhmIPiSoVd67fIJund1hBORrUq4mC+6jUkdy4mQVFOayQUb5rPzrZ7Mc76Qp+vjeYUK+uXsedOtqXQ8HZILOlU99XsQheXEI9hJ1kCP+/sauqTDIyMsjIyCC7yOjBTMI2jsV96DQ2ncpd9MhQmltgrpRBdhzBu79htOcY1gXe5MaNG9y4cZeHxYQ3apOPMX34eFaciCHHwp7qLrWo4WglCZXmIdd9F/H2wPfZFqEvnlBNpPdkvLw+YsUh3WRkYk3lmrWoVd0BSyWQGcOZzdMY6vE+W68XHb+YfOpbXh84gVVHpYlRYV6R6rVqU7uWE/aWSkDNw9v/snHaYLw+3sGdvOrIMLWwoYKNDTY2NliY5P7ZFEvd32xsbLCxLkljPUZuX6Snc2f7R4yetYdrGebYO9XCpaqNtCBSJ3J52xTeGLuS0NRQ1r47nOk7QkjGAvsatXCuYi09p4rnwtYvGTZyMYGFQtUBVNze/iGeQ6aw8aQ0sclMbajs7IqrSzXszKUjL8nX/PnpPS9GLj9PkcUAZIay8V13hk7/g1O5ziqZEnMLc6QhEszuBSPxfGsdgTevS2Pk7sPCC/G8788g/tA0Xn/vZ45H52BR0QmXWjVxtJIUpObhdXwXv8nAD7ZR9BBRkaUb0xnZjx6QmVpgU0HXN486DVPLfH1mUx4zk4JlZWek55WlJx+g7tHsfLJUtACkBi1npMc7/OCrc1bJzbGtUpNazlWxLafl4Q0/lrw1kE+84wq3z2OoI7350suTCSsO6gwpE6wr16RW3vjNJObMJqYPdeeDrdfRE8VbMupIvL/0xGvCLxzSOStMrStTo5YL1e0tUQJZcUHs+mYk7m8sJSA5/3+sRZ2d8ahd8rpDRXbGo79nZOYYUJFytO77KhWzMshIu47v/vNSPqyiK02UzwECktPJyDShde9uhZxVhdvPVGo/l+q69ssi7sJOvhndlzd+DCC5iLfoRWaChU0F3Ziy4JGKsMw31mywLjjYQHWb7R95MGTab5y8k4oGGaY2lXF2dcWlmh2SWCZz7eBy3hvwBsuD0vRUwIh6u4j+N7GuTM1atfL6PzPmDJunD8Hjgy3oUbfFkxrE+TAVoMCpaVMeD0B60SjXtj+9nRSAmgi/vZwv7pvVkfgcCCQTkNl2wbN70RF1Zo1bSIlctQ8IPn+jkFNQIBA8Ql6xLk1rlkdBNvGXfVgzcxTd27Rj8Cffsz0guvANf8WiQaNSPZrfi53oi0JLYkgwt/KEVk1kYDB3NYDcnhat6xq0aLRu21Z362gml88H5fvF2OUB5V7Bs7cTCkAd4cu+4pUYUT4HOC8pMV717EHpssekEnQ+VIo+cWpKUz0K/slt8oJ1Ncb6AIxkYxnNri2Jp7Ppn8w+Lh7rLp+zYs061qxeycQeBowY1X3iEqWPl9vaU/FxT4c6lnvxWkCBfeWij9sZijoykGBJoLBv0Ya6hgkUbXQ3amZeDuRCXoeXgXw+KaamefZmjsoQu9oQZChNTJHSs6vIztY/QGXW3XHvZIOMHK74HeCG3kc1xPj7E5QFMptO9O1ijSHXvgk7qWRecPO57Eg6OodxMw4QlQ0yy9q4f7GS/QE3iLh5i5sRNzjrvYqJ/epgFneUH387R8nioSHedw077tfh9YX7OBdyhYCTpzgTfJXggyt4t60dciAnah9zZv5JdBELqPSgJYz/9DdC07TILOsxYOYmjl8OI+j0KU4EXCYs+AhrPu9NDTPIiviLKe/M58Tjh6Gzg1gx/SeCUrRg0YCh3+4jICSEgBMn+PfEOS5dDeX41rkMrmeJjGxu757B7B33dE4EM16df5yQsHDCwi6wsIfkmJI5DGHlhXDCwqR/l/d8/mSNrg5n25pjKF+dxKZToVw6e4qTgaEEH/6JUU2skKEl8fh3fDLqYxb+k4RjV91zZ05x6nwYF/x/ZEQjS2RoSQn4kekrrhQSavWdP5g64y8isgHTmrjN2MqpkDCCTp3k+MnzXAkLxvfnD+lQSQGaB5xaNJHlQUVNx0kc/WosMw5Eko0My9rufLHiAAHXI7l54zYR187hvXIS/eqYEXd0Kb+dM0CBqm+yeck27tcZzsI95wm5fI6TJ84SHHqJg7+Mp62dHMghynsWM7dFl+jYycXs1a/5J0Tqm/MLe0qRUjIHBq+8mNdnYZf38Vmjsgmo1Dw4yJwPvuV4ghpktjQf+R27zlwh5PxZTpwKIuTKOXYtHE1zq2j2/3aAmOI+LP08P4z/mI2haWhlltQdMJvfj4cQEnSWEyfOcSnsEofXfEEvSQjYM+Vtvi4kBIaQTtAP7/LpxhDStDLKNxjC7E2nuRQSzJkTpwm4FEbQoTV83qMGpqi4f3wh736xjci8ScqUZm8tZd269axbt5r3WklTqaxCF75YvV739/WsWfC6QbUxazOAvs6SoyDykDfn9Xms1JH4+AWRBcjsutG/52PuqgLtV54Gg+ew6eQVqf1OBnIp5AKHVn9BDydTUN3n+Hdj+WJbpOFXAZt1Yf4/YdKYOv8dkoqQ4TB4NRdyx1pYCHs+yx+BqebOH18yY08Ekli6M2PzaUJCgjl1/CQnz4USdsGfnz/oiCSWJ1k0aTlFiaXx9HbB/resO5CZv5/kckgwp0+cIuBSOMGH1/F5r5qYkUXEni955+vjReSeKJ7s6yFczwIwwblunRfruGhRmLXGq09NabF3x49954pxnUb54Cut9LDr6kU3fdvMlnWoXU0BqIgIC0OfK1IgEICy7hhW/3uB49sW8cmgtlS3kKNJjeDktkV87PUKrXuOYdZaf64mGWIhKKlUxVEy9DVJREYmGmBXqIm5dSdv0a+Ovs3tPEMrhxs3pHxYyJ1wdTXMppA7uFDTRroqK/nWjXy/GLs8ADNae/Wlpi5nkP++c/o3gNSR+PjqnO523fDUq8T0kH2NUEnBY+Jcl9pFKfinsskfYZT1ARjfxiojuzav+Ke06Z+3fQwa4g/u5u94LSCnSpsO1H78VapYYuPVgAyHKpVRRZ7g9wUTGOHWnhYNXHCu4UStuo1o08WD0Z9/x5bTUXrHdM6N6zrHoBwnV1fDnF9yR1xqVpAus0u+xY3cXA9lIp9Phjo2lngtgJyKjg5GSgmiIi72vi4YwRZHh2KCMeQV6ObeGRsZ5Fz2w1efx0pzl0P+58lERvkOfelqqEoRdlKJ/DcdVtkXWPX1H1zPAcwa8vaav1gzcSAtq+tyKMktcWo1gC9W7+O38Y0wN3BXSqW2w33BHywe3ZbKeeNeiV3jQXz128+MdFYAWhL/3sSum48NdvU1Ns5bQVAaUK4B76z7i58/6IlrvvPoSrtGeEz6lV3LX6OGErLC1zPz5/MFdj9U1w5y+FoOoKTu20v4fkxbquQ/hqWwxrXLeH7c8CXtLZCSvO3xJ+GpEuMZiDaDbIcRLFk1ke5OuZVSUKHhayxYPY1O1jIgjUunL5JRcyRLH3vOtsnrfLfqSylJHllc3vXnY0nyVFzbsYnjKVrAjKYT1rHiw27UzH9+3tSRZoNmsfGXt6ilALJD2bHtTCHln31hJV9vuk4OYNbgHdbsXsfEAa2obiGVJbd0olX/iazes5HxjcwN27jUpvCwnBsLNi5hdNvKj47gKe1oPHAuvy0fJZ011yby96adPD5EXkyyubR2AdtuqwALmk3YyNbvx9C+er6srhbVaT/6e7Zv/JTmxZ+/5NrGuayUhID676xn988f0NM1Xy4FpR0NPSazYdfPvFZDCVlX2TDzpyKdG8W+6dpvzFt5njSgXKPxrN+xnPe6u+TLV2SKfSMvJv26k8WeVZCj4Z7P1yzyT9T9LsehSQ/c3Pvh7t6LRrlZWk2r0bxXP9zdpX9urzYwrEKmLfDqW0tyFEQeZH9g0eaIOtoX/6AsQIZ9t/50synwa4H2a/TuBnYse5/uLvnaz9SBRp6T+XXnEjyryEFzD58F35H3WWWBKpwdW44jiWVTJqxZyYfdnCkglg7NGDTzd355U2qD7NAdbDv7WBsYUW8X6P/6Y1m3+xc+6Omar/+V2DX0YNKG3Sx/rSZKsgjfMJOfSznQVFGRUp4vuS2VK5mX6r99PpjSwrMvLtJA5OC+s3oiOtREHjggOVZl9nT36Ko/d4uyClUdpc7Ojongrtg6FAiKR26Fc+dRTPl5H6cDj/H7Nx/g2bwy5WQ5JFzxlaKuWrdj0Cffs+1scVFXciq3aUMtJUAWgTu2SrltiiP9PJt3XczbDNSmJpKY94J04uJSJHtHboOtnYHLRrkdtjaSDtDGx+Z/mZHLkzBt4UkfF90G0MG9BOhpIHXkAXzO6+bT7h50LW2KQVUUUZKCx7ZyZYrS8EaxyY20PigTG6tM7Vrj2fTPi+zrfzJlzl/c04CsfHveeat9ofQb6vi73M8CkJNxdh5u3Qczedk2jl64yb2kdLJyssl4GE9UeAAHtyzm80Gv0uv9DQSnFn5felwcD3WOHWtbOwMdO3Jsba0lO0obT2xsbieVjXyWnnSCfI9IG8Yya1q80lRvCpNSkXUZnyO3JIecVQteaV58mF2Fbu50tpFBziV8fW8WudGriTuE/7kMkJWnY9/uhkdsCjupRF4ch5U6lv0zhzBwYH8D/g1h6p5ow6MCHiPz1Ca2heYAClzemMe0bg5FN4Tclk5fTGVAVcOaSeE8kLFe1Youq0IXxr7eVPJ254QQdCGjwM/ZQZvZdDYNkOM0dDZfdrHT0zkKqvWbxeS+FZGRQ9iW9RzOp7Q0qamkawFkVKpWXa93XVHzdb5Zv47Vq9ew7P12mD2TkaCkdv8RvGpT+BeF82Be71xeFzqppMGgMXQswnhQuA5lWCcpT4A68iIXYvPP6jIs27/Hoh+W8sPSFSx8u5FepWbZuh9dq0lnymPDw3hQwGGXyanNfyINERfemDeNbnryAchtO/PFlIEYNkQUOA94F69qRT9cocs4Xm8i9VhOaBCPDZEXk6yzbN0RitRUI5j1SVuK6F4ArNp8xBcDqupXOtnn2bLpLGmA3GkYs77sip2ehxXV+jFzcl8qyiAnbDMbDhcxc+slm6Atf3A2DVDU5PU5k+mk70XKGgyaO4ke1jLQ3MN7454ioyOfHlOaefWTbldRR3Fof2ARBpeaaB9fyUkgr0TP/l2wyv9zvvZT1BzOnMmd9baf0mkwcyf2RPosbzbuLf3Op8HIrGg/fjE//LCUpb98z9uN9Eolrd27IYnlPcLDHhSok/H0dr7+l9dg6KwpdNE/0Og3czJ9K8ogJ5QtGw5h+EjT8CA2QepHeQUq2r4cl52bNvfCzVUJaIg+tI8zRS321Hc44CtF+skr9cSzi1URD+mQ22JXQXc8JCGOuJfCES8QvBgoKtSl51uzWe0TSMChDcwZ60YTB1M0aRGc2raIT/q/QuseY5i5xo+rSYWFS9lkKMPbSBtIGed/5IOpe6RLM4oi9Qq/f/oha6/mWy1ps8nK0mli9UNSc5MGykwwMTgoRZn3rDb94aM/G7u8XExb4OlWGyWgiT7IvqKVGHcO+BCkm097eD42nxqA5kEs8TpHg01F2yKdA8awyY21PigbG6ss7Vpj2fTPAzWxxxcx+rWJ7I9Rg9yerlMW8FbdwqNEfS+W+1qAbC77eROeZkHNDkN4f9pClq1ez/o1K1n6zVTeG9SO6uYy0KZx7a9pvPHuOq5mF3xnampurl0ZJoYLFCYmOmeNNp2HuUm2yko+S0UWd/bNYPJv11EDSufBjO5thIzk2ZH4zP6CdWEqQE41j5G4lZT3rUJ33DpLxwIv+/kU4XzVEH/YX7px1KoDfUoTsSnspBJ5gZKuZxBz+QwxZf6ebC4fO0GsBlDUpt+QdsUn3bbqQJdWVmyJKfkwiHmD5jTWe+ZDQY3mTXCUBxGjyeZB/APImx5VhB89xm01oKiJ26COxU+cckd6eXbCZv8ekhL+4eDpdNx6Sl+hdKmDsxncTFdxYfevnPX4gnZFZfCT21Cviwf1SvwqY2JO3Ub6zkBb0bCBM4r9F1HJrKnfWF8oa3kaNqyB0vcKKm0iDxI04JSrZBQ4tR/MsPYGVEVuQwVrXRLEzAydQaEj+xLHTsZKV8y6ejDkFX13QOtq3r4Lraw2U/IQMadB88b6jwUpatC8iSPyCzFoshOIT9SA1YvjUy4KVeg/nLqrARS49B1A652ihAoAACAASURBVGKFyZL2nVpiuTmGoqYwVfhR/pGEgJpug+lYvBDg0MuLjjb72ZuUwD8HT5Hu1suwW3ZU4Rz95zZqQOHszuC2xfevvLIHAzrP4eD+FNIDjnI86U2GFcpy/vQoG3nRr8FPhF1SEXXYm8BZHeiQ3zpTR+PrJ+W3klfpTf8OBeudv/2c3QfTttjGkFO53wA6f+XP/pR0Ao4eJ2nMsMLJ242Bwon2g17HMLGsIN0mqdGSmZGeL3LRiHo7f//XdGNQ8QMNuUNvPDvasH9vEgn/HOR0ujs9DRpoWtLSc7/BFFNzQzIZGBH1DbZOnc2+6OIsHxMav7mMqb3yGVbKJni612VFeAiqGH/2nZxDl+4FP1h9ez8+F7IBOZV6eNGxhLFmamaKjAy0mekFda1AIDAQJfYN3Rk/z53xM+II8vuTP7ftYN+xMBJCfFk7y5f1C2vwiseHzP72TZrlBafXZszcz/EbMp9TyemE/jGe3ic24TmgF+0bu1CpvJKspLtcDz6O7+79nI3JQGbVkMb2V7l8Ww0yJSYmuXaIFs1TOgK0moIXdhi3vFyUNPF0p+6Kq4SoYji47ySzu3QvOGeob3PA5wLZ6JzuHYu3A4p8d1o6GbrXm5mWKzJXzdPb5MZbH5SNjVWWdq2RbPpnTeYtDiz6gumrTnBPBSir0H3qWla8Xa/IdlLFxhKvm6blFTvw8Y/L+axHERfivPUpX974i5nvfsYfIekkHF3A9I1d+XOsa56zVPP0AoVWm9t4ZSWfut+yYgk9cwJNEeKgzUkjITKUMwd3svPQVZI1gHl9xnw9kQ7F2RvaLGJDT3OyqELRokp/QFTYWQ7t2oF/aKLkBKs5lK++7FHiDZ9QgW5unbHx3kfSJT98b31Indr53qNJ4IjfadIAq3Z96aHPG1wkwk4qiRfHYSWzofnA12nnaEgHa0k4u40d5x+UPock6Vy/povOMq9L43olNYESO7vyyEkpIQJBjpVNhWIbVGFjS3lJnz6mVDIJC70lhWDLypEYuJF1l4uvlSYuDXMZJGkSuBoaAz1rS7Vw7M97b6zm5JpwHp5dzOB222jxalc6tmlFi5ataN2sLvZPe0/ykyK3pHx5fS0kp7yNLsJKZkV5G32LOzk25XXPadWoitGmmvR7XL14kWt34khMy0Kt0T4aL5r7XMy3BVNgHKVf55pukWderzElDxE77MrLIaUEzS63wsam2BGCja01cmLQoEGjfvE1Vnp4OHdUAOWo27hhiTl6lBUrYi2nyCTYmWGhuuSuMswSz/H7ukvFF6aJI00SAhKuhhKj7kVtQ4JYMkMJ1WWRNavXhAYlJhayolFDF5T7g1FlhhN6PRvalkE2ImV9PN2bsOxSEDmRh9gfOJsO+TxWmhhf/KTtYKr3GUC7xybtR+1nRj0D+gKrRjR0UbI/WEXmtRDK6rMKoiH9XhgXL13jTlwiaVlqNNpH41xz/2K+ndH849+Iejtf/8vMHhD4+1qKV7ca4tLMkZGEJuEqoTFqeho00LSoVbnOIjnyZ+yvQp3MjTNHOBJevMMqu+fjsXxKGni60+CnEC6pYjnsfYL07vkXKmpu+fgQnA3Iq9Lbq0OJjmKFQnc8IEdFznPf+RYIXnLMHGnhNYEWXhOYFXWG3T/P4euN50lMu8Op3b5cmpXPYQWUa/wBazeomDBhCUeis0i9dYwtPxxjSxFFm1btysdLZ1Hhxz7MuK0GpQWWuWXJzChnqlNkWk0ponI15JozMrN8uzDGLi8fygaeuDVYTsglFbGH93EyvXuBjQb1rQP4SEqMqr29il8E60GrVuWd9JDJ9UThP7VNbrz1QZnYWM/Qrn1im/6ZoSExaCNzJn7N9hDpKJ1J5Vf5aPFSPu9eTe/6UO7aj89nNkGNkmodh9O/mX7XSTnXASz4JZpr7nM5k/6Q0xs3cWH0LFqZAsgwK2emc5xq0RTjLCpUc3VuJJUZ5cxkj/53GckngObuHqYN3WNQiSaO7Xl30U9M6aYvujCvUPZOe429BpUqx7rxcL7+5Rv6VTLMuSQdC/RmX1Iwfj63+GBC7UeRlQ+O4ncmFbDklb499EYv6kPYScXz4jis5La0GTWD2e0MWTFlc37eYXadf1D6Y4HqZBJTpMWK3Mqa8gasO2Qyw0adrKQViUJetKBpHpCQqEsPrApl+7zpbDfojRLpafnTs1nTedZW1tvNZv5qH0ISIwn0+Z1An9+lOpraUqNBc9p06Ibb4MH0aWRvpOR1hiArdtGmyP1RJkMu0/9gSe2cHfU3a75fxAbvQKLTSy/16pREpCEix6q8tQHtI6OY6hZ4ruQh8mJHVBVEQ/KDRMmQklthY22AOpHL9NyYoSEx4YEuSbaKsO1zmVE6ISDNwLlZk5iAJG4yytvYGKAEZdja6m760CSRUGYJ3xTU9vSg2Q9BnMuO5ND+c8zq0FEXAq8h2tdXus1I4Yxb/zaPhcbnaz9ZecP6QmaHbXmpNzRJ8WWcxy6bqGOr+X7xerwDoym1WBpRbz/qf1CFbWde6QYaaYYONGSYmubmRFCjMshQ11AKGxNQo9X3vMKBVgPf4s3Y4mZJJXUaFI4sUNbzxK3xUi5dUBF3xJvjab3onfuY+iYHfILJAeTVe+P5Skk7IBpUOdJNpDIT02d0/Fwg+D8n6x5BvtvYsm073v+Ek6jTqQorG6wK6Uc5du0/ZdPf7vhv+oOd/scJunqLuw/SUaHEvEIlatZvSac+rzHqjT7ULRfK4vmSYlE4VKFy7nQit8bO1gTIAW06aQ81YGGAQGvTSNOFDMgrVMxXLSOXlx9lfTzdGvPjpQuo4g7jfTyNno+UGDcP+HAxB5A70cuzHU+yjyszNc2zHwrcxliAp7TJjbY+KCsbq+zt2qe16Z8J2Xc49ONkpv58lKgsAAtquU/k+wXv0cGxeIOlXENPxjc0/FXKOkMZ2mERZw6lo751mpN31LSqrQDk2NhVQJIoLelpqWiwNCD3j5a0NF00uLwCdrm5qspSPg1FWRO3SbOZPMaN+jbGMB7kmFlXxqXxK/QYMIa3hranWmkSYumOBXrvS+Kinw+3PpiQ58RNPObDyYeAxSv06WFfypxLwk4qiRfHYfWskClQKHT+Z7WaFyWIJS8EU2GFYxXbUtwmpaCy9WOJ4pTV6PbpWrq9G8W5w34cOXGWoOCLXLp6m4SMRCKCjxIRfJQdqxZRf8B0li58k2alPbz/gqK6von3hk3GJyY3B4MMpaUd9jbmKAvMqjk8jLtHchGJJGVyBdIQ0aJW6zNCBKBFq9Uar33yylJg5ViVCqWI9lFWti6FzGh1i3yZ7p8h5D6n1e8gMAIKZw88Wn3PuVOZRB3yJnBWR+lYoCYaP91tRgpXd7yaF/G1ue33ZJ9VhuNcxfXN4xn25QEeiaUSSzt7bMxNCk7qqhTi7iUXvkbbqHr7UR8qrBypUqEU1oqyEtYGDzQZ1uUtddGgmWRm6jO05chNlHnPpZcmFlyTTmrumRTlY9O5wom+n35NX8NLy/ff1sHDrRk/XAgkJ+4w3v+k0ttNmiTUN7zxuSTlEqvZpz+tS2w+LZmZUo/Krcq/6KecBYIXGBXxl/3YsWUbO/Ye4Up8rqY0o1KzngwaNpIRg7tSW1+AhlVdeo+fS+/xuX/QoKGIjdT0W9zWRZmbONfh0eVgJjjVqIqC66g194iKVkElAxRiRgwxuugXk6o18/1g7PLyo6C2hztNf7jA+Zw4jngfI7W3u3ScTn2D/T4XpdybNfvgVbISKxKZtTWWOlsxMzNTfwTKU9rkRlsfPDMby3gYw6Yva9Kv7WL+J9PZGCQFUSgqtmTUrMVMH9qw1HnRDEJuQ23XyigO3UStiSEyWkWu10TpVIOqCriu1hAbFYWKSgb0WwYxMbqcoSbVqFE9V+DLUj5B4TyWbYdn07qQJyKZY9P78fYfEahUsURnVqaGoc4qhTPvbDvCrNZFJVCXI1coUT5VlEa+Y4EXffG9/QEfuSqAJI75neShFszb9qGXQ2kNHWEnlcR/z2Elt6WSfTkgB+3D+8SlQ0lbK9k5+i9HN06dKmBXwRRQgUUP5h1bjdcThCcXwqI6rT3fobXnO9L/z04i4vJZTv57BJ9duzgSnkzYrmm8o3TE/wf3UocvvnBoYtk5fy6+MSrAjJq9JzD989H0alapcBerrvC9W2+WXC58FYPcrpIUop2j5WF8HCUPkRxyXuIbHbTa4nesNFqNHieNAhs7G0wAlSaVlIdSu5dQmB7HiBwbO1upLCzoPu8fVhlFCIp4k01FKkiVJjUl2YAoTS2JSY9uSrErS0FR1KCfRxsWnvqXjKjDeJ/LokNHMzTRfviczwSU1HMfQNNCNkO+9tOkkpJiQF9oE0l6qNsFs7ErM/nXxO5g/jwfyVllVpPeH83g81G9aVapsFSprnyHW9/FFBJLI+rtR/0PFt3nc2xVf8Nyn5UaOdaVKmEpgyRNIvHx+uRMhq21dJEEmgTuRmdQYt/lkhlNjC75hay8ERKR5qGglmc/mi8OJCA7niPef5Pi5oE1aq7v9+VyDqBwpq9ny5Jrqr7P/UTdEUz7ylR6OXLPCwQvDOrEMI7u3sqf23dzKPgembn+C+tadOg3lBGjRuDewpCF6eMUHfWfHRpAcJIWUFKrZet8c4MpdRvXw4LrPFRHcuVSEpqWjiVGEmSFXCI8C6m8xo3z/WLs8gqiqOVFv+aLOB+QTfwRb/5OccfDGtTXvfGTlBjOfb1o+YRXjsmtHakkKXgS4+NLPjL1JDa50dYHz87GMhpGsunLDhWRPl/x7udruZCkAcpRo+cEvl3wMd2ql617T6nInUi1qPMZsaZ1m1DPAq4/VBN55RJJmlaUmGkn6wqXJIFCWasxjfOCrstWPkGOXGmKaaGmcqDHl3MZ8vfbbI3K5OLKafzSey8TmxsmqHK5CaaFCzUaj44FXsTP9zbvf+iKIuUf/E4ko8WcNr17ldzmjyPspBJ52V0UT0A5GjXRJf7OusTZsyXc+aRJJOJOUtndoAWABXXr1ZDqlHGNsJtlpHBNK1CzZW+Gf/ItGw/6Ma+rDTLURHtvwreIKzVkuefcjBlFU5ak/oPf8STp3HizCaxfMwnPoiY2ADTo9dOYNaZJHcmXm3XpDCUPkQjuJL0gYcoyWd759eIjgR49l5GWXuz4zkpJ0Xtttnnt2lRXAGQSfjmscGTMY+QkxEvJE4vAom49akhCwPWwm5SZ2WFRl3rSi8i8doWwEnfkMggL1V1ha1qb+rXL0s8vp6q7J+0sAU0kh/cHkIWGaH8fgjIBZUPc+zcocqfhUftlcu1KyX1BRiihumtOTF3rU/rPenQUtjinZ+q/fhxP0gImNPtoA2smehXprAJAo9UzFo2ot/P1f8b1MMpK3QIonZ1xUgDaZGKi9OVBVFCpljNS2r5MrpwPLuaa+oJkXTrP5QwAGdbOtYxS57xa1ehHv1ZmgJYHf+/jWDKgCme/72VUgMLVDY9mBhiFqiii7moAGVY1XKgiDDGBoGQ0Kdz4ZyPffOBBu9ZdGTV9Bd4X7pGpNaNSMw/eX7CVY4En2LbkMwY8kbNKH9lc3O8v3YClcKFrz4IX5Vh1eJWW5gCZBB05bMBR8mwuHTom3a6rqE77TnUK/Grs8gqgqEG/fq0wA7QPjuItKTGu7feRNkUUrvT1aPbkbad0xllS8CTHRJeYxrQQBtnkxlsfPDMby1gYy6bPxWD72BAyCds4jkHjV0vOKos6DPhmN76/TSyds0odjf+P05k6dQpTZ67kuEHXG2qIj9fZN3J7KlfON6ladaSTJFBkBh3hiAG5HrIvHeIfSaCo3r4zdfIJfJnKZzHI7XszbfZAqsiBjAusmPELlwtfnf18yLstMJuLfr7cUUt27r+JWjBvTZ9eVUrvXBF2Uon8Bx1WClx696KxCaC9j8+6LdwoJsRCdW07u88Zunx4UpQ06NpJWvirwjmw92IJi81k/Ca2p2H9ujRoNoINd3I/IJvAb3vTuH5d6jfuV/xOg2kNXu2gSxaXHUPk3ce1kJxy5tKtJ9q05OcSZlta1A/i8q4YtmvYAtfi5oysSCL15XZRuNC7VxOkIeLDuq03ionCUXFtx07KfIgYiLycOeWkTiO5uE6T22Cjy1+UdTOcG3qHSiYXg6/qNWxMG3WmraMcUHPTb4/kVNFLKqf+PU+6nl+VDbrRSRICwg/s4VIJYy7Z7ws6NqxL/QZNGLkhwvB8dsoGdO1UHQWgvnGAPeeL7zzNfR/2/PsQLWDeoiudbMtWbcod3fDsUB7QEHVoP+fSYzjoE0gGYNLUA686RXuWHrWfmhs+eyj+szTc99nDvw+1gDktunai1J8lN8dcGmykJRdxjA8ANQ/i7iOJpR0Nm9cudnGQFXWHosXSiHo7X/+rwg+wt8SB5svEjvWpX78ezUau504pEicqnRtSp7wMUHHrahj6YnVNW3eitRWAhhj/nfydZEjpyRzb4SsZhljSsmMbwytmCIoauLu3phygTTzGvqNJqK554xeiApTUcfMqItKvMJrEq4RL1ztSq0EDQ2PHBIL/JJqkS+xa9DGDO7bk1WGTWL47gKh0LQrrWrw6YiorDpzjrO86Zr3ZDVcDzo2oI9YzunVTmjVrSsv+3xNUwqJPE7WTn/6UbB6zZq8x9DGntNzRjf6dpJyOKcd+44+rxbs9NPF+bNglbfgoXfsxsFXZllcQBU7u/WglKTH+2XeEJFU43n4hqABlHXc8DVFi+lC60KCOdAmQ6lYoVwspeGPY5MZaHzxDG8tIGM2m12GwfVwiGqL3fMHo6QeIygFllZ7M/HMfP7/VsvR2lMKMhMDN/PrrBn5dt4R1Bw2I1Es/y9HTCWgBuWNL2tbKZxPKHXHr3xlrGZDyN7/9EVa8Y1ITj9+GnZKDWumK+8BWBWy0spXP4pDj4D6LWZ6VkQPpgcuZviak5I3YZ0IFurl3xkYG2cE++NxJ4bj/MR5ooVyLPvSqWvo1grCTSuY/6LACRZ03GNfXARlaHp5YyEdf/01cEXpOdfcgX01YQkBG2dfJrM0bvN60HKAi/NfZ/HIhTe+zySd/YOGOmyQmp6Bp1Jue1XNdsUpqOtmTnpxMckIQOzedIFlvKZncuhWjU4xWWBe6lU9JteqVpckz8zz/ntRf0ouCwtoG6RJCDckRt4nTq/WzuLppPf4P9GYrps6IcfS1l4H2ISe++5Cvj8UVMVmruHtoDhN+COAZDBGDUFarrgslzSTo32L637Q+jWpLE4kqfB87A4seb+o721m7P0b/BFquI68PrI0SUN/4nbk/nUffyE0NWM6iv+7qL8usDW+83oxygCp8A3N+uaDXuUXySZYu3M7NxGRSNI3o1dOpFJcHmNHmjeE0LQeob/LHV0sJSNHzqOYeB+Z/x8EkLcgc6DVqANXLeudD7kgvT8ng0EQfwtvHG5/z0jGxlh79qaXv/fnaT33zd776MQD9n3WA+d/7I31Wb0YNKE376VBWo7oubjkz6F+KVhEKrG3KS7vDmmQiIuL093/WVTat90efWBpPb+frf9VVfp3zMxf0DzROLl3IjpuJJKdoaNSrV+n6v1xr2jQ1AzTcCw4kQo89Lbfvywh3aVdOc2833y75Ny+Jsj6STi7h212SbMoruzPCzbEUFTMEOdXcPGlrDmiT+MfbnwBvPyR/VX3cPRsZlFMg41wgoTmAogat2z7BOBMI/kOoQrfy3dI/OXn7IRrMqNTcgw++/ZN/A0/w5+JPGdDCsVQRQYrqXehQ4yFxcbHcDVjFVyuD9c+r6ZdY9fk8yTZSODHwk1HUKXQrXCX6vzcUFyWQdYFfJi7hnL6AV81d9s+dx95YDchs6DL2LQqlXzR2eY8XX80dj7YWgJakf/bhH+CNv87pXt/di0ZPFTBdjtZtmmIGaO4FE1hIwRvHJjfO+oBnaGMZB+PZ9BIG28cloLm/l3mzdhGpAnllNxZsXc8HrW2fcEFtR0+PrlSQAdpkDi//niN60wcApHB22ddsu6MBlNQZ9DrtCoScyanU/z1ekwSK4F8m8oN+geLu/jnM3xuLBhk2Xcbx5uMCVcbyWSzySnjNnIGbgxxII2DZNNaW4DB7VlTo2o/OkscK39078TmWgBYzWvTuzRP4q4SdZAD/SYcVckf6z5yDZzUlaB9yYcUbdO/3LnNXbGavjx8+e/7g59lv49bzTdZeykD5dBnaDEPZkLGzxtLIHLQPz/L9yKFM2xLAvfxBApnRnPl9Eq+/vZLQLMC8KWMnvY5TXi/KsevzGr3sZYCamxvfZ+SMrZyPfWxLLf0Ox1d9wqxdkvPArHF3ulV9/BuV1O/UjsrSCoqdk0fwxbLN7PM/xJGzN8qmDZ4Wm/Z0bCpp7sxTS5gwfzeX4wsqt6x759g2dwSvz/uXlGLmNrnjAGbO8UIaIkGsGNmNfuO/YsWWPfj4H2DPpp+YPbYPPd9aw6WMp03iZzyU9TvRXuo07u2cxMgvfmTLPj8OHTnLjfzeC3lV+gzoKO3CqK6x4eOPWHEymkcjJYu7p9byyahZHE7Ud7MfgBkt35vCwOoKIJ3zP4xixMxtBN3Ptw+SHUfg1ikMG7OMi8V69pQ0GDubdyQh4Oz3Ixg2bTMBBYWA6DMbmfz6m6wKzQIsaDp2MsOcSqfKlA3GMeudRpgD6ReWMnrYJDaejs53FEtNyvWD/DR+EB9vu4MKGRW7T2KKp8MzUZr2vbzoUkEGmij2zf+FMxmAeWs8PGoUM5Hlaz/SufDjSIZN/o3T0fnaT53C9UPLGT/kI7ZFqkBWke4Tp+Jp/wRfpaxPp/a5TpYdTB75Ocu27MX/0BHO5htsNu06S84hMjn1w4fM/+syBcUyi3uB25j7xlDmHU/Rf/zYiHr7Uf9reXj2O0YOm8qWgHsUVLdn+H3yUN5eFYKkbscxaZhT6fpfbk+nTo2lvCFhJzhxT58hakOPidPpV1kBZHN17VsMnvAzfmEPCu2OqhLDOPjLhwx5axWh2YCiMu7TJtPbmCmscqtfxQ2P9paAlpRjK5i1SxeZ0NAdz3qGrPQyCTx+hiQtyB3a0bnJ80jbKxC8TMhQWLvS5Y1prPQ5x1mfdcwc0xWXJ83Cq3Bl9JRxNDEHtA858/0bDJ+5lcACdmEm0ad/48shQ5n/bwJaTHEd/jXTehZ9hbxFu8+YM8wFJVpSz//AqCET+e1UZD7nh4aU6/4sGzeIT7ZHoEJGhQ5fMHN40frT2OUVQF4FN492WALalGOsnLVT53RviJtnvadM5CvHvlNnGkkKnhMn7j22IWMkm9wo6wN4ljaWUTCiTQ+lsI+LRUPMno34xmlAZk2bIf2pHHmcw4cPG/bv6AWiC4QJyXEYMJEJr0hRTDk3fmf8oHEs9b7M/QLDRE3K9cOsmNCfkcskR6NJrTeY8UGLwtE4Fu35dM7ruChBmxrI0lGDmPTbKSLzeSc1Kdc5uOwdhnyynTsqkFXoyOczR1BUN5epfJaAvNogZk/tRUUZaB+e5sdp6wh/EXxWFbrhrjsWeH71Qmk8mDanV9/qT+BsEnaSIfz3kq7rUDgN4YffM1G8O5Pd19NJCN7DiuA9jz1lhpPbDMZareSr7Y9PRMbHst2XrFp4j9GTd3Az4RwbPvdg4wwHnKo7YEEacZFRxGfodnDMnBmw4Bc+aVHwNLfc3ouZXx/h0oRt3MpO4Ny6T+j361QqVq2Go40p2owk7kXFkJQlaXaZdWs+mjuO+kWMhHId3ueznvuZ5H8f9f1zbF5wjs2Asv6nRB6dWsat8QQoXBn55TvsHvUzl9MTOLPiPXqtmUil6tWwt1KQnRxHVHQ8GRowreWOm5U/Phf1aT4FToOX8numgndn7uJ6RjzBe38heO9jj5nVwG36WKxWzWG73sXoM6RcR977rBf7J/lxX32fc5u/4dxmQNmAT/YdYkrzvPupqT5sFhO9g5nzTwLZdw4wd7A/SyrXoLqdGdkPIrlzLxWVzJo2g/uSsPsAN/VFhzj0Y+7yz4h4azFnk+I5u3YC7r9Oo3KNatiaZPMg+g6xqSqQWdNieA9ytu8unFQ7F8t2TF71PfdGT2TnzQTObfgMr43TcXBywsEC0uIiiYpP10W7meE84Ft++qTlE1xJbUm7yWtYeG8kk3feJOnCRr4cuImvHKpT3d4CzcN7REYnIomJnAqtJ7Bi6ShcnpVjskIPvLpVxHtXPAn3YgGwaOuFW7USpv8C7ZfEhd8nM3DzHByqV8feXMPD2EiiE7Pyri9u/dFKlo50ecLdnHJ0eO8zeu6fiP99NffPbWLBuU2Akvqf7OfolOYAKFxH8uXbOxn1y2XSE86w4v0erJlUiepV7bFSZpMcG0V0QgYaTKnl7o6V/wH0iaXx9HbB/k84t57PvX5jhoMT1R0sIO0+kVH3eaRuB7Lgp09pUeqBpsClb1+afneOwMxAfP3vMuatakUacYrqr/HDxoeox83hQMRDQnfN5c1dX2NhX53qlawpJ9eQmRJHdPR90nLbx6wm7rPXsfS1MtqRkzvSp18H5h45SGpqCJdTAUxo4u6JnpOpBckMwOdwDBrkVO7mTocXPMevQPC8UTb5mL8C5uJgaTwHgUXbyaxeHMeYiVsIT7/P2bWf4LFhKg5ONXCw0JIWF0lkfG4uy3LUGvQdG+b3Qe9FV3J7es1dy+zYkXx16C5Jwb8zZdBm5tpXo5pDeWSpMURE5c6fMso3Gcuyn8eh18dt7PIKFo5jHw/azz3CodRUQiUlhkmTfngYpMSKR+HiRt+mCwkMzCTQ15+7Y94i/zRtLJvcGOsDXUHPyMYyAka16SmFfVwcKuLuxkkbSdoUzvz0Hmd+KsU3mXZlYeCfjLbP/7dGvLdyBfHvfMSqwETSr3mzcJw335vbUbWqIzblIONBDJF3U/LSCpjV9GT++rn0LPIMohz7XnNZPTuW0V8dRSF49AAAIABJREFU5G5SMH9MGcCWuQ5UreaAtSyVmIhIEnPHXPkmvLPsF8bqE6gylc+SUOA0dC6Tvc8y5UgiKacWM3NjTza/7fqco5Aq0NVdd1tgciIpgGnzPvR9kiMYwk4yiP9mhJUOiwYj+cXvCL/Peou+rWrhWN4MpbIc1vY1adZjBJNX+3Fo/dvUzu/sNPS6+CfCFNfXlrNv53eMbl8Ncxmo0+9zOzyEkPAIaTKSmVOlzQjm/bmPn4YVlQ9GQXWvpezaPJvXWlaWzmur00mIvEbo5SuE3YiWJkaZBU4d32bJzi1MbKPn4lWFMyNW7GbNxNfoWL8K1mYKZAozLK3Ny7IRngrrDjPYsvUbXm9ZSdp1UKUSe/sqVy6HcC0yngytJc49PmPNlq/oaFVSZ1rQ4I0V+B3+g1lvutGqliPlzZQoy1ljX7MZPYZ/yWrfw6x/q06+figuGulZoKDmiBXsXDOJ1zo2oIq1GQqZAjPL8pg/PlhMGzBuw05+eLMtlaXGIvXeTcJCQrl5LxW1ZS3cpv7G6tHOJSqKCu0mseWvnxjXyQlzGaB6yL2bYYRevUlsqgoTh5YM/3Ybf0xoQkmjx9T1NZbt28XC0e2pJgkB929fJSTkKhHx6aiRYV6lDcPnbWfvT8MKymdpMHXltWX72blwDO2rmSNDTfr9CMJDQ7mum3wV1nXp8+lavP+cRucniUJ6Yqzp5tUDh7zBZEV7L3cpAWUJFNl+EeGEhl0nKjELLQqs6/bl09UH+HPqqzzNZylqvsGKnWuZ+Fon6lexxkwhQ2FmibV5/iuFrekw/U+2fj2clpWkvUBVaiy3w69wOeQakQkZaC2d6fHpWrbM6UhJYmk0vV1k/98mPCSE8AjJWSUzr0Kb4fP5c+/PDHvCgaZw6c/AVyyAdM7s/otbxaTZsGzyNmv8DvDTR+40cTAF1KTHRxB+5RIXL10hPELnrDJzpGm/j/l5/0HWvNUES/1FPiVy7Ht70sk6359Mm9HPwzBjMfXYdnxiNKBwwn1I5zK6jVEg+P9BbuVoVGeVhBLngUvZt+8XPuhVBxslunk1LG9e1SDHquarvL14D97Lh1GnpCQqFo0Zu8GHTTMG0yxPV93hWugVwiOl+VNu5ULX8cvZs2s+vSqV8E3GLi8fcvveeBRUYjTr54mrMVa8Chf6D2yHOZBxZid7Cil4Y9nkxlgf6Ep6VjaWETCuTV8K+7gYtE+fsb0Q8ko9mbXzIJtnjaC9k6UUuZ7xgKgbYVy5EsZNnbNKblmTTm9+z64DqxlZrzg3oiWNx/7K/k0zGdTMAVOk8RJ5LYQr4XckZ5XcCpeu77Fsz1/M61WpeDu/DOWzRBTOvDF3knQET5vMv99P5/fbzzqjWmHyjgUCYEKTXn2o8QQ6RdhJhiHTGknyHj5MJS1N72nol5hUdr7TlI8OpIH1AFYHrcLzmYwmNcm3Ajhx9gq3Y5PJkplTwdGZhq3a0aq2rYGhcWqSI4IICAzl1t14UjJUyMtZY1/VlUZt2tHcyer/2GOpIj78LGfOhxARl0KmxhTrSs40atOJtrUrGNczn7qDd5p/yIE0sO6/lqCVni+dwsmMvcKpEwFcjX5AhtYcuxqNaNepA/XsS7tFoibx2mmOn71CxP2HqE1tqVq3FZ07NaPyE2zRqZNvEXDiDCG3Y0nOkmFeoRLODVvxSqva2BozPlSdzK2A45wNiSA2OROZuR1V6zSnQ/vmVHnZOjMfhdrPrip1mnWkffMqz2eMquIJP3uG86ERxKVkoDG1plLNxrTp1JbaFYwplaXU24X63xZH54a0eqUVtZ96oGl4sOc9Xn1/DwmKOry/+zCzWhuQUlOdTMSFAILCbhETn0KGWoG5tT1VnRvQom1zalq/IOeQ9aG5y6bRrzLpcAomTSfis38SDf+zMd2C/xq2thUwMVESFxf/vKtSiPR7lwk4E0R4ZDwPcxRY2FbBtWlb2jevyROdPMy6z9WAUwSG3SEuJQu5eUWquDamXYeWOD1JgcYur4zRPPiL9199j70JCuq8/xcHZ7XRkzTZWDa5MdYHupKelY311DxDm/55o0nnXmgg5y5fJ+p+EunZYGpVkWquTWnbvjnVSm28ZRF/9SynAsO4E5dCltwcuyquNGnXkRZPsg58yeTzhUbYSYWwt69YZEqP/6TDKuvk1wyetJcEjRzrbnPY9k0fbPQ9nHqQz18dzZa7GpRNJ+K/fxIN/uOD6f+fLE5+M4hJ++LRyK3pNnsH3/TWO0JIPfQZr47ZzF2NkqZfHGT/xIb/3bO2AkEZ8VLr7ezzLOjjybIwNXbuyzm65jUc/8/tuqzz8+nTfzlX1RXpt+xvVg9x/D/eIBEICvIiO6wExiaboAW98VoWitrOnWVH1zHk/13BCwSCp0bYSYXR57D6T7aLSd06OCZEcPv2TS5uns9837tFX9eqjuXQgm/46650G0P9nm6G5e0QvOSYULe2IwkRt7l98yKbv56H792iw0/VsYdY8M1upCFSn5596wpnlUBQBrzUetu0OeM+709luZYH/stYee7l2Nx5YjSRbF+ykXAVlGv2Dp95CSNMIBD8v2JKs3Ff4FVZjvaBP8tXnnveFRIIBC86wk4qFf/JCCvIJGjRAIYsDpJuOVDa09RtCB6dmlCrsg2mqofE3rrIv/t24BN8nxxAWXMEa70X0+eZ5rERPDcyg1g0cBCLdffdKys2xW2IJ52auFLZxgTVw1huXfyXfTsPEHw/B1BSc/g6vBf1faqcQAKBQB8vud7WxHHp6Dkis8DSpR1dGtg97xqVHVl3CPj7MvfVMuwadKGdy0t8rlYgeAJEhNV/DQ33Lx3lXGQmWLrg1qXh866QQCB4kRF2UpGII4GPo77LoW8/ZNKqE9zLKf5Rc9eBfLVmCaMaiMH0X0J99yDffjSRVSfvUfwQscB1wFesWTwaMUQEgjJE6G2BQPASIBxWAoFAIBCUDuGw0kPKVV+2bt3DkdMXuXo7hsTUDLIxxcq2Ci71W9LRbSijh3XDWax5/qOkcNVvC1v3HOb0pavcjkkkNSMbTK2wreJC/RadcHttDMO6Ob90idYFgpcVobcFAsGLjHBYCQQCgUBQOoTDSiAQCAQCgUAgKGOEw0ogEAgEgtIhkq4LBAKBQCAQCAQCgUAgEAheCoTDSiAQCAQCgUAgEAgEAoFA8EIhHFYCgUAgEAgEAoFAIBAIBIIXCuGwEggEAoFAIBAIBAKBQCAQvFAIh5VAIBAIBAKBQCAQCAQCgeCFQjisBAKBQCAQCAQCgUAgEAgELxRKYxYmk8mMWZxAIBAIBAKBQPBSIuxigUAgEAgMQ9+UKdNqtdpnWxWBQCAQCAQCgUAgEAgEAoFAP0aLsEpLSyMjI9NYxQkEAoFAIBAIBC8d1tbWKJUKHjxIfN5VEQgEAoHgpcDWtgIKhaLQ343msEpMTOZebJyxihMIBAKBQCAQCF466tZxxcLCnNsRkc+7KgKBQCAQvBSUL29VpMNKJF0XCAQCgUAgEAgEAoFAIBC8UAiHlUAgEAgEAoFAIBAIBAKB4IVCOKwEAoFAIBAIBAKBQCAQCAQvFMJhJRAIBAKBQCAQCAQCgUAgeKEQDiuBQCAQCAQCgUAgEAgEAsELhXBYCQQCgUAgEAgEAoFAIBAIXiiEw0ogEAgEAoFAIBAIBAKBQPBCIRxWAoFAIBAIBAKBQCAQCASCFwrhsBIIBAKBQCAQCAQCgUAgELxQKJ93BcqKzCt7WH/kNmqZNU0HjKZLdUUZvegye9cfJkItx7rJAEZ2daKM3iQQ6EUdcYSN+y6RqlXg0vNdPBqYPu8qgTqCoxv3cjlVg8KlF2M9GlJmtXqW7yolz0wXPUP+H7/JEF5IOTOAl7XeAoHgOaJRk6MBE6Wx9LsalUqGUmmsvfIMruxdx5EINfLyTek/qhv/kalIIBAI/lM8Z4eVmqhDq/njbAIauT2vjBpHj2qGzDZqIg+uYlPAAzRyB9qPHku3qgX/u+xrB/njtxPkyKsw5JU3ym5BlR3O4d9/5WSOnCpDXmG4cFgJngPqmBPs2LiLuP+1d59xURx9AMd/V+hVQUTABioW7L0Xir2gqcY0YxJb7Impj4kao7HGnmhiNGo0sfcoCrbYFQUREFARKVKk1yvPi0NB4Y7iQUic7/N5XkTX3dmZm9nZ/8zOqAzoXu/dqvFCqnzAuT9/ZfdDFQbd6/N2hQasKvFaZVRpbVEl+i/eU2n8Y/VMlci5337C74EKmWMv3nuzKzZleOerku2DIAhViir1Nif37eHYmSsERdwn9lEmSjXIjCyxdayPa8vO9BnkjVdLOwxKdUYliYEH+XPHYc5eDeZOXDI5SikG5jY4NWhJJ/dhvOLdFSfj8qY4j9s+m9j0dx7SWq/QYWRZAlYKwg+t4k//NM37x6j3cS/Lc0wVz9lN6zkZrURi3JShE4fTVFez+pxtuCAIwovsHw5YqUgMOMKeXZEoZXUx6/9eKQNWKuKvH2bPriiUMmcsB40uErASnpeK1AfhxGaokMir4ehsh+k/nSRBECqQqPNVlfLeXn768Q8Ccw1oNv41rCvgRUeV+oCI2HRUEjnWji7YicIXhBdEDncOL+brxbsJSlYU+VtlTipxEdeJi7jOqT2b2NBnHF99PpKWVjoaIkU0vj98yrd/BJCiLPwXKvLS47nj78Mdfx92/+nJpHmzeLmxmd7vSjc5NWQP8Nl9jBS1nBBbT3qNcSn1gLPq4Qm2rP+DS9lg0smV90p4m6qMNlwQBOG/6j/7SaDMujaujZugkNbA3lTyTyfnXyiLk4veYPbpPKR2w1m25ys6i0F5QSizf09bVPo6/++5p/+CHG7s2sutXJCYd8Z7cP0KmcWbdfJ73vrmFHlSO7x/2M/nosEXhBeAkuiDX/HR7GPEKQGZJc5d+uHZpSUNHG2xMFSS+SiWOzcvcuKv49yMz+Te8SVMScxm5coxNCtudpQqkdMLJ/DlzrvkAjJbN7yGDKRrc2dsDLNIvH+Liz77+etyNNmRx1g0OQvJ2iW8VL9087b0xbKLJx2tfDiarCDE7xh33nGhQaneilTE+R3nRjaAGW08emOrMwBVOW24IAjCf9V/NmBl1msmG3r906kQBOFF919si/6L91RlpZ5i51/3USLFzn0EHjXE0LwgCHqScoLVy300wSrjhrw09wem96pV5OWgu6c3o0b78+sn01h7+RHp/j/zww4P1oyq90zwRUXiiSXM332XXCSYu73F/EUf0dG20FEde9J3+EiGb/2c6cvPkph4hpXzttJmzds4V+ZbiUUXPLpU49ihJJRhfhyPGEODRqVIgCqWk343yAEwb4d7j+q6d7ASbbggCMJzEa2mIAiCIFRJKmKO7ORUkhrk9Rng3ZnK/nBGEIT/rvRzRzmbqAZk1PH+lMnFBKsek1q24u0v36O1MUA2N3yOc1/5zEF5QWxff5SHKpBYdmHi3GeCVQUno9nIuXw1VLPua4b/Zjb4pejz1krBjI7uXakuARTh+B0PpegHkUUpY3zxvZEDSDBv50G36rpepUQbLgiC8Lz+szOsyir30T1uh0WSkKHE0NoRF1cX7EzKG89TkBzhz5WguyRmSTGrVosGLVvhWsOkbGlKDCcgIISohDTy5KZUq+lCs5aNsTctfbpyEm4TGBhKZHwquWpDTK1rULuhG03rVy9mUWoVCUFnuB6dg5pcQhLVAKhzYwnwPUZGfp9DYuGMe0eXMt3Lc8lNJDzgBqH3E0hTyDCztsfZrRWu9qZliriqMqK5dT2QiJhHZKkNsapZn8Yt3KhrVbZqULhccqUmWNesT5OWTXEyr9hJ3jkJIVy/HkJUYiZKQ2scGrakTZNalOtnqqc8JSee0OvXCY1KJFNpiJVDQ1q2aYp9uetOZV0rl8TwGwSG3ichLQ+ZaTVqujSnpas9ZaheVVAWCWFB3AyLIjE1C4XMBCu7OjRya0b9asV94lVF63wRlVdeeq1nz0sRyt49V8gCjFt5M7SJ9k9mypNuVcJNzvpHkwPkhiSiAlDnEnvjBD4FhY9zhw44W/yrK4Yg/Csobm1h/u4s2g8dRp9mtqVc3Ly8lDyMiiYLQGJJ83bNKGn9c5l9e9rWk3M1WIEqNooHCqhXqOuTc2UPhyIUgIy6Q99nsK6FzKXWdH5vFO3++o4LmQmc2udDfJ8RVOYEJNMOnnS1Pci+eAV3/I4T8n5TmunsEiqJ8fMlMBeQWNDBozvVdB1ehjZcH8rW5xcEQfh3+M8GrNIOzMB74XkUEnuGLfmdKW2Ke0ioSLqxk3VrN3PkSiTphUaKJMZ2NPd4g3ETXqfuhTlM2XQTpXFntm2aofO6img/1s37nt/Px2imCz8ms8Cl99tMnf4OHWvoDmxkhv/FhjXr2H0mnJRnhnskxg60HTSaieO8aaZjwcuMsEP8vHI9e87fIa3IkJEci3odGfjmWMYMdqPgNHmE7JzDZ3sTUBc6Wp38N+u++LvgVlw/wH3LOJ33UNiTspA358NNK3m9ZhJX9/zK9iPnuXU/kbQcNc6j1vHjmEZP/yAzwzn6y0p+2X2G8KIZgUPbIbw9cTzD3Kx0BllUyTfYvWYFGw9dJSZL9fRfGtrStM+rvD/2Tbo5Gem8D93lYkdzzzcZN/412tXQUq3S9jPTewEX8uQ0G7uF5a/X5NHVXWzadpgLt+6TmJaD2vkt1v70Pg0LnSL3wSl+XbaC7afDSH3qujIsnHsyatpMXteZ8qduQi95Su4DTv+6hFXbThH+dKKQWTjTY9QMZowsbaJKoNdrZRJ+9GfW/LyTM+EpPD04LMHYoR2D3pnE2GGF60VhaRz8ZAgLL+QhdxvHxuVvUPPRFfZs/J0jF4KISkwjW+3Cmz+u5738QtTWFuVcXsRbM/YQp5bgMGI5Gye11v5yooxk60dv89PNPCQWvfhi61w8LAv/fRIBe35k7eZDXLmfzrOD3sitadD9FT6cNJpetQv/zstX57W2rzmXWPLmNPbFqZE4vMTSTVNopf2muL9lAu+uC0SBBT2/3M43T90UPH95ld5z1TO937dG1sU/ORimAEk1unkPLHYHrOdJd17wDr79bA+JTxc+59Z9xrnH/y13ZcymzXwoAlaCUOHUWQ+4vPd39u5ah23THvQf4s3Q/p2oa1Yx9c/A4HFDJUFSquUICw6SyA2QP/Vvcgk8fZ54FSB3po9XsxKDJFI7D7za/sCF05lkXj/N+dQRDLYuyx2UTJV8kdVTP2dHRDaYNOLVb5fxYVtLTR/HpB0e3e04sCsW5V1fjgePpZmbjqCSMho/3wByAYlVZzy6Wum8dmnacH0oX59fEATh3+E/G7BSK7LJzMggT5pJjlJdzBE5hO/+iukLj/Egt+BPZQaGSJS5KLIfcuPAUiZeusq73ZMIj4hAaVJf5zVV6edZPHEz+yLzkBpbUdPGHDKSSEjOQqlMI9xnJVOD7zBrzTf0rVXcU0tJrN/3zJj1JyEZ+WmWm2FjWw1jVRoJCSnkZEdzecdcPrx0nS9/+B/9nIoWYbr/GiZNWUdAuuYcUkMLbGpUw5hsUhMTSclWkHb3LNvmXOF8wFxWfe6OnRRAgtzQFDMzM9SAIieDHAUgkWNsavRknQKZSdlGiJ6UhTyLvJww/vxkEotPPSz08iknM+/pQJIy1pfF079iR0hG/ou0HDObGlgbK0lPTCAlO5voy3/w3dgL3PhyJV/2cyr2x5x3bz+zp37Lkcj88KHUCEsbGyxk2TxKSCIzN4GgI6uYfu4Mb3+3hLEdiluLoLhyMaW6bTWMlekkJqWQk/2QG/sXM/H8eSYuXMAot2ImfavzyM7IICNPTnZuNuF/zmDq4pM8LNS5kGXmPvVSnnlzIx9PXcHFpPw/lRhgbmOLlYGClPh40iJOsGbqbcK9XSjuV14ReUpmIJtmTGb1xaT8tEowMLfBxsoARUo8CWkR+K6ZzO2I4biUlKiS6PNaylj8Fk3h6x0hPC5GmZkNNaoZo0pLJCElm+zoS+yY9z6XbnzFsi8HULR6qcnLziAjIw9Zdh454duZOWURpwoXojyT3EKFqK0tMmrenTYWv7MjRkXECR8CxramjZbevTLalxPXksnIk2DVuSvtnwpWRXH46wnMPRzJ46ZMZmaDXTVTJDnJJCSkkatIJsz3J2Zev8HkFUsY6fp4tmf56rzW9tWoBd3aWLB9RwyqiBMcDxhPK6039QBf36ukpOchsepCl/bPBG30Ul6l89z1TJ/3/ZgqkRO7fIhTgczJixE9i77FPW+6JXJDzMzMyFYDyhwyshWABLmxKUYFhY+BeMERhEohsa5Ho1qmxERlkhDkw29BPmxdWYe2HoMZ4q3vWVcyajZuiK30OnGqZC4cPUlCNy+dC4hnBR3hZLjmeWfk0hiXwm2uMoaAm3GoAGk1N1q4lKJBllrRsqULstMBKLNuERCcy+BOepwLlBXE5k9nsikgGbVBHQZ8MZcPHgerADChjWcPau75gxhlJKd8bjLOrZXWPFZGn8DvZi4goVpnTzpb6Lh2KdpwgNyMZDJyVUhkJlhYmhRZkF2ZlcyjjDzAEPPqVhg/Uz7l7/MLgiD8O/xnA1YlST23hJkLjvFAARjXoceoD3hrcA/cHC2QKdKICjjJ/t/WseXUSX7eKSkxGAAqEo7/xgHD+gyaOZMPh7TF3gggj8SbR/h54SJ2BKaSF3WIxUs60XbBoCKdgpygn/k8PygiMXXG873JjPHuQn1LTTHlJt7Ed9tqVm7+m9h7+5n7iS326yfRqvD243mBbJr/i+bBZeLMgI8+Y9yQdtg/nuetSCHi3G7WLfsRn3vZ3N07j2XtWzO3b3WkGNJx5l58ZwJksH9qb82OYTWG8L1edglUcGfzLI6deoiBQzsG9O2GW72aWBjJsazvWNCByLnJhs/yAysSU+p7vs9H7w+nc31LzQ82N5Eg399Zu2IT52LvcXDOdGztNzCx1TP7sGdcYc2n+cEqaTWaj5jI5Hf709JO87KuSA7B9/fl/LDxb+JSrvPr57Ow37CM4bWf7i48VS5mDfAaM4kxQ7tQz1JzXE5CICe2rWLV5vPExZ9l5affYvfLXLx09AgUd35j9rGTPJQ70LZ/f7o2r4edhRFyS2cc8/+ZKvk0S79YqXkZlVjQeMgEJo0eTFtHzWd7qswoLu9bx/K1+zn6x33dWa+vPFUlc2bJ5/kBJAkWjYcydvIYBrV11Hyapcok6vJeflm+mgN/bSdKd6p00+u1cgjaMDM/+CHBtL4X7036gGGdndFUr1wSg06wfc1yNp+L4d6B2cy0rcW6ia0x1XZKRQRbvjnKqYdyHNoNoG/XFtS1s8BIbkl9x1L0Bo1a49nTkd3b7qOMOY1v4GTaFBvkUBLjd5KgPEBiTWfPblgV+rsHu+fx/RFNsEru0JP3P5nKq13q8nhAPjc+gKO/LWXFtmskJZ1n9dyNtN0wFlc5oPc6b0Qrr9447N5KlDKaMycC+KhN22JH2ZUxvpy+mQdIsO7sxdMD1RVQXlrop57p674LHRd5gN3nUlEjp9GgEbR65lsdfaTbsNNn7PT7DICM/ZPx/OYUedIaDF4odgkUhH+C3PkVvt/Vn7vnD7Nv3wH+OhPIw/RILu5ZxcU9j2ddDWdo/456mXVl2OYlvJseYG1gNvF/zWYicUweO4KOTs8sD5CXQOBfG1i+YjuheYDcAa+XPZ7uxyrucO9B/tBSrTrULdVsIhn2dZwwkwSQqkoi8m4ydLJ77vvSpPkee2dNY/XlZNQyO3p9spQvvByKBISMWnrSw2En26OURJ3y4eaEVlpmyCqJOuGb/yy2obN7Z8x1XL6kNlwjg7++9GL26Txk9d5m/e9TeHqCl4K7W8bzxtpbKOXt+Xj/Wl4p/M3kc/X5BUEQ/h1ezPYqL5Aty3dxTwEYuvDygl9YOHYgLR0tNA8yuQVOrQcxbtEGFrzijIG6dNNElEpres1cyVcvPw5WARhg02wwM5bNYbCjDFDz6Oxu/op+5qMd5T12Lt9IQIY6P03rmPN2jyfBKgBDm2b0nbCcn2b1w14GOaFbWLwl5KlFIhXhJzl9VwHIcXltNl++UujBBSC3wrn7O8xZPJaWxoA6iTNHz5BethwsH8Vtjh25jWmnafz0+zr+N+Fthg/sh6eHBx1dLPJ/jEru7VzGbwEZqDHE5ZWF/Dj3Hbo/DqxoMoKmfSeydN03eGkygt8X/UboU9OgFYRtX8Yft3MAE5qOXsaKmcOfBKsA5NaueI5bxsoZ3bCW5H8Gtc6P1MKnKVwuRo14beE6Zr/Z/UmwCsDI1o3+E5ez5jPN1sbK2L9Y8dNZHXmqIOzYYW6bdmbKuj9YO2sibw4fRF9PT9w7uqD58iaP4G0rORClAIxp/NZSVn31Ku0dCzqRUlMnOrz2DWuWvIWrzoUn9JWnkBe8lTUH7qMEjBq/zaLVs3ilvWPBOkJSU5w6vM7/1ixjlO5ElUif11Le28HyTTfQVK9Xmf/TPN7q/jj4AWCITdN+jF+2nll9ayEjh9CtC9nybAYUPuftoxy5bUqnKT+zde03jH9zBAP7euHh3gmXUn0+ZUhzr96aTwTygxy5xR2mjMbvZCCaPnI3PAoP6SoiOLjnEulqwLAJ78xfwOhuBcEqAMMazRk07QdmD9csbpsTeoiDAXmlSF/5GDb3opfmpog5c0Kz1kfRmyLG7yQ38zv+XTy6PNXxr4jyKp7+6pk+7rtALoF7dhOYA5h3wnuIyzOjS/psHwRBqFKkFtTr8gqT5m9i34HtLJo+kl6NbTEkVzPrav54Xh3ozYS5P3P0ZgLP1ZobuPLWnK8Y4mKKRJ1B+JElTBruzoCXRjH2o0lMn/YRE8a8yhDP/rz79VauJSpBbkeXCfOZ0u2Z2aFZiSQ+nuVjaY11KT9/k1pZ8/iRmZzw8HnupoDqIX4LpvD9iTiU0mq0n7jlNLwBAAAgAElEQVSU2d7OxX+iaNgSjx6OyADlg5P43Ci28Qblffz8bpIHSG274dFR1/BISW24flTpPr8gCIKeVJ2AlTKO44vHM3bs+6X4/3iW+iUUXaellHIu7+FguGZRSKehHzOxq03xGSGtTtdxE0u9Ba3MqT8jPe2KPZfUuguvD2qkCYjlhhJw8+kHYl7QLnZfywSkOAycyvjO2kY/ZNTymsoH3S2RkEvo7u1czC74W3VGOpplmiTYOThqndYsrzOMT+bPZ+7ceXz5ilslTbXLJUfWhndnjqSJtm1S8m6yd9c1MgGpwyAmje9CNS3ZL6vVlykfdsdSArmhu/jzYlahS11n775b5ACyOt5MebeFlp1ZDKg37CNedpUDKhJP/8W5Qk/ygnKR4ThkOuM6WGspFwNqD/6YMR3MABWxPn/gk6Aq9kiA3BwZrUd/ymvaMiL3GvsPhqEAZE7DmDymLVo+HMKizXu871FDe2XWV56Si/++A4QpAFlthk75gDZaE9WW0e97Psfiqfq8Vh5Be3bir8kABk6eSGetGeCA55SxdLOUQG4Ie/64QHbxR0JuDrI27/HJ603LveuPQVNPeteVoyvIoYzx41RQHiClRjcvOhTuI0tMaf3aZ3z+xVd8OedzXmmsbR02C1r37qQZDVfGEB6eivZf53MyaIZH77qazn/MaXyLvylOnszv+NfojudTHf8KKq/i6LOePfd9F5J2hl1HIlEipUavEXg+O1tTn+kWBKHKklk3pOfrH7Nw8yH2bvqej17qhou1HGV6JBf3rOSLtwcy5K2PWb7jHPczyteqG9Tux+SvPqCjzePp3dkk3r3JlXOnOXXqDBf9Q4lJzx8MkJji+tLnfPZ68yLBdmVGBpn547sSuUHp+5VPjlWRlZlVwsGloErlypppfL33LrkSc9zeXcj8N5qifdsjA5p59noyeHTax7/YwSPl/eP43VIAUmp09aCdrn2USmrD9aRq9/kFQRD0owr1YbOJCbrMlcul+39wbJleSwrJI+TCZRJUgKwufQa20f0JiUU7OjYr3fC0SSM3GmldXEBOnSau+YGCbJIfFd6+V8Gdsxc02wPLnOg5oIPuF2CpHT3d22EGqBLOczqg4NEqq10fR0PNOQMOb+d6spYOjNSKRt360rdff7w6Opf5M5ryMm03iH6O2ofdFHfOcjFKCchw7DmQ9rozgho9PWmryQgunCqYoaIIP8elWM15avfqi5uu9dTlLgyZMINxY8fxwZudsMt9nGdPl0uvfq11dHgAaS08+rXX5GW6P39f0jGGZdqeAf2cikxNf0xx+wLX4lWADKde/Wip88IWtG3vhrZb1Feeogjl4rV4VIDMqTd9dScK83YdaKZ7HXvt9HktRQR/X9TM1JI59qK/7gxAWqMX7poMIOHCKQK0DLaCKe0G9EfHz7lk8sZ49HF+EuQ4USTIoST25Elu5gLSmnT3bP/0b1DmSPtBw/H2Hs5QdzetgUgAqYUl5vl/n5OVVYrPnMtLjqunh2ZtEy0zx5SxfpzS3BR2Pbye7vhXWHkVpc969tz3/YSK2L92cDJBDfK69BvRtciLoX7TLQhC1WeAbVNP3vp0BdsO7mf9nPEM6VgXc1nBrKuXB3ozYd4+zUBPqWURtvNT3v5wGecTNX0fuWUdmrbvheeAIQwZMpi+vbvQor4NRhJAnUnItum8NX4Nlx89079Uq577uaJUPe9QShYhv8/ks403yVAb0+DleSz8sC2WJbztGDTxpHc9zcBl7GkfruU8e4SSyBO+BCsAaU26ebXTsaNiyW24vlT1Pr8gCII+VJ0gu8SKZv0H0ap6aWJoKhKu7OPorbRyPByzuHs3VjM7y9iFRi4lLV9phLW1GVIyS5iRIMXMylJrAAJAYmWJuQQSAJWy8NlyCAuL1KRJYkRa0G52hOtOlephLiZSSFfFE3E7EdrX0qTCrh9vDN7KtT/vkX51LR8OO0DzTl1o17I5zdxa0LxxHawqdlddHeQ4t2yls+OQE3abSAWABKO0IPbuCNN9StVDcjQZQfyd2ySpOmAvheyIcM36ZBhRv1GDEhYplWHf+VVGdy6SmoJyMXTGtWHJGWfWqBG15X6EKLK4c/se9G9e/BWdW9JSR0Zk34l4kn7nxg1LXGTVsJo15lJ4dhNE0F+ekn2HOw/yF1t1dqVByYnCSluiSqLPa+WEERaZ34M3SuPW3j/QXb3UPMw1QUo6qvhwbiepaG9fTFnJXWjRsoTdFEskx8XDnYa/hhKsiObM8RtMatOu4LMFZSwnT2oCHzKHXni21h12yEmKICT4DtGJKWTmKCn8+qCKDyWtwqZVPU3u4knvBr8QGqwg5owPAZPa0rbgpoj189PMJpM50NOzzdPBlIoqr2Los57Bc973Y4ow9u25RAZg1HwY3k2Lpkrf6RYE4V/EyJ6W/d+nZf/3mfHgMoc2LmP1npukpkdycb8vIdOG0KCUvfv0C8v5dOExohQgsWjKsMkz+WBgC2yLNCoqUsN82LR4EZsvxfPo6jq++NaRXxcM4fEeQhJDoydtkVpVhuCVWpl/rAQjw+dZO09B1IFZzFhxnkcqQFaDlj1a6VxE/gl5Y9x7OfNbeCjKh6c4fnUqHTsXGglQ3uWEn2YJDplDTzxb6XgWl6IN15eq3ecXBEHQj6oTsJJa03rEZCa3LE3LmsfVRSfxuZVW9s8ClWmkpmv+ldTUHItSzI6QlG6vX6SSEp6KElnxL7eqFJJT8lchUNzmwNLvOFCqK2pkZWYW+i9LukxbzcJqi1nx+ynC06Lw9/kDf58/NGk0rk7thm60bNeF3v3708XZshKn2RlTy8lOR1BPRcqjlPz1GBSEHVjMgjJkhDozI383MRWpj1I1a3tJzbAwL+fPvFC5SMysCq2fo53U0ip/JE1F6qNHWo8zqVWbmlozQkVqchnTL5FQ/K9UX3kKqtRkUjWJwtTSohSNhwRp6apOEfq8lirlEY+rlzJsP0vn7y9DSrLIzNDS7TauhZP2Qiw1eX1P+jReR3CggtizxwmY3O5JkEMZ58dJTYQDp15etCi2L6/g4eXf+fGnbRy/Hk1Geb+V1id5fTzcm/BzcACKmDOcuDGVtu2e3BQn82fuyZx64/nMTVVYeRWhz3qW7znu+8kdXNnBwVAFSKzo4j2omBl8FZBuQRD+XfISCDp5gH0HDuBzPpzU/GC01MwUk9JWdlU0Bzfs0aznKq/HS/NXM6OjtkEYKZYNvJi4rC6m40ez5nomSad/YXtgf6bk99ulFtaa4IgC1FmZZKjApBQdTHVmJllqAAnm1sXvpFeKs/DozPcs+u4YsY9nmCnvs2/ZBvr/OkmzfpNOchp49KbBxlBCFPGc8blMVufuT2Y0K+4c52SoZikRh+6eWp7FGiW34fpUlfv8giAI+lF1AlaVRSJBmt9aq1UqlBX3XUyZPFnXXWaGjZ1l8QtDFssAW/NnnoYGDnT9YDGdR0Vz44wv565cJzAomJDwKFKyk7gXcIp7AafYt2kNjQdNZdbHQ2lQGYvySk0wMy3hya1W54+0yTCztcOyDCNDclvzQsEwdcHo3nO8qT0ul/KcQq11sX4pJmamOjoN6vz/6Yme8lSt1mOaSqDfaxWcS2Zmi13ZMoBnq9djUhOzggXgn4esDp4ezVkfeI3c6NOFghwq4k76aT4HlNWll4dbMTNpFNzf9xnj5/kUdNKRY2JdDUtj+dNBPEU68fFplOlrkXKTUdvTA7d1AfjnRnPW9waT22lmjqnifDmVH4Sr29uLZkVuqmLKqyg91zPg+e4bUCXht/MoMSqQOngxondxaxlWRLoFQaj6FDwKPc3hffs4dOwsIYmPl1s3xKZxN/oN8WbYgC7UK+33v5nXuBykWV5D3nw4b7QrxYxhI1deebUrW24cI1X5gKuXIqGli+bv5LVwsJPBPSXqhFjilJRqdlPmw4ekqACMsHeoWcrEP0396DiLv35EUo4Eq7bj+LjjReavuUx62O8s3dyXdWNcS5yJKnf2pHejnwkJUpB41odLWd3pYQKg4O4JP80mNLLa9PRsrv1cpWrD9ayq9vkFQRD05MULWEmrYVPdGEhHnZ5IUhboXtxDjVKprNiXA6kFVlZyQAEmXZn+5wI89fAwkZo60MrrDVp5vaH5g9wk7gZdx//yOfz+Osy5OykE753LDFl1fvu8Oxa6T6cHcuQ6ewxSLKytMACUmNBl+k7meepeu0j7eTQ74ClVGaSnKaAMIcCC0xSUiyozjfRSzFxRpafm774ixdJay371gFxnRsiwtLIoSH96KdKvNcCjrzwFmaU1FnJAoSIzLZ2SU6VGVc6Ko89rSS3yZ8cpwLjLx/zxnZeOtSfKQG5QYge4dGQ49PGg+ZprXMmJ4eyJ/CCHKpZTJwM0Gwe4eODZuGhzrUo4xA/LjmuCVQYOdH37I94f0ZtmNYo2aoqglYwa/TPhlROxQubggXuL1fhfztF8Hje5HW0NVcSd8tPsnCR3oY9n4yIPoQorr6Ip1GM9K3TWct43gPLBQXb/naLZBn3gCNoWW1UrJt2CIFRNytRwzh/Zx/6DhzkTFE9OfmWWmdehjftghnoPpbdbjTL3cpTJCTzKBZBgVssJ21IG+42d6lBDBqkKFcmJSUB+wMrABVdnE7iXjjImhJAUFc1KjFjlEhocrhlIkdfD1bV8q+2ps5NIQoJ58zF8v/A92pj04MGpd1gTmE3Q5kX86bGWkfVKuEFZPdx7N2F9UACKxLOcuJBJj16moIjgxKnbmnUV6/TCo4n2J3/p2vCKUfX6/IIgCPrxAs4MNcTVtV7+bn3BXPPP0H246hEPolMruLNvgrOzZktdsu8SEVlBb5SG1anXqjfDxnzOsq2bmNzeHAkKHhzdw5nUZw8u9AlJJb7smDi74CgHyOZeeGS5Z4MY13POn4adw53b4SVs+6wk+vhq5nz9P76ZvZTDdx9HpgqVS84dboeXvHl0dlgYUflry9R1qVfO1INx3XrY56c/IrSk9ENucjLpWtan0VeeYlyXuppEkRMRQkTJiSJFW6Iq81omLrhoMoDse+FUVPV6HlL7Pri3MgZUxJz14UYuqOJO4heQA8hp1MdTs5j3MzIv+nE5VQ3Iafz2Er4f26/YYBVQinqs5zovtaeXe2uMAVXMGY7fyAVVLKf88oNwDd1xL+6mKrG89FnPnijvfZNH0J493MgGzNrjPbSh1hGlikh3wZfvarRODhUEoXKoMrh/YServ3yXYQNfZsr3mzh+M54ctSG2TdwZNXMl2w7sZvVXY+hbjmAVgMTUFGMJgJrczMxS9w1UmQU70xmbFh5OMKNNh/wNHnIC+Pt8csm70ebe5MzFxxustKWdU3m/n5Ng2vgN5i0eSxtLKRi4MnLa6zQ0AHX6FX75YR8xJQ46yqjt4U5TA0CdxLnj50gHFOHHORmmAOTU7+OJq9Z4Venb8OLpua9dpj6/IAhC1fUCBqxkOHXvTiM5oE7k5B/7idLxEMuLOMDhgJIDFc9HToNOHTQvIIoI/HxCSngBScV3zlA8evfAvd8UdsU+7hLkEbD6DTx796CPxzusD9HR/TCoQ6e2dTQ/gOxYohOezQQJxsaaF19VZhpplfSSL2/QiXaajCDc7xihJWR9qu83DHfvQZ8+XkzfGfOkc2TQqBNt7KSAkki/owQV2fGlEOV9fLZuZN+B/Rw4FkGOxeM3t0LloryHn89NdJ0GVQK+xy6SCWDcnI7ttW00XzKDRu3zNyBQcv/kX9zUeeE0rlwM1Jo2feUpBo1o10ozvV1534+juhNF+pULJaRbB31eS96Qju3tNTvxRfjiU2IGnGCOdy/69O5J/2k7iK2MhaqldvT2aIcpmiDHiRtZxJ30zZ+R04Q+HvWL6fgqSU5IIhtAWo1GbvV1vrTkxESTqLPDru86L8WutydtNDfF3yeukx13Ej/NTdHE3ZP6xfXmK7G89FnPCpTzvtPPsuvQXZRIsOkxAi8dC8dXRLqlxsaa348qk9TUKhjVFYQXgCo1mCM//o+xw/vx0oS5bDjiT2yWGpl5HToMm8DcjQfZ99siJr/clXrmz9eFl1o0pEH+iuk5gee4WKogRi63z18mTgVITKjfsPDAnBTb3l60NwfU6ZzfuZs7OpsSFYm+2zh6XwnIcXbvS3nXJ5dY9WDaoql0LrRxk3GLd5niXQcZalLOrmHl8YQSA2gyB3fcmxsCah6d8+F8Wh7hvn6amclyF3q5N9IehCpDG14sRV6RnWUBVFrXLtFnn18QBKHqegEDViB39ubV7tWQoCb90iq+WnORpGKeYopYP5b+7+fyv3SXgWFLb4Y0MQIUhP+xlK0hWVqPTb38Ez8eiiQlLR1V4x50sXtcjDIcHaqTnZZGWnIgh/dezf88rTjZRD2I14zmSMywsHh2lSY59rVqaGYXZQVy8Wrac91fqRm2YtiQJhgByvDt/LAlRPNCXpzUS6z/8SD3U9JIV7nSrWvNgh+0YWuGDGyg+Wzm3i6W/xZE8TmqJPrwCn4PyAUkWHb0onu1gmpRUC5K7u1awsZAbTPyVMSf+IF1Z9JQI8W21wi87J6jehl3YHDfOpqX9nu7+GFjIJlaDs3w38h6n3jtHTF95SkmtB/Uj9qaTGXPsg3c1J4oNq07Rny5gz36vJYhLYcNpbERoAjjz2WbCdGeAVxev4bD91NIS1fh2r0bz1OMpSelek9P2pkDqhjO+vjim/85oKGbBx61ixt1lmFuaa7pPKtSiY7S0RnPDWPXjjOk6hy+1X+dl1bvhUd7c0BFzBkffE/4EZANGDbH3aOOlg0YKrG89FnPCin7fat4eGwnvvEqkNWh34gSPteogHTL7GtRQ1P43Lx0RcezQxCEiqIM28faX/ZzJSodFYbYNvXgzU9Xsf3gblZ9OYa+zWz19Ck6YNAMzz71kQGqhL9YucyHWJ1xDBWp19ax6M8IlIDUpif9ujzdUklt+/HGIE3blBO4kYU6+hvK6MMsXH6cRDVIrLrx2ojiP5UuDYlpTRyK7DJuQbsPpjDAXgaqeI6vXM3ZlBJOJHOgd58WGAHqlHOcOHOd436a+5U17IO7s7YUlrENL+4MKY9Ifjb/VSmE3I7S0n7rs88vCIJQdb2QASukNeg3dRp97GSgTifw1wmMHP05q37fz4nTpznts5fNyz7mnVEf82doDjJ5JWSTvCGvTX6dRsaa6ctrJn3E0kOBJBWeXJD7kOu75/LRx1sJzwNMmzHyg0EUDOJIse4xkO7VJYCSyB2fMnXpQW4lPTNDITuGK1u/ZukRzUuMUbOudCjyoDegQfs2mgUzVbEcnDuJeRv34Xv2HBcDoyomDwCQ0+C1qbyqyQiurpnA5KUHufl0RhDvv4t5E6ezLSwPMKXpG2MZ+NRolgFNXp/EsDpyIJMb66cwbeUxwlIL9Qayoji3cSYffXeCBBVg4sbIMf2wKXyaQuVCZgA/TxnP9/tukFBoGEyVeZ+zmz5l3NcHiFGCpHp3xo7tg/Vz/WwMaT5qHB52UiCLwPWTmbz0IMGPCo2gKZK4eWABH83YQLDWF3rQX56CYYs3+dDDDimQFbiOaZMWcyg4qdCnBAqSbu5j4cSpbNSdqJJzQI/XkjcYyeTXGmGEmvSrq5g8aTGHbiY9NZMxN96f3fPG88nvYWiq1yg+GGhfaY2ktHoPPNpbIEFFrM8yfruWDRjTwsMDBy1fSVi0aq8J7JDDlZ//xyqfcFKf6vDmEh+4j2WTxrPqcnoJnxtUQJ2XVqe7RwcsJKCKPcaK366SAxi18MRd201RmeWlz3r2HPetiGDfrvOabdDdvBnWvKQPfPSfboMGHWhdQwqoiDs4mynzfuWA7xkuXAwgSls0TBAEPZPkz6aayLebDrJv00ImvdSFumYV8SQyoMkbExnkpFk0MHLfZ4wev4CdFyOLrNmZEx/AkbUzeHfSegIz1CCpTtexH9KjyERyE9q8N53BteWgTuPK6glMWnqQW0mF2iZlKuF+a5kxdjbH45Qgsabjh5MZUAGjQ1Lrnoyb2AcbKSij97N8/WWtwf38f0HNXh6aXQXVqfy9cRFH72g+B2zc26P42bFQjja8KHVmIFcCCw+tKok5toT1Zx4/u/PIzS38FNdnn18QBKHqevEWXc8ncxjErB9ykH26iKP3skkMPMyvgYefOcoIR49pjJCuY8XRRxW+jpNp6/HM++wh0+YdIjLxClv/9ybbv7fDqZYNJmSQ+CCa+Mz8h75RHfp/+i3vNn36oSit7smkj/8m+H/7uZ/3CP8tX/LW9nnY1nLA1twQdXYKcTExJGdrxmskFq0ZPeUViluL0rjDW7zX1Y/5pxNRJvize4U/uwGZ6wec3zKuAjOiDWO/+4L4qXM5HJnI1S1f8s72+dg5OlDdBDITo3gQn4mmP2VEnf6fM+fdZkU/h7LqyuT504mbspjTD+O5/OsnjPzdGgfHmpjLski4H0Vifj5gVIcBn8/j7cZFxy6fKpfkG/w5+212LamBk70Nxup0Hj54wKNsza9DatWKd+d9zeByr8NQQGrrwcezb/Ngxs8Epifhv+VL3ty+AHunWlgZ5pEcfZ+4dAVILGgxtAtZB//itrYZ4frKU2kN3D/+lrCoqWwITCfJfzOzRm1jkX1talkbkPsomvtx6SiRYNFiGJ2zDnBUa6JKygB9XsuU1mO/57OHk/jucCSJVzcz6+1tfG/niEN1U8hM4EF0PAXVawAz57xH0/IsDFJu1nT16oyl31FSkuNJADBpjUcf7UEYWb3hjHvlEFN+CyX70RU2ffoSW81r4lirOqayPNLjHxCdmIUSQ+r26Y3xKV90fTVQEXXeumtfOln5ciz5EfGam6K1hzs1dfaXK6+89FrPynnfOf47OBCqAIklnb0HUacUzYfe023ckTff68ap706RqEjg+q4fuL4LkLsyZtNmPmz0wnYXBKHSyFxH89P+6djoZQvakkmr9WTGos/I+mQhRyOzib+yjflXtrHQvAaO9jaYylVkp8QRHZvCk1iJ3I7OYxfwzbDaxc6SlVbrwbT5U0mYupQzDxO5tuVL3to+n5q1nahmkE1yXDRxKbn5s33MafLGXL5+qV4FvZBIqeE5mQ8OX2T+2RTu7lrMpr6/MtZN++LuUrveuLf+gYvnssgICyEDwKAZfdzrapkVXL42vAhlFHvnfY39hJdpaZVO2Olt/HbKlJff6caP68+QpQzjzNEAurSOYMeBLLxnvkFDPfb5BUEQqqoXOsRu0nAE327expIpr9CzeR1szA2RyY0wr+5Ek27ejFuwhS3zh1PHIP8pLanoKbQG1B04h59//ILhbewxkoAy/SH3bt8i+HakJlglMaZmK28+Xr2BWQPqFPOAl2HvOYsfV0xlgFsNjCSAIpOE+2EE3woi5M4DzYNLaopjh5HM+mkFo920bGMiq4P3vHXM/3AQbV3sMDeUIZEbYWZW8fvhGtQdxNe/rOOzEW2paSwBRToP74USHBxKZHwmSiQY1WzN0E/Wsu7rgZpPx4ph3Og1vv9lBRO8GmMtB3VOMg8iQgi5HakJVkmMsW8zgk9/3MSs/k5aOkzFlUs898I02wY/ylaD3AKXXh+w4Ne1jG1nraeKJcWq3QRWrZ/D6+1r5ZdlGrF3QwkJvUNcugK5bXOGfbGWJaMalrjoqr7yVGrVjnGrN/D16x2oZSwBFKTF3iE0OJS7ceko5ba4DfuSVUvfpEH5NvypmGsZ1GXgNxtZ+9lLtLE3RoKCjIf3uB18i9uRmuCHxLgmrYZ9yqr1sxmgLQMqkGXnvnStVtDOmLX1pKfOXZYsaPvRGlbOGEIzW80vQJEex73bt7gVHMb9xCxUpnXoNmYRyye1wbSkBFREnbfsjGeXagULupu1xaOXbcl1pNLKS7/1rOz3nYzfjqNEK0Fa0wNvd5tSth/6TreM2t7zWbtgLAPauWBnbohMIsfI1Bxj8XIjCJVCamZTacGqx4wbDGfOxl+Z8647jfOfI8r0eCLDggkODuVuTH6wSm5J/a4j+eynrSx9p5XOT95MXEey8JcVfNSvKdUNAEU6cXeCCQ69S2xKLmqkmNXpyqg5v7J2StenZ7brm8yRIVNG09oMyAlm69KthOkK3ktt6eHeDrNCf2To5k4frQOR5W3DC5GYUcPOHEXkUVbMfJ8xYz/h5yAXJiyfz+uvDKOPvRzU6VxZ9S6vTdpMultHahuAXvv8giAIVZRErdbPfkBRUdHExj3Ux6mqmFT2TvFi7pkcJNUHc/Ho7Eq6rpK0+9e57B/C/fh0FFJjLGydaNS8LW51LbWO8hQ5R1Qg/oFhRMU9Ij1HidTQnGr2dXBt2ZYmtUz/FRFLZVokNy77E3r/Iel5MowtbXFq2ILWzetiWYYXqZyEYK5cDuBObDI5GGNu64Rr87Y0q2tZhpG9Z8vFBGv7ejRp254m2nZn0wslKXevcck/hAeJGSgNrbCv35IO7RtjW47L6itPlSl38L90jdCoJDJUBljZO9O8QwcalydRlXktZRr3b1zCP+Q+8el5yIwtsHVyxa1Nc+qWJQOqEkUSEf5XCQx7QGJ6DmoDc2xqN6ZVu5b/3nt6rNLKS7/1rPL8W9MtCP9NjRq6YGpqgv/1wH86KWWjTCP61g0CwyKJe5ROtlKCkak1NRxdaNLSjXrWZV9BKzcpjOtXbxAWlUi6QoqptT11GrembVMHKjk2VwVlsH9qb2afrYb34nUMyPibG7EKrBt1pU+X+pjnH5UXe41jJ64SL61Fi569aV2ruKDTf6PPLwjCi6u5WxOMjIp2XF/IgFXu5R/4YN5xUlQSzLtOZ83HPZ48FIpIO87/XvqYw4lqZM0ncX7Du5WZVEEQBEEQBOFf5F8bsBIqWX7A6rSEzl8cZrl39X86QYIgCP8YbQGrFzLYLq9fH5ukKKKiIgne/QMrTz2k2I1RlA85uUYFiHgAAAIwSURBVGI1xxPVgAGu3XpUckoFQRAEQRAEQfjvUhIVcZe8kg8UBEF44byQq6hKbfoy+vU/uLTuJlm5Eez85HVu9hqAe/sm1KlhgYEynYTIIC4cO4RfcBJKQF5nGB++7PJPJ10QBEEQBEEQhP8MJTEhQcSr2uDwQk4lEARB0O6FDFiBEc3GLGFe3hfM23yZeEUSwT6bCfYp7lgJpvUHMH3BdLoU2b5XEARBEARBEASh/FSx94lWgEOl7k4sCIJQ9b2gAStAZke3iev4Y+ApDu4/yt9XbxH+4CGpGdnkYoi5tR2ODZrToecgvAd1wEEsXCsIgiAIgiAIgl7IcWztRV8bJ3qNfIt2IlglCIJQxAu56LogCIIgCIIgVASx6LogCIIglI1YdF0QBEEQBEEQBEEQBEH4VxABK0EQBEEQBEEQBEEQBKFKEQErQRAEQRAEQRAEQRAEoUoRAStBEARBEARBEARBEAShShEBK0EQBEEQBEEQBEEQBKFKEQErQRAEQRAEQRAEQRAEoUqR6+tEpqam2NpU19fpBEEQBEEQBOFfx8DAAIlEIvrFgiAIglBKUmnxc6kkarVaXclpEQRBEARBEARBEARBEAStxCeBgiAIgiAIgiAIgiAIQpUiAlaCIAiCIAiCIAiCIAhClSICVoIgCIIgCIIgCIIgCEKVIgJWgiAIgiAIgiAIgiAIQpUiAlaCIAiCIAiCIAiCIAhClSICVoIgCIIgCIIgCIIgCEKV8n/DMM9Mkzztkg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037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95" y="1"/>
            <a:ext cx="1026105" cy="1678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73192"/>
            <a:ext cx="1026105" cy="16782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1793617" y="7804890"/>
                <a:ext cx="3517901" cy="7316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372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Specifications</a:t>
                </a:r>
              </a:p>
              <a:p>
                <a:pPr algn="ctr"/>
                <a:r>
                  <a:rPr lang="en-US" sz="2372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P, V, 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72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ΔV</m:t>
                    </m:r>
                  </m:oMath>
                </a14:m>
                <a:r>
                  <a:rPr lang="sv-SE" sz="2372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72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ΔI</m:t>
                    </m:r>
                  </m:oMath>
                </a14:m>
                <a:endParaRPr lang="sv-SE" sz="237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3617" y="7804890"/>
                <a:ext cx="3517901" cy="731696"/>
              </a:xfrm>
              <a:prstGeom prst="rect">
                <a:avLst/>
              </a:prstGeom>
              <a:blipFill>
                <a:blip r:embed="rId3"/>
                <a:stretch>
                  <a:fillRect t="-9836" b="-237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6" idx="2"/>
            <a:endCxn id="8" idx="0"/>
          </p:cNvCxnSpPr>
          <p:nvPr/>
        </p:nvCxnSpPr>
        <p:spPr>
          <a:xfrm>
            <a:off x="13552565" y="8536587"/>
            <a:ext cx="0" cy="4582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793617" y="8994885"/>
            <a:ext cx="3517901" cy="625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26" indent="-285726" algn="ctr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Converter Topology</a:t>
            </a:r>
          </a:p>
          <a:p>
            <a:pPr marL="285726" indent="-285726" algn="ctr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Modulation Scheme</a:t>
            </a:r>
            <a:endParaRPr lang="sv-SE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>
            <a:stCxn id="8" idx="2"/>
            <a:endCxn id="10" idx="0"/>
          </p:cNvCxnSpPr>
          <p:nvPr/>
        </p:nvCxnSpPr>
        <p:spPr>
          <a:xfrm>
            <a:off x="13552568" y="9620650"/>
            <a:ext cx="12699" cy="380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507615" y="10001214"/>
            <a:ext cx="8115298" cy="984757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Generating Voltage and Current Waveforms for Leg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Domain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18804" y="11469486"/>
            <a:ext cx="5480222" cy="47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Circuit Model </a:t>
            </a:r>
          </a:p>
        </p:txBody>
      </p:sp>
      <p:cxnSp>
        <p:nvCxnSpPr>
          <p:cNvPr id="12" name="Straight Arrow Connector 11"/>
          <p:cNvCxnSpPr>
            <a:stCxn id="10" idx="2"/>
            <a:endCxn id="11" idx="0"/>
          </p:cNvCxnSpPr>
          <p:nvPr/>
        </p:nvCxnSpPr>
        <p:spPr>
          <a:xfrm flipH="1">
            <a:off x="13558916" y="10985971"/>
            <a:ext cx="6350" cy="483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1"/>
            <a:endCxn id="11" idx="3"/>
          </p:cNvCxnSpPr>
          <p:nvPr/>
        </p:nvCxnSpPr>
        <p:spPr>
          <a:xfrm flipH="1" flipV="1">
            <a:off x="16299027" y="11706922"/>
            <a:ext cx="1323888" cy="43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7622918" y="11465076"/>
            <a:ext cx="4914901" cy="492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 increase</a:t>
            </a:r>
          </a:p>
        </p:txBody>
      </p:sp>
      <p:cxnSp>
        <p:nvCxnSpPr>
          <p:cNvPr id="15" name="Straight Arrow Connector 14"/>
          <p:cNvCxnSpPr>
            <a:endCxn id="68" idx="0"/>
          </p:cNvCxnSpPr>
          <p:nvPr/>
        </p:nvCxnSpPr>
        <p:spPr>
          <a:xfrm>
            <a:off x="3945151" y="12363180"/>
            <a:ext cx="1" cy="468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926317" y="12371504"/>
            <a:ext cx="15908955" cy="28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3573722" y="11759650"/>
            <a:ext cx="2656" cy="6041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33164" y="12807963"/>
            <a:ext cx="2191385" cy="10652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Capacitor: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</a:p>
        </p:txBody>
      </p:sp>
      <p:cxnSp>
        <p:nvCxnSpPr>
          <p:cNvPr id="19" name="Straight Arrow Connector 18"/>
          <p:cNvCxnSpPr>
            <a:stCxn id="18" idx="2"/>
            <a:endCxn id="20" idx="0"/>
          </p:cNvCxnSpPr>
          <p:nvPr/>
        </p:nvCxnSpPr>
        <p:spPr>
          <a:xfrm>
            <a:off x="9228852" y="13873219"/>
            <a:ext cx="176" cy="4123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91384" y="14285583"/>
            <a:ext cx="2275288" cy="1323828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Estimation:</a:t>
            </a:r>
          </a:p>
          <a:p>
            <a:pPr marL="342873" indent="-34287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Sizing </a:t>
            </a:r>
          </a:p>
          <a:p>
            <a:pPr marL="342873" indent="-34287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pPr marL="342873" indent="-34287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8181799" y="15609411"/>
            <a:ext cx="56060" cy="59366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9035603" y="15591640"/>
            <a:ext cx="49196" cy="59544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9938135" y="15609411"/>
            <a:ext cx="24595" cy="59366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04423" y="16098276"/>
            <a:ext cx="145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26131" y="17122792"/>
            <a:ext cx="145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51270" y="18335453"/>
            <a:ext cx="145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39299" y="21561273"/>
            <a:ext cx="14679177" cy="544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Volume/Cost/Loss/Carbon Emission</a:t>
            </a:r>
            <a:endParaRPr lang="en-US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3579118" y="12363798"/>
            <a:ext cx="0" cy="4441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2290161" y="12790946"/>
            <a:ext cx="2550210" cy="1242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Semiconductor: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Rating </a:t>
            </a:r>
          </a:p>
        </p:txBody>
      </p:sp>
      <p:cxnSp>
        <p:nvCxnSpPr>
          <p:cNvPr id="30" name="Straight Arrow Connector 29"/>
          <p:cNvCxnSpPr>
            <a:stCxn id="29" idx="2"/>
            <a:endCxn id="31" idx="0"/>
          </p:cNvCxnSpPr>
          <p:nvPr/>
        </p:nvCxnSpPr>
        <p:spPr>
          <a:xfrm>
            <a:off x="13565264" y="14033309"/>
            <a:ext cx="0" cy="5889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2290161" y="14622312"/>
            <a:ext cx="2550210" cy="561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 Area Selection 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11452956" y="14875810"/>
            <a:ext cx="882983" cy="4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1452952" y="14880153"/>
            <a:ext cx="0" cy="13428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360865" y="14547820"/>
            <a:ext cx="100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2432110" y="15584493"/>
            <a:ext cx="2260282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Model</a:t>
            </a:r>
          </a:p>
        </p:txBody>
      </p:sp>
      <p:cxnSp>
        <p:nvCxnSpPr>
          <p:cNvPr id="36" name="Straight Arrow Connector 35"/>
          <p:cNvCxnSpPr>
            <a:stCxn id="31" idx="2"/>
            <a:endCxn id="35" idx="0"/>
          </p:cNvCxnSpPr>
          <p:nvPr/>
        </p:nvCxnSpPr>
        <p:spPr>
          <a:xfrm flipH="1">
            <a:off x="13562248" y="15183581"/>
            <a:ext cx="3016" cy="4009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5" idx="2"/>
            <a:endCxn id="38" idx="0"/>
          </p:cNvCxnSpPr>
          <p:nvPr/>
        </p:nvCxnSpPr>
        <p:spPr>
          <a:xfrm flipH="1">
            <a:off x="13559217" y="16018684"/>
            <a:ext cx="3032" cy="334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426046" y="16353651"/>
            <a:ext cx="2266346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Model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12078813" y="16570741"/>
            <a:ext cx="3577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35" idx="1"/>
          </p:cNvCxnSpPr>
          <p:nvPr/>
        </p:nvCxnSpPr>
        <p:spPr>
          <a:xfrm>
            <a:off x="12068308" y="15801585"/>
            <a:ext cx="3638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2068304" y="15801590"/>
            <a:ext cx="0" cy="7691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530289" y="15153173"/>
            <a:ext cx="105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Temp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11452957" y="16221253"/>
            <a:ext cx="2068783" cy="2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2"/>
            <a:endCxn id="45" idx="0"/>
          </p:cNvCxnSpPr>
          <p:nvPr/>
        </p:nvCxnSpPr>
        <p:spPr>
          <a:xfrm>
            <a:off x="13559217" y="16787841"/>
            <a:ext cx="6048" cy="5662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1934413" y="17354073"/>
            <a:ext cx="3261706" cy="249307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Estimation: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Heatsink size/cost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module size/cost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 size (e.g. gate driver) size/cost</a:t>
            </a:r>
          </a:p>
          <a:p>
            <a:pPr algn="ctr"/>
            <a:endParaRPr lang="en-US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 flipV="1">
            <a:off x="13515677" y="16211956"/>
            <a:ext cx="2202445" cy="49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15718118" y="16221256"/>
            <a:ext cx="4634" cy="53248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2113130" y="19854859"/>
            <a:ext cx="8496" cy="16912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4817298" y="19826013"/>
            <a:ext cx="23075" cy="17200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614450" y="20072828"/>
            <a:ext cx="1575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Heatsink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379228" y="19985784"/>
            <a:ext cx="1437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Heatsink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marL="285726" indent="-285726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5723707" y="17922481"/>
            <a:ext cx="2151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Loss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5903237" y="12855586"/>
            <a:ext cx="2191385" cy="873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dv/</a:t>
            </a:r>
            <a:r>
              <a:rPr lang="en-US" sz="2372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14692392" y="15799504"/>
            <a:ext cx="23065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53" idx="0"/>
          </p:cNvCxnSpPr>
          <p:nvPr/>
        </p:nvCxnSpPr>
        <p:spPr>
          <a:xfrm flipH="1">
            <a:off x="16998926" y="12413709"/>
            <a:ext cx="7178" cy="4418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3" idx="2"/>
          </p:cNvCxnSpPr>
          <p:nvPr/>
        </p:nvCxnSpPr>
        <p:spPr>
          <a:xfrm flipH="1">
            <a:off x="16998926" y="13729123"/>
            <a:ext cx="4" cy="2122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19840311" y="12413336"/>
            <a:ext cx="2" cy="4739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8645437" y="12874706"/>
            <a:ext cx="2191385" cy="434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Losses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19840311" y="13296329"/>
            <a:ext cx="2" cy="4739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8703220" y="13780534"/>
            <a:ext cx="2191385" cy="643548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Harmonic Loss Modelling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19798909" y="14423880"/>
            <a:ext cx="36364" cy="716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9870189" y="17276153"/>
            <a:ext cx="15513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Harmonic Loss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/>
          <p:cNvCxnSpPr>
            <a:endCxn id="14" idx="3"/>
          </p:cNvCxnSpPr>
          <p:nvPr/>
        </p:nvCxnSpPr>
        <p:spPr>
          <a:xfrm flipH="1">
            <a:off x="22537819" y="11700350"/>
            <a:ext cx="1291652" cy="109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23829470" y="11695970"/>
            <a:ext cx="0" cy="101356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21218476" y="21831577"/>
            <a:ext cx="2610997" cy="17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1182350" y="22572394"/>
            <a:ext cx="5410200" cy="1747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Converter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(capital + running)</a:t>
            </a:r>
          </a:p>
          <a:p>
            <a:pPr marL="342883" indent="-342883">
              <a:buFont typeface="Arial" panose="020B0604020202020204" pitchFamily="34" charset="0"/>
              <a:buChar char="•"/>
            </a:pPr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(capital </a:t>
            </a:r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running)</a:t>
            </a:r>
            <a:endParaRPr lang="sv-SE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/>
          <p:cNvCxnSpPr>
            <a:stCxn id="27" idx="2"/>
            <a:endCxn id="66" idx="0"/>
          </p:cNvCxnSpPr>
          <p:nvPr/>
        </p:nvCxnSpPr>
        <p:spPr>
          <a:xfrm>
            <a:off x="13878888" y="22105465"/>
            <a:ext cx="8562" cy="4669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849459" y="12831994"/>
            <a:ext cx="2191385" cy="873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</a:t>
            </a:r>
            <a:endParaRPr lang="en-US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/>
          <p:cNvCxnSpPr>
            <a:stCxn id="84" idx="2"/>
            <a:endCxn id="77" idx="0"/>
          </p:cNvCxnSpPr>
          <p:nvPr/>
        </p:nvCxnSpPr>
        <p:spPr>
          <a:xfrm flipH="1">
            <a:off x="3919642" y="15417422"/>
            <a:ext cx="25510" cy="10182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850021" y="18266057"/>
            <a:ext cx="2191385" cy="873537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 rate model </a:t>
            </a:r>
            <a:endParaRPr lang="en-US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/>
          <p:cNvCxnSpPr>
            <a:stCxn id="70" idx="2"/>
            <a:endCxn id="72" idx="0"/>
          </p:cNvCxnSpPr>
          <p:nvPr/>
        </p:nvCxnSpPr>
        <p:spPr>
          <a:xfrm>
            <a:off x="3945714" y="19139594"/>
            <a:ext cx="24949" cy="24064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066265" y="21546063"/>
            <a:ext cx="3808796" cy="544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 in rate</a:t>
            </a:r>
            <a:endParaRPr lang="en-US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Arrow Connector 72"/>
          <p:cNvCxnSpPr>
            <a:stCxn id="79" idx="2"/>
          </p:cNvCxnSpPr>
          <p:nvPr/>
        </p:nvCxnSpPr>
        <p:spPr>
          <a:xfrm>
            <a:off x="3916610" y="17638996"/>
            <a:ext cx="9707" cy="6673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66" idx="1"/>
          </p:cNvCxnSpPr>
          <p:nvPr/>
        </p:nvCxnSpPr>
        <p:spPr>
          <a:xfrm flipH="1">
            <a:off x="1395644" y="23446169"/>
            <a:ext cx="9786706" cy="36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endCxn id="68" idx="1"/>
          </p:cNvCxnSpPr>
          <p:nvPr/>
        </p:nvCxnSpPr>
        <p:spPr>
          <a:xfrm flipV="1">
            <a:off x="1439120" y="13268763"/>
            <a:ext cx="1410339" cy="229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1395643" y="13281393"/>
            <a:ext cx="97750" cy="101907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789501" y="16435647"/>
            <a:ext cx="2260282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Model</a:t>
            </a:r>
          </a:p>
        </p:txBody>
      </p:sp>
      <p:cxnSp>
        <p:nvCxnSpPr>
          <p:cNvPr id="78" name="Straight Arrow Connector 77"/>
          <p:cNvCxnSpPr>
            <a:stCxn id="77" idx="2"/>
            <a:endCxn id="79" idx="0"/>
          </p:cNvCxnSpPr>
          <p:nvPr/>
        </p:nvCxnSpPr>
        <p:spPr>
          <a:xfrm flipH="1">
            <a:off x="3916608" y="16869838"/>
            <a:ext cx="3032" cy="334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2783437" y="17204805"/>
            <a:ext cx="2266346" cy="434191"/>
          </a:xfrm>
          <a:prstGeom prst="rect">
            <a:avLst/>
          </a:prstGeom>
          <a:solidFill>
            <a:srgbClr val="CC0099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Model</a:t>
            </a:r>
          </a:p>
        </p:txBody>
      </p:sp>
      <p:cxnSp>
        <p:nvCxnSpPr>
          <p:cNvPr id="80" name="Straight Connector 79"/>
          <p:cNvCxnSpPr/>
          <p:nvPr/>
        </p:nvCxnSpPr>
        <p:spPr>
          <a:xfrm>
            <a:off x="2436204" y="17421895"/>
            <a:ext cx="3577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77" idx="1"/>
          </p:cNvCxnSpPr>
          <p:nvPr/>
        </p:nvCxnSpPr>
        <p:spPr>
          <a:xfrm>
            <a:off x="2425699" y="16652739"/>
            <a:ext cx="3638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2425695" y="16652744"/>
            <a:ext cx="0" cy="7691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565212" y="16704530"/>
            <a:ext cx="105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Temp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849459" y="14543885"/>
            <a:ext cx="2191385" cy="87353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 </a:t>
            </a:r>
          </a:p>
          <a:p>
            <a:pPr algn="ctr"/>
            <a:r>
              <a:rPr lang="en-US" sz="2372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237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Straight Arrow Connector 84"/>
          <p:cNvCxnSpPr>
            <a:stCxn id="68" idx="2"/>
            <a:endCxn id="84" idx="0"/>
          </p:cNvCxnSpPr>
          <p:nvPr/>
        </p:nvCxnSpPr>
        <p:spPr>
          <a:xfrm>
            <a:off x="3945152" y="13705531"/>
            <a:ext cx="0" cy="838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869407" y="22956413"/>
            <a:ext cx="7312943" cy="109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H="1">
            <a:off x="3878014" y="22095945"/>
            <a:ext cx="24987" cy="871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97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95" y="1"/>
            <a:ext cx="1026105" cy="1678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73192"/>
            <a:ext cx="1026105" cy="1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5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5868</TotalTime>
  <Words>412</Words>
  <Application>Microsoft Office PowerPoint</Application>
  <PresentationFormat>Custom</PresentationFormat>
  <Paragraphs>153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34</cp:revision>
  <dcterms:created xsi:type="dcterms:W3CDTF">2023-09-25T13:09:23Z</dcterms:created>
  <dcterms:modified xsi:type="dcterms:W3CDTF">2024-10-10T07:51:14Z</dcterms:modified>
</cp:coreProperties>
</file>