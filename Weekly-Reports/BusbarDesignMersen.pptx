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56" r:id="rId2"/>
    <p:sldId id="270" r:id="rId3"/>
    <p:sldId id="261" r:id="rId4"/>
    <p:sldId id="262" r:id="rId5"/>
    <p:sldId id="263" r:id="rId6"/>
    <p:sldId id="264" r:id="rId7"/>
    <p:sldId id="266" r:id="rId8"/>
    <p:sldId id="267" r:id="rId9"/>
    <p:sldId id="268" r:id="rId10"/>
  </p:sldIdLst>
  <p:sldSz cx="12192000" cy="6858000"/>
  <p:notesSz cx="6858000" cy="9144000"/>
  <p:embeddedFontLst>
    <p:embeddedFont>
      <p:font typeface="Figtree" panose="020B0604020202020204" charset="0"/>
      <p:regular r:id="rId12"/>
      <p:bold r:id="rId13"/>
      <p:italic r:id="rId14"/>
      <p:boldItalic r:id="rId15"/>
    </p:embeddedFont>
    <p:embeddedFont>
      <p:font typeface="Calibri" panose="020F0502020204030204" pitchFamily="34" charset="0"/>
      <p:regular r:id="rId16"/>
      <p:bold r:id="rId17"/>
      <p:italic r:id="rId18"/>
      <p:boldItalic r:id="rId19"/>
    </p:embeddedFont>
    <p:embeddedFont>
      <p:font typeface="Cambria Math" panose="02040503050406030204" pitchFamily="18" charset="0"/>
      <p:regular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6327"/>
  </p:normalViewPr>
  <p:slideViewPr>
    <p:cSldViewPr snapToGrid="0">
      <p:cViewPr varScale="1">
        <p:scale>
          <a:sx n="160" d="100"/>
          <a:sy n="160" d="100"/>
        </p:scale>
        <p:origin x="25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2024-10-03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2024-10-03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2024-10-03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2024-10-03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2024-10-03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2024-10-03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2024-10-03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2024-10-03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2024-10-03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2024-10-03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2024-10-03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2024-10-03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2024-10-03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2024-10-03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2024-10-03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2024-10-03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2024-10-03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2024-10-03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2024-10-03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2024-10-03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2024-10-03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hyperlink" Target="https://www.infineon.com/dgdl/Infineon-FF3MR20KM1H-DataSheet-v01_00-EN.pdf?fileId=8ac78c8c8afe5bd0018b18a8bcde381a&amp;_gl=1*d4az8w*_up*MQ..&amp;gclid=CjwKCAjwodC2BhAHEiwAE67hJH0tvJHgZ57l5CyZLWo7A3vgT-FzpCPN5dYoo1eviVThRGPVYWDNCxoCv08QAvD_BwE&amp;gclsrc=aw.ds" TargetMode="External"/><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content.kemet.com/datasheets/KEM_F3119_C44U_M.pdf" TargetMode="External"/><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70.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dau-heatsinks.com/fileadmin/user_upload/DAU/Datenblaetter_Juni_2024/Miba_Product_Flyer_Liquid_Cooling_Series_KS.pdf?utm_source=pocket_saves" TargetMode="Externa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2L Inverter </a:t>
            </a:r>
            <a:r>
              <a:rPr lang="en-US" dirty="0" err="1" smtClean="0"/>
              <a:t>Busbar</a:t>
            </a:r>
            <a:r>
              <a:rPr lang="en-US" smtClean="0"/>
              <a:t> Design </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2-Level Inverter Power Ratings</a:t>
            </a:r>
            <a:endParaRPr lang="sv-SE"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9963" y="915784"/>
                <a:ext cx="4985179" cy="4453808"/>
              </a:xfrm>
            </p:spPr>
            <p:txBody>
              <a:bodyPr/>
              <a:lstStyle/>
              <a:p>
                <a:pPr>
                  <a:buFont typeface="Wingdings" panose="05000000000000000000" pitchFamily="2" charset="2"/>
                  <a:buChar char="§"/>
                </a:pPr>
                <a:endParaRPr lang="en-US"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b="0" i="1" smtClean="0">
                            <a:latin typeface="Cambria Math" panose="02040503050406030204" pitchFamily="18" charset="0"/>
                          </a:rPr>
                          <m:t>𝐷𝐶</m:t>
                        </m:r>
                      </m:sub>
                    </m:sSub>
                    <m:r>
                      <a:rPr lang="en-US" i="1">
                        <a:latin typeface="Cambria Math" panose="02040503050406030204" pitchFamily="18" charset="0"/>
                      </a:rPr>
                      <m:t>=1</m:t>
                    </m:r>
                    <m:r>
                      <a:rPr lang="sv-SE" b="0" i="1" smtClean="0">
                        <a:latin typeface="Cambria Math" panose="02040503050406030204" pitchFamily="18" charset="0"/>
                      </a:rPr>
                      <m:t>05</m:t>
                    </m:r>
                    <m:r>
                      <a:rPr lang="en-US" i="1">
                        <a:latin typeface="Cambria Math" panose="02040503050406030204" pitchFamily="18" charset="0"/>
                      </a:rPr>
                      <m:t>0 </m:t>
                    </m:r>
                    <m:r>
                      <a:rPr lang="en-US" i="1" smtClean="0">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b="0" i="1" smtClean="0">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525</m:t>
                    </m:r>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e>
                        </m:d>
                      </m:num>
                      <m:den>
                        <m:r>
                          <a:rPr lang="en-US" b="0" i="1" smtClean="0">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smtClean="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b="0" i="1" smtClean="0">
                        <a:latin typeface="Cambria Math" panose="02040503050406030204" pitchFamily="18" charset="0"/>
                      </a:rPr>
                      <m:t>6 </m:t>
                    </m:r>
                    <m:r>
                      <a:rPr lang="sv-SE" b="0" i="1" smtClean="0">
                        <a:latin typeface="Cambria Math" panose="02040503050406030204" pitchFamily="18" charset="0"/>
                      </a:rPr>
                      <m:t>𝐴</m:t>
                    </m:r>
                  </m:oMath>
                </a14:m>
                <a:endParaRPr lang="sv-SE" b="0"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m:t>
                    </m:r>
                    <m:r>
                      <a:rPr lang="en-US" b="0" i="1" smtClean="0">
                        <a:latin typeface="Cambria Math" panose="02040503050406030204" pitchFamily="18" charset="0"/>
                      </a:rPr>
                      <m:t>2</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r>
                              <a:rPr lang="en-US" b="0" i="1" smtClean="0">
                                <a:latin typeface="Cambria Math" panose="02040503050406030204" pitchFamily="18" charset="0"/>
                              </a:rPr>
                              <m:t>𝑝𝑓</m:t>
                            </m:r>
                          </m:den>
                        </m:f>
                      </m:num>
                      <m:den>
                        <m:sSub>
                          <m:sSubPr>
                            <m:ctrlPr>
                              <a:rPr lang="en-US" i="1">
                                <a:latin typeface="Cambria Math" panose="02040503050406030204" pitchFamily="18" charset="0"/>
                              </a:rPr>
                            </m:ctrlPr>
                          </m:sSubPr>
                          <m:e>
                            <m:r>
                              <a:rPr lang="en-US" b="0" i="1" smtClean="0">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b="0" i="1" smtClean="0">
                        <a:latin typeface="Cambria Math" panose="02040503050406030204" pitchFamily="18" charset="0"/>
                      </a:rPr>
                      <m:t>360</m:t>
                    </m:r>
                    <m:r>
                      <a:rPr lang="sv-SE" b="0" i="1" smtClean="0">
                        <a:latin typeface="Cambria Math" panose="02040503050406030204" pitchFamily="18" charset="0"/>
                      </a:rPr>
                      <m:t>𝐴</m:t>
                    </m:r>
                  </m:oMath>
                </a14:m>
                <a:endParaRPr lang="en-US" b="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9963" y="915784"/>
                <a:ext cx="4985179" cy="4453808"/>
              </a:xfrm>
              <a:blipFill>
                <a:blip r:embed="rId2"/>
                <a:stretch>
                  <a:fillRect l="-1102"/>
                </a:stretch>
              </a:blipFill>
            </p:spPr>
            <p:txBody>
              <a:bodyPr/>
              <a:lstStyle/>
              <a:p>
                <a:r>
                  <a:rPr lang="sv-SE">
                    <a:noFill/>
                  </a:rPr>
                  <a:t> </a:t>
                </a:r>
              </a:p>
            </p:txBody>
          </p:sp>
        </mc:Fallback>
      </mc:AlternateContent>
      <p:pic>
        <p:nvPicPr>
          <p:cNvPr id="4" name="Picture 3"/>
          <p:cNvPicPr>
            <a:picLocks noChangeAspect="1"/>
          </p:cNvPicPr>
          <p:nvPr/>
        </p:nvPicPr>
        <p:blipFill rotWithShape="1">
          <a:blip r:embed="rId3"/>
          <a:srcRect l="4779" r="80577" b="10137"/>
          <a:stretch/>
        </p:blipFill>
        <p:spPr>
          <a:xfrm>
            <a:off x="8134205" y="1028939"/>
            <a:ext cx="1464277" cy="262580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5983691" y="3839148"/>
                <a:ext cx="5583936" cy="646331"/>
              </a:xfrm>
              <a:prstGeom prst="rect">
                <a:avLst/>
              </a:prstGeom>
            </p:spPr>
            <p:txBody>
              <a:bodyPr wrap="square">
                <a:spAutoFit/>
              </a:bodyPr>
              <a:lstStyle/>
              <a:p>
                <a:pPr algn="ctr"/>
                <a:r>
                  <a:rPr lang="en-US" dirty="0" smtClean="0"/>
                  <a:t>Efficiency </a:t>
                </a:r>
                <a:r>
                  <a:rPr lang="en-US" dirty="0"/>
                  <a:t>(99.5%) </a:t>
                </a:r>
                <a:endParaRPr lang="en-US" dirty="0" smtClean="0"/>
              </a:p>
              <a:p>
                <a:pPr algn="ctr"/>
                <a:r>
                  <a:rPr lang="en-US" dirty="0" smtClean="0">
                    <a:sym typeface="Wingdings" panose="05000000000000000000" pitchFamily="2" charset="2"/>
                  </a:rPr>
                  <a:t>Semiconductor Losses (6 switches): </a:t>
                </a:r>
                <a:r>
                  <a:rPr lang="en-US" b="1" dirty="0">
                    <a:sym typeface="Wingdings" panose="05000000000000000000" pitchFamily="2" charset="2"/>
                  </a:rPr>
                  <a:t>1500 </a:t>
                </a:r>
                <a14:m>
                  <m:oMath xmlns:m="http://schemas.openxmlformats.org/officeDocument/2006/math">
                    <m:r>
                      <a:rPr lang="en-US" b="1" i="1">
                        <a:latin typeface="Cambria Math" panose="02040503050406030204" pitchFamily="18" charset="0"/>
                      </a:rPr>
                      <m:t>𝑾</m:t>
                    </m:r>
                  </m:oMath>
                </a14:m>
                <a:endParaRPr lang="sv-SE" b="1" dirty="0"/>
              </a:p>
            </p:txBody>
          </p:sp>
        </mc:Choice>
        <mc:Fallback xmlns="">
          <p:sp>
            <p:nvSpPr>
              <p:cNvPr id="6" name="Rectangle 5"/>
              <p:cNvSpPr>
                <a:spLocks noRot="1" noChangeAspect="1" noMove="1" noResize="1" noEditPoints="1" noAdjustHandles="1" noChangeArrowheads="1" noChangeShapeType="1" noTextEdit="1"/>
              </p:cNvSpPr>
              <p:nvPr/>
            </p:nvSpPr>
            <p:spPr>
              <a:xfrm>
                <a:off x="5983691" y="3839148"/>
                <a:ext cx="5583936" cy="646331"/>
              </a:xfrm>
              <a:prstGeom prst="rect">
                <a:avLst/>
              </a:prstGeom>
              <a:blipFill>
                <a:blip r:embed="rId4"/>
                <a:stretch>
                  <a:fillRect t="-5660" b="-14151"/>
                </a:stretch>
              </a:blipFill>
            </p:spPr>
            <p:txBody>
              <a:bodyPr/>
              <a:lstStyle/>
              <a:p>
                <a:r>
                  <a:rPr lang="sv-SE">
                    <a:noFill/>
                  </a:rPr>
                  <a:t> </a:t>
                </a:r>
              </a:p>
            </p:txBody>
          </p:sp>
        </mc:Fallback>
      </mc:AlternateContent>
      <p:sp>
        <p:nvSpPr>
          <p:cNvPr id="7" name="Rectangle 6"/>
          <p:cNvSpPr/>
          <p:nvPr/>
        </p:nvSpPr>
        <p:spPr>
          <a:xfrm>
            <a:off x="3748275" y="4757260"/>
            <a:ext cx="7230501" cy="2585323"/>
          </a:xfrm>
          <a:prstGeom prst="rect">
            <a:avLst/>
          </a:prstGeom>
        </p:spPr>
        <p:txBody>
          <a:bodyPr wrap="square">
            <a:spAutoFit/>
          </a:bodyPr>
          <a:lstStyle/>
          <a:p>
            <a:r>
              <a:rPr lang="sv-SE" dirty="0" smtClean="0">
                <a:latin typeface="Figtree (Body)"/>
              </a:rPr>
              <a:t>  </a:t>
            </a:r>
          </a:p>
          <a:p>
            <a:pPr marL="342900" indent="-342900">
              <a:buFont typeface="Arial" panose="020B0604020202020204" pitchFamily="34" charset="0"/>
              <a:buChar char="•"/>
            </a:pPr>
            <a:r>
              <a:rPr lang="sv-SE" dirty="0" err="1" smtClean="0">
                <a:latin typeface="Figtree (Body)"/>
              </a:rPr>
              <a:t>Switching</a:t>
            </a:r>
            <a:r>
              <a:rPr lang="sv-SE" dirty="0" smtClean="0">
                <a:latin typeface="Figtree (Body)"/>
              </a:rPr>
              <a:t> </a:t>
            </a:r>
            <a:r>
              <a:rPr lang="sv-SE" dirty="0" err="1">
                <a:latin typeface="Figtree (Body)"/>
              </a:rPr>
              <a:t>Frequency</a:t>
            </a:r>
            <a:r>
              <a:rPr lang="sv-SE" dirty="0">
                <a:latin typeface="Figtree (Body)"/>
              </a:rPr>
              <a:t>: </a:t>
            </a:r>
            <a:r>
              <a:rPr lang="sv-SE" dirty="0" err="1">
                <a:latin typeface="Figtree (Body)"/>
              </a:rPr>
              <a:t>Up</a:t>
            </a:r>
            <a:r>
              <a:rPr lang="sv-SE" dirty="0">
                <a:latin typeface="Figtree (Body)"/>
              </a:rPr>
              <a:t> to 18.5 kHz </a:t>
            </a:r>
          </a:p>
          <a:p>
            <a:pPr lvl="1"/>
            <a:r>
              <a:rPr lang="sv-SE" dirty="0" smtClean="0">
                <a:latin typeface="Figtree (Body)"/>
              </a:rPr>
              <a:t>(</a:t>
            </a:r>
            <a:r>
              <a:rPr lang="sv-SE" dirty="0" err="1" smtClean="0">
                <a:latin typeface="Figtree (Body)"/>
              </a:rPr>
              <a:t>Holistic</a:t>
            </a:r>
            <a:r>
              <a:rPr lang="sv-SE" dirty="0" smtClean="0">
                <a:latin typeface="Figtree (Body)"/>
              </a:rPr>
              <a:t> </a:t>
            </a:r>
            <a:r>
              <a:rPr lang="sv-SE" dirty="0">
                <a:latin typeface="Figtree (Body)"/>
              </a:rPr>
              <a:t>Design for </a:t>
            </a:r>
            <a:r>
              <a:rPr lang="sv-SE" dirty="0" err="1">
                <a:latin typeface="Figtree (Body)"/>
              </a:rPr>
              <a:t>minimizing</a:t>
            </a:r>
            <a:r>
              <a:rPr lang="sv-SE" dirty="0">
                <a:latin typeface="Figtree (Body)"/>
              </a:rPr>
              <a:t> total loss : </a:t>
            </a:r>
            <a:r>
              <a:rPr lang="sv-SE" b="1" dirty="0">
                <a:latin typeface="Figtree (Body)"/>
              </a:rPr>
              <a:t>14 </a:t>
            </a:r>
            <a:r>
              <a:rPr lang="sv-SE" b="1" dirty="0" smtClean="0">
                <a:latin typeface="Figtree (Body)"/>
              </a:rPr>
              <a:t>kHz</a:t>
            </a:r>
            <a:r>
              <a:rPr lang="sv-SE" dirty="0" smtClean="0">
                <a:latin typeface="Figtree (Body)"/>
              </a:rPr>
              <a:t>)</a:t>
            </a:r>
          </a:p>
          <a:p>
            <a:pPr marL="342900" indent="-342900">
              <a:buFont typeface="Arial" panose="020B0604020202020204" pitchFamily="34" charset="0"/>
              <a:buChar char="•"/>
            </a:pPr>
            <a:endParaRPr lang="sv-SE" dirty="0" smtClean="0">
              <a:latin typeface="Figtree (Body)"/>
            </a:endParaRPr>
          </a:p>
          <a:p>
            <a:pPr marL="342900" indent="-342900">
              <a:buFont typeface="Arial" panose="020B0604020202020204" pitchFamily="34" charset="0"/>
              <a:buChar char="•"/>
            </a:pPr>
            <a:r>
              <a:rPr lang="sv-SE" dirty="0" err="1" smtClean="0">
                <a:latin typeface="Figtree (Body)"/>
              </a:rPr>
              <a:t>Continuous</a:t>
            </a:r>
            <a:r>
              <a:rPr lang="sv-SE" dirty="0" smtClean="0">
                <a:latin typeface="Figtree (Body)"/>
              </a:rPr>
              <a:t> </a:t>
            </a:r>
            <a:r>
              <a:rPr lang="sv-SE" dirty="0">
                <a:latin typeface="Figtree (Body)"/>
              </a:rPr>
              <a:t>Power: </a:t>
            </a:r>
            <a:r>
              <a:rPr lang="sv-SE" b="1" dirty="0">
                <a:latin typeface="Figtree (Body)"/>
              </a:rPr>
              <a:t>300 k</a:t>
            </a:r>
            <a:r>
              <a:rPr lang="sv-SE" b="1" dirty="0" smtClean="0">
                <a:latin typeface="Figtree (Body)"/>
              </a:rPr>
              <a:t>W</a:t>
            </a:r>
          </a:p>
          <a:p>
            <a:pPr marL="342900" indent="-342900">
              <a:buFont typeface="Arial" panose="020B0604020202020204" pitchFamily="34" charset="0"/>
              <a:buChar char="•"/>
            </a:pPr>
            <a:r>
              <a:rPr lang="en-US" dirty="0" smtClean="0">
                <a:latin typeface="Figtree (Body)"/>
              </a:rPr>
              <a:t>Short-term </a:t>
            </a:r>
            <a:r>
              <a:rPr lang="en-US" dirty="0">
                <a:latin typeface="Figtree (Body)"/>
              </a:rPr>
              <a:t>Power: </a:t>
            </a:r>
            <a:r>
              <a:rPr lang="en-US" b="1" dirty="0">
                <a:latin typeface="Figtree (Body)"/>
              </a:rPr>
              <a:t>360 </a:t>
            </a:r>
            <a:r>
              <a:rPr lang="en-US" b="1" dirty="0" smtClean="0">
                <a:latin typeface="Figtree (Body)"/>
              </a:rPr>
              <a:t>kW</a:t>
            </a:r>
          </a:p>
          <a:p>
            <a:pPr marL="342900" indent="-342900">
              <a:buFont typeface="Arial" panose="020B0604020202020204" pitchFamily="34" charset="0"/>
              <a:buChar char="•"/>
            </a:pPr>
            <a:r>
              <a:rPr lang="en-US" dirty="0" smtClean="0">
                <a:latin typeface="Figtree (Body)"/>
              </a:rPr>
              <a:t>Power </a:t>
            </a:r>
            <a:r>
              <a:rPr lang="en-US" dirty="0">
                <a:latin typeface="Figtree (Body)"/>
              </a:rPr>
              <a:t>factor: </a:t>
            </a:r>
            <a:r>
              <a:rPr lang="en-US" b="1" dirty="0" smtClean="0">
                <a:latin typeface="Figtree (Body)"/>
              </a:rPr>
              <a:t>0.9</a:t>
            </a:r>
            <a:r>
              <a:rPr lang="en-US" dirty="0" smtClean="0">
                <a:latin typeface="Figtree (Body)"/>
              </a:rPr>
              <a:t>-1</a:t>
            </a:r>
            <a:endParaRPr lang="sv-SE" dirty="0">
              <a:latin typeface="Figtree (Body)"/>
            </a:endParaRPr>
          </a:p>
          <a:p>
            <a:pPr lvl="1"/>
            <a:endParaRPr lang="sv-SE" dirty="0" smtClean="0">
              <a:latin typeface="Figtree (Body)"/>
            </a:endParaRPr>
          </a:p>
          <a:p>
            <a:pPr lvl="1"/>
            <a:endParaRPr lang="sv-SE" dirty="0">
              <a:latin typeface="Figtree (Body)"/>
            </a:endParaRPr>
          </a:p>
        </p:txBody>
      </p:sp>
    </p:spTree>
    <p:extLst>
      <p:ext uri="{BB962C8B-B14F-4D97-AF65-F5344CB8AC3E}">
        <p14:creationId xmlns:p14="http://schemas.microsoft.com/office/powerpoint/2010/main" val="10612335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Main Components</a:t>
            </a:r>
            <a:endParaRPr lang="sv-SE" dirty="0"/>
          </a:p>
        </p:txBody>
      </p:sp>
      <p:pic>
        <p:nvPicPr>
          <p:cNvPr id="8" name="Picture 7"/>
          <p:cNvPicPr>
            <a:picLocks noChangeAspect="1"/>
          </p:cNvPicPr>
          <p:nvPr/>
        </p:nvPicPr>
        <p:blipFill>
          <a:blip r:embed="rId2"/>
          <a:stretch>
            <a:fillRect/>
          </a:stretch>
        </p:blipFill>
        <p:spPr>
          <a:xfrm>
            <a:off x="3880910" y="1265946"/>
            <a:ext cx="1710521" cy="1082724"/>
          </a:xfrm>
          <a:prstGeom prst="rect">
            <a:avLst/>
          </a:prstGeom>
        </p:spPr>
      </p:pic>
      <p:sp>
        <p:nvSpPr>
          <p:cNvPr id="10" name="TextBox 9"/>
          <p:cNvSpPr txBox="1"/>
          <p:nvPr/>
        </p:nvSpPr>
        <p:spPr>
          <a:xfrm>
            <a:off x="1014143" y="1265946"/>
            <a:ext cx="3836773" cy="923330"/>
          </a:xfrm>
          <a:prstGeom prst="rect">
            <a:avLst/>
          </a:prstGeom>
          <a:noFill/>
        </p:spPr>
        <p:txBody>
          <a:bodyPr wrap="square" rtlCol="0">
            <a:spAutoFit/>
          </a:bodyPr>
          <a:lstStyle/>
          <a:p>
            <a:pPr marL="342900" indent="-342900">
              <a:buAutoNum type="arabicPeriod"/>
            </a:pPr>
            <a:endParaRPr lang="en-US" dirty="0" smtClean="0"/>
          </a:p>
          <a:p>
            <a:pPr marL="285750" indent="-285750">
              <a:buFont typeface="Arial" panose="020B0604020202020204" pitchFamily="34" charset="0"/>
              <a:buChar char="•"/>
            </a:pPr>
            <a:r>
              <a:rPr lang="en-US" dirty="0" smtClean="0"/>
              <a:t>62mm Power Modules </a:t>
            </a:r>
          </a:p>
          <a:p>
            <a:pPr marL="342900" indent="-342900">
              <a:buAutoNum type="arabicPeriod"/>
            </a:pPr>
            <a:endParaRPr lang="en-US" dirty="0"/>
          </a:p>
        </p:txBody>
      </p:sp>
      <p:sp>
        <p:nvSpPr>
          <p:cNvPr id="13" name="TextBox 12"/>
          <p:cNvSpPr txBox="1"/>
          <p:nvPr/>
        </p:nvSpPr>
        <p:spPr>
          <a:xfrm>
            <a:off x="4688631" y="2996775"/>
            <a:ext cx="5166294" cy="646331"/>
          </a:xfrm>
          <a:prstGeom prst="rect">
            <a:avLst/>
          </a:prstGeom>
          <a:noFill/>
        </p:spPr>
        <p:txBody>
          <a:bodyPr wrap="square" rtlCol="0">
            <a:spAutoFit/>
          </a:bodyPr>
          <a:lstStyle/>
          <a:p>
            <a:pPr marL="342900" indent="-342900">
              <a:buAutoNum type="arabicPeriod"/>
            </a:pPr>
            <a:endParaRPr lang="en-US" dirty="0" smtClean="0"/>
          </a:p>
          <a:p>
            <a:pPr marL="285750" indent="-285750">
              <a:buFont typeface="Arial" panose="020B0604020202020204" pitchFamily="34" charset="0"/>
              <a:buChar char="•"/>
            </a:pPr>
            <a:r>
              <a:rPr lang="en-US" dirty="0" smtClean="0"/>
              <a:t>Film capacitor with cylindrical can-type</a:t>
            </a:r>
            <a:endParaRPr lang="en-US"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1950" y="2576306"/>
            <a:ext cx="1308202" cy="1744269"/>
          </a:xfrm>
          <a:prstGeom prst="rect">
            <a:avLst/>
          </a:prstGeom>
        </p:spPr>
      </p:pic>
      <p:sp>
        <p:nvSpPr>
          <p:cNvPr id="15" name="TextBox 14"/>
          <p:cNvSpPr txBox="1"/>
          <p:nvPr/>
        </p:nvSpPr>
        <p:spPr>
          <a:xfrm>
            <a:off x="1061511" y="4890295"/>
            <a:ext cx="5166294" cy="646331"/>
          </a:xfrm>
          <a:prstGeom prst="rect">
            <a:avLst/>
          </a:prstGeom>
          <a:noFill/>
        </p:spPr>
        <p:txBody>
          <a:bodyPr wrap="square" rtlCol="0">
            <a:spAutoFit/>
          </a:bodyPr>
          <a:lstStyle/>
          <a:p>
            <a:pPr marL="342900" indent="-342900">
              <a:buAutoNum type="arabicPeriod"/>
            </a:pPr>
            <a:endParaRPr lang="en-US" dirty="0" smtClean="0"/>
          </a:p>
          <a:p>
            <a:pPr marL="285750" indent="-285750">
              <a:buFont typeface="Arial" panose="020B0604020202020204" pitchFamily="34" charset="0"/>
              <a:buChar char="•"/>
            </a:pPr>
            <a:r>
              <a:rPr lang="en-US" dirty="0" err="1" smtClean="0"/>
              <a:t>Coldplate</a:t>
            </a:r>
            <a:endParaRPr lang="en-US" dirty="0"/>
          </a:p>
        </p:txBody>
      </p:sp>
      <p:pic>
        <p:nvPicPr>
          <p:cNvPr id="17" name="Picture 16"/>
          <p:cNvPicPr>
            <a:picLocks noChangeAspect="1"/>
          </p:cNvPicPr>
          <p:nvPr/>
        </p:nvPicPr>
        <p:blipFill>
          <a:blip r:embed="rId4"/>
          <a:stretch>
            <a:fillRect/>
          </a:stretch>
        </p:blipFill>
        <p:spPr>
          <a:xfrm>
            <a:off x="2734356" y="4484427"/>
            <a:ext cx="1954275" cy="2104397"/>
          </a:xfrm>
          <a:prstGeom prst="rect">
            <a:avLst/>
          </a:prstGeom>
        </p:spPr>
      </p:pic>
    </p:spTree>
    <p:extLst>
      <p:ext uri="{BB962C8B-B14F-4D97-AF65-F5344CB8AC3E}">
        <p14:creationId xmlns:p14="http://schemas.microsoft.com/office/powerpoint/2010/main" val="14773249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Dimensions - </a:t>
            </a:r>
            <a:r>
              <a:rPr lang="sv-SE" dirty="0"/>
              <a:t>FF3MR20KM1H </a:t>
            </a:r>
            <a:r>
              <a:rPr lang="sv-SE" dirty="0" smtClean="0"/>
              <a:t>Power </a:t>
            </a:r>
            <a:r>
              <a:rPr lang="sv-SE" dirty="0" err="1" smtClean="0"/>
              <a:t>Module</a:t>
            </a:r>
            <a:r>
              <a:rPr lang="sv-SE" dirty="0"/>
              <a:t/>
            </a:r>
            <a:br>
              <a:rPr lang="sv-SE" dirty="0"/>
            </a:br>
            <a:endParaRPr lang="sv-SE" dirty="0"/>
          </a:p>
        </p:txBody>
      </p:sp>
      <p:pic>
        <p:nvPicPr>
          <p:cNvPr id="11" name="Picture 10"/>
          <p:cNvPicPr>
            <a:picLocks noChangeAspect="1"/>
          </p:cNvPicPr>
          <p:nvPr/>
        </p:nvPicPr>
        <p:blipFill>
          <a:blip r:embed="rId2"/>
          <a:stretch>
            <a:fillRect/>
          </a:stretch>
        </p:blipFill>
        <p:spPr>
          <a:xfrm>
            <a:off x="2857582" y="1059923"/>
            <a:ext cx="5509177" cy="4494667"/>
          </a:xfrm>
          <a:prstGeom prst="rect">
            <a:avLst/>
          </a:prstGeom>
        </p:spPr>
      </p:pic>
      <p:sp>
        <p:nvSpPr>
          <p:cNvPr id="7" name="TextBox 6"/>
          <p:cNvSpPr txBox="1"/>
          <p:nvPr/>
        </p:nvSpPr>
        <p:spPr>
          <a:xfrm>
            <a:off x="122603" y="6339840"/>
            <a:ext cx="1919557" cy="369332"/>
          </a:xfrm>
          <a:prstGeom prst="rect">
            <a:avLst/>
          </a:prstGeom>
          <a:noFill/>
        </p:spPr>
        <p:txBody>
          <a:bodyPr wrap="square" rtlCol="0">
            <a:spAutoFit/>
          </a:bodyPr>
          <a:lstStyle/>
          <a:p>
            <a:r>
              <a:rPr lang="en-US" dirty="0" smtClean="0">
                <a:hlinkClick r:id="rId3"/>
              </a:rPr>
              <a:t>*Datasheet </a:t>
            </a:r>
            <a:endParaRPr lang="sv-SE" dirty="0"/>
          </a:p>
        </p:txBody>
      </p:sp>
    </p:spTree>
    <p:extLst>
      <p:ext uri="{BB962C8B-B14F-4D97-AF65-F5344CB8AC3E}">
        <p14:creationId xmlns:p14="http://schemas.microsoft.com/office/powerpoint/2010/main" val="20227162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014143" y="276122"/>
                <a:ext cx="10990263" cy="568412"/>
              </a:xfrm>
            </p:spPr>
            <p:txBody>
              <a:bodyPr/>
              <a:lstStyle/>
              <a:p>
                <a:r>
                  <a:rPr lang="en-US" dirty="0" smtClean="0"/>
                  <a:t>Dimensions - </a:t>
                </a:r>
                <a:r>
                  <a:rPr lang="sv-SE" dirty="0" smtClean="0"/>
                  <a:t>C44U 1300 V 200</a:t>
                </a:r>
                <a14:m>
                  <m:oMath xmlns:m="http://schemas.openxmlformats.org/officeDocument/2006/math">
                    <m:r>
                      <a:rPr lang="en-US" b="1" i="0" smtClean="0">
                        <a:latin typeface="Cambria Math" panose="02040503050406030204" pitchFamily="18" charset="0"/>
                      </a:rPr>
                      <m:t> </m:t>
                    </m:r>
                    <m:r>
                      <a:rPr lang="en-US" b="1" i="1" smtClean="0">
                        <a:latin typeface="Cambria Math" panose="02040503050406030204" pitchFamily="18" charset="0"/>
                      </a:rPr>
                      <m:t>𝝁</m:t>
                    </m:r>
                  </m:oMath>
                </a14:m>
                <a:r>
                  <a:rPr lang="sv-SE" dirty="0" smtClean="0"/>
                  <a:t>F</a:t>
                </a:r>
                <a:r>
                  <a:rPr lang="sv-SE" dirty="0"/>
                  <a:t/>
                </a:r>
                <a:br>
                  <a:rPr lang="sv-SE" dirty="0"/>
                </a:br>
                <a:endParaRPr lang="sv-SE"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014143" y="276122"/>
                <a:ext cx="10990263" cy="568412"/>
              </a:xfrm>
              <a:blipFill>
                <a:blip r:embed="rId2"/>
                <a:stretch>
                  <a:fillRect l="-1664" t="-14894" b="-54255"/>
                </a:stretch>
              </a:blipFill>
            </p:spPr>
            <p:txBody>
              <a:bodyPr/>
              <a:lstStyle/>
              <a:p>
                <a:r>
                  <a:rPr lang="sv-SE">
                    <a:noFill/>
                  </a:rPr>
                  <a:t> </a:t>
                </a:r>
              </a:p>
            </p:txBody>
          </p:sp>
        </mc:Fallback>
      </mc:AlternateContent>
      <p:sp>
        <p:nvSpPr>
          <p:cNvPr id="7" name="TextBox 6"/>
          <p:cNvSpPr txBox="1"/>
          <p:nvPr/>
        </p:nvSpPr>
        <p:spPr>
          <a:xfrm>
            <a:off x="122603" y="6339840"/>
            <a:ext cx="1919557" cy="369332"/>
          </a:xfrm>
          <a:prstGeom prst="rect">
            <a:avLst/>
          </a:prstGeom>
          <a:noFill/>
        </p:spPr>
        <p:txBody>
          <a:bodyPr wrap="square" rtlCol="0">
            <a:spAutoFit/>
          </a:bodyPr>
          <a:lstStyle/>
          <a:p>
            <a:r>
              <a:rPr lang="en-US" dirty="0" smtClean="0">
                <a:hlinkClick r:id="rId3"/>
              </a:rPr>
              <a:t>*Datasheet </a:t>
            </a:r>
            <a:endParaRPr lang="sv-SE" dirty="0"/>
          </a:p>
        </p:txBody>
      </p:sp>
      <p:pic>
        <p:nvPicPr>
          <p:cNvPr id="3" name="Picture 2"/>
          <p:cNvPicPr>
            <a:picLocks noChangeAspect="1"/>
          </p:cNvPicPr>
          <p:nvPr/>
        </p:nvPicPr>
        <p:blipFill>
          <a:blip r:embed="rId4"/>
          <a:stretch>
            <a:fillRect/>
          </a:stretch>
        </p:blipFill>
        <p:spPr>
          <a:xfrm>
            <a:off x="1678305" y="844534"/>
            <a:ext cx="8115827" cy="3512821"/>
          </a:xfrm>
          <a:prstGeom prst="rect">
            <a:avLst/>
          </a:prstGeom>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70637080"/>
                  </p:ext>
                </p:extLst>
              </p:nvPr>
            </p:nvGraphicFramePr>
            <p:xfrm>
              <a:off x="4183271" y="4693919"/>
              <a:ext cx="3558648" cy="731520"/>
            </p:xfrm>
            <a:graphic>
              <a:graphicData uri="http://schemas.openxmlformats.org/drawingml/2006/table">
                <a:tbl>
                  <a:tblPr firstRow="1" bandRow="1">
                    <a:tableStyleId>{5C22544A-7EE6-4342-B048-85BDC9FD1C3A}</a:tableStyleId>
                  </a:tblPr>
                  <a:tblGrid>
                    <a:gridCol w="1186216">
                      <a:extLst>
                        <a:ext uri="{9D8B030D-6E8A-4147-A177-3AD203B41FA5}">
                          <a16:colId xmlns:a16="http://schemas.microsoft.com/office/drawing/2014/main" val="31965487"/>
                        </a:ext>
                      </a:extLst>
                    </a:gridCol>
                    <a:gridCol w="1186216">
                      <a:extLst>
                        <a:ext uri="{9D8B030D-6E8A-4147-A177-3AD203B41FA5}">
                          <a16:colId xmlns:a16="http://schemas.microsoft.com/office/drawing/2014/main" val="2548223869"/>
                        </a:ext>
                      </a:extLst>
                    </a:gridCol>
                    <a:gridCol w="1186216">
                      <a:extLst>
                        <a:ext uri="{9D8B030D-6E8A-4147-A177-3AD203B41FA5}">
                          <a16:colId xmlns:a16="http://schemas.microsoft.com/office/drawing/2014/main" val="470172470"/>
                        </a:ext>
                      </a:extLst>
                    </a:gridCol>
                  </a:tblGrid>
                  <a:tr h="308406">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𝑫</m:t>
                                </m:r>
                              </m:oMath>
                            </m:oMathPara>
                          </a14:m>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𝐻</m:t>
                                </m:r>
                              </m:oMath>
                            </m:oMathPara>
                          </a14:m>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𝐻</m:t>
                                </m:r>
                                <m:r>
                                  <a:rPr lang="en-US" i="1" dirty="0" smtClean="0">
                                    <a:latin typeface="Cambria Math" panose="02040503050406030204" pitchFamily="18" charset="0"/>
                                  </a:rPr>
                                  <m:t>1</m:t>
                                </m:r>
                              </m:oMath>
                            </m:oMathPara>
                          </a14:m>
                          <a:endParaRPr lang="sv-SE" dirty="0"/>
                        </a:p>
                      </a:txBody>
                      <a:tcPr/>
                    </a:tc>
                    <a:extLst>
                      <a:ext uri="{0D108BD9-81ED-4DB2-BD59-A6C34878D82A}">
                        <a16:rowId xmlns:a16="http://schemas.microsoft.com/office/drawing/2014/main" val="2308393012"/>
                      </a:ext>
                    </a:extLst>
                  </a:tr>
                  <a:tr h="308406">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85 </m:t>
                                </m:r>
                                <m:r>
                                  <a:rPr lang="en-US" i="1" dirty="0" smtClean="0">
                                    <a:latin typeface="Cambria Math" panose="02040503050406030204" pitchFamily="18" charset="0"/>
                                  </a:rPr>
                                  <m:t>𝑚𝑚</m:t>
                                </m:r>
                              </m:oMath>
                            </m:oMathPara>
                          </a14:m>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114.5 </m:t>
                                </m:r>
                                <m:r>
                                  <a:rPr lang="en-US" i="1" dirty="0" smtClean="0">
                                    <a:latin typeface="Cambria Math" panose="02040503050406030204" pitchFamily="18" charset="0"/>
                                  </a:rPr>
                                  <m:t>𝑚𝑚</m:t>
                                </m:r>
                              </m:oMath>
                            </m:oMathPara>
                          </a14:m>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116 </m:t>
                                </m:r>
                                <m:r>
                                  <a:rPr lang="en-US" i="1" dirty="0" smtClean="0">
                                    <a:latin typeface="Cambria Math" panose="02040503050406030204" pitchFamily="18" charset="0"/>
                                  </a:rPr>
                                  <m:t>𝑚𝑚</m:t>
                                </m:r>
                              </m:oMath>
                            </m:oMathPara>
                          </a14:m>
                          <a:endParaRPr lang="sv-SE" dirty="0"/>
                        </a:p>
                      </a:txBody>
                      <a:tcPr/>
                    </a:tc>
                    <a:extLst>
                      <a:ext uri="{0D108BD9-81ED-4DB2-BD59-A6C34878D82A}">
                        <a16:rowId xmlns:a16="http://schemas.microsoft.com/office/drawing/2014/main" val="67893793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570637080"/>
                  </p:ext>
                </p:extLst>
              </p:nvPr>
            </p:nvGraphicFramePr>
            <p:xfrm>
              <a:off x="4183271" y="4693919"/>
              <a:ext cx="3558648" cy="731520"/>
            </p:xfrm>
            <a:graphic>
              <a:graphicData uri="http://schemas.openxmlformats.org/drawingml/2006/table">
                <a:tbl>
                  <a:tblPr firstRow="1" bandRow="1">
                    <a:tableStyleId>{5C22544A-7EE6-4342-B048-85BDC9FD1C3A}</a:tableStyleId>
                  </a:tblPr>
                  <a:tblGrid>
                    <a:gridCol w="1186216">
                      <a:extLst>
                        <a:ext uri="{9D8B030D-6E8A-4147-A177-3AD203B41FA5}">
                          <a16:colId xmlns:a16="http://schemas.microsoft.com/office/drawing/2014/main" val="31965487"/>
                        </a:ext>
                      </a:extLst>
                    </a:gridCol>
                    <a:gridCol w="1186216">
                      <a:extLst>
                        <a:ext uri="{9D8B030D-6E8A-4147-A177-3AD203B41FA5}">
                          <a16:colId xmlns:a16="http://schemas.microsoft.com/office/drawing/2014/main" val="2548223869"/>
                        </a:ext>
                      </a:extLst>
                    </a:gridCol>
                    <a:gridCol w="1186216">
                      <a:extLst>
                        <a:ext uri="{9D8B030D-6E8A-4147-A177-3AD203B41FA5}">
                          <a16:colId xmlns:a16="http://schemas.microsoft.com/office/drawing/2014/main" val="470172470"/>
                        </a:ext>
                      </a:extLst>
                    </a:gridCol>
                  </a:tblGrid>
                  <a:tr h="365760">
                    <a:tc>
                      <a:txBody>
                        <a:bodyPr/>
                        <a:lstStyle/>
                        <a:p>
                          <a:endParaRPr lang="sv-SE"/>
                        </a:p>
                      </a:txBody>
                      <a:tcPr>
                        <a:blipFill>
                          <a:blip r:embed="rId5"/>
                          <a:stretch>
                            <a:fillRect l="-513" t="-1639" r="-202051" b="-103279"/>
                          </a:stretch>
                        </a:blipFill>
                      </a:tcPr>
                    </a:tc>
                    <a:tc>
                      <a:txBody>
                        <a:bodyPr/>
                        <a:lstStyle/>
                        <a:p>
                          <a:endParaRPr lang="sv-SE"/>
                        </a:p>
                      </a:txBody>
                      <a:tcPr>
                        <a:blipFill>
                          <a:blip r:embed="rId5"/>
                          <a:stretch>
                            <a:fillRect l="-101031" t="-1639" r="-103093" b="-103279"/>
                          </a:stretch>
                        </a:blipFill>
                      </a:tcPr>
                    </a:tc>
                    <a:tc>
                      <a:txBody>
                        <a:bodyPr/>
                        <a:lstStyle/>
                        <a:p>
                          <a:endParaRPr lang="sv-SE"/>
                        </a:p>
                      </a:txBody>
                      <a:tcPr>
                        <a:blipFill>
                          <a:blip r:embed="rId5"/>
                          <a:stretch>
                            <a:fillRect l="-200000" t="-1639" r="-2564" b="-103279"/>
                          </a:stretch>
                        </a:blipFill>
                      </a:tcPr>
                    </a:tc>
                    <a:extLst>
                      <a:ext uri="{0D108BD9-81ED-4DB2-BD59-A6C34878D82A}">
                        <a16:rowId xmlns:a16="http://schemas.microsoft.com/office/drawing/2014/main" val="2308393012"/>
                      </a:ext>
                    </a:extLst>
                  </a:tr>
                  <a:tr h="365760">
                    <a:tc>
                      <a:txBody>
                        <a:bodyPr/>
                        <a:lstStyle/>
                        <a:p>
                          <a:endParaRPr lang="sv-SE"/>
                        </a:p>
                      </a:txBody>
                      <a:tcPr>
                        <a:blipFill>
                          <a:blip r:embed="rId5"/>
                          <a:stretch>
                            <a:fillRect l="-513" t="-103333" r="-202051" b="-5000"/>
                          </a:stretch>
                        </a:blipFill>
                      </a:tcPr>
                    </a:tc>
                    <a:tc>
                      <a:txBody>
                        <a:bodyPr/>
                        <a:lstStyle/>
                        <a:p>
                          <a:endParaRPr lang="sv-SE"/>
                        </a:p>
                      </a:txBody>
                      <a:tcPr>
                        <a:blipFill>
                          <a:blip r:embed="rId5"/>
                          <a:stretch>
                            <a:fillRect l="-101031" t="-103333" r="-103093" b="-5000"/>
                          </a:stretch>
                        </a:blipFill>
                      </a:tcPr>
                    </a:tc>
                    <a:tc>
                      <a:txBody>
                        <a:bodyPr/>
                        <a:lstStyle/>
                        <a:p>
                          <a:endParaRPr lang="sv-SE"/>
                        </a:p>
                      </a:txBody>
                      <a:tcPr>
                        <a:blipFill>
                          <a:blip r:embed="rId5"/>
                          <a:stretch>
                            <a:fillRect l="-200000" t="-103333" r="-2564" b="-5000"/>
                          </a:stretch>
                        </a:blipFill>
                      </a:tcPr>
                    </a:tc>
                    <a:extLst>
                      <a:ext uri="{0D108BD9-81ED-4DB2-BD59-A6C34878D82A}">
                        <a16:rowId xmlns:a16="http://schemas.microsoft.com/office/drawing/2014/main" val="678937935"/>
                      </a:ext>
                    </a:extLst>
                  </a:tr>
                </a:tbl>
              </a:graphicData>
            </a:graphic>
          </p:graphicFrame>
        </mc:Fallback>
      </mc:AlternateContent>
    </p:spTree>
    <p:extLst>
      <p:ext uri="{BB962C8B-B14F-4D97-AF65-F5344CB8AC3E}">
        <p14:creationId xmlns:p14="http://schemas.microsoft.com/office/powerpoint/2010/main" val="42274745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Dimensions - </a:t>
            </a:r>
            <a:r>
              <a:rPr lang="sv-SE" dirty="0"/>
              <a:t>LIQUID </a:t>
            </a:r>
            <a:r>
              <a:rPr lang="sv-SE" dirty="0" smtClean="0"/>
              <a:t>COOLING </a:t>
            </a:r>
            <a:endParaRPr lang="sv-SE" dirty="0"/>
          </a:p>
        </p:txBody>
      </p:sp>
      <p:sp>
        <p:nvSpPr>
          <p:cNvPr id="7" name="TextBox 6"/>
          <p:cNvSpPr txBox="1"/>
          <p:nvPr/>
        </p:nvSpPr>
        <p:spPr>
          <a:xfrm>
            <a:off x="122603" y="6339840"/>
            <a:ext cx="1919557" cy="369332"/>
          </a:xfrm>
          <a:prstGeom prst="rect">
            <a:avLst/>
          </a:prstGeom>
          <a:noFill/>
        </p:spPr>
        <p:txBody>
          <a:bodyPr wrap="square" rtlCol="0">
            <a:spAutoFit/>
          </a:bodyPr>
          <a:lstStyle/>
          <a:p>
            <a:r>
              <a:rPr lang="en-US" dirty="0" smtClean="0">
                <a:hlinkClick r:id="rId2"/>
              </a:rPr>
              <a:t>*Datasheet </a:t>
            </a:r>
            <a:endParaRPr lang="sv-SE" dirty="0"/>
          </a:p>
        </p:txBody>
      </p:sp>
      <p:pic>
        <p:nvPicPr>
          <p:cNvPr id="6" name="Picture 5"/>
          <p:cNvPicPr>
            <a:picLocks noChangeAspect="1"/>
          </p:cNvPicPr>
          <p:nvPr/>
        </p:nvPicPr>
        <p:blipFill>
          <a:blip r:embed="rId3"/>
          <a:stretch>
            <a:fillRect/>
          </a:stretch>
        </p:blipFill>
        <p:spPr>
          <a:xfrm>
            <a:off x="1878920" y="1604957"/>
            <a:ext cx="5866721" cy="3389034"/>
          </a:xfrm>
          <a:prstGeom prst="rect">
            <a:avLst/>
          </a:prstGeom>
        </p:spPr>
      </p:pic>
      <p:pic>
        <p:nvPicPr>
          <p:cNvPr id="8" name="Picture 7"/>
          <p:cNvPicPr>
            <a:picLocks noChangeAspect="1"/>
          </p:cNvPicPr>
          <p:nvPr/>
        </p:nvPicPr>
        <p:blipFill>
          <a:blip r:embed="rId4"/>
          <a:stretch>
            <a:fillRect/>
          </a:stretch>
        </p:blipFill>
        <p:spPr>
          <a:xfrm>
            <a:off x="8288046" y="2385060"/>
            <a:ext cx="2506645" cy="1828828"/>
          </a:xfrm>
          <a:prstGeom prst="rect">
            <a:avLst/>
          </a:prstGeom>
        </p:spPr>
      </p:pic>
    </p:spTree>
    <p:extLst>
      <p:ext uri="{BB962C8B-B14F-4D97-AF65-F5344CB8AC3E}">
        <p14:creationId xmlns:p14="http://schemas.microsoft.com/office/powerpoint/2010/main" val="8236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Layout Example : </a:t>
            </a:r>
            <a:r>
              <a:rPr lang="en-US" dirty="0" err="1" smtClean="0"/>
              <a:t>Sideview</a:t>
            </a:r>
            <a:endParaRPr lang="sv-SE" dirty="0"/>
          </a:p>
        </p:txBody>
      </p:sp>
      <p:sp>
        <p:nvSpPr>
          <p:cNvPr id="9" name="Rectangle 8"/>
          <p:cNvSpPr/>
          <p:nvPr/>
        </p:nvSpPr>
        <p:spPr>
          <a:xfrm>
            <a:off x="1264862" y="2486441"/>
            <a:ext cx="9972734" cy="301752"/>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ctangle 9"/>
          <p:cNvSpPr/>
          <p:nvPr/>
        </p:nvSpPr>
        <p:spPr>
          <a:xfrm>
            <a:off x="7991475" y="2910113"/>
            <a:ext cx="3712464" cy="644314"/>
          </a:xfrm>
          <a:prstGeom prst="rect">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p:cNvSpPr/>
          <p:nvPr/>
        </p:nvSpPr>
        <p:spPr>
          <a:xfrm>
            <a:off x="6371463" y="3569576"/>
            <a:ext cx="5328666" cy="463296"/>
          </a:xfrm>
          <a:prstGeom prst="rect">
            <a:avLst/>
          </a:prstGeom>
          <a:solidFill>
            <a:schemeClr val="accent1">
              <a:lumMod val="60000"/>
              <a:lumOff val="4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ctangle 11"/>
          <p:cNvSpPr/>
          <p:nvPr/>
        </p:nvSpPr>
        <p:spPr>
          <a:xfrm>
            <a:off x="4475817" y="2919257"/>
            <a:ext cx="1630764" cy="214156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ctangle 12"/>
          <p:cNvSpPr/>
          <p:nvPr/>
        </p:nvSpPr>
        <p:spPr>
          <a:xfrm>
            <a:off x="1264862" y="2029241"/>
            <a:ext cx="9972734" cy="30175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p:cNvSpPr/>
          <p:nvPr/>
        </p:nvSpPr>
        <p:spPr>
          <a:xfrm>
            <a:off x="1264861" y="2330994"/>
            <a:ext cx="9972735" cy="148266"/>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ctangle 15"/>
          <p:cNvSpPr/>
          <p:nvPr/>
        </p:nvSpPr>
        <p:spPr>
          <a:xfrm>
            <a:off x="1264862" y="1904272"/>
            <a:ext cx="9972734" cy="162439"/>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ctangle 17"/>
          <p:cNvSpPr/>
          <p:nvPr/>
        </p:nvSpPr>
        <p:spPr>
          <a:xfrm rot="5400000">
            <a:off x="2452697" y="1900612"/>
            <a:ext cx="521584" cy="30175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p:cNvSpPr/>
          <p:nvPr/>
        </p:nvSpPr>
        <p:spPr>
          <a:xfrm>
            <a:off x="1264862" y="2757712"/>
            <a:ext cx="9972734" cy="156937"/>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ctangle 19"/>
          <p:cNvSpPr/>
          <p:nvPr/>
        </p:nvSpPr>
        <p:spPr>
          <a:xfrm>
            <a:off x="8273415" y="1738849"/>
            <a:ext cx="315468" cy="1166692"/>
          </a:xfrm>
          <a:prstGeom prst="rect">
            <a:avLst/>
          </a:prstGeom>
          <a:solidFill>
            <a:srgbClr val="A365D1"/>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Rectangle 20"/>
          <p:cNvSpPr/>
          <p:nvPr/>
        </p:nvSpPr>
        <p:spPr>
          <a:xfrm>
            <a:off x="8092059" y="1872269"/>
            <a:ext cx="181356" cy="992886"/>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ctangle 21"/>
          <p:cNvSpPr/>
          <p:nvPr/>
        </p:nvSpPr>
        <p:spPr>
          <a:xfrm>
            <a:off x="8604123" y="1881413"/>
            <a:ext cx="181356" cy="992886"/>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Rectangle 23"/>
          <p:cNvSpPr/>
          <p:nvPr/>
        </p:nvSpPr>
        <p:spPr>
          <a:xfrm>
            <a:off x="10225659" y="2350805"/>
            <a:ext cx="181356" cy="541782"/>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ctangle 24"/>
          <p:cNvSpPr/>
          <p:nvPr/>
        </p:nvSpPr>
        <p:spPr>
          <a:xfrm>
            <a:off x="10697337" y="2323754"/>
            <a:ext cx="181356" cy="532638"/>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8" name="Rectangle 27"/>
          <p:cNvSpPr/>
          <p:nvPr/>
        </p:nvSpPr>
        <p:spPr>
          <a:xfrm>
            <a:off x="5925225" y="2384333"/>
            <a:ext cx="181356" cy="541782"/>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9" name="Rectangle 28"/>
          <p:cNvSpPr/>
          <p:nvPr/>
        </p:nvSpPr>
        <p:spPr>
          <a:xfrm>
            <a:off x="5395254" y="2384334"/>
            <a:ext cx="181356" cy="523494"/>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3" name="Straight Arrow Connector 32"/>
          <p:cNvCxnSpPr/>
          <p:nvPr/>
        </p:nvCxnSpPr>
        <p:spPr>
          <a:xfrm>
            <a:off x="11199495" y="3623551"/>
            <a:ext cx="488275" cy="61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1167067" y="3636108"/>
            <a:ext cx="712727" cy="276999"/>
          </a:xfrm>
          <a:prstGeom prst="rect">
            <a:avLst/>
          </a:prstGeom>
          <a:noFill/>
        </p:spPr>
        <p:txBody>
          <a:bodyPr wrap="square" rtlCol="0">
            <a:spAutoFit/>
          </a:bodyPr>
          <a:lstStyle/>
          <a:p>
            <a:r>
              <a:rPr lang="sv-SE" sz="1200" dirty="0" smtClean="0"/>
              <a:t>13.2mm</a:t>
            </a:r>
            <a:endParaRPr lang="sv-SE" sz="1200" dirty="0"/>
          </a:p>
        </p:txBody>
      </p:sp>
      <p:sp>
        <p:nvSpPr>
          <p:cNvPr id="35" name="TextBox 34"/>
          <p:cNvSpPr txBox="1"/>
          <p:nvPr/>
        </p:nvSpPr>
        <p:spPr>
          <a:xfrm>
            <a:off x="9625327" y="4178468"/>
            <a:ext cx="934212" cy="276999"/>
          </a:xfrm>
          <a:prstGeom prst="rect">
            <a:avLst/>
          </a:prstGeom>
          <a:noFill/>
        </p:spPr>
        <p:txBody>
          <a:bodyPr wrap="square" rtlCol="0">
            <a:spAutoFit/>
          </a:bodyPr>
          <a:lstStyle/>
          <a:p>
            <a:r>
              <a:rPr lang="sv-SE" sz="1200" dirty="0" smtClean="0"/>
              <a:t>106.4mm</a:t>
            </a:r>
            <a:endParaRPr lang="sv-SE" sz="1200" dirty="0"/>
          </a:p>
        </p:txBody>
      </p:sp>
      <p:cxnSp>
        <p:nvCxnSpPr>
          <p:cNvPr id="36" name="Straight Arrow Connector 35"/>
          <p:cNvCxnSpPr/>
          <p:nvPr/>
        </p:nvCxnSpPr>
        <p:spPr>
          <a:xfrm>
            <a:off x="7991177" y="4145648"/>
            <a:ext cx="3674662" cy="1380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 idx="1"/>
          </p:cNvCxnSpPr>
          <p:nvPr/>
        </p:nvCxnSpPr>
        <p:spPr>
          <a:xfrm flipH="1">
            <a:off x="7991177" y="3232270"/>
            <a:ext cx="298" cy="91337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1666601" y="3513457"/>
            <a:ext cx="21169" cy="106825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371463" y="3597828"/>
            <a:ext cx="6771" cy="96538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1226967" y="2912531"/>
            <a:ext cx="22987" cy="166918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408794" y="4563209"/>
            <a:ext cx="5257045" cy="1850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8644078" y="4670952"/>
            <a:ext cx="934212" cy="276999"/>
          </a:xfrm>
          <a:prstGeom prst="rect">
            <a:avLst/>
          </a:prstGeom>
          <a:noFill/>
        </p:spPr>
        <p:txBody>
          <a:bodyPr wrap="square" rtlCol="0">
            <a:spAutoFit/>
          </a:bodyPr>
          <a:lstStyle/>
          <a:p>
            <a:r>
              <a:rPr lang="sv-SE" sz="1200" dirty="0" smtClean="0"/>
              <a:t>140mm</a:t>
            </a:r>
            <a:endParaRPr lang="sv-SE" sz="1200" dirty="0"/>
          </a:p>
        </p:txBody>
      </p:sp>
      <p:sp>
        <p:nvSpPr>
          <p:cNvPr id="46" name="TextBox 45"/>
          <p:cNvSpPr txBox="1"/>
          <p:nvPr/>
        </p:nvSpPr>
        <p:spPr>
          <a:xfrm>
            <a:off x="4566610" y="3695335"/>
            <a:ext cx="1638948" cy="461665"/>
          </a:xfrm>
          <a:prstGeom prst="rect">
            <a:avLst/>
          </a:prstGeom>
          <a:noFill/>
        </p:spPr>
        <p:txBody>
          <a:bodyPr wrap="square" rtlCol="0">
            <a:spAutoFit/>
          </a:bodyPr>
          <a:lstStyle/>
          <a:p>
            <a:r>
              <a:rPr lang="sv-SE" sz="2400" dirty="0" err="1" smtClean="0">
                <a:solidFill>
                  <a:schemeClr val="bg1"/>
                </a:solidFill>
              </a:rPr>
              <a:t>Capacitor</a:t>
            </a:r>
            <a:endParaRPr lang="sv-SE" dirty="0">
              <a:solidFill>
                <a:schemeClr val="bg1"/>
              </a:solidFill>
            </a:endParaRPr>
          </a:p>
        </p:txBody>
      </p:sp>
      <p:sp>
        <p:nvSpPr>
          <p:cNvPr id="47" name="TextBox 46"/>
          <p:cNvSpPr txBox="1"/>
          <p:nvPr/>
        </p:nvSpPr>
        <p:spPr>
          <a:xfrm>
            <a:off x="9006459" y="3028139"/>
            <a:ext cx="2160608" cy="461665"/>
          </a:xfrm>
          <a:prstGeom prst="rect">
            <a:avLst/>
          </a:prstGeom>
          <a:noFill/>
        </p:spPr>
        <p:txBody>
          <a:bodyPr wrap="square" rtlCol="0">
            <a:spAutoFit/>
          </a:bodyPr>
          <a:lstStyle/>
          <a:p>
            <a:r>
              <a:rPr lang="sv-SE" sz="2400" dirty="0" smtClean="0">
                <a:solidFill>
                  <a:schemeClr val="bg1"/>
                </a:solidFill>
              </a:rPr>
              <a:t>Power </a:t>
            </a:r>
            <a:r>
              <a:rPr lang="sv-SE" sz="2400" dirty="0" err="1" smtClean="0">
                <a:solidFill>
                  <a:schemeClr val="bg1"/>
                </a:solidFill>
              </a:rPr>
              <a:t>Module</a:t>
            </a:r>
            <a:endParaRPr lang="sv-SE" dirty="0">
              <a:solidFill>
                <a:schemeClr val="bg1"/>
              </a:solidFill>
            </a:endParaRPr>
          </a:p>
        </p:txBody>
      </p:sp>
      <p:sp>
        <p:nvSpPr>
          <p:cNvPr id="48" name="TextBox 47"/>
          <p:cNvSpPr txBox="1"/>
          <p:nvPr/>
        </p:nvSpPr>
        <p:spPr>
          <a:xfrm>
            <a:off x="8336781" y="3567712"/>
            <a:ext cx="2070234" cy="461665"/>
          </a:xfrm>
          <a:prstGeom prst="rect">
            <a:avLst/>
          </a:prstGeom>
          <a:noFill/>
        </p:spPr>
        <p:txBody>
          <a:bodyPr wrap="square" rtlCol="0">
            <a:spAutoFit/>
          </a:bodyPr>
          <a:lstStyle/>
          <a:p>
            <a:r>
              <a:rPr lang="sv-SE" sz="2400" dirty="0" smtClean="0">
                <a:solidFill>
                  <a:schemeClr val="bg1"/>
                </a:solidFill>
              </a:rPr>
              <a:t>Cold Plate</a:t>
            </a:r>
            <a:endParaRPr lang="sv-SE" dirty="0">
              <a:solidFill>
                <a:schemeClr val="bg1"/>
              </a:solidFill>
            </a:endParaRPr>
          </a:p>
        </p:txBody>
      </p:sp>
      <p:cxnSp>
        <p:nvCxnSpPr>
          <p:cNvPr id="49" name="Straight Arrow Connector 48"/>
          <p:cNvCxnSpPr/>
          <p:nvPr/>
        </p:nvCxnSpPr>
        <p:spPr>
          <a:xfrm>
            <a:off x="4498975" y="5157464"/>
            <a:ext cx="1607606" cy="1110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106581" y="4941152"/>
            <a:ext cx="6770" cy="2798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469047" y="4920904"/>
            <a:ext cx="6770" cy="2798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082683" y="5195447"/>
            <a:ext cx="934212" cy="276999"/>
          </a:xfrm>
          <a:prstGeom prst="rect">
            <a:avLst/>
          </a:prstGeom>
          <a:noFill/>
        </p:spPr>
        <p:txBody>
          <a:bodyPr wrap="square" rtlCol="0">
            <a:spAutoFit/>
          </a:bodyPr>
          <a:lstStyle/>
          <a:p>
            <a:r>
              <a:rPr lang="sv-SE" sz="1200" dirty="0" smtClean="0"/>
              <a:t>85mm</a:t>
            </a:r>
            <a:endParaRPr lang="sv-SE" sz="1200" dirty="0"/>
          </a:p>
        </p:txBody>
      </p:sp>
      <p:sp>
        <p:nvSpPr>
          <p:cNvPr id="62" name="Rectangle 61"/>
          <p:cNvSpPr/>
          <p:nvPr/>
        </p:nvSpPr>
        <p:spPr>
          <a:xfrm>
            <a:off x="3916053" y="2487583"/>
            <a:ext cx="941832" cy="251841"/>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3" name="Rectangle 62"/>
          <p:cNvSpPr/>
          <p:nvPr/>
        </p:nvSpPr>
        <p:spPr>
          <a:xfrm rot="5400000">
            <a:off x="4631139" y="2566289"/>
            <a:ext cx="363722" cy="323849"/>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64" name="Rectangle 63"/>
          <p:cNvSpPr/>
          <p:nvPr/>
        </p:nvSpPr>
        <p:spPr>
          <a:xfrm rot="5400000">
            <a:off x="5323617" y="2319705"/>
            <a:ext cx="854602" cy="348614"/>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7" name="Rectangle 66"/>
          <p:cNvSpPr/>
          <p:nvPr/>
        </p:nvSpPr>
        <p:spPr>
          <a:xfrm rot="5400000">
            <a:off x="9346382" y="2547382"/>
            <a:ext cx="423634" cy="301752"/>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8" name="Rectangle 67"/>
          <p:cNvSpPr/>
          <p:nvPr/>
        </p:nvSpPr>
        <p:spPr>
          <a:xfrm rot="5400000">
            <a:off x="10280820" y="2441483"/>
            <a:ext cx="584073" cy="348614"/>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0" name="Rectangle 69"/>
          <p:cNvSpPr/>
          <p:nvPr/>
        </p:nvSpPr>
        <p:spPr>
          <a:xfrm rot="5400000">
            <a:off x="8267236" y="1282676"/>
            <a:ext cx="315468" cy="570307"/>
          </a:xfrm>
          <a:prstGeom prst="rect">
            <a:avLst/>
          </a:prstGeom>
          <a:solidFill>
            <a:srgbClr val="A365D1"/>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5" name="TextBox 44"/>
          <p:cNvSpPr txBox="1"/>
          <p:nvPr/>
        </p:nvSpPr>
        <p:spPr>
          <a:xfrm>
            <a:off x="8216879" y="1362705"/>
            <a:ext cx="647526" cy="369332"/>
          </a:xfrm>
          <a:prstGeom prst="rect">
            <a:avLst/>
          </a:prstGeom>
          <a:noFill/>
        </p:spPr>
        <p:txBody>
          <a:bodyPr wrap="square" rtlCol="0">
            <a:spAutoFit/>
          </a:bodyPr>
          <a:lstStyle/>
          <a:p>
            <a:r>
              <a:rPr lang="sv-SE" dirty="0" smtClean="0">
                <a:solidFill>
                  <a:schemeClr val="bg1"/>
                </a:solidFill>
              </a:rPr>
              <a:t>AC</a:t>
            </a:r>
            <a:endParaRPr lang="sv-SE" dirty="0">
              <a:solidFill>
                <a:schemeClr val="bg1"/>
              </a:solidFill>
            </a:endParaRPr>
          </a:p>
        </p:txBody>
      </p:sp>
      <p:sp>
        <p:nvSpPr>
          <p:cNvPr id="71" name="Rectangle 70"/>
          <p:cNvSpPr/>
          <p:nvPr/>
        </p:nvSpPr>
        <p:spPr>
          <a:xfrm>
            <a:off x="1987126" y="1928924"/>
            <a:ext cx="167317" cy="541782"/>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2" name="Rectangle 71"/>
          <p:cNvSpPr/>
          <p:nvPr/>
        </p:nvSpPr>
        <p:spPr>
          <a:xfrm rot="5400000">
            <a:off x="1359583" y="2103526"/>
            <a:ext cx="949498" cy="323849"/>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73" name="Rectangle 72"/>
          <p:cNvSpPr/>
          <p:nvPr/>
        </p:nvSpPr>
        <p:spPr>
          <a:xfrm>
            <a:off x="2601935" y="2905541"/>
            <a:ext cx="1630764" cy="214156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74" name="Straight Connector 73"/>
          <p:cNvCxnSpPr/>
          <p:nvPr/>
        </p:nvCxnSpPr>
        <p:spPr>
          <a:xfrm flipH="1">
            <a:off x="4497581" y="3584112"/>
            <a:ext cx="6771" cy="96538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692728" y="3681619"/>
            <a:ext cx="1638948" cy="461665"/>
          </a:xfrm>
          <a:prstGeom prst="rect">
            <a:avLst/>
          </a:prstGeom>
          <a:noFill/>
        </p:spPr>
        <p:txBody>
          <a:bodyPr wrap="square" rtlCol="0">
            <a:spAutoFit/>
          </a:bodyPr>
          <a:lstStyle/>
          <a:p>
            <a:r>
              <a:rPr lang="sv-SE" sz="2400" dirty="0" err="1" smtClean="0">
                <a:solidFill>
                  <a:schemeClr val="bg1"/>
                </a:solidFill>
              </a:rPr>
              <a:t>Capacitor</a:t>
            </a:r>
            <a:endParaRPr lang="sv-SE" dirty="0">
              <a:solidFill>
                <a:schemeClr val="bg1"/>
              </a:solidFill>
            </a:endParaRPr>
          </a:p>
        </p:txBody>
      </p:sp>
      <p:cxnSp>
        <p:nvCxnSpPr>
          <p:cNvPr id="76" name="Straight Arrow Connector 75"/>
          <p:cNvCxnSpPr/>
          <p:nvPr/>
        </p:nvCxnSpPr>
        <p:spPr>
          <a:xfrm>
            <a:off x="2625093" y="5143748"/>
            <a:ext cx="1607606" cy="1110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232699" y="4927436"/>
            <a:ext cx="6770" cy="2798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2595165" y="4907188"/>
            <a:ext cx="6770" cy="2798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208801" y="5181731"/>
            <a:ext cx="934212" cy="276999"/>
          </a:xfrm>
          <a:prstGeom prst="rect">
            <a:avLst/>
          </a:prstGeom>
          <a:noFill/>
        </p:spPr>
        <p:txBody>
          <a:bodyPr wrap="square" rtlCol="0">
            <a:spAutoFit/>
          </a:bodyPr>
          <a:lstStyle/>
          <a:p>
            <a:r>
              <a:rPr lang="sv-SE" sz="1200" dirty="0" smtClean="0"/>
              <a:t>85mm</a:t>
            </a:r>
            <a:endParaRPr lang="sv-SE" sz="1200" dirty="0"/>
          </a:p>
        </p:txBody>
      </p:sp>
      <p:sp>
        <p:nvSpPr>
          <p:cNvPr id="80" name="Rectangle 79"/>
          <p:cNvSpPr/>
          <p:nvPr/>
        </p:nvSpPr>
        <p:spPr>
          <a:xfrm rot="5400000">
            <a:off x="2757257" y="2552573"/>
            <a:ext cx="363722" cy="323849"/>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85" name="Rectangle 84"/>
          <p:cNvSpPr/>
          <p:nvPr/>
        </p:nvSpPr>
        <p:spPr>
          <a:xfrm>
            <a:off x="4039952" y="2367438"/>
            <a:ext cx="181356" cy="541782"/>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6" name="Rectangle 85"/>
          <p:cNvSpPr/>
          <p:nvPr/>
        </p:nvSpPr>
        <p:spPr>
          <a:xfrm>
            <a:off x="3509981" y="2367439"/>
            <a:ext cx="181356" cy="523494"/>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7" name="Rectangle 86"/>
          <p:cNvSpPr/>
          <p:nvPr/>
        </p:nvSpPr>
        <p:spPr>
          <a:xfrm rot="5400000">
            <a:off x="3446791" y="2311257"/>
            <a:ext cx="837707" cy="348614"/>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8" name="Rectangle 87"/>
          <p:cNvSpPr/>
          <p:nvPr/>
        </p:nvSpPr>
        <p:spPr>
          <a:xfrm>
            <a:off x="2378690" y="1486825"/>
            <a:ext cx="698500" cy="30175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3" name="TextBox 42"/>
          <p:cNvSpPr txBox="1"/>
          <p:nvPr/>
        </p:nvSpPr>
        <p:spPr>
          <a:xfrm>
            <a:off x="2408423" y="1448834"/>
            <a:ext cx="719125" cy="369332"/>
          </a:xfrm>
          <a:prstGeom prst="rect">
            <a:avLst/>
          </a:prstGeom>
          <a:noFill/>
        </p:spPr>
        <p:txBody>
          <a:bodyPr wrap="square" rtlCol="0">
            <a:spAutoFit/>
          </a:bodyPr>
          <a:lstStyle/>
          <a:p>
            <a:r>
              <a:rPr lang="sv-SE" dirty="0" smtClean="0">
                <a:solidFill>
                  <a:schemeClr val="bg1"/>
                </a:solidFill>
              </a:rPr>
              <a:t>DC +</a:t>
            </a:r>
            <a:endParaRPr lang="sv-SE" dirty="0">
              <a:solidFill>
                <a:schemeClr val="bg1"/>
              </a:solidFill>
            </a:endParaRPr>
          </a:p>
        </p:txBody>
      </p:sp>
      <p:sp>
        <p:nvSpPr>
          <p:cNvPr id="89" name="Rectangle 88"/>
          <p:cNvSpPr/>
          <p:nvPr/>
        </p:nvSpPr>
        <p:spPr>
          <a:xfrm>
            <a:off x="1498071" y="1908414"/>
            <a:ext cx="167317" cy="541782"/>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0" name="Rectangle 89"/>
          <p:cNvSpPr/>
          <p:nvPr/>
        </p:nvSpPr>
        <p:spPr>
          <a:xfrm>
            <a:off x="1478104" y="1486825"/>
            <a:ext cx="726234" cy="304241"/>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44" name="TextBox 43"/>
          <p:cNvSpPr txBox="1"/>
          <p:nvPr/>
        </p:nvSpPr>
        <p:spPr>
          <a:xfrm>
            <a:off x="1521616" y="1444007"/>
            <a:ext cx="920997" cy="369332"/>
          </a:xfrm>
          <a:prstGeom prst="rect">
            <a:avLst/>
          </a:prstGeom>
          <a:noFill/>
        </p:spPr>
        <p:txBody>
          <a:bodyPr wrap="square" rtlCol="0">
            <a:spAutoFit/>
          </a:bodyPr>
          <a:lstStyle/>
          <a:p>
            <a:r>
              <a:rPr lang="sv-SE" dirty="0" smtClean="0">
                <a:solidFill>
                  <a:schemeClr val="bg1"/>
                </a:solidFill>
              </a:rPr>
              <a:t>DC -</a:t>
            </a:r>
            <a:endParaRPr lang="sv-SE" dirty="0">
              <a:solidFill>
                <a:schemeClr val="bg1"/>
              </a:solidFill>
            </a:endParaRPr>
          </a:p>
        </p:txBody>
      </p:sp>
    </p:spTree>
    <p:extLst>
      <p:ext uri="{BB962C8B-B14F-4D97-AF65-F5344CB8AC3E}">
        <p14:creationId xmlns:p14="http://schemas.microsoft.com/office/powerpoint/2010/main" val="28048522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Layout Example : </a:t>
            </a:r>
            <a:r>
              <a:rPr lang="en-US" dirty="0" err="1" smtClean="0"/>
              <a:t>Topview</a:t>
            </a:r>
            <a:endParaRPr lang="sv-SE" dirty="0"/>
          </a:p>
        </p:txBody>
      </p:sp>
      <p:sp>
        <p:nvSpPr>
          <p:cNvPr id="61" name="Rectangle 60"/>
          <p:cNvSpPr/>
          <p:nvPr/>
        </p:nvSpPr>
        <p:spPr>
          <a:xfrm>
            <a:off x="5620512" y="1828800"/>
            <a:ext cx="3709416" cy="3253740"/>
          </a:xfrm>
          <a:prstGeom prst="rect">
            <a:avLst/>
          </a:prstGeom>
          <a:solidFill>
            <a:schemeClr val="accent1">
              <a:lumMod val="60000"/>
              <a:lumOff val="40000"/>
              <a:alpha val="5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5" name="Rectangle 64"/>
          <p:cNvSpPr/>
          <p:nvPr/>
        </p:nvSpPr>
        <p:spPr>
          <a:xfrm>
            <a:off x="2288540" y="1581150"/>
            <a:ext cx="6679438" cy="3112769"/>
          </a:xfrm>
          <a:prstGeom prst="rect">
            <a:avLst/>
          </a:prstGeom>
          <a:solidFill>
            <a:schemeClr val="bg2">
              <a:lumMod val="90000"/>
              <a:alpha val="5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6" name="Rectangle 65"/>
          <p:cNvSpPr/>
          <p:nvPr/>
        </p:nvSpPr>
        <p:spPr>
          <a:xfrm>
            <a:off x="6081501" y="3912208"/>
            <a:ext cx="2900221" cy="697602"/>
          </a:xfrm>
          <a:prstGeom prst="rect">
            <a:avLst/>
          </a:prstGeom>
          <a:solidFill>
            <a:schemeClr val="bg2">
              <a:lumMod val="75000"/>
              <a:alpha val="5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9" name="Rectangle 68"/>
          <p:cNvSpPr/>
          <p:nvPr/>
        </p:nvSpPr>
        <p:spPr>
          <a:xfrm>
            <a:off x="6081501" y="3081669"/>
            <a:ext cx="2900221" cy="710470"/>
          </a:xfrm>
          <a:prstGeom prst="rect">
            <a:avLst/>
          </a:prstGeom>
          <a:solidFill>
            <a:schemeClr val="bg2">
              <a:lumMod val="75000"/>
              <a:alpha val="5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1" name="Rectangle 80"/>
          <p:cNvSpPr/>
          <p:nvPr/>
        </p:nvSpPr>
        <p:spPr>
          <a:xfrm>
            <a:off x="6081501" y="2179319"/>
            <a:ext cx="2900221" cy="777241"/>
          </a:xfrm>
          <a:prstGeom prst="rect">
            <a:avLst/>
          </a:prstGeom>
          <a:solidFill>
            <a:schemeClr val="bg2">
              <a:lumMod val="75000"/>
              <a:alpha val="5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2" name="Oval 81"/>
          <p:cNvSpPr/>
          <p:nvPr/>
        </p:nvSpPr>
        <p:spPr>
          <a:xfrm>
            <a:off x="4009234" y="2039735"/>
            <a:ext cx="1263071" cy="1239193"/>
          </a:xfrm>
          <a:prstGeom prst="ellipse">
            <a:avLst/>
          </a:prstGeom>
          <a:solidFill>
            <a:schemeClr val="accent6">
              <a:lumMod val="60000"/>
              <a:lumOff val="40000"/>
              <a:alpha val="5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3" name="Oval 82"/>
          <p:cNvSpPr/>
          <p:nvPr/>
        </p:nvSpPr>
        <p:spPr>
          <a:xfrm>
            <a:off x="4009233" y="3387090"/>
            <a:ext cx="1263071" cy="1239193"/>
          </a:xfrm>
          <a:prstGeom prst="ellipse">
            <a:avLst/>
          </a:prstGeom>
          <a:solidFill>
            <a:schemeClr val="accent6">
              <a:lumMod val="60000"/>
              <a:lumOff val="40000"/>
              <a:alpha val="5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4" name="Oval 83"/>
          <p:cNvSpPr/>
          <p:nvPr/>
        </p:nvSpPr>
        <p:spPr>
          <a:xfrm>
            <a:off x="2572057" y="2039735"/>
            <a:ext cx="1263071" cy="1239193"/>
          </a:xfrm>
          <a:prstGeom prst="ellipse">
            <a:avLst/>
          </a:prstGeom>
          <a:solidFill>
            <a:schemeClr val="accent6">
              <a:lumMod val="60000"/>
              <a:lumOff val="40000"/>
              <a:alpha val="5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1" name="Oval 90"/>
          <p:cNvSpPr/>
          <p:nvPr/>
        </p:nvSpPr>
        <p:spPr>
          <a:xfrm>
            <a:off x="2572056" y="3387090"/>
            <a:ext cx="1263071" cy="1239193"/>
          </a:xfrm>
          <a:prstGeom prst="ellipse">
            <a:avLst/>
          </a:prstGeom>
          <a:solidFill>
            <a:schemeClr val="accent6">
              <a:lumMod val="60000"/>
              <a:lumOff val="40000"/>
              <a:alpha val="5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2" name="TextBox 91"/>
          <p:cNvSpPr txBox="1"/>
          <p:nvPr/>
        </p:nvSpPr>
        <p:spPr>
          <a:xfrm>
            <a:off x="6583299" y="2302986"/>
            <a:ext cx="2160608" cy="461665"/>
          </a:xfrm>
          <a:prstGeom prst="rect">
            <a:avLst/>
          </a:prstGeom>
          <a:noFill/>
        </p:spPr>
        <p:txBody>
          <a:bodyPr wrap="square" rtlCol="0">
            <a:spAutoFit/>
          </a:bodyPr>
          <a:lstStyle/>
          <a:p>
            <a:r>
              <a:rPr lang="sv-SE" sz="2400" dirty="0" smtClean="0">
                <a:solidFill>
                  <a:schemeClr val="bg1"/>
                </a:solidFill>
              </a:rPr>
              <a:t>Power </a:t>
            </a:r>
            <a:r>
              <a:rPr lang="sv-SE" sz="2400" dirty="0" err="1" smtClean="0">
                <a:solidFill>
                  <a:schemeClr val="bg1"/>
                </a:solidFill>
              </a:rPr>
              <a:t>Module</a:t>
            </a:r>
            <a:endParaRPr lang="sv-SE" dirty="0">
              <a:solidFill>
                <a:schemeClr val="bg1"/>
              </a:solidFill>
            </a:endParaRPr>
          </a:p>
        </p:txBody>
      </p:sp>
      <p:sp>
        <p:nvSpPr>
          <p:cNvPr id="93" name="TextBox 92"/>
          <p:cNvSpPr txBox="1"/>
          <p:nvPr/>
        </p:nvSpPr>
        <p:spPr>
          <a:xfrm>
            <a:off x="6509274" y="3095886"/>
            <a:ext cx="2160608" cy="461665"/>
          </a:xfrm>
          <a:prstGeom prst="rect">
            <a:avLst/>
          </a:prstGeom>
          <a:noFill/>
        </p:spPr>
        <p:txBody>
          <a:bodyPr wrap="square" rtlCol="0">
            <a:spAutoFit/>
          </a:bodyPr>
          <a:lstStyle/>
          <a:p>
            <a:r>
              <a:rPr lang="sv-SE" sz="2400" dirty="0" smtClean="0">
                <a:solidFill>
                  <a:schemeClr val="bg1"/>
                </a:solidFill>
              </a:rPr>
              <a:t>Power </a:t>
            </a:r>
            <a:r>
              <a:rPr lang="sv-SE" sz="2400" dirty="0" err="1" smtClean="0">
                <a:solidFill>
                  <a:schemeClr val="bg1"/>
                </a:solidFill>
              </a:rPr>
              <a:t>Module</a:t>
            </a:r>
            <a:endParaRPr lang="sv-SE" dirty="0">
              <a:solidFill>
                <a:schemeClr val="bg1"/>
              </a:solidFill>
            </a:endParaRPr>
          </a:p>
        </p:txBody>
      </p:sp>
      <p:sp>
        <p:nvSpPr>
          <p:cNvPr id="94" name="TextBox 93"/>
          <p:cNvSpPr txBox="1"/>
          <p:nvPr/>
        </p:nvSpPr>
        <p:spPr>
          <a:xfrm>
            <a:off x="6630561" y="3900495"/>
            <a:ext cx="2160608" cy="461665"/>
          </a:xfrm>
          <a:prstGeom prst="rect">
            <a:avLst/>
          </a:prstGeom>
          <a:noFill/>
        </p:spPr>
        <p:txBody>
          <a:bodyPr wrap="square" rtlCol="0">
            <a:spAutoFit/>
          </a:bodyPr>
          <a:lstStyle/>
          <a:p>
            <a:r>
              <a:rPr lang="sv-SE" sz="2400" dirty="0" smtClean="0">
                <a:solidFill>
                  <a:schemeClr val="bg1"/>
                </a:solidFill>
              </a:rPr>
              <a:t>Power </a:t>
            </a:r>
            <a:r>
              <a:rPr lang="sv-SE" sz="2400" dirty="0" err="1" smtClean="0">
                <a:solidFill>
                  <a:schemeClr val="bg1"/>
                </a:solidFill>
              </a:rPr>
              <a:t>Module</a:t>
            </a:r>
            <a:endParaRPr lang="sv-SE" dirty="0">
              <a:solidFill>
                <a:schemeClr val="bg1"/>
              </a:solidFill>
            </a:endParaRPr>
          </a:p>
        </p:txBody>
      </p:sp>
      <p:sp>
        <p:nvSpPr>
          <p:cNvPr id="95" name="TextBox 94"/>
          <p:cNvSpPr txBox="1"/>
          <p:nvPr/>
        </p:nvSpPr>
        <p:spPr>
          <a:xfrm>
            <a:off x="2542689" y="3815489"/>
            <a:ext cx="1638948" cy="400110"/>
          </a:xfrm>
          <a:prstGeom prst="rect">
            <a:avLst/>
          </a:prstGeom>
          <a:noFill/>
        </p:spPr>
        <p:txBody>
          <a:bodyPr wrap="square" rtlCol="0">
            <a:spAutoFit/>
          </a:bodyPr>
          <a:lstStyle/>
          <a:p>
            <a:r>
              <a:rPr lang="sv-SE" sz="2000" dirty="0" err="1" smtClean="0">
                <a:solidFill>
                  <a:schemeClr val="bg1"/>
                </a:solidFill>
              </a:rPr>
              <a:t>Capacitor</a:t>
            </a:r>
            <a:endParaRPr lang="sv-SE" sz="1600" dirty="0">
              <a:solidFill>
                <a:schemeClr val="bg1"/>
              </a:solidFill>
            </a:endParaRPr>
          </a:p>
        </p:txBody>
      </p:sp>
      <p:sp>
        <p:nvSpPr>
          <p:cNvPr id="96" name="TextBox 95"/>
          <p:cNvSpPr txBox="1"/>
          <p:nvPr/>
        </p:nvSpPr>
        <p:spPr>
          <a:xfrm>
            <a:off x="2542689" y="2420540"/>
            <a:ext cx="1638948" cy="400110"/>
          </a:xfrm>
          <a:prstGeom prst="rect">
            <a:avLst/>
          </a:prstGeom>
          <a:noFill/>
        </p:spPr>
        <p:txBody>
          <a:bodyPr wrap="square" rtlCol="0">
            <a:spAutoFit/>
          </a:bodyPr>
          <a:lstStyle/>
          <a:p>
            <a:r>
              <a:rPr lang="sv-SE" sz="2000" dirty="0" err="1" smtClean="0">
                <a:solidFill>
                  <a:schemeClr val="bg1"/>
                </a:solidFill>
              </a:rPr>
              <a:t>Capacitor</a:t>
            </a:r>
            <a:endParaRPr lang="sv-SE" sz="1600" dirty="0">
              <a:solidFill>
                <a:schemeClr val="bg1"/>
              </a:solidFill>
            </a:endParaRPr>
          </a:p>
        </p:txBody>
      </p:sp>
      <p:sp>
        <p:nvSpPr>
          <p:cNvPr id="97" name="TextBox 96"/>
          <p:cNvSpPr txBox="1"/>
          <p:nvPr/>
        </p:nvSpPr>
        <p:spPr>
          <a:xfrm>
            <a:off x="4009233" y="2425827"/>
            <a:ext cx="1638948" cy="400110"/>
          </a:xfrm>
          <a:prstGeom prst="rect">
            <a:avLst/>
          </a:prstGeom>
          <a:noFill/>
        </p:spPr>
        <p:txBody>
          <a:bodyPr wrap="square" rtlCol="0">
            <a:spAutoFit/>
          </a:bodyPr>
          <a:lstStyle/>
          <a:p>
            <a:r>
              <a:rPr lang="sv-SE" sz="2000" dirty="0" err="1" smtClean="0">
                <a:solidFill>
                  <a:schemeClr val="bg1"/>
                </a:solidFill>
              </a:rPr>
              <a:t>Capacitor</a:t>
            </a:r>
            <a:endParaRPr lang="sv-SE" sz="1600" dirty="0">
              <a:solidFill>
                <a:schemeClr val="bg1"/>
              </a:solidFill>
            </a:endParaRPr>
          </a:p>
        </p:txBody>
      </p:sp>
      <p:sp>
        <p:nvSpPr>
          <p:cNvPr id="98" name="TextBox 97"/>
          <p:cNvSpPr txBox="1"/>
          <p:nvPr/>
        </p:nvSpPr>
        <p:spPr>
          <a:xfrm>
            <a:off x="4009233" y="3792139"/>
            <a:ext cx="1638948" cy="400110"/>
          </a:xfrm>
          <a:prstGeom prst="rect">
            <a:avLst/>
          </a:prstGeom>
          <a:noFill/>
        </p:spPr>
        <p:txBody>
          <a:bodyPr wrap="square" rtlCol="0">
            <a:spAutoFit/>
          </a:bodyPr>
          <a:lstStyle/>
          <a:p>
            <a:r>
              <a:rPr lang="sv-SE" sz="2000" dirty="0" err="1" smtClean="0">
                <a:solidFill>
                  <a:schemeClr val="bg1"/>
                </a:solidFill>
              </a:rPr>
              <a:t>Capacitor</a:t>
            </a:r>
            <a:endParaRPr lang="sv-SE" sz="1600" dirty="0">
              <a:solidFill>
                <a:schemeClr val="bg1"/>
              </a:solidFill>
            </a:endParaRPr>
          </a:p>
        </p:txBody>
      </p:sp>
      <p:sp>
        <p:nvSpPr>
          <p:cNvPr id="99" name="TextBox 98"/>
          <p:cNvSpPr txBox="1"/>
          <p:nvPr/>
        </p:nvSpPr>
        <p:spPr>
          <a:xfrm>
            <a:off x="6675748" y="4667465"/>
            <a:ext cx="2070234" cy="461665"/>
          </a:xfrm>
          <a:prstGeom prst="rect">
            <a:avLst/>
          </a:prstGeom>
          <a:noFill/>
        </p:spPr>
        <p:txBody>
          <a:bodyPr wrap="square" rtlCol="0">
            <a:spAutoFit/>
          </a:bodyPr>
          <a:lstStyle/>
          <a:p>
            <a:r>
              <a:rPr lang="sv-SE" sz="2400" dirty="0" smtClean="0">
                <a:solidFill>
                  <a:schemeClr val="bg1"/>
                </a:solidFill>
              </a:rPr>
              <a:t>Cold Plate</a:t>
            </a:r>
            <a:endParaRPr lang="sv-SE" dirty="0">
              <a:solidFill>
                <a:schemeClr val="bg1"/>
              </a:solidFill>
            </a:endParaRPr>
          </a:p>
        </p:txBody>
      </p:sp>
    </p:spTree>
    <p:extLst>
      <p:ext uri="{BB962C8B-B14F-4D97-AF65-F5344CB8AC3E}">
        <p14:creationId xmlns:p14="http://schemas.microsoft.com/office/powerpoint/2010/main" val="30377017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Starting with CAD Drawings</a:t>
            </a:r>
            <a:endParaRPr lang="sv-SE" dirty="0"/>
          </a:p>
        </p:txBody>
      </p:sp>
      <p:pic>
        <p:nvPicPr>
          <p:cNvPr id="3" name="Picture 2"/>
          <p:cNvPicPr>
            <a:picLocks noChangeAspect="1"/>
          </p:cNvPicPr>
          <p:nvPr/>
        </p:nvPicPr>
        <p:blipFill>
          <a:blip r:embed="rId2"/>
          <a:stretch>
            <a:fillRect/>
          </a:stretch>
        </p:blipFill>
        <p:spPr>
          <a:xfrm>
            <a:off x="1014143" y="1302308"/>
            <a:ext cx="4345257" cy="2685804"/>
          </a:xfrm>
          <a:prstGeom prst="rect">
            <a:avLst/>
          </a:prstGeom>
        </p:spPr>
      </p:pic>
      <p:pic>
        <p:nvPicPr>
          <p:cNvPr id="4" name="Picture 3"/>
          <p:cNvPicPr>
            <a:picLocks noChangeAspect="1"/>
          </p:cNvPicPr>
          <p:nvPr/>
        </p:nvPicPr>
        <p:blipFill>
          <a:blip r:embed="rId3"/>
          <a:stretch>
            <a:fillRect/>
          </a:stretch>
        </p:blipFill>
        <p:spPr>
          <a:xfrm>
            <a:off x="8283575" y="1110692"/>
            <a:ext cx="2538266" cy="3594100"/>
          </a:xfrm>
          <a:prstGeom prst="rect">
            <a:avLst/>
          </a:prstGeom>
        </p:spPr>
      </p:pic>
      <p:pic>
        <p:nvPicPr>
          <p:cNvPr id="5" name="Picture 4"/>
          <p:cNvPicPr>
            <a:picLocks noChangeAspect="1"/>
          </p:cNvPicPr>
          <p:nvPr/>
        </p:nvPicPr>
        <p:blipFill>
          <a:blip r:embed="rId4"/>
          <a:stretch>
            <a:fillRect/>
          </a:stretch>
        </p:blipFill>
        <p:spPr>
          <a:xfrm>
            <a:off x="1014143" y="5256610"/>
            <a:ext cx="10326957" cy="1341031"/>
          </a:xfrm>
          <a:prstGeom prst="rect">
            <a:avLst/>
          </a:prstGeom>
        </p:spPr>
      </p:pic>
    </p:spTree>
    <p:extLst>
      <p:ext uri="{BB962C8B-B14F-4D97-AF65-F5344CB8AC3E}">
        <p14:creationId xmlns:p14="http://schemas.microsoft.com/office/powerpoint/2010/main" val="32409365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7733</TotalTime>
  <Words>292</Words>
  <Application>Microsoft Office PowerPoint</Application>
  <PresentationFormat>Widescreen</PresentationFormat>
  <Paragraphs>61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Figtree</vt:lpstr>
      <vt:lpstr>Calibri</vt:lpstr>
      <vt:lpstr>Wingdings</vt:lpstr>
      <vt:lpstr>Arial</vt:lpstr>
      <vt:lpstr>Figtree (Body)</vt:lpstr>
      <vt:lpstr>Cambria Math</vt:lpstr>
      <vt:lpstr>Office-tema</vt:lpstr>
      <vt:lpstr>2L Inverter Busbar Design </vt:lpstr>
      <vt:lpstr>2-Level Inverter Power Ratings</vt:lpstr>
      <vt:lpstr>Main Components</vt:lpstr>
      <vt:lpstr>Dimensions - FF3MR20KM1H Power Module </vt:lpstr>
      <vt:lpstr>Dimensions - C44U 1300 V 200 μF </vt:lpstr>
      <vt:lpstr>Dimensions - LIQUID COOLING </vt:lpstr>
      <vt:lpstr>Layout Example : Sideview</vt:lpstr>
      <vt:lpstr>Layout Example : Topview</vt:lpstr>
      <vt:lpstr>Starting with CAD Drawings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118</cp:revision>
  <dcterms:created xsi:type="dcterms:W3CDTF">2024-01-10T13:17:29Z</dcterms:created>
  <dcterms:modified xsi:type="dcterms:W3CDTF">2024-10-03T10:01:32Z</dcterms:modified>
</cp:coreProperties>
</file>